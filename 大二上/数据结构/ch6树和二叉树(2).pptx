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141"/>
  </p:notesMasterIdLst>
  <p:handoutMasterIdLst>
    <p:handoutMasterId r:id="rId142"/>
  </p:handoutMasterIdLst>
  <p:sldIdLst>
    <p:sldId id="408" r:id="rId2"/>
    <p:sldId id="269" r:id="rId3"/>
    <p:sldId id="271" r:id="rId4"/>
    <p:sldId id="272" r:id="rId5"/>
    <p:sldId id="554" r:id="rId6"/>
    <p:sldId id="273" r:id="rId7"/>
    <p:sldId id="274" r:id="rId8"/>
    <p:sldId id="325" r:id="rId9"/>
    <p:sldId id="527" r:id="rId10"/>
    <p:sldId id="540" r:id="rId11"/>
    <p:sldId id="275" r:id="rId12"/>
    <p:sldId id="276" r:id="rId13"/>
    <p:sldId id="277" r:id="rId14"/>
    <p:sldId id="278" r:id="rId15"/>
    <p:sldId id="279" r:id="rId16"/>
    <p:sldId id="280" r:id="rId17"/>
    <p:sldId id="281" r:id="rId18"/>
    <p:sldId id="282" r:id="rId19"/>
    <p:sldId id="558" r:id="rId20"/>
    <p:sldId id="409" r:id="rId21"/>
    <p:sldId id="555" r:id="rId22"/>
    <p:sldId id="328" r:id="rId23"/>
    <p:sldId id="284" r:id="rId24"/>
    <p:sldId id="285" r:id="rId25"/>
    <p:sldId id="514" r:id="rId26"/>
    <p:sldId id="518" r:id="rId27"/>
    <p:sldId id="286" r:id="rId28"/>
    <p:sldId id="287" r:id="rId29"/>
    <p:sldId id="288" r:id="rId30"/>
    <p:sldId id="289" r:id="rId31"/>
    <p:sldId id="559" r:id="rId32"/>
    <p:sldId id="533" r:id="rId33"/>
    <p:sldId id="292" r:id="rId34"/>
    <p:sldId id="293" r:id="rId35"/>
    <p:sldId id="560" r:id="rId36"/>
    <p:sldId id="516" r:id="rId37"/>
    <p:sldId id="294" r:id="rId38"/>
    <p:sldId id="295" r:id="rId39"/>
    <p:sldId id="297" r:id="rId40"/>
    <p:sldId id="298" r:id="rId41"/>
    <p:sldId id="541" r:id="rId42"/>
    <p:sldId id="543" r:id="rId43"/>
    <p:sldId id="542" r:id="rId44"/>
    <p:sldId id="563" r:id="rId45"/>
    <p:sldId id="564" r:id="rId46"/>
    <p:sldId id="338" r:id="rId47"/>
    <p:sldId id="528" r:id="rId48"/>
    <p:sldId id="510" r:id="rId49"/>
    <p:sldId id="511" r:id="rId50"/>
    <p:sldId id="512" r:id="rId51"/>
    <p:sldId id="506" r:id="rId52"/>
    <p:sldId id="561" r:id="rId53"/>
    <p:sldId id="562" r:id="rId54"/>
    <p:sldId id="520" r:id="rId55"/>
    <p:sldId id="529" r:id="rId56"/>
    <p:sldId id="331" r:id="rId57"/>
    <p:sldId id="332" r:id="rId58"/>
    <p:sldId id="530" r:id="rId59"/>
    <p:sldId id="531" r:id="rId60"/>
    <p:sldId id="339" r:id="rId61"/>
    <p:sldId id="525" r:id="rId62"/>
    <p:sldId id="300" r:id="rId63"/>
    <p:sldId id="301" r:id="rId64"/>
    <p:sldId id="302" r:id="rId65"/>
    <p:sldId id="539" r:id="rId66"/>
    <p:sldId id="536" r:id="rId67"/>
    <p:sldId id="538" r:id="rId68"/>
    <p:sldId id="303" r:id="rId69"/>
    <p:sldId id="304" r:id="rId70"/>
    <p:sldId id="305" r:id="rId71"/>
    <p:sldId id="306" r:id="rId72"/>
    <p:sldId id="307" r:id="rId73"/>
    <p:sldId id="363" r:id="rId74"/>
    <p:sldId id="308" r:id="rId75"/>
    <p:sldId id="309" r:id="rId76"/>
    <p:sldId id="310" r:id="rId77"/>
    <p:sldId id="312" r:id="rId78"/>
    <p:sldId id="445" r:id="rId79"/>
    <p:sldId id="444" r:id="rId80"/>
    <p:sldId id="447" r:id="rId81"/>
    <p:sldId id="446" r:id="rId82"/>
    <p:sldId id="448" r:id="rId83"/>
    <p:sldId id="343" r:id="rId84"/>
    <p:sldId id="500" r:id="rId85"/>
    <p:sldId id="502" r:id="rId86"/>
    <p:sldId id="534" r:id="rId87"/>
    <p:sldId id="535" r:id="rId88"/>
    <p:sldId id="565" r:id="rId89"/>
    <p:sldId id="566" r:id="rId90"/>
    <p:sldId id="315" r:id="rId91"/>
    <p:sldId id="316" r:id="rId92"/>
    <p:sldId id="482" r:id="rId93"/>
    <p:sldId id="344" r:id="rId94"/>
    <p:sldId id="317" r:id="rId95"/>
    <p:sldId id="552" r:id="rId96"/>
    <p:sldId id="553" r:id="rId97"/>
    <p:sldId id="567" r:id="rId98"/>
    <p:sldId id="318" r:id="rId99"/>
    <p:sldId id="319" r:id="rId100"/>
    <p:sldId id="320" r:id="rId101"/>
    <p:sldId id="361" r:id="rId102"/>
    <p:sldId id="557" r:id="rId103"/>
    <p:sldId id="362" r:id="rId104"/>
    <p:sldId id="568" r:id="rId105"/>
    <p:sldId id="483" r:id="rId106"/>
    <p:sldId id="367" r:id="rId107"/>
    <p:sldId id="368" r:id="rId108"/>
    <p:sldId id="370" r:id="rId109"/>
    <p:sldId id="371" r:id="rId110"/>
    <p:sldId id="345" r:id="rId111"/>
    <p:sldId id="484" r:id="rId112"/>
    <p:sldId id="569" r:id="rId113"/>
    <p:sldId id="495" r:id="rId114"/>
    <p:sldId id="486" r:id="rId115"/>
    <p:sldId id="487" r:id="rId116"/>
    <p:sldId id="488" r:id="rId117"/>
    <p:sldId id="489" r:id="rId118"/>
    <p:sldId id="490" r:id="rId119"/>
    <p:sldId id="548" r:id="rId120"/>
    <p:sldId id="549" r:id="rId121"/>
    <p:sldId id="551" r:id="rId122"/>
    <p:sldId id="497" r:id="rId123"/>
    <p:sldId id="496" r:id="rId124"/>
    <p:sldId id="492" r:id="rId125"/>
    <p:sldId id="521" r:id="rId126"/>
    <p:sldId id="570" r:id="rId127"/>
    <p:sldId id="524" r:id="rId128"/>
    <p:sldId id="522" r:id="rId129"/>
    <p:sldId id="523" r:id="rId130"/>
    <p:sldId id="546" r:id="rId131"/>
    <p:sldId id="498" r:id="rId132"/>
    <p:sldId id="499" r:id="rId133"/>
    <p:sldId id="547" r:id="rId134"/>
    <p:sldId id="544" r:id="rId135"/>
    <p:sldId id="503" r:id="rId136"/>
    <p:sldId id="545" r:id="rId137"/>
    <p:sldId id="504" r:id="rId138"/>
    <p:sldId id="526" r:id="rId139"/>
    <p:sldId id="532" r:id="rId140"/>
  </p:sldIdLst>
  <p:sldSz cx="9144000" cy="6858000" type="screen4x3"/>
  <p:notesSz cx="7053263" cy="9309100"/>
  <p:defaultTextStyle>
    <a:defPPr>
      <a:defRPr lang="zh-CN"/>
    </a:defPPr>
    <a:lvl1pPr algn="l" rtl="0" eaLnBrk="0" fontAlgn="base" hangingPunct="0">
      <a:spcBef>
        <a:spcPct val="0"/>
      </a:spcBef>
      <a:spcAft>
        <a:spcPct val="0"/>
      </a:spcAft>
      <a:defRPr b="1" i="1"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b="1" i="1"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b="1" i="1"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b="1" i="1"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b="1" i="1"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b="1" i="1"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b="1" i="1"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b="1" i="1"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b="1" i="1"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32">
          <p15:clr>
            <a:srgbClr val="A4A3A4"/>
          </p15:clr>
        </p15:guide>
        <p15:guide id="2" pos="2222">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00"/>
    <a:srgbClr val="0033CC"/>
    <a:srgbClr val="FF0000"/>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81477" autoAdjust="0"/>
  </p:normalViewPr>
  <p:slideViewPr>
    <p:cSldViewPr>
      <p:cViewPr varScale="1">
        <p:scale>
          <a:sx n="59" d="100"/>
          <a:sy n="59" d="100"/>
        </p:scale>
        <p:origin x="1312"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3216"/>
    </p:cViewPr>
  </p:sorterViewPr>
  <p:notesViewPr>
    <p:cSldViewPr>
      <p:cViewPr varScale="1">
        <p:scale>
          <a:sx n="40" d="100"/>
          <a:sy n="40" d="100"/>
        </p:scale>
        <p:origin x="-2194" y="-72"/>
      </p:cViewPr>
      <p:guideLst>
        <p:guide orient="horz" pos="2932"/>
        <p:guide pos="2222"/>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notesMaster" Target="notesMasters/notesMaster1.xml"/><Relationship Id="rId14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handoutMaster" Target="handoutMasters/handoutMaster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66DDA489-5CA9-42AC-87B5-EC6CC08386F3}"/>
              </a:ext>
            </a:extLst>
          </p:cNvPr>
          <p:cNvSpPr>
            <a:spLocks noGrp="1"/>
          </p:cNvSpPr>
          <p:nvPr>
            <p:ph type="hdr" sz="quarter"/>
          </p:nvPr>
        </p:nvSpPr>
        <p:spPr>
          <a:xfrm>
            <a:off x="0" y="0"/>
            <a:ext cx="3055938" cy="465138"/>
          </a:xfrm>
          <a:prstGeom prst="rect">
            <a:avLst/>
          </a:prstGeom>
        </p:spPr>
        <p:txBody>
          <a:bodyPr vert="horz" lIns="93497" tIns="46749" rIns="93497" bIns="46749" rtlCol="0"/>
          <a:lstStyle>
            <a:lvl1pPr algn="l" eaLnBrk="1" hangingPunct="1">
              <a:spcBef>
                <a:spcPct val="50000"/>
              </a:spcBef>
              <a:defRPr sz="1200"/>
            </a:lvl1pPr>
          </a:lstStyle>
          <a:p>
            <a:pPr>
              <a:defRPr/>
            </a:pPr>
            <a:endParaRPr lang="zh-CN" altLang="en-US"/>
          </a:p>
        </p:txBody>
      </p:sp>
      <p:sp>
        <p:nvSpPr>
          <p:cNvPr id="3" name="日期占位符 2">
            <a:extLst>
              <a:ext uri="{FF2B5EF4-FFF2-40B4-BE49-F238E27FC236}">
                <a16:creationId xmlns:a16="http://schemas.microsoft.com/office/drawing/2014/main" id="{5FBFC0E0-53C5-48C9-8D8B-44EE296BEEFC}"/>
              </a:ext>
            </a:extLst>
          </p:cNvPr>
          <p:cNvSpPr>
            <a:spLocks noGrp="1"/>
          </p:cNvSpPr>
          <p:nvPr>
            <p:ph type="dt" sz="quarter" idx="1"/>
          </p:nvPr>
        </p:nvSpPr>
        <p:spPr>
          <a:xfrm>
            <a:off x="3995738" y="0"/>
            <a:ext cx="3055937" cy="465138"/>
          </a:xfrm>
          <a:prstGeom prst="rect">
            <a:avLst/>
          </a:prstGeom>
        </p:spPr>
        <p:txBody>
          <a:bodyPr vert="horz" lIns="93497" tIns="46749" rIns="93497" bIns="46749" rtlCol="0"/>
          <a:lstStyle>
            <a:lvl1pPr algn="r" eaLnBrk="1" hangingPunct="1">
              <a:spcBef>
                <a:spcPct val="50000"/>
              </a:spcBef>
              <a:defRPr sz="1200"/>
            </a:lvl1pPr>
          </a:lstStyle>
          <a:p>
            <a:pPr>
              <a:defRPr/>
            </a:pPr>
            <a:fld id="{CACD4E5C-7694-4C1D-A680-E1D8703E6176}" type="datetimeFigureOut">
              <a:rPr lang="zh-CN" altLang="en-US"/>
              <a:pPr>
                <a:defRPr/>
              </a:pPr>
              <a:t>2024/10/10</a:t>
            </a:fld>
            <a:endParaRPr lang="zh-CN" altLang="en-US"/>
          </a:p>
        </p:txBody>
      </p:sp>
      <p:sp>
        <p:nvSpPr>
          <p:cNvPr id="4" name="页脚占位符 3">
            <a:extLst>
              <a:ext uri="{FF2B5EF4-FFF2-40B4-BE49-F238E27FC236}">
                <a16:creationId xmlns:a16="http://schemas.microsoft.com/office/drawing/2014/main" id="{A7BAF90B-F5BC-4C64-B964-7D061D5AD06D}"/>
              </a:ext>
            </a:extLst>
          </p:cNvPr>
          <p:cNvSpPr>
            <a:spLocks noGrp="1"/>
          </p:cNvSpPr>
          <p:nvPr>
            <p:ph type="ftr" sz="quarter" idx="2"/>
          </p:nvPr>
        </p:nvSpPr>
        <p:spPr>
          <a:xfrm>
            <a:off x="0" y="8842375"/>
            <a:ext cx="3055938" cy="465138"/>
          </a:xfrm>
          <a:prstGeom prst="rect">
            <a:avLst/>
          </a:prstGeom>
        </p:spPr>
        <p:txBody>
          <a:bodyPr vert="horz" lIns="93497" tIns="46749" rIns="93497" bIns="46749" rtlCol="0" anchor="b"/>
          <a:lstStyle>
            <a:lvl1pPr algn="l" eaLnBrk="1" hangingPunct="1">
              <a:spcBef>
                <a:spcPct val="50000"/>
              </a:spcBef>
              <a:defRPr sz="1200"/>
            </a:lvl1pPr>
          </a:lstStyle>
          <a:p>
            <a:pPr>
              <a:defRPr/>
            </a:pPr>
            <a:endParaRPr lang="zh-CN" altLang="en-US"/>
          </a:p>
        </p:txBody>
      </p:sp>
      <p:sp>
        <p:nvSpPr>
          <p:cNvPr id="5" name="灯片编号占位符 4">
            <a:extLst>
              <a:ext uri="{FF2B5EF4-FFF2-40B4-BE49-F238E27FC236}">
                <a16:creationId xmlns:a16="http://schemas.microsoft.com/office/drawing/2014/main" id="{3BA8F92B-09B1-4BAB-85D5-AD49FB3979FB}"/>
              </a:ext>
            </a:extLst>
          </p:cNvPr>
          <p:cNvSpPr>
            <a:spLocks noGrp="1"/>
          </p:cNvSpPr>
          <p:nvPr>
            <p:ph type="sldNum" sz="quarter" idx="3"/>
          </p:nvPr>
        </p:nvSpPr>
        <p:spPr>
          <a:xfrm>
            <a:off x="3995738" y="8842375"/>
            <a:ext cx="3055937" cy="465138"/>
          </a:xfrm>
          <a:prstGeom prst="rect">
            <a:avLst/>
          </a:prstGeom>
        </p:spPr>
        <p:txBody>
          <a:bodyPr vert="horz" wrap="square" lIns="93497" tIns="46749" rIns="93497" bIns="46749" numCol="1" anchor="b" anchorCtr="0" compatLnSpc="1">
            <a:prstTxWarp prst="textNoShape">
              <a:avLst/>
            </a:prstTxWarp>
          </a:bodyPr>
          <a:lstStyle>
            <a:lvl1pPr algn="r" eaLnBrk="1" hangingPunct="1">
              <a:spcBef>
                <a:spcPct val="50000"/>
              </a:spcBef>
              <a:defRPr sz="1200"/>
            </a:lvl1pPr>
          </a:lstStyle>
          <a:p>
            <a:pPr>
              <a:defRPr/>
            </a:pPr>
            <a:fld id="{38EC63C6-01A6-4CCC-BA52-6C0016C1108C}" type="slidenum">
              <a:rPr lang="zh-CN" altLang="en-US"/>
              <a:pPr>
                <a:defRPr/>
              </a:pPr>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6E815836-6893-47BF-BF99-B202F59B3DFA}"/>
              </a:ext>
            </a:extLst>
          </p:cNvPr>
          <p:cNvSpPr>
            <a:spLocks noGrp="1"/>
          </p:cNvSpPr>
          <p:nvPr>
            <p:ph type="hdr" sz="quarter"/>
          </p:nvPr>
        </p:nvSpPr>
        <p:spPr>
          <a:xfrm>
            <a:off x="0" y="0"/>
            <a:ext cx="3055938" cy="465138"/>
          </a:xfrm>
          <a:prstGeom prst="rect">
            <a:avLst/>
          </a:prstGeom>
        </p:spPr>
        <p:txBody>
          <a:bodyPr vert="horz" lIns="93497" tIns="46749" rIns="93497" bIns="46749" rtlCol="0"/>
          <a:lstStyle>
            <a:lvl1pPr algn="l" eaLnBrk="1" hangingPunct="1">
              <a:spcBef>
                <a:spcPct val="50000"/>
              </a:spcBef>
              <a:defRPr sz="1200"/>
            </a:lvl1pPr>
          </a:lstStyle>
          <a:p>
            <a:pPr>
              <a:defRPr/>
            </a:pPr>
            <a:endParaRPr lang="zh-CN" altLang="en-US"/>
          </a:p>
        </p:txBody>
      </p:sp>
      <p:sp>
        <p:nvSpPr>
          <p:cNvPr id="3" name="日期占位符 2">
            <a:extLst>
              <a:ext uri="{FF2B5EF4-FFF2-40B4-BE49-F238E27FC236}">
                <a16:creationId xmlns:a16="http://schemas.microsoft.com/office/drawing/2014/main" id="{7170F3E2-B6C6-48C3-9597-6C8DB5BB536A}"/>
              </a:ext>
            </a:extLst>
          </p:cNvPr>
          <p:cNvSpPr>
            <a:spLocks noGrp="1"/>
          </p:cNvSpPr>
          <p:nvPr>
            <p:ph type="dt" idx="1"/>
          </p:nvPr>
        </p:nvSpPr>
        <p:spPr>
          <a:xfrm>
            <a:off x="3995738" y="0"/>
            <a:ext cx="3055937" cy="465138"/>
          </a:xfrm>
          <a:prstGeom prst="rect">
            <a:avLst/>
          </a:prstGeom>
        </p:spPr>
        <p:txBody>
          <a:bodyPr vert="horz" lIns="93497" tIns="46749" rIns="93497" bIns="46749" rtlCol="0"/>
          <a:lstStyle>
            <a:lvl1pPr algn="r" eaLnBrk="1" hangingPunct="1">
              <a:spcBef>
                <a:spcPct val="50000"/>
              </a:spcBef>
              <a:defRPr sz="1200"/>
            </a:lvl1pPr>
          </a:lstStyle>
          <a:p>
            <a:pPr>
              <a:defRPr/>
            </a:pPr>
            <a:fld id="{812FDD5B-07F5-485A-A1E1-007F0A3B4DB8}" type="datetimeFigureOut">
              <a:rPr lang="zh-CN" altLang="en-US"/>
              <a:pPr>
                <a:defRPr/>
              </a:pPr>
              <a:t>2024/10/10</a:t>
            </a:fld>
            <a:endParaRPr lang="zh-CN" altLang="en-US"/>
          </a:p>
        </p:txBody>
      </p:sp>
      <p:sp>
        <p:nvSpPr>
          <p:cNvPr id="4" name="幻灯片图像占位符 3">
            <a:extLst>
              <a:ext uri="{FF2B5EF4-FFF2-40B4-BE49-F238E27FC236}">
                <a16:creationId xmlns:a16="http://schemas.microsoft.com/office/drawing/2014/main" id="{0C818B51-FB66-41DC-A460-8C3C04DD0156}"/>
              </a:ext>
            </a:extLst>
          </p:cNvPr>
          <p:cNvSpPr>
            <a:spLocks noGrp="1" noRot="1" noChangeAspect="1"/>
          </p:cNvSpPr>
          <p:nvPr>
            <p:ph type="sldImg" idx="2"/>
          </p:nvPr>
        </p:nvSpPr>
        <p:spPr>
          <a:xfrm>
            <a:off x="1200150" y="698500"/>
            <a:ext cx="4654550" cy="3490913"/>
          </a:xfrm>
          <a:prstGeom prst="rect">
            <a:avLst/>
          </a:prstGeom>
          <a:noFill/>
          <a:ln w="12700">
            <a:solidFill>
              <a:prstClr val="black"/>
            </a:solidFill>
          </a:ln>
        </p:spPr>
        <p:txBody>
          <a:bodyPr vert="horz" lIns="93497" tIns="46749" rIns="93497" bIns="46749" rtlCol="0" anchor="ctr"/>
          <a:lstStyle/>
          <a:p>
            <a:pPr lvl="0"/>
            <a:endParaRPr lang="zh-CN" altLang="en-US" noProof="0"/>
          </a:p>
        </p:txBody>
      </p:sp>
      <p:sp>
        <p:nvSpPr>
          <p:cNvPr id="5" name="备注占位符 4">
            <a:extLst>
              <a:ext uri="{FF2B5EF4-FFF2-40B4-BE49-F238E27FC236}">
                <a16:creationId xmlns:a16="http://schemas.microsoft.com/office/drawing/2014/main" id="{95074656-E628-4F43-8311-8A300EABE939}"/>
              </a:ext>
            </a:extLst>
          </p:cNvPr>
          <p:cNvSpPr>
            <a:spLocks noGrp="1"/>
          </p:cNvSpPr>
          <p:nvPr>
            <p:ph type="body" sz="quarter" idx="3"/>
          </p:nvPr>
        </p:nvSpPr>
        <p:spPr>
          <a:xfrm>
            <a:off x="704850" y="4421188"/>
            <a:ext cx="5643563" cy="4189412"/>
          </a:xfrm>
          <a:prstGeom prst="rect">
            <a:avLst/>
          </a:prstGeom>
        </p:spPr>
        <p:txBody>
          <a:bodyPr vert="horz" lIns="93497" tIns="46749" rIns="93497" bIns="46749" rtlCol="0">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a:extLst>
              <a:ext uri="{FF2B5EF4-FFF2-40B4-BE49-F238E27FC236}">
                <a16:creationId xmlns:a16="http://schemas.microsoft.com/office/drawing/2014/main" id="{8A24EFC2-612D-49FC-99F1-53061A4FF448}"/>
              </a:ext>
            </a:extLst>
          </p:cNvPr>
          <p:cNvSpPr>
            <a:spLocks noGrp="1"/>
          </p:cNvSpPr>
          <p:nvPr>
            <p:ph type="ftr" sz="quarter" idx="4"/>
          </p:nvPr>
        </p:nvSpPr>
        <p:spPr>
          <a:xfrm>
            <a:off x="0" y="8842375"/>
            <a:ext cx="3055938" cy="465138"/>
          </a:xfrm>
          <a:prstGeom prst="rect">
            <a:avLst/>
          </a:prstGeom>
        </p:spPr>
        <p:txBody>
          <a:bodyPr vert="horz" lIns="93497" tIns="46749" rIns="93497" bIns="46749" rtlCol="0" anchor="b"/>
          <a:lstStyle>
            <a:lvl1pPr algn="l" eaLnBrk="1" hangingPunct="1">
              <a:spcBef>
                <a:spcPct val="50000"/>
              </a:spcBef>
              <a:defRPr sz="1200"/>
            </a:lvl1pPr>
          </a:lstStyle>
          <a:p>
            <a:pPr>
              <a:defRPr/>
            </a:pPr>
            <a:endParaRPr lang="zh-CN" altLang="en-US"/>
          </a:p>
        </p:txBody>
      </p:sp>
      <p:sp>
        <p:nvSpPr>
          <p:cNvPr id="7" name="灯片编号占位符 6">
            <a:extLst>
              <a:ext uri="{FF2B5EF4-FFF2-40B4-BE49-F238E27FC236}">
                <a16:creationId xmlns:a16="http://schemas.microsoft.com/office/drawing/2014/main" id="{424CD612-98FB-43F2-8E6D-0693C10EBDA4}"/>
              </a:ext>
            </a:extLst>
          </p:cNvPr>
          <p:cNvSpPr>
            <a:spLocks noGrp="1"/>
          </p:cNvSpPr>
          <p:nvPr>
            <p:ph type="sldNum" sz="quarter" idx="5"/>
          </p:nvPr>
        </p:nvSpPr>
        <p:spPr>
          <a:xfrm>
            <a:off x="3995738" y="8842375"/>
            <a:ext cx="3055937" cy="465138"/>
          </a:xfrm>
          <a:prstGeom prst="rect">
            <a:avLst/>
          </a:prstGeom>
        </p:spPr>
        <p:txBody>
          <a:bodyPr vert="horz" wrap="square" lIns="93497" tIns="46749" rIns="93497" bIns="46749" numCol="1" anchor="b" anchorCtr="0" compatLnSpc="1">
            <a:prstTxWarp prst="textNoShape">
              <a:avLst/>
            </a:prstTxWarp>
          </a:bodyPr>
          <a:lstStyle>
            <a:lvl1pPr algn="r" eaLnBrk="1" hangingPunct="1">
              <a:spcBef>
                <a:spcPct val="50000"/>
              </a:spcBef>
              <a:defRPr sz="1200"/>
            </a:lvl1pPr>
          </a:lstStyle>
          <a:p>
            <a:pPr>
              <a:defRPr/>
            </a:pPr>
            <a:fld id="{E2886F1E-DF14-4423-9EAE-CA0AC5D32B39}"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树的高度，结点的高度</a:t>
            </a:r>
          </a:p>
        </p:txBody>
      </p:sp>
      <p:sp>
        <p:nvSpPr>
          <p:cNvPr id="4" name="灯片编号占位符 3"/>
          <p:cNvSpPr>
            <a:spLocks noGrp="1"/>
          </p:cNvSpPr>
          <p:nvPr>
            <p:ph type="sldNum" sz="quarter" idx="5"/>
          </p:nvPr>
        </p:nvSpPr>
        <p:spPr/>
        <p:txBody>
          <a:bodyPr/>
          <a:lstStyle/>
          <a:p>
            <a:pPr>
              <a:defRPr/>
            </a:pPr>
            <a:fld id="{E2886F1E-DF14-4423-9EAE-CA0AC5D32B39}" type="slidenum">
              <a:rPr lang="zh-CN" altLang="en-US" smtClean="0"/>
              <a:pPr>
                <a:defRPr/>
              </a:pPr>
              <a:t>7</a:t>
            </a:fld>
            <a:endParaRPr lang="zh-CN" altLang="en-US"/>
          </a:p>
        </p:txBody>
      </p:sp>
    </p:spTree>
    <p:extLst>
      <p:ext uri="{BB962C8B-B14F-4D97-AF65-F5344CB8AC3E}">
        <p14:creationId xmlns:p14="http://schemas.microsoft.com/office/powerpoint/2010/main" val="36079426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幻灯片图像占位符 1">
            <a:extLst>
              <a:ext uri="{FF2B5EF4-FFF2-40B4-BE49-F238E27FC236}">
                <a16:creationId xmlns:a16="http://schemas.microsoft.com/office/drawing/2014/main" id="{8DEB171C-C0E2-4CA8-B250-96A5115B1E31}"/>
              </a:ext>
            </a:extLst>
          </p:cNvPr>
          <p:cNvSpPr>
            <a:spLocks noGrp="1" noRot="1" noChangeAspect="1" noChangeArrowheads="1" noTextEdit="1"/>
          </p:cNvSpPr>
          <p:nvPr>
            <p:ph type="sldImg"/>
          </p:nvPr>
        </p:nvSpPr>
        <p:spPr/>
      </p:sp>
      <p:sp>
        <p:nvSpPr>
          <p:cNvPr id="29699" name="备注占位符 2">
            <a:extLst>
              <a:ext uri="{FF2B5EF4-FFF2-40B4-BE49-F238E27FC236}">
                <a16:creationId xmlns:a16="http://schemas.microsoft.com/office/drawing/2014/main" id="{73784CF5-4087-45F0-BA28-B8420456C767}"/>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00" name="灯片编号占位符 3">
            <a:extLst>
              <a:ext uri="{FF2B5EF4-FFF2-40B4-BE49-F238E27FC236}">
                <a16:creationId xmlns:a16="http://schemas.microsoft.com/office/drawing/2014/main" id="{06C70058-0DFD-4475-8D90-1F2F3B319E68}"/>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904CC03A-E695-4AD3-88A1-615020E40AA0}" type="slidenum">
              <a:rPr lang="zh-CN" altLang="en-US">
                <a:latin typeface="Tahoma" panose="020B0604030504040204" pitchFamily="34" charset="0"/>
              </a:rPr>
              <a:pPr>
                <a:spcBef>
                  <a:spcPct val="0"/>
                </a:spcBef>
                <a:buFontTx/>
                <a:buNone/>
              </a:pPr>
              <a:t>25</a:t>
            </a:fld>
            <a:endParaRPr lang="en-US" altLang="zh-CN">
              <a:latin typeface="Tahoma" panose="020B060403050404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幻灯片图像占位符 1">
            <a:extLst>
              <a:ext uri="{FF2B5EF4-FFF2-40B4-BE49-F238E27FC236}">
                <a16:creationId xmlns:a16="http://schemas.microsoft.com/office/drawing/2014/main" id="{56123265-2507-4147-9254-A3FA383A7023}"/>
              </a:ext>
            </a:extLst>
          </p:cNvPr>
          <p:cNvSpPr>
            <a:spLocks noGrp="1" noRot="1" noChangeAspect="1" noChangeArrowheads="1" noTextEdit="1"/>
          </p:cNvSpPr>
          <p:nvPr>
            <p:ph type="sldImg"/>
          </p:nvPr>
        </p:nvSpPr>
        <p:spPr/>
      </p:sp>
      <p:sp>
        <p:nvSpPr>
          <p:cNvPr id="31747" name="备注占位符 2">
            <a:extLst>
              <a:ext uri="{FF2B5EF4-FFF2-40B4-BE49-F238E27FC236}">
                <a16:creationId xmlns:a16="http://schemas.microsoft.com/office/drawing/2014/main" id="{F927BE7A-FB05-42FC-BF7F-D84A6B99E610}"/>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48" name="灯片编号占位符 3">
            <a:extLst>
              <a:ext uri="{FF2B5EF4-FFF2-40B4-BE49-F238E27FC236}">
                <a16:creationId xmlns:a16="http://schemas.microsoft.com/office/drawing/2014/main" id="{B52766E4-1558-41ED-8350-46A8774D4736}"/>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73A549F8-23D5-4687-9FBE-0FF778000D74}" type="slidenum">
              <a:rPr lang="zh-CN" altLang="en-US">
                <a:latin typeface="Tahoma" panose="020B0604030504040204" pitchFamily="34" charset="0"/>
              </a:rPr>
              <a:pPr>
                <a:spcBef>
                  <a:spcPct val="0"/>
                </a:spcBef>
                <a:buFontTx/>
                <a:buNone/>
              </a:pPr>
              <a:t>26</a:t>
            </a:fld>
            <a:endParaRPr lang="en-US" altLang="zh-CN">
              <a:latin typeface="Tahoma" panose="020B060403050404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a:extLst>
              <a:ext uri="{FF2B5EF4-FFF2-40B4-BE49-F238E27FC236}">
                <a16:creationId xmlns:a16="http://schemas.microsoft.com/office/drawing/2014/main" id="{43DBA87C-9742-4A72-9FBD-8C8055D3DD9A}"/>
              </a:ext>
            </a:extLst>
          </p:cNvPr>
          <p:cNvSpPr>
            <a:spLocks noGrp="1" noRot="1" noChangeAspect="1" noChangeArrowheads="1" noTextEdit="1"/>
          </p:cNvSpPr>
          <p:nvPr>
            <p:ph type="sldImg"/>
          </p:nvPr>
        </p:nvSpPr>
        <p:spPr/>
      </p:sp>
      <p:sp>
        <p:nvSpPr>
          <p:cNvPr id="39939" name="备注占位符 2">
            <a:extLst>
              <a:ext uri="{FF2B5EF4-FFF2-40B4-BE49-F238E27FC236}">
                <a16:creationId xmlns:a16="http://schemas.microsoft.com/office/drawing/2014/main" id="{1183EF89-4FBA-4C69-8713-65989E937933}"/>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940" name="灯片编号占位符 3">
            <a:extLst>
              <a:ext uri="{FF2B5EF4-FFF2-40B4-BE49-F238E27FC236}">
                <a16:creationId xmlns:a16="http://schemas.microsoft.com/office/drawing/2014/main" id="{F77A8A55-011F-4D80-9AF2-9E7763AA8E75}"/>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070B8174-00FB-4226-AA16-DBB6B39B686A}" type="slidenum">
              <a:rPr lang="zh-CN" altLang="en-US">
                <a:latin typeface="Tahoma" panose="020B0604030504040204" pitchFamily="34" charset="0"/>
              </a:rPr>
              <a:pPr>
                <a:spcBef>
                  <a:spcPct val="0"/>
                </a:spcBef>
                <a:buFontTx/>
                <a:buNone/>
              </a:pPr>
              <a:t>36</a:t>
            </a:fld>
            <a:endParaRPr lang="en-US" altLang="zh-CN">
              <a:latin typeface="Tahoma" panose="020B060403050404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a:extLst>
              <a:ext uri="{FF2B5EF4-FFF2-40B4-BE49-F238E27FC236}">
                <a16:creationId xmlns:a16="http://schemas.microsoft.com/office/drawing/2014/main" id="{43DBA87C-9742-4A72-9FBD-8C8055D3DD9A}"/>
              </a:ext>
            </a:extLst>
          </p:cNvPr>
          <p:cNvSpPr>
            <a:spLocks noGrp="1" noRot="1" noChangeAspect="1" noChangeArrowheads="1" noTextEdit="1"/>
          </p:cNvSpPr>
          <p:nvPr>
            <p:ph type="sldImg"/>
          </p:nvPr>
        </p:nvSpPr>
        <p:spPr/>
      </p:sp>
      <p:sp>
        <p:nvSpPr>
          <p:cNvPr id="39939" name="备注占位符 2">
            <a:extLst>
              <a:ext uri="{FF2B5EF4-FFF2-40B4-BE49-F238E27FC236}">
                <a16:creationId xmlns:a16="http://schemas.microsoft.com/office/drawing/2014/main" id="{1183EF89-4FBA-4C69-8713-65989E937933}"/>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940" name="灯片编号占位符 3">
            <a:extLst>
              <a:ext uri="{FF2B5EF4-FFF2-40B4-BE49-F238E27FC236}">
                <a16:creationId xmlns:a16="http://schemas.microsoft.com/office/drawing/2014/main" id="{F77A8A55-011F-4D80-9AF2-9E7763AA8E75}"/>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070B8174-00FB-4226-AA16-DBB6B39B686A}" type="slidenum">
              <a:rPr lang="zh-CN" altLang="en-US">
                <a:latin typeface="Tahoma" panose="020B0604030504040204" pitchFamily="34" charset="0"/>
              </a:rPr>
              <a:pPr>
                <a:spcBef>
                  <a:spcPct val="0"/>
                </a:spcBef>
                <a:buFontTx/>
                <a:buNone/>
              </a:pPr>
              <a:t>41</a:t>
            </a:fld>
            <a:endParaRPr lang="en-US" altLang="zh-CN">
              <a:latin typeface="Tahoma" panose="020B0604030504040204" pitchFamily="34" charset="0"/>
            </a:endParaRPr>
          </a:p>
        </p:txBody>
      </p:sp>
    </p:spTree>
    <p:extLst>
      <p:ext uri="{BB962C8B-B14F-4D97-AF65-F5344CB8AC3E}">
        <p14:creationId xmlns:p14="http://schemas.microsoft.com/office/powerpoint/2010/main" val="31674674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a:extLst>
              <a:ext uri="{FF2B5EF4-FFF2-40B4-BE49-F238E27FC236}">
                <a16:creationId xmlns:a16="http://schemas.microsoft.com/office/drawing/2014/main" id="{43DBA87C-9742-4A72-9FBD-8C8055D3DD9A}"/>
              </a:ext>
            </a:extLst>
          </p:cNvPr>
          <p:cNvSpPr>
            <a:spLocks noGrp="1" noRot="1" noChangeAspect="1" noChangeArrowheads="1" noTextEdit="1"/>
          </p:cNvSpPr>
          <p:nvPr>
            <p:ph type="sldImg"/>
          </p:nvPr>
        </p:nvSpPr>
        <p:spPr/>
      </p:sp>
      <p:sp>
        <p:nvSpPr>
          <p:cNvPr id="39939" name="备注占位符 2">
            <a:extLst>
              <a:ext uri="{FF2B5EF4-FFF2-40B4-BE49-F238E27FC236}">
                <a16:creationId xmlns:a16="http://schemas.microsoft.com/office/drawing/2014/main" id="{1183EF89-4FBA-4C69-8713-65989E937933}"/>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940" name="灯片编号占位符 3">
            <a:extLst>
              <a:ext uri="{FF2B5EF4-FFF2-40B4-BE49-F238E27FC236}">
                <a16:creationId xmlns:a16="http://schemas.microsoft.com/office/drawing/2014/main" id="{F77A8A55-011F-4D80-9AF2-9E7763AA8E75}"/>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070B8174-00FB-4226-AA16-DBB6B39B686A}" type="slidenum">
              <a:rPr lang="zh-CN" altLang="en-US">
                <a:latin typeface="Tahoma" panose="020B0604030504040204" pitchFamily="34" charset="0"/>
              </a:rPr>
              <a:pPr>
                <a:spcBef>
                  <a:spcPct val="0"/>
                </a:spcBef>
                <a:buFontTx/>
                <a:buNone/>
              </a:pPr>
              <a:t>42</a:t>
            </a:fld>
            <a:endParaRPr lang="en-US" altLang="zh-CN">
              <a:latin typeface="Tahoma" panose="020B0604030504040204" pitchFamily="34" charset="0"/>
            </a:endParaRPr>
          </a:p>
        </p:txBody>
      </p:sp>
    </p:spTree>
    <p:extLst>
      <p:ext uri="{BB962C8B-B14F-4D97-AF65-F5344CB8AC3E}">
        <p14:creationId xmlns:p14="http://schemas.microsoft.com/office/powerpoint/2010/main" val="38120614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a:extLst>
              <a:ext uri="{FF2B5EF4-FFF2-40B4-BE49-F238E27FC236}">
                <a16:creationId xmlns:a16="http://schemas.microsoft.com/office/drawing/2014/main" id="{43DBA87C-9742-4A72-9FBD-8C8055D3DD9A}"/>
              </a:ext>
            </a:extLst>
          </p:cNvPr>
          <p:cNvSpPr>
            <a:spLocks noGrp="1" noRot="1" noChangeAspect="1" noChangeArrowheads="1" noTextEdit="1"/>
          </p:cNvSpPr>
          <p:nvPr>
            <p:ph type="sldImg"/>
          </p:nvPr>
        </p:nvSpPr>
        <p:spPr/>
      </p:sp>
      <p:sp>
        <p:nvSpPr>
          <p:cNvPr id="39939" name="备注占位符 2">
            <a:extLst>
              <a:ext uri="{FF2B5EF4-FFF2-40B4-BE49-F238E27FC236}">
                <a16:creationId xmlns:a16="http://schemas.microsoft.com/office/drawing/2014/main" id="{1183EF89-4FBA-4C69-8713-65989E937933}"/>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940" name="灯片编号占位符 3">
            <a:extLst>
              <a:ext uri="{FF2B5EF4-FFF2-40B4-BE49-F238E27FC236}">
                <a16:creationId xmlns:a16="http://schemas.microsoft.com/office/drawing/2014/main" id="{F77A8A55-011F-4D80-9AF2-9E7763AA8E75}"/>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070B8174-00FB-4226-AA16-DBB6B39B686A}" type="slidenum">
              <a:rPr lang="zh-CN" altLang="en-US">
                <a:latin typeface="Tahoma" panose="020B0604030504040204" pitchFamily="34" charset="0"/>
              </a:rPr>
              <a:pPr>
                <a:spcBef>
                  <a:spcPct val="0"/>
                </a:spcBef>
                <a:buFontTx/>
                <a:buNone/>
              </a:pPr>
              <a:t>43</a:t>
            </a:fld>
            <a:endParaRPr lang="en-US" altLang="zh-CN">
              <a:latin typeface="Tahoma" panose="020B0604030504040204" pitchFamily="34" charset="0"/>
            </a:endParaRPr>
          </a:p>
        </p:txBody>
      </p:sp>
    </p:spTree>
    <p:extLst>
      <p:ext uri="{BB962C8B-B14F-4D97-AF65-F5344CB8AC3E}">
        <p14:creationId xmlns:p14="http://schemas.microsoft.com/office/powerpoint/2010/main" val="36467412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a:extLst>
              <a:ext uri="{FF2B5EF4-FFF2-40B4-BE49-F238E27FC236}">
                <a16:creationId xmlns:a16="http://schemas.microsoft.com/office/drawing/2014/main" id="{43DBA87C-9742-4A72-9FBD-8C8055D3DD9A}"/>
              </a:ext>
            </a:extLst>
          </p:cNvPr>
          <p:cNvSpPr>
            <a:spLocks noGrp="1" noRot="1" noChangeAspect="1" noChangeArrowheads="1" noTextEdit="1"/>
          </p:cNvSpPr>
          <p:nvPr>
            <p:ph type="sldImg"/>
          </p:nvPr>
        </p:nvSpPr>
        <p:spPr/>
      </p:sp>
      <p:sp>
        <p:nvSpPr>
          <p:cNvPr id="39939" name="备注占位符 2">
            <a:extLst>
              <a:ext uri="{FF2B5EF4-FFF2-40B4-BE49-F238E27FC236}">
                <a16:creationId xmlns:a16="http://schemas.microsoft.com/office/drawing/2014/main" id="{1183EF89-4FBA-4C69-8713-65989E937933}"/>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940" name="灯片编号占位符 3">
            <a:extLst>
              <a:ext uri="{FF2B5EF4-FFF2-40B4-BE49-F238E27FC236}">
                <a16:creationId xmlns:a16="http://schemas.microsoft.com/office/drawing/2014/main" id="{F77A8A55-011F-4D80-9AF2-9E7763AA8E75}"/>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070B8174-00FB-4226-AA16-DBB6B39B686A}" type="slidenum">
              <a:rPr lang="zh-CN" altLang="en-US">
                <a:latin typeface="Tahoma" panose="020B0604030504040204" pitchFamily="34" charset="0"/>
              </a:rPr>
              <a:pPr>
                <a:spcBef>
                  <a:spcPct val="0"/>
                </a:spcBef>
                <a:buFontTx/>
                <a:buNone/>
              </a:pPr>
              <a:t>44</a:t>
            </a:fld>
            <a:endParaRPr lang="en-US" altLang="zh-CN">
              <a:latin typeface="Tahoma" panose="020B0604030504040204" pitchFamily="34" charset="0"/>
            </a:endParaRPr>
          </a:p>
        </p:txBody>
      </p:sp>
    </p:spTree>
    <p:extLst>
      <p:ext uri="{BB962C8B-B14F-4D97-AF65-F5344CB8AC3E}">
        <p14:creationId xmlns:p14="http://schemas.microsoft.com/office/powerpoint/2010/main" val="22228514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a:extLst>
              <a:ext uri="{FF2B5EF4-FFF2-40B4-BE49-F238E27FC236}">
                <a16:creationId xmlns:a16="http://schemas.microsoft.com/office/drawing/2014/main" id="{43DBA87C-9742-4A72-9FBD-8C8055D3DD9A}"/>
              </a:ext>
            </a:extLst>
          </p:cNvPr>
          <p:cNvSpPr>
            <a:spLocks noGrp="1" noRot="1" noChangeAspect="1" noChangeArrowheads="1" noTextEdit="1"/>
          </p:cNvSpPr>
          <p:nvPr>
            <p:ph type="sldImg"/>
          </p:nvPr>
        </p:nvSpPr>
        <p:spPr/>
      </p:sp>
      <p:sp>
        <p:nvSpPr>
          <p:cNvPr id="39939" name="备注占位符 2">
            <a:extLst>
              <a:ext uri="{FF2B5EF4-FFF2-40B4-BE49-F238E27FC236}">
                <a16:creationId xmlns:a16="http://schemas.microsoft.com/office/drawing/2014/main" id="{1183EF89-4FBA-4C69-8713-65989E937933}"/>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940" name="灯片编号占位符 3">
            <a:extLst>
              <a:ext uri="{FF2B5EF4-FFF2-40B4-BE49-F238E27FC236}">
                <a16:creationId xmlns:a16="http://schemas.microsoft.com/office/drawing/2014/main" id="{F77A8A55-011F-4D80-9AF2-9E7763AA8E75}"/>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070B8174-00FB-4226-AA16-DBB6B39B686A}" type="slidenum">
              <a:rPr lang="zh-CN" altLang="en-US">
                <a:latin typeface="Tahoma" panose="020B0604030504040204" pitchFamily="34" charset="0"/>
              </a:rPr>
              <a:pPr>
                <a:spcBef>
                  <a:spcPct val="0"/>
                </a:spcBef>
                <a:buFontTx/>
                <a:buNone/>
              </a:pPr>
              <a:t>45</a:t>
            </a:fld>
            <a:endParaRPr lang="en-US" altLang="zh-CN">
              <a:latin typeface="Tahoma" panose="020B0604030504040204" pitchFamily="34" charset="0"/>
            </a:endParaRPr>
          </a:p>
        </p:txBody>
      </p:sp>
    </p:spTree>
    <p:extLst>
      <p:ext uri="{BB962C8B-B14F-4D97-AF65-F5344CB8AC3E}">
        <p14:creationId xmlns:p14="http://schemas.microsoft.com/office/powerpoint/2010/main" val="18599071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幻灯片图像占位符 1">
            <a:extLst>
              <a:ext uri="{FF2B5EF4-FFF2-40B4-BE49-F238E27FC236}">
                <a16:creationId xmlns:a16="http://schemas.microsoft.com/office/drawing/2014/main" id="{8BDDA393-8D5D-40C2-80C7-290B549FC9B4}"/>
              </a:ext>
            </a:extLst>
          </p:cNvPr>
          <p:cNvSpPr>
            <a:spLocks noGrp="1" noRot="1" noChangeAspect="1" noChangeArrowheads="1" noTextEdit="1"/>
          </p:cNvSpPr>
          <p:nvPr>
            <p:ph type="sldImg"/>
          </p:nvPr>
        </p:nvSpPr>
        <p:spPr/>
      </p:sp>
      <p:sp>
        <p:nvSpPr>
          <p:cNvPr id="58371" name="备注占位符 2">
            <a:extLst>
              <a:ext uri="{FF2B5EF4-FFF2-40B4-BE49-F238E27FC236}">
                <a16:creationId xmlns:a16="http://schemas.microsoft.com/office/drawing/2014/main" id="{D2826C75-0580-4CF4-BEF8-3C70FA2C32E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372" name="灯片编号占位符 3">
            <a:extLst>
              <a:ext uri="{FF2B5EF4-FFF2-40B4-BE49-F238E27FC236}">
                <a16:creationId xmlns:a16="http://schemas.microsoft.com/office/drawing/2014/main" id="{D0B94789-68E0-454F-B7F0-A49E1E064247}"/>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0444E1B2-AAC8-4F52-8E7F-F2E4C472D1E3}" type="slidenum">
              <a:rPr lang="zh-CN" altLang="en-US">
                <a:latin typeface="Tahoma" panose="020B0604030504040204" pitchFamily="34" charset="0"/>
              </a:rPr>
              <a:pPr>
                <a:spcBef>
                  <a:spcPct val="0"/>
                </a:spcBef>
                <a:buFontTx/>
                <a:buNone/>
              </a:pPr>
              <a:t>52</a:t>
            </a:fld>
            <a:endParaRPr lang="en-US" altLang="zh-CN">
              <a:latin typeface="Tahoma" panose="020B0604030504040204" pitchFamily="34" charset="0"/>
            </a:endParaRPr>
          </a:p>
        </p:txBody>
      </p:sp>
    </p:spTree>
    <p:extLst>
      <p:ext uri="{BB962C8B-B14F-4D97-AF65-F5344CB8AC3E}">
        <p14:creationId xmlns:p14="http://schemas.microsoft.com/office/powerpoint/2010/main" val="12632755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幻灯片图像占位符 1">
            <a:extLst>
              <a:ext uri="{FF2B5EF4-FFF2-40B4-BE49-F238E27FC236}">
                <a16:creationId xmlns:a16="http://schemas.microsoft.com/office/drawing/2014/main" id="{8BDDA393-8D5D-40C2-80C7-290B549FC9B4}"/>
              </a:ext>
            </a:extLst>
          </p:cNvPr>
          <p:cNvSpPr>
            <a:spLocks noGrp="1" noRot="1" noChangeAspect="1" noChangeArrowheads="1" noTextEdit="1"/>
          </p:cNvSpPr>
          <p:nvPr>
            <p:ph type="sldImg"/>
          </p:nvPr>
        </p:nvSpPr>
        <p:spPr/>
      </p:sp>
      <p:sp>
        <p:nvSpPr>
          <p:cNvPr id="58371" name="备注占位符 2">
            <a:extLst>
              <a:ext uri="{FF2B5EF4-FFF2-40B4-BE49-F238E27FC236}">
                <a16:creationId xmlns:a16="http://schemas.microsoft.com/office/drawing/2014/main" id="{D2826C75-0580-4CF4-BEF8-3C70FA2C32E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372" name="灯片编号占位符 3">
            <a:extLst>
              <a:ext uri="{FF2B5EF4-FFF2-40B4-BE49-F238E27FC236}">
                <a16:creationId xmlns:a16="http://schemas.microsoft.com/office/drawing/2014/main" id="{D0B94789-68E0-454F-B7F0-A49E1E064247}"/>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0444E1B2-AAC8-4F52-8E7F-F2E4C472D1E3}" type="slidenum">
              <a:rPr lang="zh-CN" altLang="en-US">
                <a:latin typeface="Tahoma" panose="020B0604030504040204" pitchFamily="34" charset="0"/>
              </a:rPr>
              <a:pPr>
                <a:spcBef>
                  <a:spcPct val="0"/>
                </a:spcBef>
                <a:buFontTx/>
                <a:buNone/>
              </a:pPr>
              <a:t>53</a:t>
            </a:fld>
            <a:endParaRPr lang="en-US" altLang="zh-CN">
              <a:latin typeface="Tahoma" panose="020B0604030504040204" pitchFamily="34" charset="0"/>
            </a:endParaRPr>
          </a:p>
        </p:txBody>
      </p:sp>
    </p:spTree>
    <p:extLst>
      <p:ext uri="{BB962C8B-B14F-4D97-AF65-F5344CB8AC3E}">
        <p14:creationId xmlns:p14="http://schemas.microsoft.com/office/powerpoint/2010/main" val="36648754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a:extLst>
              <a:ext uri="{FF2B5EF4-FFF2-40B4-BE49-F238E27FC236}">
                <a16:creationId xmlns:a16="http://schemas.microsoft.com/office/drawing/2014/main" id="{8D44725D-C6EC-40C4-9587-CC8386A9B152}"/>
              </a:ext>
            </a:extLst>
          </p:cNvPr>
          <p:cNvSpPr>
            <a:spLocks noGrp="1" noRot="1" noChangeAspect="1" noChangeArrowheads="1" noTextEdit="1"/>
          </p:cNvSpPr>
          <p:nvPr>
            <p:ph type="sldImg"/>
          </p:nvPr>
        </p:nvSpPr>
        <p:spPr/>
      </p:sp>
      <p:sp>
        <p:nvSpPr>
          <p:cNvPr id="62467" name="备注占位符 2">
            <a:extLst>
              <a:ext uri="{FF2B5EF4-FFF2-40B4-BE49-F238E27FC236}">
                <a16:creationId xmlns:a16="http://schemas.microsoft.com/office/drawing/2014/main" id="{3C1F19C4-9ED6-48DA-9341-B6D81DAE994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468" name="灯片编号占位符 3">
            <a:extLst>
              <a:ext uri="{FF2B5EF4-FFF2-40B4-BE49-F238E27FC236}">
                <a16:creationId xmlns:a16="http://schemas.microsoft.com/office/drawing/2014/main" id="{A35935A4-AFC3-4A2D-BCD9-C4BC3346B52F}"/>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7610DA74-D809-4379-A4E8-4D1CFE08610F}" type="slidenum">
              <a:rPr lang="zh-CN" altLang="en-US">
                <a:latin typeface="Tahoma" panose="020B0604030504040204" pitchFamily="34" charset="0"/>
              </a:rPr>
              <a:pPr>
                <a:spcBef>
                  <a:spcPct val="0"/>
                </a:spcBef>
                <a:buFontTx/>
                <a:buNone/>
              </a:pPr>
              <a:t>54</a:t>
            </a:fld>
            <a:endParaRPr lang="en-US" altLang="zh-CN">
              <a:latin typeface="Tahoma" panose="020B060403050404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2886F1E-DF14-4423-9EAE-CA0AC5D32B39}" type="slidenum">
              <a:rPr lang="zh-CN" altLang="en-US" smtClean="0"/>
              <a:pPr>
                <a:defRPr/>
              </a:pPr>
              <a:t>60</a:t>
            </a:fld>
            <a:endParaRPr lang="zh-CN" altLang="en-US"/>
          </a:p>
        </p:txBody>
      </p:sp>
    </p:spTree>
    <p:extLst>
      <p:ext uri="{BB962C8B-B14F-4D97-AF65-F5344CB8AC3E}">
        <p14:creationId xmlns:p14="http://schemas.microsoft.com/office/powerpoint/2010/main" val="31934759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P133</a:t>
            </a:r>
            <a:r>
              <a:rPr lang="zh-CN" altLang="en-US" dirty="0"/>
              <a:t>：中序线索二叉树：</a:t>
            </a:r>
            <a:r>
              <a:rPr lang="en-US" altLang="zh-CN" dirty="0"/>
              <a:t>-+a##*b##-c##d##/e##f##</a:t>
            </a:r>
            <a:endParaRPr lang="zh-CN" altLang="en-US" dirty="0"/>
          </a:p>
        </p:txBody>
      </p:sp>
      <p:sp>
        <p:nvSpPr>
          <p:cNvPr id="4" name="灯片编号占位符 3"/>
          <p:cNvSpPr>
            <a:spLocks noGrp="1"/>
          </p:cNvSpPr>
          <p:nvPr>
            <p:ph type="sldNum" sz="quarter" idx="5"/>
          </p:nvPr>
        </p:nvSpPr>
        <p:spPr/>
        <p:txBody>
          <a:bodyPr/>
          <a:lstStyle/>
          <a:p>
            <a:pPr>
              <a:defRPr/>
            </a:pPr>
            <a:fld id="{E2886F1E-DF14-4423-9EAE-CA0AC5D32B39}" type="slidenum">
              <a:rPr lang="zh-CN" altLang="en-US" smtClean="0"/>
              <a:pPr>
                <a:defRPr/>
              </a:pPr>
              <a:t>66</a:t>
            </a:fld>
            <a:endParaRPr lang="zh-CN" altLang="en-US"/>
          </a:p>
        </p:txBody>
      </p:sp>
    </p:spTree>
    <p:extLst>
      <p:ext uri="{BB962C8B-B14F-4D97-AF65-F5344CB8AC3E}">
        <p14:creationId xmlns:p14="http://schemas.microsoft.com/office/powerpoint/2010/main" val="22471865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创建：</a:t>
            </a:r>
            <a:r>
              <a:rPr lang="en-US" altLang="zh-CN" dirty="0"/>
              <a:t>ABD###CEG##FH##F##</a:t>
            </a:r>
          </a:p>
          <a:p>
            <a:r>
              <a:rPr lang="zh-CN" altLang="en-US" dirty="0"/>
              <a:t>中序遍历：若存在左子树，从其前驱为顺左指针第一个</a:t>
            </a:r>
            <a:r>
              <a:rPr lang="en-US" altLang="zh-CN" dirty="0" err="1"/>
              <a:t>ltag</a:t>
            </a:r>
            <a:r>
              <a:rPr lang="zh-CN" altLang="en-US" dirty="0"/>
              <a:t>为</a:t>
            </a:r>
            <a:r>
              <a:rPr lang="en-US" altLang="zh-CN" dirty="0"/>
              <a:t>1</a:t>
            </a:r>
            <a:r>
              <a:rPr lang="zh-CN" altLang="en-US" dirty="0"/>
              <a:t>的结点。</a:t>
            </a:r>
            <a:endParaRPr lang="en-US" altLang="zh-CN" dirty="0"/>
          </a:p>
          <a:p>
            <a:r>
              <a:rPr lang="en-US" altLang="zh-CN" dirty="0"/>
              <a:t>                 </a:t>
            </a:r>
            <a:r>
              <a:rPr lang="zh-CN" altLang="en-US" dirty="0"/>
              <a:t>若存在右子树，后继为右子树，顺左指针第一个</a:t>
            </a:r>
            <a:r>
              <a:rPr lang="en-US" altLang="zh-CN" dirty="0" err="1"/>
              <a:t>ltag</a:t>
            </a:r>
            <a:r>
              <a:rPr lang="zh-CN" altLang="en-US" dirty="0"/>
              <a:t>为</a:t>
            </a:r>
            <a:r>
              <a:rPr lang="en-US" altLang="zh-CN" dirty="0"/>
              <a:t>1</a:t>
            </a:r>
            <a:r>
              <a:rPr lang="zh-CN" altLang="en-US" dirty="0"/>
              <a:t>的结点。</a:t>
            </a:r>
          </a:p>
        </p:txBody>
      </p:sp>
      <p:sp>
        <p:nvSpPr>
          <p:cNvPr id="4" name="灯片编号占位符 3"/>
          <p:cNvSpPr>
            <a:spLocks noGrp="1"/>
          </p:cNvSpPr>
          <p:nvPr>
            <p:ph type="sldNum" sz="quarter" idx="5"/>
          </p:nvPr>
        </p:nvSpPr>
        <p:spPr/>
        <p:txBody>
          <a:bodyPr/>
          <a:lstStyle/>
          <a:p>
            <a:pPr>
              <a:defRPr/>
            </a:pPr>
            <a:fld id="{E2886F1E-DF14-4423-9EAE-CA0AC5D32B39}" type="slidenum">
              <a:rPr lang="zh-CN" altLang="en-US" smtClean="0"/>
              <a:pPr>
                <a:defRPr/>
              </a:pPr>
              <a:t>67</a:t>
            </a:fld>
            <a:endParaRPr lang="zh-CN" altLang="en-US"/>
          </a:p>
        </p:txBody>
      </p:sp>
    </p:spTree>
    <p:extLst>
      <p:ext uri="{BB962C8B-B14F-4D97-AF65-F5344CB8AC3E}">
        <p14:creationId xmlns:p14="http://schemas.microsoft.com/office/powerpoint/2010/main" val="13940161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总指针数：</a:t>
            </a:r>
            <a:r>
              <a:rPr lang="en-US" altLang="zh-CN" dirty="0" err="1"/>
              <a:t>nd</a:t>
            </a:r>
            <a:endParaRPr lang="en-US" altLang="zh-CN" dirty="0"/>
          </a:p>
          <a:p>
            <a:r>
              <a:rPr lang="zh-CN" altLang="en-US" dirty="0"/>
              <a:t>使用的指针数</a:t>
            </a:r>
            <a:r>
              <a:rPr lang="en-US" altLang="zh-CN" dirty="0"/>
              <a:t>: n-1</a:t>
            </a:r>
          </a:p>
          <a:p>
            <a:r>
              <a:rPr lang="zh-CN" altLang="en-US" dirty="0"/>
              <a:t>故空链域数：</a:t>
            </a:r>
            <a:r>
              <a:rPr lang="en-US" altLang="zh-CN" dirty="0"/>
              <a:t>nd-n+1</a:t>
            </a:r>
            <a:endParaRPr lang="zh-CN" altLang="en-US" dirty="0"/>
          </a:p>
        </p:txBody>
      </p:sp>
      <p:sp>
        <p:nvSpPr>
          <p:cNvPr id="4" name="灯片编号占位符 3"/>
          <p:cNvSpPr>
            <a:spLocks noGrp="1"/>
          </p:cNvSpPr>
          <p:nvPr>
            <p:ph type="sldNum" sz="quarter" idx="5"/>
          </p:nvPr>
        </p:nvSpPr>
        <p:spPr/>
        <p:txBody>
          <a:bodyPr/>
          <a:lstStyle/>
          <a:p>
            <a:pPr>
              <a:defRPr/>
            </a:pPr>
            <a:fld id="{E2886F1E-DF14-4423-9EAE-CA0AC5D32B39}" type="slidenum">
              <a:rPr lang="zh-CN" altLang="en-US" smtClean="0"/>
              <a:pPr>
                <a:defRPr/>
              </a:pPr>
              <a:t>69</a:t>
            </a:fld>
            <a:endParaRPr lang="zh-CN" altLang="en-US"/>
          </a:p>
        </p:txBody>
      </p:sp>
    </p:spTree>
    <p:extLst>
      <p:ext uri="{BB962C8B-B14F-4D97-AF65-F5344CB8AC3E}">
        <p14:creationId xmlns:p14="http://schemas.microsoft.com/office/powerpoint/2010/main" val="7176897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2886F1E-DF14-4423-9EAE-CA0AC5D32B39}" type="slidenum">
              <a:rPr lang="zh-CN" altLang="en-US" smtClean="0"/>
              <a:pPr>
                <a:defRPr/>
              </a:pPr>
              <a:t>70</a:t>
            </a:fld>
            <a:endParaRPr lang="zh-CN" altLang="en-US"/>
          </a:p>
        </p:txBody>
      </p:sp>
    </p:spTree>
    <p:extLst>
      <p:ext uri="{BB962C8B-B14F-4D97-AF65-F5344CB8AC3E}">
        <p14:creationId xmlns:p14="http://schemas.microsoft.com/office/powerpoint/2010/main" val="10225100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2886F1E-DF14-4423-9EAE-CA0AC5D32B39}" type="slidenum">
              <a:rPr lang="zh-CN" altLang="en-US" smtClean="0"/>
              <a:pPr>
                <a:defRPr/>
              </a:pPr>
              <a:t>71</a:t>
            </a:fld>
            <a:endParaRPr lang="zh-CN" altLang="en-US"/>
          </a:p>
        </p:txBody>
      </p:sp>
    </p:spTree>
    <p:extLst>
      <p:ext uri="{BB962C8B-B14F-4D97-AF65-F5344CB8AC3E}">
        <p14:creationId xmlns:p14="http://schemas.microsoft.com/office/powerpoint/2010/main" val="38738354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2886F1E-DF14-4423-9EAE-CA0AC5D32B39}" type="slidenum">
              <a:rPr lang="zh-CN" altLang="en-US" smtClean="0"/>
              <a:pPr>
                <a:defRPr/>
              </a:pPr>
              <a:t>104</a:t>
            </a:fld>
            <a:endParaRPr lang="zh-CN" altLang="en-US"/>
          </a:p>
        </p:txBody>
      </p:sp>
    </p:spTree>
    <p:extLst>
      <p:ext uri="{BB962C8B-B14F-4D97-AF65-F5344CB8AC3E}">
        <p14:creationId xmlns:p14="http://schemas.microsoft.com/office/powerpoint/2010/main" val="14808926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2886F1E-DF14-4423-9EAE-CA0AC5D32B39}" type="slidenum">
              <a:rPr lang="zh-CN" altLang="en-US" smtClean="0"/>
              <a:pPr>
                <a:defRPr/>
              </a:pPr>
              <a:t>105</a:t>
            </a:fld>
            <a:endParaRPr lang="zh-CN" altLang="en-US"/>
          </a:p>
        </p:txBody>
      </p:sp>
    </p:spTree>
    <p:extLst>
      <p:ext uri="{BB962C8B-B14F-4D97-AF65-F5344CB8AC3E}">
        <p14:creationId xmlns:p14="http://schemas.microsoft.com/office/powerpoint/2010/main" val="27858779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2886F1E-DF14-4423-9EAE-CA0AC5D32B39}" type="slidenum">
              <a:rPr lang="zh-CN" altLang="en-US" smtClean="0"/>
              <a:pPr>
                <a:defRPr/>
              </a:pPr>
              <a:t>111</a:t>
            </a:fld>
            <a:endParaRPr lang="zh-CN" altLang="en-US"/>
          </a:p>
        </p:txBody>
      </p:sp>
    </p:spTree>
    <p:extLst>
      <p:ext uri="{BB962C8B-B14F-4D97-AF65-F5344CB8AC3E}">
        <p14:creationId xmlns:p14="http://schemas.microsoft.com/office/powerpoint/2010/main" val="14613609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2886F1E-DF14-4423-9EAE-CA0AC5D32B39}" type="slidenum">
              <a:rPr lang="zh-CN" altLang="en-US" smtClean="0"/>
              <a:pPr>
                <a:defRPr/>
              </a:pPr>
              <a:t>112</a:t>
            </a:fld>
            <a:endParaRPr lang="zh-CN" altLang="en-US"/>
          </a:p>
        </p:txBody>
      </p:sp>
    </p:spTree>
    <p:extLst>
      <p:ext uri="{BB962C8B-B14F-4D97-AF65-F5344CB8AC3E}">
        <p14:creationId xmlns:p14="http://schemas.microsoft.com/office/powerpoint/2010/main" val="18864033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strcpy</a:t>
            </a:r>
            <a:r>
              <a:rPr lang="en-US" altLang="zh-CN" dirty="0"/>
              <a:t>(</a:t>
            </a:r>
            <a:r>
              <a:rPr lang="zh-CN" altLang="en-US" dirty="0"/>
              <a:t>目标地址，</a:t>
            </a:r>
            <a:r>
              <a:rPr lang="en-US" altLang="zh-CN" dirty="0" err="1"/>
              <a:t>code+start</a:t>
            </a:r>
            <a:r>
              <a:rPr lang="en-US" altLang="zh-CN" dirty="0"/>
              <a:t>):</a:t>
            </a:r>
            <a:endParaRPr lang="zh-CN" altLang="en-US" dirty="0"/>
          </a:p>
        </p:txBody>
      </p:sp>
      <p:sp>
        <p:nvSpPr>
          <p:cNvPr id="4" name="灯片编号占位符 3"/>
          <p:cNvSpPr>
            <a:spLocks noGrp="1"/>
          </p:cNvSpPr>
          <p:nvPr>
            <p:ph type="sldNum" sz="quarter" idx="5"/>
          </p:nvPr>
        </p:nvSpPr>
        <p:spPr/>
        <p:txBody>
          <a:bodyPr/>
          <a:lstStyle/>
          <a:p>
            <a:pPr>
              <a:defRPr/>
            </a:pPr>
            <a:fld id="{E2886F1E-DF14-4423-9EAE-CA0AC5D32B39}" type="slidenum">
              <a:rPr lang="zh-CN" altLang="en-US" smtClean="0"/>
              <a:pPr>
                <a:defRPr/>
              </a:pPr>
              <a:t>124</a:t>
            </a:fld>
            <a:endParaRPr lang="zh-CN" altLang="en-US"/>
          </a:p>
        </p:txBody>
      </p:sp>
    </p:spTree>
    <p:extLst>
      <p:ext uri="{BB962C8B-B14F-4D97-AF65-F5344CB8AC3E}">
        <p14:creationId xmlns:p14="http://schemas.microsoft.com/office/powerpoint/2010/main" val="255999726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  2; b:2; c:3; d:1; e:2</a:t>
            </a:r>
          </a:p>
          <a:p>
            <a:r>
              <a:rPr lang="zh-CN" altLang="en-US" dirty="0"/>
              <a:t>按左子树权值小于右子树，程序选择顺序。</a:t>
            </a:r>
            <a:endParaRPr lang="en-US" altLang="zh-CN" dirty="0"/>
          </a:p>
          <a:p>
            <a:r>
              <a:rPr lang="en-US" altLang="zh-CN" dirty="0"/>
              <a:t>b: 00</a:t>
            </a:r>
          </a:p>
          <a:p>
            <a:r>
              <a:rPr lang="en-US" altLang="zh-CN" dirty="0"/>
              <a:t>e: 01</a:t>
            </a:r>
          </a:p>
          <a:p>
            <a:r>
              <a:rPr lang="en-US" altLang="zh-CN" dirty="0"/>
              <a:t>c: 10</a:t>
            </a:r>
          </a:p>
          <a:p>
            <a:r>
              <a:rPr lang="en-US" altLang="zh-CN" dirty="0"/>
              <a:t>a: 110</a:t>
            </a:r>
          </a:p>
          <a:p>
            <a:r>
              <a:rPr lang="en-US" altLang="zh-CN" dirty="0"/>
              <a:t>d: 111</a:t>
            </a:r>
          </a:p>
          <a:p>
            <a:endParaRPr lang="zh-CN" altLang="en-US" dirty="0"/>
          </a:p>
        </p:txBody>
      </p:sp>
      <p:sp>
        <p:nvSpPr>
          <p:cNvPr id="4" name="灯片编号占位符 3"/>
          <p:cNvSpPr>
            <a:spLocks noGrp="1"/>
          </p:cNvSpPr>
          <p:nvPr>
            <p:ph type="sldNum" sz="quarter" idx="5"/>
          </p:nvPr>
        </p:nvSpPr>
        <p:spPr/>
        <p:txBody>
          <a:bodyPr/>
          <a:lstStyle/>
          <a:p>
            <a:pPr>
              <a:defRPr/>
            </a:pPr>
            <a:fld id="{E2886F1E-DF14-4423-9EAE-CA0AC5D32B39}" type="slidenum">
              <a:rPr lang="zh-CN" altLang="en-US" smtClean="0"/>
              <a:pPr>
                <a:defRPr/>
              </a:pPr>
              <a:t>131</a:t>
            </a:fld>
            <a:endParaRPr lang="zh-CN" altLang="en-US"/>
          </a:p>
        </p:txBody>
      </p:sp>
    </p:spTree>
    <p:extLst>
      <p:ext uri="{BB962C8B-B14F-4D97-AF65-F5344CB8AC3E}">
        <p14:creationId xmlns:p14="http://schemas.microsoft.com/office/powerpoint/2010/main" val="27211366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T(0.5, 0.5(0.3,0.3(0.07(0.03,0.04)</a:t>
            </a:r>
            <a:r>
              <a:rPr lang="zh-CN" altLang="en-US" dirty="0"/>
              <a:t>，</a:t>
            </a:r>
            <a:r>
              <a:rPr lang="en-US" altLang="zh-CN" dirty="0"/>
              <a:t>0.13</a:t>
            </a:r>
            <a:r>
              <a:rPr lang="zh-CN" altLang="en-US" dirty="0"/>
              <a:t>）））</a:t>
            </a:r>
            <a:endParaRPr lang="en-US" altLang="zh-CN" dirty="0"/>
          </a:p>
          <a:p>
            <a:r>
              <a:rPr lang="en-US" altLang="zh-CN" dirty="0"/>
              <a:t>If(score&gt;=70 &amp;&amp; score&lt;=79) </a:t>
            </a:r>
          </a:p>
          <a:p>
            <a:r>
              <a:rPr lang="en-US" altLang="zh-CN" dirty="0"/>
              <a:t>           ….</a:t>
            </a:r>
          </a:p>
          <a:p>
            <a:r>
              <a:rPr lang="en-US" altLang="zh-CN" dirty="0"/>
              <a:t>else if(score&gt;=80 &amp;&amp;  score&lt;=89)</a:t>
            </a:r>
          </a:p>
          <a:p>
            <a:r>
              <a:rPr lang="en-US" altLang="zh-CN" dirty="0"/>
              <a:t>           ….</a:t>
            </a:r>
          </a:p>
          <a:p>
            <a:r>
              <a:rPr lang="en-US" altLang="zh-CN" dirty="0"/>
              <a:t>else if(score&gt;90)</a:t>
            </a:r>
          </a:p>
          <a:p>
            <a:r>
              <a:rPr lang="en-US" altLang="zh-CN" dirty="0"/>
              <a:t>          …</a:t>
            </a:r>
          </a:p>
          <a:p>
            <a:r>
              <a:rPr lang="en-US" altLang="zh-CN" dirty="0"/>
              <a:t>else if(score&lt;60)</a:t>
            </a:r>
          </a:p>
          <a:p>
            <a:r>
              <a:rPr lang="en-US" altLang="zh-CN" dirty="0"/>
              <a:t>          …</a:t>
            </a:r>
          </a:p>
          <a:p>
            <a:r>
              <a:rPr lang="en-US" altLang="zh-CN" dirty="0"/>
              <a:t>else</a:t>
            </a:r>
          </a:p>
          <a:p>
            <a:r>
              <a:rPr lang="en-US" altLang="zh-CN" dirty="0"/>
              <a:t>          …</a:t>
            </a:r>
          </a:p>
        </p:txBody>
      </p:sp>
      <p:sp>
        <p:nvSpPr>
          <p:cNvPr id="4" name="灯片编号占位符 3"/>
          <p:cNvSpPr>
            <a:spLocks noGrp="1"/>
          </p:cNvSpPr>
          <p:nvPr>
            <p:ph type="sldNum" sz="quarter" idx="5"/>
          </p:nvPr>
        </p:nvSpPr>
        <p:spPr/>
        <p:txBody>
          <a:bodyPr/>
          <a:lstStyle/>
          <a:p>
            <a:pPr>
              <a:defRPr/>
            </a:pPr>
            <a:fld id="{E2886F1E-DF14-4423-9EAE-CA0AC5D32B39}" type="slidenum">
              <a:rPr lang="zh-CN" altLang="en-US" smtClean="0"/>
              <a:pPr>
                <a:defRPr/>
              </a:pPr>
              <a:t>132</a:t>
            </a:fld>
            <a:endParaRPr lang="zh-CN" altLang="en-US"/>
          </a:p>
        </p:txBody>
      </p:sp>
    </p:spTree>
    <p:extLst>
      <p:ext uri="{BB962C8B-B14F-4D97-AF65-F5344CB8AC3E}">
        <p14:creationId xmlns:p14="http://schemas.microsoft.com/office/powerpoint/2010/main" val="345474018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Huffman</a:t>
            </a:r>
            <a:r>
              <a:rPr lang="zh-CN" altLang="en-US" dirty="0"/>
              <a:t>算法。</a:t>
            </a:r>
            <a:endParaRPr lang="en-US" altLang="zh-CN" dirty="0"/>
          </a:p>
          <a:p>
            <a:r>
              <a:rPr lang="zh-CN" altLang="en-US" dirty="0"/>
              <a:t>比较总次数</a:t>
            </a:r>
            <a:r>
              <a:rPr lang="en-US" altLang="zh-CN" dirty="0"/>
              <a:t>: </a:t>
            </a:r>
            <a:r>
              <a:rPr lang="zh-CN" altLang="en-US" dirty="0"/>
              <a:t>树的带权路径长度</a:t>
            </a:r>
            <a:r>
              <a:rPr lang="en-US" altLang="zh-CN" dirty="0" err="1"/>
              <a:t>wpl</a:t>
            </a:r>
            <a:r>
              <a:rPr lang="zh-CN" altLang="en-US" dirty="0"/>
              <a:t>。</a:t>
            </a:r>
            <a:endParaRPr lang="en-US" altLang="zh-CN" dirty="0"/>
          </a:p>
        </p:txBody>
      </p:sp>
      <p:sp>
        <p:nvSpPr>
          <p:cNvPr id="4" name="灯片编号占位符 3"/>
          <p:cNvSpPr>
            <a:spLocks noGrp="1"/>
          </p:cNvSpPr>
          <p:nvPr>
            <p:ph type="sldNum" sz="quarter" idx="5"/>
          </p:nvPr>
        </p:nvSpPr>
        <p:spPr/>
        <p:txBody>
          <a:bodyPr/>
          <a:lstStyle/>
          <a:p>
            <a:pPr>
              <a:defRPr/>
            </a:pPr>
            <a:fld id="{E2886F1E-DF14-4423-9EAE-CA0AC5D32B39}" type="slidenum">
              <a:rPr lang="zh-CN" altLang="en-US" smtClean="0"/>
              <a:pPr>
                <a:defRPr/>
              </a:pPr>
              <a:t>133</a:t>
            </a:fld>
            <a:endParaRPr lang="zh-CN" altLang="en-US"/>
          </a:p>
        </p:txBody>
      </p:sp>
    </p:spTree>
    <p:extLst>
      <p:ext uri="{BB962C8B-B14F-4D97-AF65-F5344CB8AC3E}">
        <p14:creationId xmlns:p14="http://schemas.microsoft.com/office/powerpoint/2010/main" val="157959090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20000"/>
          </a:bodyPr>
          <a:lstStyle/>
          <a:p>
            <a:pPr marL="266700" algn="just"/>
            <a:r>
              <a:rPr lang="en-US" altLang="zh-CN" sz="1800" kern="100" dirty="0">
                <a:effectLst/>
                <a:latin typeface="宋体" panose="02010600030101010101" pitchFamily="2" charset="-122"/>
                <a:ea typeface="宋体" panose="02010600030101010101" pitchFamily="2" charset="-122"/>
              </a:rPr>
              <a:t>A-00</a:t>
            </a:r>
            <a:endParaRPr lang="zh-CN" altLang="zh-CN" sz="1800" kern="100" dirty="0">
              <a:effectLst/>
              <a:latin typeface="Times New Roman" panose="02020603050405020304" pitchFamily="18" charset="0"/>
              <a:ea typeface="宋体" panose="02010600030101010101" pitchFamily="2" charset="-122"/>
            </a:endParaRPr>
          </a:p>
          <a:p>
            <a:pPr marL="266700" algn="just"/>
            <a:r>
              <a:rPr lang="en-US" altLang="zh-CN" sz="1800" kern="100" dirty="0">
                <a:effectLst/>
                <a:latin typeface="宋体" panose="02010600030101010101" pitchFamily="2" charset="-122"/>
                <a:ea typeface="宋体" panose="02010600030101010101" pitchFamily="2" charset="-122"/>
              </a:rPr>
              <a:t>B-010</a:t>
            </a:r>
            <a:endParaRPr lang="zh-CN" altLang="zh-CN" sz="1800" kern="100" dirty="0">
              <a:effectLst/>
              <a:latin typeface="Times New Roman" panose="02020603050405020304" pitchFamily="18" charset="0"/>
              <a:ea typeface="宋体" panose="02010600030101010101" pitchFamily="2" charset="-122"/>
            </a:endParaRPr>
          </a:p>
          <a:p>
            <a:pPr marL="266700" algn="just"/>
            <a:r>
              <a:rPr lang="en-US" altLang="zh-CN" sz="1800" kern="100" dirty="0">
                <a:effectLst/>
                <a:latin typeface="宋体" panose="02010600030101010101" pitchFamily="2" charset="-122"/>
                <a:ea typeface="宋体" panose="02010600030101010101" pitchFamily="2" charset="-122"/>
              </a:rPr>
              <a:t>C-011</a:t>
            </a:r>
            <a:endParaRPr lang="zh-CN" altLang="zh-CN" sz="1800" kern="100" dirty="0">
              <a:effectLst/>
              <a:latin typeface="Times New Roman" panose="02020603050405020304" pitchFamily="18" charset="0"/>
              <a:ea typeface="宋体" panose="02010600030101010101" pitchFamily="2" charset="-122"/>
            </a:endParaRPr>
          </a:p>
          <a:p>
            <a:pPr marL="266700" algn="just"/>
            <a:r>
              <a:rPr lang="en-US" altLang="zh-CN" sz="1800" kern="100" dirty="0">
                <a:effectLst/>
                <a:latin typeface="宋体" panose="02010600030101010101" pitchFamily="2" charset="-122"/>
                <a:ea typeface="宋体" panose="02010600030101010101" pitchFamily="2" charset="-122"/>
              </a:rPr>
              <a:t>D-012</a:t>
            </a:r>
            <a:endParaRPr lang="zh-CN" altLang="zh-CN" sz="1800" kern="100" dirty="0">
              <a:effectLst/>
              <a:latin typeface="Times New Roman" panose="02020603050405020304" pitchFamily="18" charset="0"/>
              <a:ea typeface="宋体" panose="02010600030101010101" pitchFamily="2" charset="-122"/>
            </a:endParaRPr>
          </a:p>
          <a:p>
            <a:pPr marL="266700" algn="just"/>
            <a:r>
              <a:rPr lang="en-US" altLang="zh-CN" sz="1800" kern="100" dirty="0">
                <a:effectLst/>
                <a:latin typeface="宋体" panose="02010600030101010101" pitchFamily="2" charset="-122"/>
                <a:ea typeface="宋体" panose="02010600030101010101" pitchFamily="2" charset="-122"/>
              </a:rPr>
              <a:t>E-02</a:t>
            </a:r>
            <a:endParaRPr lang="zh-CN" altLang="zh-CN" sz="1800" kern="100" dirty="0">
              <a:effectLst/>
              <a:latin typeface="Times New Roman" panose="02020603050405020304" pitchFamily="18" charset="0"/>
              <a:ea typeface="宋体" panose="02010600030101010101" pitchFamily="2" charset="-122"/>
            </a:endParaRPr>
          </a:p>
          <a:p>
            <a:pPr marL="266700" algn="just"/>
            <a:r>
              <a:rPr lang="en-US" altLang="zh-CN" sz="1800" kern="100" dirty="0">
                <a:effectLst/>
                <a:latin typeface="宋体" panose="02010600030101010101" pitchFamily="2" charset="-122"/>
                <a:ea typeface="宋体" panose="02010600030101010101" pitchFamily="2" charset="-122"/>
              </a:rPr>
              <a:t>F-10</a:t>
            </a:r>
            <a:endParaRPr lang="zh-CN" altLang="zh-CN" sz="1800" kern="100" dirty="0">
              <a:effectLst/>
              <a:latin typeface="Times New Roman" panose="02020603050405020304" pitchFamily="18" charset="0"/>
              <a:ea typeface="宋体" panose="02010600030101010101" pitchFamily="2" charset="-122"/>
            </a:endParaRPr>
          </a:p>
          <a:p>
            <a:pPr marL="266700" algn="just"/>
            <a:r>
              <a:rPr lang="en-US" altLang="zh-CN" sz="1800" kern="100" dirty="0">
                <a:effectLst/>
                <a:latin typeface="宋体" panose="02010600030101010101" pitchFamily="2" charset="-122"/>
                <a:ea typeface="宋体" panose="02010600030101010101" pitchFamily="2" charset="-122"/>
              </a:rPr>
              <a:t>G-1100</a:t>
            </a:r>
            <a:endParaRPr lang="zh-CN" altLang="zh-CN" sz="1800" kern="100" dirty="0">
              <a:effectLst/>
              <a:latin typeface="Times New Roman" panose="02020603050405020304" pitchFamily="18" charset="0"/>
              <a:ea typeface="宋体" panose="02010600030101010101" pitchFamily="2" charset="-122"/>
            </a:endParaRPr>
          </a:p>
          <a:p>
            <a:pPr marL="266700" algn="just"/>
            <a:r>
              <a:rPr lang="en-US" altLang="zh-CN" sz="1800" kern="100" dirty="0">
                <a:effectLst/>
                <a:latin typeface="宋体" panose="02010600030101010101" pitchFamily="2" charset="-122"/>
                <a:ea typeface="宋体" panose="02010600030101010101" pitchFamily="2" charset="-122"/>
              </a:rPr>
              <a:t>H-1101</a:t>
            </a:r>
            <a:endParaRPr lang="zh-CN" altLang="zh-CN" sz="1800" kern="100" dirty="0">
              <a:effectLst/>
              <a:latin typeface="Times New Roman" panose="02020603050405020304" pitchFamily="18" charset="0"/>
              <a:ea typeface="宋体" panose="02010600030101010101" pitchFamily="2" charset="-122"/>
            </a:endParaRPr>
          </a:p>
          <a:p>
            <a:pPr marL="266700" algn="just"/>
            <a:r>
              <a:rPr lang="en-US" altLang="zh-CN" sz="1800" kern="100" dirty="0">
                <a:effectLst/>
                <a:latin typeface="宋体" panose="02010600030101010101" pitchFamily="2" charset="-122"/>
                <a:ea typeface="宋体" panose="02010600030101010101" pitchFamily="2" charset="-122"/>
              </a:rPr>
              <a:t>I-1102</a:t>
            </a:r>
            <a:endParaRPr lang="zh-CN" altLang="zh-CN" sz="1800" kern="100" dirty="0">
              <a:effectLst/>
              <a:latin typeface="Times New Roman" panose="02020603050405020304" pitchFamily="18" charset="0"/>
              <a:ea typeface="宋体" panose="02010600030101010101" pitchFamily="2" charset="-122"/>
            </a:endParaRPr>
          </a:p>
          <a:p>
            <a:pPr marL="266700" algn="just"/>
            <a:r>
              <a:rPr lang="en-US" altLang="zh-CN" sz="1800" kern="100" dirty="0">
                <a:effectLst/>
                <a:latin typeface="宋体" panose="02010600030101010101" pitchFamily="2" charset="-122"/>
                <a:ea typeface="宋体" panose="02010600030101010101" pitchFamily="2" charset="-122"/>
              </a:rPr>
              <a:t>J-111</a:t>
            </a:r>
            <a:endParaRPr lang="zh-CN" altLang="zh-CN" sz="1800" kern="100" dirty="0">
              <a:effectLst/>
              <a:latin typeface="Times New Roman" panose="02020603050405020304" pitchFamily="18" charset="0"/>
              <a:ea typeface="宋体" panose="02010600030101010101" pitchFamily="2" charset="-122"/>
            </a:endParaRPr>
          </a:p>
          <a:p>
            <a:pPr marL="266700" algn="just"/>
            <a:r>
              <a:rPr lang="en-US" altLang="zh-CN" sz="1800" kern="100" dirty="0">
                <a:effectLst/>
                <a:latin typeface="宋体" panose="02010600030101010101" pitchFamily="2" charset="-122"/>
                <a:ea typeface="宋体" panose="02010600030101010101" pitchFamily="2" charset="-122"/>
              </a:rPr>
              <a:t>K-112</a:t>
            </a:r>
            <a:endParaRPr lang="zh-CN" altLang="zh-CN" sz="1800" kern="100" dirty="0">
              <a:effectLst/>
              <a:latin typeface="Times New Roman" panose="02020603050405020304" pitchFamily="18" charset="0"/>
              <a:ea typeface="宋体" panose="02010600030101010101" pitchFamily="2" charset="-122"/>
            </a:endParaRPr>
          </a:p>
          <a:p>
            <a:pPr marL="266700" algn="just"/>
            <a:r>
              <a:rPr lang="en-US" altLang="zh-CN" sz="1800" kern="100" dirty="0">
                <a:effectLst/>
                <a:latin typeface="宋体" panose="02010600030101010101" pitchFamily="2" charset="-122"/>
                <a:ea typeface="宋体" panose="02010600030101010101" pitchFamily="2" charset="-122"/>
              </a:rPr>
              <a:t>L-120</a:t>
            </a:r>
            <a:endParaRPr lang="zh-CN" altLang="zh-CN" sz="1800" kern="100" dirty="0">
              <a:effectLst/>
              <a:latin typeface="Times New Roman" panose="02020603050405020304" pitchFamily="18" charset="0"/>
              <a:ea typeface="宋体" panose="02010600030101010101" pitchFamily="2" charset="-122"/>
            </a:endParaRPr>
          </a:p>
          <a:p>
            <a:pPr marL="266700" algn="just"/>
            <a:r>
              <a:rPr lang="en-US" altLang="zh-CN" sz="1800" kern="100" dirty="0">
                <a:effectLst/>
                <a:latin typeface="宋体" panose="02010600030101010101" pitchFamily="2" charset="-122"/>
                <a:ea typeface="宋体" panose="02010600030101010101" pitchFamily="2" charset="-122"/>
              </a:rPr>
              <a:t>M-121</a:t>
            </a:r>
            <a:endParaRPr lang="zh-CN" altLang="zh-CN" sz="1800" kern="100" dirty="0">
              <a:effectLst/>
              <a:latin typeface="Times New Roman" panose="02020603050405020304" pitchFamily="18" charset="0"/>
              <a:ea typeface="宋体" panose="02010600030101010101" pitchFamily="2" charset="-122"/>
            </a:endParaRPr>
          </a:p>
          <a:p>
            <a:pPr marL="266700" algn="just"/>
            <a:r>
              <a:rPr lang="en-US" altLang="zh-CN" sz="1800" kern="100" dirty="0">
                <a:effectLst/>
                <a:latin typeface="宋体" panose="02010600030101010101" pitchFamily="2" charset="-122"/>
                <a:ea typeface="宋体" panose="02010600030101010101" pitchFamily="2" charset="-122"/>
              </a:rPr>
              <a:t>N-122</a:t>
            </a:r>
            <a:endParaRPr lang="zh-CN" altLang="zh-CN" sz="1800" kern="100" dirty="0">
              <a:effectLst/>
              <a:latin typeface="Times New Roman" panose="02020603050405020304" pitchFamily="18" charset="0"/>
              <a:ea typeface="宋体" panose="02010600030101010101" pitchFamily="2" charset="-122"/>
            </a:endParaRPr>
          </a:p>
          <a:p>
            <a:endParaRPr lang="en-US" altLang="zh-CN" dirty="0"/>
          </a:p>
        </p:txBody>
      </p:sp>
      <p:sp>
        <p:nvSpPr>
          <p:cNvPr id="4" name="灯片编号占位符 3"/>
          <p:cNvSpPr>
            <a:spLocks noGrp="1"/>
          </p:cNvSpPr>
          <p:nvPr>
            <p:ph type="sldNum" sz="quarter" idx="5"/>
          </p:nvPr>
        </p:nvSpPr>
        <p:spPr/>
        <p:txBody>
          <a:bodyPr/>
          <a:lstStyle/>
          <a:p>
            <a:pPr>
              <a:defRPr/>
            </a:pPr>
            <a:fld id="{E2886F1E-DF14-4423-9EAE-CA0AC5D32B39}" type="slidenum">
              <a:rPr lang="zh-CN" altLang="en-US" smtClean="0"/>
              <a:pPr>
                <a:defRPr/>
              </a:pPr>
              <a:t>134</a:t>
            </a:fld>
            <a:endParaRPr lang="zh-CN" altLang="en-US"/>
          </a:p>
        </p:txBody>
      </p:sp>
    </p:spTree>
    <p:extLst>
      <p:ext uri="{BB962C8B-B14F-4D97-AF65-F5344CB8AC3E}">
        <p14:creationId xmlns:p14="http://schemas.microsoft.com/office/powerpoint/2010/main" val="154821270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D.</a:t>
            </a:r>
            <a:r>
              <a:rPr lang="zh-CN" altLang="en-US" dirty="0"/>
              <a:t> </a:t>
            </a:r>
            <a:r>
              <a:rPr lang="en-US" altLang="zh-CN" dirty="0"/>
              <a:t>2h</a:t>
            </a:r>
            <a:r>
              <a:rPr lang="zh-CN" altLang="en-US" dirty="0"/>
              <a:t> </a:t>
            </a:r>
            <a:r>
              <a:rPr lang="en-US" altLang="zh-CN" dirty="0"/>
              <a:t>-</a:t>
            </a:r>
            <a:r>
              <a:rPr lang="zh-CN" altLang="en-US" dirty="0"/>
              <a:t> </a:t>
            </a:r>
            <a:r>
              <a:rPr lang="en-US" altLang="zh-CN"/>
              <a:t>1</a:t>
            </a:r>
            <a:endParaRPr lang="zh-CN" altLang="en-US" dirty="0"/>
          </a:p>
        </p:txBody>
      </p:sp>
      <p:sp>
        <p:nvSpPr>
          <p:cNvPr id="4" name="灯片编号占位符 3"/>
          <p:cNvSpPr>
            <a:spLocks noGrp="1"/>
          </p:cNvSpPr>
          <p:nvPr>
            <p:ph type="sldNum" sz="quarter" idx="5"/>
          </p:nvPr>
        </p:nvSpPr>
        <p:spPr/>
        <p:txBody>
          <a:bodyPr/>
          <a:lstStyle/>
          <a:p>
            <a:pPr>
              <a:defRPr/>
            </a:pPr>
            <a:fld id="{E2886F1E-DF14-4423-9EAE-CA0AC5D32B39}" type="slidenum">
              <a:rPr lang="zh-CN" altLang="en-US" smtClean="0"/>
              <a:pPr>
                <a:defRPr/>
              </a:pPr>
              <a:t>135</a:t>
            </a:fld>
            <a:endParaRPr lang="zh-CN" altLang="en-US"/>
          </a:p>
        </p:txBody>
      </p:sp>
    </p:spTree>
    <p:extLst>
      <p:ext uri="{BB962C8B-B14F-4D97-AF65-F5344CB8AC3E}">
        <p14:creationId xmlns:p14="http://schemas.microsoft.com/office/powerpoint/2010/main" val="246885412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0</a:t>
            </a:r>
            <a:endParaRPr lang="zh-CN" altLang="en-US" dirty="0"/>
          </a:p>
        </p:txBody>
      </p:sp>
      <p:sp>
        <p:nvSpPr>
          <p:cNvPr id="4" name="灯片编号占位符 3"/>
          <p:cNvSpPr>
            <a:spLocks noGrp="1"/>
          </p:cNvSpPr>
          <p:nvPr>
            <p:ph type="sldNum" sz="quarter" idx="5"/>
          </p:nvPr>
        </p:nvSpPr>
        <p:spPr/>
        <p:txBody>
          <a:bodyPr/>
          <a:lstStyle/>
          <a:p>
            <a:pPr>
              <a:defRPr/>
            </a:pPr>
            <a:fld id="{E2886F1E-DF14-4423-9EAE-CA0AC5D32B39}" type="slidenum">
              <a:rPr lang="zh-CN" altLang="en-US" smtClean="0"/>
              <a:pPr>
                <a:defRPr/>
              </a:pPr>
              <a:t>136</a:t>
            </a:fld>
            <a:endParaRPr lang="zh-CN" altLang="en-US"/>
          </a:p>
        </p:txBody>
      </p:sp>
    </p:spTree>
    <p:extLst>
      <p:ext uri="{BB962C8B-B14F-4D97-AF65-F5344CB8AC3E}">
        <p14:creationId xmlns:p14="http://schemas.microsoft.com/office/powerpoint/2010/main" val="366622058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D</a:t>
            </a:r>
            <a:endParaRPr lang="zh-CN" altLang="en-US" dirty="0"/>
          </a:p>
        </p:txBody>
      </p:sp>
      <p:sp>
        <p:nvSpPr>
          <p:cNvPr id="4" name="灯片编号占位符 3"/>
          <p:cNvSpPr>
            <a:spLocks noGrp="1"/>
          </p:cNvSpPr>
          <p:nvPr>
            <p:ph type="sldNum" sz="quarter" idx="5"/>
          </p:nvPr>
        </p:nvSpPr>
        <p:spPr/>
        <p:txBody>
          <a:bodyPr/>
          <a:lstStyle/>
          <a:p>
            <a:pPr>
              <a:defRPr/>
            </a:pPr>
            <a:fld id="{E2886F1E-DF14-4423-9EAE-CA0AC5D32B39}" type="slidenum">
              <a:rPr lang="zh-CN" altLang="en-US" smtClean="0"/>
              <a:pPr>
                <a:defRPr/>
              </a:pPr>
              <a:t>137</a:t>
            </a:fld>
            <a:endParaRPr lang="zh-CN" altLang="en-US"/>
          </a:p>
        </p:txBody>
      </p:sp>
    </p:spTree>
    <p:extLst>
      <p:ext uri="{BB962C8B-B14F-4D97-AF65-F5344CB8AC3E}">
        <p14:creationId xmlns:p14="http://schemas.microsoft.com/office/powerpoint/2010/main" val="196071975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幻灯片图像占位符 1">
            <a:extLst>
              <a:ext uri="{FF2B5EF4-FFF2-40B4-BE49-F238E27FC236}">
                <a16:creationId xmlns:a16="http://schemas.microsoft.com/office/drawing/2014/main" id="{E104757E-3B42-4399-B80C-D16863BF4A33}"/>
              </a:ext>
            </a:extLst>
          </p:cNvPr>
          <p:cNvSpPr>
            <a:spLocks noGrp="1" noRot="1" noChangeAspect="1" noChangeArrowheads="1" noTextEdit="1"/>
          </p:cNvSpPr>
          <p:nvPr>
            <p:ph type="sldImg"/>
          </p:nvPr>
        </p:nvSpPr>
        <p:spPr/>
      </p:sp>
      <p:sp>
        <p:nvSpPr>
          <p:cNvPr id="130051" name="备注占位符 2">
            <a:extLst>
              <a:ext uri="{FF2B5EF4-FFF2-40B4-BE49-F238E27FC236}">
                <a16:creationId xmlns:a16="http://schemas.microsoft.com/office/drawing/2014/main" id="{0F90116B-B6C2-4396-BE8F-B260C4F3CE1C}"/>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zh-CN"/>
              <a:t>(1)(a(b(d(g,m),p)), c(e(h,k)), f)</a:t>
            </a:r>
          </a:p>
          <a:p>
            <a:r>
              <a:rPr lang="en-US" altLang="zh-CN"/>
              <a:t>(2)</a:t>
            </a:r>
            <a:r>
              <a:rPr lang="zh-CN" altLang="en-US"/>
              <a:t>二叉树的先序遍历创建顺序为：</a:t>
            </a:r>
            <a:r>
              <a:rPr lang="en-US" altLang="zh-CN"/>
              <a:t>abdg#m##p###ceh#k###f##</a:t>
            </a:r>
          </a:p>
          <a:p>
            <a:r>
              <a:rPr lang="en-US" altLang="zh-CN"/>
              <a:t>(4)p:001; m:000; k:1001; f:11</a:t>
            </a:r>
            <a:endParaRPr lang="zh-CN" altLang="en-US"/>
          </a:p>
        </p:txBody>
      </p:sp>
      <p:sp>
        <p:nvSpPr>
          <p:cNvPr id="130052" name="灯片编号占位符 3">
            <a:extLst>
              <a:ext uri="{FF2B5EF4-FFF2-40B4-BE49-F238E27FC236}">
                <a16:creationId xmlns:a16="http://schemas.microsoft.com/office/drawing/2014/main" id="{E6BA2D3F-175C-4C1E-B595-99A4D39A528D}"/>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fld id="{FAE60C5A-D0D3-47F1-AB14-7AC5FEB666FB}" type="slidenum">
              <a:rPr lang="zh-CN" altLang="en-US" sz="1200"/>
              <a:pPr/>
              <a:t>138</a:t>
            </a:fld>
            <a:endParaRPr lang="en-US" altLang="zh-CN"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幻灯片图像占位符 1">
            <a:extLst>
              <a:ext uri="{FF2B5EF4-FFF2-40B4-BE49-F238E27FC236}">
                <a16:creationId xmlns:a16="http://schemas.microsoft.com/office/drawing/2014/main" id="{E104757E-3B42-4399-B80C-D16863BF4A33}"/>
              </a:ext>
            </a:extLst>
          </p:cNvPr>
          <p:cNvSpPr>
            <a:spLocks noGrp="1" noRot="1" noChangeAspect="1" noChangeArrowheads="1" noTextEdit="1"/>
          </p:cNvSpPr>
          <p:nvPr>
            <p:ph type="sldImg"/>
          </p:nvPr>
        </p:nvSpPr>
        <p:spPr/>
      </p:sp>
      <p:sp>
        <p:nvSpPr>
          <p:cNvPr id="130051" name="备注占位符 2">
            <a:extLst>
              <a:ext uri="{FF2B5EF4-FFF2-40B4-BE49-F238E27FC236}">
                <a16:creationId xmlns:a16="http://schemas.microsoft.com/office/drawing/2014/main" id="{0F90116B-B6C2-4396-BE8F-B260C4F3CE1C}"/>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p>
        </p:txBody>
      </p:sp>
      <p:sp>
        <p:nvSpPr>
          <p:cNvPr id="130052" name="灯片编号占位符 3">
            <a:extLst>
              <a:ext uri="{FF2B5EF4-FFF2-40B4-BE49-F238E27FC236}">
                <a16:creationId xmlns:a16="http://schemas.microsoft.com/office/drawing/2014/main" id="{E6BA2D3F-175C-4C1E-B595-99A4D39A528D}"/>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fld id="{FAE60C5A-D0D3-47F1-AB14-7AC5FEB666FB}" type="slidenum">
              <a:rPr lang="zh-CN" altLang="en-US" sz="1200"/>
              <a:pPr/>
              <a:t>139</a:t>
            </a:fld>
            <a:endParaRPr lang="en-US" altLang="zh-CN" sz="1200"/>
          </a:p>
        </p:txBody>
      </p:sp>
    </p:spTree>
    <p:extLst>
      <p:ext uri="{BB962C8B-B14F-4D97-AF65-F5344CB8AC3E}">
        <p14:creationId xmlns:p14="http://schemas.microsoft.com/office/powerpoint/2010/main" val="25735319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AutoShape 7">
            <a:extLst>
              <a:ext uri="{FF2B5EF4-FFF2-40B4-BE49-F238E27FC236}">
                <a16:creationId xmlns:a16="http://schemas.microsoft.com/office/drawing/2014/main" id="{BC8DE780-610B-4008-8E72-25884B50F1B4}"/>
              </a:ext>
            </a:extLst>
          </p:cNvPr>
          <p:cNvSpPr>
            <a:spLocks noChangeArrowheads="1"/>
          </p:cNvSpPr>
          <p:nvPr/>
        </p:nvSpPr>
        <p:spPr bwMode="auto">
          <a:xfrm>
            <a:off x="685800" y="3589338"/>
            <a:ext cx="7772400" cy="109537"/>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zh-CN" altLang="en-US"/>
          </a:p>
        </p:txBody>
      </p:sp>
      <p:sp>
        <p:nvSpPr>
          <p:cNvPr id="392194" name="Rectangle 2"/>
          <p:cNvSpPr>
            <a:spLocks noGrp="1" noChangeArrowheads="1"/>
          </p:cNvSpPr>
          <p:nvPr>
            <p:ph type="ctrTitle"/>
          </p:nvPr>
        </p:nvSpPr>
        <p:spPr>
          <a:xfrm>
            <a:off x="685800" y="1133475"/>
            <a:ext cx="7772400" cy="2339975"/>
          </a:xfrm>
        </p:spPr>
        <p:txBody>
          <a:bodyPr/>
          <a:lstStyle>
            <a:lvl1pPr algn="ctr">
              <a:defRPr sz="4400"/>
            </a:lvl1pPr>
          </a:lstStyle>
          <a:p>
            <a:r>
              <a:rPr lang="zh-CN" altLang="en-US"/>
              <a:t>单击此处编辑母版标题样式</a:t>
            </a:r>
          </a:p>
        </p:txBody>
      </p:sp>
      <p:sp>
        <p:nvSpPr>
          <p:cNvPr id="392195" name="Rectangle 3"/>
          <p:cNvSpPr>
            <a:spLocks noGrp="1" noChangeArrowheads="1"/>
          </p:cNvSpPr>
          <p:nvPr>
            <p:ph type="subTitle" idx="1"/>
          </p:nvPr>
        </p:nvSpPr>
        <p:spPr>
          <a:xfrm>
            <a:off x="701675" y="3833813"/>
            <a:ext cx="7756525" cy="1600200"/>
          </a:xfrm>
        </p:spPr>
        <p:txBody>
          <a:bodyPr/>
          <a:lstStyle>
            <a:lvl1pPr marL="0" indent="0" algn="ctr">
              <a:buFont typeface="Wingdings" pitchFamily="2" charset="2"/>
              <a:buNone/>
              <a:defRPr sz="2600"/>
            </a:lvl1pPr>
          </a:lstStyle>
          <a:p>
            <a:r>
              <a:rPr lang="zh-CN" altLang="en-US"/>
              <a:t>单击此处编辑母版副标题样式</a:t>
            </a:r>
          </a:p>
        </p:txBody>
      </p:sp>
      <p:sp>
        <p:nvSpPr>
          <p:cNvPr id="5" name="Rectangle 4">
            <a:extLst>
              <a:ext uri="{FF2B5EF4-FFF2-40B4-BE49-F238E27FC236}">
                <a16:creationId xmlns:a16="http://schemas.microsoft.com/office/drawing/2014/main" id="{1A34EAFF-A8E2-45EE-A57D-8D167A0DED7F}"/>
              </a:ext>
            </a:extLst>
          </p:cNvPr>
          <p:cNvSpPr>
            <a:spLocks noGrp="1" noChangeArrowheads="1"/>
          </p:cNvSpPr>
          <p:nvPr>
            <p:ph type="dt" sz="half" idx="10"/>
          </p:nvPr>
        </p:nvSpPr>
        <p:spPr>
          <a:xfrm>
            <a:off x="685800" y="6248400"/>
            <a:ext cx="1905000" cy="457200"/>
          </a:xfrm>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F636BBAD-8BB2-49CE-A7B1-BF91DEC311EC}"/>
              </a:ext>
            </a:extLst>
          </p:cNvPr>
          <p:cNvSpPr>
            <a:spLocks noGrp="1" noChangeArrowheads="1"/>
          </p:cNvSpPr>
          <p:nvPr>
            <p:ph type="ftr" sz="quarter" idx="11"/>
          </p:nvPr>
        </p:nvSpPr>
        <p:spPr>
          <a:xfrm>
            <a:off x="3124200" y="6248400"/>
            <a:ext cx="2895600" cy="457200"/>
          </a:xfrm>
        </p:spPr>
        <p:txBody>
          <a:bodyPr/>
          <a:lstStyle>
            <a:lvl1pPr algn="ctr">
              <a:defRPr/>
            </a:lvl1pPr>
          </a:lstStyle>
          <a:p>
            <a:pPr>
              <a:defRPr/>
            </a:pPr>
            <a:endParaRPr lang="en-US" altLang="zh-CN"/>
          </a:p>
        </p:txBody>
      </p:sp>
      <p:sp>
        <p:nvSpPr>
          <p:cNvPr id="7" name="Rectangle 6">
            <a:extLst>
              <a:ext uri="{FF2B5EF4-FFF2-40B4-BE49-F238E27FC236}">
                <a16:creationId xmlns:a16="http://schemas.microsoft.com/office/drawing/2014/main" id="{6BDEA920-43DE-45E4-9929-A62557FF9038}"/>
              </a:ext>
            </a:extLst>
          </p:cNvPr>
          <p:cNvSpPr>
            <a:spLocks noGrp="1" noChangeArrowheads="1"/>
          </p:cNvSpPr>
          <p:nvPr>
            <p:ph type="sldNum" sz="quarter" idx="12"/>
          </p:nvPr>
        </p:nvSpPr>
        <p:spPr bwMode="auto">
          <a:xfrm>
            <a:off x="6553200" y="6248400"/>
            <a:ext cx="1905000" cy="45720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r" eaLnBrk="1" hangingPunct="1">
              <a:defRPr sz="1200" b="0" i="0">
                <a:latin typeface="Verdana" panose="020B0604030504040204" pitchFamily="34" charset="0"/>
              </a:defRPr>
            </a:lvl1pPr>
          </a:lstStyle>
          <a:p>
            <a:pPr>
              <a:defRPr/>
            </a:pPr>
            <a:fld id="{AEFB9E9D-B4A0-4754-82A5-D6F3B5F5C043}" type="slidenum">
              <a:rPr lang="en-US" altLang="zh-CN"/>
              <a:pPr>
                <a:defRPr/>
              </a:pPr>
              <a:t>‹#›</a:t>
            </a:fld>
            <a:endParaRPr lang="en-US" altLang="zh-CN"/>
          </a:p>
        </p:txBody>
      </p:sp>
    </p:spTree>
    <p:extLst>
      <p:ext uri="{BB962C8B-B14F-4D97-AF65-F5344CB8AC3E}">
        <p14:creationId xmlns:p14="http://schemas.microsoft.com/office/powerpoint/2010/main" val="1550293618"/>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a:extLst>
              <a:ext uri="{FF2B5EF4-FFF2-40B4-BE49-F238E27FC236}">
                <a16:creationId xmlns:a16="http://schemas.microsoft.com/office/drawing/2014/main" id="{0920B2E7-C9A8-435D-8207-81D13DC0BF79}"/>
              </a:ext>
            </a:extLst>
          </p:cNvPr>
          <p:cNvSpPr>
            <a:spLocks noGrp="1" noChangeArrowheads="1"/>
          </p:cNvSpPr>
          <p:nvPr>
            <p:ph type="dt" sz="half" idx="10"/>
          </p:nvPr>
        </p:nvSpPr>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2C552FDF-5124-4879-A6AC-1FBB684EC70C}"/>
              </a:ext>
            </a:extLst>
          </p:cNvPr>
          <p:cNvSpPr>
            <a:spLocks noGrp="1" noChangeArrowheads="1"/>
          </p:cNvSpPr>
          <p:nvPr>
            <p:ph type="ftr" sz="quarter" idx="11"/>
          </p:nvPr>
        </p:nvSpPr>
        <p:spPr/>
        <p:txBody>
          <a:bodyPr/>
          <a:lstStyle>
            <a:lvl1pPr>
              <a:defRPr/>
            </a:lvl1pPr>
          </a:lstStyle>
          <a:p>
            <a:pPr>
              <a:defRPr/>
            </a:pPr>
            <a:fld id="{BED4C918-4673-4FD1-9DE6-62282A0F5C38}" type="slidenum">
              <a:rPr lang="en-US" altLang="zh-CN"/>
              <a:pPr>
                <a:defRPr/>
              </a:pPr>
              <a:t>‹#›</a:t>
            </a:fld>
            <a:endParaRPr lang="en-US" altLang="zh-CN"/>
          </a:p>
        </p:txBody>
      </p:sp>
    </p:spTree>
    <p:extLst>
      <p:ext uri="{BB962C8B-B14F-4D97-AF65-F5344CB8AC3E}">
        <p14:creationId xmlns:p14="http://schemas.microsoft.com/office/powerpoint/2010/main" val="1770192205"/>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5">
            <a:extLst>
              <a:ext uri="{FF2B5EF4-FFF2-40B4-BE49-F238E27FC236}">
                <a16:creationId xmlns:a16="http://schemas.microsoft.com/office/drawing/2014/main" id="{70A6D034-68FD-41BD-98B9-DE4BC0836DAB}"/>
              </a:ext>
            </a:extLst>
          </p:cNvPr>
          <p:cNvSpPr>
            <a:spLocks noGrp="1" noChangeArrowheads="1"/>
          </p:cNvSpPr>
          <p:nvPr>
            <p:ph type="dt" sz="half" idx="10"/>
          </p:nvPr>
        </p:nvSpPr>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B7EC6100-CCD9-4C2C-949A-CF10BF801370}"/>
              </a:ext>
            </a:extLst>
          </p:cNvPr>
          <p:cNvSpPr>
            <a:spLocks noGrp="1" noChangeArrowheads="1"/>
          </p:cNvSpPr>
          <p:nvPr>
            <p:ph type="ftr" sz="quarter" idx="11"/>
          </p:nvPr>
        </p:nvSpPr>
        <p:spPr/>
        <p:txBody>
          <a:bodyPr/>
          <a:lstStyle>
            <a:lvl1pPr>
              <a:defRPr/>
            </a:lvl1pPr>
          </a:lstStyle>
          <a:p>
            <a:pPr>
              <a:defRPr/>
            </a:pPr>
            <a:fld id="{25F29EE8-9238-40D9-B914-CD91B7A90F54}" type="slidenum">
              <a:rPr lang="en-US" altLang="zh-CN"/>
              <a:pPr>
                <a:defRPr/>
              </a:pPr>
              <a:t>‹#›</a:t>
            </a:fld>
            <a:endParaRPr lang="en-US" altLang="zh-CN"/>
          </a:p>
        </p:txBody>
      </p:sp>
    </p:spTree>
    <p:extLst>
      <p:ext uri="{BB962C8B-B14F-4D97-AF65-F5344CB8AC3E}">
        <p14:creationId xmlns:p14="http://schemas.microsoft.com/office/powerpoint/2010/main" val="1533805574"/>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566738" y="1341438"/>
            <a:ext cx="3924300" cy="49672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3438" y="1341438"/>
            <a:ext cx="3924300" cy="49672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a:extLst>
              <a:ext uri="{FF2B5EF4-FFF2-40B4-BE49-F238E27FC236}">
                <a16:creationId xmlns:a16="http://schemas.microsoft.com/office/drawing/2014/main" id="{BB6A0732-3534-42BD-B5BA-43131CEEB729}"/>
              </a:ext>
            </a:extLst>
          </p:cNvPr>
          <p:cNvSpPr>
            <a:spLocks noGrp="1" noChangeArrowheads="1"/>
          </p:cNvSpPr>
          <p:nvPr>
            <p:ph type="dt" sz="half" idx="10"/>
          </p:nvPr>
        </p:nvSpPr>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1F0439E7-C58E-406E-8BE8-55992C8AD1B9}"/>
              </a:ext>
            </a:extLst>
          </p:cNvPr>
          <p:cNvSpPr>
            <a:spLocks noGrp="1" noChangeArrowheads="1"/>
          </p:cNvSpPr>
          <p:nvPr>
            <p:ph type="ftr" sz="quarter" idx="11"/>
          </p:nvPr>
        </p:nvSpPr>
        <p:spPr/>
        <p:txBody>
          <a:bodyPr/>
          <a:lstStyle>
            <a:lvl1pPr>
              <a:defRPr/>
            </a:lvl1pPr>
          </a:lstStyle>
          <a:p>
            <a:pPr>
              <a:defRPr/>
            </a:pPr>
            <a:fld id="{623D1820-A405-4A5B-8C6B-D4251DE20CED}" type="slidenum">
              <a:rPr lang="en-US" altLang="zh-CN"/>
              <a:pPr>
                <a:defRPr/>
              </a:pPr>
              <a:t>‹#›</a:t>
            </a:fld>
            <a:endParaRPr lang="en-US" altLang="zh-CN"/>
          </a:p>
        </p:txBody>
      </p:sp>
    </p:spTree>
    <p:extLst>
      <p:ext uri="{BB962C8B-B14F-4D97-AF65-F5344CB8AC3E}">
        <p14:creationId xmlns:p14="http://schemas.microsoft.com/office/powerpoint/2010/main" val="2712490385"/>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5">
            <a:extLst>
              <a:ext uri="{FF2B5EF4-FFF2-40B4-BE49-F238E27FC236}">
                <a16:creationId xmlns:a16="http://schemas.microsoft.com/office/drawing/2014/main" id="{85B09823-5458-4AA2-8873-5E2E0D3F01B4}"/>
              </a:ext>
            </a:extLst>
          </p:cNvPr>
          <p:cNvSpPr>
            <a:spLocks noGrp="1" noChangeArrowheads="1"/>
          </p:cNvSpPr>
          <p:nvPr>
            <p:ph type="dt" sz="half" idx="10"/>
          </p:nvPr>
        </p:nvSpPr>
        <p:spPr/>
        <p:txBody>
          <a:bodyPr/>
          <a:lstStyle>
            <a:lvl1pPr>
              <a:defRPr/>
            </a:lvl1pPr>
          </a:lstStyle>
          <a:p>
            <a:pPr>
              <a:defRPr/>
            </a:pPr>
            <a:endParaRPr lang="en-US" altLang="zh-CN"/>
          </a:p>
        </p:txBody>
      </p:sp>
      <p:sp>
        <p:nvSpPr>
          <p:cNvPr id="8" name="Rectangle 6">
            <a:extLst>
              <a:ext uri="{FF2B5EF4-FFF2-40B4-BE49-F238E27FC236}">
                <a16:creationId xmlns:a16="http://schemas.microsoft.com/office/drawing/2014/main" id="{8BA993A1-60A7-4850-896A-D45AE1D714E8}"/>
              </a:ext>
            </a:extLst>
          </p:cNvPr>
          <p:cNvSpPr>
            <a:spLocks noGrp="1" noChangeArrowheads="1"/>
          </p:cNvSpPr>
          <p:nvPr>
            <p:ph type="ftr" sz="quarter" idx="11"/>
          </p:nvPr>
        </p:nvSpPr>
        <p:spPr/>
        <p:txBody>
          <a:bodyPr/>
          <a:lstStyle>
            <a:lvl1pPr>
              <a:defRPr/>
            </a:lvl1pPr>
          </a:lstStyle>
          <a:p>
            <a:pPr>
              <a:defRPr/>
            </a:pPr>
            <a:fld id="{9450DBA7-4FBC-42A4-BED9-64859011D117}" type="slidenum">
              <a:rPr lang="en-US" altLang="zh-CN"/>
              <a:pPr>
                <a:defRPr/>
              </a:pPr>
              <a:t>‹#›</a:t>
            </a:fld>
            <a:endParaRPr lang="en-US" altLang="zh-CN"/>
          </a:p>
        </p:txBody>
      </p:sp>
    </p:spTree>
    <p:extLst>
      <p:ext uri="{BB962C8B-B14F-4D97-AF65-F5344CB8AC3E}">
        <p14:creationId xmlns:p14="http://schemas.microsoft.com/office/powerpoint/2010/main" val="962667714"/>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a:extLst>
              <a:ext uri="{FF2B5EF4-FFF2-40B4-BE49-F238E27FC236}">
                <a16:creationId xmlns:a16="http://schemas.microsoft.com/office/drawing/2014/main" id="{4BE9AA11-1C93-42DF-8149-14581DC2E7B5}"/>
              </a:ext>
            </a:extLst>
          </p:cNvPr>
          <p:cNvSpPr>
            <a:spLocks noGrp="1" noChangeArrowheads="1"/>
          </p:cNvSpPr>
          <p:nvPr>
            <p:ph type="dt" sz="half" idx="10"/>
          </p:nvPr>
        </p:nvSpPr>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3B49ECF1-D00D-4561-879C-4396851CB4D8}"/>
              </a:ext>
            </a:extLst>
          </p:cNvPr>
          <p:cNvSpPr>
            <a:spLocks noGrp="1" noChangeArrowheads="1"/>
          </p:cNvSpPr>
          <p:nvPr>
            <p:ph type="ftr" sz="quarter" idx="11"/>
          </p:nvPr>
        </p:nvSpPr>
        <p:spPr/>
        <p:txBody>
          <a:bodyPr/>
          <a:lstStyle>
            <a:lvl1pPr>
              <a:defRPr/>
            </a:lvl1pPr>
          </a:lstStyle>
          <a:p>
            <a:pPr>
              <a:defRPr/>
            </a:pPr>
            <a:fld id="{FB17DF36-A72F-4060-B13B-AE7AA7141250}" type="slidenum">
              <a:rPr lang="en-US" altLang="zh-CN"/>
              <a:pPr>
                <a:defRPr/>
              </a:pPr>
              <a:t>‹#›</a:t>
            </a:fld>
            <a:endParaRPr lang="en-US" altLang="zh-CN"/>
          </a:p>
        </p:txBody>
      </p:sp>
    </p:spTree>
    <p:extLst>
      <p:ext uri="{BB962C8B-B14F-4D97-AF65-F5344CB8AC3E}">
        <p14:creationId xmlns:p14="http://schemas.microsoft.com/office/powerpoint/2010/main" val="1272977614"/>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84BAE7E8-CCD9-4F53-9D77-1EFCDDAEE6F1}"/>
              </a:ext>
            </a:extLst>
          </p:cNvPr>
          <p:cNvSpPr>
            <a:spLocks noGrp="1" noChangeArrowheads="1"/>
          </p:cNvSpPr>
          <p:nvPr>
            <p:ph type="dt" sz="half" idx="10"/>
          </p:nvPr>
        </p:nvSpPr>
        <p:spPr/>
        <p:txBody>
          <a:bodyPr/>
          <a:lstStyle>
            <a:lvl1pPr>
              <a:defRPr/>
            </a:lvl1pPr>
          </a:lstStyle>
          <a:p>
            <a:pPr>
              <a:defRPr/>
            </a:pPr>
            <a:endParaRPr lang="en-US" altLang="zh-CN"/>
          </a:p>
        </p:txBody>
      </p:sp>
      <p:sp>
        <p:nvSpPr>
          <p:cNvPr id="3" name="Rectangle 6">
            <a:extLst>
              <a:ext uri="{FF2B5EF4-FFF2-40B4-BE49-F238E27FC236}">
                <a16:creationId xmlns:a16="http://schemas.microsoft.com/office/drawing/2014/main" id="{C8135134-BAEF-4D6A-AE2A-1E9A9C518663}"/>
              </a:ext>
            </a:extLst>
          </p:cNvPr>
          <p:cNvSpPr>
            <a:spLocks noGrp="1" noChangeArrowheads="1"/>
          </p:cNvSpPr>
          <p:nvPr>
            <p:ph type="ftr" sz="quarter" idx="11"/>
          </p:nvPr>
        </p:nvSpPr>
        <p:spPr/>
        <p:txBody>
          <a:bodyPr/>
          <a:lstStyle>
            <a:lvl1pPr>
              <a:defRPr/>
            </a:lvl1pPr>
          </a:lstStyle>
          <a:p>
            <a:pPr>
              <a:defRPr/>
            </a:pPr>
            <a:fld id="{BBE82323-E455-47E7-A754-0A63A55F216F}" type="slidenum">
              <a:rPr lang="en-US" altLang="zh-CN"/>
              <a:pPr>
                <a:defRPr/>
              </a:pPr>
              <a:t>‹#›</a:t>
            </a:fld>
            <a:endParaRPr lang="en-US" altLang="zh-CN"/>
          </a:p>
        </p:txBody>
      </p:sp>
    </p:spTree>
    <p:extLst>
      <p:ext uri="{BB962C8B-B14F-4D97-AF65-F5344CB8AC3E}">
        <p14:creationId xmlns:p14="http://schemas.microsoft.com/office/powerpoint/2010/main" val="1614085230"/>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a:extLst>
              <a:ext uri="{FF2B5EF4-FFF2-40B4-BE49-F238E27FC236}">
                <a16:creationId xmlns:a16="http://schemas.microsoft.com/office/drawing/2014/main" id="{8856343D-6C7D-4349-92EF-0AA1D2C42E70}"/>
              </a:ext>
            </a:extLst>
          </p:cNvPr>
          <p:cNvSpPr>
            <a:spLocks noGrp="1" noChangeArrowheads="1"/>
          </p:cNvSpPr>
          <p:nvPr>
            <p:ph type="dt" sz="half" idx="10"/>
          </p:nvPr>
        </p:nvSpPr>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B6A9E0AF-AAD7-46CE-8EA5-082CFE368AFC}"/>
              </a:ext>
            </a:extLst>
          </p:cNvPr>
          <p:cNvSpPr>
            <a:spLocks noGrp="1" noChangeArrowheads="1"/>
          </p:cNvSpPr>
          <p:nvPr>
            <p:ph type="ftr" sz="quarter" idx="11"/>
          </p:nvPr>
        </p:nvSpPr>
        <p:spPr/>
        <p:txBody>
          <a:bodyPr/>
          <a:lstStyle>
            <a:lvl1pPr>
              <a:defRPr/>
            </a:lvl1pPr>
          </a:lstStyle>
          <a:p>
            <a:pPr>
              <a:defRPr/>
            </a:pPr>
            <a:fld id="{D433F731-DA8A-4C5D-B067-63C1C1E82C0F}" type="slidenum">
              <a:rPr lang="en-US" altLang="zh-CN"/>
              <a:pPr>
                <a:defRPr/>
              </a:pPr>
              <a:t>‹#›</a:t>
            </a:fld>
            <a:endParaRPr lang="en-US" altLang="zh-CN"/>
          </a:p>
        </p:txBody>
      </p:sp>
    </p:spTree>
    <p:extLst>
      <p:ext uri="{BB962C8B-B14F-4D97-AF65-F5344CB8AC3E}">
        <p14:creationId xmlns:p14="http://schemas.microsoft.com/office/powerpoint/2010/main" val="4185365473"/>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a:extLst>
              <a:ext uri="{FF2B5EF4-FFF2-40B4-BE49-F238E27FC236}">
                <a16:creationId xmlns:a16="http://schemas.microsoft.com/office/drawing/2014/main" id="{BC6E6A3B-0218-4C79-ADD9-851384F5B472}"/>
              </a:ext>
            </a:extLst>
          </p:cNvPr>
          <p:cNvSpPr>
            <a:spLocks noGrp="1" noChangeArrowheads="1"/>
          </p:cNvSpPr>
          <p:nvPr>
            <p:ph type="dt" sz="half" idx="10"/>
          </p:nvPr>
        </p:nvSpPr>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80F1F2E3-7DFE-4382-A3DF-5766B9007BB6}"/>
              </a:ext>
            </a:extLst>
          </p:cNvPr>
          <p:cNvSpPr>
            <a:spLocks noGrp="1" noChangeArrowheads="1"/>
          </p:cNvSpPr>
          <p:nvPr>
            <p:ph type="ftr" sz="quarter" idx="11"/>
          </p:nvPr>
        </p:nvSpPr>
        <p:spPr/>
        <p:txBody>
          <a:bodyPr/>
          <a:lstStyle>
            <a:lvl1pPr>
              <a:defRPr/>
            </a:lvl1pPr>
          </a:lstStyle>
          <a:p>
            <a:pPr>
              <a:defRPr/>
            </a:pPr>
            <a:fld id="{18D2653D-44F1-4EAA-B6BF-DA10394E2549}" type="slidenum">
              <a:rPr lang="en-US" altLang="zh-CN"/>
              <a:pPr>
                <a:defRPr/>
              </a:pPr>
              <a:t>‹#›</a:t>
            </a:fld>
            <a:endParaRPr lang="en-US" altLang="zh-CN"/>
          </a:p>
        </p:txBody>
      </p:sp>
    </p:spTree>
    <p:extLst>
      <p:ext uri="{BB962C8B-B14F-4D97-AF65-F5344CB8AC3E}">
        <p14:creationId xmlns:p14="http://schemas.microsoft.com/office/powerpoint/2010/main" val="427641666"/>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a:extLst>
              <a:ext uri="{FF2B5EF4-FFF2-40B4-BE49-F238E27FC236}">
                <a16:creationId xmlns:a16="http://schemas.microsoft.com/office/drawing/2014/main" id="{49F25BD4-43A6-4658-AD94-845FE399DCB2}"/>
              </a:ext>
            </a:extLst>
          </p:cNvPr>
          <p:cNvSpPr>
            <a:spLocks noGrp="1" noChangeArrowheads="1"/>
          </p:cNvSpPr>
          <p:nvPr>
            <p:ph type="dt" sz="half" idx="10"/>
          </p:nvPr>
        </p:nvSpPr>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FD850C8D-6CA9-4D6B-9EAB-8932CFAF0035}"/>
              </a:ext>
            </a:extLst>
          </p:cNvPr>
          <p:cNvSpPr>
            <a:spLocks noGrp="1" noChangeArrowheads="1"/>
          </p:cNvSpPr>
          <p:nvPr>
            <p:ph type="ftr" sz="quarter" idx="11"/>
          </p:nvPr>
        </p:nvSpPr>
        <p:spPr/>
        <p:txBody>
          <a:bodyPr/>
          <a:lstStyle>
            <a:lvl1pPr>
              <a:defRPr/>
            </a:lvl1pPr>
          </a:lstStyle>
          <a:p>
            <a:pPr>
              <a:defRPr/>
            </a:pPr>
            <a:fld id="{64793927-80C2-4A1D-A722-2DF6B0F029CE}" type="slidenum">
              <a:rPr lang="en-US" altLang="zh-CN"/>
              <a:pPr>
                <a:defRPr/>
              </a:pPr>
              <a:t>‹#›</a:t>
            </a:fld>
            <a:endParaRPr lang="en-US" altLang="zh-CN"/>
          </a:p>
        </p:txBody>
      </p:sp>
    </p:spTree>
    <p:extLst>
      <p:ext uri="{BB962C8B-B14F-4D97-AF65-F5344CB8AC3E}">
        <p14:creationId xmlns:p14="http://schemas.microsoft.com/office/powerpoint/2010/main" val="900329416"/>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3838" y="304800"/>
            <a:ext cx="2001837" cy="60039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566738" y="304800"/>
            <a:ext cx="5854700" cy="60039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a:extLst>
              <a:ext uri="{FF2B5EF4-FFF2-40B4-BE49-F238E27FC236}">
                <a16:creationId xmlns:a16="http://schemas.microsoft.com/office/drawing/2014/main" id="{97FDA43B-58FE-4440-89F6-138D0E9350AB}"/>
              </a:ext>
            </a:extLst>
          </p:cNvPr>
          <p:cNvSpPr>
            <a:spLocks noGrp="1" noChangeArrowheads="1"/>
          </p:cNvSpPr>
          <p:nvPr>
            <p:ph type="dt" sz="half" idx="10"/>
          </p:nvPr>
        </p:nvSpPr>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DD3A674E-0327-4716-8C90-A56F98B20960}"/>
              </a:ext>
            </a:extLst>
          </p:cNvPr>
          <p:cNvSpPr>
            <a:spLocks noGrp="1" noChangeArrowheads="1"/>
          </p:cNvSpPr>
          <p:nvPr>
            <p:ph type="ftr" sz="quarter" idx="11"/>
          </p:nvPr>
        </p:nvSpPr>
        <p:spPr/>
        <p:txBody>
          <a:bodyPr/>
          <a:lstStyle>
            <a:lvl1pPr>
              <a:defRPr/>
            </a:lvl1pPr>
          </a:lstStyle>
          <a:p>
            <a:pPr>
              <a:defRPr/>
            </a:pPr>
            <a:fld id="{0DDF9C4D-452E-4A35-9FC2-4446F6F4800C}" type="slidenum">
              <a:rPr lang="en-US" altLang="zh-CN"/>
              <a:pPr>
                <a:defRPr/>
              </a:pPr>
              <a:t>‹#›</a:t>
            </a:fld>
            <a:endParaRPr lang="en-US" altLang="zh-CN"/>
          </a:p>
        </p:txBody>
      </p:sp>
    </p:spTree>
    <p:extLst>
      <p:ext uri="{BB962C8B-B14F-4D97-AF65-F5344CB8AC3E}">
        <p14:creationId xmlns:p14="http://schemas.microsoft.com/office/powerpoint/2010/main" val="1241962463"/>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1EE555BC-CB57-4124-9AF3-C980A83FDB98}"/>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3074CE37-1F0F-4E0E-8DF4-C5C9A4628D4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331FE85F-7EF8-4476-8A6F-3E55E407DD53}"/>
              </a:ext>
            </a:extLst>
          </p:cNvPr>
          <p:cNvSpPr>
            <a:spLocks noGrp="1" noChangeArrowheads="1"/>
          </p:cNvSpPr>
          <p:nvPr>
            <p:ph type="sldNum" sz="quarter" idx="12"/>
          </p:nvPr>
        </p:nvSpPr>
        <p:spPr>
          <a:ln/>
        </p:spPr>
        <p:txBody>
          <a:bodyPr/>
          <a:lstStyle>
            <a:lvl1pPr>
              <a:defRPr/>
            </a:lvl1pPr>
          </a:lstStyle>
          <a:p>
            <a:pPr>
              <a:defRPr/>
            </a:pPr>
            <a:fld id="{CE8B0302-6ED4-4F9E-AA90-BFAF0A864F4C}" type="slidenum">
              <a:rPr lang="zh-CN" altLang="en-US"/>
              <a:pPr>
                <a:defRPr/>
              </a:pPr>
              <a:t>‹#›</a:t>
            </a:fld>
            <a:endParaRPr lang="en-US" altLang="zh-CN"/>
          </a:p>
        </p:txBody>
      </p:sp>
    </p:spTree>
    <p:extLst>
      <p:ext uri="{BB962C8B-B14F-4D97-AF65-F5344CB8AC3E}">
        <p14:creationId xmlns:p14="http://schemas.microsoft.com/office/powerpoint/2010/main" val="29796275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600200"/>
            <a:ext cx="4038600" cy="21859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0" y="3938588"/>
            <a:ext cx="4038600" cy="21875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4">
            <a:extLst>
              <a:ext uri="{FF2B5EF4-FFF2-40B4-BE49-F238E27FC236}">
                <a16:creationId xmlns:a16="http://schemas.microsoft.com/office/drawing/2014/main" id="{75D5761B-CD07-410B-B7E8-DB71801BAF46}"/>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7" name="Rectangle 5">
            <a:extLst>
              <a:ext uri="{FF2B5EF4-FFF2-40B4-BE49-F238E27FC236}">
                <a16:creationId xmlns:a16="http://schemas.microsoft.com/office/drawing/2014/main" id="{DA5324DF-42D4-4210-80FF-ABED9454E877}"/>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8" name="Rectangle 6">
            <a:extLst>
              <a:ext uri="{FF2B5EF4-FFF2-40B4-BE49-F238E27FC236}">
                <a16:creationId xmlns:a16="http://schemas.microsoft.com/office/drawing/2014/main" id="{E7D57C04-52E1-4FA6-A7BD-F527B3BC04DA}"/>
              </a:ext>
            </a:extLst>
          </p:cNvPr>
          <p:cNvSpPr>
            <a:spLocks noGrp="1" noChangeArrowheads="1"/>
          </p:cNvSpPr>
          <p:nvPr>
            <p:ph type="sldNum" sz="quarter" idx="12"/>
          </p:nvPr>
        </p:nvSpPr>
        <p:spPr>
          <a:ln/>
        </p:spPr>
        <p:txBody>
          <a:bodyPr/>
          <a:lstStyle>
            <a:lvl1pPr>
              <a:defRPr/>
            </a:lvl1pPr>
          </a:lstStyle>
          <a:p>
            <a:pPr>
              <a:defRPr/>
            </a:pPr>
            <a:fld id="{09810DD8-27AD-4B85-8264-6936A1F4E7BE}" type="slidenum">
              <a:rPr lang="zh-CN" altLang="en-US"/>
              <a:pPr>
                <a:defRPr/>
              </a:pPr>
              <a:t>‹#›</a:t>
            </a:fld>
            <a:endParaRPr lang="en-US" altLang="zh-CN"/>
          </a:p>
        </p:txBody>
      </p:sp>
    </p:spTree>
    <p:extLst>
      <p:ext uri="{BB962C8B-B14F-4D97-AF65-F5344CB8AC3E}">
        <p14:creationId xmlns:p14="http://schemas.microsoft.com/office/powerpoint/2010/main" val="15972394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a:extLst>
              <a:ext uri="{FF2B5EF4-FFF2-40B4-BE49-F238E27FC236}">
                <a16:creationId xmlns:a16="http://schemas.microsoft.com/office/drawing/2014/main" id="{69D7DE5D-8CF1-402F-9A26-90184DD95596}"/>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8FB9E57C-A1A9-4474-A661-CC60EBC35977}"/>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B513A120-0F47-4610-B4D3-F58C1F85F622}"/>
              </a:ext>
            </a:extLst>
          </p:cNvPr>
          <p:cNvSpPr>
            <a:spLocks noGrp="1" noChangeArrowheads="1"/>
          </p:cNvSpPr>
          <p:nvPr>
            <p:ph type="sldNum" sz="quarter" idx="12"/>
          </p:nvPr>
        </p:nvSpPr>
        <p:spPr>
          <a:ln/>
        </p:spPr>
        <p:txBody>
          <a:bodyPr/>
          <a:lstStyle>
            <a:lvl1pPr>
              <a:defRPr/>
            </a:lvl1pPr>
          </a:lstStyle>
          <a:p>
            <a:pPr>
              <a:defRPr/>
            </a:pPr>
            <a:fld id="{30CEE9C2-386F-4979-AAA7-80C2CD890047}" type="slidenum">
              <a:rPr lang="zh-CN" altLang="en-US"/>
              <a:pPr>
                <a:defRPr/>
              </a:pPr>
              <a:t>‹#›</a:t>
            </a:fld>
            <a:endParaRPr lang="en-US" altLang="zh-CN"/>
          </a:p>
        </p:txBody>
      </p:sp>
    </p:spTree>
    <p:extLst>
      <p:ext uri="{BB962C8B-B14F-4D97-AF65-F5344CB8AC3E}">
        <p14:creationId xmlns:p14="http://schemas.microsoft.com/office/powerpoint/2010/main" val="40080726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990600" y="195263"/>
            <a:ext cx="7869238" cy="685800"/>
          </a:xfrm>
        </p:spPr>
        <p:txBody>
          <a:bodyPr/>
          <a:lstStyle/>
          <a:p>
            <a:r>
              <a:rPr lang="zh-CN" altLang="en-US"/>
              <a:t>单击此处编辑母版标题样式</a:t>
            </a:r>
          </a:p>
        </p:txBody>
      </p:sp>
      <p:sp>
        <p:nvSpPr>
          <p:cNvPr id="3" name="表格占位符 2"/>
          <p:cNvSpPr>
            <a:spLocks noGrp="1"/>
          </p:cNvSpPr>
          <p:nvPr>
            <p:ph type="tbl" idx="1"/>
          </p:nvPr>
        </p:nvSpPr>
        <p:spPr>
          <a:xfrm>
            <a:off x="457200" y="1905000"/>
            <a:ext cx="8497888" cy="4724400"/>
          </a:xfrm>
        </p:spPr>
        <p:txBody>
          <a:bodyPr/>
          <a:lstStyle/>
          <a:p>
            <a:pPr lvl="0"/>
            <a:endParaRPr lang="zh-CN" altLang="en-US" noProof="0"/>
          </a:p>
        </p:txBody>
      </p:sp>
      <p:sp>
        <p:nvSpPr>
          <p:cNvPr id="4" name="Rectangle 6">
            <a:extLst>
              <a:ext uri="{FF2B5EF4-FFF2-40B4-BE49-F238E27FC236}">
                <a16:creationId xmlns:a16="http://schemas.microsoft.com/office/drawing/2014/main" id="{FACA273C-48C4-44CB-926A-AA8F5724F422}"/>
              </a:ext>
            </a:extLst>
          </p:cNvPr>
          <p:cNvSpPr>
            <a:spLocks noGrp="1" noChangeArrowheads="1"/>
          </p:cNvSpPr>
          <p:nvPr>
            <p:ph type="ftr" sz="quarter" idx="10"/>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7117822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57BD2B31-8D2D-4896-8AC1-798F6B9B4598}"/>
              </a:ext>
            </a:extLst>
          </p:cNvPr>
          <p:cNvSpPr>
            <a:spLocks noGrp="1" noChangeArrowheads="1"/>
          </p:cNvSpPr>
          <p:nvPr>
            <p:ph type="title"/>
          </p:nvPr>
        </p:nvSpPr>
        <p:spPr bwMode="auto">
          <a:xfrm>
            <a:off x="574675" y="304800"/>
            <a:ext cx="8001000"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27" name="Rectangle 3">
            <a:extLst>
              <a:ext uri="{FF2B5EF4-FFF2-40B4-BE49-F238E27FC236}">
                <a16:creationId xmlns:a16="http://schemas.microsoft.com/office/drawing/2014/main" id="{983424D8-0466-423F-B728-EB202D5CCB7E}"/>
              </a:ext>
            </a:extLst>
          </p:cNvPr>
          <p:cNvSpPr>
            <a:spLocks noGrp="1" noChangeArrowheads="1"/>
          </p:cNvSpPr>
          <p:nvPr>
            <p:ph type="body" idx="1"/>
          </p:nvPr>
        </p:nvSpPr>
        <p:spPr bwMode="auto">
          <a:xfrm>
            <a:off x="566738" y="1341438"/>
            <a:ext cx="8001000" cy="4967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AutoShape 4">
            <a:extLst>
              <a:ext uri="{FF2B5EF4-FFF2-40B4-BE49-F238E27FC236}">
                <a16:creationId xmlns:a16="http://schemas.microsoft.com/office/drawing/2014/main" id="{ECC09B63-93A1-4EFF-A2AB-A51FF9BBEAA5}"/>
              </a:ext>
            </a:extLst>
          </p:cNvPr>
          <p:cNvSpPr>
            <a:spLocks noChangeArrowheads="1"/>
          </p:cNvSpPr>
          <p:nvPr/>
        </p:nvSpPr>
        <p:spPr bwMode="auto">
          <a:xfrm>
            <a:off x="611188" y="1125538"/>
            <a:ext cx="7958137" cy="109537"/>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zh-CN" altLang="en-US"/>
          </a:p>
        </p:txBody>
      </p:sp>
      <p:sp>
        <p:nvSpPr>
          <p:cNvPr id="391173" name="Rectangle 5">
            <a:extLst>
              <a:ext uri="{FF2B5EF4-FFF2-40B4-BE49-F238E27FC236}">
                <a16:creationId xmlns:a16="http://schemas.microsoft.com/office/drawing/2014/main" id="{002344CA-3748-4BE0-AE09-12A872D96C64}"/>
              </a:ext>
            </a:extLst>
          </p:cNvPr>
          <p:cNvSpPr>
            <a:spLocks noGrp="1" noChangeArrowheads="1"/>
          </p:cNvSpPr>
          <p:nvPr>
            <p:ph type="dt" sz="half" idx="2"/>
          </p:nvPr>
        </p:nvSpPr>
        <p:spPr bwMode="auto">
          <a:xfrm>
            <a:off x="609600" y="6245225"/>
            <a:ext cx="19812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spcBef>
                <a:spcPct val="0"/>
              </a:spcBef>
              <a:defRPr sz="1200" b="0" i="0">
                <a:latin typeface="Verdana" pitchFamily="34" charset="0"/>
              </a:defRPr>
            </a:lvl1pPr>
          </a:lstStyle>
          <a:p>
            <a:pPr>
              <a:defRPr/>
            </a:pPr>
            <a:endParaRPr lang="en-US" altLang="zh-CN"/>
          </a:p>
        </p:txBody>
      </p:sp>
      <p:sp>
        <p:nvSpPr>
          <p:cNvPr id="391174" name="Rectangle 6">
            <a:extLst>
              <a:ext uri="{FF2B5EF4-FFF2-40B4-BE49-F238E27FC236}">
                <a16:creationId xmlns:a16="http://schemas.microsoft.com/office/drawing/2014/main" id="{9B1A2CC4-AE9B-4143-AFDD-447CD53DF83C}"/>
              </a:ext>
            </a:extLst>
          </p:cNvPr>
          <p:cNvSpPr>
            <a:spLocks noGrp="1" noChangeArrowheads="1"/>
          </p:cNvSpPr>
          <p:nvPr>
            <p:ph type="ftr" sz="quarter" idx="3"/>
          </p:nvPr>
        </p:nvSpPr>
        <p:spPr bwMode="auto">
          <a:xfrm>
            <a:off x="7191375" y="6381750"/>
            <a:ext cx="1952625"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b="0" i="0">
                <a:latin typeface="Verdana" panose="020B0604030504040204" pitchFamily="34" charset="0"/>
              </a:defRPr>
            </a:lvl1pPr>
          </a:lstStyle>
          <a:p>
            <a:pPr>
              <a:defRPr/>
            </a:pPr>
            <a:fld id="{790B65A0-2926-4C69-8321-067D3A66B6DD}"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904" r:id="rId1"/>
    <p:sldLayoutId id="2147483905" r:id="rId2"/>
    <p:sldLayoutId id="2147483906" r:id="rId3"/>
    <p:sldLayoutId id="2147483907" r:id="rId4"/>
    <p:sldLayoutId id="2147483908" r:id="rId5"/>
    <p:sldLayoutId id="2147483909" r:id="rId6"/>
    <p:sldLayoutId id="2147483910" r:id="rId7"/>
    <p:sldLayoutId id="2147483911" r:id="rId8"/>
    <p:sldLayoutId id="2147483912" r:id="rId9"/>
    <p:sldLayoutId id="2147483913" r:id="rId10"/>
    <p:sldLayoutId id="2147483914" r:id="rId11"/>
    <p:sldLayoutId id="2147483915" r:id="rId12"/>
    <p:sldLayoutId id="2147483916" r:id="rId13"/>
    <p:sldLayoutId id="2147483917" r:id="rId14"/>
    <p:sldLayoutId id="2147483918" r:id="rId15"/>
  </p:sldLayoutIdLst>
  <p:transition/>
  <p:hf sldNum="0" hdr="0" dt="0"/>
  <p:txStyles>
    <p:title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Times New Roman" pitchFamily="18" charset="0"/>
          <a:ea typeface="黑体" pitchFamily="2" charset="-122"/>
        </a:defRPr>
      </a:lvl2pPr>
      <a:lvl3pPr algn="l" rtl="0" eaLnBrk="0" fontAlgn="base" hangingPunct="0">
        <a:spcBef>
          <a:spcPct val="0"/>
        </a:spcBef>
        <a:spcAft>
          <a:spcPct val="0"/>
        </a:spcAft>
        <a:defRPr sz="4200">
          <a:solidFill>
            <a:schemeClr val="tx2"/>
          </a:solidFill>
          <a:latin typeface="Times New Roman" pitchFamily="18" charset="0"/>
          <a:ea typeface="黑体" pitchFamily="2" charset="-122"/>
        </a:defRPr>
      </a:lvl3pPr>
      <a:lvl4pPr algn="l" rtl="0" eaLnBrk="0" fontAlgn="base" hangingPunct="0">
        <a:spcBef>
          <a:spcPct val="0"/>
        </a:spcBef>
        <a:spcAft>
          <a:spcPct val="0"/>
        </a:spcAft>
        <a:defRPr sz="4200">
          <a:solidFill>
            <a:schemeClr val="tx2"/>
          </a:solidFill>
          <a:latin typeface="Times New Roman" pitchFamily="18" charset="0"/>
          <a:ea typeface="黑体" pitchFamily="2" charset="-122"/>
        </a:defRPr>
      </a:lvl4pPr>
      <a:lvl5pPr algn="l" rtl="0" eaLnBrk="0" fontAlgn="base" hangingPunct="0">
        <a:spcBef>
          <a:spcPct val="0"/>
        </a:spcBef>
        <a:spcAft>
          <a:spcPct val="0"/>
        </a:spcAft>
        <a:defRPr sz="4200">
          <a:solidFill>
            <a:schemeClr val="tx2"/>
          </a:solidFill>
          <a:latin typeface="Times New Roman" pitchFamily="18" charset="0"/>
          <a:ea typeface="黑体" pitchFamily="2" charset="-122"/>
        </a:defRPr>
      </a:lvl5pPr>
      <a:lvl6pPr marL="457200" algn="l" rtl="0" fontAlgn="base">
        <a:spcBef>
          <a:spcPct val="0"/>
        </a:spcBef>
        <a:spcAft>
          <a:spcPct val="0"/>
        </a:spcAft>
        <a:defRPr sz="4200">
          <a:solidFill>
            <a:schemeClr val="tx2"/>
          </a:solidFill>
          <a:latin typeface="Times New Roman" pitchFamily="18" charset="0"/>
          <a:ea typeface="黑体" pitchFamily="2" charset="-122"/>
        </a:defRPr>
      </a:lvl6pPr>
      <a:lvl7pPr marL="914400" algn="l" rtl="0" fontAlgn="base">
        <a:spcBef>
          <a:spcPct val="0"/>
        </a:spcBef>
        <a:spcAft>
          <a:spcPct val="0"/>
        </a:spcAft>
        <a:defRPr sz="4200">
          <a:solidFill>
            <a:schemeClr val="tx2"/>
          </a:solidFill>
          <a:latin typeface="Times New Roman" pitchFamily="18" charset="0"/>
          <a:ea typeface="黑体" pitchFamily="2" charset="-122"/>
        </a:defRPr>
      </a:lvl7pPr>
      <a:lvl8pPr marL="1371600" algn="l" rtl="0" fontAlgn="base">
        <a:spcBef>
          <a:spcPct val="0"/>
        </a:spcBef>
        <a:spcAft>
          <a:spcPct val="0"/>
        </a:spcAft>
        <a:defRPr sz="4200">
          <a:solidFill>
            <a:schemeClr val="tx2"/>
          </a:solidFill>
          <a:latin typeface="Times New Roman" pitchFamily="18" charset="0"/>
          <a:ea typeface="黑体" pitchFamily="2" charset="-122"/>
        </a:defRPr>
      </a:lvl8pPr>
      <a:lvl9pPr marL="1828800" algn="l" rtl="0" fontAlgn="base">
        <a:spcBef>
          <a:spcPct val="0"/>
        </a:spcBef>
        <a:spcAft>
          <a:spcPct val="0"/>
        </a:spcAft>
        <a:defRPr sz="4200">
          <a:solidFill>
            <a:schemeClr val="tx2"/>
          </a:solidFill>
          <a:latin typeface="Times New Roman" pitchFamily="18" charset="0"/>
          <a:ea typeface="黑体" pitchFamily="2" charset="-122"/>
        </a:defRPr>
      </a:lvl9pPr>
    </p:titleStyle>
    <p:bodyStyle>
      <a:lvl1pPr marL="469900" indent="-469900" algn="l" rtl="0" eaLnBrk="0" fontAlgn="base" hangingPunct="0">
        <a:spcBef>
          <a:spcPct val="10000"/>
        </a:spcBef>
        <a:spcAft>
          <a:spcPct val="0"/>
        </a:spcAft>
        <a:buClr>
          <a:schemeClr val="accent2"/>
        </a:buClr>
        <a:buFont typeface="Wingdings" panose="05000000000000000000" pitchFamily="2" charset="2"/>
        <a:buChar char="o"/>
        <a:defRPr sz="2800">
          <a:solidFill>
            <a:schemeClr val="tx1"/>
          </a:solidFill>
          <a:latin typeface="+mn-lt"/>
          <a:ea typeface="+mn-ea"/>
          <a:cs typeface="+mn-cs"/>
        </a:defRPr>
      </a:lvl1pPr>
      <a:lvl2pPr marL="908050" indent="-436563" algn="l" rtl="0" eaLnBrk="0" fontAlgn="base" hangingPunct="0">
        <a:spcBef>
          <a:spcPct val="10000"/>
        </a:spcBef>
        <a:spcAft>
          <a:spcPct val="0"/>
        </a:spcAft>
        <a:buClr>
          <a:schemeClr val="accent2"/>
        </a:buClr>
        <a:buFont typeface="Wingdings" panose="05000000000000000000" pitchFamily="2" charset="2"/>
        <a:buChar char="n"/>
        <a:defRPr sz="2400">
          <a:solidFill>
            <a:srgbClr val="0033CC"/>
          </a:solidFill>
          <a:latin typeface="+mn-lt"/>
          <a:ea typeface="+mn-ea"/>
        </a:defRPr>
      </a:lvl2pPr>
      <a:lvl3pPr marL="1304925" indent="-395288" algn="l" rtl="0" eaLnBrk="0" fontAlgn="base" hangingPunct="0">
        <a:spcBef>
          <a:spcPct val="10000"/>
        </a:spcBef>
        <a:spcAft>
          <a:spcPct val="0"/>
        </a:spcAft>
        <a:buClr>
          <a:schemeClr val="accent2"/>
        </a:buClr>
        <a:buFont typeface="Wingdings" panose="05000000000000000000" pitchFamily="2" charset="2"/>
        <a:buChar char="p"/>
        <a:defRPr sz="2000">
          <a:solidFill>
            <a:srgbClr val="009900"/>
          </a:solidFill>
          <a:latin typeface="+mn-lt"/>
          <a:ea typeface="+mn-ea"/>
        </a:defRPr>
      </a:lvl3pPr>
      <a:lvl4pPr marL="1693863" indent="-387350" algn="l" rtl="0" eaLnBrk="0" fontAlgn="base" hangingPunct="0">
        <a:spcBef>
          <a:spcPct val="10000"/>
        </a:spcBef>
        <a:spcAft>
          <a:spcPct val="0"/>
        </a:spcAft>
        <a:buClr>
          <a:schemeClr val="accent2"/>
        </a:buClr>
        <a:buFont typeface="Wingdings" panose="05000000000000000000" pitchFamily="2" charset="2"/>
        <a:buChar char="n"/>
        <a:defRPr>
          <a:solidFill>
            <a:schemeClr val="tx1"/>
          </a:solidFill>
          <a:latin typeface="+mn-lt"/>
          <a:ea typeface="+mn-ea"/>
        </a:defRPr>
      </a:lvl4pPr>
      <a:lvl5pPr marL="2093913" indent="-398463" algn="l" rtl="0" eaLnBrk="0" fontAlgn="base" hangingPunct="0">
        <a:spcBef>
          <a:spcPct val="10000"/>
        </a:spcBef>
        <a:spcAft>
          <a:spcPct val="0"/>
        </a:spcAft>
        <a:buClr>
          <a:schemeClr val="accent2"/>
        </a:buClr>
        <a:buFont typeface="Wingdings" panose="05000000000000000000" pitchFamily="2" charset="2"/>
        <a:buChar char="§"/>
        <a:defRPr>
          <a:solidFill>
            <a:schemeClr val="tx1"/>
          </a:solidFill>
          <a:latin typeface="+mn-lt"/>
          <a:ea typeface="+mn-ea"/>
        </a:defRPr>
      </a:lvl5pPr>
      <a:lvl6pPr marL="2551113" indent="-398463" algn="l" rtl="0" fontAlgn="base">
        <a:spcBef>
          <a:spcPct val="10000"/>
        </a:spcBef>
        <a:spcAft>
          <a:spcPct val="0"/>
        </a:spcAft>
        <a:buClr>
          <a:schemeClr val="accent2"/>
        </a:buClr>
        <a:buFont typeface="Wingdings" pitchFamily="2" charset="2"/>
        <a:buChar char="§"/>
        <a:defRPr>
          <a:solidFill>
            <a:schemeClr val="tx1"/>
          </a:solidFill>
          <a:latin typeface="+mn-lt"/>
          <a:ea typeface="+mn-ea"/>
        </a:defRPr>
      </a:lvl6pPr>
      <a:lvl7pPr marL="3008313" indent="-398463" algn="l" rtl="0" fontAlgn="base">
        <a:spcBef>
          <a:spcPct val="10000"/>
        </a:spcBef>
        <a:spcAft>
          <a:spcPct val="0"/>
        </a:spcAft>
        <a:buClr>
          <a:schemeClr val="accent2"/>
        </a:buClr>
        <a:buFont typeface="Wingdings" pitchFamily="2" charset="2"/>
        <a:buChar char="§"/>
        <a:defRPr>
          <a:solidFill>
            <a:schemeClr val="tx1"/>
          </a:solidFill>
          <a:latin typeface="+mn-lt"/>
          <a:ea typeface="+mn-ea"/>
        </a:defRPr>
      </a:lvl7pPr>
      <a:lvl8pPr marL="3465513" indent="-398463" algn="l" rtl="0" fontAlgn="base">
        <a:spcBef>
          <a:spcPct val="10000"/>
        </a:spcBef>
        <a:spcAft>
          <a:spcPct val="0"/>
        </a:spcAft>
        <a:buClr>
          <a:schemeClr val="accent2"/>
        </a:buClr>
        <a:buFont typeface="Wingdings" pitchFamily="2" charset="2"/>
        <a:buChar char="§"/>
        <a:defRPr>
          <a:solidFill>
            <a:schemeClr val="tx1"/>
          </a:solidFill>
          <a:latin typeface="+mn-lt"/>
          <a:ea typeface="+mn-ea"/>
        </a:defRPr>
      </a:lvl8pPr>
      <a:lvl9pPr marL="3922713" indent="-398463" algn="l" rtl="0" fontAlgn="base">
        <a:spcBef>
          <a:spcPct val="10000"/>
        </a:spcBef>
        <a:spcAft>
          <a:spcPct val="0"/>
        </a:spcAft>
        <a:buClr>
          <a:schemeClr val="accent2"/>
        </a:buClr>
        <a:buFont typeface="Wingdings" pitchFamily="2" charset="2"/>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 Target="slide27.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slide" Target="slide63.xml"/><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slide" Target="slide63.xml"/><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slide" Target="slide63.xml"/><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5.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93510091-EB74-466B-85A5-2EC8BAEC572B}"/>
              </a:ext>
            </a:extLst>
          </p:cNvPr>
          <p:cNvSpPr>
            <a:spLocks noGrp="1" noChangeArrowheads="1"/>
          </p:cNvSpPr>
          <p:nvPr>
            <p:ph type="ctrTitle"/>
          </p:nvPr>
        </p:nvSpPr>
        <p:spPr/>
        <p:txBody>
          <a:bodyPr/>
          <a:lstStyle/>
          <a:p>
            <a:pPr eaLnBrk="1" hangingPunct="1"/>
            <a:r>
              <a:rPr lang="zh-CN" altLang="en-US" sz="6600" dirty="0"/>
              <a:t>数据结构</a:t>
            </a:r>
            <a:br>
              <a:rPr lang="zh-CN" altLang="en-US" sz="4000" dirty="0"/>
            </a:br>
            <a:endParaRPr lang="en-US" altLang="zh-CN" sz="4000" dirty="0"/>
          </a:p>
        </p:txBody>
      </p:sp>
      <p:sp>
        <p:nvSpPr>
          <p:cNvPr id="2" name="副标题 1">
            <a:extLst>
              <a:ext uri="{FF2B5EF4-FFF2-40B4-BE49-F238E27FC236}">
                <a16:creationId xmlns:a16="http://schemas.microsoft.com/office/drawing/2014/main" id="{34EA4402-E735-4C6A-8957-B5BA733F8176}"/>
              </a:ext>
            </a:extLst>
          </p:cNvPr>
          <p:cNvSpPr>
            <a:spLocks noGrp="1"/>
          </p:cNvSpPr>
          <p:nvPr>
            <p:ph type="subTitle" idx="1"/>
          </p:nvPr>
        </p:nvSpPr>
        <p:spPr/>
        <p:txBody>
          <a:bodyPr/>
          <a:lstStyle/>
          <a:p>
            <a:pPr>
              <a:defRPr/>
            </a:pPr>
            <a:r>
              <a:rPr lang="zh-CN" altLang="en-US" sz="4000" dirty="0">
                <a:solidFill>
                  <a:schemeClr val="tx2"/>
                </a:solidFill>
                <a:latin typeface="+mj-lt"/>
                <a:ea typeface="+mj-ea"/>
                <a:cs typeface="+mj-cs"/>
              </a:rPr>
              <a:t>第六章 树和二叉树</a:t>
            </a:r>
          </a:p>
        </p:txBody>
      </p:sp>
      <p:sp>
        <p:nvSpPr>
          <p:cNvPr id="3" name="Text Box 10">
            <a:extLst>
              <a:ext uri="{FF2B5EF4-FFF2-40B4-BE49-F238E27FC236}">
                <a16:creationId xmlns:a16="http://schemas.microsoft.com/office/drawing/2014/main" id="{5119230B-83E4-420C-81F4-EBB02AEBEBDF}"/>
              </a:ext>
            </a:extLst>
          </p:cNvPr>
          <p:cNvSpPr txBox="1">
            <a:spLocks noChangeArrowheads="1"/>
          </p:cNvSpPr>
          <p:nvPr/>
        </p:nvSpPr>
        <p:spPr bwMode="auto">
          <a:xfrm>
            <a:off x="236537" y="5434013"/>
            <a:ext cx="8686800"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ahoma" pitchFamily="34" charset="0"/>
                <a:ea typeface="宋体" pitchFamily="2" charset="-122"/>
              </a:defRPr>
            </a:lvl9pPr>
          </a:lstStyle>
          <a:p>
            <a:pPr algn="ctr" eaLnBrk="1" hangingPunct="1"/>
            <a:endParaRPr lang="zh-CN" altLang="en-US" sz="2800" b="1" dirty="0">
              <a:latin typeface="楷体_GB2312" pitchFamily="1" charset="-122"/>
              <a:ea typeface="楷体_GB2312" pitchFamily="1" charset="-122"/>
            </a:endParaRPr>
          </a:p>
          <a:p>
            <a:pPr algn="ctr" eaLnBrk="1" hangingPunct="1"/>
            <a:endParaRPr lang="zh-CN" altLang="en-US" sz="2800" b="1" dirty="0">
              <a:latin typeface="楷体_GB2312" pitchFamily="1" charset="-122"/>
              <a:ea typeface="楷体_GB2312" pitchFamily="1" charset="-122"/>
            </a:endParaRPr>
          </a:p>
          <a:p>
            <a:pPr algn="r" eaLnBrk="1" hangingPunct="1"/>
            <a:r>
              <a:rPr lang="zh-CN" altLang="en-US" i="0" dirty="0">
                <a:solidFill>
                  <a:srgbClr val="808080"/>
                </a:solidFill>
                <a:latin typeface="宋体" pitchFamily="2" charset="-122"/>
              </a:rPr>
              <a:t>深圳大学计算机与软件学院</a:t>
            </a:r>
            <a:endParaRPr lang="zh-CN" altLang="en-US" sz="3200" i="0" dirty="0">
              <a:solidFill>
                <a:srgbClr val="808080"/>
              </a:solidFill>
              <a:latin typeface="华文行楷" pitchFamily="2" charset="-122"/>
              <a:ea typeface="华文行楷" pitchFamily="2"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11681A69-F1B9-463E-B354-3317A384A5BE}"/>
              </a:ext>
            </a:extLst>
          </p:cNvPr>
          <p:cNvSpPr>
            <a:spLocks noGrp="1" noChangeArrowheads="1"/>
          </p:cNvSpPr>
          <p:nvPr>
            <p:ph type="title"/>
          </p:nvPr>
        </p:nvSpPr>
        <p:spPr>
          <a:xfrm>
            <a:off x="565720" y="1152674"/>
            <a:ext cx="5715000" cy="685800"/>
          </a:xfrm>
        </p:spPr>
        <p:txBody>
          <a:bodyPr/>
          <a:lstStyle/>
          <a:p>
            <a:pPr algn="l" eaLnBrk="1" hangingPunct="1"/>
            <a:r>
              <a:rPr lang="zh-CN" altLang="en-US" sz="3200" dirty="0">
                <a:latin typeface="黑体" panose="02010609060101010101" pitchFamily="49" charset="-122"/>
                <a:ea typeface="黑体" panose="02010609060101010101" pitchFamily="49" charset="-122"/>
              </a:rPr>
              <a:t>一、树的定义(</a:t>
            </a:r>
            <a:r>
              <a:rPr lang="en-US" altLang="zh-CN" sz="3200" dirty="0">
                <a:latin typeface="黑体" panose="02010609060101010101" pitchFamily="49" charset="-122"/>
                <a:ea typeface="黑体" panose="02010609060101010101" pitchFamily="49" charset="-122"/>
              </a:rPr>
              <a:t>Tree)</a:t>
            </a:r>
          </a:p>
        </p:txBody>
      </p:sp>
      <p:sp>
        <p:nvSpPr>
          <p:cNvPr id="7171" name="Text Box 3">
            <a:extLst>
              <a:ext uri="{FF2B5EF4-FFF2-40B4-BE49-F238E27FC236}">
                <a16:creationId xmlns:a16="http://schemas.microsoft.com/office/drawing/2014/main" id="{685E9E62-40F4-4CA6-8D3F-8BFAD953BD1C}"/>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6B6FD3B2-86B9-4ED0-8801-14E0B7811DC0}" type="slidenum">
              <a:rPr lang="zh-CN" altLang="en-US" sz="2400"/>
              <a:pPr algn="r" eaLnBrk="1" hangingPunct="1">
                <a:spcBef>
                  <a:spcPct val="50000"/>
                </a:spcBef>
                <a:buClrTx/>
                <a:buSzTx/>
                <a:buFont typeface="Arial" panose="020B0604020202020204" pitchFamily="34" charset="0"/>
                <a:buNone/>
              </a:pPr>
              <a:t>2</a:t>
            </a:fld>
            <a:endParaRPr lang="en-US" altLang="zh-CN" sz="2400"/>
          </a:p>
        </p:txBody>
      </p:sp>
      <p:sp>
        <p:nvSpPr>
          <p:cNvPr id="7172" name="Text Box 4">
            <a:extLst>
              <a:ext uri="{FF2B5EF4-FFF2-40B4-BE49-F238E27FC236}">
                <a16:creationId xmlns:a16="http://schemas.microsoft.com/office/drawing/2014/main" id="{4786F5B6-57F1-4F81-9572-F46D9B682B9F}"/>
              </a:ext>
            </a:extLst>
          </p:cNvPr>
          <p:cNvSpPr txBox="1">
            <a:spLocks noChangeArrowheads="1"/>
          </p:cNvSpPr>
          <p:nvPr/>
        </p:nvSpPr>
        <p:spPr bwMode="auto">
          <a:xfrm>
            <a:off x="457200" y="188640"/>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第一节　树的概念与基本术语</a:t>
            </a:r>
          </a:p>
        </p:txBody>
      </p:sp>
      <p:sp>
        <p:nvSpPr>
          <p:cNvPr id="7173" name="Rectangle 5">
            <a:extLst>
              <a:ext uri="{FF2B5EF4-FFF2-40B4-BE49-F238E27FC236}">
                <a16:creationId xmlns:a16="http://schemas.microsoft.com/office/drawing/2014/main" id="{832F4931-BC33-46A8-B48E-4E62F0832817}"/>
              </a:ext>
            </a:extLst>
          </p:cNvPr>
          <p:cNvSpPr>
            <a:spLocks noGrp="1" noChangeArrowheads="1"/>
          </p:cNvSpPr>
          <p:nvPr>
            <p:ph type="body" idx="1"/>
          </p:nvPr>
        </p:nvSpPr>
        <p:spPr>
          <a:xfrm>
            <a:off x="489520" y="1871811"/>
            <a:ext cx="8763000" cy="4581525"/>
          </a:xfrm>
        </p:spPr>
        <p:txBody>
          <a:bodyPr/>
          <a:lstStyle/>
          <a:p>
            <a:pPr eaLnBrk="1" hangingPunct="1">
              <a:spcBef>
                <a:spcPct val="30000"/>
              </a:spcBef>
            </a:pPr>
            <a:r>
              <a:rPr lang="zh-CN" altLang="en-US" sz="2800" dirty="0">
                <a:latin typeface="+mn-ea"/>
              </a:rPr>
              <a:t>树是有</a:t>
            </a:r>
            <a:r>
              <a:rPr lang="en-US" altLang="zh-CN" sz="2800" dirty="0">
                <a:latin typeface="+mn-ea"/>
              </a:rPr>
              <a:t>n(n≥0)</a:t>
            </a:r>
            <a:r>
              <a:rPr lang="zh-CN" altLang="en-US" sz="2800" dirty="0">
                <a:latin typeface="+mn-ea"/>
              </a:rPr>
              <a:t>个结点的有限集合。</a:t>
            </a:r>
          </a:p>
          <a:p>
            <a:pPr eaLnBrk="1" hangingPunct="1">
              <a:spcBef>
                <a:spcPct val="30000"/>
              </a:spcBef>
            </a:pPr>
            <a:r>
              <a:rPr lang="zh-CN" altLang="en-US" sz="2800" dirty="0">
                <a:latin typeface="+mn-ea"/>
              </a:rPr>
              <a:t>如果</a:t>
            </a:r>
            <a:r>
              <a:rPr lang="en-US" altLang="zh-CN" sz="2800" dirty="0">
                <a:latin typeface="+mn-ea"/>
              </a:rPr>
              <a:t>n=0，</a:t>
            </a:r>
            <a:r>
              <a:rPr lang="zh-CN" altLang="en-US" sz="2800" dirty="0">
                <a:latin typeface="+mn-ea"/>
              </a:rPr>
              <a:t>称为空树；</a:t>
            </a:r>
          </a:p>
          <a:p>
            <a:pPr eaLnBrk="1" hangingPunct="1">
              <a:spcBef>
                <a:spcPct val="30000"/>
              </a:spcBef>
            </a:pPr>
            <a:r>
              <a:rPr lang="zh-CN" altLang="en-US" sz="2800" dirty="0">
                <a:latin typeface="+mn-ea"/>
              </a:rPr>
              <a:t>如果</a:t>
            </a:r>
            <a:r>
              <a:rPr lang="en-US" altLang="zh-CN" sz="2800" dirty="0">
                <a:latin typeface="+mn-ea"/>
              </a:rPr>
              <a:t>n&gt;0,</a:t>
            </a:r>
            <a:r>
              <a:rPr lang="zh-CN" altLang="en-US" sz="2800" dirty="0">
                <a:latin typeface="+mn-ea"/>
              </a:rPr>
              <a:t>称为非空树,对于非空树,有且仅有一个特定的称为根(</a:t>
            </a:r>
            <a:r>
              <a:rPr lang="en-US" altLang="zh-CN" dirty="0">
                <a:latin typeface="+mn-ea"/>
              </a:rPr>
              <a:t>r</a:t>
            </a:r>
            <a:r>
              <a:rPr lang="en-US" altLang="zh-CN" sz="2800" dirty="0">
                <a:latin typeface="+mn-ea"/>
              </a:rPr>
              <a:t>oot)</a:t>
            </a:r>
            <a:r>
              <a:rPr lang="zh-CN" altLang="en-US" sz="2800" dirty="0">
                <a:latin typeface="+mn-ea"/>
              </a:rPr>
              <a:t>的节点(无直接前驱)</a:t>
            </a:r>
          </a:p>
          <a:p>
            <a:pPr eaLnBrk="1" hangingPunct="1">
              <a:spcBef>
                <a:spcPct val="30000"/>
              </a:spcBef>
            </a:pPr>
            <a:r>
              <a:rPr lang="zh-CN" altLang="en-US" sz="2800" dirty="0">
                <a:latin typeface="+mn-ea"/>
              </a:rPr>
              <a:t>如果</a:t>
            </a:r>
            <a:r>
              <a:rPr lang="en-US" altLang="zh-CN" sz="2800" dirty="0">
                <a:latin typeface="+mn-ea"/>
              </a:rPr>
              <a:t>n&gt;1，</a:t>
            </a:r>
            <a:r>
              <a:rPr lang="zh-CN" altLang="en-US" sz="2800" dirty="0">
                <a:latin typeface="+mn-ea"/>
              </a:rPr>
              <a:t>则除根以外的其它结点划分为 </a:t>
            </a:r>
            <a:r>
              <a:rPr lang="en-US" altLang="zh-CN" sz="2800" dirty="0">
                <a:latin typeface="+mn-ea"/>
              </a:rPr>
              <a:t>m (m&gt;0)</a:t>
            </a:r>
            <a:r>
              <a:rPr lang="zh-CN" altLang="en-US" sz="2800" dirty="0">
                <a:latin typeface="+mn-ea"/>
              </a:rPr>
              <a:t>个互不相交的有限集 </a:t>
            </a:r>
            <a:r>
              <a:rPr lang="en-US" altLang="zh-CN" sz="2800" dirty="0">
                <a:latin typeface="+mn-ea"/>
              </a:rPr>
              <a:t>T1, T2 ,…, Tm，</a:t>
            </a:r>
            <a:r>
              <a:rPr lang="zh-CN" altLang="en-US" sz="2800" dirty="0">
                <a:latin typeface="+mn-ea"/>
              </a:rPr>
              <a:t>其中每个集合本身又是一棵树，并且称为根的子树(</a:t>
            </a:r>
            <a:r>
              <a:rPr lang="en-US" altLang="zh-CN" sz="2800" dirty="0" err="1">
                <a:latin typeface="+mn-ea"/>
              </a:rPr>
              <a:t>SubTree</a:t>
            </a:r>
            <a:r>
              <a:rPr lang="en-US" altLang="zh-CN" sz="2800">
                <a:latin typeface="+mn-ea"/>
              </a:rPr>
              <a:t>)。</a:t>
            </a:r>
            <a:r>
              <a:rPr lang="en-US" altLang="zh-CN" sz="2800">
                <a:solidFill>
                  <a:srgbClr val="CC0066"/>
                </a:solidFill>
                <a:latin typeface="+mn-ea"/>
              </a:rPr>
              <a:t>(</a:t>
            </a:r>
            <a:r>
              <a:rPr lang="zh-CN" altLang="en-US" sz="2800">
                <a:solidFill>
                  <a:srgbClr val="CC0066"/>
                </a:solidFill>
                <a:latin typeface="+mn-ea"/>
              </a:rPr>
              <a:t>递归</a:t>
            </a:r>
            <a:r>
              <a:rPr lang="zh-CN" altLang="en-US" sz="2800" dirty="0">
                <a:solidFill>
                  <a:srgbClr val="CC0066"/>
                </a:solidFill>
                <a:latin typeface="+mn-ea"/>
              </a:rPr>
              <a:t>定义</a:t>
            </a:r>
            <a:r>
              <a:rPr lang="en-US" altLang="zh-CN" sz="2800" dirty="0">
                <a:solidFill>
                  <a:srgbClr val="CC0066"/>
                </a:solidFill>
                <a:latin typeface="+mn-ea"/>
              </a:rPr>
              <a:t>)</a:t>
            </a:r>
          </a:p>
          <a:p>
            <a:pPr eaLnBrk="1" hangingPunct="1">
              <a:spcBef>
                <a:spcPct val="30000"/>
              </a:spcBef>
            </a:pPr>
            <a:r>
              <a:rPr lang="zh-CN" altLang="en-US" sz="2800" dirty="0">
                <a:latin typeface="+mn-ea"/>
              </a:rPr>
              <a:t>每个结点都有唯一的直接前驱，但可能有多个后继</a:t>
            </a:r>
          </a:p>
        </p:txBody>
      </p:sp>
      <p:sp>
        <p:nvSpPr>
          <p:cNvPr id="2" name="思想气泡: 云 1">
            <a:extLst>
              <a:ext uri="{FF2B5EF4-FFF2-40B4-BE49-F238E27FC236}">
                <a16:creationId xmlns:a16="http://schemas.microsoft.com/office/drawing/2014/main" id="{8F3100FE-1554-43DE-8520-8DF7E69B0A69}"/>
              </a:ext>
            </a:extLst>
          </p:cNvPr>
          <p:cNvSpPr/>
          <p:nvPr/>
        </p:nvSpPr>
        <p:spPr bwMode="auto">
          <a:xfrm>
            <a:off x="5652120" y="4581128"/>
            <a:ext cx="2088232" cy="796469"/>
          </a:xfrm>
          <a:prstGeom prst="cloudCallout">
            <a:avLst>
              <a:gd name="adj1" fmla="val -39587"/>
              <a:gd name="adj2" fmla="val 149197"/>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r>
              <a:rPr lang="zh-CN" altLang="en-US" sz="2800" i="0" dirty="0">
                <a:highlight>
                  <a:srgbClr val="FFFF00"/>
                </a:highlight>
              </a:rPr>
              <a:t>一对多</a:t>
            </a:r>
            <a:endParaRPr kumimoji="0" lang="zh-CN" altLang="en-US" sz="2800" b="1" i="0" u="none" strike="noStrike" cap="none" normalizeH="0" baseline="0" dirty="0">
              <a:ln>
                <a:noFill/>
              </a:ln>
              <a:solidFill>
                <a:schemeClr val="tx1"/>
              </a:solidFill>
              <a:effectLst/>
              <a:highlight>
                <a:srgbClr val="FFFF00"/>
              </a:highlight>
              <a:latin typeface="Times New Roman" pitchFamily="18" charset="0"/>
              <a:ea typeface="宋体"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7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17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17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17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Text Box 3">
            <a:extLst>
              <a:ext uri="{FF2B5EF4-FFF2-40B4-BE49-F238E27FC236}">
                <a16:creationId xmlns:a16="http://schemas.microsoft.com/office/drawing/2014/main" id="{6080F593-8B25-4174-8ED3-84A6D876EB65}"/>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54ACBA36-3680-4489-8092-0C5372FB7EE8}" type="slidenum">
              <a:rPr lang="zh-CN" altLang="en-US" sz="2400"/>
              <a:pPr algn="r" eaLnBrk="1" hangingPunct="1">
                <a:spcBef>
                  <a:spcPct val="50000"/>
                </a:spcBef>
                <a:buClrTx/>
                <a:buSzTx/>
                <a:buFont typeface="Arial" panose="020B0604020202020204" pitchFamily="34" charset="0"/>
                <a:buNone/>
              </a:pPr>
              <a:t>3</a:t>
            </a:fld>
            <a:endParaRPr lang="en-US" altLang="zh-CN" sz="2400"/>
          </a:p>
        </p:txBody>
      </p:sp>
      <p:sp>
        <p:nvSpPr>
          <p:cNvPr id="8197" name="Rectangle 5">
            <a:extLst>
              <a:ext uri="{FF2B5EF4-FFF2-40B4-BE49-F238E27FC236}">
                <a16:creationId xmlns:a16="http://schemas.microsoft.com/office/drawing/2014/main" id="{E786E2BF-08FA-44CA-9450-6D96DF63F34F}"/>
              </a:ext>
            </a:extLst>
          </p:cNvPr>
          <p:cNvSpPr>
            <a:spLocks noGrp="1" noChangeArrowheads="1"/>
          </p:cNvSpPr>
          <p:nvPr>
            <p:ph type="body" idx="1"/>
          </p:nvPr>
        </p:nvSpPr>
        <p:spPr>
          <a:xfrm>
            <a:off x="489520" y="4320952"/>
            <a:ext cx="8763000" cy="1752600"/>
          </a:xfrm>
        </p:spPr>
        <p:txBody>
          <a:bodyPr/>
          <a:lstStyle/>
          <a:p>
            <a:pPr eaLnBrk="1" hangingPunct="1">
              <a:spcBef>
                <a:spcPct val="30000"/>
              </a:spcBef>
            </a:pPr>
            <a:r>
              <a:rPr lang="zh-CN" altLang="en-US" sz="2800" dirty="0">
                <a:latin typeface="黑体" panose="02010609060101010101" pitchFamily="49" charset="-122"/>
                <a:ea typeface="黑体" panose="02010609060101010101" pitchFamily="49" charset="-122"/>
              </a:rPr>
              <a:t>其中：</a:t>
            </a:r>
            <a:r>
              <a:rPr lang="en-US" altLang="zh-CN" sz="2800" dirty="0">
                <a:latin typeface="黑体" panose="02010609060101010101" pitchFamily="49" charset="-122"/>
                <a:ea typeface="黑体" panose="02010609060101010101" pitchFamily="49" charset="-122"/>
              </a:rPr>
              <a:t>A</a:t>
            </a:r>
            <a:r>
              <a:rPr lang="zh-CN" altLang="en-US" sz="2800" dirty="0">
                <a:latin typeface="黑体" panose="02010609060101010101" pitchFamily="49" charset="-122"/>
                <a:ea typeface="黑体" panose="02010609060101010101" pitchFamily="49" charset="-122"/>
              </a:rPr>
              <a:t>是根；其余结点分成三个互不相交的子集，</a:t>
            </a:r>
          </a:p>
          <a:p>
            <a:pPr eaLnBrk="1" hangingPunct="1">
              <a:spcBef>
                <a:spcPct val="30000"/>
              </a:spcBef>
            </a:pPr>
            <a:r>
              <a:rPr lang="en-US" altLang="zh-CN" sz="2800" dirty="0">
                <a:latin typeface="黑体" panose="02010609060101010101" pitchFamily="49" charset="-122"/>
                <a:ea typeface="黑体" panose="02010609060101010101" pitchFamily="49" charset="-122"/>
              </a:rPr>
              <a:t>T1={B,E,F,K,L}； T2={C,G}； T3={D,H,I,J,M},</a:t>
            </a:r>
          </a:p>
          <a:p>
            <a:pPr eaLnBrk="1" hangingPunct="1">
              <a:spcBef>
                <a:spcPct val="30000"/>
              </a:spcBef>
            </a:pPr>
            <a:r>
              <a:rPr lang="en-US" altLang="zh-CN" sz="2800" dirty="0">
                <a:latin typeface="黑体" panose="02010609060101010101" pitchFamily="49" charset="-122"/>
                <a:ea typeface="黑体" panose="02010609060101010101" pitchFamily="49" charset="-122"/>
              </a:rPr>
              <a:t>T1,T2,T3</a:t>
            </a:r>
            <a:r>
              <a:rPr lang="zh-CN" altLang="en-US" sz="2800" dirty="0">
                <a:latin typeface="黑体" panose="02010609060101010101" pitchFamily="49" charset="-122"/>
                <a:ea typeface="黑体" panose="02010609060101010101" pitchFamily="49" charset="-122"/>
              </a:rPr>
              <a:t>都是根</a:t>
            </a:r>
            <a:r>
              <a:rPr lang="en-US" altLang="zh-CN" sz="2800" dirty="0">
                <a:latin typeface="黑体" panose="02010609060101010101" pitchFamily="49" charset="-122"/>
                <a:ea typeface="黑体" panose="02010609060101010101" pitchFamily="49" charset="-122"/>
              </a:rPr>
              <a:t>A</a:t>
            </a:r>
            <a:r>
              <a:rPr lang="zh-CN" altLang="en-US" sz="2800" dirty="0">
                <a:latin typeface="黑体" panose="02010609060101010101" pitchFamily="49" charset="-122"/>
                <a:ea typeface="黑体" panose="02010609060101010101" pitchFamily="49" charset="-122"/>
              </a:rPr>
              <a:t>的子树，且本身也是一棵树</a:t>
            </a:r>
          </a:p>
        </p:txBody>
      </p:sp>
      <p:sp>
        <p:nvSpPr>
          <p:cNvPr id="8199" name="Oval 7">
            <a:extLst>
              <a:ext uri="{FF2B5EF4-FFF2-40B4-BE49-F238E27FC236}">
                <a16:creationId xmlns:a16="http://schemas.microsoft.com/office/drawing/2014/main" id="{52208D5B-4957-4C7E-8D1B-8888136B24EB}"/>
              </a:ext>
            </a:extLst>
          </p:cNvPr>
          <p:cNvSpPr>
            <a:spLocks noChangeArrowheads="1"/>
          </p:cNvSpPr>
          <p:nvPr/>
        </p:nvSpPr>
        <p:spPr bwMode="auto">
          <a:xfrm>
            <a:off x="1833950" y="1775845"/>
            <a:ext cx="533400" cy="533400"/>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b="1" i="0" dirty="0">
                <a:solidFill>
                  <a:schemeClr val="bg1"/>
                </a:solidFill>
                <a:latin typeface="Times New Roman" panose="02020603050405020304" pitchFamily="18" charset="0"/>
              </a:rPr>
              <a:t>A</a:t>
            </a:r>
          </a:p>
        </p:txBody>
      </p:sp>
      <p:sp>
        <p:nvSpPr>
          <p:cNvPr id="8200" name="Text Box 8">
            <a:extLst>
              <a:ext uri="{FF2B5EF4-FFF2-40B4-BE49-F238E27FC236}">
                <a16:creationId xmlns:a16="http://schemas.microsoft.com/office/drawing/2014/main" id="{F121B68A-4AEB-4EF8-8271-E4DA9673D14E}"/>
              </a:ext>
            </a:extLst>
          </p:cNvPr>
          <p:cNvSpPr txBox="1">
            <a:spLocks noChangeArrowheads="1"/>
          </p:cNvSpPr>
          <p:nvPr/>
        </p:nvSpPr>
        <p:spPr bwMode="auto">
          <a:xfrm>
            <a:off x="1071950" y="2537845"/>
            <a:ext cx="2317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400" b="1" i="0" dirty="0">
                <a:solidFill>
                  <a:srgbClr val="002C84"/>
                </a:solidFill>
                <a:latin typeface="Times New Roman" panose="02020603050405020304" pitchFamily="18" charset="0"/>
                <a:ea typeface="楷体_GB2312" pitchFamily="1" charset="-122"/>
              </a:rPr>
              <a:t>只有根结点的树</a:t>
            </a:r>
          </a:p>
        </p:txBody>
      </p:sp>
      <p:grpSp>
        <p:nvGrpSpPr>
          <p:cNvPr id="8201" name="Group 9">
            <a:extLst>
              <a:ext uri="{FF2B5EF4-FFF2-40B4-BE49-F238E27FC236}">
                <a16:creationId xmlns:a16="http://schemas.microsoft.com/office/drawing/2014/main" id="{42F38871-F73F-40D0-BF38-B6380E4B0585}"/>
              </a:ext>
            </a:extLst>
          </p:cNvPr>
          <p:cNvGrpSpPr>
            <a:grpSpLocks/>
          </p:cNvGrpSpPr>
          <p:nvPr/>
        </p:nvGrpSpPr>
        <p:grpSpPr bwMode="auto">
          <a:xfrm>
            <a:off x="4147120" y="1349152"/>
            <a:ext cx="4038600" cy="2854325"/>
            <a:chOff x="0" y="0"/>
            <a:chExt cx="2832" cy="1948"/>
          </a:xfrm>
        </p:grpSpPr>
        <p:sp>
          <p:nvSpPr>
            <p:cNvPr id="8203" name="Line 10">
              <a:extLst>
                <a:ext uri="{FF2B5EF4-FFF2-40B4-BE49-F238E27FC236}">
                  <a16:creationId xmlns:a16="http://schemas.microsoft.com/office/drawing/2014/main" id="{F9C78F0E-D218-4954-8251-15D1D5C5EA9D}"/>
                </a:ext>
              </a:extLst>
            </p:cNvPr>
            <p:cNvSpPr>
              <a:spLocks noChangeShapeType="1"/>
            </p:cNvSpPr>
            <p:nvPr/>
          </p:nvSpPr>
          <p:spPr bwMode="auto">
            <a:xfrm>
              <a:off x="2352" y="830"/>
              <a:ext cx="288" cy="336"/>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04" name="Line 11">
              <a:extLst>
                <a:ext uri="{FF2B5EF4-FFF2-40B4-BE49-F238E27FC236}">
                  <a16:creationId xmlns:a16="http://schemas.microsoft.com/office/drawing/2014/main" id="{BF24FCF4-D9EF-4728-8193-60AA4ED9B656}"/>
                </a:ext>
              </a:extLst>
            </p:cNvPr>
            <p:cNvSpPr>
              <a:spLocks noChangeShapeType="1"/>
            </p:cNvSpPr>
            <p:nvPr/>
          </p:nvSpPr>
          <p:spPr bwMode="auto">
            <a:xfrm flipH="1">
              <a:off x="1824" y="830"/>
              <a:ext cx="288"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05" name="Line 12">
              <a:extLst>
                <a:ext uri="{FF2B5EF4-FFF2-40B4-BE49-F238E27FC236}">
                  <a16:creationId xmlns:a16="http://schemas.microsoft.com/office/drawing/2014/main" id="{9D9C2037-00FB-44B3-9029-BC1B8494DA8E}"/>
                </a:ext>
              </a:extLst>
            </p:cNvPr>
            <p:cNvSpPr>
              <a:spLocks noChangeShapeType="1"/>
            </p:cNvSpPr>
            <p:nvPr/>
          </p:nvSpPr>
          <p:spPr bwMode="auto">
            <a:xfrm>
              <a:off x="2208" y="878"/>
              <a:ext cx="0" cy="24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06" name="Line 13">
              <a:extLst>
                <a:ext uri="{FF2B5EF4-FFF2-40B4-BE49-F238E27FC236}">
                  <a16:creationId xmlns:a16="http://schemas.microsoft.com/office/drawing/2014/main" id="{A0C7CDC4-BA0E-4B62-BDA0-7261581FA358}"/>
                </a:ext>
              </a:extLst>
            </p:cNvPr>
            <p:cNvSpPr>
              <a:spLocks noChangeShapeType="1"/>
            </p:cNvSpPr>
            <p:nvPr/>
          </p:nvSpPr>
          <p:spPr bwMode="auto">
            <a:xfrm>
              <a:off x="1824" y="1406"/>
              <a:ext cx="0"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07" name="Line 14">
              <a:extLst>
                <a:ext uri="{FF2B5EF4-FFF2-40B4-BE49-F238E27FC236}">
                  <a16:creationId xmlns:a16="http://schemas.microsoft.com/office/drawing/2014/main" id="{D4EA5608-5CBB-49AC-B4A2-2A4B73F7FF2D}"/>
                </a:ext>
              </a:extLst>
            </p:cNvPr>
            <p:cNvSpPr>
              <a:spLocks noChangeShapeType="1"/>
            </p:cNvSpPr>
            <p:nvPr/>
          </p:nvSpPr>
          <p:spPr bwMode="auto">
            <a:xfrm>
              <a:off x="1488" y="254"/>
              <a:ext cx="672" cy="38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08" name="Line 15">
              <a:extLst>
                <a:ext uri="{FF2B5EF4-FFF2-40B4-BE49-F238E27FC236}">
                  <a16:creationId xmlns:a16="http://schemas.microsoft.com/office/drawing/2014/main" id="{9B3A9F3D-57D2-4E9C-999C-E3A2F8099F2C}"/>
                </a:ext>
              </a:extLst>
            </p:cNvPr>
            <p:cNvSpPr>
              <a:spLocks noChangeShapeType="1"/>
            </p:cNvSpPr>
            <p:nvPr/>
          </p:nvSpPr>
          <p:spPr bwMode="auto">
            <a:xfrm flipH="1">
              <a:off x="672" y="254"/>
              <a:ext cx="576" cy="38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09" name="Line 16">
              <a:extLst>
                <a:ext uri="{FF2B5EF4-FFF2-40B4-BE49-F238E27FC236}">
                  <a16:creationId xmlns:a16="http://schemas.microsoft.com/office/drawing/2014/main" id="{E56448DC-3B9D-440E-8165-FE7EB973BF53}"/>
                </a:ext>
              </a:extLst>
            </p:cNvPr>
            <p:cNvSpPr>
              <a:spLocks noChangeShapeType="1"/>
            </p:cNvSpPr>
            <p:nvPr/>
          </p:nvSpPr>
          <p:spPr bwMode="auto">
            <a:xfrm>
              <a:off x="1392" y="302"/>
              <a:ext cx="0" cy="110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10" name="Line 17">
              <a:extLst>
                <a:ext uri="{FF2B5EF4-FFF2-40B4-BE49-F238E27FC236}">
                  <a16:creationId xmlns:a16="http://schemas.microsoft.com/office/drawing/2014/main" id="{D6A5CA2D-8745-44DC-838C-EA891EE06C65}"/>
                </a:ext>
              </a:extLst>
            </p:cNvPr>
            <p:cNvSpPr>
              <a:spLocks noChangeShapeType="1"/>
            </p:cNvSpPr>
            <p:nvPr/>
          </p:nvSpPr>
          <p:spPr bwMode="auto">
            <a:xfrm>
              <a:off x="720" y="830"/>
              <a:ext cx="144" cy="336"/>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11" name="Line 18">
              <a:extLst>
                <a:ext uri="{FF2B5EF4-FFF2-40B4-BE49-F238E27FC236}">
                  <a16:creationId xmlns:a16="http://schemas.microsoft.com/office/drawing/2014/main" id="{3B76EC50-724A-48C5-8071-0D6E614BADFA}"/>
                </a:ext>
              </a:extLst>
            </p:cNvPr>
            <p:cNvSpPr>
              <a:spLocks noChangeShapeType="1"/>
            </p:cNvSpPr>
            <p:nvPr/>
          </p:nvSpPr>
          <p:spPr bwMode="auto">
            <a:xfrm>
              <a:off x="480" y="1358"/>
              <a:ext cx="144"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12" name="Line 19">
              <a:extLst>
                <a:ext uri="{FF2B5EF4-FFF2-40B4-BE49-F238E27FC236}">
                  <a16:creationId xmlns:a16="http://schemas.microsoft.com/office/drawing/2014/main" id="{E9BEE52D-F01C-4833-B0E5-5694EF489B6B}"/>
                </a:ext>
              </a:extLst>
            </p:cNvPr>
            <p:cNvSpPr>
              <a:spLocks noChangeShapeType="1"/>
            </p:cNvSpPr>
            <p:nvPr/>
          </p:nvSpPr>
          <p:spPr bwMode="auto">
            <a:xfrm flipH="1">
              <a:off x="144" y="830"/>
              <a:ext cx="432" cy="96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13" name="Oval 20">
              <a:extLst>
                <a:ext uri="{FF2B5EF4-FFF2-40B4-BE49-F238E27FC236}">
                  <a16:creationId xmlns:a16="http://schemas.microsoft.com/office/drawing/2014/main" id="{357F5D14-E506-4FDE-8027-BF24E4D6767C}"/>
                </a:ext>
              </a:extLst>
            </p:cNvPr>
            <p:cNvSpPr>
              <a:spLocks noChangeArrowheads="1"/>
            </p:cNvSpPr>
            <p:nvPr/>
          </p:nvSpPr>
          <p:spPr bwMode="auto">
            <a:xfrm>
              <a:off x="1200" y="14"/>
              <a:ext cx="336" cy="336"/>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8214" name="Oval 21">
              <a:extLst>
                <a:ext uri="{FF2B5EF4-FFF2-40B4-BE49-F238E27FC236}">
                  <a16:creationId xmlns:a16="http://schemas.microsoft.com/office/drawing/2014/main" id="{D74F5C8C-9688-44AF-92C9-07B308246F82}"/>
                </a:ext>
              </a:extLst>
            </p:cNvPr>
            <p:cNvSpPr>
              <a:spLocks noChangeArrowheads="1"/>
            </p:cNvSpPr>
            <p:nvPr/>
          </p:nvSpPr>
          <p:spPr bwMode="auto">
            <a:xfrm>
              <a:off x="480" y="542"/>
              <a:ext cx="336" cy="336"/>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8215" name="Oval 22">
              <a:extLst>
                <a:ext uri="{FF2B5EF4-FFF2-40B4-BE49-F238E27FC236}">
                  <a16:creationId xmlns:a16="http://schemas.microsoft.com/office/drawing/2014/main" id="{57683EAE-8B0E-4D75-A36B-86F886DAB4F9}"/>
                </a:ext>
              </a:extLst>
            </p:cNvPr>
            <p:cNvSpPr>
              <a:spLocks noChangeArrowheads="1"/>
            </p:cNvSpPr>
            <p:nvPr/>
          </p:nvSpPr>
          <p:spPr bwMode="auto">
            <a:xfrm>
              <a:off x="1200" y="542"/>
              <a:ext cx="336" cy="336"/>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8216" name="Oval 23">
              <a:extLst>
                <a:ext uri="{FF2B5EF4-FFF2-40B4-BE49-F238E27FC236}">
                  <a16:creationId xmlns:a16="http://schemas.microsoft.com/office/drawing/2014/main" id="{868710C3-84F7-46A4-9982-78C5F5163B01}"/>
                </a:ext>
              </a:extLst>
            </p:cNvPr>
            <p:cNvSpPr>
              <a:spLocks noChangeArrowheads="1"/>
            </p:cNvSpPr>
            <p:nvPr/>
          </p:nvSpPr>
          <p:spPr bwMode="auto">
            <a:xfrm>
              <a:off x="2064" y="542"/>
              <a:ext cx="336" cy="336"/>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8217" name="Oval 24">
              <a:extLst>
                <a:ext uri="{FF2B5EF4-FFF2-40B4-BE49-F238E27FC236}">
                  <a16:creationId xmlns:a16="http://schemas.microsoft.com/office/drawing/2014/main" id="{1B6267DF-544B-491F-AE50-BE5211EE2C2F}"/>
                </a:ext>
              </a:extLst>
            </p:cNvPr>
            <p:cNvSpPr>
              <a:spLocks noChangeArrowheads="1"/>
            </p:cNvSpPr>
            <p:nvPr/>
          </p:nvSpPr>
          <p:spPr bwMode="auto">
            <a:xfrm>
              <a:off x="240" y="1070"/>
              <a:ext cx="336" cy="336"/>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8218" name="Oval 25">
              <a:extLst>
                <a:ext uri="{FF2B5EF4-FFF2-40B4-BE49-F238E27FC236}">
                  <a16:creationId xmlns:a16="http://schemas.microsoft.com/office/drawing/2014/main" id="{4290B8BE-B32F-454F-BE79-8513320B92E9}"/>
                </a:ext>
              </a:extLst>
            </p:cNvPr>
            <p:cNvSpPr>
              <a:spLocks noChangeArrowheads="1"/>
            </p:cNvSpPr>
            <p:nvPr/>
          </p:nvSpPr>
          <p:spPr bwMode="auto">
            <a:xfrm>
              <a:off x="672" y="1070"/>
              <a:ext cx="336" cy="336"/>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8219" name="Oval 26">
              <a:extLst>
                <a:ext uri="{FF2B5EF4-FFF2-40B4-BE49-F238E27FC236}">
                  <a16:creationId xmlns:a16="http://schemas.microsoft.com/office/drawing/2014/main" id="{96889686-904F-4F29-9AB1-E092EAEA2472}"/>
                </a:ext>
              </a:extLst>
            </p:cNvPr>
            <p:cNvSpPr>
              <a:spLocks noChangeArrowheads="1"/>
            </p:cNvSpPr>
            <p:nvPr/>
          </p:nvSpPr>
          <p:spPr bwMode="auto">
            <a:xfrm>
              <a:off x="1200" y="1070"/>
              <a:ext cx="336" cy="336"/>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8220" name="Oval 27">
              <a:extLst>
                <a:ext uri="{FF2B5EF4-FFF2-40B4-BE49-F238E27FC236}">
                  <a16:creationId xmlns:a16="http://schemas.microsoft.com/office/drawing/2014/main" id="{95C25320-478A-478E-B0B8-30E4D45D5A48}"/>
                </a:ext>
              </a:extLst>
            </p:cNvPr>
            <p:cNvSpPr>
              <a:spLocks noChangeArrowheads="1"/>
            </p:cNvSpPr>
            <p:nvPr/>
          </p:nvSpPr>
          <p:spPr bwMode="auto">
            <a:xfrm>
              <a:off x="1632" y="1070"/>
              <a:ext cx="336" cy="336"/>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8221" name="Oval 28">
              <a:extLst>
                <a:ext uri="{FF2B5EF4-FFF2-40B4-BE49-F238E27FC236}">
                  <a16:creationId xmlns:a16="http://schemas.microsoft.com/office/drawing/2014/main" id="{8C6AE475-ECEE-48F6-9B40-E5763CA0FB92}"/>
                </a:ext>
              </a:extLst>
            </p:cNvPr>
            <p:cNvSpPr>
              <a:spLocks noChangeArrowheads="1"/>
            </p:cNvSpPr>
            <p:nvPr/>
          </p:nvSpPr>
          <p:spPr bwMode="auto">
            <a:xfrm>
              <a:off x="2064" y="1070"/>
              <a:ext cx="336" cy="336"/>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8222" name="Oval 29">
              <a:extLst>
                <a:ext uri="{FF2B5EF4-FFF2-40B4-BE49-F238E27FC236}">
                  <a16:creationId xmlns:a16="http://schemas.microsoft.com/office/drawing/2014/main" id="{AAF656D0-2CEB-430A-80C7-F418C508AF4A}"/>
                </a:ext>
              </a:extLst>
            </p:cNvPr>
            <p:cNvSpPr>
              <a:spLocks noChangeArrowheads="1"/>
            </p:cNvSpPr>
            <p:nvPr/>
          </p:nvSpPr>
          <p:spPr bwMode="auto">
            <a:xfrm>
              <a:off x="2496" y="1070"/>
              <a:ext cx="336" cy="336"/>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8223" name="Oval 30">
              <a:extLst>
                <a:ext uri="{FF2B5EF4-FFF2-40B4-BE49-F238E27FC236}">
                  <a16:creationId xmlns:a16="http://schemas.microsoft.com/office/drawing/2014/main" id="{0200FB93-848D-4ED9-ACDD-3A4BB74891BC}"/>
                </a:ext>
              </a:extLst>
            </p:cNvPr>
            <p:cNvSpPr>
              <a:spLocks noChangeArrowheads="1"/>
            </p:cNvSpPr>
            <p:nvPr/>
          </p:nvSpPr>
          <p:spPr bwMode="auto">
            <a:xfrm>
              <a:off x="0" y="1598"/>
              <a:ext cx="336" cy="336"/>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8224" name="Oval 31">
              <a:extLst>
                <a:ext uri="{FF2B5EF4-FFF2-40B4-BE49-F238E27FC236}">
                  <a16:creationId xmlns:a16="http://schemas.microsoft.com/office/drawing/2014/main" id="{7F1555B6-5AFF-4840-AC39-6D3CAB3A4D69}"/>
                </a:ext>
              </a:extLst>
            </p:cNvPr>
            <p:cNvSpPr>
              <a:spLocks noChangeArrowheads="1"/>
            </p:cNvSpPr>
            <p:nvPr/>
          </p:nvSpPr>
          <p:spPr bwMode="auto">
            <a:xfrm>
              <a:off x="480" y="1598"/>
              <a:ext cx="336" cy="336"/>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8225" name="Oval 32">
              <a:extLst>
                <a:ext uri="{FF2B5EF4-FFF2-40B4-BE49-F238E27FC236}">
                  <a16:creationId xmlns:a16="http://schemas.microsoft.com/office/drawing/2014/main" id="{0A9F8CE6-9199-4A89-AA53-4B1419AFF926}"/>
                </a:ext>
              </a:extLst>
            </p:cNvPr>
            <p:cNvSpPr>
              <a:spLocks noChangeArrowheads="1"/>
            </p:cNvSpPr>
            <p:nvPr/>
          </p:nvSpPr>
          <p:spPr bwMode="auto">
            <a:xfrm>
              <a:off x="1632" y="1598"/>
              <a:ext cx="336" cy="336"/>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8226" name="Text Box 33">
              <a:extLst>
                <a:ext uri="{FF2B5EF4-FFF2-40B4-BE49-F238E27FC236}">
                  <a16:creationId xmlns:a16="http://schemas.microsoft.com/office/drawing/2014/main" id="{EFAFA28E-6CFF-4A51-9ED6-4241B6F91427}"/>
                </a:ext>
              </a:extLst>
            </p:cNvPr>
            <p:cNvSpPr txBox="1">
              <a:spLocks noChangeArrowheads="1"/>
            </p:cNvSpPr>
            <p:nvPr/>
          </p:nvSpPr>
          <p:spPr bwMode="auto">
            <a:xfrm>
              <a:off x="1232" y="0"/>
              <a:ext cx="310" cy="3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rgbClr val="FFFFCC"/>
                  </a:solidFill>
                  <a:latin typeface="Arial" panose="020B0604020202020204" pitchFamily="34" charset="0"/>
                </a:rPr>
                <a:t>A</a:t>
              </a:r>
              <a:endParaRPr lang="en-US" altLang="zh-CN" sz="2400" i="0" dirty="0">
                <a:latin typeface="Times New Roman" panose="02020603050405020304" pitchFamily="18" charset="0"/>
              </a:endParaRPr>
            </a:p>
          </p:txBody>
        </p:sp>
        <p:sp>
          <p:nvSpPr>
            <p:cNvPr id="8227" name="Text Box 34">
              <a:extLst>
                <a:ext uri="{FF2B5EF4-FFF2-40B4-BE49-F238E27FC236}">
                  <a16:creationId xmlns:a16="http://schemas.microsoft.com/office/drawing/2014/main" id="{22143580-B11C-4374-870F-D0CAACE2577B}"/>
                </a:ext>
              </a:extLst>
            </p:cNvPr>
            <p:cNvSpPr txBox="1">
              <a:spLocks noChangeArrowheads="1"/>
            </p:cNvSpPr>
            <p:nvPr/>
          </p:nvSpPr>
          <p:spPr bwMode="auto">
            <a:xfrm>
              <a:off x="1232" y="529"/>
              <a:ext cx="310" cy="3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rgbClr val="FFFFCC"/>
                  </a:solidFill>
                  <a:latin typeface="Arial" panose="020B0604020202020204" pitchFamily="34" charset="0"/>
                </a:rPr>
                <a:t>C</a:t>
              </a:r>
              <a:endParaRPr lang="en-US" altLang="zh-CN" sz="2400" i="0" dirty="0">
                <a:latin typeface="Times New Roman" panose="02020603050405020304" pitchFamily="18" charset="0"/>
              </a:endParaRPr>
            </a:p>
          </p:txBody>
        </p:sp>
        <p:sp>
          <p:nvSpPr>
            <p:cNvPr id="8228" name="Text Box 35">
              <a:extLst>
                <a:ext uri="{FF2B5EF4-FFF2-40B4-BE49-F238E27FC236}">
                  <a16:creationId xmlns:a16="http://schemas.microsoft.com/office/drawing/2014/main" id="{2EA14D47-879B-4F78-BD04-2CDF548393BA}"/>
                </a:ext>
              </a:extLst>
            </p:cNvPr>
            <p:cNvSpPr txBox="1">
              <a:spLocks noChangeArrowheads="1"/>
            </p:cNvSpPr>
            <p:nvPr/>
          </p:nvSpPr>
          <p:spPr bwMode="auto">
            <a:xfrm>
              <a:off x="1227" y="1065"/>
              <a:ext cx="323" cy="3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rgbClr val="FFFFCC"/>
                  </a:solidFill>
                  <a:latin typeface="Arial" panose="020B0604020202020204" pitchFamily="34" charset="0"/>
                </a:rPr>
                <a:t>G</a:t>
              </a:r>
              <a:endParaRPr lang="en-US" altLang="zh-CN" sz="2400" i="0" dirty="0">
                <a:latin typeface="Times New Roman" panose="02020603050405020304" pitchFamily="18" charset="0"/>
              </a:endParaRPr>
            </a:p>
          </p:txBody>
        </p:sp>
        <p:sp>
          <p:nvSpPr>
            <p:cNvPr id="8229" name="Text Box 36">
              <a:extLst>
                <a:ext uri="{FF2B5EF4-FFF2-40B4-BE49-F238E27FC236}">
                  <a16:creationId xmlns:a16="http://schemas.microsoft.com/office/drawing/2014/main" id="{3BA7CA17-6D7B-4C18-B7FC-2369454384EF}"/>
                </a:ext>
              </a:extLst>
            </p:cNvPr>
            <p:cNvSpPr txBox="1">
              <a:spLocks noChangeArrowheads="1"/>
            </p:cNvSpPr>
            <p:nvPr/>
          </p:nvSpPr>
          <p:spPr bwMode="auto">
            <a:xfrm>
              <a:off x="513" y="529"/>
              <a:ext cx="310" cy="3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rgbClr val="FFFFCC"/>
                  </a:solidFill>
                  <a:latin typeface="Arial" panose="020B0604020202020204" pitchFamily="34" charset="0"/>
                </a:rPr>
                <a:t>B</a:t>
              </a:r>
              <a:endParaRPr lang="en-US" altLang="zh-CN" sz="2400" i="0" dirty="0">
                <a:latin typeface="Times New Roman" panose="02020603050405020304" pitchFamily="18" charset="0"/>
              </a:endParaRPr>
            </a:p>
          </p:txBody>
        </p:sp>
        <p:sp>
          <p:nvSpPr>
            <p:cNvPr id="8230" name="Text Box 37">
              <a:extLst>
                <a:ext uri="{FF2B5EF4-FFF2-40B4-BE49-F238E27FC236}">
                  <a16:creationId xmlns:a16="http://schemas.microsoft.com/office/drawing/2014/main" id="{8C341088-A65C-4166-8549-41457E682F88}"/>
                </a:ext>
              </a:extLst>
            </p:cNvPr>
            <p:cNvSpPr txBox="1">
              <a:spLocks noChangeArrowheads="1"/>
            </p:cNvSpPr>
            <p:nvPr/>
          </p:nvSpPr>
          <p:spPr bwMode="auto">
            <a:xfrm>
              <a:off x="2097" y="539"/>
              <a:ext cx="310" cy="3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rgbClr val="FFFFCC"/>
                  </a:solidFill>
                  <a:latin typeface="Arial" panose="020B0604020202020204" pitchFamily="34" charset="0"/>
                </a:rPr>
                <a:t>D</a:t>
              </a:r>
              <a:endParaRPr lang="en-US" altLang="zh-CN" sz="2400" i="0" dirty="0">
                <a:latin typeface="Times New Roman" panose="02020603050405020304" pitchFamily="18" charset="0"/>
              </a:endParaRPr>
            </a:p>
          </p:txBody>
        </p:sp>
        <p:sp>
          <p:nvSpPr>
            <p:cNvPr id="8231" name="Text Box 38">
              <a:extLst>
                <a:ext uri="{FF2B5EF4-FFF2-40B4-BE49-F238E27FC236}">
                  <a16:creationId xmlns:a16="http://schemas.microsoft.com/office/drawing/2014/main" id="{E2010EF4-309D-4022-97F5-C2E0E73A11C5}"/>
                </a:ext>
              </a:extLst>
            </p:cNvPr>
            <p:cNvSpPr txBox="1">
              <a:spLocks noChangeArrowheads="1"/>
            </p:cNvSpPr>
            <p:nvPr/>
          </p:nvSpPr>
          <p:spPr bwMode="auto">
            <a:xfrm>
              <a:off x="279" y="1065"/>
              <a:ext cx="295" cy="3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rgbClr val="FFFFCC"/>
                  </a:solidFill>
                  <a:latin typeface="Arial" panose="020B0604020202020204" pitchFamily="34" charset="0"/>
                </a:rPr>
                <a:t>E</a:t>
              </a:r>
              <a:endParaRPr lang="en-US" altLang="zh-CN" sz="2400" i="0" dirty="0">
                <a:latin typeface="Times New Roman" panose="02020603050405020304" pitchFamily="18" charset="0"/>
              </a:endParaRPr>
            </a:p>
          </p:txBody>
        </p:sp>
        <p:sp>
          <p:nvSpPr>
            <p:cNvPr id="8232" name="Text Box 39">
              <a:extLst>
                <a:ext uri="{FF2B5EF4-FFF2-40B4-BE49-F238E27FC236}">
                  <a16:creationId xmlns:a16="http://schemas.microsoft.com/office/drawing/2014/main" id="{763CFEAC-814D-499E-9505-38FE784E26D7}"/>
                </a:ext>
              </a:extLst>
            </p:cNvPr>
            <p:cNvSpPr txBox="1">
              <a:spLocks noChangeArrowheads="1"/>
            </p:cNvSpPr>
            <p:nvPr/>
          </p:nvSpPr>
          <p:spPr bwMode="auto">
            <a:xfrm>
              <a:off x="712" y="1065"/>
              <a:ext cx="282" cy="3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rgbClr val="FFFFCC"/>
                  </a:solidFill>
                  <a:latin typeface="Arial" panose="020B0604020202020204" pitchFamily="34" charset="0"/>
                </a:rPr>
                <a:t>F</a:t>
              </a:r>
              <a:endParaRPr lang="en-US" altLang="zh-CN" sz="2400" i="0" dirty="0">
                <a:latin typeface="Times New Roman" panose="02020603050405020304" pitchFamily="18" charset="0"/>
              </a:endParaRPr>
            </a:p>
          </p:txBody>
        </p:sp>
        <p:sp>
          <p:nvSpPr>
            <p:cNvPr id="8233" name="Text Box 40">
              <a:extLst>
                <a:ext uri="{FF2B5EF4-FFF2-40B4-BE49-F238E27FC236}">
                  <a16:creationId xmlns:a16="http://schemas.microsoft.com/office/drawing/2014/main" id="{9F061586-0ACC-43B7-8641-3975E3B58AF6}"/>
                </a:ext>
              </a:extLst>
            </p:cNvPr>
            <p:cNvSpPr txBox="1">
              <a:spLocks noChangeArrowheads="1"/>
            </p:cNvSpPr>
            <p:nvPr/>
          </p:nvSpPr>
          <p:spPr bwMode="auto">
            <a:xfrm>
              <a:off x="43" y="1594"/>
              <a:ext cx="310" cy="3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rgbClr val="FFFFCC"/>
                  </a:solidFill>
                  <a:latin typeface="Arial" panose="020B0604020202020204" pitchFamily="34" charset="0"/>
                </a:rPr>
                <a:t>K</a:t>
              </a:r>
              <a:endParaRPr lang="en-US" altLang="zh-CN" sz="2400" i="0" dirty="0">
                <a:latin typeface="Times New Roman" panose="02020603050405020304" pitchFamily="18" charset="0"/>
              </a:endParaRPr>
            </a:p>
          </p:txBody>
        </p:sp>
        <p:sp>
          <p:nvSpPr>
            <p:cNvPr id="8234" name="Text Box 41">
              <a:extLst>
                <a:ext uri="{FF2B5EF4-FFF2-40B4-BE49-F238E27FC236}">
                  <a16:creationId xmlns:a16="http://schemas.microsoft.com/office/drawing/2014/main" id="{7F5A57BC-4CDD-4FF9-8E34-55C5802C982E}"/>
                </a:ext>
              </a:extLst>
            </p:cNvPr>
            <p:cNvSpPr txBox="1">
              <a:spLocks noChangeArrowheads="1"/>
            </p:cNvSpPr>
            <p:nvPr/>
          </p:nvSpPr>
          <p:spPr bwMode="auto">
            <a:xfrm>
              <a:off x="514" y="1594"/>
              <a:ext cx="282" cy="3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rgbClr val="FFFFCC"/>
                  </a:solidFill>
                  <a:latin typeface="Arial" panose="020B0604020202020204" pitchFamily="34" charset="0"/>
                </a:rPr>
                <a:t>L</a:t>
              </a:r>
              <a:endParaRPr lang="en-US" altLang="zh-CN" sz="2400" i="0" dirty="0">
                <a:latin typeface="Times New Roman" panose="02020603050405020304" pitchFamily="18" charset="0"/>
              </a:endParaRPr>
            </a:p>
          </p:txBody>
        </p:sp>
        <p:sp>
          <p:nvSpPr>
            <p:cNvPr id="8235" name="Text Box 42">
              <a:extLst>
                <a:ext uri="{FF2B5EF4-FFF2-40B4-BE49-F238E27FC236}">
                  <a16:creationId xmlns:a16="http://schemas.microsoft.com/office/drawing/2014/main" id="{60EAB248-B1F6-432C-8F41-9490BF63BD20}"/>
                </a:ext>
              </a:extLst>
            </p:cNvPr>
            <p:cNvSpPr txBox="1">
              <a:spLocks noChangeArrowheads="1"/>
            </p:cNvSpPr>
            <p:nvPr/>
          </p:nvSpPr>
          <p:spPr bwMode="auto">
            <a:xfrm>
              <a:off x="1660" y="1065"/>
              <a:ext cx="309" cy="3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rgbClr val="FFFFCC"/>
                  </a:solidFill>
                  <a:latin typeface="Arial" panose="020B0604020202020204" pitchFamily="34" charset="0"/>
                </a:rPr>
                <a:t>H</a:t>
              </a:r>
              <a:endParaRPr lang="en-US" altLang="zh-CN" sz="2400" i="0" dirty="0">
                <a:latin typeface="Times New Roman" panose="02020603050405020304" pitchFamily="18" charset="0"/>
              </a:endParaRPr>
            </a:p>
          </p:txBody>
        </p:sp>
        <p:sp>
          <p:nvSpPr>
            <p:cNvPr id="8236" name="Text Box 43">
              <a:extLst>
                <a:ext uri="{FF2B5EF4-FFF2-40B4-BE49-F238E27FC236}">
                  <a16:creationId xmlns:a16="http://schemas.microsoft.com/office/drawing/2014/main" id="{B93955AB-5F93-42CB-BABF-4CC48DD73091}"/>
                </a:ext>
              </a:extLst>
            </p:cNvPr>
            <p:cNvSpPr txBox="1">
              <a:spLocks noChangeArrowheads="1"/>
            </p:cNvSpPr>
            <p:nvPr/>
          </p:nvSpPr>
          <p:spPr bwMode="auto">
            <a:xfrm>
              <a:off x="1620" y="1594"/>
              <a:ext cx="337" cy="3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rgbClr val="FFFFCC"/>
                  </a:solidFill>
                  <a:latin typeface="Arial" panose="020B0604020202020204" pitchFamily="34" charset="0"/>
                </a:rPr>
                <a:t>M</a:t>
              </a:r>
              <a:endParaRPr lang="en-US" altLang="zh-CN" sz="2400" i="0" dirty="0">
                <a:latin typeface="Times New Roman" panose="02020603050405020304" pitchFamily="18" charset="0"/>
              </a:endParaRPr>
            </a:p>
          </p:txBody>
        </p:sp>
        <p:sp>
          <p:nvSpPr>
            <p:cNvPr id="8237" name="Text Box 44">
              <a:extLst>
                <a:ext uri="{FF2B5EF4-FFF2-40B4-BE49-F238E27FC236}">
                  <a16:creationId xmlns:a16="http://schemas.microsoft.com/office/drawing/2014/main" id="{13E4559C-2121-472B-811F-E5E3B1AC4BCE}"/>
                </a:ext>
              </a:extLst>
            </p:cNvPr>
            <p:cNvSpPr txBox="1">
              <a:spLocks noChangeArrowheads="1"/>
            </p:cNvSpPr>
            <p:nvPr/>
          </p:nvSpPr>
          <p:spPr bwMode="auto">
            <a:xfrm>
              <a:off x="2120" y="1066"/>
              <a:ext cx="198" cy="3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rgbClr val="FFFFCC"/>
                  </a:solidFill>
                  <a:latin typeface="Arial" panose="020B0604020202020204" pitchFamily="34" charset="0"/>
                </a:rPr>
                <a:t>I</a:t>
              </a:r>
              <a:endParaRPr lang="en-US" altLang="zh-CN" sz="2400" i="0" dirty="0">
                <a:latin typeface="Times New Roman" panose="02020603050405020304" pitchFamily="18" charset="0"/>
              </a:endParaRPr>
            </a:p>
          </p:txBody>
        </p:sp>
        <p:sp>
          <p:nvSpPr>
            <p:cNvPr id="8238" name="Text Box 45">
              <a:extLst>
                <a:ext uri="{FF2B5EF4-FFF2-40B4-BE49-F238E27FC236}">
                  <a16:creationId xmlns:a16="http://schemas.microsoft.com/office/drawing/2014/main" id="{CB9CC391-5A51-4B26-9B28-04CBF8FA8C3E}"/>
                </a:ext>
              </a:extLst>
            </p:cNvPr>
            <p:cNvSpPr txBox="1">
              <a:spLocks noChangeArrowheads="1"/>
            </p:cNvSpPr>
            <p:nvPr/>
          </p:nvSpPr>
          <p:spPr bwMode="auto">
            <a:xfrm>
              <a:off x="2543" y="1066"/>
              <a:ext cx="268" cy="3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rgbClr val="FFFFCC"/>
                  </a:solidFill>
                  <a:latin typeface="Arial" panose="020B0604020202020204" pitchFamily="34" charset="0"/>
                </a:rPr>
                <a:t>J</a:t>
              </a:r>
              <a:endParaRPr lang="en-US" altLang="zh-CN" sz="2400" i="0" dirty="0">
                <a:latin typeface="Times New Roman" panose="02020603050405020304" pitchFamily="18" charset="0"/>
              </a:endParaRPr>
            </a:p>
          </p:txBody>
        </p:sp>
      </p:grpSp>
      <p:sp>
        <p:nvSpPr>
          <p:cNvPr id="8202" name="Text Box 46">
            <a:extLst>
              <a:ext uri="{FF2B5EF4-FFF2-40B4-BE49-F238E27FC236}">
                <a16:creationId xmlns:a16="http://schemas.microsoft.com/office/drawing/2014/main" id="{1254B56A-21EE-467B-A8E1-9E97478F05A6}"/>
              </a:ext>
            </a:extLst>
          </p:cNvPr>
          <p:cNvSpPr txBox="1">
            <a:spLocks noChangeArrowheads="1"/>
          </p:cNvSpPr>
          <p:nvPr/>
        </p:nvSpPr>
        <p:spPr bwMode="auto">
          <a:xfrm>
            <a:off x="6669796" y="1278673"/>
            <a:ext cx="2317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400" b="1" i="0" dirty="0">
                <a:solidFill>
                  <a:srgbClr val="002C84"/>
                </a:solidFill>
                <a:latin typeface="Times New Roman" panose="02020603050405020304" pitchFamily="18" charset="0"/>
                <a:ea typeface="楷体_GB2312" pitchFamily="1" charset="-122"/>
              </a:rPr>
              <a:t>有13个结点的树</a:t>
            </a:r>
          </a:p>
        </p:txBody>
      </p:sp>
      <p:sp>
        <p:nvSpPr>
          <p:cNvPr id="2" name="Text Box 4">
            <a:extLst>
              <a:ext uri="{FF2B5EF4-FFF2-40B4-BE49-F238E27FC236}">
                <a16:creationId xmlns:a16="http://schemas.microsoft.com/office/drawing/2014/main" id="{C6723561-1416-4535-89DC-72F0C15EC2E1}"/>
              </a:ext>
            </a:extLst>
          </p:cNvPr>
          <p:cNvSpPr txBox="1">
            <a:spLocks noChangeArrowheads="1"/>
          </p:cNvSpPr>
          <p:nvPr/>
        </p:nvSpPr>
        <p:spPr bwMode="auto">
          <a:xfrm>
            <a:off x="457200" y="188640"/>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一、树的定义（举例）</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19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20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20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20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197">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197">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19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9" grpId="0" animBg="1"/>
      <p:bldP spid="8200" grpId="0"/>
      <p:bldP spid="820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Text Box 3">
            <a:extLst>
              <a:ext uri="{FF2B5EF4-FFF2-40B4-BE49-F238E27FC236}">
                <a16:creationId xmlns:a16="http://schemas.microsoft.com/office/drawing/2014/main" id="{6885D25F-94A5-43C7-B523-B9A975EF688A}"/>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514CC84E-A7BC-429B-B54E-8062C5E1A3CC}" type="slidenum">
              <a:rPr lang="zh-CN" altLang="en-US" sz="2400"/>
              <a:pPr algn="r" eaLnBrk="1" hangingPunct="1">
                <a:spcBef>
                  <a:spcPct val="50000"/>
                </a:spcBef>
                <a:buClrTx/>
                <a:buSzTx/>
                <a:buFont typeface="Arial" panose="020B0604020202020204" pitchFamily="34" charset="0"/>
                <a:buNone/>
              </a:pPr>
              <a:t>4</a:t>
            </a:fld>
            <a:endParaRPr lang="en-US" altLang="zh-CN" sz="2400"/>
          </a:p>
        </p:txBody>
      </p:sp>
      <p:sp>
        <p:nvSpPr>
          <p:cNvPr id="9221" name="Rectangle 5">
            <a:extLst>
              <a:ext uri="{FF2B5EF4-FFF2-40B4-BE49-F238E27FC236}">
                <a16:creationId xmlns:a16="http://schemas.microsoft.com/office/drawing/2014/main" id="{090E6393-9F5A-41C9-9545-1373DB087336}"/>
              </a:ext>
            </a:extLst>
          </p:cNvPr>
          <p:cNvSpPr>
            <a:spLocks noGrp="1" noChangeArrowheads="1"/>
          </p:cNvSpPr>
          <p:nvPr>
            <p:ph type="body" idx="1"/>
          </p:nvPr>
        </p:nvSpPr>
        <p:spPr>
          <a:xfrm>
            <a:off x="510714" y="1217746"/>
            <a:ext cx="8763000" cy="4038600"/>
          </a:xfrm>
        </p:spPr>
        <p:txBody>
          <a:bodyPr/>
          <a:lstStyle/>
          <a:p>
            <a:pPr eaLnBrk="1" hangingPunct="1">
              <a:spcBef>
                <a:spcPct val="30000"/>
              </a:spcBef>
            </a:pPr>
            <a:r>
              <a:rPr lang="zh-CN" altLang="en-US" sz="2800" dirty="0">
                <a:solidFill>
                  <a:srgbClr val="CC0066"/>
                </a:solidFill>
                <a:latin typeface="黑体" panose="02010609060101010101" pitchFamily="49" charset="-122"/>
                <a:ea typeface="黑体" panose="02010609060101010101" pitchFamily="49" charset="-122"/>
              </a:rPr>
              <a:t>结点：</a:t>
            </a:r>
            <a:r>
              <a:rPr lang="zh-CN" altLang="en-US" sz="2800" dirty="0">
                <a:latin typeface="黑体" panose="02010609060101010101" pitchFamily="49" charset="-122"/>
                <a:ea typeface="黑体" panose="02010609060101010101" pitchFamily="49" charset="-122"/>
              </a:rPr>
              <a:t>包含一个数据元素及若干指向其子树的分支</a:t>
            </a:r>
          </a:p>
          <a:p>
            <a:pPr eaLnBrk="1" hangingPunct="1">
              <a:spcBef>
                <a:spcPct val="30000"/>
              </a:spcBef>
            </a:pPr>
            <a:r>
              <a:rPr lang="zh-CN" altLang="en-US" sz="2800" dirty="0">
                <a:solidFill>
                  <a:srgbClr val="CC0066"/>
                </a:solidFill>
                <a:latin typeface="黑体" panose="02010609060101010101" pitchFamily="49" charset="-122"/>
                <a:ea typeface="黑体" panose="02010609060101010101" pitchFamily="49" charset="-122"/>
              </a:rPr>
              <a:t>结点的度：</a:t>
            </a:r>
            <a:r>
              <a:rPr lang="zh-CN" altLang="en-US" sz="2800" dirty="0">
                <a:latin typeface="黑体" panose="02010609060101010101" pitchFamily="49" charset="-122"/>
                <a:ea typeface="黑体" panose="02010609060101010101" pitchFamily="49" charset="-122"/>
              </a:rPr>
              <a:t>结点拥有的子树数</a:t>
            </a:r>
          </a:p>
          <a:p>
            <a:pPr eaLnBrk="1" hangingPunct="1">
              <a:spcBef>
                <a:spcPct val="30000"/>
              </a:spcBef>
            </a:pPr>
            <a:r>
              <a:rPr lang="zh-CN" altLang="en-US" sz="2800" dirty="0">
                <a:solidFill>
                  <a:srgbClr val="CC0066"/>
                </a:solidFill>
                <a:latin typeface="黑体" panose="02010609060101010101" pitchFamily="49" charset="-122"/>
                <a:ea typeface="黑体" panose="02010609060101010101" pitchFamily="49" charset="-122"/>
              </a:rPr>
              <a:t>叶结点或终端结点：</a:t>
            </a:r>
            <a:r>
              <a:rPr lang="zh-CN" altLang="en-US" sz="2800" dirty="0">
                <a:latin typeface="黑体" panose="02010609060101010101" pitchFamily="49" charset="-122"/>
                <a:ea typeface="黑体" panose="02010609060101010101" pitchFamily="49" charset="-122"/>
              </a:rPr>
              <a:t>度为0的结点[没有子树的结点]</a:t>
            </a:r>
            <a:endParaRPr lang="en-US" altLang="zh-CN" sz="2800" dirty="0">
              <a:latin typeface="黑体" panose="02010609060101010101" pitchFamily="49" charset="-122"/>
              <a:ea typeface="黑体" panose="02010609060101010101" pitchFamily="49" charset="-122"/>
            </a:endParaRPr>
          </a:p>
          <a:p>
            <a:pPr eaLnBrk="1" hangingPunct="1">
              <a:spcBef>
                <a:spcPct val="30000"/>
              </a:spcBef>
            </a:pPr>
            <a:r>
              <a:rPr lang="zh-CN" altLang="en-US" sz="2800" dirty="0">
                <a:solidFill>
                  <a:srgbClr val="CC0066"/>
                </a:solidFill>
                <a:latin typeface="黑体" panose="02010609060101010101" pitchFamily="49" charset="-122"/>
                <a:ea typeface="黑体" panose="02010609060101010101" pitchFamily="49" charset="-122"/>
              </a:rPr>
              <a:t>分支结点：</a:t>
            </a:r>
            <a:r>
              <a:rPr lang="zh-CN" altLang="en-US" sz="2800" dirty="0">
                <a:latin typeface="黑体" panose="02010609060101010101" pitchFamily="49" charset="-122"/>
                <a:ea typeface="黑体" panose="02010609060101010101" pitchFamily="49" charset="-122"/>
              </a:rPr>
              <a:t>度不为0的结点</a:t>
            </a:r>
            <a:endParaRPr lang="en-US" altLang="zh-CN" sz="2800" dirty="0">
              <a:latin typeface="黑体" panose="02010609060101010101" pitchFamily="49" charset="-122"/>
              <a:ea typeface="黑体" panose="02010609060101010101" pitchFamily="49" charset="-122"/>
            </a:endParaRPr>
          </a:p>
          <a:p>
            <a:pPr marL="0" indent="0" eaLnBrk="1" hangingPunct="1">
              <a:spcBef>
                <a:spcPct val="30000"/>
              </a:spcBef>
              <a:buNone/>
            </a:pPr>
            <a:r>
              <a:rPr lang="en-US" altLang="zh-CN" dirty="0">
                <a:latin typeface="黑体" panose="02010609060101010101" pitchFamily="49" charset="-122"/>
                <a:ea typeface="黑体" panose="02010609060101010101" pitchFamily="49" charset="-122"/>
              </a:rPr>
              <a:t>  </a:t>
            </a:r>
            <a:r>
              <a:rPr lang="zh-CN" altLang="en-US" sz="2800" dirty="0">
                <a:latin typeface="黑体" panose="02010609060101010101" pitchFamily="49" charset="-122"/>
                <a:ea typeface="黑体" panose="02010609060101010101" pitchFamily="49" charset="-122"/>
              </a:rPr>
              <a:t>[包括根结点]，</a:t>
            </a:r>
          </a:p>
          <a:p>
            <a:pPr eaLnBrk="1" hangingPunct="1">
              <a:spcBef>
                <a:spcPct val="0"/>
              </a:spcBef>
              <a:buFont typeface="Wingdings" panose="05000000000000000000" pitchFamily="2" charset="2"/>
              <a:buNone/>
            </a:pPr>
            <a:r>
              <a:rPr lang="zh-CN" altLang="en-US" sz="2800" dirty="0">
                <a:latin typeface="黑体" panose="02010609060101010101" pitchFamily="49" charset="-122"/>
                <a:ea typeface="黑体" panose="02010609060101010101" pitchFamily="49" charset="-122"/>
              </a:rPr>
              <a:t>　也称为非终端结点。</a:t>
            </a:r>
          </a:p>
          <a:p>
            <a:pPr eaLnBrk="1" hangingPunct="1">
              <a:spcBef>
                <a:spcPct val="0"/>
              </a:spcBef>
              <a:buFont typeface="Wingdings" panose="05000000000000000000" pitchFamily="2" charset="2"/>
              <a:buNone/>
            </a:pPr>
            <a:r>
              <a:rPr lang="zh-CN" altLang="en-US" sz="2800" dirty="0">
                <a:latin typeface="黑体" panose="02010609060101010101" pitchFamily="49" charset="-122"/>
                <a:ea typeface="黑体" panose="02010609060101010101" pitchFamily="49" charset="-122"/>
              </a:rPr>
              <a:t>　除根外称为内部结点</a:t>
            </a:r>
            <a:endParaRPr lang="en-US" altLang="zh-CN" sz="2800" dirty="0">
              <a:latin typeface="黑体" panose="02010609060101010101" pitchFamily="49" charset="-122"/>
              <a:ea typeface="黑体" panose="02010609060101010101" pitchFamily="49" charset="-122"/>
            </a:endParaRPr>
          </a:p>
        </p:txBody>
      </p:sp>
      <p:grpSp>
        <p:nvGrpSpPr>
          <p:cNvPr id="9223" name="Group 7">
            <a:extLst>
              <a:ext uri="{FF2B5EF4-FFF2-40B4-BE49-F238E27FC236}">
                <a16:creationId xmlns:a16="http://schemas.microsoft.com/office/drawing/2014/main" id="{D20E1892-1690-4411-9EF2-1ED4B25312A6}"/>
              </a:ext>
            </a:extLst>
          </p:cNvPr>
          <p:cNvGrpSpPr>
            <a:grpSpLocks/>
          </p:cNvGrpSpPr>
          <p:nvPr/>
        </p:nvGrpSpPr>
        <p:grpSpPr bwMode="auto">
          <a:xfrm>
            <a:off x="4443536" y="4077072"/>
            <a:ext cx="4953000" cy="2439988"/>
            <a:chOff x="0" y="0"/>
            <a:chExt cx="3389" cy="1682"/>
          </a:xfrm>
        </p:grpSpPr>
        <p:sp>
          <p:nvSpPr>
            <p:cNvPr id="9224" name="Line 8">
              <a:extLst>
                <a:ext uri="{FF2B5EF4-FFF2-40B4-BE49-F238E27FC236}">
                  <a16:creationId xmlns:a16="http://schemas.microsoft.com/office/drawing/2014/main" id="{EAAA563C-D354-460A-839C-805D6B838183}"/>
                </a:ext>
              </a:extLst>
            </p:cNvPr>
            <p:cNvSpPr>
              <a:spLocks noChangeShapeType="1"/>
            </p:cNvSpPr>
            <p:nvPr/>
          </p:nvSpPr>
          <p:spPr bwMode="auto">
            <a:xfrm>
              <a:off x="2005" y="722"/>
              <a:ext cx="246" cy="292"/>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5" name="Line 9">
              <a:extLst>
                <a:ext uri="{FF2B5EF4-FFF2-40B4-BE49-F238E27FC236}">
                  <a16:creationId xmlns:a16="http://schemas.microsoft.com/office/drawing/2014/main" id="{374D9AC9-8736-4561-84A6-87391C5D0168}"/>
                </a:ext>
              </a:extLst>
            </p:cNvPr>
            <p:cNvSpPr>
              <a:spLocks noChangeShapeType="1"/>
            </p:cNvSpPr>
            <p:nvPr/>
          </p:nvSpPr>
          <p:spPr bwMode="auto">
            <a:xfrm flipH="1">
              <a:off x="1555" y="722"/>
              <a:ext cx="246" cy="25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6" name="Line 10">
              <a:extLst>
                <a:ext uri="{FF2B5EF4-FFF2-40B4-BE49-F238E27FC236}">
                  <a16:creationId xmlns:a16="http://schemas.microsoft.com/office/drawing/2014/main" id="{3DD66B18-87E4-49E6-B0BC-937F3EFE16C9}"/>
                </a:ext>
              </a:extLst>
            </p:cNvPr>
            <p:cNvSpPr>
              <a:spLocks noChangeShapeType="1"/>
            </p:cNvSpPr>
            <p:nvPr/>
          </p:nvSpPr>
          <p:spPr bwMode="auto">
            <a:xfrm>
              <a:off x="1883" y="764"/>
              <a:ext cx="0" cy="20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7" name="Line 11">
              <a:extLst>
                <a:ext uri="{FF2B5EF4-FFF2-40B4-BE49-F238E27FC236}">
                  <a16:creationId xmlns:a16="http://schemas.microsoft.com/office/drawing/2014/main" id="{949A0353-04C7-4CB5-BA8E-6B4D5861C782}"/>
                </a:ext>
              </a:extLst>
            </p:cNvPr>
            <p:cNvSpPr>
              <a:spLocks noChangeShapeType="1"/>
            </p:cNvSpPr>
            <p:nvPr/>
          </p:nvSpPr>
          <p:spPr bwMode="auto">
            <a:xfrm>
              <a:off x="1555" y="1223"/>
              <a:ext cx="0" cy="25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8" name="Line 12">
              <a:extLst>
                <a:ext uri="{FF2B5EF4-FFF2-40B4-BE49-F238E27FC236}">
                  <a16:creationId xmlns:a16="http://schemas.microsoft.com/office/drawing/2014/main" id="{8E9F8575-D265-4E66-9C86-56CAF6EF1258}"/>
                </a:ext>
              </a:extLst>
            </p:cNvPr>
            <p:cNvSpPr>
              <a:spLocks noChangeShapeType="1"/>
            </p:cNvSpPr>
            <p:nvPr/>
          </p:nvSpPr>
          <p:spPr bwMode="auto">
            <a:xfrm>
              <a:off x="1269" y="221"/>
              <a:ext cx="573" cy="33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9" name="Line 13">
              <a:extLst>
                <a:ext uri="{FF2B5EF4-FFF2-40B4-BE49-F238E27FC236}">
                  <a16:creationId xmlns:a16="http://schemas.microsoft.com/office/drawing/2014/main" id="{6DC5DD05-F928-463F-964F-ED00865DC35E}"/>
                </a:ext>
              </a:extLst>
            </p:cNvPr>
            <p:cNvSpPr>
              <a:spLocks noChangeShapeType="1"/>
            </p:cNvSpPr>
            <p:nvPr/>
          </p:nvSpPr>
          <p:spPr bwMode="auto">
            <a:xfrm flipH="1">
              <a:off x="573" y="221"/>
              <a:ext cx="491" cy="33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30" name="Line 14">
              <a:extLst>
                <a:ext uri="{FF2B5EF4-FFF2-40B4-BE49-F238E27FC236}">
                  <a16:creationId xmlns:a16="http://schemas.microsoft.com/office/drawing/2014/main" id="{5A6B4523-2DDF-4B69-A0EA-BC50C7ED049A}"/>
                </a:ext>
              </a:extLst>
            </p:cNvPr>
            <p:cNvSpPr>
              <a:spLocks noChangeShapeType="1"/>
            </p:cNvSpPr>
            <p:nvPr/>
          </p:nvSpPr>
          <p:spPr bwMode="auto">
            <a:xfrm>
              <a:off x="1187" y="263"/>
              <a:ext cx="0" cy="96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31" name="Line 15">
              <a:extLst>
                <a:ext uri="{FF2B5EF4-FFF2-40B4-BE49-F238E27FC236}">
                  <a16:creationId xmlns:a16="http://schemas.microsoft.com/office/drawing/2014/main" id="{6F1DCDF7-54C6-4A45-831C-41A3C0587E91}"/>
                </a:ext>
              </a:extLst>
            </p:cNvPr>
            <p:cNvSpPr>
              <a:spLocks noChangeShapeType="1"/>
            </p:cNvSpPr>
            <p:nvPr/>
          </p:nvSpPr>
          <p:spPr bwMode="auto">
            <a:xfrm>
              <a:off x="614" y="722"/>
              <a:ext cx="123" cy="292"/>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32" name="Line 16">
              <a:extLst>
                <a:ext uri="{FF2B5EF4-FFF2-40B4-BE49-F238E27FC236}">
                  <a16:creationId xmlns:a16="http://schemas.microsoft.com/office/drawing/2014/main" id="{F9CB61E9-B053-466B-87ED-5F84E2EF7D7D}"/>
                </a:ext>
              </a:extLst>
            </p:cNvPr>
            <p:cNvSpPr>
              <a:spLocks noChangeShapeType="1"/>
            </p:cNvSpPr>
            <p:nvPr/>
          </p:nvSpPr>
          <p:spPr bwMode="auto">
            <a:xfrm>
              <a:off x="409" y="1181"/>
              <a:ext cx="123" cy="251"/>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33" name="Line 17">
              <a:extLst>
                <a:ext uri="{FF2B5EF4-FFF2-40B4-BE49-F238E27FC236}">
                  <a16:creationId xmlns:a16="http://schemas.microsoft.com/office/drawing/2014/main" id="{5F4D23CE-B81C-48F6-9AD1-7323B4694F1E}"/>
                </a:ext>
              </a:extLst>
            </p:cNvPr>
            <p:cNvSpPr>
              <a:spLocks noChangeShapeType="1"/>
            </p:cNvSpPr>
            <p:nvPr/>
          </p:nvSpPr>
          <p:spPr bwMode="auto">
            <a:xfrm flipH="1">
              <a:off x="123" y="722"/>
              <a:ext cx="368" cy="835"/>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34" name="Oval 18">
              <a:extLst>
                <a:ext uri="{FF2B5EF4-FFF2-40B4-BE49-F238E27FC236}">
                  <a16:creationId xmlns:a16="http://schemas.microsoft.com/office/drawing/2014/main" id="{3D6F5CFC-8DC1-4F65-9032-774DE2C60CBB}"/>
                </a:ext>
              </a:extLst>
            </p:cNvPr>
            <p:cNvSpPr>
              <a:spLocks noChangeArrowheads="1"/>
            </p:cNvSpPr>
            <p:nvPr/>
          </p:nvSpPr>
          <p:spPr bwMode="auto">
            <a:xfrm>
              <a:off x="1023" y="12"/>
              <a:ext cx="287" cy="292"/>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9235" name="Line 19">
              <a:extLst>
                <a:ext uri="{FF2B5EF4-FFF2-40B4-BE49-F238E27FC236}">
                  <a16:creationId xmlns:a16="http://schemas.microsoft.com/office/drawing/2014/main" id="{C9153D4D-9591-4550-9FF8-7311DD5F19D6}"/>
                </a:ext>
              </a:extLst>
            </p:cNvPr>
            <p:cNvSpPr>
              <a:spLocks noChangeShapeType="1"/>
            </p:cNvSpPr>
            <p:nvPr/>
          </p:nvSpPr>
          <p:spPr bwMode="auto">
            <a:xfrm>
              <a:off x="1637" y="137"/>
              <a:ext cx="1146" cy="0"/>
            </a:xfrm>
            <a:prstGeom prst="line">
              <a:avLst/>
            </a:prstGeom>
            <a:noFill/>
            <a:ln w="28575">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36" name="Oval 20">
              <a:extLst>
                <a:ext uri="{FF2B5EF4-FFF2-40B4-BE49-F238E27FC236}">
                  <a16:creationId xmlns:a16="http://schemas.microsoft.com/office/drawing/2014/main" id="{B8B1CE3C-A5C2-4740-8BC8-D7E88249E98A}"/>
                </a:ext>
              </a:extLst>
            </p:cNvPr>
            <p:cNvSpPr>
              <a:spLocks noChangeArrowheads="1"/>
            </p:cNvSpPr>
            <p:nvPr/>
          </p:nvSpPr>
          <p:spPr bwMode="auto">
            <a:xfrm>
              <a:off x="409" y="471"/>
              <a:ext cx="287" cy="293"/>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9237" name="Oval 21">
              <a:extLst>
                <a:ext uri="{FF2B5EF4-FFF2-40B4-BE49-F238E27FC236}">
                  <a16:creationId xmlns:a16="http://schemas.microsoft.com/office/drawing/2014/main" id="{F49E5A16-6FC8-4542-B25F-DDF468883C3C}"/>
                </a:ext>
              </a:extLst>
            </p:cNvPr>
            <p:cNvSpPr>
              <a:spLocks noChangeArrowheads="1"/>
            </p:cNvSpPr>
            <p:nvPr/>
          </p:nvSpPr>
          <p:spPr bwMode="auto">
            <a:xfrm>
              <a:off x="1023" y="471"/>
              <a:ext cx="287" cy="293"/>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9238" name="Oval 22">
              <a:extLst>
                <a:ext uri="{FF2B5EF4-FFF2-40B4-BE49-F238E27FC236}">
                  <a16:creationId xmlns:a16="http://schemas.microsoft.com/office/drawing/2014/main" id="{4D4E6B78-99C9-414C-9A0F-BF9F86BBEA24}"/>
                </a:ext>
              </a:extLst>
            </p:cNvPr>
            <p:cNvSpPr>
              <a:spLocks noChangeArrowheads="1"/>
            </p:cNvSpPr>
            <p:nvPr/>
          </p:nvSpPr>
          <p:spPr bwMode="auto">
            <a:xfrm>
              <a:off x="1760" y="471"/>
              <a:ext cx="286" cy="293"/>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9239" name="Oval 23">
              <a:extLst>
                <a:ext uri="{FF2B5EF4-FFF2-40B4-BE49-F238E27FC236}">
                  <a16:creationId xmlns:a16="http://schemas.microsoft.com/office/drawing/2014/main" id="{773C9073-9016-4223-9465-E1726E70D61B}"/>
                </a:ext>
              </a:extLst>
            </p:cNvPr>
            <p:cNvSpPr>
              <a:spLocks noChangeArrowheads="1"/>
            </p:cNvSpPr>
            <p:nvPr/>
          </p:nvSpPr>
          <p:spPr bwMode="auto">
            <a:xfrm>
              <a:off x="205" y="931"/>
              <a:ext cx="286" cy="292"/>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9240" name="Oval 24">
              <a:extLst>
                <a:ext uri="{FF2B5EF4-FFF2-40B4-BE49-F238E27FC236}">
                  <a16:creationId xmlns:a16="http://schemas.microsoft.com/office/drawing/2014/main" id="{752A7A71-D349-479E-ABE7-910060E15FE1}"/>
                </a:ext>
              </a:extLst>
            </p:cNvPr>
            <p:cNvSpPr>
              <a:spLocks noChangeArrowheads="1"/>
            </p:cNvSpPr>
            <p:nvPr/>
          </p:nvSpPr>
          <p:spPr bwMode="auto">
            <a:xfrm>
              <a:off x="573" y="931"/>
              <a:ext cx="286" cy="292"/>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9241" name="Oval 25">
              <a:extLst>
                <a:ext uri="{FF2B5EF4-FFF2-40B4-BE49-F238E27FC236}">
                  <a16:creationId xmlns:a16="http://schemas.microsoft.com/office/drawing/2014/main" id="{020CAFF3-F35A-4010-A28E-E60CD72CBE81}"/>
                </a:ext>
              </a:extLst>
            </p:cNvPr>
            <p:cNvSpPr>
              <a:spLocks noChangeArrowheads="1"/>
            </p:cNvSpPr>
            <p:nvPr/>
          </p:nvSpPr>
          <p:spPr bwMode="auto">
            <a:xfrm>
              <a:off x="1023" y="931"/>
              <a:ext cx="287" cy="292"/>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9242" name="Oval 26">
              <a:extLst>
                <a:ext uri="{FF2B5EF4-FFF2-40B4-BE49-F238E27FC236}">
                  <a16:creationId xmlns:a16="http://schemas.microsoft.com/office/drawing/2014/main" id="{E175E3E0-C103-4CAF-BB14-CF1D69C3FFC0}"/>
                </a:ext>
              </a:extLst>
            </p:cNvPr>
            <p:cNvSpPr>
              <a:spLocks noChangeArrowheads="1"/>
            </p:cNvSpPr>
            <p:nvPr/>
          </p:nvSpPr>
          <p:spPr bwMode="auto">
            <a:xfrm>
              <a:off x="1391" y="931"/>
              <a:ext cx="287" cy="292"/>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9243" name="Oval 27">
              <a:extLst>
                <a:ext uri="{FF2B5EF4-FFF2-40B4-BE49-F238E27FC236}">
                  <a16:creationId xmlns:a16="http://schemas.microsoft.com/office/drawing/2014/main" id="{10318D7E-E4DF-48E5-A4EC-6D3DA791992C}"/>
                </a:ext>
              </a:extLst>
            </p:cNvPr>
            <p:cNvSpPr>
              <a:spLocks noChangeArrowheads="1"/>
            </p:cNvSpPr>
            <p:nvPr/>
          </p:nvSpPr>
          <p:spPr bwMode="auto">
            <a:xfrm>
              <a:off x="1760" y="931"/>
              <a:ext cx="286" cy="292"/>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9244" name="Oval 28">
              <a:extLst>
                <a:ext uri="{FF2B5EF4-FFF2-40B4-BE49-F238E27FC236}">
                  <a16:creationId xmlns:a16="http://schemas.microsoft.com/office/drawing/2014/main" id="{C9E0B217-0608-48AE-B7BA-C78B7112F4A3}"/>
                </a:ext>
              </a:extLst>
            </p:cNvPr>
            <p:cNvSpPr>
              <a:spLocks noChangeArrowheads="1"/>
            </p:cNvSpPr>
            <p:nvPr/>
          </p:nvSpPr>
          <p:spPr bwMode="auto">
            <a:xfrm>
              <a:off x="2128" y="931"/>
              <a:ext cx="287" cy="292"/>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9245" name="Oval 29">
              <a:extLst>
                <a:ext uri="{FF2B5EF4-FFF2-40B4-BE49-F238E27FC236}">
                  <a16:creationId xmlns:a16="http://schemas.microsoft.com/office/drawing/2014/main" id="{E507E5DD-5ADB-40D9-85E2-0C8B77431873}"/>
                </a:ext>
              </a:extLst>
            </p:cNvPr>
            <p:cNvSpPr>
              <a:spLocks noChangeArrowheads="1"/>
            </p:cNvSpPr>
            <p:nvPr/>
          </p:nvSpPr>
          <p:spPr bwMode="auto">
            <a:xfrm>
              <a:off x="0" y="1390"/>
              <a:ext cx="286" cy="292"/>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9246" name="Oval 30">
              <a:extLst>
                <a:ext uri="{FF2B5EF4-FFF2-40B4-BE49-F238E27FC236}">
                  <a16:creationId xmlns:a16="http://schemas.microsoft.com/office/drawing/2014/main" id="{651173BC-2CFD-44A3-9442-697D77CCBE6C}"/>
                </a:ext>
              </a:extLst>
            </p:cNvPr>
            <p:cNvSpPr>
              <a:spLocks noChangeArrowheads="1"/>
            </p:cNvSpPr>
            <p:nvPr/>
          </p:nvSpPr>
          <p:spPr bwMode="auto">
            <a:xfrm>
              <a:off x="409" y="1390"/>
              <a:ext cx="287" cy="292"/>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9247" name="Oval 31">
              <a:extLst>
                <a:ext uri="{FF2B5EF4-FFF2-40B4-BE49-F238E27FC236}">
                  <a16:creationId xmlns:a16="http://schemas.microsoft.com/office/drawing/2014/main" id="{86D64525-311C-436F-AF0C-AB3F63DAC1B8}"/>
                </a:ext>
              </a:extLst>
            </p:cNvPr>
            <p:cNvSpPr>
              <a:spLocks noChangeArrowheads="1"/>
            </p:cNvSpPr>
            <p:nvPr/>
          </p:nvSpPr>
          <p:spPr bwMode="auto">
            <a:xfrm>
              <a:off x="1391" y="1390"/>
              <a:ext cx="287" cy="292"/>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9248" name="Line 32">
              <a:extLst>
                <a:ext uri="{FF2B5EF4-FFF2-40B4-BE49-F238E27FC236}">
                  <a16:creationId xmlns:a16="http://schemas.microsoft.com/office/drawing/2014/main" id="{B9AEDA16-FCC4-4BA0-831B-A635EBED5CB9}"/>
                </a:ext>
              </a:extLst>
            </p:cNvPr>
            <p:cNvSpPr>
              <a:spLocks noChangeShapeType="1"/>
            </p:cNvSpPr>
            <p:nvPr/>
          </p:nvSpPr>
          <p:spPr bwMode="auto">
            <a:xfrm>
              <a:off x="2169" y="597"/>
              <a:ext cx="614" cy="0"/>
            </a:xfrm>
            <a:prstGeom prst="line">
              <a:avLst/>
            </a:prstGeom>
            <a:noFill/>
            <a:ln w="28575">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9" name="Line 33">
              <a:extLst>
                <a:ext uri="{FF2B5EF4-FFF2-40B4-BE49-F238E27FC236}">
                  <a16:creationId xmlns:a16="http://schemas.microsoft.com/office/drawing/2014/main" id="{36101B06-30FE-4B3A-AF1C-2D6297F8797E}"/>
                </a:ext>
              </a:extLst>
            </p:cNvPr>
            <p:cNvSpPr>
              <a:spLocks noChangeShapeType="1"/>
            </p:cNvSpPr>
            <p:nvPr/>
          </p:nvSpPr>
          <p:spPr bwMode="auto">
            <a:xfrm>
              <a:off x="2408" y="1075"/>
              <a:ext cx="368" cy="0"/>
            </a:xfrm>
            <a:prstGeom prst="line">
              <a:avLst/>
            </a:prstGeom>
            <a:noFill/>
            <a:ln w="28575">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0" name="Line 34">
              <a:extLst>
                <a:ext uri="{FF2B5EF4-FFF2-40B4-BE49-F238E27FC236}">
                  <a16:creationId xmlns:a16="http://schemas.microsoft.com/office/drawing/2014/main" id="{8DA70BED-A36A-4C96-B717-1626225A7535}"/>
                </a:ext>
              </a:extLst>
            </p:cNvPr>
            <p:cNvSpPr>
              <a:spLocks noChangeShapeType="1"/>
            </p:cNvSpPr>
            <p:nvPr/>
          </p:nvSpPr>
          <p:spPr bwMode="auto">
            <a:xfrm>
              <a:off x="1801" y="1515"/>
              <a:ext cx="982" cy="0"/>
            </a:xfrm>
            <a:prstGeom prst="line">
              <a:avLst/>
            </a:prstGeom>
            <a:noFill/>
            <a:ln w="28575">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1" name="Text Box 35">
              <a:extLst>
                <a:ext uri="{FF2B5EF4-FFF2-40B4-BE49-F238E27FC236}">
                  <a16:creationId xmlns:a16="http://schemas.microsoft.com/office/drawing/2014/main" id="{1C2DB805-8E53-44E8-B186-51883B1A9F6A}"/>
                </a:ext>
              </a:extLst>
            </p:cNvPr>
            <p:cNvSpPr txBox="1">
              <a:spLocks noChangeArrowheads="1"/>
            </p:cNvSpPr>
            <p:nvPr/>
          </p:nvSpPr>
          <p:spPr bwMode="auto">
            <a:xfrm>
              <a:off x="2530" y="0"/>
              <a:ext cx="386" cy="274"/>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000">
                  <a:solidFill>
                    <a:schemeClr val="tx2"/>
                  </a:solidFill>
                  <a:latin typeface="Times New Roman" panose="02020603050405020304" pitchFamily="18" charset="0"/>
                </a:rPr>
                <a:t>1</a:t>
              </a:r>
              <a:r>
                <a:rPr lang="zh-CN" altLang="en-US" sz="2000">
                  <a:solidFill>
                    <a:schemeClr val="tx2"/>
                  </a:solidFill>
                  <a:latin typeface="Times New Roman" panose="02020603050405020304" pitchFamily="18" charset="0"/>
                  <a:ea typeface="隶书" panose="02010509060101010101" pitchFamily="49" charset="-122"/>
                </a:rPr>
                <a:t>层</a:t>
              </a:r>
              <a:endParaRPr lang="zh-CN" altLang="en-US" sz="2000">
                <a:latin typeface="Times New Roman" panose="02020603050405020304" pitchFamily="18" charset="0"/>
              </a:endParaRPr>
            </a:p>
          </p:txBody>
        </p:sp>
        <p:sp>
          <p:nvSpPr>
            <p:cNvPr id="9252" name="Text Box 36">
              <a:extLst>
                <a:ext uri="{FF2B5EF4-FFF2-40B4-BE49-F238E27FC236}">
                  <a16:creationId xmlns:a16="http://schemas.microsoft.com/office/drawing/2014/main" id="{3021A4BE-B00D-469F-9A6D-62EF759B7F27}"/>
                </a:ext>
              </a:extLst>
            </p:cNvPr>
            <p:cNvSpPr txBox="1">
              <a:spLocks noChangeArrowheads="1"/>
            </p:cNvSpPr>
            <p:nvPr/>
          </p:nvSpPr>
          <p:spPr bwMode="auto">
            <a:xfrm>
              <a:off x="2530" y="452"/>
              <a:ext cx="386" cy="274"/>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000">
                  <a:solidFill>
                    <a:schemeClr val="tx2"/>
                  </a:solidFill>
                  <a:latin typeface="Times New Roman" panose="02020603050405020304" pitchFamily="18" charset="0"/>
                </a:rPr>
                <a:t>2</a:t>
              </a:r>
              <a:r>
                <a:rPr lang="zh-CN" altLang="en-US" sz="2000">
                  <a:solidFill>
                    <a:schemeClr val="tx2"/>
                  </a:solidFill>
                  <a:latin typeface="Times New Roman" panose="02020603050405020304" pitchFamily="18" charset="0"/>
                  <a:ea typeface="隶书" panose="02010509060101010101" pitchFamily="49" charset="-122"/>
                </a:rPr>
                <a:t>层</a:t>
              </a:r>
              <a:endParaRPr lang="zh-CN" altLang="en-US" sz="2000">
                <a:latin typeface="Times New Roman" panose="02020603050405020304" pitchFamily="18" charset="0"/>
              </a:endParaRPr>
            </a:p>
          </p:txBody>
        </p:sp>
        <p:sp>
          <p:nvSpPr>
            <p:cNvPr id="9253" name="Text Box 37">
              <a:extLst>
                <a:ext uri="{FF2B5EF4-FFF2-40B4-BE49-F238E27FC236}">
                  <a16:creationId xmlns:a16="http://schemas.microsoft.com/office/drawing/2014/main" id="{73BA344D-5A54-4837-84F4-9C44E7604B58}"/>
                </a:ext>
              </a:extLst>
            </p:cNvPr>
            <p:cNvSpPr txBox="1">
              <a:spLocks noChangeArrowheads="1"/>
            </p:cNvSpPr>
            <p:nvPr/>
          </p:nvSpPr>
          <p:spPr bwMode="auto">
            <a:xfrm>
              <a:off x="2512" y="1370"/>
              <a:ext cx="387" cy="274"/>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000">
                  <a:solidFill>
                    <a:schemeClr val="tx2"/>
                  </a:solidFill>
                  <a:latin typeface="Times New Roman" panose="02020603050405020304" pitchFamily="18" charset="0"/>
                  <a:ea typeface="隶书" panose="02010509060101010101" pitchFamily="49" charset="-122"/>
                </a:rPr>
                <a:t>4层</a:t>
              </a:r>
              <a:endParaRPr lang="zh-CN" altLang="en-US" sz="2000">
                <a:latin typeface="Times New Roman" panose="02020603050405020304" pitchFamily="18" charset="0"/>
              </a:endParaRPr>
            </a:p>
          </p:txBody>
        </p:sp>
        <p:sp>
          <p:nvSpPr>
            <p:cNvPr id="9254" name="Text Box 38">
              <a:extLst>
                <a:ext uri="{FF2B5EF4-FFF2-40B4-BE49-F238E27FC236}">
                  <a16:creationId xmlns:a16="http://schemas.microsoft.com/office/drawing/2014/main" id="{C4B2EDFF-13A6-49BB-B6A5-3D73004ECF08}"/>
                </a:ext>
              </a:extLst>
            </p:cNvPr>
            <p:cNvSpPr txBox="1">
              <a:spLocks noChangeArrowheads="1"/>
            </p:cNvSpPr>
            <p:nvPr/>
          </p:nvSpPr>
          <p:spPr bwMode="auto">
            <a:xfrm>
              <a:off x="2530" y="910"/>
              <a:ext cx="386" cy="274"/>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000">
                  <a:solidFill>
                    <a:schemeClr val="tx2"/>
                  </a:solidFill>
                  <a:latin typeface="Times New Roman" panose="02020603050405020304" pitchFamily="18" charset="0"/>
                  <a:ea typeface="隶书" panose="02010509060101010101" pitchFamily="49" charset="-122"/>
                </a:rPr>
                <a:t>3层</a:t>
              </a:r>
              <a:endParaRPr lang="zh-CN" altLang="en-US" sz="2000">
                <a:latin typeface="Times New Roman" panose="02020603050405020304" pitchFamily="18" charset="0"/>
              </a:endParaRPr>
            </a:p>
          </p:txBody>
        </p:sp>
        <p:sp>
          <p:nvSpPr>
            <p:cNvPr id="9255" name="Text Box 39">
              <a:extLst>
                <a:ext uri="{FF2B5EF4-FFF2-40B4-BE49-F238E27FC236}">
                  <a16:creationId xmlns:a16="http://schemas.microsoft.com/office/drawing/2014/main" id="{654ECB35-B3C1-4C06-B77D-DC4BA4E4B9A4}"/>
                </a:ext>
              </a:extLst>
            </p:cNvPr>
            <p:cNvSpPr txBox="1">
              <a:spLocks noChangeArrowheads="1"/>
            </p:cNvSpPr>
            <p:nvPr/>
          </p:nvSpPr>
          <p:spPr bwMode="auto">
            <a:xfrm>
              <a:off x="2736" y="638"/>
              <a:ext cx="653" cy="4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lnSpc>
                  <a:spcPct val="80000"/>
                </a:lnSpc>
                <a:spcBef>
                  <a:spcPct val="0"/>
                </a:spcBef>
                <a:buClrTx/>
                <a:buSzTx/>
                <a:buFont typeface="Arial" panose="020B0604020202020204" pitchFamily="34" charset="0"/>
                <a:buNone/>
              </a:pPr>
              <a:r>
                <a:rPr lang="en-US" altLang="zh-CN" sz="2000" b="1">
                  <a:solidFill>
                    <a:srgbClr val="CC0066"/>
                  </a:solidFill>
                  <a:latin typeface="Times New Roman" panose="02020603050405020304" pitchFamily="18" charset="0"/>
                </a:rPr>
                <a:t>Height</a:t>
              </a:r>
            </a:p>
            <a:p>
              <a:pPr algn="ctr" eaLnBrk="1" hangingPunct="1">
                <a:lnSpc>
                  <a:spcPct val="80000"/>
                </a:lnSpc>
                <a:spcBef>
                  <a:spcPct val="0"/>
                </a:spcBef>
                <a:buClrTx/>
                <a:buSzTx/>
                <a:buFont typeface="Arial" panose="020B0604020202020204" pitchFamily="34" charset="0"/>
                <a:buNone/>
              </a:pPr>
              <a:r>
                <a:rPr lang="en-US" altLang="zh-CN" sz="2000" b="1">
                  <a:solidFill>
                    <a:srgbClr val="CC0066"/>
                  </a:solidFill>
                  <a:latin typeface="Times New Roman" panose="02020603050405020304" pitchFamily="18" charset="0"/>
                </a:rPr>
                <a:t>= 4</a:t>
              </a:r>
              <a:endParaRPr lang="en-US" altLang="zh-CN" sz="2000">
                <a:solidFill>
                  <a:srgbClr val="CC0066"/>
                </a:solidFill>
                <a:latin typeface="Times New Roman" panose="02020603050405020304" pitchFamily="18" charset="0"/>
              </a:endParaRPr>
            </a:p>
          </p:txBody>
        </p:sp>
        <p:sp>
          <p:nvSpPr>
            <p:cNvPr id="9256" name="Line 40">
              <a:extLst>
                <a:ext uri="{FF2B5EF4-FFF2-40B4-BE49-F238E27FC236}">
                  <a16:creationId xmlns:a16="http://schemas.microsoft.com/office/drawing/2014/main" id="{C80BB5C0-9C92-4A84-ABBD-A032B4E93838}"/>
                </a:ext>
              </a:extLst>
            </p:cNvPr>
            <p:cNvSpPr>
              <a:spLocks noChangeShapeType="1"/>
            </p:cNvSpPr>
            <p:nvPr/>
          </p:nvSpPr>
          <p:spPr bwMode="auto">
            <a:xfrm>
              <a:off x="2990" y="79"/>
              <a:ext cx="164" cy="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7" name="Line 41">
              <a:extLst>
                <a:ext uri="{FF2B5EF4-FFF2-40B4-BE49-F238E27FC236}">
                  <a16:creationId xmlns:a16="http://schemas.microsoft.com/office/drawing/2014/main" id="{187A11D1-25FF-4F8F-AE17-9A56DECFA752}"/>
                </a:ext>
              </a:extLst>
            </p:cNvPr>
            <p:cNvSpPr>
              <a:spLocks noChangeShapeType="1"/>
            </p:cNvSpPr>
            <p:nvPr/>
          </p:nvSpPr>
          <p:spPr bwMode="auto">
            <a:xfrm flipV="1">
              <a:off x="3072" y="79"/>
              <a:ext cx="0" cy="584"/>
            </a:xfrm>
            <a:prstGeom prst="line">
              <a:avLst/>
            </a:prstGeom>
            <a:noFill/>
            <a:ln w="38100">
              <a:solidFill>
                <a:srgbClr val="0099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8" name="Line 42">
              <a:extLst>
                <a:ext uri="{FF2B5EF4-FFF2-40B4-BE49-F238E27FC236}">
                  <a16:creationId xmlns:a16="http://schemas.microsoft.com/office/drawing/2014/main" id="{ADF2C7FB-6010-4C7D-B9B5-45FC313CBF34}"/>
                </a:ext>
              </a:extLst>
            </p:cNvPr>
            <p:cNvSpPr>
              <a:spLocks noChangeShapeType="1"/>
            </p:cNvSpPr>
            <p:nvPr/>
          </p:nvSpPr>
          <p:spPr bwMode="auto">
            <a:xfrm>
              <a:off x="2990" y="1665"/>
              <a:ext cx="164" cy="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9" name="Line 43">
              <a:extLst>
                <a:ext uri="{FF2B5EF4-FFF2-40B4-BE49-F238E27FC236}">
                  <a16:creationId xmlns:a16="http://schemas.microsoft.com/office/drawing/2014/main" id="{D8FBE5D7-2D05-41B4-ADEB-C26F4CBC69E2}"/>
                </a:ext>
              </a:extLst>
            </p:cNvPr>
            <p:cNvSpPr>
              <a:spLocks noChangeShapeType="1"/>
            </p:cNvSpPr>
            <p:nvPr/>
          </p:nvSpPr>
          <p:spPr bwMode="auto">
            <a:xfrm flipV="1">
              <a:off x="3072" y="1081"/>
              <a:ext cx="0" cy="584"/>
            </a:xfrm>
            <a:prstGeom prst="line">
              <a:avLst/>
            </a:prstGeom>
            <a:noFill/>
            <a:ln w="38100">
              <a:solidFill>
                <a:srgbClr val="009900"/>
              </a:solidFill>
              <a:round/>
              <a:headEnd type="triangle" w="sm"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0" name="Text Box 44">
              <a:extLst>
                <a:ext uri="{FF2B5EF4-FFF2-40B4-BE49-F238E27FC236}">
                  <a16:creationId xmlns:a16="http://schemas.microsoft.com/office/drawing/2014/main" id="{218301B1-4B3B-4D32-8606-9AA06717CF5F}"/>
                </a:ext>
              </a:extLst>
            </p:cNvPr>
            <p:cNvSpPr txBox="1">
              <a:spLocks noChangeArrowheads="1"/>
            </p:cNvSpPr>
            <p:nvPr/>
          </p:nvSpPr>
          <p:spPr bwMode="auto">
            <a:xfrm>
              <a:off x="1056" y="17"/>
              <a:ext cx="254" cy="2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solidFill>
                    <a:srgbClr val="FFFFCC"/>
                  </a:solidFill>
                  <a:latin typeface="Arial" panose="020B0604020202020204" pitchFamily="34" charset="0"/>
                </a:rPr>
                <a:t>A</a:t>
              </a:r>
              <a:endParaRPr lang="en-US" altLang="zh-CN" sz="2000" i="0" dirty="0">
                <a:latin typeface="Times New Roman" panose="02020603050405020304" pitchFamily="18" charset="0"/>
              </a:endParaRPr>
            </a:p>
          </p:txBody>
        </p:sp>
        <p:sp>
          <p:nvSpPr>
            <p:cNvPr id="9261" name="Text Box 45">
              <a:extLst>
                <a:ext uri="{FF2B5EF4-FFF2-40B4-BE49-F238E27FC236}">
                  <a16:creationId xmlns:a16="http://schemas.microsoft.com/office/drawing/2014/main" id="{EF4634D0-EB46-4AC9-ACA2-053426EB9433}"/>
                </a:ext>
              </a:extLst>
            </p:cNvPr>
            <p:cNvSpPr txBox="1">
              <a:spLocks noChangeArrowheads="1"/>
            </p:cNvSpPr>
            <p:nvPr/>
          </p:nvSpPr>
          <p:spPr bwMode="auto">
            <a:xfrm>
              <a:off x="1057" y="476"/>
              <a:ext cx="252"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solidFill>
                    <a:srgbClr val="FFFFCC"/>
                  </a:solidFill>
                  <a:latin typeface="Arial" panose="020B0604020202020204" pitchFamily="34" charset="0"/>
                </a:rPr>
                <a:t>C</a:t>
              </a:r>
              <a:endParaRPr lang="en-US" altLang="zh-CN" sz="2000" i="0" dirty="0">
                <a:latin typeface="Times New Roman" panose="02020603050405020304" pitchFamily="18" charset="0"/>
              </a:endParaRPr>
            </a:p>
          </p:txBody>
        </p:sp>
        <p:sp>
          <p:nvSpPr>
            <p:cNvPr id="9262" name="Text Box 46">
              <a:extLst>
                <a:ext uri="{FF2B5EF4-FFF2-40B4-BE49-F238E27FC236}">
                  <a16:creationId xmlns:a16="http://schemas.microsoft.com/office/drawing/2014/main" id="{1925D554-A9A1-4B90-8BEF-9235EDCEE298}"/>
                </a:ext>
              </a:extLst>
            </p:cNvPr>
            <p:cNvSpPr txBox="1">
              <a:spLocks noChangeArrowheads="1"/>
            </p:cNvSpPr>
            <p:nvPr/>
          </p:nvSpPr>
          <p:spPr bwMode="auto">
            <a:xfrm>
              <a:off x="1054" y="943"/>
              <a:ext cx="260"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solidFill>
                    <a:srgbClr val="FFFFCC"/>
                  </a:solidFill>
                  <a:latin typeface="Arial" panose="020B0604020202020204" pitchFamily="34" charset="0"/>
                </a:rPr>
                <a:t>G</a:t>
              </a:r>
              <a:endParaRPr lang="en-US" altLang="zh-CN" sz="2000" i="0" dirty="0">
                <a:latin typeface="Times New Roman" panose="02020603050405020304" pitchFamily="18" charset="0"/>
              </a:endParaRPr>
            </a:p>
          </p:txBody>
        </p:sp>
        <p:sp>
          <p:nvSpPr>
            <p:cNvPr id="9263" name="Text Box 47">
              <a:extLst>
                <a:ext uri="{FF2B5EF4-FFF2-40B4-BE49-F238E27FC236}">
                  <a16:creationId xmlns:a16="http://schemas.microsoft.com/office/drawing/2014/main" id="{7964CBC4-BD53-4805-B1D6-5954F18BF35A}"/>
                </a:ext>
              </a:extLst>
            </p:cNvPr>
            <p:cNvSpPr txBox="1">
              <a:spLocks noChangeArrowheads="1"/>
            </p:cNvSpPr>
            <p:nvPr/>
          </p:nvSpPr>
          <p:spPr bwMode="auto">
            <a:xfrm>
              <a:off x="443" y="476"/>
              <a:ext cx="252"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solidFill>
                    <a:srgbClr val="FFFFCC"/>
                  </a:solidFill>
                  <a:latin typeface="Arial" panose="020B0604020202020204" pitchFamily="34" charset="0"/>
                </a:rPr>
                <a:t>B</a:t>
              </a:r>
              <a:endParaRPr lang="en-US" altLang="zh-CN" sz="2000" i="0" dirty="0">
                <a:latin typeface="Times New Roman" panose="02020603050405020304" pitchFamily="18" charset="0"/>
              </a:endParaRPr>
            </a:p>
          </p:txBody>
        </p:sp>
        <p:sp>
          <p:nvSpPr>
            <p:cNvPr id="9264" name="Text Box 48">
              <a:extLst>
                <a:ext uri="{FF2B5EF4-FFF2-40B4-BE49-F238E27FC236}">
                  <a16:creationId xmlns:a16="http://schemas.microsoft.com/office/drawing/2014/main" id="{73FB2DF7-F4AE-4EB4-B44D-3FDAF635955E}"/>
                </a:ext>
              </a:extLst>
            </p:cNvPr>
            <p:cNvSpPr txBox="1">
              <a:spLocks noChangeArrowheads="1"/>
            </p:cNvSpPr>
            <p:nvPr/>
          </p:nvSpPr>
          <p:spPr bwMode="auto">
            <a:xfrm>
              <a:off x="1792" y="484"/>
              <a:ext cx="254" cy="2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solidFill>
                    <a:srgbClr val="FFFFCC"/>
                  </a:solidFill>
                  <a:latin typeface="Arial" panose="020B0604020202020204" pitchFamily="34" charset="0"/>
                </a:rPr>
                <a:t>D</a:t>
              </a:r>
              <a:endParaRPr lang="en-US" altLang="zh-CN" sz="2000" i="0" dirty="0">
                <a:latin typeface="Times New Roman" panose="02020603050405020304" pitchFamily="18" charset="0"/>
              </a:endParaRPr>
            </a:p>
          </p:txBody>
        </p:sp>
        <p:sp>
          <p:nvSpPr>
            <p:cNvPr id="9265" name="Text Box 49">
              <a:extLst>
                <a:ext uri="{FF2B5EF4-FFF2-40B4-BE49-F238E27FC236}">
                  <a16:creationId xmlns:a16="http://schemas.microsoft.com/office/drawing/2014/main" id="{094B52E4-78E7-4BB6-8462-2659D0B6E194}"/>
                </a:ext>
              </a:extLst>
            </p:cNvPr>
            <p:cNvSpPr txBox="1">
              <a:spLocks noChangeArrowheads="1"/>
            </p:cNvSpPr>
            <p:nvPr/>
          </p:nvSpPr>
          <p:spPr bwMode="auto">
            <a:xfrm>
              <a:off x="244" y="942"/>
              <a:ext cx="244" cy="2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solidFill>
                    <a:srgbClr val="FFFFCC"/>
                  </a:solidFill>
                  <a:latin typeface="Arial" panose="020B0604020202020204" pitchFamily="34" charset="0"/>
                </a:rPr>
                <a:t>E</a:t>
              </a:r>
              <a:endParaRPr lang="en-US" altLang="zh-CN" sz="2000" i="0" dirty="0">
                <a:latin typeface="Times New Roman" panose="02020603050405020304" pitchFamily="18" charset="0"/>
              </a:endParaRPr>
            </a:p>
          </p:txBody>
        </p:sp>
        <p:sp>
          <p:nvSpPr>
            <p:cNvPr id="9266" name="Text Box 50">
              <a:extLst>
                <a:ext uri="{FF2B5EF4-FFF2-40B4-BE49-F238E27FC236}">
                  <a16:creationId xmlns:a16="http://schemas.microsoft.com/office/drawing/2014/main" id="{2F9E02D5-4F99-4FEF-9F7C-1C27063FDA81}"/>
                </a:ext>
              </a:extLst>
            </p:cNvPr>
            <p:cNvSpPr txBox="1">
              <a:spLocks noChangeArrowheads="1"/>
            </p:cNvSpPr>
            <p:nvPr/>
          </p:nvSpPr>
          <p:spPr bwMode="auto">
            <a:xfrm>
              <a:off x="612" y="943"/>
              <a:ext cx="232"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solidFill>
                    <a:srgbClr val="FFFFCC"/>
                  </a:solidFill>
                  <a:latin typeface="Arial" panose="020B0604020202020204" pitchFamily="34" charset="0"/>
                </a:rPr>
                <a:t>F</a:t>
              </a:r>
              <a:endParaRPr lang="en-US" altLang="zh-CN" sz="2000" i="0" dirty="0">
                <a:latin typeface="Times New Roman" panose="02020603050405020304" pitchFamily="18" charset="0"/>
              </a:endParaRPr>
            </a:p>
          </p:txBody>
        </p:sp>
        <p:sp>
          <p:nvSpPr>
            <p:cNvPr id="9267" name="Text Box 51">
              <a:extLst>
                <a:ext uri="{FF2B5EF4-FFF2-40B4-BE49-F238E27FC236}">
                  <a16:creationId xmlns:a16="http://schemas.microsoft.com/office/drawing/2014/main" id="{31442069-B6BF-4EAB-8A35-CD915DD9A2A4}"/>
                </a:ext>
              </a:extLst>
            </p:cNvPr>
            <p:cNvSpPr txBox="1">
              <a:spLocks noChangeArrowheads="1"/>
            </p:cNvSpPr>
            <p:nvPr/>
          </p:nvSpPr>
          <p:spPr bwMode="auto">
            <a:xfrm>
              <a:off x="42" y="1403"/>
              <a:ext cx="252"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solidFill>
                    <a:srgbClr val="FFFFCC"/>
                  </a:solidFill>
                  <a:latin typeface="Arial" panose="020B0604020202020204" pitchFamily="34" charset="0"/>
                </a:rPr>
                <a:t>K</a:t>
              </a:r>
              <a:endParaRPr lang="en-US" altLang="zh-CN" sz="2000" i="0" dirty="0">
                <a:latin typeface="Times New Roman" panose="02020603050405020304" pitchFamily="18" charset="0"/>
              </a:endParaRPr>
            </a:p>
          </p:txBody>
        </p:sp>
        <p:sp>
          <p:nvSpPr>
            <p:cNvPr id="9268" name="Text Box 52">
              <a:extLst>
                <a:ext uri="{FF2B5EF4-FFF2-40B4-BE49-F238E27FC236}">
                  <a16:creationId xmlns:a16="http://schemas.microsoft.com/office/drawing/2014/main" id="{2DCC3BC4-E16D-4E14-8BCA-7F4AA54ECF72}"/>
                </a:ext>
              </a:extLst>
            </p:cNvPr>
            <p:cNvSpPr txBox="1">
              <a:spLocks noChangeArrowheads="1"/>
            </p:cNvSpPr>
            <p:nvPr/>
          </p:nvSpPr>
          <p:spPr bwMode="auto">
            <a:xfrm>
              <a:off x="443" y="1403"/>
              <a:ext cx="233"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solidFill>
                    <a:srgbClr val="FFFFCC"/>
                  </a:solidFill>
                  <a:latin typeface="Arial" panose="020B0604020202020204" pitchFamily="34" charset="0"/>
                </a:rPr>
                <a:t>L</a:t>
              </a:r>
              <a:endParaRPr lang="en-US" altLang="zh-CN" sz="2000" i="0" dirty="0">
                <a:latin typeface="Times New Roman" panose="02020603050405020304" pitchFamily="18" charset="0"/>
              </a:endParaRPr>
            </a:p>
          </p:txBody>
        </p:sp>
        <p:sp>
          <p:nvSpPr>
            <p:cNvPr id="9269" name="Text Box 53">
              <a:extLst>
                <a:ext uri="{FF2B5EF4-FFF2-40B4-BE49-F238E27FC236}">
                  <a16:creationId xmlns:a16="http://schemas.microsoft.com/office/drawing/2014/main" id="{05AB1E0C-D860-46A3-9BB4-4358C24AA2BD}"/>
                </a:ext>
              </a:extLst>
            </p:cNvPr>
            <p:cNvSpPr txBox="1">
              <a:spLocks noChangeArrowheads="1"/>
            </p:cNvSpPr>
            <p:nvPr/>
          </p:nvSpPr>
          <p:spPr bwMode="auto">
            <a:xfrm>
              <a:off x="1421" y="943"/>
              <a:ext cx="252"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solidFill>
                    <a:srgbClr val="FFFFCC"/>
                  </a:solidFill>
                  <a:latin typeface="Arial" panose="020B0604020202020204" pitchFamily="34" charset="0"/>
                </a:rPr>
                <a:t>H</a:t>
              </a:r>
              <a:endParaRPr lang="en-US" altLang="zh-CN" sz="2000" i="0" dirty="0">
                <a:latin typeface="Times New Roman" panose="02020603050405020304" pitchFamily="18" charset="0"/>
              </a:endParaRPr>
            </a:p>
          </p:txBody>
        </p:sp>
        <p:sp>
          <p:nvSpPr>
            <p:cNvPr id="9270" name="Text Box 54">
              <a:extLst>
                <a:ext uri="{FF2B5EF4-FFF2-40B4-BE49-F238E27FC236}">
                  <a16:creationId xmlns:a16="http://schemas.microsoft.com/office/drawing/2014/main" id="{B972E238-A255-49AC-95FE-7EFDD84A045B}"/>
                </a:ext>
              </a:extLst>
            </p:cNvPr>
            <p:cNvSpPr txBox="1">
              <a:spLocks noChangeArrowheads="1"/>
            </p:cNvSpPr>
            <p:nvPr/>
          </p:nvSpPr>
          <p:spPr bwMode="auto">
            <a:xfrm>
              <a:off x="1390" y="1403"/>
              <a:ext cx="271"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solidFill>
                    <a:srgbClr val="FFFFCC"/>
                  </a:solidFill>
                  <a:latin typeface="Arial" panose="020B0604020202020204" pitchFamily="34" charset="0"/>
                </a:rPr>
                <a:t>M</a:t>
              </a:r>
              <a:endParaRPr lang="en-US" altLang="zh-CN" sz="2000" i="0" dirty="0">
                <a:latin typeface="Times New Roman" panose="02020603050405020304" pitchFamily="18" charset="0"/>
              </a:endParaRPr>
            </a:p>
          </p:txBody>
        </p:sp>
        <p:sp>
          <p:nvSpPr>
            <p:cNvPr id="9271" name="Text Box 55">
              <a:extLst>
                <a:ext uri="{FF2B5EF4-FFF2-40B4-BE49-F238E27FC236}">
                  <a16:creationId xmlns:a16="http://schemas.microsoft.com/office/drawing/2014/main" id="{370FC2F3-1A2D-4E4D-8ACE-618BAE2A3490}"/>
                </a:ext>
              </a:extLst>
            </p:cNvPr>
            <p:cNvSpPr txBox="1">
              <a:spLocks noChangeArrowheads="1"/>
            </p:cNvSpPr>
            <p:nvPr/>
          </p:nvSpPr>
          <p:spPr bwMode="auto">
            <a:xfrm>
              <a:off x="1806" y="943"/>
              <a:ext cx="174"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solidFill>
                    <a:srgbClr val="FFFFCC"/>
                  </a:solidFill>
                  <a:latin typeface="Arial" panose="020B0604020202020204" pitchFamily="34" charset="0"/>
                </a:rPr>
                <a:t>I</a:t>
              </a:r>
              <a:endParaRPr lang="en-US" altLang="zh-CN" sz="2000" i="0" dirty="0">
                <a:latin typeface="Times New Roman" panose="02020603050405020304" pitchFamily="18" charset="0"/>
              </a:endParaRPr>
            </a:p>
          </p:txBody>
        </p:sp>
        <p:sp>
          <p:nvSpPr>
            <p:cNvPr id="9272" name="Text Box 56">
              <a:extLst>
                <a:ext uri="{FF2B5EF4-FFF2-40B4-BE49-F238E27FC236}">
                  <a16:creationId xmlns:a16="http://schemas.microsoft.com/office/drawing/2014/main" id="{0C7FD27A-3785-4E14-ADFB-C44834683F5B}"/>
                </a:ext>
              </a:extLst>
            </p:cNvPr>
            <p:cNvSpPr txBox="1">
              <a:spLocks noChangeArrowheads="1"/>
            </p:cNvSpPr>
            <p:nvPr/>
          </p:nvSpPr>
          <p:spPr bwMode="auto">
            <a:xfrm>
              <a:off x="2171" y="943"/>
              <a:ext cx="223"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solidFill>
                    <a:srgbClr val="FFFFCC"/>
                  </a:solidFill>
                  <a:latin typeface="Arial" panose="020B0604020202020204" pitchFamily="34" charset="0"/>
                </a:rPr>
                <a:t>J</a:t>
              </a:r>
              <a:endParaRPr lang="en-US" altLang="zh-CN" sz="2000" i="0" dirty="0">
                <a:latin typeface="Times New Roman" panose="02020603050405020304" pitchFamily="18" charset="0"/>
              </a:endParaRPr>
            </a:p>
          </p:txBody>
        </p:sp>
      </p:grpSp>
      <p:sp>
        <p:nvSpPr>
          <p:cNvPr id="3" name="Text Box 4">
            <a:extLst>
              <a:ext uri="{FF2B5EF4-FFF2-40B4-BE49-F238E27FC236}">
                <a16:creationId xmlns:a16="http://schemas.microsoft.com/office/drawing/2014/main" id="{9F5FC673-CC7D-3DC1-6D29-8F6457937DBF}"/>
              </a:ext>
            </a:extLst>
          </p:cNvPr>
          <p:cNvSpPr txBox="1">
            <a:spLocks noChangeArrowheads="1"/>
          </p:cNvSpPr>
          <p:nvPr/>
        </p:nvSpPr>
        <p:spPr bwMode="auto">
          <a:xfrm>
            <a:off x="457200" y="188640"/>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二、树的基本术语</a:t>
            </a:r>
          </a:p>
        </p:txBody>
      </p:sp>
      <p:sp>
        <p:nvSpPr>
          <p:cNvPr id="5" name="文本框 4">
            <a:extLst>
              <a:ext uri="{FF2B5EF4-FFF2-40B4-BE49-F238E27FC236}">
                <a16:creationId xmlns:a16="http://schemas.microsoft.com/office/drawing/2014/main" id="{71360E5C-9D18-AE41-FA8F-B910026F57C4}"/>
              </a:ext>
            </a:extLst>
          </p:cNvPr>
          <p:cNvSpPr txBox="1"/>
          <p:nvPr/>
        </p:nvSpPr>
        <p:spPr>
          <a:xfrm>
            <a:off x="6356184" y="1775293"/>
            <a:ext cx="2514659" cy="523220"/>
          </a:xfrm>
          <a:prstGeom prst="rect">
            <a:avLst/>
          </a:prstGeom>
          <a:noFill/>
        </p:spPr>
        <p:txBody>
          <a:bodyPr wrap="square" rtlCol="0">
            <a:spAutoFit/>
          </a:bodyPr>
          <a:lstStyle/>
          <a:p>
            <a:r>
              <a:rPr lang="en-US" altLang="zh-CN" sz="2800" b="0" i="0" dirty="0">
                <a:solidFill>
                  <a:srgbClr val="FF0000"/>
                </a:solidFill>
                <a:latin typeface="+mn-ea"/>
                <a:ea typeface="+mn-ea"/>
              </a:rPr>
              <a:t>A</a:t>
            </a:r>
            <a:r>
              <a:rPr lang="zh-CN" altLang="en-US" sz="2800" b="0" i="0" dirty="0">
                <a:solidFill>
                  <a:srgbClr val="FF0000"/>
                </a:solidFill>
                <a:latin typeface="+mn-ea"/>
                <a:ea typeface="+mn-ea"/>
              </a:rPr>
              <a:t>结点的度</a:t>
            </a:r>
            <a:r>
              <a:rPr lang="en-US" altLang="zh-CN" sz="2800" b="0" i="0" dirty="0">
                <a:solidFill>
                  <a:srgbClr val="FF0000"/>
                </a:solidFill>
                <a:latin typeface="+mn-ea"/>
                <a:ea typeface="+mn-ea"/>
              </a:rPr>
              <a:t>3</a:t>
            </a:r>
            <a:endParaRPr lang="zh-CN" altLang="en-US" sz="2800" b="0" i="0" dirty="0">
              <a:solidFill>
                <a:srgbClr val="FF0000"/>
              </a:solidFill>
              <a:latin typeface="+mn-ea"/>
              <a:ea typeface="+mn-ea"/>
            </a:endParaRPr>
          </a:p>
        </p:txBody>
      </p:sp>
      <p:sp>
        <p:nvSpPr>
          <p:cNvPr id="6" name="文本框 5">
            <a:extLst>
              <a:ext uri="{FF2B5EF4-FFF2-40B4-BE49-F238E27FC236}">
                <a16:creationId xmlns:a16="http://schemas.microsoft.com/office/drawing/2014/main" id="{D091BBA4-4B18-30B5-D2C7-09B007F7AB6E}"/>
              </a:ext>
            </a:extLst>
          </p:cNvPr>
          <p:cNvSpPr txBox="1"/>
          <p:nvPr/>
        </p:nvSpPr>
        <p:spPr>
          <a:xfrm>
            <a:off x="7015764" y="2865719"/>
            <a:ext cx="1740372" cy="523220"/>
          </a:xfrm>
          <a:prstGeom prst="rect">
            <a:avLst/>
          </a:prstGeom>
          <a:noFill/>
        </p:spPr>
        <p:txBody>
          <a:bodyPr wrap="square" rtlCol="0">
            <a:spAutoFit/>
          </a:bodyPr>
          <a:lstStyle/>
          <a:p>
            <a:r>
              <a:rPr lang="en-US" altLang="zh-CN" sz="2800" b="0" i="0" dirty="0">
                <a:solidFill>
                  <a:srgbClr val="FF0000"/>
                </a:solidFill>
                <a:latin typeface="+mn-ea"/>
                <a:ea typeface="+mn-ea"/>
              </a:rPr>
              <a:t>F</a:t>
            </a:r>
            <a:r>
              <a:rPr lang="zh-CN" altLang="en-US" sz="2800" b="0" i="0" dirty="0">
                <a:solidFill>
                  <a:srgbClr val="FF0000"/>
                </a:solidFill>
                <a:latin typeface="+mn-ea"/>
                <a:ea typeface="+mn-ea"/>
              </a:rPr>
              <a:t>、</a:t>
            </a:r>
            <a:r>
              <a:rPr lang="en-US" altLang="zh-CN" sz="2800" b="0" i="0" dirty="0">
                <a:solidFill>
                  <a:srgbClr val="FF0000"/>
                </a:solidFill>
                <a:latin typeface="+mn-ea"/>
                <a:ea typeface="+mn-ea"/>
              </a:rPr>
              <a:t>G</a:t>
            </a:r>
            <a:r>
              <a:rPr lang="zh-CN" altLang="en-US" sz="2800" b="0" i="0" dirty="0">
                <a:solidFill>
                  <a:srgbClr val="FF0000"/>
                </a:solidFill>
                <a:latin typeface="+mn-ea"/>
                <a:ea typeface="+mn-ea"/>
              </a:rPr>
              <a:t>、</a:t>
            </a:r>
            <a:r>
              <a:rPr lang="en-US" altLang="zh-CN" sz="2800" b="0" i="0" dirty="0">
                <a:solidFill>
                  <a:srgbClr val="FF0000"/>
                </a:solidFill>
                <a:latin typeface="+mn-ea"/>
                <a:ea typeface="+mn-ea"/>
              </a:rPr>
              <a:t>…</a:t>
            </a:r>
            <a:endParaRPr lang="zh-CN" altLang="en-US" sz="2800" b="0" i="0" dirty="0">
              <a:solidFill>
                <a:srgbClr val="FF0000"/>
              </a:solidFill>
              <a:latin typeface="+mn-ea"/>
              <a:ea typeface="+mn-ea"/>
            </a:endParaRPr>
          </a:p>
        </p:txBody>
      </p:sp>
      <p:sp>
        <p:nvSpPr>
          <p:cNvPr id="7" name="文本框 6">
            <a:extLst>
              <a:ext uri="{FF2B5EF4-FFF2-40B4-BE49-F238E27FC236}">
                <a16:creationId xmlns:a16="http://schemas.microsoft.com/office/drawing/2014/main" id="{9C05F400-0BD7-B3B1-D33E-254CE3C30740}"/>
              </a:ext>
            </a:extLst>
          </p:cNvPr>
          <p:cNvSpPr txBox="1"/>
          <p:nvPr/>
        </p:nvSpPr>
        <p:spPr>
          <a:xfrm>
            <a:off x="908870" y="4890078"/>
            <a:ext cx="2514659" cy="523220"/>
          </a:xfrm>
          <a:prstGeom prst="rect">
            <a:avLst/>
          </a:prstGeom>
          <a:noFill/>
        </p:spPr>
        <p:txBody>
          <a:bodyPr wrap="square" rtlCol="0">
            <a:spAutoFit/>
          </a:bodyPr>
          <a:lstStyle/>
          <a:p>
            <a:r>
              <a:rPr lang="en-US" altLang="zh-CN" sz="2800" b="0" i="0" dirty="0">
                <a:solidFill>
                  <a:srgbClr val="FF0000"/>
                </a:solidFill>
                <a:latin typeface="+mn-ea"/>
                <a:ea typeface="+mn-ea"/>
              </a:rPr>
              <a:t>A</a:t>
            </a:r>
            <a:r>
              <a:rPr lang="zh-CN" altLang="en-US" sz="2800" b="0" i="0" dirty="0">
                <a:solidFill>
                  <a:srgbClr val="FF0000"/>
                </a:solidFill>
                <a:latin typeface="+mn-ea"/>
                <a:ea typeface="+mn-ea"/>
              </a:rPr>
              <a:t>、</a:t>
            </a:r>
            <a:r>
              <a:rPr lang="en-US" altLang="zh-CN" sz="2800" b="0" i="0" dirty="0">
                <a:solidFill>
                  <a:srgbClr val="FF0000"/>
                </a:solidFill>
                <a:latin typeface="+mn-ea"/>
                <a:ea typeface="+mn-ea"/>
              </a:rPr>
              <a:t>B</a:t>
            </a:r>
            <a:r>
              <a:rPr lang="zh-CN" altLang="en-US" sz="2800" b="0" i="0" dirty="0">
                <a:solidFill>
                  <a:srgbClr val="FF0000"/>
                </a:solidFill>
                <a:latin typeface="+mn-ea"/>
                <a:ea typeface="+mn-ea"/>
              </a:rPr>
              <a:t>、</a:t>
            </a:r>
            <a:r>
              <a:rPr lang="en-US" altLang="zh-CN" sz="2800" b="0" i="0" dirty="0">
                <a:solidFill>
                  <a:srgbClr val="FF0000"/>
                </a:solidFill>
                <a:latin typeface="+mn-ea"/>
                <a:ea typeface="+mn-ea"/>
              </a:rPr>
              <a:t>C</a:t>
            </a:r>
            <a:r>
              <a:rPr lang="zh-CN" altLang="en-US" sz="2800" b="0" i="0" dirty="0">
                <a:solidFill>
                  <a:srgbClr val="FF0000"/>
                </a:solidFill>
                <a:latin typeface="+mn-ea"/>
                <a:ea typeface="+mn-ea"/>
              </a:rPr>
              <a:t>、</a:t>
            </a:r>
            <a:r>
              <a:rPr lang="en-US" altLang="zh-CN" sz="2800" b="0" i="0" dirty="0">
                <a:solidFill>
                  <a:srgbClr val="FF0000"/>
                </a:solidFill>
                <a:latin typeface="+mn-ea"/>
                <a:ea typeface="+mn-ea"/>
              </a:rPr>
              <a:t>…</a:t>
            </a:r>
            <a:endParaRPr lang="zh-CN" altLang="en-US" sz="2800" b="0" i="0" dirty="0">
              <a:solidFill>
                <a:srgbClr val="FF0000"/>
              </a:solidFill>
              <a:latin typeface="+mn-ea"/>
              <a:ea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22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922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9221">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9221">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221">
                                            <p:txEl>
                                              <p:pRg st="4" end="4"/>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9221">
                                            <p:txEl>
                                              <p:pRg st="5" end="5"/>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9221">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Text Box 3">
            <a:extLst>
              <a:ext uri="{FF2B5EF4-FFF2-40B4-BE49-F238E27FC236}">
                <a16:creationId xmlns:a16="http://schemas.microsoft.com/office/drawing/2014/main" id="{012CCF6A-4372-4A3F-ADF1-684E322B3064}"/>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A8F33339-CD84-425D-A567-49A3421D1FF6}" type="slidenum">
              <a:rPr lang="zh-CN" altLang="en-US" sz="2400"/>
              <a:pPr algn="r" eaLnBrk="1" hangingPunct="1">
                <a:spcBef>
                  <a:spcPct val="50000"/>
                </a:spcBef>
                <a:buClrTx/>
                <a:buSzTx/>
                <a:buFont typeface="Arial" panose="020B0604020202020204" pitchFamily="34" charset="0"/>
                <a:buNone/>
              </a:pPr>
              <a:t>5</a:t>
            </a:fld>
            <a:endParaRPr lang="en-US" altLang="zh-CN" sz="2400"/>
          </a:p>
        </p:txBody>
      </p:sp>
      <p:sp>
        <p:nvSpPr>
          <p:cNvPr id="10245" name="Rectangle 5">
            <a:extLst>
              <a:ext uri="{FF2B5EF4-FFF2-40B4-BE49-F238E27FC236}">
                <a16:creationId xmlns:a16="http://schemas.microsoft.com/office/drawing/2014/main" id="{79B87DF4-067B-4335-8278-613CD9EEBC85}"/>
              </a:ext>
            </a:extLst>
          </p:cNvPr>
          <p:cNvSpPr>
            <a:spLocks noGrp="1" noChangeArrowheads="1"/>
          </p:cNvSpPr>
          <p:nvPr>
            <p:ph type="body" idx="1"/>
          </p:nvPr>
        </p:nvSpPr>
        <p:spPr>
          <a:xfrm>
            <a:off x="510714" y="1254237"/>
            <a:ext cx="8763000" cy="2869379"/>
          </a:xfrm>
        </p:spPr>
        <p:txBody>
          <a:bodyPr/>
          <a:lstStyle/>
          <a:p>
            <a:pPr eaLnBrk="1" hangingPunct="1">
              <a:spcBef>
                <a:spcPct val="30000"/>
              </a:spcBef>
            </a:pPr>
            <a:r>
              <a:rPr lang="zh-CN" altLang="en-US" sz="2800" dirty="0">
                <a:solidFill>
                  <a:srgbClr val="CC0066"/>
                </a:solidFill>
                <a:latin typeface="黑体" panose="02010609060101010101" pitchFamily="49" charset="-122"/>
                <a:ea typeface="黑体" panose="02010609060101010101" pitchFamily="49" charset="-122"/>
              </a:rPr>
              <a:t>孩子：</a:t>
            </a:r>
            <a:r>
              <a:rPr lang="zh-CN" altLang="en-US" sz="2800" dirty="0">
                <a:latin typeface="黑体" panose="02010609060101010101" pitchFamily="49" charset="-122"/>
                <a:ea typeface="黑体" panose="02010609060101010101" pitchFamily="49" charset="-122"/>
              </a:rPr>
              <a:t>结点的子树的根[直接后继，可能有多个]</a:t>
            </a:r>
            <a:endParaRPr lang="en-US" altLang="zh-CN" sz="2800" dirty="0">
              <a:latin typeface="黑体" panose="02010609060101010101" pitchFamily="49" charset="-122"/>
              <a:ea typeface="黑体" panose="02010609060101010101" pitchFamily="49" charset="-122"/>
            </a:endParaRPr>
          </a:p>
          <a:p>
            <a:pPr marL="0" indent="0" eaLnBrk="1" hangingPunct="1">
              <a:spcBef>
                <a:spcPct val="30000"/>
              </a:spcBef>
              <a:buNone/>
            </a:pPr>
            <a:endParaRPr lang="zh-CN" altLang="en-US" sz="2800" dirty="0">
              <a:latin typeface="黑体" panose="02010609060101010101" pitchFamily="49" charset="-122"/>
              <a:ea typeface="黑体" panose="02010609060101010101" pitchFamily="49" charset="-122"/>
            </a:endParaRPr>
          </a:p>
          <a:p>
            <a:pPr eaLnBrk="1" hangingPunct="1">
              <a:spcBef>
                <a:spcPct val="30000"/>
              </a:spcBef>
            </a:pPr>
            <a:r>
              <a:rPr lang="zh-CN" altLang="en-US" sz="2800" dirty="0">
                <a:solidFill>
                  <a:srgbClr val="CC0066"/>
                </a:solidFill>
                <a:latin typeface="黑体" panose="02010609060101010101" pitchFamily="49" charset="-122"/>
                <a:ea typeface="黑体" panose="02010609060101010101" pitchFamily="49" charset="-122"/>
              </a:rPr>
              <a:t>双亲：</a:t>
            </a:r>
            <a:r>
              <a:rPr lang="zh-CN" altLang="en-US" sz="2800" dirty="0">
                <a:latin typeface="黑体" panose="02010609060101010101" pitchFamily="49" charset="-122"/>
                <a:ea typeface="黑体" panose="02010609060101010101" pitchFamily="49" charset="-122"/>
              </a:rPr>
              <a:t>孩子的直接前驱[最多只能有一个]</a:t>
            </a:r>
            <a:endParaRPr lang="en-US" altLang="zh-CN" sz="2800" dirty="0">
              <a:latin typeface="黑体" panose="02010609060101010101" pitchFamily="49" charset="-122"/>
              <a:ea typeface="黑体" panose="02010609060101010101" pitchFamily="49" charset="-122"/>
            </a:endParaRPr>
          </a:p>
          <a:p>
            <a:pPr marL="0" indent="0" eaLnBrk="1" hangingPunct="1">
              <a:spcBef>
                <a:spcPct val="30000"/>
              </a:spcBef>
              <a:buNone/>
            </a:pPr>
            <a:endParaRPr lang="zh-CN" altLang="en-US" sz="2800" dirty="0">
              <a:latin typeface="黑体" panose="02010609060101010101" pitchFamily="49" charset="-122"/>
              <a:ea typeface="黑体" panose="02010609060101010101" pitchFamily="49" charset="-122"/>
            </a:endParaRPr>
          </a:p>
          <a:p>
            <a:pPr eaLnBrk="1" hangingPunct="1">
              <a:spcBef>
                <a:spcPct val="30000"/>
              </a:spcBef>
            </a:pPr>
            <a:r>
              <a:rPr lang="zh-CN" altLang="en-US" sz="2800" dirty="0">
                <a:solidFill>
                  <a:srgbClr val="CC0066"/>
                </a:solidFill>
                <a:latin typeface="黑体" panose="02010609060101010101" pitchFamily="49" charset="-122"/>
                <a:ea typeface="黑体" panose="02010609060101010101" pitchFamily="49" charset="-122"/>
              </a:rPr>
              <a:t>兄弟：</a:t>
            </a:r>
            <a:r>
              <a:rPr lang="zh-CN" altLang="en-US" sz="2800" dirty="0">
                <a:latin typeface="黑体" panose="02010609060101010101" pitchFamily="49" charset="-122"/>
                <a:ea typeface="黑体" panose="02010609060101010101" pitchFamily="49" charset="-122"/>
              </a:rPr>
              <a:t>同一双亲的孩子</a:t>
            </a:r>
            <a:endParaRPr lang="en-US" altLang="zh-CN" sz="2800" dirty="0">
              <a:latin typeface="黑体" panose="02010609060101010101" pitchFamily="49" charset="-122"/>
              <a:ea typeface="黑体" panose="02010609060101010101" pitchFamily="49" charset="-122"/>
            </a:endParaRPr>
          </a:p>
        </p:txBody>
      </p:sp>
      <p:grpSp>
        <p:nvGrpSpPr>
          <p:cNvPr id="10247" name="Group 7">
            <a:extLst>
              <a:ext uri="{FF2B5EF4-FFF2-40B4-BE49-F238E27FC236}">
                <a16:creationId xmlns:a16="http://schemas.microsoft.com/office/drawing/2014/main" id="{A7ED5B7D-A2E0-4B21-A082-F0C83914705B}"/>
              </a:ext>
            </a:extLst>
          </p:cNvPr>
          <p:cNvGrpSpPr>
            <a:grpSpLocks/>
          </p:cNvGrpSpPr>
          <p:nvPr/>
        </p:nvGrpSpPr>
        <p:grpSpPr bwMode="auto">
          <a:xfrm>
            <a:off x="4443536" y="3861048"/>
            <a:ext cx="4953000" cy="2439988"/>
            <a:chOff x="0" y="0"/>
            <a:chExt cx="3389" cy="1682"/>
          </a:xfrm>
        </p:grpSpPr>
        <p:sp>
          <p:nvSpPr>
            <p:cNvPr id="10248" name="Line 8">
              <a:extLst>
                <a:ext uri="{FF2B5EF4-FFF2-40B4-BE49-F238E27FC236}">
                  <a16:creationId xmlns:a16="http://schemas.microsoft.com/office/drawing/2014/main" id="{0A1575DE-BF14-4871-AC9A-8895AD600AB8}"/>
                </a:ext>
              </a:extLst>
            </p:cNvPr>
            <p:cNvSpPr>
              <a:spLocks noChangeShapeType="1"/>
            </p:cNvSpPr>
            <p:nvPr/>
          </p:nvSpPr>
          <p:spPr bwMode="auto">
            <a:xfrm>
              <a:off x="2005" y="722"/>
              <a:ext cx="246" cy="292"/>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49" name="Line 9">
              <a:extLst>
                <a:ext uri="{FF2B5EF4-FFF2-40B4-BE49-F238E27FC236}">
                  <a16:creationId xmlns:a16="http://schemas.microsoft.com/office/drawing/2014/main" id="{6DBBE9E2-772E-48C4-93FB-8D45B2E25C7D}"/>
                </a:ext>
              </a:extLst>
            </p:cNvPr>
            <p:cNvSpPr>
              <a:spLocks noChangeShapeType="1"/>
            </p:cNvSpPr>
            <p:nvPr/>
          </p:nvSpPr>
          <p:spPr bwMode="auto">
            <a:xfrm flipH="1">
              <a:off x="1555" y="722"/>
              <a:ext cx="246" cy="25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50" name="Line 10">
              <a:extLst>
                <a:ext uri="{FF2B5EF4-FFF2-40B4-BE49-F238E27FC236}">
                  <a16:creationId xmlns:a16="http://schemas.microsoft.com/office/drawing/2014/main" id="{3199C522-C789-47D4-9AEA-739C5554DCB5}"/>
                </a:ext>
              </a:extLst>
            </p:cNvPr>
            <p:cNvSpPr>
              <a:spLocks noChangeShapeType="1"/>
            </p:cNvSpPr>
            <p:nvPr/>
          </p:nvSpPr>
          <p:spPr bwMode="auto">
            <a:xfrm>
              <a:off x="1883" y="764"/>
              <a:ext cx="0" cy="20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51" name="Line 11">
              <a:extLst>
                <a:ext uri="{FF2B5EF4-FFF2-40B4-BE49-F238E27FC236}">
                  <a16:creationId xmlns:a16="http://schemas.microsoft.com/office/drawing/2014/main" id="{3071A670-439B-40BD-8814-821FC3447E52}"/>
                </a:ext>
              </a:extLst>
            </p:cNvPr>
            <p:cNvSpPr>
              <a:spLocks noChangeShapeType="1"/>
            </p:cNvSpPr>
            <p:nvPr/>
          </p:nvSpPr>
          <p:spPr bwMode="auto">
            <a:xfrm>
              <a:off x="1555" y="1223"/>
              <a:ext cx="0" cy="25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52" name="Line 12">
              <a:extLst>
                <a:ext uri="{FF2B5EF4-FFF2-40B4-BE49-F238E27FC236}">
                  <a16:creationId xmlns:a16="http://schemas.microsoft.com/office/drawing/2014/main" id="{B7B26E8F-B499-4526-8F4F-6A67F991293F}"/>
                </a:ext>
              </a:extLst>
            </p:cNvPr>
            <p:cNvSpPr>
              <a:spLocks noChangeShapeType="1"/>
            </p:cNvSpPr>
            <p:nvPr/>
          </p:nvSpPr>
          <p:spPr bwMode="auto">
            <a:xfrm>
              <a:off x="1269" y="221"/>
              <a:ext cx="573" cy="33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53" name="Line 13">
              <a:extLst>
                <a:ext uri="{FF2B5EF4-FFF2-40B4-BE49-F238E27FC236}">
                  <a16:creationId xmlns:a16="http://schemas.microsoft.com/office/drawing/2014/main" id="{48A5E2F2-CEE1-4113-A386-CD7A715D7239}"/>
                </a:ext>
              </a:extLst>
            </p:cNvPr>
            <p:cNvSpPr>
              <a:spLocks noChangeShapeType="1"/>
            </p:cNvSpPr>
            <p:nvPr/>
          </p:nvSpPr>
          <p:spPr bwMode="auto">
            <a:xfrm flipH="1">
              <a:off x="573" y="221"/>
              <a:ext cx="491" cy="33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54" name="Line 14">
              <a:extLst>
                <a:ext uri="{FF2B5EF4-FFF2-40B4-BE49-F238E27FC236}">
                  <a16:creationId xmlns:a16="http://schemas.microsoft.com/office/drawing/2014/main" id="{02F9E1B2-4299-4B92-B5F6-787AC263DF7C}"/>
                </a:ext>
              </a:extLst>
            </p:cNvPr>
            <p:cNvSpPr>
              <a:spLocks noChangeShapeType="1"/>
            </p:cNvSpPr>
            <p:nvPr/>
          </p:nvSpPr>
          <p:spPr bwMode="auto">
            <a:xfrm>
              <a:off x="1187" y="263"/>
              <a:ext cx="0" cy="96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55" name="Line 15">
              <a:extLst>
                <a:ext uri="{FF2B5EF4-FFF2-40B4-BE49-F238E27FC236}">
                  <a16:creationId xmlns:a16="http://schemas.microsoft.com/office/drawing/2014/main" id="{E72DA017-7CE3-44E7-B80A-48F7F41CDEAE}"/>
                </a:ext>
              </a:extLst>
            </p:cNvPr>
            <p:cNvSpPr>
              <a:spLocks noChangeShapeType="1"/>
            </p:cNvSpPr>
            <p:nvPr/>
          </p:nvSpPr>
          <p:spPr bwMode="auto">
            <a:xfrm>
              <a:off x="614" y="722"/>
              <a:ext cx="123" cy="292"/>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56" name="Line 16">
              <a:extLst>
                <a:ext uri="{FF2B5EF4-FFF2-40B4-BE49-F238E27FC236}">
                  <a16:creationId xmlns:a16="http://schemas.microsoft.com/office/drawing/2014/main" id="{EEC3DBA9-3FF8-4A0A-961A-B40D43B6594B}"/>
                </a:ext>
              </a:extLst>
            </p:cNvPr>
            <p:cNvSpPr>
              <a:spLocks noChangeShapeType="1"/>
            </p:cNvSpPr>
            <p:nvPr/>
          </p:nvSpPr>
          <p:spPr bwMode="auto">
            <a:xfrm>
              <a:off x="409" y="1181"/>
              <a:ext cx="123" cy="251"/>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57" name="Line 17">
              <a:extLst>
                <a:ext uri="{FF2B5EF4-FFF2-40B4-BE49-F238E27FC236}">
                  <a16:creationId xmlns:a16="http://schemas.microsoft.com/office/drawing/2014/main" id="{F5A26D08-21F1-479C-AF75-6D4726767841}"/>
                </a:ext>
              </a:extLst>
            </p:cNvPr>
            <p:cNvSpPr>
              <a:spLocks noChangeShapeType="1"/>
            </p:cNvSpPr>
            <p:nvPr/>
          </p:nvSpPr>
          <p:spPr bwMode="auto">
            <a:xfrm flipH="1">
              <a:off x="123" y="722"/>
              <a:ext cx="368" cy="835"/>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58" name="Oval 18">
              <a:extLst>
                <a:ext uri="{FF2B5EF4-FFF2-40B4-BE49-F238E27FC236}">
                  <a16:creationId xmlns:a16="http://schemas.microsoft.com/office/drawing/2014/main" id="{86F154C5-29FB-41CB-9A92-EC4891568D89}"/>
                </a:ext>
              </a:extLst>
            </p:cNvPr>
            <p:cNvSpPr>
              <a:spLocks noChangeArrowheads="1"/>
            </p:cNvSpPr>
            <p:nvPr/>
          </p:nvSpPr>
          <p:spPr bwMode="auto">
            <a:xfrm>
              <a:off x="1023" y="12"/>
              <a:ext cx="287" cy="292"/>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0259" name="Line 19">
              <a:extLst>
                <a:ext uri="{FF2B5EF4-FFF2-40B4-BE49-F238E27FC236}">
                  <a16:creationId xmlns:a16="http://schemas.microsoft.com/office/drawing/2014/main" id="{EAF0901D-2AE5-47CD-81A2-4792D0F87617}"/>
                </a:ext>
              </a:extLst>
            </p:cNvPr>
            <p:cNvSpPr>
              <a:spLocks noChangeShapeType="1"/>
            </p:cNvSpPr>
            <p:nvPr/>
          </p:nvSpPr>
          <p:spPr bwMode="auto">
            <a:xfrm>
              <a:off x="1637" y="137"/>
              <a:ext cx="1146" cy="0"/>
            </a:xfrm>
            <a:prstGeom prst="line">
              <a:avLst/>
            </a:prstGeom>
            <a:noFill/>
            <a:ln w="28575">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60" name="Oval 20">
              <a:extLst>
                <a:ext uri="{FF2B5EF4-FFF2-40B4-BE49-F238E27FC236}">
                  <a16:creationId xmlns:a16="http://schemas.microsoft.com/office/drawing/2014/main" id="{53A864E7-76B0-4012-8BE3-AAB667038E6F}"/>
                </a:ext>
              </a:extLst>
            </p:cNvPr>
            <p:cNvSpPr>
              <a:spLocks noChangeArrowheads="1"/>
            </p:cNvSpPr>
            <p:nvPr/>
          </p:nvSpPr>
          <p:spPr bwMode="auto">
            <a:xfrm>
              <a:off x="409" y="471"/>
              <a:ext cx="287" cy="293"/>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0261" name="Oval 21">
              <a:extLst>
                <a:ext uri="{FF2B5EF4-FFF2-40B4-BE49-F238E27FC236}">
                  <a16:creationId xmlns:a16="http://schemas.microsoft.com/office/drawing/2014/main" id="{2CEB9DD5-CA81-4319-BBB5-DF7154FBE059}"/>
                </a:ext>
              </a:extLst>
            </p:cNvPr>
            <p:cNvSpPr>
              <a:spLocks noChangeArrowheads="1"/>
            </p:cNvSpPr>
            <p:nvPr/>
          </p:nvSpPr>
          <p:spPr bwMode="auto">
            <a:xfrm>
              <a:off x="1023" y="471"/>
              <a:ext cx="287" cy="293"/>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0262" name="Oval 22">
              <a:extLst>
                <a:ext uri="{FF2B5EF4-FFF2-40B4-BE49-F238E27FC236}">
                  <a16:creationId xmlns:a16="http://schemas.microsoft.com/office/drawing/2014/main" id="{69219218-EF39-4A8F-819A-0A8E76245B51}"/>
                </a:ext>
              </a:extLst>
            </p:cNvPr>
            <p:cNvSpPr>
              <a:spLocks noChangeArrowheads="1"/>
            </p:cNvSpPr>
            <p:nvPr/>
          </p:nvSpPr>
          <p:spPr bwMode="auto">
            <a:xfrm>
              <a:off x="1760" y="471"/>
              <a:ext cx="286" cy="293"/>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0263" name="Oval 23">
              <a:extLst>
                <a:ext uri="{FF2B5EF4-FFF2-40B4-BE49-F238E27FC236}">
                  <a16:creationId xmlns:a16="http://schemas.microsoft.com/office/drawing/2014/main" id="{A13A408A-78E0-4E23-946A-C640697BCFE6}"/>
                </a:ext>
              </a:extLst>
            </p:cNvPr>
            <p:cNvSpPr>
              <a:spLocks noChangeArrowheads="1"/>
            </p:cNvSpPr>
            <p:nvPr/>
          </p:nvSpPr>
          <p:spPr bwMode="auto">
            <a:xfrm>
              <a:off x="205" y="931"/>
              <a:ext cx="286" cy="292"/>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0264" name="Oval 24">
              <a:extLst>
                <a:ext uri="{FF2B5EF4-FFF2-40B4-BE49-F238E27FC236}">
                  <a16:creationId xmlns:a16="http://schemas.microsoft.com/office/drawing/2014/main" id="{88E7E724-0E83-469A-9FCB-15F1E261FD0F}"/>
                </a:ext>
              </a:extLst>
            </p:cNvPr>
            <p:cNvSpPr>
              <a:spLocks noChangeArrowheads="1"/>
            </p:cNvSpPr>
            <p:nvPr/>
          </p:nvSpPr>
          <p:spPr bwMode="auto">
            <a:xfrm>
              <a:off x="573" y="931"/>
              <a:ext cx="286" cy="292"/>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0265" name="Oval 25">
              <a:extLst>
                <a:ext uri="{FF2B5EF4-FFF2-40B4-BE49-F238E27FC236}">
                  <a16:creationId xmlns:a16="http://schemas.microsoft.com/office/drawing/2014/main" id="{28D68CDC-EC30-4FE2-9E68-1DBA64A49C77}"/>
                </a:ext>
              </a:extLst>
            </p:cNvPr>
            <p:cNvSpPr>
              <a:spLocks noChangeArrowheads="1"/>
            </p:cNvSpPr>
            <p:nvPr/>
          </p:nvSpPr>
          <p:spPr bwMode="auto">
            <a:xfrm>
              <a:off x="1023" y="931"/>
              <a:ext cx="287" cy="292"/>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0266" name="Oval 26">
              <a:extLst>
                <a:ext uri="{FF2B5EF4-FFF2-40B4-BE49-F238E27FC236}">
                  <a16:creationId xmlns:a16="http://schemas.microsoft.com/office/drawing/2014/main" id="{6E72DD80-8245-4907-94C4-9B45472006C0}"/>
                </a:ext>
              </a:extLst>
            </p:cNvPr>
            <p:cNvSpPr>
              <a:spLocks noChangeArrowheads="1"/>
            </p:cNvSpPr>
            <p:nvPr/>
          </p:nvSpPr>
          <p:spPr bwMode="auto">
            <a:xfrm>
              <a:off x="1391" y="931"/>
              <a:ext cx="287" cy="292"/>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0267" name="Oval 27">
              <a:extLst>
                <a:ext uri="{FF2B5EF4-FFF2-40B4-BE49-F238E27FC236}">
                  <a16:creationId xmlns:a16="http://schemas.microsoft.com/office/drawing/2014/main" id="{CD621398-E0AA-4AF7-B61B-1ABBE40FDA8C}"/>
                </a:ext>
              </a:extLst>
            </p:cNvPr>
            <p:cNvSpPr>
              <a:spLocks noChangeArrowheads="1"/>
            </p:cNvSpPr>
            <p:nvPr/>
          </p:nvSpPr>
          <p:spPr bwMode="auto">
            <a:xfrm>
              <a:off x="1760" y="931"/>
              <a:ext cx="286" cy="292"/>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0268" name="Oval 28">
              <a:extLst>
                <a:ext uri="{FF2B5EF4-FFF2-40B4-BE49-F238E27FC236}">
                  <a16:creationId xmlns:a16="http://schemas.microsoft.com/office/drawing/2014/main" id="{8D304E20-66A8-4700-8C8C-729499E8F31D}"/>
                </a:ext>
              </a:extLst>
            </p:cNvPr>
            <p:cNvSpPr>
              <a:spLocks noChangeArrowheads="1"/>
            </p:cNvSpPr>
            <p:nvPr/>
          </p:nvSpPr>
          <p:spPr bwMode="auto">
            <a:xfrm>
              <a:off x="2128" y="931"/>
              <a:ext cx="287" cy="292"/>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0269" name="Oval 29">
              <a:extLst>
                <a:ext uri="{FF2B5EF4-FFF2-40B4-BE49-F238E27FC236}">
                  <a16:creationId xmlns:a16="http://schemas.microsoft.com/office/drawing/2014/main" id="{3BC97E11-9266-4634-B18A-0BEAA2D510D8}"/>
                </a:ext>
              </a:extLst>
            </p:cNvPr>
            <p:cNvSpPr>
              <a:spLocks noChangeArrowheads="1"/>
            </p:cNvSpPr>
            <p:nvPr/>
          </p:nvSpPr>
          <p:spPr bwMode="auto">
            <a:xfrm>
              <a:off x="0" y="1390"/>
              <a:ext cx="286" cy="292"/>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0270" name="Oval 30">
              <a:extLst>
                <a:ext uri="{FF2B5EF4-FFF2-40B4-BE49-F238E27FC236}">
                  <a16:creationId xmlns:a16="http://schemas.microsoft.com/office/drawing/2014/main" id="{6A93FB82-5152-42CD-8CBC-0BD17D758BF5}"/>
                </a:ext>
              </a:extLst>
            </p:cNvPr>
            <p:cNvSpPr>
              <a:spLocks noChangeArrowheads="1"/>
            </p:cNvSpPr>
            <p:nvPr/>
          </p:nvSpPr>
          <p:spPr bwMode="auto">
            <a:xfrm>
              <a:off x="409" y="1390"/>
              <a:ext cx="287" cy="292"/>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0271" name="Oval 31">
              <a:extLst>
                <a:ext uri="{FF2B5EF4-FFF2-40B4-BE49-F238E27FC236}">
                  <a16:creationId xmlns:a16="http://schemas.microsoft.com/office/drawing/2014/main" id="{7EF175CB-9478-43F5-93FD-880A0C194217}"/>
                </a:ext>
              </a:extLst>
            </p:cNvPr>
            <p:cNvSpPr>
              <a:spLocks noChangeArrowheads="1"/>
            </p:cNvSpPr>
            <p:nvPr/>
          </p:nvSpPr>
          <p:spPr bwMode="auto">
            <a:xfrm>
              <a:off x="1391" y="1390"/>
              <a:ext cx="287" cy="292"/>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0272" name="Line 32">
              <a:extLst>
                <a:ext uri="{FF2B5EF4-FFF2-40B4-BE49-F238E27FC236}">
                  <a16:creationId xmlns:a16="http://schemas.microsoft.com/office/drawing/2014/main" id="{5CC10E35-EA6E-4069-A815-08DECDE197E2}"/>
                </a:ext>
              </a:extLst>
            </p:cNvPr>
            <p:cNvSpPr>
              <a:spLocks noChangeShapeType="1"/>
            </p:cNvSpPr>
            <p:nvPr/>
          </p:nvSpPr>
          <p:spPr bwMode="auto">
            <a:xfrm>
              <a:off x="2169" y="597"/>
              <a:ext cx="614" cy="0"/>
            </a:xfrm>
            <a:prstGeom prst="line">
              <a:avLst/>
            </a:prstGeom>
            <a:noFill/>
            <a:ln w="28575">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3" name="Line 33">
              <a:extLst>
                <a:ext uri="{FF2B5EF4-FFF2-40B4-BE49-F238E27FC236}">
                  <a16:creationId xmlns:a16="http://schemas.microsoft.com/office/drawing/2014/main" id="{30B0FADA-E6EF-4C37-8835-308107A5E07C}"/>
                </a:ext>
              </a:extLst>
            </p:cNvPr>
            <p:cNvSpPr>
              <a:spLocks noChangeShapeType="1"/>
            </p:cNvSpPr>
            <p:nvPr/>
          </p:nvSpPr>
          <p:spPr bwMode="auto">
            <a:xfrm>
              <a:off x="2408" y="1075"/>
              <a:ext cx="368" cy="0"/>
            </a:xfrm>
            <a:prstGeom prst="line">
              <a:avLst/>
            </a:prstGeom>
            <a:noFill/>
            <a:ln w="28575">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4" name="Line 34">
              <a:extLst>
                <a:ext uri="{FF2B5EF4-FFF2-40B4-BE49-F238E27FC236}">
                  <a16:creationId xmlns:a16="http://schemas.microsoft.com/office/drawing/2014/main" id="{0F7AAFBB-1441-4A91-A25E-478F405EADBE}"/>
                </a:ext>
              </a:extLst>
            </p:cNvPr>
            <p:cNvSpPr>
              <a:spLocks noChangeShapeType="1"/>
            </p:cNvSpPr>
            <p:nvPr/>
          </p:nvSpPr>
          <p:spPr bwMode="auto">
            <a:xfrm>
              <a:off x="1801" y="1515"/>
              <a:ext cx="982" cy="0"/>
            </a:xfrm>
            <a:prstGeom prst="line">
              <a:avLst/>
            </a:prstGeom>
            <a:noFill/>
            <a:ln w="28575">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5" name="Text Box 35">
              <a:extLst>
                <a:ext uri="{FF2B5EF4-FFF2-40B4-BE49-F238E27FC236}">
                  <a16:creationId xmlns:a16="http://schemas.microsoft.com/office/drawing/2014/main" id="{C726FA32-CAA5-44D4-A91A-D62567D54FC7}"/>
                </a:ext>
              </a:extLst>
            </p:cNvPr>
            <p:cNvSpPr txBox="1">
              <a:spLocks noChangeArrowheads="1"/>
            </p:cNvSpPr>
            <p:nvPr/>
          </p:nvSpPr>
          <p:spPr bwMode="auto">
            <a:xfrm>
              <a:off x="2530" y="0"/>
              <a:ext cx="386" cy="274"/>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000">
                  <a:solidFill>
                    <a:schemeClr val="tx2"/>
                  </a:solidFill>
                  <a:latin typeface="Times New Roman" panose="02020603050405020304" pitchFamily="18" charset="0"/>
                </a:rPr>
                <a:t>1</a:t>
              </a:r>
              <a:r>
                <a:rPr lang="zh-CN" altLang="en-US" sz="2000">
                  <a:solidFill>
                    <a:schemeClr val="tx2"/>
                  </a:solidFill>
                  <a:latin typeface="Times New Roman" panose="02020603050405020304" pitchFamily="18" charset="0"/>
                  <a:ea typeface="隶书" panose="02010509060101010101" pitchFamily="49" charset="-122"/>
                </a:rPr>
                <a:t>层</a:t>
              </a:r>
              <a:endParaRPr lang="zh-CN" altLang="en-US" sz="2000">
                <a:latin typeface="Times New Roman" panose="02020603050405020304" pitchFamily="18" charset="0"/>
              </a:endParaRPr>
            </a:p>
          </p:txBody>
        </p:sp>
        <p:sp>
          <p:nvSpPr>
            <p:cNvPr id="10276" name="Text Box 36">
              <a:extLst>
                <a:ext uri="{FF2B5EF4-FFF2-40B4-BE49-F238E27FC236}">
                  <a16:creationId xmlns:a16="http://schemas.microsoft.com/office/drawing/2014/main" id="{748AC255-E66F-4001-887D-70A13BFDA493}"/>
                </a:ext>
              </a:extLst>
            </p:cNvPr>
            <p:cNvSpPr txBox="1">
              <a:spLocks noChangeArrowheads="1"/>
            </p:cNvSpPr>
            <p:nvPr/>
          </p:nvSpPr>
          <p:spPr bwMode="auto">
            <a:xfrm>
              <a:off x="2530" y="452"/>
              <a:ext cx="386" cy="274"/>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000">
                  <a:solidFill>
                    <a:schemeClr val="tx2"/>
                  </a:solidFill>
                  <a:latin typeface="Times New Roman" panose="02020603050405020304" pitchFamily="18" charset="0"/>
                </a:rPr>
                <a:t>2</a:t>
              </a:r>
              <a:r>
                <a:rPr lang="zh-CN" altLang="en-US" sz="2000">
                  <a:solidFill>
                    <a:schemeClr val="tx2"/>
                  </a:solidFill>
                  <a:latin typeface="Times New Roman" panose="02020603050405020304" pitchFamily="18" charset="0"/>
                  <a:ea typeface="隶书" panose="02010509060101010101" pitchFamily="49" charset="-122"/>
                </a:rPr>
                <a:t>层</a:t>
              </a:r>
              <a:endParaRPr lang="zh-CN" altLang="en-US" sz="2000">
                <a:latin typeface="Times New Roman" panose="02020603050405020304" pitchFamily="18" charset="0"/>
              </a:endParaRPr>
            </a:p>
          </p:txBody>
        </p:sp>
        <p:sp>
          <p:nvSpPr>
            <p:cNvPr id="10277" name="Text Box 37">
              <a:extLst>
                <a:ext uri="{FF2B5EF4-FFF2-40B4-BE49-F238E27FC236}">
                  <a16:creationId xmlns:a16="http://schemas.microsoft.com/office/drawing/2014/main" id="{F28E205D-B4E3-4AAD-AC2A-BC382DACBB9F}"/>
                </a:ext>
              </a:extLst>
            </p:cNvPr>
            <p:cNvSpPr txBox="1">
              <a:spLocks noChangeArrowheads="1"/>
            </p:cNvSpPr>
            <p:nvPr/>
          </p:nvSpPr>
          <p:spPr bwMode="auto">
            <a:xfrm>
              <a:off x="2512" y="1370"/>
              <a:ext cx="387" cy="274"/>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000">
                  <a:solidFill>
                    <a:schemeClr val="tx2"/>
                  </a:solidFill>
                  <a:latin typeface="Times New Roman" panose="02020603050405020304" pitchFamily="18" charset="0"/>
                  <a:ea typeface="隶书" panose="02010509060101010101" pitchFamily="49" charset="-122"/>
                </a:rPr>
                <a:t>4层</a:t>
              </a:r>
              <a:endParaRPr lang="zh-CN" altLang="en-US" sz="2000">
                <a:latin typeface="Times New Roman" panose="02020603050405020304" pitchFamily="18" charset="0"/>
              </a:endParaRPr>
            </a:p>
          </p:txBody>
        </p:sp>
        <p:sp>
          <p:nvSpPr>
            <p:cNvPr id="10278" name="Text Box 38">
              <a:extLst>
                <a:ext uri="{FF2B5EF4-FFF2-40B4-BE49-F238E27FC236}">
                  <a16:creationId xmlns:a16="http://schemas.microsoft.com/office/drawing/2014/main" id="{F66A43B1-53A2-43FF-8539-946A35D1E59E}"/>
                </a:ext>
              </a:extLst>
            </p:cNvPr>
            <p:cNvSpPr txBox="1">
              <a:spLocks noChangeArrowheads="1"/>
            </p:cNvSpPr>
            <p:nvPr/>
          </p:nvSpPr>
          <p:spPr bwMode="auto">
            <a:xfrm>
              <a:off x="2530" y="910"/>
              <a:ext cx="386" cy="274"/>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000">
                  <a:solidFill>
                    <a:schemeClr val="tx2"/>
                  </a:solidFill>
                  <a:latin typeface="Times New Roman" panose="02020603050405020304" pitchFamily="18" charset="0"/>
                  <a:ea typeface="隶书" panose="02010509060101010101" pitchFamily="49" charset="-122"/>
                </a:rPr>
                <a:t>3层</a:t>
              </a:r>
              <a:endParaRPr lang="zh-CN" altLang="en-US" sz="2000">
                <a:latin typeface="Times New Roman" panose="02020603050405020304" pitchFamily="18" charset="0"/>
              </a:endParaRPr>
            </a:p>
          </p:txBody>
        </p:sp>
        <p:sp>
          <p:nvSpPr>
            <p:cNvPr id="10279" name="Text Box 39">
              <a:extLst>
                <a:ext uri="{FF2B5EF4-FFF2-40B4-BE49-F238E27FC236}">
                  <a16:creationId xmlns:a16="http://schemas.microsoft.com/office/drawing/2014/main" id="{2EAA2280-11E1-4EA4-9833-E2DD602C1011}"/>
                </a:ext>
              </a:extLst>
            </p:cNvPr>
            <p:cNvSpPr txBox="1">
              <a:spLocks noChangeArrowheads="1"/>
            </p:cNvSpPr>
            <p:nvPr/>
          </p:nvSpPr>
          <p:spPr bwMode="auto">
            <a:xfrm>
              <a:off x="2736" y="638"/>
              <a:ext cx="653" cy="4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lnSpc>
                  <a:spcPct val="80000"/>
                </a:lnSpc>
                <a:spcBef>
                  <a:spcPct val="0"/>
                </a:spcBef>
                <a:buClrTx/>
                <a:buSzTx/>
                <a:buFont typeface="Arial" panose="020B0604020202020204" pitchFamily="34" charset="0"/>
                <a:buNone/>
              </a:pPr>
              <a:r>
                <a:rPr lang="en-US" altLang="zh-CN" sz="2000" b="1">
                  <a:solidFill>
                    <a:srgbClr val="CC0066"/>
                  </a:solidFill>
                  <a:latin typeface="Times New Roman" panose="02020603050405020304" pitchFamily="18" charset="0"/>
                </a:rPr>
                <a:t>Height</a:t>
              </a:r>
            </a:p>
            <a:p>
              <a:pPr algn="ctr" eaLnBrk="1" hangingPunct="1">
                <a:lnSpc>
                  <a:spcPct val="80000"/>
                </a:lnSpc>
                <a:spcBef>
                  <a:spcPct val="0"/>
                </a:spcBef>
                <a:buClrTx/>
                <a:buSzTx/>
                <a:buFont typeface="Arial" panose="020B0604020202020204" pitchFamily="34" charset="0"/>
                <a:buNone/>
              </a:pPr>
              <a:r>
                <a:rPr lang="en-US" altLang="zh-CN" sz="2000" b="1">
                  <a:solidFill>
                    <a:srgbClr val="CC0066"/>
                  </a:solidFill>
                  <a:latin typeface="Times New Roman" panose="02020603050405020304" pitchFamily="18" charset="0"/>
                </a:rPr>
                <a:t>= 4</a:t>
              </a:r>
              <a:endParaRPr lang="en-US" altLang="zh-CN" sz="2000">
                <a:solidFill>
                  <a:srgbClr val="CC0066"/>
                </a:solidFill>
                <a:latin typeface="Times New Roman" panose="02020603050405020304" pitchFamily="18" charset="0"/>
              </a:endParaRPr>
            </a:p>
          </p:txBody>
        </p:sp>
        <p:sp>
          <p:nvSpPr>
            <p:cNvPr id="10280" name="Line 40">
              <a:extLst>
                <a:ext uri="{FF2B5EF4-FFF2-40B4-BE49-F238E27FC236}">
                  <a16:creationId xmlns:a16="http://schemas.microsoft.com/office/drawing/2014/main" id="{A93D78BF-1467-40BF-93C1-1203C7ABBE12}"/>
                </a:ext>
              </a:extLst>
            </p:cNvPr>
            <p:cNvSpPr>
              <a:spLocks noChangeShapeType="1"/>
            </p:cNvSpPr>
            <p:nvPr/>
          </p:nvSpPr>
          <p:spPr bwMode="auto">
            <a:xfrm>
              <a:off x="2990" y="79"/>
              <a:ext cx="164" cy="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81" name="Line 41">
              <a:extLst>
                <a:ext uri="{FF2B5EF4-FFF2-40B4-BE49-F238E27FC236}">
                  <a16:creationId xmlns:a16="http://schemas.microsoft.com/office/drawing/2014/main" id="{70C2FC80-3F23-4939-8D34-3CF2E594D6F0}"/>
                </a:ext>
              </a:extLst>
            </p:cNvPr>
            <p:cNvSpPr>
              <a:spLocks noChangeShapeType="1"/>
            </p:cNvSpPr>
            <p:nvPr/>
          </p:nvSpPr>
          <p:spPr bwMode="auto">
            <a:xfrm flipV="1">
              <a:off x="3072" y="79"/>
              <a:ext cx="0" cy="584"/>
            </a:xfrm>
            <a:prstGeom prst="line">
              <a:avLst/>
            </a:prstGeom>
            <a:noFill/>
            <a:ln w="38100">
              <a:solidFill>
                <a:srgbClr val="0099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82" name="Line 42">
              <a:extLst>
                <a:ext uri="{FF2B5EF4-FFF2-40B4-BE49-F238E27FC236}">
                  <a16:creationId xmlns:a16="http://schemas.microsoft.com/office/drawing/2014/main" id="{299E2EDA-807F-40A1-B78B-A850AE041599}"/>
                </a:ext>
              </a:extLst>
            </p:cNvPr>
            <p:cNvSpPr>
              <a:spLocks noChangeShapeType="1"/>
            </p:cNvSpPr>
            <p:nvPr/>
          </p:nvSpPr>
          <p:spPr bwMode="auto">
            <a:xfrm>
              <a:off x="2990" y="1665"/>
              <a:ext cx="164" cy="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83" name="Line 43">
              <a:extLst>
                <a:ext uri="{FF2B5EF4-FFF2-40B4-BE49-F238E27FC236}">
                  <a16:creationId xmlns:a16="http://schemas.microsoft.com/office/drawing/2014/main" id="{E045D991-933B-478C-9910-434CE3CCE9C6}"/>
                </a:ext>
              </a:extLst>
            </p:cNvPr>
            <p:cNvSpPr>
              <a:spLocks noChangeShapeType="1"/>
            </p:cNvSpPr>
            <p:nvPr/>
          </p:nvSpPr>
          <p:spPr bwMode="auto">
            <a:xfrm flipV="1">
              <a:off x="3072" y="1081"/>
              <a:ext cx="0" cy="584"/>
            </a:xfrm>
            <a:prstGeom prst="line">
              <a:avLst/>
            </a:prstGeom>
            <a:noFill/>
            <a:ln w="38100">
              <a:solidFill>
                <a:srgbClr val="009900"/>
              </a:solidFill>
              <a:round/>
              <a:headEnd type="triangle" w="sm"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84" name="Text Box 44">
              <a:extLst>
                <a:ext uri="{FF2B5EF4-FFF2-40B4-BE49-F238E27FC236}">
                  <a16:creationId xmlns:a16="http://schemas.microsoft.com/office/drawing/2014/main" id="{098CF664-06A4-425C-9D14-670311701EC4}"/>
                </a:ext>
              </a:extLst>
            </p:cNvPr>
            <p:cNvSpPr txBox="1">
              <a:spLocks noChangeArrowheads="1"/>
            </p:cNvSpPr>
            <p:nvPr/>
          </p:nvSpPr>
          <p:spPr bwMode="auto">
            <a:xfrm>
              <a:off x="1056" y="17"/>
              <a:ext cx="254" cy="2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solidFill>
                    <a:srgbClr val="FFFFCC"/>
                  </a:solidFill>
                  <a:latin typeface="Arial" panose="020B0604020202020204" pitchFamily="34" charset="0"/>
                </a:rPr>
                <a:t>A</a:t>
              </a:r>
              <a:endParaRPr lang="en-US" altLang="zh-CN" sz="2000" i="0" dirty="0">
                <a:latin typeface="Times New Roman" panose="02020603050405020304" pitchFamily="18" charset="0"/>
              </a:endParaRPr>
            </a:p>
          </p:txBody>
        </p:sp>
        <p:sp>
          <p:nvSpPr>
            <p:cNvPr id="10285" name="Text Box 45">
              <a:extLst>
                <a:ext uri="{FF2B5EF4-FFF2-40B4-BE49-F238E27FC236}">
                  <a16:creationId xmlns:a16="http://schemas.microsoft.com/office/drawing/2014/main" id="{9541313A-4F13-4FDF-8FAF-1FDFAFA28237}"/>
                </a:ext>
              </a:extLst>
            </p:cNvPr>
            <p:cNvSpPr txBox="1">
              <a:spLocks noChangeArrowheads="1"/>
            </p:cNvSpPr>
            <p:nvPr/>
          </p:nvSpPr>
          <p:spPr bwMode="auto">
            <a:xfrm>
              <a:off x="1057" y="476"/>
              <a:ext cx="252"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solidFill>
                    <a:srgbClr val="FFFFCC"/>
                  </a:solidFill>
                  <a:latin typeface="Arial" panose="020B0604020202020204" pitchFamily="34" charset="0"/>
                </a:rPr>
                <a:t>C</a:t>
              </a:r>
              <a:endParaRPr lang="en-US" altLang="zh-CN" sz="2000" i="0" dirty="0">
                <a:latin typeface="Times New Roman" panose="02020603050405020304" pitchFamily="18" charset="0"/>
              </a:endParaRPr>
            </a:p>
          </p:txBody>
        </p:sp>
        <p:sp>
          <p:nvSpPr>
            <p:cNvPr id="10286" name="Text Box 46">
              <a:extLst>
                <a:ext uri="{FF2B5EF4-FFF2-40B4-BE49-F238E27FC236}">
                  <a16:creationId xmlns:a16="http://schemas.microsoft.com/office/drawing/2014/main" id="{BB744E5B-2732-44EE-9B22-5D9C60A620E2}"/>
                </a:ext>
              </a:extLst>
            </p:cNvPr>
            <p:cNvSpPr txBox="1">
              <a:spLocks noChangeArrowheads="1"/>
            </p:cNvSpPr>
            <p:nvPr/>
          </p:nvSpPr>
          <p:spPr bwMode="auto">
            <a:xfrm>
              <a:off x="1054" y="943"/>
              <a:ext cx="260"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solidFill>
                    <a:srgbClr val="FFFFCC"/>
                  </a:solidFill>
                  <a:latin typeface="Arial" panose="020B0604020202020204" pitchFamily="34" charset="0"/>
                </a:rPr>
                <a:t>G</a:t>
              </a:r>
              <a:endParaRPr lang="en-US" altLang="zh-CN" sz="2000" i="0" dirty="0">
                <a:latin typeface="Times New Roman" panose="02020603050405020304" pitchFamily="18" charset="0"/>
              </a:endParaRPr>
            </a:p>
          </p:txBody>
        </p:sp>
        <p:sp>
          <p:nvSpPr>
            <p:cNvPr id="10287" name="Text Box 47">
              <a:extLst>
                <a:ext uri="{FF2B5EF4-FFF2-40B4-BE49-F238E27FC236}">
                  <a16:creationId xmlns:a16="http://schemas.microsoft.com/office/drawing/2014/main" id="{F2AF751D-A5CD-4CDA-A429-AD279E9E8E7B}"/>
                </a:ext>
              </a:extLst>
            </p:cNvPr>
            <p:cNvSpPr txBox="1">
              <a:spLocks noChangeArrowheads="1"/>
            </p:cNvSpPr>
            <p:nvPr/>
          </p:nvSpPr>
          <p:spPr bwMode="auto">
            <a:xfrm>
              <a:off x="443" y="476"/>
              <a:ext cx="252"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solidFill>
                    <a:srgbClr val="FFFFCC"/>
                  </a:solidFill>
                  <a:latin typeface="Arial" panose="020B0604020202020204" pitchFamily="34" charset="0"/>
                </a:rPr>
                <a:t>B</a:t>
              </a:r>
              <a:endParaRPr lang="en-US" altLang="zh-CN" sz="2000" i="0" dirty="0">
                <a:latin typeface="Times New Roman" panose="02020603050405020304" pitchFamily="18" charset="0"/>
              </a:endParaRPr>
            </a:p>
          </p:txBody>
        </p:sp>
        <p:sp>
          <p:nvSpPr>
            <p:cNvPr id="10288" name="Text Box 48">
              <a:extLst>
                <a:ext uri="{FF2B5EF4-FFF2-40B4-BE49-F238E27FC236}">
                  <a16:creationId xmlns:a16="http://schemas.microsoft.com/office/drawing/2014/main" id="{B2F510F6-7290-4AB4-BAF1-5A43E31C57FA}"/>
                </a:ext>
              </a:extLst>
            </p:cNvPr>
            <p:cNvSpPr txBox="1">
              <a:spLocks noChangeArrowheads="1"/>
            </p:cNvSpPr>
            <p:nvPr/>
          </p:nvSpPr>
          <p:spPr bwMode="auto">
            <a:xfrm>
              <a:off x="1792" y="484"/>
              <a:ext cx="254" cy="2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solidFill>
                    <a:srgbClr val="FFFFCC"/>
                  </a:solidFill>
                  <a:latin typeface="Arial" panose="020B0604020202020204" pitchFamily="34" charset="0"/>
                </a:rPr>
                <a:t>D</a:t>
              </a:r>
              <a:endParaRPr lang="en-US" altLang="zh-CN" sz="2000" i="0" dirty="0">
                <a:latin typeface="Times New Roman" panose="02020603050405020304" pitchFamily="18" charset="0"/>
              </a:endParaRPr>
            </a:p>
          </p:txBody>
        </p:sp>
        <p:sp>
          <p:nvSpPr>
            <p:cNvPr id="10289" name="Text Box 49">
              <a:extLst>
                <a:ext uri="{FF2B5EF4-FFF2-40B4-BE49-F238E27FC236}">
                  <a16:creationId xmlns:a16="http://schemas.microsoft.com/office/drawing/2014/main" id="{F18156D5-C699-45C4-95A0-8A9D5CAF1392}"/>
                </a:ext>
              </a:extLst>
            </p:cNvPr>
            <p:cNvSpPr txBox="1">
              <a:spLocks noChangeArrowheads="1"/>
            </p:cNvSpPr>
            <p:nvPr/>
          </p:nvSpPr>
          <p:spPr bwMode="auto">
            <a:xfrm>
              <a:off x="244" y="942"/>
              <a:ext cx="244" cy="2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solidFill>
                    <a:srgbClr val="FFFFCC"/>
                  </a:solidFill>
                  <a:latin typeface="Arial" panose="020B0604020202020204" pitchFamily="34" charset="0"/>
                </a:rPr>
                <a:t>E</a:t>
              </a:r>
              <a:endParaRPr lang="en-US" altLang="zh-CN" sz="2000" i="0" dirty="0">
                <a:latin typeface="Times New Roman" panose="02020603050405020304" pitchFamily="18" charset="0"/>
              </a:endParaRPr>
            </a:p>
          </p:txBody>
        </p:sp>
        <p:sp>
          <p:nvSpPr>
            <p:cNvPr id="10290" name="Text Box 50">
              <a:extLst>
                <a:ext uri="{FF2B5EF4-FFF2-40B4-BE49-F238E27FC236}">
                  <a16:creationId xmlns:a16="http://schemas.microsoft.com/office/drawing/2014/main" id="{087BA0AA-4F5B-4892-A800-D506F280A38F}"/>
                </a:ext>
              </a:extLst>
            </p:cNvPr>
            <p:cNvSpPr txBox="1">
              <a:spLocks noChangeArrowheads="1"/>
            </p:cNvSpPr>
            <p:nvPr/>
          </p:nvSpPr>
          <p:spPr bwMode="auto">
            <a:xfrm>
              <a:off x="612" y="943"/>
              <a:ext cx="232"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solidFill>
                    <a:srgbClr val="FFFFCC"/>
                  </a:solidFill>
                  <a:latin typeface="Arial" panose="020B0604020202020204" pitchFamily="34" charset="0"/>
                </a:rPr>
                <a:t>F</a:t>
              </a:r>
              <a:endParaRPr lang="en-US" altLang="zh-CN" sz="2000" i="0" dirty="0">
                <a:latin typeface="Times New Roman" panose="02020603050405020304" pitchFamily="18" charset="0"/>
              </a:endParaRPr>
            </a:p>
          </p:txBody>
        </p:sp>
        <p:sp>
          <p:nvSpPr>
            <p:cNvPr id="10291" name="Text Box 51">
              <a:extLst>
                <a:ext uri="{FF2B5EF4-FFF2-40B4-BE49-F238E27FC236}">
                  <a16:creationId xmlns:a16="http://schemas.microsoft.com/office/drawing/2014/main" id="{A00F57ED-FBEB-4783-B84F-0A495349EE01}"/>
                </a:ext>
              </a:extLst>
            </p:cNvPr>
            <p:cNvSpPr txBox="1">
              <a:spLocks noChangeArrowheads="1"/>
            </p:cNvSpPr>
            <p:nvPr/>
          </p:nvSpPr>
          <p:spPr bwMode="auto">
            <a:xfrm>
              <a:off x="42" y="1403"/>
              <a:ext cx="252"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dirty="0">
                  <a:solidFill>
                    <a:srgbClr val="FFFFCC"/>
                  </a:solidFill>
                  <a:latin typeface="Arial" panose="020B0604020202020204" pitchFamily="34" charset="0"/>
                </a:rPr>
                <a:t>K</a:t>
              </a:r>
              <a:endParaRPr lang="en-US" altLang="zh-CN" sz="2000" dirty="0">
                <a:latin typeface="Times New Roman" panose="02020603050405020304" pitchFamily="18" charset="0"/>
              </a:endParaRPr>
            </a:p>
          </p:txBody>
        </p:sp>
        <p:sp>
          <p:nvSpPr>
            <p:cNvPr id="10292" name="Text Box 52">
              <a:extLst>
                <a:ext uri="{FF2B5EF4-FFF2-40B4-BE49-F238E27FC236}">
                  <a16:creationId xmlns:a16="http://schemas.microsoft.com/office/drawing/2014/main" id="{9979D39E-8FCA-4EF1-BD7B-10B916883C71}"/>
                </a:ext>
              </a:extLst>
            </p:cNvPr>
            <p:cNvSpPr txBox="1">
              <a:spLocks noChangeArrowheads="1"/>
            </p:cNvSpPr>
            <p:nvPr/>
          </p:nvSpPr>
          <p:spPr bwMode="auto">
            <a:xfrm>
              <a:off x="443" y="1403"/>
              <a:ext cx="233"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solidFill>
                    <a:srgbClr val="FFFFCC"/>
                  </a:solidFill>
                  <a:latin typeface="Arial" panose="020B0604020202020204" pitchFamily="34" charset="0"/>
                </a:rPr>
                <a:t>L</a:t>
              </a:r>
              <a:endParaRPr lang="en-US" altLang="zh-CN" sz="2000" i="0" dirty="0">
                <a:latin typeface="Times New Roman" panose="02020603050405020304" pitchFamily="18" charset="0"/>
              </a:endParaRPr>
            </a:p>
          </p:txBody>
        </p:sp>
        <p:sp>
          <p:nvSpPr>
            <p:cNvPr id="10293" name="Text Box 53">
              <a:extLst>
                <a:ext uri="{FF2B5EF4-FFF2-40B4-BE49-F238E27FC236}">
                  <a16:creationId xmlns:a16="http://schemas.microsoft.com/office/drawing/2014/main" id="{B0F80CF1-E5BF-48D0-A6E8-8EFF3CE540A1}"/>
                </a:ext>
              </a:extLst>
            </p:cNvPr>
            <p:cNvSpPr txBox="1">
              <a:spLocks noChangeArrowheads="1"/>
            </p:cNvSpPr>
            <p:nvPr/>
          </p:nvSpPr>
          <p:spPr bwMode="auto">
            <a:xfrm>
              <a:off x="1421" y="943"/>
              <a:ext cx="252"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solidFill>
                    <a:srgbClr val="FFFFCC"/>
                  </a:solidFill>
                  <a:latin typeface="Arial" panose="020B0604020202020204" pitchFamily="34" charset="0"/>
                </a:rPr>
                <a:t>H</a:t>
              </a:r>
              <a:endParaRPr lang="en-US" altLang="zh-CN" sz="2000" i="0" dirty="0">
                <a:latin typeface="Times New Roman" panose="02020603050405020304" pitchFamily="18" charset="0"/>
              </a:endParaRPr>
            </a:p>
          </p:txBody>
        </p:sp>
        <p:sp>
          <p:nvSpPr>
            <p:cNvPr id="10294" name="Text Box 54">
              <a:extLst>
                <a:ext uri="{FF2B5EF4-FFF2-40B4-BE49-F238E27FC236}">
                  <a16:creationId xmlns:a16="http://schemas.microsoft.com/office/drawing/2014/main" id="{22C2ED64-9A49-4079-A838-59E05C0D9037}"/>
                </a:ext>
              </a:extLst>
            </p:cNvPr>
            <p:cNvSpPr txBox="1">
              <a:spLocks noChangeArrowheads="1"/>
            </p:cNvSpPr>
            <p:nvPr/>
          </p:nvSpPr>
          <p:spPr bwMode="auto">
            <a:xfrm>
              <a:off x="1390" y="1403"/>
              <a:ext cx="271"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solidFill>
                    <a:srgbClr val="FFFFCC"/>
                  </a:solidFill>
                  <a:latin typeface="Arial" panose="020B0604020202020204" pitchFamily="34" charset="0"/>
                </a:rPr>
                <a:t>M</a:t>
              </a:r>
              <a:endParaRPr lang="en-US" altLang="zh-CN" sz="2000" i="0" dirty="0">
                <a:latin typeface="Times New Roman" panose="02020603050405020304" pitchFamily="18" charset="0"/>
              </a:endParaRPr>
            </a:p>
          </p:txBody>
        </p:sp>
        <p:sp>
          <p:nvSpPr>
            <p:cNvPr id="10295" name="Text Box 55">
              <a:extLst>
                <a:ext uri="{FF2B5EF4-FFF2-40B4-BE49-F238E27FC236}">
                  <a16:creationId xmlns:a16="http://schemas.microsoft.com/office/drawing/2014/main" id="{2418F054-7756-450C-AB00-E57C620D434A}"/>
                </a:ext>
              </a:extLst>
            </p:cNvPr>
            <p:cNvSpPr txBox="1">
              <a:spLocks noChangeArrowheads="1"/>
            </p:cNvSpPr>
            <p:nvPr/>
          </p:nvSpPr>
          <p:spPr bwMode="auto">
            <a:xfrm>
              <a:off x="1806" y="943"/>
              <a:ext cx="174"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solidFill>
                    <a:srgbClr val="FFFFCC"/>
                  </a:solidFill>
                  <a:latin typeface="Arial" panose="020B0604020202020204" pitchFamily="34" charset="0"/>
                </a:rPr>
                <a:t>I</a:t>
              </a:r>
              <a:endParaRPr lang="en-US" altLang="zh-CN" sz="2000" i="0" dirty="0">
                <a:latin typeface="Times New Roman" panose="02020603050405020304" pitchFamily="18" charset="0"/>
              </a:endParaRPr>
            </a:p>
          </p:txBody>
        </p:sp>
        <p:sp>
          <p:nvSpPr>
            <p:cNvPr id="10296" name="Text Box 56">
              <a:extLst>
                <a:ext uri="{FF2B5EF4-FFF2-40B4-BE49-F238E27FC236}">
                  <a16:creationId xmlns:a16="http://schemas.microsoft.com/office/drawing/2014/main" id="{11F6C099-8122-49C4-A8D2-7D833CA3AA1E}"/>
                </a:ext>
              </a:extLst>
            </p:cNvPr>
            <p:cNvSpPr txBox="1">
              <a:spLocks noChangeArrowheads="1"/>
            </p:cNvSpPr>
            <p:nvPr/>
          </p:nvSpPr>
          <p:spPr bwMode="auto">
            <a:xfrm>
              <a:off x="2171" y="943"/>
              <a:ext cx="223"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solidFill>
                    <a:srgbClr val="FFFFCC"/>
                  </a:solidFill>
                  <a:latin typeface="Arial" panose="020B0604020202020204" pitchFamily="34" charset="0"/>
                </a:rPr>
                <a:t>J</a:t>
              </a:r>
              <a:endParaRPr lang="en-US" altLang="zh-CN" sz="2000" i="0" dirty="0">
                <a:latin typeface="Times New Roman" panose="02020603050405020304" pitchFamily="18" charset="0"/>
              </a:endParaRPr>
            </a:p>
          </p:txBody>
        </p:sp>
      </p:grpSp>
      <p:sp>
        <p:nvSpPr>
          <p:cNvPr id="3" name="Text Box 4">
            <a:extLst>
              <a:ext uri="{FF2B5EF4-FFF2-40B4-BE49-F238E27FC236}">
                <a16:creationId xmlns:a16="http://schemas.microsoft.com/office/drawing/2014/main" id="{75E9A035-C515-C864-7289-61ADE19A916E}"/>
              </a:ext>
            </a:extLst>
          </p:cNvPr>
          <p:cNvSpPr txBox="1">
            <a:spLocks noChangeArrowheads="1"/>
          </p:cNvSpPr>
          <p:nvPr/>
        </p:nvSpPr>
        <p:spPr bwMode="auto">
          <a:xfrm>
            <a:off x="240161" y="172243"/>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二、树的基本术语</a:t>
            </a:r>
          </a:p>
        </p:txBody>
      </p:sp>
      <p:sp>
        <p:nvSpPr>
          <p:cNvPr id="2" name="文本框 1">
            <a:extLst>
              <a:ext uri="{FF2B5EF4-FFF2-40B4-BE49-F238E27FC236}">
                <a16:creationId xmlns:a16="http://schemas.microsoft.com/office/drawing/2014/main" id="{502F1F1F-DB41-BECD-D4C7-7C0D2BAE70C4}"/>
              </a:ext>
            </a:extLst>
          </p:cNvPr>
          <p:cNvSpPr txBox="1"/>
          <p:nvPr/>
        </p:nvSpPr>
        <p:spPr>
          <a:xfrm>
            <a:off x="2040831" y="1792601"/>
            <a:ext cx="2820692" cy="523220"/>
          </a:xfrm>
          <a:prstGeom prst="rect">
            <a:avLst/>
          </a:prstGeom>
          <a:noFill/>
        </p:spPr>
        <p:txBody>
          <a:bodyPr wrap="square" rtlCol="0">
            <a:spAutoFit/>
          </a:bodyPr>
          <a:lstStyle/>
          <a:p>
            <a:r>
              <a:rPr lang="en-US" altLang="zh-CN" sz="2800" i="0" dirty="0">
                <a:solidFill>
                  <a:srgbClr val="FF0000"/>
                </a:solidFill>
                <a:latin typeface="+mn-ea"/>
                <a:ea typeface="+mn-ea"/>
              </a:rPr>
              <a:t>A</a:t>
            </a:r>
            <a:r>
              <a:rPr lang="zh-CN" altLang="en-US" sz="2800" i="0" dirty="0">
                <a:solidFill>
                  <a:srgbClr val="FF0000"/>
                </a:solidFill>
                <a:latin typeface="+mn-ea"/>
                <a:ea typeface="+mn-ea"/>
              </a:rPr>
              <a:t>的孩子</a:t>
            </a:r>
            <a:r>
              <a:rPr lang="en-US" altLang="zh-CN" sz="2800" i="0" dirty="0">
                <a:solidFill>
                  <a:srgbClr val="FF0000"/>
                </a:solidFill>
                <a:latin typeface="+mn-ea"/>
                <a:ea typeface="+mn-ea"/>
              </a:rPr>
              <a:t>B</a:t>
            </a:r>
            <a:r>
              <a:rPr lang="zh-CN" altLang="en-US" sz="2800" i="0" dirty="0">
                <a:solidFill>
                  <a:srgbClr val="FF0000"/>
                </a:solidFill>
                <a:latin typeface="+mn-ea"/>
                <a:ea typeface="+mn-ea"/>
              </a:rPr>
              <a:t>、</a:t>
            </a:r>
            <a:r>
              <a:rPr lang="en-US" altLang="zh-CN" sz="2800" i="0" dirty="0">
                <a:solidFill>
                  <a:srgbClr val="FF0000"/>
                </a:solidFill>
                <a:latin typeface="+mn-ea"/>
                <a:ea typeface="+mn-ea"/>
              </a:rPr>
              <a:t>C</a:t>
            </a:r>
            <a:r>
              <a:rPr lang="zh-CN" altLang="en-US" sz="2800" i="0" dirty="0">
                <a:solidFill>
                  <a:srgbClr val="FF0000"/>
                </a:solidFill>
                <a:latin typeface="+mn-ea"/>
                <a:ea typeface="+mn-ea"/>
              </a:rPr>
              <a:t>、</a:t>
            </a:r>
            <a:r>
              <a:rPr lang="en-US" altLang="zh-CN" sz="2800" i="0" dirty="0">
                <a:solidFill>
                  <a:srgbClr val="FF0000"/>
                </a:solidFill>
                <a:latin typeface="+mn-ea"/>
                <a:ea typeface="+mn-ea"/>
              </a:rPr>
              <a:t>D</a:t>
            </a:r>
            <a:endParaRPr lang="zh-CN" altLang="en-US" sz="2800" i="0" dirty="0">
              <a:solidFill>
                <a:srgbClr val="FF0000"/>
              </a:solidFill>
              <a:latin typeface="+mn-ea"/>
              <a:ea typeface="+mn-ea"/>
            </a:endParaRPr>
          </a:p>
        </p:txBody>
      </p:sp>
      <p:sp>
        <p:nvSpPr>
          <p:cNvPr id="4" name="文本框 3">
            <a:extLst>
              <a:ext uri="{FF2B5EF4-FFF2-40B4-BE49-F238E27FC236}">
                <a16:creationId xmlns:a16="http://schemas.microsoft.com/office/drawing/2014/main" id="{50FA777B-7A1E-93AA-25FF-49731F8BF497}"/>
              </a:ext>
            </a:extLst>
          </p:cNvPr>
          <p:cNvSpPr txBox="1"/>
          <p:nvPr/>
        </p:nvSpPr>
        <p:spPr>
          <a:xfrm>
            <a:off x="2052523" y="2905780"/>
            <a:ext cx="3168528" cy="523220"/>
          </a:xfrm>
          <a:prstGeom prst="rect">
            <a:avLst/>
          </a:prstGeom>
          <a:noFill/>
        </p:spPr>
        <p:txBody>
          <a:bodyPr wrap="square" rtlCol="0">
            <a:spAutoFit/>
          </a:bodyPr>
          <a:lstStyle/>
          <a:p>
            <a:r>
              <a:rPr lang="en-US" altLang="zh-CN" sz="2800" i="0" dirty="0">
                <a:solidFill>
                  <a:srgbClr val="FF0000"/>
                </a:solidFill>
                <a:latin typeface="+mn-ea"/>
                <a:ea typeface="+mn-ea"/>
              </a:rPr>
              <a:t>E</a:t>
            </a:r>
            <a:r>
              <a:rPr lang="zh-CN" altLang="en-US" sz="2800" i="0" dirty="0">
                <a:solidFill>
                  <a:srgbClr val="FF0000"/>
                </a:solidFill>
                <a:latin typeface="+mn-ea"/>
                <a:ea typeface="+mn-ea"/>
              </a:rPr>
              <a:t>、</a:t>
            </a:r>
            <a:r>
              <a:rPr lang="en-US" altLang="zh-CN" sz="2800" i="0" dirty="0">
                <a:solidFill>
                  <a:srgbClr val="FF0000"/>
                </a:solidFill>
                <a:latin typeface="+mn-ea"/>
                <a:ea typeface="+mn-ea"/>
              </a:rPr>
              <a:t>F</a:t>
            </a:r>
            <a:r>
              <a:rPr lang="zh-CN" altLang="en-US" sz="2800" i="0" dirty="0">
                <a:solidFill>
                  <a:srgbClr val="FF0000"/>
                </a:solidFill>
                <a:latin typeface="+mn-ea"/>
                <a:ea typeface="+mn-ea"/>
              </a:rPr>
              <a:t>的双亲</a:t>
            </a:r>
            <a:r>
              <a:rPr lang="en-US" altLang="zh-CN" sz="2800" i="0" dirty="0">
                <a:solidFill>
                  <a:srgbClr val="FF0000"/>
                </a:solidFill>
                <a:latin typeface="+mn-ea"/>
                <a:ea typeface="+mn-ea"/>
              </a:rPr>
              <a:t>B</a:t>
            </a:r>
            <a:r>
              <a:rPr lang="zh-CN" altLang="en-US" sz="2800" i="0" dirty="0">
                <a:solidFill>
                  <a:srgbClr val="FF0000"/>
                </a:solidFill>
                <a:latin typeface="+mn-ea"/>
                <a:ea typeface="+mn-ea"/>
              </a:rPr>
              <a:t>结点</a:t>
            </a:r>
          </a:p>
        </p:txBody>
      </p:sp>
      <p:sp>
        <p:nvSpPr>
          <p:cNvPr id="5" name="文本框 4">
            <a:extLst>
              <a:ext uri="{FF2B5EF4-FFF2-40B4-BE49-F238E27FC236}">
                <a16:creationId xmlns:a16="http://schemas.microsoft.com/office/drawing/2014/main" id="{C7E69F6B-7417-3C61-9576-4DE328B4B9F2}"/>
              </a:ext>
            </a:extLst>
          </p:cNvPr>
          <p:cNvSpPr txBox="1"/>
          <p:nvPr/>
        </p:nvSpPr>
        <p:spPr>
          <a:xfrm>
            <a:off x="2062665" y="4028336"/>
            <a:ext cx="3168528" cy="523220"/>
          </a:xfrm>
          <a:prstGeom prst="rect">
            <a:avLst/>
          </a:prstGeom>
          <a:noFill/>
        </p:spPr>
        <p:txBody>
          <a:bodyPr wrap="square" rtlCol="0">
            <a:spAutoFit/>
          </a:bodyPr>
          <a:lstStyle/>
          <a:p>
            <a:r>
              <a:rPr lang="en-US" altLang="zh-CN" sz="2800" i="0" dirty="0">
                <a:solidFill>
                  <a:srgbClr val="FF0000"/>
                </a:solidFill>
                <a:latin typeface="+mn-ea"/>
                <a:ea typeface="+mn-ea"/>
              </a:rPr>
              <a:t>B</a:t>
            </a:r>
            <a:r>
              <a:rPr lang="zh-CN" altLang="en-US" sz="2800" i="0" dirty="0">
                <a:solidFill>
                  <a:srgbClr val="FF0000"/>
                </a:solidFill>
                <a:latin typeface="+mn-ea"/>
                <a:ea typeface="+mn-ea"/>
              </a:rPr>
              <a:t>、</a:t>
            </a:r>
            <a:r>
              <a:rPr lang="en-US" altLang="zh-CN" sz="2800" i="0" dirty="0">
                <a:solidFill>
                  <a:srgbClr val="FF0000"/>
                </a:solidFill>
                <a:latin typeface="+mn-ea"/>
                <a:ea typeface="+mn-ea"/>
              </a:rPr>
              <a:t>C</a:t>
            </a:r>
            <a:r>
              <a:rPr lang="zh-CN" altLang="en-US" sz="2800" i="0" dirty="0">
                <a:solidFill>
                  <a:srgbClr val="FF0000"/>
                </a:solidFill>
                <a:latin typeface="+mn-ea"/>
                <a:ea typeface="+mn-ea"/>
              </a:rPr>
              <a:t>、</a:t>
            </a:r>
            <a:r>
              <a:rPr lang="en-US" altLang="zh-CN" sz="2800" i="0" dirty="0">
                <a:solidFill>
                  <a:srgbClr val="FF0000"/>
                </a:solidFill>
                <a:latin typeface="+mn-ea"/>
                <a:ea typeface="+mn-ea"/>
              </a:rPr>
              <a:t>D</a:t>
            </a:r>
            <a:r>
              <a:rPr lang="zh-CN" altLang="en-US" sz="2800" i="0" dirty="0">
                <a:solidFill>
                  <a:srgbClr val="FF0000"/>
                </a:solidFill>
                <a:latin typeface="+mn-ea"/>
                <a:ea typeface="+mn-ea"/>
              </a:rPr>
              <a:t>是兄弟</a:t>
            </a:r>
          </a:p>
        </p:txBody>
      </p:sp>
    </p:spTree>
    <p:extLst>
      <p:ext uri="{BB962C8B-B14F-4D97-AF65-F5344CB8AC3E}">
        <p14:creationId xmlns:p14="http://schemas.microsoft.com/office/powerpoint/2010/main" val="279986617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24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10245">
                                            <p:txEl>
                                              <p:pRg st="2" end="2"/>
                                            </p:txEl>
                                          </p:spTgt>
                                        </p:tgtEl>
                                        <p:attrNameLst>
                                          <p:attrName>style.visibility</p:attrName>
                                        </p:attrNameLst>
                                      </p:cBhvr>
                                      <p:to>
                                        <p:strVal val="visible"/>
                                      </p:to>
                                    </p:set>
                                    <p:animEffect transition="in" filter="blinds(horizontal)">
                                      <p:cBhvr>
                                        <p:cTn id="15" dur="500"/>
                                        <p:tgtEl>
                                          <p:spTgt spid="10245">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4"/>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3" presetClass="entr" presetSubtype="10" fill="hold" nodeType="clickEffect">
                                  <p:stCondLst>
                                    <p:cond delay="0"/>
                                  </p:stCondLst>
                                  <p:childTnLst>
                                    <p:set>
                                      <p:cBhvr>
                                        <p:cTn id="23" dur="1" fill="hold">
                                          <p:stCondLst>
                                            <p:cond delay="0"/>
                                          </p:stCondLst>
                                        </p:cTn>
                                        <p:tgtEl>
                                          <p:spTgt spid="10245">
                                            <p:txEl>
                                              <p:pRg st="4" end="4"/>
                                            </p:txEl>
                                          </p:spTgt>
                                        </p:tgtEl>
                                        <p:attrNameLst>
                                          <p:attrName>style.visibility</p:attrName>
                                        </p:attrNameLst>
                                      </p:cBhvr>
                                      <p:to>
                                        <p:strVal val="visible"/>
                                      </p:to>
                                    </p:set>
                                    <p:animEffect transition="in" filter="blinds(horizontal)">
                                      <p:cBhvr>
                                        <p:cTn id="24" dur="500"/>
                                        <p:tgtEl>
                                          <p:spTgt spid="10245">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Text Box 3">
            <a:extLst>
              <a:ext uri="{FF2B5EF4-FFF2-40B4-BE49-F238E27FC236}">
                <a16:creationId xmlns:a16="http://schemas.microsoft.com/office/drawing/2014/main" id="{012CCF6A-4372-4A3F-ADF1-684E322B3064}"/>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A8F33339-CD84-425D-A567-49A3421D1FF6}" type="slidenum">
              <a:rPr lang="zh-CN" altLang="en-US" sz="2400"/>
              <a:pPr algn="r" eaLnBrk="1" hangingPunct="1">
                <a:spcBef>
                  <a:spcPct val="50000"/>
                </a:spcBef>
                <a:buClrTx/>
                <a:buSzTx/>
                <a:buFont typeface="Arial" panose="020B0604020202020204" pitchFamily="34" charset="0"/>
                <a:buNone/>
              </a:pPr>
              <a:t>6</a:t>
            </a:fld>
            <a:endParaRPr lang="en-US" altLang="zh-CN" sz="2400"/>
          </a:p>
        </p:txBody>
      </p:sp>
      <p:sp>
        <p:nvSpPr>
          <p:cNvPr id="10245" name="Rectangle 5">
            <a:extLst>
              <a:ext uri="{FF2B5EF4-FFF2-40B4-BE49-F238E27FC236}">
                <a16:creationId xmlns:a16="http://schemas.microsoft.com/office/drawing/2014/main" id="{79B87DF4-067B-4335-8278-613CD9EEBC85}"/>
              </a:ext>
            </a:extLst>
          </p:cNvPr>
          <p:cNvSpPr>
            <a:spLocks noGrp="1" noChangeArrowheads="1"/>
          </p:cNvSpPr>
          <p:nvPr>
            <p:ph type="body" idx="1"/>
          </p:nvPr>
        </p:nvSpPr>
        <p:spPr>
          <a:xfrm>
            <a:off x="510714" y="1254237"/>
            <a:ext cx="8763000" cy="2289120"/>
          </a:xfrm>
        </p:spPr>
        <p:txBody>
          <a:bodyPr/>
          <a:lstStyle/>
          <a:p>
            <a:pPr eaLnBrk="1" hangingPunct="1">
              <a:spcBef>
                <a:spcPct val="30000"/>
              </a:spcBef>
            </a:pPr>
            <a:r>
              <a:rPr lang="zh-CN" altLang="en-US" sz="2800" dirty="0">
                <a:solidFill>
                  <a:srgbClr val="CC0066"/>
                </a:solidFill>
                <a:latin typeface="黑体" panose="02010609060101010101" pitchFamily="49" charset="-122"/>
                <a:ea typeface="黑体" panose="02010609060101010101" pitchFamily="49" charset="-122"/>
              </a:rPr>
              <a:t>子孙：</a:t>
            </a:r>
            <a:r>
              <a:rPr lang="zh-CN" altLang="en-US" sz="2800" dirty="0">
                <a:latin typeface="黑体" panose="02010609060101010101" pitchFamily="49" charset="-122"/>
                <a:ea typeface="黑体" panose="02010609060101010101" pitchFamily="49" charset="-122"/>
              </a:rPr>
              <a:t>以某结点为根的树中的所有结点</a:t>
            </a:r>
            <a:endParaRPr lang="en-US" altLang="zh-CN" sz="2800" dirty="0">
              <a:latin typeface="黑体" panose="02010609060101010101" pitchFamily="49" charset="-122"/>
              <a:ea typeface="黑体" panose="02010609060101010101" pitchFamily="49" charset="-122"/>
            </a:endParaRPr>
          </a:p>
          <a:p>
            <a:pPr marL="0" indent="0" eaLnBrk="1" hangingPunct="1">
              <a:spcBef>
                <a:spcPct val="30000"/>
              </a:spcBef>
              <a:buNone/>
            </a:pPr>
            <a:r>
              <a:rPr lang="en-US" altLang="zh-CN" dirty="0">
                <a:latin typeface="黑体" panose="02010609060101010101" pitchFamily="49" charset="-122"/>
                <a:ea typeface="黑体" panose="02010609060101010101" pitchFamily="49" charset="-122"/>
              </a:rPr>
              <a:t>         </a:t>
            </a:r>
            <a:endParaRPr lang="zh-CN" altLang="en-US" sz="2800" dirty="0">
              <a:latin typeface="黑体" panose="02010609060101010101" pitchFamily="49" charset="-122"/>
              <a:ea typeface="黑体" panose="02010609060101010101" pitchFamily="49" charset="-122"/>
            </a:endParaRPr>
          </a:p>
          <a:p>
            <a:pPr eaLnBrk="1" hangingPunct="1">
              <a:spcBef>
                <a:spcPct val="30000"/>
              </a:spcBef>
            </a:pPr>
            <a:r>
              <a:rPr lang="zh-CN" altLang="en-US" sz="2800" dirty="0">
                <a:solidFill>
                  <a:srgbClr val="CC0066"/>
                </a:solidFill>
                <a:latin typeface="黑体" panose="02010609060101010101" pitchFamily="49" charset="-122"/>
                <a:ea typeface="黑体" panose="02010609060101010101" pitchFamily="49" charset="-122"/>
              </a:rPr>
              <a:t>祖先：</a:t>
            </a:r>
            <a:r>
              <a:rPr lang="zh-CN" altLang="en-US" sz="2800" dirty="0">
                <a:latin typeface="黑体" panose="02010609060101010101" pitchFamily="49" charset="-122"/>
                <a:ea typeface="黑体" panose="02010609060101010101" pitchFamily="49" charset="-122"/>
              </a:rPr>
              <a:t>从根到该结点所经分支上的所有结点</a:t>
            </a:r>
            <a:endParaRPr lang="en-US" altLang="zh-CN" sz="2800" dirty="0">
              <a:latin typeface="黑体" panose="02010609060101010101" pitchFamily="49" charset="-122"/>
              <a:ea typeface="黑体" panose="02010609060101010101" pitchFamily="49" charset="-122"/>
            </a:endParaRPr>
          </a:p>
        </p:txBody>
      </p:sp>
      <p:grpSp>
        <p:nvGrpSpPr>
          <p:cNvPr id="10247" name="Group 7">
            <a:extLst>
              <a:ext uri="{FF2B5EF4-FFF2-40B4-BE49-F238E27FC236}">
                <a16:creationId xmlns:a16="http://schemas.microsoft.com/office/drawing/2014/main" id="{A7ED5B7D-A2E0-4B21-A082-F0C83914705B}"/>
              </a:ext>
            </a:extLst>
          </p:cNvPr>
          <p:cNvGrpSpPr>
            <a:grpSpLocks/>
          </p:cNvGrpSpPr>
          <p:nvPr/>
        </p:nvGrpSpPr>
        <p:grpSpPr bwMode="auto">
          <a:xfrm>
            <a:off x="4443536" y="3861048"/>
            <a:ext cx="4953000" cy="2439988"/>
            <a:chOff x="0" y="0"/>
            <a:chExt cx="3389" cy="1682"/>
          </a:xfrm>
        </p:grpSpPr>
        <p:sp>
          <p:nvSpPr>
            <p:cNvPr id="10248" name="Line 8">
              <a:extLst>
                <a:ext uri="{FF2B5EF4-FFF2-40B4-BE49-F238E27FC236}">
                  <a16:creationId xmlns:a16="http://schemas.microsoft.com/office/drawing/2014/main" id="{0A1575DE-BF14-4871-AC9A-8895AD600AB8}"/>
                </a:ext>
              </a:extLst>
            </p:cNvPr>
            <p:cNvSpPr>
              <a:spLocks noChangeShapeType="1"/>
            </p:cNvSpPr>
            <p:nvPr/>
          </p:nvSpPr>
          <p:spPr bwMode="auto">
            <a:xfrm>
              <a:off x="2005" y="722"/>
              <a:ext cx="246" cy="292"/>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49" name="Line 9">
              <a:extLst>
                <a:ext uri="{FF2B5EF4-FFF2-40B4-BE49-F238E27FC236}">
                  <a16:creationId xmlns:a16="http://schemas.microsoft.com/office/drawing/2014/main" id="{6DBBE9E2-772E-48C4-93FB-8D45B2E25C7D}"/>
                </a:ext>
              </a:extLst>
            </p:cNvPr>
            <p:cNvSpPr>
              <a:spLocks noChangeShapeType="1"/>
            </p:cNvSpPr>
            <p:nvPr/>
          </p:nvSpPr>
          <p:spPr bwMode="auto">
            <a:xfrm flipH="1">
              <a:off x="1555" y="722"/>
              <a:ext cx="246" cy="25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50" name="Line 10">
              <a:extLst>
                <a:ext uri="{FF2B5EF4-FFF2-40B4-BE49-F238E27FC236}">
                  <a16:creationId xmlns:a16="http://schemas.microsoft.com/office/drawing/2014/main" id="{3199C522-C789-47D4-9AEA-739C5554DCB5}"/>
                </a:ext>
              </a:extLst>
            </p:cNvPr>
            <p:cNvSpPr>
              <a:spLocks noChangeShapeType="1"/>
            </p:cNvSpPr>
            <p:nvPr/>
          </p:nvSpPr>
          <p:spPr bwMode="auto">
            <a:xfrm>
              <a:off x="1883" y="764"/>
              <a:ext cx="0" cy="20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51" name="Line 11">
              <a:extLst>
                <a:ext uri="{FF2B5EF4-FFF2-40B4-BE49-F238E27FC236}">
                  <a16:creationId xmlns:a16="http://schemas.microsoft.com/office/drawing/2014/main" id="{3071A670-439B-40BD-8814-821FC3447E52}"/>
                </a:ext>
              </a:extLst>
            </p:cNvPr>
            <p:cNvSpPr>
              <a:spLocks noChangeShapeType="1"/>
            </p:cNvSpPr>
            <p:nvPr/>
          </p:nvSpPr>
          <p:spPr bwMode="auto">
            <a:xfrm>
              <a:off x="1555" y="1223"/>
              <a:ext cx="0" cy="25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52" name="Line 12">
              <a:extLst>
                <a:ext uri="{FF2B5EF4-FFF2-40B4-BE49-F238E27FC236}">
                  <a16:creationId xmlns:a16="http://schemas.microsoft.com/office/drawing/2014/main" id="{B7B26E8F-B499-4526-8F4F-6A67F991293F}"/>
                </a:ext>
              </a:extLst>
            </p:cNvPr>
            <p:cNvSpPr>
              <a:spLocks noChangeShapeType="1"/>
            </p:cNvSpPr>
            <p:nvPr/>
          </p:nvSpPr>
          <p:spPr bwMode="auto">
            <a:xfrm>
              <a:off x="1269" y="221"/>
              <a:ext cx="573" cy="33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53" name="Line 13">
              <a:extLst>
                <a:ext uri="{FF2B5EF4-FFF2-40B4-BE49-F238E27FC236}">
                  <a16:creationId xmlns:a16="http://schemas.microsoft.com/office/drawing/2014/main" id="{48A5E2F2-CEE1-4113-A386-CD7A715D7239}"/>
                </a:ext>
              </a:extLst>
            </p:cNvPr>
            <p:cNvSpPr>
              <a:spLocks noChangeShapeType="1"/>
            </p:cNvSpPr>
            <p:nvPr/>
          </p:nvSpPr>
          <p:spPr bwMode="auto">
            <a:xfrm flipH="1">
              <a:off x="573" y="221"/>
              <a:ext cx="491" cy="33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54" name="Line 14">
              <a:extLst>
                <a:ext uri="{FF2B5EF4-FFF2-40B4-BE49-F238E27FC236}">
                  <a16:creationId xmlns:a16="http://schemas.microsoft.com/office/drawing/2014/main" id="{02F9E1B2-4299-4B92-B5F6-787AC263DF7C}"/>
                </a:ext>
              </a:extLst>
            </p:cNvPr>
            <p:cNvSpPr>
              <a:spLocks noChangeShapeType="1"/>
            </p:cNvSpPr>
            <p:nvPr/>
          </p:nvSpPr>
          <p:spPr bwMode="auto">
            <a:xfrm>
              <a:off x="1187" y="263"/>
              <a:ext cx="0" cy="96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55" name="Line 15">
              <a:extLst>
                <a:ext uri="{FF2B5EF4-FFF2-40B4-BE49-F238E27FC236}">
                  <a16:creationId xmlns:a16="http://schemas.microsoft.com/office/drawing/2014/main" id="{E72DA017-7CE3-44E7-B80A-48F7F41CDEAE}"/>
                </a:ext>
              </a:extLst>
            </p:cNvPr>
            <p:cNvSpPr>
              <a:spLocks noChangeShapeType="1"/>
            </p:cNvSpPr>
            <p:nvPr/>
          </p:nvSpPr>
          <p:spPr bwMode="auto">
            <a:xfrm>
              <a:off x="614" y="722"/>
              <a:ext cx="123" cy="292"/>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56" name="Line 16">
              <a:extLst>
                <a:ext uri="{FF2B5EF4-FFF2-40B4-BE49-F238E27FC236}">
                  <a16:creationId xmlns:a16="http://schemas.microsoft.com/office/drawing/2014/main" id="{EEC3DBA9-3FF8-4A0A-961A-B40D43B6594B}"/>
                </a:ext>
              </a:extLst>
            </p:cNvPr>
            <p:cNvSpPr>
              <a:spLocks noChangeShapeType="1"/>
            </p:cNvSpPr>
            <p:nvPr/>
          </p:nvSpPr>
          <p:spPr bwMode="auto">
            <a:xfrm>
              <a:off x="409" y="1181"/>
              <a:ext cx="123" cy="251"/>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57" name="Line 17">
              <a:extLst>
                <a:ext uri="{FF2B5EF4-FFF2-40B4-BE49-F238E27FC236}">
                  <a16:creationId xmlns:a16="http://schemas.microsoft.com/office/drawing/2014/main" id="{F5A26D08-21F1-479C-AF75-6D4726767841}"/>
                </a:ext>
              </a:extLst>
            </p:cNvPr>
            <p:cNvSpPr>
              <a:spLocks noChangeShapeType="1"/>
            </p:cNvSpPr>
            <p:nvPr/>
          </p:nvSpPr>
          <p:spPr bwMode="auto">
            <a:xfrm flipH="1">
              <a:off x="123" y="722"/>
              <a:ext cx="368" cy="835"/>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58" name="Oval 18">
              <a:extLst>
                <a:ext uri="{FF2B5EF4-FFF2-40B4-BE49-F238E27FC236}">
                  <a16:creationId xmlns:a16="http://schemas.microsoft.com/office/drawing/2014/main" id="{86F154C5-29FB-41CB-9A92-EC4891568D89}"/>
                </a:ext>
              </a:extLst>
            </p:cNvPr>
            <p:cNvSpPr>
              <a:spLocks noChangeArrowheads="1"/>
            </p:cNvSpPr>
            <p:nvPr/>
          </p:nvSpPr>
          <p:spPr bwMode="auto">
            <a:xfrm>
              <a:off x="1023" y="12"/>
              <a:ext cx="287" cy="292"/>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0259" name="Line 19">
              <a:extLst>
                <a:ext uri="{FF2B5EF4-FFF2-40B4-BE49-F238E27FC236}">
                  <a16:creationId xmlns:a16="http://schemas.microsoft.com/office/drawing/2014/main" id="{EAF0901D-2AE5-47CD-81A2-4792D0F87617}"/>
                </a:ext>
              </a:extLst>
            </p:cNvPr>
            <p:cNvSpPr>
              <a:spLocks noChangeShapeType="1"/>
            </p:cNvSpPr>
            <p:nvPr/>
          </p:nvSpPr>
          <p:spPr bwMode="auto">
            <a:xfrm>
              <a:off x="1637" y="137"/>
              <a:ext cx="1146" cy="0"/>
            </a:xfrm>
            <a:prstGeom prst="line">
              <a:avLst/>
            </a:prstGeom>
            <a:noFill/>
            <a:ln w="28575">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60" name="Oval 20">
              <a:extLst>
                <a:ext uri="{FF2B5EF4-FFF2-40B4-BE49-F238E27FC236}">
                  <a16:creationId xmlns:a16="http://schemas.microsoft.com/office/drawing/2014/main" id="{53A864E7-76B0-4012-8BE3-AAB667038E6F}"/>
                </a:ext>
              </a:extLst>
            </p:cNvPr>
            <p:cNvSpPr>
              <a:spLocks noChangeArrowheads="1"/>
            </p:cNvSpPr>
            <p:nvPr/>
          </p:nvSpPr>
          <p:spPr bwMode="auto">
            <a:xfrm>
              <a:off x="409" y="471"/>
              <a:ext cx="287" cy="293"/>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0261" name="Oval 21">
              <a:extLst>
                <a:ext uri="{FF2B5EF4-FFF2-40B4-BE49-F238E27FC236}">
                  <a16:creationId xmlns:a16="http://schemas.microsoft.com/office/drawing/2014/main" id="{2CEB9DD5-CA81-4319-BBB5-DF7154FBE059}"/>
                </a:ext>
              </a:extLst>
            </p:cNvPr>
            <p:cNvSpPr>
              <a:spLocks noChangeArrowheads="1"/>
            </p:cNvSpPr>
            <p:nvPr/>
          </p:nvSpPr>
          <p:spPr bwMode="auto">
            <a:xfrm>
              <a:off x="1023" y="471"/>
              <a:ext cx="287" cy="293"/>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0262" name="Oval 22">
              <a:extLst>
                <a:ext uri="{FF2B5EF4-FFF2-40B4-BE49-F238E27FC236}">
                  <a16:creationId xmlns:a16="http://schemas.microsoft.com/office/drawing/2014/main" id="{69219218-EF39-4A8F-819A-0A8E76245B51}"/>
                </a:ext>
              </a:extLst>
            </p:cNvPr>
            <p:cNvSpPr>
              <a:spLocks noChangeArrowheads="1"/>
            </p:cNvSpPr>
            <p:nvPr/>
          </p:nvSpPr>
          <p:spPr bwMode="auto">
            <a:xfrm>
              <a:off x="1760" y="471"/>
              <a:ext cx="286" cy="293"/>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0263" name="Oval 23">
              <a:extLst>
                <a:ext uri="{FF2B5EF4-FFF2-40B4-BE49-F238E27FC236}">
                  <a16:creationId xmlns:a16="http://schemas.microsoft.com/office/drawing/2014/main" id="{A13A408A-78E0-4E23-946A-C640697BCFE6}"/>
                </a:ext>
              </a:extLst>
            </p:cNvPr>
            <p:cNvSpPr>
              <a:spLocks noChangeArrowheads="1"/>
            </p:cNvSpPr>
            <p:nvPr/>
          </p:nvSpPr>
          <p:spPr bwMode="auto">
            <a:xfrm>
              <a:off x="205" y="931"/>
              <a:ext cx="286" cy="292"/>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0264" name="Oval 24">
              <a:extLst>
                <a:ext uri="{FF2B5EF4-FFF2-40B4-BE49-F238E27FC236}">
                  <a16:creationId xmlns:a16="http://schemas.microsoft.com/office/drawing/2014/main" id="{88E7E724-0E83-469A-9FCB-15F1E261FD0F}"/>
                </a:ext>
              </a:extLst>
            </p:cNvPr>
            <p:cNvSpPr>
              <a:spLocks noChangeArrowheads="1"/>
            </p:cNvSpPr>
            <p:nvPr/>
          </p:nvSpPr>
          <p:spPr bwMode="auto">
            <a:xfrm>
              <a:off x="573" y="931"/>
              <a:ext cx="286" cy="292"/>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0265" name="Oval 25">
              <a:extLst>
                <a:ext uri="{FF2B5EF4-FFF2-40B4-BE49-F238E27FC236}">
                  <a16:creationId xmlns:a16="http://schemas.microsoft.com/office/drawing/2014/main" id="{28D68CDC-EC30-4FE2-9E68-1DBA64A49C77}"/>
                </a:ext>
              </a:extLst>
            </p:cNvPr>
            <p:cNvSpPr>
              <a:spLocks noChangeArrowheads="1"/>
            </p:cNvSpPr>
            <p:nvPr/>
          </p:nvSpPr>
          <p:spPr bwMode="auto">
            <a:xfrm>
              <a:off x="1023" y="931"/>
              <a:ext cx="287" cy="292"/>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0266" name="Oval 26">
              <a:extLst>
                <a:ext uri="{FF2B5EF4-FFF2-40B4-BE49-F238E27FC236}">
                  <a16:creationId xmlns:a16="http://schemas.microsoft.com/office/drawing/2014/main" id="{6E72DD80-8245-4907-94C4-9B45472006C0}"/>
                </a:ext>
              </a:extLst>
            </p:cNvPr>
            <p:cNvSpPr>
              <a:spLocks noChangeArrowheads="1"/>
            </p:cNvSpPr>
            <p:nvPr/>
          </p:nvSpPr>
          <p:spPr bwMode="auto">
            <a:xfrm>
              <a:off x="1391" y="931"/>
              <a:ext cx="287" cy="292"/>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0267" name="Oval 27">
              <a:extLst>
                <a:ext uri="{FF2B5EF4-FFF2-40B4-BE49-F238E27FC236}">
                  <a16:creationId xmlns:a16="http://schemas.microsoft.com/office/drawing/2014/main" id="{CD621398-E0AA-4AF7-B61B-1ABBE40FDA8C}"/>
                </a:ext>
              </a:extLst>
            </p:cNvPr>
            <p:cNvSpPr>
              <a:spLocks noChangeArrowheads="1"/>
            </p:cNvSpPr>
            <p:nvPr/>
          </p:nvSpPr>
          <p:spPr bwMode="auto">
            <a:xfrm>
              <a:off x="1760" y="931"/>
              <a:ext cx="286" cy="292"/>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0268" name="Oval 28">
              <a:extLst>
                <a:ext uri="{FF2B5EF4-FFF2-40B4-BE49-F238E27FC236}">
                  <a16:creationId xmlns:a16="http://schemas.microsoft.com/office/drawing/2014/main" id="{8D304E20-66A8-4700-8C8C-729499E8F31D}"/>
                </a:ext>
              </a:extLst>
            </p:cNvPr>
            <p:cNvSpPr>
              <a:spLocks noChangeArrowheads="1"/>
            </p:cNvSpPr>
            <p:nvPr/>
          </p:nvSpPr>
          <p:spPr bwMode="auto">
            <a:xfrm>
              <a:off x="2128" y="931"/>
              <a:ext cx="287" cy="292"/>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0269" name="Oval 29">
              <a:extLst>
                <a:ext uri="{FF2B5EF4-FFF2-40B4-BE49-F238E27FC236}">
                  <a16:creationId xmlns:a16="http://schemas.microsoft.com/office/drawing/2014/main" id="{3BC97E11-9266-4634-B18A-0BEAA2D510D8}"/>
                </a:ext>
              </a:extLst>
            </p:cNvPr>
            <p:cNvSpPr>
              <a:spLocks noChangeArrowheads="1"/>
            </p:cNvSpPr>
            <p:nvPr/>
          </p:nvSpPr>
          <p:spPr bwMode="auto">
            <a:xfrm>
              <a:off x="0" y="1390"/>
              <a:ext cx="286" cy="292"/>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0270" name="Oval 30">
              <a:extLst>
                <a:ext uri="{FF2B5EF4-FFF2-40B4-BE49-F238E27FC236}">
                  <a16:creationId xmlns:a16="http://schemas.microsoft.com/office/drawing/2014/main" id="{6A93FB82-5152-42CD-8CBC-0BD17D758BF5}"/>
                </a:ext>
              </a:extLst>
            </p:cNvPr>
            <p:cNvSpPr>
              <a:spLocks noChangeArrowheads="1"/>
            </p:cNvSpPr>
            <p:nvPr/>
          </p:nvSpPr>
          <p:spPr bwMode="auto">
            <a:xfrm>
              <a:off x="409" y="1390"/>
              <a:ext cx="287" cy="292"/>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0271" name="Oval 31">
              <a:extLst>
                <a:ext uri="{FF2B5EF4-FFF2-40B4-BE49-F238E27FC236}">
                  <a16:creationId xmlns:a16="http://schemas.microsoft.com/office/drawing/2014/main" id="{7EF175CB-9478-43F5-93FD-880A0C194217}"/>
                </a:ext>
              </a:extLst>
            </p:cNvPr>
            <p:cNvSpPr>
              <a:spLocks noChangeArrowheads="1"/>
            </p:cNvSpPr>
            <p:nvPr/>
          </p:nvSpPr>
          <p:spPr bwMode="auto">
            <a:xfrm>
              <a:off x="1391" y="1390"/>
              <a:ext cx="287" cy="292"/>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0272" name="Line 32">
              <a:extLst>
                <a:ext uri="{FF2B5EF4-FFF2-40B4-BE49-F238E27FC236}">
                  <a16:creationId xmlns:a16="http://schemas.microsoft.com/office/drawing/2014/main" id="{5CC10E35-EA6E-4069-A815-08DECDE197E2}"/>
                </a:ext>
              </a:extLst>
            </p:cNvPr>
            <p:cNvSpPr>
              <a:spLocks noChangeShapeType="1"/>
            </p:cNvSpPr>
            <p:nvPr/>
          </p:nvSpPr>
          <p:spPr bwMode="auto">
            <a:xfrm>
              <a:off x="2169" y="597"/>
              <a:ext cx="614" cy="0"/>
            </a:xfrm>
            <a:prstGeom prst="line">
              <a:avLst/>
            </a:prstGeom>
            <a:noFill/>
            <a:ln w="28575">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3" name="Line 33">
              <a:extLst>
                <a:ext uri="{FF2B5EF4-FFF2-40B4-BE49-F238E27FC236}">
                  <a16:creationId xmlns:a16="http://schemas.microsoft.com/office/drawing/2014/main" id="{30B0FADA-E6EF-4C37-8835-308107A5E07C}"/>
                </a:ext>
              </a:extLst>
            </p:cNvPr>
            <p:cNvSpPr>
              <a:spLocks noChangeShapeType="1"/>
            </p:cNvSpPr>
            <p:nvPr/>
          </p:nvSpPr>
          <p:spPr bwMode="auto">
            <a:xfrm>
              <a:off x="2408" y="1075"/>
              <a:ext cx="368" cy="0"/>
            </a:xfrm>
            <a:prstGeom prst="line">
              <a:avLst/>
            </a:prstGeom>
            <a:noFill/>
            <a:ln w="28575">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4" name="Line 34">
              <a:extLst>
                <a:ext uri="{FF2B5EF4-FFF2-40B4-BE49-F238E27FC236}">
                  <a16:creationId xmlns:a16="http://schemas.microsoft.com/office/drawing/2014/main" id="{0F7AAFBB-1441-4A91-A25E-478F405EADBE}"/>
                </a:ext>
              </a:extLst>
            </p:cNvPr>
            <p:cNvSpPr>
              <a:spLocks noChangeShapeType="1"/>
            </p:cNvSpPr>
            <p:nvPr/>
          </p:nvSpPr>
          <p:spPr bwMode="auto">
            <a:xfrm>
              <a:off x="1801" y="1515"/>
              <a:ext cx="982" cy="0"/>
            </a:xfrm>
            <a:prstGeom prst="line">
              <a:avLst/>
            </a:prstGeom>
            <a:noFill/>
            <a:ln w="28575">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5" name="Text Box 35">
              <a:extLst>
                <a:ext uri="{FF2B5EF4-FFF2-40B4-BE49-F238E27FC236}">
                  <a16:creationId xmlns:a16="http://schemas.microsoft.com/office/drawing/2014/main" id="{C726FA32-CAA5-44D4-A91A-D62567D54FC7}"/>
                </a:ext>
              </a:extLst>
            </p:cNvPr>
            <p:cNvSpPr txBox="1">
              <a:spLocks noChangeArrowheads="1"/>
            </p:cNvSpPr>
            <p:nvPr/>
          </p:nvSpPr>
          <p:spPr bwMode="auto">
            <a:xfrm>
              <a:off x="2530" y="0"/>
              <a:ext cx="386" cy="274"/>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000">
                  <a:solidFill>
                    <a:schemeClr val="tx2"/>
                  </a:solidFill>
                  <a:latin typeface="Times New Roman" panose="02020603050405020304" pitchFamily="18" charset="0"/>
                </a:rPr>
                <a:t>1</a:t>
              </a:r>
              <a:r>
                <a:rPr lang="zh-CN" altLang="en-US" sz="2000">
                  <a:solidFill>
                    <a:schemeClr val="tx2"/>
                  </a:solidFill>
                  <a:latin typeface="Times New Roman" panose="02020603050405020304" pitchFamily="18" charset="0"/>
                  <a:ea typeface="隶书" panose="02010509060101010101" pitchFamily="49" charset="-122"/>
                </a:rPr>
                <a:t>层</a:t>
              </a:r>
              <a:endParaRPr lang="zh-CN" altLang="en-US" sz="2000">
                <a:latin typeface="Times New Roman" panose="02020603050405020304" pitchFamily="18" charset="0"/>
              </a:endParaRPr>
            </a:p>
          </p:txBody>
        </p:sp>
        <p:sp>
          <p:nvSpPr>
            <p:cNvPr id="10276" name="Text Box 36">
              <a:extLst>
                <a:ext uri="{FF2B5EF4-FFF2-40B4-BE49-F238E27FC236}">
                  <a16:creationId xmlns:a16="http://schemas.microsoft.com/office/drawing/2014/main" id="{748AC255-E66F-4001-887D-70A13BFDA493}"/>
                </a:ext>
              </a:extLst>
            </p:cNvPr>
            <p:cNvSpPr txBox="1">
              <a:spLocks noChangeArrowheads="1"/>
            </p:cNvSpPr>
            <p:nvPr/>
          </p:nvSpPr>
          <p:spPr bwMode="auto">
            <a:xfrm>
              <a:off x="2530" y="452"/>
              <a:ext cx="386" cy="274"/>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000">
                  <a:solidFill>
                    <a:schemeClr val="tx2"/>
                  </a:solidFill>
                  <a:latin typeface="Times New Roman" panose="02020603050405020304" pitchFamily="18" charset="0"/>
                </a:rPr>
                <a:t>2</a:t>
              </a:r>
              <a:r>
                <a:rPr lang="zh-CN" altLang="en-US" sz="2000">
                  <a:solidFill>
                    <a:schemeClr val="tx2"/>
                  </a:solidFill>
                  <a:latin typeface="Times New Roman" panose="02020603050405020304" pitchFamily="18" charset="0"/>
                  <a:ea typeface="隶书" panose="02010509060101010101" pitchFamily="49" charset="-122"/>
                </a:rPr>
                <a:t>层</a:t>
              </a:r>
              <a:endParaRPr lang="zh-CN" altLang="en-US" sz="2000">
                <a:latin typeface="Times New Roman" panose="02020603050405020304" pitchFamily="18" charset="0"/>
              </a:endParaRPr>
            </a:p>
          </p:txBody>
        </p:sp>
        <p:sp>
          <p:nvSpPr>
            <p:cNvPr id="10277" name="Text Box 37">
              <a:extLst>
                <a:ext uri="{FF2B5EF4-FFF2-40B4-BE49-F238E27FC236}">
                  <a16:creationId xmlns:a16="http://schemas.microsoft.com/office/drawing/2014/main" id="{F28E205D-B4E3-4AAD-AC2A-BC382DACBB9F}"/>
                </a:ext>
              </a:extLst>
            </p:cNvPr>
            <p:cNvSpPr txBox="1">
              <a:spLocks noChangeArrowheads="1"/>
            </p:cNvSpPr>
            <p:nvPr/>
          </p:nvSpPr>
          <p:spPr bwMode="auto">
            <a:xfrm>
              <a:off x="2512" y="1370"/>
              <a:ext cx="387" cy="274"/>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000">
                  <a:solidFill>
                    <a:schemeClr val="tx2"/>
                  </a:solidFill>
                  <a:latin typeface="Times New Roman" panose="02020603050405020304" pitchFamily="18" charset="0"/>
                  <a:ea typeface="隶书" panose="02010509060101010101" pitchFamily="49" charset="-122"/>
                </a:rPr>
                <a:t>4层</a:t>
              </a:r>
              <a:endParaRPr lang="zh-CN" altLang="en-US" sz="2000">
                <a:latin typeface="Times New Roman" panose="02020603050405020304" pitchFamily="18" charset="0"/>
              </a:endParaRPr>
            </a:p>
          </p:txBody>
        </p:sp>
        <p:sp>
          <p:nvSpPr>
            <p:cNvPr id="10278" name="Text Box 38">
              <a:extLst>
                <a:ext uri="{FF2B5EF4-FFF2-40B4-BE49-F238E27FC236}">
                  <a16:creationId xmlns:a16="http://schemas.microsoft.com/office/drawing/2014/main" id="{F66A43B1-53A2-43FF-8539-946A35D1E59E}"/>
                </a:ext>
              </a:extLst>
            </p:cNvPr>
            <p:cNvSpPr txBox="1">
              <a:spLocks noChangeArrowheads="1"/>
            </p:cNvSpPr>
            <p:nvPr/>
          </p:nvSpPr>
          <p:spPr bwMode="auto">
            <a:xfrm>
              <a:off x="2530" y="910"/>
              <a:ext cx="386" cy="274"/>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000">
                  <a:solidFill>
                    <a:schemeClr val="tx2"/>
                  </a:solidFill>
                  <a:latin typeface="Times New Roman" panose="02020603050405020304" pitchFamily="18" charset="0"/>
                  <a:ea typeface="隶书" panose="02010509060101010101" pitchFamily="49" charset="-122"/>
                </a:rPr>
                <a:t>3层</a:t>
              </a:r>
              <a:endParaRPr lang="zh-CN" altLang="en-US" sz="2000">
                <a:latin typeface="Times New Roman" panose="02020603050405020304" pitchFamily="18" charset="0"/>
              </a:endParaRPr>
            </a:p>
          </p:txBody>
        </p:sp>
        <p:sp>
          <p:nvSpPr>
            <p:cNvPr id="10279" name="Text Box 39">
              <a:extLst>
                <a:ext uri="{FF2B5EF4-FFF2-40B4-BE49-F238E27FC236}">
                  <a16:creationId xmlns:a16="http://schemas.microsoft.com/office/drawing/2014/main" id="{2EAA2280-11E1-4EA4-9833-E2DD602C1011}"/>
                </a:ext>
              </a:extLst>
            </p:cNvPr>
            <p:cNvSpPr txBox="1">
              <a:spLocks noChangeArrowheads="1"/>
            </p:cNvSpPr>
            <p:nvPr/>
          </p:nvSpPr>
          <p:spPr bwMode="auto">
            <a:xfrm>
              <a:off x="2736" y="638"/>
              <a:ext cx="653" cy="4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lnSpc>
                  <a:spcPct val="80000"/>
                </a:lnSpc>
                <a:spcBef>
                  <a:spcPct val="0"/>
                </a:spcBef>
                <a:buClrTx/>
                <a:buSzTx/>
                <a:buFont typeface="Arial" panose="020B0604020202020204" pitchFamily="34" charset="0"/>
                <a:buNone/>
              </a:pPr>
              <a:r>
                <a:rPr lang="en-US" altLang="zh-CN" sz="2000" b="1">
                  <a:solidFill>
                    <a:srgbClr val="CC0066"/>
                  </a:solidFill>
                  <a:latin typeface="Times New Roman" panose="02020603050405020304" pitchFamily="18" charset="0"/>
                </a:rPr>
                <a:t>Height</a:t>
              </a:r>
            </a:p>
            <a:p>
              <a:pPr algn="ctr" eaLnBrk="1" hangingPunct="1">
                <a:lnSpc>
                  <a:spcPct val="80000"/>
                </a:lnSpc>
                <a:spcBef>
                  <a:spcPct val="0"/>
                </a:spcBef>
                <a:buClrTx/>
                <a:buSzTx/>
                <a:buFont typeface="Arial" panose="020B0604020202020204" pitchFamily="34" charset="0"/>
                <a:buNone/>
              </a:pPr>
              <a:r>
                <a:rPr lang="en-US" altLang="zh-CN" sz="2000" b="1">
                  <a:solidFill>
                    <a:srgbClr val="CC0066"/>
                  </a:solidFill>
                  <a:latin typeface="Times New Roman" panose="02020603050405020304" pitchFamily="18" charset="0"/>
                </a:rPr>
                <a:t>= 4</a:t>
              </a:r>
              <a:endParaRPr lang="en-US" altLang="zh-CN" sz="2000">
                <a:solidFill>
                  <a:srgbClr val="CC0066"/>
                </a:solidFill>
                <a:latin typeface="Times New Roman" panose="02020603050405020304" pitchFamily="18" charset="0"/>
              </a:endParaRPr>
            </a:p>
          </p:txBody>
        </p:sp>
        <p:sp>
          <p:nvSpPr>
            <p:cNvPr id="10280" name="Line 40">
              <a:extLst>
                <a:ext uri="{FF2B5EF4-FFF2-40B4-BE49-F238E27FC236}">
                  <a16:creationId xmlns:a16="http://schemas.microsoft.com/office/drawing/2014/main" id="{A93D78BF-1467-40BF-93C1-1203C7ABBE12}"/>
                </a:ext>
              </a:extLst>
            </p:cNvPr>
            <p:cNvSpPr>
              <a:spLocks noChangeShapeType="1"/>
            </p:cNvSpPr>
            <p:nvPr/>
          </p:nvSpPr>
          <p:spPr bwMode="auto">
            <a:xfrm>
              <a:off x="2990" y="79"/>
              <a:ext cx="164" cy="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81" name="Line 41">
              <a:extLst>
                <a:ext uri="{FF2B5EF4-FFF2-40B4-BE49-F238E27FC236}">
                  <a16:creationId xmlns:a16="http://schemas.microsoft.com/office/drawing/2014/main" id="{70C2FC80-3F23-4939-8D34-3CF2E594D6F0}"/>
                </a:ext>
              </a:extLst>
            </p:cNvPr>
            <p:cNvSpPr>
              <a:spLocks noChangeShapeType="1"/>
            </p:cNvSpPr>
            <p:nvPr/>
          </p:nvSpPr>
          <p:spPr bwMode="auto">
            <a:xfrm flipV="1">
              <a:off x="3072" y="79"/>
              <a:ext cx="0" cy="584"/>
            </a:xfrm>
            <a:prstGeom prst="line">
              <a:avLst/>
            </a:prstGeom>
            <a:noFill/>
            <a:ln w="38100">
              <a:solidFill>
                <a:srgbClr val="0099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82" name="Line 42">
              <a:extLst>
                <a:ext uri="{FF2B5EF4-FFF2-40B4-BE49-F238E27FC236}">
                  <a16:creationId xmlns:a16="http://schemas.microsoft.com/office/drawing/2014/main" id="{299E2EDA-807F-40A1-B78B-A850AE041599}"/>
                </a:ext>
              </a:extLst>
            </p:cNvPr>
            <p:cNvSpPr>
              <a:spLocks noChangeShapeType="1"/>
            </p:cNvSpPr>
            <p:nvPr/>
          </p:nvSpPr>
          <p:spPr bwMode="auto">
            <a:xfrm>
              <a:off x="2990" y="1665"/>
              <a:ext cx="164" cy="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83" name="Line 43">
              <a:extLst>
                <a:ext uri="{FF2B5EF4-FFF2-40B4-BE49-F238E27FC236}">
                  <a16:creationId xmlns:a16="http://schemas.microsoft.com/office/drawing/2014/main" id="{E045D991-933B-478C-9910-434CE3CCE9C6}"/>
                </a:ext>
              </a:extLst>
            </p:cNvPr>
            <p:cNvSpPr>
              <a:spLocks noChangeShapeType="1"/>
            </p:cNvSpPr>
            <p:nvPr/>
          </p:nvSpPr>
          <p:spPr bwMode="auto">
            <a:xfrm flipV="1">
              <a:off x="3072" y="1081"/>
              <a:ext cx="0" cy="584"/>
            </a:xfrm>
            <a:prstGeom prst="line">
              <a:avLst/>
            </a:prstGeom>
            <a:noFill/>
            <a:ln w="38100">
              <a:solidFill>
                <a:srgbClr val="009900"/>
              </a:solidFill>
              <a:round/>
              <a:headEnd type="triangle" w="sm"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84" name="Text Box 44">
              <a:extLst>
                <a:ext uri="{FF2B5EF4-FFF2-40B4-BE49-F238E27FC236}">
                  <a16:creationId xmlns:a16="http://schemas.microsoft.com/office/drawing/2014/main" id="{098CF664-06A4-425C-9D14-670311701EC4}"/>
                </a:ext>
              </a:extLst>
            </p:cNvPr>
            <p:cNvSpPr txBox="1">
              <a:spLocks noChangeArrowheads="1"/>
            </p:cNvSpPr>
            <p:nvPr/>
          </p:nvSpPr>
          <p:spPr bwMode="auto">
            <a:xfrm>
              <a:off x="1056" y="17"/>
              <a:ext cx="254" cy="2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solidFill>
                    <a:srgbClr val="FFFFCC"/>
                  </a:solidFill>
                  <a:latin typeface="Arial" panose="020B0604020202020204" pitchFamily="34" charset="0"/>
                </a:rPr>
                <a:t>A</a:t>
              </a:r>
              <a:endParaRPr lang="en-US" altLang="zh-CN" sz="2000" i="0" dirty="0">
                <a:latin typeface="Times New Roman" panose="02020603050405020304" pitchFamily="18" charset="0"/>
              </a:endParaRPr>
            </a:p>
          </p:txBody>
        </p:sp>
        <p:sp>
          <p:nvSpPr>
            <p:cNvPr id="10285" name="Text Box 45">
              <a:extLst>
                <a:ext uri="{FF2B5EF4-FFF2-40B4-BE49-F238E27FC236}">
                  <a16:creationId xmlns:a16="http://schemas.microsoft.com/office/drawing/2014/main" id="{9541313A-4F13-4FDF-8FAF-1FDFAFA28237}"/>
                </a:ext>
              </a:extLst>
            </p:cNvPr>
            <p:cNvSpPr txBox="1">
              <a:spLocks noChangeArrowheads="1"/>
            </p:cNvSpPr>
            <p:nvPr/>
          </p:nvSpPr>
          <p:spPr bwMode="auto">
            <a:xfrm>
              <a:off x="1057" y="476"/>
              <a:ext cx="252"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solidFill>
                    <a:srgbClr val="FFFFCC"/>
                  </a:solidFill>
                  <a:latin typeface="Arial" panose="020B0604020202020204" pitchFamily="34" charset="0"/>
                </a:rPr>
                <a:t>C</a:t>
              </a:r>
              <a:endParaRPr lang="en-US" altLang="zh-CN" sz="2000" i="0" dirty="0">
                <a:latin typeface="Times New Roman" panose="02020603050405020304" pitchFamily="18" charset="0"/>
              </a:endParaRPr>
            </a:p>
          </p:txBody>
        </p:sp>
        <p:sp>
          <p:nvSpPr>
            <p:cNvPr id="10286" name="Text Box 46">
              <a:extLst>
                <a:ext uri="{FF2B5EF4-FFF2-40B4-BE49-F238E27FC236}">
                  <a16:creationId xmlns:a16="http://schemas.microsoft.com/office/drawing/2014/main" id="{BB744E5B-2732-44EE-9B22-5D9C60A620E2}"/>
                </a:ext>
              </a:extLst>
            </p:cNvPr>
            <p:cNvSpPr txBox="1">
              <a:spLocks noChangeArrowheads="1"/>
            </p:cNvSpPr>
            <p:nvPr/>
          </p:nvSpPr>
          <p:spPr bwMode="auto">
            <a:xfrm>
              <a:off x="1054" y="943"/>
              <a:ext cx="260"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solidFill>
                    <a:srgbClr val="FFFFCC"/>
                  </a:solidFill>
                  <a:latin typeface="Arial" panose="020B0604020202020204" pitchFamily="34" charset="0"/>
                </a:rPr>
                <a:t>G</a:t>
              </a:r>
              <a:endParaRPr lang="en-US" altLang="zh-CN" sz="2000" i="0" dirty="0">
                <a:latin typeface="Times New Roman" panose="02020603050405020304" pitchFamily="18" charset="0"/>
              </a:endParaRPr>
            </a:p>
          </p:txBody>
        </p:sp>
        <p:sp>
          <p:nvSpPr>
            <p:cNvPr id="10287" name="Text Box 47">
              <a:extLst>
                <a:ext uri="{FF2B5EF4-FFF2-40B4-BE49-F238E27FC236}">
                  <a16:creationId xmlns:a16="http://schemas.microsoft.com/office/drawing/2014/main" id="{F2AF751D-A5CD-4CDA-A429-AD279E9E8E7B}"/>
                </a:ext>
              </a:extLst>
            </p:cNvPr>
            <p:cNvSpPr txBox="1">
              <a:spLocks noChangeArrowheads="1"/>
            </p:cNvSpPr>
            <p:nvPr/>
          </p:nvSpPr>
          <p:spPr bwMode="auto">
            <a:xfrm>
              <a:off x="443" y="476"/>
              <a:ext cx="252"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solidFill>
                    <a:srgbClr val="FFFFCC"/>
                  </a:solidFill>
                  <a:latin typeface="Arial" panose="020B0604020202020204" pitchFamily="34" charset="0"/>
                </a:rPr>
                <a:t>B</a:t>
              </a:r>
              <a:endParaRPr lang="en-US" altLang="zh-CN" sz="2000" i="0" dirty="0">
                <a:latin typeface="Times New Roman" panose="02020603050405020304" pitchFamily="18" charset="0"/>
              </a:endParaRPr>
            </a:p>
          </p:txBody>
        </p:sp>
        <p:sp>
          <p:nvSpPr>
            <p:cNvPr id="10288" name="Text Box 48">
              <a:extLst>
                <a:ext uri="{FF2B5EF4-FFF2-40B4-BE49-F238E27FC236}">
                  <a16:creationId xmlns:a16="http://schemas.microsoft.com/office/drawing/2014/main" id="{B2F510F6-7290-4AB4-BAF1-5A43E31C57FA}"/>
                </a:ext>
              </a:extLst>
            </p:cNvPr>
            <p:cNvSpPr txBox="1">
              <a:spLocks noChangeArrowheads="1"/>
            </p:cNvSpPr>
            <p:nvPr/>
          </p:nvSpPr>
          <p:spPr bwMode="auto">
            <a:xfrm>
              <a:off x="1792" y="484"/>
              <a:ext cx="254" cy="2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solidFill>
                    <a:srgbClr val="FFFFCC"/>
                  </a:solidFill>
                  <a:latin typeface="Arial" panose="020B0604020202020204" pitchFamily="34" charset="0"/>
                </a:rPr>
                <a:t>D</a:t>
              </a:r>
              <a:endParaRPr lang="en-US" altLang="zh-CN" sz="2000" i="0" dirty="0">
                <a:latin typeface="Times New Roman" panose="02020603050405020304" pitchFamily="18" charset="0"/>
              </a:endParaRPr>
            </a:p>
          </p:txBody>
        </p:sp>
        <p:sp>
          <p:nvSpPr>
            <p:cNvPr id="10289" name="Text Box 49">
              <a:extLst>
                <a:ext uri="{FF2B5EF4-FFF2-40B4-BE49-F238E27FC236}">
                  <a16:creationId xmlns:a16="http://schemas.microsoft.com/office/drawing/2014/main" id="{F18156D5-C699-45C4-95A0-8A9D5CAF1392}"/>
                </a:ext>
              </a:extLst>
            </p:cNvPr>
            <p:cNvSpPr txBox="1">
              <a:spLocks noChangeArrowheads="1"/>
            </p:cNvSpPr>
            <p:nvPr/>
          </p:nvSpPr>
          <p:spPr bwMode="auto">
            <a:xfrm>
              <a:off x="244" y="942"/>
              <a:ext cx="244" cy="2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solidFill>
                    <a:srgbClr val="FFFFCC"/>
                  </a:solidFill>
                  <a:latin typeface="Arial" panose="020B0604020202020204" pitchFamily="34" charset="0"/>
                </a:rPr>
                <a:t>E</a:t>
              </a:r>
              <a:endParaRPr lang="en-US" altLang="zh-CN" sz="2000" i="0" dirty="0">
                <a:latin typeface="Times New Roman" panose="02020603050405020304" pitchFamily="18" charset="0"/>
              </a:endParaRPr>
            </a:p>
          </p:txBody>
        </p:sp>
        <p:sp>
          <p:nvSpPr>
            <p:cNvPr id="10290" name="Text Box 50">
              <a:extLst>
                <a:ext uri="{FF2B5EF4-FFF2-40B4-BE49-F238E27FC236}">
                  <a16:creationId xmlns:a16="http://schemas.microsoft.com/office/drawing/2014/main" id="{087BA0AA-4F5B-4892-A800-D506F280A38F}"/>
                </a:ext>
              </a:extLst>
            </p:cNvPr>
            <p:cNvSpPr txBox="1">
              <a:spLocks noChangeArrowheads="1"/>
            </p:cNvSpPr>
            <p:nvPr/>
          </p:nvSpPr>
          <p:spPr bwMode="auto">
            <a:xfrm>
              <a:off x="612" y="943"/>
              <a:ext cx="232"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solidFill>
                    <a:srgbClr val="FFFFCC"/>
                  </a:solidFill>
                  <a:latin typeface="Arial" panose="020B0604020202020204" pitchFamily="34" charset="0"/>
                </a:rPr>
                <a:t>F</a:t>
              </a:r>
              <a:endParaRPr lang="en-US" altLang="zh-CN" sz="2000" i="0" dirty="0">
                <a:latin typeface="Times New Roman" panose="02020603050405020304" pitchFamily="18" charset="0"/>
              </a:endParaRPr>
            </a:p>
          </p:txBody>
        </p:sp>
        <p:sp>
          <p:nvSpPr>
            <p:cNvPr id="10291" name="Text Box 51">
              <a:extLst>
                <a:ext uri="{FF2B5EF4-FFF2-40B4-BE49-F238E27FC236}">
                  <a16:creationId xmlns:a16="http://schemas.microsoft.com/office/drawing/2014/main" id="{A00F57ED-FBEB-4783-B84F-0A495349EE01}"/>
                </a:ext>
              </a:extLst>
            </p:cNvPr>
            <p:cNvSpPr txBox="1">
              <a:spLocks noChangeArrowheads="1"/>
            </p:cNvSpPr>
            <p:nvPr/>
          </p:nvSpPr>
          <p:spPr bwMode="auto">
            <a:xfrm>
              <a:off x="42" y="1403"/>
              <a:ext cx="252"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dirty="0">
                  <a:solidFill>
                    <a:srgbClr val="FFFFCC"/>
                  </a:solidFill>
                  <a:latin typeface="Arial" panose="020B0604020202020204" pitchFamily="34" charset="0"/>
                </a:rPr>
                <a:t>K</a:t>
              </a:r>
              <a:endParaRPr lang="en-US" altLang="zh-CN" sz="2000" dirty="0">
                <a:latin typeface="Times New Roman" panose="02020603050405020304" pitchFamily="18" charset="0"/>
              </a:endParaRPr>
            </a:p>
          </p:txBody>
        </p:sp>
        <p:sp>
          <p:nvSpPr>
            <p:cNvPr id="10292" name="Text Box 52">
              <a:extLst>
                <a:ext uri="{FF2B5EF4-FFF2-40B4-BE49-F238E27FC236}">
                  <a16:creationId xmlns:a16="http://schemas.microsoft.com/office/drawing/2014/main" id="{9979D39E-8FCA-4EF1-BD7B-10B916883C71}"/>
                </a:ext>
              </a:extLst>
            </p:cNvPr>
            <p:cNvSpPr txBox="1">
              <a:spLocks noChangeArrowheads="1"/>
            </p:cNvSpPr>
            <p:nvPr/>
          </p:nvSpPr>
          <p:spPr bwMode="auto">
            <a:xfrm>
              <a:off x="443" y="1403"/>
              <a:ext cx="233"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solidFill>
                    <a:srgbClr val="FFFFCC"/>
                  </a:solidFill>
                  <a:latin typeface="Arial" panose="020B0604020202020204" pitchFamily="34" charset="0"/>
                </a:rPr>
                <a:t>L</a:t>
              </a:r>
              <a:endParaRPr lang="en-US" altLang="zh-CN" sz="2000" i="0" dirty="0">
                <a:latin typeface="Times New Roman" panose="02020603050405020304" pitchFamily="18" charset="0"/>
              </a:endParaRPr>
            </a:p>
          </p:txBody>
        </p:sp>
        <p:sp>
          <p:nvSpPr>
            <p:cNvPr id="10293" name="Text Box 53">
              <a:extLst>
                <a:ext uri="{FF2B5EF4-FFF2-40B4-BE49-F238E27FC236}">
                  <a16:creationId xmlns:a16="http://schemas.microsoft.com/office/drawing/2014/main" id="{B0F80CF1-E5BF-48D0-A6E8-8EFF3CE540A1}"/>
                </a:ext>
              </a:extLst>
            </p:cNvPr>
            <p:cNvSpPr txBox="1">
              <a:spLocks noChangeArrowheads="1"/>
            </p:cNvSpPr>
            <p:nvPr/>
          </p:nvSpPr>
          <p:spPr bwMode="auto">
            <a:xfrm>
              <a:off x="1421" y="943"/>
              <a:ext cx="252"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solidFill>
                    <a:srgbClr val="FFFFCC"/>
                  </a:solidFill>
                  <a:latin typeface="Arial" panose="020B0604020202020204" pitchFamily="34" charset="0"/>
                </a:rPr>
                <a:t>H</a:t>
              </a:r>
              <a:endParaRPr lang="en-US" altLang="zh-CN" sz="2000" i="0" dirty="0">
                <a:latin typeface="Times New Roman" panose="02020603050405020304" pitchFamily="18" charset="0"/>
              </a:endParaRPr>
            </a:p>
          </p:txBody>
        </p:sp>
        <p:sp>
          <p:nvSpPr>
            <p:cNvPr id="10294" name="Text Box 54">
              <a:extLst>
                <a:ext uri="{FF2B5EF4-FFF2-40B4-BE49-F238E27FC236}">
                  <a16:creationId xmlns:a16="http://schemas.microsoft.com/office/drawing/2014/main" id="{22C2ED64-9A49-4079-A838-59E05C0D9037}"/>
                </a:ext>
              </a:extLst>
            </p:cNvPr>
            <p:cNvSpPr txBox="1">
              <a:spLocks noChangeArrowheads="1"/>
            </p:cNvSpPr>
            <p:nvPr/>
          </p:nvSpPr>
          <p:spPr bwMode="auto">
            <a:xfrm>
              <a:off x="1390" y="1403"/>
              <a:ext cx="271"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solidFill>
                    <a:srgbClr val="FFFFCC"/>
                  </a:solidFill>
                  <a:latin typeface="Arial" panose="020B0604020202020204" pitchFamily="34" charset="0"/>
                </a:rPr>
                <a:t>M</a:t>
              </a:r>
              <a:endParaRPr lang="en-US" altLang="zh-CN" sz="2000" i="0" dirty="0">
                <a:latin typeface="Times New Roman" panose="02020603050405020304" pitchFamily="18" charset="0"/>
              </a:endParaRPr>
            </a:p>
          </p:txBody>
        </p:sp>
        <p:sp>
          <p:nvSpPr>
            <p:cNvPr id="10295" name="Text Box 55">
              <a:extLst>
                <a:ext uri="{FF2B5EF4-FFF2-40B4-BE49-F238E27FC236}">
                  <a16:creationId xmlns:a16="http://schemas.microsoft.com/office/drawing/2014/main" id="{2418F054-7756-450C-AB00-E57C620D434A}"/>
                </a:ext>
              </a:extLst>
            </p:cNvPr>
            <p:cNvSpPr txBox="1">
              <a:spLocks noChangeArrowheads="1"/>
            </p:cNvSpPr>
            <p:nvPr/>
          </p:nvSpPr>
          <p:spPr bwMode="auto">
            <a:xfrm>
              <a:off x="1806" y="943"/>
              <a:ext cx="174"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solidFill>
                    <a:srgbClr val="FFFFCC"/>
                  </a:solidFill>
                  <a:latin typeface="Arial" panose="020B0604020202020204" pitchFamily="34" charset="0"/>
                </a:rPr>
                <a:t>I</a:t>
              </a:r>
              <a:endParaRPr lang="en-US" altLang="zh-CN" sz="2000" i="0" dirty="0">
                <a:latin typeface="Times New Roman" panose="02020603050405020304" pitchFamily="18" charset="0"/>
              </a:endParaRPr>
            </a:p>
          </p:txBody>
        </p:sp>
        <p:sp>
          <p:nvSpPr>
            <p:cNvPr id="10296" name="Text Box 56">
              <a:extLst>
                <a:ext uri="{FF2B5EF4-FFF2-40B4-BE49-F238E27FC236}">
                  <a16:creationId xmlns:a16="http://schemas.microsoft.com/office/drawing/2014/main" id="{11F6C099-8122-49C4-A8D2-7D833CA3AA1E}"/>
                </a:ext>
              </a:extLst>
            </p:cNvPr>
            <p:cNvSpPr txBox="1">
              <a:spLocks noChangeArrowheads="1"/>
            </p:cNvSpPr>
            <p:nvPr/>
          </p:nvSpPr>
          <p:spPr bwMode="auto">
            <a:xfrm>
              <a:off x="2171" y="943"/>
              <a:ext cx="223"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solidFill>
                    <a:srgbClr val="FFFFCC"/>
                  </a:solidFill>
                  <a:latin typeface="Arial" panose="020B0604020202020204" pitchFamily="34" charset="0"/>
                </a:rPr>
                <a:t>J</a:t>
              </a:r>
              <a:endParaRPr lang="en-US" altLang="zh-CN" sz="2000" i="0" dirty="0">
                <a:latin typeface="Times New Roman" panose="02020603050405020304" pitchFamily="18" charset="0"/>
              </a:endParaRPr>
            </a:p>
          </p:txBody>
        </p:sp>
      </p:grpSp>
      <p:sp>
        <p:nvSpPr>
          <p:cNvPr id="3" name="Text Box 4">
            <a:extLst>
              <a:ext uri="{FF2B5EF4-FFF2-40B4-BE49-F238E27FC236}">
                <a16:creationId xmlns:a16="http://schemas.microsoft.com/office/drawing/2014/main" id="{75E9A035-C515-C864-7289-61ADE19A916E}"/>
              </a:ext>
            </a:extLst>
          </p:cNvPr>
          <p:cNvSpPr txBox="1">
            <a:spLocks noChangeArrowheads="1"/>
          </p:cNvSpPr>
          <p:nvPr/>
        </p:nvSpPr>
        <p:spPr bwMode="auto">
          <a:xfrm>
            <a:off x="240161" y="172243"/>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二、树的基本术语</a:t>
            </a:r>
          </a:p>
        </p:txBody>
      </p:sp>
      <p:sp>
        <p:nvSpPr>
          <p:cNvPr id="5" name="文本框 4">
            <a:extLst>
              <a:ext uri="{FF2B5EF4-FFF2-40B4-BE49-F238E27FC236}">
                <a16:creationId xmlns:a16="http://schemas.microsoft.com/office/drawing/2014/main" id="{DE665C23-0554-9816-E842-710504D204B3}"/>
              </a:ext>
            </a:extLst>
          </p:cNvPr>
          <p:cNvSpPr txBox="1"/>
          <p:nvPr/>
        </p:nvSpPr>
        <p:spPr>
          <a:xfrm>
            <a:off x="2072671" y="1772816"/>
            <a:ext cx="4447647" cy="523220"/>
          </a:xfrm>
          <a:prstGeom prst="rect">
            <a:avLst/>
          </a:prstGeom>
          <a:noFill/>
        </p:spPr>
        <p:txBody>
          <a:bodyPr wrap="square" rtlCol="0">
            <a:spAutoFit/>
          </a:bodyPr>
          <a:lstStyle/>
          <a:p>
            <a:r>
              <a:rPr lang="en-US" altLang="zh-CN" sz="2800" i="0" dirty="0">
                <a:solidFill>
                  <a:srgbClr val="FF0000"/>
                </a:solidFill>
                <a:latin typeface="+mn-ea"/>
                <a:ea typeface="+mn-ea"/>
              </a:rPr>
              <a:t>B</a:t>
            </a:r>
            <a:r>
              <a:rPr lang="zh-CN" altLang="en-US" sz="2800" i="0" dirty="0">
                <a:solidFill>
                  <a:srgbClr val="FF0000"/>
                </a:solidFill>
                <a:latin typeface="+mn-ea"/>
                <a:ea typeface="+mn-ea"/>
              </a:rPr>
              <a:t>、</a:t>
            </a:r>
            <a:r>
              <a:rPr lang="en-US" altLang="zh-CN" sz="2800" i="0" dirty="0">
                <a:solidFill>
                  <a:srgbClr val="FF0000"/>
                </a:solidFill>
                <a:latin typeface="+mn-ea"/>
                <a:ea typeface="+mn-ea"/>
              </a:rPr>
              <a:t>C</a:t>
            </a:r>
            <a:r>
              <a:rPr lang="zh-CN" altLang="en-US" sz="2800" i="0" dirty="0">
                <a:solidFill>
                  <a:srgbClr val="FF0000"/>
                </a:solidFill>
                <a:latin typeface="+mn-ea"/>
                <a:ea typeface="+mn-ea"/>
              </a:rPr>
              <a:t>、</a:t>
            </a:r>
            <a:r>
              <a:rPr lang="en-US" altLang="zh-CN" sz="2800" i="0" dirty="0">
                <a:solidFill>
                  <a:srgbClr val="FF0000"/>
                </a:solidFill>
                <a:latin typeface="+mn-ea"/>
                <a:ea typeface="+mn-ea"/>
              </a:rPr>
              <a:t>D</a:t>
            </a:r>
            <a:r>
              <a:rPr lang="zh-CN" altLang="en-US" sz="2800" i="0" dirty="0">
                <a:solidFill>
                  <a:srgbClr val="FF0000"/>
                </a:solidFill>
                <a:latin typeface="+mn-ea"/>
                <a:ea typeface="+mn-ea"/>
              </a:rPr>
              <a:t>、</a:t>
            </a:r>
            <a:r>
              <a:rPr lang="en-US" altLang="zh-CN" sz="2800" i="0" dirty="0">
                <a:solidFill>
                  <a:srgbClr val="FF0000"/>
                </a:solidFill>
                <a:latin typeface="+mn-ea"/>
                <a:ea typeface="+mn-ea"/>
              </a:rPr>
              <a:t>E</a:t>
            </a:r>
            <a:r>
              <a:rPr lang="zh-CN" altLang="en-US" sz="2800" i="0" dirty="0">
                <a:solidFill>
                  <a:srgbClr val="FF0000"/>
                </a:solidFill>
                <a:latin typeface="+mn-ea"/>
                <a:ea typeface="+mn-ea"/>
              </a:rPr>
              <a:t>、</a:t>
            </a:r>
            <a:r>
              <a:rPr lang="en-US" altLang="zh-CN" sz="2800" i="0" dirty="0">
                <a:solidFill>
                  <a:srgbClr val="FF0000"/>
                </a:solidFill>
                <a:latin typeface="+mn-ea"/>
                <a:ea typeface="+mn-ea"/>
              </a:rPr>
              <a:t>…</a:t>
            </a:r>
            <a:r>
              <a:rPr lang="zh-CN" altLang="en-US" sz="2800" i="0" dirty="0">
                <a:solidFill>
                  <a:srgbClr val="FF0000"/>
                </a:solidFill>
                <a:latin typeface="+mn-ea"/>
                <a:ea typeface="+mn-ea"/>
              </a:rPr>
              <a:t>是</a:t>
            </a:r>
            <a:r>
              <a:rPr lang="en-US" altLang="zh-CN" sz="2800" i="0" dirty="0">
                <a:solidFill>
                  <a:srgbClr val="FF0000"/>
                </a:solidFill>
                <a:latin typeface="+mn-ea"/>
                <a:ea typeface="+mn-ea"/>
              </a:rPr>
              <a:t>A</a:t>
            </a:r>
            <a:r>
              <a:rPr lang="zh-CN" altLang="en-US" sz="2800" i="0" dirty="0">
                <a:solidFill>
                  <a:srgbClr val="FF0000"/>
                </a:solidFill>
                <a:latin typeface="+mn-ea"/>
                <a:ea typeface="+mn-ea"/>
              </a:rPr>
              <a:t>的子孙</a:t>
            </a:r>
          </a:p>
        </p:txBody>
      </p:sp>
      <p:sp>
        <p:nvSpPr>
          <p:cNvPr id="6" name="文本框 5">
            <a:extLst>
              <a:ext uri="{FF2B5EF4-FFF2-40B4-BE49-F238E27FC236}">
                <a16:creationId xmlns:a16="http://schemas.microsoft.com/office/drawing/2014/main" id="{DA262092-8CE5-A40B-6415-E61275E9F2F3}"/>
              </a:ext>
            </a:extLst>
          </p:cNvPr>
          <p:cNvSpPr txBox="1"/>
          <p:nvPr/>
        </p:nvSpPr>
        <p:spPr>
          <a:xfrm>
            <a:off x="2072671" y="2925754"/>
            <a:ext cx="3208301" cy="523220"/>
          </a:xfrm>
          <a:prstGeom prst="rect">
            <a:avLst/>
          </a:prstGeom>
          <a:noFill/>
        </p:spPr>
        <p:txBody>
          <a:bodyPr wrap="square" rtlCol="0">
            <a:spAutoFit/>
          </a:bodyPr>
          <a:lstStyle/>
          <a:p>
            <a:r>
              <a:rPr lang="en-US" altLang="zh-CN" sz="2800" i="0" dirty="0">
                <a:solidFill>
                  <a:srgbClr val="FF0000"/>
                </a:solidFill>
                <a:latin typeface="+mn-ea"/>
                <a:ea typeface="+mn-ea"/>
              </a:rPr>
              <a:t>A</a:t>
            </a:r>
            <a:r>
              <a:rPr lang="zh-CN" altLang="en-US" sz="2800" i="0" dirty="0">
                <a:solidFill>
                  <a:srgbClr val="FF0000"/>
                </a:solidFill>
                <a:latin typeface="+mn-ea"/>
                <a:ea typeface="+mn-ea"/>
              </a:rPr>
              <a:t>、</a:t>
            </a:r>
            <a:r>
              <a:rPr lang="en-US" altLang="zh-CN" sz="2800" i="0" dirty="0">
                <a:solidFill>
                  <a:srgbClr val="FF0000"/>
                </a:solidFill>
                <a:latin typeface="+mn-ea"/>
                <a:ea typeface="+mn-ea"/>
              </a:rPr>
              <a:t>D</a:t>
            </a:r>
            <a:r>
              <a:rPr lang="zh-CN" altLang="en-US" sz="2800" i="0" dirty="0">
                <a:solidFill>
                  <a:srgbClr val="FF0000"/>
                </a:solidFill>
                <a:latin typeface="+mn-ea"/>
                <a:ea typeface="+mn-ea"/>
              </a:rPr>
              <a:t>、</a:t>
            </a:r>
            <a:r>
              <a:rPr lang="en-US" altLang="zh-CN" sz="2800" i="0" dirty="0">
                <a:solidFill>
                  <a:srgbClr val="FF0000"/>
                </a:solidFill>
                <a:latin typeface="+mn-ea"/>
                <a:ea typeface="+mn-ea"/>
              </a:rPr>
              <a:t>H</a:t>
            </a:r>
            <a:r>
              <a:rPr lang="zh-CN" altLang="en-US" sz="2800" i="0" dirty="0">
                <a:solidFill>
                  <a:srgbClr val="FF0000"/>
                </a:solidFill>
                <a:latin typeface="+mn-ea"/>
                <a:ea typeface="+mn-ea"/>
              </a:rPr>
              <a:t>是</a:t>
            </a:r>
            <a:r>
              <a:rPr lang="en-US" altLang="zh-CN" sz="2800" i="0" dirty="0">
                <a:solidFill>
                  <a:srgbClr val="FF0000"/>
                </a:solidFill>
                <a:latin typeface="+mn-ea"/>
                <a:ea typeface="+mn-ea"/>
              </a:rPr>
              <a:t>M</a:t>
            </a:r>
            <a:r>
              <a:rPr lang="zh-CN" altLang="en-US" sz="2800" i="0" dirty="0">
                <a:solidFill>
                  <a:srgbClr val="FF0000"/>
                </a:solidFill>
                <a:latin typeface="+mn-ea"/>
                <a:ea typeface="+mn-ea"/>
              </a:rPr>
              <a:t>的祖先</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0245">
                                            <p:txEl>
                                              <p:pRg st="0" end="0"/>
                                            </p:txEl>
                                          </p:spTgt>
                                        </p:tgtEl>
                                        <p:attrNameLst>
                                          <p:attrName>style.visibility</p:attrName>
                                        </p:attrNameLst>
                                      </p:cBhvr>
                                      <p:to>
                                        <p:strVal val="visible"/>
                                      </p:to>
                                    </p:set>
                                    <p:animEffect transition="in" filter="blinds(horizontal)">
                                      <p:cBhvr>
                                        <p:cTn id="7" dur="500"/>
                                        <p:tgtEl>
                                          <p:spTgt spid="1024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10245">
                                            <p:txEl>
                                              <p:pRg st="1" end="1"/>
                                            </p:txEl>
                                          </p:spTgt>
                                        </p:tgtEl>
                                        <p:attrNameLst>
                                          <p:attrName>style.visibility</p:attrName>
                                        </p:attrNameLst>
                                      </p:cBhvr>
                                      <p:to>
                                        <p:strVal val="visible"/>
                                      </p:to>
                                    </p:set>
                                    <p:animEffect transition="in" filter="blinds(horizontal)">
                                      <p:cBhvr>
                                        <p:cTn id="16" dur="500"/>
                                        <p:tgtEl>
                                          <p:spTgt spid="10245">
                                            <p:txEl>
                                              <p:pRg st="1" end="1"/>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nodeType="clickEffect">
                                  <p:stCondLst>
                                    <p:cond delay="0"/>
                                  </p:stCondLst>
                                  <p:childTnLst>
                                    <p:set>
                                      <p:cBhvr>
                                        <p:cTn id="20" dur="1" fill="hold">
                                          <p:stCondLst>
                                            <p:cond delay="0"/>
                                          </p:stCondLst>
                                        </p:cTn>
                                        <p:tgtEl>
                                          <p:spTgt spid="10245">
                                            <p:txEl>
                                              <p:pRg st="2" end="2"/>
                                            </p:txEl>
                                          </p:spTgt>
                                        </p:tgtEl>
                                        <p:attrNameLst>
                                          <p:attrName>style.visibility</p:attrName>
                                        </p:attrNameLst>
                                      </p:cBhvr>
                                      <p:to>
                                        <p:strVal val="visible"/>
                                      </p:to>
                                    </p:set>
                                    <p:animEffect transition="in" filter="blinds(horizontal)">
                                      <p:cBhvr>
                                        <p:cTn id="21" dur="500"/>
                                        <p:tgtEl>
                                          <p:spTgt spid="10245">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Text Box 3">
            <a:extLst>
              <a:ext uri="{FF2B5EF4-FFF2-40B4-BE49-F238E27FC236}">
                <a16:creationId xmlns:a16="http://schemas.microsoft.com/office/drawing/2014/main" id="{1FBE3A14-1151-436F-B395-D96D40349CC0}"/>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6E472E64-FB7A-4770-8100-1885D1023513}" type="slidenum">
              <a:rPr lang="zh-CN" altLang="en-US" sz="2400"/>
              <a:pPr algn="r" eaLnBrk="1" hangingPunct="1">
                <a:spcBef>
                  <a:spcPct val="50000"/>
                </a:spcBef>
                <a:buClrTx/>
                <a:buSzTx/>
                <a:buFont typeface="Arial" panose="020B0604020202020204" pitchFamily="34" charset="0"/>
                <a:buNone/>
              </a:pPr>
              <a:t>7</a:t>
            </a:fld>
            <a:endParaRPr lang="en-US" altLang="zh-CN" sz="2400"/>
          </a:p>
        </p:txBody>
      </p:sp>
      <p:sp>
        <p:nvSpPr>
          <p:cNvPr id="11269" name="Rectangle 5">
            <a:extLst>
              <a:ext uri="{FF2B5EF4-FFF2-40B4-BE49-F238E27FC236}">
                <a16:creationId xmlns:a16="http://schemas.microsoft.com/office/drawing/2014/main" id="{B4CE3BD6-E5A0-4F38-BFC7-61D2FDCE3C1B}"/>
              </a:ext>
            </a:extLst>
          </p:cNvPr>
          <p:cNvSpPr>
            <a:spLocks noGrp="1" noChangeArrowheads="1"/>
          </p:cNvSpPr>
          <p:nvPr>
            <p:ph type="body" idx="1"/>
          </p:nvPr>
        </p:nvSpPr>
        <p:spPr>
          <a:xfrm>
            <a:off x="510759" y="1236933"/>
            <a:ext cx="8893175" cy="4038600"/>
          </a:xfrm>
        </p:spPr>
        <p:txBody>
          <a:bodyPr/>
          <a:lstStyle/>
          <a:p>
            <a:pPr eaLnBrk="1" hangingPunct="1">
              <a:spcBef>
                <a:spcPct val="30000"/>
              </a:spcBef>
            </a:pPr>
            <a:r>
              <a:rPr lang="zh-CN" altLang="en-US" dirty="0">
                <a:solidFill>
                  <a:srgbClr val="CC0066"/>
                </a:solidFill>
                <a:latin typeface="黑体" panose="02010609060101010101" pitchFamily="49" charset="-122"/>
                <a:ea typeface="黑体" panose="02010609060101010101" pitchFamily="49" charset="-122"/>
              </a:rPr>
              <a:t>层次：</a:t>
            </a:r>
            <a:r>
              <a:rPr lang="zh-CN" altLang="en-US" sz="2800" dirty="0">
                <a:latin typeface="黑体" panose="02010609060101010101" pitchFamily="49" charset="-122"/>
                <a:ea typeface="黑体" panose="02010609060101010101" pitchFamily="49" charset="-122"/>
              </a:rPr>
              <a:t>根结点为第一层，其孩子为第二层，依此类推</a:t>
            </a:r>
          </a:p>
          <a:p>
            <a:pPr eaLnBrk="1" hangingPunct="1">
              <a:spcBef>
                <a:spcPct val="30000"/>
              </a:spcBef>
            </a:pPr>
            <a:r>
              <a:rPr lang="zh-CN" altLang="en-US" dirty="0">
                <a:solidFill>
                  <a:srgbClr val="CC0066"/>
                </a:solidFill>
                <a:latin typeface="黑体" panose="02010609060101010101" pitchFamily="49" charset="-122"/>
                <a:ea typeface="黑体" panose="02010609060101010101" pitchFamily="49" charset="-122"/>
              </a:rPr>
              <a:t>深度：</a:t>
            </a:r>
            <a:r>
              <a:rPr lang="zh-CN" altLang="en-US" sz="2800" dirty="0">
                <a:latin typeface="黑体" panose="02010609060101010101" pitchFamily="49" charset="-122"/>
                <a:ea typeface="黑体" panose="02010609060101010101" pitchFamily="49" charset="-122"/>
              </a:rPr>
              <a:t>树中结点的最大层次</a:t>
            </a:r>
          </a:p>
          <a:p>
            <a:pPr eaLnBrk="1" hangingPunct="1">
              <a:spcBef>
                <a:spcPct val="30000"/>
              </a:spcBef>
            </a:pPr>
            <a:r>
              <a:rPr lang="zh-CN" altLang="en-US" dirty="0">
                <a:solidFill>
                  <a:srgbClr val="CC0066"/>
                </a:solidFill>
                <a:latin typeface="黑体" panose="02010609060101010101" pitchFamily="49" charset="-122"/>
                <a:ea typeface="黑体" panose="02010609060101010101" pitchFamily="49" charset="-122"/>
              </a:rPr>
              <a:t>有序树：</a:t>
            </a:r>
            <a:r>
              <a:rPr lang="zh-CN" altLang="en-US" sz="2800" dirty="0">
                <a:latin typeface="黑体" panose="02010609060101010101" pitchFamily="49" charset="-122"/>
                <a:ea typeface="黑体" panose="02010609060101010101" pitchFamily="49" charset="-122"/>
              </a:rPr>
              <a:t>子树之间存在确定的次序关系。</a:t>
            </a:r>
          </a:p>
          <a:p>
            <a:pPr eaLnBrk="1" hangingPunct="1">
              <a:spcBef>
                <a:spcPct val="30000"/>
              </a:spcBef>
            </a:pPr>
            <a:r>
              <a:rPr lang="zh-CN" altLang="en-US" dirty="0">
                <a:solidFill>
                  <a:srgbClr val="CC0066"/>
                </a:solidFill>
                <a:latin typeface="黑体" panose="02010609060101010101" pitchFamily="49" charset="-122"/>
                <a:ea typeface="黑体" panose="02010609060101010101" pitchFamily="49" charset="-122"/>
              </a:rPr>
              <a:t>无序树</a:t>
            </a:r>
            <a:r>
              <a:rPr lang="en-US" altLang="zh-CN" dirty="0">
                <a:solidFill>
                  <a:srgbClr val="CC0066"/>
                </a:solidFill>
                <a:latin typeface="黑体" panose="02010609060101010101" pitchFamily="49" charset="-122"/>
                <a:ea typeface="黑体" panose="02010609060101010101" pitchFamily="49" charset="-122"/>
              </a:rPr>
              <a:t>:</a:t>
            </a:r>
            <a:r>
              <a:rPr lang="zh-CN" altLang="en-US" sz="2800" dirty="0">
                <a:latin typeface="黑体" panose="02010609060101010101" pitchFamily="49" charset="-122"/>
                <a:ea typeface="黑体" panose="02010609060101010101" pitchFamily="49" charset="-122"/>
              </a:rPr>
              <a:t>子树之间不存在确定的次序关系。</a:t>
            </a:r>
            <a:endParaRPr lang="en-US" altLang="zh-CN" sz="2800" dirty="0">
              <a:latin typeface="黑体" panose="02010609060101010101" pitchFamily="49" charset="-122"/>
              <a:ea typeface="黑体" panose="02010609060101010101" pitchFamily="49" charset="-122"/>
            </a:endParaRPr>
          </a:p>
        </p:txBody>
      </p:sp>
      <p:grpSp>
        <p:nvGrpSpPr>
          <p:cNvPr id="11271" name="Group 7">
            <a:extLst>
              <a:ext uri="{FF2B5EF4-FFF2-40B4-BE49-F238E27FC236}">
                <a16:creationId xmlns:a16="http://schemas.microsoft.com/office/drawing/2014/main" id="{D4BC98FB-71D7-4EA6-97C3-DAAA5701A68F}"/>
              </a:ext>
            </a:extLst>
          </p:cNvPr>
          <p:cNvGrpSpPr>
            <a:grpSpLocks/>
          </p:cNvGrpSpPr>
          <p:nvPr/>
        </p:nvGrpSpPr>
        <p:grpSpPr bwMode="auto">
          <a:xfrm>
            <a:off x="4371528" y="3797324"/>
            <a:ext cx="4953000" cy="2439988"/>
            <a:chOff x="0" y="0"/>
            <a:chExt cx="3389" cy="1682"/>
          </a:xfrm>
        </p:grpSpPr>
        <p:sp>
          <p:nvSpPr>
            <p:cNvPr id="11272" name="Line 8">
              <a:extLst>
                <a:ext uri="{FF2B5EF4-FFF2-40B4-BE49-F238E27FC236}">
                  <a16:creationId xmlns:a16="http://schemas.microsoft.com/office/drawing/2014/main" id="{6581F42E-8DA9-4D34-A130-735C3038A142}"/>
                </a:ext>
              </a:extLst>
            </p:cNvPr>
            <p:cNvSpPr>
              <a:spLocks noChangeShapeType="1"/>
            </p:cNvSpPr>
            <p:nvPr/>
          </p:nvSpPr>
          <p:spPr bwMode="auto">
            <a:xfrm>
              <a:off x="2005" y="722"/>
              <a:ext cx="246" cy="292"/>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73" name="Line 9">
              <a:extLst>
                <a:ext uri="{FF2B5EF4-FFF2-40B4-BE49-F238E27FC236}">
                  <a16:creationId xmlns:a16="http://schemas.microsoft.com/office/drawing/2014/main" id="{99D3BA73-2513-46E0-B72D-3693E8E09AB6}"/>
                </a:ext>
              </a:extLst>
            </p:cNvPr>
            <p:cNvSpPr>
              <a:spLocks noChangeShapeType="1"/>
            </p:cNvSpPr>
            <p:nvPr/>
          </p:nvSpPr>
          <p:spPr bwMode="auto">
            <a:xfrm flipH="1">
              <a:off x="1555" y="722"/>
              <a:ext cx="246" cy="25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74" name="Line 10">
              <a:extLst>
                <a:ext uri="{FF2B5EF4-FFF2-40B4-BE49-F238E27FC236}">
                  <a16:creationId xmlns:a16="http://schemas.microsoft.com/office/drawing/2014/main" id="{A44D2512-E64C-42AF-A3A2-578FFF82D795}"/>
                </a:ext>
              </a:extLst>
            </p:cNvPr>
            <p:cNvSpPr>
              <a:spLocks noChangeShapeType="1"/>
            </p:cNvSpPr>
            <p:nvPr/>
          </p:nvSpPr>
          <p:spPr bwMode="auto">
            <a:xfrm>
              <a:off x="1883" y="764"/>
              <a:ext cx="0" cy="20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75" name="Line 11">
              <a:extLst>
                <a:ext uri="{FF2B5EF4-FFF2-40B4-BE49-F238E27FC236}">
                  <a16:creationId xmlns:a16="http://schemas.microsoft.com/office/drawing/2014/main" id="{677EC1DD-DC64-463D-B11A-B59A70150FFE}"/>
                </a:ext>
              </a:extLst>
            </p:cNvPr>
            <p:cNvSpPr>
              <a:spLocks noChangeShapeType="1"/>
            </p:cNvSpPr>
            <p:nvPr/>
          </p:nvSpPr>
          <p:spPr bwMode="auto">
            <a:xfrm>
              <a:off x="1555" y="1223"/>
              <a:ext cx="0" cy="25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76" name="Line 12">
              <a:extLst>
                <a:ext uri="{FF2B5EF4-FFF2-40B4-BE49-F238E27FC236}">
                  <a16:creationId xmlns:a16="http://schemas.microsoft.com/office/drawing/2014/main" id="{02DAD467-3AC9-4EF3-9932-8655616E94E4}"/>
                </a:ext>
              </a:extLst>
            </p:cNvPr>
            <p:cNvSpPr>
              <a:spLocks noChangeShapeType="1"/>
            </p:cNvSpPr>
            <p:nvPr/>
          </p:nvSpPr>
          <p:spPr bwMode="auto">
            <a:xfrm>
              <a:off x="1269" y="221"/>
              <a:ext cx="573" cy="33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77" name="Line 13">
              <a:extLst>
                <a:ext uri="{FF2B5EF4-FFF2-40B4-BE49-F238E27FC236}">
                  <a16:creationId xmlns:a16="http://schemas.microsoft.com/office/drawing/2014/main" id="{33DE892F-7C0E-44D4-873B-DCD33D302BE7}"/>
                </a:ext>
              </a:extLst>
            </p:cNvPr>
            <p:cNvSpPr>
              <a:spLocks noChangeShapeType="1"/>
            </p:cNvSpPr>
            <p:nvPr/>
          </p:nvSpPr>
          <p:spPr bwMode="auto">
            <a:xfrm flipH="1">
              <a:off x="573" y="221"/>
              <a:ext cx="491" cy="33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78" name="Line 14">
              <a:extLst>
                <a:ext uri="{FF2B5EF4-FFF2-40B4-BE49-F238E27FC236}">
                  <a16:creationId xmlns:a16="http://schemas.microsoft.com/office/drawing/2014/main" id="{E27CFA80-4B98-4699-8921-040D60A20623}"/>
                </a:ext>
              </a:extLst>
            </p:cNvPr>
            <p:cNvSpPr>
              <a:spLocks noChangeShapeType="1"/>
            </p:cNvSpPr>
            <p:nvPr/>
          </p:nvSpPr>
          <p:spPr bwMode="auto">
            <a:xfrm>
              <a:off x="1187" y="263"/>
              <a:ext cx="0" cy="96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79" name="Line 15">
              <a:extLst>
                <a:ext uri="{FF2B5EF4-FFF2-40B4-BE49-F238E27FC236}">
                  <a16:creationId xmlns:a16="http://schemas.microsoft.com/office/drawing/2014/main" id="{24ADFA36-4428-4262-BD30-D3097AFD6699}"/>
                </a:ext>
              </a:extLst>
            </p:cNvPr>
            <p:cNvSpPr>
              <a:spLocks noChangeShapeType="1"/>
            </p:cNvSpPr>
            <p:nvPr/>
          </p:nvSpPr>
          <p:spPr bwMode="auto">
            <a:xfrm>
              <a:off x="614" y="722"/>
              <a:ext cx="123" cy="292"/>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80" name="Line 16">
              <a:extLst>
                <a:ext uri="{FF2B5EF4-FFF2-40B4-BE49-F238E27FC236}">
                  <a16:creationId xmlns:a16="http://schemas.microsoft.com/office/drawing/2014/main" id="{D3750800-890F-4172-8712-DE40364A9B81}"/>
                </a:ext>
              </a:extLst>
            </p:cNvPr>
            <p:cNvSpPr>
              <a:spLocks noChangeShapeType="1"/>
            </p:cNvSpPr>
            <p:nvPr/>
          </p:nvSpPr>
          <p:spPr bwMode="auto">
            <a:xfrm>
              <a:off x="409" y="1181"/>
              <a:ext cx="123" cy="251"/>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81" name="Line 17">
              <a:extLst>
                <a:ext uri="{FF2B5EF4-FFF2-40B4-BE49-F238E27FC236}">
                  <a16:creationId xmlns:a16="http://schemas.microsoft.com/office/drawing/2014/main" id="{1DD6D20C-FEBB-492F-8167-AD1E1924878E}"/>
                </a:ext>
              </a:extLst>
            </p:cNvPr>
            <p:cNvSpPr>
              <a:spLocks noChangeShapeType="1"/>
            </p:cNvSpPr>
            <p:nvPr/>
          </p:nvSpPr>
          <p:spPr bwMode="auto">
            <a:xfrm flipH="1">
              <a:off x="123" y="722"/>
              <a:ext cx="368" cy="835"/>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82" name="Oval 18">
              <a:extLst>
                <a:ext uri="{FF2B5EF4-FFF2-40B4-BE49-F238E27FC236}">
                  <a16:creationId xmlns:a16="http://schemas.microsoft.com/office/drawing/2014/main" id="{BDE6B7F3-E25D-42B9-95FC-82E325EA4652}"/>
                </a:ext>
              </a:extLst>
            </p:cNvPr>
            <p:cNvSpPr>
              <a:spLocks noChangeArrowheads="1"/>
            </p:cNvSpPr>
            <p:nvPr/>
          </p:nvSpPr>
          <p:spPr bwMode="auto">
            <a:xfrm>
              <a:off x="1023" y="12"/>
              <a:ext cx="287" cy="292"/>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1283" name="Line 19">
              <a:extLst>
                <a:ext uri="{FF2B5EF4-FFF2-40B4-BE49-F238E27FC236}">
                  <a16:creationId xmlns:a16="http://schemas.microsoft.com/office/drawing/2014/main" id="{6F2533F7-D666-45FE-8B7A-4448E206BB41}"/>
                </a:ext>
              </a:extLst>
            </p:cNvPr>
            <p:cNvSpPr>
              <a:spLocks noChangeShapeType="1"/>
            </p:cNvSpPr>
            <p:nvPr/>
          </p:nvSpPr>
          <p:spPr bwMode="auto">
            <a:xfrm>
              <a:off x="1637" y="137"/>
              <a:ext cx="1146" cy="0"/>
            </a:xfrm>
            <a:prstGeom prst="line">
              <a:avLst/>
            </a:prstGeom>
            <a:noFill/>
            <a:ln w="28575">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84" name="Oval 20">
              <a:extLst>
                <a:ext uri="{FF2B5EF4-FFF2-40B4-BE49-F238E27FC236}">
                  <a16:creationId xmlns:a16="http://schemas.microsoft.com/office/drawing/2014/main" id="{52089B19-6007-46BD-BD01-941AC7F2F1FF}"/>
                </a:ext>
              </a:extLst>
            </p:cNvPr>
            <p:cNvSpPr>
              <a:spLocks noChangeArrowheads="1"/>
            </p:cNvSpPr>
            <p:nvPr/>
          </p:nvSpPr>
          <p:spPr bwMode="auto">
            <a:xfrm>
              <a:off x="409" y="471"/>
              <a:ext cx="287" cy="293"/>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1285" name="Oval 21">
              <a:extLst>
                <a:ext uri="{FF2B5EF4-FFF2-40B4-BE49-F238E27FC236}">
                  <a16:creationId xmlns:a16="http://schemas.microsoft.com/office/drawing/2014/main" id="{3132E283-6ADC-4C33-BBAE-2F8282CE8CE0}"/>
                </a:ext>
              </a:extLst>
            </p:cNvPr>
            <p:cNvSpPr>
              <a:spLocks noChangeArrowheads="1"/>
            </p:cNvSpPr>
            <p:nvPr/>
          </p:nvSpPr>
          <p:spPr bwMode="auto">
            <a:xfrm>
              <a:off x="1023" y="471"/>
              <a:ext cx="287" cy="293"/>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1286" name="Oval 22">
              <a:extLst>
                <a:ext uri="{FF2B5EF4-FFF2-40B4-BE49-F238E27FC236}">
                  <a16:creationId xmlns:a16="http://schemas.microsoft.com/office/drawing/2014/main" id="{75601B7C-01AC-45D1-B24E-E2009091C80C}"/>
                </a:ext>
              </a:extLst>
            </p:cNvPr>
            <p:cNvSpPr>
              <a:spLocks noChangeArrowheads="1"/>
            </p:cNvSpPr>
            <p:nvPr/>
          </p:nvSpPr>
          <p:spPr bwMode="auto">
            <a:xfrm>
              <a:off x="1760" y="471"/>
              <a:ext cx="286" cy="293"/>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1287" name="Oval 23">
              <a:extLst>
                <a:ext uri="{FF2B5EF4-FFF2-40B4-BE49-F238E27FC236}">
                  <a16:creationId xmlns:a16="http://schemas.microsoft.com/office/drawing/2014/main" id="{AD4B258D-E51B-487F-873C-E58C7E41FF6C}"/>
                </a:ext>
              </a:extLst>
            </p:cNvPr>
            <p:cNvSpPr>
              <a:spLocks noChangeArrowheads="1"/>
            </p:cNvSpPr>
            <p:nvPr/>
          </p:nvSpPr>
          <p:spPr bwMode="auto">
            <a:xfrm>
              <a:off x="205" y="931"/>
              <a:ext cx="286" cy="292"/>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1288" name="Oval 24">
              <a:extLst>
                <a:ext uri="{FF2B5EF4-FFF2-40B4-BE49-F238E27FC236}">
                  <a16:creationId xmlns:a16="http://schemas.microsoft.com/office/drawing/2014/main" id="{AFB5412B-A936-454E-893F-12D63C4D123D}"/>
                </a:ext>
              </a:extLst>
            </p:cNvPr>
            <p:cNvSpPr>
              <a:spLocks noChangeArrowheads="1"/>
            </p:cNvSpPr>
            <p:nvPr/>
          </p:nvSpPr>
          <p:spPr bwMode="auto">
            <a:xfrm>
              <a:off x="573" y="931"/>
              <a:ext cx="286" cy="292"/>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1289" name="Oval 25">
              <a:extLst>
                <a:ext uri="{FF2B5EF4-FFF2-40B4-BE49-F238E27FC236}">
                  <a16:creationId xmlns:a16="http://schemas.microsoft.com/office/drawing/2014/main" id="{DB27A6AD-C87A-45ED-AB4E-8EE291D8B00F}"/>
                </a:ext>
              </a:extLst>
            </p:cNvPr>
            <p:cNvSpPr>
              <a:spLocks noChangeArrowheads="1"/>
            </p:cNvSpPr>
            <p:nvPr/>
          </p:nvSpPr>
          <p:spPr bwMode="auto">
            <a:xfrm>
              <a:off x="1023" y="931"/>
              <a:ext cx="287" cy="292"/>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1290" name="Oval 26">
              <a:extLst>
                <a:ext uri="{FF2B5EF4-FFF2-40B4-BE49-F238E27FC236}">
                  <a16:creationId xmlns:a16="http://schemas.microsoft.com/office/drawing/2014/main" id="{3E952D81-4482-4FD0-B0A1-CB76279304AD}"/>
                </a:ext>
              </a:extLst>
            </p:cNvPr>
            <p:cNvSpPr>
              <a:spLocks noChangeArrowheads="1"/>
            </p:cNvSpPr>
            <p:nvPr/>
          </p:nvSpPr>
          <p:spPr bwMode="auto">
            <a:xfrm>
              <a:off x="1391" y="931"/>
              <a:ext cx="287" cy="292"/>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1291" name="Oval 27">
              <a:extLst>
                <a:ext uri="{FF2B5EF4-FFF2-40B4-BE49-F238E27FC236}">
                  <a16:creationId xmlns:a16="http://schemas.microsoft.com/office/drawing/2014/main" id="{187F5051-FDB0-4110-82B5-DE5126492B5B}"/>
                </a:ext>
              </a:extLst>
            </p:cNvPr>
            <p:cNvSpPr>
              <a:spLocks noChangeArrowheads="1"/>
            </p:cNvSpPr>
            <p:nvPr/>
          </p:nvSpPr>
          <p:spPr bwMode="auto">
            <a:xfrm>
              <a:off x="1760" y="931"/>
              <a:ext cx="286" cy="292"/>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1292" name="Oval 28">
              <a:extLst>
                <a:ext uri="{FF2B5EF4-FFF2-40B4-BE49-F238E27FC236}">
                  <a16:creationId xmlns:a16="http://schemas.microsoft.com/office/drawing/2014/main" id="{FF631EAB-6B8F-4AEE-B7FA-C371B9256492}"/>
                </a:ext>
              </a:extLst>
            </p:cNvPr>
            <p:cNvSpPr>
              <a:spLocks noChangeArrowheads="1"/>
            </p:cNvSpPr>
            <p:nvPr/>
          </p:nvSpPr>
          <p:spPr bwMode="auto">
            <a:xfrm>
              <a:off x="2128" y="931"/>
              <a:ext cx="287" cy="292"/>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1293" name="Oval 29">
              <a:extLst>
                <a:ext uri="{FF2B5EF4-FFF2-40B4-BE49-F238E27FC236}">
                  <a16:creationId xmlns:a16="http://schemas.microsoft.com/office/drawing/2014/main" id="{39A5A927-E169-4627-BB96-4E9210498E13}"/>
                </a:ext>
              </a:extLst>
            </p:cNvPr>
            <p:cNvSpPr>
              <a:spLocks noChangeArrowheads="1"/>
            </p:cNvSpPr>
            <p:nvPr/>
          </p:nvSpPr>
          <p:spPr bwMode="auto">
            <a:xfrm>
              <a:off x="0" y="1390"/>
              <a:ext cx="286" cy="292"/>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1294" name="Oval 30">
              <a:extLst>
                <a:ext uri="{FF2B5EF4-FFF2-40B4-BE49-F238E27FC236}">
                  <a16:creationId xmlns:a16="http://schemas.microsoft.com/office/drawing/2014/main" id="{82581374-4550-4D42-87D6-E88F750C1671}"/>
                </a:ext>
              </a:extLst>
            </p:cNvPr>
            <p:cNvSpPr>
              <a:spLocks noChangeArrowheads="1"/>
            </p:cNvSpPr>
            <p:nvPr/>
          </p:nvSpPr>
          <p:spPr bwMode="auto">
            <a:xfrm>
              <a:off x="409" y="1390"/>
              <a:ext cx="287" cy="292"/>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1295" name="Oval 31">
              <a:extLst>
                <a:ext uri="{FF2B5EF4-FFF2-40B4-BE49-F238E27FC236}">
                  <a16:creationId xmlns:a16="http://schemas.microsoft.com/office/drawing/2014/main" id="{A1601699-A937-4631-966A-E20574BF20A0}"/>
                </a:ext>
              </a:extLst>
            </p:cNvPr>
            <p:cNvSpPr>
              <a:spLocks noChangeArrowheads="1"/>
            </p:cNvSpPr>
            <p:nvPr/>
          </p:nvSpPr>
          <p:spPr bwMode="auto">
            <a:xfrm>
              <a:off x="1391" y="1390"/>
              <a:ext cx="287" cy="292"/>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1296" name="Line 32">
              <a:extLst>
                <a:ext uri="{FF2B5EF4-FFF2-40B4-BE49-F238E27FC236}">
                  <a16:creationId xmlns:a16="http://schemas.microsoft.com/office/drawing/2014/main" id="{FE3F92C5-9414-45C3-8091-5B243D4CB91D}"/>
                </a:ext>
              </a:extLst>
            </p:cNvPr>
            <p:cNvSpPr>
              <a:spLocks noChangeShapeType="1"/>
            </p:cNvSpPr>
            <p:nvPr/>
          </p:nvSpPr>
          <p:spPr bwMode="auto">
            <a:xfrm>
              <a:off x="2169" y="597"/>
              <a:ext cx="614" cy="0"/>
            </a:xfrm>
            <a:prstGeom prst="line">
              <a:avLst/>
            </a:prstGeom>
            <a:noFill/>
            <a:ln w="28575">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7" name="Line 33">
              <a:extLst>
                <a:ext uri="{FF2B5EF4-FFF2-40B4-BE49-F238E27FC236}">
                  <a16:creationId xmlns:a16="http://schemas.microsoft.com/office/drawing/2014/main" id="{B08A44A3-1B9C-42BF-9E8E-2E67975E6601}"/>
                </a:ext>
              </a:extLst>
            </p:cNvPr>
            <p:cNvSpPr>
              <a:spLocks noChangeShapeType="1"/>
            </p:cNvSpPr>
            <p:nvPr/>
          </p:nvSpPr>
          <p:spPr bwMode="auto">
            <a:xfrm>
              <a:off x="2408" y="1075"/>
              <a:ext cx="368" cy="0"/>
            </a:xfrm>
            <a:prstGeom prst="line">
              <a:avLst/>
            </a:prstGeom>
            <a:noFill/>
            <a:ln w="28575">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8" name="Line 34">
              <a:extLst>
                <a:ext uri="{FF2B5EF4-FFF2-40B4-BE49-F238E27FC236}">
                  <a16:creationId xmlns:a16="http://schemas.microsoft.com/office/drawing/2014/main" id="{F2990472-8448-4A48-9A25-0DC75B38B5BD}"/>
                </a:ext>
              </a:extLst>
            </p:cNvPr>
            <p:cNvSpPr>
              <a:spLocks noChangeShapeType="1"/>
            </p:cNvSpPr>
            <p:nvPr/>
          </p:nvSpPr>
          <p:spPr bwMode="auto">
            <a:xfrm>
              <a:off x="1801" y="1515"/>
              <a:ext cx="982" cy="0"/>
            </a:xfrm>
            <a:prstGeom prst="line">
              <a:avLst/>
            </a:prstGeom>
            <a:noFill/>
            <a:ln w="28575">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9" name="Text Box 35">
              <a:extLst>
                <a:ext uri="{FF2B5EF4-FFF2-40B4-BE49-F238E27FC236}">
                  <a16:creationId xmlns:a16="http://schemas.microsoft.com/office/drawing/2014/main" id="{C4B3C0E2-142D-4F6A-8C83-E673C8829E0B}"/>
                </a:ext>
              </a:extLst>
            </p:cNvPr>
            <p:cNvSpPr txBox="1">
              <a:spLocks noChangeArrowheads="1"/>
            </p:cNvSpPr>
            <p:nvPr/>
          </p:nvSpPr>
          <p:spPr bwMode="auto">
            <a:xfrm>
              <a:off x="2530" y="0"/>
              <a:ext cx="386" cy="274"/>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000">
                  <a:solidFill>
                    <a:schemeClr val="tx2"/>
                  </a:solidFill>
                  <a:latin typeface="Times New Roman" panose="02020603050405020304" pitchFamily="18" charset="0"/>
                </a:rPr>
                <a:t>1</a:t>
              </a:r>
              <a:r>
                <a:rPr lang="zh-CN" altLang="en-US" sz="2000">
                  <a:solidFill>
                    <a:schemeClr val="tx2"/>
                  </a:solidFill>
                  <a:latin typeface="Times New Roman" panose="02020603050405020304" pitchFamily="18" charset="0"/>
                  <a:ea typeface="隶书" panose="02010509060101010101" pitchFamily="49" charset="-122"/>
                </a:rPr>
                <a:t>层</a:t>
              </a:r>
              <a:endParaRPr lang="zh-CN" altLang="en-US" sz="2000">
                <a:latin typeface="Times New Roman" panose="02020603050405020304" pitchFamily="18" charset="0"/>
              </a:endParaRPr>
            </a:p>
          </p:txBody>
        </p:sp>
        <p:sp>
          <p:nvSpPr>
            <p:cNvPr id="11300" name="Text Box 36">
              <a:extLst>
                <a:ext uri="{FF2B5EF4-FFF2-40B4-BE49-F238E27FC236}">
                  <a16:creationId xmlns:a16="http://schemas.microsoft.com/office/drawing/2014/main" id="{AAD4B6A6-B4D2-450A-A645-639D9A290BC7}"/>
                </a:ext>
              </a:extLst>
            </p:cNvPr>
            <p:cNvSpPr txBox="1">
              <a:spLocks noChangeArrowheads="1"/>
            </p:cNvSpPr>
            <p:nvPr/>
          </p:nvSpPr>
          <p:spPr bwMode="auto">
            <a:xfrm>
              <a:off x="2530" y="452"/>
              <a:ext cx="386" cy="274"/>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000">
                  <a:solidFill>
                    <a:schemeClr val="tx2"/>
                  </a:solidFill>
                  <a:latin typeface="Times New Roman" panose="02020603050405020304" pitchFamily="18" charset="0"/>
                </a:rPr>
                <a:t>2</a:t>
              </a:r>
              <a:r>
                <a:rPr lang="zh-CN" altLang="en-US" sz="2000">
                  <a:solidFill>
                    <a:schemeClr val="tx2"/>
                  </a:solidFill>
                  <a:latin typeface="Times New Roman" panose="02020603050405020304" pitchFamily="18" charset="0"/>
                  <a:ea typeface="隶书" panose="02010509060101010101" pitchFamily="49" charset="-122"/>
                </a:rPr>
                <a:t>层</a:t>
              </a:r>
              <a:endParaRPr lang="zh-CN" altLang="en-US" sz="2000">
                <a:latin typeface="Times New Roman" panose="02020603050405020304" pitchFamily="18" charset="0"/>
              </a:endParaRPr>
            </a:p>
          </p:txBody>
        </p:sp>
        <p:sp>
          <p:nvSpPr>
            <p:cNvPr id="11301" name="Text Box 37">
              <a:extLst>
                <a:ext uri="{FF2B5EF4-FFF2-40B4-BE49-F238E27FC236}">
                  <a16:creationId xmlns:a16="http://schemas.microsoft.com/office/drawing/2014/main" id="{C331D50B-DA50-49EA-8985-42804CE92BA6}"/>
                </a:ext>
              </a:extLst>
            </p:cNvPr>
            <p:cNvSpPr txBox="1">
              <a:spLocks noChangeArrowheads="1"/>
            </p:cNvSpPr>
            <p:nvPr/>
          </p:nvSpPr>
          <p:spPr bwMode="auto">
            <a:xfrm>
              <a:off x="2512" y="1370"/>
              <a:ext cx="387" cy="274"/>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000">
                  <a:solidFill>
                    <a:schemeClr val="tx2"/>
                  </a:solidFill>
                  <a:latin typeface="Times New Roman" panose="02020603050405020304" pitchFamily="18" charset="0"/>
                  <a:ea typeface="隶书" panose="02010509060101010101" pitchFamily="49" charset="-122"/>
                </a:rPr>
                <a:t>4层</a:t>
              </a:r>
              <a:endParaRPr lang="zh-CN" altLang="en-US" sz="2000">
                <a:latin typeface="Times New Roman" panose="02020603050405020304" pitchFamily="18" charset="0"/>
              </a:endParaRPr>
            </a:p>
          </p:txBody>
        </p:sp>
        <p:sp>
          <p:nvSpPr>
            <p:cNvPr id="11302" name="Text Box 38">
              <a:extLst>
                <a:ext uri="{FF2B5EF4-FFF2-40B4-BE49-F238E27FC236}">
                  <a16:creationId xmlns:a16="http://schemas.microsoft.com/office/drawing/2014/main" id="{93E57451-B1F2-4AD5-9635-9C649B1C2064}"/>
                </a:ext>
              </a:extLst>
            </p:cNvPr>
            <p:cNvSpPr txBox="1">
              <a:spLocks noChangeArrowheads="1"/>
            </p:cNvSpPr>
            <p:nvPr/>
          </p:nvSpPr>
          <p:spPr bwMode="auto">
            <a:xfrm>
              <a:off x="2530" y="910"/>
              <a:ext cx="386" cy="274"/>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000">
                  <a:solidFill>
                    <a:schemeClr val="tx2"/>
                  </a:solidFill>
                  <a:latin typeface="Times New Roman" panose="02020603050405020304" pitchFamily="18" charset="0"/>
                  <a:ea typeface="隶书" panose="02010509060101010101" pitchFamily="49" charset="-122"/>
                </a:rPr>
                <a:t>3层</a:t>
              </a:r>
              <a:endParaRPr lang="zh-CN" altLang="en-US" sz="2000">
                <a:latin typeface="Times New Roman" panose="02020603050405020304" pitchFamily="18" charset="0"/>
              </a:endParaRPr>
            </a:p>
          </p:txBody>
        </p:sp>
        <p:sp>
          <p:nvSpPr>
            <p:cNvPr id="11303" name="Text Box 39">
              <a:extLst>
                <a:ext uri="{FF2B5EF4-FFF2-40B4-BE49-F238E27FC236}">
                  <a16:creationId xmlns:a16="http://schemas.microsoft.com/office/drawing/2014/main" id="{759852A5-9EB8-4AAF-AE47-1676CE1CF128}"/>
                </a:ext>
              </a:extLst>
            </p:cNvPr>
            <p:cNvSpPr txBox="1">
              <a:spLocks noChangeArrowheads="1"/>
            </p:cNvSpPr>
            <p:nvPr/>
          </p:nvSpPr>
          <p:spPr bwMode="auto">
            <a:xfrm>
              <a:off x="2736" y="638"/>
              <a:ext cx="653" cy="4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lnSpc>
                  <a:spcPct val="80000"/>
                </a:lnSpc>
                <a:spcBef>
                  <a:spcPct val="0"/>
                </a:spcBef>
                <a:buClrTx/>
                <a:buSzTx/>
                <a:buFont typeface="Arial" panose="020B0604020202020204" pitchFamily="34" charset="0"/>
                <a:buNone/>
              </a:pPr>
              <a:r>
                <a:rPr lang="en-US" altLang="zh-CN" sz="2000" b="1">
                  <a:solidFill>
                    <a:srgbClr val="CC0066"/>
                  </a:solidFill>
                  <a:latin typeface="Times New Roman" panose="02020603050405020304" pitchFamily="18" charset="0"/>
                </a:rPr>
                <a:t>Height</a:t>
              </a:r>
            </a:p>
            <a:p>
              <a:pPr algn="ctr" eaLnBrk="1" hangingPunct="1">
                <a:lnSpc>
                  <a:spcPct val="80000"/>
                </a:lnSpc>
                <a:spcBef>
                  <a:spcPct val="0"/>
                </a:spcBef>
                <a:buClrTx/>
                <a:buSzTx/>
                <a:buFont typeface="Arial" panose="020B0604020202020204" pitchFamily="34" charset="0"/>
                <a:buNone/>
              </a:pPr>
              <a:r>
                <a:rPr lang="en-US" altLang="zh-CN" sz="2000" b="1">
                  <a:solidFill>
                    <a:srgbClr val="CC0066"/>
                  </a:solidFill>
                  <a:latin typeface="Times New Roman" panose="02020603050405020304" pitchFamily="18" charset="0"/>
                </a:rPr>
                <a:t>= 4</a:t>
              </a:r>
              <a:endParaRPr lang="en-US" altLang="zh-CN" sz="2000">
                <a:solidFill>
                  <a:srgbClr val="CC0066"/>
                </a:solidFill>
                <a:latin typeface="Times New Roman" panose="02020603050405020304" pitchFamily="18" charset="0"/>
              </a:endParaRPr>
            </a:p>
          </p:txBody>
        </p:sp>
        <p:sp>
          <p:nvSpPr>
            <p:cNvPr id="11304" name="Line 40">
              <a:extLst>
                <a:ext uri="{FF2B5EF4-FFF2-40B4-BE49-F238E27FC236}">
                  <a16:creationId xmlns:a16="http://schemas.microsoft.com/office/drawing/2014/main" id="{4A878698-3267-4D51-9522-9DE6EC77CD7A}"/>
                </a:ext>
              </a:extLst>
            </p:cNvPr>
            <p:cNvSpPr>
              <a:spLocks noChangeShapeType="1"/>
            </p:cNvSpPr>
            <p:nvPr/>
          </p:nvSpPr>
          <p:spPr bwMode="auto">
            <a:xfrm>
              <a:off x="2990" y="79"/>
              <a:ext cx="164" cy="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5" name="Line 41">
              <a:extLst>
                <a:ext uri="{FF2B5EF4-FFF2-40B4-BE49-F238E27FC236}">
                  <a16:creationId xmlns:a16="http://schemas.microsoft.com/office/drawing/2014/main" id="{7E820300-9770-4B00-A1BE-CA4E3015A410}"/>
                </a:ext>
              </a:extLst>
            </p:cNvPr>
            <p:cNvSpPr>
              <a:spLocks noChangeShapeType="1"/>
            </p:cNvSpPr>
            <p:nvPr/>
          </p:nvSpPr>
          <p:spPr bwMode="auto">
            <a:xfrm flipV="1">
              <a:off x="3072" y="79"/>
              <a:ext cx="0" cy="584"/>
            </a:xfrm>
            <a:prstGeom prst="line">
              <a:avLst/>
            </a:prstGeom>
            <a:noFill/>
            <a:ln w="38100">
              <a:solidFill>
                <a:srgbClr val="0099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6" name="Line 42">
              <a:extLst>
                <a:ext uri="{FF2B5EF4-FFF2-40B4-BE49-F238E27FC236}">
                  <a16:creationId xmlns:a16="http://schemas.microsoft.com/office/drawing/2014/main" id="{B3E300A0-DC3F-4A0F-82D3-FFA5BAACA5A9}"/>
                </a:ext>
              </a:extLst>
            </p:cNvPr>
            <p:cNvSpPr>
              <a:spLocks noChangeShapeType="1"/>
            </p:cNvSpPr>
            <p:nvPr/>
          </p:nvSpPr>
          <p:spPr bwMode="auto">
            <a:xfrm>
              <a:off x="2990" y="1665"/>
              <a:ext cx="164" cy="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7" name="Line 43">
              <a:extLst>
                <a:ext uri="{FF2B5EF4-FFF2-40B4-BE49-F238E27FC236}">
                  <a16:creationId xmlns:a16="http://schemas.microsoft.com/office/drawing/2014/main" id="{AB163C94-C6F2-4E70-9668-D8FD3C24405A}"/>
                </a:ext>
              </a:extLst>
            </p:cNvPr>
            <p:cNvSpPr>
              <a:spLocks noChangeShapeType="1"/>
            </p:cNvSpPr>
            <p:nvPr/>
          </p:nvSpPr>
          <p:spPr bwMode="auto">
            <a:xfrm flipV="1">
              <a:off x="3072" y="1081"/>
              <a:ext cx="0" cy="584"/>
            </a:xfrm>
            <a:prstGeom prst="line">
              <a:avLst/>
            </a:prstGeom>
            <a:noFill/>
            <a:ln w="38100">
              <a:solidFill>
                <a:srgbClr val="009900"/>
              </a:solidFill>
              <a:round/>
              <a:headEnd type="triangle" w="sm"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8" name="Text Box 44">
              <a:extLst>
                <a:ext uri="{FF2B5EF4-FFF2-40B4-BE49-F238E27FC236}">
                  <a16:creationId xmlns:a16="http://schemas.microsoft.com/office/drawing/2014/main" id="{5D4C9891-C214-408C-835C-54FFF7857C45}"/>
                </a:ext>
              </a:extLst>
            </p:cNvPr>
            <p:cNvSpPr txBox="1">
              <a:spLocks noChangeArrowheads="1"/>
            </p:cNvSpPr>
            <p:nvPr/>
          </p:nvSpPr>
          <p:spPr bwMode="auto">
            <a:xfrm>
              <a:off x="1057" y="18"/>
              <a:ext cx="252" cy="2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a:solidFill>
                    <a:srgbClr val="FFFFCC"/>
                  </a:solidFill>
                  <a:latin typeface="Arial" panose="020B0604020202020204" pitchFamily="34" charset="0"/>
                </a:rPr>
                <a:t>A</a:t>
              </a:r>
              <a:endParaRPr lang="en-US" altLang="zh-CN" sz="2000">
                <a:latin typeface="Times New Roman" panose="02020603050405020304" pitchFamily="18" charset="0"/>
              </a:endParaRPr>
            </a:p>
          </p:txBody>
        </p:sp>
        <p:sp>
          <p:nvSpPr>
            <p:cNvPr id="11309" name="Text Box 45">
              <a:extLst>
                <a:ext uri="{FF2B5EF4-FFF2-40B4-BE49-F238E27FC236}">
                  <a16:creationId xmlns:a16="http://schemas.microsoft.com/office/drawing/2014/main" id="{3C4189B4-640E-420C-ABF3-3BD5E89FBCBB}"/>
                </a:ext>
              </a:extLst>
            </p:cNvPr>
            <p:cNvSpPr txBox="1">
              <a:spLocks noChangeArrowheads="1"/>
            </p:cNvSpPr>
            <p:nvPr/>
          </p:nvSpPr>
          <p:spPr bwMode="auto">
            <a:xfrm>
              <a:off x="1057" y="476"/>
              <a:ext cx="252"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a:solidFill>
                    <a:srgbClr val="FFFFCC"/>
                  </a:solidFill>
                  <a:latin typeface="Arial" panose="020B0604020202020204" pitchFamily="34" charset="0"/>
                </a:rPr>
                <a:t>C</a:t>
              </a:r>
              <a:endParaRPr lang="en-US" altLang="zh-CN" sz="2000">
                <a:latin typeface="Times New Roman" panose="02020603050405020304" pitchFamily="18" charset="0"/>
              </a:endParaRPr>
            </a:p>
          </p:txBody>
        </p:sp>
        <p:sp>
          <p:nvSpPr>
            <p:cNvPr id="11310" name="Text Box 46">
              <a:extLst>
                <a:ext uri="{FF2B5EF4-FFF2-40B4-BE49-F238E27FC236}">
                  <a16:creationId xmlns:a16="http://schemas.microsoft.com/office/drawing/2014/main" id="{03238067-1D4F-4519-990B-0894E81C66FB}"/>
                </a:ext>
              </a:extLst>
            </p:cNvPr>
            <p:cNvSpPr txBox="1">
              <a:spLocks noChangeArrowheads="1"/>
            </p:cNvSpPr>
            <p:nvPr/>
          </p:nvSpPr>
          <p:spPr bwMode="auto">
            <a:xfrm>
              <a:off x="1054" y="943"/>
              <a:ext cx="260"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a:solidFill>
                    <a:srgbClr val="FFFFCC"/>
                  </a:solidFill>
                  <a:latin typeface="Arial" panose="020B0604020202020204" pitchFamily="34" charset="0"/>
                </a:rPr>
                <a:t>G</a:t>
              </a:r>
              <a:endParaRPr lang="en-US" altLang="zh-CN" sz="2000">
                <a:latin typeface="Times New Roman" panose="02020603050405020304" pitchFamily="18" charset="0"/>
              </a:endParaRPr>
            </a:p>
          </p:txBody>
        </p:sp>
        <p:sp>
          <p:nvSpPr>
            <p:cNvPr id="11311" name="Text Box 47">
              <a:extLst>
                <a:ext uri="{FF2B5EF4-FFF2-40B4-BE49-F238E27FC236}">
                  <a16:creationId xmlns:a16="http://schemas.microsoft.com/office/drawing/2014/main" id="{74F8FDDE-0FDB-4ACE-A7E3-84384D855728}"/>
                </a:ext>
              </a:extLst>
            </p:cNvPr>
            <p:cNvSpPr txBox="1">
              <a:spLocks noChangeArrowheads="1"/>
            </p:cNvSpPr>
            <p:nvPr/>
          </p:nvSpPr>
          <p:spPr bwMode="auto">
            <a:xfrm>
              <a:off x="443" y="476"/>
              <a:ext cx="252"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a:solidFill>
                    <a:srgbClr val="FFFFCC"/>
                  </a:solidFill>
                  <a:latin typeface="Arial" panose="020B0604020202020204" pitchFamily="34" charset="0"/>
                </a:rPr>
                <a:t>B</a:t>
              </a:r>
              <a:endParaRPr lang="en-US" altLang="zh-CN" sz="2000">
                <a:latin typeface="Times New Roman" panose="02020603050405020304" pitchFamily="18" charset="0"/>
              </a:endParaRPr>
            </a:p>
          </p:txBody>
        </p:sp>
        <p:sp>
          <p:nvSpPr>
            <p:cNvPr id="11312" name="Text Box 48">
              <a:extLst>
                <a:ext uri="{FF2B5EF4-FFF2-40B4-BE49-F238E27FC236}">
                  <a16:creationId xmlns:a16="http://schemas.microsoft.com/office/drawing/2014/main" id="{27A5A964-56CA-4B6B-A46E-C1901CC680F0}"/>
                </a:ext>
              </a:extLst>
            </p:cNvPr>
            <p:cNvSpPr txBox="1">
              <a:spLocks noChangeArrowheads="1"/>
            </p:cNvSpPr>
            <p:nvPr/>
          </p:nvSpPr>
          <p:spPr bwMode="auto">
            <a:xfrm>
              <a:off x="1793" y="485"/>
              <a:ext cx="252" cy="2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a:solidFill>
                    <a:srgbClr val="FFFFCC"/>
                  </a:solidFill>
                  <a:latin typeface="Arial" panose="020B0604020202020204" pitchFamily="34" charset="0"/>
                </a:rPr>
                <a:t>D</a:t>
              </a:r>
              <a:endParaRPr lang="en-US" altLang="zh-CN" sz="2000">
                <a:latin typeface="Times New Roman" panose="02020603050405020304" pitchFamily="18" charset="0"/>
              </a:endParaRPr>
            </a:p>
          </p:txBody>
        </p:sp>
        <p:sp>
          <p:nvSpPr>
            <p:cNvPr id="11313" name="Text Box 49">
              <a:extLst>
                <a:ext uri="{FF2B5EF4-FFF2-40B4-BE49-F238E27FC236}">
                  <a16:creationId xmlns:a16="http://schemas.microsoft.com/office/drawing/2014/main" id="{5E304349-97EC-456B-BB98-5EA2225CE9B9}"/>
                </a:ext>
              </a:extLst>
            </p:cNvPr>
            <p:cNvSpPr txBox="1">
              <a:spLocks noChangeArrowheads="1"/>
            </p:cNvSpPr>
            <p:nvPr/>
          </p:nvSpPr>
          <p:spPr bwMode="auto">
            <a:xfrm>
              <a:off x="246" y="943"/>
              <a:ext cx="239"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a:solidFill>
                    <a:srgbClr val="FFFFCC"/>
                  </a:solidFill>
                  <a:latin typeface="Arial" panose="020B0604020202020204" pitchFamily="34" charset="0"/>
                </a:rPr>
                <a:t>E</a:t>
              </a:r>
              <a:endParaRPr lang="en-US" altLang="zh-CN" sz="2000">
                <a:latin typeface="Times New Roman" panose="02020603050405020304" pitchFamily="18" charset="0"/>
              </a:endParaRPr>
            </a:p>
          </p:txBody>
        </p:sp>
        <p:sp>
          <p:nvSpPr>
            <p:cNvPr id="11314" name="Text Box 50">
              <a:extLst>
                <a:ext uri="{FF2B5EF4-FFF2-40B4-BE49-F238E27FC236}">
                  <a16:creationId xmlns:a16="http://schemas.microsoft.com/office/drawing/2014/main" id="{70C00670-D818-4A68-B076-385D0577986D}"/>
                </a:ext>
              </a:extLst>
            </p:cNvPr>
            <p:cNvSpPr txBox="1">
              <a:spLocks noChangeArrowheads="1"/>
            </p:cNvSpPr>
            <p:nvPr/>
          </p:nvSpPr>
          <p:spPr bwMode="auto">
            <a:xfrm>
              <a:off x="612" y="943"/>
              <a:ext cx="232"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a:solidFill>
                    <a:srgbClr val="FFFFCC"/>
                  </a:solidFill>
                  <a:latin typeface="Arial" panose="020B0604020202020204" pitchFamily="34" charset="0"/>
                </a:rPr>
                <a:t>F</a:t>
              </a:r>
              <a:endParaRPr lang="en-US" altLang="zh-CN" sz="2000">
                <a:latin typeface="Times New Roman" panose="02020603050405020304" pitchFamily="18" charset="0"/>
              </a:endParaRPr>
            </a:p>
          </p:txBody>
        </p:sp>
        <p:sp>
          <p:nvSpPr>
            <p:cNvPr id="11315" name="Text Box 51">
              <a:extLst>
                <a:ext uri="{FF2B5EF4-FFF2-40B4-BE49-F238E27FC236}">
                  <a16:creationId xmlns:a16="http://schemas.microsoft.com/office/drawing/2014/main" id="{45CAA8D7-1CD7-4BAA-A56E-07998B31C3DF}"/>
                </a:ext>
              </a:extLst>
            </p:cNvPr>
            <p:cNvSpPr txBox="1">
              <a:spLocks noChangeArrowheads="1"/>
            </p:cNvSpPr>
            <p:nvPr/>
          </p:nvSpPr>
          <p:spPr bwMode="auto">
            <a:xfrm>
              <a:off x="42" y="1403"/>
              <a:ext cx="252"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a:solidFill>
                    <a:srgbClr val="FFFFCC"/>
                  </a:solidFill>
                  <a:latin typeface="Arial" panose="020B0604020202020204" pitchFamily="34" charset="0"/>
                </a:rPr>
                <a:t>K</a:t>
              </a:r>
              <a:endParaRPr lang="en-US" altLang="zh-CN" sz="2000">
                <a:latin typeface="Times New Roman" panose="02020603050405020304" pitchFamily="18" charset="0"/>
              </a:endParaRPr>
            </a:p>
          </p:txBody>
        </p:sp>
        <p:sp>
          <p:nvSpPr>
            <p:cNvPr id="11316" name="Text Box 52">
              <a:extLst>
                <a:ext uri="{FF2B5EF4-FFF2-40B4-BE49-F238E27FC236}">
                  <a16:creationId xmlns:a16="http://schemas.microsoft.com/office/drawing/2014/main" id="{49F573D9-6ADF-4862-9834-6C2247D8FA57}"/>
                </a:ext>
              </a:extLst>
            </p:cNvPr>
            <p:cNvSpPr txBox="1">
              <a:spLocks noChangeArrowheads="1"/>
            </p:cNvSpPr>
            <p:nvPr/>
          </p:nvSpPr>
          <p:spPr bwMode="auto">
            <a:xfrm>
              <a:off x="443" y="1403"/>
              <a:ext cx="233"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a:solidFill>
                    <a:srgbClr val="FFFFCC"/>
                  </a:solidFill>
                  <a:latin typeface="Arial" panose="020B0604020202020204" pitchFamily="34" charset="0"/>
                </a:rPr>
                <a:t>L</a:t>
              </a:r>
              <a:endParaRPr lang="en-US" altLang="zh-CN" sz="2000">
                <a:latin typeface="Times New Roman" panose="02020603050405020304" pitchFamily="18" charset="0"/>
              </a:endParaRPr>
            </a:p>
          </p:txBody>
        </p:sp>
        <p:sp>
          <p:nvSpPr>
            <p:cNvPr id="11317" name="Text Box 53">
              <a:extLst>
                <a:ext uri="{FF2B5EF4-FFF2-40B4-BE49-F238E27FC236}">
                  <a16:creationId xmlns:a16="http://schemas.microsoft.com/office/drawing/2014/main" id="{226C4D76-4745-4974-A26E-4727C1D67584}"/>
                </a:ext>
              </a:extLst>
            </p:cNvPr>
            <p:cNvSpPr txBox="1">
              <a:spLocks noChangeArrowheads="1"/>
            </p:cNvSpPr>
            <p:nvPr/>
          </p:nvSpPr>
          <p:spPr bwMode="auto">
            <a:xfrm>
              <a:off x="1421" y="943"/>
              <a:ext cx="252"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a:solidFill>
                    <a:srgbClr val="FFFFCC"/>
                  </a:solidFill>
                  <a:latin typeface="Arial" panose="020B0604020202020204" pitchFamily="34" charset="0"/>
                </a:rPr>
                <a:t>H</a:t>
              </a:r>
              <a:endParaRPr lang="en-US" altLang="zh-CN" sz="2000">
                <a:latin typeface="Times New Roman" panose="02020603050405020304" pitchFamily="18" charset="0"/>
              </a:endParaRPr>
            </a:p>
          </p:txBody>
        </p:sp>
        <p:sp>
          <p:nvSpPr>
            <p:cNvPr id="11318" name="Text Box 54">
              <a:extLst>
                <a:ext uri="{FF2B5EF4-FFF2-40B4-BE49-F238E27FC236}">
                  <a16:creationId xmlns:a16="http://schemas.microsoft.com/office/drawing/2014/main" id="{D3A401E8-E842-45F3-AE5D-B835A34E9320}"/>
                </a:ext>
              </a:extLst>
            </p:cNvPr>
            <p:cNvSpPr txBox="1">
              <a:spLocks noChangeArrowheads="1"/>
            </p:cNvSpPr>
            <p:nvPr/>
          </p:nvSpPr>
          <p:spPr bwMode="auto">
            <a:xfrm>
              <a:off x="1390" y="1403"/>
              <a:ext cx="271"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a:solidFill>
                    <a:srgbClr val="FFFFCC"/>
                  </a:solidFill>
                  <a:latin typeface="Arial" panose="020B0604020202020204" pitchFamily="34" charset="0"/>
                </a:rPr>
                <a:t>M</a:t>
              </a:r>
              <a:endParaRPr lang="en-US" altLang="zh-CN" sz="2000">
                <a:latin typeface="Times New Roman" panose="02020603050405020304" pitchFamily="18" charset="0"/>
              </a:endParaRPr>
            </a:p>
          </p:txBody>
        </p:sp>
        <p:sp>
          <p:nvSpPr>
            <p:cNvPr id="11319" name="Text Box 55">
              <a:extLst>
                <a:ext uri="{FF2B5EF4-FFF2-40B4-BE49-F238E27FC236}">
                  <a16:creationId xmlns:a16="http://schemas.microsoft.com/office/drawing/2014/main" id="{9897EE6C-EA1A-47FD-A22A-02C02E559258}"/>
                </a:ext>
              </a:extLst>
            </p:cNvPr>
            <p:cNvSpPr txBox="1">
              <a:spLocks noChangeArrowheads="1"/>
            </p:cNvSpPr>
            <p:nvPr/>
          </p:nvSpPr>
          <p:spPr bwMode="auto">
            <a:xfrm>
              <a:off x="1806" y="943"/>
              <a:ext cx="174"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a:solidFill>
                    <a:srgbClr val="FFFFCC"/>
                  </a:solidFill>
                  <a:latin typeface="Arial" panose="020B0604020202020204" pitchFamily="34" charset="0"/>
                </a:rPr>
                <a:t>I</a:t>
              </a:r>
              <a:endParaRPr lang="en-US" altLang="zh-CN" sz="2000">
                <a:latin typeface="Times New Roman" panose="02020603050405020304" pitchFamily="18" charset="0"/>
              </a:endParaRPr>
            </a:p>
          </p:txBody>
        </p:sp>
        <p:sp>
          <p:nvSpPr>
            <p:cNvPr id="11320" name="Text Box 56">
              <a:extLst>
                <a:ext uri="{FF2B5EF4-FFF2-40B4-BE49-F238E27FC236}">
                  <a16:creationId xmlns:a16="http://schemas.microsoft.com/office/drawing/2014/main" id="{38CA9535-8925-4426-BEE6-D17BD38720F1}"/>
                </a:ext>
              </a:extLst>
            </p:cNvPr>
            <p:cNvSpPr txBox="1">
              <a:spLocks noChangeArrowheads="1"/>
            </p:cNvSpPr>
            <p:nvPr/>
          </p:nvSpPr>
          <p:spPr bwMode="auto">
            <a:xfrm>
              <a:off x="2171" y="943"/>
              <a:ext cx="223"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a:solidFill>
                    <a:srgbClr val="FFFFCC"/>
                  </a:solidFill>
                  <a:latin typeface="Arial" panose="020B0604020202020204" pitchFamily="34" charset="0"/>
                </a:rPr>
                <a:t>J</a:t>
              </a:r>
              <a:endParaRPr lang="en-US" altLang="zh-CN" sz="2000">
                <a:latin typeface="Times New Roman" panose="02020603050405020304" pitchFamily="18" charset="0"/>
              </a:endParaRPr>
            </a:p>
          </p:txBody>
        </p:sp>
      </p:grpSp>
      <p:sp>
        <p:nvSpPr>
          <p:cNvPr id="3" name="Text Box 4">
            <a:extLst>
              <a:ext uri="{FF2B5EF4-FFF2-40B4-BE49-F238E27FC236}">
                <a16:creationId xmlns:a16="http://schemas.microsoft.com/office/drawing/2014/main" id="{E873445E-471D-57DC-5A14-2FCBBFAF91E5}"/>
              </a:ext>
            </a:extLst>
          </p:cNvPr>
          <p:cNvSpPr txBox="1">
            <a:spLocks noChangeArrowheads="1"/>
          </p:cNvSpPr>
          <p:nvPr/>
        </p:nvSpPr>
        <p:spPr bwMode="auto">
          <a:xfrm>
            <a:off x="240161" y="172243"/>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二、树的基本术语</a:t>
            </a:r>
          </a:p>
        </p:txBody>
      </p:sp>
      <p:sp>
        <p:nvSpPr>
          <p:cNvPr id="5" name="文本框 4">
            <a:extLst>
              <a:ext uri="{FF2B5EF4-FFF2-40B4-BE49-F238E27FC236}">
                <a16:creationId xmlns:a16="http://schemas.microsoft.com/office/drawing/2014/main" id="{238AB5EB-42C4-4A6C-789C-38B080F3E2FF}"/>
              </a:ext>
            </a:extLst>
          </p:cNvPr>
          <p:cNvSpPr txBox="1"/>
          <p:nvPr/>
        </p:nvSpPr>
        <p:spPr>
          <a:xfrm>
            <a:off x="5772776" y="1789599"/>
            <a:ext cx="3208301" cy="523220"/>
          </a:xfrm>
          <a:prstGeom prst="rect">
            <a:avLst/>
          </a:prstGeom>
          <a:noFill/>
        </p:spPr>
        <p:txBody>
          <a:bodyPr wrap="square" rtlCol="0">
            <a:spAutoFit/>
          </a:bodyPr>
          <a:lstStyle/>
          <a:p>
            <a:r>
              <a:rPr lang="zh-CN" altLang="en-US" sz="2800" i="0" dirty="0">
                <a:solidFill>
                  <a:srgbClr val="FF0000"/>
                </a:solidFill>
                <a:latin typeface="+mn-ea"/>
                <a:ea typeface="+mn-ea"/>
              </a:rPr>
              <a:t>深度</a:t>
            </a:r>
            <a:r>
              <a:rPr lang="en-US" altLang="zh-CN" sz="2800" i="0" dirty="0">
                <a:solidFill>
                  <a:srgbClr val="FF0000"/>
                </a:solidFill>
                <a:latin typeface="+mn-ea"/>
                <a:ea typeface="+mn-ea"/>
              </a:rPr>
              <a:t>4</a:t>
            </a:r>
            <a:endParaRPr lang="zh-CN" altLang="en-US" sz="2800" i="0" dirty="0">
              <a:solidFill>
                <a:srgbClr val="FF0000"/>
              </a:solidFill>
              <a:latin typeface="+mn-ea"/>
              <a:ea typeface="+mn-ea"/>
            </a:endParaRPr>
          </a:p>
        </p:txBody>
      </p:sp>
      <p:sp>
        <p:nvSpPr>
          <p:cNvPr id="6" name="文本框 5">
            <a:extLst>
              <a:ext uri="{FF2B5EF4-FFF2-40B4-BE49-F238E27FC236}">
                <a16:creationId xmlns:a16="http://schemas.microsoft.com/office/drawing/2014/main" id="{102729D5-C8A5-9A45-1EDF-057B6FC89F1C}"/>
              </a:ext>
            </a:extLst>
          </p:cNvPr>
          <p:cNvSpPr txBox="1"/>
          <p:nvPr/>
        </p:nvSpPr>
        <p:spPr>
          <a:xfrm>
            <a:off x="7314910" y="2381395"/>
            <a:ext cx="2032937" cy="954107"/>
          </a:xfrm>
          <a:prstGeom prst="rect">
            <a:avLst/>
          </a:prstGeom>
          <a:noFill/>
        </p:spPr>
        <p:txBody>
          <a:bodyPr wrap="square" rtlCol="0">
            <a:spAutoFit/>
          </a:bodyPr>
          <a:lstStyle/>
          <a:p>
            <a:r>
              <a:rPr lang="zh-CN" altLang="en-US" sz="2800" i="0" dirty="0">
                <a:solidFill>
                  <a:srgbClr val="FF0000"/>
                </a:solidFill>
                <a:latin typeface="+mn-ea"/>
                <a:ea typeface="+mn-ea"/>
              </a:rPr>
              <a:t>二叉树、家族树状图</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26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3" presetClass="entr" presetSubtype="10" fill="hold" nodeType="clickEffect">
                                  <p:stCondLst>
                                    <p:cond delay="0"/>
                                  </p:stCondLst>
                                  <p:childTnLst>
                                    <p:set>
                                      <p:cBhvr>
                                        <p:cTn id="10" dur="1" fill="hold">
                                          <p:stCondLst>
                                            <p:cond delay="0"/>
                                          </p:stCondLst>
                                        </p:cTn>
                                        <p:tgtEl>
                                          <p:spTgt spid="11269">
                                            <p:txEl>
                                              <p:pRg st="1" end="1"/>
                                            </p:txEl>
                                          </p:spTgt>
                                        </p:tgtEl>
                                        <p:attrNameLst>
                                          <p:attrName>style.visibility</p:attrName>
                                        </p:attrNameLst>
                                      </p:cBhvr>
                                      <p:to>
                                        <p:strVal val="visible"/>
                                      </p:to>
                                    </p:set>
                                    <p:animEffect transition="in" filter="blinds(horizontal)">
                                      <p:cBhvr>
                                        <p:cTn id="11" dur="500"/>
                                        <p:tgtEl>
                                          <p:spTgt spid="11269">
                                            <p:txEl>
                                              <p:pRg st="1" end="1"/>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11269">
                                            <p:txEl>
                                              <p:pRg st="2" end="2"/>
                                            </p:txEl>
                                          </p:spTgt>
                                        </p:tgtEl>
                                        <p:attrNameLst>
                                          <p:attrName>style.visibility</p:attrName>
                                        </p:attrNameLst>
                                      </p:cBhvr>
                                      <p:to>
                                        <p:strVal val="visible"/>
                                      </p:to>
                                    </p:set>
                                    <p:animEffect transition="in" filter="blinds(horizontal)">
                                      <p:cBhvr>
                                        <p:cTn id="20" dur="500"/>
                                        <p:tgtEl>
                                          <p:spTgt spid="11269">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3" presetClass="entr" presetSubtype="10" fill="hold" nodeType="clickEffect">
                                  <p:stCondLst>
                                    <p:cond delay="0"/>
                                  </p:stCondLst>
                                  <p:childTnLst>
                                    <p:set>
                                      <p:cBhvr>
                                        <p:cTn id="28" dur="1" fill="hold">
                                          <p:stCondLst>
                                            <p:cond delay="0"/>
                                          </p:stCondLst>
                                        </p:cTn>
                                        <p:tgtEl>
                                          <p:spTgt spid="11269">
                                            <p:txEl>
                                              <p:pRg st="3" end="3"/>
                                            </p:txEl>
                                          </p:spTgt>
                                        </p:tgtEl>
                                        <p:attrNameLst>
                                          <p:attrName>style.visibility</p:attrName>
                                        </p:attrNameLst>
                                      </p:cBhvr>
                                      <p:to>
                                        <p:strVal val="visible"/>
                                      </p:to>
                                    </p:set>
                                    <p:animEffect transition="in" filter="blinds(horizontal)">
                                      <p:cBhvr>
                                        <p:cTn id="29" dur="500"/>
                                        <p:tgtEl>
                                          <p:spTgt spid="1126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Text Box 3">
            <a:extLst>
              <a:ext uri="{FF2B5EF4-FFF2-40B4-BE49-F238E27FC236}">
                <a16:creationId xmlns:a16="http://schemas.microsoft.com/office/drawing/2014/main" id="{E6E29142-477D-429F-9005-671E8C0A16CD}"/>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DA079BC8-6079-4663-8311-3953FC3A8473}" type="slidenum">
              <a:rPr lang="zh-CN" altLang="en-US" sz="2400"/>
              <a:pPr algn="r" eaLnBrk="1" hangingPunct="1">
                <a:spcBef>
                  <a:spcPct val="50000"/>
                </a:spcBef>
                <a:buClrTx/>
                <a:buSzTx/>
                <a:buFont typeface="Arial" panose="020B0604020202020204" pitchFamily="34" charset="0"/>
                <a:buNone/>
              </a:pPr>
              <a:t>8</a:t>
            </a:fld>
            <a:endParaRPr lang="en-US" altLang="zh-CN" sz="2400"/>
          </a:p>
        </p:txBody>
      </p:sp>
      <p:sp>
        <p:nvSpPr>
          <p:cNvPr id="12293" name="Rectangle 5">
            <a:extLst>
              <a:ext uri="{FF2B5EF4-FFF2-40B4-BE49-F238E27FC236}">
                <a16:creationId xmlns:a16="http://schemas.microsoft.com/office/drawing/2014/main" id="{0DAA395D-25E1-4871-B107-B7B5F5EE710C}"/>
              </a:ext>
            </a:extLst>
          </p:cNvPr>
          <p:cNvSpPr>
            <a:spLocks noGrp="1" noChangeArrowheads="1"/>
          </p:cNvSpPr>
          <p:nvPr>
            <p:ph type="body" idx="1"/>
          </p:nvPr>
        </p:nvSpPr>
        <p:spPr>
          <a:xfrm>
            <a:off x="457267" y="1294607"/>
            <a:ext cx="8763000" cy="1115811"/>
          </a:xfrm>
        </p:spPr>
        <p:txBody>
          <a:bodyPr/>
          <a:lstStyle/>
          <a:p>
            <a:pPr eaLnBrk="1" hangingPunct="1">
              <a:spcBef>
                <a:spcPct val="30000"/>
              </a:spcBef>
            </a:pPr>
            <a:r>
              <a:rPr lang="zh-CN" altLang="en-US" sz="2800" dirty="0">
                <a:latin typeface="黑体" panose="02010609060101010101" pitchFamily="49" charset="-122"/>
                <a:ea typeface="黑体" panose="02010609060101010101" pitchFamily="49" charset="-122"/>
              </a:rPr>
              <a:t>森林：互不相交的树的集合。</a:t>
            </a:r>
            <a:r>
              <a:rPr lang="zh-CN" altLang="en-US" dirty="0">
                <a:latin typeface="黑体" panose="02010609060101010101" pitchFamily="49" charset="-122"/>
                <a:ea typeface="黑体" panose="02010609060101010101" pitchFamily="49" charset="-122"/>
              </a:rPr>
              <a:t>对</a:t>
            </a:r>
            <a:r>
              <a:rPr lang="zh-CN" altLang="en-US" sz="2800" dirty="0">
                <a:latin typeface="黑体" panose="02010609060101010101" pitchFamily="49" charset="-122"/>
                <a:ea typeface="黑体" panose="02010609060101010101" pitchFamily="49" charset="-122"/>
              </a:rPr>
              <a:t>树中每个结点而言，</a:t>
            </a:r>
          </a:p>
          <a:p>
            <a:pPr eaLnBrk="1" hangingPunct="1">
              <a:spcBef>
                <a:spcPct val="0"/>
              </a:spcBef>
              <a:buFont typeface="Wingdings" panose="05000000000000000000" pitchFamily="2" charset="2"/>
              <a:buNone/>
            </a:pPr>
            <a:r>
              <a:rPr lang="zh-CN" altLang="en-US" sz="2800" dirty="0">
                <a:latin typeface="黑体" panose="02010609060101010101" pitchFamily="49" charset="-122"/>
                <a:ea typeface="黑体" panose="02010609060101010101" pitchFamily="49" charset="-122"/>
              </a:rPr>
              <a:t>　 其子树的集合即为森林。</a:t>
            </a:r>
            <a:endParaRPr lang="en-US" altLang="zh-CN" sz="2800" dirty="0">
              <a:latin typeface="黑体" panose="02010609060101010101" pitchFamily="49" charset="-122"/>
              <a:ea typeface="黑体" panose="02010609060101010101" pitchFamily="49" charset="-122"/>
            </a:endParaRPr>
          </a:p>
        </p:txBody>
      </p:sp>
      <p:sp>
        <p:nvSpPr>
          <p:cNvPr id="12295" name="Oval 7">
            <a:extLst>
              <a:ext uri="{FF2B5EF4-FFF2-40B4-BE49-F238E27FC236}">
                <a16:creationId xmlns:a16="http://schemas.microsoft.com/office/drawing/2014/main" id="{B9B75B8D-0FC1-4675-A374-E98671E7E05D}"/>
              </a:ext>
            </a:extLst>
          </p:cNvPr>
          <p:cNvSpPr>
            <a:spLocks noChangeArrowheads="1"/>
          </p:cNvSpPr>
          <p:nvPr/>
        </p:nvSpPr>
        <p:spPr bwMode="auto">
          <a:xfrm>
            <a:off x="6400800" y="3738563"/>
            <a:ext cx="533400" cy="381000"/>
          </a:xfrm>
          <a:prstGeom prst="ellipse">
            <a:avLst/>
          </a:prstGeom>
          <a:solidFill>
            <a:srgbClr val="FFFFD9"/>
          </a:solidFill>
          <a:ln w="12700"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rgbClr val="FF0000"/>
                </a:solidFill>
                <a:latin typeface="Times New Roman" panose="02020603050405020304" pitchFamily="18" charset="0"/>
              </a:rPr>
              <a:t>A</a:t>
            </a:r>
            <a:endParaRPr lang="en-US" altLang="zh-CN" sz="2400" i="0" dirty="0">
              <a:latin typeface="Times New Roman" panose="02020603050405020304" pitchFamily="18" charset="0"/>
            </a:endParaRPr>
          </a:p>
        </p:txBody>
      </p:sp>
      <p:sp>
        <p:nvSpPr>
          <p:cNvPr id="12296" name="AutoShape 8">
            <a:extLst>
              <a:ext uri="{FF2B5EF4-FFF2-40B4-BE49-F238E27FC236}">
                <a16:creationId xmlns:a16="http://schemas.microsoft.com/office/drawing/2014/main" id="{C3E2A263-74D3-4895-98BC-211F23031B7A}"/>
              </a:ext>
            </a:extLst>
          </p:cNvPr>
          <p:cNvSpPr>
            <a:spLocks noChangeArrowheads="1"/>
          </p:cNvSpPr>
          <p:nvPr/>
        </p:nvSpPr>
        <p:spPr bwMode="auto">
          <a:xfrm>
            <a:off x="7543800" y="3357563"/>
            <a:ext cx="609600" cy="381000"/>
          </a:xfrm>
          <a:prstGeom prst="wedgeRoundRectCallout">
            <a:avLst>
              <a:gd name="adj1" fmla="val -137759"/>
              <a:gd name="adj2" fmla="val 92500"/>
              <a:gd name="adj3" fmla="val 16667"/>
            </a:avLst>
          </a:prstGeom>
          <a:solidFill>
            <a:srgbClr val="FBE2DF"/>
          </a:solidFill>
          <a:ln w="12700"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b="1" i="0" dirty="0">
                <a:solidFill>
                  <a:srgbClr val="FF3300"/>
                </a:solidFill>
                <a:latin typeface="Times New Roman" panose="02020603050405020304" pitchFamily="18" charset="0"/>
              </a:rPr>
              <a:t>root</a:t>
            </a:r>
            <a:endParaRPr lang="en-US" altLang="zh-CN" sz="2400" i="0" dirty="0">
              <a:latin typeface="Times New Roman" panose="02020603050405020304" pitchFamily="18" charset="0"/>
            </a:endParaRPr>
          </a:p>
        </p:txBody>
      </p:sp>
      <p:sp>
        <p:nvSpPr>
          <p:cNvPr id="12297" name="Rectangle 9">
            <a:extLst>
              <a:ext uri="{FF2B5EF4-FFF2-40B4-BE49-F238E27FC236}">
                <a16:creationId xmlns:a16="http://schemas.microsoft.com/office/drawing/2014/main" id="{26E8B953-40C3-4633-9F8E-DAD3B551D5B1}"/>
              </a:ext>
            </a:extLst>
          </p:cNvPr>
          <p:cNvSpPr>
            <a:spLocks noChangeArrowheads="1"/>
          </p:cNvSpPr>
          <p:nvPr/>
        </p:nvSpPr>
        <p:spPr bwMode="auto">
          <a:xfrm>
            <a:off x="4483869" y="4265613"/>
            <a:ext cx="4552627" cy="2438400"/>
          </a:xfrm>
          <a:prstGeom prst="rect">
            <a:avLst/>
          </a:prstGeom>
          <a:solidFill>
            <a:srgbClr val="CAF2CE"/>
          </a:solidFill>
          <a:ln w="12700"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2298" name="Oval 10">
            <a:extLst>
              <a:ext uri="{FF2B5EF4-FFF2-40B4-BE49-F238E27FC236}">
                <a16:creationId xmlns:a16="http://schemas.microsoft.com/office/drawing/2014/main" id="{EBC979E0-A46F-4F0D-9CDB-EC8A5E2C35EE}"/>
              </a:ext>
            </a:extLst>
          </p:cNvPr>
          <p:cNvSpPr>
            <a:spLocks noChangeArrowheads="1"/>
          </p:cNvSpPr>
          <p:nvPr/>
        </p:nvSpPr>
        <p:spPr bwMode="auto">
          <a:xfrm>
            <a:off x="5181600" y="4652963"/>
            <a:ext cx="457200" cy="304800"/>
          </a:xfrm>
          <a:prstGeom prst="ellipse">
            <a:avLst/>
          </a:prstGeom>
          <a:solidFill>
            <a:srgbClr val="FFFFD9"/>
          </a:solidFill>
          <a:ln w="12700"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rgbClr val="9C4E00"/>
                </a:solidFill>
                <a:latin typeface="Times New Roman" panose="02020603050405020304" pitchFamily="18" charset="0"/>
              </a:rPr>
              <a:t>B</a:t>
            </a:r>
            <a:endParaRPr lang="en-US" altLang="zh-CN" sz="2400" i="0" dirty="0">
              <a:latin typeface="Times New Roman" panose="02020603050405020304" pitchFamily="18" charset="0"/>
            </a:endParaRPr>
          </a:p>
        </p:txBody>
      </p:sp>
      <p:sp>
        <p:nvSpPr>
          <p:cNvPr id="12299" name="Oval 11">
            <a:extLst>
              <a:ext uri="{FF2B5EF4-FFF2-40B4-BE49-F238E27FC236}">
                <a16:creationId xmlns:a16="http://schemas.microsoft.com/office/drawing/2014/main" id="{A96761BC-4E78-4207-9EB6-F20FF3B38531}"/>
              </a:ext>
            </a:extLst>
          </p:cNvPr>
          <p:cNvSpPr>
            <a:spLocks noChangeArrowheads="1"/>
          </p:cNvSpPr>
          <p:nvPr/>
        </p:nvSpPr>
        <p:spPr bwMode="auto">
          <a:xfrm>
            <a:off x="6400800" y="4652963"/>
            <a:ext cx="533400" cy="304800"/>
          </a:xfrm>
          <a:prstGeom prst="ellipse">
            <a:avLst/>
          </a:prstGeom>
          <a:solidFill>
            <a:srgbClr val="FFFFD9"/>
          </a:solidFill>
          <a:ln w="12700"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rgbClr val="6600CC"/>
                </a:solidFill>
                <a:latin typeface="Times New Roman" panose="02020603050405020304" pitchFamily="18" charset="0"/>
              </a:rPr>
              <a:t>C</a:t>
            </a:r>
            <a:endParaRPr lang="en-US" altLang="zh-CN" sz="2400" i="0" dirty="0">
              <a:latin typeface="Times New Roman" panose="02020603050405020304" pitchFamily="18" charset="0"/>
            </a:endParaRPr>
          </a:p>
        </p:txBody>
      </p:sp>
      <p:sp>
        <p:nvSpPr>
          <p:cNvPr id="12300" name="Oval 12">
            <a:extLst>
              <a:ext uri="{FF2B5EF4-FFF2-40B4-BE49-F238E27FC236}">
                <a16:creationId xmlns:a16="http://schemas.microsoft.com/office/drawing/2014/main" id="{8ECE145A-A941-4BE0-BC0F-AAECD0E6C255}"/>
              </a:ext>
            </a:extLst>
          </p:cNvPr>
          <p:cNvSpPr>
            <a:spLocks noChangeArrowheads="1"/>
          </p:cNvSpPr>
          <p:nvPr/>
        </p:nvSpPr>
        <p:spPr bwMode="auto">
          <a:xfrm>
            <a:off x="7772400" y="4652963"/>
            <a:ext cx="533400" cy="304800"/>
          </a:xfrm>
          <a:prstGeom prst="ellipse">
            <a:avLst/>
          </a:prstGeom>
          <a:solidFill>
            <a:srgbClr val="FFFFD9"/>
          </a:solidFill>
          <a:ln w="12700"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chemeClr val="bg2"/>
                </a:solidFill>
                <a:latin typeface="Times New Roman" panose="02020603050405020304" pitchFamily="18" charset="0"/>
              </a:rPr>
              <a:t>D</a:t>
            </a:r>
            <a:endParaRPr lang="en-US" altLang="zh-CN" sz="2400" i="0" dirty="0">
              <a:latin typeface="Times New Roman" panose="02020603050405020304" pitchFamily="18" charset="0"/>
            </a:endParaRPr>
          </a:p>
        </p:txBody>
      </p:sp>
      <p:sp>
        <p:nvSpPr>
          <p:cNvPr id="12301" name="Oval 13">
            <a:extLst>
              <a:ext uri="{FF2B5EF4-FFF2-40B4-BE49-F238E27FC236}">
                <a16:creationId xmlns:a16="http://schemas.microsoft.com/office/drawing/2014/main" id="{B621E0C2-E6F9-4FBD-A397-D7D361C572F6}"/>
              </a:ext>
            </a:extLst>
          </p:cNvPr>
          <p:cNvSpPr>
            <a:spLocks noChangeArrowheads="1"/>
          </p:cNvSpPr>
          <p:nvPr/>
        </p:nvSpPr>
        <p:spPr bwMode="auto">
          <a:xfrm>
            <a:off x="4572000" y="5338763"/>
            <a:ext cx="457200" cy="304800"/>
          </a:xfrm>
          <a:prstGeom prst="ellipse">
            <a:avLst/>
          </a:prstGeom>
          <a:solidFill>
            <a:srgbClr val="FFFFD9"/>
          </a:solidFill>
          <a:ln w="12700"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rgbClr val="9C4E00"/>
                </a:solidFill>
                <a:latin typeface="Times New Roman" panose="02020603050405020304" pitchFamily="18" charset="0"/>
              </a:rPr>
              <a:t>E</a:t>
            </a:r>
            <a:endParaRPr lang="en-US" altLang="zh-CN" sz="2400" i="0" dirty="0">
              <a:latin typeface="Times New Roman" panose="02020603050405020304" pitchFamily="18" charset="0"/>
            </a:endParaRPr>
          </a:p>
        </p:txBody>
      </p:sp>
      <p:sp>
        <p:nvSpPr>
          <p:cNvPr id="12302" name="Oval 14">
            <a:extLst>
              <a:ext uri="{FF2B5EF4-FFF2-40B4-BE49-F238E27FC236}">
                <a16:creationId xmlns:a16="http://schemas.microsoft.com/office/drawing/2014/main" id="{28F98CCC-2F66-4F48-BB80-76040386311C}"/>
              </a:ext>
            </a:extLst>
          </p:cNvPr>
          <p:cNvSpPr>
            <a:spLocks noChangeArrowheads="1"/>
          </p:cNvSpPr>
          <p:nvPr/>
        </p:nvSpPr>
        <p:spPr bwMode="auto">
          <a:xfrm>
            <a:off x="5638800" y="5338763"/>
            <a:ext cx="533400" cy="304800"/>
          </a:xfrm>
          <a:prstGeom prst="ellipse">
            <a:avLst/>
          </a:prstGeom>
          <a:solidFill>
            <a:srgbClr val="FFFFD9"/>
          </a:solidFill>
          <a:ln w="12700"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rgbClr val="9C4E00"/>
                </a:solidFill>
                <a:latin typeface="Times New Roman" panose="02020603050405020304" pitchFamily="18" charset="0"/>
              </a:rPr>
              <a:t>F</a:t>
            </a:r>
            <a:endParaRPr lang="en-US" altLang="zh-CN" sz="2400" i="0" dirty="0">
              <a:latin typeface="Times New Roman" panose="02020603050405020304" pitchFamily="18" charset="0"/>
            </a:endParaRPr>
          </a:p>
        </p:txBody>
      </p:sp>
      <p:sp>
        <p:nvSpPr>
          <p:cNvPr id="12303" name="Oval 15">
            <a:extLst>
              <a:ext uri="{FF2B5EF4-FFF2-40B4-BE49-F238E27FC236}">
                <a16:creationId xmlns:a16="http://schemas.microsoft.com/office/drawing/2014/main" id="{75311BA2-142D-464B-9003-5C0145EC48C9}"/>
              </a:ext>
            </a:extLst>
          </p:cNvPr>
          <p:cNvSpPr>
            <a:spLocks noChangeArrowheads="1"/>
          </p:cNvSpPr>
          <p:nvPr/>
        </p:nvSpPr>
        <p:spPr bwMode="auto">
          <a:xfrm>
            <a:off x="6400800" y="5338763"/>
            <a:ext cx="533400" cy="304800"/>
          </a:xfrm>
          <a:prstGeom prst="ellipse">
            <a:avLst/>
          </a:prstGeom>
          <a:solidFill>
            <a:srgbClr val="FFFFD9"/>
          </a:solidFill>
          <a:ln w="12700"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rgbClr val="6600CC"/>
                </a:solidFill>
                <a:latin typeface="Times New Roman" panose="02020603050405020304" pitchFamily="18" charset="0"/>
              </a:rPr>
              <a:t>G</a:t>
            </a:r>
            <a:endParaRPr lang="en-US" altLang="zh-CN" sz="2400" i="0" dirty="0">
              <a:latin typeface="Times New Roman" panose="02020603050405020304" pitchFamily="18" charset="0"/>
            </a:endParaRPr>
          </a:p>
        </p:txBody>
      </p:sp>
      <p:sp>
        <p:nvSpPr>
          <p:cNvPr id="12304" name="Oval 16">
            <a:extLst>
              <a:ext uri="{FF2B5EF4-FFF2-40B4-BE49-F238E27FC236}">
                <a16:creationId xmlns:a16="http://schemas.microsoft.com/office/drawing/2014/main" id="{F7C6684E-FB95-4F46-8ADD-F53684D92423}"/>
              </a:ext>
            </a:extLst>
          </p:cNvPr>
          <p:cNvSpPr>
            <a:spLocks noChangeArrowheads="1"/>
          </p:cNvSpPr>
          <p:nvPr/>
        </p:nvSpPr>
        <p:spPr bwMode="auto">
          <a:xfrm>
            <a:off x="7086600" y="5338763"/>
            <a:ext cx="533400" cy="304800"/>
          </a:xfrm>
          <a:prstGeom prst="ellipse">
            <a:avLst/>
          </a:prstGeom>
          <a:solidFill>
            <a:srgbClr val="FFFFD9"/>
          </a:solidFill>
          <a:ln w="12700"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chemeClr val="bg2"/>
                </a:solidFill>
                <a:latin typeface="Times New Roman" panose="02020603050405020304" pitchFamily="18" charset="0"/>
              </a:rPr>
              <a:t>H</a:t>
            </a:r>
            <a:endParaRPr lang="en-US" altLang="zh-CN" sz="2400" i="0" dirty="0">
              <a:latin typeface="Times New Roman" panose="02020603050405020304" pitchFamily="18" charset="0"/>
            </a:endParaRPr>
          </a:p>
        </p:txBody>
      </p:sp>
      <p:sp>
        <p:nvSpPr>
          <p:cNvPr id="12305" name="Oval 17">
            <a:extLst>
              <a:ext uri="{FF2B5EF4-FFF2-40B4-BE49-F238E27FC236}">
                <a16:creationId xmlns:a16="http://schemas.microsoft.com/office/drawing/2014/main" id="{A64015D3-5660-43A5-A86F-A53A5BC052A3}"/>
              </a:ext>
            </a:extLst>
          </p:cNvPr>
          <p:cNvSpPr>
            <a:spLocks noChangeArrowheads="1"/>
          </p:cNvSpPr>
          <p:nvPr/>
        </p:nvSpPr>
        <p:spPr bwMode="auto">
          <a:xfrm>
            <a:off x="7772400" y="5338763"/>
            <a:ext cx="533400" cy="304800"/>
          </a:xfrm>
          <a:prstGeom prst="ellipse">
            <a:avLst/>
          </a:prstGeom>
          <a:solidFill>
            <a:srgbClr val="FFFFD9"/>
          </a:solidFill>
          <a:ln w="12700"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a:solidFill>
                  <a:schemeClr val="bg2"/>
                </a:solidFill>
                <a:latin typeface="Times New Roman" panose="02020603050405020304" pitchFamily="18" charset="0"/>
              </a:rPr>
              <a:t>I</a:t>
            </a:r>
            <a:endParaRPr lang="en-US" altLang="zh-CN" sz="2400">
              <a:latin typeface="Times New Roman" panose="02020603050405020304" pitchFamily="18" charset="0"/>
            </a:endParaRPr>
          </a:p>
        </p:txBody>
      </p:sp>
      <p:sp>
        <p:nvSpPr>
          <p:cNvPr id="12306" name="Oval 18">
            <a:extLst>
              <a:ext uri="{FF2B5EF4-FFF2-40B4-BE49-F238E27FC236}">
                <a16:creationId xmlns:a16="http://schemas.microsoft.com/office/drawing/2014/main" id="{3BBC4BC8-C66A-43FC-9AA5-147A60795A7E}"/>
              </a:ext>
            </a:extLst>
          </p:cNvPr>
          <p:cNvSpPr>
            <a:spLocks noChangeArrowheads="1"/>
          </p:cNvSpPr>
          <p:nvPr/>
        </p:nvSpPr>
        <p:spPr bwMode="auto">
          <a:xfrm>
            <a:off x="8458200" y="5338763"/>
            <a:ext cx="457200" cy="304800"/>
          </a:xfrm>
          <a:prstGeom prst="ellipse">
            <a:avLst/>
          </a:prstGeom>
          <a:solidFill>
            <a:srgbClr val="FFFFD9"/>
          </a:solidFill>
          <a:ln w="12700"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chemeClr val="bg2"/>
                </a:solidFill>
                <a:latin typeface="Times New Roman" panose="02020603050405020304" pitchFamily="18" charset="0"/>
              </a:rPr>
              <a:t>J</a:t>
            </a:r>
            <a:endParaRPr lang="en-US" altLang="zh-CN" sz="2400" i="0" dirty="0">
              <a:latin typeface="Times New Roman" panose="02020603050405020304" pitchFamily="18" charset="0"/>
            </a:endParaRPr>
          </a:p>
        </p:txBody>
      </p:sp>
      <p:sp>
        <p:nvSpPr>
          <p:cNvPr id="12307" name="Oval 19">
            <a:extLst>
              <a:ext uri="{FF2B5EF4-FFF2-40B4-BE49-F238E27FC236}">
                <a16:creationId xmlns:a16="http://schemas.microsoft.com/office/drawing/2014/main" id="{0002E624-3C8C-4B84-9403-B165DDA2F1DB}"/>
              </a:ext>
            </a:extLst>
          </p:cNvPr>
          <p:cNvSpPr>
            <a:spLocks noChangeArrowheads="1"/>
          </p:cNvSpPr>
          <p:nvPr/>
        </p:nvSpPr>
        <p:spPr bwMode="auto">
          <a:xfrm>
            <a:off x="8458200" y="6024563"/>
            <a:ext cx="533400" cy="304800"/>
          </a:xfrm>
          <a:prstGeom prst="ellipse">
            <a:avLst/>
          </a:prstGeom>
          <a:solidFill>
            <a:srgbClr val="FFFFD9"/>
          </a:solidFill>
          <a:ln w="12700"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chemeClr val="bg2"/>
                </a:solidFill>
                <a:latin typeface="Times New Roman" panose="02020603050405020304" pitchFamily="18" charset="0"/>
              </a:rPr>
              <a:t>M</a:t>
            </a:r>
            <a:endParaRPr lang="en-US" altLang="zh-CN" sz="2400" i="0" dirty="0">
              <a:latin typeface="Times New Roman" panose="02020603050405020304" pitchFamily="18" charset="0"/>
            </a:endParaRPr>
          </a:p>
        </p:txBody>
      </p:sp>
      <p:sp>
        <p:nvSpPr>
          <p:cNvPr id="12308" name="Oval 20">
            <a:extLst>
              <a:ext uri="{FF2B5EF4-FFF2-40B4-BE49-F238E27FC236}">
                <a16:creationId xmlns:a16="http://schemas.microsoft.com/office/drawing/2014/main" id="{A14F486D-0195-4B02-891E-2B8466D1A115}"/>
              </a:ext>
            </a:extLst>
          </p:cNvPr>
          <p:cNvSpPr>
            <a:spLocks noChangeArrowheads="1"/>
          </p:cNvSpPr>
          <p:nvPr/>
        </p:nvSpPr>
        <p:spPr bwMode="auto">
          <a:xfrm>
            <a:off x="5105400" y="6024563"/>
            <a:ext cx="533400" cy="304800"/>
          </a:xfrm>
          <a:prstGeom prst="ellipse">
            <a:avLst/>
          </a:prstGeom>
          <a:solidFill>
            <a:srgbClr val="FFFFD9"/>
          </a:solidFill>
          <a:ln w="12700"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rgbClr val="9C4E00"/>
                </a:solidFill>
                <a:latin typeface="Times New Roman" panose="02020603050405020304" pitchFamily="18" charset="0"/>
              </a:rPr>
              <a:t>K</a:t>
            </a:r>
            <a:endParaRPr lang="en-US" altLang="zh-CN" sz="2400" i="0" dirty="0">
              <a:latin typeface="Times New Roman" panose="02020603050405020304" pitchFamily="18" charset="0"/>
            </a:endParaRPr>
          </a:p>
        </p:txBody>
      </p:sp>
      <p:sp>
        <p:nvSpPr>
          <p:cNvPr id="12309" name="Oval 21">
            <a:extLst>
              <a:ext uri="{FF2B5EF4-FFF2-40B4-BE49-F238E27FC236}">
                <a16:creationId xmlns:a16="http://schemas.microsoft.com/office/drawing/2014/main" id="{09D030E7-3ED9-48A2-9FE8-04B74918FB0A}"/>
              </a:ext>
            </a:extLst>
          </p:cNvPr>
          <p:cNvSpPr>
            <a:spLocks noChangeArrowheads="1"/>
          </p:cNvSpPr>
          <p:nvPr/>
        </p:nvSpPr>
        <p:spPr bwMode="auto">
          <a:xfrm>
            <a:off x="6096000" y="6024563"/>
            <a:ext cx="533400" cy="304800"/>
          </a:xfrm>
          <a:prstGeom prst="ellipse">
            <a:avLst/>
          </a:prstGeom>
          <a:solidFill>
            <a:srgbClr val="FFFFD9"/>
          </a:solidFill>
          <a:ln w="12700"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rgbClr val="9C4E00"/>
                </a:solidFill>
                <a:latin typeface="Times New Roman" panose="02020603050405020304" pitchFamily="18" charset="0"/>
              </a:rPr>
              <a:t>L</a:t>
            </a:r>
            <a:endParaRPr lang="en-US" altLang="zh-CN" sz="2400" i="0" dirty="0">
              <a:latin typeface="Times New Roman" panose="02020603050405020304" pitchFamily="18" charset="0"/>
            </a:endParaRPr>
          </a:p>
        </p:txBody>
      </p:sp>
      <p:sp>
        <p:nvSpPr>
          <p:cNvPr id="12310" name="Line 22">
            <a:extLst>
              <a:ext uri="{FF2B5EF4-FFF2-40B4-BE49-F238E27FC236}">
                <a16:creationId xmlns:a16="http://schemas.microsoft.com/office/drawing/2014/main" id="{D7FF9165-EAE4-46A7-832E-D9CD26A6396F}"/>
              </a:ext>
            </a:extLst>
          </p:cNvPr>
          <p:cNvSpPr>
            <a:spLocks noChangeShapeType="1"/>
          </p:cNvSpPr>
          <p:nvPr/>
        </p:nvSpPr>
        <p:spPr bwMode="auto">
          <a:xfrm flipH="1">
            <a:off x="4800600" y="4805363"/>
            <a:ext cx="381000" cy="533400"/>
          </a:xfrm>
          <a:prstGeom prst="line">
            <a:avLst/>
          </a:prstGeom>
          <a:noFill/>
          <a:ln w="28575" cap="sq">
            <a:solidFill>
              <a:srgbClr val="0054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11" name="Line 23">
            <a:extLst>
              <a:ext uri="{FF2B5EF4-FFF2-40B4-BE49-F238E27FC236}">
                <a16:creationId xmlns:a16="http://schemas.microsoft.com/office/drawing/2014/main" id="{CBE452EF-1172-4593-8D71-37514FA287DE}"/>
              </a:ext>
            </a:extLst>
          </p:cNvPr>
          <p:cNvSpPr>
            <a:spLocks noChangeShapeType="1"/>
          </p:cNvSpPr>
          <p:nvPr/>
        </p:nvSpPr>
        <p:spPr bwMode="auto">
          <a:xfrm>
            <a:off x="5638800" y="4805363"/>
            <a:ext cx="228600" cy="533400"/>
          </a:xfrm>
          <a:prstGeom prst="line">
            <a:avLst/>
          </a:prstGeom>
          <a:noFill/>
          <a:ln w="28575" cap="sq">
            <a:solidFill>
              <a:srgbClr val="0054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12" name="Line 24">
            <a:extLst>
              <a:ext uri="{FF2B5EF4-FFF2-40B4-BE49-F238E27FC236}">
                <a16:creationId xmlns:a16="http://schemas.microsoft.com/office/drawing/2014/main" id="{C51157F8-F33F-4F77-BCB8-801185F62BA2}"/>
              </a:ext>
            </a:extLst>
          </p:cNvPr>
          <p:cNvSpPr>
            <a:spLocks noChangeShapeType="1"/>
          </p:cNvSpPr>
          <p:nvPr/>
        </p:nvSpPr>
        <p:spPr bwMode="auto">
          <a:xfrm flipH="1">
            <a:off x="5334000" y="5491163"/>
            <a:ext cx="304800" cy="533400"/>
          </a:xfrm>
          <a:prstGeom prst="line">
            <a:avLst/>
          </a:prstGeom>
          <a:noFill/>
          <a:ln w="28575" cap="sq">
            <a:solidFill>
              <a:srgbClr val="0054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13" name="Line 25">
            <a:extLst>
              <a:ext uri="{FF2B5EF4-FFF2-40B4-BE49-F238E27FC236}">
                <a16:creationId xmlns:a16="http://schemas.microsoft.com/office/drawing/2014/main" id="{1ABCD5F5-3431-4F85-84A9-3FA7ADACCA2C}"/>
              </a:ext>
            </a:extLst>
          </p:cNvPr>
          <p:cNvSpPr>
            <a:spLocks noChangeShapeType="1"/>
          </p:cNvSpPr>
          <p:nvPr/>
        </p:nvSpPr>
        <p:spPr bwMode="auto">
          <a:xfrm>
            <a:off x="6172200" y="5491163"/>
            <a:ext cx="152400" cy="533400"/>
          </a:xfrm>
          <a:prstGeom prst="line">
            <a:avLst/>
          </a:prstGeom>
          <a:noFill/>
          <a:ln w="28575" cap="sq">
            <a:solidFill>
              <a:srgbClr val="0054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14" name="Line 26">
            <a:extLst>
              <a:ext uri="{FF2B5EF4-FFF2-40B4-BE49-F238E27FC236}">
                <a16:creationId xmlns:a16="http://schemas.microsoft.com/office/drawing/2014/main" id="{708565CE-5BAA-4442-AF62-FF330A9FEBAC}"/>
              </a:ext>
            </a:extLst>
          </p:cNvPr>
          <p:cNvSpPr>
            <a:spLocks noChangeShapeType="1"/>
          </p:cNvSpPr>
          <p:nvPr/>
        </p:nvSpPr>
        <p:spPr bwMode="auto">
          <a:xfrm>
            <a:off x="6629400" y="4957763"/>
            <a:ext cx="0" cy="381000"/>
          </a:xfrm>
          <a:prstGeom prst="line">
            <a:avLst/>
          </a:prstGeom>
          <a:noFill/>
          <a:ln w="28575" cap="sq">
            <a:solidFill>
              <a:srgbClr val="0054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15" name="Line 27">
            <a:extLst>
              <a:ext uri="{FF2B5EF4-FFF2-40B4-BE49-F238E27FC236}">
                <a16:creationId xmlns:a16="http://schemas.microsoft.com/office/drawing/2014/main" id="{C921FA2D-1F34-4C5E-BC09-042B2C3DF69F}"/>
              </a:ext>
            </a:extLst>
          </p:cNvPr>
          <p:cNvSpPr>
            <a:spLocks noChangeShapeType="1"/>
          </p:cNvSpPr>
          <p:nvPr/>
        </p:nvSpPr>
        <p:spPr bwMode="auto">
          <a:xfrm flipH="1">
            <a:off x="7315200" y="4729163"/>
            <a:ext cx="457200" cy="609600"/>
          </a:xfrm>
          <a:prstGeom prst="line">
            <a:avLst/>
          </a:prstGeom>
          <a:noFill/>
          <a:ln w="28575" cap="sq">
            <a:solidFill>
              <a:srgbClr val="0054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16" name="Line 28">
            <a:extLst>
              <a:ext uri="{FF2B5EF4-FFF2-40B4-BE49-F238E27FC236}">
                <a16:creationId xmlns:a16="http://schemas.microsoft.com/office/drawing/2014/main" id="{38CDF50D-AC9C-4473-8D7D-DB00377E2F35}"/>
              </a:ext>
            </a:extLst>
          </p:cNvPr>
          <p:cNvSpPr>
            <a:spLocks noChangeShapeType="1"/>
          </p:cNvSpPr>
          <p:nvPr/>
        </p:nvSpPr>
        <p:spPr bwMode="auto">
          <a:xfrm flipH="1">
            <a:off x="8077200" y="4957763"/>
            <a:ext cx="0" cy="381000"/>
          </a:xfrm>
          <a:prstGeom prst="line">
            <a:avLst/>
          </a:prstGeom>
          <a:noFill/>
          <a:ln w="28575" cap="sq">
            <a:solidFill>
              <a:srgbClr val="0054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17" name="Line 29">
            <a:extLst>
              <a:ext uri="{FF2B5EF4-FFF2-40B4-BE49-F238E27FC236}">
                <a16:creationId xmlns:a16="http://schemas.microsoft.com/office/drawing/2014/main" id="{13F614FA-B2C3-4DB9-BBF7-5D45B5022D3F}"/>
              </a:ext>
            </a:extLst>
          </p:cNvPr>
          <p:cNvSpPr>
            <a:spLocks noChangeShapeType="1"/>
          </p:cNvSpPr>
          <p:nvPr/>
        </p:nvSpPr>
        <p:spPr bwMode="auto">
          <a:xfrm>
            <a:off x="8305800" y="4805363"/>
            <a:ext cx="381000" cy="533400"/>
          </a:xfrm>
          <a:prstGeom prst="line">
            <a:avLst/>
          </a:prstGeom>
          <a:noFill/>
          <a:ln w="28575" cap="sq">
            <a:solidFill>
              <a:srgbClr val="0054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18" name="Line 30">
            <a:extLst>
              <a:ext uri="{FF2B5EF4-FFF2-40B4-BE49-F238E27FC236}">
                <a16:creationId xmlns:a16="http://schemas.microsoft.com/office/drawing/2014/main" id="{84EAEC4D-F671-44E3-B2D0-AAB5F2AF6C06}"/>
              </a:ext>
            </a:extLst>
          </p:cNvPr>
          <p:cNvSpPr>
            <a:spLocks noChangeShapeType="1"/>
          </p:cNvSpPr>
          <p:nvPr/>
        </p:nvSpPr>
        <p:spPr bwMode="auto">
          <a:xfrm>
            <a:off x="8686800" y="5643563"/>
            <a:ext cx="0" cy="381000"/>
          </a:xfrm>
          <a:prstGeom prst="line">
            <a:avLst/>
          </a:prstGeom>
          <a:noFill/>
          <a:ln w="28575" cap="sq">
            <a:solidFill>
              <a:srgbClr val="0054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19" name="AutoShape 31">
            <a:extLst>
              <a:ext uri="{FF2B5EF4-FFF2-40B4-BE49-F238E27FC236}">
                <a16:creationId xmlns:a16="http://schemas.microsoft.com/office/drawing/2014/main" id="{26FFA947-D4BD-4A3E-8EE1-F9E273761E83}"/>
              </a:ext>
            </a:extLst>
          </p:cNvPr>
          <p:cNvSpPr>
            <a:spLocks noChangeArrowheads="1"/>
          </p:cNvSpPr>
          <p:nvPr/>
        </p:nvSpPr>
        <p:spPr bwMode="auto">
          <a:xfrm>
            <a:off x="8382000" y="3126379"/>
            <a:ext cx="533400" cy="381000"/>
          </a:xfrm>
          <a:prstGeom prst="wedgeRoundRectCallout">
            <a:avLst>
              <a:gd name="adj1" fmla="val -21473"/>
              <a:gd name="adj2" fmla="val 249006"/>
              <a:gd name="adj3" fmla="val 16667"/>
            </a:avLst>
          </a:prstGeom>
          <a:solidFill>
            <a:srgbClr val="CAF2CE"/>
          </a:solidFill>
          <a:ln w="12700"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rgbClr val="005400"/>
                </a:solidFill>
                <a:latin typeface="Times New Roman" panose="02020603050405020304" pitchFamily="18" charset="0"/>
              </a:rPr>
              <a:t>F</a:t>
            </a:r>
            <a:endParaRPr lang="en-US" altLang="zh-CN" sz="2400" i="0" dirty="0">
              <a:latin typeface="Times New Roman" panose="02020603050405020304" pitchFamily="18" charset="0"/>
            </a:endParaRPr>
          </a:p>
        </p:txBody>
      </p:sp>
      <p:sp>
        <p:nvSpPr>
          <p:cNvPr id="12320" name="Line 32">
            <a:extLst>
              <a:ext uri="{FF2B5EF4-FFF2-40B4-BE49-F238E27FC236}">
                <a16:creationId xmlns:a16="http://schemas.microsoft.com/office/drawing/2014/main" id="{BECCF9EE-A0C0-412A-B5D3-048C3C0651CF}"/>
              </a:ext>
            </a:extLst>
          </p:cNvPr>
          <p:cNvSpPr>
            <a:spLocks noChangeShapeType="1"/>
          </p:cNvSpPr>
          <p:nvPr/>
        </p:nvSpPr>
        <p:spPr bwMode="auto">
          <a:xfrm flipH="1">
            <a:off x="5410200" y="3967163"/>
            <a:ext cx="990600" cy="685800"/>
          </a:xfrm>
          <a:prstGeom prst="line">
            <a:avLst/>
          </a:prstGeom>
          <a:noFill/>
          <a:ln w="38100" cap="sq">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21" name="Line 33">
            <a:extLst>
              <a:ext uri="{FF2B5EF4-FFF2-40B4-BE49-F238E27FC236}">
                <a16:creationId xmlns:a16="http://schemas.microsoft.com/office/drawing/2014/main" id="{49A1E531-0790-417A-882A-9A3AFC1226E5}"/>
              </a:ext>
            </a:extLst>
          </p:cNvPr>
          <p:cNvSpPr>
            <a:spLocks noChangeShapeType="1"/>
          </p:cNvSpPr>
          <p:nvPr/>
        </p:nvSpPr>
        <p:spPr bwMode="auto">
          <a:xfrm>
            <a:off x="6629400" y="4119563"/>
            <a:ext cx="0" cy="533400"/>
          </a:xfrm>
          <a:prstGeom prst="line">
            <a:avLst/>
          </a:prstGeom>
          <a:noFill/>
          <a:ln w="38100" cap="sq">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22" name="Line 34">
            <a:extLst>
              <a:ext uri="{FF2B5EF4-FFF2-40B4-BE49-F238E27FC236}">
                <a16:creationId xmlns:a16="http://schemas.microsoft.com/office/drawing/2014/main" id="{8BEFEFF1-1341-49A3-8B95-DB86EA25824D}"/>
              </a:ext>
            </a:extLst>
          </p:cNvPr>
          <p:cNvSpPr>
            <a:spLocks noChangeShapeType="1"/>
          </p:cNvSpPr>
          <p:nvPr/>
        </p:nvSpPr>
        <p:spPr bwMode="auto">
          <a:xfrm>
            <a:off x="6934200" y="4043363"/>
            <a:ext cx="1143000" cy="609600"/>
          </a:xfrm>
          <a:prstGeom prst="line">
            <a:avLst/>
          </a:prstGeom>
          <a:noFill/>
          <a:ln w="38100" cap="sq">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23" name="Text Box 35">
            <a:extLst>
              <a:ext uri="{FF2B5EF4-FFF2-40B4-BE49-F238E27FC236}">
                <a16:creationId xmlns:a16="http://schemas.microsoft.com/office/drawing/2014/main" id="{BECE9DE3-0A8D-4D92-BEA5-DC8D0B8B53E6}"/>
              </a:ext>
            </a:extLst>
          </p:cNvPr>
          <p:cNvSpPr txBox="1">
            <a:spLocks noChangeArrowheads="1"/>
          </p:cNvSpPr>
          <p:nvPr/>
        </p:nvSpPr>
        <p:spPr bwMode="auto">
          <a:xfrm>
            <a:off x="416387" y="2410418"/>
            <a:ext cx="4868864" cy="20919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zh-CN" altLang="en-US" sz="2800" b="0" i="0" dirty="0">
                <a:solidFill>
                  <a:srgbClr val="990000"/>
                </a:solidFill>
                <a:latin typeface="+mn-ea"/>
                <a:ea typeface="+mn-ea"/>
              </a:rPr>
              <a:t>任何一棵非空树是一个二元组</a:t>
            </a:r>
            <a:endParaRPr lang="zh-CN" altLang="en-US" sz="2800" b="0" i="0" dirty="0">
              <a:latin typeface="+mn-ea"/>
              <a:ea typeface="+mn-ea"/>
            </a:endParaRPr>
          </a:p>
          <a:p>
            <a:pPr eaLnBrk="1" hangingPunct="1">
              <a:lnSpc>
                <a:spcPct val="120000"/>
              </a:lnSpc>
              <a:spcBef>
                <a:spcPct val="0"/>
              </a:spcBef>
              <a:buClrTx/>
              <a:buSzTx/>
              <a:buFont typeface="Arial" panose="020B0604020202020204" pitchFamily="34" charset="0"/>
              <a:buNone/>
            </a:pPr>
            <a:r>
              <a:rPr lang="zh-CN" altLang="en-US" sz="2800" b="0" i="0" dirty="0">
                <a:solidFill>
                  <a:srgbClr val="FF0000"/>
                </a:solidFill>
                <a:latin typeface="+mn-ea"/>
                <a:ea typeface="+mn-ea"/>
              </a:rPr>
              <a:t>     </a:t>
            </a:r>
            <a:r>
              <a:rPr lang="en-US" altLang="zh-CN" sz="2800" b="0" i="0" dirty="0">
                <a:solidFill>
                  <a:srgbClr val="FF0000"/>
                </a:solidFill>
                <a:latin typeface="+mn-ea"/>
                <a:ea typeface="+mn-ea"/>
              </a:rPr>
              <a:t>Tree = </a:t>
            </a:r>
            <a:r>
              <a:rPr lang="zh-CN" altLang="en-US" sz="2800" b="0" i="0" dirty="0">
                <a:solidFill>
                  <a:srgbClr val="FF0000"/>
                </a:solidFill>
                <a:latin typeface="+mn-ea"/>
                <a:ea typeface="+mn-ea"/>
              </a:rPr>
              <a:t>（</a:t>
            </a:r>
            <a:r>
              <a:rPr lang="en-US" altLang="zh-CN" sz="2800" b="0" i="0" dirty="0">
                <a:solidFill>
                  <a:srgbClr val="FF0000"/>
                </a:solidFill>
                <a:latin typeface="+mn-ea"/>
                <a:ea typeface="+mn-ea"/>
              </a:rPr>
              <a:t>root</a:t>
            </a:r>
            <a:r>
              <a:rPr lang="zh-CN" altLang="en-US" sz="2800" b="0" i="0" dirty="0">
                <a:solidFill>
                  <a:srgbClr val="FF0000"/>
                </a:solidFill>
                <a:latin typeface="+mn-ea"/>
                <a:ea typeface="+mn-ea"/>
              </a:rPr>
              <a:t>，</a:t>
            </a:r>
            <a:r>
              <a:rPr lang="en-US" altLang="zh-CN" sz="2800" b="0" i="0" dirty="0">
                <a:solidFill>
                  <a:srgbClr val="FF0000"/>
                </a:solidFill>
                <a:latin typeface="+mn-ea"/>
                <a:ea typeface="+mn-ea"/>
              </a:rPr>
              <a:t>F</a:t>
            </a:r>
            <a:r>
              <a:rPr lang="zh-CN" altLang="en-US" sz="2800" b="0" i="0" dirty="0">
                <a:solidFill>
                  <a:srgbClr val="FF0000"/>
                </a:solidFill>
                <a:latin typeface="+mn-ea"/>
                <a:ea typeface="+mn-ea"/>
              </a:rPr>
              <a:t>）</a:t>
            </a:r>
          </a:p>
          <a:p>
            <a:pPr eaLnBrk="1" hangingPunct="1">
              <a:lnSpc>
                <a:spcPct val="120000"/>
              </a:lnSpc>
              <a:spcBef>
                <a:spcPct val="0"/>
              </a:spcBef>
              <a:buClrTx/>
              <a:buSzTx/>
              <a:buFont typeface="Arial" panose="020B0604020202020204" pitchFamily="34" charset="0"/>
              <a:buNone/>
            </a:pPr>
            <a:r>
              <a:rPr lang="zh-CN" altLang="en-US" sz="2800" b="0" i="0" dirty="0">
                <a:solidFill>
                  <a:srgbClr val="990000"/>
                </a:solidFill>
                <a:latin typeface="+mn-ea"/>
                <a:ea typeface="+mn-ea"/>
              </a:rPr>
              <a:t>其中：</a:t>
            </a:r>
            <a:r>
              <a:rPr lang="en-US" altLang="zh-CN" sz="2800" b="0" i="0" dirty="0">
                <a:solidFill>
                  <a:srgbClr val="990000"/>
                </a:solidFill>
                <a:latin typeface="+mn-ea"/>
                <a:ea typeface="+mn-ea"/>
              </a:rPr>
              <a:t>root </a:t>
            </a:r>
            <a:r>
              <a:rPr lang="zh-CN" altLang="en-US" sz="2800" b="0" i="0" dirty="0">
                <a:solidFill>
                  <a:srgbClr val="990000"/>
                </a:solidFill>
                <a:latin typeface="+mn-ea"/>
                <a:ea typeface="+mn-ea"/>
              </a:rPr>
              <a:t>被称为根结点</a:t>
            </a:r>
          </a:p>
          <a:p>
            <a:pPr eaLnBrk="1" hangingPunct="1">
              <a:lnSpc>
                <a:spcPct val="120000"/>
              </a:lnSpc>
              <a:spcBef>
                <a:spcPct val="0"/>
              </a:spcBef>
              <a:buClrTx/>
              <a:buSzTx/>
              <a:buFont typeface="Arial" panose="020B0604020202020204" pitchFamily="34" charset="0"/>
              <a:buNone/>
            </a:pPr>
            <a:r>
              <a:rPr lang="zh-CN" altLang="en-US" sz="2800" b="0" i="0" dirty="0">
                <a:solidFill>
                  <a:srgbClr val="990000"/>
                </a:solidFill>
                <a:latin typeface="+mn-ea"/>
                <a:ea typeface="+mn-ea"/>
              </a:rPr>
              <a:t>      </a:t>
            </a:r>
            <a:r>
              <a:rPr lang="en-US" altLang="zh-CN" sz="2800" b="0" i="0" dirty="0">
                <a:solidFill>
                  <a:srgbClr val="990000"/>
                </a:solidFill>
                <a:latin typeface="+mn-ea"/>
                <a:ea typeface="+mn-ea"/>
              </a:rPr>
              <a:t>F </a:t>
            </a:r>
            <a:r>
              <a:rPr lang="zh-CN" altLang="en-US" sz="2800" b="0" i="0" dirty="0">
                <a:solidFill>
                  <a:srgbClr val="990000"/>
                </a:solidFill>
                <a:latin typeface="+mn-ea"/>
                <a:ea typeface="+mn-ea"/>
              </a:rPr>
              <a:t>被称为子树森林</a:t>
            </a:r>
          </a:p>
        </p:txBody>
      </p:sp>
      <p:sp>
        <p:nvSpPr>
          <p:cNvPr id="3" name="Text Box 4">
            <a:extLst>
              <a:ext uri="{FF2B5EF4-FFF2-40B4-BE49-F238E27FC236}">
                <a16:creationId xmlns:a16="http://schemas.microsoft.com/office/drawing/2014/main" id="{19AE42FC-68F5-360C-B2B6-EADC386FF417}"/>
              </a:ext>
            </a:extLst>
          </p:cNvPr>
          <p:cNvSpPr txBox="1">
            <a:spLocks noChangeArrowheads="1"/>
          </p:cNvSpPr>
          <p:nvPr/>
        </p:nvSpPr>
        <p:spPr bwMode="auto">
          <a:xfrm>
            <a:off x="76200" y="163658"/>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二、树的基本术语</a:t>
            </a:r>
          </a:p>
        </p:txBody>
      </p:sp>
      <p:sp>
        <p:nvSpPr>
          <p:cNvPr id="5" name="文本框 4">
            <a:extLst>
              <a:ext uri="{FF2B5EF4-FFF2-40B4-BE49-F238E27FC236}">
                <a16:creationId xmlns:a16="http://schemas.microsoft.com/office/drawing/2014/main" id="{90357B0A-4697-341A-E9E0-3512DF5F586D}"/>
              </a:ext>
            </a:extLst>
          </p:cNvPr>
          <p:cNvSpPr txBox="1"/>
          <p:nvPr/>
        </p:nvSpPr>
        <p:spPr>
          <a:xfrm>
            <a:off x="5349754" y="1789586"/>
            <a:ext cx="3641846" cy="523220"/>
          </a:xfrm>
          <a:prstGeom prst="rect">
            <a:avLst/>
          </a:prstGeom>
          <a:noFill/>
        </p:spPr>
        <p:txBody>
          <a:bodyPr wrap="square" rtlCol="0">
            <a:spAutoFit/>
          </a:bodyPr>
          <a:lstStyle/>
          <a:p>
            <a:r>
              <a:rPr lang="zh-CN" altLang="en-US" sz="2800" b="0" i="0" dirty="0">
                <a:solidFill>
                  <a:srgbClr val="FF0000"/>
                </a:solidFill>
                <a:latin typeface="+mn-ea"/>
                <a:ea typeface="+mn-ea"/>
              </a:rPr>
              <a:t>含</a:t>
            </a:r>
            <a:r>
              <a:rPr lang="en-US" altLang="zh-CN" sz="2800" b="0" i="0" dirty="0">
                <a:solidFill>
                  <a:srgbClr val="FF0000"/>
                </a:solidFill>
                <a:latin typeface="+mn-ea"/>
                <a:ea typeface="+mn-ea"/>
              </a:rPr>
              <a:t>3</a:t>
            </a:r>
            <a:r>
              <a:rPr lang="zh-CN" altLang="en-US" sz="2800" b="0" i="0" dirty="0">
                <a:solidFill>
                  <a:srgbClr val="FF0000"/>
                </a:solidFill>
                <a:latin typeface="+mn-ea"/>
                <a:ea typeface="+mn-ea"/>
              </a:rPr>
              <a:t>棵树的子树森林</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2293">
                                            <p:txEl>
                                              <p:pRg st="0" end="0"/>
                                            </p:txEl>
                                          </p:spTgt>
                                        </p:tgtEl>
                                        <p:attrNameLst>
                                          <p:attrName>style.visibility</p:attrName>
                                        </p:attrNameLst>
                                      </p:cBhvr>
                                      <p:to>
                                        <p:strVal val="visible"/>
                                      </p:to>
                                    </p:set>
                                    <p:animEffect transition="in" filter="blinds(horizontal)">
                                      <p:cBhvr>
                                        <p:cTn id="7" dur="500"/>
                                        <p:tgtEl>
                                          <p:spTgt spid="12293">
                                            <p:txEl>
                                              <p:pRg st="0" end="0"/>
                                            </p:txEl>
                                          </p:spTgt>
                                        </p:tgtEl>
                                      </p:cBhvr>
                                    </p:animEffect>
                                  </p:childTnLst>
                                </p:cTn>
                              </p:par>
                              <p:par>
                                <p:cTn id="8" presetID="21" presetClass="entr" presetSubtype="1" fill="hold" nodeType="withEffect">
                                  <p:stCondLst>
                                    <p:cond delay="0"/>
                                  </p:stCondLst>
                                  <p:childTnLst>
                                    <p:set>
                                      <p:cBhvr>
                                        <p:cTn id="9" dur="1" fill="hold">
                                          <p:stCondLst>
                                            <p:cond delay="0"/>
                                          </p:stCondLst>
                                        </p:cTn>
                                        <p:tgtEl>
                                          <p:spTgt spid="12293">
                                            <p:txEl>
                                              <p:pRg st="1" end="1"/>
                                            </p:txEl>
                                          </p:spTgt>
                                        </p:tgtEl>
                                        <p:attrNameLst>
                                          <p:attrName>style.visibility</p:attrName>
                                        </p:attrNameLst>
                                      </p:cBhvr>
                                      <p:to>
                                        <p:strVal val="visible"/>
                                      </p:to>
                                    </p:set>
                                    <p:animEffect transition="in" filter="wheel(1)">
                                      <p:cBhvr>
                                        <p:cTn id="10" dur="2000"/>
                                        <p:tgtEl>
                                          <p:spTgt spid="1229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7" presetClass="entr" presetSubtype="8" fill="hold" grpId="0" nodeType="clickEffect">
                                  <p:stCondLst>
                                    <p:cond delay="0"/>
                                  </p:stCondLst>
                                  <p:childTnLst>
                                    <p:set>
                                      <p:cBhvr>
                                        <p:cTn id="14" dur="1" fill="hold">
                                          <p:stCondLst>
                                            <p:cond delay="0"/>
                                          </p:stCondLst>
                                        </p:cTn>
                                        <p:tgtEl>
                                          <p:spTgt spid="12297"/>
                                        </p:tgtEl>
                                        <p:attrNameLst>
                                          <p:attrName>style.visibility</p:attrName>
                                        </p:attrNameLst>
                                      </p:cBhvr>
                                      <p:to>
                                        <p:strVal val="visible"/>
                                      </p:to>
                                    </p:set>
                                    <p:anim calcmode="lin" valueType="num">
                                      <p:cBhvr>
                                        <p:cTn id="15" dur="500" fill="hold"/>
                                        <p:tgtEl>
                                          <p:spTgt spid="12297"/>
                                        </p:tgtEl>
                                        <p:attrNameLst>
                                          <p:attrName>ppt_x</p:attrName>
                                        </p:attrNameLst>
                                      </p:cBhvr>
                                      <p:tavLst>
                                        <p:tav tm="0">
                                          <p:val>
                                            <p:strVal val="#ppt_x-#ppt_w/2"/>
                                          </p:val>
                                        </p:tav>
                                        <p:tav tm="100000">
                                          <p:val>
                                            <p:strVal val="#ppt_x"/>
                                          </p:val>
                                        </p:tav>
                                      </p:tavLst>
                                    </p:anim>
                                    <p:anim calcmode="lin" valueType="num">
                                      <p:cBhvr>
                                        <p:cTn id="16" dur="500" fill="hold"/>
                                        <p:tgtEl>
                                          <p:spTgt spid="12297"/>
                                        </p:tgtEl>
                                        <p:attrNameLst>
                                          <p:attrName>ppt_y</p:attrName>
                                        </p:attrNameLst>
                                      </p:cBhvr>
                                      <p:tavLst>
                                        <p:tav tm="0">
                                          <p:val>
                                            <p:strVal val="#ppt_y"/>
                                          </p:val>
                                        </p:tav>
                                        <p:tav tm="100000">
                                          <p:val>
                                            <p:strVal val="#ppt_y"/>
                                          </p:val>
                                        </p:tav>
                                      </p:tavLst>
                                    </p:anim>
                                    <p:anim calcmode="lin" valueType="num">
                                      <p:cBhvr>
                                        <p:cTn id="17" dur="500" fill="hold"/>
                                        <p:tgtEl>
                                          <p:spTgt spid="12297"/>
                                        </p:tgtEl>
                                        <p:attrNameLst>
                                          <p:attrName>ppt_w</p:attrName>
                                        </p:attrNameLst>
                                      </p:cBhvr>
                                      <p:tavLst>
                                        <p:tav tm="0">
                                          <p:val>
                                            <p:fltVal val="0"/>
                                          </p:val>
                                        </p:tav>
                                        <p:tav tm="100000">
                                          <p:val>
                                            <p:strVal val="#ppt_w"/>
                                          </p:val>
                                        </p:tav>
                                      </p:tavLst>
                                    </p:anim>
                                    <p:anim calcmode="lin" valueType="num">
                                      <p:cBhvr>
                                        <p:cTn id="18" dur="500" fill="hold"/>
                                        <p:tgtEl>
                                          <p:spTgt spid="12297"/>
                                        </p:tgtEl>
                                        <p:attrNameLst>
                                          <p:attrName>ppt_h</p:attrName>
                                        </p:attrNameLst>
                                      </p:cBhvr>
                                      <p:tavLst>
                                        <p:tav tm="0">
                                          <p:val>
                                            <p:strVal val="#ppt_h"/>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7" presetClass="entr" presetSubtype="8" fill="hold" grpId="0" nodeType="clickEffect">
                                  <p:stCondLst>
                                    <p:cond delay="0"/>
                                  </p:stCondLst>
                                  <p:childTnLst>
                                    <p:set>
                                      <p:cBhvr>
                                        <p:cTn id="26" dur="1" fill="hold">
                                          <p:stCondLst>
                                            <p:cond delay="0"/>
                                          </p:stCondLst>
                                        </p:cTn>
                                        <p:tgtEl>
                                          <p:spTgt spid="12323"/>
                                        </p:tgtEl>
                                        <p:attrNameLst>
                                          <p:attrName>style.visibility</p:attrName>
                                        </p:attrNameLst>
                                      </p:cBhvr>
                                      <p:to>
                                        <p:strVal val="visible"/>
                                      </p:to>
                                    </p:set>
                                    <p:anim calcmode="lin" valueType="num">
                                      <p:cBhvr>
                                        <p:cTn id="27" dur="500" fill="hold"/>
                                        <p:tgtEl>
                                          <p:spTgt spid="12323"/>
                                        </p:tgtEl>
                                        <p:attrNameLst>
                                          <p:attrName>ppt_x</p:attrName>
                                        </p:attrNameLst>
                                      </p:cBhvr>
                                      <p:tavLst>
                                        <p:tav tm="0">
                                          <p:val>
                                            <p:strVal val="#ppt_x-#ppt_w/2"/>
                                          </p:val>
                                        </p:tav>
                                        <p:tav tm="100000">
                                          <p:val>
                                            <p:strVal val="#ppt_x"/>
                                          </p:val>
                                        </p:tav>
                                      </p:tavLst>
                                    </p:anim>
                                    <p:anim calcmode="lin" valueType="num">
                                      <p:cBhvr>
                                        <p:cTn id="28" dur="500" fill="hold"/>
                                        <p:tgtEl>
                                          <p:spTgt spid="12323"/>
                                        </p:tgtEl>
                                        <p:attrNameLst>
                                          <p:attrName>ppt_y</p:attrName>
                                        </p:attrNameLst>
                                      </p:cBhvr>
                                      <p:tavLst>
                                        <p:tav tm="0">
                                          <p:val>
                                            <p:strVal val="#ppt_y"/>
                                          </p:val>
                                        </p:tav>
                                        <p:tav tm="100000">
                                          <p:val>
                                            <p:strVal val="#ppt_y"/>
                                          </p:val>
                                        </p:tav>
                                      </p:tavLst>
                                    </p:anim>
                                    <p:anim calcmode="lin" valueType="num">
                                      <p:cBhvr>
                                        <p:cTn id="29" dur="500" fill="hold"/>
                                        <p:tgtEl>
                                          <p:spTgt spid="12323"/>
                                        </p:tgtEl>
                                        <p:attrNameLst>
                                          <p:attrName>ppt_w</p:attrName>
                                        </p:attrNameLst>
                                      </p:cBhvr>
                                      <p:tavLst>
                                        <p:tav tm="0">
                                          <p:val>
                                            <p:fltVal val="0"/>
                                          </p:val>
                                        </p:tav>
                                        <p:tav tm="100000">
                                          <p:val>
                                            <p:strVal val="#ppt_w"/>
                                          </p:val>
                                        </p:tav>
                                      </p:tavLst>
                                    </p:anim>
                                    <p:anim calcmode="lin" valueType="num">
                                      <p:cBhvr>
                                        <p:cTn id="30" dur="500" fill="hold"/>
                                        <p:tgtEl>
                                          <p:spTgt spid="12323"/>
                                        </p:tgtEl>
                                        <p:attrNameLst>
                                          <p:attrName>ppt_h</p:attrName>
                                        </p:attrNameLst>
                                      </p:cBhvr>
                                      <p:tavLst>
                                        <p:tav tm="0">
                                          <p:val>
                                            <p:strVal val="#ppt_h"/>
                                          </p:val>
                                        </p:tav>
                                        <p:tav tm="100000">
                                          <p:val>
                                            <p:strVal val="#ppt_h"/>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3" fill="hold" grpId="0" nodeType="clickEffect">
                                  <p:stCondLst>
                                    <p:cond delay="0"/>
                                  </p:stCondLst>
                                  <p:childTnLst>
                                    <p:set>
                                      <p:cBhvr>
                                        <p:cTn id="34" dur="1" fill="hold">
                                          <p:stCondLst>
                                            <p:cond delay="0"/>
                                          </p:stCondLst>
                                        </p:cTn>
                                        <p:tgtEl>
                                          <p:spTgt spid="12296"/>
                                        </p:tgtEl>
                                        <p:attrNameLst>
                                          <p:attrName>style.visibility</p:attrName>
                                        </p:attrNameLst>
                                      </p:cBhvr>
                                      <p:to>
                                        <p:strVal val="visible"/>
                                      </p:to>
                                    </p:set>
                                    <p:anim calcmode="lin" valueType="num">
                                      <p:cBhvr additive="base">
                                        <p:cTn id="35" dur="500" fill="hold"/>
                                        <p:tgtEl>
                                          <p:spTgt spid="12296"/>
                                        </p:tgtEl>
                                        <p:attrNameLst>
                                          <p:attrName>ppt_x</p:attrName>
                                        </p:attrNameLst>
                                      </p:cBhvr>
                                      <p:tavLst>
                                        <p:tav tm="0">
                                          <p:val>
                                            <p:strVal val="1+#ppt_w/2"/>
                                          </p:val>
                                        </p:tav>
                                        <p:tav tm="100000">
                                          <p:val>
                                            <p:strVal val="#ppt_x"/>
                                          </p:val>
                                        </p:tav>
                                      </p:tavLst>
                                    </p:anim>
                                    <p:anim calcmode="lin" valueType="num">
                                      <p:cBhvr additive="base">
                                        <p:cTn id="36" dur="500" fill="hold"/>
                                        <p:tgtEl>
                                          <p:spTgt spid="12296"/>
                                        </p:tgtEl>
                                        <p:attrNameLst>
                                          <p:attrName>ppt_y</p:attrName>
                                        </p:attrNameLst>
                                      </p:cBhvr>
                                      <p:tavLst>
                                        <p:tav tm="0">
                                          <p:val>
                                            <p:strVal val="0-#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1" fill="hold" grpId="0" nodeType="clickEffect">
                                  <p:stCondLst>
                                    <p:cond delay="0"/>
                                  </p:stCondLst>
                                  <p:childTnLst>
                                    <p:set>
                                      <p:cBhvr>
                                        <p:cTn id="40" dur="1" fill="hold">
                                          <p:stCondLst>
                                            <p:cond delay="0"/>
                                          </p:stCondLst>
                                        </p:cTn>
                                        <p:tgtEl>
                                          <p:spTgt spid="12319"/>
                                        </p:tgtEl>
                                        <p:attrNameLst>
                                          <p:attrName>style.visibility</p:attrName>
                                        </p:attrNameLst>
                                      </p:cBhvr>
                                      <p:to>
                                        <p:strVal val="visible"/>
                                      </p:to>
                                    </p:set>
                                    <p:anim calcmode="lin" valueType="num">
                                      <p:cBhvr additive="base">
                                        <p:cTn id="41" dur="500" fill="hold"/>
                                        <p:tgtEl>
                                          <p:spTgt spid="12319"/>
                                        </p:tgtEl>
                                        <p:attrNameLst>
                                          <p:attrName>ppt_x</p:attrName>
                                        </p:attrNameLst>
                                      </p:cBhvr>
                                      <p:tavLst>
                                        <p:tav tm="0">
                                          <p:val>
                                            <p:strVal val="#ppt_x"/>
                                          </p:val>
                                        </p:tav>
                                        <p:tav tm="100000">
                                          <p:val>
                                            <p:strVal val="#ppt_x"/>
                                          </p:val>
                                        </p:tav>
                                      </p:tavLst>
                                    </p:anim>
                                    <p:anim calcmode="lin" valueType="num">
                                      <p:cBhvr additive="base">
                                        <p:cTn id="42" dur="500" fill="hold"/>
                                        <p:tgtEl>
                                          <p:spTgt spid="1231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6" grpId="0" animBg="1" autoUpdateAnimBg="0"/>
      <p:bldP spid="12297" grpId="0" animBg="1"/>
      <p:bldP spid="12319" grpId="0" animBg="1" autoUpdateAnimBg="0"/>
      <p:bldP spid="12323" grpId="0" autoUpdateAnimBg="0"/>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2">
            <a:extLst>
              <a:ext uri="{FF2B5EF4-FFF2-40B4-BE49-F238E27FC236}">
                <a16:creationId xmlns:a16="http://schemas.microsoft.com/office/drawing/2014/main" id="{C1E4AC02-DD35-488C-A9C6-C34DCA5CDC69}"/>
              </a:ext>
            </a:extLst>
          </p:cNvPr>
          <p:cNvGraphicFramePr>
            <a:graphicFrameLocks noGrp="1"/>
          </p:cNvGraphicFramePr>
          <p:nvPr>
            <p:extLst>
              <p:ext uri="{D42A27DB-BD31-4B8C-83A1-F6EECF244321}">
                <p14:modId xmlns:p14="http://schemas.microsoft.com/office/powerpoint/2010/main" val="3427098883"/>
              </p:ext>
            </p:extLst>
          </p:nvPr>
        </p:nvGraphicFramePr>
        <p:xfrm>
          <a:off x="611560" y="1397000"/>
          <a:ext cx="8136904" cy="2968104"/>
        </p:xfrm>
        <a:graphic>
          <a:graphicData uri="http://schemas.openxmlformats.org/drawingml/2006/table">
            <a:tbl>
              <a:tblPr firstRow="1" bandRow="1">
                <a:tableStyleId>{21E4AEA4-8DFA-4A89-87EB-49C32662AFE0}</a:tableStyleId>
              </a:tblPr>
              <a:tblGrid>
                <a:gridCol w="4068452">
                  <a:extLst>
                    <a:ext uri="{9D8B030D-6E8A-4147-A177-3AD203B41FA5}">
                      <a16:colId xmlns:a16="http://schemas.microsoft.com/office/drawing/2014/main" val="4100024177"/>
                    </a:ext>
                  </a:extLst>
                </a:gridCol>
                <a:gridCol w="4068452">
                  <a:extLst>
                    <a:ext uri="{9D8B030D-6E8A-4147-A177-3AD203B41FA5}">
                      <a16:colId xmlns:a16="http://schemas.microsoft.com/office/drawing/2014/main" val="4212964345"/>
                    </a:ext>
                  </a:extLst>
                </a:gridCol>
              </a:tblGrid>
              <a:tr h="652016">
                <a:tc>
                  <a:txBody>
                    <a:bodyPr/>
                    <a:lstStyle/>
                    <a:p>
                      <a:pPr algn="ctr"/>
                      <a:r>
                        <a:rPr lang="zh-CN" altLang="en-US" sz="2800" b="0" dirty="0"/>
                        <a:t>线性结构</a:t>
                      </a:r>
                    </a:p>
                  </a:txBody>
                  <a:tcPr/>
                </a:tc>
                <a:tc>
                  <a:txBody>
                    <a:bodyPr/>
                    <a:lstStyle/>
                    <a:p>
                      <a:pPr algn="ctr"/>
                      <a:r>
                        <a:rPr lang="zh-CN" altLang="en-US" sz="2800" b="0" dirty="0"/>
                        <a:t>树结构</a:t>
                      </a:r>
                    </a:p>
                  </a:txBody>
                  <a:tcPr/>
                </a:tc>
                <a:extLst>
                  <a:ext uri="{0D108BD9-81ED-4DB2-BD59-A6C34878D82A}">
                    <a16:rowId xmlns:a16="http://schemas.microsoft.com/office/drawing/2014/main" val="1429796605"/>
                  </a:ext>
                </a:extLst>
              </a:tr>
              <a:tr h="652016">
                <a:tc>
                  <a:txBody>
                    <a:bodyPr/>
                    <a:lstStyle/>
                    <a:p>
                      <a:pPr algn="ctr"/>
                      <a:endParaRPr lang="zh-CN" altLang="en-US" sz="2800" b="0" dirty="0"/>
                    </a:p>
                  </a:txBody>
                  <a:tcPr/>
                </a:tc>
                <a:tc>
                  <a:txBody>
                    <a:bodyPr/>
                    <a:lstStyle/>
                    <a:p>
                      <a:pPr algn="ctr"/>
                      <a:endParaRPr lang="zh-CN" altLang="en-US" sz="2800" b="0" dirty="0"/>
                    </a:p>
                  </a:txBody>
                  <a:tcPr/>
                </a:tc>
                <a:extLst>
                  <a:ext uri="{0D108BD9-81ED-4DB2-BD59-A6C34878D82A}">
                    <a16:rowId xmlns:a16="http://schemas.microsoft.com/office/drawing/2014/main" val="2359471166"/>
                  </a:ext>
                </a:extLst>
              </a:tr>
              <a:tr h="652016">
                <a:tc>
                  <a:txBody>
                    <a:bodyPr/>
                    <a:lstStyle/>
                    <a:p>
                      <a:pPr algn="ctr"/>
                      <a:endParaRPr lang="zh-CN" altLang="en-US" sz="2800" b="0" dirty="0"/>
                    </a:p>
                  </a:txBody>
                  <a:tcPr/>
                </a:tc>
                <a:tc>
                  <a:txBody>
                    <a:bodyPr/>
                    <a:lstStyle/>
                    <a:p>
                      <a:pPr algn="ctr"/>
                      <a:endParaRPr lang="zh-CN" altLang="en-US" sz="2800" b="0" dirty="0"/>
                    </a:p>
                  </a:txBody>
                  <a:tcPr/>
                </a:tc>
                <a:extLst>
                  <a:ext uri="{0D108BD9-81ED-4DB2-BD59-A6C34878D82A}">
                    <a16:rowId xmlns:a16="http://schemas.microsoft.com/office/drawing/2014/main" val="555871869"/>
                  </a:ext>
                </a:extLst>
              </a:tr>
              <a:tr h="1012056">
                <a:tc>
                  <a:txBody>
                    <a:bodyPr/>
                    <a:lstStyle/>
                    <a:p>
                      <a:pPr algn="ctr"/>
                      <a:endParaRPr lang="zh-CN" altLang="en-US" sz="2800" b="0" dirty="0"/>
                    </a:p>
                  </a:txBody>
                  <a:tcPr/>
                </a:tc>
                <a:tc>
                  <a:txBody>
                    <a:bodyPr/>
                    <a:lstStyle/>
                    <a:p>
                      <a:pPr algn="ctr"/>
                      <a:endParaRPr lang="zh-CN" altLang="en-US" sz="2800" b="0" dirty="0"/>
                    </a:p>
                  </a:txBody>
                  <a:tcPr/>
                </a:tc>
                <a:extLst>
                  <a:ext uri="{0D108BD9-81ED-4DB2-BD59-A6C34878D82A}">
                    <a16:rowId xmlns:a16="http://schemas.microsoft.com/office/drawing/2014/main" val="4281411595"/>
                  </a:ext>
                </a:extLst>
              </a:tr>
            </a:tbl>
          </a:graphicData>
        </a:graphic>
      </p:graphicFrame>
      <p:sp>
        <p:nvSpPr>
          <p:cNvPr id="3" name="Text Box 4">
            <a:extLst>
              <a:ext uri="{FF2B5EF4-FFF2-40B4-BE49-F238E27FC236}">
                <a16:creationId xmlns:a16="http://schemas.microsoft.com/office/drawing/2014/main" id="{64720CEB-FAD8-4D93-8AC3-73F08EAE3F53}"/>
              </a:ext>
            </a:extLst>
          </p:cNvPr>
          <p:cNvSpPr txBox="1">
            <a:spLocks noChangeArrowheads="1"/>
          </p:cNvSpPr>
          <p:nvPr/>
        </p:nvSpPr>
        <p:spPr bwMode="auto">
          <a:xfrm>
            <a:off x="457200" y="188640"/>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线性结构与树结构区别</a:t>
            </a:r>
          </a:p>
        </p:txBody>
      </p:sp>
      <p:sp>
        <p:nvSpPr>
          <p:cNvPr id="5" name="文本框 4">
            <a:extLst>
              <a:ext uri="{FF2B5EF4-FFF2-40B4-BE49-F238E27FC236}">
                <a16:creationId xmlns:a16="http://schemas.microsoft.com/office/drawing/2014/main" id="{84B8FEAE-8430-6579-F153-BCFE83B155FF}"/>
              </a:ext>
            </a:extLst>
          </p:cNvPr>
          <p:cNvSpPr txBox="1"/>
          <p:nvPr/>
        </p:nvSpPr>
        <p:spPr>
          <a:xfrm>
            <a:off x="1033799" y="2105898"/>
            <a:ext cx="3386625" cy="523220"/>
          </a:xfrm>
          <a:prstGeom prst="rect">
            <a:avLst/>
          </a:prstGeom>
          <a:noFill/>
        </p:spPr>
        <p:txBody>
          <a:bodyPr wrap="square">
            <a:spAutoFit/>
          </a:bodyPr>
          <a:lstStyle/>
          <a:p>
            <a:pPr algn="ctr"/>
            <a:r>
              <a:rPr lang="zh-CN" altLang="en-US" sz="2800" b="0" i="0" dirty="0">
                <a:latin typeface="黑体" panose="02010609060101010101" pitchFamily="49" charset="-122"/>
                <a:ea typeface="黑体" panose="02010609060101010101" pitchFamily="49" charset="-122"/>
              </a:rPr>
              <a:t>第一个元素无前驱</a:t>
            </a:r>
          </a:p>
        </p:txBody>
      </p:sp>
      <p:sp>
        <p:nvSpPr>
          <p:cNvPr id="7" name="文本框 6">
            <a:extLst>
              <a:ext uri="{FF2B5EF4-FFF2-40B4-BE49-F238E27FC236}">
                <a16:creationId xmlns:a16="http://schemas.microsoft.com/office/drawing/2014/main" id="{C9D14457-B791-1FB9-B815-0E5C37C47238}"/>
              </a:ext>
            </a:extLst>
          </p:cNvPr>
          <p:cNvSpPr txBox="1"/>
          <p:nvPr/>
        </p:nvSpPr>
        <p:spPr>
          <a:xfrm>
            <a:off x="5536169" y="2101252"/>
            <a:ext cx="2574032" cy="523220"/>
          </a:xfrm>
          <a:prstGeom prst="rect">
            <a:avLst/>
          </a:prstGeom>
          <a:noFill/>
        </p:spPr>
        <p:txBody>
          <a:bodyPr wrap="square">
            <a:spAutoFit/>
          </a:bodyPr>
          <a:lstStyle/>
          <a:p>
            <a:pPr algn="ctr"/>
            <a:r>
              <a:rPr lang="zh-CN" altLang="en-US" sz="2800" b="0" i="0" dirty="0">
                <a:latin typeface="黑体" panose="02010609060101010101" pitchFamily="49" charset="-122"/>
                <a:ea typeface="黑体" panose="02010609060101010101" pitchFamily="49" charset="-122"/>
              </a:rPr>
              <a:t>根结点无前驱</a:t>
            </a:r>
          </a:p>
        </p:txBody>
      </p:sp>
      <p:sp>
        <p:nvSpPr>
          <p:cNvPr id="9" name="文本框 8">
            <a:extLst>
              <a:ext uri="{FF2B5EF4-FFF2-40B4-BE49-F238E27FC236}">
                <a16:creationId xmlns:a16="http://schemas.microsoft.com/office/drawing/2014/main" id="{029F7734-B9B2-0B7A-39A6-591169ECE08B}"/>
              </a:ext>
            </a:extLst>
          </p:cNvPr>
          <p:cNvSpPr txBox="1"/>
          <p:nvPr/>
        </p:nvSpPr>
        <p:spPr>
          <a:xfrm>
            <a:off x="1041359" y="2707108"/>
            <a:ext cx="3384376" cy="523220"/>
          </a:xfrm>
          <a:prstGeom prst="rect">
            <a:avLst/>
          </a:prstGeom>
          <a:noFill/>
        </p:spPr>
        <p:txBody>
          <a:bodyPr wrap="square">
            <a:spAutoFit/>
          </a:bodyPr>
          <a:lstStyle/>
          <a:p>
            <a:pPr algn="ctr"/>
            <a:r>
              <a:rPr lang="zh-CN" altLang="en-US" sz="2800" b="0" i="0" dirty="0">
                <a:latin typeface="黑体" panose="02010609060101010101" pitchFamily="49" charset="-122"/>
                <a:ea typeface="黑体" panose="02010609060101010101" pitchFamily="49" charset="-122"/>
              </a:rPr>
              <a:t>最后一个元素无后继</a:t>
            </a:r>
          </a:p>
        </p:txBody>
      </p:sp>
      <p:sp>
        <p:nvSpPr>
          <p:cNvPr id="11" name="文本框 10">
            <a:extLst>
              <a:ext uri="{FF2B5EF4-FFF2-40B4-BE49-F238E27FC236}">
                <a16:creationId xmlns:a16="http://schemas.microsoft.com/office/drawing/2014/main" id="{5110C53F-E829-2CFE-8828-4C362DE68C96}"/>
              </a:ext>
            </a:extLst>
          </p:cNvPr>
          <p:cNvSpPr txBox="1"/>
          <p:nvPr/>
        </p:nvSpPr>
        <p:spPr>
          <a:xfrm>
            <a:off x="5215793" y="2712240"/>
            <a:ext cx="3168352" cy="523220"/>
          </a:xfrm>
          <a:prstGeom prst="rect">
            <a:avLst/>
          </a:prstGeom>
          <a:noFill/>
        </p:spPr>
        <p:txBody>
          <a:bodyPr wrap="square">
            <a:spAutoFit/>
          </a:bodyPr>
          <a:lstStyle/>
          <a:p>
            <a:pPr algn="ctr"/>
            <a:r>
              <a:rPr lang="zh-CN" altLang="en-US" sz="2800" b="0" i="0" dirty="0">
                <a:latin typeface="黑体" panose="02010609060101010101" pitchFamily="49" charset="-122"/>
                <a:ea typeface="黑体" panose="02010609060101010101" pitchFamily="49" charset="-122"/>
              </a:rPr>
              <a:t>多个叶结点无后继</a:t>
            </a:r>
          </a:p>
        </p:txBody>
      </p:sp>
      <p:sp>
        <p:nvSpPr>
          <p:cNvPr id="13" name="文本框 12">
            <a:extLst>
              <a:ext uri="{FF2B5EF4-FFF2-40B4-BE49-F238E27FC236}">
                <a16:creationId xmlns:a16="http://schemas.microsoft.com/office/drawing/2014/main" id="{F64C7372-CAED-1325-32DA-EC36F7536D10}"/>
              </a:ext>
            </a:extLst>
          </p:cNvPr>
          <p:cNvSpPr txBox="1"/>
          <p:nvPr/>
        </p:nvSpPr>
        <p:spPr>
          <a:xfrm>
            <a:off x="1140289" y="3410996"/>
            <a:ext cx="3280135" cy="954107"/>
          </a:xfrm>
          <a:prstGeom prst="rect">
            <a:avLst/>
          </a:prstGeom>
          <a:noFill/>
        </p:spPr>
        <p:txBody>
          <a:bodyPr wrap="square">
            <a:spAutoFit/>
          </a:bodyPr>
          <a:lstStyle/>
          <a:p>
            <a:pPr algn="ctr" eaLnBrk="1" hangingPunct="1"/>
            <a:r>
              <a:rPr lang="zh-CN" altLang="en-US" sz="2800" b="0" i="0" dirty="0">
                <a:solidFill>
                  <a:schemeClr val="dk1"/>
                </a:solidFill>
                <a:latin typeface="+mn-lt"/>
                <a:ea typeface="+mn-ea"/>
              </a:rPr>
              <a:t>其它元素唯一前驱，唯一后继</a:t>
            </a:r>
          </a:p>
        </p:txBody>
      </p:sp>
      <p:sp>
        <p:nvSpPr>
          <p:cNvPr id="15" name="文本框 14">
            <a:extLst>
              <a:ext uri="{FF2B5EF4-FFF2-40B4-BE49-F238E27FC236}">
                <a16:creationId xmlns:a16="http://schemas.microsoft.com/office/drawing/2014/main" id="{343E3736-A601-476B-5ED1-3B80C58988E8}"/>
              </a:ext>
            </a:extLst>
          </p:cNvPr>
          <p:cNvSpPr txBox="1"/>
          <p:nvPr/>
        </p:nvSpPr>
        <p:spPr>
          <a:xfrm>
            <a:off x="5314931" y="3410997"/>
            <a:ext cx="2970076" cy="954107"/>
          </a:xfrm>
          <a:prstGeom prst="rect">
            <a:avLst/>
          </a:prstGeom>
          <a:noFill/>
        </p:spPr>
        <p:txBody>
          <a:bodyPr wrap="square">
            <a:spAutoFit/>
          </a:bodyPr>
          <a:lstStyle/>
          <a:p>
            <a:pPr algn="ctr"/>
            <a:r>
              <a:rPr lang="zh-CN" altLang="en-US" sz="2800" b="0" i="0" dirty="0">
                <a:solidFill>
                  <a:schemeClr val="dk1"/>
                </a:solidFill>
                <a:latin typeface="+mn-lt"/>
                <a:ea typeface="+mn-ea"/>
              </a:rPr>
              <a:t>其它结点一个前驱，多个后继</a:t>
            </a:r>
          </a:p>
        </p:txBody>
      </p:sp>
    </p:spTree>
    <p:extLst>
      <p:ext uri="{BB962C8B-B14F-4D97-AF65-F5344CB8AC3E}">
        <p14:creationId xmlns:p14="http://schemas.microsoft.com/office/powerpoint/2010/main" val="370739723"/>
      </p:ext>
    </p:extLst>
  </p:cSld>
  <p:clrMapOvr>
    <a:masterClrMapping/>
  </p:clrMapOvr>
  <p:transition spd="med">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9" grpId="0"/>
      <p:bldP spid="11" grpId="0"/>
      <p:bldP spid="13" grpId="0"/>
      <p:bldP spid="1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4">
            <a:extLst>
              <a:ext uri="{FF2B5EF4-FFF2-40B4-BE49-F238E27FC236}">
                <a16:creationId xmlns:a16="http://schemas.microsoft.com/office/drawing/2014/main" id="{64720CEB-FAD8-4D93-8AC3-73F08EAE3F53}"/>
              </a:ext>
            </a:extLst>
          </p:cNvPr>
          <p:cNvSpPr txBox="1">
            <a:spLocks noChangeArrowheads="1"/>
          </p:cNvSpPr>
          <p:nvPr/>
        </p:nvSpPr>
        <p:spPr bwMode="auto">
          <a:xfrm>
            <a:off x="457200" y="188640"/>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树及其启示</a:t>
            </a:r>
          </a:p>
        </p:txBody>
      </p:sp>
      <p:sp>
        <p:nvSpPr>
          <p:cNvPr id="4" name="文本框 3">
            <a:extLst>
              <a:ext uri="{FF2B5EF4-FFF2-40B4-BE49-F238E27FC236}">
                <a16:creationId xmlns:a16="http://schemas.microsoft.com/office/drawing/2014/main" id="{DD1EEF21-CC5D-4A2C-89AB-6B128FF9FBCA}"/>
              </a:ext>
            </a:extLst>
          </p:cNvPr>
          <p:cNvSpPr txBox="1"/>
          <p:nvPr/>
        </p:nvSpPr>
        <p:spPr>
          <a:xfrm>
            <a:off x="539552" y="1268760"/>
            <a:ext cx="7632848" cy="954107"/>
          </a:xfrm>
          <a:prstGeom prst="rect">
            <a:avLst/>
          </a:prstGeom>
          <a:noFill/>
        </p:spPr>
        <p:txBody>
          <a:bodyPr wrap="square" rtlCol="0">
            <a:spAutoFit/>
          </a:bodyPr>
          <a:lstStyle/>
          <a:p>
            <a:pPr marL="285750" indent="-285750">
              <a:buClr>
                <a:srgbClr val="FF0000"/>
              </a:buClr>
              <a:buFont typeface="Wingdings" panose="05000000000000000000" pitchFamily="2" charset="2"/>
              <a:buChar char="p"/>
            </a:pPr>
            <a:r>
              <a:rPr lang="en-US" altLang="zh-CN" sz="2800" dirty="0"/>
              <a:t>  </a:t>
            </a:r>
            <a:r>
              <a:rPr lang="zh-CN" altLang="en-US" sz="2800" b="0" i="0" dirty="0">
                <a:latin typeface="+mn-ea"/>
                <a:ea typeface="+mn-ea"/>
              </a:rPr>
              <a:t>家庭族谱关系</a:t>
            </a:r>
            <a:endParaRPr lang="en-US" altLang="zh-CN" sz="2800" b="0" i="0" dirty="0">
              <a:latin typeface="+mn-ea"/>
              <a:ea typeface="+mn-ea"/>
            </a:endParaRPr>
          </a:p>
          <a:p>
            <a:pPr marL="285750" indent="-285750">
              <a:buClr>
                <a:srgbClr val="FF0000"/>
              </a:buClr>
              <a:buFont typeface="Wingdings" panose="05000000000000000000" pitchFamily="2" charset="2"/>
              <a:buChar char="p"/>
            </a:pPr>
            <a:r>
              <a:rPr lang="en-US" altLang="zh-CN" sz="2800" b="0" i="0" dirty="0">
                <a:latin typeface="+mn-ea"/>
                <a:ea typeface="+mn-ea"/>
              </a:rPr>
              <a:t> </a:t>
            </a:r>
            <a:r>
              <a:rPr lang="zh-CN" altLang="zh-CN" sz="2800" b="0" i="0" dirty="0">
                <a:latin typeface="+mn-ea"/>
                <a:ea typeface="+mn-ea"/>
              </a:rPr>
              <a:t>中国传统</a:t>
            </a:r>
            <a:r>
              <a:rPr lang="zh-CN" altLang="en-US" sz="2800" b="0" i="0" dirty="0">
                <a:latin typeface="+mn-ea"/>
                <a:ea typeface="+mn-ea"/>
              </a:rPr>
              <a:t>文化</a:t>
            </a:r>
            <a:r>
              <a:rPr lang="zh-CN" altLang="zh-CN" sz="2800" b="0" i="0" dirty="0">
                <a:latin typeface="+mn-ea"/>
                <a:ea typeface="+mn-ea"/>
              </a:rPr>
              <a:t>和优良家风</a:t>
            </a:r>
            <a:r>
              <a:rPr lang="zh-CN" altLang="en-US" sz="2800" b="0" i="0" dirty="0">
                <a:latin typeface="+mn-ea"/>
                <a:ea typeface="+mn-ea"/>
              </a:rPr>
              <a:t>的传承。</a:t>
            </a:r>
          </a:p>
        </p:txBody>
      </p:sp>
    </p:spTree>
    <p:extLst>
      <p:ext uri="{BB962C8B-B14F-4D97-AF65-F5344CB8AC3E}">
        <p14:creationId xmlns:p14="http://schemas.microsoft.com/office/powerpoint/2010/main" val="3856943459"/>
      </p:ext>
    </p:extLst>
  </p:cSld>
  <p:clrMapOvr>
    <a:masterClrMapping/>
  </p:clrMapOvr>
  <p:transition spd="med">
    <p:pull dir="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163F0050-2D0F-47DB-876D-934530AFA8CF}"/>
              </a:ext>
            </a:extLst>
          </p:cNvPr>
          <p:cNvSpPr>
            <a:spLocks noGrp="1" noChangeArrowheads="1"/>
          </p:cNvSpPr>
          <p:nvPr>
            <p:ph type="title"/>
          </p:nvPr>
        </p:nvSpPr>
        <p:spPr>
          <a:xfrm>
            <a:off x="543843" y="1124113"/>
            <a:ext cx="6404421" cy="685800"/>
          </a:xfrm>
        </p:spPr>
        <p:txBody>
          <a:bodyPr/>
          <a:lstStyle/>
          <a:p>
            <a:pPr algn="l" eaLnBrk="1" hangingPunct="1"/>
            <a:r>
              <a:rPr lang="zh-CN" altLang="en-US" sz="3000" b="1" dirty="0">
                <a:latin typeface="黑体" panose="02010609060101010101" pitchFamily="49" charset="-122"/>
                <a:ea typeface="黑体" panose="02010609060101010101" pitchFamily="49" charset="-122"/>
              </a:rPr>
              <a:t>一、</a:t>
            </a:r>
            <a:r>
              <a:rPr lang="zh-CN" altLang="en-US" sz="3200" dirty="0">
                <a:latin typeface="黑体" panose="02010609060101010101" pitchFamily="49" charset="-122"/>
                <a:ea typeface="黑体" panose="02010609060101010101" pitchFamily="49" charset="-122"/>
              </a:rPr>
              <a:t>二叉树(</a:t>
            </a:r>
            <a:r>
              <a:rPr lang="en-US" altLang="zh-CN" sz="3200" dirty="0">
                <a:latin typeface="黑体" panose="02010609060101010101" pitchFamily="49" charset="-122"/>
                <a:ea typeface="黑体" panose="02010609060101010101" pitchFamily="49" charset="-122"/>
              </a:rPr>
              <a:t>Binary Tree)</a:t>
            </a:r>
            <a:r>
              <a:rPr lang="zh-CN" altLang="en-US" sz="3200" dirty="0">
                <a:latin typeface="黑体" panose="02010609060101010101" pitchFamily="49" charset="-122"/>
                <a:ea typeface="黑体" panose="02010609060101010101" pitchFamily="49" charset="-122"/>
              </a:rPr>
              <a:t>定义</a:t>
            </a:r>
            <a:endParaRPr lang="en-US" altLang="zh-CN" sz="3200" dirty="0">
              <a:latin typeface="黑体" panose="02010609060101010101" pitchFamily="49" charset="-122"/>
              <a:ea typeface="黑体" panose="02010609060101010101" pitchFamily="49" charset="-122"/>
            </a:endParaRPr>
          </a:p>
        </p:txBody>
      </p:sp>
      <p:sp>
        <p:nvSpPr>
          <p:cNvPr id="14339" name="Text Box 3">
            <a:extLst>
              <a:ext uri="{FF2B5EF4-FFF2-40B4-BE49-F238E27FC236}">
                <a16:creationId xmlns:a16="http://schemas.microsoft.com/office/drawing/2014/main" id="{B7E03151-2845-4477-AED2-661C5380B13F}"/>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66B2D756-7404-42AC-B367-0DD6D279F862}" type="slidenum">
              <a:rPr lang="zh-CN" altLang="en-US" sz="2400"/>
              <a:pPr algn="r" eaLnBrk="1" hangingPunct="1">
                <a:spcBef>
                  <a:spcPct val="50000"/>
                </a:spcBef>
                <a:buClrTx/>
                <a:buSzTx/>
                <a:buFont typeface="Arial" panose="020B0604020202020204" pitchFamily="34" charset="0"/>
                <a:buNone/>
              </a:pPr>
              <a:t>11</a:t>
            </a:fld>
            <a:endParaRPr lang="en-US" altLang="zh-CN" sz="2400"/>
          </a:p>
        </p:txBody>
      </p:sp>
      <p:sp>
        <p:nvSpPr>
          <p:cNvPr id="14341" name="Rectangle 5">
            <a:extLst>
              <a:ext uri="{FF2B5EF4-FFF2-40B4-BE49-F238E27FC236}">
                <a16:creationId xmlns:a16="http://schemas.microsoft.com/office/drawing/2014/main" id="{FDF21B0A-33F0-4492-B521-068EE51FD62F}"/>
              </a:ext>
            </a:extLst>
          </p:cNvPr>
          <p:cNvSpPr>
            <a:spLocks noGrp="1" noChangeArrowheads="1"/>
          </p:cNvSpPr>
          <p:nvPr>
            <p:ph type="body" idx="1"/>
          </p:nvPr>
        </p:nvSpPr>
        <p:spPr>
          <a:xfrm>
            <a:off x="543843" y="2007231"/>
            <a:ext cx="8763000" cy="4038600"/>
          </a:xfrm>
        </p:spPr>
        <p:txBody>
          <a:bodyPr/>
          <a:lstStyle/>
          <a:p>
            <a:pPr eaLnBrk="1" hangingPunct="1">
              <a:spcBef>
                <a:spcPct val="30000"/>
              </a:spcBef>
            </a:pPr>
            <a:r>
              <a:rPr lang="zh-CN" altLang="en-US" dirty="0">
                <a:latin typeface="黑体" panose="02010609060101010101" pitchFamily="49" charset="-122"/>
                <a:ea typeface="黑体" panose="02010609060101010101" pitchFamily="49" charset="-122"/>
              </a:rPr>
              <a:t>二叉树是一种特殊的树</a:t>
            </a:r>
          </a:p>
          <a:p>
            <a:pPr eaLnBrk="1" hangingPunct="1">
              <a:spcBef>
                <a:spcPct val="30000"/>
              </a:spcBef>
            </a:pPr>
            <a:r>
              <a:rPr lang="zh-CN" altLang="en-US" dirty="0">
                <a:latin typeface="黑体" panose="02010609060101010101" pitchFamily="49" charset="-122"/>
                <a:ea typeface="黑体" panose="02010609060101010101" pitchFamily="49" charset="-122"/>
              </a:rPr>
              <a:t>每个结点最多有２棵子树</a:t>
            </a:r>
          </a:p>
          <a:p>
            <a:pPr eaLnBrk="1" hangingPunct="1">
              <a:spcBef>
                <a:spcPct val="30000"/>
              </a:spcBef>
            </a:pPr>
            <a:r>
              <a:rPr lang="zh-CN" altLang="en-US" dirty="0">
                <a:latin typeface="黑体" panose="02010609060101010101" pitchFamily="49" charset="-122"/>
                <a:ea typeface="黑体" panose="02010609060101010101" pitchFamily="49" charset="-122"/>
              </a:rPr>
              <a:t>二叉树的子树有左右之分，有序树</a:t>
            </a:r>
          </a:p>
        </p:txBody>
      </p:sp>
      <p:grpSp>
        <p:nvGrpSpPr>
          <p:cNvPr id="14343" name="Group 7">
            <a:extLst>
              <a:ext uri="{FF2B5EF4-FFF2-40B4-BE49-F238E27FC236}">
                <a16:creationId xmlns:a16="http://schemas.microsoft.com/office/drawing/2014/main" id="{5E0E036B-AC57-4BAE-BDCA-14B0411F7E92}"/>
              </a:ext>
            </a:extLst>
          </p:cNvPr>
          <p:cNvGrpSpPr>
            <a:grpSpLocks/>
          </p:cNvGrpSpPr>
          <p:nvPr/>
        </p:nvGrpSpPr>
        <p:grpSpPr bwMode="auto">
          <a:xfrm>
            <a:off x="353343" y="4056849"/>
            <a:ext cx="8839200" cy="1681163"/>
            <a:chOff x="0" y="0"/>
            <a:chExt cx="5376" cy="1059"/>
          </a:xfrm>
        </p:grpSpPr>
        <p:sp>
          <p:nvSpPr>
            <p:cNvPr id="14344" name="AutoShape 8">
              <a:extLst>
                <a:ext uri="{FF2B5EF4-FFF2-40B4-BE49-F238E27FC236}">
                  <a16:creationId xmlns:a16="http://schemas.microsoft.com/office/drawing/2014/main" id="{19DF260C-EA6A-4818-80A0-5100151186E2}"/>
                </a:ext>
              </a:extLst>
            </p:cNvPr>
            <p:cNvSpPr>
              <a:spLocks noChangeArrowheads="1"/>
            </p:cNvSpPr>
            <p:nvPr/>
          </p:nvSpPr>
          <p:spPr bwMode="auto">
            <a:xfrm>
              <a:off x="4896" y="384"/>
              <a:ext cx="288" cy="336"/>
            </a:xfrm>
            <a:prstGeom prst="wedgeRoundRectCallout">
              <a:avLst>
                <a:gd name="adj1" fmla="val -82986"/>
                <a:gd name="adj2" fmla="val -118750"/>
                <a:gd name="adj3" fmla="val 16667"/>
              </a:avLst>
            </a:prstGeom>
            <a:gradFill rotWithShape="0">
              <a:gsLst>
                <a:gs pos="0">
                  <a:srgbClr val="FF7C80"/>
                </a:gs>
                <a:gs pos="100000">
                  <a:srgbClr val="76393B"/>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a:latin typeface="Times New Roman" panose="02020603050405020304" pitchFamily="18" charset="0"/>
              </a:endParaRPr>
            </a:p>
          </p:txBody>
        </p:sp>
        <p:sp>
          <p:nvSpPr>
            <p:cNvPr id="14345" name="AutoShape 9">
              <a:extLst>
                <a:ext uri="{FF2B5EF4-FFF2-40B4-BE49-F238E27FC236}">
                  <a16:creationId xmlns:a16="http://schemas.microsoft.com/office/drawing/2014/main" id="{7D301F29-6B02-4011-90AF-D7C24D554344}"/>
                </a:ext>
              </a:extLst>
            </p:cNvPr>
            <p:cNvSpPr>
              <a:spLocks noChangeArrowheads="1"/>
            </p:cNvSpPr>
            <p:nvPr/>
          </p:nvSpPr>
          <p:spPr bwMode="auto">
            <a:xfrm>
              <a:off x="3414" y="384"/>
              <a:ext cx="288" cy="336"/>
            </a:xfrm>
            <a:prstGeom prst="wedgeRoundRectCallout">
              <a:avLst>
                <a:gd name="adj1" fmla="val -118403"/>
                <a:gd name="adj2" fmla="val -118750"/>
                <a:gd name="adj3" fmla="val 16667"/>
              </a:avLst>
            </a:prstGeom>
            <a:gradFill rotWithShape="0">
              <a:gsLst>
                <a:gs pos="0">
                  <a:srgbClr val="FF7C80"/>
                </a:gs>
                <a:gs pos="100000">
                  <a:srgbClr val="76393B"/>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a:latin typeface="Times New Roman" panose="02020603050405020304" pitchFamily="18" charset="0"/>
              </a:endParaRPr>
            </a:p>
          </p:txBody>
        </p:sp>
        <p:sp>
          <p:nvSpPr>
            <p:cNvPr id="14346" name="AutoShape 10">
              <a:extLst>
                <a:ext uri="{FF2B5EF4-FFF2-40B4-BE49-F238E27FC236}">
                  <a16:creationId xmlns:a16="http://schemas.microsoft.com/office/drawing/2014/main" id="{D8D6EFA0-8EEB-47D4-A946-96FDB56AD77B}"/>
                </a:ext>
              </a:extLst>
            </p:cNvPr>
            <p:cNvSpPr>
              <a:spLocks noChangeArrowheads="1"/>
            </p:cNvSpPr>
            <p:nvPr/>
          </p:nvSpPr>
          <p:spPr bwMode="auto">
            <a:xfrm>
              <a:off x="4368" y="384"/>
              <a:ext cx="288" cy="336"/>
            </a:xfrm>
            <a:prstGeom prst="wedgeRoundRectCallout">
              <a:avLst>
                <a:gd name="adj1" fmla="val 81944"/>
                <a:gd name="adj2" fmla="val -131847"/>
                <a:gd name="adj3" fmla="val 16667"/>
              </a:avLst>
            </a:prstGeom>
            <a:gradFill rotWithShape="0">
              <a:gsLst>
                <a:gs pos="0">
                  <a:srgbClr val="FF7C80"/>
                </a:gs>
                <a:gs pos="100000">
                  <a:srgbClr val="76393B"/>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a:latin typeface="Times New Roman" panose="02020603050405020304" pitchFamily="18" charset="0"/>
              </a:endParaRPr>
            </a:p>
          </p:txBody>
        </p:sp>
        <p:sp>
          <p:nvSpPr>
            <p:cNvPr id="14347" name="AutoShape 11">
              <a:extLst>
                <a:ext uri="{FF2B5EF4-FFF2-40B4-BE49-F238E27FC236}">
                  <a16:creationId xmlns:a16="http://schemas.microsoft.com/office/drawing/2014/main" id="{E15EB19A-A77E-45B8-B966-82CCB0AD5A95}"/>
                </a:ext>
              </a:extLst>
            </p:cNvPr>
            <p:cNvSpPr>
              <a:spLocks noChangeArrowheads="1"/>
            </p:cNvSpPr>
            <p:nvPr/>
          </p:nvSpPr>
          <p:spPr bwMode="auto">
            <a:xfrm>
              <a:off x="1968" y="384"/>
              <a:ext cx="288" cy="336"/>
            </a:xfrm>
            <a:prstGeom prst="wedgeRoundRectCallout">
              <a:avLst>
                <a:gd name="adj1" fmla="val 81944"/>
                <a:gd name="adj2" fmla="val -131847"/>
                <a:gd name="adj3" fmla="val 16667"/>
              </a:avLst>
            </a:prstGeom>
            <a:gradFill rotWithShape="0">
              <a:gsLst>
                <a:gs pos="0">
                  <a:srgbClr val="FF7C80"/>
                </a:gs>
                <a:gs pos="100000">
                  <a:srgbClr val="76393B"/>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a:latin typeface="Times New Roman" panose="02020603050405020304" pitchFamily="18" charset="0"/>
              </a:endParaRPr>
            </a:p>
          </p:txBody>
        </p:sp>
        <p:sp>
          <p:nvSpPr>
            <p:cNvPr id="14348" name="Oval 12">
              <a:extLst>
                <a:ext uri="{FF2B5EF4-FFF2-40B4-BE49-F238E27FC236}">
                  <a16:creationId xmlns:a16="http://schemas.microsoft.com/office/drawing/2014/main" id="{788C0AD3-47D7-4011-B331-81D9D9A6E53D}"/>
                </a:ext>
              </a:extLst>
            </p:cNvPr>
            <p:cNvSpPr>
              <a:spLocks noChangeArrowheads="1"/>
            </p:cNvSpPr>
            <p:nvPr/>
          </p:nvSpPr>
          <p:spPr bwMode="auto">
            <a:xfrm>
              <a:off x="240" y="48"/>
              <a:ext cx="144" cy="192"/>
            </a:xfrm>
            <a:prstGeom prst="ellipse">
              <a:avLst/>
            </a:prstGeom>
            <a:noFill/>
            <a:ln w="38100">
              <a:solidFill>
                <a:srgbClr val="CC33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a:solidFill>
                  <a:srgbClr val="CC3300"/>
                </a:solidFill>
                <a:latin typeface="Times New Roman" panose="02020603050405020304" pitchFamily="18" charset="0"/>
              </a:endParaRPr>
            </a:p>
          </p:txBody>
        </p:sp>
        <p:sp>
          <p:nvSpPr>
            <p:cNvPr id="14349" name="Line 13">
              <a:extLst>
                <a:ext uri="{FF2B5EF4-FFF2-40B4-BE49-F238E27FC236}">
                  <a16:creationId xmlns:a16="http://schemas.microsoft.com/office/drawing/2014/main" id="{DA7228E4-CF14-444F-9E2F-5BD4A5A0D469}"/>
                </a:ext>
              </a:extLst>
            </p:cNvPr>
            <p:cNvSpPr>
              <a:spLocks noChangeShapeType="1"/>
            </p:cNvSpPr>
            <p:nvPr/>
          </p:nvSpPr>
          <p:spPr bwMode="auto">
            <a:xfrm flipH="1">
              <a:off x="240" y="48"/>
              <a:ext cx="144" cy="192"/>
            </a:xfrm>
            <a:prstGeom prst="line">
              <a:avLst/>
            </a:prstGeom>
            <a:noFill/>
            <a:ln w="3810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50" name="Oval 14">
              <a:extLst>
                <a:ext uri="{FF2B5EF4-FFF2-40B4-BE49-F238E27FC236}">
                  <a16:creationId xmlns:a16="http://schemas.microsoft.com/office/drawing/2014/main" id="{3C551C7D-1FA2-4D9E-A86C-EF52BD5B00CA}"/>
                </a:ext>
              </a:extLst>
            </p:cNvPr>
            <p:cNvSpPr>
              <a:spLocks noChangeArrowheads="1"/>
            </p:cNvSpPr>
            <p:nvPr/>
          </p:nvSpPr>
          <p:spPr bwMode="auto">
            <a:xfrm>
              <a:off x="1104" y="0"/>
              <a:ext cx="240" cy="240"/>
            </a:xfrm>
            <a:prstGeom prst="ellipse">
              <a:avLst/>
            </a:prstGeom>
            <a:gradFill rotWithShape="0">
              <a:gsLst>
                <a:gs pos="0">
                  <a:srgbClr val="FF7C80"/>
                </a:gs>
                <a:gs pos="100000">
                  <a:srgbClr val="76393B"/>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4351" name="Oval 15">
              <a:extLst>
                <a:ext uri="{FF2B5EF4-FFF2-40B4-BE49-F238E27FC236}">
                  <a16:creationId xmlns:a16="http://schemas.microsoft.com/office/drawing/2014/main" id="{E405FDAE-D4B0-4912-8923-6E5459EA1E1F}"/>
                </a:ext>
              </a:extLst>
            </p:cNvPr>
            <p:cNvSpPr>
              <a:spLocks noChangeArrowheads="1"/>
            </p:cNvSpPr>
            <p:nvPr/>
          </p:nvSpPr>
          <p:spPr bwMode="auto">
            <a:xfrm>
              <a:off x="2256" y="0"/>
              <a:ext cx="240" cy="240"/>
            </a:xfrm>
            <a:prstGeom prst="ellipse">
              <a:avLst/>
            </a:prstGeom>
            <a:gradFill rotWithShape="0">
              <a:gsLst>
                <a:gs pos="0">
                  <a:srgbClr val="FF7C80"/>
                </a:gs>
                <a:gs pos="100000">
                  <a:srgbClr val="76393B"/>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4352" name="Oval 16">
              <a:extLst>
                <a:ext uri="{FF2B5EF4-FFF2-40B4-BE49-F238E27FC236}">
                  <a16:creationId xmlns:a16="http://schemas.microsoft.com/office/drawing/2014/main" id="{AE4D62DB-F026-4668-B884-6656A3F325A8}"/>
                </a:ext>
              </a:extLst>
            </p:cNvPr>
            <p:cNvSpPr>
              <a:spLocks noChangeArrowheads="1"/>
            </p:cNvSpPr>
            <p:nvPr/>
          </p:nvSpPr>
          <p:spPr bwMode="auto">
            <a:xfrm>
              <a:off x="3174" y="0"/>
              <a:ext cx="240" cy="240"/>
            </a:xfrm>
            <a:prstGeom prst="ellipse">
              <a:avLst/>
            </a:prstGeom>
            <a:gradFill rotWithShape="0">
              <a:gsLst>
                <a:gs pos="0">
                  <a:srgbClr val="FF7C80"/>
                </a:gs>
                <a:gs pos="100000">
                  <a:srgbClr val="76393B"/>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4353" name="Oval 17">
              <a:extLst>
                <a:ext uri="{FF2B5EF4-FFF2-40B4-BE49-F238E27FC236}">
                  <a16:creationId xmlns:a16="http://schemas.microsoft.com/office/drawing/2014/main" id="{9B9EAE6D-A6E4-419B-BA40-52E18EB599BD}"/>
                </a:ext>
              </a:extLst>
            </p:cNvPr>
            <p:cNvSpPr>
              <a:spLocks noChangeArrowheads="1"/>
            </p:cNvSpPr>
            <p:nvPr/>
          </p:nvSpPr>
          <p:spPr bwMode="auto">
            <a:xfrm>
              <a:off x="4656" y="0"/>
              <a:ext cx="240" cy="240"/>
            </a:xfrm>
            <a:prstGeom prst="ellipse">
              <a:avLst/>
            </a:prstGeom>
            <a:gradFill rotWithShape="0">
              <a:gsLst>
                <a:gs pos="0">
                  <a:srgbClr val="FF7C80"/>
                </a:gs>
                <a:gs pos="100000">
                  <a:srgbClr val="76393B"/>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4354" name="Text Box 18">
              <a:extLst>
                <a:ext uri="{FF2B5EF4-FFF2-40B4-BE49-F238E27FC236}">
                  <a16:creationId xmlns:a16="http://schemas.microsoft.com/office/drawing/2014/main" id="{BC6F8362-9443-4855-9BC1-CC92CF0448C0}"/>
                </a:ext>
              </a:extLst>
            </p:cNvPr>
            <p:cNvSpPr txBox="1">
              <a:spLocks noChangeArrowheads="1"/>
            </p:cNvSpPr>
            <p:nvPr/>
          </p:nvSpPr>
          <p:spPr bwMode="auto">
            <a:xfrm>
              <a:off x="1968" y="384"/>
              <a:ext cx="265"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a:solidFill>
                    <a:schemeClr val="bg1"/>
                  </a:solidFill>
                  <a:latin typeface="Times New Roman" panose="02020603050405020304" pitchFamily="18" charset="0"/>
                </a:rPr>
                <a:t>L</a:t>
              </a:r>
              <a:endParaRPr lang="en-US" altLang="zh-CN" sz="2400">
                <a:latin typeface="Times New Roman" panose="02020603050405020304" pitchFamily="18" charset="0"/>
              </a:endParaRPr>
            </a:p>
          </p:txBody>
        </p:sp>
        <p:sp>
          <p:nvSpPr>
            <p:cNvPr id="14355" name="Text Box 19">
              <a:extLst>
                <a:ext uri="{FF2B5EF4-FFF2-40B4-BE49-F238E27FC236}">
                  <a16:creationId xmlns:a16="http://schemas.microsoft.com/office/drawing/2014/main" id="{6490C2D5-9318-421D-9A52-CEF76FCAF4EB}"/>
                </a:ext>
              </a:extLst>
            </p:cNvPr>
            <p:cNvSpPr txBox="1">
              <a:spLocks noChangeArrowheads="1"/>
            </p:cNvSpPr>
            <p:nvPr/>
          </p:nvSpPr>
          <p:spPr bwMode="auto">
            <a:xfrm>
              <a:off x="4368" y="384"/>
              <a:ext cx="265"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a:solidFill>
                    <a:schemeClr val="bg1"/>
                  </a:solidFill>
                  <a:latin typeface="Times New Roman" panose="02020603050405020304" pitchFamily="18" charset="0"/>
                </a:rPr>
                <a:t>L</a:t>
              </a:r>
              <a:endParaRPr lang="en-US" altLang="zh-CN" sz="2400">
                <a:latin typeface="Times New Roman" panose="02020603050405020304" pitchFamily="18" charset="0"/>
              </a:endParaRPr>
            </a:p>
          </p:txBody>
        </p:sp>
        <p:sp>
          <p:nvSpPr>
            <p:cNvPr id="14356" name="Text Box 20">
              <a:extLst>
                <a:ext uri="{FF2B5EF4-FFF2-40B4-BE49-F238E27FC236}">
                  <a16:creationId xmlns:a16="http://schemas.microsoft.com/office/drawing/2014/main" id="{8ADAA05C-B8F3-40A8-9E25-85A3D9AB8D4F}"/>
                </a:ext>
              </a:extLst>
            </p:cNvPr>
            <p:cNvSpPr txBox="1">
              <a:spLocks noChangeArrowheads="1"/>
            </p:cNvSpPr>
            <p:nvPr/>
          </p:nvSpPr>
          <p:spPr bwMode="auto">
            <a:xfrm>
              <a:off x="3408" y="384"/>
              <a:ext cx="27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a:solidFill>
                    <a:schemeClr val="bg1"/>
                  </a:solidFill>
                  <a:latin typeface="Times New Roman" panose="02020603050405020304" pitchFamily="18" charset="0"/>
                </a:rPr>
                <a:t>R</a:t>
              </a:r>
              <a:endParaRPr lang="en-US" altLang="zh-CN" sz="2400">
                <a:latin typeface="Times New Roman" panose="02020603050405020304" pitchFamily="18" charset="0"/>
              </a:endParaRPr>
            </a:p>
          </p:txBody>
        </p:sp>
        <p:sp>
          <p:nvSpPr>
            <p:cNvPr id="14357" name="Text Box 21">
              <a:extLst>
                <a:ext uri="{FF2B5EF4-FFF2-40B4-BE49-F238E27FC236}">
                  <a16:creationId xmlns:a16="http://schemas.microsoft.com/office/drawing/2014/main" id="{08F5C2F0-735F-49AB-B50C-104024B87E08}"/>
                </a:ext>
              </a:extLst>
            </p:cNvPr>
            <p:cNvSpPr txBox="1">
              <a:spLocks noChangeArrowheads="1"/>
            </p:cNvSpPr>
            <p:nvPr/>
          </p:nvSpPr>
          <p:spPr bwMode="auto">
            <a:xfrm>
              <a:off x="4896" y="384"/>
              <a:ext cx="27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a:solidFill>
                    <a:schemeClr val="bg1"/>
                  </a:solidFill>
                  <a:latin typeface="Times New Roman" panose="02020603050405020304" pitchFamily="18" charset="0"/>
                </a:rPr>
                <a:t>R</a:t>
              </a:r>
              <a:endParaRPr lang="en-US" altLang="zh-CN" sz="2400">
                <a:latin typeface="Times New Roman" panose="02020603050405020304" pitchFamily="18" charset="0"/>
              </a:endParaRPr>
            </a:p>
          </p:txBody>
        </p:sp>
        <p:sp>
          <p:nvSpPr>
            <p:cNvPr id="14358" name="Text Box 22">
              <a:extLst>
                <a:ext uri="{FF2B5EF4-FFF2-40B4-BE49-F238E27FC236}">
                  <a16:creationId xmlns:a16="http://schemas.microsoft.com/office/drawing/2014/main" id="{6344D03E-9926-41A4-8AF1-B5C0DCAA963D}"/>
                </a:ext>
              </a:extLst>
            </p:cNvPr>
            <p:cNvSpPr txBox="1">
              <a:spLocks noChangeArrowheads="1"/>
            </p:cNvSpPr>
            <p:nvPr/>
          </p:nvSpPr>
          <p:spPr bwMode="auto">
            <a:xfrm>
              <a:off x="0" y="768"/>
              <a:ext cx="537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zh-CN" altLang="en-US" sz="2400" i="0" dirty="0"/>
                <a:t>空树　</a:t>
              </a:r>
              <a:r>
                <a:rPr lang="zh-CN" altLang="en-US" sz="2400" dirty="0"/>
                <a:t>　</a:t>
              </a:r>
              <a:r>
                <a:rPr lang="zh-CN" altLang="en-US" sz="2400" i="0" dirty="0"/>
                <a:t>只有根</a:t>
              </a:r>
              <a:r>
                <a:rPr lang="zh-CN" altLang="en-US" sz="2400" dirty="0"/>
                <a:t>　　</a:t>
              </a:r>
              <a:r>
                <a:rPr lang="zh-CN" altLang="en-US" sz="2400" i="0" dirty="0"/>
                <a:t>只有左子树</a:t>
              </a:r>
              <a:r>
                <a:rPr lang="zh-CN" altLang="en-US" sz="2400" dirty="0"/>
                <a:t>　 </a:t>
              </a:r>
              <a:r>
                <a:rPr lang="zh-CN" altLang="en-US" sz="2400" i="0" dirty="0"/>
                <a:t>只有右子树</a:t>
              </a:r>
              <a:r>
                <a:rPr lang="zh-CN" altLang="en-US" sz="2400" dirty="0"/>
                <a:t>　　</a:t>
              </a:r>
              <a:r>
                <a:rPr lang="zh-CN" altLang="en-US" sz="2400" i="0" dirty="0"/>
                <a:t>有左右子树</a:t>
              </a:r>
            </a:p>
          </p:txBody>
        </p:sp>
      </p:grpSp>
      <p:sp>
        <p:nvSpPr>
          <p:cNvPr id="2" name="Text Box 4">
            <a:extLst>
              <a:ext uri="{FF2B5EF4-FFF2-40B4-BE49-F238E27FC236}">
                <a16:creationId xmlns:a16="http://schemas.microsoft.com/office/drawing/2014/main" id="{4FF87CB2-63FF-4179-946B-51A06C99968E}"/>
              </a:ext>
            </a:extLst>
          </p:cNvPr>
          <p:cNvSpPr txBox="1">
            <a:spLocks noChangeArrowheads="1"/>
          </p:cNvSpPr>
          <p:nvPr/>
        </p:nvSpPr>
        <p:spPr bwMode="auto">
          <a:xfrm>
            <a:off x="543843" y="157354"/>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第二节　二叉树</a:t>
            </a:r>
          </a:p>
        </p:txBody>
      </p:sp>
      <p:sp>
        <p:nvSpPr>
          <p:cNvPr id="3" name="文本框 2">
            <a:extLst>
              <a:ext uri="{FF2B5EF4-FFF2-40B4-BE49-F238E27FC236}">
                <a16:creationId xmlns:a16="http://schemas.microsoft.com/office/drawing/2014/main" id="{7E6A1F6B-E513-5904-A515-F659920FF57F}"/>
              </a:ext>
            </a:extLst>
          </p:cNvPr>
          <p:cNvSpPr txBox="1"/>
          <p:nvPr/>
        </p:nvSpPr>
        <p:spPr>
          <a:xfrm>
            <a:off x="530094" y="5961706"/>
            <a:ext cx="7222955" cy="523220"/>
          </a:xfrm>
          <a:prstGeom prst="rect">
            <a:avLst/>
          </a:prstGeom>
          <a:noFill/>
        </p:spPr>
        <p:txBody>
          <a:bodyPr wrap="square" rtlCol="0">
            <a:spAutoFit/>
          </a:bodyPr>
          <a:lstStyle/>
          <a:p>
            <a:r>
              <a:rPr lang="zh-CN" altLang="en-US" sz="2800" b="0" i="0" dirty="0">
                <a:solidFill>
                  <a:srgbClr val="FF0000"/>
                </a:solidFill>
                <a:latin typeface="+mn-ea"/>
                <a:ea typeface="+mn-ea"/>
              </a:rPr>
              <a:t>思考：</a:t>
            </a:r>
            <a:r>
              <a:rPr lang="zh-CN" altLang="en-US" sz="2800" b="0" i="0" dirty="0">
                <a:latin typeface="+mn-ea"/>
                <a:ea typeface="+mn-ea"/>
              </a:rPr>
              <a:t>结点数为</a:t>
            </a:r>
            <a:r>
              <a:rPr lang="en-US" altLang="zh-CN" sz="2800" b="0" i="0" dirty="0">
                <a:latin typeface="+mn-ea"/>
                <a:ea typeface="+mn-ea"/>
              </a:rPr>
              <a:t>3</a:t>
            </a:r>
            <a:r>
              <a:rPr lang="zh-CN" altLang="en-US" sz="2800" b="0" i="0" dirty="0">
                <a:latin typeface="+mn-ea"/>
                <a:ea typeface="+mn-ea"/>
              </a:rPr>
              <a:t>的二叉树共有多少种？</a:t>
            </a:r>
          </a:p>
        </p:txBody>
      </p:sp>
      <p:sp>
        <p:nvSpPr>
          <p:cNvPr id="4" name="文本框 3">
            <a:extLst>
              <a:ext uri="{FF2B5EF4-FFF2-40B4-BE49-F238E27FC236}">
                <a16:creationId xmlns:a16="http://schemas.microsoft.com/office/drawing/2014/main" id="{F778A3D0-DE40-8A92-F724-95D2765E6CF7}"/>
              </a:ext>
            </a:extLst>
          </p:cNvPr>
          <p:cNvSpPr txBox="1"/>
          <p:nvPr/>
        </p:nvSpPr>
        <p:spPr>
          <a:xfrm>
            <a:off x="7288642" y="5912694"/>
            <a:ext cx="720080" cy="523220"/>
          </a:xfrm>
          <a:prstGeom prst="rect">
            <a:avLst/>
          </a:prstGeom>
          <a:noFill/>
        </p:spPr>
        <p:txBody>
          <a:bodyPr wrap="square" rtlCol="0">
            <a:spAutoFit/>
          </a:bodyPr>
          <a:lstStyle/>
          <a:p>
            <a:r>
              <a:rPr lang="en-US" altLang="zh-CN" sz="2800" b="0" i="0" dirty="0">
                <a:solidFill>
                  <a:srgbClr val="FF0000"/>
                </a:solidFill>
                <a:latin typeface="+mn-ea"/>
                <a:ea typeface="+mn-ea"/>
              </a:rPr>
              <a:t>5</a:t>
            </a:r>
            <a:endParaRPr lang="zh-CN" altLang="en-US" sz="2800" b="0" i="0" dirty="0">
              <a:solidFill>
                <a:srgbClr val="FF0000"/>
              </a:solidFill>
              <a:latin typeface="+mn-ea"/>
              <a:ea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34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34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34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34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Text Box 3">
            <a:extLst>
              <a:ext uri="{FF2B5EF4-FFF2-40B4-BE49-F238E27FC236}">
                <a16:creationId xmlns:a16="http://schemas.microsoft.com/office/drawing/2014/main" id="{69970CA6-02F2-4F58-9138-89B2D940B1EC}"/>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887861FE-FAAF-40BF-BDE3-B43F3FFBCA32}" type="slidenum">
              <a:rPr lang="zh-CN" altLang="en-US" sz="2400"/>
              <a:pPr algn="r" eaLnBrk="1" hangingPunct="1">
                <a:spcBef>
                  <a:spcPct val="50000"/>
                </a:spcBef>
                <a:buClrTx/>
                <a:buSzTx/>
                <a:buFont typeface="Arial" panose="020B0604020202020204" pitchFamily="34" charset="0"/>
                <a:buNone/>
              </a:pPr>
              <a:t>12</a:t>
            </a:fld>
            <a:endParaRPr lang="en-US" altLang="zh-CN" sz="2400"/>
          </a:p>
        </p:txBody>
      </p:sp>
      <p:sp>
        <p:nvSpPr>
          <p:cNvPr id="15365" name="Rectangle 5">
            <a:extLst>
              <a:ext uri="{FF2B5EF4-FFF2-40B4-BE49-F238E27FC236}">
                <a16:creationId xmlns:a16="http://schemas.microsoft.com/office/drawing/2014/main" id="{FDC70D73-89EB-43AA-8C9A-D87B421B9B30}"/>
              </a:ext>
            </a:extLst>
          </p:cNvPr>
          <p:cNvSpPr>
            <a:spLocks noGrp="1" noChangeArrowheads="1"/>
          </p:cNvSpPr>
          <p:nvPr>
            <p:ph type="body" idx="1"/>
          </p:nvPr>
        </p:nvSpPr>
        <p:spPr>
          <a:xfrm>
            <a:off x="539552" y="1268760"/>
            <a:ext cx="9145016" cy="4038600"/>
          </a:xfrm>
        </p:spPr>
        <p:txBody>
          <a:bodyPr/>
          <a:lstStyle/>
          <a:p>
            <a:pPr marL="0" indent="0" eaLnBrk="1" hangingPunct="1">
              <a:spcBef>
                <a:spcPct val="30000"/>
              </a:spcBef>
              <a:buNone/>
            </a:pPr>
            <a:r>
              <a:rPr lang="zh-CN" altLang="en-US" dirty="0">
                <a:solidFill>
                  <a:srgbClr val="FF0000"/>
                </a:solidFill>
                <a:latin typeface="黑体" panose="02010609060101010101" pitchFamily="49" charset="-122"/>
                <a:ea typeface="黑体" panose="02010609060101010101" pitchFamily="49" charset="-122"/>
              </a:rPr>
              <a:t>性质</a:t>
            </a:r>
            <a:r>
              <a:rPr lang="en-US" altLang="zh-CN" dirty="0">
                <a:solidFill>
                  <a:srgbClr val="FF0000"/>
                </a:solidFill>
                <a:latin typeface="黑体" panose="02010609060101010101" pitchFamily="49" charset="-122"/>
                <a:ea typeface="黑体" panose="02010609060101010101" pitchFamily="49" charset="-122"/>
              </a:rPr>
              <a:t>1</a:t>
            </a:r>
            <a:r>
              <a:rPr lang="zh-CN" altLang="en-US" dirty="0">
                <a:solidFill>
                  <a:srgbClr val="FF0000"/>
                </a:solidFill>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在二叉树的第</a:t>
            </a:r>
            <a:r>
              <a:rPr lang="en-US" altLang="zh-CN" dirty="0" err="1">
                <a:latin typeface="黑体" panose="02010609060101010101" pitchFamily="49" charset="-122"/>
                <a:ea typeface="黑体" panose="02010609060101010101" pitchFamily="49" charset="-122"/>
              </a:rPr>
              <a:t>i</a:t>
            </a:r>
            <a:r>
              <a:rPr lang="zh-CN" altLang="en-US" dirty="0">
                <a:latin typeface="黑体" panose="02010609060101010101" pitchFamily="49" charset="-122"/>
                <a:ea typeface="黑体" panose="02010609060101010101" pitchFamily="49" charset="-122"/>
              </a:rPr>
              <a:t>层上至多有2</a:t>
            </a:r>
            <a:r>
              <a:rPr lang="en-US" altLang="zh-CN" baseline="30000" dirty="0">
                <a:latin typeface="黑体" panose="02010609060101010101" pitchFamily="49" charset="-122"/>
                <a:ea typeface="黑体" panose="02010609060101010101" pitchFamily="49" charset="-122"/>
              </a:rPr>
              <a:t>i-1</a:t>
            </a:r>
            <a:r>
              <a:rPr lang="zh-CN" altLang="en-US" dirty="0">
                <a:latin typeface="黑体" panose="02010609060101010101" pitchFamily="49" charset="-122"/>
                <a:ea typeface="黑体" panose="02010609060101010101" pitchFamily="49" charset="-122"/>
              </a:rPr>
              <a:t>个结点</a:t>
            </a:r>
          </a:p>
          <a:p>
            <a:pPr marL="0" indent="0" eaLnBrk="1" hangingPunct="1">
              <a:spcBef>
                <a:spcPct val="30000"/>
              </a:spcBef>
              <a:buNone/>
            </a:pPr>
            <a:r>
              <a:rPr lang="zh-CN" altLang="en-US" dirty="0">
                <a:solidFill>
                  <a:srgbClr val="FF0000"/>
                </a:solidFill>
                <a:latin typeface="黑体" panose="02010609060101010101" pitchFamily="49" charset="-122"/>
                <a:ea typeface="黑体" panose="02010609060101010101" pitchFamily="49" charset="-122"/>
              </a:rPr>
              <a:t>证明：递推法证明。</a:t>
            </a:r>
          </a:p>
          <a:p>
            <a:pPr eaLnBrk="1" hangingPunct="1">
              <a:spcBef>
                <a:spcPct val="30000"/>
              </a:spcBef>
              <a:buFont typeface="Wingdings" panose="05000000000000000000" pitchFamily="2" charset="2"/>
              <a:buNone/>
            </a:pPr>
            <a:r>
              <a:rPr lang="zh-CN" altLang="en-US" dirty="0">
                <a:latin typeface="黑体" panose="02010609060101010101" pitchFamily="49" charset="-122"/>
                <a:ea typeface="黑体" panose="02010609060101010101" pitchFamily="49" charset="-122"/>
              </a:rPr>
              <a:t>1.</a:t>
            </a:r>
            <a:r>
              <a:rPr lang="en-US" altLang="zh-CN" dirty="0" err="1">
                <a:latin typeface="黑体" panose="02010609060101010101" pitchFamily="49" charset="-122"/>
                <a:ea typeface="黑体" panose="02010609060101010101" pitchFamily="49" charset="-122"/>
              </a:rPr>
              <a:t>i</a:t>
            </a:r>
            <a:r>
              <a:rPr lang="en-US" altLang="zh-CN" dirty="0">
                <a:latin typeface="黑体" panose="02010609060101010101" pitchFamily="49" charset="-122"/>
                <a:ea typeface="黑体" panose="02010609060101010101" pitchFamily="49" charset="-122"/>
              </a:rPr>
              <a:t>=1, </a:t>
            </a:r>
            <a:r>
              <a:rPr lang="zh-CN" altLang="en-US" dirty="0">
                <a:latin typeface="黑体" panose="02010609060101010101" pitchFamily="49" charset="-122"/>
                <a:ea typeface="黑体" panose="02010609060101010101" pitchFamily="49" charset="-122"/>
              </a:rPr>
              <a:t>只有一个根节点，因此2</a:t>
            </a:r>
            <a:r>
              <a:rPr lang="en-US" altLang="zh-CN" baseline="30000" dirty="0">
                <a:latin typeface="黑体" panose="02010609060101010101" pitchFamily="49" charset="-122"/>
                <a:ea typeface="黑体" panose="02010609060101010101" pitchFamily="49" charset="-122"/>
              </a:rPr>
              <a:t>i-1</a:t>
            </a:r>
            <a:r>
              <a:rPr lang="zh-CN" altLang="en-US" dirty="0">
                <a:latin typeface="黑体" panose="02010609060101010101" pitchFamily="49" charset="-122"/>
                <a:ea typeface="黑体" panose="02010609060101010101" pitchFamily="49" charset="-122"/>
              </a:rPr>
              <a:t>=2</a:t>
            </a:r>
            <a:r>
              <a:rPr lang="zh-CN" altLang="en-US" baseline="30000" dirty="0">
                <a:latin typeface="黑体" panose="02010609060101010101" pitchFamily="49" charset="-122"/>
                <a:ea typeface="黑体" panose="02010609060101010101" pitchFamily="49" charset="-122"/>
              </a:rPr>
              <a:t>0</a:t>
            </a:r>
            <a:r>
              <a:rPr lang="zh-CN" altLang="en-US" dirty="0">
                <a:latin typeface="黑体" panose="02010609060101010101" pitchFamily="49" charset="-122"/>
                <a:ea typeface="黑体" panose="02010609060101010101" pitchFamily="49" charset="-122"/>
              </a:rPr>
              <a:t>=1</a:t>
            </a:r>
          </a:p>
          <a:p>
            <a:pPr eaLnBrk="1" hangingPunct="1">
              <a:spcBef>
                <a:spcPct val="30000"/>
              </a:spcBef>
              <a:buFont typeface="Wingdings" panose="05000000000000000000" pitchFamily="2" charset="2"/>
              <a:buNone/>
            </a:pPr>
            <a:r>
              <a:rPr lang="zh-CN" altLang="en-US" dirty="0">
                <a:latin typeface="黑体" panose="02010609060101010101" pitchFamily="49" charset="-122"/>
                <a:ea typeface="黑体" panose="02010609060101010101" pitchFamily="49" charset="-122"/>
              </a:rPr>
              <a:t>2.设第</a:t>
            </a:r>
            <a:r>
              <a:rPr lang="en-US" altLang="zh-CN" dirty="0">
                <a:latin typeface="黑体" panose="02010609060101010101" pitchFamily="49" charset="-122"/>
                <a:ea typeface="黑体" panose="02010609060101010101" pitchFamily="49" charset="-122"/>
              </a:rPr>
              <a:t>i-1</a:t>
            </a:r>
            <a:r>
              <a:rPr lang="zh-CN" altLang="en-US" dirty="0">
                <a:latin typeface="黑体" panose="02010609060101010101" pitchFamily="49" charset="-122"/>
                <a:ea typeface="黑体" panose="02010609060101010101" pitchFamily="49" charset="-122"/>
              </a:rPr>
              <a:t>层上，性质成立，即第</a:t>
            </a:r>
            <a:r>
              <a:rPr lang="en-US" altLang="zh-CN" dirty="0">
                <a:latin typeface="黑体" panose="02010609060101010101" pitchFamily="49" charset="-122"/>
                <a:ea typeface="黑体" panose="02010609060101010101" pitchFamily="49" charset="-122"/>
              </a:rPr>
              <a:t>i-1</a:t>
            </a:r>
            <a:r>
              <a:rPr lang="zh-CN" altLang="en-US" dirty="0">
                <a:latin typeface="黑体" panose="02010609060101010101" pitchFamily="49" charset="-122"/>
                <a:ea typeface="黑体" panose="02010609060101010101" pitchFamily="49" charset="-122"/>
              </a:rPr>
              <a:t>层至多有2</a:t>
            </a:r>
            <a:r>
              <a:rPr lang="en-US" altLang="zh-CN" baseline="30000" dirty="0">
                <a:latin typeface="黑体" panose="02010609060101010101" pitchFamily="49" charset="-122"/>
                <a:ea typeface="黑体" panose="02010609060101010101" pitchFamily="49" charset="-122"/>
              </a:rPr>
              <a:t>(i-1)-1</a:t>
            </a:r>
            <a:r>
              <a:rPr lang="zh-CN" altLang="en-US" dirty="0">
                <a:latin typeface="黑体" panose="02010609060101010101" pitchFamily="49" charset="-122"/>
                <a:ea typeface="黑体" panose="02010609060101010101" pitchFamily="49" charset="-122"/>
              </a:rPr>
              <a:t>结点。</a:t>
            </a:r>
            <a:endParaRPr lang="en-US" altLang="zh-CN" dirty="0">
              <a:latin typeface="黑体" panose="02010609060101010101" pitchFamily="49" charset="-122"/>
              <a:ea typeface="黑体" panose="02010609060101010101" pitchFamily="49" charset="-122"/>
            </a:endParaRPr>
          </a:p>
          <a:p>
            <a:pPr eaLnBrk="1" hangingPunct="1">
              <a:spcBef>
                <a:spcPct val="30000"/>
              </a:spcBef>
              <a:buFont typeface="Wingdings" panose="05000000000000000000" pitchFamily="2" charset="2"/>
              <a:buNone/>
            </a:pPr>
            <a:r>
              <a:rPr lang="en-US" altLang="zh-CN" dirty="0">
                <a:latin typeface="黑体" panose="02010609060101010101" pitchFamily="49" charset="-122"/>
                <a:ea typeface="黑体" panose="02010609060101010101" pitchFamily="49" charset="-122"/>
              </a:rPr>
              <a:t>  </a:t>
            </a:r>
            <a:r>
              <a:rPr lang="zh-CN" altLang="en-US" dirty="0">
                <a:latin typeface="黑体" panose="02010609060101010101" pitchFamily="49" charset="-122"/>
                <a:ea typeface="黑体" panose="02010609060101010101" pitchFamily="49" charset="-122"/>
              </a:rPr>
              <a:t>由二叉树的定义可知，任何结点的度小于2，因此</a:t>
            </a:r>
            <a:endParaRPr lang="en-US" altLang="zh-CN" dirty="0">
              <a:latin typeface="黑体" panose="02010609060101010101" pitchFamily="49" charset="-122"/>
              <a:ea typeface="黑体" panose="02010609060101010101" pitchFamily="49" charset="-122"/>
            </a:endParaRPr>
          </a:p>
          <a:p>
            <a:pPr eaLnBrk="1" hangingPunct="1">
              <a:spcBef>
                <a:spcPct val="30000"/>
              </a:spcBef>
              <a:buFont typeface="Wingdings" panose="05000000000000000000" pitchFamily="2" charset="2"/>
              <a:buNone/>
            </a:pPr>
            <a:r>
              <a:rPr lang="en-US" altLang="zh-CN" dirty="0">
                <a:latin typeface="黑体" panose="02010609060101010101" pitchFamily="49" charset="-122"/>
                <a:ea typeface="黑体" panose="02010609060101010101" pitchFamily="49" charset="-122"/>
              </a:rPr>
              <a:t>  </a:t>
            </a:r>
            <a:r>
              <a:rPr lang="zh-CN" altLang="en-US" dirty="0">
                <a:latin typeface="黑体" panose="02010609060101010101" pitchFamily="49" charset="-122"/>
                <a:ea typeface="黑体" panose="02010609060101010101" pitchFamily="49" charset="-122"/>
              </a:rPr>
              <a:t>第</a:t>
            </a:r>
            <a:r>
              <a:rPr lang="en-US" altLang="zh-CN" dirty="0" err="1">
                <a:latin typeface="黑体" panose="02010609060101010101" pitchFamily="49" charset="-122"/>
                <a:ea typeface="黑体" panose="02010609060101010101" pitchFamily="49" charset="-122"/>
              </a:rPr>
              <a:t>i</a:t>
            </a:r>
            <a:r>
              <a:rPr lang="zh-CN" altLang="en-US" dirty="0">
                <a:latin typeface="黑体" panose="02010609060101010101" pitchFamily="49" charset="-122"/>
                <a:ea typeface="黑体" panose="02010609060101010101" pitchFamily="49" charset="-122"/>
              </a:rPr>
              <a:t>层上的结点数最多为第</a:t>
            </a:r>
            <a:r>
              <a:rPr lang="en-US" altLang="zh-CN" dirty="0">
                <a:latin typeface="黑体" panose="02010609060101010101" pitchFamily="49" charset="-122"/>
                <a:ea typeface="黑体" panose="02010609060101010101" pitchFamily="49" charset="-122"/>
              </a:rPr>
              <a:t>i-1</a:t>
            </a:r>
            <a:r>
              <a:rPr lang="zh-CN" altLang="en-US" dirty="0">
                <a:latin typeface="黑体" panose="02010609060101010101" pitchFamily="49" charset="-122"/>
                <a:ea typeface="黑体" panose="02010609060101010101" pitchFamily="49" charset="-122"/>
              </a:rPr>
              <a:t>层上的两倍，即</a:t>
            </a:r>
            <a:endParaRPr lang="en-US" altLang="zh-CN" dirty="0">
              <a:latin typeface="黑体" panose="02010609060101010101" pitchFamily="49" charset="-122"/>
              <a:ea typeface="黑体" panose="02010609060101010101" pitchFamily="49" charset="-122"/>
            </a:endParaRPr>
          </a:p>
          <a:p>
            <a:pPr eaLnBrk="1" hangingPunct="1">
              <a:spcBef>
                <a:spcPct val="30000"/>
              </a:spcBef>
              <a:buFont typeface="Wingdings" panose="05000000000000000000" pitchFamily="2" charset="2"/>
              <a:buNone/>
            </a:pPr>
            <a:r>
              <a:rPr lang="en-US" altLang="zh-CN" dirty="0">
                <a:latin typeface="黑体" panose="02010609060101010101" pitchFamily="49" charset="-122"/>
                <a:ea typeface="黑体" panose="02010609060101010101" pitchFamily="49" charset="-122"/>
              </a:rPr>
              <a:t>  </a:t>
            </a:r>
            <a:r>
              <a:rPr lang="zh-CN" altLang="en-US" dirty="0">
                <a:latin typeface="黑体" panose="02010609060101010101" pitchFamily="49" charset="-122"/>
                <a:ea typeface="黑体" panose="02010609060101010101" pitchFamily="49" charset="-122"/>
              </a:rPr>
              <a:t>2*2</a:t>
            </a:r>
            <a:r>
              <a:rPr lang="en-US" altLang="zh-CN" baseline="30000" dirty="0">
                <a:latin typeface="黑体" panose="02010609060101010101" pitchFamily="49" charset="-122"/>
                <a:ea typeface="黑体" panose="02010609060101010101" pitchFamily="49" charset="-122"/>
              </a:rPr>
              <a:t>i-2 </a:t>
            </a:r>
            <a:r>
              <a:rPr lang="zh-CN" altLang="en-US" dirty="0">
                <a:latin typeface="黑体" panose="02010609060101010101" pitchFamily="49" charset="-122"/>
                <a:ea typeface="黑体" panose="02010609060101010101" pitchFamily="49" charset="-122"/>
              </a:rPr>
              <a:t>= 2</a:t>
            </a:r>
            <a:r>
              <a:rPr lang="en-US" altLang="zh-CN" baseline="30000" dirty="0">
                <a:latin typeface="黑体" panose="02010609060101010101" pitchFamily="49" charset="-122"/>
                <a:ea typeface="黑体" panose="02010609060101010101" pitchFamily="49" charset="-122"/>
              </a:rPr>
              <a:t>i-1</a:t>
            </a:r>
            <a:r>
              <a:rPr lang="zh-CN" altLang="en-US" dirty="0">
                <a:latin typeface="黑体" panose="02010609060101010101" pitchFamily="49" charset="-122"/>
                <a:ea typeface="黑体" panose="02010609060101010101" pitchFamily="49" charset="-122"/>
              </a:rPr>
              <a:t>。</a:t>
            </a:r>
          </a:p>
        </p:txBody>
      </p:sp>
      <p:sp>
        <p:nvSpPr>
          <p:cNvPr id="2" name="Text Box 4">
            <a:extLst>
              <a:ext uri="{FF2B5EF4-FFF2-40B4-BE49-F238E27FC236}">
                <a16:creationId xmlns:a16="http://schemas.microsoft.com/office/drawing/2014/main" id="{A9E6DA6C-8448-4FF3-8982-2C4C4C1750F4}"/>
              </a:ext>
            </a:extLst>
          </p:cNvPr>
          <p:cNvSpPr txBox="1">
            <a:spLocks noChangeArrowheads="1"/>
          </p:cNvSpPr>
          <p:nvPr/>
        </p:nvSpPr>
        <p:spPr bwMode="auto">
          <a:xfrm>
            <a:off x="342900" y="188640"/>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二、二叉树性质</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5365">
                                            <p:txEl>
                                              <p:pRg st="0" end="0"/>
                                            </p:txEl>
                                          </p:spTgt>
                                        </p:tgtEl>
                                        <p:attrNameLst>
                                          <p:attrName>style.visibility</p:attrName>
                                        </p:attrNameLst>
                                      </p:cBhvr>
                                      <p:to>
                                        <p:strVal val="visible"/>
                                      </p:to>
                                    </p:set>
                                    <p:animEffect transition="in" filter="strips(downRight)">
                                      <p:cBhvr>
                                        <p:cTn id="7" dur="500"/>
                                        <p:tgtEl>
                                          <p:spTgt spid="1536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5365">
                                            <p:txEl>
                                              <p:pRg st="1" end="1"/>
                                            </p:txEl>
                                          </p:spTgt>
                                        </p:tgtEl>
                                        <p:attrNameLst>
                                          <p:attrName>style.visibility</p:attrName>
                                        </p:attrNameLst>
                                      </p:cBhvr>
                                      <p:to>
                                        <p:strVal val="visible"/>
                                      </p:to>
                                    </p:set>
                                    <p:animEffect transition="in" filter="strips(downRight)">
                                      <p:cBhvr>
                                        <p:cTn id="12" dur="500"/>
                                        <p:tgtEl>
                                          <p:spTgt spid="1536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15365">
                                            <p:txEl>
                                              <p:pRg st="2" end="2"/>
                                            </p:txEl>
                                          </p:spTgt>
                                        </p:tgtEl>
                                        <p:attrNameLst>
                                          <p:attrName>style.visibility</p:attrName>
                                        </p:attrNameLst>
                                      </p:cBhvr>
                                      <p:to>
                                        <p:strVal val="visible"/>
                                      </p:to>
                                    </p:set>
                                    <p:animEffect transition="in" filter="strips(downRight)">
                                      <p:cBhvr>
                                        <p:cTn id="17" dur="500"/>
                                        <p:tgtEl>
                                          <p:spTgt spid="1536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15365">
                                            <p:txEl>
                                              <p:pRg st="3" end="3"/>
                                            </p:txEl>
                                          </p:spTgt>
                                        </p:tgtEl>
                                        <p:attrNameLst>
                                          <p:attrName>style.visibility</p:attrName>
                                        </p:attrNameLst>
                                      </p:cBhvr>
                                      <p:to>
                                        <p:strVal val="visible"/>
                                      </p:to>
                                    </p:set>
                                    <p:animEffect transition="in" filter="strips(downRight)">
                                      <p:cBhvr>
                                        <p:cTn id="22" dur="500"/>
                                        <p:tgtEl>
                                          <p:spTgt spid="1536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15365">
                                            <p:txEl>
                                              <p:pRg st="4" end="4"/>
                                            </p:txEl>
                                          </p:spTgt>
                                        </p:tgtEl>
                                        <p:attrNameLst>
                                          <p:attrName>style.visibility</p:attrName>
                                        </p:attrNameLst>
                                      </p:cBhvr>
                                      <p:to>
                                        <p:strVal val="visible"/>
                                      </p:to>
                                    </p:set>
                                    <p:animEffect transition="in" filter="strips(downRight)">
                                      <p:cBhvr>
                                        <p:cTn id="27" dur="500"/>
                                        <p:tgtEl>
                                          <p:spTgt spid="1536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6" fill="hold" grpId="0" nodeType="clickEffect">
                                  <p:stCondLst>
                                    <p:cond delay="0"/>
                                  </p:stCondLst>
                                  <p:childTnLst>
                                    <p:set>
                                      <p:cBhvr>
                                        <p:cTn id="31" dur="1" fill="hold">
                                          <p:stCondLst>
                                            <p:cond delay="0"/>
                                          </p:stCondLst>
                                        </p:cTn>
                                        <p:tgtEl>
                                          <p:spTgt spid="15365">
                                            <p:txEl>
                                              <p:pRg st="5" end="5"/>
                                            </p:txEl>
                                          </p:spTgt>
                                        </p:tgtEl>
                                        <p:attrNameLst>
                                          <p:attrName>style.visibility</p:attrName>
                                        </p:attrNameLst>
                                      </p:cBhvr>
                                      <p:to>
                                        <p:strVal val="visible"/>
                                      </p:to>
                                    </p:set>
                                    <p:animEffect transition="in" filter="strips(downRight)">
                                      <p:cBhvr>
                                        <p:cTn id="32" dur="500"/>
                                        <p:tgtEl>
                                          <p:spTgt spid="1536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6" fill="hold" grpId="0" nodeType="clickEffect">
                                  <p:stCondLst>
                                    <p:cond delay="0"/>
                                  </p:stCondLst>
                                  <p:childTnLst>
                                    <p:set>
                                      <p:cBhvr>
                                        <p:cTn id="36" dur="1" fill="hold">
                                          <p:stCondLst>
                                            <p:cond delay="0"/>
                                          </p:stCondLst>
                                        </p:cTn>
                                        <p:tgtEl>
                                          <p:spTgt spid="15365">
                                            <p:txEl>
                                              <p:pRg st="6" end="6"/>
                                            </p:txEl>
                                          </p:spTgt>
                                        </p:tgtEl>
                                        <p:attrNameLst>
                                          <p:attrName>style.visibility</p:attrName>
                                        </p:attrNameLst>
                                      </p:cBhvr>
                                      <p:to>
                                        <p:strVal val="visible"/>
                                      </p:to>
                                    </p:set>
                                    <p:animEffect transition="in" filter="strips(downRight)">
                                      <p:cBhvr>
                                        <p:cTn id="37" dur="500"/>
                                        <p:tgtEl>
                                          <p:spTgt spid="1536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5" grpId="0" build="p"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Text Box 3">
            <a:extLst>
              <a:ext uri="{FF2B5EF4-FFF2-40B4-BE49-F238E27FC236}">
                <a16:creationId xmlns:a16="http://schemas.microsoft.com/office/drawing/2014/main" id="{9B18A7EC-49A2-4CB8-910F-D5377499879C}"/>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669824AE-FC13-4239-BEC0-CF74AD69B78E}" type="slidenum">
              <a:rPr lang="zh-CN" altLang="en-US" sz="2400"/>
              <a:pPr algn="r" eaLnBrk="1" hangingPunct="1">
                <a:spcBef>
                  <a:spcPct val="50000"/>
                </a:spcBef>
                <a:buClrTx/>
                <a:buSzTx/>
                <a:buFont typeface="Arial" panose="020B0604020202020204" pitchFamily="34" charset="0"/>
                <a:buNone/>
              </a:pPr>
              <a:t>13</a:t>
            </a:fld>
            <a:endParaRPr lang="en-US" altLang="zh-CN" sz="2400"/>
          </a:p>
        </p:txBody>
      </p:sp>
      <p:sp>
        <p:nvSpPr>
          <p:cNvPr id="16389" name="Rectangle 5">
            <a:extLst>
              <a:ext uri="{FF2B5EF4-FFF2-40B4-BE49-F238E27FC236}">
                <a16:creationId xmlns:a16="http://schemas.microsoft.com/office/drawing/2014/main" id="{881A3DF3-D859-4D3B-BB32-725499A80B06}"/>
              </a:ext>
            </a:extLst>
          </p:cNvPr>
          <p:cNvSpPr>
            <a:spLocks noGrp="1" noChangeArrowheads="1"/>
          </p:cNvSpPr>
          <p:nvPr>
            <p:ph type="body" idx="1"/>
          </p:nvPr>
        </p:nvSpPr>
        <p:spPr>
          <a:xfrm>
            <a:off x="467544" y="1268760"/>
            <a:ext cx="8763000" cy="4038600"/>
          </a:xfrm>
        </p:spPr>
        <p:txBody>
          <a:bodyPr/>
          <a:lstStyle/>
          <a:p>
            <a:pPr marL="0" indent="0" eaLnBrk="1" hangingPunct="1">
              <a:spcBef>
                <a:spcPct val="30000"/>
              </a:spcBef>
              <a:buNone/>
            </a:pPr>
            <a:r>
              <a:rPr lang="zh-CN" altLang="en-US" dirty="0">
                <a:solidFill>
                  <a:srgbClr val="FF0000"/>
                </a:solidFill>
                <a:latin typeface="黑体" panose="02010609060101010101" pitchFamily="49" charset="-122"/>
                <a:ea typeface="黑体" panose="02010609060101010101" pitchFamily="49" charset="-122"/>
              </a:rPr>
              <a:t>性质</a:t>
            </a:r>
            <a:r>
              <a:rPr lang="en-US" altLang="zh-CN" dirty="0">
                <a:solidFill>
                  <a:srgbClr val="FF0000"/>
                </a:solidFill>
                <a:latin typeface="黑体" panose="02010609060101010101" pitchFamily="49" charset="-122"/>
                <a:ea typeface="黑体" panose="02010609060101010101" pitchFamily="49" charset="-122"/>
              </a:rPr>
              <a:t>2</a:t>
            </a:r>
            <a:r>
              <a:rPr lang="zh-CN" altLang="en-US" dirty="0">
                <a:solidFill>
                  <a:srgbClr val="FF0000"/>
                </a:solidFill>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深度为</a:t>
            </a:r>
            <a:r>
              <a:rPr lang="en-US" altLang="zh-CN" dirty="0">
                <a:latin typeface="黑体" panose="02010609060101010101" pitchFamily="49" charset="-122"/>
                <a:ea typeface="黑体" panose="02010609060101010101" pitchFamily="49" charset="-122"/>
              </a:rPr>
              <a:t>k</a:t>
            </a:r>
            <a:r>
              <a:rPr lang="zh-CN" altLang="en-US" dirty="0">
                <a:latin typeface="黑体" panose="02010609060101010101" pitchFamily="49" charset="-122"/>
                <a:ea typeface="黑体" panose="02010609060101010101" pitchFamily="49" charset="-122"/>
              </a:rPr>
              <a:t>的二叉树至多有2</a:t>
            </a:r>
            <a:r>
              <a:rPr lang="en-US" altLang="zh-CN" baseline="30000" dirty="0">
                <a:latin typeface="黑体" panose="02010609060101010101" pitchFamily="49" charset="-122"/>
                <a:ea typeface="黑体" panose="02010609060101010101" pitchFamily="49" charset="-122"/>
              </a:rPr>
              <a:t>k</a:t>
            </a:r>
            <a:r>
              <a:rPr lang="en-US" altLang="zh-CN" dirty="0">
                <a:latin typeface="黑体" panose="02010609060101010101" pitchFamily="49" charset="-122"/>
                <a:ea typeface="黑体" panose="02010609060101010101" pitchFamily="49" charset="-122"/>
              </a:rPr>
              <a:t>-1</a:t>
            </a:r>
            <a:r>
              <a:rPr lang="zh-CN" altLang="en-US" dirty="0">
                <a:latin typeface="黑体" panose="02010609060101010101" pitchFamily="49" charset="-122"/>
                <a:ea typeface="黑体" panose="02010609060101010101" pitchFamily="49" charset="-122"/>
              </a:rPr>
              <a:t>个结点。</a:t>
            </a:r>
          </a:p>
          <a:p>
            <a:pPr marL="0" indent="0" eaLnBrk="1" hangingPunct="1">
              <a:spcBef>
                <a:spcPct val="30000"/>
              </a:spcBef>
              <a:buNone/>
            </a:pPr>
            <a:r>
              <a:rPr lang="zh-CN" altLang="en-US" b="1" dirty="0">
                <a:solidFill>
                  <a:srgbClr val="FF0000"/>
                </a:solidFill>
                <a:latin typeface="黑体" panose="02010609060101010101" pitchFamily="49" charset="-122"/>
                <a:ea typeface="黑体" panose="02010609060101010101" pitchFamily="49" charset="-122"/>
              </a:rPr>
              <a:t>证明：</a:t>
            </a:r>
            <a:r>
              <a:rPr lang="zh-CN" altLang="en-US" dirty="0">
                <a:latin typeface="黑体" panose="02010609060101010101" pitchFamily="49" charset="-122"/>
                <a:ea typeface="黑体" panose="02010609060101010101" pitchFamily="49" charset="-122"/>
              </a:rPr>
              <a:t>由性质１，已知第</a:t>
            </a:r>
            <a:r>
              <a:rPr lang="en-US" altLang="zh-CN" dirty="0" err="1">
                <a:latin typeface="黑体" panose="02010609060101010101" pitchFamily="49" charset="-122"/>
                <a:ea typeface="黑体" panose="02010609060101010101" pitchFamily="49" charset="-122"/>
              </a:rPr>
              <a:t>i</a:t>
            </a:r>
            <a:r>
              <a:rPr lang="zh-CN" altLang="en-US" dirty="0">
                <a:latin typeface="黑体" panose="02010609060101010101" pitchFamily="49" charset="-122"/>
                <a:ea typeface="黑体" panose="02010609060101010101" pitchFamily="49" charset="-122"/>
              </a:rPr>
              <a:t>层上结点数最多为2</a:t>
            </a:r>
            <a:r>
              <a:rPr lang="en-US" altLang="zh-CN" baseline="30000" dirty="0">
                <a:latin typeface="黑体" panose="02010609060101010101" pitchFamily="49" charset="-122"/>
                <a:ea typeface="黑体" panose="02010609060101010101" pitchFamily="49" charset="-122"/>
              </a:rPr>
              <a:t>i-1</a:t>
            </a:r>
            <a:endParaRPr lang="zh-CN" altLang="en-US" dirty="0">
              <a:latin typeface="黑体" panose="02010609060101010101" pitchFamily="49" charset="-122"/>
              <a:ea typeface="黑体" panose="02010609060101010101" pitchFamily="49" charset="-122"/>
            </a:endParaRPr>
          </a:p>
          <a:p>
            <a:pPr eaLnBrk="1" hangingPunct="1">
              <a:lnSpc>
                <a:spcPct val="90000"/>
              </a:lnSpc>
              <a:spcBef>
                <a:spcPct val="30000"/>
              </a:spcBef>
              <a:buFont typeface="Wingdings" panose="05000000000000000000" pitchFamily="2" charset="2"/>
              <a:buNone/>
            </a:pPr>
            <a:r>
              <a:rPr lang="zh-CN" altLang="en-US" dirty="0">
                <a:latin typeface="黑体" panose="02010609060101010101" pitchFamily="49" charset="-122"/>
                <a:ea typeface="黑体" panose="02010609060101010101" pitchFamily="49" charset="-122"/>
              </a:rPr>
              <a:t> 　  </a:t>
            </a:r>
            <a:r>
              <a:rPr lang="en-US" altLang="zh-CN" dirty="0">
                <a:latin typeface="黑体" panose="02010609060101010101" pitchFamily="49" charset="-122"/>
                <a:ea typeface="黑体" panose="02010609060101010101" pitchFamily="49" charset="-122"/>
              </a:rPr>
              <a:t>k</a:t>
            </a:r>
          </a:p>
          <a:p>
            <a:pPr eaLnBrk="1" hangingPunct="1">
              <a:lnSpc>
                <a:spcPct val="90000"/>
              </a:lnSpc>
              <a:spcBef>
                <a:spcPct val="0"/>
              </a:spcBef>
              <a:buFont typeface="Wingdings" panose="05000000000000000000" pitchFamily="2" charset="2"/>
              <a:buNone/>
            </a:pPr>
            <a:r>
              <a:rPr lang="zh-CN" altLang="en-US" dirty="0">
                <a:latin typeface="黑体" panose="02010609060101010101" pitchFamily="49" charset="-122"/>
                <a:ea typeface="黑体" panose="02010609060101010101" pitchFamily="49" charset="-122"/>
              </a:rPr>
              <a:t>    ∑ 2</a:t>
            </a:r>
            <a:r>
              <a:rPr lang="en-US" altLang="zh-CN" baseline="30000" dirty="0">
                <a:latin typeface="黑体" panose="02010609060101010101" pitchFamily="49" charset="-122"/>
                <a:ea typeface="黑体" panose="02010609060101010101" pitchFamily="49" charset="-122"/>
              </a:rPr>
              <a:t>i-1 </a:t>
            </a:r>
            <a:r>
              <a:rPr lang="zh-CN" altLang="en-US" dirty="0">
                <a:latin typeface="黑体" panose="02010609060101010101" pitchFamily="49" charset="-122"/>
                <a:ea typeface="黑体" panose="02010609060101010101" pitchFamily="49" charset="-122"/>
              </a:rPr>
              <a:t>= 2</a:t>
            </a:r>
            <a:r>
              <a:rPr lang="en-US" altLang="zh-CN" baseline="30000" dirty="0">
                <a:latin typeface="黑体" panose="02010609060101010101" pitchFamily="49" charset="-122"/>
                <a:ea typeface="黑体" panose="02010609060101010101" pitchFamily="49" charset="-122"/>
              </a:rPr>
              <a:t>k</a:t>
            </a:r>
            <a:r>
              <a:rPr lang="en-US" altLang="zh-CN" dirty="0">
                <a:latin typeface="黑体" panose="02010609060101010101" pitchFamily="49" charset="-122"/>
                <a:ea typeface="黑体" panose="02010609060101010101" pitchFamily="49" charset="-122"/>
              </a:rPr>
              <a:t>-1</a:t>
            </a:r>
          </a:p>
          <a:p>
            <a:pPr eaLnBrk="1" hangingPunct="1">
              <a:spcBef>
                <a:spcPct val="30000"/>
              </a:spcBef>
              <a:buFont typeface="Wingdings" panose="05000000000000000000" pitchFamily="2" charset="2"/>
              <a:buNone/>
            </a:pPr>
            <a:r>
              <a:rPr lang="zh-CN" altLang="en-US" baseline="30000" dirty="0">
                <a:latin typeface="黑体" panose="02010609060101010101" pitchFamily="49" charset="-122"/>
                <a:ea typeface="黑体" panose="02010609060101010101" pitchFamily="49" charset="-122"/>
              </a:rPr>
              <a:t>      </a:t>
            </a:r>
            <a:r>
              <a:rPr lang="en-US" altLang="zh-CN" baseline="30000" dirty="0" err="1">
                <a:latin typeface="黑体" panose="02010609060101010101" pitchFamily="49" charset="-122"/>
                <a:ea typeface="黑体" panose="02010609060101010101" pitchFamily="49" charset="-122"/>
              </a:rPr>
              <a:t>i</a:t>
            </a:r>
            <a:r>
              <a:rPr lang="en-US" altLang="zh-CN" baseline="30000" dirty="0">
                <a:latin typeface="黑体" panose="02010609060101010101" pitchFamily="49" charset="-122"/>
                <a:ea typeface="黑体" panose="02010609060101010101" pitchFamily="49" charset="-122"/>
              </a:rPr>
              <a:t>=1</a:t>
            </a:r>
          </a:p>
        </p:txBody>
      </p:sp>
      <p:sp>
        <p:nvSpPr>
          <p:cNvPr id="3" name="Text Box 4">
            <a:extLst>
              <a:ext uri="{FF2B5EF4-FFF2-40B4-BE49-F238E27FC236}">
                <a16:creationId xmlns:a16="http://schemas.microsoft.com/office/drawing/2014/main" id="{1C8D2F5E-026A-5C23-96C1-CB0B6B8566C8}"/>
              </a:ext>
            </a:extLst>
          </p:cNvPr>
          <p:cNvSpPr txBox="1">
            <a:spLocks noChangeArrowheads="1"/>
          </p:cNvSpPr>
          <p:nvPr/>
        </p:nvSpPr>
        <p:spPr bwMode="auto">
          <a:xfrm>
            <a:off x="29209" y="87015"/>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二叉树性质</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6389">
                                            <p:txEl>
                                              <p:pRg st="0" end="0"/>
                                            </p:txEl>
                                          </p:spTgt>
                                        </p:tgtEl>
                                        <p:attrNameLst>
                                          <p:attrName>style.visibility</p:attrName>
                                        </p:attrNameLst>
                                      </p:cBhvr>
                                      <p:to>
                                        <p:strVal val="visible"/>
                                      </p:to>
                                    </p:set>
                                    <p:animEffect transition="in" filter="strips(downRight)">
                                      <p:cBhvr>
                                        <p:cTn id="7" dur="500"/>
                                        <p:tgtEl>
                                          <p:spTgt spid="1638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6389">
                                            <p:txEl>
                                              <p:pRg st="1" end="1"/>
                                            </p:txEl>
                                          </p:spTgt>
                                        </p:tgtEl>
                                        <p:attrNameLst>
                                          <p:attrName>style.visibility</p:attrName>
                                        </p:attrNameLst>
                                      </p:cBhvr>
                                      <p:to>
                                        <p:strVal val="visible"/>
                                      </p:to>
                                    </p:set>
                                    <p:animEffect transition="in" filter="strips(downRight)">
                                      <p:cBhvr>
                                        <p:cTn id="12" dur="500"/>
                                        <p:tgtEl>
                                          <p:spTgt spid="1638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16389">
                                            <p:txEl>
                                              <p:pRg st="2" end="2"/>
                                            </p:txEl>
                                          </p:spTgt>
                                        </p:tgtEl>
                                        <p:attrNameLst>
                                          <p:attrName>style.visibility</p:attrName>
                                        </p:attrNameLst>
                                      </p:cBhvr>
                                      <p:to>
                                        <p:strVal val="visible"/>
                                      </p:to>
                                    </p:set>
                                    <p:animEffect transition="in" filter="strips(downRight)">
                                      <p:cBhvr>
                                        <p:cTn id="17" dur="500"/>
                                        <p:tgtEl>
                                          <p:spTgt spid="1638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16389">
                                            <p:txEl>
                                              <p:pRg st="3" end="3"/>
                                            </p:txEl>
                                          </p:spTgt>
                                        </p:tgtEl>
                                        <p:attrNameLst>
                                          <p:attrName>style.visibility</p:attrName>
                                        </p:attrNameLst>
                                      </p:cBhvr>
                                      <p:to>
                                        <p:strVal val="visible"/>
                                      </p:to>
                                    </p:set>
                                    <p:animEffect transition="in" filter="strips(downRight)">
                                      <p:cBhvr>
                                        <p:cTn id="22" dur="500"/>
                                        <p:tgtEl>
                                          <p:spTgt spid="1638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16389">
                                            <p:txEl>
                                              <p:pRg st="4" end="4"/>
                                            </p:txEl>
                                          </p:spTgt>
                                        </p:tgtEl>
                                        <p:attrNameLst>
                                          <p:attrName>style.visibility</p:attrName>
                                        </p:attrNameLst>
                                      </p:cBhvr>
                                      <p:to>
                                        <p:strVal val="visible"/>
                                      </p:to>
                                    </p:set>
                                    <p:animEffect transition="in" filter="strips(downRight)">
                                      <p:cBhvr>
                                        <p:cTn id="27" dur="500"/>
                                        <p:tgtEl>
                                          <p:spTgt spid="1638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9" grpId="0" build="p"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Text Box 3">
            <a:extLst>
              <a:ext uri="{FF2B5EF4-FFF2-40B4-BE49-F238E27FC236}">
                <a16:creationId xmlns:a16="http://schemas.microsoft.com/office/drawing/2014/main" id="{1A16CE4B-B9C3-4E04-89DF-B78DD68945E5}"/>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0BECB772-470E-4BD6-B9B1-E45C0CC26754}" type="slidenum">
              <a:rPr lang="zh-CN" altLang="en-US" sz="2400"/>
              <a:pPr algn="r" eaLnBrk="1" hangingPunct="1">
                <a:spcBef>
                  <a:spcPct val="50000"/>
                </a:spcBef>
                <a:buClrTx/>
                <a:buSzTx/>
                <a:buFont typeface="Arial" panose="020B0604020202020204" pitchFamily="34" charset="0"/>
                <a:buNone/>
              </a:pPr>
              <a:t>14</a:t>
            </a:fld>
            <a:endParaRPr lang="en-US" altLang="zh-CN" sz="2400"/>
          </a:p>
        </p:txBody>
      </p:sp>
      <p:sp>
        <p:nvSpPr>
          <p:cNvPr id="17413" name="Rectangle 5">
            <a:extLst>
              <a:ext uri="{FF2B5EF4-FFF2-40B4-BE49-F238E27FC236}">
                <a16:creationId xmlns:a16="http://schemas.microsoft.com/office/drawing/2014/main" id="{EB56C4A2-2FF7-40F5-B365-6AA2B54B1B55}"/>
              </a:ext>
            </a:extLst>
          </p:cNvPr>
          <p:cNvSpPr>
            <a:spLocks noGrp="1" noChangeArrowheads="1"/>
          </p:cNvSpPr>
          <p:nvPr>
            <p:ph type="body" idx="1"/>
          </p:nvPr>
        </p:nvSpPr>
        <p:spPr>
          <a:xfrm>
            <a:off x="539552" y="1268760"/>
            <a:ext cx="8763000" cy="4038600"/>
          </a:xfrm>
        </p:spPr>
        <p:txBody>
          <a:bodyPr/>
          <a:lstStyle/>
          <a:p>
            <a:pPr marL="0" indent="0" eaLnBrk="1" hangingPunct="1">
              <a:lnSpc>
                <a:spcPct val="90000"/>
              </a:lnSpc>
              <a:spcBef>
                <a:spcPct val="30000"/>
              </a:spcBef>
              <a:buNone/>
            </a:pPr>
            <a:r>
              <a:rPr lang="zh-CN" altLang="en-US" sz="2800" dirty="0">
                <a:solidFill>
                  <a:srgbClr val="FF0000"/>
                </a:solidFill>
                <a:latin typeface="黑体" panose="02010609060101010101" pitchFamily="49" charset="-122"/>
                <a:ea typeface="黑体" panose="02010609060101010101" pitchFamily="49" charset="-122"/>
              </a:rPr>
              <a:t>性质</a:t>
            </a:r>
            <a:r>
              <a:rPr lang="en-US" altLang="zh-CN" sz="2800" dirty="0">
                <a:solidFill>
                  <a:srgbClr val="FF0000"/>
                </a:solidFill>
                <a:latin typeface="黑体" panose="02010609060101010101" pitchFamily="49" charset="-122"/>
                <a:ea typeface="黑体" panose="02010609060101010101" pitchFamily="49" charset="-122"/>
              </a:rPr>
              <a:t>3</a:t>
            </a:r>
            <a:r>
              <a:rPr lang="zh-CN" altLang="en-US" sz="2800" dirty="0">
                <a:solidFill>
                  <a:srgbClr val="FF0000"/>
                </a:solidFill>
                <a:latin typeface="黑体" panose="02010609060101010101" pitchFamily="49" charset="-122"/>
                <a:ea typeface="黑体" panose="02010609060101010101" pitchFamily="49" charset="-122"/>
              </a:rPr>
              <a:t>：</a:t>
            </a:r>
            <a:r>
              <a:rPr lang="zh-CN" altLang="en-US" sz="2800" dirty="0">
                <a:latin typeface="黑体" panose="02010609060101010101" pitchFamily="49" charset="-122"/>
                <a:ea typeface="黑体" panose="02010609060101010101" pitchFamily="49" charset="-122"/>
              </a:rPr>
              <a:t>如果二叉树终端结点数为</a:t>
            </a:r>
            <a:r>
              <a:rPr lang="en-US" altLang="zh-CN" sz="2800" dirty="0">
                <a:latin typeface="黑体" panose="02010609060101010101" pitchFamily="49" charset="-122"/>
                <a:ea typeface="黑体" panose="02010609060101010101" pitchFamily="49" charset="-122"/>
              </a:rPr>
              <a:t>n</a:t>
            </a:r>
            <a:r>
              <a:rPr lang="en-US" altLang="zh-CN" sz="2800" baseline="-25000" dirty="0">
                <a:latin typeface="黑体" panose="02010609060101010101" pitchFamily="49" charset="-122"/>
                <a:ea typeface="黑体" panose="02010609060101010101" pitchFamily="49" charset="-122"/>
              </a:rPr>
              <a:t>0</a:t>
            </a:r>
            <a:r>
              <a:rPr lang="en-US" altLang="zh-CN" sz="2800" dirty="0">
                <a:latin typeface="黑体" panose="02010609060101010101" pitchFamily="49" charset="-122"/>
                <a:ea typeface="黑体" panose="02010609060101010101" pitchFamily="49" charset="-122"/>
              </a:rPr>
              <a:t>，</a:t>
            </a:r>
            <a:r>
              <a:rPr lang="zh-CN" altLang="en-US" sz="2800" dirty="0">
                <a:latin typeface="黑体" panose="02010609060101010101" pitchFamily="49" charset="-122"/>
                <a:ea typeface="黑体" panose="02010609060101010101" pitchFamily="49" charset="-122"/>
              </a:rPr>
              <a:t>度为2的结点数</a:t>
            </a:r>
            <a:endParaRPr lang="en-US" altLang="zh-CN" sz="2800" dirty="0">
              <a:latin typeface="黑体" panose="02010609060101010101" pitchFamily="49" charset="-122"/>
              <a:ea typeface="黑体" panose="02010609060101010101" pitchFamily="49" charset="-122"/>
            </a:endParaRPr>
          </a:p>
          <a:p>
            <a:pPr marL="0" indent="0" eaLnBrk="1" hangingPunct="1">
              <a:lnSpc>
                <a:spcPct val="90000"/>
              </a:lnSpc>
              <a:spcBef>
                <a:spcPct val="30000"/>
              </a:spcBef>
              <a:buNone/>
            </a:pPr>
            <a:r>
              <a:rPr lang="en-US" altLang="zh-CN" dirty="0">
                <a:latin typeface="黑体" panose="02010609060101010101" pitchFamily="49" charset="-122"/>
                <a:ea typeface="黑体" panose="02010609060101010101" pitchFamily="49" charset="-122"/>
              </a:rPr>
              <a:t>       </a:t>
            </a:r>
            <a:r>
              <a:rPr lang="zh-CN" altLang="en-US" sz="2800" dirty="0">
                <a:latin typeface="黑体" panose="02010609060101010101" pitchFamily="49" charset="-122"/>
                <a:ea typeface="黑体" panose="02010609060101010101" pitchFamily="49" charset="-122"/>
              </a:rPr>
              <a:t>为</a:t>
            </a:r>
            <a:r>
              <a:rPr lang="en-US" altLang="zh-CN" sz="2800" dirty="0">
                <a:latin typeface="黑体" panose="02010609060101010101" pitchFamily="49" charset="-122"/>
                <a:ea typeface="黑体" panose="02010609060101010101" pitchFamily="49" charset="-122"/>
              </a:rPr>
              <a:t>n</a:t>
            </a:r>
            <a:r>
              <a:rPr lang="en-US" altLang="zh-CN" sz="2800" baseline="-25000" dirty="0">
                <a:latin typeface="黑体" panose="02010609060101010101" pitchFamily="49" charset="-122"/>
                <a:ea typeface="黑体" panose="02010609060101010101" pitchFamily="49" charset="-122"/>
              </a:rPr>
              <a:t>2</a:t>
            </a:r>
            <a:r>
              <a:rPr lang="zh-CN" altLang="en-US" sz="2800" dirty="0">
                <a:latin typeface="黑体" panose="02010609060101010101" pitchFamily="49" charset="-122"/>
                <a:ea typeface="黑体" panose="02010609060101010101" pitchFamily="49" charset="-122"/>
              </a:rPr>
              <a:t>，则</a:t>
            </a:r>
            <a:r>
              <a:rPr lang="en-US" altLang="zh-CN" sz="2800" dirty="0">
                <a:latin typeface="黑体" panose="02010609060101010101" pitchFamily="49" charset="-122"/>
                <a:ea typeface="黑体" panose="02010609060101010101" pitchFamily="49" charset="-122"/>
              </a:rPr>
              <a:t>n</a:t>
            </a:r>
            <a:r>
              <a:rPr lang="en-US" altLang="zh-CN" sz="2800" baseline="-25000" dirty="0">
                <a:latin typeface="黑体" panose="02010609060101010101" pitchFamily="49" charset="-122"/>
                <a:ea typeface="黑体" panose="02010609060101010101" pitchFamily="49" charset="-122"/>
              </a:rPr>
              <a:t>0</a:t>
            </a:r>
            <a:r>
              <a:rPr lang="en-US" altLang="zh-CN" sz="2800" dirty="0">
                <a:latin typeface="黑体" panose="02010609060101010101" pitchFamily="49" charset="-122"/>
                <a:ea typeface="黑体" panose="02010609060101010101" pitchFamily="49" charset="-122"/>
              </a:rPr>
              <a:t>=n</a:t>
            </a:r>
            <a:r>
              <a:rPr lang="en-US" altLang="zh-CN" sz="2800" baseline="-25000" dirty="0">
                <a:latin typeface="黑体" panose="02010609060101010101" pitchFamily="49" charset="-122"/>
                <a:ea typeface="黑体" panose="02010609060101010101" pitchFamily="49" charset="-122"/>
              </a:rPr>
              <a:t>2</a:t>
            </a:r>
            <a:r>
              <a:rPr lang="en-US" altLang="zh-CN" sz="2800" dirty="0">
                <a:latin typeface="黑体" panose="02010609060101010101" pitchFamily="49" charset="-122"/>
                <a:ea typeface="黑体" panose="02010609060101010101" pitchFamily="49" charset="-122"/>
              </a:rPr>
              <a:t>+1</a:t>
            </a:r>
            <a:endParaRPr lang="zh-CN" altLang="en-US" sz="2800" dirty="0">
              <a:latin typeface="黑体" panose="02010609060101010101" pitchFamily="49" charset="-122"/>
              <a:ea typeface="黑体" panose="02010609060101010101" pitchFamily="49" charset="-122"/>
            </a:endParaRPr>
          </a:p>
          <a:p>
            <a:pPr marL="0" indent="0" eaLnBrk="1" hangingPunct="1">
              <a:lnSpc>
                <a:spcPct val="90000"/>
              </a:lnSpc>
              <a:spcBef>
                <a:spcPct val="30000"/>
              </a:spcBef>
              <a:buNone/>
            </a:pPr>
            <a:r>
              <a:rPr lang="zh-CN" altLang="en-US" sz="2800" dirty="0">
                <a:solidFill>
                  <a:srgbClr val="FF0000"/>
                </a:solidFill>
                <a:latin typeface="黑体" panose="02010609060101010101" pitchFamily="49" charset="-122"/>
                <a:ea typeface="黑体" panose="02010609060101010101" pitchFamily="49" charset="-122"/>
              </a:rPr>
              <a:t>证明：</a:t>
            </a:r>
          </a:p>
          <a:p>
            <a:pPr eaLnBrk="1" hangingPunct="1">
              <a:lnSpc>
                <a:spcPct val="90000"/>
              </a:lnSpc>
              <a:spcBef>
                <a:spcPct val="30000"/>
              </a:spcBef>
              <a:buFont typeface="Wingdings" panose="05000000000000000000" pitchFamily="2" charset="2"/>
              <a:buNone/>
            </a:pPr>
            <a:r>
              <a:rPr lang="zh-CN" altLang="en-US" sz="2800" dirty="0">
                <a:latin typeface="黑体" panose="02010609060101010101" pitchFamily="49" charset="-122"/>
                <a:ea typeface="黑体" panose="02010609060101010101" pitchFamily="49" charset="-122"/>
              </a:rPr>
              <a:t>1.设</a:t>
            </a:r>
            <a:r>
              <a:rPr lang="en-US" altLang="zh-CN" sz="2800" dirty="0">
                <a:latin typeface="黑体" panose="02010609060101010101" pitchFamily="49" charset="-122"/>
                <a:ea typeface="黑体" panose="02010609060101010101" pitchFamily="49" charset="-122"/>
              </a:rPr>
              <a:t>n</a:t>
            </a:r>
            <a:r>
              <a:rPr lang="en-US" altLang="zh-CN" sz="2800" baseline="-25000" dirty="0">
                <a:latin typeface="黑体" panose="02010609060101010101" pitchFamily="49" charset="-122"/>
                <a:ea typeface="黑体" panose="02010609060101010101" pitchFamily="49" charset="-122"/>
              </a:rPr>
              <a:t>1</a:t>
            </a:r>
            <a:r>
              <a:rPr lang="zh-CN" altLang="en-US" sz="2800" dirty="0">
                <a:latin typeface="黑体" panose="02010609060101010101" pitchFamily="49" charset="-122"/>
                <a:ea typeface="黑体" panose="02010609060101010101" pitchFamily="49" charset="-122"/>
              </a:rPr>
              <a:t>为度为1的结点，则总结点数</a:t>
            </a:r>
            <a:r>
              <a:rPr lang="en-US" altLang="zh-CN" sz="2800" dirty="0">
                <a:latin typeface="黑体" panose="02010609060101010101" pitchFamily="49" charset="-122"/>
                <a:ea typeface="黑体" panose="02010609060101010101" pitchFamily="49" charset="-122"/>
              </a:rPr>
              <a:t>n= n</a:t>
            </a:r>
            <a:r>
              <a:rPr lang="en-US" altLang="zh-CN" sz="2800" baseline="-25000" dirty="0">
                <a:latin typeface="黑体" panose="02010609060101010101" pitchFamily="49" charset="-122"/>
                <a:ea typeface="黑体" panose="02010609060101010101" pitchFamily="49" charset="-122"/>
              </a:rPr>
              <a:t>0</a:t>
            </a:r>
            <a:r>
              <a:rPr lang="en-US" altLang="zh-CN" sz="2800" dirty="0">
                <a:latin typeface="黑体" panose="02010609060101010101" pitchFamily="49" charset="-122"/>
                <a:ea typeface="黑体" panose="02010609060101010101" pitchFamily="49" charset="-122"/>
              </a:rPr>
              <a:t>+n</a:t>
            </a:r>
            <a:r>
              <a:rPr lang="en-US" altLang="zh-CN" sz="2800" baseline="-25000" dirty="0">
                <a:latin typeface="黑体" panose="02010609060101010101" pitchFamily="49" charset="-122"/>
                <a:ea typeface="黑体" panose="02010609060101010101" pitchFamily="49" charset="-122"/>
              </a:rPr>
              <a:t>1</a:t>
            </a:r>
            <a:r>
              <a:rPr lang="en-US" altLang="zh-CN" sz="2800" dirty="0">
                <a:latin typeface="黑体" panose="02010609060101010101" pitchFamily="49" charset="-122"/>
                <a:ea typeface="黑体" panose="02010609060101010101" pitchFamily="49" charset="-122"/>
              </a:rPr>
              <a:t>+n</a:t>
            </a:r>
            <a:r>
              <a:rPr lang="en-US" altLang="zh-CN" sz="2800" baseline="-25000" dirty="0">
                <a:latin typeface="黑体" panose="02010609060101010101" pitchFamily="49" charset="-122"/>
                <a:ea typeface="黑体" panose="02010609060101010101" pitchFamily="49" charset="-122"/>
              </a:rPr>
              <a:t>2</a:t>
            </a:r>
            <a:endParaRPr lang="zh-CN" altLang="en-US" sz="2800" dirty="0">
              <a:latin typeface="黑体" panose="02010609060101010101" pitchFamily="49" charset="-122"/>
              <a:ea typeface="黑体" panose="02010609060101010101" pitchFamily="49" charset="-122"/>
            </a:endParaRPr>
          </a:p>
          <a:p>
            <a:pPr eaLnBrk="1" hangingPunct="1">
              <a:lnSpc>
                <a:spcPct val="90000"/>
              </a:lnSpc>
              <a:spcBef>
                <a:spcPct val="30000"/>
              </a:spcBef>
              <a:buFont typeface="Wingdings" panose="05000000000000000000" pitchFamily="2" charset="2"/>
              <a:buNone/>
            </a:pPr>
            <a:r>
              <a:rPr lang="zh-CN" altLang="en-US" sz="2800" dirty="0">
                <a:latin typeface="黑体" panose="02010609060101010101" pitchFamily="49" charset="-122"/>
                <a:ea typeface="黑体" panose="02010609060101010101" pitchFamily="49" charset="-122"/>
              </a:rPr>
              <a:t>2.设</a:t>
            </a:r>
            <a:r>
              <a:rPr lang="en-US" altLang="zh-CN" sz="2800" dirty="0">
                <a:latin typeface="黑体" panose="02010609060101010101" pitchFamily="49" charset="-122"/>
                <a:ea typeface="黑体" panose="02010609060101010101" pitchFamily="49" charset="-122"/>
              </a:rPr>
              <a:t>B</a:t>
            </a:r>
            <a:r>
              <a:rPr lang="zh-CN" altLang="en-US" sz="2800" dirty="0">
                <a:latin typeface="黑体" panose="02010609060101010101" pitchFamily="49" charset="-122"/>
                <a:ea typeface="黑体" panose="02010609060101010101" pitchFamily="49" charset="-122"/>
              </a:rPr>
              <a:t>为二叉树的分支数，除根结点外，每个结点有且只有一个分支，因此</a:t>
            </a:r>
            <a:r>
              <a:rPr lang="en-US" altLang="zh-CN" sz="2800" dirty="0">
                <a:latin typeface="黑体" panose="02010609060101010101" pitchFamily="49" charset="-122"/>
                <a:ea typeface="黑体" panose="02010609060101010101" pitchFamily="49" charset="-122"/>
              </a:rPr>
              <a:t>n=B+1</a:t>
            </a:r>
          </a:p>
          <a:p>
            <a:pPr eaLnBrk="1" hangingPunct="1">
              <a:lnSpc>
                <a:spcPct val="90000"/>
              </a:lnSpc>
              <a:spcBef>
                <a:spcPct val="30000"/>
              </a:spcBef>
              <a:buFont typeface="Wingdings" panose="05000000000000000000" pitchFamily="2" charset="2"/>
              <a:buNone/>
            </a:pPr>
            <a:r>
              <a:rPr lang="en-US" altLang="zh-CN" sz="2800" dirty="0">
                <a:latin typeface="黑体" panose="02010609060101010101" pitchFamily="49" charset="-122"/>
                <a:ea typeface="黑体" panose="02010609060101010101" pitchFamily="49" charset="-122"/>
              </a:rPr>
              <a:t>3.</a:t>
            </a:r>
            <a:r>
              <a:rPr lang="zh-CN" altLang="en-US" sz="2800" dirty="0">
                <a:latin typeface="黑体" panose="02010609060101010101" pitchFamily="49" charset="-122"/>
                <a:ea typeface="黑体" panose="02010609060101010101" pitchFamily="49" charset="-122"/>
              </a:rPr>
              <a:t>每个分支皆由度为1或2的结点发出，</a:t>
            </a:r>
            <a:r>
              <a:rPr lang="en-US" altLang="zh-CN" sz="2800" dirty="0">
                <a:latin typeface="黑体" panose="02010609060101010101" pitchFamily="49" charset="-122"/>
                <a:ea typeface="黑体" panose="02010609060101010101" pitchFamily="49" charset="-122"/>
              </a:rPr>
              <a:t>B=n</a:t>
            </a:r>
            <a:r>
              <a:rPr lang="en-US" altLang="zh-CN" sz="2800" baseline="-25000" dirty="0">
                <a:latin typeface="黑体" panose="02010609060101010101" pitchFamily="49" charset="-122"/>
                <a:ea typeface="黑体" panose="02010609060101010101" pitchFamily="49" charset="-122"/>
              </a:rPr>
              <a:t>1</a:t>
            </a:r>
            <a:r>
              <a:rPr lang="en-US" altLang="zh-CN" sz="2800" dirty="0">
                <a:latin typeface="黑体" panose="02010609060101010101" pitchFamily="49" charset="-122"/>
                <a:ea typeface="黑体" panose="02010609060101010101" pitchFamily="49" charset="-122"/>
              </a:rPr>
              <a:t>+2n</a:t>
            </a:r>
            <a:r>
              <a:rPr lang="en-US" altLang="zh-CN" sz="2800" baseline="-25000" dirty="0">
                <a:latin typeface="黑体" panose="02010609060101010101" pitchFamily="49" charset="-122"/>
                <a:ea typeface="黑体" panose="02010609060101010101" pitchFamily="49" charset="-122"/>
              </a:rPr>
              <a:t>2</a:t>
            </a:r>
          </a:p>
          <a:p>
            <a:pPr eaLnBrk="1" hangingPunct="1">
              <a:lnSpc>
                <a:spcPct val="90000"/>
              </a:lnSpc>
              <a:spcBef>
                <a:spcPct val="30000"/>
              </a:spcBef>
              <a:buFont typeface="Wingdings" panose="05000000000000000000" pitchFamily="2" charset="2"/>
              <a:buNone/>
            </a:pPr>
            <a:r>
              <a:rPr lang="en-US" altLang="zh-CN" sz="2800" dirty="0">
                <a:latin typeface="黑体" panose="02010609060101010101" pitchFamily="49" charset="-122"/>
                <a:ea typeface="黑体" panose="02010609060101010101" pitchFamily="49" charset="-122"/>
              </a:rPr>
              <a:t>4.n=B+1=(n</a:t>
            </a:r>
            <a:r>
              <a:rPr lang="en-US" altLang="zh-CN" sz="2800" baseline="-25000" dirty="0">
                <a:latin typeface="黑体" panose="02010609060101010101" pitchFamily="49" charset="-122"/>
                <a:ea typeface="黑体" panose="02010609060101010101" pitchFamily="49" charset="-122"/>
              </a:rPr>
              <a:t>1</a:t>
            </a:r>
            <a:r>
              <a:rPr lang="en-US" altLang="zh-CN" sz="2800" dirty="0">
                <a:latin typeface="黑体" panose="02010609060101010101" pitchFamily="49" charset="-122"/>
                <a:ea typeface="黑体" panose="02010609060101010101" pitchFamily="49" charset="-122"/>
              </a:rPr>
              <a:t>+2n</a:t>
            </a:r>
            <a:r>
              <a:rPr lang="en-US" altLang="zh-CN" sz="2800" baseline="-25000" dirty="0">
                <a:latin typeface="黑体" panose="02010609060101010101" pitchFamily="49" charset="-122"/>
                <a:ea typeface="黑体" panose="02010609060101010101" pitchFamily="49" charset="-122"/>
              </a:rPr>
              <a:t>2</a:t>
            </a:r>
            <a:r>
              <a:rPr lang="en-US" altLang="zh-CN" sz="2800" dirty="0">
                <a:latin typeface="黑体" panose="02010609060101010101" pitchFamily="49" charset="-122"/>
                <a:ea typeface="黑体" panose="02010609060101010101" pitchFamily="49" charset="-122"/>
              </a:rPr>
              <a:t>)+1 </a:t>
            </a:r>
            <a:r>
              <a:rPr lang="zh-CN" altLang="en-US" sz="2800" dirty="0">
                <a:latin typeface="黑体" panose="02010609060101010101" pitchFamily="49" charset="-122"/>
                <a:ea typeface="黑体" panose="02010609060101010101" pitchFamily="49" charset="-122"/>
              </a:rPr>
              <a:t>= </a:t>
            </a:r>
            <a:r>
              <a:rPr lang="en-US" altLang="zh-CN" sz="2800" dirty="0">
                <a:latin typeface="黑体" panose="02010609060101010101" pitchFamily="49" charset="-122"/>
                <a:ea typeface="黑体" panose="02010609060101010101" pitchFamily="49" charset="-122"/>
              </a:rPr>
              <a:t>n</a:t>
            </a:r>
            <a:r>
              <a:rPr lang="en-US" altLang="zh-CN" sz="2800" baseline="-25000" dirty="0">
                <a:latin typeface="黑体" panose="02010609060101010101" pitchFamily="49" charset="-122"/>
                <a:ea typeface="黑体" panose="02010609060101010101" pitchFamily="49" charset="-122"/>
              </a:rPr>
              <a:t>0</a:t>
            </a:r>
            <a:r>
              <a:rPr lang="en-US" altLang="zh-CN" sz="2800" dirty="0">
                <a:latin typeface="黑体" panose="02010609060101010101" pitchFamily="49" charset="-122"/>
                <a:ea typeface="黑体" panose="02010609060101010101" pitchFamily="49" charset="-122"/>
              </a:rPr>
              <a:t>+n</a:t>
            </a:r>
            <a:r>
              <a:rPr lang="en-US" altLang="zh-CN" sz="2800" baseline="-25000" dirty="0">
                <a:latin typeface="黑体" panose="02010609060101010101" pitchFamily="49" charset="-122"/>
                <a:ea typeface="黑体" panose="02010609060101010101" pitchFamily="49" charset="-122"/>
              </a:rPr>
              <a:t>1</a:t>
            </a:r>
            <a:r>
              <a:rPr lang="en-US" altLang="zh-CN" sz="2800" dirty="0">
                <a:latin typeface="黑体" panose="02010609060101010101" pitchFamily="49" charset="-122"/>
                <a:ea typeface="黑体" panose="02010609060101010101" pitchFamily="49" charset="-122"/>
              </a:rPr>
              <a:t>+n</a:t>
            </a:r>
            <a:r>
              <a:rPr lang="en-US" altLang="zh-CN" sz="2800" baseline="-25000" dirty="0">
                <a:latin typeface="黑体" panose="02010609060101010101" pitchFamily="49" charset="-122"/>
                <a:ea typeface="黑体" panose="02010609060101010101" pitchFamily="49" charset="-122"/>
              </a:rPr>
              <a:t>2</a:t>
            </a:r>
            <a:r>
              <a:rPr lang="zh-CN" altLang="en-US" sz="2800" dirty="0">
                <a:latin typeface="黑体" panose="02010609060101010101" pitchFamily="49" charset="-122"/>
                <a:ea typeface="黑体" panose="02010609060101010101" pitchFamily="49" charset="-122"/>
              </a:rPr>
              <a:t>，因此 </a:t>
            </a:r>
            <a:r>
              <a:rPr lang="en-US" altLang="zh-CN" sz="2800" dirty="0">
                <a:latin typeface="黑体" panose="02010609060101010101" pitchFamily="49" charset="-122"/>
                <a:ea typeface="黑体" panose="02010609060101010101" pitchFamily="49" charset="-122"/>
              </a:rPr>
              <a:t>n</a:t>
            </a:r>
            <a:r>
              <a:rPr lang="en-US" altLang="zh-CN" sz="2800" baseline="-25000" dirty="0">
                <a:latin typeface="黑体" panose="02010609060101010101" pitchFamily="49" charset="-122"/>
                <a:ea typeface="黑体" panose="02010609060101010101" pitchFamily="49" charset="-122"/>
              </a:rPr>
              <a:t>0</a:t>
            </a:r>
            <a:r>
              <a:rPr lang="en-US" altLang="zh-CN" sz="2800" dirty="0">
                <a:latin typeface="黑体" panose="02010609060101010101" pitchFamily="49" charset="-122"/>
                <a:ea typeface="黑体" panose="02010609060101010101" pitchFamily="49" charset="-122"/>
              </a:rPr>
              <a:t>=n</a:t>
            </a:r>
            <a:r>
              <a:rPr lang="en-US" altLang="zh-CN" sz="2800" baseline="-25000" dirty="0">
                <a:latin typeface="黑体" panose="02010609060101010101" pitchFamily="49" charset="-122"/>
                <a:ea typeface="黑体" panose="02010609060101010101" pitchFamily="49" charset="-122"/>
              </a:rPr>
              <a:t>2</a:t>
            </a:r>
            <a:r>
              <a:rPr lang="en-US" altLang="zh-CN" sz="2800" dirty="0">
                <a:latin typeface="黑体" panose="02010609060101010101" pitchFamily="49" charset="-122"/>
                <a:ea typeface="黑体" panose="02010609060101010101" pitchFamily="49" charset="-122"/>
              </a:rPr>
              <a:t>+1</a:t>
            </a:r>
            <a:endParaRPr lang="en-US" altLang="zh-CN" sz="2800" baseline="-25000" dirty="0">
              <a:latin typeface="黑体" panose="02010609060101010101" pitchFamily="49" charset="-122"/>
              <a:ea typeface="黑体" panose="02010609060101010101" pitchFamily="49" charset="-122"/>
            </a:endParaRPr>
          </a:p>
        </p:txBody>
      </p:sp>
      <p:sp>
        <p:nvSpPr>
          <p:cNvPr id="3" name="Text Box 4">
            <a:extLst>
              <a:ext uri="{FF2B5EF4-FFF2-40B4-BE49-F238E27FC236}">
                <a16:creationId xmlns:a16="http://schemas.microsoft.com/office/drawing/2014/main" id="{F6D12CA6-9E15-2558-72EB-46C684D8A2E1}"/>
              </a:ext>
            </a:extLst>
          </p:cNvPr>
          <p:cNvSpPr txBox="1">
            <a:spLocks noChangeArrowheads="1"/>
          </p:cNvSpPr>
          <p:nvPr/>
        </p:nvSpPr>
        <p:spPr bwMode="auto">
          <a:xfrm>
            <a:off x="76200" y="133127"/>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二叉树性质</a:t>
            </a:r>
          </a:p>
        </p:txBody>
      </p:sp>
      <p:sp>
        <p:nvSpPr>
          <p:cNvPr id="5" name="矩形 4">
            <a:extLst>
              <a:ext uri="{FF2B5EF4-FFF2-40B4-BE49-F238E27FC236}">
                <a16:creationId xmlns:a16="http://schemas.microsoft.com/office/drawing/2014/main" id="{8E7F7F4F-6E9C-9CF8-F896-34DF9DD9216D}"/>
              </a:ext>
            </a:extLst>
          </p:cNvPr>
          <p:cNvSpPr/>
          <p:nvPr/>
        </p:nvSpPr>
        <p:spPr bwMode="auto">
          <a:xfrm>
            <a:off x="539552" y="5610333"/>
            <a:ext cx="7632848" cy="954107"/>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r>
              <a:rPr lang="zh-CN" altLang="en-US" sz="2800" b="0" i="0" dirty="0">
                <a:solidFill>
                  <a:srgbClr val="FF0000"/>
                </a:solidFill>
                <a:latin typeface="黑体" panose="02010609060101010101" pitchFamily="49" charset="-122"/>
                <a:ea typeface="黑体" panose="02010609060101010101" pitchFamily="49" charset="-122"/>
              </a:rPr>
              <a:t>重要思想：从结点度角度分析和从分支数计算</a:t>
            </a:r>
            <a:endParaRPr lang="en-US" altLang="zh-CN" sz="2800" b="0" i="0" dirty="0">
              <a:solidFill>
                <a:srgbClr val="FF0000"/>
              </a:solidFill>
              <a:latin typeface="黑体" panose="02010609060101010101" pitchFamily="49" charset="-122"/>
              <a:ea typeface="黑体" panose="02010609060101010101" pitchFamily="49" charset="-122"/>
            </a:endParaRPr>
          </a:p>
          <a:p>
            <a:pPr marL="0" marR="0" indent="0" algn="l" defTabSz="914400" rtl="0" eaLnBrk="1" fontAlgn="base" latinLnBrk="0" hangingPunct="1">
              <a:lnSpc>
                <a:spcPct val="100000"/>
              </a:lnSpc>
              <a:spcBef>
                <a:spcPts val="0"/>
              </a:spcBef>
              <a:spcAft>
                <a:spcPct val="0"/>
              </a:spcAft>
              <a:buClrTx/>
              <a:buSzTx/>
              <a:buFontTx/>
              <a:buNone/>
              <a:tabLst/>
            </a:pPr>
            <a:r>
              <a:rPr lang="en-US" altLang="zh-CN" sz="2800" b="0" i="0" dirty="0">
                <a:solidFill>
                  <a:srgbClr val="FF0000"/>
                </a:solidFill>
                <a:latin typeface="黑体" panose="02010609060101010101" pitchFamily="49" charset="-122"/>
                <a:ea typeface="黑体" panose="02010609060101010101" pitchFamily="49" charset="-122"/>
              </a:rPr>
              <a:t>          </a:t>
            </a:r>
            <a:r>
              <a:rPr lang="zh-CN" altLang="en-US" sz="2800" b="0" i="0" dirty="0">
                <a:solidFill>
                  <a:srgbClr val="FF0000"/>
                </a:solidFill>
                <a:latin typeface="黑体" panose="02010609060101010101" pitchFamily="49" charset="-122"/>
                <a:ea typeface="黑体" panose="02010609060101010101" pitchFamily="49" charset="-122"/>
              </a:rPr>
              <a:t>总结点数！</a:t>
            </a:r>
            <a:endParaRPr kumimoji="0" lang="zh-CN" altLang="en-US" sz="2800" b="0" i="0" u="none" strike="noStrike" cap="none" normalizeH="0" baseline="0" dirty="0">
              <a:ln>
                <a:noFill/>
              </a:ln>
              <a:solidFill>
                <a:srgbClr val="FF0000"/>
              </a:solidFill>
              <a:effectLst/>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7413">
                                            <p:txEl>
                                              <p:pRg st="0" end="0"/>
                                            </p:txEl>
                                          </p:spTgt>
                                        </p:tgtEl>
                                        <p:attrNameLst>
                                          <p:attrName>style.visibility</p:attrName>
                                        </p:attrNameLst>
                                      </p:cBhvr>
                                      <p:to>
                                        <p:strVal val="visible"/>
                                      </p:to>
                                    </p:set>
                                    <p:animEffect transition="in" filter="strips(downRight)">
                                      <p:cBhvr>
                                        <p:cTn id="7" dur="500"/>
                                        <p:tgtEl>
                                          <p:spTgt spid="174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7413">
                                            <p:txEl>
                                              <p:pRg st="1" end="1"/>
                                            </p:txEl>
                                          </p:spTgt>
                                        </p:tgtEl>
                                        <p:attrNameLst>
                                          <p:attrName>style.visibility</p:attrName>
                                        </p:attrNameLst>
                                      </p:cBhvr>
                                      <p:to>
                                        <p:strVal val="visible"/>
                                      </p:to>
                                    </p:set>
                                    <p:animEffect transition="in" filter="strips(downRight)">
                                      <p:cBhvr>
                                        <p:cTn id="12" dur="500"/>
                                        <p:tgtEl>
                                          <p:spTgt spid="1741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17413">
                                            <p:txEl>
                                              <p:pRg st="2" end="2"/>
                                            </p:txEl>
                                          </p:spTgt>
                                        </p:tgtEl>
                                        <p:attrNameLst>
                                          <p:attrName>style.visibility</p:attrName>
                                        </p:attrNameLst>
                                      </p:cBhvr>
                                      <p:to>
                                        <p:strVal val="visible"/>
                                      </p:to>
                                    </p:set>
                                    <p:animEffect transition="in" filter="strips(downRight)">
                                      <p:cBhvr>
                                        <p:cTn id="17" dur="500"/>
                                        <p:tgtEl>
                                          <p:spTgt spid="1741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17413">
                                            <p:txEl>
                                              <p:pRg st="3" end="3"/>
                                            </p:txEl>
                                          </p:spTgt>
                                        </p:tgtEl>
                                        <p:attrNameLst>
                                          <p:attrName>style.visibility</p:attrName>
                                        </p:attrNameLst>
                                      </p:cBhvr>
                                      <p:to>
                                        <p:strVal val="visible"/>
                                      </p:to>
                                    </p:set>
                                    <p:animEffect transition="in" filter="strips(downRight)">
                                      <p:cBhvr>
                                        <p:cTn id="22" dur="500"/>
                                        <p:tgtEl>
                                          <p:spTgt spid="1741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17413">
                                            <p:txEl>
                                              <p:pRg st="4" end="4"/>
                                            </p:txEl>
                                          </p:spTgt>
                                        </p:tgtEl>
                                        <p:attrNameLst>
                                          <p:attrName>style.visibility</p:attrName>
                                        </p:attrNameLst>
                                      </p:cBhvr>
                                      <p:to>
                                        <p:strVal val="visible"/>
                                      </p:to>
                                    </p:set>
                                    <p:animEffect transition="in" filter="strips(downRight)">
                                      <p:cBhvr>
                                        <p:cTn id="27" dur="500"/>
                                        <p:tgtEl>
                                          <p:spTgt spid="1741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8" presetClass="entr" presetSubtype="6" fill="hold" grpId="0" nodeType="clickEffect">
                                  <p:stCondLst>
                                    <p:cond delay="0"/>
                                  </p:stCondLst>
                                  <p:childTnLst>
                                    <p:set>
                                      <p:cBhvr>
                                        <p:cTn id="31" dur="1" fill="hold">
                                          <p:stCondLst>
                                            <p:cond delay="0"/>
                                          </p:stCondLst>
                                        </p:cTn>
                                        <p:tgtEl>
                                          <p:spTgt spid="17413">
                                            <p:txEl>
                                              <p:pRg st="5" end="5"/>
                                            </p:txEl>
                                          </p:spTgt>
                                        </p:tgtEl>
                                        <p:attrNameLst>
                                          <p:attrName>style.visibility</p:attrName>
                                        </p:attrNameLst>
                                      </p:cBhvr>
                                      <p:to>
                                        <p:strVal val="visible"/>
                                      </p:to>
                                    </p:set>
                                    <p:animEffect transition="in" filter="strips(downRight)">
                                      <p:cBhvr>
                                        <p:cTn id="32" dur="500"/>
                                        <p:tgtEl>
                                          <p:spTgt spid="17413">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8" presetClass="entr" presetSubtype="6" fill="hold" grpId="0" nodeType="clickEffect">
                                  <p:stCondLst>
                                    <p:cond delay="0"/>
                                  </p:stCondLst>
                                  <p:childTnLst>
                                    <p:set>
                                      <p:cBhvr>
                                        <p:cTn id="36" dur="1" fill="hold">
                                          <p:stCondLst>
                                            <p:cond delay="0"/>
                                          </p:stCondLst>
                                        </p:cTn>
                                        <p:tgtEl>
                                          <p:spTgt spid="17413">
                                            <p:txEl>
                                              <p:pRg st="6" end="6"/>
                                            </p:txEl>
                                          </p:spTgt>
                                        </p:tgtEl>
                                        <p:attrNameLst>
                                          <p:attrName>style.visibility</p:attrName>
                                        </p:attrNameLst>
                                      </p:cBhvr>
                                      <p:to>
                                        <p:strVal val="visible"/>
                                      </p:to>
                                    </p:set>
                                    <p:animEffect transition="in" filter="strips(downRight)">
                                      <p:cBhvr>
                                        <p:cTn id="37" dur="500"/>
                                        <p:tgtEl>
                                          <p:spTgt spid="1741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3" grpId="0" build="p" autoUpdateAnimBg="0"/>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Text Box 3">
            <a:extLst>
              <a:ext uri="{FF2B5EF4-FFF2-40B4-BE49-F238E27FC236}">
                <a16:creationId xmlns:a16="http://schemas.microsoft.com/office/drawing/2014/main" id="{4E3279E9-DEB0-4FEB-BF5C-FB6A1194AD3D}"/>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95B877F8-0F1B-4044-A987-5F50BBC29E15}" type="slidenum">
              <a:rPr lang="zh-CN" altLang="en-US" sz="2400"/>
              <a:pPr algn="r" eaLnBrk="1" hangingPunct="1">
                <a:spcBef>
                  <a:spcPct val="50000"/>
                </a:spcBef>
                <a:buClrTx/>
                <a:buSzTx/>
                <a:buFont typeface="Arial" panose="020B0604020202020204" pitchFamily="34" charset="0"/>
                <a:buNone/>
              </a:pPr>
              <a:t>15</a:t>
            </a:fld>
            <a:endParaRPr lang="en-US" altLang="zh-CN" sz="2400"/>
          </a:p>
        </p:txBody>
      </p:sp>
      <p:sp>
        <p:nvSpPr>
          <p:cNvPr id="18437" name="Rectangle 5">
            <a:extLst>
              <a:ext uri="{FF2B5EF4-FFF2-40B4-BE49-F238E27FC236}">
                <a16:creationId xmlns:a16="http://schemas.microsoft.com/office/drawing/2014/main" id="{48B87155-808B-4522-960C-36D0C4E3F33D}"/>
              </a:ext>
            </a:extLst>
          </p:cNvPr>
          <p:cNvSpPr>
            <a:spLocks noGrp="1" noChangeArrowheads="1"/>
          </p:cNvSpPr>
          <p:nvPr>
            <p:ph type="body" idx="1"/>
          </p:nvPr>
        </p:nvSpPr>
        <p:spPr>
          <a:xfrm>
            <a:off x="486990" y="1257549"/>
            <a:ext cx="8763000" cy="1819275"/>
          </a:xfrm>
        </p:spPr>
        <p:txBody>
          <a:bodyPr/>
          <a:lstStyle/>
          <a:p>
            <a:pPr eaLnBrk="1" hangingPunct="1">
              <a:spcBef>
                <a:spcPct val="30000"/>
              </a:spcBef>
            </a:pPr>
            <a:r>
              <a:rPr lang="zh-CN" altLang="en-US" dirty="0">
                <a:solidFill>
                  <a:srgbClr val="FF0000"/>
                </a:solidFill>
                <a:latin typeface="黑体" panose="02010609060101010101" pitchFamily="49" charset="-122"/>
                <a:ea typeface="黑体" panose="02010609060101010101" pitchFamily="49" charset="-122"/>
              </a:rPr>
              <a:t>一个深度为</a:t>
            </a:r>
            <a:r>
              <a:rPr lang="en-US" altLang="zh-CN" dirty="0">
                <a:solidFill>
                  <a:srgbClr val="FF0000"/>
                </a:solidFill>
                <a:latin typeface="黑体" panose="02010609060101010101" pitchFamily="49" charset="-122"/>
                <a:ea typeface="黑体" panose="02010609060101010101" pitchFamily="49" charset="-122"/>
              </a:rPr>
              <a:t>k</a:t>
            </a:r>
            <a:r>
              <a:rPr lang="zh-CN" altLang="en-US" dirty="0">
                <a:solidFill>
                  <a:srgbClr val="FF0000"/>
                </a:solidFill>
                <a:latin typeface="黑体" panose="02010609060101010101" pitchFamily="49" charset="-122"/>
                <a:ea typeface="黑体" panose="02010609060101010101" pitchFamily="49" charset="-122"/>
              </a:rPr>
              <a:t>且有2</a:t>
            </a:r>
            <a:r>
              <a:rPr lang="en-US" altLang="zh-CN" baseline="30000" dirty="0">
                <a:solidFill>
                  <a:srgbClr val="FF0000"/>
                </a:solidFill>
                <a:latin typeface="黑体" panose="02010609060101010101" pitchFamily="49" charset="-122"/>
                <a:ea typeface="黑体" panose="02010609060101010101" pitchFamily="49" charset="-122"/>
              </a:rPr>
              <a:t>k</a:t>
            </a:r>
            <a:r>
              <a:rPr lang="en-US" altLang="zh-CN" dirty="0">
                <a:solidFill>
                  <a:srgbClr val="FF0000"/>
                </a:solidFill>
                <a:latin typeface="黑体" panose="02010609060101010101" pitchFamily="49" charset="-122"/>
                <a:ea typeface="黑体" panose="02010609060101010101" pitchFamily="49" charset="-122"/>
              </a:rPr>
              <a:t>-1</a:t>
            </a:r>
            <a:r>
              <a:rPr lang="zh-CN" altLang="en-US" dirty="0">
                <a:solidFill>
                  <a:srgbClr val="FF0000"/>
                </a:solidFill>
                <a:latin typeface="黑体" panose="02010609060101010101" pitchFamily="49" charset="-122"/>
                <a:ea typeface="黑体" panose="02010609060101010101" pitchFamily="49" charset="-122"/>
              </a:rPr>
              <a:t>个结点的二叉树</a:t>
            </a:r>
          </a:p>
          <a:p>
            <a:pPr eaLnBrk="1" hangingPunct="1">
              <a:spcBef>
                <a:spcPct val="30000"/>
              </a:spcBef>
            </a:pPr>
            <a:r>
              <a:rPr lang="zh-CN" altLang="en-US" dirty="0">
                <a:latin typeface="黑体" panose="02010609060101010101" pitchFamily="49" charset="-122"/>
                <a:ea typeface="黑体" panose="02010609060101010101" pitchFamily="49" charset="-122"/>
              </a:rPr>
              <a:t>每层上的结点数都是最大数</a:t>
            </a:r>
          </a:p>
          <a:p>
            <a:pPr eaLnBrk="1" hangingPunct="1">
              <a:spcBef>
                <a:spcPct val="30000"/>
              </a:spcBef>
            </a:pPr>
            <a:r>
              <a:rPr lang="zh-CN" altLang="en-US" dirty="0">
                <a:latin typeface="黑体" panose="02010609060101010101" pitchFamily="49" charset="-122"/>
                <a:ea typeface="黑体" panose="02010609060101010101" pitchFamily="49" charset="-122"/>
              </a:rPr>
              <a:t>对满二叉树可以自上而下、自左至右连续编号</a:t>
            </a:r>
            <a:endParaRPr lang="en-US" altLang="zh-CN" dirty="0">
              <a:latin typeface="黑体" panose="02010609060101010101" pitchFamily="49" charset="-122"/>
              <a:ea typeface="黑体" panose="02010609060101010101" pitchFamily="49" charset="-122"/>
            </a:endParaRPr>
          </a:p>
          <a:p>
            <a:pPr marL="0" indent="0" eaLnBrk="1" hangingPunct="1">
              <a:spcBef>
                <a:spcPct val="30000"/>
              </a:spcBef>
              <a:buNone/>
            </a:pPr>
            <a:r>
              <a:rPr lang="en-US" altLang="zh-CN" dirty="0">
                <a:latin typeface="黑体" panose="02010609060101010101" pitchFamily="49" charset="-122"/>
                <a:ea typeface="黑体" panose="02010609060101010101" pitchFamily="49" charset="-122"/>
              </a:rPr>
              <a:t>   </a:t>
            </a:r>
            <a:r>
              <a:rPr lang="zh-CN" altLang="en-US" dirty="0">
                <a:latin typeface="黑体" panose="02010609060101010101" pitchFamily="49" charset="-122"/>
                <a:ea typeface="黑体" panose="02010609060101010101" pitchFamily="49" charset="-122"/>
              </a:rPr>
              <a:t>（编号值：</a:t>
            </a:r>
            <a:r>
              <a:rPr lang="en-US" altLang="zh-CN" dirty="0">
                <a:latin typeface="黑体" panose="02010609060101010101" pitchFamily="49" charset="-122"/>
                <a:ea typeface="黑体" panose="02010609060101010101" pitchFamily="49" charset="-122"/>
              </a:rPr>
              <a:t>1…2</a:t>
            </a:r>
            <a:r>
              <a:rPr lang="en-US" altLang="zh-CN" baseline="30000" dirty="0">
                <a:latin typeface="黑体" panose="02010609060101010101" pitchFamily="49" charset="-122"/>
                <a:ea typeface="黑体" panose="02010609060101010101" pitchFamily="49" charset="-122"/>
              </a:rPr>
              <a:t>k</a:t>
            </a:r>
            <a:r>
              <a:rPr lang="en-US" altLang="zh-CN" dirty="0">
                <a:latin typeface="黑体" panose="02010609060101010101" pitchFamily="49" charset="-122"/>
                <a:ea typeface="黑体" panose="02010609060101010101" pitchFamily="49" charset="-122"/>
              </a:rPr>
              <a:t>-1,</a:t>
            </a:r>
            <a:r>
              <a:rPr lang="zh-CN" altLang="en-US" dirty="0">
                <a:latin typeface="黑体" panose="02010609060101010101" pitchFamily="49" charset="-122"/>
                <a:ea typeface="黑体" panose="02010609060101010101" pitchFamily="49" charset="-122"/>
              </a:rPr>
              <a:t>或从</a:t>
            </a:r>
            <a:r>
              <a:rPr lang="en-US" altLang="zh-CN" dirty="0">
                <a:latin typeface="黑体" panose="02010609060101010101" pitchFamily="49" charset="-122"/>
                <a:ea typeface="黑体" panose="02010609060101010101" pitchFamily="49" charset="-122"/>
              </a:rPr>
              <a:t>0</a:t>
            </a:r>
            <a:r>
              <a:rPr lang="zh-CN" altLang="en-US" dirty="0">
                <a:latin typeface="黑体" panose="02010609060101010101" pitchFamily="49" charset="-122"/>
                <a:ea typeface="黑体" panose="02010609060101010101" pitchFamily="49" charset="-122"/>
              </a:rPr>
              <a:t>开始</a:t>
            </a:r>
            <a:r>
              <a:rPr lang="en-US" altLang="zh-CN" dirty="0">
                <a:latin typeface="黑体" panose="02010609060101010101" pitchFamily="49" charset="-122"/>
                <a:ea typeface="黑体" panose="02010609060101010101" pitchFamily="49" charset="-122"/>
              </a:rPr>
              <a:t>)</a:t>
            </a:r>
            <a:endParaRPr lang="zh-CN" altLang="en-US" dirty="0">
              <a:latin typeface="黑体" panose="02010609060101010101" pitchFamily="49" charset="-122"/>
              <a:ea typeface="黑体" panose="02010609060101010101" pitchFamily="49" charset="-122"/>
            </a:endParaRPr>
          </a:p>
        </p:txBody>
      </p:sp>
      <p:grpSp>
        <p:nvGrpSpPr>
          <p:cNvPr id="18439" name="Group 7">
            <a:extLst>
              <a:ext uri="{FF2B5EF4-FFF2-40B4-BE49-F238E27FC236}">
                <a16:creationId xmlns:a16="http://schemas.microsoft.com/office/drawing/2014/main" id="{67718990-5A34-4CCF-8293-C78B41C9B060}"/>
              </a:ext>
            </a:extLst>
          </p:cNvPr>
          <p:cNvGrpSpPr>
            <a:grpSpLocks/>
          </p:cNvGrpSpPr>
          <p:nvPr/>
        </p:nvGrpSpPr>
        <p:grpSpPr bwMode="auto">
          <a:xfrm>
            <a:off x="4305300" y="3573016"/>
            <a:ext cx="4197350" cy="2652713"/>
            <a:chOff x="0" y="0"/>
            <a:chExt cx="2644" cy="1671"/>
          </a:xfrm>
        </p:grpSpPr>
        <p:sp>
          <p:nvSpPr>
            <p:cNvPr id="18440" name="Line 8">
              <a:extLst>
                <a:ext uri="{FF2B5EF4-FFF2-40B4-BE49-F238E27FC236}">
                  <a16:creationId xmlns:a16="http://schemas.microsoft.com/office/drawing/2014/main" id="{D691949F-DEC3-4E6C-970E-8AAF9C0E1B2D}"/>
                </a:ext>
              </a:extLst>
            </p:cNvPr>
            <p:cNvSpPr>
              <a:spLocks noChangeShapeType="1"/>
            </p:cNvSpPr>
            <p:nvPr/>
          </p:nvSpPr>
          <p:spPr bwMode="auto">
            <a:xfrm>
              <a:off x="1459" y="177"/>
              <a:ext cx="561" cy="355"/>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41" name="Line 9">
              <a:extLst>
                <a:ext uri="{FF2B5EF4-FFF2-40B4-BE49-F238E27FC236}">
                  <a16:creationId xmlns:a16="http://schemas.microsoft.com/office/drawing/2014/main" id="{7471FBE7-2A30-4245-B043-3BE655E83E2A}"/>
                </a:ext>
              </a:extLst>
            </p:cNvPr>
            <p:cNvSpPr>
              <a:spLocks noChangeShapeType="1"/>
            </p:cNvSpPr>
            <p:nvPr/>
          </p:nvSpPr>
          <p:spPr bwMode="auto">
            <a:xfrm flipH="1">
              <a:off x="730" y="139"/>
              <a:ext cx="581" cy="393"/>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42" name="Line 10">
              <a:extLst>
                <a:ext uri="{FF2B5EF4-FFF2-40B4-BE49-F238E27FC236}">
                  <a16:creationId xmlns:a16="http://schemas.microsoft.com/office/drawing/2014/main" id="{08A9C43C-F65F-49CB-BC90-64DC0D98AE12}"/>
                </a:ext>
              </a:extLst>
            </p:cNvPr>
            <p:cNvSpPr>
              <a:spLocks noChangeShapeType="1"/>
            </p:cNvSpPr>
            <p:nvPr/>
          </p:nvSpPr>
          <p:spPr bwMode="auto">
            <a:xfrm>
              <a:off x="2076" y="652"/>
              <a:ext cx="225" cy="293"/>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43" name="Line 11">
              <a:extLst>
                <a:ext uri="{FF2B5EF4-FFF2-40B4-BE49-F238E27FC236}">
                  <a16:creationId xmlns:a16="http://schemas.microsoft.com/office/drawing/2014/main" id="{50AE394A-1534-4CB7-BC69-EA75D041BC17}"/>
                </a:ext>
              </a:extLst>
            </p:cNvPr>
            <p:cNvSpPr>
              <a:spLocks noChangeShapeType="1"/>
            </p:cNvSpPr>
            <p:nvPr/>
          </p:nvSpPr>
          <p:spPr bwMode="auto">
            <a:xfrm flipH="1">
              <a:off x="1739" y="591"/>
              <a:ext cx="281" cy="35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44" name="Line 12">
              <a:extLst>
                <a:ext uri="{FF2B5EF4-FFF2-40B4-BE49-F238E27FC236}">
                  <a16:creationId xmlns:a16="http://schemas.microsoft.com/office/drawing/2014/main" id="{315AD057-E5F4-4A11-997A-9506AB0F106C}"/>
                </a:ext>
              </a:extLst>
            </p:cNvPr>
            <p:cNvSpPr>
              <a:spLocks noChangeShapeType="1"/>
            </p:cNvSpPr>
            <p:nvPr/>
          </p:nvSpPr>
          <p:spPr bwMode="auto">
            <a:xfrm>
              <a:off x="730" y="591"/>
              <a:ext cx="223" cy="35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45" name="Line 13">
              <a:extLst>
                <a:ext uri="{FF2B5EF4-FFF2-40B4-BE49-F238E27FC236}">
                  <a16:creationId xmlns:a16="http://schemas.microsoft.com/office/drawing/2014/main" id="{A8C3372A-88BF-4CB4-880D-C1115D6DA386}"/>
                </a:ext>
              </a:extLst>
            </p:cNvPr>
            <p:cNvSpPr>
              <a:spLocks noChangeShapeType="1"/>
            </p:cNvSpPr>
            <p:nvPr/>
          </p:nvSpPr>
          <p:spPr bwMode="auto">
            <a:xfrm flipH="1">
              <a:off x="336" y="652"/>
              <a:ext cx="282" cy="352"/>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46" name="Line 14">
              <a:extLst>
                <a:ext uri="{FF2B5EF4-FFF2-40B4-BE49-F238E27FC236}">
                  <a16:creationId xmlns:a16="http://schemas.microsoft.com/office/drawing/2014/main" id="{CC35C509-0E12-4956-9577-E93BD88F47B1}"/>
                </a:ext>
              </a:extLst>
            </p:cNvPr>
            <p:cNvSpPr>
              <a:spLocks noChangeShapeType="1"/>
            </p:cNvSpPr>
            <p:nvPr/>
          </p:nvSpPr>
          <p:spPr bwMode="auto">
            <a:xfrm>
              <a:off x="2357" y="1065"/>
              <a:ext cx="112" cy="35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47" name="Line 15">
              <a:extLst>
                <a:ext uri="{FF2B5EF4-FFF2-40B4-BE49-F238E27FC236}">
                  <a16:creationId xmlns:a16="http://schemas.microsoft.com/office/drawing/2014/main" id="{4084CE3E-D932-4011-974D-A8E98F4B33F8}"/>
                </a:ext>
              </a:extLst>
            </p:cNvPr>
            <p:cNvSpPr>
              <a:spLocks noChangeShapeType="1"/>
            </p:cNvSpPr>
            <p:nvPr/>
          </p:nvSpPr>
          <p:spPr bwMode="auto">
            <a:xfrm flipH="1">
              <a:off x="2133" y="1065"/>
              <a:ext cx="168" cy="41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48" name="Line 16">
              <a:extLst>
                <a:ext uri="{FF2B5EF4-FFF2-40B4-BE49-F238E27FC236}">
                  <a16:creationId xmlns:a16="http://schemas.microsoft.com/office/drawing/2014/main" id="{8BB39A87-5A64-481E-B21D-6E2283641D42}"/>
                </a:ext>
              </a:extLst>
            </p:cNvPr>
            <p:cNvSpPr>
              <a:spLocks noChangeShapeType="1"/>
            </p:cNvSpPr>
            <p:nvPr/>
          </p:nvSpPr>
          <p:spPr bwMode="auto">
            <a:xfrm>
              <a:off x="1739" y="1124"/>
              <a:ext cx="112" cy="355"/>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49" name="Line 17">
              <a:extLst>
                <a:ext uri="{FF2B5EF4-FFF2-40B4-BE49-F238E27FC236}">
                  <a16:creationId xmlns:a16="http://schemas.microsoft.com/office/drawing/2014/main" id="{76D5331F-9568-4C06-B559-864DA10729B1}"/>
                </a:ext>
              </a:extLst>
            </p:cNvPr>
            <p:cNvSpPr>
              <a:spLocks noChangeShapeType="1"/>
            </p:cNvSpPr>
            <p:nvPr/>
          </p:nvSpPr>
          <p:spPr bwMode="auto">
            <a:xfrm flipH="1">
              <a:off x="1459" y="1065"/>
              <a:ext cx="224" cy="41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50" name="Line 18">
              <a:extLst>
                <a:ext uri="{FF2B5EF4-FFF2-40B4-BE49-F238E27FC236}">
                  <a16:creationId xmlns:a16="http://schemas.microsoft.com/office/drawing/2014/main" id="{4F419EC8-1AB9-4592-BD87-B600B7232B8F}"/>
                </a:ext>
              </a:extLst>
            </p:cNvPr>
            <p:cNvSpPr>
              <a:spLocks noChangeShapeType="1"/>
            </p:cNvSpPr>
            <p:nvPr/>
          </p:nvSpPr>
          <p:spPr bwMode="auto">
            <a:xfrm>
              <a:off x="1009" y="1065"/>
              <a:ext cx="112" cy="35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51" name="Line 19">
              <a:extLst>
                <a:ext uri="{FF2B5EF4-FFF2-40B4-BE49-F238E27FC236}">
                  <a16:creationId xmlns:a16="http://schemas.microsoft.com/office/drawing/2014/main" id="{089844A7-81AE-4C65-8E6C-53C625D04CFF}"/>
                </a:ext>
              </a:extLst>
            </p:cNvPr>
            <p:cNvSpPr>
              <a:spLocks noChangeShapeType="1"/>
            </p:cNvSpPr>
            <p:nvPr/>
          </p:nvSpPr>
          <p:spPr bwMode="auto">
            <a:xfrm flipH="1">
              <a:off x="786" y="1065"/>
              <a:ext cx="167" cy="41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52" name="Line 20">
              <a:extLst>
                <a:ext uri="{FF2B5EF4-FFF2-40B4-BE49-F238E27FC236}">
                  <a16:creationId xmlns:a16="http://schemas.microsoft.com/office/drawing/2014/main" id="{813F5375-E5A4-4FAE-A52D-74E7D0DC70B6}"/>
                </a:ext>
              </a:extLst>
            </p:cNvPr>
            <p:cNvSpPr>
              <a:spLocks noChangeShapeType="1"/>
            </p:cNvSpPr>
            <p:nvPr/>
          </p:nvSpPr>
          <p:spPr bwMode="auto">
            <a:xfrm>
              <a:off x="394" y="1124"/>
              <a:ext cx="112" cy="355"/>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53" name="Line 21">
              <a:extLst>
                <a:ext uri="{FF2B5EF4-FFF2-40B4-BE49-F238E27FC236}">
                  <a16:creationId xmlns:a16="http://schemas.microsoft.com/office/drawing/2014/main" id="{AD6EFB8C-4A3C-4EAC-AAA9-FFC478F811B5}"/>
                </a:ext>
              </a:extLst>
            </p:cNvPr>
            <p:cNvSpPr>
              <a:spLocks noChangeShapeType="1"/>
            </p:cNvSpPr>
            <p:nvPr/>
          </p:nvSpPr>
          <p:spPr bwMode="auto">
            <a:xfrm flipH="1">
              <a:off x="112" y="1065"/>
              <a:ext cx="224" cy="41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54" name="Oval 22">
              <a:extLst>
                <a:ext uri="{FF2B5EF4-FFF2-40B4-BE49-F238E27FC236}">
                  <a16:creationId xmlns:a16="http://schemas.microsoft.com/office/drawing/2014/main" id="{E461A72E-7F1C-43D3-9AE6-EDEFB224380B}"/>
                </a:ext>
              </a:extLst>
            </p:cNvPr>
            <p:cNvSpPr>
              <a:spLocks noChangeArrowheads="1"/>
            </p:cNvSpPr>
            <p:nvPr/>
          </p:nvSpPr>
          <p:spPr bwMode="auto">
            <a:xfrm>
              <a:off x="0" y="1360"/>
              <a:ext cx="280" cy="296"/>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8455" name="Oval 23">
              <a:extLst>
                <a:ext uri="{FF2B5EF4-FFF2-40B4-BE49-F238E27FC236}">
                  <a16:creationId xmlns:a16="http://schemas.microsoft.com/office/drawing/2014/main" id="{1850BCEF-0AF9-4BEE-B772-4F898E44BD79}"/>
                </a:ext>
              </a:extLst>
            </p:cNvPr>
            <p:cNvSpPr>
              <a:spLocks noChangeArrowheads="1"/>
            </p:cNvSpPr>
            <p:nvPr/>
          </p:nvSpPr>
          <p:spPr bwMode="auto">
            <a:xfrm>
              <a:off x="336" y="1360"/>
              <a:ext cx="282" cy="296"/>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8456" name="Oval 24">
              <a:extLst>
                <a:ext uri="{FF2B5EF4-FFF2-40B4-BE49-F238E27FC236}">
                  <a16:creationId xmlns:a16="http://schemas.microsoft.com/office/drawing/2014/main" id="{15711208-5E3F-4F39-9AE3-B68B86400E8E}"/>
                </a:ext>
              </a:extLst>
            </p:cNvPr>
            <p:cNvSpPr>
              <a:spLocks noChangeArrowheads="1"/>
            </p:cNvSpPr>
            <p:nvPr/>
          </p:nvSpPr>
          <p:spPr bwMode="auto">
            <a:xfrm>
              <a:off x="674" y="1360"/>
              <a:ext cx="279" cy="296"/>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8457" name="Oval 25">
              <a:extLst>
                <a:ext uri="{FF2B5EF4-FFF2-40B4-BE49-F238E27FC236}">
                  <a16:creationId xmlns:a16="http://schemas.microsoft.com/office/drawing/2014/main" id="{5EE7DEF4-9011-465D-A359-28417DDEAEC1}"/>
                </a:ext>
              </a:extLst>
            </p:cNvPr>
            <p:cNvSpPr>
              <a:spLocks noChangeArrowheads="1"/>
            </p:cNvSpPr>
            <p:nvPr/>
          </p:nvSpPr>
          <p:spPr bwMode="auto">
            <a:xfrm>
              <a:off x="1009" y="1360"/>
              <a:ext cx="281" cy="296"/>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8458" name="Oval 26">
              <a:extLst>
                <a:ext uri="{FF2B5EF4-FFF2-40B4-BE49-F238E27FC236}">
                  <a16:creationId xmlns:a16="http://schemas.microsoft.com/office/drawing/2014/main" id="{479F3E58-0125-4964-B049-D7902A8C21CD}"/>
                </a:ext>
              </a:extLst>
            </p:cNvPr>
            <p:cNvSpPr>
              <a:spLocks noChangeArrowheads="1"/>
            </p:cNvSpPr>
            <p:nvPr/>
          </p:nvSpPr>
          <p:spPr bwMode="auto">
            <a:xfrm>
              <a:off x="1347" y="1360"/>
              <a:ext cx="280" cy="296"/>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8459" name="Oval 27">
              <a:extLst>
                <a:ext uri="{FF2B5EF4-FFF2-40B4-BE49-F238E27FC236}">
                  <a16:creationId xmlns:a16="http://schemas.microsoft.com/office/drawing/2014/main" id="{45C8F7AF-C71A-45B9-9B09-BFFE8B20D11E}"/>
                </a:ext>
              </a:extLst>
            </p:cNvPr>
            <p:cNvSpPr>
              <a:spLocks noChangeArrowheads="1"/>
            </p:cNvSpPr>
            <p:nvPr/>
          </p:nvSpPr>
          <p:spPr bwMode="auto">
            <a:xfrm>
              <a:off x="1683" y="1360"/>
              <a:ext cx="281" cy="296"/>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8460" name="Oval 28">
              <a:extLst>
                <a:ext uri="{FF2B5EF4-FFF2-40B4-BE49-F238E27FC236}">
                  <a16:creationId xmlns:a16="http://schemas.microsoft.com/office/drawing/2014/main" id="{E1812A98-86E9-4486-82F5-931078C9F68F}"/>
                </a:ext>
              </a:extLst>
            </p:cNvPr>
            <p:cNvSpPr>
              <a:spLocks noChangeArrowheads="1"/>
            </p:cNvSpPr>
            <p:nvPr/>
          </p:nvSpPr>
          <p:spPr bwMode="auto">
            <a:xfrm>
              <a:off x="2020" y="1360"/>
              <a:ext cx="281" cy="296"/>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8461" name="Oval 29">
              <a:extLst>
                <a:ext uri="{FF2B5EF4-FFF2-40B4-BE49-F238E27FC236}">
                  <a16:creationId xmlns:a16="http://schemas.microsoft.com/office/drawing/2014/main" id="{9946A3D6-02CA-4710-8752-F55F16A39804}"/>
                </a:ext>
              </a:extLst>
            </p:cNvPr>
            <p:cNvSpPr>
              <a:spLocks noChangeArrowheads="1"/>
            </p:cNvSpPr>
            <p:nvPr/>
          </p:nvSpPr>
          <p:spPr bwMode="auto">
            <a:xfrm>
              <a:off x="2357" y="1360"/>
              <a:ext cx="280" cy="296"/>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8462" name="Oval 30">
              <a:extLst>
                <a:ext uri="{FF2B5EF4-FFF2-40B4-BE49-F238E27FC236}">
                  <a16:creationId xmlns:a16="http://schemas.microsoft.com/office/drawing/2014/main" id="{3CC8F2C1-A506-4F71-98A1-B36DDBA47AA5}"/>
                </a:ext>
              </a:extLst>
            </p:cNvPr>
            <p:cNvSpPr>
              <a:spLocks noChangeArrowheads="1"/>
            </p:cNvSpPr>
            <p:nvPr/>
          </p:nvSpPr>
          <p:spPr bwMode="auto">
            <a:xfrm>
              <a:off x="224" y="886"/>
              <a:ext cx="282" cy="297"/>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8463" name="Oval 31">
              <a:extLst>
                <a:ext uri="{FF2B5EF4-FFF2-40B4-BE49-F238E27FC236}">
                  <a16:creationId xmlns:a16="http://schemas.microsoft.com/office/drawing/2014/main" id="{81F8F0F7-1DAB-42ED-9C06-5D8072F1BA27}"/>
                </a:ext>
              </a:extLst>
            </p:cNvPr>
            <p:cNvSpPr>
              <a:spLocks noChangeArrowheads="1"/>
            </p:cNvSpPr>
            <p:nvPr/>
          </p:nvSpPr>
          <p:spPr bwMode="auto">
            <a:xfrm>
              <a:off x="842" y="886"/>
              <a:ext cx="279" cy="297"/>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8464" name="Oval 32">
              <a:extLst>
                <a:ext uri="{FF2B5EF4-FFF2-40B4-BE49-F238E27FC236}">
                  <a16:creationId xmlns:a16="http://schemas.microsoft.com/office/drawing/2014/main" id="{2DAF62F1-8DF6-4120-8AB8-436A961CAD07}"/>
                </a:ext>
              </a:extLst>
            </p:cNvPr>
            <p:cNvSpPr>
              <a:spLocks noChangeArrowheads="1"/>
            </p:cNvSpPr>
            <p:nvPr/>
          </p:nvSpPr>
          <p:spPr bwMode="auto">
            <a:xfrm>
              <a:off x="1571" y="886"/>
              <a:ext cx="280" cy="297"/>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i="0" dirty="0">
                  <a:solidFill>
                    <a:srgbClr val="C1C1FF"/>
                  </a:solidFill>
                  <a:latin typeface="Times New Roman" panose="02020603050405020304" pitchFamily="18" charset="0"/>
                </a:rPr>
                <a:t>6</a:t>
              </a:r>
            </a:p>
          </p:txBody>
        </p:sp>
        <p:sp>
          <p:nvSpPr>
            <p:cNvPr id="18465" name="Oval 33">
              <a:extLst>
                <a:ext uri="{FF2B5EF4-FFF2-40B4-BE49-F238E27FC236}">
                  <a16:creationId xmlns:a16="http://schemas.microsoft.com/office/drawing/2014/main" id="{256237EC-20B8-4717-B617-23ABDA32CC08}"/>
                </a:ext>
              </a:extLst>
            </p:cNvPr>
            <p:cNvSpPr>
              <a:spLocks noChangeArrowheads="1"/>
            </p:cNvSpPr>
            <p:nvPr/>
          </p:nvSpPr>
          <p:spPr bwMode="auto">
            <a:xfrm>
              <a:off x="2164" y="886"/>
              <a:ext cx="305" cy="297"/>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8466" name="Oval 34">
              <a:extLst>
                <a:ext uri="{FF2B5EF4-FFF2-40B4-BE49-F238E27FC236}">
                  <a16:creationId xmlns:a16="http://schemas.microsoft.com/office/drawing/2014/main" id="{4F842CEA-9059-4494-803C-CADF6C121380}"/>
                </a:ext>
              </a:extLst>
            </p:cNvPr>
            <p:cNvSpPr>
              <a:spLocks noChangeArrowheads="1"/>
            </p:cNvSpPr>
            <p:nvPr/>
          </p:nvSpPr>
          <p:spPr bwMode="auto">
            <a:xfrm>
              <a:off x="562" y="414"/>
              <a:ext cx="280" cy="297"/>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i="0" dirty="0">
                  <a:solidFill>
                    <a:srgbClr val="C1C1FF"/>
                  </a:solidFill>
                  <a:latin typeface="Times New Roman" panose="02020603050405020304" pitchFamily="18" charset="0"/>
                </a:rPr>
                <a:t>2</a:t>
              </a:r>
              <a:endParaRPr lang="zh-CN" altLang="en-US" sz="2800" b="1" i="0" dirty="0">
                <a:latin typeface="Times New Roman" panose="02020603050405020304" pitchFamily="18" charset="0"/>
              </a:endParaRPr>
            </a:p>
          </p:txBody>
        </p:sp>
        <p:sp>
          <p:nvSpPr>
            <p:cNvPr id="18467" name="Oval 35">
              <a:extLst>
                <a:ext uri="{FF2B5EF4-FFF2-40B4-BE49-F238E27FC236}">
                  <a16:creationId xmlns:a16="http://schemas.microsoft.com/office/drawing/2014/main" id="{FE9D41C9-CA2A-486F-9E10-38A1D9A421DD}"/>
                </a:ext>
              </a:extLst>
            </p:cNvPr>
            <p:cNvSpPr>
              <a:spLocks noChangeArrowheads="1"/>
            </p:cNvSpPr>
            <p:nvPr/>
          </p:nvSpPr>
          <p:spPr bwMode="auto">
            <a:xfrm>
              <a:off x="1907" y="414"/>
              <a:ext cx="282" cy="297"/>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8468" name="Oval 36">
              <a:extLst>
                <a:ext uri="{FF2B5EF4-FFF2-40B4-BE49-F238E27FC236}">
                  <a16:creationId xmlns:a16="http://schemas.microsoft.com/office/drawing/2014/main" id="{D9DE6514-2961-4C33-9048-4D12B038315E}"/>
                </a:ext>
              </a:extLst>
            </p:cNvPr>
            <p:cNvSpPr>
              <a:spLocks noChangeArrowheads="1"/>
            </p:cNvSpPr>
            <p:nvPr/>
          </p:nvSpPr>
          <p:spPr bwMode="auto">
            <a:xfrm>
              <a:off x="1234" y="0"/>
              <a:ext cx="281" cy="296"/>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i="0" dirty="0">
                  <a:solidFill>
                    <a:srgbClr val="C1C1FF"/>
                  </a:solidFill>
                  <a:latin typeface="Times New Roman" panose="02020603050405020304" pitchFamily="18" charset="0"/>
                </a:rPr>
                <a:t>1</a:t>
              </a:r>
            </a:p>
          </p:txBody>
        </p:sp>
        <p:sp>
          <p:nvSpPr>
            <p:cNvPr id="18469" name="Rectangle 37">
              <a:extLst>
                <a:ext uri="{FF2B5EF4-FFF2-40B4-BE49-F238E27FC236}">
                  <a16:creationId xmlns:a16="http://schemas.microsoft.com/office/drawing/2014/main" id="{8123BD1D-FD7A-4AB1-B517-379C51BEC5F1}"/>
                </a:ext>
              </a:extLst>
            </p:cNvPr>
            <p:cNvSpPr>
              <a:spLocks noChangeArrowheads="1"/>
            </p:cNvSpPr>
            <p:nvPr/>
          </p:nvSpPr>
          <p:spPr bwMode="auto">
            <a:xfrm>
              <a:off x="2208" y="864"/>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1" i="0" dirty="0">
                  <a:solidFill>
                    <a:srgbClr val="C1C1FF"/>
                  </a:solidFill>
                  <a:latin typeface="Times New Roman" panose="02020603050405020304" pitchFamily="18" charset="0"/>
                </a:rPr>
                <a:t>7</a:t>
              </a:r>
            </a:p>
          </p:txBody>
        </p:sp>
        <p:sp>
          <p:nvSpPr>
            <p:cNvPr id="18470" name="Rectangle 38">
              <a:extLst>
                <a:ext uri="{FF2B5EF4-FFF2-40B4-BE49-F238E27FC236}">
                  <a16:creationId xmlns:a16="http://schemas.microsoft.com/office/drawing/2014/main" id="{023772A7-1DD0-4EF8-B4A6-32FAC8352300}"/>
                </a:ext>
              </a:extLst>
            </p:cNvPr>
            <p:cNvSpPr>
              <a:spLocks noChangeArrowheads="1"/>
            </p:cNvSpPr>
            <p:nvPr/>
          </p:nvSpPr>
          <p:spPr bwMode="auto">
            <a:xfrm>
              <a:off x="864" y="864"/>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1" i="0" dirty="0">
                  <a:solidFill>
                    <a:srgbClr val="C1C1FF"/>
                  </a:solidFill>
                  <a:latin typeface="Times New Roman" panose="02020603050405020304" pitchFamily="18" charset="0"/>
                </a:rPr>
                <a:t>5</a:t>
              </a:r>
            </a:p>
          </p:txBody>
        </p:sp>
        <p:sp>
          <p:nvSpPr>
            <p:cNvPr id="18471" name="Rectangle 39">
              <a:extLst>
                <a:ext uri="{FF2B5EF4-FFF2-40B4-BE49-F238E27FC236}">
                  <a16:creationId xmlns:a16="http://schemas.microsoft.com/office/drawing/2014/main" id="{8625A2AF-EEE7-41F8-8393-2F0EF484961C}"/>
                </a:ext>
              </a:extLst>
            </p:cNvPr>
            <p:cNvSpPr>
              <a:spLocks noChangeArrowheads="1"/>
            </p:cNvSpPr>
            <p:nvPr/>
          </p:nvSpPr>
          <p:spPr bwMode="auto">
            <a:xfrm>
              <a:off x="240" y="864"/>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1" i="0" dirty="0">
                  <a:solidFill>
                    <a:srgbClr val="C1C1FF"/>
                  </a:solidFill>
                  <a:latin typeface="Times New Roman" panose="02020603050405020304" pitchFamily="18" charset="0"/>
                </a:rPr>
                <a:t>4</a:t>
              </a:r>
            </a:p>
          </p:txBody>
        </p:sp>
        <p:sp>
          <p:nvSpPr>
            <p:cNvPr id="18472" name="Rectangle 40">
              <a:extLst>
                <a:ext uri="{FF2B5EF4-FFF2-40B4-BE49-F238E27FC236}">
                  <a16:creationId xmlns:a16="http://schemas.microsoft.com/office/drawing/2014/main" id="{896ACBC8-2154-4450-8595-12F68D4603F8}"/>
                </a:ext>
              </a:extLst>
            </p:cNvPr>
            <p:cNvSpPr>
              <a:spLocks noChangeArrowheads="1"/>
            </p:cNvSpPr>
            <p:nvPr/>
          </p:nvSpPr>
          <p:spPr bwMode="auto">
            <a:xfrm>
              <a:off x="1920" y="384"/>
              <a:ext cx="24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i="0" dirty="0">
                  <a:solidFill>
                    <a:srgbClr val="C1C1FF"/>
                  </a:solidFill>
                  <a:latin typeface="Times New Roman" panose="02020603050405020304" pitchFamily="18" charset="0"/>
                </a:rPr>
                <a:t>3</a:t>
              </a:r>
            </a:p>
          </p:txBody>
        </p:sp>
        <p:sp>
          <p:nvSpPr>
            <p:cNvPr id="18473" name="Rectangle 41">
              <a:extLst>
                <a:ext uri="{FF2B5EF4-FFF2-40B4-BE49-F238E27FC236}">
                  <a16:creationId xmlns:a16="http://schemas.microsoft.com/office/drawing/2014/main" id="{FAD6AC3B-821E-4181-85AA-31805D2D2B3F}"/>
                </a:ext>
              </a:extLst>
            </p:cNvPr>
            <p:cNvSpPr>
              <a:spLocks noChangeArrowheads="1"/>
            </p:cNvSpPr>
            <p:nvPr/>
          </p:nvSpPr>
          <p:spPr bwMode="auto">
            <a:xfrm>
              <a:off x="10" y="1344"/>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1" i="0" dirty="0">
                  <a:solidFill>
                    <a:srgbClr val="C1C1FF"/>
                  </a:solidFill>
                  <a:latin typeface="Times New Roman" panose="02020603050405020304" pitchFamily="18" charset="0"/>
                </a:rPr>
                <a:t>8</a:t>
              </a:r>
            </a:p>
          </p:txBody>
        </p:sp>
        <p:sp>
          <p:nvSpPr>
            <p:cNvPr id="18474" name="Rectangle 42">
              <a:extLst>
                <a:ext uri="{FF2B5EF4-FFF2-40B4-BE49-F238E27FC236}">
                  <a16:creationId xmlns:a16="http://schemas.microsoft.com/office/drawing/2014/main" id="{81517C37-A079-452B-AE33-93664295C7D1}"/>
                </a:ext>
              </a:extLst>
            </p:cNvPr>
            <p:cNvSpPr>
              <a:spLocks noChangeArrowheads="1"/>
            </p:cNvSpPr>
            <p:nvPr/>
          </p:nvSpPr>
          <p:spPr bwMode="auto">
            <a:xfrm>
              <a:off x="337" y="1344"/>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1" i="0" dirty="0">
                  <a:solidFill>
                    <a:srgbClr val="C1C1FF"/>
                  </a:solidFill>
                  <a:latin typeface="Times New Roman" panose="02020603050405020304" pitchFamily="18" charset="0"/>
                </a:rPr>
                <a:t>9</a:t>
              </a:r>
            </a:p>
          </p:txBody>
        </p:sp>
        <p:sp>
          <p:nvSpPr>
            <p:cNvPr id="18475" name="Rectangle 43">
              <a:extLst>
                <a:ext uri="{FF2B5EF4-FFF2-40B4-BE49-F238E27FC236}">
                  <a16:creationId xmlns:a16="http://schemas.microsoft.com/office/drawing/2014/main" id="{70DE02BC-9524-402B-B90F-C5E4E7DE8500}"/>
                </a:ext>
              </a:extLst>
            </p:cNvPr>
            <p:cNvSpPr>
              <a:spLocks noChangeArrowheads="1"/>
            </p:cNvSpPr>
            <p:nvPr/>
          </p:nvSpPr>
          <p:spPr bwMode="auto">
            <a:xfrm>
              <a:off x="600" y="1344"/>
              <a:ext cx="34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1" i="0" dirty="0">
                  <a:solidFill>
                    <a:srgbClr val="C1C1FF"/>
                  </a:solidFill>
                  <a:latin typeface="Times New Roman" panose="02020603050405020304" pitchFamily="18" charset="0"/>
                </a:rPr>
                <a:t>10</a:t>
              </a:r>
            </a:p>
          </p:txBody>
        </p:sp>
        <p:sp>
          <p:nvSpPr>
            <p:cNvPr id="18476" name="Rectangle 44">
              <a:extLst>
                <a:ext uri="{FF2B5EF4-FFF2-40B4-BE49-F238E27FC236}">
                  <a16:creationId xmlns:a16="http://schemas.microsoft.com/office/drawing/2014/main" id="{8F48CC31-1893-40D0-9765-0329AD937F98}"/>
                </a:ext>
              </a:extLst>
            </p:cNvPr>
            <p:cNvSpPr>
              <a:spLocks noChangeArrowheads="1"/>
            </p:cNvSpPr>
            <p:nvPr/>
          </p:nvSpPr>
          <p:spPr bwMode="auto">
            <a:xfrm>
              <a:off x="993" y="1344"/>
              <a:ext cx="34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1" i="0" dirty="0">
                  <a:solidFill>
                    <a:srgbClr val="C1C1FF"/>
                  </a:solidFill>
                  <a:latin typeface="Times New Roman" panose="02020603050405020304" pitchFamily="18" charset="0"/>
                </a:rPr>
                <a:t>11</a:t>
              </a:r>
            </a:p>
          </p:txBody>
        </p:sp>
        <p:sp>
          <p:nvSpPr>
            <p:cNvPr id="18477" name="Rectangle 45">
              <a:extLst>
                <a:ext uri="{FF2B5EF4-FFF2-40B4-BE49-F238E27FC236}">
                  <a16:creationId xmlns:a16="http://schemas.microsoft.com/office/drawing/2014/main" id="{FCF52505-079F-4FA7-81CA-62954A4D7BE6}"/>
                </a:ext>
              </a:extLst>
            </p:cNvPr>
            <p:cNvSpPr>
              <a:spLocks noChangeArrowheads="1"/>
            </p:cNvSpPr>
            <p:nvPr/>
          </p:nvSpPr>
          <p:spPr bwMode="auto">
            <a:xfrm>
              <a:off x="1650" y="1344"/>
              <a:ext cx="40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1" i="0" dirty="0">
                  <a:solidFill>
                    <a:srgbClr val="C1C1FF"/>
                  </a:solidFill>
                  <a:latin typeface="Times New Roman" panose="02020603050405020304" pitchFamily="18" charset="0"/>
                </a:rPr>
                <a:t>13</a:t>
              </a:r>
            </a:p>
          </p:txBody>
        </p:sp>
        <p:sp>
          <p:nvSpPr>
            <p:cNvPr id="18478" name="Rectangle 46">
              <a:extLst>
                <a:ext uri="{FF2B5EF4-FFF2-40B4-BE49-F238E27FC236}">
                  <a16:creationId xmlns:a16="http://schemas.microsoft.com/office/drawing/2014/main" id="{B2062C53-BA48-49C1-8BD9-6E0B50BE8892}"/>
                </a:ext>
              </a:extLst>
            </p:cNvPr>
            <p:cNvSpPr>
              <a:spLocks noChangeArrowheads="1"/>
            </p:cNvSpPr>
            <p:nvPr/>
          </p:nvSpPr>
          <p:spPr bwMode="auto">
            <a:xfrm>
              <a:off x="1977" y="1344"/>
              <a:ext cx="34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1" i="0" dirty="0">
                  <a:solidFill>
                    <a:srgbClr val="C1C1FF"/>
                  </a:solidFill>
                  <a:latin typeface="Times New Roman" panose="02020603050405020304" pitchFamily="18" charset="0"/>
                </a:rPr>
                <a:t>14</a:t>
              </a:r>
            </a:p>
          </p:txBody>
        </p:sp>
        <p:sp>
          <p:nvSpPr>
            <p:cNvPr id="18479" name="Rectangle 47">
              <a:extLst>
                <a:ext uri="{FF2B5EF4-FFF2-40B4-BE49-F238E27FC236}">
                  <a16:creationId xmlns:a16="http://schemas.microsoft.com/office/drawing/2014/main" id="{B8A35D09-2EB8-4E33-AA34-CC3F3F15C69C}"/>
                </a:ext>
              </a:extLst>
            </p:cNvPr>
            <p:cNvSpPr>
              <a:spLocks noChangeArrowheads="1"/>
            </p:cNvSpPr>
            <p:nvPr/>
          </p:nvSpPr>
          <p:spPr bwMode="auto">
            <a:xfrm>
              <a:off x="2304" y="1344"/>
              <a:ext cx="34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1" i="0" dirty="0">
                  <a:solidFill>
                    <a:srgbClr val="C1C1FF"/>
                  </a:solidFill>
                  <a:latin typeface="Times New Roman" panose="02020603050405020304" pitchFamily="18" charset="0"/>
                </a:rPr>
                <a:t>15</a:t>
              </a:r>
            </a:p>
          </p:txBody>
        </p:sp>
        <p:sp>
          <p:nvSpPr>
            <p:cNvPr id="18480" name="Rectangle 48">
              <a:extLst>
                <a:ext uri="{FF2B5EF4-FFF2-40B4-BE49-F238E27FC236}">
                  <a16:creationId xmlns:a16="http://schemas.microsoft.com/office/drawing/2014/main" id="{525E825A-D990-44E2-86DA-3E2438647D9A}"/>
                </a:ext>
              </a:extLst>
            </p:cNvPr>
            <p:cNvSpPr>
              <a:spLocks noChangeArrowheads="1"/>
            </p:cNvSpPr>
            <p:nvPr/>
          </p:nvSpPr>
          <p:spPr bwMode="auto">
            <a:xfrm>
              <a:off x="1321" y="1344"/>
              <a:ext cx="34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1" i="0" dirty="0">
                  <a:solidFill>
                    <a:srgbClr val="C1C1FF"/>
                  </a:solidFill>
                  <a:latin typeface="Times New Roman" panose="02020603050405020304" pitchFamily="18" charset="0"/>
                </a:rPr>
                <a:t>12</a:t>
              </a:r>
            </a:p>
          </p:txBody>
        </p:sp>
      </p:grpSp>
      <p:sp>
        <p:nvSpPr>
          <p:cNvPr id="3" name="Text Box 4">
            <a:extLst>
              <a:ext uri="{FF2B5EF4-FFF2-40B4-BE49-F238E27FC236}">
                <a16:creationId xmlns:a16="http://schemas.microsoft.com/office/drawing/2014/main" id="{057864BA-B8AD-BEA0-9441-279E5998B65A}"/>
              </a:ext>
            </a:extLst>
          </p:cNvPr>
          <p:cNvSpPr txBox="1">
            <a:spLocks noChangeArrowheads="1"/>
          </p:cNvSpPr>
          <p:nvPr/>
        </p:nvSpPr>
        <p:spPr bwMode="auto">
          <a:xfrm>
            <a:off x="76200" y="133127"/>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满二叉树</a:t>
            </a:r>
          </a:p>
        </p:txBody>
      </p:sp>
      <p:sp>
        <p:nvSpPr>
          <p:cNvPr id="5" name="文本框 4">
            <a:extLst>
              <a:ext uri="{FF2B5EF4-FFF2-40B4-BE49-F238E27FC236}">
                <a16:creationId xmlns:a16="http://schemas.microsoft.com/office/drawing/2014/main" id="{05557D1E-A365-DD8C-EAE0-A37097448EDF}"/>
              </a:ext>
            </a:extLst>
          </p:cNvPr>
          <p:cNvSpPr txBox="1"/>
          <p:nvPr/>
        </p:nvSpPr>
        <p:spPr>
          <a:xfrm>
            <a:off x="5797550" y="1794375"/>
            <a:ext cx="3641846" cy="523220"/>
          </a:xfrm>
          <a:prstGeom prst="rect">
            <a:avLst/>
          </a:prstGeom>
          <a:noFill/>
        </p:spPr>
        <p:txBody>
          <a:bodyPr wrap="square" rtlCol="0">
            <a:spAutoFit/>
          </a:bodyPr>
          <a:lstStyle/>
          <a:p>
            <a:r>
              <a:rPr lang="zh-CN" altLang="en-US" sz="2800" b="0" i="0" dirty="0">
                <a:solidFill>
                  <a:srgbClr val="FF0000"/>
                </a:solidFill>
                <a:latin typeface="+mn-ea"/>
                <a:ea typeface="+mn-ea"/>
              </a:rPr>
              <a:t>分支结点度均为</a:t>
            </a:r>
            <a:r>
              <a:rPr lang="en-US" altLang="zh-CN" sz="2800" b="0" i="0" dirty="0">
                <a:solidFill>
                  <a:srgbClr val="FF0000"/>
                </a:solidFill>
                <a:latin typeface="+mn-ea"/>
                <a:ea typeface="+mn-ea"/>
              </a:rPr>
              <a:t>2</a:t>
            </a:r>
            <a:endParaRPr lang="zh-CN" altLang="en-US" sz="2800" b="0" i="0" dirty="0">
              <a:solidFill>
                <a:srgbClr val="FF0000"/>
              </a:solidFill>
              <a:latin typeface="+mn-ea"/>
              <a:ea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8437">
                                            <p:txEl>
                                              <p:pRg st="0" end="0"/>
                                            </p:txEl>
                                          </p:spTgt>
                                        </p:tgtEl>
                                        <p:attrNameLst>
                                          <p:attrName>style.visibility</p:attrName>
                                        </p:attrNameLst>
                                      </p:cBhvr>
                                      <p:to>
                                        <p:strVal val="visible"/>
                                      </p:to>
                                    </p:set>
                                    <p:animEffect transition="in" filter="strips(downRight)">
                                      <p:cBhvr>
                                        <p:cTn id="7" dur="500"/>
                                        <p:tgtEl>
                                          <p:spTgt spid="1843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nodeType="clickEffect">
                                  <p:stCondLst>
                                    <p:cond delay="0"/>
                                  </p:stCondLst>
                                  <p:childTnLst>
                                    <p:set>
                                      <p:cBhvr>
                                        <p:cTn id="11" dur="1" fill="hold">
                                          <p:stCondLst>
                                            <p:cond delay="0"/>
                                          </p:stCondLst>
                                        </p:cTn>
                                        <p:tgtEl>
                                          <p:spTgt spid="18439"/>
                                        </p:tgtEl>
                                        <p:attrNameLst>
                                          <p:attrName>style.visibility</p:attrName>
                                        </p:attrNameLst>
                                      </p:cBhvr>
                                      <p:to>
                                        <p:strVal val="visible"/>
                                      </p:to>
                                    </p:set>
                                    <p:animEffect transition="in" filter="strips(downRight)">
                                      <p:cBhvr>
                                        <p:cTn id="12" dur="500"/>
                                        <p:tgtEl>
                                          <p:spTgt spid="1843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18437">
                                            <p:txEl>
                                              <p:pRg st="1" end="1"/>
                                            </p:txEl>
                                          </p:spTgt>
                                        </p:tgtEl>
                                        <p:attrNameLst>
                                          <p:attrName>style.visibility</p:attrName>
                                        </p:attrNameLst>
                                      </p:cBhvr>
                                      <p:to>
                                        <p:strVal val="visible"/>
                                      </p:to>
                                    </p:set>
                                    <p:animEffect transition="in" filter="strips(downRight)">
                                      <p:cBhvr>
                                        <p:cTn id="17" dur="500"/>
                                        <p:tgtEl>
                                          <p:spTgt spid="1843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18" presetClass="entr" presetSubtype="6" fill="hold" grpId="0" nodeType="clickEffect">
                                  <p:stCondLst>
                                    <p:cond delay="0"/>
                                  </p:stCondLst>
                                  <p:childTnLst>
                                    <p:set>
                                      <p:cBhvr>
                                        <p:cTn id="25" dur="1" fill="hold">
                                          <p:stCondLst>
                                            <p:cond delay="0"/>
                                          </p:stCondLst>
                                        </p:cTn>
                                        <p:tgtEl>
                                          <p:spTgt spid="18437">
                                            <p:txEl>
                                              <p:pRg st="2" end="2"/>
                                            </p:txEl>
                                          </p:spTgt>
                                        </p:tgtEl>
                                        <p:attrNameLst>
                                          <p:attrName>style.visibility</p:attrName>
                                        </p:attrNameLst>
                                      </p:cBhvr>
                                      <p:to>
                                        <p:strVal val="visible"/>
                                      </p:to>
                                    </p:set>
                                    <p:animEffect transition="in" filter="strips(downRight)">
                                      <p:cBhvr>
                                        <p:cTn id="26" dur="500"/>
                                        <p:tgtEl>
                                          <p:spTgt spid="18437">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8" presetClass="entr" presetSubtype="6" fill="hold" grpId="0" nodeType="clickEffect">
                                  <p:stCondLst>
                                    <p:cond delay="0"/>
                                  </p:stCondLst>
                                  <p:childTnLst>
                                    <p:set>
                                      <p:cBhvr>
                                        <p:cTn id="30" dur="1" fill="hold">
                                          <p:stCondLst>
                                            <p:cond delay="0"/>
                                          </p:stCondLst>
                                        </p:cTn>
                                        <p:tgtEl>
                                          <p:spTgt spid="18437">
                                            <p:txEl>
                                              <p:pRg st="3" end="3"/>
                                            </p:txEl>
                                          </p:spTgt>
                                        </p:tgtEl>
                                        <p:attrNameLst>
                                          <p:attrName>style.visibility</p:attrName>
                                        </p:attrNameLst>
                                      </p:cBhvr>
                                      <p:to>
                                        <p:strVal val="visible"/>
                                      </p:to>
                                    </p:set>
                                    <p:animEffect transition="in" filter="strips(downRight)">
                                      <p:cBhvr>
                                        <p:cTn id="31" dur="500"/>
                                        <p:tgtEl>
                                          <p:spTgt spid="1843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7" grpId="0" uiExpand="1" build="p" autoUpdateAnimBg="0"/>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Text Box 3">
            <a:extLst>
              <a:ext uri="{FF2B5EF4-FFF2-40B4-BE49-F238E27FC236}">
                <a16:creationId xmlns:a16="http://schemas.microsoft.com/office/drawing/2014/main" id="{7EA4BE82-75CD-4D4F-9055-2193647EBA64}"/>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B0410719-B865-4387-B044-0EA20FE11F6A}" type="slidenum">
              <a:rPr lang="zh-CN" altLang="en-US" sz="2400"/>
              <a:pPr algn="r" eaLnBrk="1" hangingPunct="1">
                <a:spcBef>
                  <a:spcPct val="50000"/>
                </a:spcBef>
                <a:buClrTx/>
                <a:buSzTx/>
                <a:buFont typeface="Arial" panose="020B0604020202020204" pitchFamily="34" charset="0"/>
                <a:buNone/>
              </a:pPr>
              <a:t>16</a:t>
            </a:fld>
            <a:endParaRPr lang="en-US" altLang="zh-CN" sz="2400"/>
          </a:p>
        </p:txBody>
      </p:sp>
      <p:sp>
        <p:nvSpPr>
          <p:cNvPr id="19461" name="Rectangle 5">
            <a:extLst>
              <a:ext uri="{FF2B5EF4-FFF2-40B4-BE49-F238E27FC236}">
                <a16:creationId xmlns:a16="http://schemas.microsoft.com/office/drawing/2014/main" id="{7D3BFE33-3926-4C7B-9CD7-0D0095BA0067}"/>
              </a:ext>
            </a:extLst>
          </p:cNvPr>
          <p:cNvSpPr>
            <a:spLocks noGrp="1" noChangeArrowheads="1"/>
          </p:cNvSpPr>
          <p:nvPr>
            <p:ph type="body" idx="1"/>
          </p:nvPr>
        </p:nvSpPr>
        <p:spPr>
          <a:xfrm>
            <a:off x="541280" y="1277468"/>
            <a:ext cx="8602720" cy="2151532"/>
          </a:xfrm>
        </p:spPr>
        <p:txBody>
          <a:bodyPr/>
          <a:lstStyle/>
          <a:p>
            <a:pPr eaLnBrk="1" hangingPunct="1">
              <a:spcBef>
                <a:spcPct val="30000"/>
              </a:spcBef>
            </a:pPr>
            <a:r>
              <a:rPr lang="zh-CN" altLang="en-US" dirty="0">
                <a:solidFill>
                  <a:srgbClr val="FF0000"/>
                </a:solidFill>
                <a:latin typeface="黑体" panose="02010609060101010101" pitchFamily="49" charset="-122"/>
                <a:ea typeface="黑体" panose="02010609060101010101" pitchFamily="49" charset="-122"/>
              </a:rPr>
              <a:t>当且仅当每一个结点都与深度相同的满二叉树中编号从1到</a:t>
            </a:r>
            <a:r>
              <a:rPr lang="en-US" altLang="zh-CN" dirty="0">
                <a:solidFill>
                  <a:srgbClr val="FF0000"/>
                </a:solidFill>
                <a:latin typeface="黑体" panose="02010609060101010101" pitchFamily="49" charset="-122"/>
                <a:ea typeface="黑体" panose="02010609060101010101" pitchFamily="49" charset="-122"/>
              </a:rPr>
              <a:t>n</a:t>
            </a:r>
            <a:r>
              <a:rPr lang="zh-CN" altLang="en-US" dirty="0">
                <a:solidFill>
                  <a:srgbClr val="FF0000"/>
                </a:solidFill>
                <a:latin typeface="黑体" panose="02010609060101010101" pitchFamily="49" charset="-122"/>
                <a:ea typeface="黑体" panose="02010609060101010101" pitchFamily="49" charset="-122"/>
              </a:rPr>
              <a:t>的结点一一对应的二叉树</a:t>
            </a:r>
          </a:p>
          <a:p>
            <a:pPr eaLnBrk="1" hangingPunct="1">
              <a:spcBef>
                <a:spcPct val="30000"/>
              </a:spcBef>
            </a:pPr>
            <a:r>
              <a:rPr lang="zh-CN" altLang="en-US" dirty="0">
                <a:latin typeface="黑体" panose="02010609060101010101" pitchFamily="49" charset="-122"/>
                <a:ea typeface="黑体" panose="02010609060101010101" pitchFamily="49" charset="-122"/>
              </a:rPr>
              <a:t>叶子结点只在最大两层上出现</a:t>
            </a:r>
          </a:p>
          <a:p>
            <a:pPr eaLnBrk="1" hangingPunct="1">
              <a:spcBef>
                <a:spcPct val="30000"/>
              </a:spcBef>
            </a:pPr>
            <a:r>
              <a:rPr lang="zh-CN" altLang="en-US" dirty="0">
                <a:latin typeface="黑体" panose="02010609060101010101" pitchFamily="49" charset="-122"/>
                <a:ea typeface="黑体" panose="02010609060101010101" pitchFamily="49" charset="-122"/>
              </a:rPr>
              <a:t>左子树深度与右子树深度相等或大１</a:t>
            </a:r>
          </a:p>
        </p:txBody>
      </p:sp>
      <p:grpSp>
        <p:nvGrpSpPr>
          <p:cNvPr id="19463" name="Group 7">
            <a:extLst>
              <a:ext uri="{FF2B5EF4-FFF2-40B4-BE49-F238E27FC236}">
                <a16:creationId xmlns:a16="http://schemas.microsoft.com/office/drawing/2014/main" id="{20C61564-F344-4218-B320-D1EAE5C155BC}"/>
              </a:ext>
            </a:extLst>
          </p:cNvPr>
          <p:cNvGrpSpPr>
            <a:grpSpLocks/>
          </p:cNvGrpSpPr>
          <p:nvPr/>
        </p:nvGrpSpPr>
        <p:grpSpPr bwMode="auto">
          <a:xfrm>
            <a:off x="4900190" y="3625041"/>
            <a:ext cx="3919538" cy="2652712"/>
            <a:chOff x="0" y="0"/>
            <a:chExt cx="2469" cy="1671"/>
          </a:xfrm>
        </p:grpSpPr>
        <p:sp>
          <p:nvSpPr>
            <p:cNvPr id="19464" name="Line 8">
              <a:extLst>
                <a:ext uri="{FF2B5EF4-FFF2-40B4-BE49-F238E27FC236}">
                  <a16:creationId xmlns:a16="http://schemas.microsoft.com/office/drawing/2014/main" id="{F8D083C8-8E0F-44CE-847A-3FBFDF74DCF6}"/>
                </a:ext>
              </a:extLst>
            </p:cNvPr>
            <p:cNvSpPr>
              <a:spLocks noChangeShapeType="1"/>
            </p:cNvSpPr>
            <p:nvPr/>
          </p:nvSpPr>
          <p:spPr bwMode="auto">
            <a:xfrm>
              <a:off x="1459" y="177"/>
              <a:ext cx="561" cy="355"/>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65" name="Line 9">
              <a:extLst>
                <a:ext uri="{FF2B5EF4-FFF2-40B4-BE49-F238E27FC236}">
                  <a16:creationId xmlns:a16="http://schemas.microsoft.com/office/drawing/2014/main" id="{2A313A6D-4844-4BA6-BC96-36ACCCAD389E}"/>
                </a:ext>
              </a:extLst>
            </p:cNvPr>
            <p:cNvSpPr>
              <a:spLocks noChangeShapeType="1"/>
            </p:cNvSpPr>
            <p:nvPr/>
          </p:nvSpPr>
          <p:spPr bwMode="auto">
            <a:xfrm flipH="1">
              <a:off x="730" y="139"/>
              <a:ext cx="581" cy="393"/>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66" name="Line 10">
              <a:extLst>
                <a:ext uri="{FF2B5EF4-FFF2-40B4-BE49-F238E27FC236}">
                  <a16:creationId xmlns:a16="http://schemas.microsoft.com/office/drawing/2014/main" id="{8B5CBACE-8192-4453-A583-3802600C134E}"/>
                </a:ext>
              </a:extLst>
            </p:cNvPr>
            <p:cNvSpPr>
              <a:spLocks noChangeShapeType="1"/>
            </p:cNvSpPr>
            <p:nvPr/>
          </p:nvSpPr>
          <p:spPr bwMode="auto">
            <a:xfrm>
              <a:off x="2076" y="652"/>
              <a:ext cx="225" cy="293"/>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67" name="Line 11">
              <a:extLst>
                <a:ext uri="{FF2B5EF4-FFF2-40B4-BE49-F238E27FC236}">
                  <a16:creationId xmlns:a16="http://schemas.microsoft.com/office/drawing/2014/main" id="{B9CD29A8-761B-4D9C-946F-E34BAAD11591}"/>
                </a:ext>
              </a:extLst>
            </p:cNvPr>
            <p:cNvSpPr>
              <a:spLocks noChangeShapeType="1"/>
            </p:cNvSpPr>
            <p:nvPr/>
          </p:nvSpPr>
          <p:spPr bwMode="auto">
            <a:xfrm flipH="1">
              <a:off x="1739" y="591"/>
              <a:ext cx="281" cy="35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68" name="Line 12">
              <a:extLst>
                <a:ext uri="{FF2B5EF4-FFF2-40B4-BE49-F238E27FC236}">
                  <a16:creationId xmlns:a16="http://schemas.microsoft.com/office/drawing/2014/main" id="{061E8E78-2D99-4F22-A4C1-43771C8AC078}"/>
                </a:ext>
              </a:extLst>
            </p:cNvPr>
            <p:cNvSpPr>
              <a:spLocks noChangeShapeType="1"/>
            </p:cNvSpPr>
            <p:nvPr/>
          </p:nvSpPr>
          <p:spPr bwMode="auto">
            <a:xfrm>
              <a:off x="730" y="591"/>
              <a:ext cx="223" cy="35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69" name="Line 13">
              <a:extLst>
                <a:ext uri="{FF2B5EF4-FFF2-40B4-BE49-F238E27FC236}">
                  <a16:creationId xmlns:a16="http://schemas.microsoft.com/office/drawing/2014/main" id="{F4186C75-85B8-412D-A8F5-AD325DCEA07A}"/>
                </a:ext>
              </a:extLst>
            </p:cNvPr>
            <p:cNvSpPr>
              <a:spLocks noChangeShapeType="1"/>
            </p:cNvSpPr>
            <p:nvPr/>
          </p:nvSpPr>
          <p:spPr bwMode="auto">
            <a:xfrm flipH="1">
              <a:off x="336" y="652"/>
              <a:ext cx="282" cy="352"/>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70" name="Line 14">
              <a:extLst>
                <a:ext uri="{FF2B5EF4-FFF2-40B4-BE49-F238E27FC236}">
                  <a16:creationId xmlns:a16="http://schemas.microsoft.com/office/drawing/2014/main" id="{2711C1F8-407E-41DD-A58B-158B73E566A4}"/>
                </a:ext>
              </a:extLst>
            </p:cNvPr>
            <p:cNvSpPr>
              <a:spLocks noChangeShapeType="1"/>
            </p:cNvSpPr>
            <p:nvPr/>
          </p:nvSpPr>
          <p:spPr bwMode="auto">
            <a:xfrm flipH="1">
              <a:off x="1459" y="1065"/>
              <a:ext cx="224" cy="41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71" name="Line 15">
              <a:extLst>
                <a:ext uri="{FF2B5EF4-FFF2-40B4-BE49-F238E27FC236}">
                  <a16:creationId xmlns:a16="http://schemas.microsoft.com/office/drawing/2014/main" id="{7D26C245-566D-41BC-ABD4-E7030D5594AD}"/>
                </a:ext>
              </a:extLst>
            </p:cNvPr>
            <p:cNvSpPr>
              <a:spLocks noChangeShapeType="1"/>
            </p:cNvSpPr>
            <p:nvPr/>
          </p:nvSpPr>
          <p:spPr bwMode="auto">
            <a:xfrm>
              <a:off x="1009" y="1065"/>
              <a:ext cx="112" cy="35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72" name="Line 16">
              <a:extLst>
                <a:ext uri="{FF2B5EF4-FFF2-40B4-BE49-F238E27FC236}">
                  <a16:creationId xmlns:a16="http://schemas.microsoft.com/office/drawing/2014/main" id="{27FB78B4-D557-474C-868B-690253F1FBE9}"/>
                </a:ext>
              </a:extLst>
            </p:cNvPr>
            <p:cNvSpPr>
              <a:spLocks noChangeShapeType="1"/>
            </p:cNvSpPr>
            <p:nvPr/>
          </p:nvSpPr>
          <p:spPr bwMode="auto">
            <a:xfrm flipH="1">
              <a:off x="786" y="1065"/>
              <a:ext cx="167" cy="41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73" name="Line 17">
              <a:extLst>
                <a:ext uri="{FF2B5EF4-FFF2-40B4-BE49-F238E27FC236}">
                  <a16:creationId xmlns:a16="http://schemas.microsoft.com/office/drawing/2014/main" id="{02F4B88A-1F91-4390-A5DD-984ECF02639A}"/>
                </a:ext>
              </a:extLst>
            </p:cNvPr>
            <p:cNvSpPr>
              <a:spLocks noChangeShapeType="1"/>
            </p:cNvSpPr>
            <p:nvPr/>
          </p:nvSpPr>
          <p:spPr bwMode="auto">
            <a:xfrm>
              <a:off x="394" y="1124"/>
              <a:ext cx="112" cy="355"/>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74" name="Line 18">
              <a:extLst>
                <a:ext uri="{FF2B5EF4-FFF2-40B4-BE49-F238E27FC236}">
                  <a16:creationId xmlns:a16="http://schemas.microsoft.com/office/drawing/2014/main" id="{954C3F1C-0F36-4622-AB67-2C4271D26761}"/>
                </a:ext>
              </a:extLst>
            </p:cNvPr>
            <p:cNvSpPr>
              <a:spLocks noChangeShapeType="1"/>
            </p:cNvSpPr>
            <p:nvPr/>
          </p:nvSpPr>
          <p:spPr bwMode="auto">
            <a:xfrm flipH="1">
              <a:off x="112" y="1065"/>
              <a:ext cx="224" cy="41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75" name="Oval 19">
              <a:extLst>
                <a:ext uri="{FF2B5EF4-FFF2-40B4-BE49-F238E27FC236}">
                  <a16:creationId xmlns:a16="http://schemas.microsoft.com/office/drawing/2014/main" id="{6101B121-3C2B-4CBF-9ACD-21C8D6693815}"/>
                </a:ext>
              </a:extLst>
            </p:cNvPr>
            <p:cNvSpPr>
              <a:spLocks noChangeArrowheads="1"/>
            </p:cNvSpPr>
            <p:nvPr/>
          </p:nvSpPr>
          <p:spPr bwMode="auto">
            <a:xfrm>
              <a:off x="0" y="1360"/>
              <a:ext cx="280" cy="296"/>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9476" name="Oval 20">
              <a:extLst>
                <a:ext uri="{FF2B5EF4-FFF2-40B4-BE49-F238E27FC236}">
                  <a16:creationId xmlns:a16="http://schemas.microsoft.com/office/drawing/2014/main" id="{6192A81C-609F-4F5B-8B00-FB680635726E}"/>
                </a:ext>
              </a:extLst>
            </p:cNvPr>
            <p:cNvSpPr>
              <a:spLocks noChangeArrowheads="1"/>
            </p:cNvSpPr>
            <p:nvPr/>
          </p:nvSpPr>
          <p:spPr bwMode="auto">
            <a:xfrm>
              <a:off x="336" y="1360"/>
              <a:ext cx="282" cy="296"/>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9477" name="Oval 21">
              <a:extLst>
                <a:ext uri="{FF2B5EF4-FFF2-40B4-BE49-F238E27FC236}">
                  <a16:creationId xmlns:a16="http://schemas.microsoft.com/office/drawing/2014/main" id="{C2C6BD3D-7511-4689-99C5-5B25B0CDA358}"/>
                </a:ext>
              </a:extLst>
            </p:cNvPr>
            <p:cNvSpPr>
              <a:spLocks noChangeArrowheads="1"/>
            </p:cNvSpPr>
            <p:nvPr/>
          </p:nvSpPr>
          <p:spPr bwMode="auto">
            <a:xfrm>
              <a:off x="674" y="1360"/>
              <a:ext cx="279" cy="296"/>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9478" name="Oval 22">
              <a:extLst>
                <a:ext uri="{FF2B5EF4-FFF2-40B4-BE49-F238E27FC236}">
                  <a16:creationId xmlns:a16="http://schemas.microsoft.com/office/drawing/2014/main" id="{4BC89B66-EB79-4AFE-BAEC-E43567023BE8}"/>
                </a:ext>
              </a:extLst>
            </p:cNvPr>
            <p:cNvSpPr>
              <a:spLocks noChangeArrowheads="1"/>
            </p:cNvSpPr>
            <p:nvPr/>
          </p:nvSpPr>
          <p:spPr bwMode="auto">
            <a:xfrm>
              <a:off x="1009" y="1360"/>
              <a:ext cx="281" cy="296"/>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9479" name="Oval 23">
              <a:extLst>
                <a:ext uri="{FF2B5EF4-FFF2-40B4-BE49-F238E27FC236}">
                  <a16:creationId xmlns:a16="http://schemas.microsoft.com/office/drawing/2014/main" id="{F7A9F3F0-58CA-4CB8-9E6C-84A36FAC26B7}"/>
                </a:ext>
              </a:extLst>
            </p:cNvPr>
            <p:cNvSpPr>
              <a:spLocks noChangeArrowheads="1"/>
            </p:cNvSpPr>
            <p:nvPr/>
          </p:nvSpPr>
          <p:spPr bwMode="auto">
            <a:xfrm>
              <a:off x="1347" y="1360"/>
              <a:ext cx="280" cy="296"/>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9480" name="Oval 24">
              <a:extLst>
                <a:ext uri="{FF2B5EF4-FFF2-40B4-BE49-F238E27FC236}">
                  <a16:creationId xmlns:a16="http://schemas.microsoft.com/office/drawing/2014/main" id="{05528695-6275-4898-976E-219EFFE6DCF7}"/>
                </a:ext>
              </a:extLst>
            </p:cNvPr>
            <p:cNvSpPr>
              <a:spLocks noChangeArrowheads="1"/>
            </p:cNvSpPr>
            <p:nvPr/>
          </p:nvSpPr>
          <p:spPr bwMode="auto">
            <a:xfrm>
              <a:off x="224" y="886"/>
              <a:ext cx="282" cy="297"/>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9481" name="Oval 25">
              <a:extLst>
                <a:ext uri="{FF2B5EF4-FFF2-40B4-BE49-F238E27FC236}">
                  <a16:creationId xmlns:a16="http://schemas.microsoft.com/office/drawing/2014/main" id="{A4A7BA2F-77F1-4143-8FAA-D04E2E383571}"/>
                </a:ext>
              </a:extLst>
            </p:cNvPr>
            <p:cNvSpPr>
              <a:spLocks noChangeArrowheads="1"/>
            </p:cNvSpPr>
            <p:nvPr/>
          </p:nvSpPr>
          <p:spPr bwMode="auto">
            <a:xfrm>
              <a:off x="842" y="886"/>
              <a:ext cx="279" cy="297"/>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9482" name="Oval 26">
              <a:extLst>
                <a:ext uri="{FF2B5EF4-FFF2-40B4-BE49-F238E27FC236}">
                  <a16:creationId xmlns:a16="http://schemas.microsoft.com/office/drawing/2014/main" id="{5DBD2799-C173-413F-95BC-5B4783B8CA49}"/>
                </a:ext>
              </a:extLst>
            </p:cNvPr>
            <p:cNvSpPr>
              <a:spLocks noChangeArrowheads="1"/>
            </p:cNvSpPr>
            <p:nvPr/>
          </p:nvSpPr>
          <p:spPr bwMode="auto">
            <a:xfrm>
              <a:off x="1571" y="886"/>
              <a:ext cx="280" cy="297"/>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i="0" dirty="0">
                  <a:solidFill>
                    <a:srgbClr val="C1C1FF"/>
                  </a:solidFill>
                  <a:latin typeface="Times New Roman" panose="02020603050405020304" pitchFamily="18" charset="0"/>
                </a:rPr>
                <a:t>6</a:t>
              </a:r>
            </a:p>
          </p:txBody>
        </p:sp>
        <p:sp>
          <p:nvSpPr>
            <p:cNvPr id="19483" name="Oval 27">
              <a:extLst>
                <a:ext uri="{FF2B5EF4-FFF2-40B4-BE49-F238E27FC236}">
                  <a16:creationId xmlns:a16="http://schemas.microsoft.com/office/drawing/2014/main" id="{800A03A2-8060-47AF-BD1D-89FB9BC65AB7}"/>
                </a:ext>
              </a:extLst>
            </p:cNvPr>
            <p:cNvSpPr>
              <a:spLocks noChangeArrowheads="1"/>
            </p:cNvSpPr>
            <p:nvPr/>
          </p:nvSpPr>
          <p:spPr bwMode="auto">
            <a:xfrm>
              <a:off x="2164" y="886"/>
              <a:ext cx="305" cy="297"/>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9484" name="Oval 28">
              <a:extLst>
                <a:ext uri="{FF2B5EF4-FFF2-40B4-BE49-F238E27FC236}">
                  <a16:creationId xmlns:a16="http://schemas.microsoft.com/office/drawing/2014/main" id="{33ADEC3A-0F27-4D8C-BA27-F3D8E6F388DA}"/>
                </a:ext>
              </a:extLst>
            </p:cNvPr>
            <p:cNvSpPr>
              <a:spLocks noChangeArrowheads="1"/>
            </p:cNvSpPr>
            <p:nvPr/>
          </p:nvSpPr>
          <p:spPr bwMode="auto">
            <a:xfrm>
              <a:off x="562" y="414"/>
              <a:ext cx="280" cy="297"/>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i="0" dirty="0">
                  <a:solidFill>
                    <a:srgbClr val="C1C1FF"/>
                  </a:solidFill>
                  <a:latin typeface="Times New Roman" panose="02020603050405020304" pitchFamily="18" charset="0"/>
                </a:rPr>
                <a:t>2</a:t>
              </a:r>
              <a:endParaRPr lang="zh-CN" altLang="en-US" sz="2800" b="1" i="0" dirty="0">
                <a:latin typeface="Times New Roman" panose="02020603050405020304" pitchFamily="18" charset="0"/>
              </a:endParaRPr>
            </a:p>
          </p:txBody>
        </p:sp>
        <p:sp>
          <p:nvSpPr>
            <p:cNvPr id="19485" name="Oval 29">
              <a:extLst>
                <a:ext uri="{FF2B5EF4-FFF2-40B4-BE49-F238E27FC236}">
                  <a16:creationId xmlns:a16="http://schemas.microsoft.com/office/drawing/2014/main" id="{70E3A243-D266-456E-94FA-4C93061D0A1C}"/>
                </a:ext>
              </a:extLst>
            </p:cNvPr>
            <p:cNvSpPr>
              <a:spLocks noChangeArrowheads="1"/>
            </p:cNvSpPr>
            <p:nvPr/>
          </p:nvSpPr>
          <p:spPr bwMode="auto">
            <a:xfrm>
              <a:off x="1907" y="414"/>
              <a:ext cx="282" cy="297"/>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9486" name="Oval 30">
              <a:extLst>
                <a:ext uri="{FF2B5EF4-FFF2-40B4-BE49-F238E27FC236}">
                  <a16:creationId xmlns:a16="http://schemas.microsoft.com/office/drawing/2014/main" id="{F4B70E9B-92BD-44C2-A211-F2DF3FD5CDB9}"/>
                </a:ext>
              </a:extLst>
            </p:cNvPr>
            <p:cNvSpPr>
              <a:spLocks noChangeArrowheads="1"/>
            </p:cNvSpPr>
            <p:nvPr/>
          </p:nvSpPr>
          <p:spPr bwMode="auto">
            <a:xfrm>
              <a:off x="1234" y="0"/>
              <a:ext cx="281" cy="296"/>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i="0" dirty="0">
                  <a:solidFill>
                    <a:srgbClr val="C1C1FF"/>
                  </a:solidFill>
                  <a:latin typeface="Times New Roman" panose="02020603050405020304" pitchFamily="18" charset="0"/>
                </a:rPr>
                <a:t>1</a:t>
              </a:r>
            </a:p>
          </p:txBody>
        </p:sp>
        <p:sp>
          <p:nvSpPr>
            <p:cNvPr id="19487" name="Rectangle 31">
              <a:extLst>
                <a:ext uri="{FF2B5EF4-FFF2-40B4-BE49-F238E27FC236}">
                  <a16:creationId xmlns:a16="http://schemas.microsoft.com/office/drawing/2014/main" id="{4B3B7DFE-3D27-4CB8-A9FC-46631E289AB0}"/>
                </a:ext>
              </a:extLst>
            </p:cNvPr>
            <p:cNvSpPr>
              <a:spLocks noChangeArrowheads="1"/>
            </p:cNvSpPr>
            <p:nvPr/>
          </p:nvSpPr>
          <p:spPr bwMode="auto">
            <a:xfrm>
              <a:off x="2208" y="864"/>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1" i="0" dirty="0">
                  <a:solidFill>
                    <a:srgbClr val="C1C1FF"/>
                  </a:solidFill>
                  <a:latin typeface="Times New Roman" panose="02020603050405020304" pitchFamily="18" charset="0"/>
                </a:rPr>
                <a:t>7</a:t>
              </a:r>
            </a:p>
          </p:txBody>
        </p:sp>
        <p:sp>
          <p:nvSpPr>
            <p:cNvPr id="19488" name="Rectangle 32">
              <a:extLst>
                <a:ext uri="{FF2B5EF4-FFF2-40B4-BE49-F238E27FC236}">
                  <a16:creationId xmlns:a16="http://schemas.microsoft.com/office/drawing/2014/main" id="{4AAC0783-DF3B-4852-AC9F-D4691F0E2703}"/>
                </a:ext>
              </a:extLst>
            </p:cNvPr>
            <p:cNvSpPr>
              <a:spLocks noChangeArrowheads="1"/>
            </p:cNvSpPr>
            <p:nvPr/>
          </p:nvSpPr>
          <p:spPr bwMode="auto">
            <a:xfrm>
              <a:off x="864" y="864"/>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1" i="0" dirty="0">
                  <a:solidFill>
                    <a:srgbClr val="C1C1FF"/>
                  </a:solidFill>
                  <a:latin typeface="Times New Roman" panose="02020603050405020304" pitchFamily="18" charset="0"/>
                </a:rPr>
                <a:t>5</a:t>
              </a:r>
            </a:p>
          </p:txBody>
        </p:sp>
        <p:sp>
          <p:nvSpPr>
            <p:cNvPr id="19489" name="Rectangle 33">
              <a:extLst>
                <a:ext uri="{FF2B5EF4-FFF2-40B4-BE49-F238E27FC236}">
                  <a16:creationId xmlns:a16="http://schemas.microsoft.com/office/drawing/2014/main" id="{037C4B76-403A-48F0-88F5-C2539A4976AE}"/>
                </a:ext>
              </a:extLst>
            </p:cNvPr>
            <p:cNvSpPr>
              <a:spLocks noChangeArrowheads="1"/>
            </p:cNvSpPr>
            <p:nvPr/>
          </p:nvSpPr>
          <p:spPr bwMode="auto">
            <a:xfrm>
              <a:off x="240" y="864"/>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1" i="0" dirty="0">
                  <a:solidFill>
                    <a:srgbClr val="C1C1FF"/>
                  </a:solidFill>
                  <a:latin typeface="Times New Roman" panose="02020603050405020304" pitchFamily="18" charset="0"/>
                </a:rPr>
                <a:t>4</a:t>
              </a:r>
            </a:p>
          </p:txBody>
        </p:sp>
        <p:sp>
          <p:nvSpPr>
            <p:cNvPr id="19490" name="Rectangle 34">
              <a:extLst>
                <a:ext uri="{FF2B5EF4-FFF2-40B4-BE49-F238E27FC236}">
                  <a16:creationId xmlns:a16="http://schemas.microsoft.com/office/drawing/2014/main" id="{634EBECD-6570-4257-AB32-6CA624F12216}"/>
                </a:ext>
              </a:extLst>
            </p:cNvPr>
            <p:cNvSpPr>
              <a:spLocks noChangeArrowheads="1"/>
            </p:cNvSpPr>
            <p:nvPr/>
          </p:nvSpPr>
          <p:spPr bwMode="auto">
            <a:xfrm>
              <a:off x="1920" y="384"/>
              <a:ext cx="24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i="0" dirty="0">
                  <a:solidFill>
                    <a:srgbClr val="C1C1FF"/>
                  </a:solidFill>
                  <a:latin typeface="Times New Roman" panose="02020603050405020304" pitchFamily="18" charset="0"/>
                </a:rPr>
                <a:t>3</a:t>
              </a:r>
            </a:p>
          </p:txBody>
        </p:sp>
        <p:sp>
          <p:nvSpPr>
            <p:cNvPr id="19491" name="Rectangle 35">
              <a:extLst>
                <a:ext uri="{FF2B5EF4-FFF2-40B4-BE49-F238E27FC236}">
                  <a16:creationId xmlns:a16="http://schemas.microsoft.com/office/drawing/2014/main" id="{027D926E-1B89-4FBD-962E-BD9A6D6849E9}"/>
                </a:ext>
              </a:extLst>
            </p:cNvPr>
            <p:cNvSpPr>
              <a:spLocks noChangeArrowheads="1"/>
            </p:cNvSpPr>
            <p:nvPr/>
          </p:nvSpPr>
          <p:spPr bwMode="auto">
            <a:xfrm>
              <a:off x="10" y="1344"/>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1" i="0" dirty="0">
                  <a:solidFill>
                    <a:srgbClr val="C1C1FF"/>
                  </a:solidFill>
                  <a:latin typeface="Times New Roman" panose="02020603050405020304" pitchFamily="18" charset="0"/>
                </a:rPr>
                <a:t>8</a:t>
              </a:r>
            </a:p>
          </p:txBody>
        </p:sp>
        <p:sp>
          <p:nvSpPr>
            <p:cNvPr id="19492" name="Rectangle 36">
              <a:extLst>
                <a:ext uri="{FF2B5EF4-FFF2-40B4-BE49-F238E27FC236}">
                  <a16:creationId xmlns:a16="http://schemas.microsoft.com/office/drawing/2014/main" id="{6363822F-02DD-458E-AC60-942744249A85}"/>
                </a:ext>
              </a:extLst>
            </p:cNvPr>
            <p:cNvSpPr>
              <a:spLocks noChangeArrowheads="1"/>
            </p:cNvSpPr>
            <p:nvPr/>
          </p:nvSpPr>
          <p:spPr bwMode="auto">
            <a:xfrm>
              <a:off x="337" y="1344"/>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1" i="0" dirty="0">
                  <a:solidFill>
                    <a:srgbClr val="C1C1FF"/>
                  </a:solidFill>
                  <a:latin typeface="Times New Roman" panose="02020603050405020304" pitchFamily="18" charset="0"/>
                </a:rPr>
                <a:t>9</a:t>
              </a:r>
            </a:p>
          </p:txBody>
        </p:sp>
        <p:sp>
          <p:nvSpPr>
            <p:cNvPr id="19493" name="Rectangle 37">
              <a:extLst>
                <a:ext uri="{FF2B5EF4-FFF2-40B4-BE49-F238E27FC236}">
                  <a16:creationId xmlns:a16="http://schemas.microsoft.com/office/drawing/2014/main" id="{DC3A7EC2-4B44-4BCE-82AE-05CEAEECEF90}"/>
                </a:ext>
              </a:extLst>
            </p:cNvPr>
            <p:cNvSpPr>
              <a:spLocks noChangeArrowheads="1"/>
            </p:cNvSpPr>
            <p:nvPr/>
          </p:nvSpPr>
          <p:spPr bwMode="auto">
            <a:xfrm>
              <a:off x="600" y="1344"/>
              <a:ext cx="34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1" i="0" dirty="0">
                  <a:solidFill>
                    <a:srgbClr val="C1C1FF"/>
                  </a:solidFill>
                  <a:latin typeface="Times New Roman" panose="02020603050405020304" pitchFamily="18" charset="0"/>
                </a:rPr>
                <a:t>10</a:t>
              </a:r>
            </a:p>
          </p:txBody>
        </p:sp>
        <p:sp>
          <p:nvSpPr>
            <p:cNvPr id="19494" name="Rectangle 38">
              <a:extLst>
                <a:ext uri="{FF2B5EF4-FFF2-40B4-BE49-F238E27FC236}">
                  <a16:creationId xmlns:a16="http://schemas.microsoft.com/office/drawing/2014/main" id="{524D9316-6E3B-4632-AF9F-3DED6883A944}"/>
                </a:ext>
              </a:extLst>
            </p:cNvPr>
            <p:cNvSpPr>
              <a:spLocks noChangeArrowheads="1"/>
            </p:cNvSpPr>
            <p:nvPr/>
          </p:nvSpPr>
          <p:spPr bwMode="auto">
            <a:xfrm>
              <a:off x="993" y="1344"/>
              <a:ext cx="34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1" i="0" dirty="0">
                  <a:solidFill>
                    <a:srgbClr val="C1C1FF"/>
                  </a:solidFill>
                  <a:latin typeface="Times New Roman" panose="02020603050405020304" pitchFamily="18" charset="0"/>
                </a:rPr>
                <a:t>11</a:t>
              </a:r>
            </a:p>
          </p:txBody>
        </p:sp>
        <p:sp>
          <p:nvSpPr>
            <p:cNvPr id="19495" name="Rectangle 39">
              <a:extLst>
                <a:ext uri="{FF2B5EF4-FFF2-40B4-BE49-F238E27FC236}">
                  <a16:creationId xmlns:a16="http://schemas.microsoft.com/office/drawing/2014/main" id="{7512F0CC-D36E-453E-BC87-3FD577C731E4}"/>
                </a:ext>
              </a:extLst>
            </p:cNvPr>
            <p:cNvSpPr>
              <a:spLocks noChangeArrowheads="1"/>
            </p:cNvSpPr>
            <p:nvPr/>
          </p:nvSpPr>
          <p:spPr bwMode="auto">
            <a:xfrm>
              <a:off x="1321" y="1344"/>
              <a:ext cx="34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1" i="0" dirty="0">
                  <a:solidFill>
                    <a:srgbClr val="C1C1FF"/>
                  </a:solidFill>
                  <a:latin typeface="Times New Roman" panose="02020603050405020304" pitchFamily="18" charset="0"/>
                </a:rPr>
                <a:t>12</a:t>
              </a:r>
            </a:p>
          </p:txBody>
        </p:sp>
      </p:grpSp>
      <p:sp>
        <p:nvSpPr>
          <p:cNvPr id="3" name="Text Box 4">
            <a:extLst>
              <a:ext uri="{FF2B5EF4-FFF2-40B4-BE49-F238E27FC236}">
                <a16:creationId xmlns:a16="http://schemas.microsoft.com/office/drawing/2014/main" id="{9846C59E-9CEE-94DB-52D6-7068FBB775A1}"/>
              </a:ext>
            </a:extLst>
          </p:cNvPr>
          <p:cNvSpPr txBox="1">
            <a:spLocks noChangeArrowheads="1"/>
          </p:cNvSpPr>
          <p:nvPr/>
        </p:nvSpPr>
        <p:spPr bwMode="auto">
          <a:xfrm>
            <a:off x="150822" y="180899"/>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完全二叉树</a:t>
            </a:r>
          </a:p>
        </p:txBody>
      </p:sp>
      <p:sp>
        <p:nvSpPr>
          <p:cNvPr id="6" name="文本框 5">
            <a:extLst>
              <a:ext uri="{FF2B5EF4-FFF2-40B4-BE49-F238E27FC236}">
                <a16:creationId xmlns:a16="http://schemas.microsoft.com/office/drawing/2014/main" id="{2071691D-DFBF-4183-511F-E64E272BE114}"/>
              </a:ext>
            </a:extLst>
          </p:cNvPr>
          <p:cNvSpPr txBox="1"/>
          <p:nvPr/>
        </p:nvSpPr>
        <p:spPr>
          <a:xfrm>
            <a:off x="5881265" y="2256371"/>
            <a:ext cx="3858420" cy="523220"/>
          </a:xfrm>
          <a:prstGeom prst="rect">
            <a:avLst/>
          </a:prstGeom>
          <a:noFill/>
        </p:spPr>
        <p:txBody>
          <a:bodyPr wrap="square" rtlCol="0">
            <a:spAutoFit/>
          </a:bodyPr>
          <a:lstStyle/>
          <a:p>
            <a:r>
              <a:rPr lang="zh-CN" altLang="en-US" sz="2800" b="0" i="0" dirty="0">
                <a:solidFill>
                  <a:srgbClr val="FF0000"/>
                </a:solidFill>
                <a:latin typeface="+mn-ea"/>
                <a:ea typeface="+mn-ea"/>
              </a:rPr>
              <a:t>最大层叶结点靠左排列</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9461">
                                            <p:txEl>
                                              <p:pRg st="0" end="0"/>
                                            </p:txEl>
                                          </p:spTgt>
                                        </p:tgtEl>
                                        <p:attrNameLst>
                                          <p:attrName>style.visibility</p:attrName>
                                        </p:attrNameLst>
                                      </p:cBhvr>
                                      <p:to>
                                        <p:strVal val="visible"/>
                                      </p:to>
                                    </p:set>
                                    <p:animEffect transition="in" filter="strips(downRight)">
                                      <p:cBhvr>
                                        <p:cTn id="7" dur="500"/>
                                        <p:tgtEl>
                                          <p:spTgt spid="1946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nodeType="clickEffect">
                                  <p:stCondLst>
                                    <p:cond delay="0"/>
                                  </p:stCondLst>
                                  <p:childTnLst>
                                    <p:set>
                                      <p:cBhvr>
                                        <p:cTn id="11" dur="1" fill="hold">
                                          <p:stCondLst>
                                            <p:cond delay="0"/>
                                          </p:stCondLst>
                                        </p:cTn>
                                        <p:tgtEl>
                                          <p:spTgt spid="19463"/>
                                        </p:tgtEl>
                                        <p:attrNameLst>
                                          <p:attrName>style.visibility</p:attrName>
                                        </p:attrNameLst>
                                      </p:cBhvr>
                                      <p:to>
                                        <p:strVal val="visible"/>
                                      </p:to>
                                    </p:set>
                                    <p:animEffect transition="in" filter="strips(downRight)">
                                      <p:cBhvr>
                                        <p:cTn id="12" dur="500"/>
                                        <p:tgtEl>
                                          <p:spTgt spid="1946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19461">
                                            <p:txEl>
                                              <p:pRg st="1" end="1"/>
                                            </p:txEl>
                                          </p:spTgt>
                                        </p:tgtEl>
                                        <p:attrNameLst>
                                          <p:attrName>style.visibility</p:attrName>
                                        </p:attrNameLst>
                                      </p:cBhvr>
                                      <p:to>
                                        <p:strVal val="visible"/>
                                      </p:to>
                                    </p:set>
                                    <p:animEffect transition="in" filter="strips(downRight)">
                                      <p:cBhvr>
                                        <p:cTn id="17" dur="500"/>
                                        <p:tgtEl>
                                          <p:spTgt spid="19461">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8" presetClass="entr" presetSubtype="6" fill="hold" grpId="0" nodeType="clickEffect">
                                  <p:stCondLst>
                                    <p:cond delay="0"/>
                                  </p:stCondLst>
                                  <p:childTnLst>
                                    <p:set>
                                      <p:cBhvr>
                                        <p:cTn id="25" dur="1" fill="hold">
                                          <p:stCondLst>
                                            <p:cond delay="0"/>
                                          </p:stCondLst>
                                        </p:cTn>
                                        <p:tgtEl>
                                          <p:spTgt spid="19461">
                                            <p:txEl>
                                              <p:pRg st="2" end="2"/>
                                            </p:txEl>
                                          </p:spTgt>
                                        </p:tgtEl>
                                        <p:attrNameLst>
                                          <p:attrName>style.visibility</p:attrName>
                                        </p:attrNameLst>
                                      </p:cBhvr>
                                      <p:to>
                                        <p:strVal val="visible"/>
                                      </p:to>
                                    </p:set>
                                    <p:animEffect transition="in" filter="strips(downRight)">
                                      <p:cBhvr>
                                        <p:cTn id="26" dur="500"/>
                                        <p:tgtEl>
                                          <p:spTgt spid="1946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1" grpId="0" uiExpand="1" build="p" autoUpdateAnimBg="0"/>
      <p:bldP spid="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Text Box 3">
            <a:extLst>
              <a:ext uri="{FF2B5EF4-FFF2-40B4-BE49-F238E27FC236}">
                <a16:creationId xmlns:a16="http://schemas.microsoft.com/office/drawing/2014/main" id="{815D1890-2549-4BC9-8B14-9AA184579E64}"/>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20772EC1-8E14-4C1E-8C18-9E3DF7C873C9}" type="slidenum">
              <a:rPr lang="zh-CN" altLang="en-US" sz="2400"/>
              <a:pPr algn="r" eaLnBrk="1" hangingPunct="1">
                <a:spcBef>
                  <a:spcPct val="50000"/>
                </a:spcBef>
                <a:buClrTx/>
                <a:buSzTx/>
                <a:buFont typeface="Arial" panose="020B0604020202020204" pitchFamily="34" charset="0"/>
                <a:buNone/>
              </a:pPr>
              <a:t>17</a:t>
            </a:fld>
            <a:endParaRPr lang="en-US" altLang="zh-CN" sz="2400"/>
          </a:p>
        </p:txBody>
      </p:sp>
      <p:sp>
        <p:nvSpPr>
          <p:cNvPr id="20485" name="Rectangle 5">
            <a:extLst>
              <a:ext uri="{FF2B5EF4-FFF2-40B4-BE49-F238E27FC236}">
                <a16:creationId xmlns:a16="http://schemas.microsoft.com/office/drawing/2014/main" id="{B9FB6B98-EB9B-4905-87EF-A07665295753}"/>
              </a:ext>
            </a:extLst>
          </p:cNvPr>
          <p:cNvSpPr>
            <a:spLocks noGrp="1" noChangeArrowheads="1"/>
          </p:cNvSpPr>
          <p:nvPr>
            <p:ph type="body" idx="1"/>
          </p:nvPr>
        </p:nvSpPr>
        <p:spPr>
          <a:xfrm>
            <a:off x="463301" y="1234149"/>
            <a:ext cx="8763000" cy="4038600"/>
          </a:xfrm>
        </p:spPr>
        <p:txBody>
          <a:bodyPr/>
          <a:lstStyle/>
          <a:p>
            <a:pPr marL="0" indent="0" eaLnBrk="1" hangingPunct="1">
              <a:spcBef>
                <a:spcPct val="30000"/>
              </a:spcBef>
              <a:buNone/>
            </a:pPr>
            <a:r>
              <a:rPr lang="zh-CN" altLang="en-US" b="1" dirty="0">
                <a:solidFill>
                  <a:srgbClr val="FF0000"/>
                </a:solidFill>
                <a:latin typeface="黑体" panose="02010609060101010101" pitchFamily="49" charset="-122"/>
                <a:ea typeface="黑体" panose="02010609060101010101" pitchFamily="49" charset="-122"/>
              </a:rPr>
              <a:t>性质</a:t>
            </a:r>
            <a:r>
              <a:rPr lang="en-US" altLang="zh-CN" b="1" dirty="0">
                <a:solidFill>
                  <a:srgbClr val="FF0000"/>
                </a:solidFill>
                <a:latin typeface="黑体" panose="02010609060101010101" pitchFamily="49" charset="-122"/>
                <a:ea typeface="黑体" panose="02010609060101010101" pitchFamily="49" charset="-122"/>
              </a:rPr>
              <a:t>4</a:t>
            </a:r>
            <a:r>
              <a:rPr lang="zh-CN" altLang="en-US" b="1" dirty="0">
                <a:solidFill>
                  <a:srgbClr val="FF0000"/>
                </a:solidFill>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具有</a:t>
            </a:r>
            <a:r>
              <a:rPr lang="en-US" altLang="zh-CN" dirty="0">
                <a:latin typeface="黑体" panose="02010609060101010101" pitchFamily="49" charset="-122"/>
                <a:ea typeface="黑体" panose="02010609060101010101" pitchFamily="49" charset="-122"/>
              </a:rPr>
              <a:t>n</a:t>
            </a:r>
            <a:r>
              <a:rPr lang="zh-CN" altLang="en-US" dirty="0">
                <a:latin typeface="黑体" panose="02010609060101010101" pitchFamily="49" charset="-122"/>
                <a:ea typeface="黑体" panose="02010609060101010101" pitchFamily="49" charset="-122"/>
              </a:rPr>
              <a:t>个结点的完全二叉树,其深度为</a:t>
            </a:r>
            <a:r>
              <a:rPr lang="en-US" altLang="zh-CN" dirty="0">
                <a:latin typeface="黑体" panose="02010609060101010101" pitchFamily="49" charset="-122"/>
                <a:ea typeface="黑体" panose="02010609060101010101" pitchFamily="49" charset="-122"/>
              </a:rPr>
              <a:t>log</a:t>
            </a:r>
            <a:r>
              <a:rPr lang="en-US" altLang="zh-CN" baseline="-25000" dirty="0">
                <a:latin typeface="黑体" panose="02010609060101010101" pitchFamily="49" charset="-122"/>
                <a:ea typeface="黑体" panose="02010609060101010101" pitchFamily="49" charset="-122"/>
              </a:rPr>
              <a:t>2</a:t>
            </a:r>
            <a:r>
              <a:rPr lang="en-US" altLang="zh-CN" dirty="0">
                <a:latin typeface="黑体" panose="02010609060101010101" pitchFamily="49" charset="-122"/>
                <a:ea typeface="黑体" panose="02010609060101010101" pitchFamily="49" charset="-122"/>
              </a:rPr>
              <a:t>n +1</a:t>
            </a:r>
          </a:p>
          <a:p>
            <a:pPr marL="0" indent="0" eaLnBrk="1" hangingPunct="1">
              <a:spcBef>
                <a:spcPct val="30000"/>
              </a:spcBef>
              <a:buNone/>
            </a:pPr>
            <a:r>
              <a:rPr lang="zh-CN" altLang="en-US" b="1" dirty="0">
                <a:solidFill>
                  <a:srgbClr val="FF0000"/>
                </a:solidFill>
                <a:latin typeface="黑体" panose="02010609060101010101" pitchFamily="49" charset="-122"/>
                <a:ea typeface="黑体" panose="02010609060101010101" pitchFamily="49" charset="-122"/>
              </a:rPr>
              <a:t>证明：</a:t>
            </a:r>
            <a:r>
              <a:rPr lang="zh-CN" altLang="en-US" dirty="0">
                <a:latin typeface="黑体" panose="02010609060101010101" pitchFamily="49" charset="-122"/>
                <a:ea typeface="黑体" panose="02010609060101010101" pitchFamily="49" charset="-122"/>
              </a:rPr>
              <a:t>设</a:t>
            </a:r>
            <a:r>
              <a:rPr lang="en-US" altLang="zh-CN" dirty="0">
                <a:latin typeface="黑体" panose="02010609060101010101" pitchFamily="49" charset="-122"/>
                <a:ea typeface="黑体" panose="02010609060101010101" pitchFamily="49" charset="-122"/>
              </a:rPr>
              <a:t>k</a:t>
            </a:r>
            <a:r>
              <a:rPr lang="zh-CN" altLang="en-US" dirty="0">
                <a:latin typeface="黑体" panose="02010609060101010101" pitchFamily="49" charset="-122"/>
                <a:ea typeface="黑体" panose="02010609060101010101" pitchFamily="49" charset="-122"/>
              </a:rPr>
              <a:t>为深度，由二叉树性质２，已知</a:t>
            </a:r>
          </a:p>
          <a:p>
            <a:pPr eaLnBrk="1" hangingPunct="1">
              <a:spcBef>
                <a:spcPct val="30000"/>
              </a:spcBef>
              <a:buFont typeface="Wingdings" panose="05000000000000000000" pitchFamily="2" charset="2"/>
              <a:buNone/>
            </a:pPr>
            <a:r>
              <a:rPr lang="zh-CN" altLang="en-US" dirty="0">
                <a:latin typeface="黑体" panose="02010609060101010101" pitchFamily="49" charset="-122"/>
                <a:ea typeface="黑体" panose="02010609060101010101" pitchFamily="49" charset="-122"/>
              </a:rPr>
              <a:t>　　 2</a:t>
            </a:r>
            <a:r>
              <a:rPr lang="en-US" altLang="zh-CN" baseline="30000" dirty="0">
                <a:latin typeface="黑体" panose="02010609060101010101" pitchFamily="49" charset="-122"/>
                <a:ea typeface="黑体" panose="02010609060101010101" pitchFamily="49" charset="-122"/>
              </a:rPr>
              <a:t>k-1</a:t>
            </a:r>
            <a:r>
              <a:rPr lang="en-US" altLang="zh-CN" dirty="0">
                <a:latin typeface="黑体" panose="02010609060101010101" pitchFamily="49" charset="-122"/>
                <a:ea typeface="黑体" panose="02010609060101010101" pitchFamily="49" charset="-122"/>
              </a:rPr>
              <a:t>-1</a:t>
            </a:r>
            <a:r>
              <a:rPr lang="zh-CN" altLang="en-US" dirty="0">
                <a:latin typeface="黑体" panose="02010609060101010101" pitchFamily="49" charset="-122"/>
                <a:ea typeface="黑体" panose="02010609060101010101" pitchFamily="49" charset="-122"/>
              </a:rPr>
              <a:t> </a:t>
            </a:r>
            <a:r>
              <a:rPr lang="en-US" altLang="zh-CN" dirty="0">
                <a:latin typeface="黑体" panose="02010609060101010101" pitchFamily="49" charset="-122"/>
                <a:ea typeface="黑体" panose="02010609060101010101" pitchFamily="49" charset="-122"/>
              </a:rPr>
              <a:t>&lt; n ≤ </a:t>
            </a:r>
            <a:r>
              <a:rPr lang="zh-CN" altLang="en-US" dirty="0">
                <a:latin typeface="黑体" panose="02010609060101010101" pitchFamily="49" charset="-122"/>
                <a:ea typeface="黑体" panose="02010609060101010101" pitchFamily="49" charset="-122"/>
              </a:rPr>
              <a:t>2</a:t>
            </a:r>
            <a:r>
              <a:rPr lang="en-US" altLang="zh-CN" baseline="30000" dirty="0">
                <a:latin typeface="黑体" panose="02010609060101010101" pitchFamily="49" charset="-122"/>
                <a:ea typeface="黑体" panose="02010609060101010101" pitchFamily="49" charset="-122"/>
              </a:rPr>
              <a:t>k</a:t>
            </a:r>
            <a:r>
              <a:rPr lang="en-US" altLang="zh-CN" dirty="0">
                <a:latin typeface="黑体" panose="02010609060101010101" pitchFamily="49" charset="-122"/>
                <a:ea typeface="黑体" panose="02010609060101010101" pitchFamily="49" charset="-122"/>
              </a:rPr>
              <a:t>-1</a:t>
            </a:r>
          </a:p>
          <a:p>
            <a:pPr eaLnBrk="1" hangingPunct="1">
              <a:spcBef>
                <a:spcPct val="30000"/>
              </a:spcBef>
              <a:buFont typeface="Wingdings" panose="05000000000000000000" pitchFamily="2" charset="2"/>
              <a:buNone/>
            </a:pPr>
            <a:r>
              <a:rPr lang="zh-CN" altLang="en-US" dirty="0">
                <a:latin typeface="黑体" panose="02010609060101010101" pitchFamily="49" charset="-122"/>
                <a:ea typeface="黑体" panose="02010609060101010101" pitchFamily="49" charset="-122"/>
              </a:rPr>
              <a:t>即　 2</a:t>
            </a:r>
            <a:r>
              <a:rPr lang="en-US" altLang="zh-CN" baseline="30000" dirty="0">
                <a:latin typeface="黑体" panose="02010609060101010101" pitchFamily="49" charset="-122"/>
                <a:ea typeface="黑体" panose="02010609060101010101" pitchFamily="49" charset="-122"/>
              </a:rPr>
              <a:t>k-1</a:t>
            </a:r>
            <a:r>
              <a:rPr lang="zh-CN" altLang="en-US" dirty="0">
                <a:latin typeface="黑体" panose="02010609060101010101" pitchFamily="49" charset="-122"/>
                <a:ea typeface="黑体" panose="02010609060101010101" pitchFamily="49" charset="-122"/>
              </a:rPr>
              <a:t>  ≤</a:t>
            </a:r>
            <a:r>
              <a:rPr lang="en-US" altLang="zh-CN" dirty="0">
                <a:latin typeface="黑体" panose="02010609060101010101" pitchFamily="49" charset="-122"/>
                <a:ea typeface="黑体" panose="02010609060101010101" pitchFamily="49" charset="-122"/>
              </a:rPr>
              <a:t> n &lt;  </a:t>
            </a:r>
            <a:r>
              <a:rPr lang="zh-CN" altLang="en-US" dirty="0">
                <a:latin typeface="黑体" panose="02010609060101010101" pitchFamily="49" charset="-122"/>
                <a:ea typeface="黑体" panose="02010609060101010101" pitchFamily="49" charset="-122"/>
              </a:rPr>
              <a:t>2</a:t>
            </a:r>
            <a:r>
              <a:rPr lang="en-US" altLang="zh-CN" baseline="30000" dirty="0">
                <a:latin typeface="黑体" panose="02010609060101010101" pitchFamily="49" charset="-122"/>
                <a:ea typeface="黑体" panose="02010609060101010101" pitchFamily="49" charset="-122"/>
              </a:rPr>
              <a:t>k</a:t>
            </a:r>
          </a:p>
          <a:p>
            <a:pPr eaLnBrk="1" hangingPunct="1">
              <a:spcBef>
                <a:spcPct val="30000"/>
              </a:spcBef>
              <a:buFont typeface="Wingdings" panose="05000000000000000000" pitchFamily="2" charset="2"/>
              <a:buNone/>
            </a:pPr>
            <a:r>
              <a:rPr lang="zh-CN" altLang="en-US" dirty="0">
                <a:latin typeface="黑体" panose="02010609060101010101" pitchFamily="49" charset="-122"/>
                <a:ea typeface="黑体" panose="02010609060101010101" pitchFamily="49" charset="-122"/>
              </a:rPr>
              <a:t>即   </a:t>
            </a:r>
            <a:r>
              <a:rPr lang="en-US" altLang="zh-CN" dirty="0">
                <a:latin typeface="黑体" panose="02010609060101010101" pitchFamily="49" charset="-122"/>
                <a:ea typeface="黑体" panose="02010609060101010101" pitchFamily="49" charset="-122"/>
              </a:rPr>
              <a:t>k = log</a:t>
            </a:r>
            <a:r>
              <a:rPr lang="en-US" altLang="zh-CN" baseline="-25000" dirty="0">
                <a:latin typeface="黑体" panose="02010609060101010101" pitchFamily="49" charset="-122"/>
                <a:ea typeface="黑体" panose="02010609060101010101" pitchFamily="49" charset="-122"/>
              </a:rPr>
              <a:t>2</a:t>
            </a:r>
            <a:r>
              <a:rPr lang="en-US" altLang="zh-CN" dirty="0">
                <a:latin typeface="黑体" panose="02010609060101010101" pitchFamily="49" charset="-122"/>
                <a:ea typeface="黑体" panose="02010609060101010101" pitchFamily="49" charset="-122"/>
              </a:rPr>
              <a:t>n +1</a:t>
            </a:r>
            <a:endParaRPr lang="zh-CN" altLang="en-US" dirty="0">
              <a:latin typeface="黑体" panose="02010609060101010101" pitchFamily="49" charset="-122"/>
              <a:ea typeface="黑体" panose="02010609060101010101" pitchFamily="49" charset="-122"/>
            </a:endParaRPr>
          </a:p>
        </p:txBody>
      </p:sp>
      <p:grpSp>
        <p:nvGrpSpPr>
          <p:cNvPr id="20487" name="Group 7">
            <a:extLst>
              <a:ext uri="{FF2B5EF4-FFF2-40B4-BE49-F238E27FC236}">
                <a16:creationId xmlns:a16="http://schemas.microsoft.com/office/drawing/2014/main" id="{873783FB-5CA7-42B1-9BAD-0E4892113F1D}"/>
              </a:ext>
            </a:extLst>
          </p:cNvPr>
          <p:cNvGrpSpPr>
            <a:grpSpLocks/>
          </p:cNvGrpSpPr>
          <p:nvPr/>
        </p:nvGrpSpPr>
        <p:grpSpPr bwMode="auto">
          <a:xfrm>
            <a:off x="4828926" y="3573016"/>
            <a:ext cx="3919538" cy="2652713"/>
            <a:chOff x="0" y="0"/>
            <a:chExt cx="2469" cy="1671"/>
          </a:xfrm>
        </p:grpSpPr>
        <p:sp>
          <p:nvSpPr>
            <p:cNvPr id="20498" name="Line 8">
              <a:extLst>
                <a:ext uri="{FF2B5EF4-FFF2-40B4-BE49-F238E27FC236}">
                  <a16:creationId xmlns:a16="http://schemas.microsoft.com/office/drawing/2014/main" id="{EE52476D-163A-4375-A2D0-3A5CDCBAAC6B}"/>
                </a:ext>
              </a:extLst>
            </p:cNvPr>
            <p:cNvSpPr>
              <a:spLocks noChangeShapeType="1"/>
            </p:cNvSpPr>
            <p:nvPr/>
          </p:nvSpPr>
          <p:spPr bwMode="auto">
            <a:xfrm>
              <a:off x="1459" y="177"/>
              <a:ext cx="561" cy="355"/>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499" name="Line 9">
              <a:extLst>
                <a:ext uri="{FF2B5EF4-FFF2-40B4-BE49-F238E27FC236}">
                  <a16:creationId xmlns:a16="http://schemas.microsoft.com/office/drawing/2014/main" id="{F4049781-FD0E-45D8-8A8E-62471C0F6CE0}"/>
                </a:ext>
              </a:extLst>
            </p:cNvPr>
            <p:cNvSpPr>
              <a:spLocks noChangeShapeType="1"/>
            </p:cNvSpPr>
            <p:nvPr/>
          </p:nvSpPr>
          <p:spPr bwMode="auto">
            <a:xfrm flipH="1">
              <a:off x="730" y="139"/>
              <a:ext cx="581" cy="393"/>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00" name="Line 10">
              <a:extLst>
                <a:ext uri="{FF2B5EF4-FFF2-40B4-BE49-F238E27FC236}">
                  <a16:creationId xmlns:a16="http://schemas.microsoft.com/office/drawing/2014/main" id="{31873E7B-86A9-491B-9DCF-B53EE7A4F8C4}"/>
                </a:ext>
              </a:extLst>
            </p:cNvPr>
            <p:cNvSpPr>
              <a:spLocks noChangeShapeType="1"/>
            </p:cNvSpPr>
            <p:nvPr/>
          </p:nvSpPr>
          <p:spPr bwMode="auto">
            <a:xfrm>
              <a:off x="2076" y="652"/>
              <a:ext cx="225" cy="293"/>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01" name="Line 11">
              <a:extLst>
                <a:ext uri="{FF2B5EF4-FFF2-40B4-BE49-F238E27FC236}">
                  <a16:creationId xmlns:a16="http://schemas.microsoft.com/office/drawing/2014/main" id="{E6CC5A03-4FE1-4CFB-A43E-726BF0A3BD47}"/>
                </a:ext>
              </a:extLst>
            </p:cNvPr>
            <p:cNvSpPr>
              <a:spLocks noChangeShapeType="1"/>
            </p:cNvSpPr>
            <p:nvPr/>
          </p:nvSpPr>
          <p:spPr bwMode="auto">
            <a:xfrm flipH="1">
              <a:off x="1739" y="591"/>
              <a:ext cx="281" cy="35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02" name="Line 12">
              <a:extLst>
                <a:ext uri="{FF2B5EF4-FFF2-40B4-BE49-F238E27FC236}">
                  <a16:creationId xmlns:a16="http://schemas.microsoft.com/office/drawing/2014/main" id="{211EA938-36F7-487C-90A5-A90FF74CD4B4}"/>
                </a:ext>
              </a:extLst>
            </p:cNvPr>
            <p:cNvSpPr>
              <a:spLocks noChangeShapeType="1"/>
            </p:cNvSpPr>
            <p:nvPr/>
          </p:nvSpPr>
          <p:spPr bwMode="auto">
            <a:xfrm>
              <a:off x="730" y="591"/>
              <a:ext cx="223" cy="35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03" name="Line 13">
              <a:extLst>
                <a:ext uri="{FF2B5EF4-FFF2-40B4-BE49-F238E27FC236}">
                  <a16:creationId xmlns:a16="http://schemas.microsoft.com/office/drawing/2014/main" id="{3D280FAD-F679-4236-9E9A-CD860D740E69}"/>
                </a:ext>
              </a:extLst>
            </p:cNvPr>
            <p:cNvSpPr>
              <a:spLocks noChangeShapeType="1"/>
            </p:cNvSpPr>
            <p:nvPr/>
          </p:nvSpPr>
          <p:spPr bwMode="auto">
            <a:xfrm flipH="1">
              <a:off x="336" y="652"/>
              <a:ext cx="282" cy="352"/>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04" name="Line 14">
              <a:extLst>
                <a:ext uri="{FF2B5EF4-FFF2-40B4-BE49-F238E27FC236}">
                  <a16:creationId xmlns:a16="http://schemas.microsoft.com/office/drawing/2014/main" id="{8D3D7F9A-8C62-44EB-99FE-097FD592D529}"/>
                </a:ext>
              </a:extLst>
            </p:cNvPr>
            <p:cNvSpPr>
              <a:spLocks noChangeShapeType="1"/>
            </p:cNvSpPr>
            <p:nvPr/>
          </p:nvSpPr>
          <p:spPr bwMode="auto">
            <a:xfrm flipH="1">
              <a:off x="1459" y="1065"/>
              <a:ext cx="224" cy="41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05" name="Line 15">
              <a:extLst>
                <a:ext uri="{FF2B5EF4-FFF2-40B4-BE49-F238E27FC236}">
                  <a16:creationId xmlns:a16="http://schemas.microsoft.com/office/drawing/2014/main" id="{1693C816-E05F-4A2C-9208-4685204AA7E7}"/>
                </a:ext>
              </a:extLst>
            </p:cNvPr>
            <p:cNvSpPr>
              <a:spLocks noChangeShapeType="1"/>
            </p:cNvSpPr>
            <p:nvPr/>
          </p:nvSpPr>
          <p:spPr bwMode="auto">
            <a:xfrm>
              <a:off x="1009" y="1065"/>
              <a:ext cx="112" cy="35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06" name="Line 16">
              <a:extLst>
                <a:ext uri="{FF2B5EF4-FFF2-40B4-BE49-F238E27FC236}">
                  <a16:creationId xmlns:a16="http://schemas.microsoft.com/office/drawing/2014/main" id="{7109701F-75F0-4618-9A12-D3B0C011D8B2}"/>
                </a:ext>
              </a:extLst>
            </p:cNvPr>
            <p:cNvSpPr>
              <a:spLocks noChangeShapeType="1"/>
            </p:cNvSpPr>
            <p:nvPr/>
          </p:nvSpPr>
          <p:spPr bwMode="auto">
            <a:xfrm flipH="1">
              <a:off x="786" y="1065"/>
              <a:ext cx="167" cy="41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07" name="Line 17">
              <a:extLst>
                <a:ext uri="{FF2B5EF4-FFF2-40B4-BE49-F238E27FC236}">
                  <a16:creationId xmlns:a16="http://schemas.microsoft.com/office/drawing/2014/main" id="{95DCCC64-4D09-4683-B7A9-ECB059AE8B3C}"/>
                </a:ext>
              </a:extLst>
            </p:cNvPr>
            <p:cNvSpPr>
              <a:spLocks noChangeShapeType="1"/>
            </p:cNvSpPr>
            <p:nvPr/>
          </p:nvSpPr>
          <p:spPr bwMode="auto">
            <a:xfrm>
              <a:off x="394" y="1124"/>
              <a:ext cx="112" cy="355"/>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08" name="Line 18">
              <a:extLst>
                <a:ext uri="{FF2B5EF4-FFF2-40B4-BE49-F238E27FC236}">
                  <a16:creationId xmlns:a16="http://schemas.microsoft.com/office/drawing/2014/main" id="{C6C7C372-40E1-41CE-900C-B454DE529169}"/>
                </a:ext>
              </a:extLst>
            </p:cNvPr>
            <p:cNvSpPr>
              <a:spLocks noChangeShapeType="1"/>
            </p:cNvSpPr>
            <p:nvPr/>
          </p:nvSpPr>
          <p:spPr bwMode="auto">
            <a:xfrm flipH="1">
              <a:off x="112" y="1065"/>
              <a:ext cx="224" cy="41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09" name="Oval 19">
              <a:extLst>
                <a:ext uri="{FF2B5EF4-FFF2-40B4-BE49-F238E27FC236}">
                  <a16:creationId xmlns:a16="http://schemas.microsoft.com/office/drawing/2014/main" id="{124C7740-11CE-4D01-84FC-F65605A81DD8}"/>
                </a:ext>
              </a:extLst>
            </p:cNvPr>
            <p:cNvSpPr>
              <a:spLocks noChangeArrowheads="1"/>
            </p:cNvSpPr>
            <p:nvPr/>
          </p:nvSpPr>
          <p:spPr bwMode="auto">
            <a:xfrm>
              <a:off x="0" y="1360"/>
              <a:ext cx="280" cy="296"/>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0510" name="Oval 20">
              <a:extLst>
                <a:ext uri="{FF2B5EF4-FFF2-40B4-BE49-F238E27FC236}">
                  <a16:creationId xmlns:a16="http://schemas.microsoft.com/office/drawing/2014/main" id="{71DE6062-485C-4B08-A6E1-8AD0409C48EB}"/>
                </a:ext>
              </a:extLst>
            </p:cNvPr>
            <p:cNvSpPr>
              <a:spLocks noChangeArrowheads="1"/>
            </p:cNvSpPr>
            <p:nvPr/>
          </p:nvSpPr>
          <p:spPr bwMode="auto">
            <a:xfrm>
              <a:off x="336" y="1360"/>
              <a:ext cx="282" cy="296"/>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0511" name="Oval 21">
              <a:extLst>
                <a:ext uri="{FF2B5EF4-FFF2-40B4-BE49-F238E27FC236}">
                  <a16:creationId xmlns:a16="http://schemas.microsoft.com/office/drawing/2014/main" id="{1DF0353C-53E1-4237-ACF7-7AB714960BE1}"/>
                </a:ext>
              </a:extLst>
            </p:cNvPr>
            <p:cNvSpPr>
              <a:spLocks noChangeArrowheads="1"/>
            </p:cNvSpPr>
            <p:nvPr/>
          </p:nvSpPr>
          <p:spPr bwMode="auto">
            <a:xfrm>
              <a:off x="674" y="1360"/>
              <a:ext cx="279" cy="296"/>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0512" name="Oval 22">
              <a:extLst>
                <a:ext uri="{FF2B5EF4-FFF2-40B4-BE49-F238E27FC236}">
                  <a16:creationId xmlns:a16="http://schemas.microsoft.com/office/drawing/2014/main" id="{9A3B6B30-A46B-489D-8742-2A0DE67AC8E9}"/>
                </a:ext>
              </a:extLst>
            </p:cNvPr>
            <p:cNvSpPr>
              <a:spLocks noChangeArrowheads="1"/>
            </p:cNvSpPr>
            <p:nvPr/>
          </p:nvSpPr>
          <p:spPr bwMode="auto">
            <a:xfrm>
              <a:off x="1009" y="1360"/>
              <a:ext cx="281" cy="296"/>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0513" name="Oval 23">
              <a:extLst>
                <a:ext uri="{FF2B5EF4-FFF2-40B4-BE49-F238E27FC236}">
                  <a16:creationId xmlns:a16="http://schemas.microsoft.com/office/drawing/2014/main" id="{DC2B574C-D5DF-444A-B9E8-7D87A84CC44B}"/>
                </a:ext>
              </a:extLst>
            </p:cNvPr>
            <p:cNvSpPr>
              <a:spLocks noChangeArrowheads="1"/>
            </p:cNvSpPr>
            <p:nvPr/>
          </p:nvSpPr>
          <p:spPr bwMode="auto">
            <a:xfrm>
              <a:off x="1347" y="1360"/>
              <a:ext cx="280" cy="296"/>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0514" name="Oval 24">
              <a:extLst>
                <a:ext uri="{FF2B5EF4-FFF2-40B4-BE49-F238E27FC236}">
                  <a16:creationId xmlns:a16="http://schemas.microsoft.com/office/drawing/2014/main" id="{30A90FE4-DFFF-4FB3-AFA1-E43EDB47787D}"/>
                </a:ext>
              </a:extLst>
            </p:cNvPr>
            <p:cNvSpPr>
              <a:spLocks noChangeArrowheads="1"/>
            </p:cNvSpPr>
            <p:nvPr/>
          </p:nvSpPr>
          <p:spPr bwMode="auto">
            <a:xfrm>
              <a:off x="224" y="886"/>
              <a:ext cx="282" cy="297"/>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0515" name="Oval 25">
              <a:extLst>
                <a:ext uri="{FF2B5EF4-FFF2-40B4-BE49-F238E27FC236}">
                  <a16:creationId xmlns:a16="http://schemas.microsoft.com/office/drawing/2014/main" id="{EECC9572-4633-4D58-A1D3-7521113683EC}"/>
                </a:ext>
              </a:extLst>
            </p:cNvPr>
            <p:cNvSpPr>
              <a:spLocks noChangeArrowheads="1"/>
            </p:cNvSpPr>
            <p:nvPr/>
          </p:nvSpPr>
          <p:spPr bwMode="auto">
            <a:xfrm>
              <a:off x="842" y="886"/>
              <a:ext cx="279" cy="297"/>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0516" name="Oval 26">
              <a:extLst>
                <a:ext uri="{FF2B5EF4-FFF2-40B4-BE49-F238E27FC236}">
                  <a16:creationId xmlns:a16="http://schemas.microsoft.com/office/drawing/2014/main" id="{2D0FA26E-8E2E-4BA5-9A93-86D5C64E30D7}"/>
                </a:ext>
              </a:extLst>
            </p:cNvPr>
            <p:cNvSpPr>
              <a:spLocks noChangeArrowheads="1"/>
            </p:cNvSpPr>
            <p:nvPr/>
          </p:nvSpPr>
          <p:spPr bwMode="auto">
            <a:xfrm>
              <a:off x="1571" y="886"/>
              <a:ext cx="280" cy="297"/>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a:solidFill>
                    <a:srgbClr val="C1C1FF"/>
                  </a:solidFill>
                  <a:latin typeface="Times New Roman" panose="02020603050405020304" pitchFamily="18" charset="0"/>
                </a:rPr>
                <a:t>6</a:t>
              </a:r>
            </a:p>
          </p:txBody>
        </p:sp>
        <p:sp>
          <p:nvSpPr>
            <p:cNvPr id="20517" name="Oval 27">
              <a:extLst>
                <a:ext uri="{FF2B5EF4-FFF2-40B4-BE49-F238E27FC236}">
                  <a16:creationId xmlns:a16="http://schemas.microsoft.com/office/drawing/2014/main" id="{1CF0B5F2-5F7B-4B00-AA6D-061B05419325}"/>
                </a:ext>
              </a:extLst>
            </p:cNvPr>
            <p:cNvSpPr>
              <a:spLocks noChangeArrowheads="1"/>
            </p:cNvSpPr>
            <p:nvPr/>
          </p:nvSpPr>
          <p:spPr bwMode="auto">
            <a:xfrm>
              <a:off x="2164" y="886"/>
              <a:ext cx="305" cy="297"/>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0518" name="Oval 28">
              <a:extLst>
                <a:ext uri="{FF2B5EF4-FFF2-40B4-BE49-F238E27FC236}">
                  <a16:creationId xmlns:a16="http://schemas.microsoft.com/office/drawing/2014/main" id="{6D4D7869-C0D3-4359-AE51-2246A24488E0}"/>
                </a:ext>
              </a:extLst>
            </p:cNvPr>
            <p:cNvSpPr>
              <a:spLocks noChangeArrowheads="1"/>
            </p:cNvSpPr>
            <p:nvPr/>
          </p:nvSpPr>
          <p:spPr bwMode="auto">
            <a:xfrm>
              <a:off x="562" y="414"/>
              <a:ext cx="280" cy="297"/>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a:solidFill>
                    <a:srgbClr val="C1C1FF"/>
                  </a:solidFill>
                  <a:latin typeface="Times New Roman" panose="02020603050405020304" pitchFamily="18" charset="0"/>
                </a:rPr>
                <a:t>2</a:t>
              </a:r>
              <a:endParaRPr lang="zh-CN" altLang="en-US" sz="2800" b="1">
                <a:latin typeface="Times New Roman" panose="02020603050405020304" pitchFamily="18" charset="0"/>
              </a:endParaRPr>
            </a:p>
          </p:txBody>
        </p:sp>
        <p:sp>
          <p:nvSpPr>
            <p:cNvPr id="20519" name="Oval 29">
              <a:extLst>
                <a:ext uri="{FF2B5EF4-FFF2-40B4-BE49-F238E27FC236}">
                  <a16:creationId xmlns:a16="http://schemas.microsoft.com/office/drawing/2014/main" id="{A3D3C6F5-6E07-4EAF-8B01-A0B26D17302C}"/>
                </a:ext>
              </a:extLst>
            </p:cNvPr>
            <p:cNvSpPr>
              <a:spLocks noChangeArrowheads="1"/>
            </p:cNvSpPr>
            <p:nvPr/>
          </p:nvSpPr>
          <p:spPr bwMode="auto">
            <a:xfrm>
              <a:off x="1907" y="414"/>
              <a:ext cx="282" cy="297"/>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0520" name="Oval 30">
              <a:extLst>
                <a:ext uri="{FF2B5EF4-FFF2-40B4-BE49-F238E27FC236}">
                  <a16:creationId xmlns:a16="http://schemas.microsoft.com/office/drawing/2014/main" id="{0E782B16-04C5-4406-8C32-5B5E9DBF40E6}"/>
                </a:ext>
              </a:extLst>
            </p:cNvPr>
            <p:cNvSpPr>
              <a:spLocks noChangeArrowheads="1"/>
            </p:cNvSpPr>
            <p:nvPr/>
          </p:nvSpPr>
          <p:spPr bwMode="auto">
            <a:xfrm>
              <a:off x="1234" y="0"/>
              <a:ext cx="281" cy="296"/>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dirty="0">
                  <a:solidFill>
                    <a:srgbClr val="C1C1FF"/>
                  </a:solidFill>
                  <a:latin typeface="Times New Roman" panose="02020603050405020304" pitchFamily="18" charset="0"/>
                </a:rPr>
                <a:t>1</a:t>
              </a:r>
            </a:p>
          </p:txBody>
        </p:sp>
        <p:sp>
          <p:nvSpPr>
            <p:cNvPr id="20521" name="Rectangle 31">
              <a:extLst>
                <a:ext uri="{FF2B5EF4-FFF2-40B4-BE49-F238E27FC236}">
                  <a16:creationId xmlns:a16="http://schemas.microsoft.com/office/drawing/2014/main" id="{B81384AA-665D-4030-93F1-E083703D843F}"/>
                </a:ext>
              </a:extLst>
            </p:cNvPr>
            <p:cNvSpPr>
              <a:spLocks noChangeArrowheads="1"/>
            </p:cNvSpPr>
            <p:nvPr/>
          </p:nvSpPr>
          <p:spPr bwMode="auto">
            <a:xfrm>
              <a:off x="2208" y="864"/>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1">
                  <a:solidFill>
                    <a:srgbClr val="C1C1FF"/>
                  </a:solidFill>
                  <a:latin typeface="Times New Roman" panose="02020603050405020304" pitchFamily="18" charset="0"/>
                </a:rPr>
                <a:t>7</a:t>
              </a:r>
            </a:p>
          </p:txBody>
        </p:sp>
        <p:sp>
          <p:nvSpPr>
            <p:cNvPr id="20522" name="Rectangle 32">
              <a:extLst>
                <a:ext uri="{FF2B5EF4-FFF2-40B4-BE49-F238E27FC236}">
                  <a16:creationId xmlns:a16="http://schemas.microsoft.com/office/drawing/2014/main" id="{E6C6E07B-3AA7-4BEF-8F35-1D73D8DDF15A}"/>
                </a:ext>
              </a:extLst>
            </p:cNvPr>
            <p:cNvSpPr>
              <a:spLocks noChangeArrowheads="1"/>
            </p:cNvSpPr>
            <p:nvPr/>
          </p:nvSpPr>
          <p:spPr bwMode="auto">
            <a:xfrm>
              <a:off x="864" y="864"/>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1">
                  <a:solidFill>
                    <a:srgbClr val="C1C1FF"/>
                  </a:solidFill>
                  <a:latin typeface="Times New Roman" panose="02020603050405020304" pitchFamily="18" charset="0"/>
                </a:rPr>
                <a:t>5</a:t>
              </a:r>
            </a:p>
          </p:txBody>
        </p:sp>
        <p:sp>
          <p:nvSpPr>
            <p:cNvPr id="20523" name="Rectangle 33">
              <a:extLst>
                <a:ext uri="{FF2B5EF4-FFF2-40B4-BE49-F238E27FC236}">
                  <a16:creationId xmlns:a16="http://schemas.microsoft.com/office/drawing/2014/main" id="{15421B5D-6220-45D7-A804-A41712A78477}"/>
                </a:ext>
              </a:extLst>
            </p:cNvPr>
            <p:cNvSpPr>
              <a:spLocks noChangeArrowheads="1"/>
            </p:cNvSpPr>
            <p:nvPr/>
          </p:nvSpPr>
          <p:spPr bwMode="auto">
            <a:xfrm>
              <a:off x="240" y="864"/>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1">
                  <a:solidFill>
                    <a:srgbClr val="C1C1FF"/>
                  </a:solidFill>
                  <a:latin typeface="Times New Roman" panose="02020603050405020304" pitchFamily="18" charset="0"/>
                </a:rPr>
                <a:t>4</a:t>
              </a:r>
            </a:p>
          </p:txBody>
        </p:sp>
        <p:sp>
          <p:nvSpPr>
            <p:cNvPr id="20524" name="Rectangle 34">
              <a:extLst>
                <a:ext uri="{FF2B5EF4-FFF2-40B4-BE49-F238E27FC236}">
                  <a16:creationId xmlns:a16="http://schemas.microsoft.com/office/drawing/2014/main" id="{A694E6AD-8D03-4CD7-B773-38CDDA41D4CF}"/>
                </a:ext>
              </a:extLst>
            </p:cNvPr>
            <p:cNvSpPr>
              <a:spLocks noChangeArrowheads="1"/>
            </p:cNvSpPr>
            <p:nvPr/>
          </p:nvSpPr>
          <p:spPr bwMode="auto">
            <a:xfrm>
              <a:off x="1920" y="384"/>
              <a:ext cx="24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a:solidFill>
                    <a:srgbClr val="C1C1FF"/>
                  </a:solidFill>
                  <a:latin typeface="Times New Roman" panose="02020603050405020304" pitchFamily="18" charset="0"/>
                </a:rPr>
                <a:t>3</a:t>
              </a:r>
            </a:p>
          </p:txBody>
        </p:sp>
        <p:sp>
          <p:nvSpPr>
            <p:cNvPr id="2" name="Rectangle 35">
              <a:extLst>
                <a:ext uri="{FF2B5EF4-FFF2-40B4-BE49-F238E27FC236}">
                  <a16:creationId xmlns:a16="http://schemas.microsoft.com/office/drawing/2014/main" id="{FD23DDDA-0659-42BF-B8FB-F90738A801C5}"/>
                </a:ext>
              </a:extLst>
            </p:cNvPr>
            <p:cNvSpPr>
              <a:spLocks noChangeArrowheads="1"/>
            </p:cNvSpPr>
            <p:nvPr/>
          </p:nvSpPr>
          <p:spPr bwMode="auto">
            <a:xfrm>
              <a:off x="10" y="1344"/>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1">
                  <a:solidFill>
                    <a:srgbClr val="C1C1FF"/>
                  </a:solidFill>
                  <a:latin typeface="Times New Roman" panose="02020603050405020304" pitchFamily="18" charset="0"/>
                </a:rPr>
                <a:t>8</a:t>
              </a:r>
            </a:p>
          </p:txBody>
        </p:sp>
        <p:sp>
          <p:nvSpPr>
            <p:cNvPr id="20526" name="Rectangle 36">
              <a:extLst>
                <a:ext uri="{FF2B5EF4-FFF2-40B4-BE49-F238E27FC236}">
                  <a16:creationId xmlns:a16="http://schemas.microsoft.com/office/drawing/2014/main" id="{89079832-8A03-4699-8196-00D85D41A372}"/>
                </a:ext>
              </a:extLst>
            </p:cNvPr>
            <p:cNvSpPr>
              <a:spLocks noChangeArrowheads="1"/>
            </p:cNvSpPr>
            <p:nvPr/>
          </p:nvSpPr>
          <p:spPr bwMode="auto">
            <a:xfrm>
              <a:off x="337" y="1344"/>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1">
                  <a:solidFill>
                    <a:srgbClr val="C1C1FF"/>
                  </a:solidFill>
                  <a:latin typeface="Times New Roman" panose="02020603050405020304" pitchFamily="18" charset="0"/>
                </a:rPr>
                <a:t>9</a:t>
              </a:r>
            </a:p>
          </p:txBody>
        </p:sp>
        <p:sp>
          <p:nvSpPr>
            <p:cNvPr id="20527" name="Rectangle 37">
              <a:extLst>
                <a:ext uri="{FF2B5EF4-FFF2-40B4-BE49-F238E27FC236}">
                  <a16:creationId xmlns:a16="http://schemas.microsoft.com/office/drawing/2014/main" id="{0962D256-3678-4964-852F-9E1972B91E70}"/>
                </a:ext>
              </a:extLst>
            </p:cNvPr>
            <p:cNvSpPr>
              <a:spLocks noChangeArrowheads="1"/>
            </p:cNvSpPr>
            <p:nvPr/>
          </p:nvSpPr>
          <p:spPr bwMode="auto">
            <a:xfrm>
              <a:off x="600" y="1344"/>
              <a:ext cx="34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1">
                  <a:solidFill>
                    <a:srgbClr val="C1C1FF"/>
                  </a:solidFill>
                  <a:latin typeface="Times New Roman" panose="02020603050405020304" pitchFamily="18" charset="0"/>
                </a:rPr>
                <a:t>10</a:t>
              </a:r>
            </a:p>
          </p:txBody>
        </p:sp>
        <p:sp>
          <p:nvSpPr>
            <p:cNvPr id="20528" name="Rectangle 38">
              <a:extLst>
                <a:ext uri="{FF2B5EF4-FFF2-40B4-BE49-F238E27FC236}">
                  <a16:creationId xmlns:a16="http://schemas.microsoft.com/office/drawing/2014/main" id="{DF6D162E-1C0A-4C62-BA74-61BBDE80E6E9}"/>
                </a:ext>
              </a:extLst>
            </p:cNvPr>
            <p:cNvSpPr>
              <a:spLocks noChangeArrowheads="1"/>
            </p:cNvSpPr>
            <p:nvPr/>
          </p:nvSpPr>
          <p:spPr bwMode="auto">
            <a:xfrm>
              <a:off x="993" y="1344"/>
              <a:ext cx="34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1">
                  <a:solidFill>
                    <a:srgbClr val="C1C1FF"/>
                  </a:solidFill>
                  <a:latin typeface="Times New Roman" panose="02020603050405020304" pitchFamily="18" charset="0"/>
                </a:rPr>
                <a:t>11</a:t>
              </a:r>
            </a:p>
          </p:txBody>
        </p:sp>
        <p:sp>
          <p:nvSpPr>
            <p:cNvPr id="20529" name="Rectangle 39">
              <a:extLst>
                <a:ext uri="{FF2B5EF4-FFF2-40B4-BE49-F238E27FC236}">
                  <a16:creationId xmlns:a16="http://schemas.microsoft.com/office/drawing/2014/main" id="{F0EB4A88-6C8B-41C1-BD88-F258C18C9F08}"/>
                </a:ext>
              </a:extLst>
            </p:cNvPr>
            <p:cNvSpPr>
              <a:spLocks noChangeArrowheads="1"/>
            </p:cNvSpPr>
            <p:nvPr/>
          </p:nvSpPr>
          <p:spPr bwMode="auto">
            <a:xfrm>
              <a:off x="1321" y="1344"/>
              <a:ext cx="34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1">
                  <a:solidFill>
                    <a:srgbClr val="C1C1FF"/>
                  </a:solidFill>
                  <a:latin typeface="Times New Roman" panose="02020603050405020304" pitchFamily="18" charset="0"/>
                </a:rPr>
                <a:t>12</a:t>
              </a:r>
            </a:p>
          </p:txBody>
        </p:sp>
      </p:grpSp>
      <p:grpSp>
        <p:nvGrpSpPr>
          <p:cNvPr id="20488" name="Group 40">
            <a:extLst>
              <a:ext uri="{FF2B5EF4-FFF2-40B4-BE49-F238E27FC236}">
                <a16:creationId xmlns:a16="http://schemas.microsoft.com/office/drawing/2014/main" id="{746E46C6-3AEC-4B33-B402-EA8B4A889F8F}"/>
              </a:ext>
            </a:extLst>
          </p:cNvPr>
          <p:cNvGrpSpPr>
            <a:grpSpLocks/>
          </p:cNvGrpSpPr>
          <p:nvPr/>
        </p:nvGrpSpPr>
        <p:grpSpPr bwMode="auto">
          <a:xfrm>
            <a:off x="7465764" y="1337056"/>
            <a:ext cx="990600" cy="381000"/>
            <a:chOff x="0" y="0"/>
            <a:chExt cx="624" cy="240"/>
          </a:xfrm>
        </p:grpSpPr>
        <p:sp>
          <p:nvSpPr>
            <p:cNvPr id="20494" name="Line 41">
              <a:extLst>
                <a:ext uri="{FF2B5EF4-FFF2-40B4-BE49-F238E27FC236}">
                  <a16:creationId xmlns:a16="http://schemas.microsoft.com/office/drawing/2014/main" id="{DB69BAC5-74E0-4B63-B34A-88739C4D885C}"/>
                </a:ext>
              </a:extLst>
            </p:cNvPr>
            <p:cNvSpPr>
              <a:spLocks noChangeShapeType="1"/>
            </p:cNvSpPr>
            <p:nvPr/>
          </p:nvSpPr>
          <p:spPr bwMode="auto">
            <a:xfrm>
              <a:off x="0" y="0"/>
              <a:ext cx="0" cy="240"/>
            </a:xfrm>
            <a:prstGeom prst="line">
              <a:avLst/>
            </a:prstGeom>
            <a:noFill/>
            <a:ln w="254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0495" name="Line 42">
              <a:extLst>
                <a:ext uri="{FF2B5EF4-FFF2-40B4-BE49-F238E27FC236}">
                  <a16:creationId xmlns:a16="http://schemas.microsoft.com/office/drawing/2014/main" id="{04CFEE40-CC41-4255-86EC-4FDD87CED277}"/>
                </a:ext>
              </a:extLst>
            </p:cNvPr>
            <p:cNvSpPr>
              <a:spLocks noChangeShapeType="1"/>
            </p:cNvSpPr>
            <p:nvPr/>
          </p:nvSpPr>
          <p:spPr bwMode="auto">
            <a:xfrm>
              <a:off x="0" y="240"/>
              <a:ext cx="48" cy="0"/>
            </a:xfrm>
            <a:prstGeom prst="line">
              <a:avLst/>
            </a:prstGeom>
            <a:noFill/>
            <a:ln w="254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0496" name="Line 43">
              <a:extLst>
                <a:ext uri="{FF2B5EF4-FFF2-40B4-BE49-F238E27FC236}">
                  <a16:creationId xmlns:a16="http://schemas.microsoft.com/office/drawing/2014/main" id="{26DD7429-ACB9-4B60-8BDF-C173994121BE}"/>
                </a:ext>
              </a:extLst>
            </p:cNvPr>
            <p:cNvSpPr>
              <a:spLocks noChangeShapeType="1"/>
            </p:cNvSpPr>
            <p:nvPr/>
          </p:nvSpPr>
          <p:spPr bwMode="auto">
            <a:xfrm>
              <a:off x="624" y="0"/>
              <a:ext cx="0" cy="240"/>
            </a:xfrm>
            <a:prstGeom prst="line">
              <a:avLst/>
            </a:prstGeom>
            <a:noFill/>
            <a:ln w="254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0497" name="Line 44">
              <a:extLst>
                <a:ext uri="{FF2B5EF4-FFF2-40B4-BE49-F238E27FC236}">
                  <a16:creationId xmlns:a16="http://schemas.microsoft.com/office/drawing/2014/main" id="{2DE03EA7-0B26-471E-A04A-90E9A6D33F10}"/>
                </a:ext>
              </a:extLst>
            </p:cNvPr>
            <p:cNvSpPr>
              <a:spLocks noChangeShapeType="1"/>
            </p:cNvSpPr>
            <p:nvPr/>
          </p:nvSpPr>
          <p:spPr bwMode="auto">
            <a:xfrm>
              <a:off x="576" y="240"/>
              <a:ext cx="48" cy="0"/>
            </a:xfrm>
            <a:prstGeom prst="line">
              <a:avLst/>
            </a:prstGeom>
            <a:noFill/>
            <a:ln w="254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20525" name="Group 45">
            <a:extLst>
              <a:ext uri="{FF2B5EF4-FFF2-40B4-BE49-F238E27FC236}">
                <a16:creationId xmlns:a16="http://schemas.microsoft.com/office/drawing/2014/main" id="{69DAAE47-392B-4AA2-A998-9F3721B3D908}"/>
              </a:ext>
            </a:extLst>
          </p:cNvPr>
          <p:cNvGrpSpPr>
            <a:grpSpLocks/>
          </p:cNvGrpSpPr>
          <p:nvPr/>
        </p:nvGrpSpPr>
        <p:grpSpPr bwMode="auto">
          <a:xfrm>
            <a:off x="2028937" y="3564972"/>
            <a:ext cx="1066800" cy="381000"/>
            <a:chOff x="0" y="0"/>
            <a:chExt cx="624" cy="240"/>
          </a:xfrm>
        </p:grpSpPr>
        <p:sp>
          <p:nvSpPr>
            <p:cNvPr id="20490" name="Line 46">
              <a:extLst>
                <a:ext uri="{FF2B5EF4-FFF2-40B4-BE49-F238E27FC236}">
                  <a16:creationId xmlns:a16="http://schemas.microsoft.com/office/drawing/2014/main" id="{0D61B449-3AA1-498C-BB32-DD53FE0E092E}"/>
                </a:ext>
              </a:extLst>
            </p:cNvPr>
            <p:cNvSpPr>
              <a:spLocks noChangeShapeType="1"/>
            </p:cNvSpPr>
            <p:nvPr/>
          </p:nvSpPr>
          <p:spPr bwMode="auto">
            <a:xfrm>
              <a:off x="0" y="0"/>
              <a:ext cx="0" cy="24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0491" name="Line 47">
              <a:extLst>
                <a:ext uri="{FF2B5EF4-FFF2-40B4-BE49-F238E27FC236}">
                  <a16:creationId xmlns:a16="http://schemas.microsoft.com/office/drawing/2014/main" id="{86549D69-DDC2-425C-A039-E4C51C2373BF}"/>
                </a:ext>
              </a:extLst>
            </p:cNvPr>
            <p:cNvSpPr>
              <a:spLocks noChangeShapeType="1"/>
            </p:cNvSpPr>
            <p:nvPr/>
          </p:nvSpPr>
          <p:spPr bwMode="auto">
            <a:xfrm>
              <a:off x="0" y="240"/>
              <a:ext cx="4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0492" name="Line 48">
              <a:extLst>
                <a:ext uri="{FF2B5EF4-FFF2-40B4-BE49-F238E27FC236}">
                  <a16:creationId xmlns:a16="http://schemas.microsoft.com/office/drawing/2014/main" id="{8A2EAEF2-A8E3-4155-B702-FA862E29A7F7}"/>
                </a:ext>
              </a:extLst>
            </p:cNvPr>
            <p:cNvSpPr>
              <a:spLocks noChangeShapeType="1"/>
            </p:cNvSpPr>
            <p:nvPr/>
          </p:nvSpPr>
          <p:spPr bwMode="auto">
            <a:xfrm>
              <a:off x="624" y="0"/>
              <a:ext cx="0" cy="24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0493" name="Line 49">
              <a:extLst>
                <a:ext uri="{FF2B5EF4-FFF2-40B4-BE49-F238E27FC236}">
                  <a16:creationId xmlns:a16="http://schemas.microsoft.com/office/drawing/2014/main" id="{28EFCCC6-0F93-41A6-B062-4E5DF6DCFB3F}"/>
                </a:ext>
              </a:extLst>
            </p:cNvPr>
            <p:cNvSpPr>
              <a:spLocks noChangeShapeType="1"/>
            </p:cNvSpPr>
            <p:nvPr/>
          </p:nvSpPr>
          <p:spPr bwMode="auto">
            <a:xfrm>
              <a:off x="576" y="240"/>
              <a:ext cx="4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4" name="Text Box 4">
            <a:extLst>
              <a:ext uri="{FF2B5EF4-FFF2-40B4-BE49-F238E27FC236}">
                <a16:creationId xmlns:a16="http://schemas.microsoft.com/office/drawing/2014/main" id="{656A02C8-F05A-B4D7-EF0D-BD3D78C7CFD3}"/>
              </a:ext>
            </a:extLst>
          </p:cNvPr>
          <p:cNvSpPr txBox="1">
            <a:spLocks noChangeArrowheads="1"/>
          </p:cNvSpPr>
          <p:nvPr/>
        </p:nvSpPr>
        <p:spPr bwMode="auto">
          <a:xfrm>
            <a:off x="150822" y="180899"/>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完全二叉树性质</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0485">
                                            <p:txEl>
                                              <p:pRg st="1" end="1"/>
                                            </p:txEl>
                                          </p:spTgt>
                                        </p:tgtEl>
                                        <p:attrNameLst>
                                          <p:attrName>style.visibility</p:attrName>
                                        </p:attrNameLst>
                                      </p:cBhvr>
                                      <p:to>
                                        <p:strVal val="visible"/>
                                      </p:to>
                                    </p:set>
                                    <p:animEffect transition="in" filter="blinds(horizontal)">
                                      <p:cBhvr>
                                        <p:cTn id="7" dur="500"/>
                                        <p:tgtEl>
                                          <p:spTgt spid="2048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0485">
                                            <p:txEl>
                                              <p:pRg st="2" end="2"/>
                                            </p:txEl>
                                          </p:spTgt>
                                        </p:tgtEl>
                                        <p:attrNameLst>
                                          <p:attrName>style.visibility</p:attrName>
                                        </p:attrNameLst>
                                      </p:cBhvr>
                                      <p:to>
                                        <p:strVal val="visible"/>
                                      </p:to>
                                    </p:set>
                                    <p:animEffect transition="in" filter="blinds(horizontal)">
                                      <p:cBhvr>
                                        <p:cTn id="12" dur="500"/>
                                        <p:tgtEl>
                                          <p:spTgt spid="20485">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0485">
                                            <p:txEl>
                                              <p:pRg st="3" end="3"/>
                                            </p:txEl>
                                          </p:spTgt>
                                        </p:tgtEl>
                                        <p:attrNameLst>
                                          <p:attrName>style.visibility</p:attrName>
                                        </p:attrNameLst>
                                      </p:cBhvr>
                                      <p:to>
                                        <p:strVal val="visible"/>
                                      </p:to>
                                    </p:set>
                                    <p:animEffect transition="in" filter="blinds(horizontal)">
                                      <p:cBhvr>
                                        <p:cTn id="17" dur="500"/>
                                        <p:tgtEl>
                                          <p:spTgt spid="20485">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0485">
                                            <p:txEl>
                                              <p:pRg st="4" end="4"/>
                                            </p:txEl>
                                          </p:spTgt>
                                        </p:tgtEl>
                                        <p:attrNameLst>
                                          <p:attrName>style.visibility</p:attrName>
                                        </p:attrNameLst>
                                      </p:cBhvr>
                                      <p:to>
                                        <p:strVal val="visible"/>
                                      </p:to>
                                    </p:set>
                                    <p:animEffect transition="in" filter="blinds(horizontal)">
                                      <p:cBhvr>
                                        <p:cTn id="22" dur="500"/>
                                        <p:tgtEl>
                                          <p:spTgt spid="20485">
                                            <p:txEl>
                                              <p:pRg st="4" end="4"/>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20525"/>
                                        </p:tgtEl>
                                        <p:attrNameLst>
                                          <p:attrName>style.visibility</p:attrName>
                                        </p:attrNameLst>
                                      </p:cBhvr>
                                      <p:to>
                                        <p:strVal val="visible"/>
                                      </p:to>
                                    </p:set>
                                    <p:animEffect transition="in" filter="blinds(horizontal)">
                                      <p:cBhvr>
                                        <p:cTn id="25" dur="500"/>
                                        <p:tgtEl>
                                          <p:spTgt spid="205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B5CA2587-47F8-4811-9B06-EB95A3D0F565}"/>
              </a:ext>
            </a:extLst>
          </p:cNvPr>
          <p:cNvSpPr>
            <a:spLocks noGrp="1" noChangeArrowheads="1"/>
          </p:cNvSpPr>
          <p:nvPr>
            <p:ph type="title"/>
          </p:nvPr>
        </p:nvSpPr>
        <p:spPr>
          <a:xfrm>
            <a:off x="543744" y="1442612"/>
            <a:ext cx="8182744" cy="685800"/>
          </a:xfrm>
        </p:spPr>
        <p:txBody>
          <a:bodyPr/>
          <a:lstStyle/>
          <a:p>
            <a:pPr algn="l" eaLnBrk="1" hangingPunct="1"/>
            <a:r>
              <a:rPr lang="zh-CN" altLang="en-US" sz="2800" dirty="0">
                <a:solidFill>
                  <a:srgbClr val="FF0000"/>
                </a:solidFill>
                <a:latin typeface="+mn-ea"/>
                <a:ea typeface="+mn-ea"/>
              </a:rPr>
              <a:t>性质５：</a:t>
            </a:r>
            <a:r>
              <a:rPr lang="zh-CN" altLang="en-US" sz="2800" dirty="0">
                <a:latin typeface="+mn-ea"/>
                <a:ea typeface="+mn-ea"/>
              </a:rPr>
              <a:t>对含</a:t>
            </a:r>
            <a:r>
              <a:rPr lang="en-US" altLang="zh-CN" sz="2800" dirty="0">
                <a:latin typeface="+mn-ea"/>
                <a:ea typeface="+mn-ea"/>
              </a:rPr>
              <a:t>n</a:t>
            </a:r>
            <a:r>
              <a:rPr lang="zh-CN" altLang="en-US" sz="2800" dirty="0">
                <a:latin typeface="+mn-ea"/>
                <a:ea typeface="+mn-ea"/>
              </a:rPr>
              <a:t>个结点的完全二叉树的结点按层序从</a:t>
            </a:r>
            <a:r>
              <a:rPr lang="en-US" altLang="zh-CN" sz="2800" dirty="0">
                <a:latin typeface="+mn-ea"/>
                <a:ea typeface="+mn-ea"/>
              </a:rPr>
              <a:t>1</a:t>
            </a:r>
            <a:r>
              <a:rPr lang="zh-CN" altLang="en-US" sz="2800" dirty="0">
                <a:latin typeface="+mn-ea"/>
                <a:ea typeface="+mn-ea"/>
              </a:rPr>
              <a:t>开始编号。</a:t>
            </a:r>
            <a:endParaRPr lang="en-US" altLang="zh-CN" sz="2800" dirty="0">
              <a:latin typeface="+mn-ea"/>
              <a:ea typeface="+mn-ea"/>
            </a:endParaRPr>
          </a:p>
        </p:txBody>
      </p:sp>
      <p:sp>
        <p:nvSpPr>
          <p:cNvPr id="21507" name="Text Box 3">
            <a:extLst>
              <a:ext uri="{FF2B5EF4-FFF2-40B4-BE49-F238E27FC236}">
                <a16:creationId xmlns:a16="http://schemas.microsoft.com/office/drawing/2014/main" id="{13623E41-8AEC-4688-B2B3-01A963E88ED3}"/>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32BE0C8B-A842-4DF3-8570-16B878B641D8}" type="slidenum">
              <a:rPr lang="zh-CN" altLang="en-US" sz="2400"/>
              <a:pPr algn="r" eaLnBrk="1" hangingPunct="1">
                <a:spcBef>
                  <a:spcPct val="50000"/>
                </a:spcBef>
                <a:buClrTx/>
                <a:buSzTx/>
                <a:buFont typeface="Arial" panose="020B0604020202020204" pitchFamily="34" charset="0"/>
                <a:buNone/>
              </a:pPr>
              <a:t>18</a:t>
            </a:fld>
            <a:endParaRPr lang="en-US" altLang="zh-CN" sz="2400"/>
          </a:p>
        </p:txBody>
      </p:sp>
      <p:sp>
        <p:nvSpPr>
          <p:cNvPr id="21509" name="Rectangle 5">
            <a:extLst>
              <a:ext uri="{FF2B5EF4-FFF2-40B4-BE49-F238E27FC236}">
                <a16:creationId xmlns:a16="http://schemas.microsoft.com/office/drawing/2014/main" id="{BBFBEF35-A928-4F17-AAFA-F716DBA52A45}"/>
              </a:ext>
            </a:extLst>
          </p:cNvPr>
          <p:cNvSpPr>
            <a:spLocks noGrp="1" noChangeArrowheads="1"/>
          </p:cNvSpPr>
          <p:nvPr>
            <p:ph type="body" idx="1"/>
          </p:nvPr>
        </p:nvSpPr>
        <p:spPr>
          <a:xfrm>
            <a:off x="543744" y="2124387"/>
            <a:ext cx="8763000" cy="1657349"/>
          </a:xfrm>
        </p:spPr>
        <p:txBody>
          <a:bodyPr/>
          <a:lstStyle/>
          <a:p>
            <a:pPr eaLnBrk="1" hangingPunct="1">
              <a:spcBef>
                <a:spcPct val="30000"/>
              </a:spcBef>
            </a:pPr>
            <a:r>
              <a:rPr lang="zh-CN" altLang="en-US" dirty="0">
                <a:latin typeface="黑体" panose="02010609060101010101" pitchFamily="49" charset="-122"/>
                <a:ea typeface="黑体" panose="02010609060101010101" pitchFamily="49" charset="-122"/>
              </a:rPr>
              <a:t>结点</a:t>
            </a:r>
            <a:r>
              <a:rPr lang="en-US" altLang="zh-CN" dirty="0" err="1">
                <a:latin typeface="黑体" panose="02010609060101010101" pitchFamily="49" charset="-122"/>
                <a:ea typeface="黑体" panose="02010609060101010101" pitchFamily="49" charset="-122"/>
              </a:rPr>
              <a:t>i</a:t>
            </a:r>
            <a:r>
              <a:rPr lang="zh-CN" altLang="en-US" dirty="0">
                <a:latin typeface="黑体" panose="02010609060101010101" pitchFamily="49" charset="-122"/>
                <a:ea typeface="黑体" panose="02010609060101010101" pitchFamily="49" charset="-122"/>
              </a:rPr>
              <a:t>的双亲为 </a:t>
            </a:r>
            <a:r>
              <a:rPr lang="en-US" altLang="zh-CN" dirty="0" err="1">
                <a:latin typeface="黑体" panose="02010609060101010101" pitchFamily="49" charset="-122"/>
                <a:ea typeface="黑体" panose="02010609060101010101" pitchFamily="49" charset="-122"/>
              </a:rPr>
              <a:t>i</a:t>
            </a:r>
            <a:r>
              <a:rPr lang="en-US" altLang="zh-CN" dirty="0">
                <a:latin typeface="黑体" panose="02010609060101010101" pitchFamily="49" charset="-122"/>
                <a:ea typeface="黑体" panose="02010609060101010101" pitchFamily="49" charset="-122"/>
              </a:rPr>
              <a:t>/2</a:t>
            </a:r>
          </a:p>
          <a:p>
            <a:pPr eaLnBrk="1" hangingPunct="1">
              <a:spcBef>
                <a:spcPct val="30000"/>
              </a:spcBef>
            </a:pPr>
            <a:r>
              <a:rPr lang="zh-CN" altLang="en-US" dirty="0">
                <a:latin typeface="黑体" panose="02010609060101010101" pitchFamily="49" charset="-122"/>
                <a:ea typeface="黑体" panose="02010609060101010101" pitchFamily="49" charset="-122"/>
              </a:rPr>
              <a:t>结点</a:t>
            </a:r>
            <a:r>
              <a:rPr lang="en-US" altLang="zh-CN" dirty="0" err="1">
                <a:latin typeface="黑体" panose="02010609060101010101" pitchFamily="49" charset="-122"/>
                <a:ea typeface="黑体" panose="02010609060101010101" pitchFamily="49" charset="-122"/>
              </a:rPr>
              <a:t>i</a:t>
            </a:r>
            <a:r>
              <a:rPr lang="zh-CN" altLang="en-US" dirty="0">
                <a:latin typeface="黑体" panose="02010609060101010101" pitchFamily="49" charset="-122"/>
                <a:ea typeface="黑体" panose="02010609060101010101" pitchFamily="49" charset="-122"/>
              </a:rPr>
              <a:t>的左孩子</a:t>
            </a:r>
            <a:r>
              <a:rPr lang="en-US" altLang="zh-CN" dirty="0">
                <a:latin typeface="黑体" panose="02010609060101010101" pitchFamily="49" charset="-122"/>
                <a:ea typeface="黑体" panose="02010609060101010101" pitchFamily="49" charset="-122"/>
              </a:rPr>
              <a:t>LCHILD(</a:t>
            </a:r>
            <a:r>
              <a:rPr lang="en-US" altLang="zh-CN" dirty="0" err="1">
                <a:latin typeface="黑体" panose="02010609060101010101" pitchFamily="49" charset="-122"/>
                <a:ea typeface="黑体" panose="02010609060101010101" pitchFamily="49" charset="-122"/>
              </a:rPr>
              <a:t>i</a:t>
            </a:r>
            <a:r>
              <a:rPr lang="en-US" altLang="zh-CN" dirty="0">
                <a:latin typeface="黑体" panose="02010609060101010101" pitchFamily="49" charset="-122"/>
                <a:ea typeface="黑体" panose="02010609060101010101" pitchFamily="49" charset="-122"/>
              </a:rPr>
              <a:t>)=2i</a:t>
            </a:r>
          </a:p>
          <a:p>
            <a:pPr eaLnBrk="1" hangingPunct="1">
              <a:spcBef>
                <a:spcPct val="30000"/>
              </a:spcBef>
            </a:pPr>
            <a:r>
              <a:rPr lang="zh-CN" altLang="en-US" dirty="0">
                <a:latin typeface="黑体" panose="02010609060101010101" pitchFamily="49" charset="-122"/>
                <a:ea typeface="黑体" panose="02010609060101010101" pitchFamily="49" charset="-122"/>
              </a:rPr>
              <a:t>结点</a:t>
            </a:r>
            <a:r>
              <a:rPr lang="en-US" altLang="zh-CN" dirty="0" err="1">
                <a:latin typeface="黑体" panose="02010609060101010101" pitchFamily="49" charset="-122"/>
                <a:ea typeface="黑体" panose="02010609060101010101" pitchFamily="49" charset="-122"/>
              </a:rPr>
              <a:t>i</a:t>
            </a:r>
            <a:r>
              <a:rPr lang="zh-CN" altLang="en-US" dirty="0">
                <a:latin typeface="黑体" panose="02010609060101010101" pitchFamily="49" charset="-122"/>
                <a:ea typeface="黑体" panose="02010609060101010101" pitchFamily="49" charset="-122"/>
              </a:rPr>
              <a:t>的右孩子</a:t>
            </a:r>
            <a:r>
              <a:rPr lang="en-US" altLang="zh-CN" dirty="0">
                <a:latin typeface="黑体" panose="02010609060101010101" pitchFamily="49" charset="-122"/>
                <a:ea typeface="黑体" panose="02010609060101010101" pitchFamily="49" charset="-122"/>
              </a:rPr>
              <a:t>RCHILD(</a:t>
            </a:r>
            <a:r>
              <a:rPr lang="en-US" altLang="zh-CN" dirty="0" err="1">
                <a:latin typeface="黑体" panose="02010609060101010101" pitchFamily="49" charset="-122"/>
                <a:ea typeface="黑体" panose="02010609060101010101" pitchFamily="49" charset="-122"/>
              </a:rPr>
              <a:t>i</a:t>
            </a:r>
            <a:r>
              <a:rPr lang="en-US" altLang="zh-CN" dirty="0">
                <a:latin typeface="黑体" panose="02010609060101010101" pitchFamily="49" charset="-122"/>
                <a:ea typeface="黑体" panose="02010609060101010101" pitchFamily="49" charset="-122"/>
              </a:rPr>
              <a:t>)=2i+1</a:t>
            </a:r>
            <a:endParaRPr lang="zh-CN" altLang="en-US" dirty="0">
              <a:latin typeface="黑体" panose="02010609060101010101" pitchFamily="49" charset="-122"/>
              <a:ea typeface="黑体" panose="02010609060101010101" pitchFamily="49" charset="-122"/>
            </a:endParaRPr>
          </a:p>
        </p:txBody>
      </p:sp>
      <p:grpSp>
        <p:nvGrpSpPr>
          <p:cNvPr id="21511" name="Group 7">
            <a:extLst>
              <a:ext uri="{FF2B5EF4-FFF2-40B4-BE49-F238E27FC236}">
                <a16:creationId xmlns:a16="http://schemas.microsoft.com/office/drawing/2014/main" id="{724D6E90-B94C-438C-AB5D-DFFD23CC8D6A}"/>
              </a:ext>
            </a:extLst>
          </p:cNvPr>
          <p:cNvGrpSpPr>
            <a:grpSpLocks/>
          </p:cNvGrpSpPr>
          <p:nvPr/>
        </p:nvGrpSpPr>
        <p:grpSpPr bwMode="auto">
          <a:xfrm>
            <a:off x="1210469" y="4152900"/>
            <a:ext cx="3200400" cy="2109918"/>
            <a:chOff x="0" y="0"/>
            <a:chExt cx="2469" cy="1725"/>
          </a:xfrm>
        </p:grpSpPr>
        <p:sp>
          <p:nvSpPr>
            <p:cNvPr id="21541" name="Line 8">
              <a:extLst>
                <a:ext uri="{FF2B5EF4-FFF2-40B4-BE49-F238E27FC236}">
                  <a16:creationId xmlns:a16="http://schemas.microsoft.com/office/drawing/2014/main" id="{3BEA2DDE-2444-4DDC-8D6B-E9FAD7D68A04}"/>
                </a:ext>
              </a:extLst>
            </p:cNvPr>
            <p:cNvSpPr>
              <a:spLocks noChangeShapeType="1"/>
            </p:cNvSpPr>
            <p:nvPr/>
          </p:nvSpPr>
          <p:spPr bwMode="auto">
            <a:xfrm>
              <a:off x="1459" y="177"/>
              <a:ext cx="561" cy="355"/>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endParaRPr lang="zh-CN" altLang="en-US" i="0"/>
            </a:p>
          </p:txBody>
        </p:sp>
        <p:sp>
          <p:nvSpPr>
            <p:cNvPr id="21542" name="Line 9">
              <a:extLst>
                <a:ext uri="{FF2B5EF4-FFF2-40B4-BE49-F238E27FC236}">
                  <a16:creationId xmlns:a16="http://schemas.microsoft.com/office/drawing/2014/main" id="{BE343122-8F56-4059-83E1-BDC9163C0C4C}"/>
                </a:ext>
              </a:extLst>
            </p:cNvPr>
            <p:cNvSpPr>
              <a:spLocks noChangeShapeType="1"/>
            </p:cNvSpPr>
            <p:nvPr/>
          </p:nvSpPr>
          <p:spPr bwMode="auto">
            <a:xfrm flipH="1">
              <a:off x="730" y="139"/>
              <a:ext cx="581" cy="393"/>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endParaRPr lang="zh-CN" altLang="en-US" i="0"/>
            </a:p>
          </p:txBody>
        </p:sp>
        <p:sp>
          <p:nvSpPr>
            <p:cNvPr id="21543" name="Line 10">
              <a:extLst>
                <a:ext uri="{FF2B5EF4-FFF2-40B4-BE49-F238E27FC236}">
                  <a16:creationId xmlns:a16="http://schemas.microsoft.com/office/drawing/2014/main" id="{02EC9B0E-EB11-43BB-B29F-84A1CE120CAF}"/>
                </a:ext>
              </a:extLst>
            </p:cNvPr>
            <p:cNvSpPr>
              <a:spLocks noChangeShapeType="1"/>
            </p:cNvSpPr>
            <p:nvPr/>
          </p:nvSpPr>
          <p:spPr bwMode="auto">
            <a:xfrm>
              <a:off x="2076" y="652"/>
              <a:ext cx="225" cy="293"/>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endParaRPr lang="zh-CN" altLang="en-US" i="0"/>
            </a:p>
          </p:txBody>
        </p:sp>
        <p:sp>
          <p:nvSpPr>
            <p:cNvPr id="21544" name="Line 11">
              <a:extLst>
                <a:ext uri="{FF2B5EF4-FFF2-40B4-BE49-F238E27FC236}">
                  <a16:creationId xmlns:a16="http://schemas.microsoft.com/office/drawing/2014/main" id="{1C4EF104-08EB-4361-9998-80B30B3CE6C2}"/>
                </a:ext>
              </a:extLst>
            </p:cNvPr>
            <p:cNvSpPr>
              <a:spLocks noChangeShapeType="1"/>
            </p:cNvSpPr>
            <p:nvPr/>
          </p:nvSpPr>
          <p:spPr bwMode="auto">
            <a:xfrm flipH="1">
              <a:off x="1739" y="591"/>
              <a:ext cx="281" cy="35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endParaRPr lang="zh-CN" altLang="en-US" i="0"/>
            </a:p>
          </p:txBody>
        </p:sp>
        <p:sp>
          <p:nvSpPr>
            <p:cNvPr id="21545" name="Line 12">
              <a:extLst>
                <a:ext uri="{FF2B5EF4-FFF2-40B4-BE49-F238E27FC236}">
                  <a16:creationId xmlns:a16="http://schemas.microsoft.com/office/drawing/2014/main" id="{ED193A86-88CC-48BF-9557-4183321558E3}"/>
                </a:ext>
              </a:extLst>
            </p:cNvPr>
            <p:cNvSpPr>
              <a:spLocks noChangeShapeType="1"/>
            </p:cNvSpPr>
            <p:nvPr/>
          </p:nvSpPr>
          <p:spPr bwMode="auto">
            <a:xfrm>
              <a:off x="730" y="591"/>
              <a:ext cx="223" cy="35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endParaRPr lang="zh-CN" altLang="en-US" i="0"/>
            </a:p>
          </p:txBody>
        </p:sp>
        <p:sp>
          <p:nvSpPr>
            <p:cNvPr id="21546" name="Line 13">
              <a:extLst>
                <a:ext uri="{FF2B5EF4-FFF2-40B4-BE49-F238E27FC236}">
                  <a16:creationId xmlns:a16="http://schemas.microsoft.com/office/drawing/2014/main" id="{CBD5F64A-B482-406F-B34A-72CA36A2BE25}"/>
                </a:ext>
              </a:extLst>
            </p:cNvPr>
            <p:cNvSpPr>
              <a:spLocks noChangeShapeType="1"/>
            </p:cNvSpPr>
            <p:nvPr/>
          </p:nvSpPr>
          <p:spPr bwMode="auto">
            <a:xfrm flipH="1">
              <a:off x="336" y="652"/>
              <a:ext cx="282" cy="352"/>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endParaRPr lang="zh-CN" altLang="en-US" i="0"/>
            </a:p>
          </p:txBody>
        </p:sp>
        <p:sp>
          <p:nvSpPr>
            <p:cNvPr id="21547" name="Line 14">
              <a:extLst>
                <a:ext uri="{FF2B5EF4-FFF2-40B4-BE49-F238E27FC236}">
                  <a16:creationId xmlns:a16="http://schemas.microsoft.com/office/drawing/2014/main" id="{9FF88187-9D28-4E1B-BA00-895A239FAAA7}"/>
                </a:ext>
              </a:extLst>
            </p:cNvPr>
            <p:cNvSpPr>
              <a:spLocks noChangeShapeType="1"/>
            </p:cNvSpPr>
            <p:nvPr/>
          </p:nvSpPr>
          <p:spPr bwMode="auto">
            <a:xfrm flipH="1">
              <a:off x="1459" y="1065"/>
              <a:ext cx="224" cy="41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endParaRPr lang="zh-CN" altLang="en-US" i="0"/>
            </a:p>
          </p:txBody>
        </p:sp>
        <p:sp>
          <p:nvSpPr>
            <p:cNvPr id="21548" name="Line 15">
              <a:extLst>
                <a:ext uri="{FF2B5EF4-FFF2-40B4-BE49-F238E27FC236}">
                  <a16:creationId xmlns:a16="http://schemas.microsoft.com/office/drawing/2014/main" id="{289654DD-9C08-4EB8-B658-C087A84A1D67}"/>
                </a:ext>
              </a:extLst>
            </p:cNvPr>
            <p:cNvSpPr>
              <a:spLocks noChangeShapeType="1"/>
            </p:cNvSpPr>
            <p:nvPr/>
          </p:nvSpPr>
          <p:spPr bwMode="auto">
            <a:xfrm>
              <a:off x="1009" y="1065"/>
              <a:ext cx="112" cy="35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endParaRPr lang="zh-CN" altLang="en-US" i="0"/>
            </a:p>
          </p:txBody>
        </p:sp>
        <p:sp>
          <p:nvSpPr>
            <p:cNvPr id="21549" name="Line 16">
              <a:extLst>
                <a:ext uri="{FF2B5EF4-FFF2-40B4-BE49-F238E27FC236}">
                  <a16:creationId xmlns:a16="http://schemas.microsoft.com/office/drawing/2014/main" id="{B0AC9E20-9A48-4681-BE0B-0A3B6B3781F2}"/>
                </a:ext>
              </a:extLst>
            </p:cNvPr>
            <p:cNvSpPr>
              <a:spLocks noChangeShapeType="1"/>
            </p:cNvSpPr>
            <p:nvPr/>
          </p:nvSpPr>
          <p:spPr bwMode="auto">
            <a:xfrm flipH="1">
              <a:off x="786" y="1065"/>
              <a:ext cx="167" cy="41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endParaRPr lang="zh-CN" altLang="en-US" i="0"/>
            </a:p>
          </p:txBody>
        </p:sp>
        <p:sp>
          <p:nvSpPr>
            <p:cNvPr id="21550" name="Line 17">
              <a:extLst>
                <a:ext uri="{FF2B5EF4-FFF2-40B4-BE49-F238E27FC236}">
                  <a16:creationId xmlns:a16="http://schemas.microsoft.com/office/drawing/2014/main" id="{B7786CA9-DA56-4617-9BB4-4CF4AF62D11D}"/>
                </a:ext>
              </a:extLst>
            </p:cNvPr>
            <p:cNvSpPr>
              <a:spLocks noChangeShapeType="1"/>
            </p:cNvSpPr>
            <p:nvPr/>
          </p:nvSpPr>
          <p:spPr bwMode="auto">
            <a:xfrm>
              <a:off x="394" y="1124"/>
              <a:ext cx="112" cy="355"/>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endParaRPr lang="zh-CN" altLang="en-US" i="0"/>
            </a:p>
          </p:txBody>
        </p:sp>
        <p:sp>
          <p:nvSpPr>
            <p:cNvPr id="21551" name="Line 18">
              <a:extLst>
                <a:ext uri="{FF2B5EF4-FFF2-40B4-BE49-F238E27FC236}">
                  <a16:creationId xmlns:a16="http://schemas.microsoft.com/office/drawing/2014/main" id="{C64019FB-8DC5-49B3-913D-93877085FCCE}"/>
                </a:ext>
              </a:extLst>
            </p:cNvPr>
            <p:cNvSpPr>
              <a:spLocks noChangeShapeType="1"/>
            </p:cNvSpPr>
            <p:nvPr/>
          </p:nvSpPr>
          <p:spPr bwMode="auto">
            <a:xfrm flipH="1">
              <a:off x="112" y="1065"/>
              <a:ext cx="224" cy="41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endParaRPr lang="zh-CN" altLang="en-US" i="0"/>
            </a:p>
          </p:txBody>
        </p:sp>
        <p:sp>
          <p:nvSpPr>
            <p:cNvPr id="21552" name="Oval 19">
              <a:extLst>
                <a:ext uri="{FF2B5EF4-FFF2-40B4-BE49-F238E27FC236}">
                  <a16:creationId xmlns:a16="http://schemas.microsoft.com/office/drawing/2014/main" id="{31F439A4-45FF-47C8-9657-E2E90A96CFFC}"/>
                </a:ext>
              </a:extLst>
            </p:cNvPr>
            <p:cNvSpPr>
              <a:spLocks noChangeArrowheads="1"/>
            </p:cNvSpPr>
            <p:nvPr/>
          </p:nvSpPr>
          <p:spPr bwMode="auto">
            <a:xfrm>
              <a:off x="0" y="1360"/>
              <a:ext cx="280" cy="296"/>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21553" name="Oval 20">
              <a:extLst>
                <a:ext uri="{FF2B5EF4-FFF2-40B4-BE49-F238E27FC236}">
                  <a16:creationId xmlns:a16="http://schemas.microsoft.com/office/drawing/2014/main" id="{B0D86E19-11DD-4D8F-989C-FFABB3D29E42}"/>
                </a:ext>
              </a:extLst>
            </p:cNvPr>
            <p:cNvSpPr>
              <a:spLocks noChangeArrowheads="1"/>
            </p:cNvSpPr>
            <p:nvPr/>
          </p:nvSpPr>
          <p:spPr bwMode="auto">
            <a:xfrm>
              <a:off x="336" y="1360"/>
              <a:ext cx="282" cy="296"/>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21554" name="Oval 21">
              <a:extLst>
                <a:ext uri="{FF2B5EF4-FFF2-40B4-BE49-F238E27FC236}">
                  <a16:creationId xmlns:a16="http://schemas.microsoft.com/office/drawing/2014/main" id="{B4E49634-9901-428E-91A3-AD4814EBF4C5}"/>
                </a:ext>
              </a:extLst>
            </p:cNvPr>
            <p:cNvSpPr>
              <a:spLocks noChangeArrowheads="1"/>
            </p:cNvSpPr>
            <p:nvPr/>
          </p:nvSpPr>
          <p:spPr bwMode="auto">
            <a:xfrm>
              <a:off x="674" y="1360"/>
              <a:ext cx="279" cy="296"/>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21555" name="Oval 22">
              <a:extLst>
                <a:ext uri="{FF2B5EF4-FFF2-40B4-BE49-F238E27FC236}">
                  <a16:creationId xmlns:a16="http://schemas.microsoft.com/office/drawing/2014/main" id="{E7405BED-F9CC-4600-A6DF-A8DCA14EFA8A}"/>
                </a:ext>
              </a:extLst>
            </p:cNvPr>
            <p:cNvSpPr>
              <a:spLocks noChangeArrowheads="1"/>
            </p:cNvSpPr>
            <p:nvPr/>
          </p:nvSpPr>
          <p:spPr bwMode="auto">
            <a:xfrm>
              <a:off x="1009" y="1360"/>
              <a:ext cx="281" cy="296"/>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21556" name="Oval 23">
              <a:extLst>
                <a:ext uri="{FF2B5EF4-FFF2-40B4-BE49-F238E27FC236}">
                  <a16:creationId xmlns:a16="http://schemas.microsoft.com/office/drawing/2014/main" id="{E45EEE09-277E-4F68-8CAB-316B10073C89}"/>
                </a:ext>
              </a:extLst>
            </p:cNvPr>
            <p:cNvSpPr>
              <a:spLocks noChangeArrowheads="1"/>
            </p:cNvSpPr>
            <p:nvPr/>
          </p:nvSpPr>
          <p:spPr bwMode="auto">
            <a:xfrm>
              <a:off x="1347" y="1360"/>
              <a:ext cx="280" cy="296"/>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21557" name="Oval 24">
              <a:extLst>
                <a:ext uri="{FF2B5EF4-FFF2-40B4-BE49-F238E27FC236}">
                  <a16:creationId xmlns:a16="http://schemas.microsoft.com/office/drawing/2014/main" id="{5BF8ACBD-EAB1-42AB-B4A5-A9564E221BB7}"/>
                </a:ext>
              </a:extLst>
            </p:cNvPr>
            <p:cNvSpPr>
              <a:spLocks noChangeArrowheads="1"/>
            </p:cNvSpPr>
            <p:nvPr/>
          </p:nvSpPr>
          <p:spPr bwMode="auto">
            <a:xfrm>
              <a:off x="224" y="886"/>
              <a:ext cx="282" cy="297"/>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21558" name="Oval 25">
              <a:extLst>
                <a:ext uri="{FF2B5EF4-FFF2-40B4-BE49-F238E27FC236}">
                  <a16:creationId xmlns:a16="http://schemas.microsoft.com/office/drawing/2014/main" id="{295B4E5C-C0A6-4FA5-8FDA-18255EC8E249}"/>
                </a:ext>
              </a:extLst>
            </p:cNvPr>
            <p:cNvSpPr>
              <a:spLocks noChangeArrowheads="1"/>
            </p:cNvSpPr>
            <p:nvPr/>
          </p:nvSpPr>
          <p:spPr bwMode="auto">
            <a:xfrm>
              <a:off x="842" y="886"/>
              <a:ext cx="279" cy="297"/>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21559" name="Oval 26">
              <a:extLst>
                <a:ext uri="{FF2B5EF4-FFF2-40B4-BE49-F238E27FC236}">
                  <a16:creationId xmlns:a16="http://schemas.microsoft.com/office/drawing/2014/main" id="{A5EEA6D1-735E-4AA6-AD92-8C0F0C02F692}"/>
                </a:ext>
              </a:extLst>
            </p:cNvPr>
            <p:cNvSpPr>
              <a:spLocks noChangeArrowheads="1"/>
            </p:cNvSpPr>
            <p:nvPr/>
          </p:nvSpPr>
          <p:spPr bwMode="auto">
            <a:xfrm>
              <a:off x="1571" y="886"/>
              <a:ext cx="280" cy="297"/>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a:solidFill>
                    <a:srgbClr val="C1C1FF"/>
                  </a:solidFill>
                  <a:latin typeface="Times New Roman" panose="02020603050405020304" pitchFamily="18" charset="0"/>
                </a:rPr>
                <a:t>6</a:t>
              </a:r>
            </a:p>
          </p:txBody>
        </p:sp>
        <p:sp>
          <p:nvSpPr>
            <p:cNvPr id="21560" name="Oval 27">
              <a:extLst>
                <a:ext uri="{FF2B5EF4-FFF2-40B4-BE49-F238E27FC236}">
                  <a16:creationId xmlns:a16="http://schemas.microsoft.com/office/drawing/2014/main" id="{E13015C7-A35B-4618-90F8-64C47F7DBA9E}"/>
                </a:ext>
              </a:extLst>
            </p:cNvPr>
            <p:cNvSpPr>
              <a:spLocks noChangeArrowheads="1"/>
            </p:cNvSpPr>
            <p:nvPr/>
          </p:nvSpPr>
          <p:spPr bwMode="auto">
            <a:xfrm>
              <a:off x="2164" y="886"/>
              <a:ext cx="305" cy="297"/>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21561" name="Oval 28">
              <a:extLst>
                <a:ext uri="{FF2B5EF4-FFF2-40B4-BE49-F238E27FC236}">
                  <a16:creationId xmlns:a16="http://schemas.microsoft.com/office/drawing/2014/main" id="{48215403-7F16-41D9-943F-BE9149D0D28D}"/>
                </a:ext>
              </a:extLst>
            </p:cNvPr>
            <p:cNvSpPr>
              <a:spLocks noChangeArrowheads="1"/>
            </p:cNvSpPr>
            <p:nvPr/>
          </p:nvSpPr>
          <p:spPr bwMode="auto">
            <a:xfrm>
              <a:off x="562" y="414"/>
              <a:ext cx="280" cy="297"/>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a:solidFill>
                    <a:srgbClr val="C1C1FF"/>
                  </a:solidFill>
                  <a:latin typeface="Times New Roman" panose="02020603050405020304" pitchFamily="18" charset="0"/>
                </a:rPr>
                <a:t>2</a:t>
              </a:r>
              <a:endParaRPr lang="zh-CN" altLang="en-US" sz="2400" b="1" i="0">
                <a:latin typeface="Times New Roman" panose="02020603050405020304" pitchFamily="18" charset="0"/>
              </a:endParaRPr>
            </a:p>
          </p:txBody>
        </p:sp>
        <p:sp>
          <p:nvSpPr>
            <p:cNvPr id="21562" name="Oval 29">
              <a:extLst>
                <a:ext uri="{FF2B5EF4-FFF2-40B4-BE49-F238E27FC236}">
                  <a16:creationId xmlns:a16="http://schemas.microsoft.com/office/drawing/2014/main" id="{0AB6AA4F-75CF-496A-8828-AA7C7B473AB4}"/>
                </a:ext>
              </a:extLst>
            </p:cNvPr>
            <p:cNvSpPr>
              <a:spLocks noChangeArrowheads="1"/>
            </p:cNvSpPr>
            <p:nvPr/>
          </p:nvSpPr>
          <p:spPr bwMode="auto">
            <a:xfrm>
              <a:off x="1907" y="414"/>
              <a:ext cx="282" cy="297"/>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21563" name="Oval 30">
              <a:extLst>
                <a:ext uri="{FF2B5EF4-FFF2-40B4-BE49-F238E27FC236}">
                  <a16:creationId xmlns:a16="http://schemas.microsoft.com/office/drawing/2014/main" id="{6D5DA822-5DC3-4852-BE60-53F23CA16597}"/>
                </a:ext>
              </a:extLst>
            </p:cNvPr>
            <p:cNvSpPr>
              <a:spLocks noChangeArrowheads="1"/>
            </p:cNvSpPr>
            <p:nvPr/>
          </p:nvSpPr>
          <p:spPr bwMode="auto">
            <a:xfrm>
              <a:off x="1234" y="0"/>
              <a:ext cx="281" cy="296"/>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a:solidFill>
                    <a:srgbClr val="C1C1FF"/>
                  </a:solidFill>
                  <a:latin typeface="Times New Roman" panose="02020603050405020304" pitchFamily="18" charset="0"/>
                </a:rPr>
                <a:t>1</a:t>
              </a:r>
            </a:p>
          </p:txBody>
        </p:sp>
        <p:sp>
          <p:nvSpPr>
            <p:cNvPr id="21564" name="Rectangle 31">
              <a:extLst>
                <a:ext uri="{FF2B5EF4-FFF2-40B4-BE49-F238E27FC236}">
                  <a16:creationId xmlns:a16="http://schemas.microsoft.com/office/drawing/2014/main" id="{20100DE7-6EDB-46C5-8637-B5C52934AE56}"/>
                </a:ext>
              </a:extLst>
            </p:cNvPr>
            <p:cNvSpPr>
              <a:spLocks noChangeArrowheads="1"/>
            </p:cNvSpPr>
            <p:nvPr/>
          </p:nvSpPr>
          <p:spPr bwMode="auto">
            <a:xfrm>
              <a:off x="2208" y="864"/>
              <a:ext cx="228" cy="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400" b="1" i="0">
                  <a:solidFill>
                    <a:srgbClr val="C1C1FF"/>
                  </a:solidFill>
                  <a:latin typeface="Times New Roman" panose="02020603050405020304" pitchFamily="18" charset="0"/>
                </a:rPr>
                <a:t>7</a:t>
              </a:r>
            </a:p>
          </p:txBody>
        </p:sp>
        <p:sp>
          <p:nvSpPr>
            <p:cNvPr id="21565" name="Rectangle 32">
              <a:extLst>
                <a:ext uri="{FF2B5EF4-FFF2-40B4-BE49-F238E27FC236}">
                  <a16:creationId xmlns:a16="http://schemas.microsoft.com/office/drawing/2014/main" id="{32E9B6C6-24C3-4030-A61E-A97042CB0357}"/>
                </a:ext>
              </a:extLst>
            </p:cNvPr>
            <p:cNvSpPr>
              <a:spLocks noChangeArrowheads="1"/>
            </p:cNvSpPr>
            <p:nvPr/>
          </p:nvSpPr>
          <p:spPr bwMode="auto">
            <a:xfrm>
              <a:off x="864" y="864"/>
              <a:ext cx="228" cy="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400" b="1" i="0">
                  <a:solidFill>
                    <a:srgbClr val="C1C1FF"/>
                  </a:solidFill>
                  <a:latin typeface="Times New Roman" panose="02020603050405020304" pitchFamily="18" charset="0"/>
                </a:rPr>
                <a:t>5</a:t>
              </a:r>
            </a:p>
          </p:txBody>
        </p:sp>
        <p:sp>
          <p:nvSpPr>
            <p:cNvPr id="21566" name="Rectangle 33">
              <a:extLst>
                <a:ext uri="{FF2B5EF4-FFF2-40B4-BE49-F238E27FC236}">
                  <a16:creationId xmlns:a16="http://schemas.microsoft.com/office/drawing/2014/main" id="{36B46053-C782-4851-AE05-D391E2EA3A90}"/>
                </a:ext>
              </a:extLst>
            </p:cNvPr>
            <p:cNvSpPr>
              <a:spLocks noChangeArrowheads="1"/>
            </p:cNvSpPr>
            <p:nvPr/>
          </p:nvSpPr>
          <p:spPr bwMode="auto">
            <a:xfrm>
              <a:off x="240" y="864"/>
              <a:ext cx="228" cy="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400" b="1" i="0">
                  <a:solidFill>
                    <a:srgbClr val="C1C1FF"/>
                  </a:solidFill>
                  <a:latin typeface="Times New Roman" panose="02020603050405020304" pitchFamily="18" charset="0"/>
                </a:rPr>
                <a:t>4</a:t>
              </a:r>
            </a:p>
          </p:txBody>
        </p:sp>
        <p:sp>
          <p:nvSpPr>
            <p:cNvPr id="21567" name="Rectangle 34">
              <a:extLst>
                <a:ext uri="{FF2B5EF4-FFF2-40B4-BE49-F238E27FC236}">
                  <a16:creationId xmlns:a16="http://schemas.microsoft.com/office/drawing/2014/main" id="{90FA2642-6285-40A4-8263-ECF4C9C5EF3A}"/>
                </a:ext>
              </a:extLst>
            </p:cNvPr>
            <p:cNvSpPr>
              <a:spLocks noChangeArrowheads="1"/>
            </p:cNvSpPr>
            <p:nvPr/>
          </p:nvSpPr>
          <p:spPr bwMode="auto">
            <a:xfrm>
              <a:off x="1920" y="384"/>
              <a:ext cx="240" cy="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dirty="0">
                  <a:solidFill>
                    <a:srgbClr val="C1C1FF"/>
                  </a:solidFill>
                  <a:latin typeface="Times New Roman" panose="02020603050405020304" pitchFamily="18" charset="0"/>
                </a:rPr>
                <a:t>3</a:t>
              </a:r>
            </a:p>
          </p:txBody>
        </p:sp>
        <p:sp>
          <p:nvSpPr>
            <p:cNvPr id="21568" name="Rectangle 35">
              <a:extLst>
                <a:ext uri="{FF2B5EF4-FFF2-40B4-BE49-F238E27FC236}">
                  <a16:creationId xmlns:a16="http://schemas.microsoft.com/office/drawing/2014/main" id="{9E1FB38E-3109-4FDB-894C-8144ADF90EB0}"/>
                </a:ext>
              </a:extLst>
            </p:cNvPr>
            <p:cNvSpPr>
              <a:spLocks noChangeArrowheads="1"/>
            </p:cNvSpPr>
            <p:nvPr/>
          </p:nvSpPr>
          <p:spPr bwMode="auto">
            <a:xfrm>
              <a:off x="9" y="1385"/>
              <a:ext cx="261" cy="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400" b="1" i="0">
                  <a:solidFill>
                    <a:srgbClr val="C1C1FF"/>
                  </a:solidFill>
                  <a:latin typeface="Times New Roman" panose="02020603050405020304" pitchFamily="18" charset="0"/>
                </a:rPr>
                <a:t>8</a:t>
              </a:r>
            </a:p>
          </p:txBody>
        </p:sp>
        <p:sp>
          <p:nvSpPr>
            <p:cNvPr id="21569" name="Rectangle 36">
              <a:extLst>
                <a:ext uri="{FF2B5EF4-FFF2-40B4-BE49-F238E27FC236}">
                  <a16:creationId xmlns:a16="http://schemas.microsoft.com/office/drawing/2014/main" id="{350523B9-6E39-4186-8931-A61EDD0D7C97}"/>
                </a:ext>
              </a:extLst>
            </p:cNvPr>
            <p:cNvSpPr>
              <a:spLocks noChangeArrowheads="1"/>
            </p:cNvSpPr>
            <p:nvPr/>
          </p:nvSpPr>
          <p:spPr bwMode="auto">
            <a:xfrm>
              <a:off x="337" y="1385"/>
              <a:ext cx="261" cy="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400" b="1" i="0">
                  <a:solidFill>
                    <a:srgbClr val="C1C1FF"/>
                  </a:solidFill>
                  <a:latin typeface="Times New Roman" panose="02020603050405020304" pitchFamily="18" charset="0"/>
                </a:rPr>
                <a:t>9</a:t>
              </a:r>
            </a:p>
          </p:txBody>
        </p:sp>
        <p:sp>
          <p:nvSpPr>
            <p:cNvPr id="21570" name="Rectangle 37">
              <a:extLst>
                <a:ext uri="{FF2B5EF4-FFF2-40B4-BE49-F238E27FC236}">
                  <a16:creationId xmlns:a16="http://schemas.microsoft.com/office/drawing/2014/main" id="{1832BC14-B2F7-40C6-9F53-B826DA70D69D}"/>
                </a:ext>
              </a:extLst>
            </p:cNvPr>
            <p:cNvSpPr>
              <a:spLocks noChangeArrowheads="1"/>
            </p:cNvSpPr>
            <p:nvPr/>
          </p:nvSpPr>
          <p:spPr bwMode="auto">
            <a:xfrm>
              <a:off x="600" y="1385"/>
              <a:ext cx="380" cy="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400" b="1" i="0">
                  <a:solidFill>
                    <a:srgbClr val="C1C1FF"/>
                  </a:solidFill>
                  <a:latin typeface="Times New Roman" panose="02020603050405020304" pitchFamily="18" charset="0"/>
                </a:rPr>
                <a:t>10</a:t>
              </a:r>
            </a:p>
          </p:txBody>
        </p:sp>
        <p:sp>
          <p:nvSpPr>
            <p:cNvPr id="21571" name="Rectangle 38">
              <a:extLst>
                <a:ext uri="{FF2B5EF4-FFF2-40B4-BE49-F238E27FC236}">
                  <a16:creationId xmlns:a16="http://schemas.microsoft.com/office/drawing/2014/main" id="{2C410A98-ADC3-4288-A180-BEE8D33EABCE}"/>
                </a:ext>
              </a:extLst>
            </p:cNvPr>
            <p:cNvSpPr>
              <a:spLocks noChangeArrowheads="1"/>
            </p:cNvSpPr>
            <p:nvPr/>
          </p:nvSpPr>
          <p:spPr bwMode="auto">
            <a:xfrm>
              <a:off x="993" y="1385"/>
              <a:ext cx="367" cy="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400" b="1" i="0">
                  <a:solidFill>
                    <a:srgbClr val="C1C1FF"/>
                  </a:solidFill>
                  <a:latin typeface="Times New Roman" panose="02020603050405020304" pitchFamily="18" charset="0"/>
                </a:rPr>
                <a:t>11</a:t>
              </a:r>
            </a:p>
          </p:txBody>
        </p:sp>
        <p:sp>
          <p:nvSpPr>
            <p:cNvPr id="21572" name="Rectangle 39">
              <a:extLst>
                <a:ext uri="{FF2B5EF4-FFF2-40B4-BE49-F238E27FC236}">
                  <a16:creationId xmlns:a16="http://schemas.microsoft.com/office/drawing/2014/main" id="{641CF095-D98B-47D5-9DE1-15094BCDADF1}"/>
                </a:ext>
              </a:extLst>
            </p:cNvPr>
            <p:cNvSpPr>
              <a:spLocks noChangeArrowheads="1"/>
            </p:cNvSpPr>
            <p:nvPr/>
          </p:nvSpPr>
          <p:spPr bwMode="auto">
            <a:xfrm>
              <a:off x="1321" y="1385"/>
              <a:ext cx="380" cy="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400" b="1" i="0">
                  <a:solidFill>
                    <a:srgbClr val="C1C1FF"/>
                  </a:solidFill>
                  <a:latin typeface="Times New Roman" panose="02020603050405020304" pitchFamily="18" charset="0"/>
                </a:rPr>
                <a:t>12</a:t>
              </a:r>
            </a:p>
          </p:txBody>
        </p:sp>
      </p:grpSp>
      <p:sp>
        <p:nvSpPr>
          <p:cNvPr id="21514" name="Line 46">
            <a:extLst>
              <a:ext uri="{FF2B5EF4-FFF2-40B4-BE49-F238E27FC236}">
                <a16:creationId xmlns:a16="http://schemas.microsoft.com/office/drawing/2014/main" id="{00EEEC67-288E-41C1-9B53-721044AE6DB1}"/>
              </a:ext>
            </a:extLst>
          </p:cNvPr>
          <p:cNvSpPr>
            <a:spLocks noChangeShapeType="1"/>
          </p:cNvSpPr>
          <p:nvPr/>
        </p:nvSpPr>
        <p:spPr bwMode="auto">
          <a:xfrm>
            <a:off x="6995679" y="4550087"/>
            <a:ext cx="990600" cy="57785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endParaRPr lang="zh-CN" altLang="en-US"/>
          </a:p>
        </p:txBody>
      </p:sp>
      <p:sp>
        <p:nvSpPr>
          <p:cNvPr id="21515" name="Line 47">
            <a:extLst>
              <a:ext uri="{FF2B5EF4-FFF2-40B4-BE49-F238E27FC236}">
                <a16:creationId xmlns:a16="http://schemas.microsoft.com/office/drawing/2014/main" id="{0C0E1F45-E60E-4F0D-9B1A-2122E56387EC}"/>
              </a:ext>
            </a:extLst>
          </p:cNvPr>
          <p:cNvSpPr>
            <a:spLocks noChangeShapeType="1"/>
          </p:cNvSpPr>
          <p:nvPr/>
        </p:nvSpPr>
        <p:spPr bwMode="auto">
          <a:xfrm flipH="1">
            <a:off x="5711392" y="4488174"/>
            <a:ext cx="1022350" cy="639763"/>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endParaRPr lang="zh-CN" altLang="en-US"/>
          </a:p>
        </p:txBody>
      </p:sp>
      <p:sp>
        <p:nvSpPr>
          <p:cNvPr id="21516" name="Line 48">
            <a:extLst>
              <a:ext uri="{FF2B5EF4-FFF2-40B4-BE49-F238E27FC236}">
                <a16:creationId xmlns:a16="http://schemas.microsoft.com/office/drawing/2014/main" id="{863352AA-BABF-4DE2-879F-815BE49F0BED}"/>
              </a:ext>
            </a:extLst>
          </p:cNvPr>
          <p:cNvSpPr>
            <a:spLocks noChangeShapeType="1"/>
          </p:cNvSpPr>
          <p:nvPr/>
        </p:nvSpPr>
        <p:spPr bwMode="auto">
          <a:xfrm>
            <a:off x="8086292" y="5321612"/>
            <a:ext cx="396875" cy="47783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endParaRPr lang="zh-CN" altLang="en-US"/>
          </a:p>
        </p:txBody>
      </p:sp>
      <p:sp>
        <p:nvSpPr>
          <p:cNvPr id="21517" name="Line 49">
            <a:extLst>
              <a:ext uri="{FF2B5EF4-FFF2-40B4-BE49-F238E27FC236}">
                <a16:creationId xmlns:a16="http://schemas.microsoft.com/office/drawing/2014/main" id="{BC9F35CD-491B-4758-865A-094346C84323}"/>
              </a:ext>
            </a:extLst>
          </p:cNvPr>
          <p:cNvSpPr>
            <a:spLocks noChangeShapeType="1"/>
          </p:cNvSpPr>
          <p:nvPr/>
        </p:nvSpPr>
        <p:spPr bwMode="auto">
          <a:xfrm flipH="1">
            <a:off x="7490979" y="5223187"/>
            <a:ext cx="495300" cy="576263"/>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endParaRPr lang="zh-CN" altLang="en-US"/>
          </a:p>
        </p:txBody>
      </p:sp>
      <p:sp>
        <p:nvSpPr>
          <p:cNvPr id="21518" name="Line 50">
            <a:extLst>
              <a:ext uri="{FF2B5EF4-FFF2-40B4-BE49-F238E27FC236}">
                <a16:creationId xmlns:a16="http://schemas.microsoft.com/office/drawing/2014/main" id="{3BB6D39F-E960-4890-BDB8-B971AD4D3A79}"/>
              </a:ext>
            </a:extLst>
          </p:cNvPr>
          <p:cNvSpPr>
            <a:spLocks noChangeShapeType="1"/>
          </p:cNvSpPr>
          <p:nvPr/>
        </p:nvSpPr>
        <p:spPr bwMode="auto">
          <a:xfrm>
            <a:off x="5711392" y="5223187"/>
            <a:ext cx="392113" cy="576263"/>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endParaRPr lang="zh-CN" altLang="en-US"/>
          </a:p>
        </p:txBody>
      </p:sp>
      <p:sp>
        <p:nvSpPr>
          <p:cNvPr id="21519" name="Line 51">
            <a:extLst>
              <a:ext uri="{FF2B5EF4-FFF2-40B4-BE49-F238E27FC236}">
                <a16:creationId xmlns:a16="http://schemas.microsoft.com/office/drawing/2014/main" id="{9F0F78CA-8F79-43F2-89F7-0DF2E64F7798}"/>
              </a:ext>
            </a:extLst>
          </p:cNvPr>
          <p:cNvSpPr>
            <a:spLocks noChangeShapeType="1"/>
          </p:cNvSpPr>
          <p:nvPr/>
        </p:nvSpPr>
        <p:spPr bwMode="auto">
          <a:xfrm flipH="1">
            <a:off x="5014479" y="5321612"/>
            <a:ext cx="500063" cy="574675"/>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endParaRPr lang="zh-CN" altLang="en-US"/>
          </a:p>
        </p:txBody>
      </p:sp>
      <p:sp>
        <p:nvSpPr>
          <p:cNvPr id="21520" name="Oval 52">
            <a:extLst>
              <a:ext uri="{FF2B5EF4-FFF2-40B4-BE49-F238E27FC236}">
                <a16:creationId xmlns:a16="http://schemas.microsoft.com/office/drawing/2014/main" id="{5E6E578A-2A66-4E8A-B084-FC4A50CBD0DB}"/>
              </a:ext>
            </a:extLst>
          </p:cNvPr>
          <p:cNvSpPr>
            <a:spLocks noChangeArrowheads="1"/>
          </p:cNvSpPr>
          <p:nvPr/>
        </p:nvSpPr>
        <p:spPr bwMode="auto">
          <a:xfrm>
            <a:off x="4817629" y="5704199"/>
            <a:ext cx="496888" cy="481013"/>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1521" name="Oval 53">
            <a:extLst>
              <a:ext uri="{FF2B5EF4-FFF2-40B4-BE49-F238E27FC236}">
                <a16:creationId xmlns:a16="http://schemas.microsoft.com/office/drawing/2014/main" id="{361E9ADD-4DFD-4831-AF57-828C5E9DB181}"/>
              </a:ext>
            </a:extLst>
          </p:cNvPr>
          <p:cNvSpPr>
            <a:spLocks noChangeArrowheads="1"/>
          </p:cNvSpPr>
          <p:nvPr/>
        </p:nvSpPr>
        <p:spPr bwMode="auto">
          <a:xfrm>
            <a:off x="5908242" y="5704199"/>
            <a:ext cx="492125" cy="481013"/>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1523" name="Oval 55">
            <a:extLst>
              <a:ext uri="{FF2B5EF4-FFF2-40B4-BE49-F238E27FC236}">
                <a16:creationId xmlns:a16="http://schemas.microsoft.com/office/drawing/2014/main" id="{CA3D574A-D5A2-44C6-ADFE-554670E71730}"/>
              </a:ext>
            </a:extLst>
          </p:cNvPr>
          <p:cNvSpPr>
            <a:spLocks noChangeArrowheads="1"/>
          </p:cNvSpPr>
          <p:nvPr/>
        </p:nvSpPr>
        <p:spPr bwMode="auto">
          <a:xfrm>
            <a:off x="8241867" y="5704199"/>
            <a:ext cx="538163" cy="481013"/>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1524" name="Oval 56">
            <a:extLst>
              <a:ext uri="{FF2B5EF4-FFF2-40B4-BE49-F238E27FC236}">
                <a16:creationId xmlns:a16="http://schemas.microsoft.com/office/drawing/2014/main" id="{99B7CC6F-7F67-4675-A978-E29559AD3371}"/>
              </a:ext>
            </a:extLst>
          </p:cNvPr>
          <p:cNvSpPr>
            <a:spLocks noChangeArrowheads="1"/>
          </p:cNvSpPr>
          <p:nvPr/>
        </p:nvSpPr>
        <p:spPr bwMode="auto">
          <a:xfrm>
            <a:off x="5412942" y="4935849"/>
            <a:ext cx="495300" cy="482600"/>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a:solidFill>
                  <a:schemeClr val="bg1"/>
                </a:solidFill>
                <a:latin typeface="Times New Roman" panose="02020603050405020304" pitchFamily="18" charset="0"/>
              </a:rPr>
              <a:t>i</a:t>
            </a:r>
          </a:p>
        </p:txBody>
      </p:sp>
      <p:sp>
        <p:nvSpPr>
          <p:cNvPr id="21525" name="Oval 57">
            <a:extLst>
              <a:ext uri="{FF2B5EF4-FFF2-40B4-BE49-F238E27FC236}">
                <a16:creationId xmlns:a16="http://schemas.microsoft.com/office/drawing/2014/main" id="{17A5E03F-98AD-4CBD-A2BE-DC7D998B81E5}"/>
              </a:ext>
            </a:extLst>
          </p:cNvPr>
          <p:cNvSpPr>
            <a:spLocks noChangeArrowheads="1"/>
          </p:cNvSpPr>
          <p:nvPr/>
        </p:nvSpPr>
        <p:spPr bwMode="auto">
          <a:xfrm>
            <a:off x="7787842" y="4935849"/>
            <a:ext cx="496888" cy="482600"/>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1526" name="Oval 58">
            <a:extLst>
              <a:ext uri="{FF2B5EF4-FFF2-40B4-BE49-F238E27FC236}">
                <a16:creationId xmlns:a16="http://schemas.microsoft.com/office/drawing/2014/main" id="{F9C0673D-7A96-403F-BA27-29181DCEEC58}"/>
              </a:ext>
            </a:extLst>
          </p:cNvPr>
          <p:cNvSpPr>
            <a:spLocks noChangeArrowheads="1"/>
          </p:cNvSpPr>
          <p:nvPr/>
        </p:nvSpPr>
        <p:spPr bwMode="auto">
          <a:xfrm>
            <a:off x="6570229" y="4234174"/>
            <a:ext cx="495300" cy="481013"/>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000" b="1">
              <a:solidFill>
                <a:schemeClr val="bg1"/>
              </a:solidFill>
              <a:latin typeface="Times New Roman" panose="02020603050405020304" pitchFamily="18" charset="0"/>
            </a:endParaRPr>
          </a:p>
        </p:txBody>
      </p:sp>
      <p:sp>
        <p:nvSpPr>
          <p:cNvPr id="21527" name="Rectangle 59">
            <a:extLst>
              <a:ext uri="{FF2B5EF4-FFF2-40B4-BE49-F238E27FC236}">
                <a16:creationId xmlns:a16="http://schemas.microsoft.com/office/drawing/2014/main" id="{5DB7B51D-6A94-4281-AB5A-60C826A5321C}"/>
              </a:ext>
            </a:extLst>
          </p:cNvPr>
          <p:cNvSpPr>
            <a:spLocks noChangeArrowheads="1"/>
          </p:cNvSpPr>
          <p:nvPr/>
        </p:nvSpPr>
        <p:spPr bwMode="auto">
          <a:xfrm>
            <a:off x="8202180" y="5781489"/>
            <a:ext cx="762000" cy="35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000" b="1" dirty="0">
                <a:solidFill>
                  <a:schemeClr val="bg1"/>
                </a:solidFill>
                <a:latin typeface="Times New Roman" panose="02020603050405020304" pitchFamily="18" charset="0"/>
              </a:rPr>
              <a:t>2</a:t>
            </a:r>
            <a:r>
              <a:rPr lang="en-US" altLang="zh-CN" sz="2000" b="1" dirty="0">
                <a:solidFill>
                  <a:schemeClr val="bg1"/>
                </a:solidFill>
                <a:latin typeface="Times New Roman" panose="02020603050405020304" pitchFamily="18" charset="0"/>
              </a:rPr>
              <a:t>i+3</a:t>
            </a:r>
            <a:endParaRPr lang="zh-CN" altLang="en-US" sz="2000" b="1" dirty="0">
              <a:solidFill>
                <a:schemeClr val="bg1"/>
              </a:solidFill>
              <a:latin typeface="Times New Roman" panose="02020603050405020304" pitchFamily="18" charset="0"/>
            </a:endParaRPr>
          </a:p>
        </p:txBody>
      </p:sp>
      <p:sp>
        <p:nvSpPr>
          <p:cNvPr id="21528" name="Rectangle 60">
            <a:extLst>
              <a:ext uri="{FF2B5EF4-FFF2-40B4-BE49-F238E27FC236}">
                <a16:creationId xmlns:a16="http://schemas.microsoft.com/office/drawing/2014/main" id="{48E7A101-40BD-4387-99BE-F42772770C53}"/>
              </a:ext>
            </a:extLst>
          </p:cNvPr>
          <p:cNvSpPr>
            <a:spLocks noChangeArrowheads="1"/>
          </p:cNvSpPr>
          <p:nvPr/>
        </p:nvSpPr>
        <p:spPr bwMode="auto">
          <a:xfrm>
            <a:off x="5808229" y="5758174"/>
            <a:ext cx="762000" cy="35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000" b="1" dirty="0">
                <a:solidFill>
                  <a:schemeClr val="bg1"/>
                </a:solidFill>
                <a:latin typeface="Times New Roman" panose="02020603050405020304" pitchFamily="18" charset="0"/>
              </a:rPr>
              <a:t>2</a:t>
            </a:r>
            <a:r>
              <a:rPr lang="en-US" altLang="zh-CN" sz="2000" b="1" dirty="0">
                <a:solidFill>
                  <a:schemeClr val="bg1"/>
                </a:solidFill>
                <a:latin typeface="Times New Roman" panose="02020603050405020304" pitchFamily="18" charset="0"/>
              </a:rPr>
              <a:t>i+1</a:t>
            </a:r>
          </a:p>
        </p:txBody>
      </p:sp>
      <p:sp>
        <p:nvSpPr>
          <p:cNvPr id="21529" name="Rectangle 61">
            <a:extLst>
              <a:ext uri="{FF2B5EF4-FFF2-40B4-BE49-F238E27FC236}">
                <a16:creationId xmlns:a16="http://schemas.microsoft.com/office/drawing/2014/main" id="{09FA2A9C-CDF1-4AFE-8E2D-5A119C0F6737}"/>
              </a:ext>
            </a:extLst>
          </p:cNvPr>
          <p:cNvSpPr>
            <a:spLocks noChangeArrowheads="1"/>
          </p:cNvSpPr>
          <p:nvPr/>
        </p:nvSpPr>
        <p:spPr bwMode="auto">
          <a:xfrm>
            <a:off x="4817629" y="5758174"/>
            <a:ext cx="533400" cy="35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000" b="1" dirty="0">
                <a:solidFill>
                  <a:schemeClr val="bg1"/>
                </a:solidFill>
                <a:latin typeface="Times New Roman" panose="02020603050405020304" pitchFamily="18" charset="0"/>
              </a:rPr>
              <a:t>2</a:t>
            </a:r>
            <a:r>
              <a:rPr lang="en-US" altLang="zh-CN" sz="2000" b="1" dirty="0" err="1">
                <a:solidFill>
                  <a:schemeClr val="bg1"/>
                </a:solidFill>
                <a:latin typeface="Times New Roman" panose="02020603050405020304" pitchFamily="18" charset="0"/>
              </a:rPr>
              <a:t>i</a:t>
            </a:r>
            <a:endParaRPr lang="en-US" altLang="zh-CN" sz="2000" b="1" dirty="0">
              <a:solidFill>
                <a:schemeClr val="bg1"/>
              </a:solidFill>
              <a:latin typeface="Times New Roman" panose="02020603050405020304" pitchFamily="18" charset="0"/>
            </a:endParaRPr>
          </a:p>
        </p:txBody>
      </p:sp>
      <p:sp>
        <p:nvSpPr>
          <p:cNvPr id="21530" name="Rectangle 62">
            <a:extLst>
              <a:ext uri="{FF2B5EF4-FFF2-40B4-BE49-F238E27FC236}">
                <a16:creationId xmlns:a16="http://schemas.microsoft.com/office/drawing/2014/main" id="{7E22B8D6-F9A4-47D6-9F52-ABF122A624F7}"/>
              </a:ext>
            </a:extLst>
          </p:cNvPr>
          <p:cNvSpPr>
            <a:spLocks noChangeArrowheads="1"/>
          </p:cNvSpPr>
          <p:nvPr/>
        </p:nvSpPr>
        <p:spPr bwMode="auto">
          <a:xfrm>
            <a:off x="7703704" y="4996174"/>
            <a:ext cx="771525" cy="35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a:solidFill>
                  <a:schemeClr val="bg1"/>
                </a:solidFill>
                <a:latin typeface="Times New Roman" panose="02020603050405020304" pitchFamily="18" charset="0"/>
              </a:rPr>
              <a:t>i+1</a:t>
            </a:r>
          </a:p>
        </p:txBody>
      </p:sp>
      <p:sp>
        <p:nvSpPr>
          <p:cNvPr id="21531" name="Rectangle 63">
            <a:extLst>
              <a:ext uri="{FF2B5EF4-FFF2-40B4-BE49-F238E27FC236}">
                <a16:creationId xmlns:a16="http://schemas.microsoft.com/office/drawing/2014/main" id="{D2D5213F-F99C-4528-8E28-B1F7F176F2E1}"/>
              </a:ext>
            </a:extLst>
          </p:cNvPr>
          <p:cNvSpPr>
            <a:spLocks noChangeArrowheads="1"/>
          </p:cNvSpPr>
          <p:nvPr/>
        </p:nvSpPr>
        <p:spPr bwMode="auto">
          <a:xfrm>
            <a:off x="6555942" y="4281799"/>
            <a:ext cx="533400" cy="35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dirty="0" err="1">
                <a:solidFill>
                  <a:schemeClr val="bg1"/>
                </a:solidFill>
                <a:latin typeface="Times New Roman" panose="02020603050405020304" pitchFamily="18" charset="0"/>
              </a:rPr>
              <a:t>i</a:t>
            </a:r>
            <a:r>
              <a:rPr lang="en-US" altLang="zh-CN" sz="2000" b="1" dirty="0">
                <a:solidFill>
                  <a:schemeClr val="bg1"/>
                </a:solidFill>
                <a:latin typeface="Times New Roman" panose="02020603050405020304" pitchFamily="18" charset="0"/>
              </a:rPr>
              <a:t>/2</a:t>
            </a:r>
          </a:p>
        </p:txBody>
      </p:sp>
      <p:grpSp>
        <p:nvGrpSpPr>
          <p:cNvPr id="21532" name="Group 64">
            <a:extLst>
              <a:ext uri="{FF2B5EF4-FFF2-40B4-BE49-F238E27FC236}">
                <a16:creationId xmlns:a16="http://schemas.microsoft.com/office/drawing/2014/main" id="{B71A1DA7-A68A-4FF6-9C37-C074DD345151}"/>
              </a:ext>
            </a:extLst>
          </p:cNvPr>
          <p:cNvGrpSpPr>
            <a:grpSpLocks/>
          </p:cNvGrpSpPr>
          <p:nvPr/>
        </p:nvGrpSpPr>
        <p:grpSpPr bwMode="auto">
          <a:xfrm>
            <a:off x="6632142" y="4324662"/>
            <a:ext cx="381000" cy="228600"/>
            <a:chOff x="0" y="0"/>
            <a:chExt cx="240" cy="144"/>
          </a:xfrm>
        </p:grpSpPr>
        <p:sp>
          <p:nvSpPr>
            <p:cNvPr id="21533" name="Line 65">
              <a:extLst>
                <a:ext uri="{FF2B5EF4-FFF2-40B4-BE49-F238E27FC236}">
                  <a16:creationId xmlns:a16="http://schemas.microsoft.com/office/drawing/2014/main" id="{B3FEA6EC-E63A-44FD-B586-C44CFDE56652}"/>
                </a:ext>
              </a:extLst>
            </p:cNvPr>
            <p:cNvSpPr>
              <a:spLocks noChangeShapeType="1"/>
            </p:cNvSpPr>
            <p:nvPr/>
          </p:nvSpPr>
          <p:spPr bwMode="auto">
            <a:xfrm>
              <a:off x="0" y="0"/>
              <a:ext cx="0" cy="144"/>
            </a:xfrm>
            <a:prstGeom prst="line">
              <a:avLst/>
            </a:prstGeom>
            <a:noFill/>
            <a:ln w="254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1534" name="Line 66">
              <a:extLst>
                <a:ext uri="{FF2B5EF4-FFF2-40B4-BE49-F238E27FC236}">
                  <a16:creationId xmlns:a16="http://schemas.microsoft.com/office/drawing/2014/main" id="{02688CAD-494F-4D1F-8ADD-93B1E882D38E}"/>
                </a:ext>
              </a:extLst>
            </p:cNvPr>
            <p:cNvSpPr>
              <a:spLocks noChangeShapeType="1"/>
            </p:cNvSpPr>
            <p:nvPr/>
          </p:nvSpPr>
          <p:spPr bwMode="auto">
            <a:xfrm>
              <a:off x="0" y="144"/>
              <a:ext cx="48" cy="0"/>
            </a:xfrm>
            <a:prstGeom prst="line">
              <a:avLst/>
            </a:prstGeom>
            <a:noFill/>
            <a:ln w="254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1535" name="Line 67">
              <a:extLst>
                <a:ext uri="{FF2B5EF4-FFF2-40B4-BE49-F238E27FC236}">
                  <a16:creationId xmlns:a16="http://schemas.microsoft.com/office/drawing/2014/main" id="{9F33CDD5-3CCC-4607-9EA1-111895575D52}"/>
                </a:ext>
              </a:extLst>
            </p:cNvPr>
            <p:cNvSpPr>
              <a:spLocks noChangeShapeType="1"/>
            </p:cNvSpPr>
            <p:nvPr/>
          </p:nvSpPr>
          <p:spPr bwMode="auto">
            <a:xfrm>
              <a:off x="240" y="0"/>
              <a:ext cx="0" cy="144"/>
            </a:xfrm>
            <a:prstGeom prst="line">
              <a:avLst/>
            </a:prstGeom>
            <a:noFill/>
            <a:ln w="254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1536" name="Line 68">
              <a:extLst>
                <a:ext uri="{FF2B5EF4-FFF2-40B4-BE49-F238E27FC236}">
                  <a16:creationId xmlns:a16="http://schemas.microsoft.com/office/drawing/2014/main" id="{19C19BF4-4AA8-4380-B54C-3CEEEE6E3B01}"/>
                </a:ext>
              </a:extLst>
            </p:cNvPr>
            <p:cNvSpPr>
              <a:spLocks noChangeShapeType="1"/>
            </p:cNvSpPr>
            <p:nvPr/>
          </p:nvSpPr>
          <p:spPr bwMode="auto">
            <a:xfrm>
              <a:off x="192" y="144"/>
              <a:ext cx="48" cy="0"/>
            </a:xfrm>
            <a:prstGeom prst="line">
              <a:avLst/>
            </a:prstGeom>
            <a:noFill/>
            <a:ln w="254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3" name="对话气泡: 椭圆形 2">
            <a:extLst>
              <a:ext uri="{FF2B5EF4-FFF2-40B4-BE49-F238E27FC236}">
                <a16:creationId xmlns:a16="http://schemas.microsoft.com/office/drawing/2014/main" id="{9EBC1509-31A7-4EC3-A009-BEE4485D1F48}"/>
              </a:ext>
            </a:extLst>
          </p:cNvPr>
          <p:cNvSpPr/>
          <p:nvPr/>
        </p:nvSpPr>
        <p:spPr bwMode="auto">
          <a:xfrm>
            <a:off x="5228115" y="1516916"/>
            <a:ext cx="3903427" cy="1211818"/>
          </a:xfrm>
          <a:prstGeom prst="wedgeEllipseCallout">
            <a:avLst>
              <a:gd name="adj1" fmla="val -43382"/>
              <a:gd name="adj2" fmla="val 90831"/>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r>
              <a:rPr kumimoji="0" lang="zh-CN" altLang="en-US" sz="2800" b="0" i="0" u="none" strike="noStrike" cap="none" normalizeH="0" baseline="0" dirty="0">
                <a:ln>
                  <a:noFill/>
                </a:ln>
                <a:solidFill>
                  <a:schemeClr val="tx1"/>
                </a:solidFill>
                <a:effectLst/>
                <a:latin typeface="+mn-ea"/>
                <a:ea typeface="+mn-ea"/>
              </a:rPr>
              <a:t>从</a:t>
            </a:r>
            <a:r>
              <a:rPr kumimoji="0" lang="en-US" altLang="zh-CN" sz="2800" b="0" i="0" u="none" strike="noStrike" cap="none" normalizeH="0" baseline="0" dirty="0">
                <a:ln>
                  <a:noFill/>
                </a:ln>
                <a:solidFill>
                  <a:schemeClr val="tx1"/>
                </a:solidFill>
                <a:effectLst/>
                <a:latin typeface="+mn-ea"/>
                <a:ea typeface="+mn-ea"/>
              </a:rPr>
              <a:t>0</a:t>
            </a:r>
            <a:r>
              <a:rPr kumimoji="0" lang="zh-CN" altLang="en-US" sz="2800" b="0" i="0" u="none" strike="noStrike" cap="none" normalizeH="0" baseline="0" dirty="0">
                <a:ln>
                  <a:noFill/>
                </a:ln>
                <a:solidFill>
                  <a:schemeClr val="tx1"/>
                </a:solidFill>
                <a:effectLst/>
                <a:latin typeface="+mn-ea"/>
                <a:ea typeface="+mn-ea"/>
              </a:rPr>
              <a:t>开始公式不同。</a:t>
            </a:r>
            <a:r>
              <a:rPr kumimoji="0" lang="en-US" altLang="zh-CN" sz="2800" b="0" i="0" u="none" strike="noStrike" cap="none" normalizeH="0" baseline="0" dirty="0">
                <a:ln>
                  <a:noFill/>
                </a:ln>
                <a:solidFill>
                  <a:schemeClr val="tx1"/>
                </a:solidFill>
                <a:effectLst/>
                <a:latin typeface="+mn-ea"/>
                <a:ea typeface="+mn-ea"/>
              </a:rPr>
              <a:t>2i+1,2i+2</a:t>
            </a:r>
            <a:endParaRPr kumimoji="0" lang="zh-CN" altLang="en-US" sz="2800" b="0" i="0" u="none" strike="noStrike" cap="none" normalizeH="0" baseline="0" dirty="0">
              <a:ln>
                <a:noFill/>
              </a:ln>
              <a:solidFill>
                <a:schemeClr val="tx1"/>
              </a:solidFill>
              <a:effectLst/>
              <a:latin typeface="+mn-ea"/>
              <a:ea typeface="+mn-ea"/>
            </a:endParaRPr>
          </a:p>
        </p:txBody>
      </p:sp>
      <p:sp>
        <p:nvSpPr>
          <p:cNvPr id="4" name="Text Box 4">
            <a:extLst>
              <a:ext uri="{FF2B5EF4-FFF2-40B4-BE49-F238E27FC236}">
                <a16:creationId xmlns:a16="http://schemas.microsoft.com/office/drawing/2014/main" id="{DAE9BCA5-30B7-2F74-9133-9AC1356181E8}"/>
              </a:ext>
            </a:extLst>
          </p:cNvPr>
          <p:cNvSpPr txBox="1">
            <a:spLocks noChangeArrowheads="1"/>
          </p:cNvSpPr>
          <p:nvPr/>
        </p:nvSpPr>
        <p:spPr bwMode="auto">
          <a:xfrm>
            <a:off x="150822" y="180899"/>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完全二叉树性质</a:t>
            </a:r>
          </a:p>
        </p:txBody>
      </p:sp>
      <p:grpSp>
        <p:nvGrpSpPr>
          <p:cNvPr id="5" name="Group 40">
            <a:extLst>
              <a:ext uri="{FF2B5EF4-FFF2-40B4-BE49-F238E27FC236}">
                <a16:creationId xmlns:a16="http://schemas.microsoft.com/office/drawing/2014/main" id="{1E2F3593-E5AE-C8E1-F9A4-FD4EE4D1AFA2}"/>
              </a:ext>
            </a:extLst>
          </p:cNvPr>
          <p:cNvGrpSpPr>
            <a:grpSpLocks/>
          </p:cNvGrpSpPr>
          <p:nvPr/>
        </p:nvGrpSpPr>
        <p:grpSpPr bwMode="auto">
          <a:xfrm>
            <a:off x="3581400" y="2208502"/>
            <a:ext cx="611701" cy="412182"/>
            <a:chOff x="0" y="0"/>
            <a:chExt cx="624" cy="240"/>
          </a:xfrm>
        </p:grpSpPr>
        <p:sp>
          <p:nvSpPr>
            <p:cNvPr id="6" name="Line 41">
              <a:extLst>
                <a:ext uri="{FF2B5EF4-FFF2-40B4-BE49-F238E27FC236}">
                  <a16:creationId xmlns:a16="http://schemas.microsoft.com/office/drawing/2014/main" id="{D071583F-52D1-3751-2A79-68415AE2A31D}"/>
                </a:ext>
              </a:extLst>
            </p:cNvPr>
            <p:cNvSpPr>
              <a:spLocks noChangeShapeType="1"/>
            </p:cNvSpPr>
            <p:nvPr/>
          </p:nvSpPr>
          <p:spPr bwMode="auto">
            <a:xfrm>
              <a:off x="0" y="0"/>
              <a:ext cx="0" cy="240"/>
            </a:xfrm>
            <a:prstGeom prst="line">
              <a:avLst/>
            </a:prstGeom>
            <a:noFill/>
            <a:ln w="254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 name="Line 42">
              <a:extLst>
                <a:ext uri="{FF2B5EF4-FFF2-40B4-BE49-F238E27FC236}">
                  <a16:creationId xmlns:a16="http://schemas.microsoft.com/office/drawing/2014/main" id="{C0A5D6F4-6A06-FC99-3E88-131C9473A61A}"/>
                </a:ext>
              </a:extLst>
            </p:cNvPr>
            <p:cNvSpPr>
              <a:spLocks noChangeShapeType="1"/>
            </p:cNvSpPr>
            <p:nvPr/>
          </p:nvSpPr>
          <p:spPr bwMode="auto">
            <a:xfrm>
              <a:off x="0" y="240"/>
              <a:ext cx="48" cy="0"/>
            </a:xfrm>
            <a:prstGeom prst="line">
              <a:avLst/>
            </a:prstGeom>
            <a:noFill/>
            <a:ln w="254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 name="Line 43">
              <a:extLst>
                <a:ext uri="{FF2B5EF4-FFF2-40B4-BE49-F238E27FC236}">
                  <a16:creationId xmlns:a16="http://schemas.microsoft.com/office/drawing/2014/main" id="{1F9AEF5E-581E-C6BA-1628-40C1CA83C75C}"/>
                </a:ext>
              </a:extLst>
            </p:cNvPr>
            <p:cNvSpPr>
              <a:spLocks noChangeShapeType="1"/>
            </p:cNvSpPr>
            <p:nvPr/>
          </p:nvSpPr>
          <p:spPr bwMode="auto">
            <a:xfrm>
              <a:off x="624" y="0"/>
              <a:ext cx="0" cy="240"/>
            </a:xfrm>
            <a:prstGeom prst="line">
              <a:avLst/>
            </a:prstGeom>
            <a:noFill/>
            <a:ln w="254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 name="Line 44">
              <a:extLst>
                <a:ext uri="{FF2B5EF4-FFF2-40B4-BE49-F238E27FC236}">
                  <a16:creationId xmlns:a16="http://schemas.microsoft.com/office/drawing/2014/main" id="{BB438B00-DFCC-D1FB-69DA-EB9648713043}"/>
                </a:ext>
              </a:extLst>
            </p:cNvPr>
            <p:cNvSpPr>
              <a:spLocks noChangeShapeType="1"/>
            </p:cNvSpPr>
            <p:nvPr/>
          </p:nvSpPr>
          <p:spPr bwMode="auto">
            <a:xfrm>
              <a:off x="576" y="240"/>
              <a:ext cx="48" cy="0"/>
            </a:xfrm>
            <a:prstGeom prst="line">
              <a:avLst/>
            </a:prstGeom>
            <a:noFill/>
            <a:ln w="254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2" name="Oval 55">
            <a:extLst>
              <a:ext uri="{FF2B5EF4-FFF2-40B4-BE49-F238E27FC236}">
                <a16:creationId xmlns:a16="http://schemas.microsoft.com/office/drawing/2014/main" id="{CDF4E9D7-144D-D3D6-E43E-771B3C866E48}"/>
              </a:ext>
            </a:extLst>
          </p:cNvPr>
          <p:cNvSpPr>
            <a:spLocks noChangeArrowheads="1"/>
          </p:cNvSpPr>
          <p:nvPr/>
        </p:nvSpPr>
        <p:spPr bwMode="auto">
          <a:xfrm>
            <a:off x="7195098" y="5689543"/>
            <a:ext cx="538163" cy="481013"/>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0" name="Rectangle 59">
            <a:extLst>
              <a:ext uri="{FF2B5EF4-FFF2-40B4-BE49-F238E27FC236}">
                <a16:creationId xmlns:a16="http://schemas.microsoft.com/office/drawing/2014/main" id="{BE5850E0-7679-7866-8D89-2755CAEC0230}"/>
              </a:ext>
            </a:extLst>
          </p:cNvPr>
          <p:cNvSpPr>
            <a:spLocks noChangeArrowheads="1"/>
          </p:cNvSpPr>
          <p:nvPr/>
        </p:nvSpPr>
        <p:spPr bwMode="auto">
          <a:xfrm>
            <a:off x="7098650" y="5742152"/>
            <a:ext cx="762000" cy="35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000" b="1" dirty="0">
                <a:solidFill>
                  <a:schemeClr val="bg1"/>
                </a:solidFill>
                <a:latin typeface="Times New Roman" panose="02020603050405020304" pitchFamily="18" charset="0"/>
              </a:rPr>
              <a:t>2</a:t>
            </a:r>
            <a:r>
              <a:rPr lang="en-US" altLang="zh-CN" sz="2000" b="1" dirty="0">
                <a:solidFill>
                  <a:schemeClr val="bg1"/>
                </a:solidFill>
                <a:latin typeface="Times New Roman" panose="02020603050405020304" pitchFamily="18" charset="0"/>
              </a:rPr>
              <a:t>i+2</a:t>
            </a:r>
            <a:endParaRPr lang="zh-CN" altLang="en-US" sz="2000" b="1" dirty="0">
              <a:solidFill>
                <a:schemeClr val="bg1"/>
              </a:solidFill>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53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53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21509">
                                            <p:txEl>
                                              <p:pRg st="1" end="1"/>
                                            </p:txEl>
                                          </p:spTgt>
                                        </p:tgtEl>
                                        <p:attrNameLst>
                                          <p:attrName>style.visibility</p:attrName>
                                        </p:attrNameLst>
                                      </p:cBhvr>
                                      <p:to>
                                        <p:strVal val="visible"/>
                                      </p:to>
                                    </p:set>
                                    <p:animEffect transition="in" filter="blinds(horizontal)">
                                      <p:cBhvr>
                                        <p:cTn id="13" dur="500"/>
                                        <p:tgtEl>
                                          <p:spTgt spid="21509">
                                            <p:txEl>
                                              <p:pRg st="1" end="1"/>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21529"/>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1509">
                                            <p:txEl>
                                              <p:pRg st="2" end="2"/>
                                            </p:txEl>
                                          </p:spTgt>
                                        </p:tgtEl>
                                        <p:attrNameLst>
                                          <p:attrName>style.visibility</p:attrName>
                                        </p:attrNameLst>
                                      </p:cBhvr>
                                      <p:to>
                                        <p:strVal val="visible"/>
                                      </p:to>
                                    </p:set>
                                    <p:animEffect transition="in" filter="blinds(horizontal)">
                                      <p:cBhvr>
                                        <p:cTn id="22" dur="500"/>
                                        <p:tgtEl>
                                          <p:spTgt spid="21509">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52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152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27" grpId="0"/>
      <p:bldP spid="21528" grpId="0"/>
      <p:bldP spid="21529" grpId="0"/>
      <p:bldP spid="21531" grpId="0"/>
      <p:bldP spid="3" grpId="0" animBg="1"/>
      <p:bldP spid="1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Text Box 3">
            <a:extLst>
              <a:ext uri="{FF2B5EF4-FFF2-40B4-BE49-F238E27FC236}">
                <a16:creationId xmlns:a16="http://schemas.microsoft.com/office/drawing/2014/main" id="{8FCF00DA-D985-4896-B202-745AFE3F3E19}"/>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B7B29A32-12CB-4164-816C-EB15065C548D}" type="slidenum">
              <a:rPr lang="zh-CN" altLang="en-US" sz="2400"/>
              <a:pPr algn="r" eaLnBrk="1" hangingPunct="1">
                <a:spcBef>
                  <a:spcPct val="50000"/>
                </a:spcBef>
                <a:buClrTx/>
                <a:buSzTx/>
                <a:buFont typeface="Arial" panose="020B0604020202020204" pitchFamily="34" charset="0"/>
                <a:buNone/>
              </a:pPr>
              <a:t>19</a:t>
            </a:fld>
            <a:endParaRPr lang="en-US" altLang="zh-CN" sz="2400"/>
          </a:p>
        </p:txBody>
      </p:sp>
      <p:sp>
        <p:nvSpPr>
          <p:cNvPr id="22533" name="Rectangle 5">
            <a:extLst>
              <a:ext uri="{FF2B5EF4-FFF2-40B4-BE49-F238E27FC236}">
                <a16:creationId xmlns:a16="http://schemas.microsoft.com/office/drawing/2014/main" id="{B3AA0AB7-8D94-4528-96A6-D21C8983ABC5}"/>
              </a:ext>
            </a:extLst>
          </p:cNvPr>
          <p:cNvSpPr>
            <a:spLocks noGrp="1" noChangeArrowheads="1"/>
          </p:cNvSpPr>
          <p:nvPr>
            <p:ph type="body" idx="1"/>
          </p:nvPr>
        </p:nvSpPr>
        <p:spPr>
          <a:xfrm>
            <a:off x="484585" y="1190573"/>
            <a:ext cx="8763000" cy="1746077"/>
          </a:xfrm>
        </p:spPr>
        <p:txBody>
          <a:bodyPr/>
          <a:lstStyle/>
          <a:p>
            <a:pPr eaLnBrk="1" hangingPunct="1">
              <a:spcBef>
                <a:spcPct val="30000"/>
              </a:spcBef>
            </a:pPr>
            <a:r>
              <a:rPr lang="zh-CN" altLang="en-US" dirty="0">
                <a:latin typeface="黑体" panose="02010609060101010101" pitchFamily="49" charset="-122"/>
                <a:ea typeface="黑体" panose="02010609060101010101" pitchFamily="49" charset="-122"/>
              </a:rPr>
              <a:t>顺序存储结构</a:t>
            </a:r>
            <a:endParaRPr lang="en-US" altLang="zh-CN" dirty="0">
              <a:latin typeface="黑体" panose="02010609060101010101" pitchFamily="49" charset="-122"/>
              <a:ea typeface="黑体" panose="02010609060101010101" pitchFamily="49" charset="-122"/>
            </a:endParaRPr>
          </a:p>
          <a:p>
            <a:pPr eaLnBrk="1" hangingPunct="1">
              <a:spcBef>
                <a:spcPct val="30000"/>
              </a:spcBef>
            </a:pPr>
            <a:r>
              <a:rPr lang="zh-CN" altLang="en-US" dirty="0">
                <a:latin typeface="黑体" panose="02010609060101010101" pitchFamily="49" charset="-122"/>
                <a:ea typeface="黑体" panose="02010609060101010101" pitchFamily="49" charset="-122"/>
              </a:rPr>
              <a:t>链式存储结构</a:t>
            </a:r>
            <a:endParaRPr lang="en-US" altLang="zh-CN" dirty="0">
              <a:latin typeface="黑体" panose="02010609060101010101" pitchFamily="49" charset="-122"/>
              <a:ea typeface="黑体" panose="02010609060101010101" pitchFamily="49" charset="-122"/>
            </a:endParaRPr>
          </a:p>
          <a:p>
            <a:pPr lvl="1" eaLnBrk="1" hangingPunct="1">
              <a:spcBef>
                <a:spcPct val="30000"/>
              </a:spcBef>
              <a:buFont typeface="Wingdings" panose="05000000000000000000" pitchFamily="2" charset="2"/>
              <a:buChar char="ü"/>
            </a:pPr>
            <a:r>
              <a:rPr lang="zh-CN" altLang="en-US" sz="2800" dirty="0">
                <a:solidFill>
                  <a:schemeClr val="tx1"/>
                </a:solidFill>
                <a:latin typeface="黑体" panose="02010609060101010101" pitchFamily="49" charset="-122"/>
                <a:ea typeface="黑体" panose="02010609060101010101" pitchFamily="49" charset="-122"/>
                <a:cs typeface="+mn-cs"/>
              </a:rPr>
              <a:t>二叉链表</a:t>
            </a:r>
            <a:endParaRPr lang="en-US" altLang="zh-CN" sz="2800" dirty="0">
              <a:solidFill>
                <a:schemeClr val="tx1"/>
              </a:solidFill>
              <a:latin typeface="黑体" panose="02010609060101010101" pitchFamily="49" charset="-122"/>
              <a:ea typeface="黑体" panose="02010609060101010101" pitchFamily="49" charset="-122"/>
              <a:cs typeface="+mn-cs"/>
            </a:endParaRPr>
          </a:p>
          <a:p>
            <a:pPr lvl="1" eaLnBrk="1" hangingPunct="1">
              <a:spcBef>
                <a:spcPct val="30000"/>
              </a:spcBef>
              <a:buFont typeface="Wingdings" panose="05000000000000000000" pitchFamily="2" charset="2"/>
              <a:buChar char="ü"/>
            </a:pPr>
            <a:r>
              <a:rPr lang="zh-CN" altLang="en-US" sz="2800" dirty="0">
                <a:solidFill>
                  <a:schemeClr val="tx1"/>
                </a:solidFill>
                <a:latin typeface="黑体" panose="02010609060101010101" pitchFamily="49" charset="-122"/>
                <a:ea typeface="黑体" panose="02010609060101010101" pitchFamily="49" charset="-122"/>
                <a:cs typeface="+mn-cs"/>
              </a:rPr>
              <a:t>三叉链表</a:t>
            </a:r>
            <a:endParaRPr lang="en-US" altLang="zh-CN" sz="2800" dirty="0">
              <a:solidFill>
                <a:schemeClr val="tx1"/>
              </a:solidFill>
              <a:latin typeface="黑体" panose="02010609060101010101" pitchFamily="49" charset="-122"/>
              <a:ea typeface="黑体" panose="02010609060101010101" pitchFamily="49" charset="-122"/>
              <a:cs typeface="+mn-cs"/>
            </a:endParaRPr>
          </a:p>
          <a:p>
            <a:pPr eaLnBrk="1" hangingPunct="1">
              <a:spcBef>
                <a:spcPct val="30000"/>
              </a:spcBef>
            </a:pPr>
            <a:endParaRPr lang="zh-CN" altLang="en-US" dirty="0">
              <a:latin typeface="黑体" panose="02010609060101010101" pitchFamily="49" charset="-122"/>
              <a:ea typeface="黑体" panose="02010609060101010101" pitchFamily="49" charset="-122"/>
            </a:endParaRPr>
          </a:p>
        </p:txBody>
      </p:sp>
      <p:sp>
        <p:nvSpPr>
          <p:cNvPr id="3" name="Text Box 4">
            <a:extLst>
              <a:ext uri="{FF2B5EF4-FFF2-40B4-BE49-F238E27FC236}">
                <a16:creationId xmlns:a16="http://schemas.microsoft.com/office/drawing/2014/main" id="{1B603733-187C-4A87-B726-25F61A06B08F}"/>
              </a:ext>
            </a:extLst>
          </p:cNvPr>
          <p:cNvSpPr txBox="1">
            <a:spLocks noChangeArrowheads="1"/>
          </p:cNvSpPr>
          <p:nvPr/>
        </p:nvSpPr>
        <p:spPr bwMode="auto">
          <a:xfrm>
            <a:off x="332003" y="169067"/>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三、二叉树的存储结构</a:t>
            </a:r>
          </a:p>
        </p:txBody>
      </p:sp>
    </p:spTree>
    <p:extLst>
      <p:ext uri="{BB962C8B-B14F-4D97-AF65-F5344CB8AC3E}">
        <p14:creationId xmlns:p14="http://schemas.microsoft.com/office/powerpoint/2010/main" val="683282313"/>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Text Box 3">
            <a:extLst>
              <a:ext uri="{FF2B5EF4-FFF2-40B4-BE49-F238E27FC236}">
                <a16:creationId xmlns:a16="http://schemas.microsoft.com/office/drawing/2014/main" id="{8FCF00DA-D985-4896-B202-745AFE3F3E19}"/>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B7B29A32-12CB-4164-816C-EB15065C548D}" type="slidenum">
              <a:rPr lang="zh-CN" altLang="en-US" sz="2400"/>
              <a:pPr algn="r" eaLnBrk="1" hangingPunct="1">
                <a:spcBef>
                  <a:spcPct val="50000"/>
                </a:spcBef>
                <a:buClrTx/>
                <a:buSzTx/>
                <a:buFont typeface="Arial" panose="020B0604020202020204" pitchFamily="34" charset="0"/>
                <a:buNone/>
              </a:pPr>
              <a:t>20</a:t>
            </a:fld>
            <a:endParaRPr lang="en-US" altLang="zh-CN" sz="2400"/>
          </a:p>
        </p:txBody>
      </p:sp>
      <p:sp>
        <p:nvSpPr>
          <p:cNvPr id="22533" name="Rectangle 5">
            <a:extLst>
              <a:ext uri="{FF2B5EF4-FFF2-40B4-BE49-F238E27FC236}">
                <a16:creationId xmlns:a16="http://schemas.microsoft.com/office/drawing/2014/main" id="{B3AA0AB7-8D94-4528-96A6-D21C8983ABC5}"/>
              </a:ext>
            </a:extLst>
          </p:cNvPr>
          <p:cNvSpPr>
            <a:spLocks noGrp="1" noChangeArrowheads="1"/>
          </p:cNvSpPr>
          <p:nvPr>
            <p:ph type="body" idx="1"/>
          </p:nvPr>
        </p:nvSpPr>
        <p:spPr>
          <a:xfrm>
            <a:off x="484585" y="1190573"/>
            <a:ext cx="8763000" cy="4038600"/>
          </a:xfrm>
        </p:spPr>
        <p:txBody>
          <a:bodyPr/>
          <a:lstStyle/>
          <a:p>
            <a:pPr eaLnBrk="1" hangingPunct="1">
              <a:spcBef>
                <a:spcPct val="30000"/>
              </a:spcBef>
            </a:pPr>
            <a:r>
              <a:rPr lang="zh-CN" altLang="en-US" dirty="0">
                <a:latin typeface="黑体" panose="02010609060101010101" pitchFamily="49" charset="-122"/>
                <a:ea typeface="黑体" panose="02010609060101010101" pitchFamily="49" charset="-122"/>
              </a:rPr>
              <a:t>用一组连续的存储单元依次自上而下</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自左至右存储结点。</a:t>
            </a:r>
          </a:p>
        </p:txBody>
      </p:sp>
      <p:sp>
        <p:nvSpPr>
          <p:cNvPr id="22535" name="Text Box 7">
            <a:extLst>
              <a:ext uri="{FF2B5EF4-FFF2-40B4-BE49-F238E27FC236}">
                <a16:creationId xmlns:a16="http://schemas.microsoft.com/office/drawing/2014/main" id="{20020BB6-4838-4FD9-A1D0-C756B7B9AB92}"/>
              </a:ext>
            </a:extLst>
          </p:cNvPr>
          <p:cNvSpPr txBox="1">
            <a:spLocks noChangeArrowheads="1"/>
          </p:cNvSpPr>
          <p:nvPr/>
        </p:nvSpPr>
        <p:spPr bwMode="auto">
          <a:xfrm>
            <a:off x="652463" y="5892748"/>
            <a:ext cx="800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400" b="1" i="0" dirty="0">
                <a:solidFill>
                  <a:srgbClr val="004080"/>
                </a:solidFill>
                <a:latin typeface="隶书" panose="02010509060101010101" pitchFamily="49" charset="-122"/>
                <a:ea typeface="楷体_GB2312" pitchFamily="1" charset="-122"/>
              </a:rPr>
              <a:t>完全二叉树的顺序表示　　　　　一般二叉树的顺序表示</a:t>
            </a:r>
          </a:p>
        </p:txBody>
      </p:sp>
      <p:grpSp>
        <p:nvGrpSpPr>
          <p:cNvPr id="22536" name="Group 8">
            <a:extLst>
              <a:ext uri="{FF2B5EF4-FFF2-40B4-BE49-F238E27FC236}">
                <a16:creationId xmlns:a16="http://schemas.microsoft.com/office/drawing/2014/main" id="{D4B41793-749D-4B59-92AF-349FB8B1640A}"/>
              </a:ext>
            </a:extLst>
          </p:cNvPr>
          <p:cNvGrpSpPr>
            <a:grpSpLocks/>
          </p:cNvGrpSpPr>
          <p:nvPr/>
        </p:nvGrpSpPr>
        <p:grpSpPr bwMode="auto">
          <a:xfrm>
            <a:off x="652463" y="5359348"/>
            <a:ext cx="3232150" cy="612775"/>
            <a:chOff x="0" y="0"/>
            <a:chExt cx="2036" cy="437"/>
          </a:xfrm>
        </p:grpSpPr>
        <p:sp>
          <p:nvSpPr>
            <p:cNvPr id="22631" name="Rectangle 9">
              <a:extLst>
                <a:ext uri="{FF2B5EF4-FFF2-40B4-BE49-F238E27FC236}">
                  <a16:creationId xmlns:a16="http://schemas.microsoft.com/office/drawing/2014/main" id="{E714EB25-0DC5-4FA2-B304-7F4DE90DF117}"/>
                </a:ext>
              </a:extLst>
            </p:cNvPr>
            <p:cNvSpPr>
              <a:spLocks noChangeArrowheads="1"/>
            </p:cNvSpPr>
            <p:nvPr/>
          </p:nvSpPr>
          <p:spPr bwMode="auto">
            <a:xfrm>
              <a:off x="4" y="96"/>
              <a:ext cx="1968" cy="288"/>
            </a:xfrm>
            <a:prstGeom prst="rect">
              <a:avLst/>
            </a:prstGeom>
            <a:solidFill>
              <a:srgbClr val="FF7C80"/>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FF7C80"/>
              </a:extrusionClr>
              <a:contourClr>
                <a:srgbClr val="FF7C80"/>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flatTx/>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2632" name="Line 10">
              <a:extLst>
                <a:ext uri="{FF2B5EF4-FFF2-40B4-BE49-F238E27FC236}">
                  <a16:creationId xmlns:a16="http://schemas.microsoft.com/office/drawing/2014/main" id="{36172A30-8ABE-47B1-B42D-86FC41728FB9}"/>
                </a:ext>
              </a:extLst>
            </p:cNvPr>
            <p:cNvSpPr>
              <a:spLocks noChangeShapeType="1"/>
            </p:cNvSpPr>
            <p:nvPr/>
          </p:nvSpPr>
          <p:spPr bwMode="auto">
            <a:xfrm>
              <a:off x="196" y="96"/>
              <a:ext cx="0" cy="288"/>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33" name="Text Box 11">
              <a:extLst>
                <a:ext uri="{FF2B5EF4-FFF2-40B4-BE49-F238E27FC236}">
                  <a16:creationId xmlns:a16="http://schemas.microsoft.com/office/drawing/2014/main" id="{58FA3A3D-9663-4349-B94F-1910A3D8C4AB}"/>
                </a:ext>
              </a:extLst>
            </p:cNvPr>
            <p:cNvSpPr txBox="1">
              <a:spLocks noChangeArrowheads="1"/>
            </p:cNvSpPr>
            <p:nvPr/>
          </p:nvSpPr>
          <p:spPr bwMode="auto">
            <a:xfrm>
              <a:off x="0" y="24"/>
              <a:ext cx="2036" cy="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b="1" i="0" dirty="0">
                  <a:solidFill>
                    <a:schemeClr val="bg1"/>
                  </a:solidFill>
                  <a:latin typeface="Times New Roman" panose="02020603050405020304" pitchFamily="18" charset="0"/>
                </a:rPr>
                <a:t>1 2 3 4 5 6 7 8 910</a:t>
              </a:r>
              <a:endParaRPr lang="zh-CN" altLang="en-US" sz="2800" i="0" dirty="0">
                <a:latin typeface="Times New Roman" panose="02020603050405020304" pitchFamily="18" charset="0"/>
              </a:endParaRPr>
            </a:p>
          </p:txBody>
        </p:sp>
        <p:sp>
          <p:nvSpPr>
            <p:cNvPr id="22634" name="Line 12">
              <a:extLst>
                <a:ext uri="{FF2B5EF4-FFF2-40B4-BE49-F238E27FC236}">
                  <a16:creationId xmlns:a16="http://schemas.microsoft.com/office/drawing/2014/main" id="{F7FE2E1A-4B52-4B8C-9929-5D00A74DCDCB}"/>
                </a:ext>
              </a:extLst>
            </p:cNvPr>
            <p:cNvSpPr>
              <a:spLocks noChangeShapeType="1"/>
            </p:cNvSpPr>
            <p:nvPr/>
          </p:nvSpPr>
          <p:spPr bwMode="auto">
            <a:xfrm>
              <a:off x="388" y="96"/>
              <a:ext cx="0" cy="288"/>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35" name="Line 13">
              <a:extLst>
                <a:ext uri="{FF2B5EF4-FFF2-40B4-BE49-F238E27FC236}">
                  <a16:creationId xmlns:a16="http://schemas.microsoft.com/office/drawing/2014/main" id="{888A5E53-72A5-4BC1-BF68-4A2DE0FFC475}"/>
                </a:ext>
              </a:extLst>
            </p:cNvPr>
            <p:cNvSpPr>
              <a:spLocks noChangeShapeType="1"/>
            </p:cNvSpPr>
            <p:nvPr/>
          </p:nvSpPr>
          <p:spPr bwMode="auto">
            <a:xfrm>
              <a:off x="580" y="96"/>
              <a:ext cx="0" cy="288"/>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36" name="Line 14">
              <a:extLst>
                <a:ext uri="{FF2B5EF4-FFF2-40B4-BE49-F238E27FC236}">
                  <a16:creationId xmlns:a16="http://schemas.microsoft.com/office/drawing/2014/main" id="{00F17A09-35CA-474C-8AC2-F68AE47BC039}"/>
                </a:ext>
              </a:extLst>
            </p:cNvPr>
            <p:cNvSpPr>
              <a:spLocks noChangeShapeType="1"/>
            </p:cNvSpPr>
            <p:nvPr/>
          </p:nvSpPr>
          <p:spPr bwMode="auto">
            <a:xfrm>
              <a:off x="772" y="96"/>
              <a:ext cx="0" cy="288"/>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37" name="Line 15">
              <a:extLst>
                <a:ext uri="{FF2B5EF4-FFF2-40B4-BE49-F238E27FC236}">
                  <a16:creationId xmlns:a16="http://schemas.microsoft.com/office/drawing/2014/main" id="{719FBEF0-0AC7-491B-BEFE-3C49694B4A9B}"/>
                </a:ext>
              </a:extLst>
            </p:cNvPr>
            <p:cNvSpPr>
              <a:spLocks noChangeShapeType="1"/>
            </p:cNvSpPr>
            <p:nvPr/>
          </p:nvSpPr>
          <p:spPr bwMode="auto">
            <a:xfrm>
              <a:off x="964" y="96"/>
              <a:ext cx="0" cy="288"/>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38" name="Line 16">
              <a:extLst>
                <a:ext uri="{FF2B5EF4-FFF2-40B4-BE49-F238E27FC236}">
                  <a16:creationId xmlns:a16="http://schemas.microsoft.com/office/drawing/2014/main" id="{FEF0A9B5-F53A-456F-8598-771D428DDB97}"/>
                </a:ext>
              </a:extLst>
            </p:cNvPr>
            <p:cNvSpPr>
              <a:spLocks noChangeShapeType="1"/>
            </p:cNvSpPr>
            <p:nvPr/>
          </p:nvSpPr>
          <p:spPr bwMode="auto">
            <a:xfrm>
              <a:off x="1156" y="96"/>
              <a:ext cx="0" cy="288"/>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39" name="Line 17">
              <a:extLst>
                <a:ext uri="{FF2B5EF4-FFF2-40B4-BE49-F238E27FC236}">
                  <a16:creationId xmlns:a16="http://schemas.microsoft.com/office/drawing/2014/main" id="{8FB22D4F-97C7-4B9F-9D82-34EA808D3E8E}"/>
                </a:ext>
              </a:extLst>
            </p:cNvPr>
            <p:cNvSpPr>
              <a:spLocks noChangeShapeType="1"/>
            </p:cNvSpPr>
            <p:nvPr/>
          </p:nvSpPr>
          <p:spPr bwMode="auto">
            <a:xfrm>
              <a:off x="1348" y="96"/>
              <a:ext cx="0" cy="288"/>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40" name="Line 18">
              <a:extLst>
                <a:ext uri="{FF2B5EF4-FFF2-40B4-BE49-F238E27FC236}">
                  <a16:creationId xmlns:a16="http://schemas.microsoft.com/office/drawing/2014/main" id="{27A4A435-A134-482B-ACAC-BB61394402AD}"/>
                </a:ext>
              </a:extLst>
            </p:cNvPr>
            <p:cNvSpPr>
              <a:spLocks noChangeShapeType="1"/>
            </p:cNvSpPr>
            <p:nvPr/>
          </p:nvSpPr>
          <p:spPr bwMode="auto">
            <a:xfrm>
              <a:off x="1540" y="96"/>
              <a:ext cx="0" cy="288"/>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41" name="Line 19">
              <a:extLst>
                <a:ext uri="{FF2B5EF4-FFF2-40B4-BE49-F238E27FC236}">
                  <a16:creationId xmlns:a16="http://schemas.microsoft.com/office/drawing/2014/main" id="{E25867A1-C1FE-4881-B100-2A172169F66C}"/>
                </a:ext>
              </a:extLst>
            </p:cNvPr>
            <p:cNvSpPr>
              <a:spLocks noChangeShapeType="1"/>
            </p:cNvSpPr>
            <p:nvPr/>
          </p:nvSpPr>
          <p:spPr bwMode="auto">
            <a:xfrm>
              <a:off x="1732" y="96"/>
              <a:ext cx="0" cy="288"/>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42" name="Line 20">
              <a:extLst>
                <a:ext uri="{FF2B5EF4-FFF2-40B4-BE49-F238E27FC236}">
                  <a16:creationId xmlns:a16="http://schemas.microsoft.com/office/drawing/2014/main" id="{B1E88F10-E8B3-4165-82B0-EE8E60179654}"/>
                </a:ext>
              </a:extLst>
            </p:cNvPr>
            <p:cNvSpPr>
              <a:spLocks noChangeShapeType="1"/>
            </p:cNvSpPr>
            <p:nvPr/>
          </p:nvSpPr>
          <p:spPr bwMode="auto">
            <a:xfrm flipV="1">
              <a:off x="196" y="0"/>
              <a:ext cx="96" cy="96"/>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43" name="Line 21">
              <a:extLst>
                <a:ext uri="{FF2B5EF4-FFF2-40B4-BE49-F238E27FC236}">
                  <a16:creationId xmlns:a16="http://schemas.microsoft.com/office/drawing/2014/main" id="{48D4225E-903D-471E-BF51-6433E9ABD355}"/>
                </a:ext>
              </a:extLst>
            </p:cNvPr>
            <p:cNvSpPr>
              <a:spLocks noChangeShapeType="1"/>
            </p:cNvSpPr>
            <p:nvPr/>
          </p:nvSpPr>
          <p:spPr bwMode="auto">
            <a:xfrm flipV="1">
              <a:off x="388" y="0"/>
              <a:ext cx="96" cy="96"/>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44" name="Line 22">
              <a:extLst>
                <a:ext uri="{FF2B5EF4-FFF2-40B4-BE49-F238E27FC236}">
                  <a16:creationId xmlns:a16="http://schemas.microsoft.com/office/drawing/2014/main" id="{D53BC420-1D11-4E08-904E-30C750370B6B}"/>
                </a:ext>
              </a:extLst>
            </p:cNvPr>
            <p:cNvSpPr>
              <a:spLocks noChangeShapeType="1"/>
            </p:cNvSpPr>
            <p:nvPr/>
          </p:nvSpPr>
          <p:spPr bwMode="auto">
            <a:xfrm flipV="1">
              <a:off x="580" y="0"/>
              <a:ext cx="96" cy="96"/>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45" name="Line 23">
              <a:extLst>
                <a:ext uri="{FF2B5EF4-FFF2-40B4-BE49-F238E27FC236}">
                  <a16:creationId xmlns:a16="http://schemas.microsoft.com/office/drawing/2014/main" id="{D6D15977-8B32-40CC-A3F4-6D680773026C}"/>
                </a:ext>
              </a:extLst>
            </p:cNvPr>
            <p:cNvSpPr>
              <a:spLocks noChangeShapeType="1"/>
            </p:cNvSpPr>
            <p:nvPr/>
          </p:nvSpPr>
          <p:spPr bwMode="auto">
            <a:xfrm flipV="1">
              <a:off x="772" y="0"/>
              <a:ext cx="96" cy="96"/>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46" name="Line 24">
              <a:extLst>
                <a:ext uri="{FF2B5EF4-FFF2-40B4-BE49-F238E27FC236}">
                  <a16:creationId xmlns:a16="http://schemas.microsoft.com/office/drawing/2014/main" id="{3E77A6E8-0399-4C79-9552-4A416CFE48F9}"/>
                </a:ext>
              </a:extLst>
            </p:cNvPr>
            <p:cNvSpPr>
              <a:spLocks noChangeShapeType="1"/>
            </p:cNvSpPr>
            <p:nvPr/>
          </p:nvSpPr>
          <p:spPr bwMode="auto">
            <a:xfrm flipV="1">
              <a:off x="964" y="0"/>
              <a:ext cx="96" cy="96"/>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47" name="Line 25">
              <a:extLst>
                <a:ext uri="{FF2B5EF4-FFF2-40B4-BE49-F238E27FC236}">
                  <a16:creationId xmlns:a16="http://schemas.microsoft.com/office/drawing/2014/main" id="{CAA72A33-6BCB-425D-BEA6-048AD24A25ED}"/>
                </a:ext>
              </a:extLst>
            </p:cNvPr>
            <p:cNvSpPr>
              <a:spLocks noChangeShapeType="1"/>
            </p:cNvSpPr>
            <p:nvPr/>
          </p:nvSpPr>
          <p:spPr bwMode="auto">
            <a:xfrm flipV="1">
              <a:off x="1156" y="0"/>
              <a:ext cx="96" cy="96"/>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48" name="Line 26">
              <a:extLst>
                <a:ext uri="{FF2B5EF4-FFF2-40B4-BE49-F238E27FC236}">
                  <a16:creationId xmlns:a16="http://schemas.microsoft.com/office/drawing/2014/main" id="{37671659-2299-4E17-A3D6-C4C09A934D8D}"/>
                </a:ext>
              </a:extLst>
            </p:cNvPr>
            <p:cNvSpPr>
              <a:spLocks noChangeShapeType="1"/>
            </p:cNvSpPr>
            <p:nvPr/>
          </p:nvSpPr>
          <p:spPr bwMode="auto">
            <a:xfrm flipV="1">
              <a:off x="1348" y="0"/>
              <a:ext cx="96" cy="96"/>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49" name="Line 27">
              <a:extLst>
                <a:ext uri="{FF2B5EF4-FFF2-40B4-BE49-F238E27FC236}">
                  <a16:creationId xmlns:a16="http://schemas.microsoft.com/office/drawing/2014/main" id="{86E330D0-017E-4129-8692-3940A91499DE}"/>
                </a:ext>
              </a:extLst>
            </p:cNvPr>
            <p:cNvSpPr>
              <a:spLocks noChangeShapeType="1"/>
            </p:cNvSpPr>
            <p:nvPr/>
          </p:nvSpPr>
          <p:spPr bwMode="auto">
            <a:xfrm flipV="1">
              <a:off x="1540" y="0"/>
              <a:ext cx="96" cy="96"/>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50" name="Line 28">
              <a:extLst>
                <a:ext uri="{FF2B5EF4-FFF2-40B4-BE49-F238E27FC236}">
                  <a16:creationId xmlns:a16="http://schemas.microsoft.com/office/drawing/2014/main" id="{B1D6FA84-2DF5-4FD6-9AB0-0EB9BD6131C3}"/>
                </a:ext>
              </a:extLst>
            </p:cNvPr>
            <p:cNvSpPr>
              <a:spLocks noChangeShapeType="1"/>
            </p:cNvSpPr>
            <p:nvPr/>
          </p:nvSpPr>
          <p:spPr bwMode="auto">
            <a:xfrm flipV="1">
              <a:off x="1732" y="0"/>
              <a:ext cx="96" cy="96"/>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2557" name="Group 29">
            <a:extLst>
              <a:ext uri="{FF2B5EF4-FFF2-40B4-BE49-F238E27FC236}">
                <a16:creationId xmlns:a16="http://schemas.microsoft.com/office/drawing/2014/main" id="{B788669A-22BF-4AA7-8EB3-181BCF550E5A}"/>
              </a:ext>
            </a:extLst>
          </p:cNvPr>
          <p:cNvGrpSpPr>
            <a:grpSpLocks/>
          </p:cNvGrpSpPr>
          <p:nvPr/>
        </p:nvGrpSpPr>
        <p:grpSpPr bwMode="auto">
          <a:xfrm>
            <a:off x="4759496" y="5228105"/>
            <a:ext cx="4495800" cy="688975"/>
            <a:chOff x="0" y="0"/>
            <a:chExt cx="2754" cy="484"/>
          </a:xfrm>
        </p:grpSpPr>
        <p:sp>
          <p:nvSpPr>
            <p:cNvPr id="22605" name="Rectangle 30">
              <a:extLst>
                <a:ext uri="{FF2B5EF4-FFF2-40B4-BE49-F238E27FC236}">
                  <a16:creationId xmlns:a16="http://schemas.microsoft.com/office/drawing/2014/main" id="{6F9BC558-F57C-40D9-902E-0442AC616E0F}"/>
                </a:ext>
              </a:extLst>
            </p:cNvPr>
            <p:cNvSpPr>
              <a:spLocks noChangeArrowheads="1"/>
            </p:cNvSpPr>
            <p:nvPr/>
          </p:nvSpPr>
          <p:spPr bwMode="auto">
            <a:xfrm>
              <a:off x="0" y="144"/>
              <a:ext cx="2544" cy="259"/>
            </a:xfrm>
            <a:prstGeom prst="rect">
              <a:avLst/>
            </a:prstGeom>
            <a:solidFill>
              <a:srgbClr val="FF7C80"/>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FF7C80"/>
              </a:extrusionClr>
              <a:contourClr>
                <a:srgbClr val="FF7C80"/>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flatTx/>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2606" name="Line 31">
              <a:extLst>
                <a:ext uri="{FF2B5EF4-FFF2-40B4-BE49-F238E27FC236}">
                  <a16:creationId xmlns:a16="http://schemas.microsoft.com/office/drawing/2014/main" id="{9BAC7E3D-B90C-42C8-8474-413987D4CD51}"/>
                </a:ext>
              </a:extLst>
            </p:cNvPr>
            <p:cNvSpPr>
              <a:spLocks noChangeShapeType="1"/>
            </p:cNvSpPr>
            <p:nvPr/>
          </p:nvSpPr>
          <p:spPr bwMode="auto">
            <a:xfrm>
              <a:off x="192" y="115"/>
              <a:ext cx="0" cy="288"/>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07" name="Text Box 32">
              <a:extLst>
                <a:ext uri="{FF2B5EF4-FFF2-40B4-BE49-F238E27FC236}">
                  <a16:creationId xmlns:a16="http://schemas.microsoft.com/office/drawing/2014/main" id="{114B1D0E-CDCA-46A0-B4D7-1E492A0EFFF8}"/>
                </a:ext>
              </a:extLst>
            </p:cNvPr>
            <p:cNvSpPr txBox="1">
              <a:spLocks noChangeArrowheads="1"/>
            </p:cNvSpPr>
            <p:nvPr/>
          </p:nvSpPr>
          <p:spPr bwMode="auto">
            <a:xfrm>
              <a:off x="0" y="73"/>
              <a:ext cx="2754" cy="4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b="1" i="0" dirty="0">
                  <a:solidFill>
                    <a:schemeClr val="bg1"/>
                  </a:solidFill>
                  <a:latin typeface="Times New Roman" panose="02020603050405020304" pitchFamily="18" charset="0"/>
                </a:rPr>
                <a:t>1 2 3 </a:t>
              </a:r>
              <a:r>
                <a:rPr lang="en-US" altLang="zh-CN" b="1" i="0" dirty="0">
                  <a:solidFill>
                    <a:schemeClr val="bg1"/>
                  </a:solidFill>
                  <a:latin typeface="Times New Roman" panose="02020603050405020304" pitchFamily="18" charset="0"/>
                </a:rPr>
                <a:t>4 </a:t>
              </a:r>
              <a:r>
                <a:rPr lang="zh-CN" altLang="en-US" b="1" i="0" dirty="0">
                  <a:latin typeface="Times New Roman" panose="02020603050405020304" pitchFamily="18" charset="0"/>
                </a:rPr>
                <a:t>0</a:t>
              </a:r>
              <a:r>
                <a:rPr lang="zh-CN" altLang="en-US" b="1" i="0" dirty="0">
                  <a:solidFill>
                    <a:schemeClr val="bg1"/>
                  </a:solidFill>
                  <a:latin typeface="Times New Roman" panose="02020603050405020304" pitchFamily="18" charset="0"/>
                </a:rPr>
                <a:t> 5 6 7 8 </a:t>
              </a:r>
              <a:r>
                <a:rPr lang="zh-CN" altLang="en-US" b="1" i="0" dirty="0">
                  <a:latin typeface="Times New Roman" panose="02020603050405020304" pitchFamily="18" charset="0"/>
                </a:rPr>
                <a:t>0 0</a:t>
              </a:r>
              <a:r>
                <a:rPr lang="zh-CN" altLang="en-US" b="1" i="0" dirty="0">
                  <a:solidFill>
                    <a:schemeClr val="bg1"/>
                  </a:solidFill>
                  <a:latin typeface="Times New Roman" panose="02020603050405020304" pitchFamily="18" charset="0"/>
                </a:rPr>
                <a:t> 9 10   </a:t>
              </a:r>
              <a:endParaRPr lang="zh-CN" altLang="en-US" sz="2800" i="0" dirty="0">
                <a:latin typeface="Times New Roman" panose="02020603050405020304" pitchFamily="18" charset="0"/>
              </a:endParaRPr>
            </a:p>
          </p:txBody>
        </p:sp>
        <p:sp>
          <p:nvSpPr>
            <p:cNvPr id="22608" name="Line 33">
              <a:extLst>
                <a:ext uri="{FF2B5EF4-FFF2-40B4-BE49-F238E27FC236}">
                  <a16:creationId xmlns:a16="http://schemas.microsoft.com/office/drawing/2014/main" id="{BD741648-81D4-47C9-8ADA-83753A0D4C48}"/>
                </a:ext>
              </a:extLst>
            </p:cNvPr>
            <p:cNvSpPr>
              <a:spLocks noChangeShapeType="1"/>
            </p:cNvSpPr>
            <p:nvPr/>
          </p:nvSpPr>
          <p:spPr bwMode="auto">
            <a:xfrm>
              <a:off x="384" y="115"/>
              <a:ext cx="0" cy="288"/>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09" name="Line 34">
              <a:extLst>
                <a:ext uri="{FF2B5EF4-FFF2-40B4-BE49-F238E27FC236}">
                  <a16:creationId xmlns:a16="http://schemas.microsoft.com/office/drawing/2014/main" id="{D3BB8E73-94AB-4554-9DC1-97A5B5E8AA5D}"/>
                </a:ext>
              </a:extLst>
            </p:cNvPr>
            <p:cNvSpPr>
              <a:spLocks noChangeShapeType="1"/>
            </p:cNvSpPr>
            <p:nvPr/>
          </p:nvSpPr>
          <p:spPr bwMode="auto">
            <a:xfrm>
              <a:off x="576" y="115"/>
              <a:ext cx="0" cy="288"/>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10" name="Line 35">
              <a:extLst>
                <a:ext uri="{FF2B5EF4-FFF2-40B4-BE49-F238E27FC236}">
                  <a16:creationId xmlns:a16="http://schemas.microsoft.com/office/drawing/2014/main" id="{5EBE0180-67B7-4EA2-AFDA-BB5CCDF8C1B4}"/>
                </a:ext>
              </a:extLst>
            </p:cNvPr>
            <p:cNvSpPr>
              <a:spLocks noChangeShapeType="1"/>
            </p:cNvSpPr>
            <p:nvPr/>
          </p:nvSpPr>
          <p:spPr bwMode="auto">
            <a:xfrm>
              <a:off x="768" y="115"/>
              <a:ext cx="0" cy="288"/>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11" name="Line 36">
              <a:extLst>
                <a:ext uri="{FF2B5EF4-FFF2-40B4-BE49-F238E27FC236}">
                  <a16:creationId xmlns:a16="http://schemas.microsoft.com/office/drawing/2014/main" id="{53557E3E-AB33-4B0B-9505-6EA9EA48CDA6}"/>
                </a:ext>
              </a:extLst>
            </p:cNvPr>
            <p:cNvSpPr>
              <a:spLocks noChangeShapeType="1"/>
            </p:cNvSpPr>
            <p:nvPr/>
          </p:nvSpPr>
          <p:spPr bwMode="auto">
            <a:xfrm>
              <a:off x="960" y="115"/>
              <a:ext cx="0" cy="288"/>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12" name="Line 37">
              <a:extLst>
                <a:ext uri="{FF2B5EF4-FFF2-40B4-BE49-F238E27FC236}">
                  <a16:creationId xmlns:a16="http://schemas.microsoft.com/office/drawing/2014/main" id="{37BE398B-C41C-4EAE-805F-1AFE91DBD8D1}"/>
                </a:ext>
              </a:extLst>
            </p:cNvPr>
            <p:cNvSpPr>
              <a:spLocks noChangeShapeType="1"/>
            </p:cNvSpPr>
            <p:nvPr/>
          </p:nvSpPr>
          <p:spPr bwMode="auto">
            <a:xfrm>
              <a:off x="1152" y="115"/>
              <a:ext cx="0" cy="288"/>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13" name="Line 38">
              <a:extLst>
                <a:ext uri="{FF2B5EF4-FFF2-40B4-BE49-F238E27FC236}">
                  <a16:creationId xmlns:a16="http://schemas.microsoft.com/office/drawing/2014/main" id="{0A3AD57F-4EFC-4FB4-861E-1668E9039D6F}"/>
                </a:ext>
              </a:extLst>
            </p:cNvPr>
            <p:cNvSpPr>
              <a:spLocks noChangeShapeType="1"/>
            </p:cNvSpPr>
            <p:nvPr/>
          </p:nvSpPr>
          <p:spPr bwMode="auto">
            <a:xfrm>
              <a:off x="1344" y="115"/>
              <a:ext cx="0" cy="288"/>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14" name="Line 39">
              <a:extLst>
                <a:ext uri="{FF2B5EF4-FFF2-40B4-BE49-F238E27FC236}">
                  <a16:creationId xmlns:a16="http://schemas.microsoft.com/office/drawing/2014/main" id="{3C1D462A-0E3F-47B3-9159-B52A976F5AC1}"/>
                </a:ext>
              </a:extLst>
            </p:cNvPr>
            <p:cNvSpPr>
              <a:spLocks noChangeShapeType="1"/>
            </p:cNvSpPr>
            <p:nvPr/>
          </p:nvSpPr>
          <p:spPr bwMode="auto">
            <a:xfrm>
              <a:off x="1536" y="115"/>
              <a:ext cx="0" cy="288"/>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15" name="Line 40">
              <a:extLst>
                <a:ext uri="{FF2B5EF4-FFF2-40B4-BE49-F238E27FC236}">
                  <a16:creationId xmlns:a16="http://schemas.microsoft.com/office/drawing/2014/main" id="{B5368477-19B9-483C-8C5E-63D75A6C51C4}"/>
                </a:ext>
              </a:extLst>
            </p:cNvPr>
            <p:cNvSpPr>
              <a:spLocks noChangeShapeType="1"/>
            </p:cNvSpPr>
            <p:nvPr/>
          </p:nvSpPr>
          <p:spPr bwMode="auto">
            <a:xfrm>
              <a:off x="1728" y="115"/>
              <a:ext cx="0" cy="288"/>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16" name="Line 41">
              <a:extLst>
                <a:ext uri="{FF2B5EF4-FFF2-40B4-BE49-F238E27FC236}">
                  <a16:creationId xmlns:a16="http://schemas.microsoft.com/office/drawing/2014/main" id="{2D75373F-72A4-425C-92BF-D19A5BEFEF86}"/>
                </a:ext>
              </a:extLst>
            </p:cNvPr>
            <p:cNvSpPr>
              <a:spLocks noChangeShapeType="1"/>
            </p:cNvSpPr>
            <p:nvPr/>
          </p:nvSpPr>
          <p:spPr bwMode="auto">
            <a:xfrm flipV="1">
              <a:off x="192" y="19"/>
              <a:ext cx="96" cy="96"/>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17" name="Line 42">
              <a:extLst>
                <a:ext uri="{FF2B5EF4-FFF2-40B4-BE49-F238E27FC236}">
                  <a16:creationId xmlns:a16="http://schemas.microsoft.com/office/drawing/2014/main" id="{A8B4A56B-7614-4C66-A9DD-979F63AD9456}"/>
                </a:ext>
              </a:extLst>
            </p:cNvPr>
            <p:cNvSpPr>
              <a:spLocks noChangeShapeType="1"/>
            </p:cNvSpPr>
            <p:nvPr/>
          </p:nvSpPr>
          <p:spPr bwMode="auto">
            <a:xfrm flipV="1">
              <a:off x="384" y="19"/>
              <a:ext cx="96" cy="96"/>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18" name="Line 43">
              <a:extLst>
                <a:ext uri="{FF2B5EF4-FFF2-40B4-BE49-F238E27FC236}">
                  <a16:creationId xmlns:a16="http://schemas.microsoft.com/office/drawing/2014/main" id="{673ABAA3-3E7E-4708-877F-C442134992A4}"/>
                </a:ext>
              </a:extLst>
            </p:cNvPr>
            <p:cNvSpPr>
              <a:spLocks noChangeShapeType="1"/>
            </p:cNvSpPr>
            <p:nvPr/>
          </p:nvSpPr>
          <p:spPr bwMode="auto">
            <a:xfrm flipV="1">
              <a:off x="576" y="19"/>
              <a:ext cx="96" cy="96"/>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19" name="Line 44">
              <a:extLst>
                <a:ext uri="{FF2B5EF4-FFF2-40B4-BE49-F238E27FC236}">
                  <a16:creationId xmlns:a16="http://schemas.microsoft.com/office/drawing/2014/main" id="{B67D323F-7C27-4B7E-8915-C073061346FC}"/>
                </a:ext>
              </a:extLst>
            </p:cNvPr>
            <p:cNvSpPr>
              <a:spLocks noChangeShapeType="1"/>
            </p:cNvSpPr>
            <p:nvPr/>
          </p:nvSpPr>
          <p:spPr bwMode="auto">
            <a:xfrm flipV="1">
              <a:off x="768" y="19"/>
              <a:ext cx="96" cy="96"/>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20" name="Line 45">
              <a:extLst>
                <a:ext uri="{FF2B5EF4-FFF2-40B4-BE49-F238E27FC236}">
                  <a16:creationId xmlns:a16="http://schemas.microsoft.com/office/drawing/2014/main" id="{85752F0F-352B-4F0C-80F4-F5FB0D08261A}"/>
                </a:ext>
              </a:extLst>
            </p:cNvPr>
            <p:cNvSpPr>
              <a:spLocks noChangeShapeType="1"/>
            </p:cNvSpPr>
            <p:nvPr/>
          </p:nvSpPr>
          <p:spPr bwMode="auto">
            <a:xfrm flipV="1">
              <a:off x="960" y="19"/>
              <a:ext cx="96" cy="96"/>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21" name="Line 46">
              <a:extLst>
                <a:ext uri="{FF2B5EF4-FFF2-40B4-BE49-F238E27FC236}">
                  <a16:creationId xmlns:a16="http://schemas.microsoft.com/office/drawing/2014/main" id="{D24E5E7A-4AFB-4E65-A46A-9CBCA64E6435}"/>
                </a:ext>
              </a:extLst>
            </p:cNvPr>
            <p:cNvSpPr>
              <a:spLocks noChangeShapeType="1"/>
            </p:cNvSpPr>
            <p:nvPr/>
          </p:nvSpPr>
          <p:spPr bwMode="auto">
            <a:xfrm flipV="1">
              <a:off x="1152" y="19"/>
              <a:ext cx="96" cy="96"/>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22" name="Line 47">
              <a:extLst>
                <a:ext uri="{FF2B5EF4-FFF2-40B4-BE49-F238E27FC236}">
                  <a16:creationId xmlns:a16="http://schemas.microsoft.com/office/drawing/2014/main" id="{EEFB8B2E-82D2-4B56-B5B1-DDF9047221B0}"/>
                </a:ext>
              </a:extLst>
            </p:cNvPr>
            <p:cNvSpPr>
              <a:spLocks noChangeShapeType="1"/>
            </p:cNvSpPr>
            <p:nvPr/>
          </p:nvSpPr>
          <p:spPr bwMode="auto">
            <a:xfrm flipV="1">
              <a:off x="1344" y="19"/>
              <a:ext cx="96" cy="96"/>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23" name="Line 48">
              <a:extLst>
                <a:ext uri="{FF2B5EF4-FFF2-40B4-BE49-F238E27FC236}">
                  <a16:creationId xmlns:a16="http://schemas.microsoft.com/office/drawing/2014/main" id="{F8C431C2-08AC-431F-8BB9-5EE0DE984517}"/>
                </a:ext>
              </a:extLst>
            </p:cNvPr>
            <p:cNvSpPr>
              <a:spLocks noChangeShapeType="1"/>
            </p:cNvSpPr>
            <p:nvPr/>
          </p:nvSpPr>
          <p:spPr bwMode="auto">
            <a:xfrm flipV="1">
              <a:off x="1536" y="19"/>
              <a:ext cx="96" cy="96"/>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24" name="Line 49">
              <a:extLst>
                <a:ext uri="{FF2B5EF4-FFF2-40B4-BE49-F238E27FC236}">
                  <a16:creationId xmlns:a16="http://schemas.microsoft.com/office/drawing/2014/main" id="{A56994AE-920B-49B3-8150-4A1344BC07E2}"/>
                </a:ext>
              </a:extLst>
            </p:cNvPr>
            <p:cNvSpPr>
              <a:spLocks noChangeShapeType="1"/>
            </p:cNvSpPr>
            <p:nvPr/>
          </p:nvSpPr>
          <p:spPr bwMode="auto">
            <a:xfrm flipV="1">
              <a:off x="1728" y="19"/>
              <a:ext cx="96" cy="96"/>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25" name="Line 50">
              <a:extLst>
                <a:ext uri="{FF2B5EF4-FFF2-40B4-BE49-F238E27FC236}">
                  <a16:creationId xmlns:a16="http://schemas.microsoft.com/office/drawing/2014/main" id="{19CCA1BA-C3FE-4C3B-8AE5-81216D7A660A}"/>
                </a:ext>
              </a:extLst>
            </p:cNvPr>
            <p:cNvSpPr>
              <a:spLocks noChangeShapeType="1"/>
            </p:cNvSpPr>
            <p:nvPr/>
          </p:nvSpPr>
          <p:spPr bwMode="auto">
            <a:xfrm>
              <a:off x="1920" y="115"/>
              <a:ext cx="0" cy="288"/>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26" name="Line 51">
              <a:extLst>
                <a:ext uri="{FF2B5EF4-FFF2-40B4-BE49-F238E27FC236}">
                  <a16:creationId xmlns:a16="http://schemas.microsoft.com/office/drawing/2014/main" id="{E919DC60-7445-4DE0-8355-487C0BE9798A}"/>
                </a:ext>
              </a:extLst>
            </p:cNvPr>
            <p:cNvSpPr>
              <a:spLocks noChangeShapeType="1"/>
            </p:cNvSpPr>
            <p:nvPr/>
          </p:nvSpPr>
          <p:spPr bwMode="auto">
            <a:xfrm flipV="1">
              <a:off x="1920" y="19"/>
              <a:ext cx="96" cy="96"/>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27" name="Line 52">
              <a:extLst>
                <a:ext uri="{FF2B5EF4-FFF2-40B4-BE49-F238E27FC236}">
                  <a16:creationId xmlns:a16="http://schemas.microsoft.com/office/drawing/2014/main" id="{EF05374C-EA27-43E0-B8D7-EDDA5EE620DD}"/>
                </a:ext>
              </a:extLst>
            </p:cNvPr>
            <p:cNvSpPr>
              <a:spLocks noChangeShapeType="1"/>
            </p:cNvSpPr>
            <p:nvPr/>
          </p:nvSpPr>
          <p:spPr bwMode="auto">
            <a:xfrm>
              <a:off x="2112" y="115"/>
              <a:ext cx="0" cy="288"/>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28" name="Line 53">
              <a:extLst>
                <a:ext uri="{FF2B5EF4-FFF2-40B4-BE49-F238E27FC236}">
                  <a16:creationId xmlns:a16="http://schemas.microsoft.com/office/drawing/2014/main" id="{B1524CAF-9674-41FE-A844-E4ABDF600E3A}"/>
                </a:ext>
              </a:extLst>
            </p:cNvPr>
            <p:cNvSpPr>
              <a:spLocks noChangeShapeType="1"/>
            </p:cNvSpPr>
            <p:nvPr/>
          </p:nvSpPr>
          <p:spPr bwMode="auto">
            <a:xfrm flipV="1">
              <a:off x="2112" y="19"/>
              <a:ext cx="96" cy="96"/>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29" name="Line 54">
              <a:extLst>
                <a:ext uri="{FF2B5EF4-FFF2-40B4-BE49-F238E27FC236}">
                  <a16:creationId xmlns:a16="http://schemas.microsoft.com/office/drawing/2014/main" id="{9A9F679E-BB57-4803-9119-DAE88752A30E}"/>
                </a:ext>
              </a:extLst>
            </p:cNvPr>
            <p:cNvSpPr>
              <a:spLocks noChangeShapeType="1"/>
            </p:cNvSpPr>
            <p:nvPr/>
          </p:nvSpPr>
          <p:spPr bwMode="auto">
            <a:xfrm>
              <a:off x="2304" y="96"/>
              <a:ext cx="0" cy="288"/>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30" name="Line 55">
              <a:extLst>
                <a:ext uri="{FF2B5EF4-FFF2-40B4-BE49-F238E27FC236}">
                  <a16:creationId xmlns:a16="http://schemas.microsoft.com/office/drawing/2014/main" id="{28864B34-257B-4925-9D39-14D36462CA96}"/>
                </a:ext>
              </a:extLst>
            </p:cNvPr>
            <p:cNvSpPr>
              <a:spLocks noChangeShapeType="1"/>
            </p:cNvSpPr>
            <p:nvPr/>
          </p:nvSpPr>
          <p:spPr bwMode="auto">
            <a:xfrm flipV="1">
              <a:off x="2304" y="0"/>
              <a:ext cx="96" cy="96"/>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2538" name="Group 56">
            <a:extLst>
              <a:ext uri="{FF2B5EF4-FFF2-40B4-BE49-F238E27FC236}">
                <a16:creationId xmlns:a16="http://schemas.microsoft.com/office/drawing/2014/main" id="{836C69C7-A604-4F8A-84AB-287F171137EA}"/>
              </a:ext>
            </a:extLst>
          </p:cNvPr>
          <p:cNvGrpSpPr>
            <a:grpSpLocks/>
          </p:cNvGrpSpPr>
          <p:nvPr/>
        </p:nvGrpSpPr>
        <p:grpSpPr bwMode="auto">
          <a:xfrm>
            <a:off x="836613" y="2455118"/>
            <a:ext cx="3505200" cy="2381250"/>
            <a:chOff x="0" y="0"/>
            <a:chExt cx="2208" cy="1500"/>
          </a:xfrm>
        </p:grpSpPr>
        <p:sp>
          <p:nvSpPr>
            <p:cNvPr id="22576" name="Line 57">
              <a:extLst>
                <a:ext uri="{FF2B5EF4-FFF2-40B4-BE49-F238E27FC236}">
                  <a16:creationId xmlns:a16="http://schemas.microsoft.com/office/drawing/2014/main" id="{F19AB7DE-BCCE-4798-9859-B8DA518AA517}"/>
                </a:ext>
              </a:extLst>
            </p:cNvPr>
            <p:cNvSpPr>
              <a:spLocks noChangeShapeType="1"/>
            </p:cNvSpPr>
            <p:nvPr/>
          </p:nvSpPr>
          <p:spPr bwMode="auto">
            <a:xfrm>
              <a:off x="1848" y="576"/>
              <a:ext cx="192" cy="24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77" name="Line 58">
              <a:extLst>
                <a:ext uri="{FF2B5EF4-FFF2-40B4-BE49-F238E27FC236}">
                  <a16:creationId xmlns:a16="http://schemas.microsoft.com/office/drawing/2014/main" id="{466F3306-1CCE-4729-AA5B-E4667B0D369A}"/>
                </a:ext>
              </a:extLst>
            </p:cNvPr>
            <p:cNvSpPr>
              <a:spLocks noChangeShapeType="1"/>
            </p:cNvSpPr>
            <p:nvPr/>
          </p:nvSpPr>
          <p:spPr bwMode="auto">
            <a:xfrm flipH="1">
              <a:off x="1560" y="549"/>
              <a:ext cx="223" cy="267"/>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78" name="Line 59">
              <a:extLst>
                <a:ext uri="{FF2B5EF4-FFF2-40B4-BE49-F238E27FC236}">
                  <a16:creationId xmlns:a16="http://schemas.microsoft.com/office/drawing/2014/main" id="{4E4F8973-6714-423F-BD20-E86AB6D71EC2}"/>
                </a:ext>
              </a:extLst>
            </p:cNvPr>
            <p:cNvSpPr>
              <a:spLocks noChangeShapeType="1"/>
            </p:cNvSpPr>
            <p:nvPr/>
          </p:nvSpPr>
          <p:spPr bwMode="auto">
            <a:xfrm>
              <a:off x="696" y="528"/>
              <a:ext cx="216" cy="261"/>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79" name="Line 60">
              <a:extLst>
                <a:ext uri="{FF2B5EF4-FFF2-40B4-BE49-F238E27FC236}">
                  <a16:creationId xmlns:a16="http://schemas.microsoft.com/office/drawing/2014/main" id="{0F51C0AB-A70F-4346-A2BF-5457E1C3A182}"/>
                </a:ext>
              </a:extLst>
            </p:cNvPr>
            <p:cNvSpPr>
              <a:spLocks noChangeShapeType="1"/>
            </p:cNvSpPr>
            <p:nvPr/>
          </p:nvSpPr>
          <p:spPr bwMode="auto">
            <a:xfrm flipH="1">
              <a:off x="360" y="576"/>
              <a:ext cx="240"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80" name="Line 61">
              <a:extLst>
                <a:ext uri="{FF2B5EF4-FFF2-40B4-BE49-F238E27FC236}">
                  <a16:creationId xmlns:a16="http://schemas.microsoft.com/office/drawing/2014/main" id="{AE8BAB13-99D5-44F5-B0C6-251BF77BBB6F}"/>
                </a:ext>
              </a:extLst>
            </p:cNvPr>
            <p:cNvSpPr>
              <a:spLocks noChangeShapeType="1"/>
            </p:cNvSpPr>
            <p:nvPr/>
          </p:nvSpPr>
          <p:spPr bwMode="auto">
            <a:xfrm>
              <a:off x="1320" y="192"/>
              <a:ext cx="456" cy="27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81" name="Line 62">
              <a:extLst>
                <a:ext uri="{FF2B5EF4-FFF2-40B4-BE49-F238E27FC236}">
                  <a16:creationId xmlns:a16="http://schemas.microsoft.com/office/drawing/2014/main" id="{71942868-3B36-4E1B-A523-F5FF7C82792D}"/>
                </a:ext>
              </a:extLst>
            </p:cNvPr>
            <p:cNvSpPr>
              <a:spLocks noChangeShapeType="1"/>
            </p:cNvSpPr>
            <p:nvPr/>
          </p:nvSpPr>
          <p:spPr bwMode="auto">
            <a:xfrm flipH="1">
              <a:off x="696" y="192"/>
              <a:ext cx="480"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82" name="Oval 63">
              <a:extLst>
                <a:ext uri="{FF2B5EF4-FFF2-40B4-BE49-F238E27FC236}">
                  <a16:creationId xmlns:a16="http://schemas.microsoft.com/office/drawing/2014/main" id="{F519623C-6292-4B07-9941-62383FFBE0C3}"/>
                </a:ext>
              </a:extLst>
            </p:cNvPr>
            <p:cNvSpPr>
              <a:spLocks noChangeArrowheads="1"/>
            </p:cNvSpPr>
            <p:nvPr/>
          </p:nvSpPr>
          <p:spPr bwMode="auto">
            <a:xfrm>
              <a:off x="1104" y="2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2583" name="Line 64">
              <a:extLst>
                <a:ext uri="{FF2B5EF4-FFF2-40B4-BE49-F238E27FC236}">
                  <a16:creationId xmlns:a16="http://schemas.microsoft.com/office/drawing/2014/main" id="{756EA1EA-7CAC-44D1-8606-4212F927A196}"/>
                </a:ext>
              </a:extLst>
            </p:cNvPr>
            <p:cNvSpPr>
              <a:spLocks noChangeShapeType="1"/>
            </p:cNvSpPr>
            <p:nvPr/>
          </p:nvSpPr>
          <p:spPr bwMode="auto">
            <a:xfrm flipH="1">
              <a:off x="849" y="912"/>
              <a:ext cx="111" cy="261"/>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84" name="Line 65">
              <a:extLst>
                <a:ext uri="{FF2B5EF4-FFF2-40B4-BE49-F238E27FC236}">
                  <a16:creationId xmlns:a16="http://schemas.microsoft.com/office/drawing/2014/main" id="{1E515CB2-293C-41BF-9143-2102B0A916C1}"/>
                </a:ext>
              </a:extLst>
            </p:cNvPr>
            <p:cNvSpPr>
              <a:spLocks noChangeShapeType="1"/>
            </p:cNvSpPr>
            <p:nvPr/>
          </p:nvSpPr>
          <p:spPr bwMode="auto">
            <a:xfrm>
              <a:off x="408" y="960"/>
              <a:ext cx="87" cy="261"/>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85" name="Line 66">
              <a:extLst>
                <a:ext uri="{FF2B5EF4-FFF2-40B4-BE49-F238E27FC236}">
                  <a16:creationId xmlns:a16="http://schemas.microsoft.com/office/drawing/2014/main" id="{581A361B-5B30-4F24-BF75-E53B2AE9FBE8}"/>
                </a:ext>
              </a:extLst>
            </p:cNvPr>
            <p:cNvSpPr>
              <a:spLocks noChangeShapeType="1"/>
            </p:cNvSpPr>
            <p:nvPr/>
          </p:nvSpPr>
          <p:spPr bwMode="auto">
            <a:xfrm flipH="1">
              <a:off x="195" y="912"/>
              <a:ext cx="165"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86" name="Text Box 67">
              <a:extLst>
                <a:ext uri="{FF2B5EF4-FFF2-40B4-BE49-F238E27FC236}">
                  <a16:creationId xmlns:a16="http://schemas.microsoft.com/office/drawing/2014/main" id="{1348FEC2-01EC-456A-B754-FCB34D9C1DE9}"/>
                </a:ext>
              </a:extLst>
            </p:cNvPr>
            <p:cNvSpPr txBox="1">
              <a:spLocks noChangeArrowheads="1"/>
            </p:cNvSpPr>
            <p:nvPr/>
          </p:nvSpPr>
          <p:spPr bwMode="auto">
            <a:xfrm>
              <a:off x="1128" y="0"/>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i="0" dirty="0">
                  <a:solidFill>
                    <a:schemeClr val="bg1"/>
                  </a:solidFill>
                  <a:latin typeface="Times New Roman" panose="02020603050405020304" pitchFamily="18" charset="0"/>
                </a:rPr>
                <a:t>1</a:t>
              </a:r>
              <a:endParaRPr lang="zh-CN" altLang="en-US" sz="2400" i="0" dirty="0">
                <a:latin typeface="Times New Roman" panose="02020603050405020304" pitchFamily="18" charset="0"/>
              </a:endParaRPr>
            </a:p>
          </p:txBody>
        </p:sp>
        <p:sp>
          <p:nvSpPr>
            <p:cNvPr id="22587" name="Oval 68">
              <a:extLst>
                <a:ext uri="{FF2B5EF4-FFF2-40B4-BE49-F238E27FC236}">
                  <a16:creationId xmlns:a16="http://schemas.microsoft.com/office/drawing/2014/main" id="{C8D879E8-C749-4758-875D-BE22A913D633}"/>
                </a:ext>
              </a:extLst>
            </p:cNvPr>
            <p:cNvSpPr>
              <a:spLocks noChangeArrowheads="1"/>
            </p:cNvSpPr>
            <p:nvPr/>
          </p:nvSpPr>
          <p:spPr bwMode="auto">
            <a:xfrm>
              <a:off x="528" y="357"/>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2588" name="Oval 69">
              <a:extLst>
                <a:ext uri="{FF2B5EF4-FFF2-40B4-BE49-F238E27FC236}">
                  <a16:creationId xmlns:a16="http://schemas.microsoft.com/office/drawing/2014/main" id="{B3565F26-B5FC-48A2-8BBC-8C27664D02F7}"/>
                </a:ext>
              </a:extLst>
            </p:cNvPr>
            <p:cNvSpPr>
              <a:spLocks noChangeArrowheads="1"/>
            </p:cNvSpPr>
            <p:nvPr/>
          </p:nvSpPr>
          <p:spPr bwMode="auto">
            <a:xfrm>
              <a:off x="240" y="74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2589" name="Oval 70">
              <a:extLst>
                <a:ext uri="{FF2B5EF4-FFF2-40B4-BE49-F238E27FC236}">
                  <a16:creationId xmlns:a16="http://schemas.microsoft.com/office/drawing/2014/main" id="{0A9AEB99-8E59-45F7-B4FC-F157E8AC8631}"/>
                </a:ext>
              </a:extLst>
            </p:cNvPr>
            <p:cNvSpPr>
              <a:spLocks noChangeArrowheads="1"/>
            </p:cNvSpPr>
            <p:nvPr/>
          </p:nvSpPr>
          <p:spPr bwMode="auto">
            <a:xfrm>
              <a:off x="0" y="117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2590" name="Oval 71">
              <a:extLst>
                <a:ext uri="{FF2B5EF4-FFF2-40B4-BE49-F238E27FC236}">
                  <a16:creationId xmlns:a16="http://schemas.microsoft.com/office/drawing/2014/main" id="{4AC962E8-530A-4A88-A387-35F591815938}"/>
                </a:ext>
              </a:extLst>
            </p:cNvPr>
            <p:cNvSpPr>
              <a:spLocks noChangeArrowheads="1"/>
            </p:cNvSpPr>
            <p:nvPr/>
          </p:nvSpPr>
          <p:spPr bwMode="auto">
            <a:xfrm>
              <a:off x="336" y="117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2591" name="Oval 72">
              <a:extLst>
                <a:ext uri="{FF2B5EF4-FFF2-40B4-BE49-F238E27FC236}">
                  <a16:creationId xmlns:a16="http://schemas.microsoft.com/office/drawing/2014/main" id="{BAE363A0-A03D-436D-89C1-EA998ED26288}"/>
                </a:ext>
              </a:extLst>
            </p:cNvPr>
            <p:cNvSpPr>
              <a:spLocks noChangeArrowheads="1"/>
            </p:cNvSpPr>
            <p:nvPr/>
          </p:nvSpPr>
          <p:spPr bwMode="auto">
            <a:xfrm>
              <a:off x="672" y="117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2592" name="Oval 73">
              <a:extLst>
                <a:ext uri="{FF2B5EF4-FFF2-40B4-BE49-F238E27FC236}">
                  <a16:creationId xmlns:a16="http://schemas.microsoft.com/office/drawing/2014/main" id="{16668A36-D055-4B22-9558-AB9E3EAD53B4}"/>
                </a:ext>
              </a:extLst>
            </p:cNvPr>
            <p:cNvSpPr>
              <a:spLocks noChangeArrowheads="1"/>
            </p:cNvSpPr>
            <p:nvPr/>
          </p:nvSpPr>
          <p:spPr bwMode="auto">
            <a:xfrm>
              <a:off x="816" y="74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2593" name="Text Box 74">
              <a:extLst>
                <a:ext uri="{FF2B5EF4-FFF2-40B4-BE49-F238E27FC236}">
                  <a16:creationId xmlns:a16="http://schemas.microsoft.com/office/drawing/2014/main" id="{407D594A-E6EF-4E55-B362-F1D6C3187E2A}"/>
                </a:ext>
              </a:extLst>
            </p:cNvPr>
            <p:cNvSpPr txBox="1">
              <a:spLocks noChangeArrowheads="1"/>
            </p:cNvSpPr>
            <p:nvPr/>
          </p:nvSpPr>
          <p:spPr bwMode="auto">
            <a:xfrm>
              <a:off x="540" y="318"/>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i="0" dirty="0">
                  <a:solidFill>
                    <a:schemeClr val="bg1"/>
                  </a:solidFill>
                  <a:latin typeface="Times New Roman" panose="02020603050405020304" pitchFamily="18" charset="0"/>
                </a:rPr>
                <a:t>2</a:t>
              </a:r>
              <a:endParaRPr lang="zh-CN" altLang="en-US" sz="2400" i="0" dirty="0">
                <a:latin typeface="Times New Roman" panose="02020603050405020304" pitchFamily="18" charset="0"/>
              </a:endParaRPr>
            </a:p>
          </p:txBody>
        </p:sp>
        <p:sp>
          <p:nvSpPr>
            <p:cNvPr id="22594" name="Text Box 75">
              <a:extLst>
                <a:ext uri="{FF2B5EF4-FFF2-40B4-BE49-F238E27FC236}">
                  <a16:creationId xmlns:a16="http://schemas.microsoft.com/office/drawing/2014/main" id="{913AD69B-63B9-41F5-ADB2-AFFF70607145}"/>
                </a:ext>
              </a:extLst>
            </p:cNvPr>
            <p:cNvSpPr txBox="1">
              <a:spLocks noChangeArrowheads="1"/>
            </p:cNvSpPr>
            <p:nvPr/>
          </p:nvSpPr>
          <p:spPr bwMode="auto">
            <a:xfrm>
              <a:off x="252" y="702"/>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i="0" dirty="0">
                  <a:solidFill>
                    <a:schemeClr val="bg1"/>
                  </a:solidFill>
                  <a:latin typeface="Times New Roman" panose="02020603050405020304" pitchFamily="18" charset="0"/>
                </a:rPr>
                <a:t>4</a:t>
              </a:r>
              <a:endParaRPr lang="zh-CN" altLang="en-US" sz="2400" i="0" dirty="0">
                <a:latin typeface="Times New Roman" panose="02020603050405020304" pitchFamily="18" charset="0"/>
              </a:endParaRPr>
            </a:p>
          </p:txBody>
        </p:sp>
        <p:sp>
          <p:nvSpPr>
            <p:cNvPr id="22595" name="Text Box 76">
              <a:extLst>
                <a:ext uri="{FF2B5EF4-FFF2-40B4-BE49-F238E27FC236}">
                  <a16:creationId xmlns:a16="http://schemas.microsoft.com/office/drawing/2014/main" id="{BE945707-7F21-4515-86DF-AE4F8BDB2039}"/>
                </a:ext>
              </a:extLst>
            </p:cNvPr>
            <p:cNvSpPr txBox="1">
              <a:spLocks noChangeArrowheads="1"/>
            </p:cNvSpPr>
            <p:nvPr/>
          </p:nvSpPr>
          <p:spPr bwMode="auto">
            <a:xfrm>
              <a:off x="48" y="1173"/>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i="0" dirty="0">
                  <a:solidFill>
                    <a:schemeClr val="bg1"/>
                  </a:solidFill>
                  <a:latin typeface="Times New Roman" panose="02020603050405020304" pitchFamily="18" charset="0"/>
                </a:rPr>
                <a:t>8</a:t>
              </a:r>
              <a:endParaRPr lang="zh-CN" altLang="en-US" sz="2400" i="0" dirty="0">
                <a:latin typeface="Times New Roman" panose="02020603050405020304" pitchFamily="18" charset="0"/>
              </a:endParaRPr>
            </a:p>
          </p:txBody>
        </p:sp>
        <p:sp>
          <p:nvSpPr>
            <p:cNvPr id="22596" name="Text Box 77">
              <a:extLst>
                <a:ext uri="{FF2B5EF4-FFF2-40B4-BE49-F238E27FC236}">
                  <a16:creationId xmlns:a16="http://schemas.microsoft.com/office/drawing/2014/main" id="{2B63284A-5078-43B6-BBDC-3711883999CD}"/>
                </a:ext>
              </a:extLst>
            </p:cNvPr>
            <p:cNvSpPr txBox="1">
              <a:spLocks noChangeArrowheads="1"/>
            </p:cNvSpPr>
            <p:nvPr/>
          </p:nvSpPr>
          <p:spPr bwMode="auto">
            <a:xfrm>
              <a:off x="348" y="1173"/>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i="0" dirty="0">
                  <a:solidFill>
                    <a:schemeClr val="bg1"/>
                  </a:solidFill>
                  <a:latin typeface="Times New Roman" panose="02020603050405020304" pitchFamily="18" charset="0"/>
                </a:rPr>
                <a:t>9</a:t>
              </a:r>
              <a:endParaRPr lang="zh-CN" altLang="en-US" sz="2400" i="0" dirty="0">
                <a:latin typeface="Times New Roman" panose="02020603050405020304" pitchFamily="18" charset="0"/>
              </a:endParaRPr>
            </a:p>
          </p:txBody>
        </p:sp>
        <p:sp>
          <p:nvSpPr>
            <p:cNvPr id="22597" name="Text Box 78">
              <a:extLst>
                <a:ext uri="{FF2B5EF4-FFF2-40B4-BE49-F238E27FC236}">
                  <a16:creationId xmlns:a16="http://schemas.microsoft.com/office/drawing/2014/main" id="{B2D9A016-176C-454A-B9B8-21D5F55B2B30}"/>
                </a:ext>
              </a:extLst>
            </p:cNvPr>
            <p:cNvSpPr txBox="1">
              <a:spLocks noChangeArrowheads="1"/>
            </p:cNvSpPr>
            <p:nvPr/>
          </p:nvSpPr>
          <p:spPr bwMode="auto">
            <a:xfrm>
              <a:off x="628" y="1173"/>
              <a:ext cx="34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i="0" dirty="0">
                  <a:solidFill>
                    <a:schemeClr val="bg1"/>
                  </a:solidFill>
                  <a:latin typeface="Times New Roman" panose="02020603050405020304" pitchFamily="18" charset="0"/>
                </a:rPr>
                <a:t>10</a:t>
              </a:r>
              <a:endParaRPr lang="zh-CN" altLang="en-US" sz="2400" i="0" dirty="0">
                <a:latin typeface="Times New Roman" panose="02020603050405020304" pitchFamily="18" charset="0"/>
              </a:endParaRPr>
            </a:p>
          </p:txBody>
        </p:sp>
        <p:sp>
          <p:nvSpPr>
            <p:cNvPr id="22598" name="Text Box 79">
              <a:extLst>
                <a:ext uri="{FF2B5EF4-FFF2-40B4-BE49-F238E27FC236}">
                  <a16:creationId xmlns:a16="http://schemas.microsoft.com/office/drawing/2014/main" id="{41953159-18F6-4614-AB57-CC7801D23737}"/>
                </a:ext>
              </a:extLst>
            </p:cNvPr>
            <p:cNvSpPr txBox="1">
              <a:spLocks noChangeArrowheads="1"/>
            </p:cNvSpPr>
            <p:nvPr/>
          </p:nvSpPr>
          <p:spPr bwMode="auto">
            <a:xfrm>
              <a:off x="816" y="702"/>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i="0" dirty="0">
                  <a:solidFill>
                    <a:schemeClr val="bg1"/>
                  </a:solidFill>
                  <a:latin typeface="Times New Roman" panose="02020603050405020304" pitchFamily="18" charset="0"/>
                </a:rPr>
                <a:t>5</a:t>
              </a:r>
              <a:endParaRPr lang="zh-CN" altLang="en-US" sz="2400" i="0" dirty="0">
                <a:latin typeface="Times New Roman" panose="02020603050405020304" pitchFamily="18" charset="0"/>
              </a:endParaRPr>
            </a:p>
          </p:txBody>
        </p:sp>
        <p:sp>
          <p:nvSpPr>
            <p:cNvPr id="22599" name="Oval 80">
              <a:extLst>
                <a:ext uri="{FF2B5EF4-FFF2-40B4-BE49-F238E27FC236}">
                  <a16:creationId xmlns:a16="http://schemas.microsoft.com/office/drawing/2014/main" id="{E94F61C3-BBE9-4D84-871F-280789510CD4}"/>
                </a:ext>
              </a:extLst>
            </p:cNvPr>
            <p:cNvSpPr>
              <a:spLocks noChangeArrowheads="1"/>
            </p:cNvSpPr>
            <p:nvPr/>
          </p:nvSpPr>
          <p:spPr bwMode="auto">
            <a:xfrm>
              <a:off x="1392" y="74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2600" name="Oval 81">
              <a:extLst>
                <a:ext uri="{FF2B5EF4-FFF2-40B4-BE49-F238E27FC236}">
                  <a16:creationId xmlns:a16="http://schemas.microsoft.com/office/drawing/2014/main" id="{0E103313-DB25-4EE6-A61B-EC29005B3150}"/>
                </a:ext>
              </a:extLst>
            </p:cNvPr>
            <p:cNvSpPr>
              <a:spLocks noChangeArrowheads="1"/>
            </p:cNvSpPr>
            <p:nvPr/>
          </p:nvSpPr>
          <p:spPr bwMode="auto">
            <a:xfrm>
              <a:off x="1680" y="357"/>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2601" name="Oval 82">
              <a:extLst>
                <a:ext uri="{FF2B5EF4-FFF2-40B4-BE49-F238E27FC236}">
                  <a16:creationId xmlns:a16="http://schemas.microsoft.com/office/drawing/2014/main" id="{961865FC-6D76-4139-9F8C-BC0048BAF38C}"/>
                </a:ext>
              </a:extLst>
            </p:cNvPr>
            <p:cNvSpPr>
              <a:spLocks noChangeArrowheads="1"/>
            </p:cNvSpPr>
            <p:nvPr/>
          </p:nvSpPr>
          <p:spPr bwMode="auto">
            <a:xfrm>
              <a:off x="1920" y="74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2602" name="Text Box 83">
              <a:extLst>
                <a:ext uri="{FF2B5EF4-FFF2-40B4-BE49-F238E27FC236}">
                  <a16:creationId xmlns:a16="http://schemas.microsoft.com/office/drawing/2014/main" id="{151DE60F-3E5D-4CE0-9156-6939700BD82A}"/>
                </a:ext>
              </a:extLst>
            </p:cNvPr>
            <p:cNvSpPr txBox="1">
              <a:spLocks noChangeArrowheads="1"/>
            </p:cNvSpPr>
            <p:nvPr/>
          </p:nvSpPr>
          <p:spPr bwMode="auto">
            <a:xfrm>
              <a:off x="1404" y="702"/>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i="0" dirty="0">
                  <a:solidFill>
                    <a:schemeClr val="bg1"/>
                  </a:solidFill>
                  <a:latin typeface="Times New Roman" panose="02020603050405020304" pitchFamily="18" charset="0"/>
                </a:rPr>
                <a:t>6</a:t>
              </a:r>
              <a:endParaRPr lang="zh-CN" altLang="en-US" sz="2400" i="0" dirty="0">
                <a:latin typeface="Times New Roman" panose="02020603050405020304" pitchFamily="18" charset="0"/>
              </a:endParaRPr>
            </a:p>
          </p:txBody>
        </p:sp>
        <p:sp>
          <p:nvSpPr>
            <p:cNvPr id="22603" name="Text Box 84">
              <a:extLst>
                <a:ext uri="{FF2B5EF4-FFF2-40B4-BE49-F238E27FC236}">
                  <a16:creationId xmlns:a16="http://schemas.microsoft.com/office/drawing/2014/main" id="{F1956209-3A30-48F4-B5C2-507F3DEFC975}"/>
                </a:ext>
              </a:extLst>
            </p:cNvPr>
            <p:cNvSpPr txBox="1">
              <a:spLocks noChangeArrowheads="1"/>
            </p:cNvSpPr>
            <p:nvPr/>
          </p:nvSpPr>
          <p:spPr bwMode="auto">
            <a:xfrm>
              <a:off x="1932" y="702"/>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i="0" dirty="0">
                  <a:solidFill>
                    <a:schemeClr val="bg1"/>
                  </a:solidFill>
                  <a:latin typeface="Times New Roman" panose="02020603050405020304" pitchFamily="18" charset="0"/>
                </a:rPr>
                <a:t>7</a:t>
              </a:r>
              <a:endParaRPr lang="zh-CN" altLang="en-US" sz="2400" i="0" dirty="0">
                <a:latin typeface="Times New Roman" panose="02020603050405020304" pitchFamily="18" charset="0"/>
              </a:endParaRPr>
            </a:p>
          </p:txBody>
        </p:sp>
        <p:sp>
          <p:nvSpPr>
            <p:cNvPr id="22604" name="Text Box 85">
              <a:extLst>
                <a:ext uri="{FF2B5EF4-FFF2-40B4-BE49-F238E27FC236}">
                  <a16:creationId xmlns:a16="http://schemas.microsoft.com/office/drawing/2014/main" id="{0E1FBAF0-2369-4F28-8514-CA7A3DA3C01D}"/>
                </a:ext>
              </a:extLst>
            </p:cNvPr>
            <p:cNvSpPr txBox="1">
              <a:spLocks noChangeArrowheads="1"/>
            </p:cNvSpPr>
            <p:nvPr/>
          </p:nvSpPr>
          <p:spPr bwMode="auto">
            <a:xfrm>
              <a:off x="1692" y="318"/>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i="0" dirty="0">
                  <a:solidFill>
                    <a:schemeClr val="bg1"/>
                  </a:solidFill>
                  <a:latin typeface="Times New Roman" panose="02020603050405020304" pitchFamily="18" charset="0"/>
                </a:rPr>
                <a:t>3</a:t>
              </a:r>
              <a:endParaRPr lang="zh-CN" altLang="en-US" sz="2400" i="0" dirty="0">
                <a:latin typeface="Times New Roman" panose="02020603050405020304" pitchFamily="18" charset="0"/>
              </a:endParaRPr>
            </a:p>
          </p:txBody>
        </p:sp>
      </p:grpSp>
      <p:grpSp>
        <p:nvGrpSpPr>
          <p:cNvPr id="22539" name="Group 86">
            <a:extLst>
              <a:ext uri="{FF2B5EF4-FFF2-40B4-BE49-F238E27FC236}">
                <a16:creationId xmlns:a16="http://schemas.microsoft.com/office/drawing/2014/main" id="{C7BC92AB-287F-45CE-BE35-AD7126BF2838}"/>
              </a:ext>
            </a:extLst>
          </p:cNvPr>
          <p:cNvGrpSpPr>
            <a:grpSpLocks/>
          </p:cNvGrpSpPr>
          <p:nvPr/>
        </p:nvGrpSpPr>
        <p:grpSpPr bwMode="auto">
          <a:xfrm>
            <a:off x="4866085" y="2398126"/>
            <a:ext cx="3581400" cy="2424113"/>
            <a:chOff x="0" y="0"/>
            <a:chExt cx="2256" cy="1527"/>
          </a:xfrm>
        </p:grpSpPr>
        <p:sp>
          <p:nvSpPr>
            <p:cNvPr id="22546" name="Line 87">
              <a:extLst>
                <a:ext uri="{FF2B5EF4-FFF2-40B4-BE49-F238E27FC236}">
                  <a16:creationId xmlns:a16="http://schemas.microsoft.com/office/drawing/2014/main" id="{0103C55D-8CBE-4FBE-9515-21E7A95783E5}"/>
                </a:ext>
              </a:extLst>
            </p:cNvPr>
            <p:cNvSpPr>
              <a:spLocks noChangeShapeType="1"/>
            </p:cNvSpPr>
            <p:nvPr/>
          </p:nvSpPr>
          <p:spPr bwMode="auto">
            <a:xfrm>
              <a:off x="1872" y="615"/>
              <a:ext cx="192" cy="24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47" name="Line 88">
              <a:extLst>
                <a:ext uri="{FF2B5EF4-FFF2-40B4-BE49-F238E27FC236}">
                  <a16:creationId xmlns:a16="http://schemas.microsoft.com/office/drawing/2014/main" id="{787C13F6-49B8-4923-866C-670E8B1F60C7}"/>
                </a:ext>
              </a:extLst>
            </p:cNvPr>
            <p:cNvSpPr>
              <a:spLocks noChangeShapeType="1"/>
            </p:cNvSpPr>
            <p:nvPr/>
          </p:nvSpPr>
          <p:spPr bwMode="auto">
            <a:xfrm flipH="1">
              <a:off x="1584" y="588"/>
              <a:ext cx="223" cy="267"/>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48" name="Line 89">
              <a:extLst>
                <a:ext uri="{FF2B5EF4-FFF2-40B4-BE49-F238E27FC236}">
                  <a16:creationId xmlns:a16="http://schemas.microsoft.com/office/drawing/2014/main" id="{CD5C0EB8-5E5D-4332-84BF-6F7EE2E3A489}"/>
                </a:ext>
              </a:extLst>
            </p:cNvPr>
            <p:cNvSpPr>
              <a:spLocks noChangeShapeType="1"/>
            </p:cNvSpPr>
            <p:nvPr/>
          </p:nvSpPr>
          <p:spPr bwMode="auto">
            <a:xfrm flipH="1">
              <a:off x="144" y="951"/>
              <a:ext cx="192" cy="336"/>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49" name="Line 90">
              <a:extLst>
                <a:ext uri="{FF2B5EF4-FFF2-40B4-BE49-F238E27FC236}">
                  <a16:creationId xmlns:a16="http://schemas.microsoft.com/office/drawing/2014/main" id="{31FF0A6F-4C47-4F53-BEBF-93FDE9DF60B4}"/>
                </a:ext>
              </a:extLst>
            </p:cNvPr>
            <p:cNvSpPr>
              <a:spLocks noChangeShapeType="1"/>
            </p:cNvSpPr>
            <p:nvPr/>
          </p:nvSpPr>
          <p:spPr bwMode="auto">
            <a:xfrm flipH="1">
              <a:off x="384" y="615"/>
              <a:ext cx="240"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50" name="Line 91">
              <a:extLst>
                <a:ext uri="{FF2B5EF4-FFF2-40B4-BE49-F238E27FC236}">
                  <a16:creationId xmlns:a16="http://schemas.microsoft.com/office/drawing/2014/main" id="{45F5615E-A047-4F12-BC3C-5A49985E4298}"/>
                </a:ext>
              </a:extLst>
            </p:cNvPr>
            <p:cNvSpPr>
              <a:spLocks noChangeShapeType="1"/>
            </p:cNvSpPr>
            <p:nvPr/>
          </p:nvSpPr>
          <p:spPr bwMode="auto">
            <a:xfrm>
              <a:off x="1344" y="231"/>
              <a:ext cx="456" cy="27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51" name="Line 92">
              <a:extLst>
                <a:ext uri="{FF2B5EF4-FFF2-40B4-BE49-F238E27FC236}">
                  <a16:creationId xmlns:a16="http://schemas.microsoft.com/office/drawing/2014/main" id="{3AE838A5-5500-4986-BA54-BE4CCDD58808}"/>
                </a:ext>
              </a:extLst>
            </p:cNvPr>
            <p:cNvSpPr>
              <a:spLocks noChangeShapeType="1"/>
            </p:cNvSpPr>
            <p:nvPr/>
          </p:nvSpPr>
          <p:spPr bwMode="auto">
            <a:xfrm flipH="1">
              <a:off x="720" y="231"/>
              <a:ext cx="480"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52" name="Line 93">
              <a:extLst>
                <a:ext uri="{FF2B5EF4-FFF2-40B4-BE49-F238E27FC236}">
                  <a16:creationId xmlns:a16="http://schemas.microsoft.com/office/drawing/2014/main" id="{0ABB12C8-3672-4527-BCD5-03AA0DB17FA0}"/>
                </a:ext>
              </a:extLst>
            </p:cNvPr>
            <p:cNvSpPr>
              <a:spLocks noChangeShapeType="1"/>
            </p:cNvSpPr>
            <p:nvPr/>
          </p:nvSpPr>
          <p:spPr bwMode="auto">
            <a:xfrm>
              <a:off x="432" y="999"/>
              <a:ext cx="87" cy="261"/>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53" name="Line 94">
              <a:extLst>
                <a:ext uri="{FF2B5EF4-FFF2-40B4-BE49-F238E27FC236}">
                  <a16:creationId xmlns:a16="http://schemas.microsoft.com/office/drawing/2014/main" id="{E394B715-B368-4E47-A777-168A24AA5BF9}"/>
                </a:ext>
              </a:extLst>
            </p:cNvPr>
            <p:cNvSpPr>
              <a:spLocks noChangeShapeType="1"/>
            </p:cNvSpPr>
            <p:nvPr/>
          </p:nvSpPr>
          <p:spPr bwMode="auto">
            <a:xfrm flipH="1">
              <a:off x="1380" y="960"/>
              <a:ext cx="144" cy="336"/>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54" name="Oval 95">
              <a:extLst>
                <a:ext uri="{FF2B5EF4-FFF2-40B4-BE49-F238E27FC236}">
                  <a16:creationId xmlns:a16="http://schemas.microsoft.com/office/drawing/2014/main" id="{20324CD6-211E-406D-8FB0-2F69F6D37654}"/>
                </a:ext>
              </a:extLst>
            </p:cNvPr>
            <p:cNvSpPr>
              <a:spLocks noChangeArrowheads="1"/>
            </p:cNvSpPr>
            <p:nvPr/>
          </p:nvSpPr>
          <p:spPr bwMode="auto">
            <a:xfrm>
              <a:off x="1236" y="1200"/>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2555" name="Text Box 96">
              <a:extLst>
                <a:ext uri="{FF2B5EF4-FFF2-40B4-BE49-F238E27FC236}">
                  <a16:creationId xmlns:a16="http://schemas.microsoft.com/office/drawing/2014/main" id="{191F0469-9A07-41E0-A500-48DF1ECCFA58}"/>
                </a:ext>
              </a:extLst>
            </p:cNvPr>
            <p:cNvSpPr txBox="1">
              <a:spLocks noChangeArrowheads="1"/>
            </p:cNvSpPr>
            <p:nvPr/>
          </p:nvSpPr>
          <p:spPr bwMode="auto">
            <a:xfrm>
              <a:off x="1248" y="1152"/>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i="0" dirty="0">
                  <a:solidFill>
                    <a:schemeClr val="bg1"/>
                  </a:solidFill>
                  <a:latin typeface="Times New Roman" panose="02020603050405020304" pitchFamily="18" charset="0"/>
                </a:rPr>
                <a:t>9</a:t>
              </a:r>
              <a:endParaRPr lang="zh-CN" altLang="en-US" sz="2400" i="0" dirty="0">
                <a:latin typeface="Times New Roman" panose="02020603050405020304" pitchFamily="18" charset="0"/>
              </a:endParaRPr>
            </a:p>
          </p:txBody>
        </p:sp>
        <p:sp>
          <p:nvSpPr>
            <p:cNvPr id="22556" name="Oval 97">
              <a:extLst>
                <a:ext uri="{FF2B5EF4-FFF2-40B4-BE49-F238E27FC236}">
                  <a16:creationId xmlns:a16="http://schemas.microsoft.com/office/drawing/2014/main" id="{2B9BB191-6547-486B-9573-752C2DBDBB7F}"/>
                </a:ext>
              </a:extLst>
            </p:cNvPr>
            <p:cNvSpPr>
              <a:spLocks noChangeArrowheads="1"/>
            </p:cNvSpPr>
            <p:nvPr/>
          </p:nvSpPr>
          <p:spPr bwMode="auto">
            <a:xfrm>
              <a:off x="1152" y="39"/>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 name="Oval 98">
              <a:extLst>
                <a:ext uri="{FF2B5EF4-FFF2-40B4-BE49-F238E27FC236}">
                  <a16:creationId xmlns:a16="http://schemas.microsoft.com/office/drawing/2014/main" id="{3402467E-664C-4EBB-BD50-46BFD8D8085D}"/>
                </a:ext>
              </a:extLst>
            </p:cNvPr>
            <p:cNvSpPr>
              <a:spLocks noChangeArrowheads="1"/>
            </p:cNvSpPr>
            <p:nvPr/>
          </p:nvSpPr>
          <p:spPr bwMode="auto">
            <a:xfrm>
              <a:off x="576" y="375"/>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2558" name="Oval 99">
              <a:extLst>
                <a:ext uri="{FF2B5EF4-FFF2-40B4-BE49-F238E27FC236}">
                  <a16:creationId xmlns:a16="http://schemas.microsoft.com/office/drawing/2014/main" id="{50F84576-0631-489D-B846-56A243AE7291}"/>
                </a:ext>
              </a:extLst>
            </p:cNvPr>
            <p:cNvSpPr>
              <a:spLocks noChangeArrowheads="1"/>
            </p:cNvSpPr>
            <p:nvPr/>
          </p:nvSpPr>
          <p:spPr bwMode="auto">
            <a:xfrm>
              <a:off x="1680" y="375"/>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2559" name="Text Box 100">
              <a:extLst>
                <a:ext uri="{FF2B5EF4-FFF2-40B4-BE49-F238E27FC236}">
                  <a16:creationId xmlns:a16="http://schemas.microsoft.com/office/drawing/2014/main" id="{C34AC407-6E8F-458B-BA73-3A30E70B40EC}"/>
                </a:ext>
              </a:extLst>
            </p:cNvPr>
            <p:cNvSpPr txBox="1">
              <a:spLocks noChangeArrowheads="1"/>
            </p:cNvSpPr>
            <p:nvPr/>
          </p:nvSpPr>
          <p:spPr bwMode="auto">
            <a:xfrm>
              <a:off x="1164" y="0"/>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i="0" dirty="0">
                  <a:solidFill>
                    <a:schemeClr val="bg1"/>
                  </a:solidFill>
                  <a:latin typeface="Times New Roman" panose="02020603050405020304" pitchFamily="18" charset="0"/>
                </a:rPr>
                <a:t>1</a:t>
              </a:r>
              <a:endParaRPr lang="zh-CN" altLang="en-US" sz="2400" i="0" dirty="0">
                <a:latin typeface="Times New Roman" panose="02020603050405020304" pitchFamily="18" charset="0"/>
              </a:endParaRPr>
            </a:p>
          </p:txBody>
        </p:sp>
        <p:sp>
          <p:nvSpPr>
            <p:cNvPr id="22560" name="Text Box 101">
              <a:extLst>
                <a:ext uri="{FF2B5EF4-FFF2-40B4-BE49-F238E27FC236}">
                  <a16:creationId xmlns:a16="http://schemas.microsoft.com/office/drawing/2014/main" id="{9D8C22CC-C7DE-464E-AEE3-10152165E3BB}"/>
                </a:ext>
              </a:extLst>
            </p:cNvPr>
            <p:cNvSpPr txBox="1">
              <a:spLocks noChangeArrowheads="1"/>
            </p:cNvSpPr>
            <p:nvPr/>
          </p:nvSpPr>
          <p:spPr bwMode="auto">
            <a:xfrm>
              <a:off x="588" y="336"/>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i="0" dirty="0">
                  <a:solidFill>
                    <a:schemeClr val="bg1"/>
                  </a:solidFill>
                  <a:latin typeface="Times New Roman" panose="02020603050405020304" pitchFamily="18" charset="0"/>
                </a:rPr>
                <a:t>2</a:t>
              </a:r>
              <a:endParaRPr lang="zh-CN" altLang="en-US" sz="2400" i="0" dirty="0">
                <a:latin typeface="Times New Roman" panose="02020603050405020304" pitchFamily="18" charset="0"/>
              </a:endParaRPr>
            </a:p>
          </p:txBody>
        </p:sp>
        <p:sp>
          <p:nvSpPr>
            <p:cNvPr id="22561" name="Text Box 102">
              <a:extLst>
                <a:ext uri="{FF2B5EF4-FFF2-40B4-BE49-F238E27FC236}">
                  <a16:creationId xmlns:a16="http://schemas.microsoft.com/office/drawing/2014/main" id="{E8C10E56-E07C-4A77-8632-E33F316E2D67}"/>
                </a:ext>
              </a:extLst>
            </p:cNvPr>
            <p:cNvSpPr txBox="1">
              <a:spLocks noChangeArrowheads="1"/>
            </p:cNvSpPr>
            <p:nvPr/>
          </p:nvSpPr>
          <p:spPr bwMode="auto">
            <a:xfrm>
              <a:off x="1692" y="336"/>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i="0" dirty="0">
                  <a:solidFill>
                    <a:schemeClr val="bg1"/>
                  </a:solidFill>
                  <a:latin typeface="Times New Roman" panose="02020603050405020304" pitchFamily="18" charset="0"/>
                </a:rPr>
                <a:t>3</a:t>
              </a:r>
              <a:endParaRPr lang="zh-CN" altLang="en-US" sz="2400" i="0" dirty="0">
                <a:latin typeface="Times New Roman" panose="02020603050405020304" pitchFamily="18" charset="0"/>
              </a:endParaRPr>
            </a:p>
          </p:txBody>
        </p:sp>
        <p:sp>
          <p:nvSpPr>
            <p:cNvPr id="22562" name="Oval 103">
              <a:extLst>
                <a:ext uri="{FF2B5EF4-FFF2-40B4-BE49-F238E27FC236}">
                  <a16:creationId xmlns:a16="http://schemas.microsoft.com/office/drawing/2014/main" id="{E2598434-EEF8-4FE5-BF75-6FF4DAA5E4FE}"/>
                </a:ext>
              </a:extLst>
            </p:cNvPr>
            <p:cNvSpPr>
              <a:spLocks noChangeArrowheads="1"/>
            </p:cNvSpPr>
            <p:nvPr/>
          </p:nvSpPr>
          <p:spPr bwMode="auto">
            <a:xfrm>
              <a:off x="1968" y="759"/>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2563" name="Text Box 104">
              <a:extLst>
                <a:ext uri="{FF2B5EF4-FFF2-40B4-BE49-F238E27FC236}">
                  <a16:creationId xmlns:a16="http://schemas.microsoft.com/office/drawing/2014/main" id="{6FC5B8BF-B6E3-4CA1-AD77-16497DA53043}"/>
                </a:ext>
              </a:extLst>
            </p:cNvPr>
            <p:cNvSpPr txBox="1">
              <a:spLocks noChangeArrowheads="1"/>
            </p:cNvSpPr>
            <p:nvPr/>
          </p:nvSpPr>
          <p:spPr bwMode="auto">
            <a:xfrm>
              <a:off x="2016" y="720"/>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i="0" dirty="0">
                  <a:solidFill>
                    <a:schemeClr val="bg1"/>
                  </a:solidFill>
                  <a:latin typeface="Times New Roman" panose="02020603050405020304" pitchFamily="18" charset="0"/>
                </a:rPr>
                <a:t>6</a:t>
              </a:r>
              <a:endParaRPr lang="zh-CN" altLang="en-US" sz="2400" i="0" dirty="0">
                <a:latin typeface="Times New Roman" panose="02020603050405020304" pitchFamily="18" charset="0"/>
              </a:endParaRPr>
            </a:p>
          </p:txBody>
        </p:sp>
        <p:sp>
          <p:nvSpPr>
            <p:cNvPr id="22564" name="Oval 105">
              <a:extLst>
                <a:ext uri="{FF2B5EF4-FFF2-40B4-BE49-F238E27FC236}">
                  <a16:creationId xmlns:a16="http://schemas.microsoft.com/office/drawing/2014/main" id="{4E9769C9-B4A8-4098-890F-3718668F8300}"/>
                </a:ext>
              </a:extLst>
            </p:cNvPr>
            <p:cNvSpPr>
              <a:spLocks noChangeArrowheads="1"/>
            </p:cNvSpPr>
            <p:nvPr/>
          </p:nvSpPr>
          <p:spPr bwMode="auto">
            <a:xfrm>
              <a:off x="240" y="759"/>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2565" name="Text Box 106">
              <a:extLst>
                <a:ext uri="{FF2B5EF4-FFF2-40B4-BE49-F238E27FC236}">
                  <a16:creationId xmlns:a16="http://schemas.microsoft.com/office/drawing/2014/main" id="{D9F33778-BCD8-42BB-A29A-6A55FB396E01}"/>
                </a:ext>
              </a:extLst>
            </p:cNvPr>
            <p:cNvSpPr txBox="1">
              <a:spLocks noChangeArrowheads="1"/>
            </p:cNvSpPr>
            <p:nvPr/>
          </p:nvSpPr>
          <p:spPr bwMode="auto">
            <a:xfrm>
              <a:off x="252" y="720"/>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i="0" dirty="0">
                  <a:solidFill>
                    <a:schemeClr val="bg1"/>
                  </a:solidFill>
                  <a:latin typeface="Times New Roman" panose="02020603050405020304" pitchFamily="18" charset="0"/>
                </a:rPr>
                <a:t>4</a:t>
              </a:r>
              <a:endParaRPr lang="zh-CN" altLang="en-US" sz="2400" i="0" dirty="0">
                <a:latin typeface="Times New Roman" panose="02020603050405020304" pitchFamily="18" charset="0"/>
              </a:endParaRPr>
            </a:p>
          </p:txBody>
        </p:sp>
        <p:sp>
          <p:nvSpPr>
            <p:cNvPr id="22566" name="Oval 107">
              <a:extLst>
                <a:ext uri="{FF2B5EF4-FFF2-40B4-BE49-F238E27FC236}">
                  <a16:creationId xmlns:a16="http://schemas.microsoft.com/office/drawing/2014/main" id="{6F92245F-5A6B-4FE7-BC2F-A047913CBBB7}"/>
                </a:ext>
              </a:extLst>
            </p:cNvPr>
            <p:cNvSpPr>
              <a:spLocks noChangeArrowheads="1"/>
            </p:cNvSpPr>
            <p:nvPr/>
          </p:nvSpPr>
          <p:spPr bwMode="auto">
            <a:xfrm>
              <a:off x="0" y="119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2567" name="Text Box 108">
              <a:extLst>
                <a:ext uri="{FF2B5EF4-FFF2-40B4-BE49-F238E27FC236}">
                  <a16:creationId xmlns:a16="http://schemas.microsoft.com/office/drawing/2014/main" id="{E2BFAF66-1D33-4B80-97E9-AF3312916399}"/>
                </a:ext>
              </a:extLst>
            </p:cNvPr>
            <p:cNvSpPr txBox="1">
              <a:spLocks noChangeArrowheads="1"/>
            </p:cNvSpPr>
            <p:nvPr/>
          </p:nvSpPr>
          <p:spPr bwMode="auto">
            <a:xfrm>
              <a:off x="12" y="1152"/>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i="0" dirty="0">
                  <a:solidFill>
                    <a:schemeClr val="bg1"/>
                  </a:solidFill>
                  <a:latin typeface="Times New Roman" panose="02020603050405020304" pitchFamily="18" charset="0"/>
                </a:rPr>
                <a:t>7</a:t>
              </a:r>
              <a:endParaRPr lang="zh-CN" altLang="en-US" sz="2400" i="0" dirty="0">
                <a:latin typeface="Times New Roman" panose="02020603050405020304" pitchFamily="18" charset="0"/>
              </a:endParaRPr>
            </a:p>
          </p:txBody>
        </p:sp>
        <p:sp>
          <p:nvSpPr>
            <p:cNvPr id="22568" name="Oval 109">
              <a:extLst>
                <a:ext uri="{FF2B5EF4-FFF2-40B4-BE49-F238E27FC236}">
                  <a16:creationId xmlns:a16="http://schemas.microsoft.com/office/drawing/2014/main" id="{B7760D67-C472-463D-8780-457186AA7D58}"/>
                </a:ext>
              </a:extLst>
            </p:cNvPr>
            <p:cNvSpPr>
              <a:spLocks noChangeArrowheads="1"/>
            </p:cNvSpPr>
            <p:nvPr/>
          </p:nvSpPr>
          <p:spPr bwMode="auto">
            <a:xfrm>
              <a:off x="384" y="119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2569" name="Text Box 110">
              <a:extLst>
                <a:ext uri="{FF2B5EF4-FFF2-40B4-BE49-F238E27FC236}">
                  <a16:creationId xmlns:a16="http://schemas.microsoft.com/office/drawing/2014/main" id="{FDF097EF-BA83-4D9C-8B58-33211D4FC368}"/>
                </a:ext>
              </a:extLst>
            </p:cNvPr>
            <p:cNvSpPr txBox="1">
              <a:spLocks noChangeArrowheads="1"/>
            </p:cNvSpPr>
            <p:nvPr/>
          </p:nvSpPr>
          <p:spPr bwMode="auto">
            <a:xfrm>
              <a:off x="396" y="1143"/>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i="0" dirty="0">
                  <a:solidFill>
                    <a:schemeClr val="bg1"/>
                  </a:solidFill>
                  <a:latin typeface="Times New Roman" panose="02020603050405020304" pitchFamily="18" charset="0"/>
                </a:rPr>
                <a:t>8</a:t>
              </a:r>
              <a:endParaRPr lang="zh-CN" altLang="en-US" sz="2400" i="0" dirty="0">
                <a:latin typeface="Times New Roman" panose="02020603050405020304" pitchFamily="18" charset="0"/>
              </a:endParaRPr>
            </a:p>
          </p:txBody>
        </p:sp>
        <p:sp>
          <p:nvSpPr>
            <p:cNvPr id="22570" name="Text Box 111">
              <a:extLst>
                <a:ext uri="{FF2B5EF4-FFF2-40B4-BE49-F238E27FC236}">
                  <a16:creationId xmlns:a16="http://schemas.microsoft.com/office/drawing/2014/main" id="{CD616709-0142-42CA-A900-A92F4CA787B0}"/>
                </a:ext>
              </a:extLst>
            </p:cNvPr>
            <p:cNvSpPr txBox="1">
              <a:spLocks noChangeArrowheads="1"/>
            </p:cNvSpPr>
            <p:nvPr/>
          </p:nvSpPr>
          <p:spPr bwMode="auto">
            <a:xfrm>
              <a:off x="1584" y="1200"/>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a:solidFill>
                    <a:schemeClr val="bg1"/>
                  </a:solidFill>
                  <a:latin typeface="Times New Roman" panose="02020603050405020304" pitchFamily="18" charset="0"/>
                </a:rPr>
                <a:t>9</a:t>
              </a:r>
              <a:endParaRPr lang="zh-CN" altLang="en-US" sz="2400">
                <a:latin typeface="Times New Roman" panose="02020603050405020304" pitchFamily="18" charset="0"/>
              </a:endParaRPr>
            </a:p>
          </p:txBody>
        </p:sp>
        <p:sp>
          <p:nvSpPr>
            <p:cNvPr id="22571" name="Oval 112">
              <a:extLst>
                <a:ext uri="{FF2B5EF4-FFF2-40B4-BE49-F238E27FC236}">
                  <a16:creationId xmlns:a16="http://schemas.microsoft.com/office/drawing/2014/main" id="{6A62B24A-5C48-4BAB-9BF3-469F5AFB692A}"/>
                </a:ext>
              </a:extLst>
            </p:cNvPr>
            <p:cNvSpPr>
              <a:spLocks noChangeArrowheads="1"/>
            </p:cNvSpPr>
            <p:nvPr/>
          </p:nvSpPr>
          <p:spPr bwMode="auto">
            <a:xfrm>
              <a:off x="1584" y="1200"/>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2572" name="Text Box 113">
              <a:extLst>
                <a:ext uri="{FF2B5EF4-FFF2-40B4-BE49-F238E27FC236}">
                  <a16:creationId xmlns:a16="http://schemas.microsoft.com/office/drawing/2014/main" id="{3A8FE64B-67A9-4EAA-B679-38DD6DBAFE95}"/>
                </a:ext>
              </a:extLst>
            </p:cNvPr>
            <p:cNvSpPr txBox="1">
              <a:spLocks noChangeArrowheads="1"/>
            </p:cNvSpPr>
            <p:nvPr/>
          </p:nvSpPr>
          <p:spPr bwMode="auto">
            <a:xfrm>
              <a:off x="1536" y="1200"/>
              <a:ext cx="34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i="0" dirty="0">
                  <a:solidFill>
                    <a:schemeClr val="bg1"/>
                  </a:solidFill>
                  <a:latin typeface="Times New Roman" panose="02020603050405020304" pitchFamily="18" charset="0"/>
                </a:rPr>
                <a:t>10</a:t>
              </a:r>
              <a:endParaRPr lang="zh-CN" altLang="en-US" sz="2400" i="0" dirty="0">
                <a:latin typeface="Times New Roman" panose="02020603050405020304" pitchFamily="18" charset="0"/>
              </a:endParaRPr>
            </a:p>
          </p:txBody>
        </p:sp>
        <p:sp>
          <p:nvSpPr>
            <p:cNvPr id="22573" name="Line 114">
              <a:extLst>
                <a:ext uri="{FF2B5EF4-FFF2-40B4-BE49-F238E27FC236}">
                  <a16:creationId xmlns:a16="http://schemas.microsoft.com/office/drawing/2014/main" id="{61053A0B-841C-4184-B7D4-CEB2CEF301BF}"/>
                </a:ext>
              </a:extLst>
            </p:cNvPr>
            <p:cNvSpPr>
              <a:spLocks noChangeShapeType="1"/>
            </p:cNvSpPr>
            <p:nvPr/>
          </p:nvSpPr>
          <p:spPr bwMode="auto">
            <a:xfrm>
              <a:off x="1584" y="1008"/>
              <a:ext cx="96" cy="192"/>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74" name="Oval 115">
              <a:extLst>
                <a:ext uri="{FF2B5EF4-FFF2-40B4-BE49-F238E27FC236}">
                  <a16:creationId xmlns:a16="http://schemas.microsoft.com/office/drawing/2014/main" id="{F15DDBB3-8307-447B-B5D5-7594763BCABE}"/>
                </a:ext>
              </a:extLst>
            </p:cNvPr>
            <p:cNvSpPr>
              <a:spLocks noChangeArrowheads="1"/>
            </p:cNvSpPr>
            <p:nvPr/>
          </p:nvSpPr>
          <p:spPr bwMode="auto">
            <a:xfrm>
              <a:off x="1440" y="759"/>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2575" name="Text Box 116">
              <a:extLst>
                <a:ext uri="{FF2B5EF4-FFF2-40B4-BE49-F238E27FC236}">
                  <a16:creationId xmlns:a16="http://schemas.microsoft.com/office/drawing/2014/main" id="{014FC2B6-EA3F-44AA-B3F0-98333B29FF76}"/>
                </a:ext>
              </a:extLst>
            </p:cNvPr>
            <p:cNvSpPr txBox="1">
              <a:spLocks noChangeArrowheads="1"/>
            </p:cNvSpPr>
            <p:nvPr/>
          </p:nvSpPr>
          <p:spPr bwMode="auto">
            <a:xfrm>
              <a:off x="1440" y="720"/>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i="0" dirty="0">
                  <a:solidFill>
                    <a:schemeClr val="bg1"/>
                  </a:solidFill>
                  <a:latin typeface="Times New Roman" panose="02020603050405020304" pitchFamily="18" charset="0"/>
                </a:rPr>
                <a:t>5</a:t>
              </a:r>
              <a:endParaRPr lang="zh-CN" altLang="en-US" sz="2400" i="0" dirty="0">
                <a:latin typeface="Times New Roman" panose="02020603050405020304" pitchFamily="18" charset="0"/>
              </a:endParaRPr>
            </a:p>
          </p:txBody>
        </p:sp>
      </p:grpSp>
      <p:cxnSp>
        <p:nvCxnSpPr>
          <p:cNvPr id="4" name="直接连接符 3">
            <a:extLst>
              <a:ext uri="{FF2B5EF4-FFF2-40B4-BE49-F238E27FC236}">
                <a16:creationId xmlns:a16="http://schemas.microsoft.com/office/drawing/2014/main" id="{356B50FC-BD7A-49CB-8B41-5499FA72AB34}"/>
              </a:ext>
            </a:extLst>
          </p:cNvPr>
          <p:cNvCxnSpPr>
            <a:cxnSpLocks noChangeShapeType="1"/>
          </p:cNvCxnSpPr>
          <p:nvPr/>
        </p:nvCxnSpPr>
        <p:spPr bwMode="auto">
          <a:xfrm>
            <a:off x="6181725" y="3369518"/>
            <a:ext cx="131763" cy="319087"/>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 name="文本框 4">
            <a:extLst>
              <a:ext uri="{FF2B5EF4-FFF2-40B4-BE49-F238E27FC236}">
                <a16:creationId xmlns:a16="http://schemas.microsoft.com/office/drawing/2014/main" id="{38AC5862-25F6-4344-BBC8-BF511A4C6E33}"/>
              </a:ext>
            </a:extLst>
          </p:cNvPr>
          <p:cNvSpPr txBox="1">
            <a:spLocks noChangeArrowheads="1"/>
          </p:cNvSpPr>
          <p:nvPr/>
        </p:nvSpPr>
        <p:spPr bwMode="auto">
          <a:xfrm>
            <a:off x="6139997" y="3603383"/>
            <a:ext cx="4254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en-US" altLang="zh-CN" sz="2400" dirty="0"/>
              <a:t>0</a:t>
            </a:r>
            <a:endParaRPr lang="zh-CN" altLang="en-US" sz="2400" dirty="0"/>
          </a:p>
        </p:txBody>
      </p:sp>
      <p:cxnSp>
        <p:nvCxnSpPr>
          <p:cNvPr id="7" name="直接连接符 6">
            <a:extLst>
              <a:ext uri="{FF2B5EF4-FFF2-40B4-BE49-F238E27FC236}">
                <a16:creationId xmlns:a16="http://schemas.microsoft.com/office/drawing/2014/main" id="{F14C0E4D-7566-49FB-83D1-74238CBA1E6C}"/>
              </a:ext>
            </a:extLst>
          </p:cNvPr>
          <p:cNvCxnSpPr>
            <a:cxnSpLocks noChangeShapeType="1"/>
          </p:cNvCxnSpPr>
          <p:nvPr/>
        </p:nvCxnSpPr>
        <p:spPr bwMode="auto">
          <a:xfrm flipH="1">
            <a:off x="6138804" y="3956323"/>
            <a:ext cx="131762" cy="344487"/>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2" name="直接连接符 121">
            <a:extLst>
              <a:ext uri="{FF2B5EF4-FFF2-40B4-BE49-F238E27FC236}">
                <a16:creationId xmlns:a16="http://schemas.microsoft.com/office/drawing/2014/main" id="{F9CD8546-861E-41AA-A70E-3FBC65B3FE2D}"/>
              </a:ext>
            </a:extLst>
          </p:cNvPr>
          <p:cNvCxnSpPr>
            <a:cxnSpLocks noChangeShapeType="1"/>
          </p:cNvCxnSpPr>
          <p:nvPr/>
        </p:nvCxnSpPr>
        <p:spPr bwMode="auto">
          <a:xfrm>
            <a:off x="6399610" y="3928746"/>
            <a:ext cx="133350" cy="319088"/>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3" name="文本框 122">
            <a:extLst>
              <a:ext uri="{FF2B5EF4-FFF2-40B4-BE49-F238E27FC236}">
                <a16:creationId xmlns:a16="http://schemas.microsoft.com/office/drawing/2014/main" id="{384678AC-4945-4F07-B761-D598A301B191}"/>
              </a:ext>
            </a:extLst>
          </p:cNvPr>
          <p:cNvSpPr txBox="1">
            <a:spLocks noChangeArrowheads="1"/>
          </p:cNvSpPr>
          <p:nvPr/>
        </p:nvSpPr>
        <p:spPr bwMode="auto">
          <a:xfrm>
            <a:off x="5894757" y="4203611"/>
            <a:ext cx="4254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en-US" altLang="zh-CN" sz="2400" dirty="0"/>
              <a:t>0</a:t>
            </a:r>
            <a:endParaRPr lang="zh-CN" altLang="en-US" sz="2400" dirty="0"/>
          </a:p>
        </p:txBody>
      </p:sp>
      <p:sp>
        <p:nvSpPr>
          <p:cNvPr id="124" name="文本框 123">
            <a:extLst>
              <a:ext uri="{FF2B5EF4-FFF2-40B4-BE49-F238E27FC236}">
                <a16:creationId xmlns:a16="http://schemas.microsoft.com/office/drawing/2014/main" id="{6B9A41E6-84B0-4CB8-A71C-9038BEACE1B9}"/>
              </a:ext>
            </a:extLst>
          </p:cNvPr>
          <p:cNvSpPr txBox="1">
            <a:spLocks noChangeArrowheads="1"/>
          </p:cNvSpPr>
          <p:nvPr/>
        </p:nvSpPr>
        <p:spPr bwMode="auto">
          <a:xfrm>
            <a:off x="6313909" y="4169270"/>
            <a:ext cx="42386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en-US" altLang="zh-CN" sz="2400" dirty="0"/>
              <a:t>0</a:t>
            </a:r>
            <a:endParaRPr lang="zh-CN" altLang="en-US" sz="2400" dirty="0"/>
          </a:p>
        </p:txBody>
      </p:sp>
      <p:sp>
        <p:nvSpPr>
          <p:cNvPr id="3" name="Text Box 4">
            <a:extLst>
              <a:ext uri="{FF2B5EF4-FFF2-40B4-BE49-F238E27FC236}">
                <a16:creationId xmlns:a16="http://schemas.microsoft.com/office/drawing/2014/main" id="{1B603733-187C-4A87-B726-25F61A06B08F}"/>
              </a:ext>
            </a:extLst>
          </p:cNvPr>
          <p:cNvSpPr txBox="1">
            <a:spLocks noChangeArrowheads="1"/>
          </p:cNvSpPr>
          <p:nvPr/>
        </p:nvSpPr>
        <p:spPr bwMode="auto">
          <a:xfrm>
            <a:off x="332003" y="169067"/>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二叉树的顺序存储结构</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2535"/>
                                        </p:tgtEl>
                                        <p:attrNameLst>
                                          <p:attrName>style.visibility</p:attrName>
                                        </p:attrNameLst>
                                      </p:cBhvr>
                                      <p:to>
                                        <p:strVal val="visible"/>
                                      </p:to>
                                    </p:set>
                                    <p:animEffect transition="in" filter="blinds(horizontal)">
                                      <p:cBhvr>
                                        <p:cTn id="7" dur="500"/>
                                        <p:tgtEl>
                                          <p:spTgt spid="22535"/>
                                        </p:tgtEl>
                                      </p:cBhvr>
                                    </p:animEffect>
                                  </p:childTnLst>
                                </p:cTn>
                              </p:par>
                              <p:par>
                                <p:cTn id="8" presetID="3" presetClass="entr" presetSubtype="10" fill="hold" nodeType="withEffect">
                                  <p:stCondLst>
                                    <p:cond delay="0"/>
                                  </p:stCondLst>
                                  <p:childTnLst>
                                    <p:set>
                                      <p:cBhvr>
                                        <p:cTn id="9" dur="1" fill="hold">
                                          <p:stCondLst>
                                            <p:cond delay="0"/>
                                          </p:stCondLst>
                                        </p:cTn>
                                        <p:tgtEl>
                                          <p:spTgt spid="22536"/>
                                        </p:tgtEl>
                                        <p:attrNameLst>
                                          <p:attrName>style.visibility</p:attrName>
                                        </p:attrNameLst>
                                      </p:cBhvr>
                                      <p:to>
                                        <p:strVal val="visible"/>
                                      </p:to>
                                    </p:set>
                                    <p:animEffect transition="in" filter="blinds(horizontal)">
                                      <p:cBhvr>
                                        <p:cTn id="10" dur="500"/>
                                        <p:tgtEl>
                                          <p:spTgt spid="22536"/>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25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5" grpId="0" bldLvl="0" autoUpdateAnimBg="0"/>
      <p:bldP spid="5" grpId="0"/>
      <p:bldP spid="123" grpId="0"/>
      <p:bldP spid="12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Text Box 3">
            <a:extLst>
              <a:ext uri="{FF2B5EF4-FFF2-40B4-BE49-F238E27FC236}">
                <a16:creationId xmlns:a16="http://schemas.microsoft.com/office/drawing/2014/main" id="{8FCF00DA-D985-4896-B202-745AFE3F3E19}"/>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B7B29A32-12CB-4164-816C-EB15065C548D}" type="slidenum">
              <a:rPr lang="zh-CN" altLang="en-US" sz="2400"/>
              <a:pPr algn="r" eaLnBrk="1" hangingPunct="1">
                <a:spcBef>
                  <a:spcPct val="50000"/>
                </a:spcBef>
                <a:buClrTx/>
                <a:buSzTx/>
                <a:buFont typeface="Arial" panose="020B0604020202020204" pitchFamily="34" charset="0"/>
                <a:buNone/>
              </a:pPr>
              <a:t>21</a:t>
            </a:fld>
            <a:endParaRPr lang="en-US" altLang="zh-CN" sz="2400"/>
          </a:p>
        </p:txBody>
      </p:sp>
      <p:sp>
        <p:nvSpPr>
          <p:cNvPr id="22533" name="Rectangle 5">
            <a:extLst>
              <a:ext uri="{FF2B5EF4-FFF2-40B4-BE49-F238E27FC236}">
                <a16:creationId xmlns:a16="http://schemas.microsoft.com/office/drawing/2014/main" id="{B3AA0AB7-8D94-4528-96A6-D21C8983ABC5}"/>
              </a:ext>
            </a:extLst>
          </p:cNvPr>
          <p:cNvSpPr>
            <a:spLocks noGrp="1" noChangeArrowheads="1"/>
          </p:cNvSpPr>
          <p:nvPr>
            <p:ph type="body" idx="1"/>
          </p:nvPr>
        </p:nvSpPr>
        <p:spPr>
          <a:xfrm>
            <a:off x="484585" y="1190573"/>
            <a:ext cx="8763000" cy="1878387"/>
          </a:xfrm>
        </p:spPr>
        <p:txBody>
          <a:bodyPr/>
          <a:lstStyle/>
          <a:p>
            <a:pPr eaLnBrk="1" hangingPunct="1">
              <a:spcBef>
                <a:spcPct val="30000"/>
              </a:spcBef>
              <a:buFont typeface="Wingdings" panose="05000000000000000000" pitchFamily="2" charset="2"/>
              <a:buChar char="p"/>
            </a:pPr>
            <a:r>
              <a:rPr lang="zh-CN" altLang="en-US" dirty="0">
                <a:latin typeface="黑体" panose="02010609060101010101" pitchFamily="49" charset="-122"/>
                <a:ea typeface="黑体" panose="02010609060101010101" pitchFamily="49" charset="-122"/>
              </a:rPr>
              <a:t>根据公式确定结点</a:t>
            </a:r>
            <a:r>
              <a:rPr lang="en-US" altLang="zh-CN" dirty="0" err="1">
                <a:latin typeface="黑体" panose="02010609060101010101" pitchFamily="49" charset="-122"/>
                <a:ea typeface="黑体" panose="02010609060101010101" pitchFamily="49" charset="-122"/>
              </a:rPr>
              <a:t>i</a:t>
            </a:r>
            <a:r>
              <a:rPr lang="zh-CN" altLang="en-US" dirty="0">
                <a:latin typeface="黑体" panose="02010609060101010101" pitchFamily="49" charset="-122"/>
                <a:ea typeface="黑体" panose="02010609060101010101" pitchFamily="49" charset="-122"/>
              </a:rPr>
              <a:t>的左右孩子</a:t>
            </a:r>
            <a:r>
              <a:rPr lang="en-US" altLang="zh-CN" dirty="0">
                <a:latin typeface="黑体" panose="02010609060101010101" pitchFamily="49" charset="-122"/>
                <a:ea typeface="黑体" panose="02010609060101010101" pitchFamily="49" charset="-122"/>
              </a:rPr>
              <a:t>:2i+1,2i+2(</a:t>
            </a:r>
            <a:r>
              <a:rPr lang="zh-CN" altLang="en-US" dirty="0">
                <a:latin typeface="黑体" panose="02010609060101010101" pitchFamily="49" charset="-122"/>
                <a:ea typeface="黑体" panose="02010609060101010101" pitchFamily="49" charset="-122"/>
              </a:rPr>
              <a:t>编号从</a:t>
            </a:r>
            <a:r>
              <a:rPr lang="en-US" altLang="zh-CN" dirty="0">
                <a:latin typeface="黑体" panose="02010609060101010101" pitchFamily="49" charset="-122"/>
                <a:ea typeface="黑体" panose="02010609060101010101" pitchFamily="49" charset="-122"/>
              </a:rPr>
              <a:t>0</a:t>
            </a:r>
            <a:r>
              <a:rPr lang="zh-CN" altLang="en-US" dirty="0">
                <a:latin typeface="黑体" panose="02010609060101010101" pitchFamily="49" charset="-122"/>
                <a:ea typeface="黑体" panose="02010609060101010101" pitchFamily="49" charset="-122"/>
              </a:rPr>
              <a:t>开始</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a:t>
            </a:r>
            <a:endParaRPr lang="en-US" altLang="zh-CN" dirty="0">
              <a:latin typeface="黑体" panose="02010609060101010101" pitchFamily="49" charset="-122"/>
              <a:ea typeface="黑体" panose="02010609060101010101" pitchFamily="49" charset="-122"/>
            </a:endParaRPr>
          </a:p>
          <a:p>
            <a:pPr eaLnBrk="1" hangingPunct="1">
              <a:spcBef>
                <a:spcPct val="30000"/>
              </a:spcBef>
              <a:buFont typeface="Wingdings" panose="05000000000000000000" pitchFamily="2" charset="2"/>
              <a:buChar char="p"/>
            </a:pPr>
            <a:r>
              <a:rPr lang="zh-CN" altLang="en-US" dirty="0">
                <a:latin typeface="黑体" panose="02010609060101010101" pitchFamily="49" charset="-122"/>
                <a:ea typeface="黑体" panose="02010609060101010101" pitchFamily="49" charset="-122"/>
              </a:rPr>
              <a:t>需要</a:t>
            </a:r>
            <a:r>
              <a:rPr lang="zh-CN" altLang="en-US" dirty="0">
                <a:solidFill>
                  <a:srgbClr val="FF0000"/>
                </a:solidFill>
                <a:latin typeface="黑体" panose="02010609060101010101" pitchFamily="49" charset="-122"/>
                <a:ea typeface="黑体" panose="02010609060101010101" pitchFamily="49" charset="-122"/>
              </a:rPr>
              <a:t>补成完全二叉树</a:t>
            </a:r>
            <a:r>
              <a:rPr lang="zh-CN" altLang="en-US" dirty="0">
                <a:latin typeface="黑体" panose="02010609060101010101" pitchFamily="49" charset="-122"/>
                <a:ea typeface="黑体" panose="02010609060101010101" pitchFamily="49" charset="-122"/>
              </a:rPr>
              <a:t>，空树用其它字符。</a:t>
            </a:r>
            <a:endParaRPr lang="en-US" altLang="zh-CN" dirty="0">
              <a:latin typeface="黑体" panose="02010609060101010101" pitchFamily="49" charset="-122"/>
              <a:ea typeface="黑体" panose="02010609060101010101" pitchFamily="49" charset="-122"/>
            </a:endParaRPr>
          </a:p>
          <a:p>
            <a:pPr eaLnBrk="1" hangingPunct="1">
              <a:spcBef>
                <a:spcPct val="30000"/>
              </a:spcBef>
              <a:buFont typeface="Wingdings" panose="05000000000000000000" pitchFamily="2" charset="2"/>
              <a:buChar char="p"/>
            </a:pPr>
            <a:r>
              <a:rPr lang="zh-CN" altLang="en-US" dirty="0">
                <a:latin typeface="黑体" panose="02010609060101010101" pitchFamily="49" charset="-122"/>
                <a:ea typeface="黑体" panose="02010609060101010101" pitchFamily="49" charset="-122"/>
              </a:rPr>
              <a:t>超过数组长度也是空树。</a:t>
            </a:r>
          </a:p>
        </p:txBody>
      </p:sp>
      <p:sp>
        <p:nvSpPr>
          <p:cNvPr id="3" name="Text Box 4">
            <a:extLst>
              <a:ext uri="{FF2B5EF4-FFF2-40B4-BE49-F238E27FC236}">
                <a16:creationId xmlns:a16="http://schemas.microsoft.com/office/drawing/2014/main" id="{1B603733-187C-4A87-B726-25F61A06B08F}"/>
              </a:ext>
            </a:extLst>
          </p:cNvPr>
          <p:cNvSpPr txBox="1">
            <a:spLocks noChangeArrowheads="1"/>
          </p:cNvSpPr>
          <p:nvPr/>
        </p:nvSpPr>
        <p:spPr bwMode="auto">
          <a:xfrm>
            <a:off x="332003" y="169067"/>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  二叉树的顺序存储结构</a:t>
            </a:r>
          </a:p>
        </p:txBody>
      </p:sp>
      <p:sp>
        <p:nvSpPr>
          <p:cNvPr id="5" name="文本框 4">
            <a:extLst>
              <a:ext uri="{FF2B5EF4-FFF2-40B4-BE49-F238E27FC236}">
                <a16:creationId xmlns:a16="http://schemas.microsoft.com/office/drawing/2014/main" id="{4AFC3C94-59A9-6B27-6637-D73576EAD12E}"/>
              </a:ext>
            </a:extLst>
          </p:cNvPr>
          <p:cNvSpPr txBox="1"/>
          <p:nvPr/>
        </p:nvSpPr>
        <p:spPr>
          <a:xfrm>
            <a:off x="611560" y="4149080"/>
            <a:ext cx="4626428" cy="954107"/>
          </a:xfrm>
          <a:prstGeom prst="rect">
            <a:avLst/>
          </a:prstGeom>
          <a:noFill/>
        </p:spPr>
        <p:txBody>
          <a:bodyPr wrap="square">
            <a:spAutoFit/>
          </a:bodyPr>
          <a:lstStyle/>
          <a:p>
            <a:r>
              <a:rPr lang="en-US" altLang="zh-CN" sz="2800" b="0" i="0" dirty="0">
                <a:solidFill>
                  <a:srgbClr val="267F99"/>
                </a:solidFill>
                <a:effectLst/>
                <a:latin typeface="+mn-ea"/>
                <a:ea typeface="+mn-ea"/>
              </a:rPr>
              <a:t>string</a:t>
            </a:r>
            <a:r>
              <a:rPr lang="en-US" altLang="zh-CN" sz="2800" b="0" i="0" dirty="0">
                <a:solidFill>
                  <a:srgbClr val="000000"/>
                </a:solidFill>
                <a:effectLst/>
                <a:latin typeface="+mn-ea"/>
                <a:ea typeface="+mn-ea"/>
              </a:rPr>
              <a:t>  </a:t>
            </a:r>
            <a:r>
              <a:rPr lang="en-US" altLang="zh-CN" sz="2800" b="0" i="0" dirty="0" err="1">
                <a:solidFill>
                  <a:srgbClr val="001080"/>
                </a:solidFill>
                <a:effectLst/>
                <a:latin typeface="+mn-ea"/>
                <a:ea typeface="+mn-ea"/>
              </a:rPr>
              <a:t>bitree</a:t>
            </a:r>
            <a:r>
              <a:rPr lang="en-US" altLang="zh-CN" sz="2800" b="0" i="0" dirty="0">
                <a:solidFill>
                  <a:srgbClr val="000000"/>
                </a:solidFill>
                <a:effectLst/>
                <a:latin typeface="+mn-ea"/>
                <a:ea typeface="+mn-ea"/>
              </a:rPr>
              <a:t>;</a:t>
            </a:r>
          </a:p>
          <a:p>
            <a:r>
              <a:rPr lang="en-US" altLang="zh-CN" sz="2800" b="0" i="0" dirty="0" err="1">
                <a:solidFill>
                  <a:srgbClr val="001080"/>
                </a:solidFill>
                <a:effectLst/>
                <a:latin typeface="+mn-ea"/>
                <a:ea typeface="+mn-ea"/>
              </a:rPr>
              <a:t>cin</a:t>
            </a:r>
            <a:r>
              <a:rPr lang="en-US" altLang="zh-CN" sz="2800" b="0" i="0" dirty="0">
                <a:solidFill>
                  <a:srgbClr val="000000"/>
                </a:solidFill>
                <a:effectLst/>
                <a:latin typeface="+mn-ea"/>
                <a:ea typeface="+mn-ea"/>
              </a:rPr>
              <a:t> </a:t>
            </a:r>
            <a:r>
              <a:rPr lang="en-US" altLang="zh-CN" sz="2800" b="0" i="0" dirty="0">
                <a:solidFill>
                  <a:srgbClr val="795E26"/>
                </a:solidFill>
                <a:effectLst/>
                <a:latin typeface="+mn-ea"/>
                <a:ea typeface="+mn-ea"/>
              </a:rPr>
              <a:t>&gt;&gt;</a:t>
            </a:r>
            <a:r>
              <a:rPr lang="en-US" altLang="zh-CN" sz="2800" b="0" i="0" dirty="0">
                <a:solidFill>
                  <a:srgbClr val="000000"/>
                </a:solidFill>
                <a:effectLst/>
                <a:latin typeface="+mn-ea"/>
                <a:ea typeface="+mn-ea"/>
              </a:rPr>
              <a:t> </a:t>
            </a:r>
            <a:r>
              <a:rPr lang="en-US" altLang="zh-CN" sz="2800" b="0" i="0" dirty="0" err="1">
                <a:solidFill>
                  <a:srgbClr val="001080"/>
                </a:solidFill>
                <a:effectLst/>
                <a:latin typeface="+mn-ea"/>
                <a:ea typeface="+mn-ea"/>
              </a:rPr>
              <a:t>bitree</a:t>
            </a:r>
            <a:r>
              <a:rPr lang="en-US" altLang="zh-CN" sz="2800" b="0" i="0" dirty="0">
                <a:solidFill>
                  <a:srgbClr val="000000"/>
                </a:solidFill>
                <a:effectLst/>
                <a:latin typeface="+mn-ea"/>
                <a:ea typeface="+mn-ea"/>
              </a:rPr>
              <a:t>; </a:t>
            </a:r>
          </a:p>
        </p:txBody>
      </p:sp>
    </p:spTree>
    <p:extLst>
      <p:ext uri="{BB962C8B-B14F-4D97-AF65-F5344CB8AC3E}">
        <p14:creationId xmlns:p14="http://schemas.microsoft.com/office/powerpoint/2010/main" val="313626792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53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53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53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03" name="Text Box 27">
            <a:extLst>
              <a:ext uri="{FF2B5EF4-FFF2-40B4-BE49-F238E27FC236}">
                <a16:creationId xmlns:a16="http://schemas.microsoft.com/office/drawing/2014/main" id="{047CB4B6-4781-4DE5-A858-F0CAC2EE6B3C}"/>
              </a:ext>
            </a:extLst>
          </p:cNvPr>
          <p:cNvSpPr txBox="1">
            <a:spLocks noChangeArrowheads="1"/>
          </p:cNvSpPr>
          <p:nvPr/>
        </p:nvSpPr>
        <p:spPr bwMode="auto">
          <a:xfrm>
            <a:off x="304800" y="4495800"/>
            <a:ext cx="26193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400">
                <a:latin typeface="Times New Roman" panose="02020603050405020304" pitchFamily="18" charset="0"/>
              </a:rPr>
              <a:t> </a:t>
            </a:r>
            <a:endParaRPr lang="en-US" altLang="zh-CN">
              <a:latin typeface="Times New Roman" panose="02020603050405020304" pitchFamily="18" charset="0"/>
            </a:endParaRPr>
          </a:p>
        </p:txBody>
      </p:sp>
      <p:sp>
        <p:nvSpPr>
          <p:cNvPr id="24615" name="AutoShape 39">
            <a:hlinkClick r:id="rId2" action="ppaction://hlinksldjump" highlightClick="1"/>
            <a:extLst>
              <a:ext uri="{FF2B5EF4-FFF2-40B4-BE49-F238E27FC236}">
                <a16:creationId xmlns:a16="http://schemas.microsoft.com/office/drawing/2014/main" id="{7F22C87D-3E5E-4DE4-AB18-364FEB99DE77}"/>
              </a:ext>
            </a:extLst>
          </p:cNvPr>
          <p:cNvSpPr>
            <a:spLocks noChangeArrowheads="1"/>
          </p:cNvSpPr>
          <p:nvPr/>
        </p:nvSpPr>
        <p:spPr bwMode="auto">
          <a:xfrm>
            <a:off x="8458200" y="61722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4616" name="Text Box 40">
            <a:extLst>
              <a:ext uri="{FF2B5EF4-FFF2-40B4-BE49-F238E27FC236}">
                <a16:creationId xmlns:a16="http://schemas.microsoft.com/office/drawing/2014/main" id="{A9CA464A-5315-4F32-8C71-48C9B34B38A1}"/>
              </a:ext>
            </a:extLst>
          </p:cNvPr>
          <p:cNvSpPr txBox="1">
            <a:spLocks noChangeArrowheads="1"/>
          </p:cNvSpPr>
          <p:nvPr/>
        </p:nvSpPr>
        <p:spPr bwMode="auto">
          <a:xfrm>
            <a:off x="467544" y="6002124"/>
            <a:ext cx="592982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0" i="0" dirty="0">
                <a:latin typeface="黑体" panose="02010609060101010101" pitchFamily="49" charset="-122"/>
                <a:ea typeface="黑体" panose="02010609060101010101" pitchFamily="49" charset="-122"/>
              </a:rPr>
              <a:t>二叉树的顺序存储缺点：浪费空间。</a:t>
            </a:r>
          </a:p>
        </p:txBody>
      </p:sp>
      <p:graphicFrame>
        <p:nvGraphicFramePr>
          <p:cNvPr id="7" name="表格 6">
            <a:extLst>
              <a:ext uri="{FF2B5EF4-FFF2-40B4-BE49-F238E27FC236}">
                <a16:creationId xmlns:a16="http://schemas.microsoft.com/office/drawing/2014/main" id="{A36A927A-3B85-43EC-82E0-81C96E455479}"/>
              </a:ext>
            </a:extLst>
          </p:cNvPr>
          <p:cNvGraphicFramePr>
            <a:graphicFrameLocks noGrp="1"/>
          </p:cNvGraphicFramePr>
          <p:nvPr>
            <p:extLst>
              <p:ext uri="{D42A27DB-BD31-4B8C-83A1-F6EECF244321}">
                <p14:modId xmlns:p14="http://schemas.microsoft.com/office/powerpoint/2010/main" val="1876717205"/>
              </p:ext>
            </p:extLst>
          </p:nvPr>
        </p:nvGraphicFramePr>
        <p:xfrm>
          <a:off x="539552" y="5013176"/>
          <a:ext cx="8207370" cy="827841"/>
        </p:xfrm>
        <a:graphic>
          <a:graphicData uri="http://schemas.openxmlformats.org/drawingml/2006/table">
            <a:tbl>
              <a:tblPr firstRow="1" bandRow="1">
                <a:tableStyleId>{F5AB1C69-6EDB-4FF4-983F-18BD219EF322}</a:tableStyleId>
              </a:tblPr>
              <a:tblGrid>
                <a:gridCol w="547158">
                  <a:extLst>
                    <a:ext uri="{9D8B030D-6E8A-4147-A177-3AD203B41FA5}">
                      <a16:colId xmlns:a16="http://schemas.microsoft.com/office/drawing/2014/main" val="20000"/>
                    </a:ext>
                  </a:extLst>
                </a:gridCol>
                <a:gridCol w="547158">
                  <a:extLst>
                    <a:ext uri="{9D8B030D-6E8A-4147-A177-3AD203B41FA5}">
                      <a16:colId xmlns:a16="http://schemas.microsoft.com/office/drawing/2014/main" val="20001"/>
                    </a:ext>
                  </a:extLst>
                </a:gridCol>
                <a:gridCol w="547158">
                  <a:extLst>
                    <a:ext uri="{9D8B030D-6E8A-4147-A177-3AD203B41FA5}">
                      <a16:colId xmlns:a16="http://schemas.microsoft.com/office/drawing/2014/main" val="20002"/>
                    </a:ext>
                  </a:extLst>
                </a:gridCol>
                <a:gridCol w="547158">
                  <a:extLst>
                    <a:ext uri="{9D8B030D-6E8A-4147-A177-3AD203B41FA5}">
                      <a16:colId xmlns:a16="http://schemas.microsoft.com/office/drawing/2014/main" val="20003"/>
                    </a:ext>
                  </a:extLst>
                </a:gridCol>
                <a:gridCol w="547158">
                  <a:extLst>
                    <a:ext uri="{9D8B030D-6E8A-4147-A177-3AD203B41FA5}">
                      <a16:colId xmlns:a16="http://schemas.microsoft.com/office/drawing/2014/main" val="20004"/>
                    </a:ext>
                  </a:extLst>
                </a:gridCol>
                <a:gridCol w="547158">
                  <a:extLst>
                    <a:ext uri="{9D8B030D-6E8A-4147-A177-3AD203B41FA5}">
                      <a16:colId xmlns:a16="http://schemas.microsoft.com/office/drawing/2014/main" val="20005"/>
                    </a:ext>
                  </a:extLst>
                </a:gridCol>
                <a:gridCol w="547158">
                  <a:extLst>
                    <a:ext uri="{9D8B030D-6E8A-4147-A177-3AD203B41FA5}">
                      <a16:colId xmlns:a16="http://schemas.microsoft.com/office/drawing/2014/main" val="20006"/>
                    </a:ext>
                  </a:extLst>
                </a:gridCol>
                <a:gridCol w="547158">
                  <a:extLst>
                    <a:ext uri="{9D8B030D-6E8A-4147-A177-3AD203B41FA5}">
                      <a16:colId xmlns:a16="http://schemas.microsoft.com/office/drawing/2014/main" val="20007"/>
                    </a:ext>
                  </a:extLst>
                </a:gridCol>
                <a:gridCol w="547158">
                  <a:extLst>
                    <a:ext uri="{9D8B030D-6E8A-4147-A177-3AD203B41FA5}">
                      <a16:colId xmlns:a16="http://schemas.microsoft.com/office/drawing/2014/main" val="20008"/>
                    </a:ext>
                  </a:extLst>
                </a:gridCol>
                <a:gridCol w="547158">
                  <a:extLst>
                    <a:ext uri="{9D8B030D-6E8A-4147-A177-3AD203B41FA5}">
                      <a16:colId xmlns:a16="http://schemas.microsoft.com/office/drawing/2014/main" val="20009"/>
                    </a:ext>
                  </a:extLst>
                </a:gridCol>
                <a:gridCol w="547158">
                  <a:extLst>
                    <a:ext uri="{9D8B030D-6E8A-4147-A177-3AD203B41FA5}">
                      <a16:colId xmlns:a16="http://schemas.microsoft.com/office/drawing/2014/main" val="20010"/>
                    </a:ext>
                  </a:extLst>
                </a:gridCol>
                <a:gridCol w="547158">
                  <a:extLst>
                    <a:ext uri="{9D8B030D-6E8A-4147-A177-3AD203B41FA5}">
                      <a16:colId xmlns:a16="http://schemas.microsoft.com/office/drawing/2014/main" val="20011"/>
                    </a:ext>
                  </a:extLst>
                </a:gridCol>
                <a:gridCol w="547158">
                  <a:extLst>
                    <a:ext uri="{9D8B030D-6E8A-4147-A177-3AD203B41FA5}">
                      <a16:colId xmlns:a16="http://schemas.microsoft.com/office/drawing/2014/main" val="20012"/>
                    </a:ext>
                  </a:extLst>
                </a:gridCol>
                <a:gridCol w="547158">
                  <a:extLst>
                    <a:ext uri="{9D8B030D-6E8A-4147-A177-3AD203B41FA5}">
                      <a16:colId xmlns:a16="http://schemas.microsoft.com/office/drawing/2014/main" val="3978892298"/>
                    </a:ext>
                  </a:extLst>
                </a:gridCol>
                <a:gridCol w="547158">
                  <a:extLst>
                    <a:ext uri="{9D8B030D-6E8A-4147-A177-3AD203B41FA5}">
                      <a16:colId xmlns:a16="http://schemas.microsoft.com/office/drawing/2014/main" val="20013"/>
                    </a:ext>
                  </a:extLst>
                </a:gridCol>
              </a:tblGrid>
              <a:tr h="370681">
                <a:tc>
                  <a:txBody>
                    <a:bodyPr/>
                    <a:lstStyle/>
                    <a:p>
                      <a:pPr algn="ctr"/>
                      <a:r>
                        <a:rPr lang="en-US" altLang="zh-CN" sz="1800" dirty="0">
                          <a:solidFill>
                            <a:schemeClr val="tx1"/>
                          </a:solidFill>
                        </a:rPr>
                        <a:t> 0</a:t>
                      </a:r>
                      <a:endParaRPr lang="zh-CN" altLang="en-US" sz="1800" dirty="0">
                        <a:solidFill>
                          <a:schemeClr val="tx1"/>
                        </a:solidFill>
                      </a:endParaRPr>
                    </a:p>
                  </a:txBody>
                  <a:tcPr marL="91428" marR="91428" marT="45700" marB="457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solidFill>
                            <a:schemeClr val="tx1"/>
                          </a:solidFill>
                        </a:rPr>
                        <a:t>1</a:t>
                      </a:r>
                      <a:endParaRPr lang="zh-CN" altLang="en-US" sz="1800" dirty="0">
                        <a:solidFill>
                          <a:schemeClr val="tx1"/>
                        </a:solidFill>
                      </a:endParaRPr>
                    </a:p>
                  </a:txBody>
                  <a:tcPr marL="91428" marR="91428" marT="45700" marB="457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solidFill>
                            <a:schemeClr val="tx1"/>
                          </a:solidFill>
                        </a:rPr>
                        <a:t>2</a:t>
                      </a:r>
                      <a:endParaRPr lang="zh-CN" altLang="en-US" sz="1800" dirty="0">
                        <a:solidFill>
                          <a:schemeClr val="tx1"/>
                        </a:solidFill>
                      </a:endParaRPr>
                    </a:p>
                  </a:txBody>
                  <a:tcPr marL="91428" marR="91428" marT="45700" marB="457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solidFill>
                            <a:schemeClr val="tx1"/>
                          </a:solidFill>
                        </a:rPr>
                        <a:t>3</a:t>
                      </a:r>
                      <a:endParaRPr lang="zh-CN" altLang="en-US" sz="1800" dirty="0">
                        <a:solidFill>
                          <a:schemeClr val="tx1"/>
                        </a:solidFill>
                      </a:endParaRPr>
                    </a:p>
                  </a:txBody>
                  <a:tcPr marL="91428" marR="91428" marT="45700" marB="457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solidFill>
                            <a:schemeClr val="tx1"/>
                          </a:solidFill>
                        </a:rPr>
                        <a:t>4</a:t>
                      </a:r>
                      <a:endParaRPr lang="zh-CN" altLang="en-US" sz="1800" dirty="0">
                        <a:solidFill>
                          <a:schemeClr val="tx1"/>
                        </a:solidFill>
                      </a:endParaRPr>
                    </a:p>
                  </a:txBody>
                  <a:tcPr marL="91428" marR="91428" marT="45700" marB="457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solidFill>
                            <a:schemeClr val="tx1"/>
                          </a:solidFill>
                        </a:rPr>
                        <a:t>5</a:t>
                      </a:r>
                      <a:endParaRPr lang="zh-CN" altLang="en-US" sz="1800" dirty="0">
                        <a:solidFill>
                          <a:schemeClr val="tx1"/>
                        </a:solidFill>
                      </a:endParaRPr>
                    </a:p>
                  </a:txBody>
                  <a:tcPr marL="91428" marR="91428" marT="45700" marB="457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solidFill>
                            <a:schemeClr val="tx1"/>
                          </a:solidFill>
                        </a:rPr>
                        <a:t>6</a:t>
                      </a:r>
                      <a:endParaRPr lang="zh-CN" altLang="en-US" sz="1800" dirty="0">
                        <a:solidFill>
                          <a:schemeClr val="tx1"/>
                        </a:solidFill>
                      </a:endParaRPr>
                    </a:p>
                  </a:txBody>
                  <a:tcPr marL="91428" marR="91428" marT="45700" marB="457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solidFill>
                            <a:schemeClr val="tx1"/>
                          </a:solidFill>
                        </a:rPr>
                        <a:t>7</a:t>
                      </a:r>
                      <a:endParaRPr lang="zh-CN" altLang="en-US" sz="1800" dirty="0">
                        <a:solidFill>
                          <a:schemeClr val="tx1"/>
                        </a:solidFill>
                      </a:endParaRPr>
                    </a:p>
                  </a:txBody>
                  <a:tcPr marL="91428" marR="91428" marT="45700" marB="457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solidFill>
                            <a:schemeClr val="tx1"/>
                          </a:solidFill>
                        </a:rPr>
                        <a:t>8</a:t>
                      </a:r>
                      <a:endParaRPr lang="zh-CN" altLang="en-US" sz="1800" dirty="0">
                        <a:solidFill>
                          <a:schemeClr val="tx1"/>
                        </a:solidFill>
                      </a:endParaRPr>
                    </a:p>
                  </a:txBody>
                  <a:tcPr marL="91428" marR="91428" marT="45700" marB="457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solidFill>
                            <a:schemeClr val="tx1"/>
                          </a:solidFill>
                        </a:rPr>
                        <a:t>9</a:t>
                      </a:r>
                      <a:endParaRPr lang="zh-CN" altLang="en-US" sz="1800" dirty="0">
                        <a:solidFill>
                          <a:schemeClr val="tx1"/>
                        </a:solidFill>
                      </a:endParaRPr>
                    </a:p>
                  </a:txBody>
                  <a:tcPr marL="91428" marR="91428" marT="45700" marB="457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solidFill>
                            <a:schemeClr val="tx1"/>
                          </a:solidFill>
                        </a:rPr>
                        <a:t>10</a:t>
                      </a:r>
                      <a:endParaRPr lang="zh-CN" altLang="en-US" sz="1800" dirty="0">
                        <a:solidFill>
                          <a:schemeClr val="tx1"/>
                        </a:solidFill>
                      </a:endParaRPr>
                    </a:p>
                  </a:txBody>
                  <a:tcPr marL="91428" marR="91428" marT="45700" marB="457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solidFill>
                            <a:schemeClr val="tx1"/>
                          </a:solidFill>
                        </a:rPr>
                        <a:t>11</a:t>
                      </a:r>
                      <a:endParaRPr lang="zh-CN" altLang="en-US" sz="1800" dirty="0">
                        <a:solidFill>
                          <a:schemeClr val="tx1"/>
                        </a:solidFill>
                      </a:endParaRPr>
                    </a:p>
                  </a:txBody>
                  <a:tcPr marL="91428" marR="91428" marT="45700" marB="457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solidFill>
                            <a:schemeClr val="tx1"/>
                          </a:solidFill>
                        </a:rPr>
                        <a:t>12</a:t>
                      </a:r>
                      <a:endParaRPr lang="zh-CN" altLang="en-US" sz="1800" dirty="0">
                        <a:solidFill>
                          <a:schemeClr val="tx1"/>
                        </a:solidFill>
                      </a:endParaRPr>
                    </a:p>
                  </a:txBody>
                  <a:tcPr marL="91428" marR="91428" marT="45700" marB="457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solidFill>
                            <a:schemeClr val="tx1"/>
                          </a:solidFill>
                        </a:rPr>
                        <a:t>13</a:t>
                      </a:r>
                      <a:endParaRPr lang="zh-CN" altLang="en-US" sz="1800" dirty="0">
                        <a:solidFill>
                          <a:schemeClr val="tx1"/>
                        </a:solidFill>
                      </a:endParaRPr>
                    </a:p>
                  </a:txBody>
                  <a:tcPr marL="91428" marR="91428" marT="45700" marB="457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solidFill>
                            <a:schemeClr val="tx1"/>
                          </a:solidFill>
                        </a:rPr>
                        <a:t>14</a:t>
                      </a:r>
                      <a:endParaRPr lang="zh-CN" altLang="en-US" sz="1800" dirty="0">
                        <a:solidFill>
                          <a:schemeClr val="tx1"/>
                        </a:solidFill>
                      </a:endParaRPr>
                    </a:p>
                  </a:txBody>
                  <a:tcPr marL="91428" marR="91428" marT="45700" marB="457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681">
                <a:tc>
                  <a:txBody>
                    <a:bodyPr/>
                    <a:lstStyle/>
                    <a:p>
                      <a:pPr algn="ctr"/>
                      <a:r>
                        <a:rPr lang="en-US" altLang="zh-CN" sz="2400" dirty="0">
                          <a:solidFill>
                            <a:schemeClr val="tx1"/>
                          </a:solidFill>
                        </a:rPr>
                        <a:t>A</a:t>
                      </a:r>
                      <a:endParaRPr lang="zh-CN" altLang="en-US" sz="2400" dirty="0">
                        <a:solidFill>
                          <a:schemeClr val="tx1"/>
                        </a:solidFill>
                      </a:endParaRPr>
                    </a:p>
                  </a:txBody>
                  <a:tcPr marL="91428" marR="91428" marT="45700" marB="457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solidFill>
                            <a:schemeClr val="tx1"/>
                          </a:solidFill>
                        </a:rPr>
                        <a:t>B</a:t>
                      </a:r>
                      <a:endParaRPr lang="zh-CN" altLang="en-US" sz="2400" dirty="0">
                        <a:solidFill>
                          <a:schemeClr val="tx1"/>
                        </a:solidFill>
                      </a:endParaRPr>
                    </a:p>
                  </a:txBody>
                  <a:tcPr marL="91428" marR="91428" marT="45700" marB="457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solidFill>
                            <a:schemeClr val="tx1"/>
                          </a:solidFill>
                        </a:rPr>
                        <a:t>D</a:t>
                      </a:r>
                      <a:endParaRPr lang="zh-CN" altLang="en-US" sz="2400" dirty="0">
                        <a:solidFill>
                          <a:schemeClr val="tx1"/>
                        </a:solidFill>
                      </a:endParaRPr>
                    </a:p>
                  </a:txBody>
                  <a:tcPr marL="91428" marR="91428" marT="45700" marB="457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solidFill>
                            <a:schemeClr val="tx1"/>
                          </a:solidFill>
                        </a:rPr>
                        <a:t>#</a:t>
                      </a:r>
                      <a:endParaRPr lang="zh-CN" altLang="en-US" sz="2400" dirty="0">
                        <a:solidFill>
                          <a:schemeClr val="tx1"/>
                        </a:solidFill>
                      </a:endParaRPr>
                    </a:p>
                  </a:txBody>
                  <a:tcPr marL="91428" marR="91428" marT="45700" marB="457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solidFill>
                            <a:schemeClr val="tx1"/>
                          </a:solidFill>
                        </a:rPr>
                        <a:t>C</a:t>
                      </a:r>
                      <a:endParaRPr lang="zh-CN" altLang="en-US" sz="2400" dirty="0">
                        <a:solidFill>
                          <a:schemeClr val="tx1"/>
                        </a:solidFill>
                      </a:endParaRPr>
                    </a:p>
                  </a:txBody>
                  <a:tcPr marL="91428" marR="91428" marT="45700" marB="457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solidFill>
                            <a:schemeClr val="tx1"/>
                          </a:solidFill>
                        </a:rPr>
                        <a:t>#</a:t>
                      </a:r>
                      <a:endParaRPr lang="zh-CN" altLang="en-US" sz="2400" dirty="0">
                        <a:solidFill>
                          <a:schemeClr val="tx1"/>
                        </a:solidFill>
                      </a:endParaRPr>
                    </a:p>
                  </a:txBody>
                  <a:tcPr marL="91428" marR="91428" marT="45700" marB="457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solidFill>
                            <a:schemeClr val="tx1"/>
                          </a:solidFill>
                        </a:rPr>
                        <a:t>E</a:t>
                      </a:r>
                      <a:endParaRPr lang="zh-CN" altLang="en-US" sz="2400" dirty="0">
                        <a:solidFill>
                          <a:schemeClr val="tx1"/>
                        </a:solidFill>
                      </a:endParaRPr>
                    </a:p>
                  </a:txBody>
                  <a:tcPr marL="91428" marR="91428" marT="45700" marB="457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solidFill>
                            <a:schemeClr val="tx1"/>
                          </a:solidFill>
                        </a:rPr>
                        <a:t>#</a:t>
                      </a:r>
                      <a:endParaRPr lang="zh-CN" altLang="en-US" sz="2400" dirty="0">
                        <a:solidFill>
                          <a:schemeClr val="tx1"/>
                        </a:solidFill>
                      </a:endParaRPr>
                    </a:p>
                  </a:txBody>
                  <a:tcPr marL="91428" marR="91428" marT="45700" marB="457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solidFill>
                            <a:schemeClr val="tx1"/>
                          </a:solidFill>
                        </a:rPr>
                        <a:t>#</a:t>
                      </a:r>
                      <a:endParaRPr lang="zh-CN" altLang="en-US" sz="2400" dirty="0">
                        <a:solidFill>
                          <a:schemeClr val="tx1"/>
                        </a:solidFill>
                      </a:endParaRPr>
                    </a:p>
                  </a:txBody>
                  <a:tcPr marL="91428" marR="91428" marT="45700" marB="457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solidFill>
                            <a:schemeClr val="tx1"/>
                          </a:solidFill>
                        </a:rPr>
                        <a:t>#</a:t>
                      </a:r>
                      <a:endParaRPr lang="zh-CN" altLang="en-US" sz="2400" dirty="0">
                        <a:solidFill>
                          <a:schemeClr val="tx1"/>
                        </a:solidFill>
                      </a:endParaRPr>
                    </a:p>
                  </a:txBody>
                  <a:tcPr marL="91428" marR="91428" marT="45700" marB="457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solidFill>
                            <a:schemeClr val="tx1"/>
                          </a:solidFill>
                        </a:rPr>
                        <a:t>#</a:t>
                      </a:r>
                      <a:endParaRPr lang="zh-CN" altLang="en-US" sz="2400" dirty="0">
                        <a:solidFill>
                          <a:schemeClr val="tx1"/>
                        </a:solidFill>
                      </a:endParaRPr>
                    </a:p>
                  </a:txBody>
                  <a:tcPr marL="91428" marR="91428" marT="45700" marB="457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solidFill>
                            <a:schemeClr val="tx1"/>
                          </a:solidFill>
                        </a:rPr>
                        <a:t>#</a:t>
                      </a:r>
                      <a:endParaRPr lang="zh-CN" altLang="en-US" sz="2400" dirty="0">
                        <a:solidFill>
                          <a:schemeClr val="tx1"/>
                        </a:solidFill>
                      </a:endParaRPr>
                    </a:p>
                  </a:txBody>
                  <a:tcPr marL="91428" marR="91428" marT="45700" marB="457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solidFill>
                            <a:schemeClr val="tx1"/>
                          </a:solidFill>
                        </a:rPr>
                        <a:t>#</a:t>
                      </a:r>
                      <a:endParaRPr lang="zh-CN" altLang="en-US" sz="2400" dirty="0">
                        <a:solidFill>
                          <a:schemeClr val="tx1"/>
                        </a:solidFill>
                      </a:endParaRPr>
                    </a:p>
                  </a:txBody>
                  <a:tcPr marL="91428" marR="91428" marT="45700" marB="457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solidFill>
                            <a:schemeClr val="tx1"/>
                          </a:solidFill>
                        </a:rPr>
                        <a:t>#</a:t>
                      </a:r>
                      <a:endParaRPr lang="zh-CN" altLang="en-US" sz="2400" dirty="0">
                        <a:solidFill>
                          <a:schemeClr val="tx1"/>
                        </a:solidFill>
                      </a:endParaRPr>
                    </a:p>
                  </a:txBody>
                  <a:tcPr marL="91428" marR="91428" marT="45700" marB="457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solidFill>
                            <a:schemeClr val="tx1"/>
                          </a:solidFill>
                        </a:rPr>
                        <a:t>F</a:t>
                      </a:r>
                      <a:endParaRPr lang="zh-CN" altLang="en-US" sz="2400" dirty="0">
                        <a:solidFill>
                          <a:schemeClr val="tx1"/>
                        </a:solidFill>
                      </a:endParaRPr>
                    </a:p>
                  </a:txBody>
                  <a:tcPr marL="91428" marR="91428" marT="45700" marB="457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2" name="Text Box 3">
            <a:extLst>
              <a:ext uri="{FF2B5EF4-FFF2-40B4-BE49-F238E27FC236}">
                <a16:creationId xmlns:a16="http://schemas.microsoft.com/office/drawing/2014/main" id="{8678FE7A-BA1A-4212-8422-02423C58BC63}"/>
              </a:ext>
            </a:extLst>
          </p:cNvPr>
          <p:cNvSpPr txBox="1">
            <a:spLocks noChangeArrowheads="1"/>
          </p:cNvSpPr>
          <p:nvPr/>
        </p:nvSpPr>
        <p:spPr bwMode="auto">
          <a:xfrm>
            <a:off x="1411727" y="232404"/>
            <a:ext cx="6974986"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4400" i="0" dirty="0">
                <a:solidFill>
                  <a:schemeClr val="tx2"/>
                </a:solidFill>
                <a:ea typeface="隶书" pitchFamily="49" charset="-122"/>
              </a:rPr>
              <a:t>二叉树的顺序存储表示举例</a:t>
            </a:r>
          </a:p>
        </p:txBody>
      </p:sp>
      <p:sp>
        <p:nvSpPr>
          <p:cNvPr id="8" name="Line 8">
            <a:extLst>
              <a:ext uri="{FF2B5EF4-FFF2-40B4-BE49-F238E27FC236}">
                <a16:creationId xmlns:a16="http://schemas.microsoft.com/office/drawing/2014/main" id="{475A5E2C-8208-F34B-B107-29ADD1F3B14C}"/>
              </a:ext>
            </a:extLst>
          </p:cNvPr>
          <p:cNvSpPr>
            <a:spLocks noChangeShapeType="1"/>
          </p:cNvSpPr>
          <p:nvPr/>
        </p:nvSpPr>
        <p:spPr bwMode="auto">
          <a:xfrm flipH="1">
            <a:off x="3375070" y="2004520"/>
            <a:ext cx="322241" cy="325133"/>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p>
        </p:txBody>
      </p:sp>
      <p:sp>
        <p:nvSpPr>
          <p:cNvPr id="9" name="Line 9">
            <a:extLst>
              <a:ext uri="{FF2B5EF4-FFF2-40B4-BE49-F238E27FC236}">
                <a16:creationId xmlns:a16="http://schemas.microsoft.com/office/drawing/2014/main" id="{CFD0BF09-576D-3CDD-4AB3-6F47A33D17DF}"/>
              </a:ext>
            </a:extLst>
          </p:cNvPr>
          <p:cNvSpPr>
            <a:spLocks noChangeShapeType="1"/>
          </p:cNvSpPr>
          <p:nvPr/>
        </p:nvSpPr>
        <p:spPr bwMode="auto">
          <a:xfrm>
            <a:off x="4233225" y="2025089"/>
            <a:ext cx="470816" cy="31357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Line 10">
            <a:extLst>
              <a:ext uri="{FF2B5EF4-FFF2-40B4-BE49-F238E27FC236}">
                <a16:creationId xmlns:a16="http://schemas.microsoft.com/office/drawing/2014/main" id="{D5F177A3-22B3-AB89-9E3F-C0F221674B4A}"/>
              </a:ext>
            </a:extLst>
          </p:cNvPr>
          <p:cNvSpPr>
            <a:spLocks noChangeShapeType="1"/>
          </p:cNvSpPr>
          <p:nvPr/>
        </p:nvSpPr>
        <p:spPr bwMode="auto">
          <a:xfrm>
            <a:off x="3286355" y="2677198"/>
            <a:ext cx="279836" cy="29704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Oval 11" descr="羊皮纸">
            <a:extLst>
              <a:ext uri="{FF2B5EF4-FFF2-40B4-BE49-F238E27FC236}">
                <a16:creationId xmlns:a16="http://schemas.microsoft.com/office/drawing/2014/main" id="{E94CB60A-D0C6-7309-B06C-B92AD574889F}"/>
              </a:ext>
            </a:extLst>
          </p:cNvPr>
          <p:cNvSpPr>
            <a:spLocks noChangeArrowheads="1"/>
          </p:cNvSpPr>
          <p:nvPr/>
        </p:nvSpPr>
        <p:spPr bwMode="auto">
          <a:xfrm>
            <a:off x="3751431" y="1731938"/>
            <a:ext cx="460529" cy="352669"/>
          </a:xfrm>
          <a:prstGeom prst="ellipse">
            <a:avLst/>
          </a:prstGeom>
          <a:blipFill dpi="0" rotWithShape="0">
            <a:blip r:embed="rId3"/>
            <a:srcRect/>
            <a:tile tx="0" ty="0" sx="100000" sy="100000" flip="none" algn="tl"/>
          </a:blipFill>
          <a:ln w="381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2400" b="0" i="0" dirty="0">
                <a:latin typeface="+mn-ea"/>
                <a:ea typeface="+mn-ea"/>
              </a:rPr>
              <a:t>A</a:t>
            </a:r>
            <a:endParaRPr lang="zh-CN" altLang="en-US" sz="2400" b="0" i="0" dirty="0">
              <a:latin typeface="+mn-ea"/>
              <a:ea typeface="+mn-ea"/>
            </a:endParaRPr>
          </a:p>
        </p:txBody>
      </p:sp>
      <p:sp>
        <p:nvSpPr>
          <p:cNvPr id="12" name="Oval 12" descr="羊皮纸">
            <a:extLst>
              <a:ext uri="{FF2B5EF4-FFF2-40B4-BE49-F238E27FC236}">
                <a16:creationId xmlns:a16="http://schemas.microsoft.com/office/drawing/2014/main" id="{C93E5451-28F0-1B72-4970-9F02CF6AA264}"/>
              </a:ext>
            </a:extLst>
          </p:cNvPr>
          <p:cNvSpPr>
            <a:spLocks noChangeArrowheads="1"/>
          </p:cNvSpPr>
          <p:nvPr/>
        </p:nvSpPr>
        <p:spPr bwMode="auto">
          <a:xfrm>
            <a:off x="2990530" y="2318605"/>
            <a:ext cx="460529" cy="352669"/>
          </a:xfrm>
          <a:prstGeom prst="ellipse">
            <a:avLst/>
          </a:prstGeom>
          <a:blipFill dpi="0" rotWithShape="0">
            <a:blip r:embed="rId3"/>
            <a:srcRect/>
            <a:tile tx="0" ty="0" sx="100000" sy="100000" flip="none" algn="tl"/>
          </a:blipFill>
          <a:ln w="381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2400" b="0" i="0" dirty="0">
                <a:latin typeface="+mn-ea"/>
                <a:ea typeface="+mn-ea"/>
              </a:rPr>
              <a:t>B</a:t>
            </a:r>
            <a:endParaRPr lang="zh-CN" altLang="en-US" sz="2400" b="0" i="0" dirty="0">
              <a:latin typeface="+mn-ea"/>
              <a:ea typeface="+mn-ea"/>
            </a:endParaRPr>
          </a:p>
        </p:txBody>
      </p:sp>
      <p:sp>
        <p:nvSpPr>
          <p:cNvPr id="13" name="Oval 13" descr="羊皮纸">
            <a:extLst>
              <a:ext uri="{FF2B5EF4-FFF2-40B4-BE49-F238E27FC236}">
                <a16:creationId xmlns:a16="http://schemas.microsoft.com/office/drawing/2014/main" id="{85F11253-B379-EB32-83E1-F945E9C9B1CA}"/>
              </a:ext>
            </a:extLst>
          </p:cNvPr>
          <p:cNvSpPr>
            <a:spLocks noChangeArrowheads="1"/>
          </p:cNvSpPr>
          <p:nvPr/>
        </p:nvSpPr>
        <p:spPr bwMode="auto">
          <a:xfrm>
            <a:off x="3412681" y="2998995"/>
            <a:ext cx="460529" cy="352669"/>
          </a:xfrm>
          <a:prstGeom prst="ellipse">
            <a:avLst/>
          </a:prstGeom>
          <a:blipFill dpi="0" rotWithShape="0">
            <a:blip r:embed="rId3"/>
            <a:srcRect/>
            <a:tile tx="0" ty="0" sx="100000" sy="100000" flip="none" algn="tl"/>
          </a:blipFill>
          <a:ln w="381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2400" b="0" i="0" dirty="0">
                <a:latin typeface="+mn-ea"/>
                <a:ea typeface="+mn-ea"/>
              </a:rPr>
              <a:t>C</a:t>
            </a:r>
            <a:endParaRPr lang="zh-CN" altLang="en-US" sz="2400" b="0" i="0" dirty="0">
              <a:latin typeface="+mn-ea"/>
              <a:ea typeface="+mn-ea"/>
            </a:endParaRPr>
          </a:p>
        </p:txBody>
      </p:sp>
      <p:sp>
        <p:nvSpPr>
          <p:cNvPr id="14" name="Oval 14" descr="羊皮纸">
            <a:extLst>
              <a:ext uri="{FF2B5EF4-FFF2-40B4-BE49-F238E27FC236}">
                <a16:creationId xmlns:a16="http://schemas.microsoft.com/office/drawing/2014/main" id="{6B807167-4671-202E-3DF6-C52474CCD3C9}"/>
              </a:ext>
            </a:extLst>
          </p:cNvPr>
          <p:cNvSpPr>
            <a:spLocks noChangeArrowheads="1"/>
          </p:cNvSpPr>
          <p:nvPr/>
        </p:nvSpPr>
        <p:spPr bwMode="auto">
          <a:xfrm>
            <a:off x="4616291" y="2307120"/>
            <a:ext cx="460529" cy="352669"/>
          </a:xfrm>
          <a:prstGeom prst="ellipse">
            <a:avLst/>
          </a:prstGeom>
          <a:blipFill dpi="0" rotWithShape="0">
            <a:blip r:embed="rId3"/>
            <a:srcRect/>
            <a:tile tx="0" ty="0" sx="100000" sy="100000" flip="none" algn="tl"/>
          </a:blipFill>
          <a:ln w="381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2000" i="0" dirty="0">
                <a:latin typeface="+mn-ea"/>
                <a:ea typeface="+mn-ea"/>
              </a:rPr>
              <a:t>D</a:t>
            </a:r>
            <a:endParaRPr lang="zh-CN" altLang="en-US" sz="2000" i="0" dirty="0">
              <a:latin typeface="+mn-ea"/>
              <a:ea typeface="+mn-ea"/>
            </a:endParaRPr>
          </a:p>
        </p:txBody>
      </p:sp>
      <p:sp>
        <p:nvSpPr>
          <p:cNvPr id="15" name="Oval 15" descr="羊皮纸">
            <a:extLst>
              <a:ext uri="{FF2B5EF4-FFF2-40B4-BE49-F238E27FC236}">
                <a16:creationId xmlns:a16="http://schemas.microsoft.com/office/drawing/2014/main" id="{EE4133D9-F7DE-42E2-DE60-98B6E5378AD4}"/>
              </a:ext>
            </a:extLst>
          </p:cNvPr>
          <p:cNvSpPr>
            <a:spLocks noChangeArrowheads="1"/>
          </p:cNvSpPr>
          <p:nvPr/>
        </p:nvSpPr>
        <p:spPr bwMode="auto">
          <a:xfrm>
            <a:off x="5967738" y="3670788"/>
            <a:ext cx="460529" cy="352669"/>
          </a:xfrm>
          <a:prstGeom prst="ellipse">
            <a:avLst/>
          </a:prstGeom>
          <a:blipFill dpi="0" rotWithShape="0">
            <a:blip r:embed="rId3"/>
            <a:srcRect/>
            <a:tile tx="0" ty="0" sx="100000" sy="100000" flip="none" algn="tl"/>
          </a:blipFill>
          <a:ln w="381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2400" b="0" i="0" dirty="0">
                <a:latin typeface="+mn-ea"/>
                <a:ea typeface="+mn-ea"/>
              </a:rPr>
              <a:t>F</a:t>
            </a:r>
            <a:endParaRPr lang="zh-CN" altLang="en-US" sz="2400" b="0" i="0" dirty="0">
              <a:latin typeface="+mn-ea"/>
              <a:ea typeface="+mn-ea"/>
            </a:endParaRPr>
          </a:p>
        </p:txBody>
      </p:sp>
      <p:sp>
        <p:nvSpPr>
          <p:cNvPr id="16" name="Oval 16" descr="羊皮纸">
            <a:extLst>
              <a:ext uri="{FF2B5EF4-FFF2-40B4-BE49-F238E27FC236}">
                <a16:creationId xmlns:a16="http://schemas.microsoft.com/office/drawing/2014/main" id="{69230490-0910-534E-F13B-AE7B581BA1E4}"/>
              </a:ext>
            </a:extLst>
          </p:cNvPr>
          <p:cNvSpPr>
            <a:spLocks noChangeArrowheads="1"/>
          </p:cNvSpPr>
          <p:nvPr/>
        </p:nvSpPr>
        <p:spPr bwMode="auto">
          <a:xfrm>
            <a:off x="5232414" y="2910038"/>
            <a:ext cx="460529" cy="352669"/>
          </a:xfrm>
          <a:prstGeom prst="ellipse">
            <a:avLst/>
          </a:prstGeom>
          <a:blipFill dpi="0" rotWithShape="0">
            <a:blip r:embed="rId3"/>
            <a:srcRect/>
            <a:tile tx="0" ty="0" sx="100000" sy="100000" flip="none" algn="tl"/>
          </a:blipFill>
          <a:ln w="381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2400" b="0" i="0" dirty="0">
                <a:latin typeface="+mn-ea"/>
                <a:ea typeface="+mn-ea"/>
              </a:rPr>
              <a:t>E</a:t>
            </a:r>
            <a:endParaRPr lang="zh-CN" altLang="en-US" sz="2400" b="0" i="0" dirty="0">
              <a:latin typeface="+mn-ea"/>
              <a:ea typeface="+mn-ea"/>
            </a:endParaRPr>
          </a:p>
        </p:txBody>
      </p:sp>
      <p:sp>
        <p:nvSpPr>
          <p:cNvPr id="23" name="Line 23">
            <a:extLst>
              <a:ext uri="{FF2B5EF4-FFF2-40B4-BE49-F238E27FC236}">
                <a16:creationId xmlns:a16="http://schemas.microsoft.com/office/drawing/2014/main" id="{687ED039-7D34-EB36-EB4E-1CA6527D7D46}"/>
              </a:ext>
            </a:extLst>
          </p:cNvPr>
          <p:cNvSpPr>
            <a:spLocks noChangeShapeType="1"/>
          </p:cNvSpPr>
          <p:nvPr/>
        </p:nvSpPr>
        <p:spPr bwMode="auto">
          <a:xfrm flipH="1">
            <a:off x="3873210" y="1497940"/>
            <a:ext cx="230264" cy="233998"/>
          </a:xfrm>
          <a:prstGeom prst="line">
            <a:avLst/>
          </a:prstGeom>
          <a:noFill/>
          <a:ln w="381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Text Box 24">
            <a:extLst>
              <a:ext uri="{FF2B5EF4-FFF2-40B4-BE49-F238E27FC236}">
                <a16:creationId xmlns:a16="http://schemas.microsoft.com/office/drawing/2014/main" id="{D2EDC757-08F1-FDB5-8BAA-7872BBC5C8CD}"/>
              </a:ext>
            </a:extLst>
          </p:cNvPr>
          <p:cNvSpPr txBox="1">
            <a:spLocks noChangeArrowheads="1"/>
          </p:cNvSpPr>
          <p:nvPr/>
        </p:nvSpPr>
        <p:spPr bwMode="auto">
          <a:xfrm>
            <a:off x="3932376" y="1100143"/>
            <a:ext cx="639623" cy="4178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a:latin typeface="Times New Roman" panose="02020603050405020304" pitchFamily="18" charset="0"/>
              </a:rPr>
              <a:t>root</a:t>
            </a:r>
            <a:endParaRPr lang="en-US" altLang="zh-CN" sz="2000">
              <a:latin typeface="Times New Roman" panose="02020603050405020304" pitchFamily="18" charset="0"/>
            </a:endParaRPr>
          </a:p>
        </p:txBody>
      </p:sp>
      <p:sp>
        <p:nvSpPr>
          <p:cNvPr id="25" name="Line 10">
            <a:extLst>
              <a:ext uri="{FF2B5EF4-FFF2-40B4-BE49-F238E27FC236}">
                <a16:creationId xmlns:a16="http://schemas.microsoft.com/office/drawing/2014/main" id="{64E0F923-4548-496A-1A0B-87F2A352ED3D}"/>
              </a:ext>
            </a:extLst>
          </p:cNvPr>
          <p:cNvSpPr>
            <a:spLocks noChangeShapeType="1"/>
          </p:cNvSpPr>
          <p:nvPr/>
        </p:nvSpPr>
        <p:spPr bwMode="auto">
          <a:xfrm>
            <a:off x="5005705" y="2640149"/>
            <a:ext cx="359756" cy="29704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Line 10">
            <a:extLst>
              <a:ext uri="{FF2B5EF4-FFF2-40B4-BE49-F238E27FC236}">
                <a16:creationId xmlns:a16="http://schemas.microsoft.com/office/drawing/2014/main" id="{7B132B51-2E9D-FB26-8479-8A0CB5F32091}"/>
              </a:ext>
            </a:extLst>
          </p:cNvPr>
          <p:cNvSpPr>
            <a:spLocks noChangeShapeType="1"/>
          </p:cNvSpPr>
          <p:nvPr/>
        </p:nvSpPr>
        <p:spPr bwMode="auto">
          <a:xfrm>
            <a:off x="5627363" y="3287652"/>
            <a:ext cx="359756" cy="29704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Line 10">
            <a:extLst>
              <a:ext uri="{FF2B5EF4-FFF2-40B4-BE49-F238E27FC236}">
                <a16:creationId xmlns:a16="http://schemas.microsoft.com/office/drawing/2014/main" id="{0F9C14C3-E4A5-8CBE-DD82-9185A3673C74}"/>
              </a:ext>
            </a:extLst>
          </p:cNvPr>
          <p:cNvSpPr>
            <a:spLocks noChangeShapeType="1"/>
          </p:cNvSpPr>
          <p:nvPr/>
        </p:nvSpPr>
        <p:spPr bwMode="auto">
          <a:xfrm flipH="1">
            <a:off x="4559418" y="2687496"/>
            <a:ext cx="271130" cy="288475"/>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 name="Oval 16" descr="羊皮纸">
            <a:extLst>
              <a:ext uri="{FF2B5EF4-FFF2-40B4-BE49-F238E27FC236}">
                <a16:creationId xmlns:a16="http://schemas.microsoft.com/office/drawing/2014/main" id="{46D99480-05F0-11F6-3757-4CB382CFF74C}"/>
              </a:ext>
            </a:extLst>
          </p:cNvPr>
          <p:cNvSpPr>
            <a:spLocks noChangeArrowheads="1"/>
          </p:cNvSpPr>
          <p:nvPr/>
        </p:nvSpPr>
        <p:spPr bwMode="auto">
          <a:xfrm>
            <a:off x="4283968" y="2996952"/>
            <a:ext cx="384685" cy="369641"/>
          </a:xfrm>
          <a:prstGeom prst="ellipse">
            <a:avLst/>
          </a:prstGeom>
          <a:noFill/>
          <a:ln w="38100">
            <a:noFill/>
            <a:round/>
            <a:headEnd/>
            <a:tailEnd/>
          </a:ln>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2400" b="0" i="0" dirty="0">
                <a:latin typeface="+mn-ea"/>
                <a:ea typeface="+mn-ea"/>
              </a:rPr>
              <a:t>#</a:t>
            </a:r>
            <a:endParaRPr lang="zh-CN" altLang="en-US" sz="2400" b="0" i="0" dirty="0">
              <a:latin typeface="+mn-ea"/>
              <a:ea typeface="+mn-ea"/>
            </a:endParaRPr>
          </a:p>
        </p:txBody>
      </p:sp>
      <p:sp>
        <p:nvSpPr>
          <p:cNvPr id="29" name="Line 10">
            <a:extLst>
              <a:ext uri="{FF2B5EF4-FFF2-40B4-BE49-F238E27FC236}">
                <a16:creationId xmlns:a16="http://schemas.microsoft.com/office/drawing/2014/main" id="{B4F3BFEB-DE4F-4C76-81B1-E5A535E7F2F4}"/>
              </a:ext>
            </a:extLst>
          </p:cNvPr>
          <p:cNvSpPr>
            <a:spLocks noChangeShapeType="1"/>
          </p:cNvSpPr>
          <p:nvPr/>
        </p:nvSpPr>
        <p:spPr bwMode="auto">
          <a:xfrm flipH="1">
            <a:off x="2623111" y="2640149"/>
            <a:ext cx="342391" cy="35266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 name="Oval 16" descr="羊皮纸">
            <a:extLst>
              <a:ext uri="{FF2B5EF4-FFF2-40B4-BE49-F238E27FC236}">
                <a16:creationId xmlns:a16="http://schemas.microsoft.com/office/drawing/2014/main" id="{9D6EE2DA-91AC-F551-6E39-C7311606DEF3}"/>
              </a:ext>
            </a:extLst>
          </p:cNvPr>
          <p:cNvSpPr>
            <a:spLocks noChangeArrowheads="1"/>
          </p:cNvSpPr>
          <p:nvPr/>
        </p:nvSpPr>
        <p:spPr bwMode="auto">
          <a:xfrm>
            <a:off x="2381440" y="3001084"/>
            <a:ext cx="460529" cy="352669"/>
          </a:xfrm>
          <a:prstGeom prst="ellipse">
            <a:avLst/>
          </a:prstGeom>
          <a:noFill/>
          <a:ln w="38100">
            <a:noFill/>
            <a:round/>
            <a:headEnd/>
            <a:tailEnd/>
          </a:ln>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2400" b="0" i="0" dirty="0">
                <a:latin typeface="+mn-ea"/>
                <a:ea typeface="+mn-ea"/>
              </a:rPr>
              <a:t>#</a:t>
            </a:r>
            <a:endParaRPr lang="zh-CN" altLang="en-US" sz="2400" b="0" i="0" dirty="0">
              <a:latin typeface="+mn-ea"/>
              <a:ea typeface="+mn-ea"/>
            </a:endParaRPr>
          </a:p>
        </p:txBody>
      </p:sp>
      <p:sp>
        <p:nvSpPr>
          <p:cNvPr id="31" name="Line 10">
            <a:extLst>
              <a:ext uri="{FF2B5EF4-FFF2-40B4-BE49-F238E27FC236}">
                <a16:creationId xmlns:a16="http://schemas.microsoft.com/office/drawing/2014/main" id="{3490F1E3-A608-7639-B642-8ECA1A41FE08}"/>
              </a:ext>
            </a:extLst>
          </p:cNvPr>
          <p:cNvSpPr>
            <a:spLocks noChangeShapeType="1"/>
          </p:cNvSpPr>
          <p:nvPr/>
        </p:nvSpPr>
        <p:spPr bwMode="auto">
          <a:xfrm flipH="1">
            <a:off x="2122363" y="3322629"/>
            <a:ext cx="342197" cy="35266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Oval 16" descr="羊皮纸">
            <a:extLst>
              <a:ext uri="{FF2B5EF4-FFF2-40B4-BE49-F238E27FC236}">
                <a16:creationId xmlns:a16="http://schemas.microsoft.com/office/drawing/2014/main" id="{4A77737C-FD93-79CD-3DA3-93523051937E}"/>
              </a:ext>
            </a:extLst>
          </p:cNvPr>
          <p:cNvSpPr>
            <a:spLocks noChangeArrowheads="1"/>
          </p:cNvSpPr>
          <p:nvPr/>
        </p:nvSpPr>
        <p:spPr bwMode="auto">
          <a:xfrm>
            <a:off x="1880692" y="3683564"/>
            <a:ext cx="460529" cy="352669"/>
          </a:xfrm>
          <a:prstGeom prst="ellipse">
            <a:avLst/>
          </a:prstGeom>
          <a:noFill/>
          <a:ln w="38100">
            <a:noFill/>
            <a:round/>
            <a:headEnd/>
            <a:tailEnd/>
          </a:ln>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2400" b="0" i="0" dirty="0">
                <a:latin typeface="+mn-ea"/>
                <a:ea typeface="+mn-ea"/>
              </a:rPr>
              <a:t>#</a:t>
            </a:r>
            <a:endParaRPr lang="zh-CN" altLang="en-US" sz="2400" b="0" i="0" dirty="0">
              <a:latin typeface="+mn-ea"/>
              <a:ea typeface="+mn-ea"/>
            </a:endParaRPr>
          </a:p>
        </p:txBody>
      </p:sp>
      <p:sp>
        <p:nvSpPr>
          <p:cNvPr id="33" name="Line 10">
            <a:extLst>
              <a:ext uri="{FF2B5EF4-FFF2-40B4-BE49-F238E27FC236}">
                <a16:creationId xmlns:a16="http://schemas.microsoft.com/office/drawing/2014/main" id="{DCDA9CF9-1423-FD67-9B03-EE47CD727C0B}"/>
              </a:ext>
            </a:extLst>
          </p:cNvPr>
          <p:cNvSpPr>
            <a:spLocks noChangeShapeType="1"/>
          </p:cNvSpPr>
          <p:nvPr/>
        </p:nvSpPr>
        <p:spPr bwMode="auto">
          <a:xfrm>
            <a:off x="2723636" y="3322627"/>
            <a:ext cx="159665" cy="35267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 name="Oval 16" descr="羊皮纸">
            <a:extLst>
              <a:ext uri="{FF2B5EF4-FFF2-40B4-BE49-F238E27FC236}">
                <a16:creationId xmlns:a16="http://schemas.microsoft.com/office/drawing/2014/main" id="{F7B7448E-4203-784C-42D7-4DC05180F3B5}"/>
              </a:ext>
            </a:extLst>
          </p:cNvPr>
          <p:cNvSpPr>
            <a:spLocks noChangeArrowheads="1"/>
          </p:cNvSpPr>
          <p:nvPr/>
        </p:nvSpPr>
        <p:spPr bwMode="auto">
          <a:xfrm>
            <a:off x="2641630" y="3683563"/>
            <a:ext cx="460529" cy="352669"/>
          </a:xfrm>
          <a:prstGeom prst="ellipse">
            <a:avLst/>
          </a:prstGeom>
          <a:noFill/>
          <a:ln w="38100">
            <a:noFill/>
            <a:round/>
            <a:headEnd/>
            <a:tailEnd/>
          </a:ln>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2400" b="0" i="0" dirty="0">
                <a:latin typeface="+mn-ea"/>
                <a:ea typeface="+mn-ea"/>
              </a:rPr>
              <a:t>#</a:t>
            </a:r>
            <a:endParaRPr lang="zh-CN" altLang="en-US" sz="2400" b="0" i="0" dirty="0">
              <a:latin typeface="+mn-ea"/>
              <a:ea typeface="+mn-ea"/>
            </a:endParaRPr>
          </a:p>
        </p:txBody>
      </p:sp>
      <p:sp>
        <p:nvSpPr>
          <p:cNvPr id="35" name="Line 10">
            <a:extLst>
              <a:ext uri="{FF2B5EF4-FFF2-40B4-BE49-F238E27FC236}">
                <a16:creationId xmlns:a16="http://schemas.microsoft.com/office/drawing/2014/main" id="{19F06AD3-1A3C-A659-C9CF-6D3A9650E2DC}"/>
              </a:ext>
            </a:extLst>
          </p:cNvPr>
          <p:cNvSpPr>
            <a:spLocks noChangeShapeType="1"/>
          </p:cNvSpPr>
          <p:nvPr/>
        </p:nvSpPr>
        <p:spPr bwMode="auto">
          <a:xfrm flipH="1">
            <a:off x="3340148" y="3363885"/>
            <a:ext cx="145065" cy="35266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 name="Oval 16" descr="羊皮纸">
            <a:extLst>
              <a:ext uri="{FF2B5EF4-FFF2-40B4-BE49-F238E27FC236}">
                <a16:creationId xmlns:a16="http://schemas.microsoft.com/office/drawing/2014/main" id="{335C0084-D91F-55D6-909F-A058447A1238}"/>
              </a:ext>
            </a:extLst>
          </p:cNvPr>
          <p:cNvSpPr>
            <a:spLocks noChangeArrowheads="1"/>
          </p:cNvSpPr>
          <p:nvPr/>
        </p:nvSpPr>
        <p:spPr bwMode="auto">
          <a:xfrm>
            <a:off x="3098476" y="3724819"/>
            <a:ext cx="460529" cy="352669"/>
          </a:xfrm>
          <a:prstGeom prst="ellipse">
            <a:avLst/>
          </a:prstGeom>
          <a:noFill/>
          <a:ln w="38100">
            <a:noFill/>
            <a:round/>
            <a:headEnd/>
            <a:tailEnd/>
          </a:ln>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2400" b="0" i="0" dirty="0">
                <a:latin typeface="+mn-ea"/>
                <a:ea typeface="+mn-ea"/>
              </a:rPr>
              <a:t>#</a:t>
            </a:r>
            <a:endParaRPr lang="zh-CN" altLang="en-US" sz="2400" b="0" i="0" dirty="0">
              <a:latin typeface="+mn-ea"/>
              <a:ea typeface="+mn-ea"/>
            </a:endParaRPr>
          </a:p>
        </p:txBody>
      </p:sp>
      <p:sp>
        <p:nvSpPr>
          <p:cNvPr id="37" name="Line 10">
            <a:extLst>
              <a:ext uri="{FF2B5EF4-FFF2-40B4-BE49-F238E27FC236}">
                <a16:creationId xmlns:a16="http://schemas.microsoft.com/office/drawing/2014/main" id="{66497873-641B-203E-76DF-BEF276B8D4C3}"/>
              </a:ext>
            </a:extLst>
          </p:cNvPr>
          <p:cNvSpPr>
            <a:spLocks noChangeShapeType="1"/>
          </p:cNvSpPr>
          <p:nvPr/>
        </p:nvSpPr>
        <p:spPr bwMode="auto">
          <a:xfrm>
            <a:off x="3830276" y="3335166"/>
            <a:ext cx="159666" cy="369641"/>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Oval 16" descr="羊皮纸">
            <a:extLst>
              <a:ext uri="{FF2B5EF4-FFF2-40B4-BE49-F238E27FC236}">
                <a16:creationId xmlns:a16="http://schemas.microsoft.com/office/drawing/2014/main" id="{54352592-BDFE-7B23-3620-526928A94EDC}"/>
              </a:ext>
            </a:extLst>
          </p:cNvPr>
          <p:cNvSpPr>
            <a:spLocks noChangeArrowheads="1"/>
          </p:cNvSpPr>
          <p:nvPr/>
        </p:nvSpPr>
        <p:spPr bwMode="auto">
          <a:xfrm>
            <a:off x="3748270" y="3713073"/>
            <a:ext cx="460529" cy="352669"/>
          </a:xfrm>
          <a:prstGeom prst="ellipse">
            <a:avLst/>
          </a:prstGeom>
          <a:noFill/>
          <a:ln w="38100">
            <a:noFill/>
            <a:round/>
            <a:headEnd/>
            <a:tailEnd/>
          </a:ln>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2400" b="0" i="0" dirty="0">
                <a:latin typeface="+mn-ea"/>
                <a:ea typeface="+mn-ea"/>
              </a:rPr>
              <a:t>#</a:t>
            </a:r>
            <a:endParaRPr lang="zh-CN" altLang="en-US" sz="2400" b="0" i="0" dirty="0">
              <a:latin typeface="+mn-ea"/>
              <a:ea typeface="+mn-ea"/>
            </a:endParaRPr>
          </a:p>
        </p:txBody>
      </p:sp>
      <p:sp>
        <p:nvSpPr>
          <p:cNvPr id="39" name="Line 10">
            <a:extLst>
              <a:ext uri="{FF2B5EF4-FFF2-40B4-BE49-F238E27FC236}">
                <a16:creationId xmlns:a16="http://schemas.microsoft.com/office/drawing/2014/main" id="{0736774A-8612-C3AA-4E6A-0104D0AA18E2}"/>
              </a:ext>
            </a:extLst>
          </p:cNvPr>
          <p:cNvSpPr>
            <a:spLocks noChangeShapeType="1"/>
          </p:cNvSpPr>
          <p:nvPr/>
        </p:nvSpPr>
        <p:spPr bwMode="auto">
          <a:xfrm flipH="1">
            <a:off x="4255418" y="3388119"/>
            <a:ext cx="145065" cy="35266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Oval 16" descr="羊皮纸">
            <a:extLst>
              <a:ext uri="{FF2B5EF4-FFF2-40B4-BE49-F238E27FC236}">
                <a16:creationId xmlns:a16="http://schemas.microsoft.com/office/drawing/2014/main" id="{DA7F4F07-7376-CA04-1289-32A7CA9EDE28}"/>
              </a:ext>
            </a:extLst>
          </p:cNvPr>
          <p:cNvSpPr>
            <a:spLocks noChangeArrowheads="1"/>
          </p:cNvSpPr>
          <p:nvPr/>
        </p:nvSpPr>
        <p:spPr bwMode="auto">
          <a:xfrm>
            <a:off x="4013746" y="3749053"/>
            <a:ext cx="460529" cy="352669"/>
          </a:xfrm>
          <a:prstGeom prst="ellipse">
            <a:avLst/>
          </a:prstGeom>
          <a:noFill/>
          <a:ln w="38100">
            <a:noFill/>
            <a:round/>
            <a:headEnd/>
            <a:tailEnd/>
          </a:ln>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2400" b="0" i="0" dirty="0">
                <a:latin typeface="+mn-ea"/>
                <a:ea typeface="+mn-ea"/>
              </a:rPr>
              <a:t>#</a:t>
            </a:r>
            <a:endParaRPr lang="zh-CN" altLang="en-US" sz="2400" b="0" i="0" dirty="0">
              <a:latin typeface="+mn-ea"/>
              <a:ea typeface="+mn-ea"/>
            </a:endParaRPr>
          </a:p>
        </p:txBody>
      </p:sp>
      <p:sp>
        <p:nvSpPr>
          <p:cNvPr id="41" name="Line 10">
            <a:extLst>
              <a:ext uri="{FF2B5EF4-FFF2-40B4-BE49-F238E27FC236}">
                <a16:creationId xmlns:a16="http://schemas.microsoft.com/office/drawing/2014/main" id="{F866DAF4-FF20-E58A-110F-154A99AFEFA7}"/>
              </a:ext>
            </a:extLst>
          </p:cNvPr>
          <p:cNvSpPr>
            <a:spLocks noChangeShapeType="1"/>
          </p:cNvSpPr>
          <p:nvPr/>
        </p:nvSpPr>
        <p:spPr bwMode="auto">
          <a:xfrm>
            <a:off x="4559849" y="3306126"/>
            <a:ext cx="182284" cy="486346"/>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 name="Oval 16" descr="羊皮纸">
            <a:extLst>
              <a:ext uri="{FF2B5EF4-FFF2-40B4-BE49-F238E27FC236}">
                <a16:creationId xmlns:a16="http://schemas.microsoft.com/office/drawing/2014/main" id="{255660C1-A72E-76EF-A4DB-52835C30DB1D}"/>
              </a:ext>
            </a:extLst>
          </p:cNvPr>
          <p:cNvSpPr>
            <a:spLocks noChangeArrowheads="1"/>
          </p:cNvSpPr>
          <p:nvPr/>
        </p:nvSpPr>
        <p:spPr bwMode="auto">
          <a:xfrm>
            <a:off x="4534126" y="3757319"/>
            <a:ext cx="460529" cy="352669"/>
          </a:xfrm>
          <a:prstGeom prst="ellipse">
            <a:avLst/>
          </a:prstGeom>
          <a:noFill/>
          <a:ln w="38100">
            <a:noFill/>
            <a:round/>
            <a:headEnd/>
            <a:tailEnd/>
          </a:ln>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2400" b="0" i="0" dirty="0">
                <a:latin typeface="+mn-ea"/>
                <a:ea typeface="+mn-ea"/>
              </a:rPr>
              <a:t>#</a:t>
            </a:r>
            <a:endParaRPr lang="zh-CN" altLang="en-US" sz="2400" b="0" i="0" dirty="0">
              <a:latin typeface="+mn-ea"/>
              <a:ea typeface="+mn-ea"/>
            </a:endParaRPr>
          </a:p>
        </p:txBody>
      </p:sp>
      <p:sp>
        <p:nvSpPr>
          <p:cNvPr id="43" name="Line 10">
            <a:extLst>
              <a:ext uri="{FF2B5EF4-FFF2-40B4-BE49-F238E27FC236}">
                <a16:creationId xmlns:a16="http://schemas.microsoft.com/office/drawing/2014/main" id="{CBC855D1-AF0A-38C9-1C0E-4488CAA80623}"/>
              </a:ext>
            </a:extLst>
          </p:cNvPr>
          <p:cNvSpPr>
            <a:spLocks noChangeShapeType="1"/>
          </p:cNvSpPr>
          <p:nvPr/>
        </p:nvSpPr>
        <p:spPr bwMode="auto">
          <a:xfrm flipH="1">
            <a:off x="5232414" y="3318120"/>
            <a:ext cx="145065" cy="35266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 name="Oval 16" descr="羊皮纸">
            <a:extLst>
              <a:ext uri="{FF2B5EF4-FFF2-40B4-BE49-F238E27FC236}">
                <a16:creationId xmlns:a16="http://schemas.microsoft.com/office/drawing/2014/main" id="{9C743160-0940-4DD1-1413-FB854D51FA81}"/>
              </a:ext>
            </a:extLst>
          </p:cNvPr>
          <p:cNvSpPr>
            <a:spLocks noChangeArrowheads="1"/>
          </p:cNvSpPr>
          <p:nvPr/>
        </p:nvSpPr>
        <p:spPr bwMode="auto">
          <a:xfrm>
            <a:off x="4990742" y="3679054"/>
            <a:ext cx="460529" cy="352669"/>
          </a:xfrm>
          <a:prstGeom prst="ellipse">
            <a:avLst/>
          </a:prstGeom>
          <a:noFill/>
          <a:ln w="38100">
            <a:noFill/>
            <a:round/>
            <a:headEnd/>
            <a:tailEnd/>
          </a:ln>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2400" b="0" i="0" dirty="0">
                <a:latin typeface="+mn-ea"/>
                <a:ea typeface="+mn-ea"/>
              </a:rPr>
              <a:t>#</a:t>
            </a:r>
            <a:endParaRPr lang="zh-CN" altLang="en-US" sz="2400" b="0" i="0" dirty="0">
              <a:latin typeface="+mn-ea"/>
              <a:ea typeface="+mn-ea"/>
            </a:endParaRPr>
          </a:p>
        </p:txBody>
      </p:sp>
    </p:spTree>
  </p:cSld>
  <p:clrMapOvr>
    <a:masterClrMapping/>
  </p:clrMapOvr>
  <p:transition spd="med">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0"/>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3"/>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8"/>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7"/>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246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16" grpId="0"/>
      <p:bldP spid="27" grpId="0" animBg="1"/>
      <p:bldP spid="28" grpId="0"/>
      <p:bldP spid="29" grpId="0" animBg="1"/>
      <p:bldP spid="30" grpId="0"/>
      <p:bldP spid="31" grpId="0" animBg="1"/>
      <p:bldP spid="32" grpId="0"/>
      <p:bldP spid="33" grpId="0" animBg="1"/>
      <p:bldP spid="34" grpId="0"/>
      <p:bldP spid="35" grpId="0" animBg="1"/>
      <p:bldP spid="36" grpId="0"/>
      <p:bldP spid="37" grpId="0" animBg="1"/>
      <p:bldP spid="38" grpId="0"/>
      <p:bldP spid="39" grpId="0" animBg="1"/>
      <p:bldP spid="40" grpId="0"/>
      <p:bldP spid="41" grpId="0" animBg="1"/>
      <p:bldP spid="42" grpId="0"/>
      <p:bldP spid="43" grpId="0" animBg="1"/>
      <p:bldP spid="4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Text Box 3">
            <a:extLst>
              <a:ext uri="{FF2B5EF4-FFF2-40B4-BE49-F238E27FC236}">
                <a16:creationId xmlns:a16="http://schemas.microsoft.com/office/drawing/2014/main" id="{B143E7F6-5358-47EC-A063-8E83716DA43E}"/>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0B9AA7C5-0BCA-4F1A-8316-9C073A7944F2}" type="slidenum">
              <a:rPr lang="zh-CN" altLang="en-US" sz="2400"/>
              <a:pPr algn="r" eaLnBrk="1" hangingPunct="1">
                <a:spcBef>
                  <a:spcPct val="50000"/>
                </a:spcBef>
                <a:buClrTx/>
                <a:buSzTx/>
                <a:buFont typeface="Arial" panose="020B0604020202020204" pitchFamily="34" charset="0"/>
                <a:buNone/>
              </a:pPr>
              <a:t>23</a:t>
            </a:fld>
            <a:endParaRPr lang="en-US" altLang="zh-CN" sz="2400"/>
          </a:p>
        </p:txBody>
      </p:sp>
      <p:sp>
        <p:nvSpPr>
          <p:cNvPr id="26629" name="Rectangle 5">
            <a:extLst>
              <a:ext uri="{FF2B5EF4-FFF2-40B4-BE49-F238E27FC236}">
                <a16:creationId xmlns:a16="http://schemas.microsoft.com/office/drawing/2014/main" id="{02A3E19C-BA27-40AD-ABAC-8BF459D124F2}"/>
              </a:ext>
            </a:extLst>
          </p:cNvPr>
          <p:cNvSpPr>
            <a:spLocks noGrp="1" noChangeArrowheads="1"/>
          </p:cNvSpPr>
          <p:nvPr>
            <p:ph type="body" idx="1"/>
          </p:nvPr>
        </p:nvSpPr>
        <p:spPr>
          <a:xfrm>
            <a:off x="477568" y="1194953"/>
            <a:ext cx="8763000" cy="4038600"/>
          </a:xfrm>
        </p:spPr>
        <p:txBody>
          <a:bodyPr/>
          <a:lstStyle/>
          <a:p>
            <a:pPr eaLnBrk="1" hangingPunct="1">
              <a:spcBef>
                <a:spcPct val="30000"/>
              </a:spcBef>
            </a:pPr>
            <a:r>
              <a:rPr lang="zh-CN" altLang="en-US" dirty="0">
                <a:latin typeface="黑体" panose="02010609060101010101" pitchFamily="49" charset="-122"/>
                <a:ea typeface="黑体" panose="02010609060101010101" pitchFamily="49" charset="-122"/>
              </a:rPr>
              <a:t>采用数据域加上左、右孩子指针</a:t>
            </a:r>
          </a:p>
        </p:txBody>
      </p:sp>
      <p:grpSp>
        <p:nvGrpSpPr>
          <p:cNvPr id="26631" name="Group 7">
            <a:extLst>
              <a:ext uri="{FF2B5EF4-FFF2-40B4-BE49-F238E27FC236}">
                <a16:creationId xmlns:a16="http://schemas.microsoft.com/office/drawing/2014/main" id="{BB23259F-8C4F-47B3-8062-83C18FC01670}"/>
              </a:ext>
            </a:extLst>
          </p:cNvPr>
          <p:cNvGrpSpPr>
            <a:grpSpLocks/>
          </p:cNvGrpSpPr>
          <p:nvPr/>
        </p:nvGrpSpPr>
        <p:grpSpPr bwMode="auto">
          <a:xfrm>
            <a:off x="5002482" y="2852936"/>
            <a:ext cx="3663950" cy="1460500"/>
            <a:chOff x="0" y="0"/>
            <a:chExt cx="3237" cy="968"/>
          </a:xfrm>
        </p:grpSpPr>
        <p:sp>
          <p:nvSpPr>
            <p:cNvPr id="26639" name="AutoShape 8">
              <a:extLst>
                <a:ext uri="{FF2B5EF4-FFF2-40B4-BE49-F238E27FC236}">
                  <a16:creationId xmlns:a16="http://schemas.microsoft.com/office/drawing/2014/main" id="{B0043565-39BD-4197-8957-786E7ACA8754}"/>
                </a:ext>
              </a:extLst>
            </p:cNvPr>
            <p:cNvSpPr>
              <a:spLocks noChangeArrowheads="1"/>
            </p:cNvSpPr>
            <p:nvPr/>
          </p:nvSpPr>
          <p:spPr bwMode="auto">
            <a:xfrm>
              <a:off x="789" y="96"/>
              <a:ext cx="1584" cy="288"/>
            </a:xfrm>
            <a:prstGeom prst="roundRect">
              <a:avLst>
                <a:gd name="adj" fmla="val 16667"/>
              </a:avLst>
            </a:prstGeom>
            <a:solidFill>
              <a:schemeClr val="accent1"/>
            </a:solidFill>
            <a:ln w="9525">
              <a:round/>
              <a:headEnd/>
              <a:tailEnd/>
            </a:ln>
            <a:effectLst/>
            <a:scene3d>
              <a:camera prst="legacyObliqueTopRight"/>
              <a:lightRig rig="legacyFlat3" dir="b"/>
            </a:scene3d>
            <a:sp3d extrusionH="430200" prstMaterial="legacyMatte">
              <a:bevelT w="13500" h="13500" prst="angle"/>
              <a:bevelB w="13500" h="13500" prst="angle"/>
              <a:extrusionClr>
                <a:schemeClr val="accent1"/>
              </a:extrusionClr>
              <a:contourClr>
                <a:schemeClr val="accent1"/>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26640" name="AutoShape 9">
              <a:extLst>
                <a:ext uri="{FF2B5EF4-FFF2-40B4-BE49-F238E27FC236}">
                  <a16:creationId xmlns:a16="http://schemas.microsoft.com/office/drawing/2014/main" id="{C90E3DC1-9040-495A-B250-D309F9F5EDB8}"/>
                </a:ext>
              </a:extLst>
            </p:cNvPr>
            <p:cNvSpPr>
              <a:spLocks noChangeArrowheads="1"/>
            </p:cNvSpPr>
            <p:nvPr/>
          </p:nvSpPr>
          <p:spPr bwMode="auto">
            <a:xfrm>
              <a:off x="2085" y="672"/>
              <a:ext cx="1152" cy="288"/>
            </a:xfrm>
            <a:prstGeom prst="roundRect">
              <a:avLst>
                <a:gd name="adj" fmla="val 16667"/>
              </a:avLst>
            </a:prstGeom>
            <a:solidFill>
              <a:schemeClr val="accent1"/>
            </a:solidFill>
            <a:ln w="9525">
              <a:round/>
              <a:headEnd/>
              <a:tailEnd/>
            </a:ln>
            <a:effectLst/>
            <a:scene3d>
              <a:camera prst="legacyObliqueTopRight"/>
              <a:lightRig rig="legacyFlat3" dir="b"/>
            </a:scene3d>
            <a:sp3d extrusionH="430200" prstMaterial="legacyMatte">
              <a:bevelT w="13500" h="13500" prst="angle"/>
              <a:bevelB w="13500" h="13500" prst="angle"/>
              <a:extrusionClr>
                <a:schemeClr val="accent1"/>
              </a:extrusionClr>
              <a:contourClr>
                <a:schemeClr val="accent1"/>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26641" name="AutoShape 10">
              <a:extLst>
                <a:ext uri="{FF2B5EF4-FFF2-40B4-BE49-F238E27FC236}">
                  <a16:creationId xmlns:a16="http://schemas.microsoft.com/office/drawing/2014/main" id="{730D20D5-C20E-48BD-B039-42202716B172}"/>
                </a:ext>
              </a:extLst>
            </p:cNvPr>
            <p:cNvSpPr>
              <a:spLocks noChangeArrowheads="1"/>
            </p:cNvSpPr>
            <p:nvPr/>
          </p:nvSpPr>
          <p:spPr bwMode="auto">
            <a:xfrm>
              <a:off x="21" y="672"/>
              <a:ext cx="960" cy="288"/>
            </a:xfrm>
            <a:prstGeom prst="roundRect">
              <a:avLst>
                <a:gd name="adj" fmla="val 16667"/>
              </a:avLst>
            </a:prstGeom>
            <a:solidFill>
              <a:schemeClr val="accent1"/>
            </a:solidFill>
            <a:ln w="9525">
              <a:round/>
              <a:headEnd/>
              <a:tailEnd/>
            </a:ln>
            <a:effectLst/>
            <a:scene3d>
              <a:camera prst="legacyObliqueTopRight"/>
              <a:lightRig rig="legacyFlat3" dir="b"/>
            </a:scene3d>
            <a:sp3d extrusionH="430200" prstMaterial="legacyMatte">
              <a:bevelT w="13500" h="13500" prst="angle"/>
              <a:bevelB w="13500" h="13500" prst="angle"/>
              <a:extrusionClr>
                <a:schemeClr val="accent1"/>
              </a:extrusionClr>
              <a:contourClr>
                <a:schemeClr val="accent1"/>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26642" name="Text Box 11">
              <a:extLst>
                <a:ext uri="{FF2B5EF4-FFF2-40B4-BE49-F238E27FC236}">
                  <a16:creationId xmlns:a16="http://schemas.microsoft.com/office/drawing/2014/main" id="{81F419A0-91E8-4E7D-BF27-DC8ED095BA47}"/>
                </a:ext>
              </a:extLst>
            </p:cNvPr>
            <p:cNvSpPr txBox="1">
              <a:spLocks noChangeArrowheads="1"/>
            </p:cNvSpPr>
            <p:nvPr/>
          </p:nvSpPr>
          <p:spPr bwMode="auto">
            <a:xfrm>
              <a:off x="1196" y="48"/>
              <a:ext cx="758" cy="3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FFFFCC"/>
                  </a:solidFill>
                  <a:latin typeface="Times New Roman" panose="02020603050405020304" pitchFamily="18" charset="0"/>
                </a:rPr>
                <a:t>data</a:t>
              </a:r>
              <a:endParaRPr lang="en-US" altLang="zh-CN" sz="2400" i="0">
                <a:latin typeface="Times New Roman" panose="02020603050405020304" pitchFamily="18" charset="0"/>
              </a:endParaRPr>
            </a:p>
          </p:txBody>
        </p:sp>
        <p:sp>
          <p:nvSpPr>
            <p:cNvPr id="26643" name="Text Box 12">
              <a:extLst>
                <a:ext uri="{FF2B5EF4-FFF2-40B4-BE49-F238E27FC236}">
                  <a16:creationId xmlns:a16="http://schemas.microsoft.com/office/drawing/2014/main" id="{499E8137-FBA2-4724-BDA6-5F842C94C80E}"/>
                </a:ext>
              </a:extLst>
            </p:cNvPr>
            <p:cNvSpPr txBox="1">
              <a:spLocks noChangeArrowheads="1"/>
            </p:cNvSpPr>
            <p:nvPr/>
          </p:nvSpPr>
          <p:spPr bwMode="auto">
            <a:xfrm>
              <a:off x="0" y="624"/>
              <a:ext cx="1002" cy="3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FFFFCC"/>
                  </a:solidFill>
                  <a:latin typeface="Times New Roman" panose="02020603050405020304" pitchFamily="18" charset="0"/>
                </a:rPr>
                <a:t>lChild</a:t>
              </a:r>
              <a:endParaRPr lang="en-US" altLang="zh-CN" sz="2400" i="0">
                <a:latin typeface="Times New Roman" panose="02020603050405020304" pitchFamily="18" charset="0"/>
              </a:endParaRPr>
            </a:p>
          </p:txBody>
        </p:sp>
        <p:sp>
          <p:nvSpPr>
            <p:cNvPr id="26644" name="Line 13">
              <a:extLst>
                <a:ext uri="{FF2B5EF4-FFF2-40B4-BE49-F238E27FC236}">
                  <a16:creationId xmlns:a16="http://schemas.microsoft.com/office/drawing/2014/main" id="{26C9E6DA-A2A7-4AF5-8909-746A5DB0A9A9}"/>
                </a:ext>
              </a:extLst>
            </p:cNvPr>
            <p:cNvSpPr>
              <a:spLocks noChangeShapeType="1"/>
            </p:cNvSpPr>
            <p:nvPr/>
          </p:nvSpPr>
          <p:spPr bwMode="auto">
            <a:xfrm flipV="1">
              <a:off x="1893" y="96"/>
              <a:ext cx="0" cy="288"/>
            </a:xfrm>
            <a:prstGeom prst="line">
              <a:avLst/>
            </a:prstGeom>
            <a:noFill/>
            <a:ln w="19050">
              <a:solidFill>
                <a:srgbClr val="FF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26645" name="Line 14">
              <a:extLst>
                <a:ext uri="{FF2B5EF4-FFF2-40B4-BE49-F238E27FC236}">
                  <a16:creationId xmlns:a16="http://schemas.microsoft.com/office/drawing/2014/main" id="{5203ABDD-3C99-4BD0-9625-8AC9A5F8620F}"/>
                </a:ext>
              </a:extLst>
            </p:cNvPr>
            <p:cNvSpPr>
              <a:spLocks noChangeShapeType="1"/>
            </p:cNvSpPr>
            <p:nvPr/>
          </p:nvSpPr>
          <p:spPr bwMode="auto">
            <a:xfrm flipV="1">
              <a:off x="1893" y="0"/>
              <a:ext cx="96" cy="96"/>
            </a:xfrm>
            <a:prstGeom prst="line">
              <a:avLst/>
            </a:prstGeom>
            <a:noFill/>
            <a:ln w="19050">
              <a:solidFill>
                <a:srgbClr val="FF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26646" name="Line 15">
              <a:extLst>
                <a:ext uri="{FF2B5EF4-FFF2-40B4-BE49-F238E27FC236}">
                  <a16:creationId xmlns:a16="http://schemas.microsoft.com/office/drawing/2014/main" id="{D704C3A3-BC4A-4DBA-ABB7-B6AEFE653822}"/>
                </a:ext>
              </a:extLst>
            </p:cNvPr>
            <p:cNvSpPr>
              <a:spLocks noChangeShapeType="1"/>
            </p:cNvSpPr>
            <p:nvPr/>
          </p:nvSpPr>
          <p:spPr bwMode="auto">
            <a:xfrm flipV="1">
              <a:off x="1269" y="96"/>
              <a:ext cx="0" cy="288"/>
            </a:xfrm>
            <a:prstGeom prst="line">
              <a:avLst/>
            </a:prstGeom>
            <a:noFill/>
            <a:ln w="19050">
              <a:solidFill>
                <a:srgbClr val="FF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26647" name="Line 16">
              <a:extLst>
                <a:ext uri="{FF2B5EF4-FFF2-40B4-BE49-F238E27FC236}">
                  <a16:creationId xmlns:a16="http://schemas.microsoft.com/office/drawing/2014/main" id="{457963A0-78D3-4C24-8A66-DABBAF6F465D}"/>
                </a:ext>
              </a:extLst>
            </p:cNvPr>
            <p:cNvSpPr>
              <a:spLocks noChangeShapeType="1"/>
            </p:cNvSpPr>
            <p:nvPr/>
          </p:nvSpPr>
          <p:spPr bwMode="auto">
            <a:xfrm flipV="1">
              <a:off x="1269" y="0"/>
              <a:ext cx="96" cy="96"/>
            </a:xfrm>
            <a:prstGeom prst="line">
              <a:avLst/>
            </a:prstGeom>
            <a:noFill/>
            <a:ln w="19050">
              <a:solidFill>
                <a:srgbClr val="FF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26648" name="Text Box 17">
              <a:extLst>
                <a:ext uri="{FF2B5EF4-FFF2-40B4-BE49-F238E27FC236}">
                  <a16:creationId xmlns:a16="http://schemas.microsoft.com/office/drawing/2014/main" id="{DCC0470E-C9F0-41CA-87B8-14449AEE4D10}"/>
                </a:ext>
              </a:extLst>
            </p:cNvPr>
            <p:cNvSpPr txBox="1">
              <a:spLocks noChangeArrowheads="1"/>
            </p:cNvSpPr>
            <p:nvPr/>
          </p:nvSpPr>
          <p:spPr bwMode="auto">
            <a:xfrm>
              <a:off x="2119" y="615"/>
              <a:ext cx="1053" cy="3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FFFFCC"/>
                  </a:solidFill>
                  <a:latin typeface="Times New Roman" panose="02020603050405020304" pitchFamily="18" charset="0"/>
                </a:rPr>
                <a:t>rChild</a:t>
              </a:r>
              <a:endParaRPr lang="en-US" altLang="zh-CN" sz="2400" i="0">
                <a:latin typeface="Times New Roman" panose="02020603050405020304" pitchFamily="18" charset="0"/>
              </a:endParaRPr>
            </a:p>
          </p:txBody>
        </p:sp>
        <p:sp>
          <p:nvSpPr>
            <p:cNvPr id="26649" name="Line 18">
              <a:extLst>
                <a:ext uri="{FF2B5EF4-FFF2-40B4-BE49-F238E27FC236}">
                  <a16:creationId xmlns:a16="http://schemas.microsoft.com/office/drawing/2014/main" id="{F8CC37F2-19E4-4B3D-A2CB-A9BA3D0A234E}"/>
                </a:ext>
              </a:extLst>
            </p:cNvPr>
            <p:cNvSpPr>
              <a:spLocks noChangeShapeType="1"/>
            </p:cNvSpPr>
            <p:nvPr/>
          </p:nvSpPr>
          <p:spPr bwMode="auto">
            <a:xfrm flipH="1">
              <a:off x="693" y="384"/>
              <a:ext cx="192" cy="192"/>
            </a:xfrm>
            <a:prstGeom prst="line">
              <a:avLst/>
            </a:prstGeom>
            <a:noFill/>
            <a:ln w="38100">
              <a:solidFill>
                <a:schemeClr val="tx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26650" name="Line 19">
              <a:extLst>
                <a:ext uri="{FF2B5EF4-FFF2-40B4-BE49-F238E27FC236}">
                  <a16:creationId xmlns:a16="http://schemas.microsoft.com/office/drawing/2014/main" id="{045180C8-04C5-471C-8377-72131C9587E2}"/>
                </a:ext>
              </a:extLst>
            </p:cNvPr>
            <p:cNvSpPr>
              <a:spLocks noChangeShapeType="1"/>
            </p:cNvSpPr>
            <p:nvPr/>
          </p:nvSpPr>
          <p:spPr bwMode="auto">
            <a:xfrm flipV="1">
              <a:off x="885" y="240"/>
              <a:ext cx="144" cy="144"/>
            </a:xfrm>
            <a:prstGeom prst="line">
              <a:avLst/>
            </a:prstGeom>
            <a:noFill/>
            <a:ln w="38100" cap="rnd">
              <a:solidFill>
                <a:schemeClr val="tx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26651" name="Line 20">
              <a:extLst>
                <a:ext uri="{FF2B5EF4-FFF2-40B4-BE49-F238E27FC236}">
                  <a16:creationId xmlns:a16="http://schemas.microsoft.com/office/drawing/2014/main" id="{8C770CF5-AF38-47E6-B47C-259C6A66204B}"/>
                </a:ext>
              </a:extLst>
            </p:cNvPr>
            <p:cNvSpPr>
              <a:spLocks noChangeShapeType="1"/>
            </p:cNvSpPr>
            <p:nvPr/>
          </p:nvSpPr>
          <p:spPr bwMode="auto">
            <a:xfrm flipH="1" flipV="1">
              <a:off x="2325" y="384"/>
              <a:ext cx="192" cy="192"/>
            </a:xfrm>
            <a:prstGeom prst="line">
              <a:avLst/>
            </a:prstGeom>
            <a:noFill/>
            <a:ln w="38100">
              <a:solidFill>
                <a:schemeClr val="tx2"/>
              </a:solidFill>
              <a:round/>
              <a:headEnd type="triangle" w="sm"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26652" name="Line 21">
              <a:extLst>
                <a:ext uri="{FF2B5EF4-FFF2-40B4-BE49-F238E27FC236}">
                  <a16:creationId xmlns:a16="http://schemas.microsoft.com/office/drawing/2014/main" id="{29B352E4-6B61-4DCF-BC60-FD5901DB0917}"/>
                </a:ext>
              </a:extLst>
            </p:cNvPr>
            <p:cNvSpPr>
              <a:spLocks noChangeShapeType="1"/>
            </p:cNvSpPr>
            <p:nvPr/>
          </p:nvSpPr>
          <p:spPr bwMode="auto">
            <a:xfrm>
              <a:off x="2181" y="240"/>
              <a:ext cx="144" cy="144"/>
            </a:xfrm>
            <a:prstGeom prst="line">
              <a:avLst/>
            </a:prstGeom>
            <a:noFill/>
            <a:ln w="38100" cap="rnd">
              <a:solidFill>
                <a:schemeClr val="tx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grpSp>
      <p:grpSp>
        <p:nvGrpSpPr>
          <p:cNvPr id="26632" name="Group 22">
            <a:extLst>
              <a:ext uri="{FF2B5EF4-FFF2-40B4-BE49-F238E27FC236}">
                <a16:creationId xmlns:a16="http://schemas.microsoft.com/office/drawing/2014/main" id="{D63340C7-F7ED-486B-83AB-5A21AE63CBFD}"/>
              </a:ext>
            </a:extLst>
          </p:cNvPr>
          <p:cNvGrpSpPr>
            <a:grpSpLocks/>
          </p:cNvGrpSpPr>
          <p:nvPr/>
        </p:nvGrpSpPr>
        <p:grpSpPr bwMode="auto">
          <a:xfrm>
            <a:off x="773488" y="2852936"/>
            <a:ext cx="3352800" cy="657225"/>
            <a:chOff x="0" y="0"/>
            <a:chExt cx="2537" cy="414"/>
          </a:xfrm>
        </p:grpSpPr>
        <p:sp>
          <p:nvSpPr>
            <p:cNvPr id="26633" name="Rectangle 23">
              <a:extLst>
                <a:ext uri="{FF2B5EF4-FFF2-40B4-BE49-F238E27FC236}">
                  <a16:creationId xmlns:a16="http://schemas.microsoft.com/office/drawing/2014/main" id="{CDAEE80E-2A08-4DB0-98E6-874C0B42BCC7}"/>
                </a:ext>
              </a:extLst>
            </p:cNvPr>
            <p:cNvSpPr>
              <a:spLocks noChangeArrowheads="1"/>
            </p:cNvSpPr>
            <p:nvPr/>
          </p:nvSpPr>
          <p:spPr bwMode="auto">
            <a:xfrm>
              <a:off x="0" y="123"/>
              <a:ext cx="2537" cy="261"/>
            </a:xfrm>
            <a:prstGeom prst="rect">
              <a:avLst/>
            </a:prstGeom>
            <a:solidFill>
              <a:schemeClr val="accent1"/>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chemeClr val="accent1"/>
              </a:extrusionClr>
              <a:contourClr>
                <a:schemeClr val="accent1"/>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6634" name="Text Box 24">
              <a:extLst>
                <a:ext uri="{FF2B5EF4-FFF2-40B4-BE49-F238E27FC236}">
                  <a16:creationId xmlns:a16="http://schemas.microsoft.com/office/drawing/2014/main" id="{4260282A-7ACD-4B85-B153-5EF02FAD69BB}"/>
                </a:ext>
              </a:extLst>
            </p:cNvPr>
            <p:cNvSpPr txBox="1">
              <a:spLocks noChangeArrowheads="1"/>
            </p:cNvSpPr>
            <p:nvPr/>
          </p:nvSpPr>
          <p:spPr bwMode="auto">
            <a:xfrm>
              <a:off x="1" y="87"/>
              <a:ext cx="2534"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dirty="0" err="1">
                  <a:solidFill>
                    <a:srgbClr val="FFFFCC"/>
                  </a:solidFill>
                  <a:latin typeface="Times New Roman" panose="02020603050405020304" pitchFamily="18" charset="0"/>
                </a:rPr>
                <a:t>lChild</a:t>
              </a:r>
              <a:r>
                <a:rPr lang="en-US" altLang="zh-CN" sz="2800" b="1" dirty="0">
                  <a:solidFill>
                    <a:srgbClr val="FFFFCC"/>
                  </a:solidFill>
                  <a:latin typeface="Times New Roman" panose="02020603050405020304" pitchFamily="18" charset="0"/>
                </a:rPr>
                <a:t>   </a:t>
              </a:r>
              <a:r>
                <a:rPr lang="en-US" altLang="zh-CN" sz="2800" b="1" i="0" dirty="0">
                  <a:solidFill>
                    <a:srgbClr val="FFFFCC"/>
                  </a:solidFill>
                  <a:latin typeface="Times New Roman" panose="02020603050405020304" pitchFamily="18" charset="0"/>
                </a:rPr>
                <a:t>data</a:t>
              </a:r>
              <a:r>
                <a:rPr lang="en-US" altLang="zh-CN" sz="2800" b="1" dirty="0">
                  <a:solidFill>
                    <a:srgbClr val="FFFFCC"/>
                  </a:solidFill>
                  <a:latin typeface="Times New Roman" panose="02020603050405020304" pitchFamily="18" charset="0"/>
                </a:rPr>
                <a:t>   </a:t>
              </a:r>
              <a:r>
                <a:rPr lang="en-US" altLang="zh-CN" sz="2800" b="1" dirty="0" err="1">
                  <a:solidFill>
                    <a:srgbClr val="FFFFCC"/>
                  </a:solidFill>
                  <a:latin typeface="Times New Roman" panose="02020603050405020304" pitchFamily="18" charset="0"/>
                </a:rPr>
                <a:t>rChild</a:t>
              </a:r>
              <a:endParaRPr lang="en-US" altLang="zh-CN" sz="2400" dirty="0">
                <a:latin typeface="Times New Roman" panose="02020603050405020304" pitchFamily="18" charset="0"/>
              </a:endParaRPr>
            </a:p>
          </p:txBody>
        </p:sp>
        <p:sp>
          <p:nvSpPr>
            <p:cNvPr id="26635" name="Line 25">
              <a:extLst>
                <a:ext uri="{FF2B5EF4-FFF2-40B4-BE49-F238E27FC236}">
                  <a16:creationId xmlns:a16="http://schemas.microsoft.com/office/drawing/2014/main" id="{3F24B456-526F-4A8C-8ADA-48CD4D40799E}"/>
                </a:ext>
              </a:extLst>
            </p:cNvPr>
            <p:cNvSpPr>
              <a:spLocks noChangeShapeType="1"/>
            </p:cNvSpPr>
            <p:nvPr/>
          </p:nvSpPr>
          <p:spPr bwMode="auto">
            <a:xfrm flipV="1">
              <a:off x="919" y="123"/>
              <a:ext cx="0" cy="261"/>
            </a:xfrm>
            <a:prstGeom prst="line">
              <a:avLst/>
            </a:prstGeom>
            <a:noFill/>
            <a:ln w="19050">
              <a:solidFill>
                <a:srgbClr val="FF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36" name="Line 26">
              <a:extLst>
                <a:ext uri="{FF2B5EF4-FFF2-40B4-BE49-F238E27FC236}">
                  <a16:creationId xmlns:a16="http://schemas.microsoft.com/office/drawing/2014/main" id="{E2A523FD-E181-433F-9645-72D470FE514D}"/>
                </a:ext>
              </a:extLst>
            </p:cNvPr>
            <p:cNvSpPr>
              <a:spLocks noChangeShapeType="1"/>
            </p:cNvSpPr>
            <p:nvPr/>
          </p:nvSpPr>
          <p:spPr bwMode="auto">
            <a:xfrm flipV="1">
              <a:off x="1584" y="144"/>
              <a:ext cx="0" cy="261"/>
            </a:xfrm>
            <a:prstGeom prst="line">
              <a:avLst/>
            </a:prstGeom>
            <a:noFill/>
            <a:ln w="19050">
              <a:solidFill>
                <a:srgbClr val="FF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37" name="Line 27">
              <a:extLst>
                <a:ext uri="{FF2B5EF4-FFF2-40B4-BE49-F238E27FC236}">
                  <a16:creationId xmlns:a16="http://schemas.microsoft.com/office/drawing/2014/main" id="{BE65BB8F-33F4-4AB4-89CA-09E2BC8649E0}"/>
                </a:ext>
              </a:extLst>
            </p:cNvPr>
            <p:cNvSpPr>
              <a:spLocks noChangeShapeType="1"/>
            </p:cNvSpPr>
            <p:nvPr/>
          </p:nvSpPr>
          <p:spPr bwMode="auto">
            <a:xfrm flipV="1">
              <a:off x="919" y="0"/>
              <a:ext cx="89" cy="123"/>
            </a:xfrm>
            <a:prstGeom prst="line">
              <a:avLst/>
            </a:prstGeom>
            <a:noFill/>
            <a:ln w="19050">
              <a:solidFill>
                <a:srgbClr val="FF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38" name="Line 28">
              <a:extLst>
                <a:ext uri="{FF2B5EF4-FFF2-40B4-BE49-F238E27FC236}">
                  <a16:creationId xmlns:a16="http://schemas.microsoft.com/office/drawing/2014/main" id="{5DC94FAB-C4F0-4170-85EB-A08BEEB39DE4}"/>
                </a:ext>
              </a:extLst>
            </p:cNvPr>
            <p:cNvSpPr>
              <a:spLocks noChangeShapeType="1"/>
            </p:cNvSpPr>
            <p:nvPr/>
          </p:nvSpPr>
          <p:spPr bwMode="auto">
            <a:xfrm flipV="1">
              <a:off x="1584" y="0"/>
              <a:ext cx="96" cy="144"/>
            </a:xfrm>
            <a:prstGeom prst="line">
              <a:avLst/>
            </a:prstGeom>
            <a:noFill/>
            <a:ln w="19050">
              <a:solidFill>
                <a:srgbClr val="FF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 name="Text Box 4">
            <a:extLst>
              <a:ext uri="{FF2B5EF4-FFF2-40B4-BE49-F238E27FC236}">
                <a16:creationId xmlns:a16="http://schemas.microsoft.com/office/drawing/2014/main" id="{76B1E5CC-1BCF-4898-AEF7-F4B2715F563F}"/>
              </a:ext>
            </a:extLst>
          </p:cNvPr>
          <p:cNvSpPr txBox="1">
            <a:spLocks noChangeArrowheads="1"/>
          </p:cNvSpPr>
          <p:nvPr/>
        </p:nvSpPr>
        <p:spPr bwMode="auto">
          <a:xfrm>
            <a:off x="381000" y="67271"/>
            <a:ext cx="8859568"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二叉树的链式存储结构</a:t>
            </a:r>
            <a:r>
              <a:rPr lang="en-US" altLang="zh-CN" sz="4400" i="0" dirty="0">
                <a:solidFill>
                  <a:schemeClr val="tx2"/>
                </a:solidFill>
                <a:ea typeface="隶书" pitchFamily="49" charset="-122"/>
              </a:rPr>
              <a:t>—</a:t>
            </a:r>
            <a:r>
              <a:rPr lang="zh-CN" altLang="en-US" sz="4400" i="0" dirty="0">
                <a:solidFill>
                  <a:schemeClr val="tx2"/>
                </a:solidFill>
                <a:ea typeface="隶书" pitchFamily="49" charset="-122"/>
              </a:rPr>
              <a:t>二叉链表</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Text Box 3">
            <a:extLst>
              <a:ext uri="{FF2B5EF4-FFF2-40B4-BE49-F238E27FC236}">
                <a16:creationId xmlns:a16="http://schemas.microsoft.com/office/drawing/2014/main" id="{5D3BE496-5FE2-4A88-972C-17AA538A2A68}"/>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A0BD8E6F-3B68-4C8A-943B-0EB1EFA02807}" type="slidenum">
              <a:rPr lang="zh-CN" altLang="en-US" sz="2400"/>
              <a:pPr algn="r" eaLnBrk="1" hangingPunct="1">
                <a:spcBef>
                  <a:spcPct val="50000"/>
                </a:spcBef>
                <a:buClrTx/>
                <a:buSzTx/>
                <a:buFont typeface="Arial" panose="020B0604020202020204" pitchFamily="34" charset="0"/>
                <a:buNone/>
              </a:pPr>
              <a:t>24</a:t>
            </a:fld>
            <a:endParaRPr lang="en-US" altLang="zh-CN" sz="2400"/>
          </a:p>
        </p:txBody>
      </p:sp>
      <p:sp>
        <p:nvSpPr>
          <p:cNvPr id="27653" name="Rectangle 5">
            <a:extLst>
              <a:ext uri="{FF2B5EF4-FFF2-40B4-BE49-F238E27FC236}">
                <a16:creationId xmlns:a16="http://schemas.microsoft.com/office/drawing/2014/main" id="{0790FBB2-9E1A-4F21-B0F9-CA0E0E62F93C}"/>
              </a:ext>
            </a:extLst>
          </p:cNvPr>
          <p:cNvSpPr>
            <a:spLocks noGrp="1" noChangeArrowheads="1"/>
          </p:cNvSpPr>
          <p:nvPr>
            <p:ph type="body" idx="1"/>
          </p:nvPr>
        </p:nvSpPr>
        <p:spPr>
          <a:xfrm>
            <a:off x="543843" y="1243037"/>
            <a:ext cx="8763000" cy="592361"/>
          </a:xfrm>
        </p:spPr>
        <p:txBody>
          <a:bodyPr/>
          <a:lstStyle/>
          <a:p>
            <a:pPr eaLnBrk="1" hangingPunct="1">
              <a:spcBef>
                <a:spcPct val="30000"/>
              </a:spcBef>
            </a:pPr>
            <a:r>
              <a:rPr lang="zh-CN" altLang="en-US" dirty="0">
                <a:latin typeface="黑体" panose="02010609060101010101" pitchFamily="49" charset="-122"/>
                <a:ea typeface="黑体" panose="02010609060101010101" pitchFamily="49" charset="-122"/>
              </a:rPr>
              <a:t>二叉树（左）及其二叉链表（右）</a:t>
            </a:r>
          </a:p>
        </p:txBody>
      </p:sp>
      <p:grpSp>
        <p:nvGrpSpPr>
          <p:cNvPr id="27655" name="Group 7">
            <a:extLst>
              <a:ext uri="{FF2B5EF4-FFF2-40B4-BE49-F238E27FC236}">
                <a16:creationId xmlns:a16="http://schemas.microsoft.com/office/drawing/2014/main" id="{E8EB4357-419C-4785-8161-B1DB9676B19A}"/>
              </a:ext>
            </a:extLst>
          </p:cNvPr>
          <p:cNvGrpSpPr>
            <a:grpSpLocks/>
          </p:cNvGrpSpPr>
          <p:nvPr/>
        </p:nvGrpSpPr>
        <p:grpSpPr bwMode="auto">
          <a:xfrm>
            <a:off x="1619672" y="2151640"/>
            <a:ext cx="1684338" cy="2759075"/>
            <a:chOff x="0" y="0"/>
            <a:chExt cx="1061" cy="1738"/>
          </a:xfrm>
        </p:grpSpPr>
        <p:sp>
          <p:nvSpPr>
            <p:cNvPr id="27695" name="Line 8">
              <a:extLst>
                <a:ext uri="{FF2B5EF4-FFF2-40B4-BE49-F238E27FC236}">
                  <a16:creationId xmlns:a16="http://schemas.microsoft.com/office/drawing/2014/main" id="{D1C4E4D5-5FE6-43D7-9237-D8B4072C5F00}"/>
                </a:ext>
              </a:extLst>
            </p:cNvPr>
            <p:cNvSpPr>
              <a:spLocks noChangeShapeType="1"/>
            </p:cNvSpPr>
            <p:nvPr/>
          </p:nvSpPr>
          <p:spPr bwMode="auto">
            <a:xfrm flipH="1">
              <a:off x="384" y="1255"/>
              <a:ext cx="192" cy="351"/>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96" name="Line 9">
              <a:extLst>
                <a:ext uri="{FF2B5EF4-FFF2-40B4-BE49-F238E27FC236}">
                  <a16:creationId xmlns:a16="http://schemas.microsoft.com/office/drawing/2014/main" id="{51D09F13-3614-4063-961C-070ACDF5DAF5}"/>
                </a:ext>
              </a:extLst>
            </p:cNvPr>
            <p:cNvSpPr>
              <a:spLocks noChangeShapeType="1"/>
            </p:cNvSpPr>
            <p:nvPr/>
          </p:nvSpPr>
          <p:spPr bwMode="auto">
            <a:xfrm>
              <a:off x="432" y="905"/>
              <a:ext cx="384" cy="631"/>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97" name="Line 10">
              <a:extLst>
                <a:ext uri="{FF2B5EF4-FFF2-40B4-BE49-F238E27FC236}">
                  <a16:creationId xmlns:a16="http://schemas.microsoft.com/office/drawing/2014/main" id="{D4093BD1-435C-4C25-9F11-9F3FD3E13C07}"/>
                </a:ext>
              </a:extLst>
            </p:cNvPr>
            <p:cNvSpPr>
              <a:spLocks noChangeShapeType="1"/>
            </p:cNvSpPr>
            <p:nvPr/>
          </p:nvSpPr>
          <p:spPr bwMode="auto">
            <a:xfrm flipH="1">
              <a:off x="192" y="554"/>
              <a:ext cx="336" cy="596"/>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98" name="Oval 11" descr="羊皮纸">
              <a:extLst>
                <a:ext uri="{FF2B5EF4-FFF2-40B4-BE49-F238E27FC236}">
                  <a16:creationId xmlns:a16="http://schemas.microsoft.com/office/drawing/2014/main" id="{1067011D-1E6F-4F46-A05C-1737D7952090}"/>
                </a:ext>
              </a:extLst>
            </p:cNvPr>
            <p:cNvSpPr>
              <a:spLocks noChangeArrowheads="1"/>
            </p:cNvSpPr>
            <p:nvPr/>
          </p:nvSpPr>
          <p:spPr bwMode="auto">
            <a:xfrm>
              <a:off x="432" y="378"/>
              <a:ext cx="288" cy="211"/>
            </a:xfrm>
            <a:prstGeom prst="ellipse">
              <a:avLst/>
            </a:prstGeom>
            <a:blipFill dpi="0" rotWithShape="0">
              <a:blip r:embed="rId2"/>
              <a:srcRect/>
              <a:tile tx="0" ty="0" sx="100000" sy="100000" flip="none" algn="tl"/>
            </a:blipFill>
            <a:ln w="381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7699" name="Oval 12" descr="羊皮纸">
              <a:extLst>
                <a:ext uri="{FF2B5EF4-FFF2-40B4-BE49-F238E27FC236}">
                  <a16:creationId xmlns:a16="http://schemas.microsoft.com/office/drawing/2014/main" id="{BD50F081-32FC-4AE2-A328-3FCA862A166B}"/>
                </a:ext>
              </a:extLst>
            </p:cNvPr>
            <p:cNvSpPr>
              <a:spLocks noChangeArrowheads="1"/>
            </p:cNvSpPr>
            <p:nvPr/>
          </p:nvSpPr>
          <p:spPr bwMode="auto">
            <a:xfrm>
              <a:off x="240" y="729"/>
              <a:ext cx="288" cy="211"/>
            </a:xfrm>
            <a:prstGeom prst="ellipse">
              <a:avLst/>
            </a:prstGeom>
            <a:blipFill dpi="0" rotWithShape="0">
              <a:blip r:embed="rId2"/>
              <a:srcRect/>
              <a:tile tx="0" ty="0" sx="100000" sy="100000" flip="none" algn="tl"/>
            </a:blipFill>
            <a:ln w="381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7700" name="Oval 13" descr="羊皮纸">
              <a:extLst>
                <a:ext uri="{FF2B5EF4-FFF2-40B4-BE49-F238E27FC236}">
                  <a16:creationId xmlns:a16="http://schemas.microsoft.com/office/drawing/2014/main" id="{874B6B7C-D665-4362-AE57-F2FCAAC51E59}"/>
                </a:ext>
              </a:extLst>
            </p:cNvPr>
            <p:cNvSpPr>
              <a:spLocks noChangeArrowheads="1"/>
            </p:cNvSpPr>
            <p:nvPr/>
          </p:nvSpPr>
          <p:spPr bwMode="auto">
            <a:xfrm>
              <a:off x="0" y="1115"/>
              <a:ext cx="288" cy="211"/>
            </a:xfrm>
            <a:prstGeom prst="ellipse">
              <a:avLst/>
            </a:prstGeom>
            <a:blipFill dpi="0" rotWithShape="0">
              <a:blip r:embed="rId2"/>
              <a:srcRect/>
              <a:tile tx="0" ty="0" sx="100000" sy="100000" flip="none" algn="tl"/>
            </a:blipFill>
            <a:ln w="381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7701" name="Oval 14" descr="羊皮纸">
              <a:extLst>
                <a:ext uri="{FF2B5EF4-FFF2-40B4-BE49-F238E27FC236}">
                  <a16:creationId xmlns:a16="http://schemas.microsoft.com/office/drawing/2014/main" id="{4C0E07AD-3563-4759-A19E-554DE2CB5537}"/>
                </a:ext>
              </a:extLst>
            </p:cNvPr>
            <p:cNvSpPr>
              <a:spLocks noChangeArrowheads="1"/>
            </p:cNvSpPr>
            <p:nvPr/>
          </p:nvSpPr>
          <p:spPr bwMode="auto">
            <a:xfrm>
              <a:off x="480" y="1115"/>
              <a:ext cx="288" cy="211"/>
            </a:xfrm>
            <a:prstGeom prst="ellipse">
              <a:avLst/>
            </a:prstGeom>
            <a:blipFill dpi="0" rotWithShape="0">
              <a:blip r:embed="rId2"/>
              <a:srcRect/>
              <a:tile tx="0" ty="0" sx="100000" sy="100000" flip="none" algn="tl"/>
            </a:blipFill>
            <a:ln w="381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7702" name="Oval 15" descr="羊皮纸">
              <a:extLst>
                <a:ext uri="{FF2B5EF4-FFF2-40B4-BE49-F238E27FC236}">
                  <a16:creationId xmlns:a16="http://schemas.microsoft.com/office/drawing/2014/main" id="{FF232624-57D7-4F0C-9C01-947BD5962607}"/>
                </a:ext>
              </a:extLst>
            </p:cNvPr>
            <p:cNvSpPr>
              <a:spLocks noChangeArrowheads="1"/>
            </p:cNvSpPr>
            <p:nvPr/>
          </p:nvSpPr>
          <p:spPr bwMode="auto">
            <a:xfrm>
              <a:off x="720" y="1501"/>
              <a:ext cx="288" cy="211"/>
            </a:xfrm>
            <a:prstGeom prst="ellipse">
              <a:avLst/>
            </a:prstGeom>
            <a:blipFill dpi="0" rotWithShape="0">
              <a:blip r:embed="rId2"/>
              <a:srcRect/>
              <a:tile tx="0" ty="0" sx="100000" sy="100000" flip="none" algn="tl"/>
            </a:blipFill>
            <a:ln w="381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7703" name="Oval 16" descr="羊皮纸">
              <a:extLst>
                <a:ext uri="{FF2B5EF4-FFF2-40B4-BE49-F238E27FC236}">
                  <a16:creationId xmlns:a16="http://schemas.microsoft.com/office/drawing/2014/main" id="{776F6724-1568-4C17-8238-51A13D6601EB}"/>
                </a:ext>
              </a:extLst>
            </p:cNvPr>
            <p:cNvSpPr>
              <a:spLocks noChangeArrowheads="1"/>
            </p:cNvSpPr>
            <p:nvPr/>
          </p:nvSpPr>
          <p:spPr bwMode="auto">
            <a:xfrm>
              <a:off x="240" y="1501"/>
              <a:ext cx="288" cy="211"/>
            </a:xfrm>
            <a:prstGeom prst="ellipse">
              <a:avLst/>
            </a:prstGeom>
            <a:blipFill dpi="0" rotWithShape="0">
              <a:blip r:embed="rId2"/>
              <a:srcRect/>
              <a:tile tx="0" ty="0" sx="100000" sy="100000" flip="none" algn="tl"/>
            </a:blipFill>
            <a:ln w="381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7704" name="Text Box 17">
              <a:extLst>
                <a:ext uri="{FF2B5EF4-FFF2-40B4-BE49-F238E27FC236}">
                  <a16:creationId xmlns:a16="http://schemas.microsoft.com/office/drawing/2014/main" id="{C92AFACC-CE83-46C6-A16D-F99B0C7FB0BA}"/>
                </a:ext>
              </a:extLst>
            </p:cNvPr>
            <p:cNvSpPr txBox="1">
              <a:spLocks noChangeArrowheads="1"/>
            </p:cNvSpPr>
            <p:nvPr/>
          </p:nvSpPr>
          <p:spPr bwMode="auto">
            <a:xfrm>
              <a:off x="465" y="344"/>
              <a:ext cx="232"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latin typeface="Times New Roman" panose="02020603050405020304" pitchFamily="18" charset="0"/>
                </a:rPr>
                <a:t>A</a:t>
              </a:r>
              <a:endParaRPr lang="en-US" altLang="zh-CN" sz="2000" i="0" dirty="0">
                <a:latin typeface="Times New Roman" panose="02020603050405020304" pitchFamily="18" charset="0"/>
              </a:endParaRPr>
            </a:p>
          </p:txBody>
        </p:sp>
        <p:sp>
          <p:nvSpPr>
            <p:cNvPr id="27705" name="Text Box 18">
              <a:extLst>
                <a:ext uri="{FF2B5EF4-FFF2-40B4-BE49-F238E27FC236}">
                  <a16:creationId xmlns:a16="http://schemas.microsoft.com/office/drawing/2014/main" id="{75311FCC-5EDF-407F-829F-2DC216BFEC9F}"/>
                </a:ext>
              </a:extLst>
            </p:cNvPr>
            <p:cNvSpPr txBox="1">
              <a:spLocks noChangeArrowheads="1"/>
            </p:cNvSpPr>
            <p:nvPr/>
          </p:nvSpPr>
          <p:spPr bwMode="auto">
            <a:xfrm>
              <a:off x="266" y="702"/>
              <a:ext cx="223"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latin typeface="Times New Roman" panose="02020603050405020304" pitchFamily="18" charset="0"/>
                </a:rPr>
                <a:t>B</a:t>
              </a:r>
              <a:endParaRPr lang="en-US" altLang="zh-CN" sz="2000" i="0" dirty="0">
                <a:latin typeface="Times New Roman" panose="02020603050405020304" pitchFamily="18" charset="0"/>
              </a:endParaRPr>
            </a:p>
          </p:txBody>
        </p:sp>
        <p:sp>
          <p:nvSpPr>
            <p:cNvPr id="27706" name="Text Box 19">
              <a:extLst>
                <a:ext uri="{FF2B5EF4-FFF2-40B4-BE49-F238E27FC236}">
                  <a16:creationId xmlns:a16="http://schemas.microsoft.com/office/drawing/2014/main" id="{6221999B-CD94-4C85-BD74-1970961F3B15}"/>
                </a:ext>
              </a:extLst>
            </p:cNvPr>
            <p:cNvSpPr txBox="1">
              <a:spLocks noChangeArrowheads="1"/>
            </p:cNvSpPr>
            <p:nvPr/>
          </p:nvSpPr>
          <p:spPr bwMode="auto">
            <a:xfrm>
              <a:off x="34" y="1102"/>
              <a:ext cx="232"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latin typeface="Times New Roman" panose="02020603050405020304" pitchFamily="18" charset="0"/>
                </a:rPr>
                <a:t>C</a:t>
              </a:r>
              <a:endParaRPr lang="en-US" altLang="zh-CN" sz="2000" i="0" dirty="0">
                <a:latin typeface="Times New Roman" panose="02020603050405020304" pitchFamily="18" charset="0"/>
              </a:endParaRPr>
            </a:p>
          </p:txBody>
        </p:sp>
        <p:sp>
          <p:nvSpPr>
            <p:cNvPr id="27707" name="Text Box 20">
              <a:extLst>
                <a:ext uri="{FF2B5EF4-FFF2-40B4-BE49-F238E27FC236}">
                  <a16:creationId xmlns:a16="http://schemas.microsoft.com/office/drawing/2014/main" id="{01538BDC-3D50-4DBD-AA19-9E267F02A2BE}"/>
                </a:ext>
              </a:extLst>
            </p:cNvPr>
            <p:cNvSpPr txBox="1">
              <a:spLocks noChangeArrowheads="1"/>
            </p:cNvSpPr>
            <p:nvPr/>
          </p:nvSpPr>
          <p:spPr bwMode="auto">
            <a:xfrm>
              <a:off x="501" y="1102"/>
              <a:ext cx="232"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latin typeface="Times New Roman" panose="02020603050405020304" pitchFamily="18" charset="0"/>
                </a:rPr>
                <a:t>D</a:t>
              </a:r>
              <a:endParaRPr lang="en-US" altLang="zh-CN" sz="2000" i="0" dirty="0">
                <a:latin typeface="Times New Roman" panose="02020603050405020304" pitchFamily="18" charset="0"/>
              </a:endParaRPr>
            </a:p>
          </p:txBody>
        </p:sp>
        <p:sp>
          <p:nvSpPr>
            <p:cNvPr id="27708" name="Text Box 21">
              <a:extLst>
                <a:ext uri="{FF2B5EF4-FFF2-40B4-BE49-F238E27FC236}">
                  <a16:creationId xmlns:a16="http://schemas.microsoft.com/office/drawing/2014/main" id="{8B90C906-596E-4AD6-A35B-CEBF8F44C13E}"/>
                </a:ext>
              </a:extLst>
            </p:cNvPr>
            <p:cNvSpPr txBox="1">
              <a:spLocks noChangeArrowheads="1"/>
            </p:cNvSpPr>
            <p:nvPr/>
          </p:nvSpPr>
          <p:spPr bwMode="auto">
            <a:xfrm>
              <a:off x="765" y="1488"/>
              <a:ext cx="214"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latin typeface="Times New Roman" panose="02020603050405020304" pitchFamily="18" charset="0"/>
                </a:rPr>
                <a:t>F</a:t>
              </a:r>
              <a:endParaRPr lang="en-US" altLang="zh-CN" sz="2000" i="0" dirty="0">
                <a:latin typeface="Times New Roman" panose="02020603050405020304" pitchFamily="18" charset="0"/>
              </a:endParaRPr>
            </a:p>
          </p:txBody>
        </p:sp>
        <p:sp>
          <p:nvSpPr>
            <p:cNvPr id="27709" name="Text Box 22">
              <a:extLst>
                <a:ext uri="{FF2B5EF4-FFF2-40B4-BE49-F238E27FC236}">
                  <a16:creationId xmlns:a16="http://schemas.microsoft.com/office/drawing/2014/main" id="{1FB3D428-85C8-41D5-AA7A-A70BE9D8FA1A}"/>
                </a:ext>
              </a:extLst>
            </p:cNvPr>
            <p:cNvSpPr txBox="1">
              <a:spLocks noChangeArrowheads="1"/>
            </p:cNvSpPr>
            <p:nvPr/>
          </p:nvSpPr>
          <p:spPr bwMode="auto">
            <a:xfrm>
              <a:off x="281" y="1488"/>
              <a:ext cx="223"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latin typeface="Times New Roman" panose="02020603050405020304" pitchFamily="18" charset="0"/>
                </a:rPr>
                <a:t>E</a:t>
              </a:r>
              <a:endParaRPr lang="en-US" altLang="zh-CN" sz="2000" i="0" dirty="0">
                <a:latin typeface="Times New Roman" panose="02020603050405020304" pitchFamily="18" charset="0"/>
              </a:endParaRPr>
            </a:p>
          </p:txBody>
        </p:sp>
        <p:sp>
          <p:nvSpPr>
            <p:cNvPr id="27710" name="Line 23">
              <a:extLst>
                <a:ext uri="{FF2B5EF4-FFF2-40B4-BE49-F238E27FC236}">
                  <a16:creationId xmlns:a16="http://schemas.microsoft.com/office/drawing/2014/main" id="{9F108803-4080-4C2B-A702-2E9CDECA36D7}"/>
                </a:ext>
              </a:extLst>
            </p:cNvPr>
            <p:cNvSpPr>
              <a:spLocks noChangeShapeType="1"/>
            </p:cNvSpPr>
            <p:nvPr/>
          </p:nvSpPr>
          <p:spPr bwMode="auto">
            <a:xfrm flipH="1">
              <a:off x="624" y="238"/>
              <a:ext cx="144" cy="140"/>
            </a:xfrm>
            <a:prstGeom prst="line">
              <a:avLst/>
            </a:prstGeom>
            <a:noFill/>
            <a:ln w="381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711" name="Text Box 24">
              <a:extLst>
                <a:ext uri="{FF2B5EF4-FFF2-40B4-BE49-F238E27FC236}">
                  <a16:creationId xmlns:a16="http://schemas.microsoft.com/office/drawing/2014/main" id="{F27AEC30-0E1B-4AF2-88A0-A1C70E3EB2BD}"/>
                </a:ext>
              </a:extLst>
            </p:cNvPr>
            <p:cNvSpPr txBox="1">
              <a:spLocks noChangeArrowheads="1"/>
            </p:cNvSpPr>
            <p:nvPr/>
          </p:nvSpPr>
          <p:spPr bwMode="auto">
            <a:xfrm>
              <a:off x="661" y="0"/>
              <a:ext cx="400"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a:latin typeface="Times New Roman" panose="02020603050405020304" pitchFamily="18" charset="0"/>
                </a:rPr>
                <a:t>root</a:t>
              </a:r>
              <a:endParaRPr lang="en-US" altLang="zh-CN" sz="2000">
                <a:latin typeface="Times New Roman" panose="02020603050405020304" pitchFamily="18" charset="0"/>
              </a:endParaRPr>
            </a:p>
          </p:txBody>
        </p:sp>
      </p:grpSp>
      <p:grpSp>
        <p:nvGrpSpPr>
          <p:cNvPr id="8" name="组合 7">
            <a:extLst>
              <a:ext uri="{FF2B5EF4-FFF2-40B4-BE49-F238E27FC236}">
                <a16:creationId xmlns:a16="http://schemas.microsoft.com/office/drawing/2014/main" id="{E25B8BD0-94E1-FE63-6EF0-B9426D11F641}"/>
              </a:ext>
            </a:extLst>
          </p:cNvPr>
          <p:cNvGrpSpPr/>
          <p:nvPr/>
        </p:nvGrpSpPr>
        <p:grpSpPr>
          <a:xfrm>
            <a:off x="5704310" y="3481965"/>
            <a:ext cx="990600" cy="800100"/>
            <a:chOff x="5837238" y="4802212"/>
            <a:chExt cx="990600" cy="800100"/>
          </a:xfrm>
        </p:grpSpPr>
        <p:grpSp>
          <p:nvGrpSpPr>
            <p:cNvPr id="7" name="组合 6">
              <a:extLst>
                <a:ext uri="{FF2B5EF4-FFF2-40B4-BE49-F238E27FC236}">
                  <a16:creationId xmlns:a16="http://schemas.microsoft.com/office/drawing/2014/main" id="{572FD387-15A9-7DAE-2D99-F41A239E9CE8}"/>
                </a:ext>
              </a:extLst>
            </p:cNvPr>
            <p:cNvGrpSpPr/>
            <p:nvPr/>
          </p:nvGrpSpPr>
          <p:grpSpPr>
            <a:xfrm>
              <a:off x="5837238" y="4802212"/>
              <a:ext cx="990600" cy="800100"/>
              <a:chOff x="5837238" y="4802212"/>
              <a:chExt cx="990600" cy="800100"/>
            </a:xfrm>
          </p:grpSpPr>
          <p:grpSp>
            <p:nvGrpSpPr>
              <p:cNvPr id="6" name="组合 5">
                <a:extLst>
                  <a:ext uri="{FF2B5EF4-FFF2-40B4-BE49-F238E27FC236}">
                    <a16:creationId xmlns:a16="http://schemas.microsoft.com/office/drawing/2014/main" id="{6473654E-1916-B811-BBC1-2A75906FBB9D}"/>
                  </a:ext>
                </a:extLst>
              </p:cNvPr>
              <p:cNvGrpSpPr/>
              <p:nvPr/>
            </p:nvGrpSpPr>
            <p:grpSpPr>
              <a:xfrm>
                <a:off x="5837238" y="4802212"/>
                <a:ext cx="990600" cy="781050"/>
                <a:chOff x="5837238" y="4802212"/>
                <a:chExt cx="990600" cy="781050"/>
              </a:xfrm>
            </p:grpSpPr>
            <p:sp>
              <p:nvSpPr>
                <p:cNvPr id="27669" name="Rectangle 38" descr="羊皮纸">
                  <a:extLst>
                    <a:ext uri="{FF2B5EF4-FFF2-40B4-BE49-F238E27FC236}">
                      <a16:creationId xmlns:a16="http://schemas.microsoft.com/office/drawing/2014/main" id="{92FE7C54-5338-44A6-A815-0C782F37C9C8}"/>
                    </a:ext>
                  </a:extLst>
                </p:cNvPr>
                <p:cNvSpPr>
                  <a:spLocks noChangeArrowheads="1"/>
                </p:cNvSpPr>
                <p:nvPr/>
              </p:nvSpPr>
              <p:spPr bwMode="auto">
                <a:xfrm>
                  <a:off x="5837238" y="5248300"/>
                  <a:ext cx="990600" cy="334962"/>
                </a:xfrm>
                <a:prstGeom prst="rect">
                  <a:avLst/>
                </a:prstGeom>
                <a:blipFill dpi="0" rotWithShape="0">
                  <a:blip r:embed="rId2"/>
                  <a:srcRect/>
                  <a:tile tx="0" ty="0" sx="100000" sy="100000" flip="none" algn="tl"/>
                </a:blipFill>
                <a:ln w="381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7678" name="Line 47">
                  <a:extLst>
                    <a:ext uri="{FF2B5EF4-FFF2-40B4-BE49-F238E27FC236}">
                      <a16:creationId xmlns:a16="http://schemas.microsoft.com/office/drawing/2014/main" id="{CB117999-3DEE-4382-9FE8-A6847C240AF7}"/>
                    </a:ext>
                  </a:extLst>
                </p:cNvPr>
                <p:cNvSpPr>
                  <a:spLocks noChangeShapeType="1"/>
                </p:cNvSpPr>
                <p:nvPr/>
              </p:nvSpPr>
              <p:spPr bwMode="auto">
                <a:xfrm>
                  <a:off x="6142038" y="4802212"/>
                  <a:ext cx="228600" cy="446087"/>
                </a:xfrm>
                <a:prstGeom prst="line">
                  <a:avLst/>
                </a:prstGeom>
                <a:noFill/>
                <a:ln w="38100">
                  <a:solidFill>
                    <a:srgbClr val="0099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7671" name="Line 40">
                <a:extLst>
                  <a:ext uri="{FF2B5EF4-FFF2-40B4-BE49-F238E27FC236}">
                    <a16:creationId xmlns:a16="http://schemas.microsoft.com/office/drawing/2014/main" id="{06E72ADE-BB01-43D0-9265-ACE64D6B4C36}"/>
                  </a:ext>
                </a:extLst>
              </p:cNvPr>
              <p:cNvSpPr>
                <a:spLocks noChangeShapeType="1"/>
              </p:cNvSpPr>
              <p:nvPr/>
            </p:nvSpPr>
            <p:spPr bwMode="auto">
              <a:xfrm>
                <a:off x="6523038" y="5248300"/>
                <a:ext cx="0" cy="334962"/>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90" name="Text Box 59">
                <a:extLst>
                  <a:ext uri="{FF2B5EF4-FFF2-40B4-BE49-F238E27FC236}">
                    <a16:creationId xmlns:a16="http://schemas.microsoft.com/office/drawing/2014/main" id="{81CCACDF-4AD5-425D-BC4B-E642198E338A}"/>
                  </a:ext>
                </a:extLst>
              </p:cNvPr>
              <p:cNvSpPr txBox="1">
                <a:spLocks noChangeArrowheads="1"/>
              </p:cNvSpPr>
              <p:nvPr/>
            </p:nvSpPr>
            <p:spPr bwMode="auto">
              <a:xfrm>
                <a:off x="6119813" y="5205437"/>
                <a:ext cx="368300"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latin typeface="Times New Roman" panose="02020603050405020304" pitchFamily="18" charset="0"/>
                  </a:rPr>
                  <a:t>D</a:t>
                </a:r>
                <a:endParaRPr lang="en-US" altLang="zh-CN" sz="2000" i="0" dirty="0">
                  <a:latin typeface="Times New Roman" panose="02020603050405020304" pitchFamily="18" charset="0"/>
                </a:endParaRPr>
              </a:p>
            </p:txBody>
          </p:sp>
        </p:grpSp>
        <p:sp>
          <p:nvSpPr>
            <p:cNvPr id="27670" name="Line 39">
              <a:extLst>
                <a:ext uri="{FF2B5EF4-FFF2-40B4-BE49-F238E27FC236}">
                  <a16:creationId xmlns:a16="http://schemas.microsoft.com/office/drawing/2014/main" id="{64A60E21-94F1-4772-B848-28FBF4249135}"/>
                </a:ext>
              </a:extLst>
            </p:cNvPr>
            <p:cNvSpPr>
              <a:spLocks noChangeShapeType="1"/>
            </p:cNvSpPr>
            <p:nvPr/>
          </p:nvSpPr>
          <p:spPr bwMode="auto">
            <a:xfrm>
              <a:off x="6142038" y="5248300"/>
              <a:ext cx="0" cy="334962"/>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7675" name="Line 44">
            <a:extLst>
              <a:ext uri="{FF2B5EF4-FFF2-40B4-BE49-F238E27FC236}">
                <a16:creationId xmlns:a16="http://schemas.microsoft.com/office/drawing/2014/main" id="{AA59C55E-02CE-416D-9621-3CF4939A5A8A}"/>
              </a:ext>
            </a:extLst>
          </p:cNvPr>
          <p:cNvSpPr>
            <a:spLocks noChangeShapeType="1"/>
          </p:cNvSpPr>
          <p:nvPr/>
        </p:nvSpPr>
        <p:spPr bwMode="auto">
          <a:xfrm flipH="1">
            <a:off x="5551910" y="2869190"/>
            <a:ext cx="304800" cy="446087"/>
          </a:xfrm>
          <a:prstGeom prst="line">
            <a:avLst/>
          </a:prstGeom>
          <a:noFill/>
          <a:ln w="38100">
            <a:solidFill>
              <a:srgbClr val="0099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76" name="Line 45">
            <a:extLst>
              <a:ext uri="{FF2B5EF4-FFF2-40B4-BE49-F238E27FC236}">
                <a16:creationId xmlns:a16="http://schemas.microsoft.com/office/drawing/2014/main" id="{43EB3C74-62CE-4E3C-8094-D21CC94C02EB}"/>
              </a:ext>
            </a:extLst>
          </p:cNvPr>
          <p:cNvSpPr>
            <a:spLocks noChangeShapeType="1"/>
          </p:cNvSpPr>
          <p:nvPr/>
        </p:nvSpPr>
        <p:spPr bwMode="auto">
          <a:xfrm flipH="1">
            <a:off x="5018510" y="3481965"/>
            <a:ext cx="304800" cy="446087"/>
          </a:xfrm>
          <a:prstGeom prst="line">
            <a:avLst/>
          </a:prstGeom>
          <a:noFill/>
          <a:ln w="38100">
            <a:solidFill>
              <a:srgbClr val="0099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77" name="Line 46">
            <a:extLst>
              <a:ext uri="{FF2B5EF4-FFF2-40B4-BE49-F238E27FC236}">
                <a16:creationId xmlns:a16="http://schemas.microsoft.com/office/drawing/2014/main" id="{12BC2A2A-25C4-4F82-BBD3-2D475CDF2448}"/>
              </a:ext>
            </a:extLst>
          </p:cNvPr>
          <p:cNvSpPr>
            <a:spLocks noChangeShapeType="1"/>
          </p:cNvSpPr>
          <p:nvPr/>
        </p:nvSpPr>
        <p:spPr bwMode="auto">
          <a:xfrm flipH="1">
            <a:off x="5551910" y="4094740"/>
            <a:ext cx="304800" cy="446087"/>
          </a:xfrm>
          <a:prstGeom prst="line">
            <a:avLst/>
          </a:prstGeom>
          <a:noFill/>
          <a:ln w="38100">
            <a:solidFill>
              <a:srgbClr val="0099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 name="组合 13">
            <a:extLst>
              <a:ext uri="{FF2B5EF4-FFF2-40B4-BE49-F238E27FC236}">
                <a16:creationId xmlns:a16="http://schemas.microsoft.com/office/drawing/2014/main" id="{70E9AAF5-5929-4CFD-037D-113D00D9EFE7}"/>
              </a:ext>
            </a:extLst>
          </p:cNvPr>
          <p:cNvGrpSpPr/>
          <p:nvPr/>
        </p:nvGrpSpPr>
        <p:grpSpPr>
          <a:xfrm>
            <a:off x="6214764" y="4131030"/>
            <a:ext cx="1003877" cy="786035"/>
            <a:chOff x="6347692" y="5451277"/>
            <a:chExt cx="1003877" cy="786035"/>
          </a:xfrm>
        </p:grpSpPr>
        <p:grpSp>
          <p:nvGrpSpPr>
            <p:cNvPr id="11" name="组合 10">
              <a:extLst>
                <a:ext uri="{FF2B5EF4-FFF2-40B4-BE49-F238E27FC236}">
                  <a16:creationId xmlns:a16="http://schemas.microsoft.com/office/drawing/2014/main" id="{DF7A376C-9561-4CF5-1BA4-B8B8F092174C}"/>
                </a:ext>
              </a:extLst>
            </p:cNvPr>
            <p:cNvGrpSpPr/>
            <p:nvPr/>
          </p:nvGrpSpPr>
          <p:grpSpPr>
            <a:xfrm>
              <a:off x="6347692" y="5840437"/>
              <a:ext cx="990600" cy="396875"/>
              <a:chOff x="6370638" y="5840437"/>
              <a:chExt cx="990600" cy="396875"/>
            </a:xfrm>
          </p:grpSpPr>
          <p:sp>
            <p:nvSpPr>
              <p:cNvPr id="27666" name="Rectangle 35" descr="羊皮纸">
                <a:extLst>
                  <a:ext uri="{FF2B5EF4-FFF2-40B4-BE49-F238E27FC236}">
                    <a16:creationId xmlns:a16="http://schemas.microsoft.com/office/drawing/2014/main" id="{C621A133-3D51-4B71-8F8E-25CADCF10F7E}"/>
                  </a:ext>
                </a:extLst>
              </p:cNvPr>
              <p:cNvSpPr>
                <a:spLocks noChangeArrowheads="1"/>
              </p:cNvSpPr>
              <p:nvPr/>
            </p:nvSpPr>
            <p:spPr bwMode="auto">
              <a:xfrm>
                <a:off x="6370638" y="5861075"/>
                <a:ext cx="990600" cy="334962"/>
              </a:xfrm>
              <a:prstGeom prst="rect">
                <a:avLst/>
              </a:prstGeom>
              <a:blipFill dpi="0" rotWithShape="0">
                <a:blip r:embed="rId2"/>
                <a:srcRect/>
                <a:tile tx="0" ty="0" sx="100000" sy="100000" flip="none" algn="tl"/>
              </a:blipFill>
              <a:ln w="381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7668" name="Line 37">
                <a:extLst>
                  <a:ext uri="{FF2B5EF4-FFF2-40B4-BE49-F238E27FC236}">
                    <a16:creationId xmlns:a16="http://schemas.microsoft.com/office/drawing/2014/main" id="{8E6588EA-8798-4D85-9319-2875A2AD8806}"/>
                  </a:ext>
                </a:extLst>
              </p:cNvPr>
              <p:cNvSpPr>
                <a:spLocks noChangeShapeType="1"/>
              </p:cNvSpPr>
              <p:nvPr/>
            </p:nvSpPr>
            <p:spPr bwMode="auto">
              <a:xfrm>
                <a:off x="7056438" y="5861075"/>
                <a:ext cx="0" cy="334962"/>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91" name="Text Box 60">
                <a:extLst>
                  <a:ext uri="{FF2B5EF4-FFF2-40B4-BE49-F238E27FC236}">
                    <a16:creationId xmlns:a16="http://schemas.microsoft.com/office/drawing/2014/main" id="{261D8B12-60D3-421D-8D10-FECB4937D1DB}"/>
                  </a:ext>
                </a:extLst>
              </p:cNvPr>
              <p:cNvSpPr txBox="1">
                <a:spLocks noChangeArrowheads="1"/>
              </p:cNvSpPr>
              <p:nvPr/>
            </p:nvSpPr>
            <p:spPr bwMode="auto">
              <a:xfrm>
                <a:off x="6670675" y="5840437"/>
                <a:ext cx="339725"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latin typeface="Times New Roman" panose="02020603050405020304" pitchFamily="18" charset="0"/>
                  </a:rPr>
                  <a:t>F</a:t>
                </a:r>
                <a:endParaRPr lang="en-US" altLang="zh-CN" sz="2000" i="0" dirty="0">
                  <a:latin typeface="Times New Roman" panose="02020603050405020304" pitchFamily="18" charset="0"/>
                </a:endParaRPr>
              </a:p>
            </p:txBody>
          </p:sp>
        </p:grpSp>
        <p:grpSp>
          <p:nvGrpSpPr>
            <p:cNvPr id="13" name="组合 12">
              <a:extLst>
                <a:ext uri="{FF2B5EF4-FFF2-40B4-BE49-F238E27FC236}">
                  <a16:creationId xmlns:a16="http://schemas.microsoft.com/office/drawing/2014/main" id="{9398AFC4-25F2-4296-791D-4BE34E1396E5}"/>
                </a:ext>
              </a:extLst>
            </p:cNvPr>
            <p:cNvGrpSpPr/>
            <p:nvPr/>
          </p:nvGrpSpPr>
          <p:grpSpPr>
            <a:xfrm>
              <a:off x="6387729" y="5451277"/>
              <a:ext cx="963840" cy="752698"/>
              <a:chOff x="5090820" y="5654477"/>
              <a:chExt cx="963840" cy="752698"/>
            </a:xfrm>
          </p:grpSpPr>
          <p:sp>
            <p:nvSpPr>
              <p:cNvPr id="27667" name="Line 36">
                <a:extLst>
                  <a:ext uri="{FF2B5EF4-FFF2-40B4-BE49-F238E27FC236}">
                    <a16:creationId xmlns:a16="http://schemas.microsoft.com/office/drawing/2014/main" id="{07D2C3C3-08BF-45F4-99A6-5B04010861AB}"/>
                  </a:ext>
                </a:extLst>
              </p:cNvPr>
              <p:cNvSpPr>
                <a:spLocks noChangeShapeType="1"/>
              </p:cNvSpPr>
              <p:nvPr/>
            </p:nvSpPr>
            <p:spPr bwMode="auto">
              <a:xfrm>
                <a:off x="5381704" y="6057007"/>
                <a:ext cx="0" cy="334962"/>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0" name="组合 9">
                <a:extLst>
                  <a:ext uri="{FF2B5EF4-FFF2-40B4-BE49-F238E27FC236}">
                    <a16:creationId xmlns:a16="http://schemas.microsoft.com/office/drawing/2014/main" id="{DE8FC308-C910-C1C9-BB39-799CE1329417}"/>
                  </a:ext>
                </a:extLst>
              </p:cNvPr>
              <p:cNvGrpSpPr/>
              <p:nvPr/>
            </p:nvGrpSpPr>
            <p:grpSpPr>
              <a:xfrm>
                <a:off x="5090820" y="5654477"/>
                <a:ext cx="963840" cy="752698"/>
                <a:chOff x="5101933" y="5676702"/>
                <a:chExt cx="963840" cy="752698"/>
              </a:xfrm>
            </p:grpSpPr>
            <p:sp>
              <p:nvSpPr>
                <p:cNvPr id="27679" name="Line 48">
                  <a:extLst>
                    <a:ext uri="{FF2B5EF4-FFF2-40B4-BE49-F238E27FC236}">
                      <a16:creationId xmlns:a16="http://schemas.microsoft.com/office/drawing/2014/main" id="{ACCE3129-6B3F-4147-BF1D-791BDC78B0E5}"/>
                    </a:ext>
                  </a:extLst>
                </p:cNvPr>
                <p:cNvSpPr>
                  <a:spLocks noChangeShapeType="1"/>
                </p:cNvSpPr>
                <p:nvPr/>
              </p:nvSpPr>
              <p:spPr bwMode="auto">
                <a:xfrm>
                  <a:off x="5357521" y="5676702"/>
                  <a:ext cx="228600" cy="446087"/>
                </a:xfrm>
                <a:prstGeom prst="line">
                  <a:avLst/>
                </a:prstGeom>
                <a:noFill/>
                <a:ln w="38100">
                  <a:solidFill>
                    <a:srgbClr val="0099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85" name="Text Box 54">
                  <a:extLst>
                    <a:ext uri="{FF2B5EF4-FFF2-40B4-BE49-F238E27FC236}">
                      <a16:creationId xmlns:a16="http://schemas.microsoft.com/office/drawing/2014/main" id="{3319461D-4ECF-49B1-9729-0E9A83E15454}"/>
                    </a:ext>
                  </a:extLst>
                </p:cNvPr>
                <p:cNvSpPr txBox="1">
                  <a:spLocks noChangeArrowheads="1"/>
                </p:cNvSpPr>
                <p:nvPr/>
              </p:nvSpPr>
              <p:spPr bwMode="auto">
                <a:xfrm>
                  <a:off x="5101933" y="6032525"/>
                  <a:ext cx="338138"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000" b="1" i="0" dirty="0">
                      <a:latin typeface="Times New Roman" panose="02020603050405020304" pitchFamily="18" charset="0"/>
                      <a:sym typeface="Symbol" panose="05050102010706020507" pitchFamily="18" charset="2"/>
                    </a:rPr>
                    <a:t></a:t>
                  </a:r>
                  <a:endParaRPr lang="zh-CN" altLang="en-US" sz="2000" i="0" dirty="0">
                    <a:latin typeface="Times New Roman" panose="02020603050405020304" pitchFamily="18" charset="0"/>
                  </a:endParaRPr>
                </a:p>
              </p:txBody>
            </p:sp>
            <p:sp>
              <p:nvSpPr>
                <p:cNvPr id="27686" name="Text Box 55">
                  <a:extLst>
                    <a:ext uri="{FF2B5EF4-FFF2-40B4-BE49-F238E27FC236}">
                      <a16:creationId xmlns:a16="http://schemas.microsoft.com/office/drawing/2014/main" id="{6A6EE099-F0BF-4BB5-A07E-8F70C12AF658}"/>
                    </a:ext>
                  </a:extLst>
                </p:cNvPr>
                <p:cNvSpPr txBox="1">
                  <a:spLocks noChangeArrowheads="1"/>
                </p:cNvSpPr>
                <p:nvPr/>
              </p:nvSpPr>
              <p:spPr bwMode="auto">
                <a:xfrm>
                  <a:off x="5727635" y="6002238"/>
                  <a:ext cx="338138"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000" b="1" i="0" dirty="0">
                      <a:latin typeface="Times New Roman" panose="02020603050405020304" pitchFamily="18" charset="0"/>
                      <a:sym typeface="Symbol" panose="05050102010706020507" pitchFamily="18" charset="2"/>
                    </a:rPr>
                    <a:t></a:t>
                  </a:r>
                  <a:endParaRPr lang="zh-CN" altLang="en-US" sz="2000" i="0" dirty="0">
                    <a:latin typeface="Times New Roman" panose="02020603050405020304" pitchFamily="18" charset="0"/>
                  </a:endParaRPr>
                </a:p>
              </p:txBody>
            </p:sp>
          </p:grpSp>
        </p:grpSp>
      </p:grpSp>
      <p:grpSp>
        <p:nvGrpSpPr>
          <p:cNvPr id="4" name="组合 3">
            <a:extLst>
              <a:ext uri="{FF2B5EF4-FFF2-40B4-BE49-F238E27FC236}">
                <a16:creationId xmlns:a16="http://schemas.microsoft.com/office/drawing/2014/main" id="{88B9E812-0A17-91C8-8ABC-300113DCEFBD}"/>
              </a:ext>
            </a:extLst>
          </p:cNvPr>
          <p:cNvGrpSpPr/>
          <p:nvPr/>
        </p:nvGrpSpPr>
        <p:grpSpPr>
          <a:xfrm>
            <a:off x="5170910" y="3272415"/>
            <a:ext cx="990600" cy="396875"/>
            <a:chOff x="5303838" y="4592662"/>
            <a:chExt cx="990600" cy="396875"/>
          </a:xfrm>
        </p:grpSpPr>
        <p:sp>
          <p:nvSpPr>
            <p:cNvPr id="27660" name="Rectangle 29" descr="羊皮纸">
              <a:extLst>
                <a:ext uri="{FF2B5EF4-FFF2-40B4-BE49-F238E27FC236}">
                  <a16:creationId xmlns:a16="http://schemas.microsoft.com/office/drawing/2014/main" id="{4062D0C9-3CD6-4F95-9E28-9A82C95CF7DC}"/>
                </a:ext>
              </a:extLst>
            </p:cNvPr>
            <p:cNvSpPr>
              <a:spLocks noChangeArrowheads="1"/>
            </p:cNvSpPr>
            <p:nvPr/>
          </p:nvSpPr>
          <p:spPr bwMode="auto">
            <a:xfrm>
              <a:off x="5303838" y="4635525"/>
              <a:ext cx="990600" cy="334962"/>
            </a:xfrm>
            <a:prstGeom prst="rect">
              <a:avLst/>
            </a:prstGeom>
            <a:blipFill dpi="0" rotWithShape="0">
              <a:blip r:embed="rId2"/>
              <a:srcRect/>
              <a:tile tx="0" ty="0" sx="100000" sy="100000" flip="none" algn="tl"/>
            </a:blipFill>
            <a:ln w="381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7661" name="Line 30">
              <a:extLst>
                <a:ext uri="{FF2B5EF4-FFF2-40B4-BE49-F238E27FC236}">
                  <a16:creationId xmlns:a16="http://schemas.microsoft.com/office/drawing/2014/main" id="{74677808-9482-4521-9F2E-2BF613075FE6}"/>
                </a:ext>
              </a:extLst>
            </p:cNvPr>
            <p:cNvSpPr>
              <a:spLocks noChangeShapeType="1"/>
            </p:cNvSpPr>
            <p:nvPr/>
          </p:nvSpPr>
          <p:spPr bwMode="auto">
            <a:xfrm>
              <a:off x="5608638" y="4635525"/>
              <a:ext cx="0" cy="334962"/>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62" name="Line 31">
              <a:extLst>
                <a:ext uri="{FF2B5EF4-FFF2-40B4-BE49-F238E27FC236}">
                  <a16:creationId xmlns:a16="http://schemas.microsoft.com/office/drawing/2014/main" id="{47E2E05B-7FB7-48EE-84A2-031D789FAA10}"/>
                </a:ext>
              </a:extLst>
            </p:cNvPr>
            <p:cNvSpPr>
              <a:spLocks noChangeShapeType="1"/>
            </p:cNvSpPr>
            <p:nvPr/>
          </p:nvSpPr>
          <p:spPr bwMode="auto">
            <a:xfrm>
              <a:off x="5989638" y="4635525"/>
              <a:ext cx="0" cy="334962"/>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88" name="Text Box 57">
              <a:extLst>
                <a:ext uri="{FF2B5EF4-FFF2-40B4-BE49-F238E27FC236}">
                  <a16:creationId xmlns:a16="http://schemas.microsoft.com/office/drawing/2014/main" id="{1221A3A3-B2BA-4095-8BF7-E7133BF85C8C}"/>
                </a:ext>
              </a:extLst>
            </p:cNvPr>
            <p:cNvSpPr txBox="1">
              <a:spLocks noChangeArrowheads="1"/>
            </p:cNvSpPr>
            <p:nvPr/>
          </p:nvSpPr>
          <p:spPr bwMode="auto">
            <a:xfrm>
              <a:off x="5584825" y="4592662"/>
              <a:ext cx="354013"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latin typeface="Times New Roman" panose="02020603050405020304" pitchFamily="18" charset="0"/>
                </a:rPr>
                <a:t>B</a:t>
              </a:r>
              <a:endParaRPr lang="en-US" altLang="zh-CN" sz="2000" i="0" dirty="0">
                <a:latin typeface="Times New Roman" panose="02020603050405020304" pitchFamily="18" charset="0"/>
              </a:endParaRPr>
            </a:p>
          </p:txBody>
        </p:sp>
      </p:grpSp>
      <p:grpSp>
        <p:nvGrpSpPr>
          <p:cNvPr id="5" name="组合 4">
            <a:extLst>
              <a:ext uri="{FF2B5EF4-FFF2-40B4-BE49-F238E27FC236}">
                <a16:creationId xmlns:a16="http://schemas.microsoft.com/office/drawing/2014/main" id="{AF70DDA8-0AA4-0E16-9D28-7270140CAAFF}"/>
              </a:ext>
            </a:extLst>
          </p:cNvPr>
          <p:cNvGrpSpPr/>
          <p:nvPr/>
        </p:nvGrpSpPr>
        <p:grpSpPr>
          <a:xfrm>
            <a:off x="4515272" y="3859790"/>
            <a:ext cx="1036638" cy="444500"/>
            <a:chOff x="4648200" y="5180037"/>
            <a:chExt cx="1036638" cy="444500"/>
          </a:xfrm>
        </p:grpSpPr>
        <p:sp>
          <p:nvSpPr>
            <p:cNvPr id="27672" name="Rectangle 41" descr="羊皮纸">
              <a:extLst>
                <a:ext uri="{FF2B5EF4-FFF2-40B4-BE49-F238E27FC236}">
                  <a16:creationId xmlns:a16="http://schemas.microsoft.com/office/drawing/2014/main" id="{02BDD59B-3603-4913-A28A-537AE9F7916E}"/>
                </a:ext>
              </a:extLst>
            </p:cNvPr>
            <p:cNvSpPr>
              <a:spLocks noChangeArrowheads="1"/>
            </p:cNvSpPr>
            <p:nvPr/>
          </p:nvSpPr>
          <p:spPr bwMode="auto">
            <a:xfrm>
              <a:off x="4694238" y="5248300"/>
              <a:ext cx="990600" cy="334962"/>
            </a:xfrm>
            <a:prstGeom prst="rect">
              <a:avLst/>
            </a:prstGeom>
            <a:blipFill dpi="0" rotWithShape="0">
              <a:blip r:embed="rId2"/>
              <a:srcRect/>
              <a:tile tx="0" ty="0" sx="100000" sy="100000" flip="none" algn="tl"/>
            </a:blipFill>
            <a:ln w="381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7673" name="Line 42">
              <a:extLst>
                <a:ext uri="{FF2B5EF4-FFF2-40B4-BE49-F238E27FC236}">
                  <a16:creationId xmlns:a16="http://schemas.microsoft.com/office/drawing/2014/main" id="{4E0418A8-2C29-41D9-97EE-DD38DE1FEE6D}"/>
                </a:ext>
              </a:extLst>
            </p:cNvPr>
            <p:cNvSpPr>
              <a:spLocks noChangeShapeType="1"/>
            </p:cNvSpPr>
            <p:nvPr/>
          </p:nvSpPr>
          <p:spPr bwMode="auto">
            <a:xfrm flipH="1">
              <a:off x="4999038" y="5248300"/>
              <a:ext cx="0" cy="334962"/>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74" name="Line 43">
              <a:extLst>
                <a:ext uri="{FF2B5EF4-FFF2-40B4-BE49-F238E27FC236}">
                  <a16:creationId xmlns:a16="http://schemas.microsoft.com/office/drawing/2014/main" id="{466B5447-DD64-47FF-B61A-B1D4C4368B2D}"/>
                </a:ext>
              </a:extLst>
            </p:cNvPr>
            <p:cNvSpPr>
              <a:spLocks noChangeShapeType="1"/>
            </p:cNvSpPr>
            <p:nvPr/>
          </p:nvSpPr>
          <p:spPr bwMode="auto">
            <a:xfrm>
              <a:off x="5380038" y="5248300"/>
              <a:ext cx="0" cy="334962"/>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81" name="Text Box 50">
              <a:extLst>
                <a:ext uri="{FF2B5EF4-FFF2-40B4-BE49-F238E27FC236}">
                  <a16:creationId xmlns:a16="http://schemas.microsoft.com/office/drawing/2014/main" id="{E2891206-A3E2-4D16-B895-843B9AE76A65}"/>
                </a:ext>
              </a:extLst>
            </p:cNvPr>
            <p:cNvSpPr txBox="1">
              <a:spLocks noChangeArrowheads="1"/>
            </p:cNvSpPr>
            <p:nvPr/>
          </p:nvSpPr>
          <p:spPr bwMode="auto">
            <a:xfrm>
              <a:off x="4648200" y="5194325"/>
              <a:ext cx="338138"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000" b="1" i="0" dirty="0">
                  <a:latin typeface="Times New Roman" panose="02020603050405020304" pitchFamily="18" charset="0"/>
                  <a:sym typeface="Symbol" panose="05050102010706020507" pitchFamily="18" charset="2"/>
                </a:rPr>
                <a:t></a:t>
              </a:r>
              <a:endParaRPr lang="zh-CN" altLang="en-US" sz="2000" i="0" dirty="0">
                <a:latin typeface="Times New Roman" panose="02020603050405020304" pitchFamily="18" charset="0"/>
              </a:endParaRPr>
            </a:p>
          </p:txBody>
        </p:sp>
        <p:sp>
          <p:nvSpPr>
            <p:cNvPr id="27682" name="Text Box 51">
              <a:extLst>
                <a:ext uri="{FF2B5EF4-FFF2-40B4-BE49-F238E27FC236}">
                  <a16:creationId xmlns:a16="http://schemas.microsoft.com/office/drawing/2014/main" id="{C28CFFC1-67E0-4C57-BD6E-5D46E10A9CBB}"/>
                </a:ext>
              </a:extLst>
            </p:cNvPr>
            <p:cNvSpPr txBox="1">
              <a:spLocks noChangeArrowheads="1"/>
            </p:cNvSpPr>
            <p:nvPr/>
          </p:nvSpPr>
          <p:spPr bwMode="auto">
            <a:xfrm>
              <a:off x="5332413" y="5180037"/>
              <a:ext cx="339725" cy="400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000" b="1" i="0" dirty="0">
                  <a:latin typeface="Times New Roman" panose="02020603050405020304" pitchFamily="18" charset="0"/>
                  <a:sym typeface="Symbol" panose="05050102010706020507" pitchFamily="18" charset="2"/>
                </a:rPr>
                <a:t></a:t>
              </a:r>
              <a:endParaRPr lang="zh-CN" altLang="en-US" sz="2000" i="0" dirty="0">
                <a:latin typeface="Times New Roman" panose="02020603050405020304" pitchFamily="18" charset="0"/>
              </a:endParaRPr>
            </a:p>
          </p:txBody>
        </p:sp>
        <p:sp>
          <p:nvSpPr>
            <p:cNvPr id="27689" name="Text Box 58">
              <a:extLst>
                <a:ext uri="{FF2B5EF4-FFF2-40B4-BE49-F238E27FC236}">
                  <a16:creationId xmlns:a16="http://schemas.microsoft.com/office/drawing/2014/main" id="{73263529-37E3-42D7-A650-D4808C3CD1E0}"/>
                </a:ext>
              </a:extLst>
            </p:cNvPr>
            <p:cNvSpPr txBox="1">
              <a:spLocks noChangeArrowheads="1"/>
            </p:cNvSpPr>
            <p:nvPr/>
          </p:nvSpPr>
          <p:spPr bwMode="auto">
            <a:xfrm>
              <a:off x="4976813" y="5227662"/>
              <a:ext cx="368300"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latin typeface="Times New Roman" panose="02020603050405020304" pitchFamily="18" charset="0"/>
                </a:rPr>
                <a:t>C</a:t>
              </a:r>
              <a:endParaRPr lang="en-US" altLang="zh-CN" sz="2000" i="0" dirty="0">
                <a:latin typeface="Times New Roman" panose="02020603050405020304" pitchFamily="18" charset="0"/>
              </a:endParaRPr>
            </a:p>
          </p:txBody>
        </p:sp>
      </p:grpSp>
      <p:grpSp>
        <p:nvGrpSpPr>
          <p:cNvPr id="9" name="组合 8">
            <a:extLst>
              <a:ext uri="{FF2B5EF4-FFF2-40B4-BE49-F238E27FC236}">
                <a16:creationId xmlns:a16="http://schemas.microsoft.com/office/drawing/2014/main" id="{0CE129B5-A7CB-18A5-CBB8-17AC4CFD27D4}"/>
              </a:ext>
            </a:extLst>
          </p:cNvPr>
          <p:cNvGrpSpPr/>
          <p:nvPr/>
        </p:nvGrpSpPr>
        <p:grpSpPr>
          <a:xfrm>
            <a:off x="5048672" y="4486853"/>
            <a:ext cx="1036638" cy="430212"/>
            <a:chOff x="5181600" y="5807100"/>
            <a:chExt cx="1036638" cy="430212"/>
          </a:xfrm>
        </p:grpSpPr>
        <p:sp>
          <p:nvSpPr>
            <p:cNvPr id="27663" name="Rectangle 32" descr="羊皮纸">
              <a:extLst>
                <a:ext uri="{FF2B5EF4-FFF2-40B4-BE49-F238E27FC236}">
                  <a16:creationId xmlns:a16="http://schemas.microsoft.com/office/drawing/2014/main" id="{3E2EA096-8546-43C2-AB7C-8F678B03A6B6}"/>
                </a:ext>
              </a:extLst>
            </p:cNvPr>
            <p:cNvSpPr>
              <a:spLocks noChangeArrowheads="1"/>
            </p:cNvSpPr>
            <p:nvPr/>
          </p:nvSpPr>
          <p:spPr bwMode="auto">
            <a:xfrm>
              <a:off x="5227638" y="5861075"/>
              <a:ext cx="990600" cy="334962"/>
            </a:xfrm>
            <a:prstGeom prst="rect">
              <a:avLst/>
            </a:prstGeom>
            <a:blipFill dpi="0" rotWithShape="0">
              <a:blip r:embed="rId2"/>
              <a:srcRect/>
              <a:tile tx="0" ty="0" sx="100000" sy="100000" flip="none" algn="tl"/>
            </a:blipFill>
            <a:ln w="381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7664" name="Line 33">
              <a:extLst>
                <a:ext uri="{FF2B5EF4-FFF2-40B4-BE49-F238E27FC236}">
                  <a16:creationId xmlns:a16="http://schemas.microsoft.com/office/drawing/2014/main" id="{1CC752E7-4AFE-4698-8445-B747B4F5AA20}"/>
                </a:ext>
              </a:extLst>
            </p:cNvPr>
            <p:cNvSpPr>
              <a:spLocks noChangeShapeType="1"/>
            </p:cNvSpPr>
            <p:nvPr/>
          </p:nvSpPr>
          <p:spPr bwMode="auto">
            <a:xfrm>
              <a:off x="5532438" y="5861075"/>
              <a:ext cx="0" cy="334962"/>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65" name="Line 34">
              <a:extLst>
                <a:ext uri="{FF2B5EF4-FFF2-40B4-BE49-F238E27FC236}">
                  <a16:creationId xmlns:a16="http://schemas.microsoft.com/office/drawing/2014/main" id="{B0A6BF34-4D8C-4418-AD4A-0A2B309DA8C5}"/>
                </a:ext>
              </a:extLst>
            </p:cNvPr>
            <p:cNvSpPr>
              <a:spLocks noChangeShapeType="1"/>
            </p:cNvSpPr>
            <p:nvPr/>
          </p:nvSpPr>
          <p:spPr bwMode="auto">
            <a:xfrm>
              <a:off x="5913438" y="5861075"/>
              <a:ext cx="0" cy="334962"/>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83" name="Text Box 52">
              <a:extLst>
                <a:ext uri="{FF2B5EF4-FFF2-40B4-BE49-F238E27FC236}">
                  <a16:creationId xmlns:a16="http://schemas.microsoft.com/office/drawing/2014/main" id="{A8D3BD3B-BA40-43E0-8015-3D058D28DE2A}"/>
                </a:ext>
              </a:extLst>
            </p:cNvPr>
            <p:cNvSpPr txBox="1">
              <a:spLocks noChangeArrowheads="1"/>
            </p:cNvSpPr>
            <p:nvPr/>
          </p:nvSpPr>
          <p:spPr bwMode="auto">
            <a:xfrm>
              <a:off x="5181600" y="5807100"/>
              <a:ext cx="338138"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000" b="1" i="0" dirty="0">
                  <a:latin typeface="Times New Roman" panose="02020603050405020304" pitchFamily="18" charset="0"/>
                  <a:sym typeface="Symbol" panose="05050102010706020507" pitchFamily="18" charset="2"/>
                </a:rPr>
                <a:t></a:t>
              </a:r>
              <a:endParaRPr lang="zh-CN" altLang="en-US" sz="2000" i="0" dirty="0">
                <a:latin typeface="Times New Roman" panose="02020603050405020304" pitchFamily="18" charset="0"/>
              </a:endParaRPr>
            </a:p>
          </p:txBody>
        </p:sp>
        <p:sp>
          <p:nvSpPr>
            <p:cNvPr id="27684" name="Text Box 53">
              <a:extLst>
                <a:ext uri="{FF2B5EF4-FFF2-40B4-BE49-F238E27FC236}">
                  <a16:creationId xmlns:a16="http://schemas.microsoft.com/office/drawing/2014/main" id="{6B34D878-3F1F-46C5-A61D-368146E82E20}"/>
                </a:ext>
              </a:extLst>
            </p:cNvPr>
            <p:cNvSpPr txBox="1">
              <a:spLocks noChangeArrowheads="1"/>
            </p:cNvSpPr>
            <p:nvPr/>
          </p:nvSpPr>
          <p:spPr bwMode="auto">
            <a:xfrm>
              <a:off x="5867400" y="5807100"/>
              <a:ext cx="338138"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000" b="1" i="0" dirty="0">
                  <a:latin typeface="Times New Roman" panose="02020603050405020304" pitchFamily="18" charset="0"/>
                  <a:sym typeface="Symbol" panose="05050102010706020507" pitchFamily="18" charset="2"/>
                </a:rPr>
                <a:t></a:t>
              </a:r>
              <a:endParaRPr lang="zh-CN" altLang="en-US" sz="2000" i="0" dirty="0">
                <a:latin typeface="Times New Roman" panose="02020603050405020304" pitchFamily="18" charset="0"/>
              </a:endParaRPr>
            </a:p>
          </p:txBody>
        </p:sp>
        <p:sp>
          <p:nvSpPr>
            <p:cNvPr id="27692" name="Text Box 61">
              <a:extLst>
                <a:ext uri="{FF2B5EF4-FFF2-40B4-BE49-F238E27FC236}">
                  <a16:creationId xmlns:a16="http://schemas.microsoft.com/office/drawing/2014/main" id="{493B0895-A508-4D84-B189-4C09AC830BD1}"/>
                </a:ext>
              </a:extLst>
            </p:cNvPr>
            <p:cNvSpPr txBox="1">
              <a:spLocks noChangeArrowheads="1"/>
            </p:cNvSpPr>
            <p:nvPr/>
          </p:nvSpPr>
          <p:spPr bwMode="auto">
            <a:xfrm>
              <a:off x="5507038" y="5840437"/>
              <a:ext cx="354013"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latin typeface="Times New Roman" panose="02020603050405020304" pitchFamily="18" charset="0"/>
                </a:rPr>
                <a:t>E</a:t>
              </a:r>
              <a:endParaRPr lang="en-US" altLang="zh-CN" sz="2000" i="0" dirty="0">
                <a:latin typeface="Times New Roman" panose="02020603050405020304" pitchFamily="18" charset="0"/>
              </a:endParaRPr>
            </a:p>
          </p:txBody>
        </p:sp>
      </p:grpSp>
      <p:sp>
        <p:nvSpPr>
          <p:cNvPr id="27657" name="Rectangle 26" descr="羊皮纸">
            <a:extLst>
              <a:ext uri="{FF2B5EF4-FFF2-40B4-BE49-F238E27FC236}">
                <a16:creationId xmlns:a16="http://schemas.microsoft.com/office/drawing/2014/main" id="{B7A5750A-470C-49EB-8BE6-4D54AD6C3B04}"/>
              </a:ext>
            </a:extLst>
          </p:cNvPr>
          <p:cNvSpPr>
            <a:spLocks noChangeArrowheads="1"/>
          </p:cNvSpPr>
          <p:nvPr/>
        </p:nvSpPr>
        <p:spPr bwMode="auto">
          <a:xfrm>
            <a:off x="5704310" y="2702503"/>
            <a:ext cx="990600" cy="334962"/>
          </a:xfrm>
          <a:prstGeom prst="rect">
            <a:avLst/>
          </a:prstGeom>
          <a:blipFill dpi="0" rotWithShape="0">
            <a:blip r:embed="rId2"/>
            <a:srcRect/>
            <a:tile tx="0" ty="0" sx="100000" sy="100000" flip="none" algn="tl"/>
          </a:blipFill>
          <a:ln w="381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7658" name="Line 27">
            <a:extLst>
              <a:ext uri="{FF2B5EF4-FFF2-40B4-BE49-F238E27FC236}">
                <a16:creationId xmlns:a16="http://schemas.microsoft.com/office/drawing/2014/main" id="{81AB3F9F-B77C-402B-A44D-CB21627B2F69}"/>
              </a:ext>
            </a:extLst>
          </p:cNvPr>
          <p:cNvSpPr>
            <a:spLocks noChangeShapeType="1"/>
          </p:cNvSpPr>
          <p:nvPr/>
        </p:nvSpPr>
        <p:spPr bwMode="auto">
          <a:xfrm>
            <a:off x="6009110" y="2702503"/>
            <a:ext cx="0" cy="334962"/>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59" name="Line 28">
            <a:extLst>
              <a:ext uri="{FF2B5EF4-FFF2-40B4-BE49-F238E27FC236}">
                <a16:creationId xmlns:a16="http://schemas.microsoft.com/office/drawing/2014/main" id="{171435F5-E1E8-4F0D-BD30-2964B58D6FB1}"/>
              </a:ext>
            </a:extLst>
          </p:cNvPr>
          <p:cNvSpPr>
            <a:spLocks noChangeShapeType="1"/>
          </p:cNvSpPr>
          <p:nvPr/>
        </p:nvSpPr>
        <p:spPr bwMode="auto">
          <a:xfrm>
            <a:off x="6390110" y="2702503"/>
            <a:ext cx="0" cy="334962"/>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80" name="Text Box 49">
            <a:extLst>
              <a:ext uri="{FF2B5EF4-FFF2-40B4-BE49-F238E27FC236}">
                <a16:creationId xmlns:a16="http://schemas.microsoft.com/office/drawing/2014/main" id="{ED1D684A-2DAF-4D97-9A89-F8853DCB74E2}"/>
              </a:ext>
            </a:extLst>
          </p:cNvPr>
          <p:cNvSpPr txBox="1">
            <a:spLocks noChangeArrowheads="1"/>
          </p:cNvSpPr>
          <p:nvPr/>
        </p:nvSpPr>
        <p:spPr bwMode="auto">
          <a:xfrm>
            <a:off x="6344072" y="2637415"/>
            <a:ext cx="338138"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000" b="1" i="0" dirty="0">
                <a:latin typeface="Times New Roman" panose="02020603050405020304" pitchFamily="18" charset="0"/>
                <a:sym typeface="Symbol" panose="05050102010706020507" pitchFamily="18" charset="2"/>
              </a:rPr>
              <a:t></a:t>
            </a:r>
            <a:endParaRPr lang="zh-CN" altLang="en-US" sz="2000" i="0" dirty="0">
              <a:latin typeface="Times New Roman" panose="02020603050405020304" pitchFamily="18" charset="0"/>
            </a:endParaRPr>
          </a:p>
        </p:txBody>
      </p:sp>
      <p:sp>
        <p:nvSpPr>
          <p:cNvPr id="27687" name="Text Box 56">
            <a:extLst>
              <a:ext uri="{FF2B5EF4-FFF2-40B4-BE49-F238E27FC236}">
                <a16:creationId xmlns:a16="http://schemas.microsoft.com/office/drawing/2014/main" id="{6ABCDB49-134E-43F1-8B62-CDAA4FF6AE46}"/>
              </a:ext>
            </a:extLst>
          </p:cNvPr>
          <p:cNvSpPr txBox="1">
            <a:spLocks noChangeArrowheads="1"/>
          </p:cNvSpPr>
          <p:nvPr/>
        </p:nvSpPr>
        <p:spPr bwMode="auto">
          <a:xfrm>
            <a:off x="5986885" y="2648528"/>
            <a:ext cx="368300"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latin typeface="Times New Roman" panose="02020603050405020304" pitchFamily="18" charset="0"/>
              </a:rPr>
              <a:t>A</a:t>
            </a:r>
            <a:endParaRPr lang="en-US" altLang="zh-CN" sz="2000" i="0" dirty="0">
              <a:latin typeface="Times New Roman" panose="02020603050405020304" pitchFamily="18" charset="0"/>
            </a:endParaRPr>
          </a:p>
        </p:txBody>
      </p:sp>
      <p:sp>
        <p:nvSpPr>
          <p:cNvPr id="27693" name="Line 62">
            <a:extLst>
              <a:ext uri="{FF2B5EF4-FFF2-40B4-BE49-F238E27FC236}">
                <a16:creationId xmlns:a16="http://schemas.microsoft.com/office/drawing/2014/main" id="{3261A882-C335-464B-AA03-83A562916618}"/>
              </a:ext>
            </a:extLst>
          </p:cNvPr>
          <p:cNvSpPr>
            <a:spLocks noChangeShapeType="1"/>
          </p:cNvSpPr>
          <p:nvPr/>
        </p:nvSpPr>
        <p:spPr bwMode="auto">
          <a:xfrm flipH="1">
            <a:off x="6137697" y="2480253"/>
            <a:ext cx="228600" cy="222250"/>
          </a:xfrm>
          <a:prstGeom prst="line">
            <a:avLst/>
          </a:prstGeom>
          <a:noFill/>
          <a:ln w="381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94" name="Text Box 63">
            <a:extLst>
              <a:ext uri="{FF2B5EF4-FFF2-40B4-BE49-F238E27FC236}">
                <a16:creationId xmlns:a16="http://schemas.microsoft.com/office/drawing/2014/main" id="{19644163-5D04-49C4-8D21-0A4F7E6E2F5F}"/>
              </a:ext>
            </a:extLst>
          </p:cNvPr>
          <p:cNvSpPr txBox="1">
            <a:spLocks noChangeArrowheads="1"/>
          </p:cNvSpPr>
          <p:nvPr/>
        </p:nvSpPr>
        <p:spPr bwMode="auto">
          <a:xfrm>
            <a:off x="6228185" y="2124653"/>
            <a:ext cx="635000"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a:latin typeface="Times New Roman" panose="02020603050405020304" pitchFamily="18" charset="0"/>
              </a:rPr>
              <a:t>root</a:t>
            </a:r>
            <a:endParaRPr lang="en-US" altLang="zh-CN" sz="2000">
              <a:latin typeface="Times New Roman" panose="02020603050405020304" pitchFamily="18" charset="0"/>
            </a:endParaRPr>
          </a:p>
        </p:txBody>
      </p:sp>
      <p:sp>
        <p:nvSpPr>
          <p:cNvPr id="2" name="Text Box 4">
            <a:extLst>
              <a:ext uri="{FF2B5EF4-FFF2-40B4-BE49-F238E27FC236}">
                <a16:creationId xmlns:a16="http://schemas.microsoft.com/office/drawing/2014/main" id="{A6E10C11-2FAA-462E-950C-524CD21CD964}"/>
              </a:ext>
            </a:extLst>
          </p:cNvPr>
          <p:cNvSpPr txBox="1">
            <a:spLocks noChangeArrowheads="1"/>
          </p:cNvSpPr>
          <p:nvPr/>
        </p:nvSpPr>
        <p:spPr bwMode="auto">
          <a:xfrm>
            <a:off x="543843" y="157354"/>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二叉链表举例</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67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767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767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76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75" grpId="0" animBg="1"/>
      <p:bldP spid="27676" grpId="0" animBg="1"/>
      <p:bldP spid="27677" grpId="0" animBg="1"/>
      <p:bldP spid="2768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Text Box 3">
            <a:extLst>
              <a:ext uri="{FF2B5EF4-FFF2-40B4-BE49-F238E27FC236}">
                <a16:creationId xmlns:a16="http://schemas.microsoft.com/office/drawing/2014/main" id="{0FD81BD0-A7FB-4F7C-8412-DFCD92E9886A}"/>
              </a:ext>
            </a:extLst>
          </p:cNvPr>
          <p:cNvSpPr txBox="1">
            <a:spLocks noChangeArrowheads="1"/>
          </p:cNvSpPr>
          <p:nvPr/>
        </p:nvSpPr>
        <p:spPr bwMode="auto">
          <a:xfrm>
            <a:off x="3011574" y="5817905"/>
            <a:ext cx="403589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2800" b="0" i="0" dirty="0" err="1">
                <a:solidFill>
                  <a:srgbClr val="333399"/>
                </a:solidFill>
                <a:latin typeface="+mn-ea"/>
                <a:ea typeface="+mn-ea"/>
              </a:rPr>
              <a:t>lchild</a:t>
            </a:r>
            <a:r>
              <a:rPr lang="en-US" altLang="zh-CN" sz="2800" b="0" i="0" dirty="0">
                <a:solidFill>
                  <a:srgbClr val="333399"/>
                </a:solidFill>
                <a:latin typeface="+mn-ea"/>
                <a:ea typeface="+mn-ea"/>
              </a:rPr>
              <a:t>  data  </a:t>
            </a:r>
            <a:r>
              <a:rPr lang="en-US" altLang="zh-CN" sz="2800" b="0" i="0" dirty="0" err="1">
                <a:solidFill>
                  <a:srgbClr val="333399"/>
                </a:solidFill>
                <a:latin typeface="+mn-ea"/>
                <a:ea typeface="+mn-ea"/>
              </a:rPr>
              <a:t>rchild</a:t>
            </a:r>
            <a:endParaRPr lang="en-US" altLang="zh-CN" sz="2800" b="0" i="0" dirty="0">
              <a:latin typeface="+mn-ea"/>
              <a:ea typeface="+mn-ea"/>
            </a:endParaRPr>
          </a:p>
        </p:txBody>
      </p:sp>
      <p:sp>
        <p:nvSpPr>
          <p:cNvPr id="27652" name="Rectangle 4">
            <a:extLst>
              <a:ext uri="{FF2B5EF4-FFF2-40B4-BE49-F238E27FC236}">
                <a16:creationId xmlns:a16="http://schemas.microsoft.com/office/drawing/2014/main" id="{E110B68D-1279-4C39-8EDC-2C2E81409FF9}"/>
              </a:ext>
            </a:extLst>
          </p:cNvPr>
          <p:cNvSpPr>
            <a:spLocks noChangeArrowheads="1"/>
          </p:cNvSpPr>
          <p:nvPr/>
        </p:nvSpPr>
        <p:spPr bwMode="auto">
          <a:xfrm>
            <a:off x="3131840" y="5850687"/>
            <a:ext cx="3581400" cy="533400"/>
          </a:xfrm>
          <a:prstGeom prst="rect">
            <a:avLst/>
          </a:prstGeom>
          <a:noFill/>
          <a:ln w="12700" cap="sq">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a:latin typeface="Times New Roman" panose="02020603050405020304" pitchFamily="18" charset="0"/>
            </a:endParaRPr>
          </a:p>
        </p:txBody>
      </p:sp>
      <p:sp>
        <p:nvSpPr>
          <p:cNvPr id="27653" name="Line 5">
            <a:extLst>
              <a:ext uri="{FF2B5EF4-FFF2-40B4-BE49-F238E27FC236}">
                <a16:creationId xmlns:a16="http://schemas.microsoft.com/office/drawing/2014/main" id="{3164A30C-78A0-44A6-9C13-394568E3D953}"/>
              </a:ext>
            </a:extLst>
          </p:cNvPr>
          <p:cNvSpPr>
            <a:spLocks noChangeShapeType="1"/>
          </p:cNvSpPr>
          <p:nvPr/>
        </p:nvSpPr>
        <p:spPr bwMode="auto">
          <a:xfrm>
            <a:off x="4419600" y="5850687"/>
            <a:ext cx="0" cy="533400"/>
          </a:xfrm>
          <a:prstGeom prst="line">
            <a:avLst/>
          </a:prstGeom>
          <a:noFill/>
          <a:ln w="127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54" name="Line 6">
            <a:extLst>
              <a:ext uri="{FF2B5EF4-FFF2-40B4-BE49-F238E27FC236}">
                <a16:creationId xmlns:a16="http://schemas.microsoft.com/office/drawing/2014/main" id="{5CA0F339-1040-4D70-A099-818DEA3212F8}"/>
              </a:ext>
            </a:extLst>
          </p:cNvPr>
          <p:cNvSpPr>
            <a:spLocks noChangeShapeType="1"/>
          </p:cNvSpPr>
          <p:nvPr/>
        </p:nvSpPr>
        <p:spPr bwMode="auto">
          <a:xfrm>
            <a:off x="5410200" y="5850687"/>
            <a:ext cx="0" cy="533400"/>
          </a:xfrm>
          <a:prstGeom prst="line">
            <a:avLst/>
          </a:prstGeom>
          <a:noFill/>
          <a:ln w="127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55" name="Text Box 7">
            <a:extLst>
              <a:ext uri="{FF2B5EF4-FFF2-40B4-BE49-F238E27FC236}">
                <a16:creationId xmlns:a16="http://schemas.microsoft.com/office/drawing/2014/main" id="{8EFF1EC3-02DC-494B-B144-58EF951572C3}"/>
              </a:ext>
            </a:extLst>
          </p:cNvPr>
          <p:cNvSpPr txBox="1">
            <a:spLocks noChangeArrowheads="1"/>
          </p:cNvSpPr>
          <p:nvPr/>
        </p:nvSpPr>
        <p:spPr bwMode="auto">
          <a:xfrm>
            <a:off x="1297067" y="5805264"/>
            <a:ext cx="180049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0" i="0" dirty="0">
                <a:solidFill>
                  <a:srgbClr val="333399"/>
                </a:solidFill>
                <a:latin typeface="+mn-ea"/>
                <a:ea typeface="+mn-ea"/>
              </a:rPr>
              <a:t>结点结构</a:t>
            </a:r>
            <a:r>
              <a:rPr lang="en-US" altLang="zh-CN" sz="2800" b="0" i="0" dirty="0">
                <a:solidFill>
                  <a:srgbClr val="333399"/>
                </a:solidFill>
                <a:latin typeface="+mn-ea"/>
                <a:ea typeface="+mn-ea"/>
              </a:rPr>
              <a:t>:</a:t>
            </a:r>
            <a:endParaRPr lang="en-US" altLang="zh-CN" sz="2800" b="0" i="0" dirty="0">
              <a:latin typeface="+mn-ea"/>
              <a:ea typeface="+mn-ea"/>
            </a:endParaRPr>
          </a:p>
        </p:txBody>
      </p:sp>
      <p:sp>
        <p:nvSpPr>
          <p:cNvPr id="2" name="Text Box 3">
            <a:extLst>
              <a:ext uri="{FF2B5EF4-FFF2-40B4-BE49-F238E27FC236}">
                <a16:creationId xmlns:a16="http://schemas.microsoft.com/office/drawing/2014/main" id="{89E5737F-ED14-48E0-BBBE-D177FC569627}"/>
              </a:ext>
            </a:extLst>
          </p:cNvPr>
          <p:cNvSpPr txBox="1">
            <a:spLocks noChangeArrowheads="1"/>
          </p:cNvSpPr>
          <p:nvPr/>
        </p:nvSpPr>
        <p:spPr bwMode="auto">
          <a:xfrm>
            <a:off x="1609054" y="211287"/>
            <a:ext cx="5843266"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4400" i="0" dirty="0">
                <a:solidFill>
                  <a:schemeClr val="tx2"/>
                </a:solidFill>
                <a:ea typeface="隶书" pitchFamily="49" charset="-122"/>
              </a:rPr>
              <a:t>二叉树的链式存储表示</a:t>
            </a:r>
          </a:p>
        </p:txBody>
      </p:sp>
      <p:sp>
        <p:nvSpPr>
          <p:cNvPr id="6" name="文本框 5">
            <a:extLst>
              <a:ext uri="{FF2B5EF4-FFF2-40B4-BE49-F238E27FC236}">
                <a16:creationId xmlns:a16="http://schemas.microsoft.com/office/drawing/2014/main" id="{9D8A1A94-8623-CAC2-845E-9F7923838646}"/>
              </a:ext>
            </a:extLst>
          </p:cNvPr>
          <p:cNvSpPr txBox="1"/>
          <p:nvPr/>
        </p:nvSpPr>
        <p:spPr>
          <a:xfrm>
            <a:off x="539552" y="1268760"/>
            <a:ext cx="8280920" cy="4247317"/>
          </a:xfrm>
          <a:prstGeom prst="rect">
            <a:avLst/>
          </a:prstGeom>
          <a:noFill/>
        </p:spPr>
        <p:txBody>
          <a:bodyPr wrap="square">
            <a:spAutoFit/>
          </a:bodyPr>
          <a:lstStyle/>
          <a:p>
            <a:r>
              <a:rPr lang="en-US" altLang="zh-CN" sz="3000" b="0" i="0" dirty="0">
                <a:solidFill>
                  <a:srgbClr val="0000FF"/>
                </a:solidFill>
                <a:effectLst/>
                <a:latin typeface="+mn-ea"/>
                <a:ea typeface="+mn-ea"/>
              </a:rPr>
              <a:t>typedef</a:t>
            </a:r>
            <a:r>
              <a:rPr lang="en-US" altLang="zh-CN" sz="3000" b="0" i="0" dirty="0">
                <a:solidFill>
                  <a:srgbClr val="000000"/>
                </a:solidFill>
                <a:effectLst/>
                <a:latin typeface="+mn-ea"/>
                <a:ea typeface="+mn-ea"/>
              </a:rPr>
              <a:t> </a:t>
            </a:r>
            <a:r>
              <a:rPr lang="en-US" altLang="zh-CN" sz="3000" b="0" i="0" dirty="0">
                <a:solidFill>
                  <a:srgbClr val="0000FF"/>
                </a:solidFill>
                <a:effectLst/>
                <a:latin typeface="+mn-ea"/>
                <a:ea typeface="+mn-ea"/>
              </a:rPr>
              <a:t>struct</a:t>
            </a:r>
            <a:r>
              <a:rPr lang="en-US" altLang="zh-CN" sz="3000" b="0" i="0" dirty="0">
                <a:solidFill>
                  <a:srgbClr val="000000"/>
                </a:solidFill>
                <a:effectLst/>
                <a:latin typeface="+mn-ea"/>
                <a:ea typeface="+mn-ea"/>
              </a:rPr>
              <a:t> </a:t>
            </a:r>
            <a:r>
              <a:rPr lang="en-US" altLang="zh-CN" sz="3000" b="0" i="0" dirty="0" err="1">
                <a:solidFill>
                  <a:srgbClr val="267F99"/>
                </a:solidFill>
                <a:effectLst/>
                <a:latin typeface="+mn-ea"/>
                <a:ea typeface="+mn-ea"/>
              </a:rPr>
              <a:t>BiTNode</a:t>
            </a:r>
            <a:r>
              <a:rPr lang="en-US" altLang="zh-CN" sz="3000" b="0" i="0" dirty="0">
                <a:solidFill>
                  <a:srgbClr val="000000"/>
                </a:solidFill>
                <a:effectLst/>
                <a:latin typeface="+mn-ea"/>
                <a:ea typeface="+mn-ea"/>
              </a:rPr>
              <a:t> </a:t>
            </a:r>
            <a:r>
              <a:rPr lang="en-US" altLang="zh-CN" sz="3000" b="0" i="0" dirty="0">
                <a:solidFill>
                  <a:srgbClr val="008000"/>
                </a:solidFill>
                <a:effectLst/>
                <a:latin typeface="+mn-ea"/>
                <a:ea typeface="+mn-ea"/>
              </a:rPr>
              <a:t>// </a:t>
            </a:r>
            <a:r>
              <a:rPr lang="zh-CN" altLang="en-US" sz="3000" b="0" i="0" dirty="0">
                <a:solidFill>
                  <a:srgbClr val="008000"/>
                </a:solidFill>
                <a:effectLst/>
                <a:latin typeface="+mn-ea"/>
                <a:ea typeface="+mn-ea"/>
              </a:rPr>
              <a:t>二叉树结点</a:t>
            </a:r>
            <a:endParaRPr lang="zh-CN" altLang="en-US" sz="3000" b="0" i="0" dirty="0">
              <a:solidFill>
                <a:srgbClr val="000000"/>
              </a:solidFill>
              <a:effectLst/>
              <a:latin typeface="+mn-ea"/>
              <a:ea typeface="+mn-ea"/>
            </a:endParaRPr>
          </a:p>
          <a:p>
            <a:r>
              <a:rPr lang="en-US" altLang="zh-CN" sz="3000" b="0" i="0" dirty="0">
                <a:solidFill>
                  <a:srgbClr val="000000"/>
                </a:solidFill>
                <a:effectLst/>
                <a:latin typeface="+mn-ea"/>
                <a:ea typeface="+mn-ea"/>
              </a:rPr>
              <a:t>{</a:t>
            </a:r>
          </a:p>
          <a:p>
            <a:r>
              <a:rPr lang="en-US" altLang="zh-CN" sz="3000" b="0" i="0" dirty="0">
                <a:solidFill>
                  <a:srgbClr val="000000"/>
                </a:solidFill>
                <a:effectLst/>
                <a:latin typeface="+mn-ea"/>
                <a:ea typeface="+mn-ea"/>
              </a:rPr>
              <a:t>    </a:t>
            </a:r>
            <a:r>
              <a:rPr lang="en-US" altLang="zh-CN" sz="3000" b="0" i="0" dirty="0">
                <a:solidFill>
                  <a:srgbClr val="0000FF"/>
                </a:solidFill>
                <a:effectLst/>
                <a:latin typeface="+mn-ea"/>
                <a:ea typeface="+mn-ea"/>
              </a:rPr>
              <a:t>char</a:t>
            </a:r>
            <a:r>
              <a:rPr lang="en-US" altLang="zh-CN" sz="3000" b="0" i="0" dirty="0">
                <a:solidFill>
                  <a:srgbClr val="000000"/>
                </a:solidFill>
                <a:effectLst/>
                <a:latin typeface="+mn-ea"/>
                <a:ea typeface="+mn-ea"/>
              </a:rPr>
              <a:t> </a:t>
            </a:r>
            <a:r>
              <a:rPr lang="en-US" altLang="zh-CN" sz="3000" b="0" i="0" dirty="0">
                <a:solidFill>
                  <a:srgbClr val="001080"/>
                </a:solidFill>
                <a:effectLst/>
                <a:latin typeface="+mn-ea"/>
                <a:ea typeface="+mn-ea"/>
              </a:rPr>
              <a:t>data</a:t>
            </a:r>
            <a:r>
              <a:rPr lang="en-US" altLang="zh-CN" sz="3000" b="0" i="0" dirty="0">
                <a:solidFill>
                  <a:srgbClr val="000000"/>
                </a:solidFill>
                <a:effectLst/>
                <a:latin typeface="+mn-ea"/>
                <a:ea typeface="+mn-ea"/>
              </a:rPr>
              <a:t>;</a:t>
            </a:r>
            <a:r>
              <a:rPr lang="en-US" altLang="zh-CN" sz="3000" b="0" i="0" dirty="0">
                <a:solidFill>
                  <a:srgbClr val="008000"/>
                </a:solidFill>
                <a:effectLst/>
                <a:latin typeface="+mn-ea"/>
                <a:ea typeface="+mn-ea"/>
              </a:rPr>
              <a:t>                // </a:t>
            </a:r>
            <a:r>
              <a:rPr lang="zh-CN" altLang="en-US" sz="3000" b="0" i="0" dirty="0">
                <a:solidFill>
                  <a:srgbClr val="008000"/>
                </a:solidFill>
                <a:effectLst/>
                <a:latin typeface="+mn-ea"/>
                <a:ea typeface="+mn-ea"/>
              </a:rPr>
              <a:t>结点</a:t>
            </a:r>
            <a:endParaRPr lang="zh-CN" altLang="en-US" sz="3000" b="0" i="0" dirty="0">
              <a:solidFill>
                <a:srgbClr val="000000"/>
              </a:solidFill>
              <a:effectLst/>
              <a:latin typeface="+mn-ea"/>
              <a:ea typeface="+mn-ea"/>
            </a:endParaRPr>
          </a:p>
          <a:p>
            <a:r>
              <a:rPr lang="zh-CN" altLang="en-US" sz="3000" b="0" i="0" dirty="0">
                <a:solidFill>
                  <a:srgbClr val="000000"/>
                </a:solidFill>
                <a:effectLst/>
                <a:latin typeface="+mn-ea"/>
                <a:ea typeface="+mn-ea"/>
              </a:rPr>
              <a:t>    </a:t>
            </a:r>
            <a:r>
              <a:rPr lang="en-US" altLang="zh-CN" sz="3000" b="0" i="0" dirty="0" err="1">
                <a:solidFill>
                  <a:srgbClr val="267F99"/>
                </a:solidFill>
                <a:effectLst/>
                <a:latin typeface="+mn-ea"/>
                <a:ea typeface="+mn-ea"/>
              </a:rPr>
              <a:t>BiTNode</a:t>
            </a:r>
            <a:r>
              <a:rPr lang="en-US" altLang="zh-CN" sz="3000" b="0" i="0" dirty="0">
                <a:solidFill>
                  <a:srgbClr val="000000"/>
                </a:solidFill>
                <a:effectLst/>
                <a:latin typeface="+mn-ea"/>
                <a:ea typeface="+mn-ea"/>
              </a:rPr>
              <a:t> </a:t>
            </a:r>
            <a:r>
              <a:rPr lang="en-US" altLang="zh-CN" sz="3000" b="0" i="0" dirty="0">
                <a:solidFill>
                  <a:srgbClr val="0000FF"/>
                </a:solidFill>
                <a:effectLst/>
                <a:latin typeface="+mn-ea"/>
                <a:ea typeface="+mn-ea"/>
              </a:rPr>
              <a:t>*</a:t>
            </a:r>
            <a:r>
              <a:rPr lang="en-US" altLang="zh-CN" sz="3000" b="0" i="0" dirty="0" err="1">
                <a:solidFill>
                  <a:srgbClr val="001080"/>
                </a:solidFill>
                <a:effectLst/>
                <a:latin typeface="+mn-ea"/>
                <a:ea typeface="+mn-ea"/>
              </a:rPr>
              <a:t>lchild</a:t>
            </a:r>
            <a:r>
              <a:rPr lang="en-US" altLang="zh-CN" sz="3000" b="0" i="0" dirty="0">
                <a:solidFill>
                  <a:srgbClr val="000000"/>
                </a:solidFill>
                <a:effectLst/>
                <a:latin typeface="+mn-ea"/>
                <a:ea typeface="+mn-ea"/>
              </a:rPr>
              <a:t>, *</a:t>
            </a:r>
            <a:r>
              <a:rPr lang="en-US" altLang="zh-CN" sz="3000" b="0" i="0" dirty="0" err="1">
                <a:solidFill>
                  <a:srgbClr val="001080"/>
                </a:solidFill>
                <a:effectLst/>
                <a:latin typeface="+mn-ea"/>
                <a:ea typeface="+mn-ea"/>
              </a:rPr>
              <a:t>rchild</a:t>
            </a:r>
            <a:r>
              <a:rPr lang="en-US" altLang="zh-CN" sz="3000" b="0" i="0" dirty="0">
                <a:solidFill>
                  <a:srgbClr val="000000"/>
                </a:solidFill>
                <a:effectLst/>
                <a:latin typeface="+mn-ea"/>
                <a:ea typeface="+mn-ea"/>
              </a:rPr>
              <a:t>;</a:t>
            </a:r>
            <a:r>
              <a:rPr lang="en-US" altLang="zh-CN" sz="3000" b="0" i="0" dirty="0">
                <a:solidFill>
                  <a:srgbClr val="008000"/>
                </a:solidFill>
                <a:effectLst/>
                <a:latin typeface="+mn-ea"/>
                <a:ea typeface="+mn-ea"/>
              </a:rPr>
              <a:t> // </a:t>
            </a:r>
            <a:r>
              <a:rPr lang="zh-CN" altLang="en-US" sz="3000" b="0" i="0" dirty="0">
                <a:solidFill>
                  <a:srgbClr val="008000"/>
                </a:solidFill>
                <a:effectLst/>
                <a:latin typeface="+mn-ea"/>
                <a:ea typeface="+mn-ea"/>
              </a:rPr>
              <a:t>左、右孩子</a:t>
            </a:r>
            <a:endParaRPr lang="en-US" altLang="zh-CN" sz="3000" b="0" i="0" dirty="0">
              <a:solidFill>
                <a:srgbClr val="008000"/>
              </a:solidFill>
              <a:effectLst/>
              <a:latin typeface="+mn-ea"/>
              <a:ea typeface="+mn-ea"/>
            </a:endParaRPr>
          </a:p>
          <a:p>
            <a:endParaRPr lang="zh-CN" altLang="en-US" sz="3000" b="0" i="0" dirty="0">
              <a:solidFill>
                <a:srgbClr val="000000"/>
              </a:solidFill>
              <a:effectLst/>
              <a:latin typeface="+mn-ea"/>
              <a:ea typeface="+mn-ea"/>
            </a:endParaRPr>
          </a:p>
          <a:p>
            <a:r>
              <a:rPr lang="zh-CN" altLang="en-US" sz="3000" b="0" i="0" dirty="0">
                <a:solidFill>
                  <a:srgbClr val="000000"/>
                </a:solidFill>
                <a:effectLst/>
                <a:latin typeface="+mn-ea"/>
                <a:ea typeface="+mn-ea"/>
              </a:rPr>
              <a:t>    </a:t>
            </a:r>
            <a:r>
              <a:rPr lang="en-US" altLang="zh-CN" sz="3000" b="0" i="0" dirty="0" err="1">
                <a:solidFill>
                  <a:srgbClr val="795E26"/>
                </a:solidFill>
                <a:effectLst/>
                <a:latin typeface="+mn-ea"/>
                <a:ea typeface="+mn-ea"/>
              </a:rPr>
              <a:t>BiTNode</a:t>
            </a:r>
            <a:r>
              <a:rPr lang="en-US" altLang="zh-CN" sz="3000" b="0" i="0" dirty="0">
                <a:solidFill>
                  <a:srgbClr val="000000"/>
                </a:solidFill>
                <a:effectLst/>
                <a:latin typeface="+mn-ea"/>
                <a:ea typeface="+mn-ea"/>
              </a:rPr>
              <a:t>(</a:t>
            </a:r>
            <a:r>
              <a:rPr lang="en-US" altLang="zh-CN" sz="3000" b="0" i="0" dirty="0">
                <a:solidFill>
                  <a:srgbClr val="0000FF"/>
                </a:solidFill>
                <a:effectLst/>
                <a:latin typeface="+mn-ea"/>
                <a:ea typeface="+mn-ea"/>
              </a:rPr>
              <a:t>char</a:t>
            </a:r>
            <a:r>
              <a:rPr lang="en-US" altLang="zh-CN" sz="3000" b="0" i="0" dirty="0">
                <a:solidFill>
                  <a:srgbClr val="000000"/>
                </a:solidFill>
                <a:effectLst/>
                <a:latin typeface="+mn-ea"/>
                <a:ea typeface="+mn-ea"/>
              </a:rPr>
              <a:t> </a:t>
            </a:r>
            <a:r>
              <a:rPr lang="en-US" altLang="zh-CN" sz="3000" b="0" i="0" dirty="0">
                <a:solidFill>
                  <a:srgbClr val="001080"/>
                </a:solidFill>
                <a:effectLst/>
                <a:latin typeface="+mn-ea"/>
                <a:ea typeface="+mn-ea"/>
              </a:rPr>
              <a:t>e</a:t>
            </a:r>
            <a:r>
              <a:rPr lang="en-US" altLang="zh-CN" sz="3000" b="0" i="0" dirty="0">
                <a:solidFill>
                  <a:srgbClr val="000000"/>
                </a:solidFill>
                <a:effectLst/>
                <a:latin typeface="+mn-ea"/>
                <a:ea typeface="+mn-ea"/>
              </a:rPr>
              <a:t>, </a:t>
            </a:r>
            <a:r>
              <a:rPr lang="en-US" altLang="zh-CN" sz="3000" b="0" i="0" dirty="0" err="1">
                <a:solidFill>
                  <a:srgbClr val="267F99"/>
                </a:solidFill>
                <a:effectLst/>
                <a:latin typeface="+mn-ea"/>
                <a:ea typeface="+mn-ea"/>
              </a:rPr>
              <a:t>BiTNode</a:t>
            </a:r>
            <a:r>
              <a:rPr lang="en-US" altLang="zh-CN" sz="3000" b="0" i="0" dirty="0">
                <a:solidFill>
                  <a:srgbClr val="000000"/>
                </a:solidFill>
                <a:effectLst/>
                <a:latin typeface="+mn-ea"/>
                <a:ea typeface="+mn-ea"/>
              </a:rPr>
              <a:t> </a:t>
            </a:r>
            <a:r>
              <a:rPr lang="en-US" altLang="zh-CN" sz="3000" b="0" i="0" dirty="0">
                <a:solidFill>
                  <a:srgbClr val="0000FF"/>
                </a:solidFill>
                <a:effectLst/>
                <a:latin typeface="+mn-ea"/>
                <a:ea typeface="+mn-ea"/>
              </a:rPr>
              <a:t>*</a:t>
            </a:r>
            <a:r>
              <a:rPr lang="en-US" altLang="zh-CN" sz="3000" b="0" i="0" dirty="0">
                <a:solidFill>
                  <a:srgbClr val="001080"/>
                </a:solidFill>
                <a:effectLst/>
                <a:latin typeface="+mn-ea"/>
                <a:ea typeface="+mn-ea"/>
              </a:rPr>
              <a:t>l</a:t>
            </a:r>
            <a:r>
              <a:rPr lang="en-US" altLang="zh-CN" sz="3000" b="0" i="0" dirty="0">
                <a:solidFill>
                  <a:srgbClr val="000000"/>
                </a:solidFill>
                <a:effectLst/>
                <a:latin typeface="+mn-ea"/>
                <a:ea typeface="+mn-ea"/>
              </a:rPr>
              <a:t>, </a:t>
            </a:r>
            <a:r>
              <a:rPr lang="en-US" altLang="zh-CN" sz="3000" b="0" i="0" dirty="0" err="1">
                <a:solidFill>
                  <a:srgbClr val="267F99"/>
                </a:solidFill>
                <a:effectLst/>
                <a:latin typeface="+mn-ea"/>
                <a:ea typeface="+mn-ea"/>
              </a:rPr>
              <a:t>BiTNode</a:t>
            </a:r>
            <a:r>
              <a:rPr lang="en-US" altLang="zh-CN" sz="3000" b="0" i="0" dirty="0">
                <a:solidFill>
                  <a:srgbClr val="000000"/>
                </a:solidFill>
                <a:effectLst/>
                <a:latin typeface="+mn-ea"/>
                <a:ea typeface="+mn-ea"/>
              </a:rPr>
              <a:t> </a:t>
            </a:r>
            <a:r>
              <a:rPr lang="en-US" altLang="zh-CN" sz="3000" b="0" i="0" dirty="0">
                <a:solidFill>
                  <a:srgbClr val="0000FF"/>
                </a:solidFill>
                <a:effectLst/>
                <a:latin typeface="+mn-ea"/>
                <a:ea typeface="+mn-ea"/>
              </a:rPr>
              <a:t>*</a:t>
            </a:r>
            <a:r>
              <a:rPr lang="en-US" altLang="zh-CN" sz="3000" b="0" i="0" dirty="0">
                <a:solidFill>
                  <a:srgbClr val="001080"/>
                </a:solidFill>
                <a:effectLst/>
                <a:latin typeface="+mn-ea"/>
                <a:ea typeface="+mn-ea"/>
              </a:rPr>
              <a:t>r</a:t>
            </a:r>
            <a:r>
              <a:rPr lang="en-US" altLang="zh-CN" sz="3000" b="0" i="0" dirty="0">
                <a:solidFill>
                  <a:srgbClr val="000000"/>
                </a:solidFill>
                <a:effectLst/>
                <a:latin typeface="+mn-ea"/>
                <a:ea typeface="+mn-ea"/>
              </a:rPr>
              <a:t>) : </a:t>
            </a:r>
            <a:r>
              <a:rPr lang="en-US" altLang="zh-CN" sz="3000" b="0" i="0" dirty="0">
                <a:solidFill>
                  <a:srgbClr val="001080"/>
                </a:solidFill>
                <a:effectLst/>
                <a:latin typeface="+mn-ea"/>
                <a:ea typeface="+mn-ea"/>
              </a:rPr>
              <a:t>data</a:t>
            </a:r>
            <a:r>
              <a:rPr lang="en-US" altLang="zh-CN" sz="3000" b="0" i="0" dirty="0">
                <a:solidFill>
                  <a:srgbClr val="000000"/>
                </a:solidFill>
                <a:effectLst/>
                <a:latin typeface="+mn-ea"/>
                <a:ea typeface="+mn-ea"/>
              </a:rPr>
              <a:t>(</a:t>
            </a:r>
            <a:r>
              <a:rPr lang="en-US" altLang="zh-CN" sz="3000" b="0" i="0" dirty="0">
                <a:solidFill>
                  <a:srgbClr val="001080"/>
                </a:solidFill>
                <a:effectLst/>
                <a:latin typeface="+mn-ea"/>
                <a:ea typeface="+mn-ea"/>
              </a:rPr>
              <a:t>e</a:t>
            </a:r>
            <a:r>
              <a:rPr lang="en-US" altLang="zh-CN" sz="3000" b="0" i="0" dirty="0">
                <a:solidFill>
                  <a:srgbClr val="000000"/>
                </a:solidFill>
                <a:effectLst/>
                <a:latin typeface="+mn-ea"/>
                <a:ea typeface="+mn-ea"/>
              </a:rPr>
              <a:t>), </a:t>
            </a:r>
            <a:r>
              <a:rPr lang="en-US" altLang="zh-CN" sz="3000" b="0" i="0" dirty="0" err="1">
                <a:solidFill>
                  <a:srgbClr val="001080"/>
                </a:solidFill>
                <a:effectLst/>
                <a:latin typeface="+mn-ea"/>
                <a:ea typeface="+mn-ea"/>
              </a:rPr>
              <a:t>lchild</a:t>
            </a:r>
            <a:r>
              <a:rPr lang="en-US" altLang="zh-CN" sz="3000" b="0" i="0" dirty="0">
                <a:solidFill>
                  <a:srgbClr val="000000"/>
                </a:solidFill>
                <a:effectLst/>
                <a:latin typeface="+mn-ea"/>
                <a:ea typeface="+mn-ea"/>
              </a:rPr>
              <a:t>(</a:t>
            </a:r>
            <a:r>
              <a:rPr lang="en-US" altLang="zh-CN" sz="3000" b="0" i="0" dirty="0">
                <a:solidFill>
                  <a:srgbClr val="001080"/>
                </a:solidFill>
                <a:effectLst/>
                <a:latin typeface="+mn-ea"/>
                <a:ea typeface="+mn-ea"/>
              </a:rPr>
              <a:t>l</a:t>
            </a:r>
            <a:r>
              <a:rPr lang="en-US" altLang="zh-CN" sz="3000" b="0" i="0" dirty="0">
                <a:solidFill>
                  <a:srgbClr val="000000"/>
                </a:solidFill>
                <a:effectLst/>
                <a:latin typeface="+mn-ea"/>
                <a:ea typeface="+mn-ea"/>
              </a:rPr>
              <a:t>), </a:t>
            </a:r>
            <a:r>
              <a:rPr lang="en-US" altLang="zh-CN" sz="3000" b="0" i="0" dirty="0" err="1">
                <a:solidFill>
                  <a:srgbClr val="795E26"/>
                </a:solidFill>
                <a:effectLst/>
                <a:latin typeface="+mn-ea"/>
                <a:ea typeface="+mn-ea"/>
              </a:rPr>
              <a:t>rchild</a:t>
            </a:r>
            <a:r>
              <a:rPr lang="en-US" altLang="zh-CN" sz="3000" b="0" i="0" dirty="0">
                <a:solidFill>
                  <a:srgbClr val="000000"/>
                </a:solidFill>
                <a:effectLst/>
                <a:latin typeface="+mn-ea"/>
                <a:ea typeface="+mn-ea"/>
              </a:rPr>
              <a:t>(</a:t>
            </a:r>
            <a:r>
              <a:rPr lang="en-US" altLang="zh-CN" sz="3000" b="0" i="0" dirty="0">
                <a:solidFill>
                  <a:srgbClr val="001080"/>
                </a:solidFill>
                <a:effectLst/>
                <a:latin typeface="+mn-ea"/>
                <a:ea typeface="+mn-ea"/>
              </a:rPr>
              <a:t>r</a:t>
            </a:r>
            <a:r>
              <a:rPr lang="en-US" altLang="zh-CN" sz="3000" b="0" i="0" dirty="0">
                <a:solidFill>
                  <a:srgbClr val="000000"/>
                </a:solidFill>
                <a:effectLst/>
                <a:latin typeface="+mn-ea"/>
                <a:ea typeface="+mn-ea"/>
              </a:rPr>
              <a:t>) {}</a:t>
            </a:r>
          </a:p>
          <a:p>
            <a:endParaRPr lang="en-US" altLang="zh-CN" sz="3000" b="0" i="0" dirty="0">
              <a:solidFill>
                <a:srgbClr val="000000"/>
              </a:solidFill>
              <a:effectLst/>
              <a:latin typeface="+mn-ea"/>
              <a:ea typeface="+mn-ea"/>
            </a:endParaRPr>
          </a:p>
          <a:p>
            <a:r>
              <a:rPr lang="en-US" altLang="zh-CN" sz="3000" b="0" i="0" dirty="0">
                <a:solidFill>
                  <a:srgbClr val="000000"/>
                </a:solidFill>
                <a:effectLst/>
                <a:latin typeface="+mn-ea"/>
                <a:ea typeface="+mn-ea"/>
              </a:rPr>
              <a:t>} </a:t>
            </a:r>
            <a:r>
              <a:rPr lang="en-US" altLang="zh-CN" sz="3000" b="0" i="0" dirty="0">
                <a:solidFill>
                  <a:srgbClr val="0000FF"/>
                </a:solidFill>
                <a:effectLst/>
                <a:latin typeface="+mn-ea"/>
                <a:ea typeface="+mn-ea"/>
              </a:rPr>
              <a:t>*</a:t>
            </a:r>
            <a:r>
              <a:rPr lang="en-US" altLang="zh-CN" sz="3000" b="0" i="0" dirty="0" err="1">
                <a:solidFill>
                  <a:srgbClr val="267F99"/>
                </a:solidFill>
                <a:effectLst/>
                <a:latin typeface="+mn-ea"/>
                <a:ea typeface="+mn-ea"/>
              </a:rPr>
              <a:t>BiTree</a:t>
            </a:r>
            <a:r>
              <a:rPr lang="en-US" altLang="zh-CN" sz="3000" b="0" i="0" dirty="0">
                <a:solidFill>
                  <a:srgbClr val="000000"/>
                </a:solidFill>
                <a:effectLst/>
                <a:latin typeface="+mn-ea"/>
                <a:ea typeface="+mn-ea"/>
              </a:rPr>
              <a:t>;</a:t>
            </a:r>
            <a:r>
              <a:rPr lang="en-US" altLang="zh-CN" sz="3000" b="0" i="0" dirty="0">
                <a:solidFill>
                  <a:srgbClr val="008000"/>
                </a:solidFill>
                <a:effectLst/>
                <a:latin typeface="+mn-ea"/>
                <a:ea typeface="+mn-ea"/>
              </a:rPr>
              <a:t> // </a:t>
            </a:r>
            <a:r>
              <a:rPr lang="zh-CN" altLang="en-US" sz="3000" b="0" i="0" dirty="0">
                <a:solidFill>
                  <a:srgbClr val="008000"/>
                </a:solidFill>
                <a:effectLst/>
                <a:latin typeface="+mn-ea"/>
                <a:ea typeface="+mn-ea"/>
              </a:rPr>
              <a:t>二叉树结点指针</a:t>
            </a:r>
            <a:endParaRPr lang="zh-CN" altLang="en-US" sz="3000" b="0" i="0" dirty="0">
              <a:solidFill>
                <a:srgbClr val="000000"/>
              </a:solidFill>
              <a:effectLst/>
              <a:latin typeface="+mn-ea"/>
              <a:ea typeface="+mn-ea"/>
            </a:endParaRPr>
          </a:p>
        </p:txBody>
      </p:sp>
    </p:spTree>
  </p:cSld>
  <p:clrMapOvr>
    <a:masterClrMapping/>
  </p:clrMapOvr>
  <p:transition spd="med">
    <p:pull dir="d"/>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7655"/>
                                        </p:tgtEl>
                                        <p:attrNameLst>
                                          <p:attrName>style.visibility</p:attrName>
                                        </p:attrNameLst>
                                      </p:cBhvr>
                                      <p:to>
                                        <p:strVal val="visible"/>
                                      </p:to>
                                    </p:set>
                                    <p:anim calcmode="lin" valueType="num">
                                      <p:cBhvr additive="base">
                                        <p:cTn id="7" dur="500" fill="hold"/>
                                        <p:tgtEl>
                                          <p:spTgt spid="27655"/>
                                        </p:tgtEl>
                                        <p:attrNameLst>
                                          <p:attrName>ppt_x</p:attrName>
                                        </p:attrNameLst>
                                      </p:cBhvr>
                                      <p:tavLst>
                                        <p:tav tm="0">
                                          <p:val>
                                            <p:strVal val="0-#ppt_w/2"/>
                                          </p:val>
                                        </p:tav>
                                        <p:tav tm="100000">
                                          <p:val>
                                            <p:strVal val="#ppt_x"/>
                                          </p:val>
                                        </p:tav>
                                      </p:tavLst>
                                    </p:anim>
                                    <p:anim calcmode="lin" valueType="num">
                                      <p:cBhvr additive="base">
                                        <p:cTn id="8" dur="500" fill="hold"/>
                                        <p:tgtEl>
                                          <p:spTgt spid="27655"/>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1" presetClass="entr" presetSubtype="0" fill="hold" grpId="0" nodeType="afterEffect">
                                  <p:stCondLst>
                                    <p:cond delay="0"/>
                                  </p:stCondLst>
                                  <p:childTnLst>
                                    <p:set>
                                      <p:cBhvr>
                                        <p:cTn id="11" dur="1" fill="hold">
                                          <p:stCondLst>
                                            <p:cond delay="499"/>
                                          </p:stCondLst>
                                        </p:cTn>
                                        <p:tgtEl>
                                          <p:spTgt spid="27651"/>
                                        </p:tgtEl>
                                        <p:attrNameLst>
                                          <p:attrName>style.visibility</p:attrName>
                                        </p:attrNameLst>
                                      </p:cBhvr>
                                      <p:to>
                                        <p:strVal val="visible"/>
                                      </p:to>
                                    </p:set>
                                  </p:childTnLst>
                                </p:cTn>
                              </p:par>
                            </p:childTnLst>
                          </p:cTn>
                        </p:par>
                        <p:par>
                          <p:cTn id="12" fill="hold" nodeType="afterGroup">
                            <p:stCondLst>
                              <p:cond delay="1000"/>
                            </p:stCondLst>
                            <p:childTnLst>
                              <p:par>
                                <p:cTn id="13" presetID="1" presetClass="entr" presetSubtype="0" fill="hold" grpId="0" nodeType="afterEffect">
                                  <p:stCondLst>
                                    <p:cond delay="0"/>
                                  </p:stCondLst>
                                  <p:childTnLst>
                                    <p:set>
                                      <p:cBhvr>
                                        <p:cTn id="14" dur="1" fill="hold">
                                          <p:stCondLst>
                                            <p:cond delay="499"/>
                                          </p:stCondLst>
                                        </p:cTn>
                                        <p:tgtEl>
                                          <p:spTgt spid="27652"/>
                                        </p:tgtEl>
                                        <p:attrNameLst>
                                          <p:attrName>style.visibility</p:attrName>
                                        </p:attrNameLst>
                                      </p:cBhvr>
                                      <p:to>
                                        <p:strVal val="visible"/>
                                      </p:to>
                                    </p:set>
                                  </p:childTnLst>
                                </p:cTn>
                              </p:par>
                            </p:childTnLst>
                          </p:cTn>
                        </p:par>
                        <p:par>
                          <p:cTn id="15" fill="hold" nodeType="afterGroup">
                            <p:stCondLst>
                              <p:cond delay="1500"/>
                            </p:stCondLst>
                            <p:childTnLst>
                              <p:par>
                                <p:cTn id="16" presetID="1" presetClass="entr" presetSubtype="0" fill="hold" nodeType="afterEffect">
                                  <p:stCondLst>
                                    <p:cond delay="0"/>
                                  </p:stCondLst>
                                  <p:childTnLst>
                                    <p:set>
                                      <p:cBhvr>
                                        <p:cTn id="17" dur="1" fill="hold">
                                          <p:stCondLst>
                                            <p:cond delay="499"/>
                                          </p:stCondLst>
                                        </p:cTn>
                                        <p:tgtEl>
                                          <p:spTgt spid="27653"/>
                                        </p:tgtEl>
                                        <p:attrNameLst>
                                          <p:attrName>style.visibility</p:attrName>
                                        </p:attrNameLst>
                                      </p:cBhvr>
                                      <p:to>
                                        <p:strVal val="visible"/>
                                      </p:to>
                                    </p:set>
                                  </p:childTnLst>
                                </p:cTn>
                              </p:par>
                            </p:childTnLst>
                          </p:cTn>
                        </p:par>
                        <p:par>
                          <p:cTn id="18" fill="hold" nodeType="afterGroup">
                            <p:stCondLst>
                              <p:cond delay="2000"/>
                            </p:stCondLst>
                            <p:childTnLst>
                              <p:par>
                                <p:cTn id="19" presetID="1" presetClass="entr" presetSubtype="0" fill="hold" nodeType="afterEffect">
                                  <p:stCondLst>
                                    <p:cond delay="0"/>
                                  </p:stCondLst>
                                  <p:childTnLst>
                                    <p:set>
                                      <p:cBhvr>
                                        <p:cTn id="20" dur="1" fill="hold">
                                          <p:stCondLst>
                                            <p:cond delay="499"/>
                                          </p:stCondLst>
                                        </p:cTn>
                                        <p:tgtEl>
                                          <p:spTgt spid="276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autoUpdateAnimBg="0"/>
      <p:bldP spid="27652" grpId="0" animBg="1" autoUpdateAnimBg="0"/>
      <p:bldP spid="27655"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7" name="AutoShape 9">
            <a:hlinkClick r:id="rId3" action="ppaction://hlinksldjump" highlightClick="1"/>
            <a:extLst>
              <a:ext uri="{FF2B5EF4-FFF2-40B4-BE49-F238E27FC236}">
                <a16:creationId xmlns:a16="http://schemas.microsoft.com/office/drawing/2014/main" id="{F7A144F4-9511-4FA2-82BC-31BDCD44F3D7}"/>
              </a:ext>
            </a:extLst>
          </p:cNvPr>
          <p:cNvSpPr>
            <a:spLocks noChangeArrowheads="1"/>
          </p:cNvSpPr>
          <p:nvPr/>
        </p:nvSpPr>
        <p:spPr bwMode="auto">
          <a:xfrm>
            <a:off x="8458200" y="61722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 name="Text Box 3">
            <a:extLst>
              <a:ext uri="{FF2B5EF4-FFF2-40B4-BE49-F238E27FC236}">
                <a16:creationId xmlns:a16="http://schemas.microsoft.com/office/drawing/2014/main" id="{A816A8BB-CDCF-4177-A3A9-B248879F954A}"/>
              </a:ext>
            </a:extLst>
          </p:cNvPr>
          <p:cNvSpPr txBox="1">
            <a:spLocks noChangeArrowheads="1"/>
          </p:cNvSpPr>
          <p:nvPr/>
        </p:nvSpPr>
        <p:spPr bwMode="auto">
          <a:xfrm>
            <a:off x="1609054" y="211287"/>
            <a:ext cx="5843266"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4400" i="0" dirty="0">
                <a:solidFill>
                  <a:schemeClr val="tx2"/>
                </a:solidFill>
                <a:ea typeface="隶书" pitchFamily="49" charset="-122"/>
              </a:rPr>
              <a:t>二叉树的链式存储表示</a:t>
            </a:r>
          </a:p>
        </p:txBody>
      </p:sp>
      <p:sp>
        <p:nvSpPr>
          <p:cNvPr id="4" name="文本框 3">
            <a:extLst>
              <a:ext uri="{FF2B5EF4-FFF2-40B4-BE49-F238E27FC236}">
                <a16:creationId xmlns:a16="http://schemas.microsoft.com/office/drawing/2014/main" id="{27BB374A-96B7-0DF9-11A3-FBD1DA5B8D54}"/>
              </a:ext>
            </a:extLst>
          </p:cNvPr>
          <p:cNvSpPr txBox="1"/>
          <p:nvPr/>
        </p:nvSpPr>
        <p:spPr>
          <a:xfrm>
            <a:off x="539552" y="1268760"/>
            <a:ext cx="8299648" cy="1815882"/>
          </a:xfrm>
          <a:prstGeom prst="rect">
            <a:avLst/>
          </a:prstGeom>
          <a:noFill/>
        </p:spPr>
        <p:txBody>
          <a:bodyPr wrap="square">
            <a:spAutoFit/>
          </a:bodyPr>
          <a:lstStyle/>
          <a:p>
            <a:r>
              <a:rPr lang="en-US" altLang="zh-CN" sz="2800" b="0" i="0" dirty="0">
                <a:solidFill>
                  <a:srgbClr val="0000FF"/>
                </a:solidFill>
                <a:effectLst/>
                <a:latin typeface="+mn-ea"/>
                <a:ea typeface="+mn-ea"/>
              </a:rPr>
              <a:t>int</a:t>
            </a:r>
            <a:r>
              <a:rPr lang="en-US" altLang="zh-CN" sz="2800" b="0" i="0" dirty="0">
                <a:solidFill>
                  <a:srgbClr val="000000"/>
                </a:solidFill>
                <a:effectLst/>
                <a:latin typeface="+mn-ea"/>
                <a:ea typeface="+mn-ea"/>
              </a:rPr>
              <a:t> </a:t>
            </a:r>
            <a:r>
              <a:rPr lang="en-US" altLang="zh-CN" sz="2800" b="0" i="0" dirty="0">
                <a:solidFill>
                  <a:srgbClr val="795E26"/>
                </a:solidFill>
                <a:effectLst/>
                <a:latin typeface="+mn-ea"/>
                <a:ea typeface="+mn-ea"/>
              </a:rPr>
              <a:t>main</a:t>
            </a:r>
            <a:r>
              <a:rPr lang="en-US" altLang="zh-CN" sz="2800" b="0" i="0" dirty="0">
                <a:solidFill>
                  <a:srgbClr val="000000"/>
                </a:solidFill>
                <a:effectLst/>
                <a:latin typeface="+mn-ea"/>
                <a:ea typeface="+mn-ea"/>
              </a:rPr>
              <a:t>()</a:t>
            </a:r>
          </a:p>
          <a:p>
            <a:r>
              <a:rPr lang="en-US" altLang="zh-CN" sz="2800" b="0" i="0" dirty="0">
                <a:solidFill>
                  <a:srgbClr val="000000"/>
                </a:solidFill>
                <a:effectLst/>
                <a:latin typeface="+mn-ea"/>
                <a:ea typeface="+mn-ea"/>
              </a:rPr>
              <a:t>{</a:t>
            </a:r>
          </a:p>
          <a:p>
            <a:r>
              <a:rPr lang="en-US" altLang="zh-CN" sz="2800" b="0" i="0" dirty="0">
                <a:solidFill>
                  <a:srgbClr val="000000"/>
                </a:solidFill>
                <a:effectLst/>
                <a:latin typeface="+mn-ea"/>
                <a:ea typeface="+mn-ea"/>
              </a:rPr>
              <a:t>    </a:t>
            </a:r>
            <a:r>
              <a:rPr lang="en-US" altLang="zh-CN" sz="2800" b="0" i="0" dirty="0" err="1">
                <a:solidFill>
                  <a:srgbClr val="267F99"/>
                </a:solidFill>
                <a:effectLst/>
                <a:latin typeface="+mn-ea"/>
                <a:ea typeface="+mn-ea"/>
              </a:rPr>
              <a:t>BiTree</a:t>
            </a:r>
            <a:r>
              <a:rPr lang="en-US" altLang="zh-CN" sz="2800" b="0" i="0" dirty="0">
                <a:solidFill>
                  <a:srgbClr val="000000"/>
                </a:solidFill>
                <a:effectLst/>
                <a:latin typeface="+mn-ea"/>
                <a:ea typeface="+mn-ea"/>
              </a:rPr>
              <a:t> </a:t>
            </a:r>
            <a:r>
              <a:rPr lang="en-US" altLang="zh-CN" sz="2800" b="0" i="0" dirty="0">
                <a:solidFill>
                  <a:srgbClr val="001080"/>
                </a:solidFill>
                <a:effectLst/>
                <a:latin typeface="+mn-ea"/>
                <a:ea typeface="+mn-ea"/>
              </a:rPr>
              <a:t>root = </a:t>
            </a:r>
            <a:r>
              <a:rPr lang="en-US" altLang="zh-CN" sz="2800" b="0" i="0" dirty="0" err="1">
                <a:solidFill>
                  <a:srgbClr val="001080"/>
                </a:solidFill>
                <a:effectLst/>
                <a:latin typeface="+mn-ea"/>
                <a:ea typeface="+mn-ea"/>
              </a:rPr>
              <a:t>nullptr</a:t>
            </a:r>
            <a:r>
              <a:rPr lang="en-US" altLang="zh-CN" sz="2800" b="0" i="0" dirty="0">
                <a:solidFill>
                  <a:srgbClr val="000000"/>
                </a:solidFill>
                <a:effectLst/>
                <a:latin typeface="+mn-ea"/>
                <a:ea typeface="+mn-ea"/>
              </a:rPr>
              <a:t>;</a:t>
            </a:r>
            <a:r>
              <a:rPr lang="en-US" altLang="zh-CN" sz="2800" b="0" i="0" dirty="0">
                <a:solidFill>
                  <a:srgbClr val="008000"/>
                </a:solidFill>
                <a:effectLst/>
                <a:latin typeface="+mn-ea"/>
                <a:ea typeface="+mn-ea"/>
              </a:rPr>
              <a:t> // </a:t>
            </a:r>
            <a:r>
              <a:rPr lang="zh-CN" altLang="en-US" sz="2800" b="0" i="0" dirty="0">
                <a:solidFill>
                  <a:srgbClr val="008000"/>
                </a:solidFill>
                <a:effectLst/>
                <a:latin typeface="+mn-ea"/>
                <a:ea typeface="+mn-ea"/>
              </a:rPr>
              <a:t>二叉树树根，</a:t>
            </a:r>
            <a:r>
              <a:rPr lang="zh-CN" altLang="en-US" sz="2800" b="0" i="0" dirty="0">
                <a:solidFill>
                  <a:srgbClr val="008000"/>
                </a:solidFill>
                <a:latin typeface="+mn-ea"/>
                <a:ea typeface="+mn-ea"/>
              </a:rPr>
              <a:t>空树</a:t>
            </a:r>
            <a:endParaRPr lang="zh-CN" altLang="en-US" sz="2800" b="0" i="0" dirty="0">
              <a:solidFill>
                <a:srgbClr val="000000"/>
              </a:solidFill>
              <a:effectLst/>
              <a:latin typeface="+mn-ea"/>
              <a:ea typeface="+mn-ea"/>
            </a:endParaRPr>
          </a:p>
          <a:p>
            <a:r>
              <a:rPr lang="en-US" altLang="zh-CN" sz="2800" b="0" i="0" dirty="0">
                <a:solidFill>
                  <a:srgbClr val="000000"/>
                </a:solidFill>
                <a:effectLst/>
                <a:latin typeface="+mn-ea"/>
                <a:ea typeface="+mn-ea"/>
              </a:rPr>
              <a:t>}</a:t>
            </a:r>
          </a:p>
        </p:txBody>
      </p:sp>
      <p:sp>
        <p:nvSpPr>
          <p:cNvPr id="6" name="文本框 5">
            <a:extLst>
              <a:ext uri="{FF2B5EF4-FFF2-40B4-BE49-F238E27FC236}">
                <a16:creationId xmlns:a16="http://schemas.microsoft.com/office/drawing/2014/main" id="{2B026AEA-3CF2-BFD9-B13C-16B7FEBAABFF}"/>
              </a:ext>
            </a:extLst>
          </p:cNvPr>
          <p:cNvSpPr txBox="1"/>
          <p:nvPr/>
        </p:nvSpPr>
        <p:spPr>
          <a:xfrm>
            <a:off x="639618" y="4221088"/>
            <a:ext cx="8504382" cy="523220"/>
          </a:xfrm>
          <a:prstGeom prst="rect">
            <a:avLst/>
          </a:prstGeom>
          <a:noFill/>
        </p:spPr>
        <p:txBody>
          <a:bodyPr wrap="square" rtlCol="0">
            <a:spAutoFit/>
          </a:bodyPr>
          <a:lstStyle/>
          <a:p>
            <a:r>
              <a:rPr lang="zh-CN" altLang="en-US" sz="2800" b="0" i="0" dirty="0">
                <a:latin typeface="黑体" panose="02010609060101010101" pitchFamily="49" charset="-122"/>
                <a:ea typeface="黑体" panose="02010609060101010101" pitchFamily="49" charset="-122"/>
              </a:rPr>
              <a:t>面向对象实现：结点类、二叉树类（属性：树根）。</a:t>
            </a:r>
          </a:p>
        </p:txBody>
      </p:sp>
    </p:spTree>
  </p:cSld>
  <p:clrMapOvr>
    <a:masterClrMapping/>
  </p:clrMapOvr>
  <p:transition spd="med">
    <p:pull dir="d"/>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6" fill="hold" grpId="0" nodeType="afterEffect">
                                  <p:stCondLst>
                                    <p:cond delay="0"/>
                                  </p:stCondLst>
                                  <p:childTnLst>
                                    <p:set>
                                      <p:cBhvr>
                                        <p:cTn id="6" dur="1" fill="hold">
                                          <p:stCondLst>
                                            <p:cond delay="0"/>
                                          </p:stCondLst>
                                        </p:cTn>
                                        <p:tgtEl>
                                          <p:spTgt spid="27657"/>
                                        </p:tgtEl>
                                        <p:attrNameLst>
                                          <p:attrName>style.visibility</p:attrName>
                                        </p:attrNameLst>
                                      </p:cBhvr>
                                      <p:to>
                                        <p:strVal val="visible"/>
                                      </p:to>
                                    </p:set>
                                    <p:anim calcmode="lin" valueType="num">
                                      <p:cBhvr additive="base">
                                        <p:cTn id="7" dur="500" fill="hold"/>
                                        <p:tgtEl>
                                          <p:spTgt spid="27657"/>
                                        </p:tgtEl>
                                        <p:attrNameLst>
                                          <p:attrName>ppt_x</p:attrName>
                                        </p:attrNameLst>
                                      </p:cBhvr>
                                      <p:tavLst>
                                        <p:tav tm="0">
                                          <p:val>
                                            <p:strVal val="1+#ppt_w/2"/>
                                          </p:val>
                                        </p:tav>
                                        <p:tav tm="100000">
                                          <p:val>
                                            <p:strVal val="#ppt_x"/>
                                          </p:val>
                                        </p:tav>
                                      </p:tavLst>
                                    </p:anim>
                                    <p:anim calcmode="lin" valueType="num">
                                      <p:cBhvr additive="base">
                                        <p:cTn id="8" dur="500" fill="hold"/>
                                        <p:tgtEl>
                                          <p:spTgt spid="2765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7" grpId="0" animBg="1"/>
      <p:bldP spid="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Text Box 3">
            <a:extLst>
              <a:ext uri="{FF2B5EF4-FFF2-40B4-BE49-F238E27FC236}">
                <a16:creationId xmlns:a16="http://schemas.microsoft.com/office/drawing/2014/main" id="{54485A15-2E50-4EEF-AA1C-B0D054D6EB34}"/>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2A267C66-B7CF-4D4A-8CD1-613795FED40F}" type="slidenum">
              <a:rPr lang="zh-CN" altLang="en-US" sz="2400"/>
              <a:pPr algn="r" eaLnBrk="1" hangingPunct="1">
                <a:spcBef>
                  <a:spcPct val="50000"/>
                </a:spcBef>
                <a:buClrTx/>
                <a:buSzTx/>
                <a:buFont typeface="Arial" panose="020B0604020202020204" pitchFamily="34" charset="0"/>
                <a:buNone/>
              </a:pPr>
              <a:t>27</a:t>
            </a:fld>
            <a:endParaRPr lang="en-US" altLang="zh-CN" sz="2400"/>
          </a:p>
        </p:txBody>
      </p:sp>
      <p:sp>
        <p:nvSpPr>
          <p:cNvPr id="32773" name="Rectangle 5">
            <a:extLst>
              <a:ext uri="{FF2B5EF4-FFF2-40B4-BE49-F238E27FC236}">
                <a16:creationId xmlns:a16="http://schemas.microsoft.com/office/drawing/2014/main" id="{CAAF6C47-FBB2-47BA-9CE6-2C00B5F37285}"/>
              </a:ext>
            </a:extLst>
          </p:cNvPr>
          <p:cNvSpPr>
            <a:spLocks noGrp="1" noChangeArrowheads="1"/>
          </p:cNvSpPr>
          <p:nvPr>
            <p:ph type="body" idx="1"/>
          </p:nvPr>
        </p:nvSpPr>
        <p:spPr>
          <a:xfrm>
            <a:off x="539552" y="1253780"/>
            <a:ext cx="8763000" cy="4038600"/>
          </a:xfrm>
        </p:spPr>
        <p:txBody>
          <a:bodyPr/>
          <a:lstStyle/>
          <a:p>
            <a:pPr eaLnBrk="1" hangingPunct="1">
              <a:spcBef>
                <a:spcPct val="30000"/>
              </a:spcBef>
            </a:pPr>
            <a:r>
              <a:rPr lang="zh-CN" altLang="en-US" dirty="0">
                <a:latin typeface="黑体" panose="02010609060101010101" pitchFamily="49" charset="-122"/>
                <a:ea typeface="黑体" panose="02010609060101010101" pitchFamily="49" charset="-122"/>
              </a:rPr>
              <a:t>采用数据域加上左、右孩子指针及双亲指针</a:t>
            </a:r>
          </a:p>
        </p:txBody>
      </p:sp>
      <p:grpSp>
        <p:nvGrpSpPr>
          <p:cNvPr id="32775" name="Group 7">
            <a:extLst>
              <a:ext uri="{FF2B5EF4-FFF2-40B4-BE49-F238E27FC236}">
                <a16:creationId xmlns:a16="http://schemas.microsoft.com/office/drawing/2014/main" id="{14ECF7C2-C146-4CC8-BC16-1DED7F5EE989}"/>
              </a:ext>
            </a:extLst>
          </p:cNvPr>
          <p:cNvGrpSpPr>
            <a:grpSpLocks/>
          </p:cNvGrpSpPr>
          <p:nvPr/>
        </p:nvGrpSpPr>
        <p:grpSpPr bwMode="auto">
          <a:xfrm>
            <a:off x="694037" y="2841032"/>
            <a:ext cx="4291013" cy="642938"/>
            <a:chOff x="0" y="0"/>
            <a:chExt cx="3489" cy="405"/>
          </a:xfrm>
        </p:grpSpPr>
        <p:sp>
          <p:nvSpPr>
            <p:cNvPr id="32797" name="Rectangle 8">
              <a:extLst>
                <a:ext uri="{FF2B5EF4-FFF2-40B4-BE49-F238E27FC236}">
                  <a16:creationId xmlns:a16="http://schemas.microsoft.com/office/drawing/2014/main" id="{64B0398F-F98D-4337-82AE-E0D2EC1484E2}"/>
                </a:ext>
              </a:extLst>
            </p:cNvPr>
            <p:cNvSpPr>
              <a:spLocks noChangeArrowheads="1"/>
            </p:cNvSpPr>
            <p:nvPr/>
          </p:nvSpPr>
          <p:spPr bwMode="auto">
            <a:xfrm>
              <a:off x="36" y="123"/>
              <a:ext cx="3408" cy="261"/>
            </a:xfrm>
            <a:prstGeom prst="rect">
              <a:avLst/>
            </a:prstGeom>
            <a:solidFill>
              <a:schemeClr val="accent1"/>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chemeClr val="accent1"/>
              </a:extrusionClr>
              <a:contourClr>
                <a:schemeClr val="accent1"/>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32798" name="Text Box 9">
              <a:extLst>
                <a:ext uri="{FF2B5EF4-FFF2-40B4-BE49-F238E27FC236}">
                  <a16:creationId xmlns:a16="http://schemas.microsoft.com/office/drawing/2014/main" id="{03846507-299D-47A3-BB13-223CDB911DA1}"/>
                </a:ext>
              </a:extLst>
            </p:cNvPr>
            <p:cNvSpPr txBox="1">
              <a:spLocks noChangeArrowheads="1"/>
            </p:cNvSpPr>
            <p:nvPr/>
          </p:nvSpPr>
          <p:spPr bwMode="auto">
            <a:xfrm>
              <a:off x="0" y="106"/>
              <a:ext cx="3489"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b="1" i="0" dirty="0" err="1">
                  <a:latin typeface="Times New Roman" panose="02020603050405020304" pitchFamily="18" charset="0"/>
                </a:rPr>
                <a:t>lChild</a:t>
              </a:r>
              <a:r>
                <a:rPr lang="en-US" altLang="zh-CN" sz="2400" b="1" i="0" dirty="0">
                  <a:latin typeface="Times New Roman" panose="02020603050405020304" pitchFamily="18" charset="0"/>
                </a:rPr>
                <a:t>      data   parent    </a:t>
              </a:r>
              <a:r>
                <a:rPr lang="en-US" altLang="zh-CN" sz="2400" b="1" i="0" dirty="0" err="1">
                  <a:latin typeface="Times New Roman" panose="02020603050405020304" pitchFamily="18" charset="0"/>
                </a:rPr>
                <a:t>rChild</a:t>
              </a:r>
              <a:endParaRPr lang="en-US" altLang="zh-CN" sz="2400" i="0" dirty="0">
                <a:latin typeface="Times New Roman" panose="02020603050405020304" pitchFamily="18" charset="0"/>
              </a:endParaRPr>
            </a:p>
          </p:txBody>
        </p:sp>
        <p:sp>
          <p:nvSpPr>
            <p:cNvPr id="32799" name="Line 10">
              <a:extLst>
                <a:ext uri="{FF2B5EF4-FFF2-40B4-BE49-F238E27FC236}">
                  <a16:creationId xmlns:a16="http://schemas.microsoft.com/office/drawing/2014/main" id="{C58F7477-D47F-4298-BC83-6EC0D30C014F}"/>
                </a:ext>
              </a:extLst>
            </p:cNvPr>
            <p:cNvSpPr>
              <a:spLocks noChangeShapeType="1"/>
            </p:cNvSpPr>
            <p:nvPr/>
          </p:nvSpPr>
          <p:spPr bwMode="auto">
            <a:xfrm flipV="1">
              <a:off x="1003" y="123"/>
              <a:ext cx="0" cy="261"/>
            </a:xfrm>
            <a:prstGeom prst="line">
              <a:avLst/>
            </a:prstGeom>
            <a:noFill/>
            <a:ln w="19050">
              <a:solidFill>
                <a:srgbClr val="FF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00" name="Line 11">
              <a:extLst>
                <a:ext uri="{FF2B5EF4-FFF2-40B4-BE49-F238E27FC236}">
                  <a16:creationId xmlns:a16="http://schemas.microsoft.com/office/drawing/2014/main" id="{D94436A5-CABE-4DC1-9F5F-2114BA757337}"/>
                </a:ext>
              </a:extLst>
            </p:cNvPr>
            <p:cNvSpPr>
              <a:spLocks noChangeShapeType="1"/>
            </p:cNvSpPr>
            <p:nvPr/>
          </p:nvSpPr>
          <p:spPr bwMode="auto">
            <a:xfrm flipV="1">
              <a:off x="1668" y="144"/>
              <a:ext cx="0" cy="261"/>
            </a:xfrm>
            <a:prstGeom prst="line">
              <a:avLst/>
            </a:prstGeom>
            <a:noFill/>
            <a:ln w="19050">
              <a:solidFill>
                <a:srgbClr val="FF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01" name="Line 12">
              <a:extLst>
                <a:ext uri="{FF2B5EF4-FFF2-40B4-BE49-F238E27FC236}">
                  <a16:creationId xmlns:a16="http://schemas.microsoft.com/office/drawing/2014/main" id="{40A04BEC-E084-4FFC-9718-D12EBDB0BAB1}"/>
                </a:ext>
              </a:extLst>
            </p:cNvPr>
            <p:cNvSpPr>
              <a:spLocks noChangeShapeType="1"/>
            </p:cNvSpPr>
            <p:nvPr/>
          </p:nvSpPr>
          <p:spPr bwMode="auto">
            <a:xfrm flipV="1">
              <a:off x="1003" y="0"/>
              <a:ext cx="89" cy="123"/>
            </a:xfrm>
            <a:prstGeom prst="line">
              <a:avLst/>
            </a:prstGeom>
            <a:noFill/>
            <a:ln w="19050">
              <a:solidFill>
                <a:srgbClr val="FF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02" name="Line 13">
              <a:extLst>
                <a:ext uri="{FF2B5EF4-FFF2-40B4-BE49-F238E27FC236}">
                  <a16:creationId xmlns:a16="http://schemas.microsoft.com/office/drawing/2014/main" id="{CF457203-9713-43D3-B0E9-BDFBA9593C3E}"/>
                </a:ext>
              </a:extLst>
            </p:cNvPr>
            <p:cNvSpPr>
              <a:spLocks noChangeShapeType="1"/>
            </p:cNvSpPr>
            <p:nvPr/>
          </p:nvSpPr>
          <p:spPr bwMode="auto">
            <a:xfrm flipV="1">
              <a:off x="1668" y="0"/>
              <a:ext cx="96" cy="123"/>
            </a:xfrm>
            <a:prstGeom prst="line">
              <a:avLst/>
            </a:prstGeom>
            <a:noFill/>
            <a:ln w="19050">
              <a:solidFill>
                <a:srgbClr val="FF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03" name="Line 14">
              <a:extLst>
                <a:ext uri="{FF2B5EF4-FFF2-40B4-BE49-F238E27FC236}">
                  <a16:creationId xmlns:a16="http://schemas.microsoft.com/office/drawing/2014/main" id="{A007A330-FB9E-4E5C-B702-971EC6941948}"/>
                </a:ext>
              </a:extLst>
            </p:cNvPr>
            <p:cNvSpPr>
              <a:spLocks noChangeShapeType="1"/>
            </p:cNvSpPr>
            <p:nvPr/>
          </p:nvSpPr>
          <p:spPr bwMode="auto">
            <a:xfrm flipV="1">
              <a:off x="2484" y="96"/>
              <a:ext cx="0" cy="288"/>
            </a:xfrm>
            <a:prstGeom prst="line">
              <a:avLst/>
            </a:prstGeom>
            <a:noFill/>
            <a:ln w="19050">
              <a:solidFill>
                <a:srgbClr val="FF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04" name="Line 15">
              <a:extLst>
                <a:ext uri="{FF2B5EF4-FFF2-40B4-BE49-F238E27FC236}">
                  <a16:creationId xmlns:a16="http://schemas.microsoft.com/office/drawing/2014/main" id="{ED513921-DEC3-4EA8-B50B-5D10D2A5C379}"/>
                </a:ext>
              </a:extLst>
            </p:cNvPr>
            <p:cNvSpPr>
              <a:spLocks noChangeShapeType="1"/>
            </p:cNvSpPr>
            <p:nvPr/>
          </p:nvSpPr>
          <p:spPr bwMode="auto">
            <a:xfrm flipV="1">
              <a:off x="2484" y="0"/>
              <a:ext cx="92" cy="75"/>
            </a:xfrm>
            <a:prstGeom prst="line">
              <a:avLst/>
            </a:prstGeom>
            <a:noFill/>
            <a:ln w="19050">
              <a:solidFill>
                <a:srgbClr val="FF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2776" name="Group 16">
            <a:extLst>
              <a:ext uri="{FF2B5EF4-FFF2-40B4-BE49-F238E27FC236}">
                <a16:creationId xmlns:a16="http://schemas.microsoft.com/office/drawing/2014/main" id="{82265089-1B6F-4811-94F7-17C6D75EAF24}"/>
              </a:ext>
            </a:extLst>
          </p:cNvPr>
          <p:cNvGrpSpPr>
            <a:grpSpLocks/>
          </p:cNvGrpSpPr>
          <p:nvPr/>
        </p:nvGrpSpPr>
        <p:grpSpPr bwMode="auto">
          <a:xfrm>
            <a:off x="5076056" y="2708920"/>
            <a:ext cx="3868738" cy="2007435"/>
            <a:chOff x="0" y="-2"/>
            <a:chExt cx="3552" cy="1502"/>
          </a:xfrm>
        </p:grpSpPr>
        <p:sp>
          <p:nvSpPr>
            <p:cNvPr id="32777" name="AutoShape 17">
              <a:extLst>
                <a:ext uri="{FF2B5EF4-FFF2-40B4-BE49-F238E27FC236}">
                  <a16:creationId xmlns:a16="http://schemas.microsoft.com/office/drawing/2014/main" id="{A0B3C61B-9944-4C42-9F2C-63346405462F}"/>
                </a:ext>
              </a:extLst>
            </p:cNvPr>
            <p:cNvSpPr>
              <a:spLocks noChangeArrowheads="1"/>
            </p:cNvSpPr>
            <p:nvPr/>
          </p:nvSpPr>
          <p:spPr bwMode="auto">
            <a:xfrm>
              <a:off x="1632" y="54"/>
              <a:ext cx="864" cy="288"/>
            </a:xfrm>
            <a:prstGeom prst="roundRect">
              <a:avLst>
                <a:gd name="adj" fmla="val 16667"/>
              </a:avLst>
            </a:prstGeom>
            <a:solidFill>
              <a:schemeClr val="accent1"/>
            </a:solidFill>
            <a:ln w="9525">
              <a:round/>
              <a:headEnd/>
              <a:tailEnd/>
            </a:ln>
            <a:effectLst/>
            <a:scene3d>
              <a:camera prst="legacyObliqueTopRight"/>
              <a:lightRig rig="legacyFlat3" dir="b"/>
            </a:scene3d>
            <a:sp3d extrusionH="430200" prstMaterial="legacyMatte">
              <a:bevelT w="13500" h="13500" prst="angle"/>
              <a:bevelB w="13500" h="13500" prst="angle"/>
              <a:extrusionClr>
                <a:schemeClr val="accent1"/>
              </a:extrusionClr>
              <a:contourClr>
                <a:schemeClr val="accent1"/>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32778" name="AutoShape 18">
              <a:extLst>
                <a:ext uri="{FF2B5EF4-FFF2-40B4-BE49-F238E27FC236}">
                  <a16:creationId xmlns:a16="http://schemas.microsoft.com/office/drawing/2014/main" id="{D6E63DC4-A524-4EF4-8E6B-3C40DD45368E}"/>
                </a:ext>
              </a:extLst>
            </p:cNvPr>
            <p:cNvSpPr>
              <a:spLocks noChangeArrowheads="1"/>
            </p:cNvSpPr>
            <p:nvPr/>
          </p:nvSpPr>
          <p:spPr bwMode="auto">
            <a:xfrm>
              <a:off x="768" y="630"/>
              <a:ext cx="1920" cy="288"/>
            </a:xfrm>
            <a:prstGeom prst="roundRect">
              <a:avLst>
                <a:gd name="adj" fmla="val 16667"/>
              </a:avLst>
            </a:prstGeom>
            <a:solidFill>
              <a:schemeClr val="accent1"/>
            </a:solidFill>
            <a:ln w="9525">
              <a:round/>
              <a:headEnd/>
              <a:tailEnd/>
            </a:ln>
            <a:effectLst/>
            <a:scene3d>
              <a:camera prst="legacyObliqueTopRight"/>
              <a:lightRig rig="legacyFlat3" dir="b"/>
            </a:scene3d>
            <a:sp3d extrusionH="430200" prstMaterial="legacyMatte">
              <a:bevelT w="13500" h="13500" prst="angle"/>
              <a:bevelB w="13500" h="13500" prst="angle"/>
              <a:extrusionClr>
                <a:schemeClr val="accent1"/>
              </a:extrusionClr>
              <a:contourClr>
                <a:schemeClr val="accent1"/>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32779" name="AutoShape 19">
              <a:extLst>
                <a:ext uri="{FF2B5EF4-FFF2-40B4-BE49-F238E27FC236}">
                  <a16:creationId xmlns:a16="http://schemas.microsoft.com/office/drawing/2014/main" id="{2DF6EDBD-3224-4DD8-9B07-2830BA2A6917}"/>
                </a:ext>
              </a:extLst>
            </p:cNvPr>
            <p:cNvSpPr>
              <a:spLocks noChangeArrowheads="1"/>
            </p:cNvSpPr>
            <p:nvPr/>
          </p:nvSpPr>
          <p:spPr bwMode="auto">
            <a:xfrm>
              <a:off x="2400" y="1206"/>
              <a:ext cx="1152" cy="288"/>
            </a:xfrm>
            <a:prstGeom prst="roundRect">
              <a:avLst>
                <a:gd name="adj" fmla="val 16667"/>
              </a:avLst>
            </a:prstGeom>
            <a:solidFill>
              <a:schemeClr val="accent1"/>
            </a:solidFill>
            <a:ln w="9525">
              <a:round/>
              <a:headEnd/>
              <a:tailEnd/>
            </a:ln>
            <a:effectLst/>
            <a:scene3d>
              <a:camera prst="legacyObliqueTopRight"/>
              <a:lightRig rig="legacyFlat3" dir="b"/>
            </a:scene3d>
            <a:sp3d extrusionH="430200" prstMaterial="legacyMatte">
              <a:bevelT w="13500" h="13500" prst="angle"/>
              <a:bevelB w="13500" h="13500" prst="angle"/>
              <a:extrusionClr>
                <a:schemeClr val="accent1"/>
              </a:extrusionClr>
              <a:contourClr>
                <a:schemeClr val="accent1"/>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32780" name="AutoShape 20">
              <a:extLst>
                <a:ext uri="{FF2B5EF4-FFF2-40B4-BE49-F238E27FC236}">
                  <a16:creationId xmlns:a16="http://schemas.microsoft.com/office/drawing/2014/main" id="{3DDCA178-8F85-44E3-9A0A-CFB82DC4AF88}"/>
                </a:ext>
              </a:extLst>
            </p:cNvPr>
            <p:cNvSpPr>
              <a:spLocks noChangeArrowheads="1"/>
            </p:cNvSpPr>
            <p:nvPr/>
          </p:nvSpPr>
          <p:spPr bwMode="auto">
            <a:xfrm>
              <a:off x="0" y="1206"/>
              <a:ext cx="960" cy="288"/>
            </a:xfrm>
            <a:prstGeom prst="roundRect">
              <a:avLst>
                <a:gd name="adj" fmla="val 16667"/>
              </a:avLst>
            </a:prstGeom>
            <a:solidFill>
              <a:schemeClr val="accent1"/>
            </a:solidFill>
            <a:ln w="9525">
              <a:round/>
              <a:headEnd/>
              <a:tailEnd/>
            </a:ln>
            <a:effectLst/>
            <a:scene3d>
              <a:camera prst="legacyObliqueTopRight"/>
              <a:lightRig rig="legacyFlat3" dir="b"/>
            </a:scene3d>
            <a:sp3d extrusionH="430200" prstMaterial="legacyMatte">
              <a:bevelT w="13500" h="13500" prst="angle"/>
              <a:bevelB w="13500" h="13500" prst="angle"/>
              <a:extrusionClr>
                <a:schemeClr val="accent1"/>
              </a:extrusionClr>
              <a:contourClr>
                <a:schemeClr val="accent1"/>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32781" name="Text Box 21">
              <a:extLst>
                <a:ext uri="{FF2B5EF4-FFF2-40B4-BE49-F238E27FC236}">
                  <a16:creationId xmlns:a16="http://schemas.microsoft.com/office/drawing/2014/main" id="{892E3973-AC92-4406-A1BF-63F4C28D26D3}"/>
                </a:ext>
              </a:extLst>
            </p:cNvPr>
            <p:cNvSpPr txBox="1">
              <a:spLocks noChangeArrowheads="1"/>
            </p:cNvSpPr>
            <p:nvPr/>
          </p:nvSpPr>
          <p:spPr bwMode="auto">
            <a:xfrm>
              <a:off x="1588" y="-2"/>
              <a:ext cx="965" cy="3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b="1" i="0" dirty="0">
                  <a:latin typeface="Times New Roman" panose="02020603050405020304" pitchFamily="18" charset="0"/>
                </a:rPr>
                <a:t>parent</a:t>
              </a:r>
              <a:endParaRPr lang="en-US" altLang="zh-CN" sz="2400" i="0" dirty="0">
                <a:latin typeface="Times New Roman" panose="02020603050405020304" pitchFamily="18" charset="0"/>
              </a:endParaRPr>
            </a:p>
          </p:txBody>
        </p:sp>
        <p:sp>
          <p:nvSpPr>
            <p:cNvPr id="32782" name="Text Box 22">
              <a:extLst>
                <a:ext uri="{FF2B5EF4-FFF2-40B4-BE49-F238E27FC236}">
                  <a16:creationId xmlns:a16="http://schemas.microsoft.com/office/drawing/2014/main" id="{FFEB435B-C5B9-4257-869C-1C88B69474F3}"/>
                </a:ext>
              </a:extLst>
            </p:cNvPr>
            <p:cNvSpPr txBox="1">
              <a:spLocks noChangeArrowheads="1"/>
            </p:cNvSpPr>
            <p:nvPr/>
          </p:nvSpPr>
          <p:spPr bwMode="auto">
            <a:xfrm>
              <a:off x="1158" y="584"/>
              <a:ext cx="698" cy="3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b="1" i="0" dirty="0">
                  <a:latin typeface="Times New Roman" panose="02020603050405020304" pitchFamily="18" charset="0"/>
                </a:rPr>
                <a:t>data</a:t>
              </a:r>
              <a:endParaRPr lang="en-US" altLang="zh-CN" sz="2400" i="0" dirty="0">
                <a:latin typeface="Times New Roman" panose="02020603050405020304" pitchFamily="18" charset="0"/>
              </a:endParaRPr>
            </a:p>
          </p:txBody>
        </p:sp>
        <p:sp>
          <p:nvSpPr>
            <p:cNvPr id="32783" name="Text Box 23">
              <a:extLst>
                <a:ext uri="{FF2B5EF4-FFF2-40B4-BE49-F238E27FC236}">
                  <a16:creationId xmlns:a16="http://schemas.microsoft.com/office/drawing/2014/main" id="{58EF389E-F9F7-4C9D-8710-56C49C3D799A}"/>
                </a:ext>
              </a:extLst>
            </p:cNvPr>
            <p:cNvSpPr txBox="1">
              <a:spLocks noChangeArrowheads="1"/>
            </p:cNvSpPr>
            <p:nvPr/>
          </p:nvSpPr>
          <p:spPr bwMode="auto">
            <a:xfrm>
              <a:off x="20" y="1155"/>
              <a:ext cx="923" cy="3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b="1" i="0" dirty="0" err="1">
                  <a:latin typeface="Times New Roman" panose="02020603050405020304" pitchFamily="18" charset="0"/>
                </a:rPr>
                <a:t>lChild</a:t>
              </a:r>
              <a:endParaRPr lang="en-US" altLang="zh-CN" sz="2400" i="0" dirty="0">
                <a:latin typeface="Times New Roman" panose="02020603050405020304" pitchFamily="18" charset="0"/>
              </a:endParaRPr>
            </a:p>
          </p:txBody>
        </p:sp>
        <p:sp>
          <p:nvSpPr>
            <p:cNvPr id="32784" name="Line 24">
              <a:extLst>
                <a:ext uri="{FF2B5EF4-FFF2-40B4-BE49-F238E27FC236}">
                  <a16:creationId xmlns:a16="http://schemas.microsoft.com/office/drawing/2014/main" id="{0E6F242C-08A7-485B-97BA-A531EF28F980}"/>
                </a:ext>
              </a:extLst>
            </p:cNvPr>
            <p:cNvSpPr>
              <a:spLocks noChangeShapeType="1"/>
            </p:cNvSpPr>
            <p:nvPr/>
          </p:nvSpPr>
          <p:spPr bwMode="auto">
            <a:xfrm flipV="1">
              <a:off x="1776" y="630"/>
              <a:ext cx="0" cy="288"/>
            </a:xfrm>
            <a:prstGeom prst="line">
              <a:avLst/>
            </a:prstGeom>
            <a:noFill/>
            <a:ln w="19050">
              <a:solidFill>
                <a:srgbClr val="FF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85" name="Line 25">
              <a:extLst>
                <a:ext uri="{FF2B5EF4-FFF2-40B4-BE49-F238E27FC236}">
                  <a16:creationId xmlns:a16="http://schemas.microsoft.com/office/drawing/2014/main" id="{BB0C053D-D8EB-4FA5-B17E-40F12EB3EEAC}"/>
                </a:ext>
              </a:extLst>
            </p:cNvPr>
            <p:cNvSpPr>
              <a:spLocks noChangeShapeType="1"/>
            </p:cNvSpPr>
            <p:nvPr/>
          </p:nvSpPr>
          <p:spPr bwMode="auto">
            <a:xfrm flipV="1">
              <a:off x="1776" y="534"/>
              <a:ext cx="96" cy="96"/>
            </a:xfrm>
            <a:prstGeom prst="line">
              <a:avLst/>
            </a:prstGeom>
            <a:noFill/>
            <a:ln w="19050">
              <a:solidFill>
                <a:srgbClr val="FF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86" name="Line 26">
              <a:extLst>
                <a:ext uri="{FF2B5EF4-FFF2-40B4-BE49-F238E27FC236}">
                  <a16:creationId xmlns:a16="http://schemas.microsoft.com/office/drawing/2014/main" id="{B6A4999C-97B4-43AD-9D27-2B9D4AF5247F}"/>
                </a:ext>
              </a:extLst>
            </p:cNvPr>
            <p:cNvSpPr>
              <a:spLocks noChangeShapeType="1"/>
            </p:cNvSpPr>
            <p:nvPr/>
          </p:nvSpPr>
          <p:spPr bwMode="auto">
            <a:xfrm flipV="1">
              <a:off x="1200" y="630"/>
              <a:ext cx="0" cy="288"/>
            </a:xfrm>
            <a:prstGeom prst="line">
              <a:avLst/>
            </a:prstGeom>
            <a:noFill/>
            <a:ln w="19050">
              <a:solidFill>
                <a:srgbClr val="FF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87" name="Line 27">
              <a:extLst>
                <a:ext uri="{FF2B5EF4-FFF2-40B4-BE49-F238E27FC236}">
                  <a16:creationId xmlns:a16="http://schemas.microsoft.com/office/drawing/2014/main" id="{8615D6B8-606B-4874-8B93-F794284B77D3}"/>
                </a:ext>
              </a:extLst>
            </p:cNvPr>
            <p:cNvSpPr>
              <a:spLocks noChangeShapeType="1"/>
            </p:cNvSpPr>
            <p:nvPr/>
          </p:nvSpPr>
          <p:spPr bwMode="auto">
            <a:xfrm flipV="1">
              <a:off x="1200" y="534"/>
              <a:ext cx="96" cy="96"/>
            </a:xfrm>
            <a:prstGeom prst="line">
              <a:avLst/>
            </a:prstGeom>
            <a:noFill/>
            <a:ln w="19050">
              <a:solidFill>
                <a:srgbClr val="FF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88" name="Line 28">
              <a:extLst>
                <a:ext uri="{FF2B5EF4-FFF2-40B4-BE49-F238E27FC236}">
                  <a16:creationId xmlns:a16="http://schemas.microsoft.com/office/drawing/2014/main" id="{1BD089DF-FA85-4B79-AD6C-DB38E3A1C525}"/>
                </a:ext>
              </a:extLst>
            </p:cNvPr>
            <p:cNvSpPr>
              <a:spLocks noChangeShapeType="1"/>
            </p:cNvSpPr>
            <p:nvPr/>
          </p:nvSpPr>
          <p:spPr bwMode="auto">
            <a:xfrm flipV="1">
              <a:off x="2256" y="630"/>
              <a:ext cx="0" cy="288"/>
            </a:xfrm>
            <a:prstGeom prst="line">
              <a:avLst/>
            </a:prstGeom>
            <a:noFill/>
            <a:ln w="19050">
              <a:solidFill>
                <a:srgbClr val="FF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89" name="Line 29">
              <a:extLst>
                <a:ext uri="{FF2B5EF4-FFF2-40B4-BE49-F238E27FC236}">
                  <a16:creationId xmlns:a16="http://schemas.microsoft.com/office/drawing/2014/main" id="{CC5DFF56-D1BF-49DA-BA35-3AA75D811915}"/>
                </a:ext>
              </a:extLst>
            </p:cNvPr>
            <p:cNvSpPr>
              <a:spLocks noChangeShapeType="1"/>
            </p:cNvSpPr>
            <p:nvPr/>
          </p:nvSpPr>
          <p:spPr bwMode="auto">
            <a:xfrm flipV="1">
              <a:off x="2256" y="534"/>
              <a:ext cx="96" cy="96"/>
            </a:xfrm>
            <a:prstGeom prst="line">
              <a:avLst/>
            </a:prstGeom>
            <a:noFill/>
            <a:ln w="19050">
              <a:solidFill>
                <a:srgbClr val="FF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90" name="Text Box 30">
              <a:extLst>
                <a:ext uri="{FF2B5EF4-FFF2-40B4-BE49-F238E27FC236}">
                  <a16:creationId xmlns:a16="http://schemas.microsoft.com/office/drawing/2014/main" id="{A5E85356-4BA0-4078-A811-611D4EB89E26}"/>
                </a:ext>
              </a:extLst>
            </p:cNvPr>
            <p:cNvSpPr txBox="1">
              <a:spLocks noChangeArrowheads="1"/>
            </p:cNvSpPr>
            <p:nvPr/>
          </p:nvSpPr>
          <p:spPr bwMode="auto">
            <a:xfrm>
              <a:off x="2477" y="1148"/>
              <a:ext cx="970" cy="3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b="1" i="0" dirty="0" err="1">
                  <a:latin typeface="Times New Roman" panose="02020603050405020304" pitchFamily="18" charset="0"/>
                </a:rPr>
                <a:t>rChild</a:t>
              </a:r>
              <a:endParaRPr lang="en-US" altLang="zh-CN" sz="2400" i="0" dirty="0">
                <a:latin typeface="Times New Roman" panose="02020603050405020304" pitchFamily="18" charset="0"/>
              </a:endParaRPr>
            </a:p>
          </p:txBody>
        </p:sp>
        <p:sp>
          <p:nvSpPr>
            <p:cNvPr id="32791" name="Line 31">
              <a:extLst>
                <a:ext uri="{FF2B5EF4-FFF2-40B4-BE49-F238E27FC236}">
                  <a16:creationId xmlns:a16="http://schemas.microsoft.com/office/drawing/2014/main" id="{189EFAB6-D3F8-4A42-8AC8-788AE5C609D4}"/>
                </a:ext>
              </a:extLst>
            </p:cNvPr>
            <p:cNvSpPr>
              <a:spLocks noChangeShapeType="1"/>
            </p:cNvSpPr>
            <p:nvPr/>
          </p:nvSpPr>
          <p:spPr bwMode="auto">
            <a:xfrm flipV="1">
              <a:off x="2016" y="342"/>
              <a:ext cx="0" cy="240"/>
            </a:xfrm>
            <a:prstGeom prst="line">
              <a:avLst/>
            </a:prstGeom>
            <a:noFill/>
            <a:ln w="38100">
              <a:solidFill>
                <a:schemeClr val="tx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92" name="Line 32">
              <a:extLst>
                <a:ext uri="{FF2B5EF4-FFF2-40B4-BE49-F238E27FC236}">
                  <a16:creationId xmlns:a16="http://schemas.microsoft.com/office/drawing/2014/main" id="{1BF1335F-A8ED-4889-A594-6765B6F8F68C}"/>
                </a:ext>
              </a:extLst>
            </p:cNvPr>
            <p:cNvSpPr>
              <a:spLocks noChangeShapeType="1"/>
            </p:cNvSpPr>
            <p:nvPr/>
          </p:nvSpPr>
          <p:spPr bwMode="auto">
            <a:xfrm>
              <a:off x="2016" y="582"/>
              <a:ext cx="0" cy="192"/>
            </a:xfrm>
            <a:prstGeom prst="line">
              <a:avLst/>
            </a:prstGeom>
            <a:noFill/>
            <a:ln w="38100" cap="rnd">
              <a:solidFill>
                <a:schemeClr val="tx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93" name="Line 33">
              <a:extLst>
                <a:ext uri="{FF2B5EF4-FFF2-40B4-BE49-F238E27FC236}">
                  <a16:creationId xmlns:a16="http://schemas.microsoft.com/office/drawing/2014/main" id="{D4694FB7-70F7-4947-82EB-72EBB38F6031}"/>
                </a:ext>
              </a:extLst>
            </p:cNvPr>
            <p:cNvSpPr>
              <a:spLocks noChangeShapeType="1"/>
            </p:cNvSpPr>
            <p:nvPr/>
          </p:nvSpPr>
          <p:spPr bwMode="auto">
            <a:xfrm flipH="1">
              <a:off x="672" y="918"/>
              <a:ext cx="192" cy="192"/>
            </a:xfrm>
            <a:prstGeom prst="line">
              <a:avLst/>
            </a:prstGeom>
            <a:noFill/>
            <a:ln w="38100">
              <a:solidFill>
                <a:schemeClr val="tx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94" name="Line 34">
              <a:extLst>
                <a:ext uri="{FF2B5EF4-FFF2-40B4-BE49-F238E27FC236}">
                  <a16:creationId xmlns:a16="http://schemas.microsoft.com/office/drawing/2014/main" id="{61338AFF-A90D-4632-8775-0FFFB6085C93}"/>
                </a:ext>
              </a:extLst>
            </p:cNvPr>
            <p:cNvSpPr>
              <a:spLocks noChangeShapeType="1"/>
            </p:cNvSpPr>
            <p:nvPr/>
          </p:nvSpPr>
          <p:spPr bwMode="auto">
            <a:xfrm flipV="1">
              <a:off x="864" y="774"/>
              <a:ext cx="144" cy="144"/>
            </a:xfrm>
            <a:prstGeom prst="line">
              <a:avLst/>
            </a:prstGeom>
            <a:noFill/>
            <a:ln w="38100" cap="rnd">
              <a:solidFill>
                <a:schemeClr val="tx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95" name="Line 35">
              <a:extLst>
                <a:ext uri="{FF2B5EF4-FFF2-40B4-BE49-F238E27FC236}">
                  <a16:creationId xmlns:a16="http://schemas.microsoft.com/office/drawing/2014/main" id="{1009BFE5-ED2C-4D58-A172-8F6D77DEB0BB}"/>
                </a:ext>
              </a:extLst>
            </p:cNvPr>
            <p:cNvSpPr>
              <a:spLocks noChangeShapeType="1"/>
            </p:cNvSpPr>
            <p:nvPr/>
          </p:nvSpPr>
          <p:spPr bwMode="auto">
            <a:xfrm flipH="1" flipV="1">
              <a:off x="2544" y="918"/>
              <a:ext cx="192" cy="192"/>
            </a:xfrm>
            <a:prstGeom prst="line">
              <a:avLst/>
            </a:prstGeom>
            <a:noFill/>
            <a:ln w="38100">
              <a:solidFill>
                <a:schemeClr val="tx2"/>
              </a:solidFill>
              <a:round/>
              <a:headEnd type="triangle" w="sm"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96" name="Line 36">
              <a:extLst>
                <a:ext uri="{FF2B5EF4-FFF2-40B4-BE49-F238E27FC236}">
                  <a16:creationId xmlns:a16="http://schemas.microsoft.com/office/drawing/2014/main" id="{7FC8B67C-4B03-4353-A61E-3F602DCBFED4}"/>
                </a:ext>
              </a:extLst>
            </p:cNvPr>
            <p:cNvSpPr>
              <a:spLocks noChangeShapeType="1"/>
            </p:cNvSpPr>
            <p:nvPr/>
          </p:nvSpPr>
          <p:spPr bwMode="auto">
            <a:xfrm>
              <a:off x="2400" y="774"/>
              <a:ext cx="144" cy="144"/>
            </a:xfrm>
            <a:prstGeom prst="line">
              <a:avLst/>
            </a:prstGeom>
            <a:noFill/>
            <a:ln w="38100" cap="rnd">
              <a:solidFill>
                <a:schemeClr val="tx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 name="Text Box 4">
            <a:extLst>
              <a:ext uri="{FF2B5EF4-FFF2-40B4-BE49-F238E27FC236}">
                <a16:creationId xmlns:a16="http://schemas.microsoft.com/office/drawing/2014/main" id="{3A762ECF-E6A3-4CEC-B1A5-A19F7841DF8B}"/>
              </a:ext>
            </a:extLst>
          </p:cNvPr>
          <p:cNvSpPr txBox="1">
            <a:spLocks noChangeArrowheads="1"/>
          </p:cNvSpPr>
          <p:nvPr/>
        </p:nvSpPr>
        <p:spPr bwMode="auto">
          <a:xfrm>
            <a:off x="385295" y="145360"/>
            <a:ext cx="8758705"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二叉树的链式存储结构</a:t>
            </a:r>
            <a:r>
              <a:rPr lang="en-US" altLang="zh-CN" sz="4400" i="0" dirty="0">
                <a:solidFill>
                  <a:schemeClr val="tx2"/>
                </a:solidFill>
                <a:ea typeface="隶书" pitchFamily="49" charset="-122"/>
              </a:rPr>
              <a:t>—</a:t>
            </a:r>
            <a:r>
              <a:rPr lang="zh-CN" altLang="en-US" sz="4400" i="0" dirty="0">
                <a:solidFill>
                  <a:schemeClr val="tx2"/>
                </a:solidFill>
                <a:ea typeface="隶书" pitchFamily="49" charset="-122"/>
              </a:rPr>
              <a:t>三叉链表</a:t>
            </a:r>
          </a:p>
        </p:txBody>
      </p:sp>
      <p:sp>
        <p:nvSpPr>
          <p:cNvPr id="3" name="文本框 2">
            <a:extLst>
              <a:ext uri="{FF2B5EF4-FFF2-40B4-BE49-F238E27FC236}">
                <a16:creationId xmlns:a16="http://schemas.microsoft.com/office/drawing/2014/main" id="{183DCA10-A0D7-6F0B-E7E8-191CACBC4E5C}"/>
              </a:ext>
            </a:extLst>
          </p:cNvPr>
          <p:cNvSpPr txBox="1"/>
          <p:nvPr/>
        </p:nvSpPr>
        <p:spPr>
          <a:xfrm>
            <a:off x="738312" y="5510228"/>
            <a:ext cx="7299473" cy="523220"/>
          </a:xfrm>
          <a:prstGeom prst="rect">
            <a:avLst/>
          </a:prstGeom>
          <a:noFill/>
        </p:spPr>
        <p:txBody>
          <a:bodyPr wrap="square" rtlCol="0">
            <a:spAutoFit/>
          </a:bodyPr>
          <a:lstStyle/>
          <a:p>
            <a:r>
              <a:rPr lang="en-US" altLang="zh-CN" sz="2800" b="0" i="0" dirty="0">
                <a:latin typeface="+mn-ea"/>
                <a:ea typeface="+mn-ea"/>
              </a:rPr>
              <a:t>P25,BiTNode</a:t>
            </a:r>
            <a:r>
              <a:rPr lang="zh-CN" altLang="en-US" sz="2800" b="0" i="0" dirty="0">
                <a:latin typeface="+mn-ea"/>
                <a:ea typeface="+mn-ea"/>
              </a:rPr>
              <a:t>增加</a:t>
            </a:r>
            <a:r>
              <a:rPr lang="en-US" altLang="zh-CN" sz="2800" b="0" i="0" dirty="0" err="1">
                <a:latin typeface="+mn-ea"/>
                <a:ea typeface="+mn-ea"/>
              </a:rPr>
              <a:t>BiTNode</a:t>
            </a:r>
            <a:r>
              <a:rPr lang="en-US" altLang="zh-CN" sz="2800" b="0" i="0" dirty="0">
                <a:latin typeface="+mn-ea"/>
                <a:ea typeface="+mn-ea"/>
              </a:rPr>
              <a:t> *parent</a:t>
            </a:r>
            <a:r>
              <a:rPr lang="zh-CN" altLang="en-US" sz="2800" b="0" i="0" dirty="0">
                <a:latin typeface="+mn-ea"/>
                <a:ea typeface="+mn-ea"/>
              </a:rPr>
              <a:t>属性。</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77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77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277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5">
            <a:extLst>
              <a:ext uri="{FF2B5EF4-FFF2-40B4-BE49-F238E27FC236}">
                <a16:creationId xmlns:a16="http://schemas.microsoft.com/office/drawing/2014/main" id="{128AAF3A-AA5D-8F40-ACE7-F4DEE98B9DEB}"/>
              </a:ext>
            </a:extLst>
          </p:cNvPr>
          <p:cNvGrpSpPr/>
          <p:nvPr/>
        </p:nvGrpSpPr>
        <p:grpSpPr>
          <a:xfrm>
            <a:off x="4888731" y="3861048"/>
            <a:ext cx="1295400" cy="325301"/>
            <a:chOff x="7238912" y="1376948"/>
            <a:chExt cx="1295400" cy="325301"/>
          </a:xfrm>
        </p:grpSpPr>
        <p:sp>
          <p:nvSpPr>
            <p:cNvPr id="17" name="Rectangle 45" descr="羊皮纸">
              <a:extLst>
                <a:ext uri="{FF2B5EF4-FFF2-40B4-BE49-F238E27FC236}">
                  <a16:creationId xmlns:a16="http://schemas.microsoft.com/office/drawing/2014/main" id="{FA19E3F9-DBFC-EB75-B6A1-628CDEA67826}"/>
                </a:ext>
              </a:extLst>
            </p:cNvPr>
            <p:cNvSpPr>
              <a:spLocks noChangeArrowheads="1"/>
            </p:cNvSpPr>
            <p:nvPr/>
          </p:nvSpPr>
          <p:spPr bwMode="auto">
            <a:xfrm>
              <a:off x="7238912" y="1376948"/>
              <a:ext cx="1295400" cy="325301"/>
            </a:xfrm>
            <a:prstGeom prst="rect">
              <a:avLst/>
            </a:prstGeom>
            <a:blipFill dpi="0" rotWithShape="0">
              <a:blip r:embed="rId2"/>
              <a:srcRect/>
              <a:tile tx="0" ty="0" sx="100000" sy="100000" flip="none" algn="tl"/>
            </a:blipFill>
            <a:ln w="381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18" name="Line 46">
              <a:extLst>
                <a:ext uri="{FF2B5EF4-FFF2-40B4-BE49-F238E27FC236}">
                  <a16:creationId xmlns:a16="http://schemas.microsoft.com/office/drawing/2014/main" id="{3835FA97-9804-6097-F02B-41C9D17D7BCC}"/>
                </a:ext>
              </a:extLst>
            </p:cNvPr>
            <p:cNvSpPr>
              <a:spLocks noChangeShapeType="1"/>
            </p:cNvSpPr>
            <p:nvPr/>
          </p:nvSpPr>
          <p:spPr bwMode="auto">
            <a:xfrm>
              <a:off x="7923124" y="1376948"/>
              <a:ext cx="1588" cy="325301"/>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19" name="Line 47">
              <a:extLst>
                <a:ext uri="{FF2B5EF4-FFF2-40B4-BE49-F238E27FC236}">
                  <a16:creationId xmlns:a16="http://schemas.microsoft.com/office/drawing/2014/main" id="{A718F5B0-F0C2-C988-EF18-00C172EA5A1E}"/>
                </a:ext>
              </a:extLst>
            </p:cNvPr>
            <p:cNvSpPr>
              <a:spLocks noChangeShapeType="1"/>
            </p:cNvSpPr>
            <p:nvPr/>
          </p:nvSpPr>
          <p:spPr bwMode="auto">
            <a:xfrm>
              <a:off x="8229512" y="1376948"/>
              <a:ext cx="1588" cy="325301"/>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20" name="Line 48">
              <a:extLst>
                <a:ext uri="{FF2B5EF4-FFF2-40B4-BE49-F238E27FC236}">
                  <a16:creationId xmlns:a16="http://schemas.microsoft.com/office/drawing/2014/main" id="{90B937DD-5C46-F55F-3DC3-5275561884B3}"/>
                </a:ext>
              </a:extLst>
            </p:cNvPr>
            <p:cNvSpPr>
              <a:spLocks noChangeShapeType="1"/>
            </p:cNvSpPr>
            <p:nvPr/>
          </p:nvSpPr>
          <p:spPr bwMode="auto">
            <a:xfrm>
              <a:off x="7542124" y="1376948"/>
              <a:ext cx="1588" cy="325301"/>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grpSp>
      <p:sp>
        <p:nvSpPr>
          <p:cNvPr id="33795" name="Text Box 3">
            <a:extLst>
              <a:ext uri="{FF2B5EF4-FFF2-40B4-BE49-F238E27FC236}">
                <a16:creationId xmlns:a16="http://schemas.microsoft.com/office/drawing/2014/main" id="{E054F768-68A0-45CE-9FE3-BDD59E64D47F}"/>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038F3281-1F48-48A9-8832-B71BD8C0CA64}" type="slidenum">
              <a:rPr lang="zh-CN" altLang="en-US" sz="2400"/>
              <a:pPr algn="r" eaLnBrk="1" hangingPunct="1">
                <a:spcBef>
                  <a:spcPct val="50000"/>
                </a:spcBef>
                <a:buClrTx/>
                <a:buSzTx/>
                <a:buFont typeface="Arial" panose="020B0604020202020204" pitchFamily="34" charset="0"/>
                <a:buNone/>
              </a:pPr>
              <a:t>28</a:t>
            </a:fld>
            <a:endParaRPr lang="en-US" altLang="zh-CN" sz="2400"/>
          </a:p>
        </p:txBody>
      </p:sp>
      <p:sp>
        <p:nvSpPr>
          <p:cNvPr id="33797" name="Rectangle 5">
            <a:extLst>
              <a:ext uri="{FF2B5EF4-FFF2-40B4-BE49-F238E27FC236}">
                <a16:creationId xmlns:a16="http://schemas.microsoft.com/office/drawing/2014/main" id="{0E770BFB-B869-4F61-B877-1CB48567CDAD}"/>
              </a:ext>
            </a:extLst>
          </p:cNvPr>
          <p:cNvSpPr>
            <a:spLocks noGrp="1" noChangeArrowheads="1"/>
          </p:cNvSpPr>
          <p:nvPr>
            <p:ph type="body" idx="1"/>
          </p:nvPr>
        </p:nvSpPr>
        <p:spPr>
          <a:xfrm>
            <a:off x="539552" y="1232121"/>
            <a:ext cx="8763000" cy="732840"/>
          </a:xfrm>
        </p:spPr>
        <p:txBody>
          <a:bodyPr/>
          <a:lstStyle/>
          <a:p>
            <a:pPr eaLnBrk="1" hangingPunct="1">
              <a:spcBef>
                <a:spcPct val="30000"/>
              </a:spcBef>
            </a:pPr>
            <a:r>
              <a:rPr lang="zh-CN" altLang="en-US" dirty="0">
                <a:latin typeface="黑体" panose="02010609060101010101" pitchFamily="49" charset="-122"/>
                <a:ea typeface="黑体" panose="02010609060101010101" pitchFamily="49" charset="-122"/>
              </a:rPr>
              <a:t>二叉树（左）及其三叉链表（右）</a:t>
            </a:r>
          </a:p>
        </p:txBody>
      </p:sp>
      <p:grpSp>
        <p:nvGrpSpPr>
          <p:cNvPr id="33799" name="Group 7">
            <a:extLst>
              <a:ext uri="{FF2B5EF4-FFF2-40B4-BE49-F238E27FC236}">
                <a16:creationId xmlns:a16="http://schemas.microsoft.com/office/drawing/2014/main" id="{9E962346-734D-48D6-AF6B-340FF054C56D}"/>
              </a:ext>
            </a:extLst>
          </p:cNvPr>
          <p:cNvGrpSpPr>
            <a:grpSpLocks/>
          </p:cNvGrpSpPr>
          <p:nvPr/>
        </p:nvGrpSpPr>
        <p:grpSpPr bwMode="auto">
          <a:xfrm>
            <a:off x="1073993" y="1933994"/>
            <a:ext cx="1730376" cy="2852673"/>
            <a:chOff x="0" y="-2"/>
            <a:chExt cx="1090" cy="2429"/>
          </a:xfrm>
        </p:grpSpPr>
        <p:sp>
          <p:nvSpPr>
            <p:cNvPr id="33851" name="Line 8">
              <a:extLst>
                <a:ext uri="{FF2B5EF4-FFF2-40B4-BE49-F238E27FC236}">
                  <a16:creationId xmlns:a16="http://schemas.microsoft.com/office/drawing/2014/main" id="{92E31844-C9FB-42B8-8A60-AA74C96B8DDB}"/>
                </a:ext>
              </a:extLst>
            </p:cNvPr>
            <p:cNvSpPr>
              <a:spLocks noChangeShapeType="1"/>
            </p:cNvSpPr>
            <p:nvPr/>
          </p:nvSpPr>
          <p:spPr bwMode="auto">
            <a:xfrm flipH="1">
              <a:off x="384" y="1741"/>
              <a:ext cx="192" cy="48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33852" name="Line 9">
              <a:extLst>
                <a:ext uri="{FF2B5EF4-FFF2-40B4-BE49-F238E27FC236}">
                  <a16:creationId xmlns:a16="http://schemas.microsoft.com/office/drawing/2014/main" id="{9CA3261B-7450-48A8-AB5E-28624A4D1AAC}"/>
                </a:ext>
              </a:extLst>
            </p:cNvPr>
            <p:cNvSpPr>
              <a:spLocks noChangeShapeType="1"/>
            </p:cNvSpPr>
            <p:nvPr/>
          </p:nvSpPr>
          <p:spPr bwMode="auto">
            <a:xfrm>
              <a:off x="432" y="1261"/>
              <a:ext cx="384" cy="86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33853" name="Line 10">
              <a:extLst>
                <a:ext uri="{FF2B5EF4-FFF2-40B4-BE49-F238E27FC236}">
                  <a16:creationId xmlns:a16="http://schemas.microsoft.com/office/drawing/2014/main" id="{C9BE80B4-25AF-49F3-9C7E-76437BF15B7D}"/>
                </a:ext>
              </a:extLst>
            </p:cNvPr>
            <p:cNvSpPr>
              <a:spLocks noChangeShapeType="1"/>
            </p:cNvSpPr>
            <p:nvPr/>
          </p:nvSpPr>
          <p:spPr bwMode="auto">
            <a:xfrm flipH="1">
              <a:off x="192" y="781"/>
              <a:ext cx="336" cy="816"/>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33854" name="Oval 11" descr="羊皮纸">
              <a:extLst>
                <a:ext uri="{FF2B5EF4-FFF2-40B4-BE49-F238E27FC236}">
                  <a16:creationId xmlns:a16="http://schemas.microsoft.com/office/drawing/2014/main" id="{9C43BFC2-7DD0-4A53-9DA0-7E1AC8E803F8}"/>
                </a:ext>
              </a:extLst>
            </p:cNvPr>
            <p:cNvSpPr>
              <a:spLocks noChangeArrowheads="1"/>
            </p:cNvSpPr>
            <p:nvPr/>
          </p:nvSpPr>
          <p:spPr bwMode="auto">
            <a:xfrm>
              <a:off x="432" y="541"/>
              <a:ext cx="288" cy="288"/>
            </a:xfrm>
            <a:prstGeom prst="ellipse">
              <a:avLst/>
            </a:prstGeom>
            <a:blipFill dpi="0" rotWithShape="0">
              <a:blip r:embed="rId2"/>
              <a:srcRect/>
              <a:tile tx="0" ty="0" sx="100000" sy="100000" flip="none" algn="tl"/>
            </a:blipFill>
            <a:ln w="381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33855" name="Oval 12" descr="羊皮纸">
              <a:extLst>
                <a:ext uri="{FF2B5EF4-FFF2-40B4-BE49-F238E27FC236}">
                  <a16:creationId xmlns:a16="http://schemas.microsoft.com/office/drawing/2014/main" id="{F9ADDBBB-AB2B-41F9-9DD8-F0EE49F4A84E}"/>
                </a:ext>
              </a:extLst>
            </p:cNvPr>
            <p:cNvSpPr>
              <a:spLocks noChangeArrowheads="1"/>
            </p:cNvSpPr>
            <p:nvPr/>
          </p:nvSpPr>
          <p:spPr bwMode="auto">
            <a:xfrm>
              <a:off x="240" y="1021"/>
              <a:ext cx="288" cy="288"/>
            </a:xfrm>
            <a:prstGeom prst="ellipse">
              <a:avLst/>
            </a:prstGeom>
            <a:blipFill dpi="0" rotWithShape="0">
              <a:blip r:embed="rId2"/>
              <a:srcRect/>
              <a:tile tx="0" ty="0" sx="100000" sy="100000" flip="none" algn="tl"/>
            </a:blipFill>
            <a:ln w="381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33856" name="Oval 13" descr="羊皮纸">
              <a:extLst>
                <a:ext uri="{FF2B5EF4-FFF2-40B4-BE49-F238E27FC236}">
                  <a16:creationId xmlns:a16="http://schemas.microsoft.com/office/drawing/2014/main" id="{02E66546-1C7B-42A2-9059-39D3FECA2777}"/>
                </a:ext>
              </a:extLst>
            </p:cNvPr>
            <p:cNvSpPr>
              <a:spLocks noChangeArrowheads="1"/>
            </p:cNvSpPr>
            <p:nvPr/>
          </p:nvSpPr>
          <p:spPr bwMode="auto">
            <a:xfrm>
              <a:off x="0" y="1549"/>
              <a:ext cx="288" cy="288"/>
            </a:xfrm>
            <a:prstGeom prst="ellipse">
              <a:avLst/>
            </a:prstGeom>
            <a:blipFill dpi="0" rotWithShape="0">
              <a:blip r:embed="rId2"/>
              <a:srcRect/>
              <a:tile tx="0" ty="0" sx="100000" sy="100000" flip="none" algn="tl"/>
            </a:blipFill>
            <a:ln w="381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33857" name="Oval 14" descr="羊皮纸">
              <a:extLst>
                <a:ext uri="{FF2B5EF4-FFF2-40B4-BE49-F238E27FC236}">
                  <a16:creationId xmlns:a16="http://schemas.microsoft.com/office/drawing/2014/main" id="{BC6CE83C-F7B6-452D-B04F-6CF0C1DF001C}"/>
                </a:ext>
              </a:extLst>
            </p:cNvPr>
            <p:cNvSpPr>
              <a:spLocks noChangeArrowheads="1"/>
            </p:cNvSpPr>
            <p:nvPr/>
          </p:nvSpPr>
          <p:spPr bwMode="auto">
            <a:xfrm>
              <a:off x="480" y="1549"/>
              <a:ext cx="288" cy="288"/>
            </a:xfrm>
            <a:prstGeom prst="ellipse">
              <a:avLst/>
            </a:prstGeom>
            <a:blipFill dpi="0" rotWithShape="0">
              <a:blip r:embed="rId2"/>
              <a:srcRect/>
              <a:tile tx="0" ty="0" sx="100000" sy="100000" flip="none" algn="tl"/>
            </a:blipFill>
            <a:ln w="381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33858" name="Oval 15" descr="羊皮纸">
              <a:extLst>
                <a:ext uri="{FF2B5EF4-FFF2-40B4-BE49-F238E27FC236}">
                  <a16:creationId xmlns:a16="http://schemas.microsoft.com/office/drawing/2014/main" id="{4C4A5E45-6B48-47A9-99FE-2DCAC291D00C}"/>
                </a:ext>
              </a:extLst>
            </p:cNvPr>
            <p:cNvSpPr>
              <a:spLocks noChangeArrowheads="1"/>
            </p:cNvSpPr>
            <p:nvPr/>
          </p:nvSpPr>
          <p:spPr bwMode="auto">
            <a:xfrm>
              <a:off x="720" y="2077"/>
              <a:ext cx="288" cy="288"/>
            </a:xfrm>
            <a:prstGeom prst="ellipse">
              <a:avLst/>
            </a:prstGeom>
            <a:blipFill dpi="0" rotWithShape="0">
              <a:blip r:embed="rId2"/>
              <a:srcRect/>
              <a:tile tx="0" ty="0" sx="100000" sy="100000" flip="none" algn="tl"/>
            </a:blipFill>
            <a:ln w="381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33859" name="Oval 16" descr="羊皮纸">
              <a:extLst>
                <a:ext uri="{FF2B5EF4-FFF2-40B4-BE49-F238E27FC236}">
                  <a16:creationId xmlns:a16="http://schemas.microsoft.com/office/drawing/2014/main" id="{AA23C7F3-B48B-4BEA-B01B-63FE1827FDF5}"/>
                </a:ext>
              </a:extLst>
            </p:cNvPr>
            <p:cNvSpPr>
              <a:spLocks noChangeArrowheads="1"/>
            </p:cNvSpPr>
            <p:nvPr/>
          </p:nvSpPr>
          <p:spPr bwMode="auto">
            <a:xfrm>
              <a:off x="240" y="2077"/>
              <a:ext cx="288" cy="288"/>
            </a:xfrm>
            <a:prstGeom prst="ellipse">
              <a:avLst/>
            </a:prstGeom>
            <a:blipFill dpi="0" rotWithShape="0">
              <a:blip r:embed="rId2"/>
              <a:srcRect/>
              <a:tile tx="0" ty="0" sx="100000" sy="100000" flip="none" algn="tl"/>
            </a:blipFill>
            <a:ln w="381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33860" name="Text Box 17">
              <a:extLst>
                <a:ext uri="{FF2B5EF4-FFF2-40B4-BE49-F238E27FC236}">
                  <a16:creationId xmlns:a16="http://schemas.microsoft.com/office/drawing/2014/main" id="{56107EAA-3953-4613-9524-4F06FA2D8988}"/>
                </a:ext>
              </a:extLst>
            </p:cNvPr>
            <p:cNvSpPr txBox="1">
              <a:spLocks noChangeArrowheads="1"/>
            </p:cNvSpPr>
            <p:nvPr/>
          </p:nvSpPr>
          <p:spPr bwMode="auto">
            <a:xfrm>
              <a:off x="454" y="469"/>
              <a:ext cx="257" cy="3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b="1" i="0" dirty="0">
                  <a:latin typeface="Times New Roman" panose="02020603050405020304" pitchFamily="18" charset="0"/>
                </a:rPr>
                <a:t>A</a:t>
              </a:r>
              <a:endParaRPr lang="en-US" altLang="zh-CN" sz="2400" i="0" dirty="0">
                <a:latin typeface="Times New Roman" panose="02020603050405020304" pitchFamily="18" charset="0"/>
              </a:endParaRPr>
            </a:p>
          </p:txBody>
        </p:sp>
        <p:sp>
          <p:nvSpPr>
            <p:cNvPr id="33861" name="Text Box 18">
              <a:extLst>
                <a:ext uri="{FF2B5EF4-FFF2-40B4-BE49-F238E27FC236}">
                  <a16:creationId xmlns:a16="http://schemas.microsoft.com/office/drawing/2014/main" id="{3FDB0927-920F-41CF-B65B-67B64AB655DF}"/>
                </a:ext>
              </a:extLst>
            </p:cNvPr>
            <p:cNvSpPr txBox="1">
              <a:spLocks noChangeArrowheads="1"/>
            </p:cNvSpPr>
            <p:nvPr/>
          </p:nvSpPr>
          <p:spPr bwMode="auto">
            <a:xfrm>
              <a:off x="255" y="961"/>
              <a:ext cx="244" cy="3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b="1" i="0" dirty="0">
                  <a:latin typeface="Times New Roman" panose="02020603050405020304" pitchFamily="18" charset="0"/>
                </a:rPr>
                <a:t>B</a:t>
              </a:r>
              <a:endParaRPr lang="en-US" altLang="zh-CN" sz="2400" i="0" dirty="0">
                <a:latin typeface="Times New Roman" panose="02020603050405020304" pitchFamily="18" charset="0"/>
              </a:endParaRPr>
            </a:p>
          </p:txBody>
        </p:sp>
        <p:sp>
          <p:nvSpPr>
            <p:cNvPr id="33862" name="Text Box 19">
              <a:extLst>
                <a:ext uri="{FF2B5EF4-FFF2-40B4-BE49-F238E27FC236}">
                  <a16:creationId xmlns:a16="http://schemas.microsoft.com/office/drawing/2014/main" id="{B8946638-A7CB-4AFB-98EA-769A6F109009}"/>
                </a:ext>
              </a:extLst>
            </p:cNvPr>
            <p:cNvSpPr txBox="1">
              <a:spLocks noChangeArrowheads="1"/>
            </p:cNvSpPr>
            <p:nvPr/>
          </p:nvSpPr>
          <p:spPr bwMode="auto">
            <a:xfrm>
              <a:off x="23" y="1507"/>
              <a:ext cx="255" cy="3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b="1" i="0" dirty="0">
                  <a:latin typeface="Times New Roman" panose="02020603050405020304" pitchFamily="18" charset="0"/>
                </a:rPr>
                <a:t>C</a:t>
              </a:r>
              <a:endParaRPr lang="en-US" altLang="zh-CN" sz="2400" i="0" dirty="0">
                <a:latin typeface="Times New Roman" panose="02020603050405020304" pitchFamily="18" charset="0"/>
              </a:endParaRPr>
            </a:p>
          </p:txBody>
        </p:sp>
        <p:sp>
          <p:nvSpPr>
            <p:cNvPr id="33863" name="Text Box 20">
              <a:extLst>
                <a:ext uri="{FF2B5EF4-FFF2-40B4-BE49-F238E27FC236}">
                  <a16:creationId xmlns:a16="http://schemas.microsoft.com/office/drawing/2014/main" id="{09C4776D-F0AD-4714-B8B1-FFAF5ABFF340}"/>
                </a:ext>
              </a:extLst>
            </p:cNvPr>
            <p:cNvSpPr txBox="1">
              <a:spLocks noChangeArrowheads="1"/>
            </p:cNvSpPr>
            <p:nvPr/>
          </p:nvSpPr>
          <p:spPr bwMode="auto">
            <a:xfrm>
              <a:off x="490" y="1507"/>
              <a:ext cx="255" cy="3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b="1" i="0" dirty="0">
                  <a:latin typeface="Times New Roman" panose="02020603050405020304" pitchFamily="18" charset="0"/>
                </a:rPr>
                <a:t>D</a:t>
              </a:r>
              <a:endParaRPr lang="en-US" altLang="zh-CN" sz="2400" i="0" dirty="0">
                <a:latin typeface="Times New Roman" panose="02020603050405020304" pitchFamily="18" charset="0"/>
              </a:endParaRPr>
            </a:p>
          </p:txBody>
        </p:sp>
        <p:sp>
          <p:nvSpPr>
            <p:cNvPr id="33864" name="Text Box 21">
              <a:extLst>
                <a:ext uri="{FF2B5EF4-FFF2-40B4-BE49-F238E27FC236}">
                  <a16:creationId xmlns:a16="http://schemas.microsoft.com/office/drawing/2014/main" id="{990681B9-5BAB-4949-8582-1549782D8FC3}"/>
                </a:ext>
              </a:extLst>
            </p:cNvPr>
            <p:cNvSpPr txBox="1">
              <a:spLocks noChangeArrowheads="1"/>
            </p:cNvSpPr>
            <p:nvPr/>
          </p:nvSpPr>
          <p:spPr bwMode="auto">
            <a:xfrm>
              <a:off x="754" y="2034"/>
              <a:ext cx="234" cy="3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b="1" i="0" dirty="0">
                  <a:latin typeface="Times New Roman" panose="02020603050405020304" pitchFamily="18" charset="0"/>
                </a:rPr>
                <a:t>F</a:t>
              </a:r>
              <a:endParaRPr lang="en-US" altLang="zh-CN" sz="2400" i="0" dirty="0">
                <a:latin typeface="Times New Roman" panose="02020603050405020304" pitchFamily="18" charset="0"/>
              </a:endParaRPr>
            </a:p>
          </p:txBody>
        </p:sp>
        <p:sp>
          <p:nvSpPr>
            <p:cNvPr id="33865" name="Text Box 22">
              <a:extLst>
                <a:ext uri="{FF2B5EF4-FFF2-40B4-BE49-F238E27FC236}">
                  <a16:creationId xmlns:a16="http://schemas.microsoft.com/office/drawing/2014/main" id="{32AE78DC-E63A-4D66-89AF-4CD845073076}"/>
                </a:ext>
              </a:extLst>
            </p:cNvPr>
            <p:cNvSpPr txBox="1">
              <a:spLocks noChangeArrowheads="1"/>
            </p:cNvSpPr>
            <p:nvPr/>
          </p:nvSpPr>
          <p:spPr bwMode="auto">
            <a:xfrm>
              <a:off x="269" y="2034"/>
              <a:ext cx="246" cy="3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b="1" i="0" dirty="0">
                  <a:latin typeface="Times New Roman" panose="02020603050405020304" pitchFamily="18" charset="0"/>
                </a:rPr>
                <a:t>E</a:t>
              </a:r>
              <a:endParaRPr lang="en-US" altLang="zh-CN" sz="2400" i="0" dirty="0">
                <a:latin typeface="Times New Roman" panose="02020603050405020304" pitchFamily="18" charset="0"/>
              </a:endParaRPr>
            </a:p>
          </p:txBody>
        </p:sp>
        <p:sp>
          <p:nvSpPr>
            <p:cNvPr id="33866" name="Line 23">
              <a:extLst>
                <a:ext uri="{FF2B5EF4-FFF2-40B4-BE49-F238E27FC236}">
                  <a16:creationId xmlns:a16="http://schemas.microsoft.com/office/drawing/2014/main" id="{981B1661-49FF-401E-B450-60ABBA1F0E79}"/>
                </a:ext>
              </a:extLst>
            </p:cNvPr>
            <p:cNvSpPr>
              <a:spLocks noChangeShapeType="1"/>
            </p:cNvSpPr>
            <p:nvPr/>
          </p:nvSpPr>
          <p:spPr bwMode="auto">
            <a:xfrm flipH="1">
              <a:off x="624" y="349"/>
              <a:ext cx="144" cy="192"/>
            </a:xfrm>
            <a:prstGeom prst="line">
              <a:avLst/>
            </a:prstGeom>
            <a:noFill/>
            <a:ln w="381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33867" name="Text Box 24">
              <a:extLst>
                <a:ext uri="{FF2B5EF4-FFF2-40B4-BE49-F238E27FC236}">
                  <a16:creationId xmlns:a16="http://schemas.microsoft.com/office/drawing/2014/main" id="{B103EF0D-07AF-4938-B118-857412245661}"/>
                </a:ext>
              </a:extLst>
            </p:cNvPr>
            <p:cNvSpPr txBox="1">
              <a:spLocks noChangeArrowheads="1"/>
            </p:cNvSpPr>
            <p:nvPr/>
          </p:nvSpPr>
          <p:spPr bwMode="auto">
            <a:xfrm>
              <a:off x="633" y="-2"/>
              <a:ext cx="457" cy="3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b="1" i="0">
                  <a:latin typeface="Times New Roman" panose="02020603050405020304" pitchFamily="18" charset="0"/>
                </a:rPr>
                <a:t>root</a:t>
              </a:r>
              <a:endParaRPr lang="en-US" altLang="zh-CN" sz="2400" i="0">
                <a:latin typeface="Times New Roman" panose="02020603050405020304" pitchFamily="18" charset="0"/>
              </a:endParaRPr>
            </a:p>
          </p:txBody>
        </p:sp>
      </p:grpSp>
      <p:grpSp>
        <p:nvGrpSpPr>
          <p:cNvPr id="4" name="组合 3">
            <a:extLst>
              <a:ext uri="{FF2B5EF4-FFF2-40B4-BE49-F238E27FC236}">
                <a16:creationId xmlns:a16="http://schemas.microsoft.com/office/drawing/2014/main" id="{D2C45947-B062-6701-006E-3D45189E235E}"/>
              </a:ext>
            </a:extLst>
          </p:cNvPr>
          <p:cNvGrpSpPr/>
          <p:nvPr/>
        </p:nvGrpSpPr>
        <p:grpSpPr>
          <a:xfrm>
            <a:off x="6239151" y="2560250"/>
            <a:ext cx="1295400" cy="325301"/>
            <a:chOff x="7238912" y="1376948"/>
            <a:chExt cx="1295400" cy="325301"/>
          </a:xfrm>
        </p:grpSpPr>
        <p:sp>
          <p:nvSpPr>
            <p:cNvPr id="33820" name="Rectangle 45" descr="羊皮纸">
              <a:extLst>
                <a:ext uri="{FF2B5EF4-FFF2-40B4-BE49-F238E27FC236}">
                  <a16:creationId xmlns:a16="http://schemas.microsoft.com/office/drawing/2014/main" id="{01B2D2E3-2C95-4B87-9972-EBD1C2801447}"/>
                </a:ext>
              </a:extLst>
            </p:cNvPr>
            <p:cNvSpPr>
              <a:spLocks noChangeArrowheads="1"/>
            </p:cNvSpPr>
            <p:nvPr/>
          </p:nvSpPr>
          <p:spPr bwMode="auto">
            <a:xfrm>
              <a:off x="7238912" y="1376948"/>
              <a:ext cx="1295400" cy="325301"/>
            </a:xfrm>
            <a:prstGeom prst="rect">
              <a:avLst/>
            </a:prstGeom>
            <a:blipFill dpi="0" rotWithShape="0">
              <a:blip r:embed="rId2"/>
              <a:srcRect/>
              <a:tile tx="0" ty="0" sx="100000" sy="100000" flip="none" algn="tl"/>
            </a:blipFill>
            <a:ln w="381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33821" name="Line 46">
              <a:extLst>
                <a:ext uri="{FF2B5EF4-FFF2-40B4-BE49-F238E27FC236}">
                  <a16:creationId xmlns:a16="http://schemas.microsoft.com/office/drawing/2014/main" id="{4FAC277C-5B0B-4E3F-8B21-62501DDF0C43}"/>
                </a:ext>
              </a:extLst>
            </p:cNvPr>
            <p:cNvSpPr>
              <a:spLocks noChangeShapeType="1"/>
            </p:cNvSpPr>
            <p:nvPr/>
          </p:nvSpPr>
          <p:spPr bwMode="auto">
            <a:xfrm>
              <a:off x="7923124" y="1376948"/>
              <a:ext cx="1588" cy="325301"/>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33822" name="Line 47">
              <a:extLst>
                <a:ext uri="{FF2B5EF4-FFF2-40B4-BE49-F238E27FC236}">
                  <a16:creationId xmlns:a16="http://schemas.microsoft.com/office/drawing/2014/main" id="{2E280707-0D26-4F93-AFB3-A1D9B268E6FF}"/>
                </a:ext>
              </a:extLst>
            </p:cNvPr>
            <p:cNvSpPr>
              <a:spLocks noChangeShapeType="1"/>
            </p:cNvSpPr>
            <p:nvPr/>
          </p:nvSpPr>
          <p:spPr bwMode="auto">
            <a:xfrm>
              <a:off x="8229512" y="1376948"/>
              <a:ext cx="1588" cy="325301"/>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33823" name="Line 48">
              <a:extLst>
                <a:ext uri="{FF2B5EF4-FFF2-40B4-BE49-F238E27FC236}">
                  <a16:creationId xmlns:a16="http://schemas.microsoft.com/office/drawing/2014/main" id="{7FD87521-CC66-4F03-8D22-8F9CF02E9FE8}"/>
                </a:ext>
              </a:extLst>
            </p:cNvPr>
            <p:cNvSpPr>
              <a:spLocks noChangeShapeType="1"/>
            </p:cNvSpPr>
            <p:nvPr/>
          </p:nvSpPr>
          <p:spPr bwMode="auto">
            <a:xfrm>
              <a:off x="7542124" y="1376948"/>
              <a:ext cx="1588" cy="325301"/>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grpSp>
      <p:sp>
        <p:nvSpPr>
          <p:cNvPr id="33824" name="Line 49">
            <a:extLst>
              <a:ext uri="{FF2B5EF4-FFF2-40B4-BE49-F238E27FC236}">
                <a16:creationId xmlns:a16="http://schemas.microsoft.com/office/drawing/2014/main" id="{8BD48606-713D-455B-B7AF-3343CEB59297}"/>
              </a:ext>
            </a:extLst>
          </p:cNvPr>
          <p:cNvSpPr>
            <a:spLocks noChangeShapeType="1"/>
          </p:cNvSpPr>
          <p:nvPr/>
        </p:nvSpPr>
        <p:spPr bwMode="auto">
          <a:xfrm flipH="1">
            <a:off x="6128569" y="2736172"/>
            <a:ext cx="304800" cy="433735"/>
          </a:xfrm>
          <a:prstGeom prst="line">
            <a:avLst/>
          </a:prstGeom>
          <a:noFill/>
          <a:ln w="38100">
            <a:solidFill>
              <a:srgbClr val="0099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33839" name="Text Box 64">
            <a:extLst>
              <a:ext uri="{FF2B5EF4-FFF2-40B4-BE49-F238E27FC236}">
                <a16:creationId xmlns:a16="http://schemas.microsoft.com/office/drawing/2014/main" id="{5A81E6EE-A31F-47C3-A44B-4C17D741FC7B}"/>
              </a:ext>
            </a:extLst>
          </p:cNvPr>
          <p:cNvSpPr txBox="1">
            <a:spLocks noChangeArrowheads="1"/>
          </p:cNvSpPr>
          <p:nvPr/>
        </p:nvSpPr>
        <p:spPr bwMode="auto">
          <a:xfrm>
            <a:off x="6912453" y="2462971"/>
            <a:ext cx="369888" cy="4619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dirty="0">
                <a:latin typeface="Times New Roman" panose="02020603050405020304" pitchFamily="18" charset="0"/>
                <a:sym typeface="Symbol" panose="05050102010706020507" pitchFamily="18" charset="2"/>
              </a:rPr>
              <a:t></a:t>
            </a:r>
            <a:endParaRPr lang="zh-CN" altLang="en-US" sz="2400" i="0" dirty="0">
              <a:latin typeface="Times New Roman" panose="02020603050405020304" pitchFamily="18" charset="0"/>
            </a:endParaRPr>
          </a:p>
        </p:txBody>
      </p:sp>
      <p:sp>
        <p:nvSpPr>
          <p:cNvPr id="33840" name="Text Box 65">
            <a:extLst>
              <a:ext uri="{FF2B5EF4-FFF2-40B4-BE49-F238E27FC236}">
                <a16:creationId xmlns:a16="http://schemas.microsoft.com/office/drawing/2014/main" id="{BA038F07-290B-455F-8E1B-2286E66D5ECA}"/>
              </a:ext>
            </a:extLst>
          </p:cNvPr>
          <p:cNvSpPr txBox="1">
            <a:spLocks noChangeArrowheads="1"/>
          </p:cNvSpPr>
          <p:nvPr/>
        </p:nvSpPr>
        <p:spPr bwMode="auto">
          <a:xfrm>
            <a:off x="7206481" y="2452085"/>
            <a:ext cx="369888" cy="4619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dirty="0">
                <a:latin typeface="Times New Roman" panose="02020603050405020304" pitchFamily="18" charset="0"/>
                <a:sym typeface="Symbol" panose="05050102010706020507" pitchFamily="18" charset="2"/>
              </a:rPr>
              <a:t></a:t>
            </a:r>
            <a:endParaRPr lang="zh-CN" altLang="en-US" sz="2400" i="0" dirty="0">
              <a:latin typeface="Times New Roman" panose="02020603050405020304" pitchFamily="18" charset="0"/>
            </a:endParaRPr>
          </a:p>
        </p:txBody>
      </p:sp>
      <p:sp>
        <p:nvSpPr>
          <p:cNvPr id="33841" name="Text Box 66">
            <a:extLst>
              <a:ext uri="{FF2B5EF4-FFF2-40B4-BE49-F238E27FC236}">
                <a16:creationId xmlns:a16="http://schemas.microsoft.com/office/drawing/2014/main" id="{B7C5B71A-EFA7-4250-9D4C-1A53219B890A}"/>
              </a:ext>
            </a:extLst>
          </p:cNvPr>
          <p:cNvSpPr txBox="1">
            <a:spLocks noChangeArrowheads="1"/>
          </p:cNvSpPr>
          <p:nvPr/>
        </p:nvSpPr>
        <p:spPr bwMode="auto">
          <a:xfrm>
            <a:off x="6546081" y="2496714"/>
            <a:ext cx="404813" cy="4574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b="1" i="0" dirty="0">
                <a:latin typeface="Times New Roman" panose="02020603050405020304" pitchFamily="18" charset="0"/>
              </a:rPr>
              <a:t>A</a:t>
            </a:r>
            <a:endParaRPr lang="en-US" altLang="zh-CN" sz="2400" i="0" dirty="0">
              <a:latin typeface="Times New Roman" panose="02020603050405020304" pitchFamily="18" charset="0"/>
            </a:endParaRPr>
          </a:p>
        </p:txBody>
      </p:sp>
      <p:sp>
        <p:nvSpPr>
          <p:cNvPr id="33843" name="Text Box 68">
            <a:extLst>
              <a:ext uri="{FF2B5EF4-FFF2-40B4-BE49-F238E27FC236}">
                <a16:creationId xmlns:a16="http://schemas.microsoft.com/office/drawing/2014/main" id="{A0FC1032-C173-40F6-8AD1-1A7F47176F08}"/>
              </a:ext>
            </a:extLst>
          </p:cNvPr>
          <p:cNvSpPr txBox="1">
            <a:spLocks noChangeArrowheads="1"/>
          </p:cNvSpPr>
          <p:nvPr/>
        </p:nvSpPr>
        <p:spPr bwMode="auto">
          <a:xfrm>
            <a:off x="5209405" y="3817120"/>
            <a:ext cx="404813" cy="4574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b="1" i="0" dirty="0">
                <a:latin typeface="Times New Roman" panose="02020603050405020304" pitchFamily="18" charset="0"/>
              </a:rPr>
              <a:t>C</a:t>
            </a:r>
            <a:endParaRPr lang="en-US" altLang="zh-CN" sz="2400" i="0" dirty="0">
              <a:latin typeface="Times New Roman" panose="02020603050405020304" pitchFamily="18" charset="0"/>
            </a:endParaRPr>
          </a:p>
        </p:txBody>
      </p:sp>
      <p:sp>
        <p:nvSpPr>
          <p:cNvPr id="33848" name="Text Box 73">
            <a:extLst>
              <a:ext uri="{FF2B5EF4-FFF2-40B4-BE49-F238E27FC236}">
                <a16:creationId xmlns:a16="http://schemas.microsoft.com/office/drawing/2014/main" id="{74574F80-3B31-4FBD-9AC6-F0870B7BE727}"/>
              </a:ext>
            </a:extLst>
          </p:cNvPr>
          <p:cNvSpPr txBox="1">
            <a:spLocks noChangeArrowheads="1"/>
          </p:cNvSpPr>
          <p:nvPr/>
        </p:nvSpPr>
        <p:spPr bwMode="auto">
          <a:xfrm>
            <a:off x="4858567" y="3773911"/>
            <a:ext cx="368300" cy="4574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dirty="0">
                <a:latin typeface="Times New Roman" panose="02020603050405020304" pitchFamily="18" charset="0"/>
                <a:sym typeface="Symbol" panose="05050102010706020507" pitchFamily="18" charset="2"/>
              </a:rPr>
              <a:t></a:t>
            </a:r>
            <a:endParaRPr lang="zh-CN" altLang="en-US" sz="2400" i="0" dirty="0">
              <a:latin typeface="Times New Roman" panose="02020603050405020304" pitchFamily="18" charset="0"/>
            </a:endParaRPr>
          </a:p>
        </p:txBody>
      </p:sp>
      <p:sp>
        <p:nvSpPr>
          <p:cNvPr id="33849" name="Line 74">
            <a:extLst>
              <a:ext uri="{FF2B5EF4-FFF2-40B4-BE49-F238E27FC236}">
                <a16:creationId xmlns:a16="http://schemas.microsoft.com/office/drawing/2014/main" id="{3404E699-9B0F-4230-B391-E7736BFA9F1D}"/>
              </a:ext>
            </a:extLst>
          </p:cNvPr>
          <p:cNvSpPr>
            <a:spLocks noChangeShapeType="1"/>
          </p:cNvSpPr>
          <p:nvPr/>
        </p:nvSpPr>
        <p:spPr bwMode="auto">
          <a:xfrm flipH="1">
            <a:off x="6714356" y="2356654"/>
            <a:ext cx="228600" cy="216867"/>
          </a:xfrm>
          <a:prstGeom prst="line">
            <a:avLst/>
          </a:prstGeom>
          <a:noFill/>
          <a:ln w="381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33850" name="Text Box 75">
            <a:extLst>
              <a:ext uri="{FF2B5EF4-FFF2-40B4-BE49-F238E27FC236}">
                <a16:creationId xmlns:a16="http://schemas.microsoft.com/office/drawing/2014/main" id="{BB29A6A0-E14B-45FB-8DDA-C74B06C896B0}"/>
              </a:ext>
            </a:extLst>
          </p:cNvPr>
          <p:cNvSpPr txBox="1">
            <a:spLocks noChangeArrowheads="1"/>
          </p:cNvSpPr>
          <p:nvPr/>
        </p:nvSpPr>
        <p:spPr bwMode="auto">
          <a:xfrm>
            <a:off x="6773232" y="1876153"/>
            <a:ext cx="725488" cy="4619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b="1" i="0" dirty="0">
                <a:latin typeface="Times New Roman" panose="02020603050405020304" pitchFamily="18" charset="0"/>
              </a:rPr>
              <a:t>root</a:t>
            </a:r>
            <a:endParaRPr lang="en-US" altLang="zh-CN" sz="2400" i="0" dirty="0">
              <a:latin typeface="Times New Roman" panose="02020603050405020304" pitchFamily="18" charset="0"/>
            </a:endParaRPr>
          </a:p>
        </p:txBody>
      </p:sp>
      <p:sp>
        <p:nvSpPr>
          <p:cNvPr id="2" name="Text Box 4">
            <a:extLst>
              <a:ext uri="{FF2B5EF4-FFF2-40B4-BE49-F238E27FC236}">
                <a16:creationId xmlns:a16="http://schemas.microsoft.com/office/drawing/2014/main" id="{08142247-8826-460C-9D59-1F0A944D4EF0}"/>
              </a:ext>
            </a:extLst>
          </p:cNvPr>
          <p:cNvSpPr txBox="1">
            <a:spLocks noChangeArrowheads="1"/>
          </p:cNvSpPr>
          <p:nvPr/>
        </p:nvSpPr>
        <p:spPr bwMode="auto">
          <a:xfrm>
            <a:off x="237356" y="175730"/>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三叉链表举例</a:t>
            </a:r>
          </a:p>
        </p:txBody>
      </p:sp>
      <p:grpSp>
        <p:nvGrpSpPr>
          <p:cNvPr id="6" name="组合 5">
            <a:extLst>
              <a:ext uri="{FF2B5EF4-FFF2-40B4-BE49-F238E27FC236}">
                <a16:creationId xmlns:a16="http://schemas.microsoft.com/office/drawing/2014/main" id="{2940D9AB-4EC6-AE50-1748-CA023E805FE9}"/>
              </a:ext>
            </a:extLst>
          </p:cNvPr>
          <p:cNvGrpSpPr/>
          <p:nvPr/>
        </p:nvGrpSpPr>
        <p:grpSpPr>
          <a:xfrm>
            <a:off x="5593581" y="3196450"/>
            <a:ext cx="1295400" cy="325301"/>
            <a:chOff x="7238912" y="1376948"/>
            <a:chExt cx="1295400" cy="325301"/>
          </a:xfrm>
        </p:grpSpPr>
        <p:sp>
          <p:nvSpPr>
            <p:cNvPr id="7" name="Rectangle 45" descr="羊皮纸">
              <a:extLst>
                <a:ext uri="{FF2B5EF4-FFF2-40B4-BE49-F238E27FC236}">
                  <a16:creationId xmlns:a16="http://schemas.microsoft.com/office/drawing/2014/main" id="{C2089802-8EF2-C646-7D4F-E985771911D6}"/>
                </a:ext>
              </a:extLst>
            </p:cNvPr>
            <p:cNvSpPr>
              <a:spLocks noChangeArrowheads="1"/>
            </p:cNvSpPr>
            <p:nvPr/>
          </p:nvSpPr>
          <p:spPr bwMode="auto">
            <a:xfrm>
              <a:off x="7238912" y="1376948"/>
              <a:ext cx="1295400" cy="325301"/>
            </a:xfrm>
            <a:prstGeom prst="rect">
              <a:avLst/>
            </a:prstGeom>
            <a:blipFill dpi="0" rotWithShape="0">
              <a:blip r:embed="rId2"/>
              <a:srcRect/>
              <a:tile tx="0" ty="0" sx="100000" sy="100000" flip="none" algn="tl"/>
            </a:blipFill>
            <a:ln w="381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8" name="Line 46">
              <a:extLst>
                <a:ext uri="{FF2B5EF4-FFF2-40B4-BE49-F238E27FC236}">
                  <a16:creationId xmlns:a16="http://schemas.microsoft.com/office/drawing/2014/main" id="{B133E0F5-F2CB-68B4-ACAC-99707C8BAB36}"/>
                </a:ext>
              </a:extLst>
            </p:cNvPr>
            <p:cNvSpPr>
              <a:spLocks noChangeShapeType="1"/>
            </p:cNvSpPr>
            <p:nvPr/>
          </p:nvSpPr>
          <p:spPr bwMode="auto">
            <a:xfrm>
              <a:off x="7923124" y="1376948"/>
              <a:ext cx="1588" cy="325301"/>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9" name="Line 47">
              <a:extLst>
                <a:ext uri="{FF2B5EF4-FFF2-40B4-BE49-F238E27FC236}">
                  <a16:creationId xmlns:a16="http://schemas.microsoft.com/office/drawing/2014/main" id="{CFB23CE3-0E47-04F7-284F-54FCA0140817}"/>
                </a:ext>
              </a:extLst>
            </p:cNvPr>
            <p:cNvSpPr>
              <a:spLocks noChangeShapeType="1"/>
            </p:cNvSpPr>
            <p:nvPr/>
          </p:nvSpPr>
          <p:spPr bwMode="auto">
            <a:xfrm>
              <a:off x="8229512" y="1376948"/>
              <a:ext cx="1588" cy="325301"/>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10" name="Line 48">
              <a:extLst>
                <a:ext uri="{FF2B5EF4-FFF2-40B4-BE49-F238E27FC236}">
                  <a16:creationId xmlns:a16="http://schemas.microsoft.com/office/drawing/2014/main" id="{6BB2923E-CB56-FCFF-180E-4EA0629678BD}"/>
                </a:ext>
              </a:extLst>
            </p:cNvPr>
            <p:cNvSpPr>
              <a:spLocks noChangeShapeType="1"/>
            </p:cNvSpPr>
            <p:nvPr/>
          </p:nvSpPr>
          <p:spPr bwMode="auto">
            <a:xfrm>
              <a:off x="7542124" y="1376948"/>
              <a:ext cx="1588" cy="325301"/>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grpSp>
      <p:sp>
        <p:nvSpPr>
          <p:cNvPr id="33842" name="Text Box 67">
            <a:extLst>
              <a:ext uri="{FF2B5EF4-FFF2-40B4-BE49-F238E27FC236}">
                <a16:creationId xmlns:a16="http://schemas.microsoft.com/office/drawing/2014/main" id="{1FBBF188-AA28-44F1-BA17-F32D3D414295}"/>
              </a:ext>
            </a:extLst>
          </p:cNvPr>
          <p:cNvSpPr txBox="1">
            <a:spLocks noChangeArrowheads="1"/>
          </p:cNvSpPr>
          <p:nvPr/>
        </p:nvSpPr>
        <p:spPr bwMode="auto">
          <a:xfrm>
            <a:off x="5899268" y="3140968"/>
            <a:ext cx="387350" cy="4574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b="1" i="0" dirty="0">
                <a:latin typeface="Times New Roman" panose="02020603050405020304" pitchFamily="18" charset="0"/>
              </a:rPr>
              <a:t>B</a:t>
            </a:r>
            <a:endParaRPr lang="en-US" altLang="zh-CN" sz="2400" i="0" dirty="0">
              <a:latin typeface="Times New Roman" panose="02020603050405020304" pitchFamily="18" charset="0"/>
            </a:endParaRPr>
          </a:p>
        </p:txBody>
      </p:sp>
      <p:grpSp>
        <p:nvGrpSpPr>
          <p:cNvPr id="11" name="组合 10">
            <a:extLst>
              <a:ext uri="{FF2B5EF4-FFF2-40B4-BE49-F238E27FC236}">
                <a16:creationId xmlns:a16="http://schemas.microsoft.com/office/drawing/2014/main" id="{7342822B-2368-E3E3-00D7-6470336404B9}"/>
              </a:ext>
            </a:extLst>
          </p:cNvPr>
          <p:cNvGrpSpPr/>
          <p:nvPr/>
        </p:nvGrpSpPr>
        <p:grpSpPr>
          <a:xfrm>
            <a:off x="7600166" y="4649248"/>
            <a:ext cx="1295400" cy="325301"/>
            <a:chOff x="7238912" y="1376948"/>
            <a:chExt cx="1295400" cy="325301"/>
          </a:xfrm>
        </p:grpSpPr>
        <p:sp>
          <p:nvSpPr>
            <p:cNvPr id="12" name="Rectangle 45" descr="羊皮纸">
              <a:extLst>
                <a:ext uri="{FF2B5EF4-FFF2-40B4-BE49-F238E27FC236}">
                  <a16:creationId xmlns:a16="http://schemas.microsoft.com/office/drawing/2014/main" id="{6C72F885-8F16-B3C6-9F82-D6721CF3081A}"/>
                </a:ext>
              </a:extLst>
            </p:cNvPr>
            <p:cNvSpPr>
              <a:spLocks noChangeArrowheads="1"/>
            </p:cNvSpPr>
            <p:nvPr/>
          </p:nvSpPr>
          <p:spPr bwMode="auto">
            <a:xfrm>
              <a:off x="7238912" y="1376948"/>
              <a:ext cx="1295400" cy="325301"/>
            </a:xfrm>
            <a:prstGeom prst="rect">
              <a:avLst/>
            </a:prstGeom>
            <a:blipFill dpi="0" rotWithShape="0">
              <a:blip r:embed="rId2"/>
              <a:srcRect/>
              <a:tile tx="0" ty="0" sx="100000" sy="100000" flip="none" algn="tl"/>
            </a:blipFill>
            <a:ln w="381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13" name="Line 46">
              <a:extLst>
                <a:ext uri="{FF2B5EF4-FFF2-40B4-BE49-F238E27FC236}">
                  <a16:creationId xmlns:a16="http://schemas.microsoft.com/office/drawing/2014/main" id="{B5A36D5C-02BA-5C55-B17F-9A7F9B0C57EA}"/>
                </a:ext>
              </a:extLst>
            </p:cNvPr>
            <p:cNvSpPr>
              <a:spLocks noChangeShapeType="1"/>
            </p:cNvSpPr>
            <p:nvPr/>
          </p:nvSpPr>
          <p:spPr bwMode="auto">
            <a:xfrm>
              <a:off x="7923124" y="1376948"/>
              <a:ext cx="1588" cy="325301"/>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14" name="Line 47">
              <a:extLst>
                <a:ext uri="{FF2B5EF4-FFF2-40B4-BE49-F238E27FC236}">
                  <a16:creationId xmlns:a16="http://schemas.microsoft.com/office/drawing/2014/main" id="{C348F4F0-C729-BF39-82F4-0B4E72D518FC}"/>
                </a:ext>
              </a:extLst>
            </p:cNvPr>
            <p:cNvSpPr>
              <a:spLocks noChangeShapeType="1"/>
            </p:cNvSpPr>
            <p:nvPr/>
          </p:nvSpPr>
          <p:spPr bwMode="auto">
            <a:xfrm>
              <a:off x="8229512" y="1376948"/>
              <a:ext cx="1588" cy="325301"/>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15" name="Line 48">
              <a:extLst>
                <a:ext uri="{FF2B5EF4-FFF2-40B4-BE49-F238E27FC236}">
                  <a16:creationId xmlns:a16="http://schemas.microsoft.com/office/drawing/2014/main" id="{4BF86889-5364-6E87-C7EC-2FCAA67CAC5B}"/>
                </a:ext>
              </a:extLst>
            </p:cNvPr>
            <p:cNvSpPr>
              <a:spLocks noChangeShapeType="1"/>
            </p:cNvSpPr>
            <p:nvPr/>
          </p:nvSpPr>
          <p:spPr bwMode="auto">
            <a:xfrm>
              <a:off x="7542124" y="1376948"/>
              <a:ext cx="1588" cy="325301"/>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grpSp>
      <p:sp>
        <p:nvSpPr>
          <p:cNvPr id="33831" name="Line 56">
            <a:extLst>
              <a:ext uri="{FF2B5EF4-FFF2-40B4-BE49-F238E27FC236}">
                <a16:creationId xmlns:a16="http://schemas.microsoft.com/office/drawing/2014/main" id="{EB0AA7F6-F3F6-4ADB-B18B-30812E7C725E}"/>
              </a:ext>
            </a:extLst>
          </p:cNvPr>
          <p:cNvSpPr>
            <a:spLocks noChangeShapeType="1"/>
          </p:cNvSpPr>
          <p:nvPr/>
        </p:nvSpPr>
        <p:spPr bwMode="auto">
          <a:xfrm flipH="1">
            <a:off x="6419081" y="2910403"/>
            <a:ext cx="295274" cy="450957"/>
          </a:xfrm>
          <a:prstGeom prst="line">
            <a:avLst/>
          </a:prstGeom>
          <a:noFill/>
          <a:ln w="38100">
            <a:solidFill>
              <a:srgbClr val="009900"/>
            </a:solidFill>
            <a:round/>
            <a:headEnd type="triangle" w="sm"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33825" name="Line 50">
            <a:extLst>
              <a:ext uri="{FF2B5EF4-FFF2-40B4-BE49-F238E27FC236}">
                <a16:creationId xmlns:a16="http://schemas.microsoft.com/office/drawing/2014/main" id="{0500C0AD-EF5B-4A24-AEDE-8C7FAB2F5E73}"/>
              </a:ext>
            </a:extLst>
          </p:cNvPr>
          <p:cNvSpPr>
            <a:spLocks noChangeShapeType="1"/>
          </p:cNvSpPr>
          <p:nvPr/>
        </p:nvSpPr>
        <p:spPr bwMode="auto">
          <a:xfrm flipH="1">
            <a:off x="5400699" y="3435331"/>
            <a:ext cx="304800" cy="433735"/>
          </a:xfrm>
          <a:prstGeom prst="line">
            <a:avLst/>
          </a:prstGeom>
          <a:noFill/>
          <a:ln w="38100">
            <a:solidFill>
              <a:srgbClr val="0099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33833" name="Line 58">
            <a:extLst>
              <a:ext uri="{FF2B5EF4-FFF2-40B4-BE49-F238E27FC236}">
                <a16:creationId xmlns:a16="http://schemas.microsoft.com/office/drawing/2014/main" id="{09C17E4F-20DE-4F41-BD7B-0A521D3060F4}"/>
              </a:ext>
            </a:extLst>
          </p:cNvPr>
          <p:cNvSpPr>
            <a:spLocks noChangeShapeType="1"/>
          </p:cNvSpPr>
          <p:nvPr/>
        </p:nvSpPr>
        <p:spPr bwMode="auto">
          <a:xfrm flipH="1">
            <a:off x="5681594" y="3538656"/>
            <a:ext cx="381000" cy="433735"/>
          </a:xfrm>
          <a:prstGeom prst="line">
            <a:avLst/>
          </a:prstGeom>
          <a:noFill/>
          <a:ln w="38100">
            <a:solidFill>
              <a:srgbClr val="009900"/>
            </a:solidFill>
            <a:round/>
            <a:headEnd type="triangle" w="sm"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21" name="Text Box 65">
            <a:extLst>
              <a:ext uri="{FF2B5EF4-FFF2-40B4-BE49-F238E27FC236}">
                <a16:creationId xmlns:a16="http://schemas.microsoft.com/office/drawing/2014/main" id="{91350FF4-35B9-E78B-14B9-D982D2C83100}"/>
              </a:ext>
            </a:extLst>
          </p:cNvPr>
          <p:cNvSpPr txBox="1">
            <a:spLocks noChangeArrowheads="1"/>
          </p:cNvSpPr>
          <p:nvPr/>
        </p:nvSpPr>
        <p:spPr bwMode="auto">
          <a:xfrm>
            <a:off x="5868041" y="3779846"/>
            <a:ext cx="369888" cy="4619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dirty="0">
                <a:latin typeface="Times New Roman" panose="02020603050405020304" pitchFamily="18" charset="0"/>
                <a:sym typeface="Symbol" panose="05050102010706020507" pitchFamily="18" charset="2"/>
              </a:rPr>
              <a:t></a:t>
            </a:r>
            <a:endParaRPr lang="zh-CN" altLang="en-US" sz="2400" i="0" dirty="0">
              <a:latin typeface="Times New Roman" panose="02020603050405020304" pitchFamily="18" charset="0"/>
            </a:endParaRPr>
          </a:p>
        </p:txBody>
      </p:sp>
      <p:grpSp>
        <p:nvGrpSpPr>
          <p:cNvPr id="22" name="组合 21">
            <a:extLst>
              <a:ext uri="{FF2B5EF4-FFF2-40B4-BE49-F238E27FC236}">
                <a16:creationId xmlns:a16="http://schemas.microsoft.com/office/drawing/2014/main" id="{37885673-6328-B9D6-84BE-C73ACDAB914D}"/>
              </a:ext>
            </a:extLst>
          </p:cNvPr>
          <p:cNvGrpSpPr/>
          <p:nvPr/>
        </p:nvGrpSpPr>
        <p:grpSpPr>
          <a:xfrm>
            <a:off x="6784004" y="3839987"/>
            <a:ext cx="1295400" cy="325301"/>
            <a:chOff x="7238912" y="1376948"/>
            <a:chExt cx="1295400" cy="325301"/>
          </a:xfrm>
        </p:grpSpPr>
        <p:sp>
          <p:nvSpPr>
            <p:cNvPr id="23" name="Rectangle 45" descr="羊皮纸">
              <a:extLst>
                <a:ext uri="{FF2B5EF4-FFF2-40B4-BE49-F238E27FC236}">
                  <a16:creationId xmlns:a16="http://schemas.microsoft.com/office/drawing/2014/main" id="{232AF8CC-1FF5-2F35-7532-12EE13DB5B6B}"/>
                </a:ext>
              </a:extLst>
            </p:cNvPr>
            <p:cNvSpPr>
              <a:spLocks noChangeArrowheads="1"/>
            </p:cNvSpPr>
            <p:nvPr/>
          </p:nvSpPr>
          <p:spPr bwMode="auto">
            <a:xfrm>
              <a:off x="7238912" y="1376948"/>
              <a:ext cx="1295400" cy="325301"/>
            </a:xfrm>
            <a:prstGeom prst="rect">
              <a:avLst/>
            </a:prstGeom>
            <a:blipFill dpi="0" rotWithShape="0">
              <a:blip r:embed="rId2"/>
              <a:srcRect/>
              <a:tile tx="0" ty="0" sx="100000" sy="100000" flip="none" algn="tl"/>
            </a:blipFill>
            <a:ln w="381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24" name="Line 46">
              <a:extLst>
                <a:ext uri="{FF2B5EF4-FFF2-40B4-BE49-F238E27FC236}">
                  <a16:creationId xmlns:a16="http://schemas.microsoft.com/office/drawing/2014/main" id="{93018A4E-9009-8804-0187-723F70670497}"/>
                </a:ext>
              </a:extLst>
            </p:cNvPr>
            <p:cNvSpPr>
              <a:spLocks noChangeShapeType="1"/>
            </p:cNvSpPr>
            <p:nvPr/>
          </p:nvSpPr>
          <p:spPr bwMode="auto">
            <a:xfrm>
              <a:off x="7923124" y="1376948"/>
              <a:ext cx="1588" cy="325301"/>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25" name="Line 47">
              <a:extLst>
                <a:ext uri="{FF2B5EF4-FFF2-40B4-BE49-F238E27FC236}">
                  <a16:creationId xmlns:a16="http://schemas.microsoft.com/office/drawing/2014/main" id="{D693181A-CC22-78CB-13CE-FB4AF6D8D909}"/>
                </a:ext>
              </a:extLst>
            </p:cNvPr>
            <p:cNvSpPr>
              <a:spLocks noChangeShapeType="1"/>
            </p:cNvSpPr>
            <p:nvPr/>
          </p:nvSpPr>
          <p:spPr bwMode="auto">
            <a:xfrm>
              <a:off x="8229512" y="1376948"/>
              <a:ext cx="1588" cy="325301"/>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26" name="Line 48">
              <a:extLst>
                <a:ext uri="{FF2B5EF4-FFF2-40B4-BE49-F238E27FC236}">
                  <a16:creationId xmlns:a16="http://schemas.microsoft.com/office/drawing/2014/main" id="{B64966AC-EB71-0759-E4DA-AE011236CF0A}"/>
                </a:ext>
              </a:extLst>
            </p:cNvPr>
            <p:cNvSpPr>
              <a:spLocks noChangeShapeType="1"/>
            </p:cNvSpPr>
            <p:nvPr/>
          </p:nvSpPr>
          <p:spPr bwMode="auto">
            <a:xfrm>
              <a:off x="7542124" y="1376948"/>
              <a:ext cx="1588" cy="325301"/>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grpSp>
      <p:sp>
        <p:nvSpPr>
          <p:cNvPr id="33827" name="Line 52">
            <a:extLst>
              <a:ext uri="{FF2B5EF4-FFF2-40B4-BE49-F238E27FC236}">
                <a16:creationId xmlns:a16="http://schemas.microsoft.com/office/drawing/2014/main" id="{CA0DFDB7-3ACA-4ACE-A785-82496E9962EF}"/>
              </a:ext>
            </a:extLst>
          </p:cNvPr>
          <p:cNvSpPr>
            <a:spLocks noChangeShapeType="1"/>
          </p:cNvSpPr>
          <p:nvPr/>
        </p:nvSpPr>
        <p:spPr bwMode="auto">
          <a:xfrm>
            <a:off x="6726930" y="3365469"/>
            <a:ext cx="459614" cy="433735"/>
          </a:xfrm>
          <a:prstGeom prst="line">
            <a:avLst/>
          </a:prstGeom>
          <a:noFill/>
          <a:ln w="38100">
            <a:solidFill>
              <a:srgbClr val="0099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33844" name="Text Box 69">
            <a:extLst>
              <a:ext uri="{FF2B5EF4-FFF2-40B4-BE49-F238E27FC236}">
                <a16:creationId xmlns:a16="http://schemas.microsoft.com/office/drawing/2014/main" id="{D7DA1690-D82C-4E1B-AA34-7CCA62B95DB3}"/>
              </a:ext>
            </a:extLst>
          </p:cNvPr>
          <p:cNvSpPr txBox="1">
            <a:spLocks noChangeArrowheads="1"/>
          </p:cNvSpPr>
          <p:nvPr/>
        </p:nvSpPr>
        <p:spPr bwMode="auto">
          <a:xfrm>
            <a:off x="7104567" y="3767268"/>
            <a:ext cx="404813" cy="4574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b="1" i="0" dirty="0">
                <a:latin typeface="Times New Roman" panose="02020603050405020304" pitchFamily="18" charset="0"/>
              </a:rPr>
              <a:t>D</a:t>
            </a:r>
            <a:endParaRPr lang="en-US" altLang="zh-CN" sz="2400" i="0" dirty="0">
              <a:latin typeface="Times New Roman" panose="02020603050405020304" pitchFamily="18" charset="0"/>
            </a:endParaRPr>
          </a:p>
        </p:txBody>
      </p:sp>
      <p:grpSp>
        <p:nvGrpSpPr>
          <p:cNvPr id="28" name="组合 27">
            <a:extLst>
              <a:ext uri="{FF2B5EF4-FFF2-40B4-BE49-F238E27FC236}">
                <a16:creationId xmlns:a16="http://schemas.microsoft.com/office/drawing/2014/main" id="{D40A3D6E-7622-124F-33F6-3CFC9B21D8A1}"/>
              </a:ext>
            </a:extLst>
          </p:cNvPr>
          <p:cNvGrpSpPr/>
          <p:nvPr/>
        </p:nvGrpSpPr>
        <p:grpSpPr>
          <a:xfrm>
            <a:off x="6003070" y="4636386"/>
            <a:ext cx="1295400" cy="325301"/>
            <a:chOff x="7238912" y="1376948"/>
            <a:chExt cx="1295400" cy="325301"/>
          </a:xfrm>
        </p:grpSpPr>
        <p:sp>
          <p:nvSpPr>
            <p:cNvPr id="29" name="Rectangle 45" descr="羊皮纸">
              <a:extLst>
                <a:ext uri="{FF2B5EF4-FFF2-40B4-BE49-F238E27FC236}">
                  <a16:creationId xmlns:a16="http://schemas.microsoft.com/office/drawing/2014/main" id="{2CD41DEC-3AD9-88C4-4030-1B488F57D637}"/>
                </a:ext>
              </a:extLst>
            </p:cNvPr>
            <p:cNvSpPr>
              <a:spLocks noChangeArrowheads="1"/>
            </p:cNvSpPr>
            <p:nvPr/>
          </p:nvSpPr>
          <p:spPr bwMode="auto">
            <a:xfrm>
              <a:off x="7238912" y="1376948"/>
              <a:ext cx="1295400" cy="325301"/>
            </a:xfrm>
            <a:prstGeom prst="rect">
              <a:avLst/>
            </a:prstGeom>
            <a:blipFill dpi="0" rotWithShape="0">
              <a:blip r:embed="rId2"/>
              <a:srcRect/>
              <a:tile tx="0" ty="0" sx="100000" sy="100000" flip="none" algn="tl"/>
            </a:blipFill>
            <a:ln w="381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30" name="Line 46">
              <a:extLst>
                <a:ext uri="{FF2B5EF4-FFF2-40B4-BE49-F238E27FC236}">
                  <a16:creationId xmlns:a16="http://schemas.microsoft.com/office/drawing/2014/main" id="{5E1CF3DC-1A58-E741-682E-E684E4D1C826}"/>
                </a:ext>
              </a:extLst>
            </p:cNvPr>
            <p:cNvSpPr>
              <a:spLocks noChangeShapeType="1"/>
            </p:cNvSpPr>
            <p:nvPr/>
          </p:nvSpPr>
          <p:spPr bwMode="auto">
            <a:xfrm>
              <a:off x="7923124" y="1376948"/>
              <a:ext cx="1588" cy="325301"/>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31" name="Line 47">
              <a:extLst>
                <a:ext uri="{FF2B5EF4-FFF2-40B4-BE49-F238E27FC236}">
                  <a16:creationId xmlns:a16="http://schemas.microsoft.com/office/drawing/2014/main" id="{774F46B4-F59C-AC3F-CA1C-9E4FDDCB72AA}"/>
                </a:ext>
              </a:extLst>
            </p:cNvPr>
            <p:cNvSpPr>
              <a:spLocks noChangeShapeType="1"/>
            </p:cNvSpPr>
            <p:nvPr/>
          </p:nvSpPr>
          <p:spPr bwMode="auto">
            <a:xfrm>
              <a:off x="8229512" y="1376948"/>
              <a:ext cx="1588" cy="325301"/>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32" name="Line 48">
              <a:extLst>
                <a:ext uri="{FF2B5EF4-FFF2-40B4-BE49-F238E27FC236}">
                  <a16:creationId xmlns:a16="http://schemas.microsoft.com/office/drawing/2014/main" id="{6BFD1E95-3878-14B7-209D-3586F54E3B20}"/>
                </a:ext>
              </a:extLst>
            </p:cNvPr>
            <p:cNvSpPr>
              <a:spLocks noChangeShapeType="1"/>
            </p:cNvSpPr>
            <p:nvPr/>
          </p:nvSpPr>
          <p:spPr bwMode="auto">
            <a:xfrm>
              <a:off x="7542124" y="1376948"/>
              <a:ext cx="1588" cy="325301"/>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grpSp>
      <p:sp>
        <p:nvSpPr>
          <p:cNvPr id="33846" name="Text Box 71">
            <a:extLst>
              <a:ext uri="{FF2B5EF4-FFF2-40B4-BE49-F238E27FC236}">
                <a16:creationId xmlns:a16="http://schemas.microsoft.com/office/drawing/2014/main" id="{AC45957D-91BA-49B5-8C6C-EFAEC84C247D}"/>
              </a:ext>
            </a:extLst>
          </p:cNvPr>
          <p:cNvSpPr txBox="1">
            <a:spLocks noChangeArrowheads="1"/>
          </p:cNvSpPr>
          <p:nvPr/>
        </p:nvSpPr>
        <p:spPr bwMode="auto">
          <a:xfrm>
            <a:off x="6275676" y="4602629"/>
            <a:ext cx="387350" cy="4574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b="1" i="0" dirty="0">
                <a:latin typeface="Times New Roman" panose="02020603050405020304" pitchFamily="18" charset="0"/>
              </a:rPr>
              <a:t>E</a:t>
            </a:r>
            <a:endParaRPr lang="en-US" altLang="zh-CN" sz="2400" i="0" dirty="0">
              <a:latin typeface="Times New Roman" panose="02020603050405020304" pitchFamily="18" charset="0"/>
            </a:endParaRPr>
          </a:p>
        </p:txBody>
      </p:sp>
      <p:sp>
        <p:nvSpPr>
          <p:cNvPr id="33826" name="Line 51">
            <a:extLst>
              <a:ext uri="{FF2B5EF4-FFF2-40B4-BE49-F238E27FC236}">
                <a16:creationId xmlns:a16="http://schemas.microsoft.com/office/drawing/2014/main" id="{AF2A7174-4062-4934-A23A-FA9E006900BD}"/>
              </a:ext>
            </a:extLst>
          </p:cNvPr>
          <p:cNvSpPr>
            <a:spLocks noChangeShapeType="1"/>
          </p:cNvSpPr>
          <p:nvPr/>
        </p:nvSpPr>
        <p:spPr bwMode="auto">
          <a:xfrm flipH="1">
            <a:off x="6607652" y="4050268"/>
            <a:ext cx="323749" cy="521230"/>
          </a:xfrm>
          <a:prstGeom prst="line">
            <a:avLst/>
          </a:prstGeom>
          <a:noFill/>
          <a:ln w="38100">
            <a:solidFill>
              <a:srgbClr val="0099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27" name="Text Box 65">
            <a:extLst>
              <a:ext uri="{FF2B5EF4-FFF2-40B4-BE49-F238E27FC236}">
                <a16:creationId xmlns:a16="http://schemas.microsoft.com/office/drawing/2014/main" id="{56D4E86A-B036-A257-0F55-8FC62AB47CF2}"/>
              </a:ext>
            </a:extLst>
          </p:cNvPr>
          <p:cNvSpPr txBox="1">
            <a:spLocks noChangeArrowheads="1"/>
          </p:cNvSpPr>
          <p:nvPr/>
        </p:nvSpPr>
        <p:spPr bwMode="auto">
          <a:xfrm>
            <a:off x="5954429" y="4563166"/>
            <a:ext cx="369888" cy="4619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dirty="0">
                <a:latin typeface="Times New Roman" panose="02020603050405020304" pitchFamily="18" charset="0"/>
                <a:sym typeface="Symbol" panose="05050102010706020507" pitchFamily="18" charset="2"/>
              </a:rPr>
              <a:t></a:t>
            </a:r>
            <a:endParaRPr lang="zh-CN" altLang="en-US" sz="2400" i="0" dirty="0">
              <a:latin typeface="Times New Roman" panose="02020603050405020304" pitchFamily="18" charset="0"/>
            </a:endParaRPr>
          </a:p>
        </p:txBody>
      </p:sp>
      <p:sp>
        <p:nvSpPr>
          <p:cNvPr id="33832" name="Line 57">
            <a:extLst>
              <a:ext uri="{FF2B5EF4-FFF2-40B4-BE49-F238E27FC236}">
                <a16:creationId xmlns:a16="http://schemas.microsoft.com/office/drawing/2014/main" id="{24E0914B-C8C2-4A87-8893-81D6E1265355}"/>
              </a:ext>
            </a:extLst>
          </p:cNvPr>
          <p:cNvSpPr>
            <a:spLocks noChangeShapeType="1"/>
          </p:cNvSpPr>
          <p:nvPr/>
        </p:nvSpPr>
        <p:spPr bwMode="auto">
          <a:xfrm flipH="1">
            <a:off x="6862035" y="4168894"/>
            <a:ext cx="235361" cy="544959"/>
          </a:xfrm>
          <a:prstGeom prst="line">
            <a:avLst/>
          </a:prstGeom>
          <a:noFill/>
          <a:ln w="38100">
            <a:solidFill>
              <a:srgbClr val="009900"/>
            </a:solidFill>
            <a:round/>
            <a:headEnd type="triangle" w="sm"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33836" name="Text Box 61">
            <a:extLst>
              <a:ext uri="{FF2B5EF4-FFF2-40B4-BE49-F238E27FC236}">
                <a16:creationId xmlns:a16="http://schemas.microsoft.com/office/drawing/2014/main" id="{3EDC299F-22B7-49DC-A7A9-B61654F60E56}"/>
              </a:ext>
            </a:extLst>
          </p:cNvPr>
          <p:cNvSpPr txBox="1">
            <a:spLocks noChangeArrowheads="1"/>
          </p:cNvSpPr>
          <p:nvPr/>
        </p:nvSpPr>
        <p:spPr bwMode="auto">
          <a:xfrm>
            <a:off x="6976816" y="4565424"/>
            <a:ext cx="368300" cy="4574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dirty="0">
                <a:latin typeface="Times New Roman" panose="02020603050405020304" pitchFamily="18" charset="0"/>
                <a:sym typeface="Symbol" panose="05050102010706020507" pitchFamily="18" charset="2"/>
              </a:rPr>
              <a:t></a:t>
            </a:r>
            <a:endParaRPr lang="zh-CN" altLang="en-US" sz="2400" i="0" dirty="0">
              <a:latin typeface="Times New Roman" panose="02020603050405020304" pitchFamily="18" charset="0"/>
            </a:endParaRPr>
          </a:p>
        </p:txBody>
      </p:sp>
      <p:sp>
        <p:nvSpPr>
          <p:cNvPr id="33829" name="Line 54">
            <a:extLst>
              <a:ext uri="{FF2B5EF4-FFF2-40B4-BE49-F238E27FC236}">
                <a16:creationId xmlns:a16="http://schemas.microsoft.com/office/drawing/2014/main" id="{8007E4B9-ACF9-4B01-877E-7FF3BC7C85DB}"/>
              </a:ext>
            </a:extLst>
          </p:cNvPr>
          <p:cNvSpPr>
            <a:spLocks noChangeShapeType="1"/>
          </p:cNvSpPr>
          <p:nvPr/>
        </p:nvSpPr>
        <p:spPr bwMode="auto">
          <a:xfrm>
            <a:off x="6901556" y="3311469"/>
            <a:ext cx="785862" cy="722025"/>
          </a:xfrm>
          <a:prstGeom prst="line">
            <a:avLst/>
          </a:prstGeom>
          <a:noFill/>
          <a:ln w="38100">
            <a:solidFill>
              <a:srgbClr val="009900"/>
            </a:solidFill>
            <a:round/>
            <a:headEnd type="triangle" w="sm"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33828" name="Line 53">
            <a:extLst>
              <a:ext uri="{FF2B5EF4-FFF2-40B4-BE49-F238E27FC236}">
                <a16:creationId xmlns:a16="http://schemas.microsoft.com/office/drawing/2014/main" id="{DFB87380-8B4A-4869-B22A-1FA1301E0ACD}"/>
              </a:ext>
            </a:extLst>
          </p:cNvPr>
          <p:cNvSpPr>
            <a:spLocks noChangeShapeType="1"/>
          </p:cNvSpPr>
          <p:nvPr/>
        </p:nvSpPr>
        <p:spPr bwMode="auto">
          <a:xfrm>
            <a:off x="7962097" y="3981013"/>
            <a:ext cx="125262" cy="664088"/>
          </a:xfrm>
          <a:prstGeom prst="line">
            <a:avLst/>
          </a:prstGeom>
          <a:noFill/>
          <a:ln w="38100">
            <a:solidFill>
              <a:srgbClr val="0099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33" name="Text Box 71">
            <a:extLst>
              <a:ext uri="{FF2B5EF4-FFF2-40B4-BE49-F238E27FC236}">
                <a16:creationId xmlns:a16="http://schemas.microsoft.com/office/drawing/2014/main" id="{613AF512-C766-85B2-8938-203B06E71ECE}"/>
              </a:ext>
            </a:extLst>
          </p:cNvPr>
          <p:cNvSpPr txBox="1">
            <a:spLocks noChangeArrowheads="1"/>
          </p:cNvSpPr>
          <p:nvPr/>
        </p:nvSpPr>
        <p:spPr bwMode="auto">
          <a:xfrm>
            <a:off x="7882767" y="4588890"/>
            <a:ext cx="372217"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b="1" i="0" dirty="0">
                <a:latin typeface="Times New Roman" panose="02020603050405020304" pitchFamily="18" charset="0"/>
              </a:rPr>
              <a:t>F</a:t>
            </a:r>
            <a:endParaRPr lang="en-US" altLang="zh-CN" sz="2400" i="0" dirty="0">
              <a:latin typeface="Times New Roman" panose="02020603050405020304" pitchFamily="18" charset="0"/>
            </a:endParaRPr>
          </a:p>
        </p:txBody>
      </p:sp>
      <p:sp>
        <p:nvSpPr>
          <p:cNvPr id="34" name="Text Box 65">
            <a:extLst>
              <a:ext uri="{FF2B5EF4-FFF2-40B4-BE49-F238E27FC236}">
                <a16:creationId xmlns:a16="http://schemas.microsoft.com/office/drawing/2014/main" id="{B9A51C36-FC3E-AB14-A0DA-52366B14642B}"/>
              </a:ext>
            </a:extLst>
          </p:cNvPr>
          <p:cNvSpPr txBox="1">
            <a:spLocks noChangeArrowheads="1"/>
          </p:cNvSpPr>
          <p:nvPr/>
        </p:nvSpPr>
        <p:spPr bwMode="auto">
          <a:xfrm>
            <a:off x="7566138" y="4528026"/>
            <a:ext cx="369888" cy="4619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dirty="0">
                <a:latin typeface="Times New Roman" panose="02020603050405020304" pitchFamily="18" charset="0"/>
                <a:sym typeface="Symbol" panose="05050102010706020507" pitchFamily="18" charset="2"/>
              </a:rPr>
              <a:t></a:t>
            </a:r>
            <a:endParaRPr lang="zh-CN" altLang="en-US" sz="2400" i="0" dirty="0">
              <a:latin typeface="Times New Roman" panose="02020603050405020304" pitchFamily="18" charset="0"/>
            </a:endParaRPr>
          </a:p>
        </p:txBody>
      </p:sp>
      <p:sp>
        <p:nvSpPr>
          <p:cNvPr id="35" name="Text Box 65">
            <a:extLst>
              <a:ext uri="{FF2B5EF4-FFF2-40B4-BE49-F238E27FC236}">
                <a16:creationId xmlns:a16="http://schemas.microsoft.com/office/drawing/2014/main" id="{6B0097EA-A0B1-374D-A0B0-3FFA380A27E1}"/>
              </a:ext>
            </a:extLst>
          </p:cNvPr>
          <p:cNvSpPr txBox="1">
            <a:spLocks noChangeArrowheads="1"/>
          </p:cNvSpPr>
          <p:nvPr/>
        </p:nvSpPr>
        <p:spPr bwMode="auto">
          <a:xfrm>
            <a:off x="8567963" y="4528026"/>
            <a:ext cx="369888" cy="4619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dirty="0">
                <a:latin typeface="Times New Roman" panose="02020603050405020304" pitchFamily="18" charset="0"/>
                <a:sym typeface="Symbol" panose="05050102010706020507" pitchFamily="18" charset="2"/>
              </a:rPr>
              <a:t></a:t>
            </a:r>
            <a:endParaRPr lang="zh-CN" altLang="en-US" sz="2400" i="0" dirty="0">
              <a:latin typeface="Times New Roman" panose="02020603050405020304" pitchFamily="18" charset="0"/>
            </a:endParaRPr>
          </a:p>
        </p:txBody>
      </p:sp>
      <p:sp>
        <p:nvSpPr>
          <p:cNvPr id="33830" name="Line 55">
            <a:extLst>
              <a:ext uri="{FF2B5EF4-FFF2-40B4-BE49-F238E27FC236}">
                <a16:creationId xmlns:a16="http://schemas.microsoft.com/office/drawing/2014/main" id="{39E2F59F-081E-465A-A3E7-5CA6BEABB811}"/>
              </a:ext>
            </a:extLst>
          </p:cNvPr>
          <p:cNvSpPr>
            <a:spLocks noChangeShapeType="1"/>
          </p:cNvSpPr>
          <p:nvPr/>
        </p:nvSpPr>
        <p:spPr bwMode="auto">
          <a:xfrm>
            <a:off x="8078649" y="4139309"/>
            <a:ext cx="321689" cy="566150"/>
          </a:xfrm>
          <a:prstGeom prst="line">
            <a:avLst/>
          </a:prstGeom>
          <a:noFill/>
          <a:ln w="38100">
            <a:solidFill>
              <a:srgbClr val="009900"/>
            </a:solidFill>
            <a:round/>
            <a:headEnd type="triangle" w="sm"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79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79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384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385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384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383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382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384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383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382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384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383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384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3827"/>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22"/>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3829"/>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3844"/>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33826"/>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2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3832"/>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3846"/>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7"/>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33836"/>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33830"/>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33828"/>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33"/>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11"/>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34"/>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35"/>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338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24" grpId="0" animBg="1"/>
      <p:bldP spid="33839" grpId="0"/>
      <p:bldP spid="33840" grpId="0"/>
      <p:bldP spid="33841" grpId="0"/>
      <p:bldP spid="33843" grpId="0"/>
      <p:bldP spid="33848" grpId="0"/>
      <p:bldP spid="33849" grpId="0" animBg="1"/>
      <p:bldP spid="33850" grpId="0"/>
      <p:bldP spid="33842" grpId="0"/>
      <p:bldP spid="33831" grpId="0" animBg="1"/>
      <p:bldP spid="33825" grpId="0" animBg="1"/>
      <p:bldP spid="33833" grpId="0" animBg="1"/>
      <p:bldP spid="21" grpId="0"/>
      <p:bldP spid="33827" grpId="0" animBg="1"/>
      <p:bldP spid="33844" grpId="0"/>
      <p:bldP spid="33846" grpId="0"/>
      <p:bldP spid="33826" grpId="0" animBg="1"/>
      <p:bldP spid="27" grpId="0"/>
      <p:bldP spid="33832" grpId="0" animBg="1"/>
      <p:bldP spid="33836" grpId="0"/>
      <p:bldP spid="33829" grpId="0" animBg="1"/>
      <p:bldP spid="33828" grpId="0" animBg="1"/>
      <p:bldP spid="33" grpId="0"/>
      <p:bldP spid="34" grpId="0"/>
      <p:bldP spid="35" grpId="0"/>
      <p:bldP spid="33830"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Text Box 3">
            <a:extLst>
              <a:ext uri="{FF2B5EF4-FFF2-40B4-BE49-F238E27FC236}">
                <a16:creationId xmlns:a16="http://schemas.microsoft.com/office/drawing/2014/main" id="{BA401BD3-B3A6-4A95-A64E-75BE4BA0AE1B}"/>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A9EEFF84-545E-481F-8838-50748140CD64}" type="slidenum">
              <a:rPr lang="zh-CN" altLang="en-US" sz="2400"/>
              <a:pPr algn="r" eaLnBrk="1" hangingPunct="1">
                <a:spcBef>
                  <a:spcPct val="50000"/>
                </a:spcBef>
                <a:buClrTx/>
                <a:buSzTx/>
                <a:buFont typeface="Arial" panose="020B0604020202020204" pitchFamily="34" charset="0"/>
                <a:buNone/>
              </a:pPr>
              <a:t>29</a:t>
            </a:fld>
            <a:endParaRPr lang="en-US" altLang="zh-CN" sz="2400"/>
          </a:p>
        </p:txBody>
      </p:sp>
      <p:sp>
        <p:nvSpPr>
          <p:cNvPr id="34820" name="Text Box 4">
            <a:extLst>
              <a:ext uri="{FF2B5EF4-FFF2-40B4-BE49-F238E27FC236}">
                <a16:creationId xmlns:a16="http://schemas.microsoft.com/office/drawing/2014/main" id="{8C4C2660-3A8B-4847-8A20-7241C5764ACF}"/>
              </a:ext>
            </a:extLst>
          </p:cNvPr>
          <p:cNvSpPr txBox="1">
            <a:spLocks noChangeArrowheads="1"/>
          </p:cNvSpPr>
          <p:nvPr/>
        </p:nvSpPr>
        <p:spPr bwMode="auto">
          <a:xfrm>
            <a:off x="368857" y="222306"/>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第三节　遍历二叉树</a:t>
            </a:r>
          </a:p>
        </p:txBody>
      </p:sp>
      <p:sp>
        <p:nvSpPr>
          <p:cNvPr id="34821" name="Rectangle 5">
            <a:extLst>
              <a:ext uri="{FF2B5EF4-FFF2-40B4-BE49-F238E27FC236}">
                <a16:creationId xmlns:a16="http://schemas.microsoft.com/office/drawing/2014/main" id="{2308D7CC-1C2C-4A24-A9B9-DE68C1F7C173}"/>
              </a:ext>
            </a:extLst>
          </p:cNvPr>
          <p:cNvSpPr>
            <a:spLocks noGrp="1" noChangeArrowheads="1"/>
          </p:cNvSpPr>
          <p:nvPr>
            <p:ph type="body" idx="1"/>
          </p:nvPr>
        </p:nvSpPr>
        <p:spPr>
          <a:xfrm>
            <a:off x="539552" y="1270850"/>
            <a:ext cx="8763000" cy="4508500"/>
          </a:xfrm>
        </p:spPr>
        <p:txBody>
          <a:bodyPr/>
          <a:lstStyle/>
          <a:p>
            <a:pPr eaLnBrk="1" hangingPunct="1">
              <a:spcBef>
                <a:spcPct val="30000"/>
              </a:spcBef>
            </a:pPr>
            <a:r>
              <a:rPr lang="zh-CN" altLang="en-US" dirty="0">
                <a:latin typeface="黑体" panose="02010609060101010101" pitchFamily="49" charset="-122"/>
                <a:ea typeface="黑体" panose="02010609060101010101" pitchFamily="49" charset="-122"/>
              </a:rPr>
              <a:t>树的遍历就是按某种次序访问树中的结点，要求每个结点访问一次且仅访问一次</a:t>
            </a:r>
            <a:r>
              <a:rPr lang="zh-CN" altLang="en-US" dirty="0">
                <a:solidFill>
                  <a:srgbClr val="CC0066"/>
                </a:solidFill>
                <a:latin typeface="黑体" panose="02010609060101010101" pitchFamily="49" charset="-122"/>
                <a:ea typeface="黑体" panose="02010609060101010101" pitchFamily="49" charset="-122"/>
              </a:rPr>
              <a:t>（非线性结构线性化）</a:t>
            </a:r>
          </a:p>
          <a:p>
            <a:pPr eaLnBrk="1" hangingPunct="1">
              <a:spcBef>
                <a:spcPct val="30000"/>
              </a:spcBef>
            </a:pPr>
            <a:r>
              <a:rPr lang="zh-CN" altLang="en-US" dirty="0">
                <a:latin typeface="+mn-ea"/>
              </a:rPr>
              <a:t>对“二叉树”而言，可以有三条搜索路径：</a:t>
            </a:r>
          </a:p>
          <a:p>
            <a:pPr marL="471487" lvl="1" indent="0" algn="just" eaLnBrk="1" hangingPunct="1">
              <a:lnSpc>
                <a:spcPct val="110000"/>
              </a:lnSpc>
              <a:buNone/>
            </a:pPr>
            <a:r>
              <a:rPr lang="en-US" altLang="zh-CN" sz="2800" dirty="0">
                <a:latin typeface="+mn-ea"/>
              </a:rPr>
              <a:t>1</a:t>
            </a:r>
            <a:r>
              <a:rPr lang="zh-CN" altLang="en-US" sz="2800" dirty="0">
                <a:latin typeface="+mn-ea"/>
              </a:rPr>
              <a:t>．</a:t>
            </a:r>
            <a:r>
              <a:rPr lang="zh-CN" altLang="en-US" sz="2800" dirty="0">
                <a:solidFill>
                  <a:srgbClr val="800000"/>
                </a:solidFill>
                <a:latin typeface="+mn-ea"/>
              </a:rPr>
              <a:t>先上后下</a:t>
            </a:r>
            <a:r>
              <a:rPr lang="zh-CN" altLang="en-US" sz="2800" dirty="0">
                <a:latin typeface="+mn-ea"/>
              </a:rPr>
              <a:t>的按层次遍历；</a:t>
            </a:r>
          </a:p>
          <a:p>
            <a:pPr marL="471487" lvl="1" indent="0" algn="just" eaLnBrk="1" hangingPunct="1">
              <a:lnSpc>
                <a:spcPct val="110000"/>
              </a:lnSpc>
              <a:buNone/>
            </a:pPr>
            <a:r>
              <a:rPr lang="en-US" altLang="zh-CN" sz="2800" dirty="0">
                <a:latin typeface="+mn-ea"/>
              </a:rPr>
              <a:t>2</a:t>
            </a:r>
            <a:r>
              <a:rPr lang="zh-CN" altLang="en-US" sz="2800" dirty="0">
                <a:latin typeface="+mn-ea"/>
              </a:rPr>
              <a:t>．</a:t>
            </a:r>
            <a:r>
              <a:rPr lang="zh-CN" altLang="en-US" sz="2800" dirty="0">
                <a:solidFill>
                  <a:srgbClr val="800000"/>
                </a:solidFill>
                <a:latin typeface="+mn-ea"/>
              </a:rPr>
              <a:t>先左</a:t>
            </a:r>
            <a:r>
              <a:rPr lang="zh-CN" altLang="en-US" sz="2800" dirty="0">
                <a:latin typeface="+mn-ea"/>
              </a:rPr>
              <a:t>（子树）</a:t>
            </a:r>
            <a:r>
              <a:rPr lang="zh-CN" altLang="en-US" sz="2800" dirty="0">
                <a:solidFill>
                  <a:srgbClr val="800000"/>
                </a:solidFill>
                <a:latin typeface="+mn-ea"/>
              </a:rPr>
              <a:t>后右</a:t>
            </a:r>
            <a:r>
              <a:rPr lang="zh-CN" altLang="en-US" sz="2800" dirty="0">
                <a:latin typeface="+mn-ea"/>
              </a:rPr>
              <a:t>（子树）的遍历；</a:t>
            </a:r>
          </a:p>
          <a:p>
            <a:pPr marL="471487" lvl="1" indent="0" algn="just" eaLnBrk="1" hangingPunct="1">
              <a:lnSpc>
                <a:spcPct val="110000"/>
              </a:lnSpc>
              <a:buNone/>
            </a:pPr>
            <a:r>
              <a:rPr lang="en-US" altLang="zh-CN" sz="2800" dirty="0">
                <a:latin typeface="+mn-ea"/>
              </a:rPr>
              <a:t>3</a:t>
            </a:r>
            <a:r>
              <a:rPr lang="zh-CN" altLang="en-US" sz="2800" dirty="0">
                <a:latin typeface="+mn-ea"/>
              </a:rPr>
              <a:t>．</a:t>
            </a:r>
            <a:r>
              <a:rPr lang="zh-CN" altLang="en-US" sz="2800" dirty="0">
                <a:solidFill>
                  <a:srgbClr val="800000"/>
                </a:solidFill>
                <a:latin typeface="+mn-ea"/>
              </a:rPr>
              <a:t>先右</a:t>
            </a:r>
            <a:r>
              <a:rPr lang="zh-CN" altLang="en-US" sz="2800" dirty="0">
                <a:latin typeface="+mn-ea"/>
              </a:rPr>
              <a:t>（子树）</a:t>
            </a:r>
            <a:r>
              <a:rPr lang="zh-CN" altLang="en-US" sz="2800" dirty="0">
                <a:solidFill>
                  <a:srgbClr val="800000"/>
                </a:solidFill>
                <a:latin typeface="+mn-ea"/>
              </a:rPr>
              <a:t>后左</a:t>
            </a:r>
            <a:r>
              <a:rPr lang="zh-CN" altLang="en-US" sz="2800" dirty="0">
                <a:latin typeface="+mn-ea"/>
              </a:rPr>
              <a:t>（子树）的遍历。</a:t>
            </a:r>
          </a:p>
        </p:txBody>
      </p:sp>
      <p:grpSp>
        <p:nvGrpSpPr>
          <p:cNvPr id="34823" name="Group 7">
            <a:extLst>
              <a:ext uri="{FF2B5EF4-FFF2-40B4-BE49-F238E27FC236}">
                <a16:creationId xmlns:a16="http://schemas.microsoft.com/office/drawing/2014/main" id="{032DCD59-36D3-4535-A747-B0EC2AB20F3D}"/>
              </a:ext>
            </a:extLst>
          </p:cNvPr>
          <p:cNvGrpSpPr>
            <a:grpSpLocks/>
          </p:cNvGrpSpPr>
          <p:nvPr/>
        </p:nvGrpSpPr>
        <p:grpSpPr bwMode="auto">
          <a:xfrm>
            <a:off x="6817840" y="5155604"/>
            <a:ext cx="1697038" cy="1177926"/>
            <a:chOff x="0" y="-1"/>
            <a:chExt cx="1069" cy="742"/>
          </a:xfrm>
        </p:grpSpPr>
        <p:sp>
          <p:nvSpPr>
            <p:cNvPr id="34824" name="Line 8">
              <a:extLst>
                <a:ext uri="{FF2B5EF4-FFF2-40B4-BE49-F238E27FC236}">
                  <a16:creationId xmlns:a16="http://schemas.microsoft.com/office/drawing/2014/main" id="{A1BA3285-D901-41BF-89EB-6BA99B6B8EDF}"/>
                </a:ext>
              </a:extLst>
            </p:cNvPr>
            <p:cNvSpPr>
              <a:spLocks noChangeShapeType="1"/>
            </p:cNvSpPr>
            <p:nvPr/>
          </p:nvSpPr>
          <p:spPr bwMode="auto">
            <a:xfrm>
              <a:off x="648" y="192"/>
              <a:ext cx="216"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25" name="Line 9">
              <a:extLst>
                <a:ext uri="{FF2B5EF4-FFF2-40B4-BE49-F238E27FC236}">
                  <a16:creationId xmlns:a16="http://schemas.microsoft.com/office/drawing/2014/main" id="{8BD5AED6-5D70-415F-B720-3269B3AF43B4}"/>
                </a:ext>
              </a:extLst>
            </p:cNvPr>
            <p:cNvSpPr>
              <a:spLocks noChangeShapeType="1"/>
            </p:cNvSpPr>
            <p:nvPr/>
          </p:nvSpPr>
          <p:spPr bwMode="auto">
            <a:xfrm flipH="1">
              <a:off x="240" y="192"/>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26" name="Oval 10">
              <a:extLst>
                <a:ext uri="{FF2B5EF4-FFF2-40B4-BE49-F238E27FC236}">
                  <a16:creationId xmlns:a16="http://schemas.microsoft.com/office/drawing/2014/main" id="{72CD8EBD-782B-4B92-BFB4-63AE2C6AE6CB}"/>
                </a:ext>
              </a:extLst>
            </p:cNvPr>
            <p:cNvSpPr>
              <a:spLocks noChangeArrowheads="1"/>
            </p:cNvSpPr>
            <p:nvPr/>
          </p:nvSpPr>
          <p:spPr bwMode="auto">
            <a:xfrm>
              <a:off x="432" y="2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34827" name="Text Box 11">
              <a:extLst>
                <a:ext uri="{FF2B5EF4-FFF2-40B4-BE49-F238E27FC236}">
                  <a16:creationId xmlns:a16="http://schemas.microsoft.com/office/drawing/2014/main" id="{AAD117AE-8B3E-47C6-81EA-D5A47979494C}"/>
                </a:ext>
              </a:extLst>
            </p:cNvPr>
            <p:cNvSpPr txBox="1">
              <a:spLocks noChangeArrowheads="1"/>
            </p:cNvSpPr>
            <p:nvPr/>
          </p:nvSpPr>
          <p:spPr bwMode="auto">
            <a:xfrm>
              <a:off x="398" y="-1"/>
              <a:ext cx="344"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i="0" dirty="0">
                  <a:solidFill>
                    <a:schemeClr val="bg1"/>
                  </a:solidFill>
                  <a:latin typeface="Times New Roman" panose="02020603050405020304" pitchFamily="18" charset="0"/>
                </a:rPr>
                <a:t>Ｄ</a:t>
              </a:r>
              <a:endParaRPr lang="zh-CN" altLang="en-US" sz="2400" i="0" dirty="0">
                <a:latin typeface="Times New Roman" panose="02020603050405020304" pitchFamily="18" charset="0"/>
              </a:endParaRPr>
            </a:p>
          </p:txBody>
        </p:sp>
        <p:sp>
          <p:nvSpPr>
            <p:cNvPr id="34828" name="Oval 12">
              <a:extLst>
                <a:ext uri="{FF2B5EF4-FFF2-40B4-BE49-F238E27FC236}">
                  <a16:creationId xmlns:a16="http://schemas.microsoft.com/office/drawing/2014/main" id="{35FCF2DF-9227-4FAA-80A4-4B7137AA0B96}"/>
                </a:ext>
              </a:extLst>
            </p:cNvPr>
            <p:cNvSpPr>
              <a:spLocks noChangeArrowheads="1"/>
            </p:cNvSpPr>
            <p:nvPr/>
          </p:nvSpPr>
          <p:spPr bwMode="auto">
            <a:xfrm>
              <a:off x="0" y="45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34829" name="Text Box 13">
              <a:extLst>
                <a:ext uri="{FF2B5EF4-FFF2-40B4-BE49-F238E27FC236}">
                  <a16:creationId xmlns:a16="http://schemas.microsoft.com/office/drawing/2014/main" id="{60086B20-FF78-4ADC-9921-E39933787C7C}"/>
                </a:ext>
              </a:extLst>
            </p:cNvPr>
            <p:cNvSpPr txBox="1">
              <a:spLocks noChangeArrowheads="1"/>
            </p:cNvSpPr>
            <p:nvPr/>
          </p:nvSpPr>
          <p:spPr bwMode="auto">
            <a:xfrm>
              <a:off x="48" y="405"/>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chemeClr val="bg1"/>
                  </a:solidFill>
                  <a:latin typeface="Times New Roman" panose="02020603050405020304" pitchFamily="18" charset="0"/>
                </a:rPr>
                <a:t>L</a:t>
              </a:r>
            </a:p>
          </p:txBody>
        </p:sp>
        <p:sp>
          <p:nvSpPr>
            <p:cNvPr id="34830" name="Oval 14">
              <a:extLst>
                <a:ext uri="{FF2B5EF4-FFF2-40B4-BE49-F238E27FC236}">
                  <a16:creationId xmlns:a16="http://schemas.microsoft.com/office/drawing/2014/main" id="{512A408C-8C8C-4EB7-86A6-39381AF14A95}"/>
                </a:ext>
              </a:extLst>
            </p:cNvPr>
            <p:cNvSpPr>
              <a:spLocks noChangeArrowheads="1"/>
            </p:cNvSpPr>
            <p:nvPr/>
          </p:nvSpPr>
          <p:spPr bwMode="auto">
            <a:xfrm>
              <a:off x="768" y="45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34831" name="Text Box 15">
              <a:extLst>
                <a:ext uri="{FF2B5EF4-FFF2-40B4-BE49-F238E27FC236}">
                  <a16:creationId xmlns:a16="http://schemas.microsoft.com/office/drawing/2014/main" id="{37859EC4-0E2C-4B99-9648-114BC96103A2}"/>
                </a:ext>
              </a:extLst>
            </p:cNvPr>
            <p:cNvSpPr txBox="1">
              <a:spLocks noChangeArrowheads="1"/>
            </p:cNvSpPr>
            <p:nvPr/>
          </p:nvSpPr>
          <p:spPr bwMode="auto">
            <a:xfrm>
              <a:off x="791" y="405"/>
              <a:ext cx="27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chemeClr val="bg1"/>
                  </a:solidFill>
                  <a:latin typeface="Times New Roman" panose="02020603050405020304" pitchFamily="18" charset="0"/>
                </a:rPr>
                <a:t>R</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82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82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482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482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Text Box 3">
            <a:extLst>
              <a:ext uri="{FF2B5EF4-FFF2-40B4-BE49-F238E27FC236}">
                <a16:creationId xmlns:a16="http://schemas.microsoft.com/office/drawing/2014/main" id="{BDAE8CB6-76C3-413F-BA6F-56701A373789}"/>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23C425A5-CCEE-4673-9C55-11F52705D75D}" type="slidenum">
              <a:rPr lang="zh-CN" altLang="en-US" sz="2400"/>
              <a:pPr algn="r" eaLnBrk="1" hangingPunct="1">
                <a:spcBef>
                  <a:spcPct val="50000"/>
                </a:spcBef>
                <a:buClrTx/>
                <a:buSzTx/>
                <a:buFont typeface="Arial" panose="020B0604020202020204" pitchFamily="34" charset="0"/>
                <a:buNone/>
              </a:pPr>
              <a:t>30</a:t>
            </a:fld>
            <a:endParaRPr lang="en-US" altLang="zh-CN" sz="2400"/>
          </a:p>
        </p:txBody>
      </p:sp>
      <p:sp>
        <p:nvSpPr>
          <p:cNvPr id="2" name="Text Box 4">
            <a:extLst>
              <a:ext uri="{FF2B5EF4-FFF2-40B4-BE49-F238E27FC236}">
                <a16:creationId xmlns:a16="http://schemas.microsoft.com/office/drawing/2014/main" id="{22FA0A9D-FB24-4172-A0FD-46AAC6FAF36F}"/>
              </a:ext>
            </a:extLst>
          </p:cNvPr>
          <p:cNvSpPr txBox="1">
            <a:spLocks noChangeArrowheads="1"/>
          </p:cNvSpPr>
          <p:nvPr/>
        </p:nvSpPr>
        <p:spPr bwMode="auto">
          <a:xfrm>
            <a:off x="274340" y="160320"/>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二叉树层次遍历</a:t>
            </a:r>
          </a:p>
        </p:txBody>
      </p:sp>
      <p:grpSp>
        <p:nvGrpSpPr>
          <p:cNvPr id="15" name="Group 7">
            <a:extLst>
              <a:ext uri="{FF2B5EF4-FFF2-40B4-BE49-F238E27FC236}">
                <a16:creationId xmlns:a16="http://schemas.microsoft.com/office/drawing/2014/main" id="{D22D9DA6-0A65-432F-9846-BDE0635E530E}"/>
              </a:ext>
            </a:extLst>
          </p:cNvPr>
          <p:cNvGrpSpPr>
            <a:grpSpLocks/>
          </p:cNvGrpSpPr>
          <p:nvPr/>
        </p:nvGrpSpPr>
        <p:grpSpPr bwMode="auto">
          <a:xfrm>
            <a:off x="3347864" y="1484784"/>
            <a:ext cx="2667000" cy="2514600"/>
            <a:chOff x="0" y="0"/>
            <a:chExt cx="1680" cy="1584"/>
          </a:xfrm>
        </p:grpSpPr>
        <p:sp>
          <p:nvSpPr>
            <p:cNvPr id="16" name="Line 8">
              <a:extLst>
                <a:ext uri="{FF2B5EF4-FFF2-40B4-BE49-F238E27FC236}">
                  <a16:creationId xmlns:a16="http://schemas.microsoft.com/office/drawing/2014/main" id="{DA197CA2-A725-44CA-944D-0D53EB4F47E2}"/>
                </a:ext>
              </a:extLst>
            </p:cNvPr>
            <p:cNvSpPr>
              <a:spLocks noChangeShapeType="1"/>
            </p:cNvSpPr>
            <p:nvPr/>
          </p:nvSpPr>
          <p:spPr bwMode="auto">
            <a:xfrm>
              <a:off x="1080" y="171"/>
              <a:ext cx="360"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17" name="Line 9">
              <a:extLst>
                <a:ext uri="{FF2B5EF4-FFF2-40B4-BE49-F238E27FC236}">
                  <a16:creationId xmlns:a16="http://schemas.microsoft.com/office/drawing/2014/main" id="{47AE06F7-3444-4D91-89DE-5736D5651E67}"/>
                </a:ext>
              </a:extLst>
            </p:cNvPr>
            <p:cNvSpPr>
              <a:spLocks noChangeShapeType="1"/>
            </p:cNvSpPr>
            <p:nvPr/>
          </p:nvSpPr>
          <p:spPr bwMode="auto">
            <a:xfrm flipH="1">
              <a:off x="576" y="171"/>
              <a:ext cx="360" cy="336"/>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18" name="Oval 10">
              <a:extLst>
                <a:ext uri="{FF2B5EF4-FFF2-40B4-BE49-F238E27FC236}">
                  <a16:creationId xmlns:a16="http://schemas.microsoft.com/office/drawing/2014/main" id="{C14D2F44-77EB-4496-91A1-2EBCFB68FC64}"/>
                </a:ext>
              </a:extLst>
            </p:cNvPr>
            <p:cNvSpPr>
              <a:spLocks noChangeArrowheads="1"/>
            </p:cNvSpPr>
            <p:nvPr/>
          </p:nvSpPr>
          <p:spPr bwMode="auto">
            <a:xfrm>
              <a:off x="864" y="0"/>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dirty="0">
                  <a:solidFill>
                    <a:schemeClr val="bg1"/>
                  </a:solidFill>
                </a:rPr>
                <a:t>A</a:t>
              </a:r>
            </a:p>
          </p:txBody>
        </p:sp>
        <p:sp>
          <p:nvSpPr>
            <p:cNvPr id="19" name="Line 11">
              <a:extLst>
                <a:ext uri="{FF2B5EF4-FFF2-40B4-BE49-F238E27FC236}">
                  <a16:creationId xmlns:a16="http://schemas.microsoft.com/office/drawing/2014/main" id="{4F89A799-463E-402E-AA38-C3C825B2715D}"/>
                </a:ext>
              </a:extLst>
            </p:cNvPr>
            <p:cNvSpPr>
              <a:spLocks noChangeShapeType="1"/>
            </p:cNvSpPr>
            <p:nvPr/>
          </p:nvSpPr>
          <p:spPr bwMode="auto">
            <a:xfrm flipH="1">
              <a:off x="240" y="561"/>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20" name="Oval 12">
              <a:extLst>
                <a:ext uri="{FF2B5EF4-FFF2-40B4-BE49-F238E27FC236}">
                  <a16:creationId xmlns:a16="http://schemas.microsoft.com/office/drawing/2014/main" id="{F3A1688E-A047-4E94-A90D-4667DC404282}"/>
                </a:ext>
              </a:extLst>
            </p:cNvPr>
            <p:cNvSpPr>
              <a:spLocks noChangeArrowheads="1"/>
            </p:cNvSpPr>
            <p:nvPr/>
          </p:nvSpPr>
          <p:spPr bwMode="auto">
            <a:xfrm>
              <a:off x="0" y="822"/>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dirty="0">
                  <a:solidFill>
                    <a:schemeClr val="bg1"/>
                  </a:solidFill>
                </a:rPr>
                <a:t>D</a:t>
              </a:r>
            </a:p>
          </p:txBody>
        </p:sp>
        <p:sp>
          <p:nvSpPr>
            <p:cNvPr id="21" name="Line 13">
              <a:extLst>
                <a:ext uri="{FF2B5EF4-FFF2-40B4-BE49-F238E27FC236}">
                  <a16:creationId xmlns:a16="http://schemas.microsoft.com/office/drawing/2014/main" id="{4E9E6827-62CE-45FD-9DC0-CC4388A6170C}"/>
                </a:ext>
              </a:extLst>
            </p:cNvPr>
            <p:cNvSpPr>
              <a:spLocks noChangeShapeType="1"/>
            </p:cNvSpPr>
            <p:nvPr/>
          </p:nvSpPr>
          <p:spPr bwMode="auto">
            <a:xfrm>
              <a:off x="528" y="582"/>
              <a:ext cx="216"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22" name="Oval 14">
              <a:extLst>
                <a:ext uri="{FF2B5EF4-FFF2-40B4-BE49-F238E27FC236}">
                  <a16:creationId xmlns:a16="http://schemas.microsoft.com/office/drawing/2014/main" id="{6CA81D11-EAA4-4260-B68B-C0F6F308F098}"/>
                </a:ext>
              </a:extLst>
            </p:cNvPr>
            <p:cNvSpPr>
              <a:spLocks noChangeArrowheads="1"/>
            </p:cNvSpPr>
            <p:nvPr/>
          </p:nvSpPr>
          <p:spPr bwMode="auto">
            <a:xfrm>
              <a:off x="360" y="41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dirty="0">
                  <a:solidFill>
                    <a:schemeClr val="bg1"/>
                  </a:solidFill>
                </a:rPr>
                <a:t>B</a:t>
              </a:r>
            </a:p>
          </p:txBody>
        </p:sp>
        <p:sp>
          <p:nvSpPr>
            <p:cNvPr id="23" name="Line 15">
              <a:extLst>
                <a:ext uri="{FF2B5EF4-FFF2-40B4-BE49-F238E27FC236}">
                  <a16:creationId xmlns:a16="http://schemas.microsoft.com/office/drawing/2014/main" id="{860CC5ED-6928-4049-A213-31A338C4BB1B}"/>
                </a:ext>
              </a:extLst>
            </p:cNvPr>
            <p:cNvSpPr>
              <a:spLocks noChangeShapeType="1"/>
            </p:cNvSpPr>
            <p:nvPr/>
          </p:nvSpPr>
          <p:spPr bwMode="auto">
            <a:xfrm flipH="1">
              <a:off x="1296" y="582"/>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24" name="Oval 16">
              <a:extLst>
                <a:ext uri="{FF2B5EF4-FFF2-40B4-BE49-F238E27FC236}">
                  <a16:creationId xmlns:a16="http://schemas.microsoft.com/office/drawing/2014/main" id="{7B1F9188-7D87-451A-B080-AD51E5C1E850}"/>
                </a:ext>
              </a:extLst>
            </p:cNvPr>
            <p:cNvSpPr>
              <a:spLocks noChangeArrowheads="1"/>
            </p:cNvSpPr>
            <p:nvPr/>
          </p:nvSpPr>
          <p:spPr bwMode="auto">
            <a:xfrm>
              <a:off x="1056" y="84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dirty="0">
                  <a:solidFill>
                    <a:schemeClr val="bg1"/>
                  </a:solidFill>
                </a:rPr>
                <a:t>F</a:t>
              </a:r>
            </a:p>
          </p:txBody>
        </p:sp>
        <p:sp>
          <p:nvSpPr>
            <p:cNvPr id="25" name="Oval 17">
              <a:extLst>
                <a:ext uri="{FF2B5EF4-FFF2-40B4-BE49-F238E27FC236}">
                  <a16:creationId xmlns:a16="http://schemas.microsoft.com/office/drawing/2014/main" id="{D98C0FC0-570E-4A26-98D3-6EE167458978}"/>
                </a:ext>
              </a:extLst>
            </p:cNvPr>
            <p:cNvSpPr>
              <a:spLocks noChangeArrowheads="1"/>
            </p:cNvSpPr>
            <p:nvPr/>
          </p:nvSpPr>
          <p:spPr bwMode="auto">
            <a:xfrm>
              <a:off x="1392" y="41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dirty="0">
                  <a:solidFill>
                    <a:schemeClr val="bg1"/>
                  </a:solidFill>
                </a:rPr>
                <a:t>C</a:t>
              </a:r>
            </a:p>
          </p:txBody>
        </p:sp>
        <p:sp>
          <p:nvSpPr>
            <p:cNvPr id="26" name="Line 18">
              <a:extLst>
                <a:ext uri="{FF2B5EF4-FFF2-40B4-BE49-F238E27FC236}">
                  <a16:creationId xmlns:a16="http://schemas.microsoft.com/office/drawing/2014/main" id="{9758238C-9FBD-4EDC-8CD5-E120641EF2CA}"/>
                </a:ext>
              </a:extLst>
            </p:cNvPr>
            <p:cNvSpPr>
              <a:spLocks noChangeShapeType="1"/>
            </p:cNvSpPr>
            <p:nvPr/>
          </p:nvSpPr>
          <p:spPr bwMode="auto">
            <a:xfrm flipH="1">
              <a:off x="480" y="1035"/>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27" name="Oval 19">
              <a:extLst>
                <a:ext uri="{FF2B5EF4-FFF2-40B4-BE49-F238E27FC236}">
                  <a16:creationId xmlns:a16="http://schemas.microsoft.com/office/drawing/2014/main" id="{C00B15E2-637B-4220-BC00-80B79822E186}"/>
                </a:ext>
              </a:extLst>
            </p:cNvPr>
            <p:cNvSpPr>
              <a:spLocks noChangeArrowheads="1"/>
            </p:cNvSpPr>
            <p:nvPr/>
          </p:nvSpPr>
          <p:spPr bwMode="auto">
            <a:xfrm>
              <a:off x="240" y="1296"/>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dirty="0">
                  <a:solidFill>
                    <a:schemeClr val="bg1"/>
                  </a:solidFill>
                </a:rPr>
                <a:t>G</a:t>
              </a:r>
            </a:p>
          </p:txBody>
        </p:sp>
        <p:sp>
          <p:nvSpPr>
            <p:cNvPr id="28" name="Oval 20">
              <a:extLst>
                <a:ext uri="{FF2B5EF4-FFF2-40B4-BE49-F238E27FC236}">
                  <a16:creationId xmlns:a16="http://schemas.microsoft.com/office/drawing/2014/main" id="{D7B3A07C-C886-4C3E-B51A-A285EB838D34}"/>
                </a:ext>
              </a:extLst>
            </p:cNvPr>
            <p:cNvSpPr>
              <a:spLocks noChangeArrowheads="1"/>
            </p:cNvSpPr>
            <p:nvPr/>
          </p:nvSpPr>
          <p:spPr bwMode="auto">
            <a:xfrm>
              <a:off x="648" y="84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dirty="0">
                  <a:solidFill>
                    <a:schemeClr val="bg1"/>
                  </a:solidFill>
                </a:rPr>
                <a:t>E</a:t>
              </a:r>
            </a:p>
          </p:txBody>
        </p:sp>
      </p:grpSp>
      <p:sp>
        <p:nvSpPr>
          <p:cNvPr id="30" name="Rectangle 2">
            <a:extLst>
              <a:ext uri="{FF2B5EF4-FFF2-40B4-BE49-F238E27FC236}">
                <a16:creationId xmlns:a16="http://schemas.microsoft.com/office/drawing/2014/main" id="{782A1E1C-2034-4585-B8FE-FCA77C4C93A6}"/>
              </a:ext>
            </a:extLst>
          </p:cNvPr>
          <p:cNvSpPr txBox="1">
            <a:spLocks noChangeArrowheads="1"/>
          </p:cNvSpPr>
          <p:nvPr/>
        </p:nvSpPr>
        <p:spPr bwMode="auto">
          <a:xfrm>
            <a:off x="543301" y="4226573"/>
            <a:ext cx="8458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Times New Roman" pitchFamily="18" charset="0"/>
                <a:ea typeface="黑体" pitchFamily="2" charset="-122"/>
              </a:defRPr>
            </a:lvl2pPr>
            <a:lvl3pPr algn="l" rtl="0" eaLnBrk="0" fontAlgn="base" hangingPunct="0">
              <a:spcBef>
                <a:spcPct val="0"/>
              </a:spcBef>
              <a:spcAft>
                <a:spcPct val="0"/>
              </a:spcAft>
              <a:defRPr sz="4200">
                <a:solidFill>
                  <a:schemeClr val="tx2"/>
                </a:solidFill>
                <a:latin typeface="Times New Roman" pitchFamily="18" charset="0"/>
                <a:ea typeface="黑体" pitchFamily="2" charset="-122"/>
              </a:defRPr>
            </a:lvl3pPr>
            <a:lvl4pPr algn="l" rtl="0" eaLnBrk="0" fontAlgn="base" hangingPunct="0">
              <a:spcBef>
                <a:spcPct val="0"/>
              </a:spcBef>
              <a:spcAft>
                <a:spcPct val="0"/>
              </a:spcAft>
              <a:defRPr sz="4200">
                <a:solidFill>
                  <a:schemeClr val="tx2"/>
                </a:solidFill>
                <a:latin typeface="Times New Roman" pitchFamily="18" charset="0"/>
                <a:ea typeface="黑体" pitchFamily="2" charset="-122"/>
              </a:defRPr>
            </a:lvl4pPr>
            <a:lvl5pPr algn="l" rtl="0" eaLnBrk="0" fontAlgn="base" hangingPunct="0">
              <a:spcBef>
                <a:spcPct val="0"/>
              </a:spcBef>
              <a:spcAft>
                <a:spcPct val="0"/>
              </a:spcAft>
              <a:defRPr sz="4200">
                <a:solidFill>
                  <a:schemeClr val="tx2"/>
                </a:solidFill>
                <a:latin typeface="Times New Roman" pitchFamily="18" charset="0"/>
                <a:ea typeface="黑体" pitchFamily="2" charset="-122"/>
              </a:defRPr>
            </a:lvl5pPr>
            <a:lvl6pPr marL="457200" algn="l" rtl="0" fontAlgn="base">
              <a:spcBef>
                <a:spcPct val="0"/>
              </a:spcBef>
              <a:spcAft>
                <a:spcPct val="0"/>
              </a:spcAft>
              <a:defRPr sz="4200">
                <a:solidFill>
                  <a:schemeClr val="tx2"/>
                </a:solidFill>
                <a:latin typeface="Times New Roman" pitchFamily="18" charset="0"/>
                <a:ea typeface="黑体" pitchFamily="2" charset="-122"/>
              </a:defRPr>
            </a:lvl6pPr>
            <a:lvl7pPr marL="914400" algn="l" rtl="0" fontAlgn="base">
              <a:spcBef>
                <a:spcPct val="0"/>
              </a:spcBef>
              <a:spcAft>
                <a:spcPct val="0"/>
              </a:spcAft>
              <a:defRPr sz="4200">
                <a:solidFill>
                  <a:schemeClr val="tx2"/>
                </a:solidFill>
                <a:latin typeface="Times New Roman" pitchFamily="18" charset="0"/>
                <a:ea typeface="黑体" pitchFamily="2" charset="-122"/>
              </a:defRPr>
            </a:lvl7pPr>
            <a:lvl8pPr marL="1371600" algn="l" rtl="0" fontAlgn="base">
              <a:spcBef>
                <a:spcPct val="0"/>
              </a:spcBef>
              <a:spcAft>
                <a:spcPct val="0"/>
              </a:spcAft>
              <a:defRPr sz="4200">
                <a:solidFill>
                  <a:schemeClr val="tx2"/>
                </a:solidFill>
                <a:latin typeface="Times New Roman" pitchFamily="18" charset="0"/>
                <a:ea typeface="黑体" pitchFamily="2" charset="-122"/>
              </a:defRPr>
            </a:lvl8pPr>
            <a:lvl9pPr marL="1828800" algn="l" rtl="0" fontAlgn="base">
              <a:spcBef>
                <a:spcPct val="0"/>
              </a:spcBef>
              <a:spcAft>
                <a:spcPct val="0"/>
              </a:spcAft>
              <a:defRPr sz="4200">
                <a:solidFill>
                  <a:schemeClr val="tx2"/>
                </a:solidFill>
                <a:latin typeface="Times New Roman" pitchFamily="18" charset="0"/>
                <a:ea typeface="黑体" pitchFamily="2" charset="-122"/>
              </a:defRPr>
            </a:lvl9pPr>
          </a:lstStyle>
          <a:p>
            <a:pPr eaLnBrk="1" hangingPunct="1"/>
            <a:r>
              <a:rPr lang="zh-CN" altLang="en-US" sz="2800" b="0" i="0" kern="0" dirty="0">
                <a:latin typeface="黑体" panose="02010609060101010101" pitchFamily="49" charset="-122"/>
                <a:ea typeface="黑体" panose="02010609060101010101" pitchFamily="49" charset="-122"/>
              </a:rPr>
              <a:t>从上至下，从左至右，按满二叉树编号顺序遍历：</a:t>
            </a:r>
            <a:endParaRPr lang="en-US" altLang="zh-CN" sz="2800" b="0" i="0" kern="0" dirty="0">
              <a:latin typeface="黑体" panose="02010609060101010101" pitchFamily="49" charset="-122"/>
              <a:ea typeface="黑体" panose="02010609060101010101" pitchFamily="49" charset="-122"/>
            </a:endParaRPr>
          </a:p>
        </p:txBody>
      </p:sp>
      <p:sp>
        <p:nvSpPr>
          <p:cNvPr id="31" name="Rectangle 2">
            <a:extLst>
              <a:ext uri="{FF2B5EF4-FFF2-40B4-BE49-F238E27FC236}">
                <a16:creationId xmlns:a16="http://schemas.microsoft.com/office/drawing/2014/main" id="{55837953-F9B1-4862-8BC4-8CCE3F54E133}"/>
              </a:ext>
            </a:extLst>
          </p:cNvPr>
          <p:cNvSpPr txBox="1">
            <a:spLocks noChangeArrowheads="1"/>
          </p:cNvSpPr>
          <p:nvPr/>
        </p:nvSpPr>
        <p:spPr bwMode="auto">
          <a:xfrm>
            <a:off x="4319414" y="5305378"/>
            <a:ext cx="3867844" cy="570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Times New Roman" pitchFamily="18" charset="0"/>
                <a:ea typeface="黑体" pitchFamily="2" charset="-122"/>
              </a:defRPr>
            </a:lvl2pPr>
            <a:lvl3pPr algn="l" rtl="0" eaLnBrk="0" fontAlgn="base" hangingPunct="0">
              <a:spcBef>
                <a:spcPct val="0"/>
              </a:spcBef>
              <a:spcAft>
                <a:spcPct val="0"/>
              </a:spcAft>
              <a:defRPr sz="4200">
                <a:solidFill>
                  <a:schemeClr val="tx2"/>
                </a:solidFill>
                <a:latin typeface="Times New Roman" pitchFamily="18" charset="0"/>
                <a:ea typeface="黑体" pitchFamily="2" charset="-122"/>
              </a:defRPr>
            </a:lvl3pPr>
            <a:lvl4pPr algn="l" rtl="0" eaLnBrk="0" fontAlgn="base" hangingPunct="0">
              <a:spcBef>
                <a:spcPct val="0"/>
              </a:spcBef>
              <a:spcAft>
                <a:spcPct val="0"/>
              </a:spcAft>
              <a:defRPr sz="4200">
                <a:solidFill>
                  <a:schemeClr val="tx2"/>
                </a:solidFill>
                <a:latin typeface="Times New Roman" pitchFamily="18" charset="0"/>
                <a:ea typeface="黑体" pitchFamily="2" charset="-122"/>
              </a:defRPr>
            </a:lvl4pPr>
            <a:lvl5pPr algn="l" rtl="0" eaLnBrk="0" fontAlgn="base" hangingPunct="0">
              <a:spcBef>
                <a:spcPct val="0"/>
              </a:spcBef>
              <a:spcAft>
                <a:spcPct val="0"/>
              </a:spcAft>
              <a:defRPr sz="4200">
                <a:solidFill>
                  <a:schemeClr val="tx2"/>
                </a:solidFill>
                <a:latin typeface="Times New Roman" pitchFamily="18" charset="0"/>
                <a:ea typeface="黑体" pitchFamily="2" charset="-122"/>
              </a:defRPr>
            </a:lvl5pPr>
            <a:lvl6pPr marL="457200" algn="l" rtl="0" fontAlgn="base">
              <a:spcBef>
                <a:spcPct val="0"/>
              </a:spcBef>
              <a:spcAft>
                <a:spcPct val="0"/>
              </a:spcAft>
              <a:defRPr sz="4200">
                <a:solidFill>
                  <a:schemeClr val="tx2"/>
                </a:solidFill>
                <a:latin typeface="Times New Roman" pitchFamily="18" charset="0"/>
                <a:ea typeface="黑体" pitchFamily="2" charset="-122"/>
              </a:defRPr>
            </a:lvl6pPr>
            <a:lvl7pPr marL="914400" algn="l" rtl="0" fontAlgn="base">
              <a:spcBef>
                <a:spcPct val="0"/>
              </a:spcBef>
              <a:spcAft>
                <a:spcPct val="0"/>
              </a:spcAft>
              <a:defRPr sz="4200">
                <a:solidFill>
                  <a:schemeClr val="tx2"/>
                </a:solidFill>
                <a:latin typeface="Times New Roman" pitchFamily="18" charset="0"/>
                <a:ea typeface="黑体" pitchFamily="2" charset="-122"/>
              </a:defRPr>
            </a:lvl7pPr>
            <a:lvl8pPr marL="1371600" algn="l" rtl="0" fontAlgn="base">
              <a:spcBef>
                <a:spcPct val="0"/>
              </a:spcBef>
              <a:spcAft>
                <a:spcPct val="0"/>
              </a:spcAft>
              <a:defRPr sz="4200">
                <a:solidFill>
                  <a:schemeClr val="tx2"/>
                </a:solidFill>
                <a:latin typeface="Times New Roman" pitchFamily="18" charset="0"/>
                <a:ea typeface="黑体" pitchFamily="2" charset="-122"/>
              </a:defRPr>
            </a:lvl8pPr>
            <a:lvl9pPr marL="1828800" algn="l" rtl="0" fontAlgn="base">
              <a:spcBef>
                <a:spcPct val="0"/>
              </a:spcBef>
              <a:spcAft>
                <a:spcPct val="0"/>
              </a:spcAft>
              <a:defRPr sz="4200">
                <a:solidFill>
                  <a:schemeClr val="tx2"/>
                </a:solidFill>
                <a:latin typeface="Times New Roman" pitchFamily="18" charset="0"/>
                <a:ea typeface="黑体" pitchFamily="2" charset="-122"/>
              </a:defRPr>
            </a:lvl9pPr>
          </a:lstStyle>
          <a:p>
            <a:pPr eaLnBrk="1" hangingPunct="1"/>
            <a:r>
              <a:rPr lang="zh-CN" altLang="en-US" sz="2800" b="0" i="0" kern="0" dirty="0">
                <a:solidFill>
                  <a:srgbClr val="FF0000"/>
                </a:solidFill>
                <a:latin typeface="黑体" panose="02010609060101010101" pitchFamily="49" charset="-122"/>
                <a:ea typeface="黑体" panose="02010609060101010101" pitchFamily="49" charset="-122"/>
              </a:rPr>
              <a:t>层次遍历用队列实现</a:t>
            </a:r>
            <a:endParaRPr lang="en-US" altLang="zh-CN" sz="2800" b="0" i="0" kern="0" dirty="0">
              <a:solidFill>
                <a:srgbClr val="FF0000"/>
              </a:solidFill>
              <a:latin typeface="黑体" panose="02010609060101010101" pitchFamily="49" charset="-122"/>
              <a:ea typeface="黑体" panose="02010609060101010101" pitchFamily="49" charset="-122"/>
            </a:endParaRPr>
          </a:p>
        </p:txBody>
      </p:sp>
      <p:sp>
        <p:nvSpPr>
          <p:cNvPr id="29" name="对话气泡: 椭圆形 28">
            <a:extLst>
              <a:ext uri="{FF2B5EF4-FFF2-40B4-BE49-F238E27FC236}">
                <a16:creationId xmlns:a16="http://schemas.microsoft.com/office/drawing/2014/main" id="{B9BADFBF-0AB1-467D-9344-A8D6A19C5D1A}"/>
              </a:ext>
            </a:extLst>
          </p:cNvPr>
          <p:cNvSpPr/>
          <p:nvPr/>
        </p:nvSpPr>
        <p:spPr bwMode="auto">
          <a:xfrm>
            <a:off x="3140657" y="5025601"/>
            <a:ext cx="6003343" cy="1211818"/>
          </a:xfrm>
          <a:prstGeom prst="wedgeEllipseCallout">
            <a:avLst>
              <a:gd name="adj1" fmla="val -1594"/>
              <a:gd name="adj2" fmla="val 37424"/>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r>
              <a:rPr lang="zh-CN" altLang="en-US" sz="2800" i="0" dirty="0"/>
              <a:t>队列元素：顺序存储，下标；链表存储，结点指针。</a:t>
            </a:r>
            <a:endParaRPr kumimoji="0" lang="zh-CN" altLang="en-US" sz="2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4" name="文本框 3">
            <a:extLst>
              <a:ext uri="{FF2B5EF4-FFF2-40B4-BE49-F238E27FC236}">
                <a16:creationId xmlns:a16="http://schemas.microsoft.com/office/drawing/2014/main" id="{12210D6C-9A1F-2255-46E3-3A52BBE8AFEE}"/>
              </a:ext>
            </a:extLst>
          </p:cNvPr>
          <p:cNvSpPr txBox="1"/>
          <p:nvPr/>
        </p:nvSpPr>
        <p:spPr>
          <a:xfrm>
            <a:off x="564939" y="4971938"/>
            <a:ext cx="2036928" cy="523220"/>
          </a:xfrm>
          <a:prstGeom prst="rect">
            <a:avLst/>
          </a:prstGeom>
          <a:noFill/>
        </p:spPr>
        <p:txBody>
          <a:bodyPr wrap="square">
            <a:spAutoFit/>
          </a:bodyPr>
          <a:lstStyle/>
          <a:p>
            <a:r>
              <a:rPr lang="en-US" altLang="zh-CN" sz="2800" b="0" i="0" kern="0" dirty="0">
                <a:latin typeface="黑体" panose="02010609060101010101" pitchFamily="49" charset="-122"/>
                <a:ea typeface="黑体" panose="02010609060101010101" pitchFamily="49" charset="-122"/>
              </a:rPr>
              <a:t>ABCDEFG</a:t>
            </a:r>
            <a:endParaRPr lang="zh-CN" altLang="en-US" sz="28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1" grpId="0"/>
      <p:bldP spid="29" grpId="0" animBg="1"/>
      <p:bldP spid="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Text Box 3">
            <a:extLst>
              <a:ext uri="{FF2B5EF4-FFF2-40B4-BE49-F238E27FC236}">
                <a16:creationId xmlns:a16="http://schemas.microsoft.com/office/drawing/2014/main" id="{BDAE8CB6-76C3-413F-BA6F-56701A373789}"/>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23C425A5-CCEE-4673-9C55-11F52705D75D}" type="slidenum">
              <a:rPr lang="zh-CN" altLang="en-US" sz="2400"/>
              <a:pPr algn="r" eaLnBrk="1" hangingPunct="1">
                <a:spcBef>
                  <a:spcPct val="50000"/>
                </a:spcBef>
                <a:buClrTx/>
                <a:buSzTx/>
                <a:buFont typeface="Arial" panose="020B0604020202020204" pitchFamily="34" charset="0"/>
                <a:buNone/>
              </a:pPr>
              <a:t>31</a:t>
            </a:fld>
            <a:endParaRPr lang="en-US" altLang="zh-CN" sz="2400"/>
          </a:p>
        </p:txBody>
      </p:sp>
      <p:sp>
        <p:nvSpPr>
          <p:cNvPr id="2" name="Text Box 4">
            <a:extLst>
              <a:ext uri="{FF2B5EF4-FFF2-40B4-BE49-F238E27FC236}">
                <a16:creationId xmlns:a16="http://schemas.microsoft.com/office/drawing/2014/main" id="{22FA0A9D-FB24-4172-A0FD-46AAC6FAF36F}"/>
              </a:ext>
            </a:extLst>
          </p:cNvPr>
          <p:cNvSpPr txBox="1">
            <a:spLocks noChangeArrowheads="1"/>
          </p:cNvSpPr>
          <p:nvPr/>
        </p:nvSpPr>
        <p:spPr bwMode="auto">
          <a:xfrm>
            <a:off x="274340" y="160320"/>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二叉树层次遍历，二叉链表存储</a:t>
            </a:r>
          </a:p>
        </p:txBody>
      </p:sp>
      <p:sp>
        <p:nvSpPr>
          <p:cNvPr id="7" name="文本框 6">
            <a:extLst>
              <a:ext uri="{FF2B5EF4-FFF2-40B4-BE49-F238E27FC236}">
                <a16:creationId xmlns:a16="http://schemas.microsoft.com/office/drawing/2014/main" id="{C88E98E2-6C3B-2FE6-4051-CC37688BA456}"/>
              </a:ext>
            </a:extLst>
          </p:cNvPr>
          <p:cNvSpPr txBox="1"/>
          <p:nvPr/>
        </p:nvSpPr>
        <p:spPr>
          <a:xfrm>
            <a:off x="539552" y="1225689"/>
            <a:ext cx="7994848" cy="5632311"/>
          </a:xfrm>
          <a:prstGeom prst="rect">
            <a:avLst/>
          </a:prstGeom>
          <a:noFill/>
        </p:spPr>
        <p:txBody>
          <a:bodyPr wrap="square">
            <a:spAutoFit/>
          </a:bodyPr>
          <a:lstStyle/>
          <a:p>
            <a:r>
              <a:rPr lang="en-US" altLang="zh-CN" sz="2000" b="0" i="0" dirty="0">
                <a:solidFill>
                  <a:srgbClr val="0000FF"/>
                </a:solidFill>
                <a:effectLst/>
                <a:latin typeface="+mn-ea"/>
                <a:ea typeface="+mn-ea"/>
              </a:rPr>
              <a:t>void</a:t>
            </a:r>
            <a:r>
              <a:rPr lang="en-US" altLang="zh-CN" sz="2000" b="0" i="0" dirty="0">
                <a:solidFill>
                  <a:srgbClr val="000000"/>
                </a:solidFill>
                <a:effectLst/>
                <a:latin typeface="+mn-ea"/>
                <a:ea typeface="+mn-ea"/>
              </a:rPr>
              <a:t> </a:t>
            </a:r>
            <a:r>
              <a:rPr lang="en-US" altLang="zh-CN" sz="2000" b="0" i="0" dirty="0" err="1">
                <a:solidFill>
                  <a:srgbClr val="795E26"/>
                </a:solidFill>
                <a:effectLst/>
                <a:latin typeface="+mn-ea"/>
                <a:ea typeface="+mn-ea"/>
              </a:rPr>
              <a:t>LevelOrder</a:t>
            </a:r>
            <a:r>
              <a:rPr lang="en-US" altLang="zh-CN" sz="2000" b="0" i="0" dirty="0">
                <a:solidFill>
                  <a:srgbClr val="000000"/>
                </a:solidFill>
                <a:effectLst/>
                <a:latin typeface="+mn-ea"/>
                <a:ea typeface="+mn-ea"/>
              </a:rPr>
              <a:t>(</a:t>
            </a:r>
            <a:r>
              <a:rPr lang="en-US" altLang="zh-CN" sz="2000" b="0" i="0" dirty="0" err="1">
                <a:solidFill>
                  <a:srgbClr val="267F99"/>
                </a:solidFill>
                <a:effectLst/>
                <a:latin typeface="+mn-ea"/>
                <a:ea typeface="+mn-ea"/>
              </a:rPr>
              <a:t>BiTree</a:t>
            </a:r>
            <a:r>
              <a:rPr lang="en-US" altLang="zh-CN" sz="2000" b="0" i="0" dirty="0">
                <a:solidFill>
                  <a:srgbClr val="000000"/>
                </a:solidFill>
                <a:effectLst/>
                <a:latin typeface="+mn-ea"/>
                <a:ea typeface="+mn-ea"/>
              </a:rPr>
              <a:t> </a:t>
            </a:r>
            <a:r>
              <a:rPr lang="en-US" altLang="zh-CN" sz="2000" b="0" i="0" dirty="0">
                <a:solidFill>
                  <a:srgbClr val="001080"/>
                </a:solidFill>
                <a:effectLst/>
                <a:latin typeface="+mn-ea"/>
                <a:ea typeface="+mn-ea"/>
              </a:rPr>
              <a:t>T</a:t>
            </a:r>
            <a:r>
              <a:rPr lang="en-US" altLang="zh-CN" sz="2000" b="0" i="0" dirty="0">
                <a:solidFill>
                  <a:srgbClr val="000000"/>
                </a:solidFill>
                <a:effectLst/>
                <a:latin typeface="+mn-ea"/>
                <a:ea typeface="+mn-ea"/>
              </a:rPr>
              <a:t>)</a:t>
            </a:r>
          </a:p>
          <a:p>
            <a:r>
              <a:rPr lang="en-US" altLang="zh-CN" sz="2000" b="0" i="0" dirty="0">
                <a:solidFill>
                  <a:srgbClr val="000000"/>
                </a:solidFill>
                <a:effectLst/>
                <a:latin typeface="+mn-ea"/>
                <a:ea typeface="+mn-ea"/>
              </a:rPr>
              <a:t>{</a:t>
            </a:r>
          </a:p>
          <a:p>
            <a:r>
              <a:rPr lang="en-US" altLang="zh-CN" sz="2000" b="0" i="0" dirty="0">
                <a:solidFill>
                  <a:srgbClr val="000000"/>
                </a:solidFill>
                <a:effectLst/>
                <a:latin typeface="+mn-ea"/>
                <a:ea typeface="+mn-ea"/>
              </a:rPr>
              <a:t>    </a:t>
            </a:r>
            <a:r>
              <a:rPr lang="en-US" altLang="zh-CN" sz="2000" b="0" i="0" dirty="0">
                <a:solidFill>
                  <a:srgbClr val="267F99"/>
                </a:solidFill>
                <a:effectLst/>
                <a:latin typeface="+mn-ea"/>
                <a:ea typeface="+mn-ea"/>
              </a:rPr>
              <a:t>queue</a:t>
            </a:r>
            <a:r>
              <a:rPr lang="en-US" altLang="zh-CN" sz="2000" b="0" i="0" dirty="0">
                <a:solidFill>
                  <a:srgbClr val="000000"/>
                </a:solidFill>
                <a:effectLst/>
                <a:latin typeface="+mn-ea"/>
                <a:ea typeface="+mn-ea"/>
              </a:rPr>
              <a:t>&lt;</a:t>
            </a:r>
            <a:r>
              <a:rPr lang="en-US" altLang="zh-CN" sz="2000" b="0" i="0" dirty="0" err="1">
                <a:solidFill>
                  <a:srgbClr val="267F99"/>
                </a:solidFill>
                <a:effectLst/>
                <a:latin typeface="+mn-ea"/>
                <a:ea typeface="+mn-ea"/>
              </a:rPr>
              <a:t>BiTNode</a:t>
            </a:r>
            <a:r>
              <a:rPr lang="en-US" altLang="zh-CN" sz="2000" b="0" i="0" dirty="0">
                <a:solidFill>
                  <a:srgbClr val="000000"/>
                </a:solidFill>
                <a:effectLst/>
                <a:latin typeface="+mn-ea"/>
                <a:ea typeface="+mn-ea"/>
              </a:rPr>
              <a:t> *&gt;  </a:t>
            </a:r>
            <a:r>
              <a:rPr lang="en-US" altLang="zh-CN" sz="2000" b="0" i="0" dirty="0">
                <a:solidFill>
                  <a:srgbClr val="001080"/>
                </a:solidFill>
                <a:effectLst/>
                <a:latin typeface="+mn-ea"/>
                <a:ea typeface="+mn-ea"/>
              </a:rPr>
              <a:t>q</a:t>
            </a:r>
            <a:r>
              <a:rPr lang="en-US" altLang="zh-CN" sz="2000" b="0" i="0" dirty="0">
                <a:solidFill>
                  <a:srgbClr val="000000"/>
                </a:solidFill>
                <a:effectLst/>
                <a:latin typeface="+mn-ea"/>
                <a:ea typeface="+mn-ea"/>
              </a:rPr>
              <a:t>;</a:t>
            </a:r>
          </a:p>
          <a:p>
            <a:r>
              <a:rPr lang="en-US" altLang="zh-CN" sz="2000" b="0" i="0" dirty="0">
                <a:solidFill>
                  <a:srgbClr val="000000"/>
                </a:solidFill>
                <a:effectLst/>
                <a:latin typeface="+mn-ea"/>
                <a:ea typeface="+mn-ea"/>
              </a:rPr>
              <a:t>    </a:t>
            </a:r>
            <a:r>
              <a:rPr lang="en-US" altLang="zh-CN" sz="2000" b="0" i="0" dirty="0" err="1">
                <a:solidFill>
                  <a:srgbClr val="267F99"/>
                </a:solidFill>
                <a:effectLst/>
                <a:latin typeface="+mn-ea"/>
                <a:ea typeface="+mn-ea"/>
              </a:rPr>
              <a:t>BiTNode</a:t>
            </a:r>
            <a:r>
              <a:rPr lang="en-US" altLang="zh-CN" sz="2000" b="0" i="0" dirty="0">
                <a:solidFill>
                  <a:srgbClr val="000000"/>
                </a:solidFill>
                <a:effectLst/>
                <a:latin typeface="+mn-ea"/>
                <a:ea typeface="+mn-ea"/>
              </a:rPr>
              <a:t> </a:t>
            </a:r>
            <a:r>
              <a:rPr lang="en-US" altLang="zh-CN" sz="2000" b="0" i="0" dirty="0">
                <a:solidFill>
                  <a:srgbClr val="0000FF"/>
                </a:solidFill>
                <a:effectLst/>
                <a:latin typeface="+mn-ea"/>
                <a:ea typeface="+mn-ea"/>
              </a:rPr>
              <a:t>*</a:t>
            </a:r>
            <a:r>
              <a:rPr lang="en-US" altLang="zh-CN" sz="2000" b="0" i="0" dirty="0" err="1">
                <a:solidFill>
                  <a:srgbClr val="001080"/>
                </a:solidFill>
                <a:effectLst/>
                <a:latin typeface="+mn-ea"/>
                <a:ea typeface="+mn-ea"/>
              </a:rPr>
              <a:t>curr</a:t>
            </a:r>
            <a:r>
              <a:rPr lang="en-US" altLang="zh-CN" sz="2000" b="0" i="0" dirty="0">
                <a:solidFill>
                  <a:srgbClr val="000000"/>
                </a:solidFill>
                <a:effectLst/>
                <a:latin typeface="+mn-ea"/>
                <a:ea typeface="+mn-ea"/>
              </a:rPr>
              <a:t>;</a:t>
            </a:r>
          </a:p>
          <a:p>
            <a:br>
              <a:rPr lang="en-US" altLang="zh-CN" sz="2000" b="0" i="0" dirty="0">
                <a:solidFill>
                  <a:srgbClr val="000000"/>
                </a:solidFill>
                <a:effectLst/>
                <a:latin typeface="+mn-ea"/>
                <a:ea typeface="+mn-ea"/>
              </a:rPr>
            </a:br>
            <a:r>
              <a:rPr lang="en-US" altLang="zh-CN" sz="2000" b="0" i="0" dirty="0">
                <a:solidFill>
                  <a:srgbClr val="000000"/>
                </a:solidFill>
                <a:effectLst/>
                <a:latin typeface="+mn-ea"/>
                <a:ea typeface="+mn-ea"/>
              </a:rPr>
              <a:t>    </a:t>
            </a:r>
            <a:r>
              <a:rPr lang="en-US" altLang="zh-CN" sz="2000" b="0" i="0" dirty="0">
                <a:solidFill>
                  <a:srgbClr val="AF00DB"/>
                </a:solidFill>
                <a:effectLst/>
                <a:latin typeface="+mn-ea"/>
                <a:ea typeface="+mn-ea"/>
              </a:rPr>
              <a:t>if</a:t>
            </a:r>
            <a:r>
              <a:rPr lang="en-US" altLang="zh-CN" sz="2000" b="0" i="0" dirty="0">
                <a:solidFill>
                  <a:srgbClr val="000000"/>
                </a:solidFill>
                <a:effectLst/>
                <a:latin typeface="+mn-ea"/>
                <a:ea typeface="+mn-ea"/>
              </a:rPr>
              <a:t>(!</a:t>
            </a:r>
            <a:r>
              <a:rPr lang="en-US" altLang="zh-CN" sz="2000" b="0" i="0" dirty="0">
                <a:solidFill>
                  <a:srgbClr val="001080"/>
                </a:solidFill>
                <a:effectLst/>
                <a:latin typeface="+mn-ea"/>
                <a:ea typeface="+mn-ea"/>
              </a:rPr>
              <a:t>T</a:t>
            </a:r>
            <a:r>
              <a:rPr lang="en-US" altLang="zh-CN" sz="2000" b="0" i="0" dirty="0">
                <a:solidFill>
                  <a:srgbClr val="000000"/>
                </a:solidFill>
                <a:effectLst/>
                <a:latin typeface="+mn-ea"/>
                <a:ea typeface="+mn-ea"/>
              </a:rPr>
              <a:t>)</a:t>
            </a:r>
          </a:p>
          <a:p>
            <a:r>
              <a:rPr lang="en-US" altLang="zh-CN" sz="2000" b="0" i="0" dirty="0">
                <a:solidFill>
                  <a:srgbClr val="000000"/>
                </a:solidFill>
                <a:effectLst/>
                <a:latin typeface="+mn-ea"/>
                <a:ea typeface="+mn-ea"/>
              </a:rPr>
              <a:t>        </a:t>
            </a:r>
            <a:r>
              <a:rPr lang="en-US" altLang="zh-CN" sz="2000" b="0" i="0" dirty="0">
                <a:solidFill>
                  <a:srgbClr val="AF00DB"/>
                </a:solidFill>
                <a:effectLst/>
                <a:latin typeface="+mn-ea"/>
                <a:ea typeface="+mn-ea"/>
              </a:rPr>
              <a:t>return</a:t>
            </a:r>
            <a:r>
              <a:rPr lang="en-US" altLang="zh-CN" sz="2000" b="0" i="0" dirty="0">
                <a:solidFill>
                  <a:srgbClr val="000000"/>
                </a:solidFill>
                <a:effectLst/>
                <a:latin typeface="+mn-ea"/>
                <a:ea typeface="+mn-ea"/>
              </a:rPr>
              <a:t>;</a:t>
            </a:r>
          </a:p>
          <a:p>
            <a:r>
              <a:rPr lang="en-US" altLang="zh-CN" sz="2000" b="0" i="0" dirty="0">
                <a:solidFill>
                  <a:srgbClr val="000000"/>
                </a:solidFill>
                <a:effectLst/>
                <a:latin typeface="+mn-ea"/>
                <a:ea typeface="+mn-ea"/>
              </a:rPr>
              <a:t>    </a:t>
            </a:r>
            <a:r>
              <a:rPr lang="en-US" altLang="zh-CN" sz="2000" b="0" i="0" dirty="0" err="1">
                <a:solidFill>
                  <a:srgbClr val="001080"/>
                </a:solidFill>
                <a:effectLst/>
                <a:latin typeface="+mn-ea"/>
                <a:ea typeface="+mn-ea"/>
              </a:rPr>
              <a:t>q</a:t>
            </a:r>
            <a:r>
              <a:rPr lang="en-US" altLang="zh-CN" sz="2000" b="0" i="0" dirty="0" err="1">
                <a:solidFill>
                  <a:srgbClr val="000000"/>
                </a:solidFill>
                <a:effectLst/>
                <a:latin typeface="+mn-ea"/>
                <a:ea typeface="+mn-ea"/>
              </a:rPr>
              <a:t>.</a:t>
            </a:r>
            <a:r>
              <a:rPr lang="en-US" altLang="zh-CN" sz="2000" b="0" i="0" dirty="0" err="1">
                <a:solidFill>
                  <a:srgbClr val="795E26"/>
                </a:solidFill>
                <a:effectLst/>
                <a:latin typeface="+mn-ea"/>
                <a:ea typeface="+mn-ea"/>
              </a:rPr>
              <a:t>push</a:t>
            </a:r>
            <a:r>
              <a:rPr lang="en-US" altLang="zh-CN" sz="2000" b="0" i="0" dirty="0">
                <a:solidFill>
                  <a:srgbClr val="000000"/>
                </a:solidFill>
                <a:effectLst/>
                <a:latin typeface="+mn-ea"/>
                <a:ea typeface="+mn-ea"/>
              </a:rPr>
              <a:t>(</a:t>
            </a:r>
            <a:r>
              <a:rPr lang="en-US" altLang="zh-CN" sz="2000" b="0" i="0" dirty="0">
                <a:solidFill>
                  <a:srgbClr val="001080"/>
                </a:solidFill>
                <a:effectLst/>
                <a:latin typeface="+mn-ea"/>
                <a:ea typeface="+mn-ea"/>
              </a:rPr>
              <a:t>T</a:t>
            </a:r>
            <a:r>
              <a:rPr lang="en-US" altLang="zh-CN" sz="2000" b="0" i="0" dirty="0">
                <a:solidFill>
                  <a:srgbClr val="000000"/>
                </a:solidFill>
                <a:effectLst/>
                <a:latin typeface="+mn-ea"/>
                <a:ea typeface="+mn-ea"/>
              </a:rPr>
              <a:t>);</a:t>
            </a:r>
            <a:r>
              <a:rPr lang="en-US" altLang="zh-CN" sz="2000" b="0" i="0" dirty="0">
                <a:solidFill>
                  <a:srgbClr val="008000"/>
                </a:solidFill>
                <a:effectLst/>
                <a:latin typeface="+mn-ea"/>
                <a:ea typeface="+mn-ea"/>
              </a:rPr>
              <a:t>     // </a:t>
            </a:r>
            <a:r>
              <a:rPr lang="zh-CN" altLang="en-US" sz="2000" b="0" i="0" dirty="0">
                <a:solidFill>
                  <a:srgbClr val="008000"/>
                </a:solidFill>
                <a:effectLst/>
                <a:latin typeface="+mn-ea"/>
                <a:ea typeface="+mn-ea"/>
              </a:rPr>
              <a:t>树根</a:t>
            </a:r>
            <a:r>
              <a:rPr lang="en-US" altLang="zh-CN" sz="2000" b="0" i="0" dirty="0">
                <a:solidFill>
                  <a:srgbClr val="008000"/>
                </a:solidFill>
                <a:effectLst/>
                <a:latin typeface="+mn-ea"/>
                <a:ea typeface="+mn-ea"/>
              </a:rPr>
              <a:t>T</a:t>
            </a:r>
            <a:r>
              <a:rPr lang="zh-CN" altLang="en-US" sz="2000" b="0" i="0" dirty="0">
                <a:solidFill>
                  <a:srgbClr val="008000"/>
                </a:solidFill>
                <a:effectLst/>
                <a:latin typeface="+mn-ea"/>
                <a:ea typeface="+mn-ea"/>
              </a:rPr>
              <a:t>入队列</a:t>
            </a:r>
            <a:endParaRPr lang="zh-CN" altLang="en-US" sz="2000" b="0" i="0" dirty="0">
              <a:solidFill>
                <a:srgbClr val="000000"/>
              </a:solidFill>
              <a:effectLst/>
              <a:latin typeface="+mn-ea"/>
              <a:ea typeface="+mn-ea"/>
            </a:endParaRPr>
          </a:p>
          <a:p>
            <a:br>
              <a:rPr lang="zh-CN" altLang="en-US" sz="2000" b="0" i="0" dirty="0">
                <a:solidFill>
                  <a:srgbClr val="000000"/>
                </a:solidFill>
                <a:effectLst/>
                <a:latin typeface="+mn-ea"/>
                <a:ea typeface="+mn-ea"/>
              </a:rPr>
            </a:br>
            <a:r>
              <a:rPr lang="zh-CN" altLang="en-US" sz="2000" b="0" i="0" dirty="0">
                <a:solidFill>
                  <a:srgbClr val="000000"/>
                </a:solidFill>
                <a:effectLst/>
                <a:latin typeface="+mn-ea"/>
                <a:ea typeface="+mn-ea"/>
              </a:rPr>
              <a:t>    </a:t>
            </a:r>
            <a:r>
              <a:rPr lang="en-US" altLang="zh-CN" sz="2000" b="0" i="0" dirty="0">
                <a:solidFill>
                  <a:srgbClr val="AF00DB"/>
                </a:solidFill>
                <a:effectLst/>
                <a:latin typeface="+mn-ea"/>
                <a:ea typeface="+mn-ea"/>
              </a:rPr>
              <a:t>while</a:t>
            </a:r>
            <a:r>
              <a:rPr lang="en-US" altLang="zh-CN" sz="2000" b="0" i="0" dirty="0">
                <a:solidFill>
                  <a:srgbClr val="000000"/>
                </a:solidFill>
                <a:effectLst/>
                <a:latin typeface="+mn-ea"/>
                <a:ea typeface="+mn-ea"/>
              </a:rPr>
              <a:t>(!</a:t>
            </a:r>
            <a:r>
              <a:rPr lang="en-US" altLang="zh-CN" sz="2000" b="0" i="0" dirty="0" err="1">
                <a:solidFill>
                  <a:srgbClr val="001080"/>
                </a:solidFill>
                <a:effectLst/>
                <a:latin typeface="+mn-ea"/>
                <a:ea typeface="+mn-ea"/>
              </a:rPr>
              <a:t>q</a:t>
            </a:r>
            <a:r>
              <a:rPr lang="en-US" altLang="zh-CN" sz="2000" b="0" i="0" dirty="0" err="1">
                <a:solidFill>
                  <a:srgbClr val="000000"/>
                </a:solidFill>
                <a:effectLst/>
                <a:latin typeface="+mn-ea"/>
                <a:ea typeface="+mn-ea"/>
              </a:rPr>
              <a:t>.</a:t>
            </a:r>
            <a:r>
              <a:rPr lang="en-US" altLang="zh-CN" sz="2000" b="0" i="0" dirty="0" err="1">
                <a:solidFill>
                  <a:srgbClr val="795E26"/>
                </a:solidFill>
                <a:effectLst/>
                <a:latin typeface="+mn-ea"/>
                <a:ea typeface="+mn-ea"/>
              </a:rPr>
              <a:t>empty</a:t>
            </a:r>
            <a:r>
              <a:rPr lang="en-US" altLang="zh-CN" sz="2000" b="0" i="0" dirty="0">
                <a:solidFill>
                  <a:srgbClr val="000000"/>
                </a:solidFill>
                <a:effectLst/>
                <a:latin typeface="+mn-ea"/>
                <a:ea typeface="+mn-ea"/>
              </a:rPr>
              <a:t>())</a:t>
            </a:r>
            <a:r>
              <a:rPr lang="en-US" altLang="zh-CN" sz="2000" b="0" i="0" dirty="0">
                <a:solidFill>
                  <a:srgbClr val="008000"/>
                </a:solidFill>
                <a:effectLst/>
                <a:latin typeface="+mn-ea"/>
                <a:ea typeface="+mn-ea"/>
              </a:rPr>
              <a:t>   // </a:t>
            </a:r>
            <a:r>
              <a:rPr lang="zh-CN" altLang="en-US" sz="2000" b="0" i="0" dirty="0">
                <a:solidFill>
                  <a:srgbClr val="008000"/>
                </a:solidFill>
                <a:effectLst/>
                <a:latin typeface="+mn-ea"/>
                <a:ea typeface="+mn-ea"/>
              </a:rPr>
              <a:t>队列不空</a:t>
            </a:r>
            <a:endParaRPr lang="zh-CN" altLang="en-US" sz="2000" b="0" i="0" dirty="0">
              <a:solidFill>
                <a:srgbClr val="000000"/>
              </a:solidFill>
              <a:effectLst/>
              <a:latin typeface="+mn-ea"/>
              <a:ea typeface="+mn-ea"/>
            </a:endParaRPr>
          </a:p>
          <a:p>
            <a:r>
              <a:rPr lang="zh-CN" altLang="en-US" sz="2000" b="0" i="0" dirty="0">
                <a:solidFill>
                  <a:srgbClr val="000000"/>
                </a:solidFill>
                <a:effectLst/>
                <a:latin typeface="+mn-ea"/>
                <a:ea typeface="+mn-ea"/>
              </a:rPr>
              <a:t>    </a:t>
            </a:r>
            <a:r>
              <a:rPr lang="en-US" altLang="zh-CN" sz="2000" b="0" i="0" dirty="0">
                <a:solidFill>
                  <a:srgbClr val="000000"/>
                </a:solidFill>
                <a:effectLst/>
                <a:latin typeface="+mn-ea"/>
                <a:ea typeface="+mn-ea"/>
              </a:rPr>
              <a:t>{</a:t>
            </a:r>
          </a:p>
          <a:p>
            <a:r>
              <a:rPr lang="en-US" altLang="zh-CN" sz="2000" b="0" i="0" dirty="0">
                <a:solidFill>
                  <a:srgbClr val="000000"/>
                </a:solidFill>
                <a:effectLst/>
                <a:latin typeface="+mn-ea"/>
                <a:ea typeface="+mn-ea"/>
              </a:rPr>
              <a:t>        </a:t>
            </a:r>
            <a:r>
              <a:rPr lang="en-US" altLang="zh-CN" sz="2000" b="0" i="0" dirty="0" err="1">
                <a:solidFill>
                  <a:srgbClr val="001080"/>
                </a:solidFill>
                <a:effectLst/>
                <a:latin typeface="+mn-ea"/>
                <a:ea typeface="+mn-ea"/>
              </a:rPr>
              <a:t>curr</a:t>
            </a:r>
            <a:r>
              <a:rPr lang="en-US" altLang="zh-CN" sz="2000" b="0" i="0" dirty="0">
                <a:solidFill>
                  <a:srgbClr val="000000"/>
                </a:solidFill>
                <a:effectLst/>
                <a:latin typeface="+mn-ea"/>
                <a:ea typeface="+mn-ea"/>
              </a:rPr>
              <a:t> = </a:t>
            </a:r>
            <a:r>
              <a:rPr lang="en-US" altLang="zh-CN" sz="2000" b="0" i="0" dirty="0" err="1">
                <a:solidFill>
                  <a:srgbClr val="001080"/>
                </a:solidFill>
                <a:effectLst/>
                <a:latin typeface="+mn-ea"/>
                <a:ea typeface="+mn-ea"/>
              </a:rPr>
              <a:t>q</a:t>
            </a:r>
            <a:r>
              <a:rPr lang="en-US" altLang="zh-CN" sz="2000" b="0" i="0" dirty="0" err="1">
                <a:solidFill>
                  <a:srgbClr val="000000"/>
                </a:solidFill>
                <a:effectLst/>
                <a:latin typeface="+mn-ea"/>
                <a:ea typeface="+mn-ea"/>
              </a:rPr>
              <a:t>.</a:t>
            </a:r>
            <a:r>
              <a:rPr lang="en-US" altLang="zh-CN" sz="2000" b="0" i="0" dirty="0" err="1">
                <a:solidFill>
                  <a:srgbClr val="795E26"/>
                </a:solidFill>
                <a:effectLst/>
                <a:latin typeface="+mn-ea"/>
                <a:ea typeface="+mn-ea"/>
              </a:rPr>
              <a:t>front</a:t>
            </a:r>
            <a:r>
              <a:rPr lang="en-US" altLang="zh-CN" sz="2000" b="0" i="0" dirty="0">
                <a:solidFill>
                  <a:srgbClr val="000000"/>
                </a:solidFill>
                <a:effectLst/>
                <a:latin typeface="+mn-ea"/>
                <a:ea typeface="+mn-ea"/>
              </a:rPr>
              <a:t>();</a:t>
            </a:r>
            <a:r>
              <a:rPr lang="en-US" altLang="zh-CN" sz="2000" b="0" i="0" dirty="0">
                <a:solidFill>
                  <a:srgbClr val="008000"/>
                </a:solidFill>
                <a:effectLst/>
                <a:latin typeface="+mn-ea"/>
                <a:ea typeface="+mn-ea"/>
              </a:rPr>
              <a:t>   // </a:t>
            </a:r>
            <a:r>
              <a:rPr lang="zh-CN" altLang="en-US" sz="2000" b="0" i="0" dirty="0">
                <a:solidFill>
                  <a:srgbClr val="008000"/>
                </a:solidFill>
                <a:effectLst/>
                <a:latin typeface="+mn-ea"/>
                <a:ea typeface="+mn-ea"/>
              </a:rPr>
              <a:t>取队头</a:t>
            </a:r>
            <a:endParaRPr lang="zh-CN" altLang="en-US" sz="2000" b="0" i="0" dirty="0">
              <a:solidFill>
                <a:srgbClr val="000000"/>
              </a:solidFill>
              <a:effectLst/>
              <a:latin typeface="+mn-ea"/>
              <a:ea typeface="+mn-ea"/>
            </a:endParaRPr>
          </a:p>
          <a:p>
            <a:r>
              <a:rPr lang="zh-CN" altLang="en-US" sz="2000" b="0" i="0" dirty="0">
                <a:solidFill>
                  <a:srgbClr val="000000"/>
                </a:solidFill>
                <a:effectLst/>
                <a:latin typeface="+mn-ea"/>
                <a:ea typeface="+mn-ea"/>
              </a:rPr>
              <a:t>        </a:t>
            </a:r>
            <a:r>
              <a:rPr lang="en-US" altLang="zh-CN" sz="2000" b="0" i="0" dirty="0" err="1">
                <a:solidFill>
                  <a:srgbClr val="001080"/>
                </a:solidFill>
                <a:effectLst/>
                <a:latin typeface="+mn-ea"/>
                <a:ea typeface="+mn-ea"/>
              </a:rPr>
              <a:t>q</a:t>
            </a:r>
            <a:r>
              <a:rPr lang="en-US" altLang="zh-CN" sz="2000" b="0" i="0" dirty="0" err="1">
                <a:solidFill>
                  <a:srgbClr val="000000"/>
                </a:solidFill>
                <a:effectLst/>
                <a:latin typeface="+mn-ea"/>
                <a:ea typeface="+mn-ea"/>
              </a:rPr>
              <a:t>.</a:t>
            </a:r>
            <a:r>
              <a:rPr lang="en-US" altLang="zh-CN" sz="2000" b="0" i="0" dirty="0" err="1">
                <a:solidFill>
                  <a:srgbClr val="795E26"/>
                </a:solidFill>
                <a:effectLst/>
                <a:latin typeface="+mn-ea"/>
                <a:ea typeface="+mn-ea"/>
              </a:rPr>
              <a:t>pop</a:t>
            </a:r>
            <a:r>
              <a:rPr lang="en-US" altLang="zh-CN" sz="2000" b="0" i="0" dirty="0">
                <a:solidFill>
                  <a:srgbClr val="000000"/>
                </a:solidFill>
                <a:effectLst/>
                <a:latin typeface="+mn-ea"/>
                <a:ea typeface="+mn-ea"/>
              </a:rPr>
              <a:t>();</a:t>
            </a:r>
            <a:r>
              <a:rPr lang="en-US" altLang="zh-CN" sz="2000" b="0" i="0" dirty="0">
                <a:solidFill>
                  <a:srgbClr val="008000"/>
                </a:solidFill>
                <a:effectLst/>
                <a:latin typeface="+mn-ea"/>
                <a:ea typeface="+mn-ea"/>
              </a:rPr>
              <a:t>            // </a:t>
            </a:r>
            <a:r>
              <a:rPr lang="zh-CN" altLang="en-US" sz="2000" b="0" i="0" dirty="0">
                <a:solidFill>
                  <a:srgbClr val="008000"/>
                </a:solidFill>
                <a:effectLst/>
                <a:latin typeface="+mn-ea"/>
                <a:ea typeface="+mn-ea"/>
              </a:rPr>
              <a:t>出队</a:t>
            </a:r>
            <a:endParaRPr lang="zh-CN" altLang="en-US" sz="2000" b="0" i="0" dirty="0">
              <a:solidFill>
                <a:srgbClr val="000000"/>
              </a:solidFill>
              <a:effectLst/>
              <a:latin typeface="+mn-ea"/>
              <a:ea typeface="+mn-ea"/>
            </a:endParaRPr>
          </a:p>
          <a:p>
            <a:r>
              <a:rPr lang="zh-CN" altLang="en-US" sz="2000" b="0" i="0" dirty="0">
                <a:solidFill>
                  <a:srgbClr val="000000"/>
                </a:solidFill>
                <a:effectLst/>
                <a:latin typeface="+mn-ea"/>
                <a:ea typeface="+mn-ea"/>
              </a:rPr>
              <a:t>        </a:t>
            </a:r>
            <a:r>
              <a:rPr lang="en-US" altLang="zh-CN" sz="2000" b="0" i="0" dirty="0" err="1">
                <a:solidFill>
                  <a:srgbClr val="001080"/>
                </a:solidFill>
                <a:effectLst/>
                <a:latin typeface="+mn-ea"/>
                <a:ea typeface="+mn-ea"/>
              </a:rPr>
              <a:t>cout</a:t>
            </a:r>
            <a:r>
              <a:rPr lang="en-US" altLang="zh-CN" sz="2000" b="0" i="0" dirty="0">
                <a:solidFill>
                  <a:srgbClr val="000000"/>
                </a:solidFill>
                <a:effectLst/>
                <a:latin typeface="+mn-ea"/>
                <a:ea typeface="+mn-ea"/>
              </a:rPr>
              <a:t> </a:t>
            </a:r>
            <a:r>
              <a:rPr lang="en-US" altLang="zh-CN" sz="2000" b="0" i="0" dirty="0">
                <a:solidFill>
                  <a:srgbClr val="795E26"/>
                </a:solidFill>
                <a:effectLst/>
                <a:latin typeface="+mn-ea"/>
                <a:ea typeface="+mn-ea"/>
              </a:rPr>
              <a:t>&lt;&lt;</a:t>
            </a:r>
            <a:r>
              <a:rPr lang="en-US" altLang="zh-CN" sz="2000" b="0" i="0" dirty="0">
                <a:solidFill>
                  <a:srgbClr val="000000"/>
                </a:solidFill>
                <a:effectLst/>
                <a:latin typeface="+mn-ea"/>
                <a:ea typeface="+mn-ea"/>
              </a:rPr>
              <a:t> </a:t>
            </a:r>
            <a:r>
              <a:rPr lang="en-US" altLang="zh-CN" sz="2000" b="0" i="0" dirty="0" err="1">
                <a:solidFill>
                  <a:srgbClr val="001080"/>
                </a:solidFill>
                <a:effectLst/>
                <a:latin typeface="+mn-ea"/>
                <a:ea typeface="+mn-ea"/>
              </a:rPr>
              <a:t>curr</a:t>
            </a:r>
            <a:r>
              <a:rPr lang="en-US" altLang="zh-CN" sz="2000" b="0" i="0" dirty="0">
                <a:solidFill>
                  <a:srgbClr val="000000"/>
                </a:solidFill>
                <a:effectLst/>
                <a:latin typeface="+mn-ea"/>
                <a:ea typeface="+mn-ea"/>
              </a:rPr>
              <a:t>-&gt;</a:t>
            </a:r>
            <a:r>
              <a:rPr lang="en-US" altLang="zh-CN" sz="2000" b="0" i="0" dirty="0">
                <a:solidFill>
                  <a:srgbClr val="001080"/>
                </a:solidFill>
                <a:effectLst/>
                <a:latin typeface="+mn-ea"/>
                <a:ea typeface="+mn-ea"/>
              </a:rPr>
              <a:t>data</a:t>
            </a:r>
            <a:r>
              <a:rPr lang="en-US" altLang="zh-CN" sz="2000" b="0" i="0" dirty="0">
                <a:solidFill>
                  <a:srgbClr val="000000"/>
                </a:solidFill>
                <a:effectLst/>
                <a:latin typeface="+mn-ea"/>
                <a:ea typeface="+mn-ea"/>
              </a:rPr>
              <a:t> </a:t>
            </a:r>
            <a:r>
              <a:rPr lang="en-US" altLang="zh-CN" sz="2000" b="0" i="0" dirty="0">
                <a:solidFill>
                  <a:srgbClr val="795E26"/>
                </a:solidFill>
                <a:effectLst/>
                <a:latin typeface="+mn-ea"/>
                <a:ea typeface="+mn-ea"/>
              </a:rPr>
              <a:t>&lt;&lt;</a:t>
            </a:r>
            <a:r>
              <a:rPr lang="en-US" altLang="zh-CN" sz="2000" b="0" i="0" dirty="0">
                <a:solidFill>
                  <a:srgbClr val="000000"/>
                </a:solidFill>
                <a:effectLst/>
                <a:latin typeface="+mn-ea"/>
                <a:ea typeface="+mn-ea"/>
              </a:rPr>
              <a:t> </a:t>
            </a:r>
            <a:r>
              <a:rPr lang="en-US" altLang="zh-CN" sz="2000" b="0" i="0" dirty="0">
                <a:solidFill>
                  <a:srgbClr val="A31515"/>
                </a:solidFill>
                <a:effectLst/>
                <a:latin typeface="+mn-ea"/>
                <a:ea typeface="+mn-ea"/>
              </a:rPr>
              <a:t>" "</a:t>
            </a:r>
            <a:r>
              <a:rPr lang="en-US" altLang="zh-CN" sz="2000" b="0" i="0" dirty="0">
                <a:solidFill>
                  <a:srgbClr val="000000"/>
                </a:solidFill>
                <a:effectLst/>
                <a:latin typeface="+mn-ea"/>
                <a:ea typeface="+mn-ea"/>
              </a:rPr>
              <a:t> ;   </a:t>
            </a:r>
          </a:p>
          <a:p>
            <a:r>
              <a:rPr lang="en-US" altLang="zh-CN" sz="2000" b="0" i="0" dirty="0">
                <a:solidFill>
                  <a:srgbClr val="008000"/>
                </a:solidFill>
                <a:effectLst/>
                <a:latin typeface="+mn-ea"/>
                <a:ea typeface="+mn-ea"/>
              </a:rPr>
              <a:t>        // </a:t>
            </a:r>
            <a:r>
              <a:rPr lang="zh-CN" altLang="en-US" sz="2000" b="0" i="0" dirty="0">
                <a:solidFill>
                  <a:srgbClr val="008000"/>
                </a:solidFill>
                <a:effectLst/>
                <a:latin typeface="+mn-ea"/>
                <a:ea typeface="+mn-ea"/>
              </a:rPr>
              <a:t>若左孩子不空，入队列</a:t>
            </a:r>
            <a:endParaRPr lang="zh-CN" altLang="en-US" sz="2000" b="0" i="0" dirty="0">
              <a:solidFill>
                <a:srgbClr val="000000"/>
              </a:solidFill>
              <a:effectLst/>
              <a:latin typeface="+mn-ea"/>
              <a:ea typeface="+mn-ea"/>
            </a:endParaRPr>
          </a:p>
          <a:p>
            <a:r>
              <a:rPr lang="zh-CN" altLang="en-US" sz="2000" b="0" i="0" dirty="0">
                <a:solidFill>
                  <a:srgbClr val="008000"/>
                </a:solidFill>
                <a:effectLst/>
                <a:latin typeface="+mn-ea"/>
                <a:ea typeface="+mn-ea"/>
              </a:rPr>
              <a:t>        </a:t>
            </a:r>
            <a:r>
              <a:rPr lang="en-US" altLang="zh-CN" sz="2000" b="0" i="0" dirty="0">
                <a:solidFill>
                  <a:srgbClr val="008000"/>
                </a:solidFill>
                <a:effectLst/>
                <a:latin typeface="+mn-ea"/>
                <a:ea typeface="+mn-ea"/>
              </a:rPr>
              <a:t>// </a:t>
            </a:r>
            <a:r>
              <a:rPr lang="zh-CN" altLang="en-US" sz="2000" b="0" i="0" dirty="0">
                <a:solidFill>
                  <a:srgbClr val="008000"/>
                </a:solidFill>
                <a:effectLst/>
                <a:latin typeface="+mn-ea"/>
                <a:ea typeface="+mn-ea"/>
              </a:rPr>
              <a:t>若右孩子不空，入队列</a:t>
            </a:r>
            <a:endParaRPr lang="zh-CN" altLang="en-US" sz="2000" b="0" i="0" dirty="0">
              <a:solidFill>
                <a:srgbClr val="000000"/>
              </a:solidFill>
              <a:effectLst/>
              <a:latin typeface="+mn-ea"/>
              <a:ea typeface="+mn-ea"/>
            </a:endParaRPr>
          </a:p>
          <a:p>
            <a:r>
              <a:rPr lang="zh-CN" altLang="en-US" sz="2000" b="0" i="0" dirty="0">
                <a:solidFill>
                  <a:srgbClr val="000000"/>
                </a:solidFill>
                <a:effectLst/>
                <a:latin typeface="+mn-ea"/>
                <a:ea typeface="+mn-ea"/>
              </a:rPr>
              <a:t>    </a:t>
            </a:r>
            <a:r>
              <a:rPr lang="en-US" altLang="zh-CN" sz="2000" b="0" i="0" dirty="0">
                <a:solidFill>
                  <a:srgbClr val="000000"/>
                </a:solidFill>
                <a:effectLst/>
                <a:latin typeface="+mn-ea"/>
                <a:ea typeface="+mn-ea"/>
              </a:rPr>
              <a:t>}</a:t>
            </a:r>
          </a:p>
          <a:p>
            <a:r>
              <a:rPr lang="en-US" altLang="zh-CN" sz="2000" b="0" i="0" dirty="0">
                <a:solidFill>
                  <a:srgbClr val="000000"/>
                </a:solidFill>
                <a:effectLst/>
                <a:latin typeface="+mn-ea"/>
                <a:ea typeface="+mn-ea"/>
              </a:rPr>
              <a:t>}</a:t>
            </a:r>
          </a:p>
        </p:txBody>
      </p:sp>
    </p:spTree>
    <p:extLst>
      <p:ext uri="{BB962C8B-B14F-4D97-AF65-F5344CB8AC3E}">
        <p14:creationId xmlns:p14="http://schemas.microsoft.com/office/powerpoint/2010/main" val="479390732"/>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Text Box 3">
            <a:extLst>
              <a:ext uri="{FF2B5EF4-FFF2-40B4-BE49-F238E27FC236}">
                <a16:creationId xmlns:a16="http://schemas.microsoft.com/office/drawing/2014/main" id="{BDAE8CB6-76C3-413F-BA6F-56701A373789}"/>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23C425A5-CCEE-4673-9C55-11F52705D75D}" type="slidenum">
              <a:rPr lang="zh-CN" altLang="en-US" sz="2400"/>
              <a:pPr algn="r" eaLnBrk="1" hangingPunct="1">
                <a:spcBef>
                  <a:spcPct val="50000"/>
                </a:spcBef>
                <a:buClrTx/>
                <a:buSzTx/>
                <a:buFont typeface="Arial" panose="020B0604020202020204" pitchFamily="34" charset="0"/>
                <a:buNone/>
              </a:pPr>
              <a:t>32</a:t>
            </a:fld>
            <a:endParaRPr lang="en-US" altLang="zh-CN" sz="2400"/>
          </a:p>
        </p:txBody>
      </p:sp>
      <p:sp>
        <p:nvSpPr>
          <p:cNvPr id="32773" name="Rectangle 5">
            <a:extLst>
              <a:ext uri="{FF2B5EF4-FFF2-40B4-BE49-F238E27FC236}">
                <a16:creationId xmlns:a16="http://schemas.microsoft.com/office/drawing/2014/main" id="{9AE47190-0C38-420F-ABA6-A5EA233F467B}"/>
              </a:ext>
            </a:extLst>
          </p:cNvPr>
          <p:cNvSpPr>
            <a:spLocks noGrp="1" noChangeArrowheads="1"/>
          </p:cNvSpPr>
          <p:nvPr>
            <p:ph type="body" idx="1"/>
          </p:nvPr>
        </p:nvSpPr>
        <p:spPr>
          <a:xfrm>
            <a:off x="539552" y="1304868"/>
            <a:ext cx="8763000" cy="4038600"/>
          </a:xfrm>
        </p:spPr>
        <p:txBody>
          <a:bodyPr/>
          <a:lstStyle/>
          <a:p>
            <a:pPr eaLnBrk="1" hangingPunct="1">
              <a:lnSpc>
                <a:spcPct val="80000"/>
              </a:lnSpc>
              <a:spcBef>
                <a:spcPct val="30000"/>
              </a:spcBef>
            </a:pPr>
            <a:r>
              <a:rPr lang="zh-CN" altLang="en-US" dirty="0">
                <a:latin typeface="黑体" panose="02010609060101010101" pitchFamily="49" charset="-122"/>
                <a:ea typeface="黑体" panose="02010609060101010101" pitchFamily="49" charset="-122"/>
              </a:rPr>
              <a:t>一个二叉树由根节点与左子树和右子树组成</a:t>
            </a:r>
          </a:p>
          <a:p>
            <a:pPr eaLnBrk="1" hangingPunct="1">
              <a:lnSpc>
                <a:spcPct val="80000"/>
              </a:lnSpc>
              <a:spcBef>
                <a:spcPct val="30000"/>
              </a:spcBef>
            </a:pPr>
            <a:r>
              <a:rPr lang="zh-CN" altLang="en-US" dirty="0">
                <a:latin typeface="黑体" panose="02010609060101010101" pitchFamily="49" charset="-122"/>
                <a:ea typeface="黑体" panose="02010609060101010101" pitchFamily="49" charset="-122"/>
              </a:rPr>
              <a:t>设访问根结点用</a:t>
            </a:r>
            <a:r>
              <a:rPr lang="en-US" altLang="zh-CN" dirty="0">
                <a:latin typeface="黑体" panose="02010609060101010101" pitchFamily="49" charset="-122"/>
                <a:ea typeface="黑体" panose="02010609060101010101" pitchFamily="49" charset="-122"/>
              </a:rPr>
              <a:t>D</a:t>
            </a:r>
            <a:r>
              <a:rPr lang="zh-CN" altLang="en-US" dirty="0">
                <a:latin typeface="黑体" panose="02010609060101010101" pitchFamily="49" charset="-122"/>
                <a:ea typeface="黑体" panose="02010609060101010101" pitchFamily="49" charset="-122"/>
              </a:rPr>
              <a:t>表示，遍历左、右子树用</a:t>
            </a:r>
            <a:r>
              <a:rPr lang="en-US" altLang="zh-CN" dirty="0">
                <a:latin typeface="黑体" panose="02010609060101010101" pitchFamily="49" charset="-122"/>
                <a:ea typeface="黑体" panose="02010609060101010101" pitchFamily="49" charset="-122"/>
              </a:rPr>
              <a:t>L、R</a:t>
            </a:r>
            <a:r>
              <a:rPr lang="zh-CN" altLang="en-US" dirty="0">
                <a:latin typeface="黑体" panose="02010609060101010101" pitchFamily="49" charset="-122"/>
                <a:ea typeface="黑体" panose="02010609060101010101" pitchFamily="49" charset="-122"/>
              </a:rPr>
              <a:t>表示</a:t>
            </a:r>
          </a:p>
          <a:p>
            <a:pPr eaLnBrk="1" hangingPunct="1">
              <a:lnSpc>
                <a:spcPct val="80000"/>
              </a:lnSpc>
              <a:spcBef>
                <a:spcPct val="30000"/>
              </a:spcBef>
            </a:pPr>
            <a:r>
              <a:rPr lang="zh-CN" altLang="en-US" dirty="0">
                <a:latin typeface="黑体" panose="02010609060101010101" pitchFamily="49" charset="-122"/>
                <a:ea typeface="黑体" panose="02010609060101010101" pitchFamily="49" charset="-122"/>
              </a:rPr>
              <a:t>如果规定</a:t>
            </a:r>
            <a:r>
              <a:rPr lang="zh-CN" altLang="en-US" dirty="0">
                <a:solidFill>
                  <a:srgbClr val="CC0066"/>
                </a:solidFill>
                <a:latin typeface="黑体" panose="02010609060101010101" pitchFamily="49" charset="-122"/>
                <a:ea typeface="黑体" panose="02010609060101010101" pitchFamily="49" charset="-122"/>
              </a:rPr>
              <a:t>先左子树后右子树</a:t>
            </a:r>
            <a:r>
              <a:rPr lang="zh-CN" altLang="en-US" dirty="0">
                <a:latin typeface="黑体" panose="02010609060101010101" pitchFamily="49" charset="-122"/>
                <a:ea typeface="黑体" panose="02010609060101010101" pitchFamily="49" charset="-122"/>
              </a:rPr>
              <a:t>，则共有三种组合</a:t>
            </a:r>
          </a:p>
          <a:p>
            <a:pPr eaLnBrk="1" hangingPunct="1">
              <a:lnSpc>
                <a:spcPct val="80000"/>
              </a:lnSpc>
              <a:spcBef>
                <a:spcPct val="70000"/>
              </a:spcBef>
              <a:buFont typeface="Wingdings" panose="05000000000000000000" pitchFamily="2" charset="2"/>
              <a:buNone/>
            </a:pPr>
            <a:r>
              <a:rPr lang="zh-CN" altLang="en-US" dirty="0">
                <a:latin typeface="黑体" panose="02010609060101010101" pitchFamily="49" charset="-122"/>
                <a:ea typeface="黑体" panose="02010609060101010101" pitchFamily="49" charset="-122"/>
              </a:rPr>
              <a:t>1.</a:t>
            </a:r>
            <a:r>
              <a:rPr lang="en-US" altLang="zh-CN" dirty="0">
                <a:latin typeface="黑体" panose="02010609060101010101" pitchFamily="49" charset="-122"/>
                <a:ea typeface="黑体" panose="02010609060101010101" pitchFamily="49" charset="-122"/>
              </a:rPr>
              <a:t>DLR [</a:t>
            </a:r>
            <a:r>
              <a:rPr lang="zh-CN" altLang="en-US" dirty="0">
                <a:latin typeface="黑体" panose="02010609060101010101" pitchFamily="49" charset="-122"/>
                <a:ea typeface="黑体" panose="02010609060101010101" pitchFamily="49" charset="-122"/>
              </a:rPr>
              <a:t>先序遍历]</a:t>
            </a:r>
          </a:p>
          <a:p>
            <a:pPr eaLnBrk="1" hangingPunct="1">
              <a:lnSpc>
                <a:spcPct val="80000"/>
              </a:lnSpc>
              <a:spcBef>
                <a:spcPct val="70000"/>
              </a:spcBef>
              <a:buFont typeface="Wingdings" panose="05000000000000000000" pitchFamily="2" charset="2"/>
              <a:buNone/>
            </a:pPr>
            <a:r>
              <a:rPr lang="en-US" altLang="zh-CN" dirty="0">
                <a:latin typeface="黑体" panose="02010609060101010101" pitchFamily="49" charset="-122"/>
                <a:ea typeface="黑体" panose="02010609060101010101" pitchFamily="49" charset="-122"/>
              </a:rPr>
              <a:t>2.LDR [</a:t>
            </a:r>
            <a:r>
              <a:rPr lang="zh-CN" altLang="en-US" dirty="0">
                <a:latin typeface="黑体" panose="02010609060101010101" pitchFamily="49" charset="-122"/>
                <a:ea typeface="黑体" panose="02010609060101010101" pitchFamily="49" charset="-122"/>
              </a:rPr>
              <a:t>中序遍历]</a:t>
            </a:r>
            <a:endParaRPr lang="en-US" altLang="zh-CN" dirty="0">
              <a:latin typeface="黑体" panose="02010609060101010101" pitchFamily="49" charset="-122"/>
              <a:ea typeface="黑体" panose="02010609060101010101" pitchFamily="49" charset="-122"/>
            </a:endParaRPr>
          </a:p>
          <a:p>
            <a:pPr eaLnBrk="1" hangingPunct="1">
              <a:lnSpc>
                <a:spcPct val="80000"/>
              </a:lnSpc>
              <a:spcBef>
                <a:spcPct val="70000"/>
              </a:spcBef>
              <a:buFont typeface="Wingdings" panose="05000000000000000000" pitchFamily="2" charset="2"/>
              <a:buNone/>
            </a:pPr>
            <a:r>
              <a:rPr lang="en-US" altLang="zh-CN" dirty="0">
                <a:latin typeface="黑体" panose="02010609060101010101" pitchFamily="49" charset="-122"/>
                <a:ea typeface="黑体" panose="02010609060101010101" pitchFamily="49" charset="-122"/>
              </a:rPr>
              <a:t>3.LRD [</a:t>
            </a:r>
            <a:r>
              <a:rPr lang="zh-CN" altLang="en-US" dirty="0">
                <a:latin typeface="黑体" panose="02010609060101010101" pitchFamily="49" charset="-122"/>
                <a:ea typeface="黑体" panose="02010609060101010101" pitchFamily="49" charset="-122"/>
              </a:rPr>
              <a:t>后序遍历]</a:t>
            </a:r>
            <a:endParaRPr lang="en-US" altLang="zh-CN" dirty="0">
              <a:latin typeface="黑体" panose="02010609060101010101" pitchFamily="49" charset="-122"/>
              <a:ea typeface="黑体" panose="02010609060101010101" pitchFamily="49" charset="-122"/>
            </a:endParaRPr>
          </a:p>
        </p:txBody>
      </p:sp>
      <p:grpSp>
        <p:nvGrpSpPr>
          <p:cNvPr id="35847" name="Group 7">
            <a:extLst>
              <a:ext uri="{FF2B5EF4-FFF2-40B4-BE49-F238E27FC236}">
                <a16:creationId xmlns:a16="http://schemas.microsoft.com/office/drawing/2014/main" id="{7C25328F-6457-4203-8763-BC9049967831}"/>
              </a:ext>
            </a:extLst>
          </p:cNvPr>
          <p:cNvGrpSpPr>
            <a:grpSpLocks/>
          </p:cNvGrpSpPr>
          <p:nvPr/>
        </p:nvGrpSpPr>
        <p:grpSpPr bwMode="auto">
          <a:xfrm>
            <a:off x="6228184" y="4478663"/>
            <a:ext cx="1697038" cy="1177926"/>
            <a:chOff x="0" y="-1"/>
            <a:chExt cx="1069" cy="742"/>
          </a:xfrm>
        </p:grpSpPr>
        <p:sp>
          <p:nvSpPr>
            <p:cNvPr id="35848" name="Line 8">
              <a:extLst>
                <a:ext uri="{FF2B5EF4-FFF2-40B4-BE49-F238E27FC236}">
                  <a16:creationId xmlns:a16="http://schemas.microsoft.com/office/drawing/2014/main" id="{FD7353A2-3652-4908-98FD-61BD8A85D0B5}"/>
                </a:ext>
              </a:extLst>
            </p:cNvPr>
            <p:cNvSpPr>
              <a:spLocks noChangeShapeType="1"/>
            </p:cNvSpPr>
            <p:nvPr/>
          </p:nvSpPr>
          <p:spPr bwMode="auto">
            <a:xfrm>
              <a:off x="648" y="192"/>
              <a:ext cx="216"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49" name="Line 9">
              <a:extLst>
                <a:ext uri="{FF2B5EF4-FFF2-40B4-BE49-F238E27FC236}">
                  <a16:creationId xmlns:a16="http://schemas.microsoft.com/office/drawing/2014/main" id="{0A81192C-3A7E-4752-88F2-E0CB29D5431A}"/>
                </a:ext>
              </a:extLst>
            </p:cNvPr>
            <p:cNvSpPr>
              <a:spLocks noChangeShapeType="1"/>
            </p:cNvSpPr>
            <p:nvPr/>
          </p:nvSpPr>
          <p:spPr bwMode="auto">
            <a:xfrm flipH="1">
              <a:off x="240" y="192"/>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50" name="Oval 10">
              <a:extLst>
                <a:ext uri="{FF2B5EF4-FFF2-40B4-BE49-F238E27FC236}">
                  <a16:creationId xmlns:a16="http://schemas.microsoft.com/office/drawing/2014/main" id="{9BA33DF0-F740-4DE8-B39F-EBED6152A573}"/>
                </a:ext>
              </a:extLst>
            </p:cNvPr>
            <p:cNvSpPr>
              <a:spLocks noChangeArrowheads="1"/>
            </p:cNvSpPr>
            <p:nvPr/>
          </p:nvSpPr>
          <p:spPr bwMode="auto">
            <a:xfrm>
              <a:off x="432" y="2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35851" name="Text Box 11">
              <a:extLst>
                <a:ext uri="{FF2B5EF4-FFF2-40B4-BE49-F238E27FC236}">
                  <a16:creationId xmlns:a16="http://schemas.microsoft.com/office/drawing/2014/main" id="{2CF1EEDB-8804-47DC-8740-D63215118507}"/>
                </a:ext>
              </a:extLst>
            </p:cNvPr>
            <p:cNvSpPr txBox="1">
              <a:spLocks noChangeArrowheads="1"/>
            </p:cNvSpPr>
            <p:nvPr/>
          </p:nvSpPr>
          <p:spPr bwMode="auto">
            <a:xfrm>
              <a:off x="398" y="-1"/>
              <a:ext cx="344"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i="0" dirty="0">
                  <a:solidFill>
                    <a:schemeClr val="bg1"/>
                  </a:solidFill>
                  <a:latin typeface="Times New Roman" panose="02020603050405020304" pitchFamily="18" charset="0"/>
                </a:rPr>
                <a:t>Ｄ</a:t>
              </a:r>
              <a:endParaRPr lang="zh-CN" altLang="en-US" sz="2400" i="0" dirty="0">
                <a:latin typeface="Times New Roman" panose="02020603050405020304" pitchFamily="18" charset="0"/>
              </a:endParaRPr>
            </a:p>
          </p:txBody>
        </p:sp>
        <p:sp>
          <p:nvSpPr>
            <p:cNvPr id="35852" name="Oval 12">
              <a:extLst>
                <a:ext uri="{FF2B5EF4-FFF2-40B4-BE49-F238E27FC236}">
                  <a16:creationId xmlns:a16="http://schemas.microsoft.com/office/drawing/2014/main" id="{991BBDE6-1189-407C-9F6C-450BA869CA29}"/>
                </a:ext>
              </a:extLst>
            </p:cNvPr>
            <p:cNvSpPr>
              <a:spLocks noChangeArrowheads="1"/>
            </p:cNvSpPr>
            <p:nvPr/>
          </p:nvSpPr>
          <p:spPr bwMode="auto">
            <a:xfrm>
              <a:off x="0" y="45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35853" name="Text Box 13">
              <a:extLst>
                <a:ext uri="{FF2B5EF4-FFF2-40B4-BE49-F238E27FC236}">
                  <a16:creationId xmlns:a16="http://schemas.microsoft.com/office/drawing/2014/main" id="{693654D5-893A-4533-B9BA-CBA508D215A7}"/>
                </a:ext>
              </a:extLst>
            </p:cNvPr>
            <p:cNvSpPr txBox="1">
              <a:spLocks noChangeArrowheads="1"/>
            </p:cNvSpPr>
            <p:nvPr/>
          </p:nvSpPr>
          <p:spPr bwMode="auto">
            <a:xfrm>
              <a:off x="48" y="405"/>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chemeClr val="bg1"/>
                  </a:solidFill>
                  <a:latin typeface="Times New Roman" panose="02020603050405020304" pitchFamily="18" charset="0"/>
                </a:rPr>
                <a:t>L</a:t>
              </a:r>
            </a:p>
          </p:txBody>
        </p:sp>
        <p:sp>
          <p:nvSpPr>
            <p:cNvPr id="35854" name="Oval 14">
              <a:extLst>
                <a:ext uri="{FF2B5EF4-FFF2-40B4-BE49-F238E27FC236}">
                  <a16:creationId xmlns:a16="http://schemas.microsoft.com/office/drawing/2014/main" id="{49495B90-C270-47A9-AE00-89D17ECD4F28}"/>
                </a:ext>
              </a:extLst>
            </p:cNvPr>
            <p:cNvSpPr>
              <a:spLocks noChangeArrowheads="1"/>
            </p:cNvSpPr>
            <p:nvPr/>
          </p:nvSpPr>
          <p:spPr bwMode="auto">
            <a:xfrm>
              <a:off x="768" y="45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35855" name="Text Box 15">
              <a:extLst>
                <a:ext uri="{FF2B5EF4-FFF2-40B4-BE49-F238E27FC236}">
                  <a16:creationId xmlns:a16="http://schemas.microsoft.com/office/drawing/2014/main" id="{12EB27FD-F58F-41C3-9429-EB8D127C5D6A}"/>
                </a:ext>
              </a:extLst>
            </p:cNvPr>
            <p:cNvSpPr txBox="1">
              <a:spLocks noChangeArrowheads="1"/>
            </p:cNvSpPr>
            <p:nvPr/>
          </p:nvSpPr>
          <p:spPr bwMode="auto">
            <a:xfrm>
              <a:off x="791" y="405"/>
              <a:ext cx="27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chemeClr val="bg1"/>
                  </a:solidFill>
                  <a:latin typeface="Times New Roman" panose="02020603050405020304" pitchFamily="18" charset="0"/>
                </a:rPr>
                <a:t>R</a:t>
              </a:r>
            </a:p>
          </p:txBody>
        </p:sp>
      </p:grpSp>
      <p:sp>
        <p:nvSpPr>
          <p:cNvPr id="2" name="Text Box 4">
            <a:extLst>
              <a:ext uri="{FF2B5EF4-FFF2-40B4-BE49-F238E27FC236}">
                <a16:creationId xmlns:a16="http://schemas.microsoft.com/office/drawing/2014/main" id="{22FA0A9D-FB24-4172-A0FD-46AAC6FAF36F}"/>
              </a:ext>
            </a:extLst>
          </p:cNvPr>
          <p:cNvSpPr txBox="1">
            <a:spLocks noChangeArrowheads="1"/>
          </p:cNvSpPr>
          <p:nvPr/>
        </p:nvSpPr>
        <p:spPr bwMode="auto">
          <a:xfrm>
            <a:off x="368857" y="222306"/>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遍历二叉树</a:t>
            </a:r>
          </a:p>
        </p:txBody>
      </p:sp>
    </p:spTree>
    <p:extLst>
      <p:ext uri="{BB962C8B-B14F-4D97-AF65-F5344CB8AC3E}">
        <p14:creationId xmlns:p14="http://schemas.microsoft.com/office/powerpoint/2010/main" val="284674638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2773">
                                            <p:txEl>
                                              <p:pRg st="1" end="1"/>
                                            </p:txEl>
                                          </p:spTgt>
                                        </p:tgtEl>
                                        <p:attrNameLst>
                                          <p:attrName>style.visibility</p:attrName>
                                        </p:attrNameLst>
                                      </p:cBhvr>
                                      <p:to>
                                        <p:strVal val="visible"/>
                                      </p:to>
                                    </p:set>
                                    <p:animEffect transition="in" filter="blinds(horizontal)">
                                      <p:cBhvr>
                                        <p:cTn id="7" dur="500"/>
                                        <p:tgtEl>
                                          <p:spTgt spid="3277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2773">
                                            <p:txEl>
                                              <p:pRg st="2" end="2"/>
                                            </p:txEl>
                                          </p:spTgt>
                                        </p:tgtEl>
                                        <p:attrNameLst>
                                          <p:attrName>style.visibility</p:attrName>
                                        </p:attrNameLst>
                                      </p:cBhvr>
                                      <p:to>
                                        <p:strVal val="visible"/>
                                      </p:to>
                                    </p:set>
                                    <p:animEffect transition="in" filter="blinds(horizontal)">
                                      <p:cBhvr>
                                        <p:cTn id="12" dur="500"/>
                                        <p:tgtEl>
                                          <p:spTgt spid="3277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2773">
                                            <p:txEl>
                                              <p:pRg st="3" end="3"/>
                                            </p:txEl>
                                          </p:spTgt>
                                        </p:tgtEl>
                                        <p:attrNameLst>
                                          <p:attrName>style.visibility</p:attrName>
                                        </p:attrNameLst>
                                      </p:cBhvr>
                                      <p:to>
                                        <p:strVal val="visible"/>
                                      </p:to>
                                    </p:set>
                                    <p:animEffect transition="in" filter="blinds(horizontal)">
                                      <p:cBhvr>
                                        <p:cTn id="17" dur="500"/>
                                        <p:tgtEl>
                                          <p:spTgt spid="32773">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2773">
                                            <p:txEl>
                                              <p:pRg st="4" end="4"/>
                                            </p:txEl>
                                          </p:spTgt>
                                        </p:tgtEl>
                                        <p:attrNameLst>
                                          <p:attrName>style.visibility</p:attrName>
                                        </p:attrNameLst>
                                      </p:cBhvr>
                                      <p:to>
                                        <p:strVal val="visible"/>
                                      </p:to>
                                    </p:set>
                                    <p:animEffect transition="in" filter="blinds(horizontal)">
                                      <p:cBhvr>
                                        <p:cTn id="22" dur="500"/>
                                        <p:tgtEl>
                                          <p:spTgt spid="32773">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32773">
                                            <p:txEl>
                                              <p:pRg st="5" end="5"/>
                                            </p:txEl>
                                          </p:spTgt>
                                        </p:tgtEl>
                                        <p:attrNameLst>
                                          <p:attrName>style.visibility</p:attrName>
                                        </p:attrNameLst>
                                      </p:cBhvr>
                                      <p:to>
                                        <p:strVal val="visible"/>
                                      </p:to>
                                    </p:set>
                                    <p:animEffect transition="in" filter="blinds(horizontal)">
                                      <p:cBhvr>
                                        <p:cTn id="27" dur="500"/>
                                        <p:tgtEl>
                                          <p:spTgt spid="3277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Text Box 3">
            <a:extLst>
              <a:ext uri="{FF2B5EF4-FFF2-40B4-BE49-F238E27FC236}">
                <a16:creationId xmlns:a16="http://schemas.microsoft.com/office/drawing/2014/main" id="{6A8B1298-390D-48FD-A574-0F7FE76450FB}"/>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319DE028-F584-4F00-B0FF-39C11B1E554B}" type="slidenum">
              <a:rPr lang="zh-CN" altLang="en-US" sz="2400"/>
              <a:pPr algn="r" eaLnBrk="1" hangingPunct="1">
                <a:spcBef>
                  <a:spcPct val="50000"/>
                </a:spcBef>
                <a:buClrTx/>
                <a:buSzTx/>
                <a:buFont typeface="Arial" panose="020B0604020202020204" pitchFamily="34" charset="0"/>
                <a:buNone/>
              </a:pPr>
              <a:t>33</a:t>
            </a:fld>
            <a:endParaRPr lang="en-US" altLang="zh-CN" sz="2400"/>
          </a:p>
        </p:txBody>
      </p:sp>
      <p:sp>
        <p:nvSpPr>
          <p:cNvPr id="33797" name="Rectangle 5">
            <a:extLst>
              <a:ext uri="{FF2B5EF4-FFF2-40B4-BE49-F238E27FC236}">
                <a16:creationId xmlns:a16="http://schemas.microsoft.com/office/drawing/2014/main" id="{776B9A0A-57C7-49E5-B34F-A8C9DB920F7A}"/>
              </a:ext>
            </a:extLst>
          </p:cNvPr>
          <p:cNvSpPr>
            <a:spLocks noGrp="1" noChangeArrowheads="1"/>
          </p:cNvSpPr>
          <p:nvPr>
            <p:ph type="body" idx="1"/>
          </p:nvPr>
        </p:nvSpPr>
        <p:spPr>
          <a:xfrm>
            <a:off x="609600" y="1358826"/>
            <a:ext cx="8763000" cy="4038600"/>
          </a:xfrm>
        </p:spPr>
        <p:txBody>
          <a:bodyPr/>
          <a:lstStyle/>
          <a:p>
            <a:pPr eaLnBrk="1" hangingPunct="1">
              <a:spcBef>
                <a:spcPct val="70000"/>
              </a:spcBef>
            </a:pPr>
            <a:r>
              <a:rPr lang="zh-CN" altLang="en-US" dirty="0">
                <a:latin typeface="黑体" panose="02010609060101010101" pitchFamily="49" charset="-122"/>
                <a:ea typeface="黑体" panose="02010609060101010101" pitchFamily="49" charset="-122"/>
              </a:rPr>
              <a:t>算法：</a:t>
            </a:r>
          </a:p>
          <a:p>
            <a:pPr eaLnBrk="1" hangingPunct="1">
              <a:spcBef>
                <a:spcPct val="70000"/>
              </a:spcBef>
              <a:buFont typeface="Wingdings" panose="05000000000000000000" pitchFamily="2" charset="2"/>
              <a:buNone/>
            </a:pPr>
            <a:r>
              <a:rPr lang="zh-CN" altLang="en-US" dirty="0">
                <a:latin typeface="黑体" panose="02010609060101010101" pitchFamily="49" charset="-122"/>
                <a:ea typeface="黑体" panose="02010609060101010101" pitchFamily="49" charset="-122"/>
              </a:rPr>
              <a:t>  若二叉树为空，则返回；否则：</a:t>
            </a:r>
          </a:p>
          <a:p>
            <a:pPr eaLnBrk="1" hangingPunct="1">
              <a:spcBef>
                <a:spcPct val="70000"/>
              </a:spcBef>
              <a:buFont typeface="Wingdings" panose="05000000000000000000" pitchFamily="2" charset="2"/>
              <a:buNone/>
            </a:pPr>
            <a:r>
              <a:rPr lang="en-US" altLang="zh-CN" dirty="0">
                <a:latin typeface="黑体" panose="02010609060101010101" pitchFamily="49" charset="-122"/>
                <a:ea typeface="黑体" panose="02010609060101010101" pitchFamily="49" charset="-122"/>
              </a:rPr>
              <a:t>  1.</a:t>
            </a:r>
            <a:r>
              <a:rPr lang="zh-CN" altLang="en-US" dirty="0">
                <a:latin typeface="黑体" panose="02010609060101010101" pitchFamily="49" charset="-122"/>
                <a:ea typeface="黑体" panose="02010609060101010101" pitchFamily="49" charset="-122"/>
              </a:rPr>
              <a:t>访问根节点(</a:t>
            </a:r>
            <a:r>
              <a:rPr lang="en-US" altLang="zh-CN" dirty="0">
                <a:latin typeface="黑体" panose="02010609060101010101" pitchFamily="49" charset="-122"/>
                <a:ea typeface="黑体" panose="02010609060101010101" pitchFamily="49" charset="-122"/>
              </a:rPr>
              <a:t>D)</a:t>
            </a:r>
          </a:p>
          <a:p>
            <a:pPr eaLnBrk="1" hangingPunct="1">
              <a:spcBef>
                <a:spcPct val="70000"/>
              </a:spcBef>
              <a:buFont typeface="Wingdings" panose="05000000000000000000" pitchFamily="2" charset="2"/>
              <a:buNone/>
            </a:pPr>
            <a:r>
              <a:rPr lang="zh-CN" altLang="en-US" dirty="0">
                <a:latin typeface="黑体" panose="02010609060101010101" pitchFamily="49" charset="-122"/>
                <a:ea typeface="黑体" panose="02010609060101010101" pitchFamily="49" charset="-122"/>
              </a:rPr>
              <a:t>  </a:t>
            </a:r>
            <a:r>
              <a:rPr lang="en-US" altLang="zh-CN" dirty="0">
                <a:latin typeface="黑体" panose="02010609060101010101" pitchFamily="49" charset="-122"/>
                <a:ea typeface="黑体" panose="02010609060101010101" pitchFamily="49" charset="-122"/>
              </a:rPr>
              <a:t>2</a:t>
            </a:r>
            <a:r>
              <a:rPr lang="zh-CN" altLang="en-US" dirty="0">
                <a:latin typeface="黑体" panose="02010609060101010101" pitchFamily="49" charset="-122"/>
                <a:ea typeface="黑体" panose="02010609060101010101" pitchFamily="49" charset="-122"/>
              </a:rPr>
              <a:t>.先序遍历左子树(</a:t>
            </a:r>
            <a:r>
              <a:rPr lang="en-US" altLang="zh-CN" dirty="0">
                <a:latin typeface="黑体" panose="02010609060101010101" pitchFamily="49" charset="-122"/>
                <a:ea typeface="黑体" panose="02010609060101010101" pitchFamily="49" charset="-122"/>
              </a:rPr>
              <a:t>L)</a:t>
            </a:r>
          </a:p>
          <a:p>
            <a:pPr eaLnBrk="1" hangingPunct="1">
              <a:spcBef>
                <a:spcPct val="70000"/>
              </a:spcBef>
              <a:buFont typeface="Wingdings" panose="05000000000000000000" pitchFamily="2" charset="2"/>
              <a:buNone/>
            </a:pPr>
            <a:r>
              <a:rPr lang="en-US" altLang="zh-CN" dirty="0">
                <a:latin typeface="黑体" panose="02010609060101010101" pitchFamily="49" charset="-122"/>
                <a:ea typeface="黑体" panose="02010609060101010101" pitchFamily="49" charset="-122"/>
              </a:rPr>
              <a:t>  3</a:t>
            </a:r>
            <a:r>
              <a:rPr lang="zh-CN" altLang="en-US" dirty="0">
                <a:latin typeface="黑体" panose="02010609060101010101" pitchFamily="49" charset="-122"/>
                <a:ea typeface="黑体" panose="02010609060101010101" pitchFamily="49" charset="-122"/>
              </a:rPr>
              <a:t>.先序遍历右子树(</a:t>
            </a:r>
            <a:r>
              <a:rPr lang="en-US" altLang="zh-CN" dirty="0">
                <a:latin typeface="黑体" panose="02010609060101010101" pitchFamily="49" charset="-122"/>
                <a:ea typeface="黑体" panose="02010609060101010101" pitchFamily="49" charset="-122"/>
              </a:rPr>
              <a:t>R)</a:t>
            </a:r>
          </a:p>
        </p:txBody>
      </p:sp>
      <p:grpSp>
        <p:nvGrpSpPr>
          <p:cNvPr id="36871" name="Group 7">
            <a:extLst>
              <a:ext uri="{FF2B5EF4-FFF2-40B4-BE49-F238E27FC236}">
                <a16:creationId xmlns:a16="http://schemas.microsoft.com/office/drawing/2014/main" id="{4549E4CD-6F36-4263-9FB0-DD7174D67104}"/>
              </a:ext>
            </a:extLst>
          </p:cNvPr>
          <p:cNvGrpSpPr>
            <a:grpSpLocks/>
          </p:cNvGrpSpPr>
          <p:nvPr/>
        </p:nvGrpSpPr>
        <p:grpSpPr bwMode="auto">
          <a:xfrm>
            <a:off x="6527350" y="5013176"/>
            <a:ext cx="1697038" cy="1177926"/>
            <a:chOff x="0" y="-1"/>
            <a:chExt cx="1069" cy="742"/>
          </a:xfrm>
        </p:grpSpPr>
        <p:sp>
          <p:nvSpPr>
            <p:cNvPr id="36872" name="Line 8">
              <a:extLst>
                <a:ext uri="{FF2B5EF4-FFF2-40B4-BE49-F238E27FC236}">
                  <a16:creationId xmlns:a16="http://schemas.microsoft.com/office/drawing/2014/main" id="{5166A84E-C1FE-4FEE-BF05-CB8F2C7371F7}"/>
                </a:ext>
              </a:extLst>
            </p:cNvPr>
            <p:cNvSpPr>
              <a:spLocks noChangeShapeType="1"/>
            </p:cNvSpPr>
            <p:nvPr/>
          </p:nvSpPr>
          <p:spPr bwMode="auto">
            <a:xfrm>
              <a:off x="648" y="192"/>
              <a:ext cx="216"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73" name="Line 9">
              <a:extLst>
                <a:ext uri="{FF2B5EF4-FFF2-40B4-BE49-F238E27FC236}">
                  <a16:creationId xmlns:a16="http://schemas.microsoft.com/office/drawing/2014/main" id="{83561E40-4A8A-49D4-A677-E8199BA27A7E}"/>
                </a:ext>
              </a:extLst>
            </p:cNvPr>
            <p:cNvSpPr>
              <a:spLocks noChangeShapeType="1"/>
            </p:cNvSpPr>
            <p:nvPr/>
          </p:nvSpPr>
          <p:spPr bwMode="auto">
            <a:xfrm flipH="1">
              <a:off x="240" y="192"/>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74" name="Oval 10">
              <a:extLst>
                <a:ext uri="{FF2B5EF4-FFF2-40B4-BE49-F238E27FC236}">
                  <a16:creationId xmlns:a16="http://schemas.microsoft.com/office/drawing/2014/main" id="{22ABBBBC-A50D-445F-92B8-ACF99DA88EB9}"/>
                </a:ext>
              </a:extLst>
            </p:cNvPr>
            <p:cNvSpPr>
              <a:spLocks noChangeArrowheads="1"/>
            </p:cNvSpPr>
            <p:nvPr/>
          </p:nvSpPr>
          <p:spPr bwMode="auto">
            <a:xfrm>
              <a:off x="432" y="2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36875" name="Text Box 11">
              <a:extLst>
                <a:ext uri="{FF2B5EF4-FFF2-40B4-BE49-F238E27FC236}">
                  <a16:creationId xmlns:a16="http://schemas.microsoft.com/office/drawing/2014/main" id="{29EC3966-7A8C-4804-95D9-D038CB5AA885}"/>
                </a:ext>
              </a:extLst>
            </p:cNvPr>
            <p:cNvSpPr txBox="1">
              <a:spLocks noChangeArrowheads="1"/>
            </p:cNvSpPr>
            <p:nvPr/>
          </p:nvSpPr>
          <p:spPr bwMode="auto">
            <a:xfrm>
              <a:off x="398" y="-1"/>
              <a:ext cx="344"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i="0" dirty="0">
                  <a:solidFill>
                    <a:schemeClr val="bg1"/>
                  </a:solidFill>
                  <a:latin typeface="Times New Roman" panose="02020603050405020304" pitchFamily="18" charset="0"/>
                </a:rPr>
                <a:t>Ｄ</a:t>
              </a:r>
              <a:endParaRPr lang="zh-CN" altLang="en-US" sz="2400" i="0" dirty="0">
                <a:latin typeface="Times New Roman" panose="02020603050405020304" pitchFamily="18" charset="0"/>
              </a:endParaRPr>
            </a:p>
          </p:txBody>
        </p:sp>
        <p:sp>
          <p:nvSpPr>
            <p:cNvPr id="36876" name="Oval 12">
              <a:extLst>
                <a:ext uri="{FF2B5EF4-FFF2-40B4-BE49-F238E27FC236}">
                  <a16:creationId xmlns:a16="http://schemas.microsoft.com/office/drawing/2014/main" id="{321BF1FF-A6EE-4ABB-80D9-0B7B0A2905B9}"/>
                </a:ext>
              </a:extLst>
            </p:cNvPr>
            <p:cNvSpPr>
              <a:spLocks noChangeArrowheads="1"/>
            </p:cNvSpPr>
            <p:nvPr/>
          </p:nvSpPr>
          <p:spPr bwMode="auto">
            <a:xfrm>
              <a:off x="0" y="45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36877" name="Text Box 13">
              <a:extLst>
                <a:ext uri="{FF2B5EF4-FFF2-40B4-BE49-F238E27FC236}">
                  <a16:creationId xmlns:a16="http://schemas.microsoft.com/office/drawing/2014/main" id="{AD2EE257-00BF-4252-815A-79CB5D4166E0}"/>
                </a:ext>
              </a:extLst>
            </p:cNvPr>
            <p:cNvSpPr txBox="1">
              <a:spLocks noChangeArrowheads="1"/>
            </p:cNvSpPr>
            <p:nvPr/>
          </p:nvSpPr>
          <p:spPr bwMode="auto">
            <a:xfrm>
              <a:off x="48" y="405"/>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chemeClr val="bg1"/>
                  </a:solidFill>
                  <a:latin typeface="Times New Roman" panose="02020603050405020304" pitchFamily="18" charset="0"/>
                </a:rPr>
                <a:t>L</a:t>
              </a:r>
            </a:p>
          </p:txBody>
        </p:sp>
        <p:sp>
          <p:nvSpPr>
            <p:cNvPr id="36878" name="Oval 14">
              <a:extLst>
                <a:ext uri="{FF2B5EF4-FFF2-40B4-BE49-F238E27FC236}">
                  <a16:creationId xmlns:a16="http://schemas.microsoft.com/office/drawing/2014/main" id="{BBF64942-D0A4-4B2D-8666-514D9DBEC430}"/>
                </a:ext>
              </a:extLst>
            </p:cNvPr>
            <p:cNvSpPr>
              <a:spLocks noChangeArrowheads="1"/>
            </p:cNvSpPr>
            <p:nvPr/>
          </p:nvSpPr>
          <p:spPr bwMode="auto">
            <a:xfrm>
              <a:off x="768" y="45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36879" name="Text Box 15">
              <a:extLst>
                <a:ext uri="{FF2B5EF4-FFF2-40B4-BE49-F238E27FC236}">
                  <a16:creationId xmlns:a16="http://schemas.microsoft.com/office/drawing/2014/main" id="{73D30F77-931B-4A55-93CC-0C37673B3127}"/>
                </a:ext>
              </a:extLst>
            </p:cNvPr>
            <p:cNvSpPr txBox="1">
              <a:spLocks noChangeArrowheads="1"/>
            </p:cNvSpPr>
            <p:nvPr/>
          </p:nvSpPr>
          <p:spPr bwMode="auto">
            <a:xfrm>
              <a:off x="791" y="405"/>
              <a:ext cx="27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chemeClr val="bg1"/>
                  </a:solidFill>
                  <a:latin typeface="Times New Roman" panose="02020603050405020304" pitchFamily="18" charset="0"/>
                </a:rPr>
                <a:t>R</a:t>
              </a:r>
            </a:p>
          </p:txBody>
        </p:sp>
      </p:grpSp>
      <p:sp>
        <p:nvSpPr>
          <p:cNvPr id="2" name="Text Box 4">
            <a:extLst>
              <a:ext uri="{FF2B5EF4-FFF2-40B4-BE49-F238E27FC236}">
                <a16:creationId xmlns:a16="http://schemas.microsoft.com/office/drawing/2014/main" id="{65B40595-3EB1-406A-A227-596367E12637}"/>
              </a:ext>
            </a:extLst>
          </p:cNvPr>
          <p:cNvSpPr txBox="1">
            <a:spLocks noChangeArrowheads="1"/>
          </p:cNvSpPr>
          <p:nvPr/>
        </p:nvSpPr>
        <p:spPr bwMode="auto">
          <a:xfrm>
            <a:off x="368857" y="222306"/>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二叉树的先序遍历</a:t>
            </a:r>
          </a:p>
        </p:txBody>
      </p:sp>
      <p:sp>
        <p:nvSpPr>
          <p:cNvPr id="4" name="右大括号 3">
            <a:extLst>
              <a:ext uri="{FF2B5EF4-FFF2-40B4-BE49-F238E27FC236}">
                <a16:creationId xmlns:a16="http://schemas.microsoft.com/office/drawing/2014/main" id="{4BB2BAA5-C21D-BCF6-B242-510F36557E5B}"/>
              </a:ext>
            </a:extLst>
          </p:cNvPr>
          <p:cNvSpPr/>
          <p:nvPr/>
        </p:nvSpPr>
        <p:spPr bwMode="auto">
          <a:xfrm>
            <a:off x="5076056" y="3717032"/>
            <a:ext cx="419100" cy="864096"/>
          </a:xfrm>
          <a:prstGeom prst="rightBrace">
            <a:avLst/>
          </a:prstGeom>
          <a:noFill/>
          <a:ln w="317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1" u="none" strike="noStrike" cap="none" normalizeH="0" baseline="0">
              <a:ln>
                <a:noFill/>
              </a:ln>
              <a:solidFill>
                <a:schemeClr val="tx1"/>
              </a:solidFill>
              <a:effectLst/>
              <a:latin typeface="Times New Roman" pitchFamily="18" charset="0"/>
              <a:ea typeface="宋体" pitchFamily="2" charset="-122"/>
            </a:endParaRPr>
          </a:p>
        </p:txBody>
      </p:sp>
      <p:sp>
        <p:nvSpPr>
          <p:cNvPr id="5" name="文本框 4">
            <a:extLst>
              <a:ext uri="{FF2B5EF4-FFF2-40B4-BE49-F238E27FC236}">
                <a16:creationId xmlns:a16="http://schemas.microsoft.com/office/drawing/2014/main" id="{DFD96FBC-C9F1-C0E7-648D-0748D796A2C0}"/>
              </a:ext>
            </a:extLst>
          </p:cNvPr>
          <p:cNvSpPr txBox="1"/>
          <p:nvPr/>
        </p:nvSpPr>
        <p:spPr>
          <a:xfrm>
            <a:off x="5513629" y="3818601"/>
            <a:ext cx="1089921" cy="523220"/>
          </a:xfrm>
          <a:prstGeom prst="rect">
            <a:avLst/>
          </a:prstGeom>
          <a:noFill/>
        </p:spPr>
        <p:txBody>
          <a:bodyPr wrap="square" rtlCol="0">
            <a:spAutoFit/>
          </a:bodyPr>
          <a:lstStyle/>
          <a:p>
            <a:r>
              <a:rPr lang="zh-CN" altLang="en-US" sz="2800" b="0" i="0" dirty="0">
                <a:latin typeface="黑体" panose="02010609060101010101" pitchFamily="49" charset="-122"/>
                <a:ea typeface="黑体" panose="02010609060101010101" pitchFamily="49" charset="-122"/>
              </a:rPr>
              <a:t>递归</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3797">
                                            <p:txEl>
                                              <p:pRg st="2" end="2"/>
                                            </p:txEl>
                                          </p:spTgt>
                                        </p:tgtEl>
                                        <p:attrNameLst>
                                          <p:attrName>style.visibility</p:attrName>
                                        </p:attrNameLst>
                                      </p:cBhvr>
                                      <p:to>
                                        <p:strVal val="visible"/>
                                      </p:to>
                                    </p:set>
                                    <p:animEffect transition="in" filter="blinds(horizontal)">
                                      <p:cBhvr>
                                        <p:cTn id="7" dur="500"/>
                                        <p:tgtEl>
                                          <p:spTgt spid="33797">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3797">
                                            <p:txEl>
                                              <p:pRg st="3" end="3"/>
                                            </p:txEl>
                                          </p:spTgt>
                                        </p:tgtEl>
                                        <p:attrNameLst>
                                          <p:attrName>style.visibility</p:attrName>
                                        </p:attrNameLst>
                                      </p:cBhvr>
                                      <p:to>
                                        <p:strVal val="visible"/>
                                      </p:to>
                                    </p:set>
                                    <p:animEffect transition="in" filter="blinds(horizontal)">
                                      <p:cBhvr>
                                        <p:cTn id="12" dur="500"/>
                                        <p:tgtEl>
                                          <p:spTgt spid="33797">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3797">
                                            <p:txEl>
                                              <p:pRg st="4" end="4"/>
                                            </p:txEl>
                                          </p:spTgt>
                                        </p:tgtEl>
                                        <p:attrNameLst>
                                          <p:attrName>style.visibility</p:attrName>
                                        </p:attrNameLst>
                                      </p:cBhvr>
                                      <p:to>
                                        <p:strVal val="visible"/>
                                      </p:to>
                                    </p:set>
                                    <p:animEffect transition="in" filter="blinds(horizontal)">
                                      <p:cBhvr>
                                        <p:cTn id="17" dur="500"/>
                                        <p:tgtEl>
                                          <p:spTgt spid="33797">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Text Box 3">
            <a:extLst>
              <a:ext uri="{FF2B5EF4-FFF2-40B4-BE49-F238E27FC236}">
                <a16:creationId xmlns:a16="http://schemas.microsoft.com/office/drawing/2014/main" id="{E8839609-6368-495A-AF1D-626FB63BDEF3}"/>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B4DD9484-1C0E-4153-BA8C-E9D4A09D9840}" type="slidenum">
              <a:rPr lang="zh-CN" altLang="en-US" sz="2400"/>
              <a:pPr algn="r" eaLnBrk="1" hangingPunct="1">
                <a:spcBef>
                  <a:spcPct val="50000"/>
                </a:spcBef>
                <a:buClrTx/>
                <a:buSzTx/>
                <a:buFont typeface="Arial" panose="020B0604020202020204" pitchFamily="34" charset="0"/>
                <a:buNone/>
              </a:pPr>
              <a:t>34</a:t>
            </a:fld>
            <a:endParaRPr lang="en-US" altLang="zh-CN" sz="2400"/>
          </a:p>
        </p:txBody>
      </p:sp>
      <p:grpSp>
        <p:nvGrpSpPr>
          <p:cNvPr id="37895" name="Group 7">
            <a:extLst>
              <a:ext uri="{FF2B5EF4-FFF2-40B4-BE49-F238E27FC236}">
                <a16:creationId xmlns:a16="http://schemas.microsoft.com/office/drawing/2014/main" id="{F3F2A74B-22B9-4A40-A450-962258B22F32}"/>
              </a:ext>
            </a:extLst>
          </p:cNvPr>
          <p:cNvGrpSpPr>
            <a:grpSpLocks/>
          </p:cNvGrpSpPr>
          <p:nvPr/>
        </p:nvGrpSpPr>
        <p:grpSpPr bwMode="auto">
          <a:xfrm>
            <a:off x="5364088" y="2060848"/>
            <a:ext cx="2667000" cy="2514600"/>
            <a:chOff x="0" y="0"/>
            <a:chExt cx="1680" cy="1584"/>
          </a:xfrm>
        </p:grpSpPr>
        <p:sp>
          <p:nvSpPr>
            <p:cNvPr id="37900" name="Line 8">
              <a:extLst>
                <a:ext uri="{FF2B5EF4-FFF2-40B4-BE49-F238E27FC236}">
                  <a16:creationId xmlns:a16="http://schemas.microsoft.com/office/drawing/2014/main" id="{3EA06655-4FFA-4360-9FC5-C71F5072D0E3}"/>
                </a:ext>
              </a:extLst>
            </p:cNvPr>
            <p:cNvSpPr>
              <a:spLocks noChangeShapeType="1"/>
            </p:cNvSpPr>
            <p:nvPr/>
          </p:nvSpPr>
          <p:spPr bwMode="auto">
            <a:xfrm>
              <a:off x="1080" y="171"/>
              <a:ext cx="360"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37901" name="Line 9">
              <a:extLst>
                <a:ext uri="{FF2B5EF4-FFF2-40B4-BE49-F238E27FC236}">
                  <a16:creationId xmlns:a16="http://schemas.microsoft.com/office/drawing/2014/main" id="{BDE84BF5-0367-4BA2-95A9-997F89A63C00}"/>
                </a:ext>
              </a:extLst>
            </p:cNvPr>
            <p:cNvSpPr>
              <a:spLocks noChangeShapeType="1"/>
            </p:cNvSpPr>
            <p:nvPr/>
          </p:nvSpPr>
          <p:spPr bwMode="auto">
            <a:xfrm flipH="1">
              <a:off x="576" y="171"/>
              <a:ext cx="360" cy="336"/>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37902" name="Oval 10">
              <a:extLst>
                <a:ext uri="{FF2B5EF4-FFF2-40B4-BE49-F238E27FC236}">
                  <a16:creationId xmlns:a16="http://schemas.microsoft.com/office/drawing/2014/main" id="{B55317B8-9DA3-47AC-BF8C-196BE252E3CF}"/>
                </a:ext>
              </a:extLst>
            </p:cNvPr>
            <p:cNvSpPr>
              <a:spLocks noChangeArrowheads="1"/>
            </p:cNvSpPr>
            <p:nvPr/>
          </p:nvSpPr>
          <p:spPr bwMode="auto">
            <a:xfrm>
              <a:off x="864" y="0"/>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dirty="0">
                  <a:solidFill>
                    <a:schemeClr val="bg1"/>
                  </a:solidFill>
                </a:rPr>
                <a:t>A</a:t>
              </a:r>
            </a:p>
          </p:txBody>
        </p:sp>
        <p:sp>
          <p:nvSpPr>
            <p:cNvPr id="37903" name="Line 11">
              <a:extLst>
                <a:ext uri="{FF2B5EF4-FFF2-40B4-BE49-F238E27FC236}">
                  <a16:creationId xmlns:a16="http://schemas.microsoft.com/office/drawing/2014/main" id="{D4AEF3FA-D1CA-4B1D-B942-D0778F2608F1}"/>
                </a:ext>
              </a:extLst>
            </p:cNvPr>
            <p:cNvSpPr>
              <a:spLocks noChangeShapeType="1"/>
            </p:cNvSpPr>
            <p:nvPr/>
          </p:nvSpPr>
          <p:spPr bwMode="auto">
            <a:xfrm flipH="1">
              <a:off x="240" y="561"/>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37904" name="Oval 12">
              <a:extLst>
                <a:ext uri="{FF2B5EF4-FFF2-40B4-BE49-F238E27FC236}">
                  <a16:creationId xmlns:a16="http://schemas.microsoft.com/office/drawing/2014/main" id="{D2A23FAE-CACE-4037-B02B-3E55975E36E1}"/>
                </a:ext>
              </a:extLst>
            </p:cNvPr>
            <p:cNvSpPr>
              <a:spLocks noChangeArrowheads="1"/>
            </p:cNvSpPr>
            <p:nvPr/>
          </p:nvSpPr>
          <p:spPr bwMode="auto">
            <a:xfrm>
              <a:off x="0" y="822"/>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dirty="0">
                  <a:solidFill>
                    <a:schemeClr val="bg1"/>
                  </a:solidFill>
                </a:rPr>
                <a:t>D</a:t>
              </a:r>
            </a:p>
          </p:txBody>
        </p:sp>
        <p:sp>
          <p:nvSpPr>
            <p:cNvPr id="37905" name="Line 13">
              <a:extLst>
                <a:ext uri="{FF2B5EF4-FFF2-40B4-BE49-F238E27FC236}">
                  <a16:creationId xmlns:a16="http://schemas.microsoft.com/office/drawing/2014/main" id="{C7DA2A23-7CAB-41F7-9DC4-0BE2A08C5AF2}"/>
                </a:ext>
              </a:extLst>
            </p:cNvPr>
            <p:cNvSpPr>
              <a:spLocks noChangeShapeType="1"/>
            </p:cNvSpPr>
            <p:nvPr/>
          </p:nvSpPr>
          <p:spPr bwMode="auto">
            <a:xfrm>
              <a:off x="528" y="582"/>
              <a:ext cx="216"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37906" name="Oval 14">
              <a:extLst>
                <a:ext uri="{FF2B5EF4-FFF2-40B4-BE49-F238E27FC236}">
                  <a16:creationId xmlns:a16="http://schemas.microsoft.com/office/drawing/2014/main" id="{601B988C-9813-4281-95ED-F9144ECA1AA6}"/>
                </a:ext>
              </a:extLst>
            </p:cNvPr>
            <p:cNvSpPr>
              <a:spLocks noChangeArrowheads="1"/>
            </p:cNvSpPr>
            <p:nvPr/>
          </p:nvSpPr>
          <p:spPr bwMode="auto">
            <a:xfrm>
              <a:off x="360" y="41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dirty="0">
                  <a:solidFill>
                    <a:schemeClr val="bg1"/>
                  </a:solidFill>
                </a:rPr>
                <a:t>B</a:t>
              </a:r>
            </a:p>
          </p:txBody>
        </p:sp>
        <p:sp>
          <p:nvSpPr>
            <p:cNvPr id="37907" name="Line 15">
              <a:extLst>
                <a:ext uri="{FF2B5EF4-FFF2-40B4-BE49-F238E27FC236}">
                  <a16:creationId xmlns:a16="http://schemas.microsoft.com/office/drawing/2014/main" id="{BDE125EA-34FE-49DA-A7AB-D93C05E9B332}"/>
                </a:ext>
              </a:extLst>
            </p:cNvPr>
            <p:cNvSpPr>
              <a:spLocks noChangeShapeType="1"/>
            </p:cNvSpPr>
            <p:nvPr/>
          </p:nvSpPr>
          <p:spPr bwMode="auto">
            <a:xfrm flipH="1">
              <a:off x="1296" y="582"/>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37908" name="Oval 16">
              <a:extLst>
                <a:ext uri="{FF2B5EF4-FFF2-40B4-BE49-F238E27FC236}">
                  <a16:creationId xmlns:a16="http://schemas.microsoft.com/office/drawing/2014/main" id="{3D695835-B018-4CD4-B6CF-419BACDD28F0}"/>
                </a:ext>
              </a:extLst>
            </p:cNvPr>
            <p:cNvSpPr>
              <a:spLocks noChangeArrowheads="1"/>
            </p:cNvSpPr>
            <p:nvPr/>
          </p:nvSpPr>
          <p:spPr bwMode="auto">
            <a:xfrm>
              <a:off x="1056" y="84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dirty="0">
                  <a:solidFill>
                    <a:schemeClr val="bg1"/>
                  </a:solidFill>
                </a:rPr>
                <a:t>F</a:t>
              </a:r>
            </a:p>
          </p:txBody>
        </p:sp>
        <p:sp>
          <p:nvSpPr>
            <p:cNvPr id="37909" name="Oval 17">
              <a:extLst>
                <a:ext uri="{FF2B5EF4-FFF2-40B4-BE49-F238E27FC236}">
                  <a16:creationId xmlns:a16="http://schemas.microsoft.com/office/drawing/2014/main" id="{9EBF09DE-B26B-4936-8A43-8A0FF50A7718}"/>
                </a:ext>
              </a:extLst>
            </p:cNvPr>
            <p:cNvSpPr>
              <a:spLocks noChangeArrowheads="1"/>
            </p:cNvSpPr>
            <p:nvPr/>
          </p:nvSpPr>
          <p:spPr bwMode="auto">
            <a:xfrm>
              <a:off x="1392" y="41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dirty="0">
                  <a:solidFill>
                    <a:schemeClr val="bg1"/>
                  </a:solidFill>
                </a:rPr>
                <a:t>C</a:t>
              </a:r>
            </a:p>
          </p:txBody>
        </p:sp>
        <p:sp>
          <p:nvSpPr>
            <p:cNvPr id="37910" name="Line 18">
              <a:extLst>
                <a:ext uri="{FF2B5EF4-FFF2-40B4-BE49-F238E27FC236}">
                  <a16:creationId xmlns:a16="http://schemas.microsoft.com/office/drawing/2014/main" id="{5DB3CE7E-F457-4376-B309-E312442ACAA5}"/>
                </a:ext>
              </a:extLst>
            </p:cNvPr>
            <p:cNvSpPr>
              <a:spLocks noChangeShapeType="1"/>
            </p:cNvSpPr>
            <p:nvPr/>
          </p:nvSpPr>
          <p:spPr bwMode="auto">
            <a:xfrm flipH="1">
              <a:off x="480" y="1035"/>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37911" name="Oval 19">
              <a:extLst>
                <a:ext uri="{FF2B5EF4-FFF2-40B4-BE49-F238E27FC236}">
                  <a16:creationId xmlns:a16="http://schemas.microsoft.com/office/drawing/2014/main" id="{C13D9829-4F1E-46D9-9AC1-212F7FF9EA4B}"/>
                </a:ext>
              </a:extLst>
            </p:cNvPr>
            <p:cNvSpPr>
              <a:spLocks noChangeArrowheads="1"/>
            </p:cNvSpPr>
            <p:nvPr/>
          </p:nvSpPr>
          <p:spPr bwMode="auto">
            <a:xfrm>
              <a:off x="240" y="1296"/>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dirty="0">
                  <a:solidFill>
                    <a:schemeClr val="bg1"/>
                  </a:solidFill>
                </a:rPr>
                <a:t>G</a:t>
              </a:r>
            </a:p>
          </p:txBody>
        </p:sp>
        <p:sp>
          <p:nvSpPr>
            <p:cNvPr id="37912" name="Oval 20">
              <a:extLst>
                <a:ext uri="{FF2B5EF4-FFF2-40B4-BE49-F238E27FC236}">
                  <a16:creationId xmlns:a16="http://schemas.microsoft.com/office/drawing/2014/main" id="{9FBBE5D5-CD43-403A-AD13-57FB7D70DA49}"/>
                </a:ext>
              </a:extLst>
            </p:cNvPr>
            <p:cNvSpPr>
              <a:spLocks noChangeArrowheads="1"/>
            </p:cNvSpPr>
            <p:nvPr/>
          </p:nvSpPr>
          <p:spPr bwMode="auto">
            <a:xfrm>
              <a:off x="648" y="84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dirty="0">
                  <a:solidFill>
                    <a:schemeClr val="bg1"/>
                  </a:solidFill>
                </a:rPr>
                <a:t>E</a:t>
              </a:r>
            </a:p>
          </p:txBody>
        </p:sp>
      </p:grpSp>
      <p:sp>
        <p:nvSpPr>
          <p:cNvPr id="34837" name="Text Box 21">
            <a:extLst>
              <a:ext uri="{FF2B5EF4-FFF2-40B4-BE49-F238E27FC236}">
                <a16:creationId xmlns:a16="http://schemas.microsoft.com/office/drawing/2014/main" id="{FCAA9A6D-D58A-4280-B165-EB2EB1C159FC}"/>
              </a:ext>
            </a:extLst>
          </p:cNvPr>
          <p:cNvSpPr txBox="1">
            <a:spLocks noChangeArrowheads="1"/>
          </p:cNvSpPr>
          <p:nvPr/>
        </p:nvSpPr>
        <p:spPr bwMode="auto">
          <a:xfrm>
            <a:off x="466006" y="3508996"/>
            <a:ext cx="3256020" cy="89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0" i="0" dirty="0">
                <a:solidFill>
                  <a:srgbClr val="FF0000"/>
                </a:solidFill>
                <a:latin typeface="黑体" panose="02010609060101010101" pitchFamily="49" charset="-122"/>
                <a:ea typeface="黑体" panose="02010609060101010101" pitchFamily="49" charset="-122"/>
              </a:rPr>
              <a:t>输出结果：</a:t>
            </a:r>
            <a:r>
              <a:rPr lang="en-US" altLang="zh-CN" sz="2800" b="0" i="0" dirty="0">
                <a:solidFill>
                  <a:srgbClr val="FF0000"/>
                </a:solidFill>
                <a:latin typeface="黑体" panose="02010609060101010101" pitchFamily="49" charset="-122"/>
                <a:ea typeface="黑体" panose="02010609060101010101" pitchFamily="49" charset="-122"/>
              </a:rPr>
              <a:t>ABDEGCF</a:t>
            </a:r>
          </a:p>
          <a:p>
            <a:pPr eaLnBrk="1" hangingPunct="1">
              <a:spcBef>
                <a:spcPct val="0"/>
              </a:spcBef>
              <a:buClrTx/>
              <a:buSzTx/>
              <a:buFont typeface="Arial" panose="020B0604020202020204" pitchFamily="34" charset="0"/>
              <a:buNone/>
            </a:pPr>
            <a:endParaRPr lang="zh-CN" altLang="en-US" sz="2400" dirty="0"/>
          </a:p>
        </p:txBody>
      </p:sp>
      <p:sp>
        <p:nvSpPr>
          <p:cNvPr id="22" name="Text Box 21">
            <a:extLst>
              <a:ext uri="{FF2B5EF4-FFF2-40B4-BE49-F238E27FC236}">
                <a16:creationId xmlns:a16="http://schemas.microsoft.com/office/drawing/2014/main" id="{559B8C87-F66E-4958-94BC-E358F766D158}"/>
              </a:ext>
            </a:extLst>
          </p:cNvPr>
          <p:cNvSpPr txBox="1">
            <a:spLocks noChangeArrowheads="1"/>
          </p:cNvSpPr>
          <p:nvPr/>
        </p:nvSpPr>
        <p:spPr bwMode="auto">
          <a:xfrm>
            <a:off x="487288" y="1498566"/>
            <a:ext cx="287771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0" i="0" dirty="0">
                <a:solidFill>
                  <a:schemeClr val="hlink"/>
                </a:solidFill>
                <a:latin typeface="黑体" panose="02010609060101010101" pitchFamily="49" charset="-122"/>
                <a:ea typeface="黑体" panose="02010609060101010101" pitchFamily="49" charset="-122"/>
              </a:rPr>
              <a:t>过程：</a:t>
            </a:r>
            <a:r>
              <a:rPr lang="en-US" altLang="zh-CN" sz="2800" b="0" i="0" dirty="0">
                <a:solidFill>
                  <a:schemeClr val="hlink"/>
                </a:solidFill>
                <a:latin typeface="黑体" panose="02010609060101010101" pitchFamily="49" charset="-122"/>
                <a:ea typeface="黑体" panose="02010609060101010101" pitchFamily="49" charset="-122"/>
              </a:rPr>
              <a:t>A(AL)(AR)</a:t>
            </a:r>
            <a:endParaRPr lang="zh-CN" altLang="en-US" sz="2800" b="0" i="0" dirty="0"/>
          </a:p>
        </p:txBody>
      </p:sp>
      <p:sp>
        <p:nvSpPr>
          <p:cNvPr id="23" name="Text Box 21">
            <a:extLst>
              <a:ext uri="{FF2B5EF4-FFF2-40B4-BE49-F238E27FC236}">
                <a16:creationId xmlns:a16="http://schemas.microsoft.com/office/drawing/2014/main" id="{453EFD7F-69CD-4182-82C1-00B96ECCA688}"/>
              </a:ext>
            </a:extLst>
          </p:cNvPr>
          <p:cNvSpPr txBox="1">
            <a:spLocks noChangeArrowheads="1"/>
          </p:cNvSpPr>
          <p:nvPr/>
        </p:nvSpPr>
        <p:spPr bwMode="auto">
          <a:xfrm>
            <a:off x="471661" y="2140571"/>
            <a:ext cx="3775393" cy="89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0" i="0" dirty="0">
                <a:solidFill>
                  <a:schemeClr val="hlink"/>
                </a:solidFill>
                <a:latin typeface="黑体" panose="02010609060101010101" pitchFamily="49" charset="-122"/>
                <a:ea typeface="黑体" panose="02010609060101010101" pitchFamily="49" charset="-122"/>
              </a:rPr>
              <a:t>过程：</a:t>
            </a:r>
            <a:r>
              <a:rPr lang="en-US" altLang="zh-CN" sz="2800" b="0" i="0" dirty="0">
                <a:solidFill>
                  <a:schemeClr val="hlink"/>
                </a:solidFill>
                <a:latin typeface="黑体" panose="02010609060101010101" pitchFamily="49" charset="-122"/>
                <a:ea typeface="黑体" panose="02010609060101010101" pitchFamily="49" charset="-122"/>
              </a:rPr>
              <a:t>AB(BL)(BR)(AR)</a:t>
            </a:r>
          </a:p>
          <a:p>
            <a:pPr eaLnBrk="1" hangingPunct="1">
              <a:spcBef>
                <a:spcPct val="0"/>
              </a:spcBef>
              <a:buClrTx/>
              <a:buSzTx/>
              <a:buFont typeface="Arial" panose="020B0604020202020204" pitchFamily="34" charset="0"/>
              <a:buNone/>
            </a:pPr>
            <a:endParaRPr lang="zh-CN" altLang="en-US" sz="2400" dirty="0"/>
          </a:p>
        </p:txBody>
      </p:sp>
      <p:sp>
        <p:nvSpPr>
          <p:cNvPr id="24" name="Text Box 21">
            <a:extLst>
              <a:ext uri="{FF2B5EF4-FFF2-40B4-BE49-F238E27FC236}">
                <a16:creationId xmlns:a16="http://schemas.microsoft.com/office/drawing/2014/main" id="{D68BFEA6-8838-4137-B7C3-85D5DDF22BA2}"/>
              </a:ext>
            </a:extLst>
          </p:cNvPr>
          <p:cNvSpPr txBox="1">
            <a:spLocks noChangeArrowheads="1"/>
          </p:cNvSpPr>
          <p:nvPr/>
        </p:nvSpPr>
        <p:spPr bwMode="auto">
          <a:xfrm>
            <a:off x="487288" y="2840381"/>
            <a:ext cx="3236784" cy="89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0" i="0" dirty="0">
                <a:solidFill>
                  <a:schemeClr val="hlink"/>
                </a:solidFill>
                <a:latin typeface="黑体" panose="02010609060101010101" pitchFamily="49" charset="-122"/>
                <a:ea typeface="黑体" panose="02010609060101010101" pitchFamily="49" charset="-122"/>
              </a:rPr>
              <a:t>过程：</a:t>
            </a:r>
            <a:r>
              <a:rPr lang="en-US" altLang="zh-CN" sz="2800" b="0" i="0" dirty="0">
                <a:solidFill>
                  <a:schemeClr val="hlink"/>
                </a:solidFill>
                <a:latin typeface="黑体" panose="02010609060101010101" pitchFamily="49" charset="-122"/>
                <a:ea typeface="黑体" panose="02010609060101010101" pitchFamily="49" charset="-122"/>
              </a:rPr>
              <a:t>ABD(BR)(AR)</a:t>
            </a:r>
          </a:p>
          <a:p>
            <a:pPr eaLnBrk="1" hangingPunct="1">
              <a:spcBef>
                <a:spcPct val="0"/>
              </a:spcBef>
              <a:buClrTx/>
              <a:buSzTx/>
              <a:buFont typeface="Arial" panose="020B0604020202020204" pitchFamily="34" charset="0"/>
              <a:buNone/>
            </a:pPr>
            <a:endParaRPr lang="zh-CN" altLang="en-US" sz="2400" dirty="0"/>
          </a:p>
        </p:txBody>
      </p:sp>
      <p:sp>
        <p:nvSpPr>
          <p:cNvPr id="2" name="Text Box 4">
            <a:extLst>
              <a:ext uri="{FF2B5EF4-FFF2-40B4-BE49-F238E27FC236}">
                <a16:creationId xmlns:a16="http://schemas.microsoft.com/office/drawing/2014/main" id="{C22B4E61-4C0D-4736-A4B7-E49A8EBCB534}"/>
              </a:ext>
            </a:extLst>
          </p:cNvPr>
          <p:cNvSpPr txBox="1">
            <a:spLocks noChangeArrowheads="1"/>
          </p:cNvSpPr>
          <p:nvPr/>
        </p:nvSpPr>
        <p:spPr bwMode="auto">
          <a:xfrm>
            <a:off x="235516" y="200778"/>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二叉树先序遍历举例</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2">
                                            <p:txEl>
                                              <p:pRg st="0" end="0"/>
                                            </p:txEl>
                                          </p:spTgt>
                                        </p:tgtEl>
                                        <p:attrNameLst>
                                          <p:attrName>style.visibility</p:attrName>
                                        </p:attrNameLst>
                                      </p:cBhvr>
                                      <p:to>
                                        <p:strVal val="visible"/>
                                      </p:to>
                                    </p:set>
                                    <p:animEffect transition="in" filter="blinds(horizontal)">
                                      <p:cBhvr>
                                        <p:cTn id="7" dur="500"/>
                                        <p:tgtEl>
                                          <p:spTgt spid="2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3">
                                            <p:txEl>
                                              <p:pRg st="0" end="0"/>
                                            </p:txEl>
                                          </p:spTgt>
                                        </p:tgtEl>
                                        <p:attrNameLst>
                                          <p:attrName>style.visibility</p:attrName>
                                        </p:attrNameLst>
                                      </p:cBhvr>
                                      <p:to>
                                        <p:strVal val="visible"/>
                                      </p:to>
                                    </p:set>
                                    <p:animEffect transition="in" filter="blinds(horizontal)">
                                      <p:cBhvr>
                                        <p:cTn id="12" dur="500"/>
                                        <p:tgtEl>
                                          <p:spTgt spid="2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4">
                                            <p:txEl>
                                              <p:pRg st="0" end="0"/>
                                            </p:txEl>
                                          </p:spTgt>
                                        </p:tgtEl>
                                        <p:attrNameLst>
                                          <p:attrName>style.visibility</p:attrName>
                                        </p:attrNameLst>
                                      </p:cBhvr>
                                      <p:to>
                                        <p:strVal val="visible"/>
                                      </p:to>
                                    </p:set>
                                    <p:animEffect transition="in" filter="blinds(horizontal)">
                                      <p:cBhvr>
                                        <p:cTn id="17" dur="500"/>
                                        <p:tgtEl>
                                          <p:spTgt spid="24">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4837">
                                            <p:txEl>
                                              <p:pRg st="0" end="0"/>
                                            </p:txEl>
                                          </p:spTgt>
                                        </p:tgtEl>
                                        <p:attrNameLst>
                                          <p:attrName>style.visibility</p:attrName>
                                        </p:attrNameLst>
                                      </p:cBhvr>
                                      <p:to>
                                        <p:strVal val="visible"/>
                                      </p:to>
                                    </p:set>
                                    <p:animEffect transition="in" filter="blinds(horizontal)">
                                      <p:cBhvr>
                                        <p:cTn id="22" dur="500"/>
                                        <p:tgtEl>
                                          <p:spTgt spid="3483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Text Box 3">
            <a:extLst>
              <a:ext uri="{FF2B5EF4-FFF2-40B4-BE49-F238E27FC236}">
                <a16:creationId xmlns:a16="http://schemas.microsoft.com/office/drawing/2014/main" id="{E8839609-6368-495A-AF1D-626FB63BDEF3}"/>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B4DD9484-1C0E-4153-BA8C-E9D4A09D9840}" type="slidenum">
              <a:rPr lang="zh-CN" altLang="en-US" sz="2400"/>
              <a:pPr algn="r" eaLnBrk="1" hangingPunct="1">
                <a:spcBef>
                  <a:spcPct val="50000"/>
                </a:spcBef>
                <a:buClrTx/>
                <a:buSzTx/>
                <a:buFont typeface="Arial" panose="020B0604020202020204" pitchFamily="34" charset="0"/>
                <a:buNone/>
              </a:pPr>
              <a:t>35</a:t>
            </a:fld>
            <a:endParaRPr lang="en-US" altLang="zh-CN" sz="2400"/>
          </a:p>
        </p:txBody>
      </p:sp>
      <p:sp>
        <p:nvSpPr>
          <p:cNvPr id="2" name="Text Box 4">
            <a:extLst>
              <a:ext uri="{FF2B5EF4-FFF2-40B4-BE49-F238E27FC236}">
                <a16:creationId xmlns:a16="http://schemas.microsoft.com/office/drawing/2014/main" id="{C22B4E61-4C0D-4736-A4B7-E49A8EBCB534}"/>
              </a:ext>
            </a:extLst>
          </p:cNvPr>
          <p:cNvSpPr txBox="1">
            <a:spLocks noChangeArrowheads="1"/>
          </p:cNvSpPr>
          <p:nvPr/>
        </p:nvSpPr>
        <p:spPr bwMode="auto">
          <a:xfrm>
            <a:off x="235516" y="200778"/>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二叉树先序遍历实现，二叉链表</a:t>
            </a:r>
          </a:p>
        </p:txBody>
      </p:sp>
      <p:sp>
        <p:nvSpPr>
          <p:cNvPr id="4" name="文本框 3">
            <a:extLst>
              <a:ext uri="{FF2B5EF4-FFF2-40B4-BE49-F238E27FC236}">
                <a16:creationId xmlns:a16="http://schemas.microsoft.com/office/drawing/2014/main" id="{1BB892A4-2406-A600-4F23-9047F2B97237}"/>
              </a:ext>
            </a:extLst>
          </p:cNvPr>
          <p:cNvSpPr txBox="1"/>
          <p:nvPr/>
        </p:nvSpPr>
        <p:spPr>
          <a:xfrm>
            <a:off x="611560" y="1340768"/>
            <a:ext cx="8458200" cy="4832092"/>
          </a:xfrm>
          <a:prstGeom prst="rect">
            <a:avLst/>
          </a:prstGeom>
          <a:noFill/>
        </p:spPr>
        <p:txBody>
          <a:bodyPr wrap="square">
            <a:spAutoFit/>
          </a:bodyPr>
          <a:lstStyle/>
          <a:p>
            <a:r>
              <a:rPr lang="en-US" altLang="zh-CN" sz="2800" b="0" i="0" dirty="0">
                <a:solidFill>
                  <a:srgbClr val="008000"/>
                </a:solidFill>
                <a:effectLst/>
                <a:latin typeface="+mn-ea"/>
                <a:ea typeface="+mn-ea"/>
              </a:rPr>
              <a:t>// </a:t>
            </a:r>
            <a:r>
              <a:rPr lang="zh-CN" altLang="en-US" sz="2800" b="0" i="0" dirty="0">
                <a:solidFill>
                  <a:srgbClr val="008000"/>
                </a:solidFill>
                <a:effectLst/>
                <a:latin typeface="+mn-ea"/>
                <a:ea typeface="+mn-ea"/>
              </a:rPr>
              <a:t>先序遍历二叉树</a:t>
            </a:r>
            <a:r>
              <a:rPr lang="en-US" altLang="zh-CN" sz="2800" b="0" i="0" dirty="0">
                <a:solidFill>
                  <a:srgbClr val="008000"/>
                </a:solidFill>
                <a:effectLst/>
                <a:latin typeface="+mn-ea"/>
                <a:ea typeface="+mn-ea"/>
              </a:rPr>
              <a:t>T</a:t>
            </a:r>
            <a:endParaRPr lang="en-US" altLang="zh-CN" sz="2800" b="0" i="0" dirty="0">
              <a:solidFill>
                <a:srgbClr val="000000"/>
              </a:solidFill>
              <a:effectLst/>
              <a:latin typeface="+mn-ea"/>
              <a:ea typeface="+mn-ea"/>
            </a:endParaRPr>
          </a:p>
          <a:p>
            <a:r>
              <a:rPr lang="en-US" altLang="zh-CN" sz="2800" b="0" i="0" dirty="0">
                <a:solidFill>
                  <a:srgbClr val="0000FF"/>
                </a:solidFill>
                <a:effectLst/>
                <a:latin typeface="+mn-ea"/>
                <a:ea typeface="+mn-ea"/>
              </a:rPr>
              <a:t>void</a:t>
            </a:r>
            <a:r>
              <a:rPr lang="en-US" altLang="zh-CN" sz="2800" b="0" i="0" dirty="0">
                <a:solidFill>
                  <a:srgbClr val="000000"/>
                </a:solidFill>
                <a:effectLst/>
                <a:latin typeface="+mn-ea"/>
                <a:ea typeface="+mn-ea"/>
              </a:rPr>
              <a:t> </a:t>
            </a:r>
            <a:r>
              <a:rPr lang="en-US" altLang="zh-CN" sz="2800" b="0" i="0" dirty="0" err="1">
                <a:solidFill>
                  <a:srgbClr val="795E26"/>
                </a:solidFill>
                <a:effectLst/>
                <a:latin typeface="+mn-ea"/>
                <a:ea typeface="+mn-ea"/>
              </a:rPr>
              <a:t>PreOrder</a:t>
            </a:r>
            <a:r>
              <a:rPr lang="en-US" altLang="zh-CN" sz="2800" b="0" i="0" dirty="0">
                <a:solidFill>
                  <a:srgbClr val="000000"/>
                </a:solidFill>
                <a:effectLst/>
                <a:latin typeface="+mn-ea"/>
                <a:ea typeface="+mn-ea"/>
              </a:rPr>
              <a:t>(</a:t>
            </a:r>
            <a:r>
              <a:rPr lang="en-US" altLang="zh-CN" sz="2800" b="0" i="0" dirty="0" err="1">
                <a:solidFill>
                  <a:srgbClr val="267F99"/>
                </a:solidFill>
                <a:effectLst/>
                <a:latin typeface="+mn-ea"/>
                <a:ea typeface="+mn-ea"/>
              </a:rPr>
              <a:t>BiTree</a:t>
            </a:r>
            <a:r>
              <a:rPr lang="en-US" altLang="zh-CN" sz="2800" b="0" i="0" dirty="0">
                <a:solidFill>
                  <a:srgbClr val="000000"/>
                </a:solidFill>
                <a:effectLst/>
                <a:latin typeface="+mn-ea"/>
                <a:ea typeface="+mn-ea"/>
              </a:rPr>
              <a:t> </a:t>
            </a:r>
            <a:r>
              <a:rPr lang="en-US" altLang="zh-CN" sz="2800" b="0" i="0" dirty="0">
                <a:solidFill>
                  <a:srgbClr val="001080"/>
                </a:solidFill>
                <a:effectLst/>
                <a:latin typeface="+mn-ea"/>
                <a:ea typeface="+mn-ea"/>
              </a:rPr>
              <a:t>T</a:t>
            </a:r>
            <a:r>
              <a:rPr lang="en-US" altLang="zh-CN" sz="2800" b="0" i="0" dirty="0">
                <a:solidFill>
                  <a:srgbClr val="000000"/>
                </a:solidFill>
                <a:effectLst/>
                <a:latin typeface="+mn-ea"/>
                <a:ea typeface="+mn-ea"/>
              </a:rPr>
              <a:t>)</a:t>
            </a:r>
          </a:p>
          <a:p>
            <a:r>
              <a:rPr lang="en-US" altLang="zh-CN" sz="2800" b="0" i="0" dirty="0">
                <a:solidFill>
                  <a:srgbClr val="000000"/>
                </a:solidFill>
                <a:effectLst/>
                <a:latin typeface="+mn-ea"/>
                <a:ea typeface="+mn-ea"/>
              </a:rPr>
              <a:t>{</a:t>
            </a:r>
          </a:p>
          <a:p>
            <a:r>
              <a:rPr lang="en-US" altLang="zh-CN" sz="2800" b="0" i="0" dirty="0">
                <a:solidFill>
                  <a:srgbClr val="000000"/>
                </a:solidFill>
                <a:effectLst/>
                <a:latin typeface="+mn-ea"/>
                <a:ea typeface="+mn-ea"/>
              </a:rPr>
              <a:t>    </a:t>
            </a:r>
            <a:r>
              <a:rPr lang="en-US" altLang="zh-CN" sz="2800" b="0" i="0" dirty="0">
                <a:solidFill>
                  <a:srgbClr val="AF00DB"/>
                </a:solidFill>
                <a:effectLst/>
                <a:latin typeface="+mn-ea"/>
                <a:ea typeface="+mn-ea"/>
              </a:rPr>
              <a:t>if</a:t>
            </a:r>
            <a:r>
              <a:rPr lang="en-US" altLang="zh-CN" sz="2800" b="0" i="0" dirty="0">
                <a:solidFill>
                  <a:srgbClr val="000000"/>
                </a:solidFill>
                <a:effectLst/>
                <a:latin typeface="+mn-ea"/>
                <a:ea typeface="+mn-ea"/>
              </a:rPr>
              <a:t>(</a:t>
            </a:r>
            <a:r>
              <a:rPr lang="en-US" altLang="zh-CN" sz="2800" b="0" i="0" dirty="0">
                <a:solidFill>
                  <a:srgbClr val="001080"/>
                </a:solidFill>
                <a:effectLst/>
                <a:latin typeface="+mn-ea"/>
                <a:ea typeface="+mn-ea"/>
              </a:rPr>
              <a:t>T</a:t>
            </a:r>
            <a:r>
              <a:rPr lang="en-US" altLang="zh-CN" sz="2800" b="0" i="0" dirty="0">
                <a:solidFill>
                  <a:srgbClr val="000000"/>
                </a:solidFill>
                <a:effectLst/>
                <a:latin typeface="+mn-ea"/>
                <a:ea typeface="+mn-ea"/>
              </a:rPr>
              <a:t>)   </a:t>
            </a:r>
          </a:p>
          <a:p>
            <a:r>
              <a:rPr lang="en-US" altLang="zh-CN" sz="2800" b="0" i="0" dirty="0">
                <a:solidFill>
                  <a:srgbClr val="000000"/>
                </a:solidFill>
                <a:effectLst/>
                <a:latin typeface="+mn-ea"/>
                <a:ea typeface="+mn-ea"/>
              </a:rPr>
              <a:t>    {</a:t>
            </a:r>
          </a:p>
          <a:p>
            <a:r>
              <a:rPr lang="en-US" altLang="zh-CN" sz="2800" b="0" i="0" dirty="0">
                <a:solidFill>
                  <a:srgbClr val="000000"/>
                </a:solidFill>
                <a:effectLst/>
                <a:latin typeface="+mn-ea"/>
                <a:ea typeface="+mn-ea"/>
              </a:rPr>
              <a:t>        </a:t>
            </a:r>
            <a:r>
              <a:rPr lang="en-US" altLang="zh-CN" sz="2800" b="0" i="0" dirty="0" err="1">
                <a:solidFill>
                  <a:srgbClr val="001080"/>
                </a:solidFill>
                <a:effectLst/>
                <a:latin typeface="+mn-ea"/>
                <a:ea typeface="+mn-ea"/>
              </a:rPr>
              <a:t>cout</a:t>
            </a:r>
            <a:r>
              <a:rPr lang="en-US" altLang="zh-CN" sz="2800" b="0" i="0" dirty="0">
                <a:solidFill>
                  <a:srgbClr val="000000"/>
                </a:solidFill>
                <a:effectLst/>
                <a:latin typeface="+mn-ea"/>
                <a:ea typeface="+mn-ea"/>
              </a:rPr>
              <a:t> </a:t>
            </a:r>
            <a:r>
              <a:rPr lang="en-US" altLang="zh-CN" sz="2800" b="0" i="0" dirty="0">
                <a:solidFill>
                  <a:srgbClr val="795E26"/>
                </a:solidFill>
                <a:effectLst/>
                <a:latin typeface="+mn-ea"/>
                <a:ea typeface="+mn-ea"/>
              </a:rPr>
              <a:t>&lt;&lt;</a:t>
            </a:r>
            <a:r>
              <a:rPr lang="en-US" altLang="zh-CN" sz="2800" b="0" i="0" dirty="0">
                <a:solidFill>
                  <a:srgbClr val="000000"/>
                </a:solidFill>
                <a:effectLst/>
                <a:latin typeface="+mn-ea"/>
                <a:ea typeface="+mn-ea"/>
              </a:rPr>
              <a:t> </a:t>
            </a:r>
            <a:r>
              <a:rPr lang="en-US" altLang="zh-CN" sz="2800" b="0" i="0" dirty="0">
                <a:solidFill>
                  <a:srgbClr val="001080"/>
                </a:solidFill>
                <a:effectLst/>
                <a:latin typeface="+mn-ea"/>
                <a:ea typeface="+mn-ea"/>
              </a:rPr>
              <a:t>T</a:t>
            </a:r>
            <a:r>
              <a:rPr lang="en-US" altLang="zh-CN" sz="2800" b="0" i="0" dirty="0">
                <a:solidFill>
                  <a:srgbClr val="000000"/>
                </a:solidFill>
                <a:effectLst/>
                <a:latin typeface="+mn-ea"/>
                <a:ea typeface="+mn-ea"/>
              </a:rPr>
              <a:t>-&gt;</a:t>
            </a:r>
            <a:r>
              <a:rPr lang="en-US" altLang="zh-CN" sz="2800" b="0" i="0" dirty="0">
                <a:solidFill>
                  <a:srgbClr val="001080"/>
                </a:solidFill>
                <a:effectLst/>
                <a:latin typeface="+mn-ea"/>
                <a:ea typeface="+mn-ea"/>
              </a:rPr>
              <a:t>data</a:t>
            </a:r>
            <a:r>
              <a:rPr lang="en-US" altLang="zh-CN" sz="2800" b="0" i="0" dirty="0">
                <a:solidFill>
                  <a:srgbClr val="000000"/>
                </a:solidFill>
                <a:effectLst/>
                <a:latin typeface="+mn-ea"/>
                <a:ea typeface="+mn-ea"/>
              </a:rPr>
              <a:t> </a:t>
            </a:r>
            <a:r>
              <a:rPr lang="en-US" altLang="zh-CN" sz="2800" b="0" i="0" dirty="0">
                <a:solidFill>
                  <a:srgbClr val="795E26"/>
                </a:solidFill>
                <a:effectLst/>
                <a:latin typeface="+mn-ea"/>
                <a:ea typeface="+mn-ea"/>
              </a:rPr>
              <a:t>&lt;&lt;</a:t>
            </a:r>
            <a:r>
              <a:rPr lang="en-US" altLang="zh-CN" sz="2800" b="0" i="0" dirty="0">
                <a:solidFill>
                  <a:srgbClr val="000000"/>
                </a:solidFill>
                <a:effectLst/>
                <a:latin typeface="+mn-ea"/>
                <a:ea typeface="+mn-ea"/>
              </a:rPr>
              <a:t> </a:t>
            </a:r>
            <a:r>
              <a:rPr lang="en-US" altLang="zh-CN" sz="2800" b="0" i="0" dirty="0">
                <a:solidFill>
                  <a:srgbClr val="A31515"/>
                </a:solidFill>
                <a:effectLst/>
                <a:latin typeface="+mn-ea"/>
                <a:ea typeface="+mn-ea"/>
              </a:rPr>
              <a:t>" "</a:t>
            </a:r>
            <a:r>
              <a:rPr lang="en-US" altLang="zh-CN" sz="2800" b="0" i="0" dirty="0">
                <a:solidFill>
                  <a:srgbClr val="000000"/>
                </a:solidFill>
                <a:effectLst/>
                <a:latin typeface="+mn-ea"/>
                <a:ea typeface="+mn-ea"/>
              </a:rPr>
              <a:t>;</a:t>
            </a:r>
            <a:r>
              <a:rPr lang="en-US" altLang="zh-CN" sz="2800" b="0" i="0" dirty="0">
                <a:solidFill>
                  <a:srgbClr val="008000"/>
                </a:solidFill>
                <a:effectLst/>
                <a:latin typeface="+mn-ea"/>
                <a:ea typeface="+mn-ea"/>
              </a:rPr>
              <a:t>   // </a:t>
            </a:r>
            <a:r>
              <a:rPr lang="zh-CN" altLang="en-US" sz="2800" b="0" i="0" dirty="0">
                <a:solidFill>
                  <a:srgbClr val="008000"/>
                </a:solidFill>
                <a:effectLst/>
                <a:latin typeface="+mn-ea"/>
                <a:ea typeface="+mn-ea"/>
              </a:rPr>
              <a:t>访问</a:t>
            </a:r>
            <a:r>
              <a:rPr lang="en-US" altLang="zh-CN" sz="2800" b="0" i="0" dirty="0">
                <a:solidFill>
                  <a:srgbClr val="008000"/>
                </a:solidFill>
                <a:effectLst/>
                <a:latin typeface="+mn-ea"/>
                <a:ea typeface="+mn-ea"/>
              </a:rPr>
              <a:t>T</a:t>
            </a:r>
            <a:r>
              <a:rPr lang="zh-CN" altLang="en-US" sz="2800" b="0" i="0" dirty="0">
                <a:solidFill>
                  <a:srgbClr val="008000"/>
                </a:solidFill>
                <a:effectLst/>
                <a:latin typeface="+mn-ea"/>
                <a:ea typeface="+mn-ea"/>
              </a:rPr>
              <a:t>结点</a:t>
            </a:r>
            <a:endParaRPr lang="zh-CN" altLang="en-US" sz="2800" b="0" i="0" dirty="0">
              <a:solidFill>
                <a:srgbClr val="000000"/>
              </a:solidFill>
              <a:effectLst/>
              <a:latin typeface="+mn-ea"/>
              <a:ea typeface="+mn-ea"/>
            </a:endParaRPr>
          </a:p>
          <a:p>
            <a:r>
              <a:rPr lang="zh-CN" altLang="en-US" sz="2800" b="0" i="0" dirty="0">
                <a:solidFill>
                  <a:srgbClr val="000000"/>
                </a:solidFill>
                <a:effectLst/>
                <a:latin typeface="+mn-ea"/>
                <a:ea typeface="+mn-ea"/>
              </a:rPr>
              <a:t>        </a:t>
            </a:r>
            <a:r>
              <a:rPr lang="en-US" altLang="zh-CN" sz="2800" b="0" i="0" dirty="0" err="1">
                <a:solidFill>
                  <a:srgbClr val="795E26"/>
                </a:solidFill>
                <a:effectLst/>
                <a:latin typeface="+mn-ea"/>
                <a:ea typeface="+mn-ea"/>
              </a:rPr>
              <a:t>PreOrder</a:t>
            </a:r>
            <a:r>
              <a:rPr lang="en-US" altLang="zh-CN" sz="2800" b="0" i="0" dirty="0">
                <a:solidFill>
                  <a:srgbClr val="000000"/>
                </a:solidFill>
                <a:effectLst/>
                <a:latin typeface="+mn-ea"/>
                <a:ea typeface="+mn-ea"/>
              </a:rPr>
              <a:t>(</a:t>
            </a:r>
            <a:r>
              <a:rPr lang="en-US" altLang="zh-CN" sz="2800" b="0" i="0" dirty="0">
                <a:solidFill>
                  <a:srgbClr val="001080"/>
                </a:solidFill>
                <a:effectLst/>
                <a:latin typeface="+mn-ea"/>
                <a:ea typeface="+mn-ea"/>
              </a:rPr>
              <a:t>T</a:t>
            </a:r>
            <a:r>
              <a:rPr lang="en-US" altLang="zh-CN" sz="2800" b="0" i="0" dirty="0">
                <a:solidFill>
                  <a:srgbClr val="000000"/>
                </a:solidFill>
                <a:effectLst/>
                <a:latin typeface="+mn-ea"/>
                <a:ea typeface="+mn-ea"/>
              </a:rPr>
              <a:t>-&gt;</a:t>
            </a:r>
            <a:r>
              <a:rPr lang="en-US" altLang="zh-CN" sz="2800" b="0" i="0" dirty="0" err="1">
                <a:solidFill>
                  <a:srgbClr val="001080"/>
                </a:solidFill>
                <a:effectLst/>
                <a:latin typeface="+mn-ea"/>
                <a:ea typeface="+mn-ea"/>
              </a:rPr>
              <a:t>lchild</a:t>
            </a:r>
            <a:r>
              <a:rPr lang="en-US" altLang="zh-CN" sz="2800" b="0" i="0" dirty="0">
                <a:solidFill>
                  <a:srgbClr val="000000"/>
                </a:solidFill>
                <a:effectLst/>
                <a:latin typeface="+mn-ea"/>
                <a:ea typeface="+mn-ea"/>
              </a:rPr>
              <a:t>);</a:t>
            </a:r>
            <a:r>
              <a:rPr lang="en-US" altLang="zh-CN" sz="2800" b="0" i="0" dirty="0">
                <a:solidFill>
                  <a:srgbClr val="008000"/>
                </a:solidFill>
                <a:effectLst/>
                <a:latin typeface="+mn-ea"/>
                <a:ea typeface="+mn-ea"/>
              </a:rPr>
              <a:t>      // </a:t>
            </a:r>
            <a:r>
              <a:rPr lang="zh-CN" altLang="en-US" sz="2800" b="0" i="0" dirty="0">
                <a:solidFill>
                  <a:srgbClr val="008000"/>
                </a:solidFill>
                <a:effectLst/>
                <a:latin typeface="+mn-ea"/>
                <a:ea typeface="+mn-ea"/>
              </a:rPr>
              <a:t>遍历左子树</a:t>
            </a:r>
            <a:endParaRPr lang="zh-CN" altLang="en-US" sz="2800" b="0" i="0" dirty="0">
              <a:solidFill>
                <a:srgbClr val="000000"/>
              </a:solidFill>
              <a:effectLst/>
              <a:latin typeface="+mn-ea"/>
              <a:ea typeface="+mn-ea"/>
            </a:endParaRPr>
          </a:p>
          <a:p>
            <a:r>
              <a:rPr lang="zh-CN" altLang="en-US" sz="2800" b="0" i="0" dirty="0">
                <a:solidFill>
                  <a:srgbClr val="000000"/>
                </a:solidFill>
                <a:effectLst/>
                <a:latin typeface="+mn-ea"/>
                <a:ea typeface="+mn-ea"/>
              </a:rPr>
              <a:t>        </a:t>
            </a:r>
            <a:r>
              <a:rPr lang="en-US" altLang="zh-CN" sz="2800" b="0" i="0" dirty="0" err="1">
                <a:solidFill>
                  <a:srgbClr val="795E26"/>
                </a:solidFill>
                <a:effectLst/>
                <a:latin typeface="+mn-ea"/>
                <a:ea typeface="+mn-ea"/>
              </a:rPr>
              <a:t>PreOrder</a:t>
            </a:r>
            <a:r>
              <a:rPr lang="en-US" altLang="zh-CN" sz="2800" b="0" i="0" dirty="0">
                <a:solidFill>
                  <a:srgbClr val="000000"/>
                </a:solidFill>
                <a:effectLst/>
                <a:latin typeface="+mn-ea"/>
                <a:ea typeface="+mn-ea"/>
              </a:rPr>
              <a:t>(</a:t>
            </a:r>
            <a:r>
              <a:rPr lang="en-US" altLang="zh-CN" sz="2800" b="0" i="0" dirty="0">
                <a:solidFill>
                  <a:srgbClr val="001080"/>
                </a:solidFill>
                <a:effectLst/>
                <a:latin typeface="+mn-ea"/>
                <a:ea typeface="+mn-ea"/>
              </a:rPr>
              <a:t>T</a:t>
            </a:r>
            <a:r>
              <a:rPr lang="en-US" altLang="zh-CN" sz="2800" b="0" i="0" dirty="0">
                <a:solidFill>
                  <a:srgbClr val="000000"/>
                </a:solidFill>
                <a:effectLst/>
                <a:latin typeface="+mn-ea"/>
                <a:ea typeface="+mn-ea"/>
              </a:rPr>
              <a:t>-&gt;</a:t>
            </a:r>
            <a:r>
              <a:rPr lang="en-US" altLang="zh-CN" sz="2800" b="0" i="0" dirty="0" err="1">
                <a:solidFill>
                  <a:srgbClr val="001080"/>
                </a:solidFill>
                <a:effectLst/>
                <a:latin typeface="+mn-ea"/>
                <a:ea typeface="+mn-ea"/>
              </a:rPr>
              <a:t>rchild</a:t>
            </a:r>
            <a:r>
              <a:rPr lang="en-US" altLang="zh-CN" sz="2800" b="0" i="0" dirty="0">
                <a:solidFill>
                  <a:srgbClr val="000000"/>
                </a:solidFill>
                <a:effectLst/>
                <a:latin typeface="+mn-ea"/>
                <a:ea typeface="+mn-ea"/>
              </a:rPr>
              <a:t>);</a:t>
            </a:r>
            <a:r>
              <a:rPr lang="en-US" altLang="zh-CN" sz="2800" b="0" i="0" dirty="0">
                <a:solidFill>
                  <a:srgbClr val="008000"/>
                </a:solidFill>
                <a:effectLst/>
                <a:latin typeface="+mn-ea"/>
                <a:ea typeface="+mn-ea"/>
              </a:rPr>
              <a:t>      // </a:t>
            </a:r>
            <a:r>
              <a:rPr lang="zh-CN" altLang="en-US" sz="2800" b="0" i="0" dirty="0">
                <a:solidFill>
                  <a:srgbClr val="008000"/>
                </a:solidFill>
                <a:effectLst/>
                <a:latin typeface="+mn-ea"/>
                <a:ea typeface="+mn-ea"/>
              </a:rPr>
              <a:t>遍历右子树</a:t>
            </a:r>
            <a:endParaRPr lang="zh-CN" altLang="en-US" sz="2800" b="0" i="0" dirty="0">
              <a:solidFill>
                <a:srgbClr val="000000"/>
              </a:solidFill>
              <a:effectLst/>
              <a:latin typeface="+mn-ea"/>
              <a:ea typeface="+mn-ea"/>
            </a:endParaRPr>
          </a:p>
          <a:p>
            <a:r>
              <a:rPr lang="zh-CN" altLang="en-US" sz="2800" b="0" i="0" dirty="0">
                <a:solidFill>
                  <a:srgbClr val="000000"/>
                </a:solidFill>
                <a:effectLst/>
                <a:latin typeface="+mn-ea"/>
                <a:ea typeface="+mn-ea"/>
              </a:rPr>
              <a:t>    </a:t>
            </a:r>
            <a:r>
              <a:rPr lang="en-US" altLang="zh-CN" sz="2800" b="0" i="0" dirty="0">
                <a:solidFill>
                  <a:srgbClr val="000000"/>
                </a:solidFill>
                <a:effectLst/>
                <a:latin typeface="+mn-ea"/>
                <a:ea typeface="+mn-ea"/>
              </a:rPr>
              <a:t>}</a:t>
            </a:r>
          </a:p>
          <a:p>
            <a:r>
              <a:rPr lang="en-US" altLang="zh-CN" sz="2800" b="0" i="0" dirty="0">
                <a:solidFill>
                  <a:srgbClr val="000000"/>
                </a:solidFill>
                <a:effectLst/>
                <a:latin typeface="+mn-ea"/>
                <a:ea typeface="+mn-ea"/>
              </a:rPr>
              <a:t>}</a:t>
            </a:r>
          </a:p>
          <a:p>
            <a:endParaRPr lang="en-US" altLang="zh-CN" sz="2800" b="0" i="0" dirty="0">
              <a:solidFill>
                <a:srgbClr val="000000"/>
              </a:solidFill>
              <a:effectLst/>
              <a:latin typeface="+mn-ea"/>
              <a:ea typeface="+mn-ea"/>
            </a:endParaRPr>
          </a:p>
        </p:txBody>
      </p:sp>
    </p:spTree>
    <p:extLst>
      <p:ext uri="{BB962C8B-B14F-4D97-AF65-F5344CB8AC3E}">
        <p14:creationId xmlns:p14="http://schemas.microsoft.com/office/powerpoint/2010/main" val="3733176948"/>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C7190950-9ADC-80F3-07A8-F3B5C665899D}"/>
              </a:ext>
            </a:extLst>
          </p:cNvPr>
          <p:cNvSpPr txBox="1"/>
          <p:nvPr/>
        </p:nvSpPr>
        <p:spPr>
          <a:xfrm>
            <a:off x="585394" y="1212793"/>
            <a:ext cx="9018105" cy="4524315"/>
          </a:xfrm>
          <a:prstGeom prst="rect">
            <a:avLst/>
          </a:prstGeom>
          <a:noFill/>
        </p:spPr>
        <p:txBody>
          <a:bodyPr wrap="square">
            <a:spAutoFit/>
          </a:bodyPr>
          <a:lstStyle/>
          <a:p>
            <a:r>
              <a:rPr lang="en-US" altLang="zh-CN" sz="2400" b="0" i="0" dirty="0">
                <a:solidFill>
                  <a:srgbClr val="008000"/>
                </a:solidFill>
                <a:effectLst/>
                <a:latin typeface="+mn-ea"/>
                <a:ea typeface="+mn-ea"/>
              </a:rPr>
              <a:t>//</a:t>
            </a:r>
            <a:r>
              <a:rPr lang="zh-CN" altLang="en-US" sz="2400" b="0" i="0" dirty="0">
                <a:solidFill>
                  <a:srgbClr val="008000"/>
                </a:solidFill>
                <a:effectLst/>
                <a:latin typeface="+mn-ea"/>
                <a:ea typeface="+mn-ea"/>
              </a:rPr>
              <a:t>二叉树</a:t>
            </a:r>
            <a:endParaRPr lang="zh-CN" altLang="en-US" sz="2400" b="0" i="0" dirty="0">
              <a:solidFill>
                <a:srgbClr val="000000"/>
              </a:solidFill>
              <a:effectLst/>
              <a:latin typeface="+mn-ea"/>
              <a:ea typeface="+mn-ea"/>
            </a:endParaRPr>
          </a:p>
          <a:p>
            <a:r>
              <a:rPr lang="en-US" altLang="zh-CN" sz="2400" b="0" i="0" dirty="0">
                <a:solidFill>
                  <a:srgbClr val="0000FF"/>
                </a:solidFill>
                <a:effectLst/>
                <a:latin typeface="+mn-ea"/>
                <a:ea typeface="+mn-ea"/>
              </a:rPr>
              <a:t>class</a:t>
            </a:r>
            <a:r>
              <a:rPr lang="en-US" altLang="zh-CN" sz="2400" b="0" i="0" dirty="0">
                <a:solidFill>
                  <a:srgbClr val="000000"/>
                </a:solidFill>
                <a:effectLst/>
                <a:latin typeface="+mn-ea"/>
                <a:ea typeface="+mn-ea"/>
              </a:rPr>
              <a:t> </a:t>
            </a:r>
            <a:r>
              <a:rPr lang="en-US" altLang="zh-CN" sz="2400" b="0" i="0" dirty="0" err="1">
                <a:solidFill>
                  <a:srgbClr val="267F99"/>
                </a:solidFill>
                <a:effectLst/>
                <a:latin typeface="+mn-ea"/>
                <a:ea typeface="+mn-ea"/>
              </a:rPr>
              <a:t>BiTree</a:t>
            </a:r>
            <a:endParaRPr lang="en-US" altLang="zh-CN" sz="2400" b="0" i="0" dirty="0">
              <a:solidFill>
                <a:srgbClr val="000000"/>
              </a:solidFill>
              <a:effectLst/>
              <a:latin typeface="+mn-ea"/>
              <a:ea typeface="+mn-ea"/>
            </a:endParaRPr>
          </a:p>
          <a:p>
            <a:r>
              <a:rPr lang="en-US" altLang="zh-CN" sz="2400" b="0" i="0" dirty="0">
                <a:solidFill>
                  <a:srgbClr val="000000"/>
                </a:solidFill>
                <a:effectLst/>
                <a:latin typeface="+mn-ea"/>
                <a:ea typeface="+mn-ea"/>
              </a:rPr>
              <a:t>{</a:t>
            </a:r>
          </a:p>
          <a:p>
            <a:r>
              <a:rPr lang="en-US" altLang="zh-CN" sz="2400" b="0" i="0" dirty="0">
                <a:solidFill>
                  <a:srgbClr val="000000"/>
                </a:solidFill>
                <a:effectLst/>
                <a:latin typeface="+mn-ea"/>
                <a:ea typeface="+mn-ea"/>
              </a:rPr>
              <a:t>    </a:t>
            </a:r>
            <a:r>
              <a:rPr lang="en-US" altLang="zh-CN" sz="2400" b="0" i="0" dirty="0" err="1">
                <a:solidFill>
                  <a:srgbClr val="267F99"/>
                </a:solidFill>
                <a:effectLst/>
                <a:latin typeface="+mn-ea"/>
                <a:ea typeface="+mn-ea"/>
              </a:rPr>
              <a:t>BiTNode</a:t>
            </a:r>
            <a:r>
              <a:rPr lang="en-US" altLang="zh-CN" sz="2400" b="0" i="0" dirty="0">
                <a:solidFill>
                  <a:srgbClr val="000000"/>
                </a:solidFill>
                <a:effectLst/>
                <a:latin typeface="+mn-ea"/>
                <a:ea typeface="+mn-ea"/>
              </a:rPr>
              <a:t> </a:t>
            </a:r>
            <a:r>
              <a:rPr lang="en-US" altLang="zh-CN" sz="2400" b="0" i="0" dirty="0">
                <a:solidFill>
                  <a:srgbClr val="0000FF"/>
                </a:solidFill>
                <a:effectLst/>
                <a:latin typeface="+mn-ea"/>
                <a:ea typeface="+mn-ea"/>
              </a:rPr>
              <a:t>*</a:t>
            </a:r>
            <a:r>
              <a:rPr lang="en-US" altLang="zh-CN" sz="2400" b="0" i="0" dirty="0">
                <a:solidFill>
                  <a:srgbClr val="001080"/>
                </a:solidFill>
                <a:effectLst/>
                <a:latin typeface="+mn-ea"/>
                <a:ea typeface="+mn-ea"/>
              </a:rPr>
              <a:t>root</a:t>
            </a:r>
            <a:r>
              <a:rPr lang="en-US" altLang="zh-CN" sz="2400" b="0" i="0" dirty="0">
                <a:solidFill>
                  <a:srgbClr val="000000"/>
                </a:solidFill>
                <a:effectLst/>
                <a:latin typeface="+mn-ea"/>
                <a:ea typeface="+mn-ea"/>
              </a:rPr>
              <a:t>;</a:t>
            </a:r>
          </a:p>
          <a:p>
            <a:r>
              <a:rPr lang="en-US" altLang="zh-CN" sz="2400" b="0" i="0" dirty="0">
                <a:solidFill>
                  <a:srgbClr val="000000"/>
                </a:solidFill>
                <a:effectLst/>
                <a:latin typeface="+mn-ea"/>
                <a:ea typeface="+mn-ea"/>
              </a:rPr>
              <a:t>    </a:t>
            </a:r>
            <a:r>
              <a:rPr lang="en-US" altLang="zh-CN" sz="2400" b="0" i="0" dirty="0">
                <a:solidFill>
                  <a:srgbClr val="008000"/>
                </a:solidFill>
                <a:effectLst/>
                <a:latin typeface="+mn-ea"/>
                <a:ea typeface="+mn-ea"/>
              </a:rPr>
              <a:t>//</a:t>
            </a:r>
            <a:r>
              <a:rPr lang="zh-CN" altLang="en-US" sz="2400" b="0" i="0" dirty="0">
                <a:solidFill>
                  <a:srgbClr val="008000"/>
                </a:solidFill>
                <a:effectLst/>
                <a:latin typeface="+mn-ea"/>
                <a:ea typeface="+mn-ea"/>
              </a:rPr>
              <a:t>先序遍历</a:t>
            </a:r>
            <a:r>
              <a:rPr lang="zh-CN" altLang="en-US" sz="2400" b="0" i="0" dirty="0">
                <a:solidFill>
                  <a:srgbClr val="008000"/>
                </a:solidFill>
                <a:latin typeface="+mn-ea"/>
                <a:ea typeface="+mn-ea"/>
              </a:rPr>
              <a:t>树</a:t>
            </a:r>
            <a:r>
              <a:rPr lang="en-US" altLang="zh-CN" sz="2400" b="0" i="0" dirty="0">
                <a:solidFill>
                  <a:srgbClr val="008000"/>
                </a:solidFill>
                <a:latin typeface="+mn-ea"/>
                <a:ea typeface="+mn-ea"/>
              </a:rPr>
              <a:t>T</a:t>
            </a:r>
            <a:r>
              <a:rPr lang="zh-CN" altLang="en-US" sz="2400" b="0" i="0" dirty="0">
                <a:solidFill>
                  <a:srgbClr val="008000"/>
                </a:solidFill>
                <a:latin typeface="+mn-ea"/>
                <a:ea typeface="+mn-ea"/>
              </a:rPr>
              <a:t>，递归实现</a:t>
            </a:r>
            <a:endParaRPr lang="zh-CN" altLang="en-US" sz="2400" b="0" i="0" dirty="0">
              <a:solidFill>
                <a:srgbClr val="000000"/>
              </a:solidFill>
              <a:effectLst/>
              <a:latin typeface="+mn-ea"/>
              <a:ea typeface="+mn-ea"/>
            </a:endParaRPr>
          </a:p>
          <a:p>
            <a:r>
              <a:rPr lang="zh-CN" altLang="en-US" sz="2400" b="0" i="0" dirty="0">
                <a:solidFill>
                  <a:srgbClr val="000000"/>
                </a:solidFill>
                <a:effectLst/>
                <a:latin typeface="+mn-ea"/>
                <a:ea typeface="+mn-ea"/>
              </a:rPr>
              <a:t>    </a:t>
            </a:r>
            <a:r>
              <a:rPr lang="en-US" altLang="zh-CN" sz="2400" b="0" i="0" dirty="0">
                <a:solidFill>
                  <a:srgbClr val="0000FF"/>
                </a:solidFill>
                <a:effectLst/>
                <a:latin typeface="+mn-ea"/>
                <a:ea typeface="+mn-ea"/>
              </a:rPr>
              <a:t>void</a:t>
            </a:r>
            <a:r>
              <a:rPr lang="en-US" altLang="zh-CN" sz="2400" b="0" i="0" dirty="0">
                <a:solidFill>
                  <a:srgbClr val="000000"/>
                </a:solidFill>
                <a:effectLst/>
                <a:latin typeface="+mn-ea"/>
                <a:ea typeface="+mn-ea"/>
              </a:rPr>
              <a:t> </a:t>
            </a:r>
            <a:r>
              <a:rPr lang="en-US" altLang="zh-CN" sz="2400" b="0" i="0" dirty="0" err="1">
                <a:solidFill>
                  <a:srgbClr val="795E26"/>
                </a:solidFill>
                <a:effectLst/>
                <a:latin typeface="+mn-ea"/>
                <a:ea typeface="+mn-ea"/>
              </a:rPr>
              <a:t>PreOrder</a:t>
            </a:r>
            <a:r>
              <a:rPr lang="en-US" altLang="zh-CN" sz="2400" b="0" i="0" dirty="0">
                <a:solidFill>
                  <a:srgbClr val="000000"/>
                </a:solidFill>
                <a:effectLst/>
                <a:latin typeface="+mn-ea"/>
                <a:ea typeface="+mn-ea"/>
              </a:rPr>
              <a:t>(</a:t>
            </a:r>
            <a:r>
              <a:rPr lang="en-US" altLang="zh-CN" sz="2400" b="0" i="0" dirty="0" err="1">
                <a:solidFill>
                  <a:srgbClr val="267F99"/>
                </a:solidFill>
                <a:effectLst/>
                <a:latin typeface="+mn-ea"/>
                <a:ea typeface="+mn-ea"/>
              </a:rPr>
              <a:t>BiTNode</a:t>
            </a:r>
            <a:r>
              <a:rPr lang="en-US" altLang="zh-CN" sz="2400" b="0" i="0" dirty="0">
                <a:solidFill>
                  <a:srgbClr val="000000"/>
                </a:solidFill>
                <a:effectLst/>
                <a:latin typeface="+mn-ea"/>
                <a:ea typeface="+mn-ea"/>
              </a:rPr>
              <a:t> </a:t>
            </a:r>
            <a:r>
              <a:rPr lang="en-US" altLang="zh-CN" sz="2400" b="0" i="0" dirty="0">
                <a:solidFill>
                  <a:srgbClr val="0000FF"/>
                </a:solidFill>
                <a:effectLst/>
                <a:latin typeface="+mn-ea"/>
                <a:ea typeface="+mn-ea"/>
              </a:rPr>
              <a:t>*</a:t>
            </a:r>
            <a:r>
              <a:rPr lang="en-US" altLang="zh-CN" sz="2400" b="0" i="0" dirty="0">
                <a:solidFill>
                  <a:srgbClr val="001080"/>
                </a:solidFill>
                <a:effectLst/>
                <a:latin typeface="+mn-ea"/>
                <a:ea typeface="+mn-ea"/>
              </a:rPr>
              <a:t>T</a:t>
            </a:r>
            <a:r>
              <a:rPr lang="en-US" altLang="zh-CN" sz="2400" b="0" i="0" dirty="0">
                <a:solidFill>
                  <a:srgbClr val="000000"/>
                </a:solidFill>
                <a:effectLst/>
                <a:latin typeface="+mn-ea"/>
                <a:ea typeface="+mn-ea"/>
              </a:rPr>
              <a:t>);</a:t>
            </a:r>
          </a:p>
          <a:p>
            <a:br>
              <a:rPr lang="en-US" altLang="zh-CN" sz="2400" b="0" i="0" dirty="0">
                <a:solidFill>
                  <a:srgbClr val="000000"/>
                </a:solidFill>
                <a:effectLst/>
                <a:latin typeface="+mn-ea"/>
                <a:ea typeface="+mn-ea"/>
              </a:rPr>
            </a:br>
            <a:r>
              <a:rPr lang="en-US" altLang="zh-CN" sz="2400" b="0" i="0" dirty="0">
                <a:solidFill>
                  <a:srgbClr val="0000FF"/>
                </a:solidFill>
                <a:effectLst/>
                <a:latin typeface="+mn-ea"/>
                <a:ea typeface="+mn-ea"/>
              </a:rPr>
              <a:t>public:</a:t>
            </a:r>
            <a:endParaRPr lang="en-US" altLang="zh-CN" sz="2400" b="0" i="0" dirty="0">
              <a:solidFill>
                <a:srgbClr val="000000"/>
              </a:solidFill>
              <a:effectLst/>
              <a:latin typeface="+mn-ea"/>
              <a:ea typeface="+mn-ea"/>
            </a:endParaRPr>
          </a:p>
          <a:p>
            <a:r>
              <a:rPr lang="en-US" altLang="zh-CN" sz="2400" b="0" i="0" dirty="0">
                <a:solidFill>
                  <a:srgbClr val="000000"/>
                </a:solidFill>
                <a:effectLst/>
                <a:latin typeface="+mn-ea"/>
                <a:ea typeface="+mn-ea"/>
              </a:rPr>
              <a:t>    </a:t>
            </a:r>
            <a:r>
              <a:rPr lang="en-US" altLang="zh-CN" sz="2400" b="0" i="0" dirty="0" err="1">
                <a:solidFill>
                  <a:srgbClr val="795E26"/>
                </a:solidFill>
                <a:effectLst/>
                <a:latin typeface="+mn-ea"/>
                <a:ea typeface="+mn-ea"/>
              </a:rPr>
              <a:t>BiTree</a:t>
            </a:r>
            <a:r>
              <a:rPr lang="en-US" altLang="zh-CN" sz="2400" b="0" i="0" dirty="0">
                <a:solidFill>
                  <a:srgbClr val="000000"/>
                </a:solidFill>
                <a:effectLst/>
                <a:latin typeface="+mn-ea"/>
                <a:ea typeface="+mn-ea"/>
              </a:rPr>
              <a:t>();</a:t>
            </a:r>
          </a:p>
          <a:p>
            <a:r>
              <a:rPr lang="en-US" altLang="zh-CN" sz="2400" b="0" i="0" dirty="0">
                <a:solidFill>
                  <a:srgbClr val="000000"/>
                </a:solidFill>
                <a:effectLst/>
                <a:latin typeface="+mn-ea"/>
                <a:ea typeface="+mn-ea"/>
              </a:rPr>
              <a:t>    </a:t>
            </a:r>
            <a:r>
              <a:rPr lang="en-US" altLang="zh-CN" sz="2400" b="0" i="0" dirty="0">
                <a:solidFill>
                  <a:srgbClr val="0000FF"/>
                </a:solidFill>
                <a:effectLst/>
                <a:latin typeface="+mn-ea"/>
                <a:ea typeface="+mn-ea"/>
              </a:rPr>
              <a:t>void</a:t>
            </a:r>
            <a:r>
              <a:rPr lang="en-US" altLang="zh-CN" sz="2400" b="0" i="0" dirty="0">
                <a:solidFill>
                  <a:srgbClr val="000000"/>
                </a:solidFill>
                <a:effectLst/>
                <a:latin typeface="+mn-ea"/>
                <a:ea typeface="+mn-ea"/>
              </a:rPr>
              <a:t> </a:t>
            </a:r>
            <a:r>
              <a:rPr lang="en-US" altLang="zh-CN" sz="2400" b="0" i="0" dirty="0" err="1">
                <a:solidFill>
                  <a:srgbClr val="795E26"/>
                </a:solidFill>
                <a:effectLst/>
                <a:latin typeface="+mn-ea"/>
                <a:ea typeface="+mn-ea"/>
              </a:rPr>
              <a:t>CreateBiTree</a:t>
            </a:r>
            <a:r>
              <a:rPr lang="en-US" altLang="zh-CN" sz="2400" b="0" i="0" dirty="0">
                <a:solidFill>
                  <a:srgbClr val="000000"/>
                </a:solidFill>
                <a:effectLst/>
                <a:latin typeface="+mn-ea"/>
                <a:ea typeface="+mn-ea"/>
              </a:rPr>
              <a:t>(</a:t>
            </a:r>
            <a:r>
              <a:rPr lang="en-US" altLang="zh-CN" sz="2400" b="0" i="0" dirty="0">
                <a:solidFill>
                  <a:srgbClr val="267F99"/>
                </a:solidFill>
                <a:effectLst/>
                <a:latin typeface="+mn-ea"/>
                <a:ea typeface="+mn-ea"/>
              </a:rPr>
              <a:t>string</a:t>
            </a:r>
            <a:r>
              <a:rPr lang="en-US" altLang="zh-CN" sz="2400" b="0" i="0" dirty="0">
                <a:solidFill>
                  <a:srgbClr val="000000"/>
                </a:solidFill>
                <a:effectLst/>
                <a:latin typeface="+mn-ea"/>
                <a:ea typeface="+mn-ea"/>
              </a:rPr>
              <a:t> </a:t>
            </a:r>
            <a:r>
              <a:rPr lang="en-US" altLang="zh-CN" sz="2400" b="0" i="0" dirty="0">
                <a:solidFill>
                  <a:srgbClr val="001080"/>
                </a:solidFill>
                <a:effectLst/>
                <a:latin typeface="+mn-ea"/>
                <a:ea typeface="+mn-ea"/>
              </a:rPr>
              <a:t>s</a:t>
            </a:r>
            <a:r>
              <a:rPr lang="en-US" altLang="zh-CN" sz="2400" b="0" i="0" dirty="0">
                <a:solidFill>
                  <a:srgbClr val="000000"/>
                </a:solidFill>
                <a:effectLst/>
                <a:latin typeface="+mn-ea"/>
                <a:ea typeface="+mn-ea"/>
              </a:rPr>
              <a:t>);</a:t>
            </a:r>
          </a:p>
          <a:p>
            <a:r>
              <a:rPr lang="en-US" altLang="zh-CN" sz="2400" b="0" i="0" dirty="0">
                <a:solidFill>
                  <a:srgbClr val="008000"/>
                </a:solidFill>
                <a:effectLst/>
                <a:latin typeface="+mn-ea"/>
                <a:ea typeface="+mn-ea"/>
              </a:rPr>
              <a:t>    //</a:t>
            </a:r>
            <a:r>
              <a:rPr lang="zh-CN" altLang="en-US" sz="2400" b="0" i="0" dirty="0">
                <a:solidFill>
                  <a:srgbClr val="008000"/>
                </a:solidFill>
                <a:effectLst/>
                <a:latin typeface="+mn-ea"/>
                <a:ea typeface="+mn-ea"/>
              </a:rPr>
              <a:t>先序遍历递归实现的公有接口</a:t>
            </a:r>
            <a:endParaRPr lang="zh-CN" altLang="en-US" sz="2400" b="0" i="0" dirty="0">
              <a:solidFill>
                <a:srgbClr val="000000"/>
              </a:solidFill>
              <a:effectLst/>
              <a:latin typeface="+mn-ea"/>
              <a:ea typeface="+mn-ea"/>
            </a:endParaRPr>
          </a:p>
          <a:p>
            <a:r>
              <a:rPr lang="zh-CN" altLang="en-US" sz="2400" b="0" i="0" dirty="0">
                <a:solidFill>
                  <a:srgbClr val="000000"/>
                </a:solidFill>
                <a:effectLst/>
                <a:latin typeface="+mn-ea"/>
                <a:ea typeface="+mn-ea"/>
              </a:rPr>
              <a:t>    </a:t>
            </a:r>
            <a:r>
              <a:rPr lang="en-US" altLang="zh-CN" sz="2400" b="0" i="0" dirty="0">
                <a:solidFill>
                  <a:srgbClr val="0000FF"/>
                </a:solidFill>
                <a:effectLst/>
                <a:latin typeface="+mn-ea"/>
                <a:ea typeface="+mn-ea"/>
              </a:rPr>
              <a:t>void</a:t>
            </a:r>
            <a:r>
              <a:rPr lang="en-US" altLang="zh-CN" sz="2400" b="0" i="0" dirty="0">
                <a:solidFill>
                  <a:srgbClr val="000000"/>
                </a:solidFill>
                <a:effectLst/>
                <a:latin typeface="+mn-ea"/>
                <a:ea typeface="+mn-ea"/>
              </a:rPr>
              <a:t> </a:t>
            </a:r>
            <a:r>
              <a:rPr lang="en-US" altLang="zh-CN" sz="2400" b="0" i="0" dirty="0" err="1">
                <a:solidFill>
                  <a:srgbClr val="795E26"/>
                </a:solidFill>
                <a:effectLst/>
                <a:latin typeface="+mn-ea"/>
                <a:ea typeface="+mn-ea"/>
              </a:rPr>
              <a:t>PreOrder</a:t>
            </a:r>
            <a:r>
              <a:rPr lang="en-US" altLang="zh-CN" sz="2400" b="0" i="0" dirty="0">
                <a:solidFill>
                  <a:srgbClr val="000000"/>
                </a:solidFill>
                <a:effectLst/>
                <a:latin typeface="+mn-ea"/>
                <a:ea typeface="+mn-ea"/>
              </a:rPr>
              <a:t>();</a:t>
            </a:r>
          </a:p>
        </p:txBody>
      </p:sp>
      <p:sp>
        <p:nvSpPr>
          <p:cNvPr id="2" name="Text Box 4">
            <a:extLst>
              <a:ext uri="{FF2B5EF4-FFF2-40B4-BE49-F238E27FC236}">
                <a16:creationId xmlns:a16="http://schemas.microsoft.com/office/drawing/2014/main" id="{2A0D7D5C-E431-43E2-81EA-33437E95E6AB}"/>
              </a:ext>
            </a:extLst>
          </p:cNvPr>
          <p:cNvSpPr txBox="1">
            <a:spLocks noChangeArrowheads="1"/>
          </p:cNvSpPr>
          <p:nvPr/>
        </p:nvSpPr>
        <p:spPr bwMode="auto">
          <a:xfrm>
            <a:off x="368857" y="222306"/>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二叉树先序遍历实现，类</a:t>
            </a:r>
          </a:p>
        </p:txBody>
      </p:sp>
      <p:sp>
        <p:nvSpPr>
          <p:cNvPr id="3" name="矩形 2">
            <a:extLst>
              <a:ext uri="{FF2B5EF4-FFF2-40B4-BE49-F238E27FC236}">
                <a16:creationId xmlns:a16="http://schemas.microsoft.com/office/drawing/2014/main" id="{C398B663-E3E4-5EA6-C248-D5991EA1EDD8}"/>
              </a:ext>
            </a:extLst>
          </p:cNvPr>
          <p:cNvSpPr/>
          <p:nvPr/>
        </p:nvSpPr>
        <p:spPr bwMode="auto">
          <a:xfrm>
            <a:off x="1115616" y="2996952"/>
            <a:ext cx="4248472" cy="648072"/>
          </a:xfrm>
          <a:prstGeom prst="rect">
            <a:avLst/>
          </a:prstGeom>
          <a:noFill/>
          <a:ln w="317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1" u="none" strike="noStrike" cap="none" normalizeH="0" baseline="0">
              <a:ln>
                <a:noFill/>
              </a:ln>
              <a:solidFill>
                <a:schemeClr val="tx1"/>
              </a:solidFill>
              <a:effectLst/>
              <a:latin typeface="Times New Roman" pitchFamily="18" charset="0"/>
              <a:ea typeface="宋体" pitchFamily="2" charset="-122"/>
            </a:endParaRPr>
          </a:p>
        </p:txBody>
      </p:sp>
      <p:sp>
        <p:nvSpPr>
          <p:cNvPr id="5" name="文本框 4">
            <a:extLst>
              <a:ext uri="{FF2B5EF4-FFF2-40B4-BE49-F238E27FC236}">
                <a16:creationId xmlns:a16="http://schemas.microsoft.com/office/drawing/2014/main" id="{3270C4B0-10F5-3A01-9CC0-F4446FF45F56}"/>
              </a:ext>
            </a:extLst>
          </p:cNvPr>
          <p:cNvSpPr txBox="1"/>
          <p:nvPr/>
        </p:nvSpPr>
        <p:spPr>
          <a:xfrm>
            <a:off x="467544" y="6010041"/>
            <a:ext cx="8458200" cy="523220"/>
          </a:xfrm>
          <a:prstGeom prst="rect">
            <a:avLst/>
          </a:prstGeom>
          <a:noFill/>
        </p:spPr>
        <p:txBody>
          <a:bodyPr wrap="square" rtlCol="0">
            <a:spAutoFit/>
          </a:bodyPr>
          <a:lstStyle/>
          <a:p>
            <a:r>
              <a:rPr lang="zh-CN" altLang="en-US" sz="2800" b="0" i="0" dirty="0">
                <a:solidFill>
                  <a:srgbClr val="FF0000"/>
                </a:solidFill>
                <a:latin typeface="+mn-ea"/>
                <a:ea typeface="+mn-ea"/>
              </a:rPr>
              <a:t>如果类实现，</a:t>
            </a:r>
            <a:r>
              <a:rPr lang="en-US" altLang="zh-CN" sz="2800" b="0" i="0" dirty="0" err="1">
                <a:latin typeface="+mn-ea"/>
                <a:ea typeface="+mn-ea"/>
              </a:rPr>
              <a:t>PreOrder</a:t>
            </a:r>
            <a:r>
              <a:rPr lang="zh-CN" altLang="en-US" sz="2800" b="0" i="0" dirty="0">
                <a:latin typeface="+mn-ea"/>
                <a:ea typeface="+mn-ea"/>
              </a:rPr>
              <a:t>公有接口调</a:t>
            </a:r>
            <a:r>
              <a:rPr lang="en-US" altLang="zh-CN" sz="2800" b="0" i="0" dirty="0" err="1">
                <a:latin typeface="+mn-ea"/>
                <a:ea typeface="+mn-ea"/>
              </a:rPr>
              <a:t>PreOrder</a:t>
            </a:r>
            <a:r>
              <a:rPr lang="en-US" altLang="zh-CN" sz="2800" b="0" i="0" dirty="0">
                <a:latin typeface="+mn-ea"/>
                <a:ea typeface="+mn-ea"/>
              </a:rPr>
              <a:t>(root)</a:t>
            </a:r>
            <a:r>
              <a:rPr lang="zh-CN" altLang="en-US" sz="2800" b="0" i="0" dirty="0">
                <a:latin typeface="+mn-ea"/>
                <a:ea typeface="+mn-ea"/>
              </a:rPr>
              <a:t>。</a:t>
            </a:r>
          </a:p>
        </p:txBody>
      </p:sp>
      <p:sp>
        <p:nvSpPr>
          <p:cNvPr id="4" name="矩形 3">
            <a:extLst>
              <a:ext uri="{FF2B5EF4-FFF2-40B4-BE49-F238E27FC236}">
                <a16:creationId xmlns:a16="http://schemas.microsoft.com/office/drawing/2014/main" id="{E22ABD18-5881-0333-F482-4862A65B082D}"/>
              </a:ext>
            </a:extLst>
          </p:cNvPr>
          <p:cNvSpPr/>
          <p:nvPr/>
        </p:nvSpPr>
        <p:spPr bwMode="auto">
          <a:xfrm>
            <a:off x="1115616" y="5237331"/>
            <a:ext cx="2664296" cy="499777"/>
          </a:xfrm>
          <a:prstGeom prst="rect">
            <a:avLst/>
          </a:prstGeom>
          <a:noFill/>
          <a:ln w="317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1" u="none" strike="noStrike" cap="none" normalizeH="0" baseline="0">
              <a:ln>
                <a:noFill/>
              </a:ln>
              <a:solidFill>
                <a:schemeClr val="tx1"/>
              </a:solidFill>
              <a:effectLst/>
              <a:latin typeface="Times New Roman" pitchFamily="18" charset="0"/>
              <a:ea typeface="宋体" pitchFamily="2" charset="-122"/>
            </a:endParaRPr>
          </a:p>
        </p:txBody>
      </p:sp>
    </p:spTree>
  </p:cSld>
  <p:clrMapOvr>
    <a:masterClrMapping/>
  </p:clrMapOvr>
  <p:transition spd="med">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Text Box 3">
            <a:extLst>
              <a:ext uri="{FF2B5EF4-FFF2-40B4-BE49-F238E27FC236}">
                <a16:creationId xmlns:a16="http://schemas.microsoft.com/office/drawing/2014/main" id="{65A8384F-2FF1-4459-A3B6-C48B1DDE2EC8}"/>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8AC7D2AD-C3AF-42D8-B9FB-858A2D22A97D}" type="slidenum">
              <a:rPr lang="zh-CN" altLang="en-US" sz="2400"/>
              <a:pPr algn="r" eaLnBrk="1" hangingPunct="1">
                <a:spcBef>
                  <a:spcPct val="50000"/>
                </a:spcBef>
                <a:buClrTx/>
                <a:buSzTx/>
                <a:buFont typeface="Arial" panose="020B0604020202020204" pitchFamily="34" charset="0"/>
                <a:buNone/>
              </a:pPr>
              <a:t>37</a:t>
            </a:fld>
            <a:endParaRPr lang="en-US" altLang="zh-CN" sz="2400"/>
          </a:p>
        </p:txBody>
      </p:sp>
      <p:sp>
        <p:nvSpPr>
          <p:cNvPr id="45060" name="Text Box 4">
            <a:extLst>
              <a:ext uri="{FF2B5EF4-FFF2-40B4-BE49-F238E27FC236}">
                <a16:creationId xmlns:a16="http://schemas.microsoft.com/office/drawing/2014/main" id="{E5020F42-ACA3-4035-B023-544BF94B3019}"/>
              </a:ext>
            </a:extLst>
          </p:cNvPr>
          <p:cNvSpPr txBox="1">
            <a:spLocks noChangeArrowheads="1"/>
          </p:cNvSpPr>
          <p:nvPr/>
        </p:nvSpPr>
        <p:spPr bwMode="auto">
          <a:xfrm>
            <a:off x="251520" y="114254"/>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二叉树的中序遍历</a:t>
            </a:r>
          </a:p>
        </p:txBody>
      </p:sp>
      <p:sp>
        <p:nvSpPr>
          <p:cNvPr id="36869" name="Rectangle 5">
            <a:extLst>
              <a:ext uri="{FF2B5EF4-FFF2-40B4-BE49-F238E27FC236}">
                <a16:creationId xmlns:a16="http://schemas.microsoft.com/office/drawing/2014/main" id="{FC81F61E-4D38-4C6B-9554-3F738F2357D0}"/>
              </a:ext>
            </a:extLst>
          </p:cNvPr>
          <p:cNvSpPr>
            <a:spLocks noGrp="1" noChangeArrowheads="1"/>
          </p:cNvSpPr>
          <p:nvPr>
            <p:ph type="body" idx="1"/>
          </p:nvPr>
        </p:nvSpPr>
        <p:spPr>
          <a:xfrm>
            <a:off x="467544" y="1257325"/>
            <a:ext cx="8763000" cy="4038600"/>
          </a:xfrm>
        </p:spPr>
        <p:txBody>
          <a:bodyPr/>
          <a:lstStyle/>
          <a:p>
            <a:pPr eaLnBrk="1" hangingPunct="1">
              <a:spcBef>
                <a:spcPct val="70000"/>
              </a:spcBef>
            </a:pPr>
            <a:r>
              <a:rPr lang="zh-CN" altLang="en-US" dirty="0">
                <a:latin typeface="黑体" panose="02010609060101010101" pitchFamily="49" charset="-122"/>
                <a:ea typeface="黑体" panose="02010609060101010101" pitchFamily="49" charset="-122"/>
              </a:rPr>
              <a:t>算法：</a:t>
            </a:r>
          </a:p>
          <a:p>
            <a:pPr eaLnBrk="1" hangingPunct="1">
              <a:spcBef>
                <a:spcPct val="70000"/>
              </a:spcBef>
              <a:buFont typeface="Wingdings" panose="05000000000000000000" pitchFamily="2" charset="2"/>
              <a:buNone/>
            </a:pPr>
            <a:r>
              <a:rPr lang="zh-CN" altLang="en-US" dirty="0">
                <a:latin typeface="黑体" panose="02010609060101010101" pitchFamily="49" charset="-122"/>
                <a:ea typeface="黑体" panose="02010609060101010101" pitchFamily="49" charset="-122"/>
              </a:rPr>
              <a:t>  若二叉树为空，则返回；否则：</a:t>
            </a:r>
          </a:p>
          <a:p>
            <a:pPr eaLnBrk="1" hangingPunct="1">
              <a:spcBef>
                <a:spcPct val="70000"/>
              </a:spcBef>
              <a:buFont typeface="Wingdings" panose="05000000000000000000" pitchFamily="2" charset="2"/>
              <a:buNone/>
            </a:pPr>
            <a:r>
              <a:rPr lang="en-US" altLang="zh-CN" dirty="0">
                <a:latin typeface="黑体" panose="02010609060101010101" pitchFamily="49" charset="-122"/>
                <a:ea typeface="黑体" panose="02010609060101010101" pitchFamily="49" charset="-122"/>
              </a:rPr>
              <a:t>  1</a:t>
            </a:r>
            <a:r>
              <a:rPr lang="zh-CN" altLang="en-US" dirty="0">
                <a:latin typeface="黑体" panose="02010609060101010101" pitchFamily="49" charset="-122"/>
                <a:ea typeface="黑体" panose="02010609060101010101" pitchFamily="49" charset="-122"/>
              </a:rPr>
              <a:t>. 中序遍历左子树(</a:t>
            </a:r>
            <a:r>
              <a:rPr lang="en-US" altLang="zh-CN" dirty="0">
                <a:latin typeface="黑体" panose="02010609060101010101" pitchFamily="49" charset="-122"/>
                <a:ea typeface="黑体" panose="02010609060101010101" pitchFamily="49" charset="-122"/>
              </a:rPr>
              <a:t>L)</a:t>
            </a:r>
          </a:p>
          <a:p>
            <a:pPr eaLnBrk="1" hangingPunct="1">
              <a:spcBef>
                <a:spcPct val="70000"/>
              </a:spcBef>
              <a:buFont typeface="Wingdings" panose="05000000000000000000" pitchFamily="2" charset="2"/>
              <a:buNone/>
            </a:pPr>
            <a:r>
              <a:rPr lang="en-US" altLang="zh-CN" dirty="0">
                <a:latin typeface="黑体" panose="02010609060101010101" pitchFamily="49" charset="-122"/>
                <a:ea typeface="黑体" panose="02010609060101010101" pitchFamily="49" charset="-122"/>
              </a:rPr>
              <a:t>  2. </a:t>
            </a:r>
            <a:r>
              <a:rPr lang="zh-CN" altLang="en-US" dirty="0">
                <a:latin typeface="黑体" panose="02010609060101010101" pitchFamily="49" charset="-122"/>
                <a:ea typeface="黑体" panose="02010609060101010101" pitchFamily="49" charset="-122"/>
              </a:rPr>
              <a:t>访问根节点(</a:t>
            </a:r>
            <a:r>
              <a:rPr lang="en-US" altLang="zh-CN" dirty="0">
                <a:latin typeface="黑体" panose="02010609060101010101" pitchFamily="49" charset="-122"/>
                <a:ea typeface="黑体" panose="02010609060101010101" pitchFamily="49" charset="-122"/>
              </a:rPr>
              <a:t>D)</a:t>
            </a:r>
          </a:p>
          <a:p>
            <a:pPr eaLnBrk="1" hangingPunct="1">
              <a:spcBef>
                <a:spcPct val="70000"/>
              </a:spcBef>
              <a:buFont typeface="Wingdings" panose="05000000000000000000" pitchFamily="2" charset="2"/>
              <a:buNone/>
            </a:pPr>
            <a:r>
              <a:rPr lang="en-US" altLang="zh-CN" dirty="0">
                <a:latin typeface="黑体" panose="02010609060101010101" pitchFamily="49" charset="-122"/>
                <a:ea typeface="黑体" panose="02010609060101010101" pitchFamily="49" charset="-122"/>
              </a:rPr>
              <a:t>  3</a:t>
            </a:r>
            <a:r>
              <a:rPr lang="zh-CN" altLang="en-US" dirty="0">
                <a:latin typeface="黑体" panose="02010609060101010101" pitchFamily="49" charset="-122"/>
                <a:ea typeface="黑体" panose="02010609060101010101" pitchFamily="49" charset="-122"/>
              </a:rPr>
              <a:t>. 中序遍历右子树(</a:t>
            </a:r>
            <a:r>
              <a:rPr lang="en-US" altLang="zh-CN" dirty="0">
                <a:latin typeface="黑体" panose="02010609060101010101" pitchFamily="49" charset="-122"/>
                <a:ea typeface="黑体" panose="02010609060101010101" pitchFamily="49" charset="-122"/>
              </a:rPr>
              <a:t>R)</a:t>
            </a:r>
          </a:p>
        </p:txBody>
      </p:sp>
      <p:grpSp>
        <p:nvGrpSpPr>
          <p:cNvPr id="45063" name="Group 7">
            <a:extLst>
              <a:ext uri="{FF2B5EF4-FFF2-40B4-BE49-F238E27FC236}">
                <a16:creationId xmlns:a16="http://schemas.microsoft.com/office/drawing/2014/main" id="{48D419AA-D444-44DB-9083-7650EB59D86B}"/>
              </a:ext>
            </a:extLst>
          </p:cNvPr>
          <p:cNvGrpSpPr>
            <a:grpSpLocks/>
          </p:cNvGrpSpPr>
          <p:nvPr/>
        </p:nvGrpSpPr>
        <p:grpSpPr bwMode="auto">
          <a:xfrm>
            <a:off x="6826020" y="4422749"/>
            <a:ext cx="1697038" cy="1177926"/>
            <a:chOff x="0" y="-1"/>
            <a:chExt cx="1069" cy="742"/>
          </a:xfrm>
        </p:grpSpPr>
        <p:sp>
          <p:nvSpPr>
            <p:cNvPr id="45064" name="Line 8">
              <a:extLst>
                <a:ext uri="{FF2B5EF4-FFF2-40B4-BE49-F238E27FC236}">
                  <a16:creationId xmlns:a16="http://schemas.microsoft.com/office/drawing/2014/main" id="{A624928F-CA9E-490F-A846-5B8508B7F4AE}"/>
                </a:ext>
              </a:extLst>
            </p:cNvPr>
            <p:cNvSpPr>
              <a:spLocks noChangeShapeType="1"/>
            </p:cNvSpPr>
            <p:nvPr/>
          </p:nvSpPr>
          <p:spPr bwMode="auto">
            <a:xfrm>
              <a:off x="648" y="192"/>
              <a:ext cx="216"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065" name="Line 9">
              <a:extLst>
                <a:ext uri="{FF2B5EF4-FFF2-40B4-BE49-F238E27FC236}">
                  <a16:creationId xmlns:a16="http://schemas.microsoft.com/office/drawing/2014/main" id="{9B4BC4C1-F435-4BFC-9CD1-6B3071C12044}"/>
                </a:ext>
              </a:extLst>
            </p:cNvPr>
            <p:cNvSpPr>
              <a:spLocks noChangeShapeType="1"/>
            </p:cNvSpPr>
            <p:nvPr/>
          </p:nvSpPr>
          <p:spPr bwMode="auto">
            <a:xfrm flipH="1">
              <a:off x="240" y="192"/>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066" name="Oval 10">
              <a:extLst>
                <a:ext uri="{FF2B5EF4-FFF2-40B4-BE49-F238E27FC236}">
                  <a16:creationId xmlns:a16="http://schemas.microsoft.com/office/drawing/2014/main" id="{B34BF39A-4984-454A-9C07-CD18B5F82333}"/>
                </a:ext>
              </a:extLst>
            </p:cNvPr>
            <p:cNvSpPr>
              <a:spLocks noChangeArrowheads="1"/>
            </p:cNvSpPr>
            <p:nvPr/>
          </p:nvSpPr>
          <p:spPr bwMode="auto">
            <a:xfrm>
              <a:off x="432" y="2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45067" name="Text Box 11">
              <a:extLst>
                <a:ext uri="{FF2B5EF4-FFF2-40B4-BE49-F238E27FC236}">
                  <a16:creationId xmlns:a16="http://schemas.microsoft.com/office/drawing/2014/main" id="{BD9793FF-F1CF-44E4-8620-C5FF0CFADD08}"/>
                </a:ext>
              </a:extLst>
            </p:cNvPr>
            <p:cNvSpPr txBox="1">
              <a:spLocks noChangeArrowheads="1"/>
            </p:cNvSpPr>
            <p:nvPr/>
          </p:nvSpPr>
          <p:spPr bwMode="auto">
            <a:xfrm>
              <a:off x="398" y="-1"/>
              <a:ext cx="344"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i="0" dirty="0">
                  <a:solidFill>
                    <a:schemeClr val="bg1"/>
                  </a:solidFill>
                  <a:latin typeface="Times New Roman" panose="02020603050405020304" pitchFamily="18" charset="0"/>
                </a:rPr>
                <a:t>Ｄ</a:t>
              </a:r>
              <a:endParaRPr lang="zh-CN" altLang="en-US" sz="2400" i="0" dirty="0">
                <a:latin typeface="Times New Roman" panose="02020603050405020304" pitchFamily="18" charset="0"/>
              </a:endParaRPr>
            </a:p>
          </p:txBody>
        </p:sp>
        <p:sp>
          <p:nvSpPr>
            <p:cNvPr id="45068" name="Oval 12">
              <a:extLst>
                <a:ext uri="{FF2B5EF4-FFF2-40B4-BE49-F238E27FC236}">
                  <a16:creationId xmlns:a16="http://schemas.microsoft.com/office/drawing/2014/main" id="{8863C93B-8C3D-4C86-BB9F-E22E887C5F97}"/>
                </a:ext>
              </a:extLst>
            </p:cNvPr>
            <p:cNvSpPr>
              <a:spLocks noChangeArrowheads="1"/>
            </p:cNvSpPr>
            <p:nvPr/>
          </p:nvSpPr>
          <p:spPr bwMode="auto">
            <a:xfrm>
              <a:off x="0" y="45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45069" name="Text Box 13">
              <a:extLst>
                <a:ext uri="{FF2B5EF4-FFF2-40B4-BE49-F238E27FC236}">
                  <a16:creationId xmlns:a16="http://schemas.microsoft.com/office/drawing/2014/main" id="{15430C71-D500-499C-A9A3-5F70082C8380}"/>
                </a:ext>
              </a:extLst>
            </p:cNvPr>
            <p:cNvSpPr txBox="1">
              <a:spLocks noChangeArrowheads="1"/>
            </p:cNvSpPr>
            <p:nvPr/>
          </p:nvSpPr>
          <p:spPr bwMode="auto">
            <a:xfrm>
              <a:off x="48" y="405"/>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chemeClr val="bg1"/>
                  </a:solidFill>
                  <a:latin typeface="Times New Roman" panose="02020603050405020304" pitchFamily="18" charset="0"/>
                </a:rPr>
                <a:t>L</a:t>
              </a:r>
            </a:p>
          </p:txBody>
        </p:sp>
        <p:sp>
          <p:nvSpPr>
            <p:cNvPr id="45070" name="Oval 14">
              <a:extLst>
                <a:ext uri="{FF2B5EF4-FFF2-40B4-BE49-F238E27FC236}">
                  <a16:creationId xmlns:a16="http://schemas.microsoft.com/office/drawing/2014/main" id="{629CAC3A-8AD9-4685-A44D-924350812E65}"/>
                </a:ext>
              </a:extLst>
            </p:cNvPr>
            <p:cNvSpPr>
              <a:spLocks noChangeArrowheads="1"/>
            </p:cNvSpPr>
            <p:nvPr/>
          </p:nvSpPr>
          <p:spPr bwMode="auto">
            <a:xfrm>
              <a:off x="768" y="45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45071" name="Text Box 15">
              <a:extLst>
                <a:ext uri="{FF2B5EF4-FFF2-40B4-BE49-F238E27FC236}">
                  <a16:creationId xmlns:a16="http://schemas.microsoft.com/office/drawing/2014/main" id="{2062EE02-B7D2-49C2-91BB-25DDE062D183}"/>
                </a:ext>
              </a:extLst>
            </p:cNvPr>
            <p:cNvSpPr txBox="1">
              <a:spLocks noChangeArrowheads="1"/>
            </p:cNvSpPr>
            <p:nvPr/>
          </p:nvSpPr>
          <p:spPr bwMode="auto">
            <a:xfrm>
              <a:off x="791" y="405"/>
              <a:ext cx="27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chemeClr val="bg1"/>
                  </a:solidFill>
                  <a:latin typeface="Times New Roman" panose="02020603050405020304" pitchFamily="18" charset="0"/>
                </a:rPr>
                <a:t>R</a:t>
              </a:r>
            </a:p>
          </p:txBody>
        </p:sp>
      </p:grpSp>
      <p:sp>
        <p:nvSpPr>
          <p:cNvPr id="4" name="文本框 3">
            <a:extLst>
              <a:ext uri="{FF2B5EF4-FFF2-40B4-BE49-F238E27FC236}">
                <a16:creationId xmlns:a16="http://schemas.microsoft.com/office/drawing/2014/main" id="{BCEC5FD9-ABE1-4A5D-D20E-137DDCAD0D55}"/>
              </a:ext>
            </a:extLst>
          </p:cNvPr>
          <p:cNvSpPr txBox="1"/>
          <p:nvPr/>
        </p:nvSpPr>
        <p:spPr>
          <a:xfrm>
            <a:off x="899592" y="5517232"/>
            <a:ext cx="5295142" cy="523220"/>
          </a:xfrm>
          <a:prstGeom prst="rect">
            <a:avLst/>
          </a:prstGeom>
          <a:noFill/>
        </p:spPr>
        <p:txBody>
          <a:bodyPr wrap="square" rtlCol="0">
            <a:spAutoFit/>
          </a:bodyPr>
          <a:lstStyle/>
          <a:p>
            <a:r>
              <a:rPr lang="zh-CN" altLang="en-US" sz="2800" b="0" i="0" dirty="0">
                <a:latin typeface="黑体" panose="02010609060101010101" pitchFamily="49" charset="-122"/>
                <a:ea typeface="黑体" panose="02010609060101010101" pitchFamily="49" charset="-122"/>
              </a:rPr>
              <a:t>与先序遍历递归调用顺序不同。</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6869">
                                            <p:txEl>
                                              <p:pRg st="2" end="2"/>
                                            </p:txEl>
                                          </p:spTgt>
                                        </p:tgtEl>
                                        <p:attrNameLst>
                                          <p:attrName>style.visibility</p:attrName>
                                        </p:attrNameLst>
                                      </p:cBhvr>
                                      <p:to>
                                        <p:strVal val="visible"/>
                                      </p:to>
                                    </p:set>
                                    <p:animEffect transition="in" filter="blinds(horizontal)">
                                      <p:cBhvr>
                                        <p:cTn id="7" dur="500"/>
                                        <p:tgtEl>
                                          <p:spTgt spid="36869">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6869">
                                            <p:txEl>
                                              <p:pRg st="3" end="3"/>
                                            </p:txEl>
                                          </p:spTgt>
                                        </p:tgtEl>
                                        <p:attrNameLst>
                                          <p:attrName>style.visibility</p:attrName>
                                        </p:attrNameLst>
                                      </p:cBhvr>
                                      <p:to>
                                        <p:strVal val="visible"/>
                                      </p:to>
                                    </p:set>
                                    <p:animEffect transition="in" filter="blinds(horizontal)">
                                      <p:cBhvr>
                                        <p:cTn id="12" dur="500"/>
                                        <p:tgtEl>
                                          <p:spTgt spid="36869">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6869">
                                            <p:txEl>
                                              <p:pRg st="4" end="4"/>
                                            </p:txEl>
                                          </p:spTgt>
                                        </p:tgtEl>
                                        <p:attrNameLst>
                                          <p:attrName>style.visibility</p:attrName>
                                        </p:attrNameLst>
                                      </p:cBhvr>
                                      <p:to>
                                        <p:strVal val="visible"/>
                                      </p:to>
                                    </p:set>
                                    <p:animEffect transition="in" filter="blinds(horizontal)">
                                      <p:cBhvr>
                                        <p:cTn id="17" dur="500"/>
                                        <p:tgtEl>
                                          <p:spTgt spid="36869">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Text Box 3">
            <a:extLst>
              <a:ext uri="{FF2B5EF4-FFF2-40B4-BE49-F238E27FC236}">
                <a16:creationId xmlns:a16="http://schemas.microsoft.com/office/drawing/2014/main" id="{D30E1913-A365-4B82-BA1D-ADD4084C5601}"/>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00AB50CC-50CB-469F-BBDD-B42887897B46}" type="slidenum">
              <a:rPr lang="zh-CN" altLang="en-US" sz="2400"/>
              <a:pPr algn="r" eaLnBrk="1" hangingPunct="1">
                <a:spcBef>
                  <a:spcPct val="50000"/>
                </a:spcBef>
                <a:buClrTx/>
                <a:buSzTx/>
                <a:buFont typeface="Arial" panose="020B0604020202020204" pitchFamily="34" charset="0"/>
                <a:buNone/>
              </a:pPr>
              <a:t>38</a:t>
            </a:fld>
            <a:endParaRPr lang="en-US" altLang="zh-CN" sz="2400"/>
          </a:p>
        </p:txBody>
      </p:sp>
      <p:grpSp>
        <p:nvGrpSpPr>
          <p:cNvPr id="46087" name="Group 7">
            <a:extLst>
              <a:ext uri="{FF2B5EF4-FFF2-40B4-BE49-F238E27FC236}">
                <a16:creationId xmlns:a16="http://schemas.microsoft.com/office/drawing/2014/main" id="{C88B8930-BC25-4D0E-9DF4-6A174246FBE5}"/>
              </a:ext>
            </a:extLst>
          </p:cNvPr>
          <p:cNvGrpSpPr>
            <a:grpSpLocks/>
          </p:cNvGrpSpPr>
          <p:nvPr/>
        </p:nvGrpSpPr>
        <p:grpSpPr bwMode="auto">
          <a:xfrm>
            <a:off x="5854246" y="1675572"/>
            <a:ext cx="2667000" cy="2514600"/>
            <a:chOff x="0" y="0"/>
            <a:chExt cx="1680" cy="1584"/>
          </a:xfrm>
        </p:grpSpPr>
        <p:sp>
          <p:nvSpPr>
            <p:cNvPr id="46093" name="Line 8">
              <a:extLst>
                <a:ext uri="{FF2B5EF4-FFF2-40B4-BE49-F238E27FC236}">
                  <a16:creationId xmlns:a16="http://schemas.microsoft.com/office/drawing/2014/main" id="{514A3622-2524-4AAA-B3D0-F76A5DB70AC2}"/>
                </a:ext>
              </a:extLst>
            </p:cNvPr>
            <p:cNvSpPr>
              <a:spLocks noChangeShapeType="1"/>
            </p:cNvSpPr>
            <p:nvPr/>
          </p:nvSpPr>
          <p:spPr bwMode="auto">
            <a:xfrm>
              <a:off x="1080" y="171"/>
              <a:ext cx="360"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46094" name="Line 9">
              <a:extLst>
                <a:ext uri="{FF2B5EF4-FFF2-40B4-BE49-F238E27FC236}">
                  <a16:creationId xmlns:a16="http://schemas.microsoft.com/office/drawing/2014/main" id="{A4312054-344F-47AB-BDE4-E51D48EA2B51}"/>
                </a:ext>
              </a:extLst>
            </p:cNvPr>
            <p:cNvSpPr>
              <a:spLocks noChangeShapeType="1"/>
            </p:cNvSpPr>
            <p:nvPr/>
          </p:nvSpPr>
          <p:spPr bwMode="auto">
            <a:xfrm flipH="1">
              <a:off x="576" y="171"/>
              <a:ext cx="360" cy="336"/>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46095" name="Oval 10">
              <a:extLst>
                <a:ext uri="{FF2B5EF4-FFF2-40B4-BE49-F238E27FC236}">
                  <a16:creationId xmlns:a16="http://schemas.microsoft.com/office/drawing/2014/main" id="{C32E4915-758F-4253-9B57-581F6BE03BC4}"/>
                </a:ext>
              </a:extLst>
            </p:cNvPr>
            <p:cNvSpPr>
              <a:spLocks noChangeArrowheads="1"/>
            </p:cNvSpPr>
            <p:nvPr/>
          </p:nvSpPr>
          <p:spPr bwMode="auto">
            <a:xfrm>
              <a:off x="864" y="0"/>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dirty="0">
                  <a:solidFill>
                    <a:schemeClr val="bg1"/>
                  </a:solidFill>
                </a:rPr>
                <a:t>A</a:t>
              </a:r>
            </a:p>
          </p:txBody>
        </p:sp>
        <p:sp>
          <p:nvSpPr>
            <p:cNvPr id="46096" name="Line 11">
              <a:extLst>
                <a:ext uri="{FF2B5EF4-FFF2-40B4-BE49-F238E27FC236}">
                  <a16:creationId xmlns:a16="http://schemas.microsoft.com/office/drawing/2014/main" id="{58597AFF-FBA1-4685-8531-5DE809079BD9}"/>
                </a:ext>
              </a:extLst>
            </p:cNvPr>
            <p:cNvSpPr>
              <a:spLocks noChangeShapeType="1"/>
            </p:cNvSpPr>
            <p:nvPr/>
          </p:nvSpPr>
          <p:spPr bwMode="auto">
            <a:xfrm flipH="1">
              <a:off x="240" y="561"/>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46097" name="Oval 12">
              <a:extLst>
                <a:ext uri="{FF2B5EF4-FFF2-40B4-BE49-F238E27FC236}">
                  <a16:creationId xmlns:a16="http://schemas.microsoft.com/office/drawing/2014/main" id="{8A638631-FDF5-46F6-807E-B854C5090618}"/>
                </a:ext>
              </a:extLst>
            </p:cNvPr>
            <p:cNvSpPr>
              <a:spLocks noChangeArrowheads="1"/>
            </p:cNvSpPr>
            <p:nvPr/>
          </p:nvSpPr>
          <p:spPr bwMode="auto">
            <a:xfrm>
              <a:off x="0" y="822"/>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dirty="0">
                  <a:solidFill>
                    <a:schemeClr val="bg1"/>
                  </a:solidFill>
                </a:rPr>
                <a:t>D</a:t>
              </a:r>
            </a:p>
          </p:txBody>
        </p:sp>
        <p:sp>
          <p:nvSpPr>
            <p:cNvPr id="46098" name="Line 13">
              <a:extLst>
                <a:ext uri="{FF2B5EF4-FFF2-40B4-BE49-F238E27FC236}">
                  <a16:creationId xmlns:a16="http://schemas.microsoft.com/office/drawing/2014/main" id="{D05BDBD5-1E34-4C7B-9FB3-29190DB7BA7A}"/>
                </a:ext>
              </a:extLst>
            </p:cNvPr>
            <p:cNvSpPr>
              <a:spLocks noChangeShapeType="1"/>
            </p:cNvSpPr>
            <p:nvPr/>
          </p:nvSpPr>
          <p:spPr bwMode="auto">
            <a:xfrm>
              <a:off x="528" y="582"/>
              <a:ext cx="216"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46099" name="Oval 14">
              <a:extLst>
                <a:ext uri="{FF2B5EF4-FFF2-40B4-BE49-F238E27FC236}">
                  <a16:creationId xmlns:a16="http://schemas.microsoft.com/office/drawing/2014/main" id="{A5BD58A6-4081-468B-8D2B-A8EA82F8350C}"/>
                </a:ext>
              </a:extLst>
            </p:cNvPr>
            <p:cNvSpPr>
              <a:spLocks noChangeArrowheads="1"/>
            </p:cNvSpPr>
            <p:nvPr/>
          </p:nvSpPr>
          <p:spPr bwMode="auto">
            <a:xfrm>
              <a:off x="336" y="41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dirty="0">
                  <a:solidFill>
                    <a:schemeClr val="bg1"/>
                  </a:solidFill>
                </a:rPr>
                <a:t>B</a:t>
              </a:r>
            </a:p>
          </p:txBody>
        </p:sp>
        <p:sp>
          <p:nvSpPr>
            <p:cNvPr id="46100" name="Line 15">
              <a:extLst>
                <a:ext uri="{FF2B5EF4-FFF2-40B4-BE49-F238E27FC236}">
                  <a16:creationId xmlns:a16="http://schemas.microsoft.com/office/drawing/2014/main" id="{1D67AEB7-FFF2-4ADF-A428-66E83BEF4419}"/>
                </a:ext>
              </a:extLst>
            </p:cNvPr>
            <p:cNvSpPr>
              <a:spLocks noChangeShapeType="1"/>
            </p:cNvSpPr>
            <p:nvPr/>
          </p:nvSpPr>
          <p:spPr bwMode="auto">
            <a:xfrm flipH="1">
              <a:off x="1296" y="582"/>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46101" name="Oval 16">
              <a:extLst>
                <a:ext uri="{FF2B5EF4-FFF2-40B4-BE49-F238E27FC236}">
                  <a16:creationId xmlns:a16="http://schemas.microsoft.com/office/drawing/2014/main" id="{9ABE11DB-789B-4059-B8C6-B277E542DEFD}"/>
                </a:ext>
              </a:extLst>
            </p:cNvPr>
            <p:cNvSpPr>
              <a:spLocks noChangeArrowheads="1"/>
            </p:cNvSpPr>
            <p:nvPr/>
          </p:nvSpPr>
          <p:spPr bwMode="auto">
            <a:xfrm>
              <a:off x="1056" y="84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dirty="0">
                  <a:solidFill>
                    <a:schemeClr val="bg1"/>
                  </a:solidFill>
                </a:rPr>
                <a:t>F</a:t>
              </a:r>
            </a:p>
          </p:txBody>
        </p:sp>
        <p:sp>
          <p:nvSpPr>
            <p:cNvPr id="46102" name="Oval 17">
              <a:extLst>
                <a:ext uri="{FF2B5EF4-FFF2-40B4-BE49-F238E27FC236}">
                  <a16:creationId xmlns:a16="http://schemas.microsoft.com/office/drawing/2014/main" id="{A1A2023B-020C-4D32-A526-075846FCEBD8}"/>
                </a:ext>
              </a:extLst>
            </p:cNvPr>
            <p:cNvSpPr>
              <a:spLocks noChangeArrowheads="1"/>
            </p:cNvSpPr>
            <p:nvPr/>
          </p:nvSpPr>
          <p:spPr bwMode="auto">
            <a:xfrm>
              <a:off x="1392" y="41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dirty="0">
                  <a:solidFill>
                    <a:schemeClr val="bg1"/>
                  </a:solidFill>
                </a:rPr>
                <a:t>C</a:t>
              </a:r>
            </a:p>
          </p:txBody>
        </p:sp>
        <p:sp>
          <p:nvSpPr>
            <p:cNvPr id="46103" name="Line 18">
              <a:extLst>
                <a:ext uri="{FF2B5EF4-FFF2-40B4-BE49-F238E27FC236}">
                  <a16:creationId xmlns:a16="http://schemas.microsoft.com/office/drawing/2014/main" id="{6693396D-82E4-4EEE-838C-FF058C98488C}"/>
                </a:ext>
              </a:extLst>
            </p:cNvPr>
            <p:cNvSpPr>
              <a:spLocks noChangeShapeType="1"/>
            </p:cNvSpPr>
            <p:nvPr/>
          </p:nvSpPr>
          <p:spPr bwMode="auto">
            <a:xfrm flipH="1">
              <a:off x="480" y="1035"/>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46104" name="Oval 19">
              <a:extLst>
                <a:ext uri="{FF2B5EF4-FFF2-40B4-BE49-F238E27FC236}">
                  <a16:creationId xmlns:a16="http://schemas.microsoft.com/office/drawing/2014/main" id="{5C403248-4770-474F-A770-DB0AF4B618AB}"/>
                </a:ext>
              </a:extLst>
            </p:cNvPr>
            <p:cNvSpPr>
              <a:spLocks noChangeArrowheads="1"/>
            </p:cNvSpPr>
            <p:nvPr/>
          </p:nvSpPr>
          <p:spPr bwMode="auto">
            <a:xfrm>
              <a:off x="240" y="1296"/>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dirty="0">
                  <a:solidFill>
                    <a:schemeClr val="bg1"/>
                  </a:solidFill>
                </a:rPr>
                <a:t>G</a:t>
              </a:r>
            </a:p>
          </p:txBody>
        </p:sp>
        <p:sp>
          <p:nvSpPr>
            <p:cNvPr id="46105" name="Oval 20">
              <a:extLst>
                <a:ext uri="{FF2B5EF4-FFF2-40B4-BE49-F238E27FC236}">
                  <a16:creationId xmlns:a16="http://schemas.microsoft.com/office/drawing/2014/main" id="{FF7C0FC9-9315-45C6-A677-9B08A1AE2E10}"/>
                </a:ext>
              </a:extLst>
            </p:cNvPr>
            <p:cNvSpPr>
              <a:spLocks noChangeArrowheads="1"/>
            </p:cNvSpPr>
            <p:nvPr/>
          </p:nvSpPr>
          <p:spPr bwMode="auto">
            <a:xfrm>
              <a:off x="648" y="84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dirty="0">
                  <a:solidFill>
                    <a:schemeClr val="bg1"/>
                  </a:solidFill>
                </a:rPr>
                <a:t>E</a:t>
              </a:r>
            </a:p>
          </p:txBody>
        </p:sp>
      </p:grpSp>
      <p:sp>
        <p:nvSpPr>
          <p:cNvPr id="37909" name="Text Box 21">
            <a:extLst>
              <a:ext uri="{FF2B5EF4-FFF2-40B4-BE49-F238E27FC236}">
                <a16:creationId xmlns:a16="http://schemas.microsoft.com/office/drawing/2014/main" id="{8876A91E-6A1C-4762-A656-0270C4638EB8}"/>
              </a:ext>
            </a:extLst>
          </p:cNvPr>
          <p:cNvSpPr txBox="1">
            <a:spLocks noChangeArrowheads="1"/>
          </p:cNvSpPr>
          <p:nvPr/>
        </p:nvSpPr>
        <p:spPr bwMode="auto">
          <a:xfrm>
            <a:off x="607352" y="3582159"/>
            <a:ext cx="3236784" cy="89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0" i="0" dirty="0">
                <a:solidFill>
                  <a:srgbClr val="FF0000"/>
                </a:solidFill>
                <a:latin typeface="黑体" panose="02010609060101010101" pitchFamily="49" charset="-122"/>
                <a:ea typeface="黑体" panose="02010609060101010101" pitchFamily="49" charset="-122"/>
              </a:rPr>
              <a:t>输出结果：</a:t>
            </a:r>
            <a:r>
              <a:rPr lang="en-US" altLang="zh-CN" sz="2800" b="0" i="0" dirty="0">
                <a:solidFill>
                  <a:srgbClr val="FF0000"/>
                </a:solidFill>
                <a:latin typeface="黑体" panose="02010609060101010101" pitchFamily="49" charset="-122"/>
                <a:ea typeface="黑体" panose="02010609060101010101" pitchFamily="49" charset="-122"/>
              </a:rPr>
              <a:t>DBGEAFC</a:t>
            </a:r>
          </a:p>
          <a:p>
            <a:pPr eaLnBrk="1" hangingPunct="1">
              <a:spcBef>
                <a:spcPct val="0"/>
              </a:spcBef>
              <a:buClrTx/>
              <a:buSzTx/>
              <a:buFont typeface="Arial" panose="020B0604020202020204" pitchFamily="34" charset="0"/>
              <a:buNone/>
            </a:pPr>
            <a:endParaRPr lang="zh-CN" altLang="en-US" sz="2400" dirty="0"/>
          </a:p>
        </p:txBody>
      </p:sp>
      <p:sp>
        <p:nvSpPr>
          <p:cNvPr id="22" name="Text Box 21">
            <a:extLst>
              <a:ext uri="{FF2B5EF4-FFF2-40B4-BE49-F238E27FC236}">
                <a16:creationId xmlns:a16="http://schemas.microsoft.com/office/drawing/2014/main" id="{FB95391E-0383-48B0-9F8D-9ECFE313B35D}"/>
              </a:ext>
            </a:extLst>
          </p:cNvPr>
          <p:cNvSpPr txBox="1">
            <a:spLocks noChangeArrowheads="1"/>
          </p:cNvSpPr>
          <p:nvPr/>
        </p:nvSpPr>
        <p:spPr bwMode="auto">
          <a:xfrm>
            <a:off x="534327" y="1285047"/>
            <a:ext cx="289694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0" i="0" dirty="0">
                <a:solidFill>
                  <a:schemeClr val="hlink"/>
                </a:solidFill>
                <a:latin typeface="黑体" panose="02010609060101010101" pitchFamily="49" charset="-122"/>
                <a:ea typeface="黑体" panose="02010609060101010101" pitchFamily="49" charset="-122"/>
              </a:rPr>
              <a:t>过程</a:t>
            </a:r>
            <a:r>
              <a:rPr lang="zh-CN" altLang="en-US" sz="2800" b="0" i="0" dirty="0">
                <a:solidFill>
                  <a:schemeClr val="hlink"/>
                </a:solidFill>
                <a:latin typeface="黑体" panose="02010609060101010101" pitchFamily="49" charset="-122"/>
                <a:ea typeface="黑体" panose="02010609060101010101" pitchFamily="49" charset="-122"/>
                <a:sym typeface="Wingdings" panose="05000000000000000000" pitchFamily="2" charset="2"/>
              </a:rPr>
              <a:t>：</a:t>
            </a:r>
            <a:r>
              <a:rPr lang="en-US" altLang="zh-CN" sz="2800" b="0" i="0" dirty="0">
                <a:solidFill>
                  <a:schemeClr val="hlink"/>
                </a:solidFill>
                <a:latin typeface="黑体" panose="02010609060101010101" pitchFamily="49" charset="-122"/>
                <a:ea typeface="黑体" panose="02010609060101010101" pitchFamily="49" charset="-122"/>
                <a:sym typeface="Wingdings" panose="05000000000000000000" pitchFamily="2" charset="2"/>
              </a:rPr>
              <a:t>(AL)A(AR)</a:t>
            </a:r>
            <a:endParaRPr lang="zh-CN" altLang="en-US" sz="2800" b="0" i="0" dirty="0"/>
          </a:p>
        </p:txBody>
      </p:sp>
      <p:sp>
        <p:nvSpPr>
          <p:cNvPr id="23" name="Text Box 21">
            <a:extLst>
              <a:ext uri="{FF2B5EF4-FFF2-40B4-BE49-F238E27FC236}">
                <a16:creationId xmlns:a16="http://schemas.microsoft.com/office/drawing/2014/main" id="{D00E7132-2FE3-4991-8D3C-4F865C273BA9}"/>
              </a:ext>
            </a:extLst>
          </p:cNvPr>
          <p:cNvSpPr txBox="1">
            <a:spLocks noChangeArrowheads="1"/>
          </p:cNvSpPr>
          <p:nvPr/>
        </p:nvSpPr>
        <p:spPr bwMode="auto">
          <a:xfrm>
            <a:off x="535915" y="1780347"/>
            <a:ext cx="377539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0" i="0" dirty="0">
                <a:solidFill>
                  <a:schemeClr val="hlink"/>
                </a:solidFill>
                <a:latin typeface="黑体" panose="02010609060101010101" pitchFamily="49" charset="-122"/>
                <a:ea typeface="黑体" panose="02010609060101010101" pitchFamily="49" charset="-122"/>
              </a:rPr>
              <a:t>过程</a:t>
            </a:r>
            <a:r>
              <a:rPr lang="zh-CN" altLang="en-US" sz="2800" b="0" i="0" dirty="0">
                <a:solidFill>
                  <a:schemeClr val="hlink"/>
                </a:solidFill>
                <a:latin typeface="黑体" panose="02010609060101010101" pitchFamily="49" charset="-122"/>
                <a:ea typeface="黑体" panose="02010609060101010101" pitchFamily="49" charset="-122"/>
                <a:sym typeface="Wingdings" panose="05000000000000000000" pitchFamily="2" charset="2"/>
              </a:rPr>
              <a:t>：</a:t>
            </a:r>
            <a:r>
              <a:rPr lang="en-US" altLang="zh-CN" sz="2800" b="0" i="0" dirty="0">
                <a:solidFill>
                  <a:schemeClr val="hlink"/>
                </a:solidFill>
                <a:latin typeface="黑体" panose="02010609060101010101" pitchFamily="49" charset="-122"/>
                <a:ea typeface="黑体" panose="02010609060101010101" pitchFamily="49" charset="-122"/>
                <a:sym typeface="Wingdings" panose="05000000000000000000" pitchFamily="2" charset="2"/>
              </a:rPr>
              <a:t>(BL)B(BR)A(AR)</a:t>
            </a:r>
            <a:endParaRPr lang="zh-CN" altLang="en-US" sz="2800" b="0" i="0" dirty="0"/>
          </a:p>
        </p:txBody>
      </p:sp>
      <p:sp>
        <p:nvSpPr>
          <p:cNvPr id="24" name="Text Box 21">
            <a:extLst>
              <a:ext uri="{FF2B5EF4-FFF2-40B4-BE49-F238E27FC236}">
                <a16:creationId xmlns:a16="http://schemas.microsoft.com/office/drawing/2014/main" id="{C41351CF-B778-4591-A821-5FD1EBB735CB}"/>
              </a:ext>
            </a:extLst>
          </p:cNvPr>
          <p:cNvSpPr txBox="1">
            <a:spLocks noChangeArrowheads="1"/>
          </p:cNvSpPr>
          <p:nvPr/>
        </p:nvSpPr>
        <p:spPr bwMode="auto">
          <a:xfrm>
            <a:off x="535915" y="2356609"/>
            <a:ext cx="413446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0" i="0" dirty="0">
                <a:solidFill>
                  <a:schemeClr val="hlink"/>
                </a:solidFill>
                <a:latin typeface="黑体" panose="02010609060101010101" pitchFamily="49" charset="-122"/>
                <a:ea typeface="黑体" panose="02010609060101010101" pitchFamily="49" charset="-122"/>
              </a:rPr>
              <a:t>过程</a:t>
            </a:r>
            <a:r>
              <a:rPr lang="zh-CN" altLang="en-US" sz="2800" b="0" i="0" dirty="0">
                <a:solidFill>
                  <a:schemeClr val="hlink"/>
                </a:solidFill>
                <a:latin typeface="黑体" panose="02010609060101010101" pitchFamily="49" charset="-122"/>
                <a:ea typeface="黑体" panose="02010609060101010101" pitchFamily="49" charset="-122"/>
                <a:sym typeface="Wingdings" panose="05000000000000000000" pitchFamily="2" charset="2"/>
              </a:rPr>
              <a:t>：</a:t>
            </a:r>
            <a:r>
              <a:rPr lang="en-US" altLang="zh-CN" sz="2800" b="0" i="0" dirty="0">
                <a:solidFill>
                  <a:schemeClr val="hlink"/>
                </a:solidFill>
                <a:latin typeface="黑体" panose="02010609060101010101" pitchFamily="49" charset="-122"/>
                <a:ea typeface="黑体" panose="02010609060101010101" pitchFamily="49" charset="-122"/>
                <a:sym typeface="Wingdings" panose="05000000000000000000" pitchFamily="2" charset="2"/>
              </a:rPr>
              <a:t>DB(EL)E(ER)A(AR)</a:t>
            </a:r>
            <a:endParaRPr lang="zh-CN" altLang="en-US" sz="2800" b="0" i="0" dirty="0"/>
          </a:p>
        </p:txBody>
      </p:sp>
      <p:sp>
        <p:nvSpPr>
          <p:cNvPr id="25" name="Text Box 21">
            <a:extLst>
              <a:ext uri="{FF2B5EF4-FFF2-40B4-BE49-F238E27FC236}">
                <a16:creationId xmlns:a16="http://schemas.microsoft.com/office/drawing/2014/main" id="{2E7D7A93-EBAF-4EDD-9751-BCEE29F87EC3}"/>
              </a:ext>
            </a:extLst>
          </p:cNvPr>
          <p:cNvSpPr txBox="1">
            <a:spLocks noChangeArrowheads="1"/>
          </p:cNvSpPr>
          <p:nvPr/>
        </p:nvSpPr>
        <p:spPr bwMode="auto">
          <a:xfrm>
            <a:off x="558140" y="2932872"/>
            <a:ext cx="287771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0" i="0" dirty="0">
                <a:solidFill>
                  <a:schemeClr val="hlink"/>
                </a:solidFill>
                <a:latin typeface="黑体" panose="02010609060101010101" pitchFamily="49" charset="-122"/>
                <a:ea typeface="黑体" panose="02010609060101010101" pitchFamily="49" charset="-122"/>
              </a:rPr>
              <a:t>过程</a:t>
            </a:r>
            <a:r>
              <a:rPr lang="zh-CN" altLang="en-US" sz="2800" b="0" i="0" dirty="0">
                <a:solidFill>
                  <a:schemeClr val="hlink"/>
                </a:solidFill>
                <a:latin typeface="黑体" panose="02010609060101010101" pitchFamily="49" charset="-122"/>
                <a:ea typeface="黑体" panose="02010609060101010101" pitchFamily="49" charset="-122"/>
                <a:sym typeface="Wingdings" panose="05000000000000000000" pitchFamily="2" charset="2"/>
              </a:rPr>
              <a:t>：</a:t>
            </a:r>
            <a:r>
              <a:rPr lang="en-US" altLang="zh-CN" sz="2800" b="0" i="0" dirty="0">
                <a:solidFill>
                  <a:schemeClr val="hlink"/>
                </a:solidFill>
                <a:latin typeface="黑体" panose="02010609060101010101" pitchFamily="49" charset="-122"/>
                <a:ea typeface="黑体" panose="02010609060101010101" pitchFamily="49" charset="-122"/>
                <a:sym typeface="Wingdings" panose="05000000000000000000" pitchFamily="2" charset="2"/>
              </a:rPr>
              <a:t>DBGEA(AR)</a:t>
            </a:r>
            <a:endParaRPr lang="zh-CN" altLang="en-US" sz="2800" b="0" i="0" dirty="0"/>
          </a:p>
        </p:txBody>
      </p:sp>
      <p:sp>
        <p:nvSpPr>
          <p:cNvPr id="2" name="Text Box 4">
            <a:extLst>
              <a:ext uri="{FF2B5EF4-FFF2-40B4-BE49-F238E27FC236}">
                <a16:creationId xmlns:a16="http://schemas.microsoft.com/office/drawing/2014/main" id="{8A6173A5-ADBE-457A-A999-A04D4627D216}"/>
              </a:ext>
            </a:extLst>
          </p:cNvPr>
          <p:cNvSpPr txBox="1">
            <a:spLocks noChangeArrowheads="1"/>
          </p:cNvSpPr>
          <p:nvPr/>
        </p:nvSpPr>
        <p:spPr bwMode="auto">
          <a:xfrm>
            <a:off x="342900" y="194966"/>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二叉树中序遍历举例</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2">
                                            <p:txEl>
                                              <p:pRg st="0" end="0"/>
                                            </p:txEl>
                                          </p:spTgt>
                                        </p:tgtEl>
                                        <p:attrNameLst>
                                          <p:attrName>style.visibility</p:attrName>
                                        </p:attrNameLst>
                                      </p:cBhvr>
                                      <p:to>
                                        <p:strVal val="visible"/>
                                      </p:to>
                                    </p:set>
                                    <p:animEffect transition="in" filter="blinds(horizontal)">
                                      <p:cBhvr>
                                        <p:cTn id="7" dur="500"/>
                                        <p:tgtEl>
                                          <p:spTgt spid="2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3">
                                            <p:txEl>
                                              <p:pRg st="0" end="0"/>
                                            </p:txEl>
                                          </p:spTgt>
                                        </p:tgtEl>
                                        <p:attrNameLst>
                                          <p:attrName>style.visibility</p:attrName>
                                        </p:attrNameLst>
                                      </p:cBhvr>
                                      <p:to>
                                        <p:strVal val="visible"/>
                                      </p:to>
                                    </p:set>
                                    <p:animEffect transition="in" filter="blinds(horizontal)">
                                      <p:cBhvr>
                                        <p:cTn id="12" dur="500"/>
                                        <p:tgtEl>
                                          <p:spTgt spid="2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4">
                                            <p:txEl>
                                              <p:pRg st="0" end="0"/>
                                            </p:txEl>
                                          </p:spTgt>
                                        </p:tgtEl>
                                        <p:attrNameLst>
                                          <p:attrName>style.visibility</p:attrName>
                                        </p:attrNameLst>
                                      </p:cBhvr>
                                      <p:to>
                                        <p:strVal val="visible"/>
                                      </p:to>
                                    </p:set>
                                    <p:animEffect transition="in" filter="blinds(horizontal)">
                                      <p:cBhvr>
                                        <p:cTn id="17" dur="500"/>
                                        <p:tgtEl>
                                          <p:spTgt spid="24">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5">
                                            <p:txEl>
                                              <p:pRg st="0" end="0"/>
                                            </p:txEl>
                                          </p:spTgt>
                                        </p:tgtEl>
                                        <p:attrNameLst>
                                          <p:attrName>style.visibility</p:attrName>
                                        </p:attrNameLst>
                                      </p:cBhvr>
                                      <p:to>
                                        <p:strVal val="visible"/>
                                      </p:to>
                                    </p:set>
                                    <p:animEffect transition="in" filter="blinds(horizontal)">
                                      <p:cBhvr>
                                        <p:cTn id="22" dur="500"/>
                                        <p:tgtEl>
                                          <p:spTgt spid="25">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37909">
                                            <p:txEl>
                                              <p:pRg st="0" end="0"/>
                                            </p:txEl>
                                          </p:spTgt>
                                        </p:tgtEl>
                                        <p:attrNameLst>
                                          <p:attrName>style.visibility</p:attrName>
                                        </p:attrNameLst>
                                      </p:cBhvr>
                                      <p:to>
                                        <p:strVal val="visible"/>
                                      </p:to>
                                    </p:set>
                                    <p:animEffect transition="in" filter="blinds(horizontal)">
                                      <p:cBhvr>
                                        <p:cTn id="27" dur="500"/>
                                        <p:tgtEl>
                                          <p:spTgt spid="3790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Text Box 3">
            <a:extLst>
              <a:ext uri="{FF2B5EF4-FFF2-40B4-BE49-F238E27FC236}">
                <a16:creationId xmlns:a16="http://schemas.microsoft.com/office/drawing/2014/main" id="{757201F1-6311-4AA5-A273-F19D1043F977}"/>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A46D625C-7B92-4CA6-B359-3755558CA5C5}" type="slidenum">
              <a:rPr lang="zh-CN" altLang="en-US" sz="2400"/>
              <a:pPr algn="r" eaLnBrk="1" hangingPunct="1">
                <a:spcBef>
                  <a:spcPct val="50000"/>
                </a:spcBef>
                <a:buClrTx/>
                <a:buSzTx/>
                <a:buFont typeface="Arial" panose="020B0604020202020204" pitchFamily="34" charset="0"/>
                <a:buNone/>
              </a:pPr>
              <a:t>39</a:t>
            </a:fld>
            <a:endParaRPr lang="en-US" altLang="zh-CN" sz="2400"/>
          </a:p>
        </p:txBody>
      </p:sp>
      <p:sp>
        <p:nvSpPr>
          <p:cNvPr id="39941" name="Rectangle 5">
            <a:extLst>
              <a:ext uri="{FF2B5EF4-FFF2-40B4-BE49-F238E27FC236}">
                <a16:creationId xmlns:a16="http://schemas.microsoft.com/office/drawing/2014/main" id="{58C9539E-7370-4293-A1EE-0A9C81C49D1E}"/>
              </a:ext>
            </a:extLst>
          </p:cNvPr>
          <p:cNvSpPr>
            <a:spLocks noGrp="1" noChangeArrowheads="1"/>
          </p:cNvSpPr>
          <p:nvPr>
            <p:ph type="body" idx="1"/>
          </p:nvPr>
        </p:nvSpPr>
        <p:spPr>
          <a:xfrm>
            <a:off x="539552" y="1272817"/>
            <a:ext cx="8763000" cy="4038600"/>
          </a:xfrm>
        </p:spPr>
        <p:txBody>
          <a:bodyPr/>
          <a:lstStyle/>
          <a:p>
            <a:pPr eaLnBrk="1" hangingPunct="1">
              <a:spcBef>
                <a:spcPct val="70000"/>
              </a:spcBef>
            </a:pPr>
            <a:r>
              <a:rPr lang="zh-CN" altLang="en-US" sz="3100" b="1" dirty="0">
                <a:latin typeface="黑体" panose="02010609060101010101" pitchFamily="49" charset="-122"/>
                <a:ea typeface="黑体" panose="02010609060101010101" pitchFamily="49" charset="-122"/>
              </a:rPr>
              <a:t>算法：</a:t>
            </a:r>
          </a:p>
          <a:p>
            <a:pPr eaLnBrk="1" hangingPunct="1">
              <a:spcBef>
                <a:spcPct val="70000"/>
              </a:spcBef>
              <a:buFont typeface="Wingdings" panose="05000000000000000000" pitchFamily="2" charset="2"/>
              <a:buNone/>
            </a:pPr>
            <a:r>
              <a:rPr lang="zh-CN" altLang="en-US" sz="3100" b="1" dirty="0">
                <a:latin typeface="黑体" panose="02010609060101010101" pitchFamily="49" charset="-122"/>
                <a:ea typeface="黑体" panose="02010609060101010101" pitchFamily="49" charset="-122"/>
              </a:rPr>
              <a:t>  </a:t>
            </a:r>
            <a:r>
              <a:rPr lang="zh-CN" altLang="en-US" dirty="0">
                <a:latin typeface="黑体" panose="02010609060101010101" pitchFamily="49" charset="-122"/>
                <a:ea typeface="黑体" panose="02010609060101010101" pitchFamily="49" charset="-122"/>
              </a:rPr>
              <a:t>若二叉树为空，则返回；否则：</a:t>
            </a:r>
          </a:p>
          <a:p>
            <a:pPr eaLnBrk="1" hangingPunct="1">
              <a:spcBef>
                <a:spcPct val="70000"/>
              </a:spcBef>
              <a:buFont typeface="Wingdings" panose="05000000000000000000" pitchFamily="2" charset="2"/>
              <a:buNone/>
            </a:pPr>
            <a:r>
              <a:rPr lang="en-US" altLang="zh-CN" dirty="0">
                <a:latin typeface="黑体" panose="02010609060101010101" pitchFamily="49" charset="-122"/>
                <a:ea typeface="黑体" panose="02010609060101010101" pitchFamily="49" charset="-122"/>
              </a:rPr>
              <a:t>  1</a:t>
            </a:r>
            <a:r>
              <a:rPr lang="zh-CN" altLang="en-US" dirty="0">
                <a:latin typeface="黑体" panose="02010609060101010101" pitchFamily="49" charset="-122"/>
                <a:ea typeface="黑体" panose="02010609060101010101" pitchFamily="49" charset="-122"/>
              </a:rPr>
              <a:t>.后序遍历左子树(</a:t>
            </a:r>
            <a:r>
              <a:rPr lang="en-US" altLang="zh-CN" dirty="0">
                <a:latin typeface="黑体" panose="02010609060101010101" pitchFamily="49" charset="-122"/>
                <a:ea typeface="黑体" panose="02010609060101010101" pitchFamily="49" charset="-122"/>
              </a:rPr>
              <a:t>L)</a:t>
            </a:r>
          </a:p>
          <a:p>
            <a:pPr eaLnBrk="1" hangingPunct="1">
              <a:spcBef>
                <a:spcPct val="70000"/>
              </a:spcBef>
              <a:buFont typeface="Wingdings" panose="05000000000000000000" pitchFamily="2" charset="2"/>
              <a:buNone/>
            </a:pPr>
            <a:r>
              <a:rPr lang="en-US" altLang="zh-CN" dirty="0">
                <a:latin typeface="黑体" panose="02010609060101010101" pitchFamily="49" charset="-122"/>
                <a:ea typeface="黑体" panose="02010609060101010101" pitchFamily="49" charset="-122"/>
              </a:rPr>
              <a:t>  2</a:t>
            </a:r>
            <a:r>
              <a:rPr lang="zh-CN" altLang="en-US" dirty="0">
                <a:latin typeface="黑体" panose="02010609060101010101" pitchFamily="49" charset="-122"/>
                <a:ea typeface="黑体" panose="02010609060101010101" pitchFamily="49" charset="-122"/>
              </a:rPr>
              <a:t>.后序遍历右子树(</a:t>
            </a:r>
            <a:r>
              <a:rPr lang="en-US" altLang="zh-CN" dirty="0">
                <a:latin typeface="黑体" panose="02010609060101010101" pitchFamily="49" charset="-122"/>
                <a:ea typeface="黑体" panose="02010609060101010101" pitchFamily="49" charset="-122"/>
              </a:rPr>
              <a:t>R)</a:t>
            </a:r>
          </a:p>
          <a:p>
            <a:pPr eaLnBrk="1" hangingPunct="1">
              <a:spcBef>
                <a:spcPct val="70000"/>
              </a:spcBef>
              <a:buFont typeface="Wingdings" panose="05000000000000000000" pitchFamily="2" charset="2"/>
              <a:buNone/>
            </a:pPr>
            <a:r>
              <a:rPr lang="en-US" altLang="zh-CN" dirty="0">
                <a:latin typeface="黑体" panose="02010609060101010101" pitchFamily="49" charset="-122"/>
                <a:ea typeface="黑体" panose="02010609060101010101" pitchFamily="49" charset="-122"/>
              </a:rPr>
              <a:t>  3.</a:t>
            </a:r>
            <a:r>
              <a:rPr lang="zh-CN" altLang="en-US" dirty="0">
                <a:latin typeface="黑体" panose="02010609060101010101" pitchFamily="49" charset="-122"/>
                <a:ea typeface="黑体" panose="02010609060101010101" pitchFamily="49" charset="-122"/>
              </a:rPr>
              <a:t>访问根节点(</a:t>
            </a:r>
            <a:r>
              <a:rPr lang="en-US" altLang="zh-CN" dirty="0">
                <a:latin typeface="黑体" panose="02010609060101010101" pitchFamily="49" charset="-122"/>
                <a:ea typeface="黑体" panose="02010609060101010101" pitchFamily="49" charset="-122"/>
              </a:rPr>
              <a:t>D)</a:t>
            </a:r>
          </a:p>
        </p:txBody>
      </p:sp>
      <p:grpSp>
        <p:nvGrpSpPr>
          <p:cNvPr id="47111" name="Group 7">
            <a:extLst>
              <a:ext uri="{FF2B5EF4-FFF2-40B4-BE49-F238E27FC236}">
                <a16:creationId xmlns:a16="http://schemas.microsoft.com/office/drawing/2014/main" id="{BF579AE8-5494-42E0-856D-DEA8FB15605E}"/>
              </a:ext>
            </a:extLst>
          </p:cNvPr>
          <p:cNvGrpSpPr>
            <a:grpSpLocks/>
          </p:cNvGrpSpPr>
          <p:nvPr/>
        </p:nvGrpSpPr>
        <p:grpSpPr bwMode="auto">
          <a:xfrm>
            <a:off x="6516216" y="4579540"/>
            <a:ext cx="1697038" cy="1177926"/>
            <a:chOff x="0" y="-1"/>
            <a:chExt cx="1069" cy="742"/>
          </a:xfrm>
        </p:grpSpPr>
        <p:sp>
          <p:nvSpPr>
            <p:cNvPr id="47112" name="Line 8">
              <a:extLst>
                <a:ext uri="{FF2B5EF4-FFF2-40B4-BE49-F238E27FC236}">
                  <a16:creationId xmlns:a16="http://schemas.microsoft.com/office/drawing/2014/main" id="{F5488E68-3BE3-4E7D-95CF-F1A22D1385C9}"/>
                </a:ext>
              </a:extLst>
            </p:cNvPr>
            <p:cNvSpPr>
              <a:spLocks noChangeShapeType="1"/>
            </p:cNvSpPr>
            <p:nvPr/>
          </p:nvSpPr>
          <p:spPr bwMode="auto">
            <a:xfrm>
              <a:off x="648" y="192"/>
              <a:ext cx="216"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13" name="Line 9">
              <a:extLst>
                <a:ext uri="{FF2B5EF4-FFF2-40B4-BE49-F238E27FC236}">
                  <a16:creationId xmlns:a16="http://schemas.microsoft.com/office/drawing/2014/main" id="{8642F1C7-3610-45A4-9F47-0CD7C8B5B768}"/>
                </a:ext>
              </a:extLst>
            </p:cNvPr>
            <p:cNvSpPr>
              <a:spLocks noChangeShapeType="1"/>
            </p:cNvSpPr>
            <p:nvPr/>
          </p:nvSpPr>
          <p:spPr bwMode="auto">
            <a:xfrm flipH="1">
              <a:off x="240" y="192"/>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14" name="Oval 10">
              <a:extLst>
                <a:ext uri="{FF2B5EF4-FFF2-40B4-BE49-F238E27FC236}">
                  <a16:creationId xmlns:a16="http://schemas.microsoft.com/office/drawing/2014/main" id="{E48D185D-BEAE-47BC-A4F8-2015B79E9239}"/>
                </a:ext>
              </a:extLst>
            </p:cNvPr>
            <p:cNvSpPr>
              <a:spLocks noChangeArrowheads="1"/>
            </p:cNvSpPr>
            <p:nvPr/>
          </p:nvSpPr>
          <p:spPr bwMode="auto">
            <a:xfrm>
              <a:off x="432" y="2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47115" name="Text Box 11">
              <a:extLst>
                <a:ext uri="{FF2B5EF4-FFF2-40B4-BE49-F238E27FC236}">
                  <a16:creationId xmlns:a16="http://schemas.microsoft.com/office/drawing/2014/main" id="{92950FBF-D663-4DC3-AAE3-A9D8899A839E}"/>
                </a:ext>
              </a:extLst>
            </p:cNvPr>
            <p:cNvSpPr txBox="1">
              <a:spLocks noChangeArrowheads="1"/>
            </p:cNvSpPr>
            <p:nvPr/>
          </p:nvSpPr>
          <p:spPr bwMode="auto">
            <a:xfrm>
              <a:off x="398" y="-1"/>
              <a:ext cx="344"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i="0" dirty="0">
                  <a:solidFill>
                    <a:schemeClr val="bg1"/>
                  </a:solidFill>
                  <a:latin typeface="Times New Roman" panose="02020603050405020304" pitchFamily="18" charset="0"/>
                </a:rPr>
                <a:t>Ｄ</a:t>
              </a:r>
              <a:endParaRPr lang="zh-CN" altLang="en-US" sz="2400" i="0" dirty="0">
                <a:latin typeface="Times New Roman" panose="02020603050405020304" pitchFamily="18" charset="0"/>
              </a:endParaRPr>
            </a:p>
          </p:txBody>
        </p:sp>
        <p:sp>
          <p:nvSpPr>
            <p:cNvPr id="47116" name="Oval 12">
              <a:extLst>
                <a:ext uri="{FF2B5EF4-FFF2-40B4-BE49-F238E27FC236}">
                  <a16:creationId xmlns:a16="http://schemas.microsoft.com/office/drawing/2014/main" id="{646360A4-2E49-42C1-9A01-BED82661C9AE}"/>
                </a:ext>
              </a:extLst>
            </p:cNvPr>
            <p:cNvSpPr>
              <a:spLocks noChangeArrowheads="1"/>
            </p:cNvSpPr>
            <p:nvPr/>
          </p:nvSpPr>
          <p:spPr bwMode="auto">
            <a:xfrm>
              <a:off x="0" y="45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47117" name="Text Box 13">
              <a:extLst>
                <a:ext uri="{FF2B5EF4-FFF2-40B4-BE49-F238E27FC236}">
                  <a16:creationId xmlns:a16="http://schemas.microsoft.com/office/drawing/2014/main" id="{B06484F5-1BE0-426F-BCBD-FEC5F4B70602}"/>
                </a:ext>
              </a:extLst>
            </p:cNvPr>
            <p:cNvSpPr txBox="1">
              <a:spLocks noChangeArrowheads="1"/>
            </p:cNvSpPr>
            <p:nvPr/>
          </p:nvSpPr>
          <p:spPr bwMode="auto">
            <a:xfrm>
              <a:off x="48" y="405"/>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chemeClr val="bg1"/>
                  </a:solidFill>
                  <a:latin typeface="Times New Roman" panose="02020603050405020304" pitchFamily="18" charset="0"/>
                </a:rPr>
                <a:t>L</a:t>
              </a:r>
            </a:p>
          </p:txBody>
        </p:sp>
        <p:sp>
          <p:nvSpPr>
            <p:cNvPr id="47118" name="Oval 14">
              <a:extLst>
                <a:ext uri="{FF2B5EF4-FFF2-40B4-BE49-F238E27FC236}">
                  <a16:creationId xmlns:a16="http://schemas.microsoft.com/office/drawing/2014/main" id="{01E7DCBD-98BF-4024-BB67-D8376CD1EA1E}"/>
                </a:ext>
              </a:extLst>
            </p:cNvPr>
            <p:cNvSpPr>
              <a:spLocks noChangeArrowheads="1"/>
            </p:cNvSpPr>
            <p:nvPr/>
          </p:nvSpPr>
          <p:spPr bwMode="auto">
            <a:xfrm>
              <a:off x="768" y="45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47119" name="Text Box 15">
              <a:extLst>
                <a:ext uri="{FF2B5EF4-FFF2-40B4-BE49-F238E27FC236}">
                  <a16:creationId xmlns:a16="http://schemas.microsoft.com/office/drawing/2014/main" id="{B54562CE-411C-44A2-8C62-CA9A3E48E66A}"/>
                </a:ext>
              </a:extLst>
            </p:cNvPr>
            <p:cNvSpPr txBox="1">
              <a:spLocks noChangeArrowheads="1"/>
            </p:cNvSpPr>
            <p:nvPr/>
          </p:nvSpPr>
          <p:spPr bwMode="auto">
            <a:xfrm>
              <a:off x="791" y="405"/>
              <a:ext cx="27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chemeClr val="bg1"/>
                  </a:solidFill>
                  <a:latin typeface="Times New Roman" panose="02020603050405020304" pitchFamily="18" charset="0"/>
                </a:rPr>
                <a:t>R</a:t>
              </a:r>
            </a:p>
          </p:txBody>
        </p:sp>
      </p:grpSp>
      <p:sp>
        <p:nvSpPr>
          <p:cNvPr id="3" name="Text Box 4">
            <a:extLst>
              <a:ext uri="{FF2B5EF4-FFF2-40B4-BE49-F238E27FC236}">
                <a16:creationId xmlns:a16="http://schemas.microsoft.com/office/drawing/2014/main" id="{D1D40286-7DBC-0255-2E1D-95FE171540BB}"/>
              </a:ext>
            </a:extLst>
          </p:cNvPr>
          <p:cNvSpPr txBox="1">
            <a:spLocks noChangeArrowheads="1"/>
          </p:cNvSpPr>
          <p:nvPr/>
        </p:nvSpPr>
        <p:spPr bwMode="auto">
          <a:xfrm>
            <a:off x="342900" y="116732"/>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二叉树后序遍历</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9941">
                                            <p:txEl>
                                              <p:pRg st="2" end="2"/>
                                            </p:txEl>
                                          </p:spTgt>
                                        </p:tgtEl>
                                        <p:attrNameLst>
                                          <p:attrName>style.visibility</p:attrName>
                                        </p:attrNameLst>
                                      </p:cBhvr>
                                      <p:to>
                                        <p:strVal val="visible"/>
                                      </p:to>
                                    </p:set>
                                    <p:animEffect transition="in" filter="blinds(horizontal)">
                                      <p:cBhvr>
                                        <p:cTn id="7" dur="500"/>
                                        <p:tgtEl>
                                          <p:spTgt spid="39941">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9941">
                                            <p:txEl>
                                              <p:pRg st="3" end="3"/>
                                            </p:txEl>
                                          </p:spTgt>
                                        </p:tgtEl>
                                        <p:attrNameLst>
                                          <p:attrName>style.visibility</p:attrName>
                                        </p:attrNameLst>
                                      </p:cBhvr>
                                      <p:to>
                                        <p:strVal val="visible"/>
                                      </p:to>
                                    </p:set>
                                    <p:animEffect transition="in" filter="blinds(horizontal)">
                                      <p:cBhvr>
                                        <p:cTn id="12" dur="500"/>
                                        <p:tgtEl>
                                          <p:spTgt spid="39941">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9941">
                                            <p:txEl>
                                              <p:pRg st="4" end="4"/>
                                            </p:txEl>
                                          </p:spTgt>
                                        </p:tgtEl>
                                        <p:attrNameLst>
                                          <p:attrName>style.visibility</p:attrName>
                                        </p:attrNameLst>
                                      </p:cBhvr>
                                      <p:to>
                                        <p:strVal val="visible"/>
                                      </p:to>
                                    </p:set>
                                    <p:animEffect transition="in" filter="blinds(horizontal)">
                                      <p:cBhvr>
                                        <p:cTn id="17" dur="500"/>
                                        <p:tgtEl>
                                          <p:spTgt spid="3994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Text Box 3">
            <a:extLst>
              <a:ext uri="{FF2B5EF4-FFF2-40B4-BE49-F238E27FC236}">
                <a16:creationId xmlns:a16="http://schemas.microsoft.com/office/drawing/2014/main" id="{FC5673A7-D4E0-4DDA-944B-E6372DA13A4C}"/>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88ACD5CB-14AF-4655-B78A-CFB9A115C45E}" type="slidenum">
              <a:rPr lang="zh-CN" altLang="en-US" sz="2400"/>
              <a:pPr algn="r" eaLnBrk="1" hangingPunct="1">
                <a:spcBef>
                  <a:spcPct val="50000"/>
                </a:spcBef>
                <a:buClrTx/>
                <a:buSzTx/>
                <a:buFont typeface="Arial" panose="020B0604020202020204" pitchFamily="34" charset="0"/>
                <a:buNone/>
              </a:pPr>
              <a:t>40</a:t>
            </a:fld>
            <a:endParaRPr lang="en-US" altLang="zh-CN" sz="2400"/>
          </a:p>
        </p:txBody>
      </p:sp>
      <p:grpSp>
        <p:nvGrpSpPr>
          <p:cNvPr id="48135" name="Group 7">
            <a:extLst>
              <a:ext uri="{FF2B5EF4-FFF2-40B4-BE49-F238E27FC236}">
                <a16:creationId xmlns:a16="http://schemas.microsoft.com/office/drawing/2014/main" id="{61266F58-16C6-4A4C-83F5-8C1AB61618EE}"/>
              </a:ext>
            </a:extLst>
          </p:cNvPr>
          <p:cNvGrpSpPr>
            <a:grpSpLocks/>
          </p:cNvGrpSpPr>
          <p:nvPr/>
        </p:nvGrpSpPr>
        <p:grpSpPr bwMode="auto">
          <a:xfrm>
            <a:off x="5436096" y="1484784"/>
            <a:ext cx="2667000" cy="2514600"/>
            <a:chOff x="0" y="0"/>
            <a:chExt cx="1680" cy="1584"/>
          </a:xfrm>
        </p:grpSpPr>
        <p:sp>
          <p:nvSpPr>
            <p:cNvPr id="48137" name="Line 8">
              <a:extLst>
                <a:ext uri="{FF2B5EF4-FFF2-40B4-BE49-F238E27FC236}">
                  <a16:creationId xmlns:a16="http://schemas.microsoft.com/office/drawing/2014/main" id="{A4F2CE67-31BC-4929-A96B-A6BF9A5F9110}"/>
                </a:ext>
              </a:extLst>
            </p:cNvPr>
            <p:cNvSpPr>
              <a:spLocks noChangeShapeType="1"/>
            </p:cNvSpPr>
            <p:nvPr/>
          </p:nvSpPr>
          <p:spPr bwMode="auto">
            <a:xfrm>
              <a:off x="1080" y="171"/>
              <a:ext cx="360"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48138" name="Line 9">
              <a:extLst>
                <a:ext uri="{FF2B5EF4-FFF2-40B4-BE49-F238E27FC236}">
                  <a16:creationId xmlns:a16="http://schemas.microsoft.com/office/drawing/2014/main" id="{C8E14B4B-C9BB-4CA2-AE3E-C1986C4ED718}"/>
                </a:ext>
              </a:extLst>
            </p:cNvPr>
            <p:cNvSpPr>
              <a:spLocks noChangeShapeType="1"/>
            </p:cNvSpPr>
            <p:nvPr/>
          </p:nvSpPr>
          <p:spPr bwMode="auto">
            <a:xfrm flipH="1">
              <a:off x="576" y="171"/>
              <a:ext cx="360" cy="336"/>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48139" name="Oval 10">
              <a:extLst>
                <a:ext uri="{FF2B5EF4-FFF2-40B4-BE49-F238E27FC236}">
                  <a16:creationId xmlns:a16="http://schemas.microsoft.com/office/drawing/2014/main" id="{592A0309-35BD-41CE-9935-C98ADE33301B}"/>
                </a:ext>
              </a:extLst>
            </p:cNvPr>
            <p:cNvSpPr>
              <a:spLocks noChangeArrowheads="1"/>
            </p:cNvSpPr>
            <p:nvPr/>
          </p:nvSpPr>
          <p:spPr bwMode="auto">
            <a:xfrm>
              <a:off x="864" y="0"/>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dirty="0">
                  <a:solidFill>
                    <a:schemeClr val="bg1"/>
                  </a:solidFill>
                </a:rPr>
                <a:t>A</a:t>
              </a:r>
            </a:p>
          </p:txBody>
        </p:sp>
        <p:sp>
          <p:nvSpPr>
            <p:cNvPr id="48140" name="Line 11">
              <a:extLst>
                <a:ext uri="{FF2B5EF4-FFF2-40B4-BE49-F238E27FC236}">
                  <a16:creationId xmlns:a16="http://schemas.microsoft.com/office/drawing/2014/main" id="{A4BAA222-66FD-41FC-A4D5-061C4560EED9}"/>
                </a:ext>
              </a:extLst>
            </p:cNvPr>
            <p:cNvSpPr>
              <a:spLocks noChangeShapeType="1"/>
            </p:cNvSpPr>
            <p:nvPr/>
          </p:nvSpPr>
          <p:spPr bwMode="auto">
            <a:xfrm flipH="1">
              <a:off x="240" y="561"/>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48141" name="Oval 12">
              <a:extLst>
                <a:ext uri="{FF2B5EF4-FFF2-40B4-BE49-F238E27FC236}">
                  <a16:creationId xmlns:a16="http://schemas.microsoft.com/office/drawing/2014/main" id="{069A38EA-58B7-4630-A49C-4C630AE2E448}"/>
                </a:ext>
              </a:extLst>
            </p:cNvPr>
            <p:cNvSpPr>
              <a:spLocks noChangeArrowheads="1"/>
            </p:cNvSpPr>
            <p:nvPr/>
          </p:nvSpPr>
          <p:spPr bwMode="auto">
            <a:xfrm>
              <a:off x="0" y="822"/>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dirty="0">
                  <a:solidFill>
                    <a:schemeClr val="bg1"/>
                  </a:solidFill>
                </a:rPr>
                <a:t>D</a:t>
              </a:r>
            </a:p>
          </p:txBody>
        </p:sp>
        <p:sp>
          <p:nvSpPr>
            <p:cNvPr id="48142" name="Line 13">
              <a:extLst>
                <a:ext uri="{FF2B5EF4-FFF2-40B4-BE49-F238E27FC236}">
                  <a16:creationId xmlns:a16="http://schemas.microsoft.com/office/drawing/2014/main" id="{2182D98C-D8DC-4C25-9599-062E518CD6E9}"/>
                </a:ext>
              </a:extLst>
            </p:cNvPr>
            <p:cNvSpPr>
              <a:spLocks noChangeShapeType="1"/>
            </p:cNvSpPr>
            <p:nvPr/>
          </p:nvSpPr>
          <p:spPr bwMode="auto">
            <a:xfrm>
              <a:off x="528" y="582"/>
              <a:ext cx="216"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48143" name="Oval 14">
              <a:extLst>
                <a:ext uri="{FF2B5EF4-FFF2-40B4-BE49-F238E27FC236}">
                  <a16:creationId xmlns:a16="http://schemas.microsoft.com/office/drawing/2014/main" id="{F1711C56-5AC3-472D-9E19-77FCA54F3E71}"/>
                </a:ext>
              </a:extLst>
            </p:cNvPr>
            <p:cNvSpPr>
              <a:spLocks noChangeArrowheads="1"/>
            </p:cNvSpPr>
            <p:nvPr/>
          </p:nvSpPr>
          <p:spPr bwMode="auto">
            <a:xfrm>
              <a:off x="336" y="41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dirty="0">
                  <a:solidFill>
                    <a:schemeClr val="bg1"/>
                  </a:solidFill>
                </a:rPr>
                <a:t>B</a:t>
              </a:r>
            </a:p>
          </p:txBody>
        </p:sp>
        <p:sp>
          <p:nvSpPr>
            <p:cNvPr id="48144" name="Line 15">
              <a:extLst>
                <a:ext uri="{FF2B5EF4-FFF2-40B4-BE49-F238E27FC236}">
                  <a16:creationId xmlns:a16="http://schemas.microsoft.com/office/drawing/2014/main" id="{91B60471-57DD-48AC-93A5-DD76F7152A64}"/>
                </a:ext>
              </a:extLst>
            </p:cNvPr>
            <p:cNvSpPr>
              <a:spLocks noChangeShapeType="1"/>
            </p:cNvSpPr>
            <p:nvPr/>
          </p:nvSpPr>
          <p:spPr bwMode="auto">
            <a:xfrm flipH="1">
              <a:off x="1296" y="582"/>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48145" name="Oval 16">
              <a:extLst>
                <a:ext uri="{FF2B5EF4-FFF2-40B4-BE49-F238E27FC236}">
                  <a16:creationId xmlns:a16="http://schemas.microsoft.com/office/drawing/2014/main" id="{EC9FFF5E-A57C-454F-A2A6-820C55E56464}"/>
                </a:ext>
              </a:extLst>
            </p:cNvPr>
            <p:cNvSpPr>
              <a:spLocks noChangeArrowheads="1"/>
            </p:cNvSpPr>
            <p:nvPr/>
          </p:nvSpPr>
          <p:spPr bwMode="auto">
            <a:xfrm>
              <a:off x="1056" y="84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dirty="0">
                  <a:solidFill>
                    <a:schemeClr val="bg1"/>
                  </a:solidFill>
                </a:rPr>
                <a:t>F</a:t>
              </a:r>
            </a:p>
          </p:txBody>
        </p:sp>
        <p:sp>
          <p:nvSpPr>
            <p:cNvPr id="48146" name="Oval 17">
              <a:extLst>
                <a:ext uri="{FF2B5EF4-FFF2-40B4-BE49-F238E27FC236}">
                  <a16:creationId xmlns:a16="http://schemas.microsoft.com/office/drawing/2014/main" id="{DC897F61-E085-49BD-979B-59A3E5832494}"/>
                </a:ext>
              </a:extLst>
            </p:cNvPr>
            <p:cNvSpPr>
              <a:spLocks noChangeArrowheads="1"/>
            </p:cNvSpPr>
            <p:nvPr/>
          </p:nvSpPr>
          <p:spPr bwMode="auto">
            <a:xfrm>
              <a:off x="1392" y="41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dirty="0">
                  <a:solidFill>
                    <a:schemeClr val="bg1"/>
                  </a:solidFill>
                </a:rPr>
                <a:t>C</a:t>
              </a:r>
            </a:p>
          </p:txBody>
        </p:sp>
        <p:sp>
          <p:nvSpPr>
            <p:cNvPr id="48147" name="Line 18">
              <a:extLst>
                <a:ext uri="{FF2B5EF4-FFF2-40B4-BE49-F238E27FC236}">
                  <a16:creationId xmlns:a16="http://schemas.microsoft.com/office/drawing/2014/main" id="{E7D209F3-26F0-4A05-89BF-127BA088FA29}"/>
                </a:ext>
              </a:extLst>
            </p:cNvPr>
            <p:cNvSpPr>
              <a:spLocks noChangeShapeType="1"/>
            </p:cNvSpPr>
            <p:nvPr/>
          </p:nvSpPr>
          <p:spPr bwMode="auto">
            <a:xfrm flipH="1">
              <a:off x="480" y="1035"/>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48148" name="Oval 19">
              <a:extLst>
                <a:ext uri="{FF2B5EF4-FFF2-40B4-BE49-F238E27FC236}">
                  <a16:creationId xmlns:a16="http://schemas.microsoft.com/office/drawing/2014/main" id="{8B3798FC-C42D-4CCF-BBA8-0E668355E154}"/>
                </a:ext>
              </a:extLst>
            </p:cNvPr>
            <p:cNvSpPr>
              <a:spLocks noChangeArrowheads="1"/>
            </p:cNvSpPr>
            <p:nvPr/>
          </p:nvSpPr>
          <p:spPr bwMode="auto">
            <a:xfrm>
              <a:off x="240" y="1296"/>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dirty="0">
                  <a:solidFill>
                    <a:schemeClr val="bg1"/>
                  </a:solidFill>
                </a:rPr>
                <a:t>G</a:t>
              </a:r>
            </a:p>
          </p:txBody>
        </p:sp>
        <p:sp>
          <p:nvSpPr>
            <p:cNvPr id="48149" name="Oval 20">
              <a:extLst>
                <a:ext uri="{FF2B5EF4-FFF2-40B4-BE49-F238E27FC236}">
                  <a16:creationId xmlns:a16="http://schemas.microsoft.com/office/drawing/2014/main" id="{D217916F-B338-40C0-A369-E717B7354F24}"/>
                </a:ext>
              </a:extLst>
            </p:cNvPr>
            <p:cNvSpPr>
              <a:spLocks noChangeArrowheads="1"/>
            </p:cNvSpPr>
            <p:nvPr/>
          </p:nvSpPr>
          <p:spPr bwMode="auto">
            <a:xfrm>
              <a:off x="648" y="84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dirty="0">
                  <a:solidFill>
                    <a:schemeClr val="bg1"/>
                  </a:solidFill>
                </a:rPr>
                <a:t>E</a:t>
              </a:r>
            </a:p>
          </p:txBody>
        </p:sp>
      </p:grpSp>
      <p:sp>
        <p:nvSpPr>
          <p:cNvPr id="40981" name="Text Box 21">
            <a:extLst>
              <a:ext uri="{FF2B5EF4-FFF2-40B4-BE49-F238E27FC236}">
                <a16:creationId xmlns:a16="http://schemas.microsoft.com/office/drawing/2014/main" id="{D6B69FDD-1C4E-4D2E-A72D-E4F383A8358F}"/>
              </a:ext>
            </a:extLst>
          </p:cNvPr>
          <p:cNvSpPr txBox="1">
            <a:spLocks noChangeArrowheads="1"/>
          </p:cNvSpPr>
          <p:nvPr/>
        </p:nvSpPr>
        <p:spPr bwMode="auto">
          <a:xfrm>
            <a:off x="539552" y="1832164"/>
            <a:ext cx="325602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0" i="0" dirty="0">
                <a:solidFill>
                  <a:schemeClr val="hlink"/>
                </a:solidFill>
                <a:latin typeface="黑体" panose="02010609060101010101" pitchFamily="49" charset="-122"/>
                <a:ea typeface="黑体" panose="02010609060101010101" pitchFamily="49" charset="-122"/>
              </a:rPr>
              <a:t>输出结果：</a:t>
            </a:r>
            <a:r>
              <a:rPr lang="en-US" altLang="zh-CN" sz="2800" b="0" i="0" dirty="0">
                <a:solidFill>
                  <a:schemeClr val="hlink"/>
                </a:solidFill>
                <a:latin typeface="黑体" panose="02010609060101010101" pitchFamily="49" charset="-122"/>
                <a:ea typeface="黑体" panose="02010609060101010101" pitchFamily="49" charset="-122"/>
              </a:rPr>
              <a:t>DGEBFCA</a:t>
            </a:r>
            <a:endParaRPr lang="zh-CN" altLang="en-US" sz="2800" b="0" i="0" dirty="0"/>
          </a:p>
        </p:txBody>
      </p:sp>
      <p:sp>
        <p:nvSpPr>
          <p:cNvPr id="3" name="Text Box 4">
            <a:extLst>
              <a:ext uri="{FF2B5EF4-FFF2-40B4-BE49-F238E27FC236}">
                <a16:creationId xmlns:a16="http://schemas.microsoft.com/office/drawing/2014/main" id="{98224C74-3760-B883-B727-C45494779DDD}"/>
              </a:ext>
            </a:extLst>
          </p:cNvPr>
          <p:cNvSpPr txBox="1">
            <a:spLocks noChangeArrowheads="1"/>
          </p:cNvSpPr>
          <p:nvPr/>
        </p:nvSpPr>
        <p:spPr bwMode="auto">
          <a:xfrm>
            <a:off x="342900" y="71934"/>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二叉树后序遍历举例</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0981"/>
                                        </p:tgtEl>
                                        <p:attrNameLst>
                                          <p:attrName>style.visibility</p:attrName>
                                        </p:attrNameLst>
                                      </p:cBhvr>
                                      <p:to>
                                        <p:strVal val="visible"/>
                                      </p:to>
                                    </p:set>
                                    <p:animEffect transition="in" filter="blinds(horizontal)">
                                      <p:cBhvr>
                                        <p:cTn id="7" dur="500"/>
                                        <p:tgtEl>
                                          <p:spTgt spid="409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81" grpId="0" bldLvl="0"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93B69E32-1583-8B19-A479-F554D94E0B6F}"/>
              </a:ext>
            </a:extLst>
          </p:cNvPr>
          <p:cNvSpPr txBox="1"/>
          <p:nvPr/>
        </p:nvSpPr>
        <p:spPr>
          <a:xfrm>
            <a:off x="569442" y="2229210"/>
            <a:ext cx="8062664" cy="440120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800" b="0" i="0" u="none" strike="noStrike" kern="1200" cap="none" spc="0" normalizeH="0" baseline="0" noProof="0" dirty="0">
                <a:ln>
                  <a:noFill/>
                </a:ln>
                <a:solidFill>
                  <a:srgbClr val="008000"/>
                </a:solidFill>
                <a:effectLst/>
                <a:uLnTx/>
                <a:uFillTx/>
                <a:latin typeface="黑体"/>
                <a:ea typeface="黑体"/>
                <a:cs typeface="+mn-cs"/>
              </a:rPr>
              <a:t>// </a:t>
            </a:r>
            <a:r>
              <a:rPr kumimoji="0" lang="zh-CN" altLang="en-US" sz="2800" b="0" i="0" u="none" strike="noStrike" kern="1200" cap="none" spc="0" normalizeH="0" baseline="0" noProof="0" dirty="0">
                <a:ln>
                  <a:noFill/>
                </a:ln>
                <a:solidFill>
                  <a:srgbClr val="008000"/>
                </a:solidFill>
                <a:effectLst/>
                <a:uLnTx/>
                <a:uFillTx/>
                <a:latin typeface="黑体"/>
                <a:ea typeface="黑体"/>
                <a:cs typeface="+mn-cs"/>
              </a:rPr>
              <a:t>先序遍历二叉树</a:t>
            </a:r>
            <a:r>
              <a:rPr kumimoji="0" lang="en-US" altLang="zh-CN" sz="2800" b="0" i="0" u="none" strike="noStrike" kern="1200" cap="none" spc="0" normalizeH="0" baseline="0" noProof="0" dirty="0">
                <a:ln>
                  <a:noFill/>
                </a:ln>
                <a:solidFill>
                  <a:srgbClr val="008000"/>
                </a:solidFill>
                <a:effectLst/>
                <a:uLnTx/>
                <a:uFillTx/>
                <a:latin typeface="黑体"/>
                <a:ea typeface="黑体"/>
                <a:cs typeface="+mn-cs"/>
              </a:rPr>
              <a:t>T</a:t>
            </a:r>
            <a:endParaRPr kumimoji="0" lang="en-US" altLang="zh-CN" sz="2800" b="0" i="0" u="none" strike="noStrike" kern="1200" cap="none" spc="0" normalizeH="0" baseline="0" noProof="0" dirty="0">
              <a:ln>
                <a:noFill/>
              </a:ln>
              <a:solidFill>
                <a:srgbClr val="000000"/>
              </a:solidFill>
              <a:effectLst/>
              <a:uLnTx/>
              <a:uFillTx/>
              <a:latin typeface="黑体"/>
              <a:ea typeface="黑体"/>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800" b="0" i="0" u="none" strike="noStrike" kern="1200" cap="none" spc="0" normalizeH="0" baseline="0" noProof="0" dirty="0">
                <a:ln>
                  <a:noFill/>
                </a:ln>
                <a:solidFill>
                  <a:srgbClr val="0000FF"/>
                </a:solidFill>
                <a:effectLst/>
                <a:uLnTx/>
                <a:uFillTx/>
                <a:latin typeface="黑体"/>
                <a:ea typeface="黑体"/>
                <a:cs typeface="+mn-cs"/>
              </a:rPr>
              <a:t>void</a:t>
            </a:r>
            <a:r>
              <a:rPr kumimoji="0" lang="en-US" altLang="zh-CN" sz="2800" b="0" i="0" u="none" strike="noStrike" kern="1200" cap="none" spc="0" normalizeH="0" baseline="0" noProof="0" dirty="0">
                <a:ln>
                  <a:noFill/>
                </a:ln>
                <a:solidFill>
                  <a:srgbClr val="000000"/>
                </a:solidFill>
                <a:effectLst/>
                <a:uLnTx/>
                <a:uFillTx/>
                <a:latin typeface="黑体"/>
                <a:ea typeface="黑体"/>
                <a:cs typeface="+mn-cs"/>
              </a:rPr>
              <a:t> </a:t>
            </a:r>
            <a:r>
              <a:rPr kumimoji="0" lang="en-US" altLang="zh-CN" sz="2800" b="0" i="0" u="none" strike="noStrike" kern="1200" cap="none" spc="0" normalizeH="0" baseline="0" noProof="0" dirty="0" err="1">
                <a:ln>
                  <a:noFill/>
                </a:ln>
                <a:solidFill>
                  <a:srgbClr val="795E26"/>
                </a:solidFill>
                <a:effectLst/>
                <a:uLnTx/>
                <a:uFillTx/>
                <a:latin typeface="黑体"/>
                <a:ea typeface="黑体"/>
                <a:cs typeface="+mn-cs"/>
              </a:rPr>
              <a:t>PreOrder</a:t>
            </a:r>
            <a:r>
              <a:rPr kumimoji="0" lang="en-US" altLang="zh-CN" sz="2800" b="0" i="0" u="none" strike="noStrike" kern="1200" cap="none" spc="0" normalizeH="0" baseline="0" noProof="0" dirty="0">
                <a:ln>
                  <a:noFill/>
                </a:ln>
                <a:solidFill>
                  <a:srgbClr val="000000"/>
                </a:solidFill>
                <a:effectLst/>
                <a:uLnTx/>
                <a:uFillTx/>
                <a:latin typeface="黑体"/>
                <a:ea typeface="黑体"/>
                <a:cs typeface="+mn-cs"/>
              </a:rPr>
              <a:t>(</a:t>
            </a:r>
            <a:r>
              <a:rPr kumimoji="0" lang="en-US" altLang="zh-CN" sz="2800" b="0" i="0" u="none" strike="noStrike" kern="1200" cap="none" spc="0" normalizeH="0" baseline="0" noProof="0" dirty="0" err="1">
                <a:ln>
                  <a:noFill/>
                </a:ln>
                <a:solidFill>
                  <a:srgbClr val="267F99"/>
                </a:solidFill>
                <a:effectLst/>
                <a:uLnTx/>
                <a:uFillTx/>
                <a:latin typeface="黑体"/>
                <a:ea typeface="黑体"/>
                <a:cs typeface="+mn-cs"/>
              </a:rPr>
              <a:t>BiTree</a:t>
            </a:r>
            <a:r>
              <a:rPr kumimoji="0" lang="en-US" altLang="zh-CN" sz="2800" b="0" i="0" u="none" strike="noStrike" kern="1200" cap="none" spc="0" normalizeH="0" baseline="0" noProof="0" dirty="0">
                <a:ln>
                  <a:noFill/>
                </a:ln>
                <a:solidFill>
                  <a:srgbClr val="000000"/>
                </a:solidFill>
                <a:effectLst/>
                <a:uLnTx/>
                <a:uFillTx/>
                <a:latin typeface="黑体"/>
                <a:ea typeface="黑体"/>
                <a:cs typeface="+mn-cs"/>
              </a:rPr>
              <a:t> </a:t>
            </a:r>
            <a:r>
              <a:rPr kumimoji="0" lang="en-US" altLang="zh-CN" sz="2800" b="0" i="0" u="none" strike="noStrike" kern="1200" cap="none" spc="0" normalizeH="0" baseline="0" noProof="0" dirty="0">
                <a:ln>
                  <a:noFill/>
                </a:ln>
                <a:solidFill>
                  <a:srgbClr val="001080"/>
                </a:solidFill>
                <a:effectLst/>
                <a:uLnTx/>
                <a:uFillTx/>
                <a:latin typeface="黑体"/>
                <a:ea typeface="黑体"/>
                <a:cs typeface="+mn-cs"/>
              </a:rPr>
              <a:t>T</a:t>
            </a:r>
            <a:r>
              <a:rPr kumimoji="0" lang="en-US" altLang="zh-CN" sz="2800" b="0" i="0" u="none" strike="noStrike" kern="1200" cap="none" spc="0" normalizeH="0" baseline="0" noProof="0" dirty="0">
                <a:ln>
                  <a:noFill/>
                </a:ln>
                <a:solidFill>
                  <a:srgbClr val="000000"/>
                </a:solidFill>
                <a:effectLst/>
                <a:uLnTx/>
                <a:uFillTx/>
                <a:latin typeface="黑体"/>
                <a:ea typeface="黑体"/>
                <a:cs typeface="+mn-cs"/>
              </a:rPr>
              <a: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800" b="0" i="0" u="none" strike="noStrike" kern="1200" cap="none" spc="0" normalizeH="0" baseline="0" noProof="0" dirty="0">
                <a:ln>
                  <a:noFill/>
                </a:ln>
                <a:solidFill>
                  <a:srgbClr val="000000"/>
                </a:solidFill>
                <a:effectLst/>
                <a:uLnTx/>
                <a:uFillTx/>
                <a:latin typeface="黑体"/>
                <a:ea typeface="黑体"/>
                <a:cs typeface="+mn-cs"/>
              </a:rPr>
              <a: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800" b="0" i="0" u="none" strike="noStrike" kern="1200" cap="none" spc="0" normalizeH="0" baseline="0" noProof="0" dirty="0">
                <a:ln>
                  <a:noFill/>
                </a:ln>
                <a:solidFill>
                  <a:srgbClr val="000000"/>
                </a:solidFill>
                <a:effectLst/>
                <a:uLnTx/>
                <a:uFillTx/>
                <a:latin typeface="黑体"/>
                <a:ea typeface="黑体"/>
                <a:cs typeface="+mn-cs"/>
              </a:rPr>
              <a:t>    </a:t>
            </a:r>
            <a:r>
              <a:rPr kumimoji="0" lang="en-US" altLang="zh-CN" sz="2800" b="0" i="0" u="none" strike="noStrike" kern="1200" cap="none" spc="0" normalizeH="0" baseline="0" noProof="0" dirty="0">
                <a:ln>
                  <a:noFill/>
                </a:ln>
                <a:solidFill>
                  <a:srgbClr val="AF00DB"/>
                </a:solidFill>
                <a:effectLst/>
                <a:uLnTx/>
                <a:uFillTx/>
                <a:latin typeface="黑体"/>
                <a:ea typeface="黑体"/>
                <a:cs typeface="+mn-cs"/>
              </a:rPr>
              <a:t>if</a:t>
            </a:r>
            <a:r>
              <a:rPr kumimoji="0" lang="en-US" altLang="zh-CN" sz="2800" b="0" i="0" u="none" strike="noStrike" kern="1200" cap="none" spc="0" normalizeH="0" baseline="0" noProof="0" dirty="0">
                <a:ln>
                  <a:noFill/>
                </a:ln>
                <a:solidFill>
                  <a:srgbClr val="000000"/>
                </a:solidFill>
                <a:effectLst/>
                <a:uLnTx/>
                <a:uFillTx/>
                <a:latin typeface="黑体"/>
                <a:ea typeface="黑体"/>
                <a:cs typeface="+mn-cs"/>
              </a:rPr>
              <a:t>(</a:t>
            </a:r>
            <a:r>
              <a:rPr kumimoji="0" lang="en-US" altLang="zh-CN" sz="2800" b="0" i="0" u="none" strike="noStrike" kern="1200" cap="none" spc="0" normalizeH="0" baseline="0" noProof="0" dirty="0">
                <a:ln>
                  <a:noFill/>
                </a:ln>
                <a:solidFill>
                  <a:srgbClr val="001080"/>
                </a:solidFill>
                <a:effectLst/>
                <a:uLnTx/>
                <a:uFillTx/>
                <a:latin typeface="黑体"/>
                <a:ea typeface="黑体"/>
                <a:cs typeface="+mn-cs"/>
              </a:rPr>
              <a:t>T</a:t>
            </a:r>
            <a:r>
              <a:rPr kumimoji="0" lang="en-US" altLang="zh-CN" sz="2800" b="0" i="0" u="none" strike="noStrike" kern="1200" cap="none" spc="0" normalizeH="0" baseline="0" noProof="0" dirty="0">
                <a:ln>
                  <a:noFill/>
                </a:ln>
                <a:solidFill>
                  <a:srgbClr val="000000"/>
                </a:solidFill>
                <a:effectLst/>
                <a:uLnTx/>
                <a:uFillTx/>
                <a:latin typeface="黑体"/>
                <a:ea typeface="黑体"/>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800" b="0" i="0" u="none" strike="noStrike" kern="1200" cap="none" spc="0" normalizeH="0" baseline="0" noProof="0" dirty="0">
                <a:ln>
                  <a:noFill/>
                </a:ln>
                <a:solidFill>
                  <a:srgbClr val="000000"/>
                </a:solidFill>
                <a:effectLst/>
                <a:uLnTx/>
                <a:uFillTx/>
                <a:latin typeface="黑体"/>
                <a:ea typeface="黑体"/>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800" b="0" i="0" u="none" strike="noStrike" kern="1200" cap="none" spc="0" normalizeH="0" baseline="0" noProof="0" dirty="0">
                <a:ln>
                  <a:noFill/>
                </a:ln>
                <a:solidFill>
                  <a:srgbClr val="000000"/>
                </a:solidFill>
                <a:effectLst/>
                <a:uLnTx/>
                <a:uFillTx/>
                <a:latin typeface="黑体"/>
                <a:ea typeface="黑体"/>
                <a:cs typeface="+mn-cs"/>
              </a:rPr>
              <a:t>        </a:t>
            </a:r>
            <a:r>
              <a:rPr kumimoji="0" lang="en-US" altLang="zh-CN" sz="2800" b="0" i="0" u="none" strike="noStrike" kern="1200" cap="none" spc="0" normalizeH="0" baseline="0" noProof="0" dirty="0" err="1">
                <a:ln>
                  <a:noFill/>
                </a:ln>
                <a:solidFill>
                  <a:srgbClr val="001080"/>
                </a:solidFill>
                <a:effectLst/>
                <a:uLnTx/>
                <a:uFillTx/>
                <a:latin typeface="黑体"/>
                <a:ea typeface="黑体"/>
                <a:cs typeface="+mn-cs"/>
              </a:rPr>
              <a:t>cout</a:t>
            </a:r>
            <a:r>
              <a:rPr kumimoji="0" lang="en-US" altLang="zh-CN" sz="2800" b="0" i="0" u="none" strike="noStrike" kern="1200" cap="none" spc="0" normalizeH="0" baseline="0" noProof="0" dirty="0">
                <a:ln>
                  <a:noFill/>
                </a:ln>
                <a:solidFill>
                  <a:srgbClr val="000000"/>
                </a:solidFill>
                <a:effectLst/>
                <a:uLnTx/>
                <a:uFillTx/>
                <a:latin typeface="黑体"/>
                <a:ea typeface="黑体"/>
                <a:cs typeface="+mn-cs"/>
              </a:rPr>
              <a:t> </a:t>
            </a:r>
            <a:r>
              <a:rPr kumimoji="0" lang="en-US" altLang="zh-CN" sz="2800" b="0" i="0" u="none" strike="noStrike" kern="1200" cap="none" spc="0" normalizeH="0" baseline="0" noProof="0" dirty="0">
                <a:ln>
                  <a:noFill/>
                </a:ln>
                <a:solidFill>
                  <a:srgbClr val="795E26"/>
                </a:solidFill>
                <a:effectLst/>
                <a:uLnTx/>
                <a:uFillTx/>
                <a:latin typeface="黑体"/>
                <a:ea typeface="黑体"/>
                <a:cs typeface="+mn-cs"/>
              </a:rPr>
              <a:t>&lt;&lt;</a:t>
            </a:r>
            <a:r>
              <a:rPr kumimoji="0" lang="en-US" altLang="zh-CN" sz="2800" b="0" i="0" u="none" strike="noStrike" kern="1200" cap="none" spc="0" normalizeH="0" baseline="0" noProof="0" dirty="0">
                <a:ln>
                  <a:noFill/>
                </a:ln>
                <a:solidFill>
                  <a:srgbClr val="000000"/>
                </a:solidFill>
                <a:effectLst/>
                <a:uLnTx/>
                <a:uFillTx/>
                <a:latin typeface="黑体"/>
                <a:ea typeface="黑体"/>
                <a:cs typeface="+mn-cs"/>
              </a:rPr>
              <a:t> </a:t>
            </a:r>
            <a:r>
              <a:rPr kumimoji="0" lang="en-US" altLang="zh-CN" sz="2800" b="0" i="0" u="none" strike="noStrike" kern="1200" cap="none" spc="0" normalizeH="0" baseline="0" noProof="0" dirty="0">
                <a:ln>
                  <a:noFill/>
                </a:ln>
                <a:solidFill>
                  <a:srgbClr val="001080"/>
                </a:solidFill>
                <a:effectLst/>
                <a:uLnTx/>
                <a:uFillTx/>
                <a:latin typeface="黑体"/>
                <a:ea typeface="黑体"/>
                <a:cs typeface="+mn-cs"/>
              </a:rPr>
              <a:t>T</a:t>
            </a:r>
            <a:r>
              <a:rPr kumimoji="0" lang="en-US" altLang="zh-CN" sz="2800" b="0" i="0" u="none" strike="noStrike" kern="1200" cap="none" spc="0" normalizeH="0" baseline="0" noProof="0" dirty="0">
                <a:ln>
                  <a:noFill/>
                </a:ln>
                <a:solidFill>
                  <a:srgbClr val="000000"/>
                </a:solidFill>
                <a:effectLst/>
                <a:uLnTx/>
                <a:uFillTx/>
                <a:latin typeface="黑体"/>
                <a:ea typeface="黑体"/>
                <a:cs typeface="+mn-cs"/>
              </a:rPr>
              <a:t>-&gt;</a:t>
            </a:r>
            <a:r>
              <a:rPr kumimoji="0" lang="en-US" altLang="zh-CN" sz="2800" b="0" i="0" u="none" strike="noStrike" kern="1200" cap="none" spc="0" normalizeH="0" baseline="0" noProof="0" dirty="0">
                <a:ln>
                  <a:noFill/>
                </a:ln>
                <a:solidFill>
                  <a:srgbClr val="001080"/>
                </a:solidFill>
                <a:effectLst/>
                <a:uLnTx/>
                <a:uFillTx/>
                <a:latin typeface="黑体"/>
                <a:ea typeface="黑体"/>
                <a:cs typeface="+mn-cs"/>
              </a:rPr>
              <a:t>data</a:t>
            </a:r>
            <a:r>
              <a:rPr kumimoji="0" lang="en-US" altLang="zh-CN" sz="2800" b="0" i="0" u="none" strike="noStrike" kern="1200" cap="none" spc="0" normalizeH="0" baseline="0" noProof="0" dirty="0">
                <a:ln>
                  <a:noFill/>
                </a:ln>
                <a:solidFill>
                  <a:srgbClr val="000000"/>
                </a:solidFill>
                <a:effectLst/>
                <a:uLnTx/>
                <a:uFillTx/>
                <a:latin typeface="黑体"/>
                <a:ea typeface="黑体"/>
                <a:cs typeface="+mn-cs"/>
              </a:rPr>
              <a:t> </a:t>
            </a:r>
            <a:r>
              <a:rPr kumimoji="0" lang="en-US" altLang="zh-CN" sz="2800" b="0" i="0" u="none" strike="noStrike" kern="1200" cap="none" spc="0" normalizeH="0" baseline="0" noProof="0" dirty="0">
                <a:ln>
                  <a:noFill/>
                </a:ln>
                <a:solidFill>
                  <a:srgbClr val="795E26"/>
                </a:solidFill>
                <a:effectLst/>
                <a:uLnTx/>
                <a:uFillTx/>
                <a:latin typeface="黑体"/>
                <a:ea typeface="黑体"/>
                <a:cs typeface="+mn-cs"/>
              </a:rPr>
              <a:t>&lt;&lt;</a:t>
            </a:r>
            <a:r>
              <a:rPr kumimoji="0" lang="en-US" altLang="zh-CN" sz="2800" b="0" i="0" u="none" strike="noStrike" kern="1200" cap="none" spc="0" normalizeH="0" baseline="0" noProof="0" dirty="0">
                <a:ln>
                  <a:noFill/>
                </a:ln>
                <a:solidFill>
                  <a:srgbClr val="000000"/>
                </a:solidFill>
                <a:effectLst/>
                <a:uLnTx/>
                <a:uFillTx/>
                <a:latin typeface="黑体"/>
                <a:ea typeface="黑体"/>
                <a:cs typeface="+mn-cs"/>
              </a:rPr>
              <a:t> </a:t>
            </a:r>
            <a:r>
              <a:rPr kumimoji="0" lang="en-US" altLang="zh-CN" sz="2800" b="0" i="0" u="none" strike="noStrike" kern="1200" cap="none" spc="0" normalizeH="0" baseline="0" noProof="0" dirty="0">
                <a:ln>
                  <a:noFill/>
                </a:ln>
                <a:solidFill>
                  <a:srgbClr val="A31515"/>
                </a:solidFill>
                <a:effectLst/>
                <a:uLnTx/>
                <a:uFillTx/>
                <a:latin typeface="黑体"/>
                <a:ea typeface="黑体"/>
                <a:cs typeface="+mn-cs"/>
              </a:rPr>
              <a:t>" "</a:t>
            </a:r>
            <a:r>
              <a:rPr kumimoji="0" lang="en-US" altLang="zh-CN" sz="2800" b="0" i="0" u="none" strike="noStrike" kern="1200" cap="none" spc="0" normalizeH="0" baseline="0" noProof="0" dirty="0">
                <a:ln>
                  <a:noFill/>
                </a:ln>
                <a:solidFill>
                  <a:srgbClr val="000000"/>
                </a:solidFill>
                <a:effectLst/>
                <a:uLnTx/>
                <a:uFillTx/>
                <a:latin typeface="黑体"/>
                <a:ea typeface="黑体"/>
                <a:cs typeface="+mn-cs"/>
              </a:rPr>
              <a:t>;</a:t>
            </a:r>
            <a:r>
              <a:rPr kumimoji="0" lang="en-US" altLang="zh-CN" sz="2800" b="0" i="0" u="none" strike="noStrike" kern="1200" cap="none" spc="0" normalizeH="0" baseline="0" noProof="0" dirty="0">
                <a:ln>
                  <a:noFill/>
                </a:ln>
                <a:solidFill>
                  <a:srgbClr val="008000"/>
                </a:solidFill>
                <a:effectLst/>
                <a:uLnTx/>
                <a:uFillTx/>
                <a:latin typeface="黑体"/>
                <a:ea typeface="黑体"/>
                <a:cs typeface="+mn-cs"/>
              </a:rPr>
              <a:t>   // </a:t>
            </a:r>
            <a:r>
              <a:rPr kumimoji="0" lang="zh-CN" altLang="en-US" sz="2800" b="0" i="0" u="none" strike="noStrike" kern="1200" cap="none" spc="0" normalizeH="0" baseline="0" noProof="0" dirty="0">
                <a:ln>
                  <a:noFill/>
                </a:ln>
                <a:solidFill>
                  <a:srgbClr val="008000"/>
                </a:solidFill>
                <a:effectLst/>
                <a:uLnTx/>
                <a:uFillTx/>
                <a:latin typeface="黑体"/>
                <a:ea typeface="黑体"/>
                <a:cs typeface="+mn-cs"/>
              </a:rPr>
              <a:t>访问</a:t>
            </a:r>
            <a:r>
              <a:rPr kumimoji="0" lang="en-US" altLang="zh-CN" sz="2800" b="0" i="0" u="none" strike="noStrike" kern="1200" cap="none" spc="0" normalizeH="0" baseline="0" noProof="0" dirty="0">
                <a:ln>
                  <a:noFill/>
                </a:ln>
                <a:solidFill>
                  <a:srgbClr val="008000"/>
                </a:solidFill>
                <a:effectLst/>
                <a:uLnTx/>
                <a:uFillTx/>
                <a:latin typeface="黑体"/>
                <a:ea typeface="黑体"/>
                <a:cs typeface="+mn-cs"/>
              </a:rPr>
              <a:t>T</a:t>
            </a:r>
            <a:r>
              <a:rPr kumimoji="0" lang="zh-CN" altLang="en-US" sz="2800" b="0" i="0" u="none" strike="noStrike" kern="1200" cap="none" spc="0" normalizeH="0" baseline="0" noProof="0" dirty="0">
                <a:ln>
                  <a:noFill/>
                </a:ln>
                <a:solidFill>
                  <a:srgbClr val="008000"/>
                </a:solidFill>
                <a:effectLst/>
                <a:uLnTx/>
                <a:uFillTx/>
                <a:latin typeface="黑体"/>
                <a:ea typeface="黑体"/>
                <a:cs typeface="+mn-cs"/>
              </a:rPr>
              <a:t>结点</a:t>
            </a:r>
            <a:endParaRPr kumimoji="0" lang="zh-CN" altLang="en-US" sz="2800" b="0" i="0" u="none" strike="noStrike" kern="1200" cap="none" spc="0" normalizeH="0" baseline="0" noProof="0" dirty="0">
              <a:ln>
                <a:noFill/>
              </a:ln>
              <a:solidFill>
                <a:srgbClr val="000000"/>
              </a:solidFill>
              <a:effectLst/>
              <a:uLnTx/>
              <a:uFillTx/>
              <a:latin typeface="黑体"/>
              <a:ea typeface="黑体"/>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0" i="0" u="none" strike="noStrike" kern="1200" cap="none" spc="0" normalizeH="0" baseline="0" noProof="0" dirty="0">
                <a:ln>
                  <a:noFill/>
                </a:ln>
                <a:solidFill>
                  <a:srgbClr val="000000"/>
                </a:solidFill>
                <a:effectLst/>
                <a:uLnTx/>
                <a:uFillTx/>
                <a:latin typeface="黑体"/>
                <a:ea typeface="黑体"/>
                <a:cs typeface="+mn-cs"/>
              </a:rPr>
              <a:t>        </a:t>
            </a:r>
            <a:r>
              <a:rPr kumimoji="0" lang="en-US" altLang="zh-CN" sz="2800" b="0" i="0" u="none" strike="noStrike" kern="1200" cap="none" spc="0" normalizeH="0" baseline="0" noProof="0" dirty="0" err="1">
                <a:ln>
                  <a:noFill/>
                </a:ln>
                <a:solidFill>
                  <a:srgbClr val="795E26"/>
                </a:solidFill>
                <a:effectLst/>
                <a:uLnTx/>
                <a:uFillTx/>
                <a:latin typeface="黑体"/>
                <a:ea typeface="黑体"/>
                <a:cs typeface="+mn-cs"/>
              </a:rPr>
              <a:t>PreOrder</a:t>
            </a:r>
            <a:r>
              <a:rPr kumimoji="0" lang="en-US" altLang="zh-CN" sz="2800" b="0" i="0" u="none" strike="noStrike" kern="1200" cap="none" spc="0" normalizeH="0" baseline="0" noProof="0" dirty="0">
                <a:ln>
                  <a:noFill/>
                </a:ln>
                <a:solidFill>
                  <a:srgbClr val="000000"/>
                </a:solidFill>
                <a:effectLst/>
                <a:uLnTx/>
                <a:uFillTx/>
                <a:latin typeface="黑体"/>
                <a:ea typeface="黑体"/>
                <a:cs typeface="+mn-cs"/>
              </a:rPr>
              <a:t>(</a:t>
            </a:r>
            <a:r>
              <a:rPr kumimoji="0" lang="en-US" altLang="zh-CN" sz="2800" b="0" i="0" u="none" strike="noStrike" kern="1200" cap="none" spc="0" normalizeH="0" baseline="0" noProof="0" dirty="0">
                <a:ln>
                  <a:noFill/>
                </a:ln>
                <a:solidFill>
                  <a:srgbClr val="001080"/>
                </a:solidFill>
                <a:effectLst/>
                <a:uLnTx/>
                <a:uFillTx/>
                <a:latin typeface="黑体"/>
                <a:ea typeface="黑体"/>
                <a:cs typeface="+mn-cs"/>
              </a:rPr>
              <a:t>T</a:t>
            </a:r>
            <a:r>
              <a:rPr kumimoji="0" lang="en-US" altLang="zh-CN" sz="2800" b="0" i="0" u="none" strike="noStrike" kern="1200" cap="none" spc="0" normalizeH="0" baseline="0" noProof="0" dirty="0">
                <a:ln>
                  <a:noFill/>
                </a:ln>
                <a:solidFill>
                  <a:srgbClr val="000000"/>
                </a:solidFill>
                <a:effectLst/>
                <a:uLnTx/>
                <a:uFillTx/>
                <a:latin typeface="黑体"/>
                <a:ea typeface="黑体"/>
                <a:cs typeface="+mn-cs"/>
              </a:rPr>
              <a:t>-&gt;</a:t>
            </a:r>
            <a:r>
              <a:rPr kumimoji="0" lang="en-US" altLang="zh-CN" sz="2800" b="0" i="0" u="none" strike="noStrike" kern="1200" cap="none" spc="0" normalizeH="0" baseline="0" noProof="0" dirty="0" err="1">
                <a:ln>
                  <a:noFill/>
                </a:ln>
                <a:solidFill>
                  <a:srgbClr val="001080"/>
                </a:solidFill>
                <a:effectLst/>
                <a:uLnTx/>
                <a:uFillTx/>
                <a:latin typeface="黑体"/>
                <a:ea typeface="黑体"/>
                <a:cs typeface="+mn-cs"/>
              </a:rPr>
              <a:t>lchild</a:t>
            </a:r>
            <a:r>
              <a:rPr kumimoji="0" lang="en-US" altLang="zh-CN" sz="2800" b="0" i="0" u="none" strike="noStrike" kern="1200" cap="none" spc="0" normalizeH="0" baseline="0" noProof="0" dirty="0">
                <a:ln>
                  <a:noFill/>
                </a:ln>
                <a:solidFill>
                  <a:srgbClr val="000000"/>
                </a:solidFill>
                <a:effectLst/>
                <a:uLnTx/>
                <a:uFillTx/>
                <a:latin typeface="黑体"/>
                <a:ea typeface="黑体"/>
                <a:cs typeface="+mn-cs"/>
              </a:rPr>
              <a:t>);</a:t>
            </a:r>
            <a:r>
              <a:rPr kumimoji="0" lang="en-US" altLang="zh-CN" sz="2800" b="0" i="0" u="none" strike="noStrike" kern="1200" cap="none" spc="0" normalizeH="0" baseline="0" noProof="0" dirty="0">
                <a:ln>
                  <a:noFill/>
                </a:ln>
                <a:solidFill>
                  <a:srgbClr val="008000"/>
                </a:solidFill>
                <a:effectLst/>
                <a:uLnTx/>
                <a:uFillTx/>
                <a:latin typeface="黑体"/>
                <a:ea typeface="黑体"/>
                <a:cs typeface="+mn-cs"/>
              </a:rPr>
              <a:t>      // </a:t>
            </a:r>
            <a:r>
              <a:rPr kumimoji="0" lang="zh-CN" altLang="en-US" sz="2800" b="0" i="0" u="none" strike="noStrike" kern="1200" cap="none" spc="0" normalizeH="0" baseline="0" noProof="0" dirty="0">
                <a:ln>
                  <a:noFill/>
                </a:ln>
                <a:solidFill>
                  <a:srgbClr val="008000"/>
                </a:solidFill>
                <a:effectLst/>
                <a:uLnTx/>
                <a:uFillTx/>
                <a:latin typeface="黑体"/>
                <a:ea typeface="黑体"/>
                <a:cs typeface="+mn-cs"/>
              </a:rPr>
              <a:t>遍历左子树</a:t>
            </a:r>
            <a:endParaRPr kumimoji="0" lang="zh-CN" altLang="en-US" sz="2800" b="0" i="0" u="none" strike="noStrike" kern="1200" cap="none" spc="0" normalizeH="0" baseline="0" noProof="0" dirty="0">
              <a:ln>
                <a:noFill/>
              </a:ln>
              <a:solidFill>
                <a:srgbClr val="000000"/>
              </a:solidFill>
              <a:effectLst/>
              <a:uLnTx/>
              <a:uFillTx/>
              <a:latin typeface="黑体"/>
              <a:ea typeface="黑体"/>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0" i="0" u="none" strike="noStrike" kern="1200" cap="none" spc="0" normalizeH="0" baseline="0" noProof="0" dirty="0">
                <a:ln>
                  <a:noFill/>
                </a:ln>
                <a:solidFill>
                  <a:srgbClr val="000000"/>
                </a:solidFill>
                <a:effectLst/>
                <a:uLnTx/>
                <a:uFillTx/>
                <a:latin typeface="黑体"/>
                <a:ea typeface="黑体"/>
                <a:cs typeface="+mn-cs"/>
              </a:rPr>
              <a:t>        </a:t>
            </a:r>
            <a:r>
              <a:rPr kumimoji="0" lang="en-US" altLang="zh-CN" sz="2800" b="0" i="0" u="none" strike="noStrike" kern="1200" cap="none" spc="0" normalizeH="0" baseline="0" noProof="0" dirty="0" err="1">
                <a:ln>
                  <a:noFill/>
                </a:ln>
                <a:solidFill>
                  <a:srgbClr val="795E26"/>
                </a:solidFill>
                <a:effectLst/>
                <a:uLnTx/>
                <a:uFillTx/>
                <a:latin typeface="黑体"/>
                <a:ea typeface="黑体"/>
                <a:cs typeface="+mn-cs"/>
              </a:rPr>
              <a:t>PreOrder</a:t>
            </a:r>
            <a:r>
              <a:rPr kumimoji="0" lang="en-US" altLang="zh-CN" sz="2800" b="0" i="0" u="none" strike="noStrike" kern="1200" cap="none" spc="0" normalizeH="0" baseline="0" noProof="0" dirty="0">
                <a:ln>
                  <a:noFill/>
                </a:ln>
                <a:solidFill>
                  <a:srgbClr val="000000"/>
                </a:solidFill>
                <a:effectLst/>
                <a:uLnTx/>
                <a:uFillTx/>
                <a:latin typeface="黑体"/>
                <a:ea typeface="黑体"/>
                <a:cs typeface="+mn-cs"/>
              </a:rPr>
              <a:t>(</a:t>
            </a:r>
            <a:r>
              <a:rPr kumimoji="0" lang="en-US" altLang="zh-CN" sz="2800" b="0" i="0" u="none" strike="noStrike" kern="1200" cap="none" spc="0" normalizeH="0" baseline="0" noProof="0" dirty="0">
                <a:ln>
                  <a:noFill/>
                </a:ln>
                <a:solidFill>
                  <a:srgbClr val="001080"/>
                </a:solidFill>
                <a:effectLst/>
                <a:uLnTx/>
                <a:uFillTx/>
                <a:latin typeface="黑体"/>
                <a:ea typeface="黑体"/>
                <a:cs typeface="+mn-cs"/>
              </a:rPr>
              <a:t>T</a:t>
            </a:r>
            <a:r>
              <a:rPr kumimoji="0" lang="en-US" altLang="zh-CN" sz="2800" b="0" i="0" u="none" strike="noStrike" kern="1200" cap="none" spc="0" normalizeH="0" baseline="0" noProof="0" dirty="0">
                <a:ln>
                  <a:noFill/>
                </a:ln>
                <a:solidFill>
                  <a:srgbClr val="000000"/>
                </a:solidFill>
                <a:effectLst/>
                <a:uLnTx/>
                <a:uFillTx/>
                <a:latin typeface="黑体"/>
                <a:ea typeface="黑体"/>
                <a:cs typeface="+mn-cs"/>
              </a:rPr>
              <a:t>-&gt;</a:t>
            </a:r>
            <a:r>
              <a:rPr kumimoji="0" lang="en-US" altLang="zh-CN" sz="2800" b="0" i="0" u="none" strike="noStrike" kern="1200" cap="none" spc="0" normalizeH="0" baseline="0" noProof="0" dirty="0" err="1">
                <a:ln>
                  <a:noFill/>
                </a:ln>
                <a:solidFill>
                  <a:srgbClr val="001080"/>
                </a:solidFill>
                <a:effectLst/>
                <a:uLnTx/>
                <a:uFillTx/>
                <a:latin typeface="黑体"/>
                <a:ea typeface="黑体"/>
                <a:cs typeface="+mn-cs"/>
              </a:rPr>
              <a:t>rchild</a:t>
            </a:r>
            <a:r>
              <a:rPr kumimoji="0" lang="en-US" altLang="zh-CN" sz="2800" b="0" i="0" u="none" strike="noStrike" kern="1200" cap="none" spc="0" normalizeH="0" baseline="0" noProof="0" dirty="0">
                <a:ln>
                  <a:noFill/>
                </a:ln>
                <a:solidFill>
                  <a:srgbClr val="000000"/>
                </a:solidFill>
                <a:effectLst/>
                <a:uLnTx/>
                <a:uFillTx/>
                <a:latin typeface="黑体"/>
                <a:ea typeface="黑体"/>
                <a:cs typeface="+mn-cs"/>
              </a:rPr>
              <a:t>);</a:t>
            </a:r>
            <a:r>
              <a:rPr kumimoji="0" lang="en-US" altLang="zh-CN" sz="2800" b="0" i="0" u="none" strike="noStrike" kern="1200" cap="none" spc="0" normalizeH="0" baseline="0" noProof="0" dirty="0">
                <a:ln>
                  <a:noFill/>
                </a:ln>
                <a:solidFill>
                  <a:srgbClr val="008000"/>
                </a:solidFill>
                <a:effectLst/>
                <a:uLnTx/>
                <a:uFillTx/>
                <a:latin typeface="黑体"/>
                <a:ea typeface="黑体"/>
                <a:cs typeface="+mn-cs"/>
              </a:rPr>
              <a:t>      // </a:t>
            </a:r>
            <a:r>
              <a:rPr kumimoji="0" lang="zh-CN" altLang="en-US" sz="2800" b="0" i="0" u="none" strike="noStrike" kern="1200" cap="none" spc="0" normalizeH="0" baseline="0" noProof="0" dirty="0">
                <a:ln>
                  <a:noFill/>
                </a:ln>
                <a:solidFill>
                  <a:srgbClr val="008000"/>
                </a:solidFill>
                <a:effectLst/>
                <a:uLnTx/>
                <a:uFillTx/>
                <a:latin typeface="黑体"/>
                <a:ea typeface="黑体"/>
                <a:cs typeface="+mn-cs"/>
              </a:rPr>
              <a:t>遍历右子树</a:t>
            </a:r>
            <a:endParaRPr kumimoji="0" lang="zh-CN" altLang="en-US" sz="2800" b="0" i="0" u="none" strike="noStrike" kern="1200" cap="none" spc="0" normalizeH="0" baseline="0" noProof="0" dirty="0">
              <a:ln>
                <a:noFill/>
              </a:ln>
              <a:solidFill>
                <a:srgbClr val="000000"/>
              </a:solidFill>
              <a:effectLst/>
              <a:uLnTx/>
              <a:uFillTx/>
              <a:latin typeface="黑体"/>
              <a:ea typeface="黑体"/>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0" i="0" u="none" strike="noStrike" kern="1200" cap="none" spc="0" normalizeH="0" baseline="0" noProof="0" dirty="0">
                <a:ln>
                  <a:noFill/>
                </a:ln>
                <a:solidFill>
                  <a:srgbClr val="000000"/>
                </a:solidFill>
                <a:effectLst/>
                <a:uLnTx/>
                <a:uFillTx/>
                <a:latin typeface="黑体"/>
                <a:ea typeface="黑体"/>
                <a:cs typeface="+mn-cs"/>
              </a:rPr>
              <a:t>    </a:t>
            </a:r>
            <a:r>
              <a:rPr kumimoji="0" lang="en-US" altLang="zh-CN" sz="2800" b="0" i="0" u="none" strike="noStrike" kern="1200" cap="none" spc="0" normalizeH="0" baseline="0" noProof="0" dirty="0">
                <a:ln>
                  <a:noFill/>
                </a:ln>
                <a:solidFill>
                  <a:srgbClr val="000000"/>
                </a:solidFill>
                <a:effectLst/>
                <a:uLnTx/>
                <a:uFillTx/>
                <a:latin typeface="黑体"/>
                <a:ea typeface="黑体"/>
                <a:cs typeface="+mn-cs"/>
              </a:rPr>
              <a: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800" b="0" i="0" u="none" strike="noStrike" kern="1200" cap="none" spc="0" normalizeH="0" baseline="0" noProof="0" dirty="0">
                <a:ln>
                  <a:noFill/>
                </a:ln>
                <a:solidFill>
                  <a:srgbClr val="000000"/>
                </a:solidFill>
                <a:effectLst/>
                <a:uLnTx/>
                <a:uFillTx/>
                <a:latin typeface="黑体"/>
                <a:ea typeface="黑体"/>
                <a:cs typeface="+mn-cs"/>
              </a:rPr>
              <a:t>}</a:t>
            </a:r>
          </a:p>
        </p:txBody>
      </p:sp>
      <p:sp>
        <p:nvSpPr>
          <p:cNvPr id="27657" name="AutoShape 9">
            <a:hlinkClick r:id="rId3" action="ppaction://hlinksldjump" highlightClick="1"/>
            <a:extLst>
              <a:ext uri="{FF2B5EF4-FFF2-40B4-BE49-F238E27FC236}">
                <a16:creationId xmlns:a16="http://schemas.microsoft.com/office/drawing/2014/main" id="{2EDB9401-8AD5-4024-ABE0-8C6FEF986EAE}"/>
              </a:ext>
            </a:extLst>
          </p:cNvPr>
          <p:cNvSpPr>
            <a:spLocks noChangeArrowheads="1"/>
          </p:cNvSpPr>
          <p:nvPr/>
        </p:nvSpPr>
        <p:spPr bwMode="auto">
          <a:xfrm>
            <a:off x="8458200" y="61722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 name="Text Box 4">
            <a:extLst>
              <a:ext uri="{FF2B5EF4-FFF2-40B4-BE49-F238E27FC236}">
                <a16:creationId xmlns:a16="http://schemas.microsoft.com/office/drawing/2014/main" id="{2A0D7D5C-E431-43E2-81EA-33437E95E6AB}"/>
              </a:ext>
            </a:extLst>
          </p:cNvPr>
          <p:cNvSpPr txBox="1">
            <a:spLocks noChangeArrowheads="1"/>
          </p:cNvSpPr>
          <p:nvPr/>
        </p:nvSpPr>
        <p:spPr bwMode="auto">
          <a:xfrm>
            <a:off x="368857" y="222306"/>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二叉树中序、后序遍历实现</a:t>
            </a:r>
          </a:p>
        </p:txBody>
      </p:sp>
      <p:sp>
        <p:nvSpPr>
          <p:cNvPr id="5" name="Rectangle 2">
            <a:extLst>
              <a:ext uri="{FF2B5EF4-FFF2-40B4-BE49-F238E27FC236}">
                <a16:creationId xmlns:a16="http://schemas.microsoft.com/office/drawing/2014/main" id="{56FAFF39-C919-41D6-95B3-6C3F4159D8D8}"/>
              </a:ext>
            </a:extLst>
          </p:cNvPr>
          <p:cNvSpPr txBox="1">
            <a:spLocks noChangeArrowheads="1"/>
          </p:cNvSpPr>
          <p:nvPr/>
        </p:nvSpPr>
        <p:spPr>
          <a:xfrm>
            <a:off x="539552" y="1268760"/>
            <a:ext cx="8136904" cy="685800"/>
          </a:xfrm>
          <a:prstGeom prst="rect">
            <a:avLst/>
          </a:prstGeom>
        </p:spPr>
        <p:txBody>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Times New Roman" pitchFamily="18" charset="0"/>
                <a:ea typeface="黑体" pitchFamily="2" charset="-122"/>
              </a:defRPr>
            </a:lvl2pPr>
            <a:lvl3pPr algn="l" rtl="0" eaLnBrk="0" fontAlgn="base" hangingPunct="0">
              <a:spcBef>
                <a:spcPct val="0"/>
              </a:spcBef>
              <a:spcAft>
                <a:spcPct val="0"/>
              </a:spcAft>
              <a:defRPr sz="4200">
                <a:solidFill>
                  <a:schemeClr val="tx2"/>
                </a:solidFill>
                <a:latin typeface="Times New Roman" pitchFamily="18" charset="0"/>
                <a:ea typeface="黑体" pitchFamily="2" charset="-122"/>
              </a:defRPr>
            </a:lvl3pPr>
            <a:lvl4pPr algn="l" rtl="0" eaLnBrk="0" fontAlgn="base" hangingPunct="0">
              <a:spcBef>
                <a:spcPct val="0"/>
              </a:spcBef>
              <a:spcAft>
                <a:spcPct val="0"/>
              </a:spcAft>
              <a:defRPr sz="4200">
                <a:solidFill>
                  <a:schemeClr val="tx2"/>
                </a:solidFill>
                <a:latin typeface="Times New Roman" pitchFamily="18" charset="0"/>
                <a:ea typeface="黑体" pitchFamily="2" charset="-122"/>
              </a:defRPr>
            </a:lvl4pPr>
            <a:lvl5pPr algn="l" rtl="0" eaLnBrk="0" fontAlgn="base" hangingPunct="0">
              <a:spcBef>
                <a:spcPct val="0"/>
              </a:spcBef>
              <a:spcAft>
                <a:spcPct val="0"/>
              </a:spcAft>
              <a:defRPr sz="4200">
                <a:solidFill>
                  <a:schemeClr val="tx2"/>
                </a:solidFill>
                <a:latin typeface="Times New Roman" pitchFamily="18" charset="0"/>
                <a:ea typeface="黑体" pitchFamily="2" charset="-122"/>
              </a:defRPr>
            </a:lvl5pPr>
            <a:lvl6pPr marL="457200" algn="l" rtl="0" fontAlgn="base">
              <a:spcBef>
                <a:spcPct val="0"/>
              </a:spcBef>
              <a:spcAft>
                <a:spcPct val="0"/>
              </a:spcAft>
              <a:defRPr sz="4200">
                <a:solidFill>
                  <a:schemeClr val="tx2"/>
                </a:solidFill>
                <a:latin typeface="Times New Roman" pitchFamily="18" charset="0"/>
                <a:ea typeface="黑体" pitchFamily="2" charset="-122"/>
              </a:defRPr>
            </a:lvl6pPr>
            <a:lvl7pPr marL="914400" algn="l" rtl="0" fontAlgn="base">
              <a:spcBef>
                <a:spcPct val="0"/>
              </a:spcBef>
              <a:spcAft>
                <a:spcPct val="0"/>
              </a:spcAft>
              <a:defRPr sz="4200">
                <a:solidFill>
                  <a:schemeClr val="tx2"/>
                </a:solidFill>
                <a:latin typeface="Times New Roman" pitchFamily="18" charset="0"/>
                <a:ea typeface="黑体" pitchFamily="2" charset="-122"/>
              </a:defRPr>
            </a:lvl7pPr>
            <a:lvl8pPr marL="1371600" algn="l" rtl="0" fontAlgn="base">
              <a:spcBef>
                <a:spcPct val="0"/>
              </a:spcBef>
              <a:spcAft>
                <a:spcPct val="0"/>
              </a:spcAft>
              <a:defRPr sz="4200">
                <a:solidFill>
                  <a:schemeClr val="tx2"/>
                </a:solidFill>
                <a:latin typeface="Times New Roman" pitchFamily="18" charset="0"/>
                <a:ea typeface="黑体" pitchFamily="2" charset="-122"/>
              </a:defRPr>
            </a:lvl8pPr>
            <a:lvl9pPr marL="1828800" algn="l" rtl="0" fontAlgn="base">
              <a:spcBef>
                <a:spcPct val="0"/>
              </a:spcBef>
              <a:spcAft>
                <a:spcPct val="0"/>
              </a:spcAft>
              <a:defRPr sz="4200">
                <a:solidFill>
                  <a:schemeClr val="tx2"/>
                </a:solidFill>
                <a:latin typeface="Times New Roman" pitchFamily="18" charset="0"/>
                <a:ea typeface="黑体" pitchFamily="2" charset="-122"/>
              </a:defRPr>
            </a:lvl9pPr>
          </a:lstStyle>
          <a:p>
            <a:pPr eaLnBrk="1" hangingPunct="1"/>
            <a:r>
              <a:rPr lang="zh-CN" altLang="en-US" sz="2800" b="0" i="0" kern="0" dirty="0">
                <a:latin typeface="黑体" panose="02010609060101010101" pitchFamily="49" charset="-122"/>
                <a:ea typeface="黑体" panose="02010609060101010101" pitchFamily="49" charset="-122"/>
              </a:rPr>
              <a:t>同二叉树先序遍历实现，改变</a:t>
            </a:r>
            <a:r>
              <a:rPr lang="en-US" altLang="zh-CN" sz="2800" b="0" i="0" kern="0" dirty="0" err="1">
                <a:latin typeface="黑体" panose="02010609060101010101" pitchFamily="49" charset="-122"/>
                <a:ea typeface="黑体" panose="02010609060101010101" pitchFamily="49" charset="-122"/>
              </a:rPr>
              <a:t>cout</a:t>
            </a:r>
            <a:r>
              <a:rPr lang="zh-CN" altLang="en-US" sz="2800" b="0" i="0" kern="0" dirty="0">
                <a:latin typeface="黑体" panose="02010609060101010101" pitchFamily="49" charset="-122"/>
                <a:ea typeface="黑体" panose="02010609060101010101" pitchFamily="49" charset="-122"/>
              </a:rPr>
              <a:t>的语句顺序，改函数名即可。</a:t>
            </a:r>
            <a:endParaRPr lang="en-US" altLang="zh-CN" sz="2800" b="0" i="0" kern="0" dirty="0">
              <a:latin typeface="黑体" panose="02010609060101010101" pitchFamily="49" charset="-122"/>
              <a:ea typeface="黑体" panose="02010609060101010101" pitchFamily="49" charset="-122"/>
            </a:endParaRPr>
          </a:p>
        </p:txBody>
      </p:sp>
      <p:sp>
        <p:nvSpPr>
          <p:cNvPr id="7" name="对话气泡: 椭圆形 6">
            <a:extLst>
              <a:ext uri="{FF2B5EF4-FFF2-40B4-BE49-F238E27FC236}">
                <a16:creationId xmlns:a16="http://schemas.microsoft.com/office/drawing/2014/main" id="{A6F8320B-DF15-4C4D-B2AB-F1C2A52ED2F4}"/>
              </a:ext>
            </a:extLst>
          </p:cNvPr>
          <p:cNvSpPr/>
          <p:nvPr/>
        </p:nvSpPr>
        <p:spPr bwMode="auto">
          <a:xfrm>
            <a:off x="3923928" y="1850945"/>
            <a:ext cx="4390256" cy="605909"/>
          </a:xfrm>
          <a:prstGeom prst="wedgeEllipseCallout">
            <a:avLst>
              <a:gd name="adj1" fmla="val -46153"/>
              <a:gd name="adj2" fmla="val 105041"/>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r>
              <a:rPr lang="en-US" altLang="zh-CN" sz="2800" i="0" dirty="0" err="1"/>
              <a:t>InOrder</a:t>
            </a:r>
            <a:r>
              <a:rPr lang="en-US" altLang="zh-CN" sz="2800" i="0" dirty="0"/>
              <a:t>, </a:t>
            </a:r>
            <a:r>
              <a:rPr kumimoji="0" lang="en-US" altLang="zh-CN" sz="2800" b="1" i="0" u="none" strike="noStrike" cap="none" normalizeH="0" baseline="0" dirty="0" err="1">
                <a:ln>
                  <a:noFill/>
                </a:ln>
                <a:solidFill>
                  <a:schemeClr val="tx1"/>
                </a:solidFill>
                <a:effectLst/>
                <a:latin typeface="Times New Roman" pitchFamily="18" charset="0"/>
                <a:ea typeface="宋体" pitchFamily="2" charset="-122"/>
              </a:rPr>
              <a:t>PostOrder</a:t>
            </a:r>
            <a:endParaRPr kumimoji="0" lang="zh-CN" altLang="en-US" sz="2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8" name="对话气泡: 椭圆形 7">
            <a:extLst>
              <a:ext uri="{FF2B5EF4-FFF2-40B4-BE49-F238E27FC236}">
                <a16:creationId xmlns:a16="http://schemas.microsoft.com/office/drawing/2014/main" id="{7B50CE64-F155-4080-9790-47520DC9B5C8}"/>
              </a:ext>
            </a:extLst>
          </p:cNvPr>
          <p:cNvSpPr/>
          <p:nvPr/>
        </p:nvSpPr>
        <p:spPr bwMode="auto">
          <a:xfrm>
            <a:off x="3779912" y="3537864"/>
            <a:ext cx="4390256" cy="605909"/>
          </a:xfrm>
          <a:prstGeom prst="wedgeEllipseCallout">
            <a:avLst>
              <a:gd name="adj1" fmla="val -46153"/>
              <a:gd name="adj2" fmla="val 105041"/>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r>
              <a:rPr lang="zh-CN" altLang="en-US" sz="2800" i="0" dirty="0"/>
              <a:t>放中间，</a:t>
            </a:r>
            <a:r>
              <a:rPr lang="en-US" altLang="zh-CN" sz="2800" i="0" dirty="0"/>
              <a:t> </a:t>
            </a:r>
            <a:r>
              <a:rPr lang="zh-CN" altLang="en-US" sz="2800" i="0" dirty="0"/>
              <a:t>放最后</a:t>
            </a:r>
            <a:endParaRPr kumimoji="0" lang="zh-CN" altLang="en-US" sz="2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9" name="对话气泡: 椭圆形 8">
            <a:extLst>
              <a:ext uri="{FF2B5EF4-FFF2-40B4-BE49-F238E27FC236}">
                <a16:creationId xmlns:a16="http://schemas.microsoft.com/office/drawing/2014/main" id="{AC360E54-7052-450C-AEA0-EA9FBE04E391}"/>
              </a:ext>
            </a:extLst>
          </p:cNvPr>
          <p:cNvSpPr/>
          <p:nvPr/>
        </p:nvSpPr>
        <p:spPr bwMode="auto">
          <a:xfrm>
            <a:off x="2483768" y="4094173"/>
            <a:ext cx="3312368" cy="605909"/>
          </a:xfrm>
          <a:prstGeom prst="wedgeEllipseCallout">
            <a:avLst>
              <a:gd name="adj1" fmla="val -45077"/>
              <a:gd name="adj2" fmla="val 105041"/>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r>
              <a:rPr lang="zh-CN" altLang="en-US" sz="2800" i="0" dirty="0"/>
              <a:t>注意改函数名</a:t>
            </a:r>
            <a:endParaRPr kumimoji="0" lang="zh-CN" altLang="en-US" sz="2800" b="1" i="0" u="none" strike="noStrike" cap="none" normalizeH="0" baseline="0" dirty="0">
              <a:ln>
                <a:noFill/>
              </a:ln>
              <a:solidFill>
                <a:schemeClr val="tx1"/>
              </a:solidFill>
              <a:effectLst/>
              <a:latin typeface="Times New Roman" pitchFamily="18" charset="0"/>
              <a:ea typeface="宋体" pitchFamily="2" charset="-122"/>
            </a:endParaRPr>
          </a:p>
        </p:txBody>
      </p:sp>
    </p:spTree>
    <p:extLst>
      <p:ext uri="{BB962C8B-B14F-4D97-AF65-F5344CB8AC3E}">
        <p14:creationId xmlns:p14="http://schemas.microsoft.com/office/powerpoint/2010/main" val="2489000321"/>
      </p:ext>
    </p:extLst>
  </p:cSld>
  <p:clrMapOvr>
    <a:masterClrMapping/>
  </p:clrMapOvr>
  <p:transition spd="med">
    <p:pull dir="d"/>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6" fill="hold" grpId="0" nodeType="afterEffect">
                                  <p:stCondLst>
                                    <p:cond delay="0"/>
                                  </p:stCondLst>
                                  <p:childTnLst>
                                    <p:set>
                                      <p:cBhvr>
                                        <p:cTn id="6" dur="1" fill="hold">
                                          <p:stCondLst>
                                            <p:cond delay="0"/>
                                          </p:stCondLst>
                                        </p:cTn>
                                        <p:tgtEl>
                                          <p:spTgt spid="27657"/>
                                        </p:tgtEl>
                                        <p:attrNameLst>
                                          <p:attrName>style.visibility</p:attrName>
                                        </p:attrNameLst>
                                      </p:cBhvr>
                                      <p:to>
                                        <p:strVal val="visible"/>
                                      </p:to>
                                    </p:set>
                                    <p:anim calcmode="lin" valueType="num">
                                      <p:cBhvr additive="base">
                                        <p:cTn id="7" dur="500" fill="hold"/>
                                        <p:tgtEl>
                                          <p:spTgt spid="27657"/>
                                        </p:tgtEl>
                                        <p:attrNameLst>
                                          <p:attrName>ppt_x</p:attrName>
                                        </p:attrNameLst>
                                      </p:cBhvr>
                                      <p:tavLst>
                                        <p:tav tm="0">
                                          <p:val>
                                            <p:strVal val="1+#ppt_w/2"/>
                                          </p:val>
                                        </p:tav>
                                        <p:tav tm="100000">
                                          <p:val>
                                            <p:strVal val="#ppt_x"/>
                                          </p:val>
                                        </p:tav>
                                      </p:tavLst>
                                    </p:anim>
                                    <p:anim calcmode="lin" valueType="num">
                                      <p:cBhvr additive="base">
                                        <p:cTn id="8" dur="500" fill="hold"/>
                                        <p:tgtEl>
                                          <p:spTgt spid="2765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7" grpId="0" animBg="1"/>
      <p:bldP spid="7" grpId="0" animBg="1"/>
      <p:bldP spid="8" grpId="0" animBg="1"/>
      <p:bldP spid="9"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7" name="AutoShape 9">
            <a:hlinkClick r:id="rId3" action="ppaction://hlinksldjump" highlightClick="1"/>
            <a:extLst>
              <a:ext uri="{FF2B5EF4-FFF2-40B4-BE49-F238E27FC236}">
                <a16:creationId xmlns:a16="http://schemas.microsoft.com/office/drawing/2014/main" id="{2EDB9401-8AD5-4024-ABE0-8C6FEF986EAE}"/>
              </a:ext>
            </a:extLst>
          </p:cNvPr>
          <p:cNvSpPr>
            <a:spLocks noChangeArrowheads="1"/>
          </p:cNvSpPr>
          <p:nvPr/>
        </p:nvSpPr>
        <p:spPr bwMode="auto">
          <a:xfrm>
            <a:off x="8458200" y="61722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 name="Text Box 4">
            <a:extLst>
              <a:ext uri="{FF2B5EF4-FFF2-40B4-BE49-F238E27FC236}">
                <a16:creationId xmlns:a16="http://schemas.microsoft.com/office/drawing/2014/main" id="{2A0D7D5C-E431-43E2-81EA-33437E95E6AB}"/>
              </a:ext>
            </a:extLst>
          </p:cNvPr>
          <p:cNvSpPr txBox="1">
            <a:spLocks noChangeArrowheads="1"/>
          </p:cNvSpPr>
          <p:nvPr/>
        </p:nvSpPr>
        <p:spPr bwMode="auto">
          <a:xfrm>
            <a:off x="368857" y="222306"/>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二叉树遍历及启示</a:t>
            </a:r>
          </a:p>
        </p:txBody>
      </p:sp>
      <p:sp>
        <p:nvSpPr>
          <p:cNvPr id="5" name="Rectangle 2">
            <a:extLst>
              <a:ext uri="{FF2B5EF4-FFF2-40B4-BE49-F238E27FC236}">
                <a16:creationId xmlns:a16="http://schemas.microsoft.com/office/drawing/2014/main" id="{56FAFF39-C919-41D6-95B3-6C3F4159D8D8}"/>
              </a:ext>
            </a:extLst>
          </p:cNvPr>
          <p:cNvSpPr txBox="1">
            <a:spLocks noChangeArrowheads="1"/>
          </p:cNvSpPr>
          <p:nvPr/>
        </p:nvSpPr>
        <p:spPr>
          <a:xfrm>
            <a:off x="539552" y="1268760"/>
            <a:ext cx="8136904" cy="1800200"/>
          </a:xfrm>
          <a:prstGeom prst="rect">
            <a:avLst/>
          </a:prstGeom>
        </p:spPr>
        <p:txBody>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Times New Roman" pitchFamily="18" charset="0"/>
                <a:ea typeface="黑体" pitchFamily="2" charset="-122"/>
              </a:defRPr>
            </a:lvl2pPr>
            <a:lvl3pPr algn="l" rtl="0" eaLnBrk="0" fontAlgn="base" hangingPunct="0">
              <a:spcBef>
                <a:spcPct val="0"/>
              </a:spcBef>
              <a:spcAft>
                <a:spcPct val="0"/>
              </a:spcAft>
              <a:defRPr sz="4200">
                <a:solidFill>
                  <a:schemeClr val="tx2"/>
                </a:solidFill>
                <a:latin typeface="Times New Roman" pitchFamily="18" charset="0"/>
                <a:ea typeface="黑体" pitchFamily="2" charset="-122"/>
              </a:defRPr>
            </a:lvl3pPr>
            <a:lvl4pPr algn="l" rtl="0" eaLnBrk="0" fontAlgn="base" hangingPunct="0">
              <a:spcBef>
                <a:spcPct val="0"/>
              </a:spcBef>
              <a:spcAft>
                <a:spcPct val="0"/>
              </a:spcAft>
              <a:defRPr sz="4200">
                <a:solidFill>
                  <a:schemeClr val="tx2"/>
                </a:solidFill>
                <a:latin typeface="Times New Roman" pitchFamily="18" charset="0"/>
                <a:ea typeface="黑体" pitchFamily="2" charset="-122"/>
              </a:defRPr>
            </a:lvl4pPr>
            <a:lvl5pPr algn="l" rtl="0" eaLnBrk="0" fontAlgn="base" hangingPunct="0">
              <a:spcBef>
                <a:spcPct val="0"/>
              </a:spcBef>
              <a:spcAft>
                <a:spcPct val="0"/>
              </a:spcAft>
              <a:defRPr sz="4200">
                <a:solidFill>
                  <a:schemeClr val="tx2"/>
                </a:solidFill>
                <a:latin typeface="Times New Roman" pitchFamily="18" charset="0"/>
                <a:ea typeface="黑体" pitchFamily="2" charset="-122"/>
              </a:defRPr>
            </a:lvl5pPr>
            <a:lvl6pPr marL="457200" algn="l" rtl="0" fontAlgn="base">
              <a:spcBef>
                <a:spcPct val="0"/>
              </a:spcBef>
              <a:spcAft>
                <a:spcPct val="0"/>
              </a:spcAft>
              <a:defRPr sz="4200">
                <a:solidFill>
                  <a:schemeClr val="tx2"/>
                </a:solidFill>
                <a:latin typeface="Times New Roman" pitchFamily="18" charset="0"/>
                <a:ea typeface="黑体" pitchFamily="2" charset="-122"/>
              </a:defRPr>
            </a:lvl6pPr>
            <a:lvl7pPr marL="914400" algn="l" rtl="0" fontAlgn="base">
              <a:spcBef>
                <a:spcPct val="0"/>
              </a:spcBef>
              <a:spcAft>
                <a:spcPct val="0"/>
              </a:spcAft>
              <a:defRPr sz="4200">
                <a:solidFill>
                  <a:schemeClr val="tx2"/>
                </a:solidFill>
                <a:latin typeface="Times New Roman" pitchFamily="18" charset="0"/>
                <a:ea typeface="黑体" pitchFamily="2" charset="-122"/>
              </a:defRPr>
            </a:lvl7pPr>
            <a:lvl8pPr marL="1371600" algn="l" rtl="0" fontAlgn="base">
              <a:spcBef>
                <a:spcPct val="0"/>
              </a:spcBef>
              <a:spcAft>
                <a:spcPct val="0"/>
              </a:spcAft>
              <a:defRPr sz="4200">
                <a:solidFill>
                  <a:schemeClr val="tx2"/>
                </a:solidFill>
                <a:latin typeface="Times New Roman" pitchFamily="18" charset="0"/>
                <a:ea typeface="黑体" pitchFamily="2" charset="-122"/>
              </a:defRPr>
            </a:lvl8pPr>
            <a:lvl9pPr marL="1828800" algn="l" rtl="0" fontAlgn="base">
              <a:spcBef>
                <a:spcPct val="0"/>
              </a:spcBef>
              <a:spcAft>
                <a:spcPct val="0"/>
              </a:spcAft>
              <a:defRPr sz="4200">
                <a:solidFill>
                  <a:schemeClr val="tx2"/>
                </a:solidFill>
                <a:latin typeface="Times New Roman" pitchFamily="18" charset="0"/>
                <a:ea typeface="黑体" pitchFamily="2" charset="-122"/>
              </a:defRPr>
            </a:lvl9pPr>
          </a:lstStyle>
          <a:p>
            <a:pPr marL="457200" indent="-457200" eaLnBrk="1" hangingPunct="1">
              <a:lnSpc>
                <a:spcPct val="150000"/>
              </a:lnSpc>
              <a:buClr>
                <a:srgbClr val="FF0000"/>
              </a:buClr>
              <a:buFont typeface="Wingdings" panose="05000000000000000000" pitchFamily="2" charset="2"/>
              <a:buChar char="p"/>
            </a:pPr>
            <a:r>
              <a:rPr lang="zh-CN" altLang="zh-CN" sz="2800" b="0" i="0" kern="100" dirty="0">
                <a:effectLst/>
                <a:latin typeface="+mn-ea"/>
                <a:ea typeface="+mn-ea"/>
              </a:rPr>
              <a:t>不同遍历得到不同序列</a:t>
            </a:r>
            <a:r>
              <a:rPr lang="zh-CN" altLang="en-US" sz="2800" b="0" i="0" kern="100" dirty="0">
                <a:latin typeface="+mn-ea"/>
                <a:ea typeface="+mn-ea"/>
              </a:rPr>
              <a:t>。</a:t>
            </a:r>
            <a:endParaRPr lang="en-US" altLang="zh-CN" sz="2800" b="0" i="0" kern="100" dirty="0">
              <a:effectLst/>
              <a:latin typeface="+mn-ea"/>
              <a:ea typeface="+mn-ea"/>
            </a:endParaRPr>
          </a:p>
          <a:p>
            <a:pPr marL="457200" indent="-457200" eaLnBrk="1" hangingPunct="1">
              <a:lnSpc>
                <a:spcPct val="150000"/>
              </a:lnSpc>
              <a:buClr>
                <a:srgbClr val="FF0000"/>
              </a:buClr>
              <a:buFont typeface="Wingdings" panose="05000000000000000000" pitchFamily="2" charset="2"/>
              <a:buChar char="p"/>
            </a:pPr>
            <a:r>
              <a:rPr lang="zh-CN" altLang="zh-CN" sz="2800" b="0" i="0" kern="100" dirty="0">
                <a:effectLst/>
                <a:latin typeface="+mn-ea"/>
                <a:ea typeface="+mn-ea"/>
              </a:rPr>
              <a:t>从不同角度看问题会得到不同的结果，学会换位思考。</a:t>
            </a:r>
          </a:p>
          <a:p>
            <a:pPr marL="457200" indent="-457200" eaLnBrk="1" hangingPunct="1">
              <a:buClr>
                <a:srgbClr val="FF0000"/>
              </a:buClr>
              <a:buFont typeface="Wingdings" panose="05000000000000000000" pitchFamily="2" charset="2"/>
              <a:buChar char="p"/>
            </a:pPr>
            <a:endParaRPr lang="en-US" altLang="zh-CN" sz="3200" b="0" i="0" kern="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557649153"/>
      </p:ext>
    </p:extLst>
  </p:cSld>
  <p:clrMapOvr>
    <a:masterClrMapping/>
  </p:clrMapOvr>
  <p:transition spd="med">
    <p:pull dir="d"/>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6" fill="hold" grpId="0" nodeType="afterEffect">
                                  <p:stCondLst>
                                    <p:cond delay="0"/>
                                  </p:stCondLst>
                                  <p:childTnLst>
                                    <p:set>
                                      <p:cBhvr>
                                        <p:cTn id="6" dur="1" fill="hold">
                                          <p:stCondLst>
                                            <p:cond delay="0"/>
                                          </p:stCondLst>
                                        </p:cTn>
                                        <p:tgtEl>
                                          <p:spTgt spid="27657"/>
                                        </p:tgtEl>
                                        <p:attrNameLst>
                                          <p:attrName>style.visibility</p:attrName>
                                        </p:attrNameLst>
                                      </p:cBhvr>
                                      <p:to>
                                        <p:strVal val="visible"/>
                                      </p:to>
                                    </p:set>
                                    <p:anim calcmode="lin" valueType="num">
                                      <p:cBhvr additive="base">
                                        <p:cTn id="7" dur="500" fill="hold"/>
                                        <p:tgtEl>
                                          <p:spTgt spid="27657"/>
                                        </p:tgtEl>
                                        <p:attrNameLst>
                                          <p:attrName>ppt_x</p:attrName>
                                        </p:attrNameLst>
                                      </p:cBhvr>
                                      <p:tavLst>
                                        <p:tav tm="0">
                                          <p:val>
                                            <p:strVal val="1+#ppt_w/2"/>
                                          </p:val>
                                        </p:tav>
                                        <p:tav tm="100000">
                                          <p:val>
                                            <p:strVal val="#ppt_x"/>
                                          </p:val>
                                        </p:tav>
                                      </p:tavLst>
                                    </p:anim>
                                    <p:anim calcmode="lin" valueType="num">
                                      <p:cBhvr additive="base">
                                        <p:cTn id="8" dur="500" fill="hold"/>
                                        <p:tgtEl>
                                          <p:spTgt spid="2765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7"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4">
            <a:extLst>
              <a:ext uri="{FF2B5EF4-FFF2-40B4-BE49-F238E27FC236}">
                <a16:creationId xmlns:a16="http://schemas.microsoft.com/office/drawing/2014/main" id="{2A0D7D5C-E431-43E2-81EA-33437E95E6AB}"/>
              </a:ext>
            </a:extLst>
          </p:cNvPr>
          <p:cNvSpPr txBox="1">
            <a:spLocks noChangeArrowheads="1"/>
          </p:cNvSpPr>
          <p:nvPr/>
        </p:nvSpPr>
        <p:spPr bwMode="auto">
          <a:xfrm>
            <a:off x="368857" y="222306"/>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二叉树遍历的非递归实现</a:t>
            </a:r>
          </a:p>
        </p:txBody>
      </p:sp>
      <p:sp>
        <p:nvSpPr>
          <p:cNvPr id="5" name="Rectangle 2">
            <a:extLst>
              <a:ext uri="{FF2B5EF4-FFF2-40B4-BE49-F238E27FC236}">
                <a16:creationId xmlns:a16="http://schemas.microsoft.com/office/drawing/2014/main" id="{56FAFF39-C919-41D6-95B3-6C3F4159D8D8}"/>
              </a:ext>
            </a:extLst>
          </p:cNvPr>
          <p:cNvSpPr txBox="1">
            <a:spLocks noChangeArrowheads="1"/>
          </p:cNvSpPr>
          <p:nvPr/>
        </p:nvSpPr>
        <p:spPr>
          <a:xfrm>
            <a:off x="539552" y="1268760"/>
            <a:ext cx="8136904" cy="685800"/>
          </a:xfrm>
          <a:prstGeom prst="rect">
            <a:avLst/>
          </a:prstGeom>
        </p:spPr>
        <p:txBody>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Times New Roman" pitchFamily="18" charset="0"/>
                <a:ea typeface="黑体" pitchFamily="2" charset="-122"/>
              </a:defRPr>
            </a:lvl2pPr>
            <a:lvl3pPr algn="l" rtl="0" eaLnBrk="0" fontAlgn="base" hangingPunct="0">
              <a:spcBef>
                <a:spcPct val="0"/>
              </a:spcBef>
              <a:spcAft>
                <a:spcPct val="0"/>
              </a:spcAft>
              <a:defRPr sz="4200">
                <a:solidFill>
                  <a:schemeClr val="tx2"/>
                </a:solidFill>
                <a:latin typeface="Times New Roman" pitchFamily="18" charset="0"/>
                <a:ea typeface="黑体" pitchFamily="2" charset="-122"/>
              </a:defRPr>
            </a:lvl3pPr>
            <a:lvl4pPr algn="l" rtl="0" eaLnBrk="0" fontAlgn="base" hangingPunct="0">
              <a:spcBef>
                <a:spcPct val="0"/>
              </a:spcBef>
              <a:spcAft>
                <a:spcPct val="0"/>
              </a:spcAft>
              <a:defRPr sz="4200">
                <a:solidFill>
                  <a:schemeClr val="tx2"/>
                </a:solidFill>
                <a:latin typeface="Times New Roman" pitchFamily="18" charset="0"/>
                <a:ea typeface="黑体" pitchFamily="2" charset="-122"/>
              </a:defRPr>
            </a:lvl4pPr>
            <a:lvl5pPr algn="l" rtl="0" eaLnBrk="0" fontAlgn="base" hangingPunct="0">
              <a:spcBef>
                <a:spcPct val="0"/>
              </a:spcBef>
              <a:spcAft>
                <a:spcPct val="0"/>
              </a:spcAft>
              <a:defRPr sz="4200">
                <a:solidFill>
                  <a:schemeClr val="tx2"/>
                </a:solidFill>
                <a:latin typeface="Times New Roman" pitchFamily="18" charset="0"/>
                <a:ea typeface="黑体" pitchFamily="2" charset="-122"/>
              </a:defRPr>
            </a:lvl5pPr>
            <a:lvl6pPr marL="457200" algn="l" rtl="0" fontAlgn="base">
              <a:spcBef>
                <a:spcPct val="0"/>
              </a:spcBef>
              <a:spcAft>
                <a:spcPct val="0"/>
              </a:spcAft>
              <a:defRPr sz="4200">
                <a:solidFill>
                  <a:schemeClr val="tx2"/>
                </a:solidFill>
                <a:latin typeface="Times New Roman" pitchFamily="18" charset="0"/>
                <a:ea typeface="黑体" pitchFamily="2" charset="-122"/>
              </a:defRPr>
            </a:lvl6pPr>
            <a:lvl7pPr marL="914400" algn="l" rtl="0" fontAlgn="base">
              <a:spcBef>
                <a:spcPct val="0"/>
              </a:spcBef>
              <a:spcAft>
                <a:spcPct val="0"/>
              </a:spcAft>
              <a:defRPr sz="4200">
                <a:solidFill>
                  <a:schemeClr val="tx2"/>
                </a:solidFill>
                <a:latin typeface="Times New Roman" pitchFamily="18" charset="0"/>
                <a:ea typeface="黑体" pitchFamily="2" charset="-122"/>
              </a:defRPr>
            </a:lvl7pPr>
            <a:lvl8pPr marL="1371600" algn="l" rtl="0" fontAlgn="base">
              <a:spcBef>
                <a:spcPct val="0"/>
              </a:spcBef>
              <a:spcAft>
                <a:spcPct val="0"/>
              </a:spcAft>
              <a:defRPr sz="4200">
                <a:solidFill>
                  <a:schemeClr val="tx2"/>
                </a:solidFill>
                <a:latin typeface="Times New Roman" pitchFamily="18" charset="0"/>
                <a:ea typeface="黑体" pitchFamily="2" charset="-122"/>
              </a:defRPr>
            </a:lvl8pPr>
            <a:lvl9pPr marL="1828800" algn="l" rtl="0" fontAlgn="base">
              <a:spcBef>
                <a:spcPct val="0"/>
              </a:spcBef>
              <a:spcAft>
                <a:spcPct val="0"/>
              </a:spcAft>
              <a:defRPr sz="4200">
                <a:solidFill>
                  <a:schemeClr val="tx2"/>
                </a:solidFill>
                <a:latin typeface="Times New Roman" pitchFamily="18" charset="0"/>
                <a:ea typeface="黑体" pitchFamily="2" charset="-122"/>
              </a:defRPr>
            </a:lvl9pPr>
          </a:lstStyle>
          <a:p>
            <a:pPr eaLnBrk="1" hangingPunct="1">
              <a:buClr>
                <a:srgbClr val="FF0000"/>
              </a:buClr>
            </a:pPr>
            <a:r>
              <a:rPr lang="zh-CN" altLang="en-US" sz="2800" b="0" i="0" kern="0" dirty="0">
                <a:latin typeface="黑体" panose="02010609060101010101" pitchFamily="49" charset="-122"/>
                <a:ea typeface="黑体" panose="02010609060101010101" pitchFamily="49" charset="-122"/>
              </a:rPr>
              <a:t>非递归实现用栈。</a:t>
            </a:r>
            <a:endParaRPr lang="en-US" altLang="zh-CN" sz="2800" b="0" i="0" kern="0" dirty="0">
              <a:latin typeface="黑体" panose="02010609060101010101" pitchFamily="49" charset="-122"/>
              <a:ea typeface="黑体" panose="02010609060101010101" pitchFamily="49" charset="-122"/>
            </a:endParaRPr>
          </a:p>
          <a:p>
            <a:pPr marL="457200" indent="-457200" eaLnBrk="1" hangingPunct="1">
              <a:buClr>
                <a:srgbClr val="FF0000"/>
              </a:buClr>
              <a:buFont typeface="Wingdings" panose="05000000000000000000" pitchFamily="2" charset="2"/>
              <a:buChar char="p"/>
            </a:pPr>
            <a:r>
              <a:rPr lang="zh-CN" altLang="en-US" sz="2800" b="0" i="0" kern="0" dirty="0">
                <a:latin typeface="黑体" panose="02010609060101010101" pitchFamily="49" charset="-122"/>
                <a:ea typeface="黑体" panose="02010609060101010101" pitchFamily="49" charset="-122"/>
              </a:rPr>
              <a:t>先序遍历：入栈时输出，入栈走左子树，出栈走右子树。</a:t>
            </a:r>
            <a:endParaRPr lang="en-US" altLang="zh-CN" sz="2800" b="0" i="0" kern="0" dirty="0">
              <a:latin typeface="黑体" panose="02010609060101010101" pitchFamily="49" charset="-122"/>
              <a:ea typeface="黑体" panose="02010609060101010101" pitchFamily="49" charset="-122"/>
            </a:endParaRPr>
          </a:p>
          <a:p>
            <a:pPr marL="457200" indent="-457200" eaLnBrk="1" hangingPunct="1">
              <a:buClr>
                <a:srgbClr val="FF0000"/>
              </a:buClr>
              <a:buFont typeface="Wingdings" panose="05000000000000000000" pitchFamily="2" charset="2"/>
              <a:buChar char="p"/>
            </a:pPr>
            <a:r>
              <a:rPr lang="zh-CN" altLang="en-US" sz="2800" b="0" i="0" kern="0" dirty="0">
                <a:latin typeface="黑体" panose="02010609060101010101" pitchFamily="49" charset="-122"/>
                <a:ea typeface="黑体" panose="02010609060101010101" pitchFamily="49" charset="-122"/>
              </a:rPr>
              <a:t>中序遍历：出栈时输出，入栈走左子树，出栈走右子树。</a:t>
            </a:r>
            <a:endParaRPr lang="en-US" altLang="zh-CN" sz="2800" b="0" i="0" kern="0" dirty="0">
              <a:latin typeface="黑体" panose="02010609060101010101" pitchFamily="49" charset="-122"/>
              <a:ea typeface="黑体" panose="02010609060101010101" pitchFamily="49" charset="-122"/>
            </a:endParaRPr>
          </a:p>
          <a:p>
            <a:pPr marL="457200" indent="-457200" eaLnBrk="1" hangingPunct="1">
              <a:buClr>
                <a:srgbClr val="FF0000"/>
              </a:buClr>
              <a:buFont typeface="Wingdings" panose="05000000000000000000" pitchFamily="2" charset="2"/>
              <a:buChar char="p"/>
            </a:pPr>
            <a:r>
              <a:rPr lang="zh-CN" altLang="en-US" sz="2800" b="0" i="0" kern="0" dirty="0">
                <a:latin typeface="黑体" panose="02010609060101010101" pitchFamily="49" charset="-122"/>
                <a:ea typeface="黑体" panose="02010609060101010101" pitchFamily="49" charset="-122"/>
              </a:rPr>
              <a:t>后序遍历：出栈时输出。入栈走左子树，若栈顶右子树为空或栈顶右子树为刚输出的，出栈；否则走右子树。</a:t>
            </a:r>
            <a:endParaRPr lang="en-US" altLang="zh-CN" sz="2800" b="0" i="0" kern="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638006757"/>
      </p:ext>
    </p:extLst>
  </p:cSld>
  <p:clrMapOvr>
    <a:masterClrMapping/>
  </p:clrMapOvr>
  <p:transition spd="med">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4">
            <a:extLst>
              <a:ext uri="{FF2B5EF4-FFF2-40B4-BE49-F238E27FC236}">
                <a16:creationId xmlns:a16="http://schemas.microsoft.com/office/drawing/2014/main" id="{2A0D7D5C-E431-43E2-81EA-33437E95E6AB}"/>
              </a:ext>
            </a:extLst>
          </p:cNvPr>
          <p:cNvSpPr txBox="1">
            <a:spLocks noChangeArrowheads="1"/>
          </p:cNvSpPr>
          <p:nvPr/>
        </p:nvSpPr>
        <p:spPr bwMode="auto">
          <a:xfrm>
            <a:off x="368857" y="222306"/>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二叉树先序遍历的非递归实现</a:t>
            </a:r>
          </a:p>
        </p:txBody>
      </p:sp>
      <p:sp>
        <p:nvSpPr>
          <p:cNvPr id="4" name="文本框 3">
            <a:extLst>
              <a:ext uri="{FF2B5EF4-FFF2-40B4-BE49-F238E27FC236}">
                <a16:creationId xmlns:a16="http://schemas.microsoft.com/office/drawing/2014/main" id="{998E2214-F5A5-D87B-6C23-E82E0818774B}"/>
              </a:ext>
            </a:extLst>
          </p:cNvPr>
          <p:cNvSpPr txBox="1"/>
          <p:nvPr/>
        </p:nvSpPr>
        <p:spPr>
          <a:xfrm>
            <a:off x="539552" y="1268760"/>
            <a:ext cx="7920880" cy="5509200"/>
          </a:xfrm>
          <a:prstGeom prst="rect">
            <a:avLst/>
          </a:prstGeom>
          <a:noFill/>
        </p:spPr>
        <p:txBody>
          <a:bodyPr wrap="square">
            <a:spAutoFit/>
          </a:bodyPr>
          <a:lstStyle/>
          <a:p>
            <a:r>
              <a:rPr lang="en-US" altLang="zh-CN" sz="1600" b="0" i="0" dirty="0">
                <a:solidFill>
                  <a:srgbClr val="008000"/>
                </a:solidFill>
                <a:effectLst/>
                <a:latin typeface="+mn-ea"/>
                <a:ea typeface="+mn-ea"/>
              </a:rPr>
              <a:t>// </a:t>
            </a:r>
            <a:r>
              <a:rPr lang="zh-CN" altLang="en-US" sz="1600" b="0" i="0" dirty="0">
                <a:solidFill>
                  <a:srgbClr val="008000"/>
                </a:solidFill>
                <a:effectLst/>
                <a:latin typeface="+mn-ea"/>
                <a:ea typeface="+mn-ea"/>
              </a:rPr>
              <a:t>先序遍历二叉树</a:t>
            </a:r>
            <a:r>
              <a:rPr lang="en-US" altLang="zh-CN" sz="1600" b="0" i="0" dirty="0">
                <a:solidFill>
                  <a:srgbClr val="008000"/>
                </a:solidFill>
                <a:effectLst/>
                <a:latin typeface="+mn-ea"/>
                <a:ea typeface="+mn-ea"/>
              </a:rPr>
              <a:t>T</a:t>
            </a:r>
            <a:r>
              <a:rPr lang="zh-CN" altLang="en-US" sz="1600" b="0" i="0" dirty="0">
                <a:solidFill>
                  <a:srgbClr val="008000"/>
                </a:solidFill>
                <a:effectLst/>
                <a:latin typeface="+mn-ea"/>
                <a:ea typeface="+mn-ea"/>
              </a:rPr>
              <a:t>，非递归实现</a:t>
            </a:r>
            <a:endParaRPr lang="zh-CN" altLang="en-US" sz="1600" b="0" i="0" dirty="0">
              <a:solidFill>
                <a:srgbClr val="000000"/>
              </a:solidFill>
              <a:effectLst/>
              <a:latin typeface="+mn-ea"/>
              <a:ea typeface="+mn-ea"/>
            </a:endParaRPr>
          </a:p>
          <a:p>
            <a:r>
              <a:rPr lang="en-US" altLang="zh-CN" sz="1600" b="0" i="0" dirty="0">
                <a:solidFill>
                  <a:srgbClr val="0000FF"/>
                </a:solidFill>
                <a:effectLst/>
                <a:latin typeface="+mn-ea"/>
                <a:ea typeface="+mn-ea"/>
              </a:rPr>
              <a:t>void</a:t>
            </a:r>
            <a:r>
              <a:rPr lang="en-US" altLang="zh-CN" sz="1600" b="0" i="0" dirty="0">
                <a:solidFill>
                  <a:srgbClr val="000000"/>
                </a:solidFill>
                <a:effectLst/>
                <a:latin typeface="+mn-ea"/>
                <a:ea typeface="+mn-ea"/>
              </a:rPr>
              <a:t> </a:t>
            </a:r>
            <a:r>
              <a:rPr lang="en-US" altLang="zh-CN" sz="1600" b="0" i="0" dirty="0" err="1">
                <a:solidFill>
                  <a:srgbClr val="795E26"/>
                </a:solidFill>
                <a:effectLst/>
                <a:latin typeface="+mn-ea"/>
                <a:ea typeface="+mn-ea"/>
              </a:rPr>
              <a:t>PreOrder</a:t>
            </a:r>
            <a:r>
              <a:rPr lang="en-US" altLang="zh-CN" sz="1600" b="0" i="0" dirty="0">
                <a:solidFill>
                  <a:srgbClr val="000000"/>
                </a:solidFill>
                <a:effectLst/>
                <a:latin typeface="+mn-ea"/>
                <a:ea typeface="+mn-ea"/>
              </a:rPr>
              <a:t>(</a:t>
            </a:r>
            <a:r>
              <a:rPr lang="en-US" altLang="zh-CN" sz="1600" b="0" i="0" dirty="0" err="1">
                <a:solidFill>
                  <a:srgbClr val="267F99"/>
                </a:solidFill>
                <a:effectLst/>
                <a:latin typeface="+mn-ea"/>
                <a:ea typeface="+mn-ea"/>
              </a:rPr>
              <a:t>BiTree</a:t>
            </a:r>
            <a:r>
              <a:rPr lang="en-US" altLang="zh-CN" sz="1600" b="0" i="0" dirty="0">
                <a:solidFill>
                  <a:srgbClr val="000000"/>
                </a:solidFill>
                <a:effectLst/>
                <a:latin typeface="+mn-ea"/>
                <a:ea typeface="+mn-ea"/>
              </a:rPr>
              <a:t> </a:t>
            </a:r>
            <a:r>
              <a:rPr lang="en-US" altLang="zh-CN" sz="1600" b="0" i="0" dirty="0">
                <a:solidFill>
                  <a:srgbClr val="001080"/>
                </a:solidFill>
                <a:effectLst/>
                <a:latin typeface="+mn-ea"/>
                <a:ea typeface="+mn-ea"/>
              </a:rPr>
              <a:t>T</a:t>
            </a:r>
            <a:r>
              <a:rPr lang="en-US" altLang="zh-CN" sz="1600" b="0" i="0" dirty="0">
                <a:solidFill>
                  <a:srgbClr val="000000"/>
                </a:solidFill>
                <a:effectLst/>
                <a:latin typeface="+mn-ea"/>
                <a:ea typeface="+mn-ea"/>
              </a:rPr>
              <a:t>)</a:t>
            </a:r>
          </a:p>
          <a:p>
            <a:r>
              <a:rPr lang="en-US" altLang="zh-CN" sz="1600" b="0" i="0" dirty="0">
                <a:solidFill>
                  <a:srgbClr val="000000"/>
                </a:solidFill>
                <a:effectLst/>
                <a:latin typeface="+mn-ea"/>
                <a:ea typeface="+mn-ea"/>
              </a:rPr>
              <a:t>{</a:t>
            </a:r>
          </a:p>
          <a:p>
            <a:r>
              <a:rPr lang="en-US" altLang="zh-CN" sz="1600" b="0" i="0" dirty="0">
                <a:solidFill>
                  <a:srgbClr val="000000"/>
                </a:solidFill>
                <a:effectLst/>
                <a:latin typeface="+mn-ea"/>
                <a:ea typeface="+mn-ea"/>
              </a:rPr>
              <a:t>    </a:t>
            </a:r>
            <a:r>
              <a:rPr lang="en-US" altLang="zh-CN" sz="1600" b="0" i="0" dirty="0">
                <a:solidFill>
                  <a:srgbClr val="267F99"/>
                </a:solidFill>
                <a:effectLst/>
                <a:latin typeface="+mn-ea"/>
                <a:ea typeface="+mn-ea"/>
              </a:rPr>
              <a:t>stack</a:t>
            </a:r>
            <a:r>
              <a:rPr lang="en-US" altLang="zh-CN" sz="1600" b="0" i="0" dirty="0">
                <a:solidFill>
                  <a:srgbClr val="000000"/>
                </a:solidFill>
                <a:effectLst/>
                <a:latin typeface="+mn-ea"/>
                <a:ea typeface="+mn-ea"/>
              </a:rPr>
              <a:t>&lt;</a:t>
            </a:r>
            <a:r>
              <a:rPr lang="en-US" altLang="zh-CN" sz="1600" b="0" i="0" dirty="0" err="1">
                <a:solidFill>
                  <a:srgbClr val="267F99"/>
                </a:solidFill>
                <a:effectLst/>
                <a:latin typeface="+mn-ea"/>
                <a:ea typeface="+mn-ea"/>
              </a:rPr>
              <a:t>BiTNode</a:t>
            </a:r>
            <a:r>
              <a:rPr lang="en-US" altLang="zh-CN" sz="1600" b="0" i="0" dirty="0">
                <a:solidFill>
                  <a:srgbClr val="000000"/>
                </a:solidFill>
                <a:effectLst/>
                <a:latin typeface="+mn-ea"/>
                <a:ea typeface="+mn-ea"/>
              </a:rPr>
              <a:t> *&gt; </a:t>
            </a:r>
            <a:r>
              <a:rPr lang="en-US" altLang="zh-CN" sz="1600" b="0" i="0" dirty="0">
                <a:solidFill>
                  <a:srgbClr val="001080"/>
                </a:solidFill>
                <a:effectLst/>
                <a:latin typeface="+mn-ea"/>
                <a:ea typeface="+mn-ea"/>
              </a:rPr>
              <a:t>s</a:t>
            </a:r>
            <a:r>
              <a:rPr lang="en-US" altLang="zh-CN" sz="1600" b="0" i="0" dirty="0">
                <a:solidFill>
                  <a:srgbClr val="000000"/>
                </a:solidFill>
                <a:effectLst/>
                <a:latin typeface="+mn-ea"/>
                <a:ea typeface="+mn-ea"/>
              </a:rPr>
              <a:t>;</a:t>
            </a:r>
          </a:p>
          <a:p>
            <a:br>
              <a:rPr lang="en-US" altLang="zh-CN" sz="1600" b="0" i="0" dirty="0">
                <a:solidFill>
                  <a:srgbClr val="000000"/>
                </a:solidFill>
                <a:effectLst/>
                <a:latin typeface="+mn-ea"/>
                <a:ea typeface="+mn-ea"/>
              </a:rPr>
            </a:br>
            <a:r>
              <a:rPr lang="en-US" altLang="zh-CN" sz="1600" b="0" i="0" dirty="0">
                <a:solidFill>
                  <a:srgbClr val="000000"/>
                </a:solidFill>
                <a:effectLst/>
                <a:latin typeface="+mn-ea"/>
                <a:ea typeface="+mn-ea"/>
              </a:rPr>
              <a:t>    </a:t>
            </a:r>
            <a:r>
              <a:rPr lang="en-US" altLang="zh-CN" sz="1600" b="0" i="0" dirty="0">
                <a:solidFill>
                  <a:srgbClr val="AF00DB"/>
                </a:solidFill>
                <a:effectLst/>
                <a:latin typeface="+mn-ea"/>
                <a:ea typeface="+mn-ea"/>
              </a:rPr>
              <a:t>while</a:t>
            </a:r>
            <a:r>
              <a:rPr lang="en-US" altLang="zh-CN" sz="1600" b="0" i="0" dirty="0">
                <a:solidFill>
                  <a:srgbClr val="000000"/>
                </a:solidFill>
                <a:effectLst/>
                <a:latin typeface="+mn-ea"/>
                <a:ea typeface="+mn-ea"/>
              </a:rPr>
              <a:t> (</a:t>
            </a:r>
            <a:r>
              <a:rPr lang="en-US" altLang="zh-CN" sz="1600" b="0" i="0" dirty="0">
                <a:solidFill>
                  <a:srgbClr val="001080"/>
                </a:solidFill>
                <a:effectLst/>
                <a:latin typeface="+mn-ea"/>
                <a:ea typeface="+mn-ea"/>
              </a:rPr>
              <a:t>T</a:t>
            </a:r>
            <a:r>
              <a:rPr lang="en-US" altLang="zh-CN" sz="1600" b="0" i="0" dirty="0">
                <a:solidFill>
                  <a:srgbClr val="000000"/>
                </a:solidFill>
                <a:effectLst/>
                <a:latin typeface="+mn-ea"/>
                <a:ea typeface="+mn-ea"/>
              </a:rPr>
              <a:t> || !</a:t>
            </a:r>
            <a:r>
              <a:rPr lang="en-US" altLang="zh-CN" sz="1600" b="0" i="0" dirty="0" err="1">
                <a:solidFill>
                  <a:srgbClr val="001080"/>
                </a:solidFill>
                <a:effectLst/>
                <a:latin typeface="+mn-ea"/>
                <a:ea typeface="+mn-ea"/>
              </a:rPr>
              <a:t>s</a:t>
            </a:r>
            <a:r>
              <a:rPr lang="en-US" altLang="zh-CN" sz="1600" b="0" i="0" dirty="0" err="1">
                <a:solidFill>
                  <a:srgbClr val="000000"/>
                </a:solidFill>
                <a:effectLst/>
                <a:latin typeface="+mn-ea"/>
                <a:ea typeface="+mn-ea"/>
              </a:rPr>
              <a:t>.</a:t>
            </a:r>
            <a:r>
              <a:rPr lang="en-US" altLang="zh-CN" sz="1600" b="0" i="0" dirty="0" err="1">
                <a:solidFill>
                  <a:srgbClr val="795E26"/>
                </a:solidFill>
                <a:effectLst/>
                <a:latin typeface="+mn-ea"/>
                <a:ea typeface="+mn-ea"/>
              </a:rPr>
              <a:t>empty</a:t>
            </a:r>
            <a:r>
              <a:rPr lang="en-US" altLang="zh-CN" sz="1600" b="0" i="0" dirty="0">
                <a:solidFill>
                  <a:srgbClr val="000000"/>
                </a:solidFill>
                <a:effectLst/>
                <a:latin typeface="+mn-ea"/>
                <a:ea typeface="+mn-ea"/>
              </a:rPr>
              <a:t>())</a:t>
            </a:r>
          </a:p>
          <a:p>
            <a:r>
              <a:rPr lang="en-US" altLang="zh-CN" sz="1600" b="0" i="0" dirty="0">
                <a:solidFill>
                  <a:srgbClr val="000000"/>
                </a:solidFill>
                <a:effectLst/>
                <a:latin typeface="+mn-ea"/>
                <a:ea typeface="+mn-ea"/>
              </a:rPr>
              <a:t>    {</a:t>
            </a:r>
          </a:p>
          <a:p>
            <a:r>
              <a:rPr lang="en-US" altLang="zh-CN" sz="1600" b="0" i="0" dirty="0">
                <a:solidFill>
                  <a:srgbClr val="000000"/>
                </a:solidFill>
                <a:effectLst/>
                <a:latin typeface="+mn-ea"/>
                <a:ea typeface="+mn-ea"/>
              </a:rPr>
              <a:t>        </a:t>
            </a:r>
            <a:r>
              <a:rPr lang="en-US" altLang="zh-CN" sz="1600" b="0" i="0" dirty="0">
                <a:solidFill>
                  <a:srgbClr val="AF00DB"/>
                </a:solidFill>
                <a:effectLst/>
                <a:latin typeface="+mn-ea"/>
                <a:ea typeface="+mn-ea"/>
              </a:rPr>
              <a:t>while</a:t>
            </a:r>
            <a:r>
              <a:rPr lang="en-US" altLang="zh-CN" sz="1600" b="0" i="0" dirty="0">
                <a:solidFill>
                  <a:srgbClr val="000000"/>
                </a:solidFill>
                <a:effectLst/>
                <a:latin typeface="+mn-ea"/>
                <a:ea typeface="+mn-ea"/>
              </a:rPr>
              <a:t> (</a:t>
            </a:r>
            <a:r>
              <a:rPr lang="en-US" altLang="zh-CN" sz="1600" b="0" i="0" dirty="0">
                <a:solidFill>
                  <a:srgbClr val="001080"/>
                </a:solidFill>
                <a:effectLst/>
                <a:latin typeface="+mn-ea"/>
                <a:ea typeface="+mn-ea"/>
              </a:rPr>
              <a:t>T</a:t>
            </a:r>
            <a:r>
              <a:rPr lang="en-US" altLang="zh-CN" sz="1600" b="0" i="0" dirty="0">
                <a:solidFill>
                  <a:srgbClr val="000000"/>
                </a:solidFill>
                <a:effectLst/>
                <a:latin typeface="+mn-ea"/>
                <a:ea typeface="+mn-ea"/>
              </a:rPr>
              <a:t>)</a:t>
            </a:r>
          </a:p>
          <a:p>
            <a:r>
              <a:rPr lang="en-US" altLang="zh-CN" sz="1600" b="0" i="0" dirty="0">
                <a:solidFill>
                  <a:srgbClr val="000000"/>
                </a:solidFill>
                <a:effectLst/>
                <a:latin typeface="+mn-ea"/>
                <a:ea typeface="+mn-ea"/>
              </a:rPr>
              <a:t>        {</a:t>
            </a:r>
          </a:p>
          <a:p>
            <a:r>
              <a:rPr lang="en-US" altLang="zh-CN" sz="1600" b="0" i="0" dirty="0">
                <a:solidFill>
                  <a:srgbClr val="000000"/>
                </a:solidFill>
                <a:effectLst/>
                <a:latin typeface="+mn-ea"/>
                <a:ea typeface="+mn-ea"/>
              </a:rPr>
              <a:t>            </a:t>
            </a:r>
            <a:r>
              <a:rPr lang="en-US" altLang="zh-CN" sz="1600" b="0" i="0" dirty="0" err="1">
                <a:solidFill>
                  <a:srgbClr val="001080"/>
                </a:solidFill>
                <a:effectLst/>
                <a:latin typeface="+mn-ea"/>
                <a:ea typeface="+mn-ea"/>
              </a:rPr>
              <a:t>s</a:t>
            </a:r>
            <a:r>
              <a:rPr lang="en-US" altLang="zh-CN" sz="1600" b="0" i="0" dirty="0" err="1">
                <a:solidFill>
                  <a:srgbClr val="000000"/>
                </a:solidFill>
                <a:effectLst/>
                <a:latin typeface="+mn-ea"/>
                <a:ea typeface="+mn-ea"/>
              </a:rPr>
              <a:t>.</a:t>
            </a:r>
            <a:r>
              <a:rPr lang="en-US" altLang="zh-CN" sz="1600" b="0" i="0" dirty="0" err="1">
                <a:solidFill>
                  <a:srgbClr val="795E26"/>
                </a:solidFill>
                <a:effectLst/>
                <a:latin typeface="+mn-ea"/>
                <a:ea typeface="+mn-ea"/>
              </a:rPr>
              <a:t>push</a:t>
            </a:r>
            <a:r>
              <a:rPr lang="en-US" altLang="zh-CN" sz="1600" b="0" i="0" dirty="0">
                <a:solidFill>
                  <a:srgbClr val="000000"/>
                </a:solidFill>
                <a:effectLst/>
                <a:latin typeface="+mn-ea"/>
                <a:ea typeface="+mn-ea"/>
              </a:rPr>
              <a:t>(</a:t>
            </a:r>
            <a:r>
              <a:rPr lang="en-US" altLang="zh-CN" sz="1600" b="0" i="0" dirty="0">
                <a:solidFill>
                  <a:srgbClr val="001080"/>
                </a:solidFill>
                <a:effectLst/>
                <a:latin typeface="+mn-ea"/>
                <a:ea typeface="+mn-ea"/>
              </a:rPr>
              <a:t>T</a:t>
            </a:r>
            <a:r>
              <a:rPr lang="en-US" altLang="zh-CN" sz="1600" b="0" i="0" dirty="0">
                <a:solidFill>
                  <a:srgbClr val="000000"/>
                </a:solidFill>
                <a:effectLst/>
                <a:latin typeface="+mn-ea"/>
                <a:ea typeface="+mn-ea"/>
              </a:rPr>
              <a:t>);</a:t>
            </a:r>
            <a:r>
              <a:rPr lang="en-US" altLang="zh-CN" sz="1600" b="0" i="0" dirty="0">
                <a:solidFill>
                  <a:srgbClr val="008000"/>
                </a:solidFill>
                <a:effectLst/>
                <a:latin typeface="+mn-ea"/>
                <a:ea typeface="+mn-ea"/>
              </a:rPr>
              <a:t>              // </a:t>
            </a:r>
            <a:r>
              <a:rPr lang="zh-CN" altLang="en-US" sz="1600" b="0" i="0" dirty="0">
                <a:solidFill>
                  <a:srgbClr val="008000"/>
                </a:solidFill>
                <a:effectLst/>
                <a:latin typeface="+mn-ea"/>
                <a:ea typeface="+mn-ea"/>
              </a:rPr>
              <a:t>入栈</a:t>
            </a:r>
            <a:endParaRPr lang="zh-CN" altLang="en-US" sz="1600" b="0" i="0" dirty="0">
              <a:solidFill>
                <a:srgbClr val="000000"/>
              </a:solidFill>
              <a:effectLst/>
              <a:latin typeface="+mn-ea"/>
              <a:ea typeface="+mn-ea"/>
            </a:endParaRPr>
          </a:p>
          <a:p>
            <a:r>
              <a:rPr lang="zh-CN" altLang="en-US" sz="1600" b="0" i="0" dirty="0">
                <a:solidFill>
                  <a:srgbClr val="000000"/>
                </a:solidFill>
                <a:effectLst/>
                <a:latin typeface="+mn-ea"/>
                <a:ea typeface="+mn-ea"/>
              </a:rPr>
              <a:t>            </a:t>
            </a:r>
            <a:r>
              <a:rPr lang="en-US" altLang="zh-CN" sz="1600" b="0" i="0" dirty="0" err="1">
                <a:solidFill>
                  <a:srgbClr val="001080"/>
                </a:solidFill>
                <a:effectLst/>
                <a:latin typeface="+mn-ea"/>
                <a:ea typeface="+mn-ea"/>
              </a:rPr>
              <a:t>cout</a:t>
            </a:r>
            <a:r>
              <a:rPr lang="en-US" altLang="zh-CN" sz="1600" b="0" i="0" dirty="0">
                <a:solidFill>
                  <a:srgbClr val="000000"/>
                </a:solidFill>
                <a:effectLst/>
                <a:latin typeface="+mn-ea"/>
                <a:ea typeface="+mn-ea"/>
              </a:rPr>
              <a:t> </a:t>
            </a:r>
            <a:r>
              <a:rPr lang="en-US" altLang="zh-CN" sz="1600" b="0" i="0" dirty="0">
                <a:solidFill>
                  <a:srgbClr val="795E26"/>
                </a:solidFill>
                <a:effectLst/>
                <a:latin typeface="+mn-ea"/>
                <a:ea typeface="+mn-ea"/>
              </a:rPr>
              <a:t>&lt;&lt;</a:t>
            </a:r>
            <a:r>
              <a:rPr lang="en-US" altLang="zh-CN" sz="1600" b="0" i="0" dirty="0">
                <a:solidFill>
                  <a:srgbClr val="000000"/>
                </a:solidFill>
                <a:effectLst/>
                <a:latin typeface="+mn-ea"/>
                <a:ea typeface="+mn-ea"/>
              </a:rPr>
              <a:t> </a:t>
            </a:r>
            <a:r>
              <a:rPr lang="en-US" altLang="zh-CN" sz="1600" b="0" i="0" dirty="0">
                <a:solidFill>
                  <a:srgbClr val="001080"/>
                </a:solidFill>
                <a:effectLst/>
                <a:latin typeface="+mn-ea"/>
                <a:ea typeface="+mn-ea"/>
              </a:rPr>
              <a:t>T</a:t>
            </a:r>
            <a:r>
              <a:rPr lang="en-US" altLang="zh-CN" sz="1600" b="0" i="0" dirty="0">
                <a:solidFill>
                  <a:srgbClr val="000000"/>
                </a:solidFill>
                <a:effectLst/>
                <a:latin typeface="+mn-ea"/>
                <a:ea typeface="+mn-ea"/>
              </a:rPr>
              <a:t>-&gt;</a:t>
            </a:r>
            <a:r>
              <a:rPr lang="en-US" altLang="zh-CN" sz="1600" b="0" i="0" dirty="0">
                <a:solidFill>
                  <a:srgbClr val="001080"/>
                </a:solidFill>
                <a:effectLst/>
                <a:latin typeface="+mn-ea"/>
                <a:ea typeface="+mn-ea"/>
              </a:rPr>
              <a:t>data</a:t>
            </a:r>
            <a:r>
              <a:rPr lang="en-US" altLang="zh-CN" sz="1600" b="0" i="0" dirty="0">
                <a:solidFill>
                  <a:srgbClr val="000000"/>
                </a:solidFill>
                <a:effectLst/>
                <a:latin typeface="+mn-ea"/>
                <a:ea typeface="+mn-ea"/>
              </a:rPr>
              <a:t> </a:t>
            </a:r>
            <a:r>
              <a:rPr lang="en-US" altLang="zh-CN" sz="1600" b="0" i="0" dirty="0">
                <a:solidFill>
                  <a:srgbClr val="795E26"/>
                </a:solidFill>
                <a:effectLst/>
                <a:latin typeface="+mn-ea"/>
                <a:ea typeface="+mn-ea"/>
              </a:rPr>
              <a:t>&lt;&lt;</a:t>
            </a:r>
            <a:r>
              <a:rPr lang="en-US" altLang="zh-CN" sz="1600" b="0" i="0" dirty="0">
                <a:solidFill>
                  <a:srgbClr val="000000"/>
                </a:solidFill>
                <a:effectLst/>
                <a:latin typeface="+mn-ea"/>
                <a:ea typeface="+mn-ea"/>
              </a:rPr>
              <a:t> </a:t>
            </a:r>
            <a:r>
              <a:rPr lang="en-US" altLang="zh-CN" sz="1600" b="0" i="0" dirty="0">
                <a:solidFill>
                  <a:srgbClr val="A31515"/>
                </a:solidFill>
                <a:effectLst/>
                <a:latin typeface="+mn-ea"/>
                <a:ea typeface="+mn-ea"/>
              </a:rPr>
              <a:t>" "</a:t>
            </a:r>
            <a:r>
              <a:rPr lang="en-US" altLang="zh-CN" sz="1600" b="0" i="0" dirty="0">
                <a:solidFill>
                  <a:srgbClr val="000000"/>
                </a:solidFill>
                <a:effectLst/>
                <a:latin typeface="+mn-ea"/>
                <a:ea typeface="+mn-ea"/>
              </a:rPr>
              <a:t>;</a:t>
            </a:r>
            <a:r>
              <a:rPr lang="en-US" altLang="zh-CN" sz="1600" b="0" i="0" dirty="0">
                <a:solidFill>
                  <a:srgbClr val="008000"/>
                </a:solidFill>
                <a:effectLst/>
                <a:latin typeface="+mn-ea"/>
                <a:ea typeface="+mn-ea"/>
              </a:rPr>
              <a:t> // </a:t>
            </a:r>
            <a:r>
              <a:rPr lang="zh-CN" altLang="en-US" sz="1600" b="0" i="0" dirty="0">
                <a:solidFill>
                  <a:srgbClr val="008000"/>
                </a:solidFill>
                <a:effectLst/>
                <a:latin typeface="+mn-ea"/>
                <a:ea typeface="+mn-ea"/>
              </a:rPr>
              <a:t>输出结点</a:t>
            </a:r>
            <a:endParaRPr lang="zh-CN" altLang="en-US" sz="1600" b="0" i="0" dirty="0">
              <a:solidFill>
                <a:srgbClr val="000000"/>
              </a:solidFill>
              <a:effectLst/>
              <a:latin typeface="+mn-ea"/>
              <a:ea typeface="+mn-ea"/>
            </a:endParaRPr>
          </a:p>
          <a:p>
            <a:r>
              <a:rPr lang="zh-CN" altLang="en-US" sz="1600" b="0" i="0" dirty="0">
                <a:solidFill>
                  <a:srgbClr val="000000"/>
                </a:solidFill>
                <a:effectLst/>
                <a:latin typeface="+mn-ea"/>
                <a:ea typeface="+mn-ea"/>
              </a:rPr>
              <a:t>            </a:t>
            </a:r>
            <a:r>
              <a:rPr lang="en-US" altLang="zh-CN" sz="1600" b="0" i="0" dirty="0">
                <a:solidFill>
                  <a:srgbClr val="001080"/>
                </a:solidFill>
                <a:effectLst/>
                <a:latin typeface="+mn-ea"/>
                <a:ea typeface="+mn-ea"/>
              </a:rPr>
              <a:t>T</a:t>
            </a:r>
            <a:r>
              <a:rPr lang="en-US" altLang="zh-CN" sz="1600" b="0" i="0" dirty="0">
                <a:solidFill>
                  <a:srgbClr val="000000"/>
                </a:solidFill>
                <a:effectLst/>
                <a:latin typeface="+mn-ea"/>
                <a:ea typeface="+mn-ea"/>
              </a:rPr>
              <a:t> = </a:t>
            </a:r>
            <a:r>
              <a:rPr lang="en-US" altLang="zh-CN" sz="1600" b="0" i="0" dirty="0">
                <a:solidFill>
                  <a:srgbClr val="001080"/>
                </a:solidFill>
                <a:effectLst/>
                <a:latin typeface="+mn-ea"/>
                <a:ea typeface="+mn-ea"/>
              </a:rPr>
              <a:t>T</a:t>
            </a:r>
            <a:r>
              <a:rPr lang="en-US" altLang="zh-CN" sz="1600" b="0" i="0" dirty="0">
                <a:solidFill>
                  <a:srgbClr val="000000"/>
                </a:solidFill>
                <a:effectLst/>
                <a:latin typeface="+mn-ea"/>
                <a:ea typeface="+mn-ea"/>
              </a:rPr>
              <a:t>-&gt;</a:t>
            </a:r>
            <a:r>
              <a:rPr lang="en-US" altLang="zh-CN" sz="1600" b="0" i="0" dirty="0" err="1">
                <a:solidFill>
                  <a:srgbClr val="001080"/>
                </a:solidFill>
                <a:effectLst/>
                <a:latin typeface="+mn-ea"/>
                <a:ea typeface="+mn-ea"/>
              </a:rPr>
              <a:t>lchild</a:t>
            </a:r>
            <a:r>
              <a:rPr lang="en-US" altLang="zh-CN" sz="1600" b="0" i="0" dirty="0">
                <a:solidFill>
                  <a:srgbClr val="000000"/>
                </a:solidFill>
                <a:effectLst/>
                <a:latin typeface="+mn-ea"/>
                <a:ea typeface="+mn-ea"/>
              </a:rPr>
              <a:t>;</a:t>
            </a:r>
            <a:r>
              <a:rPr lang="en-US" altLang="zh-CN" sz="1600" b="0" i="0" dirty="0">
                <a:solidFill>
                  <a:srgbClr val="008000"/>
                </a:solidFill>
                <a:effectLst/>
                <a:latin typeface="+mn-ea"/>
                <a:ea typeface="+mn-ea"/>
              </a:rPr>
              <a:t>          // </a:t>
            </a:r>
            <a:r>
              <a:rPr lang="zh-CN" altLang="en-US" sz="1600" b="0" i="0" dirty="0">
                <a:solidFill>
                  <a:srgbClr val="008000"/>
                </a:solidFill>
                <a:effectLst/>
                <a:latin typeface="+mn-ea"/>
                <a:ea typeface="+mn-ea"/>
              </a:rPr>
              <a:t>走左子树</a:t>
            </a:r>
            <a:endParaRPr lang="zh-CN" altLang="en-US" sz="1600" b="0" i="0" dirty="0">
              <a:solidFill>
                <a:srgbClr val="000000"/>
              </a:solidFill>
              <a:effectLst/>
              <a:latin typeface="+mn-ea"/>
              <a:ea typeface="+mn-ea"/>
            </a:endParaRPr>
          </a:p>
          <a:p>
            <a:r>
              <a:rPr lang="zh-CN" altLang="en-US" sz="1600" b="0" i="0" dirty="0">
                <a:solidFill>
                  <a:srgbClr val="000000"/>
                </a:solidFill>
                <a:effectLst/>
                <a:latin typeface="+mn-ea"/>
                <a:ea typeface="+mn-ea"/>
              </a:rPr>
              <a:t>        </a:t>
            </a:r>
            <a:r>
              <a:rPr lang="en-US" altLang="zh-CN" sz="1600" b="0" i="0" dirty="0">
                <a:solidFill>
                  <a:srgbClr val="000000"/>
                </a:solidFill>
                <a:effectLst/>
                <a:latin typeface="+mn-ea"/>
                <a:ea typeface="+mn-ea"/>
              </a:rPr>
              <a:t>}</a:t>
            </a:r>
          </a:p>
          <a:p>
            <a:r>
              <a:rPr lang="en-US" altLang="zh-CN" sz="1600" b="0" i="0" dirty="0">
                <a:solidFill>
                  <a:srgbClr val="000000"/>
                </a:solidFill>
                <a:effectLst/>
                <a:latin typeface="+mn-ea"/>
                <a:ea typeface="+mn-ea"/>
              </a:rPr>
              <a:t>        </a:t>
            </a:r>
            <a:r>
              <a:rPr lang="en-US" altLang="zh-CN" sz="1600" b="0" i="0" dirty="0">
                <a:solidFill>
                  <a:srgbClr val="AF00DB"/>
                </a:solidFill>
                <a:effectLst/>
                <a:latin typeface="+mn-ea"/>
                <a:ea typeface="+mn-ea"/>
              </a:rPr>
              <a:t>if</a:t>
            </a:r>
            <a:r>
              <a:rPr lang="en-US" altLang="zh-CN" sz="1600" b="0" i="0" dirty="0">
                <a:solidFill>
                  <a:srgbClr val="000000"/>
                </a:solidFill>
                <a:effectLst/>
                <a:latin typeface="+mn-ea"/>
                <a:ea typeface="+mn-ea"/>
              </a:rPr>
              <a:t> (!</a:t>
            </a:r>
            <a:r>
              <a:rPr lang="en-US" altLang="zh-CN" sz="1600" b="0" i="0" dirty="0" err="1">
                <a:solidFill>
                  <a:srgbClr val="001080"/>
                </a:solidFill>
                <a:effectLst/>
                <a:latin typeface="+mn-ea"/>
                <a:ea typeface="+mn-ea"/>
              </a:rPr>
              <a:t>s</a:t>
            </a:r>
            <a:r>
              <a:rPr lang="en-US" altLang="zh-CN" sz="1600" b="0" i="0" dirty="0" err="1">
                <a:solidFill>
                  <a:srgbClr val="000000"/>
                </a:solidFill>
                <a:effectLst/>
                <a:latin typeface="+mn-ea"/>
                <a:ea typeface="+mn-ea"/>
              </a:rPr>
              <a:t>.</a:t>
            </a:r>
            <a:r>
              <a:rPr lang="en-US" altLang="zh-CN" sz="1600" b="0" i="0" dirty="0" err="1">
                <a:solidFill>
                  <a:srgbClr val="795E26"/>
                </a:solidFill>
                <a:effectLst/>
                <a:latin typeface="+mn-ea"/>
                <a:ea typeface="+mn-ea"/>
              </a:rPr>
              <a:t>empty</a:t>
            </a:r>
            <a:r>
              <a:rPr lang="en-US" altLang="zh-CN" sz="1600" b="0" i="0" dirty="0">
                <a:solidFill>
                  <a:srgbClr val="000000"/>
                </a:solidFill>
                <a:effectLst/>
                <a:latin typeface="+mn-ea"/>
                <a:ea typeface="+mn-ea"/>
              </a:rPr>
              <a:t>())</a:t>
            </a:r>
            <a:r>
              <a:rPr lang="en-US" altLang="zh-CN" sz="1600" b="0" i="0" dirty="0">
                <a:solidFill>
                  <a:srgbClr val="008000"/>
                </a:solidFill>
                <a:effectLst/>
                <a:latin typeface="+mn-ea"/>
                <a:ea typeface="+mn-ea"/>
              </a:rPr>
              <a:t> // </a:t>
            </a:r>
            <a:r>
              <a:rPr lang="zh-CN" altLang="en-US" sz="1600" b="0" i="0" dirty="0">
                <a:solidFill>
                  <a:srgbClr val="008000"/>
                </a:solidFill>
                <a:effectLst/>
                <a:latin typeface="+mn-ea"/>
                <a:ea typeface="+mn-ea"/>
              </a:rPr>
              <a:t>走不通</a:t>
            </a:r>
            <a:endParaRPr lang="zh-CN" altLang="en-US" sz="1600" b="0" i="0" dirty="0">
              <a:solidFill>
                <a:srgbClr val="000000"/>
              </a:solidFill>
              <a:effectLst/>
              <a:latin typeface="+mn-ea"/>
              <a:ea typeface="+mn-ea"/>
            </a:endParaRPr>
          </a:p>
          <a:p>
            <a:r>
              <a:rPr lang="zh-CN" altLang="en-US" sz="1600" b="0" i="0" dirty="0">
                <a:solidFill>
                  <a:srgbClr val="000000"/>
                </a:solidFill>
                <a:effectLst/>
                <a:latin typeface="+mn-ea"/>
                <a:ea typeface="+mn-ea"/>
              </a:rPr>
              <a:t>        </a:t>
            </a:r>
            <a:r>
              <a:rPr lang="en-US" altLang="zh-CN" sz="1600" b="0" i="0" dirty="0">
                <a:solidFill>
                  <a:srgbClr val="000000"/>
                </a:solidFill>
                <a:effectLst/>
                <a:latin typeface="+mn-ea"/>
                <a:ea typeface="+mn-ea"/>
              </a:rPr>
              <a:t>{</a:t>
            </a:r>
          </a:p>
          <a:p>
            <a:r>
              <a:rPr lang="en-US" altLang="zh-CN" sz="1600" b="0" i="0" dirty="0">
                <a:solidFill>
                  <a:srgbClr val="000000"/>
                </a:solidFill>
                <a:effectLst/>
                <a:latin typeface="+mn-ea"/>
                <a:ea typeface="+mn-ea"/>
              </a:rPr>
              <a:t>            </a:t>
            </a:r>
            <a:r>
              <a:rPr lang="en-US" altLang="zh-CN" sz="1600" b="0" i="0" dirty="0">
                <a:solidFill>
                  <a:srgbClr val="001080"/>
                </a:solidFill>
                <a:effectLst/>
                <a:latin typeface="+mn-ea"/>
                <a:ea typeface="+mn-ea"/>
              </a:rPr>
              <a:t>T</a:t>
            </a:r>
            <a:r>
              <a:rPr lang="en-US" altLang="zh-CN" sz="1600" b="0" i="0" dirty="0">
                <a:solidFill>
                  <a:srgbClr val="000000"/>
                </a:solidFill>
                <a:effectLst/>
                <a:latin typeface="+mn-ea"/>
                <a:ea typeface="+mn-ea"/>
              </a:rPr>
              <a:t> = </a:t>
            </a:r>
            <a:r>
              <a:rPr lang="en-US" altLang="zh-CN" sz="1600" b="0" i="0" dirty="0" err="1">
                <a:solidFill>
                  <a:srgbClr val="001080"/>
                </a:solidFill>
                <a:effectLst/>
                <a:latin typeface="+mn-ea"/>
                <a:ea typeface="+mn-ea"/>
              </a:rPr>
              <a:t>s</a:t>
            </a:r>
            <a:r>
              <a:rPr lang="en-US" altLang="zh-CN" sz="1600" b="0" i="0" dirty="0" err="1">
                <a:solidFill>
                  <a:srgbClr val="000000"/>
                </a:solidFill>
                <a:effectLst/>
                <a:latin typeface="+mn-ea"/>
                <a:ea typeface="+mn-ea"/>
              </a:rPr>
              <a:t>.</a:t>
            </a:r>
            <a:r>
              <a:rPr lang="en-US" altLang="zh-CN" sz="1600" b="0" i="0" dirty="0" err="1">
                <a:solidFill>
                  <a:srgbClr val="795E26"/>
                </a:solidFill>
                <a:effectLst/>
                <a:latin typeface="+mn-ea"/>
                <a:ea typeface="+mn-ea"/>
              </a:rPr>
              <a:t>top</a:t>
            </a:r>
            <a:r>
              <a:rPr lang="en-US" altLang="zh-CN" sz="1600" b="0" i="0" dirty="0">
                <a:solidFill>
                  <a:srgbClr val="000000"/>
                </a:solidFill>
                <a:effectLst/>
                <a:latin typeface="+mn-ea"/>
                <a:ea typeface="+mn-ea"/>
              </a:rPr>
              <a:t>();</a:t>
            </a:r>
            <a:r>
              <a:rPr lang="en-US" altLang="zh-CN" sz="1600" b="0" i="0" dirty="0">
                <a:solidFill>
                  <a:srgbClr val="008000"/>
                </a:solidFill>
                <a:effectLst/>
                <a:latin typeface="+mn-ea"/>
                <a:ea typeface="+mn-ea"/>
              </a:rPr>
              <a:t> // </a:t>
            </a:r>
            <a:r>
              <a:rPr lang="zh-CN" altLang="en-US" sz="1600" b="0" i="0" dirty="0">
                <a:solidFill>
                  <a:srgbClr val="008000"/>
                </a:solidFill>
                <a:effectLst/>
                <a:latin typeface="+mn-ea"/>
                <a:ea typeface="+mn-ea"/>
              </a:rPr>
              <a:t>取栈顶</a:t>
            </a:r>
            <a:endParaRPr lang="zh-CN" altLang="en-US" sz="1600" b="0" i="0" dirty="0">
              <a:solidFill>
                <a:srgbClr val="000000"/>
              </a:solidFill>
              <a:effectLst/>
              <a:latin typeface="+mn-ea"/>
              <a:ea typeface="+mn-ea"/>
            </a:endParaRPr>
          </a:p>
          <a:p>
            <a:r>
              <a:rPr lang="zh-CN" altLang="en-US" sz="1600" b="0" i="0" dirty="0">
                <a:solidFill>
                  <a:srgbClr val="000000"/>
                </a:solidFill>
                <a:effectLst/>
                <a:latin typeface="+mn-ea"/>
                <a:ea typeface="+mn-ea"/>
              </a:rPr>
              <a:t>            </a:t>
            </a:r>
            <a:r>
              <a:rPr lang="en-US" altLang="zh-CN" sz="1600" b="0" i="0" dirty="0" err="1">
                <a:solidFill>
                  <a:srgbClr val="001080"/>
                </a:solidFill>
                <a:effectLst/>
                <a:latin typeface="+mn-ea"/>
                <a:ea typeface="+mn-ea"/>
              </a:rPr>
              <a:t>s</a:t>
            </a:r>
            <a:r>
              <a:rPr lang="en-US" altLang="zh-CN" sz="1600" b="0" i="0" dirty="0" err="1">
                <a:solidFill>
                  <a:srgbClr val="000000"/>
                </a:solidFill>
                <a:effectLst/>
                <a:latin typeface="+mn-ea"/>
                <a:ea typeface="+mn-ea"/>
              </a:rPr>
              <a:t>.</a:t>
            </a:r>
            <a:r>
              <a:rPr lang="en-US" altLang="zh-CN" sz="1600" b="0" i="0" dirty="0" err="1">
                <a:solidFill>
                  <a:srgbClr val="795E26"/>
                </a:solidFill>
                <a:effectLst/>
                <a:latin typeface="+mn-ea"/>
                <a:ea typeface="+mn-ea"/>
              </a:rPr>
              <a:t>pop</a:t>
            </a:r>
            <a:r>
              <a:rPr lang="en-US" altLang="zh-CN" sz="1600" b="0" i="0" dirty="0">
                <a:solidFill>
                  <a:srgbClr val="000000"/>
                </a:solidFill>
                <a:effectLst/>
                <a:latin typeface="+mn-ea"/>
                <a:ea typeface="+mn-ea"/>
              </a:rPr>
              <a:t>();</a:t>
            </a:r>
          </a:p>
          <a:p>
            <a:r>
              <a:rPr lang="en-US" altLang="zh-CN" sz="1600" b="0" i="0" dirty="0">
                <a:solidFill>
                  <a:srgbClr val="000000"/>
                </a:solidFill>
                <a:effectLst/>
                <a:latin typeface="+mn-ea"/>
                <a:ea typeface="+mn-ea"/>
              </a:rPr>
              <a:t>            </a:t>
            </a:r>
            <a:r>
              <a:rPr lang="en-US" altLang="zh-CN" sz="1600" b="0" i="0" dirty="0">
                <a:solidFill>
                  <a:srgbClr val="001080"/>
                </a:solidFill>
                <a:effectLst/>
                <a:latin typeface="+mn-ea"/>
                <a:ea typeface="+mn-ea"/>
              </a:rPr>
              <a:t>T</a:t>
            </a:r>
            <a:r>
              <a:rPr lang="en-US" altLang="zh-CN" sz="1600" b="0" i="0" dirty="0">
                <a:solidFill>
                  <a:srgbClr val="000000"/>
                </a:solidFill>
                <a:effectLst/>
                <a:latin typeface="+mn-ea"/>
                <a:ea typeface="+mn-ea"/>
              </a:rPr>
              <a:t> = </a:t>
            </a:r>
            <a:r>
              <a:rPr lang="en-US" altLang="zh-CN" sz="1600" b="0" i="0" dirty="0">
                <a:solidFill>
                  <a:srgbClr val="001080"/>
                </a:solidFill>
                <a:effectLst/>
                <a:latin typeface="+mn-ea"/>
                <a:ea typeface="+mn-ea"/>
              </a:rPr>
              <a:t>T</a:t>
            </a:r>
            <a:r>
              <a:rPr lang="en-US" altLang="zh-CN" sz="1600" b="0" i="0" dirty="0">
                <a:solidFill>
                  <a:srgbClr val="000000"/>
                </a:solidFill>
                <a:effectLst/>
                <a:latin typeface="+mn-ea"/>
                <a:ea typeface="+mn-ea"/>
              </a:rPr>
              <a:t>-&gt;</a:t>
            </a:r>
            <a:r>
              <a:rPr lang="en-US" altLang="zh-CN" sz="1600" b="0" i="0" dirty="0" err="1">
                <a:solidFill>
                  <a:srgbClr val="001080"/>
                </a:solidFill>
                <a:effectLst/>
                <a:latin typeface="+mn-ea"/>
                <a:ea typeface="+mn-ea"/>
              </a:rPr>
              <a:t>rchild</a:t>
            </a:r>
            <a:r>
              <a:rPr lang="en-US" altLang="zh-CN" sz="1600" b="0" i="0" dirty="0">
                <a:solidFill>
                  <a:srgbClr val="000000"/>
                </a:solidFill>
                <a:effectLst/>
                <a:latin typeface="+mn-ea"/>
                <a:ea typeface="+mn-ea"/>
              </a:rPr>
              <a:t>;</a:t>
            </a:r>
            <a:r>
              <a:rPr lang="en-US" altLang="zh-CN" sz="1600" b="0" i="0" dirty="0">
                <a:solidFill>
                  <a:srgbClr val="008000"/>
                </a:solidFill>
                <a:effectLst/>
                <a:latin typeface="+mn-ea"/>
                <a:ea typeface="+mn-ea"/>
              </a:rPr>
              <a:t> // </a:t>
            </a:r>
            <a:r>
              <a:rPr lang="zh-CN" altLang="en-US" sz="1600" b="0" i="0" dirty="0">
                <a:solidFill>
                  <a:srgbClr val="008000"/>
                </a:solidFill>
                <a:effectLst/>
                <a:latin typeface="+mn-ea"/>
                <a:ea typeface="+mn-ea"/>
              </a:rPr>
              <a:t>走右子树</a:t>
            </a:r>
            <a:endParaRPr lang="zh-CN" altLang="en-US" sz="1600" b="0" i="0" dirty="0">
              <a:solidFill>
                <a:srgbClr val="000000"/>
              </a:solidFill>
              <a:effectLst/>
              <a:latin typeface="+mn-ea"/>
              <a:ea typeface="+mn-ea"/>
            </a:endParaRPr>
          </a:p>
          <a:p>
            <a:r>
              <a:rPr lang="zh-CN" altLang="en-US" sz="1600" b="0" i="0" dirty="0">
                <a:solidFill>
                  <a:srgbClr val="000000"/>
                </a:solidFill>
                <a:effectLst/>
                <a:latin typeface="+mn-ea"/>
                <a:ea typeface="+mn-ea"/>
              </a:rPr>
              <a:t>        </a:t>
            </a:r>
            <a:r>
              <a:rPr lang="en-US" altLang="zh-CN" sz="1600" b="0" i="0" dirty="0">
                <a:solidFill>
                  <a:srgbClr val="000000"/>
                </a:solidFill>
                <a:effectLst/>
                <a:latin typeface="+mn-ea"/>
                <a:ea typeface="+mn-ea"/>
              </a:rPr>
              <a:t>}</a:t>
            </a:r>
          </a:p>
          <a:p>
            <a:r>
              <a:rPr lang="en-US" altLang="zh-CN" sz="1600" b="0" i="0" dirty="0">
                <a:solidFill>
                  <a:srgbClr val="000000"/>
                </a:solidFill>
                <a:effectLst/>
                <a:latin typeface="+mn-ea"/>
                <a:ea typeface="+mn-ea"/>
              </a:rPr>
              <a:t>    }</a:t>
            </a:r>
          </a:p>
          <a:p>
            <a:r>
              <a:rPr lang="en-US" altLang="zh-CN" sz="1600" b="0" i="0" dirty="0">
                <a:solidFill>
                  <a:srgbClr val="000000"/>
                </a:solidFill>
                <a:effectLst/>
                <a:latin typeface="+mn-ea"/>
                <a:ea typeface="+mn-ea"/>
              </a:rPr>
              <a:t>    </a:t>
            </a:r>
            <a:r>
              <a:rPr lang="en-US" altLang="zh-CN" sz="1600" b="0" i="0" dirty="0" err="1">
                <a:solidFill>
                  <a:srgbClr val="001080"/>
                </a:solidFill>
                <a:effectLst/>
                <a:latin typeface="+mn-ea"/>
                <a:ea typeface="+mn-ea"/>
              </a:rPr>
              <a:t>cout</a:t>
            </a:r>
            <a:r>
              <a:rPr lang="en-US" altLang="zh-CN" sz="1600" b="0" i="0" dirty="0">
                <a:solidFill>
                  <a:srgbClr val="000000"/>
                </a:solidFill>
                <a:effectLst/>
                <a:latin typeface="+mn-ea"/>
                <a:ea typeface="+mn-ea"/>
              </a:rPr>
              <a:t> </a:t>
            </a:r>
            <a:r>
              <a:rPr lang="en-US" altLang="zh-CN" sz="1600" b="0" i="0" dirty="0">
                <a:solidFill>
                  <a:srgbClr val="795E26"/>
                </a:solidFill>
                <a:effectLst/>
                <a:latin typeface="+mn-ea"/>
                <a:ea typeface="+mn-ea"/>
              </a:rPr>
              <a:t>&lt;&lt;</a:t>
            </a:r>
            <a:r>
              <a:rPr lang="en-US" altLang="zh-CN" sz="1600" b="0" i="0" dirty="0">
                <a:solidFill>
                  <a:srgbClr val="000000"/>
                </a:solidFill>
                <a:effectLst/>
                <a:latin typeface="+mn-ea"/>
                <a:ea typeface="+mn-ea"/>
              </a:rPr>
              <a:t>  </a:t>
            </a:r>
            <a:r>
              <a:rPr lang="en-US" altLang="zh-CN" sz="1600" b="0" i="0" dirty="0" err="1">
                <a:solidFill>
                  <a:srgbClr val="795E26"/>
                </a:solidFill>
                <a:effectLst/>
                <a:latin typeface="+mn-ea"/>
                <a:ea typeface="+mn-ea"/>
              </a:rPr>
              <a:t>endl</a:t>
            </a:r>
            <a:r>
              <a:rPr lang="en-US" altLang="zh-CN" sz="1600" b="0" i="0" dirty="0">
                <a:solidFill>
                  <a:srgbClr val="000000"/>
                </a:solidFill>
                <a:effectLst/>
                <a:latin typeface="+mn-ea"/>
                <a:ea typeface="+mn-ea"/>
              </a:rPr>
              <a:t>;</a:t>
            </a:r>
          </a:p>
          <a:p>
            <a:r>
              <a:rPr lang="en-US" altLang="zh-CN" sz="1600" b="0" i="0" dirty="0">
                <a:solidFill>
                  <a:srgbClr val="000000"/>
                </a:solidFill>
                <a:effectLst/>
                <a:latin typeface="+mn-ea"/>
                <a:ea typeface="+mn-ea"/>
              </a:rPr>
              <a:t>}</a:t>
            </a:r>
          </a:p>
        </p:txBody>
      </p:sp>
    </p:spTree>
    <p:extLst>
      <p:ext uri="{BB962C8B-B14F-4D97-AF65-F5344CB8AC3E}">
        <p14:creationId xmlns:p14="http://schemas.microsoft.com/office/powerpoint/2010/main" val="1571068944"/>
      </p:ext>
    </p:extLst>
  </p:cSld>
  <p:clrMapOvr>
    <a:masterClrMapping/>
  </p:clrMapOvr>
  <p:transition spd="med">
    <p:pull dir="d"/>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4">
            <a:extLst>
              <a:ext uri="{FF2B5EF4-FFF2-40B4-BE49-F238E27FC236}">
                <a16:creationId xmlns:a16="http://schemas.microsoft.com/office/drawing/2014/main" id="{2A0D7D5C-E431-43E2-81EA-33437E95E6AB}"/>
              </a:ext>
            </a:extLst>
          </p:cNvPr>
          <p:cNvSpPr txBox="1">
            <a:spLocks noChangeArrowheads="1"/>
          </p:cNvSpPr>
          <p:nvPr/>
        </p:nvSpPr>
        <p:spPr bwMode="auto">
          <a:xfrm>
            <a:off x="368857" y="222306"/>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二叉树后序遍历的非递归实现</a:t>
            </a:r>
          </a:p>
        </p:txBody>
      </p:sp>
      <p:sp>
        <p:nvSpPr>
          <p:cNvPr id="4" name="文本框 3">
            <a:extLst>
              <a:ext uri="{FF2B5EF4-FFF2-40B4-BE49-F238E27FC236}">
                <a16:creationId xmlns:a16="http://schemas.microsoft.com/office/drawing/2014/main" id="{998E2214-F5A5-D87B-6C23-E82E0818774B}"/>
              </a:ext>
            </a:extLst>
          </p:cNvPr>
          <p:cNvSpPr txBox="1"/>
          <p:nvPr/>
        </p:nvSpPr>
        <p:spPr>
          <a:xfrm>
            <a:off x="539552" y="1268760"/>
            <a:ext cx="7920880" cy="5262979"/>
          </a:xfrm>
          <a:prstGeom prst="rect">
            <a:avLst/>
          </a:prstGeom>
          <a:noFill/>
        </p:spPr>
        <p:txBody>
          <a:bodyPr wrap="square">
            <a:spAutoFit/>
          </a:bodyPr>
          <a:lstStyle/>
          <a:p>
            <a:r>
              <a:rPr lang="en-US" altLang="zh-CN" sz="1600" b="0" i="0" dirty="0">
                <a:solidFill>
                  <a:srgbClr val="008000"/>
                </a:solidFill>
                <a:effectLst/>
                <a:latin typeface="+mn-ea"/>
                <a:ea typeface="+mn-ea"/>
              </a:rPr>
              <a:t>// </a:t>
            </a:r>
            <a:r>
              <a:rPr lang="zh-CN" altLang="en-US" sz="1600" b="0" i="0" dirty="0">
                <a:solidFill>
                  <a:srgbClr val="008000"/>
                </a:solidFill>
                <a:latin typeface="+mn-ea"/>
                <a:ea typeface="+mn-ea"/>
              </a:rPr>
              <a:t>后</a:t>
            </a:r>
            <a:r>
              <a:rPr lang="zh-CN" altLang="en-US" sz="1600" b="0" i="0" dirty="0">
                <a:solidFill>
                  <a:srgbClr val="008000"/>
                </a:solidFill>
                <a:effectLst/>
                <a:latin typeface="+mn-ea"/>
                <a:ea typeface="+mn-ea"/>
              </a:rPr>
              <a:t>序遍历二叉树</a:t>
            </a:r>
            <a:r>
              <a:rPr lang="en-US" altLang="zh-CN" sz="1600" b="0" i="0" dirty="0">
                <a:solidFill>
                  <a:srgbClr val="008000"/>
                </a:solidFill>
                <a:effectLst/>
                <a:latin typeface="+mn-ea"/>
                <a:ea typeface="+mn-ea"/>
              </a:rPr>
              <a:t>T</a:t>
            </a:r>
            <a:r>
              <a:rPr lang="zh-CN" altLang="en-US" sz="1600" b="0" i="0" dirty="0">
                <a:solidFill>
                  <a:srgbClr val="008000"/>
                </a:solidFill>
                <a:effectLst/>
                <a:latin typeface="+mn-ea"/>
                <a:ea typeface="+mn-ea"/>
              </a:rPr>
              <a:t>，非递归实现</a:t>
            </a:r>
            <a:endParaRPr lang="zh-CN" altLang="en-US" sz="1600" b="0" i="0" dirty="0">
              <a:solidFill>
                <a:srgbClr val="000000"/>
              </a:solidFill>
              <a:effectLst/>
              <a:latin typeface="+mn-ea"/>
              <a:ea typeface="+mn-ea"/>
            </a:endParaRPr>
          </a:p>
          <a:p>
            <a:r>
              <a:rPr lang="en-US" altLang="zh-CN" sz="1600" b="0" i="0" dirty="0">
                <a:solidFill>
                  <a:srgbClr val="0000FF"/>
                </a:solidFill>
                <a:effectLst/>
                <a:latin typeface="+mn-ea"/>
                <a:ea typeface="+mn-ea"/>
              </a:rPr>
              <a:t>void</a:t>
            </a:r>
            <a:r>
              <a:rPr lang="en-US" altLang="zh-CN" sz="1600" b="0" i="0" dirty="0">
                <a:solidFill>
                  <a:srgbClr val="000000"/>
                </a:solidFill>
                <a:effectLst/>
                <a:latin typeface="+mn-ea"/>
                <a:ea typeface="+mn-ea"/>
              </a:rPr>
              <a:t> </a:t>
            </a:r>
            <a:r>
              <a:rPr lang="en-US" altLang="zh-CN" sz="1600" b="0" i="0" dirty="0" err="1">
                <a:solidFill>
                  <a:srgbClr val="795E26"/>
                </a:solidFill>
                <a:effectLst/>
                <a:latin typeface="+mn-ea"/>
                <a:ea typeface="+mn-ea"/>
              </a:rPr>
              <a:t>PostOrder</a:t>
            </a:r>
            <a:r>
              <a:rPr lang="en-US" altLang="zh-CN" sz="1600" b="0" i="0" dirty="0">
                <a:solidFill>
                  <a:srgbClr val="000000"/>
                </a:solidFill>
                <a:effectLst/>
                <a:latin typeface="+mn-ea"/>
                <a:ea typeface="+mn-ea"/>
              </a:rPr>
              <a:t>(</a:t>
            </a:r>
            <a:r>
              <a:rPr lang="en-US" altLang="zh-CN" sz="1600" b="0" i="0" dirty="0" err="1">
                <a:solidFill>
                  <a:srgbClr val="267F99"/>
                </a:solidFill>
                <a:effectLst/>
                <a:latin typeface="+mn-ea"/>
                <a:ea typeface="+mn-ea"/>
              </a:rPr>
              <a:t>BiTree</a:t>
            </a:r>
            <a:r>
              <a:rPr lang="en-US" altLang="zh-CN" sz="1600" b="0" i="0" dirty="0">
                <a:solidFill>
                  <a:srgbClr val="000000"/>
                </a:solidFill>
                <a:effectLst/>
                <a:latin typeface="+mn-ea"/>
                <a:ea typeface="+mn-ea"/>
              </a:rPr>
              <a:t> </a:t>
            </a:r>
            <a:r>
              <a:rPr lang="en-US" altLang="zh-CN" sz="1600" b="0" i="0" dirty="0">
                <a:solidFill>
                  <a:srgbClr val="001080"/>
                </a:solidFill>
                <a:effectLst/>
                <a:latin typeface="+mn-ea"/>
                <a:ea typeface="+mn-ea"/>
              </a:rPr>
              <a:t>T</a:t>
            </a:r>
            <a:r>
              <a:rPr lang="en-US" altLang="zh-CN" sz="1600" b="0" i="0" dirty="0">
                <a:solidFill>
                  <a:srgbClr val="000000"/>
                </a:solidFill>
                <a:effectLst/>
                <a:latin typeface="+mn-ea"/>
                <a:ea typeface="+mn-ea"/>
              </a:rPr>
              <a:t>)</a:t>
            </a:r>
          </a:p>
          <a:p>
            <a:r>
              <a:rPr lang="en-US" altLang="zh-CN" sz="1600" b="0" i="0" dirty="0">
                <a:solidFill>
                  <a:srgbClr val="000000"/>
                </a:solidFill>
                <a:effectLst/>
                <a:latin typeface="+mn-ea"/>
                <a:ea typeface="+mn-ea"/>
              </a:rPr>
              <a:t>{</a:t>
            </a:r>
          </a:p>
          <a:p>
            <a:r>
              <a:rPr lang="en-US" altLang="zh-CN" sz="1600" b="0" i="0" dirty="0">
                <a:solidFill>
                  <a:srgbClr val="000000"/>
                </a:solidFill>
                <a:effectLst/>
                <a:latin typeface="+mn-ea"/>
                <a:ea typeface="+mn-ea"/>
              </a:rPr>
              <a:t>    </a:t>
            </a:r>
            <a:r>
              <a:rPr lang="en-US" altLang="zh-CN" sz="1600" b="0" i="0" dirty="0">
                <a:solidFill>
                  <a:srgbClr val="267F99"/>
                </a:solidFill>
                <a:effectLst/>
                <a:latin typeface="+mn-ea"/>
                <a:ea typeface="+mn-ea"/>
              </a:rPr>
              <a:t>stack</a:t>
            </a:r>
            <a:r>
              <a:rPr lang="en-US" altLang="zh-CN" sz="1600" b="0" i="0" dirty="0">
                <a:solidFill>
                  <a:srgbClr val="000000"/>
                </a:solidFill>
                <a:effectLst/>
                <a:latin typeface="+mn-ea"/>
                <a:ea typeface="+mn-ea"/>
              </a:rPr>
              <a:t>&lt;</a:t>
            </a:r>
            <a:r>
              <a:rPr lang="en-US" altLang="zh-CN" sz="1600" b="0" i="0" dirty="0" err="1">
                <a:solidFill>
                  <a:srgbClr val="267F99"/>
                </a:solidFill>
                <a:effectLst/>
                <a:latin typeface="+mn-ea"/>
                <a:ea typeface="+mn-ea"/>
              </a:rPr>
              <a:t>BiTNode</a:t>
            </a:r>
            <a:r>
              <a:rPr lang="en-US" altLang="zh-CN" sz="1600" b="0" i="0" dirty="0">
                <a:solidFill>
                  <a:srgbClr val="000000"/>
                </a:solidFill>
                <a:effectLst/>
                <a:latin typeface="+mn-ea"/>
                <a:ea typeface="+mn-ea"/>
              </a:rPr>
              <a:t> *&gt; </a:t>
            </a:r>
            <a:r>
              <a:rPr lang="en-US" altLang="zh-CN" sz="1600" b="0" i="0" dirty="0">
                <a:solidFill>
                  <a:srgbClr val="001080"/>
                </a:solidFill>
                <a:effectLst/>
                <a:latin typeface="+mn-ea"/>
                <a:ea typeface="+mn-ea"/>
              </a:rPr>
              <a:t>s</a:t>
            </a:r>
            <a:r>
              <a:rPr lang="en-US" altLang="zh-CN" sz="1600" b="0" i="0" dirty="0">
                <a:solidFill>
                  <a:srgbClr val="000000"/>
                </a:solidFill>
                <a:effectLst/>
                <a:latin typeface="+mn-ea"/>
                <a:ea typeface="+mn-ea"/>
              </a:rPr>
              <a:t>;</a:t>
            </a:r>
          </a:p>
          <a:p>
            <a:br>
              <a:rPr lang="en-US" altLang="zh-CN" sz="1600" b="0" i="0" dirty="0">
                <a:solidFill>
                  <a:srgbClr val="000000"/>
                </a:solidFill>
                <a:effectLst/>
                <a:latin typeface="+mn-ea"/>
                <a:ea typeface="+mn-ea"/>
              </a:rPr>
            </a:br>
            <a:r>
              <a:rPr lang="en-US" altLang="zh-CN" sz="1600" b="0" i="0" dirty="0">
                <a:solidFill>
                  <a:srgbClr val="000000"/>
                </a:solidFill>
                <a:effectLst/>
                <a:latin typeface="+mn-ea"/>
                <a:ea typeface="+mn-ea"/>
              </a:rPr>
              <a:t>    </a:t>
            </a:r>
            <a:r>
              <a:rPr lang="en-US" altLang="zh-CN" sz="1600" b="0" i="0" dirty="0">
                <a:solidFill>
                  <a:srgbClr val="AF00DB"/>
                </a:solidFill>
                <a:effectLst/>
                <a:latin typeface="+mn-ea"/>
                <a:ea typeface="+mn-ea"/>
              </a:rPr>
              <a:t>while</a:t>
            </a:r>
            <a:r>
              <a:rPr lang="en-US" altLang="zh-CN" sz="1600" b="0" i="0" dirty="0">
                <a:solidFill>
                  <a:srgbClr val="000000"/>
                </a:solidFill>
                <a:effectLst/>
                <a:latin typeface="+mn-ea"/>
                <a:ea typeface="+mn-ea"/>
              </a:rPr>
              <a:t> (</a:t>
            </a:r>
            <a:r>
              <a:rPr lang="en-US" altLang="zh-CN" sz="1600" b="0" i="0" dirty="0">
                <a:solidFill>
                  <a:srgbClr val="001080"/>
                </a:solidFill>
                <a:effectLst/>
                <a:latin typeface="+mn-ea"/>
                <a:ea typeface="+mn-ea"/>
              </a:rPr>
              <a:t>T</a:t>
            </a:r>
            <a:r>
              <a:rPr lang="en-US" altLang="zh-CN" sz="1600" b="0" i="0" dirty="0">
                <a:solidFill>
                  <a:srgbClr val="000000"/>
                </a:solidFill>
                <a:effectLst/>
                <a:latin typeface="+mn-ea"/>
                <a:ea typeface="+mn-ea"/>
              </a:rPr>
              <a:t> || !</a:t>
            </a:r>
            <a:r>
              <a:rPr lang="en-US" altLang="zh-CN" sz="1600" b="0" i="0" dirty="0" err="1">
                <a:solidFill>
                  <a:srgbClr val="001080"/>
                </a:solidFill>
                <a:effectLst/>
                <a:latin typeface="+mn-ea"/>
                <a:ea typeface="+mn-ea"/>
              </a:rPr>
              <a:t>s</a:t>
            </a:r>
            <a:r>
              <a:rPr lang="en-US" altLang="zh-CN" sz="1600" b="0" i="0" dirty="0" err="1">
                <a:solidFill>
                  <a:srgbClr val="000000"/>
                </a:solidFill>
                <a:effectLst/>
                <a:latin typeface="+mn-ea"/>
                <a:ea typeface="+mn-ea"/>
              </a:rPr>
              <a:t>.</a:t>
            </a:r>
            <a:r>
              <a:rPr lang="en-US" altLang="zh-CN" sz="1600" b="0" i="0" dirty="0" err="1">
                <a:solidFill>
                  <a:srgbClr val="795E26"/>
                </a:solidFill>
                <a:effectLst/>
                <a:latin typeface="+mn-ea"/>
                <a:ea typeface="+mn-ea"/>
              </a:rPr>
              <a:t>empty</a:t>
            </a:r>
            <a:r>
              <a:rPr lang="en-US" altLang="zh-CN" sz="1600" b="0" i="0" dirty="0">
                <a:solidFill>
                  <a:srgbClr val="000000"/>
                </a:solidFill>
                <a:effectLst/>
                <a:latin typeface="+mn-ea"/>
                <a:ea typeface="+mn-ea"/>
              </a:rPr>
              <a:t>())</a:t>
            </a:r>
          </a:p>
          <a:p>
            <a:r>
              <a:rPr lang="en-US" altLang="zh-CN" sz="1600" b="0" i="0" dirty="0">
                <a:solidFill>
                  <a:srgbClr val="000000"/>
                </a:solidFill>
                <a:effectLst/>
                <a:latin typeface="+mn-ea"/>
                <a:ea typeface="+mn-ea"/>
              </a:rPr>
              <a:t>    {</a:t>
            </a:r>
          </a:p>
          <a:p>
            <a:r>
              <a:rPr lang="en-US" altLang="zh-CN" sz="1600" b="0" i="0" dirty="0">
                <a:solidFill>
                  <a:srgbClr val="000000"/>
                </a:solidFill>
                <a:effectLst/>
                <a:latin typeface="+mn-ea"/>
                <a:ea typeface="+mn-ea"/>
              </a:rPr>
              <a:t>        </a:t>
            </a:r>
            <a:r>
              <a:rPr lang="en-US" altLang="zh-CN" sz="1600" b="0" i="0" dirty="0">
                <a:solidFill>
                  <a:srgbClr val="AF00DB"/>
                </a:solidFill>
                <a:effectLst/>
                <a:latin typeface="+mn-ea"/>
                <a:ea typeface="+mn-ea"/>
              </a:rPr>
              <a:t>while</a:t>
            </a:r>
            <a:r>
              <a:rPr lang="en-US" altLang="zh-CN" sz="1600" b="0" i="0" dirty="0">
                <a:solidFill>
                  <a:srgbClr val="000000"/>
                </a:solidFill>
                <a:effectLst/>
                <a:latin typeface="+mn-ea"/>
                <a:ea typeface="+mn-ea"/>
              </a:rPr>
              <a:t> (</a:t>
            </a:r>
            <a:r>
              <a:rPr lang="en-US" altLang="zh-CN" sz="1600" b="0" i="0" dirty="0">
                <a:solidFill>
                  <a:srgbClr val="001080"/>
                </a:solidFill>
                <a:effectLst/>
                <a:latin typeface="+mn-ea"/>
                <a:ea typeface="+mn-ea"/>
              </a:rPr>
              <a:t>T</a:t>
            </a:r>
            <a:r>
              <a:rPr lang="en-US" altLang="zh-CN" sz="1600" b="0" i="0" dirty="0">
                <a:solidFill>
                  <a:srgbClr val="000000"/>
                </a:solidFill>
                <a:effectLst/>
                <a:latin typeface="+mn-ea"/>
                <a:ea typeface="+mn-ea"/>
              </a:rPr>
              <a:t>)</a:t>
            </a:r>
          </a:p>
          <a:p>
            <a:r>
              <a:rPr lang="en-US" altLang="zh-CN" sz="1600" b="0" i="0" dirty="0">
                <a:solidFill>
                  <a:srgbClr val="000000"/>
                </a:solidFill>
                <a:effectLst/>
                <a:latin typeface="+mn-ea"/>
                <a:ea typeface="+mn-ea"/>
              </a:rPr>
              <a:t>        {</a:t>
            </a:r>
          </a:p>
          <a:p>
            <a:r>
              <a:rPr lang="en-US" altLang="zh-CN" sz="1600" b="0" i="0" dirty="0">
                <a:solidFill>
                  <a:srgbClr val="000000"/>
                </a:solidFill>
                <a:effectLst/>
                <a:latin typeface="+mn-ea"/>
                <a:ea typeface="+mn-ea"/>
              </a:rPr>
              <a:t>            </a:t>
            </a:r>
            <a:r>
              <a:rPr lang="en-US" altLang="zh-CN" sz="1600" b="0" i="0" dirty="0" err="1">
                <a:solidFill>
                  <a:srgbClr val="001080"/>
                </a:solidFill>
                <a:effectLst/>
                <a:latin typeface="+mn-ea"/>
                <a:ea typeface="+mn-ea"/>
              </a:rPr>
              <a:t>s</a:t>
            </a:r>
            <a:r>
              <a:rPr lang="en-US" altLang="zh-CN" sz="1600" b="0" i="0" dirty="0" err="1">
                <a:solidFill>
                  <a:srgbClr val="000000"/>
                </a:solidFill>
                <a:effectLst/>
                <a:latin typeface="+mn-ea"/>
                <a:ea typeface="+mn-ea"/>
              </a:rPr>
              <a:t>.</a:t>
            </a:r>
            <a:r>
              <a:rPr lang="en-US" altLang="zh-CN" sz="1600" b="0" i="0" dirty="0" err="1">
                <a:solidFill>
                  <a:srgbClr val="795E26"/>
                </a:solidFill>
                <a:effectLst/>
                <a:latin typeface="+mn-ea"/>
                <a:ea typeface="+mn-ea"/>
              </a:rPr>
              <a:t>push</a:t>
            </a:r>
            <a:r>
              <a:rPr lang="en-US" altLang="zh-CN" sz="1600" b="0" i="0" dirty="0">
                <a:solidFill>
                  <a:srgbClr val="000000"/>
                </a:solidFill>
                <a:effectLst/>
                <a:latin typeface="+mn-ea"/>
                <a:ea typeface="+mn-ea"/>
              </a:rPr>
              <a:t>(</a:t>
            </a:r>
            <a:r>
              <a:rPr lang="en-US" altLang="zh-CN" sz="1600" b="0" i="0" dirty="0">
                <a:solidFill>
                  <a:srgbClr val="001080"/>
                </a:solidFill>
                <a:effectLst/>
                <a:latin typeface="+mn-ea"/>
                <a:ea typeface="+mn-ea"/>
              </a:rPr>
              <a:t>T</a:t>
            </a:r>
            <a:r>
              <a:rPr lang="en-US" altLang="zh-CN" sz="1600" b="0" i="0" dirty="0">
                <a:solidFill>
                  <a:srgbClr val="000000"/>
                </a:solidFill>
                <a:effectLst/>
                <a:latin typeface="+mn-ea"/>
                <a:ea typeface="+mn-ea"/>
              </a:rPr>
              <a:t>);</a:t>
            </a:r>
            <a:r>
              <a:rPr lang="en-US" altLang="zh-CN" sz="1600" b="0" i="0" dirty="0">
                <a:solidFill>
                  <a:srgbClr val="008000"/>
                </a:solidFill>
                <a:effectLst/>
                <a:latin typeface="+mn-ea"/>
                <a:ea typeface="+mn-ea"/>
              </a:rPr>
              <a:t>              // </a:t>
            </a:r>
            <a:r>
              <a:rPr lang="zh-CN" altLang="en-US" sz="1600" b="0" i="0" dirty="0">
                <a:solidFill>
                  <a:srgbClr val="008000"/>
                </a:solidFill>
                <a:effectLst/>
                <a:latin typeface="+mn-ea"/>
                <a:ea typeface="+mn-ea"/>
              </a:rPr>
              <a:t>入栈</a:t>
            </a:r>
            <a:endParaRPr lang="zh-CN" altLang="en-US" sz="1600" b="0" i="0" dirty="0">
              <a:solidFill>
                <a:srgbClr val="000000"/>
              </a:solidFill>
              <a:effectLst/>
              <a:latin typeface="+mn-ea"/>
              <a:ea typeface="+mn-ea"/>
            </a:endParaRPr>
          </a:p>
          <a:p>
            <a:r>
              <a:rPr lang="zh-CN" altLang="en-US" sz="1600" b="0" i="0" dirty="0">
                <a:solidFill>
                  <a:srgbClr val="000000"/>
                </a:solidFill>
                <a:effectLst/>
                <a:latin typeface="+mn-ea"/>
                <a:ea typeface="+mn-ea"/>
              </a:rPr>
              <a:t>            </a:t>
            </a:r>
            <a:r>
              <a:rPr lang="en-US" altLang="zh-CN" sz="1600" b="0" i="0" dirty="0">
                <a:solidFill>
                  <a:srgbClr val="001080"/>
                </a:solidFill>
                <a:effectLst/>
                <a:latin typeface="+mn-ea"/>
                <a:ea typeface="+mn-ea"/>
              </a:rPr>
              <a:t>T</a:t>
            </a:r>
            <a:r>
              <a:rPr lang="en-US" altLang="zh-CN" sz="1600" b="0" i="0" dirty="0">
                <a:solidFill>
                  <a:srgbClr val="000000"/>
                </a:solidFill>
                <a:effectLst/>
                <a:latin typeface="+mn-ea"/>
                <a:ea typeface="+mn-ea"/>
              </a:rPr>
              <a:t> = </a:t>
            </a:r>
            <a:r>
              <a:rPr lang="en-US" altLang="zh-CN" sz="1600" b="0" i="0" dirty="0">
                <a:solidFill>
                  <a:srgbClr val="001080"/>
                </a:solidFill>
                <a:effectLst/>
                <a:latin typeface="+mn-ea"/>
                <a:ea typeface="+mn-ea"/>
              </a:rPr>
              <a:t>T</a:t>
            </a:r>
            <a:r>
              <a:rPr lang="en-US" altLang="zh-CN" sz="1600" b="0" i="0" dirty="0">
                <a:solidFill>
                  <a:srgbClr val="000000"/>
                </a:solidFill>
                <a:effectLst/>
                <a:latin typeface="+mn-ea"/>
                <a:ea typeface="+mn-ea"/>
              </a:rPr>
              <a:t>-&gt;</a:t>
            </a:r>
            <a:r>
              <a:rPr lang="en-US" altLang="zh-CN" sz="1600" b="0" i="0" dirty="0" err="1">
                <a:solidFill>
                  <a:srgbClr val="001080"/>
                </a:solidFill>
                <a:effectLst/>
                <a:latin typeface="+mn-ea"/>
                <a:ea typeface="+mn-ea"/>
              </a:rPr>
              <a:t>lchild</a:t>
            </a:r>
            <a:r>
              <a:rPr lang="en-US" altLang="zh-CN" sz="1600" b="0" i="0" dirty="0">
                <a:solidFill>
                  <a:srgbClr val="000000"/>
                </a:solidFill>
                <a:effectLst/>
                <a:latin typeface="+mn-ea"/>
                <a:ea typeface="+mn-ea"/>
              </a:rPr>
              <a:t>;</a:t>
            </a:r>
            <a:r>
              <a:rPr lang="en-US" altLang="zh-CN" sz="1600" b="0" i="0" dirty="0">
                <a:solidFill>
                  <a:srgbClr val="008000"/>
                </a:solidFill>
                <a:effectLst/>
                <a:latin typeface="+mn-ea"/>
                <a:ea typeface="+mn-ea"/>
              </a:rPr>
              <a:t>          // </a:t>
            </a:r>
            <a:r>
              <a:rPr lang="zh-CN" altLang="en-US" sz="1600" b="0" i="0" dirty="0">
                <a:solidFill>
                  <a:srgbClr val="008000"/>
                </a:solidFill>
                <a:effectLst/>
                <a:latin typeface="+mn-ea"/>
                <a:ea typeface="+mn-ea"/>
              </a:rPr>
              <a:t>走左子树</a:t>
            </a:r>
            <a:endParaRPr lang="zh-CN" altLang="en-US" sz="1600" b="0" i="0" dirty="0">
              <a:solidFill>
                <a:srgbClr val="000000"/>
              </a:solidFill>
              <a:effectLst/>
              <a:latin typeface="+mn-ea"/>
              <a:ea typeface="+mn-ea"/>
            </a:endParaRPr>
          </a:p>
          <a:p>
            <a:r>
              <a:rPr lang="zh-CN" altLang="en-US" sz="1600" b="0" i="0" dirty="0">
                <a:solidFill>
                  <a:srgbClr val="000000"/>
                </a:solidFill>
                <a:effectLst/>
                <a:latin typeface="+mn-ea"/>
                <a:ea typeface="+mn-ea"/>
              </a:rPr>
              <a:t>        </a:t>
            </a:r>
            <a:r>
              <a:rPr lang="en-US" altLang="zh-CN" sz="1600" b="0" i="0" dirty="0">
                <a:solidFill>
                  <a:srgbClr val="000000"/>
                </a:solidFill>
                <a:effectLst/>
                <a:latin typeface="+mn-ea"/>
                <a:ea typeface="+mn-ea"/>
              </a:rPr>
              <a:t>}</a:t>
            </a:r>
          </a:p>
          <a:p>
            <a:r>
              <a:rPr lang="en-US" altLang="zh-CN" sz="1600" b="0" i="0" dirty="0">
                <a:solidFill>
                  <a:srgbClr val="000000"/>
                </a:solidFill>
                <a:effectLst/>
                <a:latin typeface="+mn-ea"/>
                <a:ea typeface="+mn-ea"/>
              </a:rPr>
              <a:t>        </a:t>
            </a:r>
            <a:r>
              <a:rPr lang="en-US" altLang="zh-CN" sz="1600" b="0" i="0" dirty="0">
                <a:solidFill>
                  <a:srgbClr val="AF00DB"/>
                </a:solidFill>
                <a:effectLst/>
                <a:latin typeface="+mn-ea"/>
                <a:ea typeface="+mn-ea"/>
              </a:rPr>
              <a:t>if</a:t>
            </a:r>
            <a:r>
              <a:rPr lang="en-US" altLang="zh-CN" sz="1600" b="0" i="0" dirty="0">
                <a:solidFill>
                  <a:srgbClr val="000000"/>
                </a:solidFill>
                <a:effectLst/>
                <a:latin typeface="+mn-ea"/>
                <a:ea typeface="+mn-ea"/>
              </a:rPr>
              <a:t> (!</a:t>
            </a:r>
            <a:r>
              <a:rPr lang="en-US" altLang="zh-CN" sz="1600" b="0" i="0" dirty="0" err="1">
                <a:solidFill>
                  <a:srgbClr val="001080"/>
                </a:solidFill>
                <a:effectLst/>
                <a:latin typeface="+mn-ea"/>
                <a:ea typeface="+mn-ea"/>
              </a:rPr>
              <a:t>s</a:t>
            </a:r>
            <a:r>
              <a:rPr lang="en-US" altLang="zh-CN" sz="1600" b="0" i="0" dirty="0" err="1">
                <a:solidFill>
                  <a:srgbClr val="000000"/>
                </a:solidFill>
                <a:effectLst/>
                <a:latin typeface="+mn-ea"/>
                <a:ea typeface="+mn-ea"/>
              </a:rPr>
              <a:t>.</a:t>
            </a:r>
            <a:r>
              <a:rPr lang="en-US" altLang="zh-CN" sz="1600" b="0" i="0" dirty="0" err="1">
                <a:solidFill>
                  <a:srgbClr val="795E26"/>
                </a:solidFill>
                <a:effectLst/>
                <a:latin typeface="+mn-ea"/>
                <a:ea typeface="+mn-ea"/>
              </a:rPr>
              <a:t>empty</a:t>
            </a:r>
            <a:r>
              <a:rPr lang="en-US" altLang="zh-CN" sz="1600" b="0" i="0" dirty="0">
                <a:solidFill>
                  <a:srgbClr val="000000"/>
                </a:solidFill>
                <a:effectLst/>
                <a:latin typeface="+mn-ea"/>
                <a:ea typeface="+mn-ea"/>
              </a:rPr>
              <a:t>())</a:t>
            </a:r>
            <a:r>
              <a:rPr lang="en-US" altLang="zh-CN" sz="1600" b="0" i="0" dirty="0">
                <a:solidFill>
                  <a:srgbClr val="008000"/>
                </a:solidFill>
                <a:effectLst/>
                <a:latin typeface="+mn-ea"/>
                <a:ea typeface="+mn-ea"/>
              </a:rPr>
              <a:t> // </a:t>
            </a:r>
            <a:r>
              <a:rPr lang="zh-CN" altLang="en-US" sz="1600" b="0" i="0" dirty="0">
                <a:solidFill>
                  <a:srgbClr val="008000"/>
                </a:solidFill>
                <a:effectLst/>
                <a:latin typeface="+mn-ea"/>
                <a:ea typeface="+mn-ea"/>
              </a:rPr>
              <a:t>走不通</a:t>
            </a:r>
            <a:endParaRPr lang="zh-CN" altLang="en-US" sz="1600" b="0" i="0" dirty="0">
              <a:solidFill>
                <a:srgbClr val="000000"/>
              </a:solidFill>
              <a:effectLst/>
              <a:latin typeface="+mn-ea"/>
              <a:ea typeface="+mn-ea"/>
            </a:endParaRPr>
          </a:p>
          <a:p>
            <a:r>
              <a:rPr lang="zh-CN" altLang="en-US" sz="1600" b="0" i="0" dirty="0">
                <a:solidFill>
                  <a:srgbClr val="000000"/>
                </a:solidFill>
                <a:effectLst/>
                <a:latin typeface="+mn-ea"/>
                <a:ea typeface="+mn-ea"/>
              </a:rPr>
              <a:t>        </a:t>
            </a:r>
            <a:r>
              <a:rPr lang="en-US" altLang="zh-CN" sz="1600" b="0" i="0" dirty="0">
                <a:solidFill>
                  <a:srgbClr val="000000"/>
                </a:solidFill>
                <a:effectLst/>
                <a:latin typeface="+mn-ea"/>
                <a:ea typeface="+mn-ea"/>
              </a:rPr>
              <a:t>{</a:t>
            </a:r>
          </a:p>
          <a:p>
            <a:r>
              <a:rPr lang="en-US" altLang="zh-CN" sz="1600" b="0" i="0" dirty="0">
                <a:solidFill>
                  <a:srgbClr val="000000"/>
                </a:solidFill>
                <a:effectLst/>
                <a:latin typeface="+mn-ea"/>
                <a:ea typeface="+mn-ea"/>
              </a:rPr>
              <a:t>            </a:t>
            </a:r>
            <a:r>
              <a:rPr lang="en-US" altLang="zh-CN" sz="1600" b="0" i="0" dirty="0">
                <a:solidFill>
                  <a:srgbClr val="001080"/>
                </a:solidFill>
                <a:effectLst/>
                <a:latin typeface="+mn-ea"/>
                <a:ea typeface="+mn-ea"/>
              </a:rPr>
              <a:t>T</a:t>
            </a:r>
            <a:r>
              <a:rPr lang="en-US" altLang="zh-CN" sz="1600" b="0" i="0" dirty="0">
                <a:solidFill>
                  <a:srgbClr val="000000"/>
                </a:solidFill>
                <a:effectLst/>
                <a:latin typeface="+mn-ea"/>
                <a:ea typeface="+mn-ea"/>
              </a:rPr>
              <a:t> = </a:t>
            </a:r>
            <a:r>
              <a:rPr lang="en-US" altLang="zh-CN" sz="1600" b="0" i="0" dirty="0" err="1">
                <a:solidFill>
                  <a:srgbClr val="001080"/>
                </a:solidFill>
                <a:effectLst/>
                <a:latin typeface="+mn-ea"/>
                <a:ea typeface="+mn-ea"/>
              </a:rPr>
              <a:t>s</a:t>
            </a:r>
            <a:r>
              <a:rPr lang="en-US" altLang="zh-CN" sz="1600" b="0" i="0" dirty="0" err="1">
                <a:solidFill>
                  <a:srgbClr val="000000"/>
                </a:solidFill>
                <a:effectLst/>
                <a:latin typeface="+mn-ea"/>
                <a:ea typeface="+mn-ea"/>
              </a:rPr>
              <a:t>.</a:t>
            </a:r>
            <a:r>
              <a:rPr lang="en-US" altLang="zh-CN" sz="1600" b="0" i="0" dirty="0" err="1">
                <a:solidFill>
                  <a:srgbClr val="795E26"/>
                </a:solidFill>
                <a:effectLst/>
                <a:latin typeface="+mn-ea"/>
                <a:ea typeface="+mn-ea"/>
              </a:rPr>
              <a:t>top</a:t>
            </a:r>
            <a:r>
              <a:rPr lang="en-US" altLang="zh-CN" sz="1600" b="0" i="0" dirty="0">
                <a:solidFill>
                  <a:srgbClr val="000000"/>
                </a:solidFill>
                <a:effectLst/>
                <a:latin typeface="+mn-ea"/>
                <a:ea typeface="+mn-ea"/>
              </a:rPr>
              <a:t>();</a:t>
            </a:r>
            <a:r>
              <a:rPr lang="en-US" altLang="zh-CN" sz="1600" b="0" i="0" dirty="0">
                <a:solidFill>
                  <a:srgbClr val="008000"/>
                </a:solidFill>
                <a:effectLst/>
                <a:latin typeface="+mn-ea"/>
                <a:ea typeface="+mn-ea"/>
              </a:rPr>
              <a:t> // </a:t>
            </a:r>
            <a:r>
              <a:rPr lang="zh-CN" altLang="en-US" sz="1600" b="0" i="0" dirty="0">
                <a:solidFill>
                  <a:srgbClr val="008000"/>
                </a:solidFill>
                <a:effectLst/>
                <a:latin typeface="+mn-ea"/>
                <a:ea typeface="+mn-ea"/>
              </a:rPr>
              <a:t>取栈顶</a:t>
            </a:r>
            <a:endParaRPr lang="zh-CN" altLang="en-US" sz="1600" b="0" i="0" dirty="0">
              <a:solidFill>
                <a:srgbClr val="000000"/>
              </a:solidFill>
              <a:effectLst/>
              <a:latin typeface="+mn-ea"/>
              <a:ea typeface="+mn-ea"/>
            </a:endParaRPr>
          </a:p>
          <a:p>
            <a:r>
              <a:rPr lang="zh-CN" altLang="en-US" sz="1600" b="0" i="0" dirty="0">
                <a:solidFill>
                  <a:srgbClr val="000000"/>
                </a:solidFill>
                <a:effectLst/>
                <a:latin typeface="+mn-ea"/>
                <a:ea typeface="+mn-ea"/>
              </a:rPr>
              <a:t>            </a:t>
            </a:r>
            <a:r>
              <a:rPr lang="en-US" altLang="zh-CN" sz="1600" b="0" i="0" dirty="0">
                <a:solidFill>
                  <a:srgbClr val="000000"/>
                </a:solidFill>
                <a:latin typeface="+mn-ea"/>
                <a:ea typeface="+mn-ea"/>
              </a:rPr>
              <a:t>//</a:t>
            </a:r>
            <a:r>
              <a:rPr lang="zh-CN" altLang="en-US" sz="1600" b="0" i="0" dirty="0">
                <a:solidFill>
                  <a:srgbClr val="000000"/>
                </a:solidFill>
                <a:latin typeface="+mn-ea"/>
                <a:ea typeface="+mn-ea"/>
              </a:rPr>
              <a:t> 若</a:t>
            </a:r>
            <a:r>
              <a:rPr lang="en-US" altLang="zh-CN" sz="1600" b="0" i="0" dirty="0">
                <a:solidFill>
                  <a:srgbClr val="000000"/>
                </a:solidFill>
                <a:latin typeface="+mn-ea"/>
                <a:ea typeface="+mn-ea"/>
              </a:rPr>
              <a:t>T</a:t>
            </a:r>
            <a:r>
              <a:rPr lang="zh-CN" altLang="en-US" sz="1600" b="0" i="0" dirty="0">
                <a:solidFill>
                  <a:srgbClr val="000000"/>
                </a:solidFill>
                <a:latin typeface="+mn-ea"/>
                <a:ea typeface="+mn-ea"/>
              </a:rPr>
              <a:t>右子树为空，或</a:t>
            </a:r>
            <a:r>
              <a:rPr lang="en-US" altLang="zh-CN" sz="1600" b="0" i="0" dirty="0">
                <a:solidFill>
                  <a:srgbClr val="000000"/>
                </a:solidFill>
                <a:latin typeface="+mn-ea"/>
                <a:ea typeface="+mn-ea"/>
              </a:rPr>
              <a:t>T</a:t>
            </a:r>
            <a:r>
              <a:rPr lang="zh-CN" altLang="en-US" sz="1600" b="0" i="0" dirty="0">
                <a:solidFill>
                  <a:srgbClr val="000000"/>
                </a:solidFill>
                <a:latin typeface="+mn-ea"/>
                <a:ea typeface="+mn-ea"/>
              </a:rPr>
              <a:t>的右子树是刚输出的，出栈输出，</a:t>
            </a:r>
            <a:r>
              <a:rPr lang="en-US" altLang="zh-CN" sz="1600" b="0" i="0" dirty="0">
                <a:solidFill>
                  <a:srgbClr val="000000"/>
                </a:solidFill>
                <a:latin typeface="+mn-ea"/>
                <a:ea typeface="+mn-ea"/>
              </a:rPr>
              <a:t>T</a:t>
            </a:r>
            <a:r>
              <a:rPr lang="zh-CN" altLang="en-US" sz="1600" b="0" i="0" dirty="0">
                <a:solidFill>
                  <a:srgbClr val="000000"/>
                </a:solidFill>
                <a:latin typeface="+mn-ea"/>
                <a:ea typeface="+mn-ea"/>
              </a:rPr>
              <a:t>置空指针</a:t>
            </a:r>
            <a:endParaRPr lang="en-US" altLang="zh-CN" sz="1600" b="0" i="0" dirty="0">
              <a:solidFill>
                <a:srgbClr val="000000"/>
              </a:solidFill>
              <a:latin typeface="+mn-ea"/>
              <a:ea typeface="+mn-ea"/>
            </a:endParaRPr>
          </a:p>
          <a:p>
            <a:r>
              <a:rPr lang="en-US" altLang="zh-CN" sz="1600" b="0" i="0" dirty="0">
                <a:solidFill>
                  <a:srgbClr val="000000"/>
                </a:solidFill>
                <a:latin typeface="+mn-ea"/>
                <a:ea typeface="+mn-ea"/>
              </a:rPr>
              <a:t>         // </a:t>
            </a:r>
            <a:r>
              <a:rPr lang="zh-CN" altLang="en-US" sz="1600" b="0" i="0" dirty="0">
                <a:solidFill>
                  <a:srgbClr val="000000"/>
                </a:solidFill>
                <a:latin typeface="+mn-ea"/>
                <a:ea typeface="+mn-ea"/>
              </a:rPr>
              <a:t>否则走右子树</a:t>
            </a:r>
            <a:endParaRPr lang="en-US" altLang="zh-CN" sz="1600" b="0" i="0" dirty="0">
              <a:solidFill>
                <a:srgbClr val="000000"/>
              </a:solidFill>
              <a:latin typeface="+mn-ea"/>
              <a:ea typeface="+mn-ea"/>
            </a:endParaRPr>
          </a:p>
          <a:p>
            <a:r>
              <a:rPr lang="en-US" altLang="zh-CN" sz="1600" b="0" i="0" dirty="0">
                <a:solidFill>
                  <a:srgbClr val="000000"/>
                </a:solidFill>
                <a:effectLst/>
                <a:latin typeface="+mn-ea"/>
                <a:ea typeface="+mn-ea"/>
              </a:rPr>
              <a:t>      }</a:t>
            </a:r>
          </a:p>
          <a:p>
            <a:r>
              <a:rPr lang="en-US" altLang="zh-CN" sz="1600" b="0" i="0" dirty="0">
                <a:solidFill>
                  <a:srgbClr val="000000"/>
                </a:solidFill>
                <a:effectLst/>
                <a:latin typeface="+mn-ea"/>
                <a:ea typeface="+mn-ea"/>
              </a:rPr>
              <a:t>    }</a:t>
            </a:r>
          </a:p>
          <a:p>
            <a:r>
              <a:rPr lang="en-US" altLang="zh-CN" sz="1600" b="0" i="0" dirty="0">
                <a:solidFill>
                  <a:srgbClr val="000000"/>
                </a:solidFill>
                <a:effectLst/>
                <a:latin typeface="+mn-ea"/>
                <a:ea typeface="+mn-ea"/>
              </a:rPr>
              <a:t>    </a:t>
            </a:r>
            <a:r>
              <a:rPr lang="en-US" altLang="zh-CN" sz="1600" b="0" i="0" dirty="0" err="1">
                <a:solidFill>
                  <a:srgbClr val="001080"/>
                </a:solidFill>
                <a:effectLst/>
                <a:latin typeface="+mn-ea"/>
                <a:ea typeface="+mn-ea"/>
              </a:rPr>
              <a:t>cout</a:t>
            </a:r>
            <a:r>
              <a:rPr lang="en-US" altLang="zh-CN" sz="1600" b="0" i="0" dirty="0">
                <a:solidFill>
                  <a:srgbClr val="000000"/>
                </a:solidFill>
                <a:effectLst/>
                <a:latin typeface="+mn-ea"/>
                <a:ea typeface="+mn-ea"/>
              </a:rPr>
              <a:t> </a:t>
            </a:r>
            <a:r>
              <a:rPr lang="en-US" altLang="zh-CN" sz="1600" b="0" i="0" dirty="0">
                <a:solidFill>
                  <a:srgbClr val="795E26"/>
                </a:solidFill>
                <a:effectLst/>
                <a:latin typeface="+mn-ea"/>
                <a:ea typeface="+mn-ea"/>
              </a:rPr>
              <a:t>&lt;&lt;</a:t>
            </a:r>
            <a:r>
              <a:rPr lang="en-US" altLang="zh-CN" sz="1600" b="0" i="0" dirty="0">
                <a:solidFill>
                  <a:srgbClr val="000000"/>
                </a:solidFill>
                <a:effectLst/>
                <a:latin typeface="+mn-ea"/>
                <a:ea typeface="+mn-ea"/>
              </a:rPr>
              <a:t>  </a:t>
            </a:r>
            <a:r>
              <a:rPr lang="en-US" altLang="zh-CN" sz="1600" b="0" i="0" dirty="0" err="1">
                <a:solidFill>
                  <a:srgbClr val="795E26"/>
                </a:solidFill>
                <a:effectLst/>
                <a:latin typeface="+mn-ea"/>
                <a:ea typeface="+mn-ea"/>
              </a:rPr>
              <a:t>endl</a:t>
            </a:r>
            <a:r>
              <a:rPr lang="en-US" altLang="zh-CN" sz="1600" b="0" i="0" dirty="0">
                <a:solidFill>
                  <a:srgbClr val="000000"/>
                </a:solidFill>
                <a:effectLst/>
                <a:latin typeface="+mn-ea"/>
                <a:ea typeface="+mn-ea"/>
              </a:rPr>
              <a:t>;</a:t>
            </a:r>
          </a:p>
          <a:p>
            <a:r>
              <a:rPr lang="en-US" altLang="zh-CN" sz="1600" b="0" i="0" dirty="0">
                <a:solidFill>
                  <a:srgbClr val="000000"/>
                </a:solidFill>
                <a:effectLst/>
                <a:latin typeface="+mn-ea"/>
                <a:ea typeface="+mn-ea"/>
              </a:rPr>
              <a:t>}</a:t>
            </a:r>
          </a:p>
        </p:txBody>
      </p:sp>
    </p:spTree>
    <p:extLst>
      <p:ext uri="{BB962C8B-B14F-4D97-AF65-F5344CB8AC3E}">
        <p14:creationId xmlns:p14="http://schemas.microsoft.com/office/powerpoint/2010/main" val="1417010166"/>
      </p:ext>
    </p:extLst>
  </p:cSld>
  <p:clrMapOvr>
    <a:masterClrMapping/>
  </p:clrMapOvr>
  <p:transition spd="med">
    <p:pull dir="d"/>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5F698467-742D-4A1D-9128-4F83A45E7944}"/>
              </a:ext>
            </a:extLst>
          </p:cNvPr>
          <p:cNvSpPr>
            <a:spLocks noGrp="1" noChangeArrowheads="1"/>
          </p:cNvSpPr>
          <p:nvPr>
            <p:ph type="title"/>
          </p:nvPr>
        </p:nvSpPr>
        <p:spPr/>
        <p:txBody>
          <a:bodyPr/>
          <a:lstStyle/>
          <a:p>
            <a:pPr algn="ctr" eaLnBrk="1" hangingPunct="1"/>
            <a:r>
              <a:rPr lang="zh-CN" altLang="en-US" sz="4400" b="1" kern="1200" dirty="0">
                <a:latin typeface="Tahoma" panose="020B0604030504040204" pitchFamily="34" charset="0"/>
                <a:ea typeface="隶书" pitchFamily="49" charset="-122"/>
                <a:cs typeface="+mn-cs"/>
              </a:rPr>
              <a:t>遍历练习</a:t>
            </a:r>
          </a:p>
        </p:txBody>
      </p:sp>
      <p:sp>
        <p:nvSpPr>
          <p:cNvPr id="43011" name="Rectangle 3">
            <a:extLst>
              <a:ext uri="{FF2B5EF4-FFF2-40B4-BE49-F238E27FC236}">
                <a16:creationId xmlns:a16="http://schemas.microsoft.com/office/drawing/2014/main" id="{F372DC93-4DF1-4EF9-BD96-7D5FA0D5CB3F}"/>
              </a:ext>
            </a:extLst>
          </p:cNvPr>
          <p:cNvSpPr>
            <a:spLocks noGrp="1" noChangeArrowheads="1"/>
          </p:cNvSpPr>
          <p:nvPr>
            <p:ph type="body" idx="1"/>
          </p:nvPr>
        </p:nvSpPr>
        <p:spPr>
          <a:xfrm>
            <a:off x="615561" y="1256506"/>
            <a:ext cx="8497888" cy="5576887"/>
          </a:xfrm>
        </p:spPr>
        <p:txBody>
          <a:bodyPr/>
          <a:lstStyle/>
          <a:p>
            <a:pPr marL="0" indent="0" eaLnBrk="1" hangingPunct="1">
              <a:buNone/>
            </a:pPr>
            <a:r>
              <a:rPr lang="zh-CN" altLang="en-US" dirty="0"/>
              <a:t>用二叉树表示表达式</a:t>
            </a:r>
          </a:p>
          <a:p>
            <a:pPr eaLnBrk="1" hangingPunct="1">
              <a:buFont typeface="Wingdings" panose="05000000000000000000" pitchFamily="2" charset="2"/>
              <a:buChar char="p"/>
            </a:pPr>
            <a:r>
              <a:rPr lang="zh-CN" altLang="en-US" sz="3200" dirty="0"/>
              <a:t> </a:t>
            </a:r>
            <a:r>
              <a:rPr lang="zh-CN" altLang="en-US" dirty="0">
                <a:latin typeface="+mn-ea"/>
              </a:rPr>
              <a:t>先序遍历得到前缀表达式（波兰式）</a:t>
            </a:r>
          </a:p>
          <a:p>
            <a:pPr marL="471487" lvl="1" indent="0" eaLnBrk="1" hangingPunct="1">
              <a:buNone/>
            </a:pPr>
            <a:r>
              <a:rPr lang="en-US" altLang="zh-CN" sz="2800" b="1" dirty="0">
                <a:solidFill>
                  <a:srgbClr val="000066"/>
                </a:solidFill>
                <a:latin typeface="+mn-ea"/>
              </a:rPr>
              <a:t> -×+ a b c / d e</a:t>
            </a:r>
            <a:endParaRPr lang="zh-CN" altLang="en-US" sz="2800" dirty="0">
              <a:latin typeface="+mn-ea"/>
            </a:endParaRPr>
          </a:p>
          <a:p>
            <a:pPr eaLnBrk="1" hangingPunct="1">
              <a:buFont typeface="Wingdings" panose="05000000000000000000" pitchFamily="2" charset="2"/>
              <a:buChar char="p"/>
            </a:pPr>
            <a:r>
              <a:rPr lang="en-US" altLang="zh-CN" dirty="0">
                <a:latin typeface="+mn-ea"/>
              </a:rPr>
              <a:t> </a:t>
            </a:r>
            <a:r>
              <a:rPr lang="zh-CN" altLang="en-US" dirty="0">
                <a:latin typeface="+mn-ea"/>
              </a:rPr>
              <a:t>中序遍历得到中缀表达式 </a:t>
            </a:r>
          </a:p>
          <a:p>
            <a:pPr marL="471487" lvl="1" indent="0" eaLnBrk="1" hangingPunct="1">
              <a:buNone/>
            </a:pPr>
            <a:r>
              <a:rPr lang="zh-CN" altLang="en-US" sz="2800" dirty="0">
                <a:latin typeface="+mn-ea"/>
              </a:rPr>
              <a:t> </a:t>
            </a:r>
            <a:r>
              <a:rPr lang="en-US" altLang="zh-CN" sz="2800" b="1" dirty="0">
                <a:solidFill>
                  <a:srgbClr val="000066"/>
                </a:solidFill>
                <a:latin typeface="+mn-ea"/>
              </a:rPr>
              <a:t>(</a:t>
            </a:r>
            <a:r>
              <a:rPr lang="en-US" altLang="zh-CN" sz="2800" b="1" dirty="0" err="1">
                <a:solidFill>
                  <a:srgbClr val="000066"/>
                </a:solidFill>
                <a:latin typeface="+mn-ea"/>
              </a:rPr>
              <a:t>a+b</a:t>
            </a:r>
            <a:r>
              <a:rPr lang="en-US" altLang="zh-CN" sz="2800" b="1" dirty="0">
                <a:solidFill>
                  <a:srgbClr val="000066"/>
                </a:solidFill>
                <a:latin typeface="+mn-ea"/>
              </a:rPr>
              <a:t>)×c – d/e</a:t>
            </a:r>
            <a:endParaRPr lang="zh-CN" altLang="en-US" sz="2800" dirty="0">
              <a:latin typeface="+mn-ea"/>
            </a:endParaRPr>
          </a:p>
          <a:p>
            <a:pPr eaLnBrk="1" hangingPunct="1">
              <a:buFont typeface="Wingdings" panose="05000000000000000000" pitchFamily="2" charset="2"/>
              <a:buChar char="p"/>
            </a:pPr>
            <a:r>
              <a:rPr lang="zh-CN" altLang="en-US" dirty="0">
                <a:latin typeface="+mn-ea"/>
              </a:rPr>
              <a:t> 后续遍历得到后缀表达式（逆波兰式）</a:t>
            </a:r>
          </a:p>
          <a:p>
            <a:pPr marL="471487" lvl="1" indent="0" eaLnBrk="1" hangingPunct="1">
              <a:buNone/>
            </a:pPr>
            <a:r>
              <a:rPr lang="en-US" altLang="zh-CN" sz="2800" b="1" dirty="0">
                <a:solidFill>
                  <a:srgbClr val="000066"/>
                </a:solidFill>
                <a:latin typeface="+mn-ea"/>
              </a:rPr>
              <a:t> </a:t>
            </a:r>
            <a:r>
              <a:rPr lang="en-US" altLang="zh-CN" sz="2800" b="1" dirty="0" err="1">
                <a:solidFill>
                  <a:srgbClr val="000066"/>
                </a:solidFill>
                <a:latin typeface="+mn-ea"/>
              </a:rPr>
              <a:t>ab+c×de</a:t>
            </a:r>
            <a:r>
              <a:rPr lang="en-US" altLang="zh-CN" sz="2800" b="1" dirty="0">
                <a:solidFill>
                  <a:srgbClr val="000066"/>
                </a:solidFill>
                <a:latin typeface="+mn-ea"/>
              </a:rPr>
              <a:t>/-</a:t>
            </a:r>
          </a:p>
          <a:p>
            <a:pPr lvl="1" eaLnBrk="1" hangingPunct="1"/>
            <a:endParaRPr lang="zh-CN" altLang="en-US" sz="2400" b="1" dirty="0">
              <a:solidFill>
                <a:srgbClr val="000066"/>
              </a:solidFill>
            </a:endParaRPr>
          </a:p>
        </p:txBody>
      </p:sp>
      <p:grpSp>
        <p:nvGrpSpPr>
          <p:cNvPr id="43012" name="Group 4">
            <a:extLst>
              <a:ext uri="{FF2B5EF4-FFF2-40B4-BE49-F238E27FC236}">
                <a16:creationId xmlns:a16="http://schemas.microsoft.com/office/drawing/2014/main" id="{79CF19D1-CE58-4B10-BA3B-EDC9F001BEFE}"/>
              </a:ext>
            </a:extLst>
          </p:cNvPr>
          <p:cNvGrpSpPr>
            <a:grpSpLocks/>
          </p:cNvGrpSpPr>
          <p:nvPr/>
        </p:nvGrpSpPr>
        <p:grpSpPr bwMode="auto">
          <a:xfrm>
            <a:off x="4572000" y="3690279"/>
            <a:ext cx="4372223" cy="2881312"/>
            <a:chOff x="0" y="0"/>
            <a:chExt cx="4433" cy="2640"/>
          </a:xfrm>
        </p:grpSpPr>
        <p:sp>
          <p:nvSpPr>
            <p:cNvPr id="49157" name="Oval 5">
              <a:extLst>
                <a:ext uri="{FF2B5EF4-FFF2-40B4-BE49-F238E27FC236}">
                  <a16:creationId xmlns:a16="http://schemas.microsoft.com/office/drawing/2014/main" id="{6F7A93F5-21C3-4AC3-9474-981B4DF431DE}"/>
                </a:ext>
              </a:extLst>
            </p:cNvPr>
            <p:cNvSpPr>
              <a:spLocks noChangeArrowheads="1"/>
            </p:cNvSpPr>
            <p:nvPr/>
          </p:nvSpPr>
          <p:spPr bwMode="auto">
            <a:xfrm>
              <a:off x="4049" y="1352"/>
              <a:ext cx="384" cy="480"/>
            </a:xfrm>
            <a:prstGeom prst="ellipse">
              <a:avLst/>
            </a:prstGeom>
            <a:solidFill>
              <a:srgbClr val="FFFFD9"/>
            </a:solidFill>
            <a:ln w="12700"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4000" b="1">
                  <a:solidFill>
                    <a:srgbClr val="FF3300"/>
                  </a:solidFill>
                  <a:latin typeface="Times New Roman" panose="02020603050405020304" pitchFamily="18" charset="0"/>
                </a:rPr>
                <a:t>e</a:t>
              </a:r>
              <a:endParaRPr lang="en-US" altLang="zh-CN" sz="2400">
                <a:latin typeface="Times New Roman" panose="02020603050405020304" pitchFamily="18" charset="0"/>
              </a:endParaRPr>
            </a:p>
          </p:txBody>
        </p:sp>
        <p:grpSp>
          <p:nvGrpSpPr>
            <p:cNvPr id="49158" name="Group 6">
              <a:extLst>
                <a:ext uri="{FF2B5EF4-FFF2-40B4-BE49-F238E27FC236}">
                  <a16:creationId xmlns:a16="http://schemas.microsoft.com/office/drawing/2014/main" id="{523613D1-49D0-4E0A-9048-A3A21A7A056A}"/>
                </a:ext>
              </a:extLst>
            </p:cNvPr>
            <p:cNvGrpSpPr>
              <a:grpSpLocks/>
            </p:cNvGrpSpPr>
            <p:nvPr/>
          </p:nvGrpSpPr>
          <p:grpSpPr bwMode="auto">
            <a:xfrm>
              <a:off x="0" y="0"/>
              <a:ext cx="3840" cy="2640"/>
              <a:chOff x="0" y="0"/>
              <a:chExt cx="3840" cy="2640"/>
            </a:xfrm>
          </p:grpSpPr>
          <p:sp>
            <p:nvSpPr>
              <p:cNvPr id="49166" name="Oval 7">
                <a:extLst>
                  <a:ext uri="{FF2B5EF4-FFF2-40B4-BE49-F238E27FC236}">
                    <a16:creationId xmlns:a16="http://schemas.microsoft.com/office/drawing/2014/main" id="{8DEE0AF1-CE32-44E2-A21D-4C72F2D3F2EA}"/>
                  </a:ext>
                </a:extLst>
              </p:cNvPr>
              <p:cNvSpPr>
                <a:spLocks noChangeArrowheads="1"/>
              </p:cNvSpPr>
              <p:nvPr/>
            </p:nvSpPr>
            <p:spPr bwMode="auto">
              <a:xfrm>
                <a:off x="0" y="2160"/>
                <a:ext cx="384" cy="480"/>
              </a:xfrm>
              <a:prstGeom prst="ellipse">
                <a:avLst/>
              </a:prstGeom>
              <a:solidFill>
                <a:srgbClr val="FFFFD9"/>
              </a:solidFill>
              <a:ln w="12700"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4000" b="1" i="0" dirty="0">
                    <a:solidFill>
                      <a:srgbClr val="FF0000"/>
                    </a:solidFill>
                    <a:latin typeface="Times New Roman" panose="02020603050405020304" pitchFamily="18" charset="0"/>
                  </a:rPr>
                  <a:t>a</a:t>
                </a:r>
                <a:endParaRPr lang="en-US" altLang="zh-CN" sz="2400" i="0" dirty="0">
                  <a:latin typeface="Times New Roman" panose="02020603050405020304" pitchFamily="18" charset="0"/>
                </a:endParaRPr>
              </a:p>
            </p:txBody>
          </p:sp>
          <p:sp>
            <p:nvSpPr>
              <p:cNvPr id="49167" name="Oval 8">
                <a:extLst>
                  <a:ext uri="{FF2B5EF4-FFF2-40B4-BE49-F238E27FC236}">
                    <a16:creationId xmlns:a16="http://schemas.microsoft.com/office/drawing/2014/main" id="{C4A9D995-B23F-493D-B257-7CF1CEC9380D}"/>
                  </a:ext>
                </a:extLst>
              </p:cNvPr>
              <p:cNvSpPr>
                <a:spLocks noChangeArrowheads="1"/>
              </p:cNvSpPr>
              <p:nvPr/>
            </p:nvSpPr>
            <p:spPr bwMode="auto">
              <a:xfrm>
                <a:off x="960" y="2160"/>
                <a:ext cx="384" cy="480"/>
              </a:xfrm>
              <a:prstGeom prst="ellipse">
                <a:avLst/>
              </a:prstGeom>
              <a:solidFill>
                <a:srgbClr val="FFFFD9"/>
              </a:solidFill>
              <a:ln w="12700"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4000" b="1" i="0" dirty="0">
                    <a:solidFill>
                      <a:srgbClr val="FF3300"/>
                    </a:solidFill>
                    <a:latin typeface="Times New Roman" panose="02020603050405020304" pitchFamily="18" charset="0"/>
                  </a:rPr>
                  <a:t>b</a:t>
                </a:r>
                <a:endParaRPr lang="en-US" altLang="zh-CN" sz="2400" i="0" dirty="0">
                  <a:latin typeface="Times New Roman" panose="02020603050405020304" pitchFamily="18" charset="0"/>
                </a:endParaRPr>
              </a:p>
            </p:txBody>
          </p:sp>
          <p:sp>
            <p:nvSpPr>
              <p:cNvPr id="49168" name="Oval 9">
                <a:extLst>
                  <a:ext uri="{FF2B5EF4-FFF2-40B4-BE49-F238E27FC236}">
                    <a16:creationId xmlns:a16="http://schemas.microsoft.com/office/drawing/2014/main" id="{DFF5AA5E-518A-4C1A-A98B-A9AC5B142603}"/>
                  </a:ext>
                </a:extLst>
              </p:cNvPr>
              <p:cNvSpPr>
                <a:spLocks noChangeArrowheads="1"/>
              </p:cNvSpPr>
              <p:nvPr/>
            </p:nvSpPr>
            <p:spPr bwMode="auto">
              <a:xfrm>
                <a:off x="1632" y="1344"/>
                <a:ext cx="384" cy="480"/>
              </a:xfrm>
              <a:prstGeom prst="ellipse">
                <a:avLst/>
              </a:prstGeom>
              <a:solidFill>
                <a:srgbClr val="FFFFD9"/>
              </a:solidFill>
              <a:ln w="12700"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4000" b="1" i="0" dirty="0">
                    <a:solidFill>
                      <a:srgbClr val="FF3300"/>
                    </a:solidFill>
                    <a:latin typeface="Times New Roman" panose="02020603050405020304" pitchFamily="18" charset="0"/>
                  </a:rPr>
                  <a:t>c</a:t>
                </a:r>
                <a:endParaRPr lang="en-US" altLang="zh-CN" sz="2400" i="0" dirty="0">
                  <a:latin typeface="Times New Roman" panose="02020603050405020304" pitchFamily="18" charset="0"/>
                </a:endParaRPr>
              </a:p>
            </p:txBody>
          </p:sp>
          <p:sp>
            <p:nvSpPr>
              <p:cNvPr id="49169" name="Oval 10">
                <a:extLst>
                  <a:ext uri="{FF2B5EF4-FFF2-40B4-BE49-F238E27FC236}">
                    <a16:creationId xmlns:a16="http://schemas.microsoft.com/office/drawing/2014/main" id="{3BDE7438-9555-4CBE-8F03-57282E38D588}"/>
                  </a:ext>
                </a:extLst>
              </p:cNvPr>
              <p:cNvSpPr>
                <a:spLocks noChangeArrowheads="1"/>
              </p:cNvSpPr>
              <p:nvPr/>
            </p:nvSpPr>
            <p:spPr bwMode="auto">
              <a:xfrm>
                <a:off x="2880" y="1344"/>
                <a:ext cx="384" cy="480"/>
              </a:xfrm>
              <a:prstGeom prst="ellipse">
                <a:avLst/>
              </a:prstGeom>
              <a:solidFill>
                <a:srgbClr val="FFFFD9"/>
              </a:solidFill>
              <a:ln w="12700"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4000" b="1" i="0" dirty="0">
                    <a:solidFill>
                      <a:srgbClr val="FF3300"/>
                    </a:solidFill>
                    <a:latin typeface="Times New Roman" panose="02020603050405020304" pitchFamily="18" charset="0"/>
                  </a:rPr>
                  <a:t>d</a:t>
                </a:r>
                <a:endParaRPr lang="en-US" altLang="zh-CN" sz="2400" i="0" dirty="0">
                  <a:latin typeface="Times New Roman" panose="02020603050405020304" pitchFamily="18" charset="0"/>
                </a:endParaRPr>
              </a:p>
            </p:txBody>
          </p:sp>
          <p:sp>
            <p:nvSpPr>
              <p:cNvPr id="49170" name="Oval 11">
                <a:extLst>
                  <a:ext uri="{FF2B5EF4-FFF2-40B4-BE49-F238E27FC236}">
                    <a16:creationId xmlns:a16="http://schemas.microsoft.com/office/drawing/2014/main" id="{7F636FD5-5125-4A24-BC50-4A43493FDD48}"/>
                  </a:ext>
                </a:extLst>
              </p:cNvPr>
              <p:cNvSpPr>
                <a:spLocks noChangeArrowheads="1"/>
              </p:cNvSpPr>
              <p:nvPr/>
            </p:nvSpPr>
            <p:spPr bwMode="auto">
              <a:xfrm>
                <a:off x="2256" y="0"/>
                <a:ext cx="384" cy="480"/>
              </a:xfrm>
              <a:prstGeom prst="ellipse">
                <a:avLst/>
              </a:prstGeom>
              <a:solidFill>
                <a:srgbClr val="FFFFD9"/>
              </a:solidFill>
              <a:ln w="12700"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4000" b="1" i="0" dirty="0">
                    <a:solidFill>
                      <a:srgbClr val="000066"/>
                    </a:solidFill>
                    <a:latin typeface="楷体_GB2312" pitchFamily="1" charset="-122"/>
                    <a:ea typeface="楷体_GB2312" pitchFamily="1" charset="-122"/>
                  </a:rPr>
                  <a:t>-</a:t>
                </a:r>
                <a:endParaRPr lang="en-US" altLang="zh-CN" sz="4400" b="1" i="0" dirty="0">
                  <a:solidFill>
                    <a:srgbClr val="333399"/>
                  </a:solidFill>
                  <a:latin typeface="Times New Roman" panose="02020603050405020304" pitchFamily="18" charset="0"/>
                </a:endParaRPr>
              </a:p>
            </p:txBody>
          </p:sp>
          <p:sp>
            <p:nvSpPr>
              <p:cNvPr id="49171" name="Oval 12">
                <a:extLst>
                  <a:ext uri="{FF2B5EF4-FFF2-40B4-BE49-F238E27FC236}">
                    <a16:creationId xmlns:a16="http://schemas.microsoft.com/office/drawing/2014/main" id="{721CFE09-EE62-4A19-B956-BDA8D9C2C640}"/>
                  </a:ext>
                </a:extLst>
              </p:cNvPr>
              <p:cNvSpPr>
                <a:spLocks noChangeArrowheads="1"/>
              </p:cNvSpPr>
              <p:nvPr/>
            </p:nvSpPr>
            <p:spPr bwMode="auto">
              <a:xfrm>
                <a:off x="1056" y="624"/>
                <a:ext cx="366" cy="480"/>
              </a:xfrm>
              <a:prstGeom prst="ellipse">
                <a:avLst/>
              </a:prstGeom>
              <a:solidFill>
                <a:srgbClr val="FFFFD9"/>
              </a:solidFill>
              <a:ln w="12700"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4000" b="0" i="0" dirty="0">
                    <a:solidFill>
                      <a:srgbClr val="000066"/>
                    </a:solidFill>
                    <a:latin typeface="楷体_GB2312" pitchFamily="1" charset="-122"/>
                    <a:ea typeface="楷体_GB2312" pitchFamily="1" charset="-122"/>
                  </a:rPr>
                  <a:t>×</a:t>
                </a:r>
              </a:p>
            </p:txBody>
          </p:sp>
          <p:sp>
            <p:nvSpPr>
              <p:cNvPr id="49172" name="Oval 13">
                <a:extLst>
                  <a:ext uri="{FF2B5EF4-FFF2-40B4-BE49-F238E27FC236}">
                    <a16:creationId xmlns:a16="http://schemas.microsoft.com/office/drawing/2014/main" id="{AA2AEA54-83B6-4037-8B7A-6EF703A97CF6}"/>
                  </a:ext>
                </a:extLst>
              </p:cNvPr>
              <p:cNvSpPr>
                <a:spLocks noChangeArrowheads="1"/>
              </p:cNvSpPr>
              <p:nvPr/>
            </p:nvSpPr>
            <p:spPr bwMode="auto">
              <a:xfrm>
                <a:off x="480" y="1344"/>
                <a:ext cx="384" cy="480"/>
              </a:xfrm>
              <a:prstGeom prst="ellipse">
                <a:avLst/>
              </a:prstGeom>
              <a:solidFill>
                <a:srgbClr val="FFFFD9"/>
              </a:solidFill>
              <a:ln w="12700"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4400" b="1" i="0" dirty="0">
                    <a:solidFill>
                      <a:srgbClr val="333399"/>
                    </a:solidFill>
                    <a:latin typeface="Times New Roman" panose="02020603050405020304" pitchFamily="18" charset="0"/>
                  </a:rPr>
                  <a:t>+</a:t>
                </a:r>
                <a:endParaRPr lang="en-US" altLang="zh-CN" sz="2400" i="0" dirty="0">
                  <a:latin typeface="Times New Roman" panose="02020603050405020304" pitchFamily="18" charset="0"/>
                </a:endParaRPr>
              </a:p>
            </p:txBody>
          </p:sp>
          <p:sp>
            <p:nvSpPr>
              <p:cNvPr id="49173" name="Oval 14">
                <a:extLst>
                  <a:ext uri="{FF2B5EF4-FFF2-40B4-BE49-F238E27FC236}">
                    <a16:creationId xmlns:a16="http://schemas.microsoft.com/office/drawing/2014/main" id="{EE777774-96AC-4489-A2A5-A27F2C5881F4}"/>
                  </a:ext>
                </a:extLst>
              </p:cNvPr>
              <p:cNvSpPr>
                <a:spLocks noChangeArrowheads="1"/>
              </p:cNvSpPr>
              <p:nvPr/>
            </p:nvSpPr>
            <p:spPr bwMode="auto">
              <a:xfrm>
                <a:off x="3456" y="624"/>
                <a:ext cx="384" cy="480"/>
              </a:xfrm>
              <a:prstGeom prst="ellipse">
                <a:avLst/>
              </a:prstGeom>
              <a:solidFill>
                <a:srgbClr val="FFFFD9"/>
              </a:solidFill>
              <a:ln w="12700"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4400" b="1" i="0" dirty="0">
                    <a:solidFill>
                      <a:srgbClr val="333399"/>
                    </a:solidFill>
                    <a:latin typeface="Times New Roman" panose="02020603050405020304" pitchFamily="18" charset="0"/>
                  </a:rPr>
                  <a:t>/</a:t>
                </a:r>
                <a:endParaRPr lang="en-US" altLang="zh-CN" sz="2400" i="0" dirty="0">
                  <a:latin typeface="Times New Roman" panose="02020603050405020304" pitchFamily="18" charset="0"/>
                </a:endParaRPr>
              </a:p>
            </p:txBody>
          </p:sp>
          <p:sp>
            <p:nvSpPr>
              <p:cNvPr id="49174" name="Line 15">
                <a:extLst>
                  <a:ext uri="{FF2B5EF4-FFF2-40B4-BE49-F238E27FC236}">
                    <a16:creationId xmlns:a16="http://schemas.microsoft.com/office/drawing/2014/main" id="{81F621F8-BF7E-4A34-9E61-FD7DFDDC1C61}"/>
                  </a:ext>
                </a:extLst>
              </p:cNvPr>
              <p:cNvSpPr>
                <a:spLocks noChangeShapeType="1"/>
              </p:cNvSpPr>
              <p:nvPr/>
            </p:nvSpPr>
            <p:spPr bwMode="auto">
              <a:xfrm flipH="1">
                <a:off x="1237" y="218"/>
                <a:ext cx="1008" cy="384"/>
              </a:xfrm>
              <a:prstGeom prst="line">
                <a:avLst/>
              </a:prstGeom>
              <a:noFill/>
              <a:ln w="38100" cap="sq">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175" name="Line 16">
                <a:extLst>
                  <a:ext uri="{FF2B5EF4-FFF2-40B4-BE49-F238E27FC236}">
                    <a16:creationId xmlns:a16="http://schemas.microsoft.com/office/drawing/2014/main" id="{10DE734E-8325-47E1-91A5-8EED909B2E56}"/>
                  </a:ext>
                </a:extLst>
              </p:cNvPr>
              <p:cNvSpPr>
                <a:spLocks noChangeShapeType="1"/>
              </p:cNvSpPr>
              <p:nvPr/>
            </p:nvSpPr>
            <p:spPr bwMode="auto">
              <a:xfrm>
                <a:off x="2640" y="240"/>
                <a:ext cx="1008" cy="384"/>
              </a:xfrm>
              <a:prstGeom prst="line">
                <a:avLst/>
              </a:prstGeom>
              <a:noFill/>
              <a:ln w="38100" cap="sq">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176" name="Line 17">
                <a:extLst>
                  <a:ext uri="{FF2B5EF4-FFF2-40B4-BE49-F238E27FC236}">
                    <a16:creationId xmlns:a16="http://schemas.microsoft.com/office/drawing/2014/main" id="{D19A7DE1-9A94-4305-8C5B-2AA83E41B0C3}"/>
                  </a:ext>
                </a:extLst>
              </p:cNvPr>
              <p:cNvSpPr>
                <a:spLocks noChangeShapeType="1"/>
              </p:cNvSpPr>
              <p:nvPr/>
            </p:nvSpPr>
            <p:spPr bwMode="auto">
              <a:xfrm flipH="1">
                <a:off x="672" y="864"/>
                <a:ext cx="384" cy="480"/>
              </a:xfrm>
              <a:prstGeom prst="line">
                <a:avLst/>
              </a:prstGeom>
              <a:noFill/>
              <a:ln w="38100" cap="sq">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177" name="Line 18">
                <a:extLst>
                  <a:ext uri="{FF2B5EF4-FFF2-40B4-BE49-F238E27FC236}">
                    <a16:creationId xmlns:a16="http://schemas.microsoft.com/office/drawing/2014/main" id="{AED7A977-4750-4872-9A35-634D3D08C8E0}"/>
                  </a:ext>
                </a:extLst>
              </p:cNvPr>
              <p:cNvSpPr>
                <a:spLocks noChangeShapeType="1"/>
              </p:cNvSpPr>
              <p:nvPr/>
            </p:nvSpPr>
            <p:spPr bwMode="auto">
              <a:xfrm flipH="1">
                <a:off x="192" y="1584"/>
                <a:ext cx="288" cy="576"/>
              </a:xfrm>
              <a:prstGeom prst="line">
                <a:avLst/>
              </a:prstGeom>
              <a:noFill/>
              <a:ln w="38100" cap="sq">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178" name="Line 19">
                <a:extLst>
                  <a:ext uri="{FF2B5EF4-FFF2-40B4-BE49-F238E27FC236}">
                    <a16:creationId xmlns:a16="http://schemas.microsoft.com/office/drawing/2014/main" id="{26DCE05F-1262-4CA5-8DC8-D76E69BBA2AC}"/>
                  </a:ext>
                </a:extLst>
              </p:cNvPr>
              <p:cNvSpPr>
                <a:spLocks noChangeShapeType="1"/>
              </p:cNvSpPr>
              <p:nvPr/>
            </p:nvSpPr>
            <p:spPr bwMode="auto">
              <a:xfrm>
                <a:off x="864" y="1536"/>
                <a:ext cx="288" cy="624"/>
              </a:xfrm>
              <a:prstGeom prst="line">
                <a:avLst/>
              </a:prstGeom>
              <a:noFill/>
              <a:ln w="38100" cap="sq">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179" name="Line 20">
                <a:extLst>
                  <a:ext uri="{FF2B5EF4-FFF2-40B4-BE49-F238E27FC236}">
                    <a16:creationId xmlns:a16="http://schemas.microsoft.com/office/drawing/2014/main" id="{A3972971-1A81-470D-A1BE-022B45C42A58}"/>
                  </a:ext>
                </a:extLst>
              </p:cNvPr>
              <p:cNvSpPr>
                <a:spLocks noChangeShapeType="1"/>
              </p:cNvSpPr>
              <p:nvPr/>
            </p:nvSpPr>
            <p:spPr bwMode="auto">
              <a:xfrm>
                <a:off x="1440" y="864"/>
                <a:ext cx="384" cy="480"/>
              </a:xfrm>
              <a:prstGeom prst="line">
                <a:avLst/>
              </a:prstGeom>
              <a:noFill/>
              <a:ln w="38100" cap="sq">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180" name="Line 21">
                <a:extLst>
                  <a:ext uri="{FF2B5EF4-FFF2-40B4-BE49-F238E27FC236}">
                    <a16:creationId xmlns:a16="http://schemas.microsoft.com/office/drawing/2014/main" id="{208B5BF2-AD8C-413E-BDFA-2D76741C9A67}"/>
                  </a:ext>
                </a:extLst>
              </p:cNvPr>
              <p:cNvSpPr>
                <a:spLocks noChangeShapeType="1"/>
              </p:cNvSpPr>
              <p:nvPr/>
            </p:nvSpPr>
            <p:spPr bwMode="auto">
              <a:xfrm flipH="1">
                <a:off x="3072" y="864"/>
                <a:ext cx="384" cy="480"/>
              </a:xfrm>
              <a:prstGeom prst="line">
                <a:avLst/>
              </a:prstGeom>
              <a:noFill/>
              <a:ln w="38100" cap="sq">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9159" name="Line 22">
              <a:extLst>
                <a:ext uri="{FF2B5EF4-FFF2-40B4-BE49-F238E27FC236}">
                  <a16:creationId xmlns:a16="http://schemas.microsoft.com/office/drawing/2014/main" id="{742596C9-1F6B-4B33-BDFB-D5C454084CBE}"/>
                </a:ext>
              </a:extLst>
            </p:cNvPr>
            <p:cNvSpPr>
              <a:spLocks noChangeShapeType="1"/>
            </p:cNvSpPr>
            <p:nvPr/>
          </p:nvSpPr>
          <p:spPr bwMode="auto">
            <a:xfrm>
              <a:off x="3840" y="864"/>
              <a:ext cx="384" cy="480"/>
            </a:xfrm>
            <a:prstGeom prst="line">
              <a:avLst/>
            </a:prstGeom>
            <a:noFill/>
            <a:ln w="38100" cap="sq">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160" name="Oval 23">
              <a:extLst>
                <a:ext uri="{FF2B5EF4-FFF2-40B4-BE49-F238E27FC236}">
                  <a16:creationId xmlns:a16="http://schemas.microsoft.com/office/drawing/2014/main" id="{36E9087E-F2A3-4A40-9EA9-76D34F2C0C8B}"/>
                </a:ext>
              </a:extLst>
            </p:cNvPr>
            <p:cNvSpPr>
              <a:spLocks noChangeArrowheads="1"/>
            </p:cNvSpPr>
            <p:nvPr/>
          </p:nvSpPr>
          <p:spPr bwMode="auto">
            <a:xfrm>
              <a:off x="4049" y="1352"/>
              <a:ext cx="384" cy="480"/>
            </a:xfrm>
            <a:prstGeom prst="ellipse">
              <a:avLst/>
            </a:prstGeom>
            <a:solidFill>
              <a:srgbClr val="FFFFD9"/>
            </a:solidFill>
            <a:ln w="12700"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4000" b="1">
                  <a:solidFill>
                    <a:srgbClr val="FF3300"/>
                  </a:solidFill>
                  <a:latin typeface="Times New Roman" panose="02020603050405020304" pitchFamily="18" charset="0"/>
                </a:rPr>
                <a:t>e</a:t>
              </a:r>
              <a:endParaRPr lang="en-US" altLang="zh-CN" sz="2400">
                <a:latin typeface="Times New Roman" panose="02020603050405020304" pitchFamily="18" charset="0"/>
              </a:endParaRPr>
            </a:p>
          </p:txBody>
        </p:sp>
        <p:sp>
          <p:nvSpPr>
            <p:cNvPr id="49161" name="Line 24">
              <a:extLst>
                <a:ext uri="{FF2B5EF4-FFF2-40B4-BE49-F238E27FC236}">
                  <a16:creationId xmlns:a16="http://schemas.microsoft.com/office/drawing/2014/main" id="{D78E570C-06CC-43BB-9274-6921F700C635}"/>
                </a:ext>
              </a:extLst>
            </p:cNvPr>
            <p:cNvSpPr>
              <a:spLocks noChangeShapeType="1"/>
            </p:cNvSpPr>
            <p:nvPr/>
          </p:nvSpPr>
          <p:spPr bwMode="auto">
            <a:xfrm>
              <a:off x="3822" y="853"/>
              <a:ext cx="384" cy="480"/>
            </a:xfrm>
            <a:prstGeom prst="line">
              <a:avLst/>
            </a:prstGeom>
            <a:noFill/>
            <a:ln w="38100" cap="sq">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162" name="Line 25">
              <a:extLst>
                <a:ext uri="{FF2B5EF4-FFF2-40B4-BE49-F238E27FC236}">
                  <a16:creationId xmlns:a16="http://schemas.microsoft.com/office/drawing/2014/main" id="{4243F3E1-6095-4944-B832-5EA172219AD4}"/>
                </a:ext>
              </a:extLst>
            </p:cNvPr>
            <p:cNvSpPr>
              <a:spLocks noChangeShapeType="1"/>
            </p:cNvSpPr>
            <p:nvPr/>
          </p:nvSpPr>
          <p:spPr bwMode="auto">
            <a:xfrm>
              <a:off x="3822" y="853"/>
              <a:ext cx="384" cy="480"/>
            </a:xfrm>
            <a:prstGeom prst="line">
              <a:avLst/>
            </a:prstGeom>
            <a:noFill/>
            <a:ln w="38100" cap="sq">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163" name="Oval 26">
              <a:extLst>
                <a:ext uri="{FF2B5EF4-FFF2-40B4-BE49-F238E27FC236}">
                  <a16:creationId xmlns:a16="http://schemas.microsoft.com/office/drawing/2014/main" id="{BBCB26CD-CBB4-452A-86DD-41C9D3482DA5}"/>
                </a:ext>
              </a:extLst>
            </p:cNvPr>
            <p:cNvSpPr>
              <a:spLocks noChangeArrowheads="1"/>
            </p:cNvSpPr>
            <p:nvPr/>
          </p:nvSpPr>
          <p:spPr bwMode="auto">
            <a:xfrm>
              <a:off x="4049" y="1352"/>
              <a:ext cx="384" cy="480"/>
            </a:xfrm>
            <a:prstGeom prst="ellipse">
              <a:avLst/>
            </a:prstGeom>
            <a:solidFill>
              <a:srgbClr val="FFFFD9"/>
            </a:solidFill>
            <a:ln w="12700"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4000" b="1">
                  <a:solidFill>
                    <a:srgbClr val="FF3300"/>
                  </a:solidFill>
                  <a:latin typeface="Times New Roman" panose="02020603050405020304" pitchFamily="18" charset="0"/>
                </a:rPr>
                <a:t>e</a:t>
              </a:r>
              <a:endParaRPr lang="en-US" altLang="zh-CN" sz="2400">
                <a:latin typeface="Times New Roman" panose="02020603050405020304" pitchFamily="18" charset="0"/>
              </a:endParaRPr>
            </a:p>
          </p:txBody>
        </p:sp>
        <p:sp>
          <p:nvSpPr>
            <p:cNvPr id="49164" name="Line 27">
              <a:extLst>
                <a:ext uri="{FF2B5EF4-FFF2-40B4-BE49-F238E27FC236}">
                  <a16:creationId xmlns:a16="http://schemas.microsoft.com/office/drawing/2014/main" id="{9FB327E8-748A-4E18-A8E7-A62883F75D38}"/>
                </a:ext>
              </a:extLst>
            </p:cNvPr>
            <p:cNvSpPr>
              <a:spLocks noChangeShapeType="1"/>
            </p:cNvSpPr>
            <p:nvPr/>
          </p:nvSpPr>
          <p:spPr bwMode="auto">
            <a:xfrm>
              <a:off x="3822" y="853"/>
              <a:ext cx="384" cy="480"/>
            </a:xfrm>
            <a:prstGeom prst="line">
              <a:avLst/>
            </a:prstGeom>
            <a:noFill/>
            <a:ln w="38100" cap="sq">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165" name="Oval 28">
              <a:extLst>
                <a:ext uri="{FF2B5EF4-FFF2-40B4-BE49-F238E27FC236}">
                  <a16:creationId xmlns:a16="http://schemas.microsoft.com/office/drawing/2014/main" id="{0A3676B9-F032-4EC3-AB46-6164DD6548DD}"/>
                </a:ext>
              </a:extLst>
            </p:cNvPr>
            <p:cNvSpPr>
              <a:spLocks noChangeArrowheads="1"/>
            </p:cNvSpPr>
            <p:nvPr/>
          </p:nvSpPr>
          <p:spPr bwMode="auto">
            <a:xfrm>
              <a:off x="4049" y="1352"/>
              <a:ext cx="384" cy="480"/>
            </a:xfrm>
            <a:prstGeom prst="ellipse">
              <a:avLst/>
            </a:prstGeom>
            <a:solidFill>
              <a:srgbClr val="FFFFD9"/>
            </a:solidFill>
            <a:ln w="12700"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4000" b="1" i="0" dirty="0">
                  <a:solidFill>
                    <a:srgbClr val="FF3300"/>
                  </a:solidFill>
                  <a:latin typeface="Times New Roman" panose="02020603050405020304" pitchFamily="18" charset="0"/>
                </a:rPr>
                <a:t>e</a:t>
              </a:r>
              <a:endParaRPr lang="en-US" altLang="zh-CN" sz="2400" i="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animEffect transition="in" filter="strips(downRight)">
                                      <p:cBhvr>
                                        <p:cTn id="7" dur="500"/>
                                        <p:tgtEl>
                                          <p:spTgt spid="4301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nodeType="clickEffect">
                                  <p:stCondLst>
                                    <p:cond delay="0"/>
                                  </p:stCondLst>
                                  <p:childTnLst>
                                    <p:set>
                                      <p:cBhvr>
                                        <p:cTn id="11" dur="1" fill="hold">
                                          <p:stCondLst>
                                            <p:cond delay="0"/>
                                          </p:stCondLst>
                                        </p:cTn>
                                        <p:tgtEl>
                                          <p:spTgt spid="43012"/>
                                        </p:tgtEl>
                                        <p:attrNameLst>
                                          <p:attrName>style.visibility</p:attrName>
                                        </p:attrNameLst>
                                      </p:cBhvr>
                                      <p:to>
                                        <p:strVal val="visible"/>
                                      </p:to>
                                    </p:set>
                                    <p:animEffect transition="in" filter="strips(downRight)">
                                      <p:cBhvr>
                                        <p:cTn id="12" dur="500"/>
                                        <p:tgtEl>
                                          <p:spTgt spid="43012"/>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43011">
                                            <p:txEl>
                                              <p:pRg st="1" end="1"/>
                                            </p:txEl>
                                          </p:spTgt>
                                        </p:tgtEl>
                                        <p:attrNameLst>
                                          <p:attrName>style.visibility</p:attrName>
                                        </p:attrNameLst>
                                      </p:cBhvr>
                                      <p:to>
                                        <p:strVal val="visible"/>
                                      </p:to>
                                    </p:set>
                                    <p:animEffect transition="in" filter="strips(downRight)">
                                      <p:cBhvr>
                                        <p:cTn id="17" dur="500"/>
                                        <p:tgtEl>
                                          <p:spTgt spid="43011">
                                            <p:txEl>
                                              <p:pRg st="1" end="1"/>
                                            </p:txEl>
                                          </p:spTgt>
                                        </p:tgtEl>
                                      </p:cBhvr>
                                    </p:animEffect>
                                  </p:childTnLst>
                                </p:cTn>
                              </p:par>
                              <p:par>
                                <p:cTn id="18" presetID="18" presetClass="entr" presetSubtype="6" fill="hold" grpId="0" nodeType="withEffect">
                                  <p:stCondLst>
                                    <p:cond delay="0"/>
                                  </p:stCondLst>
                                  <p:childTnLst>
                                    <p:set>
                                      <p:cBhvr>
                                        <p:cTn id="19" dur="1" fill="hold">
                                          <p:stCondLst>
                                            <p:cond delay="0"/>
                                          </p:stCondLst>
                                        </p:cTn>
                                        <p:tgtEl>
                                          <p:spTgt spid="43011">
                                            <p:txEl>
                                              <p:pRg st="2" end="2"/>
                                            </p:txEl>
                                          </p:spTgt>
                                        </p:tgtEl>
                                        <p:attrNameLst>
                                          <p:attrName>style.visibility</p:attrName>
                                        </p:attrNameLst>
                                      </p:cBhvr>
                                      <p:to>
                                        <p:strVal val="visible"/>
                                      </p:to>
                                    </p:set>
                                    <p:animEffect transition="in" filter="strips(downRight)">
                                      <p:cBhvr>
                                        <p:cTn id="20" dur="500"/>
                                        <p:tgtEl>
                                          <p:spTgt spid="43011">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8" presetClass="entr" presetSubtype="6" fill="hold" grpId="0" nodeType="clickEffect">
                                  <p:stCondLst>
                                    <p:cond delay="0"/>
                                  </p:stCondLst>
                                  <p:childTnLst>
                                    <p:set>
                                      <p:cBhvr>
                                        <p:cTn id="24" dur="1" fill="hold">
                                          <p:stCondLst>
                                            <p:cond delay="0"/>
                                          </p:stCondLst>
                                        </p:cTn>
                                        <p:tgtEl>
                                          <p:spTgt spid="43011">
                                            <p:txEl>
                                              <p:pRg st="3" end="3"/>
                                            </p:txEl>
                                          </p:spTgt>
                                        </p:tgtEl>
                                        <p:attrNameLst>
                                          <p:attrName>style.visibility</p:attrName>
                                        </p:attrNameLst>
                                      </p:cBhvr>
                                      <p:to>
                                        <p:strVal val="visible"/>
                                      </p:to>
                                    </p:set>
                                    <p:animEffect transition="in" filter="strips(downRight)">
                                      <p:cBhvr>
                                        <p:cTn id="25" dur="500"/>
                                        <p:tgtEl>
                                          <p:spTgt spid="43011">
                                            <p:txEl>
                                              <p:pRg st="3" end="3"/>
                                            </p:txEl>
                                          </p:spTgt>
                                        </p:tgtEl>
                                      </p:cBhvr>
                                    </p:animEffect>
                                  </p:childTnLst>
                                </p:cTn>
                              </p:par>
                              <p:par>
                                <p:cTn id="26" presetID="18" presetClass="entr" presetSubtype="6" fill="hold" grpId="0" nodeType="withEffect">
                                  <p:stCondLst>
                                    <p:cond delay="0"/>
                                  </p:stCondLst>
                                  <p:childTnLst>
                                    <p:set>
                                      <p:cBhvr>
                                        <p:cTn id="27" dur="1" fill="hold">
                                          <p:stCondLst>
                                            <p:cond delay="0"/>
                                          </p:stCondLst>
                                        </p:cTn>
                                        <p:tgtEl>
                                          <p:spTgt spid="43011">
                                            <p:txEl>
                                              <p:pRg st="4" end="4"/>
                                            </p:txEl>
                                          </p:spTgt>
                                        </p:tgtEl>
                                        <p:attrNameLst>
                                          <p:attrName>style.visibility</p:attrName>
                                        </p:attrNameLst>
                                      </p:cBhvr>
                                      <p:to>
                                        <p:strVal val="visible"/>
                                      </p:to>
                                    </p:set>
                                    <p:animEffect transition="in" filter="strips(downRight)">
                                      <p:cBhvr>
                                        <p:cTn id="28" dur="500"/>
                                        <p:tgtEl>
                                          <p:spTgt spid="43011">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8" presetClass="entr" presetSubtype="6" fill="hold" grpId="0" nodeType="clickEffect">
                                  <p:stCondLst>
                                    <p:cond delay="0"/>
                                  </p:stCondLst>
                                  <p:childTnLst>
                                    <p:set>
                                      <p:cBhvr>
                                        <p:cTn id="32" dur="1" fill="hold">
                                          <p:stCondLst>
                                            <p:cond delay="0"/>
                                          </p:stCondLst>
                                        </p:cTn>
                                        <p:tgtEl>
                                          <p:spTgt spid="43011">
                                            <p:txEl>
                                              <p:pRg st="5" end="5"/>
                                            </p:txEl>
                                          </p:spTgt>
                                        </p:tgtEl>
                                        <p:attrNameLst>
                                          <p:attrName>style.visibility</p:attrName>
                                        </p:attrNameLst>
                                      </p:cBhvr>
                                      <p:to>
                                        <p:strVal val="visible"/>
                                      </p:to>
                                    </p:set>
                                    <p:animEffect transition="in" filter="strips(downRight)">
                                      <p:cBhvr>
                                        <p:cTn id="33" dur="500"/>
                                        <p:tgtEl>
                                          <p:spTgt spid="43011">
                                            <p:txEl>
                                              <p:pRg st="5" end="5"/>
                                            </p:txEl>
                                          </p:spTgt>
                                        </p:tgtEl>
                                      </p:cBhvr>
                                    </p:animEffect>
                                  </p:childTnLst>
                                </p:cTn>
                              </p:par>
                              <p:par>
                                <p:cTn id="34" presetID="18" presetClass="entr" presetSubtype="6" fill="hold" grpId="0" nodeType="withEffect">
                                  <p:stCondLst>
                                    <p:cond delay="0"/>
                                  </p:stCondLst>
                                  <p:childTnLst>
                                    <p:set>
                                      <p:cBhvr>
                                        <p:cTn id="35" dur="1" fill="hold">
                                          <p:stCondLst>
                                            <p:cond delay="0"/>
                                          </p:stCondLst>
                                        </p:cTn>
                                        <p:tgtEl>
                                          <p:spTgt spid="43011">
                                            <p:txEl>
                                              <p:pRg st="6" end="6"/>
                                            </p:txEl>
                                          </p:spTgt>
                                        </p:tgtEl>
                                        <p:attrNameLst>
                                          <p:attrName>style.visibility</p:attrName>
                                        </p:attrNameLst>
                                      </p:cBhvr>
                                      <p:to>
                                        <p:strVal val="visible"/>
                                      </p:to>
                                    </p:set>
                                    <p:animEffect transition="in" filter="strips(downRight)">
                                      <p:cBhvr>
                                        <p:cTn id="36" dur="500"/>
                                        <p:tgtEl>
                                          <p:spTgt spid="4301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uiExpand="1" build="p"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3">
            <a:extLst>
              <a:ext uri="{FF2B5EF4-FFF2-40B4-BE49-F238E27FC236}">
                <a16:creationId xmlns:a16="http://schemas.microsoft.com/office/drawing/2014/main" id="{F372DC93-4DF1-4EF9-BD96-7D5FA0D5CB3F}"/>
              </a:ext>
            </a:extLst>
          </p:cNvPr>
          <p:cNvSpPr>
            <a:spLocks noGrp="1" noChangeArrowheads="1"/>
          </p:cNvSpPr>
          <p:nvPr>
            <p:ph type="body" idx="1"/>
          </p:nvPr>
        </p:nvSpPr>
        <p:spPr>
          <a:xfrm>
            <a:off x="615561" y="1256507"/>
            <a:ext cx="8497888" cy="4245344"/>
          </a:xfrm>
        </p:spPr>
        <p:txBody>
          <a:bodyPr/>
          <a:lstStyle/>
          <a:p>
            <a:pPr marL="0" indent="0" eaLnBrk="1" hangingPunct="1">
              <a:buNone/>
            </a:pPr>
            <a:r>
              <a:rPr lang="en-US" altLang="zh-CN" dirty="0">
                <a:solidFill>
                  <a:srgbClr val="000066"/>
                </a:solidFill>
                <a:latin typeface="+mn-ea"/>
              </a:rPr>
              <a:t>1</a:t>
            </a:r>
            <a:r>
              <a:rPr lang="en-US" altLang="zh-CN" dirty="0">
                <a:latin typeface="+mn-ea"/>
              </a:rPr>
              <a:t>. </a:t>
            </a:r>
            <a:r>
              <a:rPr lang="zh-CN" altLang="en-US" dirty="0">
                <a:latin typeface="+mn-ea"/>
              </a:rPr>
              <a:t>根据先序遍历建立二叉树二叉链表存储结构</a:t>
            </a:r>
          </a:p>
        </p:txBody>
      </p:sp>
      <p:sp useBgFill="1">
        <p:nvSpPr>
          <p:cNvPr id="29" name="Oval 3">
            <a:extLst>
              <a:ext uri="{FF2B5EF4-FFF2-40B4-BE49-F238E27FC236}">
                <a16:creationId xmlns:a16="http://schemas.microsoft.com/office/drawing/2014/main" id="{56D3862F-3FB9-46A8-BC3D-62CD0A01FA36}"/>
              </a:ext>
            </a:extLst>
          </p:cNvPr>
          <p:cNvSpPr>
            <a:spLocks noChangeArrowheads="1"/>
          </p:cNvSpPr>
          <p:nvPr/>
        </p:nvSpPr>
        <p:spPr bwMode="auto">
          <a:xfrm>
            <a:off x="4329112" y="1989336"/>
            <a:ext cx="485775" cy="461963"/>
          </a:xfrm>
          <a:prstGeom prst="ellipse">
            <a:avLst/>
          </a:prstGeom>
          <a:ln w="38100" cap="sq">
            <a:solidFill>
              <a:srgbClr val="0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rgbClr val="990033"/>
                </a:solidFill>
                <a:latin typeface="Times New Roman" panose="02020603050405020304" pitchFamily="18" charset="0"/>
              </a:rPr>
              <a:t>A</a:t>
            </a:r>
            <a:endParaRPr lang="en-US" altLang="zh-CN" sz="2800" i="0" dirty="0">
              <a:latin typeface="Times New Roman" panose="02020603050405020304" pitchFamily="18" charset="0"/>
            </a:endParaRPr>
          </a:p>
        </p:txBody>
      </p:sp>
      <p:sp useBgFill="1">
        <p:nvSpPr>
          <p:cNvPr id="30" name="Oval 4">
            <a:extLst>
              <a:ext uri="{FF2B5EF4-FFF2-40B4-BE49-F238E27FC236}">
                <a16:creationId xmlns:a16="http://schemas.microsoft.com/office/drawing/2014/main" id="{7BDD1C3C-E7C9-422F-A92B-4310BFA6FAD7}"/>
              </a:ext>
            </a:extLst>
          </p:cNvPr>
          <p:cNvSpPr>
            <a:spLocks noChangeArrowheads="1"/>
          </p:cNvSpPr>
          <p:nvPr/>
        </p:nvSpPr>
        <p:spPr bwMode="auto">
          <a:xfrm>
            <a:off x="3262312" y="2783086"/>
            <a:ext cx="533400" cy="506413"/>
          </a:xfrm>
          <a:prstGeom prst="ellipse">
            <a:avLst/>
          </a:prstGeom>
          <a:ln w="38100" cap="sq">
            <a:solidFill>
              <a:srgbClr val="0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rgbClr val="990033"/>
                </a:solidFill>
                <a:latin typeface="Times New Roman" panose="02020603050405020304" pitchFamily="18" charset="0"/>
              </a:rPr>
              <a:t>B</a:t>
            </a:r>
            <a:endParaRPr lang="en-US" altLang="zh-CN" sz="2800" i="0" dirty="0">
              <a:latin typeface="Times New Roman" panose="02020603050405020304" pitchFamily="18" charset="0"/>
            </a:endParaRPr>
          </a:p>
        </p:txBody>
      </p:sp>
      <p:sp useBgFill="1">
        <p:nvSpPr>
          <p:cNvPr id="31" name="Oval 5">
            <a:extLst>
              <a:ext uri="{FF2B5EF4-FFF2-40B4-BE49-F238E27FC236}">
                <a16:creationId xmlns:a16="http://schemas.microsoft.com/office/drawing/2014/main" id="{4AC28A17-2C66-4B54-8604-94BE5E5B4B7C}"/>
              </a:ext>
            </a:extLst>
          </p:cNvPr>
          <p:cNvSpPr>
            <a:spLocks noChangeArrowheads="1"/>
          </p:cNvSpPr>
          <p:nvPr/>
        </p:nvSpPr>
        <p:spPr bwMode="auto">
          <a:xfrm>
            <a:off x="4100512" y="3513336"/>
            <a:ext cx="485775" cy="461963"/>
          </a:xfrm>
          <a:prstGeom prst="ellipse">
            <a:avLst/>
          </a:prstGeom>
          <a:ln w="38100" cap="sq">
            <a:solidFill>
              <a:srgbClr val="0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rgbClr val="990033"/>
                </a:solidFill>
                <a:latin typeface="Times New Roman" panose="02020603050405020304" pitchFamily="18" charset="0"/>
              </a:rPr>
              <a:t>C</a:t>
            </a:r>
            <a:endParaRPr lang="en-US" altLang="zh-CN" sz="2800" i="0" dirty="0">
              <a:latin typeface="Times New Roman" panose="02020603050405020304" pitchFamily="18" charset="0"/>
            </a:endParaRPr>
          </a:p>
        </p:txBody>
      </p:sp>
      <p:sp useBgFill="1">
        <p:nvSpPr>
          <p:cNvPr id="32" name="Oval 6">
            <a:extLst>
              <a:ext uri="{FF2B5EF4-FFF2-40B4-BE49-F238E27FC236}">
                <a16:creationId xmlns:a16="http://schemas.microsoft.com/office/drawing/2014/main" id="{0C92BF38-D8ED-4A14-9F28-572640793FAC}"/>
              </a:ext>
            </a:extLst>
          </p:cNvPr>
          <p:cNvSpPr>
            <a:spLocks noChangeArrowheads="1"/>
          </p:cNvSpPr>
          <p:nvPr/>
        </p:nvSpPr>
        <p:spPr bwMode="auto">
          <a:xfrm>
            <a:off x="5395912" y="2783086"/>
            <a:ext cx="533400" cy="506413"/>
          </a:xfrm>
          <a:prstGeom prst="ellipse">
            <a:avLst/>
          </a:prstGeom>
          <a:ln w="38100" cap="sq">
            <a:solidFill>
              <a:srgbClr val="0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rgbClr val="990033"/>
                </a:solidFill>
                <a:latin typeface="Times New Roman" panose="02020603050405020304" pitchFamily="18" charset="0"/>
              </a:rPr>
              <a:t>D</a:t>
            </a:r>
            <a:endParaRPr lang="en-US" altLang="zh-CN" sz="2800" i="0" dirty="0">
              <a:latin typeface="Times New Roman" panose="02020603050405020304" pitchFamily="18" charset="0"/>
            </a:endParaRPr>
          </a:p>
        </p:txBody>
      </p:sp>
      <p:sp>
        <p:nvSpPr>
          <p:cNvPr id="33" name="Line 8">
            <a:extLst>
              <a:ext uri="{FF2B5EF4-FFF2-40B4-BE49-F238E27FC236}">
                <a16:creationId xmlns:a16="http://schemas.microsoft.com/office/drawing/2014/main" id="{8BE383FF-D66A-4DA1-AEED-AB9BB531F593}"/>
              </a:ext>
            </a:extLst>
          </p:cNvPr>
          <p:cNvSpPr>
            <a:spLocks noChangeShapeType="1"/>
          </p:cNvSpPr>
          <p:nvPr/>
        </p:nvSpPr>
        <p:spPr bwMode="auto">
          <a:xfrm flipH="1">
            <a:off x="3490912" y="2222699"/>
            <a:ext cx="838200" cy="533400"/>
          </a:xfrm>
          <a:prstGeom prst="line">
            <a:avLst/>
          </a:prstGeom>
          <a:noFill/>
          <a:ln w="38100" cap="sq">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34" name="Line 9">
            <a:extLst>
              <a:ext uri="{FF2B5EF4-FFF2-40B4-BE49-F238E27FC236}">
                <a16:creationId xmlns:a16="http://schemas.microsoft.com/office/drawing/2014/main" id="{0055801B-5F95-4056-9AC3-83EE6E14E874}"/>
              </a:ext>
            </a:extLst>
          </p:cNvPr>
          <p:cNvSpPr>
            <a:spLocks noChangeShapeType="1"/>
          </p:cNvSpPr>
          <p:nvPr/>
        </p:nvSpPr>
        <p:spPr bwMode="auto">
          <a:xfrm>
            <a:off x="4786312" y="2222699"/>
            <a:ext cx="838200" cy="528637"/>
          </a:xfrm>
          <a:prstGeom prst="line">
            <a:avLst/>
          </a:prstGeom>
          <a:noFill/>
          <a:ln w="38100" cap="sq">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35" name="Line 10">
            <a:extLst>
              <a:ext uri="{FF2B5EF4-FFF2-40B4-BE49-F238E27FC236}">
                <a16:creationId xmlns:a16="http://schemas.microsoft.com/office/drawing/2014/main" id="{5CF5D352-6987-42F2-8FAA-D66425451725}"/>
              </a:ext>
            </a:extLst>
          </p:cNvPr>
          <p:cNvSpPr>
            <a:spLocks noChangeShapeType="1"/>
          </p:cNvSpPr>
          <p:nvPr/>
        </p:nvSpPr>
        <p:spPr bwMode="auto">
          <a:xfrm>
            <a:off x="3795712" y="3060899"/>
            <a:ext cx="533400" cy="452437"/>
          </a:xfrm>
          <a:prstGeom prst="line">
            <a:avLst/>
          </a:prstGeom>
          <a:noFill/>
          <a:ln w="38100" cap="sq">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36" name="Text Box 26">
            <a:extLst>
              <a:ext uri="{FF2B5EF4-FFF2-40B4-BE49-F238E27FC236}">
                <a16:creationId xmlns:a16="http://schemas.microsoft.com/office/drawing/2014/main" id="{94DE3B16-DA99-4DA3-97DC-2158D57D6201}"/>
              </a:ext>
            </a:extLst>
          </p:cNvPr>
          <p:cNvSpPr txBox="1">
            <a:spLocks noChangeArrowheads="1"/>
          </p:cNvSpPr>
          <p:nvPr/>
        </p:nvSpPr>
        <p:spPr bwMode="auto">
          <a:xfrm>
            <a:off x="865187" y="4504981"/>
            <a:ext cx="7842250" cy="54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zh-CN" altLang="en-US" sz="2800" b="0" i="0" dirty="0">
                <a:solidFill>
                  <a:srgbClr val="CC6600"/>
                </a:solidFill>
                <a:latin typeface="黑体" panose="02010609060101010101" pitchFamily="49" charset="-122"/>
                <a:ea typeface="黑体" panose="02010609060101010101" pitchFamily="49" charset="-122"/>
              </a:rPr>
              <a:t>以下列字符串表示二叉树的创建过程：</a:t>
            </a:r>
            <a:endParaRPr lang="zh-CN" altLang="en-US" sz="2800" b="0" i="0" dirty="0">
              <a:latin typeface="黑体" panose="02010609060101010101" pitchFamily="49" charset="-122"/>
              <a:ea typeface="黑体" panose="02010609060101010101" pitchFamily="49" charset="-122"/>
            </a:endParaRPr>
          </a:p>
        </p:txBody>
      </p:sp>
      <p:sp>
        <p:nvSpPr>
          <p:cNvPr id="2" name="文本框 1">
            <a:extLst>
              <a:ext uri="{FF2B5EF4-FFF2-40B4-BE49-F238E27FC236}">
                <a16:creationId xmlns:a16="http://schemas.microsoft.com/office/drawing/2014/main" id="{E16E95AC-C5E1-4252-9BF9-D9DB8BCE6F67}"/>
              </a:ext>
            </a:extLst>
          </p:cNvPr>
          <p:cNvSpPr txBox="1"/>
          <p:nvPr/>
        </p:nvSpPr>
        <p:spPr>
          <a:xfrm>
            <a:off x="994453" y="5415266"/>
            <a:ext cx="648072" cy="523220"/>
          </a:xfrm>
          <a:prstGeom prst="rect">
            <a:avLst/>
          </a:prstGeom>
          <a:noFill/>
        </p:spPr>
        <p:txBody>
          <a:bodyPr wrap="square" rtlCol="0">
            <a:spAutoFit/>
          </a:bodyPr>
          <a:lstStyle/>
          <a:p>
            <a:r>
              <a:rPr lang="en-US" altLang="zh-CN" sz="2800" b="0" i="0" dirty="0">
                <a:solidFill>
                  <a:srgbClr val="FF0000"/>
                </a:solidFill>
                <a:latin typeface="+mn-ea"/>
                <a:ea typeface="+mn-ea"/>
              </a:rPr>
              <a:t>A</a:t>
            </a:r>
            <a:endParaRPr lang="zh-CN" altLang="en-US" sz="2800" b="0" i="0" dirty="0">
              <a:solidFill>
                <a:srgbClr val="FF0000"/>
              </a:solidFill>
              <a:latin typeface="+mn-ea"/>
              <a:ea typeface="+mn-ea"/>
            </a:endParaRPr>
          </a:p>
        </p:txBody>
      </p:sp>
      <p:sp>
        <p:nvSpPr>
          <p:cNvPr id="3" name="文本框 2">
            <a:extLst>
              <a:ext uri="{FF2B5EF4-FFF2-40B4-BE49-F238E27FC236}">
                <a16:creationId xmlns:a16="http://schemas.microsoft.com/office/drawing/2014/main" id="{548FFA92-7AE5-49D3-9137-82F7C02A1A0D}"/>
              </a:ext>
            </a:extLst>
          </p:cNvPr>
          <p:cNvSpPr txBox="1"/>
          <p:nvPr/>
        </p:nvSpPr>
        <p:spPr>
          <a:xfrm>
            <a:off x="1115616" y="5381301"/>
            <a:ext cx="3888432" cy="523220"/>
          </a:xfrm>
          <a:prstGeom prst="rect">
            <a:avLst/>
          </a:prstGeom>
          <a:noFill/>
        </p:spPr>
        <p:txBody>
          <a:bodyPr wrap="square" rtlCol="0">
            <a:spAutoFit/>
          </a:bodyPr>
          <a:lstStyle/>
          <a:p>
            <a:r>
              <a:rPr lang="zh-CN" altLang="en-US" sz="2800" b="0" i="0" dirty="0">
                <a:solidFill>
                  <a:srgbClr val="FF0000"/>
                </a:solidFill>
                <a:latin typeface="+mn-ea"/>
                <a:ea typeface="+mn-ea"/>
              </a:rPr>
              <a:t>（创建</a:t>
            </a:r>
            <a:r>
              <a:rPr lang="en-US" altLang="zh-CN" sz="2800" b="0" i="0" dirty="0">
                <a:solidFill>
                  <a:srgbClr val="FF0000"/>
                </a:solidFill>
                <a:latin typeface="+mn-ea"/>
                <a:ea typeface="+mn-ea"/>
              </a:rPr>
              <a:t>A</a:t>
            </a:r>
            <a:r>
              <a:rPr lang="zh-CN" altLang="en-US" sz="2800" b="0" i="0" dirty="0">
                <a:solidFill>
                  <a:srgbClr val="FF0000"/>
                </a:solidFill>
                <a:latin typeface="+mn-ea"/>
                <a:ea typeface="+mn-ea"/>
              </a:rPr>
              <a:t>的左子树</a:t>
            </a:r>
            <a:r>
              <a:rPr lang="en-US" altLang="zh-CN" sz="2800" b="0" i="0" dirty="0">
                <a:solidFill>
                  <a:srgbClr val="FF0000"/>
                </a:solidFill>
                <a:latin typeface="+mn-ea"/>
                <a:ea typeface="+mn-ea"/>
              </a:rPr>
              <a:t>AL</a:t>
            </a:r>
            <a:r>
              <a:rPr lang="zh-CN" altLang="en-US" sz="2800" b="0" i="0" dirty="0">
                <a:solidFill>
                  <a:srgbClr val="FF0000"/>
                </a:solidFill>
                <a:latin typeface="+mn-ea"/>
                <a:ea typeface="+mn-ea"/>
              </a:rPr>
              <a:t>）</a:t>
            </a:r>
          </a:p>
        </p:txBody>
      </p:sp>
      <p:sp>
        <p:nvSpPr>
          <p:cNvPr id="4" name="文本框 3">
            <a:extLst>
              <a:ext uri="{FF2B5EF4-FFF2-40B4-BE49-F238E27FC236}">
                <a16:creationId xmlns:a16="http://schemas.microsoft.com/office/drawing/2014/main" id="{B8F9DF0A-D1A2-485E-93DD-0B6B2E06B0C2}"/>
              </a:ext>
            </a:extLst>
          </p:cNvPr>
          <p:cNvSpPr txBox="1"/>
          <p:nvPr/>
        </p:nvSpPr>
        <p:spPr>
          <a:xfrm>
            <a:off x="4468115" y="5383587"/>
            <a:ext cx="3888432" cy="523220"/>
          </a:xfrm>
          <a:prstGeom prst="rect">
            <a:avLst/>
          </a:prstGeom>
          <a:noFill/>
        </p:spPr>
        <p:txBody>
          <a:bodyPr wrap="square" rtlCol="0">
            <a:spAutoFit/>
          </a:bodyPr>
          <a:lstStyle/>
          <a:p>
            <a:r>
              <a:rPr lang="zh-CN" altLang="en-US" sz="2800" b="0" i="0" dirty="0">
                <a:solidFill>
                  <a:srgbClr val="FF0000"/>
                </a:solidFill>
                <a:latin typeface="+mn-ea"/>
                <a:ea typeface="+mn-ea"/>
              </a:rPr>
              <a:t>（创建</a:t>
            </a:r>
            <a:r>
              <a:rPr lang="en-US" altLang="zh-CN" sz="2800" b="0" i="0" dirty="0">
                <a:solidFill>
                  <a:srgbClr val="FF0000"/>
                </a:solidFill>
                <a:latin typeface="+mn-ea"/>
                <a:ea typeface="+mn-ea"/>
              </a:rPr>
              <a:t>A</a:t>
            </a:r>
            <a:r>
              <a:rPr lang="zh-CN" altLang="en-US" sz="2800" b="0" i="0" dirty="0">
                <a:solidFill>
                  <a:srgbClr val="FF0000"/>
                </a:solidFill>
                <a:latin typeface="+mn-ea"/>
                <a:ea typeface="+mn-ea"/>
              </a:rPr>
              <a:t>的右子树</a:t>
            </a:r>
            <a:r>
              <a:rPr lang="en-US" altLang="zh-CN" sz="2800" b="0" i="0" dirty="0">
                <a:solidFill>
                  <a:srgbClr val="FF0000"/>
                </a:solidFill>
                <a:latin typeface="+mn-ea"/>
                <a:ea typeface="+mn-ea"/>
              </a:rPr>
              <a:t>AR</a:t>
            </a:r>
            <a:r>
              <a:rPr lang="zh-CN" altLang="en-US" sz="2800" b="0" i="0" dirty="0">
                <a:solidFill>
                  <a:srgbClr val="FF0000"/>
                </a:solidFill>
                <a:latin typeface="+mn-ea"/>
                <a:ea typeface="+mn-ea"/>
              </a:rPr>
              <a:t>）</a:t>
            </a:r>
          </a:p>
        </p:txBody>
      </p:sp>
      <p:sp>
        <p:nvSpPr>
          <p:cNvPr id="5" name="思想气泡: 云 4">
            <a:extLst>
              <a:ext uri="{FF2B5EF4-FFF2-40B4-BE49-F238E27FC236}">
                <a16:creationId xmlns:a16="http://schemas.microsoft.com/office/drawing/2014/main" id="{51EBCA71-C2CD-429C-937D-EFBEDC1ACB7D}"/>
              </a:ext>
            </a:extLst>
          </p:cNvPr>
          <p:cNvSpPr/>
          <p:nvPr/>
        </p:nvSpPr>
        <p:spPr bwMode="auto">
          <a:xfrm>
            <a:off x="1691680" y="4550867"/>
            <a:ext cx="3096344" cy="796469"/>
          </a:xfrm>
          <a:prstGeom prst="cloudCallout">
            <a:avLst>
              <a:gd name="adj1" fmla="val -62587"/>
              <a:gd name="adj2" fmla="val 98758"/>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r>
              <a:rPr kumimoji="0" lang="zh-CN" altLang="en-US" sz="2800" b="1" i="0" u="none" strike="noStrike" cap="none" normalizeH="0" baseline="0" dirty="0">
                <a:ln>
                  <a:noFill/>
                </a:ln>
                <a:solidFill>
                  <a:schemeClr val="tx1"/>
                </a:solidFill>
                <a:effectLst/>
                <a:latin typeface="Times New Roman" pitchFamily="18" charset="0"/>
                <a:ea typeface="宋体" pitchFamily="2" charset="-122"/>
              </a:rPr>
              <a:t>创建根结点</a:t>
            </a:r>
          </a:p>
        </p:txBody>
      </p:sp>
      <p:sp>
        <p:nvSpPr>
          <p:cNvPr id="7" name="Rectangle 2">
            <a:extLst>
              <a:ext uri="{FF2B5EF4-FFF2-40B4-BE49-F238E27FC236}">
                <a16:creationId xmlns:a16="http://schemas.microsoft.com/office/drawing/2014/main" id="{DBB1603F-2111-C9D9-3BAA-E1BAE468F1BB}"/>
              </a:ext>
            </a:extLst>
          </p:cNvPr>
          <p:cNvSpPr>
            <a:spLocks noGrp="1" noChangeArrowheads="1"/>
          </p:cNvSpPr>
          <p:nvPr>
            <p:ph type="title"/>
          </p:nvPr>
        </p:nvSpPr>
        <p:spPr>
          <a:xfrm>
            <a:off x="412075" y="286220"/>
            <a:ext cx="8677845" cy="676275"/>
          </a:xfrm>
        </p:spPr>
        <p:txBody>
          <a:bodyPr/>
          <a:lstStyle/>
          <a:p>
            <a:pPr algn="ctr" eaLnBrk="1" hangingPunct="1"/>
            <a:r>
              <a:rPr lang="zh-CN" altLang="en-US" sz="4400" b="1" kern="1200" dirty="0">
                <a:latin typeface="Tahoma" panose="020B0604030504040204" pitchFamily="34" charset="0"/>
                <a:ea typeface="隶书" pitchFamily="49" charset="-122"/>
                <a:cs typeface="+mn-cs"/>
              </a:rPr>
              <a:t>遍历的应用一</a:t>
            </a:r>
          </a:p>
        </p:txBody>
      </p:sp>
    </p:spTree>
    <p:extLst>
      <p:ext uri="{BB962C8B-B14F-4D97-AF65-F5344CB8AC3E}">
        <p14:creationId xmlns:p14="http://schemas.microsoft.com/office/powerpoint/2010/main" val="52483461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animEffect transition="in" filter="strips(downRight)">
                                      <p:cBhvr>
                                        <p:cTn id="7" dur="500"/>
                                        <p:tgtEl>
                                          <p:spTgt spid="430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1" fill="hold" grpId="0" nodeType="clickEffect">
                                  <p:stCondLst>
                                    <p:cond delay="0"/>
                                  </p:stCondLst>
                                  <p:childTnLst>
                                    <p:set>
                                      <p:cBhvr>
                                        <p:cTn id="11" dur="1" fill="hold">
                                          <p:stCondLst>
                                            <p:cond delay="0"/>
                                          </p:stCondLst>
                                        </p:cTn>
                                        <p:tgtEl>
                                          <p:spTgt spid="29"/>
                                        </p:tgtEl>
                                        <p:attrNameLst>
                                          <p:attrName>style.visibility</p:attrName>
                                        </p:attrNameLst>
                                      </p:cBhvr>
                                      <p:to>
                                        <p:strVal val="visible"/>
                                      </p:to>
                                    </p:set>
                                    <p:anim calcmode="lin" valueType="num">
                                      <p:cBhvr>
                                        <p:cTn id="12" dur="500" fill="hold"/>
                                        <p:tgtEl>
                                          <p:spTgt spid="29"/>
                                        </p:tgtEl>
                                        <p:attrNameLst>
                                          <p:attrName>ppt_x</p:attrName>
                                        </p:attrNameLst>
                                      </p:cBhvr>
                                      <p:tavLst>
                                        <p:tav tm="0">
                                          <p:val>
                                            <p:strVal val="#ppt_x"/>
                                          </p:val>
                                        </p:tav>
                                        <p:tav tm="100000">
                                          <p:val>
                                            <p:strVal val="#ppt_x"/>
                                          </p:val>
                                        </p:tav>
                                      </p:tavLst>
                                    </p:anim>
                                    <p:anim calcmode="lin" valueType="num">
                                      <p:cBhvr>
                                        <p:cTn id="13" dur="500" fill="hold"/>
                                        <p:tgtEl>
                                          <p:spTgt spid="29"/>
                                        </p:tgtEl>
                                        <p:attrNameLst>
                                          <p:attrName>ppt_y</p:attrName>
                                        </p:attrNameLst>
                                      </p:cBhvr>
                                      <p:tavLst>
                                        <p:tav tm="0">
                                          <p:val>
                                            <p:strVal val="#ppt_y-#ppt_h/2"/>
                                          </p:val>
                                        </p:tav>
                                        <p:tav tm="100000">
                                          <p:val>
                                            <p:strVal val="#ppt_y"/>
                                          </p:val>
                                        </p:tav>
                                      </p:tavLst>
                                    </p:anim>
                                    <p:anim calcmode="lin" valueType="num">
                                      <p:cBhvr>
                                        <p:cTn id="14" dur="500" fill="hold"/>
                                        <p:tgtEl>
                                          <p:spTgt spid="29"/>
                                        </p:tgtEl>
                                        <p:attrNameLst>
                                          <p:attrName>ppt_w</p:attrName>
                                        </p:attrNameLst>
                                      </p:cBhvr>
                                      <p:tavLst>
                                        <p:tav tm="0">
                                          <p:val>
                                            <p:strVal val="#ppt_w"/>
                                          </p:val>
                                        </p:tav>
                                        <p:tav tm="100000">
                                          <p:val>
                                            <p:strVal val="#ppt_w"/>
                                          </p:val>
                                        </p:tav>
                                      </p:tavLst>
                                    </p:anim>
                                    <p:anim calcmode="lin" valueType="num">
                                      <p:cBhvr>
                                        <p:cTn id="15" dur="500" fill="hold"/>
                                        <p:tgtEl>
                                          <p:spTgt spid="29"/>
                                        </p:tgtEl>
                                        <p:attrNameLst>
                                          <p:attrName>ppt_h</p:attrName>
                                        </p:attrNameLst>
                                      </p:cBhvr>
                                      <p:tavLst>
                                        <p:tav tm="0">
                                          <p:val>
                                            <p:fltVal val="0"/>
                                          </p:val>
                                        </p:tav>
                                        <p:tav tm="100000">
                                          <p:val>
                                            <p:strVal val="#ppt_h"/>
                                          </p:val>
                                        </p:tav>
                                      </p:tavLst>
                                    </p:anim>
                                  </p:childTnLst>
                                </p:cTn>
                              </p:par>
                            </p:childTnLst>
                          </p:cTn>
                        </p:par>
                        <p:par>
                          <p:cTn id="16" fill="hold">
                            <p:stCondLst>
                              <p:cond delay="500"/>
                            </p:stCondLst>
                            <p:childTnLst>
                              <p:par>
                                <p:cTn id="17" presetID="17" presetClass="entr" presetSubtype="1" fill="hold" nodeType="afterEffect">
                                  <p:stCondLst>
                                    <p:cond delay="0"/>
                                  </p:stCondLst>
                                  <p:childTnLst>
                                    <p:set>
                                      <p:cBhvr>
                                        <p:cTn id="18" dur="1" fill="hold">
                                          <p:stCondLst>
                                            <p:cond delay="0"/>
                                          </p:stCondLst>
                                        </p:cTn>
                                        <p:tgtEl>
                                          <p:spTgt spid="33"/>
                                        </p:tgtEl>
                                        <p:attrNameLst>
                                          <p:attrName>style.visibility</p:attrName>
                                        </p:attrNameLst>
                                      </p:cBhvr>
                                      <p:to>
                                        <p:strVal val="visible"/>
                                      </p:to>
                                    </p:set>
                                    <p:anim calcmode="lin" valueType="num">
                                      <p:cBhvr>
                                        <p:cTn id="19" dur="500" fill="hold"/>
                                        <p:tgtEl>
                                          <p:spTgt spid="33"/>
                                        </p:tgtEl>
                                        <p:attrNameLst>
                                          <p:attrName>ppt_x</p:attrName>
                                        </p:attrNameLst>
                                      </p:cBhvr>
                                      <p:tavLst>
                                        <p:tav tm="0">
                                          <p:val>
                                            <p:strVal val="#ppt_x"/>
                                          </p:val>
                                        </p:tav>
                                        <p:tav tm="100000">
                                          <p:val>
                                            <p:strVal val="#ppt_x"/>
                                          </p:val>
                                        </p:tav>
                                      </p:tavLst>
                                    </p:anim>
                                    <p:anim calcmode="lin" valueType="num">
                                      <p:cBhvr>
                                        <p:cTn id="20" dur="500" fill="hold"/>
                                        <p:tgtEl>
                                          <p:spTgt spid="33"/>
                                        </p:tgtEl>
                                        <p:attrNameLst>
                                          <p:attrName>ppt_y</p:attrName>
                                        </p:attrNameLst>
                                      </p:cBhvr>
                                      <p:tavLst>
                                        <p:tav tm="0">
                                          <p:val>
                                            <p:strVal val="#ppt_y-#ppt_h/2"/>
                                          </p:val>
                                        </p:tav>
                                        <p:tav tm="100000">
                                          <p:val>
                                            <p:strVal val="#ppt_y"/>
                                          </p:val>
                                        </p:tav>
                                      </p:tavLst>
                                    </p:anim>
                                    <p:anim calcmode="lin" valueType="num">
                                      <p:cBhvr>
                                        <p:cTn id="21" dur="500" fill="hold"/>
                                        <p:tgtEl>
                                          <p:spTgt spid="33"/>
                                        </p:tgtEl>
                                        <p:attrNameLst>
                                          <p:attrName>ppt_w</p:attrName>
                                        </p:attrNameLst>
                                      </p:cBhvr>
                                      <p:tavLst>
                                        <p:tav tm="0">
                                          <p:val>
                                            <p:strVal val="#ppt_w"/>
                                          </p:val>
                                        </p:tav>
                                        <p:tav tm="100000">
                                          <p:val>
                                            <p:strVal val="#ppt_w"/>
                                          </p:val>
                                        </p:tav>
                                      </p:tavLst>
                                    </p:anim>
                                    <p:anim calcmode="lin" valueType="num">
                                      <p:cBhvr>
                                        <p:cTn id="22" dur="500" fill="hold"/>
                                        <p:tgtEl>
                                          <p:spTgt spid="33"/>
                                        </p:tgtEl>
                                        <p:attrNameLst>
                                          <p:attrName>ppt_h</p:attrName>
                                        </p:attrNameLst>
                                      </p:cBhvr>
                                      <p:tavLst>
                                        <p:tav tm="0">
                                          <p:val>
                                            <p:fltVal val="0"/>
                                          </p:val>
                                        </p:tav>
                                        <p:tav tm="100000">
                                          <p:val>
                                            <p:strVal val="#ppt_h"/>
                                          </p:val>
                                        </p:tav>
                                      </p:tavLst>
                                    </p:anim>
                                  </p:childTnLst>
                                </p:cTn>
                              </p:par>
                            </p:childTnLst>
                          </p:cTn>
                        </p:par>
                        <p:par>
                          <p:cTn id="23" fill="hold">
                            <p:stCondLst>
                              <p:cond delay="1000"/>
                            </p:stCondLst>
                            <p:childTnLst>
                              <p:par>
                                <p:cTn id="24" presetID="17" presetClass="entr" presetSubtype="1" fill="hold" grpId="0" nodeType="afterEffect">
                                  <p:stCondLst>
                                    <p:cond delay="0"/>
                                  </p:stCondLst>
                                  <p:childTnLst>
                                    <p:set>
                                      <p:cBhvr>
                                        <p:cTn id="25" dur="1" fill="hold">
                                          <p:stCondLst>
                                            <p:cond delay="0"/>
                                          </p:stCondLst>
                                        </p:cTn>
                                        <p:tgtEl>
                                          <p:spTgt spid="30"/>
                                        </p:tgtEl>
                                        <p:attrNameLst>
                                          <p:attrName>style.visibility</p:attrName>
                                        </p:attrNameLst>
                                      </p:cBhvr>
                                      <p:to>
                                        <p:strVal val="visible"/>
                                      </p:to>
                                    </p:set>
                                    <p:anim calcmode="lin" valueType="num">
                                      <p:cBhvr>
                                        <p:cTn id="26" dur="500" fill="hold"/>
                                        <p:tgtEl>
                                          <p:spTgt spid="30"/>
                                        </p:tgtEl>
                                        <p:attrNameLst>
                                          <p:attrName>ppt_x</p:attrName>
                                        </p:attrNameLst>
                                      </p:cBhvr>
                                      <p:tavLst>
                                        <p:tav tm="0">
                                          <p:val>
                                            <p:strVal val="#ppt_x"/>
                                          </p:val>
                                        </p:tav>
                                        <p:tav tm="100000">
                                          <p:val>
                                            <p:strVal val="#ppt_x"/>
                                          </p:val>
                                        </p:tav>
                                      </p:tavLst>
                                    </p:anim>
                                    <p:anim calcmode="lin" valueType="num">
                                      <p:cBhvr>
                                        <p:cTn id="27" dur="500" fill="hold"/>
                                        <p:tgtEl>
                                          <p:spTgt spid="30"/>
                                        </p:tgtEl>
                                        <p:attrNameLst>
                                          <p:attrName>ppt_y</p:attrName>
                                        </p:attrNameLst>
                                      </p:cBhvr>
                                      <p:tavLst>
                                        <p:tav tm="0">
                                          <p:val>
                                            <p:strVal val="#ppt_y-#ppt_h/2"/>
                                          </p:val>
                                        </p:tav>
                                        <p:tav tm="100000">
                                          <p:val>
                                            <p:strVal val="#ppt_y"/>
                                          </p:val>
                                        </p:tav>
                                      </p:tavLst>
                                    </p:anim>
                                    <p:anim calcmode="lin" valueType="num">
                                      <p:cBhvr>
                                        <p:cTn id="28" dur="500" fill="hold"/>
                                        <p:tgtEl>
                                          <p:spTgt spid="30"/>
                                        </p:tgtEl>
                                        <p:attrNameLst>
                                          <p:attrName>ppt_w</p:attrName>
                                        </p:attrNameLst>
                                      </p:cBhvr>
                                      <p:tavLst>
                                        <p:tav tm="0">
                                          <p:val>
                                            <p:strVal val="#ppt_w"/>
                                          </p:val>
                                        </p:tav>
                                        <p:tav tm="100000">
                                          <p:val>
                                            <p:strVal val="#ppt_w"/>
                                          </p:val>
                                        </p:tav>
                                      </p:tavLst>
                                    </p:anim>
                                    <p:anim calcmode="lin" valueType="num">
                                      <p:cBhvr>
                                        <p:cTn id="29" dur="500" fill="hold"/>
                                        <p:tgtEl>
                                          <p:spTgt spid="30"/>
                                        </p:tgtEl>
                                        <p:attrNameLst>
                                          <p:attrName>ppt_h</p:attrName>
                                        </p:attrNameLst>
                                      </p:cBhvr>
                                      <p:tavLst>
                                        <p:tav tm="0">
                                          <p:val>
                                            <p:fltVal val="0"/>
                                          </p:val>
                                        </p:tav>
                                        <p:tav tm="100000">
                                          <p:val>
                                            <p:strVal val="#ppt_h"/>
                                          </p:val>
                                        </p:tav>
                                      </p:tavLst>
                                    </p:anim>
                                  </p:childTnLst>
                                </p:cTn>
                              </p:par>
                            </p:childTnLst>
                          </p:cTn>
                        </p:par>
                        <p:par>
                          <p:cTn id="30" fill="hold">
                            <p:stCondLst>
                              <p:cond delay="1500"/>
                            </p:stCondLst>
                            <p:childTnLst>
                              <p:par>
                                <p:cTn id="31" presetID="17" presetClass="entr" presetSubtype="1" fill="hold" nodeType="afterEffect">
                                  <p:stCondLst>
                                    <p:cond delay="0"/>
                                  </p:stCondLst>
                                  <p:childTnLst>
                                    <p:set>
                                      <p:cBhvr>
                                        <p:cTn id="32" dur="1" fill="hold">
                                          <p:stCondLst>
                                            <p:cond delay="0"/>
                                          </p:stCondLst>
                                        </p:cTn>
                                        <p:tgtEl>
                                          <p:spTgt spid="35"/>
                                        </p:tgtEl>
                                        <p:attrNameLst>
                                          <p:attrName>style.visibility</p:attrName>
                                        </p:attrNameLst>
                                      </p:cBhvr>
                                      <p:to>
                                        <p:strVal val="visible"/>
                                      </p:to>
                                    </p:set>
                                    <p:anim calcmode="lin" valueType="num">
                                      <p:cBhvr>
                                        <p:cTn id="33" dur="500" fill="hold"/>
                                        <p:tgtEl>
                                          <p:spTgt spid="35"/>
                                        </p:tgtEl>
                                        <p:attrNameLst>
                                          <p:attrName>ppt_x</p:attrName>
                                        </p:attrNameLst>
                                      </p:cBhvr>
                                      <p:tavLst>
                                        <p:tav tm="0">
                                          <p:val>
                                            <p:strVal val="#ppt_x"/>
                                          </p:val>
                                        </p:tav>
                                        <p:tav tm="100000">
                                          <p:val>
                                            <p:strVal val="#ppt_x"/>
                                          </p:val>
                                        </p:tav>
                                      </p:tavLst>
                                    </p:anim>
                                    <p:anim calcmode="lin" valueType="num">
                                      <p:cBhvr>
                                        <p:cTn id="34" dur="500" fill="hold"/>
                                        <p:tgtEl>
                                          <p:spTgt spid="35"/>
                                        </p:tgtEl>
                                        <p:attrNameLst>
                                          <p:attrName>ppt_y</p:attrName>
                                        </p:attrNameLst>
                                      </p:cBhvr>
                                      <p:tavLst>
                                        <p:tav tm="0">
                                          <p:val>
                                            <p:strVal val="#ppt_y-#ppt_h/2"/>
                                          </p:val>
                                        </p:tav>
                                        <p:tav tm="100000">
                                          <p:val>
                                            <p:strVal val="#ppt_y"/>
                                          </p:val>
                                        </p:tav>
                                      </p:tavLst>
                                    </p:anim>
                                    <p:anim calcmode="lin" valueType="num">
                                      <p:cBhvr>
                                        <p:cTn id="35" dur="500" fill="hold"/>
                                        <p:tgtEl>
                                          <p:spTgt spid="35"/>
                                        </p:tgtEl>
                                        <p:attrNameLst>
                                          <p:attrName>ppt_w</p:attrName>
                                        </p:attrNameLst>
                                      </p:cBhvr>
                                      <p:tavLst>
                                        <p:tav tm="0">
                                          <p:val>
                                            <p:strVal val="#ppt_w"/>
                                          </p:val>
                                        </p:tav>
                                        <p:tav tm="100000">
                                          <p:val>
                                            <p:strVal val="#ppt_w"/>
                                          </p:val>
                                        </p:tav>
                                      </p:tavLst>
                                    </p:anim>
                                    <p:anim calcmode="lin" valueType="num">
                                      <p:cBhvr>
                                        <p:cTn id="36" dur="500" fill="hold"/>
                                        <p:tgtEl>
                                          <p:spTgt spid="35"/>
                                        </p:tgtEl>
                                        <p:attrNameLst>
                                          <p:attrName>ppt_h</p:attrName>
                                        </p:attrNameLst>
                                      </p:cBhvr>
                                      <p:tavLst>
                                        <p:tav tm="0">
                                          <p:val>
                                            <p:fltVal val="0"/>
                                          </p:val>
                                        </p:tav>
                                        <p:tav tm="100000">
                                          <p:val>
                                            <p:strVal val="#ppt_h"/>
                                          </p:val>
                                        </p:tav>
                                      </p:tavLst>
                                    </p:anim>
                                  </p:childTnLst>
                                </p:cTn>
                              </p:par>
                            </p:childTnLst>
                          </p:cTn>
                        </p:par>
                        <p:par>
                          <p:cTn id="37" fill="hold">
                            <p:stCondLst>
                              <p:cond delay="2000"/>
                            </p:stCondLst>
                            <p:childTnLst>
                              <p:par>
                                <p:cTn id="38" presetID="17" presetClass="entr" presetSubtype="1" fill="hold" grpId="0" nodeType="afterEffect">
                                  <p:stCondLst>
                                    <p:cond delay="0"/>
                                  </p:stCondLst>
                                  <p:childTnLst>
                                    <p:set>
                                      <p:cBhvr>
                                        <p:cTn id="39" dur="1" fill="hold">
                                          <p:stCondLst>
                                            <p:cond delay="0"/>
                                          </p:stCondLst>
                                        </p:cTn>
                                        <p:tgtEl>
                                          <p:spTgt spid="31"/>
                                        </p:tgtEl>
                                        <p:attrNameLst>
                                          <p:attrName>style.visibility</p:attrName>
                                        </p:attrNameLst>
                                      </p:cBhvr>
                                      <p:to>
                                        <p:strVal val="visible"/>
                                      </p:to>
                                    </p:set>
                                    <p:anim calcmode="lin" valueType="num">
                                      <p:cBhvr>
                                        <p:cTn id="40" dur="500" fill="hold"/>
                                        <p:tgtEl>
                                          <p:spTgt spid="31"/>
                                        </p:tgtEl>
                                        <p:attrNameLst>
                                          <p:attrName>ppt_x</p:attrName>
                                        </p:attrNameLst>
                                      </p:cBhvr>
                                      <p:tavLst>
                                        <p:tav tm="0">
                                          <p:val>
                                            <p:strVal val="#ppt_x"/>
                                          </p:val>
                                        </p:tav>
                                        <p:tav tm="100000">
                                          <p:val>
                                            <p:strVal val="#ppt_x"/>
                                          </p:val>
                                        </p:tav>
                                      </p:tavLst>
                                    </p:anim>
                                    <p:anim calcmode="lin" valueType="num">
                                      <p:cBhvr>
                                        <p:cTn id="41" dur="500" fill="hold"/>
                                        <p:tgtEl>
                                          <p:spTgt spid="31"/>
                                        </p:tgtEl>
                                        <p:attrNameLst>
                                          <p:attrName>ppt_y</p:attrName>
                                        </p:attrNameLst>
                                      </p:cBhvr>
                                      <p:tavLst>
                                        <p:tav tm="0">
                                          <p:val>
                                            <p:strVal val="#ppt_y-#ppt_h/2"/>
                                          </p:val>
                                        </p:tav>
                                        <p:tav tm="100000">
                                          <p:val>
                                            <p:strVal val="#ppt_y"/>
                                          </p:val>
                                        </p:tav>
                                      </p:tavLst>
                                    </p:anim>
                                    <p:anim calcmode="lin" valueType="num">
                                      <p:cBhvr>
                                        <p:cTn id="42" dur="500" fill="hold"/>
                                        <p:tgtEl>
                                          <p:spTgt spid="31"/>
                                        </p:tgtEl>
                                        <p:attrNameLst>
                                          <p:attrName>ppt_w</p:attrName>
                                        </p:attrNameLst>
                                      </p:cBhvr>
                                      <p:tavLst>
                                        <p:tav tm="0">
                                          <p:val>
                                            <p:strVal val="#ppt_w"/>
                                          </p:val>
                                        </p:tav>
                                        <p:tav tm="100000">
                                          <p:val>
                                            <p:strVal val="#ppt_w"/>
                                          </p:val>
                                        </p:tav>
                                      </p:tavLst>
                                    </p:anim>
                                    <p:anim calcmode="lin" valueType="num">
                                      <p:cBhvr>
                                        <p:cTn id="43" dur="500" fill="hold"/>
                                        <p:tgtEl>
                                          <p:spTgt spid="31"/>
                                        </p:tgtEl>
                                        <p:attrNameLst>
                                          <p:attrName>ppt_h</p:attrName>
                                        </p:attrNameLst>
                                      </p:cBhvr>
                                      <p:tavLst>
                                        <p:tav tm="0">
                                          <p:val>
                                            <p:fltVal val="0"/>
                                          </p:val>
                                        </p:tav>
                                        <p:tav tm="100000">
                                          <p:val>
                                            <p:strVal val="#ppt_h"/>
                                          </p:val>
                                        </p:tav>
                                      </p:tavLst>
                                    </p:anim>
                                  </p:childTnLst>
                                </p:cTn>
                              </p:par>
                            </p:childTnLst>
                          </p:cTn>
                        </p:par>
                        <p:par>
                          <p:cTn id="44" fill="hold">
                            <p:stCondLst>
                              <p:cond delay="2500"/>
                            </p:stCondLst>
                            <p:childTnLst>
                              <p:par>
                                <p:cTn id="45" presetID="17" presetClass="entr" presetSubtype="1" fill="hold" nodeType="afterEffect">
                                  <p:stCondLst>
                                    <p:cond delay="0"/>
                                  </p:stCondLst>
                                  <p:childTnLst>
                                    <p:set>
                                      <p:cBhvr>
                                        <p:cTn id="46" dur="1" fill="hold">
                                          <p:stCondLst>
                                            <p:cond delay="0"/>
                                          </p:stCondLst>
                                        </p:cTn>
                                        <p:tgtEl>
                                          <p:spTgt spid="34"/>
                                        </p:tgtEl>
                                        <p:attrNameLst>
                                          <p:attrName>style.visibility</p:attrName>
                                        </p:attrNameLst>
                                      </p:cBhvr>
                                      <p:to>
                                        <p:strVal val="visible"/>
                                      </p:to>
                                    </p:set>
                                    <p:anim calcmode="lin" valueType="num">
                                      <p:cBhvr>
                                        <p:cTn id="47" dur="500" fill="hold"/>
                                        <p:tgtEl>
                                          <p:spTgt spid="34"/>
                                        </p:tgtEl>
                                        <p:attrNameLst>
                                          <p:attrName>ppt_x</p:attrName>
                                        </p:attrNameLst>
                                      </p:cBhvr>
                                      <p:tavLst>
                                        <p:tav tm="0">
                                          <p:val>
                                            <p:strVal val="#ppt_x"/>
                                          </p:val>
                                        </p:tav>
                                        <p:tav tm="100000">
                                          <p:val>
                                            <p:strVal val="#ppt_x"/>
                                          </p:val>
                                        </p:tav>
                                      </p:tavLst>
                                    </p:anim>
                                    <p:anim calcmode="lin" valueType="num">
                                      <p:cBhvr>
                                        <p:cTn id="48" dur="500" fill="hold"/>
                                        <p:tgtEl>
                                          <p:spTgt spid="34"/>
                                        </p:tgtEl>
                                        <p:attrNameLst>
                                          <p:attrName>ppt_y</p:attrName>
                                        </p:attrNameLst>
                                      </p:cBhvr>
                                      <p:tavLst>
                                        <p:tav tm="0">
                                          <p:val>
                                            <p:strVal val="#ppt_y-#ppt_h/2"/>
                                          </p:val>
                                        </p:tav>
                                        <p:tav tm="100000">
                                          <p:val>
                                            <p:strVal val="#ppt_y"/>
                                          </p:val>
                                        </p:tav>
                                      </p:tavLst>
                                    </p:anim>
                                    <p:anim calcmode="lin" valueType="num">
                                      <p:cBhvr>
                                        <p:cTn id="49" dur="500" fill="hold"/>
                                        <p:tgtEl>
                                          <p:spTgt spid="34"/>
                                        </p:tgtEl>
                                        <p:attrNameLst>
                                          <p:attrName>ppt_w</p:attrName>
                                        </p:attrNameLst>
                                      </p:cBhvr>
                                      <p:tavLst>
                                        <p:tav tm="0">
                                          <p:val>
                                            <p:strVal val="#ppt_w"/>
                                          </p:val>
                                        </p:tav>
                                        <p:tav tm="100000">
                                          <p:val>
                                            <p:strVal val="#ppt_w"/>
                                          </p:val>
                                        </p:tav>
                                      </p:tavLst>
                                    </p:anim>
                                    <p:anim calcmode="lin" valueType="num">
                                      <p:cBhvr>
                                        <p:cTn id="50" dur="500" fill="hold"/>
                                        <p:tgtEl>
                                          <p:spTgt spid="34"/>
                                        </p:tgtEl>
                                        <p:attrNameLst>
                                          <p:attrName>ppt_h</p:attrName>
                                        </p:attrNameLst>
                                      </p:cBhvr>
                                      <p:tavLst>
                                        <p:tav tm="0">
                                          <p:val>
                                            <p:fltVal val="0"/>
                                          </p:val>
                                        </p:tav>
                                        <p:tav tm="100000">
                                          <p:val>
                                            <p:strVal val="#ppt_h"/>
                                          </p:val>
                                        </p:tav>
                                      </p:tavLst>
                                    </p:anim>
                                  </p:childTnLst>
                                </p:cTn>
                              </p:par>
                            </p:childTnLst>
                          </p:cTn>
                        </p:par>
                        <p:par>
                          <p:cTn id="51" fill="hold">
                            <p:stCondLst>
                              <p:cond delay="3000"/>
                            </p:stCondLst>
                            <p:childTnLst>
                              <p:par>
                                <p:cTn id="52" presetID="17" presetClass="entr" presetSubtype="1" fill="hold" grpId="0" nodeType="afterEffect">
                                  <p:stCondLst>
                                    <p:cond delay="0"/>
                                  </p:stCondLst>
                                  <p:childTnLst>
                                    <p:set>
                                      <p:cBhvr>
                                        <p:cTn id="53" dur="1" fill="hold">
                                          <p:stCondLst>
                                            <p:cond delay="0"/>
                                          </p:stCondLst>
                                        </p:cTn>
                                        <p:tgtEl>
                                          <p:spTgt spid="32"/>
                                        </p:tgtEl>
                                        <p:attrNameLst>
                                          <p:attrName>style.visibility</p:attrName>
                                        </p:attrNameLst>
                                      </p:cBhvr>
                                      <p:to>
                                        <p:strVal val="visible"/>
                                      </p:to>
                                    </p:set>
                                    <p:anim calcmode="lin" valueType="num">
                                      <p:cBhvr>
                                        <p:cTn id="54" dur="500" fill="hold"/>
                                        <p:tgtEl>
                                          <p:spTgt spid="32"/>
                                        </p:tgtEl>
                                        <p:attrNameLst>
                                          <p:attrName>ppt_x</p:attrName>
                                        </p:attrNameLst>
                                      </p:cBhvr>
                                      <p:tavLst>
                                        <p:tav tm="0">
                                          <p:val>
                                            <p:strVal val="#ppt_x"/>
                                          </p:val>
                                        </p:tav>
                                        <p:tav tm="100000">
                                          <p:val>
                                            <p:strVal val="#ppt_x"/>
                                          </p:val>
                                        </p:tav>
                                      </p:tavLst>
                                    </p:anim>
                                    <p:anim calcmode="lin" valueType="num">
                                      <p:cBhvr>
                                        <p:cTn id="55" dur="500" fill="hold"/>
                                        <p:tgtEl>
                                          <p:spTgt spid="32"/>
                                        </p:tgtEl>
                                        <p:attrNameLst>
                                          <p:attrName>ppt_y</p:attrName>
                                        </p:attrNameLst>
                                      </p:cBhvr>
                                      <p:tavLst>
                                        <p:tav tm="0">
                                          <p:val>
                                            <p:strVal val="#ppt_y-#ppt_h/2"/>
                                          </p:val>
                                        </p:tav>
                                        <p:tav tm="100000">
                                          <p:val>
                                            <p:strVal val="#ppt_y"/>
                                          </p:val>
                                        </p:tav>
                                      </p:tavLst>
                                    </p:anim>
                                    <p:anim calcmode="lin" valueType="num">
                                      <p:cBhvr>
                                        <p:cTn id="56" dur="500" fill="hold"/>
                                        <p:tgtEl>
                                          <p:spTgt spid="32"/>
                                        </p:tgtEl>
                                        <p:attrNameLst>
                                          <p:attrName>ppt_w</p:attrName>
                                        </p:attrNameLst>
                                      </p:cBhvr>
                                      <p:tavLst>
                                        <p:tav tm="0">
                                          <p:val>
                                            <p:strVal val="#ppt_w"/>
                                          </p:val>
                                        </p:tav>
                                        <p:tav tm="100000">
                                          <p:val>
                                            <p:strVal val="#ppt_w"/>
                                          </p:val>
                                        </p:tav>
                                      </p:tavLst>
                                    </p:anim>
                                    <p:anim calcmode="lin" valueType="num">
                                      <p:cBhvr>
                                        <p:cTn id="57" dur="500" fill="hold"/>
                                        <p:tgtEl>
                                          <p:spTgt spid="32"/>
                                        </p:tgtEl>
                                        <p:attrNameLst>
                                          <p:attrName>ppt_h</p:attrName>
                                        </p:attrNameLst>
                                      </p:cBhvr>
                                      <p:tavLst>
                                        <p:tav tm="0">
                                          <p:val>
                                            <p:fltVal val="0"/>
                                          </p:val>
                                        </p:tav>
                                        <p:tav tm="100000">
                                          <p:val>
                                            <p:strVal val="#ppt_h"/>
                                          </p:val>
                                        </p:tav>
                                      </p:tavLst>
                                    </p:anim>
                                  </p:childTnLst>
                                </p:cTn>
                              </p:par>
                            </p:childTnLst>
                          </p:cTn>
                        </p:par>
                      </p:childTnLst>
                    </p:cTn>
                  </p:par>
                  <p:par>
                    <p:cTn id="58" fill="hold">
                      <p:stCondLst>
                        <p:cond delay="indefinite"/>
                      </p:stCondLst>
                      <p:childTnLst>
                        <p:par>
                          <p:cTn id="59" fill="hold">
                            <p:stCondLst>
                              <p:cond delay="0"/>
                            </p:stCondLst>
                            <p:childTnLst>
                              <p:par>
                                <p:cTn id="60" presetID="17" presetClass="entr" presetSubtype="8" fill="hold" grpId="0" nodeType="clickEffect">
                                  <p:stCondLst>
                                    <p:cond delay="0"/>
                                  </p:stCondLst>
                                  <p:childTnLst>
                                    <p:set>
                                      <p:cBhvr>
                                        <p:cTn id="61" dur="1" fill="hold">
                                          <p:stCondLst>
                                            <p:cond delay="0"/>
                                          </p:stCondLst>
                                        </p:cTn>
                                        <p:tgtEl>
                                          <p:spTgt spid="36"/>
                                        </p:tgtEl>
                                        <p:attrNameLst>
                                          <p:attrName>style.visibility</p:attrName>
                                        </p:attrNameLst>
                                      </p:cBhvr>
                                      <p:to>
                                        <p:strVal val="visible"/>
                                      </p:to>
                                    </p:set>
                                    <p:anim calcmode="lin" valueType="num">
                                      <p:cBhvr>
                                        <p:cTn id="62" dur="500" fill="hold"/>
                                        <p:tgtEl>
                                          <p:spTgt spid="36"/>
                                        </p:tgtEl>
                                        <p:attrNameLst>
                                          <p:attrName>ppt_x</p:attrName>
                                        </p:attrNameLst>
                                      </p:cBhvr>
                                      <p:tavLst>
                                        <p:tav tm="0">
                                          <p:val>
                                            <p:strVal val="#ppt_x-#ppt_w/2"/>
                                          </p:val>
                                        </p:tav>
                                        <p:tav tm="100000">
                                          <p:val>
                                            <p:strVal val="#ppt_x"/>
                                          </p:val>
                                        </p:tav>
                                      </p:tavLst>
                                    </p:anim>
                                    <p:anim calcmode="lin" valueType="num">
                                      <p:cBhvr>
                                        <p:cTn id="63" dur="500" fill="hold"/>
                                        <p:tgtEl>
                                          <p:spTgt spid="36"/>
                                        </p:tgtEl>
                                        <p:attrNameLst>
                                          <p:attrName>ppt_y</p:attrName>
                                        </p:attrNameLst>
                                      </p:cBhvr>
                                      <p:tavLst>
                                        <p:tav tm="0">
                                          <p:val>
                                            <p:strVal val="#ppt_y"/>
                                          </p:val>
                                        </p:tav>
                                        <p:tav tm="100000">
                                          <p:val>
                                            <p:strVal val="#ppt_y"/>
                                          </p:val>
                                        </p:tav>
                                      </p:tavLst>
                                    </p:anim>
                                    <p:anim calcmode="lin" valueType="num">
                                      <p:cBhvr>
                                        <p:cTn id="64" dur="500" fill="hold"/>
                                        <p:tgtEl>
                                          <p:spTgt spid="36"/>
                                        </p:tgtEl>
                                        <p:attrNameLst>
                                          <p:attrName>ppt_w</p:attrName>
                                        </p:attrNameLst>
                                      </p:cBhvr>
                                      <p:tavLst>
                                        <p:tav tm="0">
                                          <p:val>
                                            <p:fltVal val="0"/>
                                          </p:val>
                                        </p:tav>
                                        <p:tav tm="100000">
                                          <p:val>
                                            <p:strVal val="#ppt_w"/>
                                          </p:val>
                                        </p:tav>
                                      </p:tavLst>
                                    </p:anim>
                                    <p:anim calcmode="lin" valueType="num">
                                      <p:cBhvr>
                                        <p:cTn id="65" dur="500" fill="hold"/>
                                        <p:tgtEl>
                                          <p:spTgt spid="36"/>
                                        </p:tgtEl>
                                        <p:attrNameLst>
                                          <p:attrName>ppt_h</p:attrName>
                                        </p:attrNameLst>
                                      </p:cBhvr>
                                      <p:tavLst>
                                        <p:tav tm="0">
                                          <p:val>
                                            <p:strVal val="#ppt_h"/>
                                          </p:val>
                                        </p:tav>
                                        <p:tav tm="100000">
                                          <p:val>
                                            <p:strVal val="#ppt_h"/>
                                          </p:val>
                                        </p:tav>
                                      </p:tavLst>
                                    </p:anim>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5"/>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0"/>
                                          </p:stCondLst>
                                        </p:cTn>
                                        <p:tgtEl>
                                          <p:spTgt spid="2"/>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grpId="0" nodeType="clickEffect">
                                  <p:stCondLst>
                                    <p:cond delay="0"/>
                                  </p:stCondLst>
                                  <p:childTnLst>
                                    <p:set>
                                      <p:cBhvr>
                                        <p:cTn id="77" dur="1" fill="hold">
                                          <p:stCondLst>
                                            <p:cond delay="0"/>
                                          </p:stCondLst>
                                        </p:cTn>
                                        <p:tgtEl>
                                          <p:spTgt spid="3"/>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grpId="0" nodeType="clickEffect">
                                  <p:stCondLst>
                                    <p:cond delay="0"/>
                                  </p:stCondLst>
                                  <p:childTnLst>
                                    <p:set>
                                      <p:cBhvr>
                                        <p:cTn id="81"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build="p" autoUpdateAnimBg="0"/>
      <p:bldP spid="29" grpId="0" animBg="1" autoUpdateAnimBg="0"/>
      <p:bldP spid="30" grpId="0" animBg="1" autoUpdateAnimBg="0"/>
      <p:bldP spid="31" grpId="0" animBg="1" autoUpdateAnimBg="0"/>
      <p:bldP spid="32" grpId="0" animBg="1" autoUpdateAnimBg="0"/>
      <p:bldP spid="36" grpId="0" autoUpdateAnimBg="0"/>
      <p:bldP spid="2" grpId="0"/>
      <p:bldP spid="3" grpId="0"/>
      <p:bldP spid="4" grpId="0"/>
      <p:bldP spid="5"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ext Box 2">
            <a:extLst>
              <a:ext uri="{FF2B5EF4-FFF2-40B4-BE49-F238E27FC236}">
                <a16:creationId xmlns:a16="http://schemas.microsoft.com/office/drawing/2014/main" id="{8B54FB1B-8E5F-4CF7-B6AD-9950A2190F4B}"/>
              </a:ext>
            </a:extLst>
          </p:cNvPr>
          <p:cNvSpPr txBox="1">
            <a:spLocks noChangeArrowheads="1"/>
          </p:cNvSpPr>
          <p:nvPr/>
        </p:nvSpPr>
        <p:spPr bwMode="auto">
          <a:xfrm>
            <a:off x="252413" y="260350"/>
            <a:ext cx="828675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3600" b="1" dirty="0">
                <a:latin typeface="Times New Roman" panose="02020603050405020304" pitchFamily="18" charset="0"/>
                <a:ea typeface="隶书" panose="02010509060101010101" pitchFamily="49" charset="-122"/>
              </a:rPr>
              <a:t>    </a:t>
            </a:r>
            <a:r>
              <a:rPr lang="zh-CN" altLang="en-US" sz="4400" i="0" dirty="0">
                <a:solidFill>
                  <a:schemeClr val="tx2"/>
                </a:solidFill>
                <a:ea typeface="隶书" pitchFamily="49" charset="-122"/>
              </a:rPr>
              <a:t>先序序列创建二叉树</a:t>
            </a:r>
          </a:p>
        </p:txBody>
      </p:sp>
      <p:sp useBgFill="1">
        <p:nvSpPr>
          <p:cNvPr id="49155" name="Oval 3">
            <a:extLst>
              <a:ext uri="{FF2B5EF4-FFF2-40B4-BE49-F238E27FC236}">
                <a16:creationId xmlns:a16="http://schemas.microsoft.com/office/drawing/2014/main" id="{3580D470-D0AB-4902-ABF2-08A5689C1454}"/>
              </a:ext>
            </a:extLst>
          </p:cNvPr>
          <p:cNvSpPr>
            <a:spLocks noChangeArrowheads="1"/>
          </p:cNvSpPr>
          <p:nvPr/>
        </p:nvSpPr>
        <p:spPr bwMode="auto">
          <a:xfrm>
            <a:off x="4267944" y="1299021"/>
            <a:ext cx="485775" cy="461963"/>
          </a:xfrm>
          <a:prstGeom prst="ellipse">
            <a:avLst/>
          </a:prstGeom>
          <a:ln w="38100" cap="sq">
            <a:solidFill>
              <a:srgbClr val="0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b="1">
                <a:solidFill>
                  <a:srgbClr val="990033"/>
                </a:solidFill>
                <a:latin typeface="Times New Roman" panose="02020603050405020304" pitchFamily="18" charset="0"/>
              </a:rPr>
              <a:t>A</a:t>
            </a:r>
            <a:endParaRPr lang="en-US" altLang="zh-CN" sz="2400">
              <a:latin typeface="Times New Roman" panose="02020603050405020304" pitchFamily="18" charset="0"/>
            </a:endParaRPr>
          </a:p>
        </p:txBody>
      </p:sp>
      <p:sp useBgFill="1">
        <p:nvSpPr>
          <p:cNvPr id="49156" name="Oval 4">
            <a:extLst>
              <a:ext uri="{FF2B5EF4-FFF2-40B4-BE49-F238E27FC236}">
                <a16:creationId xmlns:a16="http://schemas.microsoft.com/office/drawing/2014/main" id="{8D54C16E-AD6D-4AD3-882D-50B1276EADDD}"/>
              </a:ext>
            </a:extLst>
          </p:cNvPr>
          <p:cNvSpPr>
            <a:spLocks noChangeArrowheads="1"/>
          </p:cNvSpPr>
          <p:nvPr/>
        </p:nvSpPr>
        <p:spPr bwMode="auto">
          <a:xfrm>
            <a:off x="3201144" y="2092771"/>
            <a:ext cx="533400" cy="506413"/>
          </a:xfrm>
          <a:prstGeom prst="ellipse">
            <a:avLst/>
          </a:prstGeom>
          <a:ln w="38100" cap="sq">
            <a:solidFill>
              <a:srgbClr val="0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b="1">
                <a:solidFill>
                  <a:srgbClr val="990033"/>
                </a:solidFill>
                <a:latin typeface="Times New Roman" panose="02020603050405020304" pitchFamily="18" charset="0"/>
              </a:rPr>
              <a:t>B</a:t>
            </a:r>
            <a:endParaRPr lang="en-US" altLang="zh-CN" sz="2400">
              <a:latin typeface="Times New Roman" panose="02020603050405020304" pitchFamily="18" charset="0"/>
            </a:endParaRPr>
          </a:p>
        </p:txBody>
      </p:sp>
      <p:sp useBgFill="1">
        <p:nvSpPr>
          <p:cNvPr id="49157" name="Oval 5">
            <a:extLst>
              <a:ext uri="{FF2B5EF4-FFF2-40B4-BE49-F238E27FC236}">
                <a16:creationId xmlns:a16="http://schemas.microsoft.com/office/drawing/2014/main" id="{0536BEF5-723C-43B3-9EE5-D094130D60D6}"/>
              </a:ext>
            </a:extLst>
          </p:cNvPr>
          <p:cNvSpPr>
            <a:spLocks noChangeArrowheads="1"/>
          </p:cNvSpPr>
          <p:nvPr/>
        </p:nvSpPr>
        <p:spPr bwMode="auto">
          <a:xfrm>
            <a:off x="4039344" y="2823021"/>
            <a:ext cx="485775" cy="461963"/>
          </a:xfrm>
          <a:prstGeom prst="ellipse">
            <a:avLst/>
          </a:prstGeom>
          <a:ln w="38100" cap="sq">
            <a:solidFill>
              <a:srgbClr val="0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b="1">
                <a:solidFill>
                  <a:srgbClr val="990033"/>
                </a:solidFill>
                <a:latin typeface="Times New Roman" panose="02020603050405020304" pitchFamily="18" charset="0"/>
              </a:rPr>
              <a:t>C</a:t>
            </a:r>
            <a:endParaRPr lang="en-US" altLang="zh-CN" sz="2400">
              <a:latin typeface="Times New Roman" panose="02020603050405020304" pitchFamily="18" charset="0"/>
            </a:endParaRPr>
          </a:p>
        </p:txBody>
      </p:sp>
      <p:sp useBgFill="1">
        <p:nvSpPr>
          <p:cNvPr id="49158" name="Oval 6">
            <a:extLst>
              <a:ext uri="{FF2B5EF4-FFF2-40B4-BE49-F238E27FC236}">
                <a16:creationId xmlns:a16="http://schemas.microsoft.com/office/drawing/2014/main" id="{0435DD22-169A-4781-B112-2103A562CE74}"/>
              </a:ext>
            </a:extLst>
          </p:cNvPr>
          <p:cNvSpPr>
            <a:spLocks noChangeArrowheads="1"/>
          </p:cNvSpPr>
          <p:nvPr/>
        </p:nvSpPr>
        <p:spPr bwMode="auto">
          <a:xfrm>
            <a:off x="5334744" y="2092771"/>
            <a:ext cx="533400" cy="506413"/>
          </a:xfrm>
          <a:prstGeom prst="ellipse">
            <a:avLst/>
          </a:prstGeom>
          <a:ln w="38100" cap="sq">
            <a:solidFill>
              <a:srgbClr val="0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b="1">
                <a:solidFill>
                  <a:srgbClr val="990033"/>
                </a:solidFill>
                <a:latin typeface="Times New Roman" panose="02020603050405020304" pitchFamily="18" charset="0"/>
              </a:rPr>
              <a:t>D</a:t>
            </a:r>
            <a:endParaRPr lang="en-US" altLang="zh-CN" sz="2400">
              <a:latin typeface="Times New Roman" panose="02020603050405020304" pitchFamily="18" charset="0"/>
            </a:endParaRPr>
          </a:p>
        </p:txBody>
      </p:sp>
      <p:sp>
        <p:nvSpPr>
          <p:cNvPr id="49160" name="Line 8">
            <a:extLst>
              <a:ext uri="{FF2B5EF4-FFF2-40B4-BE49-F238E27FC236}">
                <a16:creationId xmlns:a16="http://schemas.microsoft.com/office/drawing/2014/main" id="{97E19AA0-0B50-4372-A632-1A2551C37A4B}"/>
              </a:ext>
            </a:extLst>
          </p:cNvPr>
          <p:cNvSpPr>
            <a:spLocks noChangeShapeType="1"/>
          </p:cNvSpPr>
          <p:nvPr/>
        </p:nvSpPr>
        <p:spPr bwMode="auto">
          <a:xfrm flipH="1">
            <a:off x="3429744" y="1532384"/>
            <a:ext cx="838200" cy="533400"/>
          </a:xfrm>
          <a:prstGeom prst="line">
            <a:avLst/>
          </a:prstGeom>
          <a:noFill/>
          <a:ln w="38100" cap="sq">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161" name="Line 9">
            <a:extLst>
              <a:ext uri="{FF2B5EF4-FFF2-40B4-BE49-F238E27FC236}">
                <a16:creationId xmlns:a16="http://schemas.microsoft.com/office/drawing/2014/main" id="{070C4E6F-340D-45A8-A2B1-4E6B2F508DD1}"/>
              </a:ext>
            </a:extLst>
          </p:cNvPr>
          <p:cNvSpPr>
            <a:spLocks noChangeShapeType="1"/>
          </p:cNvSpPr>
          <p:nvPr/>
        </p:nvSpPr>
        <p:spPr bwMode="auto">
          <a:xfrm>
            <a:off x="4725144" y="1532384"/>
            <a:ext cx="838200" cy="528637"/>
          </a:xfrm>
          <a:prstGeom prst="line">
            <a:avLst/>
          </a:prstGeom>
          <a:noFill/>
          <a:ln w="38100" cap="sq">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162" name="Line 10">
            <a:extLst>
              <a:ext uri="{FF2B5EF4-FFF2-40B4-BE49-F238E27FC236}">
                <a16:creationId xmlns:a16="http://schemas.microsoft.com/office/drawing/2014/main" id="{02F4F683-4D5D-4BFB-952D-686326416BFB}"/>
              </a:ext>
            </a:extLst>
          </p:cNvPr>
          <p:cNvSpPr>
            <a:spLocks noChangeShapeType="1"/>
          </p:cNvSpPr>
          <p:nvPr/>
        </p:nvSpPr>
        <p:spPr bwMode="auto">
          <a:xfrm>
            <a:off x="3734544" y="2370584"/>
            <a:ext cx="533400" cy="452437"/>
          </a:xfrm>
          <a:prstGeom prst="line">
            <a:avLst/>
          </a:prstGeom>
          <a:noFill/>
          <a:ln w="38100" cap="sq">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163" name="Text Box 11">
            <a:extLst>
              <a:ext uri="{FF2B5EF4-FFF2-40B4-BE49-F238E27FC236}">
                <a16:creationId xmlns:a16="http://schemas.microsoft.com/office/drawing/2014/main" id="{930B3B7A-B061-407D-BA30-EF1BC866D854}"/>
              </a:ext>
            </a:extLst>
          </p:cNvPr>
          <p:cNvSpPr txBox="1">
            <a:spLocks noChangeArrowheads="1"/>
          </p:cNvSpPr>
          <p:nvPr/>
        </p:nvSpPr>
        <p:spPr bwMode="auto">
          <a:xfrm>
            <a:off x="827088" y="4508500"/>
            <a:ext cx="479425" cy="54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en-US" altLang="zh-CN" sz="2800" i="0" dirty="0">
                <a:solidFill>
                  <a:srgbClr val="FF0000"/>
                </a:solidFill>
                <a:latin typeface="+mn-ea"/>
                <a:ea typeface="+mn-ea"/>
              </a:rPr>
              <a:t>A</a:t>
            </a:r>
          </a:p>
        </p:txBody>
      </p:sp>
      <p:sp>
        <p:nvSpPr>
          <p:cNvPr id="49178" name="Text Box 26">
            <a:extLst>
              <a:ext uri="{FF2B5EF4-FFF2-40B4-BE49-F238E27FC236}">
                <a16:creationId xmlns:a16="http://schemas.microsoft.com/office/drawing/2014/main" id="{215AB26E-061B-46FB-864E-08A7B91F2E48}"/>
              </a:ext>
            </a:extLst>
          </p:cNvPr>
          <p:cNvSpPr txBox="1">
            <a:spLocks noChangeArrowheads="1"/>
          </p:cNvSpPr>
          <p:nvPr/>
        </p:nvSpPr>
        <p:spPr bwMode="auto">
          <a:xfrm>
            <a:off x="762000" y="3654425"/>
            <a:ext cx="7842250" cy="54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zh-CN" altLang="en-US" sz="2800" i="0" dirty="0">
                <a:solidFill>
                  <a:srgbClr val="CC6600"/>
                </a:solidFill>
                <a:latin typeface="黑体" panose="02010609060101010101" pitchFamily="49" charset="-122"/>
                <a:ea typeface="黑体" panose="02010609060101010101" pitchFamily="49" charset="-122"/>
              </a:rPr>
              <a:t>以下列字符串表示二叉树的创建过程：</a:t>
            </a:r>
          </a:p>
        </p:txBody>
      </p:sp>
      <p:sp>
        <p:nvSpPr>
          <p:cNvPr id="37" name="Text Box 11">
            <a:extLst>
              <a:ext uri="{FF2B5EF4-FFF2-40B4-BE49-F238E27FC236}">
                <a16:creationId xmlns:a16="http://schemas.microsoft.com/office/drawing/2014/main" id="{1FD66292-714F-4E26-B3ED-6268ECE5889B}"/>
              </a:ext>
            </a:extLst>
          </p:cNvPr>
          <p:cNvSpPr txBox="1">
            <a:spLocks noChangeArrowheads="1"/>
          </p:cNvSpPr>
          <p:nvPr/>
        </p:nvSpPr>
        <p:spPr bwMode="auto">
          <a:xfrm>
            <a:off x="1187624" y="4506913"/>
            <a:ext cx="1008286" cy="5598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en-US" altLang="zh-CN" sz="2800" i="0" dirty="0">
                <a:solidFill>
                  <a:srgbClr val="FF0000"/>
                </a:solidFill>
                <a:latin typeface="Times New Roman" panose="02020603050405020304" pitchFamily="18" charset="0"/>
              </a:rPr>
              <a:t>(B</a:t>
            </a:r>
          </a:p>
        </p:txBody>
      </p:sp>
      <p:sp>
        <p:nvSpPr>
          <p:cNvPr id="21" name="思想气泡: 云 20">
            <a:extLst>
              <a:ext uri="{FF2B5EF4-FFF2-40B4-BE49-F238E27FC236}">
                <a16:creationId xmlns:a16="http://schemas.microsoft.com/office/drawing/2014/main" id="{1464BF8D-A0C4-44BB-B34B-5D3F97A73948}"/>
              </a:ext>
            </a:extLst>
          </p:cNvPr>
          <p:cNvSpPr/>
          <p:nvPr/>
        </p:nvSpPr>
        <p:spPr bwMode="auto">
          <a:xfrm>
            <a:off x="2039331" y="3466366"/>
            <a:ext cx="4457225" cy="796469"/>
          </a:xfrm>
          <a:prstGeom prst="cloudCallout">
            <a:avLst>
              <a:gd name="adj1" fmla="val -62587"/>
              <a:gd name="adj2" fmla="val 98758"/>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r>
              <a:rPr kumimoji="0" lang="zh-CN" altLang="en-US" sz="2800" b="1" i="0" u="none" strike="noStrike" cap="none" normalizeH="0" baseline="0" dirty="0">
                <a:ln>
                  <a:noFill/>
                </a:ln>
                <a:solidFill>
                  <a:schemeClr val="tx1"/>
                </a:solidFill>
                <a:effectLst/>
                <a:latin typeface="Times New Roman" pitchFamily="18" charset="0"/>
                <a:ea typeface="宋体" pitchFamily="2" charset="-122"/>
              </a:rPr>
              <a:t>创建</a:t>
            </a:r>
            <a:r>
              <a:rPr kumimoji="0" lang="en-US" altLang="zh-CN" sz="2800" b="1" i="0" u="none" strike="noStrike" cap="none" normalizeH="0" baseline="0" dirty="0">
                <a:ln>
                  <a:noFill/>
                </a:ln>
                <a:solidFill>
                  <a:schemeClr val="tx1"/>
                </a:solidFill>
                <a:effectLst/>
                <a:latin typeface="Times New Roman" pitchFamily="18" charset="0"/>
                <a:ea typeface="宋体" pitchFamily="2" charset="-122"/>
              </a:rPr>
              <a:t>AL</a:t>
            </a:r>
            <a:r>
              <a:rPr kumimoji="0" lang="zh-CN" altLang="en-US" sz="2800" b="1" i="0" u="none" strike="noStrike" cap="none" normalizeH="0" baseline="0" dirty="0">
                <a:ln>
                  <a:noFill/>
                </a:ln>
                <a:solidFill>
                  <a:schemeClr val="tx1"/>
                </a:solidFill>
                <a:effectLst/>
                <a:latin typeface="Times New Roman" pitchFamily="18" charset="0"/>
                <a:ea typeface="宋体" pitchFamily="2" charset="-122"/>
              </a:rPr>
              <a:t>的根结点</a:t>
            </a:r>
          </a:p>
        </p:txBody>
      </p:sp>
      <p:sp>
        <p:nvSpPr>
          <p:cNvPr id="22" name="Text Box 11">
            <a:extLst>
              <a:ext uri="{FF2B5EF4-FFF2-40B4-BE49-F238E27FC236}">
                <a16:creationId xmlns:a16="http://schemas.microsoft.com/office/drawing/2014/main" id="{225C5240-8991-46D5-BA17-B00981673303}"/>
              </a:ext>
            </a:extLst>
          </p:cNvPr>
          <p:cNvSpPr txBox="1">
            <a:spLocks noChangeArrowheads="1"/>
          </p:cNvSpPr>
          <p:nvPr/>
        </p:nvSpPr>
        <p:spPr bwMode="auto">
          <a:xfrm>
            <a:off x="1619672" y="4509120"/>
            <a:ext cx="1882080" cy="5598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en-US" altLang="zh-CN" sz="2800" i="0" dirty="0">
                <a:solidFill>
                  <a:srgbClr val="FF0000"/>
                </a:solidFill>
                <a:latin typeface="Times New Roman" panose="02020603050405020304" pitchFamily="18" charset="0"/>
              </a:rPr>
              <a:t>(</a:t>
            </a:r>
            <a:r>
              <a:rPr lang="zh-CN" altLang="en-US" sz="2800" i="0" dirty="0">
                <a:solidFill>
                  <a:srgbClr val="FF0000"/>
                </a:solidFill>
                <a:latin typeface="Times New Roman" panose="02020603050405020304" pitchFamily="18" charset="0"/>
              </a:rPr>
              <a:t>创建</a:t>
            </a:r>
            <a:r>
              <a:rPr lang="en-US" altLang="zh-CN" sz="2800" i="0" dirty="0">
                <a:solidFill>
                  <a:srgbClr val="FF0000"/>
                </a:solidFill>
                <a:latin typeface="Times New Roman" panose="02020603050405020304" pitchFamily="18" charset="0"/>
              </a:rPr>
              <a:t>BL)</a:t>
            </a:r>
          </a:p>
        </p:txBody>
      </p:sp>
      <p:sp>
        <p:nvSpPr>
          <p:cNvPr id="23" name="Text Box 11">
            <a:extLst>
              <a:ext uri="{FF2B5EF4-FFF2-40B4-BE49-F238E27FC236}">
                <a16:creationId xmlns:a16="http://schemas.microsoft.com/office/drawing/2014/main" id="{2F6AD6E1-CE64-4FFC-AD19-31581C12C773}"/>
              </a:ext>
            </a:extLst>
          </p:cNvPr>
          <p:cNvSpPr txBox="1">
            <a:spLocks noChangeArrowheads="1"/>
          </p:cNvSpPr>
          <p:nvPr/>
        </p:nvSpPr>
        <p:spPr bwMode="auto">
          <a:xfrm>
            <a:off x="3115791" y="4509120"/>
            <a:ext cx="1882080" cy="5598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en-US" altLang="zh-CN" sz="2800" i="0" dirty="0">
                <a:solidFill>
                  <a:srgbClr val="FF0000"/>
                </a:solidFill>
                <a:latin typeface="Times New Roman" panose="02020603050405020304" pitchFamily="18" charset="0"/>
              </a:rPr>
              <a:t>(</a:t>
            </a:r>
            <a:r>
              <a:rPr lang="zh-CN" altLang="en-US" sz="2800" i="0" dirty="0">
                <a:solidFill>
                  <a:srgbClr val="FF0000"/>
                </a:solidFill>
                <a:latin typeface="Times New Roman" panose="02020603050405020304" pitchFamily="18" charset="0"/>
              </a:rPr>
              <a:t>创建</a:t>
            </a:r>
            <a:r>
              <a:rPr lang="en-US" altLang="zh-CN" sz="2800" i="0" dirty="0">
                <a:solidFill>
                  <a:srgbClr val="FF0000"/>
                </a:solidFill>
                <a:latin typeface="Times New Roman" panose="02020603050405020304" pitchFamily="18" charset="0"/>
              </a:rPr>
              <a:t>BR))</a:t>
            </a:r>
          </a:p>
        </p:txBody>
      </p:sp>
      <p:sp>
        <p:nvSpPr>
          <p:cNvPr id="24" name="Text Box 11">
            <a:extLst>
              <a:ext uri="{FF2B5EF4-FFF2-40B4-BE49-F238E27FC236}">
                <a16:creationId xmlns:a16="http://schemas.microsoft.com/office/drawing/2014/main" id="{D8053F8F-025D-42D8-B1E4-6C0737BFA28E}"/>
              </a:ext>
            </a:extLst>
          </p:cNvPr>
          <p:cNvSpPr txBox="1">
            <a:spLocks noChangeArrowheads="1"/>
          </p:cNvSpPr>
          <p:nvPr/>
        </p:nvSpPr>
        <p:spPr bwMode="auto">
          <a:xfrm>
            <a:off x="4813329" y="4514784"/>
            <a:ext cx="3584967" cy="5598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en-US" altLang="zh-CN" sz="2800" i="0" dirty="0">
                <a:solidFill>
                  <a:srgbClr val="FF0000"/>
                </a:solidFill>
                <a:latin typeface="Times New Roman" panose="02020603050405020304" pitchFamily="18" charset="0"/>
              </a:rPr>
              <a:t>(</a:t>
            </a:r>
            <a:r>
              <a:rPr lang="zh-CN" altLang="en-US" sz="2800" i="0" dirty="0">
                <a:solidFill>
                  <a:srgbClr val="FF0000"/>
                </a:solidFill>
                <a:latin typeface="Times New Roman" panose="02020603050405020304" pitchFamily="18" charset="0"/>
              </a:rPr>
              <a:t>创建</a:t>
            </a:r>
            <a:r>
              <a:rPr lang="en-US" altLang="zh-CN" sz="2800" i="0" dirty="0">
                <a:solidFill>
                  <a:srgbClr val="FF0000"/>
                </a:solidFill>
                <a:latin typeface="Times New Roman" panose="02020603050405020304" pitchFamily="18" charset="0"/>
              </a:rPr>
              <a:t>A </a:t>
            </a:r>
            <a:r>
              <a:rPr lang="zh-CN" altLang="en-US" sz="2800" i="0" dirty="0">
                <a:solidFill>
                  <a:srgbClr val="FF0000"/>
                </a:solidFill>
                <a:latin typeface="Times New Roman" panose="02020603050405020304" pitchFamily="18" charset="0"/>
              </a:rPr>
              <a:t>的右子树</a:t>
            </a:r>
            <a:r>
              <a:rPr lang="en-US" altLang="zh-CN" sz="2800" i="0" dirty="0">
                <a:solidFill>
                  <a:srgbClr val="FF0000"/>
                </a:solidFill>
                <a:latin typeface="Times New Roman" panose="02020603050405020304" pitchFamily="18" charset="0"/>
              </a:rPr>
              <a:t>AR)</a:t>
            </a:r>
          </a:p>
        </p:txBody>
      </p:sp>
    </p:spTree>
  </p:cSld>
  <p:clrMapOvr>
    <a:masterClrMapping/>
  </p:clrMapOvr>
  <p:transition spd="med">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16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7" presetClass="entr" presetSubtype="8" fill="hold" grpId="0" nodeType="clickEffect">
                                  <p:stCondLst>
                                    <p:cond delay="0"/>
                                  </p:stCondLst>
                                  <p:childTnLst>
                                    <p:set>
                                      <p:cBhvr>
                                        <p:cTn id="10" dur="1" fill="hold">
                                          <p:stCondLst>
                                            <p:cond delay="0"/>
                                          </p:stCondLst>
                                        </p:cTn>
                                        <p:tgtEl>
                                          <p:spTgt spid="24"/>
                                        </p:tgtEl>
                                        <p:attrNameLst>
                                          <p:attrName>style.visibility</p:attrName>
                                        </p:attrNameLst>
                                      </p:cBhvr>
                                      <p:to>
                                        <p:strVal val="visible"/>
                                      </p:to>
                                    </p:set>
                                    <p:anim calcmode="lin" valueType="num">
                                      <p:cBhvr>
                                        <p:cTn id="11" dur="500" fill="hold"/>
                                        <p:tgtEl>
                                          <p:spTgt spid="24"/>
                                        </p:tgtEl>
                                        <p:attrNameLst>
                                          <p:attrName>ppt_x</p:attrName>
                                        </p:attrNameLst>
                                      </p:cBhvr>
                                      <p:tavLst>
                                        <p:tav tm="0">
                                          <p:val>
                                            <p:strVal val="#ppt_x-#ppt_w/2"/>
                                          </p:val>
                                        </p:tav>
                                        <p:tav tm="100000">
                                          <p:val>
                                            <p:strVal val="#ppt_x"/>
                                          </p:val>
                                        </p:tav>
                                      </p:tavLst>
                                    </p:anim>
                                    <p:anim calcmode="lin" valueType="num">
                                      <p:cBhvr>
                                        <p:cTn id="12" dur="500" fill="hold"/>
                                        <p:tgtEl>
                                          <p:spTgt spid="24"/>
                                        </p:tgtEl>
                                        <p:attrNameLst>
                                          <p:attrName>ppt_y</p:attrName>
                                        </p:attrNameLst>
                                      </p:cBhvr>
                                      <p:tavLst>
                                        <p:tav tm="0">
                                          <p:val>
                                            <p:strVal val="#ppt_y"/>
                                          </p:val>
                                        </p:tav>
                                        <p:tav tm="100000">
                                          <p:val>
                                            <p:strVal val="#ppt_y"/>
                                          </p:val>
                                        </p:tav>
                                      </p:tavLst>
                                    </p:anim>
                                    <p:anim calcmode="lin" valueType="num">
                                      <p:cBhvr>
                                        <p:cTn id="13" dur="500" fill="hold"/>
                                        <p:tgtEl>
                                          <p:spTgt spid="24"/>
                                        </p:tgtEl>
                                        <p:attrNameLst>
                                          <p:attrName>ppt_w</p:attrName>
                                        </p:attrNameLst>
                                      </p:cBhvr>
                                      <p:tavLst>
                                        <p:tav tm="0">
                                          <p:val>
                                            <p:fltVal val="0"/>
                                          </p:val>
                                        </p:tav>
                                        <p:tav tm="100000">
                                          <p:val>
                                            <p:strVal val="#ppt_w"/>
                                          </p:val>
                                        </p:tav>
                                      </p:tavLst>
                                    </p:anim>
                                    <p:anim calcmode="lin" valueType="num">
                                      <p:cBhvr>
                                        <p:cTn id="14" dur="500" fill="hold"/>
                                        <p:tgtEl>
                                          <p:spTgt spid="24"/>
                                        </p:tgtEl>
                                        <p:attrNameLst>
                                          <p:attrName>ppt_h</p:attrName>
                                        </p:attrNameLst>
                                      </p:cBhvr>
                                      <p:tavLst>
                                        <p:tav tm="0">
                                          <p:val>
                                            <p:strVal val="#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7" presetClass="entr" presetSubtype="8" fill="hold" grpId="0" nodeType="withEffect">
                                  <p:stCondLst>
                                    <p:cond delay="0"/>
                                  </p:stCondLst>
                                  <p:childTnLst>
                                    <p:set>
                                      <p:cBhvr>
                                        <p:cTn id="20" dur="1" fill="hold">
                                          <p:stCondLst>
                                            <p:cond delay="0"/>
                                          </p:stCondLst>
                                        </p:cTn>
                                        <p:tgtEl>
                                          <p:spTgt spid="37"/>
                                        </p:tgtEl>
                                        <p:attrNameLst>
                                          <p:attrName>style.visibility</p:attrName>
                                        </p:attrNameLst>
                                      </p:cBhvr>
                                      <p:to>
                                        <p:strVal val="visible"/>
                                      </p:to>
                                    </p:set>
                                    <p:anim calcmode="lin" valueType="num">
                                      <p:cBhvr>
                                        <p:cTn id="21" dur="500" fill="hold"/>
                                        <p:tgtEl>
                                          <p:spTgt spid="37"/>
                                        </p:tgtEl>
                                        <p:attrNameLst>
                                          <p:attrName>ppt_x</p:attrName>
                                        </p:attrNameLst>
                                      </p:cBhvr>
                                      <p:tavLst>
                                        <p:tav tm="0">
                                          <p:val>
                                            <p:strVal val="#ppt_x-#ppt_w/2"/>
                                          </p:val>
                                        </p:tav>
                                        <p:tav tm="100000">
                                          <p:val>
                                            <p:strVal val="#ppt_x"/>
                                          </p:val>
                                        </p:tav>
                                      </p:tavLst>
                                    </p:anim>
                                    <p:anim calcmode="lin" valueType="num">
                                      <p:cBhvr>
                                        <p:cTn id="22" dur="500" fill="hold"/>
                                        <p:tgtEl>
                                          <p:spTgt spid="37"/>
                                        </p:tgtEl>
                                        <p:attrNameLst>
                                          <p:attrName>ppt_y</p:attrName>
                                        </p:attrNameLst>
                                      </p:cBhvr>
                                      <p:tavLst>
                                        <p:tav tm="0">
                                          <p:val>
                                            <p:strVal val="#ppt_y"/>
                                          </p:val>
                                        </p:tav>
                                        <p:tav tm="100000">
                                          <p:val>
                                            <p:strVal val="#ppt_y"/>
                                          </p:val>
                                        </p:tav>
                                      </p:tavLst>
                                    </p:anim>
                                    <p:anim calcmode="lin" valueType="num">
                                      <p:cBhvr>
                                        <p:cTn id="23" dur="500" fill="hold"/>
                                        <p:tgtEl>
                                          <p:spTgt spid="37"/>
                                        </p:tgtEl>
                                        <p:attrNameLst>
                                          <p:attrName>ppt_w</p:attrName>
                                        </p:attrNameLst>
                                      </p:cBhvr>
                                      <p:tavLst>
                                        <p:tav tm="0">
                                          <p:val>
                                            <p:fltVal val="0"/>
                                          </p:val>
                                        </p:tav>
                                        <p:tav tm="100000">
                                          <p:val>
                                            <p:strVal val="#ppt_w"/>
                                          </p:val>
                                        </p:tav>
                                      </p:tavLst>
                                    </p:anim>
                                    <p:anim calcmode="lin" valueType="num">
                                      <p:cBhvr>
                                        <p:cTn id="24" dur="500" fill="hold"/>
                                        <p:tgtEl>
                                          <p:spTgt spid="37"/>
                                        </p:tgtEl>
                                        <p:attrNameLst>
                                          <p:attrName>ppt_h</p:attrName>
                                        </p:attrNameLst>
                                      </p:cBhvr>
                                      <p:tavLst>
                                        <p:tav tm="0">
                                          <p:val>
                                            <p:strVal val="#ppt_h"/>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ID="17" presetClass="entr" presetSubtype="8" fill="hold" grpId="0" nodeType="clickEffect">
                                  <p:stCondLst>
                                    <p:cond delay="0"/>
                                  </p:stCondLst>
                                  <p:childTnLst>
                                    <p:set>
                                      <p:cBhvr>
                                        <p:cTn id="28" dur="1" fill="hold">
                                          <p:stCondLst>
                                            <p:cond delay="0"/>
                                          </p:stCondLst>
                                        </p:cTn>
                                        <p:tgtEl>
                                          <p:spTgt spid="22"/>
                                        </p:tgtEl>
                                        <p:attrNameLst>
                                          <p:attrName>style.visibility</p:attrName>
                                        </p:attrNameLst>
                                      </p:cBhvr>
                                      <p:to>
                                        <p:strVal val="visible"/>
                                      </p:to>
                                    </p:set>
                                    <p:anim calcmode="lin" valueType="num">
                                      <p:cBhvr>
                                        <p:cTn id="29" dur="500" fill="hold"/>
                                        <p:tgtEl>
                                          <p:spTgt spid="22"/>
                                        </p:tgtEl>
                                        <p:attrNameLst>
                                          <p:attrName>ppt_x</p:attrName>
                                        </p:attrNameLst>
                                      </p:cBhvr>
                                      <p:tavLst>
                                        <p:tav tm="0">
                                          <p:val>
                                            <p:strVal val="#ppt_x-#ppt_w/2"/>
                                          </p:val>
                                        </p:tav>
                                        <p:tav tm="100000">
                                          <p:val>
                                            <p:strVal val="#ppt_x"/>
                                          </p:val>
                                        </p:tav>
                                      </p:tavLst>
                                    </p:anim>
                                    <p:anim calcmode="lin" valueType="num">
                                      <p:cBhvr>
                                        <p:cTn id="30" dur="500" fill="hold"/>
                                        <p:tgtEl>
                                          <p:spTgt spid="22"/>
                                        </p:tgtEl>
                                        <p:attrNameLst>
                                          <p:attrName>ppt_y</p:attrName>
                                        </p:attrNameLst>
                                      </p:cBhvr>
                                      <p:tavLst>
                                        <p:tav tm="0">
                                          <p:val>
                                            <p:strVal val="#ppt_y"/>
                                          </p:val>
                                        </p:tav>
                                        <p:tav tm="100000">
                                          <p:val>
                                            <p:strVal val="#ppt_y"/>
                                          </p:val>
                                        </p:tav>
                                      </p:tavLst>
                                    </p:anim>
                                    <p:anim calcmode="lin" valueType="num">
                                      <p:cBhvr>
                                        <p:cTn id="31" dur="500" fill="hold"/>
                                        <p:tgtEl>
                                          <p:spTgt spid="22"/>
                                        </p:tgtEl>
                                        <p:attrNameLst>
                                          <p:attrName>ppt_w</p:attrName>
                                        </p:attrNameLst>
                                      </p:cBhvr>
                                      <p:tavLst>
                                        <p:tav tm="0">
                                          <p:val>
                                            <p:fltVal val="0"/>
                                          </p:val>
                                        </p:tav>
                                        <p:tav tm="100000">
                                          <p:val>
                                            <p:strVal val="#ppt_w"/>
                                          </p:val>
                                        </p:tav>
                                      </p:tavLst>
                                    </p:anim>
                                    <p:anim calcmode="lin" valueType="num">
                                      <p:cBhvr>
                                        <p:cTn id="32" dur="500" fill="hold"/>
                                        <p:tgtEl>
                                          <p:spTgt spid="22"/>
                                        </p:tgtEl>
                                        <p:attrNameLst>
                                          <p:attrName>ppt_h</p:attrName>
                                        </p:attrNameLst>
                                      </p:cBhvr>
                                      <p:tavLst>
                                        <p:tav tm="0">
                                          <p:val>
                                            <p:strVal val="#ppt_h"/>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17" presetClass="entr" presetSubtype="8" fill="hold" grpId="0" nodeType="clickEffect">
                                  <p:stCondLst>
                                    <p:cond delay="0"/>
                                  </p:stCondLst>
                                  <p:childTnLst>
                                    <p:set>
                                      <p:cBhvr>
                                        <p:cTn id="36" dur="1" fill="hold">
                                          <p:stCondLst>
                                            <p:cond delay="0"/>
                                          </p:stCondLst>
                                        </p:cTn>
                                        <p:tgtEl>
                                          <p:spTgt spid="23"/>
                                        </p:tgtEl>
                                        <p:attrNameLst>
                                          <p:attrName>style.visibility</p:attrName>
                                        </p:attrNameLst>
                                      </p:cBhvr>
                                      <p:to>
                                        <p:strVal val="visible"/>
                                      </p:to>
                                    </p:set>
                                    <p:anim calcmode="lin" valueType="num">
                                      <p:cBhvr>
                                        <p:cTn id="37" dur="500" fill="hold"/>
                                        <p:tgtEl>
                                          <p:spTgt spid="23"/>
                                        </p:tgtEl>
                                        <p:attrNameLst>
                                          <p:attrName>ppt_x</p:attrName>
                                        </p:attrNameLst>
                                      </p:cBhvr>
                                      <p:tavLst>
                                        <p:tav tm="0">
                                          <p:val>
                                            <p:strVal val="#ppt_x-#ppt_w/2"/>
                                          </p:val>
                                        </p:tav>
                                        <p:tav tm="100000">
                                          <p:val>
                                            <p:strVal val="#ppt_x"/>
                                          </p:val>
                                        </p:tav>
                                      </p:tavLst>
                                    </p:anim>
                                    <p:anim calcmode="lin" valueType="num">
                                      <p:cBhvr>
                                        <p:cTn id="38" dur="500" fill="hold"/>
                                        <p:tgtEl>
                                          <p:spTgt spid="23"/>
                                        </p:tgtEl>
                                        <p:attrNameLst>
                                          <p:attrName>ppt_y</p:attrName>
                                        </p:attrNameLst>
                                      </p:cBhvr>
                                      <p:tavLst>
                                        <p:tav tm="0">
                                          <p:val>
                                            <p:strVal val="#ppt_y"/>
                                          </p:val>
                                        </p:tav>
                                        <p:tav tm="100000">
                                          <p:val>
                                            <p:strVal val="#ppt_y"/>
                                          </p:val>
                                        </p:tav>
                                      </p:tavLst>
                                    </p:anim>
                                    <p:anim calcmode="lin" valueType="num">
                                      <p:cBhvr>
                                        <p:cTn id="39" dur="500" fill="hold"/>
                                        <p:tgtEl>
                                          <p:spTgt spid="23"/>
                                        </p:tgtEl>
                                        <p:attrNameLst>
                                          <p:attrName>ppt_w</p:attrName>
                                        </p:attrNameLst>
                                      </p:cBhvr>
                                      <p:tavLst>
                                        <p:tav tm="0">
                                          <p:val>
                                            <p:fltVal val="0"/>
                                          </p:val>
                                        </p:tav>
                                        <p:tav tm="100000">
                                          <p:val>
                                            <p:strVal val="#ppt_w"/>
                                          </p:val>
                                        </p:tav>
                                      </p:tavLst>
                                    </p:anim>
                                    <p:anim calcmode="lin" valueType="num">
                                      <p:cBhvr>
                                        <p:cTn id="40" dur="500" fill="hold"/>
                                        <p:tgtEl>
                                          <p:spTgt spid="2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63" grpId="0"/>
      <p:bldP spid="37" grpId="0" autoUpdateAnimBg="0"/>
      <p:bldP spid="21" grpId="0" animBg="1"/>
      <p:bldP spid="22" grpId="0" autoUpdateAnimBg="0"/>
      <p:bldP spid="23" grpId="0" autoUpdateAnimBg="0"/>
      <p:bldP spid="24" grpId="0"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49155" name="Oval 3">
            <a:extLst>
              <a:ext uri="{FF2B5EF4-FFF2-40B4-BE49-F238E27FC236}">
                <a16:creationId xmlns:a16="http://schemas.microsoft.com/office/drawing/2014/main" id="{0FD0DDED-73C8-4BA7-B7BD-1A5D5F33A213}"/>
              </a:ext>
            </a:extLst>
          </p:cNvPr>
          <p:cNvSpPr>
            <a:spLocks noChangeArrowheads="1"/>
          </p:cNvSpPr>
          <p:nvPr/>
        </p:nvSpPr>
        <p:spPr bwMode="auto">
          <a:xfrm>
            <a:off x="4195936" y="1351756"/>
            <a:ext cx="485775" cy="461963"/>
          </a:xfrm>
          <a:prstGeom prst="ellipse">
            <a:avLst/>
          </a:prstGeom>
          <a:ln w="38100" cap="sq">
            <a:solidFill>
              <a:srgbClr val="0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b="1" i="0">
                <a:solidFill>
                  <a:srgbClr val="990033"/>
                </a:solidFill>
                <a:latin typeface="Times New Roman" panose="02020603050405020304" pitchFamily="18" charset="0"/>
              </a:rPr>
              <a:t>A</a:t>
            </a:r>
            <a:endParaRPr lang="en-US" altLang="zh-CN" sz="2400" i="0">
              <a:latin typeface="Times New Roman" panose="02020603050405020304" pitchFamily="18" charset="0"/>
            </a:endParaRPr>
          </a:p>
        </p:txBody>
      </p:sp>
      <p:sp useBgFill="1">
        <p:nvSpPr>
          <p:cNvPr id="49156" name="Oval 4">
            <a:extLst>
              <a:ext uri="{FF2B5EF4-FFF2-40B4-BE49-F238E27FC236}">
                <a16:creationId xmlns:a16="http://schemas.microsoft.com/office/drawing/2014/main" id="{0BA1D1E4-AC79-404C-A9EB-562FA42F6B26}"/>
              </a:ext>
            </a:extLst>
          </p:cNvPr>
          <p:cNvSpPr>
            <a:spLocks noChangeArrowheads="1"/>
          </p:cNvSpPr>
          <p:nvPr/>
        </p:nvSpPr>
        <p:spPr bwMode="auto">
          <a:xfrm>
            <a:off x="3129136" y="2145506"/>
            <a:ext cx="533400" cy="506413"/>
          </a:xfrm>
          <a:prstGeom prst="ellipse">
            <a:avLst/>
          </a:prstGeom>
          <a:ln w="38100" cap="sq">
            <a:solidFill>
              <a:srgbClr val="0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b="1" i="0">
                <a:solidFill>
                  <a:srgbClr val="990033"/>
                </a:solidFill>
                <a:latin typeface="Times New Roman" panose="02020603050405020304" pitchFamily="18" charset="0"/>
              </a:rPr>
              <a:t>B</a:t>
            </a:r>
            <a:endParaRPr lang="en-US" altLang="zh-CN" sz="2400" i="0">
              <a:latin typeface="Times New Roman" panose="02020603050405020304" pitchFamily="18" charset="0"/>
            </a:endParaRPr>
          </a:p>
        </p:txBody>
      </p:sp>
      <p:sp useBgFill="1">
        <p:nvSpPr>
          <p:cNvPr id="49157" name="Oval 5">
            <a:extLst>
              <a:ext uri="{FF2B5EF4-FFF2-40B4-BE49-F238E27FC236}">
                <a16:creationId xmlns:a16="http://schemas.microsoft.com/office/drawing/2014/main" id="{35EDCB0F-3296-4BD7-A7CC-46F5D69584D6}"/>
              </a:ext>
            </a:extLst>
          </p:cNvPr>
          <p:cNvSpPr>
            <a:spLocks noChangeArrowheads="1"/>
          </p:cNvSpPr>
          <p:nvPr/>
        </p:nvSpPr>
        <p:spPr bwMode="auto">
          <a:xfrm>
            <a:off x="3967336" y="2875756"/>
            <a:ext cx="485775" cy="461963"/>
          </a:xfrm>
          <a:prstGeom prst="ellipse">
            <a:avLst/>
          </a:prstGeom>
          <a:ln w="38100" cap="sq">
            <a:solidFill>
              <a:srgbClr val="0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b="1" i="0">
                <a:solidFill>
                  <a:srgbClr val="990033"/>
                </a:solidFill>
                <a:latin typeface="Times New Roman" panose="02020603050405020304" pitchFamily="18" charset="0"/>
              </a:rPr>
              <a:t>C</a:t>
            </a:r>
            <a:endParaRPr lang="en-US" altLang="zh-CN" sz="2400" i="0">
              <a:latin typeface="Times New Roman" panose="02020603050405020304" pitchFamily="18" charset="0"/>
            </a:endParaRPr>
          </a:p>
        </p:txBody>
      </p:sp>
      <p:sp useBgFill="1">
        <p:nvSpPr>
          <p:cNvPr id="49158" name="Oval 6">
            <a:extLst>
              <a:ext uri="{FF2B5EF4-FFF2-40B4-BE49-F238E27FC236}">
                <a16:creationId xmlns:a16="http://schemas.microsoft.com/office/drawing/2014/main" id="{7DC50077-4D03-4AD2-BA97-847EF482CDC7}"/>
              </a:ext>
            </a:extLst>
          </p:cNvPr>
          <p:cNvSpPr>
            <a:spLocks noChangeArrowheads="1"/>
          </p:cNvSpPr>
          <p:nvPr/>
        </p:nvSpPr>
        <p:spPr bwMode="auto">
          <a:xfrm>
            <a:off x="5262736" y="2145506"/>
            <a:ext cx="533400" cy="506413"/>
          </a:xfrm>
          <a:prstGeom prst="ellipse">
            <a:avLst/>
          </a:prstGeom>
          <a:ln w="38100" cap="sq">
            <a:solidFill>
              <a:srgbClr val="0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b="1" i="0">
                <a:solidFill>
                  <a:srgbClr val="990033"/>
                </a:solidFill>
                <a:latin typeface="Times New Roman" panose="02020603050405020304" pitchFamily="18" charset="0"/>
              </a:rPr>
              <a:t>D</a:t>
            </a:r>
            <a:endParaRPr lang="en-US" altLang="zh-CN" sz="2400" i="0">
              <a:latin typeface="Times New Roman" panose="02020603050405020304" pitchFamily="18" charset="0"/>
            </a:endParaRPr>
          </a:p>
        </p:txBody>
      </p:sp>
      <p:sp>
        <p:nvSpPr>
          <p:cNvPr id="49160" name="Line 8">
            <a:extLst>
              <a:ext uri="{FF2B5EF4-FFF2-40B4-BE49-F238E27FC236}">
                <a16:creationId xmlns:a16="http://schemas.microsoft.com/office/drawing/2014/main" id="{308F9699-12E8-47D0-B50E-1215952B7F46}"/>
              </a:ext>
            </a:extLst>
          </p:cNvPr>
          <p:cNvSpPr>
            <a:spLocks noChangeShapeType="1"/>
          </p:cNvSpPr>
          <p:nvPr/>
        </p:nvSpPr>
        <p:spPr bwMode="auto">
          <a:xfrm flipH="1">
            <a:off x="3357736" y="1676400"/>
            <a:ext cx="838200" cy="533400"/>
          </a:xfrm>
          <a:prstGeom prst="line">
            <a:avLst/>
          </a:prstGeom>
          <a:noFill/>
          <a:ln w="38100" cap="sq">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161" name="Line 9">
            <a:extLst>
              <a:ext uri="{FF2B5EF4-FFF2-40B4-BE49-F238E27FC236}">
                <a16:creationId xmlns:a16="http://schemas.microsoft.com/office/drawing/2014/main" id="{CD3515A2-D291-4379-8E47-60C2E3B9A5CF}"/>
              </a:ext>
            </a:extLst>
          </p:cNvPr>
          <p:cNvSpPr>
            <a:spLocks noChangeShapeType="1"/>
          </p:cNvSpPr>
          <p:nvPr/>
        </p:nvSpPr>
        <p:spPr bwMode="auto">
          <a:xfrm>
            <a:off x="4653136" y="1676400"/>
            <a:ext cx="838200" cy="528637"/>
          </a:xfrm>
          <a:prstGeom prst="line">
            <a:avLst/>
          </a:prstGeom>
          <a:noFill/>
          <a:ln w="38100" cap="sq">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162" name="Line 10">
            <a:extLst>
              <a:ext uri="{FF2B5EF4-FFF2-40B4-BE49-F238E27FC236}">
                <a16:creationId xmlns:a16="http://schemas.microsoft.com/office/drawing/2014/main" id="{09FFE5D3-5365-40E9-B07B-E74BEEA6C2CE}"/>
              </a:ext>
            </a:extLst>
          </p:cNvPr>
          <p:cNvSpPr>
            <a:spLocks noChangeShapeType="1"/>
          </p:cNvSpPr>
          <p:nvPr/>
        </p:nvSpPr>
        <p:spPr bwMode="auto">
          <a:xfrm>
            <a:off x="3662536" y="2514600"/>
            <a:ext cx="533400" cy="452437"/>
          </a:xfrm>
          <a:prstGeom prst="line">
            <a:avLst/>
          </a:prstGeom>
          <a:noFill/>
          <a:ln w="38100" cap="sq">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163" name="Text Box 11">
            <a:extLst>
              <a:ext uri="{FF2B5EF4-FFF2-40B4-BE49-F238E27FC236}">
                <a16:creationId xmlns:a16="http://schemas.microsoft.com/office/drawing/2014/main" id="{05E5E929-85EC-47F3-986E-31D8BE9C5FE0}"/>
              </a:ext>
            </a:extLst>
          </p:cNvPr>
          <p:cNvSpPr txBox="1">
            <a:spLocks noChangeArrowheads="1"/>
          </p:cNvSpPr>
          <p:nvPr/>
        </p:nvSpPr>
        <p:spPr bwMode="auto">
          <a:xfrm>
            <a:off x="827088" y="4508500"/>
            <a:ext cx="479425" cy="6317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en-US" altLang="zh-CN" i="0" dirty="0">
                <a:solidFill>
                  <a:srgbClr val="FF0000"/>
                </a:solidFill>
                <a:latin typeface="Times New Roman" panose="02020603050405020304" pitchFamily="18" charset="0"/>
              </a:rPr>
              <a:t>A</a:t>
            </a:r>
          </a:p>
        </p:txBody>
      </p:sp>
      <p:sp>
        <p:nvSpPr>
          <p:cNvPr id="49178" name="Text Box 26">
            <a:extLst>
              <a:ext uri="{FF2B5EF4-FFF2-40B4-BE49-F238E27FC236}">
                <a16:creationId xmlns:a16="http://schemas.microsoft.com/office/drawing/2014/main" id="{2EE20B56-116B-4671-830F-773B6F55F889}"/>
              </a:ext>
            </a:extLst>
          </p:cNvPr>
          <p:cNvSpPr txBox="1">
            <a:spLocks noChangeArrowheads="1"/>
          </p:cNvSpPr>
          <p:nvPr/>
        </p:nvSpPr>
        <p:spPr bwMode="auto">
          <a:xfrm>
            <a:off x="762000" y="3654425"/>
            <a:ext cx="7842250" cy="54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zh-CN" altLang="en-US" sz="2800" b="0" i="0" dirty="0">
                <a:solidFill>
                  <a:srgbClr val="CC6600"/>
                </a:solidFill>
                <a:latin typeface="黑体" panose="02010609060101010101" pitchFamily="49" charset="-122"/>
                <a:ea typeface="黑体" panose="02010609060101010101" pitchFamily="49" charset="-122"/>
              </a:rPr>
              <a:t>以下列字符串表示二叉树的创建过程：</a:t>
            </a:r>
          </a:p>
        </p:txBody>
      </p:sp>
      <p:sp>
        <p:nvSpPr>
          <p:cNvPr id="37" name="Text Box 11">
            <a:extLst>
              <a:ext uri="{FF2B5EF4-FFF2-40B4-BE49-F238E27FC236}">
                <a16:creationId xmlns:a16="http://schemas.microsoft.com/office/drawing/2014/main" id="{6CD99FAF-21E9-40C1-BB98-C9DDF9B0E056}"/>
              </a:ext>
            </a:extLst>
          </p:cNvPr>
          <p:cNvSpPr txBox="1">
            <a:spLocks noChangeArrowheads="1"/>
          </p:cNvSpPr>
          <p:nvPr/>
        </p:nvSpPr>
        <p:spPr bwMode="auto">
          <a:xfrm>
            <a:off x="971600" y="4509120"/>
            <a:ext cx="1173137" cy="626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zh-CN" altLang="en-US" i="0" dirty="0">
                <a:solidFill>
                  <a:srgbClr val="FF0000"/>
                </a:solidFill>
                <a:latin typeface="Times New Roman" panose="02020603050405020304" pitchFamily="18" charset="0"/>
              </a:rPr>
              <a:t> </a:t>
            </a:r>
            <a:r>
              <a:rPr lang="zh-CN" altLang="en-US" i="0" dirty="0">
                <a:solidFill>
                  <a:srgbClr val="C00000"/>
                </a:solidFill>
                <a:latin typeface="Times New Roman" panose="02020603050405020304" pitchFamily="18" charset="0"/>
              </a:rPr>
              <a:t>  </a:t>
            </a:r>
            <a:r>
              <a:rPr lang="en-US" altLang="zh-CN" i="0" dirty="0">
                <a:solidFill>
                  <a:srgbClr val="FF0000"/>
                </a:solidFill>
                <a:latin typeface="Times New Roman" panose="02020603050405020304" pitchFamily="18" charset="0"/>
              </a:rPr>
              <a:t>B</a:t>
            </a:r>
            <a:r>
              <a:rPr lang="en-US" altLang="zh-CN" i="0" dirty="0">
                <a:solidFill>
                  <a:srgbClr val="C00000"/>
                </a:solidFill>
                <a:latin typeface="Times New Roman" panose="02020603050405020304" pitchFamily="18" charset="0"/>
              </a:rPr>
              <a:t> </a:t>
            </a:r>
          </a:p>
        </p:txBody>
      </p:sp>
      <p:sp>
        <p:nvSpPr>
          <p:cNvPr id="38" name="Text Box 11">
            <a:extLst>
              <a:ext uri="{FF2B5EF4-FFF2-40B4-BE49-F238E27FC236}">
                <a16:creationId xmlns:a16="http://schemas.microsoft.com/office/drawing/2014/main" id="{173E0A1B-5D8A-430E-8D65-D3641305C7CE}"/>
              </a:ext>
            </a:extLst>
          </p:cNvPr>
          <p:cNvSpPr txBox="1">
            <a:spLocks noChangeArrowheads="1"/>
          </p:cNvSpPr>
          <p:nvPr/>
        </p:nvSpPr>
        <p:spPr bwMode="auto">
          <a:xfrm>
            <a:off x="4969173" y="4509120"/>
            <a:ext cx="1042987" cy="6317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en-US" altLang="zh-CN" i="0" dirty="0">
                <a:solidFill>
                  <a:srgbClr val="FF0000"/>
                </a:solidFill>
                <a:latin typeface="Times New Roman" panose="02020603050405020304" pitchFamily="18" charset="0"/>
              </a:rPr>
              <a:t>(AR)</a:t>
            </a:r>
          </a:p>
        </p:txBody>
      </p:sp>
      <p:sp>
        <p:nvSpPr>
          <p:cNvPr id="27" name="Text Box 11">
            <a:extLst>
              <a:ext uri="{FF2B5EF4-FFF2-40B4-BE49-F238E27FC236}">
                <a16:creationId xmlns:a16="http://schemas.microsoft.com/office/drawing/2014/main" id="{2E34F9AA-72A2-476E-B16E-6B0AE1261FA1}"/>
              </a:ext>
            </a:extLst>
          </p:cNvPr>
          <p:cNvSpPr txBox="1">
            <a:spLocks noChangeArrowheads="1"/>
          </p:cNvSpPr>
          <p:nvPr/>
        </p:nvSpPr>
        <p:spPr bwMode="auto">
          <a:xfrm>
            <a:off x="1823244" y="4525481"/>
            <a:ext cx="444500" cy="6317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en-US" altLang="zh-CN" i="0" dirty="0">
                <a:solidFill>
                  <a:srgbClr val="FF0000"/>
                </a:solidFill>
                <a:latin typeface="Times New Roman" panose="02020603050405020304" pitchFamily="18" charset="0"/>
              </a:rPr>
              <a:t>#</a:t>
            </a:r>
          </a:p>
        </p:txBody>
      </p:sp>
      <p:sp>
        <p:nvSpPr>
          <p:cNvPr id="31" name="Text Box 11">
            <a:extLst>
              <a:ext uri="{FF2B5EF4-FFF2-40B4-BE49-F238E27FC236}">
                <a16:creationId xmlns:a16="http://schemas.microsoft.com/office/drawing/2014/main" id="{133848FE-C4EA-4D92-B41B-89CCE4A59367}"/>
              </a:ext>
            </a:extLst>
          </p:cNvPr>
          <p:cNvSpPr txBox="1">
            <a:spLocks noChangeArrowheads="1"/>
          </p:cNvSpPr>
          <p:nvPr/>
        </p:nvSpPr>
        <p:spPr bwMode="auto">
          <a:xfrm>
            <a:off x="2627784" y="4511871"/>
            <a:ext cx="1298627" cy="626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zh-CN" altLang="en-US" i="0" dirty="0">
                <a:latin typeface="Times New Roman" panose="02020603050405020304" pitchFamily="18" charset="0"/>
              </a:rPr>
              <a:t>  </a:t>
            </a:r>
            <a:r>
              <a:rPr lang="en-US" altLang="zh-CN" i="0" dirty="0">
                <a:solidFill>
                  <a:srgbClr val="FF0000"/>
                </a:solidFill>
                <a:latin typeface="Times New Roman" panose="02020603050405020304" pitchFamily="18" charset="0"/>
              </a:rPr>
              <a:t>(CL)</a:t>
            </a:r>
          </a:p>
        </p:txBody>
      </p:sp>
      <p:cxnSp>
        <p:nvCxnSpPr>
          <p:cNvPr id="5" name="直接连接符 4">
            <a:extLst>
              <a:ext uri="{FF2B5EF4-FFF2-40B4-BE49-F238E27FC236}">
                <a16:creationId xmlns:a16="http://schemas.microsoft.com/office/drawing/2014/main" id="{D2171ED7-82A9-497C-BCDC-A31CCE67FED5}"/>
              </a:ext>
            </a:extLst>
          </p:cNvPr>
          <p:cNvCxnSpPr>
            <a:cxnSpLocks noChangeShapeType="1"/>
          </p:cNvCxnSpPr>
          <p:nvPr/>
        </p:nvCxnSpPr>
        <p:spPr bwMode="auto">
          <a:xfrm flipH="1">
            <a:off x="2527474" y="2530475"/>
            <a:ext cx="565150" cy="476250"/>
          </a:xfrm>
          <a:prstGeom prst="line">
            <a:avLst/>
          </a:prstGeom>
          <a:noFill/>
          <a:ln w="25400" algn="ctr">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 name="文本框 5">
            <a:extLst>
              <a:ext uri="{FF2B5EF4-FFF2-40B4-BE49-F238E27FC236}">
                <a16:creationId xmlns:a16="http://schemas.microsoft.com/office/drawing/2014/main" id="{2931F4B2-5A4F-4125-986C-64A398311060}"/>
              </a:ext>
            </a:extLst>
          </p:cNvPr>
          <p:cNvSpPr txBox="1">
            <a:spLocks noChangeArrowheads="1"/>
          </p:cNvSpPr>
          <p:nvPr/>
        </p:nvSpPr>
        <p:spPr bwMode="auto">
          <a:xfrm>
            <a:off x="2305224" y="2967037"/>
            <a:ext cx="5762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en-US" altLang="zh-CN" sz="2400" i="0">
                <a:solidFill>
                  <a:srgbClr val="FF0000"/>
                </a:solidFill>
              </a:rPr>
              <a:t>#</a:t>
            </a:r>
            <a:endParaRPr lang="zh-CN" altLang="en-US" sz="2400" i="0">
              <a:solidFill>
                <a:srgbClr val="FF0000"/>
              </a:solidFill>
            </a:endParaRPr>
          </a:p>
        </p:txBody>
      </p:sp>
      <p:sp>
        <p:nvSpPr>
          <p:cNvPr id="25" name="Text Box 11">
            <a:extLst>
              <a:ext uri="{FF2B5EF4-FFF2-40B4-BE49-F238E27FC236}">
                <a16:creationId xmlns:a16="http://schemas.microsoft.com/office/drawing/2014/main" id="{D9B0C2F7-5713-4CB0-8CE6-AD16504726E1}"/>
              </a:ext>
            </a:extLst>
          </p:cNvPr>
          <p:cNvSpPr txBox="1">
            <a:spLocks noChangeArrowheads="1"/>
          </p:cNvSpPr>
          <p:nvPr/>
        </p:nvSpPr>
        <p:spPr bwMode="auto">
          <a:xfrm>
            <a:off x="2419325" y="4508500"/>
            <a:ext cx="444500" cy="6317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en-US" altLang="zh-CN" i="0" dirty="0">
                <a:solidFill>
                  <a:srgbClr val="FF0000"/>
                </a:solidFill>
                <a:latin typeface="Times New Roman" panose="02020603050405020304" pitchFamily="18" charset="0"/>
              </a:rPr>
              <a:t>C</a:t>
            </a:r>
          </a:p>
        </p:txBody>
      </p:sp>
      <p:sp>
        <p:nvSpPr>
          <p:cNvPr id="26" name="Text Box 11">
            <a:extLst>
              <a:ext uri="{FF2B5EF4-FFF2-40B4-BE49-F238E27FC236}">
                <a16:creationId xmlns:a16="http://schemas.microsoft.com/office/drawing/2014/main" id="{78FCE86F-1C88-4F7C-8A1D-715283D2DA36}"/>
              </a:ext>
            </a:extLst>
          </p:cNvPr>
          <p:cNvSpPr txBox="1">
            <a:spLocks noChangeArrowheads="1"/>
          </p:cNvSpPr>
          <p:nvPr/>
        </p:nvSpPr>
        <p:spPr bwMode="auto">
          <a:xfrm>
            <a:off x="3921446" y="4509120"/>
            <a:ext cx="1298626" cy="6317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en-US" altLang="zh-CN" i="0" dirty="0">
                <a:solidFill>
                  <a:srgbClr val="FF0000"/>
                </a:solidFill>
                <a:latin typeface="Times New Roman" panose="02020603050405020304" pitchFamily="18" charset="0"/>
              </a:rPr>
              <a:t>(CR)</a:t>
            </a:r>
          </a:p>
        </p:txBody>
      </p:sp>
      <p:sp>
        <p:nvSpPr>
          <p:cNvPr id="2" name="Text Box 2">
            <a:extLst>
              <a:ext uri="{FF2B5EF4-FFF2-40B4-BE49-F238E27FC236}">
                <a16:creationId xmlns:a16="http://schemas.microsoft.com/office/drawing/2014/main" id="{F8839486-6C16-424F-8A84-17179CCBD5F8}"/>
              </a:ext>
            </a:extLst>
          </p:cNvPr>
          <p:cNvSpPr txBox="1">
            <a:spLocks noChangeArrowheads="1"/>
          </p:cNvSpPr>
          <p:nvPr/>
        </p:nvSpPr>
        <p:spPr bwMode="auto">
          <a:xfrm>
            <a:off x="323528" y="211287"/>
            <a:ext cx="828675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3600" b="1" dirty="0">
                <a:latin typeface="Times New Roman" panose="02020603050405020304" pitchFamily="18" charset="0"/>
                <a:ea typeface="隶书" panose="02010509060101010101" pitchFamily="49" charset="-122"/>
              </a:rPr>
              <a:t>    </a:t>
            </a:r>
            <a:r>
              <a:rPr lang="zh-CN" altLang="en-US" sz="4400" i="0" dirty="0">
                <a:solidFill>
                  <a:schemeClr val="tx2"/>
                </a:solidFill>
                <a:ea typeface="隶书" pitchFamily="49" charset="-122"/>
              </a:rPr>
              <a:t>先序序列创建二叉树</a:t>
            </a:r>
          </a:p>
        </p:txBody>
      </p:sp>
      <p:sp>
        <p:nvSpPr>
          <p:cNvPr id="32" name="思想气泡: 云 31">
            <a:extLst>
              <a:ext uri="{FF2B5EF4-FFF2-40B4-BE49-F238E27FC236}">
                <a16:creationId xmlns:a16="http://schemas.microsoft.com/office/drawing/2014/main" id="{EF772096-3AF7-4ACB-8AF8-7427225B154B}"/>
              </a:ext>
            </a:extLst>
          </p:cNvPr>
          <p:cNvSpPr/>
          <p:nvPr/>
        </p:nvSpPr>
        <p:spPr bwMode="auto">
          <a:xfrm>
            <a:off x="2265335" y="5472891"/>
            <a:ext cx="3226001" cy="1452384"/>
          </a:xfrm>
          <a:prstGeom prst="cloudCallout">
            <a:avLst>
              <a:gd name="adj1" fmla="val -51176"/>
              <a:gd name="adj2" fmla="val -61695"/>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r>
              <a:rPr lang="zh-CN" altLang="en-US" sz="2800" i="0" dirty="0"/>
              <a:t>补齐</a:t>
            </a:r>
            <a:r>
              <a:rPr lang="en-US" altLang="zh-CN" sz="2800" i="0" dirty="0"/>
              <a:t>B</a:t>
            </a:r>
            <a:r>
              <a:rPr lang="zh-CN" altLang="en-US" sz="2800" i="0" dirty="0"/>
              <a:t>的左子树，空树</a:t>
            </a:r>
            <a:endParaRPr kumimoji="0" lang="zh-CN" altLang="en-US" sz="2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3" name="文本框 2">
            <a:extLst>
              <a:ext uri="{FF2B5EF4-FFF2-40B4-BE49-F238E27FC236}">
                <a16:creationId xmlns:a16="http://schemas.microsoft.com/office/drawing/2014/main" id="{1C44034B-601E-4AC5-96F5-8BBC21F89DE4}"/>
              </a:ext>
            </a:extLst>
          </p:cNvPr>
          <p:cNvSpPr txBox="1"/>
          <p:nvPr/>
        </p:nvSpPr>
        <p:spPr>
          <a:xfrm>
            <a:off x="6228184" y="5733256"/>
            <a:ext cx="2232248" cy="523220"/>
          </a:xfrm>
          <a:prstGeom prst="rect">
            <a:avLst/>
          </a:prstGeom>
          <a:noFill/>
        </p:spPr>
        <p:txBody>
          <a:bodyPr wrap="square" rtlCol="0">
            <a:spAutoFit/>
          </a:bodyPr>
          <a:lstStyle/>
          <a:p>
            <a:r>
              <a:rPr lang="zh-CN" altLang="en-US" sz="2800" i="0" dirty="0">
                <a:solidFill>
                  <a:srgbClr val="FF0000"/>
                </a:solidFill>
              </a:rPr>
              <a:t>用</a:t>
            </a:r>
            <a:r>
              <a:rPr lang="en-US" altLang="zh-CN" sz="2800" i="0" dirty="0">
                <a:solidFill>
                  <a:srgbClr val="FF0000"/>
                </a:solidFill>
              </a:rPr>
              <a:t>#</a:t>
            </a:r>
            <a:r>
              <a:rPr lang="zh-CN" altLang="en-US" sz="2800" i="0" dirty="0">
                <a:solidFill>
                  <a:srgbClr val="FF0000"/>
                </a:solidFill>
              </a:rPr>
              <a:t>表示空树</a:t>
            </a:r>
          </a:p>
        </p:txBody>
      </p:sp>
    </p:spTree>
  </p:cSld>
  <p:clrMapOvr>
    <a:masterClrMapping/>
  </p:clrMapOvr>
  <p:transition spd="med">
    <p:pull dir="d"/>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7" presetClass="entr" presetSubtype="8" fill="hold" grpId="0" nodeType="afterEffect">
                                  <p:stCondLst>
                                    <p:cond delay="0"/>
                                  </p:stCondLst>
                                  <p:childTnLst>
                                    <p:set>
                                      <p:cBhvr>
                                        <p:cTn id="6" dur="1" fill="hold">
                                          <p:stCondLst>
                                            <p:cond delay="0"/>
                                          </p:stCondLst>
                                        </p:cTn>
                                        <p:tgtEl>
                                          <p:spTgt spid="49163"/>
                                        </p:tgtEl>
                                        <p:attrNameLst>
                                          <p:attrName>style.visibility</p:attrName>
                                        </p:attrNameLst>
                                      </p:cBhvr>
                                      <p:to>
                                        <p:strVal val="visible"/>
                                      </p:to>
                                    </p:set>
                                    <p:anim calcmode="lin" valueType="num">
                                      <p:cBhvr>
                                        <p:cTn id="7" dur="500" fill="hold"/>
                                        <p:tgtEl>
                                          <p:spTgt spid="49163"/>
                                        </p:tgtEl>
                                        <p:attrNameLst>
                                          <p:attrName>ppt_x</p:attrName>
                                        </p:attrNameLst>
                                      </p:cBhvr>
                                      <p:tavLst>
                                        <p:tav tm="0">
                                          <p:val>
                                            <p:strVal val="#ppt_x-#ppt_w/2"/>
                                          </p:val>
                                        </p:tav>
                                        <p:tav tm="100000">
                                          <p:val>
                                            <p:strVal val="#ppt_x"/>
                                          </p:val>
                                        </p:tav>
                                      </p:tavLst>
                                    </p:anim>
                                    <p:anim calcmode="lin" valueType="num">
                                      <p:cBhvr>
                                        <p:cTn id="8" dur="500" fill="hold"/>
                                        <p:tgtEl>
                                          <p:spTgt spid="49163"/>
                                        </p:tgtEl>
                                        <p:attrNameLst>
                                          <p:attrName>ppt_y</p:attrName>
                                        </p:attrNameLst>
                                      </p:cBhvr>
                                      <p:tavLst>
                                        <p:tav tm="0">
                                          <p:val>
                                            <p:strVal val="#ppt_y"/>
                                          </p:val>
                                        </p:tav>
                                        <p:tav tm="100000">
                                          <p:val>
                                            <p:strVal val="#ppt_y"/>
                                          </p:val>
                                        </p:tav>
                                      </p:tavLst>
                                    </p:anim>
                                    <p:anim calcmode="lin" valueType="num">
                                      <p:cBhvr>
                                        <p:cTn id="9" dur="500" fill="hold"/>
                                        <p:tgtEl>
                                          <p:spTgt spid="49163"/>
                                        </p:tgtEl>
                                        <p:attrNameLst>
                                          <p:attrName>ppt_w</p:attrName>
                                        </p:attrNameLst>
                                      </p:cBhvr>
                                      <p:tavLst>
                                        <p:tav tm="0">
                                          <p:val>
                                            <p:fltVal val="0"/>
                                          </p:val>
                                        </p:tav>
                                        <p:tav tm="100000">
                                          <p:val>
                                            <p:strVal val="#ppt_w"/>
                                          </p:val>
                                        </p:tav>
                                      </p:tavLst>
                                    </p:anim>
                                    <p:anim calcmode="lin" valueType="num">
                                      <p:cBhvr>
                                        <p:cTn id="10" dur="500" fill="hold"/>
                                        <p:tgtEl>
                                          <p:spTgt spid="49163"/>
                                        </p:tgtEl>
                                        <p:attrNameLst>
                                          <p:attrName>ppt_h</p:attrName>
                                        </p:attrNameLst>
                                      </p:cBhvr>
                                      <p:tavLst>
                                        <p:tav tm="0">
                                          <p:val>
                                            <p:strVal val="#ppt_h"/>
                                          </p:val>
                                        </p:tav>
                                        <p:tav tm="100000">
                                          <p:val>
                                            <p:strVal val="#ppt_h"/>
                                          </p:val>
                                        </p:tav>
                                      </p:tavLst>
                                    </p:anim>
                                  </p:childTnLst>
                                </p:cTn>
                              </p:par>
                            </p:childTnLst>
                          </p:cTn>
                        </p:par>
                        <p:par>
                          <p:cTn id="11" fill="hold" nodeType="afterGroup">
                            <p:stCondLst>
                              <p:cond delay="500"/>
                            </p:stCondLst>
                            <p:childTnLst>
                              <p:par>
                                <p:cTn id="12" presetID="17" presetClass="entr" presetSubtype="8" fill="hold" grpId="0" nodeType="afterEffect">
                                  <p:stCondLst>
                                    <p:cond delay="0"/>
                                  </p:stCondLst>
                                  <p:childTnLst>
                                    <p:set>
                                      <p:cBhvr>
                                        <p:cTn id="13" dur="1" fill="hold">
                                          <p:stCondLst>
                                            <p:cond delay="0"/>
                                          </p:stCondLst>
                                        </p:cTn>
                                        <p:tgtEl>
                                          <p:spTgt spid="38"/>
                                        </p:tgtEl>
                                        <p:attrNameLst>
                                          <p:attrName>style.visibility</p:attrName>
                                        </p:attrNameLst>
                                      </p:cBhvr>
                                      <p:to>
                                        <p:strVal val="visible"/>
                                      </p:to>
                                    </p:set>
                                    <p:anim calcmode="lin" valueType="num">
                                      <p:cBhvr>
                                        <p:cTn id="14" dur="500" fill="hold"/>
                                        <p:tgtEl>
                                          <p:spTgt spid="38"/>
                                        </p:tgtEl>
                                        <p:attrNameLst>
                                          <p:attrName>ppt_x</p:attrName>
                                        </p:attrNameLst>
                                      </p:cBhvr>
                                      <p:tavLst>
                                        <p:tav tm="0">
                                          <p:val>
                                            <p:strVal val="#ppt_x-#ppt_w/2"/>
                                          </p:val>
                                        </p:tav>
                                        <p:tav tm="100000">
                                          <p:val>
                                            <p:strVal val="#ppt_x"/>
                                          </p:val>
                                        </p:tav>
                                      </p:tavLst>
                                    </p:anim>
                                    <p:anim calcmode="lin" valueType="num">
                                      <p:cBhvr>
                                        <p:cTn id="15" dur="500" fill="hold"/>
                                        <p:tgtEl>
                                          <p:spTgt spid="38"/>
                                        </p:tgtEl>
                                        <p:attrNameLst>
                                          <p:attrName>ppt_y</p:attrName>
                                        </p:attrNameLst>
                                      </p:cBhvr>
                                      <p:tavLst>
                                        <p:tav tm="0">
                                          <p:val>
                                            <p:strVal val="#ppt_y"/>
                                          </p:val>
                                        </p:tav>
                                        <p:tav tm="100000">
                                          <p:val>
                                            <p:strVal val="#ppt_y"/>
                                          </p:val>
                                        </p:tav>
                                      </p:tavLst>
                                    </p:anim>
                                    <p:anim calcmode="lin" valueType="num">
                                      <p:cBhvr>
                                        <p:cTn id="16" dur="500" fill="hold"/>
                                        <p:tgtEl>
                                          <p:spTgt spid="38"/>
                                        </p:tgtEl>
                                        <p:attrNameLst>
                                          <p:attrName>ppt_w</p:attrName>
                                        </p:attrNameLst>
                                      </p:cBhvr>
                                      <p:tavLst>
                                        <p:tav tm="0">
                                          <p:val>
                                            <p:fltVal val="0"/>
                                          </p:val>
                                        </p:tav>
                                        <p:tav tm="100000">
                                          <p:val>
                                            <p:strVal val="#ppt_w"/>
                                          </p:val>
                                        </p:tav>
                                      </p:tavLst>
                                    </p:anim>
                                    <p:anim calcmode="lin" valueType="num">
                                      <p:cBhvr>
                                        <p:cTn id="17" dur="500" fill="hold"/>
                                        <p:tgtEl>
                                          <p:spTgt spid="38"/>
                                        </p:tgtEl>
                                        <p:attrNameLst>
                                          <p:attrName>ppt_h</p:attrName>
                                        </p:attrNameLst>
                                      </p:cBhvr>
                                      <p:tavLst>
                                        <p:tav tm="0">
                                          <p:val>
                                            <p:strVal val="#ppt_h"/>
                                          </p:val>
                                        </p:tav>
                                        <p:tav tm="100000">
                                          <p:val>
                                            <p:strVal val="#ppt_h"/>
                                          </p:val>
                                        </p:tav>
                                      </p:tavLst>
                                    </p:anim>
                                  </p:childTnLst>
                                </p:cTn>
                              </p:par>
                              <p:par>
                                <p:cTn id="18" presetID="17" presetClass="entr" presetSubtype="8" fill="hold" grpId="0" nodeType="withEffect">
                                  <p:stCondLst>
                                    <p:cond delay="0"/>
                                  </p:stCondLst>
                                  <p:childTnLst>
                                    <p:set>
                                      <p:cBhvr>
                                        <p:cTn id="19" dur="1" fill="hold">
                                          <p:stCondLst>
                                            <p:cond delay="0"/>
                                          </p:stCondLst>
                                        </p:cTn>
                                        <p:tgtEl>
                                          <p:spTgt spid="37"/>
                                        </p:tgtEl>
                                        <p:attrNameLst>
                                          <p:attrName>style.visibility</p:attrName>
                                        </p:attrNameLst>
                                      </p:cBhvr>
                                      <p:to>
                                        <p:strVal val="visible"/>
                                      </p:to>
                                    </p:set>
                                    <p:anim calcmode="lin" valueType="num">
                                      <p:cBhvr>
                                        <p:cTn id="20" dur="500" fill="hold"/>
                                        <p:tgtEl>
                                          <p:spTgt spid="37"/>
                                        </p:tgtEl>
                                        <p:attrNameLst>
                                          <p:attrName>ppt_x</p:attrName>
                                        </p:attrNameLst>
                                      </p:cBhvr>
                                      <p:tavLst>
                                        <p:tav tm="0">
                                          <p:val>
                                            <p:strVal val="#ppt_x-#ppt_w/2"/>
                                          </p:val>
                                        </p:tav>
                                        <p:tav tm="100000">
                                          <p:val>
                                            <p:strVal val="#ppt_x"/>
                                          </p:val>
                                        </p:tav>
                                      </p:tavLst>
                                    </p:anim>
                                    <p:anim calcmode="lin" valueType="num">
                                      <p:cBhvr>
                                        <p:cTn id="21" dur="500" fill="hold"/>
                                        <p:tgtEl>
                                          <p:spTgt spid="37"/>
                                        </p:tgtEl>
                                        <p:attrNameLst>
                                          <p:attrName>ppt_y</p:attrName>
                                        </p:attrNameLst>
                                      </p:cBhvr>
                                      <p:tavLst>
                                        <p:tav tm="0">
                                          <p:val>
                                            <p:strVal val="#ppt_y"/>
                                          </p:val>
                                        </p:tav>
                                        <p:tav tm="100000">
                                          <p:val>
                                            <p:strVal val="#ppt_y"/>
                                          </p:val>
                                        </p:tav>
                                      </p:tavLst>
                                    </p:anim>
                                    <p:anim calcmode="lin" valueType="num">
                                      <p:cBhvr>
                                        <p:cTn id="22" dur="500" fill="hold"/>
                                        <p:tgtEl>
                                          <p:spTgt spid="37"/>
                                        </p:tgtEl>
                                        <p:attrNameLst>
                                          <p:attrName>ppt_w</p:attrName>
                                        </p:attrNameLst>
                                      </p:cBhvr>
                                      <p:tavLst>
                                        <p:tav tm="0">
                                          <p:val>
                                            <p:fltVal val="0"/>
                                          </p:val>
                                        </p:tav>
                                        <p:tav tm="100000">
                                          <p:val>
                                            <p:strVal val="#ppt_w"/>
                                          </p:val>
                                        </p:tav>
                                      </p:tavLst>
                                    </p:anim>
                                    <p:anim calcmode="lin" valueType="num">
                                      <p:cBhvr>
                                        <p:cTn id="23" dur="500" fill="hold"/>
                                        <p:tgtEl>
                                          <p:spTgt spid="37"/>
                                        </p:tgtEl>
                                        <p:attrNameLst>
                                          <p:attrName>ppt_h</p:attrName>
                                        </p:attrNameLst>
                                      </p:cBhvr>
                                      <p:tavLst>
                                        <p:tav tm="0">
                                          <p:val>
                                            <p:strVal val="#ppt_h"/>
                                          </p:val>
                                        </p:tav>
                                        <p:tav tm="100000">
                                          <p:val>
                                            <p:strVal val="#ppt_h"/>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nodeType="clickEffect">
                                  <p:stCondLst>
                                    <p:cond delay="0"/>
                                  </p:stCondLst>
                                  <p:childTnLst>
                                    <p:set>
                                      <p:cBhvr>
                                        <p:cTn id="27" dur="1" fill="hold">
                                          <p:stCondLst>
                                            <p:cond delay="0"/>
                                          </p:stCondLst>
                                        </p:cTn>
                                        <p:tgtEl>
                                          <p:spTgt spid="5"/>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32"/>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3"/>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6"/>
                                        </p:tgtEl>
                                        <p:attrNameLst>
                                          <p:attrName>style.visibility</p:attrName>
                                        </p:attrNameLst>
                                      </p:cBhvr>
                                      <p:to>
                                        <p:strVal val="visible"/>
                                      </p:to>
                                    </p:set>
                                  </p:childTnLst>
                                </p:cTn>
                              </p:par>
                            </p:childTnLst>
                          </p:cTn>
                        </p:par>
                        <p:par>
                          <p:cTn id="40" fill="hold" nodeType="afterGroup">
                            <p:stCondLst>
                              <p:cond delay="0"/>
                            </p:stCondLst>
                            <p:childTnLst>
                              <p:par>
                                <p:cTn id="41" presetID="17" presetClass="entr" presetSubtype="8" fill="hold" grpId="0" nodeType="afterEffect">
                                  <p:stCondLst>
                                    <p:cond delay="0"/>
                                  </p:stCondLst>
                                  <p:childTnLst>
                                    <p:set>
                                      <p:cBhvr>
                                        <p:cTn id="42" dur="1" fill="hold">
                                          <p:stCondLst>
                                            <p:cond delay="0"/>
                                          </p:stCondLst>
                                        </p:cTn>
                                        <p:tgtEl>
                                          <p:spTgt spid="27"/>
                                        </p:tgtEl>
                                        <p:attrNameLst>
                                          <p:attrName>style.visibility</p:attrName>
                                        </p:attrNameLst>
                                      </p:cBhvr>
                                      <p:to>
                                        <p:strVal val="visible"/>
                                      </p:to>
                                    </p:set>
                                    <p:anim calcmode="lin" valueType="num">
                                      <p:cBhvr>
                                        <p:cTn id="43" dur="500" fill="hold"/>
                                        <p:tgtEl>
                                          <p:spTgt spid="27"/>
                                        </p:tgtEl>
                                        <p:attrNameLst>
                                          <p:attrName>ppt_x</p:attrName>
                                        </p:attrNameLst>
                                      </p:cBhvr>
                                      <p:tavLst>
                                        <p:tav tm="0">
                                          <p:val>
                                            <p:strVal val="#ppt_x-#ppt_w/2"/>
                                          </p:val>
                                        </p:tav>
                                        <p:tav tm="100000">
                                          <p:val>
                                            <p:strVal val="#ppt_x"/>
                                          </p:val>
                                        </p:tav>
                                      </p:tavLst>
                                    </p:anim>
                                    <p:anim calcmode="lin" valueType="num">
                                      <p:cBhvr>
                                        <p:cTn id="44" dur="500" fill="hold"/>
                                        <p:tgtEl>
                                          <p:spTgt spid="27"/>
                                        </p:tgtEl>
                                        <p:attrNameLst>
                                          <p:attrName>ppt_y</p:attrName>
                                        </p:attrNameLst>
                                      </p:cBhvr>
                                      <p:tavLst>
                                        <p:tav tm="0">
                                          <p:val>
                                            <p:strVal val="#ppt_y"/>
                                          </p:val>
                                        </p:tav>
                                        <p:tav tm="100000">
                                          <p:val>
                                            <p:strVal val="#ppt_y"/>
                                          </p:val>
                                        </p:tav>
                                      </p:tavLst>
                                    </p:anim>
                                    <p:anim calcmode="lin" valueType="num">
                                      <p:cBhvr>
                                        <p:cTn id="45" dur="500" fill="hold"/>
                                        <p:tgtEl>
                                          <p:spTgt spid="27"/>
                                        </p:tgtEl>
                                        <p:attrNameLst>
                                          <p:attrName>ppt_w</p:attrName>
                                        </p:attrNameLst>
                                      </p:cBhvr>
                                      <p:tavLst>
                                        <p:tav tm="0">
                                          <p:val>
                                            <p:fltVal val="0"/>
                                          </p:val>
                                        </p:tav>
                                        <p:tav tm="100000">
                                          <p:val>
                                            <p:strVal val="#ppt_w"/>
                                          </p:val>
                                        </p:tav>
                                      </p:tavLst>
                                    </p:anim>
                                    <p:anim calcmode="lin" valueType="num">
                                      <p:cBhvr>
                                        <p:cTn id="46" dur="500" fill="hold"/>
                                        <p:tgtEl>
                                          <p:spTgt spid="27"/>
                                        </p:tgtEl>
                                        <p:attrNameLst>
                                          <p:attrName>ppt_h</p:attrName>
                                        </p:attrNameLst>
                                      </p:cBhvr>
                                      <p:tavLst>
                                        <p:tav tm="0">
                                          <p:val>
                                            <p:strVal val="#ppt_h"/>
                                          </p:val>
                                        </p:tav>
                                        <p:tav tm="100000">
                                          <p:val>
                                            <p:strVal val="#ppt_h"/>
                                          </p:val>
                                        </p:tav>
                                      </p:tavLst>
                                    </p:anim>
                                  </p:childTnLst>
                                </p:cTn>
                              </p:par>
                            </p:childTnLst>
                          </p:cTn>
                        </p:par>
                      </p:childTnLst>
                    </p:cTn>
                  </p:par>
                  <p:par>
                    <p:cTn id="47" fill="hold">
                      <p:stCondLst>
                        <p:cond delay="indefinite"/>
                      </p:stCondLst>
                      <p:childTnLst>
                        <p:par>
                          <p:cTn id="48" fill="hold" nodeType="afterGroup">
                            <p:stCondLst>
                              <p:cond delay="0"/>
                            </p:stCondLst>
                            <p:childTnLst>
                              <p:par>
                                <p:cTn id="49" presetID="17" presetClass="entr" presetSubtype="8" fill="hold" grpId="0" nodeType="clickEffect">
                                  <p:stCondLst>
                                    <p:cond delay="0"/>
                                  </p:stCondLst>
                                  <p:childTnLst>
                                    <p:set>
                                      <p:cBhvr>
                                        <p:cTn id="50" dur="1" fill="hold">
                                          <p:stCondLst>
                                            <p:cond delay="0"/>
                                          </p:stCondLst>
                                        </p:cTn>
                                        <p:tgtEl>
                                          <p:spTgt spid="25"/>
                                        </p:tgtEl>
                                        <p:attrNameLst>
                                          <p:attrName>style.visibility</p:attrName>
                                        </p:attrNameLst>
                                      </p:cBhvr>
                                      <p:to>
                                        <p:strVal val="visible"/>
                                      </p:to>
                                    </p:set>
                                    <p:anim calcmode="lin" valueType="num">
                                      <p:cBhvr>
                                        <p:cTn id="51" dur="500" fill="hold"/>
                                        <p:tgtEl>
                                          <p:spTgt spid="25"/>
                                        </p:tgtEl>
                                        <p:attrNameLst>
                                          <p:attrName>ppt_x</p:attrName>
                                        </p:attrNameLst>
                                      </p:cBhvr>
                                      <p:tavLst>
                                        <p:tav tm="0">
                                          <p:val>
                                            <p:strVal val="#ppt_x-#ppt_w/2"/>
                                          </p:val>
                                        </p:tav>
                                        <p:tav tm="100000">
                                          <p:val>
                                            <p:strVal val="#ppt_x"/>
                                          </p:val>
                                        </p:tav>
                                      </p:tavLst>
                                    </p:anim>
                                    <p:anim calcmode="lin" valueType="num">
                                      <p:cBhvr>
                                        <p:cTn id="52" dur="500" fill="hold"/>
                                        <p:tgtEl>
                                          <p:spTgt spid="25"/>
                                        </p:tgtEl>
                                        <p:attrNameLst>
                                          <p:attrName>ppt_y</p:attrName>
                                        </p:attrNameLst>
                                      </p:cBhvr>
                                      <p:tavLst>
                                        <p:tav tm="0">
                                          <p:val>
                                            <p:strVal val="#ppt_y"/>
                                          </p:val>
                                        </p:tav>
                                        <p:tav tm="100000">
                                          <p:val>
                                            <p:strVal val="#ppt_y"/>
                                          </p:val>
                                        </p:tav>
                                      </p:tavLst>
                                    </p:anim>
                                    <p:anim calcmode="lin" valueType="num">
                                      <p:cBhvr>
                                        <p:cTn id="53" dur="500" fill="hold"/>
                                        <p:tgtEl>
                                          <p:spTgt spid="25"/>
                                        </p:tgtEl>
                                        <p:attrNameLst>
                                          <p:attrName>ppt_w</p:attrName>
                                        </p:attrNameLst>
                                      </p:cBhvr>
                                      <p:tavLst>
                                        <p:tav tm="0">
                                          <p:val>
                                            <p:fltVal val="0"/>
                                          </p:val>
                                        </p:tav>
                                        <p:tav tm="100000">
                                          <p:val>
                                            <p:strVal val="#ppt_w"/>
                                          </p:val>
                                        </p:tav>
                                      </p:tavLst>
                                    </p:anim>
                                    <p:anim calcmode="lin" valueType="num">
                                      <p:cBhvr>
                                        <p:cTn id="54" dur="500" fill="hold"/>
                                        <p:tgtEl>
                                          <p:spTgt spid="25"/>
                                        </p:tgtEl>
                                        <p:attrNameLst>
                                          <p:attrName>ppt_h</p:attrName>
                                        </p:attrNameLst>
                                      </p:cBhvr>
                                      <p:tavLst>
                                        <p:tav tm="0">
                                          <p:val>
                                            <p:strVal val="#ppt_h"/>
                                          </p:val>
                                        </p:tav>
                                        <p:tav tm="100000">
                                          <p:val>
                                            <p:strVal val="#ppt_h"/>
                                          </p:val>
                                        </p:tav>
                                      </p:tavLst>
                                    </p:anim>
                                  </p:childTnLst>
                                </p:cTn>
                              </p:par>
                            </p:childTnLst>
                          </p:cTn>
                        </p:par>
                      </p:childTnLst>
                    </p:cTn>
                  </p:par>
                  <p:par>
                    <p:cTn id="55" fill="hold">
                      <p:stCondLst>
                        <p:cond delay="indefinite"/>
                      </p:stCondLst>
                      <p:childTnLst>
                        <p:par>
                          <p:cTn id="56" fill="hold" nodeType="afterGroup">
                            <p:stCondLst>
                              <p:cond delay="0"/>
                            </p:stCondLst>
                            <p:childTnLst>
                              <p:par>
                                <p:cTn id="57" presetID="17" presetClass="entr" presetSubtype="8" fill="hold" grpId="0" nodeType="clickEffect">
                                  <p:stCondLst>
                                    <p:cond delay="0"/>
                                  </p:stCondLst>
                                  <p:childTnLst>
                                    <p:set>
                                      <p:cBhvr>
                                        <p:cTn id="58" dur="1" fill="hold">
                                          <p:stCondLst>
                                            <p:cond delay="0"/>
                                          </p:stCondLst>
                                        </p:cTn>
                                        <p:tgtEl>
                                          <p:spTgt spid="31"/>
                                        </p:tgtEl>
                                        <p:attrNameLst>
                                          <p:attrName>style.visibility</p:attrName>
                                        </p:attrNameLst>
                                      </p:cBhvr>
                                      <p:to>
                                        <p:strVal val="visible"/>
                                      </p:to>
                                    </p:set>
                                    <p:anim calcmode="lin" valueType="num">
                                      <p:cBhvr>
                                        <p:cTn id="59" dur="500" fill="hold"/>
                                        <p:tgtEl>
                                          <p:spTgt spid="31"/>
                                        </p:tgtEl>
                                        <p:attrNameLst>
                                          <p:attrName>ppt_x</p:attrName>
                                        </p:attrNameLst>
                                      </p:cBhvr>
                                      <p:tavLst>
                                        <p:tav tm="0">
                                          <p:val>
                                            <p:strVal val="#ppt_x-#ppt_w/2"/>
                                          </p:val>
                                        </p:tav>
                                        <p:tav tm="100000">
                                          <p:val>
                                            <p:strVal val="#ppt_x"/>
                                          </p:val>
                                        </p:tav>
                                      </p:tavLst>
                                    </p:anim>
                                    <p:anim calcmode="lin" valueType="num">
                                      <p:cBhvr>
                                        <p:cTn id="60" dur="500" fill="hold"/>
                                        <p:tgtEl>
                                          <p:spTgt spid="31"/>
                                        </p:tgtEl>
                                        <p:attrNameLst>
                                          <p:attrName>ppt_y</p:attrName>
                                        </p:attrNameLst>
                                      </p:cBhvr>
                                      <p:tavLst>
                                        <p:tav tm="0">
                                          <p:val>
                                            <p:strVal val="#ppt_y"/>
                                          </p:val>
                                        </p:tav>
                                        <p:tav tm="100000">
                                          <p:val>
                                            <p:strVal val="#ppt_y"/>
                                          </p:val>
                                        </p:tav>
                                      </p:tavLst>
                                    </p:anim>
                                    <p:anim calcmode="lin" valueType="num">
                                      <p:cBhvr>
                                        <p:cTn id="61" dur="500" fill="hold"/>
                                        <p:tgtEl>
                                          <p:spTgt spid="31"/>
                                        </p:tgtEl>
                                        <p:attrNameLst>
                                          <p:attrName>ppt_w</p:attrName>
                                        </p:attrNameLst>
                                      </p:cBhvr>
                                      <p:tavLst>
                                        <p:tav tm="0">
                                          <p:val>
                                            <p:fltVal val="0"/>
                                          </p:val>
                                        </p:tav>
                                        <p:tav tm="100000">
                                          <p:val>
                                            <p:strVal val="#ppt_w"/>
                                          </p:val>
                                        </p:tav>
                                      </p:tavLst>
                                    </p:anim>
                                    <p:anim calcmode="lin" valueType="num">
                                      <p:cBhvr>
                                        <p:cTn id="62" dur="500" fill="hold"/>
                                        <p:tgtEl>
                                          <p:spTgt spid="31"/>
                                        </p:tgtEl>
                                        <p:attrNameLst>
                                          <p:attrName>ppt_h</p:attrName>
                                        </p:attrNameLst>
                                      </p:cBhvr>
                                      <p:tavLst>
                                        <p:tav tm="0">
                                          <p:val>
                                            <p:strVal val="#ppt_h"/>
                                          </p:val>
                                        </p:tav>
                                        <p:tav tm="100000">
                                          <p:val>
                                            <p:strVal val="#ppt_h"/>
                                          </p:val>
                                        </p:tav>
                                      </p:tavLst>
                                    </p:anim>
                                  </p:childTnLst>
                                </p:cTn>
                              </p:par>
                            </p:childTnLst>
                          </p:cTn>
                        </p:par>
                      </p:childTnLst>
                    </p:cTn>
                  </p:par>
                  <p:par>
                    <p:cTn id="63" fill="hold">
                      <p:stCondLst>
                        <p:cond delay="indefinite"/>
                      </p:stCondLst>
                      <p:childTnLst>
                        <p:par>
                          <p:cTn id="64" fill="hold" nodeType="afterGroup">
                            <p:stCondLst>
                              <p:cond delay="0"/>
                            </p:stCondLst>
                            <p:childTnLst>
                              <p:par>
                                <p:cTn id="65" presetID="17" presetClass="entr" presetSubtype="8" fill="hold" grpId="0" nodeType="clickEffect">
                                  <p:stCondLst>
                                    <p:cond delay="0"/>
                                  </p:stCondLst>
                                  <p:childTnLst>
                                    <p:set>
                                      <p:cBhvr>
                                        <p:cTn id="66" dur="1" fill="hold">
                                          <p:stCondLst>
                                            <p:cond delay="0"/>
                                          </p:stCondLst>
                                        </p:cTn>
                                        <p:tgtEl>
                                          <p:spTgt spid="26"/>
                                        </p:tgtEl>
                                        <p:attrNameLst>
                                          <p:attrName>style.visibility</p:attrName>
                                        </p:attrNameLst>
                                      </p:cBhvr>
                                      <p:to>
                                        <p:strVal val="visible"/>
                                      </p:to>
                                    </p:set>
                                    <p:anim calcmode="lin" valueType="num">
                                      <p:cBhvr>
                                        <p:cTn id="67" dur="500" fill="hold"/>
                                        <p:tgtEl>
                                          <p:spTgt spid="26"/>
                                        </p:tgtEl>
                                        <p:attrNameLst>
                                          <p:attrName>ppt_x</p:attrName>
                                        </p:attrNameLst>
                                      </p:cBhvr>
                                      <p:tavLst>
                                        <p:tav tm="0">
                                          <p:val>
                                            <p:strVal val="#ppt_x-#ppt_w/2"/>
                                          </p:val>
                                        </p:tav>
                                        <p:tav tm="100000">
                                          <p:val>
                                            <p:strVal val="#ppt_x"/>
                                          </p:val>
                                        </p:tav>
                                      </p:tavLst>
                                    </p:anim>
                                    <p:anim calcmode="lin" valueType="num">
                                      <p:cBhvr>
                                        <p:cTn id="68" dur="500" fill="hold"/>
                                        <p:tgtEl>
                                          <p:spTgt spid="26"/>
                                        </p:tgtEl>
                                        <p:attrNameLst>
                                          <p:attrName>ppt_y</p:attrName>
                                        </p:attrNameLst>
                                      </p:cBhvr>
                                      <p:tavLst>
                                        <p:tav tm="0">
                                          <p:val>
                                            <p:strVal val="#ppt_y"/>
                                          </p:val>
                                        </p:tav>
                                        <p:tav tm="100000">
                                          <p:val>
                                            <p:strVal val="#ppt_y"/>
                                          </p:val>
                                        </p:tav>
                                      </p:tavLst>
                                    </p:anim>
                                    <p:anim calcmode="lin" valueType="num">
                                      <p:cBhvr>
                                        <p:cTn id="69" dur="500" fill="hold"/>
                                        <p:tgtEl>
                                          <p:spTgt spid="26"/>
                                        </p:tgtEl>
                                        <p:attrNameLst>
                                          <p:attrName>ppt_w</p:attrName>
                                        </p:attrNameLst>
                                      </p:cBhvr>
                                      <p:tavLst>
                                        <p:tav tm="0">
                                          <p:val>
                                            <p:fltVal val="0"/>
                                          </p:val>
                                        </p:tav>
                                        <p:tav tm="100000">
                                          <p:val>
                                            <p:strVal val="#ppt_w"/>
                                          </p:val>
                                        </p:tav>
                                      </p:tavLst>
                                    </p:anim>
                                    <p:anim calcmode="lin" valueType="num">
                                      <p:cBhvr>
                                        <p:cTn id="70" dur="500" fill="hold"/>
                                        <p:tgtEl>
                                          <p:spTgt spid="2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63" grpId="0" autoUpdateAnimBg="0"/>
      <p:bldP spid="37" grpId="0" autoUpdateAnimBg="0"/>
      <p:bldP spid="38" grpId="0" autoUpdateAnimBg="0"/>
      <p:bldP spid="27" grpId="0" autoUpdateAnimBg="0"/>
      <p:bldP spid="31" grpId="0" autoUpdateAnimBg="0"/>
      <p:bldP spid="6" grpId="0"/>
      <p:bldP spid="25" grpId="0" autoUpdateAnimBg="0"/>
      <p:bldP spid="26" grpId="0" autoUpdateAnimBg="0"/>
      <p:bldP spid="32" grpId="0" animBg="1"/>
      <p:bldP spid="3"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49155" name="Oval 3">
            <a:extLst>
              <a:ext uri="{FF2B5EF4-FFF2-40B4-BE49-F238E27FC236}">
                <a16:creationId xmlns:a16="http://schemas.microsoft.com/office/drawing/2014/main" id="{7652F024-7EE7-49E5-B2D9-10CE63466B4C}"/>
              </a:ext>
            </a:extLst>
          </p:cNvPr>
          <p:cNvSpPr>
            <a:spLocks noChangeArrowheads="1"/>
          </p:cNvSpPr>
          <p:nvPr/>
        </p:nvSpPr>
        <p:spPr bwMode="auto">
          <a:xfrm>
            <a:off x="4177258" y="1324917"/>
            <a:ext cx="485775" cy="461963"/>
          </a:xfrm>
          <a:prstGeom prst="ellipse">
            <a:avLst/>
          </a:prstGeom>
          <a:ln w="38100" cap="sq">
            <a:solidFill>
              <a:srgbClr val="0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b="1" i="0">
                <a:solidFill>
                  <a:srgbClr val="990033"/>
                </a:solidFill>
                <a:latin typeface="Times New Roman" panose="02020603050405020304" pitchFamily="18" charset="0"/>
              </a:rPr>
              <a:t>A</a:t>
            </a:r>
            <a:endParaRPr lang="en-US" altLang="zh-CN" sz="2400" i="0">
              <a:latin typeface="Times New Roman" panose="02020603050405020304" pitchFamily="18" charset="0"/>
            </a:endParaRPr>
          </a:p>
        </p:txBody>
      </p:sp>
      <p:sp useBgFill="1">
        <p:nvSpPr>
          <p:cNvPr id="49156" name="Oval 4">
            <a:extLst>
              <a:ext uri="{FF2B5EF4-FFF2-40B4-BE49-F238E27FC236}">
                <a16:creationId xmlns:a16="http://schemas.microsoft.com/office/drawing/2014/main" id="{29A47809-8E55-4A0A-9764-EB91EE7171F8}"/>
              </a:ext>
            </a:extLst>
          </p:cNvPr>
          <p:cNvSpPr>
            <a:spLocks noChangeArrowheads="1"/>
          </p:cNvSpPr>
          <p:nvPr/>
        </p:nvSpPr>
        <p:spPr bwMode="auto">
          <a:xfrm>
            <a:off x="3110458" y="2118667"/>
            <a:ext cx="533400" cy="506413"/>
          </a:xfrm>
          <a:prstGeom prst="ellipse">
            <a:avLst/>
          </a:prstGeom>
          <a:ln w="38100" cap="sq">
            <a:solidFill>
              <a:srgbClr val="0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b="1" i="0">
                <a:solidFill>
                  <a:srgbClr val="990033"/>
                </a:solidFill>
                <a:latin typeface="Times New Roman" panose="02020603050405020304" pitchFamily="18" charset="0"/>
              </a:rPr>
              <a:t>B</a:t>
            </a:r>
            <a:endParaRPr lang="en-US" altLang="zh-CN" sz="2400" i="0">
              <a:latin typeface="Times New Roman" panose="02020603050405020304" pitchFamily="18" charset="0"/>
            </a:endParaRPr>
          </a:p>
        </p:txBody>
      </p:sp>
      <p:sp useBgFill="1">
        <p:nvSpPr>
          <p:cNvPr id="49157" name="Oval 5">
            <a:extLst>
              <a:ext uri="{FF2B5EF4-FFF2-40B4-BE49-F238E27FC236}">
                <a16:creationId xmlns:a16="http://schemas.microsoft.com/office/drawing/2014/main" id="{86816C11-77E6-4B2C-A6FF-2DEF6A531C72}"/>
              </a:ext>
            </a:extLst>
          </p:cNvPr>
          <p:cNvSpPr>
            <a:spLocks noChangeArrowheads="1"/>
          </p:cNvSpPr>
          <p:nvPr/>
        </p:nvSpPr>
        <p:spPr bwMode="auto">
          <a:xfrm>
            <a:off x="3948658" y="2848917"/>
            <a:ext cx="485775" cy="461963"/>
          </a:xfrm>
          <a:prstGeom prst="ellipse">
            <a:avLst/>
          </a:prstGeom>
          <a:ln w="38100" cap="sq">
            <a:solidFill>
              <a:srgbClr val="0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b="1" i="0">
                <a:solidFill>
                  <a:srgbClr val="990033"/>
                </a:solidFill>
                <a:latin typeface="Times New Roman" panose="02020603050405020304" pitchFamily="18" charset="0"/>
              </a:rPr>
              <a:t>C</a:t>
            </a:r>
            <a:endParaRPr lang="en-US" altLang="zh-CN" sz="2400" i="0">
              <a:latin typeface="Times New Roman" panose="02020603050405020304" pitchFamily="18" charset="0"/>
            </a:endParaRPr>
          </a:p>
        </p:txBody>
      </p:sp>
      <p:sp useBgFill="1">
        <p:nvSpPr>
          <p:cNvPr id="49158" name="Oval 6">
            <a:extLst>
              <a:ext uri="{FF2B5EF4-FFF2-40B4-BE49-F238E27FC236}">
                <a16:creationId xmlns:a16="http://schemas.microsoft.com/office/drawing/2014/main" id="{E6D35787-A6AF-4BD5-A3C2-71351F500B27}"/>
              </a:ext>
            </a:extLst>
          </p:cNvPr>
          <p:cNvSpPr>
            <a:spLocks noChangeArrowheads="1"/>
          </p:cNvSpPr>
          <p:nvPr/>
        </p:nvSpPr>
        <p:spPr bwMode="auto">
          <a:xfrm>
            <a:off x="5244058" y="2118667"/>
            <a:ext cx="533400" cy="506413"/>
          </a:xfrm>
          <a:prstGeom prst="ellipse">
            <a:avLst/>
          </a:prstGeom>
          <a:ln w="38100" cap="sq">
            <a:solidFill>
              <a:srgbClr val="0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b="1" i="0">
                <a:solidFill>
                  <a:srgbClr val="990033"/>
                </a:solidFill>
                <a:latin typeface="Times New Roman" panose="02020603050405020304" pitchFamily="18" charset="0"/>
              </a:rPr>
              <a:t>D</a:t>
            </a:r>
            <a:endParaRPr lang="en-US" altLang="zh-CN" sz="2400" i="0">
              <a:latin typeface="Times New Roman" panose="02020603050405020304" pitchFamily="18" charset="0"/>
            </a:endParaRPr>
          </a:p>
        </p:txBody>
      </p:sp>
      <p:sp>
        <p:nvSpPr>
          <p:cNvPr id="49160" name="Line 8">
            <a:extLst>
              <a:ext uri="{FF2B5EF4-FFF2-40B4-BE49-F238E27FC236}">
                <a16:creationId xmlns:a16="http://schemas.microsoft.com/office/drawing/2014/main" id="{EDD3D1B5-6508-4596-8331-F3D6A4850BEB}"/>
              </a:ext>
            </a:extLst>
          </p:cNvPr>
          <p:cNvSpPr>
            <a:spLocks noChangeShapeType="1"/>
          </p:cNvSpPr>
          <p:nvPr/>
        </p:nvSpPr>
        <p:spPr bwMode="auto">
          <a:xfrm flipH="1">
            <a:off x="3339058" y="1558280"/>
            <a:ext cx="838200" cy="533400"/>
          </a:xfrm>
          <a:prstGeom prst="line">
            <a:avLst/>
          </a:prstGeom>
          <a:noFill/>
          <a:ln w="38100" cap="sq">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49161" name="Line 9">
            <a:extLst>
              <a:ext uri="{FF2B5EF4-FFF2-40B4-BE49-F238E27FC236}">
                <a16:creationId xmlns:a16="http://schemas.microsoft.com/office/drawing/2014/main" id="{54898A60-0E85-4BB0-BBD9-E04F87682465}"/>
              </a:ext>
            </a:extLst>
          </p:cNvPr>
          <p:cNvSpPr>
            <a:spLocks noChangeShapeType="1"/>
          </p:cNvSpPr>
          <p:nvPr/>
        </p:nvSpPr>
        <p:spPr bwMode="auto">
          <a:xfrm>
            <a:off x="4634458" y="1558280"/>
            <a:ext cx="838200" cy="528637"/>
          </a:xfrm>
          <a:prstGeom prst="line">
            <a:avLst/>
          </a:prstGeom>
          <a:noFill/>
          <a:ln w="38100" cap="sq">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49162" name="Line 10">
            <a:extLst>
              <a:ext uri="{FF2B5EF4-FFF2-40B4-BE49-F238E27FC236}">
                <a16:creationId xmlns:a16="http://schemas.microsoft.com/office/drawing/2014/main" id="{B21763EC-E676-40D9-B6D3-7C1F3D033446}"/>
              </a:ext>
            </a:extLst>
          </p:cNvPr>
          <p:cNvSpPr>
            <a:spLocks noChangeShapeType="1"/>
          </p:cNvSpPr>
          <p:nvPr/>
        </p:nvSpPr>
        <p:spPr bwMode="auto">
          <a:xfrm>
            <a:off x="3643858" y="2396480"/>
            <a:ext cx="533400" cy="452437"/>
          </a:xfrm>
          <a:prstGeom prst="line">
            <a:avLst/>
          </a:prstGeom>
          <a:noFill/>
          <a:ln w="38100" cap="sq">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49163" name="Text Box 11">
            <a:extLst>
              <a:ext uri="{FF2B5EF4-FFF2-40B4-BE49-F238E27FC236}">
                <a16:creationId xmlns:a16="http://schemas.microsoft.com/office/drawing/2014/main" id="{DB3B831F-BD0B-44D3-B104-3B8FEB7236DB}"/>
              </a:ext>
            </a:extLst>
          </p:cNvPr>
          <p:cNvSpPr txBox="1">
            <a:spLocks noChangeArrowheads="1"/>
          </p:cNvSpPr>
          <p:nvPr/>
        </p:nvSpPr>
        <p:spPr bwMode="auto">
          <a:xfrm>
            <a:off x="827088" y="4830763"/>
            <a:ext cx="479425" cy="54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en-US" altLang="zh-CN" sz="2800" b="0" i="0" dirty="0">
                <a:solidFill>
                  <a:srgbClr val="C00000"/>
                </a:solidFill>
                <a:latin typeface="+mn-ea"/>
                <a:ea typeface="+mn-ea"/>
              </a:rPr>
              <a:t>A</a:t>
            </a:r>
          </a:p>
        </p:txBody>
      </p:sp>
      <p:sp>
        <p:nvSpPr>
          <p:cNvPr id="49178" name="Text Box 26">
            <a:extLst>
              <a:ext uri="{FF2B5EF4-FFF2-40B4-BE49-F238E27FC236}">
                <a16:creationId xmlns:a16="http://schemas.microsoft.com/office/drawing/2014/main" id="{9607C62E-977F-40F9-844D-DA6A41D03C92}"/>
              </a:ext>
            </a:extLst>
          </p:cNvPr>
          <p:cNvSpPr txBox="1">
            <a:spLocks noChangeArrowheads="1"/>
          </p:cNvSpPr>
          <p:nvPr/>
        </p:nvSpPr>
        <p:spPr bwMode="auto">
          <a:xfrm>
            <a:off x="762000" y="4111625"/>
            <a:ext cx="7842250" cy="54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zh-CN" altLang="en-US" sz="2800" b="0" i="0" dirty="0">
                <a:solidFill>
                  <a:srgbClr val="CC6600"/>
                </a:solidFill>
                <a:latin typeface="黑体" panose="02010609060101010101" pitchFamily="49" charset="-122"/>
                <a:ea typeface="黑体" panose="02010609060101010101" pitchFamily="49" charset="-122"/>
              </a:rPr>
              <a:t>二叉树的创建字符串：</a:t>
            </a:r>
          </a:p>
        </p:txBody>
      </p:sp>
      <p:sp>
        <p:nvSpPr>
          <p:cNvPr id="37" name="Text Box 11">
            <a:extLst>
              <a:ext uri="{FF2B5EF4-FFF2-40B4-BE49-F238E27FC236}">
                <a16:creationId xmlns:a16="http://schemas.microsoft.com/office/drawing/2014/main" id="{C5ADCC03-8C60-4F85-A95C-38DB0E23CAF0}"/>
              </a:ext>
            </a:extLst>
          </p:cNvPr>
          <p:cNvSpPr txBox="1">
            <a:spLocks noChangeArrowheads="1"/>
          </p:cNvSpPr>
          <p:nvPr/>
        </p:nvSpPr>
        <p:spPr bwMode="auto">
          <a:xfrm>
            <a:off x="1187450" y="4827588"/>
            <a:ext cx="431800" cy="54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en-US" altLang="zh-CN" sz="2800" b="0" i="0" dirty="0">
                <a:solidFill>
                  <a:srgbClr val="C00000"/>
                </a:solidFill>
                <a:latin typeface="+mn-ea"/>
                <a:ea typeface="+mn-ea"/>
              </a:rPr>
              <a:t>B</a:t>
            </a:r>
          </a:p>
        </p:txBody>
      </p:sp>
      <p:sp>
        <p:nvSpPr>
          <p:cNvPr id="27" name="Text Box 11">
            <a:extLst>
              <a:ext uri="{FF2B5EF4-FFF2-40B4-BE49-F238E27FC236}">
                <a16:creationId xmlns:a16="http://schemas.microsoft.com/office/drawing/2014/main" id="{9C23D205-CE64-47BC-A3CB-99F2ADE48740}"/>
              </a:ext>
            </a:extLst>
          </p:cNvPr>
          <p:cNvSpPr txBox="1">
            <a:spLocks noChangeArrowheads="1"/>
          </p:cNvSpPr>
          <p:nvPr/>
        </p:nvSpPr>
        <p:spPr bwMode="auto">
          <a:xfrm>
            <a:off x="1598613" y="4830763"/>
            <a:ext cx="444500" cy="54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en-US" altLang="zh-CN" sz="2800" i="0" dirty="0">
                <a:latin typeface="+mn-ea"/>
                <a:ea typeface="+mn-ea"/>
              </a:rPr>
              <a:t>#</a:t>
            </a:r>
          </a:p>
        </p:txBody>
      </p:sp>
      <p:cxnSp>
        <p:nvCxnSpPr>
          <p:cNvPr id="5" name="直接连接符 4">
            <a:extLst>
              <a:ext uri="{FF2B5EF4-FFF2-40B4-BE49-F238E27FC236}">
                <a16:creationId xmlns:a16="http://schemas.microsoft.com/office/drawing/2014/main" id="{ED321850-2E9C-48EE-9DE1-8F3999BB1204}"/>
              </a:ext>
            </a:extLst>
          </p:cNvPr>
          <p:cNvCxnSpPr>
            <a:cxnSpLocks noChangeShapeType="1"/>
          </p:cNvCxnSpPr>
          <p:nvPr/>
        </p:nvCxnSpPr>
        <p:spPr bwMode="auto">
          <a:xfrm flipH="1">
            <a:off x="2508796" y="2412355"/>
            <a:ext cx="565150" cy="476250"/>
          </a:xfrm>
          <a:prstGeom prst="line">
            <a:avLst/>
          </a:prstGeom>
          <a:noFill/>
          <a:ln w="25400" algn="ctr">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 name="文本框 5">
            <a:extLst>
              <a:ext uri="{FF2B5EF4-FFF2-40B4-BE49-F238E27FC236}">
                <a16:creationId xmlns:a16="http://schemas.microsoft.com/office/drawing/2014/main" id="{F9FE5FFE-F3A3-4290-9673-E9C3C5E9D67E}"/>
              </a:ext>
            </a:extLst>
          </p:cNvPr>
          <p:cNvSpPr txBox="1">
            <a:spLocks noChangeArrowheads="1"/>
          </p:cNvSpPr>
          <p:nvPr/>
        </p:nvSpPr>
        <p:spPr bwMode="auto">
          <a:xfrm>
            <a:off x="2286546" y="2848917"/>
            <a:ext cx="5762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en-US" altLang="zh-CN" sz="2400" i="0">
                <a:solidFill>
                  <a:srgbClr val="FF0000"/>
                </a:solidFill>
              </a:rPr>
              <a:t>#</a:t>
            </a:r>
            <a:endParaRPr lang="zh-CN" altLang="en-US" sz="2400" i="0">
              <a:solidFill>
                <a:srgbClr val="FF0000"/>
              </a:solidFill>
            </a:endParaRPr>
          </a:p>
        </p:txBody>
      </p:sp>
      <p:sp>
        <p:nvSpPr>
          <p:cNvPr id="25" name="Text Box 11">
            <a:extLst>
              <a:ext uri="{FF2B5EF4-FFF2-40B4-BE49-F238E27FC236}">
                <a16:creationId xmlns:a16="http://schemas.microsoft.com/office/drawing/2014/main" id="{49F7FE18-7538-4587-80F0-2206F74EDF45}"/>
              </a:ext>
            </a:extLst>
          </p:cNvPr>
          <p:cNvSpPr txBox="1">
            <a:spLocks noChangeArrowheads="1"/>
          </p:cNvSpPr>
          <p:nvPr/>
        </p:nvSpPr>
        <p:spPr bwMode="auto">
          <a:xfrm>
            <a:off x="1963088" y="4825545"/>
            <a:ext cx="2320880" cy="54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en-US" altLang="zh-CN" sz="2800" b="0" i="0" dirty="0">
                <a:solidFill>
                  <a:srgbClr val="C00000"/>
                </a:solidFill>
                <a:latin typeface="+mn-ea"/>
                <a:ea typeface="+mn-ea"/>
              </a:rPr>
              <a:t>C </a:t>
            </a:r>
            <a:r>
              <a:rPr lang="en-US" altLang="zh-CN" sz="2800" b="0" i="0" dirty="0">
                <a:latin typeface="+mn-ea"/>
                <a:ea typeface="+mn-ea"/>
              </a:rPr>
              <a:t># # </a:t>
            </a:r>
            <a:r>
              <a:rPr lang="en-US" altLang="zh-CN" sz="2800" b="0" i="0" dirty="0">
                <a:solidFill>
                  <a:srgbClr val="C00000"/>
                </a:solidFill>
                <a:latin typeface="+mn-ea"/>
                <a:ea typeface="+mn-ea"/>
              </a:rPr>
              <a:t>D </a:t>
            </a:r>
            <a:r>
              <a:rPr lang="en-US" altLang="zh-CN" sz="2800" b="0" i="0" dirty="0">
                <a:latin typeface="+mn-ea"/>
                <a:ea typeface="+mn-ea"/>
              </a:rPr>
              <a:t># #</a:t>
            </a:r>
          </a:p>
        </p:txBody>
      </p:sp>
      <p:cxnSp>
        <p:nvCxnSpPr>
          <p:cNvPr id="33" name="直接连接符 32">
            <a:extLst>
              <a:ext uri="{FF2B5EF4-FFF2-40B4-BE49-F238E27FC236}">
                <a16:creationId xmlns:a16="http://schemas.microsoft.com/office/drawing/2014/main" id="{3AB8939A-16D8-4D3E-88E3-C08FD721A9D3}"/>
              </a:ext>
            </a:extLst>
          </p:cNvPr>
          <p:cNvCxnSpPr>
            <a:cxnSpLocks noChangeShapeType="1"/>
          </p:cNvCxnSpPr>
          <p:nvPr/>
        </p:nvCxnSpPr>
        <p:spPr bwMode="auto">
          <a:xfrm flipH="1">
            <a:off x="3445421" y="3250555"/>
            <a:ext cx="563562" cy="476250"/>
          </a:xfrm>
          <a:prstGeom prst="line">
            <a:avLst/>
          </a:prstGeom>
          <a:noFill/>
          <a:ln w="25400" algn="ctr">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4" name="文本框 33">
            <a:extLst>
              <a:ext uri="{FF2B5EF4-FFF2-40B4-BE49-F238E27FC236}">
                <a16:creationId xmlns:a16="http://schemas.microsoft.com/office/drawing/2014/main" id="{22DB77BD-B7E1-448D-888A-F24FA811C4BB}"/>
              </a:ext>
            </a:extLst>
          </p:cNvPr>
          <p:cNvSpPr txBox="1">
            <a:spLocks noChangeArrowheads="1"/>
          </p:cNvSpPr>
          <p:nvPr/>
        </p:nvSpPr>
        <p:spPr bwMode="auto">
          <a:xfrm>
            <a:off x="3223171" y="3687117"/>
            <a:ext cx="5762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en-US" altLang="zh-CN" sz="2400" i="0">
                <a:solidFill>
                  <a:srgbClr val="FF0000"/>
                </a:solidFill>
              </a:rPr>
              <a:t>#</a:t>
            </a:r>
            <a:endParaRPr lang="zh-CN" altLang="en-US" sz="2400" i="0">
              <a:solidFill>
                <a:srgbClr val="FF0000"/>
              </a:solidFill>
            </a:endParaRPr>
          </a:p>
        </p:txBody>
      </p:sp>
      <p:cxnSp>
        <p:nvCxnSpPr>
          <p:cNvPr id="35" name="直接连接符 34">
            <a:extLst>
              <a:ext uri="{FF2B5EF4-FFF2-40B4-BE49-F238E27FC236}">
                <a16:creationId xmlns:a16="http://schemas.microsoft.com/office/drawing/2014/main" id="{61E9C480-4230-4335-A491-633DA7DC3667}"/>
              </a:ext>
            </a:extLst>
          </p:cNvPr>
          <p:cNvCxnSpPr>
            <a:cxnSpLocks noChangeShapeType="1"/>
          </p:cNvCxnSpPr>
          <p:nvPr/>
        </p:nvCxnSpPr>
        <p:spPr bwMode="auto">
          <a:xfrm flipH="1">
            <a:off x="4874171" y="2628255"/>
            <a:ext cx="563562" cy="477837"/>
          </a:xfrm>
          <a:prstGeom prst="line">
            <a:avLst/>
          </a:prstGeom>
          <a:noFill/>
          <a:ln w="25400" algn="ctr">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9" name="文本框 38">
            <a:extLst>
              <a:ext uri="{FF2B5EF4-FFF2-40B4-BE49-F238E27FC236}">
                <a16:creationId xmlns:a16="http://schemas.microsoft.com/office/drawing/2014/main" id="{F53AFDB5-7B5E-4F91-982E-22DA4827CB30}"/>
              </a:ext>
            </a:extLst>
          </p:cNvPr>
          <p:cNvSpPr txBox="1">
            <a:spLocks noChangeArrowheads="1"/>
          </p:cNvSpPr>
          <p:nvPr/>
        </p:nvSpPr>
        <p:spPr bwMode="auto">
          <a:xfrm>
            <a:off x="4650333" y="3066405"/>
            <a:ext cx="5762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en-US" altLang="zh-CN" sz="2400" i="0">
                <a:solidFill>
                  <a:srgbClr val="FF0000"/>
                </a:solidFill>
              </a:rPr>
              <a:t>#</a:t>
            </a:r>
            <a:endParaRPr lang="zh-CN" altLang="en-US" sz="2400" i="0">
              <a:solidFill>
                <a:srgbClr val="FF0000"/>
              </a:solidFill>
            </a:endParaRPr>
          </a:p>
        </p:txBody>
      </p:sp>
      <p:cxnSp>
        <p:nvCxnSpPr>
          <p:cNvPr id="41" name="直接连接符 40">
            <a:extLst>
              <a:ext uri="{FF2B5EF4-FFF2-40B4-BE49-F238E27FC236}">
                <a16:creationId xmlns:a16="http://schemas.microsoft.com/office/drawing/2014/main" id="{54FE7FA0-2550-40B3-A39A-A18E7F12E449}"/>
              </a:ext>
            </a:extLst>
          </p:cNvPr>
          <p:cNvCxnSpPr>
            <a:cxnSpLocks noChangeShapeType="1"/>
          </p:cNvCxnSpPr>
          <p:nvPr/>
        </p:nvCxnSpPr>
        <p:spPr bwMode="auto">
          <a:xfrm>
            <a:off x="5659983" y="2610792"/>
            <a:ext cx="374650" cy="466725"/>
          </a:xfrm>
          <a:prstGeom prst="line">
            <a:avLst/>
          </a:prstGeom>
          <a:noFill/>
          <a:ln w="25400" algn="ctr">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2" name="文本框 41">
            <a:extLst>
              <a:ext uri="{FF2B5EF4-FFF2-40B4-BE49-F238E27FC236}">
                <a16:creationId xmlns:a16="http://schemas.microsoft.com/office/drawing/2014/main" id="{F11E1C02-7178-4CED-B805-F59DD750D2B9}"/>
              </a:ext>
            </a:extLst>
          </p:cNvPr>
          <p:cNvSpPr txBox="1">
            <a:spLocks noChangeArrowheads="1"/>
          </p:cNvSpPr>
          <p:nvPr/>
        </p:nvSpPr>
        <p:spPr bwMode="auto">
          <a:xfrm>
            <a:off x="5867946" y="3041005"/>
            <a:ext cx="5762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en-US" altLang="zh-CN" sz="2400" i="0">
                <a:solidFill>
                  <a:srgbClr val="FF0000"/>
                </a:solidFill>
              </a:rPr>
              <a:t>#</a:t>
            </a:r>
            <a:endParaRPr lang="zh-CN" altLang="en-US" sz="2400" i="0">
              <a:solidFill>
                <a:srgbClr val="FF0000"/>
              </a:solidFill>
            </a:endParaRPr>
          </a:p>
        </p:txBody>
      </p:sp>
      <p:cxnSp>
        <p:nvCxnSpPr>
          <p:cNvPr id="43" name="直接连接符 42">
            <a:extLst>
              <a:ext uri="{FF2B5EF4-FFF2-40B4-BE49-F238E27FC236}">
                <a16:creationId xmlns:a16="http://schemas.microsoft.com/office/drawing/2014/main" id="{09703A58-2D95-4066-A353-7FD5E1767C81}"/>
              </a:ext>
            </a:extLst>
          </p:cNvPr>
          <p:cNvCxnSpPr>
            <a:cxnSpLocks noChangeShapeType="1"/>
          </p:cNvCxnSpPr>
          <p:nvPr/>
        </p:nvCxnSpPr>
        <p:spPr bwMode="auto">
          <a:xfrm>
            <a:off x="4388396" y="3237855"/>
            <a:ext cx="374650" cy="466725"/>
          </a:xfrm>
          <a:prstGeom prst="line">
            <a:avLst/>
          </a:prstGeom>
          <a:noFill/>
          <a:ln w="25400" algn="ctr">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4" name="文本框 43">
            <a:extLst>
              <a:ext uri="{FF2B5EF4-FFF2-40B4-BE49-F238E27FC236}">
                <a16:creationId xmlns:a16="http://schemas.microsoft.com/office/drawing/2014/main" id="{D6BD9DE4-5EB9-4867-952C-64EBD357C503}"/>
              </a:ext>
            </a:extLst>
          </p:cNvPr>
          <p:cNvSpPr txBox="1">
            <a:spLocks noChangeArrowheads="1"/>
          </p:cNvSpPr>
          <p:nvPr/>
        </p:nvSpPr>
        <p:spPr bwMode="auto">
          <a:xfrm>
            <a:off x="4596358" y="3668067"/>
            <a:ext cx="5762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en-US" altLang="zh-CN" sz="2400" i="0">
                <a:solidFill>
                  <a:srgbClr val="FF0000"/>
                </a:solidFill>
              </a:rPr>
              <a:t>#</a:t>
            </a:r>
            <a:endParaRPr lang="zh-CN" altLang="en-US" sz="2400" i="0">
              <a:solidFill>
                <a:srgbClr val="FF0000"/>
              </a:solidFill>
            </a:endParaRPr>
          </a:p>
        </p:txBody>
      </p:sp>
      <p:sp>
        <p:nvSpPr>
          <p:cNvPr id="2" name="Text Box 2">
            <a:extLst>
              <a:ext uri="{FF2B5EF4-FFF2-40B4-BE49-F238E27FC236}">
                <a16:creationId xmlns:a16="http://schemas.microsoft.com/office/drawing/2014/main" id="{8A368901-3E02-46B1-956F-B3A9DBF0B3BB}"/>
              </a:ext>
            </a:extLst>
          </p:cNvPr>
          <p:cNvSpPr txBox="1">
            <a:spLocks noChangeArrowheads="1"/>
          </p:cNvSpPr>
          <p:nvPr/>
        </p:nvSpPr>
        <p:spPr bwMode="auto">
          <a:xfrm>
            <a:off x="889546" y="142262"/>
            <a:ext cx="69977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3600" b="1" dirty="0">
                <a:latin typeface="Times New Roman" panose="02020603050405020304" pitchFamily="18" charset="0"/>
                <a:ea typeface="隶书" panose="02010509060101010101" pitchFamily="49" charset="-122"/>
              </a:rPr>
              <a:t>    </a:t>
            </a:r>
            <a:r>
              <a:rPr lang="zh-CN" altLang="en-US" sz="4400" i="0" dirty="0">
                <a:solidFill>
                  <a:schemeClr val="tx2"/>
                </a:solidFill>
                <a:ea typeface="隶书" pitchFamily="49" charset="-122"/>
              </a:rPr>
              <a:t>先序序列创建二叉树</a:t>
            </a:r>
          </a:p>
        </p:txBody>
      </p:sp>
      <p:sp>
        <p:nvSpPr>
          <p:cNvPr id="3" name="文本框 2">
            <a:extLst>
              <a:ext uri="{FF2B5EF4-FFF2-40B4-BE49-F238E27FC236}">
                <a16:creationId xmlns:a16="http://schemas.microsoft.com/office/drawing/2014/main" id="{D7A8E882-FBEC-0CFE-7A9A-28D05F3EDFE8}"/>
              </a:ext>
            </a:extLst>
          </p:cNvPr>
          <p:cNvSpPr txBox="1"/>
          <p:nvPr/>
        </p:nvSpPr>
        <p:spPr>
          <a:xfrm>
            <a:off x="811286" y="5691632"/>
            <a:ext cx="8009185" cy="523220"/>
          </a:xfrm>
          <a:prstGeom prst="rect">
            <a:avLst/>
          </a:prstGeom>
          <a:noFill/>
        </p:spPr>
        <p:txBody>
          <a:bodyPr wrap="square" rtlCol="0">
            <a:spAutoFit/>
          </a:bodyPr>
          <a:lstStyle/>
          <a:p>
            <a:r>
              <a:rPr lang="zh-CN" altLang="en-US" sz="2800" b="0" i="0" dirty="0">
                <a:solidFill>
                  <a:srgbClr val="FF0000"/>
                </a:solidFill>
                <a:latin typeface="黑体" panose="02010609060101010101" pitchFamily="49" charset="-122"/>
                <a:ea typeface="黑体" panose="02010609060101010101" pitchFamily="49" charset="-122"/>
              </a:rPr>
              <a:t>将所有空指针补齐，按先序遍历顺序输入。</a:t>
            </a:r>
          </a:p>
        </p:txBody>
      </p:sp>
    </p:spTree>
  </p:cSld>
  <p:clrMapOvr>
    <a:masterClrMapping/>
  </p:clrMapOvr>
  <p:transition spd="med">
    <p:pull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49178"/>
                                        </p:tgtEl>
                                        <p:attrNameLst>
                                          <p:attrName>style.visibility</p:attrName>
                                        </p:attrNameLst>
                                      </p:cBhvr>
                                      <p:to>
                                        <p:strVal val="visible"/>
                                      </p:to>
                                    </p:set>
                                    <p:anim calcmode="lin" valueType="num">
                                      <p:cBhvr>
                                        <p:cTn id="7" dur="500" fill="hold"/>
                                        <p:tgtEl>
                                          <p:spTgt spid="49178"/>
                                        </p:tgtEl>
                                        <p:attrNameLst>
                                          <p:attrName>ppt_x</p:attrName>
                                        </p:attrNameLst>
                                      </p:cBhvr>
                                      <p:tavLst>
                                        <p:tav tm="0">
                                          <p:val>
                                            <p:strVal val="#ppt_x-#ppt_w/2"/>
                                          </p:val>
                                        </p:tav>
                                        <p:tav tm="100000">
                                          <p:val>
                                            <p:strVal val="#ppt_x"/>
                                          </p:val>
                                        </p:tav>
                                      </p:tavLst>
                                    </p:anim>
                                    <p:anim calcmode="lin" valueType="num">
                                      <p:cBhvr>
                                        <p:cTn id="8" dur="500" fill="hold"/>
                                        <p:tgtEl>
                                          <p:spTgt spid="49178"/>
                                        </p:tgtEl>
                                        <p:attrNameLst>
                                          <p:attrName>ppt_y</p:attrName>
                                        </p:attrNameLst>
                                      </p:cBhvr>
                                      <p:tavLst>
                                        <p:tav tm="0">
                                          <p:val>
                                            <p:strVal val="#ppt_y"/>
                                          </p:val>
                                        </p:tav>
                                        <p:tav tm="100000">
                                          <p:val>
                                            <p:strVal val="#ppt_y"/>
                                          </p:val>
                                        </p:tav>
                                      </p:tavLst>
                                    </p:anim>
                                    <p:anim calcmode="lin" valueType="num">
                                      <p:cBhvr>
                                        <p:cTn id="9" dur="500" fill="hold"/>
                                        <p:tgtEl>
                                          <p:spTgt spid="49178"/>
                                        </p:tgtEl>
                                        <p:attrNameLst>
                                          <p:attrName>ppt_w</p:attrName>
                                        </p:attrNameLst>
                                      </p:cBhvr>
                                      <p:tavLst>
                                        <p:tav tm="0">
                                          <p:val>
                                            <p:fltVal val="0"/>
                                          </p:val>
                                        </p:tav>
                                        <p:tav tm="100000">
                                          <p:val>
                                            <p:strVal val="#ppt_w"/>
                                          </p:val>
                                        </p:tav>
                                      </p:tavLst>
                                    </p:anim>
                                    <p:anim calcmode="lin" valueType="num">
                                      <p:cBhvr>
                                        <p:cTn id="10" dur="500" fill="hold"/>
                                        <p:tgtEl>
                                          <p:spTgt spid="49178"/>
                                        </p:tgtEl>
                                        <p:attrNameLst>
                                          <p:attrName>ppt_h</p:attrName>
                                        </p:attrNameLst>
                                      </p:cBhvr>
                                      <p:tavLst>
                                        <p:tav tm="0">
                                          <p:val>
                                            <p:strVal val="#ppt_h"/>
                                          </p:val>
                                        </p:tav>
                                        <p:tav tm="100000">
                                          <p:val>
                                            <p:strVal val="#ppt_h"/>
                                          </p:val>
                                        </p:tav>
                                      </p:tavLst>
                                    </p:anim>
                                  </p:childTnLst>
                                </p:cTn>
                              </p:par>
                            </p:childTnLst>
                          </p:cTn>
                        </p:par>
                        <p:par>
                          <p:cTn id="11" fill="hold" nodeType="afterGroup">
                            <p:stCondLst>
                              <p:cond delay="500"/>
                            </p:stCondLst>
                            <p:childTnLst>
                              <p:par>
                                <p:cTn id="12" presetID="17" presetClass="entr" presetSubtype="8" fill="hold" grpId="0" nodeType="afterEffect">
                                  <p:stCondLst>
                                    <p:cond delay="0"/>
                                  </p:stCondLst>
                                  <p:childTnLst>
                                    <p:set>
                                      <p:cBhvr>
                                        <p:cTn id="13" dur="1" fill="hold">
                                          <p:stCondLst>
                                            <p:cond delay="0"/>
                                          </p:stCondLst>
                                        </p:cTn>
                                        <p:tgtEl>
                                          <p:spTgt spid="49163"/>
                                        </p:tgtEl>
                                        <p:attrNameLst>
                                          <p:attrName>style.visibility</p:attrName>
                                        </p:attrNameLst>
                                      </p:cBhvr>
                                      <p:to>
                                        <p:strVal val="visible"/>
                                      </p:to>
                                    </p:set>
                                    <p:anim calcmode="lin" valueType="num">
                                      <p:cBhvr>
                                        <p:cTn id="14" dur="500" fill="hold"/>
                                        <p:tgtEl>
                                          <p:spTgt spid="49163"/>
                                        </p:tgtEl>
                                        <p:attrNameLst>
                                          <p:attrName>ppt_x</p:attrName>
                                        </p:attrNameLst>
                                      </p:cBhvr>
                                      <p:tavLst>
                                        <p:tav tm="0">
                                          <p:val>
                                            <p:strVal val="#ppt_x-#ppt_w/2"/>
                                          </p:val>
                                        </p:tav>
                                        <p:tav tm="100000">
                                          <p:val>
                                            <p:strVal val="#ppt_x"/>
                                          </p:val>
                                        </p:tav>
                                      </p:tavLst>
                                    </p:anim>
                                    <p:anim calcmode="lin" valueType="num">
                                      <p:cBhvr>
                                        <p:cTn id="15" dur="500" fill="hold"/>
                                        <p:tgtEl>
                                          <p:spTgt spid="49163"/>
                                        </p:tgtEl>
                                        <p:attrNameLst>
                                          <p:attrName>ppt_y</p:attrName>
                                        </p:attrNameLst>
                                      </p:cBhvr>
                                      <p:tavLst>
                                        <p:tav tm="0">
                                          <p:val>
                                            <p:strVal val="#ppt_y"/>
                                          </p:val>
                                        </p:tav>
                                        <p:tav tm="100000">
                                          <p:val>
                                            <p:strVal val="#ppt_y"/>
                                          </p:val>
                                        </p:tav>
                                      </p:tavLst>
                                    </p:anim>
                                    <p:anim calcmode="lin" valueType="num">
                                      <p:cBhvr>
                                        <p:cTn id="16" dur="500" fill="hold"/>
                                        <p:tgtEl>
                                          <p:spTgt spid="49163"/>
                                        </p:tgtEl>
                                        <p:attrNameLst>
                                          <p:attrName>ppt_w</p:attrName>
                                        </p:attrNameLst>
                                      </p:cBhvr>
                                      <p:tavLst>
                                        <p:tav tm="0">
                                          <p:val>
                                            <p:fltVal val="0"/>
                                          </p:val>
                                        </p:tav>
                                        <p:tav tm="100000">
                                          <p:val>
                                            <p:strVal val="#ppt_w"/>
                                          </p:val>
                                        </p:tav>
                                      </p:tavLst>
                                    </p:anim>
                                    <p:anim calcmode="lin" valueType="num">
                                      <p:cBhvr>
                                        <p:cTn id="17" dur="500" fill="hold"/>
                                        <p:tgtEl>
                                          <p:spTgt spid="49163"/>
                                        </p:tgtEl>
                                        <p:attrNameLst>
                                          <p:attrName>ppt_h</p:attrName>
                                        </p:attrNameLst>
                                      </p:cBhvr>
                                      <p:tavLst>
                                        <p:tav tm="0">
                                          <p:val>
                                            <p:strVal val="#ppt_h"/>
                                          </p:val>
                                        </p:tav>
                                        <p:tav tm="100000">
                                          <p:val>
                                            <p:strVal val="#ppt_h"/>
                                          </p:val>
                                        </p:tav>
                                      </p:tavLst>
                                    </p:anim>
                                  </p:childTnLst>
                                </p:cTn>
                              </p:par>
                              <p:par>
                                <p:cTn id="18" presetID="17" presetClass="entr" presetSubtype="8" fill="hold" grpId="0" nodeType="withEffect">
                                  <p:stCondLst>
                                    <p:cond delay="0"/>
                                  </p:stCondLst>
                                  <p:childTnLst>
                                    <p:set>
                                      <p:cBhvr>
                                        <p:cTn id="19" dur="1" fill="hold">
                                          <p:stCondLst>
                                            <p:cond delay="0"/>
                                          </p:stCondLst>
                                        </p:cTn>
                                        <p:tgtEl>
                                          <p:spTgt spid="37"/>
                                        </p:tgtEl>
                                        <p:attrNameLst>
                                          <p:attrName>style.visibility</p:attrName>
                                        </p:attrNameLst>
                                      </p:cBhvr>
                                      <p:to>
                                        <p:strVal val="visible"/>
                                      </p:to>
                                    </p:set>
                                    <p:anim calcmode="lin" valueType="num">
                                      <p:cBhvr>
                                        <p:cTn id="20" dur="500" fill="hold"/>
                                        <p:tgtEl>
                                          <p:spTgt spid="37"/>
                                        </p:tgtEl>
                                        <p:attrNameLst>
                                          <p:attrName>ppt_x</p:attrName>
                                        </p:attrNameLst>
                                      </p:cBhvr>
                                      <p:tavLst>
                                        <p:tav tm="0">
                                          <p:val>
                                            <p:strVal val="#ppt_x-#ppt_w/2"/>
                                          </p:val>
                                        </p:tav>
                                        <p:tav tm="100000">
                                          <p:val>
                                            <p:strVal val="#ppt_x"/>
                                          </p:val>
                                        </p:tav>
                                      </p:tavLst>
                                    </p:anim>
                                    <p:anim calcmode="lin" valueType="num">
                                      <p:cBhvr>
                                        <p:cTn id="21" dur="500" fill="hold"/>
                                        <p:tgtEl>
                                          <p:spTgt spid="37"/>
                                        </p:tgtEl>
                                        <p:attrNameLst>
                                          <p:attrName>ppt_y</p:attrName>
                                        </p:attrNameLst>
                                      </p:cBhvr>
                                      <p:tavLst>
                                        <p:tav tm="0">
                                          <p:val>
                                            <p:strVal val="#ppt_y"/>
                                          </p:val>
                                        </p:tav>
                                        <p:tav tm="100000">
                                          <p:val>
                                            <p:strVal val="#ppt_y"/>
                                          </p:val>
                                        </p:tav>
                                      </p:tavLst>
                                    </p:anim>
                                    <p:anim calcmode="lin" valueType="num">
                                      <p:cBhvr>
                                        <p:cTn id="22" dur="500" fill="hold"/>
                                        <p:tgtEl>
                                          <p:spTgt spid="37"/>
                                        </p:tgtEl>
                                        <p:attrNameLst>
                                          <p:attrName>ppt_w</p:attrName>
                                        </p:attrNameLst>
                                      </p:cBhvr>
                                      <p:tavLst>
                                        <p:tav tm="0">
                                          <p:val>
                                            <p:fltVal val="0"/>
                                          </p:val>
                                        </p:tav>
                                        <p:tav tm="100000">
                                          <p:val>
                                            <p:strVal val="#ppt_w"/>
                                          </p:val>
                                        </p:tav>
                                      </p:tavLst>
                                    </p:anim>
                                    <p:anim calcmode="lin" valueType="num">
                                      <p:cBhvr>
                                        <p:cTn id="23" dur="500" fill="hold"/>
                                        <p:tgtEl>
                                          <p:spTgt spid="37"/>
                                        </p:tgtEl>
                                        <p:attrNameLst>
                                          <p:attrName>ppt_h</p:attrName>
                                        </p:attrNameLst>
                                      </p:cBhvr>
                                      <p:tavLst>
                                        <p:tav tm="0">
                                          <p:val>
                                            <p:strVal val="#ppt_h"/>
                                          </p:val>
                                        </p:tav>
                                        <p:tav tm="100000">
                                          <p:val>
                                            <p:strVal val="#ppt_h"/>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nodeType="clickEffect">
                                  <p:stCondLst>
                                    <p:cond delay="0"/>
                                  </p:stCondLst>
                                  <p:childTnLst>
                                    <p:set>
                                      <p:cBhvr>
                                        <p:cTn id="27" dur="1" fill="hold">
                                          <p:stCondLst>
                                            <p:cond delay="0"/>
                                          </p:stCondLst>
                                        </p:cTn>
                                        <p:tgtEl>
                                          <p:spTgt spid="5"/>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6"/>
                                        </p:tgtEl>
                                        <p:attrNameLst>
                                          <p:attrName>style.visibility</p:attrName>
                                        </p:attrNameLst>
                                      </p:cBhvr>
                                      <p:to>
                                        <p:strVal val="visible"/>
                                      </p:to>
                                    </p:set>
                                  </p:childTnLst>
                                </p:cTn>
                              </p:par>
                            </p:childTnLst>
                          </p:cTn>
                        </p:par>
                        <p:par>
                          <p:cTn id="30" fill="hold" nodeType="afterGroup">
                            <p:stCondLst>
                              <p:cond delay="0"/>
                            </p:stCondLst>
                            <p:childTnLst>
                              <p:par>
                                <p:cTn id="31" presetID="17" presetClass="entr" presetSubtype="8" fill="hold" grpId="0" nodeType="afterEffect">
                                  <p:stCondLst>
                                    <p:cond delay="0"/>
                                  </p:stCondLst>
                                  <p:childTnLst>
                                    <p:set>
                                      <p:cBhvr>
                                        <p:cTn id="32" dur="1" fill="hold">
                                          <p:stCondLst>
                                            <p:cond delay="0"/>
                                          </p:stCondLst>
                                        </p:cTn>
                                        <p:tgtEl>
                                          <p:spTgt spid="27"/>
                                        </p:tgtEl>
                                        <p:attrNameLst>
                                          <p:attrName>style.visibility</p:attrName>
                                        </p:attrNameLst>
                                      </p:cBhvr>
                                      <p:to>
                                        <p:strVal val="visible"/>
                                      </p:to>
                                    </p:set>
                                    <p:anim calcmode="lin" valueType="num">
                                      <p:cBhvr>
                                        <p:cTn id="33" dur="500" fill="hold"/>
                                        <p:tgtEl>
                                          <p:spTgt spid="27"/>
                                        </p:tgtEl>
                                        <p:attrNameLst>
                                          <p:attrName>ppt_x</p:attrName>
                                        </p:attrNameLst>
                                      </p:cBhvr>
                                      <p:tavLst>
                                        <p:tav tm="0">
                                          <p:val>
                                            <p:strVal val="#ppt_x-#ppt_w/2"/>
                                          </p:val>
                                        </p:tav>
                                        <p:tav tm="100000">
                                          <p:val>
                                            <p:strVal val="#ppt_x"/>
                                          </p:val>
                                        </p:tav>
                                      </p:tavLst>
                                    </p:anim>
                                    <p:anim calcmode="lin" valueType="num">
                                      <p:cBhvr>
                                        <p:cTn id="34" dur="500" fill="hold"/>
                                        <p:tgtEl>
                                          <p:spTgt spid="27"/>
                                        </p:tgtEl>
                                        <p:attrNameLst>
                                          <p:attrName>ppt_y</p:attrName>
                                        </p:attrNameLst>
                                      </p:cBhvr>
                                      <p:tavLst>
                                        <p:tav tm="0">
                                          <p:val>
                                            <p:strVal val="#ppt_y"/>
                                          </p:val>
                                        </p:tav>
                                        <p:tav tm="100000">
                                          <p:val>
                                            <p:strVal val="#ppt_y"/>
                                          </p:val>
                                        </p:tav>
                                      </p:tavLst>
                                    </p:anim>
                                    <p:anim calcmode="lin" valueType="num">
                                      <p:cBhvr>
                                        <p:cTn id="35" dur="500" fill="hold"/>
                                        <p:tgtEl>
                                          <p:spTgt spid="27"/>
                                        </p:tgtEl>
                                        <p:attrNameLst>
                                          <p:attrName>ppt_w</p:attrName>
                                        </p:attrNameLst>
                                      </p:cBhvr>
                                      <p:tavLst>
                                        <p:tav tm="0">
                                          <p:val>
                                            <p:fltVal val="0"/>
                                          </p:val>
                                        </p:tav>
                                        <p:tav tm="100000">
                                          <p:val>
                                            <p:strVal val="#ppt_w"/>
                                          </p:val>
                                        </p:tav>
                                      </p:tavLst>
                                    </p:anim>
                                    <p:anim calcmode="lin" valueType="num">
                                      <p:cBhvr>
                                        <p:cTn id="36" dur="500" fill="hold"/>
                                        <p:tgtEl>
                                          <p:spTgt spid="27"/>
                                        </p:tgtEl>
                                        <p:attrNameLst>
                                          <p:attrName>ppt_h</p:attrName>
                                        </p:attrNameLst>
                                      </p:cBhvr>
                                      <p:tavLst>
                                        <p:tav tm="0">
                                          <p:val>
                                            <p:strVal val="#ppt_h"/>
                                          </p:val>
                                        </p:tav>
                                        <p:tav tm="100000">
                                          <p:val>
                                            <p:strVal val="#ppt_h"/>
                                          </p:val>
                                        </p:tav>
                                      </p:tavLst>
                                    </p:anim>
                                  </p:childTnLst>
                                </p:cTn>
                              </p:par>
                            </p:childTnLst>
                          </p:cTn>
                        </p:par>
                        <p:par>
                          <p:cTn id="37" fill="hold" nodeType="afterGroup">
                            <p:stCondLst>
                              <p:cond delay="500"/>
                            </p:stCondLst>
                            <p:childTnLst>
                              <p:par>
                                <p:cTn id="38" presetID="17" presetClass="entr" presetSubtype="8" fill="hold" grpId="0" nodeType="afterEffect">
                                  <p:stCondLst>
                                    <p:cond delay="0"/>
                                  </p:stCondLst>
                                  <p:childTnLst>
                                    <p:set>
                                      <p:cBhvr>
                                        <p:cTn id="39" dur="1" fill="hold">
                                          <p:stCondLst>
                                            <p:cond delay="0"/>
                                          </p:stCondLst>
                                        </p:cTn>
                                        <p:tgtEl>
                                          <p:spTgt spid="25"/>
                                        </p:tgtEl>
                                        <p:attrNameLst>
                                          <p:attrName>style.visibility</p:attrName>
                                        </p:attrNameLst>
                                      </p:cBhvr>
                                      <p:to>
                                        <p:strVal val="visible"/>
                                      </p:to>
                                    </p:set>
                                    <p:anim calcmode="lin" valueType="num">
                                      <p:cBhvr>
                                        <p:cTn id="40" dur="500" fill="hold"/>
                                        <p:tgtEl>
                                          <p:spTgt spid="25"/>
                                        </p:tgtEl>
                                        <p:attrNameLst>
                                          <p:attrName>ppt_x</p:attrName>
                                        </p:attrNameLst>
                                      </p:cBhvr>
                                      <p:tavLst>
                                        <p:tav tm="0">
                                          <p:val>
                                            <p:strVal val="#ppt_x-#ppt_w/2"/>
                                          </p:val>
                                        </p:tav>
                                        <p:tav tm="100000">
                                          <p:val>
                                            <p:strVal val="#ppt_x"/>
                                          </p:val>
                                        </p:tav>
                                      </p:tavLst>
                                    </p:anim>
                                    <p:anim calcmode="lin" valueType="num">
                                      <p:cBhvr>
                                        <p:cTn id="41" dur="500" fill="hold"/>
                                        <p:tgtEl>
                                          <p:spTgt spid="25"/>
                                        </p:tgtEl>
                                        <p:attrNameLst>
                                          <p:attrName>ppt_y</p:attrName>
                                        </p:attrNameLst>
                                      </p:cBhvr>
                                      <p:tavLst>
                                        <p:tav tm="0">
                                          <p:val>
                                            <p:strVal val="#ppt_y"/>
                                          </p:val>
                                        </p:tav>
                                        <p:tav tm="100000">
                                          <p:val>
                                            <p:strVal val="#ppt_y"/>
                                          </p:val>
                                        </p:tav>
                                      </p:tavLst>
                                    </p:anim>
                                    <p:anim calcmode="lin" valueType="num">
                                      <p:cBhvr>
                                        <p:cTn id="42" dur="500" fill="hold"/>
                                        <p:tgtEl>
                                          <p:spTgt spid="25"/>
                                        </p:tgtEl>
                                        <p:attrNameLst>
                                          <p:attrName>ppt_w</p:attrName>
                                        </p:attrNameLst>
                                      </p:cBhvr>
                                      <p:tavLst>
                                        <p:tav tm="0">
                                          <p:val>
                                            <p:fltVal val="0"/>
                                          </p:val>
                                        </p:tav>
                                        <p:tav tm="100000">
                                          <p:val>
                                            <p:strVal val="#ppt_w"/>
                                          </p:val>
                                        </p:tav>
                                      </p:tavLst>
                                    </p:anim>
                                    <p:anim calcmode="lin" valueType="num">
                                      <p:cBhvr>
                                        <p:cTn id="43" dur="500" fill="hold"/>
                                        <p:tgtEl>
                                          <p:spTgt spid="25"/>
                                        </p:tgtEl>
                                        <p:attrNameLst>
                                          <p:attrName>ppt_h</p:attrName>
                                        </p:attrNameLst>
                                      </p:cBhvr>
                                      <p:tavLst>
                                        <p:tav tm="0">
                                          <p:val>
                                            <p:strVal val="#ppt_h"/>
                                          </p:val>
                                        </p:tav>
                                        <p:tav tm="100000">
                                          <p:val>
                                            <p:strVal val="#ppt_h"/>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1" presetClass="entr" presetSubtype="0" fill="hold" nodeType="clickEffect">
                                  <p:stCondLst>
                                    <p:cond delay="0"/>
                                  </p:stCondLst>
                                  <p:childTnLst>
                                    <p:set>
                                      <p:cBhvr>
                                        <p:cTn id="47" dur="1" fill="hold">
                                          <p:stCondLst>
                                            <p:cond delay="0"/>
                                          </p:stCondLst>
                                        </p:cTn>
                                        <p:tgtEl>
                                          <p:spTgt spid="33"/>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34"/>
                                        </p:tgtEl>
                                        <p:attrNameLst>
                                          <p:attrName>style.visibility</p:attrName>
                                        </p:attrNameLst>
                                      </p:cBhvr>
                                      <p:to>
                                        <p:strVal val="visible"/>
                                      </p:to>
                                    </p:set>
                                  </p:childTnLst>
                                </p:cTn>
                              </p:par>
                            </p:childTnLst>
                          </p:cTn>
                        </p:par>
                      </p:childTnLst>
                    </p:cTn>
                  </p:par>
                  <p:par>
                    <p:cTn id="50" fill="hold" nodeType="clickPar">
                      <p:stCondLst>
                        <p:cond delay="indefinite"/>
                      </p:stCondLst>
                      <p:childTnLst>
                        <p:par>
                          <p:cTn id="51" fill="hold" nodeType="withGroup">
                            <p:stCondLst>
                              <p:cond delay="0"/>
                            </p:stCondLst>
                            <p:childTnLst>
                              <p:par>
                                <p:cTn id="52" presetID="1" presetClass="entr" presetSubtype="0" fill="hold" nodeType="clickEffect">
                                  <p:stCondLst>
                                    <p:cond delay="0"/>
                                  </p:stCondLst>
                                  <p:childTnLst>
                                    <p:set>
                                      <p:cBhvr>
                                        <p:cTn id="53" dur="1" fill="hold">
                                          <p:stCondLst>
                                            <p:cond delay="0"/>
                                          </p:stCondLst>
                                        </p:cTn>
                                        <p:tgtEl>
                                          <p:spTgt spid="35"/>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39"/>
                                        </p:tgtEl>
                                        <p:attrNameLst>
                                          <p:attrName>style.visibility</p:attrName>
                                        </p:attrNameLst>
                                      </p:cBhvr>
                                      <p:to>
                                        <p:strVal val="visible"/>
                                      </p:to>
                                    </p:set>
                                  </p:childTnLst>
                                </p:cTn>
                              </p:par>
                              <p:par>
                                <p:cTn id="56" presetID="1" presetClass="entr" presetSubtype="0" fill="hold" nodeType="withEffect">
                                  <p:stCondLst>
                                    <p:cond delay="0"/>
                                  </p:stCondLst>
                                  <p:childTnLst>
                                    <p:set>
                                      <p:cBhvr>
                                        <p:cTn id="57" dur="1" fill="hold">
                                          <p:stCondLst>
                                            <p:cond delay="0"/>
                                          </p:stCondLst>
                                        </p:cTn>
                                        <p:tgtEl>
                                          <p:spTgt spid="41"/>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42"/>
                                        </p:tgtEl>
                                        <p:attrNameLst>
                                          <p:attrName>style.visibility</p:attrName>
                                        </p:attrNameLst>
                                      </p:cBhvr>
                                      <p:to>
                                        <p:strVal val="visible"/>
                                      </p:to>
                                    </p:set>
                                  </p:childTnLst>
                                </p:cTn>
                              </p:par>
                              <p:par>
                                <p:cTn id="60" presetID="1" presetClass="entr" presetSubtype="0" fill="hold" nodeType="withEffect">
                                  <p:stCondLst>
                                    <p:cond delay="0"/>
                                  </p:stCondLst>
                                  <p:childTnLst>
                                    <p:set>
                                      <p:cBhvr>
                                        <p:cTn id="61" dur="1" fill="hold">
                                          <p:stCondLst>
                                            <p:cond delay="0"/>
                                          </p:stCondLst>
                                        </p:cTn>
                                        <p:tgtEl>
                                          <p:spTgt spid="43"/>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0"/>
                                          </p:stCondLst>
                                        </p:cTn>
                                        <p:tgtEl>
                                          <p:spTgt spid="44"/>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nodeType="clickEffect">
                                  <p:stCondLst>
                                    <p:cond delay="0"/>
                                  </p:stCondLst>
                                  <p:childTnLst>
                                    <p:set>
                                      <p:cBhvr>
                                        <p:cTn id="67"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63" grpId="0" autoUpdateAnimBg="0"/>
      <p:bldP spid="49178" grpId="0" autoUpdateAnimBg="0"/>
      <p:bldP spid="37" grpId="0" autoUpdateAnimBg="0"/>
      <p:bldP spid="27" grpId="0" autoUpdateAnimBg="0"/>
      <p:bldP spid="6" grpId="0"/>
      <p:bldP spid="25" grpId="0" autoUpdateAnimBg="0"/>
      <p:bldP spid="34" grpId="0"/>
      <p:bldP spid="39" grpId="0"/>
      <p:bldP spid="42" grpId="0"/>
      <p:bldP spid="44"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9" name="Text Box 7">
            <a:extLst>
              <a:ext uri="{FF2B5EF4-FFF2-40B4-BE49-F238E27FC236}">
                <a16:creationId xmlns:a16="http://schemas.microsoft.com/office/drawing/2014/main" id="{35C15B51-4BE5-4CE7-8CD1-BD991B0F6319}"/>
              </a:ext>
            </a:extLst>
          </p:cNvPr>
          <p:cNvSpPr txBox="1">
            <a:spLocks noChangeArrowheads="1"/>
          </p:cNvSpPr>
          <p:nvPr/>
        </p:nvSpPr>
        <p:spPr bwMode="auto">
          <a:xfrm>
            <a:off x="1835696" y="1384641"/>
            <a:ext cx="720080" cy="54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en-US" altLang="zh-CN" sz="2800" b="1" i="0" dirty="0">
                <a:latin typeface="+mn-ea"/>
                <a:ea typeface="+mn-ea"/>
              </a:rPr>
              <a:t>#</a:t>
            </a:r>
            <a:endParaRPr lang="zh-CN" altLang="en-US" sz="2800" i="0" dirty="0">
              <a:latin typeface="+mn-ea"/>
              <a:ea typeface="+mn-ea"/>
            </a:endParaRPr>
          </a:p>
        </p:txBody>
      </p:sp>
      <p:sp>
        <p:nvSpPr>
          <p:cNvPr id="49174" name="Text Box 22">
            <a:extLst>
              <a:ext uri="{FF2B5EF4-FFF2-40B4-BE49-F238E27FC236}">
                <a16:creationId xmlns:a16="http://schemas.microsoft.com/office/drawing/2014/main" id="{DC276BDE-E1B4-49B8-8576-83422ADA7599}"/>
              </a:ext>
            </a:extLst>
          </p:cNvPr>
          <p:cNvSpPr txBox="1">
            <a:spLocks noChangeArrowheads="1"/>
          </p:cNvSpPr>
          <p:nvPr/>
        </p:nvSpPr>
        <p:spPr bwMode="auto">
          <a:xfrm>
            <a:off x="670474" y="1378521"/>
            <a:ext cx="134937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zh-CN" altLang="en-US" sz="2800" b="0" i="0" dirty="0">
                <a:solidFill>
                  <a:srgbClr val="FF0000"/>
                </a:solidFill>
                <a:latin typeface="黑体" panose="02010609060101010101" pitchFamily="49" charset="-122"/>
                <a:ea typeface="黑体" panose="02010609060101010101" pitchFamily="49" charset="-122"/>
              </a:rPr>
              <a:t>空树：</a:t>
            </a:r>
          </a:p>
        </p:txBody>
      </p:sp>
      <p:sp>
        <p:nvSpPr>
          <p:cNvPr id="49175" name="Text Box 23">
            <a:extLst>
              <a:ext uri="{FF2B5EF4-FFF2-40B4-BE49-F238E27FC236}">
                <a16:creationId xmlns:a16="http://schemas.microsoft.com/office/drawing/2014/main" id="{8F872C99-BC23-48C6-93F8-1CBBD2FADA9F}"/>
              </a:ext>
            </a:extLst>
          </p:cNvPr>
          <p:cNvSpPr txBox="1">
            <a:spLocks noChangeArrowheads="1"/>
          </p:cNvSpPr>
          <p:nvPr/>
        </p:nvSpPr>
        <p:spPr bwMode="auto">
          <a:xfrm>
            <a:off x="652319" y="2017168"/>
            <a:ext cx="534608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zh-CN" altLang="en-US" sz="2800" b="0" i="0" dirty="0">
                <a:solidFill>
                  <a:srgbClr val="FF0000"/>
                </a:solidFill>
                <a:latin typeface="+mn-ea"/>
                <a:ea typeface="+mn-ea"/>
              </a:rPr>
              <a:t>只含一个根结点</a:t>
            </a:r>
            <a:r>
              <a:rPr lang="en-US" altLang="zh-CN" sz="2800" b="0" i="0" dirty="0">
                <a:solidFill>
                  <a:srgbClr val="FF0000"/>
                </a:solidFill>
                <a:latin typeface="+mn-ea"/>
                <a:ea typeface="+mn-ea"/>
              </a:rPr>
              <a:t>A</a:t>
            </a:r>
            <a:r>
              <a:rPr lang="zh-CN" altLang="en-US" sz="2800" b="0" i="0" dirty="0">
                <a:solidFill>
                  <a:srgbClr val="FF0000"/>
                </a:solidFill>
                <a:latin typeface="+mn-ea"/>
                <a:ea typeface="+mn-ea"/>
              </a:rPr>
              <a:t>的二叉树：</a:t>
            </a:r>
            <a:endParaRPr lang="zh-CN" altLang="en-US" sz="2800" b="0" i="0" dirty="0">
              <a:latin typeface="+mn-ea"/>
              <a:ea typeface="+mn-ea"/>
            </a:endParaRPr>
          </a:p>
        </p:txBody>
      </p:sp>
      <p:sp useBgFill="1">
        <p:nvSpPr>
          <p:cNvPr id="49176" name="Oval 24">
            <a:extLst>
              <a:ext uri="{FF2B5EF4-FFF2-40B4-BE49-F238E27FC236}">
                <a16:creationId xmlns:a16="http://schemas.microsoft.com/office/drawing/2014/main" id="{467BD0C7-F0BC-44C9-B105-654FC1FE59E4}"/>
              </a:ext>
            </a:extLst>
          </p:cNvPr>
          <p:cNvSpPr>
            <a:spLocks noChangeArrowheads="1"/>
          </p:cNvSpPr>
          <p:nvPr/>
        </p:nvSpPr>
        <p:spPr bwMode="auto">
          <a:xfrm>
            <a:off x="4467448" y="3140968"/>
            <a:ext cx="485775" cy="461963"/>
          </a:xfrm>
          <a:prstGeom prst="ellipse">
            <a:avLst/>
          </a:prstGeom>
          <a:ln w="38100" cap="sq">
            <a:solidFill>
              <a:srgbClr val="0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b="1" i="0">
                <a:solidFill>
                  <a:srgbClr val="990033"/>
                </a:solidFill>
                <a:latin typeface="Times New Roman" panose="02020603050405020304" pitchFamily="18" charset="0"/>
              </a:rPr>
              <a:t>A</a:t>
            </a:r>
            <a:endParaRPr lang="en-US" altLang="zh-CN" sz="2400" i="0">
              <a:latin typeface="Times New Roman" panose="02020603050405020304" pitchFamily="18" charset="0"/>
            </a:endParaRPr>
          </a:p>
        </p:txBody>
      </p:sp>
      <p:sp>
        <p:nvSpPr>
          <p:cNvPr id="2" name="Text Box 2">
            <a:extLst>
              <a:ext uri="{FF2B5EF4-FFF2-40B4-BE49-F238E27FC236}">
                <a16:creationId xmlns:a16="http://schemas.microsoft.com/office/drawing/2014/main" id="{8F923955-2DE8-4CB9-952A-3CBB143C2B85}"/>
              </a:ext>
            </a:extLst>
          </p:cNvPr>
          <p:cNvSpPr txBox="1">
            <a:spLocks noChangeArrowheads="1"/>
          </p:cNvSpPr>
          <p:nvPr/>
        </p:nvSpPr>
        <p:spPr bwMode="auto">
          <a:xfrm>
            <a:off x="889546" y="142262"/>
            <a:ext cx="69977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3600" b="1" dirty="0">
                <a:latin typeface="Times New Roman" panose="02020603050405020304" pitchFamily="18" charset="0"/>
                <a:ea typeface="隶书" panose="02010509060101010101" pitchFamily="49" charset="-122"/>
              </a:rPr>
              <a:t>    </a:t>
            </a:r>
            <a:r>
              <a:rPr lang="zh-CN" altLang="en-US" sz="4400" i="0" dirty="0">
                <a:solidFill>
                  <a:schemeClr val="tx2"/>
                </a:solidFill>
                <a:ea typeface="隶书" pitchFamily="49" charset="-122"/>
              </a:rPr>
              <a:t>先序序列创建二叉树</a:t>
            </a:r>
          </a:p>
        </p:txBody>
      </p:sp>
      <p:cxnSp>
        <p:nvCxnSpPr>
          <p:cNvPr id="11" name="直接连接符 10">
            <a:extLst>
              <a:ext uri="{FF2B5EF4-FFF2-40B4-BE49-F238E27FC236}">
                <a16:creationId xmlns:a16="http://schemas.microsoft.com/office/drawing/2014/main" id="{550826A8-B564-44C6-8BA7-E58D38170110}"/>
              </a:ext>
            </a:extLst>
          </p:cNvPr>
          <p:cNvCxnSpPr>
            <a:cxnSpLocks noChangeShapeType="1"/>
          </p:cNvCxnSpPr>
          <p:nvPr/>
        </p:nvCxnSpPr>
        <p:spPr bwMode="auto">
          <a:xfrm flipH="1">
            <a:off x="4003750" y="3661657"/>
            <a:ext cx="563562" cy="477837"/>
          </a:xfrm>
          <a:prstGeom prst="line">
            <a:avLst/>
          </a:prstGeom>
          <a:noFill/>
          <a:ln w="2540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 name="文本框 11">
            <a:extLst>
              <a:ext uri="{FF2B5EF4-FFF2-40B4-BE49-F238E27FC236}">
                <a16:creationId xmlns:a16="http://schemas.microsoft.com/office/drawing/2014/main" id="{5DD35242-B39F-4E5C-9729-1A08D2FB9AAE}"/>
              </a:ext>
            </a:extLst>
          </p:cNvPr>
          <p:cNvSpPr txBox="1">
            <a:spLocks noChangeArrowheads="1"/>
          </p:cNvSpPr>
          <p:nvPr/>
        </p:nvSpPr>
        <p:spPr bwMode="auto">
          <a:xfrm>
            <a:off x="3779912" y="4099807"/>
            <a:ext cx="5762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en-US" altLang="zh-CN" sz="2400" i="0"/>
              <a:t>#</a:t>
            </a:r>
            <a:endParaRPr lang="zh-CN" altLang="en-US" sz="2400" i="0"/>
          </a:p>
        </p:txBody>
      </p:sp>
      <p:cxnSp>
        <p:nvCxnSpPr>
          <p:cNvPr id="13" name="直接连接符 12">
            <a:extLst>
              <a:ext uri="{FF2B5EF4-FFF2-40B4-BE49-F238E27FC236}">
                <a16:creationId xmlns:a16="http://schemas.microsoft.com/office/drawing/2014/main" id="{5F446008-E844-4D56-9310-FA7393487352}"/>
              </a:ext>
            </a:extLst>
          </p:cNvPr>
          <p:cNvCxnSpPr>
            <a:cxnSpLocks noChangeShapeType="1"/>
          </p:cNvCxnSpPr>
          <p:nvPr/>
        </p:nvCxnSpPr>
        <p:spPr bwMode="auto">
          <a:xfrm>
            <a:off x="4789562" y="3644194"/>
            <a:ext cx="374650" cy="466725"/>
          </a:xfrm>
          <a:prstGeom prst="line">
            <a:avLst/>
          </a:prstGeom>
          <a:noFill/>
          <a:ln w="2540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文本框 13">
            <a:extLst>
              <a:ext uri="{FF2B5EF4-FFF2-40B4-BE49-F238E27FC236}">
                <a16:creationId xmlns:a16="http://schemas.microsoft.com/office/drawing/2014/main" id="{57C51C21-1CDE-4C7D-8EF5-324B7E7AF743}"/>
              </a:ext>
            </a:extLst>
          </p:cNvPr>
          <p:cNvSpPr txBox="1">
            <a:spLocks noChangeArrowheads="1"/>
          </p:cNvSpPr>
          <p:nvPr/>
        </p:nvSpPr>
        <p:spPr bwMode="auto">
          <a:xfrm>
            <a:off x="4997525" y="4074407"/>
            <a:ext cx="5762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en-US" altLang="zh-CN" sz="2400" i="0"/>
              <a:t>#</a:t>
            </a:r>
            <a:endParaRPr lang="zh-CN" altLang="en-US" sz="2400" i="0"/>
          </a:p>
        </p:txBody>
      </p:sp>
      <p:sp>
        <p:nvSpPr>
          <p:cNvPr id="15" name="Text Box 7">
            <a:extLst>
              <a:ext uri="{FF2B5EF4-FFF2-40B4-BE49-F238E27FC236}">
                <a16:creationId xmlns:a16="http://schemas.microsoft.com/office/drawing/2014/main" id="{F6B5C2EC-5053-4EC6-95C2-945F89F8875F}"/>
              </a:ext>
            </a:extLst>
          </p:cNvPr>
          <p:cNvSpPr txBox="1">
            <a:spLocks noChangeArrowheads="1"/>
          </p:cNvSpPr>
          <p:nvPr/>
        </p:nvSpPr>
        <p:spPr bwMode="auto">
          <a:xfrm>
            <a:off x="5285656" y="1999663"/>
            <a:ext cx="1368152" cy="54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en-US" altLang="zh-CN" sz="2800" b="0" i="0" dirty="0">
                <a:latin typeface="+mn-ea"/>
                <a:ea typeface="+mn-ea"/>
              </a:rPr>
              <a:t>A##</a:t>
            </a:r>
            <a:endParaRPr lang="zh-CN" altLang="en-US" sz="2800" b="0" i="0" dirty="0">
              <a:latin typeface="+mn-ea"/>
              <a:ea typeface="+mn-ea"/>
            </a:endParaRPr>
          </a:p>
        </p:txBody>
      </p:sp>
    </p:spTree>
  </p:cSld>
  <p:clrMapOvr>
    <a:masterClrMapping/>
  </p:clrMapOvr>
  <p:transition spd="med">
    <p:pull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9174"/>
                                        </p:tgtEl>
                                        <p:attrNameLst>
                                          <p:attrName>style.visibility</p:attrName>
                                        </p:attrNameLst>
                                      </p:cBhvr>
                                      <p:to>
                                        <p:strVal val="visible"/>
                                      </p:to>
                                    </p:set>
                                    <p:anim calcmode="lin" valueType="num">
                                      <p:cBhvr additive="base">
                                        <p:cTn id="7" dur="500" fill="hold"/>
                                        <p:tgtEl>
                                          <p:spTgt spid="49174"/>
                                        </p:tgtEl>
                                        <p:attrNameLst>
                                          <p:attrName>ppt_x</p:attrName>
                                        </p:attrNameLst>
                                      </p:cBhvr>
                                      <p:tavLst>
                                        <p:tav tm="0">
                                          <p:val>
                                            <p:strVal val="0-#ppt_w/2"/>
                                          </p:val>
                                        </p:tav>
                                        <p:tav tm="100000">
                                          <p:val>
                                            <p:strVal val="#ppt_x"/>
                                          </p:val>
                                        </p:tav>
                                      </p:tavLst>
                                    </p:anim>
                                    <p:anim calcmode="lin" valueType="num">
                                      <p:cBhvr additive="base">
                                        <p:cTn id="8" dur="500" fill="hold"/>
                                        <p:tgtEl>
                                          <p:spTgt spid="4917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iterate type="wd">
                                    <p:tmPct val="100000"/>
                                  </p:iterate>
                                  <p:childTnLst>
                                    <p:set>
                                      <p:cBhvr>
                                        <p:cTn id="12" dur="1" fill="hold">
                                          <p:stCondLst>
                                            <p:cond delay="0"/>
                                          </p:stCondLst>
                                        </p:cTn>
                                        <p:tgtEl>
                                          <p:spTgt spid="49159"/>
                                        </p:tgtEl>
                                        <p:attrNameLst>
                                          <p:attrName>style.visibility</p:attrName>
                                        </p:attrNameLst>
                                      </p:cBhvr>
                                      <p:to>
                                        <p:strVal val="visible"/>
                                      </p:to>
                                    </p:set>
                                    <p:animEffect transition="in" filter="wipe(left)">
                                      <p:cBhvr>
                                        <p:cTn id="13" dur="300"/>
                                        <p:tgtEl>
                                          <p:spTgt spid="49159"/>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49175"/>
                                        </p:tgtEl>
                                        <p:attrNameLst>
                                          <p:attrName>style.visibility</p:attrName>
                                        </p:attrNameLst>
                                      </p:cBhvr>
                                      <p:to>
                                        <p:strVal val="visible"/>
                                      </p:to>
                                    </p:set>
                                    <p:anim calcmode="lin" valueType="num">
                                      <p:cBhvr additive="base">
                                        <p:cTn id="18" dur="500" fill="hold"/>
                                        <p:tgtEl>
                                          <p:spTgt spid="49175"/>
                                        </p:tgtEl>
                                        <p:attrNameLst>
                                          <p:attrName>ppt_x</p:attrName>
                                        </p:attrNameLst>
                                      </p:cBhvr>
                                      <p:tavLst>
                                        <p:tav tm="0">
                                          <p:val>
                                            <p:strVal val="0-#ppt_w/2"/>
                                          </p:val>
                                        </p:tav>
                                        <p:tav tm="100000">
                                          <p:val>
                                            <p:strVal val="#ppt_x"/>
                                          </p:val>
                                        </p:tav>
                                      </p:tavLst>
                                    </p:anim>
                                    <p:anim calcmode="lin" valueType="num">
                                      <p:cBhvr additive="base">
                                        <p:cTn id="19" dur="500" fill="hold"/>
                                        <p:tgtEl>
                                          <p:spTgt spid="49175"/>
                                        </p:tgtEl>
                                        <p:attrNameLst>
                                          <p:attrName>ppt_y</p:attrName>
                                        </p:attrNameLst>
                                      </p:cBhvr>
                                      <p:tavLst>
                                        <p:tav tm="0">
                                          <p:val>
                                            <p:strVal val="#ppt_y"/>
                                          </p:val>
                                        </p:tav>
                                        <p:tav tm="100000">
                                          <p:val>
                                            <p:strVal val="#ppt_y"/>
                                          </p:val>
                                        </p:tav>
                                      </p:tavLst>
                                    </p:anim>
                                  </p:childTnLst>
                                </p:cTn>
                              </p:par>
                            </p:childTnLst>
                          </p:cTn>
                        </p:par>
                        <p:par>
                          <p:cTn id="20" fill="hold" nodeType="afterGroup">
                            <p:stCondLst>
                              <p:cond delay="500"/>
                            </p:stCondLst>
                            <p:childTnLst>
                              <p:par>
                                <p:cTn id="21" presetID="1" presetClass="entr" presetSubtype="0" fill="hold" grpId="0" nodeType="afterEffect">
                                  <p:stCondLst>
                                    <p:cond delay="0"/>
                                  </p:stCondLst>
                                  <p:childTnLst>
                                    <p:set>
                                      <p:cBhvr>
                                        <p:cTn id="22" dur="1" fill="hold">
                                          <p:stCondLst>
                                            <p:cond delay="499"/>
                                          </p:stCondLst>
                                        </p:cTn>
                                        <p:tgtEl>
                                          <p:spTgt spid="4917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iterate type="wd">
                                    <p:tmPct val="100000"/>
                                  </p:iterate>
                                  <p:childTnLst>
                                    <p:set>
                                      <p:cBhvr>
                                        <p:cTn id="36" dur="1" fill="hold">
                                          <p:stCondLst>
                                            <p:cond delay="0"/>
                                          </p:stCondLst>
                                        </p:cTn>
                                        <p:tgtEl>
                                          <p:spTgt spid="15"/>
                                        </p:tgtEl>
                                        <p:attrNameLst>
                                          <p:attrName>style.visibility</p:attrName>
                                        </p:attrNameLst>
                                      </p:cBhvr>
                                      <p:to>
                                        <p:strVal val="visible"/>
                                      </p:to>
                                    </p:set>
                                    <p:animEffect transition="in" filter="wipe(left)">
                                      <p:cBhvr>
                                        <p:cTn id="37" dur="3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9" grpId="0" autoUpdateAnimBg="0"/>
      <p:bldP spid="49174" grpId="0" autoUpdateAnimBg="0"/>
      <p:bldP spid="49175" grpId="0" autoUpdateAnimBg="0"/>
      <p:bldP spid="49176" grpId="0" animBg="1" autoUpdateAnimBg="0"/>
      <p:bldP spid="12" grpId="0"/>
      <p:bldP spid="14" grpId="0"/>
      <p:bldP spid="15" grpId="0"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a:extLst>
              <a:ext uri="{FF2B5EF4-FFF2-40B4-BE49-F238E27FC236}">
                <a16:creationId xmlns:a16="http://schemas.microsoft.com/office/drawing/2014/main" id="{F90FD2ED-9EA1-4172-8092-391246AC0CC7}"/>
              </a:ext>
            </a:extLst>
          </p:cNvPr>
          <p:cNvSpPr txBox="1">
            <a:spLocks noChangeArrowheads="1"/>
          </p:cNvSpPr>
          <p:nvPr/>
        </p:nvSpPr>
        <p:spPr bwMode="auto">
          <a:xfrm>
            <a:off x="889546" y="142262"/>
            <a:ext cx="69977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3600" b="1" dirty="0">
                <a:latin typeface="Times New Roman" panose="02020603050405020304" pitchFamily="18" charset="0"/>
                <a:ea typeface="隶书" panose="02010509060101010101" pitchFamily="49" charset="-122"/>
              </a:rPr>
              <a:t>    </a:t>
            </a:r>
            <a:r>
              <a:rPr lang="zh-CN" altLang="en-US" sz="4400" i="0" dirty="0">
                <a:solidFill>
                  <a:schemeClr val="tx2"/>
                </a:solidFill>
                <a:ea typeface="隶书" pitchFamily="49" charset="-122"/>
              </a:rPr>
              <a:t>先序序列创建二叉树实现</a:t>
            </a:r>
          </a:p>
        </p:txBody>
      </p:sp>
      <p:sp>
        <p:nvSpPr>
          <p:cNvPr id="4" name="文本框 3">
            <a:extLst>
              <a:ext uri="{FF2B5EF4-FFF2-40B4-BE49-F238E27FC236}">
                <a16:creationId xmlns:a16="http://schemas.microsoft.com/office/drawing/2014/main" id="{93B8355B-E065-103E-AAD3-C24AEF3CCC67}"/>
              </a:ext>
            </a:extLst>
          </p:cNvPr>
          <p:cNvSpPr txBox="1"/>
          <p:nvPr/>
        </p:nvSpPr>
        <p:spPr>
          <a:xfrm>
            <a:off x="539552" y="1305341"/>
            <a:ext cx="9433048" cy="4154984"/>
          </a:xfrm>
          <a:prstGeom prst="rect">
            <a:avLst/>
          </a:prstGeom>
          <a:noFill/>
        </p:spPr>
        <p:txBody>
          <a:bodyPr wrap="square">
            <a:spAutoFit/>
          </a:bodyPr>
          <a:lstStyle/>
          <a:p>
            <a:r>
              <a:rPr lang="en-US" altLang="zh-CN" sz="2400" b="0" i="0" dirty="0">
                <a:solidFill>
                  <a:srgbClr val="008000"/>
                </a:solidFill>
                <a:effectLst/>
                <a:latin typeface="+mn-ea"/>
                <a:ea typeface="+mn-ea"/>
              </a:rPr>
              <a:t>// </a:t>
            </a:r>
            <a:r>
              <a:rPr lang="zh-CN" altLang="en-US" sz="2400" b="0" i="0" dirty="0">
                <a:solidFill>
                  <a:srgbClr val="008000"/>
                </a:solidFill>
                <a:effectLst/>
                <a:latin typeface="+mn-ea"/>
                <a:ea typeface="+mn-ea"/>
              </a:rPr>
              <a:t>先序序列</a:t>
            </a:r>
            <a:r>
              <a:rPr lang="en-US" altLang="zh-CN" sz="2400" b="0" i="0" dirty="0">
                <a:solidFill>
                  <a:srgbClr val="008000"/>
                </a:solidFill>
                <a:effectLst/>
                <a:latin typeface="+mn-ea"/>
                <a:ea typeface="+mn-ea"/>
              </a:rPr>
              <a:t>s[</a:t>
            </a:r>
            <a:r>
              <a:rPr lang="en-US" altLang="zh-CN" sz="2400" b="0" i="0" dirty="0" err="1">
                <a:solidFill>
                  <a:srgbClr val="008000"/>
                </a:solidFill>
                <a:effectLst/>
                <a:latin typeface="+mn-ea"/>
                <a:ea typeface="+mn-ea"/>
              </a:rPr>
              <a:t>i</a:t>
            </a:r>
            <a:r>
              <a:rPr lang="en-US" altLang="zh-CN" sz="2400" b="0" i="0" dirty="0">
                <a:solidFill>
                  <a:srgbClr val="008000"/>
                </a:solidFill>
                <a:effectLst/>
                <a:latin typeface="+mn-ea"/>
                <a:ea typeface="+mn-ea"/>
              </a:rPr>
              <a:t>]</a:t>
            </a:r>
            <a:r>
              <a:rPr lang="zh-CN" altLang="en-US" sz="2400" b="0" i="0" dirty="0">
                <a:solidFill>
                  <a:srgbClr val="008000"/>
                </a:solidFill>
                <a:effectLst/>
                <a:latin typeface="+mn-ea"/>
                <a:ea typeface="+mn-ea"/>
              </a:rPr>
              <a:t>创建二叉树的子树根，返回子树根</a:t>
            </a:r>
            <a:endParaRPr lang="zh-CN" altLang="en-US" sz="2400" b="0" i="0" dirty="0">
              <a:solidFill>
                <a:srgbClr val="000000"/>
              </a:solidFill>
              <a:effectLst/>
              <a:latin typeface="+mn-ea"/>
              <a:ea typeface="+mn-ea"/>
            </a:endParaRPr>
          </a:p>
          <a:p>
            <a:r>
              <a:rPr lang="en-US" altLang="zh-CN" sz="2400" b="0" i="0" dirty="0" err="1">
                <a:solidFill>
                  <a:srgbClr val="267F99"/>
                </a:solidFill>
                <a:effectLst/>
                <a:latin typeface="+mn-ea"/>
                <a:ea typeface="+mn-ea"/>
              </a:rPr>
              <a:t>BiTree</a:t>
            </a:r>
            <a:r>
              <a:rPr lang="en-US" altLang="zh-CN" sz="2400" b="0" i="0" dirty="0">
                <a:solidFill>
                  <a:srgbClr val="000000"/>
                </a:solidFill>
                <a:effectLst/>
                <a:latin typeface="+mn-ea"/>
                <a:ea typeface="+mn-ea"/>
              </a:rPr>
              <a:t> </a:t>
            </a:r>
            <a:r>
              <a:rPr lang="en-US" altLang="zh-CN" sz="2400" b="0" i="0" dirty="0" err="1">
                <a:solidFill>
                  <a:srgbClr val="795E26"/>
                </a:solidFill>
                <a:effectLst/>
                <a:latin typeface="+mn-ea"/>
                <a:ea typeface="+mn-ea"/>
              </a:rPr>
              <a:t>CreateBiTree</a:t>
            </a:r>
            <a:r>
              <a:rPr lang="en-US" altLang="zh-CN" sz="2400" b="0" i="0" dirty="0">
                <a:solidFill>
                  <a:srgbClr val="000000"/>
                </a:solidFill>
                <a:effectLst/>
                <a:latin typeface="+mn-ea"/>
                <a:ea typeface="+mn-ea"/>
              </a:rPr>
              <a:t>(</a:t>
            </a:r>
            <a:r>
              <a:rPr lang="en-US" altLang="zh-CN" sz="2400" b="0" i="0" dirty="0">
                <a:solidFill>
                  <a:srgbClr val="267F99"/>
                </a:solidFill>
                <a:effectLst/>
                <a:latin typeface="+mn-ea"/>
                <a:ea typeface="+mn-ea"/>
              </a:rPr>
              <a:t>string</a:t>
            </a:r>
            <a:r>
              <a:rPr lang="en-US" altLang="zh-CN" sz="2400" b="0" i="0" dirty="0">
                <a:solidFill>
                  <a:srgbClr val="000000"/>
                </a:solidFill>
                <a:effectLst/>
                <a:latin typeface="+mn-ea"/>
                <a:ea typeface="+mn-ea"/>
              </a:rPr>
              <a:t> </a:t>
            </a:r>
            <a:r>
              <a:rPr lang="en-US" altLang="zh-CN" sz="2400" b="0" i="0" dirty="0">
                <a:solidFill>
                  <a:srgbClr val="001080"/>
                </a:solidFill>
                <a:effectLst/>
                <a:latin typeface="+mn-ea"/>
                <a:ea typeface="+mn-ea"/>
              </a:rPr>
              <a:t>s</a:t>
            </a:r>
            <a:r>
              <a:rPr lang="en-US" altLang="zh-CN" sz="2400" b="0" i="0" dirty="0">
                <a:solidFill>
                  <a:srgbClr val="000000"/>
                </a:solidFill>
                <a:effectLst/>
                <a:latin typeface="+mn-ea"/>
                <a:ea typeface="+mn-ea"/>
              </a:rPr>
              <a:t>, </a:t>
            </a:r>
            <a:r>
              <a:rPr lang="en-US" altLang="zh-CN" sz="2400" b="0" i="0" dirty="0">
                <a:solidFill>
                  <a:srgbClr val="0000FF"/>
                </a:solidFill>
                <a:effectLst/>
                <a:latin typeface="+mn-ea"/>
                <a:ea typeface="+mn-ea"/>
              </a:rPr>
              <a:t>int</a:t>
            </a:r>
            <a:r>
              <a:rPr lang="en-US" altLang="zh-CN" sz="2400" b="0" i="0" dirty="0">
                <a:solidFill>
                  <a:srgbClr val="000000"/>
                </a:solidFill>
                <a:effectLst/>
                <a:latin typeface="+mn-ea"/>
                <a:ea typeface="+mn-ea"/>
              </a:rPr>
              <a:t> </a:t>
            </a:r>
            <a:r>
              <a:rPr lang="en-US" altLang="zh-CN" sz="2400" b="0" i="0" dirty="0">
                <a:solidFill>
                  <a:srgbClr val="0000FF"/>
                </a:solidFill>
                <a:effectLst/>
                <a:latin typeface="+mn-ea"/>
                <a:ea typeface="+mn-ea"/>
              </a:rPr>
              <a:t>&amp;</a:t>
            </a:r>
            <a:r>
              <a:rPr lang="en-US" altLang="zh-CN" sz="2400" b="0" i="0" dirty="0" err="1">
                <a:solidFill>
                  <a:srgbClr val="001080"/>
                </a:solidFill>
                <a:effectLst/>
                <a:latin typeface="+mn-ea"/>
                <a:ea typeface="+mn-ea"/>
              </a:rPr>
              <a:t>i</a:t>
            </a:r>
            <a:r>
              <a:rPr lang="en-US" altLang="zh-CN" sz="2400" b="0" i="0" dirty="0">
                <a:solidFill>
                  <a:srgbClr val="000000"/>
                </a:solidFill>
                <a:effectLst/>
                <a:latin typeface="+mn-ea"/>
                <a:ea typeface="+mn-ea"/>
              </a:rPr>
              <a:t>)</a:t>
            </a:r>
          </a:p>
          <a:p>
            <a:r>
              <a:rPr lang="en-US" altLang="zh-CN" sz="2400" b="0" i="0" dirty="0">
                <a:solidFill>
                  <a:srgbClr val="000000"/>
                </a:solidFill>
                <a:effectLst/>
                <a:latin typeface="+mn-ea"/>
                <a:ea typeface="+mn-ea"/>
              </a:rPr>
              <a:t>{</a:t>
            </a:r>
          </a:p>
          <a:p>
            <a:r>
              <a:rPr lang="en-US" altLang="zh-CN" sz="2400" b="0" i="0" dirty="0">
                <a:solidFill>
                  <a:srgbClr val="000000"/>
                </a:solidFill>
                <a:effectLst/>
                <a:latin typeface="+mn-ea"/>
                <a:ea typeface="+mn-ea"/>
              </a:rPr>
              <a:t>    </a:t>
            </a:r>
            <a:r>
              <a:rPr lang="en-US" altLang="zh-CN" sz="2400" b="0" i="0" dirty="0">
                <a:solidFill>
                  <a:srgbClr val="AF00DB"/>
                </a:solidFill>
                <a:effectLst/>
                <a:latin typeface="+mn-ea"/>
                <a:ea typeface="+mn-ea"/>
              </a:rPr>
              <a:t>if</a:t>
            </a:r>
            <a:r>
              <a:rPr lang="en-US" altLang="zh-CN" sz="2400" b="0" i="0" dirty="0">
                <a:solidFill>
                  <a:srgbClr val="000000"/>
                </a:solidFill>
                <a:effectLst/>
                <a:latin typeface="+mn-ea"/>
                <a:ea typeface="+mn-ea"/>
              </a:rPr>
              <a:t> (</a:t>
            </a:r>
            <a:r>
              <a:rPr lang="en-US" altLang="zh-CN" sz="2400" b="0" i="0" dirty="0">
                <a:solidFill>
                  <a:srgbClr val="001080"/>
                </a:solidFill>
                <a:effectLst/>
                <a:latin typeface="+mn-ea"/>
                <a:ea typeface="+mn-ea"/>
              </a:rPr>
              <a:t>s</a:t>
            </a:r>
            <a:r>
              <a:rPr lang="en-US" altLang="zh-CN" sz="2400" b="0" i="0" dirty="0">
                <a:solidFill>
                  <a:srgbClr val="795E26"/>
                </a:solidFill>
                <a:effectLst/>
                <a:latin typeface="+mn-ea"/>
                <a:ea typeface="+mn-ea"/>
              </a:rPr>
              <a:t>[</a:t>
            </a:r>
            <a:r>
              <a:rPr lang="en-US" altLang="zh-CN" sz="2400" b="0" i="0" dirty="0" err="1">
                <a:solidFill>
                  <a:srgbClr val="001080"/>
                </a:solidFill>
                <a:effectLst/>
                <a:latin typeface="+mn-ea"/>
                <a:ea typeface="+mn-ea"/>
              </a:rPr>
              <a:t>i</a:t>
            </a:r>
            <a:r>
              <a:rPr lang="en-US" altLang="zh-CN" sz="2400" b="0" i="0" dirty="0">
                <a:solidFill>
                  <a:srgbClr val="795E26"/>
                </a:solidFill>
                <a:effectLst/>
                <a:latin typeface="+mn-ea"/>
                <a:ea typeface="+mn-ea"/>
              </a:rPr>
              <a:t>]</a:t>
            </a:r>
            <a:r>
              <a:rPr lang="en-US" altLang="zh-CN" sz="2400" b="0" i="0" dirty="0">
                <a:solidFill>
                  <a:srgbClr val="000000"/>
                </a:solidFill>
                <a:effectLst/>
                <a:latin typeface="+mn-ea"/>
                <a:ea typeface="+mn-ea"/>
              </a:rPr>
              <a:t> == </a:t>
            </a:r>
            <a:r>
              <a:rPr lang="en-US" altLang="zh-CN" sz="2400" b="0" i="0" dirty="0">
                <a:solidFill>
                  <a:srgbClr val="A31515"/>
                </a:solidFill>
                <a:effectLst/>
                <a:latin typeface="+mn-ea"/>
                <a:ea typeface="+mn-ea"/>
              </a:rPr>
              <a:t>'#'</a:t>
            </a:r>
            <a:r>
              <a:rPr lang="en-US" altLang="zh-CN" sz="2400" b="0" i="0" dirty="0">
                <a:solidFill>
                  <a:srgbClr val="000000"/>
                </a:solidFill>
                <a:effectLst/>
                <a:latin typeface="+mn-ea"/>
                <a:ea typeface="+mn-ea"/>
              </a:rPr>
              <a:t>)</a:t>
            </a:r>
            <a:r>
              <a:rPr lang="en-US" altLang="zh-CN" sz="2400" b="0" i="0" dirty="0">
                <a:solidFill>
                  <a:srgbClr val="008000"/>
                </a:solidFill>
                <a:effectLst/>
                <a:latin typeface="+mn-ea"/>
                <a:ea typeface="+mn-ea"/>
              </a:rPr>
              <a:t>   // </a:t>
            </a:r>
            <a:r>
              <a:rPr lang="zh-CN" altLang="en-US" sz="2400" b="0" i="0" dirty="0">
                <a:solidFill>
                  <a:srgbClr val="008000"/>
                </a:solidFill>
                <a:effectLst/>
                <a:latin typeface="+mn-ea"/>
                <a:ea typeface="+mn-ea"/>
              </a:rPr>
              <a:t>空树</a:t>
            </a:r>
            <a:endParaRPr lang="zh-CN" altLang="en-US" sz="2400" b="0" i="0" dirty="0">
              <a:solidFill>
                <a:srgbClr val="000000"/>
              </a:solidFill>
              <a:effectLst/>
              <a:latin typeface="+mn-ea"/>
              <a:ea typeface="+mn-ea"/>
            </a:endParaRPr>
          </a:p>
          <a:p>
            <a:r>
              <a:rPr lang="zh-CN" altLang="en-US" sz="2400" b="0" i="0" dirty="0">
                <a:solidFill>
                  <a:srgbClr val="000000"/>
                </a:solidFill>
                <a:effectLst/>
                <a:latin typeface="+mn-ea"/>
                <a:ea typeface="+mn-ea"/>
              </a:rPr>
              <a:t>        </a:t>
            </a:r>
            <a:r>
              <a:rPr lang="en-US" altLang="zh-CN" sz="2400" b="0" i="0" dirty="0">
                <a:solidFill>
                  <a:srgbClr val="AF00DB"/>
                </a:solidFill>
                <a:effectLst/>
                <a:latin typeface="+mn-ea"/>
                <a:ea typeface="+mn-ea"/>
              </a:rPr>
              <a:t>return</a:t>
            </a:r>
            <a:r>
              <a:rPr lang="en-US" altLang="zh-CN" sz="2400" b="0" i="0" dirty="0">
                <a:solidFill>
                  <a:srgbClr val="000000"/>
                </a:solidFill>
                <a:effectLst/>
                <a:latin typeface="+mn-ea"/>
                <a:ea typeface="+mn-ea"/>
              </a:rPr>
              <a:t> </a:t>
            </a:r>
            <a:r>
              <a:rPr lang="en-US" altLang="zh-CN" sz="2400" b="0" i="0" dirty="0" err="1">
                <a:solidFill>
                  <a:srgbClr val="0000FF"/>
                </a:solidFill>
                <a:effectLst/>
                <a:latin typeface="+mn-ea"/>
                <a:ea typeface="+mn-ea"/>
              </a:rPr>
              <a:t>nullptr</a:t>
            </a:r>
            <a:r>
              <a:rPr lang="en-US" altLang="zh-CN" sz="2400" b="0" i="0" dirty="0">
                <a:solidFill>
                  <a:srgbClr val="000000"/>
                </a:solidFill>
                <a:effectLst/>
                <a:latin typeface="+mn-ea"/>
                <a:ea typeface="+mn-ea"/>
              </a:rPr>
              <a:t>;</a:t>
            </a:r>
          </a:p>
          <a:p>
            <a:endParaRPr lang="en-US" altLang="zh-CN" sz="2400" b="0" i="0" dirty="0">
              <a:solidFill>
                <a:srgbClr val="000000"/>
              </a:solidFill>
              <a:effectLst/>
              <a:latin typeface="+mn-ea"/>
              <a:ea typeface="+mn-ea"/>
            </a:endParaRPr>
          </a:p>
          <a:p>
            <a:r>
              <a:rPr lang="en-US" altLang="zh-CN" sz="2400" b="0" i="0" dirty="0">
                <a:solidFill>
                  <a:srgbClr val="000000"/>
                </a:solidFill>
                <a:effectLst/>
                <a:latin typeface="+mn-ea"/>
                <a:ea typeface="+mn-ea"/>
              </a:rPr>
              <a:t>    </a:t>
            </a:r>
            <a:r>
              <a:rPr lang="en-US" altLang="zh-CN" sz="2400" b="0" i="0" dirty="0" err="1">
                <a:solidFill>
                  <a:srgbClr val="267F99"/>
                </a:solidFill>
                <a:effectLst/>
                <a:latin typeface="+mn-ea"/>
                <a:ea typeface="+mn-ea"/>
              </a:rPr>
              <a:t>BiTree</a:t>
            </a:r>
            <a:r>
              <a:rPr lang="en-US" altLang="zh-CN" sz="2400" b="0" i="0" dirty="0">
                <a:solidFill>
                  <a:srgbClr val="000000"/>
                </a:solidFill>
                <a:effectLst/>
                <a:latin typeface="+mn-ea"/>
                <a:ea typeface="+mn-ea"/>
              </a:rPr>
              <a:t> </a:t>
            </a:r>
            <a:r>
              <a:rPr lang="en-US" altLang="zh-CN" sz="2400" b="0" i="0" dirty="0">
                <a:solidFill>
                  <a:srgbClr val="001080"/>
                </a:solidFill>
                <a:effectLst/>
                <a:latin typeface="+mn-ea"/>
                <a:ea typeface="+mn-ea"/>
              </a:rPr>
              <a:t>T</a:t>
            </a:r>
            <a:r>
              <a:rPr lang="en-US" altLang="zh-CN" sz="2400" b="0" i="0" dirty="0">
                <a:solidFill>
                  <a:srgbClr val="000000"/>
                </a:solidFill>
                <a:effectLst/>
                <a:latin typeface="+mn-ea"/>
                <a:ea typeface="+mn-ea"/>
              </a:rPr>
              <a:t> = </a:t>
            </a:r>
            <a:r>
              <a:rPr lang="en-US" altLang="zh-CN" sz="2400" b="0" i="0" dirty="0">
                <a:solidFill>
                  <a:srgbClr val="AF00DB"/>
                </a:solidFill>
                <a:effectLst/>
                <a:latin typeface="+mn-ea"/>
                <a:ea typeface="+mn-ea"/>
              </a:rPr>
              <a:t>new</a:t>
            </a:r>
            <a:r>
              <a:rPr lang="en-US" altLang="zh-CN" sz="2400" b="0" i="0" dirty="0">
                <a:solidFill>
                  <a:srgbClr val="000000"/>
                </a:solidFill>
                <a:effectLst/>
                <a:latin typeface="+mn-ea"/>
                <a:ea typeface="+mn-ea"/>
              </a:rPr>
              <a:t> </a:t>
            </a:r>
            <a:r>
              <a:rPr lang="en-US" altLang="zh-CN" sz="2400" b="0" i="0" dirty="0" err="1">
                <a:solidFill>
                  <a:srgbClr val="267F99"/>
                </a:solidFill>
                <a:effectLst/>
                <a:latin typeface="+mn-ea"/>
                <a:ea typeface="+mn-ea"/>
              </a:rPr>
              <a:t>BiTNode</a:t>
            </a:r>
            <a:r>
              <a:rPr lang="en-US" altLang="zh-CN" sz="2400" b="0" i="0" dirty="0">
                <a:solidFill>
                  <a:srgbClr val="000000"/>
                </a:solidFill>
                <a:effectLst/>
                <a:latin typeface="+mn-ea"/>
                <a:ea typeface="+mn-ea"/>
              </a:rPr>
              <a:t>(</a:t>
            </a:r>
            <a:r>
              <a:rPr lang="en-US" altLang="zh-CN" sz="2400" b="0" i="0" dirty="0">
                <a:solidFill>
                  <a:srgbClr val="001080"/>
                </a:solidFill>
                <a:effectLst/>
                <a:latin typeface="+mn-ea"/>
                <a:ea typeface="+mn-ea"/>
              </a:rPr>
              <a:t>s</a:t>
            </a:r>
            <a:r>
              <a:rPr lang="en-US" altLang="zh-CN" sz="2400" b="0" i="0" dirty="0">
                <a:solidFill>
                  <a:srgbClr val="795E26"/>
                </a:solidFill>
                <a:effectLst/>
                <a:latin typeface="+mn-ea"/>
                <a:ea typeface="+mn-ea"/>
              </a:rPr>
              <a:t>[</a:t>
            </a:r>
            <a:r>
              <a:rPr lang="en-US" altLang="zh-CN" sz="2400" b="0" i="0" dirty="0" err="1">
                <a:solidFill>
                  <a:srgbClr val="001080"/>
                </a:solidFill>
                <a:effectLst/>
                <a:latin typeface="+mn-ea"/>
                <a:ea typeface="+mn-ea"/>
              </a:rPr>
              <a:t>i</a:t>
            </a:r>
            <a:r>
              <a:rPr lang="en-US" altLang="zh-CN" sz="2400" b="0" i="0" dirty="0">
                <a:solidFill>
                  <a:srgbClr val="795E26"/>
                </a:solidFill>
                <a:effectLst/>
                <a:latin typeface="+mn-ea"/>
                <a:ea typeface="+mn-ea"/>
              </a:rPr>
              <a:t>]</a:t>
            </a:r>
            <a:r>
              <a:rPr lang="en-US" altLang="zh-CN" sz="2400" b="0" i="0" dirty="0">
                <a:solidFill>
                  <a:srgbClr val="000000"/>
                </a:solidFill>
                <a:effectLst/>
                <a:latin typeface="+mn-ea"/>
                <a:ea typeface="+mn-ea"/>
              </a:rPr>
              <a:t>, </a:t>
            </a:r>
            <a:r>
              <a:rPr lang="en-US" altLang="zh-CN" sz="2400" b="0" i="0" dirty="0" err="1">
                <a:solidFill>
                  <a:srgbClr val="0000FF"/>
                </a:solidFill>
                <a:effectLst/>
                <a:latin typeface="+mn-ea"/>
                <a:ea typeface="+mn-ea"/>
              </a:rPr>
              <a:t>nullptr</a:t>
            </a:r>
            <a:r>
              <a:rPr lang="en-US" altLang="zh-CN" sz="2400" b="0" i="0" dirty="0">
                <a:solidFill>
                  <a:srgbClr val="000000"/>
                </a:solidFill>
                <a:effectLst/>
                <a:latin typeface="+mn-ea"/>
                <a:ea typeface="+mn-ea"/>
              </a:rPr>
              <a:t>, </a:t>
            </a:r>
            <a:r>
              <a:rPr lang="en-US" altLang="zh-CN" sz="2400" b="0" i="0" dirty="0" err="1">
                <a:solidFill>
                  <a:srgbClr val="0000FF"/>
                </a:solidFill>
                <a:effectLst/>
                <a:latin typeface="+mn-ea"/>
                <a:ea typeface="+mn-ea"/>
              </a:rPr>
              <a:t>nullptr</a:t>
            </a:r>
            <a:r>
              <a:rPr lang="en-US" altLang="zh-CN" sz="2400" b="0" i="0" dirty="0">
                <a:solidFill>
                  <a:srgbClr val="000000"/>
                </a:solidFill>
                <a:effectLst/>
                <a:latin typeface="+mn-ea"/>
                <a:ea typeface="+mn-ea"/>
              </a:rPr>
              <a:t>);</a:t>
            </a:r>
            <a:r>
              <a:rPr lang="en-US" altLang="zh-CN" sz="2400" b="0" i="0" dirty="0">
                <a:solidFill>
                  <a:srgbClr val="008000"/>
                </a:solidFill>
                <a:effectLst/>
                <a:latin typeface="+mn-ea"/>
                <a:ea typeface="+mn-ea"/>
              </a:rPr>
              <a:t>  //</a:t>
            </a:r>
            <a:r>
              <a:rPr lang="zh-CN" altLang="en-US" sz="2400" b="0" i="0" dirty="0">
                <a:solidFill>
                  <a:srgbClr val="008000"/>
                </a:solidFill>
                <a:effectLst/>
                <a:latin typeface="+mn-ea"/>
                <a:ea typeface="+mn-ea"/>
              </a:rPr>
              <a:t>非空树</a:t>
            </a:r>
            <a:endParaRPr lang="zh-CN" altLang="en-US" sz="2400" b="0" i="0" dirty="0">
              <a:solidFill>
                <a:srgbClr val="000000"/>
              </a:solidFill>
              <a:effectLst/>
              <a:latin typeface="+mn-ea"/>
              <a:ea typeface="+mn-ea"/>
            </a:endParaRPr>
          </a:p>
          <a:p>
            <a:r>
              <a:rPr lang="zh-CN" altLang="en-US" sz="2400" b="0" i="0" dirty="0">
                <a:solidFill>
                  <a:srgbClr val="000000"/>
                </a:solidFill>
                <a:effectLst/>
                <a:latin typeface="+mn-ea"/>
                <a:ea typeface="+mn-ea"/>
              </a:rPr>
              <a:t>    </a:t>
            </a:r>
            <a:r>
              <a:rPr lang="en-US" altLang="zh-CN" sz="2400" b="0" i="0" dirty="0">
                <a:solidFill>
                  <a:srgbClr val="001080"/>
                </a:solidFill>
                <a:effectLst/>
                <a:latin typeface="+mn-ea"/>
                <a:ea typeface="+mn-ea"/>
              </a:rPr>
              <a:t>T</a:t>
            </a:r>
            <a:r>
              <a:rPr lang="en-US" altLang="zh-CN" sz="2400" b="0" i="0" dirty="0">
                <a:solidFill>
                  <a:srgbClr val="000000"/>
                </a:solidFill>
                <a:effectLst/>
                <a:latin typeface="+mn-ea"/>
                <a:ea typeface="+mn-ea"/>
              </a:rPr>
              <a:t>-&gt;</a:t>
            </a:r>
            <a:r>
              <a:rPr lang="en-US" altLang="zh-CN" sz="2400" b="0" i="0" dirty="0" err="1">
                <a:solidFill>
                  <a:srgbClr val="001080"/>
                </a:solidFill>
                <a:effectLst/>
                <a:latin typeface="+mn-ea"/>
                <a:ea typeface="+mn-ea"/>
              </a:rPr>
              <a:t>lchild</a:t>
            </a:r>
            <a:r>
              <a:rPr lang="en-US" altLang="zh-CN" sz="2400" b="0" i="0" dirty="0">
                <a:solidFill>
                  <a:srgbClr val="000000"/>
                </a:solidFill>
                <a:effectLst/>
                <a:latin typeface="+mn-ea"/>
                <a:ea typeface="+mn-ea"/>
              </a:rPr>
              <a:t> = </a:t>
            </a:r>
            <a:r>
              <a:rPr lang="en-US" altLang="zh-CN" sz="2400" b="0" i="0" dirty="0" err="1">
                <a:solidFill>
                  <a:srgbClr val="795E26"/>
                </a:solidFill>
                <a:effectLst/>
                <a:latin typeface="+mn-ea"/>
                <a:ea typeface="+mn-ea"/>
              </a:rPr>
              <a:t>CreateBiTree</a:t>
            </a:r>
            <a:r>
              <a:rPr lang="en-US" altLang="zh-CN" sz="2400" b="0" i="0" dirty="0">
                <a:solidFill>
                  <a:srgbClr val="000000"/>
                </a:solidFill>
                <a:effectLst/>
                <a:latin typeface="+mn-ea"/>
                <a:ea typeface="+mn-ea"/>
              </a:rPr>
              <a:t>(</a:t>
            </a:r>
            <a:r>
              <a:rPr lang="en-US" altLang="zh-CN" sz="2400" b="0" i="0" dirty="0">
                <a:solidFill>
                  <a:srgbClr val="001080"/>
                </a:solidFill>
                <a:effectLst/>
                <a:latin typeface="+mn-ea"/>
                <a:ea typeface="+mn-ea"/>
              </a:rPr>
              <a:t>s</a:t>
            </a:r>
            <a:r>
              <a:rPr lang="en-US" altLang="zh-CN" sz="2400" b="0" i="0" dirty="0">
                <a:solidFill>
                  <a:srgbClr val="000000"/>
                </a:solidFill>
                <a:effectLst/>
                <a:latin typeface="+mn-ea"/>
                <a:ea typeface="+mn-ea"/>
              </a:rPr>
              <a:t>, ++</a:t>
            </a:r>
            <a:r>
              <a:rPr lang="en-US" altLang="zh-CN" sz="2400" b="0" i="0" dirty="0" err="1">
                <a:solidFill>
                  <a:srgbClr val="001080"/>
                </a:solidFill>
                <a:effectLst/>
                <a:latin typeface="+mn-ea"/>
                <a:ea typeface="+mn-ea"/>
              </a:rPr>
              <a:t>i</a:t>
            </a:r>
            <a:r>
              <a:rPr lang="en-US" altLang="zh-CN" sz="2400" b="0" i="0" dirty="0">
                <a:solidFill>
                  <a:srgbClr val="000000"/>
                </a:solidFill>
                <a:effectLst/>
                <a:latin typeface="+mn-ea"/>
                <a:ea typeface="+mn-ea"/>
              </a:rPr>
              <a:t>);</a:t>
            </a:r>
            <a:r>
              <a:rPr lang="en-US" altLang="zh-CN" sz="2400" b="0" i="0" dirty="0">
                <a:solidFill>
                  <a:srgbClr val="008000"/>
                </a:solidFill>
                <a:effectLst/>
                <a:latin typeface="+mn-ea"/>
                <a:ea typeface="+mn-ea"/>
              </a:rPr>
              <a:t>  // </a:t>
            </a:r>
            <a:r>
              <a:rPr lang="zh-CN" altLang="en-US" sz="2400" b="0" i="0" dirty="0">
                <a:solidFill>
                  <a:srgbClr val="008000"/>
                </a:solidFill>
                <a:effectLst/>
                <a:latin typeface="+mn-ea"/>
                <a:ea typeface="+mn-ea"/>
              </a:rPr>
              <a:t>创建左子树</a:t>
            </a:r>
            <a:endParaRPr lang="zh-CN" altLang="en-US" sz="2400" b="0" i="0" dirty="0">
              <a:solidFill>
                <a:srgbClr val="000000"/>
              </a:solidFill>
              <a:effectLst/>
              <a:latin typeface="+mn-ea"/>
              <a:ea typeface="+mn-ea"/>
            </a:endParaRPr>
          </a:p>
          <a:p>
            <a:r>
              <a:rPr lang="zh-CN" altLang="en-US" sz="2400" b="0" i="0" dirty="0">
                <a:solidFill>
                  <a:srgbClr val="000000"/>
                </a:solidFill>
                <a:effectLst/>
                <a:latin typeface="+mn-ea"/>
                <a:ea typeface="+mn-ea"/>
              </a:rPr>
              <a:t>    </a:t>
            </a:r>
            <a:r>
              <a:rPr lang="en-US" altLang="zh-CN" sz="2400" b="0" i="0" dirty="0">
                <a:solidFill>
                  <a:srgbClr val="001080"/>
                </a:solidFill>
                <a:effectLst/>
                <a:latin typeface="+mn-ea"/>
                <a:ea typeface="+mn-ea"/>
              </a:rPr>
              <a:t>T</a:t>
            </a:r>
            <a:r>
              <a:rPr lang="en-US" altLang="zh-CN" sz="2400" b="0" i="0" dirty="0">
                <a:solidFill>
                  <a:srgbClr val="000000"/>
                </a:solidFill>
                <a:effectLst/>
                <a:latin typeface="+mn-ea"/>
                <a:ea typeface="+mn-ea"/>
              </a:rPr>
              <a:t>-&gt;</a:t>
            </a:r>
            <a:r>
              <a:rPr lang="en-US" altLang="zh-CN" sz="2400" b="0" i="0" dirty="0" err="1">
                <a:solidFill>
                  <a:srgbClr val="001080"/>
                </a:solidFill>
                <a:effectLst/>
                <a:latin typeface="+mn-ea"/>
                <a:ea typeface="+mn-ea"/>
              </a:rPr>
              <a:t>rchild</a:t>
            </a:r>
            <a:r>
              <a:rPr lang="en-US" altLang="zh-CN" sz="2400" b="0" i="0" dirty="0">
                <a:solidFill>
                  <a:srgbClr val="000000"/>
                </a:solidFill>
                <a:effectLst/>
                <a:latin typeface="+mn-ea"/>
                <a:ea typeface="+mn-ea"/>
              </a:rPr>
              <a:t> = </a:t>
            </a:r>
            <a:r>
              <a:rPr lang="en-US" altLang="zh-CN" sz="2400" b="0" i="0" dirty="0" err="1">
                <a:solidFill>
                  <a:srgbClr val="795E26"/>
                </a:solidFill>
                <a:effectLst/>
                <a:latin typeface="+mn-ea"/>
                <a:ea typeface="+mn-ea"/>
              </a:rPr>
              <a:t>CreateBiTree</a:t>
            </a:r>
            <a:r>
              <a:rPr lang="en-US" altLang="zh-CN" sz="2400" b="0" i="0" dirty="0">
                <a:solidFill>
                  <a:srgbClr val="000000"/>
                </a:solidFill>
                <a:effectLst/>
                <a:latin typeface="+mn-ea"/>
                <a:ea typeface="+mn-ea"/>
              </a:rPr>
              <a:t>(</a:t>
            </a:r>
            <a:r>
              <a:rPr lang="en-US" altLang="zh-CN" sz="2400" b="0" i="0" dirty="0">
                <a:solidFill>
                  <a:srgbClr val="001080"/>
                </a:solidFill>
                <a:effectLst/>
                <a:latin typeface="+mn-ea"/>
                <a:ea typeface="+mn-ea"/>
              </a:rPr>
              <a:t>s</a:t>
            </a:r>
            <a:r>
              <a:rPr lang="en-US" altLang="zh-CN" sz="2400" b="0" i="0" dirty="0">
                <a:solidFill>
                  <a:srgbClr val="000000"/>
                </a:solidFill>
                <a:effectLst/>
                <a:latin typeface="+mn-ea"/>
                <a:ea typeface="+mn-ea"/>
              </a:rPr>
              <a:t>, ++</a:t>
            </a:r>
            <a:r>
              <a:rPr lang="en-US" altLang="zh-CN" sz="2400" b="0" i="0" dirty="0" err="1">
                <a:solidFill>
                  <a:srgbClr val="001080"/>
                </a:solidFill>
                <a:effectLst/>
                <a:latin typeface="+mn-ea"/>
                <a:ea typeface="+mn-ea"/>
              </a:rPr>
              <a:t>i</a:t>
            </a:r>
            <a:r>
              <a:rPr lang="en-US" altLang="zh-CN" sz="2400" b="0" i="0" dirty="0">
                <a:solidFill>
                  <a:srgbClr val="000000"/>
                </a:solidFill>
                <a:effectLst/>
                <a:latin typeface="+mn-ea"/>
                <a:ea typeface="+mn-ea"/>
              </a:rPr>
              <a:t>);</a:t>
            </a:r>
            <a:r>
              <a:rPr lang="en-US" altLang="zh-CN" sz="2400" b="0" i="0" dirty="0">
                <a:solidFill>
                  <a:srgbClr val="008000"/>
                </a:solidFill>
                <a:effectLst/>
                <a:latin typeface="+mn-ea"/>
                <a:ea typeface="+mn-ea"/>
              </a:rPr>
              <a:t>  // </a:t>
            </a:r>
            <a:r>
              <a:rPr lang="zh-CN" altLang="en-US" sz="2400" b="0" i="0" dirty="0">
                <a:solidFill>
                  <a:srgbClr val="008000"/>
                </a:solidFill>
                <a:effectLst/>
                <a:latin typeface="+mn-ea"/>
                <a:ea typeface="+mn-ea"/>
              </a:rPr>
              <a:t>创建右子树</a:t>
            </a:r>
            <a:endParaRPr lang="zh-CN" altLang="en-US" sz="2400" b="0" i="0" dirty="0">
              <a:solidFill>
                <a:srgbClr val="000000"/>
              </a:solidFill>
              <a:effectLst/>
              <a:latin typeface="+mn-ea"/>
              <a:ea typeface="+mn-ea"/>
            </a:endParaRPr>
          </a:p>
          <a:p>
            <a:r>
              <a:rPr lang="zh-CN" altLang="en-US" sz="2400" b="0" i="0" dirty="0">
                <a:solidFill>
                  <a:srgbClr val="000000"/>
                </a:solidFill>
                <a:effectLst/>
                <a:latin typeface="+mn-ea"/>
                <a:ea typeface="+mn-ea"/>
              </a:rPr>
              <a:t>    </a:t>
            </a:r>
            <a:r>
              <a:rPr lang="en-US" altLang="zh-CN" sz="2400" b="0" i="0" dirty="0">
                <a:solidFill>
                  <a:srgbClr val="AF00DB"/>
                </a:solidFill>
                <a:effectLst/>
                <a:latin typeface="+mn-ea"/>
                <a:ea typeface="+mn-ea"/>
              </a:rPr>
              <a:t>return</a:t>
            </a:r>
            <a:r>
              <a:rPr lang="en-US" altLang="zh-CN" sz="2400" b="0" i="0" dirty="0">
                <a:solidFill>
                  <a:srgbClr val="000000"/>
                </a:solidFill>
                <a:effectLst/>
                <a:latin typeface="+mn-ea"/>
                <a:ea typeface="+mn-ea"/>
              </a:rPr>
              <a:t> </a:t>
            </a:r>
            <a:r>
              <a:rPr lang="en-US" altLang="zh-CN" sz="2400" b="0" i="0" dirty="0">
                <a:solidFill>
                  <a:srgbClr val="001080"/>
                </a:solidFill>
                <a:effectLst/>
                <a:latin typeface="+mn-ea"/>
                <a:ea typeface="+mn-ea"/>
              </a:rPr>
              <a:t>T</a:t>
            </a:r>
            <a:r>
              <a:rPr lang="en-US" altLang="zh-CN" sz="2400" b="0" i="0" dirty="0">
                <a:solidFill>
                  <a:srgbClr val="000000"/>
                </a:solidFill>
                <a:effectLst/>
                <a:latin typeface="+mn-ea"/>
                <a:ea typeface="+mn-ea"/>
              </a:rPr>
              <a:t>;</a:t>
            </a:r>
            <a:r>
              <a:rPr lang="en-US" altLang="zh-CN" sz="2400" b="0" i="0" dirty="0">
                <a:solidFill>
                  <a:srgbClr val="008000"/>
                </a:solidFill>
                <a:effectLst/>
                <a:latin typeface="+mn-ea"/>
                <a:ea typeface="+mn-ea"/>
              </a:rPr>
              <a:t>   // </a:t>
            </a:r>
            <a:r>
              <a:rPr lang="zh-CN" altLang="en-US" sz="2400" b="0" i="0" dirty="0">
                <a:solidFill>
                  <a:srgbClr val="008000"/>
                </a:solidFill>
                <a:effectLst/>
                <a:latin typeface="+mn-ea"/>
                <a:ea typeface="+mn-ea"/>
              </a:rPr>
              <a:t>返回</a:t>
            </a:r>
            <a:r>
              <a:rPr lang="en-US" altLang="zh-CN" sz="2400" b="0" i="0" dirty="0">
                <a:solidFill>
                  <a:srgbClr val="008000"/>
                </a:solidFill>
                <a:effectLst/>
                <a:latin typeface="+mn-ea"/>
                <a:ea typeface="+mn-ea"/>
              </a:rPr>
              <a:t>T</a:t>
            </a:r>
            <a:r>
              <a:rPr lang="zh-CN" altLang="en-US" sz="2400" b="0" i="0" dirty="0">
                <a:solidFill>
                  <a:srgbClr val="008000"/>
                </a:solidFill>
                <a:effectLst/>
                <a:latin typeface="+mn-ea"/>
                <a:ea typeface="+mn-ea"/>
              </a:rPr>
              <a:t>树</a:t>
            </a:r>
            <a:endParaRPr lang="zh-CN" altLang="en-US" sz="2400" b="0" i="0" dirty="0">
              <a:solidFill>
                <a:srgbClr val="000000"/>
              </a:solidFill>
              <a:effectLst/>
              <a:latin typeface="+mn-ea"/>
              <a:ea typeface="+mn-ea"/>
            </a:endParaRPr>
          </a:p>
          <a:p>
            <a:r>
              <a:rPr lang="en-US" altLang="zh-CN" sz="2400" b="0" i="0" dirty="0">
                <a:solidFill>
                  <a:srgbClr val="000000"/>
                </a:solidFill>
                <a:effectLst/>
                <a:latin typeface="+mn-ea"/>
                <a:ea typeface="+mn-ea"/>
              </a:rPr>
              <a:t>}</a:t>
            </a:r>
          </a:p>
        </p:txBody>
      </p:sp>
    </p:spTree>
    <p:extLst>
      <p:ext uri="{BB962C8B-B14F-4D97-AF65-F5344CB8AC3E}">
        <p14:creationId xmlns:p14="http://schemas.microsoft.com/office/powerpoint/2010/main" val="2131509497"/>
      </p:ext>
    </p:extLst>
  </p:cSld>
  <p:clrMapOvr>
    <a:masterClrMapping/>
  </p:clrMapOvr>
  <p:transition spd="med">
    <p:pull dir="d"/>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a:extLst>
              <a:ext uri="{FF2B5EF4-FFF2-40B4-BE49-F238E27FC236}">
                <a16:creationId xmlns:a16="http://schemas.microsoft.com/office/drawing/2014/main" id="{F90FD2ED-9EA1-4172-8092-391246AC0CC7}"/>
              </a:ext>
            </a:extLst>
          </p:cNvPr>
          <p:cNvSpPr txBox="1">
            <a:spLocks noChangeArrowheads="1"/>
          </p:cNvSpPr>
          <p:nvPr/>
        </p:nvSpPr>
        <p:spPr bwMode="auto">
          <a:xfrm>
            <a:off x="889546" y="142262"/>
            <a:ext cx="69977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3600" b="1" dirty="0">
                <a:latin typeface="Times New Roman" panose="02020603050405020304" pitchFamily="18" charset="0"/>
                <a:ea typeface="隶书" panose="02010509060101010101" pitchFamily="49" charset="-122"/>
              </a:rPr>
              <a:t>    </a:t>
            </a:r>
            <a:r>
              <a:rPr lang="zh-CN" altLang="en-US" sz="4400" i="0" dirty="0">
                <a:solidFill>
                  <a:schemeClr val="tx2"/>
                </a:solidFill>
                <a:ea typeface="隶书" pitchFamily="49" charset="-122"/>
              </a:rPr>
              <a:t>先序序列创建二叉树实现</a:t>
            </a:r>
          </a:p>
        </p:txBody>
      </p:sp>
      <p:sp>
        <p:nvSpPr>
          <p:cNvPr id="5" name="文本框 4">
            <a:extLst>
              <a:ext uri="{FF2B5EF4-FFF2-40B4-BE49-F238E27FC236}">
                <a16:creationId xmlns:a16="http://schemas.microsoft.com/office/drawing/2014/main" id="{7E442536-D6B0-FDE8-FE1B-A82BFADA5F97}"/>
              </a:ext>
            </a:extLst>
          </p:cNvPr>
          <p:cNvSpPr txBox="1"/>
          <p:nvPr/>
        </p:nvSpPr>
        <p:spPr>
          <a:xfrm>
            <a:off x="539552" y="1268760"/>
            <a:ext cx="8856984" cy="4154984"/>
          </a:xfrm>
          <a:prstGeom prst="rect">
            <a:avLst/>
          </a:prstGeom>
          <a:noFill/>
        </p:spPr>
        <p:txBody>
          <a:bodyPr wrap="square">
            <a:spAutoFit/>
          </a:bodyPr>
          <a:lstStyle/>
          <a:p>
            <a:r>
              <a:rPr lang="en-US" altLang="zh-CN" sz="2400" b="0" i="0" dirty="0">
                <a:solidFill>
                  <a:srgbClr val="0000FF"/>
                </a:solidFill>
                <a:effectLst/>
                <a:latin typeface="+mn-ea"/>
                <a:ea typeface="+mn-ea"/>
              </a:rPr>
              <a:t>int</a:t>
            </a:r>
            <a:r>
              <a:rPr lang="en-US" altLang="zh-CN" sz="2400" b="0" i="0" dirty="0">
                <a:solidFill>
                  <a:srgbClr val="000000"/>
                </a:solidFill>
                <a:effectLst/>
                <a:latin typeface="+mn-ea"/>
                <a:ea typeface="+mn-ea"/>
              </a:rPr>
              <a:t> </a:t>
            </a:r>
            <a:r>
              <a:rPr lang="en-US" altLang="zh-CN" sz="2400" b="0" i="0" dirty="0">
                <a:solidFill>
                  <a:srgbClr val="795E26"/>
                </a:solidFill>
                <a:effectLst/>
                <a:latin typeface="+mn-ea"/>
                <a:ea typeface="+mn-ea"/>
              </a:rPr>
              <a:t>main</a:t>
            </a:r>
            <a:r>
              <a:rPr lang="en-US" altLang="zh-CN" sz="2400" b="0" i="0" dirty="0">
                <a:solidFill>
                  <a:srgbClr val="000000"/>
                </a:solidFill>
                <a:effectLst/>
                <a:latin typeface="+mn-ea"/>
                <a:ea typeface="+mn-ea"/>
              </a:rPr>
              <a:t>()</a:t>
            </a:r>
          </a:p>
          <a:p>
            <a:r>
              <a:rPr lang="en-US" altLang="zh-CN" sz="2400" b="0" i="0" dirty="0">
                <a:solidFill>
                  <a:srgbClr val="000000"/>
                </a:solidFill>
                <a:effectLst/>
                <a:latin typeface="+mn-ea"/>
                <a:ea typeface="+mn-ea"/>
              </a:rPr>
              <a:t>{</a:t>
            </a:r>
          </a:p>
          <a:p>
            <a:r>
              <a:rPr lang="en-US" altLang="zh-CN" sz="2400" b="0" i="0" dirty="0">
                <a:solidFill>
                  <a:srgbClr val="267F99"/>
                </a:solidFill>
                <a:latin typeface="+mn-ea"/>
                <a:ea typeface="+mn-ea"/>
              </a:rPr>
              <a:t>   </a:t>
            </a:r>
            <a:r>
              <a:rPr lang="en-US" altLang="zh-CN" sz="2400" b="0" i="0" dirty="0" err="1">
                <a:solidFill>
                  <a:srgbClr val="267F99"/>
                </a:solidFill>
                <a:effectLst/>
                <a:latin typeface="+mn-ea"/>
                <a:ea typeface="+mn-ea"/>
              </a:rPr>
              <a:t>BiTree</a:t>
            </a:r>
            <a:r>
              <a:rPr lang="en-US" altLang="zh-CN" sz="2400" b="0" i="0" dirty="0">
                <a:solidFill>
                  <a:srgbClr val="000000"/>
                </a:solidFill>
                <a:effectLst/>
                <a:latin typeface="+mn-ea"/>
                <a:ea typeface="+mn-ea"/>
              </a:rPr>
              <a:t> </a:t>
            </a:r>
            <a:r>
              <a:rPr lang="en-US" altLang="zh-CN" sz="2400" b="0" i="0" dirty="0">
                <a:solidFill>
                  <a:srgbClr val="001080"/>
                </a:solidFill>
                <a:effectLst/>
                <a:latin typeface="+mn-ea"/>
                <a:ea typeface="+mn-ea"/>
              </a:rPr>
              <a:t>root</a:t>
            </a:r>
            <a:r>
              <a:rPr lang="en-US" altLang="zh-CN" sz="2400" b="0" i="0" dirty="0">
                <a:solidFill>
                  <a:srgbClr val="000000"/>
                </a:solidFill>
                <a:effectLst/>
                <a:latin typeface="+mn-ea"/>
                <a:ea typeface="+mn-ea"/>
              </a:rPr>
              <a:t> = </a:t>
            </a:r>
            <a:r>
              <a:rPr lang="en-US" altLang="zh-CN" sz="2400" b="0" i="0" dirty="0" err="1">
                <a:solidFill>
                  <a:srgbClr val="0000FF"/>
                </a:solidFill>
                <a:effectLst/>
                <a:latin typeface="+mn-ea"/>
                <a:ea typeface="+mn-ea"/>
              </a:rPr>
              <a:t>nullptr</a:t>
            </a:r>
            <a:r>
              <a:rPr lang="en-US" altLang="zh-CN" sz="2400" b="0" i="0" dirty="0">
                <a:solidFill>
                  <a:srgbClr val="000000"/>
                </a:solidFill>
                <a:effectLst/>
                <a:latin typeface="+mn-ea"/>
                <a:ea typeface="+mn-ea"/>
              </a:rPr>
              <a:t>;</a:t>
            </a:r>
            <a:r>
              <a:rPr lang="en-US" altLang="zh-CN" sz="2400" b="0" i="0" dirty="0">
                <a:solidFill>
                  <a:srgbClr val="008000"/>
                </a:solidFill>
                <a:effectLst/>
                <a:latin typeface="+mn-ea"/>
                <a:ea typeface="+mn-ea"/>
              </a:rPr>
              <a:t> // </a:t>
            </a:r>
            <a:r>
              <a:rPr lang="zh-CN" altLang="en-US" sz="2400" b="0" i="0" dirty="0">
                <a:solidFill>
                  <a:srgbClr val="008000"/>
                </a:solidFill>
                <a:effectLst/>
                <a:latin typeface="+mn-ea"/>
                <a:ea typeface="+mn-ea"/>
              </a:rPr>
              <a:t>二叉树树根</a:t>
            </a:r>
            <a:r>
              <a:rPr lang="en-US" altLang="zh-CN" sz="2400" b="0" i="0" dirty="0">
                <a:solidFill>
                  <a:srgbClr val="008000"/>
                </a:solidFill>
                <a:effectLst/>
                <a:latin typeface="+mn-ea"/>
                <a:ea typeface="+mn-ea"/>
              </a:rPr>
              <a:t>, </a:t>
            </a:r>
            <a:r>
              <a:rPr lang="zh-CN" altLang="en-US" sz="2400" b="0" i="0" dirty="0">
                <a:solidFill>
                  <a:srgbClr val="008000"/>
                </a:solidFill>
                <a:effectLst/>
                <a:latin typeface="+mn-ea"/>
                <a:ea typeface="+mn-ea"/>
              </a:rPr>
              <a:t>空树</a:t>
            </a:r>
            <a:endParaRPr lang="zh-CN" altLang="en-US" sz="2400" b="0" i="0" dirty="0">
              <a:solidFill>
                <a:srgbClr val="000000"/>
              </a:solidFill>
              <a:effectLst/>
              <a:latin typeface="+mn-ea"/>
              <a:ea typeface="+mn-ea"/>
            </a:endParaRPr>
          </a:p>
          <a:p>
            <a:r>
              <a:rPr lang="zh-CN" altLang="en-US" sz="2400" b="0" i="0" dirty="0">
                <a:solidFill>
                  <a:srgbClr val="000000"/>
                </a:solidFill>
                <a:effectLst/>
                <a:latin typeface="+mn-ea"/>
                <a:ea typeface="+mn-ea"/>
              </a:rPr>
              <a:t>    </a:t>
            </a:r>
            <a:r>
              <a:rPr lang="en-US" altLang="zh-CN" sz="2400" b="0" i="0" dirty="0">
                <a:solidFill>
                  <a:srgbClr val="267F99"/>
                </a:solidFill>
                <a:effectLst/>
                <a:latin typeface="+mn-ea"/>
                <a:ea typeface="+mn-ea"/>
              </a:rPr>
              <a:t>string</a:t>
            </a:r>
            <a:r>
              <a:rPr lang="en-US" altLang="zh-CN" sz="2400" b="0" i="0" dirty="0">
                <a:solidFill>
                  <a:srgbClr val="000000"/>
                </a:solidFill>
                <a:effectLst/>
                <a:latin typeface="+mn-ea"/>
                <a:ea typeface="+mn-ea"/>
              </a:rPr>
              <a:t> </a:t>
            </a:r>
            <a:r>
              <a:rPr lang="en-US" altLang="zh-CN" sz="2400" b="0" i="0" dirty="0">
                <a:solidFill>
                  <a:srgbClr val="001080"/>
                </a:solidFill>
                <a:effectLst/>
                <a:latin typeface="+mn-ea"/>
                <a:ea typeface="+mn-ea"/>
              </a:rPr>
              <a:t>s</a:t>
            </a:r>
            <a:r>
              <a:rPr lang="en-US" altLang="zh-CN" sz="2400" b="0" i="0" dirty="0">
                <a:solidFill>
                  <a:srgbClr val="000000"/>
                </a:solidFill>
                <a:effectLst/>
                <a:latin typeface="+mn-ea"/>
                <a:ea typeface="+mn-ea"/>
              </a:rPr>
              <a:t>;</a:t>
            </a:r>
          </a:p>
          <a:p>
            <a:r>
              <a:rPr lang="en-US" altLang="zh-CN" sz="2400" b="0" i="0" dirty="0">
                <a:solidFill>
                  <a:srgbClr val="000000"/>
                </a:solidFill>
                <a:effectLst/>
                <a:latin typeface="+mn-ea"/>
                <a:ea typeface="+mn-ea"/>
              </a:rPr>
              <a:t>    </a:t>
            </a:r>
            <a:r>
              <a:rPr lang="en-US" altLang="zh-CN" sz="2400" b="0" i="0" dirty="0">
                <a:solidFill>
                  <a:srgbClr val="0000FF"/>
                </a:solidFill>
                <a:effectLst/>
                <a:latin typeface="+mn-ea"/>
                <a:ea typeface="+mn-ea"/>
              </a:rPr>
              <a:t>int</a:t>
            </a:r>
            <a:r>
              <a:rPr lang="en-US" altLang="zh-CN" sz="2400" b="0" i="0" dirty="0">
                <a:solidFill>
                  <a:srgbClr val="000000"/>
                </a:solidFill>
                <a:effectLst/>
                <a:latin typeface="+mn-ea"/>
                <a:ea typeface="+mn-ea"/>
              </a:rPr>
              <a:t> </a:t>
            </a:r>
            <a:r>
              <a:rPr lang="en-US" altLang="zh-CN" sz="2400" b="0" i="0" dirty="0" err="1">
                <a:solidFill>
                  <a:srgbClr val="001080"/>
                </a:solidFill>
                <a:effectLst/>
                <a:latin typeface="+mn-ea"/>
                <a:ea typeface="+mn-ea"/>
              </a:rPr>
              <a:t>i</a:t>
            </a:r>
            <a:r>
              <a:rPr lang="en-US" altLang="zh-CN" sz="2400" b="0" i="0" dirty="0">
                <a:solidFill>
                  <a:srgbClr val="000000"/>
                </a:solidFill>
                <a:effectLst/>
                <a:latin typeface="+mn-ea"/>
                <a:ea typeface="+mn-ea"/>
              </a:rPr>
              <a:t> = </a:t>
            </a:r>
            <a:r>
              <a:rPr lang="en-US" altLang="zh-CN" sz="2400" b="0" i="0" dirty="0">
                <a:solidFill>
                  <a:srgbClr val="098658"/>
                </a:solidFill>
                <a:effectLst/>
                <a:latin typeface="+mn-ea"/>
                <a:ea typeface="+mn-ea"/>
              </a:rPr>
              <a:t>0</a:t>
            </a:r>
            <a:r>
              <a:rPr lang="en-US" altLang="zh-CN" sz="2400" b="0" i="0" dirty="0">
                <a:solidFill>
                  <a:srgbClr val="000000"/>
                </a:solidFill>
                <a:effectLst/>
                <a:latin typeface="+mn-ea"/>
                <a:ea typeface="+mn-ea"/>
              </a:rPr>
              <a:t>;</a:t>
            </a:r>
          </a:p>
          <a:p>
            <a:r>
              <a:rPr lang="en-US" altLang="zh-CN" sz="2400" b="0" i="0" dirty="0">
                <a:solidFill>
                  <a:srgbClr val="000000"/>
                </a:solidFill>
                <a:effectLst/>
                <a:latin typeface="+mn-ea"/>
                <a:ea typeface="+mn-ea"/>
              </a:rPr>
              <a:t>    </a:t>
            </a:r>
          </a:p>
          <a:p>
            <a:r>
              <a:rPr lang="en-US" altLang="zh-CN" sz="2400" b="0" i="0" dirty="0">
                <a:solidFill>
                  <a:srgbClr val="000000"/>
                </a:solidFill>
                <a:latin typeface="+mn-ea"/>
                <a:ea typeface="+mn-ea"/>
              </a:rPr>
              <a:t>   </a:t>
            </a:r>
            <a:r>
              <a:rPr lang="en-US" altLang="zh-CN" sz="2400" b="0" i="0" dirty="0" err="1">
                <a:solidFill>
                  <a:srgbClr val="001080"/>
                </a:solidFill>
                <a:effectLst/>
                <a:latin typeface="+mn-ea"/>
                <a:ea typeface="+mn-ea"/>
              </a:rPr>
              <a:t>cin</a:t>
            </a:r>
            <a:r>
              <a:rPr lang="en-US" altLang="zh-CN" sz="2400" b="0" i="0" dirty="0">
                <a:solidFill>
                  <a:srgbClr val="000000"/>
                </a:solidFill>
                <a:effectLst/>
                <a:latin typeface="+mn-ea"/>
                <a:ea typeface="+mn-ea"/>
              </a:rPr>
              <a:t> </a:t>
            </a:r>
            <a:r>
              <a:rPr lang="en-US" altLang="zh-CN" sz="2400" b="0" i="0" dirty="0">
                <a:solidFill>
                  <a:srgbClr val="795E26"/>
                </a:solidFill>
                <a:effectLst/>
                <a:latin typeface="+mn-ea"/>
                <a:ea typeface="+mn-ea"/>
              </a:rPr>
              <a:t>&gt;&gt;</a:t>
            </a:r>
            <a:r>
              <a:rPr lang="en-US" altLang="zh-CN" sz="2400" b="0" i="0" dirty="0">
                <a:solidFill>
                  <a:srgbClr val="000000"/>
                </a:solidFill>
                <a:effectLst/>
                <a:latin typeface="+mn-ea"/>
                <a:ea typeface="+mn-ea"/>
              </a:rPr>
              <a:t> </a:t>
            </a:r>
            <a:r>
              <a:rPr lang="en-US" altLang="zh-CN" sz="2400" b="0" i="0" dirty="0">
                <a:solidFill>
                  <a:srgbClr val="001080"/>
                </a:solidFill>
                <a:effectLst/>
                <a:latin typeface="+mn-ea"/>
                <a:ea typeface="+mn-ea"/>
              </a:rPr>
              <a:t>s</a:t>
            </a:r>
            <a:r>
              <a:rPr lang="en-US" altLang="zh-CN" sz="2400" b="0" i="0" dirty="0">
                <a:solidFill>
                  <a:srgbClr val="000000"/>
                </a:solidFill>
                <a:effectLst/>
                <a:latin typeface="+mn-ea"/>
                <a:ea typeface="+mn-ea"/>
              </a:rPr>
              <a:t>;</a:t>
            </a:r>
          </a:p>
          <a:p>
            <a:r>
              <a:rPr lang="en-US" altLang="zh-CN" sz="2400" b="0" i="0" dirty="0">
                <a:solidFill>
                  <a:srgbClr val="000000"/>
                </a:solidFill>
                <a:effectLst/>
                <a:latin typeface="+mn-ea"/>
                <a:ea typeface="+mn-ea"/>
              </a:rPr>
              <a:t>    </a:t>
            </a:r>
            <a:r>
              <a:rPr lang="en-US" altLang="zh-CN" sz="2400" b="0" i="0" dirty="0">
                <a:solidFill>
                  <a:srgbClr val="001080"/>
                </a:solidFill>
                <a:effectLst/>
                <a:latin typeface="+mn-ea"/>
                <a:ea typeface="+mn-ea"/>
              </a:rPr>
              <a:t>root</a:t>
            </a:r>
            <a:r>
              <a:rPr lang="en-US" altLang="zh-CN" sz="2400" b="0" i="0" dirty="0">
                <a:solidFill>
                  <a:srgbClr val="000000"/>
                </a:solidFill>
                <a:effectLst/>
                <a:latin typeface="+mn-ea"/>
                <a:ea typeface="+mn-ea"/>
              </a:rPr>
              <a:t> = </a:t>
            </a:r>
            <a:r>
              <a:rPr lang="en-US" altLang="zh-CN" sz="2400" b="0" i="0" dirty="0" err="1">
                <a:solidFill>
                  <a:srgbClr val="795E26"/>
                </a:solidFill>
                <a:effectLst/>
                <a:latin typeface="+mn-ea"/>
                <a:ea typeface="+mn-ea"/>
              </a:rPr>
              <a:t>CreateBiTree</a:t>
            </a:r>
            <a:r>
              <a:rPr lang="en-US" altLang="zh-CN" sz="2400" b="0" i="0" dirty="0">
                <a:solidFill>
                  <a:srgbClr val="000000"/>
                </a:solidFill>
                <a:effectLst/>
                <a:latin typeface="+mn-ea"/>
                <a:ea typeface="+mn-ea"/>
              </a:rPr>
              <a:t>(</a:t>
            </a:r>
            <a:r>
              <a:rPr lang="en-US" altLang="zh-CN" sz="2400" b="0" i="0" dirty="0">
                <a:solidFill>
                  <a:srgbClr val="001080"/>
                </a:solidFill>
                <a:effectLst/>
                <a:latin typeface="+mn-ea"/>
                <a:ea typeface="+mn-ea"/>
              </a:rPr>
              <a:t>s</a:t>
            </a:r>
            <a:r>
              <a:rPr lang="en-US" altLang="zh-CN" sz="2400" b="0" i="0" dirty="0">
                <a:solidFill>
                  <a:srgbClr val="000000"/>
                </a:solidFill>
                <a:effectLst/>
                <a:latin typeface="+mn-ea"/>
                <a:ea typeface="+mn-ea"/>
              </a:rPr>
              <a:t>, </a:t>
            </a:r>
            <a:r>
              <a:rPr lang="en-US" altLang="zh-CN" sz="2400" b="0" i="0" dirty="0" err="1">
                <a:solidFill>
                  <a:srgbClr val="001080"/>
                </a:solidFill>
                <a:effectLst/>
                <a:latin typeface="+mn-ea"/>
                <a:ea typeface="+mn-ea"/>
              </a:rPr>
              <a:t>i</a:t>
            </a:r>
            <a:r>
              <a:rPr lang="en-US" altLang="zh-CN" sz="2400" b="0" i="0" dirty="0">
                <a:solidFill>
                  <a:srgbClr val="000000"/>
                </a:solidFill>
                <a:effectLst/>
                <a:latin typeface="+mn-ea"/>
                <a:ea typeface="+mn-ea"/>
              </a:rPr>
              <a:t>);  // </a:t>
            </a:r>
            <a:r>
              <a:rPr lang="zh-CN" altLang="en-US" sz="2400" b="0" i="0" dirty="0">
                <a:solidFill>
                  <a:srgbClr val="008000"/>
                </a:solidFill>
                <a:latin typeface="+mn-ea"/>
                <a:ea typeface="+mn-ea"/>
              </a:rPr>
              <a:t>创建二叉树，返回树根</a:t>
            </a:r>
            <a:endParaRPr lang="en-US" altLang="zh-CN" sz="2400" b="0" i="0" dirty="0">
              <a:solidFill>
                <a:srgbClr val="008000"/>
              </a:solidFill>
              <a:latin typeface="+mn-ea"/>
              <a:ea typeface="+mn-ea"/>
            </a:endParaRPr>
          </a:p>
          <a:p>
            <a:r>
              <a:rPr lang="en-US" altLang="zh-CN" sz="2400" b="0" i="0" dirty="0">
                <a:solidFill>
                  <a:srgbClr val="000000"/>
                </a:solidFill>
                <a:effectLst/>
                <a:latin typeface="+mn-ea"/>
                <a:ea typeface="+mn-ea"/>
              </a:rPr>
              <a:t>    </a:t>
            </a:r>
            <a:r>
              <a:rPr lang="en-US" altLang="zh-CN" sz="2400" b="0" i="0" dirty="0" err="1">
                <a:solidFill>
                  <a:srgbClr val="795E26"/>
                </a:solidFill>
                <a:effectLst/>
                <a:latin typeface="+mn-ea"/>
                <a:ea typeface="+mn-ea"/>
              </a:rPr>
              <a:t>LevelOrder</a:t>
            </a:r>
            <a:r>
              <a:rPr lang="en-US" altLang="zh-CN" sz="2400" b="0" i="0" dirty="0">
                <a:solidFill>
                  <a:srgbClr val="000000"/>
                </a:solidFill>
                <a:effectLst/>
                <a:latin typeface="+mn-ea"/>
                <a:ea typeface="+mn-ea"/>
              </a:rPr>
              <a:t>(</a:t>
            </a:r>
            <a:r>
              <a:rPr lang="en-US" altLang="zh-CN" sz="2400" b="0" i="0" dirty="0">
                <a:solidFill>
                  <a:srgbClr val="001080"/>
                </a:solidFill>
                <a:effectLst/>
                <a:latin typeface="+mn-ea"/>
                <a:ea typeface="+mn-ea"/>
              </a:rPr>
              <a:t>root</a:t>
            </a:r>
            <a:r>
              <a:rPr lang="en-US" altLang="zh-CN" sz="2400" b="0" i="0" dirty="0">
                <a:solidFill>
                  <a:srgbClr val="000000"/>
                </a:solidFill>
                <a:effectLst/>
                <a:latin typeface="+mn-ea"/>
                <a:ea typeface="+mn-ea"/>
              </a:rPr>
              <a:t>);</a:t>
            </a:r>
          </a:p>
          <a:p>
            <a:r>
              <a:rPr lang="en-US" altLang="zh-CN" sz="2400" b="0" i="0" dirty="0">
                <a:solidFill>
                  <a:srgbClr val="000000"/>
                </a:solidFill>
                <a:effectLst/>
                <a:latin typeface="+mn-ea"/>
                <a:ea typeface="+mn-ea"/>
              </a:rPr>
              <a:t>    </a:t>
            </a:r>
            <a:r>
              <a:rPr lang="en-US" altLang="zh-CN" sz="2400" b="0" i="0" dirty="0" err="1">
                <a:solidFill>
                  <a:srgbClr val="795E26"/>
                </a:solidFill>
                <a:effectLst/>
                <a:latin typeface="+mn-ea"/>
                <a:ea typeface="+mn-ea"/>
              </a:rPr>
              <a:t>PreOrder</a:t>
            </a:r>
            <a:r>
              <a:rPr lang="en-US" altLang="zh-CN" sz="2400" b="0" i="0" dirty="0">
                <a:solidFill>
                  <a:srgbClr val="000000"/>
                </a:solidFill>
                <a:effectLst/>
                <a:latin typeface="+mn-ea"/>
                <a:ea typeface="+mn-ea"/>
              </a:rPr>
              <a:t>(</a:t>
            </a:r>
            <a:r>
              <a:rPr lang="en-US" altLang="zh-CN" sz="2400" b="0" i="0" dirty="0">
                <a:solidFill>
                  <a:srgbClr val="001080"/>
                </a:solidFill>
                <a:effectLst/>
                <a:latin typeface="+mn-ea"/>
                <a:ea typeface="+mn-ea"/>
              </a:rPr>
              <a:t>root</a:t>
            </a:r>
            <a:r>
              <a:rPr lang="en-US" altLang="zh-CN" sz="2400" b="0" i="0" dirty="0">
                <a:solidFill>
                  <a:srgbClr val="000000"/>
                </a:solidFill>
                <a:effectLst/>
                <a:latin typeface="+mn-ea"/>
                <a:ea typeface="+mn-ea"/>
              </a:rPr>
              <a:t>);</a:t>
            </a:r>
          </a:p>
          <a:p>
            <a:r>
              <a:rPr lang="en-US" altLang="zh-CN" sz="2400" b="0" i="0" dirty="0">
                <a:solidFill>
                  <a:srgbClr val="000000"/>
                </a:solidFill>
                <a:effectLst/>
                <a:latin typeface="+mn-ea"/>
                <a:ea typeface="+mn-ea"/>
              </a:rPr>
              <a:t>}</a:t>
            </a:r>
          </a:p>
        </p:txBody>
      </p:sp>
      <p:sp>
        <p:nvSpPr>
          <p:cNvPr id="7" name="文本框 6">
            <a:extLst>
              <a:ext uri="{FF2B5EF4-FFF2-40B4-BE49-F238E27FC236}">
                <a16:creationId xmlns:a16="http://schemas.microsoft.com/office/drawing/2014/main" id="{C81E28D3-8F91-78CA-07BE-ADB7C1CA4580}"/>
              </a:ext>
            </a:extLst>
          </p:cNvPr>
          <p:cNvSpPr txBox="1"/>
          <p:nvPr/>
        </p:nvSpPr>
        <p:spPr>
          <a:xfrm>
            <a:off x="539552" y="5423744"/>
            <a:ext cx="8589586" cy="954107"/>
          </a:xfrm>
          <a:prstGeom prst="rect">
            <a:avLst/>
          </a:prstGeom>
          <a:noFill/>
        </p:spPr>
        <p:txBody>
          <a:bodyPr wrap="square">
            <a:spAutoFit/>
          </a:bodyPr>
          <a:lstStyle/>
          <a:p>
            <a:r>
              <a:rPr lang="zh-CN" altLang="en-US" sz="2800" b="0" i="0" dirty="0">
                <a:solidFill>
                  <a:srgbClr val="FF0000"/>
                </a:solidFill>
                <a:effectLst/>
                <a:latin typeface="+mn-ea"/>
                <a:ea typeface="+mn-ea"/>
              </a:rPr>
              <a:t>更简单的，改为</a:t>
            </a:r>
            <a:r>
              <a:rPr lang="en-US" altLang="zh-CN" sz="2800" b="0" i="0" dirty="0" err="1">
                <a:solidFill>
                  <a:srgbClr val="FF0000"/>
                </a:solidFill>
                <a:effectLst/>
                <a:latin typeface="+mn-ea"/>
                <a:ea typeface="+mn-ea"/>
              </a:rPr>
              <a:t>BiTree</a:t>
            </a:r>
            <a:r>
              <a:rPr lang="en-US" altLang="zh-CN" sz="2800" b="0" i="0" dirty="0">
                <a:solidFill>
                  <a:srgbClr val="FF0000"/>
                </a:solidFill>
                <a:effectLst/>
                <a:latin typeface="+mn-ea"/>
                <a:ea typeface="+mn-ea"/>
              </a:rPr>
              <a:t> </a:t>
            </a:r>
            <a:r>
              <a:rPr lang="en-US" altLang="zh-CN" sz="2800" b="0" i="0" dirty="0" err="1">
                <a:solidFill>
                  <a:srgbClr val="FF0000"/>
                </a:solidFill>
                <a:effectLst/>
                <a:latin typeface="+mn-ea"/>
                <a:ea typeface="+mn-ea"/>
              </a:rPr>
              <a:t>CreateBiTree</a:t>
            </a:r>
            <a:r>
              <a:rPr lang="en-US" altLang="zh-CN" sz="2800" b="0" i="0" dirty="0">
                <a:solidFill>
                  <a:srgbClr val="FF0000"/>
                </a:solidFill>
                <a:effectLst/>
                <a:latin typeface="+mn-ea"/>
                <a:ea typeface="+mn-ea"/>
              </a:rPr>
              <a:t>()</a:t>
            </a:r>
            <a:r>
              <a:rPr lang="zh-CN" altLang="en-US" sz="2800" b="0" i="0" dirty="0">
                <a:solidFill>
                  <a:srgbClr val="FF0000"/>
                </a:solidFill>
                <a:effectLst/>
                <a:latin typeface="+mn-ea"/>
                <a:ea typeface="+mn-ea"/>
              </a:rPr>
              <a:t>，在该函数中输入结点字符，若为</a:t>
            </a:r>
            <a:r>
              <a:rPr lang="en-US" altLang="zh-CN" sz="2800" b="0" i="0" dirty="0">
                <a:solidFill>
                  <a:srgbClr val="FF0000"/>
                </a:solidFill>
                <a:effectLst/>
                <a:latin typeface="+mn-ea"/>
                <a:ea typeface="+mn-ea"/>
              </a:rPr>
              <a:t>#</a:t>
            </a:r>
            <a:r>
              <a:rPr lang="zh-CN" altLang="en-US" sz="2800" b="0" i="0" dirty="0">
                <a:solidFill>
                  <a:srgbClr val="FF0000"/>
                </a:solidFill>
                <a:effectLst/>
                <a:latin typeface="+mn-ea"/>
                <a:ea typeface="+mn-ea"/>
              </a:rPr>
              <a:t>，空树，否则，创建。</a:t>
            </a:r>
            <a:endParaRPr lang="en-US" altLang="zh-CN" sz="2800" b="0" i="0" dirty="0">
              <a:solidFill>
                <a:srgbClr val="FF0000"/>
              </a:solidFill>
              <a:effectLst/>
              <a:latin typeface="+mn-ea"/>
              <a:ea typeface="+mn-ea"/>
            </a:endParaRPr>
          </a:p>
        </p:txBody>
      </p:sp>
    </p:spTree>
    <p:extLst>
      <p:ext uri="{BB962C8B-B14F-4D97-AF65-F5344CB8AC3E}">
        <p14:creationId xmlns:p14="http://schemas.microsoft.com/office/powerpoint/2010/main" val="3493803076"/>
      </p:ext>
    </p:extLst>
  </p:cSld>
  <p:clrMapOvr>
    <a:masterClrMapping/>
  </p:clrMapOvr>
  <p:transition spd="med">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42" name="图片 1">
            <a:extLst>
              <a:ext uri="{FF2B5EF4-FFF2-40B4-BE49-F238E27FC236}">
                <a16:creationId xmlns:a16="http://schemas.microsoft.com/office/drawing/2014/main" id="{C46B3A94-6A71-448E-962B-96F68361DD1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55576" y="3356992"/>
            <a:ext cx="7164388" cy="316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 Box 2">
            <a:extLst>
              <a:ext uri="{FF2B5EF4-FFF2-40B4-BE49-F238E27FC236}">
                <a16:creationId xmlns:a16="http://schemas.microsoft.com/office/drawing/2014/main" id="{FDE90226-9788-48EA-B2B7-1A7453DE6425}"/>
              </a:ext>
            </a:extLst>
          </p:cNvPr>
          <p:cNvSpPr txBox="1">
            <a:spLocks noChangeArrowheads="1"/>
          </p:cNvSpPr>
          <p:nvPr/>
        </p:nvSpPr>
        <p:spPr bwMode="auto">
          <a:xfrm>
            <a:off x="615736" y="188640"/>
            <a:ext cx="7930926"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3600" b="1" dirty="0">
                <a:latin typeface="Times New Roman" panose="02020603050405020304" pitchFamily="18" charset="0"/>
                <a:ea typeface="隶书" panose="02010509060101010101" pitchFamily="49" charset="-122"/>
              </a:rPr>
              <a:t>    </a:t>
            </a:r>
            <a:r>
              <a:rPr lang="zh-CN" altLang="en-US" sz="4400" i="0" dirty="0">
                <a:solidFill>
                  <a:schemeClr val="tx2"/>
                </a:solidFill>
                <a:ea typeface="隶书" pitchFamily="49" charset="-122"/>
              </a:rPr>
              <a:t>先序序列创建二叉树类实现</a:t>
            </a:r>
          </a:p>
        </p:txBody>
      </p:sp>
      <p:sp>
        <p:nvSpPr>
          <p:cNvPr id="3" name="文本框 2">
            <a:extLst>
              <a:ext uri="{FF2B5EF4-FFF2-40B4-BE49-F238E27FC236}">
                <a16:creationId xmlns:a16="http://schemas.microsoft.com/office/drawing/2014/main" id="{56036CF9-D2E9-F42C-2D4E-748ACF9CFCD6}"/>
              </a:ext>
            </a:extLst>
          </p:cNvPr>
          <p:cNvSpPr txBox="1"/>
          <p:nvPr/>
        </p:nvSpPr>
        <p:spPr>
          <a:xfrm>
            <a:off x="615736" y="1268760"/>
            <a:ext cx="7930926" cy="1384995"/>
          </a:xfrm>
          <a:prstGeom prst="rect">
            <a:avLst/>
          </a:prstGeom>
          <a:noFill/>
        </p:spPr>
        <p:txBody>
          <a:bodyPr wrap="square" rtlCol="0">
            <a:spAutoFit/>
          </a:bodyPr>
          <a:lstStyle/>
          <a:p>
            <a:r>
              <a:rPr lang="zh-CN" altLang="en-US" sz="2800" b="0" i="0" dirty="0">
                <a:latin typeface="+mn-ea"/>
                <a:ea typeface="+mn-ea"/>
              </a:rPr>
              <a:t>同遍历，增加私有方法</a:t>
            </a:r>
            <a:r>
              <a:rPr lang="en-US" altLang="zh-CN" sz="2800" b="0" i="0" dirty="0" err="1">
                <a:latin typeface="+mn-ea"/>
                <a:ea typeface="+mn-ea"/>
              </a:rPr>
              <a:t>BiTNode</a:t>
            </a:r>
            <a:r>
              <a:rPr lang="en-US" altLang="zh-CN" sz="2800" b="0" i="0" dirty="0">
                <a:latin typeface="+mn-ea"/>
                <a:ea typeface="+mn-ea"/>
              </a:rPr>
              <a:t> *</a:t>
            </a:r>
            <a:r>
              <a:rPr lang="en-US" altLang="zh-CN" sz="2800" b="0" i="0" dirty="0" err="1">
                <a:latin typeface="+mn-ea"/>
                <a:ea typeface="+mn-ea"/>
              </a:rPr>
              <a:t>CreateBiTree</a:t>
            </a:r>
            <a:r>
              <a:rPr lang="en-US" altLang="zh-CN" sz="2800" b="0" i="0" dirty="0">
                <a:latin typeface="+mn-ea"/>
                <a:ea typeface="+mn-ea"/>
              </a:rPr>
              <a:t>(</a:t>
            </a:r>
            <a:r>
              <a:rPr lang="en-US" altLang="zh-CN" sz="2800" b="0" i="0" dirty="0" err="1">
                <a:latin typeface="+mn-ea"/>
                <a:ea typeface="+mn-ea"/>
              </a:rPr>
              <a:t>stirng</a:t>
            </a:r>
            <a:r>
              <a:rPr lang="en-US" altLang="zh-CN" sz="2800" b="0" i="0" dirty="0">
                <a:latin typeface="+mn-ea"/>
                <a:ea typeface="+mn-ea"/>
              </a:rPr>
              <a:t> s, int &amp;</a:t>
            </a:r>
            <a:r>
              <a:rPr lang="en-US" altLang="zh-CN" sz="2800" b="0" i="0" dirty="0" err="1">
                <a:latin typeface="+mn-ea"/>
                <a:ea typeface="+mn-ea"/>
              </a:rPr>
              <a:t>i</a:t>
            </a:r>
            <a:r>
              <a:rPr lang="en-US" altLang="zh-CN" sz="2800" b="0" i="0" dirty="0">
                <a:latin typeface="+mn-ea"/>
                <a:ea typeface="+mn-ea"/>
              </a:rPr>
              <a:t>)</a:t>
            </a:r>
            <a:r>
              <a:rPr lang="zh-CN" altLang="en-US" sz="2800" b="0" i="0" dirty="0">
                <a:latin typeface="+mn-ea"/>
                <a:ea typeface="+mn-ea"/>
              </a:rPr>
              <a:t>创建子树根。主函数公有方法创建二叉树，如下图所示。</a:t>
            </a:r>
          </a:p>
        </p:txBody>
      </p:sp>
    </p:spTree>
  </p:cSld>
  <p:clrMapOvr>
    <a:masterClrMapping/>
  </p:clrMapOvr>
  <p:transition spd="med">
    <p:pull dir="d"/>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5F698467-742D-4A1D-9128-4F83A45E7944}"/>
              </a:ext>
            </a:extLst>
          </p:cNvPr>
          <p:cNvSpPr>
            <a:spLocks noGrp="1" noChangeArrowheads="1"/>
          </p:cNvSpPr>
          <p:nvPr>
            <p:ph type="title"/>
          </p:nvPr>
        </p:nvSpPr>
        <p:spPr/>
        <p:txBody>
          <a:bodyPr/>
          <a:lstStyle/>
          <a:p>
            <a:pPr algn="ctr" eaLnBrk="1" hangingPunct="1"/>
            <a:r>
              <a:rPr lang="zh-CN" altLang="en-US" sz="4400" b="1" kern="1200" dirty="0">
                <a:latin typeface="Tahoma" panose="020B0604030504040204" pitchFamily="34" charset="0"/>
                <a:ea typeface="隶书" pitchFamily="49" charset="-122"/>
                <a:cs typeface="+mn-cs"/>
              </a:rPr>
              <a:t>遍历的应用二</a:t>
            </a:r>
          </a:p>
        </p:txBody>
      </p:sp>
      <p:sp>
        <p:nvSpPr>
          <p:cNvPr id="43011" name="Rectangle 3">
            <a:extLst>
              <a:ext uri="{FF2B5EF4-FFF2-40B4-BE49-F238E27FC236}">
                <a16:creationId xmlns:a16="http://schemas.microsoft.com/office/drawing/2014/main" id="{F372DC93-4DF1-4EF9-BD96-7D5FA0D5CB3F}"/>
              </a:ext>
            </a:extLst>
          </p:cNvPr>
          <p:cNvSpPr>
            <a:spLocks noGrp="1" noChangeArrowheads="1"/>
          </p:cNvSpPr>
          <p:nvPr>
            <p:ph type="body" idx="1"/>
          </p:nvPr>
        </p:nvSpPr>
        <p:spPr>
          <a:xfrm>
            <a:off x="447914" y="1211987"/>
            <a:ext cx="8497888" cy="561002"/>
          </a:xfrm>
        </p:spPr>
        <p:txBody>
          <a:bodyPr/>
          <a:lstStyle/>
          <a:p>
            <a:pPr marL="0" indent="0" eaLnBrk="1" hangingPunct="1">
              <a:buNone/>
            </a:pPr>
            <a:r>
              <a:rPr lang="en-US" altLang="zh-CN" b="1" dirty="0">
                <a:solidFill>
                  <a:srgbClr val="000066"/>
                </a:solidFill>
              </a:rPr>
              <a:t>2</a:t>
            </a:r>
            <a:r>
              <a:rPr lang="en-US" altLang="zh-CN" b="1" dirty="0"/>
              <a:t>. </a:t>
            </a:r>
            <a:r>
              <a:rPr lang="zh-CN" altLang="en-US" dirty="0"/>
              <a:t>根据遍历顺序建立二叉树</a:t>
            </a:r>
          </a:p>
        </p:txBody>
      </p:sp>
      <p:sp>
        <p:nvSpPr>
          <p:cNvPr id="16" name="Text Box 2">
            <a:extLst>
              <a:ext uri="{FF2B5EF4-FFF2-40B4-BE49-F238E27FC236}">
                <a16:creationId xmlns:a16="http://schemas.microsoft.com/office/drawing/2014/main" id="{26946660-768A-44AD-A60F-8BA17F6A6FE5}"/>
              </a:ext>
            </a:extLst>
          </p:cNvPr>
          <p:cNvSpPr txBox="1">
            <a:spLocks noChangeArrowheads="1"/>
          </p:cNvSpPr>
          <p:nvPr/>
        </p:nvSpPr>
        <p:spPr bwMode="auto">
          <a:xfrm>
            <a:off x="594824" y="1790636"/>
            <a:ext cx="8610600" cy="10070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10000"/>
              </a:lnSpc>
              <a:spcBef>
                <a:spcPct val="0"/>
              </a:spcBef>
              <a:buClrTx/>
              <a:buSzTx/>
              <a:buFont typeface="Arial" panose="020B0604020202020204" pitchFamily="34" charset="0"/>
              <a:buNone/>
            </a:pPr>
            <a:r>
              <a:rPr lang="zh-CN" altLang="en-US" sz="2800" i="0" dirty="0">
                <a:latin typeface="Times New Roman" panose="02020603050405020304" pitchFamily="18" charset="0"/>
                <a:ea typeface="楷体_GB2312" pitchFamily="1" charset="-122"/>
              </a:rPr>
              <a:t>   </a:t>
            </a:r>
            <a:r>
              <a:rPr lang="zh-CN" altLang="en-US" sz="2800" i="0" dirty="0">
                <a:solidFill>
                  <a:srgbClr val="800000"/>
                </a:solidFill>
                <a:latin typeface="Times New Roman" panose="02020603050405020304" pitchFamily="18" charset="0"/>
                <a:ea typeface="楷体_GB2312" pitchFamily="1" charset="-122"/>
              </a:rPr>
              <a:t>    </a:t>
            </a:r>
            <a:r>
              <a:rPr lang="zh-CN" altLang="en-US" sz="2800" b="0" i="0" dirty="0">
                <a:latin typeface="+mn-ea"/>
                <a:ea typeface="+mn-ea"/>
              </a:rPr>
              <a:t>仅知二叉树的先序序列“</a:t>
            </a:r>
            <a:r>
              <a:rPr lang="en-US" altLang="zh-CN" sz="2800" b="0" i="0" dirty="0" err="1">
                <a:latin typeface="+mn-ea"/>
                <a:ea typeface="+mn-ea"/>
              </a:rPr>
              <a:t>abcdefg</a:t>
            </a:r>
            <a:r>
              <a:rPr lang="en-US" altLang="zh-CN" sz="2800" b="0" i="0" dirty="0">
                <a:latin typeface="+mn-ea"/>
                <a:ea typeface="+mn-ea"/>
              </a:rPr>
              <a:t>” </a:t>
            </a:r>
            <a:r>
              <a:rPr lang="zh-CN" altLang="en-US" sz="2800" b="0" i="0" dirty="0">
                <a:latin typeface="+mn-ea"/>
                <a:ea typeface="+mn-ea"/>
              </a:rPr>
              <a:t>不能唯一确定一棵二叉树。</a:t>
            </a:r>
          </a:p>
        </p:txBody>
      </p:sp>
      <p:sp>
        <p:nvSpPr>
          <p:cNvPr id="17" name="Text Box 4">
            <a:extLst>
              <a:ext uri="{FF2B5EF4-FFF2-40B4-BE49-F238E27FC236}">
                <a16:creationId xmlns:a16="http://schemas.microsoft.com/office/drawing/2014/main" id="{08E5B047-E3D2-4224-B95A-7CD9826CEB25}"/>
              </a:ext>
            </a:extLst>
          </p:cNvPr>
          <p:cNvSpPr txBox="1">
            <a:spLocks noChangeArrowheads="1"/>
          </p:cNvSpPr>
          <p:nvPr/>
        </p:nvSpPr>
        <p:spPr bwMode="auto">
          <a:xfrm>
            <a:off x="556724" y="2940604"/>
            <a:ext cx="8686800" cy="10070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10000"/>
              </a:lnSpc>
              <a:spcBef>
                <a:spcPct val="0"/>
              </a:spcBef>
              <a:buClrTx/>
              <a:buSzTx/>
              <a:buFont typeface="Arial" panose="020B0604020202020204" pitchFamily="34" charset="0"/>
              <a:buNone/>
            </a:pPr>
            <a:r>
              <a:rPr lang="zh-CN" altLang="en-US" sz="2800" i="0" dirty="0">
                <a:solidFill>
                  <a:srgbClr val="CC0000"/>
                </a:solidFill>
                <a:latin typeface="Times New Roman" panose="02020603050405020304" pitchFamily="18" charset="0"/>
                <a:ea typeface="楷体_GB2312" pitchFamily="1" charset="-122"/>
              </a:rPr>
              <a:t>        </a:t>
            </a:r>
            <a:r>
              <a:rPr lang="zh-CN" altLang="en-US" sz="2800" b="0" i="0" dirty="0">
                <a:latin typeface="+mn-ea"/>
                <a:ea typeface="+mn-ea"/>
              </a:rPr>
              <a:t>如果同时已知二叉树的中序序列“</a:t>
            </a:r>
            <a:r>
              <a:rPr lang="en-US" altLang="zh-CN" sz="2800" b="0" i="0" dirty="0" err="1">
                <a:latin typeface="+mn-ea"/>
                <a:ea typeface="+mn-ea"/>
              </a:rPr>
              <a:t>cbdaegf</a:t>
            </a:r>
            <a:r>
              <a:rPr lang="en-US" altLang="zh-CN" sz="2800" b="0" i="0" dirty="0">
                <a:latin typeface="+mn-ea"/>
                <a:ea typeface="+mn-ea"/>
              </a:rPr>
              <a:t>”</a:t>
            </a:r>
            <a:r>
              <a:rPr lang="zh-CN" altLang="en-US" sz="2800" b="0" i="0" dirty="0">
                <a:latin typeface="+mn-ea"/>
                <a:ea typeface="+mn-ea"/>
              </a:rPr>
              <a:t>，则会如何？  </a:t>
            </a:r>
          </a:p>
        </p:txBody>
      </p:sp>
      <p:sp>
        <p:nvSpPr>
          <p:cNvPr id="6" name="文本框 5">
            <a:extLst>
              <a:ext uri="{FF2B5EF4-FFF2-40B4-BE49-F238E27FC236}">
                <a16:creationId xmlns:a16="http://schemas.microsoft.com/office/drawing/2014/main" id="{20B80EEA-9D6A-44F1-8DD2-2633295069F2}"/>
              </a:ext>
            </a:extLst>
          </p:cNvPr>
          <p:cNvSpPr txBox="1"/>
          <p:nvPr/>
        </p:nvSpPr>
        <p:spPr>
          <a:xfrm>
            <a:off x="1331640" y="4365104"/>
            <a:ext cx="6480720" cy="523220"/>
          </a:xfrm>
          <a:prstGeom prst="rect">
            <a:avLst/>
          </a:prstGeom>
          <a:noFill/>
        </p:spPr>
        <p:txBody>
          <a:bodyPr wrap="square" rtlCol="0">
            <a:spAutoFit/>
          </a:bodyPr>
          <a:lstStyle/>
          <a:p>
            <a:r>
              <a:rPr lang="zh-CN" altLang="en-US" sz="2800" i="0" dirty="0">
                <a:solidFill>
                  <a:srgbClr val="FF0000"/>
                </a:solidFill>
              </a:rPr>
              <a:t>先序</a:t>
            </a:r>
            <a:r>
              <a:rPr lang="en-US" altLang="zh-CN" sz="2800" i="0" dirty="0">
                <a:solidFill>
                  <a:srgbClr val="FF0000"/>
                </a:solidFill>
              </a:rPr>
              <a:t>+</a:t>
            </a:r>
            <a:r>
              <a:rPr lang="zh-CN" altLang="en-US" sz="2800" i="0" dirty="0">
                <a:solidFill>
                  <a:srgbClr val="FF0000"/>
                </a:solidFill>
              </a:rPr>
              <a:t>中序：唯一确定一棵二叉树</a:t>
            </a:r>
          </a:p>
        </p:txBody>
      </p:sp>
    </p:spTree>
    <p:extLst>
      <p:ext uri="{BB962C8B-B14F-4D97-AF65-F5344CB8AC3E}">
        <p14:creationId xmlns:p14="http://schemas.microsoft.com/office/powerpoint/2010/main" val="68395726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animEffect transition="in" filter="strips(downRight)">
                                      <p:cBhvr>
                                        <p:cTn id="7" dur="500"/>
                                        <p:tgtEl>
                                          <p:spTgt spid="430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left)">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wipe(left)">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build="p" autoUpdateAnimBg="0"/>
      <p:bldP spid="16" grpId="0" autoUpdateAnimBg="0"/>
      <p:bldP spid="17" grpId="0" autoUpdateAnimBg="0"/>
      <p:bldP spid="6"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2" name="Text Box 6">
            <a:extLst>
              <a:ext uri="{FF2B5EF4-FFF2-40B4-BE49-F238E27FC236}">
                <a16:creationId xmlns:a16="http://schemas.microsoft.com/office/drawing/2014/main" id="{2C13B7BC-A1C9-4708-A1C6-36C6CEDC4DF3}"/>
              </a:ext>
            </a:extLst>
          </p:cNvPr>
          <p:cNvSpPr txBox="1">
            <a:spLocks noChangeArrowheads="1"/>
          </p:cNvSpPr>
          <p:nvPr/>
        </p:nvSpPr>
        <p:spPr bwMode="auto">
          <a:xfrm>
            <a:off x="576943" y="1602419"/>
            <a:ext cx="4267200" cy="5084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10000"/>
              </a:lnSpc>
              <a:spcBef>
                <a:spcPct val="0"/>
              </a:spcBef>
              <a:buClrTx/>
              <a:buSzTx/>
              <a:buFont typeface="Arial" panose="020B0604020202020204" pitchFamily="34" charset="0"/>
              <a:buNone/>
            </a:pPr>
            <a:r>
              <a:rPr lang="zh-CN" altLang="en-US" sz="2800" b="0" i="0" dirty="0">
                <a:solidFill>
                  <a:srgbClr val="800000"/>
                </a:solidFill>
                <a:latin typeface="黑体" panose="02010609060101010101" pitchFamily="49" charset="-122"/>
                <a:ea typeface="黑体" panose="02010609060101010101" pitchFamily="49" charset="-122"/>
              </a:rPr>
              <a:t>二叉树的先序序列</a:t>
            </a:r>
          </a:p>
        </p:txBody>
      </p:sp>
      <p:sp>
        <p:nvSpPr>
          <p:cNvPr id="45063" name="Text Box 7">
            <a:extLst>
              <a:ext uri="{FF2B5EF4-FFF2-40B4-BE49-F238E27FC236}">
                <a16:creationId xmlns:a16="http://schemas.microsoft.com/office/drawing/2014/main" id="{73A8E430-5776-4AA6-B963-69F880601BCF}"/>
              </a:ext>
            </a:extLst>
          </p:cNvPr>
          <p:cNvSpPr txBox="1">
            <a:spLocks noChangeArrowheads="1"/>
          </p:cNvSpPr>
          <p:nvPr/>
        </p:nvSpPr>
        <p:spPr bwMode="auto">
          <a:xfrm>
            <a:off x="580926" y="2656498"/>
            <a:ext cx="4267200" cy="5084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10000"/>
              </a:lnSpc>
              <a:spcBef>
                <a:spcPct val="0"/>
              </a:spcBef>
              <a:buClrTx/>
              <a:buSzTx/>
              <a:buFont typeface="Arial" panose="020B0604020202020204" pitchFamily="34" charset="0"/>
              <a:buNone/>
            </a:pPr>
            <a:r>
              <a:rPr lang="zh-CN" altLang="en-US" sz="2800" b="0" i="0" dirty="0">
                <a:solidFill>
                  <a:srgbClr val="800000"/>
                </a:solidFill>
                <a:latin typeface="+mn-ea"/>
                <a:ea typeface="+mn-ea"/>
              </a:rPr>
              <a:t>二叉树的中序序列</a:t>
            </a:r>
          </a:p>
        </p:txBody>
      </p:sp>
      <p:sp>
        <p:nvSpPr>
          <p:cNvPr id="45064" name="Text Box 8">
            <a:extLst>
              <a:ext uri="{FF2B5EF4-FFF2-40B4-BE49-F238E27FC236}">
                <a16:creationId xmlns:a16="http://schemas.microsoft.com/office/drawing/2014/main" id="{0A2533DB-15E2-47C9-8D2C-765EF7822EF1}"/>
              </a:ext>
            </a:extLst>
          </p:cNvPr>
          <p:cNvSpPr txBox="1">
            <a:spLocks noChangeArrowheads="1"/>
          </p:cNvSpPr>
          <p:nvPr/>
        </p:nvSpPr>
        <p:spPr bwMode="auto">
          <a:xfrm>
            <a:off x="4445865" y="2673722"/>
            <a:ext cx="1654175" cy="523220"/>
          </a:xfrm>
          <a:prstGeom prst="rect">
            <a:avLst/>
          </a:prstGeom>
          <a:solidFill>
            <a:srgbClr val="CCFFCC"/>
          </a:solidFill>
          <a:ln w="31750" cap="sq">
            <a:solidFill>
              <a:srgbClr val="008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zh-CN" altLang="en-US" sz="2800" b="1" i="0" dirty="0">
                <a:solidFill>
                  <a:srgbClr val="009999"/>
                </a:solidFill>
                <a:latin typeface="+mn-ea"/>
                <a:ea typeface="+mn-ea"/>
              </a:rPr>
              <a:t>左子树</a:t>
            </a:r>
            <a:endParaRPr lang="zh-CN" altLang="en-US" sz="2800" i="0" dirty="0">
              <a:latin typeface="+mn-ea"/>
              <a:ea typeface="+mn-ea"/>
            </a:endParaRPr>
          </a:p>
        </p:txBody>
      </p:sp>
      <p:sp>
        <p:nvSpPr>
          <p:cNvPr id="45065" name="Text Box 9">
            <a:extLst>
              <a:ext uri="{FF2B5EF4-FFF2-40B4-BE49-F238E27FC236}">
                <a16:creationId xmlns:a16="http://schemas.microsoft.com/office/drawing/2014/main" id="{72BE53EB-E1E6-4D49-ACFC-A335DCE5A167}"/>
              </a:ext>
            </a:extLst>
          </p:cNvPr>
          <p:cNvSpPr txBox="1">
            <a:spLocks noChangeArrowheads="1"/>
          </p:cNvSpPr>
          <p:nvPr/>
        </p:nvSpPr>
        <p:spPr bwMode="auto">
          <a:xfrm>
            <a:off x="5221358" y="1628800"/>
            <a:ext cx="1654175" cy="523220"/>
          </a:xfrm>
          <a:prstGeom prst="rect">
            <a:avLst/>
          </a:prstGeom>
          <a:solidFill>
            <a:srgbClr val="CCFFCC"/>
          </a:solidFill>
          <a:ln w="31750" cap="sq">
            <a:solidFill>
              <a:srgbClr val="008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zh-CN" altLang="en-US" sz="2800" b="1" i="0" dirty="0">
                <a:solidFill>
                  <a:srgbClr val="009999"/>
                </a:solidFill>
                <a:latin typeface="Times New Roman" panose="02020603050405020304" pitchFamily="18" charset="0"/>
              </a:rPr>
              <a:t>左子树</a:t>
            </a:r>
            <a:endParaRPr lang="zh-CN" altLang="en-US" sz="2800" i="0" dirty="0">
              <a:latin typeface="Times New Roman" panose="02020603050405020304" pitchFamily="18" charset="0"/>
            </a:endParaRPr>
          </a:p>
        </p:txBody>
      </p:sp>
      <p:sp>
        <p:nvSpPr>
          <p:cNvPr id="45066" name="Text Box 10">
            <a:extLst>
              <a:ext uri="{FF2B5EF4-FFF2-40B4-BE49-F238E27FC236}">
                <a16:creationId xmlns:a16="http://schemas.microsoft.com/office/drawing/2014/main" id="{EBE570FE-3DBA-446E-B86A-45436BE12285}"/>
              </a:ext>
            </a:extLst>
          </p:cNvPr>
          <p:cNvSpPr txBox="1">
            <a:spLocks noChangeArrowheads="1"/>
          </p:cNvSpPr>
          <p:nvPr/>
        </p:nvSpPr>
        <p:spPr bwMode="auto">
          <a:xfrm>
            <a:off x="6956425" y="1635569"/>
            <a:ext cx="1654175" cy="523220"/>
          </a:xfrm>
          <a:prstGeom prst="rect">
            <a:avLst/>
          </a:prstGeom>
          <a:solidFill>
            <a:srgbClr val="CCECFF"/>
          </a:solidFill>
          <a:ln w="31750" cap="sq">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zh-CN" altLang="en-US" sz="2800" b="1" i="0" dirty="0">
                <a:solidFill>
                  <a:srgbClr val="333399"/>
                </a:solidFill>
                <a:latin typeface="Times New Roman" panose="02020603050405020304" pitchFamily="18" charset="0"/>
              </a:rPr>
              <a:t>右子树</a:t>
            </a:r>
          </a:p>
        </p:txBody>
      </p:sp>
      <p:sp>
        <p:nvSpPr>
          <p:cNvPr id="45067" name="Text Box 11">
            <a:extLst>
              <a:ext uri="{FF2B5EF4-FFF2-40B4-BE49-F238E27FC236}">
                <a16:creationId xmlns:a16="http://schemas.microsoft.com/office/drawing/2014/main" id="{A55CB179-FE28-4134-991E-20ED4CF39486}"/>
              </a:ext>
            </a:extLst>
          </p:cNvPr>
          <p:cNvSpPr txBox="1">
            <a:spLocks noChangeArrowheads="1"/>
          </p:cNvSpPr>
          <p:nvPr/>
        </p:nvSpPr>
        <p:spPr bwMode="auto">
          <a:xfrm>
            <a:off x="6906490" y="2686422"/>
            <a:ext cx="1654175" cy="523220"/>
          </a:xfrm>
          <a:prstGeom prst="rect">
            <a:avLst/>
          </a:prstGeom>
          <a:solidFill>
            <a:srgbClr val="CCECFF"/>
          </a:solidFill>
          <a:ln w="31750" cap="sq">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zh-CN" altLang="en-US" sz="2800" b="1" i="0" dirty="0">
                <a:solidFill>
                  <a:srgbClr val="333399"/>
                </a:solidFill>
                <a:latin typeface="+mn-ea"/>
                <a:ea typeface="+mn-ea"/>
              </a:rPr>
              <a:t>右子树</a:t>
            </a:r>
          </a:p>
        </p:txBody>
      </p:sp>
      <p:sp>
        <p:nvSpPr>
          <p:cNvPr id="45068" name="Oval 12">
            <a:extLst>
              <a:ext uri="{FF2B5EF4-FFF2-40B4-BE49-F238E27FC236}">
                <a16:creationId xmlns:a16="http://schemas.microsoft.com/office/drawing/2014/main" id="{522749A6-2445-40C7-BCF7-57F13EDD961E}"/>
              </a:ext>
            </a:extLst>
          </p:cNvPr>
          <p:cNvSpPr>
            <a:spLocks noChangeArrowheads="1"/>
          </p:cNvSpPr>
          <p:nvPr/>
        </p:nvSpPr>
        <p:spPr bwMode="auto">
          <a:xfrm>
            <a:off x="4452484" y="1636570"/>
            <a:ext cx="609600" cy="609600"/>
          </a:xfrm>
          <a:prstGeom prst="ellipse">
            <a:avLst/>
          </a:prstGeom>
          <a:solidFill>
            <a:srgbClr val="FFCC99"/>
          </a:solidFill>
          <a:ln w="31750" cap="sq">
            <a:solidFill>
              <a:srgbClr val="FF66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i="0" dirty="0">
                <a:solidFill>
                  <a:srgbClr val="FF3300"/>
                </a:solidFill>
                <a:latin typeface="Times New Roman" panose="02020603050405020304" pitchFamily="18" charset="0"/>
              </a:rPr>
              <a:t>根</a:t>
            </a:r>
            <a:endParaRPr lang="zh-CN" altLang="en-US" sz="2800" i="0" dirty="0">
              <a:latin typeface="Times New Roman" panose="02020603050405020304" pitchFamily="18" charset="0"/>
            </a:endParaRPr>
          </a:p>
        </p:txBody>
      </p:sp>
      <p:sp>
        <p:nvSpPr>
          <p:cNvPr id="45069" name="Oval 13">
            <a:extLst>
              <a:ext uri="{FF2B5EF4-FFF2-40B4-BE49-F238E27FC236}">
                <a16:creationId xmlns:a16="http://schemas.microsoft.com/office/drawing/2014/main" id="{DD6FB7E2-1717-4A38-91C4-9B4803C9EAE6}"/>
              </a:ext>
            </a:extLst>
          </p:cNvPr>
          <p:cNvSpPr>
            <a:spLocks noChangeArrowheads="1"/>
          </p:cNvSpPr>
          <p:nvPr/>
        </p:nvSpPr>
        <p:spPr bwMode="auto">
          <a:xfrm>
            <a:off x="6186789" y="2673722"/>
            <a:ext cx="609600" cy="609600"/>
          </a:xfrm>
          <a:prstGeom prst="ellipse">
            <a:avLst/>
          </a:prstGeom>
          <a:solidFill>
            <a:srgbClr val="FFCC99"/>
          </a:solidFill>
          <a:ln w="31750" cap="sq">
            <a:solidFill>
              <a:srgbClr val="FF66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i="0" dirty="0">
                <a:solidFill>
                  <a:srgbClr val="FF3300"/>
                </a:solidFill>
                <a:latin typeface="+mn-ea"/>
                <a:ea typeface="+mn-ea"/>
              </a:rPr>
              <a:t>根</a:t>
            </a:r>
            <a:endParaRPr lang="zh-CN" altLang="en-US" sz="2800" i="0" dirty="0">
              <a:latin typeface="+mn-ea"/>
              <a:ea typeface="+mn-ea"/>
            </a:endParaRPr>
          </a:p>
        </p:txBody>
      </p:sp>
      <p:sp>
        <p:nvSpPr>
          <p:cNvPr id="14" name="Rectangle 2">
            <a:extLst>
              <a:ext uri="{FF2B5EF4-FFF2-40B4-BE49-F238E27FC236}">
                <a16:creationId xmlns:a16="http://schemas.microsoft.com/office/drawing/2014/main" id="{50819CF8-F202-4890-B524-7628AEC07A64}"/>
              </a:ext>
            </a:extLst>
          </p:cNvPr>
          <p:cNvSpPr txBox="1">
            <a:spLocks noChangeArrowheads="1"/>
          </p:cNvSpPr>
          <p:nvPr/>
        </p:nvSpPr>
        <p:spPr>
          <a:xfrm>
            <a:off x="574675" y="260648"/>
            <a:ext cx="8001000" cy="676275"/>
          </a:xfrm>
          <a:prstGeom prst="rect">
            <a:avLst/>
          </a:prstGeom>
        </p:spPr>
        <p:txBody>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Times New Roman" pitchFamily="18" charset="0"/>
                <a:ea typeface="黑体" pitchFamily="2" charset="-122"/>
              </a:defRPr>
            </a:lvl2pPr>
            <a:lvl3pPr algn="l" rtl="0" eaLnBrk="0" fontAlgn="base" hangingPunct="0">
              <a:spcBef>
                <a:spcPct val="0"/>
              </a:spcBef>
              <a:spcAft>
                <a:spcPct val="0"/>
              </a:spcAft>
              <a:defRPr sz="4200">
                <a:solidFill>
                  <a:schemeClr val="tx2"/>
                </a:solidFill>
                <a:latin typeface="Times New Roman" pitchFamily="18" charset="0"/>
                <a:ea typeface="黑体" pitchFamily="2" charset="-122"/>
              </a:defRPr>
            </a:lvl3pPr>
            <a:lvl4pPr algn="l" rtl="0" eaLnBrk="0" fontAlgn="base" hangingPunct="0">
              <a:spcBef>
                <a:spcPct val="0"/>
              </a:spcBef>
              <a:spcAft>
                <a:spcPct val="0"/>
              </a:spcAft>
              <a:defRPr sz="4200">
                <a:solidFill>
                  <a:schemeClr val="tx2"/>
                </a:solidFill>
                <a:latin typeface="Times New Roman" pitchFamily="18" charset="0"/>
                <a:ea typeface="黑体" pitchFamily="2" charset="-122"/>
              </a:defRPr>
            </a:lvl4pPr>
            <a:lvl5pPr algn="l" rtl="0" eaLnBrk="0" fontAlgn="base" hangingPunct="0">
              <a:spcBef>
                <a:spcPct val="0"/>
              </a:spcBef>
              <a:spcAft>
                <a:spcPct val="0"/>
              </a:spcAft>
              <a:defRPr sz="4200">
                <a:solidFill>
                  <a:schemeClr val="tx2"/>
                </a:solidFill>
                <a:latin typeface="Times New Roman" pitchFamily="18" charset="0"/>
                <a:ea typeface="黑体" pitchFamily="2" charset="-122"/>
              </a:defRPr>
            </a:lvl5pPr>
            <a:lvl6pPr marL="457200" algn="l" rtl="0" fontAlgn="base">
              <a:spcBef>
                <a:spcPct val="0"/>
              </a:spcBef>
              <a:spcAft>
                <a:spcPct val="0"/>
              </a:spcAft>
              <a:defRPr sz="4200">
                <a:solidFill>
                  <a:schemeClr val="tx2"/>
                </a:solidFill>
                <a:latin typeface="Times New Roman" pitchFamily="18" charset="0"/>
                <a:ea typeface="黑体" pitchFamily="2" charset="-122"/>
              </a:defRPr>
            </a:lvl6pPr>
            <a:lvl7pPr marL="914400" algn="l" rtl="0" fontAlgn="base">
              <a:spcBef>
                <a:spcPct val="0"/>
              </a:spcBef>
              <a:spcAft>
                <a:spcPct val="0"/>
              </a:spcAft>
              <a:defRPr sz="4200">
                <a:solidFill>
                  <a:schemeClr val="tx2"/>
                </a:solidFill>
                <a:latin typeface="Times New Roman" pitchFamily="18" charset="0"/>
                <a:ea typeface="黑体" pitchFamily="2" charset="-122"/>
              </a:defRPr>
            </a:lvl7pPr>
            <a:lvl8pPr marL="1371600" algn="l" rtl="0" fontAlgn="base">
              <a:spcBef>
                <a:spcPct val="0"/>
              </a:spcBef>
              <a:spcAft>
                <a:spcPct val="0"/>
              </a:spcAft>
              <a:defRPr sz="4200">
                <a:solidFill>
                  <a:schemeClr val="tx2"/>
                </a:solidFill>
                <a:latin typeface="Times New Roman" pitchFamily="18" charset="0"/>
                <a:ea typeface="黑体" pitchFamily="2" charset="-122"/>
              </a:defRPr>
            </a:lvl8pPr>
            <a:lvl9pPr marL="1828800" algn="l" rtl="0" fontAlgn="base">
              <a:spcBef>
                <a:spcPct val="0"/>
              </a:spcBef>
              <a:spcAft>
                <a:spcPct val="0"/>
              </a:spcAft>
              <a:defRPr sz="4200">
                <a:solidFill>
                  <a:schemeClr val="tx2"/>
                </a:solidFill>
                <a:latin typeface="Times New Roman" pitchFamily="18" charset="0"/>
                <a:ea typeface="黑体" pitchFamily="2" charset="-122"/>
              </a:defRPr>
            </a:lvl9pPr>
          </a:lstStyle>
          <a:p>
            <a:pPr algn="ctr" eaLnBrk="1" hangingPunct="1"/>
            <a:r>
              <a:rPr lang="zh-CN" altLang="en-US" sz="4400" b="1" i="0" kern="1200" dirty="0">
                <a:latin typeface="Tahoma" panose="020B0604030504040204" pitchFamily="34" charset="0"/>
                <a:ea typeface="隶书" pitchFamily="49" charset="-122"/>
                <a:cs typeface="+mn-cs"/>
              </a:rPr>
              <a:t>根据遍历顺序确定二叉树</a:t>
            </a:r>
          </a:p>
        </p:txBody>
      </p:sp>
      <p:sp>
        <p:nvSpPr>
          <p:cNvPr id="2" name="文本框 1">
            <a:extLst>
              <a:ext uri="{FF2B5EF4-FFF2-40B4-BE49-F238E27FC236}">
                <a16:creationId xmlns:a16="http://schemas.microsoft.com/office/drawing/2014/main" id="{B6B1BB49-C511-4C01-98F1-D0651961D1F7}"/>
              </a:ext>
            </a:extLst>
          </p:cNvPr>
          <p:cNvSpPr txBox="1"/>
          <p:nvPr/>
        </p:nvSpPr>
        <p:spPr>
          <a:xfrm>
            <a:off x="574675" y="3947599"/>
            <a:ext cx="8506773" cy="954107"/>
          </a:xfrm>
          <a:prstGeom prst="rect">
            <a:avLst/>
          </a:prstGeom>
          <a:noFill/>
        </p:spPr>
        <p:txBody>
          <a:bodyPr wrap="square" rtlCol="0">
            <a:spAutoFit/>
          </a:bodyPr>
          <a:lstStyle/>
          <a:p>
            <a:r>
              <a:rPr lang="zh-CN" altLang="en-US" sz="2800" b="0" i="0" dirty="0">
                <a:latin typeface="黑体" panose="02010609060101010101" pitchFamily="49" charset="-122"/>
                <a:ea typeface="黑体" panose="02010609060101010101" pitchFamily="49" charset="-122"/>
              </a:rPr>
              <a:t>根据先序确定根，根据中序确定左右子树的先序、中序遍历序列，递归的确定左右子树。</a:t>
            </a:r>
          </a:p>
        </p:txBody>
      </p:sp>
    </p:spTree>
  </p:cSld>
  <p:clrMapOvr>
    <a:masterClrMapping/>
  </p:clrMapOvr>
  <p:transition spd="med">
    <p:pull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5062"/>
                                        </p:tgtEl>
                                        <p:attrNameLst>
                                          <p:attrName>style.visibility</p:attrName>
                                        </p:attrNameLst>
                                      </p:cBhvr>
                                      <p:to>
                                        <p:strVal val="visible"/>
                                      </p:to>
                                    </p:set>
                                    <p:animEffect transition="in" filter="wipe(left)">
                                      <p:cBhvr>
                                        <p:cTn id="7" dur="500"/>
                                        <p:tgtEl>
                                          <p:spTgt spid="4506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7" presetClass="entr" presetSubtype="8" fill="hold" grpId="0" nodeType="clickEffect">
                                  <p:stCondLst>
                                    <p:cond delay="0"/>
                                  </p:stCondLst>
                                  <p:childTnLst>
                                    <p:set>
                                      <p:cBhvr>
                                        <p:cTn id="11" dur="1" fill="hold">
                                          <p:stCondLst>
                                            <p:cond delay="0"/>
                                          </p:stCondLst>
                                        </p:cTn>
                                        <p:tgtEl>
                                          <p:spTgt spid="45068"/>
                                        </p:tgtEl>
                                        <p:attrNameLst>
                                          <p:attrName>style.visibility</p:attrName>
                                        </p:attrNameLst>
                                      </p:cBhvr>
                                      <p:to>
                                        <p:strVal val="visible"/>
                                      </p:to>
                                    </p:set>
                                    <p:anim calcmode="lin" valueType="num">
                                      <p:cBhvr>
                                        <p:cTn id="12" dur="500" fill="hold"/>
                                        <p:tgtEl>
                                          <p:spTgt spid="45068"/>
                                        </p:tgtEl>
                                        <p:attrNameLst>
                                          <p:attrName>ppt_x</p:attrName>
                                        </p:attrNameLst>
                                      </p:cBhvr>
                                      <p:tavLst>
                                        <p:tav tm="0">
                                          <p:val>
                                            <p:strVal val="#ppt_x-#ppt_w/2"/>
                                          </p:val>
                                        </p:tav>
                                        <p:tav tm="100000">
                                          <p:val>
                                            <p:strVal val="#ppt_x"/>
                                          </p:val>
                                        </p:tav>
                                      </p:tavLst>
                                    </p:anim>
                                    <p:anim calcmode="lin" valueType="num">
                                      <p:cBhvr>
                                        <p:cTn id="13" dur="500" fill="hold"/>
                                        <p:tgtEl>
                                          <p:spTgt spid="45068"/>
                                        </p:tgtEl>
                                        <p:attrNameLst>
                                          <p:attrName>ppt_y</p:attrName>
                                        </p:attrNameLst>
                                      </p:cBhvr>
                                      <p:tavLst>
                                        <p:tav tm="0">
                                          <p:val>
                                            <p:strVal val="#ppt_y"/>
                                          </p:val>
                                        </p:tav>
                                        <p:tav tm="100000">
                                          <p:val>
                                            <p:strVal val="#ppt_y"/>
                                          </p:val>
                                        </p:tav>
                                      </p:tavLst>
                                    </p:anim>
                                    <p:anim calcmode="lin" valueType="num">
                                      <p:cBhvr>
                                        <p:cTn id="14" dur="500" fill="hold"/>
                                        <p:tgtEl>
                                          <p:spTgt spid="45068"/>
                                        </p:tgtEl>
                                        <p:attrNameLst>
                                          <p:attrName>ppt_w</p:attrName>
                                        </p:attrNameLst>
                                      </p:cBhvr>
                                      <p:tavLst>
                                        <p:tav tm="0">
                                          <p:val>
                                            <p:fltVal val="0"/>
                                          </p:val>
                                        </p:tav>
                                        <p:tav tm="100000">
                                          <p:val>
                                            <p:strVal val="#ppt_w"/>
                                          </p:val>
                                        </p:tav>
                                      </p:tavLst>
                                    </p:anim>
                                    <p:anim calcmode="lin" valueType="num">
                                      <p:cBhvr>
                                        <p:cTn id="15" dur="500" fill="hold"/>
                                        <p:tgtEl>
                                          <p:spTgt spid="45068"/>
                                        </p:tgtEl>
                                        <p:attrNameLst>
                                          <p:attrName>ppt_h</p:attrName>
                                        </p:attrNameLst>
                                      </p:cBhvr>
                                      <p:tavLst>
                                        <p:tav tm="0">
                                          <p:val>
                                            <p:strVal val="#ppt_h"/>
                                          </p:val>
                                        </p:tav>
                                        <p:tav tm="100000">
                                          <p:val>
                                            <p:strVal val="#ppt_h"/>
                                          </p:val>
                                        </p:tav>
                                      </p:tavLst>
                                    </p:anim>
                                  </p:childTnLst>
                                </p:cTn>
                              </p:par>
                            </p:childTnLst>
                          </p:cTn>
                        </p:par>
                        <p:par>
                          <p:cTn id="16" fill="hold" nodeType="afterGroup">
                            <p:stCondLst>
                              <p:cond delay="500"/>
                            </p:stCondLst>
                            <p:childTnLst>
                              <p:par>
                                <p:cTn id="17" presetID="17" presetClass="entr" presetSubtype="8" fill="hold" grpId="0" nodeType="afterEffect">
                                  <p:stCondLst>
                                    <p:cond delay="0"/>
                                  </p:stCondLst>
                                  <p:childTnLst>
                                    <p:set>
                                      <p:cBhvr>
                                        <p:cTn id="18" dur="1" fill="hold">
                                          <p:stCondLst>
                                            <p:cond delay="0"/>
                                          </p:stCondLst>
                                        </p:cTn>
                                        <p:tgtEl>
                                          <p:spTgt spid="45065"/>
                                        </p:tgtEl>
                                        <p:attrNameLst>
                                          <p:attrName>style.visibility</p:attrName>
                                        </p:attrNameLst>
                                      </p:cBhvr>
                                      <p:to>
                                        <p:strVal val="visible"/>
                                      </p:to>
                                    </p:set>
                                    <p:anim calcmode="lin" valueType="num">
                                      <p:cBhvr>
                                        <p:cTn id="19" dur="500" fill="hold"/>
                                        <p:tgtEl>
                                          <p:spTgt spid="45065"/>
                                        </p:tgtEl>
                                        <p:attrNameLst>
                                          <p:attrName>ppt_x</p:attrName>
                                        </p:attrNameLst>
                                      </p:cBhvr>
                                      <p:tavLst>
                                        <p:tav tm="0">
                                          <p:val>
                                            <p:strVal val="#ppt_x-#ppt_w/2"/>
                                          </p:val>
                                        </p:tav>
                                        <p:tav tm="100000">
                                          <p:val>
                                            <p:strVal val="#ppt_x"/>
                                          </p:val>
                                        </p:tav>
                                      </p:tavLst>
                                    </p:anim>
                                    <p:anim calcmode="lin" valueType="num">
                                      <p:cBhvr>
                                        <p:cTn id="20" dur="500" fill="hold"/>
                                        <p:tgtEl>
                                          <p:spTgt spid="45065"/>
                                        </p:tgtEl>
                                        <p:attrNameLst>
                                          <p:attrName>ppt_y</p:attrName>
                                        </p:attrNameLst>
                                      </p:cBhvr>
                                      <p:tavLst>
                                        <p:tav tm="0">
                                          <p:val>
                                            <p:strVal val="#ppt_y"/>
                                          </p:val>
                                        </p:tav>
                                        <p:tav tm="100000">
                                          <p:val>
                                            <p:strVal val="#ppt_y"/>
                                          </p:val>
                                        </p:tav>
                                      </p:tavLst>
                                    </p:anim>
                                    <p:anim calcmode="lin" valueType="num">
                                      <p:cBhvr>
                                        <p:cTn id="21" dur="500" fill="hold"/>
                                        <p:tgtEl>
                                          <p:spTgt spid="45065"/>
                                        </p:tgtEl>
                                        <p:attrNameLst>
                                          <p:attrName>ppt_w</p:attrName>
                                        </p:attrNameLst>
                                      </p:cBhvr>
                                      <p:tavLst>
                                        <p:tav tm="0">
                                          <p:val>
                                            <p:fltVal val="0"/>
                                          </p:val>
                                        </p:tav>
                                        <p:tav tm="100000">
                                          <p:val>
                                            <p:strVal val="#ppt_w"/>
                                          </p:val>
                                        </p:tav>
                                      </p:tavLst>
                                    </p:anim>
                                    <p:anim calcmode="lin" valueType="num">
                                      <p:cBhvr>
                                        <p:cTn id="22" dur="500" fill="hold"/>
                                        <p:tgtEl>
                                          <p:spTgt spid="45065"/>
                                        </p:tgtEl>
                                        <p:attrNameLst>
                                          <p:attrName>ppt_h</p:attrName>
                                        </p:attrNameLst>
                                      </p:cBhvr>
                                      <p:tavLst>
                                        <p:tav tm="0">
                                          <p:val>
                                            <p:strVal val="#ppt_h"/>
                                          </p:val>
                                        </p:tav>
                                        <p:tav tm="100000">
                                          <p:val>
                                            <p:strVal val="#ppt_h"/>
                                          </p:val>
                                        </p:tav>
                                      </p:tavLst>
                                    </p:anim>
                                  </p:childTnLst>
                                </p:cTn>
                              </p:par>
                            </p:childTnLst>
                          </p:cTn>
                        </p:par>
                        <p:par>
                          <p:cTn id="23" fill="hold" nodeType="afterGroup">
                            <p:stCondLst>
                              <p:cond delay="1000"/>
                            </p:stCondLst>
                            <p:childTnLst>
                              <p:par>
                                <p:cTn id="24" presetID="17" presetClass="entr" presetSubtype="8" fill="hold" grpId="0" nodeType="afterEffect">
                                  <p:stCondLst>
                                    <p:cond delay="0"/>
                                  </p:stCondLst>
                                  <p:childTnLst>
                                    <p:set>
                                      <p:cBhvr>
                                        <p:cTn id="25" dur="1" fill="hold">
                                          <p:stCondLst>
                                            <p:cond delay="0"/>
                                          </p:stCondLst>
                                        </p:cTn>
                                        <p:tgtEl>
                                          <p:spTgt spid="45066"/>
                                        </p:tgtEl>
                                        <p:attrNameLst>
                                          <p:attrName>style.visibility</p:attrName>
                                        </p:attrNameLst>
                                      </p:cBhvr>
                                      <p:to>
                                        <p:strVal val="visible"/>
                                      </p:to>
                                    </p:set>
                                    <p:anim calcmode="lin" valueType="num">
                                      <p:cBhvr>
                                        <p:cTn id="26" dur="500" fill="hold"/>
                                        <p:tgtEl>
                                          <p:spTgt spid="45066"/>
                                        </p:tgtEl>
                                        <p:attrNameLst>
                                          <p:attrName>ppt_x</p:attrName>
                                        </p:attrNameLst>
                                      </p:cBhvr>
                                      <p:tavLst>
                                        <p:tav tm="0">
                                          <p:val>
                                            <p:strVal val="#ppt_x-#ppt_w/2"/>
                                          </p:val>
                                        </p:tav>
                                        <p:tav tm="100000">
                                          <p:val>
                                            <p:strVal val="#ppt_x"/>
                                          </p:val>
                                        </p:tav>
                                      </p:tavLst>
                                    </p:anim>
                                    <p:anim calcmode="lin" valueType="num">
                                      <p:cBhvr>
                                        <p:cTn id="27" dur="500" fill="hold"/>
                                        <p:tgtEl>
                                          <p:spTgt spid="45066"/>
                                        </p:tgtEl>
                                        <p:attrNameLst>
                                          <p:attrName>ppt_y</p:attrName>
                                        </p:attrNameLst>
                                      </p:cBhvr>
                                      <p:tavLst>
                                        <p:tav tm="0">
                                          <p:val>
                                            <p:strVal val="#ppt_y"/>
                                          </p:val>
                                        </p:tav>
                                        <p:tav tm="100000">
                                          <p:val>
                                            <p:strVal val="#ppt_y"/>
                                          </p:val>
                                        </p:tav>
                                      </p:tavLst>
                                    </p:anim>
                                    <p:anim calcmode="lin" valueType="num">
                                      <p:cBhvr>
                                        <p:cTn id="28" dur="500" fill="hold"/>
                                        <p:tgtEl>
                                          <p:spTgt spid="45066"/>
                                        </p:tgtEl>
                                        <p:attrNameLst>
                                          <p:attrName>ppt_w</p:attrName>
                                        </p:attrNameLst>
                                      </p:cBhvr>
                                      <p:tavLst>
                                        <p:tav tm="0">
                                          <p:val>
                                            <p:fltVal val="0"/>
                                          </p:val>
                                        </p:tav>
                                        <p:tav tm="100000">
                                          <p:val>
                                            <p:strVal val="#ppt_w"/>
                                          </p:val>
                                        </p:tav>
                                      </p:tavLst>
                                    </p:anim>
                                    <p:anim calcmode="lin" valueType="num">
                                      <p:cBhvr>
                                        <p:cTn id="29" dur="500" fill="hold"/>
                                        <p:tgtEl>
                                          <p:spTgt spid="45066"/>
                                        </p:tgtEl>
                                        <p:attrNameLst>
                                          <p:attrName>ppt_h</p:attrName>
                                        </p:attrNameLst>
                                      </p:cBhvr>
                                      <p:tavLst>
                                        <p:tav tm="0">
                                          <p:val>
                                            <p:strVal val="#ppt_h"/>
                                          </p:val>
                                        </p:tav>
                                        <p:tav tm="100000">
                                          <p:val>
                                            <p:strVal val="#ppt_h"/>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45063"/>
                                        </p:tgtEl>
                                        <p:attrNameLst>
                                          <p:attrName>style.visibility</p:attrName>
                                        </p:attrNameLst>
                                      </p:cBhvr>
                                      <p:to>
                                        <p:strVal val="visible"/>
                                      </p:to>
                                    </p:set>
                                    <p:animEffect transition="in" filter="wipe(left)">
                                      <p:cBhvr>
                                        <p:cTn id="34" dur="500"/>
                                        <p:tgtEl>
                                          <p:spTgt spid="45063"/>
                                        </p:tgtEl>
                                      </p:cBhvr>
                                    </p:animEffect>
                                  </p:childTnLst>
                                </p:cTn>
                              </p:par>
                            </p:childTnLst>
                          </p:cTn>
                        </p:par>
                      </p:childTnLst>
                    </p:cTn>
                  </p:par>
                  <p:par>
                    <p:cTn id="35" fill="hold">
                      <p:stCondLst>
                        <p:cond delay="indefinite"/>
                      </p:stCondLst>
                      <p:childTnLst>
                        <p:par>
                          <p:cTn id="36" fill="hold" nodeType="withGroup">
                            <p:stCondLst>
                              <p:cond delay="0"/>
                            </p:stCondLst>
                            <p:childTnLst>
                              <p:par>
                                <p:cTn id="37" presetID="17" presetClass="entr" presetSubtype="8" fill="hold" grpId="0" nodeType="clickEffect">
                                  <p:stCondLst>
                                    <p:cond delay="0"/>
                                  </p:stCondLst>
                                  <p:childTnLst>
                                    <p:set>
                                      <p:cBhvr>
                                        <p:cTn id="38" dur="1" fill="hold">
                                          <p:stCondLst>
                                            <p:cond delay="0"/>
                                          </p:stCondLst>
                                        </p:cTn>
                                        <p:tgtEl>
                                          <p:spTgt spid="45069"/>
                                        </p:tgtEl>
                                        <p:attrNameLst>
                                          <p:attrName>style.visibility</p:attrName>
                                        </p:attrNameLst>
                                      </p:cBhvr>
                                      <p:to>
                                        <p:strVal val="visible"/>
                                      </p:to>
                                    </p:set>
                                    <p:anim calcmode="lin" valueType="num">
                                      <p:cBhvr>
                                        <p:cTn id="39" dur="500" fill="hold"/>
                                        <p:tgtEl>
                                          <p:spTgt spid="45069"/>
                                        </p:tgtEl>
                                        <p:attrNameLst>
                                          <p:attrName>ppt_x</p:attrName>
                                        </p:attrNameLst>
                                      </p:cBhvr>
                                      <p:tavLst>
                                        <p:tav tm="0">
                                          <p:val>
                                            <p:strVal val="#ppt_x-#ppt_w/2"/>
                                          </p:val>
                                        </p:tav>
                                        <p:tav tm="100000">
                                          <p:val>
                                            <p:strVal val="#ppt_x"/>
                                          </p:val>
                                        </p:tav>
                                      </p:tavLst>
                                    </p:anim>
                                    <p:anim calcmode="lin" valueType="num">
                                      <p:cBhvr>
                                        <p:cTn id="40" dur="500" fill="hold"/>
                                        <p:tgtEl>
                                          <p:spTgt spid="45069"/>
                                        </p:tgtEl>
                                        <p:attrNameLst>
                                          <p:attrName>ppt_y</p:attrName>
                                        </p:attrNameLst>
                                      </p:cBhvr>
                                      <p:tavLst>
                                        <p:tav tm="0">
                                          <p:val>
                                            <p:strVal val="#ppt_y"/>
                                          </p:val>
                                        </p:tav>
                                        <p:tav tm="100000">
                                          <p:val>
                                            <p:strVal val="#ppt_y"/>
                                          </p:val>
                                        </p:tav>
                                      </p:tavLst>
                                    </p:anim>
                                    <p:anim calcmode="lin" valueType="num">
                                      <p:cBhvr>
                                        <p:cTn id="41" dur="500" fill="hold"/>
                                        <p:tgtEl>
                                          <p:spTgt spid="45069"/>
                                        </p:tgtEl>
                                        <p:attrNameLst>
                                          <p:attrName>ppt_w</p:attrName>
                                        </p:attrNameLst>
                                      </p:cBhvr>
                                      <p:tavLst>
                                        <p:tav tm="0">
                                          <p:val>
                                            <p:fltVal val="0"/>
                                          </p:val>
                                        </p:tav>
                                        <p:tav tm="100000">
                                          <p:val>
                                            <p:strVal val="#ppt_w"/>
                                          </p:val>
                                        </p:tav>
                                      </p:tavLst>
                                    </p:anim>
                                    <p:anim calcmode="lin" valueType="num">
                                      <p:cBhvr>
                                        <p:cTn id="42" dur="500" fill="hold"/>
                                        <p:tgtEl>
                                          <p:spTgt spid="45069"/>
                                        </p:tgtEl>
                                        <p:attrNameLst>
                                          <p:attrName>ppt_h</p:attrName>
                                        </p:attrNameLst>
                                      </p:cBhvr>
                                      <p:tavLst>
                                        <p:tav tm="0">
                                          <p:val>
                                            <p:strVal val="#ppt_h"/>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5" presetID="17" presetClass="entr" presetSubtype="8" fill="hold" grpId="0" nodeType="clickEffect">
                                  <p:stCondLst>
                                    <p:cond delay="0"/>
                                  </p:stCondLst>
                                  <p:childTnLst>
                                    <p:set>
                                      <p:cBhvr>
                                        <p:cTn id="46" dur="1" fill="hold">
                                          <p:stCondLst>
                                            <p:cond delay="0"/>
                                          </p:stCondLst>
                                        </p:cTn>
                                        <p:tgtEl>
                                          <p:spTgt spid="45064"/>
                                        </p:tgtEl>
                                        <p:attrNameLst>
                                          <p:attrName>style.visibility</p:attrName>
                                        </p:attrNameLst>
                                      </p:cBhvr>
                                      <p:to>
                                        <p:strVal val="visible"/>
                                      </p:to>
                                    </p:set>
                                    <p:anim calcmode="lin" valueType="num">
                                      <p:cBhvr>
                                        <p:cTn id="47" dur="500" fill="hold"/>
                                        <p:tgtEl>
                                          <p:spTgt spid="45064"/>
                                        </p:tgtEl>
                                        <p:attrNameLst>
                                          <p:attrName>ppt_x</p:attrName>
                                        </p:attrNameLst>
                                      </p:cBhvr>
                                      <p:tavLst>
                                        <p:tav tm="0">
                                          <p:val>
                                            <p:strVal val="#ppt_x-#ppt_w/2"/>
                                          </p:val>
                                        </p:tav>
                                        <p:tav tm="100000">
                                          <p:val>
                                            <p:strVal val="#ppt_x"/>
                                          </p:val>
                                        </p:tav>
                                      </p:tavLst>
                                    </p:anim>
                                    <p:anim calcmode="lin" valueType="num">
                                      <p:cBhvr>
                                        <p:cTn id="48" dur="500" fill="hold"/>
                                        <p:tgtEl>
                                          <p:spTgt spid="45064"/>
                                        </p:tgtEl>
                                        <p:attrNameLst>
                                          <p:attrName>ppt_y</p:attrName>
                                        </p:attrNameLst>
                                      </p:cBhvr>
                                      <p:tavLst>
                                        <p:tav tm="0">
                                          <p:val>
                                            <p:strVal val="#ppt_y"/>
                                          </p:val>
                                        </p:tav>
                                        <p:tav tm="100000">
                                          <p:val>
                                            <p:strVal val="#ppt_y"/>
                                          </p:val>
                                        </p:tav>
                                      </p:tavLst>
                                    </p:anim>
                                    <p:anim calcmode="lin" valueType="num">
                                      <p:cBhvr>
                                        <p:cTn id="49" dur="500" fill="hold"/>
                                        <p:tgtEl>
                                          <p:spTgt spid="45064"/>
                                        </p:tgtEl>
                                        <p:attrNameLst>
                                          <p:attrName>ppt_w</p:attrName>
                                        </p:attrNameLst>
                                      </p:cBhvr>
                                      <p:tavLst>
                                        <p:tav tm="0">
                                          <p:val>
                                            <p:fltVal val="0"/>
                                          </p:val>
                                        </p:tav>
                                        <p:tav tm="100000">
                                          <p:val>
                                            <p:strVal val="#ppt_w"/>
                                          </p:val>
                                        </p:tav>
                                      </p:tavLst>
                                    </p:anim>
                                    <p:anim calcmode="lin" valueType="num">
                                      <p:cBhvr>
                                        <p:cTn id="50" dur="500" fill="hold"/>
                                        <p:tgtEl>
                                          <p:spTgt spid="45064"/>
                                        </p:tgtEl>
                                        <p:attrNameLst>
                                          <p:attrName>ppt_h</p:attrName>
                                        </p:attrNameLst>
                                      </p:cBhvr>
                                      <p:tavLst>
                                        <p:tav tm="0">
                                          <p:val>
                                            <p:strVal val="#ppt_h"/>
                                          </p:val>
                                        </p:tav>
                                        <p:tav tm="100000">
                                          <p:val>
                                            <p:strVal val="#ppt_h"/>
                                          </p:val>
                                        </p:tav>
                                      </p:tavLst>
                                    </p:anim>
                                  </p:childTnLst>
                                </p:cTn>
                              </p:par>
                            </p:childTnLst>
                          </p:cTn>
                        </p:par>
                        <p:par>
                          <p:cTn id="51" fill="hold" nodeType="afterGroup">
                            <p:stCondLst>
                              <p:cond delay="500"/>
                            </p:stCondLst>
                            <p:childTnLst>
                              <p:par>
                                <p:cTn id="52" presetID="17" presetClass="entr" presetSubtype="8" fill="hold" grpId="0" nodeType="afterEffect">
                                  <p:stCondLst>
                                    <p:cond delay="0"/>
                                  </p:stCondLst>
                                  <p:childTnLst>
                                    <p:set>
                                      <p:cBhvr>
                                        <p:cTn id="53" dur="1" fill="hold">
                                          <p:stCondLst>
                                            <p:cond delay="0"/>
                                          </p:stCondLst>
                                        </p:cTn>
                                        <p:tgtEl>
                                          <p:spTgt spid="45067"/>
                                        </p:tgtEl>
                                        <p:attrNameLst>
                                          <p:attrName>style.visibility</p:attrName>
                                        </p:attrNameLst>
                                      </p:cBhvr>
                                      <p:to>
                                        <p:strVal val="visible"/>
                                      </p:to>
                                    </p:set>
                                    <p:anim calcmode="lin" valueType="num">
                                      <p:cBhvr>
                                        <p:cTn id="54" dur="500" fill="hold"/>
                                        <p:tgtEl>
                                          <p:spTgt spid="45067"/>
                                        </p:tgtEl>
                                        <p:attrNameLst>
                                          <p:attrName>ppt_x</p:attrName>
                                        </p:attrNameLst>
                                      </p:cBhvr>
                                      <p:tavLst>
                                        <p:tav tm="0">
                                          <p:val>
                                            <p:strVal val="#ppt_x-#ppt_w/2"/>
                                          </p:val>
                                        </p:tav>
                                        <p:tav tm="100000">
                                          <p:val>
                                            <p:strVal val="#ppt_x"/>
                                          </p:val>
                                        </p:tav>
                                      </p:tavLst>
                                    </p:anim>
                                    <p:anim calcmode="lin" valueType="num">
                                      <p:cBhvr>
                                        <p:cTn id="55" dur="500" fill="hold"/>
                                        <p:tgtEl>
                                          <p:spTgt spid="45067"/>
                                        </p:tgtEl>
                                        <p:attrNameLst>
                                          <p:attrName>ppt_y</p:attrName>
                                        </p:attrNameLst>
                                      </p:cBhvr>
                                      <p:tavLst>
                                        <p:tav tm="0">
                                          <p:val>
                                            <p:strVal val="#ppt_y"/>
                                          </p:val>
                                        </p:tav>
                                        <p:tav tm="100000">
                                          <p:val>
                                            <p:strVal val="#ppt_y"/>
                                          </p:val>
                                        </p:tav>
                                      </p:tavLst>
                                    </p:anim>
                                    <p:anim calcmode="lin" valueType="num">
                                      <p:cBhvr>
                                        <p:cTn id="56" dur="500" fill="hold"/>
                                        <p:tgtEl>
                                          <p:spTgt spid="45067"/>
                                        </p:tgtEl>
                                        <p:attrNameLst>
                                          <p:attrName>ppt_w</p:attrName>
                                        </p:attrNameLst>
                                      </p:cBhvr>
                                      <p:tavLst>
                                        <p:tav tm="0">
                                          <p:val>
                                            <p:fltVal val="0"/>
                                          </p:val>
                                        </p:tav>
                                        <p:tav tm="100000">
                                          <p:val>
                                            <p:strVal val="#ppt_w"/>
                                          </p:val>
                                        </p:tav>
                                      </p:tavLst>
                                    </p:anim>
                                    <p:anim calcmode="lin" valueType="num">
                                      <p:cBhvr>
                                        <p:cTn id="57" dur="500" fill="hold"/>
                                        <p:tgtEl>
                                          <p:spTgt spid="45067"/>
                                        </p:tgtEl>
                                        <p:attrNameLst>
                                          <p:attrName>ppt_h</p:attrName>
                                        </p:attrNameLst>
                                      </p:cBhvr>
                                      <p:tavLst>
                                        <p:tav tm="0">
                                          <p:val>
                                            <p:strVal val="#ppt_h"/>
                                          </p:val>
                                        </p:tav>
                                        <p:tav tm="100000">
                                          <p:val>
                                            <p:strVal val="#ppt_h"/>
                                          </p:val>
                                        </p:tav>
                                      </p:tavLst>
                                    </p:anim>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nodeType="clickEffect">
                                  <p:stCondLst>
                                    <p:cond delay="0"/>
                                  </p:stCondLst>
                                  <p:childTnLst>
                                    <p:set>
                                      <p:cBhvr>
                                        <p:cTn id="61"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62" grpId="0" autoUpdateAnimBg="0"/>
      <p:bldP spid="45063" grpId="0" autoUpdateAnimBg="0"/>
      <p:bldP spid="45064" grpId="0" animBg="1" autoUpdateAnimBg="0"/>
      <p:bldP spid="45065" grpId="0" animBg="1" autoUpdateAnimBg="0"/>
      <p:bldP spid="45066" grpId="0" animBg="1" autoUpdateAnimBg="0"/>
      <p:bldP spid="45067" grpId="0" animBg="1" autoUpdateAnimBg="0"/>
      <p:bldP spid="45068" grpId="0" animBg="1" autoUpdateAnimBg="0"/>
      <p:bldP spid="45069" grpId="0" animBg="1"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4" name="Text Box 4">
            <a:extLst>
              <a:ext uri="{FF2B5EF4-FFF2-40B4-BE49-F238E27FC236}">
                <a16:creationId xmlns:a16="http://schemas.microsoft.com/office/drawing/2014/main" id="{0C559EB6-38B2-4772-BA17-E042EA839CE0}"/>
              </a:ext>
            </a:extLst>
          </p:cNvPr>
          <p:cNvSpPr txBox="1">
            <a:spLocks noChangeArrowheads="1"/>
          </p:cNvSpPr>
          <p:nvPr/>
        </p:nvSpPr>
        <p:spPr bwMode="auto">
          <a:xfrm>
            <a:off x="539552" y="1201365"/>
            <a:ext cx="72648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1" i="0" dirty="0">
                <a:solidFill>
                  <a:srgbClr val="FF0000"/>
                </a:solidFill>
                <a:latin typeface="黑体" panose="02010609060101010101" pitchFamily="49" charset="-122"/>
                <a:ea typeface="黑体" panose="02010609060101010101" pitchFamily="49" charset="-122"/>
              </a:rPr>
              <a:t>例</a:t>
            </a:r>
            <a:r>
              <a:rPr lang="en-US" altLang="zh-CN" sz="2800" b="1" i="0" dirty="0">
                <a:solidFill>
                  <a:srgbClr val="FF0000"/>
                </a:solidFill>
                <a:latin typeface="黑体" panose="02010609060101010101" pitchFamily="49" charset="-122"/>
                <a:ea typeface="黑体" panose="02010609060101010101" pitchFamily="49" charset="-122"/>
              </a:rPr>
              <a:t>:</a:t>
            </a:r>
            <a:endParaRPr lang="en-US" altLang="zh-CN" sz="2800" i="0" dirty="0">
              <a:solidFill>
                <a:srgbClr val="FF0000"/>
              </a:solidFill>
              <a:latin typeface="黑体" panose="02010609060101010101" pitchFamily="49" charset="-122"/>
              <a:ea typeface="黑体" panose="02010609060101010101" pitchFamily="49" charset="-122"/>
            </a:endParaRPr>
          </a:p>
        </p:txBody>
      </p:sp>
      <p:sp>
        <p:nvSpPr>
          <p:cNvPr id="46101" name="Text Box 21">
            <a:extLst>
              <a:ext uri="{FF2B5EF4-FFF2-40B4-BE49-F238E27FC236}">
                <a16:creationId xmlns:a16="http://schemas.microsoft.com/office/drawing/2014/main" id="{152C7AA3-360F-4F05-9F69-630F226CC630}"/>
              </a:ext>
            </a:extLst>
          </p:cNvPr>
          <p:cNvSpPr txBox="1">
            <a:spLocks noChangeArrowheads="1"/>
          </p:cNvSpPr>
          <p:nvPr/>
        </p:nvSpPr>
        <p:spPr bwMode="auto">
          <a:xfrm>
            <a:off x="4352727" y="2921078"/>
            <a:ext cx="1371600" cy="584775"/>
          </a:xfrm>
          <a:prstGeom prst="rect">
            <a:avLst/>
          </a:prstGeom>
          <a:solidFill>
            <a:srgbClr val="CCFFFF">
              <a:alpha val="50195"/>
            </a:srgbClr>
          </a:solidFill>
          <a:ln w="25400" cap="sq">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b="1" i="0">
                <a:solidFill>
                  <a:srgbClr val="006666"/>
                </a:solidFill>
                <a:latin typeface="Times New Roman" panose="02020603050405020304" pitchFamily="18" charset="0"/>
              </a:rPr>
              <a:t>a</a:t>
            </a:r>
            <a:endParaRPr lang="en-US" altLang="zh-CN" i="0">
              <a:latin typeface="Times New Roman" panose="02020603050405020304" pitchFamily="18" charset="0"/>
            </a:endParaRPr>
          </a:p>
        </p:txBody>
      </p:sp>
      <p:sp>
        <p:nvSpPr>
          <p:cNvPr id="46102" name="Line 22">
            <a:extLst>
              <a:ext uri="{FF2B5EF4-FFF2-40B4-BE49-F238E27FC236}">
                <a16:creationId xmlns:a16="http://schemas.microsoft.com/office/drawing/2014/main" id="{CF980522-E3F1-4DD6-BBC1-0B2C9A66BE84}"/>
              </a:ext>
            </a:extLst>
          </p:cNvPr>
          <p:cNvSpPr>
            <a:spLocks noChangeShapeType="1"/>
          </p:cNvSpPr>
          <p:nvPr/>
        </p:nvSpPr>
        <p:spPr bwMode="auto">
          <a:xfrm flipH="1">
            <a:off x="4733727" y="2921078"/>
            <a:ext cx="0" cy="558225"/>
          </a:xfrm>
          <a:prstGeom prst="line">
            <a:avLst/>
          </a:prstGeom>
          <a:noFill/>
          <a:ln w="12700"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i="0"/>
          </a:p>
        </p:txBody>
      </p:sp>
      <p:sp>
        <p:nvSpPr>
          <p:cNvPr id="46103" name="Line 23">
            <a:extLst>
              <a:ext uri="{FF2B5EF4-FFF2-40B4-BE49-F238E27FC236}">
                <a16:creationId xmlns:a16="http://schemas.microsoft.com/office/drawing/2014/main" id="{6E1082B7-6CF0-4EFD-81C2-18C07B0F42E0}"/>
              </a:ext>
            </a:extLst>
          </p:cNvPr>
          <p:cNvSpPr>
            <a:spLocks noChangeShapeType="1"/>
          </p:cNvSpPr>
          <p:nvPr/>
        </p:nvSpPr>
        <p:spPr bwMode="auto">
          <a:xfrm flipH="1">
            <a:off x="5325985" y="2921078"/>
            <a:ext cx="17342" cy="584775"/>
          </a:xfrm>
          <a:prstGeom prst="line">
            <a:avLst/>
          </a:prstGeom>
          <a:noFill/>
          <a:ln w="12700"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i="0"/>
          </a:p>
        </p:txBody>
      </p:sp>
      <p:sp>
        <p:nvSpPr>
          <p:cNvPr id="46104" name="Line 24">
            <a:extLst>
              <a:ext uri="{FF2B5EF4-FFF2-40B4-BE49-F238E27FC236}">
                <a16:creationId xmlns:a16="http://schemas.microsoft.com/office/drawing/2014/main" id="{2CE138B1-D348-4218-B6FA-948CB208ACBA}"/>
              </a:ext>
            </a:extLst>
          </p:cNvPr>
          <p:cNvSpPr>
            <a:spLocks noChangeShapeType="1"/>
          </p:cNvSpPr>
          <p:nvPr/>
        </p:nvSpPr>
        <p:spPr bwMode="auto">
          <a:xfrm>
            <a:off x="4606727" y="2564904"/>
            <a:ext cx="431800" cy="356174"/>
          </a:xfrm>
          <a:prstGeom prst="line">
            <a:avLst/>
          </a:prstGeom>
          <a:noFill/>
          <a:ln w="31750" cap="sq">
            <a:solidFill>
              <a:srgbClr val="0033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i="0"/>
          </a:p>
        </p:txBody>
      </p:sp>
      <p:sp>
        <p:nvSpPr>
          <p:cNvPr id="46105" name="Text Box 25">
            <a:extLst>
              <a:ext uri="{FF2B5EF4-FFF2-40B4-BE49-F238E27FC236}">
                <a16:creationId xmlns:a16="http://schemas.microsoft.com/office/drawing/2014/main" id="{8653A572-808D-492F-8926-D281FF673069}"/>
              </a:ext>
            </a:extLst>
          </p:cNvPr>
          <p:cNvSpPr txBox="1">
            <a:spLocks noChangeArrowheads="1"/>
          </p:cNvSpPr>
          <p:nvPr/>
        </p:nvSpPr>
        <p:spPr bwMode="auto">
          <a:xfrm>
            <a:off x="2600127" y="3911678"/>
            <a:ext cx="1371600" cy="584775"/>
          </a:xfrm>
          <a:prstGeom prst="rect">
            <a:avLst/>
          </a:prstGeom>
          <a:solidFill>
            <a:srgbClr val="CCFFFF">
              <a:alpha val="50195"/>
            </a:srgbClr>
          </a:solidFill>
          <a:ln w="25400" cap="sq">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b="1" i="0">
                <a:solidFill>
                  <a:srgbClr val="006666"/>
                </a:solidFill>
                <a:latin typeface="Times New Roman" panose="02020603050405020304" pitchFamily="18" charset="0"/>
              </a:rPr>
              <a:t>b</a:t>
            </a:r>
            <a:endParaRPr lang="en-US" altLang="zh-CN" i="0">
              <a:latin typeface="Times New Roman" panose="02020603050405020304" pitchFamily="18" charset="0"/>
            </a:endParaRPr>
          </a:p>
        </p:txBody>
      </p:sp>
      <p:sp>
        <p:nvSpPr>
          <p:cNvPr id="46106" name="Line 26">
            <a:extLst>
              <a:ext uri="{FF2B5EF4-FFF2-40B4-BE49-F238E27FC236}">
                <a16:creationId xmlns:a16="http://schemas.microsoft.com/office/drawing/2014/main" id="{39EE7A3A-C8C8-46F3-AE62-CB118B53EDEF}"/>
              </a:ext>
            </a:extLst>
          </p:cNvPr>
          <p:cNvSpPr>
            <a:spLocks noChangeShapeType="1"/>
          </p:cNvSpPr>
          <p:nvPr/>
        </p:nvSpPr>
        <p:spPr bwMode="auto">
          <a:xfrm flipH="1">
            <a:off x="2981125" y="3911678"/>
            <a:ext cx="1" cy="584775"/>
          </a:xfrm>
          <a:prstGeom prst="line">
            <a:avLst/>
          </a:prstGeom>
          <a:noFill/>
          <a:ln w="12700"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i="0"/>
          </a:p>
        </p:txBody>
      </p:sp>
      <p:sp>
        <p:nvSpPr>
          <p:cNvPr id="46107" name="Line 27">
            <a:extLst>
              <a:ext uri="{FF2B5EF4-FFF2-40B4-BE49-F238E27FC236}">
                <a16:creationId xmlns:a16="http://schemas.microsoft.com/office/drawing/2014/main" id="{51FFBDDB-6687-4590-8BC6-CF8E6D937CB0}"/>
              </a:ext>
            </a:extLst>
          </p:cNvPr>
          <p:cNvSpPr>
            <a:spLocks noChangeShapeType="1"/>
          </p:cNvSpPr>
          <p:nvPr/>
        </p:nvSpPr>
        <p:spPr bwMode="auto">
          <a:xfrm flipH="1">
            <a:off x="3590726" y="3911678"/>
            <a:ext cx="1" cy="609600"/>
          </a:xfrm>
          <a:prstGeom prst="line">
            <a:avLst/>
          </a:prstGeom>
          <a:noFill/>
          <a:ln w="12700"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i="0"/>
          </a:p>
        </p:txBody>
      </p:sp>
      <p:sp>
        <p:nvSpPr>
          <p:cNvPr id="46108" name="Line 28">
            <a:extLst>
              <a:ext uri="{FF2B5EF4-FFF2-40B4-BE49-F238E27FC236}">
                <a16:creationId xmlns:a16="http://schemas.microsoft.com/office/drawing/2014/main" id="{37F2D178-152F-4030-935D-131BA05E85D1}"/>
              </a:ext>
            </a:extLst>
          </p:cNvPr>
          <p:cNvSpPr>
            <a:spLocks noChangeShapeType="1"/>
          </p:cNvSpPr>
          <p:nvPr/>
        </p:nvSpPr>
        <p:spPr bwMode="auto">
          <a:xfrm flipH="1">
            <a:off x="3285927" y="3302078"/>
            <a:ext cx="1295400" cy="609600"/>
          </a:xfrm>
          <a:prstGeom prst="line">
            <a:avLst/>
          </a:prstGeom>
          <a:noFill/>
          <a:ln w="31750" cap="sq">
            <a:solidFill>
              <a:srgbClr val="00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i="0"/>
          </a:p>
        </p:txBody>
      </p:sp>
      <p:sp>
        <p:nvSpPr>
          <p:cNvPr id="66621" name="Text Box 61">
            <a:extLst>
              <a:ext uri="{FF2B5EF4-FFF2-40B4-BE49-F238E27FC236}">
                <a16:creationId xmlns:a16="http://schemas.microsoft.com/office/drawing/2014/main" id="{ABC7DCA6-3C0A-4FCB-8D70-FDE5E9D4D92E}"/>
              </a:ext>
            </a:extLst>
          </p:cNvPr>
          <p:cNvSpPr txBox="1">
            <a:spLocks noChangeArrowheads="1"/>
          </p:cNvSpPr>
          <p:nvPr/>
        </p:nvSpPr>
        <p:spPr bwMode="auto">
          <a:xfrm>
            <a:off x="6584752" y="1217240"/>
            <a:ext cx="2035175" cy="10070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10000"/>
              </a:lnSpc>
              <a:spcBef>
                <a:spcPts val="0"/>
              </a:spcBef>
              <a:buClrTx/>
              <a:buSzTx/>
              <a:buFont typeface="Arial" panose="020B0604020202020204" pitchFamily="34" charset="0"/>
              <a:buNone/>
            </a:pPr>
            <a:r>
              <a:rPr lang="zh-CN" altLang="en-US" sz="2800" i="0" dirty="0">
                <a:solidFill>
                  <a:srgbClr val="FF3300"/>
                </a:solidFill>
                <a:latin typeface="Times New Roman" panose="02020603050405020304" pitchFamily="18" charset="0"/>
                <a:ea typeface="楷体_GB2312" pitchFamily="1" charset="-122"/>
              </a:rPr>
              <a:t>先序序列</a:t>
            </a:r>
            <a:endParaRPr lang="en-US" altLang="zh-CN" sz="2800" i="0" dirty="0">
              <a:solidFill>
                <a:srgbClr val="FF3300"/>
              </a:solidFill>
              <a:latin typeface="Times New Roman" panose="02020603050405020304" pitchFamily="18" charset="0"/>
              <a:ea typeface="楷体_GB2312" pitchFamily="1" charset="-122"/>
            </a:endParaRPr>
          </a:p>
          <a:p>
            <a:pPr eaLnBrk="1" hangingPunct="1">
              <a:lnSpc>
                <a:spcPct val="110000"/>
              </a:lnSpc>
              <a:spcBef>
                <a:spcPts val="0"/>
              </a:spcBef>
              <a:buClrTx/>
              <a:buSzTx/>
              <a:buFont typeface="Arial" panose="020B0604020202020204" pitchFamily="34" charset="0"/>
              <a:buNone/>
            </a:pPr>
            <a:r>
              <a:rPr lang="zh-CN" altLang="en-US" sz="2800" i="0" dirty="0">
                <a:solidFill>
                  <a:srgbClr val="800000"/>
                </a:solidFill>
                <a:latin typeface="Times New Roman" panose="02020603050405020304" pitchFamily="18" charset="0"/>
                <a:ea typeface="楷体_GB2312" pitchFamily="1" charset="-122"/>
              </a:rPr>
              <a:t>中序序列</a:t>
            </a:r>
            <a:endParaRPr lang="zh-CN" altLang="en-US" sz="2800" i="0" dirty="0">
              <a:latin typeface="Times New Roman" panose="02020603050405020304" pitchFamily="18" charset="0"/>
            </a:endParaRPr>
          </a:p>
        </p:txBody>
      </p:sp>
      <p:sp>
        <p:nvSpPr>
          <p:cNvPr id="2" name="文本框 1">
            <a:extLst>
              <a:ext uri="{FF2B5EF4-FFF2-40B4-BE49-F238E27FC236}">
                <a16:creationId xmlns:a16="http://schemas.microsoft.com/office/drawing/2014/main" id="{CC5032BE-C01C-4ECF-84B9-D192B9950E1E}"/>
              </a:ext>
            </a:extLst>
          </p:cNvPr>
          <p:cNvSpPr txBox="1"/>
          <p:nvPr/>
        </p:nvSpPr>
        <p:spPr>
          <a:xfrm>
            <a:off x="1475656" y="1188042"/>
            <a:ext cx="485491" cy="584775"/>
          </a:xfrm>
          <a:prstGeom prst="rect">
            <a:avLst/>
          </a:prstGeom>
          <a:noFill/>
        </p:spPr>
        <p:txBody>
          <a:bodyPr wrap="square" rtlCol="0">
            <a:spAutoFit/>
          </a:bodyPr>
          <a:lstStyle/>
          <a:p>
            <a:r>
              <a:rPr lang="en-US" altLang="zh-CN" sz="3200" dirty="0"/>
              <a:t>a</a:t>
            </a:r>
            <a:endParaRPr lang="zh-CN" altLang="en-US" sz="3200" dirty="0"/>
          </a:p>
        </p:txBody>
      </p:sp>
      <p:sp>
        <p:nvSpPr>
          <p:cNvPr id="3" name="文本框 2">
            <a:extLst>
              <a:ext uri="{FF2B5EF4-FFF2-40B4-BE49-F238E27FC236}">
                <a16:creationId xmlns:a16="http://schemas.microsoft.com/office/drawing/2014/main" id="{DB29FE6D-C0E5-4E69-92E2-6FAEC549C40C}"/>
              </a:ext>
            </a:extLst>
          </p:cNvPr>
          <p:cNvSpPr txBox="1"/>
          <p:nvPr/>
        </p:nvSpPr>
        <p:spPr>
          <a:xfrm>
            <a:off x="1961147" y="1188042"/>
            <a:ext cx="334180" cy="584775"/>
          </a:xfrm>
          <a:prstGeom prst="rect">
            <a:avLst/>
          </a:prstGeom>
          <a:noFill/>
        </p:spPr>
        <p:txBody>
          <a:bodyPr wrap="square" rtlCol="0">
            <a:spAutoFit/>
          </a:bodyPr>
          <a:lstStyle/>
          <a:p>
            <a:r>
              <a:rPr lang="en-US" altLang="zh-CN" sz="3200" dirty="0"/>
              <a:t>b</a:t>
            </a:r>
            <a:endParaRPr lang="zh-CN" altLang="en-US" sz="3200" dirty="0"/>
          </a:p>
        </p:txBody>
      </p:sp>
      <p:sp>
        <p:nvSpPr>
          <p:cNvPr id="4" name="文本框 3">
            <a:extLst>
              <a:ext uri="{FF2B5EF4-FFF2-40B4-BE49-F238E27FC236}">
                <a16:creationId xmlns:a16="http://schemas.microsoft.com/office/drawing/2014/main" id="{C5DF4925-EC42-447F-B3EB-A052D0E33689}"/>
              </a:ext>
            </a:extLst>
          </p:cNvPr>
          <p:cNvSpPr txBox="1"/>
          <p:nvPr/>
        </p:nvSpPr>
        <p:spPr>
          <a:xfrm>
            <a:off x="2411760" y="1196752"/>
            <a:ext cx="485491" cy="584775"/>
          </a:xfrm>
          <a:prstGeom prst="rect">
            <a:avLst/>
          </a:prstGeom>
          <a:noFill/>
        </p:spPr>
        <p:txBody>
          <a:bodyPr wrap="square" rtlCol="0">
            <a:spAutoFit/>
          </a:bodyPr>
          <a:lstStyle/>
          <a:p>
            <a:r>
              <a:rPr lang="en-US" altLang="zh-CN" sz="3200" dirty="0"/>
              <a:t>c</a:t>
            </a:r>
            <a:endParaRPr lang="zh-CN" altLang="en-US" sz="3200" dirty="0"/>
          </a:p>
        </p:txBody>
      </p:sp>
      <p:sp>
        <p:nvSpPr>
          <p:cNvPr id="5" name="文本框 4">
            <a:extLst>
              <a:ext uri="{FF2B5EF4-FFF2-40B4-BE49-F238E27FC236}">
                <a16:creationId xmlns:a16="http://schemas.microsoft.com/office/drawing/2014/main" id="{C0828F6C-F1B7-4016-81E0-5FC77C6574D0}"/>
              </a:ext>
            </a:extLst>
          </p:cNvPr>
          <p:cNvSpPr txBox="1"/>
          <p:nvPr/>
        </p:nvSpPr>
        <p:spPr>
          <a:xfrm>
            <a:off x="3059832" y="1196752"/>
            <a:ext cx="485491" cy="584775"/>
          </a:xfrm>
          <a:prstGeom prst="rect">
            <a:avLst/>
          </a:prstGeom>
          <a:noFill/>
        </p:spPr>
        <p:txBody>
          <a:bodyPr wrap="square" rtlCol="0">
            <a:spAutoFit/>
          </a:bodyPr>
          <a:lstStyle/>
          <a:p>
            <a:r>
              <a:rPr lang="en-US" altLang="zh-CN" sz="3200" dirty="0"/>
              <a:t>d</a:t>
            </a:r>
            <a:endParaRPr lang="zh-CN" altLang="en-US" sz="3200" dirty="0"/>
          </a:p>
        </p:txBody>
      </p:sp>
      <p:sp>
        <p:nvSpPr>
          <p:cNvPr id="6" name="文本框 5">
            <a:extLst>
              <a:ext uri="{FF2B5EF4-FFF2-40B4-BE49-F238E27FC236}">
                <a16:creationId xmlns:a16="http://schemas.microsoft.com/office/drawing/2014/main" id="{4A430B93-0C16-4D10-8A80-CC1E9877C0C9}"/>
              </a:ext>
            </a:extLst>
          </p:cNvPr>
          <p:cNvSpPr txBox="1"/>
          <p:nvPr/>
        </p:nvSpPr>
        <p:spPr>
          <a:xfrm>
            <a:off x="3779912" y="1196752"/>
            <a:ext cx="485491" cy="584775"/>
          </a:xfrm>
          <a:prstGeom prst="rect">
            <a:avLst/>
          </a:prstGeom>
          <a:noFill/>
        </p:spPr>
        <p:txBody>
          <a:bodyPr wrap="square" rtlCol="0">
            <a:spAutoFit/>
          </a:bodyPr>
          <a:lstStyle/>
          <a:p>
            <a:r>
              <a:rPr lang="en-US" altLang="zh-CN" sz="3200" dirty="0"/>
              <a:t>e</a:t>
            </a:r>
            <a:endParaRPr lang="zh-CN" altLang="en-US" sz="3200" dirty="0"/>
          </a:p>
        </p:txBody>
      </p:sp>
      <p:sp>
        <p:nvSpPr>
          <p:cNvPr id="7" name="文本框 6">
            <a:extLst>
              <a:ext uri="{FF2B5EF4-FFF2-40B4-BE49-F238E27FC236}">
                <a16:creationId xmlns:a16="http://schemas.microsoft.com/office/drawing/2014/main" id="{0B277E6F-D1BE-4F33-85FC-0A7C6430FBF8}"/>
              </a:ext>
            </a:extLst>
          </p:cNvPr>
          <p:cNvSpPr txBox="1"/>
          <p:nvPr/>
        </p:nvSpPr>
        <p:spPr>
          <a:xfrm>
            <a:off x="5105077" y="1196751"/>
            <a:ext cx="485491" cy="584775"/>
          </a:xfrm>
          <a:prstGeom prst="rect">
            <a:avLst/>
          </a:prstGeom>
          <a:noFill/>
        </p:spPr>
        <p:txBody>
          <a:bodyPr wrap="square" rtlCol="0">
            <a:spAutoFit/>
          </a:bodyPr>
          <a:lstStyle/>
          <a:p>
            <a:r>
              <a:rPr lang="en-US" altLang="zh-CN" sz="3200" dirty="0"/>
              <a:t>g</a:t>
            </a:r>
            <a:endParaRPr lang="zh-CN" altLang="en-US" sz="3200" dirty="0"/>
          </a:p>
        </p:txBody>
      </p:sp>
      <p:sp>
        <p:nvSpPr>
          <p:cNvPr id="8" name="文本框 7">
            <a:extLst>
              <a:ext uri="{FF2B5EF4-FFF2-40B4-BE49-F238E27FC236}">
                <a16:creationId xmlns:a16="http://schemas.microsoft.com/office/drawing/2014/main" id="{7AA4CF9B-AE4A-4B1C-9D4C-7A375DB1E1CB}"/>
              </a:ext>
            </a:extLst>
          </p:cNvPr>
          <p:cNvSpPr txBox="1"/>
          <p:nvPr/>
        </p:nvSpPr>
        <p:spPr>
          <a:xfrm>
            <a:off x="4395536" y="1205716"/>
            <a:ext cx="485491" cy="584775"/>
          </a:xfrm>
          <a:prstGeom prst="rect">
            <a:avLst/>
          </a:prstGeom>
          <a:noFill/>
        </p:spPr>
        <p:txBody>
          <a:bodyPr wrap="square" rtlCol="0">
            <a:spAutoFit/>
          </a:bodyPr>
          <a:lstStyle/>
          <a:p>
            <a:r>
              <a:rPr lang="en-US" altLang="zh-CN" sz="3200" dirty="0"/>
              <a:t>f</a:t>
            </a:r>
            <a:endParaRPr lang="zh-CN" altLang="en-US" sz="3200" dirty="0"/>
          </a:p>
        </p:txBody>
      </p:sp>
      <p:sp>
        <p:nvSpPr>
          <p:cNvPr id="9" name="文本框 8">
            <a:extLst>
              <a:ext uri="{FF2B5EF4-FFF2-40B4-BE49-F238E27FC236}">
                <a16:creationId xmlns:a16="http://schemas.microsoft.com/office/drawing/2014/main" id="{BCF8657D-29E3-45F0-8144-752061311D15}"/>
              </a:ext>
            </a:extLst>
          </p:cNvPr>
          <p:cNvSpPr txBox="1"/>
          <p:nvPr/>
        </p:nvSpPr>
        <p:spPr>
          <a:xfrm>
            <a:off x="1403648" y="1674423"/>
            <a:ext cx="485491" cy="584775"/>
          </a:xfrm>
          <a:prstGeom prst="rect">
            <a:avLst/>
          </a:prstGeom>
          <a:noFill/>
        </p:spPr>
        <p:txBody>
          <a:bodyPr wrap="square" rtlCol="0">
            <a:spAutoFit/>
          </a:bodyPr>
          <a:lstStyle/>
          <a:p>
            <a:r>
              <a:rPr lang="en-US" altLang="zh-CN" sz="3200" dirty="0"/>
              <a:t>c</a:t>
            </a:r>
            <a:endParaRPr lang="zh-CN" altLang="en-US" sz="3200" dirty="0"/>
          </a:p>
        </p:txBody>
      </p:sp>
      <p:sp>
        <p:nvSpPr>
          <p:cNvPr id="10" name="文本框 9">
            <a:extLst>
              <a:ext uri="{FF2B5EF4-FFF2-40B4-BE49-F238E27FC236}">
                <a16:creationId xmlns:a16="http://schemas.microsoft.com/office/drawing/2014/main" id="{A4B551A1-62F8-4510-B482-74912686A85F}"/>
              </a:ext>
            </a:extLst>
          </p:cNvPr>
          <p:cNvSpPr txBox="1"/>
          <p:nvPr/>
        </p:nvSpPr>
        <p:spPr>
          <a:xfrm>
            <a:off x="1889139" y="1674423"/>
            <a:ext cx="334180" cy="584775"/>
          </a:xfrm>
          <a:prstGeom prst="rect">
            <a:avLst/>
          </a:prstGeom>
          <a:noFill/>
        </p:spPr>
        <p:txBody>
          <a:bodyPr wrap="square" rtlCol="0">
            <a:spAutoFit/>
          </a:bodyPr>
          <a:lstStyle/>
          <a:p>
            <a:r>
              <a:rPr lang="en-US" altLang="zh-CN" sz="3200" dirty="0"/>
              <a:t>b</a:t>
            </a:r>
            <a:endParaRPr lang="zh-CN" altLang="en-US" sz="3200" dirty="0"/>
          </a:p>
        </p:txBody>
      </p:sp>
      <p:sp>
        <p:nvSpPr>
          <p:cNvPr id="11" name="文本框 10">
            <a:extLst>
              <a:ext uri="{FF2B5EF4-FFF2-40B4-BE49-F238E27FC236}">
                <a16:creationId xmlns:a16="http://schemas.microsoft.com/office/drawing/2014/main" id="{0D436EC1-B209-4724-AD41-F48FEB65C3D8}"/>
              </a:ext>
            </a:extLst>
          </p:cNvPr>
          <p:cNvSpPr txBox="1"/>
          <p:nvPr/>
        </p:nvSpPr>
        <p:spPr>
          <a:xfrm>
            <a:off x="2339752" y="1683133"/>
            <a:ext cx="485491" cy="584775"/>
          </a:xfrm>
          <a:prstGeom prst="rect">
            <a:avLst/>
          </a:prstGeom>
          <a:noFill/>
        </p:spPr>
        <p:txBody>
          <a:bodyPr wrap="square" rtlCol="0">
            <a:spAutoFit/>
          </a:bodyPr>
          <a:lstStyle/>
          <a:p>
            <a:r>
              <a:rPr lang="en-US" altLang="zh-CN" sz="3200" dirty="0"/>
              <a:t>d</a:t>
            </a:r>
            <a:endParaRPr lang="zh-CN" altLang="en-US" sz="3200" dirty="0"/>
          </a:p>
        </p:txBody>
      </p:sp>
      <p:sp>
        <p:nvSpPr>
          <p:cNvPr id="12" name="文本框 11">
            <a:extLst>
              <a:ext uri="{FF2B5EF4-FFF2-40B4-BE49-F238E27FC236}">
                <a16:creationId xmlns:a16="http://schemas.microsoft.com/office/drawing/2014/main" id="{9E37AA87-D569-4F90-A1F4-71D534978EE2}"/>
              </a:ext>
            </a:extLst>
          </p:cNvPr>
          <p:cNvSpPr txBox="1"/>
          <p:nvPr/>
        </p:nvSpPr>
        <p:spPr>
          <a:xfrm>
            <a:off x="2987824" y="1683133"/>
            <a:ext cx="485491" cy="584775"/>
          </a:xfrm>
          <a:prstGeom prst="rect">
            <a:avLst/>
          </a:prstGeom>
          <a:noFill/>
        </p:spPr>
        <p:txBody>
          <a:bodyPr wrap="square" rtlCol="0">
            <a:spAutoFit/>
          </a:bodyPr>
          <a:lstStyle/>
          <a:p>
            <a:r>
              <a:rPr lang="en-US" altLang="zh-CN" sz="3200" dirty="0"/>
              <a:t>a</a:t>
            </a:r>
            <a:endParaRPr lang="zh-CN" altLang="en-US" sz="3200" dirty="0"/>
          </a:p>
        </p:txBody>
      </p:sp>
      <p:sp>
        <p:nvSpPr>
          <p:cNvPr id="13" name="文本框 12">
            <a:extLst>
              <a:ext uri="{FF2B5EF4-FFF2-40B4-BE49-F238E27FC236}">
                <a16:creationId xmlns:a16="http://schemas.microsoft.com/office/drawing/2014/main" id="{530246DA-5E6B-46BA-A2AC-0D2D5BC864BC}"/>
              </a:ext>
            </a:extLst>
          </p:cNvPr>
          <p:cNvSpPr txBox="1"/>
          <p:nvPr/>
        </p:nvSpPr>
        <p:spPr>
          <a:xfrm>
            <a:off x="3707904" y="1683133"/>
            <a:ext cx="485491" cy="584775"/>
          </a:xfrm>
          <a:prstGeom prst="rect">
            <a:avLst/>
          </a:prstGeom>
          <a:noFill/>
        </p:spPr>
        <p:txBody>
          <a:bodyPr wrap="square" rtlCol="0">
            <a:spAutoFit/>
          </a:bodyPr>
          <a:lstStyle/>
          <a:p>
            <a:r>
              <a:rPr lang="en-US" altLang="zh-CN" sz="3200" dirty="0"/>
              <a:t>e</a:t>
            </a:r>
            <a:endParaRPr lang="zh-CN" altLang="en-US" sz="3200" dirty="0"/>
          </a:p>
        </p:txBody>
      </p:sp>
      <p:sp>
        <p:nvSpPr>
          <p:cNvPr id="14" name="文本框 13">
            <a:extLst>
              <a:ext uri="{FF2B5EF4-FFF2-40B4-BE49-F238E27FC236}">
                <a16:creationId xmlns:a16="http://schemas.microsoft.com/office/drawing/2014/main" id="{0D1A6EA3-4D12-45A1-B5DA-766C78D0B850}"/>
              </a:ext>
            </a:extLst>
          </p:cNvPr>
          <p:cNvSpPr txBox="1"/>
          <p:nvPr/>
        </p:nvSpPr>
        <p:spPr>
          <a:xfrm>
            <a:off x="5033069" y="1683132"/>
            <a:ext cx="485491" cy="584775"/>
          </a:xfrm>
          <a:prstGeom prst="rect">
            <a:avLst/>
          </a:prstGeom>
          <a:noFill/>
        </p:spPr>
        <p:txBody>
          <a:bodyPr wrap="square" rtlCol="0">
            <a:spAutoFit/>
          </a:bodyPr>
          <a:lstStyle/>
          <a:p>
            <a:r>
              <a:rPr lang="en-US" altLang="zh-CN" sz="3200" dirty="0"/>
              <a:t>f</a:t>
            </a:r>
            <a:endParaRPr lang="zh-CN" altLang="en-US" sz="3200" dirty="0"/>
          </a:p>
        </p:txBody>
      </p:sp>
      <p:sp>
        <p:nvSpPr>
          <p:cNvPr id="15" name="文本框 14">
            <a:extLst>
              <a:ext uri="{FF2B5EF4-FFF2-40B4-BE49-F238E27FC236}">
                <a16:creationId xmlns:a16="http://schemas.microsoft.com/office/drawing/2014/main" id="{7498E209-0327-4EBB-8FC0-5F41930983D3}"/>
              </a:ext>
            </a:extLst>
          </p:cNvPr>
          <p:cNvSpPr txBox="1"/>
          <p:nvPr/>
        </p:nvSpPr>
        <p:spPr>
          <a:xfrm>
            <a:off x="4323528" y="1692097"/>
            <a:ext cx="485491" cy="584775"/>
          </a:xfrm>
          <a:prstGeom prst="rect">
            <a:avLst/>
          </a:prstGeom>
          <a:noFill/>
        </p:spPr>
        <p:txBody>
          <a:bodyPr wrap="square" rtlCol="0">
            <a:spAutoFit/>
          </a:bodyPr>
          <a:lstStyle/>
          <a:p>
            <a:r>
              <a:rPr lang="en-US" altLang="zh-CN" sz="3200" dirty="0"/>
              <a:t>g</a:t>
            </a:r>
            <a:endParaRPr lang="zh-CN" altLang="en-US" sz="3200" dirty="0"/>
          </a:p>
        </p:txBody>
      </p:sp>
      <p:sp>
        <p:nvSpPr>
          <p:cNvPr id="16" name="平行四边形 15">
            <a:extLst>
              <a:ext uri="{FF2B5EF4-FFF2-40B4-BE49-F238E27FC236}">
                <a16:creationId xmlns:a16="http://schemas.microsoft.com/office/drawing/2014/main" id="{360B6C5F-A85D-4649-98F7-BB63D31AB3F3}"/>
              </a:ext>
            </a:extLst>
          </p:cNvPr>
          <p:cNvSpPr/>
          <p:nvPr/>
        </p:nvSpPr>
        <p:spPr bwMode="auto">
          <a:xfrm>
            <a:off x="1235865" y="1268760"/>
            <a:ext cx="2354862" cy="986254"/>
          </a:xfrm>
          <a:prstGeom prst="parallelogram">
            <a:avLst>
              <a:gd name="adj" fmla="val 82201"/>
            </a:avLst>
          </a:prstGeom>
          <a:noFill/>
          <a:ln w="603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1" u="none" strike="noStrike" cap="none" normalizeH="0" baseline="0">
              <a:ln>
                <a:noFill/>
              </a:ln>
              <a:solidFill>
                <a:schemeClr val="tx1"/>
              </a:solidFill>
              <a:effectLst/>
              <a:latin typeface="Times New Roman" pitchFamily="18" charset="0"/>
              <a:ea typeface="宋体" pitchFamily="2" charset="-122"/>
            </a:endParaRPr>
          </a:p>
        </p:txBody>
      </p:sp>
      <p:sp>
        <p:nvSpPr>
          <p:cNvPr id="17" name="Rectangle 2">
            <a:extLst>
              <a:ext uri="{FF2B5EF4-FFF2-40B4-BE49-F238E27FC236}">
                <a16:creationId xmlns:a16="http://schemas.microsoft.com/office/drawing/2014/main" id="{4AD6A11B-FCC1-40BA-92C1-43699D8F84A2}"/>
              </a:ext>
            </a:extLst>
          </p:cNvPr>
          <p:cNvSpPr txBox="1">
            <a:spLocks noChangeArrowheads="1"/>
          </p:cNvSpPr>
          <p:nvPr/>
        </p:nvSpPr>
        <p:spPr>
          <a:xfrm>
            <a:off x="574675" y="304800"/>
            <a:ext cx="8001000" cy="676275"/>
          </a:xfrm>
          <a:prstGeom prst="rect">
            <a:avLst/>
          </a:prstGeom>
        </p:spPr>
        <p:txBody>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Times New Roman" pitchFamily="18" charset="0"/>
                <a:ea typeface="黑体" pitchFamily="2" charset="-122"/>
              </a:defRPr>
            </a:lvl2pPr>
            <a:lvl3pPr algn="l" rtl="0" eaLnBrk="0" fontAlgn="base" hangingPunct="0">
              <a:spcBef>
                <a:spcPct val="0"/>
              </a:spcBef>
              <a:spcAft>
                <a:spcPct val="0"/>
              </a:spcAft>
              <a:defRPr sz="4200">
                <a:solidFill>
                  <a:schemeClr val="tx2"/>
                </a:solidFill>
                <a:latin typeface="Times New Roman" pitchFamily="18" charset="0"/>
                <a:ea typeface="黑体" pitchFamily="2" charset="-122"/>
              </a:defRPr>
            </a:lvl3pPr>
            <a:lvl4pPr algn="l" rtl="0" eaLnBrk="0" fontAlgn="base" hangingPunct="0">
              <a:spcBef>
                <a:spcPct val="0"/>
              </a:spcBef>
              <a:spcAft>
                <a:spcPct val="0"/>
              </a:spcAft>
              <a:defRPr sz="4200">
                <a:solidFill>
                  <a:schemeClr val="tx2"/>
                </a:solidFill>
                <a:latin typeface="Times New Roman" pitchFamily="18" charset="0"/>
                <a:ea typeface="黑体" pitchFamily="2" charset="-122"/>
              </a:defRPr>
            </a:lvl4pPr>
            <a:lvl5pPr algn="l" rtl="0" eaLnBrk="0" fontAlgn="base" hangingPunct="0">
              <a:spcBef>
                <a:spcPct val="0"/>
              </a:spcBef>
              <a:spcAft>
                <a:spcPct val="0"/>
              </a:spcAft>
              <a:defRPr sz="4200">
                <a:solidFill>
                  <a:schemeClr val="tx2"/>
                </a:solidFill>
                <a:latin typeface="Times New Roman" pitchFamily="18" charset="0"/>
                <a:ea typeface="黑体" pitchFamily="2" charset="-122"/>
              </a:defRPr>
            </a:lvl5pPr>
            <a:lvl6pPr marL="457200" algn="l" rtl="0" fontAlgn="base">
              <a:spcBef>
                <a:spcPct val="0"/>
              </a:spcBef>
              <a:spcAft>
                <a:spcPct val="0"/>
              </a:spcAft>
              <a:defRPr sz="4200">
                <a:solidFill>
                  <a:schemeClr val="tx2"/>
                </a:solidFill>
                <a:latin typeface="Times New Roman" pitchFamily="18" charset="0"/>
                <a:ea typeface="黑体" pitchFamily="2" charset="-122"/>
              </a:defRPr>
            </a:lvl6pPr>
            <a:lvl7pPr marL="914400" algn="l" rtl="0" fontAlgn="base">
              <a:spcBef>
                <a:spcPct val="0"/>
              </a:spcBef>
              <a:spcAft>
                <a:spcPct val="0"/>
              </a:spcAft>
              <a:defRPr sz="4200">
                <a:solidFill>
                  <a:schemeClr val="tx2"/>
                </a:solidFill>
                <a:latin typeface="Times New Roman" pitchFamily="18" charset="0"/>
                <a:ea typeface="黑体" pitchFamily="2" charset="-122"/>
              </a:defRPr>
            </a:lvl7pPr>
            <a:lvl8pPr marL="1371600" algn="l" rtl="0" fontAlgn="base">
              <a:spcBef>
                <a:spcPct val="0"/>
              </a:spcBef>
              <a:spcAft>
                <a:spcPct val="0"/>
              </a:spcAft>
              <a:defRPr sz="4200">
                <a:solidFill>
                  <a:schemeClr val="tx2"/>
                </a:solidFill>
                <a:latin typeface="Times New Roman" pitchFamily="18" charset="0"/>
                <a:ea typeface="黑体" pitchFamily="2" charset="-122"/>
              </a:defRPr>
            </a:lvl8pPr>
            <a:lvl9pPr marL="1828800" algn="l" rtl="0" fontAlgn="base">
              <a:spcBef>
                <a:spcPct val="0"/>
              </a:spcBef>
              <a:spcAft>
                <a:spcPct val="0"/>
              </a:spcAft>
              <a:defRPr sz="4200">
                <a:solidFill>
                  <a:schemeClr val="tx2"/>
                </a:solidFill>
                <a:latin typeface="Times New Roman" pitchFamily="18" charset="0"/>
                <a:ea typeface="黑体" pitchFamily="2" charset="-122"/>
              </a:defRPr>
            </a:lvl9pPr>
          </a:lstStyle>
          <a:p>
            <a:pPr algn="ctr" eaLnBrk="1" hangingPunct="1"/>
            <a:r>
              <a:rPr lang="zh-CN" altLang="en-US" sz="4400" b="1" i="0" kern="1200" dirty="0">
                <a:latin typeface="Tahoma" panose="020B0604030504040204" pitchFamily="34" charset="0"/>
                <a:ea typeface="隶书" pitchFamily="49" charset="-122"/>
                <a:cs typeface="+mn-cs"/>
              </a:rPr>
              <a:t>根据遍历顺序确定二叉树</a:t>
            </a:r>
            <a:r>
              <a:rPr lang="zh-CN" altLang="en-US" sz="4400" i="0" dirty="0">
                <a:latin typeface="Tahoma" panose="020B0604030504040204" pitchFamily="34" charset="0"/>
                <a:ea typeface="隶书" pitchFamily="49" charset="-122"/>
                <a:cs typeface="+mn-cs"/>
              </a:rPr>
              <a:t>举例</a:t>
            </a:r>
            <a:endParaRPr lang="zh-CN" altLang="en-US" sz="4400" b="1" i="0" kern="1200" dirty="0">
              <a:latin typeface="Tahoma" panose="020B0604030504040204" pitchFamily="34" charset="0"/>
              <a:ea typeface="隶书" pitchFamily="49" charset="-122"/>
              <a:cs typeface="+mn-cs"/>
            </a:endParaRPr>
          </a:p>
        </p:txBody>
      </p:sp>
      <p:sp>
        <p:nvSpPr>
          <p:cNvPr id="97" name="平行四边形 96">
            <a:extLst>
              <a:ext uri="{FF2B5EF4-FFF2-40B4-BE49-F238E27FC236}">
                <a16:creationId xmlns:a16="http://schemas.microsoft.com/office/drawing/2014/main" id="{24774286-07F4-4F24-93CF-D422AF20DCCD}"/>
              </a:ext>
            </a:extLst>
          </p:cNvPr>
          <p:cNvSpPr/>
          <p:nvPr/>
        </p:nvSpPr>
        <p:spPr bwMode="auto">
          <a:xfrm>
            <a:off x="3635896" y="1290618"/>
            <a:ext cx="1941488" cy="986254"/>
          </a:xfrm>
          <a:prstGeom prst="parallelogram">
            <a:avLst>
              <a:gd name="adj" fmla="val 0"/>
            </a:avLst>
          </a:prstGeom>
          <a:noFill/>
          <a:ln w="603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1" u="none" strike="noStrike" cap="none" normalizeH="0" baseline="0">
              <a:ln>
                <a:noFill/>
              </a:ln>
              <a:solidFill>
                <a:schemeClr val="tx1"/>
              </a:solidFill>
              <a:effectLst/>
              <a:latin typeface="Times New Roman" pitchFamily="18" charset="0"/>
              <a:ea typeface="宋体" pitchFamily="2" charset="-122"/>
            </a:endParaRPr>
          </a:p>
        </p:txBody>
      </p:sp>
    </p:spTree>
  </p:cSld>
  <p:clrMapOvr>
    <a:masterClrMapping/>
  </p:clrMapOvr>
  <p:transition spd="med">
    <p:pull dir="d"/>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7" presetClass="entr" presetSubtype="8" fill="hold" nodeType="afterEffect">
                                  <p:stCondLst>
                                    <p:cond delay="0"/>
                                  </p:stCondLst>
                                  <p:childTnLst>
                                    <p:set>
                                      <p:cBhvr>
                                        <p:cTn id="6" dur="1" fill="hold">
                                          <p:stCondLst>
                                            <p:cond delay="0"/>
                                          </p:stCondLst>
                                        </p:cTn>
                                        <p:tgtEl>
                                          <p:spTgt spid="46104"/>
                                        </p:tgtEl>
                                        <p:attrNameLst>
                                          <p:attrName>style.visibility</p:attrName>
                                        </p:attrNameLst>
                                      </p:cBhvr>
                                      <p:to>
                                        <p:strVal val="visible"/>
                                      </p:to>
                                    </p:set>
                                    <p:anim calcmode="lin" valueType="num">
                                      <p:cBhvr>
                                        <p:cTn id="7" dur="500" fill="hold"/>
                                        <p:tgtEl>
                                          <p:spTgt spid="46104"/>
                                        </p:tgtEl>
                                        <p:attrNameLst>
                                          <p:attrName>ppt_x</p:attrName>
                                        </p:attrNameLst>
                                      </p:cBhvr>
                                      <p:tavLst>
                                        <p:tav tm="0">
                                          <p:val>
                                            <p:strVal val="#ppt_x-#ppt_w/2"/>
                                          </p:val>
                                        </p:tav>
                                        <p:tav tm="100000">
                                          <p:val>
                                            <p:strVal val="#ppt_x"/>
                                          </p:val>
                                        </p:tav>
                                      </p:tavLst>
                                    </p:anim>
                                    <p:anim calcmode="lin" valueType="num">
                                      <p:cBhvr>
                                        <p:cTn id="8" dur="500" fill="hold"/>
                                        <p:tgtEl>
                                          <p:spTgt spid="46104"/>
                                        </p:tgtEl>
                                        <p:attrNameLst>
                                          <p:attrName>ppt_y</p:attrName>
                                        </p:attrNameLst>
                                      </p:cBhvr>
                                      <p:tavLst>
                                        <p:tav tm="0">
                                          <p:val>
                                            <p:strVal val="#ppt_y"/>
                                          </p:val>
                                        </p:tav>
                                        <p:tav tm="100000">
                                          <p:val>
                                            <p:strVal val="#ppt_y"/>
                                          </p:val>
                                        </p:tav>
                                      </p:tavLst>
                                    </p:anim>
                                    <p:anim calcmode="lin" valueType="num">
                                      <p:cBhvr>
                                        <p:cTn id="9" dur="500" fill="hold"/>
                                        <p:tgtEl>
                                          <p:spTgt spid="46104"/>
                                        </p:tgtEl>
                                        <p:attrNameLst>
                                          <p:attrName>ppt_w</p:attrName>
                                        </p:attrNameLst>
                                      </p:cBhvr>
                                      <p:tavLst>
                                        <p:tav tm="0">
                                          <p:val>
                                            <p:fltVal val="0"/>
                                          </p:val>
                                        </p:tav>
                                        <p:tav tm="100000">
                                          <p:val>
                                            <p:strVal val="#ppt_w"/>
                                          </p:val>
                                        </p:tav>
                                      </p:tavLst>
                                    </p:anim>
                                    <p:anim calcmode="lin" valueType="num">
                                      <p:cBhvr>
                                        <p:cTn id="10" dur="500" fill="hold"/>
                                        <p:tgtEl>
                                          <p:spTgt spid="46104"/>
                                        </p:tgtEl>
                                        <p:attrNameLst>
                                          <p:attrName>ppt_h</p:attrName>
                                        </p:attrNameLst>
                                      </p:cBhvr>
                                      <p:tavLst>
                                        <p:tav tm="0">
                                          <p:val>
                                            <p:strVal val="#ppt_h"/>
                                          </p:val>
                                        </p:tav>
                                        <p:tav tm="100000">
                                          <p:val>
                                            <p:strVal val="#ppt_h"/>
                                          </p:val>
                                        </p:tav>
                                      </p:tavLst>
                                    </p:anim>
                                  </p:childTnLst>
                                </p:cTn>
                              </p:par>
                            </p:childTnLst>
                          </p:cTn>
                        </p:par>
                        <p:par>
                          <p:cTn id="11" fill="hold" nodeType="afterGroup">
                            <p:stCondLst>
                              <p:cond delay="500"/>
                            </p:stCondLst>
                            <p:childTnLst>
                              <p:par>
                                <p:cTn id="12" presetID="17" presetClass="entr" presetSubtype="1" fill="hold" grpId="0" nodeType="afterEffect">
                                  <p:stCondLst>
                                    <p:cond delay="0"/>
                                  </p:stCondLst>
                                  <p:childTnLst>
                                    <p:set>
                                      <p:cBhvr>
                                        <p:cTn id="13" dur="1" fill="hold">
                                          <p:stCondLst>
                                            <p:cond delay="0"/>
                                          </p:stCondLst>
                                        </p:cTn>
                                        <p:tgtEl>
                                          <p:spTgt spid="46101"/>
                                        </p:tgtEl>
                                        <p:attrNameLst>
                                          <p:attrName>style.visibility</p:attrName>
                                        </p:attrNameLst>
                                      </p:cBhvr>
                                      <p:to>
                                        <p:strVal val="visible"/>
                                      </p:to>
                                    </p:set>
                                    <p:anim calcmode="lin" valueType="num">
                                      <p:cBhvr>
                                        <p:cTn id="14" dur="500" fill="hold"/>
                                        <p:tgtEl>
                                          <p:spTgt spid="46101"/>
                                        </p:tgtEl>
                                        <p:attrNameLst>
                                          <p:attrName>ppt_x</p:attrName>
                                        </p:attrNameLst>
                                      </p:cBhvr>
                                      <p:tavLst>
                                        <p:tav tm="0">
                                          <p:val>
                                            <p:strVal val="#ppt_x"/>
                                          </p:val>
                                        </p:tav>
                                        <p:tav tm="100000">
                                          <p:val>
                                            <p:strVal val="#ppt_x"/>
                                          </p:val>
                                        </p:tav>
                                      </p:tavLst>
                                    </p:anim>
                                    <p:anim calcmode="lin" valueType="num">
                                      <p:cBhvr>
                                        <p:cTn id="15" dur="500" fill="hold"/>
                                        <p:tgtEl>
                                          <p:spTgt spid="46101"/>
                                        </p:tgtEl>
                                        <p:attrNameLst>
                                          <p:attrName>ppt_y</p:attrName>
                                        </p:attrNameLst>
                                      </p:cBhvr>
                                      <p:tavLst>
                                        <p:tav tm="0">
                                          <p:val>
                                            <p:strVal val="#ppt_y-#ppt_h/2"/>
                                          </p:val>
                                        </p:tav>
                                        <p:tav tm="100000">
                                          <p:val>
                                            <p:strVal val="#ppt_y"/>
                                          </p:val>
                                        </p:tav>
                                      </p:tavLst>
                                    </p:anim>
                                    <p:anim calcmode="lin" valueType="num">
                                      <p:cBhvr>
                                        <p:cTn id="16" dur="500" fill="hold"/>
                                        <p:tgtEl>
                                          <p:spTgt spid="46101"/>
                                        </p:tgtEl>
                                        <p:attrNameLst>
                                          <p:attrName>ppt_w</p:attrName>
                                        </p:attrNameLst>
                                      </p:cBhvr>
                                      <p:tavLst>
                                        <p:tav tm="0">
                                          <p:val>
                                            <p:strVal val="#ppt_w"/>
                                          </p:val>
                                        </p:tav>
                                        <p:tav tm="100000">
                                          <p:val>
                                            <p:strVal val="#ppt_w"/>
                                          </p:val>
                                        </p:tav>
                                      </p:tavLst>
                                    </p:anim>
                                    <p:anim calcmode="lin" valueType="num">
                                      <p:cBhvr>
                                        <p:cTn id="17" dur="500" fill="hold"/>
                                        <p:tgtEl>
                                          <p:spTgt spid="46101"/>
                                        </p:tgtEl>
                                        <p:attrNameLst>
                                          <p:attrName>ppt_h</p:attrName>
                                        </p:attrNameLst>
                                      </p:cBhvr>
                                      <p:tavLst>
                                        <p:tav tm="0">
                                          <p:val>
                                            <p:fltVal val="0"/>
                                          </p:val>
                                        </p:tav>
                                        <p:tav tm="100000">
                                          <p:val>
                                            <p:strVal val="#ppt_h"/>
                                          </p:val>
                                        </p:tav>
                                      </p:tavLst>
                                    </p:anim>
                                  </p:childTnLst>
                                </p:cTn>
                              </p:par>
                            </p:childTnLst>
                          </p:cTn>
                        </p:par>
                        <p:par>
                          <p:cTn id="18" fill="hold" nodeType="afterGroup">
                            <p:stCondLst>
                              <p:cond delay="1000"/>
                            </p:stCondLst>
                            <p:childTnLst>
                              <p:par>
                                <p:cTn id="19" presetID="17" presetClass="entr" presetSubtype="1" fill="hold" nodeType="afterEffect">
                                  <p:stCondLst>
                                    <p:cond delay="0"/>
                                  </p:stCondLst>
                                  <p:childTnLst>
                                    <p:set>
                                      <p:cBhvr>
                                        <p:cTn id="20" dur="1" fill="hold">
                                          <p:stCondLst>
                                            <p:cond delay="0"/>
                                          </p:stCondLst>
                                        </p:cTn>
                                        <p:tgtEl>
                                          <p:spTgt spid="46102"/>
                                        </p:tgtEl>
                                        <p:attrNameLst>
                                          <p:attrName>style.visibility</p:attrName>
                                        </p:attrNameLst>
                                      </p:cBhvr>
                                      <p:to>
                                        <p:strVal val="visible"/>
                                      </p:to>
                                    </p:set>
                                    <p:anim calcmode="lin" valueType="num">
                                      <p:cBhvr>
                                        <p:cTn id="21" dur="500" fill="hold"/>
                                        <p:tgtEl>
                                          <p:spTgt spid="46102"/>
                                        </p:tgtEl>
                                        <p:attrNameLst>
                                          <p:attrName>ppt_x</p:attrName>
                                        </p:attrNameLst>
                                      </p:cBhvr>
                                      <p:tavLst>
                                        <p:tav tm="0">
                                          <p:val>
                                            <p:strVal val="#ppt_x"/>
                                          </p:val>
                                        </p:tav>
                                        <p:tav tm="100000">
                                          <p:val>
                                            <p:strVal val="#ppt_x"/>
                                          </p:val>
                                        </p:tav>
                                      </p:tavLst>
                                    </p:anim>
                                    <p:anim calcmode="lin" valueType="num">
                                      <p:cBhvr>
                                        <p:cTn id="22" dur="500" fill="hold"/>
                                        <p:tgtEl>
                                          <p:spTgt spid="46102"/>
                                        </p:tgtEl>
                                        <p:attrNameLst>
                                          <p:attrName>ppt_y</p:attrName>
                                        </p:attrNameLst>
                                      </p:cBhvr>
                                      <p:tavLst>
                                        <p:tav tm="0">
                                          <p:val>
                                            <p:strVal val="#ppt_y-#ppt_h/2"/>
                                          </p:val>
                                        </p:tav>
                                        <p:tav tm="100000">
                                          <p:val>
                                            <p:strVal val="#ppt_y"/>
                                          </p:val>
                                        </p:tav>
                                      </p:tavLst>
                                    </p:anim>
                                    <p:anim calcmode="lin" valueType="num">
                                      <p:cBhvr>
                                        <p:cTn id="23" dur="500" fill="hold"/>
                                        <p:tgtEl>
                                          <p:spTgt spid="46102"/>
                                        </p:tgtEl>
                                        <p:attrNameLst>
                                          <p:attrName>ppt_w</p:attrName>
                                        </p:attrNameLst>
                                      </p:cBhvr>
                                      <p:tavLst>
                                        <p:tav tm="0">
                                          <p:val>
                                            <p:strVal val="#ppt_w"/>
                                          </p:val>
                                        </p:tav>
                                        <p:tav tm="100000">
                                          <p:val>
                                            <p:strVal val="#ppt_w"/>
                                          </p:val>
                                        </p:tav>
                                      </p:tavLst>
                                    </p:anim>
                                    <p:anim calcmode="lin" valueType="num">
                                      <p:cBhvr>
                                        <p:cTn id="24" dur="500" fill="hold"/>
                                        <p:tgtEl>
                                          <p:spTgt spid="46102"/>
                                        </p:tgtEl>
                                        <p:attrNameLst>
                                          <p:attrName>ppt_h</p:attrName>
                                        </p:attrNameLst>
                                      </p:cBhvr>
                                      <p:tavLst>
                                        <p:tav tm="0">
                                          <p:val>
                                            <p:fltVal val="0"/>
                                          </p:val>
                                        </p:tav>
                                        <p:tav tm="100000">
                                          <p:val>
                                            <p:strVal val="#ppt_h"/>
                                          </p:val>
                                        </p:tav>
                                      </p:tavLst>
                                    </p:anim>
                                  </p:childTnLst>
                                </p:cTn>
                              </p:par>
                            </p:childTnLst>
                          </p:cTn>
                        </p:par>
                        <p:par>
                          <p:cTn id="25" fill="hold" nodeType="afterGroup">
                            <p:stCondLst>
                              <p:cond delay="1500"/>
                            </p:stCondLst>
                            <p:childTnLst>
                              <p:par>
                                <p:cTn id="26" presetID="17" presetClass="entr" presetSubtype="1" fill="hold" nodeType="afterEffect">
                                  <p:stCondLst>
                                    <p:cond delay="0"/>
                                  </p:stCondLst>
                                  <p:childTnLst>
                                    <p:set>
                                      <p:cBhvr>
                                        <p:cTn id="27" dur="1" fill="hold">
                                          <p:stCondLst>
                                            <p:cond delay="0"/>
                                          </p:stCondLst>
                                        </p:cTn>
                                        <p:tgtEl>
                                          <p:spTgt spid="46103"/>
                                        </p:tgtEl>
                                        <p:attrNameLst>
                                          <p:attrName>style.visibility</p:attrName>
                                        </p:attrNameLst>
                                      </p:cBhvr>
                                      <p:to>
                                        <p:strVal val="visible"/>
                                      </p:to>
                                    </p:set>
                                    <p:anim calcmode="lin" valueType="num">
                                      <p:cBhvr>
                                        <p:cTn id="28" dur="500" fill="hold"/>
                                        <p:tgtEl>
                                          <p:spTgt spid="46103"/>
                                        </p:tgtEl>
                                        <p:attrNameLst>
                                          <p:attrName>ppt_x</p:attrName>
                                        </p:attrNameLst>
                                      </p:cBhvr>
                                      <p:tavLst>
                                        <p:tav tm="0">
                                          <p:val>
                                            <p:strVal val="#ppt_x"/>
                                          </p:val>
                                        </p:tav>
                                        <p:tav tm="100000">
                                          <p:val>
                                            <p:strVal val="#ppt_x"/>
                                          </p:val>
                                        </p:tav>
                                      </p:tavLst>
                                    </p:anim>
                                    <p:anim calcmode="lin" valueType="num">
                                      <p:cBhvr>
                                        <p:cTn id="29" dur="500" fill="hold"/>
                                        <p:tgtEl>
                                          <p:spTgt spid="46103"/>
                                        </p:tgtEl>
                                        <p:attrNameLst>
                                          <p:attrName>ppt_y</p:attrName>
                                        </p:attrNameLst>
                                      </p:cBhvr>
                                      <p:tavLst>
                                        <p:tav tm="0">
                                          <p:val>
                                            <p:strVal val="#ppt_y-#ppt_h/2"/>
                                          </p:val>
                                        </p:tav>
                                        <p:tav tm="100000">
                                          <p:val>
                                            <p:strVal val="#ppt_y"/>
                                          </p:val>
                                        </p:tav>
                                      </p:tavLst>
                                    </p:anim>
                                    <p:anim calcmode="lin" valueType="num">
                                      <p:cBhvr>
                                        <p:cTn id="30" dur="500" fill="hold"/>
                                        <p:tgtEl>
                                          <p:spTgt spid="46103"/>
                                        </p:tgtEl>
                                        <p:attrNameLst>
                                          <p:attrName>ppt_w</p:attrName>
                                        </p:attrNameLst>
                                      </p:cBhvr>
                                      <p:tavLst>
                                        <p:tav tm="0">
                                          <p:val>
                                            <p:strVal val="#ppt_w"/>
                                          </p:val>
                                        </p:tav>
                                        <p:tav tm="100000">
                                          <p:val>
                                            <p:strVal val="#ppt_w"/>
                                          </p:val>
                                        </p:tav>
                                      </p:tavLst>
                                    </p:anim>
                                    <p:anim calcmode="lin" valueType="num">
                                      <p:cBhvr>
                                        <p:cTn id="31" dur="500" fill="hold"/>
                                        <p:tgtEl>
                                          <p:spTgt spid="46103"/>
                                        </p:tgtEl>
                                        <p:attrNameLst>
                                          <p:attrName>ppt_h</p:attrName>
                                        </p:attrNameLst>
                                      </p:cBhvr>
                                      <p:tavLst>
                                        <p:tav tm="0">
                                          <p:val>
                                            <p:fltVal val="0"/>
                                          </p:val>
                                        </p:tav>
                                        <p:tav tm="100000">
                                          <p:val>
                                            <p:strVal val="#ppt_h"/>
                                          </p:val>
                                        </p:tav>
                                      </p:tavLst>
                                    </p:anim>
                                  </p:childTnLst>
                                </p:cTn>
                              </p:par>
                            </p:childTnLst>
                          </p:cTn>
                        </p:par>
                      </p:childTnLst>
                    </p:cTn>
                  </p:par>
                  <p:par>
                    <p:cTn id="32" fill="hold">
                      <p:stCondLst>
                        <p:cond delay="indefinite"/>
                      </p:stCondLst>
                      <p:childTnLst>
                        <p:par>
                          <p:cTn id="33" fill="hold">
                            <p:stCondLst>
                              <p:cond delay="0"/>
                            </p:stCondLst>
                            <p:childTnLst>
                              <p:par>
                                <p:cTn id="34" presetID="8" presetClass="emph" presetSubtype="0" fill="hold" grpId="0" nodeType="clickEffect">
                                  <p:stCondLst>
                                    <p:cond delay="0"/>
                                  </p:stCondLst>
                                  <p:childTnLst>
                                    <p:animRot by="21600000">
                                      <p:cBhvr>
                                        <p:cTn id="35" dur="2000" fill="hold"/>
                                        <p:tgtEl>
                                          <p:spTgt spid="2"/>
                                        </p:tgtEl>
                                        <p:attrNameLst>
                                          <p:attrName>r</p:attrName>
                                        </p:attrNameLst>
                                      </p:cBhvr>
                                    </p:animRot>
                                  </p:childTnLst>
                                </p:cTn>
                              </p:par>
                            </p:childTnLst>
                          </p:cTn>
                        </p:par>
                      </p:childTnLst>
                    </p:cTn>
                  </p:par>
                  <p:par>
                    <p:cTn id="36" fill="hold">
                      <p:stCondLst>
                        <p:cond delay="indefinite"/>
                      </p:stCondLst>
                      <p:childTnLst>
                        <p:par>
                          <p:cTn id="37" fill="hold">
                            <p:stCondLst>
                              <p:cond delay="0"/>
                            </p:stCondLst>
                            <p:childTnLst>
                              <p:par>
                                <p:cTn id="38" presetID="8" presetClass="emph" presetSubtype="0" fill="hold" grpId="0" nodeType="clickEffect">
                                  <p:stCondLst>
                                    <p:cond delay="0"/>
                                  </p:stCondLst>
                                  <p:childTnLst>
                                    <p:animRot by="21600000">
                                      <p:cBhvr>
                                        <p:cTn id="39" dur="2000" fill="hold"/>
                                        <p:tgtEl>
                                          <p:spTgt spid="12"/>
                                        </p:tgtEl>
                                        <p:attrNameLst>
                                          <p:attrName>r</p:attrName>
                                        </p:attrNameLst>
                                      </p:cBhvr>
                                    </p:animRo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16"/>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97"/>
                                        </p:tgtEl>
                                        <p:attrNameLst>
                                          <p:attrName>style.visibility</p:attrName>
                                        </p:attrNameLst>
                                      </p:cBhvr>
                                      <p:to>
                                        <p:strVal val="visible"/>
                                      </p:to>
                                    </p:set>
                                  </p:childTnLst>
                                </p:cTn>
                              </p:par>
                            </p:childTnLst>
                          </p:cTn>
                        </p:par>
                      </p:childTnLst>
                    </p:cTn>
                  </p:par>
                  <p:par>
                    <p:cTn id="48" fill="hold" nodeType="clickPar">
                      <p:stCondLst>
                        <p:cond delay="indefinite"/>
                      </p:stCondLst>
                      <p:childTnLst>
                        <p:par>
                          <p:cTn id="49" fill="hold" nodeType="withGroup">
                            <p:stCondLst>
                              <p:cond delay="0"/>
                            </p:stCondLst>
                            <p:childTnLst>
                              <p:par>
                                <p:cTn id="50" presetID="17" presetClass="entr" presetSubtype="1" fill="hold" nodeType="clickEffect">
                                  <p:stCondLst>
                                    <p:cond delay="0"/>
                                  </p:stCondLst>
                                  <p:childTnLst>
                                    <p:set>
                                      <p:cBhvr>
                                        <p:cTn id="51" dur="1" fill="hold">
                                          <p:stCondLst>
                                            <p:cond delay="0"/>
                                          </p:stCondLst>
                                        </p:cTn>
                                        <p:tgtEl>
                                          <p:spTgt spid="46108"/>
                                        </p:tgtEl>
                                        <p:attrNameLst>
                                          <p:attrName>style.visibility</p:attrName>
                                        </p:attrNameLst>
                                      </p:cBhvr>
                                      <p:to>
                                        <p:strVal val="visible"/>
                                      </p:to>
                                    </p:set>
                                    <p:anim calcmode="lin" valueType="num">
                                      <p:cBhvr>
                                        <p:cTn id="52" dur="500" fill="hold"/>
                                        <p:tgtEl>
                                          <p:spTgt spid="46108"/>
                                        </p:tgtEl>
                                        <p:attrNameLst>
                                          <p:attrName>ppt_x</p:attrName>
                                        </p:attrNameLst>
                                      </p:cBhvr>
                                      <p:tavLst>
                                        <p:tav tm="0">
                                          <p:val>
                                            <p:strVal val="#ppt_x"/>
                                          </p:val>
                                        </p:tav>
                                        <p:tav tm="100000">
                                          <p:val>
                                            <p:strVal val="#ppt_x"/>
                                          </p:val>
                                        </p:tav>
                                      </p:tavLst>
                                    </p:anim>
                                    <p:anim calcmode="lin" valueType="num">
                                      <p:cBhvr>
                                        <p:cTn id="53" dur="500" fill="hold"/>
                                        <p:tgtEl>
                                          <p:spTgt spid="46108"/>
                                        </p:tgtEl>
                                        <p:attrNameLst>
                                          <p:attrName>ppt_y</p:attrName>
                                        </p:attrNameLst>
                                      </p:cBhvr>
                                      <p:tavLst>
                                        <p:tav tm="0">
                                          <p:val>
                                            <p:strVal val="#ppt_y-#ppt_h/2"/>
                                          </p:val>
                                        </p:tav>
                                        <p:tav tm="100000">
                                          <p:val>
                                            <p:strVal val="#ppt_y"/>
                                          </p:val>
                                        </p:tav>
                                      </p:tavLst>
                                    </p:anim>
                                    <p:anim calcmode="lin" valueType="num">
                                      <p:cBhvr>
                                        <p:cTn id="54" dur="500" fill="hold"/>
                                        <p:tgtEl>
                                          <p:spTgt spid="46108"/>
                                        </p:tgtEl>
                                        <p:attrNameLst>
                                          <p:attrName>ppt_w</p:attrName>
                                        </p:attrNameLst>
                                      </p:cBhvr>
                                      <p:tavLst>
                                        <p:tav tm="0">
                                          <p:val>
                                            <p:strVal val="#ppt_w"/>
                                          </p:val>
                                        </p:tav>
                                        <p:tav tm="100000">
                                          <p:val>
                                            <p:strVal val="#ppt_w"/>
                                          </p:val>
                                        </p:tav>
                                      </p:tavLst>
                                    </p:anim>
                                    <p:anim calcmode="lin" valueType="num">
                                      <p:cBhvr>
                                        <p:cTn id="55" dur="500" fill="hold"/>
                                        <p:tgtEl>
                                          <p:spTgt spid="46108"/>
                                        </p:tgtEl>
                                        <p:attrNameLst>
                                          <p:attrName>ppt_h</p:attrName>
                                        </p:attrNameLst>
                                      </p:cBhvr>
                                      <p:tavLst>
                                        <p:tav tm="0">
                                          <p:val>
                                            <p:fltVal val="0"/>
                                          </p:val>
                                        </p:tav>
                                        <p:tav tm="100000">
                                          <p:val>
                                            <p:strVal val="#ppt_h"/>
                                          </p:val>
                                        </p:tav>
                                      </p:tavLst>
                                    </p:anim>
                                  </p:childTnLst>
                                </p:cTn>
                              </p:par>
                            </p:childTnLst>
                          </p:cTn>
                        </p:par>
                        <p:par>
                          <p:cTn id="56" fill="hold" nodeType="afterGroup">
                            <p:stCondLst>
                              <p:cond delay="500"/>
                            </p:stCondLst>
                            <p:childTnLst>
                              <p:par>
                                <p:cTn id="57" presetID="17" presetClass="entr" presetSubtype="1" fill="hold" grpId="0" nodeType="afterEffect">
                                  <p:stCondLst>
                                    <p:cond delay="0"/>
                                  </p:stCondLst>
                                  <p:childTnLst>
                                    <p:set>
                                      <p:cBhvr>
                                        <p:cTn id="58" dur="1" fill="hold">
                                          <p:stCondLst>
                                            <p:cond delay="0"/>
                                          </p:stCondLst>
                                        </p:cTn>
                                        <p:tgtEl>
                                          <p:spTgt spid="46105"/>
                                        </p:tgtEl>
                                        <p:attrNameLst>
                                          <p:attrName>style.visibility</p:attrName>
                                        </p:attrNameLst>
                                      </p:cBhvr>
                                      <p:to>
                                        <p:strVal val="visible"/>
                                      </p:to>
                                    </p:set>
                                    <p:anim calcmode="lin" valueType="num">
                                      <p:cBhvr>
                                        <p:cTn id="59" dur="500" fill="hold"/>
                                        <p:tgtEl>
                                          <p:spTgt spid="46105"/>
                                        </p:tgtEl>
                                        <p:attrNameLst>
                                          <p:attrName>ppt_x</p:attrName>
                                        </p:attrNameLst>
                                      </p:cBhvr>
                                      <p:tavLst>
                                        <p:tav tm="0">
                                          <p:val>
                                            <p:strVal val="#ppt_x"/>
                                          </p:val>
                                        </p:tav>
                                        <p:tav tm="100000">
                                          <p:val>
                                            <p:strVal val="#ppt_x"/>
                                          </p:val>
                                        </p:tav>
                                      </p:tavLst>
                                    </p:anim>
                                    <p:anim calcmode="lin" valueType="num">
                                      <p:cBhvr>
                                        <p:cTn id="60" dur="500" fill="hold"/>
                                        <p:tgtEl>
                                          <p:spTgt spid="46105"/>
                                        </p:tgtEl>
                                        <p:attrNameLst>
                                          <p:attrName>ppt_y</p:attrName>
                                        </p:attrNameLst>
                                      </p:cBhvr>
                                      <p:tavLst>
                                        <p:tav tm="0">
                                          <p:val>
                                            <p:strVal val="#ppt_y-#ppt_h/2"/>
                                          </p:val>
                                        </p:tav>
                                        <p:tav tm="100000">
                                          <p:val>
                                            <p:strVal val="#ppt_y"/>
                                          </p:val>
                                        </p:tav>
                                      </p:tavLst>
                                    </p:anim>
                                    <p:anim calcmode="lin" valueType="num">
                                      <p:cBhvr>
                                        <p:cTn id="61" dur="500" fill="hold"/>
                                        <p:tgtEl>
                                          <p:spTgt spid="46105"/>
                                        </p:tgtEl>
                                        <p:attrNameLst>
                                          <p:attrName>ppt_w</p:attrName>
                                        </p:attrNameLst>
                                      </p:cBhvr>
                                      <p:tavLst>
                                        <p:tav tm="0">
                                          <p:val>
                                            <p:strVal val="#ppt_w"/>
                                          </p:val>
                                        </p:tav>
                                        <p:tav tm="100000">
                                          <p:val>
                                            <p:strVal val="#ppt_w"/>
                                          </p:val>
                                        </p:tav>
                                      </p:tavLst>
                                    </p:anim>
                                    <p:anim calcmode="lin" valueType="num">
                                      <p:cBhvr>
                                        <p:cTn id="62" dur="500" fill="hold"/>
                                        <p:tgtEl>
                                          <p:spTgt spid="46105"/>
                                        </p:tgtEl>
                                        <p:attrNameLst>
                                          <p:attrName>ppt_h</p:attrName>
                                        </p:attrNameLst>
                                      </p:cBhvr>
                                      <p:tavLst>
                                        <p:tav tm="0">
                                          <p:val>
                                            <p:fltVal val="0"/>
                                          </p:val>
                                        </p:tav>
                                        <p:tav tm="100000">
                                          <p:val>
                                            <p:strVal val="#ppt_h"/>
                                          </p:val>
                                        </p:tav>
                                      </p:tavLst>
                                    </p:anim>
                                  </p:childTnLst>
                                </p:cTn>
                              </p:par>
                            </p:childTnLst>
                          </p:cTn>
                        </p:par>
                        <p:par>
                          <p:cTn id="63" fill="hold" nodeType="afterGroup">
                            <p:stCondLst>
                              <p:cond delay="1000"/>
                            </p:stCondLst>
                            <p:childTnLst>
                              <p:par>
                                <p:cTn id="64" presetID="17" presetClass="entr" presetSubtype="1" fill="hold" nodeType="afterEffect">
                                  <p:stCondLst>
                                    <p:cond delay="0"/>
                                  </p:stCondLst>
                                  <p:childTnLst>
                                    <p:set>
                                      <p:cBhvr>
                                        <p:cTn id="65" dur="1" fill="hold">
                                          <p:stCondLst>
                                            <p:cond delay="0"/>
                                          </p:stCondLst>
                                        </p:cTn>
                                        <p:tgtEl>
                                          <p:spTgt spid="46106"/>
                                        </p:tgtEl>
                                        <p:attrNameLst>
                                          <p:attrName>style.visibility</p:attrName>
                                        </p:attrNameLst>
                                      </p:cBhvr>
                                      <p:to>
                                        <p:strVal val="visible"/>
                                      </p:to>
                                    </p:set>
                                    <p:anim calcmode="lin" valueType="num">
                                      <p:cBhvr>
                                        <p:cTn id="66" dur="500" fill="hold"/>
                                        <p:tgtEl>
                                          <p:spTgt spid="46106"/>
                                        </p:tgtEl>
                                        <p:attrNameLst>
                                          <p:attrName>ppt_x</p:attrName>
                                        </p:attrNameLst>
                                      </p:cBhvr>
                                      <p:tavLst>
                                        <p:tav tm="0">
                                          <p:val>
                                            <p:strVal val="#ppt_x"/>
                                          </p:val>
                                        </p:tav>
                                        <p:tav tm="100000">
                                          <p:val>
                                            <p:strVal val="#ppt_x"/>
                                          </p:val>
                                        </p:tav>
                                      </p:tavLst>
                                    </p:anim>
                                    <p:anim calcmode="lin" valueType="num">
                                      <p:cBhvr>
                                        <p:cTn id="67" dur="500" fill="hold"/>
                                        <p:tgtEl>
                                          <p:spTgt spid="46106"/>
                                        </p:tgtEl>
                                        <p:attrNameLst>
                                          <p:attrName>ppt_y</p:attrName>
                                        </p:attrNameLst>
                                      </p:cBhvr>
                                      <p:tavLst>
                                        <p:tav tm="0">
                                          <p:val>
                                            <p:strVal val="#ppt_y-#ppt_h/2"/>
                                          </p:val>
                                        </p:tav>
                                        <p:tav tm="100000">
                                          <p:val>
                                            <p:strVal val="#ppt_y"/>
                                          </p:val>
                                        </p:tav>
                                      </p:tavLst>
                                    </p:anim>
                                    <p:anim calcmode="lin" valueType="num">
                                      <p:cBhvr>
                                        <p:cTn id="68" dur="500" fill="hold"/>
                                        <p:tgtEl>
                                          <p:spTgt spid="46106"/>
                                        </p:tgtEl>
                                        <p:attrNameLst>
                                          <p:attrName>ppt_w</p:attrName>
                                        </p:attrNameLst>
                                      </p:cBhvr>
                                      <p:tavLst>
                                        <p:tav tm="0">
                                          <p:val>
                                            <p:strVal val="#ppt_w"/>
                                          </p:val>
                                        </p:tav>
                                        <p:tav tm="100000">
                                          <p:val>
                                            <p:strVal val="#ppt_w"/>
                                          </p:val>
                                        </p:tav>
                                      </p:tavLst>
                                    </p:anim>
                                    <p:anim calcmode="lin" valueType="num">
                                      <p:cBhvr>
                                        <p:cTn id="69" dur="500" fill="hold"/>
                                        <p:tgtEl>
                                          <p:spTgt spid="46106"/>
                                        </p:tgtEl>
                                        <p:attrNameLst>
                                          <p:attrName>ppt_h</p:attrName>
                                        </p:attrNameLst>
                                      </p:cBhvr>
                                      <p:tavLst>
                                        <p:tav tm="0">
                                          <p:val>
                                            <p:fltVal val="0"/>
                                          </p:val>
                                        </p:tav>
                                        <p:tav tm="100000">
                                          <p:val>
                                            <p:strVal val="#ppt_h"/>
                                          </p:val>
                                        </p:tav>
                                      </p:tavLst>
                                    </p:anim>
                                  </p:childTnLst>
                                </p:cTn>
                              </p:par>
                            </p:childTnLst>
                          </p:cTn>
                        </p:par>
                        <p:par>
                          <p:cTn id="70" fill="hold" nodeType="afterGroup">
                            <p:stCondLst>
                              <p:cond delay="1500"/>
                            </p:stCondLst>
                            <p:childTnLst>
                              <p:par>
                                <p:cTn id="71" presetID="17" presetClass="entr" presetSubtype="1" fill="hold" nodeType="afterEffect">
                                  <p:stCondLst>
                                    <p:cond delay="0"/>
                                  </p:stCondLst>
                                  <p:childTnLst>
                                    <p:set>
                                      <p:cBhvr>
                                        <p:cTn id="72" dur="1" fill="hold">
                                          <p:stCondLst>
                                            <p:cond delay="0"/>
                                          </p:stCondLst>
                                        </p:cTn>
                                        <p:tgtEl>
                                          <p:spTgt spid="46107"/>
                                        </p:tgtEl>
                                        <p:attrNameLst>
                                          <p:attrName>style.visibility</p:attrName>
                                        </p:attrNameLst>
                                      </p:cBhvr>
                                      <p:to>
                                        <p:strVal val="visible"/>
                                      </p:to>
                                    </p:set>
                                    <p:anim calcmode="lin" valueType="num">
                                      <p:cBhvr>
                                        <p:cTn id="73" dur="500" fill="hold"/>
                                        <p:tgtEl>
                                          <p:spTgt spid="46107"/>
                                        </p:tgtEl>
                                        <p:attrNameLst>
                                          <p:attrName>ppt_x</p:attrName>
                                        </p:attrNameLst>
                                      </p:cBhvr>
                                      <p:tavLst>
                                        <p:tav tm="0">
                                          <p:val>
                                            <p:strVal val="#ppt_x"/>
                                          </p:val>
                                        </p:tav>
                                        <p:tav tm="100000">
                                          <p:val>
                                            <p:strVal val="#ppt_x"/>
                                          </p:val>
                                        </p:tav>
                                      </p:tavLst>
                                    </p:anim>
                                    <p:anim calcmode="lin" valueType="num">
                                      <p:cBhvr>
                                        <p:cTn id="74" dur="500" fill="hold"/>
                                        <p:tgtEl>
                                          <p:spTgt spid="46107"/>
                                        </p:tgtEl>
                                        <p:attrNameLst>
                                          <p:attrName>ppt_y</p:attrName>
                                        </p:attrNameLst>
                                      </p:cBhvr>
                                      <p:tavLst>
                                        <p:tav tm="0">
                                          <p:val>
                                            <p:strVal val="#ppt_y-#ppt_h/2"/>
                                          </p:val>
                                        </p:tav>
                                        <p:tav tm="100000">
                                          <p:val>
                                            <p:strVal val="#ppt_y"/>
                                          </p:val>
                                        </p:tav>
                                      </p:tavLst>
                                    </p:anim>
                                    <p:anim calcmode="lin" valueType="num">
                                      <p:cBhvr>
                                        <p:cTn id="75" dur="500" fill="hold"/>
                                        <p:tgtEl>
                                          <p:spTgt spid="46107"/>
                                        </p:tgtEl>
                                        <p:attrNameLst>
                                          <p:attrName>ppt_w</p:attrName>
                                        </p:attrNameLst>
                                      </p:cBhvr>
                                      <p:tavLst>
                                        <p:tav tm="0">
                                          <p:val>
                                            <p:strVal val="#ppt_w"/>
                                          </p:val>
                                        </p:tav>
                                        <p:tav tm="100000">
                                          <p:val>
                                            <p:strVal val="#ppt_w"/>
                                          </p:val>
                                        </p:tav>
                                      </p:tavLst>
                                    </p:anim>
                                    <p:anim calcmode="lin" valueType="num">
                                      <p:cBhvr>
                                        <p:cTn id="76" dur="500" fill="hold"/>
                                        <p:tgtEl>
                                          <p:spTgt spid="4610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101" grpId="0" animBg="1" autoUpdateAnimBg="0"/>
      <p:bldP spid="46105" grpId="0" animBg="1" autoUpdateAnimBg="0"/>
      <p:bldP spid="2" grpId="0"/>
      <p:bldP spid="12" grpId="0"/>
      <p:bldP spid="16" grpId="0" animBg="1"/>
      <p:bldP spid="97"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4" name="Text Box 4">
            <a:extLst>
              <a:ext uri="{FF2B5EF4-FFF2-40B4-BE49-F238E27FC236}">
                <a16:creationId xmlns:a16="http://schemas.microsoft.com/office/drawing/2014/main" id="{0C559EB6-38B2-4772-BA17-E042EA839CE0}"/>
              </a:ext>
            </a:extLst>
          </p:cNvPr>
          <p:cNvSpPr txBox="1">
            <a:spLocks noChangeArrowheads="1"/>
          </p:cNvSpPr>
          <p:nvPr/>
        </p:nvSpPr>
        <p:spPr bwMode="auto">
          <a:xfrm>
            <a:off x="539552" y="1201365"/>
            <a:ext cx="72327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0" i="0" dirty="0">
                <a:solidFill>
                  <a:srgbClr val="FF0000"/>
                </a:solidFill>
                <a:latin typeface="黑体" panose="02010609060101010101" pitchFamily="49" charset="-122"/>
                <a:ea typeface="黑体" panose="02010609060101010101" pitchFamily="49" charset="-122"/>
              </a:rPr>
              <a:t>例</a:t>
            </a:r>
            <a:r>
              <a:rPr lang="en-US" altLang="zh-CN" sz="2800" b="0" i="0" dirty="0">
                <a:solidFill>
                  <a:srgbClr val="FF0000"/>
                </a:solidFill>
                <a:latin typeface="黑体" panose="02010609060101010101" pitchFamily="49" charset="-122"/>
                <a:ea typeface="黑体" panose="02010609060101010101" pitchFamily="49" charset="-122"/>
              </a:rPr>
              <a:t>:</a:t>
            </a:r>
          </a:p>
        </p:txBody>
      </p:sp>
      <p:sp>
        <p:nvSpPr>
          <p:cNvPr id="46101" name="Text Box 21">
            <a:extLst>
              <a:ext uri="{FF2B5EF4-FFF2-40B4-BE49-F238E27FC236}">
                <a16:creationId xmlns:a16="http://schemas.microsoft.com/office/drawing/2014/main" id="{152C7AA3-360F-4F05-9F69-630F226CC630}"/>
              </a:ext>
            </a:extLst>
          </p:cNvPr>
          <p:cNvSpPr txBox="1">
            <a:spLocks noChangeArrowheads="1"/>
          </p:cNvSpPr>
          <p:nvPr/>
        </p:nvSpPr>
        <p:spPr bwMode="auto">
          <a:xfrm>
            <a:off x="4352727" y="2921078"/>
            <a:ext cx="1371600" cy="584775"/>
          </a:xfrm>
          <a:prstGeom prst="rect">
            <a:avLst/>
          </a:prstGeom>
          <a:solidFill>
            <a:srgbClr val="CCFFFF">
              <a:alpha val="50195"/>
            </a:srgbClr>
          </a:solidFill>
          <a:ln w="25400" cap="sq">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b="1" i="0">
                <a:solidFill>
                  <a:srgbClr val="006666"/>
                </a:solidFill>
                <a:latin typeface="Times New Roman" panose="02020603050405020304" pitchFamily="18" charset="0"/>
              </a:rPr>
              <a:t>a</a:t>
            </a:r>
            <a:endParaRPr lang="en-US" altLang="zh-CN" i="0">
              <a:latin typeface="Times New Roman" panose="02020603050405020304" pitchFamily="18" charset="0"/>
            </a:endParaRPr>
          </a:p>
        </p:txBody>
      </p:sp>
      <p:sp>
        <p:nvSpPr>
          <p:cNvPr id="46102" name="Line 22">
            <a:extLst>
              <a:ext uri="{FF2B5EF4-FFF2-40B4-BE49-F238E27FC236}">
                <a16:creationId xmlns:a16="http://schemas.microsoft.com/office/drawing/2014/main" id="{CF980522-E3F1-4DD6-BBC1-0B2C9A66BE84}"/>
              </a:ext>
            </a:extLst>
          </p:cNvPr>
          <p:cNvSpPr>
            <a:spLocks noChangeShapeType="1"/>
          </p:cNvSpPr>
          <p:nvPr/>
        </p:nvSpPr>
        <p:spPr bwMode="auto">
          <a:xfrm flipH="1">
            <a:off x="4733727" y="2921078"/>
            <a:ext cx="0" cy="558225"/>
          </a:xfrm>
          <a:prstGeom prst="line">
            <a:avLst/>
          </a:prstGeom>
          <a:noFill/>
          <a:ln w="12700"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i="0"/>
          </a:p>
        </p:txBody>
      </p:sp>
      <p:sp>
        <p:nvSpPr>
          <p:cNvPr id="46103" name="Line 23">
            <a:extLst>
              <a:ext uri="{FF2B5EF4-FFF2-40B4-BE49-F238E27FC236}">
                <a16:creationId xmlns:a16="http://schemas.microsoft.com/office/drawing/2014/main" id="{6E1082B7-6CF0-4EFD-81C2-18C07B0F42E0}"/>
              </a:ext>
            </a:extLst>
          </p:cNvPr>
          <p:cNvSpPr>
            <a:spLocks noChangeShapeType="1"/>
          </p:cNvSpPr>
          <p:nvPr/>
        </p:nvSpPr>
        <p:spPr bwMode="auto">
          <a:xfrm flipH="1">
            <a:off x="5325985" y="2921078"/>
            <a:ext cx="17342" cy="584775"/>
          </a:xfrm>
          <a:prstGeom prst="line">
            <a:avLst/>
          </a:prstGeom>
          <a:noFill/>
          <a:ln w="12700"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i="0"/>
          </a:p>
        </p:txBody>
      </p:sp>
      <p:sp>
        <p:nvSpPr>
          <p:cNvPr id="46104" name="Line 24">
            <a:extLst>
              <a:ext uri="{FF2B5EF4-FFF2-40B4-BE49-F238E27FC236}">
                <a16:creationId xmlns:a16="http://schemas.microsoft.com/office/drawing/2014/main" id="{2CE138B1-D348-4218-B6FA-948CB208ACBA}"/>
              </a:ext>
            </a:extLst>
          </p:cNvPr>
          <p:cNvSpPr>
            <a:spLocks noChangeShapeType="1"/>
          </p:cNvSpPr>
          <p:nvPr/>
        </p:nvSpPr>
        <p:spPr bwMode="auto">
          <a:xfrm>
            <a:off x="4606727" y="2564904"/>
            <a:ext cx="431800" cy="356174"/>
          </a:xfrm>
          <a:prstGeom prst="line">
            <a:avLst/>
          </a:prstGeom>
          <a:noFill/>
          <a:ln w="31750" cap="sq">
            <a:solidFill>
              <a:srgbClr val="0033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i="0"/>
          </a:p>
        </p:txBody>
      </p:sp>
      <p:sp>
        <p:nvSpPr>
          <p:cNvPr id="46105" name="Text Box 25">
            <a:extLst>
              <a:ext uri="{FF2B5EF4-FFF2-40B4-BE49-F238E27FC236}">
                <a16:creationId xmlns:a16="http://schemas.microsoft.com/office/drawing/2014/main" id="{8653A572-808D-492F-8926-D281FF673069}"/>
              </a:ext>
            </a:extLst>
          </p:cNvPr>
          <p:cNvSpPr txBox="1">
            <a:spLocks noChangeArrowheads="1"/>
          </p:cNvSpPr>
          <p:nvPr/>
        </p:nvSpPr>
        <p:spPr bwMode="auto">
          <a:xfrm>
            <a:off x="2600127" y="3911678"/>
            <a:ext cx="1371600" cy="584775"/>
          </a:xfrm>
          <a:prstGeom prst="rect">
            <a:avLst/>
          </a:prstGeom>
          <a:solidFill>
            <a:srgbClr val="CCFFFF">
              <a:alpha val="50195"/>
            </a:srgbClr>
          </a:solidFill>
          <a:ln w="25400" cap="sq">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b="1" i="0">
                <a:solidFill>
                  <a:srgbClr val="006666"/>
                </a:solidFill>
                <a:latin typeface="Times New Roman" panose="02020603050405020304" pitchFamily="18" charset="0"/>
              </a:rPr>
              <a:t>b</a:t>
            </a:r>
            <a:endParaRPr lang="en-US" altLang="zh-CN" i="0">
              <a:latin typeface="Times New Roman" panose="02020603050405020304" pitchFamily="18" charset="0"/>
            </a:endParaRPr>
          </a:p>
        </p:txBody>
      </p:sp>
      <p:sp>
        <p:nvSpPr>
          <p:cNvPr id="46106" name="Line 26">
            <a:extLst>
              <a:ext uri="{FF2B5EF4-FFF2-40B4-BE49-F238E27FC236}">
                <a16:creationId xmlns:a16="http://schemas.microsoft.com/office/drawing/2014/main" id="{39EE7A3A-C8C8-46F3-AE62-CB118B53EDEF}"/>
              </a:ext>
            </a:extLst>
          </p:cNvPr>
          <p:cNvSpPr>
            <a:spLocks noChangeShapeType="1"/>
          </p:cNvSpPr>
          <p:nvPr/>
        </p:nvSpPr>
        <p:spPr bwMode="auto">
          <a:xfrm>
            <a:off x="2981127" y="3911678"/>
            <a:ext cx="0" cy="584775"/>
          </a:xfrm>
          <a:prstGeom prst="line">
            <a:avLst/>
          </a:prstGeom>
          <a:noFill/>
          <a:ln w="12700"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i="0"/>
          </a:p>
        </p:txBody>
      </p:sp>
      <p:sp>
        <p:nvSpPr>
          <p:cNvPr id="46107" name="Line 27">
            <a:extLst>
              <a:ext uri="{FF2B5EF4-FFF2-40B4-BE49-F238E27FC236}">
                <a16:creationId xmlns:a16="http://schemas.microsoft.com/office/drawing/2014/main" id="{51FFBDDB-6687-4590-8BC6-CF8E6D937CB0}"/>
              </a:ext>
            </a:extLst>
          </p:cNvPr>
          <p:cNvSpPr>
            <a:spLocks noChangeShapeType="1"/>
          </p:cNvSpPr>
          <p:nvPr/>
        </p:nvSpPr>
        <p:spPr bwMode="auto">
          <a:xfrm flipH="1">
            <a:off x="3590726" y="3911678"/>
            <a:ext cx="1" cy="609600"/>
          </a:xfrm>
          <a:prstGeom prst="line">
            <a:avLst/>
          </a:prstGeom>
          <a:noFill/>
          <a:ln w="12700"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i="0"/>
          </a:p>
        </p:txBody>
      </p:sp>
      <p:sp>
        <p:nvSpPr>
          <p:cNvPr id="46108" name="Line 28">
            <a:extLst>
              <a:ext uri="{FF2B5EF4-FFF2-40B4-BE49-F238E27FC236}">
                <a16:creationId xmlns:a16="http://schemas.microsoft.com/office/drawing/2014/main" id="{37F2D178-152F-4030-935D-131BA05E85D1}"/>
              </a:ext>
            </a:extLst>
          </p:cNvPr>
          <p:cNvSpPr>
            <a:spLocks noChangeShapeType="1"/>
          </p:cNvSpPr>
          <p:nvPr/>
        </p:nvSpPr>
        <p:spPr bwMode="auto">
          <a:xfrm flipH="1">
            <a:off x="3285927" y="3302078"/>
            <a:ext cx="1295400" cy="609600"/>
          </a:xfrm>
          <a:prstGeom prst="line">
            <a:avLst/>
          </a:prstGeom>
          <a:noFill/>
          <a:ln w="31750" cap="sq">
            <a:solidFill>
              <a:srgbClr val="00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i="0"/>
          </a:p>
        </p:txBody>
      </p:sp>
      <p:sp>
        <p:nvSpPr>
          <p:cNvPr id="46109" name="Text Box 29">
            <a:extLst>
              <a:ext uri="{FF2B5EF4-FFF2-40B4-BE49-F238E27FC236}">
                <a16:creationId xmlns:a16="http://schemas.microsoft.com/office/drawing/2014/main" id="{372907E5-4647-4046-B617-125BE061168B}"/>
              </a:ext>
            </a:extLst>
          </p:cNvPr>
          <p:cNvSpPr txBox="1">
            <a:spLocks noChangeArrowheads="1"/>
          </p:cNvSpPr>
          <p:nvPr/>
        </p:nvSpPr>
        <p:spPr bwMode="auto">
          <a:xfrm>
            <a:off x="1609527" y="5054678"/>
            <a:ext cx="1371600" cy="584775"/>
          </a:xfrm>
          <a:prstGeom prst="rect">
            <a:avLst/>
          </a:prstGeom>
          <a:solidFill>
            <a:srgbClr val="CCFFFF">
              <a:alpha val="50195"/>
            </a:srgbClr>
          </a:solidFill>
          <a:ln w="25400" cap="sq">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b="1" i="0">
                <a:solidFill>
                  <a:srgbClr val="006666"/>
                </a:solidFill>
                <a:latin typeface="Times New Roman" panose="02020603050405020304" pitchFamily="18" charset="0"/>
              </a:rPr>
              <a:t>c</a:t>
            </a:r>
            <a:endParaRPr lang="en-US" altLang="zh-CN" i="0">
              <a:latin typeface="Times New Roman" panose="02020603050405020304" pitchFamily="18" charset="0"/>
            </a:endParaRPr>
          </a:p>
        </p:txBody>
      </p:sp>
      <p:sp>
        <p:nvSpPr>
          <p:cNvPr id="46110" name="Line 30">
            <a:extLst>
              <a:ext uri="{FF2B5EF4-FFF2-40B4-BE49-F238E27FC236}">
                <a16:creationId xmlns:a16="http://schemas.microsoft.com/office/drawing/2014/main" id="{82303E6D-4DA5-4D41-A7B5-A7DBC63697D7}"/>
              </a:ext>
            </a:extLst>
          </p:cNvPr>
          <p:cNvSpPr>
            <a:spLocks noChangeShapeType="1"/>
          </p:cNvSpPr>
          <p:nvPr/>
        </p:nvSpPr>
        <p:spPr bwMode="auto">
          <a:xfrm flipH="1">
            <a:off x="1990522" y="5054678"/>
            <a:ext cx="3" cy="584775"/>
          </a:xfrm>
          <a:prstGeom prst="line">
            <a:avLst/>
          </a:prstGeom>
          <a:noFill/>
          <a:ln w="12700"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i="0"/>
          </a:p>
        </p:txBody>
      </p:sp>
      <p:sp>
        <p:nvSpPr>
          <p:cNvPr id="46111" name="Line 31">
            <a:extLst>
              <a:ext uri="{FF2B5EF4-FFF2-40B4-BE49-F238E27FC236}">
                <a16:creationId xmlns:a16="http://schemas.microsoft.com/office/drawing/2014/main" id="{3488E80E-4502-40BF-9530-F49014589E18}"/>
              </a:ext>
            </a:extLst>
          </p:cNvPr>
          <p:cNvSpPr>
            <a:spLocks noChangeShapeType="1"/>
          </p:cNvSpPr>
          <p:nvPr/>
        </p:nvSpPr>
        <p:spPr bwMode="auto">
          <a:xfrm flipH="1">
            <a:off x="2555776" y="5054678"/>
            <a:ext cx="3" cy="584775"/>
          </a:xfrm>
          <a:prstGeom prst="line">
            <a:avLst/>
          </a:prstGeom>
          <a:noFill/>
          <a:ln w="12700"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i="0"/>
          </a:p>
        </p:txBody>
      </p:sp>
      <p:sp>
        <p:nvSpPr>
          <p:cNvPr id="46112" name="Line 32">
            <a:extLst>
              <a:ext uri="{FF2B5EF4-FFF2-40B4-BE49-F238E27FC236}">
                <a16:creationId xmlns:a16="http://schemas.microsoft.com/office/drawing/2014/main" id="{11E83441-3714-4382-A544-C1708CB18405}"/>
              </a:ext>
            </a:extLst>
          </p:cNvPr>
          <p:cNvSpPr>
            <a:spLocks noChangeShapeType="1"/>
          </p:cNvSpPr>
          <p:nvPr/>
        </p:nvSpPr>
        <p:spPr bwMode="auto">
          <a:xfrm flipH="1">
            <a:off x="2295327" y="4292678"/>
            <a:ext cx="533400" cy="762000"/>
          </a:xfrm>
          <a:prstGeom prst="line">
            <a:avLst/>
          </a:prstGeom>
          <a:noFill/>
          <a:ln w="31750" cap="sq">
            <a:solidFill>
              <a:srgbClr val="00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i="0"/>
          </a:p>
        </p:txBody>
      </p:sp>
      <p:sp>
        <p:nvSpPr>
          <p:cNvPr id="46129" name="Text Box 49">
            <a:extLst>
              <a:ext uri="{FF2B5EF4-FFF2-40B4-BE49-F238E27FC236}">
                <a16:creationId xmlns:a16="http://schemas.microsoft.com/office/drawing/2014/main" id="{527A21AA-0684-4938-9387-8314B5A9FA7F}"/>
              </a:ext>
            </a:extLst>
          </p:cNvPr>
          <p:cNvSpPr txBox="1">
            <a:spLocks noChangeArrowheads="1"/>
          </p:cNvSpPr>
          <p:nvPr/>
        </p:nvSpPr>
        <p:spPr bwMode="auto">
          <a:xfrm>
            <a:off x="1547664" y="5130878"/>
            <a:ext cx="38292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b="1" i="0">
                <a:solidFill>
                  <a:srgbClr val="006666"/>
                </a:solidFill>
                <a:latin typeface="Times New Roman" panose="02020603050405020304" pitchFamily="18" charset="0"/>
              </a:rPr>
              <a:t>^</a:t>
            </a:r>
            <a:endParaRPr lang="en-US" altLang="zh-CN" i="0">
              <a:latin typeface="Times New Roman" panose="02020603050405020304" pitchFamily="18" charset="0"/>
            </a:endParaRPr>
          </a:p>
        </p:txBody>
      </p:sp>
      <p:sp>
        <p:nvSpPr>
          <p:cNvPr id="46130" name="Text Box 50">
            <a:extLst>
              <a:ext uri="{FF2B5EF4-FFF2-40B4-BE49-F238E27FC236}">
                <a16:creationId xmlns:a16="http://schemas.microsoft.com/office/drawing/2014/main" id="{5044A9B0-9B55-406E-9D08-B3720947C984}"/>
              </a:ext>
            </a:extLst>
          </p:cNvPr>
          <p:cNvSpPr txBox="1">
            <a:spLocks noChangeArrowheads="1"/>
          </p:cNvSpPr>
          <p:nvPr/>
        </p:nvSpPr>
        <p:spPr bwMode="auto">
          <a:xfrm>
            <a:off x="2607207" y="5085184"/>
            <a:ext cx="30860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b="1" i="0" dirty="0">
                <a:solidFill>
                  <a:srgbClr val="006666"/>
                </a:solidFill>
                <a:latin typeface="Times New Roman" panose="02020603050405020304" pitchFamily="18" charset="0"/>
              </a:rPr>
              <a:t>^</a:t>
            </a:r>
            <a:endParaRPr lang="en-US" altLang="zh-CN" i="0" dirty="0">
              <a:latin typeface="Times New Roman" panose="02020603050405020304" pitchFamily="18" charset="0"/>
            </a:endParaRPr>
          </a:p>
        </p:txBody>
      </p:sp>
      <p:sp>
        <p:nvSpPr>
          <p:cNvPr id="66621" name="Text Box 61">
            <a:extLst>
              <a:ext uri="{FF2B5EF4-FFF2-40B4-BE49-F238E27FC236}">
                <a16:creationId xmlns:a16="http://schemas.microsoft.com/office/drawing/2014/main" id="{ABC7DCA6-3C0A-4FCB-8D70-FDE5E9D4D92E}"/>
              </a:ext>
            </a:extLst>
          </p:cNvPr>
          <p:cNvSpPr txBox="1">
            <a:spLocks noChangeArrowheads="1"/>
          </p:cNvSpPr>
          <p:nvPr/>
        </p:nvSpPr>
        <p:spPr bwMode="auto">
          <a:xfrm>
            <a:off x="6584752" y="1217240"/>
            <a:ext cx="2035175" cy="10070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10000"/>
              </a:lnSpc>
              <a:spcBef>
                <a:spcPts val="0"/>
              </a:spcBef>
              <a:buClrTx/>
              <a:buSzTx/>
              <a:buFont typeface="Arial" panose="020B0604020202020204" pitchFamily="34" charset="0"/>
              <a:buNone/>
            </a:pPr>
            <a:r>
              <a:rPr lang="zh-CN" altLang="en-US" sz="2800" i="0" dirty="0">
                <a:solidFill>
                  <a:srgbClr val="FF3300"/>
                </a:solidFill>
                <a:latin typeface="Times New Roman" panose="02020603050405020304" pitchFamily="18" charset="0"/>
                <a:ea typeface="楷体_GB2312" pitchFamily="1" charset="-122"/>
              </a:rPr>
              <a:t>先序序列</a:t>
            </a:r>
            <a:endParaRPr lang="en-US" altLang="zh-CN" sz="2800" i="0" dirty="0">
              <a:solidFill>
                <a:srgbClr val="FF3300"/>
              </a:solidFill>
              <a:latin typeface="Times New Roman" panose="02020603050405020304" pitchFamily="18" charset="0"/>
              <a:ea typeface="楷体_GB2312" pitchFamily="1" charset="-122"/>
            </a:endParaRPr>
          </a:p>
          <a:p>
            <a:pPr eaLnBrk="1" hangingPunct="1">
              <a:lnSpc>
                <a:spcPct val="110000"/>
              </a:lnSpc>
              <a:spcBef>
                <a:spcPts val="0"/>
              </a:spcBef>
              <a:buClrTx/>
              <a:buSzTx/>
              <a:buFont typeface="Arial" panose="020B0604020202020204" pitchFamily="34" charset="0"/>
              <a:buNone/>
            </a:pPr>
            <a:r>
              <a:rPr lang="zh-CN" altLang="en-US" sz="2800" i="0" dirty="0">
                <a:solidFill>
                  <a:srgbClr val="800000"/>
                </a:solidFill>
                <a:latin typeface="Times New Roman" panose="02020603050405020304" pitchFamily="18" charset="0"/>
                <a:ea typeface="楷体_GB2312" pitchFamily="1" charset="-122"/>
              </a:rPr>
              <a:t>中序序列</a:t>
            </a:r>
            <a:endParaRPr lang="zh-CN" altLang="en-US" sz="2800" i="0" dirty="0">
              <a:latin typeface="Times New Roman" panose="02020603050405020304" pitchFamily="18" charset="0"/>
            </a:endParaRPr>
          </a:p>
        </p:txBody>
      </p:sp>
      <p:sp>
        <p:nvSpPr>
          <p:cNvPr id="2" name="文本框 1">
            <a:extLst>
              <a:ext uri="{FF2B5EF4-FFF2-40B4-BE49-F238E27FC236}">
                <a16:creationId xmlns:a16="http://schemas.microsoft.com/office/drawing/2014/main" id="{CC5032BE-C01C-4ECF-84B9-D192B9950E1E}"/>
              </a:ext>
            </a:extLst>
          </p:cNvPr>
          <p:cNvSpPr txBox="1"/>
          <p:nvPr/>
        </p:nvSpPr>
        <p:spPr>
          <a:xfrm>
            <a:off x="1475656" y="1188042"/>
            <a:ext cx="485491" cy="584775"/>
          </a:xfrm>
          <a:prstGeom prst="rect">
            <a:avLst/>
          </a:prstGeom>
          <a:noFill/>
        </p:spPr>
        <p:txBody>
          <a:bodyPr wrap="square" rtlCol="0">
            <a:spAutoFit/>
          </a:bodyPr>
          <a:lstStyle/>
          <a:p>
            <a:r>
              <a:rPr lang="en-US" altLang="zh-CN" sz="3200" dirty="0">
                <a:solidFill>
                  <a:srgbClr val="FF0000"/>
                </a:solidFill>
              </a:rPr>
              <a:t>a</a:t>
            </a:r>
            <a:endParaRPr lang="zh-CN" altLang="en-US" sz="3200" dirty="0">
              <a:solidFill>
                <a:srgbClr val="FF0000"/>
              </a:solidFill>
            </a:endParaRPr>
          </a:p>
        </p:txBody>
      </p:sp>
      <p:sp>
        <p:nvSpPr>
          <p:cNvPr id="3" name="文本框 2">
            <a:extLst>
              <a:ext uri="{FF2B5EF4-FFF2-40B4-BE49-F238E27FC236}">
                <a16:creationId xmlns:a16="http://schemas.microsoft.com/office/drawing/2014/main" id="{DB29FE6D-C0E5-4E69-92E2-6FAEC549C40C}"/>
              </a:ext>
            </a:extLst>
          </p:cNvPr>
          <p:cNvSpPr txBox="1"/>
          <p:nvPr/>
        </p:nvSpPr>
        <p:spPr>
          <a:xfrm>
            <a:off x="1961147" y="1188042"/>
            <a:ext cx="334180" cy="584775"/>
          </a:xfrm>
          <a:prstGeom prst="rect">
            <a:avLst/>
          </a:prstGeom>
          <a:noFill/>
        </p:spPr>
        <p:txBody>
          <a:bodyPr wrap="square" rtlCol="0">
            <a:spAutoFit/>
          </a:bodyPr>
          <a:lstStyle/>
          <a:p>
            <a:r>
              <a:rPr lang="en-US" altLang="zh-CN" sz="3200" dirty="0">
                <a:solidFill>
                  <a:srgbClr val="FF0000"/>
                </a:solidFill>
              </a:rPr>
              <a:t>b</a:t>
            </a:r>
            <a:endParaRPr lang="zh-CN" altLang="en-US" sz="3200" dirty="0">
              <a:solidFill>
                <a:srgbClr val="FF0000"/>
              </a:solidFill>
            </a:endParaRPr>
          </a:p>
        </p:txBody>
      </p:sp>
      <p:sp>
        <p:nvSpPr>
          <p:cNvPr id="4" name="文本框 3">
            <a:extLst>
              <a:ext uri="{FF2B5EF4-FFF2-40B4-BE49-F238E27FC236}">
                <a16:creationId xmlns:a16="http://schemas.microsoft.com/office/drawing/2014/main" id="{C5DF4925-EC42-447F-B3EB-A052D0E33689}"/>
              </a:ext>
            </a:extLst>
          </p:cNvPr>
          <p:cNvSpPr txBox="1"/>
          <p:nvPr/>
        </p:nvSpPr>
        <p:spPr>
          <a:xfrm>
            <a:off x="2411760" y="1196752"/>
            <a:ext cx="485491" cy="584775"/>
          </a:xfrm>
          <a:prstGeom prst="rect">
            <a:avLst/>
          </a:prstGeom>
          <a:noFill/>
        </p:spPr>
        <p:txBody>
          <a:bodyPr wrap="square" rtlCol="0">
            <a:spAutoFit/>
          </a:bodyPr>
          <a:lstStyle/>
          <a:p>
            <a:r>
              <a:rPr lang="en-US" altLang="zh-CN" sz="3200" dirty="0"/>
              <a:t>c</a:t>
            </a:r>
            <a:endParaRPr lang="zh-CN" altLang="en-US" sz="3200" dirty="0"/>
          </a:p>
        </p:txBody>
      </p:sp>
      <p:sp>
        <p:nvSpPr>
          <p:cNvPr id="5" name="文本框 4">
            <a:extLst>
              <a:ext uri="{FF2B5EF4-FFF2-40B4-BE49-F238E27FC236}">
                <a16:creationId xmlns:a16="http://schemas.microsoft.com/office/drawing/2014/main" id="{C0828F6C-F1B7-4016-81E0-5FC77C6574D0}"/>
              </a:ext>
            </a:extLst>
          </p:cNvPr>
          <p:cNvSpPr txBox="1"/>
          <p:nvPr/>
        </p:nvSpPr>
        <p:spPr>
          <a:xfrm>
            <a:off x="3059832" y="1196752"/>
            <a:ext cx="485491" cy="584775"/>
          </a:xfrm>
          <a:prstGeom prst="rect">
            <a:avLst/>
          </a:prstGeom>
          <a:noFill/>
        </p:spPr>
        <p:txBody>
          <a:bodyPr wrap="square" rtlCol="0">
            <a:spAutoFit/>
          </a:bodyPr>
          <a:lstStyle/>
          <a:p>
            <a:r>
              <a:rPr lang="en-US" altLang="zh-CN" sz="3200" dirty="0"/>
              <a:t>d</a:t>
            </a:r>
            <a:endParaRPr lang="zh-CN" altLang="en-US" sz="3200" dirty="0"/>
          </a:p>
        </p:txBody>
      </p:sp>
      <p:sp>
        <p:nvSpPr>
          <p:cNvPr id="6" name="文本框 5">
            <a:extLst>
              <a:ext uri="{FF2B5EF4-FFF2-40B4-BE49-F238E27FC236}">
                <a16:creationId xmlns:a16="http://schemas.microsoft.com/office/drawing/2014/main" id="{4A430B93-0C16-4D10-8A80-CC1E9877C0C9}"/>
              </a:ext>
            </a:extLst>
          </p:cNvPr>
          <p:cNvSpPr txBox="1"/>
          <p:nvPr/>
        </p:nvSpPr>
        <p:spPr>
          <a:xfrm>
            <a:off x="3779912" y="1196752"/>
            <a:ext cx="485491" cy="584775"/>
          </a:xfrm>
          <a:prstGeom prst="rect">
            <a:avLst/>
          </a:prstGeom>
          <a:noFill/>
        </p:spPr>
        <p:txBody>
          <a:bodyPr wrap="square" rtlCol="0">
            <a:spAutoFit/>
          </a:bodyPr>
          <a:lstStyle/>
          <a:p>
            <a:r>
              <a:rPr lang="en-US" altLang="zh-CN" sz="3200" dirty="0"/>
              <a:t>e</a:t>
            </a:r>
            <a:endParaRPr lang="zh-CN" altLang="en-US" sz="3200" dirty="0"/>
          </a:p>
        </p:txBody>
      </p:sp>
      <p:sp>
        <p:nvSpPr>
          <p:cNvPr id="7" name="文本框 6">
            <a:extLst>
              <a:ext uri="{FF2B5EF4-FFF2-40B4-BE49-F238E27FC236}">
                <a16:creationId xmlns:a16="http://schemas.microsoft.com/office/drawing/2014/main" id="{0B277E6F-D1BE-4F33-85FC-0A7C6430FBF8}"/>
              </a:ext>
            </a:extLst>
          </p:cNvPr>
          <p:cNvSpPr txBox="1"/>
          <p:nvPr/>
        </p:nvSpPr>
        <p:spPr>
          <a:xfrm>
            <a:off x="5105077" y="1196751"/>
            <a:ext cx="485491" cy="584775"/>
          </a:xfrm>
          <a:prstGeom prst="rect">
            <a:avLst/>
          </a:prstGeom>
          <a:noFill/>
        </p:spPr>
        <p:txBody>
          <a:bodyPr wrap="square" rtlCol="0">
            <a:spAutoFit/>
          </a:bodyPr>
          <a:lstStyle/>
          <a:p>
            <a:r>
              <a:rPr lang="en-US" altLang="zh-CN" sz="3200" dirty="0"/>
              <a:t>g</a:t>
            </a:r>
            <a:endParaRPr lang="zh-CN" altLang="en-US" sz="3200" dirty="0"/>
          </a:p>
        </p:txBody>
      </p:sp>
      <p:sp>
        <p:nvSpPr>
          <p:cNvPr id="8" name="文本框 7">
            <a:extLst>
              <a:ext uri="{FF2B5EF4-FFF2-40B4-BE49-F238E27FC236}">
                <a16:creationId xmlns:a16="http://schemas.microsoft.com/office/drawing/2014/main" id="{7AA4CF9B-AE4A-4B1C-9D4C-7A375DB1E1CB}"/>
              </a:ext>
            </a:extLst>
          </p:cNvPr>
          <p:cNvSpPr txBox="1"/>
          <p:nvPr/>
        </p:nvSpPr>
        <p:spPr>
          <a:xfrm>
            <a:off x="4395536" y="1205716"/>
            <a:ext cx="485491" cy="584775"/>
          </a:xfrm>
          <a:prstGeom prst="rect">
            <a:avLst/>
          </a:prstGeom>
          <a:noFill/>
        </p:spPr>
        <p:txBody>
          <a:bodyPr wrap="square" rtlCol="0">
            <a:spAutoFit/>
          </a:bodyPr>
          <a:lstStyle/>
          <a:p>
            <a:r>
              <a:rPr lang="en-US" altLang="zh-CN" sz="3200" dirty="0"/>
              <a:t>f</a:t>
            </a:r>
            <a:endParaRPr lang="zh-CN" altLang="en-US" sz="3200" dirty="0"/>
          </a:p>
        </p:txBody>
      </p:sp>
      <p:sp>
        <p:nvSpPr>
          <p:cNvPr id="9" name="文本框 8">
            <a:extLst>
              <a:ext uri="{FF2B5EF4-FFF2-40B4-BE49-F238E27FC236}">
                <a16:creationId xmlns:a16="http://schemas.microsoft.com/office/drawing/2014/main" id="{BCF8657D-29E3-45F0-8144-752061311D15}"/>
              </a:ext>
            </a:extLst>
          </p:cNvPr>
          <p:cNvSpPr txBox="1"/>
          <p:nvPr/>
        </p:nvSpPr>
        <p:spPr>
          <a:xfrm>
            <a:off x="1403648" y="1674423"/>
            <a:ext cx="485491" cy="584775"/>
          </a:xfrm>
          <a:prstGeom prst="rect">
            <a:avLst/>
          </a:prstGeom>
          <a:noFill/>
        </p:spPr>
        <p:txBody>
          <a:bodyPr wrap="square" rtlCol="0">
            <a:spAutoFit/>
          </a:bodyPr>
          <a:lstStyle/>
          <a:p>
            <a:r>
              <a:rPr lang="en-US" altLang="zh-CN" sz="3200" dirty="0"/>
              <a:t>c</a:t>
            </a:r>
            <a:endParaRPr lang="zh-CN" altLang="en-US" sz="3200" dirty="0"/>
          </a:p>
        </p:txBody>
      </p:sp>
      <p:sp>
        <p:nvSpPr>
          <p:cNvPr id="10" name="文本框 9">
            <a:extLst>
              <a:ext uri="{FF2B5EF4-FFF2-40B4-BE49-F238E27FC236}">
                <a16:creationId xmlns:a16="http://schemas.microsoft.com/office/drawing/2014/main" id="{A4B551A1-62F8-4510-B482-74912686A85F}"/>
              </a:ext>
            </a:extLst>
          </p:cNvPr>
          <p:cNvSpPr txBox="1"/>
          <p:nvPr/>
        </p:nvSpPr>
        <p:spPr>
          <a:xfrm>
            <a:off x="1889139" y="1674423"/>
            <a:ext cx="334180" cy="584775"/>
          </a:xfrm>
          <a:prstGeom prst="rect">
            <a:avLst/>
          </a:prstGeom>
          <a:noFill/>
        </p:spPr>
        <p:txBody>
          <a:bodyPr wrap="square" rtlCol="0">
            <a:spAutoFit/>
          </a:bodyPr>
          <a:lstStyle/>
          <a:p>
            <a:r>
              <a:rPr lang="en-US" altLang="zh-CN" sz="3200" dirty="0">
                <a:solidFill>
                  <a:srgbClr val="FF0000"/>
                </a:solidFill>
              </a:rPr>
              <a:t>b</a:t>
            </a:r>
            <a:endParaRPr lang="zh-CN" altLang="en-US" sz="3200" dirty="0">
              <a:solidFill>
                <a:srgbClr val="FF0000"/>
              </a:solidFill>
            </a:endParaRPr>
          </a:p>
        </p:txBody>
      </p:sp>
      <p:sp>
        <p:nvSpPr>
          <p:cNvPr id="11" name="文本框 10">
            <a:extLst>
              <a:ext uri="{FF2B5EF4-FFF2-40B4-BE49-F238E27FC236}">
                <a16:creationId xmlns:a16="http://schemas.microsoft.com/office/drawing/2014/main" id="{0D436EC1-B209-4724-AD41-F48FEB65C3D8}"/>
              </a:ext>
            </a:extLst>
          </p:cNvPr>
          <p:cNvSpPr txBox="1"/>
          <p:nvPr/>
        </p:nvSpPr>
        <p:spPr>
          <a:xfrm>
            <a:off x="2339752" y="1683133"/>
            <a:ext cx="485491" cy="584775"/>
          </a:xfrm>
          <a:prstGeom prst="rect">
            <a:avLst/>
          </a:prstGeom>
          <a:noFill/>
        </p:spPr>
        <p:txBody>
          <a:bodyPr wrap="square" rtlCol="0">
            <a:spAutoFit/>
          </a:bodyPr>
          <a:lstStyle/>
          <a:p>
            <a:r>
              <a:rPr lang="en-US" altLang="zh-CN" sz="3200" dirty="0"/>
              <a:t>d</a:t>
            </a:r>
            <a:endParaRPr lang="zh-CN" altLang="en-US" sz="3200" dirty="0"/>
          </a:p>
        </p:txBody>
      </p:sp>
      <p:sp>
        <p:nvSpPr>
          <p:cNvPr id="12" name="文本框 11">
            <a:extLst>
              <a:ext uri="{FF2B5EF4-FFF2-40B4-BE49-F238E27FC236}">
                <a16:creationId xmlns:a16="http://schemas.microsoft.com/office/drawing/2014/main" id="{9E37AA87-D569-4F90-A1F4-71D534978EE2}"/>
              </a:ext>
            </a:extLst>
          </p:cNvPr>
          <p:cNvSpPr txBox="1"/>
          <p:nvPr/>
        </p:nvSpPr>
        <p:spPr>
          <a:xfrm>
            <a:off x="2987824" y="1683133"/>
            <a:ext cx="485491" cy="584775"/>
          </a:xfrm>
          <a:prstGeom prst="rect">
            <a:avLst/>
          </a:prstGeom>
          <a:noFill/>
        </p:spPr>
        <p:txBody>
          <a:bodyPr wrap="square" rtlCol="0">
            <a:spAutoFit/>
          </a:bodyPr>
          <a:lstStyle/>
          <a:p>
            <a:r>
              <a:rPr lang="en-US" altLang="zh-CN" sz="3200" dirty="0">
                <a:solidFill>
                  <a:srgbClr val="FF0000"/>
                </a:solidFill>
              </a:rPr>
              <a:t>a</a:t>
            </a:r>
            <a:endParaRPr lang="zh-CN" altLang="en-US" sz="3200" dirty="0">
              <a:solidFill>
                <a:srgbClr val="FF0000"/>
              </a:solidFill>
            </a:endParaRPr>
          </a:p>
        </p:txBody>
      </p:sp>
      <p:sp>
        <p:nvSpPr>
          <p:cNvPr id="13" name="文本框 12">
            <a:extLst>
              <a:ext uri="{FF2B5EF4-FFF2-40B4-BE49-F238E27FC236}">
                <a16:creationId xmlns:a16="http://schemas.microsoft.com/office/drawing/2014/main" id="{530246DA-5E6B-46BA-A2AC-0D2D5BC864BC}"/>
              </a:ext>
            </a:extLst>
          </p:cNvPr>
          <p:cNvSpPr txBox="1"/>
          <p:nvPr/>
        </p:nvSpPr>
        <p:spPr>
          <a:xfrm>
            <a:off x="3707904" y="1683133"/>
            <a:ext cx="485491" cy="584775"/>
          </a:xfrm>
          <a:prstGeom prst="rect">
            <a:avLst/>
          </a:prstGeom>
          <a:noFill/>
        </p:spPr>
        <p:txBody>
          <a:bodyPr wrap="square" rtlCol="0">
            <a:spAutoFit/>
          </a:bodyPr>
          <a:lstStyle/>
          <a:p>
            <a:r>
              <a:rPr lang="en-US" altLang="zh-CN" sz="3200" dirty="0"/>
              <a:t>e</a:t>
            </a:r>
            <a:endParaRPr lang="zh-CN" altLang="en-US" sz="3200" dirty="0"/>
          </a:p>
        </p:txBody>
      </p:sp>
      <p:sp>
        <p:nvSpPr>
          <p:cNvPr id="14" name="文本框 13">
            <a:extLst>
              <a:ext uri="{FF2B5EF4-FFF2-40B4-BE49-F238E27FC236}">
                <a16:creationId xmlns:a16="http://schemas.microsoft.com/office/drawing/2014/main" id="{0D1A6EA3-4D12-45A1-B5DA-766C78D0B850}"/>
              </a:ext>
            </a:extLst>
          </p:cNvPr>
          <p:cNvSpPr txBox="1"/>
          <p:nvPr/>
        </p:nvSpPr>
        <p:spPr>
          <a:xfrm>
            <a:off x="5033069" y="1683132"/>
            <a:ext cx="485491" cy="584775"/>
          </a:xfrm>
          <a:prstGeom prst="rect">
            <a:avLst/>
          </a:prstGeom>
          <a:noFill/>
        </p:spPr>
        <p:txBody>
          <a:bodyPr wrap="square" rtlCol="0">
            <a:spAutoFit/>
          </a:bodyPr>
          <a:lstStyle/>
          <a:p>
            <a:r>
              <a:rPr lang="en-US" altLang="zh-CN" sz="3200" dirty="0"/>
              <a:t>f</a:t>
            </a:r>
            <a:endParaRPr lang="zh-CN" altLang="en-US" sz="3200" dirty="0"/>
          </a:p>
        </p:txBody>
      </p:sp>
      <p:sp>
        <p:nvSpPr>
          <p:cNvPr id="15" name="文本框 14">
            <a:extLst>
              <a:ext uri="{FF2B5EF4-FFF2-40B4-BE49-F238E27FC236}">
                <a16:creationId xmlns:a16="http://schemas.microsoft.com/office/drawing/2014/main" id="{7498E209-0327-4EBB-8FC0-5F41930983D3}"/>
              </a:ext>
            </a:extLst>
          </p:cNvPr>
          <p:cNvSpPr txBox="1"/>
          <p:nvPr/>
        </p:nvSpPr>
        <p:spPr>
          <a:xfrm>
            <a:off x="4323528" y="1692097"/>
            <a:ext cx="485491" cy="584775"/>
          </a:xfrm>
          <a:prstGeom prst="rect">
            <a:avLst/>
          </a:prstGeom>
          <a:noFill/>
        </p:spPr>
        <p:txBody>
          <a:bodyPr wrap="square" rtlCol="0">
            <a:spAutoFit/>
          </a:bodyPr>
          <a:lstStyle/>
          <a:p>
            <a:r>
              <a:rPr lang="en-US" altLang="zh-CN" sz="3200" dirty="0"/>
              <a:t>g</a:t>
            </a:r>
            <a:endParaRPr lang="zh-CN" altLang="en-US" sz="3200" dirty="0"/>
          </a:p>
        </p:txBody>
      </p:sp>
      <p:sp>
        <p:nvSpPr>
          <p:cNvPr id="18" name="矩形 17">
            <a:extLst>
              <a:ext uri="{FF2B5EF4-FFF2-40B4-BE49-F238E27FC236}">
                <a16:creationId xmlns:a16="http://schemas.microsoft.com/office/drawing/2014/main" id="{3C5711E7-6992-4D59-B5CB-46C7D6273B58}"/>
              </a:ext>
            </a:extLst>
          </p:cNvPr>
          <p:cNvSpPr/>
          <p:nvPr/>
        </p:nvSpPr>
        <p:spPr bwMode="auto">
          <a:xfrm>
            <a:off x="1403648" y="1772817"/>
            <a:ext cx="355358" cy="495090"/>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1" u="none" strike="noStrike" cap="none" normalizeH="0" baseline="0">
              <a:ln>
                <a:noFill/>
              </a:ln>
              <a:solidFill>
                <a:schemeClr val="tx1"/>
              </a:solidFill>
              <a:effectLst/>
              <a:latin typeface="Times New Roman" pitchFamily="18" charset="0"/>
              <a:ea typeface="宋体" pitchFamily="2" charset="-122"/>
            </a:endParaRPr>
          </a:p>
        </p:txBody>
      </p:sp>
      <p:sp>
        <p:nvSpPr>
          <p:cNvPr id="19" name="矩形 18">
            <a:extLst>
              <a:ext uri="{FF2B5EF4-FFF2-40B4-BE49-F238E27FC236}">
                <a16:creationId xmlns:a16="http://schemas.microsoft.com/office/drawing/2014/main" id="{B9A65BD5-96BC-4A80-B66F-AEAE348104A0}"/>
              </a:ext>
            </a:extLst>
          </p:cNvPr>
          <p:cNvSpPr/>
          <p:nvPr/>
        </p:nvSpPr>
        <p:spPr bwMode="auto">
          <a:xfrm>
            <a:off x="2421647" y="1250558"/>
            <a:ext cx="355358" cy="495090"/>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1" u="none" strike="noStrike" cap="none" normalizeH="0" baseline="0">
              <a:ln>
                <a:noFill/>
              </a:ln>
              <a:solidFill>
                <a:schemeClr val="tx1"/>
              </a:solidFill>
              <a:effectLst/>
              <a:latin typeface="Times New Roman" pitchFamily="18" charset="0"/>
              <a:ea typeface="宋体" pitchFamily="2" charset="-122"/>
            </a:endParaRPr>
          </a:p>
        </p:txBody>
      </p:sp>
      <p:sp>
        <p:nvSpPr>
          <p:cNvPr id="60" name="矩形 59">
            <a:extLst>
              <a:ext uri="{FF2B5EF4-FFF2-40B4-BE49-F238E27FC236}">
                <a16:creationId xmlns:a16="http://schemas.microsoft.com/office/drawing/2014/main" id="{8DCCC757-4988-4465-946F-59725039EDB6}"/>
              </a:ext>
            </a:extLst>
          </p:cNvPr>
          <p:cNvSpPr/>
          <p:nvPr/>
        </p:nvSpPr>
        <p:spPr bwMode="auto">
          <a:xfrm>
            <a:off x="2416442" y="1781782"/>
            <a:ext cx="355358" cy="495090"/>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1" u="none" strike="noStrike" cap="none" normalizeH="0" baseline="0">
              <a:ln>
                <a:noFill/>
              </a:ln>
              <a:solidFill>
                <a:schemeClr val="tx1"/>
              </a:solidFill>
              <a:effectLst/>
              <a:latin typeface="Times New Roman" pitchFamily="18" charset="0"/>
              <a:ea typeface="宋体" pitchFamily="2" charset="-122"/>
            </a:endParaRPr>
          </a:p>
        </p:txBody>
      </p:sp>
      <p:sp>
        <p:nvSpPr>
          <p:cNvPr id="61" name="矩形 60">
            <a:extLst>
              <a:ext uri="{FF2B5EF4-FFF2-40B4-BE49-F238E27FC236}">
                <a16:creationId xmlns:a16="http://schemas.microsoft.com/office/drawing/2014/main" id="{73DFDA48-6F99-45A4-8537-26EE4B4B7D12}"/>
              </a:ext>
            </a:extLst>
          </p:cNvPr>
          <p:cNvSpPr/>
          <p:nvPr/>
        </p:nvSpPr>
        <p:spPr bwMode="auto">
          <a:xfrm>
            <a:off x="3064514" y="1277726"/>
            <a:ext cx="355358" cy="495090"/>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1" u="none" strike="noStrike" cap="none" normalizeH="0" baseline="0">
              <a:ln>
                <a:noFill/>
              </a:ln>
              <a:solidFill>
                <a:schemeClr val="tx1"/>
              </a:solidFill>
              <a:effectLst/>
              <a:latin typeface="Times New Roman" pitchFamily="18" charset="0"/>
              <a:ea typeface="宋体" pitchFamily="2" charset="-122"/>
            </a:endParaRPr>
          </a:p>
        </p:txBody>
      </p:sp>
      <p:sp>
        <p:nvSpPr>
          <p:cNvPr id="62" name="Text Box 33">
            <a:extLst>
              <a:ext uri="{FF2B5EF4-FFF2-40B4-BE49-F238E27FC236}">
                <a16:creationId xmlns:a16="http://schemas.microsoft.com/office/drawing/2014/main" id="{2DB35DAF-0A3D-4A5A-8B51-0934F80E7A88}"/>
              </a:ext>
            </a:extLst>
          </p:cNvPr>
          <p:cNvSpPr txBox="1">
            <a:spLocks noChangeArrowheads="1"/>
          </p:cNvSpPr>
          <p:nvPr/>
        </p:nvSpPr>
        <p:spPr bwMode="auto">
          <a:xfrm>
            <a:off x="3590727" y="5054678"/>
            <a:ext cx="1371600" cy="584775"/>
          </a:xfrm>
          <a:prstGeom prst="rect">
            <a:avLst/>
          </a:prstGeom>
          <a:solidFill>
            <a:srgbClr val="CCFFFF">
              <a:alpha val="50195"/>
            </a:srgbClr>
          </a:solidFill>
          <a:ln w="25400" cap="sq">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b="1" i="0">
                <a:solidFill>
                  <a:srgbClr val="006666"/>
                </a:solidFill>
                <a:latin typeface="Times New Roman" panose="02020603050405020304" pitchFamily="18" charset="0"/>
              </a:rPr>
              <a:t>d</a:t>
            </a:r>
            <a:endParaRPr lang="en-US" altLang="zh-CN" i="0">
              <a:latin typeface="Times New Roman" panose="02020603050405020304" pitchFamily="18" charset="0"/>
            </a:endParaRPr>
          </a:p>
        </p:txBody>
      </p:sp>
      <p:sp>
        <p:nvSpPr>
          <p:cNvPr id="63" name="Line 34">
            <a:extLst>
              <a:ext uri="{FF2B5EF4-FFF2-40B4-BE49-F238E27FC236}">
                <a16:creationId xmlns:a16="http://schemas.microsoft.com/office/drawing/2014/main" id="{F1D25259-10C1-4210-86EF-E6909EF375E8}"/>
              </a:ext>
            </a:extLst>
          </p:cNvPr>
          <p:cNvSpPr>
            <a:spLocks noChangeShapeType="1"/>
          </p:cNvSpPr>
          <p:nvPr/>
        </p:nvSpPr>
        <p:spPr bwMode="auto">
          <a:xfrm>
            <a:off x="3971726" y="5054678"/>
            <a:ext cx="20269" cy="606570"/>
          </a:xfrm>
          <a:prstGeom prst="line">
            <a:avLst/>
          </a:prstGeom>
          <a:noFill/>
          <a:ln w="12700"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i="0"/>
          </a:p>
        </p:txBody>
      </p:sp>
      <p:sp>
        <p:nvSpPr>
          <p:cNvPr id="64" name="Line 35">
            <a:extLst>
              <a:ext uri="{FF2B5EF4-FFF2-40B4-BE49-F238E27FC236}">
                <a16:creationId xmlns:a16="http://schemas.microsoft.com/office/drawing/2014/main" id="{3A514EE8-70F0-47A2-AFF5-C86420D98212}"/>
              </a:ext>
            </a:extLst>
          </p:cNvPr>
          <p:cNvSpPr>
            <a:spLocks noChangeShapeType="1"/>
          </p:cNvSpPr>
          <p:nvPr/>
        </p:nvSpPr>
        <p:spPr bwMode="auto">
          <a:xfrm>
            <a:off x="4499992" y="5054678"/>
            <a:ext cx="5134" cy="584122"/>
          </a:xfrm>
          <a:prstGeom prst="line">
            <a:avLst/>
          </a:prstGeom>
          <a:noFill/>
          <a:ln w="12700"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i="0"/>
          </a:p>
        </p:txBody>
      </p:sp>
      <p:sp>
        <p:nvSpPr>
          <p:cNvPr id="65" name="Line 36">
            <a:extLst>
              <a:ext uri="{FF2B5EF4-FFF2-40B4-BE49-F238E27FC236}">
                <a16:creationId xmlns:a16="http://schemas.microsoft.com/office/drawing/2014/main" id="{7CD96E36-7B61-4C35-9884-B1011A297E9A}"/>
              </a:ext>
            </a:extLst>
          </p:cNvPr>
          <p:cNvSpPr>
            <a:spLocks noChangeShapeType="1"/>
          </p:cNvSpPr>
          <p:nvPr/>
        </p:nvSpPr>
        <p:spPr bwMode="auto">
          <a:xfrm>
            <a:off x="3743127" y="4216478"/>
            <a:ext cx="533400" cy="838200"/>
          </a:xfrm>
          <a:prstGeom prst="line">
            <a:avLst/>
          </a:prstGeom>
          <a:noFill/>
          <a:ln w="31750" cap="sq">
            <a:solidFill>
              <a:srgbClr val="00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i="0"/>
          </a:p>
        </p:txBody>
      </p:sp>
      <p:sp>
        <p:nvSpPr>
          <p:cNvPr id="66" name="Text Box 51">
            <a:extLst>
              <a:ext uri="{FF2B5EF4-FFF2-40B4-BE49-F238E27FC236}">
                <a16:creationId xmlns:a16="http://schemas.microsoft.com/office/drawing/2014/main" id="{D4025A16-4DB1-4A79-9E6F-C0591B985413}"/>
              </a:ext>
            </a:extLst>
          </p:cNvPr>
          <p:cNvSpPr txBox="1">
            <a:spLocks noChangeArrowheads="1"/>
          </p:cNvSpPr>
          <p:nvPr/>
        </p:nvSpPr>
        <p:spPr bwMode="auto">
          <a:xfrm>
            <a:off x="3572422" y="5130878"/>
            <a:ext cx="42351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b="1" i="0" dirty="0">
                <a:solidFill>
                  <a:srgbClr val="006666"/>
                </a:solidFill>
                <a:latin typeface="Times New Roman" panose="02020603050405020304" pitchFamily="18" charset="0"/>
              </a:rPr>
              <a:t>^</a:t>
            </a:r>
            <a:endParaRPr lang="en-US" altLang="zh-CN" i="0" dirty="0">
              <a:latin typeface="Times New Roman" panose="02020603050405020304" pitchFamily="18" charset="0"/>
            </a:endParaRPr>
          </a:p>
        </p:txBody>
      </p:sp>
      <p:sp>
        <p:nvSpPr>
          <p:cNvPr id="67" name="Text Box 52">
            <a:extLst>
              <a:ext uri="{FF2B5EF4-FFF2-40B4-BE49-F238E27FC236}">
                <a16:creationId xmlns:a16="http://schemas.microsoft.com/office/drawing/2014/main" id="{2B397FBC-0E7F-48B1-8C19-97F0C8C63323}"/>
              </a:ext>
            </a:extLst>
          </p:cNvPr>
          <p:cNvSpPr txBox="1">
            <a:spLocks noChangeArrowheads="1"/>
          </p:cNvSpPr>
          <p:nvPr/>
        </p:nvSpPr>
        <p:spPr bwMode="auto">
          <a:xfrm>
            <a:off x="4499992" y="5130879"/>
            <a:ext cx="528119" cy="5841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b="1" i="0">
                <a:solidFill>
                  <a:srgbClr val="006666"/>
                </a:solidFill>
                <a:latin typeface="Times New Roman" panose="02020603050405020304" pitchFamily="18" charset="0"/>
              </a:rPr>
              <a:t>^</a:t>
            </a:r>
            <a:endParaRPr lang="en-US" altLang="zh-CN" i="0">
              <a:latin typeface="Times New Roman" panose="02020603050405020304" pitchFamily="18" charset="0"/>
            </a:endParaRPr>
          </a:p>
        </p:txBody>
      </p:sp>
      <p:sp>
        <p:nvSpPr>
          <p:cNvPr id="20" name="Rectangle 2">
            <a:extLst>
              <a:ext uri="{FF2B5EF4-FFF2-40B4-BE49-F238E27FC236}">
                <a16:creationId xmlns:a16="http://schemas.microsoft.com/office/drawing/2014/main" id="{E00820A0-A9ED-44B2-8605-CA7A635DF111}"/>
              </a:ext>
            </a:extLst>
          </p:cNvPr>
          <p:cNvSpPr txBox="1">
            <a:spLocks noChangeArrowheads="1"/>
          </p:cNvSpPr>
          <p:nvPr/>
        </p:nvSpPr>
        <p:spPr>
          <a:xfrm>
            <a:off x="574675" y="260648"/>
            <a:ext cx="8001000" cy="676275"/>
          </a:xfrm>
          <a:prstGeom prst="rect">
            <a:avLst/>
          </a:prstGeom>
        </p:spPr>
        <p:txBody>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Times New Roman" pitchFamily="18" charset="0"/>
                <a:ea typeface="黑体" pitchFamily="2" charset="-122"/>
              </a:defRPr>
            </a:lvl2pPr>
            <a:lvl3pPr algn="l" rtl="0" eaLnBrk="0" fontAlgn="base" hangingPunct="0">
              <a:spcBef>
                <a:spcPct val="0"/>
              </a:spcBef>
              <a:spcAft>
                <a:spcPct val="0"/>
              </a:spcAft>
              <a:defRPr sz="4200">
                <a:solidFill>
                  <a:schemeClr val="tx2"/>
                </a:solidFill>
                <a:latin typeface="Times New Roman" pitchFamily="18" charset="0"/>
                <a:ea typeface="黑体" pitchFamily="2" charset="-122"/>
              </a:defRPr>
            </a:lvl3pPr>
            <a:lvl4pPr algn="l" rtl="0" eaLnBrk="0" fontAlgn="base" hangingPunct="0">
              <a:spcBef>
                <a:spcPct val="0"/>
              </a:spcBef>
              <a:spcAft>
                <a:spcPct val="0"/>
              </a:spcAft>
              <a:defRPr sz="4200">
                <a:solidFill>
                  <a:schemeClr val="tx2"/>
                </a:solidFill>
                <a:latin typeface="Times New Roman" pitchFamily="18" charset="0"/>
                <a:ea typeface="黑体" pitchFamily="2" charset="-122"/>
              </a:defRPr>
            </a:lvl4pPr>
            <a:lvl5pPr algn="l" rtl="0" eaLnBrk="0" fontAlgn="base" hangingPunct="0">
              <a:spcBef>
                <a:spcPct val="0"/>
              </a:spcBef>
              <a:spcAft>
                <a:spcPct val="0"/>
              </a:spcAft>
              <a:defRPr sz="4200">
                <a:solidFill>
                  <a:schemeClr val="tx2"/>
                </a:solidFill>
                <a:latin typeface="Times New Roman" pitchFamily="18" charset="0"/>
                <a:ea typeface="黑体" pitchFamily="2" charset="-122"/>
              </a:defRPr>
            </a:lvl5pPr>
            <a:lvl6pPr marL="457200" algn="l" rtl="0" fontAlgn="base">
              <a:spcBef>
                <a:spcPct val="0"/>
              </a:spcBef>
              <a:spcAft>
                <a:spcPct val="0"/>
              </a:spcAft>
              <a:defRPr sz="4200">
                <a:solidFill>
                  <a:schemeClr val="tx2"/>
                </a:solidFill>
                <a:latin typeface="Times New Roman" pitchFamily="18" charset="0"/>
                <a:ea typeface="黑体" pitchFamily="2" charset="-122"/>
              </a:defRPr>
            </a:lvl6pPr>
            <a:lvl7pPr marL="914400" algn="l" rtl="0" fontAlgn="base">
              <a:spcBef>
                <a:spcPct val="0"/>
              </a:spcBef>
              <a:spcAft>
                <a:spcPct val="0"/>
              </a:spcAft>
              <a:defRPr sz="4200">
                <a:solidFill>
                  <a:schemeClr val="tx2"/>
                </a:solidFill>
                <a:latin typeface="Times New Roman" pitchFamily="18" charset="0"/>
                <a:ea typeface="黑体" pitchFamily="2" charset="-122"/>
              </a:defRPr>
            </a:lvl7pPr>
            <a:lvl8pPr marL="1371600" algn="l" rtl="0" fontAlgn="base">
              <a:spcBef>
                <a:spcPct val="0"/>
              </a:spcBef>
              <a:spcAft>
                <a:spcPct val="0"/>
              </a:spcAft>
              <a:defRPr sz="4200">
                <a:solidFill>
                  <a:schemeClr val="tx2"/>
                </a:solidFill>
                <a:latin typeface="Times New Roman" pitchFamily="18" charset="0"/>
                <a:ea typeface="黑体" pitchFamily="2" charset="-122"/>
              </a:defRPr>
            </a:lvl8pPr>
            <a:lvl9pPr marL="1828800" algn="l" rtl="0" fontAlgn="base">
              <a:spcBef>
                <a:spcPct val="0"/>
              </a:spcBef>
              <a:spcAft>
                <a:spcPct val="0"/>
              </a:spcAft>
              <a:defRPr sz="4200">
                <a:solidFill>
                  <a:schemeClr val="tx2"/>
                </a:solidFill>
                <a:latin typeface="Times New Roman" pitchFamily="18" charset="0"/>
                <a:ea typeface="黑体" pitchFamily="2" charset="-122"/>
              </a:defRPr>
            </a:lvl9pPr>
          </a:lstStyle>
          <a:p>
            <a:pPr algn="ctr" eaLnBrk="1" hangingPunct="1"/>
            <a:r>
              <a:rPr lang="zh-CN" altLang="en-US" sz="4400" b="1" i="0" kern="1200" dirty="0">
                <a:latin typeface="Tahoma" panose="020B0604030504040204" pitchFamily="34" charset="0"/>
                <a:ea typeface="隶书" pitchFamily="49" charset="-122"/>
                <a:cs typeface="+mn-cs"/>
              </a:rPr>
              <a:t>根据遍历顺序确定二叉树</a:t>
            </a:r>
          </a:p>
        </p:txBody>
      </p:sp>
      <p:sp>
        <p:nvSpPr>
          <p:cNvPr id="70" name="平行四边形 69">
            <a:extLst>
              <a:ext uri="{FF2B5EF4-FFF2-40B4-BE49-F238E27FC236}">
                <a16:creationId xmlns:a16="http://schemas.microsoft.com/office/drawing/2014/main" id="{099D08D0-4B1E-48C0-A7EE-F36150C5CEA1}"/>
              </a:ext>
            </a:extLst>
          </p:cNvPr>
          <p:cNvSpPr/>
          <p:nvPr/>
        </p:nvSpPr>
        <p:spPr bwMode="auto">
          <a:xfrm>
            <a:off x="3635896" y="1290618"/>
            <a:ext cx="1941488" cy="986254"/>
          </a:xfrm>
          <a:prstGeom prst="parallelogram">
            <a:avLst>
              <a:gd name="adj" fmla="val 0"/>
            </a:avLst>
          </a:prstGeom>
          <a:noFill/>
          <a:ln w="603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1" u="none" strike="noStrike" cap="none" normalizeH="0" baseline="0">
              <a:ln>
                <a:noFill/>
              </a:ln>
              <a:solidFill>
                <a:schemeClr val="tx1"/>
              </a:solidFill>
              <a:effectLst/>
              <a:latin typeface="Times New Roman" pitchFamily="18" charset="0"/>
              <a:ea typeface="宋体" pitchFamily="2" charset="-122"/>
            </a:endParaRPr>
          </a:p>
        </p:txBody>
      </p:sp>
    </p:spTree>
    <p:extLst>
      <p:ext uri="{BB962C8B-B14F-4D97-AF65-F5344CB8AC3E}">
        <p14:creationId xmlns:p14="http://schemas.microsoft.com/office/powerpoint/2010/main" val="1721222075"/>
      </p:ext>
    </p:extLst>
  </p:cSld>
  <p:clrMapOvr>
    <a:masterClrMapping/>
  </p:clrMapOvr>
  <p:transition spd="med">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7" presetClass="entr" presetSubtype="1" fill="hold" nodeType="clickEffect">
                                  <p:stCondLst>
                                    <p:cond delay="0"/>
                                  </p:stCondLst>
                                  <p:childTnLst>
                                    <p:set>
                                      <p:cBhvr>
                                        <p:cTn id="14" dur="1" fill="hold">
                                          <p:stCondLst>
                                            <p:cond delay="0"/>
                                          </p:stCondLst>
                                        </p:cTn>
                                        <p:tgtEl>
                                          <p:spTgt spid="46112"/>
                                        </p:tgtEl>
                                        <p:attrNameLst>
                                          <p:attrName>style.visibility</p:attrName>
                                        </p:attrNameLst>
                                      </p:cBhvr>
                                      <p:to>
                                        <p:strVal val="visible"/>
                                      </p:to>
                                    </p:set>
                                    <p:anim calcmode="lin" valueType="num">
                                      <p:cBhvr>
                                        <p:cTn id="15" dur="500" fill="hold"/>
                                        <p:tgtEl>
                                          <p:spTgt spid="46112"/>
                                        </p:tgtEl>
                                        <p:attrNameLst>
                                          <p:attrName>ppt_x</p:attrName>
                                        </p:attrNameLst>
                                      </p:cBhvr>
                                      <p:tavLst>
                                        <p:tav tm="0">
                                          <p:val>
                                            <p:strVal val="#ppt_x"/>
                                          </p:val>
                                        </p:tav>
                                        <p:tav tm="100000">
                                          <p:val>
                                            <p:strVal val="#ppt_x"/>
                                          </p:val>
                                        </p:tav>
                                      </p:tavLst>
                                    </p:anim>
                                    <p:anim calcmode="lin" valueType="num">
                                      <p:cBhvr>
                                        <p:cTn id="16" dur="500" fill="hold"/>
                                        <p:tgtEl>
                                          <p:spTgt spid="46112"/>
                                        </p:tgtEl>
                                        <p:attrNameLst>
                                          <p:attrName>ppt_y</p:attrName>
                                        </p:attrNameLst>
                                      </p:cBhvr>
                                      <p:tavLst>
                                        <p:tav tm="0">
                                          <p:val>
                                            <p:strVal val="#ppt_y-#ppt_h/2"/>
                                          </p:val>
                                        </p:tav>
                                        <p:tav tm="100000">
                                          <p:val>
                                            <p:strVal val="#ppt_y"/>
                                          </p:val>
                                        </p:tav>
                                      </p:tavLst>
                                    </p:anim>
                                    <p:anim calcmode="lin" valueType="num">
                                      <p:cBhvr>
                                        <p:cTn id="17" dur="500" fill="hold"/>
                                        <p:tgtEl>
                                          <p:spTgt spid="46112"/>
                                        </p:tgtEl>
                                        <p:attrNameLst>
                                          <p:attrName>ppt_w</p:attrName>
                                        </p:attrNameLst>
                                      </p:cBhvr>
                                      <p:tavLst>
                                        <p:tav tm="0">
                                          <p:val>
                                            <p:strVal val="#ppt_w"/>
                                          </p:val>
                                        </p:tav>
                                        <p:tav tm="100000">
                                          <p:val>
                                            <p:strVal val="#ppt_w"/>
                                          </p:val>
                                        </p:tav>
                                      </p:tavLst>
                                    </p:anim>
                                    <p:anim calcmode="lin" valueType="num">
                                      <p:cBhvr>
                                        <p:cTn id="18" dur="500" fill="hold"/>
                                        <p:tgtEl>
                                          <p:spTgt spid="46112"/>
                                        </p:tgtEl>
                                        <p:attrNameLst>
                                          <p:attrName>ppt_h</p:attrName>
                                        </p:attrNameLst>
                                      </p:cBhvr>
                                      <p:tavLst>
                                        <p:tav tm="0">
                                          <p:val>
                                            <p:fltVal val="0"/>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8" presetClass="emph" presetSubtype="0" fill="hold" grpId="0" nodeType="clickEffect">
                                  <p:stCondLst>
                                    <p:cond delay="0"/>
                                  </p:stCondLst>
                                  <p:childTnLst>
                                    <p:animRot by="21600000">
                                      <p:cBhvr>
                                        <p:cTn id="22" dur="2000" fill="hold"/>
                                        <p:tgtEl>
                                          <p:spTgt spid="9"/>
                                        </p:tgtEl>
                                        <p:attrNameLst>
                                          <p:attrName>r</p:attrName>
                                        </p:attrNameLst>
                                      </p:cBhvr>
                                    </p:animRot>
                                  </p:childTnLst>
                                </p:cTn>
                              </p:par>
                            </p:childTnLst>
                          </p:cTn>
                        </p:par>
                      </p:childTnLst>
                    </p:cTn>
                  </p:par>
                  <p:par>
                    <p:cTn id="23" fill="hold">
                      <p:stCondLst>
                        <p:cond delay="indefinite"/>
                      </p:stCondLst>
                      <p:childTnLst>
                        <p:par>
                          <p:cTn id="24" fill="hold" nodeType="afterGroup">
                            <p:stCondLst>
                              <p:cond delay="0"/>
                            </p:stCondLst>
                            <p:childTnLst>
                              <p:par>
                                <p:cTn id="25" presetID="8" presetClass="emph" presetSubtype="0" fill="hold" grpId="0" nodeType="clickEffect">
                                  <p:stCondLst>
                                    <p:cond delay="0"/>
                                  </p:stCondLst>
                                  <p:childTnLst>
                                    <p:animRot by="21600000">
                                      <p:cBhvr>
                                        <p:cTn id="26" dur="2000" fill="hold"/>
                                        <p:tgtEl>
                                          <p:spTgt spid="4"/>
                                        </p:tgtEl>
                                        <p:attrNameLst>
                                          <p:attrName>r</p:attrName>
                                        </p:attrNameLst>
                                      </p:cBhvr>
                                    </p:animRot>
                                  </p:childTnLst>
                                </p:cTn>
                              </p:par>
                            </p:childTnLst>
                          </p:cTn>
                        </p:par>
                      </p:childTnLst>
                    </p:cTn>
                  </p:par>
                  <p:par>
                    <p:cTn id="27" fill="hold">
                      <p:stCondLst>
                        <p:cond delay="indefinite"/>
                      </p:stCondLst>
                      <p:childTnLst>
                        <p:par>
                          <p:cTn id="28" fill="hold">
                            <p:stCondLst>
                              <p:cond delay="0"/>
                            </p:stCondLst>
                            <p:childTnLst>
                              <p:par>
                                <p:cTn id="29" presetID="17" presetClass="entr" presetSubtype="1" fill="hold" grpId="0" nodeType="clickEffect">
                                  <p:stCondLst>
                                    <p:cond delay="0"/>
                                  </p:stCondLst>
                                  <p:childTnLst>
                                    <p:set>
                                      <p:cBhvr>
                                        <p:cTn id="30" dur="1" fill="hold">
                                          <p:stCondLst>
                                            <p:cond delay="0"/>
                                          </p:stCondLst>
                                        </p:cTn>
                                        <p:tgtEl>
                                          <p:spTgt spid="46109"/>
                                        </p:tgtEl>
                                        <p:attrNameLst>
                                          <p:attrName>style.visibility</p:attrName>
                                        </p:attrNameLst>
                                      </p:cBhvr>
                                      <p:to>
                                        <p:strVal val="visible"/>
                                      </p:to>
                                    </p:set>
                                    <p:anim calcmode="lin" valueType="num">
                                      <p:cBhvr>
                                        <p:cTn id="31" dur="500" fill="hold"/>
                                        <p:tgtEl>
                                          <p:spTgt spid="46109"/>
                                        </p:tgtEl>
                                        <p:attrNameLst>
                                          <p:attrName>ppt_x</p:attrName>
                                        </p:attrNameLst>
                                      </p:cBhvr>
                                      <p:tavLst>
                                        <p:tav tm="0">
                                          <p:val>
                                            <p:strVal val="#ppt_x"/>
                                          </p:val>
                                        </p:tav>
                                        <p:tav tm="100000">
                                          <p:val>
                                            <p:strVal val="#ppt_x"/>
                                          </p:val>
                                        </p:tav>
                                      </p:tavLst>
                                    </p:anim>
                                    <p:anim calcmode="lin" valueType="num">
                                      <p:cBhvr>
                                        <p:cTn id="32" dur="500" fill="hold"/>
                                        <p:tgtEl>
                                          <p:spTgt spid="46109"/>
                                        </p:tgtEl>
                                        <p:attrNameLst>
                                          <p:attrName>ppt_y</p:attrName>
                                        </p:attrNameLst>
                                      </p:cBhvr>
                                      <p:tavLst>
                                        <p:tav tm="0">
                                          <p:val>
                                            <p:strVal val="#ppt_y-#ppt_h/2"/>
                                          </p:val>
                                        </p:tav>
                                        <p:tav tm="100000">
                                          <p:val>
                                            <p:strVal val="#ppt_y"/>
                                          </p:val>
                                        </p:tav>
                                      </p:tavLst>
                                    </p:anim>
                                    <p:anim calcmode="lin" valueType="num">
                                      <p:cBhvr>
                                        <p:cTn id="33" dur="500" fill="hold"/>
                                        <p:tgtEl>
                                          <p:spTgt spid="46109"/>
                                        </p:tgtEl>
                                        <p:attrNameLst>
                                          <p:attrName>ppt_w</p:attrName>
                                        </p:attrNameLst>
                                      </p:cBhvr>
                                      <p:tavLst>
                                        <p:tav tm="0">
                                          <p:val>
                                            <p:strVal val="#ppt_w"/>
                                          </p:val>
                                        </p:tav>
                                        <p:tav tm="100000">
                                          <p:val>
                                            <p:strVal val="#ppt_w"/>
                                          </p:val>
                                        </p:tav>
                                      </p:tavLst>
                                    </p:anim>
                                    <p:anim calcmode="lin" valueType="num">
                                      <p:cBhvr>
                                        <p:cTn id="34" dur="500" fill="hold"/>
                                        <p:tgtEl>
                                          <p:spTgt spid="46109"/>
                                        </p:tgtEl>
                                        <p:attrNameLst>
                                          <p:attrName>ppt_h</p:attrName>
                                        </p:attrNameLst>
                                      </p:cBhvr>
                                      <p:tavLst>
                                        <p:tav tm="0">
                                          <p:val>
                                            <p:fltVal val="0"/>
                                          </p:val>
                                        </p:tav>
                                        <p:tav tm="100000">
                                          <p:val>
                                            <p:strVal val="#ppt_h"/>
                                          </p:val>
                                        </p:tav>
                                      </p:tavLst>
                                    </p:anim>
                                  </p:childTnLst>
                                </p:cTn>
                              </p:par>
                            </p:childTnLst>
                          </p:cTn>
                        </p:par>
                        <p:par>
                          <p:cTn id="35" fill="hold" nodeType="afterGroup">
                            <p:stCondLst>
                              <p:cond delay="500"/>
                            </p:stCondLst>
                            <p:childTnLst>
                              <p:par>
                                <p:cTn id="36" presetID="17" presetClass="entr" presetSubtype="1" fill="hold" nodeType="afterEffect">
                                  <p:stCondLst>
                                    <p:cond delay="0"/>
                                  </p:stCondLst>
                                  <p:childTnLst>
                                    <p:set>
                                      <p:cBhvr>
                                        <p:cTn id="37" dur="1" fill="hold">
                                          <p:stCondLst>
                                            <p:cond delay="0"/>
                                          </p:stCondLst>
                                        </p:cTn>
                                        <p:tgtEl>
                                          <p:spTgt spid="46110"/>
                                        </p:tgtEl>
                                        <p:attrNameLst>
                                          <p:attrName>style.visibility</p:attrName>
                                        </p:attrNameLst>
                                      </p:cBhvr>
                                      <p:to>
                                        <p:strVal val="visible"/>
                                      </p:to>
                                    </p:set>
                                    <p:anim calcmode="lin" valueType="num">
                                      <p:cBhvr>
                                        <p:cTn id="38" dur="500" fill="hold"/>
                                        <p:tgtEl>
                                          <p:spTgt spid="46110"/>
                                        </p:tgtEl>
                                        <p:attrNameLst>
                                          <p:attrName>ppt_x</p:attrName>
                                        </p:attrNameLst>
                                      </p:cBhvr>
                                      <p:tavLst>
                                        <p:tav tm="0">
                                          <p:val>
                                            <p:strVal val="#ppt_x"/>
                                          </p:val>
                                        </p:tav>
                                        <p:tav tm="100000">
                                          <p:val>
                                            <p:strVal val="#ppt_x"/>
                                          </p:val>
                                        </p:tav>
                                      </p:tavLst>
                                    </p:anim>
                                    <p:anim calcmode="lin" valueType="num">
                                      <p:cBhvr>
                                        <p:cTn id="39" dur="500" fill="hold"/>
                                        <p:tgtEl>
                                          <p:spTgt spid="46110"/>
                                        </p:tgtEl>
                                        <p:attrNameLst>
                                          <p:attrName>ppt_y</p:attrName>
                                        </p:attrNameLst>
                                      </p:cBhvr>
                                      <p:tavLst>
                                        <p:tav tm="0">
                                          <p:val>
                                            <p:strVal val="#ppt_y-#ppt_h/2"/>
                                          </p:val>
                                        </p:tav>
                                        <p:tav tm="100000">
                                          <p:val>
                                            <p:strVal val="#ppt_y"/>
                                          </p:val>
                                        </p:tav>
                                      </p:tavLst>
                                    </p:anim>
                                    <p:anim calcmode="lin" valueType="num">
                                      <p:cBhvr>
                                        <p:cTn id="40" dur="500" fill="hold"/>
                                        <p:tgtEl>
                                          <p:spTgt spid="46110"/>
                                        </p:tgtEl>
                                        <p:attrNameLst>
                                          <p:attrName>ppt_w</p:attrName>
                                        </p:attrNameLst>
                                      </p:cBhvr>
                                      <p:tavLst>
                                        <p:tav tm="0">
                                          <p:val>
                                            <p:strVal val="#ppt_w"/>
                                          </p:val>
                                        </p:tav>
                                        <p:tav tm="100000">
                                          <p:val>
                                            <p:strVal val="#ppt_w"/>
                                          </p:val>
                                        </p:tav>
                                      </p:tavLst>
                                    </p:anim>
                                    <p:anim calcmode="lin" valueType="num">
                                      <p:cBhvr>
                                        <p:cTn id="41" dur="500" fill="hold"/>
                                        <p:tgtEl>
                                          <p:spTgt spid="46110"/>
                                        </p:tgtEl>
                                        <p:attrNameLst>
                                          <p:attrName>ppt_h</p:attrName>
                                        </p:attrNameLst>
                                      </p:cBhvr>
                                      <p:tavLst>
                                        <p:tav tm="0">
                                          <p:val>
                                            <p:fltVal val="0"/>
                                          </p:val>
                                        </p:tav>
                                        <p:tav tm="100000">
                                          <p:val>
                                            <p:strVal val="#ppt_h"/>
                                          </p:val>
                                        </p:tav>
                                      </p:tavLst>
                                    </p:anim>
                                  </p:childTnLst>
                                </p:cTn>
                              </p:par>
                            </p:childTnLst>
                          </p:cTn>
                        </p:par>
                        <p:par>
                          <p:cTn id="42" fill="hold" nodeType="afterGroup">
                            <p:stCondLst>
                              <p:cond delay="1000"/>
                            </p:stCondLst>
                            <p:childTnLst>
                              <p:par>
                                <p:cTn id="43" presetID="17" presetClass="entr" presetSubtype="1" fill="hold" nodeType="afterEffect">
                                  <p:stCondLst>
                                    <p:cond delay="0"/>
                                  </p:stCondLst>
                                  <p:childTnLst>
                                    <p:set>
                                      <p:cBhvr>
                                        <p:cTn id="44" dur="1" fill="hold">
                                          <p:stCondLst>
                                            <p:cond delay="0"/>
                                          </p:stCondLst>
                                        </p:cTn>
                                        <p:tgtEl>
                                          <p:spTgt spid="46111"/>
                                        </p:tgtEl>
                                        <p:attrNameLst>
                                          <p:attrName>style.visibility</p:attrName>
                                        </p:attrNameLst>
                                      </p:cBhvr>
                                      <p:to>
                                        <p:strVal val="visible"/>
                                      </p:to>
                                    </p:set>
                                    <p:anim calcmode="lin" valueType="num">
                                      <p:cBhvr>
                                        <p:cTn id="45" dur="500" fill="hold"/>
                                        <p:tgtEl>
                                          <p:spTgt spid="46111"/>
                                        </p:tgtEl>
                                        <p:attrNameLst>
                                          <p:attrName>ppt_x</p:attrName>
                                        </p:attrNameLst>
                                      </p:cBhvr>
                                      <p:tavLst>
                                        <p:tav tm="0">
                                          <p:val>
                                            <p:strVal val="#ppt_x"/>
                                          </p:val>
                                        </p:tav>
                                        <p:tav tm="100000">
                                          <p:val>
                                            <p:strVal val="#ppt_x"/>
                                          </p:val>
                                        </p:tav>
                                      </p:tavLst>
                                    </p:anim>
                                    <p:anim calcmode="lin" valueType="num">
                                      <p:cBhvr>
                                        <p:cTn id="46" dur="500" fill="hold"/>
                                        <p:tgtEl>
                                          <p:spTgt spid="46111"/>
                                        </p:tgtEl>
                                        <p:attrNameLst>
                                          <p:attrName>ppt_y</p:attrName>
                                        </p:attrNameLst>
                                      </p:cBhvr>
                                      <p:tavLst>
                                        <p:tav tm="0">
                                          <p:val>
                                            <p:strVal val="#ppt_y-#ppt_h/2"/>
                                          </p:val>
                                        </p:tav>
                                        <p:tav tm="100000">
                                          <p:val>
                                            <p:strVal val="#ppt_y"/>
                                          </p:val>
                                        </p:tav>
                                      </p:tavLst>
                                    </p:anim>
                                    <p:anim calcmode="lin" valueType="num">
                                      <p:cBhvr>
                                        <p:cTn id="47" dur="500" fill="hold"/>
                                        <p:tgtEl>
                                          <p:spTgt spid="46111"/>
                                        </p:tgtEl>
                                        <p:attrNameLst>
                                          <p:attrName>ppt_w</p:attrName>
                                        </p:attrNameLst>
                                      </p:cBhvr>
                                      <p:tavLst>
                                        <p:tav tm="0">
                                          <p:val>
                                            <p:strVal val="#ppt_w"/>
                                          </p:val>
                                        </p:tav>
                                        <p:tav tm="100000">
                                          <p:val>
                                            <p:strVal val="#ppt_w"/>
                                          </p:val>
                                        </p:tav>
                                      </p:tavLst>
                                    </p:anim>
                                    <p:anim calcmode="lin" valueType="num">
                                      <p:cBhvr>
                                        <p:cTn id="48" dur="500" fill="hold"/>
                                        <p:tgtEl>
                                          <p:spTgt spid="46111"/>
                                        </p:tgtEl>
                                        <p:attrNameLst>
                                          <p:attrName>ppt_h</p:attrName>
                                        </p:attrNameLst>
                                      </p:cBhvr>
                                      <p:tavLst>
                                        <p:tav tm="0">
                                          <p:val>
                                            <p:fltVal val="0"/>
                                          </p:val>
                                        </p:tav>
                                        <p:tav tm="100000">
                                          <p:val>
                                            <p:strVal val="#ppt_h"/>
                                          </p:val>
                                        </p:tav>
                                      </p:tavLst>
                                    </p:anim>
                                  </p:childTnLst>
                                </p:cTn>
                              </p:par>
                            </p:childTnLst>
                          </p:cTn>
                        </p:par>
                      </p:childTnLst>
                    </p:cTn>
                  </p:par>
                  <p:par>
                    <p:cTn id="49" fill="hold">
                      <p:stCondLst>
                        <p:cond delay="indefinite"/>
                      </p:stCondLst>
                      <p:childTnLst>
                        <p:par>
                          <p:cTn id="50" fill="hold">
                            <p:stCondLst>
                              <p:cond delay="0"/>
                            </p:stCondLst>
                            <p:childTnLst>
                              <p:par>
                                <p:cTn id="51" presetID="17" presetClass="entr" presetSubtype="1" fill="hold" grpId="0" nodeType="clickEffect">
                                  <p:stCondLst>
                                    <p:cond delay="0"/>
                                  </p:stCondLst>
                                  <p:childTnLst>
                                    <p:set>
                                      <p:cBhvr>
                                        <p:cTn id="52" dur="1" fill="hold">
                                          <p:stCondLst>
                                            <p:cond delay="0"/>
                                          </p:stCondLst>
                                        </p:cTn>
                                        <p:tgtEl>
                                          <p:spTgt spid="46129"/>
                                        </p:tgtEl>
                                        <p:attrNameLst>
                                          <p:attrName>style.visibility</p:attrName>
                                        </p:attrNameLst>
                                      </p:cBhvr>
                                      <p:to>
                                        <p:strVal val="visible"/>
                                      </p:to>
                                    </p:set>
                                    <p:anim calcmode="lin" valueType="num">
                                      <p:cBhvr>
                                        <p:cTn id="53" dur="500" fill="hold"/>
                                        <p:tgtEl>
                                          <p:spTgt spid="46129"/>
                                        </p:tgtEl>
                                        <p:attrNameLst>
                                          <p:attrName>ppt_x</p:attrName>
                                        </p:attrNameLst>
                                      </p:cBhvr>
                                      <p:tavLst>
                                        <p:tav tm="0">
                                          <p:val>
                                            <p:strVal val="#ppt_x"/>
                                          </p:val>
                                        </p:tav>
                                        <p:tav tm="100000">
                                          <p:val>
                                            <p:strVal val="#ppt_x"/>
                                          </p:val>
                                        </p:tav>
                                      </p:tavLst>
                                    </p:anim>
                                    <p:anim calcmode="lin" valueType="num">
                                      <p:cBhvr>
                                        <p:cTn id="54" dur="500" fill="hold"/>
                                        <p:tgtEl>
                                          <p:spTgt spid="46129"/>
                                        </p:tgtEl>
                                        <p:attrNameLst>
                                          <p:attrName>ppt_y</p:attrName>
                                        </p:attrNameLst>
                                      </p:cBhvr>
                                      <p:tavLst>
                                        <p:tav tm="0">
                                          <p:val>
                                            <p:strVal val="#ppt_y-#ppt_h/2"/>
                                          </p:val>
                                        </p:tav>
                                        <p:tav tm="100000">
                                          <p:val>
                                            <p:strVal val="#ppt_y"/>
                                          </p:val>
                                        </p:tav>
                                      </p:tavLst>
                                    </p:anim>
                                    <p:anim calcmode="lin" valueType="num">
                                      <p:cBhvr>
                                        <p:cTn id="55" dur="500" fill="hold"/>
                                        <p:tgtEl>
                                          <p:spTgt spid="46129"/>
                                        </p:tgtEl>
                                        <p:attrNameLst>
                                          <p:attrName>ppt_w</p:attrName>
                                        </p:attrNameLst>
                                      </p:cBhvr>
                                      <p:tavLst>
                                        <p:tav tm="0">
                                          <p:val>
                                            <p:strVal val="#ppt_w"/>
                                          </p:val>
                                        </p:tav>
                                        <p:tav tm="100000">
                                          <p:val>
                                            <p:strVal val="#ppt_w"/>
                                          </p:val>
                                        </p:tav>
                                      </p:tavLst>
                                    </p:anim>
                                    <p:anim calcmode="lin" valueType="num">
                                      <p:cBhvr>
                                        <p:cTn id="56" dur="500" fill="hold"/>
                                        <p:tgtEl>
                                          <p:spTgt spid="46129"/>
                                        </p:tgtEl>
                                        <p:attrNameLst>
                                          <p:attrName>ppt_h</p:attrName>
                                        </p:attrNameLst>
                                      </p:cBhvr>
                                      <p:tavLst>
                                        <p:tav tm="0">
                                          <p:val>
                                            <p:fltVal val="0"/>
                                          </p:val>
                                        </p:tav>
                                        <p:tav tm="100000">
                                          <p:val>
                                            <p:strVal val="#ppt_h"/>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17" presetClass="entr" presetSubtype="1" fill="hold" grpId="0" nodeType="clickEffect">
                                  <p:stCondLst>
                                    <p:cond delay="0"/>
                                  </p:stCondLst>
                                  <p:childTnLst>
                                    <p:set>
                                      <p:cBhvr>
                                        <p:cTn id="60" dur="1" fill="hold">
                                          <p:stCondLst>
                                            <p:cond delay="0"/>
                                          </p:stCondLst>
                                        </p:cTn>
                                        <p:tgtEl>
                                          <p:spTgt spid="46130"/>
                                        </p:tgtEl>
                                        <p:attrNameLst>
                                          <p:attrName>style.visibility</p:attrName>
                                        </p:attrNameLst>
                                      </p:cBhvr>
                                      <p:to>
                                        <p:strVal val="visible"/>
                                      </p:to>
                                    </p:set>
                                    <p:anim calcmode="lin" valueType="num">
                                      <p:cBhvr>
                                        <p:cTn id="61" dur="500" fill="hold"/>
                                        <p:tgtEl>
                                          <p:spTgt spid="46130"/>
                                        </p:tgtEl>
                                        <p:attrNameLst>
                                          <p:attrName>ppt_x</p:attrName>
                                        </p:attrNameLst>
                                      </p:cBhvr>
                                      <p:tavLst>
                                        <p:tav tm="0">
                                          <p:val>
                                            <p:strVal val="#ppt_x"/>
                                          </p:val>
                                        </p:tav>
                                        <p:tav tm="100000">
                                          <p:val>
                                            <p:strVal val="#ppt_x"/>
                                          </p:val>
                                        </p:tav>
                                      </p:tavLst>
                                    </p:anim>
                                    <p:anim calcmode="lin" valueType="num">
                                      <p:cBhvr>
                                        <p:cTn id="62" dur="500" fill="hold"/>
                                        <p:tgtEl>
                                          <p:spTgt spid="46130"/>
                                        </p:tgtEl>
                                        <p:attrNameLst>
                                          <p:attrName>ppt_y</p:attrName>
                                        </p:attrNameLst>
                                      </p:cBhvr>
                                      <p:tavLst>
                                        <p:tav tm="0">
                                          <p:val>
                                            <p:strVal val="#ppt_y-#ppt_h/2"/>
                                          </p:val>
                                        </p:tav>
                                        <p:tav tm="100000">
                                          <p:val>
                                            <p:strVal val="#ppt_y"/>
                                          </p:val>
                                        </p:tav>
                                      </p:tavLst>
                                    </p:anim>
                                    <p:anim calcmode="lin" valueType="num">
                                      <p:cBhvr>
                                        <p:cTn id="63" dur="500" fill="hold"/>
                                        <p:tgtEl>
                                          <p:spTgt spid="46130"/>
                                        </p:tgtEl>
                                        <p:attrNameLst>
                                          <p:attrName>ppt_w</p:attrName>
                                        </p:attrNameLst>
                                      </p:cBhvr>
                                      <p:tavLst>
                                        <p:tav tm="0">
                                          <p:val>
                                            <p:strVal val="#ppt_w"/>
                                          </p:val>
                                        </p:tav>
                                        <p:tav tm="100000">
                                          <p:val>
                                            <p:strVal val="#ppt_w"/>
                                          </p:val>
                                        </p:tav>
                                      </p:tavLst>
                                    </p:anim>
                                    <p:anim calcmode="lin" valueType="num">
                                      <p:cBhvr>
                                        <p:cTn id="64" dur="500" fill="hold"/>
                                        <p:tgtEl>
                                          <p:spTgt spid="46130"/>
                                        </p:tgtEl>
                                        <p:attrNameLst>
                                          <p:attrName>ppt_h</p:attrName>
                                        </p:attrNameLst>
                                      </p:cBhvr>
                                      <p:tavLst>
                                        <p:tav tm="0">
                                          <p:val>
                                            <p:fltVal val="0"/>
                                          </p:val>
                                        </p:tav>
                                        <p:tav tm="100000">
                                          <p:val>
                                            <p:strVal val="#ppt_h"/>
                                          </p:val>
                                        </p:tav>
                                      </p:tavLst>
                                    </p:anim>
                                  </p:childTnLst>
                                </p:cTn>
                              </p:par>
                            </p:childTnLst>
                          </p:cTn>
                        </p:par>
                      </p:childTnLst>
                    </p:cTn>
                  </p:par>
                  <p:par>
                    <p:cTn id="65" fill="hold">
                      <p:stCondLst>
                        <p:cond delay="indefinite"/>
                      </p:stCondLst>
                      <p:childTnLst>
                        <p:par>
                          <p:cTn id="66" fill="hold">
                            <p:stCondLst>
                              <p:cond delay="0"/>
                            </p:stCondLst>
                            <p:childTnLst>
                              <p:par>
                                <p:cTn id="67" presetID="1" presetClass="exit" presetSubtype="0" fill="hold" grpId="1" nodeType="clickEffect">
                                  <p:stCondLst>
                                    <p:cond delay="0"/>
                                  </p:stCondLst>
                                  <p:childTnLst>
                                    <p:set>
                                      <p:cBhvr>
                                        <p:cTn id="68" dur="1" fill="hold">
                                          <p:stCondLst>
                                            <p:cond delay="0"/>
                                          </p:stCondLst>
                                        </p:cTn>
                                        <p:tgtEl>
                                          <p:spTgt spid="18"/>
                                        </p:tgtEl>
                                        <p:attrNameLst>
                                          <p:attrName>style.visibility</p:attrName>
                                        </p:attrNameLst>
                                      </p:cBhvr>
                                      <p:to>
                                        <p:strVal val="hidden"/>
                                      </p:to>
                                    </p:set>
                                  </p:childTnLst>
                                </p:cTn>
                              </p:par>
                            </p:childTnLst>
                          </p:cTn>
                        </p:par>
                      </p:childTnLst>
                    </p:cTn>
                  </p:par>
                  <p:par>
                    <p:cTn id="69" fill="hold">
                      <p:stCondLst>
                        <p:cond delay="indefinite"/>
                      </p:stCondLst>
                      <p:childTnLst>
                        <p:par>
                          <p:cTn id="70" fill="hold">
                            <p:stCondLst>
                              <p:cond delay="0"/>
                            </p:stCondLst>
                            <p:childTnLst>
                              <p:par>
                                <p:cTn id="71" presetID="1" presetClass="exit" presetSubtype="0" fill="hold" grpId="1" nodeType="clickEffect">
                                  <p:stCondLst>
                                    <p:cond delay="0"/>
                                  </p:stCondLst>
                                  <p:childTnLst>
                                    <p:set>
                                      <p:cBhvr>
                                        <p:cTn id="72" dur="1" fill="hold">
                                          <p:stCondLst>
                                            <p:cond delay="0"/>
                                          </p:stCondLst>
                                        </p:cTn>
                                        <p:tgtEl>
                                          <p:spTgt spid="19"/>
                                        </p:tgtEl>
                                        <p:attrNameLst>
                                          <p:attrName>style.visibility</p:attrName>
                                        </p:attrNameLst>
                                      </p:cBhvr>
                                      <p:to>
                                        <p:strVal val="hidden"/>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60"/>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61"/>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8" presetClass="emph" presetSubtype="0" fill="hold" grpId="0" nodeType="clickEffect">
                                  <p:stCondLst>
                                    <p:cond delay="0"/>
                                  </p:stCondLst>
                                  <p:childTnLst>
                                    <p:animRot by="21600000">
                                      <p:cBhvr>
                                        <p:cTn id="84" dur="2000" fill="hold"/>
                                        <p:tgtEl>
                                          <p:spTgt spid="11"/>
                                        </p:tgtEl>
                                        <p:attrNameLst>
                                          <p:attrName>r</p:attrName>
                                        </p:attrNameLst>
                                      </p:cBhvr>
                                    </p:animRot>
                                  </p:childTnLst>
                                </p:cTn>
                              </p:par>
                            </p:childTnLst>
                          </p:cTn>
                        </p:par>
                      </p:childTnLst>
                    </p:cTn>
                  </p:par>
                  <p:par>
                    <p:cTn id="85" fill="hold">
                      <p:stCondLst>
                        <p:cond delay="indefinite"/>
                      </p:stCondLst>
                      <p:childTnLst>
                        <p:par>
                          <p:cTn id="86" fill="hold">
                            <p:stCondLst>
                              <p:cond delay="0"/>
                            </p:stCondLst>
                            <p:childTnLst>
                              <p:par>
                                <p:cTn id="87" presetID="8" presetClass="emph" presetSubtype="0" fill="hold" grpId="0" nodeType="clickEffect">
                                  <p:stCondLst>
                                    <p:cond delay="0"/>
                                  </p:stCondLst>
                                  <p:childTnLst>
                                    <p:animRot by="21600000">
                                      <p:cBhvr>
                                        <p:cTn id="88" dur="2000" fill="hold"/>
                                        <p:tgtEl>
                                          <p:spTgt spid="5"/>
                                        </p:tgtEl>
                                        <p:attrNameLst>
                                          <p:attrName>r</p:attrName>
                                        </p:attrNameLst>
                                      </p:cBhvr>
                                    </p:animRot>
                                  </p:childTnLst>
                                </p:cTn>
                              </p:par>
                            </p:childTnLst>
                          </p:cTn>
                        </p:par>
                      </p:childTnLst>
                    </p:cTn>
                  </p:par>
                  <p:par>
                    <p:cTn id="89" fill="hold">
                      <p:stCondLst>
                        <p:cond delay="indefinite"/>
                      </p:stCondLst>
                      <p:childTnLst>
                        <p:par>
                          <p:cTn id="90" fill="hold">
                            <p:stCondLst>
                              <p:cond delay="0"/>
                            </p:stCondLst>
                            <p:childTnLst>
                              <p:par>
                                <p:cTn id="91" presetID="17" presetClass="entr" presetSubtype="1" fill="hold" nodeType="clickEffect">
                                  <p:stCondLst>
                                    <p:cond delay="0"/>
                                  </p:stCondLst>
                                  <p:childTnLst>
                                    <p:set>
                                      <p:cBhvr>
                                        <p:cTn id="92" dur="1" fill="hold">
                                          <p:stCondLst>
                                            <p:cond delay="0"/>
                                          </p:stCondLst>
                                        </p:cTn>
                                        <p:tgtEl>
                                          <p:spTgt spid="65"/>
                                        </p:tgtEl>
                                        <p:attrNameLst>
                                          <p:attrName>style.visibility</p:attrName>
                                        </p:attrNameLst>
                                      </p:cBhvr>
                                      <p:to>
                                        <p:strVal val="visible"/>
                                      </p:to>
                                    </p:set>
                                    <p:anim calcmode="lin" valueType="num">
                                      <p:cBhvr>
                                        <p:cTn id="93" dur="500" fill="hold"/>
                                        <p:tgtEl>
                                          <p:spTgt spid="65"/>
                                        </p:tgtEl>
                                        <p:attrNameLst>
                                          <p:attrName>ppt_x</p:attrName>
                                        </p:attrNameLst>
                                      </p:cBhvr>
                                      <p:tavLst>
                                        <p:tav tm="0">
                                          <p:val>
                                            <p:strVal val="#ppt_x"/>
                                          </p:val>
                                        </p:tav>
                                        <p:tav tm="100000">
                                          <p:val>
                                            <p:strVal val="#ppt_x"/>
                                          </p:val>
                                        </p:tav>
                                      </p:tavLst>
                                    </p:anim>
                                    <p:anim calcmode="lin" valueType="num">
                                      <p:cBhvr>
                                        <p:cTn id="94" dur="500" fill="hold"/>
                                        <p:tgtEl>
                                          <p:spTgt spid="65"/>
                                        </p:tgtEl>
                                        <p:attrNameLst>
                                          <p:attrName>ppt_y</p:attrName>
                                        </p:attrNameLst>
                                      </p:cBhvr>
                                      <p:tavLst>
                                        <p:tav tm="0">
                                          <p:val>
                                            <p:strVal val="#ppt_y-#ppt_h/2"/>
                                          </p:val>
                                        </p:tav>
                                        <p:tav tm="100000">
                                          <p:val>
                                            <p:strVal val="#ppt_y"/>
                                          </p:val>
                                        </p:tav>
                                      </p:tavLst>
                                    </p:anim>
                                    <p:anim calcmode="lin" valueType="num">
                                      <p:cBhvr>
                                        <p:cTn id="95" dur="500" fill="hold"/>
                                        <p:tgtEl>
                                          <p:spTgt spid="65"/>
                                        </p:tgtEl>
                                        <p:attrNameLst>
                                          <p:attrName>ppt_w</p:attrName>
                                        </p:attrNameLst>
                                      </p:cBhvr>
                                      <p:tavLst>
                                        <p:tav tm="0">
                                          <p:val>
                                            <p:strVal val="#ppt_w"/>
                                          </p:val>
                                        </p:tav>
                                        <p:tav tm="100000">
                                          <p:val>
                                            <p:strVal val="#ppt_w"/>
                                          </p:val>
                                        </p:tav>
                                      </p:tavLst>
                                    </p:anim>
                                    <p:anim calcmode="lin" valueType="num">
                                      <p:cBhvr>
                                        <p:cTn id="96" dur="500" fill="hold"/>
                                        <p:tgtEl>
                                          <p:spTgt spid="65"/>
                                        </p:tgtEl>
                                        <p:attrNameLst>
                                          <p:attrName>ppt_h</p:attrName>
                                        </p:attrNameLst>
                                      </p:cBhvr>
                                      <p:tavLst>
                                        <p:tav tm="0">
                                          <p:val>
                                            <p:fltVal val="0"/>
                                          </p:val>
                                        </p:tav>
                                        <p:tav tm="100000">
                                          <p:val>
                                            <p:strVal val="#ppt_h"/>
                                          </p:val>
                                        </p:tav>
                                      </p:tavLst>
                                    </p:anim>
                                  </p:childTnLst>
                                </p:cTn>
                              </p:par>
                            </p:childTnLst>
                          </p:cTn>
                        </p:par>
                        <p:par>
                          <p:cTn id="97" fill="hold">
                            <p:stCondLst>
                              <p:cond delay="500"/>
                            </p:stCondLst>
                            <p:childTnLst>
                              <p:par>
                                <p:cTn id="98" presetID="17" presetClass="entr" presetSubtype="1" fill="hold" grpId="0" nodeType="afterEffect">
                                  <p:stCondLst>
                                    <p:cond delay="0"/>
                                  </p:stCondLst>
                                  <p:childTnLst>
                                    <p:set>
                                      <p:cBhvr>
                                        <p:cTn id="99" dur="1" fill="hold">
                                          <p:stCondLst>
                                            <p:cond delay="0"/>
                                          </p:stCondLst>
                                        </p:cTn>
                                        <p:tgtEl>
                                          <p:spTgt spid="62"/>
                                        </p:tgtEl>
                                        <p:attrNameLst>
                                          <p:attrName>style.visibility</p:attrName>
                                        </p:attrNameLst>
                                      </p:cBhvr>
                                      <p:to>
                                        <p:strVal val="visible"/>
                                      </p:to>
                                    </p:set>
                                    <p:anim calcmode="lin" valueType="num">
                                      <p:cBhvr>
                                        <p:cTn id="100" dur="500" fill="hold"/>
                                        <p:tgtEl>
                                          <p:spTgt spid="62"/>
                                        </p:tgtEl>
                                        <p:attrNameLst>
                                          <p:attrName>ppt_x</p:attrName>
                                        </p:attrNameLst>
                                      </p:cBhvr>
                                      <p:tavLst>
                                        <p:tav tm="0">
                                          <p:val>
                                            <p:strVal val="#ppt_x"/>
                                          </p:val>
                                        </p:tav>
                                        <p:tav tm="100000">
                                          <p:val>
                                            <p:strVal val="#ppt_x"/>
                                          </p:val>
                                        </p:tav>
                                      </p:tavLst>
                                    </p:anim>
                                    <p:anim calcmode="lin" valueType="num">
                                      <p:cBhvr>
                                        <p:cTn id="101" dur="500" fill="hold"/>
                                        <p:tgtEl>
                                          <p:spTgt spid="62"/>
                                        </p:tgtEl>
                                        <p:attrNameLst>
                                          <p:attrName>ppt_y</p:attrName>
                                        </p:attrNameLst>
                                      </p:cBhvr>
                                      <p:tavLst>
                                        <p:tav tm="0">
                                          <p:val>
                                            <p:strVal val="#ppt_y-#ppt_h/2"/>
                                          </p:val>
                                        </p:tav>
                                        <p:tav tm="100000">
                                          <p:val>
                                            <p:strVal val="#ppt_y"/>
                                          </p:val>
                                        </p:tav>
                                      </p:tavLst>
                                    </p:anim>
                                    <p:anim calcmode="lin" valueType="num">
                                      <p:cBhvr>
                                        <p:cTn id="102" dur="500" fill="hold"/>
                                        <p:tgtEl>
                                          <p:spTgt spid="62"/>
                                        </p:tgtEl>
                                        <p:attrNameLst>
                                          <p:attrName>ppt_w</p:attrName>
                                        </p:attrNameLst>
                                      </p:cBhvr>
                                      <p:tavLst>
                                        <p:tav tm="0">
                                          <p:val>
                                            <p:strVal val="#ppt_w"/>
                                          </p:val>
                                        </p:tav>
                                        <p:tav tm="100000">
                                          <p:val>
                                            <p:strVal val="#ppt_w"/>
                                          </p:val>
                                        </p:tav>
                                      </p:tavLst>
                                    </p:anim>
                                    <p:anim calcmode="lin" valueType="num">
                                      <p:cBhvr>
                                        <p:cTn id="103" dur="500" fill="hold"/>
                                        <p:tgtEl>
                                          <p:spTgt spid="62"/>
                                        </p:tgtEl>
                                        <p:attrNameLst>
                                          <p:attrName>ppt_h</p:attrName>
                                        </p:attrNameLst>
                                      </p:cBhvr>
                                      <p:tavLst>
                                        <p:tav tm="0">
                                          <p:val>
                                            <p:fltVal val="0"/>
                                          </p:val>
                                        </p:tav>
                                        <p:tav tm="100000">
                                          <p:val>
                                            <p:strVal val="#ppt_h"/>
                                          </p:val>
                                        </p:tav>
                                      </p:tavLst>
                                    </p:anim>
                                  </p:childTnLst>
                                </p:cTn>
                              </p:par>
                            </p:childTnLst>
                          </p:cTn>
                        </p:par>
                        <p:par>
                          <p:cTn id="104" fill="hold">
                            <p:stCondLst>
                              <p:cond delay="1000"/>
                            </p:stCondLst>
                            <p:childTnLst>
                              <p:par>
                                <p:cTn id="105" presetID="17" presetClass="entr" presetSubtype="1" fill="hold" nodeType="afterEffect">
                                  <p:stCondLst>
                                    <p:cond delay="0"/>
                                  </p:stCondLst>
                                  <p:childTnLst>
                                    <p:set>
                                      <p:cBhvr>
                                        <p:cTn id="106" dur="1" fill="hold">
                                          <p:stCondLst>
                                            <p:cond delay="0"/>
                                          </p:stCondLst>
                                        </p:cTn>
                                        <p:tgtEl>
                                          <p:spTgt spid="63"/>
                                        </p:tgtEl>
                                        <p:attrNameLst>
                                          <p:attrName>style.visibility</p:attrName>
                                        </p:attrNameLst>
                                      </p:cBhvr>
                                      <p:to>
                                        <p:strVal val="visible"/>
                                      </p:to>
                                    </p:set>
                                    <p:anim calcmode="lin" valueType="num">
                                      <p:cBhvr>
                                        <p:cTn id="107" dur="500" fill="hold"/>
                                        <p:tgtEl>
                                          <p:spTgt spid="63"/>
                                        </p:tgtEl>
                                        <p:attrNameLst>
                                          <p:attrName>ppt_x</p:attrName>
                                        </p:attrNameLst>
                                      </p:cBhvr>
                                      <p:tavLst>
                                        <p:tav tm="0">
                                          <p:val>
                                            <p:strVal val="#ppt_x"/>
                                          </p:val>
                                        </p:tav>
                                        <p:tav tm="100000">
                                          <p:val>
                                            <p:strVal val="#ppt_x"/>
                                          </p:val>
                                        </p:tav>
                                      </p:tavLst>
                                    </p:anim>
                                    <p:anim calcmode="lin" valueType="num">
                                      <p:cBhvr>
                                        <p:cTn id="108" dur="500" fill="hold"/>
                                        <p:tgtEl>
                                          <p:spTgt spid="63"/>
                                        </p:tgtEl>
                                        <p:attrNameLst>
                                          <p:attrName>ppt_y</p:attrName>
                                        </p:attrNameLst>
                                      </p:cBhvr>
                                      <p:tavLst>
                                        <p:tav tm="0">
                                          <p:val>
                                            <p:strVal val="#ppt_y-#ppt_h/2"/>
                                          </p:val>
                                        </p:tav>
                                        <p:tav tm="100000">
                                          <p:val>
                                            <p:strVal val="#ppt_y"/>
                                          </p:val>
                                        </p:tav>
                                      </p:tavLst>
                                    </p:anim>
                                    <p:anim calcmode="lin" valueType="num">
                                      <p:cBhvr>
                                        <p:cTn id="109" dur="500" fill="hold"/>
                                        <p:tgtEl>
                                          <p:spTgt spid="63"/>
                                        </p:tgtEl>
                                        <p:attrNameLst>
                                          <p:attrName>ppt_w</p:attrName>
                                        </p:attrNameLst>
                                      </p:cBhvr>
                                      <p:tavLst>
                                        <p:tav tm="0">
                                          <p:val>
                                            <p:strVal val="#ppt_w"/>
                                          </p:val>
                                        </p:tav>
                                        <p:tav tm="100000">
                                          <p:val>
                                            <p:strVal val="#ppt_w"/>
                                          </p:val>
                                        </p:tav>
                                      </p:tavLst>
                                    </p:anim>
                                    <p:anim calcmode="lin" valueType="num">
                                      <p:cBhvr>
                                        <p:cTn id="110" dur="500" fill="hold"/>
                                        <p:tgtEl>
                                          <p:spTgt spid="63"/>
                                        </p:tgtEl>
                                        <p:attrNameLst>
                                          <p:attrName>ppt_h</p:attrName>
                                        </p:attrNameLst>
                                      </p:cBhvr>
                                      <p:tavLst>
                                        <p:tav tm="0">
                                          <p:val>
                                            <p:fltVal val="0"/>
                                          </p:val>
                                        </p:tav>
                                        <p:tav tm="100000">
                                          <p:val>
                                            <p:strVal val="#ppt_h"/>
                                          </p:val>
                                        </p:tav>
                                      </p:tavLst>
                                    </p:anim>
                                  </p:childTnLst>
                                </p:cTn>
                              </p:par>
                            </p:childTnLst>
                          </p:cTn>
                        </p:par>
                        <p:par>
                          <p:cTn id="111" fill="hold">
                            <p:stCondLst>
                              <p:cond delay="1500"/>
                            </p:stCondLst>
                            <p:childTnLst>
                              <p:par>
                                <p:cTn id="112" presetID="17" presetClass="entr" presetSubtype="1" fill="hold" nodeType="afterEffect">
                                  <p:stCondLst>
                                    <p:cond delay="0"/>
                                  </p:stCondLst>
                                  <p:childTnLst>
                                    <p:set>
                                      <p:cBhvr>
                                        <p:cTn id="113" dur="1" fill="hold">
                                          <p:stCondLst>
                                            <p:cond delay="0"/>
                                          </p:stCondLst>
                                        </p:cTn>
                                        <p:tgtEl>
                                          <p:spTgt spid="64"/>
                                        </p:tgtEl>
                                        <p:attrNameLst>
                                          <p:attrName>style.visibility</p:attrName>
                                        </p:attrNameLst>
                                      </p:cBhvr>
                                      <p:to>
                                        <p:strVal val="visible"/>
                                      </p:to>
                                    </p:set>
                                    <p:anim calcmode="lin" valueType="num">
                                      <p:cBhvr>
                                        <p:cTn id="114" dur="500" fill="hold"/>
                                        <p:tgtEl>
                                          <p:spTgt spid="64"/>
                                        </p:tgtEl>
                                        <p:attrNameLst>
                                          <p:attrName>ppt_x</p:attrName>
                                        </p:attrNameLst>
                                      </p:cBhvr>
                                      <p:tavLst>
                                        <p:tav tm="0">
                                          <p:val>
                                            <p:strVal val="#ppt_x"/>
                                          </p:val>
                                        </p:tav>
                                        <p:tav tm="100000">
                                          <p:val>
                                            <p:strVal val="#ppt_x"/>
                                          </p:val>
                                        </p:tav>
                                      </p:tavLst>
                                    </p:anim>
                                    <p:anim calcmode="lin" valueType="num">
                                      <p:cBhvr>
                                        <p:cTn id="115" dur="500" fill="hold"/>
                                        <p:tgtEl>
                                          <p:spTgt spid="64"/>
                                        </p:tgtEl>
                                        <p:attrNameLst>
                                          <p:attrName>ppt_y</p:attrName>
                                        </p:attrNameLst>
                                      </p:cBhvr>
                                      <p:tavLst>
                                        <p:tav tm="0">
                                          <p:val>
                                            <p:strVal val="#ppt_y-#ppt_h/2"/>
                                          </p:val>
                                        </p:tav>
                                        <p:tav tm="100000">
                                          <p:val>
                                            <p:strVal val="#ppt_y"/>
                                          </p:val>
                                        </p:tav>
                                      </p:tavLst>
                                    </p:anim>
                                    <p:anim calcmode="lin" valueType="num">
                                      <p:cBhvr>
                                        <p:cTn id="116" dur="500" fill="hold"/>
                                        <p:tgtEl>
                                          <p:spTgt spid="64"/>
                                        </p:tgtEl>
                                        <p:attrNameLst>
                                          <p:attrName>ppt_w</p:attrName>
                                        </p:attrNameLst>
                                      </p:cBhvr>
                                      <p:tavLst>
                                        <p:tav tm="0">
                                          <p:val>
                                            <p:strVal val="#ppt_w"/>
                                          </p:val>
                                        </p:tav>
                                        <p:tav tm="100000">
                                          <p:val>
                                            <p:strVal val="#ppt_w"/>
                                          </p:val>
                                        </p:tav>
                                      </p:tavLst>
                                    </p:anim>
                                    <p:anim calcmode="lin" valueType="num">
                                      <p:cBhvr>
                                        <p:cTn id="117" dur="500" fill="hold"/>
                                        <p:tgtEl>
                                          <p:spTgt spid="64"/>
                                        </p:tgtEl>
                                        <p:attrNameLst>
                                          <p:attrName>ppt_h</p:attrName>
                                        </p:attrNameLst>
                                      </p:cBhvr>
                                      <p:tavLst>
                                        <p:tav tm="0">
                                          <p:val>
                                            <p:fltVal val="0"/>
                                          </p:val>
                                        </p:tav>
                                        <p:tav tm="100000">
                                          <p:val>
                                            <p:strVal val="#ppt_h"/>
                                          </p:val>
                                        </p:tav>
                                      </p:tavLst>
                                    </p:anim>
                                  </p:childTnLst>
                                </p:cTn>
                              </p:par>
                            </p:childTnLst>
                          </p:cTn>
                        </p:par>
                      </p:childTnLst>
                    </p:cTn>
                  </p:par>
                  <p:par>
                    <p:cTn id="118" fill="hold">
                      <p:stCondLst>
                        <p:cond delay="indefinite"/>
                      </p:stCondLst>
                      <p:childTnLst>
                        <p:par>
                          <p:cTn id="119" fill="hold">
                            <p:stCondLst>
                              <p:cond delay="0"/>
                            </p:stCondLst>
                            <p:childTnLst>
                              <p:par>
                                <p:cTn id="120" presetID="17" presetClass="entr" presetSubtype="1" fill="hold" grpId="0" nodeType="clickEffect">
                                  <p:stCondLst>
                                    <p:cond delay="0"/>
                                  </p:stCondLst>
                                  <p:childTnLst>
                                    <p:set>
                                      <p:cBhvr>
                                        <p:cTn id="121" dur="1" fill="hold">
                                          <p:stCondLst>
                                            <p:cond delay="0"/>
                                          </p:stCondLst>
                                        </p:cTn>
                                        <p:tgtEl>
                                          <p:spTgt spid="66"/>
                                        </p:tgtEl>
                                        <p:attrNameLst>
                                          <p:attrName>style.visibility</p:attrName>
                                        </p:attrNameLst>
                                      </p:cBhvr>
                                      <p:to>
                                        <p:strVal val="visible"/>
                                      </p:to>
                                    </p:set>
                                    <p:anim calcmode="lin" valueType="num">
                                      <p:cBhvr>
                                        <p:cTn id="122" dur="500" fill="hold"/>
                                        <p:tgtEl>
                                          <p:spTgt spid="66"/>
                                        </p:tgtEl>
                                        <p:attrNameLst>
                                          <p:attrName>ppt_x</p:attrName>
                                        </p:attrNameLst>
                                      </p:cBhvr>
                                      <p:tavLst>
                                        <p:tav tm="0">
                                          <p:val>
                                            <p:strVal val="#ppt_x"/>
                                          </p:val>
                                        </p:tav>
                                        <p:tav tm="100000">
                                          <p:val>
                                            <p:strVal val="#ppt_x"/>
                                          </p:val>
                                        </p:tav>
                                      </p:tavLst>
                                    </p:anim>
                                    <p:anim calcmode="lin" valueType="num">
                                      <p:cBhvr>
                                        <p:cTn id="123" dur="500" fill="hold"/>
                                        <p:tgtEl>
                                          <p:spTgt spid="66"/>
                                        </p:tgtEl>
                                        <p:attrNameLst>
                                          <p:attrName>ppt_y</p:attrName>
                                        </p:attrNameLst>
                                      </p:cBhvr>
                                      <p:tavLst>
                                        <p:tav tm="0">
                                          <p:val>
                                            <p:strVal val="#ppt_y-#ppt_h/2"/>
                                          </p:val>
                                        </p:tav>
                                        <p:tav tm="100000">
                                          <p:val>
                                            <p:strVal val="#ppt_y"/>
                                          </p:val>
                                        </p:tav>
                                      </p:tavLst>
                                    </p:anim>
                                    <p:anim calcmode="lin" valueType="num">
                                      <p:cBhvr>
                                        <p:cTn id="124" dur="500" fill="hold"/>
                                        <p:tgtEl>
                                          <p:spTgt spid="66"/>
                                        </p:tgtEl>
                                        <p:attrNameLst>
                                          <p:attrName>ppt_w</p:attrName>
                                        </p:attrNameLst>
                                      </p:cBhvr>
                                      <p:tavLst>
                                        <p:tav tm="0">
                                          <p:val>
                                            <p:strVal val="#ppt_w"/>
                                          </p:val>
                                        </p:tav>
                                        <p:tav tm="100000">
                                          <p:val>
                                            <p:strVal val="#ppt_w"/>
                                          </p:val>
                                        </p:tav>
                                      </p:tavLst>
                                    </p:anim>
                                    <p:anim calcmode="lin" valueType="num">
                                      <p:cBhvr>
                                        <p:cTn id="125" dur="500" fill="hold"/>
                                        <p:tgtEl>
                                          <p:spTgt spid="66"/>
                                        </p:tgtEl>
                                        <p:attrNameLst>
                                          <p:attrName>ppt_h</p:attrName>
                                        </p:attrNameLst>
                                      </p:cBhvr>
                                      <p:tavLst>
                                        <p:tav tm="0">
                                          <p:val>
                                            <p:fltVal val="0"/>
                                          </p:val>
                                        </p:tav>
                                        <p:tav tm="100000">
                                          <p:val>
                                            <p:strVal val="#ppt_h"/>
                                          </p:val>
                                        </p:tav>
                                      </p:tavLst>
                                    </p:anim>
                                  </p:childTnLst>
                                </p:cTn>
                              </p:par>
                            </p:childTnLst>
                          </p:cTn>
                        </p:par>
                      </p:childTnLst>
                    </p:cTn>
                  </p:par>
                  <p:par>
                    <p:cTn id="126" fill="hold">
                      <p:stCondLst>
                        <p:cond delay="indefinite"/>
                      </p:stCondLst>
                      <p:childTnLst>
                        <p:par>
                          <p:cTn id="127" fill="hold">
                            <p:stCondLst>
                              <p:cond delay="0"/>
                            </p:stCondLst>
                            <p:childTnLst>
                              <p:par>
                                <p:cTn id="128" presetID="17" presetClass="entr" presetSubtype="1" fill="hold" grpId="0" nodeType="clickEffect">
                                  <p:stCondLst>
                                    <p:cond delay="0"/>
                                  </p:stCondLst>
                                  <p:childTnLst>
                                    <p:set>
                                      <p:cBhvr>
                                        <p:cTn id="129" dur="1" fill="hold">
                                          <p:stCondLst>
                                            <p:cond delay="0"/>
                                          </p:stCondLst>
                                        </p:cTn>
                                        <p:tgtEl>
                                          <p:spTgt spid="67"/>
                                        </p:tgtEl>
                                        <p:attrNameLst>
                                          <p:attrName>style.visibility</p:attrName>
                                        </p:attrNameLst>
                                      </p:cBhvr>
                                      <p:to>
                                        <p:strVal val="visible"/>
                                      </p:to>
                                    </p:set>
                                    <p:anim calcmode="lin" valueType="num">
                                      <p:cBhvr>
                                        <p:cTn id="130" dur="500" fill="hold"/>
                                        <p:tgtEl>
                                          <p:spTgt spid="67"/>
                                        </p:tgtEl>
                                        <p:attrNameLst>
                                          <p:attrName>ppt_x</p:attrName>
                                        </p:attrNameLst>
                                      </p:cBhvr>
                                      <p:tavLst>
                                        <p:tav tm="0">
                                          <p:val>
                                            <p:strVal val="#ppt_x"/>
                                          </p:val>
                                        </p:tav>
                                        <p:tav tm="100000">
                                          <p:val>
                                            <p:strVal val="#ppt_x"/>
                                          </p:val>
                                        </p:tav>
                                      </p:tavLst>
                                    </p:anim>
                                    <p:anim calcmode="lin" valueType="num">
                                      <p:cBhvr>
                                        <p:cTn id="131" dur="500" fill="hold"/>
                                        <p:tgtEl>
                                          <p:spTgt spid="67"/>
                                        </p:tgtEl>
                                        <p:attrNameLst>
                                          <p:attrName>ppt_y</p:attrName>
                                        </p:attrNameLst>
                                      </p:cBhvr>
                                      <p:tavLst>
                                        <p:tav tm="0">
                                          <p:val>
                                            <p:strVal val="#ppt_y-#ppt_h/2"/>
                                          </p:val>
                                        </p:tav>
                                        <p:tav tm="100000">
                                          <p:val>
                                            <p:strVal val="#ppt_y"/>
                                          </p:val>
                                        </p:tav>
                                      </p:tavLst>
                                    </p:anim>
                                    <p:anim calcmode="lin" valueType="num">
                                      <p:cBhvr>
                                        <p:cTn id="132" dur="500" fill="hold"/>
                                        <p:tgtEl>
                                          <p:spTgt spid="67"/>
                                        </p:tgtEl>
                                        <p:attrNameLst>
                                          <p:attrName>ppt_w</p:attrName>
                                        </p:attrNameLst>
                                      </p:cBhvr>
                                      <p:tavLst>
                                        <p:tav tm="0">
                                          <p:val>
                                            <p:strVal val="#ppt_w"/>
                                          </p:val>
                                        </p:tav>
                                        <p:tav tm="100000">
                                          <p:val>
                                            <p:strVal val="#ppt_w"/>
                                          </p:val>
                                        </p:tav>
                                      </p:tavLst>
                                    </p:anim>
                                    <p:anim calcmode="lin" valueType="num">
                                      <p:cBhvr>
                                        <p:cTn id="133" dur="500" fill="hold"/>
                                        <p:tgtEl>
                                          <p:spTgt spid="67"/>
                                        </p:tgtEl>
                                        <p:attrNameLst>
                                          <p:attrName>ppt_h</p:attrName>
                                        </p:attrNameLst>
                                      </p:cBhvr>
                                      <p:tavLst>
                                        <p:tav tm="0">
                                          <p:val>
                                            <p:fltVal val="0"/>
                                          </p:val>
                                        </p:tav>
                                        <p:tav tm="100000">
                                          <p:val>
                                            <p:strVal val="#ppt_h"/>
                                          </p:val>
                                        </p:tav>
                                      </p:tavLst>
                                    </p:anim>
                                  </p:childTnLst>
                                </p:cTn>
                              </p:par>
                            </p:childTnLst>
                          </p:cTn>
                        </p:par>
                      </p:childTnLst>
                    </p:cTn>
                  </p:par>
                  <p:par>
                    <p:cTn id="134" fill="hold">
                      <p:stCondLst>
                        <p:cond delay="indefinite"/>
                      </p:stCondLst>
                      <p:childTnLst>
                        <p:par>
                          <p:cTn id="135" fill="hold">
                            <p:stCondLst>
                              <p:cond delay="0"/>
                            </p:stCondLst>
                            <p:childTnLst>
                              <p:par>
                                <p:cTn id="136" presetID="1" presetClass="entr" presetSubtype="0" fill="hold" grpId="0" nodeType="clickEffect">
                                  <p:stCondLst>
                                    <p:cond delay="0"/>
                                  </p:stCondLst>
                                  <p:childTnLst>
                                    <p:set>
                                      <p:cBhvr>
                                        <p:cTn id="137" dur="1" fill="hold">
                                          <p:stCondLst>
                                            <p:cond delay="0"/>
                                          </p:stCondLst>
                                        </p:cTn>
                                        <p:tgtEl>
                                          <p:spTgt spid="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109" grpId="0" animBg="1" autoUpdateAnimBg="0"/>
      <p:bldP spid="46129" grpId="0" autoUpdateAnimBg="0"/>
      <p:bldP spid="46130" grpId="0" autoUpdateAnimBg="0"/>
      <p:bldP spid="4" grpId="0"/>
      <p:bldP spid="5" grpId="0"/>
      <p:bldP spid="9" grpId="0"/>
      <p:bldP spid="11" grpId="0"/>
      <p:bldP spid="18" grpId="0" animBg="1"/>
      <p:bldP spid="18" grpId="1" animBg="1"/>
      <p:bldP spid="19" grpId="0" animBg="1"/>
      <p:bldP spid="19" grpId="1" animBg="1"/>
      <p:bldP spid="60" grpId="0" animBg="1"/>
      <p:bldP spid="61" grpId="0" animBg="1"/>
      <p:bldP spid="62" grpId="0" animBg="1" autoUpdateAnimBg="0"/>
      <p:bldP spid="66" grpId="0" autoUpdateAnimBg="0"/>
      <p:bldP spid="67" grpId="0" autoUpdateAnimBg="0"/>
      <p:bldP spid="70"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4" name="Text Box 4">
            <a:extLst>
              <a:ext uri="{FF2B5EF4-FFF2-40B4-BE49-F238E27FC236}">
                <a16:creationId xmlns:a16="http://schemas.microsoft.com/office/drawing/2014/main" id="{0C559EB6-38B2-4772-BA17-E042EA839CE0}"/>
              </a:ext>
            </a:extLst>
          </p:cNvPr>
          <p:cNvSpPr txBox="1">
            <a:spLocks noChangeArrowheads="1"/>
          </p:cNvSpPr>
          <p:nvPr/>
        </p:nvSpPr>
        <p:spPr bwMode="auto">
          <a:xfrm>
            <a:off x="539552" y="1201365"/>
            <a:ext cx="72327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0" i="0" dirty="0">
                <a:solidFill>
                  <a:srgbClr val="FF0000"/>
                </a:solidFill>
                <a:latin typeface="黑体" panose="02010609060101010101" pitchFamily="49" charset="-122"/>
                <a:ea typeface="黑体" panose="02010609060101010101" pitchFamily="49" charset="-122"/>
              </a:rPr>
              <a:t>例</a:t>
            </a:r>
            <a:r>
              <a:rPr lang="en-US" altLang="zh-CN" sz="2800" b="0" i="0" dirty="0">
                <a:solidFill>
                  <a:srgbClr val="FF0000"/>
                </a:solidFill>
                <a:latin typeface="黑体" panose="02010609060101010101" pitchFamily="49" charset="-122"/>
                <a:ea typeface="黑体" panose="02010609060101010101" pitchFamily="49" charset="-122"/>
              </a:rPr>
              <a:t>:</a:t>
            </a:r>
          </a:p>
        </p:txBody>
      </p:sp>
      <p:sp>
        <p:nvSpPr>
          <p:cNvPr id="46101" name="Text Box 21">
            <a:extLst>
              <a:ext uri="{FF2B5EF4-FFF2-40B4-BE49-F238E27FC236}">
                <a16:creationId xmlns:a16="http://schemas.microsoft.com/office/drawing/2014/main" id="{152C7AA3-360F-4F05-9F69-630F226CC630}"/>
              </a:ext>
            </a:extLst>
          </p:cNvPr>
          <p:cNvSpPr txBox="1">
            <a:spLocks noChangeArrowheads="1"/>
          </p:cNvSpPr>
          <p:nvPr/>
        </p:nvSpPr>
        <p:spPr bwMode="auto">
          <a:xfrm>
            <a:off x="4352727" y="2921078"/>
            <a:ext cx="1371600" cy="584775"/>
          </a:xfrm>
          <a:prstGeom prst="rect">
            <a:avLst/>
          </a:prstGeom>
          <a:solidFill>
            <a:srgbClr val="CCFFFF">
              <a:alpha val="50195"/>
            </a:srgbClr>
          </a:solidFill>
          <a:ln w="25400" cap="sq">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b="1" i="0">
                <a:solidFill>
                  <a:srgbClr val="006666"/>
                </a:solidFill>
                <a:latin typeface="Times New Roman" panose="02020603050405020304" pitchFamily="18" charset="0"/>
              </a:rPr>
              <a:t>a</a:t>
            </a:r>
            <a:endParaRPr lang="en-US" altLang="zh-CN" i="0">
              <a:latin typeface="Times New Roman" panose="02020603050405020304" pitchFamily="18" charset="0"/>
            </a:endParaRPr>
          </a:p>
        </p:txBody>
      </p:sp>
      <p:sp>
        <p:nvSpPr>
          <p:cNvPr id="46102" name="Line 22">
            <a:extLst>
              <a:ext uri="{FF2B5EF4-FFF2-40B4-BE49-F238E27FC236}">
                <a16:creationId xmlns:a16="http://schemas.microsoft.com/office/drawing/2014/main" id="{CF980522-E3F1-4DD6-BBC1-0B2C9A66BE84}"/>
              </a:ext>
            </a:extLst>
          </p:cNvPr>
          <p:cNvSpPr>
            <a:spLocks noChangeShapeType="1"/>
          </p:cNvSpPr>
          <p:nvPr/>
        </p:nvSpPr>
        <p:spPr bwMode="auto">
          <a:xfrm flipH="1">
            <a:off x="4733727" y="2921078"/>
            <a:ext cx="0" cy="558225"/>
          </a:xfrm>
          <a:prstGeom prst="line">
            <a:avLst/>
          </a:prstGeom>
          <a:noFill/>
          <a:ln w="12700"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i="0"/>
          </a:p>
        </p:txBody>
      </p:sp>
      <p:sp>
        <p:nvSpPr>
          <p:cNvPr id="46103" name="Line 23">
            <a:extLst>
              <a:ext uri="{FF2B5EF4-FFF2-40B4-BE49-F238E27FC236}">
                <a16:creationId xmlns:a16="http://schemas.microsoft.com/office/drawing/2014/main" id="{6E1082B7-6CF0-4EFD-81C2-18C07B0F42E0}"/>
              </a:ext>
            </a:extLst>
          </p:cNvPr>
          <p:cNvSpPr>
            <a:spLocks noChangeShapeType="1"/>
          </p:cNvSpPr>
          <p:nvPr/>
        </p:nvSpPr>
        <p:spPr bwMode="auto">
          <a:xfrm flipH="1">
            <a:off x="5325985" y="2921078"/>
            <a:ext cx="17342" cy="584775"/>
          </a:xfrm>
          <a:prstGeom prst="line">
            <a:avLst/>
          </a:prstGeom>
          <a:noFill/>
          <a:ln w="12700"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i="0"/>
          </a:p>
        </p:txBody>
      </p:sp>
      <p:sp>
        <p:nvSpPr>
          <p:cNvPr id="46104" name="Line 24">
            <a:extLst>
              <a:ext uri="{FF2B5EF4-FFF2-40B4-BE49-F238E27FC236}">
                <a16:creationId xmlns:a16="http://schemas.microsoft.com/office/drawing/2014/main" id="{2CE138B1-D348-4218-B6FA-948CB208ACBA}"/>
              </a:ext>
            </a:extLst>
          </p:cNvPr>
          <p:cNvSpPr>
            <a:spLocks noChangeShapeType="1"/>
          </p:cNvSpPr>
          <p:nvPr/>
        </p:nvSpPr>
        <p:spPr bwMode="auto">
          <a:xfrm>
            <a:off x="4606727" y="2564904"/>
            <a:ext cx="431800" cy="356174"/>
          </a:xfrm>
          <a:prstGeom prst="line">
            <a:avLst/>
          </a:prstGeom>
          <a:noFill/>
          <a:ln w="31750" cap="sq">
            <a:solidFill>
              <a:srgbClr val="0033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i="0"/>
          </a:p>
        </p:txBody>
      </p:sp>
      <p:sp>
        <p:nvSpPr>
          <p:cNvPr id="46105" name="Text Box 25">
            <a:extLst>
              <a:ext uri="{FF2B5EF4-FFF2-40B4-BE49-F238E27FC236}">
                <a16:creationId xmlns:a16="http://schemas.microsoft.com/office/drawing/2014/main" id="{8653A572-808D-492F-8926-D281FF673069}"/>
              </a:ext>
            </a:extLst>
          </p:cNvPr>
          <p:cNvSpPr txBox="1">
            <a:spLocks noChangeArrowheads="1"/>
          </p:cNvSpPr>
          <p:nvPr/>
        </p:nvSpPr>
        <p:spPr bwMode="auto">
          <a:xfrm>
            <a:off x="2600127" y="3911678"/>
            <a:ext cx="1371600" cy="584775"/>
          </a:xfrm>
          <a:prstGeom prst="rect">
            <a:avLst/>
          </a:prstGeom>
          <a:solidFill>
            <a:srgbClr val="CCFFFF">
              <a:alpha val="50195"/>
            </a:srgbClr>
          </a:solidFill>
          <a:ln w="25400" cap="sq">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b="1" i="0">
                <a:solidFill>
                  <a:srgbClr val="006666"/>
                </a:solidFill>
                <a:latin typeface="Times New Roman" panose="02020603050405020304" pitchFamily="18" charset="0"/>
              </a:rPr>
              <a:t>b</a:t>
            </a:r>
            <a:endParaRPr lang="en-US" altLang="zh-CN" i="0">
              <a:latin typeface="Times New Roman" panose="02020603050405020304" pitchFamily="18" charset="0"/>
            </a:endParaRPr>
          </a:p>
        </p:txBody>
      </p:sp>
      <p:sp>
        <p:nvSpPr>
          <p:cNvPr id="46106" name="Line 26">
            <a:extLst>
              <a:ext uri="{FF2B5EF4-FFF2-40B4-BE49-F238E27FC236}">
                <a16:creationId xmlns:a16="http://schemas.microsoft.com/office/drawing/2014/main" id="{39EE7A3A-C8C8-46F3-AE62-CB118B53EDEF}"/>
              </a:ext>
            </a:extLst>
          </p:cNvPr>
          <p:cNvSpPr>
            <a:spLocks noChangeShapeType="1"/>
          </p:cNvSpPr>
          <p:nvPr/>
        </p:nvSpPr>
        <p:spPr bwMode="auto">
          <a:xfrm>
            <a:off x="2981126" y="3911678"/>
            <a:ext cx="26749" cy="609600"/>
          </a:xfrm>
          <a:prstGeom prst="line">
            <a:avLst/>
          </a:prstGeom>
          <a:noFill/>
          <a:ln w="12700"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i="0"/>
          </a:p>
        </p:txBody>
      </p:sp>
      <p:sp>
        <p:nvSpPr>
          <p:cNvPr id="46107" name="Line 27">
            <a:extLst>
              <a:ext uri="{FF2B5EF4-FFF2-40B4-BE49-F238E27FC236}">
                <a16:creationId xmlns:a16="http://schemas.microsoft.com/office/drawing/2014/main" id="{51FFBDDB-6687-4590-8BC6-CF8E6D937CB0}"/>
              </a:ext>
            </a:extLst>
          </p:cNvPr>
          <p:cNvSpPr>
            <a:spLocks noChangeShapeType="1"/>
          </p:cNvSpPr>
          <p:nvPr/>
        </p:nvSpPr>
        <p:spPr bwMode="auto">
          <a:xfrm flipH="1">
            <a:off x="3590726" y="3911678"/>
            <a:ext cx="1" cy="609600"/>
          </a:xfrm>
          <a:prstGeom prst="line">
            <a:avLst/>
          </a:prstGeom>
          <a:noFill/>
          <a:ln w="12700"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i="0"/>
          </a:p>
        </p:txBody>
      </p:sp>
      <p:sp>
        <p:nvSpPr>
          <p:cNvPr id="46108" name="Line 28">
            <a:extLst>
              <a:ext uri="{FF2B5EF4-FFF2-40B4-BE49-F238E27FC236}">
                <a16:creationId xmlns:a16="http://schemas.microsoft.com/office/drawing/2014/main" id="{37F2D178-152F-4030-935D-131BA05E85D1}"/>
              </a:ext>
            </a:extLst>
          </p:cNvPr>
          <p:cNvSpPr>
            <a:spLocks noChangeShapeType="1"/>
          </p:cNvSpPr>
          <p:nvPr/>
        </p:nvSpPr>
        <p:spPr bwMode="auto">
          <a:xfrm flipH="1">
            <a:off x="3285927" y="3302078"/>
            <a:ext cx="1295400" cy="609600"/>
          </a:xfrm>
          <a:prstGeom prst="line">
            <a:avLst/>
          </a:prstGeom>
          <a:noFill/>
          <a:ln w="31750" cap="sq">
            <a:solidFill>
              <a:srgbClr val="00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i="0"/>
          </a:p>
        </p:txBody>
      </p:sp>
      <p:sp>
        <p:nvSpPr>
          <p:cNvPr id="46109" name="Text Box 29">
            <a:extLst>
              <a:ext uri="{FF2B5EF4-FFF2-40B4-BE49-F238E27FC236}">
                <a16:creationId xmlns:a16="http://schemas.microsoft.com/office/drawing/2014/main" id="{372907E5-4647-4046-B617-125BE061168B}"/>
              </a:ext>
            </a:extLst>
          </p:cNvPr>
          <p:cNvSpPr txBox="1">
            <a:spLocks noChangeArrowheads="1"/>
          </p:cNvSpPr>
          <p:nvPr/>
        </p:nvSpPr>
        <p:spPr bwMode="auto">
          <a:xfrm>
            <a:off x="1609527" y="5054678"/>
            <a:ext cx="1371600" cy="584775"/>
          </a:xfrm>
          <a:prstGeom prst="rect">
            <a:avLst/>
          </a:prstGeom>
          <a:solidFill>
            <a:srgbClr val="CCFFFF">
              <a:alpha val="50195"/>
            </a:srgbClr>
          </a:solidFill>
          <a:ln w="25400" cap="sq">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b="1" i="0">
                <a:solidFill>
                  <a:srgbClr val="006666"/>
                </a:solidFill>
                <a:latin typeface="Times New Roman" panose="02020603050405020304" pitchFamily="18" charset="0"/>
              </a:rPr>
              <a:t>c</a:t>
            </a:r>
            <a:endParaRPr lang="en-US" altLang="zh-CN" i="0">
              <a:latin typeface="Times New Roman" panose="02020603050405020304" pitchFamily="18" charset="0"/>
            </a:endParaRPr>
          </a:p>
        </p:txBody>
      </p:sp>
      <p:sp>
        <p:nvSpPr>
          <p:cNvPr id="46110" name="Line 30">
            <a:extLst>
              <a:ext uri="{FF2B5EF4-FFF2-40B4-BE49-F238E27FC236}">
                <a16:creationId xmlns:a16="http://schemas.microsoft.com/office/drawing/2014/main" id="{82303E6D-4DA5-4D41-A7B5-A7DBC63697D7}"/>
              </a:ext>
            </a:extLst>
          </p:cNvPr>
          <p:cNvSpPr>
            <a:spLocks noChangeShapeType="1"/>
          </p:cNvSpPr>
          <p:nvPr/>
        </p:nvSpPr>
        <p:spPr bwMode="auto">
          <a:xfrm>
            <a:off x="1990526" y="5054678"/>
            <a:ext cx="20283" cy="584775"/>
          </a:xfrm>
          <a:prstGeom prst="line">
            <a:avLst/>
          </a:prstGeom>
          <a:noFill/>
          <a:ln w="12700"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i="0"/>
          </a:p>
        </p:txBody>
      </p:sp>
      <p:sp>
        <p:nvSpPr>
          <p:cNvPr id="46111" name="Line 31">
            <a:extLst>
              <a:ext uri="{FF2B5EF4-FFF2-40B4-BE49-F238E27FC236}">
                <a16:creationId xmlns:a16="http://schemas.microsoft.com/office/drawing/2014/main" id="{3488E80E-4502-40BF-9530-F49014589E18}"/>
              </a:ext>
            </a:extLst>
          </p:cNvPr>
          <p:cNvSpPr>
            <a:spLocks noChangeShapeType="1"/>
          </p:cNvSpPr>
          <p:nvPr/>
        </p:nvSpPr>
        <p:spPr bwMode="auto">
          <a:xfrm>
            <a:off x="2600127" y="5054678"/>
            <a:ext cx="0" cy="685800"/>
          </a:xfrm>
          <a:prstGeom prst="line">
            <a:avLst/>
          </a:prstGeom>
          <a:noFill/>
          <a:ln w="12700"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i="0"/>
          </a:p>
        </p:txBody>
      </p:sp>
      <p:sp>
        <p:nvSpPr>
          <p:cNvPr id="46112" name="Line 32">
            <a:extLst>
              <a:ext uri="{FF2B5EF4-FFF2-40B4-BE49-F238E27FC236}">
                <a16:creationId xmlns:a16="http://schemas.microsoft.com/office/drawing/2014/main" id="{11E83441-3714-4382-A544-C1708CB18405}"/>
              </a:ext>
            </a:extLst>
          </p:cNvPr>
          <p:cNvSpPr>
            <a:spLocks noChangeShapeType="1"/>
          </p:cNvSpPr>
          <p:nvPr/>
        </p:nvSpPr>
        <p:spPr bwMode="auto">
          <a:xfrm flipH="1">
            <a:off x="2295327" y="4292678"/>
            <a:ext cx="533400" cy="762000"/>
          </a:xfrm>
          <a:prstGeom prst="line">
            <a:avLst/>
          </a:prstGeom>
          <a:noFill/>
          <a:ln w="31750" cap="sq">
            <a:solidFill>
              <a:srgbClr val="00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i="0"/>
          </a:p>
        </p:txBody>
      </p:sp>
      <p:sp>
        <p:nvSpPr>
          <p:cNvPr id="46113" name="Text Box 33">
            <a:extLst>
              <a:ext uri="{FF2B5EF4-FFF2-40B4-BE49-F238E27FC236}">
                <a16:creationId xmlns:a16="http://schemas.microsoft.com/office/drawing/2014/main" id="{DA470385-2297-49E9-9F2C-04FCD6F5D781}"/>
              </a:ext>
            </a:extLst>
          </p:cNvPr>
          <p:cNvSpPr txBox="1">
            <a:spLocks noChangeArrowheads="1"/>
          </p:cNvSpPr>
          <p:nvPr/>
        </p:nvSpPr>
        <p:spPr bwMode="auto">
          <a:xfrm>
            <a:off x="3590727" y="5054678"/>
            <a:ext cx="1371600" cy="584775"/>
          </a:xfrm>
          <a:prstGeom prst="rect">
            <a:avLst/>
          </a:prstGeom>
          <a:solidFill>
            <a:srgbClr val="CCFFFF">
              <a:alpha val="50195"/>
            </a:srgbClr>
          </a:solidFill>
          <a:ln w="25400" cap="sq">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b="1" i="0">
                <a:solidFill>
                  <a:srgbClr val="006666"/>
                </a:solidFill>
                <a:latin typeface="Times New Roman" panose="02020603050405020304" pitchFamily="18" charset="0"/>
              </a:rPr>
              <a:t>d</a:t>
            </a:r>
            <a:endParaRPr lang="en-US" altLang="zh-CN" i="0">
              <a:latin typeface="Times New Roman" panose="02020603050405020304" pitchFamily="18" charset="0"/>
            </a:endParaRPr>
          </a:p>
        </p:txBody>
      </p:sp>
      <p:sp>
        <p:nvSpPr>
          <p:cNvPr id="46114" name="Line 34">
            <a:extLst>
              <a:ext uri="{FF2B5EF4-FFF2-40B4-BE49-F238E27FC236}">
                <a16:creationId xmlns:a16="http://schemas.microsoft.com/office/drawing/2014/main" id="{75B98EF3-E6C9-4EC0-BDE4-8F5529FEF22C}"/>
              </a:ext>
            </a:extLst>
          </p:cNvPr>
          <p:cNvSpPr>
            <a:spLocks noChangeShapeType="1"/>
          </p:cNvSpPr>
          <p:nvPr/>
        </p:nvSpPr>
        <p:spPr bwMode="auto">
          <a:xfrm>
            <a:off x="3971726" y="5054678"/>
            <a:ext cx="20269" cy="606570"/>
          </a:xfrm>
          <a:prstGeom prst="line">
            <a:avLst/>
          </a:prstGeom>
          <a:noFill/>
          <a:ln w="12700"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i="0"/>
          </a:p>
        </p:txBody>
      </p:sp>
      <p:sp>
        <p:nvSpPr>
          <p:cNvPr id="46115" name="Line 35">
            <a:extLst>
              <a:ext uri="{FF2B5EF4-FFF2-40B4-BE49-F238E27FC236}">
                <a16:creationId xmlns:a16="http://schemas.microsoft.com/office/drawing/2014/main" id="{C68B1A73-8A35-4970-96FB-28BCC20F68EA}"/>
              </a:ext>
            </a:extLst>
          </p:cNvPr>
          <p:cNvSpPr>
            <a:spLocks noChangeShapeType="1"/>
          </p:cNvSpPr>
          <p:nvPr/>
        </p:nvSpPr>
        <p:spPr bwMode="auto">
          <a:xfrm>
            <a:off x="4499992" y="5054678"/>
            <a:ext cx="5134" cy="584122"/>
          </a:xfrm>
          <a:prstGeom prst="line">
            <a:avLst/>
          </a:prstGeom>
          <a:noFill/>
          <a:ln w="12700"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i="0"/>
          </a:p>
        </p:txBody>
      </p:sp>
      <p:sp>
        <p:nvSpPr>
          <p:cNvPr id="46116" name="Line 36">
            <a:extLst>
              <a:ext uri="{FF2B5EF4-FFF2-40B4-BE49-F238E27FC236}">
                <a16:creationId xmlns:a16="http://schemas.microsoft.com/office/drawing/2014/main" id="{37F8FD5A-E5DC-4163-BAAA-EAE7A3225521}"/>
              </a:ext>
            </a:extLst>
          </p:cNvPr>
          <p:cNvSpPr>
            <a:spLocks noChangeShapeType="1"/>
          </p:cNvSpPr>
          <p:nvPr/>
        </p:nvSpPr>
        <p:spPr bwMode="auto">
          <a:xfrm>
            <a:off x="3743127" y="4216478"/>
            <a:ext cx="533400" cy="838200"/>
          </a:xfrm>
          <a:prstGeom prst="line">
            <a:avLst/>
          </a:prstGeom>
          <a:noFill/>
          <a:ln w="31750" cap="sq">
            <a:solidFill>
              <a:srgbClr val="00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i="0"/>
          </a:p>
        </p:txBody>
      </p:sp>
      <p:sp>
        <p:nvSpPr>
          <p:cNvPr id="46117" name="Text Box 37">
            <a:extLst>
              <a:ext uri="{FF2B5EF4-FFF2-40B4-BE49-F238E27FC236}">
                <a16:creationId xmlns:a16="http://schemas.microsoft.com/office/drawing/2014/main" id="{B0AA826E-1041-4E6A-AAB9-5BFB00F4FC4F}"/>
              </a:ext>
            </a:extLst>
          </p:cNvPr>
          <p:cNvSpPr txBox="1">
            <a:spLocks noChangeArrowheads="1"/>
          </p:cNvSpPr>
          <p:nvPr/>
        </p:nvSpPr>
        <p:spPr bwMode="auto">
          <a:xfrm>
            <a:off x="6257727" y="3911678"/>
            <a:ext cx="1371600" cy="584775"/>
          </a:xfrm>
          <a:prstGeom prst="rect">
            <a:avLst/>
          </a:prstGeom>
          <a:solidFill>
            <a:srgbClr val="CCFFFF">
              <a:alpha val="50195"/>
            </a:srgbClr>
          </a:solidFill>
          <a:ln w="25400" cap="sq">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b="1" i="0">
                <a:solidFill>
                  <a:srgbClr val="006666"/>
                </a:solidFill>
                <a:latin typeface="Times New Roman" panose="02020603050405020304" pitchFamily="18" charset="0"/>
              </a:rPr>
              <a:t>e</a:t>
            </a:r>
            <a:endParaRPr lang="en-US" altLang="zh-CN" i="0">
              <a:latin typeface="Times New Roman" panose="02020603050405020304" pitchFamily="18" charset="0"/>
            </a:endParaRPr>
          </a:p>
        </p:txBody>
      </p:sp>
      <p:sp>
        <p:nvSpPr>
          <p:cNvPr id="46118" name="Line 38">
            <a:extLst>
              <a:ext uri="{FF2B5EF4-FFF2-40B4-BE49-F238E27FC236}">
                <a16:creationId xmlns:a16="http://schemas.microsoft.com/office/drawing/2014/main" id="{ADFBEEDD-79EB-4739-AA37-1101444CE104}"/>
              </a:ext>
            </a:extLst>
          </p:cNvPr>
          <p:cNvSpPr>
            <a:spLocks noChangeShapeType="1"/>
          </p:cNvSpPr>
          <p:nvPr/>
        </p:nvSpPr>
        <p:spPr bwMode="auto">
          <a:xfrm>
            <a:off x="6638726" y="3911678"/>
            <a:ext cx="1" cy="558225"/>
          </a:xfrm>
          <a:prstGeom prst="line">
            <a:avLst/>
          </a:prstGeom>
          <a:noFill/>
          <a:ln w="12700"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i="0"/>
          </a:p>
        </p:txBody>
      </p:sp>
      <p:sp>
        <p:nvSpPr>
          <p:cNvPr id="46119" name="Line 39">
            <a:extLst>
              <a:ext uri="{FF2B5EF4-FFF2-40B4-BE49-F238E27FC236}">
                <a16:creationId xmlns:a16="http://schemas.microsoft.com/office/drawing/2014/main" id="{41F8F952-F062-404A-90B1-0F39E3E74F0B}"/>
              </a:ext>
            </a:extLst>
          </p:cNvPr>
          <p:cNvSpPr>
            <a:spLocks noChangeShapeType="1"/>
          </p:cNvSpPr>
          <p:nvPr/>
        </p:nvSpPr>
        <p:spPr bwMode="auto">
          <a:xfrm>
            <a:off x="7248327" y="3911678"/>
            <a:ext cx="0" cy="609600"/>
          </a:xfrm>
          <a:prstGeom prst="line">
            <a:avLst/>
          </a:prstGeom>
          <a:noFill/>
          <a:ln w="12700"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i="0"/>
          </a:p>
        </p:txBody>
      </p:sp>
      <p:sp>
        <p:nvSpPr>
          <p:cNvPr id="46120" name="Line 40">
            <a:extLst>
              <a:ext uri="{FF2B5EF4-FFF2-40B4-BE49-F238E27FC236}">
                <a16:creationId xmlns:a16="http://schemas.microsoft.com/office/drawing/2014/main" id="{D83A55D1-A9E3-4C17-B886-7B57C9619DF4}"/>
              </a:ext>
            </a:extLst>
          </p:cNvPr>
          <p:cNvSpPr>
            <a:spLocks noChangeShapeType="1"/>
          </p:cNvSpPr>
          <p:nvPr/>
        </p:nvSpPr>
        <p:spPr bwMode="auto">
          <a:xfrm>
            <a:off x="5571927" y="3225878"/>
            <a:ext cx="1371600" cy="685800"/>
          </a:xfrm>
          <a:prstGeom prst="line">
            <a:avLst/>
          </a:prstGeom>
          <a:noFill/>
          <a:ln w="31750" cap="sq">
            <a:solidFill>
              <a:srgbClr val="00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i="0"/>
          </a:p>
        </p:txBody>
      </p:sp>
      <p:sp>
        <p:nvSpPr>
          <p:cNvPr id="46121" name="Text Box 41">
            <a:extLst>
              <a:ext uri="{FF2B5EF4-FFF2-40B4-BE49-F238E27FC236}">
                <a16:creationId xmlns:a16="http://schemas.microsoft.com/office/drawing/2014/main" id="{D766CAA5-D384-4066-9CDB-C2EFCF145F63}"/>
              </a:ext>
            </a:extLst>
          </p:cNvPr>
          <p:cNvSpPr txBox="1">
            <a:spLocks noChangeArrowheads="1"/>
          </p:cNvSpPr>
          <p:nvPr/>
        </p:nvSpPr>
        <p:spPr bwMode="auto">
          <a:xfrm>
            <a:off x="7248327" y="5054678"/>
            <a:ext cx="1371600" cy="584775"/>
          </a:xfrm>
          <a:prstGeom prst="rect">
            <a:avLst/>
          </a:prstGeom>
          <a:solidFill>
            <a:srgbClr val="CCFFFF">
              <a:alpha val="50195"/>
            </a:srgbClr>
          </a:solidFill>
          <a:ln w="25400" cap="sq">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b="1" i="0">
                <a:solidFill>
                  <a:srgbClr val="006666"/>
                </a:solidFill>
                <a:latin typeface="Times New Roman" panose="02020603050405020304" pitchFamily="18" charset="0"/>
              </a:rPr>
              <a:t>f</a:t>
            </a:r>
            <a:endParaRPr lang="en-US" altLang="zh-CN" i="0">
              <a:latin typeface="Times New Roman" panose="02020603050405020304" pitchFamily="18" charset="0"/>
            </a:endParaRPr>
          </a:p>
        </p:txBody>
      </p:sp>
      <p:sp>
        <p:nvSpPr>
          <p:cNvPr id="46122" name="Line 42">
            <a:extLst>
              <a:ext uri="{FF2B5EF4-FFF2-40B4-BE49-F238E27FC236}">
                <a16:creationId xmlns:a16="http://schemas.microsoft.com/office/drawing/2014/main" id="{06438092-A3C2-4DA7-8865-693CFC17F5DE}"/>
              </a:ext>
            </a:extLst>
          </p:cNvPr>
          <p:cNvSpPr>
            <a:spLocks noChangeShapeType="1"/>
          </p:cNvSpPr>
          <p:nvPr/>
        </p:nvSpPr>
        <p:spPr bwMode="auto">
          <a:xfrm flipH="1">
            <a:off x="7628030" y="5054678"/>
            <a:ext cx="1297" cy="584122"/>
          </a:xfrm>
          <a:prstGeom prst="line">
            <a:avLst/>
          </a:prstGeom>
          <a:noFill/>
          <a:ln w="12700"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i="0"/>
          </a:p>
        </p:txBody>
      </p:sp>
      <p:sp>
        <p:nvSpPr>
          <p:cNvPr id="46123" name="Line 43">
            <a:extLst>
              <a:ext uri="{FF2B5EF4-FFF2-40B4-BE49-F238E27FC236}">
                <a16:creationId xmlns:a16="http://schemas.microsoft.com/office/drawing/2014/main" id="{78B80A1D-B1AA-44CC-8222-04F1CD1A37FB}"/>
              </a:ext>
            </a:extLst>
          </p:cNvPr>
          <p:cNvSpPr>
            <a:spLocks noChangeShapeType="1"/>
          </p:cNvSpPr>
          <p:nvPr/>
        </p:nvSpPr>
        <p:spPr bwMode="auto">
          <a:xfrm flipH="1">
            <a:off x="8225956" y="5054678"/>
            <a:ext cx="12971" cy="606570"/>
          </a:xfrm>
          <a:prstGeom prst="line">
            <a:avLst/>
          </a:prstGeom>
          <a:noFill/>
          <a:ln w="12700"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i="0"/>
          </a:p>
        </p:txBody>
      </p:sp>
      <p:sp>
        <p:nvSpPr>
          <p:cNvPr id="46124" name="Line 44">
            <a:extLst>
              <a:ext uri="{FF2B5EF4-FFF2-40B4-BE49-F238E27FC236}">
                <a16:creationId xmlns:a16="http://schemas.microsoft.com/office/drawing/2014/main" id="{0E5FF6E3-2A87-4CCF-A72D-190529CBC7F7}"/>
              </a:ext>
            </a:extLst>
          </p:cNvPr>
          <p:cNvSpPr>
            <a:spLocks noChangeShapeType="1"/>
          </p:cNvSpPr>
          <p:nvPr/>
        </p:nvSpPr>
        <p:spPr bwMode="auto">
          <a:xfrm>
            <a:off x="7400727" y="4216478"/>
            <a:ext cx="533400" cy="838200"/>
          </a:xfrm>
          <a:prstGeom prst="line">
            <a:avLst/>
          </a:prstGeom>
          <a:noFill/>
          <a:ln w="31750" cap="sq">
            <a:solidFill>
              <a:srgbClr val="00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i="0"/>
          </a:p>
        </p:txBody>
      </p:sp>
      <p:sp>
        <p:nvSpPr>
          <p:cNvPr id="46125" name="Text Box 45">
            <a:extLst>
              <a:ext uri="{FF2B5EF4-FFF2-40B4-BE49-F238E27FC236}">
                <a16:creationId xmlns:a16="http://schemas.microsoft.com/office/drawing/2014/main" id="{9523C697-21D7-472E-A9F4-4BFE2AE27775}"/>
              </a:ext>
            </a:extLst>
          </p:cNvPr>
          <p:cNvSpPr txBox="1">
            <a:spLocks noChangeArrowheads="1"/>
          </p:cNvSpPr>
          <p:nvPr/>
        </p:nvSpPr>
        <p:spPr bwMode="auto">
          <a:xfrm>
            <a:off x="6257727" y="6197678"/>
            <a:ext cx="1371600" cy="584775"/>
          </a:xfrm>
          <a:prstGeom prst="rect">
            <a:avLst/>
          </a:prstGeom>
          <a:solidFill>
            <a:srgbClr val="CCFFFF">
              <a:alpha val="50195"/>
            </a:srgbClr>
          </a:solidFill>
          <a:ln w="25400" cap="sq">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b="1" i="0">
                <a:solidFill>
                  <a:srgbClr val="006666"/>
                </a:solidFill>
                <a:latin typeface="Times New Roman" panose="02020603050405020304" pitchFamily="18" charset="0"/>
              </a:rPr>
              <a:t>g</a:t>
            </a:r>
            <a:endParaRPr lang="en-US" altLang="zh-CN" i="0">
              <a:latin typeface="Times New Roman" panose="02020603050405020304" pitchFamily="18" charset="0"/>
            </a:endParaRPr>
          </a:p>
        </p:txBody>
      </p:sp>
      <p:sp>
        <p:nvSpPr>
          <p:cNvPr id="46126" name="Line 46">
            <a:extLst>
              <a:ext uri="{FF2B5EF4-FFF2-40B4-BE49-F238E27FC236}">
                <a16:creationId xmlns:a16="http://schemas.microsoft.com/office/drawing/2014/main" id="{9863211C-36E8-452E-9524-EBF8A7D1D587}"/>
              </a:ext>
            </a:extLst>
          </p:cNvPr>
          <p:cNvSpPr>
            <a:spLocks noChangeShapeType="1"/>
          </p:cNvSpPr>
          <p:nvPr/>
        </p:nvSpPr>
        <p:spPr bwMode="auto">
          <a:xfrm>
            <a:off x="6638727" y="6197678"/>
            <a:ext cx="0" cy="685800"/>
          </a:xfrm>
          <a:prstGeom prst="line">
            <a:avLst/>
          </a:prstGeom>
          <a:noFill/>
          <a:ln w="12700"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i="0"/>
          </a:p>
        </p:txBody>
      </p:sp>
      <p:sp>
        <p:nvSpPr>
          <p:cNvPr id="46127" name="Line 47">
            <a:extLst>
              <a:ext uri="{FF2B5EF4-FFF2-40B4-BE49-F238E27FC236}">
                <a16:creationId xmlns:a16="http://schemas.microsoft.com/office/drawing/2014/main" id="{815C282E-202B-4F24-A5FB-023A15EA0DF3}"/>
              </a:ext>
            </a:extLst>
          </p:cNvPr>
          <p:cNvSpPr>
            <a:spLocks noChangeShapeType="1"/>
          </p:cNvSpPr>
          <p:nvPr/>
        </p:nvSpPr>
        <p:spPr bwMode="auto">
          <a:xfrm>
            <a:off x="7248327" y="6197678"/>
            <a:ext cx="0" cy="685800"/>
          </a:xfrm>
          <a:prstGeom prst="line">
            <a:avLst/>
          </a:prstGeom>
          <a:noFill/>
          <a:ln w="12700"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i="0"/>
          </a:p>
        </p:txBody>
      </p:sp>
      <p:sp>
        <p:nvSpPr>
          <p:cNvPr id="46128" name="Line 48">
            <a:extLst>
              <a:ext uri="{FF2B5EF4-FFF2-40B4-BE49-F238E27FC236}">
                <a16:creationId xmlns:a16="http://schemas.microsoft.com/office/drawing/2014/main" id="{3AB49BC6-F7A9-429A-99F7-B8BEB905C2DA}"/>
              </a:ext>
            </a:extLst>
          </p:cNvPr>
          <p:cNvSpPr>
            <a:spLocks noChangeShapeType="1"/>
          </p:cNvSpPr>
          <p:nvPr/>
        </p:nvSpPr>
        <p:spPr bwMode="auto">
          <a:xfrm flipH="1">
            <a:off x="6943527" y="5359478"/>
            <a:ext cx="533400" cy="838200"/>
          </a:xfrm>
          <a:prstGeom prst="line">
            <a:avLst/>
          </a:prstGeom>
          <a:noFill/>
          <a:ln w="31750" cap="sq">
            <a:solidFill>
              <a:srgbClr val="00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i="0"/>
          </a:p>
        </p:txBody>
      </p:sp>
      <p:sp>
        <p:nvSpPr>
          <p:cNvPr id="46129" name="Text Box 49">
            <a:extLst>
              <a:ext uri="{FF2B5EF4-FFF2-40B4-BE49-F238E27FC236}">
                <a16:creationId xmlns:a16="http://schemas.microsoft.com/office/drawing/2014/main" id="{527A21AA-0684-4938-9387-8314B5A9FA7F}"/>
              </a:ext>
            </a:extLst>
          </p:cNvPr>
          <p:cNvSpPr txBox="1">
            <a:spLocks noChangeArrowheads="1"/>
          </p:cNvSpPr>
          <p:nvPr/>
        </p:nvSpPr>
        <p:spPr bwMode="auto">
          <a:xfrm>
            <a:off x="1547664" y="5130878"/>
            <a:ext cx="38292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b="1" i="0">
                <a:solidFill>
                  <a:srgbClr val="006666"/>
                </a:solidFill>
                <a:latin typeface="Times New Roman" panose="02020603050405020304" pitchFamily="18" charset="0"/>
              </a:rPr>
              <a:t>^</a:t>
            </a:r>
            <a:endParaRPr lang="en-US" altLang="zh-CN" i="0">
              <a:latin typeface="Times New Roman" panose="02020603050405020304" pitchFamily="18" charset="0"/>
            </a:endParaRPr>
          </a:p>
        </p:txBody>
      </p:sp>
      <p:sp>
        <p:nvSpPr>
          <p:cNvPr id="46130" name="Text Box 50">
            <a:extLst>
              <a:ext uri="{FF2B5EF4-FFF2-40B4-BE49-F238E27FC236}">
                <a16:creationId xmlns:a16="http://schemas.microsoft.com/office/drawing/2014/main" id="{5044A9B0-9B55-406E-9D08-B3720947C984}"/>
              </a:ext>
            </a:extLst>
          </p:cNvPr>
          <p:cNvSpPr txBox="1">
            <a:spLocks noChangeArrowheads="1"/>
          </p:cNvSpPr>
          <p:nvPr/>
        </p:nvSpPr>
        <p:spPr bwMode="auto">
          <a:xfrm>
            <a:off x="2598190" y="5130878"/>
            <a:ext cx="40322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b="1" i="0">
                <a:solidFill>
                  <a:srgbClr val="006666"/>
                </a:solidFill>
                <a:latin typeface="Times New Roman" panose="02020603050405020304" pitchFamily="18" charset="0"/>
              </a:rPr>
              <a:t>^</a:t>
            </a:r>
            <a:endParaRPr lang="en-US" altLang="zh-CN" i="0">
              <a:latin typeface="Times New Roman" panose="02020603050405020304" pitchFamily="18" charset="0"/>
            </a:endParaRPr>
          </a:p>
        </p:txBody>
      </p:sp>
      <p:sp>
        <p:nvSpPr>
          <p:cNvPr id="46131" name="Text Box 51">
            <a:extLst>
              <a:ext uri="{FF2B5EF4-FFF2-40B4-BE49-F238E27FC236}">
                <a16:creationId xmlns:a16="http://schemas.microsoft.com/office/drawing/2014/main" id="{74B83740-C9AE-4F98-B894-76B6FAA0EF2F}"/>
              </a:ext>
            </a:extLst>
          </p:cNvPr>
          <p:cNvSpPr txBox="1">
            <a:spLocks noChangeArrowheads="1"/>
          </p:cNvSpPr>
          <p:nvPr/>
        </p:nvSpPr>
        <p:spPr bwMode="auto">
          <a:xfrm>
            <a:off x="3572422" y="5130878"/>
            <a:ext cx="42351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b="1" i="0" dirty="0">
                <a:solidFill>
                  <a:srgbClr val="006666"/>
                </a:solidFill>
                <a:latin typeface="Times New Roman" panose="02020603050405020304" pitchFamily="18" charset="0"/>
              </a:rPr>
              <a:t>^</a:t>
            </a:r>
            <a:endParaRPr lang="en-US" altLang="zh-CN" i="0" dirty="0">
              <a:latin typeface="Times New Roman" panose="02020603050405020304" pitchFamily="18" charset="0"/>
            </a:endParaRPr>
          </a:p>
        </p:txBody>
      </p:sp>
      <p:sp>
        <p:nvSpPr>
          <p:cNvPr id="46132" name="Text Box 52">
            <a:extLst>
              <a:ext uri="{FF2B5EF4-FFF2-40B4-BE49-F238E27FC236}">
                <a16:creationId xmlns:a16="http://schemas.microsoft.com/office/drawing/2014/main" id="{E4D204B8-842A-429F-9DF1-FCD8230E520A}"/>
              </a:ext>
            </a:extLst>
          </p:cNvPr>
          <p:cNvSpPr txBox="1">
            <a:spLocks noChangeArrowheads="1"/>
          </p:cNvSpPr>
          <p:nvPr/>
        </p:nvSpPr>
        <p:spPr bwMode="auto">
          <a:xfrm>
            <a:off x="4499992" y="5130879"/>
            <a:ext cx="528119" cy="5841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b="1" i="0">
                <a:solidFill>
                  <a:srgbClr val="006666"/>
                </a:solidFill>
                <a:latin typeface="Times New Roman" panose="02020603050405020304" pitchFamily="18" charset="0"/>
              </a:rPr>
              <a:t>^</a:t>
            </a:r>
            <a:endParaRPr lang="en-US" altLang="zh-CN" i="0">
              <a:latin typeface="Times New Roman" panose="02020603050405020304" pitchFamily="18" charset="0"/>
            </a:endParaRPr>
          </a:p>
        </p:txBody>
      </p:sp>
      <p:sp>
        <p:nvSpPr>
          <p:cNvPr id="46133" name="Text Box 53">
            <a:extLst>
              <a:ext uri="{FF2B5EF4-FFF2-40B4-BE49-F238E27FC236}">
                <a16:creationId xmlns:a16="http://schemas.microsoft.com/office/drawing/2014/main" id="{30495064-493B-48FB-B0CA-50CB817E87BC}"/>
              </a:ext>
            </a:extLst>
          </p:cNvPr>
          <p:cNvSpPr txBox="1">
            <a:spLocks noChangeArrowheads="1"/>
          </p:cNvSpPr>
          <p:nvPr/>
        </p:nvSpPr>
        <p:spPr bwMode="auto">
          <a:xfrm>
            <a:off x="6228184" y="3972003"/>
            <a:ext cx="42351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b="1" i="0" dirty="0">
                <a:solidFill>
                  <a:srgbClr val="006666"/>
                </a:solidFill>
                <a:latin typeface="Times New Roman" panose="02020603050405020304" pitchFamily="18" charset="0"/>
              </a:rPr>
              <a:t>^</a:t>
            </a:r>
            <a:endParaRPr lang="en-US" altLang="zh-CN" i="0" dirty="0">
              <a:latin typeface="Times New Roman" panose="02020603050405020304" pitchFamily="18" charset="0"/>
            </a:endParaRPr>
          </a:p>
        </p:txBody>
      </p:sp>
      <p:sp>
        <p:nvSpPr>
          <p:cNvPr id="46134" name="Text Box 54">
            <a:extLst>
              <a:ext uri="{FF2B5EF4-FFF2-40B4-BE49-F238E27FC236}">
                <a16:creationId xmlns:a16="http://schemas.microsoft.com/office/drawing/2014/main" id="{45CF32F1-C2D9-40D2-83E0-A8BB00A6E5E7}"/>
              </a:ext>
            </a:extLst>
          </p:cNvPr>
          <p:cNvSpPr txBox="1">
            <a:spLocks noChangeArrowheads="1"/>
          </p:cNvSpPr>
          <p:nvPr/>
        </p:nvSpPr>
        <p:spPr bwMode="auto">
          <a:xfrm>
            <a:off x="6235502" y="6258003"/>
            <a:ext cx="42351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b="1" i="0">
                <a:solidFill>
                  <a:srgbClr val="006666"/>
                </a:solidFill>
                <a:latin typeface="Times New Roman" panose="02020603050405020304" pitchFamily="18" charset="0"/>
              </a:rPr>
              <a:t>^</a:t>
            </a:r>
            <a:endParaRPr lang="en-US" altLang="zh-CN" i="0">
              <a:latin typeface="Times New Roman" panose="02020603050405020304" pitchFamily="18" charset="0"/>
            </a:endParaRPr>
          </a:p>
        </p:txBody>
      </p:sp>
      <p:sp>
        <p:nvSpPr>
          <p:cNvPr id="46135" name="Text Box 55">
            <a:extLst>
              <a:ext uri="{FF2B5EF4-FFF2-40B4-BE49-F238E27FC236}">
                <a16:creationId xmlns:a16="http://schemas.microsoft.com/office/drawing/2014/main" id="{B1BA4549-FC44-4C63-9D33-A3F0236C0A33}"/>
              </a:ext>
            </a:extLst>
          </p:cNvPr>
          <p:cNvSpPr txBox="1">
            <a:spLocks noChangeArrowheads="1"/>
          </p:cNvSpPr>
          <p:nvPr/>
        </p:nvSpPr>
        <p:spPr bwMode="auto">
          <a:xfrm>
            <a:off x="7226102" y="6258003"/>
            <a:ext cx="42351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b="1" i="0">
                <a:solidFill>
                  <a:srgbClr val="006666"/>
                </a:solidFill>
                <a:latin typeface="Times New Roman" panose="02020603050405020304" pitchFamily="18" charset="0"/>
              </a:rPr>
              <a:t>^</a:t>
            </a:r>
            <a:endParaRPr lang="en-US" altLang="zh-CN" i="0">
              <a:latin typeface="Times New Roman" panose="02020603050405020304" pitchFamily="18" charset="0"/>
            </a:endParaRPr>
          </a:p>
        </p:txBody>
      </p:sp>
      <p:sp>
        <p:nvSpPr>
          <p:cNvPr id="46136" name="Text Box 56">
            <a:extLst>
              <a:ext uri="{FF2B5EF4-FFF2-40B4-BE49-F238E27FC236}">
                <a16:creationId xmlns:a16="http://schemas.microsoft.com/office/drawing/2014/main" id="{F0B5E165-8631-47C7-BFCA-07EFEE2D0B47}"/>
              </a:ext>
            </a:extLst>
          </p:cNvPr>
          <p:cNvSpPr txBox="1">
            <a:spLocks noChangeArrowheads="1"/>
          </p:cNvSpPr>
          <p:nvPr/>
        </p:nvSpPr>
        <p:spPr bwMode="auto">
          <a:xfrm>
            <a:off x="8244408" y="5076473"/>
            <a:ext cx="52078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b="1" i="0" dirty="0">
                <a:solidFill>
                  <a:srgbClr val="006666"/>
                </a:solidFill>
                <a:latin typeface="Times New Roman" panose="02020603050405020304" pitchFamily="18" charset="0"/>
              </a:rPr>
              <a:t>^</a:t>
            </a:r>
            <a:endParaRPr lang="en-US" altLang="zh-CN" i="0" dirty="0">
              <a:latin typeface="Times New Roman" panose="02020603050405020304" pitchFamily="18" charset="0"/>
            </a:endParaRPr>
          </a:p>
        </p:txBody>
      </p:sp>
      <p:sp>
        <p:nvSpPr>
          <p:cNvPr id="66621" name="Text Box 61">
            <a:extLst>
              <a:ext uri="{FF2B5EF4-FFF2-40B4-BE49-F238E27FC236}">
                <a16:creationId xmlns:a16="http://schemas.microsoft.com/office/drawing/2014/main" id="{ABC7DCA6-3C0A-4FCB-8D70-FDE5E9D4D92E}"/>
              </a:ext>
            </a:extLst>
          </p:cNvPr>
          <p:cNvSpPr txBox="1">
            <a:spLocks noChangeArrowheads="1"/>
          </p:cNvSpPr>
          <p:nvPr/>
        </p:nvSpPr>
        <p:spPr bwMode="auto">
          <a:xfrm>
            <a:off x="6584752" y="1217240"/>
            <a:ext cx="2035175" cy="10070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10000"/>
              </a:lnSpc>
              <a:spcBef>
                <a:spcPct val="50000"/>
              </a:spcBef>
              <a:buClrTx/>
              <a:buSzTx/>
              <a:buFont typeface="Arial" panose="020B0604020202020204" pitchFamily="34" charset="0"/>
              <a:buNone/>
            </a:pPr>
            <a:r>
              <a:rPr lang="zh-CN" altLang="en-US" sz="2800" i="0" dirty="0">
                <a:solidFill>
                  <a:srgbClr val="FF3300"/>
                </a:solidFill>
                <a:latin typeface="Times New Roman" panose="02020603050405020304" pitchFamily="18" charset="0"/>
                <a:ea typeface="楷体_GB2312" pitchFamily="1" charset="-122"/>
              </a:rPr>
              <a:t>先序序列</a:t>
            </a:r>
            <a:endParaRPr lang="en-US" altLang="zh-CN" sz="2800" i="0" dirty="0">
              <a:solidFill>
                <a:srgbClr val="FF3300"/>
              </a:solidFill>
              <a:latin typeface="Times New Roman" panose="02020603050405020304" pitchFamily="18" charset="0"/>
              <a:ea typeface="楷体_GB2312" pitchFamily="1" charset="-122"/>
            </a:endParaRPr>
          </a:p>
          <a:p>
            <a:pPr eaLnBrk="1" hangingPunct="1">
              <a:lnSpc>
                <a:spcPct val="110000"/>
              </a:lnSpc>
              <a:spcBef>
                <a:spcPts val="0"/>
              </a:spcBef>
              <a:buClrTx/>
              <a:buSzTx/>
              <a:buFont typeface="Arial" panose="020B0604020202020204" pitchFamily="34" charset="0"/>
              <a:buNone/>
            </a:pPr>
            <a:r>
              <a:rPr lang="zh-CN" altLang="en-US" sz="2800" i="0" dirty="0">
                <a:solidFill>
                  <a:srgbClr val="800000"/>
                </a:solidFill>
                <a:latin typeface="Times New Roman" panose="02020603050405020304" pitchFamily="18" charset="0"/>
                <a:ea typeface="楷体_GB2312" pitchFamily="1" charset="-122"/>
              </a:rPr>
              <a:t>中序序列</a:t>
            </a:r>
            <a:endParaRPr lang="zh-CN" altLang="en-US" sz="2800" i="0" dirty="0">
              <a:latin typeface="Times New Roman" panose="02020603050405020304" pitchFamily="18" charset="0"/>
            </a:endParaRPr>
          </a:p>
        </p:txBody>
      </p:sp>
      <p:sp>
        <p:nvSpPr>
          <p:cNvPr id="2" name="文本框 1">
            <a:extLst>
              <a:ext uri="{FF2B5EF4-FFF2-40B4-BE49-F238E27FC236}">
                <a16:creationId xmlns:a16="http://schemas.microsoft.com/office/drawing/2014/main" id="{CC5032BE-C01C-4ECF-84B9-D192B9950E1E}"/>
              </a:ext>
            </a:extLst>
          </p:cNvPr>
          <p:cNvSpPr txBox="1"/>
          <p:nvPr/>
        </p:nvSpPr>
        <p:spPr>
          <a:xfrm>
            <a:off x="1475656" y="1188042"/>
            <a:ext cx="485491" cy="584775"/>
          </a:xfrm>
          <a:prstGeom prst="rect">
            <a:avLst/>
          </a:prstGeom>
          <a:noFill/>
        </p:spPr>
        <p:txBody>
          <a:bodyPr wrap="square" rtlCol="0">
            <a:spAutoFit/>
          </a:bodyPr>
          <a:lstStyle/>
          <a:p>
            <a:r>
              <a:rPr lang="en-US" altLang="zh-CN" sz="3200" dirty="0">
                <a:solidFill>
                  <a:srgbClr val="FF0000"/>
                </a:solidFill>
              </a:rPr>
              <a:t>a</a:t>
            </a:r>
            <a:endParaRPr lang="zh-CN" altLang="en-US" sz="3200" dirty="0">
              <a:solidFill>
                <a:srgbClr val="FF0000"/>
              </a:solidFill>
            </a:endParaRPr>
          </a:p>
        </p:txBody>
      </p:sp>
      <p:sp>
        <p:nvSpPr>
          <p:cNvPr id="3" name="文本框 2">
            <a:extLst>
              <a:ext uri="{FF2B5EF4-FFF2-40B4-BE49-F238E27FC236}">
                <a16:creationId xmlns:a16="http://schemas.microsoft.com/office/drawing/2014/main" id="{DB29FE6D-C0E5-4E69-92E2-6FAEC549C40C}"/>
              </a:ext>
            </a:extLst>
          </p:cNvPr>
          <p:cNvSpPr txBox="1"/>
          <p:nvPr/>
        </p:nvSpPr>
        <p:spPr>
          <a:xfrm>
            <a:off x="1961147" y="1188042"/>
            <a:ext cx="334180" cy="584775"/>
          </a:xfrm>
          <a:prstGeom prst="rect">
            <a:avLst/>
          </a:prstGeom>
          <a:noFill/>
        </p:spPr>
        <p:txBody>
          <a:bodyPr wrap="square" rtlCol="0">
            <a:spAutoFit/>
          </a:bodyPr>
          <a:lstStyle/>
          <a:p>
            <a:r>
              <a:rPr lang="en-US" altLang="zh-CN" sz="3200" dirty="0">
                <a:solidFill>
                  <a:srgbClr val="FF0000"/>
                </a:solidFill>
              </a:rPr>
              <a:t>b</a:t>
            </a:r>
            <a:endParaRPr lang="zh-CN" altLang="en-US" sz="3200" dirty="0">
              <a:solidFill>
                <a:srgbClr val="FF0000"/>
              </a:solidFill>
            </a:endParaRPr>
          </a:p>
        </p:txBody>
      </p:sp>
      <p:sp>
        <p:nvSpPr>
          <p:cNvPr id="4" name="文本框 3">
            <a:extLst>
              <a:ext uri="{FF2B5EF4-FFF2-40B4-BE49-F238E27FC236}">
                <a16:creationId xmlns:a16="http://schemas.microsoft.com/office/drawing/2014/main" id="{C5DF4925-EC42-447F-B3EB-A052D0E33689}"/>
              </a:ext>
            </a:extLst>
          </p:cNvPr>
          <p:cNvSpPr txBox="1"/>
          <p:nvPr/>
        </p:nvSpPr>
        <p:spPr>
          <a:xfrm>
            <a:off x="2411760" y="1196752"/>
            <a:ext cx="485491" cy="584775"/>
          </a:xfrm>
          <a:prstGeom prst="rect">
            <a:avLst/>
          </a:prstGeom>
          <a:noFill/>
        </p:spPr>
        <p:txBody>
          <a:bodyPr wrap="square" rtlCol="0">
            <a:spAutoFit/>
          </a:bodyPr>
          <a:lstStyle/>
          <a:p>
            <a:r>
              <a:rPr lang="en-US" altLang="zh-CN" sz="3200" dirty="0">
                <a:solidFill>
                  <a:srgbClr val="FF0000"/>
                </a:solidFill>
              </a:rPr>
              <a:t>c</a:t>
            </a:r>
            <a:endParaRPr lang="zh-CN" altLang="en-US" sz="3200" dirty="0">
              <a:solidFill>
                <a:srgbClr val="FF0000"/>
              </a:solidFill>
            </a:endParaRPr>
          </a:p>
        </p:txBody>
      </p:sp>
      <p:sp>
        <p:nvSpPr>
          <p:cNvPr id="5" name="文本框 4">
            <a:extLst>
              <a:ext uri="{FF2B5EF4-FFF2-40B4-BE49-F238E27FC236}">
                <a16:creationId xmlns:a16="http://schemas.microsoft.com/office/drawing/2014/main" id="{C0828F6C-F1B7-4016-81E0-5FC77C6574D0}"/>
              </a:ext>
            </a:extLst>
          </p:cNvPr>
          <p:cNvSpPr txBox="1"/>
          <p:nvPr/>
        </p:nvSpPr>
        <p:spPr>
          <a:xfrm>
            <a:off x="3059832" y="1196752"/>
            <a:ext cx="485491" cy="584775"/>
          </a:xfrm>
          <a:prstGeom prst="rect">
            <a:avLst/>
          </a:prstGeom>
          <a:noFill/>
        </p:spPr>
        <p:txBody>
          <a:bodyPr wrap="square" rtlCol="0">
            <a:spAutoFit/>
          </a:bodyPr>
          <a:lstStyle/>
          <a:p>
            <a:r>
              <a:rPr lang="en-US" altLang="zh-CN" sz="3200" dirty="0">
                <a:solidFill>
                  <a:srgbClr val="FF0000"/>
                </a:solidFill>
              </a:rPr>
              <a:t>d</a:t>
            </a:r>
            <a:endParaRPr lang="zh-CN" altLang="en-US" sz="3200" dirty="0">
              <a:solidFill>
                <a:srgbClr val="FF0000"/>
              </a:solidFill>
            </a:endParaRPr>
          </a:p>
        </p:txBody>
      </p:sp>
      <p:sp>
        <p:nvSpPr>
          <p:cNvPr id="6" name="文本框 5">
            <a:extLst>
              <a:ext uri="{FF2B5EF4-FFF2-40B4-BE49-F238E27FC236}">
                <a16:creationId xmlns:a16="http://schemas.microsoft.com/office/drawing/2014/main" id="{4A430B93-0C16-4D10-8A80-CC1E9877C0C9}"/>
              </a:ext>
            </a:extLst>
          </p:cNvPr>
          <p:cNvSpPr txBox="1"/>
          <p:nvPr/>
        </p:nvSpPr>
        <p:spPr>
          <a:xfrm>
            <a:off x="3779912" y="1196752"/>
            <a:ext cx="485491" cy="584775"/>
          </a:xfrm>
          <a:prstGeom prst="rect">
            <a:avLst/>
          </a:prstGeom>
          <a:noFill/>
        </p:spPr>
        <p:txBody>
          <a:bodyPr wrap="square" rtlCol="0">
            <a:spAutoFit/>
          </a:bodyPr>
          <a:lstStyle/>
          <a:p>
            <a:r>
              <a:rPr lang="en-US" altLang="zh-CN" sz="3200" dirty="0"/>
              <a:t>e</a:t>
            </a:r>
            <a:endParaRPr lang="zh-CN" altLang="en-US" sz="3200" dirty="0"/>
          </a:p>
        </p:txBody>
      </p:sp>
      <p:sp>
        <p:nvSpPr>
          <p:cNvPr id="7" name="文本框 6">
            <a:extLst>
              <a:ext uri="{FF2B5EF4-FFF2-40B4-BE49-F238E27FC236}">
                <a16:creationId xmlns:a16="http://schemas.microsoft.com/office/drawing/2014/main" id="{0B277E6F-D1BE-4F33-85FC-0A7C6430FBF8}"/>
              </a:ext>
            </a:extLst>
          </p:cNvPr>
          <p:cNvSpPr txBox="1"/>
          <p:nvPr/>
        </p:nvSpPr>
        <p:spPr>
          <a:xfrm>
            <a:off x="5105077" y="1196751"/>
            <a:ext cx="485491" cy="584775"/>
          </a:xfrm>
          <a:prstGeom prst="rect">
            <a:avLst/>
          </a:prstGeom>
          <a:noFill/>
        </p:spPr>
        <p:txBody>
          <a:bodyPr wrap="square" rtlCol="0">
            <a:spAutoFit/>
          </a:bodyPr>
          <a:lstStyle/>
          <a:p>
            <a:r>
              <a:rPr lang="en-US" altLang="zh-CN" sz="3200" dirty="0"/>
              <a:t>g</a:t>
            </a:r>
            <a:endParaRPr lang="zh-CN" altLang="en-US" sz="3200" dirty="0"/>
          </a:p>
        </p:txBody>
      </p:sp>
      <p:sp>
        <p:nvSpPr>
          <p:cNvPr id="8" name="文本框 7">
            <a:extLst>
              <a:ext uri="{FF2B5EF4-FFF2-40B4-BE49-F238E27FC236}">
                <a16:creationId xmlns:a16="http://schemas.microsoft.com/office/drawing/2014/main" id="{7AA4CF9B-AE4A-4B1C-9D4C-7A375DB1E1CB}"/>
              </a:ext>
            </a:extLst>
          </p:cNvPr>
          <p:cNvSpPr txBox="1"/>
          <p:nvPr/>
        </p:nvSpPr>
        <p:spPr>
          <a:xfrm>
            <a:off x="4395536" y="1205716"/>
            <a:ext cx="485491" cy="584775"/>
          </a:xfrm>
          <a:prstGeom prst="rect">
            <a:avLst/>
          </a:prstGeom>
          <a:noFill/>
        </p:spPr>
        <p:txBody>
          <a:bodyPr wrap="square" rtlCol="0">
            <a:spAutoFit/>
          </a:bodyPr>
          <a:lstStyle/>
          <a:p>
            <a:r>
              <a:rPr lang="en-US" altLang="zh-CN" sz="3200" dirty="0"/>
              <a:t>f</a:t>
            </a:r>
            <a:endParaRPr lang="zh-CN" altLang="en-US" sz="3200" dirty="0"/>
          </a:p>
        </p:txBody>
      </p:sp>
      <p:sp>
        <p:nvSpPr>
          <p:cNvPr id="9" name="文本框 8">
            <a:extLst>
              <a:ext uri="{FF2B5EF4-FFF2-40B4-BE49-F238E27FC236}">
                <a16:creationId xmlns:a16="http://schemas.microsoft.com/office/drawing/2014/main" id="{BCF8657D-29E3-45F0-8144-752061311D15}"/>
              </a:ext>
            </a:extLst>
          </p:cNvPr>
          <p:cNvSpPr txBox="1"/>
          <p:nvPr/>
        </p:nvSpPr>
        <p:spPr>
          <a:xfrm>
            <a:off x="1403648" y="1674423"/>
            <a:ext cx="485491" cy="584775"/>
          </a:xfrm>
          <a:prstGeom prst="rect">
            <a:avLst/>
          </a:prstGeom>
          <a:noFill/>
        </p:spPr>
        <p:txBody>
          <a:bodyPr wrap="square" rtlCol="0">
            <a:spAutoFit/>
          </a:bodyPr>
          <a:lstStyle/>
          <a:p>
            <a:r>
              <a:rPr lang="en-US" altLang="zh-CN" sz="3200" dirty="0">
                <a:solidFill>
                  <a:srgbClr val="FF0000"/>
                </a:solidFill>
              </a:rPr>
              <a:t>c</a:t>
            </a:r>
            <a:endParaRPr lang="zh-CN" altLang="en-US" sz="3200" dirty="0">
              <a:solidFill>
                <a:srgbClr val="FF0000"/>
              </a:solidFill>
            </a:endParaRPr>
          </a:p>
        </p:txBody>
      </p:sp>
      <p:sp>
        <p:nvSpPr>
          <p:cNvPr id="10" name="文本框 9">
            <a:extLst>
              <a:ext uri="{FF2B5EF4-FFF2-40B4-BE49-F238E27FC236}">
                <a16:creationId xmlns:a16="http://schemas.microsoft.com/office/drawing/2014/main" id="{A4B551A1-62F8-4510-B482-74912686A85F}"/>
              </a:ext>
            </a:extLst>
          </p:cNvPr>
          <p:cNvSpPr txBox="1"/>
          <p:nvPr/>
        </p:nvSpPr>
        <p:spPr>
          <a:xfrm>
            <a:off x="1889139" y="1674423"/>
            <a:ext cx="334180" cy="584775"/>
          </a:xfrm>
          <a:prstGeom prst="rect">
            <a:avLst/>
          </a:prstGeom>
          <a:noFill/>
        </p:spPr>
        <p:txBody>
          <a:bodyPr wrap="square" rtlCol="0">
            <a:spAutoFit/>
          </a:bodyPr>
          <a:lstStyle/>
          <a:p>
            <a:r>
              <a:rPr lang="en-US" altLang="zh-CN" sz="3200" dirty="0">
                <a:solidFill>
                  <a:srgbClr val="FF0000"/>
                </a:solidFill>
              </a:rPr>
              <a:t>b</a:t>
            </a:r>
            <a:endParaRPr lang="zh-CN" altLang="en-US" sz="3200" dirty="0">
              <a:solidFill>
                <a:srgbClr val="FF0000"/>
              </a:solidFill>
            </a:endParaRPr>
          </a:p>
        </p:txBody>
      </p:sp>
      <p:sp>
        <p:nvSpPr>
          <p:cNvPr id="11" name="文本框 10">
            <a:extLst>
              <a:ext uri="{FF2B5EF4-FFF2-40B4-BE49-F238E27FC236}">
                <a16:creationId xmlns:a16="http://schemas.microsoft.com/office/drawing/2014/main" id="{0D436EC1-B209-4724-AD41-F48FEB65C3D8}"/>
              </a:ext>
            </a:extLst>
          </p:cNvPr>
          <p:cNvSpPr txBox="1"/>
          <p:nvPr/>
        </p:nvSpPr>
        <p:spPr>
          <a:xfrm>
            <a:off x="2339752" y="1683133"/>
            <a:ext cx="485491" cy="584775"/>
          </a:xfrm>
          <a:prstGeom prst="rect">
            <a:avLst/>
          </a:prstGeom>
          <a:noFill/>
        </p:spPr>
        <p:txBody>
          <a:bodyPr wrap="square" rtlCol="0">
            <a:spAutoFit/>
          </a:bodyPr>
          <a:lstStyle/>
          <a:p>
            <a:r>
              <a:rPr lang="en-US" altLang="zh-CN" sz="3200" dirty="0">
                <a:solidFill>
                  <a:srgbClr val="FF0000"/>
                </a:solidFill>
              </a:rPr>
              <a:t>d</a:t>
            </a:r>
            <a:endParaRPr lang="zh-CN" altLang="en-US" sz="3200" dirty="0">
              <a:solidFill>
                <a:srgbClr val="FF0000"/>
              </a:solidFill>
            </a:endParaRPr>
          </a:p>
        </p:txBody>
      </p:sp>
      <p:sp>
        <p:nvSpPr>
          <p:cNvPr id="12" name="文本框 11">
            <a:extLst>
              <a:ext uri="{FF2B5EF4-FFF2-40B4-BE49-F238E27FC236}">
                <a16:creationId xmlns:a16="http://schemas.microsoft.com/office/drawing/2014/main" id="{9E37AA87-D569-4F90-A1F4-71D534978EE2}"/>
              </a:ext>
            </a:extLst>
          </p:cNvPr>
          <p:cNvSpPr txBox="1"/>
          <p:nvPr/>
        </p:nvSpPr>
        <p:spPr>
          <a:xfrm>
            <a:off x="2987824" y="1683133"/>
            <a:ext cx="485491" cy="584775"/>
          </a:xfrm>
          <a:prstGeom prst="rect">
            <a:avLst/>
          </a:prstGeom>
          <a:noFill/>
        </p:spPr>
        <p:txBody>
          <a:bodyPr wrap="square" rtlCol="0">
            <a:spAutoFit/>
          </a:bodyPr>
          <a:lstStyle/>
          <a:p>
            <a:r>
              <a:rPr lang="en-US" altLang="zh-CN" sz="3200" dirty="0">
                <a:solidFill>
                  <a:srgbClr val="FF0000"/>
                </a:solidFill>
              </a:rPr>
              <a:t>a</a:t>
            </a:r>
            <a:endParaRPr lang="zh-CN" altLang="en-US" sz="3200" dirty="0">
              <a:solidFill>
                <a:srgbClr val="FF0000"/>
              </a:solidFill>
            </a:endParaRPr>
          </a:p>
        </p:txBody>
      </p:sp>
      <p:sp>
        <p:nvSpPr>
          <p:cNvPr id="13" name="文本框 12">
            <a:extLst>
              <a:ext uri="{FF2B5EF4-FFF2-40B4-BE49-F238E27FC236}">
                <a16:creationId xmlns:a16="http://schemas.microsoft.com/office/drawing/2014/main" id="{530246DA-5E6B-46BA-A2AC-0D2D5BC864BC}"/>
              </a:ext>
            </a:extLst>
          </p:cNvPr>
          <p:cNvSpPr txBox="1"/>
          <p:nvPr/>
        </p:nvSpPr>
        <p:spPr>
          <a:xfrm>
            <a:off x="3707904" y="1683133"/>
            <a:ext cx="485491" cy="584775"/>
          </a:xfrm>
          <a:prstGeom prst="rect">
            <a:avLst/>
          </a:prstGeom>
          <a:noFill/>
        </p:spPr>
        <p:txBody>
          <a:bodyPr wrap="square" rtlCol="0">
            <a:spAutoFit/>
          </a:bodyPr>
          <a:lstStyle/>
          <a:p>
            <a:r>
              <a:rPr lang="en-US" altLang="zh-CN" sz="3200" dirty="0"/>
              <a:t>e</a:t>
            </a:r>
            <a:endParaRPr lang="zh-CN" altLang="en-US" sz="3200" dirty="0"/>
          </a:p>
        </p:txBody>
      </p:sp>
      <p:sp>
        <p:nvSpPr>
          <p:cNvPr id="14" name="文本框 13">
            <a:extLst>
              <a:ext uri="{FF2B5EF4-FFF2-40B4-BE49-F238E27FC236}">
                <a16:creationId xmlns:a16="http://schemas.microsoft.com/office/drawing/2014/main" id="{0D1A6EA3-4D12-45A1-B5DA-766C78D0B850}"/>
              </a:ext>
            </a:extLst>
          </p:cNvPr>
          <p:cNvSpPr txBox="1"/>
          <p:nvPr/>
        </p:nvSpPr>
        <p:spPr>
          <a:xfrm>
            <a:off x="5033069" y="1683132"/>
            <a:ext cx="485491" cy="584775"/>
          </a:xfrm>
          <a:prstGeom prst="rect">
            <a:avLst/>
          </a:prstGeom>
          <a:noFill/>
        </p:spPr>
        <p:txBody>
          <a:bodyPr wrap="square" rtlCol="0">
            <a:spAutoFit/>
          </a:bodyPr>
          <a:lstStyle/>
          <a:p>
            <a:r>
              <a:rPr lang="en-US" altLang="zh-CN" sz="3200" dirty="0"/>
              <a:t>f</a:t>
            </a:r>
            <a:endParaRPr lang="zh-CN" altLang="en-US" sz="3200" dirty="0"/>
          </a:p>
        </p:txBody>
      </p:sp>
      <p:sp>
        <p:nvSpPr>
          <p:cNvPr id="15" name="文本框 14">
            <a:extLst>
              <a:ext uri="{FF2B5EF4-FFF2-40B4-BE49-F238E27FC236}">
                <a16:creationId xmlns:a16="http://schemas.microsoft.com/office/drawing/2014/main" id="{7498E209-0327-4EBB-8FC0-5F41930983D3}"/>
              </a:ext>
            </a:extLst>
          </p:cNvPr>
          <p:cNvSpPr txBox="1"/>
          <p:nvPr/>
        </p:nvSpPr>
        <p:spPr>
          <a:xfrm>
            <a:off x="4323528" y="1692097"/>
            <a:ext cx="485491" cy="584775"/>
          </a:xfrm>
          <a:prstGeom prst="rect">
            <a:avLst/>
          </a:prstGeom>
          <a:noFill/>
        </p:spPr>
        <p:txBody>
          <a:bodyPr wrap="square" rtlCol="0">
            <a:spAutoFit/>
          </a:bodyPr>
          <a:lstStyle/>
          <a:p>
            <a:r>
              <a:rPr lang="en-US" altLang="zh-CN" sz="3200" dirty="0"/>
              <a:t>g</a:t>
            </a:r>
            <a:endParaRPr lang="zh-CN" altLang="en-US" sz="3200" dirty="0"/>
          </a:p>
        </p:txBody>
      </p:sp>
      <p:sp>
        <p:nvSpPr>
          <p:cNvPr id="17" name="Rectangle 2">
            <a:extLst>
              <a:ext uri="{FF2B5EF4-FFF2-40B4-BE49-F238E27FC236}">
                <a16:creationId xmlns:a16="http://schemas.microsoft.com/office/drawing/2014/main" id="{482096BB-ECA6-4E1F-A519-B86ADBBB7184}"/>
              </a:ext>
            </a:extLst>
          </p:cNvPr>
          <p:cNvSpPr txBox="1">
            <a:spLocks noChangeArrowheads="1"/>
          </p:cNvSpPr>
          <p:nvPr/>
        </p:nvSpPr>
        <p:spPr>
          <a:xfrm>
            <a:off x="574675" y="260648"/>
            <a:ext cx="8001000" cy="676275"/>
          </a:xfrm>
          <a:prstGeom prst="rect">
            <a:avLst/>
          </a:prstGeom>
        </p:spPr>
        <p:txBody>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Times New Roman" pitchFamily="18" charset="0"/>
                <a:ea typeface="黑体" pitchFamily="2" charset="-122"/>
              </a:defRPr>
            </a:lvl2pPr>
            <a:lvl3pPr algn="l" rtl="0" eaLnBrk="0" fontAlgn="base" hangingPunct="0">
              <a:spcBef>
                <a:spcPct val="0"/>
              </a:spcBef>
              <a:spcAft>
                <a:spcPct val="0"/>
              </a:spcAft>
              <a:defRPr sz="4200">
                <a:solidFill>
                  <a:schemeClr val="tx2"/>
                </a:solidFill>
                <a:latin typeface="Times New Roman" pitchFamily="18" charset="0"/>
                <a:ea typeface="黑体" pitchFamily="2" charset="-122"/>
              </a:defRPr>
            </a:lvl3pPr>
            <a:lvl4pPr algn="l" rtl="0" eaLnBrk="0" fontAlgn="base" hangingPunct="0">
              <a:spcBef>
                <a:spcPct val="0"/>
              </a:spcBef>
              <a:spcAft>
                <a:spcPct val="0"/>
              </a:spcAft>
              <a:defRPr sz="4200">
                <a:solidFill>
                  <a:schemeClr val="tx2"/>
                </a:solidFill>
                <a:latin typeface="Times New Roman" pitchFamily="18" charset="0"/>
                <a:ea typeface="黑体" pitchFamily="2" charset="-122"/>
              </a:defRPr>
            </a:lvl4pPr>
            <a:lvl5pPr algn="l" rtl="0" eaLnBrk="0" fontAlgn="base" hangingPunct="0">
              <a:spcBef>
                <a:spcPct val="0"/>
              </a:spcBef>
              <a:spcAft>
                <a:spcPct val="0"/>
              </a:spcAft>
              <a:defRPr sz="4200">
                <a:solidFill>
                  <a:schemeClr val="tx2"/>
                </a:solidFill>
                <a:latin typeface="Times New Roman" pitchFamily="18" charset="0"/>
                <a:ea typeface="黑体" pitchFamily="2" charset="-122"/>
              </a:defRPr>
            </a:lvl5pPr>
            <a:lvl6pPr marL="457200" algn="l" rtl="0" fontAlgn="base">
              <a:spcBef>
                <a:spcPct val="0"/>
              </a:spcBef>
              <a:spcAft>
                <a:spcPct val="0"/>
              </a:spcAft>
              <a:defRPr sz="4200">
                <a:solidFill>
                  <a:schemeClr val="tx2"/>
                </a:solidFill>
                <a:latin typeface="Times New Roman" pitchFamily="18" charset="0"/>
                <a:ea typeface="黑体" pitchFamily="2" charset="-122"/>
              </a:defRPr>
            </a:lvl6pPr>
            <a:lvl7pPr marL="914400" algn="l" rtl="0" fontAlgn="base">
              <a:spcBef>
                <a:spcPct val="0"/>
              </a:spcBef>
              <a:spcAft>
                <a:spcPct val="0"/>
              </a:spcAft>
              <a:defRPr sz="4200">
                <a:solidFill>
                  <a:schemeClr val="tx2"/>
                </a:solidFill>
                <a:latin typeface="Times New Roman" pitchFamily="18" charset="0"/>
                <a:ea typeface="黑体" pitchFamily="2" charset="-122"/>
              </a:defRPr>
            </a:lvl7pPr>
            <a:lvl8pPr marL="1371600" algn="l" rtl="0" fontAlgn="base">
              <a:spcBef>
                <a:spcPct val="0"/>
              </a:spcBef>
              <a:spcAft>
                <a:spcPct val="0"/>
              </a:spcAft>
              <a:defRPr sz="4200">
                <a:solidFill>
                  <a:schemeClr val="tx2"/>
                </a:solidFill>
                <a:latin typeface="Times New Roman" pitchFamily="18" charset="0"/>
                <a:ea typeface="黑体" pitchFamily="2" charset="-122"/>
              </a:defRPr>
            </a:lvl8pPr>
            <a:lvl9pPr marL="1828800" algn="l" rtl="0" fontAlgn="base">
              <a:spcBef>
                <a:spcPct val="0"/>
              </a:spcBef>
              <a:spcAft>
                <a:spcPct val="0"/>
              </a:spcAft>
              <a:defRPr sz="4200">
                <a:solidFill>
                  <a:schemeClr val="tx2"/>
                </a:solidFill>
                <a:latin typeface="Times New Roman" pitchFamily="18" charset="0"/>
                <a:ea typeface="黑体" pitchFamily="2" charset="-122"/>
              </a:defRPr>
            </a:lvl9pPr>
          </a:lstStyle>
          <a:p>
            <a:pPr algn="ctr" eaLnBrk="1" hangingPunct="1"/>
            <a:r>
              <a:rPr lang="zh-CN" altLang="en-US" sz="4400" b="1" i="0" kern="1200" dirty="0">
                <a:latin typeface="Tahoma" panose="020B0604030504040204" pitchFamily="34" charset="0"/>
                <a:ea typeface="隶书" pitchFamily="49" charset="-122"/>
                <a:cs typeface="+mn-cs"/>
              </a:rPr>
              <a:t>根据遍历顺序确定二叉树</a:t>
            </a:r>
          </a:p>
        </p:txBody>
      </p:sp>
      <p:sp>
        <p:nvSpPr>
          <p:cNvPr id="57" name="平行四边形 56">
            <a:extLst>
              <a:ext uri="{FF2B5EF4-FFF2-40B4-BE49-F238E27FC236}">
                <a16:creationId xmlns:a16="http://schemas.microsoft.com/office/drawing/2014/main" id="{C95E3109-AA69-45E0-8972-34E5F09FB647}"/>
              </a:ext>
            </a:extLst>
          </p:cNvPr>
          <p:cNvSpPr/>
          <p:nvPr/>
        </p:nvSpPr>
        <p:spPr bwMode="auto">
          <a:xfrm>
            <a:off x="3635896" y="1290618"/>
            <a:ext cx="533077" cy="986254"/>
          </a:xfrm>
          <a:prstGeom prst="parallelogram">
            <a:avLst>
              <a:gd name="adj" fmla="val 0"/>
            </a:avLst>
          </a:prstGeom>
          <a:noFill/>
          <a:ln w="603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1" u="none" strike="noStrike" cap="none" normalizeH="0" baseline="0">
              <a:ln>
                <a:noFill/>
              </a:ln>
              <a:solidFill>
                <a:schemeClr val="tx1"/>
              </a:solidFill>
              <a:effectLst/>
              <a:latin typeface="Times New Roman" pitchFamily="18" charset="0"/>
              <a:ea typeface="宋体" pitchFamily="2" charset="-122"/>
            </a:endParaRPr>
          </a:p>
        </p:txBody>
      </p:sp>
      <p:sp>
        <p:nvSpPr>
          <p:cNvPr id="59" name="矩形 58">
            <a:extLst>
              <a:ext uri="{FF2B5EF4-FFF2-40B4-BE49-F238E27FC236}">
                <a16:creationId xmlns:a16="http://schemas.microsoft.com/office/drawing/2014/main" id="{9B40D150-E2E7-4D40-8443-C4758F091646}"/>
              </a:ext>
            </a:extLst>
          </p:cNvPr>
          <p:cNvSpPr/>
          <p:nvPr/>
        </p:nvSpPr>
        <p:spPr bwMode="auto">
          <a:xfrm>
            <a:off x="4360658" y="1268760"/>
            <a:ext cx="355358" cy="495090"/>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1" u="none" strike="noStrike" cap="none" normalizeH="0" baseline="0">
              <a:ln>
                <a:noFill/>
              </a:ln>
              <a:solidFill>
                <a:schemeClr val="tx1"/>
              </a:solidFill>
              <a:effectLst/>
              <a:latin typeface="Times New Roman" pitchFamily="18" charset="0"/>
              <a:ea typeface="宋体" pitchFamily="2" charset="-122"/>
            </a:endParaRPr>
          </a:p>
        </p:txBody>
      </p:sp>
      <p:sp>
        <p:nvSpPr>
          <p:cNvPr id="60" name="矩形 59">
            <a:extLst>
              <a:ext uri="{FF2B5EF4-FFF2-40B4-BE49-F238E27FC236}">
                <a16:creationId xmlns:a16="http://schemas.microsoft.com/office/drawing/2014/main" id="{642A136A-F456-4E9F-88C8-31690AF889AD}"/>
              </a:ext>
            </a:extLst>
          </p:cNvPr>
          <p:cNvSpPr/>
          <p:nvPr/>
        </p:nvSpPr>
        <p:spPr bwMode="auto">
          <a:xfrm>
            <a:off x="5004048" y="1781782"/>
            <a:ext cx="355358" cy="495090"/>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1" u="none" strike="noStrike" cap="none" normalizeH="0" baseline="0">
              <a:ln>
                <a:noFill/>
              </a:ln>
              <a:solidFill>
                <a:schemeClr val="tx1"/>
              </a:solidFill>
              <a:effectLst/>
              <a:latin typeface="Times New Roman" pitchFamily="18" charset="0"/>
              <a:ea typeface="宋体" pitchFamily="2" charset="-122"/>
            </a:endParaRPr>
          </a:p>
        </p:txBody>
      </p:sp>
    </p:spTree>
    <p:extLst>
      <p:ext uri="{BB962C8B-B14F-4D97-AF65-F5344CB8AC3E}">
        <p14:creationId xmlns:p14="http://schemas.microsoft.com/office/powerpoint/2010/main" val="3916425918"/>
      </p:ext>
    </p:extLst>
  </p:cSld>
  <p:clrMapOvr>
    <a:masterClrMapping/>
  </p:clrMapOvr>
  <p:transition spd="med">
    <p:pull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7" presetClass="entr" presetSubtype="1" fill="hold" nodeType="clickEffect">
                                  <p:stCondLst>
                                    <p:cond delay="0"/>
                                  </p:stCondLst>
                                  <p:childTnLst>
                                    <p:set>
                                      <p:cBhvr>
                                        <p:cTn id="10" dur="1" fill="hold">
                                          <p:stCondLst>
                                            <p:cond delay="0"/>
                                          </p:stCondLst>
                                        </p:cTn>
                                        <p:tgtEl>
                                          <p:spTgt spid="46120"/>
                                        </p:tgtEl>
                                        <p:attrNameLst>
                                          <p:attrName>style.visibility</p:attrName>
                                        </p:attrNameLst>
                                      </p:cBhvr>
                                      <p:to>
                                        <p:strVal val="visible"/>
                                      </p:to>
                                    </p:set>
                                    <p:anim calcmode="lin" valueType="num">
                                      <p:cBhvr>
                                        <p:cTn id="11" dur="500" fill="hold"/>
                                        <p:tgtEl>
                                          <p:spTgt spid="46120"/>
                                        </p:tgtEl>
                                        <p:attrNameLst>
                                          <p:attrName>ppt_x</p:attrName>
                                        </p:attrNameLst>
                                      </p:cBhvr>
                                      <p:tavLst>
                                        <p:tav tm="0">
                                          <p:val>
                                            <p:strVal val="#ppt_x"/>
                                          </p:val>
                                        </p:tav>
                                        <p:tav tm="100000">
                                          <p:val>
                                            <p:strVal val="#ppt_x"/>
                                          </p:val>
                                        </p:tav>
                                      </p:tavLst>
                                    </p:anim>
                                    <p:anim calcmode="lin" valueType="num">
                                      <p:cBhvr>
                                        <p:cTn id="12" dur="500" fill="hold"/>
                                        <p:tgtEl>
                                          <p:spTgt spid="46120"/>
                                        </p:tgtEl>
                                        <p:attrNameLst>
                                          <p:attrName>ppt_y</p:attrName>
                                        </p:attrNameLst>
                                      </p:cBhvr>
                                      <p:tavLst>
                                        <p:tav tm="0">
                                          <p:val>
                                            <p:strVal val="#ppt_y-#ppt_h/2"/>
                                          </p:val>
                                        </p:tav>
                                        <p:tav tm="100000">
                                          <p:val>
                                            <p:strVal val="#ppt_y"/>
                                          </p:val>
                                        </p:tav>
                                      </p:tavLst>
                                    </p:anim>
                                    <p:anim calcmode="lin" valueType="num">
                                      <p:cBhvr>
                                        <p:cTn id="13" dur="500" fill="hold"/>
                                        <p:tgtEl>
                                          <p:spTgt spid="46120"/>
                                        </p:tgtEl>
                                        <p:attrNameLst>
                                          <p:attrName>ppt_w</p:attrName>
                                        </p:attrNameLst>
                                      </p:cBhvr>
                                      <p:tavLst>
                                        <p:tav tm="0">
                                          <p:val>
                                            <p:strVal val="#ppt_w"/>
                                          </p:val>
                                        </p:tav>
                                        <p:tav tm="100000">
                                          <p:val>
                                            <p:strVal val="#ppt_w"/>
                                          </p:val>
                                        </p:tav>
                                      </p:tavLst>
                                    </p:anim>
                                    <p:anim calcmode="lin" valueType="num">
                                      <p:cBhvr>
                                        <p:cTn id="14" dur="500" fill="hold"/>
                                        <p:tgtEl>
                                          <p:spTgt spid="46120"/>
                                        </p:tgtEl>
                                        <p:attrNameLst>
                                          <p:attrName>ppt_h</p:attrName>
                                        </p:attrNameLst>
                                      </p:cBhvr>
                                      <p:tavLst>
                                        <p:tav tm="0">
                                          <p:val>
                                            <p:fltVal val="0"/>
                                          </p:val>
                                        </p:tav>
                                        <p:tav tm="100000">
                                          <p:val>
                                            <p:strVal val="#ppt_h"/>
                                          </p:val>
                                        </p:tav>
                                      </p:tavLst>
                                    </p:anim>
                                  </p:childTnLst>
                                </p:cTn>
                              </p:par>
                            </p:childTnLst>
                          </p:cTn>
                        </p:par>
                        <p:par>
                          <p:cTn id="15" fill="hold" nodeType="afterGroup">
                            <p:stCondLst>
                              <p:cond delay="500"/>
                            </p:stCondLst>
                            <p:childTnLst>
                              <p:par>
                                <p:cTn id="16" presetID="17" presetClass="entr" presetSubtype="1" fill="hold" grpId="0" nodeType="afterEffect">
                                  <p:stCondLst>
                                    <p:cond delay="0"/>
                                  </p:stCondLst>
                                  <p:childTnLst>
                                    <p:set>
                                      <p:cBhvr>
                                        <p:cTn id="17" dur="1" fill="hold">
                                          <p:stCondLst>
                                            <p:cond delay="0"/>
                                          </p:stCondLst>
                                        </p:cTn>
                                        <p:tgtEl>
                                          <p:spTgt spid="46117"/>
                                        </p:tgtEl>
                                        <p:attrNameLst>
                                          <p:attrName>style.visibility</p:attrName>
                                        </p:attrNameLst>
                                      </p:cBhvr>
                                      <p:to>
                                        <p:strVal val="visible"/>
                                      </p:to>
                                    </p:set>
                                    <p:anim calcmode="lin" valueType="num">
                                      <p:cBhvr>
                                        <p:cTn id="18" dur="500" fill="hold"/>
                                        <p:tgtEl>
                                          <p:spTgt spid="46117"/>
                                        </p:tgtEl>
                                        <p:attrNameLst>
                                          <p:attrName>ppt_x</p:attrName>
                                        </p:attrNameLst>
                                      </p:cBhvr>
                                      <p:tavLst>
                                        <p:tav tm="0">
                                          <p:val>
                                            <p:strVal val="#ppt_x"/>
                                          </p:val>
                                        </p:tav>
                                        <p:tav tm="100000">
                                          <p:val>
                                            <p:strVal val="#ppt_x"/>
                                          </p:val>
                                        </p:tav>
                                      </p:tavLst>
                                    </p:anim>
                                    <p:anim calcmode="lin" valueType="num">
                                      <p:cBhvr>
                                        <p:cTn id="19" dur="500" fill="hold"/>
                                        <p:tgtEl>
                                          <p:spTgt spid="46117"/>
                                        </p:tgtEl>
                                        <p:attrNameLst>
                                          <p:attrName>ppt_y</p:attrName>
                                        </p:attrNameLst>
                                      </p:cBhvr>
                                      <p:tavLst>
                                        <p:tav tm="0">
                                          <p:val>
                                            <p:strVal val="#ppt_y-#ppt_h/2"/>
                                          </p:val>
                                        </p:tav>
                                        <p:tav tm="100000">
                                          <p:val>
                                            <p:strVal val="#ppt_y"/>
                                          </p:val>
                                        </p:tav>
                                      </p:tavLst>
                                    </p:anim>
                                    <p:anim calcmode="lin" valueType="num">
                                      <p:cBhvr>
                                        <p:cTn id="20" dur="500" fill="hold"/>
                                        <p:tgtEl>
                                          <p:spTgt spid="46117"/>
                                        </p:tgtEl>
                                        <p:attrNameLst>
                                          <p:attrName>ppt_w</p:attrName>
                                        </p:attrNameLst>
                                      </p:cBhvr>
                                      <p:tavLst>
                                        <p:tav tm="0">
                                          <p:val>
                                            <p:strVal val="#ppt_w"/>
                                          </p:val>
                                        </p:tav>
                                        <p:tav tm="100000">
                                          <p:val>
                                            <p:strVal val="#ppt_w"/>
                                          </p:val>
                                        </p:tav>
                                      </p:tavLst>
                                    </p:anim>
                                    <p:anim calcmode="lin" valueType="num">
                                      <p:cBhvr>
                                        <p:cTn id="21" dur="500" fill="hold"/>
                                        <p:tgtEl>
                                          <p:spTgt spid="46117"/>
                                        </p:tgtEl>
                                        <p:attrNameLst>
                                          <p:attrName>ppt_h</p:attrName>
                                        </p:attrNameLst>
                                      </p:cBhvr>
                                      <p:tavLst>
                                        <p:tav tm="0">
                                          <p:val>
                                            <p:fltVal val="0"/>
                                          </p:val>
                                        </p:tav>
                                        <p:tav tm="100000">
                                          <p:val>
                                            <p:strVal val="#ppt_h"/>
                                          </p:val>
                                        </p:tav>
                                      </p:tavLst>
                                    </p:anim>
                                  </p:childTnLst>
                                </p:cTn>
                              </p:par>
                            </p:childTnLst>
                          </p:cTn>
                        </p:par>
                        <p:par>
                          <p:cTn id="22" fill="hold" nodeType="afterGroup">
                            <p:stCondLst>
                              <p:cond delay="1000"/>
                            </p:stCondLst>
                            <p:childTnLst>
                              <p:par>
                                <p:cTn id="23" presetID="17" presetClass="entr" presetSubtype="1" fill="hold" nodeType="afterEffect">
                                  <p:stCondLst>
                                    <p:cond delay="0"/>
                                  </p:stCondLst>
                                  <p:childTnLst>
                                    <p:set>
                                      <p:cBhvr>
                                        <p:cTn id="24" dur="1" fill="hold">
                                          <p:stCondLst>
                                            <p:cond delay="0"/>
                                          </p:stCondLst>
                                        </p:cTn>
                                        <p:tgtEl>
                                          <p:spTgt spid="46118"/>
                                        </p:tgtEl>
                                        <p:attrNameLst>
                                          <p:attrName>style.visibility</p:attrName>
                                        </p:attrNameLst>
                                      </p:cBhvr>
                                      <p:to>
                                        <p:strVal val="visible"/>
                                      </p:to>
                                    </p:set>
                                    <p:anim calcmode="lin" valueType="num">
                                      <p:cBhvr>
                                        <p:cTn id="25" dur="500" fill="hold"/>
                                        <p:tgtEl>
                                          <p:spTgt spid="46118"/>
                                        </p:tgtEl>
                                        <p:attrNameLst>
                                          <p:attrName>ppt_x</p:attrName>
                                        </p:attrNameLst>
                                      </p:cBhvr>
                                      <p:tavLst>
                                        <p:tav tm="0">
                                          <p:val>
                                            <p:strVal val="#ppt_x"/>
                                          </p:val>
                                        </p:tav>
                                        <p:tav tm="100000">
                                          <p:val>
                                            <p:strVal val="#ppt_x"/>
                                          </p:val>
                                        </p:tav>
                                      </p:tavLst>
                                    </p:anim>
                                    <p:anim calcmode="lin" valueType="num">
                                      <p:cBhvr>
                                        <p:cTn id="26" dur="500" fill="hold"/>
                                        <p:tgtEl>
                                          <p:spTgt spid="46118"/>
                                        </p:tgtEl>
                                        <p:attrNameLst>
                                          <p:attrName>ppt_y</p:attrName>
                                        </p:attrNameLst>
                                      </p:cBhvr>
                                      <p:tavLst>
                                        <p:tav tm="0">
                                          <p:val>
                                            <p:strVal val="#ppt_y-#ppt_h/2"/>
                                          </p:val>
                                        </p:tav>
                                        <p:tav tm="100000">
                                          <p:val>
                                            <p:strVal val="#ppt_y"/>
                                          </p:val>
                                        </p:tav>
                                      </p:tavLst>
                                    </p:anim>
                                    <p:anim calcmode="lin" valueType="num">
                                      <p:cBhvr>
                                        <p:cTn id="27" dur="500" fill="hold"/>
                                        <p:tgtEl>
                                          <p:spTgt spid="46118"/>
                                        </p:tgtEl>
                                        <p:attrNameLst>
                                          <p:attrName>ppt_w</p:attrName>
                                        </p:attrNameLst>
                                      </p:cBhvr>
                                      <p:tavLst>
                                        <p:tav tm="0">
                                          <p:val>
                                            <p:strVal val="#ppt_w"/>
                                          </p:val>
                                        </p:tav>
                                        <p:tav tm="100000">
                                          <p:val>
                                            <p:strVal val="#ppt_w"/>
                                          </p:val>
                                        </p:tav>
                                      </p:tavLst>
                                    </p:anim>
                                    <p:anim calcmode="lin" valueType="num">
                                      <p:cBhvr>
                                        <p:cTn id="28" dur="500" fill="hold"/>
                                        <p:tgtEl>
                                          <p:spTgt spid="46118"/>
                                        </p:tgtEl>
                                        <p:attrNameLst>
                                          <p:attrName>ppt_h</p:attrName>
                                        </p:attrNameLst>
                                      </p:cBhvr>
                                      <p:tavLst>
                                        <p:tav tm="0">
                                          <p:val>
                                            <p:fltVal val="0"/>
                                          </p:val>
                                        </p:tav>
                                        <p:tav tm="100000">
                                          <p:val>
                                            <p:strVal val="#ppt_h"/>
                                          </p:val>
                                        </p:tav>
                                      </p:tavLst>
                                    </p:anim>
                                  </p:childTnLst>
                                </p:cTn>
                              </p:par>
                            </p:childTnLst>
                          </p:cTn>
                        </p:par>
                        <p:par>
                          <p:cTn id="29" fill="hold" nodeType="afterGroup">
                            <p:stCondLst>
                              <p:cond delay="1500"/>
                            </p:stCondLst>
                            <p:childTnLst>
                              <p:par>
                                <p:cTn id="30" presetID="17" presetClass="entr" presetSubtype="1" fill="hold" nodeType="afterEffect">
                                  <p:stCondLst>
                                    <p:cond delay="0"/>
                                  </p:stCondLst>
                                  <p:childTnLst>
                                    <p:set>
                                      <p:cBhvr>
                                        <p:cTn id="31" dur="1" fill="hold">
                                          <p:stCondLst>
                                            <p:cond delay="0"/>
                                          </p:stCondLst>
                                        </p:cTn>
                                        <p:tgtEl>
                                          <p:spTgt spid="46119"/>
                                        </p:tgtEl>
                                        <p:attrNameLst>
                                          <p:attrName>style.visibility</p:attrName>
                                        </p:attrNameLst>
                                      </p:cBhvr>
                                      <p:to>
                                        <p:strVal val="visible"/>
                                      </p:to>
                                    </p:set>
                                    <p:anim calcmode="lin" valueType="num">
                                      <p:cBhvr>
                                        <p:cTn id="32" dur="500" fill="hold"/>
                                        <p:tgtEl>
                                          <p:spTgt spid="46119"/>
                                        </p:tgtEl>
                                        <p:attrNameLst>
                                          <p:attrName>ppt_x</p:attrName>
                                        </p:attrNameLst>
                                      </p:cBhvr>
                                      <p:tavLst>
                                        <p:tav tm="0">
                                          <p:val>
                                            <p:strVal val="#ppt_x"/>
                                          </p:val>
                                        </p:tav>
                                        <p:tav tm="100000">
                                          <p:val>
                                            <p:strVal val="#ppt_x"/>
                                          </p:val>
                                        </p:tav>
                                      </p:tavLst>
                                    </p:anim>
                                    <p:anim calcmode="lin" valueType="num">
                                      <p:cBhvr>
                                        <p:cTn id="33" dur="500" fill="hold"/>
                                        <p:tgtEl>
                                          <p:spTgt spid="46119"/>
                                        </p:tgtEl>
                                        <p:attrNameLst>
                                          <p:attrName>ppt_y</p:attrName>
                                        </p:attrNameLst>
                                      </p:cBhvr>
                                      <p:tavLst>
                                        <p:tav tm="0">
                                          <p:val>
                                            <p:strVal val="#ppt_y-#ppt_h/2"/>
                                          </p:val>
                                        </p:tav>
                                        <p:tav tm="100000">
                                          <p:val>
                                            <p:strVal val="#ppt_y"/>
                                          </p:val>
                                        </p:tav>
                                      </p:tavLst>
                                    </p:anim>
                                    <p:anim calcmode="lin" valueType="num">
                                      <p:cBhvr>
                                        <p:cTn id="34" dur="500" fill="hold"/>
                                        <p:tgtEl>
                                          <p:spTgt spid="46119"/>
                                        </p:tgtEl>
                                        <p:attrNameLst>
                                          <p:attrName>ppt_w</p:attrName>
                                        </p:attrNameLst>
                                      </p:cBhvr>
                                      <p:tavLst>
                                        <p:tav tm="0">
                                          <p:val>
                                            <p:strVal val="#ppt_w"/>
                                          </p:val>
                                        </p:tav>
                                        <p:tav tm="100000">
                                          <p:val>
                                            <p:strVal val="#ppt_w"/>
                                          </p:val>
                                        </p:tav>
                                      </p:tavLst>
                                    </p:anim>
                                    <p:anim calcmode="lin" valueType="num">
                                      <p:cBhvr>
                                        <p:cTn id="35" dur="500" fill="hold"/>
                                        <p:tgtEl>
                                          <p:spTgt spid="46119"/>
                                        </p:tgtEl>
                                        <p:attrNameLst>
                                          <p:attrName>ppt_h</p:attrName>
                                        </p:attrNameLst>
                                      </p:cBhvr>
                                      <p:tavLst>
                                        <p:tav tm="0">
                                          <p:val>
                                            <p:fltVal val="0"/>
                                          </p:val>
                                        </p:tav>
                                        <p:tav tm="100000">
                                          <p:val>
                                            <p:strVal val="#ppt_h"/>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17" presetClass="entr" presetSubtype="1" fill="hold" grpId="0" nodeType="clickEffect">
                                  <p:stCondLst>
                                    <p:cond delay="0"/>
                                  </p:stCondLst>
                                  <p:childTnLst>
                                    <p:set>
                                      <p:cBhvr>
                                        <p:cTn id="39" dur="1" fill="hold">
                                          <p:stCondLst>
                                            <p:cond delay="0"/>
                                          </p:stCondLst>
                                        </p:cTn>
                                        <p:tgtEl>
                                          <p:spTgt spid="46133"/>
                                        </p:tgtEl>
                                        <p:attrNameLst>
                                          <p:attrName>style.visibility</p:attrName>
                                        </p:attrNameLst>
                                      </p:cBhvr>
                                      <p:to>
                                        <p:strVal val="visible"/>
                                      </p:to>
                                    </p:set>
                                    <p:anim calcmode="lin" valueType="num">
                                      <p:cBhvr>
                                        <p:cTn id="40" dur="500" fill="hold"/>
                                        <p:tgtEl>
                                          <p:spTgt spid="46133"/>
                                        </p:tgtEl>
                                        <p:attrNameLst>
                                          <p:attrName>ppt_x</p:attrName>
                                        </p:attrNameLst>
                                      </p:cBhvr>
                                      <p:tavLst>
                                        <p:tav tm="0">
                                          <p:val>
                                            <p:strVal val="#ppt_x"/>
                                          </p:val>
                                        </p:tav>
                                        <p:tav tm="100000">
                                          <p:val>
                                            <p:strVal val="#ppt_x"/>
                                          </p:val>
                                        </p:tav>
                                      </p:tavLst>
                                    </p:anim>
                                    <p:anim calcmode="lin" valueType="num">
                                      <p:cBhvr>
                                        <p:cTn id="41" dur="500" fill="hold"/>
                                        <p:tgtEl>
                                          <p:spTgt spid="46133"/>
                                        </p:tgtEl>
                                        <p:attrNameLst>
                                          <p:attrName>ppt_y</p:attrName>
                                        </p:attrNameLst>
                                      </p:cBhvr>
                                      <p:tavLst>
                                        <p:tav tm="0">
                                          <p:val>
                                            <p:strVal val="#ppt_y-#ppt_h/2"/>
                                          </p:val>
                                        </p:tav>
                                        <p:tav tm="100000">
                                          <p:val>
                                            <p:strVal val="#ppt_y"/>
                                          </p:val>
                                        </p:tav>
                                      </p:tavLst>
                                    </p:anim>
                                    <p:anim calcmode="lin" valueType="num">
                                      <p:cBhvr>
                                        <p:cTn id="42" dur="500" fill="hold"/>
                                        <p:tgtEl>
                                          <p:spTgt spid="46133"/>
                                        </p:tgtEl>
                                        <p:attrNameLst>
                                          <p:attrName>ppt_w</p:attrName>
                                        </p:attrNameLst>
                                      </p:cBhvr>
                                      <p:tavLst>
                                        <p:tav tm="0">
                                          <p:val>
                                            <p:strVal val="#ppt_w"/>
                                          </p:val>
                                        </p:tav>
                                        <p:tav tm="100000">
                                          <p:val>
                                            <p:strVal val="#ppt_w"/>
                                          </p:val>
                                        </p:tav>
                                      </p:tavLst>
                                    </p:anim>
                                    <p:anim calcmode="lin" valueType="num">
                                      <p:cBhvr>
                                        <p:cTn id="43" dur="500" fill="hold"/>
                                        <p:tgtEl>
                                          <p:spTgt spid="46133"/>
                                        </p:tgtEl>
                                        <p:attrNameLst>
                                          <p:attrName>ppt_h</p:attrName>
                                        </p:attrNameLst>
                                      </p:cBhvr>
                                      <p:tavLst>
                                        <p:tav tm="0">
                                          <p:val>
                                            <p:fltVal val="0"/>
                                          </p:val>
                                        </p:tav>
                                        <p:tav tm="100000">
                                          <p:val>
                                            <p:strVal val="#ppt_h"/>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59"/>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60"/>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7" presetClass="entr" presetSubtype="1" fill="hold" nodeType="clickEffect">
                                  <p:stCondLst>
                                    <p:cond delay="0"/>
                                  </p:stCondLst>
                                  <p:childTnLst>
                                    <p:set>
                                      <p:cBhvr>
                                        <p:cTn id="55" dur="1" fill="hold">
                                          <p:stCondLst>
                                            <p:cond delay="0"/>
                                          </p:stCondLst>
                                        </p:cTn>
                                        <p:tgtEl>
                                          <p:spTgt spid="46124"/>
                                        </p:tgtEl>
                                        <p:attrNameLst>
                                          <p:attrName>style.visibility</p:attrName>
                                        </p:attrNameLst>
                                      </p:cBhvr>
                                      <p:to>
                                        <p:strVal val="visible"/>
                                      </p:to>
                                    </p:set>
                                    <p:anim calcmode="lin" valueType="num">
                                      <p:cBhvr>
                                        <p:cTn id="56" dur="500" fill="hold"/>
                                        <p:tgtEl>
                                          <p:spTgt spid="46124"/>
                                        </p:tgtEl>
                                        <p:attrNameLst>
                                          <p:attrName>ppt_x</p:attrName>
                                        </p:attrNameLst>
                                      </p:cBhvr>
                                      <p:tavLst>
                                        <p:tav tm="0">
                                          <p:val>
                                            <p:strVal val="#ppt_x"/>
                                          </p:val>
                                        </p:tav>
                                        <p:tav tm="100000">
                                          <p:val>
                                            <p:strVal val="#ppt_x"/>
                                          </p:val>
                                        </p:tav>
                                      </p:tavLst>
                                    </p:anim>
                                    <p:anim calcmode="lin" valueType="num">
                                      <p:cBhvr>
                                        <p:cTn id="57" dur="500" fill="hold"/>
                                        <p:tgtEl>
                                          <p:spTgt spid="46124"/>
                                        </p:tgtEl>
                                        <p:attrNameLst>
                                          <p:attrName>ppt_y</p:attrName>
                                        </p:attrNameLst>
                                      </p:cBhvr>
                                      <p:tavLst>
                                        <p:tav tm="0">
                                          <p:val>
                                            <p:strVal val="#ppt_y-#ppt_h/2"/>
                                          </p:val>
                                        </p:tav>
                                        <p:tav tm="100000">
                                          <p:val>
                                            <p:strVal val="#ppt_y"/>
                                          </p:val>
                                        </p:tav>
                                      </p:tavLst>
                                    </p:anim>
                                    <p:anim calcmode="lin" valueType="num">
                                      <p:cBhvr>
                                        <p:cTn id="58" dur="500" fill="hold"/>
                                        <p:tgtEl>
                                          <p:spTgt spid="46124"/>
                                        </p:tgtEl>
                                        <p:attrNameLst>
                                          <p:attrName>ppt_w</p:attrName>
                                        </p:attrNameLst>
                                      </p:cBhvr>
                                      <p:tavLst>
                                        <p:tav tm="0">
                                          <p:val>
                                            <p:strVal val="#ppt_w"/>
                                          </p:val>
                                        </p:tav>
                                        <p:tav tm="100000">
                                          <p:val>
                                            <p:strVal val="#ppt_w"/>
                                          </p:val>
                                        </p:tav>
                                      </p:tavLst>
                                    </p:anim>
                                    <p:anim calcmode="lin" valueType="num">
                                      <p:cBhvr>
                                        <p:cTn id="59" dur="500" fill="hold"/>
                                        <p:tgtEl>
                                          <p:spTgt spid="46124"/>
                                        </p:tgtEl>
                                        <p:attrNameLst>
                                          <p:attrName>ppt_h</p:attrName>
                                        </p:attrNameLst>
                                      </p:cBhvr>
                                      <p:tavLst>
                                        <p:tav tm="0">
                                          <p:val>
                                            <p:fltVal val="0"/>
                                          </p:val>
                                        </p:tav>
                                        <p:tav tm="100000">
                                          <p:val>
                                            <p:strVal val="#ppt_h"/>
                                          </p:val>
                                        </p:tav>
                                      </p:tavLst>
                                    </p:anim>
                                  </p:childTnLst>
                                </p:cTn>
                              </p:par>
                            </p:childTnLst>
                          </p:cTn>
                        </p:par>
                        <p:par>
                          <p:cTn id="60" fill="hold" nodeType="afterGroup">
                            <p:stCondLst>
                              <p:cond delay="500"/>
                            </p:stCondLst>
                            <p:childTnLst>
                              <p:par>
                                <p:cTn id="61" presetID="17" presetClass="entr" presetSubtype="1" fill="hold" grpId="0" nodeType="afterEffect">
                                  <p:stCondLst>
                                    <p:cond delay="0"/>
                                  </p:stCondLst>
                                  <p:childTnLst>
                                    <p:set>
                                      <p:cBhvr>
                                        <p:cTn id="62" dur="1" fill="hold">
                                          <p:stCondLst>
                                            <p:cond delay="0"/>
                                          </p:stCondLst>
                                        </p:cTn>
                                        <p:tgtEl>
                                          <p:spTgt spid="46121"/>
                                        </p:tgtEl>
                                        <p:attrNameLst>
                                          <p:attrName>style.visibility</p:attrName>
                                        </p:attrNameLst>
                                      </p:cBhvr>
                                      <p:to>
                                        <p:strVal val="visible"/>
                                      </p:to>
                                    </p:set>
                                    <p:anim calcmode="lin" valueType="num">
                                      <p:cBhvr>
                                        <p:cTn id="63" dur="500" fill="hold"/>
                                        <p:tgtEl>
                                          <p:spTgt spid="46121"/>
                                        </p:tgtEl>
                                        <p:attrNameLst>
                                          <p:attrName>ppt_x</p:attrName>
                                        </p:attrNameLst>
                                      </p:cBhvr>
                                      <p:tavLst>
                                        <p:tav tm="0">
                                          <p:val>
                                            <p:strVal val="#ppt_x"/>
                                          </p:val>
                                        </p:tav>
                                        <p:tav tm="100000">
                                          <p:val>
                                            <p:strVal val="#ppt_x"/>
                                          </p:val>
                                        </p:tav>
                                      </p:tavLst>
                                    </p:anim>
                                    <p:anim calcmode="lin" valueType="num">
                                      <p:cBhvr>
                                        <p:cTn id="64" dur="500" fill="hold"/>
                                        <p:tgtEl>
                                          <p:spTgt spid="46121"/>
                                        </p:tgtEl>
                                        <p:attrNameLst>
                                          <p:attrName>ppt_y</p:attrName>
                                        </p:attrNameLst>
                                      </p:cBhvr>
                                      <p:tavLst>
                                        <p:tav tm="0">
                                          <p:val>
                                            <p:strVal val="#ppt_y-#ppt_h/2"/>
                                          </p:val>
                                        </p:tav>
                                        <p:tav tm="100000">
                                          <p:val>
                                            <p:strVal val="#ppt_y"/>
                                          </p:val>
                                        </p:tav>
                                      </p:tavLst>
                                    </p:anim>
                                    <p:anim calcmode="lin" valueType="num">
                                      <p:cBhvr>
                                        <p:cTn id="65" dur="500" fill="hold"/>
                                        <p:tgtEl>
                                          <p:spTgt spid="46121"/>
                                        </p:tgtEl>
                                        <p:attrNameLst>
                                          <p:attrName>ppt_w</p:attrName>
                                        </p:attrNameLst>
                                      </p:cBhvr>
                                      <p:tavLst>
                                        <p:tav tm="0">
                                          <p:val>
                                            <p:strVal val="#ppt_w"/>
                                          </p:val>
                                        </p:tav>
                                        <p:tav tm="100000">
                                          <p:val>
                                            <p:strVal val="#ppt_w"/>
                                          </p:val>
                                        </p:tav>
                                      </p:tavLst>
                                    </p:anim>
                                    <p:anim calcmode="lin" valueType="num">
                                      <p:cBhvr>
                                        <p:cTn id="66" dur="500" fill="hold"/>
                                        <p:tgtEl>
                                          <p:spTgt spid="46121"/>
                                        </p:tgtEl>
                                        <p:attrNameLst>
                                          <p:attrName>ppt_h</p:attrName>
                                        </p:attrNameLst>
                                      </p:cBhvr>
                                      <p:tavLst>
                                        <p:tav tm="0">
                                          <p:val>
                                            <p:fltVal val="0"/>
                                          </p:val>
                                        </p:tav>
                                        <p:tav tm="100000">
                                          <p:val>
                                            <p:strVal val="#ppt_h"/>
                                          </p:val>
                                        </p:tav>
                                      </p:tavLst>
                                    </p:anim>
                                  </p:childTnLst>
                                </p:cTn>
                              </p:par>
                            </p:childTnLst>
                          </p:cTn>
                        </p:par>
                        <p:par>
                          <p:cTn id="67" fill="hold" nodeType="afterGroup">
                            <p:stCondLst>
                              <p:cond delay="1000"/>
                            </p:stCondLst>
                            <p:childTnLst>
                              <p:par>
                                <p:cTn id="68" presetID="17" presetClass="entr" presetSubtype="1" fill="hold" nodeType="afterEffect">
                                  <p:stCondLst>
                                    <p:cond delay="0"/>
                                  </p:stCondLst>
                                  <p:childTnLst>
                                    <p:set>
                                      <p:cBhvr>
                                        <p:cTn id="69" dur="1" fill="hold">
                                          <p:stCondLst>
                                            <p:cond delay="0"/>
                                          </p:stCondLst>
                                        </p:cTn>
                                        <p:tgtEl>
                                          <p:spTgt spid="46122"/>
                                        </p:tgtEl>
                                        <p:attrNameLst>
                                          <p:attrName>style.visibility</p:attrName>
                                        </p:attrNameLst>
                                      </p:cBhvr>
                                      <p:to>
                                        <p:strVal val="visible"/>
                                      </p:to>
                                    </p:set>
                                    <p:anim calcmode="lin" valueType="num">
                                      <p:cBhvr>
                                        <p:cTn id="70" dur="500" fill="hold"/>
                                        <p:tgtEl>
                                          <p:spTgt spid="46122"/>
                                        </p:tgtEl>
                                        <p:attrNameLst>
                                          <p:attrName>ppt_x</p:attrName>
                                        </p:attrNameLst>
                                      </p:cBhvr>
                                      <p:tavLst>
                                        <p:tav tm="0">
                                          <p:val>
                                            <p:strVal val="#ppt_x"/>
                                          </p:val>
                                        </p:tav>
                                        <p:tav tm="100000">
                                          <p:val>
                                            <p:strVal val="#ppt_x"/>
                                          </p:val>
                                        </p:tav>
                                      </p:tavLst>
                                    </p:anim>
                                    <p:anim calcmode="lin" valueType="num">
                                      <p:cBhvr>
                                        <p:cTn id="71" dur="500" fill="hold"/>
                                        <p:tgtEl>
                                          <p:spTgt spid="46122"/>
                                        </p:tgtEl>
                                        <p:attrNameLst>
                                          <p:attrName>ppt_y</p:attrName>
                                        </p:attrNameLst>
                                      </p:cBhvr>
                                      <p:tavLst>
                                        <p:tav tm="0">
                                          <p:val>
                                            <p:strVal val="#ppt_y-#ppt_h/2"/>
                                          </p:val>
                                        </p:tav>
                                        <p:tav tm="100000">
                                          <p:val>
                                            <p:strVal val="#ppt_y"/>
                                          </p:val>
                                        </p:tav>
                                      </p:tavLst>
                                    </p:anim>
                                    <p:anim calcmode="lin" valueType="num">
                                      <p:cBhvr>
                                        <p:cTn id="72" dur="500" fill="hold"/>
                                        <p:tgtEl>
                                          <p:spTgt spid="46122"/>
                                        </p:tgtEl>
                                        <p:attrNameLst>
                                          <p:attrName>ppt_w</p:attrName>
                                        </p:attrNameLst>
                                      </p:cBhvr>
                                      <p:tavLst>
                                        <p:tav tm="0">
                                          <p:val>
                                            <p:strVal val="#ppt_w"/>
                                          </p:val>
                                        </p:tav>
                                        <p:tav tm="100000">
                                          <p:val>
                                            <p:strVal val="#ppt_w"/>
                                          </p:val>
                                        </p:tav>
                                      </p:tavLst>
                                    </p:anim>
                                    <p:anim calcmode="lin" valueType="num">
                                      <p:cBhvr>
                                        <p:cTn id="73" dur="500" fill="hold"/>
                                        <p:tgtEl>
                                          <p:spTgt spid="46122"/>
                                        </p:tgtEl>
                                        <p:attrNameLst>
                                          <p:attrName>ppt_h</p:attrName>
                                        </p:attrNameLst>
                                      </p:cBhvr>
                                      <p:tavLst>
                                        <p:tav tm="0">
                                          <p:val>
                                            <p:fltVal val="0"/>
                                          </p:val>
                                        </p:tav>
                                        <p:tav tm="100000">
                                          <p:val>
                                            <p:strVal val="#ppt_h"/>
                                          </p:val>
                                        </p:tav>
                                      </p:tavLst>
                                    </p:anim>
                                  </p:childTnLst>
                                </p:cTn>
                              </p:par>
                            </p:childTnLst>
                          </p:cTn>
                        </p:par>
                        <p:par>
                          <p:cTn id="74" fill="hold" nodeType="afterGroup">
                            <p:stCondLst>
                              <p:cond delay="1500"/>
                            </p:stCondLst>
                            <p:childTnLst>
                              <p:par>
                                <p:cTn id="75" presetID="17" presetClass="entr" presetSubtype="1" fill="hold" nodeType="afterEffect">
                                  <p:stCondLst>
                                    <p:cond delay="0"/>
                                  </p:stCondLst>
                                  <p:childTnLst>
                                    <p:set>
                                      <p:cBhvr>
                                        <p:cTn id="76" dur="1" fill="hold">
                                          <p:stCondLst>
                                            <p:cond delay="0"/>
                                          </p:stCondLst>
                                        </p:cTn>
                                        <p:tgtEl>
                                          <p:spTgt spid="46123"/>
                                        </p:tgtEl>
                                        <p:attrNameLst>
                                          <p:attrName>style.visibility</p:attrName>
                                        </p:attrNameLst>
                                      </p:cBhvr>
                                      <p:to>
                                        <p:strVal val="visible"/>
                                      </p:to>
                                    </p:set>
                                    <p:anim calcmode="lin" valueType="num">
                                      <p:cBhvr>
                                        <p:cTn id="77" dur="500" fill="hold"/>
                                        <p:tgtEl>
                                          <p:spTgt spid="46123"/>
                                        </p:tgtEl>
                                        <p:attrNameLst>
                                          <p:attrName>ppt_x</p:attrName>
                                        </p:attrNameLst>
                                      </p:cBhvr>
                                      <p:tavLst>
                                        <p:tav tm="0">
                                          <p:val>
                                            <p:strVal val="#ppt_x"/>
                                          </p:val>
                                        </p:tav>
                                        <p:tav tm="100000">
                                          <p:val>
                                            <p:strVal val="#ppt_x"/>
                                          </p:val>
                                        </p:tav>
                                      </p:tavLst>
                                    </p:anim>
                                    <p:anim calcmode="lin" valueType="num">
                                      <p:cBhvr>
                                        <p:cTn id="78" dur="500" fill="hold"/>
                                        <p:tgtEl>
                                          <p:spTgt spid="46123"/>
                                        </p:tgtEl>
                                        <p:attrNameLst>
                                          <p:attrName>ppt_y</p:attrName>
                                        </p:attrNameLst>
                                      </p:cBhvr>
                                      <p:tavLst>
                                        <p:tav tm="0">
                                          <p:val>
                                            <p:strVal val="#ppt_y-#ppt_h/2"/>
                                          </p:val>
                                        </p:tav>
                                        <p:tav tm="100000">
                                          <p:val>
                                            <p:strVal val="#ppt_y"/>
                                          </p:val>
                                        </p:tav>
                                      </p:tavLst>
                                    </p:anim>
                                    <p:anim calcmode="lin" valueType="num">
                                      <p:cBhvr>
                                        <p:cTn id="79" dur="500" fill="hold"/>
                                        <p:tgtEl>
                                          <p:spTgt spid="46123"/>
                                        </p:tgtEl>
                                        <p:attrNameLst>
                                          <p:attrName>ppt_w</p:attrName>
                                        </p:attrNameLst>
                                      </p:cBhvr>
                                      <p:tavLst>
                                        <p:tav tm="0">
                                          <p:val>
                                            <p:strVal val="#ppt_w"/>
                                          </p:val>
                                        </p:tav>
                                        <p:tav tm="100000">
                                          <p:val>
                                            <p:strVal val="#ppt_w"/>
                                          </p:val>
                                        </p:tav>
                                      </p:tavLst>
                                    </p:anim>
                                    <p:anim calcmode="lin" valueType="num">
                                      <p:cBhvr>
                                        <p:cTn id="80" dur="500" fill="hold"/>
                                        <p:tgtEl>
                                          <p:spTgt spid="46123"/>
                                        </p:tgtEl>
                                        <p:attrNameLst>
                                          <p:attrName>ppt_h</p:attrName>
                                        </p:attrNameLst>
                                      </p:cBhvr>
                                      <p:tavLst>
                                        <p:tav tm="0">
                                          <p:val>
                                            <p:fltVal val="0"/>
                                          </p:val>
                                        </p:tav>
                                        <p:tav tm="100000">
                                          <p:val>
                                            <p:strVal val="#ppt_h"/>
                                          </p:val>
                                        </p:tav>
                                      </p:tavLst>
                                    </p:anim>
                                  </p:childTnLst>
                                </p:cTn>
                              </p:par>
                            </p:childTnLst>
                          </p:cTn>
                        </p:par>
                      </p:childTnLst>
                    </p:cTn>
                  </p:par>
                  <p:par>
                    <p:cTn id="81" fill="hold" nodeType="clickPar">
                      <p:stCondLst>
                        <p:cond delay="indefinite"/>
                      </p:stCondLst>
                      <p:childTnLst>
                        <p:par>
                          <p:cTn id="82" fill="hold" nodeType="withGroup">
                            <p:stCondLst>
                              <p:cond delay="0"/>
                            </p:stCondLst>
                            <p:childTnLst>
                              <p:par>
                                <p:cTn id="83" presetID="17" presetClass="entr" presetSubtype="1" fill="hold" nodeType="clickEffect">
                                  <p:stCondLst>
                                    <p:cond delay="0"/>
                                  </p:stCondLst>
                                  <p:childTnLst>
                                    <p:set>
                                      <p:cBhvr>
                                        <p:cTn id="84" dur="1" fill="hold">
                                          <p:stCondLst>
                                            <p:cond delay="0"/>
                                          </p:stCondLst>
                                        </p:cTn>
                                        <p:tgtEl>
                                          <p:spTgt spid="46128"/>
                                        </p:tgtEl>
                                        <p:attrNameLst>
                                          <p:attrName>style.visibility</p:attrName>
                                        </p:attrNameLst>
                                      </p:cBhvr>
                                      <p:to>
                                        <p:strVal val="visible"/>
                                      </p:to>
                                    </p:set>
                                    <p:anim calcmode="lin" valueType="num">
                                      <p:cBhvr>
                                        <p:cTn id="85" dur="500" fill="hold"/>
                                        <p:tgtEl>
                                          <p:spTgt spid="46128"/>
                                        </p:tgtEl>
                                        <p:attrNameLst>
                                          <p:attrName>ppt_x</p:attrName>
                                        </p:attrNameLst>
                                      </p:cBhvr>
                                      <p:tavLst>
                                        <p:tav tm="0">
                                          <p:val>
                                            <p:strVal val="#ppt_x"/>
                                          </p:val>
                                        </p:tav>
                                        <p:tav tm="100000">
                                          <p:val>
                                            <p:strVal val="#ppt_x"/>
                                          </p:val>
                                        </p:tav>
                                      </p:tavLst>
                                    </p:anim>
                                    <p:anim calcmode="lin" valueType="num">
                                      <p:cBhvr>
                                        <p:cTn id="86" dur="500" fill="hold"/>
                                        <p:tgtEl>
                                          <p:spTgt spid="46128"/>
                                        </p:tgtEl>
                                        <p:attrNameLst>
                                          <p:attrName>ppt_y</p:attrName>
                                        </p:attrNameLst>
                                      </p:cBhvr>
                                      <p:tavLst>
                                        <p:tav tm="0">
                                          <p:val>
                                            <p:strVal val="#ppt_y-#ppt_h/2"/>
                                          </p:val>
                                        </p:tav>
                                        <p:tav tm="100000">
                                          <p:val>
                                            <p:strVal val="#ppt_y"/>
                                          </p:val>
                                        </p:tav>
                                      </p:tavLst>
                                    </p:anim>
                                    <p:anim calcmode="lin" valueType="num">
                                      <p:cBhvr>
                                        <p:cTn id="87" dur="500" fill="hold"/>
                                        <p:tgtEl>
                                          <p:spTgt spid="46128"/>
                                        </p:tgtEl>
                                        <p:attrNameLst>
                                          <p:attrName>ppt_w</p:attrName>
                                        </p:attrNameLst>
                                      </p:cBhvr>
                                      <p:tavLst>
                                        <p:tav tm="0">
                                          <p:val>
                                            <p:strVal val="#ppt_w"/>
                                          </p:val>
                                        </p:tav>
                                        <p:tav tm="100000">
                                          <p:val>
                                            <p:strVal val="#ppt_w"/>
                                          </p:val>
                                        </p:tav>
                                      </p:tavLst>
                                    </p:anim>
                                    <p:anim calcmode="lin" valueType="num">
                                      <p:cBhvr>
                                        <p:cTn id="88" dur="500" fill="hold"/>
                                        <p:tgtEl>
                                          <p:spTgt spid="46128"/>
                                        </p:tgtEl>
                                        <p:attrNameLst>
                                          <p:attrName>ppt_h</p:attrName>
                                        </p:attrNameLst>
                                      </p:cBhvr>
                                      <p:tavLst>
                                        <p:tav tm="0">
                                          <p:val>
                                            <p:fltVal val="0"/>
                                          </p:val>
                                        </p:tav>
                                        <p:tav tm="100000">
                                          <p:val>
                                            <p:strVal val="#ppt_h"/>
                                          </p:val>
                                        </p:tav>
                                      </p:tavLst>
                                    </p:anim>
                                  </p:childTnLst>
                                </p:cTn>
                              </p:par>
                            </p:childTnLst>
                          </p:cTn>
                        </p:par>
                        <p:par>
                          <p:cTn id="89" fill="hold" nodeType="afterGroup">
                            <p:stCondLst>
                              <p:cond delay="500"/>
                            </p:stCondLst>
                            <p:childTnLst>
                              <p:par>
                                <p:cTn id="90" presetID="17" presetClass="entr" presetSubtype="1" fill="hold" grpId="0" nodeType="afterEffect">
                                  <p:stCondLst>
                                    <p:cond delay="0"/>
                                  </p:stCondLst>
                                  <p:childTnLst>
                                    <p:set>
                                      <p:cBhvr>
                                        <p:cTn id="91" dur="1" fill="hold">
                                          <p:stCondLst>
                                            <p:cond delay="0"/>
                                          </p:stCondLst>
                                        </p:cTn>
                                        <p:tgtEl>
                                          <p:spTgt spid="46125"/>
                                        </p:tgtEl>
                                        <p:attrNameLst>
                                          <p:attrName>style.visibility</p:attrName>
                                        </p:attrNameLst>
                                      </p:cBhvr>
                                      <p:to>
                                        <p:strVal val="visible"/>
                                      </p:to>
                                    </p:set>
                                    <p:anim calcmode="lin" valueType="num">
                                      <p:cBhvr>
                                        <p:cTn id="92" dur="500" fill="hold"/>
                                        <p:tgtEl>
                                          <p:spTgt spid="46125"/>
                                        </p:tgtEl>
                                        <p:attrNameLst>
                                          <p:attrName>ppt_x</p:attrName>
                                        </p:attrNameLst>
                                      </p:cBhvr>
                                      <p:tavLst>
                                        <p:tav tm="0">
                                          <p:val>
                                            <p:strVal val="#ppt_x"/>
                                          </p:val>
                                        </p:tav>
                                        <p:tav tm="100000">
                                          <p:val>
                                            <p:strVal val="#ppt_x"/>
                                          </p:val>
                                        </p:tav>
                                      </p:tavLst>
                                    </p:anim>
                                    <p:anim calcmode="lin" valueType="num">
                                      <p:cBhvr>
                                        <p:cTn id="93" dur="500" fill="hold"/>
                                        <p:tgtEl>
                                          <p:spTgt spid="46125"/>
                                        </p:tgtEl>
                                        <p:attrNameLst>
                                          <p:attrName>ppt_y</p:attrName>
                                        </p:attrNameLst>
                                      </p:cBhvr>
                                      <p:tavLst>
                                        <p:tav tm="0">
                                          <p:val>
                                            <p:strVal val="#ppt_y-#ppt_h/2"/>
                                          </p:val>
                                        </p:tav>
                                        <p:tav tm="100000">
                                          <p:val>
                                            <p:strVal val="#ppt_y"/>
                                          </p:val>
                                        </p:tav>
                                      </p:tavLst>
                                    </p:anim>
                                    <p:anim calcmode="lin" valueType="num">
                                      <p:cBhvr>
                                        <p:cTn id="94" dur="500" fill="hold"/>
                                        <p:tgtEl>
                                          <p:spTgt spid="46125"/>
                                        </p:tgtEl>
                                        <p:attrNameLst>
                                          <p:attrName>ppt_w</p:attrName>
                                        </p:attrNameLst>
                                      </p:cBhvr>
                                      <p:tavLst>
                                        <p:tav tm="0">
                                          <p:val>
                                            <p:strVal val="#ppt_w"/>
                                          </p:val>
                                        </p:tav>
                                        <p:tav tm="100000">
                                          <p:val>
                                            <p:strVal val="#ppt_w"/>
                                          </p:val>
                                        </p:tav>
                                      </p:tavLst>
                                    </p:anim>
                                    <p:anim calcmode="lin" valueType="num">
                                      <p:cBhvr>
                                        <p:cTn id="95" dur="500" fill="hold"/>
                                        <p:tgtEl>
                                          <p:spTgt spid="46125"/>
                                        </p:tgtEl>
                                        <p:attrNameLst>
                                          <p:attrName>ppt_h</p:attrName>
                                        </p:attrNameLst>
                                      </p:cBhvr>
                                      <p:tavLst>
                                        <p:tav tm="0">
                                          <p:val>
                                            <p:fltVal val="0"/>
                                          </p:val>
                                        </p:tav>
                                        <p:tav tm="100000">
                                          <p:val>
                                            <p:strVal val="#ppt_h"/>
                                          </p:val>
                                        </p:tav>
                                      </p:tavLst>
                                    </p:anim>
                                  </p:childTnLst>
                                </p:cTn>
                              </p:par>
                            </p:childTnLst>
                          </p:cTn>
                        </p:par>
                        <p:par>
                          <p:cTn id="96" fill="hold" nodeType="afterGroup">
                            <p:stCondLst>
                              <p:cond delay="1000"/>
                            </p:stCondLst>
                            <p:childTnLst>
                              <p:par>
                                <p:cTn id="97" presetID="17" presetClass="entr" presetSubtype="1" fill="hold" nodeType="afterEffect">
                                  <p:stCondLst>
                                    <p:cond delay="0"/>
                                  </p:stCondLst>
                                  <p:childTnLst>
                                    <p:set>
                                      <p:cBhvr>
                                        <p:cTn id="98" dur="1" fill="hold">
                                          <p:stCondLst>
                                            <p:cond delay="0"/>
                                          </p:stCondLst>
                                        </p:cTn>
                                        <p:tgtEl>
                                          <p:spTgt spid="46126"/>
                                        </p:tgtEl>
                                        <p:attrNameLst>
                                          <p:attrName>style.visibility</p:attrName>
                                        </p:attrNameLst>
                                      </p:cBhvr>
                                      <p:to>
                                        <p:strVal val="visible"/>
                                      </p:to>
                                    </p:set>
                                    <p:anim calcmode="lin" valueType="num">
                                      <p:cBhvr>
                                        <p:cTn id="99" dur="500" fill="hold"/>
                                        <p:tgtEl>
                                          <p:spTgt spid="46126"/>
                                        </p:tgtEl>
                                        <p:attrNameLst>
                                          <p:attrName>ppt_x</p:attrName>
                                        </p:attrNameLst>
                                      </p:cBhvr>
                                      <p:tavLst>
                                        <p:tav tm="0">
                                          <p:val>
                                            <p:strVal val="#ppt_x"/>
                                          </p:val>
                                        </p:tav>
                                        <p:tav tm="100000">
                                          <p:val>
                                            <p:strVal val="#ppt_x"/>
                                          </p:val>
                                        </p:tav>
                                      </p:tavLst>
                                    </p:anim>
                                    <p:anim calcmode="lin" valueType="num">
                                      <p:cBhvr>
                                        <p:cTn id="100" dur="500" fill="hold"/>
                                        <p:tgtEl>
                                          <p:spTgt spid="46126"/>
                                        </p:tgtEl>
                                        <p:attrNameLst>
                                          <p:attrName>ppt_y</p:attrName>
                                        </p:attrNameLst>
                                      </p:cBhvr>
                                      <p:tavLst>
                                        <p:tav tm="0">
                                          <p:val>
                                            <p:strVal val="#ppt_y-#ppt_h/2"/>
                                          </p:val>
                                        </p:tav>
                                        <p:tav tm="100000">
                                          <p:val>
                                            <p:strVal val="#ppt_y"/>
                                          </p:val>
                                        </p:tav>
                                      </p:tavLst>
                                    </p:anim>
                                    <p:anim calcmode="lin" valueType="num">
                                      <p:cBhvr>
                                        <p:cTn id="101" dur="500" fill="hold"/>
                                        <p:tgtEl>
                                          <p:spTgt spid="46126"/>
                                        </p:tgtEl>
                                        <p:attrNameLst>
                                          <p:attrName>ppt_w</p:attrName>
                                        </p:attrNameLst>
                                      </p:cBhvr>
                                      <p:tavLst>
                                        <p:tav tm="0">
                                          <p:val>
                                            <p:strVal val="#ppt_w"/>
                                          </p:val>
                                        </p:tav>
                                        <p:tav tm="100000">
                                          <p:val>
                                            <p:strVal val="#ppt_w"/>
                                          </p:val>
                                        </p:tav>
                                      </p:tavLst>
                                    </p:anim>
                                    <p:anim calcmode="lin" valueType="num">
                                      <p:cBhvr>
                                        <p:cTn id="102" dur="500" fill="hold"/>
                                        <p:tgtEl>
                                          <p:spTgt spid="46126"/>
                                        </p:tgtEl>
                                        <p:attrNameLst>
                                          <p:attrName>ppt_h</p:attrName>
                                        </p:attrNameLst>
                                      </p:cBhvr>
                                      <p:tavLst>
                                        <p:tav tm="0">
                                          <p:val>
                                            <p:fltVal val="0"/>
                                          </p:val>
                                        </p:tav>
                                        <p:tav tm="100000">
                                          <p:val>
                                            <p:strVal val="#ppt_h"/>
                                          </p:val>
                                        </p:tav>
                                      </p:tavLst>
                                    </p:anim>
                                  </p:childTnLst>
                                </p:cTn>
                              </p:par>
                            </p:childTnLst>
                          </p:cTn>
                        </p:par>
                        <p:par>
                          <p:cTn id="103" fill="hold" nodeType="afterGroup">
                            <p:stCondLst>
                              <p:cond delay="1500"/>
                            </p:stCondLst>
                            <p:childTnLst>
                              <p:par>
                                <p:cTn id="104" presetID="17" presetClass="entr" presetSubtype="1" fill="hold" nodeType="afterEffect">
                                  <p:stCondLst>
                                    <p:cond delay="0"/>
                                  </p:stCondLst>
                                  <p:childTnLst>
                                    <p:set>
                                      <p:cBhvr>
                                        <p:cTn id="105" dur="1" fill="hold">
                                          <p:stCondLst>
                                            <p:cond delay="0"/>
                                          </p:stCondLst>
                                        </p:cTn>
                                        <p:tgtEl>
                                          <p:spTgt spid="46127"/>
                                        </p:tgtEl>
                                        <p:attrNameLst>
                                          <p:attrName>style.visibility</p:attrName>
                                        </p:attrNameLst>
                                      </p:cBhvr>
                                      <p:to>
                                        <p:strVal val="visible"/>
                                      </p:to>
                                    </p:set>
                                    <p:anim calcmode="lin" valueType="num">
                                      <p:cBhvr>
                                        <p:cTn id="106" dur="500" fill="hold"/>
                                        <p:tgtEl>
                                          <p:spTgt spid="46127"/>
                                        </p:tgtEl>
                                        <p:attrNameLst>
                                          <p:attrName>ppt_x</p:attrName>
                                        </p:attrNameLst>
                                      </p:cBhvr>
                                      <p:tavLst>
                                        <p:tav tm="0">
                                          <p:val>
                                            <p:strVal val="#ppt_x"/>
                                          </p:val>
                                        </p:tav>
                                        <p:tav tm="100000">
                                          <p:val>
                                            <p:strVal val="#ppt_x"/>
                                          </p:val>
                                        </p:tav>
                                      </p:tavLst>
                                    </p:anim>
                                    <p:anim calcmode="lin" valueType="num">
                                      <p:cBhvr>
                                        <p:cTn id="107" dur="500" fill="hold"/>
                                        <p:tgtEl>
                                          <p:spTgt spid="46127"/>
                                        </p:tgtEl>
                                        <p:attrNameLst>
                                          <p:attrName>ppt_y</p:attrName>
                                        </p:attrNameLst>
                                      </p:cBhvr>
                                      <p:tavLst>
                                        <p:tav tm="0">
                                          <p:val>
                                            <p:strVal val="#ppt_y-#ppt_h/2"/>
                                          </p:val>
                                        </p:tav>
                                        <p:tav tm="100000">
                                          <p:val>
                                            <p:strVal val="#ppt_y"/>
                                          </p:val>
                                        </p:tav>
                                      </p:tavLst>
                                    </p:anim>
                                    <p:anim calcmode="lin" valueType="num">
                                      <p:cBhvr>
                                        <p:cTn id="108" dur="500" fill="hold"/>
                                        <p:tgtEl>
                                          <p:spTgt spid="46127"/>
                                        </p:tgtEl>
                                        <p:attrNameLst>
                                          <p:attrName>ppt_w</p:attrName>
                                        </p:attrNameLst>
                                      </p:cBhvr>
                                      <p:tavLst>
                                        <p:tav tm="0">
                                          <p:val>
                                            <p:strVal val="#ppt_w"/>
                                          </p:val>
                                        </p:tav>
                                        <p:tav tm="100000">
                                          <p:val>
                                            <p:strVal val="#ppt_w"/>
                                          </p:val>
                                        </p:tav>
                                      </p:tavLst>
                                    </p:anim>
                                    <p:anim calcmode="lin" valueType="num">
                                      <p:cBhvr>
                                        <p:cTn id="109" dur="500" fill="hold"/>
                                        <p:tgtEl>
                                          <p:spTgt spid="46127"/>
                                        </p:tgtEl>
                                        <p:attrNameLst>
                                          <p:attrName>ppt_h</p:attrName>
                                        </p:attrNameLst>
                                      </p:cBhvr>
                                      <p:tavLst>
                                        <p:tav tm="0">
                                          <p:val>
                                            <p:fltVal val="0"/>
                                          </p:val>
                                        </p:tav>
                                        <p:tav tm="100000">
                                          <p:val>
                                            <p:strVal val="#ppt_h"/>
                                          </p:val>
                                        </p:tav>
                                      </p:tavLst>
                                    </p:anim>
                                  </p:childTnLst>
                                </p:cTn>
                              </p:par>
                            </p:childTnLst>
                          </p:cTn>
                        </p:par>
                      </p:childTnLst>
                    </p:cTn>
                  </p:par>
                  <p:par>
                    <p:cTn id="110" fill="hold" nodeType="clickPar">
                      <p:stCondLst>
                        <p:cond delay="indefinite"/>
                      </p:stCondLst>
                      <p:childTnLst>
                        <p:par>
                          <p:cTn id="111" fill="hold" nodeType="withGroup">
                            <p:stCondLst>
                              <p:cond delay="0"/>
                            </p:stCondLst>
                            <p:childTnLst>
                              <p:par>
                                <p:cTn id="112" presetID="17" presetClass="entr" presetSubtype="1" fill="hold" grpId="0" nodeType="clickEffect">
                                  <p:stCondLst>
                                    <p:cond delay="0"/>
                                  </p:stCondLst>
                                  <p:childTnLst>
                                    <p:set>
                                      <p:cBhvr>
                                        <p:cTn id="113" dur="1" fill="hold">
                                          <p:stCondLst>
                                            <p:cond delay="0"/>
                                          </p:stCondLst>
                                        </p:cTn>
                                        <p:tgtEl>
                                          <p:spTgt spid="46134"/>
                                        </p:tgtEl>
                                        <p:attrNameLst>
                                          <p:attrName>style.visibility</p:attrName>
                                        </p:attrNameLst>
                                      </p:cBhvr>
                                      <p:to>
                                        <p:strVal val="visible"/>
                                      </p:to>
                                    </p:set>
                                    <p:anim calcmode="lin" valueType="num">
                                      <p:cBhvr>
                                        <p:cTn id="114" dur="500" fill="hold"/>
                                        <p:tgtEl>
                                          <p:spTgt spid="46134"/>
                                        </p:tgtEl>
                                        <p:attrNameLst>
                                          <p:attrName>ppt_x</p:attrName>
                                        </p:attrNameLst>
                                      </p:cBhvr>
                                      <p:tavLst>
                                        <p:tav tm="0">
                                          <p:val>
                                            <p:strVal val="#ppt_x"/>
                                          </p:val>
                                        </p:tav>
                                        <p:tav tm="100000">
                                          <p:val>
                                            <p:strVal val="#ppt_x"/>
                                          </p:val>
                                        </p:tav>
                                      </p:tavLst>
                                    </p:anim>
                                    <p:anim calcmode="lin" valueType="num">
                                      <p:cBhvr>
                                        <p:cTn id="115" dur="500" fill="hold"/>
                                        <p:tgtEl>
                                          <p:spTgt spid="46134"/>
                                        </p:tgtEl>
                                        <p:attrNameLst>
                                          <p:attrName>ppt_y</p:attrName>
                                        </p:attrNameLst>
                                      </p:cBhvr>
                                      <p:tavLst>
                                        <p:tav tm="0">
                                          <p:val>
                                            <p:strVal val="#ppt_y-#ppt_h/2"/>
                                          </p:val>
                                        </p:tav>
                                        <p:tav tm="100000">
                                          <p:val>
                                            <p:strVal val="#ppt_y"/>
                                          </p:val>
                                        </p:tav>
                                      </p:tavLst>
                                    </p:anim>
                                    <p:anim calcmode="lin" valueType="num">
                                      <p:cBhvr>
                                        <p:cTn id="116" dur="500" fill="hold"/>
                                        <p:tgtEl>
                                          <p:spTgt spid="46134"/>
                                        </p:tgtEl>
                                        <p:attrNameLst>
                                          <p:attrName>ppt_w</p:attrName>
                                        </p:attrNameLst>
                                      </p:cBhvr>
                                      <p:tavLst>
                                        <p:tav tm="0">
                                          <p:val>
                                            <p:strVal val="#ppt_w"/>
                                          </p:val>
                                        </p:tav>
                                        <p:tav tm="100000">
                                          <p:val>
                                            <p:strVal val="#ppt_w"/>
                                          </p:val>
                                        </p:tav>
                                      </p:tavLst>
                                    </p:anim>
                                    <p:anim calcmode="lin" valueType="num">
                                      <p:cBhvr>
                                        <p:cTn id="117" dur="500" fill="hold"/>
                                        <p:tgtEl>
                                          <p:spTgt spid="46134"/>
                                        </p:tgtEl>
                                        <p:attrNameLst>
                                          <p:attrName>ppt_h</p:attrName>
                                        </p:attrNameLst>
                                      </p:cBhvr>
                                      <p:tavLst>
                                        <p:tav tm="0">
                                          <p:val>
                                            <p:fltVal val="0"/>
                                          </p:val>
                                        </p:tav>
                                        <p:tav tm="100000">
                                          <p:val>
                                            <p:strVal val="#ppt_h"/>
                                          </p:val>
                                        </p:tav>
                                      </p:tavLst>
                                    </p:anim>
                                  </p:childTnLst>
                                </p:cTn>
                              </p:par>
                            </p:childTnLst>
                          </p:cTn>
                        </p:par>
                      </p:childTnLst>
                    </p:cTn>
                  </p:par>
                  <p:par>
                    <p:cTn id="118" fill="hold" nodeType="clickPar">
                      <p:stCondLst>
                        <p:cond delay="indefinite"/>
                      </p:stCondLst>
                      <p:childTnLst>
                        <p:par>
                          <p:cTn id="119" fill="hold" nodeType="withGroup">
                            <p:stCondLst>
                              <p:cond delay="0"/>
                            </p:stCondLst>
                            <p:childTnLst>
                              <p:par>
                                <p:cTn id="120" presetID="17" presetClass="entr" presetSubtype="1" fill="hold" grpId="0" nodeType="clickEffect">
                                  <p:stCondLst>
                                    <p:cond delay="0"/>
                                  </p:stCondLst>
                                  <p:childTnLst>
                                    <p:set>
                                      <p:cBhvr>
                                        <p:cTn id="121" dur="1" fill="hold">
                                          <p:stCondLst>
                                            <p:cond delay="0"/>
                                          </p:stCondLst>
                                        </p:cTn>
                                        <p:tgtEl>
                                          <p:spTgt spid="46135"/>
                                        </p:tgtEl>
                                        <p:attrNameLst>
                                          <p:attrName>style.visibility</p:attrName>
                                        </p:attrNameLst>
                                      </p:cBhvr>
                                      <p:to>
                                        <p:strVal val="visible"/>
                                      </p:to>
                                    </p:set>
                                    <p:anim calcmode="lin" valueType="num">
                                      <p:cBhvr>
                                        <p:cTn id="122" dur="500" fill="hold"/>
                                        <p:tgtEl>
                                          <p:spTgt spid="46135"/>
                                        </p:tgtEl>
                                        <p:attrNameLst>
                                          <p:attrName>ppt_x</p:attrName>
                                        </p:attrNameLst>
                                      </p:cBhvr>
                                      <p:tavLst>
                                        <p:tav tm="0">
                                          <p:val>
                                            <p:strVal val="#ppt_x"/>
                                          </p:val>
                                        </p:tav>
                                        <p:tav tm="100000">
                                          <p:val>
                                            <p:strVal val="#ppt_x"/>
                                          </p:val>
                                        </p:tav>
                                      </p:tavLst>
                                    </p:anim>
                                    <p:anim calcmode="lin" valueType="num">
                                      <p:cBhvr>
                                        <p:cTn id="123" dur="500" fill="hold"/>
                                        <p:tgtEl>
                                          <p:spTgt spid="46135"/>
                                        </p:tgtEl>
                                        <p:attrNameLst>
                                          <p:attrName>ppt_y</p:attrName>
                                        </p:attrNameLst>
                                      </p:cBhvr>
                                      <p:tavLst>
                                        <p:tav tm="0">
                                          <p:val>
                                            <p:strVal val="#ppt_y-#ppt_h/2"/>
                                          </p:val>
                                        </p:tav>
                                        <p:tav tm="100000">
                                          <p:val>
                                            <p:strVal val="#ppt_y"/>
                                          </p:val>
                                        </p:tav>
                                      </p:tavLst>
                                    </p:anim>
                                    <p:anim calcmode="lin" valueType="num">
                                      <p:cBhvr>
                                        <p:cTn id="124" dur="500" fill="hold"/>
                                        <p:tgtEl>
                                          <p:spTgt spid="46135"/>
                                        </p:tgtEl>
                                        <p:attrNameLst>
                                          <p:attrName>ppt_w</p:attrName>
                                        </p:attrNameLst>
                                      </p:cBhvr>
                                      <p:tavLst>
                                        <p:tav tm="0">
                                          <p:val>
                                            <p:strVal val="#ppt_w"/>
                                          </p:val>
                                        </p:tav>
                                        <p:tav tm="100000">
                                          <p:val>
                                            <p:strVal val="#ppt_w"/>
                                          </p:val>
                                        </p:tav>
                                      </p:tavLst>
                                    </p:anim>
                                    <p:anim calcmode="lin" valueType="num">
                                      <p:cBhvr>
                                        <p:cTn id="125" dur="500" fill="hold"/>
                                        <p:tgtEl>
                                          <p:spTgt spid="46135"/>
                                        </p:tgtEl>
                                        <p:attrNameLst>
                                          <p:attrName>ppt_h</p:attrName>
                                        </p:attrNameLst>
                                      </p:cBhvr>
                                      <p:tavLst>
                                        <p:tav tm="0">
                                          <p:val>
                                            <p:fltVal val="0"/>
                                          </p:val>
                                        </p:tav>
                                        <p:tav tm="100000">
                                          <p:val>
                                            <p:strVal val="#ppt_h"/>
                                          </p:val>
                                        </p:tav>
                                      </p:tavLst>
                                    </p:anim>
                                  </p:childTnLst>
                                </p:cTn>
                              </p:par>
                            </p:childTnLst>
                          </p:cTn>
                        </p:par>
                      </p:childTnLst>
                    </p:cTn>
                  </p:par>
                  <p:par>
                    <p:cTn id="126" fill="hold" nodeType="clickPar">
                      <p:stCondLst>
                        <p:cond delay="indefinite"/>
                      </p:stCondLst>
                      <p:childTnLst>
                        <p:par>
                          <p:cTn id="127" fill="hold" nodeType="withGroup">
                            <p:stCondLst>
                              <p:cond delay="0"/>
                            </p:stCondLst>
                            <p:childTnLst>
                              <p:par>
                                <p:cTn id="128" presetID="17" presetClass="entr" presetSubtype="1" fill="hold" grpId="0" nodeType="clickEffect">
                                  <p:stCondLst>
                                    <p:cond delay="0"/>
                                  </p:stCondLst>
                                  <p:childTnLst>
                                    <p:set>
                                      <p:cBhvr>
                                        <p:cTn id="129" dur="1" fill="hold">
                                          <p:stCondLst>
                                            <p:cond delay="0"/>
                                          </p:stCondLst>
                                        </p:cTn>
                                        <p:tgtEl>
                                          <p:spTgt spid="46136"/>
                                        </p:tgtEl>
                                        <p:attrNameLst>
                                          <p:attrName>style.visibility</p:attrName>
                                        </p:attrNameLst>
                                      </p:cBhvr>
                                      <p:to>
                                        <p:strVal val="visible"/>
                                      </p:to>
                                    </p:set>
                                    <p:anim calcmode="lin" valueType="num">
                                      <p:cBhvr>
                                        <p:cTn id="130" dur="500" fill="hold"/>
                                        <p:tgtEl>
                                          <p:spTgt spid="46136"/>
                                        </p:tgtEl>
                                        <p:attrNameLst>
                                          <p:attrName>ppt_x</p:attrName>
                                        </p:attrNameLst>
                                      </p:cBhvr>
                                      <p:tavLst>
                                        <p:tav tm="0">
                                          <p:val>
                                            <p:strVal val="#ppt_x"/>
                                          </p:val>
                                        </p:tav>
                                        <p:tav tm="100000">
                                          <p:val>
                                            <p:strVal val="#ppt_x"/>
                                          </p:val>
                                        </p:tav>
                                      </p:tavLst>
                                    </p:anim>
                                    <p:anim calcmode="lin" valueType="num">
                                      <p:cBhvr>
                                        <p:cTn id="131" dur="500" fill="hold"/>
                                        <p:tgtEl>
                                          <p:spTgt spid="46136"/>
                                        </p:tgtEl>
                                        <p:attrNameLst>
                                          <p:attrName>ppt_y</p:attrName>
                                        </p:attrNameLst>
                                      </p:cBhvr>
                                      <p:tavLst>
                                        <p:tav tm="0">
                                          <p:val>
                                            <p:strVal val="#ppt_y-#ppt_h/2"/>
                                          </p:val>
                                        </p:tav>
                                        <p:tav tm="100000">
                                          <p:val>
                                            <p:strVal val="#ppt_y"/>
                                          </p:val>
                                        </p:tav>
                                      </p:tavLst>
                                    </p:anim>
                                    <p:anim calcmode="lin" valueType="num">
                                      <p:cBhvr>
                                        <p:cTn id="132" dur="500" fill="hold"/>
                                        <p:tgtEl>
                                          <p:spTgt spid="46136"/>
                                        </p:tgtEl>
                                        <p:attrNameLst>
                                          <p:attrName>ppt_w</p:attrName>
                                        </p:attrNameLst>
                                      </p:cBhvr>
                                      <p:tavLst>
                                        <p:tav tm="0">
                                          <p:val>
                                            <p:strVal val="#ppt_w"/>
                                          </p:val>
                                        </p:tav>
                                        <p:tav tm="100000">
                                          <p:val>
                                            <p:strVal val="#ppt_w"/>
                                          </p:val>
                                        </p:tav>
                                      </p:tavLst>
                                    </p:anim>
                                    <p:anim calcmode="lin" valueType="num">
                                      <p:cBhvr>
                                        <p:cTn id="133" dur="500" fill="hold"/>
                                        <p:tgtEl>
                                          <p:spTgt spid="4613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117" grpId="0" animBg="1" autoUpdateAnimBg="0"/>
      <p:bldP spid="46121" grpId="0" animBg="1" autoUpdateAnimBg="0"/>
      <p:bldP spid="46125" grpId="0" animBg="1" autoUpdateAnimBg="0"/>
      <p:bldP spid="46133" grpId="0" autoUpdateAnimBg="0"/>
      <p:bldP spid="46134" grpId="0" autoUpdateAnimBg="0"/>
      <p:bldP spid="46135" grpId="0" autoUpdateAnimBg="0"/>
      <p:bldP spid="46136" grpId="0" autoUpdateAnimBg="0"/>
      <p:bldP spid="57" grpId="0" animBg="1"/>
      <p:bldP spid="59" grpId="0" animBg="1"/>
      <p:bldP spid="60"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827C5FFC-DE6D-4019-88AB-97DA36E46C3F}"/>
              </a:ext>
            </a:extLst>
          </p:cNvPr>
          <p:cNvSpPr>
            <a:spLocks noGrp="1" noChangeArrowheads="1"/>
          </p:cNvSpPr>
          <p:nvPr>
            <p:ph type="title"/>
          </p:nvPr>
        </p:nvSpPr>
        <p:spPr/>
        <p:txBody>
          <a:bodyPr/>
          <a:lstStyle/>
          <a:p>
            <a:pPr algn="ctr" eaLnBrk="1" hangingPunct="1"/>
            <a:r>
              <a:rPr lang="zh-CN" altLang="en-US" sz="4400" b="1" kern="1200" dirty="0">
                <a:latin typeface="Tahoma" panose="020B0604030504040204" pitchFamily="34" charset="0"/>
                <a:ea typeface="隶书" pitchFamily="49" charset="-122"/>
                <a:cs typeface="+mn-cs"/>
              </a:rPr>
              <a:t>练习</a:t>
            </a:r>
          </a:p>
        </p:txBody>
      </p:sp>
      <p:sp>
        <p:nvSpPr>
          <p:cNvPr id="67587" name="Rectangle 3">
            <a:extLst>
              <a:ext uri="{FF2B5EF4-FFF2-40B4-BE49-F238E27FC236}">
                <a16:creationId xmlns:a16="http://schemas.microsoft.com/office/drawing/2014/main" id="{720D6171-0EEA-49F7-B13A-4E0915FD8209}"/>
              </a:ext>
            </a:extLst>
          </p:cNvPr>
          <p:cNvSpPr>
            <a:spLocks noGrp="1" noChangeArrowheads="1"/>
          </p:cNvSpPr>
          <p:nvPr>
            <p:ph type="body" idx="1"/>
          </p:nvPr>
        </p:nvSpPr>
        <p:spPr>
          <a:xfrm>
            <a:off x="571500" y="1268760"/>
            <a:ext cx="8001000" cy="2808312"/>
          </a:xfrm>
        </p:spPr>
        <p:txBody>
          <a:bodyPr/>
          <a:lstStyle/>
          <a:p>
            <a:pPr marL="0" indent="0" eaLnBrk="1" hangingPunct="1">
              <a:buNone/>
            </a:pPr>
            <a:r>
              <a:rPr lang="zh-CN" altLang="en-US" dirty="0">
                <a:latin typeface="+mn-ea"/>
              </a:rPr>
              <a:t>假设一棵二叉树的先序遍历序列为</a:t>
            </a:r>
            <a:r>
              <a:rPr lang="en-US" altLang="zh-CN" dirty="0">
                <a:latin typeface="+mn-ea"/>
              </a:rPr>
              <a:t>ABDEHCFGI</a:t>
            </a:r>
            <a:r>
              <a:rPr lang="zh-CN" altLang="en-US" dirty="0">
                <a:latin typeface="+mn-ea"/>
              </a:rPr>
              <a:t>，中序遍历序列为</a:t>
            </a:r>
            <a:r>
              <a:rPr lang="en-US" altLang="zh-CN" dirty="0">
                <a:latin typeface="+mn-ea"/>
              </a:rPr>
              <a:t>DBEHAFCIG</a:t>
            </a:r>
            <a:r>
              <a:rPr lang="zh-CN" altLang="en-US" dirty="0">
                <a:latin typeface="+mn-ea"/>
              </a:rPr>
              <a:t>。</a:t>
            </a:r>
            <a:endParaRPr lang="en-US" altLang="zh-CN" dirty="0">
              <a:latin typeface="+mn-ea"/>
            </a:endParaRPr>
          </a:p>
          <a:p>
            <a:pPr marL="0" indent="0" eaLnBrk="1" hangingPunct="1">
              <a:buNone/>
            </a:pPr>
            <a:r>
              <a:rPr lang="en-US" altLang="zh-CN" dirty="0"/>
              <a:t>1</a:t>
            </a:r>
            <a:r>
              <a:rPr lang="zh-CN" altLang="en-US" dirty="0"/>
              <a:t>）请画出这棵二叉树。</a:t>
            </a:r>
          </a:p>
          <a:p>
            <a:pPr marL="0" indent="0" eaLnBrk="1" hangingPunct="1">
              <a:buNone/>
            </a:pPr>
            <a:r>
              <a:rPr lang="en-US" altLang="zh-CN" dirty="0"/>
              <a:t>2</a:t>
            </a:r>
            <a:r>
              <a:rPr lang="zh-CN" altLang="en-US" dirty="0"/>
              <a:t>）思考：如果给出后序遍历序列和中序遍历序列，</a:t>
            </a:r>
            <a:endParaRPr lang="en-US" altLang="zh-CN" dirty="0"/>
          </a:p>
          <a:p>
            <a:pPr marL="0" indent="0" eaLnBrk="1" hangingPunct="1">
              <a:buNone/>
            </a:pPr>
            <a:r>
              <a:rPr lang="en-US" altLang="zh-CN" dirty="0"/>
              <a:t>      </a:t>
            </a:r>
            <a:r>
              <a:rPr lang="zh-CN" altLang="en-US" dirty="0"/>
              <a:t>是否可以确定该二叉树的结构？</a:t>
            </a:r>
          </a:p>
        </p:txBody>
      </p:sp>
      <p:sp>
        <p:nvSpPr>
          <p:cNvPr id="2" name="文本框 1">
            <a:extLst>
              <a:ext uri="{FF2B5EF4-FFF2-40B4-BE49-F238E27FC236}">
                <a16:creationId xmlns:a16="http://schemas.microsoft.com/office/drawing/2014/main" id="{3D75F21A-D644-40B7-B7F2-25E82CC44E22}"/>
              </a:ext>
            </a:extLst>
          </p:cNvPr>
          <p:cNvSpPr txBox="1"/>
          <p:nvPr/>
        </p:nvSpPr>
        <p:spPr>
          <a:xfrm>
            <a:off x="571500" y="5099573"/>
            <a:ext cx="2448272" cy="523220"/>
          </a:xfrm>
          <a:prstGeom prst="rect">
            <a:avLst/>
          </a:prstGeom>
          <a:noFill/>
        </p:spPr>
        <p:txBody>
          <a:bodyPr wrap="square" rtlCol="0">
            <a:spAutoFit/>
          </a:bodyPr>
          <a:lstStyle/>
          <a:p>
            <a:r>
              <a:rPr lang="en-US" altLang="zh-CN" sz="2800" b="0" i="0" dirty="0">
                <a:solidFill>
                  <a:srgbClr val="FF0000"/>
                </a:solidFill>
                <a:latin typeface="+mn-ea"/>
                <a:ea typeface="+mn-ea"/>
              </a:rPr>
              <a:t>2)</a:t>
            </a:r>
            <a:r>
              <a:rPr lang="zh-CN" altLang="en-US" sz="2800" b="0" i="0" dirty="0">
                <a:solidFill>
                  <a:srgbClr val="FF0000"/>
                </a:solidFill>
                <a:latin typeface="+mn-ea"/>
                <a:ea typeface="+mn-ea"/>
              </a:rPr>
              <a:t>可以</a:t>
            </a:r>
          </a:p>
        </p:txBody>
      </p:sp>
      <p:sp>
        <p:nvSpPr>
          <p:cNvPr id="3" name="文本框 2">
            <a:extLst>
              <a:ext uri="{FF2B5EF4-FFF2-40B4-BE49-F238E27FC236}">
                <a16:creationId xmlns:a16="http://schemas.microsoft.com/office/drawing/2014/main" id="{BCFE6B1C-7441-D6CC-C901-529B0CA17976}"/>
              </a:ext>
            </a:extLst>
          </p:cNvPr>
          <p:cNvSpPr txBox="1"/>
          <p:nvPr/>
        </p:nvSpPr>
        <p:spPr>
          <a:xfrm>
            <a:off x="571500" y="4109662"/>
            <a:ext cx="9289032" cy="954107"/>
          </a:xfrm>
          <a:prstGeom prst="rect">
            <a:avLst/>
          </a:prstGeom>
          <a:noFill/>
        </p:spPr>
        <p:txBody>
          <a:bodyPr wrap="square" rtlCol="0">
            <a:spAutoFit/>
          </a:bodyPr>
          <a:lstStyle/>
          <a:p>
            <a:r>
              <a:rPr lang="en-US" altLang="zh-CN" sz="2800" b="0" i="0" dirty="0">
                <a:solidFill>
                  <a:srgbClr val="FF0000"/>
                </a:solidFill>
                <a:latin typeface="黑体" panose="02010609060101010101" pitchFamily="49" charset="-122"/>
                <a:ea typeface="黑体" panose="02010609060101010101" pitchFamily="49" charset="-122"/>
              </a:rPr>
              <a:t>1)</a:t>
            </a:r>
            <a:r>
              <a:rPr lang="zh-CN" altLang="en-US" sz="2800" b="0" i="0" dirty="0">
                <a:solidFill>
                  <a:srgbClr val="FF0000"/>
                </a:solidFill>
                <a:latin typeface="黑体" panose="02010609060101010101" pitchFamily="49" charset="-122"/>
                <a:ea typeface="黑体" panose="02010609060101010101" pitchFamily="49" charset="-122"/>
              </a:rPr>
              <a:t>二叉树用广义表表示：</a:t>
            </a:r>
            <a:r>
              <a:rPr lang="en-US" altLang="zh-CN" sz="2800" b="0" i="0" dirty="0">
                <a:solidFill>
                  <a:srgbClr val="FF0000"/>
                </a:solidFill>
                <a:latin typeface="黑体" panose="02010609060101010101" pitchFamily="49" charset="-122"/>
                <a:ea typeface="黑体" panose="02010609060101010101" pitchFamily="49" charset="-122"/>
              </a:rPr>
              <a:t>(A(B(D,E(H)),C(F,G(I)))</a:t>
            </a:r>
          </a:p>
          <a:p>
            <a:r>
              <a:rPr lang="zh-CN" altLang="en-US" sz="2800" b="0" i="0" dirty="0">
                <a:solidFill>
                  <a:srgbClr val="FF0000"/>
                </a:solidFill>
                <a:latin typeface="黑体" panose="02010609060101010101" pitchFamily="49" charset="-122"/>
                <a:ea typeface="黑体" panose="02010609060101010101" pitchFamily="49" charset="-122"/>
              </a:rPr>
              <a:t>  二叉树后序遍历结果：</a:t>
            </a:r>
            <a:r>
              <a:rPr lang="en-US" altLang="zh-CN" sz="2800" b="0" i="0" dirty="0">
                <a:solidFill>
                  <a:srgbClr val="FF0000"/>
                </a:solidFill>
                <a:latin typeface="黑体" panose="02010609060101010101" pitchFamily="49" charset="-122"/>
                <a:ea typeface="黑体" panose="02010609060101010101" pitchFamily="49" charset="-122"/>
              </a:rPr>
              <a:t>DHEBFIGCA</a:t>
            </a:r>
            <a:endParaRPr lang="zh-CN" altLang="en-US" sz="2800" b="0" i="0" dirty="0">
              <a:solidFill>
                <a:srgbClr val="FF0000"/>
              </a:solidFill>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Text Box 4">
            <a:extLst>
              <a:ext uri="{FF2B5EF4-FFF2-40B4-BE49-F238E27FC236}">
                <a16:creationId xmlns:a16="http://schemas.microsoft.com/office/drawing/2014/main" id="{D885D148-8946-4D91-A928-2DDE7C2219FE}"/>
              </a:ext>
            </a:extLst>
          </p:cNvPr>
          <p:cNvSpPr txBox="1">
            <a:spLocks noChangeArrowheads="1"/>
          </p:cNvSpPr>
          <p:nvPr/>
        </p:nvSpPr>
        <p:spPr bwMode="auto">
          <a:xfrm>
            <a:off x="446667" y="188640"/>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4400" i="0" dirty="0">
                <a:solidFill>
                  <a:schemeClr val="tx2"/>
                </a:solidFill>
                <a:ea typeface="隶书" pitchFamily="49" charset="-122"/>
              </a:rPr>
              <a:t>第四节　线索二叉树</a:t>
            </a:r>
            <a:endParaRPr lang="zh-CN" altLang="en-US" sz="4400" i="0" dirty="0">
              <a:solidFill>
                <a:srgbClr val="FF0000"/>
              </a:solidFill>
              <a:ea typeface="隶书" pitchFamily="49" charset="-122"/>
            </a:endParaRPr>
          </a:p>
        </p:txBody>
      </p:sp>
      <p:sp>
        <p:nvSpPr>
          <p:cNvPr id="52237" name="Text Box 13">
            <a:extLst>
              <a:ext uri="{FF2B5EF4-FFF2-40B4-BE49-F238E27FC236}">
                <a16:creationId xmlns:a16="http://schemas.microsoft.com/office/drawing/2014/main" id="{D3CCD28F-3D3E-40FD-B01D-5ED93D119F47}"/>
              </a:ext>
            </a:extLst>
          </p:cNvPr>
          <p:cNvSpPr txBox="1">
            <a:spLocks noChangeArrowheads="1"/>
          </p:cNvSpPr>
          <p:nvPr/>
        </p:nvSpPr>
        <p:spPr bwMode="auto">
          <a:xfrm>
            <a:off x="539552" y="1268760"/>
            <a:ext cx="8208912" cy="1815882"/>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0" i="0" dirty="0">
                <a:latin typeface="黑体" panose="02010609060101010101" pitchFamily="49" charset="-122"/>
                <a:ea typeface="黑体" panose="02010609060101010101" pitchFamily="49" charset="-122"/>
              </a:rPr>
              <a:t>问题：遍历是将非线性结构线性化，结点的先后关系的信息（某个结点在序列中的前驱和后继等信息）在遍历的动态过程中得到，如何保存这些动态信息呢？</a:t>
            </a:r>
            <a:endParaRPr lang="zh-CN" altLang="en-US" sz="4000" b="0" dirty="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xit" presetSubtype="4" fill="hold" grpId="0" nodeType="clickEffect">
                                  <p:stCondLst>
                                    <p:cond delay="0"/>
                                  </p:stCondLst>
                                  <p:childTnLst>
                                    <p:animEffect transition="out" filter="wipe(down)">
                                      <p:cBhvr>
                                        <p:cTn id="6" dur="500"/>
                                        <p:tgtEl>
                                          <p:spTgt spid="52237"/>
                                        </p:tgtEl>
                                      </p:cBhvr>
                                    </p:animEffect>
                                    <p:set>
                                      <p:cBhvr>
                                        <p:cTn id="7" dur="1" fill="hold">
                                          <p:stCondLst>
                                            <p:cond delay="499"/>
                                          </p:stCondLst>
                                        </p:cTn>
                                        <p:tgtEl>
                                          <p:spTgt spid="5223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37" grpId="0" bldLvl="0" animBg="1" autoUpdateAnimBg="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40" name="Text Box 8">
            <a:extLst>
              <a:ext uri="{FF2B5EF4-FFF2-40B4-BE49-F238E27FC236}">
                <a16:creationId xmlns:a16="http://schemas.microsoft.com/office/drawing/2014/main" id="{06E9A3CC-CF58-4F3E-90EE-389C4F619132}"/>
              </a:ext>
            </a:extLst>
          </p:cNvPr>
          <p:cNvSpPr txBox="1">
            <a:spLocks noChangeArrowheads="1"/>
          </p:cNvSpPr>
          <p:nvPr/>
        </p:nvSpPr>
        <p:spPr bwMode="auto">
          <a:xfrm>
            <a:off x="1475655" y="3789040"/>
            <a:ext cx="1220487" cy="50359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36000" bIns="3600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en-US" altLang="zh-CN" sz="2800" b="0" i="0" dirty="0" err="1">
                <a:latin typeface="+mn-ea"/>
                <a:ea typeface="+mn-ea"/>
              </a:rPr>
              <a:t>fwd</a:t>
            </a:r>
            <a:endParaRPr lang="en-US" altLang="zh-CN" sz="2800" b="0" i="0" dirty="0">
              <a:latin typeface="+mn-ea"/>
              <a:ea typeface="+mn-ea"/>
            </a:endParaRPr>
          </a:p>
        </p:txBody>
      </p:sp>
      <p:sp>
        <p:nvSpPr>
          <p:cNvPr id="69641" name="Text Box 9">
            <a:extLst>
              <a:ext uri="{FF2B5EF4-FFF2-40B4-BE49-F238E27FC236}">
                <a16:creationId xmlns:a16="http://schemas.microsoft.com/office/drawing/2014/main" id="{728C7826-FC8D-46DA-BA37-1577E8CDE5B0}"/>
              </a:ext>
            </a:extLst>
          </p:cNvPr>
          <p:cNvSpPr txBox="1">
            <a:spLocks noChangeArrowheads="1"/>
          </p:cNvSpPr>
          <p:nvPr/>
        </p:nvSpPr>
        <p:spPr bwMode="auto">
          <a:xfrm>
            <a:off x="2697021" y="3798855"/>
            <a:ext cx="1553348" cy="50359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36000" bIns="3600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en-US" altLang="zh-CN" sz="2800" b="0" i="0" dirty="0" err="1">
                <a:latin typeface="+mn-ea"/>
                <a:ea typeface="+mn-ea"/>
              </a:rPr>
              <a:t>lchild</a:t>
            </a:r>
            <a:endParaRPr lang="en-US" altLang="zh-CN" sz="2800" b="0" i="0" dirty="0">
              <a:latin typeface="+mn-ea"/>
              <a:ea typeface="+mn-ea"/>
            </a:endParaRPr>
          </a:p>
        </p:txBody>
      </p:sp>
      <p:sp>
        <p:nvSpPr>
          <p:cNvPr id="69642" name="Text Box 10">
            <a:extLst>
              <a:ext uri="{FF2B5EF4-FFF2-40B4-BE49-F238E27FC236}">
                <a16:creationId xmlns:a16="http://schemas.microsoft.com/office/drawing/2014/main" id="{C351CD49-DDD2-4230-AD9E-D215F4935BC4}"/>
              </a:ext>
            </a:extLst>
          </p:cNvPr>
          <p:cNvSpPr txBox="1">
            <a:spLocks noChangeArrowheads="1"/>
          </p:cNvSpPr>
          <p:nvPr/>
        </p:nvSpPr>
        <p:spPr bwMode="auto">
          <a:xfrm>
            <a:off x="4249490" y="3789040"/>
            <a:ext cx="1220487" cy="50359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36000" rIns="0" bIns="3600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en-US" altLang="zh-CN" sz="2800" b="0" i="0" dirty="0">
                <a:latin typeface="+mn-ea"/>
                <a:ea typeface="+mn-ea"/>
              </a:rPr>
              <a:t>data</a:t>
            </a:r>
          </a:p>
        </p:txBody>
      </p:sp>
      <p:sp>
        <p:nvSpPr>
          <p:cNvPr id="69643" name="Text Box 11">
            <a:extLst>
              <a:ext uri="{FF2B5EF4-FFF2-40B4-BE49-F238E27FC236}">
                <a16:creationId xmlns:a16="http://schemas.microsoft.com/office/drawing/2014/main" id="{238572DA-8BE7-4878-BE5B-22D16F1C21E6}"/>
              </a:ext>
            </a:extLst>
          </p:cNvPr>
          <p:cNvSpPr txBox="1">
            <a:spLocks noChangeArrowheads="1"/>
          </p:cNvSpPr>
          <p:nvPr/>
        </p:nvSpPr>
        <p:spPr bwMode="auto">
          <a:xfrm>
            <a:off x="5469977" y="3789040"/>
            <a:ext cx="1553348" cy="51340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36000" bIns="3600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en-US" altLang="zh-CN" sz="2800" b="0" i="0" dirty="0" err="1">
                <a:latin typeface="+mn-ea"/>
                <a:ea typeface="+mn-ea"/>
              </a:rPr>
              <a:t>rchild</a:t>
            </a:r>
            <a:endParaRPr lang="en-US" altLang="zh-CN" sz="2800" b="0" i="0" dirty="0">
              <a:latin typeface="+mn-ea"/>
              <a:ea typeface="+mn-ea"/>
            </a:endParaRPr>
          </a:p>
        </p:txBody>
      </p:sp>
      <p:sp>
        <p:nvSpPr>
          <p:cNvPr id="69644" name="Text Box 12">
            <a:extLst>
              <a:ext uri="{FF2B5EF4-FFF2-40B4-BE49-F238E27FC236}">
                <a16:creationId xmlns:a16="http://schemas.microsoft.com/office/drawing/2014/main" id="{7BCE57EB-7EBB-4A30-A5EA-E7FD172F7B2D}"/>
              </a:ext>
            </a:extLst>
          </p:cNvPr>
          <p:cNvSpPr txBox="1">
            <a:spLocks noChangeArrowheads="1"/>
          </p:cNvSpPr>
          <p:nvPr/>
        </p:nvSpPr>
        <p:spPr bwMode="auto">
          <a:xfrm>
            <a:off x="7023325" y="3789040"/>
            <a:ext cx="1220487" cy="51340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36000" bIns="3600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en-US" altLang="zh-CN" sz="2800" b="0" i="0" dirty="0" err="1">
                <a:latin typeface="+mn-ea"/>
                <a:ea typeface="+mn-ea"/>
              </a:rPr>
              <a:t>bkwd</a:t>
            </a:r>
            <a:endParaRPr lang="en-US" altLang="zh-CN" sz="2800" b="0" i="0" dirty="0">
              <a:latin typeface="+mn-ea"/>
              <a:ea typeface="+mn-ea"/>
            </a:endParaRPr>
          </a:p>
        </p:txBody>
      </p:sp>
      <p:sp>
        <p:nvSpPr>
          <p:cNvPr id="15" name="Rectangle 5">
            <a:extLst>
              <a:ext uri="{FF2B5EF4-FFF2-40B4-BE49-F238E27FC236}">
                <a16:creationId xmlns:a16="http://schemas.microsoft.com/office/drawing/2014/main" id="{85BF5150-FB61-445E-A029-F04152DE38BD}"/>
              </a:ext>
            </a:extLst>
          </p:cNvPr>
          <p:cNvSpPr txBox="1">
            <a:spLocks noChangeArrowheads="1"/>
          </p:cNvSpPr>
          <p:nvPr/>
        </p:nvSpPr>
        <p:spPr bwMode="auto">
          <a:xfrm>
            <a:off x="478234" y="1243534"/>
            <a:ext cx="8763000" cy="942256"/>
          </a:xfrm>
          <a:prstGeom prst="rect">
            <a:avLst/>
          </a:prstGeom>
          <a:noFill/>
          <a:ln>
            <a:noFill/>
          </a:ln>
          <a:effectLst/>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folHlink"/>
              </a:buClr>
              <a:buSzPct val="6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folHlink"/>
              </a:buClr>
              <a:buSzPct val="6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folHlink"/>
              </a:buClr>
              <a:buSzPct val="6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folHlink"/>
              </a:buClr>
              <a:buSzPct val="60000"/>
              <a:buFont typeface="Wingdings" pitchFamily="2" charset="2"/>
              <a:buChar char="n"/>
              <a:defRPr sz="2000">
                <a:solidFill>
                  <a:schemeClr val="tx1"/>
                </a:solidFill>
                <a:latin typeface="+mn-lt"/>
                <a:ea typeface="+mn-ea"/>
              </a:defRPr>
            </a:lvl9pPr>
          </a:lstStyle>
          <a:p>
            <a:pPr eaLnBrk="1" hangingPunct="1">
              <a:lnSpc>
                <a:spcPct val="90000"/>
              </a:lnSpc>
              <a:spcBef>
                <a:spcPct val="70000"/>
              </a:spcBef>
              <a:buClr>
                <a:srgbClr val="FF0000"/>
              </a:buClr>
              <a:buSzPct val="100000"/>
              <a:buFont typeface="Wingdings" panose="05000000000000000000" pitchFamily="2" charset="2"/>
              <a:buChar char="p"/>
              <a:defRPr/>
            </a:pPr>
            <a:r>
              <a:rPr lang="zh-CN" altLang="en-US" sz="2800" b="0" i="0" kern="0" dirty="0">
                <a:latin typeface="黑体" panose="02010609060101010101" pitchFamily="49" charset="-122"/>
                <a:ea typeface="黑体" panose="02010609060101010101" pitchFamily="49" charset="-122"/>
              </a:rPr>
              <a:t> 最简单的方法是在每个结点中，增加前驱(</a:t>
            </a:r>
            <a:r>
              <a:rPr lang="en-US" altLang="zh-CN" sz="2800" b="0" i="0" kern="0" dirty="0" err="1">
                <a:latin typeface="黑体" panose="02010609060101010101" pitchFamily="49" charset="-122"/>
                <a:ea typeface="黑体" panose="02010609060101010101" pitchFamily="49" charset="-122"/>
              </a:rPr>
              <a:t>fwd</a:t>
            </a:r>
            <a:r>
              <a:rPr lang="en-US" altLang="zh-CN" sz="2800" b="0" i="0" kern="0" dirty="0">
                <a:latin typeface="黑体" panose="02010609060101010101" pitchFamily="49" charset="-122"/>
                <a:ea typeface="黑体" panose="02010609060101010101" pitchFamily="49" charset="-122"/>
              </a:rPr>
              <a:t>)</a:t>
            </a:r>
            <a:r>
              <a:rPr lang="zh-CN" altLang="en-US" sz="2800" b="0" i="0" kern="0" dirty="0">
                <a:latin typeface="黑体" panose="02010609060101010101" pitchFamily="49" charset="-122"/>
                <a:ea typeface="黑体" panose="02010609060101010101" pitchFamily="49" charset="-122"/>
              </a:rPr>
              <a:t>和</a:t>
            </a:r>
            <a:endParaRPr lang="en-US" altLang="zh-CN" sz="2800" b="0" i="0" kern="0" dirty="0">
              <a:latin typeface="黑体" panose="02010609060101010101" pitchFamily="49" charset="-122"/>
              <a:ea typeface="黑体" panose="02010609060101010101" pitchFamily="49" charset="-122"/>
            </a:endParaRPr>
          </a:p>
          <a:p>
            <a:pPr marL="0" indent="0" eaLnBrk="1" hangingPunct="1">
              <a:lnSpc>
                <a:spcPct val="90000"/>
              </a:lnSpc>
              <a:spcBef>
                <a:spcPts val="0"/>
              </a:spcBef>
              <a:buClr>
                <a:srgbClr val="FF0000"/>
              </a:buClr>
              <a:buSzPct val="100000"/>
              <a:buNone/>
              <a:defRPr/>
            </a:pPr>
            <a:r>
              <a:rPr lang="en-US" altLang="zh-CN" sz="2800" b="0" i="0" kern="0" dirty="0">
                <a:latin typeface="黑体" panose="02010609060101010101" pitchFamily="49" charset="-122"/>
                <a:ea typeface="黑体" panose="02010609060101010101" pitchFamily="49" charset="-122"/>
              </a:rPr>
              <a:t>   </a:t>
            </a:r>
            <a:r>
              <a:rPr lang="zh-CN" altLang="en-US" sz="2800" b="0" i="0" kern="0" dirty="0">
                <a:latin typeface="黑体" panose="02010609060101010101" pitchFamily="49" charset="-122"/>
                <a:ea typeface="黑体" panose="02010609060101010101" pitchFamily="49" charset="-122"/>
              </a:rPr>
              <a:t>后继(</a:t>
            </a:r>
            <a:r>
              <a:rPr lang="en-US" altLang="zh-CN" sz="2800" b="0" i="0" kern="0" dirty="0" err="1">
                <a:latin typeface="黑体" panose="02010609060101010101" pitchFamily="49" charset="-122"/>
                <a:ea typeface="黑体" panose="02010609060101010101" pitchFamily="49" charset="-122"/>
              </a:rPr>
              <a:t>bkwd</a:t>
            </a:r>
            <a:r>
              <a:rPr lang="en-US" altLang="zh-CN" sz="2800" b="0" i="0" kern="0" dirty="0">
                <a:latin typeface="黑体" panose="02010609060101010101" pitchFamily="49" charset="-122"/>
                <a:ea typeface="黑体" panose="02010609060101010101" pitchFamily="49" charset="-122"/>
              </a:rPr>
              <a:t>)</a:t>
            </a:r>
            <a:r>
              <a:rPr lang="zh-CN" altLang="en-US" sz="2800" b="0" i="0" kern="0" dirty="0">
                <a:latin typeface="黑体" panose="02010609060101010101" pitchFamily="49" charset="-122"/>
                <a:ea typeface="黑体" panose="02010609060101010101" pitchFamily="49" charset="-122"/>
              </a:rPr>
              <a:t>指针</a:t>
            </a:r>
          </a:p>
          <a:p>
            <a:pPr eaLnBrk="1" hangingPunct="1">
              <a:lnSpc>
                <a:spcPct val="90000"/>
              </a:lnSpc>
              <a:spcBef>
                <a:spcPct val="70000"/>
              </a:spcBef>
              <a:buClr>
                <a:srgbClr val="FF0000"/>
              </a:buClr>
              <a:buSzPct val="100000"/>
              <a:buFont typeface="Wingdings" panose="05000000000000000000" pitchFamily="2" charset="2"/>
              <a:buChar char="p"/>
              <a:defRPr/>
            </a:pPr>
            <a:r>
              <a:rPr lang="zh-CN" altLang="en-US" sz="2800" b="0" i="0" kern="0" dirty="0">
                <a:latin typeface="黑体" panose="02010609060101010101" pitchFamily="49" charset="-122"/>
                <a:ea typeface="黑体" panose="02010609060101010101" pitchFamily="49" charset="-122"/>
              </a:rPr>
              <a:t> 在做二叉树遍历（前、中、后序），将每个结点的</a:t>
            </a:r>
            <a:endParaRPr lang="en-US" altLang="zh-CN" sz="2800" b="0" i="0" kern="0" dirty="0">
              <a:latin typeface="黑体" panose="02010609060101010101" pitchFamily="49" charset="-122"/>
              <a:ea typeface="黑体" panose="02010609060101010101" pitchFamily="49" charset="-122"/>
            </a:endParaRPr>
          </a:p>
          <a:p>
            <a:pPr marL="0" indent="0" eaLnBrk="1" hangingPunct="1">
              <a:lnSpc>
                <a:spcPct val="90000"/>
              </a:lnSpc>
              <a:spcBef>
                <a:spcPts val="0"/>
              </a:spcBef>
              <a:buClr>
                <a:srgbClr val="FF0000"/>
              </a:buClr>
              <a:buSzPct val="100000"/>
              <a:buNone/>
              <a:defRPr/>
            </a:pPr>
            <a:r>
              <a:rPr lang="en-US" altLang="zh-CN" sz="2800" b="0" i="0" kern="0" dirty="0">
                <a:latin typeface="黑体" panose="02010609060101010101" pitchFamily="49" charset="-122"/>
                <a:ea typeface="黑体" panose="02010609060101010101" pitchFamily="49" charset="-122"/>
              </a:rPr>
              <a:t>   </a:t>
            </a:r>
            <a:r>
              <a:rPr lang="zh-CN" altLang="en-US" sz="2800" b="0" i="0" kern="0" dirty="0">
                <a:latin typeface="黑体" panose="02010609060101010101" pitchFamily="49" charset="-122"/>
                <a:ea typeface="黑体" panose="02010609060101010101" pitchFamily="49" charset="-122"/>
              </a:rPr>
              <a:t>前驱和后继信息添入</a:t>
            </a:r>
            <a:r>
              <a:rPr lang="en-US" altLang="zh-CN" sz="2800" b="0" i="0" kern="0" dirty="0" err="1">
                <a:latin typeface="黑体" panose="02010609060101010101" pitchFamily="49" charset="-122"/>
                <a:ea typeface="黑体" panose="02010609060101010101" pitchFamily="49" charset="-122"/>
              </a:rPr>
              <a:t>fwd</a:t>
            </a:r>
            <a:r>
              <a:rPr lang="zh-CN" altLang="en-US" sz="2800" b="0" i="0" kern="0" dirty="0">
                <a:latin typeface="黑体" panose="02010609060101010101" pitchFamily="49" charset="-122"/>
                <a:ea typeface="黑体" panose="02010609060101010101" pitchFamily="49" charset="-122"/>
              </a:rPr>
              <a:t>和</a:t>
            </a:r>
            <a:r>
              <a:rPr lang="en-US" altLang="zh-CN" sz="2800" b="0" i="0" kern="0" dirty="0" err="1">
                <a:latin typeface="黑体" panose="02010609060101010101" pitchFamily="49" charset="-122"/>
                <a:ea typeface="黑体" panose="02010609060101010101" pitchFamily="49" charset="-122"/>
              </a:rPr>
              <a:t>bkwd</a:t>
            </a:r>
            <a:r>
              <a:rPr lang="zh-CN" altLang="en-US" sz="2800" b="0" i="0" kern="0" dirty="0">
                <a:latin typeface="黑体" panose="02010609060101010101" pitchFamily="49" charset="-122"/>
                <a:ea typeface="黑体" panose="02010609060101010101" pitchFamily="49" charset="-122"/>
              </a:rPr>
              <a:t>域中</a:t>
            </a:r>
          </a:p>
        </p:txBody>
      </p:sp>
      <p:sp>
        <p:nvSpPr>
          <p:cNvPr id="2" name="Text Box 4">
            <a:extLst>
              <a:ext uri="{FF2B5EF4-FFF2-40B4-BE49-F238E27FC236}">
                <a16:creationId xmlns:a16="http://schemas.microsoft.com/office/drawing/2014/main" id="{633E143A-24D5-4569-A3B6-DD5C1406993B}"/>
              </a:ext>
            </a:extLst>
          </p:cNvPr>
          <p:cNvSpPr txBox="1">
            <a:spLocks noChangeArrowheads="1"/>
          </p:cNvSpPr>
          <p:nvPr/>
        </p:nvSpPr>
        <p:spPr bwMode="auto">
          <a:xfrm>
            <a:off x="446667" y="188640"/>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4400" i="0" dirty="0">
                <a:solidFill>
                  <a:schemeClr val="tx2"/>
                </a:solidFill>
                <a:ea typeface="隶书" pitchFamily="49" charset="-122"/>
              </a:rPr>
              <a:t>方法一</a:t>
            </a:r>
            <a:r>
              <a:rPr lang="en-US" altLang="zh-CN" sz="4400" i="0" dirty="0">
                <a:solidFill>
                  <a:schemeClr val="tx2"/>
                </a:solidFill>
                <a:ea typeface="隶书" pitchFamily="49" charset="-122"/>
              </a:rPr>
              <a:t>:</a:t>
            </a:r>
            <a:r>
              <a:rPr lang="zh-CN" altLang="en-US" sz="4400" i="0" dirty="0">
                <a:solidFill>
                  <a:schemeClr val="tx2"/>
                </a:solidFill>
                <a:ea typeface="隶书" pitchFamily="49" charset="-122"/>
              </a:rPr>
              <a:t>增加新指针</a:t>
            </a:r>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61" name="Rectangle 5">
            <a:extLst>
              <a:ext uri="{FF2B5EF4-FFF2-40B4-BE49-F238E27FC236}">
                <a16:creationId xmlns:a16="http://schemas.microsoft.com/office/drawing/2014/main" id="{1CD444A6-09DB-4CCA-964C-A13FC3C45BF0}"/>
              </a:ext>
            </a:extLst>
          </p:cNvPr>
          <p:cNvSpPr>
            <a:spLocks noGrp="1" noChangeArrowheads="1"/>
          </p:cNvSpPr>
          <p:nvPr>
            <p:ph type="body" idx="1"/>
          </p:nvPr>
        </p:nvSpPr>
        <p:spPr>
          <a:xfrm>
            <a:off x="467544" y="1268760"/>
            <a:ext cx="8763000" cy="4038600"/>
          </a:xfrm>
        </p:spPr>
        <p:txBody>
          <a:bodyPr/>
          <a:lstStyle/>
          <a:p>
            <a:pPr eaLnBrk="1" hangingPunct="1">
              <a:spcBef>
                <a:spcPct val="70000"/>
              </a:spcBef>
            </a:pPr>
            <a:r>
              <a:rPr lang="zh-CN" altLang="en-US" dirty="0">
                <a:solidFill>
                  <a:srgbClr val="FF0000"/>
                </a:solidFill>
                <a:latin typeface="黑体" panose="02010609060101010101" pitchFamily="49" charset="-122"/>
                <a:ea typeface="黑体" panose="02010609060101010101" pitchFamily="49" charset="-122"/>
              </a:rPr>
              <a:t>在有</a:t>
            </a:r>
            <a:r>
              <a:rPr lang="en-US" altLang="zh-CN" dirty="0">
                <a:solidFill>
                  <a:srgbClr val="FF0000"/>
                </a:solidFill>
                <a:latin typeface="黑体" panose="02010609060101010101" pitchFamily="49" charset="-122"/>
                <a:ea typeface="黑体" panose="02010609060101010101" pitchFamily="49" charset="-122"/>
              </a:rPr>
              <a:t>n</a:t>
            </a:r>
            <a:r>
              <a:rPr lang="zh-CN" altLang="en-US" dirty="0">
                <a:solidFill>
                  <a:srgbClr val="FF0000"/>
                </a:solidFill>
                <a:latin typeface="黑体" panose="02010609060101010101" pitchFamily="49" charset="-122"/>
                <a:ea typeface="黑体" panose="02010609060101010101" pitchFamily="49" charset="-122"/>
              </a:rPr>
              <a:t>个结点的二叉树中，必定存在</a:t>
            </a:r>
            <a:r>
              <a:rPr lang="en-US" altLang="zh-CN" dirty="0">
                <a:solidFill>
                  <a:srgbClr val="FF0000"/>
                </a:solidFill>
                <a:latin typeface="黑体" panose="02010609060101010101" pitchFamily="49" charset="-122"/>
                <a:ea typeface="黑体" panose="02010609060101010101" pitchFamily="49" charset="-122"/>
              </a:rPr>
              <a:t>n+1</a:t>
            </a:r>
            <a:r>
              <a:rPr lang="zh-CN" altLang="en-US" dirty="0">
                <a:solidFill>
                  <a:srgbClr val="FF0000"/>
                </a:solidFill>
                <a:latin typeface="黑体" panose="02010609060101010101" pitchFamily="49" charset="-122"/>
                <a:ea typeface="黑体" panose="02010609060101010101" pitchFamily="49" charset="-122"/>
              </a:rPr>
              <a:t>个空链域</a:t>
            </a:r>
          </a:p>
          <a:p>
            <a:pPr eaLnBrk="1" hangingPunct="1">
              <a:spcBef>
                <a:spcPct val="70000"/>
              </a:spcBef>
            </a:pPr>
            <a:r>
              <a:rPr lang="zh-CN" altLang="en-US" dirty="0">
                <a:latin typeface="黑体" panose="02010609060101010101" pitchFamily="49" charset="-122"/>
                <a:ea typeface="黑体" panose="02010609060101010101" pitchFamily="49" charset="-122"/>
              </a:rPr>
              <a:t>因为每个结点有两个链域（左、右孩子指针），因此共有2</a:t>
            </a:r>
            <a:r>
              <a:rPr lang="en-US" altLang="zh-CN" dirty="0">
                <a:latin typeface="黑体" panose="02010609060101010101" pitchFamily="49" charset="-122"/>
                <a:ea typeface="黑体" panose="02010609060101010101" pitchFamily="49" charset="-122"/>
              </a:rPr>
              <a:t>n</a:t>
            </a:r>
            <a:r>
              <a:rPr lang="zh-CN" altLang="en-US" dirty="0">
                <a:latin typeface="黑体" panose="02010609060101010101" pitchFamily="49" charset="-122"/>
                <a:ea typeface="黑体" panose="02010609060101010101" pitchFamily="49" charset="-122"/>
              </a:rPr>
              <a:t>个链域</a:t>
            </a:r>
          </a:p>
          <a:p>
            <a:pPr eaLnBrk="1" hangingPunct="1">
              <a:spcBef>
                <a:spcPct val="70000"/>
              </a:spcBef>
            </a:pPr>
            <a:r>
              <a:rPr lang="zh-CN" altLang="en-US" dirty="0">
                <a:latin typeface="黑体" panose="02010609060101010101" pitchFamily="49" charset="-122"/>
                <a:ea typeface="黑体" panose="02010609060101010101" pitchFamily="49" charset="-122"/>
              </a:rPr>
              <a:t>除根结点外，每个结点都有且仅有一个分支相连，即</a:t>
            </a:r>
            <a:r>
              <a:rPr lang="en-US" altLang="zh-CN" dirty="0">
                <a:latin typeface="黑体" panose="02010609060101010101" pitchFamily="49" charset="-122"/>
                <a:ea typeface="黑体" panose="02010609060101010101" pitchFamily="49" charset="-122"/>
              </a:rPr>
              <a:t>n-1</a:t>
            </a:r>
            <a:r>
              <a:rPr lang="zh-CN" altLang="en-US" dirty="0">
                <a:latin typeface="黑体" panose="02010609060101010101" pitchFamily="49" charset="-122"/>
                <a:ea typeface="黑体" panose="02010609060101010101" pitchFamily="49" charset="-122"/>
              </a:rPr>
              <a:t>个链域被使用</a:t>
            </a:r>
          </a:p>
        </p:txBody>
      </p:sp>
      <p:sp>
        <p:nvSpPr>
          <p:cNvPr id="2" name="Text Box 4">
            <a:extLst>
              <a:ext uri="{FF2B5EF4-FFF2-40B4-BE49-F238E27FC236}">
                <a16:creationId xmlns:a16="http://schemas.microsoft.com/office/drawing/2014/main" id="{E1F70D8B-D6C7-4BA3-A449-66286D36CC36}"/>
              </a:ext>
            </a:extLst>
          </p:cNvPr>
          <p:cNvSpPr txBox="1">
            <a:spLocks noChangeArrowheads="1"/>
          </p:cNvSpPr>
          <p:nvPr/>
        </p:nvSpPr>
        <p:spPr bwMode="auto">
          <a:xfrm>
            <a:off x="467544" y="116632"/>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4400" i="0" dirty="0">
                <a:solidFill>
                  <a:schemeClr val="tx2"/>
                </a:solidFill>
                <a:ea typeface="隶书" pitchFamily="49" charset="-122"/>
              </a:rPr>
              <a:t>方法二</a:t>
            </a:r>
            <a:r>
              <a:rPr lang="en-US" altLang="zh-CN" sz="4400" i="0" dirty="0">
                <a:solidFill>
                  <a:schemeClr val="tx2"/>
                </a:solidFill>
                <a:ea typeface="隶书" pitchFamily="49" charset="-122"/>
              </a:rPr>
              <a:t>:</a:t>
            </a:r>
            <a:r>
              <a:rPr lang="zh-CN" altLang="en-US" sz="4400" i="0" dirty="0">
                <a:solidFill>
                  <a:schemeClr val="tx2"/>
                </a:solidFill>
                <a:ea typeface="隶书" pitchFamily="49" charset="-122"/>
              </a:rPr>
              <a:t>利用空指针</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066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066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5">
            <a:extLst>
              <a:ext uri="{FF2B5EF4-FFF2-40B4-BE49-F238E27FC236}">
                <a16:creationId xmlns:a16="http://schemas.microsoft.com/office/drawing/2014/main" id="{357F51FB-38C6-48C9-9F02-C3EEBFB9CD79}"/>
              </a:ext>
            </a:extLst>
          </p:cNvPr>
          <p:cNvSpPr>
            <a:spLocks noGrp="1" noChangeArrowheads="1"/>
          </p:cNvSpPr>
          <p:nvPr>
            <p:ph type="body" idx="1"/>
          </p:nvPr>
        </p:nvSpPr>
        <p:spPr>
          <a:xfrm>
            <a:off x="479064" y="1409700"/>
            <a:ext cx="8763000" cy="4038600"/>
          </a:xfrm>
        </p:spPr>
        <p:txBody>
          <a:bodyPr/>
          <a:lstStyle/>
          <a:p>
            <a:pPr eaLnBrk="1" hangingPunct="1">
              <a:lnSpc>
                <a:spcPct val="90000"/>
              </a:lnSpc>
              <a:spcBef>
                <a:spcPct val="30000"/>
              </a:spcBef>
            </a:pPr>
            <a:r>
              <a:rPr lang="zh-CN" altLang="en-US" dirty="0">
                <a:latin typeface="黑体" panose="02010609060101010101" pitchFamily="49" charset="-122"/>
                <a:ea typeface="黑体" panose="02010609060101010101" pitchFamily="49" charset="-122"/>
              </a:rPr>
              <a:t>在结点中增加两个标记位（</a:t>
            </a:r>
            <a:r>
              <a:rPr lang="en-US" altLang="zh-CN" dirty="0" err="1">
                <a:latin typeface="黑体" panose="02010609060101010101" pitchFamily="49" charset="-122"/>
                <a:ea typeface="黑体" panose="02010609060101010101" pitchFamily="49" charset="-122"/>
              </a:rPr>
              <a:t>LTag</a:t>
            </a:r>
            <a:r>
              <a:rPr lang="en-US" altLang="zh-CN" dirty="0">
                <a:latin typeface="黑体" panose="02010609060101010101" pitchFamily="49" charset="-122"/>
                <a:ea typeface="黑体" panose="02010609060101010101" pitchFamily="49" charset="-122"/>
              </a:rPr>
              <a:t>, </a:t>
            </a:r>
            <a:r>
              <a:rPr lang="en-US" altLang="zh-CN" dirty="0" err="1">
                <a:latin typeface="黑体" panose="02010609060101010101" pitchFamily="49" charset="-122"/>
                <a:ea typeface="黑体" panose="02010609060101010101" pitchFamily="49" charset="-122"/>
              </a:rPr>
              <a:t>RTag</a:t>
            </a:r>
            <a:r>
              <a:rPr lang="en-US" altLang="zh-CN" dirty="0">
                <a:latin typeface="黑体" panose="02010609060101010101" pitchFamily="49" charset="-122"/>
                <a:ea typeface="黑体" panose="02010609060101010101" pitchFamily="49" charset="-122"/>
              </a:rPr>
              <a:t>)</a:t>
            </a:r>
          </a:p>
          <a:p>
            <a:pPr eaLnBrk="1" hangingPunct="1">
              <a:lnSpc>
                <a:spcPct val="90000"/>
              </a:lnSpc>
              <a:spcBef>
                <a:spcPct val="30000"/>
              </a:spcBef>
            </a:pPr>
            <a:endParaRPr lang="en-US" altLang="zh-CN" dirty="0">
              <a:latin typeface="黑体" panose="02010609060101010101" pitchFamily="49" charset="-122"/>
              <a:ea typeface="黑体" panose="02010609060101010101" pitchFamily="49" charset="-122"/>
            </a:endParaRPr>
          </a:p>
          <a:p>
            <a:pPr eaLnBrk="1" hangingPunct="1">
              <a:lnSpc>
                <a:spcPct val="90000"/>
              </a:lnSpc>
              <a:spcBef>
                <a:spcPct val="30000"/>
              </a:spcBef>
            </a:pPr>
            <a:endParaRPr lang="en-US" altLang="zh-CN" dirty="0">
              <a:latin typeface="黑体" panose="02010609060101010101" pitchFamily="49" charset="-122"/>
              <a:ea typeface="黑体" panose="02010609060101010101" pitchFamily="49" charset="-122"/>
            </a:endParaRPr>
          </a:p>
          <a:p>
            <a:pPr marL="0" indent="0" eaLnBrk="1" hangingPunct="1">
              <a:lnSpc>
                <a:spcPct val="90000"/>
              </a:lnSpc>
              <a:spcBef>
                <a:spcPct val="30000"/>
              </a:spcBef>
              <a:buNone/>
            </a:pPr>
            <a:r>
              <a:rPr lang="en-US" altLang="zh-CN" dirty="0">
                <a:latin typeface="黑体" panose="02010609060101010101" pitchFamily="49" charset="-122"/>
                <a:ea typeface="黑体" panose="02010609060101010101" pitchFamily="49" charset="-122"/>
              </a:rPr>
              <a:t>   </a:t>
            </a:r>
            <a:r>
              <a:rPr lang="en-US" altLang="zh-CN" dirty="0" err="1">
                <a:latin typeface="黑体" panose="02010609060101010101" pitchFamily="49" charset="-122"/>
                <a:ea typeface="黑体" panose="02010609060101010101" pitchFamily="49" charset="-122"/>
              </a:rPr>
              <a:t>LTag</a:t>
            </a:r>
            <a:r>
              <a:rPr lang="en-US" altLang="zh-CN" dirty="0">
                <a:latin typeface="黑体" panose="02010609060101010101" pitchFamily="49" charset="-122"/>
                <a:ea typeface="黑体" panose="02010609060101010101" pitchFamily="49" charset="-122"/>
              </a:rPr>
              <a:t>=0, </a:t>
            </a:r>
            <a:r>
              <a:rPr lang="en-US" altLang="zh-CN" dirty="0" err="1">
                <a:latin typeface="黑体" panose="02010609060101010101" pitchFamily="49" charset="-122"/>
                <a:ea typeface="黑体" panose="02010609060101010101" pitchFamily="49" charset="-122"/>
              </a:rPr>
              <a:t>lchild</a:t>
            </a:r>
            <a:r>
              <a:rPr lang="zh-CN" altLang="en-US" dirty="0">
                <a:latin typeface="黑体" panose="02010609060101010101" pitchFamily="49" charset="-122"/>
                <a:ea typeface="黑体" panose="02010609060101010101" pitchFamily="49" charset="-122"/>
              </a:rPr>
              <a:t>域指示结点的左孩子</a:t>
            </a:r>
            <a:endParaRPr lang="en-US" altLang="zh-CN" dirty="0">
              <a:latin typeface="黑体" panose="02010609060101010101" pitchFamily="49" charset="-122"/>
              <a:ea typeface="黑体" panose="02010609060101010101" pitchFamily="49" charset="-122"/>
            </a:endParaRPr>
          </a:p>
          <a:p>
            <a:pPr eaLnBrk="1" hangingPunct="1">
              <a:lnSpc>
                <a:spcPct val="90000"/>
              </a:lnSpc>
              <a:spcBef>
                <a:spcPct val="30000"/>
              </a:spcBef>
              <a:buFont typeface="Wingdings" panose="05000000000000000000" pitchFamily="2" charset="2"/>
              <a:buNone/>
            </a:pPr>
            <a:r>
              <a:rPr lang="en-US" altLang="zh-CN" dirty="0">
                <a:latin typeface="黑体" panose="02010609060101010101" pitchFamily="49" charset="-122"/>
                <a:ea typeface="黑体" panose="02010609060101010101" pitchFamily="49" charset="-122"/>
              </a:rPr>
              <a:t>   </a:t>
            </a:r>
            <a:r>
              <a:rPr lang="en-US" altLang="zh-CN" dirty="0" err="1">
                <a:latin typeface="黑体" panose="02010609060101010101" pitchFamily="49" charset="-122"/>
                <a:ea typeface="黑体" panose="02010609060101010101" pitchFamily="49" charset="-122"/>
              </a:rPr>
              <a:t>LTag</a:t>
            </a:r>
            <a:r>
              <a:rPr lang="en-US" altLang="zh-CN" dirty="0">
                <a:latin typeface="黑体" panose="02010609060101010101" pitchFamily="49" charset="-122"/>
                <a:ea typeface="黑体" panose="02010609060101010101" pitchFamily="49" charset="-122"/>
              </a:rPr>
              <a:t>=1, </a:t>
            </a:r>
            <a:r>
              <a:rPr lang="en-US" altLang="zh-CN" dirty="0" err="1">
                <a:latin typeface="黑体" panose="02010609060101010101" pitchFamily="49" charset="-122"/>
                <a:ea typeface="黑体" panose="02010609060101010101" pitchFamily="49" charset="-122"/>
              </a:rPr>
              <a:t>lchild</a:t>
            </a:r>
            <a:r>
              <a:rPr lang="zh-CN" altLang="en-US" dirty="0">
                <a:latin typeface="黑体" panose="02010609060101010101" pitchFamily="49" charset="-122"/>
                <a:ea typeface="黑体" panose="02010609060101010101" pitchFamily="49" charset="-122"/>
              </a:rPr>
              <a:t>域指示结点的前驱结点</a:t>
            </a:r>
          </a:p>
          <a:p>
            <a:pPr marL="0" indent="0" eaLnBrk="1" hangingPunct="1">
              <a:lnSpc>
                <a:spcPct val="90000"/>
              </a:lnSpc>
              <a:spcBef>
                <a:spcPct val="30000"/>
              </a:spcBef>
              <a:buNone/>
            </a:pPr>
            <a:r>
              <a:rPr lang="en-US" altLang="zh-CN" dirty="0">
                <a:latin typeface="黑体" panose="02010609060101010101" pitchFamily="49" charset="-122"/>
                <a:ea typeface="黑体" panose="02010609060101010101" pitchFamily="49" charset="-122"/>
              </a:rPr>
              <a:t>   </a:t>
            </a:r>
            <a:r>
              <a:rPr lang="en-US" altLang="zh-CN" dirty="0" err="1">
                <a:latin typeface="黑体" panose="02010609060101010101" pitchFamily="49" charset="-122"/>
                <a:ea typeface="黑体" panose="02010609060101010101" pitchFamily="49" charset="-122"/>
              </a:rPr>
              <a:t>RTag</a:t>
            </a:r>
            <a:r>
              <a:rPr lang="en-US" altLang="zh-CN" dirty="0">
                <a:latin typeface="黑体" panose="02010609060101010101" pitchFamily="49" charset="-122"/>
                <a:ea typeface="黑体" panose="02010609060101010101" pitchFamily="49" charset="-122"/>
              </a:rPr>
              <a:t>=0, </a:t>
            </a:r>
            <a:r>
              <a:rPr lang="en-US" altLang="zh-CN" dirty="0" err="1">
                <a:latin typeface="黑体" panose="02010609060101010101" pitchFamily="49" charset="-122"/>
                <a:ea typeface="黑体" panose="02010609060101010101" pitchFamily="49" charset="-122"/>
              </a:rPr>
              <a:t>rchild</a:t>
            </a:r>
            <a:r>
              <a:rPr lang="zh-CN" altLang="en-US" dirty="0">
                <a:latin typeface="黑体" panose="02010609060101010101" pitchFamily="49" charset="-122"/>
                <a:ea typeface="黑体" panose="02010609060101010101" pitchFamily="49" charset="-122"/>
              </a:rPr>
              <a:t>域指示结点的右孩子</a:t>
            </a:r>
          </a:p>
          <a:p>
            <a:pPr eaLnBrk="1" hangingPunct="1">
              <a:lnSpc>
                <a:spcPct val="90000"/>
              </a:lnSpc>
              <a:spcBef>
                <a:spcPct val="30000"/>
              </a:spcBef>
              <a:buFont typeface="Wingdings" panose="05000000000000000000" pitchFamily="2" charset="2"/>
              <a:buNone/>
            </a:pPr>
            <a:r>
              <a:rPr lang="en-US" altLang="zh-CN" dirty="0">
                <a:latin typeface="黑体" panose="02010609060101010101" pitchFamily="49" charset="-122"/>
                <a:ea typeface="黑体" panose="02010609060101010101" pitchFamily="49" charset="-122"/>
              </a:rPr>
              <a:t>　 </a:t>
            </a:r>
            <a:r>
              <a:rPr lang="en-US" altLang="zh-CN" dirty="0" err="1">
                <a:latin typeface="黑体" panose="02010609060101010101" pitchFamily="49" charset="-122"/>
                <a:ea typeface="黑体" panose="02010609060101010101" pitchFamily="49" charset="-122"/>
              </a:rPr>
              <a:t>RTag</a:t>
            </a:r>
            <a:r>
              <a:rPr lang="en-US" altLang="zh-CN" dirty="0">
                <a:latin typeface="黑体" panose="02010609060101010101" pitchFamily="49" charset="-122"/>
                <a:ea typeface="黑体" panose="02010609060101010101" pitchFamily="49" charset="-122"/>
              </a:rPr>
              <a:t>=1, </a:t>
            </a:r>
            <a:r>
              <a:rPr lang="en-US" altLang="zh-CN" dirty="0" err="1">
                <a:latin typeface="黑体" panose="02010609060101010101" pitchFamily="49" charset="-122"/>
                <a:ea typeface="黑体" panose="02010609060101010101" pitchFamily="49" charset="-122"/>
              </a:rPr>
              <a:t>rchild</a:t>
            </a:r>
            <a:r>
              <a:rPr lang="zh-CN" altLang="en-US" dirty="0">
                <a:latin typeface="黑体" panose="02010609060101010101" pitchFamily="49" charset="-122"/>
                <a:ea typeface="黑体" panose="02010609060101010101" pitchFamily="49" charset="-122"/>
              </a:rPr>
              <a:t>域指示结点的后继结点</a:t>
            </a:r>
            <a:endParaRPr lang="en-US" altLang="zh-CN" dirty="0">
              <a:latin typeface="黑体" panose="02010609060101010101" pitchFamily="49" charset="-122"/>
              <a:ea typeface="黑体" panose="02010609060101010101" pitchFamily="49" charset="-122"/>
            </a:endParaRPr>
          </a:p>
        </p:txBody>
      </p:sp>
      <p:grpSp>
        <p:nvGrpSpPr>
          <p:cNvPr id="71687" name="Group 7">
            <a:extLst>
              <a:ext uri="{FF2B5EF4-FFF2-40B4-BE49-F238E27FC236}">
                <a16:creationId xmlns:a16="http://schemas.microsoft.com/office/drawing/2014/main" id="{AF5E53DF-56A3-410A-A1A6-EC2096A328A2}"/>
              </a:ext>
            </a:extLst>
          </p:cNvPr>
          <p:cNvGrpSpPr>
            <a:grpSpLocks/>
          </p:cNvGrpSpPr>
          <p:nvPr/>
        </p:nvGrpSpPr>
        <p:grpSpPr bwMode="auto">
          <a:xfrm>
            <a:off x="1691680" y="2267959"/>
            <a:ext cx="5410200" cy="403225"/>
            <a:chOff x="0" y="0"/>
            <a:chExt cx="2928" cy="254"/>
          </a:xfrm>
        </p:grpSpPr>
        <p:sp>
          <p:nvSpPr>
            <p:cNvPr id="71689" name="Text Box 8">
              <a:extLst>
                <a:ext uri="{FF2B5EF4-FFF2-40B4-BE49-F238E27FC236}">
                  <a16:creationId xmlns:a16="http://schemas.microsoft.com/office/drawing/2014/main" id="{F4EC2235-5F9F-4E64-BE13-B31851CAB3F6}"/>
                </a:ext>
              </a:extLst>
            </p:cNvPr>
            <p:cNvSpPr txBox="1">
              <a:spLocks noChangeArrowheads="1"/>
            </p:cNvSpPr>
            <p:nvPr/>
          </p:nvSpPr>
          <p:spPr bwMode="auto">
            <a:xfrm>
              <a:off x="0" y="0"/>
              <a:ext cx="528" cy="25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en-US" altLang="zh-CN" sz="2000" b="0" i="0" dirty="0" err="1"/>
                <a:t>LTag</a:t>
              </a:r>
              <a:endParaRPr lang="en-US" altLang="zh-CN" sz="2000" b="0" i="0" dirty="0"/>
            </a:p>
          </p:txBody>
        </p:sp>
        <p:sp>
          <p:nvSpPr>
            <p:cNvPr id="71690" name="Text Box 9">
              <a:extLst>
                <a:ext uri="{FF2B5EF4-FFF2-40B4-BE49-F238E27FC236}">
                  <a16:creationId xmlns:a16="http://schemas.microsoft.com/office/drawing/2014/main" id="{F2609B3A-CED4-4A45-9425-C26ED51544E2}"/>
                </a:ext>
              </a:extLst>
            </p:cNvPr>
            <p:cNvSpPr txBox="1">
              <a:spLocks noChangeArrowheads="1"/>
            </p:cNvSpPr>
            <p:nvPr/>
          </p:nvSpPr>
          <p:spPr bwMode="auto">
            <a:xfrm>
              <a:off x="528" y="0"/>
              <a:ext cx="672" cy="25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en-US" altLang="zh-CN" sz="2000" b="0" i="0" dirty="0" err="1"/>
                <a:t>lchild</a:t>
              </a:r>
              <a:endParaRPr lang="en-US" altLang="zh-CN" sz="2000" b="0" i="0" dirty="0"/>
            </a:p>
          </p:txBody>
        </p:sp>
        <p:sp>
          <p:nvSpPr>
            <p:cNvPr id="71691" name="Text Box 10">
              <a:extLst>
                <a:ext uri="{FF2B5EF4-FFF2-40B4-BE49-F238E27FC236}">
                  <a16:creationId xmlns:a16="http://schemas.microsoft.com/office/drawing/2014/main" id="{0CC235E1-AB27-4F8B-AAA5-3EDE653B839F}"/>
                </a:ext>
              </a:extLst>
            </p:cNvPr>
            <p:cNvSpPr txBox="1">
              <a:spLocks noChangeArrowheads="1"/>
            </p:cNvSpPr>
            <p:nvPr/>
          </p:nvSpPr>
          <p:spPr bwMode="auto">
            <a:xfrm>
              <a:off x="1200" y="0"/>
              <a:ext cx="528" cy="25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en-US" altLang="zh-CN" sz="2000" b="0" i="0" dirty="0"/>
                <a:t>data</a:t>
              </a:r>
            </a:p>
          </p:txBody>
        </p:sp>
        <p:sp>
          <p:nvSpPr>
            <p:cNvPr id="71692" name="Text Box 11">
              <a:extLst>
                <a:ext uri="{FF2B5EF4-FFF2-40B4-BE49-F238E27FC236}">
                  <a16:creationId xmlns:a16="http://schemas.microsoft.com/office/drawing/2014/main" id="{DB0ED16D-A194-4836-981F-AD08C230EE77}"/>
                </a:ext>
              </a:extLst>
            </p:cNvPr>
            <p:cNvSpPr txBox="1">
              <a:spLocks noChangeArrowheads="1"/>
            </p:cNvSpPr>
            <p:nvPr/>
          </p:nvSpPr>
          <p:spPr bwMode="auto">
            <a:xfrm>
              <a:off x="1715" y="2"/>
              <a:ext cx="672" cy="25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en-US" altLang="zh-CN" sz="2000" b="0" i="0" dirty="0" err="1"/>
                <a:t>rchild</a:t>
              </a:r>
              <a:endParaRPr lang="en-US" altLang="zh-CN" sz="2000" b="0" i="0" dirty="0"/>
            </a:p>
          </p:txBody>
        </p:sp>
        <p:sp>
          <p:nvSpPr>
            <p:cNvPr id="71693" name="Text Box 12">
              <a:extLst>
                <a:ext uri="{FF2B5EF4-FFF2-40B4-BE49-F238E27FC236}">
                  <a16:creationId xmlns:a16="http://schemas.microsoft.com/office/drawing/2014/main" id="{9643E5E2-D41F-460A-B97A-D519D600D770}"/>
                </a:ext>
              </a:extLst>
            </p:cNvPr>
            <p:cNvSpPr txBox="1">
              <a:spLocks noChangeArrowheads="1"/>
            </p:cNvSpPr>
            <p:nvPr/>
          </p:nvSpPr>
          <p:spPr bwMode="auto">
            <a:xfrm>
              <a:off x="2400" y="0"/>
              <a:ext cx="528" cy="25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en-US" altLang="zh-CN" sz="2000" b="0" i="0" dirty="0" err="1"/>
                <a:t>RTag</a:t>
              </a:r>
              <a:endParaRPr lang="en-US" altLang="zh-CN" sz="2000" b="0" i="0" dirty="0"/>
            </a:p>
          </p:txBody>
        </p:sp>
      </p:grpSp>
      <p:sp>
        <p:nvSpPr>
          <p:cNvPr id="3" name="Text Box 4">
            <a:extLst>
              <a:ext uri="{FF2B5EF4-FFF2-40B4-BE49-F238E27FC236}">
                <a16:creationId xmlns:a16="http://schemas.microsoft.com/office/drawing/2014/main" id="{05FB2D0C-AC63-70D1-284D-C39BDFD96D64}"/>
              </a:ext>
            </a:extLst>
          </p:cNvPr>
          <p:cNvSpPr txBox="1">
            <a:spLocks noChangeArrowheads="1"/>
          </p:cNvSpPr>
          <p:nvPr/>
        </p:nvSpPr>
        <p:spPr bwMode="auto">
          <a:xfrm>
            <a:off x="342900" y="201473"/>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4400" i="0" dirty="0">
                <a:solidFill>
                  <a:schemeClr val="tx2"/>
                </a:solidFill>
                <a:ea typeface="隶书" pitchFamily="49" charset="-122"/>
              </a:rPr>
              <a:t>方法二</a:t>
            </a:r>
            <a:r>
              <a:rPr lang="en-US" altLang="zh-CN" sz="4400" i="0" dirty="0">
                <a:solidFill>
                  <a:schemeClr val="tx2"/>
                </a:solidFill>
                <a:ea typeface="隶书" pitchFamily="49" charset="-122"/>
              </a:rPr>
              <a:t>:</a:t>
            </a:r>
            <a:r>
              <a:rPr lang="zh-CN" altLang="en-US" sz="4400" i="0" dirty="0">
                <a:solidFill>
                  <a:schemeClr val="tx2"/>
                </a:solidFill>
                <a:ea typeface="隶书" pitchFamily="49" charset="-122"/>
              </a:rPr>
              <a:t>利用空指针</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685">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685">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1685">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168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5">
            <a:extLst>
              <a:ext uri="{FF2B5EF4-FFF2-40B4-BE49-F238E27FC236}">
                <a16:creationId xmlns:a16="http://schemas.microsoft.com/office/drawing/2014/main" id="{56A48B92-1BC9-4DC5-B15F-9C502E10B9DE}"/>
              </a:ext>
            </a:extLst>
          </p:cNvPr>
          <p:cNvSpPr txBox="1">
            <a:spLocks noChangeArrowheads="1"/>
          </p:cNvSpPr>
          <p:nvPr/>
        </p:nvSpPr>
        <p:spPr bwMode="auto">
          <a:xfrm>
            <a:off x="467544" y="1268760"/>
            <a:ext cx="8763000" cy="50436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10000"/>
              </a:spcBef>
              <a:spcAft>
                <a:spcPct val="0"/>
              </a:spcAft>
              <a:buClr>
                <a:schemeClr val="accent2"/>
              </a:buClr>
              <a:buFont typeface="Wingdings" panose="05000000000000000000" pitchFamily="2" charset="2"/>
              <a:buChar char="o"/>
              <a:defRPr sz="2800">
                <a:solidFill>
                  <a:schemeClr val="tx1"/>
                </a:solidFill>
                <a:latin typeface="+mn-lt"/>
                <a:ea typeface="+mn-ea"/>
                <a:cs typeface="+mn-cs"/>
              </a:defRPr>
            </a:lvl1pPr>
            <a:lvl2pPr marL="908050" indent="-436563" algn="l" rtl="0" eaLnBrk="0" fontAlgn="base" hangingPunct="0">
              <a:spcBef>
                <a:spcPct val="10000"/>
              </a:spcBef>
              <a:spcAft>
                <a:spcPct val="0"/>
              </a:spcAft>
              <a:buClr>
                <a:schemeClr val="accent2"/>
              </a:buClr>
              <a:buFont typeface="Wingdings" panose="05000000000000000000" pitchFamily="2" charset="2"/>
              <a:buChar char="n"/>
              <a:defRPr sz="2400">
                <a:solidFill>
                  <a:srgbClr val="0033CC"/>
                </a:solidFill>
                <a:latin typeface="+mn-lt"/>
                <a:ea typeface="+mn-ea"/>
              </a:defRPr>
            </a:lvl2pPr>
            <a:lvl3pPr marL="1304925" indent="-395288" algn="l" rtl="0" eaLnBrk="0" fontAlgn="base" hangingPunct="0">
              <a:spcBef>
                <a:spcPct val="10000"/>
              </a:spcBef>
              <a:spcAft>
                <a:spcPct val="0"/>
              </a:spcAft>
              <a:buClr>
                <a:schemeClr val="accent2"/>
              </a:buClr>
              <a:buFont typeface="Wingdings" panose="05000000000000000000" pitchFamily="2" charset="2"/>
              <a:buChar char="p"/>
              <a:defRPr sz="2000">
                <a:solidFill>
                  <a:srgbClr val="009900"/>
                </a:solidFill>
                <a:latin typeface="+mn-lt"/>
                <a:ea typeface="+mn-ea"/>
              </a:defRPr>
            </a:lvl3pPr>
            <a:lvl4pPr marL="1693863" indent="-387350" algn="l" rtl="0" eaLnBrk="0" fontAlgn="base" hangingPunct="0">
              <a:spcBef>
                <a:spcPct val="10000"/>
              </a:spcBef>
              <a:spcAft>
                <a:spcPct val="0"/>
              </a:spcAft>
              <a:buClr>
                <a:schemeClr val="accent2"/>
              </a:buClr>
              <a:buFont typeface="Wingdings" panose="05000000000000000000" pitchFamily="2" charset="2"/>
              <a:buChar char="n"/>
              <a:defRPr>
                <a:solidFill>
                  <a:schemeClr val="tx1"/>
                </a:solidFill>
                <a:latin typeface="+mn-lt"/>
                <a:ea typeface="+mn-ea"/>
              </a:defRPr>
            </a:lvl4pPr>
            <a:lvl5pPr marL="2093913" indent="-398463" algn="l" rtl="0" eaLnBrk="0" fontAlgn="base" hangingPunct="0">
              <a:spcBef>
                <a:spcPct val="10000"/>
              </a:spcBef>
              <a:spcAft>
                <a:spcPct val="0"/>
              </a:spcAft>
              <a:buClr>
                <a:schemeClr val="accent2"/>
              </a:buClr>
              <a:buFont typeface="Wingdings" panose="05000000000000000000" pitchFamily="2" charset="2"/>
              <a:buChar char="§"/>
              <a:defRPr>
                <a:solidFill>
                  <a:schemeClr val="tx1"/>
                </a:solidFill>
                <a:latin typeface="+mn-lt"/>
                <a:ea typeface="+mn-ea"/>
              </a:defRPr>
            </a:lvl5pPr>
            <a:lvl6pPr marL="2551113" indent="-398463" algn="l" rtl="0" fontAlgn="base">
              <a:spcBef>
                <a:spcPct val="10000"/>
              </a:spcBef>
              <a:spcAft>
                <a:spcPct val="0"/>
              </a:spcAft>
              <a:buClr>
                <a:schemeClr val="accent2"/>
              </a:buClr>
              <a:buFont typeface="Wingdings" pitchFamily="2" charset="2"/>
              <a:buChar char="§"/>
              <a:defRPr>
                <a:solidFill>
                  <a:schemeClr val="tx1"/>
                </a:solidFill>
                <a:latin typeface="+mn-lt"/>
                <a:ea typeface="+mn-ea"/>
              </a:defRPr>
            </a:lvl6pPr>
            <a:lvl7pPr marL="3008313" indent="-398463" algn="l" rtl="0" fontAlgn="base">
              <a:spcBef>
                <a:spcPct val="10000"/>
              </a:spcBef>
              <a:spcAft>
                <a:spcPct val="0"/>
              </a:spcAft>
              <a:buClr>
                <a:schemeClr val="accent2"/>
              </a:buClr>
              <a:buFont typeface="Wingdings" pitchFamily="2" charset="2"/>
              <a:buChar char="§"/>
              <a:defRPr>
                <a:solidFill>
                  <a:schemeClr val="tx1"/>
                </a:solidFill>
                <a:latin typeface="+mn-lt"/>
                <a:ea typeface="+mn-ea"/>
              </a:defRPr>
            </a:lvl7pPr>
            <a:lvl8pPr marL="3465513" indent="-398463" algn="l" rtl="0" fontAlgn="base">
              <a:spcBef>
                <a:spcPct val="10000"/>
              </a:spcBef>
              <a:spcAft>
                <a:spcPct val="0"/>
              </a:spcAft>
              <a:buClr>
                <a:schemeClr val="accent2"/>
              </a:buClr>
              <a:buFont typeface="Wingdings" pitchFamily="2" charset="2"/>
              <a:buChar char="§"/>
              <a:defRPr>
                <a:solidFill>
                  <a:schemeClr val="tx1"/>
                </a:solidFill>
                <a:latin typeface="+mn-lt"/>
                <a:ea typeface="+mn-ea"/>
              </a:defRPr>
            </a:lvl8pPr>
            <a:lvl9pPr marL="3922713" indent="-398463" algn="l" rtl="0" fontAlgn="base">
              <a:spcBef>
                <a:spcPct val="10000"/>
              </a:spcBef>
              <a:spcAft>
                <a:spcPct val="0"/>
              </a:spcAft>
              <a:buClr>
                <a:schemeClr val="accent2"/>
              </a:buClr>
              <a:buFont typeface="Wingdings" pitchFamily="2" charset="2"/>
              <a:buChar char="§"/>
              <a:defRPr>
                <a:solidFill>
                  <a:schemeClr val="tx1"/>
                </a:solidFill>
                <a:latin typeface="+mn-lt"/>
                <a:ea typeface="+mn-ea"/>
              </a:defRPr>
            </a:lvl9pPr>
          </a:lstStyle>
          <a:p>
            <a:pPr eaLnBrk="1" hangingPunct="1">
              <a:lnSpc>
                <a:spcPct val="90000"/>
              </a:lnSpc>
              <a:spcBef>
                <a:spcPct val="30000"/>
              </a:spcBef>
            </a:pPr>
            <a:r>
              <a:rPr lang="zh-CN" altLang="en-US" b="0" i="0" kern="0" dirty="0">
                <a:latin typeface="黑体" panose="02010609060101010101" pitchFamily="49" charset="-122"/>
                <a:ea typeface="黑体" panose="02010609060101010101" pitchFamily="49" charset="-122"/>
              </a:rPr>
              <a:t>以这种结点结构构成的二叉链表作为二叉树的存储结构，叫做线索链表。</a:t>
            </a:r>
            <a:endParaRPr lang="en-US" altLang="zh-CN" b="0" i="0" kern="0" dirty="0">
              <a:latin typeface="黑体" panose="02010609060101010101" pitchFamily="49" charset="-122"/>
              <a:ea typeface="黑体" panose="02010609060101010101" pitchFamily="49" charset="-122"/>
            </a:endParaRPr>
          </a:p>
          <a:p>
            <a:pPr eaLnBrk="1" hangingPunct="1">
              <a:lnSpc>
                <a:spcPct val="90000"/>
              </a:lnSpc>
              <a:spcBef>
                <a:spcPct val="30000"/>
              </a:spcBef>
            </a:pPr>
            <a:endParaRPr lang="en-US" altLang="zh-CN" b="0" i="0" kern="0" dirty="0">
              <a:latin typeface="黑体" panose="02010609060101010101" pitchFamily="49" charset="-122"/>
              <a:ea typeface="黑体" panose="02010609060101010101" pitchFamily="49" charset="-122"/>
            </a:endParaRPr>
          </a:p>
          <a:p>
            <a:pPr eaLnBrk="1" hangingPunct="1">
              <a:lnSpc>
                <a:spcPct val="90000"/>
              </a:lnSpc>
              <a:spcBef>
                <a:spcPct val="30000"/>
              </a:spcBef>
            </a:pPr>
            <a:r>
              <a:rPr lang="zh-CN" altLang="en-US" b="0" i="0" kern="0" dirty="0">
                <a:solidFill>
                  <a:srgbClr val="FF0000"/>
                </a:solidFill>
                <a:latin typeface="黑体" panose="02010609060101010101" pitchFamily="49" charset="-122"/>
                <a:ea typeface="黑体" panose="02010609060101010101" pitchFamily="49" charset="-122"/>
              </a:rPr>
              <a:t>指向结点前驱和后继的指针，叫做线索。</a:t>
            </a:r>
            <a:endParaRPr lang="en-US" altLang="zh-CN" b="0" i="0" kern="0" dirty="0">
              <a:solidFill>
                <a:srgbClr val="FF0000"/>
              </a:solidFill>
              <a:latin typeface="黑体" panose="02010609060101010101" pitchFamily="49" charset="-122"/>
              <a:ea typeface="黑体" panose="02010609060101010101" pitchFamily="49" charset="-122"/>
            </a:endParaRPr>
          </a:p>
          <a:p>
            <a:pPr eaLnBrk="1" hangingPunct="1">
              <a:lnSpc>
                <a:spcPct val="90000"/>
              </a:lnSpc>
              <a:spcBef>
                <a:spcPct val="30000"/>
              </a:spcBef>
            </a:pPr>
            <a:endParaRPr lang="en-US" altLang="zh-CN" b="0" i="0" kern="0" dirty="0">
              <a:latin typeface="黑体" panose="02010609060101010101" pitchFamily="49" charset="-122"/>
              <a:ea typeface="黑体" panose="02010609060101010101" pitchFamily="49" charset="-122"/>
            </a:endParaRPr>
          </a:p>
          <a:p>
            <a:pPr eaLnBrk="1" hangingPunct="1">
              <a:lnSpc>
                <a:spcPct val="90000"/>
              </a:lnSpc>
              <a:spcBef>
                <a:spcPct val="30000"/>
              </a:spcBef>
            </a:pPr>
            <a:r>
              <a:rPr lang="zh-CN" altLang="en-US" b="0" i="0" kern="0" dirty="0">
                <a:solidFill>
                  <a:srgbClr val="FF0000"/>
                </a:solidFill>
                <a:latin typeface="黑体" panose="02010609060101010101" pitchFamily="49" charset="-122"/>
                <a:ea typeface="黑体" panose="02010609060101010101" pitchFamily="49" charset="-122"/>
              </a:rPr>
              <a:t>加上线索的二叉树称为线索二叉树</a:t>
            </a:r>
            <a:r>
              <a:rPr lang="en-US" altLang="zh-CN" b="0" i="0" kern="0" dirty="0">
                <a:solidFill>
                  <a:srgbClr val="FF0000"/>
                </a:solidFill>
                <a:latin typeface="黑体" panose="02010609060101010101" pitchFamily="49" charset="-122"/>
                <a:ea typeface="黑体" panose="02010609060101010101" pitchFamily="49" charset="-122"/>
              </a:rPr>
              <a:t>(Threaded Binary Tree)</a:t>
            </a:r>
            <a:r>
              <a:rPr lang="zh-CN" altLang="en-US" b="0" i="0" kern="0" dirty="0">
                <a:solidFill>
                  <a:srgbClr val="FF0000"/>
                </a:solidFill>
                <a:latin typeface="黑体" panose="02010609060101010101" pitchFamily="49" charset="-122"/>
                <a:ea typeface="黑体" panose="02010609060101010101" pitchFamily="49" charset="-122"/>
              </a:rPr>
              <a:t>。</a:t>
            </a:r>
            <a:endParaRPr lang="en-US" altLang="zh-CN" b="0" i="0" kern="0" dirty="0">
              <a:solidFill>
                <a:srgbClr val="FF0000"/>
              </a:solidFill>
              <a:latin typeface="黑体" panose="02010609060101010101" pitchFamily="49" charset="-122"/>
              <a:ea typeface="黑体" panose="02010609060101010101" pitchFamily="49" charset="-122"/>
            </a:endParaRPr>
          </a:p>
          <a:p>
            <a:pPr eaLnBrk="1" hangingPunct="1">
              <a:lnSpc>
                <a:spcPct val="90000"/>
              </a:lnSpc>
              <a:spcBef>
                <a:spcPct val="30000"/>
              </a:spcBef>
            </a:pPr>
            <a:endParaRPr lang="en-US" altLang="zh-CN" b="0" i="0" kern="0" dirty="0">
              <a:latin typeface="黑体" panose="02010609060101010101" pitchFamily="49" charset="-122"/>
              <a:ea typeface="黑体" panose="02010609060101010101" pitchFamily="49" charset="-122"/>
            </a:endParaRPr>
          </a:p>
          <a:p>
            <a:pPr eaLnBrk="1" hangingPunct="1">
              <a:lnSpc>
                <a:spcPct val="90000"/>
              </a:lnSpc>
              <a:spcBef>
                <a:spcPct val="30000"/>
              </a:spcBef>
            </a:pPr>
            <a:r>
              <a:rPr lang="zh-CN" altLang="en-US" b="0" i="0" kern="0" dirty="0">
                <a:latin typeface="黑体" panose="02010609060101010101" pitchFamily="49" charset="-122"/>
                <a:ea typeface="黑体" panose="02010609060101010101" pitchFamily="49" charset="-122"/>
              </a:rPr>
              <a:t>对二叉树以某种次序遍历使其变为线索二叉树的过程叫做线索化。</a:t>
            </a:r>
            <a:endParaRPr lang="en-US" altLang="zh-CN" b="0" i="0" kern="0" dirty="0">
              <a:latin typeface="黑体" panose="02010609060101010101" pitchFamily="49" charset="-122"/>
              <a:ea typeface="黑体" panose="02010609060101010101" pitchFamily="49" charset="-122"/>
            </a:endParaRPr>
          </a:p>
          <a:p>
            <a:pPr eaLnBrk="1" hangingPunct="1">
              <a:lnSpc>
                <a:spcPct val="90000"/>
              </a:lnSpc>
              <a:spcBef>
                <a:spcPct val="30000"/>
              </a:spcBef>
            </a:pPr>
            <a:endParaRPr lang="en-US" altLang="zh-CN" b="1" i="0" kern="0" dirty="0">
              <a:latin typeface="黑体" panose="02010609060101010101" pitchFamily="49" charset="-122"/>
              <a:ea typeface="黑体" panose="02010609060101010101" pitchFamily="49" charset="-122"/>
            </a:endParaRPr>
          </a:p>
        </p:txBody>
      </p:sp>
      <p:sp>
        <p:nvSpPr>
          <p:cNvPr id="3" name="Text Box 4">
            <a:extLst>
              <a:ext uri="{FF2B5EF4-FFF2-40B4-BE49-F238E27FC236}">
                <a16:creationId xmlns:a16="http://schemas.microsoft.com/office/drawing/2014/main" id="{A863B0F6-DB1E-361F-B802-D5BA2F8DDD57}"/>
              </a:ext>
            </a:extLst>
          </p:cNvPr>
          <p:cNvSpPr txBox="1">
            <a:spLocks noChangeArrowheads="1"/>
          </p:cNvSpPr>
          <p:nvPr/>
        </p:nvSpPr>
        <p:spPr bwMode="auto">
          <a:xfrm>
            <a:off x="342900" y="201473"/>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4400" i="0" dirty="0">
                <a:solidFill>
                  <a:schemeClr val="tx2"/>
                </a:solidFill>
                <a:ea typeface="隶书" pitchFamily="49" charset="-122"/>
              </a:rPr>
              <a:t>线索二叉树</a:t>
            </a:r>
          </a:p>
        </p:txBody>
      </p:sp>
    </p:spTree>
    <p:extLst>
      <p:ext uri="{BB962C8B-B14F-4D97-AF65-F5344CB8AC3E}">
        <p14:creationId xmlns:p14="http://schemas.microsoft.com/office/powerpoint/2010/main" val="391381623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5">
            <a:extLst>
              <a:ext uri="{FF2B5EF4-FFF2-40B4-BE49-F238E27FC236}">
                <a16:creationId xmlns:a16="http://schemas.microsoft.com/office/drawing/2014/main" id="{357F51FB-38C6-48C9-9F02-C3EEBFB9CD79}"/>
              </a:ext>
            </a:extLst>
          </p:cNvPr>
          <p:cNvSpPr>
            <a:spLocks noGrp="1" noChangeArrowheads="1"/>
          </p:cNvSpPr>
          <p:nvPr>
            <p:ph type="body" idx="1"/>
          </p:nvPr>
        </p:nvSpPr>
        <p:spPr>
          <a:xfrm>
            <a:off x="467544" y="1268760"/>
            <a:ext cx="8763000" cy="1019745"/>
          </a:xfrm>
        </p:spPr>
        <p:txBody>
          <a:bodyPr/>
          <a:lstStyle/>
          <a:p>
            <a:pPr eaLnBrk="1" hangingPunct="1">
              <a:lnSpc>
                <a:spcPct val="90000"/>
              </a:lnSpc>
              <a:spcBef>
                <a:spcPct val="30000"/>
              </a:spcBef>
            </a:pPr>
            <a:r>
              <a:rPr lang="zh-CN" altLang="en-US" dirty="0">
                <a:latin typeface="黑体" panose="02010609060101010101" pitchFamily="49" charset="-122"/>
                <a:ea typeface="黑体" panose="02010609060101010101" pitchFamily="49" charset="-122"/>
              </a:rPr>
              <a:t>遍历过程中，设置</a:t>
            </a:r>
            <a:r>
              <a:rPr lang="en-US" altLang="zh-CN" dirty="0" err="1">
                <a:latin typeface="黑体" panose="02010609060101010101" pitchFamily="49" charset="-122"/>
                <a:ea typeface="黑体" panose="02010609060101010101" pitchFamily="49" charset="-122"/>
              </a:rPr>
              <a:t>prev</a:t>
            </a:r>
            <a:r>
              <a:rPr lang="zh-CN" altLang="en-US" dirty="0">
                <a:latin typeface="黑体" panose="02010609060101010101" pitchFamily="49" charset="-122"/>
                <a:ea typeface="黑体" panose="02010609060101010101" pitchFamily="49" charset="-122"/>
              </a:rPr>
              <a:t>指向遍历中的前一结点，</a:t>
            </a:r>
            <a:endParaRPr lang="en-US" altLang="zh-CN" dirty="0">
              <a:latin typeface="黑体" panose="02010609060101010101" pitchFamily="49" charset="-122"/>
              <a:ea typeface="黑体" panose="02010609060101010101" pitchFamily="49" charset="-122"/>
            </a:endParaRPr>
          </a:p>
          <a:p>
            <a:pPr marL="0" indent="0" eaLnBrk="1" hangingPunct="1">
              <a:lnSpc>
                <a:spcPct val="90000"/>
              </a:lnSpc>
              <a:spcBef>
                <a:spcPct val="30000"/>
              </a:spcBef>
              <a:buNone/>
            </a:pPr>
            <a:r>
              <a:rPr lang="en-US" altLang="zh-CN" dirty="0">
                <a:latin typeface="黑体" panose="02010609060101010101" pitchFamily="49" charset="-122"/>
                <a:ea typeface="黑体" panose="02010609060101010101" pitchFamily="49" charset="-122"/>
              </a:rPr>
              <a:t>   </a:t>
            </a:r>
            <a:r>
              <a:rPr lang="zh-CN" altLang="en-US" dirty="0">
                <a:latin typeface="黑体" panose="02010609060101010101" pitchFamily="49" charset="-122"/>
                <a:ea typeface="黑体" panose="02010609060101010101" pitchFamily="49" charset="-122"/>
              </a:rPr>
              <a:t>假设</a:t>
            </a:r>
            <a:r>
              <a:rPr lang="en-US" altLang="zh-CN" dirty="0">
                <a:latin typeface="黑体" panose="02010609060101010101" pitchFamily="49" charset="-122"/>
                <a:ea typeface="黑体" panose="02010609060101010101" pitchFamily="49" charset="-122"/>
              </a:rPr>
              <a:t>p</a:t>
            </a:r>
            <a:r>
              <a:rPr lang="zh-CN" altLang="en-US" dirty="0">
                <a:latin typeface="黑体" panose="02010609060101010101" pitchFamily="49" charset="-122"/>
                <a:ea typeface="黑体" panose="02010609060101010101" pitchFamily="49" charset="-122"/>
              </a:rPr>
              <a:t>为当前访问结点，修改：</a:t>
            </a:r>
            <a:endParaRPr lang="en-US" altLang="zh-CN" dirty="0">
              <a:latin typeface="黑体" panose="02010609060101010101" pitchFamily="49" charset="-122"/>
              <a:ea typeface="黑体" panose="02010609060101010101" pitchFamily="49" charset="-122"/>
            </a:endParaRPr>
          </a:p>
        </p:txBody>
      </p:sp>
      <p:sp>
        <p:nvSpPr>
          <p:cNvPr id="6" name="Text Box 4">
            <a:extLst>
              <a:ext uri="{FF2B5EF4-FFF2-40B4-BE49-F238E27FC236}">
                <a16:creationId xmlns:a16="http://schemas.microsoft.com/office/drawing/2014/main" id="{7B193012-DB84-5E8F-EA78-2F9B3B48BF16}"/>
              </a:ext>
            </a:extLst>
          </p:cNvPr>
          <p:cNvSpPr txBox="1">
            <a:spLocks noChangeArrowheads="1"/>
          </p:cNvSpPr>
          <p:nvPr/>
        </p:nvSpPr>
        <p:spPr bwMode="auto">
          <a:xfrm>
            <a:off x="179512" y="173523"/>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4400" i="0" dirty="0">
                <a:solidFill>
                  <a:schemeClr val="tx2"/>
                </a:solidFill>
                <a:ea typeface="隶书" pitchFamily="49" charset="-122"/>
              </a:rPr>
              <a:t>建立线索二叉树</a:t>
            </a:r>
          </a:p>
        </p:txBody>
      </p:sp>
      <p:sp>
        <p:nvSpPr>
          <p:cNvPr id="8" name="文本框 7">
            <a:extLst>
              <a:ext uri="{FF2B5EF4-FFF2-40B4-BE49-F238E27FC236}">
                <a16:creationId xmlns:a16="http://schemas.microsoft.com/office/drawing/2014/main" id="{D6D39643-E9CD-8345-2A78-4FD2086C9983}"/>
              </a:ext>
            </a:extLst>
          </p:cNvPr>
          <p:cNvSpPr txBox="1"/>
          <p:nvPr/>
        </p:nvSpPr>
        <p:spPr>
          <a:xfrm>
            <a:off x="556184" y="2708920"/>
            <a:ext cx="7704856" cy="3539430"/>
          </a:xfrm>
          <a:prstGeom prst="rect">
            <a:avLst/>
          </a:prstGeom>
          <a:noFill/>
        </p:spPr>
        <p:txBody>
          <a:bodyPr wrap="square">
            <a:spAutoFit/>
          </a:bodyPr>
          <a:lstStyle/>
          <a:p>
            <a:r>
              <a:rPr lang="en-US" altLang="zh-CN" sz="2800" b="0" i="0" dirty="0">
                <a:solidFill>
                  <a:srgbClr val="AF00DB"/>
                </a:solidFill>
                <a:effectLst/>
                <a:latin typeface="+mn-ea"/>
                <a:ea typeface="+mn-ea"/>
              </a:rPr>
              <a:t>if</a:t>
            </a:r>
            <a:r>
              <a:rPr lang="en-US" altLang="zh-CN" sz="2800" b="0" i="0" dirty="0">
                <a:solidFill>
                  <a:srgbClr val="000000"/>
                </a:solidFill>
                <a:effectLst/>
                <a:latin typeface="+mn-ea"/>
                <a:ea typeface="+mn-ea"/>
              </a:rPr>
              <a:t> (!</a:t>
            </a:r>
            <a:r>
              <a:rPr lang="en-US" altLang="zh-CN" sz="2800" b="0" i="0" dirty="0">
                <a:solidFill>
                  <a:srgbClr val="001080"/>
                </a:solidFill>
                <a:effectLst/>
                <a:latin typeface="+mn-ea"/>
                <a:ea typeface="+mn-ea"/>
              </a:rPr>
              <a:t>p</a:t>
            </a:r>
            <a:r>
              <a:rPr lang="en-US" altLang="zh-CN" sz="2800" b="0" i="0" dirty="0">
                <a:solidFill>
                  <a:srgbClr val="000000"/>
                </a:solidFill>
                <a:effectLst/>
                <a:latin typeface="+mn-ea"/>
                <a:ea typeface="+mn-ea"/>
              </a:rPr>
              <a:t>-&gt;</a:t>
            </a:r>
            <a:r>
              <a:rPr lang="en-US" altLang="zh-CN" sz="2800" b="0" i="0" dirty="0" err="1">
                <a:solidFill>
                  <a:srgbClr val="001080"/>
                </a:solidFill>
                <a:effectLst/>
                <a:latin typeface="+mn-ea"/>
                <a:ea typeface="+mn-ea"/>
              </a:rPr>
              <a:t>lchild</a:t>
            </a:r>
            <a:r>
              <a:rPr lang="en-US" altLang="zh-CN" sz="2800" b="0" i="0" dirty="0">
                <a:solidFill>
                  <a:srgbClr val="000000"/>
                </a:solidFill>
                <a:effectLst/>
                <a:latin typeface="+mn-ea"/>
                <a:ea typeface="+mn-ea"/>
              </a:rPr>
              <a:t>)</a:t>
            </a:r>
          </a:p>
          <a:p>
            <a:r>
              <a:rPr lang="en-US" altLang="zh-CN" sz="2800" b="0" i="0" dirty="0">
                <a:solidFill>
                  <a:srgbClr val="000000"/>
                </a:solidFill>
                <a:effectLst/>
                <a:latin typeface="+mn-ea"/>
                <a:ea typeface="+mn-ea"/>
              </a:rPr>
              <a:t>{</a:t>
            </a:r>
          </a:p>
          <a:p>
            <a:r>
              <a:rPr lang="en-US" altLang="zh-CN" sz="2800" b="0" i="0" dirty="0">
                <a:solidFill>
                  <a:srgbClr val="000000"/>
                </a:solidFill>
                <a:effectLst/>
                <a:latin typeface="+mn-ea"/>
                <a:ea typeface="+mn-ea"/>
              </a:rPr>
              <a:t>    </a:t>
            </a:r>
            <a:r>
              <a:rPr lang="en-US" altLang="zh-CN" sz="2800" b="0" i="0" dirty="0">
                <a:solidFill>
                  <a:srgbClr val="001080"/>
                </a:solidFill>
                <a:effectLst/>
                <a:latin typeface="+mn-ea"/>
                <a:ea typeface="+mn-ea"/>
              </a:rPr>
              <a:t>p</a:t>
            </a:r>
            <a:r>
              <a:rPr lang="en-US" altLang="zh-CN" sz="2800" b="0" i="0" dirty="0">
                <a:solidFill>
                  <a:srgbClr val="000000"/>
                </a:solidFill>
                <a:effectLst/>
                <a:latin typeface="+mn-ea"/>
                <a:ea typeface="+mn-ea"/>
              </a:rPr>
              <a:t>-&gt;</a:t>
            </a:r>
            <a:r>
              <a:rPr lang="en-US" altLang="zh-CN" sz="2800" b="0" i="0" dirty="0" err="1">
                <a:solidFill>
                  <a:srgbClr val="001080"/>
                </a:solidFill>
                <a:effectLst/>
                <a:latin typeface="+mn-ea"/>
                <a:ea typeface="+mn-ea"/>
              </a:rPr>
              <a:t>lchild</a:t>
            </a:r>
            <a:r>
              <a:rPr lang="en-US" altLang="zh-CN" sz="2800" b="0" i="0" dirty="0">
                <a:solidFill>
                  <a:srgbClr val="000000"/>
                </a:solidFill>
                <a:effectLst/>
                <a:latin typeface="+mn-ea"/>
                <a:ea typeface="+mn-ea"/>
              </a:rPr>
              <a:t> = </a:t>
            </a:r>
            <a:r>
              <a:rPr lang="en-US" altLang="zh-CN" sz="2800" b="0" i="0" dirty="0" err="1">
                <a:solidFill>
                  <a:srgbClr val="001080"/>
                </a:solidFill>
                <a:effectLst/>
                <a:latin typeface="+mn-ea"/>
                <a:ea typeface="+mn-ea"/>
              </a:rPr>
              <a:t>prev</a:t>
            </a:r>
            <a:r>
              <a:rPr lang="en-US" altLang="zh-CN" sz="2800" b="0" i="0" dirty="0">
                <a:solidFill>
                  <a:srgbClr val="000000"/>
                </a:solidFill>
                <a:effectLst/>
                <a:latin typeface="+mn-ea"/>
                <a:ea typeface="+mn-ea"/>
              </a:rPr>
              <a:t>, </a:t>
            </a:r>
            <a:r>
              <a:rPr lang="en-US" altLang="zh-CN" sz="2800" b="0" i="0" dirty="0">
                <a:solidFill>
                  <a:srgbClr val="001080"/>
                </a:solidFill>
                <a:effectLst/>
                <a:latin typeface="+mn-ea"/>
                <a:ea typeface="+mn-ea"/>
              </a:rPr>
              <a:t>p</a:t>
            </a:r>
            <a:r>
              <a:rPr lang="en-US" altLang="zh-CN" sz="2800" b="0" i="0" dirty="0">
                <a:solidFill>
                  <a:srgbClr val="000000"/>
                </a:solidFill>
                <a:effectLst/>
                <a:latin typeface="+mn-ea"/>
                <a:ea typeface="+mn-ea"/>
              </a:rPr>
              <a:t>-&gt;</a:t>
            </a:r>
            <a:r>
              <a:rPr lang="en-US" altLang="zh-CN" sz="2800" b="0" i="0" dirty="0" err="1">
                <a:solidFill>
                  <a:srgbClr val="001080"/>
                </a:solidFill>
                <a:effectLst/>
                <a:latin typeface="+mn-ea"/>
                <a:ea typeface="+mn-ea"/>
              </a:rPr>
              <a:t>ltag</a:t>
            </a:r>
            <a:r>
              <a:rPr lang="en-US" altLang="zh-CN" sz="2800" b="0" i="0" dirty="0">
                <a:solidFill>
                  <a:srgbClr val="000000"/>
                </a:solidFill>
                <a:effectLst/>
                <a:latin typeface="+mn-ea"/>
                <a:ea typeface="+mn-ea"/>
              </a:rPr>
              <a:t> = </a:t>
            </a:r>
            <a:r>
              <a:rPr lang="en-US" altLang="zh-CN" sz="2800" b="0" i="0" dirty="0">
                <a:solidFill>
                  <a:srgbClr val="098658"/>
                </a:solidFill>
                <a:effectLst/>
                <a:latin typeface="+mn-ea"/>
                <a:ea typeface="+mn-ea"/>
              </a:rPr>
              <a:t>1</a:t>
            </a:r>
            <a:r>
              <a:rPr lang="en-US" altLang="zh-CN" sz="2800" b="0" i="0" dirty="0">
                <a:solidFill>
                  <a:srgbClr val="000000"/>
                </a:solidFill>
                <a:effectLst/>
                <a:latin typeface="+mn-ea"/>
                <a:ea typeface="+mn-ea"/>
              </a:rPr>
              <a:t>;</a:t>
            </a:r>
          </a:p>
          <a:p>
            <a:r>
              <a:rPr lang="en-US" altLang="zh-CN" sz="2800" b="0" i="0" dirty="0">
                <a:solidFill>
                  <a:srgbClr val="000000"/>
                </a:solidFill>
                <a:effectLst/>
                <a:latin typeface="+mn-ea"/>
                <a:ea typeface="+mn-ea"/>
              </a:rPr>
              <a:t>}</a:t>
            </a:r>
          </a:p>
          <a:p>
            <a:r>
              <a:rPr lang="en-US" altLang="zh-CN" sz="2800" b="0" i="0" dirty="0">
                <a:solidFill>
                  <a:srgbClr val="AF00DB"/>
                </a:solidFill>
                <a:effectLst/>
                <a:latin typeface="+mn-ea"/>
                <a:ea typeface="+mn-ea"/>
              </a:rPr>
              <a:t>if</a:t>
            </a:r>
            <a:r>
              <a:rPr lang="en-US" altLang="zh-CN" sz="2800" b="0" i="0" dirty="0">
                <a:solidFill>
                  <a:srgbClr val="000000"/>
                </a:solidFill>
                <a:effectLst/>
                <a:latin typeface="+mn-ea"/>
                <a:ea typeface="+mn-ea"/>
              </a:rPr>
              <a:t> (!</a:t>
            </a:r>
            <a:r>
              <a:rPr lang="en-US" altLang="zh-CN" sz="2800" b="0" i="0" dirty="0" err="1">
                <a:solidFill>
                  <a:srgbClr val="001080"/>
                </a:solidFill>
                <a:effectLst/>
                <a:latin typeface="+mn-ea"/>
                <a:ea typeface="+mn-ea"/>
              </a:rPr>
              <a:t>prev</a:t>
            </a:r>
            <a:r>
              <a:rPr lang="en-US" altLang="zh-CN" sz="2800" b="0" i="0" dirty="0">
                <a:solidFill>
                  <a:srgbClr val="000000"/>
                </a:solidFill>
                <a:effectLst/>
                <a:latin typeface="+mn-ea"/>
                <a:ea typeface="+mn-ea"/>
              </a:rPr>
              <a:t>-&gt;</a:t>
            </a:r>
            <a:r>
              <a:rPr lang="en-US" altLang="zh-CN" sz="2800" b="0" i="0" dirty="0" err="1">
                <a:solidFill>
                  <a:srgbClr val="001080"/>
                </a:solidFill>
                <a:effectLst/>
                <a:latin typeface="+mn-ea"/>
                <a:ea typeface="+mn-ea"/>
              </a:rPr>
              <a:t>rchild</a:t>
            </a:r>
            <a:r>
              <a:rPr lang="en-US" altLang="zh-CN" sz="2800" b="0" i="0" dirty="0">
                <a:solidFill>
                  <a:srgbClr val="000000"/>
                </a:solidFill>
                <a:effectLst/>
                <a:latin typeface="+mn-ea"/>
                <a:ea typeface="+mn-ea"/>
              </a:rPr>
              <a:t>)</a:t>
            </a:r>
          </a:p>
          <a:p>
            <a:r>
              <a:rPr lang="en-US" altLang="zh-CN" sz="2800" b="0" i="0" dirty="0">
                <a:solidFill>
                  <a:srgbClr val="000000"/>
                </a:solidFill>
                <a:effectLst/>
                <a:latin typeface="+mn-ea"/>
                <a:ea typeface="+mn-ea"/>
              </a:rPr>
              <a:t>{</a:t>
            </a:r>
          </a:p>
          <a:p>
            <a:r>
              <a:rPr lang="en-US" altLang="zh-CN" sz="2800" b="0" i="0" dirty="0">
                <a:solidFill>
                  <a:srgbClr val="000000"/>
                </a:solidFill>
                <a:effectLst/>
                <a:latin typeface="+mn-ea"/>
                <a:ea typeface="+mn-ea"/>
              </a:rPr>
              <a:t>    </a:t>
            </a:r>
            <a:r>
              <a:rPr lang="en-US" altLang="zh-CN" sz="2800" b="0" i="0" dirty="0" err="1">
                <a:solidFill>
                  <a:srgbClr val="001080"/>
                </a:solidFill>
                <a:effectLst/>
                <a:latin typeface="+mn-ea"/>
                <a:ea typeface="+mn-ea"/>
              </a:rPr>
              <a:t>prev</a:t>
            </a:r>
            <a:r>
              <a:rPr lang="en-US" altLang="zh-CN" sz="2800" b="0" i="0" dirty="0">
                <a:solidFill>
                  <a:srgbClr val="000000"/>
                </a:solidFill>
                <a:effectLst/>
                <a:latin typeface="+mn-ea"/>
                <a:ea typeface="+mn-ea"/>
              </a:rPr>
              <a:t>-&gt;</a:t>
            </a:r>
            <a:r>
              <a:rPr lang="en-US" altLang="zh-CN" sz="2800" b="0" i="0" dirty="0" err="1">
                <a:solidFill>
                  <a:srgbClr val="001080"/>
                </a:solidFill>
                <a:effectLst/>
                <a:latin typeface="+mn-ea"/>
                <a:ea typeface="+mn-ea"/>
              </a:rPr>
              <a:t>rchild</a:t>
            </a:r>
            <a:r>
              <a:rPr lang="en-US" altLang="zh-CN" sz="2800" b="0" i="0" dirty="0">
                <a:solidFill>
                  <a:srgbClr val="000000"/>
                </a:solidFill>
                <a:effectLst/>
                <a:latin typeface="+mn-ea"/>
                <a:ea typeface="+mn-ea"/>
              </a:rPr>
              <a:t> = </a:t>
            </a:r>
            <a:r>
              <a:rPr lang="en-US" altLang="zh-CN" sz="2800" b="0" i="0" dirty="0">
                <a:solidFill>
                  <a:srgbClr val="001080"/>
                </a:solidFill>
                <a:effectLst/>
                <a:latin typeface="+mn-ea"/>
                <a:ea typeface="+mn-ea"/>
              </a:rPr>
              <a:t>p</a:t>
            </a:r>
            <a:r>
              <a:rPr lang="en-US" altLang="zh-CN" sz="2800" b="0" i="0" dirty="0">
                <a:solidFill>
                  <a:srgbClr val="000000"/>
                </a:solidFill>
                <a:effectLst/>
                <a:latin typeface="+mn-ea"/>
                <a:ea typeface="+mn-ea"/>
              </a:rPr>
              <a:t>, </a:t>
            </a:r>
            <a:r>
              <a:rPr lang="en-US" altLang="zh-CN" sz="2800" b="0" i="0" dirty="0" err="1">
                <a:solidFill>
                  <a:srgbClr val="001080"/>
                </a:solidFill>
                <a:effectLst/>
                <a:latin typeface="+mn-ea"/>
                <a:ea typeface="+mn-ea"/>
              </a:rPr>
              <a:t>prev</a:t>
            </a:r>
            <a:r>
              <a:rPr lang="en-US" altLang="zh-CN" sz="2800" b="0" i="0" dirty="0">
                <a:solidFill>
                  <a:srgbClr val="000000"/>
                </a:solidFill>
                <a:effectLst/>
                <a:latin typeface="+mn-ea"/>
                <a:ea typeface="+mn-ea"/>
              </a:rPr>
              <a:t>-&gt;</a:t>
            </a:r>
            <a:r>
              <a:rPr lang="en-US" altLang="zh-CN" sz="2800" b="0" i="0" dirty="0" err="1">
                <a:solidFill>
                  <a:srgbClr val="001080"/>
                </a:solidFill>
                <a:effectLst/>
                <a:latin typeface="+mn-ea"/>
                <a:ea typeface="+mn-ea"/>
              </a:rPr>
              <a:t>rtag</a:t>
            </a:r>
            <a:r>
              <a:rPr lang="en-US" altLang="zh-CN" sz="2800" b="0" i="0" dirty="0">
                <a:solidFill>
                  <a:srgbClr val="000000"/>
                </a:solidFill>
                <a:effectLst/>
                <a:latin typeface="+mn-ea"/>
                <a:ea typeface="+mn-ea"/>
              </a:rPr>
              <a:t> = </a:t>
            </a:r>
            <a:r>
              <a:rPr lang="en-US" altLang="zh-CN" sz="2800" b="0" i="0" dirty="0">
                <a:solidFill>
                  <a:srgbClr val="098658"/>
                </a:solidFill>
                <a:effectLst/>
                <a:latin typeface="+mn-ea"/>
                <a:ea typeface="+mn-ea"/>
              </a:rPr>
              <a:t>1</a:t>
            </a:r>
            <a:r>
              <a:rPr lang="en-US" altLang="zh-CN" sz="2800" b="0" i="0" dirty="0">
                <a:solidFill>
                  <a:srgbClr val="000000"/>
                </a:solidFill>
                <a:effectLst/>
                <a:latin typeface="+mn-ea"/>
                <a:ea typeface="+mn-ea"/>
              </a:rPr>
              <a:t>;</a:t>
            </a:r>
          </a:p>
          <a:p>
            <a:r>
              <a:rPr lang="en-US" altLang="zh-CN" sz="2800" b="0" i="0" dirty="0">
                <a:solidFill>
                  <a:srgbClr val="000000"/>
                </a:solidFill>
                <a:effectLst/>
                <a:latin typeface="+mn-ea"/>
                <a:ea typeface="+mn-ea"/>
              </a:rPr>
              <a:t>}</a:t>
            </a:r>
          </a:p>
        </p:txBody>
      </p:sp>
    </p:spTree>
    <p:extLst>
      <p:ext uri="{BB962C8B-B14F-4D97-AF65-F5344CB8AC3E}">
        <p14:creationId xmlns:p14="http://schemas.microsoft.com/office/powerpoint/2010/main" val="2230732657"/>
      </p:ext>
    </p:extLst>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4">
            <a:extLst>
              <a:ext uri="{FF2B5EF4-FFF2-40B4-BE49-F238E27FC236}">
                <a16:creationId xmlns:a16="http://schemas.microsoft.com/office/drawing/2014/main" id="{D60DA6A4-1144-42F8-A277-89AC21916BCF}"/>
              </a:ext>
            </a:extLst>
          </p:cNvPr>
          <p:cNvSpPr txBox="1">
            <a:spLocks noChangeArrowheads="1"/>
          </p:cNvSpPr>
          <p:nvPr/>
        </p:nvSpPr>
        <p:spPr bwMode="auto">
          <a:xfrm>
            <a:off x="446667" y="188640"/>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4400" i="0" dirty="0">
                <a:solidFill>
                  <a:schemeClr val="tx2"/>
                </a:solidFill>
                <a:ea typeface="隶书" pitchFamily="49" charset="-122"/>
              </a:rPr>
              <a:t>线索二叉树</a:t>
            </a:r>
          </a:p>
        </p:txBody>
      </p:sp>
      <p:pic>
        <p:nvPicPr>
          <p:cNvPr id="7" name="图片 6">
            <a:extLst>
              <a:ext uri="{FF2B5EF4-FFF2-40B4-BE49-F238E27FC236}">
                <a16:creationId xmlns:a16="http://schemas.microsoft.com/office/drawing/2014/main" id="{DEBF0101-A053-4AAA-90B2-AD98018A0A2B}"/>
              </a:ext>
            </a:extLst>
          </p:cNvPr>
          <p:cNvPicPr>
            <a:picLocks noChangeAspect="1"/>
          </p:cNvPicPr>
          <p:nvPr/>
        </p:nvPicPr>
        <p:blipFill>
          <a:blip r:embed="rId3"/>
          <a:stretch>
            <a:fillRect/>
          </a:stretch>
        </p:blipFill>
        <p:spPr>
          <a:xfrm>
            <a:off x="442862" y="2124968"/>
            <a:ext cx="8429625" cy="3983088"/>
          </a:xfrm>
          <a:prstGeom prst="rect">
            <a:avLst/>
          </a:prstGeom>
        </p:spPr>
      </p:pic>
      <p:graphicFrame>
        <p:nvGraphicFramePr>
          <p:cNvPr id="9" name="表格 9">
            <a:extLst>
              <a:ext uri="{FF2B5EF4-FFF2-40B4-BE49-F238E27FC236}">
                <a16:creationId xmlns:a16="http://schemas.microsoft.com/office/drawing/2014/main" id="{68567FCB-7A81-4702-BE89-1410EE5DE34A}"/>
              </a:ext>
            </a:extLst>
          </p:cNvPr>
          <p:cNvGraphicFramePr>
            <a:graphicFrameLocks noGrp="1"/>
          </p:cNvGraphicFramePr>
          <p:nvPr>
            <p:extLst>
              <p:ext uri="{D42A27DB-BD31-4B8C-83A1-F6EECF244321}">
                <p14:modId xmlns:p14="http://schemas.microsoft.com/office/powerpoint/2010/main" val="610758694"/>
              </p:ext>
            </p:extLst>
          </p:nvPr>
        </p:nvGraphicFramePr>
        <p:xfrm>
          <a:off x="2915817" y="1397000"/>
          <a:ext cx="2376265" cy="591840"/>
        </p:xfrm>
        <a:graphic>
          <a:graphicData uri="http://schemas.openxmlformats.org/drawingml/2006/table">
            <a:tbl>
              <a:tblPr firstRow="1" bandRow="1">
                <a:tableStyleId>{F5AB1C69-6EDB-4FF4-983F-18BD219EF322}</a:tableStyleId>
              </a:tblPr>
              <a:tblGrid>
                <a:gridCol w="475253">
                  <a:extLst>
                    <a:ext uri="{9D8B030D-6E8A-4147-A177-3AD203B41FA5}">
                      <a16:colId xmlns:a16="http://schemas.microsoft.com/office/drawing/2014/main" val="2875797620"/>
                    </a:ext>
                  </a:extLst>
                </a:gridCol>
                <a:gridCol w="475253">
                  <a:extLst>
                    <a:ext uri="{9D8B030D-6E8A-4147-A177-3AD203B41FA5}">
                      <a16:colId xmlns:a16="http://schemas.microsoft.com/office/drawing/2014/main" val="1660690082"/>
                    </a:ext>
                  </a:extLst>
                </a:gridCol>
                <a:gridCol w="475253">
                  <a:extLst>
                    <a:ext uri="{9D8B030D-6E8A-4147-A177-3AD203B41FA5}">
                      <a16:colId xmlns:a16="http://schemas.microsoft.com/office/drawing/2014/main" val="475247411"/>
                    </a:ext>
                  </a:extLst>
                </a:gridCol>
                <a:gridCol w="475253">
                  <a:extLst>
                    <a:ext uri="{9D8B030D-6E8A-4147-A177-3AD203B41FA5}">
                      <a16:colId xmlns:a16="http://schemas.microsoft.com/office/drawing/2014/main" val="2013112787"/>
                    </a:ext>
                  </a:extLst>
                </a:gridCol>
                <a:gridCol w="475253">
                  <a:extLst>
                    <a:ext uri="{9D8B030D-6E8A-4147-A177-3AD203B41FA5}">
                      <a16:colId xmlns:a16="http://schemas.microsoft.com/office/drawing/2014/main" val="1280906506"/>
                    </a:ext>
                  </a:extLst>
                </a:gridCol>
              </a:tblGrid>
              <a:tr h="591840">
                <a:tc>
                  <a:txBody>
                    <a:bodyPr/>
                    <a:lstStyle/>
                    <a:p>
                      <a:pPr algn="ctr"/>
                      <a:endParaRPr lang="zh-CN" altLang="en-US" sz="140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3200" dirty="0">
                          <a:solidFill>
                            <a:schemeClr val="tx1"/>
                          </a:solidFill>
                        </a:rPr>
                        <a:t>0</a:t>
                      </a:r>
                      <a:endParaRPr lang="zh-CN" altLang="en-US" sz="320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40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altLang="zh-CN" sz="3200" b="1" kern="1200" dirty="0">
                          <a:solidFill>
                            <a:schemeClr val="tx1"/>
                          </a:solidFill>
                          <a:latin typeface="+mn-lt"/>
                          <a:ea typeface="+mn-ea"/>
                          <a:cs typeface="+mn-cs"/>
                        </a:rPr>
                        <a:t>1</a:t>
                      </a:r>
                      <a:endParaRPr lang="zh-CN" altLang="en-US" sz="3200" b="1" kern="1200" dirty="0">
                        <a:solidFill>
                          <a:schemeClr val="tx1"/>
                        </a:solidFill>
                        <a:latin typeface="+mn-lt"/>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endParaRPr lang="zh-CN" altLang="en-US" sz="3200" b="1" kern="1200" dirty="0">
                        <a:solidFill>
                          <a:schemeClr val="tx1"/>
                        </a:solidFill>
                        <a:latin typeface="+mn-lt"/>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13198404"/>
                  </a:ext>
                </a:extLst>
              </a:tr>
            </a:tbl>
          </a:graphicData>
        </a:graphic>
      </p:graphicFrame>
      <p:cxnSp>
        <p:nvCxnSpPr>
          <p:cNvPr id="11" name="连接符: 曲线 10">
            <a:extLst>
              <a:ext uri="{FF2B5EF4-FFF2-40B4-BE49-F238E27FC236}">
                <a16:creationId xmlns:a16="http://schemas.microsoft.com/office/drawing/2014/main" id="{7C03FF51-DB46-49A3-A9AF-6D281BFAFDE7}"/>
              </a:ext>
            </a:extLst>
          </p:cNvPr>
          <p:cNvCxnSpPr>
            <a:cxnSpLocks/>
            <a:endCxn id="9" idx="1"/>
          </p:cNvCxnSpPr>
          <p:nvPr/>
        </p:nvCxnSpPr>
        <p:spPr bwMode="auto">
          <a:xfrm rot="5400000" flipH="1" flipV="1">
            <a:off x="643621" y="1948893"/>
            <a:ext cx="2528168" cy="2016223"/>
          </a:xfrm>
          <a:prstGeom prst="curvedConnector2">
            <a:avLst/>
          </a:prstGeom>
          <a:solidFill>
            <a:schemeClr val="accent1"/>
          </a:solidFill>
          <a:ln w="19050" cap="flat" cmpd="sng" algn="ctr">
            <a:solidFill>
              <a:srgbClr val="0033CC"/>
            </a:solidFill>
            <a:prstDash val="dash"/>
            <a:round/>
            <a:headEnd type="none" w="med" len="med"/>
            <a:tailEnd type="triangle" w="lg" len="lg"/>
          </a:ln>
          <a:effectLst/>
        </p:spPr>
      </p:cxnSp>
      <p:cxnSp>
        <p:nvCxnSpPr>
          <p:cNvPr id="14" name="连接符: 曲线 13">
            <a:extLst>
              <a:ext uri="{FF2B5EF4-FFF2-40B4-BE49-F238E27FC236}">
                <a16:creationId xmlns:a16="http://schemas.microsoft.com/office/drawing/2014/main" id="{9C90E626-E5EE-4D29-823C-7506448F6C04}"/>
              </a:ext>
            </a:extLst>
          </p:cNvPr>
          <p:cNvCxnSpPr>
            <a:cxnSpLocks/>
          </p:cNvCxnSpPr>
          <p:nvPr/>
        </p:nvCxnSpPr>
        <p:spPr bwMode="auto">
          <a:xfrm rot="16200000" flipH="1">
            <a:off x="3055888" y="1768872"/>
            <a:ext cx="727968" cy="576064"/>
          </a:xfrm>
          <a:prstGeom prst="curvedConnector3">
            <a:avLst/>
          </a:prstGeom>
          <a:solidFill>
            <a:schemeClr val="accent1"/>
          </a:solidFill>
          <a:ln w="19050" cap="flat" cmpd="sng" algn="ctr">
            <a:solidFill>
              <a:schemeClr val="tx1"/>
            </a:solidFill>
            <a:prstDash val="solid"/>
            <a:round/>
            <a:headEnd type="none" w="med" len="med"/>
            <a:tailEnd type="triangle"/>
          </a:ln>
          <a:effectLst/>
        </p:spPr>
      </p:cxnSp>
      <p:cxnSp>
        <p:nvCxnSpPr>
          <p:cNvPr id="18" name="连接符: 曲线 17">
            <a:extLst>
              <a:ext uri="{FF2B5EF4-FFF2-40B4-BE49-F238E27FC236}">
                <a16:creationId xmlns:a16="http://schemas.microsoft.com/office/drawing/2014/main" id="{1538FDB7-80E2-4B4C-9E4C-D601168C160F}"/>
              </a:ext>
            </a:extLst>
          </p:cNvPr>
          <p:cNvCxnSpPr>
            <a:cxnSpLocks/>
          </p:cNvCxnSpPr>
          <p:nvPr/>
        </p:nvCxnSpPr>
        <p:spPr bwMode="auto">
          <a:xfrm rot="16200000" flipH="1">
            <a:off x="4964099" y="1732867"/>
            <a:ext cx="3176241" cy="3096345"/>
          </a:xfrm>
          <a:prstGeom prst="curvedConnector3">
            <a:avLst>
              <a:gd name="adj1" fmla="val 50000"/>
            </a:avLst>
          </a:prstGeom>
          <a:solidFill>
            <a:schemeClr val="accent1"/>
          </a:solidFill>
          <a:ln w="19050" cap="flat" cmpd="sng" algn="ctr">
            <a:solidFill>
              <a:srgbClr val="0033CC"/>
            </a:solidFill>
            <a:prstDash val="lgDash"/>
            <a:round/>
            <a:headEnd type="none" w="med" len="med"/>
            <a:tailEnd type="triangle" w="lg" len="lg"/>
          </a:ln>
          <a:effectLst/>
        </p:spPr>
      </p:cxnSp>
      <p:cxnSp>
        <p:nvCxnSpPr>
          <p:cNvPr id="22" name="连接符: 曲线 21">
            <a:extLst>
              <a:ext uri="{FF2B5EF4-FFF2-40B4-BE49-F238E27FC236}">
                <a16:creationId xmlns:a16="http://schemas.microsoft.com/office/drawing/2014/main" id="{D24075B2-CF2E-4372-B0E4-3BEE0813975F}"/>
              </a:ext>
            </a:extLst>
          </p:cNvPr>
          <p:cNvCxnSpPr>
            <a:cxnSpLocks/>
            <a:endCxn id="9" idx="3"/>
          </p:cNvCxnSpPr>
          <p:nvPr/>
        </p:nvCxnSpPr>
        <p:spPr bwMode="auto">
          <a:xfrm rot="16200000" flipV="1">
            <a:off x="5180125" y="1804877"/>
            <a:ext cx="3320256" cy="3096342"/>
          </a:xfrm>
          <a:prstGeom prst="curvedConnector2">
            <a:avLst/>
          </a:prstGeom>
          <a:solidFill>
            <a:schemeClr val="accent1"/>
          </a:solidFill>
          <a:ln w="19050" cap="flat" cmpd="sng" algn="ctr">
            <a:solidFill>
              <a:srgbClr val="0033CC"/>
            </a:solidFill>
            <a:prstDash val="lgDash"/>
            <a:round/>
            <a:headEnd type="none" w="med" len="med"/>
            <a:tailEnd type="triangle" w="lg" len="lg"/>
          </a:ln>
          <a:effectLst/>
        </p:spPr>
      </p:cxnSp>
      <p:cxnSp>
        <p:nvCxnSpPr>
          <p:cNvPr id="26" name="连接符: 曲线 25">
            <a:extLst>
              <a:ext uri="{FF2B5EF4-FFF2-40B4-BE49-F238E27FC236}">
                <a16:creationId xmlns:a16="http://schemas.microsoft.com/office/drawing/2014/main" id="{91DF2DFD-626C-4982-9FA6-CF12E34A8EA8}"/>
              </a:ext>
            </a:extLst>
          </p:cNvPr>
          <p:cNvCxnSpPr>
            <a:cxnSpLocks/>
          </p:cNvCxnSpPr>
          <p:nvPr/>
        </p:nvCxnSpPr>
        <p:spPr bwMode="auto">
          <a:xfrm>
            <a:off x="1475656" y="1397000"/>
            <a:ext cx="1440161" cy="159792"/>
          </a:xfrm>
          <a:prstGeom prst="curvedConnector3">
            <a:avLst/>
          </a:prstGeom>
          <a:solidFill>
            <a:schemeClr val="accent1"/>
          </a:solidFill>
          <a:ln w="19050" cap="flat" cmpd="sng" algn="ctr">
            <a:solidFill>
              <a:schemeClr val="tx1"/>
            </a:solidFill>
            <a:prstDash val="solid"/>
            <a:round/>
            <a:headEnd type="none" w="med" len="med"/>
            <a:tailEnd type="triangle" w="lg" len="lg"/>
          </a:ln>
          <a:effectLst/>
        </p:spPr>
      </p:cxnSp>
      <p:sp>
        <p:nvSpPr>
          <p:cNvPr id="28" name="文本框 27">
            <a:extLst>
              <a:ext uri="{FF2B5EF4-FFF2-40B4-BE49-F238E27FC236}">
                <a16:creationId xmlns:a16="http://schemas.microsoft.com/office/drawing/2014/main" id="{9854D273-D269-4521-9302-83C25451169D}"/>
              </a:ext>
            </a:extLst>
          </p:cNvPr>
          <p:cNvSpPr txBox="1"/>
          <p:nvPr/>
        </p:nvSpPr>
        <p:spPr>
          <a:xfrm>
            <a:off x="539552" y="1101636"/>
            <a:ext cx="936104" cy="523220"/>
          </a:xfrm>
          <a:prstGeom prst="rect">
            <a:avLst/>
          </a:prstGeom>
          <a:noFill/>
        </p:spPr>
        <p:txBody>
          <a:bodyPr wrap="square" rtlCol="0">
            <a:spAutoFit/>
          </a:bodyPr>
          <a:lstStyle/>
          <a:p>
            <a:r>
              <a:rPr lang="en-US" altLang="zh-CN" sz="2800" dirty="0" err="1"/>
              <a:t>thrt</a:t>
            </a:r>
            <a:endParaRPr lang="zh-CN" altLang="en-US" sz="2800" dirty="0"/>
          </a:p>
        </p:txBody>
      </p:sp>
      <p:sp>
        <p:nvSpPr>
          <p:cNvPr id="4" name="文本框 3">
            <a:extLst>
              <a:ext uri="{FF2B5EF4-FFF2-40B4-BE49-F238E27FC236}">
                <a16:creationId xmlns:a16="http://schemas.microsoft.com/office/drawing/2014/main" id="{C773A4C7-54E5-D86E-AA3D-6F2FD6D185B0}"/>
              </a:ext>
            </a:extLst>
          </p:cNvPr>
          <p:cNvSpPr txBox="1"/>
          <p:nvPr/>
        </p:nvSpPr>
        <p:spPr>
          <a:xfrm>
            <a:off x="442862" y="6146140"/>
            <a:ext cx="6217370" cy="523220"/>
          </a:xfrm>
          <a:prstGeom prst="rect">
            <a:avLst/>
          </a:prstGeom>
          <a:noFill/>
        </p:spPr>
        <p:txBody>
          <a:bodyPr wrap="square" rtlCol="0">
            <a:spAutoFit/>
          </a:bodyPr>
          <a:lstStyle/>
          <a:p>
            <a:r>
              <a:rPr lang="zh-CN" altLang="en-US" sz="2800" b="0" i="0" dirty="0">
                <a:solidFill>
                  <a:srgbClr val="FF0000"/>
                </a:solidFill>
                <a:latin typeface="黑体" panose="02010609060101010101" pitchFamily="49" charset="-122"/>
                <a:ea typeface="黑体" panose="02010609060101010101" pitchFamily="49" charset="-122"/>
              </a:rPr>
              <a:t>思考：如何得到中序遍历结果？</a:t>
            </a:r>
          </a:p>
        </p:txBody>
      </p:sp>
    </p:spTree>
    <p:extLst>
      <p:ext uri="{BB962C8B-B14F-4D97-AF65-F5344CB8AC3E}">
        <p14:creationId xmlns:p14="http://schemas.microsoft.com/office/powerpoint/2010/main" val="311172920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22DE0D1B-3BBE-4A35-BADB-6BB40230539D}"/>
              </a:ext>
            </a:extLst>
          </p:cNvPr>
          <p:cNvSpPr>
            <a:spLocks noGrp="1" noChangeArrowheads="1"/>
          </p:cNvSpPr>
          <p:nvPr>
            <p:ph type="title"/>
          </p:nvPr>
        </p:nvSpPr>
        <p:spPr>
          <a:xfrm>
            <a:off x="493712" y="1124744"/>
            <a:ext cx="5715000" cy="685800"/>
          </a:xfrm>
        </p:spPr>
        <p:txBody>
          <a:bodyPr/>
          <a:lstStyle/>
          <a:p>
            <a:pPr algn="l" eaLnBrk="1" hangingPunct="1"/>
            <a:r>
              <a:rPr lang="zh-CN" altLang="en-US" sz="3000" dirty="0">
                <a:latin typeface="黑体" panose="02010609060101010101" pitchFamily="49" charset="-122"/>
                <a:ea typeface="黑体" panose="02010609060101010101" pitchFamily="49" charset="-122"/>
              </a:rPr>
              <a:t>一、树的存储结构</a:t>
            </a:r>
            <a:endParaRPr lang="en-US" altLang="zh-CN" sz="3000" dirty="0">
              <a:latin typeface="黑体" panose="02010609060101010101" pitchFamily="49" charset="-122"/>
              <a:ea typeface="黑体" panose="02010609060101010101" pitchFamily="49" charset="-122"/>
            </a:endParaRPr>
          </a:p>
        </p:txBody>
      </p:sp>
      <p:sp>
        <p:nvSpPr>
          <p:cNvPr id="72708" name="Text Box 4">
            <a:extLst>
              <a:ext uri="{FF2B5EF4-FFF2-40B4-BE49-F238E27FC236}">
                <a16:creationId xmlns:a16="http://schemas.microsoft.com/office/drawing/2014/main" id="{DC85F562-0794-4243-8817-FE51FB5478C3}"/>
              </a:ext>
            </a:extLst>
          </p:cNvPr>
          <p:cNvSpPr txBox="1">
            <a:spLocks noChangeArrowheads="1"/>
          </p:cNvSpPr>
          <p:nvPr/>
        </p:nvSpPr>
        <p:spPr bwMode="auto">
          <a:xfrm>
            <a:off x="533400" y="211287"/>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第五节　树与森林</a:t>
            </a:r>
          </a:p>
        </p:txBody>
      </p:sp>
      <p:sp>
        <p:nvSpPr>
          <p:cNvPr id="72709" name="Rectangle 5">
            <a:extLst>
              <a:ext uri="{FF2B5EF4-FFF2-40B4-BE49-F238E27FC236}">
                <a16:creationId xmlns:a16="http://schemas.microsoft.com/office/drawing/2014/main" id="{F0C99019-7D6E-48C4-B413-6F2745B2F61C}"/>
              </a:ext>
            </a:extLst>
          </p:cNvPr>
          <p:cNvSpPr>
            <a:spLocks noGrp="1" noChangeArrowheads="1"/>
          </p:cNvSpPr>
          <p:nvPr>
            <p:ph type="body" idx="1"/>
          </p:nvPr>
        </p:nvSpPr>
        <p:spPr>
          <a:xfrm>
            <a:off x="633536" y="1962944"/>
            <a:ext cx="8117632" cy="2040954"/>
          </a:xfrm>
        </p:spPr>
        <p:txBody>
          <a:bodyPr/>
          <a:lstStyle/>
          <a:p>
            <a:pPr eaLnBrk="1" hangingPunct="1">
              <a:spcBef>
                <a:spcPct val="30000"/>
              </a:spcBef>
              <a:buFont typeface="Wingdings" panose="05000000000000000000" pitchFamily="2" charset="2"/>
              <a:buNone/>
            </a:pPr>
            <a:r>
              <a:rPr lang="en-US" altLang="zh-CN" b="1" dirty="0">
                <a:latin typeface="黑体" panose="02010609060101010101" pitchFamily="49" charset="-122"/>
                <a:ea typeface="黑体" panose="02010609060101010101" pitchFamily="49" charset="-122"/>
              </a:rPr>
              <a:t>1.</a:t>
            </a:r>
            <a:r>
              <a:rPr lang="zh-CN" altLang="en-US" b="1" dirty="0">
                <a:latin typeface="黑体" panose="02010609060101010101" pitchFamily="49" charset="-122"/>
                <a:ea typeface="黑体" panose="02010609060101010101" pitchFamily="49" charset="-122"/>
              </a:rPr>
              <a:t>双亲表示法</a:t>
            </a:r>
          </a:p>
          <a:p>
            <a:pPr eaLnBrk="1" hangingPunct="1">
              <a:spcBef>
                <a:spcPct val="30000"/>
              </a:spcBef>
            </a:pPr>
            <a:r>
              <a:rPr lang="zh-CN" altLang="en-US" dirty="0">
                <a:latin typeface="黑体" panose="02010609060101010101" pitchFamily="49" charset="-122"/>
                <a:ea typeface="黑体" panose="02010609060101010101" pitchFamily="49" charset="-122"/>
              </a:rPr>
              <a:t>采用一组连续的存储空间</a:t>
            </a:r>
          </a:p>
          <a:p>
            <a:pPr eaLnBrk="1" hangingPunct="1">
              <a:spcBef>
                <a:spcPct val="30000"/>
              </a:spcBef>
            </a:pPr>
            <a:r>
              <a:rPr lang="zh-CN" altLang="en-US" dirty="0">
                <a:latin typeface="黑体" panose="02010609060101010101" pitchFamily="49" charset="-122"/>
                <a:ea typeface="黑体" panose="02010609060101010101" pitchFamily="49" charset="-122"/>
              </a:rPr>
              <a:t>由于每个结点只有一个双亲，只需要一个指针</a:t>
            </a:r>
          </a:p>
        </p:txBody>
      </p:sp>
      <p:graphicFrame>
        <p:nvGraphicFramePr>
          <p:cNvPr id="55303" name="Group 7">
            <a:extLst>
              <a:ext uri="{FF2B5EF4-FFF2-40B4-BE49-F238E27FC236}">
                <a16:creationId xmlns:a16="http://schemas.microsoft.com/office/drawing/2014/main" id="{281B87AE-6CFC-48BB-BBF5-729D4F63D6BA}"/>
              </a:ext>
            </a:extLst>
          </p:cNvPr>
          <p:cNvGraphicFramePr>
            <a:graphicFrameLocks noGrp="1"/>
          </p:cNvGraphicFramePr>
          <p:nvPr>
            <p:extLst>
              <p:ext uri="{D42A27DB-BD31-4B8C-83A1-F6EECF244321}">
                <p14:modId xmlns:p14="http://schemas.microsoft.com/office/powerpoint/2010/main" val="3561681057"/>
              </p:ext>
            </p:extLst>
          </p:nvPr>
        </p:nvGraphicFramePr>
        <p:xfrm>
          <a:off x="711696" y="4572942"/>
          <a:ext cx="4648200" cy="1038225"/>
        </p:xfrm>
        <a:graphic>
          <a:graphicData uri="http://schemas.openxmlformats.org/drawingml/2006/table">
            <a:tbl>
              <a:tblPr/>
              <a:tblGrid>
                <a:gridCol w="665163">
                  <a:extLst>
                    <a:ext uri="{9D8B030D-6E8A-4147-A177-3AD203B41FA5}">
                      <a16:colId xmlns:a16="http://schemas.microsoft.com/office/drawing/2014/main" val="20000"/>
                    </a:ext>
                  </a:extLst>
                </a:gridCol>
                <a:gridCol w="661987">
                  <a:extLst>
                    <a:ext uri="{9D8B030D-6E8A-4147-A177-3AD203B41FA5}">
                      <a16:colId xmlns:a16="http://schemas.microsoft.com/office/drawing/2014/main" val="20001"/>
                    </a:ext>
                  </a:extLst>
                </a:gridCol>
                <a:gridCol w="665163">
                  <a:extLst>
                    <a:ext uri="{9D8B030D-6E8A-4147-A177-3AD203B41FA5}">
                      <a16:colId xmlns:a16="http://schemas.microsoft.com/office/drawing/2014/main" val="20002"/>
                    </a:ext>
                  </a:extLst>
                </a:gridCol>
                <a:gridCol w="663575">
                  <a:extLst>
                    <a:ext uri="{9D8B030D-6E8A-4147-A177-3AD203B41FA5}">
                      <a16:colId xmlns:a16="http://schemas.microsoft.com/office/drawing/2014/main" val="20003"/>
                    </a:ext>
                  </a:extLst>
                </a:gridCol>
                <a:gridCol w="665162">
                  <a:extLst>
                    <a:ext uri="{9D8B030D-6E8A-4147-A177-3AD203B41FA5}">
                      <a16:colId xmlns:a16="http://schemas.microsoft.com/office/drawing/2014/main" val="20004"/>
                    </a:ext>
                  </a:extLst>
                </a:gridCol>
                <a:gridCol w="661988">
                  <a:extLst>
                    <a:ext uri="{9D8B030D-6E8A-4147-A177-3AD203B41FA5}">
                      <a16:colId xmlns:a16="http://schemas.microsoft.com/office/drawing/2014/main" val="20005"/>
                    </a:ext>
                  </a:extLst>
                </a:gridCol>
                <a:gridCol w="665162">
                  <a:extLst>
                    <a:ext uri="{9D8B030D-6E8A-4147-A177-3AD203B41FA5}">
                      <a16:colId xmlns:a16="http://schemas.microsoft.com/office/drawing/2014/main" val="20006"/>
                    </a:ext>
                  </a:extLst>
                </a:gridCol>
              </a:tblGrid>
              <a:tr h="518066">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a:ln>
                            <a:noFill/>
                          </a:ln>
                          <a:solidFill>
                            <a:schemeClr val="tx1"/>
                          </a:solidFill>
                          <a:effectLst/>
                          <a:latin typeface="Tahoma" pitchFamily="34" charset="0"/>
                          <a:ea typeface="宋体" pitchFamily="2" charset="-122"/>
                        </a:rPr>
                        <a:t>A</a:t>
                      </a:r>
                    </a:p>
                  </a:txBody>
                  <a:tcPr marT="45673" marB="4567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a:ln>
                            <a:noFill/>
                          </a:ln>
                          <a:solidFill>
                            <a:schemeClr val="tx1"/>
                          </a:solidFill>
                          <a:effectLst/>
                          <a:latin typeface="Tahoma" pitchFamily="34" charset="0"/>
                          <a:ea typeface="宋体" pitchFamily="2" charset="-122"/>
                        </a:rPr>
                        <a:t>B</a:t>
                      </a:r>
                    </a:p>
                  </a:txBody>
                  <a:tcPr marT="45673" marB="456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a:ln>
                            <a:noFill/>
                          </a:ln>
                          <a:solidFill>
                            <a:schemeClr val="tx1"/>
                          </a:solidFill>
                          <a:effectLst/>
                          <a:latin typeface="Tahoma" pitchFamily="34" charset="0"/>
                          <a:ea typeface="宋体" pitchFamily="2" charset="-122"/>
                        </a:rPr>
                        <a:t>C</a:t>
                      </a:r>
                    </a:p>
                  </a:txBody>
                  <a:tcPr marT="45673" marB="456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a:ln>
                            <a:noFill/>
                          </a:ln>
                          <a:solidFill>
                            <a:schemeClr val="tx1"/>
                          </a:solidFill>
                          <a:effectLst/>
                          <a:latin typeface="Tahoma" pitchFamily="34" charset="0"/>
                          <a:ea typeface="宋体" pitchFamily="2" charset="-122"/>
                        </a:rPr>
                        <a:t>D</a:t>
                      </a:r>
                    </a:p>
                  </a:txBody>
                  <a:tcPr marT="45673" marB="456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a:ln>
                            <a:noFill/>
                          </a:ln>
                          <a:solidFill>
                            <a:schemeClr val="tx1"/>
                          </a:solidFill>
                          <a:effectLst/>
                          <a:latin typeface="Tahoma" pitchFamily="34" charset="0"/>
                          <a:ea typeface="宋体" pitchFamily="2" charset="-122"/>
                        </a:rPr>
                        <a:t>E</a:t>
                      </a:r>
                    </a:p>
                  </a:txBody>
                  <a:tcPr marT="45673" marB="456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a:ln>
                            <a:noFill/>
                          </a:ln>
                          <a:solidFill>
                            <a:schemeClr val="tx1"/>
                          </a:solidFill>
                          <a:effectLst/>
                          <a:latin typeface="Tahoma" pitchFamily="34" charset="0"/>
                          <a:ea typeface="宋体" pitchFamily="2" charset="-122"/>
                        </a:rPr>
                        <a:t>F</a:t>
                      </a:r>
                    </a:p>
                  </a:txBody>
                  <a:tcPr marT="45673" marB="456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a:ln>
                            <a:noFill/>
                          </a:ln>
                          <a:solidFill>
                            <a:schemeClr val="tx1"/>
                          </a:solidFill>
                          <a:effectLst/>
                          <a:latin typeface="Tahoma" pitchFamily="34" charset="0"/>
                          <a:ea typeface="宋体" pitchFamily="2" charset="-122"/>
                        </a:rPr>
                        <a:t>G</a:t>
                      </a:r>
                    </a:p>
                  </a:txBody>
                  <a:tcPr marT="45673" marB="4567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20159">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altLang="zh-CN" sz="2800" b="0" i="0" u="none" strike="noStrike" cap="none" normalizeH="0" baseline="0" dirty="0">
                        <a:ln>
                          <a:noFill/>
                        </a:ln>
                        <a:solidFill>
                          <a:schemeClr val="tx1"/>
                        </a:solidFill>
                        <a:effectLst/>
                        <a:latin typeface="Tahoma" pitchFamily="34" charset="0"/>
                        <a:ea typeface="宋体" pitchFamily="2" charset="-122"/>
                      </a:endParaRPr>
                    </a:p>
                  </a:txBody>
                  <a:tcPr marT="45673" marB="4567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altLang="zh-CN" sz="2800" b="0" i="0" u="none" strike="noStrike" cap="none" normalizeH="0" baseline="0" dirty="0">
                        <a:ln>
                          <a:noFill/>
                        </a:ln>
                        <a:solidFill>
                          <a:schemeClr val="tx1"/>
                        </a:solidFill>
                        <a:effectLst/>
                        <a:latin typeface="Tahoma" pitchFamily="34" charset="0"/>
                        <a:ea typeface="宋体" pitchFamily="2" charset="-122"/>
                      </a:endParaRPr>
                    </a:p>
                  </a:txBody>
                  <a:tcPr marT="45673" marB="456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altLang="zh-CN" sz="2800" b="0" i="0" u="none" strike="noStrike" cap="none" normalizeH="0" baseline="0" dirty="0">
                        <a:ln>
                          <a:noFill/>
                        </a:ln>
                        <a:solidFill>
                          <a:schemeClr val="tx1"/>
                        </a:solidFill>
                        <a:effectLst/>
                        <a:latin typeface="Tahoma" pitchFamily="34" charset="0"/>
                        <a:ea typeface="宋体" pitchFamily="2" charset="-122"/>
                      </a:endParaRPr>
                    </a:p>
                  </a:txBody>
                  <a:tcPr marT="45673" marB="456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altLang="zh-CN" sz="2800" b="0" i="0" u="none" strike="noStrike" cap="none" normalizeH="0" baseline="0" dirty="0">
                        <a:ln>
                          <a:noFill/>
                        </a:ln>
                        <a:solidFill>
                          <a:schemeClr val="tx1"/>
                        </a:solidFill>
                        <a:effectLst/>
                        <a:latin typeface="Tahoma" pitchFamily="34" charset="0"/>
                        <a:ea typeface="宋体" pitchFamily="2" charset="-122"/>
                      </a:endParaRPr>
                    </a:p>
                  </a:txBody>
                  <a:tcPr marT="45673" marB="456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altLang="zh-CN" sz="2800" b="0" i="0" u="none" strike="noStrike" cap="none" normalizeH="0" baseline="0" dirty="0">
                        <a:ln>
                          <a:noFill/>
                        </a:ln>
                        <a:solidFill>
                          <a:schemeClr val="tx1"/>
                        </a:solidFill>
                        <a:effectLst/>
                        <a:latin typeface="Tahoma" pitchFamily="34" charset="0"/>
                        <a:ea typeface="宋体" pitchFamily="2" charset="-122"/>
                      </a:endParaRPr>
                    </a:p>
                  </a:txBody>
                  <a:tcPr marT="45673" marB="456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altLang="zh-CN" sz="2800" b="0" i="0" u="none" strike="noStrike" cap="none" normalizeH="0" baseline="0" dirty="0">
                        <a:ln>
                          <a:noFill/>
                        </a:ln>
                        <a:solidFill>
                          <a:schemeClr val="tx1"/>
                        </a:solidFill>
                        <a:effectLst/>
                        <a:latin typeface="Tahoma" pitchFamily="34" charset="0"/>
                        <a:ea typeface="宋体" pitchFamily="2" charset="-122"/>
                      </a:endParaRPr>
                    </a:p>
                  </a:txBody>
                  <a:tcPr marT="45673" marB="456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altLang="zh-CN" sz="2800" b="0" i="0" u="none" strike="noStrike" cap="none" normalizeH="0" baseline="0" dirty="0">
                        <a:ln>
                          <a:noFill/>
                        </a:ln>
                        <a:solidFill>
                          <a:schemeClr val="tx1"/>
                        </a:solidFill>
                        <a:effectLst/>
                        <a:latin typeface="Tahoma" pitchFamily="34" charset="0"/>
                        <a:ea typeface="宋体" pitchFamily="2" charset="-122"/>
                      </a:endParaRPr>
                    </a:p>
                  </a:txBody>
                  <a:tcPr marT="45673" marB="4567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72737" name="Text Box 33">
            <a:extLst>
              <a:ext uri="{FF2B5EF4-FFF2-40B4-BE49-F238E27FC236}">
                <a16:creationId xmlns:a16="http://schemas.microsoft.com/office/drawing/2014/main" id="{A2AEB665-4088-48EB-BAF2-6D55EC94E015}"/>
              </a:ext>
            </a:extLst>
          </p:cNvPr>
          <p:cNvSpPr txBox="1">
            <a:spLocks noChangeArrowheads="1"/>
          </p:cNvSpPr>
          <p:nvPr/>
        </p:nvSpPr>
        <p:spPr bwMode="auto">
          <a:xfrm>
            <a:off x="864096" y="4149080"/>
            <a:ext cx="457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zh-CN" altLang="en-US" sz="2400" i="0" dirty="0"/>
              <a:t>0      1     2     3     4     5     6</a:t>
            </a:r>
          </a:p>
        </p:txBody>
      </p:sp>
      <p:grpSp>
        <p:nvGrpSpPr>
          <p:cNvPr id="72738" name="Group 34">
            <a:extLst>
              <a:ext uri="{FF2B5EF4-FFF2-40B4-BE49-F238E27FC236}">
                <a16:creationId xmlns:a16="http://schemas.microsoft.com/office/drawing/2014/main" id="{E7C2833F-28FC-42D4-B0D0-922441A98F69}"/>
              </a:ext>
            </a:extLst>
          </p:cNvPr>
          <p:cNvGrpSpPr>
            <a:grpSpLocks/>
          </p:cNvGrpSpPr>
          <p:nvPr/>
        </p:nvGrpSpPr>
        <p:grpSpPr bwMode="auto">
          <a:xfrm>
            <a:off x="6084168" y="4221088"/>
            <a:ext cx="2667000" cy="1795463"/>
            <a:chOff x="0" y="0"/>
            <a:chExt cx="1680" cy="1131"/>
          </a:xfrm>
        </p:grpSpPr>
        <p:sp>
          <p:nvSpPr>
            <p:cNvPr id="72739" name="Line 35">
              <a:extLst>
                <a:ext uri="{FF2B5EF4-FFF2-40B4-BE49-F238E27FC236}">
                  <a16:creationId xmlns:a16="http://schemas.microsoft.com/office/drawing/2014/main" id="{E9F3CA5C-9FF2-43DC-845D-052FFCAE877A}"/>
                </a:ext>
              </a:extLst>
            </p:cNvPr>
            <p:cNvSpPr>
              <a:spLocks noChangeShapeType="1"/>
            </p:cNvSpPr>
            <p:nvPr/>
          </p:nvSpPr>
          <p:spPr bwMode="auto">
            <a:xfrm>
              <a:off x="1080" y="171"/>
              <a:ext cx="360"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72740" name="Line 36">
              <a:extLst>
                <a:ext uri="{FF2B5EF4-FFF2-40B4-BE49-F238E27FC236}">
                  <a16:creationId xmlns:a16="http://schemas.microsoft.com/office/drawing/2014/main" id="{EAE35CDB-E876-412F-810A-E428328EA62D}"/>
                </a:ext>
              </a:extLst>
            </p:cNvPr>
            <p:cNvSpPr>
              <a:spLocks noChangeShapeType="1"/>
            </p:cNvSpPr>
            <p:nvPr/>
          </p:nvSpPr>
          <p:spPr bwMode="auto">
            <a:xfrm flipH="1">
              <a:off x="576" y="171"/>
              <a:ext cx="360" cy="336"/>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72741" name="Oval 37">
              <a:extLst>
                <a:ext uri="{FF2B5EF4-FFF2-40B4-BE49-F238E27FC236}">
                  <a16:creationId xmlns:a16="http://schemas.microsoft.com/office/drawing/2014/main" id="{B22C5822-450C-4C40-803E-D818D80994B9}"/>
                </a:ext>
              </a:extLst>
            </p:cNvPr>
            <p:cNvSpPr>
              <a:spLocks noChangeArrowheads="1"/>
            </p:cNvSpPr>
            <p:nvPr/>
          </p:nvSpPr>
          <p:spPr bwMode="auto">
            <a:xfrm>
              <a:off x="864" y="0"/>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A</a:t>
              </a:r>
            </a:p>
          </p:txBody>
        </p:sp>
        <p:sp>
          <p:nvSpPr>
            <p:cNvPr id="72742" name="Line 38">
              <a:extLst>
                <a:ext uri="{FF2B5EF4-FFF2-40B4-BE49-F238E27FC236}">
                  <a16:creationId xmlns:a16="http://schemas.microsoft.com/office/drawing/2014/main" id="{66C36A6F-C1F3-4653-B67D-5BEA83B6E1BB}"/>
                </a:ext>
              </a:extLst>
            </p:cNvPr>
            <p:cNvSpPr>
              <a:spLocks noChangeShapeType="1"/>
            </p:cNvSpPr>
            <p:nvPr/>
          </p:nvSpPr>
          <p:spPr bwMode="auto">
            <a:xfrm flipH="1">
              <a:off x="240" y="561"/>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72743" name="Oval 39">
              <a:extLst>
                <a:ext uri="{FF2B5EF4-FFF2-40B4-BE49-F238E27FC236}">
                  <a16:creationId xmlns:a16="http://schemas.microsoft.com/office/drawing/2014/main" id="{29A0CE6C-ECF3-475A-8FAD-F66CF326F880}"/>
                </a:ext>
              </a:extLst>
            </p:cNvPr>
            <p:cNvSpPr>
              <a:spLocks noChangeArrowheads="1"/>
            </p:cNvSpPr>
            <p:nvPr/>
          </p:nvSpPr>
          <p:spPr bwMode="auto">
            <a:xfrm>
              <a:off x="0" y="822"/>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E</a:t>
              </a:r>
            </a:p>
          </p:txBody>
        </p:sp>
        <p:sp>
          <p:nvSpPr>
            <p:cNvPr id="72744" name="Line 40">
              <a:extLst>
                <a:ext uri="{FF2B5EF4-FFF2-40B4-BE49-F238E27FC236}">
                  <a16:creationId xmlns:a16="http://schemas.microsoft.com/office/drawing/2014/main" id="{862A2561-D92F-4DC7-8D1E-D187FA6D5F89}"/>
                </a:ext>
              </a:extLst>
            </p:cNvPr>
            <p:cNvSpPr>
              <a:spLocks noChangeShapeType="1"/>
            </p:cNvSpPr>
            <p:nvPr/>
          </p:nvSpPr>
          <p:spPr bwMode="auto">
            <a:xfrm>
              <a:off x="528" y="582"/>
              <a:ext cx="216"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72745" name="Oval 41">
              <a:extLst>
                <a:ext uri="{FF2B5EF4-FFF2-40B4-BE49-F238E27FC236}">
                  <a16:creationId xmlns:a16="http://schemas.microsoft.com/office/drawing/2014/main" id="{AD4B26E3-C9F2-4511-97D7-D85ACBB9B89D}"/>
                </a:ext>
              </a:extLst>
            </p:cNvPr>
            <p:cNvSpPr>
              <a:spLocks noChangeArrowheads="1"/>
            </p:cNvSpPr>
            <p:nvPr/>
          </p:nvSpPr>
          <p:spPr bwMode="auto">
            <a:xfrm>
              <a:off x="336" y="41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B</a:t>
              </a:r>
            </a:p>
          </p:txBody>
        </p:sp>
        <p:sp>
          <p:nvSpPr>
            <p:cNvPr id="72746" name="Line 42">
              <a:extLst>
                <a:ext uri="{FF2B5EF4-FFF2-40B4-BE49-F238E27FC236}">
                  <a16:creationId xmlns:a16="http://schemas.microsoft.com/office/drawing/2014/main" id="{6199C224-5309-46B4-96E2-75E099C01E10}"/>
                </a:ext>
              </a:extLst>
            </p:cNvPr>
            <p:cNvSpPr>
              <a:spLocks noChangeShapeType="1"/>
            </p:cNvSpPr>
            <p:nvPr/>
          </p:nvSpPr>
          <p:spPr bwMode="auto">
            <a:xfrm flipH="1">
              <a:off x="1296" y="582"/>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72747" name="Oval 43">
              <a:extLst>
                <a:ext uri="{FF2B5EF4-FFF2-40B4-BE49-F238E27FC236}">
                  <a16:creationId xmlns:a16="http://schemas.microsoft.com/office/drawing/2014/main" id="{D89B71B0-5AD4-4576-B6CE-4B1D8C7EF7B3}"/>
                </a:ext>
              </a:extLst>
            </p:cNvPr>
            <p:cNvSpPr>
              <a:spLocks noChangeArrowheads="1"/>
            </p:cNvSpPr>
            <p:nvPr/>
          </p:nvSpPr>
          <p:spPr bwMode="auto">
            <a:xfrm>
              <a:off x="1056" y="84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G</a:t>
              </a:r>
            </a:p>
          </p:txBody>
        </p:sp>
        <p:sp>
          <p:nvSpPr>
            <p:cNvPr id="72748" name="Oval 44">
              <a:extLst>
                <a:ext uri="{FF2B5EF4-FFF2-40B4-BE49-F238E27FC236}">
                  <a16:creationId xmlns:a16="http://schemas.microsoft.com/office/drawing/2014/main" id="{3FE85B46-84CC-448D-BD89-DB2057AF31F1}"/>
                </a:ext>
              </a:extLst>
            </p:cNvPr>
            <p:cNvSpPr>
              <a:spLocks noChangeArrowheads="1"/>
            </p:cNvSpPr>
            <p:nvPr/>
          </p:nvSpPr>
          <p:spPr bwMode="auto">
            <a:xfrm>
              <a:off x="1392" y="41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D</a:t>
              </a:r>
            </a:p>
          </p:txBody>
        </p:sp>
        <p:sp>
          <p:nvSpPr>
            <p:cNvPr id="72749" name="Oval 45">
              <a:extLst>
                <a:ext uri="{FF2B5EF4-FFF2-40B4-BE49-F238E27FC236}">
                  <a16:creationId xmlns:a16="http://schemas.microsoft.com/office/drawing/2014/main" id="{DBA0BC4D-6007-4397-92AA-DADFFF801D0C}"/>
                </a:ext>
              </a:extLst>
            </p:cNvPr>
            <p:cNvSpPr>
              <a:spLocks noChangeArrowheads="1"/>
            </p:cNvSpPr>
            <p:nvPr/>
          </p:nvSpPr>
          <p:spPr bwMode="auto">
            <a:xfrm>
              <a:off x="648" y="84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F</a:t>
              </a:r>
            </a:p>
          </p:txBody>
        </p:sp>
        <p:sp>
          <p:nvSpPr>
            <p:cNvPr id="72750" name="Line 46">
              <a:extLst>
                <a:ext uri="{FF2B5EF4-FFF2-40B4-BE49-F238E27FC236}">
                  <a16:creationId xmlns:a16="http://schemas.microsoft.com/office/drawing/2014/main" id="{2A905992-32FD-4F81-8C46-D08EBFD3655A}"/>
                </a:ext>
              </a:extLst>
            </p:cNvPr>
            <p:cNvSpPr>
              <a:spLocks noChangeShapeType="1"/>
            </p:cNvSpPr>
            <p:nvPr/>
          </p:nvSpPr>
          <p:spPr bwMode="auto">
            <a:xfrm flipH="1">
              <a:off x="1008" y="276"/>
              <a:ext cx="0" cy="14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72751" name="Oval 47">
              <a:extLst>
                <a:ext uri="{FF2B5EF4-FFF2-40B4-BE49-F238E27FC236}">
                  <a16:creationId xmlns:a16="http://schemas.microsoft.com/office/drawing/2014/main" id="{587FAB21-FEF6-4F15-B871-B56275B202E3}"/>
                </a:ext>
              </a:extLst>
            </p:cNvPr>
            <p:cNvSpPr>
              <a:spLocks noChangeArrowheads="1"/>
            </p:cNvSpPr>
            <p:nvPr/>
          </p:nvSpPr>
          <p:spPr bwMode="auto">
            <a:xfrm>
              <a:off x="864" y="41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C</a:t>
              </a:r>
            </a:p>
          </p:txBody>
        </p:sp>
      </p:grpSp>
      <p:sp>
        <p:nvSpPr>
          <p:cNvPr id="2" name="对话气泡: 椭圆形 1">
            <a:extLst>
              <a:ext uri="{FF2B5EF4-FFF2-40B4-BE49-F238E27FC236}">
                <a16:creationId xmlns:a16="http://schemas.microsoft.com/office/drawing/2014/main" id="{B331A781-C8FE-4AA6-969B-6B85B0623081}"/>
              </a:ext>
            </a:extLst>
          </p:cNvPr>
          <p:cNvSpPr/>
          <p:nvPr/>
        </p:nvSpPr>
        <p:spPr bwMode="auto">
          <a:xfrm>
            <a:off x="3810000" y="440829"/>
            <a:ext cx="3112368" cy="1817727"/>
          </a:xfrm>
          <a:prstGeom prst="wedgeEllipseCallout">
            <a:avLst>
              <a:gd name="adj1" fmla="val -77250"/>
              <a:gd name="adj2" fmla="val 58552"/>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r>
              <a:rPr kumimoji="0" lang="zh-CN" altLang="en-US" sz="2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查找双亲方便，查找孩子需遍历数组</a:t>
            </a:r>
          </a:p>
        </p:txBody>
      </p:sp>
      <p:sp>
        <p:nvSpPr>
          <p:cNvPr id="3" name="文本框 2">
            <a:extLst>
              <a:ext uri="{FF2B5EF4-FFF2-40B4-BE49-F238E27FC236}">
                <a16:creationId xmlns:a16="http://schemas.microsoft.com/office/drawing/2014/main" id="{9FACC6E0-CDB1-0C1C-63AD-33D42BB18AB3}"/>
              </a:ext>
            </a:extLst>
          </p:cNvPr>
          <p:cNvSpPr txBox="1"/>
          <p:nvPr/>
        </p:nvSpPr>
        <p:spPr>
          <a:xfrm>
            <a:off x="827584" y="5085184"/>
            <a:ext cx="539552" cy="523220"/>
          </a:xfrm>
          <a:prstGeom prst="rect">
            <a:avLst/>
          </a:prstGeom>
          <a:noFill/>
        </p:spPr>
        <p:txBody>
          <a:bodyPr wrap="square" rtlCol="0">
            <a:spAutoFit/>
          </a:bodyPr>
          <a:lstStyle/>
          <a:p>
            <a:r>
              <a:rPr lang="en-US" altLang="zh-CN" sz="2800" b="0" i="0" dirty="0">
                <a:latin typeface="+mn-ea"/>
                <a:ea typeface="+mn-ea"/>
              </a:rPr>
              <a:t>-1</a:t>
            </a:r>
            <a:endParaRPr lang="zh-CN" altLang="en-US" sz="2800" b="0" i="0" dirty="0">
              <a:latin typeface="+mn-ea"/>
              <a:ea typeface="+mn-ea"/>
            </a:endParaRPr>
          </a:p>
        </p:txBody>
      </p:sp>
      <p:sp>
        <p:nvSpPr>
          <p:cNvPr id="4" name="文本框 3">
            <a:extLst>
              <a:ext uri="{FF2B5EF4-FFF2-40B4-BE49-F238E27FC236}">
                <a16:creationId xmlns:a16="http://schemas.microsoft.com/office/drawing/2014/main" id="{9EB5804D-171D-6C7E-2F52-E46B2477AF78}"/>
              </a:ext>
            </a:extLst>
          </p:cNvPr>
          <p:cNvSpPr txBox="1"/>
          <p:nvPr/>
        </p:nvSpPr>
        <p:spPr>
          <a:xfrm>
            <a:off x="1547664" y="5036131"/>
            <a:ext cx="539552" cy="523220"/>
          </a:xfrm>
          <a:prstGeom prst="rect">
            <a:avLst/>
          </a:prstGeom>
          <a:noFill/>
        </p:spPr>
        <p:txBody>
          <a:bodyPr wrap="square" rtlCol="0">
            <a:spAutoFit/>
          </a:bodyPr>
          <a:lstStyle/>
          <a:p>
            <a:r>
              <a:rPr lang="en-US" altLang="zh-CN" sz="2800" b="0" i="0" dirty="0">
                <a:latin typeface="+mn-ea"/>
                <a:ea typeface="+mn-ea"/>
              </a:rPr>
              <a:t>0</a:t>
            </a:r>
            <a:endParaRPr lang="zh-CN" altLang="en-US" sz="2800" b="0" i="0" dirty="0">
              <a:latin typeface="+mn-ea"/>
              <a:ea typeface="+mn-ea"/>
            </a:endParaRPr>
          </a:p>
        </p:txBody>
      </p:sp>
      <p:sp>
        <p:nvSpPr>
          <p:cNvPr id="5" name="文本框 4">
            <a:extLst>
              <a:ext uri="{FF2B5EF4-FFF2-40B4-BE49-F238E27FC236}">
                <a16:creationId xmlns:a16="http://schemas.microsoft.com/office/drawing/2014/main" id="{BAF2AD45-ACA2-22E6-9E3C-2F5CD193D082}"/>
              </a:ext>
            </a:extLst>
          </p:cNvPr>
          <p:cNvSpPr txBox="1"/>
          <p:nvPr/>
        </p:nvSpPr>
        <p:spPr>
          <a:xfrm>
            <a:off x="2232248" y="5013176"/>
            <a:ext cx="539552" cy="523220"/>
          </a:xfrm>
          <a:prstGeom prst="rect">
            <a:avLst/>
          </a:prstGeom>
          <a:noFill/>
        </p:spPr>
        <p:txBody>
          <a:bodyPr wrap="square" rtlCol="0">
            <a:spAutoFit/>
          </a:bodyPr>
          <a:lstStyle/>
          <a:p>
            <a:r>
              <a:rPr lang="en-US" altLang="zh-CN" sz="2800" b="0" i="0" dirty="0">
                <a:latin typeface="+mn-ea"/>
                <a:ea typeface="+mn-ea"/>
              </a:rPr>
              <a:t>0</a:t>
            </a:r>
            <a:endParaRPr lang="zh-CN" altLang="en-US" sz="2800" b="0" i="0" dirty="0">
              <a:latin typeface="+mn-ea"/>
              <a:ea typeface="+mn-ea"/>
            </a:endParaRPr>
          </a:p>
        </p:txBody>
      </p:sp>
      <p:sp>
        <p:nvSpPr>
          <p:cNvPr id="6" name="文本框 5">
            <a:extLst>
              <a:ext uri="{FF2B5EF4-FFF2-40B4-BE49-F238E27FC236}">
                <a16:creationId xmlns:a16="http://schemas.microsoft.com/office/drawing/2014/main" id="{F0A4DDD4-70B3-9172-7BFA-77D8B84BF02F}"/>
              </a:ext>
            </a:extLst>
          </p:cNvPr>
          <p:cNvSpPr txBox="1"/>
          <p:nvPr/>
        </p:nvSpPr>
        <p:spPr>
          <a:xfrm>
            <a:off x="2808312" y="5013176"/>
            <a:ext cx="539552" cy="523220"/>
          </a:xfrm>
          <a:prstGeom prst="rect">
            <a:avLst/>
          </a:prstGeom>
          <a:noFill/>
        </p:spPr>
        <p:txBody>
          <a:bodyPr wrap="square" rtlCol="0">
            <a:spAutoFit/>
          </a:bodyPr>
          <a:lstStyle/>
          <a:p>
            <a:r>
              <a:rPr lang="en-US" altLang="zh-CN" sz="2800" b="0" i="0" dirty="0">
                <a:latin typeface="+mn-ea"/>
                <a:ea typeface="+mn-ea"/>
              </a:rPr>
              <a:t>0</a:t>
            </a:r>
            <a:endParaRPr lang="zh-CN" altLang="en-US" sz="2800" b="0" i="0" dirty="0">
              <a:latin typeface="+mn-ea"/>
              <a:ea typeface="+mn-ea"/>
            </a:endParaRPr>
          </a:p>
        </p:txBody>
      </p:sp>
      <p:sp>
        <p:nvSpPr>
          <p:cNvPr id="7" name="文本框 6">
            <a:extLst>
              <a:ext uri="{FF2B5EF4-FFF2-40B4-BE49-F238E27FC236}">
                <a16:creationId xmlns:a16="http://schemas.microsoft.com/office/drawing/2014/main" id="{C5231287-6A60-1465-9020-EF9DEF3C7945}"/>
              </a:ext>
            </a:extLst>
          </p:cNvPr>
          <p:cNvSpPr txBox="1"/>
          <p:nvPr/>
        </p:nvSpPr>
        <p:spPr>
          <a:xfrm>
            <a:off x="3528392" y="5013176"/>
            <a:ext cx="539552" cy="523220"/>
          </a:xfrm>
          <a:prstGeom prst="rect">
            <a:avLst/>
          </a:prstGeom>
          <a:noFill/>
        </p:spPr>
        <p:txBody>
          <a:bodyPr wrap="square" rtlCol="0">
            <a:spAutoFit/>
          </a:bodyPr>
          <a:lstStyle/>
          <a:p>
            <a:r>
              <a:rPr lang="en-US" altLang="zh-CN" sz="2800" b="0" i="0" dirty="0">
                <a:latin typeface="+mn-ea"/>
                <a:ea typeface="+mn-ea"/>
              </a:rPr>
              <a:t>1</a:t>
            </a:r>
            <a:endParaRPr lang="zh-CN" altLang="en-US" sz="2800" b="0" i="0" dirty="0">
              <a:latin typeface="+mn-ea"/>
              <a:ea typeface="+mn-ea"/>
            </a:endParaRPr>
          </a:p>
        </p:txBody>
      </p:sp>
      <p:sp>
        <p:nvSpPr>
          <p:cNvPr id="8" name="文本框 7">
            <a:extLst>
              <a:ext uri="{FF2B5EF4-FFF2-40B4-BE49-F238E27FC236}">
                <a16:creationId xmlns:a16="http://schemas.microsoft.com/office/drawing/2014/main" id="{D4DA9D6E-96F5-A681-6223-904F35A12E55}"/>
              </a:ext>
            </a:extLst>
          </p:cNvPr>
          <p:cNvSpPr txBox="1"/>
          <p:nvPr/>
        </p:nvSpPr>
        <p:spPr>
          <a:xfrm>
            <a:off x="4176464" y="5013176"/>
            <a:ext cx="539552" cy="523220"/>
          </a:xfrm>
          <a:prstGeom prst="rect">
            <a:avLst/>
          </a:prstGeom>
          <a:noFill/>
        </p:spPr>
        <p:txBody>
          <a:bodyPr wrap="square" rtlCol="0">
            <a:spAutoFit/>
          </a:bodyPr>
          <a:lstStyle/>
          <a:p>
            <a:r>
              <a:rPr lang="en-US" altLang="zh-CN" sz="2800" b="0" i="0" dirty="0">
                <a:latin typeface="+mn-ea"/>
                <a:ea typeface="+mn-ea"/>
              </a:rPr>
              <a:t>1</a:t>
            </a:r>
            <a:endParaRPr lang="zh-CN" altLang="en-US" sz="2800" b="0" i="0" dirty="0">
              <a:latin typeface="+mn-ea"/>
              <a:ea typeface="+mn-ea"/>
            </a:endParaRPr>
          </a:p>
        </p:txBody>
      </p:sp>
      <p:sp>
        <p:nvSpPr>
          <p:cNvPr id="9" name="文本框 8">
            <a:extLst>
              <a:ext uri="{FF2B5EF4-FFF2-40B4-BE49-F238E27FC236}">
                <a16:creationId xmlns:a16="http://schemas.microsoft.com/office/drawing/2014/main" id="{D8651167-39FB-F4D9-CC9D-6AEC15184F03}"/>
              </a:ext>
            </a:extLst>
          </p:cNvPr>
          <p:cNvSpPr txBox="1"/>
          <p:nvPr/>
        </p:nvSpPr>
        <p:spPr>
          <a:xfrm>
            <a:off x="4860032" y="5013176"/>
            <a:ext cx="539552" cy="523220"/>
          </a:xfrm>
          <a:prstGeom prst="rect">
            <a:avLst/>
          </a:prstGeom>
          <a:noFill/>
        </p:spPr>
        <p:txBody>
          <a:bodyPr wrap="square" rtlCol="0">
            <a:spAutoFit/>
          </a:bodyPr>
          <a:lstStyle/>
          <a:p>
            <a:r>
              <a:rPr lang="en-US" altLang="zh-CN" sz="2800" b="0" i="0" dirty="0">
                <a:latin typeface="+mn-ea"/>
                <a:ea typeface="+mn-ea"/>
              </a:rPr>
              <a:t>3</a:t>
            </a:r>
            <a:endParaRPr lang="zh-CN" altLang="en-US" sz="2800" b="0" i="0" dirty="0">
              <a:latin typeface="+mn-ea"/>
              <a:ea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270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270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273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530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273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37" grpId="0"/>
      <p:bldP spid="2" grpId="0" animBg="1"/>
      <p:bldP spid="3" grpId="0"/>
      <p:bldP spid="4" grpId="0"/>
      <p:bldP spid="5" grpId="0"/>
      <p:bldP spid="6" grpId="0"/>
      <p:bldP spid="7" grpId="0"/>
      <p:bldP spid="8" grpId="0"/>
      <p:bldP spid="9"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3" name="Rectangle 5">
            <a:extLst>
              <a:ext uri="{FF2B5EF4-FFF2-40B4-BE49-F238E27FC236}">
                <a16:creationId xmlns:a16="http://schemas.microsoft.com/office/drawing/2014/main" id="{7FE114BA-88C5-4058-B0C6-206876E93BFD}"/>
              </a:ext>
            </a:extLst>
          </p:cNvPr>
          <p:cNvSpPr>
            <a:spLocks noGrp="1" noChangeArrowheads="1"/>
          </p:cNvSpPr>
          <p:nvPr>
            <p:ph type="body" idx="1"/>
          </p:nvPr>
        </p:nvSpPr>
        <p:spPr>
          <a:xfrm>
            <a:off x="572619" y="1319220"/>
            <a:ext cx="8763000" cy="3288506"/>
          </a:xfrm>
        </p:spPr>
        <p:txBody>
          <a:bodyPr/>
          <a:lstStyle/>
          <a:p>
            <a:pPr eaLnBrk="1" hangingPunct="1">
              <a:spcBef>
                <a:spcPct val="30000"/>
              </a:spcBef>
              <a:buFont typeface="Wingdings" panose="05000000000000000000" pitchFamily="2" charset="2"/>
              <a:buNone/>
            </a:pPr>
            <a:r>
              <a:rPr lang="en-US" altLang="zh-CN" b="1" dirty="0">
                <a:latin typeface="黑体" panose="02010609060101010101" pitchFamily="49" charset="-122"/>
                <a:ea typeface="黑体" panose="02010609060101010101" pitchFamily="49" charset="-122"/>
              </a:rPr>
              <a:t>2.</a:t>
            </a:r>
            <a:r>
              <a:rPr lang="zh-CN" altLang="en-US" b="1" dirty="0">
                <a:latin typeface="黑体" panose="02010609060101010101" pitchFamily="49" charset="-122"/>
                <a:ea typeface="黑体" panose="02010609060101010101" pitchFamily="49" charset="-122"/>
              </a:rPr>
              <a:t>孩子表示法</a:t>
            </a:r>
          </a:p>
          <a:p>
            <a:pPr eaLnBrk="1" hangingPunct="1">
              <a:spcBef>
                <a:spcPct val="30000"/>
              </a:spcBef>
            </a:pPr>
            <a:r>
              <a:rPr lang="zh-CN" altLang="en-US" dirty="0">
                <a:latin typeface="黑体" panose="02010609060101010101" pitchFamily="49" charset="-122"/>
                <a:ea typeface="黑体" panose="02010609060101010101" pitchFamily="49" charset="-122"/>
              </a:rPr>
              <a:t>可以采用多重链表，即每个结点有多个指针</a:t>
            </a:r>
          </a:p>
          <a:p>
            <a:pPr eaLnBrk="1" hangingPunct="1">
              <a:spcBef>
                <a:spcPct val="30000"/>
              </a:spcBef>
            </a:pPr>
            <a:endParaRPr lang="en-US" altLang="zh-CN" b="1" dirty="0">
              <a:latin typeface="黑体" panose="02010609060101010101" pitchFamily="49" charset="-122"/>
              <a:ea typeface="黑体" panose="02010609060101010101" pitchFamily="49" charset="-122"/>
            </a:endParaRPr>
          </a:p>
          <a:p>
            <a:pPr eaLnBrk="1" hangingPunct="1">
              <a:spcBef>
                <a:spcPct val="30000"/>
              </a:spcBef>
            </a:pPr>
            <a:endParaRPr lang="en-US" altLang="zh-CN" b="1" dirty="0">
              <a:latin typeface="黑体" panose="02010609060101010101" pitchFamily="49" charset="-122"/>
              <a:ea typeface="黑体" panose="02010609060101010101" pitchFamily="49" charset="-122"/>
            </a:endParaRPr>
          </a:p>
          <a:p>
            <a:pPr eaLnBrk="1" hangingPunct="1">
              <a:spcBef>
                <a:spcPct val="30000"/>
              </a:spcBef>
            </a:pPr>
            <a:r>
              <a:rPr lang="zh-CN" altLang="en-US" dirty="0">
                <a:latin typeface="黑体" panose="02010609060101010101" pitchFamily="49" charset="-122"/>
                <a:ea typeface="黑体" panose="02010609060101010101" pitchFamily="49" charset="-122"/>
              </a:rPr>
              <a:t>最大缺点是空链域太多</a:t>
            </a:r>
          </a:p>
          <a:p>
            <a:pPr eaLnBrk="1" hangingPunct="1">
              <a:spcBef>
                <a:spcPct val="30000"/>
              </a:spcBef>
              <a:buFont typeface="Wingdings" panose="05000000000000000000" pitchFamily="2" charset="2"/>
              <a:buNone/>
            </a:pPr>
            <a:r>
              <a:rPr lang="zh-CN" altLang="en-US" b="1" dirty="0">
                <a:latin typeface="黑体" panose="02010609060101010101" pitchFamily="49" charset="-122"/>
                <a:ea typeface="黑体" panose="02010609060101010101" pitchFamily="49" charset="-122"/>
              </a:rPr>
              <a:t>　 (</a:t>
            </a:r>
            <a:r>
              <a:rPr lang="en-US" altLang="zh-CN" b="1" dirty="0">
                <a:latin typeface="黑体" panose="02010609060101010101" pitchFamily="49" charset="-122"/>
                <a:ea typeface="黑体" panose="02010609060101010101" pitchFamily="49" charset="-122"/>
              </a:rPr>
              <a:t>d-1)n+1</a:t>
            </a:r>
            <a:r>
              <a:rPr lang="zh-CN" altLang="en-US" b="1" dirty="0">
                <a:latin typeface="黑体" panose="02010609060101010101" pitchFamily="49" charset="-122"/>
                <a:ea typeface="黑体" panose="02010609060101010101" pitchFamily="49" charset="-122"/>
              </a:rPr>
              <a:t>个</a:t>
            </a:r>
          </a:p>
        </p:txBody>
      </p:sp>
      <p:grpSp>
        <p:nvGrpSpPr>
          <p:cNvPr id="73735" name="Group 7">
            <a:extLst>
              <a:ext uri="{FF2B5EF4-FFF2-40B4-BE49-F238E27FC236}">
                <a16:creationId xmlns:a16="http://schemas.microsoft.com/office/drawing/2014/main" id="{07897082-29D7-45B5-8846-949E6F342343}"/>
              </a:ext>
            </a:extLst>
          </p:cNvPr>
          <p:cNvGrpSpPr>
            <a:grpSpLocks/>
          </p:cNvGrpSpPr>
          <p:nvPr/>
        </p:nvGrpSpPr>
        <p:grpSpPr bwMode="auto">
          <a:xfrm>
            <a:off x="5904381" y="4531526"/>
            <a:ext cx="2667000" cy="1795463"/>
            <a:chOff x="0" y="0"/>
            <a:chExt cx="1680" cy="1131"/>
          </a:xfrm>
        </p:grpSpPr>
        <p:sp>
          <p:nvSpPr>
            <p:cNvPr id="73748" name="Line 8">
              <a:extLst>
                <a:ext uri="{FF2B5EF4-FFF2-40B4-BE49-F238E27FC236}">
                  <a16:creationId xmlns:a16="http://schemas.microsoft.com/office/drawing/2014/main" id="{152A9630-AAE4-4AD0-8722-8E9BE8BFC775}"/>
                </a:ext>
              </a:extLst>
            </p:cNvPr>
            <p:cNvSpPr>
              <a:spLocks noChangeShapeType="1"/>
            </p:cNvSpPr>
            <p:nvPr/>
          </p:nvSpPr>
          <p:spPr bwMode="auto">
            <a:xfrm>
              <a:off x="1080" y="171"/>
              <a:ext cx="360"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73749" name="Line 9">
              <a:extLst>
                <a:ext uri="{FF2B5EF4-FFF2-40B4-BE49-F238E27FC236}">
                  <a16:creationId xmlns:a16="http://schemas.microsoft.com/office/drawing/2014/main" id="{E7DC6F43-EFA2-4666-8E70-569B12043B3C}"/>
                </a:ext>
              </a:extLst>
            </p:cNvPr>
            <p:cNvSpPr>
              <a:spLocks noChangeShapeType="1"/>
            </p:cNvSpPr>
            <p:nvPr/>
          </p:nvSpPr>
          <p:spPr bwMode="auto">
            <a:xfrm flipH="1">
              <a:off x="576" y="171"/>
              <a:ext cx="360" cy="336"/>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73750" name="Oval 10">
              <a:extLst>
                <a:ext uri="{FF2B5EF4-FFF2-40B4-BE49-F238E27FC236}">
                  <a16:creationId xmlns:a16="http://schemas.microsoft.com/office/drawing/2014/main" id="{616F9053-439F-4CAA-8669-26A4D7DB7B75}"/>
                </a:ext>
              </a:extLst>
            </p:cNvPr>
            <p:cNvSpPr>
              <a:spLocks noChangeArrowheads="1"/>
            </p:cNvSpPr>
            <p:nvPr/>
          </p:nvSpPr>
          <p:spPr bwMode="auto">
            <a:xfrm>
              <a:off x="864" y="0"/>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A</a:t>
              </a:r>
            </a:p>
          </p:txBody>
        </p:sp>
        <p:sp>
          <p:nvSpPr>
            <p:cNvPr id="73751" name="Line 11">
              <a:extLst>
                <a:ext uri="{FF2B5EF4-FFF2-40B4-BE49-F238E27FC236}">
                  <a16:creationId xmlns:a16="http://schemas.microsoft.com/office/drawing/2014/main" id="{D09B9FC4-4E9E-426F-BE18-352070DFD9C9}"/>
                </a:ext>
              </a:extLst>
            </p:cNvPr>
            <p:cNvSpPr>
              <a:spLocks noChangeShapeType="1"/>
            </p:cNvSpPr>
            <p:nvPr/>
          </p:nvSpPr>
          <p:spPr bwMode="auto">
            <a:xfrm flipH="1">
              <a:off x="240" y="561"/>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73752" name="Oval 12">
              <a:extLst>
                <a:ext uri="{FF2B5EF4-FFF2-40B4-BE49-F238E27FC236}">
                  <a16:creationId xmlns:a16="http://schemas.microsoft.com/office/drawing/2014/main" id="{6563AFE0-14A2-41A9-8988-9BC3C879D3E4}"/>
                </a:ext>
              </a:extLst>
            </p:cNvPr>
            <p:cNvSpPr>
              <a:spLocks noChangeArrowheads="1"/>
            </p:cNvSpPr>
            <p:nvPr/>
          </p:nvSpPr>
          <p:spPr bwMode="auto">
            <a:xfrm>
              <a:off x="0" y="822"/>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E</a:t>
              </a:r>
            </a:p>
          </p:txBody>
        </p:sp>
        <p:sp>
          <p:nvSpPr>
            <p:cNvPr id="73753" name="Line 13">
              <a:extLst>
                <a:ext uri="{FF2B5EF4-FFF2-40B4-BE49-F238E27FC236}">
                  <a16:creationId xmlns:a16="http://schemas.microsoft.com/office/drawing/2014/main" id="{0B9D01F1-D815-4216-B5EA-B876D7660D7C}"/>
                </a:ext>
              </a:extLst>
            </p:cNvPr>
            <p:cNvSpPr>
              <a:spLocks noChangeShapeType="1"/>
            </p:cNvSpPr>
            <p:nvPr/>
          </p:nvSpPr>
          <p:spPr bwMode="auto">
            <a:xfrm>
              <a:off x="528" y="582"/>
              <a:ext cx="216"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73754" name="Oval 14">
              <a:extLst>
                <a:ext uri="{FF2B5EF4-FFF2-40B4-BE49-F238E27FC236}">
                  <a16:creationId xmlns:a16="http://schemas.microsoft.com/office/drawing/2014/main" id="{3A15AE92-59FC-45CC-B478-99218AEBA08D}"/>
                </a:ext>
              </a:extLst>
            </p:cNvPr>
            <p:cNvSpPr>
              <a:spLocks noChangeArrowheads="1"/>
            </p:cNvSpPr>
            <p:nvPr/>
          </p:nvSpPr>
          <p:spPr bwMode="auto">
            <a:xfrm>
              <a:off x="336" y="41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B</a:t>
              </a:r>
            </a:p>
          </p:txBody>
        </p:sp>
        <p:sp>
          <p:nvSpPr>
            <p:cNvPr id="73755" name="Line 15">
              <a:extLst>
                <a:ext uri="{FF2B5EF4-FFF2-40B4-BE49-F238E27FC236}">
                  <a16:creationId xmlns:a16="http://schemas.microsoft.com/office/drawing/2014/main" id="{7DB65A53-C0DB-4823-9C54-93082C395D01}"/>
                </a:ext>
              </a:extLst>
            </p:cNvPr>
            <p:cNvSpPr>
              <a:spLocks noChangeShapeType="1"/>
            </p:cNvSpPr>
            <p:nvPr/>
          </p:nvSpPr>
          <p:spPr bwMode="auto">
            <a:xfrm flipH="1">
              <a:off x="1296" y="582"/>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73756" name="Oval 16">
              <a:extLst>
                <a:ext uri="{FF2B5EF4-FFF2-40B4-BE49-F238E27FC236}">
                  <a16:creationId xmlns:a16="http://schemas.microsoft.com/office/drawing/2014/main" id="{407F22A6-FDE8-48AE-858F-889349B27D2E}"/>
                </a:ext>
              </a:extLst>
            </p:cNvPr>
            <p:cNvSpPr>
              <a:spLocks noChangeArrowheads="1"/>
            </p:cNvSpPr>
            <p:nvPr/>
          </p:nvSpPr>
          <p:spPr bwMode="auto">
            <a:xfrm>
              <a:off x="1056" y="84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G</a:t>
              </a:r>
            </a:p>
          </p:txBody>
        </p:sp>
        <p:sp>
          <p:nvSpPr>
            <p:cNvPr id="73757" name="Oval 17">
              <a:extLst>
                <a:ext uri="{FF2B5EF4-FFF2-40B4-BE49-F238E27FC236}">
                  <a16:creationId xmlns:a16="http://schemas.microsoft.com/office/drawing/2014/main" id="{3C676A33-E41F-431C-ADF7-E03A3A8FEFAB}"/>
                </a:ext>
              </a:extLst>
            </p:cNvPr>
            <p:cNvSpPr>
              <a:spLocks noChangeArrowheads="1"/>
            </p:cNvSpPr>
            <p:nvPr/>
          </p:nvSpPr>
          <p:spPr bwMode="auto">
            <a:xfrm>
              <a:off x="1392" y="41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D</a:t>
              </a:r>
            </a:p>
          </p:txBody>
        </p:sp>
        <p:sp>
          <p:nvSpPr>
            <p:cNvPr id="73758" name="Oval 18">
              <a:extLst>
                <a:ext uri="{FF2B5EF4-FFF2-40B4-BE49-F238E27FC236}">
                  <a16:creationId xmlns:a16="http://schemas.microsoft.com/office/drawing/2014/main" id="{B335650D-5C20-420D-9C63-F3A9CD4358C4}"/>
                </a:ext>
              </a:extLst>
            </p:cNvPr>
            <p:cNvSpPr>
              <a:spLocks noChangeArrowheads="1"/>
            </p:cNvSpPr>
            <p:nvPr/>
          </p:nvSpPr>
          <p:spPr bwMode="auto">
            <a:xfrm>
              <a:off x="648" y="84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F</a:t>
              </a:r>
            </a:p>
          </p:txBody>
        </p:sp>
        <p:sp>
          <p:nvSpPr>
            <p:cNvPr id="73759" name="Line 19">
              <a:extLst>
                <a:ext uri="{FF2B5EF4-FFF2-40B4-BE49-F238E27FC236}">
                  <a16:creationId xmlns:a16="http://schemas.microsoft.com/office/drawing/2014/main" id="{1F36DB14-A41C-420D-88FB-A75D4AAB3812}"/>
                </a:ext>
              </a:extLst>
            </p:cNvPr>
            <p:cNvSpPr>
              <a:spLocks noChangeShapeType="1"/>
            </p:cNvSpPr>
            <p:nvPr/>
          </p:nvSpPr>
          <p:spPr bwMode="auto">
            <a:xfrm flipH="1">
              <a:off x="1008" y="276"/>
              <a:ext cx="0" cy="14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73760" name="Oval 20">
              <a:extLst>
                <a:ext uri="{FF2B5EF4-FFF2-40B4-BE49-F238E27FC236}">
                  <a16:creationId xmlns:a16="http://schemas.microsoft.com/office/drawing/2014/main" id="{9B18028D-DE4A-4BB3-B85B-7F742CFE77A8}"/>
                </a:ext>
              </a:extLst>
            </p:cNvPr>
            <p:cNvSpPr>
              <a:spLocks noChangeArrowheads="1"/>
            </p:cNvSpPr>
            <p:nvPr/>
          </p:nvSpPr>
          <p:spPr bwMode="auto">
            <a:xfrm>
              <a:off x="864" y="41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C</a:t>
              </a:r>
            </a:p>
          </p:txBody>
        </p:sp>
      </p:grpSp>
      <p:grpSp>
        <p:nvGrpSpPr>
          <p:cNvPr id="73736" name="Group 21">
            <a:extLst>
              <a:ext uri="{FF2B5EF4-FFF2-40B4-BE49-F238E27FC236}">
                <a16:creationId xmlns:a16="http://schemas.microsoft.com/office/drawing/2014/main" id="{C5619001-582F-407C-BD5F-AA81C807EDE6}"/>
              </a:ext>
            </a:extLst>
          </p:cNvPr>
          <p:cNvGrpSpPr>
            <a:grpSpLocks/>
          </p:cNvGrpSpPr>
          <p:nvPr/>
        </p:nvGrpSpPr>
        <p:grpSpPr bwMode="auto">
          <a:xfrm>
            <a:off x="1560981" y="2772062"/>
            <a:ext cx="6172200" cy="538163"/>
            <a:chOff x="0" y="0"/>
            <a:chExt cx="3888" cy="339"/>
          </a:xfrm>
        </p:grpSpPr>
        <p:sp>
          <p:nvSpPr>
            <p:cNvPr id="73737" name="Rectangle 22">
              <a:extLst>
                <a:ext uri="{FF2B5EF4-FFF2-40B4-BE49-F238E27FC236}">
                  <a16:creationId xmlns:a16="http://schemas.microsoft.com/office/drawing/2014/main" id="{0F902253-FAAD-4C7F-8159-DEB7E68ED669}"/>
                </a:ext>
              </a:extLst>
            </p:cNvPr>
            <p:cNvSpPr>
              <a:spLocks noChangeArrowheads="1"/>
            </p:cNvSpPr>
            <p:nvPr/>
          </p:nvSpPr>
          <p:spPr bwMode="auto">
            <a:xfrm>
              <a:off x="0" y="0"/>
              <a:ext cx="3888" cy="336"/>
            </a:xfrm>
            <a:prstGeom prst="rect">
              <a:avLst/>
            </a:prstGeom>
            <a:solidFill>
              <a:srgbClr val="FFFFCC"/>
            </a:solidFill>
            <a:ln w="19050">
              <a:solidFill>
                <a:srgbClr val="FF0000"/>
              </a:solidFill>
              <a:miter lim="800000"/>
              <a:headEnd/>
              <a:tailEnd/>
            </a:ln>
            <a:effectLst>
              <a:outerShdw dist="107763"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400" b="1" i="0">
                  <a:latin typeface="Times New Roman" panose="02020603050405020304" pitchFamily="18" charset="0"/>
                  <a:ea typeface="黑体" panose="02010609060101010101" pitchFamily="49" charset="-122"/>
                </a:rPr>
                <a:t> </a:t>
              </a:r>
              <a:r>
                <a:rPr lang="en-US" altLang="zh-CN" sz="2400" b="1" i="0">
                  <a:latin typeface="Times New Roman" panose="02020603050405020304" pitchFamily="18" charset="0"/>
                  <a:ea typeface="黑体" panose="02010609060101010101" pitchFamily="49" charset="-122"/>
                </a:rPr>
                <a:t>data </a:t>
              </a:r>
            </a:p>
          </p:txBody>
        </p:sp>
        <p:sp>
          <p:nvSpPr>
            <p:cNvPr id="73738" name="Text Box 23">
              <a:extLst>
                <a:ext uri="{FF2B5EF4-FFF2-40B4-BE49-F238E27FC236}">
                  <a16:creationId xmlns:a16="http://schemas.microsoft.com/office/drawing/2014/main" id="{46ED3CEE-2623-4118-8EAC-4061D15821AC}"/>
                </a:ext>
              </a:extLst>
            </p:cNvPr>
            <p:cNvSpPr txBox="1">
              <a:spLocks noChangeArrowheads="1"/>
            </p:cNvSpPr>
            <p:nvPr/>
          </p:nvSpPr>
          <p:spPr bwMode="auto">
            <a:xfrm>
              <a:off x="576" y="48"/>
              <a:ext cx="59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2400" b="1" i="0">
                  <a:latin typeface="Times New Roman" panose="02020603050405020304" pitchFamily="18" charset="0"/>
                  <a:ea typeface="黑体" panose="02010609060101010101" pitchFamily="49" charset="-122"/>
                </a:rPr>
                <a:t>child</a:t>
              </a:r>
              <a:r>
                <a:rPr lang="en-US" altLang="zh-CN" sz="2400" b="1" i="0" baseline="-25000">
                  <a:latin typeface="Times New Roman" panose="02020603050405020304" pitchFamily="18" charset="0"/>
                  <a:ea typeface="黑体" panose="02010609060101010101" pitchFamily="49" charset="-122"/>
                </a:rPr>
                <a:t>1</a:t>
              </a:r>
              <a:endParaRPr lang="en-US" altLang="zh-CN" sz="2400" i="0">
                <a:latin typeface="Arial" panose="020B0604020202020204" pitchFamily="34" charset="0"/>
                <a:ea typeface="黑体" panose="02010609060101010101" pitchFamily="49" charset="-122"/>
              </a:endParaRPr>
            </a:p>
          </p:txBody>
        </p:sp>
        <p:sp>
          <p:nvSpPr>
            <p:cNvPr id="73739" name="Line 24">
              <a:extLst>
                <a:ext uri="{FF2B5EF4-FFF2-40B4-BE49-F238E27FC236}">
                  <a16:creationId xmlns:a16="http://schemas.microsoft.com/office/drawing/2014/main" id="{D01E9192-7BF2-40FB-AAE5-61C617B08D12}"/>
                </a:ext>
              </a:extLst>
            </p:cNvPr>
            <p:cNvSpPr>
              <a:spLocks noChangeShapeType="1"/>
            </p:cNvSpPr>
            <p:nvPr/>
          </p:nvSpPr>
          <p:spPr bwMode="auto">
            <a:xfrm>
              <a:off x="576" y="0"/>
              <a:ext cx="0" cy="336"/>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3740" name="Line 25">
              <a:extLst>
                <a:ext uri="{FF2B5EF4-FFF2-40B4-BE49-F238E27FC236}">
                  <a16:creationId xmlns:a16="http://schemas.microsoft.com/office/drawing/2014/main" id="{C516991A-0BE1-4AEF-966C-65C16EC222FC}"/>
                </a:ext>
              </a:extLst>
            </p:cNvPr>
            <p:cNvSpPr>
              <a:spLocks noChangeShapeType="1"/>
            </p:cNvSpPr>
            <p:nvPr/>
          </p:nvSpPr>
          <p:spPr bwMode="auto">
            <a:xfrm>
              <a:off x="1200" y="0"/>
              <a:ext cx="0" cy="336"/>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3741" name="Line 26">
              <a:extLst>
                <a:ext uri="{FF2B5EF4-FFF2-40B4-BE49-F238E27FC236}">
                  <a16:creationId xmlns:a16="http://schemas.microsoft.com/office/drawing/2014/main" id="{C6FEB979-325D-475F-9677-2D32F7E852EB}"/>
                </a:ext>
              </a:extLst>
            </p:cNvPr>
            <p:cNvSpPr>
              <a:spLocks noChangeShapeType="1"/>
            </p:cNvSpPr>
            <p:nvPr/>
          </p:nvSpPr>
          <p:spPr bwMode="auto">
            <a:xfrm>
              <a:off x="3216" y="0"/>
              <a:ext cx="0" cy="336"/>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3742" name="Text Box 27">
              <a:extLst>
                <a:ext uri="{FF2B5EF4-FFF2-40B4-BE49-F238E27FC236}">
                  <a16:creationId xmlns:a16="http://schemas.microsoft.com/office/drawing/2014/main" id="{EA1BB96E-AA31-4DA0-A998-A9E19BFB5A3B}"/>
                </a:ext>
              </a:extLst>
            </p:cNvPr>
            <p:cNvSpPr txBox="1">
              <a:spLocks noChangeArrowheads="1"/>
            </p:cNvSpPr>
            <p:nvPr/>
          </p:nvSpPr>
          <p:spPr bwMode="auto">
            <a:xfrm>
              <a:off x="1248" y="48"/>
              <a:ext cx="58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2400" b="1" i="0">
                  <a:latin typeface="Times New Roman" panose="02020603050405020304" pitchFamily="18" charset="0"/>
                  <a:ea typeface="黑体" panose="02010609060101010101" pitchFamily="49" charset="-122"/>
                </a:rPr>
                <a:t>child</a:t>
              </a:r>
              <a:r>
                <a:rPr lang="en-US" altLang="zh-CN" sz="2400" b="1" i="0" baseline="-25000">
                  <a:latin typeface="Times New Roman" panose="02020603050405020304" pitchFamily="18" charset="0"/>
                  <a:ea typeface="黑体" panose="02010609060101010101" pitchFamily="49" charset="-122"/>
                </a:rPr>
                <a:t>2</a:t>
              </a:r>
              <a:endParaRPr lang="en-US" altLang="zh-CN" sz="2400" i="0">
                <a:latin typeface="Arial" panose="020B0604020202020204" pitchFamily="34" charset="0"/>
                <a:ea typeface="黑体" panose="02010609060101010101" pitchFamily="49" charset="-122"/>
              </a:endParaRPr>
            </a:p>
          </p:txBody>
        </p:sp>
        <p:sp>
          <p:nvSpPr>
            <p:cNvPr id="73743" name="Text Box 28">
              <a:extLst>
                <a:ext uri="{FF2B5EF4-FFF2-40B4-BE49-F238E27FC236}">
                  <a16:creationId xmlns:a16="http://schemas.microsoft.com/office/drawing/2014/main" id="{EC98AA14-F560-450E-9D22-44FC1C6B9B76}"/>
                </a:ext>
              </a:extLst>
            </p:cNvPr>
            <p:cNvSpPr txBox="1">
              <a:spLocks noChangeArrowheads="1"/>
            </p:cNvSpPr>
            <p:nvPr/>
          </p:nvSpPr>
          <p:spPr bwMode="auto">
            <a:xfrm>
              <a:off x="1872" y="48"/>
              <a:ext cx="58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2400" b="1" i="0">
                  <a:latin typeface="Times New Roman" panose="02020603050405020304" pitchFamily="18" charset="0"/>
                  <a:ea typeface="黑体" panose="02010609060101010101" pitchFamily="49" charset="-122"/>
                </a:rPr>
                <a:t>child</a:t>
              </a:r>
              <a:r>
                <a:rPr lang="en-US" altLang="zh-CN" sz="2400" b="1" i="0" baseline="-25000">
                  <a:latin typeface="Times New Roman" panose="02020603050405020304" pitchFamily="18" charset="0"/>
                  <a:ea typeface="黑体" panose="02010609060101010101" pitchFamily="49" charset="-122"/>
                </a:rPr>
                <a:t>3</a:t>
              </a:r>
              <a:endParaRPr lang="en-US" altLang="zh-CN" sz="2400" i="0">
                <a:latin typeface="Arial" panose="020B0604020202020204" pitchFamily="34" charset="0"/>
                <a:ea typeface="黑体" panose="02010609060101010101" pitchFamily="49" charset="-122"/>
              </a:endParaRPr>
            </a:p>
          </p:txBody>
        </p:sp>
        <p:sp>
          <p:nvSpPr>
            <p:cNvPr id="73744" name="Line 29">
              <a:extLst>
                <a:ext uri="{FF2B5EF4-FFF2-40B4-BE49-F238E27FC236}">
                  <a16:creationId xmlns:a16="http://schemas.microsoft.com/office/drawing/2014/main" id="{A61EB217-11CA-465E-852C-A8FD8CC1EC14}"/>
                </a:ext>
              </a:extLst>
            </p:cNvPr>
            <p:cNvSpPr>
              <a:spLocks noChangeShapeType="1"/>
            </p:cNvSpPr>
            <p:nvPr/>
          </p:nvSpPr>
          <p:spPr bwMode="auto">
            <a:xfrm>
              <a:off x="2640" y="210"/>
              <a:ext cx="420" cy="0"/>
            </a:xfrm>
            <a:prstGeom prst="line">
              <a:avLst/>
            </a:prstGeom>
            <a:noFill/>
            <a:ln w="762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3745" name="Text Box 30">
              <a:extLst>
                <a:ext uri="{FF2B5EF4-FFF2-40B4-BE49-F238E27FC236}">
                  <a16:creationId xmlns:a16="http://schemas.microsoft.com/office/drawing/2014/main" id="{FBCAFE00-9F86-430C-82DB-D52642B43A69}"/>
                </a:ext>
              </a:extLst>
            </p:cNvPr>
            <p:cNvSpPr txBox="1">
              <a:spLocks noChangeArrowheads="1"/>
            </p:cNvSpPr>
            <p:nvPr/>
          </p:nvSpPr>
          <p:spPr bwMode="auto">
            <a:xfrm>
              <a:off x="3264" y="48"/>
              <a:ext cx="59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2400" b="1" i="0">
                  <a:latin typeface="Times New Roman" panose="02020603050405020304" pitchFamily="18" charset="0"/>
                  <a:ea typeface="黑体" panose="02010609060101010101" pitchFamily="49" charset="-122"/>
                </a:rPr>
                <a:t>child</a:t>
              </a:r>
              <a:r>
                <a:rPr lang="en-US" altLang="zh-CN" sz="2400" b="1" i="0" baseline="-25000">
                  <a:latin typeface="Times New Roman" panose="02020603050405020304" pitchFamily="18" charset="0"/>
                  <a:ea typeface="黑体" panose="02010609060101010101" pitchFamily="49" charset="-122"/>
                </a:rPr>
                <a:t>d</a:t>
              </a:r>
              <a:endParaRPr lang="en-US" altLang="zh-CN" sz="2400" i="0">
                <a:latin typeface="Arial" panose="020B0604020202020204" pitchFamily="34" charset="0"/>
                <a:ea typeface="黑体" panose="02010609060101010101" pitchFamily="49" charset="-122"/>
              </a:endParaRPr>
            </a:p>
          </p:txBody>
        </p:sp>
        <p:sp>
          <p:nvSpPr>
            <p:cNvPr id="73746" name="Line 31">
              <a:extLst>
                <a:ext uri="{FF2B5EF4-FFF2-40B4-BE49-F238E27FC236}">
                  <a16:creationId xmlns:a16="http://schemas.microsoft.com/office/drawing/2014/main" id="{90F86C5C-64B4-4683-974D-26FF3B188A41}"/>
                </a:ext>
              </a:extLst>
            </p:cNvPr>
            <p:cNvSpPr>
              <a:spLocks noChangeShapeType="1"/>
            </p:cNvSpPr>
            <p:nvPr/>
          </p:nvSpPr>
          <p:spPr bwMode="auto">
            <a:xfrm>
              <a:off x="1824" y="0"/>
              <a:ext cx="0" cy="336"/>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3747" name="Line 32">
              <a:extLst>
                <a:ext uri="{FF2B5EF4-FFF2-40B4-BE49-F238E27FC236}">
                  <a16:creationId xmlns:a16="http://schemas.microsoft.com/office/drawing/2014/main" id="{7F6E982D-02E7-477D-9BAC-47BABB299040}"/>
                </a:ext>
              </a:extLst>
            </p:cNvPr>
            <p:cNvSpPr>
              <a:spLocks noChangeShapeType="1"/>
            </p:cNvSpPr>
            <p:nvPr/>
          </p:nvSpPr>
          <p:spPr bwMode="auto">
            <a:xfrm>
              <a:off x="2496" y="0"/>
              <a:ext cx="0" cy="336"/>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grpSp>
      <p:sp>
        <p:nvSpPr>
          <p:cNvPr id="2" name="Text Box 4">
            <a:extLst>
              <a:ext uri="{FF2B5EF4-FFF2-40B4-BE49-F238E27FC236}">
                <a16:creationId xmlns:a16="http://schemas.microsoft.com/office/drawing/2014/main" id="{C3FA129A-2176-4302-8E02-C25AA14CC17F}"/>
              </a:ext>
            </a:extLst>
          </p:cNvPr>
          <p:cNvSpPr txBox="1">
            <a:spLocks noChangeArrowheads="1"/>
          </p:cNvSpPr>
          <p:nvPr/>
        </p:nvSpPr>
        <p:spPr bwMode="auto">
          <a:xfrm>
            <a:off x="234504" y="111329"/>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树的存储结构</a:t>
            </a:r>
          </a:p>
        </p:txBody>
      </p:sp>
      <p:sp>
        <p:nvSpPr>
          <p:cNvPr id="31" name="对话气泡: 椭圆形 30">
            <a:extLst>
              <a:ext uri="{FF2B5EF4-FFF2-40B4-BE49-F238E27FC236}">
                <a16:creationId xmlns:a16="http://schemas.microsoft.com/office/drawing/2014/main" id="{EC5F2E8B-E334-4613-92B1-C70CCE348C36}"/>
              </a:ext>
            </a:extLst>
          </p:cNvPr>
          <p:cNvSpPr/>
          <p:nvPr/>
        </p:nvSpPr>
        <p:spPr bwMode="auto">
          <a:xfrm>
            <a:off x="3844919" y="1841767"/>
            <a:ext cx="4240929" cy="605909"/>
          </a:xfrm>
          <a:prstGeom prst="wedgeEllipseCallout">
            <a:avLst>
              <a:gd name="adj1" fmla="val 26151"/>
              <a:gd name="adj2" fmla="val 97097"/>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r>
              <a:rPr lang="en-US" altLang="zh-CN" sz="2800" i="0" dirty="0"/>
              <a:t>d</a:t>
            </a:r>
            <a:r>
              <a:rPr kumimoji="0" lang="en-US" altLang="zh-CN" sz="2800" b="1" i="0" u="none" strike="noStrike" cap="none" normalizeH="0" baseline="0" dirty="0">
                <a:ln>
                  <a:noFill/>
                </a:ln>
                <a:solidFill>
                  <a:schemeClr val="tx1"/>
                </a:solidFill>
                <a:effectLst/>
                <a:latin typeface="Times New Roman" pitchFamily="18" charset="0"/>
                <a:ea typeface="宋体" pitchFamily="2" charset="-122"/>
              </a:rPr>
              <a:t>:</a:t>
            </a:r>
            <a:r>
              <a:rPr kumimoji="0" lang="zh-CN" altLang="en-US" sz="2800" b="1" i="0" u="none" strike="noStrike" cap="none" normalizeH="0" baseline="0" dirty="0">
                <a:ln>
                  <a:noFill/>
                </a:ln>
                <a:solidFill>
                  <a:schemeClr val="tx1"/>
                </a:solidFill>
                <a:effectLst/>
                <a:latin typeface="Times New Roman" pitchFamily="18" charset="0"/>
                <a:ea typeface="宋体" pitchFamily="2" charset="-122"/>
              </a:rPr>
              <a:t>结点度的最大值</a:t>
            </a:r>
          </a:p>
        </p:txBody>
      </p:sp>
      <p:sp>
        <p:nvSpPr>
          <p:cNvPr id="4" name="文本框 3">
            <a:extLst>
              <a:ext uri="{FF2B5EF4-FFF2-40B4-BE49-F238E27FC236}">
                <a16:creationId xmlns:a16="http://schemas.microsoft.com/office/drawing/2014/main" id="{FAB27E14-2E22-0587-3AD7-3D9638D2631B}"/>
              </a:ext>
            </a:extLst>
          </p:cNvPr>
          <p:cNvSpPr txBox="1"/>
          <p:nvPr/>
        </p:nvSpPr>
        <p:spPr>
          <a:xfrm>
            <a:off x="683568" y="5336389"/>
            <a:ext cx="4839813" cy="523220"/>
          </a:xfrm>
          <a:prstGeom prst="rect">
            <a:avLst/>
          </a:prstGeom>
          <a:noFill/>
        </p:spPr>
        <p:txBody>
          <a:bodyPr wrap="square" rtlCol="0">
            <a:spAutoFit/>
          </a:bodyPr>
          <a:lstStyle/>
          <a:p>
            <a:r>
              <a:rPr lang="zh-CN" altLang="en-US" sz="2800" b="0" i="0" dirty="0">
                <a:solidFill>
                  <a:srgbClr val="FF0000"/>
                </a:solidFill>
                <a:latin typeface="+mn-ea"/>
                <a:ea typeface="+mn-ea"/>
              </a:rPr>
              <a:t>问题：空链域数如何计算？</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37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373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373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4"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4">
            <a:extLst>
              <a:ext uri="{FF2B5EF4-FFF2-40B4-BE49-F238E27FC236}">
                <a16:creationId xmlns:a16="http://schemas.microsoft.com/office/drawing/2014/main" id="{B2EDEAFD-94B1-E191-D17E-AC0B5CC2D9DD}"/>
              </a:ext>
            </a:extLst>
          </p:cNvPr>
          <p:cNvSpPr txBox="1">
            <a:spLocks noChangeArrowheads="1"/>
          </p:cNvSpPr>
          <p:nvPr/>
        </p:nvSpPr>
        <p:spPr bwMode="auto">
          <a:xfrm>
            <a:off x="439978" y="131771"/>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树的存储结构</a:t>
            </a:r>
          </a:p>
        </p:txBody>
      </p:sp>
      <p:sp>
        <p:nvSpPr>
          <p:cNvPr id="74757" name="Rectangle 5">
            <a:extLst>
              <a:ext uri="{FF2B5EF4-FFF2-40B4-BE49-F238E27FC236}">
                <a16:creationId xmlns:a16="http://schemas.microsoft.com/office/drawing/2014/main" id="{32A0AF9E-9C19-4114-B167-5A285F2A365D}"/>
              </a:ext>
            </a:extLst>
          </p:cNvPr>
          <p:cNvSpPr>
            <a:spLocks noGrp="1" noChangeArrowheads="1"/>
          </p:cNvSpPr>
          <p:nvPr>
            <p:ph type="body" idx="1"/>
          </p:nvPr>
        </p:nvSpPr>
        <p:spPr>
          <a:xfrm>
            <a:off x="533400" y="1315549"/>
            <a:ext cx="8763000" cy="4038600"/>
          </a:xfrm>
        </p:spPr>
        <p:txBody>
          <a:bodyPr/>
          <a:lstStyle/>
          <a:p>
            <a:pPr eaLnBrk="1" hangingPunct="1">
              <a:lnSpc>
                <a:spcPct val="90000"/>
              </a:lnSpc>
              <a:buFont typeface="Wingdings" panose="05000000000000000000" pitchFamily="2" charset="2"/>
              <a:buNone/>
            </a:pPr>
            <a:r>
              <a:rPr lang="en-US" altLang="zh-CN" b="1" dirty="0">
                <a:latin typeface="黑体" panose="02010609060101010101" pitchFamily="49" charset="-122"/>
                <a:ea typeface="黑体" panose="02010609060101010101" pitchFamily="49" charset="-122"/>
              </a:rPr>
              <a:t>2.</a:t>
            </a:r>
            <a:r>
              <a:rPr lang="zh-CN" altLang="en-US" b="1" dirty="0">
                <a:latin typeface="黑体" panose="02010609060101010101" pitchFamily="49" charset="-122"/>
                <a:ea typeface="黑体" panose="02010609060101010101" pitchFamily="49" charset="-122"/>
              </a:rPr>
              <a:t>孩子表示法</a:t>
            </a:r>
          </a:p>
          <a:p>
            <a:pPr eaLnBrk="1" hangingPunct="1">
              <a:lnSpc>
                <a:spcPct val="90000"/>
              </a:lnSpc>
            </a:pPr>
            <a:r>
              <a:rPr lang="zh-CN" altLang="en-US" dirty="0">
                <a:latin typeface="黑体" panose="02010609060101010101" pitchFamily="49" charset="-122"/>
                <a:ea typeface="黑体" panose="02010609060101010101" pitchFamily="49" charset="-122"/>
              </a:rPr>
              <a:t>将每个结点的孩子排列起来，用单链表表示</a:t>
            </a:r>
          </a:p>
          <a:p>
            <a:pPr eaLnBrk="1" hangingPunct="1">
              <a:lnSpc>
                <a:spcPct val="90000"/>
              </a:lnSpc>
            </a:pPr>
            <a:r>
              <a:rPr lang="zh-CN" altLang="en-US" dirty="0">
                <a:latin typeface="黑体" panose="02010609060101010101" pitchFamily="49" charset="-122"/>
                <a:ea typeface="黑体" panose="02010609060101010101" pitchFamily="49" charset="-122"/>
              </a:rPr>
              <a:t>将每个结点排列成一个线性表</a:t>
            </a:r>
          </a:p>
        </p:txBody>
      </p:sp>
      <p:grpSp>
        <p:nvGrpSpPr>
          <p:cNvPr id="74759" name="Group 7">
            <a:extLst>
              <a:ext uri="{FF2B5EF4-FFF2-40B4-BE49-F238E27FC236}">
                <a16:creationId xmlns:a16="http://schemas.microsoft.com/office/drawing/2014/main" id="{5731A541-DBD0-4419-858F-DAFC17BF2189}"/>
              </a:ext>
            </a:extLst>
          </p:cNvPr>
          <p:cNvGrpSpPr>
            <a:grpSpLocks/>
          </p:cNvGrpSpPr>
          <p:nvPr/>
        </p:nvGrpSpPr>
        <p:grpSpPr bwMode="auto">
          <a:xfrm>
            <a:off x="5753100" y="3583094"/>
            <a:ext cx="2667000" cy="1795463"/>
            <a:chOff x="0" y="0"/>
            <a:chExt cx="1680" cy="1131"/>
          </a:xfrm>
        </p:grpSpPr>
        <p:sp>
          <p:nvSpPr>
            <p:cNvPr id="74813" name="Line 8">
              <a:extLst>
                <a:ext uri="{FF2B5EF4-FFF2-40B4-BE49-F238E27FC236}">
                  <a16:creationId xmlns:a16="http://schemas.microsoft.com/office/drawing/2014/main" id="{4BC4F178-B86B-493A-B69E-70E0767FC64A}"/>
                </a:ext>
              </a:extLst>
            </p:cNvPr>
            <p:cNvSpPr>
              <a:spLocks noChangeShapeType="1"/>
            </p:cNvSpPr>
            <p:nvPr/>
          </p:nvSpPr>
          <p:spPr bwMode="auto">
            <a:xfrm>
              <a:off x="1080" y="171"/>
              <a:ext cx="360"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74814" name="Line 9">
              <a:extLst>
                <a:ext uri="{FF2B5EF4-FFF2-40B4-BE49-F238E27FC236}">
                  <a16:creationId xmlns:a16="http://schemas.microsoft.com/office/drawing/2014/main" id="{83EA1B5D-C421-410E-AB58-94F54374C27C}"/>
                </a:ext>
              </a:extLst>
            </p:cNvPr>
            <p:cNvSpPr>
              <a:spLocks noChangeShapeType="1"/>
            </p:cNvSpPr>
            <p:nvPr/>
          </p:nvSpPr>
          <p:spPr bwMode="auto">
            <a:xfrm flipH="1">
              <a:off x="576" y="171"/>
              <a:ext cx="360" cy="336"/>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74815" name="Oval 10">
              <a:extLst>
                <a:ext uri="{FF2B5EF4-FFF2-40B4-BE49-F238E27FC236}">
                  <a16:creationId xmlns:a16="http://schemas.microsoft.com/office/drawing/2014/main" id="{AD765F4E-F95B-4E76-B38E-CA33545D1A8B}"/>
                </a:ext>
              </a:extLst>
            </p:cNvPr>
            <p:cNvSpPr>
              <a:spLocks noChangeArrowheads="1"/>
            </p:cNvSpPr>
            <p:nvPr/>
          </p:nvSpPr>
          <p:spPr bwMode="auto">
            <a:xfrm>
              <a:off x="864" y="0"/>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dirty="0">
                  <a:solidFill>
                    <a:schemeClr val="bg1"/>
                  </a:solidFill>
                </a:rPr>
                <a:t>A</a:t>
              </a:r>
            </a:p>
          </p:txBody>
        </p:sp>
        <p:sp>
          <p:nvSpPr>
            <p:cNvPr id="74816" name="Line 11">
              <a:extLst>
                <a:ext uri="{FF2B5EF4-FFF2-40B4-BE49-F238E27FC236}">
                  <a16:creationId xmlns:a16="http://schemas.microsoft.com/office/drawing/2014/main" id="{B68EB979-9930-4D07-92DB-C889CD1DB94E}"/>
                </a:ext>
              </a:extLst>
            </p:cNvPr>
            <p:cNvSpPr>
              <a:spLocks noChangeShapeType="1"/>
            </p:cNvSpPr>
            <p:nvPr/>
          </p:nvSpPr>
          <p:spPr bwMode="auto">
            <a:xfrm flipH="1">
              <a:off x="240" y="561"/>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74817" name="Oval 12">
              <a:extLst>
                <a:ext uri="{FF2B5EF4-FFF2-40B4-BE49-F238E27FC236}">
                  <a16:creationId xmlns:a16="http://schemas.microsoft.com/office/drawing/2014/main" id="{0BF5B28C-1E54-4BA7-BC53-0FCC1B0EFC6C}"/>
                </a:ext>
              </a:extLst>
            </p:cNvPr>
            <p:cNvSpPr>
              <a:spLocks noChangeArrowheads="1"/>
            </p:cNvSpPr>
            <p:nvPr/>
          </p:nvSpPr>
          <p:spPr bwMode="auto">
            <a:xfrm>
              <a:off x="0" y="822"/>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E</a:t>
              </a:r>
            </a:p>
          </p:txBody>
        </p:sp>
        <p:sp>
          <p:nvSpPr>
            <p:cNvPr id="74818" name="Line 13">
              <a:extLst>
                <a:ext uri="{FF2B5EF4-FFF2-40B4-BE49-F238E27FC236}">
                  <a16:creationId xmlns:a16="http://schemas.microsoft.com/office/drawing/2014/main" id="{60D4FD12-F813-45B4-940B-15920CBA6312}"/>
                </a:ext>
              </a:extLst>
            </p:cNvPr>
            <p:cNvSpPr>
              <a:spLocks noChangeShapeType="1"/>
            </p:cNvSpPr>
            <p:nvPr/>
          </p:nvSpPr>
          <p:spPr bwMode="auto">
            <a:xfrm>
              <a:off x="528" y="582"/>
              <a:ext cx="216"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74819" name="Oval 14">
              <a:extLst>
                <a:ext uri="{FF2B5EF4-FFF2-40B4-BE49-F238E27FC236}">
                  <a16:creationId xmlns:a16="http://schemas.microsoft.com/office/drawing/2014/main" id="{C9F18205-67A4-4C8A-AB9D-78338BFB8A53}"/>
                </a:ext>
              </a:extLst>
            </p:cNvPr>
            <p:cNvSpPr>
              <a:spLocks noChangeArrowheads="1"/>
            </p:cNvSpPr>
            <p:nvPr/>
          </p:nvSpPr>
          <p:spPr bwMode="auto">
            <a:xfrm>
              <a:off x="336" y="41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B</a:t>
              </a:r>
            </a:p>
          </p:txBody>
        </p:sp>
        <p:sp>
          <p:nvSpPr>
            <p:cNvPr id="74820" name="Line 15">
              <a:extLst>
                <a:ext uri="{FF2B5EF4-FFF2-40B4-BE49-F238E27FC236}">
                  <a16:creationId xmlns:a16="http://schemas.microsoft.com/office/drawing/2014/main" id="{027558F4-6535-4054-BBD1-D020C754A05A}"/>
                </a:ext>
              </a:extLst>
            </p:cNvPr>
            <p:cNvSpPr>
              <a:spLocks noChangeShapeType="1"/>
            </p:cNvSpPr>
            <p:nvPr/>
          </p:nvSpPr>
          <p:spPr bwMode="auto">
            <a:xfrm flipH="1">
              <a:off x="1296" y="582"/>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74821" name="Oval 16">
              <a:extLst>
                <a:ext uri="{FF2B5EF4-FFF2-40B4-BE49-F238E27FC236}">
                  <a16:creationId xmlns:a16="http://schemas.microsoft.com/office/drawing/2014/main" id="{E324089E-F30F-406C-902D-DEB49A4637F3}"/>
                </a:ext>
              </a:extLst>
            </p:cNvPr>
            <p:cNvSpPr>
              <a:spLocks noChangeArrowheads="1"/>
            </p:cNvSpPr>
            <p:nvPr/>
          </p:nvSpPr>
          <p:spPr bwMode="auto">
            <a:xfrm>
              <a:off x="1056" y="84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G</a:t>
              </a:r>
            </a:p>
          </p:txBody>
        </p:sp>
        <p:sp>
          <p:nvSpPr>
            <p:cNvPr id="74822" name="Oval 17">
              <a:extLst>
                <a:ext uri="{FF2B5EF4-FFF2-40B4-BE49-F238E27FC236}">
                  <a16:creationId xmlns:a16="http://schemas.microsoft.com/office/drawing/2014/main" id="{7D988590-5C5A-4C63-A2C3-47DEE00E6A7C}"/>
                </a:ext>
              </a:extLst>
            </p:cNvPr>
            <p:cNvSpPr>
              <a:spLocks noChangeArrowheads="1"/>
            </p:cNvSpPr>
            <p:nvPr/>
          </p:nvSpPr>
          <p:spPr bwMode="auto">
            <a:xfrm>
              <a:off x="1392" y="41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D</a:t>
              </a:r>
            </a:p>
          </p:txBody>
        </p:sp>
        <p:sp>
          <p:nvSpPr>
            <p:cNvPr id="74823" name="Oval 18">
              <a:extLst>
                <a:ext uri="{FF2B5EF4-FFF2-40B4-BE49-F238E27FC236}">
                  <a16:creationId xmlns:a16="http://schemas.microsoft.com/office/drawing/2014/main" id="{17C0C4AD-7EB4-4EC9-8939-AEC081EA6854}"/>
                </a:ext>
              </a:extLst>
            </p:cNvPr>
            <p:cNvSpPr>
              <a:spLocks noChangeArrowheads="1"/>
            </p:cNvSpPr>
            <p:nvPr/>
          </p:nvSpPr>
          <p:spPr bwMode="auto">
            <a:xfrm>
              <a:off x="648" y="84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F</a:t>
              </a:r>
            </a:p>
          </p:txBody>
        </p:sp>
        <p:sp>
          <p:nvSpPr>
            <p:cNvPr id="74824" name="Line 19">
              <a:extLst>
                <a:ext uri="{FF2B5EF4-FFF2-40B4-BE49-F238E27FC236}">
                  <a16:creationId xmlns:a16="http://schemas.microsoft.com/office/drawing/2014/main" id="{6F9FA8A5-F173-4F92-9D76-DFB779DCD536}"/>
                </a:ext>
              </a:extLst>
            </p:cNvPr>
            <p:cNvSpPr>
              <a:spLocks noChangeShapeType="1"/>
            </p:cNvSpPr>
            <p:nvPr/>
          </p:nvSpPr>
          <p:spPr bwMode="auto">
            <a:xfrm flipH="1">
              <a:off x="1008" y="276"/>
              <a:ext cx="0" cy="14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74825" name="Oval 20">
              <a:extLst>
                <a:ext uri="{FF2B5EF4-FFF2-40B4-BE49-F238E27FC236}">
                  <a16:creationId xmlns:a16="http://schemas.microsoft.com/office/drawing/2014/main" id="{FBD88715-FD29-403F-941C-1949625A19F4}"/>
                </a:ext>
              </a:extLst>
            </p:cNvPr>
            <p:cNvSpPr>
              <a:spLocks noChangeArrowheads="1"/>
            </p:cNvSpPr>
            <p:nvPr/>
          </p:nvSpPr>
          <p:spPr bwMode="auto">
            <a:xfrm>
              <a:off x="864" y="41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C</a:t>
              </a:r>
            </a:p>
          </p:txBody>
        </p:sp>
      </p:grpSp>
      <p:graphicFrame>
        <p:nvGraphicFramePr>
          <p:cNvPr id="57365" name="Group 21">
            <a:extLst>
              <a:ext uri="{FF2B5EF4-FFF2-40B4-BE49-F238E27FC236}">
                <a16:creationId xmlns:a16="http://schemas.microsoft.com/office/drawing/2014/main" id="{35BDF738-C0E7-45EA-B48A-8AAD356B5B1A}"/>
              </a:ext>
            </a:extLst>
          </p:cNvPr>
          <p:cNvGraphicFramePr>
            <a:graphicFrameLocks noGrp="1"/>
          </p:cNvGraphicFramePr>
          <p:nvPr>
            <p:extLst>
              <p:ext uri="{D42A27DB-BD31-4B8C-83A1-F6EECF244321}">
                <p14:modId xmlns:p14="http://schemas.microsoft.com/office/powerpoint/2010/main" val="2584764499"/>
              </p:ext>
            </p:extLst>
          </p:nvPr>
        </p:nvGraphicFramePr>
        <p:xfrm>
          <a:off x="1543174" y="3242072"/>
          <a:ext cx="990600" cy="2133600"/>
        </p:xfrm>
        <a:graphic>
          <a:graphicData uri="http://schemas.openxmlformats.org/drawingml/2006/table">
            <a:tbl>
              <a:tblPr/>
              <a:tblGrid>
                <a:gridCol w="495300">
                  <a:extLst>
                    <a:ext uri="{9D8B030D-6E8A-4147-A177-3AD203B41FA5}">
                      <a16:colId xmlns:a16="http://schemas.microsoft.com/office/drawing/2014/main" val="20000"/>
                    </a:ext>
                  </a:extLst>
                </a:gridCol>
                <a:gridCol w="495300">
                  <a:extLst>
                    <a:ext uri="{9D8B030D-6E8A-4147-A177-3AD203B41FA5}">
                      <a16:colId xmlns:a16="http://schemas.microsoft.com/office/drawing/2014/main" val="20001"/>
                    </a:ext>
                  </a:extLst>
                </a:gridCol>
              </a:tblGrid>
              <a:tr h="304800">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a:ln>
                            <a:noFill/>
                          </a:ln>
                          <a:solidFill>
                            <a:schemeClr val="tx1"/>
                          </a:solidFill>
                          <a:effectLst/>
                          <a:latin typeface="Tahoma" pitchFamily="34" charset="0"/>
                          <a:ea typeface="宋体" pitchFamily="2" charset="-122"/>
                        </a:rPr>
                        <a:t>A</a:t>
                      </a:r>
                    </a:p>
                  </a:txBody>
                  <a:tcPr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0" i="0" u="none" strike="noStrike" cap="none" normalizeH="0" baseline="0">
                        <a:ln>
                          <a:noFill/>
                        </a:ln>
                        <a:solidFill>
                          <a:schemeClr val="tx1"/>
                        </a:solidFill>
                        <a:effectLst/>
                        <a:latin typeface="Tahoma" pitchFamily="34" charset="0"/>
                        <a:ea typeface="宋体" pitchFamily="2" charset="-122"/>
                      </a:endParaRPr>
                    </a:p>
                  </a:txBody>
                  <a:tcPr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04800">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a:ln>
                            <a:noFill/>
                          </a:ln>
                          <a:solidFill>
                            <a:schemeClr val="tx1"/>
                          </a:solidFill>
                          <a:effectLst/>
                          <a:latin typeface="Tahoma" pitchFamily="34" charset="0"/>
                          <a:ea typeface="宋体" pitchFamily="2" charset="-122"/>
                        </a:rPr>
                        <a:t>B</a:t>
                      </a:r>
                    </a:p>
                  </a:txBody>
                  <a:tcPr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0" i="0" u="none" strike="noStrike" cap="none" normalizeH="0" baseline="0">
                        <a:ln>
                          <a:noFill/>
                        </a:ln>
                        <a:solidFill>
                          <a:schemeClr val="tx1"/>
                        </a:solidFill>
                        <a:effectLst/>
                        <a:latin typeface="Tahoma" pitchFamily="34" charset="0"/>
                        <a:ea typeface="宋体" pitchFamily="2" charset="-122"/>
                      </a:endParaRPr>
                    </a:p>
                  </a:txBody>
                  <a:tcPr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04800">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a:ln>
                            <a:noFill/>
                          </a:ln>
                          <a:solidFill>
                            <a:schemeClr val="tx1"/>
                          </a:solidFill>
                          <a:effectLst/>
                          <a:latin typeface="Tahoma" pitchFamily="34" charset="0"/>
                          <a:ea typeface="宋体" pitchFamily="2" charset="-122"/>
                        </a:rPr>
                        <a:t>C</a:t>
                      </a:r>
                    </a:p>
                  </a:txBody>
                  <a:tcPr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tabLst/>
                        <a:defRPr/>
                      </a:pPr>
                      <a:r>
                        <a:rPr kumimoji="0" lang="zh-CN" altLang="en-US" sz="1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endParaRPr kumimoji="0" lang="zh-CN" altLang="zh-CN" sz="2000" b="0" i="0" u="none" strike="noStrike" cap="none" normalizeH="0" baseline="0" dirty="0">
                        <a:ln>
                          <a:noFill/>
                        </a:ln>
                        <a:solidFill>
                          <a:schemeClr val="tx1"/>
                        </a:solidFill>
                        <a:effectLst/>
                        <a:latin typeface="Tahoma" pitchFamily="34" charset="0"/>
                        <a:ea typeface="宋体" pitchFamily="2" charset="-122"/>
                      </a:endParaRPr>
                    </a:p>
                  </a:txBody>
                  <a:tcPr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04800">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a:ln>
                            <a:noFill/>
                          </a:ln>
                          <a:solidFill>
                            <a:schemeClr val="tx1"/>
                          </a:solidFill>
                          <a:effectLst/>
                          <a:latin typeface="Tahoma" pitchFamily="34" charset="0"/>
                          <a:ea typeface="宋体" pitchFamily="2" charset="-122"/>
                        </a:rPr>
                        <a:t>D</a:t>
                      </a:r>
                    </a:p>
                  </a:txBody>
                  <a:tcPr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0" i="0" u="none" strike="noStrike" cap="none" normalizeH="0" baseline="0">
                        <a:ln>
                          <a:noFill/>
                        </a:ln>
                        <a:solidFill>
                          <a:schemeClr val="tx1"/>
                        </a:solidFill>
                        <a:effectLst/>
                        <a:latin typeface="Tahoma" pitchFamily="34" charset="0"/>
                        <a:ea typeface="宋体" pitchFamily="2" charset="-122"/>
                      </a:endParaRPr>
                    </a:p>
                  </a:txBody>
                  <a:tcPr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04800">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a:ln>
                            <a:noFill/>
                          </a:ln>
                          <a:solidFill>
                            <a:schemeClr val="tx1"/>
                          </a:solidFill>
                          <a:effectLst/>
                          <a:latin typeface="Tahoma" pitchFamily="34" charset="0"/>
                          <a:ea typeface="宋体" pitchFamily="2" charset="-122"/>
                        </a:rPr>
                        <a:t>E</a:t>
                      </a:r>
                    </a:p>
                  </a:txBody>
                  <a:tcPr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endParaRPr kumimoji="0" lang="zh-CN" altLang="zh-CN" sz="2000" b="0" i="0" u="none" strike="noStrike" cap="none" normalizeH="0" baseline="0" dirty="0">
                        <a:ln>
                          <a:noFill/>
                        </a:ln>
                        <a:solidFill>
                          <a:schemeClr val="tx1"/>
                        </a:solidFill>
                        <a:effectLst/>
                        <a:latin typeface="Tahoma" pitchFamily="34" charset="0"/>
                        <a:ea typeface="宋体" pitchFamily="2" charset="-122"/>
                      </a:endParaRPr>
                    </a:p>
                  </a:txBody>
                  <a:tcPr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04800">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a:ln>
                            <a:noFill/>
                          </a:ln>
                          <a:solidFill>
                            <a:schemeClr val="tx1"/>
                          </a:solidFill>
                          <a:effectLst/>
                          <a:latin typeface="Tahoma" pitchFamily="34" charset="0"/>
                          <a:ea typeface="宋体" pitchFamily="2" charset="-122"/>
                        </a:rPr>
                        <a:t>F</a:t>
                      </a:r>
                    </a:p>
                  </a:txBody>
                  <a:tcPr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endParaRPr kumimoji="0" lang="zh-CN" altLang="zh-CN" sz="2000" b="0" i="0" u="none" strike="noStrike" cap="none" normalizeH="0" baseline="0" dirty="0">
                        <a:ln>
                          <a:noFill/>
                        </a:ln>
                        <a:solidFill>
                          <a:schemeClr val="tx1"/>
                        </a:solidFill>
                        <a:effectLst/>
                        <a:latin typeface="Tahoma" pitchFamily="34" charset="0"/>
                        <a:ea typeface="宋体" pitchFamily="2" charset="-122"/>
                      </a:endParaRPr>
                    </a:p>
                  </a:txBody>
                  <a:tcPr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04800">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a:ln>
                            <a:noFill/>
                          </a:ln>
                          <a:solidFill>
                            <a:schemeClr val="tx1"/>
                          </a:solidFill>
                          <a:effectLst/>
                          <a:latin typeface="Tahoma" pitchFamily="34" charset="0"/>
                          <a:ea typeface="宋体" pitchFamily="2" charset="-122"/>
                        </a:rPr>
                        <a:t>G</a:t>
                      </a:r>
                    </a:p>
                  </a:txBody>
                  <a:tcPr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endParaRPr kumimoji="0" lang="zh-CN" altLang="zh-CN" sz="2000" b="0" i="0" u="none" strike="noStrike" cap="none" normalizeH="0" baseline="0" dirty="0">
                        <a:ln>
                          <a:noFill/>
                        </a:ln>
                        <a:solidFill>
                          <a:schemeClr val="tx1"/>
                        </a:solidFill>
                        <a:effectLst/>
                        <a:latin typeface="Tahoma" pitchFamily="34" charset="0"/>
                        <a:ea typeface="宋体" pitchFamily="2" charset="-122"/>
                      </a:endParaRPr>
                    </a:p>
                  </a:txBody>
                  <a:tcPr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74786" name="Text Box 47">
            <a:extLst>
              <a:ext uri="{FF2B5EF4-FFF2-40B4-BE49-F238E27FC236}">
                <a16:creationId xmlns:a16="http://schemas.microsoft.com/office/drawing/2014/main" id="{31192FE5-0B77-40D9-A03C-4FC58881498B}"/>
              </a:ext>
            </a:extLst>
          </p:cNvPr>
          <p:cNvSpPr txBox="1">
            <a:spLocks noChangeArrowheads="1"/>
          </p:cNvSpPr>
          <p:nvPr/>
        </p:nvSpPr>
        <p:spPr bwMode="auto">
          <a:xfrm>
            <a:off x="1238374" y="3242072"/>
            <a:ext cx="381000" cy="2176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10000"/>
              </a:spcBef>
              <a:buClrTx/>
              <a:buSzTx/>
              <a:buFont typeface="Arial" panose="020B0604020202020204" pitchFamily="34" charset="0"/>
              <a:buNone/>
            </a:pPr>
            <a:r>
              <a:rPr lang="zh-CN" altLang="en-US" sz="1800" i="0"/>
              <a:t>0</a:t>
            </a:r>
          </a:p>
          <a:p>
            <a:pPr eaLnBrk="1" hangingPunct="1">
              <a:spcBef>
                <a:spcPct val="10000"/>
              </a:spcBef>
              <a:buClrTx/>
              <a:buSzTx/>
              <a:buFont typeface="Arial" panose="020B0604020202020204" pitchFamily="34" charset="0"/>
              <a:buNone/>
            </a:pPr>
            <a:r>
              <a:rPr lang="zh-CN" altLang="en-US" sz="1800" i="0"/>
              <a:t>1</a:t>
            </a:r>
          </a:p>
          <a:p>
            <a:pPr eaLnBrk="1" hangingPunct="1">
              <a:spcBef>
                <a:spcPct val="10000"/>
              </a:spcBef>
              <a:buClrTx/>
              <a:buSzTx/>
              <a:buFont typeface="Arial" panose="020B0604020202020204" pitchFamily="34" charset="0"/>
              <a:buNone/>
            </a:pPr>
            <a:r>
              <a:rPr lang="zh-CN" altLang="en-US" sz="1800" i="0"/>
              <a:t>2</a:t>
            </a:r>
          </a:p>
          <a:p>
            <a:pPr eaLnBrk="1" hangingPunct="1">
              <a:spcBef>
                <a:spcPct val="10000"/>
              </a:spcBef>
              <a:buClrTx/>
              <a:buSzTx/>
              <a:buFont typeface="Arial" panose="020B0604020202020204" pitchFamily="34" charset="0"/>
              <a:buNone/>
            </a:pPr>
            <a:r>
              <a:rPr lang="zh-CN" altLang="en-US" sz="1800" i="0"/>
              <a:t>3</a:t>
            </a:r>
          </a:p>
          <a:p>
            <a:pPr eaLnBrk="1" hangingPunct="1">
              <a:spcBef>
                <a:spcPct val="10000"/>
              </a:spcBef>
              <a:buClrTx/>
              <a:buSzTx/>
              <a:buFont typeface="Arial" panose="020B0604020202020204" pitchFamily="34" charset="0"/>
              <a:buNone/>
            </a:pPr>
            <a:r>
              <a:rPr lang="zh-CN" altLang="en-US" sz="1800" i="0"/>
              <a:t>4</a:t>
            </a:r>
          </a:p>
          <a:p>
            <a:pPr eaLnBrk="1" hangingPunct="1">
              <a:spcBef>
                <a:spcPct val="10000"/>
              </a:spcBef>
              <a:buClrTx/>
              <a:buSzTx/>
              <a:buFont typeface="Arial" panose="020B0604020202020204" pitchFamily="34" charset="0"/>
              <a:buNone/>
            </a:pPr>
            <a:r>
              <a:rPr lang="zh-CN" altLang="en-US" sz="1800" i="0"/>
              <a:t>5</a:t>
            </a:r>
          </a:p>
          <a:p>
            <a:pPr eaLnBrk="1" hangingPunct="1">
              <a:spcBef>
                <a:spcPct val="10000"/>
              </a:spcBef>
              <a:buClrTx/>
              <a:buSzTx/>
              <a:buFont typeface="Arial" panose="020B0604020202020204" pitchFamily="34" charset="0"/>
              <a:buNone/>
            </a:pPr>
            <a:r>
              <a:rPr lang="zh-CN" altLang="en-US" sz="1800" i="0"/>
              <a:t>6</a:t>
            </a:r>
          </a:p>
        </p:txBody>
      </p:sp>
      <p:sp>
        <p:nvSpPr>
          <p:cNvPr id="74787" name="Line 48">
            <a:extLst>
              <a:ext uri="{FF2B5EF4-FFF2-40B4-BE49-F238E27FC236}">
                <a16:creationId xmlns:a16="http://schemas.microsoft.com/office/drawing/2014/main" id="{1226EBBE-826E-4913-B881-D8747D06B117}"/>
              </a:ext>
            </a:extLst>
          </p:cNvPr>
          <p:cNvSpPr>
            <a:spLocks noChangeShapeType="1"/>
          </p:cNvSpPr>
          <p:nvPr/>
        </p:nvSpPr>
        <p:spPr bwMode="auto">
          <a:xfrm>
            <a:off x="1162174" y="3318272"/>
            <a:ext cx="381000" cy="0"/>
          </a:xfrm>
          <a:prstGeom prst="line">
            <a:avLst/>
          </a:prstGeom>
          <a:noFill/>
          <a:ln w="9525">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i="0"/>
          </a:p>
        </p:txBody>
      </p:sp>
      <p:sp>
        <p:nvSpPr>
          <p:cNvPr id="74788" name="Text Box 49">
            <a:extLst>
              <a:ext uri="{FF2B5EF4-FFF2-40B4-BE49-F238E27FC236}">
                <a16:creationId xmlns:a16="http://schemas.microsoft.com/office/drawing/2014/main" id="{3891AB42-ECE1-45DC-8EF0-797DD9271E15}"/>
              </a:ext>
            </a:extLst>
          </p:cNvPr>
          <p:cNvSpPr txBox="1">
            <a:spLocks noChangeArrowheads="1"/>
          </p:cNvSpPr>
          <p:nvPr/>
        </p:nvSpPr>
        <p:spPr bwMode="auto">
          <a:xfrm>
            <a:off x="482972" y="3165872"/>
            <a:ext cx="75540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en-US" altLang="zh-CN" sz="1800" i="0" dirty="0">
                <a:solidFill>
                  <a:schemeClr val="hlink"/>
                </a:solidFill>
              </a:rPr>
              <a:t>Root</a:t>
            </a:r>
          </a:p>
        </p:txBody>
      </p:sp>
      <p:grpSp>
        <p:nvGrpSpPr>
          <p:cNvPr id="74789" name="Group 50">
            <a:extLst>
              <a:ext uri="{FF2B5EF4-FFF2-40B4-BE49-F238E27FC236}">
                <a16:creationId xmlns:a16="http://schemas.microsoft.com/office/drawing/2014/main" id="{1A2282D2-8F69-4085-BBC5-DD1A6A366C8A}"/>
              </a:ext>
            </a:extLst>
          </p:cNvPr>
          <p:cNvGrpSpPr>
            <a:grpSpLocks/>
          </p:cNvGrpSpPr>
          <p:nvPr/>
        </p:nvGrpSpPr>
        <p:grpSpPr bwMode="auto">
          <a:xfrm>
            <a:off x="2838574" y="3242072"/>
            <a:ext cx="577850" cy="276225"/>
            <a:chOff x="0" y="0"/>
            <a:chExt cx="364" cy="174"/>
          </a:xfrm>
        </p:grpSpPr>
        <p:sp>
          <p:nvSpPr>
            <p:cNvPr id="74811" name="Text Box 51">
              <a:extLst>
                <a:ext uri="{FF2B5EF4-FFF2-40B4-BE49-F238E27FC236}">
                  <a16:creationId xmlns:a16="http://schemas.microsoft.com/office/drawing/2014/main" id="{DBC17BEA-9C3F-4A7A-BEDE-D5267A5C2D0D}"/>
                </a:ext>
              </a:extLst>
            </p:cNvPr>
            <p:cNvSpPr txBox="1">
              <a:spLocks noChangeArrowheads="1"/>
            </p:cNvSpPr>
            <p:nvPr/>
          </p:nvSpPr>
          <p:spPr bwMode="auto">
            <a:xfrm>
              <a:off x="0" y="0"/>
              <a:ext cx="240" cy="17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1800" i="0"/>
                <a:t>1</a:t>
              </a:r>
            </a:p>
          </p:txBody>
        </p:sp>
        <p:sp>
          <p:nvSpPr>
            <p:cNvPr id="74812" name="Text Box 52">
              <a:extLst>
                <a:ext uri="{FF2B5EF4-FFF2-40B4-BE49-F238E27FC236}">
                  <a16:creationId xmlns:a16="http://schemas.microsoft.com/office/drawing/2014/main" id="{0460DAAD-8B4E-448D-9071-F142DDB7397A}"/>
                </a:ext>
              </a:extLst>
            </p:cNvPr>
            <p:cNvSpPr txBox="1">
              <a:spLocks noChangeArrowheads="1"/>
            </p:cNvSpPr>
            <p:nvPr/>
          </p:nvSpPr>
          <p:spPr bwMode="auto">
            <a:xfrm>
              <a:off x="242" y="0"/>
              <a:ext cx="122" cy="17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endParaRPr lang="zh-CN" altLang="en-US" sz="1800" i="0"/>
            </a:p>
          </p:txBody>
        </p:sp>
      </p:grpSp>
      <p:grpSp>
        <p:nvGrpSpPr>
          <p:cNvPr id="74790" name="Group 53">
            <a:extLst>
              <a:ext uri="{FF2B5EF4-FFF2-40B4-BE49-F238E27FC236}">
                <a16:creationId xmlns:a16="http://schemas.microsoft.com/office/drawing/2014/main" id="{267EA77C-29DC-43AD-8C36-1641CA2B7571}"/>
              </a:ext>
            </a:extLst>
          </p:cNvPr>
          <p:cNvGrpSpPr>
            <a:grpSpLocks/>
          </p:cNvGrpSpPr>
          <p:nvPr/>
        </p:nvGrpSpPr>
        <p:grpSpPr bwMode="auto">
          <a:xfrm>
            <a:off x="3752974" y="3242072"/>
            <a:ext cx="577850" cy="276225"/>
            <a:chOff x="0" y="0"/>
            <a:chExt cx="364" cy="174"/>
          </a:xfrm>
        </p:grpSpPr>
        <p:sp>
          <p:nvSpPr>
            <p:cNvPr id="74809" name="Text Box 54">
              <a:extLst>
                <a:ext uri="{FF2B5EF4-FFF2-40B4-BE49-F238E27FC236}">
                  <a16:creationId xmlns:a16="http://schemas.microsoft.com/office/drawing/2014/main" id="{0C6573A1-8AF3-4F28-869C-09C25B0358A9}"/>
                </a:ext>
              </a:extLst>
            </p:cNvPr>
            <p:cNvSpPr txBox="1">
              <a:spLocks noChangeArrowheads="1"/>
            </p:cNvSpPr>
            <p:nvPr/>
          </p:nvSpPr>
          <p:spPr bwMode="auto">
            <a:xfrm>
              <a:off x="0" y="0"/>
              <a:ext cx="240" cy="17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1800" i="0"/>
                <a:t>2</a:t>
              </a:r>
            </a:p>
          </p:txBody>
        </p:sp>
        <p:sp>
          <p:nvSpPr>
            <p:cNvPr id="74810" name="Text Box 55">
              <a:extLst>
                <a:ext uri="{FF2B5EF4-FFF2-40B4-BE49-F238E27FC236}">
                  <a16:creationId xmlns:a16="http://schemas.microsoft.com/office/drawing/2014/main" id="{9C5BA3A5-FB92-4114-B559-E4B4B84F2FB2}"/>
                </a:ext>
              </a:extLst>
            </p:cNvPr>
            <p:cNvSpPr txBox="1">
              <a:spLocks noChangeArrowheads="1"/>
            </p:cNvSpPr>
            <p:nvPr/>
          </p:nvSpPr>
          <p:spPr bwMode="auto">
            <a:xfrm>
              <a:off x="242" y="0"/>
              <a:ext cx="122" cy="17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endParaRPr lang="zh-CN" altLang="en-US" sz="1800" i="0"/>
            </a:p>
          </p:txBody>
        </p:sp>
      </p:grpSp>
      <p:grpSp>
        <p:nvGrpSpPr>
          <p:cNvPr id="74791" name="Group 56">
            <a:extLst>
              <a:ext uri="{FF2B5EF4-FFF2-40B4-BE49-F238E27FC236}">
                <a16:creationId xmlns:a16="http://schemas.microsoft.com/office/drawing/2014/main" id="{B1519C03-B787-4276-B1C8-66CD68A8B331}"/>
              </a:ext>
            </a:extLst>
          </p:cNvPr>
          <p:cNvGrpSpPr>
            <a:grpSpLocks/>
          </p:cNvGrpSpPr>
          <p:nvPr/>
        </p:nvGrpSpPr>
        <p:grpSpPr bwMode="auto">
          <a:xfrm>
            <a:off x="4667374" y="3242072"/>
            <a:ext cx="577850" cy="276225"/>
            <a:chOff x="0" y="0"/>
            <a:chExt cx="364" cy="174"/>
          </a:xfrm>
        </p:grpSpPr>
        <p:sp>
          <p:nvSpPr>
            <p:cNvPr id="74807" name="Text Box 57">
              <a:extLst>
                <a:ext uri="{FF2B5EF4-FFF2-40B4-BE49-F238E27FC236}">
                  <a16:creationId xmlns:a16="http://schemas.microsoft.com/office/drawing/2014/main" id="{81F3D7A1-40B5-4DB5-AB90-639DD8B60462}"/>
                </a:ext>
              </a:extLst>
            </p:cNvPr>
            <p:cNvSpPr txBox="1">
              <a:spLocks noChangeArrowheads="1"/>
            </p:cNvSpPr>
            <p:nvPr/>
          </p:nvSpPr>
          <p:spPr bwMode="auto">
            <a:xfrm>
              <a:off x="0" y="0"/>
              <a:ext cx="240" cy="17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1800" i="0"/>
                <a:t>3</a:t>
              </a:r>
            </a:p>
          </p:txBody>
        </p:sp>
        <p:sp>
          <p:nvSpPr>
            <p:cNvPr id="74808" name="Text Box 58">
              <a:extLst>
                <a:ext uri="{FF2B5EF4-FFF2-40B4-BE49-F238E27FC236}">
                  <a16:creationId xmlns:a16="http://schemas.microsoft.com/office/drawing/2014/main" id="{0203BCA2-23B0-4EAA-B094-4273A1D96FB0}"/>
                </a:ext>
              </a:extLst>
            </p:cNvPr>
            <p:cNvSpPr txBox="1">
              <a:spLocks noChangeArrowheads="1"/>
            </p:cNvSpPr>
            <p:nvPr/>
          </p:nvSpPr>
          <p:spPr bwMode="auto">
            <a:xfrm>
              <a:off x="242" y="0"/>
              <a:ext cx="122" cy="17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zh-CN" altLang="en-US" sz="1800" i="0"/>
                <a:t>^</a:t>
              </a:r>
            </a:p>
          </p:txBody>
        </p:sp>
      </p:grpSp>
      <p:sp>
        <p:nvSpPr>
          <p:cNvPr id="74792" name="Line 59">
            <a:extLst>
              <a:ext uri="{FF2B5EF4-FFF2-40B4-BE49-F238E27FC236}">
                <a16:creationId xmlns:a16="http://schemas.microsoft.com/office/drawing/2014/main" id="{E8A1A5D3-CF57-43D0-89E7-662E04E7011D}"/>
              </a:ext>
            </a:extLst>
          </p:cNvPr>
          <p:cNvSpPr>
            <a:spLocks noChangeShapeType="1"/>
          </p:cNvSpPr>
          <p:nvPr/>
        </p:nvSpPr>
        <p:spPr bwMode="auto">
          <a:xfrm>
            <a:off x="2305174" y="3394472"/>
            <a:ext cx="5334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i="0"/>
          </a:p>
        </p:txBody>
      </p:sp>
      <p:sp>
        <p:nvSpPr>
          <p:cNvPr id="74793" name="Line 60">
            <a:extLst>
              <a:ext uri="{FF2B5EF4-FFF2-40B4-BE49-F238E27FC236}">
                <a16:creationId xmlns:a16="http://schemas.microsoft.com/office/drawing/2014/main" id="{2A456BEE-BA53-4789-930B-CD520603BDDD}"/>
              </a:ext>
            </a:extLst>
          </p:cNvPr>
          <p:cNvSpPr>
            <a:spLocks noChangeShapeType="1"/>
          </p:cNvSpPr>
          <p:nvPr/>
        </p:nvSpPr>
        <p:spPr bwMode="auto">
          <a:xfrm>
            <a:off x="3295774" y="3394472"/>
            <a:ext cx="457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i="0"/>
          </a:p>
        </p:txBody>
      </p:sp>
      <p:sp>
        <p:nvSpPr>
          <p:cNvPr id="74794" name="Line 61">
            <a:extLst>
              <a:ext uri="{FF2B5EF4-FFF2-40B4-BE49-F238E27FC236}">
                <a16:creationId xmlns:a16="http://schemas.microsoft.com/office/drawing/2014/main" id="{64AF8F18-3B9A-4F1B-BC3D-8563BB058034}"/>
              </a:ext>
            </a:extLst>
          </p:cNvPr>
          <p:cNvSpPr>
            <a:spLocks noChangeShapeType="1"/>
          </p:cNvSpPr>
          <p:nvPr/>
        </p:nvSpPr>
        <p:spPr bwMode="auto">
          <a:xfrm>
            <a:off x="4210174" y="3394472"/>
            <a:ext cx="457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i="0"/>
          </a:p>
        </p:txBody>
      </p:sp>
      <p:grpSp>
        <p:nvGrpSpPr>
          <p:cNvPr id="74795" name="Group 62">
            <a:extLst>
              <a:ext uri="{FF2B5EF4-FFF2-40B4-BE49-F238E27FC236}">
                <a16:creationId xmlns:a16="http://schemas.microsoft.com/office/drawing/2014/main" id="{EAFA9A2F-A7F0-4B3A-BBBB-4E516E931A44}"/>
              </a:ext>
            </a:extLst>
          </p:cNvPr>
          <p:cNvGrpSpPr>
            <a:grpSpLocks/>
          </p:cNvGrpSpPr>
          <p:nvPr/>
        </p:nvGrpSpPr>
        <p:grpSpPr bwMode="auto">
          <a:xfrm>
            <a:off x="2838574" y="3623072"/>
            <a:ext cx="577850" cy="276225"/>
            <a:chOff x="0" y="0"/>
            <a:chExt cx="364" cy="174"/>
          </a:xfrm>
        </p:grpSpPr>
        <p:sp>
          <p:nvSpPr>
            <p:cNvPr id="74805" name="Text Box 63">
              <a:extLst>
                <a:ext uri="{FF2B5EF4-FFF2-40B4-BE49-F238E27FC236}">
                  <a16:creationId xmlns:a16="http://schemas.microsoft.com/office/drawing/2014/main" id="{479BB3EA-5770-4682-A56B-606976198E57}"/>
                </a:ext>
              </a:extLst>
            </p:cNvPr>
            <p:cNvSpPr txBox="1">
              <a:spLocks noChangeArrowheads="1"/>
            </p:cNvSpPr>
            <p:nvPr/>
          </p:nvSpPr>
          <p:spPr bwMode="auto">
            <a:xfrm>
              <a:off x="0" y="0"/>
              <a:ext cx="240" cy="17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1800" i="0"/>
                <a:t>4</a:t>
              </a:r>
            </a:p>
          </p:txBody>
        </p:sp>
        <p:sp>
          <p:nvSpPr>
            <p:cNvPr id="74806" name="Text Box 64">
              <a:extLst>
                <a:ext uri="{FF2B5EF4-FFF2-40B4-BE49-F238E27FC236}">
                  <a16:creationId xmlns:a16="http://schemas.microsoft.com/office/drawing/2014/main" id="{5C7916D0-DEC5-4E92-88D4-3F726913C426}"/>
                </a:ext>
              </a:extLst>
            </p:cNvPr>
            <p:cNvSpPr txBox="1">
              <a:spLocks noChangeArrowheads="1"/>
            </p:cNvSpPr>
            <p:nvPr/>
          </p:nvSpPr>
          <p:spPr bwMode="auto">
            <a:xfrm>
              <a:off x="242" y="0"/>
              <a:ext cx="122" cy="17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endParaRPr lang="zh-CN" altLang="en-US" sz="1800" i="0"/>
            </a:p>
          </p:txBody>
        </p:sp>
      </p:grpSp>
      <p:grpSp>
        <p:nvGrpSpPr>
          <p:cNvPr id="74796" name="Group 65">
            <a:extLst>
              <a:ext uri="{FF2B5EF4-FFF2-40B4-BE49-F238E27FC236}">
                <a16:creationId xmlns:a16="http://schemas.microsoft.com/office/drawing/2014/main" id="{75CFB4F9-8561-4726-B854-767240575BE3}"/>
              </a:ext>
            </a:extLst>
          </p:cNvPr>
          <p:cNvGrpSpPr>
            <a:grpSpLocks/>
          </p:cNvGrpSpPr>
          <p:nvPr/>
        </p:nvGrpSpPr>
        <p:grpSpPr bwMode="auto">
          <a:xfrm>
            <a:off x="3752974" y="3623072"/>
            <a:ext cx="577850" cy="276225"/>
            <a:chOff x="0" y="0"/>
            <a:chExt cx="364" cy="174"/>
          </a:xfrm>
        </p:grpSpPr>
        <p:sp>
          <p:nvSpPr>
            <p:cNvPr id="74803" name="Text Box 66">
              <a:extLst>
                <a:ext uri="{FF2B5EF4-FFF2-40B4-BE49-F238E27FC236}">
                  <a16:creationId xmlns:a16="http://schemas.microsoft.com/office/drawing/2014/main" id="{9928A61E-BC79-4D2E-B9E9-F3FCAFFB3843}"/>
                </a:ext>
              </a:extLst>
            </p:cNvPr>
            <p:cNvSpPr txBox="1">
              <a:spLocks noChangeArrowheads="1"/>
            </p:cNvSpPr>
            <p:nvPr/>
          </p:nvSpPr>
          <p:spPr bwMode="auto">
            <a:xfrm>
              <a:off x="0" y="0"/>
              <a:ext cx="240" cy="17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1800" i="0"/>
                <a:t>5</a:t>
              </a:r>
            </a:p>
          </p:txBody>
        </p:sp>
        <p:sp>
          <p:nvSpPr>
            <p:cNvPr id="74804" name="Text Box 67">
              <a:extLst>
                <a:ext uri="{FF2B5EF4-FFF2-40B4-BE49-F238E27FC236}">
                  <a16:creationId xmlns:a16="http://schemas.microsoft.com/office/drawing/2014/main" id="{4CE088D6-B98D-45FE-A591-FBD769477D5C}"/>
                </a:ext>
              </a:extLst>
            </p:cNvPr>
            <p:cNvSpPr txBox="1">
              <a:spLocks noChangeArrowheads="1"/>
            </p:cNvSpPr>
            <p:nvPr/>
          </p:nvSpPr>
          <p:spPr bwMode="auto">
            <a:xfrm>
              <a:off x="242" y="0"/>
              <a:ext cx="122" cy="17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zh-CN" altLang="en-US" sz="1800" i="0"/>
                <a:t>^</a:t>
              </a:r>
            </a:p>
          </p:txBody>
        </p:sp>
      </p:grpSp>
      <p:sp>
        <p:nvSpPr>
          <p:cNvPr id="74797" name="Line 68">
            <a:extLst>
              <a:ext uri="{FF2B5EF4-FFF2-40B4-BE49-F238E27FC236}">
                <a16:creationId xmlns:a16="http://schemas.microsoft.com/office/drawing/2014/main" id="{D595C25E-134D-40CD-B8D6-92245A0E746F}"/>
              </a:ext>
            </a:extLst>
          </p:cNvPr>
          <p:cNvSpPr>
            <a:spLocks noChangeShapeType="1"/>
          </p:cNvSpPr>
          <p:nvPr/>
        </p:nvSpPr>
        <p:spPr bwMode="auto">
          <a:xfrm>
            <a:off x="2305174" y="3775472"/>
            <a:ext cx="5334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i="0"/>
          </a:p>
        </p:txBody>
      </p:sp>
      <p:sp>
        <p:nvSpPr>
          <p:cNvPr id="74798" name="Line 69">
            <a:extLst>
              <a:ext uri="{FF2B5EF4-FFF2-40B4-BE49-F238E27FC236}">
                <a16:creationId xmlns:a16="http://schemas.microsoft.com/office/drawing/2014/main" id="{DB342F1B-24B1-4A9F-8B30-46494D3163D9}"/>
              </a:ext>
            </a:extLst>
          </p:cNvPr>
          <p:cNvSpPr>
            <a:spLocks noChangeShapeType="1"/>
          </p:cNvSpPr>
          <p:nvPr/>
        </p:nvSpPr>
        <p:spPr bwMode="auto">
          <a:xfrm>
            <a:off x="3295774" y="3775472"/>
            <a:ext cx="457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i="0"/>
          </a:p>
        </p:txBody>
      </p:sp>
      <p:grpSp>
        <p:nvGrpSpPr>
          <p:cNvPr id="74799" name="Group 70">
            <a:extLst>
              <a:ext uri="{FF2B5EF4-FFF2-40B4-BE49-F238E27FC236}">
                <a16:creationId xmlns:a16="http://schemas.microsoft.com/office/drawing/2014/main" id="{F06F8E3D-1953-475E-881C-678728240A78}"/>
              </a:ext>
            </a:extLst>
          </p:cNvPr>
          <p:cNvGrpSpPr>
            <a:grpSpLocks/>
          </p:cNvGrpSpPr>
          <p:nvPr/>
        </p:nvGrpSpPr>
        <p:grpSpPr bwMode="auto">
          <a:xfrm>
            <a:off x="2838574" y="4156472"/>
            <a:ext cx="577850" cy="276225"/>
            <a:chOff x="0" y="0"/>
            <a:chExt cx="364" cy="174"/>
          </a:xfrm>
        </p:grpSpPr>
        <p:sp>
          <p:nvSpPr>
            <p:cNvPr id="74801" name="Text Box 71">
              <a:extLst>
                <a:ext uri="{FF2B5EF4-FFF2-40B4-BE49-F238E27FC236}">
                  <a16:creationId xmlns:a16="http://schemas.microsoft.com/office/drawing/2014/main" id="{E57A0F33-00AF-4F7C-A549-71F568652A52}"/>
                </a:ext>
              </a:extLst>
            </p:cNvPr>
            <p:cNvSpPr txBox="1">
              <a:spLocks noChangeArrowheads="1"/>
            </p:cNvSpPr>
            <p:nvPr/>
          </p:nvSpPr>
          <p:spPr bwMode="auto">
            <a:xfrm>
              <a:off x="0" y="0"/>
              <a:ext cx="240" cy="17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1800" i="0"/>
                <a:t>6</a:t>
              </a:r>
            </a:p>
          </p:txBody>
        </p:sp>
        <p:sp>
          <p:nvSpPr>
            <p:cNvPr id="74802" name="Text Box 72">
              <a:extLst>
                <a:ext uri="{FF2B5EF4-FFF2-40B4-BE49-F238E27FC236}">
                  <a16:creationId xmlns:a16="http://schemas.microsoft.com/office/drawing/2014/main" id="{002DB891-FC3C-4D5E-827A-FF1D3E95642F}"/>
                </a:ext>
              </a:extLst>
            </p:cNvPr>
            <p:cNvSpPr txBox="1">
              <a:spLocks noChangeArrowheads="1"/>
            </p:cNvSpPr>
            <p:nvPr/>
          </p:nvSpPr>
          <p:spPr bwMode="auto">
            <a:xfrm>
              <a:off x="242" y="0"/>
              <a:ext cx="122" cy="17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zh-CN" altLang="en-US" sz="1800" i="0" dirty="0"/>
                <a:t>^</a:t>
              </a:r>
            </a:p>
          </p:txBody>
        </p:sp>
      </p:grpSp>
      <p:sp>
        <p:nvSpPr>
          <p:cNvPr id="74800" name="Line 73">
            <a:extLst>
              <a:ext uri="{FF2B5EF4-FFF2-40B4-BE49-F238E27FC236}">
                <a16:creationId xmlns:a16="http://schemas.microsoft.com/office/drawing/2014/main" id="{8C806A40-7B0C-44B2-857A-B2E40BCA540F}"/>
              </a:ext>
            </a:extLst>
          </p:cNvPr>
          <p:cNvSpPr>
            <a:spLocks noChangeShapeType="1"/>
          </p:cNvSpPr>
          <p:nvPr/>
        </p:nvSpPr>
        <p:spPr bwMode="auto">
          <a:xfrm>
            <a:off x="2305174" y="4308872"/>
            <a:ext cx="5334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i="0"/>
          </a:p>
        </p:txBody>
      </p:sp>
      <p:sp>
        <p:nvSpPr>
          <p:cNvPr id="47" name="对话气泡: 椭圆形 46">
            <a:extLst>
              <a:ext uri="{FF2B5EF4-FFF2-40B4-BE49-F238E27FC236}">
                <a16:creationId xmlns:a16="http://schemas.microsoft.com/office/drawing/2014/main" id="{929169D5-6868-4516-9ED2-3FA8678EE31F}"/>
              </a:ext>
            </a:extLst>
          </p:cNvPr>
          <p:cNvSpPr/>
          <p:nvPr/>
        </p:nvSpPr>
        <p:spPr bwMode="auto">
          <a:xfrm>
            <a:off x="2989858" y="212527"/>
            <a:ext cx="5620742" cy="3029545"/>
          </a:xfrm>
          <a:prstGeom prst="wedgeEllipseCallout">
            <a:avLst>
              <a:gd name="adj1" fmla="val -50215"/>
              <a:gd name="adj2" fmla="val 66131"/>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r>
              <a:rPr lang="zh-CN" altLang="en-US" sz="2800" i="0" dirty="0"/>
              <a:t>链表不熟，用</a:t>
            </a:r>
            <a:r>
              <a:rPr lang="en-US" altLang="zh-CN" sz="2800" i="0" dirty="0"/>
              <a:t>list</a:t>
            </a:r>
            <a:r>
              <a:rPr lang="zh-CN" altLang="en-US" sz="2800" i="0" dirty="0"/>
              <a:t>，</a:t>
            </a:r>
            <a:r>
              <a:rPr lang="en-US" altLang="zh-CN" sz="2800" i="0" dirty="0"/>
              <a:t>vector</a:t>
            </a:r>
            <a:r>
              <a:rPr lang="zh-CN" altLang="en-US" sz="2800" i="0" dirty="0"/>
              <a:t>容器。</a:t>
            </a:r>
            <a:r>
              <a:rPr lang="en-US" altLang="zh-CN" sz="2800" i="0" dirty="0"/>
              <a:t>map&lt;</a:t>
            </a:r>
            <a:r>
              <a:rPr lang="en-US" altLang="zh-CN" sz="2800" i="0" dirty="0" err="1"/>
              <a:t>char,vector</a:t>
            </a:r>
            <a:r>
              <a:rPr lang="en-US" altLang="zh-CN" sz="2800" i="0" dirty="0"/>
              <a:t>&lt;char&gt;&gt;</a:t>
            </a:r>
            <a:r>
              <a:rPr lang="zh-CN" altLang="en-US" sz="2800" i="0" dirty="0"/>
              <a:t>或</a:t>
            </a:r>
            <a:r>
              <a:rPr lang="en-US" altLang="zh-CN" sz="2800" i="0" dirty="0"/>
              <a:t>string</a:t>
            </a:r>
            <a:r>
              <a:rPr lang="zh-CN" altLang="en-US" sz="2800" i="0" dirty="0"/>
              <a:t>数组和</a:t>
            </a:r>
            <a:r>
              <a:rPr lang="en-US" altLang="zh-CN" sz="2800" i="0" dirty="0"/>
              <a:t>vector&lt;int&gt; tree[n];</a:t>
            </a:r>
            <a:endParaRPr kumimoji="0" lang="zh-CN" altLang="en-US" sz="2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48" name="对话气泡: 椭圆形 47">
            <a:extLst>
              <a:ext uri="{FF2B5EF4-FFF2-40B4-BE49-F238E27FC236}">
                <a16:creationId xmlns:a16="http://schemas.microsoft.com/office/drawing/2014/main" id="{039CC74C-6A75-45E7-BAF4-610B8389AB57}"/>
              </a:ext>
            </a:extLst>
          </p:cNvPr>
          <p:cNvSpPr/>
          <p:nvPr/>
        </p:nvSpPr>
        <p:spPr bwMode="auto">
          <a:xfrm>
            <a:off x="2781792" y="1949350"/>
            <a:ext cx="5620742" cy="605909"/>
          </a:xfrm>
          <a:prstGeom prst="wedgeEllipseCallout">
            <a:avLst>
              <a:gd name="adj1" fmla="val -46412"/>
              <a:gd name="adj2" fmla="val 238604"/>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r>
              <a:rPr lang="zh-CN" altLang="en-US" sz="2800" i="0" dirty="0"/>
              <a:t>双亲表示法转孩子表示法。</a:t>
            </a:r>
            <a:endParaRPr kumimoji="0" lang="zh-CN" altLang="en-US" sz="2800" b="1" i="0" u="none" strike="noStrike" cap="none" normalizeH="0" baseline="0" dirty="0">
              <a:ln>
                <a:noFill/>
              </a:ln>
              <a:solidFill>
                <a:schemeClr val="tx1"/>
              </a:solidFill>
              <a:effectLst/>
              <a:latin typeface="Times New Roman" pitchFamily="18" charset="0"/>
              <a:ea typeface="宋体"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47"/>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47" grpId="1" animBg="1"/>
      <p:bldP spid="48"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81" name="Rectangle 5">
            <a:extLst>
              <a:ext uri="{FF2B5EF4-FFF2-40B4-BE49-F238E27FC236}">
                <a16:creationId xmlns:a16="http://schemas.microsoft.com/office/drawing/2014/main" id="{FFF93F96-7750-4E6B-BFE3-9537EA39B0DF}"/>
              </a:ext>
            </a:extLst>
          </p:cNvPr>
          <p:cNvSpPr>
            <a:spLocks noGrp="1" noChangeArrowheads="1"/>
          </p:cNvSpPr>
          <p:nvPr>
            <p:ph type="body" idx="1"/>
          </p:nvPr>
        </p:nvSpPr>
        <p:spPr>
          <a:xfrm>
            <a:off x="539552" y="1299140"/>
            <a:ext cx="8763000" cy="1600764"/>
          </a:xfrm>
        </p:spPr>
        <p:txBody>
          <a:bodyPr/>
          <a:lstStyle/>
          <a:p>
            <a:pPr eaLnBrk="1" hangingPunct="1">
              <a:lnSpc>
                <a:spcPct val="90000"/>
              </a:lnSpc>
              <a:buFont typeface="Wingdings" panose="05000000000000000000" pitchFamily="2" charset="2"/>
              <a:buNone/>
            </a:pPr>
            <a:r>
              <a:rPr lang="en-US" altLang="zh-CN" b="1" dirty="0">
                <a:latin typeface="黑体" panose="02010609060101010101" pitchFamily="49" charset="-122"/>
                <a:ea typeface="黑体" panose="02010609060101010101" pitchFamily="49" charset="-122"/>
              </a:rPr>
              <a:t>3.</a:t>
            </a:r>
            <a:r>
              <a:rPr lang="zh-CN" altLang="en-US" b="1" dirty="0">
                <a:latin typeface="黑体" panose="02010609060101010101" pitchFamily="49" charset="-122"/>
                <a:ea typeface="黑体" panose="02010609060101010101" pitchFamily="49" charset="-122"/>
              </a:rPr>
              <a:t>孩子兄弟表示法</a:t>
            </a:r>
            <a:endParaRPr lang="en-US" altLang="zh-CN" b="1" dirty="0">
              <a:latin typeface="黑体" panose="02010609060101010101" pitchFamily="49" charset="-122"/>
              <a:ea typeface="黑体" panose="02010609060101010101" pitchFamily="49" charset="-122"/>
            </a:endParaRPr>
          </a:p>
          <a:p>
            <a:pPr eaLnBrk="1" hangingPunct="1">
              <a:lnSpc>
                <a:spcPct val="90000"/>
              </a:lnSpc>
            </a:pPr>
            <a:r>
              <a:rPr lang="zh-CN" altLang="en-US" dirty="0">
                <a:latin typeface="黑体" panose="02010609060101010101" pitchFamily="49" charset="-122"/>
                <a:ea typeface="黑体" panose="02010609060101010101" pitchFamily="49" charset="-122"/>
              </a:rPr>
              <a:t>采用二叉链表</a:t>
            </a:r>
          </a:p>
          <a:p>
            <a:pPr eaLnBrk="1" hangingPunct="1">
              <a:lnSpc>
                <a:spcPct val="90000"/>
              </a:lnSpc>
            </a:pPr>
            <a:r>
              <a:rPr lang="zh-CN" altLang="en-US" dirty="0">
                <a:latin typeface="黑体" panose="02010609060101010101" pitchFamily="49" charset="-122"/>
                <a:ea typeface="黑体" panose="02010609060101010101" pitchFamily="49" charset="-122"/>
              </a:rPr>
              <a:t>左指针指向第一个孩子，右指针指向兄弟</a:t>
            </a:r>
          </a:p>
        </p:txBody>
      </p:sp>
      <p:grpSp>
        <p:nvGrpSpPr>
          <p:cNvPr id="75783" name="Group 7">
            <a:extLst>
              <a:ext uri="{FF2B5EF4-FFF2-40B4-BE49-F238E27FC236}">
                <a16:creationId xmlns:a16="http://schemas.microsoft.com/office/drawing/2014/main" id="{24772998-D609-41AE-9793-B0DE9E428D0C}"/>
              </a:ext>
            </a:extLst>
          </p:cNvPr>
          <p:cNvGrpSpPr>
            <a:grpSpLocks/>
          </p:cNvGrpSpPr>
          <p:nvPr/>
        </p:nvGrpSpPr>
        <p:grpSpPr bwMode="auto">
          <a:xfrm>
            <a:off x="5565939" y="3601149"/>
            <a:ext cx="2667000" cy="1795463"/>
            <a:chOff x="0" y="0"/>
            <a:chExt cx="1680" cy="1131"/>
          </a:xfrm>
        </p:grpSpPr>
        <p:sp>
          <p:nvSpPr>
            <p:cNvPr id="75833" name="Line 8">
              <a:extLst>
                <a:ext uri="{FF2B5EF4-FFF2-40B4-BE49-F238E27FC236}">
                  <a16:creationId xmlns:a16="http://schemas.microsoft.com/office/drawing/2014/main" id="{72AA5255-464D-41C2-A940-8814A50D63BC}"/>
                </a:ext>
              </a:extLst>
            </p:cNvPr>
            <p:cNvSpPr>
              <a:spLocks noChangeShapeType="1"/>
            </p:cNvSpPr>
            <p:nvPr/>
          </p:nvSpPr>
          <p:spPr bwMode="auto">
            <a:xfrm>
              <a:off x="1080" y="171"/>
              <a:ext cx="360"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75834" name="Line 9">
              <a:extLst>
                <a:ext uri="{FF2B5EF4-FFF2-40B4-BE49-F238E27FC236}">
                  <a16:creationId xmlns:a16="http://schemas.microsoft.com/office/drawing/2014/main" id="{12EE3EAA-F2B9-4A63-89F2-C526936B803D}"/>
                </a:ext>
              </a:extLst>
            </p:cNvPr>
            <p:cNvSpPr>
              <a:spLocks noChangeShapeType="1"/>
            </p:cNvSpPr>
            <p:nvPr/>
          </p:nvSpPr>
          <p:spPr bwMode="auto">
            <a:xfrm flipH="1">
              <a:off x="576" y="171"/>
              <a:ext cx="360" cy="336"/>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75835" name="Oval 10">
              <a:extLst>
                <a:ext uri="{FF2B5EF4-FFF2-40B4-BE49-F238E27FC236}">
                  <a16:creationId xmlns:a16="http://schemas.microsoft.com/office/drawing/2014/main" id="{083743C5-CB13-40BC-93FE-9C129B66FD7A}"/>
                </a:ext>
              </a:extLst>
            </p:cNvPr>
            <p:cNvSpPr>
              <a:spLocks noChangeArrowheads="1"/>
            </p:cNvSpPr>
            <p:nvPr/>
          </p:nvSpPr>
          <p:spPr bwMode="auto">
            <a:xfrm>
              <a:off x="864" y="0"/>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A</a:t>
              </a:r>
            </a:p>
          </p:txBody>
        </p:sp>
        <p:sp>
          <p:nvSpPr>
            <p:cNvPr id="75836" name="Line 11">
              <a:extLst>
                <a:ext uri="{FF2B5EF4-FFF2-40B4-BE49-F238E27FC236}">
                  <a16:creationId xmlns:a16="http://schemas.microsoft.com/office/drawing/2014/main" id="{9935B7C7-5539-4BC3-AA47-B3AC5D6B365B}"/>
                </a:ext>
              </a:extLst>
            </p:cNvPr>
            <p:cNvSpPr>
              <a:spLocks noChangeShapeType="1"/>
            </p:cNvSpPr>
            <p:nvPr/>
          </p:nvSpPr>
          <p:spPr bwMode="auto">
            <a:xfrm flipH="1">
              <a:off x="240" y="561"/>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75837" name="Oval 12">
              <a:extLst>
                <a:ext uri="{FF2B5EF4-FFF2-40B4-BE49-F238E27FC236}">
                  <a16:creationId xmlns:a16="http://schemas.microsoft.com/office/drawing/2014/main" id="{55565E67-28D1-44A5-8C75-590CBDC9A7C0}"/>
                </a:ext>
              </a:extLst>
            </p:cNvPr>
            <p:cNvSpPr>
              <a:spLocks noChangeArrowheads="1"/>
            </p:cNvSpPr>
            <p:nvPr/>
          </p:nvSpPr>
          <p:spPr bwMode="auto">
            <a:xfrm>
              <a:off x="0" y="822"/>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E</a:t>
              </a:r>
            </a:p>
          </p:txBody>
        </p:sp>
        <p:sp>
          <p:nvSpPr>
            <p:cNvPr id="75838" name="Line 13">
              <a:extLst>
                <a:ext uri="{FF2B5EF4-FFF2-40B4-BE49-F238E27FC236}">
                  <a16:creationId xmlns:a16="http://schemas.microsoft.com/office/drawing/2014/main" id="{FCA16C37-9466-40CA-A099-74807D798B9F}"/>
                </a:ext>
              </a:extLst>
            </p:cNvPr>
            <p:cNvSpPr>
              <a:spLocks noChangeShapeType="1"/>
            </p:cNvSpPr>
            <p:nvPr/>
          </p:nvSpPr>
          <p:spPr bwMode="auto">
            <a:xfrm>
              <a:off x="528" y="582"/>
              <a:ext cx="216"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75839" name="Oval 14">
              <a:extLst>
                <a:ext uri="{FF2B5EF4-FFF2-40B4-BE49-F238E27FC236}">
                  <a16:creationId xmlns:a16="http://schemas.microsoft.com/office/drawing/2014/main" id="{665CD5EE-5AC1-4C90-860D-E8F0168A372E}"/>
                </a:ext>
              </a:extLst>
            </p:cNvPr>
            <p:cNvSpPr>
              <a:spLocks noChangeArrowheads="1"/>
            </p:cNvSpPr>
            <p:nvPr/>
          </p:nvSpPr>
          <p:spPr bwMode="auto">
            <a:xfrm>
              <a:off x="336" y="41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B</a:t>
              </a:r>
            </a:p>
          </p:txBody>
        </p:sp>
        <p:sp>
          <p:nvSpPr>
            <p:cNvPr id="75840" name="Line 15">
              <a:extLst>
                <a:ext uri="{FF2B5EF4-FFF2-40B4-BE49-F238E27FC236}">
                  <a16:creationId xmlns:a16="http://schemas.microsoft.com/office/drawing/2014/main" id="{35FBCC48-825D-4545-BA0A-78882BDBA395}"/>
                </a:ext>
              </a:extLst>
            </p:cNvPr>
            <p:cNvSpPr>
              <a:spLocks noChangeShapeType="1"/>
            </p:cNvSpPr>
            <p:nvPr/>
          </p:nvSpPr>
          <p:spPr bwMode="auto">
            <a:xfrm flipH="1">
              <a:off x="1296" y="582"/>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75841" name="Oval 16">
              <a:extLst>
                <a:ext uri="{FF2B5EF4-FFF2-40B4-BE49-F238E27FC236}">
                  <a16:creationId xmlns:a16="http://schemas.microsoft.com/office/drawing/2014/main" id="{70B2EFA4-FB20-4762-99B3-4B58C5D720D7}"/>
                </a:ext>
              </a:extLst>
            </p:cNvPr>
            <p:cNvSpPr>
              <a:spLocks noChangeArrowheads="1"/>
            </p:cNvSpPr>
            <p:nvPr/>
          </p:nvSpPr>
          <p:spPr bwMode="auto">
            <a:xfrm>
              <a:off x="1056" y="84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G</a:t>
              </a:r>
            </a:p>
          </p:txBody>
        </p:sp>
        <p:sp>
          <p:nvSpPr>
            <p:cNvPr id="75842" name="Oval 17">
              <a:extLst>
                <a:ext uri="{FF2B5EF4-FFF2-40B4-BE49-F238E27FC236}">
                  <a16:creationId xmlns:a16="http://schemas.microsoft.com/office/drawing/2014/main" id="{68DE8916-B75A-42C6-B2D8-CABE7BB9399B}"/>
                </a:ext>
              </a:extLst>
            </p:cNvPr>
            <p:cNvSpPr>
              <a:spLocks noChangeArrowheads="1"/>
            </p:cNvSpPr>
            <p:nvPr/>
          </p:nvSpPr>
          <p:spPr bwMode="auto">
            <a:xfrm>
              <a:off x="1392" y="41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D</a:t>
              </a:r>
            </a:p>
          </p:txBody>
        </p:sp>
        <p:sp>
          <p:nvSpPr>
            <p:cNvPr id="75843" name="Oval 18">
              <a:extLst>
                <a:ext uri="{FF2B5EF4-FFF2-40B4-BE49-F238E27FC236}">
                  <a16:creationId xmlns:a16="http://schemas.microsoft.com/office/drawing/2014/main" id="{9C4190E1-7C34-4B37-B2B8-F536D9066531}"/>
                </a:ext>
              </a:extLst>
            </p:cNvPr>
            <p:cNvSpPr>
              <a:spLocks noChangeArrowheads="1"/>
            </p:cNvSpPr>
            <p:nvPr/>
          </p:nvSpPr>
          <p:spPr bwMode="auto">
            <a:xfrm>
              <a:off x="648" y="84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F</a:t>
              </a:r>
            </a:p>
          </p:txBody>
        </p:sp>
        <p:sp>
          <p:nvSpPr>
            <p:cNvPr id="75844" name="Line 19">
              <a:extLst>
                <a:ext uri="{FF2B5EF4-FFF2-40B4-BE49-F238E27FC236}">
                  <a16:creationId xmlns:a16="http://schemas.microsoft.com/office/drawing/2014/main" id="{5FE62C23-8FBB-4027-9BC3-2674D9088CA6}"/>
                </a:ext>
              </a:extLst>
            </p:cNvPr>
            <p:cNvSpPr>
              <a:spLocks noChangeShapeType="1"/>
            </p:cNvSpPr>
            <p:nvPr/>
          </p:nvSpPr>
          <p:spPr bwMode="auto">
            <a:xfrm flipH="1">
              <a:off x="1008" y="276"/>
              <a:ext cx="0" cy="14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75845" name="Oval 20">
              <a:extLst>
                <a:ext uri="{FF2B5EF4-FFF2-40B4-BE49-F238E27FC236}">
                  <a16:creationId xmlns:a16="http://schemas.microsoft.com/office/drawing/2014/main" id="{F166E222-FA42-4E3D-A2D9-7B2EE1B8983E}"/>
                </a:ext>
              </a:extLst>
            </p:cNvPr>
            <p:cNvSpPr>
              <a:spLocks noChangeArrowheads="1"/>
            </p:cNvSpPr>
            <p:nvPr/>
          </p:nvSpPr>
          <p:spPr bwMode="auto">
            <a:xfrm>
              <a:off x="864" y="41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C</a:t>
              </a:r>
            </a:p>
          </p:txBody>
        </p:sp>
      </p:grpSp>
      <p:grpSp>
        <p:nvGrpSpPr>
          <p:cNvPr id="75784" name="Group 21">
            <a:extLst>
              <a:ext uri="{FF2B5EF4-FFF2-40B4-BE49-F238E27FC236}">
                <a16:creationId xmlns:a16="http://schemas.microsoft.com/office/drawing/2014/main" id="{093CDB0E-FEC3-4D13-86C4-64A2198A8B83}"/>
              </a:ext>
            </a:extLst>
          </p:cNvPr>
          <p:cNvGrpSpPr>
            <a:grpSpLocks/>
          </p:cNvGrpSpPr>
          <p:nvPr/>
        </p:nvGrpSpPr>
        <p:grpSpPr bwMode="auto">
          <a:xfrm>
            <a:off x="4047024" y="1340617"/>
            <a:ext cx="4800600" cy="533400"/>
            <a:chOff x="0" y="0"/>
            <a:chExt cx="2928" cy="336"/>
          </a:xfrm>
        </p:grpSpPr>
        <p:sp>
          <p:nvSpPr>
            <p:cNvPr id="75828" name="Rectangle 22">
              <a:extLst>
                <a:ext uri="{FF2B5EF4-FFF2-40B4-BE49-F238E27FC236}">
                  <a16:creationId xmlns:a16="http://schemas.microsoft.com/office/drawing/2014/main" id="{13A1F296-70CA-4F0C-BF22-D9C16DC13FE1}"/>
                </a:ext>
              </a:extLst>
            </p:cNvPr>
            <p:cNvSpPr>
              <a:spLocks noChangeArrowheads="1"/>
            </p:cNvSpPr>
            <p:nvPr/>
          </p:nvSpPr>
          <p:spPr bwMode="auto">
            <a:xfrm>
              <a:off x="0" y="0"/>
              <a:ext cx="2928" cy="336"/>
            </a:xfrm>
            <a:prstGeom prst="rect">
              <a:avLst/>
            </a:prstGeom>
            <a:solidFill>
              <a:srgbClr val="FFFFCC"/>
            </a:solidFill>
            <a:ln w="19050">
              <a:solidFill>
                <a:srgbClr val="FF0000"/>
              </a:solidFill>
              <a:miter lim="800000"/>
              <a:headEnd/>
              <a:tailEnd/>
            </a:ln>
            <a:effectLst>
              <a:outerShdw dist="107763"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2400" b="1" i="0">
                  <a:latin typeface="Times New Roman" panose="02020603050405020304" pitchFamily="18" charset="0"/>
                  <a:ea typeface="黑体" panose="02010609060101010101" pitchFamily="49" charset="-122"/>
                </a:rPr>
                <a:t>  </a:t>
              </a:r>
              <a:r>
                <a:rPr lang="en-US" altLang="zh-CN" sz="2800" b="1" i="0">
                  <a:latin typeface="Times New Roman" panose="02020603050405020304" pitchFamily="18" charset="0"/>
                  <a:ea typeface="黑体" panose="02010609060101010101" pitchFamily="49" charset="-122"/>
                </a:rPr>
                <a:t>data</a:t>
              </a:r>
              <a:endParaRPr lang="en-US" altLang="zh-CN" sz="2400" i="0">
                <a:latin typeface="Arial" panose="020B0604020202020204" pitchFamily="34" charset="0"/>
                <a:ea typeface="黑体" panose="02010609060101010101" pitchFamily="49" charset="-122"/>
              </a:endParaRPr>
            </a:p>
          </p:txBody>
        </p:sp>
        <p:sp>
          <p:nvSpPr>
            <p:cNvPr id="75829" name="Text Box 23">
              <a:extLst>
                <a:ext uri="{FF2B5EF4-FFF2-40B4-BE49-F238E27FC236}">
                  <a16:creationId xmlns:a16="http://schemas.microsoft.com/office/drawing/2014/main" id="{422DA1CE-B3B8-4BE5-A34E-F58560FEE7BE}"/>
                </a:ext>
              </a:extLst>
            </p:cNvPr>
            <p:cNvSpPr txBox="1">
              <a:spLocks noChangeArrowheads="1"/>
            </p:cNvSpPr>
            <p:nvPr/>
          </p:nvSpPr>
          <p:spPr bwMode="auto">
            <a:xfrm>
              <a:off x="737" y="0"/>
              <a:ext cx="1017"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2800" b="1" i="0">
                  <a:latin typeface="Times New Roman" panose="02020603050405020304" pitchFamily="18" charset="0"/>
                  <a:ea typeface="黑体" panose="02010609060101010101" pitchFamily="49" charset="-122"/>
                </a:rPr>
                <a:t>firstChild</a:t>
              </a:r>
              <a:endParaRPr lang="en-US" altLang="zh-CN" sz="2400" i="0">
                <a:latin typeface="Arial" panose="020B0604020202020204" pitchFamily="34" charset="0"/>
                <a:ea typeface="黑体" panose="02010609060101010101" pitchFamily="49" charset="-122"/>
              </a:endParaRPr>
            </a:p>
          </p:txBody>
        </p:sp>
        <p:sp>
          <p:nvSpPr>
            <p:cNvPr id="75830" name="Text Box 24">
              <a:extLst>
                <a:ext uri="{FF2B5EF4-FFF2-40B4-BE49-F238E27FC236}">
                  <a16:creationId xmlns:a16="http://schemas.microsoft.com/office/drawing/2014/main" id="{DEB26BA9-6DB0-4497-9362-BD5665D706B9}"/>
                </a:ext>
              </a:extLst>
            </p:cNvPr>
            <p:cNvSpPr txBox="1">
              <a:spLocks noChangeArrowheads="1"/>
            </p:cNvSpPr>
            <p:nvPr/>
          </p:nvSpPr>
          <p:spPr bwMode="auto">
            <a:xfrm>
              <a:off x="1728" y="0"/>
              <a:ext cx="116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2800" b="1" i="0">
                  <a:latin typeface="Times New Roman" panose="02020603050405020304" pitchFamily="18" charset="0"/>
                  <a:ea typeface="黑体" panose="02010609060101010101" pitchFamily="49" charset="-122"/>
                </a:rPr>
                <a:t>nextSibling</a:t>
              </a:r>
              <a:endParaRPr lang="en-US" altLang="zh-CN" sz="2400" i="0">
                <a:latin typeface="Arial" panose="020B0604020202020204" pitchFamily="34" charset="0"/>
                <a:ea typeface="黑体" panose="02010609060101010101" pitchFamily="49" charset="-122"/>
              </a:endParaRPr>
            </a:p>
          </p:txBody>
        </p:sp>
        <p:sp>
          <p:nvSpPr>
            <p:cNvPr id="75831" name="Line 25">
              <a:extLst>
                <a:ext uri="{FF2B5EF4-FFF2-40B4-BE49-F238E27FC236}">
                  <a16:creationId xmlns:a16="http://schemas.microsoft.com/office/drawing/2014/main" id="{3E223DC3-CBD9-4522-8A94-FF16798EF203}"/>
                </a:ext>
              </a:extLst>
            </p:cNvPr>
            <p:cNvSpPr>
              <a:spLocks noChangeShapeType="1"/>
            </p:cNvSpPr>
            <p:nvPr/>
          </p:nvSpPr>
          <p:spPr bwMode="auto">
            <a:xfrm>
              <a:off x="732" y="0"/>
              <a:ext cx="0" cy="336"/>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i="0"/>
            </a:p>
          </p:txBody>
        </p:sp>
        <p:sp>
          <p:nvSpPr>
            <p:cNvPr id="75832" name="Line 26">
              <a:extLst>
                <a:ext uri="{FF2B5EF4-FFF2-40B4-BE49-F238E27FC236}">
                  <a16:creationId xmlns:a16="http://schemas.microsoft.com/office/drawing/2014/main" id="{445B3712-33AA-4719-85C1-2CFCAF23310A}"/>
                </a:ext>
              </a:extLst>
            </p:cNvPr>
            <p:cNvSpPr>
              <a:spLocks noChangeShapeType="1"/>
            </p:cNvSpPr>
            <p:nvPr/>
          </p:nvSpPr>
          <p:spPr bwMode="auto">
            <a:xfrm>
              <a:off x="1722" y="0"/>
              <a:ext cx="0" cy="336"/>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i="0"/>
            </a:p>
          </p:txBody>
        </p:sp>
      </p:grpSp>
      <p:grpSp>
        <p:nvGrpSpPr>
          <p:cNvPr id="4" name="组合 3">
            <a:extLst>
              <a:ext uri="{FF2B5EF4-FFF2-40B4-BE49-F238E27FC236}">
                <a16:creationId xmlns:a16="http://schemas.microsoft.com/office/drawing/2014/main" id="{755AA7A9-43AA-ABD7-AFA5-2B2AC2F219B1}"/>
              </a:ext>
            </a:extLst>
          </p:cNvPr>
          <p:cNvGrpSpPr/>
          <p:nvPr/>
        </p:nvGrpSpPr>
        <p:grpSpPr>
          <a:xfrm>
            <a:off x="2411537" y="3504768"/>
            <a:ext cx="820813" cy="292474"/>
            <a:chOff x="2492822" y="3970200"/>
            <a:chExt cx="820813" cy="292474"/>
          </a:xfrm>
        </p:grpSpPr>
        <p:sp>
          <p:nvSpPr>
            <p:cNvPr id="75786" name="Rectangle 28">
              <a:extLst>
                <a:ext uri="{FF2B5EF4-FFF2-40B4-BE49-F238E27FC236}">
                  <a16:creationId xmlns:a16="http://schemas.microsoft.com/office/drawing/2014/main" id="{A3FFDEE9-68F6-4D63-A5FB-894F0C8BEF46}"/>
                </a:ext>
              </a:extLst>
            </p:cNvPr>
            <p:cNvSpPr>
              <a:spLocks noChangeArrowheads="1"/>
            </p:cNvSpPr>
            <p:nvPr/>
          </p:nvSpPr>
          <p:spPr bwMode="auto">
            <a:xfrm>
              <a:off x="2492822" y="3970200"/>
              <a:ext cx="820813" cy="292474"/>
            </a:xfrm>
            <a:prstGeom prst="rect">
              <a:avLst/>
            </a:prstGeom>
            <a:solidFill>
              <a:srgbClr val="FFFFCC"/>
            </a:solidFill>
            <a:ln w="19050">
              <a:solidFill>
                <a:srgbClr val="009900"/>
              </a:solidFill>
              <a:miter lim="800000"/>
              <a:headEnd/>
              <a:tailEnd/>
            </a:ln>
            <a:effectLst>
              <a:outerShdw dist="107763"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75787" name="Line 29">
              <a:extLst>
                <a:ext uri="{FF2B5EF4-FFF2-40B4-BE49-F238E27FC236}">
                  <a16:creationId xmlns:a16="http://schemas.microsoft.com/office/drawing/2014/main" id="{3C221C4D-1E3B-4613-85DB-0C17DB483D97}"/>
                </a:ext>
              </a:extLst>
            </p:cNvPr>
            <p:cNvSpPr>
              <a:spLocks noChangeShapeType="1"/>
            </p:cNvSpPr>
            <p:nvPr/>
          </p:nvSpPr>
          <p:spPr bwMode="auto">
            <a:xfrm>
              <a:off x="2765918" y="3970200"/>
              <a:ext cx="0" cy="292474"/>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5788" name="Line 30">
              <a:extLst>
                <a:ext uri="{FF2B5EF4-FFF2-40B4-BE49-F238E27FC236}">
                  <a16:creationId xmlns:a16="http://schemas.microsoft.com/office/drawing/2014/main" id="{148A72D3-A95E-40DC-9E4A-2AB9652D612B}"/>
                </a:ext>
              </a:extLst>
            </p:cNvPr>
            <p:cNvSpPr>
              <a:spLocks noChangeShapeType="1"/>
            </p:cNvSpPr>
            <p:nvPr/>
          </p:nvSpPr>
          <p:spPr bwMode="auto">
            <a:xfrm>
              <a:off x="3039013" y="3970200"/>
              <a:ext cx="0" cy="292474"/>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grpSp>
      <p:grpSp>
        <p:nvGrpSpPr>
          <p:cNvPr id="5" name="组合 4">
            <a:extLst>
              <a:ext uri="{FF2B5EF4-FFF2-40B4-BE49-F238E27FC236}">
                <a16:creationId xmlns:a16="http://schemas.microsoft.com/office/drawing/2014/main" id="{EBBF78CB-0A00-060E-7B66-8DF370CB5C15}"/>
              </a:ext>
            </a:extLst>
          </p:cNvPr>
          <p:cNvGrpSpPr/>
          <p:nvPr/>
        </p:nvGrpSpPr>
        <p:grpSpPr>
          <a:xfrm>
            <a:off x="1699047" y="3992738"/>
            <a:ext cx="820813" cy="294013"/>
            <a:chOff x="1780332" y="4458170"/>
            <a:chExt cx="820813" cy="294013"/>
          </a:xfrm>
        </p:grpSpPr>
        <p:sp>
          <p:nvSpPr>
            <p:cNvPr id="75789" name="Rectangle 31">
              <a:extLst>
                <a:ext uri="{FF2B5EF4-FFF2-40B4-BE49-F238E27FC236}">
                  <a16:creationId xmlns:a16="http://schemas.microsoft.com/office/drawing/2014/main" id="{3887901E-1B99-4528-9E9E-F4EE6AE6211B}"/>
                </a:ext>
              </a:extLst>
            </p:cNvPr>
            <p:cNvSpPr>
              <a:spLocks noChangeArrowheads="1"/>
            </p:cNvSpPr>
            <p:nvPr/>
          </p:nvSpPr>
          <p:spPr bwMode="auto">
            <a:xfrm>
              <a:off x="1780332" y="4458170"/>
              <a:ext cx="820813" cy="294013"/>
            </a:xfrm>
            <a:prstGeom prst="rect">
              <a:avLst/>
            </a:prstGeom>
            <a:solidFill>
              <a:srgbClr val="FFFFCC"/>
            </a:solidFill>
            <a:ln w="19050">
              <a:solidFill>
                <a:srgbClr val="009900"/>
              </a:solidFill>
              <a:miter lim="800000"/>
              <a:headEnd/>
              <a:tailEnd/>
            </a:ln>
            <a:effectLst>
              <a:outerShdw dist="107763"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75790" name="Line 32">
              <a:extLst>
                <a:ext uri="{FF2B5EF4-FFF2-40B4-BE49-F238E27FC236}">
                  <a16:creationId xmlns:a16="http://schemas.microsoft.com/office/drawing/2014/main" id="{84035E24-D9BE-486E-BBE9-435CE48A24CF}"/>
                </a:ext>
              </a:extLst>
            </p:cNvPr>
            <p:cNvSpPr>
              <a:spLocks noChangeShapeType="1"/>
            </p:cNvSpPr>
            <p:nvPr/>
          </p:nvSpPr>
          <p:spPr bwMode="auto">
            <a:xfrm>
              <a:off x="2054953" y="4458170"/>
              <a:ext cx="0" cy="294013"/>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5791" name="Line 33">
              <a:extLst>
                <a:ext uri="{FF2B5EF4-FFF2-40B4-BE49-F238E27FC236}">
                  <a16:creationId xmlns:a16="http://schemas.microsoft.com/office/drawing/2014/main" id="{0E3054DE-2E2B-48C3-BF52-A07EE9262FCE}"/>
                </a:ext>
              </a:extLst>
            </p:cNvPr>
            <p:cNvSpPr>
              <a:spLocks noChangeShapeType="1"/>
            </p:cNvSpPr>
            <p:nvPr/>
          </p:nvSpPr>
          <p:spPr bwMode="auto">
            <a:xfrm>
              <a:off x="2328049" y="4458170"/>
              <a:ext cx="0" cy="294013"/>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grpSp>
      <p:sp>
        <p:nvSpPr>
          <p:cNvPr id="75795" name="Line 37">
            <a:extLst>
              <a:ext uri="{FF2B5EF4-FFF2-40B4-BE49-F238E27FC236}">
                <a16:creationId xmlns:a16="http://schemas.microsoft.com/office/drawing/2014/main" id="{1173B774-7F63-4716-A84A-7ECFC5A99841}"/>
              </a:ext>
            </a:extLst>
          </p:cNvPr>
          <p:cNvSpPr>
            <a:spLocks noChangeShapeType="1"/>
          </p:cNvSpPr>
          <p:nvPr/>
        </p:nvSpPr>
        <p:spPr bwMode="auto">
          <a:xfrm flipH="1">
            <a:off x="2081991" y="3651005"/>
            <a:ext cx="492793" cy="341733"/>
          </a:xfrm>
          <a:prstGeom prst="line">
            <a:avLst/>
          </a:prstGeom>
          <a:noFill/>
          <a:ln w="28575">
            <a:solidFill>
              <a:schemeClr val="accent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grpSp>
        <p:nvGrpSpPr>
          <p:cNvPr id="6" name="组合 5">
            <a:extLst>
              <a:ext uri="{FF2B5EF4-FFF2-40B4-BE49-F238E27FC236}">
                <a16:creationId xmlns:a16="http://schemas.microsoft.com/office/drawing/2014/main" id="{F95590B5-E63D-2B1C-85B6-52526AC3CA12}"/>
              </a:ext>
            </a:extLst>
          </p:cNvPr>
          <p:cNvGrpSpPr/>
          <p:nvPr/>
        </p:nvGrpSpPr>
        <p:grpSpPr>
          <a:xfrm>
            <a:off x="914065" y="4152311"/>
            <a:ext cx="930661" cy="683465"/>
            <a:chOff x="1014443" y="4605946"/>
            <a:chExt cx="930661" cy="683465"/>
          </a:xfrm>
        </p:grpSpPr>
        <p:sp>
          <p:nvSpPr>
            <p:cNvPr id="75792" name="Rectangle 34">
              <a:extLst>
                <a:ext uri="{FF2B5EF4-FFF2-40B4-BE49-F238E27FC236}">
                  <a16:creationId xmlns:a16="http://schemas.microsoft.com/office/drawing/2014/main" id="{358D4C8B-B631-49CC-B372-25243FD4BDB7}"/>
                </a:ext>
              </a:extLst>
            </p:cNvPr>
            <p:cNvSpPr>
              <a:spLocks noChangeArrowheads="1"/>
            </p:cNvSpPr>
            <p:nvPr/>
          </p:nvSpPr>
          <p:spPr bwMode="auto">
            <a:xfrm>
              <a:off x="1014443" y="4996937"/>
              <a:ext cx="875737" cy="292474"/>
            </a:xfrm>
            <a:prstGeom prst="rect">
              <a:avLst/>
            </a:prstGeom>
            <a:solidFill>
              <a:srgbClr val="FFFFCC"/>
            </a:solidFill>
            <a:ln w="19050">
              <a:solidFill>
                <a:srgbClr val="009900"/>
              </a:solidFill>
              <a:miter lim="800000"/>
              <a:headEnd/>
              <a:tailEnd/>
            </a:ln>
            <a:effectLst>
              <a:outerShdw dist="107763"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75793" name="Line 35">
              <a:extLst>
                <a:ext uri="{FF2B5EF4-FFF2-40B4-BE49-F238E27FC236}">
                  <a16:creationId xmlns:a16="http://schemas.microsoft.com/office/drawing/2014/main" id="{3627B028-49EA-484A-ACA0-E8397E5DA0D3}"/>
                </a:ext>
              </a:extLst>
            </p:cNvPr>
            <p:cNvSpPr>
              <a:spLocks noChangeShapeType="1"/>
            </p:cNvSpPr>
            <p:nvPr/>
          </p:nvSpPr>
          <p:spPr bwMode="auto">
            <a:xfrm>
              <a:off x="1289064" y="4996937"/>
              <a:ext cx="0" cy="292474"/>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5794" name="Line 36">
              <a:extLst>
                <a:ext uri="{FF2B5EF4-FFF2-40B4-BE49-F238E27FC236}">
                  <a16:creationId xmlns:a16="http://schemas.microsoft.com/office/drawing/2014/main" id="{500A01C9-E6A9-4B7A-B42D-F2919B592EC5}"/>
                </a:ext>
              </a:extLst>
            </p:cNvPr>
            <p:cNvSpPr>
              <a:spLocks noChangeShapeType="1"/>
            </p:cNvSpPr>
            <p:nvPr/>
          </p:nvSpPr>
          <p:spPr bwMode="auto">
            <a:xfrm>
              <a:off x="1617084" y="4996937"/>
              <a:ext cx="0" cy="292474"/>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5796" name="Line 38">
              <a:extLst>
                <a:ext uri="{FF2B5EF4-FFF2-40B4-BE49-F238E27FC236}">
                  <a16:creationId xmlns:a16="http://schemas.microsoft.com/office/drawing/2014/main" id="{B72A10FA-3A6C-4AB0-8E01-69063A51B97B}"/>
                </a:ext>
              </a:extLst>
            </p:cNvPr>
            <p:cNvSpPr>
              <a:spLocks noChangeShapeType="1"/>
            </p:cNvSpPr>
            <p:nvPr/>
          </p:nvSpPr>
          <p:spPr bwMode="auto">
            <a:xfrm flipH="1">
              <a:off x="1452311" y="4605946"/>
              <a:ext cx="492793" cy="390991"/>
            </a:xfrm>
            <a:prstGeom prst="line">
              <a:avLst/>
            </a:prstGeom>
            <a:noFill/>
            <a:ln w="28575">
              <a:solidFill>
                <a:schemeClr val="accent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grpSp>
      <p:grpSp>
        <p:nvGrpSpPr>
          <p:cNvPr id="12" name="组合 11">
            <a:extLst>
              <a:ext uri="{FF2B5EF4-FFF2-40B4-BE49-F238E27FC236}">
                <a16:creationId xmlns:a16="http://schemas.microsoft.com/office/drawing/2014/main" id="{F352FD6B-3997-C5CA-3C8E-F87991E0F2DE}"/>
              </a:ext>
            </a:extLst>
          </p:cNvPr>
          <p:cNvGrpSpPr/>
          <p:nvPr/>
        </p:nvGrpSpPr>
        <p:grpSpPr>
          <a:xfrm>
            <a:off x="2957728" y="5508983"/>
            <a:ext cx="820813" cy="292474"/>
            <a:chOff x="3039013" y="5777391"/>
            <a:chExt cx="820813" cy="292474"/>
          </a:xfrm>
        </p:grpSpPr>
        <p:sp>
          <p:nvSpPr>
            <p:cNvPr id="75803" name="Rectangle 45">
              <a:extLst>
                <a:ext uri="{FF2B5EF4-FFF2-40B4-BE49-F238E27FC236}">
                  <a16:creationId xmlns:a16="http://schemas.microsoft.com/office/drawing/2014/main" id="{87E78ADC-546C-467A-B159-9DA661FA12DB}"/>
                </a:ext>
              </a:extLst>
            </p:cNvPr>
            <p:cNvSpPr>
              <a:spLocks noChangeArrowheads="1"/>
            </p:cNvSpPr>
            <p:nvPr/>
          </p:nvSpPr>
          <p:spPr bwMode="auto">
            <a:xfrm>
              <a:off x="3039013" y="5777391"/>
              <a:ext cx="820813" cy="292474"/>
            </a:xfrm>
            <a:prstGeom prst="rect">
              <a:avLst/>
            </a:prstGeom>
            <a:solidFill>
              <a:srgbClr val="FFFFCC"/>
            </a:solidFill>
            <a:ln w="19050">
              <a:solidFill>
                <a:srgbClr val="009900"/>
              </a:solidFill>
              <a:miter lim="800000"/>
              <a:headEnd/>
              <a:tailEnd/>
            </a:ln>
            <a:effectLst>
              <a:outerShdw dist="107763"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75804" name="Line 46">
              <a:extLst>
                <a:ext uri="{FF2B5EF4-FFF2-40B4-BE49-F238E27FC236}">
                  <a16:creationId xmlns:a16="http://schemas.microsoft.com/office/drawing/2014/main" id="{CD0DA869-9C4C-41CC-9971-225197C89566}"/>
                </a:ext>
              </a:extLst>
            </p:cNvPr>
            <p:cNvSpPr>
              <a:spLocks noChangeShapeType="1"/>
            </p:cNvSpPr>
            <p:nvPr/>
          </p:nvSpPr>
          <p:spPr bwMode="auto">
            <a:xfrm>
              <a:off x="3313635" y="5777391"/>
              <a:ext cx="0" cy="292474"/>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5805" name="Line 47">
              <a:extLst>
                <a:ext uri="{FF2B5EF4-FFF2-40B4-BE49-F238E27FC236}">
                  <a16:creationId xmlns:a16="http://schemas.microsoft.com/office/drawing/2014/main" id="{26D48363-4ED0-497C-9789-996541CA9B8A}"/>
                </a:ext>
              </a:extLst>
            </p:cNvPr>
            <p:cNvSpPr>
              <a:spLocks noChangeShapeType="1"/>
            </p:cNvSpPr>
            <p:nvPr/>
          </p:nvSpPr>
          <p:spPr bwMode="auto">
            <a:xfrm>
              <a:off x="3586731" y="5777391"/>
              <a:ext cx="0" cy="292474"/>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grpSp>
      <p:grpSp>
        <p:nvGrpSpPr>
          <p:cNvPr id="8" name="组合 7">
            <a:extLst>
              <a:ext uri="{FF2B5EF4-FFF2-40B4-BE49-F238E27FC236}">
                <a16:creationId xmlns:a16="http://schemas.microsoft.com/office/drawing/2014/main" id="{A4F9DBC7-EA82-7B55-AE25-89A5C0959927}"/>
              </a:ext>
            </a:extLst>
          </p:cNvPr>
          <p:cNvGrpSpPr/>
          <p:nvPr/>
        </p:nvGrpSpPr>
        <p:grpSpPr>
          <a:xfrm>
            <a:off x="1699047" y="4656367"/>
            <a:ext cx="820813" cy="683465"/>
            <a:chOff x="1780332" y="5143174"/>
            <a:chExt cx="820813" cy="683465"/>
          </a:xfrm>
        </p:grpSpPr>
        <p:grpSp>
          <p:nvGrpSpPr>
            <p:cNvPr id="7" name="组合 6">
              <a:extLst>
                <a:ext uri="{FF2B5EF4-FFF2-40B4-BE49-F238E27FC236}">
                  <a16:creationId xmlns:a16="http://schemas.microsoft.com/office/drawing/2014/main" id="{B5B04168-BB06-65A1-EC45-B446C1E64AA2}"/>
                </a:ext>
              </a:extLst>
            </p:cNvPr>
            <p:cNvGrpSpPr/>
            <p:nvPr/>
          </p:nvGrpSpPr>
          <p:grpSpPr>
            <a:xfrm>
              <a:off x="1780332" y="5534165"/>
              <a:ext cx="820813" cy="292474"/>
              <a:chOff x="1780332" y="5534165"/>
              <a:chExt cx="820813" cy="292474"/>
            </a:xfrm>
          </p:grpSpPr>
          <p:sp>
            <p:nvSpPr>
              <p:cNvPr id="75806" name="Rectangle 48">
                <a:extLst>
                  <a:ext uri="{FF2B5EF4-FFF2-40B4-BE49-F238E27FC236}">
                    <a16:creationId xmlns:a16="http://schemas.microsoft.com/office/drawing/2014/main" id="{8269DDCF-8A1E-4E73-B487-AEE91D1DB0E3}"/>
                  </a:ext>
                </a:extLst>
              </p:cNvPr>
              <p:cNvSpPr>
                <a:spLocks noChangeArrowheads="1"/>
              </p:cNvSpPr>
              <p:nvPr/>
            </p:nvSpPr>
            <p:spPr bwMode="auto">
              <a:xfrm>
                <a:off x="1780332" y="5534165"/>
                <a:ext cx="820813" cy="292474"/>
              </a:xfrm>
              <a:prstGeom prst="rect">
                <a:avLst/>
              </a:prstGeom>
              <a:solidFill>
                <a:srgbClr val="FFFFCC"/>
              </a:solidFill>
              <a:ln w="19050">
                <a:solidFill>
                  <a:srgbClr val="009900"/>
                </a:solidFill>
                <a:miter lim="800000"/>
                <a:headEnd/>
                <a:tailEnd/>
              </a:ln>
              <a:effectLst>
                <a:outerShdw dist="107763"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75807" name="Line 49">
                <a:extLst>
                  <a:ext uri="{FF2B5EF4-FFF2-40B4-BE49-F238E27FC236}">
                    <a16:creationId xmlns:a16="http://schemas.microsoft.com/office/drawing/2014/main" id="{5AD088E4-3258-40DB-A7C1-99B363455D87}"/>
                  </a:ext>
                </a:extLst>
              </p:cNvPr>
              <p:cNvSpPr>
                <a:spLocks noChangeShapeType="1"/>
              </p:cNvSpPr>
              <p:nvPr/>
            </p:nvSpPr>
            <p:spPr bwMode="auto">
              <a:xfrm>
                <a:off x="2054953" y="5534165"/>
                <a:ext cx="0" cy="292474"/>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5808" name="Line 50">
                <a:extLst>
                  <a:ext uri="{FF2B5EF4-FFF2-40B4-BE49-F238E27FC236}">
                    <a16:creationId xmlns:a16="http://schemas.microsoft.com/office/drawing/2014/main" id="{A68687D4-FECF-4971-8018-3C96B1805CB8}"/>
                  </a:ext>
                </a:extLst>
              </p:cNvPr>
              <p:cNvSpPr>
                <a:spLocks noChangeShapeType="1"/>
              </p:cNvSpPr>
              <p:nvPr/>
            </p:nvSpPr>
            <p:spPr bwMode="auto">
              <a:xfrm>
                <a:off x="2328049" y="5534165"/>
                <a:ext cx="0" cy="292474"/>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grpSp>
        <p:sp>
          <p:nvSpPr>
            <p:cNvPr id="75810" name="Line 52">
              <a:extLst>
                <a:ext uri="{FF2B5EF4-FFF2-40B4-BE49-F238E27FC236}">
                  <a16:creationId xmlns:a16="http://schemas.microsoft.com/office/drawing/2014/main" id="{0391CAB9-2C4B-4E42-9741-3B417973E8F1}"/>
                </a:ext>
              </a:extLst>
            </p:cNvPr>
            <p:cNvSpPr>
              <a:spLocks noChangeShapeType="1"/>
            </p:cNvSpPr>
            <p:nvPr/>
          </p:nvSpPr>
          <p:spPr bwMode="auto">
            <a:xfrm>
              <a:off x="1780332" y="5143174"/>
              <a:ext cx="382944" cy="390991"/>
            </a:xfrm>
            <a:prstGeom prst="line">
              <a:avLst/>
            </a:prstGeom>
            <a:noFill/>
            <a:ln w="28575">
              <a:solidFill>
                <a:schemeClr val="accent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grpSp>
      <p:grpSp>
        <p:nvGrpSpPr>
          <p:cNvPr id="9" name="组合 8">
            <a:extLst>
              <a:ext uri="{FF2B5EF4-FFF2-40B4-BE49-F238E27FC236}">
                <a16:creationId xmlns:a16="http://schemas.microsoft.com/office/drawing/2014/main" id="{1CE4E12A-E07E-383A-E35C-5DDB7D42DBEC}"/>
              </a:ext>
            </a:extLst>
          </p:cNvPr>
          <p:cNvGrpSpPr/>
          <p:nvPr/>
        </p:nvGrpSpPr>
        <p:grpSpPr>
          <a:xfrm>
            <a:off x="2458668" y="4140514"/>
            <a:ext cx="1046778" cy="683465"/>
            <a:chOff x="2539953" y="4408922"/>
            <a:chExt cx="1046778" cy="683465"/>
          </a:xfrm>
        </p:grpSpPr>
        <p:sp>
          <p:nvSpPr>
            <p:cNvPr id="75797" name="Rectangle 39">
              <a:extLst>
                <a:ext uri="{FF2B5EF4-FFF2-40B4-BE49-F238E27FC236}">
                  <a16:creationId xmlns:a16="http://schemas.microsoft.com/office/drawing/2014/main" id="{33F0EA43-5CC2-499F-99FA-46AD10131E8A}"/>
                </a:ext>
              </a:extLst>
            </p:cNvPr>
            <p:cNvSpPr>
              <a:spLocks noChangeArrowheads="1"/>
            </p:cNvSpPr>
            <p:nvPr/>
          </p:nvSpPr>
          <p:spPr bwMode="auto">
            <a:xfrm>
              <a:off x="2765918" y="4799913"/>
              <a:ext cx="820813" cy="292474"/>
            </a:xfrm>
            <a:prstGeom prst="rect">
              <a:avLst/>
            </a:prstGeom>
            <a:solidFill>
              <a:srgbClr val="FFFFCC"/>
            </a:solidFill>
            <a:ln w="19050">
              <a:solidFill>
                <a:srgbClr val="009900"/>
              </a:solidFill>
              <a:miter lim="800000"/>
              <a:headEnd/>
              <a:tailEnd/>
            </a:ln>
            <a:effectLst>
              <a:outerShdw dist="107763"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75798" name="Line 40">
              <a:extLst>
                <a:ext uri="{FF2B5EF4-FFF2-40B4-BE49-F238E27FC236}">
                  <a16:creationId xmlns:a16="http://schemas.microsoft.com/office/drawing/2014/main" id="{BAB811E9-56C1-4F83-9336-37E4F08989EA}"/>
                </a:ext>
              </a:extLst>
            </p:cNvPr>
            <p:cNvSpPr>
              <a:spLocks noChangeShapeType="1"/>
            </p:cNvSpPr>
            <p:nvPr/>
          </p:nvSpPr>
          <p:spPr bwMode="auto">
            <a:xfrm>
              <a:off x="3039013" y="4799913"/>
              <a:ext cx="0" cy="292474"/>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5799" name="Line 41">
              <a:extLst>
                <a:ext uri="{FF2B5EF4-FFF2-40B4-BE49-F238E27FC236}">
                  <a16:creationId xmlns:a16="http://schemas.microsoft.com/office/drawing/2014/main" id="{2F65C424-1E6A-4E92-BDA4-7E4F281B223B}"/>
                </a:ext>
              </a:extLst>
            </p:cNvPr>
            <p:cNvSpPr>
              <a:spLocks noChangeShapeType="1"/>
            </p:cNvSpPr>
            <p:nvPr/>
          </p:nvSpPr>
          <p:spPr bwMode="auto">
            <a:xfrm>
              <a:off x="3313635" y="4799913"/>
              <a:ext cx="0" cy="292474"/>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5811" name="Line 53">
              <a:extLst>
                <a:ext uri="{FF2B5EF4-FFF2-40B4-BE49-F238E27FC236}">
                  <a16:creationId xmlns:a16="http://schemas.microsoft.com/office/drawing/2014/main" id="{6992A1BB-97A6-4594-A5CF-EB442D023D21}"/>
                </a:ext>
              </a:extLst>
            </p:cNvPr>
            <p:cNvSpPr>
              <a:spLocks noChangeShapeType="1"/>
            </p:cNvSpPr>
            <p:nvPr/>
          </p:nvSpPr>
          <p:spPr bwMode="auto">
            <a:xfrm>
              <a:off x="2539953" y="4408922"/>
              <a:ext cx="656040" cy="390991"/>
            </a:xfrm>
            <a:prstGeom prst="line">
              <a:avLst/>
            </a:prstGeom>
            <a:noFill/>
            <a:ln w="28575">
              <a:solidFill>
                <a:schemeClr val="accent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grpSp>
      <p:grpSp>
        <p:nvGrpSpPr>
          <p:cNvPr id="11" name="组合 10">
            <a:extLst>
              <a:ext uri="{FF2B5EF4-FFF2-40B4-BE49-F238E27FC236}">
                <a16:creationId xmlns:a16="http://schemas.microsoft.com/office/drawing/2014/main" id="{0DFD04A2-2757-DA12-553A-37A9BE359C0F}"/>
              </a:ext>
            </a:extLst>
          </p:cNvPr>
          <p:cNvGrpSpPr/>
          <p:nvPr/>
        </p:nvGrpSpPr>
        <p:grpSpPr>
          <a:xfrm>
            <a:off x="3441618" y="4654170"/>
            <a:ext cx="1221838" cy="659318"/>
            <a:chOff x="3522903" y="4922578"/>
            <a:chExt cx="1221838" cy="659318"/>
          </a:xfrm>
        </p:grpSpPr>
        <p:sp>
          <p:nvSpPr>
            <p:cNvPr id="75800" name="Rectangle 42">
              <a:extLst>
                <a:ext uri="{FF2B5EF4-FFF2-40B4-BE49-F238E27FC236}">
                  <a16:creationId xmlns:a16="http://schemas.microsoft.com/office/drawing/2014/main" id="{71DD6377-0BDC-4CA9-8B74-F30D919EC0C0}"/>
                </a:ext>
              </a:extLst>
            </p:cNvPr>
            <p:cNvSpPr>
              <a:spLocks noChangeArrowheads="1"/>
            </p:cNvSpPr>
            <p:nvPr/>
          </p:nvSpPr>
          <p:spPr bwMode="auto">
            <a:xfrm>
              <a:off x="3923928" y="5264250"/>
              <a:ext cx="820813" cy="294013"/>
            </a:xfrm>
            <a:prstGeom prst="rect">
              <a:avLst/>
            </a:prstGeom>
            <a:solidFill>
              <a:srgbClr val="FFFFCC"/>
            </a:solidFill>
            <a:ln w="19050">
              <a:solidFill>
                <a:srgbClr val="009900"/>
              </a:solidFill>
              <a:miter lim="800000"/>
              <a:headEnd/>
              <a:tailEnd/>
            </a:ln>
            <a:effectLst>
              <a:outerShdw dist="107763"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75801" name="Line 43">
              <a:extLst>
                <a:ext uri="{FF2B5EF4-FFF2-40B4-BE49-F238E27FC236}">
                  <a16:creationId xmlns:a16="http://schemas.microsoft.com/office/drawing/2014/main" id="{76A5CD34-EA4A-43FA-AB1C-20425DC67340}"/>
                </a:ext>
              </a:extLst>
            </p:cNvPr>
            <p:cNvSpPr>
              <a:spLocks noChangeShapeType="1"/>
            </p:cNvSpPr>
            <p:nvPr/>
          </p:nvSpPr>
          <p:spPr bwMode="auto">
            <a:xfrm>
              <a:off x="4187847" y="5287883"/>
              <a:ext cx="0" cy="294013"/>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5802" name="Line 44">
              <a:extLst>
                <a:ext uri="{FF2B5EF4-FFF2-40B4-BE49-F238E27FC236}">
                  <a16:creationId xmlns:a16="http://schemas.microsoft.com/office/drawing/2014/main" id="{0239B6AB-5461-481D-82B9-C5C9AB8F5547}"/>
                </a:ext>
              </a:extLst>
            </p:cNvPr>
            <p:cNvSpPr>
              <a:spLocks noChangeShapeType="1"/>
            </p:cNvSpPr>
            <p:nvPr/>
          </p:nvSpPr>
          <p:spPr bwMode="auto">
            <a:xfrm>
              <a:off x="4462468" y="5287883"/>
              <a:ext cx="0" cy="294013"/>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5812" name="Line 54">
              <a:extLst>
                <a:ext uri="{FF2B5EF4-FFF2-40B4-BE49-F238E27FC236}">
                  <a16:creationId xmlns:a16="http://schemas.microsoft.com/office/drawing/2014/main" id="{E8CD900C-38D0-4ECB-80D2-9A96DE87B541}"/>
                </a:ext>
              </a:extLst>
            </p:cNvPr>
            <p:cNvSpPr>
              <a:spLocks noChangeShapeType="1"/>
            </p:cNvSpPr>
            <p:nvPr/>
          </p:nvSpPr>
          <p:spPr bwMode="auto">
            <a:xfrm>
              <a:off x="3522903" y="4922578"/>
              <a:ext cx="710965" cy="341733"/>
            </a:xfrm>
            <a:prstGeom prst="line">
              <a:avLst/>
            </a:prstGeom>
            <a:noFill/>
            <a:ln w="28575">
              <a:solidFill>
                <a:schemeClr val="accent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grpSp>
      <p:sp>
        <p:nvSpPr>
          <p:cNvPr id="75813" name="Text Box 55">
            <a:extLst>
              <a:ext uri="{FF2B5EF4-FFF2-40B4-BE49-F238E27FC236}">
                <a16:creationId xmlns:a16="http://schemas.microsoft.com/office/drawing/2014/main" id="{CB1992FD-4D9C-4855-AE85-978637A14A7C}"/>
              </a:ext>
            </a:extLst>
          </p:cNvPr>
          <p:cNvSpPr txBox="1">
            <a:spLocks noChangeArrowheads="1"/>
          </p:cNvSpPr>
          <p:nvPr/>
        </p:nvSpPr>
        <p:spPr bwMode="auto">
          <a:xfrm>
            <a:off x="1925714" y="3876275"/>
            <a:ext cx="390573" cy="4618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b="1" i="0" dirty="0">
                <a:solidFill>
                  <a:schemeClr val="tx2"/>
                </a:solidFill>
                <a:latin typeface="Times New Roman" panose="02020603050405020304" pitchFamily="18" charset="0"/>
              </a:rPr>
              <a:t>B</a:t>
            </a:r>
            <a:endParaRPr lang="en-US" altLang="zh-CN" sz="2400" i="0" dirty="0">
              <a:latin typeface="Times New Roman" panose="02020603050405020304" pitchFamily="18" charset="0"/>
            </a:endParaRPr>
          </a:p>
        </p:txBody>
      </p:sp>
      <p:sp>
        <p:nvSpPr>
          <p:cNvPr id="75814" name="Text Box 56">
            <a:extLst>
              <a:ext uri="{FF2B5EF4-FFF2-40B4-BE49-F238E27FC236}">
                <a16:creationId xmlns:a16="http://schemas.microsoft.com/office/drawing/2014/main" id="{78961D99-6BBA-4940-8BAB-59324A4952CD}"/>
              </a:ext>
            </a:extLst>
          </p:cNvPr>
          <p:cNvSpPr txBox="1">
            <a:spLocks noChangeArrowheads="1"/>
          </p:cNvSpPr>
          <p:nvPr/>
        </p:nvSpPr>
        <p:spPr bwMode="auto">
          <a:xfrm>
            <a:off x="2900297" y="4432988"/>
            <a:ext cx="407355" cy="4618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b="1" i="0" dirty="0">
                <a:solidFill>
                  <a:schemeClr val="tx2"/>
                </a:solidFill>
                <a:latin typeface="Times New Roman" panose="02020603050405020304" pitchFamily="18" charset="0"/>
              </a:rPr>
              <a:t>C</a:t>
            </a:r>
            <a:endParaRPr lang="en-US" altLang="zh-CN" sz="2400" i="0" dirty="0">
              <a:latin typeface="Times New Roman" panose="02020603050405020304" pitchFamily="18" charset="0"/>
            </a:endParaRPr>
          </a:p>
        </p:txBody>
      </p:sp>
      <p:sp>
        <p:nvSpPr>
          <p:cNvPr id="75815" name="Text Box 57">
            <a:extLst>
              <a:ext uri="{FF2B5EF4-FFF2-40B4-BE49-F238E27FC236}">
                <a16:creationId xmlns:a16="http://schemas.microsoft.com/office/drawing/2014/main" id="{D3482DC6-5344-4D55-A4FE-EE5E239D7747}"/>
              </a:ext>
            </a:extLst>
          </p:cNvPr>
          <p:cNvSpPr txBox="1">
            <a:spLocks noChangeArrowheads="1"/>
          </p:cNvSpPr>
          <p:nvPr/>
        </p:nvSpPr>
        <p:spPr bwMode="auto">
          <a:xfrm>
            <a:off x="4050699" y="4874832"/>
            <a:ext cx="407355" cy="4618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b="1" i="0" dirty="0">
                <a:solidFill>
                  <a:schemeClr val="tx2"/>
                </a:solidFill>
                <a:latin typeface="Times New Roman" panose="02020603050405020304" pitchFamily="18" charset="0"/>
              </a:rPr>
              <a:t>D</a:t>
            </a:r>
            <a:endParaRPr lang="en-US" altLang="zh-CN" sz="2400" i="0" dirty="0">
              <a:latin typeface="Times New Roman" panose="02020603050405020304" pitchFamily="18" charset="0"/>
            </a:endParaRPr>
          </a:p>
        </p:txBody>
      </p:sp>
      <p:sp>
        <p:nvSpPr>
          <p:cNvPr id="75816" name="Text Box 58">
            <a:extLst>
              <a:ext uri="{FF2B5EF4-FFF2-40B4-BE49-F238E27FC236}">
                <a16:creationId xmlns:a16="http://schemas.microsoft.com/office/drawing/2014/main" id="{3061B909-E47C-419C-B4CB-43FB247427DF}"/>
              </a:ext>
            </a:extLst>
          </p:cNvPr>
          <p:cNvSpPr txBox="1">
            <a:spLocks noChangeArrowheads="1"/>
          </p:cNvSpPr>
          <p:nvPr/>
        </p:nvSpPr>
        <p:spPr bwMode="auto">
          <a:xfrm>
            <a:off x="3160116" y="5413032"/>
            <a:ext cx="424138" cy="4618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b="1" i="0" dirty="0">
                <a:solidFill>
                  <a:schemeClr val="tx2"/>
                </a:solidFill>
                <a:latin typeface="Times New Roman" panose="02020603050405020304" pitchFamily="18" charset="0"/>
              </a:rPr>
              <a:t>G</a:t>
            </a:r>
            <a:endParaRPr lang="en-US" altLang="zh-CN" sz="2400" i="0" dirty="0">
              <a:latin typeface="Times New Roman" panose="02020603050405020304" pitchFamily="18" charset="0"/>
            </a:endParaRPr>
          </a:p>
        </p:txBody>
      </p:sp>
      <p:sp>
        <p:nvSpPr>
          <p:cNvPr id="75817" name="Text Box 59">
            <a:extLst>
              <a:ext uri="{FF2B5EF4-FFF2-40B4-BE49-F238E27FC236}">
                <a16:creationId xmlns:a16="http://schemas.microsoft.com/office/drawing/2014/main" id="{ADB49A44-67ED-4673-BF1A-00848599BCF4}"/>
              </a:ext>
            </a:extLst>
          </p:cNvPr>
          <p:cNvSpPr txBox="1">
            <a:spLocks noChangeArrowheads="1"/>
          </p:cNvSpPr>
          <p:nvPr/>
        </p:nvSpPr>
        <p:spPr bwMode="auto">
          <a:xfrm>
            <a:off x="1935594" y="4963421"/>
            <a:ext cx="372265" cy="4618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b="1" i="0" dirty="0">
                <a:solidFill>
                  <a:schemeClr val="tx2"/>
                </a:solidFill>
                <a:latin typeface="Times New Roman" panose="02020603050405020304" pitchFamily="18" charset="0"/>
              </a:rPr>
              <a:t>F</a:t>
            </a:r>
            <a:endParaRPr lang="en-US" altLang="zh-CN" sz="2400" i="0" dirty="0">
              <a:latin typeface="Times New Roman" panose="02020603050405020304" pitchFamily="18" charset="0"/>
            </a:endParaRPr>
          </a:p>
        </p:txBody>
      </p:sp>
      <p:sp>
        <p:nvSpPr>
          <p:cNvPr id="75818" name="Text Box 60">
            <a:extLst>
              <a:ext uri="{FF2B5EF4-FFF2-40B4-BE49-F238E27FC236}">
                <a16:creationId xmlns:a16="http://schemas.microsoft.com/office/drawing/2014/main" id="{C8A84CD6-7A01-418C-AF97-CD84B3857ADB}"/>
              </a:ext>
            </a:extLst>
          </p:cNvPr>
          <p:cNvSpPr txBox="1">
            <a:spLocks noChangeArrowheads="1"/>
          </p:cNvSpPr>
          <p:nvPr/>
        </p:nvSpPr>
        <p:spPr bwMode="auto">
          <a:xfrm>
            <a:off x="1164647" y="4455147"/>
            <a:ext cx="390573" cy="4618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b="1" i="0" dirty="0">
                <a:solidFill>
                  <a:schemeClr val="tx2"/>
                </a:solidFill>
                <a:latin typeface="Times New Roman" panose="02020603050405020304" pitchFamily="18" charset="0"/>
              </a:rPr>
              <a:t>E</a:t>
            </a:r>
            <a:endParaRPr lang="en-US" altLang="zh-CN" sz="2400" i="0" dirty="0">
              <a:latin typeface="Times New Roman" panose="02020603050405020304" pitchFamily="18" charset="0"/>
            </a:endParaRPr>
          </a:p>
        </p:txBody>
      </p:sp>
      <p:sp>
        <p:nvSpPr>
          <p:cNvPr id="75819" name="Text Box 61">
            <a:extLst>
              <a:ext uri="{FF2B5EF4-FFF2-40B4-BE49-F238E27FC236}">
                <a16:creationId xmlns:a16="http://schemas.microsoft.com/office/drawing/2014/main" id="{FD3425E0-8D1C-4237-BE0A-B7B60D19ABFD}"/>
              </a:ext>
            </a:extLst>
          </p:cNvPr>
          <p:cNvSpPr txBox="1">
            <a:spLocks noChangeArrowheads="1"/>
          </p:cNvSpPr>
          <p:nvPr/>
        </p:nvSpPr>
        <p:spPr bwMode="auto">
          <a:xfrm>
            <a:off x="899592" y="4400199"/>
            <a:ext cx="370739" cy="4618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dirty="0">
                <a:solidFill>
                  <a:schemeClr val="tx2"/>
                </a:solidFill>
                <a:latin typeface="Times New Roman" panose="02020603050405020304" pitchFamily="18" charset="0"/>
                <a:sym typeface="Symbol" panose="05050102010706020507" pitchFamily="18" charset="2"/>
              </a:rPr>
              <a:t></a:t>
            </a:r>
          </a:p>
        </p:txBody>
      </p:sp>
      <p:sp>
        <p:nvSpPr>
          <p:cNvPr id="75820" name="Text Box 62">
            <a:extLst>
              <a:ext uri="{FF2B5EF4-FFF2-40B4-BE49-F238E27FC236}">
                <a16:creationId xmlns:a16="http://schemas.microsoft.com/office/drawing/2014/main" id="{AB8BA700-CD61-4E9B-B049-91D3D5CB9863}"/>
              </a:ext>
            </a:extLst>
          </p:cNvPr>
          <p:cNvSpPr txBox="1">
            <a:spLocks noChangeArrowheads="1"/>
          </p:cNvSpPr>
          <p:nvPr/>
        </p:nvSpPr>
        <p:spPr bwMode="auto">
          <a:xfrm>
            <a:off x="2636573" y="4399019"/>
            <a:ext cx="370739" cy="4618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dirty="0">
                <a:solidFill>
                  <a:schemeClr val="tx2"/>
                </a:solidFill>
                <a:latin typeface="Times New Roman" panose="02020603050405020304" pitchFamily="18" charset="0"/>
                <a:sym typeface="Symbol" panose="05050102010706020507" pitchFamily="18" charset="2"/>
              </a:rPr>
              <a:t></a:t>
            </a:r>
          </a:p>
        </p:txBody>
      </p:sp>
      <p:sp>
        <p:nvSpPr>
          <p:cNvPr id="75821" name="Text Box 63">
            <a:extLst>
              <a:ext uri="{FF2B5EF4-FFF2-40B4-BE49-F238E27FC236}">
                <a16:creationId xmlns:a16="http://schemas.microsoft.com/office/drawing/2014/main" id="{C364EDF6-3756-4477-BD25-B0745C452966}"/>
              </a:ext>
            </a:extLst>
          </p:cNvPr>
          <p:cNvSpPr txBox="1">
            <a:spLocks noChangeArrowheads="1"/>
          </p:cNvSpPr>
          <p:nvPr/>
        </p:nvSpPr>
        <p:spPr bwMode="auto">
          <a:xfrm>
            <a:off x="1655566" y="4919418"/>
            <a:ext cx="370739" cy="4618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dirty="0">
                <a:solidFill>
                  <a:schemeClr val="tx2"/>
                </a:solidFill>
                <a:latin typeface="Times New Roman" panose="02020603050405020304" pitchFamily="18" charset="0"/>
                <a:sym typeface="Symbol" panose="05050102010706020507" pitchFamily="18" charset="2"/>
              </a:rPr>
              <a:t></a:t>
            </a:r>
          </a:p>
        </p:txBody>
      </p:sp>
      <p:sp>
        <p:nvSpPr>
          <p:cNvPr id="75822" name="Text Box 64">
            <a:extLst>
              <a:ext uri="{FF2B5EF4-FFF2-40B4-BE49-F238E27FC236}">
                <a16:creationId xmlns:a16="http://schemas.microsoft.com/office/drawing/2014/main" id="{1849B2E6-4B26-4F7D-A049-2ABE65B2D8A5}"/>
              </a:ext>
            </a:extLst>
          </p:cNvPr>
          <p:cNvSpPr txBox="1">
            <a:spLocks noChangeArrowheads="1"/>
          </p:cNvSpPr>
          <p:nvPr/>
        </p:nvSpPr>
        <p:spPr bwMode="auto">
          <a:xfrm>
            <a:off x="2186963" y="4934811"/>
            <a:ext cx="370739" cy="4618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dirty="0">
                <a:solidFill>
                  <a:schemeClr val="tx2"/>
                </a:solidFill>
                <a:latin typeface="Times New Roman" panose="02020603050405020304" pitchFamily="18" charset="0"/>
                <a:sym typeface="Symbol" panose="05050102010706020507" pitchFamily="18" charset="2"/>
              </a:rPr>
              <a:t></a:t>
            </a:r>
          </a:p>
        </p:txBody>
      </p:sp>
      <p:sp>
        <p:nvSpPr>
          <p:cNvPr id="75823" name="Text Box 65">
            <a:extLst>
              <a:ext uri="{FF2B5EF4-FFF2-40B4-BE49-F238E27FC236}">
                <a16:creationId xmlns:a16="http://schemas.microsoft.com/office/drawing/2014/main" id="{9A7E800C-442A-4793-9055-84A28D6AA450}"/>
              </a:ext>
            </a:extLst>
          </p:cNvPr>
          <p:cNvSpPr txBox="1">
            <a:spLocks noChangeArrowheads="1"/>
          </p:cNvSpPr>
          <p:nvPr/>
        </p:nvSpPr>
        <p:spPr bwMode="auto">
          <a:xfrm>
            <a:off x="2897353" y="5374551"/>
            <a:ext cx="370739" cy="4618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dirty="0">
                <a:solidFill>
                  <a:schemeClr val="tx2"/>
                </a:solidFill>
                <a:latin typeface="Times New Roman" panose="02020603050405020304" pitchFamily="18" charset="0"/>
                <a:sym typeface="Symbol" panose="05050102010706020507" pitchFamily="18" charset="2"/>
              </a:rPr>
              <a:t></a:t>
            </a:r>
          </a:p>
        </p:txBody>
      </p:sp>
      <p:sp>
        <p:nvSpPr>
          <p:cNvPr id="75824" name="Text Box 66">
            <a:extLst>
              <a:ext uri="{FF2B5EF4-FFF2-40B4-BE49-F238E27FC236}">
                <a16:creationId xmlns:a16="http://schemas.microsoft.com/office/drawing/2014/main" id="{EA6647CF-B03E-4245-BFF5-EDA83CC2505B}"/>
              </a:ext>
            </a:extLst>
          </p:cNvPr>
          <p:cNvSpPr txBox="1">
            <a:spLocks noChangeArrowheads="1"/>
          </p:cNvSpPr>
          <p:nvPr/>
        </p:nvSpPr>
        <p:spPr bwMode="auto">
          <a:xfrm>
            <a:off x="3448740" y="5374552"/>
            <a:ext cx="370739" cy="4618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dirty="0">
                <a:solidFill>
                  <a:schemeClr val="tx2"/>
                </a:solidFill>
                <a:latin typeface="Times New Roman" panose="02020603050405020304" pitchFamily="18" charset="0"/>
                <a:sym typeface="Symbol" panose="05050102010706020507" pitchFamily="18" charset="2"/>
              </a:rPr>
              <a:t></a:t>
            </a:r>
          </a:p>
        </p:txBody>
      </p:sp>
      <p:sp>
        <p:nvSpPr>
          <p:cNvPr id="75825" name="Text Box 67">
            <a:extLst>
              <a:ext uri="{FF2B5EF4-FFF2-40B4-BE49-F238E27FC236}">
                <a16:creationId xmlns:a16="http://schemas.microsoft.com/office/drawing/2014/main" id="{586320D4-C4C9-4EE5-89FD-B4AC2680AB4C}"/>
              </a:ext>
            </a:extLst>
          </p:cNvPr>
          <p:cNvSpPr txBox="1">
            <a:spLocks noChangeArrowheads="1"/>
          </p:cNvSpPr>
          <p:nvPr/>
        </p:nvSpPr>
        <p:spPr bwMode="auto">
          <a:xfrm>
            <a:off x="4336000" y="4828651"/>
            <a:ext cx="370739" cy="4618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dirty="0">
                <a:solidFill>
                  <a:schemeClr val="tx2"/>
                </a:solidFill>
                <a:latin typeface="Times New Roman" panose="02020603050405020304" pitchFamily="18" charset="0"/>
                <a:sym typeface="Symbol" panose="05050102010706020507" pitchFamily="18" charset="2"/>
              </a:rPr>
              <a:t></a:t>
            </a:r>
          </a:p>
        </p:txBody>
      </p:sp>
      <p:sp>
        <p:nvSpPr>
          <p:cNvPr id="75826" name="Rectangle 68">
            <a:extLst>
              <a:ext uri="{FF2B5EF4-FFF2-40B4-BE49-F238E27FC236}">
                <a16:creationId xmlns:a16="http://schemas.microsoft.com/office/drawing/2014/main" id="{65144B38-8B38-4FF0-86B2-6ABFC503CFB2}"/>
              </a:ext>
            </a:extLst>
          </p:cNvPr>
          <p:cNvSpPr>
            <a:spLocks noChangeArrowheads="1"/>
          </p:cNvSpPr>
          <p:nvPr/>
        </p:nvSpPr>
        <p:spPr bwMode="auto">
          <a:xfrm>
            <a:off x="2634285" y="3356992"/>
            <a:ext cx="439394" cy="4618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2400" b="1" i="0" dirty="0">
                <a:solidFill>
                  <a:schemeClr val="tx2"/>
                </a:solidFill>
                <a:latin typeface="Times New Roman" panose="02020603050405020304" pitchFamily="18" charset="0"/>
              </a:rPr>
              <a:t>A</a:t>
            </a:r>
          </a:p>
        </p:txBody>
      </p:sp>
      <p:sp>
        <p:nvSpPr>
          <p:cNvPr id="75827" name="Rectangle 69">
            <a:extLst>
              <a:ext uri="{FF2B5EF4-FFF2-40B4-BE49-F238E27FC236}">
                <a16:creationId xmlns:a16="http://schemas.microsoft.com/office/drawing/2014/main" id="{ABDFB1F1-0D23-443D-BB72-731035847AE2}"/>
              </a:ext>
            </a:extLst>
          </p:cNvPr>
          <p:cNvSpPr>
            <a:spLocks noChangeArrowheads="1"/>
          </p:cNvSpPr>
          <p:nvPr/>
        </p:nvSpPr>
        <p:spPr bwMode="auto">
          <a:xfrm>
            <a:off x="2927215" y="3429341"/>
            <a:ext cx="370739" cy="4618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400" b="1" i="0" dirty="0">
                <a:solidFill>
                  <a:schemeClr val="tx2"/>
                </a:solidFill>
                <a:latin typeface="Times New Roman" panose="02020603050405020304" pitchFamily="18" charset="0"/>
                <a:sym typeface="Symbol" panose="05050102010706020507" pitchFamily="18" charset="2"/>
              </a:rPr>
              <a:t></a:t>
            </a:r>
          </a:p>
        </p:txBody>
      </p:sp>
      <p:sp>
        <p:nvSpPr>
          <p:cNvPr id="75809" name="Line 51">
            <a:extLst>
              <a:ext uri="{FF2B5EF4-FFF2-40B4-BE49-F238E27FC236}">
                <a16:creationId xmlns:a16="http://schemas.microsoft.com/office/drawing/2014/main" id="{40CED095-11EB-44A5-9740-A818C0B5FB16}"/>
              </a:ext>
            </a:extLst>
          </p:cNvPr>
          <p:cNvSpPr>
            <a:spLocks noChangeShapeType="1"/>
          </p:cNvSpPr>
          <p:nvPr/>
        </p:nvSpPr>
        <p:spPr bwMode="auto">
          <a:xfrm flipH="1">
            <a:off x="3450521" y="5165712"/>
            <a:ext cx="547717" cy="343272"/>
          </a:xfrm>
          <a:prstGeom prst="line">
            <a:avLst/>
          </a:prstGeom>
          <a:noFill/>
          <a:ln w="28575">
            <a:solidFill>
              <a:schemeClr val="accent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3" name="Text Box 4">
            <a:extLst>
              <a:ext uri="{FF2B5EF4-FFF2-40B4-BE49-F238E27FC236}">
                <a16:creationId xmlns:a16="http://schemas.microsoft.com/office/drawing/2014/main" id="{32995230-65E1-A78D-BE36-2A344A690504}"/>
              </a:ext>
            </a:extLst>
          </p:cNvPr>
          <p:cNvSpPr txBox="1">
            <a:spLocks noChangeArrowheads="1"/>
          </p:cNvSpPr>
          <p:nvPr/>
        </p:nvSpPr>
        <p:spPr bwMode="auto">
          <a:xfrm>
            <a:off x="439978" y="131771"/>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树的存储结构</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582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58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579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58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581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7581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7581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582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7582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9"/>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75814"/>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75820"/>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11"/>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75815"/>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75825"/>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75809"/>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12"/>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75816"/>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75823"/>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758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95" grpId="0" animBg="1"/>
      <p:bldP spid="75813" grpId="0"/>
      <p:bldP spid="75814" grpId="0"/>
      <p:bldP spid="75815" grpId="0"/>
      <p:bldP spid="75816" grpId="0"/>
      <p:bldP spid="75817" grpId="0"/>
      <p:bldP spid="75818" grpId="0"/>
      <p:bldP spid="75819" grpId="0"/>
      <p:bldP spid="75820" grpId="0"/>
      <p:bldP spid="75821" grpId="0"/>
      <p:bldP spid="75822" grpId="0"/>
      <p:bldP spid="75823" grpId="0"/>
      <p:bldP spid="75824" grpId="0"/>
      <p:bldP spid="75825" grpId="0"/>
      <p:bldP spid="75826" grpId="0"/>
      <p:bldP spid="75827" grpId="0"/>
      <p:bldP spid="75809"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5" name="Rectangle 5">
            <a:extLst>
              <a:ext uri="{FF2B5EF4-FFF2-40B4-BE49-F238E27FC236}">
                <a16:creationId xmlns:a16="http://schemas.microsoft.com/office/drawing/2014/main" id="{1FDF0500-6A5B-49D9-BCDA-702B6E2057E1}"/>
              </a:ext>
            </a:extLst>
          </p:cNvPr>
          <p:cNvSpPr>
            <a:spLocks noGrp="1" noChangeArrowheads="1"/>
          </p:cNvSpPr>
          <p:nvPr>
            <p:ph type="body" idx="1"/>
          </p:nvPr>
        </p:nvSpPr>
        <p:spPr>
          <a:xfrm>
            <a:off x="503343" y="1314038"/>
            <a:ext cx="8763000" cy="1394343"/>
          </a:xfrm>
        </p:spPr>
        <p:txBody>
          <a:bodyPr/>
          <a:lstStyle/>
          <a:p>
            <a:pPr eaLnBrk="1" hangingPunct="1">
              <a:lnSpc>
                <a:spcPct val="90000"/>
              </a:lnSpc>
            </a:pPr>
            <a:r>
              <a:rPr lang="zh-CN" altLang="en-US" dirty="0">
                <a:latin typeface="黑体" panose="02010609060101010101" pitchFamily="49" charset="-122"/>
                <a:ea typeface="黑体" panose="02010609060101010101" pitchFamily="49" charset="-122"/>
              </a:rPr>
              <a:t>树与二叉树都可以采用二叉链表作存储结构。</a:t>
            </a:r>
          </a:p>
          <a:p>
            <a:pPr eaLnBrk="1" hangingPunct="1">
              <a:lnSpc>
                <a:spcPct val="90000"/>
              </a:lnSpc>
            </a:pPr>
            <a:r>
              <a:rPr lang="zh-CN" altLang="en-US" dirty="0">
                <a:latin typeface="黑体" panose="02010609060101010101" pitchFamily="49" charset="-122"/>
                <a:ea typeface="黑体" panose="02010609060101010101" pitchFamily="49" charset="-122"/>
              </a:rPr>
              <a:t>任意给定一棵树，可以找到一个唯一的二叉树</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没有右子树</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与之对应。</a:t>
            </a:r>
            <a:endParaRPr lang="en-US" altLang="zh-CN" dirty="0">
              <a:latin typeface="黑体" panose="02010609060101010101" pitchFamily="49" charset="-122"/>
              <a:ea typeface="黑体" panose="02010609060101010101" pitchFamily="49" charset="-122"/>
            </a:endParaRPr>
          </a:p>
        </p:txBody>
      </p:sp>
      <p:grpSp>
        <p:nvGrpSpPr>
          <p:cNvPr id="76807" name="Group 7">
            <a:extLst>
              <a:ext uri="{FF2B5EF4-FFF2-40B4-BE49-F238E27FC236}">
                <a16:creationId xmlns:a16="http://schemas.microsoft.com/office/drawing/2014/main" id="{D0C1EB9D-AE64-4A58-B8D4-BE98DC3EAB9B}"/>
              </a:ext>
            </a:extLst>
          </p:cNvPr>
          <p:cNvGrpSpPr>
            <a:grpSpLocks/>
          </p:cNvGrpSpPr>
          <p:nvPr/>
        </p:nvGrpSpPr>
        <p:grpSpPr bwMode="auto">
          <a:xfrm>
            <a:off x="503343" y="3372839"/>
            <a:ext cx="2667000" cy="1795463"/>
            <a:chOff x="0" y="0"/>
            <a:chExt cx="1680" cy="1131"/>
          </a:xfrm>
        </p:grpSpPr>
        <p:sp>
          <p:nvSpPr>
            <p:cNvPr id="76867" name="Line 8">
              <a:extLst>
                <a:ext uri="{FF2B5EF4-FFF2-40B4-BE49-F238E27FC236}">
                  <a16:creationId xmlns:a16="http://schemas.microsoft.com/office/drawing/2014/main" id="{F6DA53BC-3676-4CEB-A81B-3DBA193107FC}"/>
                </a:ext>
              </a:extLst>
            </p:cNvPr>
            <p:cNvSpPr>
              <a:spLocks noChangeShapeType="1"/>
            </p:cNvSpPr>
            <p:nvPr/>
          </p:nvSpPr>
          <p:spPr bwMode="auto">
            <a:xfrm>
              <a:off x="1080" y="171"/>
              <a:ext cx="360"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76868" name="Line 9">
              <a:extLst>
                <a:ext uri="{FF2B5EF4-FFF2-40B4-BE49-F238E27FC236}">
                  <a16:creationId xmlns:a16="http://schemas.microsoft.com/office/drawing/2014/main" id="{CE3CCDEB-106C-4B14-B0B1-C179AFB736CD}"/>
                </a:ext>
              </a:extLst>
            </p:cNvPr>
            <p:cNvSpPr>
              <a:spLocks noChangeShapeType="1"/>
            </p:cNvSpPr>
            <p:nvPr/>
          </p:nvSpPr>
          <p:spPr bwMode="auto">
            <a:xfrm flipH="1">
              <a:off x="576" y="171"/>
              <a:ext cx="360" cy="336"/>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76869" name="Oval 10">
              <a:extLst>
                <a:ext uri="{FF2B5EF4-FFF2-40B4-BE49-F238E27FC236}">
                  <a16:creationId xmlns:a16="http://schemas.microsoft.com/office/drawing/2014/main" id="{557A9A59-291B-4390-9DCE-3C5061581974}"/>
                </a:ext>
              </a:extLst>
            </p:cNvPr>
            <p:cNvSpPr>
              <a:spLocks noChangeArrowheads="1"/>
            </p:cNvSpPr>
            <p:nvPr/>
          </p:nvSpPr>
          <p:spPr bwMode="auto">
            <a:xfrm>
              <a:off x="864" y="0"/>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A</a:t>
              </a:r>
            </a:p>
          </p:txBody>
        </p:sp>
        <p:sp>
          <p:nvSpPr>
            <p:cNvPr id="76870" name="Line 11">
              <a:extLst>
                <a:ext uri="{FF2B5EF4-FFF2-40B4-BE49-F238E27FC236}">
                  <a16:creationId xmlns:a16="http://schemas.microsoft.com/office/drawing/2014/main" id="{8AB742A9-7B34-47F4-AB6B-7128017F5097}"/>
                </a:ext>
              </a:extLst>
            </p:cNvPr>
            <p:cNvSpPr>
              <a:spLocks noChangeShapeType="1"/>
            </p:cNvSpPr>
            <p:nvPr/>
          </p:nvSpPr>
          <p:spPr bwMode="auto">
            <a:xfrm flipH="1">
              <a:off x="240" y="561"/>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76871" name="Oval 12">
              <a:extLst>
                <a:ext uri="{FF2B5EF4-FFF2-40B4-BE49-F238E27FC236}">
                  <a16:creationId xmlns:a16="http://schemas.microsoft.com/office/drawing/2014/main" id="{E846B455-A74F-4EF6-BD2D-3F9FA66E3441}"/>
                </a:ext>
              </a:extLst>
            </p:cNvPr>
            <p:cNvSpPr>
              <a:spLocks noChangeArrowheads="1"/>
            </p:cNvSpPr>
            <p:nvPr/>
          </p:nvSpPr>
          <p:spPr bwMode="auto">
            <a:xfrm>
              <a:off x="0" y="822"/>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E</a:t>
              </a:r>
            </a:p>
          </p:txBody>
        </p:sp>
        <p:sp>
          <p:nvSpPr>
            <p:cNvPr id="76872" name="Line 13">
              <a:extLst>
                <a:ext uri="{FF2B5EF4-FFF2-40B4-BE49-F238E27FC236}">
                  <a16:creationId xmlns:a16="http://schemas.microsoft.com/office/drawing/2014/main" id="{95EA6797-E4B0-4572-B64C-0FAF77F60EAD}"/>
                </a:ext>
              </a:extLst>
            </p:cNvPr>
            <p:cNvSpPr>
              <a:spLocks noChangeShapeType="1"/>
            </p:cNvSpPr>
            <p:nvPr/>
          </p:nvSpPr>
          <p:spPr bwMode="auto">
            <a:xfrm>
              <a:off x="528" y="582"/>
              <a:ext cx="216"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76873" name="Oval 14">
              <a:extLst>
                <a:ext uri="{FF2B5EF4-FFF2-40B4-BE49-F238E27FC236}">
                  <a16:creationId xmlns:a16="http://schemas.microsoft.com/office/drawing/2014/main" id="{4D87B7FB-0FA2-4EAA-980F-B5CBA4409C2B}"/>
                </a:ext>
              </a:extLst>
            </p:cNvPr>
            <p:cNvSpPr>
              <a:spLocks noChangeArrowheads="1"/>
            </p:cNvSpPr>
            <p:nvPr/>
          </p:nvSpPr>
          <p:spPr bwMode="auto">
            <a:xfrm>
              <a:off x="336" y="41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B</a:t>
              </a:r>
            </a:p>
          </p:txBody>
        </p:sp>
        <p:sp>
          <p:nvSpPr>
            <p:cNvPr id="76874" name="Line 15">
              <a:extLst>
                <a:ext uri="{FF2B5EF4-FFF2-40B4-BE49-F238E27FC236}">
                  <a16:creationId xmlns:a16="http://schemas.microsoft.com/office/drawing/2014/main" id="{D94CC1FB-72EB-42FD-9E7D-CE180F6C2996}"/>
                </a:ext>
              </a:extLst>
            </p:cNvPr>
            <p:cNvSpPr>
              <a:spLocks noChangeShapeType="1"/>
            </p:cNvSpPr>
            <p:nvPr/>
          </p:nvSpPr>
          <p:spPr bwMode="auto">
            <a:xfrm flipH="1">
              <a:off x="1296" y="582"/>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76875" name="Oval 16">
              <a:extLst>
                <a:ext uri="{FF2B5EF4-FFF2-40B4-BE49-F238E27FC236}">
                  <a16:creationId xmlns:a16="http://schemas.microsoft.com/office/drawing/2014/main" id="{F3C080AE-973E-4AAC-BA8D-2A1D241AA205}"/>
                </a:ext>
              </a:extLst>
            </p:cNvPr>
            <p:cNvSpPr>
              <a:spLocks noChangeArrowheads="1"/>
            </p:cNvSpPr>
            <p:nvPr/>
          </p:nvSpPr>
          <p:spPr bwMode="auto">
            <a:xfrm>
              <a:off x="1056" y="84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G</a:t>
              </a:r>
            </a:p>
          </p:txBody>
        </p:sp>
        <p:sp>
          <p:nvSpPr>
            <p:cNvPr id="76876" name="Oval 17">
              <a:extLst>
                <a:ext uri="{FF2B5EF4-FFF2-40B4-BE49-F238E27FC236}">
                  <a16:creationId xmlns:a16="http://schemas.microsoft.com/office/drawing/2014/main" id="{0ED16209-94F0-489A-B7B6-049F0829C292}"/>
                </a:ext>
              </a:extLst>
            </p:cNvPr>
            <p:cNvSpPr>
              <a:spLocks noChangeArrowheads="1"/>
            </p:cNvSpPr>
            <p:nvPr/>
          </p:nvSpPr>
          <p:spPr bwMode="auto">
            <a:xfrm>
              <a:off x="1392" y="41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D</a:t>
              </a:r>
            </a:p>
          </p:txBody>
        </p:sp>
        <p:sp>
          <p:nvSpPr>
            <p:cNvPr id="76877" name="Oval 18">
              <a:extLst>
                <a:ext uri="{FF2B5EF4-FFF2-40B4-BE49-F238E27FC236}">
                  <a16:creationId xmlns:a16="http://schemas.microsoft.com/office/drawing/2014/main" id="{3369AAAA-96D1-4C82-A6A4-683B3B27869B}"/>
                </a:ext>
              </a:extLst>
            </p:cNvPr>
            <p:cNvSpPr>
              <a:spLocks noChangeArrowheads="1"/>
            </p:cNvSpPr>
            <p:nvPr/>
          </p:nvSpPr>
          <p:spPr bwMode="auto">
            <a:xfrm>
              <a:off x="648" y="84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F</a:t>
              </a:r>
            </a:p>
          </p:txBody>
        </p:sp>
        <p:sp>
          <p:nvSpPr>
            <p:cNvPr id="76878" name="Line 19">
              <a:extLst>
                <a:ext uri="{FF2B5EF4-FFF2-40B4-BE49-F238E27FC236}">
                  <a16:creationId xmlns:a16="http://schemas.microsoft.com/office/drawing/2014/main" id="{F74AE7AF-0A0B-4858-8D3F-B2FE063CB18E}"/>
                </a:ext>
              </a:extLst>
            </p:cNvPr>
            <p:cNvSpPr>
              <a:spLocks noChangeShapeType="1"/>
            </p:cNvSpPr>
            <p:nvPr/>
          </p:nvSpPr>
          <p:spPr bwMode="auto">
            <a:xfrm flipH="1">
              <a:off x="1008" y="276"/>
              <a:ext cx="0" cy="14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76879" name="Oval 20">
              <a:extLst>
                <a:ext uri="{FF2B5EF4-FFF2-40B4-BE49-F238E27FC236}">
                  <a16:creationId xmlns:a16="http://schemas.microsoft.com/office/drawing/2014/main" id="{E760C8B4-5F57-4F2A-B265-B40DE66E00E8}"/>
                </a:ext>
              </a:extLst>
            </p:cNvPr>
            <p:cNvSpPr>
              <a:spLocks noChangeArrowheads="1"/>
            </p:cNvSpPr>
            <p:nvPr/>
          </p:nvSpPr>
          <p:spPr bwMode="auto">
            <a:xfrm>
              <a:off x="864" y="41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dirty="0">
                  <a:solidFill>
                    <a:schemeClr val="bg1"/>
                  </a:solidFill>
                </a:rPr>
                <a:t>C</a:t>
              </a:r>
            </a:p>
          </p:txBody>
        </p:sp>
      </p:grpSp>
      <p:grpSp>
        <p:nvGrpSpPr>
          <p:cNvPr id="76808" name="Group 21">
            <a:extLst>
              <a:ext uri="{FF2B5EF4-FFF2-40B4-BE49-F238E27FC236}">
                <a16:creationId xmlns:a16="http://schemas.microsoft.com/office/drawing/2014/main" id="{AC26C51A-9B12-4E3E-AF99-3BF3A8940C85}"/>
              </a:ext>
            </a:extLst>
          </p:cNvPr>
          <p:cNvGrpSpPr>
            <a:grpSpLocks/>
          </p:cNvGrpSpPr>
          <p:nvPr/>
        </p:nvGrpSpPr>
        <p:grpSpPr bwMode="auto">
          <a:xfrm>
            <a:off x="3521148" y="3103732"/>
            <a:ext cx="3087688" cy="2405040"/>
            <a:chOff x="0" y="68"/>
            <a:chExt cx="2496" cy="1562"/>
          </a:xfrm>
        </p:grpSpPr>
        <p:sp>
          <p:nvSpPr>
            <p:cNvPr id="76825" name="Rectangle 22">
              <a:extLst>
                <a:ext uri="{FF2B5EF4-FFF2-40B4-BE49-F238E27FC236}">
                  <a16:creationId xmlns:a16="http://schemas.microsoft.com/office/drawing/2014/main" id="{98B23816-0034-4B77-A7C0-4CBC5264A3EB}"/>
                </a:ext>
              </a:extLst>
            </p:cNvPr>
            <p:cNvSpPr>
              <a:spLocks noChangeArrowheads="1"/>
            </p:cNvSpPr>
            <p:nvPr/>
          </p:nvSpPr>
          <p:spPr bwMode="auto">
            <a:xfrm>
              <a:off x="997" y="96"/>
              <a:ext cx="538" cy="190"/>
            </a:xfrm>
            <a:prstGeom prst="rect">
              <a:avLst/>
            </a:prstGeom>
            <a:solidFill>
              <a:srgbClr val="FFFFCC"/>
            </a:solidFill>
            <a:ln w="19050">
              <a:solidFill>
                <a:srgbClr val="009900"/>
              </a:solidFill>
              <a:miter lim="800000"/>
              <a:headEnd/>
              <a:tailEnd/>
            </a:ln>
            <a:effectLst>
              <a:outerShdw dist="107763"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76826" name="Line 23">
              <a:extLst>
                <a:ext uri="{FF2B5EF4-FFF2-40B4-BE49-F238E27FC236}">
                  <a16:creationId xmlns:a16="http://schemas.microsoft.com/office/drawing/2014/main" id="{68047951-27A8-42FE-B9E7-6196F1DF0324}"/>
                </a:ext>
              </a:extLst>
            </p:cNvPr>
            <p:cNvSpPr>
              <a:spLocks noChangeShapeType="1"/>
            </p:cNvSpPr>
            <p:nvPr/>
          </p:nvSpPr>
          <p:spPr bwMode="auto">
            <a:xfrm>
              <a:off x="1176" y="96"/>
              <a:ext cx="0" cy="19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6827" name="Line 24">
              <a:extLst>
                <a:ext uri="{FF2B5EF4-FFF2-40B4-BE49-F238E27FC236}">
                  <a16:creationId xmlns:a16="http://schemas.microsoft.com/office/drawing/2014/main" id="{27566F2F-F3F9-4690-ABB1-10F0BABCD6A7}"/>
                </a:ext>
              </a:extLst>
            </p:cNvPr>
            <p:cNvSpPr>
              <a:spLocks noChangeShapeType="1"/>
            </p:cNvSpPr>
            <p:nvPr/>
          </p:nvSpPr>
          <p:spPr bwMode="auto">
            <a:xfrm>
              <a:off x="1355" y="96"/>
              <a:ext cx="0" cy="19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6828" name="Rectangle 25">
              <a:extLst>
                <a:ext uri="{FF2B5EF4-FFF2-40B4-BE49-F238E27FC236}">
                  <a16:creationId xmlns:a16="http://schemas.microsoft.com/office/drawing/2014/main" id="{D049313F-3D14-45AF-BE78-712CCC1885E2}"/>
                </a:ext>
              </a:extLst>
            </p:cNvPr>
            <p:cNvSpPr>
              <a:spLocks noChangeArrowheads="1"/>
            </p:cNvSpPr>
            <p:nvPr/>
          </p:nvSpPr>
          <p:spPr bwMode="auto">
            <a:xfrm>
              <a:off x="530" y="413"/>
              <a:ext cx="538" cy="191"/>
            </a:xfrm>
            <a:prstGeom prst="rect">
              <a:avLst/>
            </a:prstGeom>
            <a:solidFill>
              <a:srgbClr val="FFFFCC"/>
            </a:solidFill>
            <a:ln w="19050">
              <a:solidFill>
                <a:srgbClr val="009900"/>
              </a:solidFill>
              <a:miter lim="800000"/>
              <a:headEnd/>
              <a:tailEnd/>
            </a:ln>
            <a:effectLst>
              <a:outerShdw dist="107763"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76829" name="Line 26">
              <a:extLst>
                <a:ext uri="{FF2B5EF4-FFF2-40B4-BE49-F238E27FC236}">
                  <a16:creationId xmlns:a16="http://schemas.microsoft.com/office/drawing/2014/main" id="{01289FD3-8E95-4411-821C-417864F6DC9A}"/>
                </a:ext>
              </a:extLst>
            </p:cNvPr>
            <p:cNvSpPr>
              <a:spLocks noChangeShapeType="1"/>
            </p:cNvSpPr>
            <p:nvPr/>
          </p:nvSpPr>
          <p:spPr bwMode="auto">
            <a:xfrm>
              <a:off x="710" y="413"/>
              <a:ext cx="0" cy="191"/>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6830" name="Line 27">
              <a:extLst>
                <a:ext uri="{FF2B5EF4-FFF2-40B4-BE49-F238E27FC236}">
                  <a16:creationId xmlns:a16="http://schemas.microsoft.com/office/drawing/2014/main" id="{371A0553-7374-49B5-B19B-FFC52073B8D9}"/>
                </a:ext>
              </a:extLst>
            </p:cNvPr>
            <p:cNvSpPr>
              <a:spLocks noChangeShapeType="1"/>
            </p:cNvSpPr>
            <p:nvPr/>
          </p:nvSpPr>
          <p:spPr bwMode="auto">
            <a:xfrm>
              <a:off x="889" y="413"/>
              <a:ext cx="0" cy="191"/>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6831" name="Rectangle 28">
              <a:extLst>
                <a:ext uri="{FF2B5EF4-FFF2-40B4-BE49-F238E27FC236}">
                  <a16:creationId xmlns:a16="http://schemas.microsoft.com/office/drawing/2014/main" id="{FBA28D53-25B8-4B5A-9432-04D4C3CFD9EB}"/>
                </a:ext>
              </a:extLst>
            </p:cNvPr>
            <p:cNvSpPr>
              <a:spLocks noChangeArrowheads="1"/>
            </p:cNvSpPr>
            <p:nvPr/>
          </p:nvSpPr>
          <p:spPr bwMode="auto">
            <a:xfrm>
              <a:off x="28" y="763"/>
              <a:ext cx="574" cy="190"/>
            </a:xfrm>
            <a:prstGeom prst="rect">
              <a:avLst/>
            </a:prstGeom>
            <a:solidFill>
              <a:srgbClr val="FFFFCC"/>
            </a:solidFill>
            <a:ln w="19050">
              <a:solidFill>
                <a:srgbClr val="009900"/>
              </a:solidFill>
              <a:miter lim="800000"/>
              <a:headEnd/>
              <a:tailEnd/>
            </a:ln>
            <a:effectLst>
              <a:outerShdw dist="107763"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76832" name="Line 29">
              <a:extLst>
                <a:ext uri="{FF2B5EF4-FFF2-40B4-BE49-F238E27FC236}">
                  <a16:creationId xmlns:a16="http://schemas.microsoft.com/office/drawing/2014/main" id="{D330D802-AFC4-49C9-9B80-2767F17BD03F}"/>
                </a:ext>
              </a:extLst>
            </p:cNvPr>
            <p:cNvSpPr>
              <a:spLocks noChangeShapeType="1"/>
            </p:cNvSpPr>
            <p:nvPr/>
          </p:nvSpPr>
          <p:spPr bwMode="auto">
            <a:xfrm>
              <a:off x="208" y="763"/>
              <a:ext cx="0" cy="19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6833" name="Line 30">
              <a:extLst>
                <a:ext uri="{FF2B5EF4-FFF2-40B4-BE49-F238E27FC236}">
                  <a16:creationId xmlns:a16="http://schemas.microsoft.com/office/drawing/2014/main" id="{71BBBE1A-C57C-4820-8214-DF62CB3904DE}"/>
                </a:ext>
              </a:extLst>
            </p:cNvPr>
            <p:cNvSpPr>
              <a:spLocks noChangeShapeType="1"/>
            </p:cNvSpPr>
            <p:nvPr/>
          </p:nvSpPr>
          <p:spPr bwMode="auto">
            <a:xfrm>
              <a:off x="423" y="763"/>
              <a:ext cx="0" cy="19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6834" name="Line 31">
              <a:extLst>
                <a:ext uri="{FF2B5EF4-FFF2-40B4-BE49-F238E27FC236}">
                  <a16:creationId xmlns:a16="http://schemas.microsoft.com/office/drawing/2014/main" id="{FF32EAA4-D8E7-423E-8CA5-FBA18A00E715}"/>
                </a:ext>
              </a:extLst>
            </p:cNvPr>
            <p:cNvSpPr>
              <a:spLocks noChangeShapeType="1"/>
            </p:cNvSpPr>
            <p:nvPr/>
          </p:nvSpPr>
          <p:spPr bwMode="auto">
            <a:xfrm flipH="1">
              <a:off x="781" y="191"/>
              <a:ext cx="323" cy="222"/>
            </a:xfrm>
            <a:prstGeom prst="line">
              <a:avLst/>
            </a:prstGeom>
            <a:noFill/>
            <a:ln w="28575">
              <a:solidFill>
                <a:schemeClr val="accent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6835" name="Line 32">
              <a:extLst>
                <a:ext uri="{FF2B5EF4-FFF2-40B4-BE49-F238E27FC236}">
                  <a16:creationId xmlns:a16="http://schemas.microsoft.com/office/drawing/2014/main" id="{3896431E-C54F-4B4C-BA81-1570CD06AA79}"/>
                </a:ext>
              </a:extLst>
            </p:cNvPr>
            <p:cNvSpPr>
              <a:spLocks noChangeShapeType="1"/>
            </p:cNvSpPr>
            <p:nvPr/>
          </p:nvSpPr>
          <p:spPr bwMode="auto">
            <a:xfrm flipH="1">
              <a:off x="315" y="509"/>
              <a:ext cx="323" cy="254"/>
            </a:xfrm>
            <a:prstGeom prst="line">
              <a:avLst/>
            </a:prstGeom>
            <a:noFill/>
            <a:ln w="28575">
              <a:solidFill>
                <a:schemeClr val="accent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6836" name="Rectangle 33">
              <a:extLst>
                <a:ext uri="{FF2B5EF4-FFF2-40B4-BE49-F238E27FC236}">
                  <a16:creationId xmlns:a16="http://schemas.microsoft.com/office/drawing/2014/main" id="{31FA7E48-89C8-4544-B7B4-A3487068529E}"/>
                </a:ext>
              </a:extLst>
            </p:cNvPr>
            <p:cNvSpPr>
              <a:spLocks noChangeArrowheads="1"/>
            </p:cNvSpPr>
            <p:nvPr/>
          </p:nvSpPr>
          <p:spPr bwMode="auto">
            <a:xfrm>
              <a:off x="1176" y="763"/>
              <a:ext cx="538" cy="190"/>
            </a:xfrm>
            <a:prstGeom prst="rect">
              <a:avLst/>
            </a:prstGeom>
            <a:solidFill>
              <a:srgbClr val="FFFFCC"/>
            </a:solidFill>
            <a:ln w="19050">
              <a:solidFill>
                <a:srgbClr val="009900"/>
              </a:solidFill>
              <a:miter lim="800000"/>
              <a:headEnd/>
              <a:tailEnd/>
            </a:ln>
            <a:effectLst>
              <a:outerShdw dist="107763"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76837" name="Line 34">
              <a:extLst>
                <a:ext uri="{FF2B5EF4-FFF2-40B4-BE49-F238E27FC236}">
                  <a16:creationId xmlns:a16="http://schemas.microsoft.com/office/drawing/2014/main" id="{0D901516-2FBE-49C9-A5FC-6B6FA231F877}"/>
                </a:ext>
              </a:extLst>
            </p:cNvPr>
            <p:cNvSpPr>
              <a:spLocks noChangeShapeType="1"/>
            </p:cNvSpPr>
            <p:nvPr/>
          </p:nvSpPr>
          <p:spPr bwMode="auto">
            <a:xfrm>
              <a:off x="1355" y="763"/>
              <a:ext cx="0" cy="19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6838" name="Line 35">
              <a:extLst>
                <a:ext uri="{FF2B5EF4-FFF2-40B4-BE49-F238E27FC236}">
                  <a16:creationId xmlns:a16="http://schemas.microsoft.com/office/drawing/2014/main" id="{CE570D89-A595-49CD-AE5A-54553280063B}"/>
                </a:ext>
              </a:extLst>
            </p:cNvPr>
            <p:cNvSpPr>
              <a:spLocks noChangeShapeType="1"/>
            </p:cNvSpPr>
            <p:nvPr/>
          </p:nvSpPr>
          <p:spPr bwMode="auto">
            <a:xfrm>
              <a:off x="1535" y="763"/>
              <a:ext cx="0" cy="19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6839" name="Rectangle 36">
              <a:extLst>
                <a:ext uri="{FF2B5EF4-FFF2-40B4-BE49-F238E27FC236}">
                  <a16:creationId xmlns:a16="http://schemas.microsoft.com/office/drawing/2014/main" id="{4C58BE7A-5E00-416D-B72F-691A4F585BF4}"/>
                </a:ext>
              </a:extLst>
            </p:cNvPr>
            <p:cNvSpPr>
              <a:spLocks noChangeArrowheads="1"/>
            </p:cNvSpPr>
            <p:nvPr/>
          </p:nvSpPr>
          <p:spPr bwMode="auto">
            <a:xfrm>
              <a:off x="1929" y="1080"/>
              <a:ext cx="538" cy="191"/>
            </a:xfrm>
            <a:prstGeom prst="rect">
              <a:avLst/>
            </a:prstGeom>
            <a:solidFill>
              <a:srgbClr val="FFFFCC"/>
            </a:solidFill>
            <a:ln w="19050">
              <a:solidFill>
                <a:srgbClr val="009900"/>
              </a:solidFill>
              <a:miter lim="800000"/>
              <a:headEnd/>
              <a:tailEnd/>
            </a:ln>
            <a:effectLst>
              <a:outerShdw dist="107763"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76840" name="Line 37">
              <a:extLst>
                <a:ext uri="{FF2B5EF4-FFF2-40B4-BE49-F238E27FC236}">
                  <a16:creationId xmlns:a16="http://schemas.microsoft.com/office/drawing/2014/main" id="{EA2B4052-DB38-49A7-AF78-18846F6AEF0D}"/>
                </a:ext>
              </a:extLst>
            </p:cNvPr>
            <p:cNvSpPr>
              <a:spLocks noChangeShapeType="1"/>
            </p:cNvSpPr>
            <p:nvPr/>
          </p:nvSpPr>
          <p:spPr bwMode="auto">
            <a:xfrm>
              <a:off x="2108" y="1080"/>
              <a:ext cx="0" cy="191"/>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6841" name="Line 38">
              <a:extLst>
                <a:ext uri="{FF2B5EF4-FFF2-40B4-BE49-F238E27FC236}">
                  <a16:creationId xmlns:a16="http://schemas.microsoft.com/office/drawing/2014/main" id="{EA9D2D13-BE13-431B-AFAC-F1B51214205C}"/>
                </a:ext>
              </a:extLst>
            </p:cNvPr>
            <p:cNvSpPr>
              <a:spLocks noChangeShapeType="1"/>
            </p:cNvSpPr>
            <p:nvPr/>
          </p:nvSpPr>
          <p:spPr bwMode="auto">
            <a:xfrm>
              <a:off x="2288" y="1080"/>
              <a:ext cx="0" cy="191"/>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6842" name="Rectangle 39">
              <a:extLst>
                <a:ext uri="{FF2B5EF4-FFF2-40B4-BE49-F238E27FC236}">
                  <a16:creationId xmlns:a16="http://schemas.microsoft.com/office/drawing/2014/main" id="{8DA54F2E-F5B3-4179-A0C3-008EA8930BCB}"/>
                </a:ext>
              </a:extLst>
            </p:cNvPr>
            <p:cNvSpPr>
              <a:spLocks noChangeArrowheads="1"/>
            </p:cNvSpPr>
            <p:nvPr/>
          </p:nvSpPr>
          <p:spPr bwMode="auto">
            <a:xfrm>
              <a:off x="1355" y="1398"/>
              <a:ext cx="538" cy="190"/>
            </a:xfrm>
            <a:prstGeom prst="rect">
              <a:avLst/>
            </a:prstGeom>
            <a:solidFill>
              <a:srgbClr val="FFFFCC"/>
            </a:solidFill>
            <a:ln w="19050">
              <a:solidFill>
                <a:srgbClr val="009900"/>
              </a:solidFill>
              <a:miter lim="800000"/>
              <a:headEnd/>
              <a:tailEnd/>
            </a:ln>
            <a:effectLst>
              <a:outerShdw dist="107763"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76843" name="Line 40">
              <a:extLst>
                <a:ext uri="{FF2B5EF4-FFF2-40B4-BE49-F238E27FC236}">
                  <a16:creationId xmlns:a16="http://schemas.microsoft.com/office/drawing/2014/main" id="{C5E77558-4205-463F-BAF9-C0A46E3ECCB3}"/>
                </a:ext>
              </a:extLst>
            </p:cNvPr>
            <p:cNvSpPr>
              <a:spLocks noChangeShapeType="1"/>
            </p:cNvSpPr>
            <p:nvPr/>
          </p:nvSpPr>
          <p:spPr bwMode="auto">
            <a:xfrm>
              <a:off x="1535" y="1398"/>
              <a:ext cx="0" cy="19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6844" name="Line 41">
              <a:extLst>
                <a:ext uri="{FF2B5EF4-FFF2-40B4-BE49-F238E27FC236}">
                  <a16:creationId xmlns:a16="http://schemas.microsoft.com/office/drawing/2014/main" id="{25FC1981-C2B5-4F3A-B8F8-ACD7247FB3E8}"/>
                </a:ext>
              </a:extLst>
            </p:cNvPr>
            <p:cNvSpPr>
              <a:spLocks noChangeShapeType="1"/>
            </p:cNvSpPr>
            <p:nvPr/>
          </p:nvSpPr>
          <p:spPr bwMode="auto">
            <a:xfrm>
              <a:off x="1714" y="1398"/>
              <a:ext cx="0" cy="19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6845" name="Rectangle 42">
              <a:extLst>
                <a:ext uri="{FF2B5EF4-FFF2-40B4-BE49-F238E27FC236}">
                  <a16:creationId xmlns:a16="http://schemas.microsoft.com/office/drawing/2014/main" id="{A531C5A4-C106-4481-8A4A-781A8A133F10}"/>
                </a:ext>
              </a:extLst>
            </p:cNvPr>
            <p:cNvSpPr>
              <a:spLocks noChangeArrowheads="1"/>
            </p:cNvSpPr>
            <p:nvPr/>
          </p:nvSpPr>
          <p:spPr bwMode="auto">
            <a:xfrm>
              <a:off x="530" y="1112"/>
              <a:ext cx="538" cy="190"/>
            </a:xfrm>
            <a:prstGeom prst="rect">
              <a:avLst/>
            </a:prstGeom>
            <a:solidFill>
              <a:srgbClr val="FFFFCC"/>
            </a:solidFill>
            <a:ln w="19050">
              <a:solidFill>
                <a:srgbClr val="009900"/>
              </a:solidFill>
              <a:miter lim="800000"/>
              <a:headEnd/>
              <a:tailEnd/>
            </a:ln>
            <a:effectLst>
              <a:outerShdw dist="107763"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76846" name="Line 43">
              <a:extLst>
                <a:ext uri="{FF2B5EF4-FFF2-40B4-BE49-F238E27FC236}">
                  <a16:creationId xmlns:a16="http://schemas.microsoft.com/office/drawing/2014/main" id="{66424A66-F44A-4B79-B17B-120010861C7E}"/>
                </a:ext>
              </a:extLst>
            </p:cNvPr>
            <p:cNvSpPr>
              <a:spLocks noChangeShapeType="1"/>
            </p:cNvSpPr>
            <p:nvPr/>
          </p:nvSpPr>
          <p:spPr bwMode="auto">
            <a:xfrm>
              <a:off x="710" y="1112"/>
              <a:ext cx="0" cy="19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6847" name="Line 44">
              <a:extLst>
                <a:ext uri="{FF2B5EF4-FFF2-40B4-BE49-F238E27FC236}">
                  <a16:creationId xmlns:a16="http://schemas.microsoft.com/office/drawing/2014/main" id="{5416D2A7-B404-4F84-ABEC-20B87EA0927B}"/>
                </a:ext>
              </a:extLst>
            </p:cNvPr>
            <p:cNvSpPr>
              <a:spLocks noChangeShapeType="1"/>
            </p:cNvSpPr>
            <p:nvPr/>
          </p:nvSpPr>
          <p:spPr bwMode="auto">
            <a:xfrm>
              <a:off x="889" y="1112"/>
              <a:ext cx="0" cy="19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6848" name="Line 45">
              <a:extLst>
                <a:ext uri="{FF2B5EF4-FFF2-40B4-BE49-F238E27FC236}">
                  <a16:creationId xmlns:a16="http://schemas.microsoft.com/office/drawing/2014/main" id="{517BB806-6F90-4004-9B84-805758C2B99B}"/>
                </a:ext>
              </a:extLst>
            </p:cNvPr>
            <p:cNvSpPr>
              <a:spLocks noChangeShapeType="1"/>
            </p:cNvSpPr>
            <p:nvPr/>
          </p:nvSpPr>
          <p:spPr bwMode="auto">
            <a:xfrm flipH="1">
              <a:off x="1678" y="1175"/>
              <a:ext cx="359" cy="223"/>
            </a:xfrm>
            <a:prstGeom prst="line">
              <a:avLst/>
            </a:prstGeom>
            <a:noFill/>
            <a:ln w="28575">
              <a:solidFill>
                <a:schemeClr val="accent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6849" name="Line 46">
              <a:extLst>
                <a:ext uri="{FF2B5EF4-FFF2-40B4-BE49-F238E27FC236}">
                  <a16:creationId xmlns:a16="http://schemas.microsoft.com/office/drawing/2014/main" id="{12D91C8C-D22E-457B-AA2D-F1EBC043CC93}"/>
                </a:ext>
              </a:extLst>
            </p:cNvPr>
            <p:cNvSpPr>
              <a:spLocks noChangeShapeType="1"/>
            </p:cNvSpPr>
            <p:nvPr/>
          </p:nvSpPr>
          <p:spPr bwMode="auto">
            <a:xfrm>
              <a:off x="530" y="858"/>
              <a:ext cx="251" cy="254"/>
            </a:xfrm>
            <a:prstGeom prst="line">
              <a:avLst/>
            </a:prstGeom>
            <a:noFill/>
            <a:ln w="28575">
              <a:solidFill>
                <a:schemeClr val="accent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6850" name="Line 47">
              <a:extLst>
                <a:ext uri="{FF2B5EF4-FFF2-40B4-BE49-F238E27FC236}">
                  <a16:creationId xmlns:a16="http://schemas.microsoft.com/office/drawing/2014/main" id="{D1B2EF35-3A53-48F1-9088-CFD253A30BD5}"/>
                </a:ext>
              </a:extLst>
            </p:cNvPr>
            <p:cNvSpPr>
              <a:spLocks noChangeShapeType="1"/>
            </p:cNvSpPr>
            <p:nvPr/>
          </p:nvSpPr>
          <p:spPr bwMode="auto">
            <a:xfrm>
              <a:off x="997" y="509"/>
              <a:ext cx="430" cy="254"/>
            </a:xfrm>
            <a:prstGeom prst="line">
              <a:avLst/>
            </a:prstGeom>
            <a:noFill/>
            <a:ln w="28575">
              <a:solidFill>
                <a:schemeClr val="accent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6851" name="Line 48">
              <a:extLst>
                <a:ext uri="{FF2B5EF4-FFF2-40B4-BE49-F238E27FC236}">
                  <a16:creationId xmlns:a16="http://schemas.microsoft.com/office/drawing/2014/main" id="{219B225F-0EB2-457F-8D20-8D8384466DFC}"/>
                </a:ext>
              </a:extLst>
            </p:cNvPr>
            <p:cNvSpPr>
              <a:spLocks noChangeShapeType="1"/>
            </p:cNvSpPr>
            <p:nvPr/>
          </p:nvSpPr>
          <p:spPr bwMode="auto">
            <a:xfrm>
              <a:off x="1642" y="858"/>
              <a:ext cx="466" cy="222"/>
            </a:xfrm>
            <a:prstGeom prst="line">
              <a:avLst/>
            </a:prstGeom>
            <a:noFill/>
            <a:ln w="28575">
              <a:solidFill>
                <a:schemeClr val="accent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6852" name="Text Box 49">
              <a:extLst>
                <a:ext uri="{FF2B5EF4-FFF2-40B4-BE49-F238E27FC236}">
                  <a16:creationId xmlns:a16="http://schemas.microsoft.com/office/drawing/2014/main" id="{D760B474-575F-4EBC-9695-17C64B96DB76}"/>
                </a:ext>
              </a:extLst>
            </p:cNvPr>
            <p:cNvSpPr txBox="1">
              <a:spLocks noChangeArrowheads="1"/>
            </p:cNvSpPr>
            <p:nvPr/>
          </p:nvSpPr>
          <p:spPr bwMode="auto">
            <a:xfrm>
              <a:off x="638" y="373"/>
              <a:ext cx="286" cy="2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a:solidFill>
                    <a:schemeClr val="tx2"/>
                  </a:solidFill>
                  <a:latin typeface="Times New Roman" panose="02020603050405020304" pitchFamily="18" charset="0"/>
                </a:rPr>
                <a:t>B</a:t>
              </a:r>
              <a:endParaRPr lang="en-US" altLang="zh-CN" sz="2000" i="0">
                <a:latin typeface="Times New Roman" panose="02020603050405020304" pitchFamily="18" charset="0"/>
              </a:endParaRPr>
            </a:p>
          </p:txBody>
        </p:sp>
        <p:sp>
          <p:nvSpPr>
            <p:cNvPr id="76853" name="Text Box 50">
              <a:extLst>
                <a:ext uri="{FF2B5EF4-FFF2-40B4-BE49-F238E27FC236}">
                  <a16:creationId xmlns:a16="http://schemas.microsoft.com/office/drawing/2014/main" id="{A5EFF2E5-D7F6-48E9-878D-5EDF1FEB819D}"/>
                </a:ext>
              </a:extLst>
            </p:cNvPr>
            <p:cNvSpPr txBox="1">
              <a:spLocks noChangeArrowheads="1"/>
            </p:cNvSpPr>
            <p:nvPr/>
          </p:nvSpPr>
          <p:spPr bwMode="auto">
            <a:xfrm>
              <a:off x="1309" y="735"/>
              <a:ext cx="298" cy="2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a:solidFill>
                    <a:schemeClr val="tx2"/>
                  </a:solidFill>
                  <a:latin typeface="Times New Roman" panose="02020603050405020304" pitchFamily="18" charset="0"/>
                </a:rPr>
                <a:t>C</a:t>
              </a:r>
              <a:endParaRPr lang="en-US" altLang="zh-CN" sz="2000" i="0">
                <a:latin typeface="Times New Roman" panose="02020603050405020304" pitchFamily="18" charset="0"/>
              </a:endParaRPr>
            </a:p>
          </p:txBody>
        </p:sp>
        <p:sp>
          <p:nvSpPr>
            <p:cNvPr id="76854" name="Text Box 51">
              <a:extLst>
                <a:ext uri="{FF2B5EF4-FFF2-40B4-BE49-F238E27FC236}">
                  <a16:creationId xmlns:a16="http://schemas.microsoft.com/office/drawing/2014/main" id="{9CE68E6E-51F5-4D93-8E58-B3F1AF531C1D}"/>
                </a:ext>
              </a:extLst>
            </p:cNvPr>
            <p:cNvSpPr txBox="1">
              <a:spLocks noChangeArrowheads="1"/>
            </p:cNvSpPr>
            <p:nvPr/>
          </p:nvSpPr>
          <p:spPr bwMode="auto">
            <a:xfrm>
              <a:off x="2037" y="1053"/>
              <a:ext cx="297" cy="2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a:solidFill>
                    <a:schemeClr val="tx2"/>
                  </a:solidFill>
                  <a:latin typeface="Times New Roman" panose="02020603050405020304" pitchFamily="18" charset="0"/>
                </a:rPr>
                <a:t>D</a:t>
              </a:r>
              <a:endParaRPr lang="en-US" altLang="zh-CN" sz="2000" i="0">
                <a:latin typeface="Times New Roman" panose="02020603050405020304" pitchFamily="18" charset="0"/>
              </a:endParaRPr>
            </a:p>
          </p:txBody>
        </p:sp>
        <p:sp>
          <p:nvSpPr>
            <p:cNvPr id="76855" name="Text Box 52">
              <a:extLst>
                <a:ext uri="{FF2B5EF4-FFF2-40B4-BE49-F238E27FC236}">
                  <a16:creationId xmlns:a16="http://schemas.microsoft.com/office/drawing/2014/main" id="{55346E5C-5009-4580-A5EE-FDB47C0D5623}"/>
                </a:ext>
              </a:extLst>
            </p:cNvPr>
            <p:cNvSpPr txBox="1">
              <a:spLocks noChangeArrowheads="1"/>
            </p:cNvSpPr>
            <p:nvPr/>
          </p:nvSpPr>
          <p:spPr bwMode="auto">
            <a:xfrm>
              <a:off x="1462" y="1370"/>
              <a:ext cx="310" cy="2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a:solidFill>
                    <a:schemeClr val="tx2"/>
                  </a:solidFill>
                  <a:latin typeface="Times New Roman" panose="02020603050405020304" pitchFamily="18" charset="0"/>
                </a:rPr>
                <a:t>G</a:t>
              </a:r>
              <a:endParaRPr lang="en-US" altLang="zh-CN" sz="2000" i="0">
                <a:latin typeface="Times New Roman" panose="02020603050405020304" pitchFamily="18" charset="0"/>
              </a:endParaRPr>
            </a:p>
          </p:txBody>
        </p:sp>
        <p:sp>
          <p:nvSpPr>
            <p:cNvPr id="76856" name="Text Box 53">
              <a:extLst>
                <a:ext uri="{FF2B5EF4-FFF2-40B4-BE49-F238E27FC236}">
                  <a16:creationId xmlns:a16="http://schemas.microsoft.com/office/drawing/2014/main" id="{3F68154A-240D-4056-BD9B-9A985C3E0C45}"/>
                </a:ext>
              </a:extLst>
            </p:cNvPr>
            <p:cNvSpPr txBox="1">
              <a:spLocks noChangeArrowheads="1"/>
            </p:cNvSpPr>
            <p:nvPr/>
          </p:nvSpPr>
          <p:spPr bwMode="auto">
            <a:xfrm>
              <a:off x="650" y="1071"/>
              <a:ext cx="275" cy="2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a:solidFill>
                    <a:schemeClr val="tx2"/>
                  </a:solidFill>
                  <a:latin typeface="Times New Roman" panose="02020603050405020304" pitchFamily="18" charset="0"/>
                </a:rPr>
                <a:t>F</a:t>
              </a:r>
              <a:endParaRPr lang="en-US" altLang="zh-CN" sz="2000" i="0">
                <a:latin typeface="Times New Roman" panose="02020603050405020304" pitchFamily="18" charset="0"/>
              </a:endParaRPr>
            </a:p>
          </p:txBody>
        </p:sp>
        <p:sp>
          <p:nvSpPr>
            <p:cNvPr id="76857" name="Text Box 54">
              <a:extLst>
                <a:ext uri="{FF2B5EF4-FFF2-40B4-BE49-F238E27FC236}">
                  <a16:creationId xmlns:a16="http://schemas.microsoft.com/office/drawing/2014/main" id="{7701D514-262F-4E13-A0BF-8C0E3328D643}"/>
                </a:ext>
              </a:extLst>
            </p:cNvPr>
            <p:cNvSpPr txBox="1">
              <a:spLocks noChangeArrowheads="1"/>
            </p:cNvSpPr>
            <p:nvPr/>
          </p:nvSpPr>
          <p:spPr bwMode="auto">
            <a:xfrm>
              <a:off x="172" y="735"/>
              <a:ext cx="286" cy="2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a:solidFill>
                    <a:schemeClr val="tx2"/>
                  </a:solidFill>
                  <a:latin typeface="Times New Roman" panose="02020603050405020304" pitchFamily="18" charset="0"/>
                </a:rPr>
                <a:t>E</a:t>
              </a:r>
              <a:endParaRPr lang="en-US" altLang="zh-CN" sz="2000" i="0">
                <a:latin typeface="Times New Roman" panose="02020603050405020304" pitchFamily="18" charset="0"/>
              </a:endParaRPr>
            </a:p>
          </p:txBody>
        </p:sp>
        <p:sp>
          <p:nvSpPr>
            <p:cNvPr id="76858" name="Text Box 55">
              <a:extLst>
                <a:ext uri="{FF2B5EF4-FFF2-40B4-BE49-F238E27FC236}">
                  <a16:creationId xmlns:a16="http://schemas.microsoft.com/office/drawing/2014/main" id="{26391916-719B-4DF3-830A-5AF93060B239}"/>
                </a:ext>
              </a:extLst>
            </p:cNvPr>
            <p:cNvSpPr txBox="1">
              <a:spLocks noChangeArrowheads="1"/>
            </p:cNvSpPr>
            <p:nvPr/>
          </p:nvSpPr>
          <p:spPr bwMode="auto">
            <a:xfrm>
              <a:off x="0" y="704"/>
              <a:ext cx="273" cy="2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000" b="1" i="0">
                  <a:solidFill>
                    <a:schemeClr val="tx2"/>
                  </a:solidFill>
                  <a:latin typeface="Times New Roman" panose="02020603050405020304" pitchFamily="18" charset="0"/>
                  <a:sym typeface="Symbol" panose="05050102010706020507" pitchFamily="18" charset="2"/>
                </a:rPr>
                <a:t></a:t>
              </a:r>
            </a:p>
          </p:txBody>
        </p:sp>
        <p:sp>
          <p:nvSpPr>
            <p:cNvPr id="76859" name="Text Box 56">
              <a:extLst>
                <a:ext uri="{FF2B5EF4-FFF2-40B4-BE49-F238E27FC236}">
                  <a16:creationId xmlns:a16="http://schemas.microsoft.com/office/drawing/2014/main" id="{7E94AC05-ADD6-4F30-A83C-FCF89DE3E0C1}"/>
                </a:ext>
              </a:extLst>
            </p:cNvPr>
            <p:cNvSpPr txBox="1">
              <a:spLocks noChangeArrowheads="1"/>
            </p:cNvSpPr>
            <p:nvPr/>
          </p:nvSpPr>
          <p:spPr bwMode="auto">
            <a:xfrm>
              <a:off x="1114" y="704"/>
              <a:ext cx="273" cy="2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000" b="1" i="0">
                  <a:solidFill>
                    <a:schemeClr val="tx2"/>
                  </a:solidFill>
                  <a:latin typeface="Times New Roman" panose="02020603050405020304" pitchFamily="18" charset="0"/>
                  <a:sym typeface="Symbol" panose="05050102010706020507" pitchFamily="18" charset="2"/>
                </a:rPr>
                <a:t></a:t>
              </a:r>
            </a:p>
          </p:txBody>
        </p:sp>
        <p:sp>
          <p:nvSpPr>
            <p:cNvPr id="76860" name="Text Box 57">
              <a:extLst>
                <a:ext uri="{FF2B5EF4-FFF2-40B4-BE49-F238E27FC236}">
                  <a16:creationId xmlns:a16="http://schemas.microsoft.com/office/drawing/2014/main" id="{B20F7BB9-C892-4AAA-A4B3-D91464EF9808}"/>
                </a:ext>
              </a:extLst>
            </p:cNvPr>
            <p:cNvSpPr txBox="1">
              <a:spLocks noChangeArrowheads="1"/>
            </p:cNvSpPr>
            <p:nvPr/>
          </p:nvSpPr>
          <p:spPr bwMode="auto">
            <a:xfrm>
              <a:off x="467" y="1053"/>
              <a:ext cx="275" cy="2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000" b="1" i="0">
                  <a:solidFill>
                    <a:schemeClr val="tx2"/>
                  </a:solidFill>
                  <a:latin typeface="Times New Roman" panose="02020603050405020304" pitchFamily="18" charset="0"/>
                  <a:sym typeface="Symbol" panose="05050102010706020507" pitchFamily="18" charset="2"/>
                </a:rPr>
                <a:t></a:t>
              </a:r>
            </a:p>
          </p:txBody>
        </p:sp>
        <p:sp>
          <p:nvSpPr>
            <p:cNvPr id="76861" name="Text Box 58">
              <a:extLst>
                <a:ext uri="{FF2B5EF4-FFF2-40B4-BE49-F238E27FC236}">
                  <a16:creationId xmlns:a16="http://schemas.microsoft.com/office/drawing/2014/main" id="{1EFB8E79-44F5-473E-8068-C23AB210B804}"/>
                </a:ext>
              </a:extLst>
            </p:cNvPr>
            <p:cNvSpPr txBox="1">
              <a:spLocks noChangeArrowheads="1"/>
            </p:cNvSpPr>
            <p:nvPr/>
          </p:nvSpPr>
          <p:spPr bwMode="auto">
            <a:xfrm>
              <a:off x="825" y="1053"/>
              <a:ext cx="275" cy="2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000" b="1" i="0">
                  <a:solidFill>
                    <a:schemeClr val="tx2"/>
                  </a:solidFill>
                  <a:latin typeface="Times New Roman" panose="02020603050405020304" pitchFamily="18" charset="0"/>
                  <a:sym typeface="Symbol" panose="05050102010706020507" pitchFamily="18" charset="2"/>
                </a:rPr>
                <a:t></a:t>
              </a:r>
            </a:p>
          </p:txBody>
        </p:sp>
        <p:sp>
          <p:nvSpPr>
            <p:cNvPr id="76862" name="Text Box 59">
              <a:extLst>
                <a:ext uri="{FF2B5EF4-FFF2-40B4-BE49-F238E27FC236}">
                  <a16:creationId xmlns:a16="http://schemas.microsoft.com/office/drawing/2014/main" id="{4E837AE9-D00E-46AE-B127-7AF5AA8AA4CF}"/>
                </a:ext>
              </a:extLst>
            </p:cNvPr>
            <p:cNvSpPr txBox="1">
              <a:spLocks noChangeArrowheads="1"/>
            </p:cNvSpPr>
            <p:nvPr/>
          </p:nvSpPr>
          <p:spPr bwMode="auto">
            <a:xfrm>
              <a:off x="1292" y="1325"/>
              <a:ext cx="274" cy="2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000" b="1" i="0">
                  <a:solidFill>
                    <a:schemeClr val="tx2"/>
                  </a:solidFill>
                  <a:latin typeface="Times New Roman" panose="02020603050405020304" pitchFamily="18" charset="0"/>
                  <a:sym typeface="Symbol" panose="05050102010706020507" pitchFamily="18" charset="2"/>
                </a:rPr>
                <a:t></a:t>
              </a:r>
            </a:p>
          </p:txBody>
        </p:sp>
        <p:sp>
          <p:nvSpPr>
            <p:cNvPr id="76863" name="Text Box 60">
              <a:extLst>
                <a:ext uri="{FF2B5EF4-FFF2-40B4-BE49-F238E27FC236}">
                  <a16:creationId xmlns:a16="http://schemas.microsoft.com/office/drawing/2014/main" id="{239E0034-B3BE-425D-AA91-E5B6F09A3634}"/>
                </a:ext>
              </a:extLst>
            </p:cNvPr>
            <p:cNvSpPr txBox="1">
              <a:spLocks noChangeArrowheads="1"/>
            </p:cNvSpPr>
            <p:nvPr/>
          </p:nvSpPr>
          <p:spPr bwMode="auto">
            <a:xfrm>
              <a:off x="1652" y="1325"/>
              <a:ext cx="273" cy="2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000" b="1" i="0">
                  <a:solidFill>
                    <a:schemeClr val="tx2"/>
                  </a:solidFill>
                  <a:latin typeface="Times New Roman" panose="02020603050405020304" pitchFamily="18" charset="0"/>
                  <a:sym typeface="Symbol" panose="05050102010706020507" pitchFamily="18" charset="2"/>
                </a:rPr>
                <a:t></a:t>
              </a:r>
            </a:p>
          </p:txBody>
        </p:sp>
        <p:sp>
          <p:nvSpPr>
            <p:cNvPr id="76864" name="Text Box 61">
              <a:extLst>
                <a:ext uri="{FF2B5EF4-FFF2-40B4-BE49-F238E27FC236}">
                  <a16:creationId xmlns:a16="http://schemas.microsoft.com/office/drawing/2014/main" id="{0551AF2B-8685-466E-96FA-73AE48A22E02}"/>
                </a:ext>
              </a:extLst>
            </p:cNvPr>
            <p:cNvSpPr txBox="1">
              <a:spLocks noChangeArrowheads="1"/>
            </p:cNvSpPr>
            <p:nvPr/>
          </p:nvSpPr>
          <p:spPr bwMode="auto">
            <a:xfrm>
              <a:off x="2223" y="1023"/>
              <a:ext cx="273" cy="2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000" b="1" i="0">
                  <a:solidFill>
                    <a:schemeClr val="tx2"/>
                  </a:solidFill>
                  <a:latin typeface="Times New Roman" panose="02020603050405020304" pitchFamily="18" charset="0"/>
                  <a:sym typeface="Symbol" panose="05050102010706020507" pitchFamily="18" charset="2"/>
                </a:rPr>
                <a:t></a:t>
              </a:r>
            </a:p>
          </p:txBody>
        </p:sp>
        <p:sp>
          <p:nvSpPr>
            <p:cNvPr id="76865" name="Rectangle 62">
              <a:extLst>
                <a:ext uri="{FF2B5EF4-FFF2-40B4-BE49-F238E27FC236}">
                  <a16:creationId xmlns:a16="http://schemas.microsoft.com/office/drawing/2014/main" id="{5DCDFC1B-1BCE-4158-966D-E88FE11628F1}"/>
                </a:ext>
              </a:extLst>
            </p:cNvPr>
            <p:cNvSpPr>
              <a:spLocks noChangeArrowheads="1"/>
            </p:cNvSpPr>
            <p:nvPr/>
          </p:nvSpPr>
          <p:spPr bwMode="auto">
            <a:xfrm>
              <a:off x="1143" y="68"/>
              <a:ext cx="288" cy="2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2000" b="1" i="0" dirty="0">
                  <a:solidFill>
                    <a:schemeClr val="tx2"/>
                  </a:solidFill>
                  <a:latin typeface="Times New Roman" panose="02020603050405020304" pitchFamily="18" charset="0"/>
                </a:rPr>
                <a:t>A</a:t>
              </a:r>
            </a:p>
          </p:txBody>
        </p:sp>
        <p:sp>
          <p:nvSpPr>
            <p:cNvPr id="76866" name="Rectangle 63">
              <a:extLst>
                <a:ext uri="{FF2B5EF4-FFF2-40B4-BE49-F238E27FC236}">
                  <a16:creationId xmlns:a16="http://schemas.microsoft.com/office/drawing/2014/main" id="{573D6901-6D4C-45D5-81EF-63CD51B92523}"/>
                </a:ext>
              </a:extLst>
            </p:cNvPr>
            <p:cNvSpPr>
              <a:spLocks noChangeArrowheads="1"/>
            </p:cNvSpPr>
            <p:nvPr/>
          </p:nvSpPr>
          <p:spPr bwMode="auto">
            <a:xfrm>
              <a:off x="1335" y="79"/>
              <a:ext cx="273" cy="2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000" b="1" i="0">
                  <a:solidFill>
                    <a:schemeClr val="tx2"/>
                  </a:solidFill>
                  <a:latin typeface="Times New Roman" panose="02020603050405020304" pitchFamily="18" charset="0"/>
                  <a:sym typeface="Symbol" panose="05050102010706020507" pitchFamily="18" charset="2"/>
                </a:rPr>
                <a:t></a:t>
              </a:r>
            </a:p>
          </p:txBody>
        </p:sp>
      </p:grpSp>
      <p:grpSp>
        <p:nvGrpSpPr>
          <p:cNvPr id="59456" name="Group 64">
            <a:extLst>
              <a:ext uri="{FF2B5EF4-FFF2-40B4-BE49-F238E27FC236}">
                <a16:creationId xmlns:a16="http://schemas.microsoft.com/office/drawing/2014/main" id="{8404D0A8-B7CF-4765-95D5-A021024A3FBE}"/>
              </a:ext>
            </a:extLst>
          </p:cNvPr>
          <p:cNvGrpSpPr>
            <a:grpSpLocks/>
          </p:cNvGrpSpPr>
          <p:nvPr/>
        </p:nvGrpSpPr>
        <p:grpSpPr bwMode="auto">
          <a:xfrm>
            <a:off x="6758880" y="3422997"/>
            <a:ext cx="2133600" cy="2454275"/>
            <a:chOff x="0" y="0"/>
            <a:chExt cx="1344" cy="1690"/>
          </a:xfrm>
        </p:grpSpPr>
        <p:sp>
          <p:nvSpPr>
            <p:cNvPr id="76812" name="Line 65">
              <a:extLst>
                <a:ext uri="{FF2B5EF4-FFF2-40B4-BE49-F238E27FC236}">
                  <a16:creationId xmlns:a16="http://schemas.microsoft.com/office/drawing/2014/main" id="{464F5F8B-3B85-47F5-88CC-A62DE2CA0F87}"/>
                </a:ext>
              </a:extLst>
            </p:cNvPr>
            <p:cNvSpPr>
              <a:spLocks noChangeShapeType="1"/>
            </p:cNvSpPr>
            <p:nvPr/>
          </p:nvSpPr>
          <p:spPr bwMode="auto">
            <a:xfrm>
              <a:off x="888" y="960"/>
              <a:ext cx="360"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76813" name="Line 66">
              <a:extLst>
                <a:ext uri="{FF2B5EF4-FFF2-40B4-BE49-F238E27FC236}">
                  <a16:creationId xmlns:a16="http://schemas.microsoft.com/office/drawing/2014/main" id="{8D1AE95D-0819-4637-B847-B47D3037D948}"/>
                </a:ext>
              </a:extLst>
            </p:cNvPr>
            <p:cNvSpPr>
              <a:spLocks noChangeShapeType="1"/>
            </p:cNvSpPr>
            <p:nvPr/>
          </p:nvSpPr>
          <p:spPr bwMode="auto">
            <a:xfrm flipH="1">
              <a:off x="576" y="75"/>
              <a:ext cx="360" cy="336"/>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76814" name="Oval 67">
              <a:extLst>
                <a:ext uri="{FF2B5EF4-FFF2-40B4-BE49-F238E27FC236}">
                  <a16:creationId xmlns:a16="http://schemas.microsoft.com/office/drawing/2014/main" id="{5C8E1F05-AF1B-4E8B-A36B-5DCC86BBD454}"/>
                </a:ext>
              </a:extLst>
            </p:cNvPr>
            <p:cNvSpPr>
              <a:spLocks noChangeArrowheads="1"/>
            </p:cNvSpPr>
            <p:nvPr/>
          </p:nvSpPr>
          <p:spPr bwMode="auto">
            <a:xfrm>
              <a:off x="768" y="0"/>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A</a:t>
              </a:r>
            </a:p>
          </p:txBody>
        </p:sp>
        <p:sp>
          <p:nvSpPr>
            <p:cNvPr id="76815" name="Line 68">
              <a:extLst>
                <a:ext uri="{FF2B5EF4-FFF2-40B4-BE49-F238E27FC236}">
                  <a16:creationId xmlns:a16="http://schemas.microsoft.com/office/drawing/2014/main" id="{19BED9D0-6063-4CC6-8993-1B3468EB55F3}"/>
                </a:ext>
              </a:extLst>
            </p:cNvPr>
            <p:cNvSpPr>
              <a:spLocks noChangeShapeType="1"/>
            </p:cNvSpPr>
            <p:nvPr/>
          </p:nvSpPr>
          <p:spPr bwMode="auto">
            <a:xfrm flipH="1">
              <a:off x="240" y="465"/>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76816" name="Line 69">
              <a:extLst>
                <a:ext uri="{FF2B5EF4-FFF2-40B4-BE49-F238E27FC236}">
                  <a16:creationId xmlns:a16="http://schemas.microsoft.com/office/drawing/2014/main" id="{55BA824E-58BE-4E1E-9ACF-AE206F7537B4}"/>
                </a:ext>
              </a:extLst>
            </p:cNvPr>
            <p:cNvSpPr>
              <a:spLocks noChangeShapeType="1"/>
            </p:cNvSpPr>
            <p:nvPr/>
          </p:nvSpPr>
          <p:spPr bwMode="auto">
            <a:xfrm>
              <a:off x="144" y="912"/>
              <a:ext cx="336" cy="24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76817" name="Oval 70">
              <a:extLst>
                <a:ext uri="{FF2B5EF4-FFF2-40B4-BE49-F238E27FC236}">
                  <a16:creationId xmlns:a16="http://schemas.microsoft.com/office/drawing/2014/main" id="{F98DA94B-0CC3-409D-B603-5B7E1301E78B}"/>
                </a:ext>
              </a:extLst>
            </p:cNvPr>
            <p:cNvSpPr>
              <a:spLocks noChangeArrowheads="1"/>
            </p:cNvSpPr>
            <p:nvPr/>
          </p:nvSpPr>
          <p:spPr bwMode="auto">
            <a:xfrm>
              <a:off x="336" y="315"/>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B</a:t>
              </a:r>
            </a:p>
          </p:txBody>
        </p:sp>
        <p:sp>
          <p:nvSpPr>
            <p:cNvPr id="76818" name="Line 71">
              <a:extLst>
                <a:ext uri="{FF2B5EF4-FFF2-40B4-BE49-F238E27FC236}">
                  <a16:creationId xmlns:a16="http://schemas.microsoft.com/office/drawing/2014/main" id="{D0B2D9A0-D09B-4D72-856F-D76616BCDBF5}"/>
                </a:ext>
              </a:extLst>
            </p:cNvPr>
            <p:cNvSpPr>
              <a:spLocks noChangeShapeType="1"/>
            </p:cNvSpPr>
            <p:nvPr/>
          </p:nvSpPr>
          <p:spPr bwMode="auto">
            <a:xfrm flipH="1">
              <a:off x="960" y="1189"/>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76819" name="Oval 72">
              <a:extLst>
                <a:ext uri="{FF2B5EF4-FFF2-40B4-BE49-F238E27FC236}">
                  <a16:creationId xmlns:a16="http://schemas.microsoft.com/office/drawing/2014/main" id="{AA1BCDA4-F771-4474-A4C3-4208E39D8E57}"/>
                </a:ext>
              </a:extLst>
            </p:cNvPr>
            <p:cNvSpPr>
              <a:spLocks noChangeArrowheads="1"/>
            </p:cNvSpPr>
            <p:nvPr/>
          </p:nvSpPr>
          <p:spPr bwMode="auto">
            <a:xfrm>
              <a:off x="768" y="1402"/>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G</a:t>
              </a:r>
            </a:p>
          </p:txBody>
        </p:sp>
        <p:sp>
          <p:nvSpPr>
            <p:cNvPr id="76820" name="Oval 73">
              <a:extLst>
                <a:ext uri="{FF2B5EF4-FFF2-40B4-BE49-F238E27FC236}">
                  <a16:creationId xmlns:a16="http://schemas.microsoft.com/office/drawing/2014/main" id="{6C79EF8E-35C8-4809-8F7B-8E5E1A80D0BA}"/>
                </a:ext>
              </a:extLst>
            </p:cNvPr>
            <p:cNvSpPr>
              <a:spLocks noChangeArrowheads="1"/>
            </p:cNvSpPr>
            <p:nvPr/>
          </p:nvSpPr>
          <p:spPr bwMode="auto">
            <a:xfrm>
              <a:off x="1056" y="1056"/>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D</a:t>
              </a:r>
            </a:p>
          </p:txBody>
        </p:sp>
        <p:sp>
          <p:nvSpPr>
            <p:cNvPr id="76821" name="Oval 74">
              <a:extLst>
                <a:ext uri="{FF2B5EF4-FFF2-40B4-BE49-F238E27FC236}">
                  <a16:creationId xmlns:a16="http://schemas.microsoft.com/office/drawing/2014/main" id="{03AA61BE-76A6-4FA8-A8C4-F17CB414682B}"/>
                </a:ext>
              </a:extLst>
            </p:cNvPr>
            <p:cNvSpPr>
              <a:spLocks noChangeArrowheads="1"/>
            </p:cNvSpPr>
            <p:nvPr/>
          </p:nvSpPr>
          <p:spPr bwMode="auto">
            <a:xfrm>
              <a:off x="384" y="1056"/>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F</a:t>
              </a:r>
            </a:p>
          </p:txBody>
        </p:sp>
        <p:sp>
          <p:nvSpPr>
            <p:cNvPr id="76822" name="Line 75">
              <a:extLst>
                <a:ext uri="{FF2B5EF4-FFF2-40B4-BE49-F238E27FC236}">
                  <a16:creationId xmlns:a16="http://schemas.microsoft.com/office/drawing/2014/main" id="{C48B724B-EA1B-4A08-8F65-75C5A5732658}"/>
                </a:ext>
              </a:extLst>
            </p:cNvPr>
            <p:cNvSpPr>
              <a:spLocks noChangeShapeType="1"/>
            </p:cNvSpPr>
            <p:nvPr/>
          </p:nvSpPr>
          <p:spPr bwMode="auto">
            <a:xfrm>
              <a:off x="576" y="576"/>
              <a:ext cx="192" cy="192"/>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76823" name="Oval 76">
              <a:extLst>
                <a:ext uri="{FF2B5EF4-FFF2-40B4-BE49-F238E27FC236}">
                  <a16:creationId xmlns:a16="http://schemas.microsoft.com/office/drawing/2014/main" id="{3D7B1F4F-0DB7-48DA-8D7A-F10EEB227CDC}"/>
                </a:ext>
              </a:extLst>
            </p:cNvPr>
            <p:cNvSpPr>
              <a:spLocks noChangeArrowheads="1"/>
            </p:cNvSpPr>
            <p:nvPr/>
          </p:nvSpPr>
          <p:spPr bwMode="auto">
            <a:xfrm>
              <a:off x="672" y="720"/>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C</a:t>
              </a:r>
            </a:p>
          </p:txBody>
        </p:sp>
        <p:sp>
          <p:nvSpPr>
            <p:cNvPr id="76824" name="Oval 77">
              <a:extLst>
                <a:ext uri="{FF2B5EF4-FFF2-40B4-BE49-F238E27FC236}">
                  <a16:creationId xmlns:a16="http://schemas.microsoft.com/office/drawing/2014/main" id="{9A022733-C3CC-4308-85F7-8882C8EEBAE1}"/>
                </a:ext>
              </a:extLst>
            </p:cNvPr>
            <p:cNvSpPr>
              <a:spLocks noChangeArrowheads="1"/>
            </p:cNvSpPr>
            <p:nvPr/>
          </p:nvSpPr>
          <p:spPr bwMode="auto">
            <a:xfrm>
              <a:off x="0" y="726"/>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E</a:t>
              </a:r>
            </a:p>
          </p:txBody>
        </p:sp>
      </p:grpSp>
      <p:sp>
        <p:nvSpPr>
          <p:cNvPr id="76810" name="Text Box 78">
            <a:extLst>
              <a:ext uri="{FF2B5EF4-FFF2-40B4-BE49-F238E27FC236}">
                <a16:creationId xmlns:a16="http://schemas.microsoft.com/office/drawing/2014/main" id="{C054C84D-6C10-4A0A-90BA-47921D4849DC}"/>
              </a:ext>
            </a:extLst>
          </p:cNvPr>
          <p:cNvSpPr txBox="1">
            <a:spLocks noChangeArrowheads="1"/>
          </p:cNvSpPr>
          <p:nvPr/>
        </p:nvSpPr>
        <p:spPr bwMode="auto">
          <a:xfrm>
            <a:off x="1417743" y="5542456"/>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zh-CN" altLang="en-US" sz="2400" i="0" dirty="0"/>
              <a:t>树</a:t>
            </a:r>
          </a:p>
        </p:txBody>
      </p:sp>
      <p:sp>
        <p:nvSpPr>
          <p:cNvPr id="76811" name="Text Box 79">
            <a:extLst>
              <a:ext uri="{FF2B5EF4-FFF2-40B4-BE49-F238E27FC236}">
                <a16:creationId xmlns:a16="http://schemas.microsoft.com/office/drawing/2014/main" id="{CBF6A0F0-306D-48ED-A207-4C4B43E7316F}"/>
              </a:ext>
            </a:extLst>
          </p:cNvPr>
          <p:cNvSpPr txBox="1">
            <a:spLocks noChangeArrowheads="1"/>
          </p:cNvSpPr>
          <p:nvPr/>
        </p:nvSpPr>
        <p:spPr bwMode="auto">
          <a:xfrm>
            <a:off x="6911280" y="5932855"/>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zh-CN" altLang="en-US" sz="2400" i="0" dirty="0"/>
              <a:t>对应的二叉树</a:t>
            </a:r>
          </a:p>
        </p:txBody>
      </p:sp>
      <p:sp>
        <p:nvSpPr>
          <p:cNvPr id="2" name="Text Box 4">
            <a:extLst>
              <a:ext uri="{FF2B5EF4-FFF2-40B4-BE49-F238E27FC236}">
                <a16:creationId xmlns:a16="http://schemas.microsoft.com/office/drawing/2014/main" id="{8C92CD59-7F68-4BD7-8225-90CA1F5A0CFE}"/>
              </a:ext>
            </a:extLst>
          </p:cNvPr>
          <p:cNvSpPr txBox="1">
            <a:spLocks noChangeArrowheads="1"/>
          </p:cNvSpPr>
          <p:nvPr/>
        </p:nvSpPr>
        <p:spPr bwMode="auto">
          <a:xfrm>
            <a:off x="482713" y="200577"/>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二、树与二叉树的对应关系</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680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680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680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68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680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68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59456"/>
                                        </p:tgtEl>
                                        <p:attrNameLst>
                                          <p:attrName>style.visibility</p:attrName>
                                        </p:attrNameLst>
                                      </p:cBhvr>
                                      <p:to>
                                        <p:strVal val="visible"/>
                                      </p:to>
                                    </p:set>
                                    <p:animEffect transition="in" filter="blinds(horizontal)">
                                      <p:cBhvr>
                                        <p:cTn id="29" dur="500"/>
                                        <p:tgtEl>
                                          <p:spTgt spid="594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10" grpId="0"/>
      <p:bldP spid="76811"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ext Box 2">
            <a:extLst>
              <a:ext uri="{FF2B5EF4-FFF2-40B4-BE49-F238E27FC236}">
                <a16:creationId xmlns:a16="http://schemas.microsoft.com/office/drawing/2014/main" id="{60BDABC2-884C-4E06-AB6F-4D60730101A1}"/>
              </a:ext>
            </a:extLst>
          </p:cNvPr>
          <p:cNvSpPr txBox="1">
            <a:spLocks noChangeArrowheads="1"/>
          </p:cNvSpPr>
          <p:nvPr/>
        </p:nvSpPr>
        <p:spPr bwMode="auto">
          <a:xfrm>
            <a:off x="533400" y="1268760"/>
            <a:ext cx="8424863"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457200" indent="-457200" algn="just" eaLnBrk="1" hangingPunct="1">
              <a:spcBef>
                <a:spcPct val="50000"/>
              </a:spcBef>
              <a:buClr>
                <a:srgbClr val="FF0000"/>
              </a:buClr>
              <a:buSzTx/>
              <a:buFont typeface="Wingdings" panose="05000000000000000000" pitchFamily="2" charset="2"/>
              <a:buChar char="p"/>
            </a:pPr>
            <a:r>
              <a:rPr lang="zh-CN" altLang="en-US" sz="2800" b="0" i="0" dirty="0">
                <a:latin typeface="黑体" panose="02010609060101010101" pitchFamily="49" charset="-122"/>
                <a:ea typeface="黑体" panose="02010609060101010101" pitchFamily="49" charset="-122"/>
              </a:rPr>
              <a:t>以二叉链表作为存储结构，将其解释为树</a:t>
            </a:r>
            <a:r>
              <a:rPr lang="en-US" altLang="zh-CN" sz="2800" b="0" i="0" dirty="0">
                <a:latin typeface="黑体" panose="02010609060101010101" pitchFamily="49" charset="-122"/>
                <a:ea typeface="黑体" panose="02010609060101010101" pitchFamily="49" charset="-122"/>
              </a:rPr>
              <a:t>(</a:t>
            </a:r>
            <a:r>
              <a:rPr lang="zh-CN" altLang="en-US" sz="2800" b="0" i="0" dirty="0">
                <a:latin typeface="黑体" panose="02010609060101010101" pitchFamily="49" charset="-122"/>
                <a:ea typeface="黑体" panose="02010609060101010101" pitchFamily="49" charset="-122"/>
              </a:rPr>
              <a:t>孩子兄弟表示法）或二叉树，实现两者之间的转换。</a:t>
            </a:r>
            <a:endParaRPr lang="zh-CN" altLang="en-US" b="1" dirty="0">
              <a:solidFill>
                <a:srgbClr val="FF00FF"/>
              </a:solidFill>
              <a:latin typeface="楷体_GB2312" pitchFamily="1" charset="-122"/>
              <a:ea typeface="楷体_GB2312" pitchFamily="1" charset="-122"/>
            </a:endParaRPr>
          </a:p>
        </p:txBody>
      </p:sp>
      <p:sp>
        <p:nvSpPr>
          <p:cNvPr id="2" name="Text Box 4">
            <a:extLst>
              <a:ext uri="{FF2B5EF4-FFF2-40B4-BE49-F238E27FC236}">
                <a16:creationId xmlns:a16="http://schemas.microsoft.com/office/drawing/2014/main" id="{BB72B56B-4752-4812-8C0D-7DD36EFED41C}"/>
              </a:ext>
            </a:extLst>
          </p:cNvPr>
          <p:cNvSpPr txBox="1">
            <a:spLocks noChangeArrowheads="1"/>
          </p:cNvSpPr>
          <p:nvPr/>
        </p:nvSpPr>
        <p:spPr bwMode="auto">
          <a:xfrm>
            <a:off x="533400" y="211287"/>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树与二叉树的转换</a:t>
            </a:r>
          </a:p>
        </p:txBody>
      </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3" name="Rectangle 5">
            <a:extLst>
              <a:ext uri="{FF2B5EF4-FFF2-40B4-BE49-F238E27FC236}">
                <a16:creationId xmlns:a16="http://schemas.microsoft.com/office/drawing/2014/main" id="{E4F34139-8F8F-40FB-8788-67C5004BA208}"/>
              </a:ext>
            </a:extLst>
          </p:cNvPr>
          <p:cNvSpPr>
            <a:spLocks noGrp="1" noChangeArrowheads="1"/>
          </p:cNvSpPr>
          <p:nvPr>
            <p:ph type="body" idx="1"/>
          </p:nvPr>
        </p:nvSpPr>
        <p:spPr>
          <a:xfrm>
            <a:off x="533075" y="1310103"/>
            <a:ext cx="8763000" cy="1250955"/>
          </a:xfrm>
        </p:spPr>
        <p:txBody>
          <a:bodyPr/>
          <a:lstStyle/>
          <a:p>
            <a:pPr eaLnBrk="1" hangingPunct="1">
              <a:lnSpc>
                <a:spcPct val="90000"/>
              </a:lnSpc>
            </a:pPr>
            <a:r>
              <a:rPr lang="zh-CN" altLang="en-US" dirty="0">
                <a:latin typeface="黑体" panose="02010609060101010101" pitchFamily="49" charset="-122"/>
                <a:ea typeface="黑体" panose="02010609060101010101" pitchFamily="49" charset="-122"/>
              </a:rPr>
              <a:t>如果把森林中的第二棵树的根结点看作是第一棵树的根结点的兄弟，则可找到一个唯一的二叉树与之对应。</a:t>
            </a:r>
          </a:p>
        </p:txBody>
      </p:sp>
      <p:sp>
        <p:nvSpPr>
          <p:cNvPr id="78855" name="Text Box 7">
            <a:extLst>
              <a:ext uri="{FF2B5EF4-FFF2-40B4-BE49-F238E27FC236}">
                <a16:creationId xmlns:a16="http://schemas.microsoft.com/office/drawing/2014/main" id="{E053FDDA-018B-48F6-9BFB-F377CED63E0A}"/>
              </a:ext>
            </a:extLst>
          </p:cNvPr>
          <p:cNvSpPr txBox="1">
            <a:spLocks noChangeArrowheads="1"/>
          </p:cNvSpPr>
          <p:nvPr/>
        </p:nvSpPr>
        <p:spPr bwMode="auto">
          <a:xfrm>
            <a:off x="1263163" y="5188572"/>
            <a:ext cx="2286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2400" i="0"/>
              <a:t>三棵树的森林</a:t>
            </a:r>
          </a:p>
        </p:txBody>
      </p:sp>
      <p:sp>
        <p:nvSpPr>
          <p:cNvPr id="78856" name="Text Box 8">
            <a:extLst>
              <a:ext uri="{FF2B5EF4-FFF2-40B4-BE49-F238E27FC236}">
                <a16:creationId xmlns:a16="http://schemas.microsoft.com/office/drawing/2014/main" id="{76B2EE56-6DCF-4F76-8DE7-7B60794BDB36}"/>
              </a:ext>
            </a:extLst>
          </p:cNvPr>
          <p:cNvSpPr txBox="1">
            <a:spLocks noChangeArrowheads="1"/>
          </p:cNvSpPr>
          <p:nvPr/>
        </p:nvSpPr>
        <p:spPr bwMode="auto">
          <a:xfrm>
            <a:off x="5791200" y="5456513"/>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zh-CN" altLang="en-US" sz="2400" i="0" dirty="0"/>
              <a:t>对应的二叉树</a:t>
            </a:r>
          </a:p>
        </p:txBody>
      </p:sp>
      <p:sp>
        <p:nvSpPr>
          <p:cNvPr id="78857" name="Text Box 9">
            <a:extLst>
              <a:ext uri="{FF2B5EF4-FFF2-40B4-BE49-F238E27FC236}">
                <a16:creationId xmlns:a16="http://schemas.microsoft.com/office/drawing/2014/main" id="{00167532-C74B-4479-94E8-F09381FE97DA}"/>
              </a:ext>
            </a:extLst>
          </p:cNvPr>
          <p:cNvSpPr txBox="1">
            <a:spLocks noChangeArrowheads="1"/>
          </p:cNvSpPr>
          <p:nvPr/>
        </p:nvSpPr>
        <p:spPr bwMode="auto">
          <a:xfrm>
            <a:off x="1339363" y="2826372"/>
            <a:ext cx="2589213"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2800" b="1" i="0" dirty="0">
                <a:solidFill>
                  <a:srgbClr val="CC0099"/>
                </a:solidFill>
                <a:latin typeface="Times New Roman" panose="02020603050405020304" pitchFamily="18" charset="0"/>
              </a:rPr>
              <a:t>T</a:t>
            </a:r>
            <a:r>
              <a:rPr lang="en-US" altLang="zh-CN" sz="2800" b="1" i="0" baseline="-25000" dirty="0">
                <a:solidFill>
                  <a:srgbClr val="CC0099"/>
                </a:solidFill>
                <a:latin typeface="Times New Roman" panose="02020603050405020304" pitchFamily="18" charset="0"/>
              </a:rPr>
              <a:t>1</a:t>
            </a:r>
            <a:r>
              <a:rPr lang="en-US" altLang="zh-CN" sz="2800" b="1" i="0" dirty="0">
                <a:solidFill>
                  <a:srgbClr val="CC0099"/>
                </a:solidFill>
                <a:latin typeface="Times New Roman" panose="02020603050405020304" pitchFamily="18" charset="0"/>
              </a:rPr>
              <a:t>        T</a:t>
            </a:r>
            <a:r>
              <a:rPr lang="en-US" altLang="zh-CN" sz="2800" b="1" i="0" baseline="-25000" dirty="0">
                <a:solidFill>
                  <a:srgbClr val="CC0099"/>
                </a:solidFill>
                <a:latin typeface="Times New Roman" panose="02020603050405020304" pitchFamily="18" charset="0"/>
              </a:rPr>
              <a:t>2</a:t>
            </a:r>
            <a:r>
              <a:rPr lang="en-US" altLang="zh-CN" sz="2800" b="1" i="0" dirty="0">
                <a:solidFill>
                  <a:srgbClr val="CC0099"/>
                </a:solidFill>
                <a:latin typeface="Times New Roman" panose="02020603050405020304" pitchFamily="18" charset="0"/>
              </a:rPr>
              <a:t>       T</a:t>
            </a:r>
            <a:r>
              <a:rPr lang="en-US" altLang="zh-CN" sz="2800" b="1" i="0" baseline="-25000" dirty="0">
                <a:solidFill>
                  <a:srgbClr val="CC0099"/>
                </a:solidFill>
                <a:latin typeface="Times New Roman" panose="02020603050405020304" pitchFamily="18" charset="0"/>
              </a:rPr>
              <a:t>3</a:t>
            </a:r>
            <a:endParaRPr lang="en-US" altLang="zh-CN" sz="2800" b="1" i="0" dirty="0">
              <a:solidFill>
                <a:srgbClr val="CC0099"/>
              </a:solidFill>
              <a:latin typeface="Times New Roman" panose="02020603050405020304" pitchFamily="18" charset="0"/>
            </a:endParaRPr>
          </a:p>
        </p:txBody>
      </p:sp>
      <p:grpSp>
        <p:nvGrpSpPr>
          <p:cNvPr id="78858" name="Group 10">
            <a:extLst>
              <a:ext uri="{FF2B5EF4-FFF2-40B4-BE49-F238E27FC236}">
                <a16:creationId xmlns:a16="http://schemas.microsoft.com/office/drawing/2014/main" id="{89437017-5D2A-4C7C-905D-E58E2BCEE974}"/>
              </a:ext>
            </a:extLst>
          </p:cNvPr>
          <p:cNvGrpSpPr>
            <a:grpSpLocks/>
          </p:cNvGrpSpPr>
          <p:nvPr/>
        </p:nvGrpSpPr>
        <p:grpSpPr bwMode="auto">
          <a:xfrm>
            <a:off x="882163" y="3207372"/>
            <a:ext cx="3124200" cy="1885950"/>
            <a:chOff x="0" y="0"/>
            <a:chExt cx="2112" cy="1336"/>
          </a:xfrm>
        </p:grpSpPr>
        <p:sp>
          <p:nvSpPr>
            <p:cNvPr id="78891" name="Line 11">
              <a:extLst>
                <a:ext uri="{FF2B5EF4-FFF2-40B4-BE49-F238E27FC236}">
                  <a16:creationId xmlns:a16="http://schemas.microsoft.com/office/drawing/2014/main" id="{A45D1749-1A84-4BCA-AB4F-D4B030B9C271}"/>
                </a:ext>
              </a:extLst>
            </p:cNvPr>
            <p:cNvSpPr>
              <a:spLocks noChangeShapeType="1"/>
            </p:cNvSpPr>
            <p:nvPr/>
          </p:nvSpPr>
          <p:spPr bwMode="auto">
            <a:xfrm>
              <a:off x="1824" y="308"/>
              <a:ext cx="144" cy="336"/>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8892" name="Line 12">
              <a:extLst>
                <a:ext uri="{FF2B5EF4-FFF2-40B4-BE49-F238E27FC236}">
                  <a16:creationId xmlns:a16="http://schemas.microsoft.com/office/drawing/2014/main" id="{8221D97A-C091-474D-B09C-35C23A421D3A}"/>
                </a:ext>
              </a:extLst>
            </p:cNvPr>
            <p:cNvSpPr>
              <a:spLocks noChangeShapeType="1"/>
            </p:cNvSpPr>
            <p:nvPr/>
          </p:nvSpPr>
          <p:spPr bwMode="auto">
            <a:xfrm flipH="1">
              <a:off x="1584" y="308"/>
              <a:ext cx="144" cy="336"/>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8893" name="Line 13">
              <a:extLst>
                <a:ext uri="{FF2B5EF4-FFF2-40B4-BE49-F238E27FC236}">
                  <a16:creationId xmlns:a16="http://schemas.microsoft.com/office/drawing/2014/main" id="{BC43973C-91C8-4A59-8732-73EF2D69CE41}"/>
                </a:ext>
              </a:extLst>
            </p:cNvPr>
            <p:cNvSpPr>
              <a:spLocks noChangeShapeType="1"/>
            </p:cNvSpPr>
            <p:nvPr/>
          </p:nvSpPr>
          <p:spPr bwMode="auto">
            <a:xfrm>
              <a:off x="528" y="308"/>
              <a:ext cx="240" cy="288"/>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8894" name="Line 14">
              <a:extLst>
                <a:ext uri="{FF2B5EF4-FFF2-40B4-BE49-F238E27FC236}">
                  <a16:creationId xmlns:a16="http://schemas.microsoft.com/office/drawing/2014/main" id="{E9CE6873-9E02-42C9-9671-60371CFA7826}"/>
                </a:ext>
              </a:extLst>
            </p:cNvPr>
            <p:cNvSpPr>
              <a:spLocks noChangeShapeType="1"/>
            </p:cNvSpPr>
            <p:nvPr/>
          </p:nvSpPr>
          <p:spPr bwMode="auto">
            <a:xfrm flipH="1">
              <a:off x="192" y="308"/>
              <a:ext cx="240" cy="288"/>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8895" name="Line 15">
              <a:extLst>
                <a:ext uri="{FF2B5EF4-FFF2-40B4-BE49-F238E27FC236}">
                  <a16:creationId xmlns:a16="http://schemas.microsoft.com/office/drawing/2014/main" id="{E7D90ABB-3F43-4FEA-BA21-9EF68E3467FE}"/>
                </a:ext>
              </a:extLst>
            </p:cNvPr>
            <p:cNvSpPr>
              <a:spLocks noChangeShapeType="1"/>
            </p:cNvSpPr>
            <p:nvPr/>
          </p:nvSpPr>
          <p:spPr bwMode="auto">
            <a:xfrm>
              <a:off x="1584" y="788"/>
              <a:ext cx="0" cy="288"/>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8896" name="Line 16">
              <a:extLst>
                <a:ext uri="{FF2B5EF4-FFF2-40B4-BE49-F238E27FC236}">
                  <a16:creationId xmlns:a16="http://schemas.microsoft.com/office/drawing/2014/main" id="{9AC8D817-EDDB-4676-9E33-6438C451D764}"/>
                </a:ext>
              </a:extLst>
            </p:cNvPr>
            <p:cNvSpPr>
              <a:spLocks noChangeShapeType="1"/>
            </p:cNvSpPr>
            <p:nvPr/>
          </p:nvSpPr>
          <p:spPr bwMode="auto">
            <a:xfrm>
              <a:off x="816" y="788"/>
              <a:ext cx="0" cy="288"/>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8897" name="Line 17">
              <a:extLst>
                <a:ext uri="{FF2B5EF4-FFF2-40B4-BE49-F238E27FC236}">
                  <a16:creationId xmlns:a16="http://schemas.microsoft.com/office/drawing/2014/main" id="{4E539508-4EE3-4A1B-B98D-E3EDD4B6D371}"/>
                </a:ext>
              </a:extLst>
            </p:cNvPr>
            <p:cNvSpPr>
              <a:spLocks noChangeShapeType="1"/>
            </p:cNvSpPr>
            <p:nvPr/>
          </p:nvSpPr>
          <p:spPr bwMode="auto">
            <a:xfrm>
              <a:off x="1200" y="308"/>
              <a:ext cx="0" cy="288"/>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8898" name="Line 18">
              <a:extLst>
                <a:ext uri="{FF2B5EF4-FFF2-40B4-BE49-F238E27FC236}">
                  <a16:creationId xmlns:a16="http://schemas.microsoft.com/office/drawing/2014/main" id="{40BC6962-BE9A-4E0B-8F27-85EA06C536EA}"/>
                </a:ext>
              </a:extLst>
            </p:cNvPr>
            <p:cNvSpPr>
              <a:spLocks noChangeShapeType="1"/>
            </p:cNvSpPr>
            <p:nvPr/>
          </p:nvSpPr>
          <p:spPr bwMode="auto">
            <a:xfrm>
              <a:off x="480" y="308"/>
              <a:ext cx="0" cy="288"/>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8899" name="Oval 19">
              <a:extLst>
                <a:ext uri="{FF2B5EF4-FFF2-40B4-BE49-F238E27FC236}">
                  <a16:creationId xmlns:a16="http://schemas.microsoft.com/office/drawing/2014/main" id="{8E6740AC-C70F-4B90-9023-DEDDA7845D30}"/>
                </a:ext>
              </a:extLst>
            </p:cNvPr>
            <p:cNvSpPr>
              <a:spLocks noChangeArrowheads="1"/>
            </p:cNvSpPr>
            <p:nvPr/>
          </p:nvSpPr>
          <p:spPr bwMode="auto">
            <a:xfrm>
              <a:off x="0" y="548"/>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78900" name="Oval 20">
              <a:extLst>
                <a:ext uri="{FF2B5EF4-FFF2-40B4-BE49-F238E27FC236}">
                  <a16:creationId xmlns:a16="http://schemas.microsoft.com/office/drawing/2014/main" id="{5B8E98EF-5979-498E-8AFC-E0FE831AA1A5}"/>
                </a:ext>
              </a:extLst>
            </p:cNvPr>
            <p:cNvSpPr>
              <a:spLocks noChangeArrowheads="1"/>
            </p:cNvSpPr>
            <p:nvPr/>
          </p:nvSpPr>
          <p:spPr bwMode="auto">
            <a:xfrm>
              <a:off x="336" y="548"/>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78901" name="Oval 21">
              <a:extLst>
                <a:ext uri="{FF2B5EF4-FFF2-40B4-BE49-F238E27FC236}">
                  <a16:creationId xmlns:a16="http://schemas.microsoft.com/office/drawing/2014/main" id="{97054393-2287-49B3-9BEA-FB06D9A7451A}"/>
                </a:ext>
              </a:extLst>
            </p:cNvPr>
            <p:cNvSpPr>
              <a:spLocks noChangeArrowheads="1"/>
            </p:cNvSpPr>
            <p:nvPr/>
          </p:nvSpPr>
          <p:spPr bwMode="auto">
            <a:xfrm>
              <a:off x="672" y="548"/>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78902" name="Oval 22">
              <a:extLst>
                <a:ext uri="{FF2B5EF4-FFF2-40B4-BE49-F238E27FC236}">
                  <a16:creationId xmlns:a16="http://schemas.microsoft.com/office/drawing/2014/main" id="{C3A28049-B436-44EA-91FA-661B8A5F8700}"/>
                </a:ext>
              </a:extLst>
            </p:cNvPr>
            <p:cNvSpPr>
              <a:spLocks noChangeArrowheads="1"/>
            </p:cNvSpPr>
            <p:nvPr/>
          </p:nvSpPr>
          <p:spPr bwMode="auto">
            <a:xfrm>
              <a:off x="1056" y="548"/>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78903" name="Oval 23">
              <a:extLst>
                <a:ext uri="{FF2B5EF4-FFF2-40B4-BE49-F238E27FC236}">
                  <a16:creationId xmlns:a16="http://schemas.microsoft.com/office/drawing/2014/main" id="{D5E1F8F9-D1D5-4055-B755-D1BDE027484F}"/>
                </a:ext>
              </a:extLst>
            </p:cNvPr>
            <p:cNvSpPr>
              <a:spLocks noChangeArrowheads="1"/>
            </p:cNvSpPr>
            <p:nvPr/>
          </p:nvSpPr>
          <p:spPr bwMode="auto">
            <a:xfrm>
              <a:off x="1440" y="548"/>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78904" name="Oval 24">
              <a:extLst>
                <a:ext uri="{FF2B5EF4-FFF2-40B4-BE49-F238E27FC236}">
                  <a16:creationId xmlns:a16="http://schemas.microsoft.com/office/drawing/2014/main" id="{EF6E5AC1-86D1-4A63-B564-C06B800A0E21}"/>
                </a:ext>
              </a:extLst>
            </p:cNvPr>
            <p:cNvSpPr>
              <a:spLocks noChangeArrowheads="1"/>
            </p:cNvSpPr>
            <p:nvPr/>
          </p:nvSpPr>
          <p:spPr bwMode="auto">
            <a:xfrm>
              <a:off x="1824" y="548"/>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78905" name="Oval 25">
              <a:extLst>
                <a:ext uri="{FF2B5EF4-FFF2-40B4-BE49-F238E27FC236}">
                  <a16:creationId xmlns:a16="http://schemas.microsoft.com/office/drawing/2014/main" id="{5FC5AB9C-8639-4F19-8E0E-D541B8B1F55A}"/>
                </a:ext>
              </a:extLst>
            </p:cNvPr>
            <p:cNvSpPr>
              <a:spLocks noChangeArrowheads="1"/>
            </p:cNvSpPr>
            <p:nvPr/>
          </p:nvSpPr>
          <p:spPr bwMode="auto">
            <a:xfrm>
              <a:off x="672" y="1028"/>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78906" name="Oval 26">
              <a:extLst>
                <a:ext uri="{FF2B5EF4-FFF2-40B4-BE49-F238E27FC236}">
                  <a16:creationId xmlns:a16="http://schemas.microsoft.com/office/drawing/2014/main" id="{2AC57147-7981-4894-9411-514C1A9B9554}"/>
                </a:ext>
              </a:extLst>
            </p:cNvPr>
            <p:cNvSpPr>
              <a:spLocks noChangeArrowheads="1"/>
            </p:cNvSpPr>
            <p:nvPr/>
          </p:nvSpPr>
          <p:spPr bwMode="auto">
            <a:xfrm>
              <a:off x="1440" y="1028"/>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78907" name="Oval 27">
              <a:extLst>
                <a:ext uri="{FF2B5EF4-FFF2-40B4-BE49-F238E27FC236}">
                  <a16:creationId xmlns:a16="http://schemas.microsoft.com/office/drawing/2014/main" id="{A6F7E503-5140-4181-B1D5-894CE47F22F8}"/>
                </a:ext>
              </a:extLst>
            </p:cNvPr>
            <p:cNvSpPr>
              <a:spLocks noChangeArrowheads="1"/>
            </p:cNvSpPr>
            <p:nvPr/>
          </p:nvSpPr>
          <p:spPr bwMode="auto">
            <a:xfrm>
              <a:off x="336" y="68"/>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78908" name="Oval 28">
              <a:extLst>
                <a:ext uri="{FF2B5EF4-FFF2-40B4-BE49-F238E27FC236}">
                  <a16:creationId xmlns:a16="http://schemas.microsoft.com/office/drawing/2014/main" id="{03FEF905-B1D6-43E3-89C8-D0C4B54FB080}"/>
                </a:ext>
              </a:extLst>
            </p:cNvPr>
            <p:cNvSpPr>
              <a:spLocks noChangeArrowheads="1"/>
            </p:cNvSpPr>
            <p:nvPr/>
          </p:nvSpPr>
          <p:spPr bwMode="auto">
            <a:xfrm>
              <a:off x="1056" y="68"/>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78909" name="Oval 29">
              <a:extLst>
                <a:ext uri="{FF2B5EF4-FFF2-40B4-BE49-F238E27FC236}">
                  <a16:creationId xmlns:a16="http://schemas.microsoft.com/office/drawing/2014/main" id="{8A438CD2-0D89-42F9-95AA-4E8204F9DEA2}"/>
                </a:ext>
              </a:extLst>
            </p:cNvPr>
            <p:cNvSpPr>
              <a:spLocks noChangeArrowheads="1"/>
            </p:cNvSpPr>
            <p:nvPr/>
          </p:nvSpPr>
          <p:spPr bwMode="auto">
            <a:xfrm>
              <a:off x="1632" y="68"/>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78910" name="Text Box 30">
              <a:extLst>
                <a:ext uri="{FF2B5EF4-FFF2-40B4-BE49-F238E27FC236}">
                  <a16:creationId xmlns:a16="http://schemas.microsoft.com/office/drawing/2014/main" id="{79578A7F-5A10-4C0D-9FBC-D443D9680735}"/>
                </a:ext>
              </a:extLst>
            </p:cNvPr>
            <p:cNvSpPr txBox="1">
              <a:spLocks noChangeArrowheads="1"/>
            </p:cNvSpPr>
            <p:nvPr/>
          </p:nvSpPr>
          <p:spPr bwMode="auto">
            <a:xfrm>
              <a:off x="336" y="9"/>
              <a:ext cx="298" cy="3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CC3300"/>
                  </a:solidFill>
                  <a:latin typeface="Times New Roman" panose="02020603050405020304" pitchFamily="18" charset="0"/>
                </a:rPr>
                <a:t>A</a:t>
              </a:r>
              <a:endParaRPr lang="en-US" altLang="zh-CN" sz="2400" i="0">
                <a:latin typeface="Times New Roman" panose="02020603050405020304" pitchFamily="18" charset="0"/>
              </a:endParaRPr>
            </a:p>
          </p:txBody>
        </p:sp>
        <p:sp>
          <p:nvSpPr>
            <p:cNvPr id="78911" name="Text Box 31">
              <a:extLst>
                <a:ext uri="{FF2B5EF4-FFF2-40B4-BE49-F238E27FC236}">
                  <a16:creationId xmlns:a16="http://schemas.microsoft.com/office/drawing/2014/main" id="{732378A0-75BB-4B36-A52C-D0C1834366F5}"/>
                </a:ext>
              </a:extLst>
            </p:cNvPr>
            <p:cNvSpPr txBox="1">
              <a:spLocks noChangeArrowheads="1"/>
            </p:cNvSpPr>
            <p:nvPr/>
          </p:nvSpPr>
          <p:spPr bwMode="auto">
            <a:xfrm>
              <a:off x="1082" y="0"/>
              <a:ext cx="271" cy="3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CC3300"/>
                  </a:solidFill>
                  <a:latin typeface="Times New Roman" panose="02020603050405020304" pitchFamily="18" charset="0"/>
                </a:rPr>
                <a:t>F</a:t>
              </a:r>
              <a:endParaRPr lang="en-US" altLang="zh-CN" sz="2400" i="0">
                <a:latin typeface="Times New Roman" panose="02020603050405020304" pitchFamily="18" charset="0"/>
              </a:endParaRPr>
            </a:p>
          </p:txBody>
        </p:sp>
        <p:sp>
          <p:nvSpPr>
            <p:cNvPr id="78912" name="Text Box 32">
              <a:extLst>
                <a:ext uri="{FF2B5EF4-FFF2-40B4-BE49-F238E27FC236}">
                  <a16:creationId xmlns:a16="http://schemas.microsoft.com/office/drawing/2014/main" id="{021CB941-F965-46C3-9062-B3EE084727FA}"/>
                </a:ext>
              </a:extLst>
            </p:cNvPr>
            <p:cNvSpPr txBox="1">
              <a:spLocks noChangeArrowheads="1"/>
            </p:cNvSpPr>
            <p:nvPr/>
          </p:nvSpPr>
          <p:spPr bwMode="auto">
            <a:xfrm>
              <a:off x="1626" y="0"/>
              <a:ext cx="311" cy="3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CC3300"/>
                  </a:solidFill>
                  <a:latin typeface="Times New Roman" panose="02020603050405020304" pitchFamily="18" charset="0"/>
                </a:rPr>
                <a:t>H</a:t>
              </a:r>
              <a:endParaRPr lang="en-US" altLang="zh-CN" sz="2400" i="0">
                <a:latin typeface="Times New Roman" panose="02020603050405020304" pitchFamily="18" charset="0"/>
              </a:endParaRPr>
            </a:p>
          </p:txBody>
        </p:sp>
        <p:sp>
          <p:nvSpPr>
            <p:cNvPr id="78913" name="Text Box 33">
              <a:extLst>
                <a:ext uri="{FF2B5EF4-FFF2-40B4-BE49-F238E27FC236}">
                  <a16:creationId xmlns:a16="http://schemas.microsoft.com/office/drawing/2014/main" id="{6704875F-894C-46BF-BA32-0C2FBFA34B64}"/>
                </a:ext>
              </a:extLst>
            </p:cNvPr>
            <p:cNvSpPr txBox="1">
              <a:spLocks noChangeArrowheads="1"/>
            </p:cNvSpPr>
            <p:nvPr/>
          </p:nvSpPr>
          <p:spPr bwMode="auto">
            <a:xfrm>
              <a:off x="6" y="489"/>
              <a:ext cx="285" cy="3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CC3300"/>
                  </a:solidFill>
                  <a:latin typeface="Times New Roman" panose="02020603050405020304" pitchFamily="18" charset="0"/>
                </a:rPr>
                <a:t>B</a:t>
              </a:r>
              <a:endParaRPr lang="en-US" altLang="zh-CN" sz="2400" i="0">
                <a:latin typeface="Times New Roman" panose="02020603050405020304" pitchFamily="18" charset="0"/>
              </a:endParaRPr>
            </a:p>
          </p:txBody>
        </p:sp>
        <p:sp>
          <p:nvSpPr>
            <p:cNvPr id="78914" name="Text Box 34">
              <a:extLst>
                <a:ext uri="{FF2B5EF4-FFF2-40B4-BE49-F238E27FC236}">
                  <a16:creationId xmlns:a16="http://schemas.microsoft.com/office/drawing/2014/main" id="{48563ACA-6FEE-45BB-B670-C7F5B5CD53E2}"/>
                </a:ext>
              </a:extLst>
            </p:cNvPr>
            <p:cNvSpPr txBox="1">
              <a:spLocks noChangeArrowheads="1"/>
            </p:cNvSpPr>
            <p:nvPr/>
          </p:nvSpPr>
          <p:spPr bwMode="auto">
            <a:xfrm>
              <a:off x="336" y="489"/>
              <a:ext cx="298" cy="3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CC3300"/>
                  </a:solidFill>
                  <a:latin typeface="Times New Roman" panose="02020603050405020304" pitchFamily="18" charset="0"/>
                </a:rPr>
                <a:t>C</a:t>
              </a:r>
              <a:endParaRPr lang="en-US" altLang="zh-CN" sz="2400" i="0">
                <a:latin typeface="Times New Roman" panose="02020603050405020304" pitchFamily="18" charset="0"/>
              </a:endParaRPr>
            </a:p>
          </p:txBody>
        </p:sp>
        <p:sp>
          <p:nvSpPr>
            <p:cNvPr id="78915" name="Text Box 35">
              <a:extLst>
                <a:ext uri="{FF2B5EF4-FFF2-40B4-BE49-F238E27FC236}">
                  <a16:creationId xmlns:a16="http://schemas.microsoft.com/office/drawing/2014/main" id="{D19A4ACD-B210-4D69-8A12-A0EE69FCA2A8}"/>
                </a:ext>
              </a:extLst>
            </p:cNvPr>
            <p:cNvSpPr txBox="1">
              <a:spLocks noChangeArrowheads="1"/>
            </p:cNvSpPr>
            <p:nvPr/>
          </p:nvSpPr>
          <p:spPr bwMode="auto">
            <a:xfrm>
              <a:off x="673" y="489"/>
              <a:ext cx="298" cy="3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CC3300"/>
                  </a:solidFill>
                  <a:latin typeface="Times New Roman" panose="02020603050405020304" pitchFamily="18" charset="0"/>
                </a:rPr>
                <a:t>D</a:t>
              </a:r>
              <a:endParaRPr lang="en-US" altLang="zh-CN" sz="2400" i="0">
                <a:latin typeface="Times New Roman" panose="02020603050405020304" pitchFamily="18" charset="0"/>
              </a:endParaRPr>
            </a:p>
          </p:txBody>
        </p:sp>
        <p:sp>
          <p:nvSpPr>
            <p:cNvPr id="78916" name="Text Box 36">
              <a:extLst>
                <a:ext uri="{FF2B5EF4-FFF2-40B4-BE49-F238E27FC236}">
                  <a16:creationId xmlns:a16="http://schemas.microsoft.com/office/drawing/2014/main" id="{7E4409D9-AC91-4636-AD3F-2698B4AB3B1B}"/>
                </a:ext>
              </a:extLst>
            </p:cNvPr>
            <p:cNvSpPr txBox="1">
              <a:spLocks noChangeArrowheads="1"/>
            </p:cNvSpPr>
            <p:nvPr/>
          </p:nvSpPr>
          <p:spPr bwMode="auto">
            <a:xfrm>
              <a:off x="1050" y="489"/>
              <a:ext cx="311" cy="3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CC3300"/>
                  </a:solidFill>
                  <a:latin typeface="Times New Roman" panose="02020603050405020304" pitchFamily="18" charset="0"/>
                </a:rPr>
                <a:t>G</a:t>
              </a:r>
              <a:endParaRPr lang="en-US" altLang="zh-CN" sz="2400" i="0">
                <a:latin typeface="Times New Roman" panose="02020603050405020304" pitchFamily="18" charset="0"/>
              </a:endParaRPr>
            </a:p>
          </p:txBody>
        </p:sp>
        <p:sp>
          <p:nvSpPr>
            <p:cNvPr id="78917" name="Text Box 37">
              <a:extLst>
                <a:ext uri="{FF2B5EF4-FFF2-40B4-BE49-F238E27FC236}">
                  <a16:creationId xmlns:a16="http://schemas.microsoft.com/office/drawing/2014/main" id="{19582F7D-34EB-4AEE-8F38-1AEA37C9E9BB}"/>
                </a:ext>
              </a:extLst>
            </p:cNvPr>
            <p:cNvSpPr txBox="1">
              <a:spLocks noChangeArrowheads="1"/>
            </p:cNvSpPr>
            <p:nvPr/>
          </p:nvSpPr>
          <p:spPr bwMode="auto">
            <a:xfrm>
              <a:off x="1480" y="489"/>
              <a:ext cx="218" cy="3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CC3300"/>
                  </a:solidFill>
                  <a:latin typeface="Times New Roman" panose="02020603050405020304" pitchFamily="18" charset="0"/>
                </a:rPr>
                <a:t>I</a:t>
              </a:r>
              <a:endParaRPr lang="en-US" altLang="zh-CN" sz="2400" i="0">
                <a:latin typeface="Times New Roman" panose="02020603050405020304" pitchFamily="18" charset="0"/>
              </a:endParaRPr>
            </a:p>
          </p:txBody>
        </p:sp>
        <p:sp>
          <p:nvSpPr>
            <p:cNvPr id="78918" name="Text Box 38">
              <a:extLst>
                <a:ext uri="{FF2B5EF4-FFF2-40B4-BE49-F238E27FC236}">
                  <a16:creationId xmlns:a16="http://schemas.microsoft.com/office/drawing/2014/main" id="{848C7B2E-B786-49CA-9692-9DE1CE37050C}"/>
                </a:ext>
              </a:extLst>
            </p:cNvPr>
            <p:cNvSpPr txBox="1">
              <a:spLocks noChangeArrowheads="1"/>
            </p:cNvSpPr>
            <p:nvPr/>
          </p:nvSpPr>
          <p:spPr bwMode="auto">
            <a:xfrm>
              <a:off x="1851" y="489"/>
              <a:ext cx="245" cy="3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CC3300"/>
                  </a:solidFill>
                  <a:latin typeface="Times New Roman" panose="02020603050405020304" pitchFamily="18" charset="0"/>
                </a:rPr>
                <a:t>J</a:t>
              </a:r>
              <a:endParaRPr lang="en-US" altLang="zh-CN" sz="2400" i="0">
                <a:latin typeface="Times New Roman" panose="02020603050405020304" pitchFamily="18" charset="0"/>
              </a:endParaRPr>
            </a:p>
          </p:txBody>
        </p:sp>
        <p:sp>
          <p:nvSpPr>
            <p:cNvPr id="78919" name="Text Box 39">
              <a:extLst>
                <a:ext uri="{FF2B5EF4-FFF2-40B4-BE49-F238E27FC236}">
                  <a16:creationId xmlns:a16="http://schemas.microsoft.com/office/drawing/2014/main" id="{65B715D9-B62C-4664-93AF-05D6659818D8}"/>
                </a:ext>
              </a:extLst>
            </p:cNvPr>
            <p:cNvSpPr txBox="1">
              <a:spLocks noChangeArrowheads="1"/>
            </p:cNvSpPr>
            <p:nvPr/>
          </p:nvSpPr>
          <p:spPr bwMode="auto">
            <a:xfrm>
              <a:off x="678" y="968"/>
              <a:ext cx="285" cy="3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CC3300"/>
                  </a:solidFill>
                  <a:latin typeface="Times New Roman" panose="02020603050405020304" pitchFamily="18" charset="0"/>
                </a:rPr>
                <a:t>E</a:t>
              </a:r>
              <a:endParaRPr lang="en-US" altLang="zh-CN" sz="2400" i="0">
                <a:latin typeface="Times New Roman" panose="02020603050405020304" pitchFamily="18" charset="0"/>
              </a:endParaRPr>
            </a:p>
          </p:txBody>
        </p:sp>
        <p:sp>
          <p:nvSpPr>
            <p:cNvPr id="78920" name="Text Box 40">
              <a:extLst>
                <a:ext uri="{FF2B5EF4-FFF2-40B4-BE49-F238E27FC236}">
                  <a16:creationId xmlns:a16="http://schemas.microsoft.com/office/drawing/2014/main" id="{C6F0354F-DB15-431C-B2BC-C88AC0D38A8A}"/>
                </a:ext>
              </a:extLst>
            </p:cNvPr>
            <p:cNvSpPr txBox="1">
              <a:spLocks noChangeArrowheads="1"/>
            </p:cNvSpPr>
            <p:nvPr/>
          </p:nvSpPr>
          <p:spPr bwMode="auto">
            <a:xfrm>
              <a:off x="1434" y="968"/>
              <a:ext cx="311" cy="3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CC3300"/>
                  </a:solidFill>
                  <a:latin typeface="Times New Roman" panose="02020603050405020304" pitchFamily="18" charset="0"/>
                </a:rPr>
                <a:t>K</a:t>
              </a:r>
              <a:endParaRPr lang="en-US" altLang="zh-CN" sz="2400" i="0">
                <a:latin typeface="Times New Roman" panose="02020603050405020304" pitchFamily="18" charset="0"/>
              </a:endParaRPr>
            </a:p>
          </p:txBody>
        </p:sp>
      </p:grpSp>
      <p:grpSp>
        <p:nvGrpSpPr>
          <p:cNvPr id="3" name="组合 2">
            <a:extLst>
              <a:ext uri="{FF2B5EF4-FFF2-40B4-BE49-F238E27FC236}">
                <a16:creationId xmlns:a16="http://schemas.microsoft.com/office/drawing/2014/main" id="{51920D9B-497F-6407-62E3-85E85710B4E4}"/>
              </a:ext>
            </a:extLst>
          </p:cNvPr>
          <p:cNvGrpSpPr/>
          <p:nvPr/>
        </p:nvGrpSpPr>
        <p:grpSpPr>
          <a:xfrm>
            <a:off x="4914575" y="2636912"/>
            <a:ext cx="1616968" cy="2744788"/>
            <a:chOff x="4860032" y="3284984"/>
            <a:chExt cx="1616968" cy="2744788"/>
          </a:xfrm>
        </p:grpSpPr>
        <p:sp>
          <p:nvSpPr>
            <p:cNvPr id="78861" name="Line 43">
              <a:extLst>
                <a:ext uri="{FF2B5EF4-FFF2-40B4-BE49-F238E27FC236}">
                  <a16:creationId xmlns:a16="http://schemas.microsoft.com/office/drawing/2014/main" id="{01F380BB-BE56-43DF-B945-4CB1269FB132}"/>
                </a:ext>
              </a:extLst>
            </p:cNvPr>
            <p:cNvSpPr>
              <a:spLocks noChangeShapeType="1"/>
            </p:cNvSpPr>
            <p:nvPr/>
          </p:nvSpPr>
          <p:spPr bwMode="auto">
            <a:xfrm flipH="1">
              <a:off x="5791200" y="5353497"/>
              <a:ext cx="381000" cy="371475"/>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8862" name="Line 44">
              <a:extLst>
                <a:ext uri="{FF2B5EF4-FFF2-40B4-BE49-F238E27FC236}">
                  <a16:creationId xmlns:a16="http://schemas.microsoft.com/office/drawing/2014/main" id="{5AE6D539-5571-4682-95EB-4EA35358132B}"/>
                </a:ext>
              </a:extLst>
            </p:cNvPr>
            <p:cNvSpPr>
              <a:spLocks noChangeShapeType="1"/>
            </p:cNvSpPr>
            <p:nvPr/>
          </p:nvSpPr>
          <p:spPr bwMode="auto">
            <a:xfrm>
              <a:off x="5181600" y="4315272"/>
              <a:ext cx="990600" cy="890588"/>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8863" name="Line 45">
              <a:extLst>
                <a:ext uri="{FF2B5EF4-FFF2-40B4-BE49-F238E27FC236}">
                  <a16:creationId xmlns:a16="http://schemas.microsoft.com/office/drawing/2014/main" id="{7EB0262D-04BB-45CE-85C9-B9669C7CE3AA}"/>
                </a:ext>
              </a:extLst>
            </p:cNvPr>
            <p:cNvSpPr>
              <a:spLocks noChangeShapeType="1"/>
            </p:cNvSpPr>
            <p:nvPr/>
          </p:nvSpPr>
          <p:spPr bwMode="auto">
            <a:xfrm flipH="1">
              <a:off x="5130800" y="3661222"/>
              <a:ext cx="854075" cy="579437"/>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8864" name="Oval 46">
              <a:extLst>
                <a:ext uri="{FF2B5EF4-FFF2-40B4-BE49-F238E27FC236}">
                  <a16:creationId xmlns:a16="http://schemas.microsoft.com/office/drawing/2014/main" id="{22082D95-4B69-4F0D-B6E2-1BD75EED9E3D}"/>
                </a:ext>
              </a:extLst>
            </p:cNvPr>
            <p:cNvSpPr>
              <a:spLocks noChangeArrowheads="1"/>
            </p:cNvSpPr>
            <p:nvPr/>
          </p:nvSpPr>
          <p:spPr bwMode="auto">
            <a:xfrm>
              <a:off x="4876800" y="4093022"/>
              <a:ext cx="457200" cy="4445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78865" name="Oval 47">
              <a:extLst>
                <a:ext uri="{FF2B5EF4-FFF2-40B4-BE49-F238E27FC236}">
                  <a16:creationId xmlns:a16="http://schemas.microsoft.com/office/drawing/2014/main" id="{602EC897-CB14-4447-A4B7-8BF739962D40}"/>
                </a:ext>
              </a:extLst>
            </p:cNvPr>
            <p:cNvSpPr>
              <a:spLocks noChangeArrowheads="1"/>
            </p:cNvSpPr>
            <p:nvPr/>
          </p:nvSpPr>
          <p:spPr bwMode="auto">
            <a:xfrm>
              <a:off x="6019800" y="5056634"/>
              <a:ext cx="457200" cy="4460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78866" name="Oval 48">
              <a:extLst>
                <a:ext uri="{FF2B5EF4-FFF2-40B4-BE49-F238E27FC236}">
                  <a16:creationId xmlns:a16="http://schemas.microsoft.com/office/drawing/2014/main" id="{049A8DB4-4AB9-41C6-BC92-2799442F5817}"/>
                </a:ext>
              </a:extLst>
            </p:cNvPr>
            <p:cNvSpPr>
              <a:spLocks noChangeArrowheads="1"/>
            </p:cNvSpPr>
            <p:nvPr/>
          </p:nvSpPr>
          <p:spPr bwMode="auto">
            <a:xfrm>
              <a:off x="5486400" y="4537522"/>
              <a:ext cx="457200" cy="4460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78867" name="Oval 49">
              <a:extLst>
                <a:ext uri="{FF2B5EF4-FFF2-40B4-BE49-F238E27FC236}">
                  <a16:creationId xmlns:a16="http://schemas.microsoft.com/office/drawing/2014/main" id="{EB734DBD-02D7-422A-96C4-DCC49A900D8B}"/>
                </a:ext>
              </a:extLst>
            </p:cNvPr>
            <p:cNvSpPr>
              <a:spLocks noChangeArrowheads="1"/>
            </p:cNvSpPr>
            <p:nvPr/>
          </p:nvSpPr>
          <p:spPr bwMode="auto">
            <a:xfrm>
              <a:off x="5486400" y="5575747"/>
              <a:ext cx="457200" cy="4460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grpSp>
          <p:nvGrpSpPr>
            <p:cNvPr id="78868" name="Group 50">
              <a:extLst>
                <a:ext uri="{FF2B5EF4-FFF2-40B4-BE49-F238E27FC236}">
                  <a16:creationId xmlns:a16="http://schemas.microsoft.com/office/drawing/2014/main" id="{F4C8A76B-27DA-45B4-9B74-35569C26D6D5}"/>
                </a:ext>
              </a:extLst>
            </p:cNvPr>
            <p:cNvGrpSpPr>
              <a:grpSpLocks/>
            </p:cNvGrpSpPr>
            <p:nvPr/>
          </p:nvGrpSpPr>
          <p:grpSpPr bwMode="auto">
            <a:xfrm>
              <a:off x="5892801" y="3284984"/>
              <a:ext cx="457200" cy="519113"/>
              <a:chOff x="0" y="0"/>
              <a:chExt cx="288" cy="336"/>
            </a:xfrm>
          </p:grpSpPr>
          <p:sp>
            <p:nvSpPr>
              <p:cNvPr id="78889" name="Oval 51">
                <a:extLst>
                  <a:ext uri="{FF2B5EF4-FFF2-40B4-BE49-F238E27FC236}">
                    <a16:creationId xmlns:a16="http://schemas.microsoft.com/office/drawing/2014/main" id="{DBA2B19D-8BBA-43FE-AA55-AE7DB36E415F}"/>
                  </a:ext>
                </a:extLst>
              </p:cNvPr>
              <p:cNvSpPr>
                <a:spLocks noChangeArrowheads="1"/>
              </p:cNvSpPr>
              <p:nvPr/>
            </p:nvSpPr>
            <p:spPr bwMode="auto">
              <a:xfrm>
                <a:off x="0" y="43"/>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78890" name="Text Box 52">
                <a:extLst>
                  <a:ext uri="{FF2B5EF4-FFF2-40B4-BE49-F238E27FC236}">
                    <a16:creationId xmlns:a16="http://schemas.microsoft.com/office/drawing/2014/main" id="{C6F4102E-B323-4ADC-AB65-76961960B48F}"/>
                  </a:ext>
                </a:extLst>
              </p:cNvPr>
              <p:cNvSpPr txBox="1">
                <a:spLocks noChangeArrowheads="1"/>
              </p:cNvSpPr>
              <p:nvPr/>
            </p:nvSpPr>
            <p:spPr bwMode="auto">
              <a:xfrm>
                <a:off x="10" y="0"/>
                <a:ext cx="278"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rgbClr val="CC3300"/>
                    </a:solidFill>
                    <a:latin typeface="Times New Roman" panose="02020603050405020304" pitchFamily="18" charset="0"/>
                  </a:rPr>
                  <a:t>A</a:t>
                </a:r>
                <a:endParaRPr lang="en-US" altLang="zh-CN" sz="2400" i="0" dirty="0">
                  <a:latin typeface="Times New Roman" panose="02020603050405020304" pitchFamily="18" charset="0"/>
                </a:endParaRPr>
              </a:p>
            </p:txBody>
          </p:sp>
        </p:grpSp>
        <p:sp>
          <p:nvSpPr>
            <p:cNvPr id="78869" name="Text Box 53">
              <a:extLst>
                <a:ext uri="{FF2B5EF4-FFF2-40B4-BE49-F238E27FC236}">
                  <a16:creationId xmlns:a16="http://schemas.microsoft.com/office/drawing/2014/main" id="{B3F64F18-7B54-4F59-BCF2-ACBB8884EE13}"/>
                </a:ext>
              </a:extLst>
            </p:cNvPr>
            <p:cNvSpPr txBox="1">
              <a:spLocks noChangeArrowheads="1"/>
            </p:cNvSpPr>
            <p:nvPr/>
          </p:nvSpPr>
          <p:spPr bwMode="auto">
            <a:xfrm>
              <a:off x="4860032" y="4026347"/>
              <a:ext cx="420688"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CC3300"/>
                  </a:solidFill>
                  <a:latin typeface="Times New Roman" panose="02020603050405020304" pitchFamily="18" charset="0"/>
                </a:rPr>
                <a:t>B</a:t>
              </a:r>
              <a:endParaRPr lang="en-US" altLang="zh-CN" sz="2400" i="0">
                <a:latin typeface="Times New Roman" panose="02020603050405020304" pitchFamily="18" charset="0"/>
              </a:endParaRPr>
            </a:p>
          </p:txBody>
        </p:sp>
        <p:sp>
          <p:nvSpPr>
            <p:cNvPr id="78870" name="Text Box 54">
              <a:extLst>
                <a:ext uri="{FF2B5EF4-FFF2-40B4-BE49-F238E27FC236}">
                  <a16:creationId xmlns:a16="http://schemas.microsoft.com/office/drawing/2014/main" id="{1E85CD8C-B86C-4AB9-B976-9BFC22753723}"/>
                </a:ext>
              </a:extLst>
            </p:cNvPr>
            <p:cNvSpPr txBox="1">
              <a:spLocks noChangeArrowheads="1"/>
            </p:cNvSpPr>
            <p:nvPr/>
          </p:nvSpPr>
          <p:spPr bwMode="auto">
            <a:xfrm>
              <a:off x="5502275" y="4470847"/>
              <a:ext cx="44132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CC3300"/>
                  </a:solidFill>
                  <a:latin typeface="Times New Roman" panose="02020603050405020304" pitchFamily="18" charset="0"/>
                </a:rPr>
                <a:t>C</a:t>
              </a:r>
              <a:endParaRPr lang="en-US" altLang="zh-CN" sz="2400" i="0">
                <a:latin typeface="Times New Roman" panose="02020603050405020304" pitchFamily="18" charset="0"/>
              </a:endParaRPr>
            </a:p>
          </p:txBody>
        </p:sp>
        <p:sp>
          <p:nvSpPr>
            <p:cNvPr id="78871" name="Text Box 55">
              <a:extLst>
                <a:ext uri="{FF2B5EF4-FFF2-40B4-BE49-F238E27FC236}">
                  <a16:creationId xmlns:a16="http://schemas.microsoft.com/office/drawing/2014/main" id="{EBFD1D9F-3D21-408E-90C7-75B3E976D540}"/>
                </a:ext>
              </a:extLst>
            </p:cNvPr>
            <p:cNvSpPr txBox="1">
              <a:spLocks noChangeArrowheads="1"/>
            </p:cNvSpPr>
            <p:nvPr/>
          </p:nvSpPr>
          <p:spPr bwMode="auto">
            <a:xfrm>
              <a:off x="5511800" y="5510659"/>
              <a:ext cx="420688"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CC3300"/>
                  </a:solidFill>
                  <a:latin typeface="Times New Roman" panose="02020603050405020304" pitchFamily="18" charset="0"/>
                </a:rPr>
                <a:t>E</a:t>
              </a:r>
              <a:endParaRPr lang="en-US" altLang="zh-CN" sz="2400" i="0">
                <a:latin typeface="Times New Roman" panose="02020603050405020304" pitchFamily="18" charset="0"/>
              </a:endParaRPr>
            </a:p>
          </p:txBody>
        </p:sp>
        <p:sp>
          <p:nvSpPr>
            <p:cNvPr id="78872" name="Text Box 56">
              <a:extLst>
                <a:ext uri="{FF2B5EF4-FFF2-40B4-BE49-F238E27FC236}">
                  <a16:creationId xmlns:a16="http://schemas.microsoft.com/office/drawing/2014/main" id="{9D7BCBC8-CA63-45D5-8EE7-3C01150F6A39}"/>
                </a:ext>
              </a:extLst>
            </p:cNvPr>
            <p:cNvSpPr txBox="1">
              <a:spLocks noChangeArrowheads="1"/>
            </p:cNvSpPr>
            <p:nvPr/>
          </p:nvSpPr>
          <p:spPr bwMode="auto">
            <a:xfrm>
              <a:off x="6035675" y="4989959"/>
              <a:ext cx="44132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CC3300"/>
                  </a:solidFill>
                  <a:latin typeface="Times New Roman" panose="02020603050405020304" pitchFamily="18" charset="0"/>
                </a:rPr>
                <a:t>D</a:t>
              </a:r>
              <a:endParaRPr lang="en-US" altLang="zh-CN" sz="2400" i="0">
                <a:latin typeface="Times New Roman" panose="02020603050405020304" pitchFamily="18" charset="0"/>
              </a:endParaRPr>
            </a:p>
          </p:txBody>
        </p:sp>
      </p:grpSp>
      <p:grpSp>
        <p:nvGrpSpPr>
          <p:cNvPr id="4" name="组合 3">
            <a:extLst>
              <a:ext uri="{FF2B5EF4-FFF2-40B4-BE49-F238E27FC236}">
                <a16:creationId xmlns:a16="http://schemas.microsoft.com/office/drawing/2014/main" id="{5385E24C-7294-974B-5BCC-6E1624392EC1}"/>
              </a:ext>
            </a:extLst>
          </p:cNvPr>
          <p:cNvGrpSpPr/>
          <p:nvPr/>
        </p:nvGrpSpPr>
        <p:grpSpPr>
          <a:xfrm>
            <a:off x="6376895" y="3035729"/>
            <a:ext cx="1184275" cy="1268413"/>
            <a:chOff x="6400800" y="3661222"/>
            <a:chExt cx="1184275" cy="1268413"/>
          </a:xfrm>
        </p:grpSpPr>
        <p:sp>
          <p:nvSpPr>
            <p:cNvPr id="78860" name="Line 42">
              <a:extLst>
                <a:ext uri="{FF2B5EF4-FFF2-40B4-BE49-F238E27FC236}">
                  <a16:creationId xmlns:a16="http://schemas.microsoft.com/office/drawing/2014/main" id="{2FF4DF41-9555-4760-B759-C5A3052CFF69}"/>
                </a:ext>
              </a:extLst>
            </p:cNvPr>
            <p:cNvSpPr>
              <a:spLocks noChangeShapeType="1"/>
            </p:cNvSpPr>
            <p:nvPr/>
          </p:nvSpPr>
          <p:spPr bwMode="auto">
            <a:xfrm>
              <a:off x="6400800" y="3661222"/>
              <a:ext cx="762000" cy="371475"/>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8882" name="Line 66">
              <a:extLst>
                <a:ext uri="{FF2B5EF4-FFF2-40B4-BE49-F238E27FC236}">
                  <a16:creationId xmlns:a16="http://schemas.microsoft.com/office/drawing/2014/main" id="{995B1836-AAA3-4A34-8F9F-6EF23D2A7865}"/>
                </a:ext>
              </a:extLst>
            </p:cNvPr>
            <p:cNvSpPr>
              <a:spLocks noChangeShapeType="1"/>
            </p:cNvSpPr>
            <p:nvPr/>
          </p:nvSpPr>
          <p:spPr bwMode="auto">
            <a:xfrm flipH="1">
              <a:off x="6823075" y="4181922"/>
              <a:ext cx="457200" cy="44450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8883" name="Oval 67">
              <a:extLst>
                <a:ext uri="{FF2B5EF4-FFF2-40B4-BE49-F238E27FC236}">
                  <a16:creationId xmlns:a16="http://schemas.microsoft.com/office/drawing/2014/main" id="{07837FB5-5EE7-42E8-8E0F-F0E576757C49}"/>
                </a:ext>
              </a:extLst>
            </p:cNvPr>
            <p:cNvSpPr>
              <a:spLocks noChangeArrowheads="1"/>
            </p:cNvSpPr>
            <p:nvPr/>
          </p:nvSpPr>
          <p:spPr bwMode="auto">
            <a:xfrm>
              <a:off x="7127875" y="3885059"/>
              <a:ext cx="457200" cy="4445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78884" name="Oval 68">
              <a:extLst>
                <a:ext uri="{FF2B5EF4-FFF2-40B4-BE49-F238E27FC236}">
                  <a16:creationId xmlns:a16="http://schemas.microsoft.com/office/drawing/2014/main" id="{FCCAFE06-6521-487A-8FC4-0388B73B1F0E}"/>
                </a:ext>
              </a:extLst>
            </p:cNvPr>
            <p:cNvSpPr>
              <a:spLocks noChangeArrowheads="1"/>
            </p:cNvSpPr>
            <p:nvPr/>
          </p:nvSpPr>
          <p:spPr bwMode="auto">
            <a:xfrm>
              <a:off x="6518275" y="4477197"/>
              <a:ext cx="457200" cy="4460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78885" name="Text Box 69">
              <a:extLst>
                <a:ext uri="{FF2B5EF4-FFF2-40B4-BE49-F238E27FC236}">
                  <a16:creationId xmlns:a16="http://schemas.microsoft.com/office/drawing/2014/main" id="{90BDD25D-C37A-4EB7-BBCE-5AC115241004}"/>
                </a:ext>
              </a:extLst>
            </p:cNvPr>
            <p:cNvSpPr txBox="1">
              <a:spLocks noChangeArrowheads="1"/>
            </p:cNvSpPr>
            <p:nvPr/>
          </p:nvSpPr>
          <p:spPr bwMode="auto">
            <a:xfrm>
              <a:off x="7162800" y="3878709"/>
              <a:ext cx="401638"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rgbClr val="CC3300"/>
                  </a:solidFill>
                  <a:latin typeface="Times New Roman" panose="02020603050405020304" pitchFamily="18" charset="0"/>
                </a:rPr>
                <a:t>F</a:t>
              </a:r>
              <a:endParaRPr lang="en-US" altLang="zh-CN" sz="2400" i="0" dirty="0">
                <a:latin typeface="Times New Roman" panose="02020603050405020304" pitchFamily="18" charset="0"/>
              </a:endParaRPr>
            </a:p>
          </p:txBody>
        </p:sp>
        <p:sp>
          <p:nvSpPr>
            <p:cNvPr id="78886" name="Text Box 70">
              <a:extLst>
                <a:ext uri="{FF2B5EF4-FFF2-40B4-BE49-F238E27FC236}">
                  <a16:creationId xmlns:a16="http://schemas.microsoft.com/office/drawing/2014/main" id="{1E49D16B-55DD-4F72-B116-816EAED0D1A0}"/>
                </a:ext>
              </a:extLst>
            </p:cNvPr>
            <p:cNvSpPr txBox="1">
              <a:spLocks noChangeArrowheads="1"/>
            </p:cNvSpPr>
            <p:nvPr/>
          </p:nvSpPr>
          <p:spPr bwMode="auto">
            <a:xfrm>
              <a:off x="6524625" y="4410522"/>
              <a:ext cx="46037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rgbClr val="CC3300"/>
                  </a:solidFill>
                  <a:latin typeface="Times New Roman" panose="02020603050405020304" pitchFamily="18" charset="0"/>
                </a:rPr>
                <a:t>G</a:t>
              </a:r>
              <a:endParaRPr lang="en-US" altLang="zh-CN" sz="2400" i="0" dirty="0">
                <a:latin typeface="Times New Roman" panose="02020603050405020304" pitchFamily="18" charset="0"/>
              </a:endParaRPr>
            </a:p>
          </p:txBody>
        </p:sp>
      </p:grpSp>
      <p:grpSp>
        <p:nvGrpSpPr>
          <p:cNvPr id="5" name="组合 4">
            <a:extLst>
              <a:ext uri="{FF2B5EF4-FFF2-40B4-BE49-F238E27FC236}">
                <a16:creationId xmlns:a16="http://schemas.microsoft.com/office/drawing/2014/main" id="{F73AB141-9FE8-6933-F93C-A46170C72E47}"/>
              </a:ext>
            </a:extLst>
          </p:cNvPr>
          <p:cNvGrpSpPr/>
          <p:nvPr/>
        </p:nvGrpSpPr>
        <p:grpSpPr>
          <a:xfrm>
            <a:off x="6744267" y="3645193"/>
            <a:ext cx="1630362" cy="1835150"/>
            <a:chOff x="6754813" y="4254947"/>
            <a:chExt cx="1630362" cy="1835150"/>
          </a:xfrm>
        </p:grpSpPr>
        <p:sp>
          <p:nvSpPr>
            <p:cNvPr id="78873" name="Line 57">
              <a:extLst>
                <a:ext uri="{FF2B5EF4-FFF2-40B4-BE49-F238E27FC236}">
                  <a16:creationId xmlns:a16="http://schemas.microsoft.com/office/drawing/2014/main" id="{820E5831-286E-44B8-AAFC-1822860230AF}"/>
                </a:ext>
              </a:extLst>
            </p:cNvPr>
            <p:cNvSpPr>
              <a:spLocks noChangeShapeType="1"/>
            </p:cNvSpPr>
            <p:nvPr/>
          </p:nvSpPr>
          <p:spPr bwMode="auto">
            <a:xfrm>
              <a:off x="7696200" y="5442397"/>
              <a:ext cx="381000" cy="296863"/>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8874" name="Line 58">
              <a:extLst>
                <a:ext uri="{FF2B5EF4-FFF2-40B4-BE49-F238E27FC236}">
                  <a16:creationId xmlns:a16="http://schemas.microsoft.com/office/drawing/2014/main" id="{3272FBB6-2E22-49FA-8AF5-2E51EF342F30}"/>
                </a:ext>
              </a:extLst>
            </p:cNvPr>
            <p:cNvSpPr>
              <a:spLocks noChangeShapeType="1"/>
            </p:cNvSpPr>
            <p:nvPr/>
          </p:nvSpPr>
          <p:spPr bwMode="auto">
            <a:xfrm flipH="1">
              <a:off x="7162800" y="4774059"/>
              <a:ext cx="838200" cy="890588"/>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8875" name="Oval 59">
              <a:extLst>
                <a:ext uri="{FF2B5EF4-FFF2-40B4-BE49-F238E27FC236}">
                  <a16:creationId xmlns:a16="http://schemas.microsoft.com/office/drawing/2014/main" id="{1B74AAC3-E454-40A6-9E85-0A8E108A4200}"/>
                </a:ext>
              </a:extLst>
            </p:cNvPr>
            <p:cNvSpPr>
              <a:spLocks noChangeArrowheads="1"/>
            </p:cNvSpPr>
            <p:nvPr/>
          </p:nvSpPr>
          <p:spPr bwMode="auto">
            <a:xfrm>
              <a:off x="7924800" y="4404172"/>
              <a:ext cx="457200" cy="4445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78876" name="Oval 60">
              <a:extLst>
                <a:ext uri="{FF2B5EF4-FFF2-40B4-BE49-F238E27FC236}">
                  <a16:creationId xmlns:a16="http://schemas.microsoft.com/office/drawing/2014/main" id="{A6D8B4D7-29D6-4A87-8B15-8EBA649FED40}"/>
                </a:ext>
              </a:extLst>
            </p:cNvPr>
            <p:cNvSpPr>
              <a:spLocks noChangeArrowheads="1"/>
            </p:cNvSpPr>
            <p:nvPr/>
          </p:nvSpPr>
          <p:spPr bwMode="auto">
            <a:xfrm>
              <a:off x="7315200" y="5070922"/>
              <a:ext cx="457200" cy="4445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78877" name="Oval 61">
              <a:extLst>
                <a:ext uri="{FF2B5EF4-FFF2-40B4-BE49-F238E27FC236}">
                  <a16:creationId xmlns:a16="http://schemas.microsoft.com/office/drawing/2014/main" id="{BE900D5F-1A90-4705-BFD0-B0FC699AC65F}"/>
                </a:ext>
              </a:extLst>
            </p:cNvPr>
            <p:cNvSpPr>
              <a:spLocks noChangeArrowheads="1"/>
            </p:cNvSpPr>
            <p:nvPr/>
          </p:nvSpPr>
          <p:spPr bwMode="auto">
            <a:xfrm>
              <a:off x="6754813" y="5590034"/>
              <a:ext cx="457200" cy="4460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78878" name="Oval 62">
              <a:extLst>
                <a:ext uri="{FF2B5EF4-FFF2-40B4-BE49-F238E27FC236}">
                  <a16:creationId xmlns:a16="http://schemas.microsoft.com/office/drawing/2014/main" id="{95B90180-18EF-4C35-ABFC-0F291546A397}"/>
                </a:ext>
              </a:extLst>
            </p:cNvPr>
            <p:cNvSpPr>
              <a:spLocks noChangeArrowheads="1"/>
            </p:cNvSpPr>
            <p:nvPr/>
          </p:nvSpPr>
          <p:spPr bwMode="auto">
            <a:xfrm>
              <a:off x="7848600" y="5618609"/>
              <a:ext cx="457200" cy="4460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78879" name="Text Box 63">
              <a:extLst>
                <a:ext uri="{FF2B5EF4-FFF2-40B4-BE49-F238E27FC236}">
                  <a16:creationId xmlns:a16="http://schemas.microsoft.com/office/drawing/2014/main" id="{31C86311-56B5-4D3F-8EE6-C997489526C0}"/>
                </a:ext>
              </a:extLst>
            </p:cNvPr>
            <p:cNvSpPr txBox="1">
              <a:spLocks noChangeArrowheads="1"/>
            </p:cNvSpPr>
            <p:nvPr/>
          </p:nvSpPr>
          <p:spPr bwMode="auto">
            <a:xfrm>
              <a:off x="7924800" y="4397822"/>
              <a:ext cx="46037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rgbClr val="CC3300"/>
                  </a:solidFill>
                  <a:latin typeface="Times New Roman" panose="02020603050405020304" pitchFamily="18" charset="0"/>
                </a:rPr>
                <a:t>H</a:t>
              </a:r>
              <a:endParaRPr lang="en-US" altLang="zh-CN" sz="2400" i="0" dirty="0">
                <a:latin typeface="Times New Roman" panose="02020603050405020304" pitchFamily="18" charset="0"/>
              </a:endParaRPr>
            </a:p>
          </p:txBody>
        </p:sp>
        <p:sp>
          <p:nvSpPr>
            <p:cNvPr id="78880" name="Text Box 64">
              <a:extLst>
                <a:ext uri="{FF2B5EF4-FFF2-40B4-BE49-F238E27FC236}">
                  <a16:creationId xmlns:a16="http://schemas.microsoft.com/office/drawing/2014/main" id="{7E640733-65CB-47E5-B1D2-1B36AEFC7167}"/>
                </a:ext>
              </a:extLst>
            </p:cNvPr>
            <p:cNvSpPr txBox="1">
              <a:spLocks noChangeArrowheads="1"/>
            </p:cNvSpPr>
            <p:nvPr/>
          </p:nvSpPr>
          <p:spPr bwMode="auto">
            <a:xfrm>
              <a:off x="7391400" y="5064572"/>
              <a:ext cx="322263"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CC3300"/>
                  </a:solidFill>
                  <a:latin typeface="Times New Roman" panose="02020603050405020304" pitchFamily="18" charset="0"/>
                </a:rPr>
                <a:t>I</a:t>
              </a:r>
              <a:endParaRPr lang="en-US" altLang="zh-CN" sz="2400" i="0">
                <a:latin typeface="Times New Roman" panose="02020603050405020304" pitchFamily="18" charset="0"/>
              </a:endParaRPr>
            </a:p>
          </p:txBody>
        </p:sp>
        <p:sp>
          <p:nvSpPr>
            <p:cNvPr id="78881" name="Text Box 65">
              <a:extLst>
                <a:ext uri="{FF2B5EF4-FFF2-40B4-BE49-F238E27FC236}">
                  <a16:creationId xmlns:a16="http://schemas.microsoft.com/office/drawing/2014/main" id="{42480524-D65F-4D2D-A0B8-C634422AA543}"/>
                </a:ext>
              </a:extLst>
            </p:cNvPr>
            <p:cNvSpPr txBox="1">
              <a:spLocks noChangeArrowheads="1"/>
            </p:cNvSpPr>
            <p:nvPr/>
          </p:nvSpPr>
          <p:spPr bwMode="auto">
            <a:xfrm>
              <a:off x="6781800" y="5547172"/>
              <a:ext cx="46037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CC3300"/>
                  </a:solidFill>
                  <a:latin typeface="Times New Roman" panose="02020603050405020304" pitchFamily="18" charset="0"/>
                </a:rPr>
                <a:t>K</a:t>
              </a:r>
              <a:endParaRPr lang="en-US" altLang="zh-CN" sz="2400" i="0">
                <a:latin typeface="Times New Roman" panose="02020603050405020304" pitchFamily="18" charset="0"/>
              </a:endParaRPr>
            </a:p>
          </p:txBody>
        </p:sp>
        <p:sp>
          <p:nvSpPr>
            <p:cNvPr id="78887" name="Line 71">
              <a:extLst>
                <a:ext uri="{FF2B5EF4-FFF2-40B4-BE49-F238E27FC236}">
                  <a16:creationId xmlns:a16="http://schemas.microsoft.com/office/drawing/2014/main" id="{CC052B21-FFB5-4207-91B0-062E45D4755E}"/>
                </a:ext>
              </a:extLst>
            </p:cNvPr>
            <p:cNvSpPr>
              <a:spLocks noChangeShapeType="1"/>
            </p:cNvSpPr>
            <p:nvPr/>
          </p:nvSpPr>
          <p:spPr bwMode="auto">
            <a:xfrm>
              <a:off x="7543800" y="4254947"/>
              <a:ext cx="457200" cy="22225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8888" name="Text Box 72">
              <a:extLst>
                <a:ext uri="{FF2B5EF4-FFF2-40B4-BE49-F238E27FC236}">
                  <a16:creationId xmlns:a16="http://schemas.microsoft.com/office/drawing/2014/main" id="{24A60788-2405-49FA-A0EC-9155FD23D617}"/>
                </a:ext>
              </a:extLst>
            </p:cNvPr>
            <p:cNvSpPr txBox="1">
              <a:spLocks noChangeArrowheads="1"/>
            </p:cNvSpPr>
            <p:nvPr/>
          </p:nvSpPr>
          <p:spPr bwMode="auto">
            <a:xfrm>
              <a:off x="7924800" y="5570984"/>
              <a:ext cx="3810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CC3300"/>
                  </a:solidFill>
                  <a:latin typeface="Times New Roman" panose="02020603050405020304" pitchFamily="18" charset="0"/>
                </a:rPr>
                <a:t>J</a:t>
              </a:r>
              <a:endParaRPr lang="en-US" altLang="zh-CN" sz="2400" i="0">
                <a:latin typeface="Times New Roman" panose="02020603050405020304" pitchFamily="18" charset="0"/>
              </a:endParaRPr>
            </a:p>
          </p:txBody>
        </p:sp>
      </p:grpSp>
      <p:sp>
        <p:nvSpPr>
          <p:cNvPr id="2" name="Text Box 4">
            <a:extLst>
              <a:ext uri="{FF2B5EF4-FFF2-40B4-BE49-F238E27FC236}">
                <a16:creationId xmlns:a16="http://schemas.microsoft.com/office/drawing/2014/main" id="{56BDE90A-8161-41C5-B2A1-1A28966ADCEF}"/>
              </a:ext>
            </a:extLst>
          </p:cNvPr>
          <p:cNvSpPr txBox="1">
            <a:spLocks noChangeArrowheads="1"/>
          </p:cNvSpPr>
          <p:nvPr/>
        </p:nvSpPr>
        <p:spPr bwMode="auto">
          <a:xfrm>
            <a:off x="342900" y="143125"/>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三、森林与二叉树的对应关系</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885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885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885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885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788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5" grpId="0"/>
      <p:bldP spid="78856" grpId="0"/>
      <p:bldP spid="78857"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7" name="Rectangle 5">
            <a:extLst>
              <a:ext uri="{FF2B5EF4-FFF2-40B4-BE49-F238E27FC236}">
                <a16:creationId xmlns:a16="http://schemas.microsoft.com/office/drawing/2014/main" id="{F9D29616-2A2E-4AF1-90B8-EEC5711E5904}"/>
              </a:ext>
            </a:extLst>
          </p:cNvPr>
          <p:cNvSpPr>
            <a:spLocks noGrp="1" noChangeArrowheads="1"/>
          </p:cNvSpPr>
          <p:nvPr>
            <p:ph type="body" idx="1"/>
          </p:nvPr>
        </p:nvSpPr>
        <p:spPr>
          <a:xfrm>
            <a:off x="539552" y="1227584"/>
            <a:ext cx="8763000" cy="4114800"/>
          </a:xfrm>
        </p:spPr>
        <p:txBody>
          <a:bodyPr/>
          <a:lstStyle/>
          <a:p>
            <a:pPr eaLnBrk="1" hangingPunct="1">
              <a:lnSpc>
                <a:spcPct val="90000"/>
              </a:lnSpc>
              <a:spcBef>
                <a:spcPct val="70000"/>
              </a:spcBef>
            </a:pPr>
            <a:r>
              <a:rPr lang="zh-CN" altLang="en-US" dirty="0">
                <a:latin typeface="+mn-ea"/>
              </a:rPr>
              <a:t>树的遍历主要有两种：</a:t>
            </a:r>
          </a:p>
          <a:p>
            <a:pPr eaLnBrk="1" hangingPunct="1">
              <a:lnSpc>
                <a:spcPct val="90000"/>
              </a:lnSpc>
              <a:spcBef>
                <a:spcPct val="70000"/>
              </a:spcBef>
              <a:buFont typeface="Wingdings" panose="05000000000000000000" pitchFamily="2" charset="2"/>
              <a:buNone/>
            </a:pPr>
            <a:r>
              <a:rPr lang="en-US" altLang="zh-CN" dirty="0">
                <a:latin typeface="+mn-ea"/>
              </a:rPr>
              <a:t>1. </a:t>
            </a:r>
            <a:r>
              <a:rPr lang="zh-CN" altLang="en-US" dirty="0">
                <a:latin typeface="+mn-ea"/>
              </a:rPr>
              <a:t>先根（次序）遍历</a:t>
            </a:r>
          </a:p>
          <a:p>
            <a:pPr eaLnBrk="1" hangingPunct="1">
              <a:lnSpc>
                <a:spcPct val="90000"/>
              </a:lnSpc>
              <a:spcBef>
                <a:spcPct val="70000"/>
              </a:spcBef>
              <a:buFont typeface="Wingdings" panose="05000000000000000000" pitchFamily="2" charset="2"/>
              <a:buNone/>
            </a:pPr>
            <a:r>
              <a:rPr lang="en-US" altLang="zh-CN" dirty="0">
                <a:latin typeface="+mn-ea"/>
              </a:rPr>
              <a:t>2. </a:t>
            </a:r>
            <a:r>
              <a:rPr lang="zh-CN" altLang="en-US" dirty="0">
                <a:latin typeface="+mn-ea"/>
              </a:rPr>
              <a:t>后根（次序）遍历</a:t>
            </a:r>
          </a:p>
        </p:txBody>
      </p:sp>
      <p:grpSp>
        <p:nvGrpSpPr>
          <p:cNvPr id="79879" name="Group 7">
            <a:extLst>
              <a:ext uri="{FF2B5EF4-FFF2-40B4-BE49-F238E27FC236}">
                <a16:creationId xmlns:a16="http://schemas.microsoft.com/office/drawing/2014/main" id="{FACF62B5-41FF-475A-AEFD-16E5D5BD7CCD}"/>
              </a:ext>
            </a:extLst>
          </p:cNvPr>
          <p:cNvGrpSpPr>
            <a:grpSpLocks/>
          </p:cNvGrpSpPr>
          <p:nvPr/>
        </p:nvGrpSpPr>
        <p:grpSpPr bwMode="auto">
          <a:xfrm>
            <a:off x="5580112" y="3284984"/>
            <a:ext cx="2667000" cy="1795463"/>
            <a:chOff x="0" y="0"/>
            <a:chExt cx="1680" cy="1131"/>
          </a:xfrm>
        </p:grpSpPr>
        <p:sp>
          <p:nvSpPr>
            <p:cNvPr id="79880" name="Line 8">
              <a:extLst>
                <a:ext uri="{FF2B5EF4-FFF2-40B4-BE49-F238E27FC236}">
                  <a16:creationId xmlns:a16="http://schemas.microsoft.com/office/drawing/2014/main" id="{37428EE3-762B-4D75-ACE8-B8F058671DF8}"/>
                </a:ext>
              </a:extLst>
            </p:cNvPr>
            <p:cNvSpPr>
              <a:spLocks noChangeShapeType="1"/>
            </p:cNvSpPr>
            <p:nvPr/>
          </p:nvSpPr>
          <p:spPr bwMode="auto">
            <a:xfrm>
              <a:off x="1080" y="171"/>
              <a:ext cx="360"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sz="2800" i="0"/>
            </a:p>
          </p:txBody>
        </p:sp>
        <p:sp>
          <p:nvSpPr>
            <p:cNvPr id="79881" name="Line 9">
              <a:extLst>
                <a:ext uri="{FF2B5EF4-FFF2-40B4-BE49-F238E27FC236}">
                  <a16:creationId xmlns:a16="http://schemas.microsoft.com/office/drawing/2014/main" id="{D7866751-5DCF-4339-925E-2C90B668952D}"/>
                </a:ext>
              </a:extLst>
            </p:cNvPr>
            <p:cNvSpPr>
              <a:spLocks noChangeShapeType="1"/>
            </p:cNvSpPr>
            <p:nvPr/>
          </p:nvSpPr>
          <p:spPr bwMode="auto">
            <a:xfrm flipH="1">
              <a:off x="576" y="171"/>
              <a:ext cx="360" cy="336"/>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sz="2800" i="0"/>
            </a:p>
          </p:txBody>
        </p:sp>
        <p:sp>
          <p:nvSpPr>
            <p:cNvPr id="79882" name="Oval 10">
              <a:extLst>
                <a:ext uri="{FF2B5EF4-FFF2-40B4-BE49-F238E27FC236}">
                  <a16:creationId xmlns:a16="http://schemas.microsoft.com/office/drawing/2014/main" id="{DC191029-AED6-4BB0-B51C-C0121CFB6D39}"/>
                </a:ext>
              </a:extLst>
            </p:cNvPr>
            <p:cNvSpPr>
              <a:spLocks noChangeArrowheads="1"/>
            </p:cNvSpPr>
            <p:nvPr/>
          </p:nvSpPr>
          <p:spPr bwMode="auto">
            <a:xfrm>
              <a:off x="864" y="0"/>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i="0">
                  <a:solidFill>
                    <a:schemeClr val="bg1"/>
                  </a:solidFill>
                </a:rPr>
                <a:t>A</a:t>
              </a:r>
            </a:p>
          </p:txBody>
        </p:sp>
        <p:sp>
          <p:nvSpPr>
            <p:cNvPr id="79883" name="Line 11">
              <a:extLst>
                <a:ext uri="{FF2B5EF4-FFF2-40B4-BE49-F238E27FC236}">
                  <a16:creationId xmlns:a16="http://schemas.microsoft.com/office/drawing/2014/main" id="{F1D5677F-87F6-409D-8392-EFE86780AF45}"/>
                </a:ext>
              </a:extLst>
            </p:cNvPr>
            <p:cNvSpPr>
              <a:spLocks noChangeShapeType="1"/>
            </p:cNvSpPr>
            <p:nvPr/>
          </p:nvSpPr>
          <p:spPr bwMode="auto">
            <a:xfrm flipH="1">
              <a:off x="240" y="561"/>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sz="2800" i="0"/>
            </a:p>
          </p:txBody>
        </p:sp>
        <p:sp>
          <p:nvSpPr>
            <p:cNvPr id="79884" name="Oval 12">
              <a:extLst>
                <a:ext uri="{FF2B5EF4-FFF2-40B4-BE49-F238E27FC236}">
                  <a16:creationId xmlns:a16="http://schemas.microsoft.com/office/drawing/2014/main" id="{CD515253-8FD1-4A98-99F9-0EABACA77D05}"/>
                </a:ext>
              </a:extLst>
            </p:cNvPr>
            <p:cNvSpPr>
              <a:spLocks noChangeArrowheads="1"/>
            </p:cNvSpPr>
            <p:nvPr/>
          </p:nvSpPr>
          <p:spPr bwMode="auto">
            <a:xfrm>
              <a:off x="0" y="822"/>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i="0">
                  <a:solidFill>
                    <a:schemeClr val="bg1"/>
                  </a:solidFill>
                </a:rPr>
                <a:t>E</a:t>
              </a:r>
            </a:p>
          </p:txBody>
        </p:sp>
        <p:sp>
          <p:nvSpPr>
            <p:cNvPr id="79885" name="Line 13">
              <a:extLst>
                <a:ext uri="{FF2B5EF4-FFF2-40B4-BE49-F238E27FC236}">
                  <a16:creationId xmlns:a16="http://schemas.microsoft.com/office/drawing/2014/main" id="{2D16A594-946A-41FC-8952-64046F2E4A6B}"/>
                </a:ext>
              </a:extLst>
            </p:cNvPr>
            <p:cNvSpPr>
              <a:spLocks noChangeShapeType="1"/>
            </p:cNvSpPr>
            <p:nvPr/>
          </p:nvSpPr>
          <p:spPr bwMode="auto">
            <a:xfrm>
              <a:off x="528" y="582"/>
              <a:ext cx="216"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sz="2800" i="0"/>
            </a:p>
          </p:txBody>
        </p:sp>
        <p:sp>
          <p:nvSpPr>
            <p:cNvPr id="79886" name="Oval 14">
              <a:extLst>
                <a:ext uri="{FF2B5EF4-FFF2-40B4-BE49-F238E27FC236}">
                  <a16:creationId xmlns:a16="http://schemas.microsoft.com/office/drawing/2014/main" id="{0BD5D48E-8A79-48F4-8657-5A8B5EF16857}"/>
                </a:ext>
              </a:extLst>
            </p:cNvPr>
            <p:cNvSpPr>
              <a:spLocks noChangeArrowheads="1"/>
            </p:cNvSpPr>
            <p:nvPr/>
          </p:nvSpPr>
          <p:spPr bwMode="auto">
            <a:xfrm>
              <a:off x="336" y="41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i="0">
                  <a:solidFill>
                    <a:schemeClr val="bg1"/>
                  </a:solidFill>
                </a:rPr>
                <a:t>B</a:t>
              </a:r>
            </a:p>
          </p:txBody>
        </p:sp>
        <p:sp>
          <p:nvSpPr>
            <p:cNvPr id="79887" name="Line 15">
              <a:extLst>
                <a:ext uri="{FF2B5EF4-FFF2-40B4-BE49-F238E27FC236}">
                  <a16:creationId xmlns:a16="http://schemas.microsoft.com/office/drawing/2014/main" id="{A16C3A80-6D07-4DED-B0CE-F17723B92D16}"/>
                </a:ext>
              </a:extLst>
            </p:cNvPr>
            <p:cNvSpPr>
              <a:spLocks noChangeShapeType="1"/>
            </p:cNvSpPr>
            <p:nvPr/>
          </p:nvSpPr>
          <p:spPr bwMode="auto">
            <a:xfrm flipH="1">
              <a:off x="1296" y="582"/>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sz="2800" i="0"/>
            </a:p>
          </p:txBody>
        </p:sp>
        <p:sp>
          <p:nvSpPr>
            <p:cNvPr id="79888" name="Oval 16">
              <a:extLst>
                <a:ext uri="{FF2B5EF4-FFF2-40B4-BE49-F238E27FC236}">
                  <a16:creationId xmlns:a16="http://schemas.microsoft.com/office/drawing/2014/main" id="{9EBD16A7-E8BA-401D-98BD-3AB0A5EC2B7B}"/>
                </a:ext>
              </a:extLst>
            </p:cNvPr>
            <p:cNvSpPr>
              <a:spLocks noChangeArrowheads="1"/>
            </p:cNvSpPr>
            <p:nvPr/>
          </p:nvSpPr>
          <p:spPr bwMode="auto">
            <a:xfrm>
              <a:off x="1056" y="84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i="0">
                  <a:solidFill>
                    <a:schemeClr val="bg1"/>
                  </a:solidFill>
                </a:rPr>
                <a:t>G</a:t>
              </a:r>
            </a:p>
          </p:txBody>
        </p:sp>
        <p:sp>
          <p:nvSpPr>
            <p:cNvPr id="79889" name="Oval 17">
              <a:extLst>
                <a:ext uri="{FF2B5EF4-FFF2-40B4-BE49-F238E27FC236}">
                  <a16:creationId xmlns:a16="http://schemas.microsoft.com/office/drawing/2014/main" id="{38C77A1C-3148-40FF-B829-3B9484CDBCA6}"/>
                </a:ext>
              </a:extLst>
            </p:cNvPr>
            <p:cNvSpPr>
              <a:spLocks noChangeArrowheads="1"/>
            </p:cNvSpPr>
            <p:nvPr/>
          </p:nvSpPr>
          <p:spPr bwMode="auto">
            <a:xfrm>
              <a:off x="1392" y="41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i="0">
                  <a:solidFill>
                    <a:schemeClr val="bg1"/>
                  </a:solidFill>
                </a:rPr>
                <a:t>D</a:t>
              </a:r>
            </a:p>
          </p:txBody>
        </p:sp>
        <p:sp>
          <p:nvSpPr>
            <p:cNvPr id="79890" name="Oval 18">
              <a:extLst>
                <a:ext uri="{FF2B5EF4-FFF2-40B4-BE49-F238E27FC236}">
                  <a16:creationId xmlns:a16="http://schemas.microsoft.com/office/drawing/2014/main" id="{27EF0F76-28C4-4C4F-A329-A2F2DD6BEEBD}"/>
                </a:ext>
              </a:extLst>
            </p:cNvPr>
            <p:cNvSpPr>
              <a:spLocks noChangeArrowheads="1"/>
            </p:cNvSpPr>
            <p:nvPr/>
          </p:nvSpPr>
          <p:spPr bwMode="auto">
            <a:xfrm>
              <a:off x="648" y="84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i="0">
                  <a:solidFill>
                    <a:schemeClr val="bg1"/>
                  </a:solidFill>
                </a:rPr>
                <a:t>F</a:t>
              </a:r>
            </a:p>
          </p:txBody>
        </p:sp>
        <p:sp>
          <p:nvSpPr>
            <p:cNvPr id="79891" name="Line 19">
              <a:extLst>
                <a:ext uri="{FF2B5EF4-FFF2-40B4-BE49-F238E27FC236}">
                  <a16:creationId xmlns:a16="http://schemas.microsoft.com/office/drawing/2014/main" id="{08E22C58-F33D-439E-A4E9-28CC62BC4A13}"/>
                </a:ext>
              </a:extLst>
            </p:cNvPr>
            <p:cNvSpPr>
              <a:spLocks noChangeShapeType="1"/>
            </p:cNvSpPr>
            <p:nvPr/>
          </p:nvSpPr>
          <p:spPr bwMode="auto">
            <a:xfrm flipH="1">
              <a:off x="1008" y="276"/>
              <a:ext cx="0" cy="14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sz="2800" i="0"/>
            </a:p>
          </p:txBody>
        </p:sp>
        <p:sp>
          <p:nvSpPr>
            <p:cNvPr id="79892" name="Oval 20">
              <a:extLst>
                <a:ext uri="{FF2B5EF4-FFF2-40B4-BE49-F238E27FC236}">
                  <a16:creationId xmlns:a16="http://schemas.microsoft.com/office/drawing/2014/main" id="{D1BE061C-9968-4F5B-85E6-FCD821BA2F4C}"/>
                </a:ext>
              </a:extLst>
            </p:cNvPr>
            <p:cNvSpPr>
              <a:spLocks noChangeArrowheads="1"/>
            </p:cNvSpPr>
            <p:nvPr/>
          </p:nvSpPr>
          <p:spPr bwMode="auto">
            <a:xfrm>
              <a:off x="864" y="41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i="0">
                  <a:solidFill>
                    <a:schemeClr val="bg1"/>
                  </a:solidFill>
                </a:rPr>
                <a:t>C</a:t>
              </a:r>
            </a:p>
          </p:txBody>
        </p:sp>
      </p:grpSp>
      <p:sp>
        <p:nvSpPr>
          <p:cNvPr id="2" name="Text Box 4">
            <a:extLst>
              <a:ext uri="{FF2B5EF4-FFF2-40B4-BE49-F238E27FC236}">
                <a16:creationId xmlns:a16="http://schemas.microsoft.com/office/drawing/2014/main" id="{9DC44768-34C5-4D92-8B26-D4E2A356A22B}"/>
              </a:ext>
            </a:extLst>
          </p:cNvPr>
          <p:cNvSpPr txBox="1">
            <a:spLocks noChangeArrowheads="1"/>
          </p:cNvSpPr>
          <p:nvPr/>
        </p:nvSpPr>
        <p:spPr bwMode="auto">
          <a:xfrm>
            <a:off x="467544" y="166588"/>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四、树的遍历</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987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987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9" name="Text Box 3">
            <a:extLst>
              <a:ext uri="{FF2B5EF4-FFF2-40B4-BE49-F238E27FC236}">
                <a16:creationId xmlns:a16="http://schemas.microsoft.com/office/drawing/2014/main" id="{1677EBAB-33AA-437D-8D58-6E0C3A8D38E5}"/>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323C8619-78B0-44CB-989E-9BB4BA5E6FE0}" type="slidenum">
              <a:rPr lang="zh-CN" altLang="en-US" sz="2400"/>
              <a:pPr algn="r" eaLnBrk="1" hangingPunct="1">
                <a:spcBef>
                  <a:spcPct val="50000"/>
                </a:spcBef>
                <a:buClrTx/>
                <a:buSzTx/>
                <a:buFont typeface="Arial" panose="020B0604020202020204" pitchFamily="34" charset="0"/>
                <a:buNone/>
              </a:pPr>
              <a:t>76</a:t>
            </a:fld>
            <a:endParaRPr lang="en-US" altLang="zh-CN" sz="2400"/>
          </a:p>
        </p:txBody>
      </p:sp>
      <p:sp>
        <p:nvSpPr>
          <p:cNvPr id="80901" name="Rectangle 5">
            <a:extLst>
              <a:ext uri="{FF2B5EF4-FFF2-40B4-BE49-F238E27FC236}">
                <a16:creationId xmlns:a16="http://schemas.microsoft.com/office/drawing/2014/main" id="{4E19D70C-B089-40A6-BDCE-21D783238379}"/>
              </a:ext>
            </a:extLst>
          </p:cNvPr>
          <p:cNvSpPr>
            <a:spLocks noGrp="1" noChangeArrowheads="1"/>
          </p:cNvSpPr>
          <p:nvPr>
            <p:ph type="body" idx="1"/>
          </p:nvPr>
        </p:nvSpPr>
        <p:spPr>
          <a:xfrm>
            <a:off x="527981" y="1308764"/>
            <a:ext cx="5638800" cy="2397213"/>
          </a:xfrm>
        </p:spPr>
        <p:txBody>
          <a:bodyPr/>
          <a:lstStyle/>
          <a:p>
            <a:pPr eaLnBrk="1" hangingPunct="1">
              <a:lnSpc>
                <a:spcPct val="90000"/>
              </a:lnSpc>
              <a:spcBef>
                <a:spcPct val="50000"/>
              </a:spcBef>
              <a:buFont typeface="Wingdings" panose="05000000000000000000" pitchFamily="2" charset="2"/>
              <a:buNone/>
            </a:pPr>
            <a:r>
              <a:rPr lang="zh-CN" altLang="en-US" dirty="0">
                <a:latin typeface="黑体" panose="02010609060101010101" pitchFamily="49" charset="-122"/>
                <a:ea typeface="黑体" panose="02010609060101010101" pitchFamily="49" charset="-122"/>
              </a:rPr>
              <a:t>若树非空，则</a:t>
            </a:r>
          </a:p>
          <a:p>
            <a:pPr eaLnBrk="1" hangingPunct="1">
              <a:lnSpc>
                <a:spcPct val="90000"/>
              </a:lnSpc>
              <a:spcBef>
                <a:spcPct val="50000"/>
              </a:spcBef>
            </a:pPr>
            <a:r>
              <a:rPr lang="zh-CN" altLang="en-US" dirty="0">
                <a:latin typeface="黑体" panose="02010609060101010101" pitchFamily="49" charset="-122"/>
                <a:ea typeface="黑体" panose="02010609060101010101" pitchFamily="49" charset="-122"/>
              </a:rPr>
              <a:t> 访问根结点</a:t>
            </a:r>
          </a:p>
          <a:p>
            <a:pPr eaLnBrk="1" hangingPunct="1">
              <a:lnSpc>
                <a:spcPct val="90000"/>
              </a:lnSpc>
              <a:spcBef>
                <a:spcPct val="50000"/>
              </a:spcBef>
            </a:pPr>
            <a:r>
              <a:rPr lang="zh-CN" altLang="en-US" dirty="0">
                <a:latin typeface="黑体" panose="02010609060101010101" pitchFamily="49" charset="-122"/>
                <a:ea typeface="黑体" panose="02010609060101010101" pitchFamily="49" charset="-122"/>
              </a:rPr>
              <a:t> 依次先根遍历根的各棵子树</a:t>
            </a:r>
          </a:p>
          <a:p>
            <a:pPr eaLnBrk="1" hangingPunct="1">
              <a:lnSpc>
                <a:spcPct val="90000"/>
              </a:lnSpc>
              <a:spcBef>
                <a:spcPct val="50000"/>
              </a:spcBef>
            </a:pPr>
            <a:endParaRPr lang="zh-CN" altLang="en-US" b="1" dirty="0">
              <a:latin typeface="黑体" panose="02010609060101010101" pitchFamily="49" charset="-122"/>
              <a:ea typeface="黑体" panose="02010609060101010101" pitchFamily="49" charset="-122"/>
            </a:endParaRPr>
          </a:p>
          <a:p>
            <a:pPr eaLnBrk="1" hangingPunct="1">
              <a:lnSpc>
                <a:spcPct val="90000"/>
              </a:lnSpc>
              <a:spcBef>
                <a:spcPct val="50000"/>
              </a:spcBef>
              <a:buFont typeface="Wingdings" panose="05000000000000000000" pitchFamily="2" charset="2"/>
              <a:buNone/>
            </a:pPr>
            <a:r>
              <a:rPr lang="zh-CN" altLang="en-US" b="1" dirty="0">
                <a:solidFill>
                  <a:schemeClr val="hlink"/>
                </a:solidFill>
                <a:latin typeface="黑体" panose="02010609060101010101" pitchFamily="49" charset="-122"/>
                <a:ea typeface="黑体" panose="02010609060101010101" pitchFamily="49" charset="-122"/>
              </a:rPr>
              <a:t>　 </a:t>
            </a:r>
          </a:p>
        </p:txBody>
      </p:sp>
      <p:grpSp>
        <p:nvGrpSpPr>
          <p:cNvPr id="80903" name="Group 7">
            <a:extLst>
              <a:ext uri="{FF2B5EF4-FFF2-40B4-BE49-F238E27FC236}">
                <a16:creationId xmlns:a16="http://schemas.microsoft.com/office/drawing/2014/main" id="{58CA868E-4AA9-4388-95BB-77C0030705A8}"/>
              </a:ext>
            </a:extLst>
          </p:cNvPr>
          <p:cNvGrpSpPr>
            <a:grpSpLocks/>
          </p:cNvGrpSpPr>
          <p:nvPr/>
        </p:nvGrpSpPr>
        <p:grpSpPr bwMode="auto">
          <a:xfrm>
            <a:off x="6134100" y="3022428"/>
            <a:ext cx="2667000" cy="1795463"/>
            <a:chOff x="0" y="0"/>
            <a:chExt cx="1680" cy="1131"/>
          </a:xfrm>
        </p:grpSpPr>
        <p:sp>
          <p:nvSpPr>
            <p:cNvPr id="80904" name="Line 8">
              <a:extLst>
                <a:ext uri="{FF2B5EF4-FFF2-40B4-BE49-F238E27FC236}">
                  <a16:creationId xmlns:a16="http://schemas.microsoft.com/office/drawing/2014/main" id="{515F7FE7-8D59-4E91-A9C2-A347E47AEE13}"/>
                </a:ext>
              </a:extLst>
            </p:cNvPr>
            <p:cNvSpPr>
              <a:spLocks noChangeShapeType="1"/>
            </p:cNvSpPr>
            <p:nvPr/>
          </p:nvSpPr>
          <p:spPr bwMode="auto">
            <a:xfrm>
              <a:off x="1080" y="171"/>
              <a:ext cx="360"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80905" name="Line 9">
              <a:extLst>
                <a:ext uri="{FF2B5EF4-FFF2-40B4-BE49-F238E27FC236}">
                  <a16:creationId xmlns:a16="http://schemas.microsoft.com/office/drawing/2014/main" id="{5FFD6B90-F5C3-4C0A-9645-89ECF301049A}"/>
                </a:ext>
              </a:extLst>
            </p:cNvPr>
            <p:cNvSpPr>
              <a:spLocks noChangeShapeType="1"/>
            </p:cNvSpPr>
            <p:nvPr/>
          </p:nvSpPr>
          <p:spPr bwMode="auto">
            <a:xfrm flipH="1">
              <a:off x="576" y="171"/>
              <a:ext cx="360" cy="336"/>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80906" name="Oval 10">
              <a:extLst>
                <a:ext uri="{FF2B5EF4-FFF2-40B4-BE49-F238E27FC236}">
                  <a16:creationId xmlns:a16="http://schemas.microsoft.com/office/drawing/2014/main" id="{97B00C8F-CD6F-4EAE-A7D4-058E2DEC3AE6}"/>
                </a:ext>
              </a:extLst>
            </p:cNvPr>
            <p:cNvSpPr>
              <a:spLocks noChangeArrowheads="1"/>
            </p:cNvSpPr>
            <p:nvPr/>
          </p:nvSpPr>
          <p:spPr bwMode="auto">
            <a:xfrm>
              <a:off x="864" y="0"/>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A</a:t>
              </a:r>
            </a:p>
          </p:txBody>
        </p:sp>
        <p:sp>
          <p:nvSpPr>
            <p:cNvPr id="80907" name="Line 11">
              <a:extLst>
                <a:ext uri="{FF2B5EF4-FFF2-40B4-BE49-F238E27FC236}">
                  <a16:creationId xmlns:a16="http://schemas.microsoft.com/office/drawing/2014/main" id="{4BDAF911-0210-4F81-8C40-B790C8DCD205}"/>
                </a:ext>
              </a:extLst>
            </p:cNvPr>
            <p:cNvSpPr>
              <a:spLocks noChangeShapeType="1"/>
            </p:cNvSpPr>
            <p:nvPr/>
          </p:nvSpPr>
          <p:spPr bwMode="auto">
            <a:xfrm flipH="1">
              <a:off x="240" y="561"/>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80908" name="Oval 12">
              <a:extLst>
                <a:ext uri="{FF2B5EF4-FFF2-40B4-BE49-F238E27FC236}">
                  <a16:creationId xmlns:a16="http://schemas.microsoft.com/office/drawing/2014/main" id="{493CEA8A-D5D4-472A-B049-4D0DFB3C2A26}"/>
                </a:ext>
              </a:extLst>
            </p:cNvPr>
            <p:cNvSpPr>
              <a:spLocks noChangeArrowheads="1"/>
            </p:cNvSpPr>
            <p:nvPr/>
          </p:nvSpPr>
          <p:spPr bwMode="auto">
            <a:xfrm>
              <a:off x="0" y="822"/>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E</a:t>
              </a:r>
            </a:p>
          </p:txBody>
        </p:sp>
        <p:sp>
          <p:nvSpPr>
            <p:cNvPr id="80909" name="Line 13">
              <a:extLst>
                <a:ext uri="{FF2B5EF4-FFF2-40B4-BE49-F238E27FC236}">
                  <a16:creationId xmlns:a16="http://schemas.microsoft.com/office/drawing/2014/main" id="{1276B757-AB1C-462D-8BB5-90068B607691}"/>
                </a:ext>
              </a:extLst>
            </p:cNvPr>
            <p:cNvSpPr>
              <a:spLocks noChangeShapeType="1"/>
            </p:cNvSpPr>
            <p:nvPr/>
          </p:nvSpPr>
          <p:spPr bwMode="auto">
            <a:xfrm>
              <a:off x="528" y="582"/>
              <a:ext cx="216"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80910" name="Oval 14">
              <a:extLst>
                <a:ext uri="{FF2B5EF4-FFF2-40B4-BE49-F238E27FC236}">
                  <a16:creationId xmlns:a16="http://schemas.microsoft.com/office/drawing/2014/main" id="{983A1307-AA0E-4BBB-A293-41002EEEFD0B}"/>
                </a:ext>
              </a:extLst>
            </p:cNvPr>
            <p:cNvSpPr>
              <a:spLocks noChangeArrowheads="1"/>
            </p:cNvSpPr>
            <p:nvPr/>
          </p:nvSpPr>
          <p:spPr bwMode="auto">
            <a:xfrm>
              <a:off x="336" y="41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B</a:t>
              </a:r>
            </a:p>
          </p:txBody>
        </p:sp>
        <p:sp>
          <p:nvSpPr>
            <p:cNvPr id="80911" name="Line 15">
              <a:extLst>
                <a:ext uri="{FF2B5EF4-FFF2-40B4-BE49-F238E27FC236}">
                  <a16:creationId xmlns:a16="http://schemas.microsoft.com/office/drawing/2014/main" id="{FFF9CD0D-F729-4AAE-B4F6-81C84FB5825D}"/>
                </a:ext>
              </a:extLst>
            </p:cNvPr>
            <p:cNvSpPr>
              <a:spLocks noChangeShapeType="1"/>
            </p:cNvSpPr>
            <p:nvPr/>
          </p:nvSpPr>
          <p:spPr bwMode="auto">
            <a:xfrm flipH="1">
              <a:off x="1296" y="582"/>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80912" name="Oval 16">
              <a:extLst>
                <a:ext uri="{FF2B5EF4-FFF2-40B4-BE49-F238E27FC236}">
                  <a16:creationId xmlns:a16="http://schemas.microsoft.com/office/drawing/2014/main" id="{88066311-B918-4A5C-A317-3EF7974608C0}"/>
                </a:ext>
              </a:extLst>
            </p:cNvPr>
            <p:cNvSpPr>
              <a:spLocks noChangeArrowheads="1"/>
            </p:cNvSpPr>
            <p:nvPr/>
          </p:nvSpPr>
          <p:spPr bwMode="auto">
            <a:xfrm>
              <a:off x="1056" y="84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G</a:t>
              </a:r>
            </a:p>
          </p:txBody>
        </p:sp>
        <p:sp>
          <p:nvSpPr>
            <p:cNvPr id="80913" name="Oval 17">
              <a:extLst>
                <a:ext uri="{FF2B5EF4-FFF2-40B4-BE49-F238E27FC236}">
                  <a16:creationId xmlns:a16="http://schemas.microsoft.com/office/drawing/2014/main" id="{7DAEA10B-73D3-4E8D-A287-18B465EABD0B}"/>
                </a:ext>
              </a:extLst>
            </p:cNvPr>
            <p:cNvSpPr>
              <a:spLocks noChangeArrowheads="1"/>
            </p:cNvSpPr>
            <p:nvPr/>
          </p:nvSpPr>
          <p:spPr bwMode="auto">
            <a:xfrm>
              <a:off x="1392" y="41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D</a:t>
              </a:r>
            </a:p>
          </p:txBody>
        </p:sp>
        <p:sp>
          <p:nvSpPr>
            <p:cNvPr id="80914" name="Oval 18">
              <a:extLst>
                <a:ext uri="{FF2B5EF4-FFF2-40B4-BE49-F238E27FC236}">
                  <a16:creationId xmlns:a16="http://schemas.microsoft.com/office/drawing/2014/main" id="{756A109F-BAF9-402D-A29E-C23446CA5F23}"/>
                </a:ext>
              </a:extLst>
            </p:cNvPr>
            <p:cNvSpPr>
              <a:spLocks noChangeArrowheads="1"/>
            </p:cNvSpPr>
            <p:nvPr/>
          </p:nvSpPr>
          <p:spPr bwMode="auto">
            <a:xfrm>
              <a:off x="648" y="84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F</a:t>
              </a:r>
            </a:p>
          </p:txBody>
        </p:sp>
        <p:sp>
          <p:nvSpPr>
            <p:cNvPr id="80915" name="Line 19">
              <a:extLst>
                <a:ext uri="{FF2B5EF4-FFF2-40B4-BE49-F238E27FC236}">
                  <a16:creationId xmlns:a16="http://schemas.microsoft.com/office/drawing/2014/main" id="{4634461A-4203-4FD8-816F-E8F161653A9C}"/>
                </a:ext>
              </a:extLst>
            </p:cNvPr>
            <p:cNvSpPr>
              <a:spLocks noChangeShapeType="1"/>
            </p:cNvSpPr>
            <p:nvPr/>
          </p:nvSpPr>
          <p:spPr bwMode="auto">
            <a:xfrm flipH="1">
              <a:off x="1008" y="276"/>
              <a:ext cx="0" cy="14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80916" name="Oval 20">
              <a:extLst>
                <a:ext uri="{FF2B5EF4-FFF2-40B4-BE49-F238E27FC236}">
                  <a16:creationId xmlns:a16="http://schemas.microsoft.com/office/drawing/2014/main" id="{658A5365-C559-4360-88A1-5A97770F6B58}"/>
                </a:ext>
              </a:extLst>
            </p:cNvPr>
            <p:cNvSpPr>
              <a:spLocks noChangeArrowheads="1"/>
            </p:cNvSpPr>
            <p:nvPr/>
          </p:nvSpPr>
          <p:spPr bwMode="auto">
            <a:xfrm>
              <a:off x="864" y="41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C</a:t>
              </a:r>
            </a:p>
          </p:txBody>
        </p:sp>
      </p:grpSp>
      <p:sp>
        <p:nvSpPr>
          <p:cNvPr id="2" name="Text Box 4">
            <a:extLst>
              <a:ext uri="{FF2B5EF4-FFF2-40B4-BE49-F238E27FC236}">
                <a16:creationId xmlns:a16="http://schemas.microsoft.com/office/drawing/2014/main" id="{446EA69E-78A2-4D8A-AD0F-C345CD9EF366}"/>
              </a:ext>
            </a:extLst>
          </p:cNvPr>
          <p:cNvSpPr txBox="1">
            <a:spLocks noChangeArrowheads="1"/>
          </p:cNvSpPr>
          <p:nvPr/>
        </p:nvSpPr>
        <p:spPr bwMode="auto">
          <a:xfrm>
            <a:off x="217691" y="129305"/>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树的先根遍历</a:t>
            </a:r>
          </a:p>
        </p:txBody>
      </p:sp>
      <p:sp>
        <p:nvSpPr>
          <p:cNvPr id="3" name="文本框 2">
            <a:extLst>
              <a:ext uri="{FF2B5EF4-FFF2-40B4-BE49-F238E27FC236}">
                <a16:creationId xmlns:a16="http://schemas.microsoft.com/office/drawing/2014/main" id="{B55E3DDC-F59A-441B-AF57-FB35AF060FC3}"/>
              </a:ext>
            </a:extLst>
          </p:cNvPr>
          <p:cNvSpPr txBox="1"/>
          <p:nvPr/>
        </p:nvSpPr>
        <p:spPr>
          <a:xfrm>
            <a:off x="2794653" y="4395398"/>
            <a:ext cx="432048" cy="430887"/>
          </a:xfrm>
          <a:prstGeom prst="rect">
            <a:avLst/>
          </a:prstGeom>
          <a:noFill/>
        </p:spPr>
        <p:txBody>
          <a:bodyPr wrap="square" lIns="0" tIns="0" rIns="0" bIns="0" rtlCol="0">
            <a:spAutoFit/>
          </a:bodyPr>
          <a:lstStyle/>
          <a:p>
            <a:r>
              <a:rPr lang="en-US" altLang="zh-CN" sz="2800" i="0" dirty="0">
                <a:solidFill>
                  <a:srgbClr val="FF0000"/>
                </a:solidFill>
              </a:rPr>
              <a:t>A</a:t>
            </a:r>
            <a:endParaRPr lang="zh-CN" altLang="en-US" sz="2800" i="0" dirty="0">
              <a:solidFill>
                <a:srgbClr val="FF0000"/>
              </a:solidFill>
            </a:endParaRPr>
          </a:p>
        </p:txBody>
      </p:sp>
      <p:sp>
        <p:nvSpPr>
          <p:cNvPr id="21" name="文本框 20">
            <a:extLst>
              <a:ext uri="{FF2B5EF4-FFF2-40B4-BE49-F238E27FC236}">
                <a16:creationId xmlns:a16="http://schemas.microsoft.com/office/drawing/2014/main" id="{B2FD6341-D815-45A9-BF3A-C51B5AD8D799}"/>
              </a:ext>
            </a:extLst>
          </p:cNvPr>
          <p:cNvSpPr txBox="1"/>
          <p:nvPr/>
        </p:nvSpPr>
        <p:spPr>
          <a:xfrm>
            <a:off x="3154693" y="4415723"/>
            <a:ext cx="432048" cy="430887"/>
          </a:xfrm>
          <a:prstGeom prst="rect">
            <a:avLst/>
          </a:prstGeom>
          <a:noFill/>
        </p:spPr>
        <p:txBody>
          <a:bodyPr wrap="square" lIns="0" tIns="0" rIns="0" bIns="0" rtlCol="0">
            <a:spAutoFit/>
          </a:bodyPr>
          <a:lstStyle/>
          <a:p>
            <a:r>
              <a:rPr lang="en-US" altLang="zh-CN" sz="2800" i="0" dirty="0">
                <a:solidFill>
                  <a:srgbClr val="FF0000"/>
                </a:solidFill>
              </a:rPr>
              <a:t>B</a:t>
            </a:r>
            <a:endParaRPr lang="zh-CN" altLang="en-US" sz="2800" i="0" dirty="0">
              <a:solidFill>
                <a:srgbClr val="FF0000"/>
              </a:solidFill>
            </a:endParaRPr>
          </a:p>
        </p:txBody>
      </p:sp>
      <p:sp>
        <p:nvSpPr>
          <p:cNvPr id="22" name="文本框 21">
            <a:extLst>
              <a:ext uri="{FF2B5EF4-FFF2-40B4-BE49-F238E27FC236}">
                <a16:creationId xmlns:a16="http://schemas.microsoft.com/office/drawing/2014/main" id="{43900EF7-8748-49DD-96B8-B2F5A5E06DF4}"/>
              </a:ext>
            </a:extLst>
          </p:cNvPr>
          <p:cNvSpPr txBox="1"/>
          <p:nvPr/>
        </p:nvSpPr>
        <p:spPr>
          <a:xfrm>
            <a:off x="3514733" y="4414562"/>
            <a:ext cx="432048" cy="430887"/>
          </a:xfrm>
          <a:prstGeom prst="rect">
            <a:avLst/>
          </a:prstGeom>
          <a:noFill/>
        </p:spPr>
        <p:txBody>
          <a:bodyPr wrap="square" lIns="0" tIns="0" rIns="0" bIns="0" rtlCol="0">
            <a:spAutoFit/>
          </a:bodyPr>
          <a:lstStyle/>
          <a:p>
            <a:r>
              <a:rPr lang="en-US" altLang="zh-CN" sz="2800" i="0" dirty="0">
                <a:solidFill>
                  <a:srgbClr val="FF0000"/>
                </a:solidFill>
              </a:rPr>
              <a:t>E</a:t>
            </a:r>
            <a:endParaRPr lang="zh-CN" altLang="en-US" sz="2800" i="0" dirty="0">
              <a:solidFill>
                <a:srgbClr val="FF0000"/>
              </a:solidFill>
            </a:endParaRPr>
          </a:p>
        </p:txBody>
      </p:sp>
      <p:sp>
        <p:nvSpPr>
          <p:cNvPr id="23" name="文本框 22">
            <a:extLst>
              <a:ext uri="{FF2B5EF4-FFF2-40B4-BE49-F238E27FC236}">
                <a16:creationId xmlns:a16="http://schemas.microsoft.com/office/drawing/2014/main" id="{D67FF1C5-7870-4504-9F90-84FD28F0E371}"/>
              </a:ext>
            </a:extLst>
          </p:cNvPr>
          <p:cNvSpPr txBox="1"/>
          <p:nvPr/>
        </p:nvSpPr>
        <p:spPr>
          <a:xfrm>
            <a:off x="3946781" y="4414562"/>
            <a:ext cx="432048" cy="430887"/>
          </a:xfrm>
          <a:prstGeom prst="rect">
            <a:avLst/>
          </a:prstGeom>
          <a:noFill/>
        </p:spPr>
        <p:txBody>
          <a:bodyPr wrap="square" lIns="0" tIns="0" rIns="0" bIns="0" rtlCol="0">
            <a:spAutoFit/>
          </a:bodyPr>
          <a:lstStyle/>
          <a:p>
            <a:r>
              <a:rPr lang="en-US" altLang="zh-CN" sz="2800" i="0" dirty="0">
                <a:solidFill>
                  <a:srgbClr val="FF0000"/>
                </a:solidFill>
              </a:rPr>
              <a:t>F</a:t>
            </a:r>
            <a:endParaRPr lang="zh-CN" altLang="en-US" sz="2800" i="0" dirty="0">
              <a:solidFill>
                <a:srgbClr val="FF0000"/>
              </a:solidFill>
            </a:endParaRPr>
          </a:p>
        </p:txBody>
      </p:sp>
      <p:sp>
        <p:nvSpPr>
          <p:cNvPr id="24" name="文本框 23">
            <a:extLst>
              <a:ext uri="{FF2B5EF4-FFF2-40B4-BE49-F238E27FC236}">
                <a16:creationId xmlns:a16="http://schemas.microsoft.com/office/drawing/2014/main" id="{529BB75F-1475-41F8-BD50-7F6F641EC7D3}"/>
              </a:ext>
            </a:extLst>
          </p:cNvPr>
          <p:cNvSpPr txBox="1"/>
          <p:nvPr/>
        </p:nvSpPr>
        <p:spPr>
          <a:xfrm>
            <a:off x="4306821" y="4414562"/>
            <a:ext cx="432048" cy="430887"/>
          </a:xfrm>
          <a:prstGeom prst="rect">
            <a:avLst/>
          </a:prstGeom>
          <a:noFill/>
        </p:spPr>
        <p:txBody>
          <a:bodyPr wrap="square" lIns="0" tIns="0" rIns="0" bIns="0" rtlCol="0">
            <a:spAutoFit/>
          </a:bodyPr>
          <a:lstStyle/>
          <a:p>
            <a:r>
              <a:rPr lang="en-US" altLang="zh-CN" sz="2800" i="0" dirty="0">
                <a:solidFill>
                  <a:srgbClr val="FF0000"/>
                </a:solidFill>
              </a:rPr>
              <a:t>C</a:t>
            </a:r>
            <a:endParaRPr lang="zh-CN" altLang="en-US" sz="2800" i="0" dirty="0">
              <a:solidFill>
                <a:srgbClr val="FF0000"/>
              </a:solidFill>
            </a:endParaRPr>
          </a:p>
        </p:txBody>
      </p:sp>
      <p:sp>
        <p:nvSpPr>
          <p:cNvPr id="25" name="文本框 24">
            <a:extLst>
              <a:ext uri="{FF2B5EF4-FFF2-40B4-BE49-F238E27FC236}">
                <a16:creationId xmlns:a16="http://schemas.microsoft.com/office/drawing/2014/main" id="{8AB9975B-5C79-4FA9-A52F-E6932785ECB1}"/>
              </a:ext>
            </a:extLst>
          </p:cNvPr>
          <p:cNvSpPr txBox="1"/>
          <p:nvPr/>
        </p:nvSpPr>
        <p:spPr>
          <a:xfrm>
            <a:off x="4738869" y="4414562"/>
            <a:ext cx="432048" cy="430887"/>
          </a:xfrm>
          <a:prstGeom prst="rect">
            <a:avLst/>
          </a:prstGeom>
          <a:noFill/>
        </p:spPr>
        <p:txBody>
          <a:bodyPr wrap="square" lIns="0" tIns="0" rIns="0" bIns="0" rtlCol="0">
            <a:spAutoFit/>
          </a:bodyPr>
          <a:lstStyle/>
          <a:p>
            <a:r>
              <a:rPr lang="en-US" altLang="zh-CN" sz="2800" i="0" dirty="0">
                <a:solidFill>
                  <a:srgbClr val="FF0000"/>
                </a:solidFill>
              </a:rPr>
              <a:t>D</a:t>
            </a:r>
            <a:endParaRPr lang="zh-CN" altLang="en-US" sz="2800" i="0" dirty="0">
              <a:solidFill>
                <a:srgbClr val="FF0000"/>
              </a:solidFill>
            </a:endParaRPr>
          </a:p>
        </p:txBody>
      </p:sp>
      <p:sp>
        <p:nvSpPr>
          <p:cNvPr id="26" name="文本框 25">
            <a:extLst>
              <a:ext uri="{FF2B5EF4-FFF2-40B4-BE49-F238E27FC236}">
                <a16:creationId xmlns:a16="http://schemas.microsoft.com/office/drawing/2014/main" id="{3285B821-5893-41D8-AFF1-4B2BF3CA27ED}"/>
              </a:ext>
            </a:extLst>
          </p:cNvPr>
          <p:cNvSpPr txBox="1"/>
          <p:nvPr/>
        </p:nvSpPr>
        <p:spPr>
          <a:xfrm>
            <a:off x="5098909" y="4414562"/>
            <a:ext cx="432048" cy="430887"/>
          </a:xfrm>
          <a:prstGeom prst="rect">
            <a:avLst/>
          </a:prstGeom>
          <a:noFill/>
        </p:spPr>
        <p:txBody>
          <a:bodyPr wrap="square" lIns="0" tIns="0" rIns="0" bIns="0" rtlCol="0">
            <a:spAutoFit/>
          </a:bodyPr>
          <a:lstStyle/>
          <a:p>
            <a:r>
              <a:rPr lang="en-US" altLang="zh-CN" sz="2800" i="0" dirty="0">
                <a:solidFill>
                  <a:srgbClr val="FF0000"/>
                </a:solidFill>
              </a:rPr>
              <a:t>G</a:t>
            </a:r>
            <a:endParaRPr lang="zh-CN" altLang="en-US" sz="2800" i="0" dirty="0">
              <a:solidFill>
                <a:srgbClr val="FF0000"/>
              </a:solidFill>
            </a:endParaRPr>
          </a:p>
        </p:txBody>
      </p:sp>
      <p:sp>
        <p:nvSpPr>
          <p:cNvPr id="27" name="对话气泡: 椭圆形 26">
            <a:extLst>
              <a:ext uri="{FF2B5EF4-FFF2-40B4-BE49-F238E27FC236}">
                <a16:creationId xmlns:a16="http://schemas.microsoft.com/office/drawing/2014/main" id="{B0024733-0AAF-4C85-B646-61428A308DEF}"/>
              </a:ext>
            </a:extLst>
          </p:cNvPr>
          <p:cNvSpPr/>
          <p:nvPr/>
        </p:nvSpPr>
        <p:spPr bwMode="auto">
          <a:xfrm>
            <a:off x="4195631" y="1318829"/>
            <a:ext cx="4599661" cy="1211818"/>
          </a:xfrm>
          <a:prstGeom prst="wedgeEllipseCallout">
            <a:avLst>
              <a:gd name="adj1" fmla="val -35848"/>
              <a:gd name="adj2" fmla="val 37646"/>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r>
              <a:rPr lang="zh-CN" altLang="en-US" sz="2800" i="0" dirty="0"/>
              <a:t>树的先根遍历同对应二叉树的先序遍历</a:t>
            </a:r>
            <a:endParaRPr kumimoji="0" lang="zh-CN" altLang="en-US" sz="2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4" name="文本框 3">
            <a:extLst>
              <a:ext uri="{FF2B5EF4-FFF2-40B4-BE49-F238E27FC236}">
                <a16:creationId xmlns:a16="http://schemas.microsoft.com/office/drawing/2014/main" id="{DA9F4BBA-8EB4-73A8-42C4-F68DD28AAD64}"/>
              </a:ext>
            </a:extLst>
          </p:cNvPr>
          <p:cNvSpPr txBox="1"/>
          <p:nvPr/>
        </p:nvSpPr>
        <p:spPr>
          <a:xfrm>
            <a:off x="850437" y="4395398"/>
            <a:ext cx="1944216" cy="523220"/>
          </a:xfrm>
          <a:prstGeom prst="rect">
            <a:avLst/>
          </a:prstGeom>
          <a:noFill/>
        </p:spPr>
        <p:txBody>
          <a:bodyPr wrap="square" rtlCol="0">
            <a:spAutoFit/>
          </a:bodyPr>
          <a:lstStyle/>
          <a:p>
            <a:r>
              <a:rPr lang="zh-CN" altLang="en-US" sz="2800" b="0" i="0" dirty="0">
                <a:solidFill>
                  <a:srgbClr val="FF0000"/>
                </a:solidFill>
                <a:latin typeface="+mn-ea"/>
                <a:ea typeface="+mn-ea"/>
              </a:rPr>
              <a:t>遍历结果</a:t>
            </a:r>
            <a:r>
              <a:rPr lang="en-US" altLang="zh-CN" sz="2800" b="0" i="0" dirty="0">
                <a:solidFill>
                  <a:srgbClr val="FF0000"/>
                </a:solidFill>
                <a:latin typeface="+mn-ea"/>
                <a:ea typeface="+mn-ea"/>
              </a:rPr>
              <a:t>:</a:t>
            </a:r>
            <a:endParaRPr lang="zh-CN" altLang="en-US" sz="2800" b="0" i="0" dirty="0">
              <a:solidFill>
                <a:srgbClr val="FF0000"/>
              </a:solidFill>
              <a:latin typeface="+mn-ea"/>
              <a:ea typeface="+mn-ea"/>
            </a:endParaRPr>
          </a:p>
        </p:txBody>
      </p:sp>
      <p:cxnSp>
        <p:nvCxnSpPr>
          <p:cNvPr id="6" name="直接连接符 5">
            <a:extLst>
              <a:ext uri="{FF2B5EF4-FFF2-40B4-BE49-F238E27FC236}">
                <a16:creationId xmlns:a16="http://schemas.microsoft.com/office/drawing/2014/main" id="{2D67E554-469E-85E5-8047-31821AAE7487}"/>
              </a:ext>
            </a:extLst>
          </p:cNvPr>
          <p:cNvCxnSpPr/>
          <p:nvPr/>
        </p:nvCxnSpPr>
        <p:spPr bwMode="auto">
          <a:xfrm>
            <a:off x="3154693" y="4918618"/>
            <a:ext cx="936104"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7" name="文本框 6">
            <a:extLst>
              <a:ext uri="{FF2B5EF4-FFF2-40B4-BE49-F238E27FC236}">
                <a16:creationId xmlns:a16="http://schemas.microsoft.com/office/drawing/2014/main" id="{A1167AA4-B0CF-78CE-7F5E-5692E22DF1FC}"/>
              </a:ext>
            </a:extLst>
          </p:cNvPr>
          <p:cNvSpPr txBox="1"/>
          <p:nvPr/>
        </p:nvSpPr>
        <p:spPr>
          <a:xfrm>
            <a:off x="3066273" y="5043470"/>
            <a:ext cx="1080120" cy="523220"/>
          </a:xfrm>
          <a:prstGeom prst="rect">
            <a:avLst/>
          </a:prstGeom>
          <a:noFill/>
        </p:spPr>
        <p:txBody>
          <a:bodyPr wrap="square" rtlCol="0">
            <a:spAutoFit/>
          </a:bodyPr>
          <a:lstStyle/>
          <a:p>
            <a:r>
              <a:rPr lang="zh-CN" altLang="en-US" sz="2800" b="0" i="0" dirty="0">
                <a:latin typeface="+mn-ea"/>
                <a:ea typeface="+mn-ea"/>
              </a:rPr>
              <a:t>第</a:t>
            </a:r>
            <a:r>
              <a:rPr lang="en-US" altLang="zh-CN" sz="2800" b="0" i="0" dirty="0">
                <a:latin typeface="+mn-ea"/>
                <a:ea typeface="+mn-ea"/>
              </a:rPr>
              <a:t>1</a:t>
            </a:r>
            <a:r>
              <a:rPr lang="zh-CN" altLang="en-US" sz="2800" b="0" i="0" dirty="0">
                <a:latin typeface="+mn-ea"/>
                <a:ea typeface="+mn-ea"/>
              </a:rPr>
              <a:t>棵</a:t>
            </a:r>
          </a:p>
        </p:txBody>
      </p:sp>
      <p:cxnSp>
        <p:nvCxnSpPr>
          <p:cNvPr id="8" name="直接连接符 7">
            <a:extLst>
              <a:ext uri="{FF2B5EF4-FFF2-40B4-BE49-F238E27FC236}">
                <a16:creationId xmlns:a16="http://schemas.microsoft.com/office/drawing/2014/main" id="{DD98BD54-D4E1-8E10-AAB5-73EAA587EC83}"/>
              </a:ext>
            </a:extLst>
          </p:cNvPr>
          <p:cNvCxnSpPr>
            <a:cxnSpLocks/>
          </p:cNvCxnSpPr>
          <p:nvPr/>
        </p:nvCxnSpPr>
        <p:spPr bwMode="auto">
          <a:xfrm>
            <a:off x="4234813" y="4918618"/>
            <a:ext cx="406524"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10" name="直接连接符 9">
            <a:extLst>
              <a:ext uri="{FF2B5EF4-FFF2-40B4-BE49-F238E27FC236}">
                <a16:creationId xmlns:a16="http://schemas.microsoft.com/office/drawing/2014/main" id="{0C5B2ECE-A67C-3B2F-2C7A-A763917947F5}"/>
              </a:ext>
            </a:extLst>
          </p:cNvPr>
          <p:cNvCxnSpPr>
            <a:cxnSpLocks/>
          </p:cNvCxnSpPr>
          <p:nvPr/>
        </p:nvCxnSpPr>
        <p:spPr bwMode="auto">
          <a:xfrm>
            <a:off x="4738869" y="4918618"/>
            <a:ext cx="720080"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12" name="文本框 11">
            <a:extLst>
              <a:ext uri="{FF2B5EF4-FFF2-40B4-BE49-F238E27FC236}">
                <a16:creationId xmlns:a16="http://schemas.microsoft.com/office/drawing/2014/main" id="{CF251308-437E-B804-8968-AA265A3367AD}"/>
              </a:ext>
            </a:extLst>
          </p:cNvPr>
          <p:cNvSpPr txBox="1"/>
          <p:nvPr/>
        </p:nvSpPr>
        <p:spPr>
          <a:xfrm>
            <a:off x="4188329" y="5043470"/>
            <a:ext cx="478532" cy="523220"/>
          </a:xfrm>
          <a:prstGeom prst="rect">
            <a:avLst/>
          </a:prstGeom>
          <a:noFill/>
        </p:spPr>
        <p:txBody>
          <a:bodyPr wrap="square" rtlCol="0">
            <a:spAutoFit/>
          </a:bodyPr>
          <a:lstStyle/>
          <a:p>
            <a:r>
              <a:rPr lang="en-US" altLang="zh-CN" sz="2800" b="0" i="0" dirty="0">
                <a:latin typeface="+mn-ea"/>
                <a:ea typeface="+mn-ea"/>
              </a:rPr>
              <a:t>2</a:t>
            </a:r>
            <a:endParaRPr lang="zh-CN" altLang="en-US" sz="2800" b="0" i="0" dirty="0">
              <a:latin typeface="+mn-ea"/>
              <a:ea typeface="+mn-ea"/>
            </a:endParaRPr>
          </a:p>
        </p:txBody>
      </p:sp>
      <p:sp>
        <p:nvSpPr>
          <p:cNvPr id="13" name="文本框 12">
            <a:extLst>
              <a:ext uri="{FF2B5EF4-FFF2-40B4-BE49-F238E27FC236}">
                <a16:creationId xmlns:a16="http://schemas.microsoft.com/office/drawing/2014/main" id="{5AD32D7E-241B-B44A-BFBD-4B6DE62ABE77}"/>
              </a:ext>
            </a:extLst>
          </p:cNvPr>
          <p:cNvSpPr txBox="1"/>
          <p:nvPr/>
        </p:nvSpPr>
        <p:spPr>
          <a:xfrm>
            <a:off x="4908409" y="5043470"/>
            <a:ext cx="478532" cy="523220"/>
          </a:xfrm>
          <a:prstGeom prst="rect">
            <a:avLst/>
          </a:prstGeom>
          <a:noFill/>
        </p:spPr>
        <p:txBody>
          <a:bodyPr wrap="square" rtlCol="0">
            <a:spAutoFit/>
          </a:bodyPr>
          <a:lstStyle/>
          <a:p>
            <a:r>
              <a:rPr lang="en-US" altLang="zh-CN" sz="2800" b="0" i="0" dirty="0">
                <a:latin typeface="+mn-ea"/>
                <a:ea typeface="+mn-ea"/>
              </a:rPr>
              <a:t>3</a:t>
            </a:r>
            <a:endParaRPr lang="zh-CN" altLang="en-US" sz="2800" b="0" i="0" dirty="0">
              <a:latin typeface="+mn-ea"/>
              <a:ea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090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090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090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8"/>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2"/>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5"/>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26"/>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10"/>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13"/>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1" grpId="0"/>
      <p:bldP spid="22" grpId="0"/>
      <p:bldP spid="23" grpId="0"/>
      <p:bldP spid="24" grpId="0"/>
      <p:bldP spid="25" grpId="0"/>
      <p:bldP spid="26" grpId="0"/>
      <p:bldP spid="27" grpId="0" animBg="1"/>
      <p:bldP spid="4" grpId="0"/>
      <p:bldP spid="7" grpId="0"/>
      <p:bldP spid="12" grpId="0"/>
      <p:bldP spid="13"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3" name="Text Box 3">
            <a:extLst>
              <a:ext uri="{FF2B5EF4-FFF2-40B4-BE49-F238E27FC236}">
                <a16:creationId xmlns:a16="http://schemas.microsoft.com/office/drawing/2014/main" id="{95F00E1B-BA23-4D77-81B5-BBBAACA6D523}"/>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DE840BEB-8EF6-4711-8F44-84769EA2F6C1}" type="slidenum">
              <a:rPr lang="zh-CN" altLang="en-US" sz="2400"/>
              <a:pPr algn="r" eaLnBrk="1" hangingPunct="1">
                <a:spcBef>
                  <a:spcPct val="50000"/>
                </a:spcBef>
                <a:buClrTx/>
                <a:buSzTx/>
                <a:buFont typeface="Arial" panose="020B0604020202020204" pitchFamily="34" charset="0"/>
                <a:buNone/>
              </a:pPr>
              <a:t>77</a:t>
            </a:fld>
            <a:endParaRPr lang="en-US" altLang="zh-CN" sz="2400"/>
          </a:p>
        </p:txBody>
      </p:sp>
      <p:sp>
        <p:nvSpPr>
          <p:cNvPr id="81925" name="Rectangle 5">
            <a:extLst>
              <a:ext uri="{FF2B5EF4-FFF2-40B4-BE49-F238E27FC236}">
                <a16:creationId xmlns:a16="http://schemas.microsoft.com/office/drawing/2014/main" id="{73494188-C55E-4EF6-B543-4E4E65E4AA3C}"/>
              </a:ext>
            </a:extLst>
          </p:cNvPr>
          <p:cNvSpPr>
            <a:spLocks noGrp="1" noChangeArrowheads="1"/>
          </p:cNvSpPr>
          <p:nvPr>
            <p:ph type="body" idx="1"/>
          </p:nvPr>
        </p:nvSpPr>
        <p:spPr>
          <a:xfrm>
            <a:off x="538336" y="1288171"/>
            <a:ext cx="5638800" cy="2269331"/>
          </a:xfrm>
        </p:spPr>
        <p:txBody>
          <a:bodyPr/>
          <a:lstStyle/>
          <a:p>
            <a:pPr eaLnBrk="1" hangingPunct="1">
              <a:lnSpc>
                <a:spcPct val="90000"/>
              </a:lnSpc>
              <a:spcBef>
                <a:spcPct val="50000"/>
              </a:spcBef>
              <a:buFont typeface="Wingdings" panose="05000000000000000000" pitchFamily="2" charset="2"/>
              <a:buNone/>
            </a:pPr>
            <a:r>
              <a:rPr lang="zh-CN" altLang="en-US" dirty="0">
                <a:latin typeface="黑体" panose="02010609060101010101" pitchFamily="49" charset="-122"/>
                <a:ea typeface="黑体" panose="02010609060101010101" pitchFamily="49" charset="-122"/>
              </a:rPr>
              <a:t>若树非空，则</a:t>
            </a:r>
          </a:p>
          <a:p>
            <a:pPr eaLnBrk="1" hangingPunct="1">
              <a:lnSpc>
                <a:spcPct val="90000"/>
              </a:lnSpc>
              <a:spcBef>
                <a:spcPct val="50000"/>
              </a:spcBef>
            </a:pPr>
            <a:r>
              <a:rPr lang="zh-CN" altLang="en-US" dirty="0">
                <a:latin typeface="黑体" panose="02010609060101010101" pitchFamily="49" charset="-122"/>
                <a:ea typeface="黑体" panose="02010609060101010101" pitchFamily="49" charset="-122"/>
              </a:rPr>
              <a:t>依次后根遍历根的各棵子树</a:t>
            </a:r>
          </a:p>
          <a:p>
            <a:pPr eaLnBrk="1" hangingPunct="1">
              <a:lnSpc>
                <a:spcPct val="90000"/>
              </a:lnSpc>
              <a:spcBef>
                <a:spcPct val="50000"/>
              </a:spcBef>
            </a:pPr>
            <a:r>
              <a:rPr lang="zh-CN" altLang="en-US" dirty="0">
                <a:latin typeface="黑体" panose="02010609060101010101" pitchFamily="49" charset="-122"/>
                <a:ea typeface="黑体" panose="02010609060101010101" pitchFamily="49" charset="-122"/>
              </a:rPr>
              <a:t>访问根结点</a:t>
            </a:r>
          </a:p>
          <a:p>
            <a:pPr eaLnBrk="1" hangingPunct="1">
              <a:lnSpc>
                <a:spcPct val="90000"/>
              </a:lnSpc>
              <a:spcBef>
                <a:spcPct val="50000"/>
              </a:spcBef>
            </a:pPr>
            <a:endParaRPr lang="zh-CN" altLang="en-US" b="1" dirty="0">
              <a:latin typeface="黑体" panose="02010609060101010101" pitchFamily="49" charset="-122"/>
              <a:ea typeface="黑体" panose="02010609060101010101" pitchFamily="49" charset="-122"/>
            </a:endParaRPr>
          </a:p>
          <a:p>
            <a:pPr eaLnBrk="1" hangingPunct="1">
              <a:lnSpc>
                <a:spcPct val="90000"/>
              </a:lnSpc>
              <a:spcBef>
                <a:spcPct val="50000"/>
              </a:spcBef>
              <a:buFont typeface="Wingdings" panose="05000000000000000000" pitchFamily="2" charset="2"/>
              <a:buNone/>
            </a:pPr>
            <a:r>
              <a:rPr lang="zh-CN" altLang="en-US" b="1" dirty="0">
                <a:solidFill>
                  <a:schemeClr val="hlink"/>
                </a:solidFill>
                <a:latin typeface="黑体" panose="02010609060101010101" pitchFamily="49" charset="-122"/>
                <a:ea typeface="黑体" panose="02010609060101010101" pitchFamily="49" charset="-122"/>
              </a:rPr>
              <a:t>　 </a:t>
            </a:r>
            <a:endParaRPr lang="en-US" altLang="zh-CN" b="1" dirty="0">
              <a:solidFill>
                <a:schemeClr val="hlink"/>
              </a:solidFill>
              <a:latin typeface="黑体" panose="02010609060101010101" pitchFamily="49" charset="-122"/>
              <a:ea typeface="黑体" panose="02010609060101010101" pitchFamily="49" charset="-122"/>
            </a:endParaRPr>
          </a:p>
        </p:txBody>
      </p:sp>
      <p:grpSp>
        <p:nvGrpSpPr>
          <p:cNvPr id="81927" name="Group 7">
            <a:extLst>
              <a:ext uri="{FF2B5EF4-FFF2-40B4-BE49-F238E27FC236}">
                <a16:creationId xmlns:a16="http://schemas.microsoft.com/office/drawing/2014/main" id="{81AF6206-5EA6-4F86-84F9-D73AF46F89AA}"/>
              </a:ext>
            </a:extLst>
          </p:cNvPr>
          <p:cNvGrpSpPr>
            <a:grpSpLocks/>
          </p:cNvGrpSpPr>
          <p:nvPr/>
        </p:nvGrpSpPr>
        <p:grpSpPr bwMode="auto">
          <a:xfrm>
            <a:off x="5796136" y="2974404"/>
            <a:ext cx="2667000" cy="1795463"/>
            <a:chOff x="0" y="0"/>
            <a:chExt cx="1680" cy="1131"/>
          </a:xfrm>
        </p:grpSpPr>
        <p:sp>
          <p:nvSpPr>
            <p:cNvPr id="81928" name="Line 8">
              <a:extLst>
                <a:ext uri="{FF2B5EF4-FFF2-40B4-BE49-F238E27FC236}">
                  <a16:creationId xmlns:a16="http://schemas.microsoft.com/office/drawing/2014/main" id="{6B1CBB54-287E-4448-A85F-31E3D2F6F6B6}"/>
                </a:ext>
              </a:extLst>
            </p:cNvPr>
            <p:cNvSpPr>
              <a:spLocks noChangeShapeType="1"/>
            </p:cNvSpPr>
            <p:nvPr/>
          </p:nvSpPr>
          <p:spPr bwMode="auto">
            <a:xfrm>
              <a:off x="1080" y="171"/>
              <a:ext cx="360"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81929" name="Line 9">
              <a:extLst>
                <a:ext uri="{FF2B5EF4-FFF2-40B4-BE49-F238E27FC236}">
                  <a16:creationId xmlns:a16="http://schemas.microsoft.com/office/drawing/2014/main" id="{46DA3A2F-8B70-422B-8E44-84F1B6F04D52}"/>
                </a:ext>
              </a:extLst>
            </p:cNvPr>
            <p:cNvSpPr>
              <a:spLocks noChangeShapeType="1"/>
            </p:cNvSpPr>
            <p:nvPr/>
          </p:nvSpPr>
          <p:spPr bwMode="auto">
            <a:xfrm flipH="1">
              <a:off x="576" y="171"/>
              <a:ext cx="360" cy="336"/>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81930" name="Oval 10">
              <a:extLst>
                <a:ext uri="{FF2B5EF4-FFF2-40B4-BE49-F238E27FC236}">
                  <a16:creationId xmlns:a16="http://schemas.microsoft.com/office/drawing/2014/main" id="{1635A4E6-73BA-450D-9FB6-87D916E4008A}"/>
                </a:ext>
              </a:extLst>
            </p:cNvPr>
            <p:cNvSpPr>
              <a:spLocks noChangeArrowheads="1"/>
            </p:cNvSpPr>
            <p:nvPr/>
          </p:nvSpPr>
          <p:spPr bwMode="auto">
            <a:xfrm>
              <a:off x="864" y="0"/>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A</a:t>
              </a:r>
            </a:p>
          </p:txBody>
        </p:sp>
        <p:sp>
          <p:nvSpPr>
            <p:cNvPr id="81931" name="Line 11">
              <a:extLst>
                <a:ext uri="{FF2B5EF4-FFF2-40B4-BE49-F238E27FC236}">
                  <a16:creationId xmlns:a16="http://schemas.microsoft.com/office/drawing/2014/main" id="{4DE67BD4-9CF1-4B8B-8C14-6500B6FF9B12}"/>
                </a:ext>
              </a:extLst>
            </p:cNvPr>
            <p:cNvSpPr>
              <a:spLocks noChangeShapeType="1"/>
            </p:cNvSpPr>
            <p:nvPr/>
          </p:nvSpPr>
          <p:spPr bwMode="auto">
            <a:xfrm flipH="1">
              <a:off x="240" y="561"/>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81932" name="Oval 12">
              <a:extLst>
                <a:ext uri="{FF2B5EF4-FFF2-40B4-BE49-F238E27FC236}">
                  <a16:creationId xmlns:a16="http://schemas.microsoft.com/office/drawing/2014/main" id="{0E1BD67F-DBDA-4B1E-992F-41B842456C60}"/>
                </a:ext>
              </a:extLst>
            </p:cNvPr>
            <p:cNvSpPr>
              <a:spLocks noChangeArrowheads="1"/>
            </p:cNvSpPr>
            <p:nvPr/>
          </p:nvSpPr>
          <p:spPr bwMode="auto">
            <a:xfrm>
              <a:off x="0" y="822"/>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E</a:t>
              </a:r>
            </a:p>
          </p:txBody>
        </p:sp>
        <p:sp>
          <p:nvSpPr>
            <p:cNvPr id="81933" name="Line 13">
              <a:extLst>
                <a:ext uri="{FF2B5EF4-FFF2-40B4-BE49-F238E27FC236}">
                  <a16:creationId xmlns:a16="http://schemas.microsoft.com/office/drawing/2014/main" id="{2EF00368-7C34-43EC-9887-FEF87D72A4FC}"/>
                </a:ext>
              </a:extLst>
            </p:cNvPr>
            <p:cNvSpPr>
              <a:spLocks noChangeShapeType="1"/>
            </p:cNvSpPr>
            <p:nvPr/>
          </p:nvSpPr>
          <p:spPr bwMode="auto">
            <a:xfrm>
              <a:off x="528" y="582"/>
              <a:ext cx="216"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81934" name="Oval 14">
              <a:extLst>
                <a:ext uri="{FF2B5EF4-FFF2-40B4-BE49-F238E27FC236}">
                  <a16:creationId xmlns:a16="http://schemas.microsoft.com/office/drawing/2014/main" id="{92845BA8-90C5-4F1C-9D45-22612440FE65}"/>
                </a:ext>
              </a:extLst>
            </p:cNvPr>
            <p:cNvSpPr>
              <a:spLocks noChangeArrowheads="1"/>
            </p:cNvSpPr>
            <p:nvPr/>
          </p:nvSpPr>
          <p:spPr bwMode="auto">
            <a:xfrm>
              <a:off x="336" y="41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B</a:t>
              </a:r>
            </a:p>
          </p:txBody>
        </p:sp>
        <p:sp>
          <p:nvSpPr>
            <p:cNvPr id="81935" name="Line 15">
              <a:extLst>
                <a:ext uri="{FF2B5EF4-FFF2-40B4-BE49-F238E27FC236}">
                  <a16:creationId xmlns:a16="http://schemas.microsoft.com/office/drawing/2014/main" id="{36FAD367-48D5-4CD9-8963-6A388379CB6A}"/>
                </a:ext>
              </a:extLst>
            </p:cNvPr>
            <p:cNvSpPr>
              <a:spLocks noChangeShapeType="1"/>
            </p:cNvSpPr>
            <p:nvPr/>
          </p:nvSpPr>
          <p:spPr bwMode="auto">
            <a:xfrm flipH="1">
              <a:off x="1296" y="582"/>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81936" name="Oval 16">
              <a:extLst>
                <a:ext uri="{FF2B5EF4-FFF2-40B4-BE49-F238E27FC236}">
                  <a16:creationId xmlns:a16="http://schemas.microsoft.com/office/drawing/2014/main" id="{F0BC1EFD-31DE-4AD3-BC94-F4FB018F67EB}"/>
                </a:ext>
              </a:extLst>
            </p:cNvPr>
            <p:cNvSpPr>
              <a:spLocks noChangeArrowheads="1"/>
            </p:cNvSpPr>
            <p:nvPr/>
          </p:nvSpPr>
          <p:spPr bwMode="auto">
            <a:xfrm>
              <a:off x="1056" y="84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G</a:t>
              </a:r>
            </a:p>
          </p:txBody>
        </p:sp>
        <p:sp>
          <p:nvSpPr>
            <p:cNvPr id="81937" name="Oval 17">
              <a:extLst>
                <a:ext uri="{FF2B5EF4-FFF2-40B4-BE49-F238E27FC236}">
                  <a16:creationId xmlns:a16="http://schemas.microsoft.com/office/drawing/2014/main" id="{71AD47EC-9576-45B3-A16F-975490AC7F18}"/>
                </a:ext>
              </a:extLst>
            </p:cNvPr>
            <p:cNvSpPr>
              <a:spLocks noChangeArrowheads="1"/>
            </p:cNvSpPr>
            <p:nvPr/>
          </p:nvSpPr>
          <p:spPr bwMode="auto">
            <a:xfrm>
              <a:off x="1392" y="41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D</a:t>
              </a:r>
            </a:p>
          </p:txBody>
        </p:sp>
        <p:sp>
          <p:nvSpPr>
            <p:cNvPr id="81938" name="Oval 18">
              <a:extLst>
                <a:ext uri="{FF2B5EF4-FFF2-40B4-BE49-F238E27FC236}">
                  <a16:creationId xmlns:a16="http://schemas.microsoft.com/office/drawing/2014/main" id="{BB916865-E03F-40A8-8943-D42EEDA1E0CD}"/>
                </a:ext>
              </a:extLst>
            </p:cNvPr>
            <p:cNvSpPr>
              <a:spLocks noChangeArrowheads="1"/>
            </p:cNvSpPr>
            <p:nvPr/>
          </p:nvSpPr>
          <p:spPr bwMode="auto">
            <a:xfrm>
              <a:off x="648" y="84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F</a:t>
              </a:r>
            </a:p>
          </p:txBody>
        </p:sp>
        <p:sp>
          <p:nvSpPr>
            <p:cNvPr id="81939" name="Line 19">
              <a:extLst>
                <a:ext uri="{FF2B5EF4-FFF2-40B4-BE49-F238E27FC236}">
                  <a16:creationId xmlns:a16="http://schemas.microsoft.com/office/drawing/2014/main" id="{162C2A6F-39D3-4F26-A886-E85113FE2584}"/>
                </a:ext>
              </a:extLst>
            </p:cNvPr>
            <p:cNvSpPr>
              <a:spLocks noChangeShapeType="1"/>
            </p:cNvSpPr>
            <p:nvPr/>
          </p:nvSpPr>
          <p:spPr bwMode="auto">
            <a:xfrm flipH="1">
              <a:off x="1008" y="276"/>
              <a:ext cx="0" cy="14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81940" name="Oval 20">
              <a:extLst>
                <a:ext uri="{FF2B5EF4-FFF2-40B4-BE49-F238E27FC236}">
                  <a16:creationId xmlns:a16="http://schemas.microsoft.com/office/drawing/2014/main" id="{B7A95A03-848B-4466-8B31-CC8D077050CB}"/>
                </a:ext>
              </a:extLst>
            </p:cNvPr>
            <p:cNvSpPr>
              <a:spLocks noChangeArrowheads="1"/>
            </p:cNvSpPr>
            <p:nvPr/>
          </p:nvSpPr>
          <p:spPr bwMode="auto">
            <a:xfrm>
              <a:off x="864" y="41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C</a:t>
              </a:r>
            </a:p>
          </p:txBody>
        </p:sp>
      </p:grpSp>
      <p:sp>
        <p:nvSpPr>
          <p:cNvPr id="2" name="Text Box 4">
            <a:extLst>
              <a:ext uri="{FF2B5EF4-FFF2-40B4-BE49-F238E27FC236}">
                <a16:creationId xmlns:a16="http://schemas.microsoft.com/office/drawing/2014/main" id="{3742CE27-F7FC-449F-B0A2-BD893AFE08DD}"/>
              </a:ext>
            </a:extLst>
          </p:cNvPr>
          <p:cNvSpPr txBox="1">
            <a:spLocks noChangeArrowheads="1"/>
          </p:cNvSpPr>
          <p:nvPr/>
        </p:nvSpPr>
        <p:spPr bwMode="auto">
          <a:xfrm>
            <a:off x="228316" y="132987"/>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树的后根遍历</a:t>
            </a:r>
          </a:p>
        </p:txBody>
      </p:sp>
      <p:sp>
        <p:nvSpPr>
          <p:cNvPr id="20" name="文本框 19">
            <a:extLst>
              <a:ext uri="{FF2B5EF4-FFF2-40B4-BE49-F238E27FC236}">
                <a16:creationId xmlns:a16="http://schemas.microsoft.com/office/drawing/2014/main" id="{34DCEBD6-AAFB-4286-A519-419D64231449}"/>
              </a:ext>
            </a:extLst>
          </p:cNvPr>
          <p:cNvSpPr txBox="1"/>
          <p:nvPr/>
        </p:nvSpPr>
        <p:spPr>
          <a:xfrm>
            <a:off x="2439903" y="4067138"/>
            <a:ext cx="432048" cy="430887"/>
          </a:xfrm>
          <a:prstGeom prst="rect">
            <a:avLst/>
          </a:prstGeom>
          <a:noFill/>
        </p:spPr>
        <p:txBody>
          <a:bodyPr wrap="square" lIns="0" tIns="0" rIns="0" bIns="0" rtlCol="0">
            <a:spAutoFit/>
          </a:bodyPr>
          <a:lstStyle/>
          <a:p>
            <a:r>
              <a:rPr lang="en-US" altLang="zh-CN" sz="2800" i="0" dirty="0">
                <a:solidFill>
                  <a:srgbClr val="FF0000"/>
                </a:solidFill>
              </a:rPr>
              <a:t>E</a:t>
            </a:r>
            <a:endParaRPr lang="zh-CN" altLang="en-US" sz="2800" i="0" dirty="0">
              <a:solidFill>
                <a:srgbClr val="FF0000"/>
              </a:solidFill>
            </a:endParaRPr>
          </a:p>
        </p:txBody>
      </p:sp>
      <p:sp>
        <p:nvSpPr>
          <p:cNvPr id="21" name="文本框 20">
            <a:extLst>
              <a:ext uri="{FF2B5EF4-FFF2-40B4-BE49-F238E27FC236}">
                <a16:creationId xmlns:a16="http://schemas.microsoft.com/office/drawing/2014/main" id="{72BAC1D1-E26C-449C-A1BB-6721310C132A}"/>
              </a:ext>
            </a:extLst>
          </p:cNvPr>
          <p:cNvSpPr txBox="1"/>
          <p:nvPr/>
        </p:nvSpPr>
        <p:spPr>
          <a:xfrm>
            <a:off x="2727935" y="4067138"/>
            <a:ext cx="432048" cy="430887"/>
          </a:xfrm>
          <a:prstGeom prst="rect">
            <a:avLst/>
          </a:prstGeom>
          <a:noFill/>
        </p:spPr>
        <p:txBody>
          <a:bodyPr wrap="square" lIns="0" tIns="0" rIns="0" bIns="0" rtlCol="0">
            <a:spAutoFit/>
          </a:bodyPr>
          <a:lstStyle/>
          <a:p>
            <a:r>
              <a:rPr lang="en-US" altLang="zh-CN" sz="2800" i="0" dirty="0">
                <a:solidFill>
                  <a:srgbClr val="FF0000"/>
                </a:solidFill>
              </a:rPr>
              <a:t>F</a:t>
            </a:r>
            <a:endParaRPr lang="zh-CN" altLang="en-US" sz="2800" i="0" dirty="0">
              <a:solidFill>
                <a:srgbClr val="FF0000"/>
              </a:solidFill>
            </a:endParaRPr>
          </a:p>
        </p:txBody>
      </p:sp>
      <p:sp>
        <p:nvSpPr>
          <p:cNvPr id="22" name="文本框 21">
            <a:extLst>
              <a:ext uri="{FF2B5EF4-FFF2-40B4-BE49-F238E27FC236}">
                <a16:creationId xmlns:a16="http://schemas.microsoft.com/office/drawing/2014/main" id="{604137FA-3501-4E20-AC44-71BAD0CD6F60}"/>
              </a:ext>
            </a:extLst>
          </p:cNvPr>
          <p:cNvSpPr txBox="1"/>
          <p:nvPr/>
        </p:nvSpPr>
        <p:spPr>
          <a:xfrm>
            <a:off x="3015967" y="4090888"/>
            <a:ext cx="432048" cy="430887"/>
          </a:xfrm>
          <a:prstGeom prst="rect">
            <a:avLst/>
          </a:prstGeom>
          <a:noFill/>
        </p:spPr>
        <p:txBody>
          <a:bodyPr wrap="square" lIns="0" tIns="0" rIns="0" bIns="0" rtlCol="0">
            <a:spAutoFit/>
          </a:bodyPr>
          <a:lstStyle/>
          <a:p>
            <a:r>
              <a:rPr lang="en-US" altLang="zh-CN" sz="2800" i="0" dirty="0">
                <a:solidFill>
                  <a:srgbClr val="FF0000"/>
                </a:solidFill>
              </a:rPr>
              <a:t>B</a:t>
            </a:r>
            <a:endParaRPr lang="zh-CN" altLang="en-US" sz="2800" i="0" dirty="0">
              <a:solidFill>
                <a:srgbClr val="FF0000"/>
              </a:solidFill>
            </a:endParaRPr>
          </a:p>
        </p:txBody>
      </p:sp>
      <p:sp>
        <p:nvSpPr>
          <p:cNvPr id="23" name="文本框 22">
            <a:extLst>
              <a:ext uri="{FF2B5EF4-FFF2-40B4-BE49-F238E27FC236}">
                <a16:creationId xmlns:a16="http://schemas.microsoft.com/office/drawing/2014/main" id="{3575DDCD-6EBC-42EE-B2C7-595C30A79071}"/>
              </a:ext>
            </a:extLst>
          </p:cNvPr>
          <p:cNvSpPr txBox="1"/>
          <p:nvPr/>
        </p:nvSpPr>
        <p:spPr>
          <a:xfrm>
            <a:off x="3448015" y="4090888"/>
            <a:ext cx="432048" cy="430887"/>
          </a:xfrm>
          <a:prstGeom prst="rect">
            <a:avLst/>
          </a:prstGeom>
          <a:noFill/>
        </p:spPr>
        <p:txBody>
          <a:bodyPr wrap="square" lIns="0" tIns="0" rIns="0" bIns="0" rtlCol="0">
            <a:spAutoFit/>
          </a:bodyPr>
          <a:lstStyle/>
          <a:p>
            <a:r>
              <a:rPr lang="en-US" altLang="zh-CN" sz="2800" i="0" dirty="0">
                <a:solidFill>
                  <a:srgbClr val="FF0000"/>
                </a:solidFill>
              </a:rPr>
              <a:t>C</a:t>
            </a:r>
            <a:endParaRPr lang="zh-CN" altLang="en-US" sz="2800" i="0" dirty="0">
              <a:solidFill>
                <a:srgbClr val="FF0000"/>
              </a:solidFill>
            </a:endParaRPr>
          </a:p>
        </p:txBody>
      </p:sp>
      <p:sp>
        <p:nvSpPr>
          <p:cNvPr id="24" name="文本框 23">
            <a:extLst>
              <a:ext uri="{FF2B5EF4-FFF2-40B4-BE49-F238E27FC236}">
                <a16:creationId xmlns:a16="http://schemas.microsoft.com/office/drawing/2014/main" id="{3F976AC8-1A35-4126-8684-E716714FE440}"/>
              </a:ext>
            </a:extLst>
          </p:cNvPr>
          <p:cNvSpPr txBox="1"/>
          <p:nvPr/>
        </p:nvSpPr>
        <p:spPr>
          <a:xfrm>
            <a:off x="3808055" y="4089727"/>
            <a:ext cx="432048" cy="430887"/>
          </a:xfrm>
          <a:prstGeom prst="rect">
            <a:avLst/>
          </a:prstGeom>
          <a:noFill/>
        </p:spPr>
        <p:txBody>
          <a:bodyPr wrap="square" lIns="0" tIns="0" rIns="0" bIns="0" rtlCol="0">
            <a:spAutoFit/>
          </a:bodyPr>
          <a:lstStyle/>
          <a:p>
            <a:r>
              <a:rPr lang="en-US" altLang="zh-CN" sz="2800" i="0" dirty="0">
                <a:solidFill>
                  <a:srgbClr val="FF0000"/>
                </a:solidFill>
              </a:rPr>
              <a:t> G</a:t>
            </a:r>
            <a:endParaRPr lang="zh-CN" altLang="en-US" sz="2800" i="0" dirty="0">
              <a:solidFill>
                <a:srgbClr val="FF0000"/>
              </a:solidFill>
            </a:endParaRPr>
          </a:p>
        </p:txBody>
      </p:sp>
      <p:sp>
        <p:nvSpPr>
          <p:cNvPr id="25" name="文本框 24">
            <a:extLst>
              <a:ext uri="{FF2B5EF4-FFF2-40B4-BE49-F238E27FC236}">
                <a16:creationId xmlns:a16="http://schemas.microsoft.com/office/drawing/2014/main" id="{16F75488-DC63-46C7-88B6-1F7DEF830735}"/>
              </a:ext>
            </a:extLst>
          </p:cNvPr>
          <p:cNvSpPr txBox="1"/>
          <p:nvPr/>
        </p:nvSpPr>
        <p:spPr>
          <a:xfrm>
            <a:off x="4240103" y="4090888"/>
            <a:ext cx="432048" cy="430887"/>
          </a:xfrm>
          <a:prstGeom prst="rect">
            <a:avLst/>
          </a:prstGeom>
          <a:noFill/>
        </p:spPr>
        <p:txBody>
          <a:bodyPr wrap="square" lIns="0" tIns="0" rIns="0" bIns="0" rtlCol="0">
            <a:spAutoFit/>
          </a:bodyPr>
          <a:lstStyle/>
          <a:p>
            <a:r>
              <a:rPr lang="en-US" altLang="zh-CN" sz="2800" i="0" dirty="0">
                <a:solidFill>
                  <a:srgbClr val="FF0000"/>
                </a:solidFill>
              </a:rPr>
              <a:t>D</a:t>
            </a:r>
            <a:endParaRPr lang="zh-CN" altLang="en-US" sz="2800" i="0" dirty="0">
              <a:solidFill>
                <a:srgbClr val="FF0000"/>
              </a:solidFill>
            </a:endParaRPr>
          </a:p>
        </p:txBody>
      </p:sp>
      <p:sp>
        <p:nvSpPr>
          <p:cNvPr id="26" name="文本框 25">
            <a:extLst>
              <a:ext uri="{FF2B5EF4-FFF2-40B4-BE49-F238E27FC236}">
                <a16:creationId xmlns:a16="http://schemas.microsoft.com/office/drawing/2014/main" id="{9468CB9B-3AA0-4FA6-9233-CCD9A43C0478}"/>
              </a:ext>
            </a:extLst>
          </p:cNvPr>
          <p:cNvSpPr txBox="1"/>
          <p:nvPr/>
        </p:nvSpPr>
        <p:spPr>
          <a:xfrm>
            <a:off x="4600143" y="4090888"/>
            <a:ext cx="432048" cy="430887"/>
          </a:xfrm>
          <a:prstGeom prst="rect">
            <a:avLst/>
          </a:prstGeom>
          <a:noFill/>
        </p:spPr>
        <p:txBody>
          <a:bodyPr wrap="square" lIns="0" tIns="0" rIns="0" bIns="0" rtlCol="0">
            <a:spAutoFit/>
          </a:bodyPr>
          <a:lstStyle/>
          <a:p>
            <a:r>
              <a:rPr lang="en-US" altLang="zh-CN" sz="2800" i="0" dirty="0">
                <a:solidFill>
                  <a:srgbClr val="FF0000"/>
                </a:solidFill>
              </a:rPr>
              <a:t>A</a:t>
            </a:r>
            <a:endParaRPr lang="zh-CN" altLang="en-US" sz="2800" i="0" dirty="0">
              <a:solidFill>
                <a:srgbClr val="FF0000"/>
              </a:solidFill>
            </a:endParaRPr>
          </a:p>
        </p:txBody>
      </p:sp>
      <p:sp>
        <p:nvSpPr>
          <p:cNvPr id="27" name="对话气泡: 椭圆形 26">
            <a:extLst>
              <a:ext uri="{FF2B5EF4-FFF2-40B4-BE49-F238E27FC236}">
                <a16:creationId xmlns:a16="http://schemas.microsoft.com/office/drawing/2014/main" id="{30D9E3E0-91F6-482E-A7D4-43A295FDA8DB}"/>
              </a:ext>
            </a:extLst>
          </p:cNvPr>
          <p:cNvSpPr/>
          <p:nvPr/>
        </p:nvSpPr>
        <p:spPr bwMode="auto">
          <a:xfrm>
            <a:off x="4086855" y="1271545"/>
            <a:ext cx="4599661" cy="1211818"/>
          </a:xfrm>
          <a:prstGeom prst="wedgeEllipseCallout">
            <a:avLst>
              <a:gd name="adj1" fmla="val -35848"/>
              <a:gd name="adj2" fmla="val 37646"/>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r>
              <a:rPr lang="zh-CN" altLang="en-US" sz="2800" i="0" dirty="0"/>
              <a:t>树的后根遍历同对应二叉树的中序遍历</a:t>
            </a:r>
            <a:endParaRPr kumimoji="0" lang="zh-CN" altLang="en-US" sz="2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3" name="文本框 2">
            <a:extLst>
              <a:ext uri="{FF2B5EF4-FFF2-40B4-BE49-F238E27FC236}">
                <a16:creationId xmlns:a16="http://schemas.microsoft.com/office/drawing/2014/main" id="{D1B940BC-A7DF-8E8F-0F60-118623A6530B}"/>
              </a:ext>
            </a:extLst>
          </p:cNvPr>
          <p:cNvSpPr txBox="1"/>
          <p:nvPr/>
        </p:nvSpPr>
        <p:spPr>
          <a:xfrm>
            <a:off x="711711" y="4017719"/>
            <a:ext cx="1944216" cy="523220"/>
          </a:xfrm>
          <a:prstGeom prst="rect">
            <a:avLst/>
          </a:prstGeom>
          <a:noFill/>
        </p:spPr>
        <p:txBody>
          <a:bodyPr wrap="square" rtlCol="0">
            <a:spAutoFit/>
          </a:bodyPr>
          <a:lstStyle/>
          <a:p>
            <a:r>
              <a:rPr lang="zh-CN" altLang="en-US" sz="2800" b="0" i="0" dirty="0">
                <a:solidFill>
                  <a:srgbClr val="FF0000"/>
                </a:solidFill>
                <a:latin typeface="+mn-ea"/>
                <a:ea typeface="+mn-ea"/>
              </a:rPr>
              <a:t>遍历结果</a:t>
            </a:r>
            <a:r>
              <a:rPr lang="en-US" altLang="zh-CN" sz="2800" b="0" i="0" dirty="0">
                <a:solidFill>
                  <a:srgbClr val="FF0000"/>
                </a:solidFill>
                <a:latin typeface="+mn-ea"/>
                <a:ea typeface="+mn-ea"/>
              </a:rPr>
              <a:t>:</a:t>
            </a:r>
            <a:endParaRPr lang="zh-CN" altLang="en-US" sz="2800" b="0" i="0" dirty="0">
              <a:solidFill>
                <a:srgbClr val="FF0000"/>
              </a:solidFill>
              <a:latin typeface="+mn-ea"/>
              <a:ea typeface="+mn-ea"/>
            </a:endParaRPr>
          </a:p>
        </p:txBody>
      </p:sp>
      <p:cxnSp>
        <p:nvCxnSpPr>
          <p:cNvPr id="4" name="直接连接符 3">
            <a:extLst>
              <a:ext uri="{FF2B5EF4-FFF2-40B4-BE49-F238E27FC236}">
                <a16:creationId xmlns:a16="http://schemas.microsoft.com/office/drawing/2014/main" id="{D03A2165-8905-48E7-2C80-F387448C8DE5}"/>
              </a:ext>
            </a:extLst>
          </p:cNvPr>
          <p:cNvCxnSpPr/>
          <p:nvPr/>
        </p:nvCxnSpPr>
        <p:spPr bwMode="auto">
          <a:xfrm>
            <a:off x="2456315" y="4521775"/>
            <a:ext cx="936104"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5" name="文本框 4">
            <a:extLst>
              <a:ext uri="{FF2B5EF4-FFF2-40B4-BE49-F238E27FC236}">
                <a16:creationId xmlns:a16="http://schemas.microsoft.com/office/drawing/2014/main" id="{E381DC1F-124B-118B-EF96-9F9AC03569A9}"/>
              </a:ext>
            </a:extLst>
          </p:cNvPr>
          <p:cNvSpPr txBox="1"/>
          <p:nvPr/>
        </p:nvSpPr>
        <p:spPr>
          <a:xfrm>
            <a:off x="2367895" y="4593783"/>
            <a:ext cx="1080120" cy="523220"/>
          </a:xfrm>
          <a:prstGeom prst="rect">
            <a:avLst/>
          </a:prstGeom>
          <a:noFill/>
        </p:spPr>
        <p:txBody>
          <a:bodyPr wrap="square" rtlCol="0">
            <a:spAutoFit/>
          </a:bodyPr>
          <a:lstStyle/>
          <a:p>
            <a:r>
              <a:rPr lang="zh-CN" altLang="en-US" sz="2800" b="0" i="0" dirty="0">
                <a:latin typeface="+mn-ea"/>
                <a:ea typeface="+mn-ea"/>
              </a:rPr>
              <a:t>第</a:t>
            </a:r>
            <a:r>
              <a:rPr lang="en-US" altLang="zh-CN" sz="2800" b="0" i="0" dirty="0">
                <a:latin typeface="+mn-ea"/>
                <a:ea typeface="+mn-ea"/>
              </a:rPr>
              <a:t>1</a:t>
            </a:r>
            <a:r>
              <a:rPr lang="zh-CN" altLang="en-US" sz="2800" b="0" i="0" dirty="0">
                <a:latin typeface="+mn-ea"/>
                <a:ea typeface="+mn-ea"/>
              </a:rPr>
              <a:t>棵</a:t>
            </a:r>
          </a:p>
        </p:txBody>
      </p:sp>
      <p:cxnSp>
        <p:nvCxnSpPr>
          <p:cNvPr id="6" name="直接连接符 5">
            <a:extLst>
              <a:ext uri="{FF2B5EF4-FFF2-40B4-BE49-F238E27FC236}">
                <a16:creationId xmlns:a16="http://schemas.microsoft.com/office/drawing/2014/main" id="{5BA67A94-0FE5-7B78-A908-282579704C70}"/>
              </a:ext>
            </a:extLst>
          </p:cNvPr>
          <p:cNvCxnSpPr>
            <a:cxnSpLocks/>
          </p:cNvCxnSpPr>
          <p:nvPr/>
        </p:nvCxnSpPr>
        <p:spPr bwMode="auto">
          <a:xfrm>
            <a:off x="3448015" y="4540939"/>
            <a:ext cx="406524"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7" name="文本框 6">
            <a:extLst>
              <a:ext uri="{FF2B5EF4-FFF2-40B4-BE49-F238E27FC236}">
                <a16:creationId xmlns:a16="http://schemas.microsoft.com/office/drawing/2014/main" id="{D8871021-32F8-04E0-259B-90548B2BD010}"/>
              </a:ext>
            </a:extLst>
          </p:cNvPr>
          <p:cNvSpPr txBox="1"/>
          <p:nvPr/>
        </p:nvSpPr>
        <p:spPr>
          <a:xfrm>
            <a:off x="3473539" y="4593783"/>
            <a:ext cx="478532" cy="523220"/>
          </a:xfrm>
          <a:prstGeom prst="rect">
            <a:avLst/>
          </a:prstGeom>
          <a:noFill/>
        </p:spPr>
        <p:txBody>
          <a:bodyPr wrap="square" rtlCol="0">
            <a:spAutoFit/>
          </a:bodyPr>
          <a:lstStyle/>
          <a:p>
            <a:r>
              <a:rPr lang="en-US" altLang="zh-CN" sz="2800" b="0" i="0" dirty="0">
                <a:latin typeface="+mn-ea"/>
                <a:ea typeface="+mn-ea"/>
              </a:rPr>
              <a:t>2</a:t>
            </a:r>
            <a:endParaRPr lang="zh-CN" altLang="en-US" sz="2800" b="0" i="0" dirty="0">
              <a:latin typeface="+mn-ea"/>
              <a:ea typeface="+mn-ea"/>
            </a:endParaRPr>
          </a:p>
        </p:txBody>
      </p:sp>
      <p:cxnSp>
        <p:nvCxnSpPr>
          <p:cNvPr id="8" name="直接连接符 7">
            <a:extLst>
              <a:ext uri="{FF2B5EF4-FFF2-40B4-BE49-F238E27FC236}">
                <a16:creationId xmlns:a16="http://schemas.microsoft.com/office/drawing/2014/main" id="{4047DDD8-85C6-68A7-BB99-3DFB6450EBBC}"/>
              </a:ext>
            </a:extLst>
          </p:cNvPr>
          <p:cNvCxnSpPr>
            <a:cxnSpLocks/>
            <a:endCxn id="25" idx="2"/>
          </p:cNvCxnSpPr>
          <p:nvPr/>
        </p:nvCxnSpPr>
        <p:spPr bwMode="auto">
          <a:xfrm>
            <a:off x="3952071" y="4520614"/>
            <a:ext cx="504056" cy="1161"/>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9" name="文本框 8">
            <a:extLst>
              <a:ext uri="{FF2B5EF4-FFF2-40B4-BE49-F238E27FC236}">
                <a16:creationId xmlns:a16="http://schemas.microsoft.com/office/drawing/2014/main" id="{0DA7BD6E-5279-F8E6-3815-C72D4D07AE87}"/>
              </a:ext>
            </a:extLst>
          </p:cNvPr>
          <p:cNvSpPr txBox="1"/>
          <p:nvPr/>
        </p:nvSpPr>
        <p:spPr>
          <a:xfrm>
            <a:off x="3952071" y="4593783"/>
            <a:ext cx="478532" cy="523220"/>
          </a:xfrm>
          <a:prstGeom prst="rect">
            <a:avLst/>
          </a:prstGeom>
          <a:noFill/>
        </p:spPr>
        <p:txBody>
          <a:bodyPr wrap="square" rtlCol="0">
            <a:spAutoFit/>
          </a:bodyPr>
          <a:lstStyle/>
          <a:p>
            <a:r>
              <a:rPr lang="en-US" altLang="zh-CN" sz="2800" b="0" i="0" dirty="0">
                <a:latin typeface="+mn-ea"/>
                <a:ea typeface="+mn-ea"/>
              </a:rPr>
              <a:t>3</a:t>
            </a:r>
            <a:endParaRPr lang="zh-CN" altLang="en-US" sz="2800" b="0" i="0" dirty="0">
              <a:latin typeface="+mn-ea"/>
              <a:ea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2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192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192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192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6"/>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7"/>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4"/>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25"/>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8"/>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9"/>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26"/>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2" grpId="0"/>
      <p:bldP spid="23" grpId="0"/>
      <p:bldP spid="24" grpId="0"/>
      <p:bldP spid="25" grpId="0"/>
      <p:bldP spid="26" grpId="0"/>
      <p:bldP spid="27" grpId="0" animBg="1"/>
      <p:bldP spid="3" grpId="0"/>
      <p:bldP spid="5" grpId="0"/>
      <p:bldP spid="7" grpId="0"/>
      <p:bldP spid="9"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Text Box 3">
            <a:extLst>
              <a:ext uri="{FF2B5EF4-FFF2-40B4-BE49-F238E27FC236}">
                <a16:creationId xmlns:a16="http://schemas.microsoft.com/office/drawing/2014/main" id="{E0BF3F3C-5D39-4DAB-9192-4E4C2687909D}"/>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6623E675-5B9A-4F5E-B3F0-B0A02C89F5BB}" type="slidenum">
              <a:rPr lang="zh-CN" altLang="en-US" sz="2400"/>
              <a:pPr algn="r" eaLnBrk="1" hangingPunct="1">
                <a:spcBef>
                  <a:spcPct val="50000"/>
                </a:spcBef>
                <a:buClrTx/>
                <a:buSzTx/>
                <a:buFont typeface="Arial" panose="020B0604020202020204" pitchFamily="34" charset="0"/>
                <a:buNone/>
              </a:pPr>
              <a:t>78</a:t>
            </a:fld>
            <a:endParaRPr lang="en-US" altLang="zh-CN" sz="2400"/>
          </a:p>
        </p:txBody>
      </p:sp>
      <p:sp>
        <p:nvSpPr>
          <p:cNvPr id="82949" name="Rectangle 5">
            <a:extLst>
              <a:ext uri="{FF2B5EF4-FFF2-40B4-BE49-F238E27FC236}">
                <a16:creationId xmlns:a16="http://schemas.microsoft.com/office/drawing/2014/main" id="{FFA5878D-9DA4-4BB5-83E5-01A8B7AD7827}"/>
              </a:ext>
            </a:extLst>
          </p:cNvPr>
          <p:cNvSpPr>
            <a:spLocks noGrp="1" noChangeArrowheads="1"/>
          </p:cNvSpPr>
          <p:nvPr>
            <p:ph type="body" idx="1"/>
          </p:nvPr>
        </p:nvSpPr>
        <p:spPr>
          <a:xfrm>
            <a:off x="539552" y="1268760"/>
            <a:ext cx="8763000" cy="2160240"/>
          </a:xfrm>
        </p:spPr>
        <p:txBody>
          <a:bodyPr/>
          <a:lstStyle/>
          <a:p>
            <a:pPr eaLnBrk="1" hangingPunct="1">
              <a:spcBef>
                <a:spcPct val="70000"/>
              </a:spcBef>
            </a:pPr>
            <a:r>
              <a:rPr lang="zh-CN" altLang="en-US" dirty="0">
                <a:latin typeface="黑体" panose="02010609060101010101" pitchFamily="49" charset="-122"/>
                <a:ea typeface="黑体" panose="02010609060101010101" pitchFamily="49" charset="-122"/>
              </a:rPr>
              <a:t>森林的遍历主要有两种：</a:t>
            </a:r>
          </a:p>
          <a:p>
            <a:pPr eaLnBrk="1" hangingPunct="1">
              <a:spcBef>
                <a:spcPct val="70000"/>
              </a:spcBef>
              <a:buFont typeface="Wingdings" panose="05000000000000000000" pitchFamily="2" charset="2"/>
              <a:buNone/>
            </a:pPr>
            <a:r>
              <a:rPr lang="zh-CN" altLang="en-US" dirty="0">
                <a:latin typeface="黑体" panose="02010609060101010101" pitchFamily="49" charset="-122"/>
                <a:ea typeface="黑体" panose="02010609060101010101" pitchFamily="49" charset="-122"/>
              </a:rPr>
              <a:t>1. 先序遍历</a:t>
            </a:r>
          </a:p>
          <a:p>
            <a:pPr eaLnBrk="1" hangingPunct="1">
              <a:spcBef>
                <a:spcPct val="70000"/>
              </a:spcBef>
              <a:buFont typeface="Wingdings" panose="05000000000000000000" pitchFamily="2" charset="2"/>
              <a:buNone/>
            </a:pPr>
            <a:r>
              <a:rPr lang="zh-CN" altLang="en-US" dirty="0">
                <a:latin typeface="黑体" panose="02010609060101010101" pitchFamily="49" charset="-122"/>
                <a:ea typeface="黑体" panose="02010609060101010101" pitchFamily="49" charset="-122"/>
              </a:rPr>
              <a:t>2. 中序遍历</a:t>
            </a:r>
          </a:p>
        </p:txBody>
      </p:sp>
      <p:sp>
        <p:nvSpPr>
          <p:cNvPr id="2" name="Text Box 4">
            <a:extLst>
              <a:ext uri="{FF2B5EF4-FFF2-40B4-BE49-F238E27FC236}">
                <a16:creationId xmlns:a16="http://schemas.microsoft.com/office/drawing/2014/main" id="{AB532131-BB8B-4C0E-9C3C-330A64BAB306}"/>
              </a:ext>
            </a:extLst>
          </p:cNvPr>
          <p:cNvSpPr txBox="1">
            <a:spLocks noChangeArrowheads="1"/>
          </p:cNvSpPr>
          <p:nvPr/>
        </p:nvSpPr>
        <p:spPr bwMode="auto">
          <a:xfrm>
            <a:off x="342900" y="188640"/>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五、森林的遍历</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294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294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1" name="Text Box 3">
            <a:extLst>
              <a:ext uri="{FF2B5EF4-FFF2-40B4-BE49-F238E27FC236}">
                <a16:creationId xmlns:a16="http://schemas.microsoft.com/office/drawing/2014/main" id="{CC5D061E-83C6-4B67-ADBB-55D0C10BC965}"/>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C02E815C-6130-4D45-B627-61350D96BCBE}" type="slidenum">
              <a:rPr lang="zh-CN" altLang="en-US" sz="2400"/>
              <a:pPr algn="r" eaLnBrk="1" hangingPunct="1">
                <a:spcBef>
                  <a:spcPct val="50000"/>
                </a:spcBef>
                <a:buClrTx/>
                <a:buSzTx/>
                <a:buFont typeface="Arial" panose="020B0604020202020204" pitchFamily="34" charset="0"/>
                <a:buNone/>
              </a:pPr>
              <a:t>79</a:t>
            </a:fld>
            <a:endParaRPr lang="en-US" altLang="zh-CN" sz="2400"/>
          </a:p>
        </p:txBody>
      </p:sp>
      <p:sp>
        <p:nvSpPr>
          <p:cNvPr id="83973" name="Rectangle 5">
            <a:extLst>
              <a:ext uri="{FF2B5EF4-FFF2-40B4-BE49-F238E27FC236}">
                <a16:creationId xmlns:a16="http://schemas.microsoft.com/office/drawing/2014/main" id="{4C163ECE-D1B7-46A2-B26F-38B2FF515504}"/>
              </a:ext>
            </a:extLst>
          </p:cNvPr>
          <p:cNvSpPr>
            <a:spLocks noGrp="1" noChangeArrowheads="1"/>
          </p:cNvSpPr>
          <p:nvPr>
            <p:ph type="body" idx="1"/>
          </p:nvPr>
        </p:nvSpPr>
        <p:spPr>
          <a:xfrm>
            <a:off x="604673" y="1353597"/>
            <a:ext cx="8799513" cy="4114800"/>
          </a:xfrm>
        </p:spPr>
        <p:txBody>
          <a:bodyPr/>
          <a:lstStyle/>
          <a:p>
            <a:pPr eaLnBrk="1" hangingPunct="1">
              <a:lnSpc>
                <a:spcPct val="80000"/>
              </a:lnSpc>
              <a:spcBef>
                <a:spcPct val="50000"/>
              </a:spcBef>
              <a:buFont typeface="Wingdings" panose="05000000000000000000" pitchFamily="2" charset="2"/>
              <a:buNone/>
            </a:pPr>
            <a:r>
              <a:rPr lang="zh-CN" altLang="en-US" sz="2800" dirty="0">
                <a:latin typeface="黑体" panose="02010609060101010101" pitchFamily="49" charset="-122"/>
                <a:ea typeface="黑体" panose="02010609060101010101" pitchFamily="49" charset="-122"/>
              </a:rPr>
              <a:t>若森林非空，则</a:t>
            </a:r>
          </a:p>
          <a:p>
            <a:pPr eaLnBrk="1" hangingPunct="1">
              <a:lnSpc>
                <a:spcPct val="125000"/>
              </a:lnSpc>
            </a:pPr>
            <a:r>
              <a:rPr lang="zh-CN" altLang="en-US" sz="2800" dirty="0">
                <a:latin typeface="黑体" panose="02010609060101010101" pitchFamily="49" charset="-122"/>
                <a:ea typeface="黑体" panose="02010609060101010101" pitchFamily="49" charset="-122"/>
              </a:rPr>
              <a:t>访问森林中第一棵树的根结点；</a:t>
            </a:r>
          </a:p>
          <a:p>
            <a:pPr eaLnBrk="1" hangingPunct="1">
              <a:lnSpc>
                <a:spcPct val="125000"/>
              </a:lnSpc>
            </a:pPr>
            <a:r>
              <a:rPr lang="zh-CN" altLang="en-US" sz="2800" dirty="0">
                <a:latin typeface="黑体" panose="02010609060101010101" pitchFamily="49" charset="-122"/>
                <a:ea typeface="黑体" panose="02010609060101010101" pitchFamily="49" charset="-122"/>
              </a:rPr>
              <a:t>先序遍历森林中第一棵树的子树森林；</a:t>
            </a:r>
          </a:p>
          <a:p>
            <a:pPr eaLnBrk="1" hangingPunct="1">
              <a:lnSpc>
                <a:spcPct val="125000"/>
              </a:lnSpc>
            </a:pPr>
            <a:r>
              <a:rPr lang="zh-CN" altLang="en-US" sz="2800" dirty="0">
                <a:latin typeface="黑体" panose="02010609060101010101" pitchFamily="49" charset="-122"/>
                <a:ea typeface="黑体" panose="02010609060101010101" pitchFamily="49" charset="-122"/>
              </a:rPr>
              <a:t>先序遍历森林中</a:t>
            </a:r>
            <a:r>
              <a:rPr lang="en-US" altLang="zh-CN" sz="2800" dirty="0">
                <a:latin typeface="黑体" panose="02010609060101010101" pitchFamily="49" charset="-122"/>
                <a:ea typeface="黑体" panose="02010609060101010101" pitchFamily="49" charset="-122"/>
              </a:rPr>
              <a:t>(</a:t>
            </a:r>
            <a:r>
              <a:rPr lang="zh-CN" altLang="en-US" sz="2800" dirty="0">
                <a:latin typeface="黑体" panose="02010609060101010101" pitchFamily="49" charset="-122"/>
                <a:ea typeface="黑体" panose="02010609060101010101" pitchFamily="49" charset="-122"/>
              </a:rPr>
              <a:t>除第一棵树之外</a:t>
            </a:r>
            <a:r>
              <a:rPr lang="en-US" altLang="zh-CN" sz="2800" dirty="0">
                <a:latin typeface="黑体" panose="02010609060101010101" pitchFamily="49" charset="-122"/>
                <a:ea typeface="黑体" panose="02010609060101010101" pitchFamily="49" charset="-122"/>
              </a:rPr>
              <a:t>)</a:t>
            </a:r>
            <a:r>
              <a:rPr lang="zh-CN" altLang="en-US" sz="2800" dirty="0">
                <a:latin typeface="黑体" panose="02010609060101010101" pitchFamily="49" charset="-122"/>
                <a:ea typeface="黑体" panose="02010609060101010101" pitchFamily="49" charset="-122"/>
              </a:rPr>
              <a:t>其余树构成的森林。</a:t>
            </a:r>
            <a:endParaRPr lang="en-US" altLang="zh-CN" sz="2800" dirty="0">
              <a:latin typeface="黑体" panose="02010609060101010101" pitchFamily="49" charset="-122"/>
              <a:ea typeface="黑体" panose="02010609060101010101" pitchFamily="49" charset="-122"/>
            </a:endParaRPr>
          </a:p>
        </p:txBody>
      </p:sp>
      <p:sp>
        <p:nvSpPr>
          <p:cNvPr id="83975" name="Text Box 7">
            <a:extLst>
              <a:ext uri="{FF2B5EF4-FFF2-40B4-BE49-F238E27FC236}">
                <a16:creationId xmlns:a16="http://schemas.microsoft.com/office/drawing/2014/main" id="{8EDD9C8D-C63D-40A8-8B6B-7E897E6A5199}"/>
              </a:ext>
            </a:extLst>
          </p:cNvPr>
          <p:cNvSpPr txBox="1">
            <a:spLocks noChangeArrowheads="1"/>
          </p:cNvSpPr>
          <p:nvPr/>
        </p:nvSpPr>
        <p:spPr bwMode="auto">
          <a:xfrm>
            <a:off x="683568" y="5135114"/>
            <a:ext cx="880241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0" i="0" dirty="0">
                <a:solidFill>
                  <a:srgbClr val="CC0066"/>
                </a:solidFill>
                <a:latin typeface="黑体" panose="02010609060101010101" pitchFamily="49" charset="-122"/>
                <a:ea typeface="黑体" panose="02010609060101010101" pitchFamily="49" charset="-122"/>
              </a:rPr>
              <a:t>即：依次从左至右对森林中的每一棵树进行先根遍历。</a:t>
            </a:r>
          </a:p>
        </p:txBody>
      </p:sp>
      <p:sp>
        <p:nvSpPr>
          <p:cNvPr id="2" name="Text Box 4">
            <a:extLst>
              <a:ext uri="{FF2B5EF4-FFF2-40B4-BE49-F238E27FC236}">
                <a16:creationId xmlns:a16="http://schemas.microsoft.com/office/drawing/2014/main" id="{A49F9A29-53F3-42FD-91FA-9D905DAEA80B}"/>
              </a:ext>
            </a:extLst>
          </p:cNvPr>
          <p:cNvSpPr txBox="1">
            <a:spLocks noChangeArrowheads="1"/>
          </p:cNvSpPr>
          <p:nvPr/>
        </p:nvSpPr>
        <p:spPr bwMode="auto">
          <a:xfrm>
            <a:off x="467544" y="225623"/>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森林的先序遍历</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397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397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397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397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39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5"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4994" name="Group 3">
            <a:extLst>
              <a:ext uri="{FF2B5EF4-FFF2-40B4-BE49-F238E27FC236}">
                <a16:creationId xmlns:a16="http://schemas.microsoft.com/office/drawing/2014/main" id="{3C7D2F69-353C-4570-9611-D67A8FBE8026}"/>
              </a:ext>
            </a:extLst>
          </p:cNvPr>
          <p:cNvGrpSpPr>
            <a:grpSpLocks/>
          </p:cNvGrpSpPr>
          <p:nvPr/>
        </p:nvGrpSpPr>
        <p:grpSpPr bwMode="auto">
          <a:xfrm>
            <a:off x="683568" y="1844824"/>
            <a:ext cx="4032250" cy="2579663"/>
            <a:chOff x="0" y="56"/>
            <a:chExt cx="2112" cy="1260"/>
          </a:xfrm>
        </p:grpSpPr>
        <p:sp>
          <p:nvSpPr>
            <p:cNvPr id="85000" name="Line 4">
              <a:extLst>
                <a:ext uri="{FF2B5EF4-FFF2-40B4-BE49-F238E27FC236}">
                  <a16:creationId xmlns:a16="http://schemas.microsoft.com/office/drawing/2014/main" id="{6955AF4B-4765-4CED-A6B5-9608D1C0439A}"/>
                </a:ext>
              </a:extLst>
            </p:cNvPr>
            <p:cNvSpPr>
              <a:spLocks noChangeShapeType="1"/>
            </p:cNvSpPr>
            <p:nvPr/>
          </p:nvSpPr>
          <p:spPr bwMode="auto">
            <a:xfrm>
              <a:off x="1824" y="308"/>
              <a:ext cx="144" cy="336"/>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85001" name="Line 5">
              <a:extLst>
                <a:ext uri="{FF2B5EF4-FFF2-40B4-BE49-F238E27FC236}">
                  <a16:creationId xmlns:a16="http://schemas.microsoft.com/office/drawing/2014/main" id="{0C5A8D2D-464F-4F45-87A9-5788E6D578A9}"/>
                </a:ext>
              </a:extLst>
            </p:cNvPr>
            <p:cNvSpPr>
              <a:spLocks noChangeShapeType="1"/>
            </p:cNvSpPr>
            <p:nvPr/>
          </p:nvSpPr>
          <p:spPr bwMode="auto">
            <a:xfrm flipH="1">
              <a:off x="1584" y="308"/>
              <a:ext cx="144" cy="336"/>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85002" name="Line 6">
              <a:extLst>
                <a:ext uri="{FF2B5EF4-FFF2-40B4-BE49-F238E27FC236}">
                  <a16:creationId xmlns:a16="http://schemas.microsoft.com/office/drawing/2014/main" id="{EBF1CCDA-6663-4F0F-AF85-342C106FA69B}"/>
                </a:ext>
              </a:extLst>
            </p:cNvPr>
            <p:cNvSpPr>
              <a:spLocks noChangeShapeType="1"/>
            </p:cNvSpPr>
            <p:nvPr/>
          </p:nvSpPr>
          <p:spPr bwMode="auto">
            <a:xfrm>
              <a:off x="528" y="308"/>
              <a:ext cx="240" cy="288"/>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85003" name="Line 7">
              <a:extLst>
                <a:ext uri="{FF2B5EF4-FFF2-40B4-BE49-F238E27FC236}">
                  <a16:creationId xmlns:a16="http://schemas.microsoft.com/office/drawing/2014/main" id="{26226B9B-FDA4-4334-BC17-4071C4C0D1EB}"/>
                </a:ext>
              </a:extLst>
            </p:cNvPr>
            <p:cNvSpPr>
              <a:spLocks noChangeShapeType="1"/>
            </p:cNvSpPr>
            <p:nvPr/>
          </p:nvSpPr>
          <p:spPr bwMode="auto">
            <a:xfrm flipH="1">
              <a:off x="192" y="308"/>
              <a:ext cx="240" cy="288"/>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85004" name="Line 8">
              <a:extLst>
                <a:ext uri="{FF2B5EF4-FFF2-40B4-BE49-F238E27FC236}">
                  <a16:creationId xmlns:a16="http://schemas.microsoft.com/office/drawing/2014/main" id="{C305E42C-45F5-4164-8D02-584A35550633}"/>
                </a:ext>
              </a:extLst>
            </p:cNvPr>
            <p:cNvSpPr>
              <a:spLocks noChangeShapeType="1"/>
            </p:cNvSpPr>
            <p:nvPr/>
          </p:nvSpPr>
          <p:spPr bwMode="auto">
            <a:xfrm>
              <a:off x="1584" y="788"/>
              <a:ext cx="0" cy="288"/>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85005" name="Line 9">
              <a:extLst>
                <a:ext uri="{FF2B5EF4-FFF2-40B4-BE49-F238E27FC236}">
                  <a16:creationId xmlns:a16="http://schemas.microsoft.com/office/drawing/2014/main" id="{9C245A1A-99B2-47C2-8976-EE2416C6C3CD}"/>
                </a:ext>
              </a:extLst>
            </p:cNvPr>
            <p:cNvSpPr>
              <a:spLocks noChangeShapeType="1"/>
            </p:cNvSpPr>
            <p:nvPr/>
          </p:nvSpPr>
          <p:spPr bwMode="auto">
            <a:xfrm>
              <a:off x="816" y="788"/>
              <a:ext cx="0" cy="288"/>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85006" name="Line 10">
              <a:extLst>
                <a:ext uri="{FF2B5EF4-FFF2-40B4-BE49-F238E27FC236}">
                  <a16:creationId xmlns:a16="http://schemas.microsoft.com/office/drawing/2014/main" id="{0564DAD9-8680-4D7A-82AA-27D1C6C82037}"/>
                </a:ext>
              </a:extLst>
            </p:cNvPr>
            <p:cNvSpPr>
              <a:spLocks noChangeShapeType="1"/>
            </p:cNvSpPr>
            <p:nvPr/>
          </p:nvSpPr>
          <p:spPr bwMode="auto">
            <a:xfrm>
              <a:off x="1200" y="308"/>
              <a:ext cx="0" cy="288"/>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85007" name="Line 11">
              <a:extLst>
                <a:ext uri="{FF2B5EF4-FFF2-40B4-BE49-F238E27FC236}">
                  <a16:creationId xmlns:a16="http://schemas.microsoft.com/office/drawing/2014/main" id="{7EF614D9-D11C-46CE-BA9D-3227BDC6C5D2}"/>
                </a:ext>
              </a:extLst>
            </p:cNvPr>
            <p:cNvSpPr>
              <a:spLocks noChangeShapeType="1"/>
            </p:cNvSpPr>
            <p:nvPr/>
          </p:nvSpPr>
          <p:spPr bwMode="auto">
            <a:xfrm>
              <a:off x="480" y="308"/>
              <a:ext cx="0" cy="288"/>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85008" name="Oval 12">
              <a:extLst>
                <a:ext uri="{FF2B5EF4-FFF2-40B4-BE49-F238E27FC236}">
                  <a16:creationId xmlns:a16="http://schemas.microsoft.com/office/drawing/2014/main" id="{7091B5B1-41B2-4428-AAA1-D218E47941F3}"/>
                </a:ext>
              </a:extLst>
            </p:cNvPr>
            <p:cNvSpPr>
              <a:spLocks noChangeArrowheads="1"/>
            </p:cNvSpPr>
            <p:nvPr/>
          </p:nvSpPr>
          <p:spPr bwMode="auto">
            <a:xfrm>
              <a:off x="0" y="548"/>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85009" name="Oval 13">
              <a:extLst>
                <a:ext uri="{FF2B5EF4-FFF2-40B4-BE49-F238E27FC236}">
                  <a16:creationId xmlns:a16="http://schemas.microsoft.com/office/drawing/2014/main" id="{3EF29ED8-A29C-47AA-B273-4E9B4587133A}"/>
                </a:ext>
              </a:extLst>
            </p:cNvPr>
            <p:cNvSpPr>
              <a:spLocks noChangeArrowheads="1"/>
            </p:cNvSpPr>
            <p:nvPr/>
          </p:nvSpPr>
          <p:spPr bwMode="auto">
            <a:xfrm>
              <a:off x="336" y="548"/>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85010" name="Oval 14">
              <a:extLst>
                <a:ext uri="{FF2B5EF4-FFF2-40B4-BE49-F238E27FC236}">
                  <a16:creationId xmlns:a16="http://schemas.microsoft.com/office/drawing/2014/main" id="{CDAEB970-4154-4A31-96C9-B21CF537AE5A}"/>
                </a:ext>
              </a:extLst>
            </p:cNvPr>
            <p:cNvSpPr>
              <a:spLocks noChangeArrowheads="1"/>
            </p:cNvSpPr>
            <p:nvPr/>
          </p:nvSpPr>
          <p:spPr bwMode="auto">
            <a:xfrm>
              <a:off x="672" y="548"/>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85011" name="Oval 15">
              <a:extLst>
                <a:ext uri="{FF2B5EF4-FFF2-40B4-BE49-F238E27FC236}">
                  <a16:creationId xmlns:a16="http://schemas.microsoft.com/office/drawing/2014/main" id="{12DA7B83-74A9-49D9-BE59-A9708336E1CE}"/>
                </a:ext>
              </a:extLst>
            </p:cNvPr>
            <p:cNvSpPr>
              <a:spLocks noChangeArrowheads="1"/>
            </p:cNvSpPr>
            <p:nvPr/>
          </p:nvSpPr>
          <p:spPr bwMode="auto">
            <a:xfrm>
              <a:off x="1056" y="548"/>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85012" name="Oval 16">
              <a:extLst>
                <a:ext uri="{FF2B5EF4-FFF2-40B4-BE49-F238E27FC236}">
                  <a16:creationId xmlns:a16="http://schemas.microsoft.com/office/drawing/2014/main" id="{1614FD35-281C-4CC6-A9AD-D715B376DAED}"/>
                </a:ext>
              </a:extLst>
            </p:cNvPr>
            <p:cNvSpPr>
              <a:spLocks noChangeArrowheads="1"/>
            </p:cNvSpPr>
            <p:nvPr/>
          </p:nvSpPr>
          <p:spPr bwMode="auto">
            <a:xfrm>
              <a:off x="1440" y="548"/>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85013" name="Oval 17">
              <a:extLst>
                <a:ext uri="{FF2B5EF4-FFF2-40B4-BE49-F238E27FC236}">
                  <a16:creationId xmlns:a16="http://schemas.microsoft.com/office/drawing/2014/main" id="{9AF193F6-0A20-4294-AD4C-4BED0EE22EBB}"/>
                </a:ext>
              </a:extLst>
            </p:cNvPr>
            <p:cNvSpPr>
              <a:spLocks noChangeArrowheads="1"/>
            </p:cNvSpPr>
            <p:nvPr/>
          </p:nvSpPr>
          <p:spPr bwMode="auto">
            <a:xfrm>
              <a:off x="1824" y="548"/>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85014" name="Oval 18">
              <a:extLst>
                <a:ext uri="{FF2B5EF4-FFF2-40B4-BE49-F238E27FC236}">
                  <a16:creationId xmlns:a16="http://schemas.microsoft.com/office/drawing/2014/main" id="{106E5A2C-FFFB-4221-BC41-12979FF429B2}"/>
                </a:ext>
              </a:extLst>
            </p:cNvPr>
            <p:cNvSpPr>
              <a:spLocks noChangeArrowheads="1"/>
            </p:cNvSpPr>
            <p:nvPr/>
          </p:nvSpPr>
          <p:spPr bwMode="auto">
            <a:xfrm>
              <a:off x="672" y="1028"/>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85015" name="Oval 19">
              <a:extLst>
                <a:ext uri="{FF2B5EF4-FFF2-40B4-BE49-F238E27FC236}">
                  <a16:creationId xmlns:a16="http://schemas.microsoft.com/office/drawing/2014/main" id="{ADE6C298-6AA3-4527-8D3B-35A247EF884E}"/>
                </a:ext>
              </a:extLst>
            </p:cNvPr>
            <p:cNvSpPr>
              <a:spLocks noChangeArrowheads="1"/>
            </p:cNvSpPr>
            <p:nvPr/>
          </p:nvSpPr>
          <p:spPr bwMode="auto">
            <a:xfrm>
              <a:off x="1440" y="1028"/>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85016" name="Oval 20">
              <a:extLst>
                <a:ext uri="{FF2B5EF4-FFF2-40B4-BE49-F238E27FC236}">
                  <a16:creationId xmlns:a16="http://schemas.microsoft.com/office/drawing/2014/main" id="{1F71E55D-1611-41F9-91B6-E3FD3392E334}"/>
                </a:ext>
              </a:extLst>
            </p:cNvPr>
            <p:cNvSpPr>
              <a:spLocks noChangeArrowheads="1"/>
            </p:cNvSpPr>
            <p:nvPr/>
          </p:nvSpPr>
          <p:spPr bwMode="auto">
            <a:xfrm>
              <a:off x="336" y="68"/>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85017" name="Oval 21">
              <a:extLst>
                <a:ext uri="{FF2B5EF4-FFF2-40B4-BE49-F238E27FC236}">
                  <a16:creationId xmlns:a16="http://schemas.microsoft.com/office/drawing/2014/main" id="{F1737480-A4EA-42C0-818C-81457D353B54}"/>
                </a:ext>
              </a:extLst>
            </p:cNvPr>
            <p:cNvSpPr>
              <a:spLocks noChangeArrowheads="1"/>
            </p:cNvSpPr>
            <p:nvPr/>
          </p:nvSpPr>
          <p:spPr bwMode="auto">
            <a:xfrm>
              <a:off x="1056" y="68"/>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85018" name="Oval 22">
              <a:extLst>
                <a:ext uri="{FF2B5EF4-FFF2-40B4-BE49-F238E27FC236}">
                  <a16:creationId xmlns:a16="http://schemas.microsoft.com/office/drawing/2014/main" id="{9444E5DA-A81E-4D17-BCDA-8B182B908117}"/>
                </a:ext>
              </a:extLst>
            </p:cNvPr>
            <p:cNvSpPr>
              <a:spLocks noChangeArrowheads="1"/>
            </p:cNvSpPr>
            <p:nvPr/>
          </p:nvSpPr>
          <p:spPr bwMode="auto">
            <a:xfrm>
              <a:off x="1632" y="68"/>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85019" name="Text Box 23">
              <a:extLst>
                <a:ext uri="{FF2B5EF4-FFF2-40B4-BE49-F238E27FC236}">
                  <a16:creationId xmlns:a16="http://schemas.microsoft.com/office/drawing/2014/main" id="{2B8DBE67-907E-424C-9CD5-6797B3ACDE00}"/>
                </a:ext>
              </a:extLst>
            </p:cNvPr>
            <p:cNvSpPr txBox="1">
              <a:spLocks noChangeArrowheads="1"/>
            </p:cNvSpPr>
            <p:nvPr/>
          </p:nvSpPr>
          <p:spPr bwMode="auto">
            <a:xfrm>
              <a:off x="369" y="65"/>
              <a:ext cx="233" cy="2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CC3300"/>
                  </a:solidFill>
                  <a:latin typeface="Times New Roman" panose="02020603050405020304" pitchFamily="18" charset="0"/>
                </a:rPr>
                <a:t>A</a:t>
              </a:r>
              <a:endParaRPr lang="en-US" altLang="zh-CN" sz="2400" i="0">
                <a:latin typeface="Times New Roman" panose="02020603050405020304" pitchFamily="18" charset="0"/>
              </a:endParaRPr>
            </a:p>
          </p:txBody>
        </p:sp>
        <p:sp>
          <p:nvSpPr>
            <p:cNvPr id="85020" name="Text Box 24">
              <a:extLst>
                <a:ext uri="{FF2B5EF4-FFF2-40B4-BE49-F238E27FC236}">
                  <a16:creationId xmlns:a16="http://schemas.microsoft.com/office/drawing/2014/main" id="{21B9FB77-94A7-48F1-9ADB-BBA2131347C5}"/>
                </a:ext>
              </a:extLst>
            </p:cNvPr>
            <p:cNvSpPr txBox="1">
              <a:spLocks noChangeArrowheads="1"/>
            </p:cNvSpPr>
            <p:nvPr/>
          </p:nvSpPr>
          <p:spPr bwMode="auto">
            <a:xfrm>
              <a:off x="1112" y="56"/>
              <a:ext cx="212" cy="2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CC3300"/>
                  </a:solidFill>
                  <a:latin typeface="Times New Roman" panose="02020603050405020304" pitchFamily="18" charset="0"/>
                </a:rPr>
                <a:t>F</a:t>
              </a:r>
              <a:endParaRPr lang="en-US" altLang="zh-CN" sz="2400" i="0">
                <a:latin typeface="Times New Roman" panose="02020603050405020304" pitchFamily="18" charset="0"/>
              </a:endParaRPr>
            </a:p>
          </p:txBody>
        </p:sp>
        <p:sp>
          <p:nvSpPr>
            <p:cNvPr id="85021" name="Text Box 25">
              <a:extLst>
                <a:ext uri="{FF2B5EF4-FFF2-40B4-BE49-F238E27FC236}">
                  <a16:creationId xmlns:a16="http://schemas.microsoft.com/office/drawing/2014/main" id="{056E19DD-7011-414A-821D-B108B16E07C4}"/>
                </a:ext>
              </a:extLst>
            </p:cNvPr>
            <p:cNvSpPr txBox="1">
              <a:spLocks noChangeArrowheads="1"/>
            </p:cNvSpPr>
            <p:nvPr/>
          </p:nvSpPr>
          <p:spPr bwMode="auto">
            <a:xfrm>
              <a:off x="1660" y="56"/>
              <a:ext cx="243" cy="2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CC3300"/>
                  </a:solidFill>
                  <a:latin typeface="Times New Roman" panose="02020603050405020304" pitchFamily="18" charset="0"/>
                </a:rPr>
                <a:t>H</a:t>
              </a:r>
              <a:endParaRPr lang="en-US" altLang="zh-CN" sz="2400" i="0">
                <a:latin typeface="Times New Roman" panose="02020603050405020304" pitchFamily="18" charset="0"/>
              </a:endParaRPr>
            </a:p>
          </p:txBody>
        </p:sp>
        <p:sp>
          <p:nvSpPr>
            <p:cNvPr id="85022" name="Text Box 26">
              <a:extLst>
                <a:ext uri="{FF2B5EF4-FFF2-40B4-BE49-F238E27FC236}">
                  <a16:creationId xmlns:a16="http://schemas.microsoft.com/office/drawing/2014/main" id="{5A20F53A-CC66-4081-9D25-9AF2CF18E4F9}"/>
                </a:ext>
              </a:extLst>
            </p:cNvPr>
            <p:cNvSpPr txBox="1">
              <a:spLocks noChangeArrowheads="1"/>
            </p:cNvSpPr>
            <p:nvPr/>
          </p:nvSpPr>
          <p:spPr bwMode="auto">
            <a:xfrm>
              <a:off x="38" y="545"/>
              <a:ext cx="222" cy="2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CC3300"/>
                  </a:solidFill>
                  <a:latin typeface="Times New Roman" panose="02020603050405020304" pitchFamily="18" charset="0"/>
                </a:rPr>
                <a:t>B</a:t>
              </a:r>
              <a:endParaRPr lang="en-US" altLang="zh-CN" sz="2400" i="0">
                <a:latin typeface="Times New Roman" panose="02020603050405020304" pitchFamily="18" charset="0"/>
              </a:endParaRPr>
            </a:p>
          </p:txBody>
        </p:sp>
        <p:sp>
          <p:nvSpPr>
            <p:cNvPr id="85023" name="Text Box 27">
              <a:extLst>
                <a:ext uri="{FF2B5EF4-FFF2-40B4-BE49-F238E27FC236}">
                  <a16:creationId xmlns:a16="http://schemas.microsoft.com/office/drawing/2014/main" id="{565F5902-F565-4B45-AE39-9716D5001AC0}"/>
                </a:ext>
              </a:extLst>
            </p:cNvPr>
            <p:cNvSpPr txBox="1">
              <a:spLocks noChangeArrowheads="1"/>
            </p:cNvSpPr>
            <p:nvPr/>
          </p:nvSpPr>
          <p:spPr bwMode="auto">
            <a:xfrm>
              <a:off x="369" y="545"/>
              <a:ext cx="233" cy="2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CC3300"/>
                  </a:solidFill>
                  <a:latin typeface="Times New Roman" panose="02020603050405020304" pitchFamily="18" charset="0"/>
                </a:rPr>
                <a:t>C</a:t>
              </a:r>
              <a:endParaRPr lang="en-US" altLang="zh-CN" sz="2400" i="0">
                <a:latin typeface="Times New Roman" panose="02020603050405020304" pitchFamily="18" charset="0"/>
              </a:endParaRPr>
            </a:p>
          </p:txBody>
        </p:sp>
        <p:sp>
          <p:nvSpPr>
            <p:cNvPr id="85024" name="Text Box 28">
              <a:extLst>
                <a:ext uri="{FF2B5EF4-FFF2-40B4-BE49-F238E27FC236}">
                  <a16:creationId xmlns:a16="http://schemas.microsoft.com/office/drawing/2014/main" id="{F69A4572-3008-4AAC-AFC0-9DFDDE628CE4}"/>
                </a:ext>
              </a:extLst>
            </p:cNvPr>
            <p:cNvSpPr txBox="1">
              <a:spLocks noChangeArrowheads="1"/>
            </p:cNvSpPr>
            <p:nvPr/>
          </p:nvSpPr>
          <p:spPr bwMode="auto">
            <a:xfrm>
              <a:off x="706" y="545"/>
              <a:ext cx="233" cy="2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CC3300"/>
                  </a:solidFill>
                  <a:latin typeface="Times New Roman" panose="02020603050405020304" pitchFamily="18" charset="0"/>
                </a:rPr>
                <a:t>D</a:t>
              </a:r>
              <a:endParaRPr lang="en-US" altLang="zh-CN" sz="2400" i="0">
                <a:latin typeface="Times New Roman" panose="02020603050405020304" pitchFamily="18" charset="0"/>
              </a:endParaRPr>
            </a:p>
          </p:txBody>
        </p:sp>
        <p:sp>
          <p:nvSpPr>
            <p:cNvPr id="85025" name="Text Box 29">
              <a:extLst>
                <a:ext uri="{FF2B5EF4-FFF2-40B4-BE49-F238E27FC236}">
                  <a16:creationId xmlns:a16="http://schemas.microsoft.com/office/drawing/2014/main" id="{5F76BC70-8A1F-4927-AB51-C6F7B4318D73}"/>
                </a:ext>
              </a:extLst>
            </p:cNvPr>
            <p:cNvSpPr txBox="1">
              <a:spLocks noChangeArrowheads="1"/>
            </p:cNvSpPr>
            <p:nvPr/>
          </p:nvSpPr>
          <p:spPr bwMode="auto">
            <a:xfrm>
              <a:off x="1084" y="545"/>
              <a:ext cx="243" cy="2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CC3300"/>
                  </a:solidFill>
                  <a:latin typeface="Times New Roman" panose="02020603050405020304" pitchFamily="18" charset="0"/>
                </a:rPr>
                <a:t>G</a:t>
              </a:r>
              <a:endParaRPr lang="en-US" altLang="zh-CN" sz="2400" i="0">
                <a:latin typeface="Times New Roman" panose="02020603050405020304" pitchFamily="18" charset="0"/>
              </a:endParaRPr>
            </a:p>
          </p:txBody>
        </p:sp>
        <p:sp>
          <p:nvSpPr>
            <p:cNvPr id="85026" name="Text Box 30">
              <a:extLst>
                <a:ext uri="{FF2B5EF4-FFF2-40B4-BE49-F238E27FC236}">
                  <a16:creationId xmlns:a16="http://schemas.microsoft.com/office/drawing/2014/main" id="{4C0DFC55-84FB-4F0D-9F53-27DB6FEA084A}"/>
                </a:ext>
              </a:extLst>
            </p:cNvPr>
            <p:cNvSpPr txBox="1">
              <a:spLocks noChangeArrowheads="1"/>
            </p:cNvSpPr>
            <p:nvPr/>
          </p:nvSpPr>
          <p:spPr bwMode="auto">
            <a:xfrm>
              <a:off x="1504" y="545"/>
              <a:ext cx="170" cy="2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CC3300"/>
                  </a:solidFill>
                  <a:latin typeface="Times New Roman" panose="02020603050405020304" pitchFamily="18" charset="0"/>
                </a:rPr>
                <a:t>I</a:t>
              </a:r>
              <a:endParaRPr lang="en-US" altLang="zh-CN" sz="2400" i="0">
                <a:latin typeface="Times New Roman" panose="02020603050405020304" pitchFamily="18" charset="0"/>
              </a:endParaRPr>
            </a:p>
          </p:txBody>
        </p:sp>
        <p:sp>
          <p:nvSpPr>
            <p:cNvPr id="85027" name="Text Box 31">
              <a:extLst>
                <a:ext uri="{FF2B5EF4-FFF2-40B4-BE49-F238E27FC236}">
                  <a16:creationId xmlns:a16="http://schemas.microsoft.com/office/drawing/2014/main" id="{3736DE19-6A6A-41F9-82D0-FAFD35B8EF76}"/>
                </a:ext>
              </a:extLst>
            </p:cNvPr>
            <p:cNvSpPr txBox="1">
              <a:spLocks noChangeArrowheads="1"/>
            </p:cNvSpPr>
            <p:nvPr/>
          </p:nvSpPr>
          <p:spPr bwMode="auto">
            <a:xfrm>
              <a:off x="1878" y="545"/>
              <a:ext cx="191" cy="2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CC3300"/>
                  </a:solidFill>
                  <a:latin typeface="Times New Roman" panose="02020603050405020304" pitchFamily="18" charset="0"/>
                </a:rPr>
                <a:t>J</a:t>
              </a:r>
              <a:endParaRPr lang="en-US" altLang="zh-CN" sz="2400" i="0">
                <a:latin typeface="Times New Roman" panose="02020603050405020304" pitchFamily="18" charset="0"/>
              </a:endParaRPr>
            </a:p>
          </p:txBody>
        </p:sp>
        <p:sp>
          <p:nvSpPr>
            <p:cNvPr id="85028" name="Text Box 32">
              <a:extLst>
                <a:ext uri="{FF2B5EF4-FFF2-40B4-BE49-F238E27FC236}">
                  <a16:creationId xmlns:a16="http://schemas.microsoft.com/office/drawing/2014/main" id="{9DE5D0AA-5B21-4FE7-A961-E940E6BA16DC}"/>
                </a:ext>
              </a:extLst>
            </p:cNvPr>
            <p:cNvSpPr txBox="1">
              <a:spLocks noChangeArrowheads="1"/>
            </p:cNvSpPr>
            <p:nvPr/>
          </p:nvSpPr>
          <p:spPr bwMode="auto">
            <a:xfrm>
              <a:off x="710" y="1024"/>
              <a:ext cx="222" cy="2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CC3300"/>
                  </a:solidFill>
                  <a:latin typeface="Times New Roman" panose="02020603050405020304" pitchFamily="18" charset="0"/>
                </a:rPr>
                <a:t>E</a:t>
              </a:r>
              <a:endParaRPr lang="en-US" altLang="zh-CN" sz="2400" i="0">
                <a:latin typeface="Times New Roman" panose="02020603050405020304" pitchFamily="18" charset="0"/>
              </a:endParaRPr>
            </a:p>
          </p:txBody>
        </p:sp>
        <p:sp>
          <p:nvSpPr>
            <p:cNvPr id="85029" name="Text Box 33">
              <a:extLst>
                <a:ext uri="{FF2B5EF4-FFF2-40B4-BE49-F238E27FC236}">
                  <a16:creationId xmlns:a16="http://schemas.microsoft.com/office/drawing/2014/main" id="{DBE3D7FD-BA11-4CDB-A8A7-E43C4476703D}"/>
                </a:ext>
              </a:extLst>
            </p:cNvPr>
            <p:cNvSpPr txBox="1">
              <a:spLocks noChangeArrowheads="1"/>
            </p:cNvSpPr>
            <p:nvPr/>
          </p:nvSpPr>
          <p:spPr bwMode="auto">
            <a:xfrm>
              <a:off x="1468" y="1024"/>
              <a:ext cx="243" cy="2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CC3300"/>
                  </a:solidFill>
                  <a:latin typeface="Times New Roman" panose="02020603050405020304" pitchFamily="18" charset="0"/>
                </a:rPr>
                <a:t>K</a:t>
              </a:r>
              <a:endParaRPr lang="en-US" altLang="zh-CN" sz="2400" i="0">
                <a:latin typeface="Times New Roman" panose="02020603050405020304" pitchFamily="18" charset="0"/>
              </a:endParaRPr>
            </a:p>
          </p:txBody>
        </p:sp>
      </p:grpSp>
      <p:sp>
        <p:nvSpPr>
          <p:cNvPr id="67618" name="Text Box 34">
            <a:extLst>
              <a:ext uri="{FF2B5EF4-FFF2-40B4-BE49-F238E27FC236}">
                <a16:creationId xmlns:a16="http://schemas.microsoft.com/office/drawing/2014/main" id="{8E592BCC-C989-4C1E-814D-C21E1B777F0F}"/>
              </a:ext>
            </a:extLst>
          </p:cNvPr>
          <p:cNvSpPr txBox="1">
            <a:spLocks noChangeArrowheads="1"/>
          </p:cNvSpPr>
          <p:nvPr/>
        </p:nvSpPr>
        <p:spPr bwMode="auto">
          <a:xfrm>
            <a:off x="5448953" y="1812752"/>
            <a:ext cx="3010339" cy="551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zh-CN" altLang="en-US" sz="2800" b="0" i="0" dirty="0">
                <a:solidFill>
                  <a:srgbClr val="FF0000"/>
                </a:solidFill>
                <a:latin typeface="黑体" panose="02010609060101010101" pitchFamily="49" charset="-122"/>
                <a:ea typeface="黑体" panose="02010609060101010101" pitchFamily="49" charset="-122"/>
                <a:sym typeface="Arial" panose="020B0604020202020204" pitchFamily="34" charset="0"/>
              </a:rPr>
              <a:t>先序遍历：</a:t>
            </a:r>
            <a:endParaRPr lang="zh-CN" altLang="en-US" sz="2800" i="0" dirty="0">
              <a:solidFill>
                <a:srgbClr val="FF0000"/>
              </a:solidFill>
            </a:endParaRPr>
          </a:p>
        </p:txBody>
      </p:sp>
      <p:sp>
        <p:nvSpPr>
          <p:cNvPr id="3" name="Text Box 34">
            <a:extLst>
              <a:ext uri="{FF2B5EF4-FFF2-40B4-BE49-F238E27FC236}">
                <a16:creationId xmlns:a16="http://schemas.microsoft.com/office/drawing/2014/main" id="{6D956489-BC19-23B9-D7BE-49759E02D764}"/>
              </a:ext>
            </a:extLst>
          </p:cNvPr>
          <p:cNvSpPr txBox="1">
            <a:spLocks noChangeArrowheads="1"/>
          </p:cNvSpPr>
          <p:nvPr/>
        </p:nvSpPr>
        <p:spPr bwMode="auto">
          <a:xfrm>
            <a:off x="5492125" y="2428867"/>
            <a:ext cx="1397433" cy="551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en-US" altLang="zh-CN" sz="2800" b="0" i="0" dirty="0">
                <a:latin typeface="+mn-ea"/>
                <a:ea typeface="+mn-ea"/>
              </a:rPr>
              <a:t>ABCDE</a:t>
            </a:r>
            <a:endParaRPr lang="zh-CN" altLang="en-US" sz="2800" b="0" i="0" dirty="0">
              <a:latin typeface="+mn-ea"/>
              <a:ea typeface="+mn-ea"/>
            </a:endParaRPr>
          </a:p>
        </p:txBody>
      </p:sp>
      <p:sp>
        <p:nvSpPr>
          <p:cNvPr id="4" name="Text Box 34">
            <a:extLst>
              <a:ext uri="{FF2B5EF4-FFF2-40B4-BE49-F238E27FC236}">
                <a16:creationId xmlns:a16="http://schemas.microsoft.com/office/drawing/2014/main" id="{3EFF3084-12E7-6DC1-164B-7C7A19B75A58}"/>
              </a:ext>
            </a:extLst>
          </p:cNvPr>
          <p:cNvSpPr txBox="1">
            <a:spLocks noChangeArrowheads="1"/>
          </p:cNvSpPr>
          <p:nvPr/>
        </p:nvSpPr>
        <p:spPr bwMode="auto">
          <a:xfrm>
            <a:off x="6506595" y="2428866"/>
            <a:ext cx="718398" cy="551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en-US" altLang="zh-CN" sz="2800" i="0" dirty="0">
                <a:latin typeface="+mn-ea"/>
                <a:ea typeface="+mn-ea"/>
              </a:rPr>
              <a:t>FG</a:t>
            </a:r>
            <a:endParaRPr lang="zh-CN" altLang="en-US" sz="2800" i="0" dirty="0">
              <a:latin typeface="+mn-ea"/>
              <a:ea typeface="+mn-ea"/>
            </a:endParaRPr>
          </a:p>
        </p:txBody>
      </p:sp>
      <p:sp>
        <p:nvSpPr>
          <p:cNvPr id="5" name="Text Box 34">
            <a:extLst>
              <a:ext uri="{FF2B5EF4-FFF2-40B4-BE49-F238E27FC236}">
                <a16:creationId xmlns:a16="http://schemas.microsoft.com/office/drawing/2014/main" id="{9DB05FCA-8CA1-D16D-7E21-AF3C8E897F38}"/>
              </a:ext>
            </a:extLst>
          </p:cNvPr>
          <p:cNvSpPr txBox="1">
            <a:spLocks noChangeArrowheads="1"/>
          </p:cNvSpPr>
          <p:nvPr/>
        </p:nvSpPr>
        <p:spPr bwMode="auto">
          <a:xfrm>
            <a:off x="7061859" y="2398742"/>
            <a:ext cx="1397433" cy="551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en-US" altLang="zh-CN" sz="2800" b="0" i="0" dirty="0">
                <a:latin typeface="+mn-ea"/>
                <a:ea typeface="+mn-ea"/>
              </a:rPr>
              <a:t>HIKJ</a:t>
            </a:r>
            <a:endParaRPr lang="zh-CN" altLang="en-US" sz="2800" b="0" i="0" dirty="0">
              <a:latin typeface="+mn-ea"/>
              <a:ea typeface="+mn-ea"/>
            </a:endParaRPr>
          </a:p>
        </p:txBody>
      </p:sp>
      <p:sp>
        <p:nvSpPr>
          <p:cNvPr id="6" name="Text Box 4">
            <a:extLst>
              <a:ext uri="{FF2B5EF4-FFF2-40B4-BE49-F238E27FC236}">
                <a16:creationId xmlns:a16="http://schemas.microsoft.com/office/drawing/2014/main" id="{B2C34567-6713-FBBE-8BD7-AB83A442A278}"/>
              </a:ext>
            </a:extLst>
          </p:cNvPr>
          <p:cNvSpPr txBox="1">
            <a:spLocks noChangeArrowheads="1"/>
          </p:cNvSpPr>
          <p:nvPr/>
        </p:nvSpPr>
        <p:spPr bwMode="auto">
          <a:xfrm>
            <a:off x="467544" y="225623"/>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森林的先序遍历例</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7618"/>
                                        </p:tgtEl>
                                        <p:attrNameLst>
                                          <p:attrName>style.visibility</p:attrName>
                                        </p:attrNameLst>
                                      </p:cBhvr>
                                      <p:to>
                                        <p:strVal val="visible"/>
                                      </p:to>
                                    </p:set>
                                    <p:animEffect transition="in" filter="blinds(horizontal)">
                                      <p:cBhvr>
                                        <p:cTn id="7" dur="500"/>
                                        <p:tgtEl>
                                          <p:spTgt spid="6761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linds(horizontal)">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618" grpId="0" bldLvl="0" autoUpdateAnimBg="0"/>
      <p:bldP spid="3" grpId="0" bldLvl="0" autoUpdateAnimBg="0"/>
      <p:bldP spid="4" grpId="0" bldLvl="0" autoUpdateAnimBg="0"/>
      <p:bldP spid="5" grpId="0" bldLvl="0" autoUpdateAnimBg="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9" name="Text Box 3">
            <a:extLst>
              <a:ext uri="{FF2B5EF4-FFF2-40B4-BE49-F238E27FC236}">
                <a16:creationId xmlns:a16="http://schemas.microsoft.com/office/drawing/2014/main" id="{AFBB9D35-1628-475D-89B1-3E68B6DA06E1}"/>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B149D69F-10DD-47EE-B8D6-8FC3F0A8C64F}" type="slidenum">
              <a:rPr lang="zh-CN" altLang="en-US" sz="2400"/>
              <a:pPr algn="r" eaLnBrk="1" hangingPunct="1">
                <a:spcBef>
                  <a:spcPct val="50000"/>
                </a:spcBef>
                <a:buClrTx/>
                <a:buSzTx/>
                <a:buFont typeface="Arial" panose="020B0604020202020204" pitchFamily="34" charset="0"/>
                <a:buNone/>
              </a:pPr>
              <a:t>81</a:t>
            </a:fld>
            <a:endParaRPr lang="en-US" altLang="zh-CN" sz="2400"/>
          </a:p>
        </p:txBody>
      </p:sp>
      <p:sp>
        <p:nvSpPr>
          <p:cNvPr id="86021" name="Rectangle 5">
            <a:extLst>
              <a:ext uri="{FF2B5EF4-FFF2-40B4-BE49-F238E27FC236}">
                <a16:creationId xmlns:a16="http://schemas.microsoft.com/office/drawing/2014/main" id="{410774BD-CD53-4F2C-AC66-AEDE559E149D}"/>
              </a:ext>
            </a:extLst>
          </p:cNvPr>
          <p:cNvSpPr>
            <a:spLocks noGrp="1" noChangeArrowheads="1"/>
          </p:cNvSpPr>
          <p:nvPr>
            <p:ph type="body" idx="1"/>
          </p:nvPr>
        </p:nvSpPr>
        <p:spPr>
          <a:xfrm>
            <a:off x="574769" y="1371600"/>
            <a:ext cx="8799513" cy="4114800"/>
          </a:xfrm>
        </p:spPr>
        <p:txBody>
          <a:bodyPr/>
          <a:lstStyle/>
          <a:p>
            <a:pPr eaLnBrk="1" hangingPunct="1">
              <a:lnSpc>
                <a:spcPct val="90000"/>
              </a:lnSpc>
              <a:spcBef>
                <a:spcPct val="50000"/>
              </a:spcBef>
              <a:buFont typeface="Wingdings" panose="05000000000000000000" pitchFamily="2" charset="2"/>
              <a:buNone/>
            </a:pPr>
            <a:r>
              <a:rPr lang="zh-CN" altLang="en-US" sz="2800" dirty="0">
                <a:latin typeface="宋体" panose="02010600030101010101" pitchFamily="2" charset="-122"/>
              </a:rPr>
              <a:t>若森林不空，则</a:t>
            </a:r>
          </a:p>
          <a:p>
            <a:pPr eaLnBrk="1" hangingPunct="1">
              <a:lnSpc>
                <a:spcPct val="90000"/>
              </a:lnSpc>
              <a:spcBef>
                <a:spcPct val="50000"/>
              </a:spcBef>
            </a:pPr>
            <a:r>
              <a:rPr lang="zh-CN" altLang="en-US" sz="2800" dirty="0">
                <a:latin typeface="+mn-ea"/>
              </a:rPr>
              <a:t>中序遍历森林中第一棵树的子树森林；</a:t>
            </a:r>
          </a:p>
          <a:p>
            <a:pPr eaLnBrk="1" hangingPunct="1">
              <a:lnSpc>
                <a:spcPct val="125000"/>
              </a:lnSpc>
            </a:pPr>
            <a:r>
              <a:rPr lang="zh-CN" altLang="en-US" sz="2800" dirty="0">
                <a:latin typeface="+mn-ea"/>
              </a:rPr>
              <a:t>访问森林中第一棵树的根结点；</a:t>
            </a:r>
          </a:p>
          <a:p>
            <a:pPr eaLnBrk="1" hangingPunct="1">
              <a:lnSpc>
                <a:spcPct val="125000"/>
              </a:lnSpc>
            </a:pPr>
            <a:r>
              <a:rPr lang="zh-CN" altLang="en-US" sz="2800" dirty="0">
                <a:latin typeface="+mn-ea"/>
              </a:rPr>
              <a:t>中序遍历森林中</a:t>
            </a:r>
            <a:r>
              <a:rPr lang="en-US" altLang="zh-CN" sz="2800" dirty="0">
                <a:latin typeface="+mn-ea"/>
              </a:rPr>
              <a:t>(</a:t>
            </a:r>
            <a:r>
              <a:rPr lang="zh-CN" altLang="en-US" sz="2800" dirty="0">
                <a:latin typeface="+mn-ea"/>
              </a:rPr>
              <a:t>除第一棵树之外</a:t>
            </a:r>
            <a:r>
              <a:rPr lang="en-US" altLang="zh-CN" sz="2800" dirty="0">
                <a:latin typeface="+mn-ea"/>
              </a:rPr>
              <a:t>)</a:t>
            </a:r>
            <a:r>
              <a:rPr lang="zh-CN" altLang="en-US" sz="2800" dirty="0">
                <a:latin typeface="+mn-ea"/>
              </a:rPr>
              <a:t>其余树构成的森林。</a:t>
            </a:r>
          </a:p>
        </p:txBody>
      </p:sp>
      <p:sp>
        <p:nvSpPr>
          <p:cNvPr id="86023" name="Text Box 7">
            <a:extLst>
              <a:ext uri="{FF2B5EF4-FFF2-40B4-BE49-F238E27FC236}">
                <a16:creationId xmlns:a16="http://schemas.microsoft.com/office/drawing/2014/main" id="{83DD2654-C56B-4A9C-A80F-7DB3F8A3DE3F}"/>
              </a:ext>
            </a:extLst>
          </p:cNvPr>
          <p:cNvSpPr txBox="1">
            <a:spLocks noChangeArrowheads="1"/>
          </p:cNvSpPr>
          <p:nvPr/>
        </p:nvSpPr>
        <p:spPr bwMode="auto">
          <a:xfrm>
            <a:off x="533400" y="5380628"/>
            <a:ext cx="8840882" cy="89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0" i="0" dirty="0">
                <a:solidFill>
                  <a:srgbClr val="CC0066"/>
                </a:solidFill>
                <a:latin typeface="黑体" panose="02010609060101010101" pitchFamily="49" charset="-122"/>
                <a:ea typeface="黑体" panose="02010609060101010101" pitchFamily="49" charset="-122"/>
              </a:rPr>
              <a:t>即：依次从左至右对森林中的每一棵树进行后根遍历。</a:t>
            </a:r>
          </a:p>
          <a:p>
            <a:pPr eaLnBrk="1" hangingPunct="1">
              <a:spcBef>
                <a:spcPct val="0"/>
              </a:spcBef>
              <a:buClrTx/>
              <a:buSzTx/>
              <a:buFont typeface="Arial" panose="020B0604020202020204" pitchFamily="34" charset="0"/>
              <a:buNone/>
            </a:pPr>
            <a:endParaRPr lang="zh-CN" altLang="en-US" sz="2400" b="0" i="0" dirty="0">
              <a:latin typeface="黑体" panose="02010609060101010101" pitchFamily="49" charset="-122"/>
              <a:ea typeface="黑体" panose="02010609060101010101" pitchFamily="49" charset="-122"/>
            </a:endParaRPr>
          </a:p>
        </p:txBody>
      </p:sp>
      <p:sp>
        <p:nvSpPr>
          <p:cNvPr id="3" name="Text Box 4">
            <a:extLst>
              <a:ext uri="{FF2B5EF4-FFF2-40B4-BE49-F238E27FC236}">
                <a16:creationId xmlns:a16="http://schemas.microsoft.com/office/drawing/2014/main" id="{78CCB5D4-8659-9087-D36B-19D792BB3AB2}"/>
              </a:ext>
            </a:extLst>
          </p:cNvPr>
          <p:cNvSpPr txBox="1">
            <a:spLocks noChangeArrowheads="1"/>
          </p:cNvSpPr>
          <p:nvPr/>
        </p:nvSpPr>
        <p:spPr bwMode="auto">
          <a:xfrm>
            <a:off x="381000" y="200099"/>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森林的中序遍历</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602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602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602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6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23"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7043" name="Group 3">
            <a:extLst>
              <a:ext uri="{FF2B5EF4-FFF2-40B4-BE49-F238E27FC236}">
                <a16:creationId xmlns:a16="http://schemas.microsoft.com/office/drawing/2014/main" id="{CE021C83-D526-425D-8D6C-C7FC4923FB62}"/>
              </a:ext>
            </a:extLst>
          </p:cNvPr>
          <p:cNvGrpSpPr>
            <a:grpSpLocks/>
          </p:cNvGrpSpPr>
          <p:nvPr/>
        </p:nvGrpSpPr>
        <p:grpSpPr bwMode="auto">
          <a:xfrm>
            <a:off x="899592" y="1772816"/>
            <a:ext cx="4032250" cy="2579663"/>
            <a:chOff x="0" y="56"/>
            <a:chExt cx="2112" cy="1260"/>
          </a:xfrm>
        </p:grpSpPr>
        <p:sp>
          <p:nvSpPr>
            <p:cNvPr id="87049" name="Line 4">
              <a:extLst>
                <a:ext uri="{FF2B5EF4-FFF2-40B4-BE49-F238E27FC236}">
                  <a16:creationId xmlns:a16="http://schemas.microsoft.com/office/drawing/2014/main" id="{456FACB0-9434-46D4-85BD-CBE799E46FE5}"/>
                </a:ext>
              </a:extLst>
            </p:cNvPr>
            <p:cNvSpPr>
              <a:spLocks noChangeShapeType="1"/>
            </p:cNvSpPr>
            <p:nvPr/>
          </p:nvSpPr>
          <p:spPr bwMode="auto">
            <a:xfrm>
              <a:off x="1824" y="308"/>
              <a:ext cx="144" cy="336"/>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87050" name="Line 5">
              <a:extLst>
                <a:ext uri="{FF2B5EF4-FFF2-40B4-BE49-F238E27FC236}">
                  <a16:creationId xmlns:a16="http://schemas.microsoft.com/office/drawing/2014/main" id="{7403A346-0C80-416B-9E31-772F3DB94F5C}"/>
                </a:ext>
              </a:extLst>
            </p:cNvPr>
            <p:cNvSpPr>
              <a:spLocks noChangeShapeType="1"/>
            </p:cNvSpPr>
            <p:nvPr/>
          </p:nvSpPr>
          <p:spPr bwMode="auto">
            <a:xfrm flipH="1">
              <a:off x="1584" y="308"/>
              <a:ext cx="144" cy="336"/>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87051" name="Line 6">
              <a:extLst>
                <a:ext uri="{FF2B5EF4-FFF2-40B4-BE49-F238E27FC236}">
                  <a16:creationId xmlns:a16="http://schemas.microsoft.com/office/drawing/2014/main" id="{DA4A07BF-9EEC-43D2-A4C1-8CFBA1DCE322}"/>
                </a:ext>
              </a:extLst>
            </p:cNvPr>
            <p:cNvSpPr>
              <a:spLocks noChangeShapeType="1"/>
            </p:cNvSpPr>
            <p:nvPr/>
          </p:nvSpPr>
          <p:spPr bwMode="auto">
            <a:xfrm>
              <a:off x="528" y="308"/>
              <a:ext cx="240" cy="288"/>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87052" name="Line 7">
              <a:extLst>
                <a:ext uri="{FF2B5EF4-FFF2-40B4-BE49-F238E27FC236}">
                  <a16:creationId xmlns:a16="http://schemas.microsoft.com/office/drawing/2014/main" id="{94C47E7C-EC55-4E1C-BCA4-B50E273D650B}"/>
                </a:ext>
              </a:extLst>
            </p:cNvPr>
            <p:cNvSpPr>
              <a:spLocks noChangeShapeType="1"/>
            </p:cNvSpPr>
            <p:nvPr/>
          </p:nvSpPr>
          <p:spPr bwMode="auto">
            <a:xfrm flipH="1">
              <a:off x="192" y="308"/>
              <a:ext cx="240" cy="288"/>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87053" name="Line 8">
              <a:extLst>
                <a:ext uri="{FF2B5EF4-FFF2-40B4-BE49-F238E27FC236}">
                  <a16:creationId xmlns:a16="http://schemas.microsoft.com/office/drawing/2014/main" id="{F1EE86F2-C12A-444C-9651-A83840EA9C7A}"/>
                </a:ext>
              </a:extLst>
            </p:cNvPr>
            <p:cNvSpPr>
              <a:spLocks noChangeShapeType="1"/>
            </p:cNvSpPr>
            <p:nvPr/>
          </p:nvSpPr>
          <p:spPr bwMode="auto">
            <a:xfrm>
              <a:off x="1584" y="788"/>
              <a:ext cx="0" cy="288"/>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87054" name="Line 9">
              <a:extLst>
                <a:ext uri="{FF2B5EF4-FFF2-40B4-BE49-F238E27FC236}">
                  <a16:creationId xmlns:a16="http://schemas.microsoft.com/office/drawing/2014/main" id="{A0A33FDA-4C5B-4810-9175-BD87A2ECC659}"/>
                </a:ext>
              </a:extLst>
            </p:cNvPr>
            <p:cNvSpPr>
              <a:spLocks noChangeShapeType="1"/>
            </p:cNvSpPr>
            <p:nvPr/>
          </p:nvSpPr>
          <p:spPr bwMode="auto">
            <a:xfrm>
              <a:off x="816" y="788"/>
              <a:ext cx="0" cy="288"/>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87055" name="Line 10">
              <a:extLst>
                <a:ext uri="{FF2B5EF4-FFF2-40B4-BE49-F238E27FC236}">
                  <a16:creationId xmlns:a16="http://schemas.microsoft.com/office/drawing/2014/main" id="{9C7547BD-CA7A-4A16-A7B1-F8F17D5B4D5C}"/>
                </a:ext>
              </a:extLst>
            </p:cNvPr>
            <p:cNvSpPr>
              <a:spLocks noChangeShapeType="1"/>
            </p:cNvSpPr>
            <p:nvPr/>
          </p:nvSpPr>
          <p:spPr bwMode="auto">
            <a:xfrm>
              <a:off x="1200" y="308"/>
              <a:ext cx="0" cy="288"/>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87056" name="Line 11">
              <a:extLst>
                <a:ext uri="{FF2B5EF4-FFF2-40B4-BE49-F238E27FC236}">
                  <a16:creationId xmlns:a16="http://schemas.microsoft.com/office/drawing/2014/main" id="{32107D89-3D81-4221-A289-C1CD3E49BB69}"/>
                </a:ext>
              </a:extLst>
            </p:cNvPr>
            <p:cNvSpPr>
              <a:spLocks noChangeShapeType="1"/>
            </p:cNvSpPr>
            <p:nvPr/>
          </p:nvSpPr>
          <p:spPr bwMode="auto">
            <a:xfrm>
              <a:off x="480" y="308"/>
              <a:ext cx="0" cy="288"/>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87057" name="Oval 12">
              <a:extLst>
                <a:ext uri="{FF2B5EF4-FFF2-40B4-BE49-F238E27FC236}">
                  <a16:creationId xmlns:a16="http://schemas.microsoft.com/office/drawing/2014/main" id="{868C7CCD-0CDA-460F-9E74-6DC74CC4ADC0}"/>
                </a:ext>
              </a:extLst>
            </p:cNvPr>
            <p:cNvSpPr>
              <a:spLocks noChangeArrowheads="1"/>
            </p:cNvSpPr>
            <p:nvPr/>
          </p:nvSpPr>
          <p:spPr bwMode="auto">
            <a:xfrm>
              <a:off x="0" y="548"/>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87058" name="Oval 13">
              <a:extLst>
                <a:ext uri="{FF2B5EF4-FFF2-40B4-BE49-F238E27FC236}">
                  <a16:creationId xmlns:a16="http://schemas.microsoft.com/office/drawing/2014/main" id="{54958301-D5C2-4A14-BFB2-BE57652DB6B5}"/>
                </a:ext>
              </a:extLst>
            </p:cNvPr>
            <p:cNvSpPr>
              <a:spLocks noChangeArrowheads="1"/>
            </p:cNvSpPr>
            <p:nvPr/>
          </p:nvSpPr>
          <p:spPr bwMode="auto">
            <a:xfrm>
              <a:off x="336" y="548"/>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87059" name="Oval 14">
              <a:extLst>
                <a:ext uri="{FF2B5EF4-FFF2-40B4-BE49-F238E27FC236}">
                  <a16:creationId xmlns:a16="http://schemas.microsoft.com/office/drawing/2014/main" id="{6AE80AB8-576D-4FCE-AB25-5D7688A37E2A}"/>
                </a:ext>
              </a:extLst>
            </p:cNvPr>
            <p:cNvSpPr>
              <a:spLocks noChangeArrowheads="1"/>
            </p:cNvSpPr>
            <p:nvPr/>
          </p:nvSpPr>
          <p:spPr bwMode="auto">
            <a:xfrm>
              <a:off x="672" y="548"/>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87060" name="Oval 15">
              <a:extLst>
                <a:ext uri="{FF2B5EF4-FFF2-40B4-BE49-F238E27FC236}">
                  <a16:creationId xmlns:a16="http://schemas.microsoft.com/office/drawing/2014/main" id="{F5098B23-037F-42AC-905A-70E862E57E57}"/>
                </a:ext>
              </a:extLst>
            </p:cNvPr>
            <p:cNvSpPr>
              <a:spLocks noChangeArrowheads="1"/>
            </p:cNvSpPr>
            <p:nvPr/>
          </p:nvSpPr>
          <p:spPr bwMode="auto">
            <a:xfrm>
              <a:off x="1056" y="548"/>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87061" name="Oval 16">
              <a:extLst>
                <a:ext uri="{FF2B5EF4-FFF2-40B4-BE49-F238E27FC236}">
                  <a16:creationId xmlns:a16="http://schemas.microsoft.com/office/drawing/2014/main" id="{71973942-C263-49AF-AFD3-F8DD738B1854}"/>
                </a:ext>
              </a:extLst>
            </p:cNvPr>
            <p:cNvSpPr>
              <a:spLocks noChangeArrowheads="1"/>
            </p:cNvSpPr>
            <p:nvPr/>
          </p:nvSpPr>
          <p:spPr bwMode="auto">
            <a:xfrm>
              <a:off x="1440" y="548"/>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87062" name="Oval 17">
              <a:extLst>
                <a:ext uri="{FF2B5EF4-FFF2-40B4-BE49-F238E27FC236}">
                  <a16:creationId xmlns:a16="http://schemas.microsoft.com/office/drawing/2014/main" id="{A0E409F8-BB1E-4596-9F5A-EDAC82E3686C}"/>
                </a:ext>
              </a:extLst>
            </p:cNvPr>
            <p:cNvSpPr>
              <a:spLocks noChangeArrowheads="1"/>
            </p:cNvSpPr>
            <p:nvPr/>
          </p:nvSpPr>
          <p:spPr bwMode="auto">
            <a:xfrm>
              <a:off x="1824" y="548"/>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87063" name="Oval 18">
              <a:extLst>
                <a:ext uri="{FF2B5EF4-FFF2-40B4-BE49-F238E27FC236}">
                  <a16:creationId xmlns:a16="http://schemas.microsoft.com/office/drawing/2014/main" id="{38038CDA-3456-42ED-9556-CB739B3E9528}"/>
                </a:ext>
              </a:extLst>
            </p:cNvPr>
            <p:cNvSpPr>
              <a:spLocks noChangeArrowheads="1"/>
            </p:cNvSpPr>
            <p:nvPr/>
          </p:nvSpPr>
          <p:spPr bwMode="auto">
            <a:xfrm>
              <a:off x="672" y="1028"/>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87064" name="Oval 19">
              <a:extLst>
                <a:ext uri="{FF2B5EF4-FFF2-40B4-BE49-F238E27FC236}">
                  <a16:creationId xmlns:a16="http://schemas.microsoft.com/office/drawing/2014/main" id="{40252F9F-4086-4C9C-A550-25BB4D743438}"/>
                </a:ext>
              </a:extLst>
            </p:cNvPr>
            <p:cNvSpPr>
              <a:spLocks noChangeArrowheads="1"/>
            </p:cNvSpPr>
            <p:nvPr/>
          </p:nvSpPr>
          <p:spPr bwMode="auto">
            <a:xfrm>
              <a:off x="1440" y="1028"/>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87065" name="Oval 20">
              <a:extLst>
                <a:ext uri="{FF2B5EF4-FFF2-40B4-BE49-F238E27FC236}">
                  <a16:creationId xmlns:a16="http://schemas.microsoft.com/office/drawing/2014/main" id="{DA5875F2-BCFB-4F95-B49B-D9355CC211B8}"/>
                </a:ext>
              </a:extLst>
            </p:cNvPr>
            <p:cNvSpPr>
              <a:spLocks noChangeArrowheads="1"/>
            </p:cNvSpPr>
            <p:nvPr/>
          </p:nvSpPr>
          <p:spPr bwMode="auto">
            <a:xfrm>
              <a:off x="336" y="68"/>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87066" name="Oval 21">
              <a:extLst>
                <a:ext uri="{FF2B5EF4-FFF2-40B4-BE49-F238E27FC236}">
                  <a16:creationId xmlns:a16="http://schemas.microsoft.com/office/drawing/2014/main" id="{555546B9-E1F7-48F9-9278-2C10FAFF9F02}"/>
                </a:ext>
              </a:extLst>
            </p:cNvPr>
            <p:cNvSpPr>
              <a:spLocks noChangeArrowheads="1"/>
            </p:cNvSpPr>
            <p:nvPr/>
          </p:nvSpPr>
          <p:spPr bwMode="auto">
            <a:xfrm>
              <a:off x="1056" y="68"/>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87067" name="Oval 22">
              <a:extLst>
                <a:ext uri="{FF2B5EF4-FFF2-40B4-BE49-F238E27FC236}">
                  <a16:creationId xmlns:a16="http://schemas.microsoft.com/office/drawing/2014/main" id="{E2EDD11C-A89E-4626-930F-E3E0505F37B3}"/>
                </a:ext>
              </a:extLst>
            </p:cNvPr>
            <p:cNvSpPr>
              <a:spLocks noChangeArrowheads="1"/>
            </p:cNvSpPr>
            <p:nvPr/>
          </p:nvSpPr>
          <p:spPr bwMode="auto">
            <a:xfrm>
              <a:off x="1632" y="68"/>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87068" name="Text Box 23">
              <a:extLst>
                <a:ext uri="{FF2B5EF4-FFF2-40B4-BE49-F238E27FC236}">
                  <a16:creationId xmlns:a16="http://schemas.microsoft.com/office/drawing/2014/main" id="{4C8FBE0E-8234-4D1D-ABAE-B8B270FF8D09}"/>
                </a:ext>
              </a:extLst>
            </p:cNvPr>
            <p:cNvSpPr txBox="1">
              <a:spLocks noChangeArrowheads="1"/>
            </p:cNvSpPr>
            <p:nvPr/>
          </p:nvSpPr>
          <p:spPr bwMode="auto">
            <a:xfrm>
              <a:off x="369" y="65"/>
              <a:ext cx="233" cy="2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rgbClr val="CC3300"/>
                  </a:solidFill>
                  <a:latin typeface="Times New Roman" panose="02020603050405020304" pitchFamily="18" charset="0"/>
                </a:rPr>
                <a:t>A</a:t>
              </a:r>
              <a:endParaRPr lang="en-US" altLang="zh-CN" sz="2400" i="0" dirty="0">
                <a:latin typeface="Times New Roman" panose="02020603050405020304" pitchFamily="18" charset="0"/>
              </a:endParaRPr>
            </a:p>
          </p:txBody>
        </p:sp>
        <p:sp>
          <p:nvSpPr>
            <p:cNvPr id="87069" name="Text Box 24">
              <a:extLst>
                <a:ext uri="{FF2B5EF4-FFF2-40B4-BE49-F238E27FC236}">
                  <a16:creationId xmlns:a16="http://schemas.microsoft.com/office/drawing/2014/main" id="{2D968F75-B028-44DC-9B8B-5FD36DBEC100}"/>
                </a:ext>
              </a:extLst>
            </p:cNvPr>
            <p:cNvSpPr txBox="1">
              <a:spLocks noChangeArrowheads="1"/>
            </p:cNvSpPr>
            <p:nvPr/>
          </p:nvSpPr>
          <p:spPr bwMode="auto">
            <a:xfrm>
              <a:off x="1112" y="56"/>
              <a:ext cx="212" cy="2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CC3300"/>
                  </a:solidFill>
                  <a:latin typeface="Times New Roman" panose="02020603050405020304" pitchFamily="18" charset="0"/>
                </a:rPr>
                <a:t>F</a:t>
              </a:r>
              <a:endParaRPr lang="en-US" altLang="zh-CN" sz="2400" i="0">
                <a:latin typeface="Times New Roman" panose="02020603050405020304" pitchFamily="18" charset="0"/>
              </a:endParaRPr>
            </a:p>
          </p:txBody>
        </p:sp>
        <p:sp>
          <p:nvSpPr>
            <p:cNvPr id="87070" name="Text Box 25">
              <a:extLst>
                <a:ext uri="{FF2B5EF4-FFF2-40B4-BE49-F238E27FC236}">
                  <a16:creationId xmlns:a16="http://schemas.microsoft.com/office/drawing/2014/main" id="{A51845FD-2F46-4331-8144-6048696D2798}"/>
                </a:ext>
              </a:extLst>
            </p:cNvPr>
            <p:cNvSpPr txBox="1">
              <a:spLocks noChangeArrowheads="1"/>
            </p:cNvSpPr>
            <p:nvPr/>
          </p:nvSpPr>
          <p:spPr bwMode="auto">
            <a:xfrm>
              <a:off x="1660" y="56"/>
              <a:ext cx="243" cy="2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CC3300"/>
                  </a:solidFill>
                  <a:latin typeface="Times New Roman" panose="02020603050405020304" pitchFamily="18" charset="0"/>
                </a:rPr>
                <a:t>H</a:t>
              </a:r>
              <a:endParaRPr lang="en-US" altLang="zh-CN" sz="2400" i="0">
                <a:latin typeface="Times New Roman" panose="02020603050405020304" pitchFamily="18" charset="0"/>
              </a:endParaRPr>
            </a:p>
          </p:txBody>
        </p:sp>
        <p:sp>
          <p:nvSpPr>
            <p:cNvPr id="87071" name="Text Box 26">
              <a:extLst>
                <a:ext uri="{FF2B5EF4-FFF2-40B4-BE49-F238E27FC236}">
                  <a16:creationId xmlns:a16="http://schemas.microsoft.com/office/drawing/2014/main" id="{37B7D466-0D17-4869-A261-EE4E5FCAB5DA}"/>
                </a:ext>
              </a:extLst>
            </p:cNvPr>
            <p:cNvSpPr txBox="1">
              <a:spLocks noChangeArrowheads="1"/>
            </p:cNvSpPr>
            <p:nvPr/>
          </p:nvSpPr>
          <p:spPr bwMode="auto">
            <a:xfrm>
              <a:off x="38" y="545"/>
              <a:ext cx="222" cy="2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CC3300"/>
                  </a:solidFill>
                  <a:latin typeface="Times New Roman" panose="02020603050405020304" pitchFamily="18" charset="0"/>
                </a:rPr>
                <a:t>B</a:t>
              </a:r>
              <a:endParaRPr lang="en-US" altLang="zh-CN" sz="2400" i="0">
                <a:latin typeface="Times New Roman" panose="02020603050405020304" pitchFamily="18" charset="0"/>
              </a:endParaRPr>
            </a:p>
          </p:txBody>
        </p:sp>
        <p:sp>
          <p:nvSpPr>
            <p:cNvPr id="87072" name="Text Box 27">
              <a:extLst>
                <a:ext uri="{FF2B5EF4-FFF2-40B4-BE49-F238E27FC236}">
                  <a16:creationId xmlns:a16="http://schemas.microsoft.com/office/drawing/2014/main" id="{84BEAE28-F3D7-4F18-9649-93BCBF0BC3BB}"/>
                </a:ext>
              </a:extLst>
            </p:cNvPr>
            <p:cNvSpPr txBox="1">
              <a:spLocks noChangeArrowheads="1"/>
            </p:cNvSpPr>
            <p:nvPr/>
          </p:nvSpPr>
          <p:spPr bwMode="auto">
            <a:xfrm>
              <a:off x="369" y="545"/>
              <a:ext cx="233" cy="2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CC3300"/>
                  </a:solidFill>
                  <a:latin typeface="Times New Roman" panose="02020603050405020304" pitchFamily="18" charset="0"/>
                </a:rPr>
                <a:t>C</a:t>
              </a:r>
              <a:endParaRPr lang="en-US" altLang="zh-CN" sz="2400" i="0">
                <a:latin typeface="Times New Roman" panose="02020603050405020304" pitchFamily="18" charset="0"/>
              </a:endParaRPr>
            </a:p>
          </p:txBody>
        </p:sp>
        <p:sp>
          <p:nvSpPr>
            <p:cNvPr id="87073" name="Text Box 28">
              <a:extLst>
                <a:ext uri="{FF2B5EF4-FFF2-40B4-BE49-F238E27FC236}">
                  <a16:creationId xmlns:a16="http://schemas.microsoft.com/office/drawing/2014/main" id="{CBE51BA4-0417-4528-B961-ED6A53E8D195}"/>
                </a:ext>
              </a:extLst>
            </p:cNvPr>
            <p:cNvSpPr txBox="1">
              <a:spLocks noChangeArrowheads="1"/>
            </p:cNvSpPr>
            <p:nvPr/>
          </p:nvSpPr>
          <p:spPr bwMode="auto">
            <a:xfrm>
              <a:off x="706" y="545"/>
              <a:ext cx="233" cy="2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CC3300"/>
                  </a:solidFill>
                  <a:latin typeface="Times New Roman" panose="02020603050405020304" pitchFamily="18" charset="0"/>
                </a:rPr>
                <a:t>D</a:t>
              </a:r>
              <a:endParaRPr lang="en-US" altLang="zh-CN" sz="2400" i="0">
                <a:latin typeface="Times New Roman" panose="02020603050405020304" pitchFamily="18" charset="0"/>
              </a:endParaRPr>
            </a:p>
          </p:txBody>
        </p:sp>
        <p:sp>
          <p:nvSpPr>
            <p:cNvPr id="87074" name="Text Box 29">
              <a:extLst>
                <a:ext uri="{FF2B5EF4-FFF2-40B4-BE49-F238E27FC236}">
                  <a16:creationId xmlns:a16="http://schemas.microsoft.com/office/drawing/2014/main" id="{A788A6F7-DC5F-491E-9033-3A3B817F7F36}"/>
                </a:ext>
              </a:extLst>
            </p:cNvPr>
            <p:cNvSpPr txBox="1">
              <a:spLocks noChangeArrowheads="1"/>
            </p:cNvSpPr>
            <p:nvPr/>
          </p:nvSpPr>
          <p:spPr bwMode="auto">
            <a:xfrm>
              <a:off x="1084" y="545"/>
              <a:ext cx="243" cy="2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CC3300"/>
                  </a:solidFill>
                  <a:latin typeface="Times New Roman" panose="02020603050405020304" pitchFamily="18" charset="0"/>
                </a:rPr>
                <a:t>G</a:t>
              </a:r>
              <a:endParaRPr lang="en-US" altLang="zh-CN" sz="2400" i="0">
                <a:latin typeface="Times New Roman" panose="02020603050405020304" pitchFamily="18" charset="0"/>
              </a:endParaRPr>
            </a:p>
          </p:txBody>
        </p:sp>
        <p:sp>
          <p:nvSpPr>
            <p:cNvPr id="87075" name="Text Box 30">
              <a:extLst>
                <a:ext uri="{FF2B5EF4-FFF2-40B4-BE49-F238E27FC236}">
                  <a16:creationId xmlns:a16="http://schemas.microsoft.com/office/drawing/2014/main" id="{80B285DD-96C7-4739-8F1E-567AB4A0A982}"/>
                </a:ext>
              </a:extLst>
            </p:cNvPr>
            <p:cNvSpPr txBox="1">
              <a:spLocks noChangeArrowheads="1"/>
            </p:cNvSpPr>
            <p:nvPr/>
          </p:nvSpPr>
          <p:spPr bwMode="auto">
            <a:xfrm>
              <a:off x="1504" y="545"/>
              <a:ext cx="170" cy="2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CC3300"/>
                  </a:solidFill>
                  <a:latin typeface="Times New Roman" panose="02020603050405020304" pitchFamily="18" charset="0"/>
                </a:rPr>
                <a:t>I</a:t>
              </a:r>
              <a:endParaRPr lang="en-US" altLang="zh-CN" sz="2400" i="0">
                <a:latin typeface="Times New Roman" panose="02020603050405020304" pitchFamily="18" charset="0"/>
              </a:endParaRPr>
            </a:p>
          </p:txBody>
        </p:sp>
        <p:sp>
          <p:nvSpPr>
            <p:cNvPr id="87076" name="Text Box 31">
              <a:extLst>
                <a:ext uri="{FF2B5EF4-FFF2-40B4-BE49-F238E27FC236}">
                  <a16:creationId xmlns:a16="http://schemas.microsoft.com/office/drawing/2014/main" id="{70017F86-F60C-4061-A80D-82AFFB2DB94F}"/>
                </a:ext>
              </a:extLst>
            </p:cNvPr>
            <p:cNvSpPr txBox="1">
              <a:spLocks noChangeArrowheads="1"/>
            </p:cNvSpPr>
            <p:nvPr/>
          </p:nvSpPr>
          <p:spPr bwMode="auto">
            <a:xfrm>
              <a:off x="1878" y="545"/>
              <a:ext cx="191" cy="2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CC3300"/>
                  </a:solidFill>
                  <a:latin typeface="Times New Roman" panose="02020603050405020304" pitchFamily="18" charset="0"/>
                </a:rPr>
                <a:t>J</a:t>
              </a:r>
              <a:endParaRPr lang="en-US" altLang="zh-CN" sz="2400" i="0">
                <a:latin typeface="Times New Roman" panose="02020603050405020304" pitchFamily="18" charset="0"/>
              </a:endParaRPr>
            </a:p>
          </p:txBody>
        </p:sp>
        <p:sp>
          <p:nvSpPr>
            <p:cNvPr id="87077" name="Text Box 32">
              <a:extLst>
                <a:ext uri="{FF2B5EF4-FFF2-40B4-BE49-F238E27FC236}">
                  <a16:creationId xmlns:a16="http://schemas.microsoft.com/office/drawing/2014/main" id="{A921E3E1-4BDB-473F-9AF5-5AD54F44C3F2}"/>
                </a:ext>
              </a:extLst>
            </p:cNvPr>
            <p:cNvSpPr txBox="1">
              <a:spLocks noChangeArrowheads="1"/>
            </p:cNvSpPr>
            <p:nvPr/>
          </p:nvSpPr>
          <p:spPr bwMode="auto">
            <a:xfrm>
              <a:off x="710" y="1024"/>
              <a:ext cx="222" cy="2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CC3300"/>
                  </a:solidFill>
                  <a:latin typeface="Times New Roman" panose="02020603050405020304" pitchFamily="18" charset="0"/>
                </a:rPr>
                <a:t>E</a:t>
              </a:r>
              <a:endParaRPr lang="en-US" altLang="zh-CN" sz="2400" i="0">
                <a:latin typeface="Times New Roman" panose="02020603050405020304" pitchFamily="18" charset="0"/>
              </a:endParaRPr>
            </a:p>
          </p:txBody>
        </p:sp>
        <p:sp>
          <p:nvSpPr>
            <p:cNvPr id="87078" name="Text Box 33">
              <a:extLst>
                <a:ext uri="{FF2B5EF4-FFF2-40B4-BE49-F238E27FC236}">
                  <a16:creationId xmlns:a16="http://schemas.microsoft.com/office/drawing/2014/main" id="{8DB577DE-FBB4-4A37-8E01-47B670842B3B}"/>
                </a:ext>
              </a:extLst>
            </p:cNvPr>
            <p:cNvSpPr txBox="1">
              <a:spLocks noChangeArrowheads="1"/>
            </p:cNvSpPr>
            <p:nvPr/>
          </p:nvSpPr>
          <p:spPr bwMode="auto">
            <a:xfrm>
              <a:off x="1468" y="1024"/>
              <a:ext cx="243" cy="2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CC3300"/>
                  </a:solidFill>
                  <a:latin typeface="Times New Roman" panose="02020603050405020304" pitchFamily="18" charset="0"/>
                </a:rPr>
                <a:t>K</a:t>
              </a:r>
              <a:endParaRPr lang="en-US" altLang="zh-CN" sz="2400" i="0">
                <a:latin typeface="Times New Roman" panose="02020603050405020304" pitchFamily="18" charset="0"/>
              </a:endParaRPr>
            </a:p>
          </p:txBody>
        </p:sp>
      </p:grpSp>
      <p:sp>
        <p:nvSpPr>
          <p:cNvPr id="69666" name="Text Box 34">
            <a:extLst>
              <a:ext uri="{FF2B5EF4-FFF2-40B4-BE49-F238E27FC236}">
                <a16:creationId xmlns:a16="http://schemas.microsoft.com/office/drawing/2014/main" id="{1484B555-85F5-4032-A6FC-2EE88864E4A5}"/>
              </a:ext>
            </a:extLst>
          </p:cNvPr>
          <p:cNvSpPr txBox="1">
            <a:spLocks noChangeArrowheads="1"/>
          </p:cNvSpPr>
          <p:nvPr/>
        </p:nvSpPr>
        <p:spPr bwMode="auto">
          <a:xfrm>
            <a:off x="5607702" y="1888587"/>
            <a:ext cx="1988045" cy="551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zh-CN" altLang="en-US" sz="2800" i="0" dirty="0">
                <a:solidFill>
                  <a:srgbClr val="FF0000"/>
                </a:solidFill>
                <a:latin typeface="黑体" panose="02010609060101010101" pitchFamily="49" charset="-122"/>
                <a:ea typeface="黑体" panose="02010609060101010101" pitchFamily="49" charset="-122"/>
                <a:sym typeface="Arial" panose="020B0604020202020204" pitchFamily="34" charset="0"/>
              </a:rPr>
              <a:t>中序遍历：</a:t>
            </a:r>
            <a:endParaRPr lang="zh-CN" altLang="en-US" sz="2800" dirty="0"/>
          </a:p>
        </p:txBody>
      </p:sp>
      <p:sp>
        <p:nvSpPr>
          <p:cNvPr id="3" name="Text Box 34">
            <a:extLst>
              <a:ext uri="{FF2B5EF4-FFF2-40B4-BE49-F238E27FC236}">
                <a16:creationId xmlns:a16="http://schemas.microsoft.com/office/drawing/2014/main" id="{F8E65F13-5058-3012-6FC4-C64F703FA90C}"/>
              </a:ext>
            </a:extLst>
          </p:cNvPr>
          <p:cNvSpPr txBox="1">
            <a:spLocks noChangeArrowheads="1"/>
          </p:cNvSpPr>
          <p:nvPr/>
        </p:nvSpPr>
        <p:spPr bwMode="auto">
          <a:xfrm>
            <a:off x="5727115" y="2474386"/>
            <a:ext cx="1077133" cy="551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en-US" altLang="zh-CN" sz="2800" b="0" i="0" dirty="0">
                <a:latin typeface="+mn-ea"/>
                <a:ea typeface="+mn-ea"/>
              </a:rPr>
              <a:t>BCEDA</a:t>
            </a:r>
            <a:endParaRPr lang="zh-CN" altLang="en-US" sz="2800" b="0" i="0" dirty="0">
              <a:latin typeface="+mn-ea"/>
              <a:ea typeface="+mn-ea"/>
            </a:endParaRPr>
          </a:p>
        </p:txBody>
      </p:sp>
      <p:sp>
        <p:nvSpPr>
          <p:cNvPr id="4" name="Text Box 34">
            <a:extLst>
              <a:ext uri="{FF2B5EF4-FFF2-40B4-BE49-F238E27FC236}">
                <a16:creationId xmlns:a16="http://schemas.microsoft.com/office/drawing/2014/main" id="{F7FDCDE7-DFE8-FF66-61E5-20B91698CCD9}"/>
              </a:ext>
            </a:extLst>
          </p:cNvPr>
          <p:cNvSpPr txBox="1">
            <a:spLocks noChangeArrowheads="1"/>
          </p:cNvSpPr>
          <p:nvPr/>
        </p:nvSpPr>
        <p:spPr bwMode="auto">
          <a:xfrm>
            <a:off x="6699273" y="2474385"/>
            <a:ext cx="552606" cy="551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en-US" altLang="zh-CN" sz="2800" b="0" i="0" dirty="0">
                <a:latin typeface="+mn-ea"/>
                <a:ea typeface="+mn-ea"/>
              </a:rPr>
              <a:t>GF</a:t>
            </a:r>
            <a:endParaRPr lang="zh-CN" altLang="en-US" sz="2800" b="0" i="0" dirty="0">
              <a:latin typeface="+mn-ea"/>
              <a:ea typeface="+mn-ea"/>
            </a:endParaRPr>
          </a:p>
        </p:txBody>
      </p:sp>
      <p:sp>
        <p:nvSpPr>
          <p:cNvPr id="5" name="Text Box 34">
            <a:extLst>
              <a:ext uri="{FF2B5EF4-FFF2-40B4-BE49-F238E27FC236}">
                <a16:creationId xmlns:a16="http://schemas.microsoft.com/office/drawing/2014/main" id="{832A0CA8-0468-A37B-8D04-A6802DC40DFE}"/>
              </a:ext>
            </a:extLst>
          </p:cNvPr>
          <p:cNvSpPr txBox="1">
            <a:spLocks noChangeArrowheads="1"/>
          </p:cNvSpPr>
          <p:nvPr/>
        </p:nvSpPr>
        <p:spPr bwMode="auto">
          <a:xfrm>
            <a:off x="7173374" y="2474627"/>
            <a:ext cx="1077133" cy="551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en-US" altLang="zh-CN" sz="2800" b="0" i="0" dirty="0">
                <a:latin typeface="+mn-ea"/>
                <a:ea typeface="+mn-ea"/>
              </a:rPr>
              <a:t>KIJH</a:t>
            </a:r>
            <a:endParaRPr lang="zh-CN" altLang="en-US" sz="2800" b="0" i="0" dirty="0">
              <a:latin typeface="+mn-ea"/>
              <a:ea typeface="+mn-ea"/>
            </a:endParaRPr>
          </a:p>
        </p:txBody>
      </p:sp>
      <p:sp>
        <p:nvSpPr>
          <p:cNvPr id="6" name="Text Box 4">
            <a:extLst>
              <a:ext uri="{FF2B5EF4-FFF2-40B4-BE49-F238E27FC236}">
                <a16:creationId xmlns:a16="http://schemas.microsoft.com/office/drawing/2014/main" id="{3DDD2EC1-9967-ADDD-8CA1-98D13C5B6AE4}"/>
              </a:ext>
            </a:extLst>
          </p:cNvPr>
          <p:cNvSpPr txBox="1">
            <a:spLocks noChangeArrowheads="1"/>
          </p:cNvSpPr>
          <p:nvPr/>
        </p:nvSpPr>
        <p:spPr bwMode="auto">
          <a:xfrm>
            <a:off x="381000" y="200099"/>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森林的中序遍历例</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70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966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66" grpId="0"/>
      <p:bldP spid="3" grpId="0"/>
      <p:bldP spid="4" grpId="0"/>
      <p:bldP spid="5"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Text Box 3">
            <a:extLst>
              <a:ext uri="{FF2B5EF4-FFF2-40B4-BE49-F238E27FC236}">
                <a16:creationId xmlns:a16="http://schemas.microsoft.com/office/drawing/2014/main" id="{FD512CC9-8A50-454F-A7E2-290A76D8196F}"/>
              </a:ext>
            </a:extLst>
          </p:cNvPr>
          <p:cNvSpPr txBox="1">
            <a:spLocks noChangeArrowheads="1"/>
          </p:cNvSpPr>
          <p:nvPr/>
        </p:nvSpPr>
        <p:spPr bwMode="auto">
          <a:xfrm>
            <a:off x="781496" y="3059832"/>
            <a:ext cx="23876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None/>
            </a:pPr>
            <a:r>
              <a:rPr lang="zh-CN" altLang="en-US" sz="2800" i="0" dirty="0">
                <a:solidFill>
                  <a:srgbClr val="3333CC"/>
                </a:solidFill>
                <a:latin typeface="黑体" panose="02010609060101010101" pitchFamily="49" charset="-122"/>
                <a:ea typeface="黑体" panose="02010609060101010101" pitchFamily="49" charset="-122"/>
              </a:rPr>
              <a:t>先根遍历</a:t>
            </a:r>
          </a:p>
        </p:txBody>
      </p:sp>
      <p:sp>
        <p:nvSpPr>
          <p:cNvPr id="71684" name="Text Box 4">
            <a:extLst>
              <a:ext uri="{FF2B5EF4-FFF2-40B4-BE49-F238E27FC236}">
                <a16:creationId xmlns:a16="http://schemas.microsoft.com/office/drawing/2014/main" id="{A048F786-F902-4204-B85B-E63E0CC68679}"/>
              </a:ext>
            </a:extLst>
          </p:cNvPr>
          <p:cNvSpPr txBox="1">
            <a:spLocks noChangeArrowheads="1"/>
          </p:cNvSpPr>
          <p:nvPr/>
        </p:nvSpPr>
        <p:spPr bwMode="auto">
          <a:xfrm>
            <a:off x="781496" y="4218707"/>
            <a:ext cx="23876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None/>
            </a:pPr>
            <a:r>
              <a:rPr lang="zh-CN" altLang="en-US" sz="2800" i="0" dirty="0">
                <a:solidFill>
                  <a:srgbClr val="3333CC"/>
                </a:solidFill>
                <a:latin typeface="黑体" panose="02010609060101010101" pitchFamily="49" charset="-122"/>
                <a:ea typeface="黑体" panose="02010609060101010101" pitchFamily="49" charset="-122"/>
              </a:rPr>
              <a:t>后根遍历</a:t>
            </a:r>
          </a:p>
        </p:txBody>
      </p:sp>
      <p:sp>
        <p:nvSpPr>
          <p:cNvPr id="71685" name="Rectangle 5">
            <a:extLst>
              <a:ext uri="{FF2B5EF4-FFF2-40B4-BE49-F238E27FC236}">
                <a16:creationId xmlns:a16="http://schemas.microsoft.com/office/drawing/2014/main" id="{D849D7F9-9608-41AA-976D-D1DE2EED7894}"/>
              </a:ext>
            </a:extLst>
          </p:cNvPr>
          <p:cNvSpPr>
            <a:spLocks noChangeArrowheads="1"/>
          </p:cNvSpPr>
          <p:nvPr/>
        </p:nvSpPr>
        <p:spPr bwMode="auto">
          <a:xfrm>
            <a:off x="1557784" y="1916832"/>
            <a:ext cx="54534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1" i="0" dirty="0">
                <a:solidFill>
                  <a:srgbClr val="3333CC"/>
                </a:solidFill>
                <a:latin typeface="黑体" panose="02010609060101010101" pitchFamily="49" charset="-122"/>
                <a:ea typeface="黑体" panose="02010609060101010101" pitchFamily="49" charset="-122"/>
              </a:rPr>
              <a:t>树</a:t>
            </a:r>
          </a:p>
        </p:txBody>
      </p:sp>
      <p:sp>
        <p:nvSpPr>
          <p:cNvPr id="71686" name="Rectangle 6">
            <a:extLst>
              <a:ext uri="{FF2B5EF4-FFF2-40B4-BE49-F238E27FC236}">
                <a16:creationId xmlns:a16="http://schemas.microsoft.com/office/drawing/2014/main" id="{8CF1C195-0E40-4F9A-9835-C74AD0A936E9}"/>
              </a:ext>
            </a:extLst>
          </p:cNvPr>
          <p:cNvSpPr>
            <a:spLocks noChangeArrowheads="1"/>
          </p:cNvSpPr>
          <p:nvPr/>
        </p:nvSpPr>
        <p:spPr bwMode="auto">
          <a:xfrm>
            <a:off x="6856859" y="1916832"/>
            <a:ext cx="126669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None/>
            </a:pPr>
            <a:r>
              <a:rPr lang="zh-CN" altLang="en-US" sz="2800" i="0" dirty="0">
                <a:solidFill>
                  <a:srgbClr val="3333CC"/>
                </a:solidFill>
                <a:latin typeface="黑体" panose="02010609060101010101" pitchFamily="49" charset="-122"/>
                <a:ea typeface="黑体" panose="02010609060101010101" pitchFamily="49" charset="-122"/>
              </a:rPr>
              <a:t>二叉树</a:t>
            </a:r>
          </a:p>
        </p:txBody>
      </p:sp>
      <p:sp>
        <p:nvSpPr>
          <p:cNvPr id="71687" name="Rectangle 7">
            <a:extLst>
              <a:ext uri="{FF2B5EF4-FFF2-40B4-BE49-F238E27FC236}">
                <a16:creationId xmlns:a16="http://schemas.microsoft.com/office/drawing/2014/main" id="{B1CE92E0-EB94-44A4-8679-168C9CB7D89A}"/>
              </a:ext>
            </a:extLst>
          </p:cNvPr>
          <p:cNvSpPr>
            <a:spLocks noChangeArrowheads="1"/>
          </p:cNvSpPr>
          <p:nvPr/>
        </p:nvSpPr>
        <p:spPr bwMode="auto">
          <a:xfrm>
            <a:off x="4321621" y="1916832"/>
            <a:ext cx="90601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None/>
            </a:pPr>
            <a:r>
              <a:rPr lang="zh-CN" altLang="en-US" sz="2800" i="0" dirty="0">
                <a:solidFill>
                  <a:srgbClr val="3333CC"/>
                </a:solidFill>
                <a:latin typeface="黑体" panose="02010609060101010101" pitchFamily="49" charset="-122"/>
                <a:ea typeface="黑体" panose="02010609060101010101" pitchFamily="49" charset="-122"/>
              </a:rPr>
              <a:t>森林</a:t>
            </a:r>
          </a:p>
        </p:txBody>
      </p:sp>
      <p:sp>
        <p:nvSpPr>
          <p:cNvPr id="71688" name="Text Box 8">
            <a:extLst>
              <a:ext uri="{FF2B5EF4-FFF2-40B4-BE49-F238E27FC236}">
                <a16:creationId xmlns:a16="http://schemas.microsoft.com/office/drawing/2014/main" id="{A233EF19-046C-4054-97FC-3300C89FDA34}"/>
              </a:ext>
            </a:extLst>
          </p:cNvPr>
          <p:cNvSpPr txBox="1">
            <a:spLocks noChangeArrowheads="1"/>
          </p:cNvSpPr>
          <p:nvPr/>
        </p:nvSpPr>
        <p:spPr bwMode="auto">
          <a:xfrm>
            <a:off x="3778696" y="3059832"/>
            <a:ext cx="162736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None/>
            </a:pPr>
            <a:r>
              <a:rPr lang="zh-CN" altLang="en-US" sz="2800" i="0" dirty="0">
                <a:solidFill>
                  <a:srgbClr val="3333CC"/>
                </a:solidFill>
                <a:latin typeface="黑体" panose="02010609060101010101" pitchFamily="49" charset="-122"/>
                <a:ea typeface="黑体" panose="02010609060101010101" pitchFamily="49" charset="-122"/>
              </a:rPr>
              <a:t>先序遍历</a:t>
            </a:r>
          </a:p>
        </p:txBody>
      </p:sp>
      <p:sp>
        <p:nvSpPr>
          <p:cNvPr id="71689" name="Text Box 9">
            <a:extLst>
              <a:ext uri="{FF2B5EF4-FFF2-40B4-BE49-F238E27FC236}">
                <a16:creationId xmlns:a16="http://schemas.microsoft.com/office/drawing/2014/main" id="{37B375CD-DF6C-4A0F-A1BB-355EFFB93F8B}"/>
              </a:ext>
            </a:extLst>
          </p:cNvPr>
          <p:cNvSpPr txBox="1">
            <a:spLocks noChangeArrowheads="1"/>
          </p:cNvSpPr>
          <p:nvPr/>
        </p:nvSpPr>
        <p:spPr bwMode="auto">
          <a:xfrm>
            <a:off x="6598096" y="3059832"/>
            <a:ext cx="24384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None/>
            </a:pPr>
            <a:r>
              <a:rPr lang="zh-CN" altLang="en-US" sz="2800" i="0" dirty="0">
                <a:solidFill>
                  <a:srgbClr val="3333CC"/>
                </a:solidFill>
                <a:latin typeface="黑体" panose="02010609060101010101" pitchFamily="49" charset="-122"/>
                <a:ea typeface="黑体" panose="02010609060101010101" pitchFamily="49" charset="-122"/>
              </a:rPr>
              <a:t>先序遍历</a:t>
            </a:r>
          </a:p>
        </p:txBody>
      </p:sp>
      <p:sp>
        <p:nvSpPr>
          <p:cNvPr id="71690" name="Text Box 10">
            <a:extLst>
              <a:ext uri="{FF2B5EF4-FFF2-40B4-BE49-F238E27FC236}">
                <a16:creationId xmlns:a16="http://schemas.microsoft.com/office/drawing/2014/main" id="{EA64C982-05EA-40D7-ADB4-CEA22D6080B6}"/>
              </a:ext>
            </a:extLst>
          </p:cNvPr>
          <p:cNvSpPr txBox="1">
            <a:spLocks noChangeArrowheads="1"/>
          </p:cNvSpPr>
          <p:nvPr/>
        </p:nvSpPr>
        <p:spPr bwMode="auto">
          <a:xfrm>
            <a:off x="3778696" y="4202832"/>
            <a:ext cx="162736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None/>
            </a:pPr>
            <a:r>
              <a:rPr lang="zh-CN" altLang="en-US" sz="2800" i="0" dirty="0">
                <a:solidFill>
                  <a:srgbClr val="3333CC"/>
                </a:solidFill>
                <a:latin typeface="黑体" panose="02010609060101010101" pitchFamily="49" charset="-122"/>
                <a:ea typeface="黑体" panose="02010609060101010101" pitchFamily="49" charset="-122"/>
              </a:rPr>
              <a:t>中序遍历</a:t>
            </a:r>
          </a:p>
        </p:txBody>
      </p:sp>
      <p:sp>
        <p:nvSpPr>
          <p:cNvPr id="71691" name="Text Box 11">
            <a:extLst>
              <a:ext uri="{FF2B5EF4-FFF2-40B4-BE49-F238E27FC236}">
                <a16:creationId xmlns:a16="http://schemas.microsoft.com/office/drawing/2014/main" id="{6CBA7B3F-05A6-4C3B-BD4B-5DF4637EE3E7}"/>
              </a:ext>
            </a:extLst>
          </p:cNvPr>
          <p:cNvSpPr txBox="1">
            <a:spLocks noChangeArrowheads="1"/>
          </p:cNvSpPr>
          <p:nvPr/>
        </p:nvSpPr>
        <p:spPr bwMode="auto">
          <a:xfrm>
            <a:off x="6572696" y="4202832"/>
            <a:ext cx="24638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None/>
            </a:pPr>
            <a:r>
              <a:rPr lang="zh-CN" altLang="en-US" sz="2800" i="0" dirty="0">
                <a:solidFill>
                  <a:srgbClr val="3333CC"/>
                </a:solidFill>
                <a:latin typeface="黑体" panose="02010609060101010101" pitchFamily="49" charset="-122"/>
                <a:ea typeface="黑体" panose="02010609060101010101" pitchFamily="49" charset="-122"/>
              </a:rPr>
              <a:t>中序遍历</a:t>
            </a:r>
          </a:p>
        </p:txBody>
      </p:sp>
      <p:sp>
        <p:nvSpPr>
          <p:cNvPr id="13" name="Rectangle 2">
            <a:extLst>
              <a:ext uri="{FF2B5EF4-FFF2-40B4-BE49-F238E27FC236}">
                <a16:creationId xmlns:a16="http://schemas.microsoft.com/office/drawing/2014/main" id="{8BE2BAEA-D05F-4948-941E-53214B459C29}"/>
              </a:ext>
            </a:extLst>
          </p:cNvPr>
          <p:cNvSpPr txBox="1">
            <a:spLocks noChangeArrowheads="1"/>
          </p:cNvSpPr>
          <p:nvPr/>
        </p:nvSpPr>
        <p:spPr>
          <a:xfrm>
            <a:off x="574675" y="304800"/>
            <a:ext cx="8001000" cy="676275"/>
          </a:xfrm>
          <a:prstGeom prst="rect">
            <a:avLst/>
          </a:prstGeom>
        </p:spPr>
        <p:txBody>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Times New Roman" pitchFamily="18" charset="0"/>
                <a:ea typeface="黑体" pitchFamily="2" charset="-122"/>
              </a:defRPr>
            </a:lvl2pPr>
            <a:lvl3pPr algn="l" rtl="0" eaLnBrk="0" fontAlgn="base" hangingPunct="0">
              <a:spcBef>
                <a:spcPct val="0"/>
              </a:spcBef>
              <a:spcAft>
                <a:spcPct val="0"/>
              </a:spcAft>
              <a:defRPr sz="4200">
                <a:solidFill>
                  <a:schemeClr val="tx2"/>
                </a:solidFill>
                <a:latin typeface="Times New Roman" pitchFamily="18" charset="0"/>
                <a:ea typeface="黑体" pitchFamily="2" charset="-122"/>
              </a:defRPr>
            </a:lvl3pPr>
            <a:lvl4pPr algn="l" rtl="0" eaLnBrk="0" fontAlgn="base" hangingPunct="0">
              <a:spcBef>
                <a:spcPct val="0"/>
              </a:spcBef>
              <a:spcAft>
                <a:spcPct val="0"/>
              </a:spcAft>
              <a:defRPr sz="4200">
                <a:solidFill>
                  <a:schemeClr val="tx2"/>
                </a:solidFill>
                <a:latin typeface="Times New Roman" pitchFamily="18" charset="0"/>
                <a:ea typeface="黑体" pitchFamily="2" charset="-122"/>
              </a:defRPr>
            </a:lvl4pPr>
            <a:lvl5pPr algn="l" rtl="0" eaLnBrk="0" fontAlgn="base" hangingPunct="0">
              <a:spcBef>
                <a:spcPct val="0"/>
              </a:spcBef>
              <a:spcAft>
                <a:spcPct val="0"/>
              </a:spcAft>
              <a:defRPr sz="4200">
                <a:solidFill>
                  <a:schemeClr val="tx2"/>
                </a:solidFill>
                <a:latin typeface="Times New Roman" pitchFamily="18" charset="0"/>
                <a:ea typeface="黑体" pitchFamily="2" charset="-122"/>
              </a:defRPr>
            </a:lvl5pPr>
            <a:lvl6pPr marL="457200" algn="l" rtl="0" fontAlgn="base">
              <a:spcBef>
                <a:spcPct val="0"/>
              </a:spcBef>
              <a:spcAft>
                <a:spcPct val="0"/>
              </a:spcAft>
              <a:defRPr sz="4200">
                <a:solidFill>
                  <a:schemeClr val="tx2"/>
                </a:solidFill>
                <a:latin typeface="Times New Roman" pitchFamily="18" charset="0"/>
                <a:ea typeface="黑体" pitchFamily="2" charset="-122"/>
              </a:defRPr>
            </a:lvl6pPr>
            <a:lvl7pPr marL="914400" algn="l" rtl="0" fontAlgn="base">
              <a:spcBef>
                <a:spcPct val="0"/>
              </a:spcBef>
              <a:spcAft>
                <a:spcPct val="0"/>
              </a:spcAft>
              <a:defRPr sz="4200">
                <a:solidFill>
                  <a:schemeClr val="tx2"/>
                </a:solidFill>
                <a:latin typeface="Times New Roman" pitchFamily="18" charset="0"/>
                <a:ea typeface="黑体" pitchFamily="2" charset="-122"/>
              </a:defRPr>
            </a:lvl7pPr>
            <a:lvl8pPr marL="1371600" algn="l" rtl="0" fontAlgn="base">
              <a:spcBef>
                <a:spcPct val="0"/>
              </a:spcBef>
              <a:spcAft>
                <a:spcPct val="0"/>
              </a:spcAft>
              <a:defRPr sz="4200">
                <a:solidFill>
                  <a:schemeClr val="tx2"/>
                </a:solidFill>
                <a:latin typeface="Times New Roman" pitchFamily="18" charset="0"/>
                <a:ea typeface="黑体" pitchFamily="2" charset="-122"/>
              </a:defRPr>
            </a:lvl8pPr>
            <a:lvl9pPr marL="1828800" algn="l" rtl="0" fontAlgn="base">
              <a:spcBef>
                <a:spcPct val="0"/>
              </a:spcBef>
              <a:spcAft>
                <a:spcPct val="0"/>
              </a:spcAft>
              <a:defRPr sz="4200">
                <a:solidFill>
                  <a:schemeClr val="tx2"/>
                </a:solidFill>
                <a:latin typeface="Times New Roman" pitchFamily="18" charset="0"/>
                <a:ea typeface="黑体" pitchFamily="2" charset="-122"/>
              </a:defRPr>
            </a:lvl9pPr>
          </a:lstStyle>
          <a:p>
            <a:pPr algn="ctr" eaLnBrk="1" hangingPunct="1"/>
            <a:r>
              <a:rPr lang="zh-CN" altLang="en-US" sz="4400" b="1" i="0" kern="1200" dirty="0">
                <a:latin typeface="Tahoma" panose="020B0604030504040204" pitchFamily="34" charset="0"/>
                <a:ea typeface="隶书" pitchFamily="49" charset="-122"/>
                <a:cs typeface="+mn-cs"/>
              </a:rPr>
              <a:t>遍历的对应关系？</a:t>
            </a:r>
          </a:p>
        </p:txBody>
      </p:sp>
    </p:spTree>
  </p:cSld>
  <p:clrMapOvr>
    <a:masterClrMapping/>
  </p:clrMapOvr>
  <p:transition spd="med">
    <p:pull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iterate type="wd">
                                    <p:tmPct val="100000"/>
                                  </p:iterate>
                                  <p:childTnLst>
                                    <p:set>
                                      <p:cBhvr>
                                        <p:cTn id="6" dur="1" fill="hold">
                                          <p:stCondLst>
                                            <p:cond delay="0"/>
                                          </p:stCondLst>
                                        </p:cTn>
                                        <p:tgtEl>
                                          <p:spTgt spid="71685"/>
                                        </p:tgtEl>
                                        <p:attrNameLst>
                                          <p:attrName>style.visibility</p:attrName>
                                        </p:attrNameLst>
                                      </p:cBhvr>
                                      <p:to>
                                        <p:strVal val="visible"/>
                                      </p:to>
                                    </p:set>
                                    <p:animEffect transition="in" filter="wipe(left)">
                                      <p:cBhvr>
                                        <p:cTn id="7" dur="300"/>
                                        <p:tgtEl>
                                          <p:spTgt spid="7168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71687"/>
                                        </p:tgtEl>
                                        <p:attrNameLst>
                                          <p:attrName>style.visibility</p:attrName>
                                        </p:attrNameLst>
                                      </p:cBhvr>
                                      <p:to>
                                        <p:strVal val="visible"/>
                                      </p:to>
                                    </p:set>
                                    <p:animEffect transition="in" filter="wipe(left)">
                                      <p:cBhvr>
                                        <p:cTn id="12" dur="300"/>
                                        <p:tgtEl>
                                          <p:spTgt spid="7168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71686"/>
                                        </p:tgtEl>
                                        <p:attrNameLst>
                                          <p:attrName>style.visibility</p:attrName>
                                        </p:attrNameLst>
                                      </p:cBhvr>
                                      <p:to>
                                        <p:strVal val="visible"/>
                                      </p:to>
                                    </p:set>
                                    <p:animEffect transition="in" filter="wipe(left)">
                                      <p:cBhvr>
                                        <p:cTn id="17" dur="300"/>
                                        <p:tgtEl>
                                          <p:spTgt spid="7168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iterate type="wd">
                                    <p:tmPct val="100000"/>
                                  </p:iterate>
                                  <p:childTnLst>
                                    <p:set>
                                      <p:cBhvr>
                                        <p:cTn id="21" dur="1" fill="hold">
                                          <p:stCondLst>
                                            <p:cond delay="0"/>
                                          </p:stCondLst>
                                        </p:cTn>
                                        <p:tgtEl>
                                          <p:spTgt spid="71683"/>
                                        </p:tgtEl>
                                        <p:attrNameLst>
                                          <p:attrName>style.visibility</p:attrName>
                                        </p:attrNameLst>
                                      </p:cBhvr>
                                      <p:to>
                                        <p:strVal val="visible"/>
                                      </p:to>
                                    </p:set>
                                    <p:animEffect transition="in" filter="wipe(left)">
                                      <p:cBhvr>
                                        <p:cTn id="22" dur="300"/>
                                        <p:tgtEl>
                                          <p:spTgt spid="7168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iterate type="wd">
                                    <p:tmPct val="100000"/>
                                  </p:iterate>
                                  <p:childTnLst>
                                    <p:set>
                                      <p:cBhvr>
                                        <p:cTn id="26" dur="1" fill="hold">
                                          <p:stCondLst>
                                            <p:cond delay="0"/>
                                          </p:stCondLst>
                                        </p:cTn>
                                        <p:tgtEl>
                                          <p:spTgt spid="71688"/>
                                        </p:tgtEl>
                                        <p:attrNameLst>
                                          <p:attrName>style.visibility</p:attrName>
                                        </p:attrNameLst>
                                      </p:cBhvr>
                                      <p:to>
                                        <p:strVal val="visible"/>
                                      </p:to>
                                    </p:set>
                                    <p:animEffect transition="in" filter="wipe(left)">
                                      <p:cBhvr>
                                        <p:cTn id="27" dur="300"/>
                                        <p:tgtEl>
                                          <p:spTgt spid="7168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iterate type="wd">
                                    <p:tmPct val="100000"/>
                                  </p:iterate>
                                  <p:childTnLst>
                                    <p:set>
                                      <p:cBhvr>
                                        <p:cTn id="31" dur="1" fill="hold">
                                          <p:stCondLst>
                                            <p:cond delay="0"/>
                                          </p:stCondLst>
                                        </p:cTn>
                                        <p:tgtEl>
                                          <p:spTgt spid="71689"/>
                                        </p:tgtEl>
                                        <p:attrNameLst>
                                          <p:attrName>style.visibility</p:attrName>
                                        </p:attrNameLst>
                                      </p:cBhvr>
                                      <p:to>
                                        <p:strVal val="visible"/>
                                      </p:to>
                                    </p:set>
                                    <p:animEffect transition="in" filter="wipe(left)">
                                      <p:cBhvr>
                                        <p:cTn id="32" dur="300"/>
                                        <p:tgtEl>
                                          <p:spTgt spid="7168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iterate type="wd">
                                    <p:tmPct val="100000"/>
                                  </p:iterate>
                                  <p:childTnLst>
                                    <p:set>
                                      <p:cBhvr>
                                        <p:cTn id="36" dur="1" fill="hold">
                                          <p:stCondLst>
                                            <p:cond delay="0"/>
                                          </p:stCondLst>
                                        </p:cTn>
                                        <p:tgtEl>
                                          <p:spTgt spid="71684"/>
                                        </p:tgtEl>
                                        <p:attrNameLst>
                                          <p:attrName>style.visibility</p:attrName>
                                        </p:attrNameLst>
                                      </p:cBhvr>
                                      <p:to>
                                        <p:strVal val="visible"/>
                                      </p:to>
                                    </p:set>
                                    <p:animEffect transition="in" filter="wipe(left)">
                                      <p:cBhvr>
                                        <p:cTn id="37" dur="300"/>
                                        <p:tgtEl>
                                          <p:spTgt spid="7168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iterate type="wd">
                                    <p:tmPct val="100000"/>
                                  </p:iterate>
                                  <p:childTnLst>
                                    <p:set>
                                      <p:cBhvr>
                                        <p:cTn id="41" dur="1" fill="hold">
                                          <p:stCondLst>
                                            <p:cond delay="0"/>
                                          </p:stCondLst>
                                        </p:cTn>
                                        <p:tgtEl>
                                          <p:spTgt spid="71690"/>
                                        </p:tgtEl>
                                        <p:attrNameLst>
                                          <p:attrName>style.visibility</p:attrName>
                                        </p:attrNameLst>
                                      </p:cBhvr>
                                      <p:to>
                                        <p:strVal val="visible"/>
                                      </p:to>
                                    </p:set>
                                    <p:animEffect transition="in" filter="wipe(left)">
                                      <p:cBhvr>
                                        <p:cTn id="42" dur="300"/>
                                        <p:tgtEl>
                                          <p:spTgt spid="71690"/>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iterate type="wd">
                                    <p:tmPct val="100000"/>
                                  </p:iterate>
                                  <p:childTnLst>
                                    <p:set>
                                      <p:cBhvr>
                                        <p:cTn id="46" dur="1" fill="hold">
                                          <p:stCondLst>
                                            <p:cond delay="0"/>
                                          </p:stCondLst>
                                        </p:cTn>
                                        <p:tgtEl>
                                          <p:spTgt spid="71691"/>
                                        </p:tgtEl>
                                        <p:attrNameLst>
                                          <p:attrName>style.visibility</p:attrName>
                                        </p:attrNameLst>
                                      </p:cBhvr>
                                      <p:to>
                                        <p:strVal val="visible"/>
                                      </p:to>
                                    </p:set>
                                    <p:animEffect transition="in" filter="wipe(left)">
                                      <p:cBhvr>
                                        <p:cTn id="47" dur="300"/>
                                        <p:tgtEl>
                                          <p:spTgt spid="716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3" grpId="0" autoUpdateAnimBg="0"/>
      <p:bldP spid="71684" grpId="0" autoUpdateAnimBg="0"/>
      <p:bldP spid="71685" grpId="0" autoUpdateAnimBg="0"/>
      <p:bldP spid="71686" grpId="0" autoUpdateAnimBg="0"/>
      <p:bldP spid="71687" grpId="0" autoUpdateAnimBg="0"/>
      <p:bldP spid="71688" grpId="0" autoUpdateAnimBg="0"/>
      <p:bldP spid="71689" grpId="0" autoUpdateAnimBg="0"/>
      <p:bldP spid="71690" grpId="0" autoUpdateAnimBg="0"/>
      <p:bldP spid="71691" grpId="0" autoUpdateAnimBg="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6">
            <a:extLst>
              <a:ext uri="{FF2B5EF4-FFF2-40B4-BE49-F238E27FC236}">
                <a16:creationId xmlns:a16="http://schemas.microsoft.com/office/drawing/2014/main" id="{76F19C51-C627-4FEA-9017-350EFA79BD25}"/>
              </a:ext>
            </a:extLst>
          </p:cNvPr>
          <p:cNvSpPr>
            <a:spLocks noChangeArrowheads="1"/>
          </p:cNvSpPr>
          <p:nvPr/>
        </p:nvSpPr>
        <p:spPr bwMode="auto">
          <a:xfrm>
            <a:off x="609600" y="152400"/>
            <a:ext cx="83058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lnSpc>
                <a:spcPct val="90000"/>
              </a:lnSpc>
              <a:buFont typeface="Wingdings" panose="05000000000000000000" pitchFamily="2" charset="2"/>
              <a:buNone/>
            </a:pPr>
            <a:r>
              <a:rPr lang="zh-CN" altLang="en-US" sz="4400" i="0" dirty="0">
                <a:solidFill>
                  <a:schemeClr val="tx2"/>
                </a:solidFill>
                <a:ea typeface="隶书" pitchFamily="49" charset="-122"/>
              </a:rPr>
              <a:t>练习</a:t>
            </a:r>
          </a:p>
        </p:txBody>
      </p:sp>
      <p:sp>
        <p:nvSpPr>
          <p:cNvPr id="3" name="Rectangle 5">
            <a:extLst>
              <a:ext uri="{FF2B5EF4-FFF2-40B4-BE49-F238E27FC236}">
                <a16:creationId xmlns:a16="http://schemas.microsoft.com/office/drawing/2014/main" id="{A4D4D49F-EC08-472A-9065-D27DD533BDD7}"/>
              </a:ext>
            </a:extLst>
          </p:cNvPr>
          <p:cNvSpPr txBox="1">
            <a:spLocks noChangeArrowheads="1"/>
          </p:cNvSpPr>
          <p:nvPr/>
        </p:nvSpPr>
        <p:spPr>
          <a:xfrm>
            <a:off x="467544" y="1371600"/>
            <a:ext cx="8763000" cy="2057400"/>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60000"/>
              <a:buFont typeface="Wingdings"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folHlink"/>
              </a:buClr>
              <a:buSzPct val="6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folHlink"/>
              </a:buClr>
              <a:buSzPct val="6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folHlink"/>
              </a:buClr>
              <a:buSzPct val="6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folHlink"/>
              </a:buClr>
              <a:buSzPct val="60000"/>
              <a:buFont typeface="Wingdings" pitchFamily="2" charset="2"/>
              <a:buChar char="n"/>
              <a:defRPr sz="2000">
                <a:solidFill>
                  <a:schemeClr val="tx1"/>
                </a:solidFill>
                <a:latin typeface="+mn-lt"/>
                <a:ea typeface="+mn-ea"/>
              </a:defRPr>
            </a:lvl9pPr>
          </a:lstStyle>
          <a:p>
            <a:pPr marL="0" indent="0" eaLnBrk="1" hangingPunct="1">
              <a:lnSpc>
                <a:spcPct val="90000"/>
              </a:lnSpc>
              <a:spcBef>
                <a:spcPct val="50000"/>
              </a:spcBef>
              <a:buFont typeface="Wingdings" pitchFamily="2" charset="2"/>
              <a:buNone/>
              <a:defRPr/>
            </a:pPr>
            <a:r>
              <a:rPr lang="en-US" altLang="zh-CN" sz="2800" b="0" i="0" kern="0" dirty="0">
                <a:latin typeface="+mn-ea"/>
              </a:rPr>
              <a:t>1.</a:t>
            </a:r>
            <a:r>
              <a:rPr lang="zh-CN" altLang="zh-CN" sz="2800" b="0" i="0" dirty="0">
                <a:latin typeface="+mn-ea"/>
              </a:rPr>
              <a:t>若一个二叉树具有</a:t>
            </a:r>
            <a:r>
              <a:rPr lang="en-US" altLang="zh-CN" sz="2800" b="0" i="0" dirty="0">
                <a:latin typeface="+mn-ea"/>
              </a:rPr>
              <a:t>8</a:t>
            </a:r>
            <a:r>
              <a:rPr lang="zh-CN" altLang="zh-CN" sz="2800" b="0" i="0" dirty="0">
                <a:latin typeface="+mn-ea"/>
              </a:rPr>
              <a:t>个度为</a:t>
            </a:r>
            <a:r>
              <a:rPr lang="en-US" altLang="zh-CN" sz="2800" b="0" i="0" dirty="0">
                <a:latin typeface="+mn-ea"/>
              </a:rPr>
              <a:t>2</a:t>
            </a:r>
            <a:r>
              <a:rPr lang="zh-CN" altLang="zh-CN" sz="2800" b="0" i="0" dirty="0">
                <a:latin typeface="+mn-ea"/>
              </a:rPr>
              <a:t>的结点，</a:t>
            </a:r>
            <a:r>
              <a:rPr lang="en-US" altLang="zh-CN" sz="2800" b="0" i="0" dirty="0">
                <a:latin typeface="+mn-ea"/>
              </a:rPr>
              <a:t>7</a:t>
            </a:r>
            <a:r>
              <a:rPr lang="zh-CN" altLang="zh-CN" sz="2800" b="0" i="0" dirty="0">
                <a:latin typeface="+mn-ea"/>
              </a:rPr>
              <a:t>个度为</a:t>
            </a:r>
            <a:r>
              <a:rPr lang="en-US" altLang="zh-CN" sz="2800" b="0" i="0" dirty="0">
                <a:latin typeface="+mn-ea"/>
              </a:rPr>
              <a:t>1</a:t>
            </a:r>
            <a:r>
              <a:rPr lang="zh-CN" altLang="zh-CN" sz="2800" b="0" i="0" dirty="0">
                <a:latin typeface="+mn-ea"/>
              </a:rPr>
              <a:t>的结点，则度为</a:t>
            </a:r>
            <a:r>
              <a:rPr lang="en-US" altLang="zh-CN" sz="2800" b="0" i="0" dirty="0">
                <a:latin typeface="+mn-ea"/>
              </a:rPr>
              <a:t>0</a:t>
            </a:r>
            <a:r>
              <a:rPr lang="zh-CN" altLang="zh-CN" sz="2800" b="0" i="0" dirty="0">
                <a:latin typeface="+mn-ea"/>
              </a:rPr>
              <a:t>的结点（叶子）个数是</a:t>
            </a:r>
            <a:r>
              <a:rPr lang="en-US" altLang="zh-CN" sz="2800" b="0" i="0" dirty="0">
                <a:latin typeface="+mn-ea"/>
              </a:rPr>
              <a:t>_____</a:t>
            </a:r>
            <a:r>
              <a:rPr lang="zh-CN" altLang="zh-CN" sz="2800" b="0" i="0" dirty="0">
                <a:latin typeface="+mn-ea"/>
              </a:rPr>
              <a:t>。</a:t>
            </a:r>
          </a:p>
          <a:p>
            <a:pPr marL="0" indent="0" eaLnBrk="1" hangingPunct="1">
              <a:lnSpc>
                <a:spcPct val="90000"/>
              </a:lnSpc>
              <a:spcBef>
                <a:spcPct val="50000"/>
              </a:spcBef>
              <a:buFont typeface="Wingdings" pitchFamily="2" charset="2"/>
              <a:buNone/>
              <a:defRPr/>
            </a:pPr>
            <a:r>
              <a:rPr lang="en-US" altLang="zh-CN" sz="2800" b="0" i="0" kern="0" dirty="0">
                <a:latin typeface="+mn-ea"/>
              </a:rPr>
              <a:t>2.</a:t>
            </a:r>
            <a:r>
              <a:rPr lang="zh-CN" altLang="en-US" sz="2800" b="0" i="0" dirty="0">
                <a:latin typeface="+mn-ea"/>
              </a:rPr>
              <a:t>具有</a:t>
            </a:r>
            <a:r>
              <a:rPr lang="en-US" altLang="zh-CN" sz="2800" b="0" i="0" dirty="0">
                <a:latin typeface="+mn-ea"/>
              </a:rPr>
              <a:t>n</a:t>
            </a:r>
            <a:r>
              <a:rPr lang="zh-CN" altLang="en-US" sz="2800" b="0" i="0" dirty="0">
                <a:latin typeface="+mn-ea"/>
              </a:rPr>
              <a:t>个结点的二叉树中，一共有</a:t>
            </a:r>
            <a:r>
              <a:rPr lang="en-US" altLang="zh-CN" sz="2800" b="0" i="0" dirty="0">
                <a:latin typeface="+mn-ea"/>
              </a:rPr>
              <a:t>___</a:t>
            </a:r>
            <a:r>
              <a:rPr lang="zh-CN" altLang="en-US" sz="2800" b="0" i="0" dirty="0">
                <a:latin typeface="+mn-ea"/>
              </a:rPr>
              <a:t>个指针域，其中</a:t>
            </a:r>
            <a:r>
              <a:rPr lang="en-US" altLang="zh-CN" sz="2800" b="0" i="0" dirty="0">
                <a:latin typeface="+mn-ea"/>
              </a:rPr>
              <a:t>____</a:t>
            </a:r>
            <a:r>
              <a:rPr lang="zh-CN" altLang="en-US" sz="2800" b="0" i="0" dirty="0">
                <a:latin typeface="+mn-ea"/>
              </a:rPr>
              <a:t>个用来指向结点的左右孩子，有</a:t>
            </a:r>
            <a:r>
              <a:rPr lang="en-US" altLang="zh-CN" sz="2800" b="0" i="0" dirty="0">
                <a:latin typeface="+mn-ea"/>
              </a:rPr>
              <a:t>____</a:t>
            </a:r>
            <a:r>
              <a:rPr lang="zh-CN" altLang="en-US" sz="2800" b="0" i="0" dirty="0">
                <a:latin typeface="+mn-ea"/>
              </a:rPr>
              <a:t>个为</a:t>
            </a:r>
            <a:r>
              <a:rPr lang="en-US" altLang="zh-CN" sz="2800" b="0" i="0" dirty="0">
                <a:latin typeface="+mn-ea"/>
              </a:rPr>
              <a:t>NULL</a:t>
            </a:r>
            <a:r>
              <a:rPr lang="zh-CN" altLang="en-US" sz="2800" b="0" i="0" dirty="0">
                <a:latin typeface="+mn-ea"/>
              </a:rPr>
              <a:t>。</a:t>
            </a:r>
            <a:endParaRPr lang="en-US" altLang="zh-CN" sz="2800" b="0" i="0" dirty="0">
              <a:latin typeface="+mn-ea"/>
            </a:endParaRPr>
          </a:p>
        </p:txBody>
      </p:sp>
      <p:sp>
        <p:nvSpPr>
          <p:cNvPr id="2" name="文本框 1">
            <a:extLst>
              <a:ext uri="{FF2B5EF4-FFF2-40B4-BE49-F238E27FC236}">
                <a16:creationId xmlns:a16="http://schemas.microsoft.com/office/drawing/2014/main" id="{A1E736FE-6796-7626-123F-4A60ABC080A0}"/>
              </a:ext>
            </a:extLst>
          </p:cNvPr>
          <p:cNvSpPr txBox="1"/>
          <p:nvPr/>
        </p:nvSpPr>
        <p:spPr>
          <a:xfrm>
            <a:off x="762000" y="4752692"/>
            <a:ext cx="3098304" cy="523220"/>
          </a:xfrm>
          <a:prstGeom prst="rect">
            <a:avLst/>
          </a:prstGeom>
          <a:noFill/>
        </p:spPr>
        <p:txBody>
          <a:bodyPr wrap="square" rtlCol="0">
            <a:spAutoFit/>
          </a:bodyPr>
          <a:lstStyle/>
          <a:p>
            <a:pPr marL="514350" indent="-514350">
              <a:buAutoNum type="arabicPeriod"/>
            </a:pPr>
            <a:r>
              <a:rPr lang="en-US" altLang="zh-CN" sz="2800" b="0" i="0" dirty="0">
                <a:solidFill>
                  <a:srgbClr val="FF0000"/>
                </a:solidFill>
                <a:latin typeface="+mn-ea"/>
                <a:ea typeface="+mn-ea"/>
              </a:rPr>
              <a:t>2n, n-1, n+1</a:t>
            </a:r>
            <a:endParaRPr lang="zh-CN" altLang="en-US" sz="2800" b="0" i="0" dirty="0">
              <a:solidFill>
                <a:srgbClr val="FF0000"/>
              </a:solidFill>
              <a:latin typeface="+mn-ea"/>
              <a:ea typeface="+mn-ea"/>
            </a:endParaRPr>
          </a:p>
        </p:txBody>
      </p:sp>
      <p:sp>
        <p:nvSpPr>
          <p:cNvPr id="4" name="文本框 3">
            <a:extLst>
              <a:ext uri="{FF2B5EF4-FFF2-40B4-BE49-F238E27FC236}">
                <a16:creationId xmlns:a16="http://schemas.microsoft.com/office/drawing/2014/main" id="{341ED42D-3EC8-AE18-5E1D-21BAEE26CBC6}"/>
              </a:ext>
            </a:extLst>
          </p:cNvPr>
          <p:cNvSpPr txBox="1"/>
          <p:nvPr/>
        </p:nvSpPr>
        <p:spPr>
          <a:xfrm>
            <a:off x="762000" y="4229472"/>
            <a:ext cx="3098304" cy="523220"/>
          </a:xfrm>
          <a:prstGeom prst="rect">
            <a:avLst/>
          </a:prstGeom>
          <a:noFill/>
        </p:spPr>
        <p:txBody>
          <a:bodyPr wrap="square" rtlCol="0">
            <a:spAutoFit/>
          </a:bodyPr>
          <a:lstStyle/>
          <a:p>
            <a:pPr marL="514350" indent="-514350">
              <a:buAutoNum type="arabicPeriod"/>
            </a:pPr>
            <a:r>
              <a:rPr lang="en-US" altLang="zh-CN" sz="2800" b="0" i="0" dirty="0">
                <a:solidFill>
                  <a:srgbClr val="FF0000"/>
                </a:solidFill>
                <a:latin typeface="+mn-ea"/>
                <a:ea typeface="+mn-ea"/>
              </a:rPr>
              <a:t>9</a:t>
            </a:r>
            <a:endParaRPr lang="zh-CN" altLang="en-US" sz="2800" b="0" i="0" dirty="0">
              <a:solidFill>
                <a:srgbClr val="FF0000"/>
              </a:solidFill>
              <a:latin typeface="+mn-ea"/>
              <a:ea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6">
            <a:extLst>
              <a:ext uri="{FF2B5EF4-FFF2-40B4-BE49-F238E27FC236}">
                <a16:creationId xmlns:a16="http://schemas.microsoft.com/office/drawing/2014/main" id="{B7373B32-A5EB-46F8-84E7-FF146D3566AC}"/>
              </a:ext>
            </a:extLst>
          </p:cNvPr>
          <p:cNvSpPr>
            <a:spLocks noChangeArrowheads="1"/>
          </p:cNvSpPr>
          <p:nvPr/>
        </p:nvSpPr>
        <p:spPr bwMode="auto">
          <a:xfrm>
            <a:off x="609600" y="152400"/>
            <a:ext cx="83058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lnSpc>
                <a:spcPct val="90000"/>
              </a:lnSpc>
              <a:buNone/>
            </a:pPr>
            <a:r>
              <a:rPr lang="zh-CN" altLang="en-US" sz="4400" i="0" dirty="0">
                <a:solidFill>
                  <a:schemeClr val="tx2"/>
                </a:solidFill>
                <a:ea typeface="隶书" pitchFamily="49" charset="-122"/>
              </a:rPr>
              <a:t>练习</a:t>
            </a:r>
          </a:p>
        </p:txBody>
      </p:sp>
      <p:sp>
        <p:nvSpPr>
          <p:cNvPr id="3" name="Rectangle 5">
            <a:extLst>
              <a:ext uri="{FF2B5EF4-FFF2-40B4-BE49-F238E27FC236}">
                <a16:creationId xmlns:a16="http://schemas.microsoft.com/office/drawing/2014/main" id="{364374F2-4878-4202-A34A-65E2A8CCABC8}"/>
              </a:ext>
            </a:extLst>
          </p:cNvPr>
          <p:cNvSpPr txBox="1">
            <a:spLocks noChangeArrowheads="1"/>
          </p:cNvSpPr>
          <p:nvPr/>
        </p:nvSpPr>
        <p:spPr>
          <a:xfrm>
            <a:off x="588965" y="1268760"/>
            <a:ext cx="8447531" cy="2520280"/>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60000"/>
              <a:buFont typeface="Wingdings"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folHlink"/>
              </a:buClr>
              <a:buSzPct val="6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folHlink"/>
              </a:buClr>
              <a:buSzPct val="6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folHlink"/>
              </a:buClr>
              <a:buSzPct val="6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folHlink"/>
              </a:buClr>
              <a:buSzPct val="60000"/>
              <a:buFont typeface="Wingdings" pitchFamily="2" charset="2"/>
              <a:buChar char="n"/>
              <a:defRPr sz="2000">
                <a:solidFill>
                  <a:schemeClr val="tx1"/>
                </a:solidFill>
                <a:latin typeface="+mn-lt"/>
                <a:ea typeface="+mn-ea"/>
              </a:defRPr>
            </a:lvl9pPr>
          </a:lstStyle>
          <a:p>
            <a:pPr marL="0" indent="0">
              <a:buFont typeface="Wingdings" pitchFamily="2" charset="2"/>
              <a:buNone/>
              <a:defRPr/>
            </a:pPr>
            <a:r>
              <a:rPr lang="en-US" altLang="zh-CN" sz="2800" b="0" i="0" kern="0" dirty="0">
                <a:latin typeface="+mn-ea"/>
              </a:rPr>
              <a:t>3.</a:t>
            </a:r>
            <a:r>
              <a:rPr lang="zh-CN" altLang="zh-CN" sz="2800" b="0" i="0" dirty="0">
                <a:latin typeface="+mn-ea"/>
              </a:rPr>
              <a:t>二叉树的中序和后序遍历结果分别为</a:t>
            </a:r>
            <a:r>
              <a:rPr lang="en-US" altLang="zh-CN" sz="2800" b="0" i="0" dirty="0">
                <a:latin typeface="+mn-ea"/>
              </a:rPr>
              <a:t>EFBCGHIDA</a:t>
            </a:r>
            <a:r>
              <a:rPr lang="zh-CN" altLang="zh-CN" sz="2800" b="0" i="0" dirty="0">
                <a:latin typeface="+mn-ea"/>
              </a:rPr>
              <a:t>和</a:t>
            </a:r>
            <a:r>
              <a:rPr lang="en-US" altLang="zh-CN" sz="2800" b="0" i="0" dirty="0">
                <a:latin typeface="+mn-ea"/>
              </a:rPr>
              <a:t>FEIHGDCBA</a:t>
            </a:r>
            <a:r>
              <a:rPr lang="zh-CN" altLang="zh-CN" sz="2800" b="0" i="0" dirty="0">
                <a:latin typeface="+mn-ea"/>
              </a:rPr>
              <a:t>。</a:t>
            </a:r>
          </a:p>
          <a:p>
            <a:pPr marL="0" indent="0">
              <a:buFont typeface="Wingdings" pitchFamily="2" charset="2"/>
              <a:buNone/>
              <a:defRPr/>
            </a:pPr>
            <a:r>
              <a:rPr lang="en-US" altLang="zh-CN" sz="2800" b="0" i="0" dirty="0">
                <a:latin typeface="+mn-ea"/>
              </a:rPr>
              <a:t> </a:t>
            </a:r>
            <a:r>
              <a:rPr lang="zh-CN" altLang="zh-CN" sz="2800" b="0" i="0" dirty="0">
                <a:latin typeface="+mn-ea"/>
              </a:rPr>
              <a:t>（</a:t>
            </a:r>
            <a:r>
              <a:rPr lang="en-US" altLang="zh-CN" sz="2800" b="0" i="0" dirty="0">
                <a:latin typeface="+mn-ea"/>
              </a:rPr>
              <a:t>1</a:t>
            </a:r>
            <a:r>
              <a:rPr lang="zh-CN" altLang="zh-CN" sz="2800" b="0" i="0" dirty="0">
                <a:latin typeface="+mn-ea"/>
              </a:rPr>
              <a:t>）画出该树，求其先序遍历的结果；</a:t>
            </a:r>
            <a:endParaRPr lang="en-US" altLang="zh-CN" sz="2800" b="0" i="0" dirty="0">
              <a:latin typeface="+mn-ea"/>
            </a:endParaRPr>
          </a:p>
          <a:p>
            <a:pPr marL="0" indent="0">
              <a:buFont typeface="Wingdings" pitchFamily="2" charset="2"/>
              <a:buNone/>
              <a:defRPr/>
            </a:pPr>
            <a:r>
              <a:rPr lang="en-US" altLang="zh-CN" sz="2800" b="0" i="0" dirty="0">
                <a:latin typeface="+mn-ea"/>
              </a:rPr>
              <a:t> </a:t>
            </a:r>
            <a:r>
              <a:rPr lang="zh-CN" altLang="zh-CN" sz="2800" b="0" i="0" dirty="0">
                <a:latin typeface="+mn-ea"/>
              </a:rPr>
              <a:t>（</a:t>
            </a:r>
            <a:r>
              <a:rPr lang="en-US" altLang="zh-CN" sz="2800" b="0" i="0" dirty="0">
                <a:latin typeface="+mn-ea"/>
              </a:rPr>
              <a:t>2</a:t>
            </a:r>
            <a:r>
              <a:rPr lang="zh-CN" altLang="zh-CN" sz="2800" b="0" i="0" dirty="0">
                <a:latin typeface="+mn-ea"/>
              </a:rPr>
              <a:t>）将其转换为树，画出转换后的树</a:t>
            </a:r>
            <a:r>
              <a:rPr lang="zh-CN" altLang="en-US" sz="2800" b="0" i="0" dirty="0">
                <a:latin typeface="+mn-ea"/>
              </a:rPr>
              <a:t>。</a:t>
            </a:r>
            <a:endParaRPr lang="en-US" altLang="zh-CN" sz="2800" b="0" i="0" dirty="0">
              <a:latin typeface="+mn-ea"/>
            </a:endParaRPr>
          </a:p>
          <a:p>
            <a:pPr marL="0" indent="0">
              <a:buFont typeface="Wingdings" pitchFamily="2" charset="2"/>
              <a:buNone/>
              <a:defRPr/>
            </a:pPr>
            <a:r>
              <a:rPr lang="en-US" altLang="zh-CN" sz="2800" b="0" i="0" dirty="0">
                <a:latin typeface="+mn-ea"/>
              </a:rPr>
              <a:t> </a:t>
            </a:r>
            <a:r>
              <a:rPr lang="zh-CN" altLang="en-US" sz="2800" b="0" i="0" dirty="0">
                <a:latin typeface="+mn-ea"/>
              </a:rPr>
              <a:t>（</a:t>
            </a:r>
            <a:r>
              <a:rPr lang="en-US" altLang="zh-CN" sz="2800" b="0" i="0" dirty="0">
                <a:latin typeface="+mn-ea"/>
              </a:rPr>
              <a:t>3</a:t>
            </a:r>
            <a:r>
              <a:rPr lang="zh-CN" altLang="en-US" sz="2800" b="0" i="0" dirty="0">
                <a:latin typeface="+mn-ea"/>
              </a:rPr>
              <a:t>）</a:t>
            </a:r>
            <a:r>
              <a:rPr lang="zh-CN" altLang="zh-CN" sz="2800" b="0" i="0" dirty="0">
                <a:latin typeface="+mn-ea"/>
              </a:rPr>
              <a:t>求其先根、后根遍历序列。</a:t>
            </a:r>
            <a:endParaRPr lang="en-US" altLang="zh-CN" sz="2800" b="0" i="0" dirty="0">
              <a:latin typeface="+mn-ea"/>
            </a:endParaRPr>
          </a:p>
        </p:txBody>
      </p:sp>
    </p:spTree>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6">
            <a:extLst>
              <a:ext uri="{FF2B5EF4-FFF2-40B4-BE49-F238E27FC236}">
                <a16:creationId xmlns:a16="http://schemas.microsoft.com/office/drawing/2014/main" id="{B7373B32-A5EB-46F8-84E7-FF146D3566AC}"/>
              </a:ext>
            </a:extLst>
          </p:cNvPr>
          <p:cNvSpPr>
            <a:spLocks noChangeArrowheads="1"/>
          </p:cNvSpPr>
          <p:nvPr/>
        </p:nvSpPr>
        <p:spPr bwMode="auto">
          <a:xfrm>
            <a:off x="609600" y="152400"/>
            <a:ext cx="83058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lnSpc>
                <a:spcPct val="90000"/>
              </a:lnSpc>
              <a:buNone/>
            </a:pPr>
            <a:r>
              <a:rPr lang="en-US" altLang="zh-CN" sz="4400" i="0" dirty="0">
                <a:solidFill>
                  <a:schemeClr val="tx2"/>
                </a:solidFill>
                <a:ea typeface="隶书" pitchFamily="49" charset="-122"/>
              </a:rPr>
              <a:t>OJ</a:t>
            </a:r>
            <a:r>
              <a:rPr lang="zh-CN" altLang="en-US" sz="4400" i="0" dirty="0">
                <a:solidFill>
                  <a:schemeClr val="tx2"/>
                </a:solidFill>
                <a:ea typeface="隶书" pitchFamily="49" charset="-122"/>
              </a:rPr>
              <a:t>森林叶子编程</a:t>
            </a:r>
          </a:p>
        </p:txBody>
      </p:sp>
      <p:sp>
        <p:nvSpPr>
          <p:cNvPr id="3" name="Rectangle 5">
            <a:extLst>
              <a:ext uri="{FF2B5EF4-FFF2-40B4-BE49-F238E27FC236}">
                <a16:creationId xmlns:a16="http://schemas.microsoft.com/office/drawing/2014/main" id="{364374F2-4878-4202-A34A-65E2A8CCABC8}"/>
              </a:ext>
            </a:extLst>
          </p:cNvPr>
          <p:cNvSpPr txBox="1">
            <a:spLocks noChangeArrowheads="1"/>
          </p:cNvSpPr>
          <p:nvPr/>
        </p:nvSpPr>
        <p:spPr>
          <a:xfrm>
            <a:off x="381000" y="1268760"/>
            <a:ext cx="8763000" cy="4114800"/>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60000"/>
              <a:buFont typeface="Wingdings"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folHlink"/>
              </a:buClr>
              <a:buSzPct val="6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folHlink"/>
              </a:buClr>
              <a:buSzPct val="6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folHlink"/>
              </a:buClr>
              <a:buSzPct val="6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folHlink"/>
              </a:buClr>
              <a:buSzPct val="60000"/>
              <a:buFont typeface="Wingdings" pitchFamily="2" charset="2"/>
              <a:buChar char="n"/>
              <a:defRPr sz="2000">
                <a:solidFill>
                  <a:schemeClr val="tx1"/>
                </a:solidFill>
                <a:latin typeface="+mn-lt"/>
                <a:ea typeface="+mn-ea"/>
              </a:defRPr>
            </a:lvl9pPr>
          </a:lstStyle>
          <a:p>
            <a:pPr marL="0" indent="0">
              <a:buFont typeface="Wingdings" pitchFamily="2" charset="2"/>
              <a:buNone/>
              <a:defRPr/>
            </a:pPr>
            <a:endParaRPr lang="en-US" altLang="zh-CN" b="1" i="0" dirty="0"/>
          </a:p>
        </p:txBody>
      </p:sp>
      <p:sp>
        <p:nvSpPr>
          <p:cNvPr id="5" name="文本框 4">
            <a:extLst>
              <a:ext uri="{FF2B5EF4-FFF2-40B4-BE49-F238E27FC236}">
                <a16:creationId xmlns:a16="http://schemas.microsoft.com/office/drawing/2014/main" id="{BDC94B94-A76D-42E3-9FD8-39C29789CFF0}"/>
              </a:ext>
            </a:extLst>
          </p:cNvPr>
          <p:cNvSpPr txBox="1"/>
          <p:nvPr/>
        </p:nvSpPr>
        <p:spPr>
          <a:xfrm>
            <a:off x="622010" y="1268760"/>
            <a:ext cx="8140990" cy="1384995"/>
          </a:xfrm>
          <a:prstGeom prst="rect">
            <a:avLst/>
          </a:prstGeom>
          <a:noFill/>
        </p:spPr>
        <p:txBody>
          <a:bodyPr wrap="square">
            <a:spAutoFit/>
          </a:bodyPr>
          <a:lstStyle/>
          <a:p>
            <a:r>
              <a:rPr lang="zh-CN" altLang="en-US" sz="2800" b="0" i="0" dirty="0">
                <a:solidFill>
                  <a:srgbClr val="000000"/>
                </a:solidFill>
                <a:effectLst/>
                <a:latin typeface="黑体" panose="02010609060101010101" pitchFamily="49" charset="-122"/>
                <a:ea typeface="黑体" panose="02010609060101010101" pitchFamily="49" charset="-122"/>
              </a:rPr>
              <a:t>给定一组森林，编写程序生成对应的二叉树，输出这棵二叉树叶结点对应的二进制编码</a:t>
            </a:r>
            <a:r>
              <a:rPr lang="en-US" altLang="zh-CN" sz="2800" b="0" i="0" dirty="0">
                <a:solidFill>
                  <a:srgbClr val="000000"/>
                </a:solidFill>
                <a:effectLst/>
                <a:latin typeface="黑体" panose="02010609060101010101" pitchFamily="49" charset="-122"/>
                <a:ea typeface="黑体" panose="02010609060101010101" pitchFamily="49" charset="-122"/>
              </a:rPr>
              <a:t>.</a:t>
            </a:r>
            <a:r>
              <a:rPr lang="zh-CN" altLang="en-US" sz="2800" b="0" i="0" dirty="0">
                <a:solidFill>
                  <a:srgbClr val="000000"/>
                </a:solidFill>
                <a:effectLst/>
                <a:latin typeface="黑体" panose="02010609060101010101" pitchFamily="49" charset="-122"/>
                <a:ea typeface="黑体" panose="02010609060101010101" pitchFamily="49" charset="-122"/>
              </a:rPr>
              <a:t>规定二叉树的左边由</a:t>
            </a:r>
            <a:r>
              <a:rPr lang="en-US" altLang="zh-CN" sz="2800" b="0" i="0" dirty="0">
                <a:solidFill>
                  <a:srgbClr val="000000"/>
                </a:solidFill>
                <a:effectLst/>
                <a:latin typeface="黑体" panose="02010609060101010101" pitchFamily="49" charset="-122"/>
                <a:ea typeface="黑体" panose="02010609060101010101" pitchFamily="49" charset="-122"/>
              </a:rPr>
              <a:t>0</a:t>
            </a:r>
            <a:r>
              <a:rPr lang="zh-CN" altLang="en-US" sz="2800" b="0" i="0" dirty="0">
                <a:solidFill>
                  <a:srgbClr val="000000"/>
                </a:solidFill>
                <a:effectLst/>
                <a:latin typeface="黑体" panose="02010609060101010101" pitchFamily="49" charset="-122"/>
                <a:ea typeface="黑体" panose="02010609060101010101" pitchFamily="49" charset="-122"/>
              </a:rPr>
              <a:t>表示，二叉树的右边由</a:t>
            </a:r>
            <a:r>
              <a:rPr lang="en-US" altLang="zh-CN" sz="2800" b="0" i="0" dirty="0">
                <a:solidFill>
                  <a:srgbClr val="000000"/>
                </a:solidFill>
                <a:effectLst/>
                <a:latin typeface="黑体" panose="02010609060101010101" pitchFamily="49" charset="-122"/>
                <a:ea typeface="黑体" panose="02010609060101010101" pitchFamily="49" charset="-122"/>
              </a:rPr>
              <a:t>1</a:t>
            </a:r>
            <a:r>
              <a:rPr lang="zh-CN" altLang="en-US" sz="2800" b="0" i="0" dirty="0">
                <a:solidFill>
                  <a:srgbClr val="000000"/>
                </a:solidFill>
                <a:effectLst/>
                <a:latin typeface="黑体" panose="02010609060101010101" pitchFamily="49" charset="-122"/>
                <a:ea typeface="黑体" panose="02010609060101010101" pitchFamily="49" charset="-122"/>
              </a:rPr>
              <a:t>表示。</a:t>
            </a:r>
            <a:endParaRPr lang="zh-CN" altLang="en-US" sz="2800" b="0" dirty="0">
              <a:latin typeface="黑体" panose="02010609060101010101" pitchFamily="49" charset="-122"/>
              <a:ea typeface="黑体" panose="02010609060101010101" pitchFamily="49" charset="-122"/>
            </a:endParaRPr>
          </a:p>
        </p:txBody>
      </p:sp>
      <p:sp>
        <p:nvSpPr>
          <p:cNvPr id="4" name="Rectangle 1">
            <a:extLst>
              <a:ext uri="{FF2B5EF4-FFF2-40B4-BE49-F238E27FC236}">
                <a16:creationId xmlns:a16="http://schemas.microsoft.com/office/drawing/2014/main" id="{02CDC5CB-A943-4B93-AE4E-07415C249787}"/>
              </a:ext>
            </a:extLst>
          </p:cNvPr>
          <p:cNvSpPr>
            <a:spLocks noChangeArrowheads="1"/>
          </p:cNvSpPr>
          <p:nvPr/>
        </p:nvSpPr>
        <p:spPr bwMode="auto">
          <a:xfrm>
            <a:off x="622010" y="3665348"/>
            <a:ext cx="6011582"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输入：</a:t>
            </a:r>
            <a:endParaRPr kumimoji="0" lang="zh-CN" altLang="zh-CN" sz="2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N B  表示N个树，每结点最多B个分支</a:t>
            </a:r>
            <a:endParaRPr kumimoji="0" lang="zh-CN" altLang="zh-CN" sz="2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第2行至第N+1行，每个树的先序遍历</a:t>
            </a:r>
            <a:endParaRPr kumimoji="0" lang="zh-CN" altLang="zh-CN" sz="2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945353453"/>
      </p:ext>
    </p:extLst>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6">
            <a:extLst>
              <a:ext uri="{FF2B5EF4-FFF2-40B4-BE49-F238E27FC236}">
                <a16:creationId xmlns:a16="http://schemas.microsoft.com/office/drawing/2014/main" id="{B7373B32-A5EB-46F8-84E7-FF146D3566AC}"/>
              </a:ext>
            </a:extLst>
          </p:cNvPr>
          <p:cNvSpPr>
            <a:spLocks noChangeArrowheads="1"/>
          </p:cNvSpPr>
          <p:nvPr/>
        </p:nvSpPr>
        <p:spPr bwMode="auto">
          <a:xfrm>
            <a:off x="609600" y="152400"/>
            <a:ext cx="83058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lnSpc>
                <a:spcPct val="90000"/>
              </a:lnSpc>
              <a:buNone/>
            </a:pPr>
            <a:r>
              <a:rPr lang="en-US" altLang="zh-CN" sz="4400" i="0" dirty="0">
                <a:solidFill>
                  <a:schemeClr val="tx2"/>
                </a:solidFill>
                <a:ea typeface="隶书" pitchFamily="49" charset="-122"/>
              </a:rPr>
              <a:t>OJ</a:t>
            </a:r>
            <a:r>
              <a:rPr lang="zh-CN" altLang="en-US" sz="4400" i="0" dirty="0">
                <a:solidFill>
                  <a:schemeClr val="tx2"/>
                </a:solidFill>
                <a:ea typeface="隶书" pitchFamily="49" charset="-122"/>
              </a:rPr>
              <a:t>森林叶子编程</a:t>
            </a:r>
          </a:p>
        </p:txBody>
      </p:sp>
      <p:sp>
        <p:nvSpPr>
          <p:cNvPr id="3" name="Rectangle 5">
            <a:extLst>
              <a:ext uri="{FF2B5EF4-FFF2-40B4-BE49-F238E27FC236}">
                <a16:creationId xmlns:a16="http://schemas.microsoft.com/office/drawing/2014/main" id="{364374F2-4878-4202-A34A-65E2A8CCABC8}"/>
              </a:ext>
            </a:extLst>
          </p:cNvPr>
          <p:cNvSpPr txBox="1">
            <a:spLocks noChangeArrowheads="1"/>
          </p:cNvSpPr>
          <p:nvPr/>
        </p:nvSpPr>
        <p:spPr>
          <a:xfrm>
            <a:off x="381000" y="1268760"/>
            <a:ext cx="8763000" cy="3105055"/>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60000"/>
              <a:buFont typeface="Wingdings"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folHlink"/>
              </a:buClr>
              <a:buSzPct val="6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folHlink"/>
              </a:buClr>
              <a:buSzPct val="6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folHlink"/>
              </a:buClr>
              <a:buSzPct val="6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folHlink"/>
              </a:buClr>
              <a:buSzPct val="60000"/>
              <a:buFont typeface="Wingdings" pitchFamily="2" charset="2"/>
              <a:buChar char="n"/>
              <a:defRPr sz="2000">
                <a:solidFill>
                  <a:schemeClr val="tx1"/>
                </a:solidFill>
                <a:latin typeface="+mn-lt"/>
                <a:ea typeface="+mn-ea"/>
              </a:defRPr>
            </a:lvl9pPr>
          </a:lstStyle>
          <a:p>
            <a:pPr marL="0" indent="0">
              <a:buFont typeface="Wingdings" pitchFamily="2" charset="2"/>
              <a:buNone/>
              <a:defRPr/>
            </a:pPr>
            <a:endParaRPr lang="en-US" altLang="zh-CN" b="1" i="0" dirty="0"/>
          </a:p>
        </p:txBody>
      </p:sp>
      <p:sp>
        <p:nvSpPr>
          <p:cNvPr id="5" name="文本框 4">
            <a:extLst>
              <a:ext uri="{FF2B5EF4-FFF2-40B4-BE49-F238E27FC236}">
                <a16:creationId xmlns:a16="http://schemas.microsoft.com/office/drawing/2014/main" id="{BDC94B94-A76D-42E3-9FD8-39C29789CFF0}"/>
              </a:ext>
            </a:extLst>
          </p:cNvPr>
          <p:cNvSpPr txBox="1"/>
          <p:nvPr/>
        </p:nvSpPr>
        <p:spPr>
          <a:xfrm>
            <a:off x="511590" y="3789040"/>
            <a:ext cx="8414486" cy="523220"/>
          </a:xfrm>
          <a:prstGeom prst="rect">
            <a:avLst/>
          </a:prstGeom>
          <a:noFill/>
        </p:spPr>
        <p:txBody>
          <a:bodyPr wrap="square">
            <a:spAutoFit/>
          </a:bodyPr>
          <a:lstStyle/>
          <a:p>
            <a:r>
              <a:rPr lang="zh-CN" altLang="en-US" sz="2800" b="0" i="0" dirty="0">
                <a:solidFill>
                  <a:srgbClr val="FF0000"/>
                </a:solidFill>
                <a:effectLst/>
                <a:latin typeface="黑体" panose="02010609060101010101" pitchFamily="49" charset="-122"/>
                <a:ea typeface="黑体" panose="02010609060101010101" pitchFamily="49" charset="-122"/>
              </a:rPr>
              <a:t>每行表示一个</a:t>
            </a:r>
            <a:r>
              <a:rPr lang="zh-CN" altLang="en-US" sz="2800" b="0" i="0" dirty="0">
                <a:solidFill>
                  <a:srgbClr val="FF0000"/>
                </a:solidFill>
                <a:latin typeface="黑体" panose="02010609060101010101" pitchFamily="49" charset="-122"/>
                <a:ea typeface="黑体" panose="02010609060101010101" pitchFamily="49" charset="-122"/>
              </a:rPr>
              <a:t>叶结点对应的二进制编码。</a:t>
            </a:r>
          </a:p>
        </p:txBody>
      </p:sp>
      <p:sp>
        <p:nvSpPr>
          <p:cNvPr id="4" name="Rectangle 1">
            <a:extLst>
              <a:ext uri="{FF2B5EF4-FFF2-40B4-BE49-F238E27FC236}">
                <a16:creationId xmlns:a16="http://schemas.microsoft.com/office/drawing/2014/main" id="{02CDC5CB-A943-4B93-AE4E-07415C249787}"/>
              </a:ext>
            </a:extLst>
          </p:cNvPr>
          <p:cNvSpPr>
            <a:spLocks noChangeArrowheads="1"/>
          </p:cNvSpPr>
          <p:nvPr/>
        </p:nvSpPr>
        <p:spPr bwMode="auto">
          <a:xfrm>
            <a:off x="539552" y="1387167"/>
            <a:ext cx="4852610"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r>
              <a:rPr lang="pt-BR" altLang="zh-CN" sz="2800" b="0" i="0" dirty="0">
                <a:latin typeface="+mn-ea"/>
                <a:ea typeface="+mn-ea"/>
              </a:rPr>
              <a:t>3 3 </a:t>
            </a:r>
          </a:p>
          <a:p>
            <a:pPr lvl="0"/>
            <a:r>
              <a:rPr lang="pt-BR" altLang="zh-CN" sz="2800" b="0" i="0" dirty="0">
                <a:latin typeface="+mn-ea"/>
                <a:ea typeface="+mn-ea"/>
              </a:rPr>
              <a:t>A B 0 0 0 C 0 0 0 D 0 0 0 </a:t>
            </a:r>
          </a:p>
          <a:p>
            <a:pPr lvl="0"/>
            <a:r>
              <a:rPr lang="pt-BR" altLang="zh-CN" sz="2800" b="0" i="0" dirty="0">
                <a:latin typeface="+mn-ea"/>
                <a:ea typeface="+mn-ea"/>
              </a:rPr>
              <a:t>E F 0 0 0 0 0 </a:t>
            </a:r>
          </a:p>
          <a:p>
            <a:pPr lvl="0"/>
            <a:r>
              <a:rPr lang="pt-BR" altLang="zh-CN" sz="2800" b="0" i="0" dirty="0">
                <a:latin typeface="+mn-ea"/>
                <a:ea typeface="+mn-ea"/>
              </a:rPr>
              <a:t>G H 0 0 0 I J 0 0 0 0 0 0</a:t>
            </a:r>
            <a:endParaRPr kumimoji="0" lang="zh-CN" altLang="zh-CN" sz="2800" b="0" i="0" u="none" strike="noStrike" cap="none" normalizeH="0" baseline="0" dirty="0">
              <a:ln>
                <a:noFill/>
              </a:ln>
              <a:solidFill>
                <a:schemeClr val="tx1"/>
              </a:solidFill>
              <a:effectLst/>
              <a:latin typeface="+mn-ea"/>
              <a:ea typeface="+mn-ea"/>
            </a:endParaRPr>
          </a:p>
        </p:txBody>
      </p:sp>
      <p:sp>
        <p:nvSpPr>
          <p:cNvPr id="7" name="文本框 6">
            <a:extLst>
              <a:ext uri="{FF2B5EF4-FFF2-40B4-BE49-F238E27FC236}">
                <a16:creationId xmlns:a16="http://schemas.microsoft.com/office/drawing/2014/main" id="{BF575482-B0E7-4B64-B688-52C3D52A6DBF}"/>
              </a:ext>
            </a:extLst>
          </p:cNvPr>
          <p:cNvSpPr txBox="1"/>
          <p:nvPr/>
        </p:nvSpPr>
        <p:spPr>
          <a:xfrm>
            <a:off x="611560" y="4653136"/>
            <a:ext cx="4613562" cy="1384995"/>
          </a:xfrm>
          <a:prstGeom prst="rect">
            <a:avLst/>
          </a:prstGeom>
          <a:noFill/>
        </p:spPr>
        <p:txBody>
          <a:bodyPr wrap="square">
            <a:spAutoFit/>
          </a:bodyPr>
          <a:lstStyle/>
          <a:p>
            <a:r>
              <a:rPr lang="en-US" altLang="zh-CN" sz="2800" b="0" i="0" dirty="0">
                <a:solidFill>
                  <a:srgbClr val="FF0000"/>
                </a:solidFill>
                <a:effectLst/>
                <a:latin typeface="+mn-ea"/>
                <a:ea typeface="+mn-ea"/>
              </a:rPr>
              <a:t>0 1 1 </a:t>
            </a:r>
          </a:p>
          <a:p>
            <a:r>
              <a:rPr lang="en-US" altLang="zh-CN" sz="2800" b="0" i="0" dirty="0">
                <a:solidFill>
                  <a:srgbClr val="FF0000"/>
                </a:solidFill>
                <a:effectLst/>
                <a:latin typeface="+mn-ea"/>
                <a:ea typeface="+mn-ea"/>
              </a:rPr>
              <a:t>1 0 </a:t>
            </a:r>
          </a:p>
          <a:p>
            <a:r>
              <a:rPr lang="en-US" altLang="zh-CN" sz="2800" b="0" i="0" dirty="0">
                <a:solidFill>
                  <a:srgbClr val="FF0000"/>
                </a:solidFill>
                <a:effectLst/>
                <a:latin typeface="+mn-ea"/>
                <a:ea typeface="+mn-ea"/>
              </a:rPr>
              <a:t>1 1 0 1 0</a:t>
            </a:r>
            <a:endParaRPr lang="zh-CN" altLang="en-US" sz="2800" b="0" dirty="0">
              <a:solidFill>
                <a:srgbClr val="FF0000"/>
              </a:solidFill>
              <a:latin typeface="+mn-ea"/>
              <a:ea typeface="+mn-ea"/>
            </a:endParaRPr>
          </a:p>
        </p:txBody>
      </p:sp>
    </p:spTree>
    <p:extLst>
      <p:ext uri="{BB962C8B-B14F-4D97-AF65-F5344CB8AC3E}">
        <p14:creationId xmlns:p14="http://schemas.microsoft.com/office/powerpoint/2010/main" val="335208632"/>
      </p:ext>
    </p:extLst>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6">
            <a:extLst>
              <a:ext uri="{FF2B5EF4-FFF2-40B4-BE49-F238E27FC236}">
                <a16:creationId xmlns:a16="http://schemas.microsoft.com/office/drawing/2014/main" id="{B7373B32-A5EB-46F8-84E7-FF146D3566AC}"/>
              </a:ext>
            </a:extLst>
          </p:cNvPr>
          <p:cNvSpPr>
            <a:spLocks noChangeArrowheads="1"/>
          </p:cNvSpPr>
          <p:nvPr/>
        </p:nvSpPr>
        <p:spPr bwMode="auto">
          <a:xfrm>
            <a:off x="609600" y="152400"/>
            <a:ext cx="83058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lnSpc>
                <a:spcPct val="90000"/>
              </a:lnSpc>
              <a:buNone/>
            </a:pPr>
            <a:r>
              <a:rPr lang="en-US" altLang="zh-CN" sz="4400" i="0" dirty="0">
                <a:solidFill>
                  <a:schemeClr val="tx2"/>
                </a:solidFill>
                <a:ea typeface="隶书" pitchFamily="49" charset="-122"/>
              </a:rPr>
              <a:t>OJ</a:t>
            </a:r>
            <a:r>
              <a:rPr lang="zh-CN" altLang="en-US" sz="4400" i="0" dirty="0">
                <a:solidFill>
                  <a:schemeClr val="tx2"/>
                </a:solidFill>
                <a:ea typeface="隶书" pitchFamily="49" charset="-122"/>
              </a:rPr>
              <a:t>森林叶子编程</a:t>
            </a:r>
          </a:p>
        </p:txBody>
      </p:sp>
      <p:sp>
        <p:nvSpPr>
          <p:cNvPr id="3" name="Rectangle 5">
            <a:extLst>
              <a:ext uri="{FF2B5EF4-FFF2-40B4-BE49-F238E27FC236}">
                <a16:creationId xmlns:a16="http://schemas.microsoft.com/office/drawing/2014/main" id="{364374F2-4878-4202-A34A-65E2A8CCABC8}"/>
              </a:ext>
            </a:extLst>
          </p:cNvPr>
          <p:cNvSpPr txBox="1">
            <a:spLocks noChangeArrowheads="1"/>
          </p:cNvSpPr>
          <p:nvPr/>
        </p:nvSpPr>
        <p:spPr>
          <a:xfrm>
            <a:off x="381000" y="1268760"/>
            <a:ext cx="8763000" cy="3105055"/>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60000"/>
              <a:buFont typeface="Wingdings"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folHlink"/>
              </a:buClr>
              <a:buSzPct val="6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folHlink"/>
              </a:buClr>
              <a:buSzPct val="6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folHlink"/>
              </a:buClr>
              <a:buSzPct val="6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folHlink"/>
              </a:buClr>
              <a:buSzPct val="60000"/>
              <a:buFont typeface="Wingdings" pitchFamily="2" charset="2"/>
              <a:buChar char="n"/>
              <a:defRPr sz="2000">
                <a:solidFill>
                  <a:schemeClr val="tx1"/>
                </a:solidFill>
                <a:latin typeface="+mn-lt"/>
                <a:ea typeface="+mn-ea"/>
              </a:defRPr>
            </a:lvl9pPr>
          </a:lstStyle>
          <a:p>
            <a:pPr marL="0" indent="0">
              <a:buFont typeface="Wingdings" pitchFamily="2" charset="2"/>
              <a:buNone/>
              <a:defRPr/>
            </a:pPr>
            <a:endParaRPr lang="en-US" altLang="zh-CN" b="1" i="0" dirty="0"/>
          </a:p>
        </p:txBody>
      </p:sp>
      <p:sp>
        <p:nvSpPr>
          <p:cNvPr id="4" name="Rectangle 1">
            <a:extLst>
              <a:ext uri="{FF2B5EF4-FFF2-40B4-BE49-F238E27FC236}">
                <a16:creationId xmlns:a16="http://schemas.microsoft.com/office/drawing/2014/main" id="{02CDC5CB-A943-4B93-AE4E-07415C249787}"/>
              </a:ext>
            </a:extLst>
          </p:cNvPr>
          <p:cNvSpPr>
            <a:spLocks noChangeArrowheads="1"/>
          </p:cNvSpPr>
          <p:nvPr/>
        </p:nvSpPr>
        <p:spPr bwMode="auto">
          <a:xfrm>
            <a:off x="511590" y="1272073"/>
            <a:ext cx="8443337"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r>
              <a:rPr lang="zh-CN" altLang="en-US" sz="2800" b="0" i="0" dirty="0">
                <a:solidFill>
                  <a:srgbClr val="FF0000"/>
                </a:solidFill>
                <a:latin typeface="+mn-ea"/>
                <a:ea typeface="+mn-ea"/>
              </a:rPr>
              <a:t>思路：创建</a:t>
            </a:r>
            <a:r>
              <a:rPr lang="en-US" altLang="zh-CN" sz="2800" b="0" i="0" dirty="0">
                <a:solidFill>
                  <a:srgbClr val="FF0000"/>
                </a:solidFill>
                <a:latin typeface="+mn-ea"/>
                <a:ea typeface="+mn-ea"/>
              </a:rPr>
              <a:t>k</a:t>
            </a:r>
            <a:r>
              <a:rPr lang="zh-CN" altLang="en-US" sz="2800" b="0" i="0" dirty="0">
                <a:solidFill>
                  <a:srgbClr val="FF0000"/>
                </a:solidFill>
                <a:latin typeface="+mn-ea"/>
                <a:ea typeface="+mn-ea"/>
              </a:rPr>
              <a:t>叉树，</a:t>
            </a:r>
            <a:r>
              <a:rPr lang="zh-CN" altLang="en-US" sz="2800" b="0" i="0" dirty="0">
                <a:latin typeface="+mn-ea"/>
                <a:ea typeface="+mn-ea"/>
              </a:rPr>
              <a:t>同二叉树创建，非</a:t>
            </a:r>
            <a:r>
              <a:rPr lang="en-US" altLang="zh-CN" sz="2800" b="0" i="0" dirty="0">
                <a:latin typeface="+mn-ea"/>
                <a:ea typeface="+mn-ea"/>
              </a:rPr>
              <a:t>0</a:t>
            </a:r>
            <a:r>
              <a:rPr lang="zh-CN" altLang="en-US" sz="2800" b="0" i="0" dirty="0">
                <a:latin typeface="+mn-ea"/>
                <a:ea typeface="+mn-ea"/>
              </a:rPr>
              <a:t>，创建结点，</a:t>
            </a:r>
            <a:endParaRPr lang="en-US" altLang="zh-CN" sz="2800" b="0" i="0" dirty="0">
              <a:latin typeface="+mn-ea"/>
              <a:ea typeface="+mn-ea"/>
            </a:endParaRPr>
          </a:p>
          <a:p>
            <a:pPr lvl="0"/>
            <a:r>
              <a:rPr lang="en-US" altLang="zh-CN" sz="2800" b="0" i="0" dirty="0">
                <a:latin typeface="+mn-ea"/>
                <a:ea typeface="+mn-ea"/>
              </a:rPr>
              <a:t>      </a:t>
            </a:r>
            <a:r>
              <a:rPr lang="zh-CN" altLang="en-US" sz="2800" b="0" i="0" dirty="0">
                <a:latin typeface="+mn-ea"/>
                <a:ea typeface="+mn-ea"/>
              </a:rPr>
              <a:t>递归创建该结点</a:t>
            </a:r>
            <a:r>
              <a:rPr lang="en-US" altLang="zh-CN" sz="2800" b="0" i="0" dirty="0">
                <a:latin typeface="+mn-ea"/>
                <a:ea typeface="+mn-ea"/>
              </a:rPr>
              <a:t>k</a:t>
            </a:r>
            <a:r>
              <a:rPr lang="zh-CN" altLang="en-US" sz="2800" b="0" i="0" dirty="0">
                <a:latin typeface="+mn-ea"/>
                <a:ea typeface="+mn-ea"/>
              </a:rPr>
              <a:t>棵子树。</a:t>
            </a:r>
            <a:endParaRPr lang="en-US" altLang="zh-CN" sz="2800" b="0" i="0" dirty="0">
              <a:latin typeface="+mn-ea"/>
              <a:ea typeface="+mn-ea"/>
            </a:endParaRPr>
          </a:p>
          <a:p>
            <a:pPr lvl="0"/>
            <a:r>
              <a:rPr lang="en-US" altLang="zh-CN" sz="2800" b="0" i="0" dirty="0">
                <a:latin typeface="+mn-ea"/>
                <a:ea typeface="+mn-ea"/>
              </a:rPr>
              <a:t>      </a:t>
            </a:r>
            <a:r>
              <a:rPr lang="zh-CN" altLang="en-US" sz="2800" b="0" i="0" dirty="0">
                <a:latin typeface="+mn-ea"/>
                <a:ea typeface="+mn-ea"/>
              </a:rPr>
              <a:t>然后，按树与二叉树的对应关系链接各子树。</a:t>
            </a:r>
            <a:endParaRPr lang="en-US" altLang="zh-CN" sz="2800" b="0" i="0" dirty="0">
              <a:latin typeface="+mn-ea"/>
              <a:ea typeface="+mn-ea"/>
            </a:endParaRPr>
          </a:p>
          <a:p>
            <a:pPr lvl="0"/>
            <a:r>
              <a:rPr kumimoji="0" lang="en-US" altLang="zh-CN" sz="2800" b="0" i="0" u="none" strike="noStrike" cap="none" normalizeH="0" baseline="0" dirty="0">
                <a:ln>
                  <a:noFill/>
                </a:ln>
                <a:solidFill>
                  <a:schemeClr val="tx1"/>
                </a:solidFill>
                <a:effectLst/>
                <a:latin typeface="+mn-ea"/>
                <a:ea typeface="+mn-ea"/>
              </a:rPr>
              <a:t>      </a:t>
            </a:r>
            <a:r>
              <a:rPr kumimoji="0" lang="zh-CN" altLang="en-US" sz="2800" b="0" i="0" u="none" strike="noStrike" cap="none" normalizeH="0" baseline="0" dirty="0">
                <a:ln>
                  <a:noFill/>
                </a:ln>
                <a:solidFill>
                  <a:schemeClr val="tx1"/>
                </a:solidFill>
                <a:effectLst/>
                <a:latin typeface="+mn-ea"/>
                <a:ea typeface="+mn-ea"/>
              </a:rPr>
              <a:t>第一个子树非空，该结点左孩子。</a:t>
            </a:r>
            <a:endParaRPr kumimoji="0" lang="en-US" altLang="zh-CN" sz="2800" b="0" i="0" u="none" strike="noStrike" cap="none" normalizeH="0" baseline="0" dirty="0">
              <a:ln>
                <a:noFill/>
              </a:ln>
              <a:solidFill>
                <a:schemeClr val="tx1"/>
              </a:solidFill>
              <a:effectLst/>
              <a:latin typeface="+mn-ea"/>
              <a:ea typeface="+mn-ea"/>
            </a:endParaRPr>
          </a:p>
          <a:p>
            <a:pPr lvl="0"/>
            <a:r>
              <a:rPr kumimoji="0" lang="en-US" altLang="zh-CN" sz="2800" b="0" i="0" u="none" strike="noStrike" cap="none" normalizeH="0" baseline="0" dirty="0">
                <a:ln>
                  <a:noFill/>
                </a:ln>
                <a:solidFill>
                  <a:schemeClr val="tx1"/>
                </a:solidFill>
                <a:effectLst/>
                <a:latin typeface="+mn-ea"/>
                <a:ea typeface="+mn-ea"/>
              </a:rPr>
              <a:t>      </a:t>
            </a:r>
            <a:r>
              <a:rPr kumimoji="0" lang="zh-CN" altLang="en-US" sz="2800" b="0" i="0" u="none" strike="noStrike" cap="none" normalizeH="0" baseline="0" dirty="0">
                <a:ln>
                  <a:noFill/>
                </a:ln>
                <a:solidFill>
                  <a:schemeClr val="tx1"/>
                </a:solidFill>
                <a:effectLst/>
                <a:latin typeface="+mn-ea"/>
                <a:ea typeface="+mn-ea"/>
              </a:rPr>
              <a:t>第二个子树非空，该节点左孩子的右孩子。</a:t>
            </a:r>
            <a:endParaRPr kumimoji="0" lang="en-US" altLang="zh-CN" sz="2800" b="0" i="0" u="none" strike="noStrike" cap="none" normalizeH="0" baseline="0" dirty="0">
              <a:ln>
                <a:noFill/>
              </a:ln>
              <a:solidFill>
                <a:schemeClr val="tx1"/>
              </a:solidFill>
              <a:effectLst/>
              <a:latin typeface="+mn-ea"/>
              <a:ea typeface="+mn-ea"/>
            </a:endParaRPr>
          </a:p>
          <a:p>
            <a:pPr lvl="0"/>
            <a:r>
              <a:rPr kumimoji="0" lang="en-US" altLang="zh-CN" sz="2800" b="0" i="0" u="none" strike="noStrike" cap="none" normalizeH="0" baseline="0" dirty="0">
                <a:ln>
                  <a:noFill/>
                </a:ln>
                <a:solidFill>
                  <a:schemeClr val="tx1"/>
                </a:solidFill>
                <a:effectLst/>
                <a:latin typeface="+mn-ea"/>
                <a:ea typeface="+mn-ea"/>
              </a:rPr>
              <a:t>      </a:t>
            </a:r>
            <a:r>
              <a:rPr kumimoji="0" lang="zh-CN" altLang="en-US" sz="2800" b="0" i="0" u="none" strike="noStrike" cap="none" normalizeH="0" baseline="0" dirty="0">
                <a:ln>
                  <a:noFill/>
                </a:ln>
                <a:solidFill>
                  <a:schemeClr val="tx1"/>
                </a:solidFill>
                <a:effectLst/>
                <a:latin typeface="+mn-ea"/>
                <a:ea typeface="+mn-ea"/>
              </a:rPr>
              <a:t>其它子树同理。</a:t>
            </a:r>
            <a:endParaRPr kumimoji="0" lang="zh-CN" altLang="zh-CN" sz="2800" b="0" i="0" u="none" strike="noStrike" cap="none" normalizeH="0" baseline="0" dirty="0">
              <a:ln>
                <a:noFill/>
              </a:ln>
              <a:solidFill>
                <a:schemeClr val="tx1"/>
              </a:solidFill>
              <a:effectLst/>
              <a:latin typeface="+mn-ea"/>
              <a:ea typeface="+mn-ea"/>
            </a:endParaRPr>
          </a:p>
        </p:txBody>
      </p:sp>
      <p:sp>
        <p:nvSpPr>
          <p:cNvPr id="2" name="Rectangle 1">
            <a:extLst>
              <a:ext uri="{FF2B5EF4-FFF2-40B4-BE49-F238E27FC236}">
                <a16:creationId xmlns:a16="http://schemas.microsoft.com/office/drawing/2014/main" id="{48171C76-5EBC-8F90-E6AB-D728D2C296F1}"/>
              </a:ext>
            </a:extLst>
          </p:cNvPr>
          <p:cNvSpPr>
            <a:spLocks noChangeArrowheads="1"/>
          </p:cNvSpPr>
          <p:nvPr/>
        </p:nvSpPr>
        <p:spPr bwMode="auto">
          <a:xfrm>
            <a:off x="1409272" y="4027944"/>
            <a:ext cx="7545655"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r>
              <a:rPr kumimoji="0" lang="en-US" altLang="zh-CN" sz="2800" b="0" i="0" u="none" strike="noStrike" cap="none" normalizeH="0" baseline="0" dirty="0">
                <a:ln>
                  <a:noFill/>
                </a:ln>
                <a:solidFill>
                  <a:schemeClr val="tx1"/>
                </a:solidFill>
                <a:effectLst/>
                <a:latin typeface="+mn-ea"/>
                <a:ea typeface="+mn-ea"/>
              </a:rPr>
              <a:t> </a:t>
            </a:r>
            <a:r>
              <a:rPr kumimoji="0" lang="zh-CN" altLang="en-US" sz="2800" b="0" i="0" u="none" strike="noStrike" cap="none" normalizeH="0" baseline="0" dirty="0">
                <a:ln>
                  <a:noFill/>
                </a:ln>
                <a:solidFill>
                  <a:srgbClr val="FF0000"/>
                </a:solidFill>
                <a:effectLst/>
                <a:latin typeface="+mn-ea"/>
                <a:ea typeface="+mn-ea"/>
              </a:rPr>
              <a:t>森林</a:t>
            </a:r>
            <a:r>
              <a:rPr lang="zh-CN" altLang="en-US" sz="2800" b="0" i="0" dirty="0">
                <a:solidFill>
                  <a:srgbClr val="FF0000"/>
                </a:solidFill>
                <a:latin typeface="+mn-ea"/>
                <a:ea typeface="+mn-ea"/>
              </a:rPr>
              <a:t>转二叉树</a:t>
            </a:r>
            <a:r>
              <a:rPr lang="zh-CN" altLang="en-US" sz="2800" b="0" i="0" dirty="0">
                <a:latin typeface="+mn-ea"/>
                <a:ea typeface="+mn-ea"/>
              </a:rPr>
              <a:t>，调函数创建</a:t>
            </a:r>
            <a:r>
              <a:rPr lang="en-US" altLang="zh-CN" sz="2800" b="0" i="0" dirty="0">
                <a:latin typeface="+mn-ea"/>
                <a:ea typeface="+mn-ea"/>
              </a:rPr>
              <a:t>n</a:t>
            </a:r>
            <a:r>
              <a:rPr lang="zh-CN" altLang="en-US" sz="2800" b="0" i="0" dirty="0">
                <a:latin typeface="+mn-ea"/>
                <a:ea typeface="+mn-ea"/>
              </a:rPr>
              <a:t>棵</a:t>
            </a:r>
            <a:r>
              <a:rPr lang="en-US" altLang="zh-CN" sz="2800" b="0" i="0" dirty="0">
                <a:latin typeface="+mn-ea"/>
                <a:ea typeface="+mn-ea"/>
              </a:rPr>
              <a:t>k</a:t>
            </a:r>
            <a:r>
              <a:rPr lang="zh-CN" altLang="en-US" sz="2800" b="0" i="0" dirty="0">
                <a:latin typeface="+mn-ea"/>
                <a:ea typeface="+mn-ea"/>
              </a:rPr>
              <a:t>叉树，按对应</a:t>
            </a:r>
            <a:endParaRPr lang="en-US" altLang="zh-CN" sz="2800" b="0" i="0" dirty="0">
              <a:latin typeface="+mn-ea"/>
              <a:ea typeface="+mn-ea"/>
            </a:endParaRPr>
          </a:p>
          <a:p>
            <a:pPr lvl="0"/>
            <a:r>
              <a:rPr lang="en-US" altLang="zh-CN" sz="2800" b="0" i="0" dirty="0">
                <a:latin typeface="+mn-ea"/>
                <a:ea typeface="+mn-ea"/>
              </a:rPr>
              <a:t> </a:t>
            </a:r>
            <a:r>
              <a:rPr lang="zh-CN" altLang="en-US" sz="2800" b="0" i="0" dirty="0">
                <a:latin typeface="+mn-ea"/>
                <a:ea typeface="+mn-ea"/>
              </a:rPr>
              <a:t>关系链接。</a:t>
            </a:r>
            <a:endParaRPr lang="en-US" altLang="zh-CN" sz="2800" b="0" i="0" dirty="0">
              <a:latin typeface="+mn-ea"/>
              <a:ea typeface="+mn-ea"/>
            </a:endParaRPr>
          </a:p>
          <a:p>
            <a:pPr lvl="0"/>
            <a:r>
              <a:rPr lang="en-US" altLang="zh-CN" sz="2800" b="0" i="0" dirty="0">
                <a:latin typeface="+mn-ea"/>
                <a:ea typeface="+mn-ea"/>
              </a:rPr>
              <a:t> </a:t>
            </a:r>
            <a:r>
              <a:rPr lang="zh-CN" altLang="en-US" sz="2800" b="0" i="0" dirty="0">
                <a:latin typeface="+mn-ea"/>
                <a:ea typeface="+mn-ea"/>
              </a:rPr>
              <a:t>树根是第一棵树树根</a:t>
            </a:r>
            <a:endParaRPr lang="en-US" altLang="zh-CN" sz="2800" b="0" i="0" dirty="0">
              <a:latin typeface="+mn-ea"/>
              <a:ea typeface="+mn-ea"/>
            </a:endParaRPr>
          </a:p>
          <a:p>
            <a:pPr lvl="0"/>
            <a:r>
              <a:rPr lang="en-US" altLang="zh-CN" sz="2800" b="0" i="0" dirty="0">
                <a:latin typeface="+mn-ea"/>
                <a:ea typeface="+mn-ea"/>
              </a:rPr>
              <a:t> </a:t>
            </a:r>
            <a:r>
              <a:rPr lang="zh-CN" altLang="en-US" sz="2800" b="0" i="0" dirty="0">
                <a:latin typeface="+mn-ea"/>
                <a:ea typeface="+mn-ea"/>
              </a:rPr>
              <a:t>树根的右孩子是第二棵树的树根</a:t>
            </a:r>
            <a:endParaRPr lang="en-US" altLang="zh-CN" sz="2800" b="0" i="0" dirty="0">
              <a:latin typeface="+mn-ea"/>
              <a:ea typeface="+mn-ea"/>
            </a:endParaRPr>
          </a:p>
          <a:p>
            <a:pPr lvl="0"/>
            <a:r>
              <a:rPr lang="en-US" altLang="zh-CN" sz="2800" b="0" i="0" dirty="0">
                <a:latin typeface="+mn-ea"/>
                <a:ea typeface="+mn-ea"/>
              </a:rPr>
              <a:t> …</a:t>
            </a:r>
          </a:p>
          <a:p>
            <a:pPr lvl="0"/>
            <a:r>
              <a:rPr kumimoji="0" lang="en-US" altLang="zh-CN" sz="2800" b="0" i="0" u="none" strike="noStrike" cap="none" normalizeH="0" baseline="0" dirty="0">
                <a:ln>
                  <a:noFill/>
                </a:ln>
                <a:solidFill>
                  <a:schemeClr val="tx1"/>
                </a:solidFill>
                <a:effectLst/>
                <a:latin typeface="+mn-ea"/>
                <a:ea typeface="+mn-ea"/>
              </a:rPr>
              <a:t> </a:t>
            </a:r>
            <a:endParaRPr kumimoji="0" lang="zh-CN" altLang="zh-CN" sz="2800" b="0" i="0" u="none" strike="noStrike" cap="none" normalizeH="0" baseline="0" dirty="0">
              <a:ln>
                <a:noFill/>
              </a:ln>
              <a:solidFill>
                <a:schemeClr val="tx1"/>
              </a:solidFill>
              <a:effectLst/>
              <a:latin typeface="+mn-ea"/>
              <a:ea typeface="+mn-ea"/>
            </a:endParaRPr>
          </a:p>
        </p:txBody>
      </p:sp>
    </p:spTree>
    <p:extLst>
      <p:ext uri="{BB962C8B-B14F-4D97-AF65-F5344CB8AC3E}">
        <p14:creationId xmlns:p14="http://schemas.microsoft.com/office/powerpoint/2010/main" val="3534388742"/>
      </p:ext>
    </p:extLst>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6">
            <a:extLst>
              <a:ext uri="{FF2B5EF4-FFF2-40B4-BE49-F238E27FC236}">
                <a16:creationId xmlns:a16="http://schemas.microsoft.com/office/drawing/2014/main" id="{B7373B32-A5EB-46F8-84E7-FF146D3566AC}"/>
              </a:ext>
            </a:extLst>
          </p:cNvPr>
          <p:cNvSpPr>
            <a:spLocks noChangeArrowheads="1"/>
          </p:cNvSpPr>
          <p:nvPr/>
        </p:nvSpPr>
        <p:spPr bwMode="auto">
          <a:xfrm>
            <a:off x="609600" y="152400"/>
            <a:ext cx="83058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lnSpc>
                <a:spcPct val="90000"/>
              </a:lnSpc>
              <a:buNone/>
            </a:pPr>
            <a:r>
              <a:rPr lang="en-US" altLang="zh-CN" sz="4400" i="0" dirty="0">
                <a:solidFill>
                  <a:schemeClr val="tx2"/>
                </a:solidFill>
                <a:ea typeface="隶书" pitchFamily="49" charset="-122"/>
              </a:rPr>
              <a:t>OJ</a:t>
            </a:r>
            <a:r>
              <a:rPr lang="zh-CN" altLang="en-US" sz="4400" i="0" dirty="0">
                <a:solidFill>
                  <a:schemeClr val="tx2"/>
                </a:solidFill>
                <a:ea typeface="隶书" pitchFamily="49" charset="-122"/>
              </a:rPr>
              <a:t>森林叶子编程</a:t>
            </a:r>
          </a:p>
        </p:txBody>
      </p:sp>
      <p:sp>
        <p:nvSpPr>
          <p:cNvPr id="3" name="Rectangle 5">
            <a:extLst>
              <a:ext uri="{FF2B5EF4-FFF2-40B4-BE49-F238E27FC236}">
                <a16:creationId xmlns:a16="http://schemas.microsoft.com/office/drawing/2014/main" id="{364374F2-4878-4202-A34A-65E2A8CCABC8}"/>
              </a:ext>
            </a:extLst>
          </p:cNvPr>
          <p:cNvSpPr txBox="1">
            <a:spLocks noChangeArrowheads="1"/>
          </p:cNvSpPr>
          <p:nvPr/>
        </p:nvSpPr>
        <p:spPr>
          <a:xfrm>
            <a:off x="381000" y="1268760"/>
            <a:ext cx="8763000" cy="3105055"/>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60000"/>
              <a:buFont typeface="Wingdings"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folHlink"/>
              </a:buClr>
              <a:buSzPct val="6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folHlink"/>
              </a:buClr>
              <a:buSzPct val="6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folHlink"/>
              </a:buClr>
              <a:buSzPct val="6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folHlink"/>
              </a:buClr>
              <a:buSzPct val="60000"/>
              <a:buFont typeface="Wingdings" pitchFamily="2" charset="2"/>
              <a:buChar char="n"/>
              <a:defRPr sz="2000">
                <a:solidFill>
                  <a:schemeClr val="tx1"/>
                </a:solidFill>
                <a:latin typeface="+mn-lt"/>
                <a:ea typeface="+mn-ea"/>
              </a:defRPr>
            </a:lvl9pPr>
          </a:lstStyle>
          <a:p>
            <a:pPr marL="0" indent="0">
              <a:buFont typeface="Wingdings" pitchFamily="2" charset="2"/>
              <a:buNone/>
              <a:defRPr/>
            </a:pPr>
            <a:endParaRPr lang="en-US" altLang="zh-CN" b="1" i="0" dirty="0"/>
          </a:p>
        </p:txBody>
      </p:sp>
      <p:sp>
        <p:nvSpPr>
          <p:cNvPr id="4" name="Rectangle 1">
            <a:extLst>
              <a:ext uri="{FF2B5EF4-FFF2-40B4-BE49-F238E27FC236}">
                <a16:creationId xmlns:a16="http://schemas.microsoft.com/office/drawing/2014/main" id="{02CDC5CB-A943-4B93-AE4E-07415C249787}"/>
              </a:ext>
            </a:extLst>
          </p:cNvPr>
          <p:cNvSpPr>
            <a:spLocks noChangeArrowheads="1"/>
          </p:cNvSpPr>
          <p:nvPr/>
        </p:nvSpPr>
        <p:spPr bwMode="auto">
          <a:xfrm>
            <a:off x="467544" y="1268760"/>
            <a:ext cx="790472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r>
              <a:rPr lang="zh-CN" altLang="en-US" sz="2800" b="0" i="0" dirty="0">
                <a:solidFill>
                  <a:srgbClr val="FF0000"/>
                </a:solidFill>
                <a:latin typeface="+mn-ea"/>
                <a:ea typeface="+mn-ea"/>
              </a:rPr>
              <a:t>编码：</a:t>
            </a:r>
            <a:r>
              <a:rPr lang="en-US" altLang="zh-CN" sz="2800" b="0" i="0" dirty="0">
                <a:latin typeface="+mn-ea"/>
                <a:ea typeface="+mn-ea"/>
              </a:rPr>
              <a:t>void preorder(</a:t>
            </a:r>
            <a:r>
              <a:rPr lang="en-US" altLang="zh-CN" sz="2800" b="0" i="0" dirty="0" err="1">
                <a:latin typeface="+mn-ea"/>
                <a:ea typeface="+mn-ea"/>
              </a:rPr>
              <a:t>BiTNode</a:t>
            </a:r>
            <a:r>
              <a:rPr lang="en-US" altLang="zh-CN" sz="2800" b="0" i="0" dirty="0">
                <a:latin typeface="+mn-ea"/>
                <a:ea typeface="+mn-ea"/>
              </a:rPr>
              <a:t> *</a:t>
            </a:r>
            <a:r>
              <a:rPr lang="en-US" altLang="zh-CN" sz="2800" b="0" i="0" dirty="0" err="1">
                <a:latin typeface="+mn-ea"/>
                <a:ea typeface="+mn-ea"/>
              </a:rPr>
              <a:t>T,string</a:t>
            </a:r>
            <a:r>
              <a:rPr lang="zh-CN" altLang="en-US" sz="2800" b="0" i="0" dirty="0">
                <a:latin typeface="+mn-ea"/>
                <a:ea typeface="+mn-ea"/>
              </a:rPr>
              <a:t> </a:t>
            </a:r>
            <a:r>
              <a:rPr lang="en-US" altLang="zh-CN" sz="2800" b="0" i="0" dirty="0">
                <a:latin typeface="+mn-ea"/>
                <a:ea typeface="+mn-ea"/>
              </a:rPr>
              <a:t>code)</a:t>
            </a:r>
          </a:p>
        </p:txBody>
      </p:sp>
      <p:sp>
        <p:nvSpPr>
          <p:cNvPr id="5" name="Rectangle 1">
            <a:extLst>
              <a:ext uri="{FF2B5EF4-FFF2-40B4-BE49-F238E27FC236}">
                <a16:creationId xmlns:a16="http://schemas.microsoft.com/office/drawing/2014/main" id="{CFBF3EAA-7ADC-0952-3B44-3511BB173342}"/>
              </a:ext>
            </a:extLst>
          </p:cNvPr>
          <p:cNvSpPr>
            <a:spLocks noChangeArrowheads="1"/>
          </p:cNvSpPr>
          <p:nvPr/>
        </p:nvSpPr>
        <p:spPr bwMode="auto">
          <a:xfrm>
            <a:off x="1475656" y="1884730"/>
            <a:ext cx="826380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r>
              <a:rPr lang="zh-CN" altLang="en-US" sz="2800" b="0" i="0" dirty="0">
                <a:latin typeface="+mn-ea"/>
                <a:ea typeface="+mn-ea"/>
              </a:rPr>
              <a:t>利用递归，左子树</a:t>
            </a:r>
            <a:r>
              <a:rPr lang="en-US" altLang="zh-CN" sz="2800" b="0" i="0" dirty="0">
                <a:latin typeface="+mn-ea"/>
                <a:ea typeface="+mn-ea"/>
              </a:rPr>
              <a:t>code+</a:t>
            </a:r>
            <a:r>
              <a:rPr lang="zh-CN" altLang="en-US" sz="2800" b="0" i="0" dirty="0">
                <a:latin typeface="+mn-ea"/>
                <a:ea typeface="+mn-ea"/>
              </a:rPr>
              <a:t>“</a:t>
            </a:r>
            <a:r>
              <a:rPr lang="en-US" altLang="zh-CN" sz="2800" b="0" i="0" dirty="0">
                <a:latin typeface="+mn-ea"/>
                <a:ea typeface="+mn-ea"/>
              </a:rPr>
              <a:t>1</a:t>
            </a:r>
            <a:r>
              <a:rPr lang="zh-CN" altLang="en-US" sz="2800" b="0" i="0" dirty="0">
                <a:latin typeface="+mn-ea"/>
                <a:ea typeface="+mn-ea"/>
              </a:rPr>
              <a:t>”，右子树</a:t>
            </a:r>
            <a:r>
              <a:rPr lang="en-US" altLang="zh-CN" sz="2800" b="0" i="0" dirty="0">
                <a:latin typeface="+mn-ea"/>
                <a:ea typeface="+mn-ea"/>
              </a:rPr>
              <a:t>code+”0”</a:t>
            </a:r>
          </a:p>
        </p:txBody>
      </p:sp>
    </p:spTree>
    <p:extLst>
      <p:ext uri="{BB962C8B-B14F-4D97-AF65-F5344CB8AC3E}">
        <p14:creationId xmlns:p14="http://schemas.microsoft.com/office/powerpoint/2010/main" val="380932197"/>
      </p:ext>
    </p:extLst>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04D57CA1-41C4-4218-A121-2160B535C19A}"/>
              </a:ext>
            </a:extLst>
          </p:cNvPr>
          <p:cNvSpPr>
            <a:spLocks noGrp="1" noChangeArrowheads="1"/>
          </p:cNvSpPr>
          <p:nvPr>
            <p:ph type="title"/>
          </p:nvPr>
        </p:nvSpPr>
        <p:spPr>
          <a:xfrm>
            <a:off x="547934" y="1251309"/>
            <a:ext cx="5715000" cy="685800"/>
          </a:xfrm>
        </p:spPr>
        <p:txBody>
          <a:bodyPr/>
          <a:lstStyle/>
          <a:p>
            <a:pPr algn="l" eaLnBrk="1" hangingPunct="1"/>
            <a:r>
              <a:rPr lang="zh-CN" altLang="en-US" sz="3200" dirty="0">
                <a:latin typeface="黑体" panose="02010609060101010101" pitchFamily="49" charset="-122"/>
                <a:ea typeface="黑体" panose="02010609060101010101" pitchFamily="49" charset="-122"/>
              </a:rPr>
              <a:t>一、最优二叉树</a:t>
            </a:r>
            <a:endParaRPr lang="en-US" altLang="zh-CN" sz="3200" dirty="0">
              <a:latin typeface="黑体" panose="02010609060101010101" pitchFamily="49" charset="-122"/>
              <a:ea typeface="黑体" panose="02010609060101010101" pitchFamily="49" charset="-122"/>
            </a:endParaRPr>
          </a:p>
        </p:txBody>
      </p:sp>
      <p:sp>
        <p:nvSpPr>
          <p:cNvPr id="93187" name="Text Box 3">
            <a:extLst>
              <a:ext uri="{FF2B5EF4-FFF2-40B4-BE49-F238E27FC236}">
                <a16:creationId xmlns:a16="http://schemas.microsoft.com/office/drawing/2014/main" id="{C137301F-9754-4B0D-AA11-4945AD8EE90D}"/>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CA7AAAB8-4407-4514-82BF-85D44CEA5961}" type="slidenum">
              <a:rPr lang="zh-CN" altLang="en-US" sz="2400"/>
              <a:pPr algn="r" eaLnBrk="1" hangingPunct="1">
                <a:spcBef>
                  <a:spcPct val="50000"/>
                </a:spcBef>
                <a:buClrTx/>
                <a:buSzTx/>
                <a:buFont typeface="Arial" panose="020B0604020202020204" pitchFamily="34" charset="0"/>
                <a:buNone/>
              </a:pPr>
              <a:t>90</a:t>
            </a:fld>
            <a:endParaRPr lang="en-US" altLang="zh-CN" sz="2400"/>
          </a:p>
        </p:txBody>
      </p:sp>
      <p:sp>
        <p:nvSpPr>
          <p:cNvPr id="93188" name="Text Box 4">
            <a:extLst>
              <a:ext uri="{FF2B5EF4-FFF2-40B4-BE49-F238E27FC236}">
                <a16:creationId xmlns:a16="http://schemas.microsoft.com/office/drawing/2014/main" id="{42B6EB65-5F22-427D-9218-A61062624DFD}"/>
              </a:ext>
            </a:extLst>
          </p:cNvPr>
          <p:cNvSpPr txBox="1">
            <a:spLocks noChangeArrowheads="1"/>
          </p:cNvSpPr>
          <p:nvPr/>
        </p:nvSpPr>
        <p:spPr bwMode="auto">
          <a:xfrm>
            <a:off x="439150" y="326871"/>
            <a:ext cx="8458200" cy="70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342900" indent="-342900" algn="ctr" eaLnBrk="1" hangingPunct="1">
              <a:lnSpc>
                <a:spcPct val="90000"/>
              </a:lnSpc>
              <a:buNone/>
            </a:pPr>
            <a:r>
              <a:rPr lang="zh-CN" altLang="en-US" sz="4400" i="0" dirty="0">
                <a:solidFill>
                  <a:schemeClr val="tx2"/>
                </a:solidFill>
                <a:ea typeface="隶书" pitchFamily="49" charset="-122"/>
              </a:rPr>
              <a:t>第六节　赫夫曼树及其应用</a:t>
            </a:r>
          </a:p>
        </p:txBody>
      </p:sp>
      <p:sp>
        <p:nvSpPr>
          <p:cNvPr id="93189" name="Rectangle 5">
            <a:extLst>
              <a:ext uri="{FF2B5EF4-FFF2-40B4-BE49-F238E27FC236}">
                <a16:creationId xmlns:a16="http://schemas.microsoft.com/office/drawing/2014/main" id="{1432ED94-6579-4D3E-99DF-D1913AFD202B}"/>
              </a:ext>
            </a:extLst>
          </p:cNvPr>
          <p:cNvSpPr>
            <a:spLocks noGrp="1" noChangeArrowheads="1"/>
          </p:cNvSpPr>
          <p:nvPr>
            <p:ph type="body" idx="1"/>
          </p:nvPr>
        </p:nvSpPr>
        <p:spPr>
          <a:xfrm>
            <a:off x="471734" y="2013309"/>
            <a:ext cx="8763000" cy="4114800"/>
          </a:xfrm>
        </p:spPr>
        <p:txBody>
          <a:bodyPr/>
          <a:lstStyle/>
          <a:p>
            <a:pPr eaLnBrk="1" hangingPunct="1">
              <a:lnSpc>
                <a:spcPct val="90000"/>
              </a:lnSpc>
              <a:spcBef>
                <a:spcPct val="50000"/>
              </a:spcBef>
            </a:pPr>
            <a:r>
              <a:rPr lang="zh-CN" altLang="en-US" dirty="0">
                <a:latin typeface="黑体" panose="02010609060101010101" pitchFamily="49" charset="-122"/>
                <a:ea typeface="黑体" panose="02010609060101010101" pitchFamily="49" charset="-122"/>
              </a:rPr>
              <a:t>路径：从树中一个结点到另一个结点之间的分支构成这两个结点之间的路径</a:t>
            </a:r>
          </a:p>
          <a:p>
            <a:pPr eaLnBrk="1" hangingPunct="1">
              <a:lnSpc>
                <a:spcPct val="90000"/>
              </a:lnSpc>
              <a:spcBef>
                <a:spcPct val="50000"/>
              </a:spcBef>
            </a:pPr>
            <a:r>
              <a:rPr lang="zh-CN" altLang="en-US" dirty="0">
                <a:latin typeface="黑体" panose="02010609060101010101" pitchFamily="49" charset="-122"/>
                <a:ea typeface="黑体" panose="02010609060101010101" pitchFamily="49" charset="-122"/>
              </a:rPr>
              <a:t>路径长度：路径上的分支数目</a:t>
            </a:r>
          </a:p>
          <a:p>
            <a:pPr eaLnBrk="1" hangingPunct="1">
              <a:lnSpc>
                <a:spcPct val="90000"/>
              </a:lnSpc>
              <a:spcBef>
                <a:spcPct val="50000"/>
              </a:spcBef>
            </a:pPr>
            <a:r>
              <a:rPr lang="zh-CN" altLang="en-US" dirty="0">
                <a:latin typeface="黑体" panose="02010609060101010101" pitchFamily="49" charset="-122"/>
                <a:ea typeface="黑体" panose="02010609060101010101" pitchFamily="49" charset="-122"/>
              </a:rPr>
              <a:t>树的路径长度：从树根到</a:t>
            </a:r>
            <a:endParaRPr lang="en-US" altLang="zh-CN" dirty="0">
              <a:latin typeface="黑体" panose="02010609060101010101" pitchFamily="49" charset="-122"/>
              <a:ea typeface="黑体" panose="02010609060101010101" pitchFamily="49" charset="-122"/>
            </a:endParaRPr>
          </a:p>
          <a:p>
            <a:pPr eaLnBrk="1" hangingPunct="1">
              <a:lnSpc>
                <a:spcPct val="90000"/>
              </a:lnSpc>
              <a:spcBef>
                <a:spcPct val="0"/>
              </a:spcBef>
              <a:buFont typeface="Wingdings" panose="05000000000000000000" pitchFamily="2" charset="2"/>
              <a:buNone/>
            </a:pPr>
            <a:r>
              <a:rPr lang="zh-CN" altLang="en-US" dirty="0">
                <a:latin typeface="黑体" panose="02010609060101010101" pitchFamily="49" charset="-122"/>
                <a:ea typeface="黑体" panose="02010609060101010101" pitchFamily="49" charset="-122"/>
              </a:rPr>
              <a:t>   每个结点的路径长度之和</a:t>
            </a:r>
          </a:p>
          <a:p>
            <a:pPr eaLnBrk="1" hangingPunct="1">
              <a:lnSpc>
                <a:spcPct val="90000"/>
              </a:lnSpc>
              <a:spcBef>
                <a:spcPct val="50000"/>
              </a:spcBef>
            </a:pPr>
            <a:r>
              <a:rPr lang="zh-CN" altLang="en-US" dirty="0">
                <a:latin typeface="黑体" panose="02010609060101010101" pitchFamily="49" charset="-122"/>
                <a:ea typeface="黑体" panose="02010609060101010101" pitchFamily="49" charset="-122"/>
              </a:rPr>
              <a:t>右树路径长度为：</a:t>
            </a:r>
          </a:p>
          <a:p>
            <a:pPr eaLnBrk="1" hangingPunct="1">
              <a:lnSpc>
                <a:spcPct val="90000"/>
              </a:lnSpc>
              <a:spcBef>
                <a:spcPct val="0"/>
              </a:spcBef>
              <a:buFont typeface="Wingdings" panose="05000000000000000000" pitchFamily="2" charset="2"/>
              <a:buNone/>
            </a:pPr>
            <a:r>
              <a:rPr lang="zh-CN" altLang="en-US" dirty="0">
                <a:latin typeface="黑体" panose="02010609060101010101" pitchFamily="49" charset="-122"/>
                <a:ea typeface="黑体" panose="02010609060101010101" pitchFamily="49" charset="-122"/>
              </a:rPr>
              <a:t>　 </a:t>
            </a:r>
            <a:r>
              <a:rPr lang="en-US" altLang="zh-CN" dirty="0">
                <a:latin typeface="黑体" panose="02010609060101010101" pitchFamily="49" charset="-122"/>
                <a:ea typeface="黑体" panose="02010609060101010101" pitchFamily="49" charset="-122"/>
              </a:rPr>
              <a:t>2*1 + 3*2 + 1*3 = 11</a:t>
            </a:r>
          </a:p>
        </p:txBody>
      </p:sp>
      <p:grpSp>
        <p:nvGrpSpPr>
          <p:cNvPr id="93191" name="Group 7">
            <a:extLst>
              <a:ext uri="{FF2B5EF4-FFF2-40B4-BE49-F238E27FC236}">
                <a16:creationId xmlns:a16="http://schemas.microsoft.com/office/drawing/2014/main" id="{920EAEE5-85F5-448A-B25D-03F620FABF17}"/>
              </a:ext>
            </a:extLst>
          </p:cNvPr>
          <p:cNvGrpSpPr>
            <a:grpSpLocks/>
          </p:cNvGrpSpPr>
          <p:nvPr/>
        </p:nvGrpSpPr>
        <p:grpSpPr bwMode="auto">
          <a:xfrm>
            <a:off x="5867400" y="3613509"/>
            <a:ext cx="2667000" cy="2514600"/>
            <a:chOff x="0" y="0"/>
            <a:chExt cx="1680" cy="1584"/>
          </a:xfrm>
        </p:grpSpPr>
        <p:sp>
          <p:nvSpPr>
            <p:cNvPr id="93192" name="Line 8">
              <a:extLst>
                <a:ext uri="{FF2B5EF4-FFF2-40B4-BE49-F238E27FC236}">
                  <a16:creationId xmlns:a16="http://schemas.microsoft.com/office/drawing/2014/main" id="{CC6E6836-2DBA-435B-A7CB-4A5F0AACFE89}"/>
                </a:ext>
              </a:extLst>
            </p:cNvPr>
            <p:cNvSpPr>
              <a:spLocks noChangeShapeType="1"/>
            </p:cNvSpPr>
            <p:nvPr/>
          </p:nvSpPr>
          <p:spPr bwMode="auto">
            <a:xfrm>
              <a:off x="1080" y="171"/>
              <a:ext cx="360"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93193" name="Line 9">
              <a:extLst>
                <a:ext uri="{FF2B5EF4-FFF2-40B4-BE49-F238E27FC236}">
                  <a16:creationId xmlns:a16="http://schemas.microsoft.com/office/drawing/2014/main" id="{05DECB11-39AA-4F51-AA42-996B2567C897}"/>
                </a:ext>
              </a:extLst>
            </p:cNvPr>
            <p:cNvSpPr>
              <a:spLocks noChangeShapeType="1"/>
            </p:cNvSpPr>
            <p:nvPr/>
          </p:nvSpPr>
          <p:spPr bwMode="auto">
            <a:xfrm flipH="1">
              <a:off x="576" y="171"/>
              <a:ext cx="360" cy="336"/>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93194" name="Oval 10">
              <a:extLst>
                <a:ext uri="{FF2B5EF4-FFF2-40B4-BE49-F238E27FC236}">
                  <a16:creationId xmlns:a16="http://schemas.microsoft.com/office/drawing/2014/main" id="{90B3587C-54D5-4375-95AD-5148CA86B489}"/>
                </a:ext>
              </a:extLst>
            </p:cNvPr>
            <p:cNvSpPr>
              <a:spLocks noChangeArrowheads="1"/>
            </p:cNvSpPr>
            <p:nvPr/>
          </p:nvSpPr>
          <p:spPr bwMode="auto">
            <a:xfrm>
              <a:off x="864" y="0"/>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A</a:t>
              </a:r>
            </a:p>
          </p:txBody>
        </p:sp>
        <p:sp>
          <p:nvSpPr>
            <p:cNvPr id="93195" name="Line 11">
              <a:extLst>
                <a:ext uri="{FF2B5EF4-FFF2-40B4-BE49-F238E27FC236}">
                  <a16:creationId xmlns:a16="http://schemas.microsoft.com/office/drawing/2014/main" id="{856ECEDA-8955-484E-BE45-3F169657A16A}"/>
                </a:ext>
              </a:extLst>
            </p:cNvPr>
            <p:cNvSpPr>
              <a:spLocks noChangeShapeType="1"/>
            </p:cNvSpPr>
            <p:nvPr/>
          </p:nvSpPr>
          <p:spPr bwMode="auto">
            <a:xfrm flipH="1">
              <a:off x="240" y="561"/>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93196" name="Oval 12">
              <a:extLst>
                <a:ext uri="{FF2B5EF4-FFF2-40B4-BE49-F238E27FC236}">
                  <a16:creationId xmlns:a16="http://schemas.microsoft.com/office/drawing/2014/main" id="{5888954F-4524-4172-AF4A-89B35CA7BC99}"/>
                </a:ext>
              </a:extLst>
            </p:cNvPr>
            <p:cNvSpPr>
              <a:spLocks noChangeArrowheads="1"/>
            </p:cNvSpPr>
            <p:nvPr/>
          </p:nvSpPr>
          <p:spPr bwMode="auto">
            <a:xfrm>
              <a:off x="0" y="822"/>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D</a:t>
              </a:r>
            </a:p>
          </p:txBody>
        </p:sp>
        <p:sp>
          <p:nvSpPr>
            <p:cNvPr id="93197" name="Line 13">
              <a:extLst>
                <a:ext uri="{FF2B5EF4-FFF2-40B4-BE49-F238E27FC236}">
                  <a16:creationId xmlns:a16="http://schemas.microsoft.com/office/drawing/2014/main" id="{A2BBD2BE-A8A3-4A53-96DA-1C7F20D2C750}"/>
                </a:ext>
              </a:extLst>
            </p:cNvPr>
            <p:cNvSpPr>
              <a:spLocks noChangeShapeType="1"/>
            </p:cNvSpPr>
            <p:nvPr/>
          </p:nvSpPr>
          <p:spPr bwMode="auto">
            <a:xfrm>
              <a:off x="528" y="582"/>
              <a:ext cx="216"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93198" name="Oval 14">
              <a:extLst>
                <a:ext uri="{FF2B5EF4-FFF2-40B4-BE49-F238E27FC236}">
                  <a16:creationId xmlns:a16="http://schemas.microsoft.com/office/drawing/2014/main" id="{BDEA37A1-13A1-44E4-B72A-5AD2EB64A8A3}"/>
                </a:ext>
              </a:extLst>
            </p:cNvPr>
            <p:cNvSpPr>
              <a:spLocks noChangeArrowheads="1"/>
            </p:cNvSpPr>
            <p:nvPr/>
          </p:nvSpPr>
          <p:spPr bwMode="auto">
            <a:xfrm>
              <a:off x="336" y="41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B</a:t>
              </a:r>
            </a:p>
          </p:txBody>
        </p:sp>
        <p:sp>
          <p:nvSpPr>
            <p:cNvPr id="93199" name="Line 15">
              <a:extLst>
                <a:ext uri="{FF2B5EF4-FFF2-40B4-BE49-F238E27FC236}">
                  <a16:creationId xmlns:a16="http://schemas.microsoft.com/office/drawing/2014/main" id="{9B2C8CCF-A06E-4B45-A625-95FC829ACAA4}"/>
                </a:ext>
              </a:extLst>
            </p:cNvPr>
            <p:cNvSpPr>
              <a:spLocks noChangeShapeType="1"/>
            </p:cNvSpPr>
            <p:nvPr/>
          </p:nvSpPr>
          <p:spPr bwMode="auto">
            <a:xfrm flipH="1">
              <a:off x="1296" y="582"/>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93200" name="Oval 16">
              <a:extLst>
                <a:ext uri="{FF2B5EF4-FFF2-40B4-BE49-F238E27FC236}">
                  <a16:creationId xmlns:a16="http://schemas.microsoft.com/office/drawing/2014/main" id="{6CCF368A-4239-47B2-A82A-38B601DE8775}"/>
                </a:ext>
              </a:extLst>
            </p:cNvPr>
            <p:cNvSpPr>
              <a:spLocks noChangeArrowheads="1"/>
            </p:cNvSpPr>
            <p:nvPr/>
          </p:nvSpPr>
          <p:spPr bwMode="auto">
            <a:xfrm>
              <a:off x="1056" y="84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F</a:t>
              </a:r>
            </a:p>
          </p:txBody>
        </p:sp>
        <p:sp>
          <p:nvSpPr>
            <p:cNvPr id="93201" name="Oval 17">
              <a:extLst>
                <a:ext uri="{FF2B5EF4-FFF2-40B4-BE49-F238E27FC236}">
                  <a16:creationId xmlns:a16="http://schemas.microsoft.com/office/drawing/2014/main" id="{EB39BA50-AE8C-4401-91FD-D172F4758880}"/>
                </a:ext>
              </a:extLst>
            </p:cNvPr>
            <p:cNvSpPr>
              <a:spLocks noChangeArrowheads="1"/>
            </p:cNvSpPr>
            <p:nvPr/>
          </p:nvSpPr>
          <p:spPr bwMode="auto">
            <a:xfrm>
              <a:off x="1392" y="41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C</a:t>
              </a:r>
            </a:p>
          </p:txBody>
        </p:sp>
        <p:sp>
          <p:nvSpPr>
            <p:cNvPr id="93202" name="Line 18">
              <a:extLst>
                <a:ext uri="{FF2B5EF4-FFF2-40B4-BE49-F238E27FC236}">
                  <a16:creationId xmlns:a16="http://schemas.microsoft.com/office/drawing/2014/main" id="{B5F809D5-DA3E-4630-B787-BE3C3CE94A4E}"/>
                </a:ext>
              </a:extLst>
            </p:cNvPr>
            <p:cNvSpPr>
              <a:spLocks noChangeShapeType="1"/>
            </p:cNvSpPr>
            <p:nvPr/>
          </p:nvSpPr>
          <p:spPr bwMode="auto">
            <a:xfrm flipH="1">
              <a:off x="480" y="1035"/>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93203" name="Oval 19">
              <a:extLst>
                <a:ext uri="{FF2B5EF4-FFF2-40B4-BE49-F238E27FC236}">
                  <a16:creationId xmlns:a16="http://schemas.microsoft.com/office/drawing/2014/main" id="{635C9657-E12A-4811-A36B-BCBC6BB7B6C3}"/>
                </a:ext>
              </a:extLst>
            </p:cNvPr>
            <p:cNvSpPr>
              <a:spLocks noChangeArrowheads="1"/>
            </p:cNvSpPr>
            <p:nvPr/>
          </p:nvSpPr>
          <p:spPr bwMode="auto">
            <a:xfrm>
              <a:off x="240" y="1296"/>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G</a:t>
              </a:r>
            </a:p>
          </p:txBody>
        </p:sp>
        <p:sp>
          <p:nvSpPr>
            <p:cNvPr id="93204" name="Oval 20">
              <a:extLst>
                <a:ext uri="{FF2B5EF4-FFF2-40B4-BE49-F238E27FC236}">
                  <a16:creationId xmlns:a16="http://schemas.microsoft.com/office/drawing/2014/main" id="{CE723B24-D2CE-4A0D-8FB7-E96AEE7DB4DE}"/>
                </a:ext>
              </a:extLst>
            </p:cNvPr>
            <p:cNvSpPr>
              <a:spLocks noChangeArrowheads="1"/>
            </p:cNvSpPr>
            <p:nvPr/>
          </p:nvSpPr>
          <p:spPr bwMode="auto">
            <a:xfrm>
              <a:off x="648" y="84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E</a:t>
              </a:r>
            </a:p>
          </p:txBody>
        </p:sp>
      </p:grpSp>
      <p:sp>
        <p:nvSpPr>
          <p:cNvPr id="2" name="文本框 1">
            <a:extLst>
              <a:ext uri="{FF2B5EF4-FFF2-40B4-BE49-F238E27FC236}">
                <a16:creationId xmlns:a16="http://schemas.microsoft.com/office/drawing/2014/main" id="{28683F65-2496-402B-BCBC-6ACF8A982421}"/>
              </a:ext>
            </a:extLst>
          </p:cNvPr>
          <p:cNvSpPr txBox="1"/>
          <p:nvPr/>
        </p:nvSpPr>
        <p:spPr>
          <a:xfrm>
            <a:off x="5666606" y="2311200"/>
            <a:ext cx="2763788" cy="523220"/>
          </a:xfrm>
          <a:prstGeom prst="rect">
            <a:avLst/>
          </a:prstGeom>
          <a:noFill/>
        </p:spPr>
        <p:txBody>
          <a:bodyPr wrap="square" rtlCol="0">
            <a:spAutoFit/>
          </a:bodyPr>
          <a:lstStyle/>
          <a:p>
            <a:r>
              <a:rPr lang="en-US" altLang="zh-CN" sz="2800" b="0" i="0" dirty="0">
                <a:solidFill>
                  <a:srgbClr val="FF0000"/>
                </a:solidFill>
                <a:latin typeface="+mn-ea"/>
                <a:ea typeface="+mn-ea"/>
              </a:rPr>
              <a:t>ABD</a:t>
            </a:r>
            <a:endParaRPr lang="zh-CN" altLang="en-US" sz="2800" b="0" i="0" dirty="0">
              <a:solidFill>
                <a:srgbClr val="FF0000"/>
              </a:solidFill>
              <a:latin typeface="+mn-ea"/>
              <a:ea typeface="+mn-ea"/>
            </a:endParaRPr>
          </a:p>
        </p:txBody>
      </p:sp>
      <p:sp>
        <p:nvSpPr>
          <p:cNvPr id="3" name="文本框 2">
            <a:extLst>
              <a:ext uri="{FF2B5EF4-FFF2-40B4-BE49-F238E27FC236}">
                <a16:creationId xmlns:a16="http://schemas.microsoft.com/office/drawing/2014/main" id="{7017AA68-5C0F-56E2-93B0-2F061FE455CB}"/>
              </a:ext>
            </a:extLst>
          </p:cNvPr>
          <p:cNvSpPr txBox="1"/>
          <p:nvPr/>
        </p:nvSpPr>
        <p:spPr>
          <a:xfrm>
            <a:off x="5857106" y="2899789"/>
            <a:ext cx="2763788" cy="523220"/>
          </a:xfrm>
          <a:prstGeom prst="rect">
            <a:avLst/>
          </a:prstGeom>
          <a:noFill/>
        </p:spPr>
        <p:txBody>
          <a:bodyPr wrap="square" rtlCol="0">
            <a:spAutoFit/>
          </a:bodyPr>
          <a:lstStyle/>
          <a:p>
            <a:r>
              <a:rPr lang="en-US" altLang="zh-CN" sz="2800" b="0" i="0" dirty="0">
                <a:solidFill>
                  <a:srgbClr val="FF0000"/>
                </a:solidFill>
                <a:latin typeface="+mn-ea"/>
                <a:ea typeface="+mn-ea"/>
              </a:rPr>
              <a:t>ABD</a:t>
            </a:r>
            <a:r>
              <a:rPr lang="zh-CN" altLang="en-US" sz="2800" b="0" i="0" dirty="0">
                <a:solidFill>
                  <a:srgbClr val="FF0000"/>
                </a:solidFill>
                <a:latin typeface="+mn-ea"/>
                <a:ea typeface="+mn-ea"/>
              </a:rPr>
              <a:t>路径长度</a:t>
            </a:r>
            <a:r>
              <a:rPr lang="en-US" altLang="zh-CN" sz="2800" b="0" i="0" dirty="0">
                <a:solidFill>
                  <a:srgbClr val="FF0000"/>
                </a:solidFill>
                <a:latin typeface="+mn-ea"/>
                <a:ea typeface="+mn-ea"/>
              </a:rPr>
              <a:t>2</a:t>
            </a:r>
            <a:endParaRPr lang="zh-CN" altLang="en-US" sz="2800" b="0" i="0" dirty="0">
              <a:solidFill>
                <a:srgbClr val="FF0000"/>
              </a:solidFill>
              <a:latin typeface="+mn-ea"/>
              <a:ea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318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318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3189">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3189">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3189">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3189">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1" name="Text Box 3">
            <a:extLst>
              <a:ext uri="{FF2B5EF4-FFF2-40B4-BE49-F238E27FC236}">
                <a16:creationId xmlns:a16="http://schemas.microsoft.com/office/drawing/2014/main" id="{C115C195-4B74-4D60-B61B-3B925B0E0102}"/>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D288F245-03BC-4E5D-8130-0912EAA5EA30}" type="slidenum">
              <a:rPr lang="zh-CN" altLang="en-US" sz="2400"/>
              <a:pPr algn="r" eaLnBrk="1" hangingPunct="1">
                <a:spcBef>
                  <a:spcPct val="50000"/>
                </a:spcBef>
                <a:buClrTx/>
                <a:buSzTx/>
                <a:buFont typeface="Arial" panose="020B0604020202020204" pitchFamily="34" charset="0"/>
                <a:buNone/>
              </a:pPr>
              <a:t>91</a:t>
            </a:fld>
            <a:endParaRPr lang="en-US" altLang="zh-CN" sz="2400"/>
          </a:p>
        </p:txBody>
      </p:sp>
      <p:sp>
        <p:nvSpPr>
          <p:cNvPr id="94213" name="Rectangle 5">
            <a:extLst>
              <a:ext uri="{FF2B5EF4-FFF2-40B4-BE49-F238E27FC236}">
                <a16:creationId xmlns:a16="http://schemas.microsoft.com/office/drawing/2014/main" id="{E46992A5-5310-471A-97D7-39FAD38A6628}"/>
              </a:ext>
            </a:extLst>
          </p:cNvPr>
          <p:cNvSpPr>
            <a:spLocks noGrp="1" noChangeArrowheads="1"/>
          </p:cNvSpPr>
          <p:nvPr>
            <p:ph type="body" idx="1"/>
          </p:nvPr>
        </p:nvSpPr>
        <p:spPr>
          <a:xfrm>
            <a:off x="539552" y="1305981"/>
            <a:ext cx="8763000" cy="4114800"/>
          </a:xfrm>
        </p:spPr>
        <p:txBody>
          <a:bodyPr/>
          <a:lstStyle/>
          <a:p>
            <a:pPr eaLnBrk="1" hangingPunct="1">
              <a:spcBef>
                <a:spcPct val="50000"/>
              </a:spcBef>
            </a:pPr>
            <a:r>
              <a:rPr lang="zh-CN" altLang="en-US" dirty="0">
                <a:latin typeface="黑体" panose="02010609060101010101" pitchFamily="49" charset="-122"/>
                <a:ea typeface="黑体" panose="02010609060101010101" pitchFamily="49" charset="-122"/>
              </a:rPr>
              <a:t>结点的带权路径长度：从结点到树根之间的路径长度与结点上权的乘积</a:t>
            </a:r>
          </a:p>
          <a:p>
            <a:pPr eaLnBrk="1" hangingPunct="1">
              <a:spcBef>
                <a:spcPct val="50000"/>
              </a:spcBef>
            </a:pPr>
            <a:r>
              <a:rPr lang="zh-CN" altLang="en-US" dirty="0">
                <a:latin typeface="黑体" panose="02010609060101010101" pitchFamily="49" charset="-122"/>
                <a:ea typeface="黑体" panose="02010609060101010101" pitchFamily="49" charset="-122"/>
              </a:rPr>
              <a:t>树的带权路径长度(</a:t>
            </a:r>
            <a:r>
              <a:rPr lang="en-US" altLang="zh-CN" dirty="0">
                <a:latin typeface="黑体" panose="02010609060101010101" pitchFamily="49" charset="-122"/>
                <a:ea typeface="黑体" panose="02010609060101010101" pitchFamily="49" charset="-122"/>
              </a:rPr>
              <a:t>WPL)：</a:t>
            </a:r>
            <a:r>
              <a:rPr lang="zh-CN" altLang="en-US" dirty="0">
                <a:latin typeface="黑体" panose="02010609060101010101" pitchFamily="49" charset="-122"/>
                <a:ea typeface="黑体" panose="02010609060101010101" pitchFamily="49" charset="-122"/>
              </a:rPr>
              <a:t>树中所有叶子结点的带权路径长度之和</a:t>
            </a:r>
          </a:p>
          <a:p>
            <a:pPr eaLnBrk="1" hangingPunct="1">
              <a:spcBef>
                <a:spcPct val="50000"/>
              </a:spcBef>
            </a:pPr>
            <a:r>
              <a:rPr lang="en-US" altLang="zh-CN" dirty="0">
                <a:latin typeface="黑体" panose="02010609060101010101" pitchFamily="49" charset="-122"/>
                <a:ea typeface="黑体" panose="02010609060101010101" pitchFamily="49" charset="-122"/>
              </a:rPr>
              <a:t>WPL = 2*5+3*3+2*4=27</a:t>
            </a:r>
          </a:p>
        </p:txBody>
      </p:sp>
      <p:grpSp>
        <p:nvGrpSpPr>
          <p:cNvPr id="94215" name="Group 7">
            <a:extLst>
              <a:ext uri="{FF2B5EF4-FFF2-40B4-BE49-F238E27FC236}">
                <a16:creationId xmlns:a16="http://schemas.microsoft.com/office/drawing/2014/main" id="{C0938FBC-5686-48B8-B29E-CEB88AE34E58}"/>
              </a:ext>
            </a:extLst>
          </p:cNvPr>
          <p:cNvGrpSpPr>
            <a:grpSpLocks/>
          </p:cNvGrpSpPr>
          <p:nvPr/>
        </p:nvGrpSpPr>
        <p:grpSpPr bwMode="auto">
          <a:xfrm>
            <a:off x="6028063" y="3905779"/>
            <a:ext cx="2667000" cy="2362200"/>
            <a:chOff x="0" y="0"/>
            <a:chExt cx="1680" cy="1488"/>
          </a:xfrm>
        </p:grpSpPr>
        <p:grpSp>
          <p:nvGrpSpPr>
            <p:cNvPr id="94216" name="Group 8">
              <a:extLst>
                <a:ext uri="{FF2B5EF4-FFF2-40B4-BE49-F238E27FC236}">
                  <a16:creationId xmlns:a16="http://schemas.microsoft.com/office/drawing/2014/main" id="{B66C74B3-758D-4EFB-8795-8383E8C90428}"/>
                </a:ext>
              </a:extLst>
            </p:cNvPr>
            <p:cNvGrpSpPr>
              <a:grpSpLocks/>
            </p:cNvGrpSpPr>
            <p:nvPr/>
          </p:nvGrpSpPr>
          <p:grpSpPr bwMode="auto">
            <a:xfrm>
              <a:off x="0" y="0"/>
              <a:ext cx="1680" cy="1488"/>
              <a:chOff x="0" y="0"/>
              <a:chExt cx="1680" cy="1584"/>
            </a:xfrm>
          </p:grpSpPr>
          <p:sp>
            <p:nvSpPr>
              <p:cNvPr id="94220" name="Line 9">
                <a:extLst>
                  <a:ext uri="{FF2B5EF4-FFF2-40B4-BE49-F238E27FC236}">
                    <a16:creationId xmlns:a16="http://schemas.microsoft.com/office/drawing/2014/main" id="{4BE03F11-7C89-4634-B8EF-3D53FD4EBDC6}"/>
                  </a:ext>
                </a:extLst>
              </p:cNvPr>
              <p:cNvSpPr>
                <a:spLocks noChangeShapeType="1"/>
              </p:cNvSpPr>
              <p:nvPr/>
            </p:nvSpPr>
            <p:spPr bwMode="auto">
              <a:xfrm>
                <a:off x="1080" y="171"/>
                <a:ext cx="360"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94221" name="Line 10">
                <a:extLst>
                  <a:ext uri="{FF2B5EF4-FFF2-40B4-BE49-F238E27FC236}">
                    <a16:creationId xmlns:a16="http://schemas.microsoft.com/office/drawing/2014/main" id="{C2036D1B-CFD5-4CA9-BECB-632EFC95EA8C}"/>
                  </a:ext>
                </a:extLst>
              </p:cNvPr>
              <p:cNvSpPr>
                <a:spLocks noChangeShapeType="1"/>
              </p:cNvSpPr>
              <p:nvPr/>
            </p:nvSpPr>
            <p:spPr bwMode="auto">
              <a:xfrm flipH="1">
                <a:off x="576" y="171"/>
                <a:ext cx="360" cy="336"/>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94222" name="Oval 11">
                <a:extLst>
                  <a:ext uri="{FF2B5EF4-FFF2-40B4-BE49-F238E27FC236}">
                    <a16:creationId xmlns:a16="http://schemas.microsoft.com/office/drawing/2014/main" id="{917236A8-926F-40BC-AA98-1114257B33BC}"/>
                  </a:ext>
                </a:extLst>
              </p:cNvPr>
              <p:cNvSpPr>
                <a:spLocks noChangeArrowheads="1"/>
              </p:cNvSpPr>
              <p:nvPr/>
            </p:nvSpPr>
            <p:spPr bwMode="auto">
              <a:xfrm>
                <a:off x="864" y="0"/>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A</a:t>
                </a:r>
              </a:p>
            </p:txBody>
          </p:sp>
          <p:sp>
            <p:nvSpPr>
              <p:cNvPr id="94223" name="Line 12">
                <a:extLst>
                  <a:ext uri="{FF2B5EF4-FFF2-40B4-BE49-F238E27FC236}">
                    <a16:creationId xmlns:a16="http://schemas.microsoft.com/office/drawing/2014/main" id="{39C27139-5251-4BC2-BB93-5CA9D72C06AE}"/>
                  </a:ext>
                </a:extLst>
              </p:cNvPr>
              <p:cNvSpPr>
                <a:spLocks noChangeShapeType="1"/>
              </p:cNvSpPr>
              <p:nvPr/>
            </p:nvSpPr>
            <p:spPr bwMode="auto">
              <a:xfrm flipH="1">
                <a:off x="240" y="561"/>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94224" name="Oval 13">
                <a:extLst>
                  <a:ext uri="{FF2B5EF4-FFF2-40B4-BE49-F238E27FC236}">
                    <a16:creationId xmlns:a16="http://schemas.microsoft.com/office/drawing/2014/main" id="{992F3BEA-A79A-467E-B15B-BA31A77E3EBF}"/>
                  </a:ext>
                </a:extLst>
              </p:cNvPr>
              <p:cNvSpPr>
                <a:spLocks noChangeArrowheads="1"/>
              </p:cNvSpPr>
              <p:nvPr/>
            </p:nvSpPr>
            <p:spPr bwMode="auto">
              <a:xfrm>
                <a:off x="0" y="822"/>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D</a:t>
                </a:r>
              </a:p>
            </p:txBody>
          </p:sp>
          <p:sp>
            <p:nvSpPr>
              <p:cNvPr id="94225" name="Line 14">
                <a:extLst>
                  <a:ext uri="{FF2B5EF4-FFF2-40B4-BE49-F238E27FC236}">
                    <a16:creationId xmlns:a16="http://schemas.microsoft.com/office/drawing/2014/main" id="{FB13DD62-43DD-4CE6-AE5E-2789CA382E65}"/>
                  </a:ext>
                </a:extLst>
              </p:cNvPr>
              <p:cNvSpPr>
                <a:spLocks noChangeShapeType="1"/>
              </p:cNvSpPr>
              <p:nvPr/>
            </p:nvSpPr>
            <p:spPr bwMode="auto">
              <a:xfrm>
                <a:off x="528" y="582"/>
                <a:ext cx="216"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94226" name="Oval 15">
                <a:extLst>
                  <a:ext uri="{FF2B5EF4-FFF2-40B4-BE49-F238E27FC236}">
                    <a16:creationId xmlns:a16="http://schemas.microsoft.com/office/drawing/2014/main" id="{5263AF0F-C8DB-48AF-910D-0C567320D9CC}"/>
                  </a:ext>
                </a:extLst>
              </p:cNvPr>
              <p:cNvSpPr>
                <a:spLocks noChangeArrowheads="1"/>
              </p:cNvSpPr>
              <p:nvPr/>
            </p:nvSpPr>
            <p:spPr bwMode="auto">
              <a:xfrm>
                <a:off x="336" y="41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B</a:t>
                </a:r>
              </a:p>
            </p:txBody>
          </p:sp>
          <p:sp>
            <p:nvSpPr>
              <p:cNvPr id="94227" name="Line 16">
                <a:extLst>
                  <a:ext uri="{FF2B5EF4-FFF2-40B4-BE49-F238E27FC236}">
                    <a16:creationId xmlns:a16="http://schemas.microsoft.com/office/drawing/2014/main" id="{0183E566-2373-4CEA-83E9-3E5F5239D0DE}"/>
                  </a:ext>
                </a:extLst>
              </p:cNvPr>
              <p:cNvSpPr>
                <a:spLocks noChangeShapeType="1"/>
              </p:cNvSpPr>
              <p:nvPr/>
            </p:nvSpPr>
            <p:spPr bwMode="auto">
              <a:xfrm flipH="1">
                <a:off x="1296" y="582"/>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94228" name="Oval 17">
                <a:extLst>
                  <a:ext uri="{FF2B5EF4-FFF2-40B4-BE49-F238E27FC236}">
                    <a16:creationId xmlns:a16="http://schemas.microsoft.com/office/drawing/2014/main" id="{A5EBF13F-5FFF-4DEF-AF8B-967AF5F8F33A}"/>
                  </a:ext>
                </a:extLst>
              </p:cNvPr>
              <p:cNvSpPr>
                <a:spLocks noChangeArrowheads="1"/>
              </p:cNvSpPr>
              <p:nvPr/>
            </p:nvSpPr>
            <p:spPr bwMode="auto">
              <a:xfrm>
                <a:off x="1056" y="84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F</a:t>
                </a:r>
              </a:p>
            </p:txBody>
          </p:sp>
          <p:sp>
            <p:nvSpPr>
              <p:cNvPr id="94229" name="Oval 18">
                <a:extLst>
                  <a:ext uri="{FF2B5EF4-FFF2-40B4-BE49-F238E27FC236}">
                    <a16:creationId xmlns:a16="http://schemas.microsoft.com/office/drawing/2014/main" id="{B0D5549E-0114-4B6A-808E-537428504894}"/>
                  </a:ext>
                </a:extLst>
              </p:cNvPr>
              <p:cNvSpPr>
                <a:spLocks noChangeArrowheads="1"/>
              </p:cNvSpPr>
              <p:nvPr/>
            </p:nvSpPr>
            <p:spPr bwMode="auto">
              <a:xfrm>
                <a:off x="1392" y="41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C</a:t>
                </a:r>
              </a:p>
            </p:txBody>
          </p:sp>
          <p:sp>
            <p:nvSpPr>
              <p:cNvPr id="94230" name="Line 19">
                <a:extLst>
                  <a:ext uri="{FF2B5EF4-FFF2-40B4-BE49-F238E27FC236}">
                    <a16:creationId xmlns:a16="http://schemas.microsoft.com/office/drawing/2014/main" id="{AF540B97-D042-4652-8F19-0C2D84918E93}"/>
                  </a:ext>
                </a:extLst>
              </p:cNvPr>
              <p:cNvSpPr>
                <a:spLocks noChangeShapeType="1"/>
              </p:cNvSpPr>
              <p:nvPr/>
            </p:nvSpPr>
            <p:spPr bwMode="auto">
              <a:xfrm flipH="1">
                <a:off x="480" y="1035"/>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94231" name="Oval 20">
                <a:extLst>
                  <a:ext uri="{FF2B5EF4-FFF2-40B4-BE49-F238E27FC236}">
                    <a16:creationId xmlns:a16="http://schemas.microsoft.com/office/drawing/2014/main" id="{D11FAAF6-48D7-4E9C-994A-1F79E5F19B4C}"/>
                  </a:ext>
                </a:extLst>
              </p:cNvPr>
              <p:cNvSpPr>
                <a:spLocks noChangeArrowheads="1"/>
              </p:cNvSpPr>
              <p:nvPr/>
            </p:nvSpPr>
            <p:spPr bwMode="auto">
              <a:xfrm>
                <a:off x="240" y="1296"/>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G</a:t>
                </a:r>
              </a:p>
            </p:txBody>
          </p:sp>
          <p:sp>
            <p:nvSpPr>
              <p:cNvPr id="94232" name="Oval 21">
                <a:extLst>
                  <a:ext uri="{FF2B5EF4-FFF2-40B4-BE49-F238E27FC236}">
                    <a16:creationId xmlns:a16="http://schemas.microsoft.com/office/drawing/2014/main" id="{9441079F-55EA-4522-8BF0-D40EAD4F3F27}"/>
                  </a:ext>
                </a:extLst>
              </p:cNvPr>
              <p:cNvSpPr>
                <a:spLocks noChangeArrowheads="1"/>
              </p:cNvSpPr>
              <p:nvPr/>
            </p:nvSpPr>
            <p:spPr bwMode="auto">
              <a:xfrm>
                <a:off x="648" y="84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E</a:t>
                </a:r>
              </a:p>
            </p:txBody>
          </p:sp>
        </p:grpSp>
        <p:sp>
          <p:nvSpPr>
            <p:cNvPr id="94217" name="Text Box 22">
              <a:extLst>
                <a:ext uri="{FF2B5EF4-FFF2-40B4-BE49-F238E27FC236}">
                  <a16:creationId xmlns:a16="http://schemas.microsoft.com/office/drawing/2014/main" id="{EF4BA2EE-0997-465F-9792-391A6D4F3EE4}"/>
                </a:ext>
              </a:extLst>
            </p:cNvPr>
            <p:cNvSpPr txBox="1">
              <a:spLocks noChangeArrowheads="1"/>
            </p:cNvSpPr>
            <p:nvPr/>
          </p:nvSpPr>
          <p:spPr bwMode="auto">
            <a:xfrm>
              <a:off x="48" y="504"/>
              <a:ext cx="192"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2800" b="0" i="0" dirty="0">
                  <a:latin typeface="黑体" panose="02010609060101010101" pitchFamily="49" charset="-122"/>
                  <a:ea typeface="黑体" panose="02010609060101010101" pitchFamily="49" charset="-122"/>
                </a:rPr>
                <a:t>5</a:t>
              </a:r>
            </a:p>
          </p:txBody>
        </p:sp>
        <p:sp>
          <p:nvSpPr>
            <p:cNvPr id="94218" name="Text Box 23">
              <a:extLst>
                <a:ext uri="{FF2B5EF4-FFF2-40B4-BE49-F238E27FC236}">
                  <a16:creationId xmlns:a16="http://schemas.microsoft.com/office/drawing/2014/main" id="{7544AE56-B7A9-4F92-A128-F6658DBA4B2C}"/>
                </a:ext>
              </a:extLst>
            </p:cNvPr>
            <p:cNvSpPr txBox="1">
              <a:spLocks noChangeArrowheads="1"/>
            </p:cNvSpPr>
            <p:nvPr/>
          </p:nvSpPr>
          <p:spPr bwMode="auto">
            <a:xfrm>
              <a:off x="288" y="924"/>
              <a:ext cx="192"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2800" b="0" i="0" dirty="0">
                  <a:latin typeface="黑体" panose="02010609060101010101" pitchFamily="49" charset="-122"/>
                  <a:ea typeface="黑体" panose="02010609060101010101" pitchFamily="49" charset="-122"/>
                </a:rPr>
                <a:t>３</a:t>
              </a:r>
            </a:p>
          </p:txBody>
        </p:sp>
        <p:sp>
          <p:nvSpPr>
            <p:cNvPr id="94219" name="Text Box 24">
              <a:extLst>
                <a:ext uri="{FF2B5EF4-FFF2-40B4-BE49-F238E27FC236}">
                  <a16:creationId xmlns:a16="http://schemas.microsoft.com/office/drawing/2014/main" id="{F18DDA82-6818-48C9-A9D9-E8E36E7699F4}"/>
                </a:ext>
              </a:extLst>
            </p:cNvPr>
            <p:cNvSpPr txBox="1">
              <a:spLocks noChangeArrowheads="1"/>
            </p:cNvSpPr>
            <p:nvPr/>
          </p:nvSpPr>
          <p:spPr bwMode="auto">
            <a:xfrm>
              <a:off x="1104" y="504"/>
              <a:ext cx="192"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2800" b="0" i="0" dirty="0">
                  <a:latin typeface="黑体" panose="02010609060101010101" pitchFamily="49" charset="-122"/>
                  <a:ea typeface="黑体" panose="02010609060101010101" pitchFamily="49" charset="-122"/>
                </a:rPr>
                <a:t>４</a:t>
              </a:r>
            </a:p>
          </p:txBody>
        </p:sp>
      </p:grpSp>
      <p:sp>
        <p:nvSpPr>
          <p:cNvPr id="2" name="Text Box 4">
            <a:extLst>
              <a:ext uri="{FF2B5EF4-FFF2-40B4-BE49-F238E27FC236}">
                <a16:creationId xmlns:a16="http://schemas.microsoft.com/office/drawing/2014/main" id="{C3FD0EA9-9324-4366-9E8F-BEDC1266BA39}"/>
              </a:ext>
            </a:extLst>
          </p:cNvPr>
          <p:cNvSpPr txBox="1">
            <a:spLocks noChangeArrowheads="1"/>
          </p:cNvSpPr>
          <p:nvPr/>
        </p:nvSpPr>
        <p:spPr bwMode="auto">
          <a:xfrm>
            <a:off x="439150" y="326871"/>
            <a:ext cx="8458200" cy="70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342900" indent="-342900" algn="ctr" eaLnBrk="1" hangingPunct="1">
              <a:lnSpc>
                <a:spcPct val="90000"/>
              </a:lnSpc>
              <a:buNone/>
            </a:pPr>
            <a:r>
              <a:rPr lang="zh-CN" altLang="en-US" sz="4400" i="0" dirty="0">
                <a:solidFill>
                  <a:schemeClr val="tx2"/>
                </a:solidFill>
                <a:ea typeface="隶书" pitchFamily="49" charset="-122"/>
              </a:rPr>
              <a:t>一、最优二叉树</a:t>
            </a:r>
            <a:endParaRPr lang="en-US" altLang="zh-CN" sz="4400" i="0" dirty="0">
              <a:solidFill>
                <a:schemeClr val="tx2"/>
              </a:solidFill>
              <a:ea typeface="隶书" pitchFamily="49" charset="-122"/>
            </a:endParaRPr>
          </a:p>
        </p:txBody>
      </p:sp>
      <p:sp>
        <p:nvSpPr>
          <p:cNvPr id="3" name="文本框 2">
            <a:extLst>
              <a:ext uri="{FF2B5EF4-FFF2-40B4-BE49-F238E27FC236}">
                <a16:creationId xmlns:a16="http://schemas.microsoft.com/office/drawing/2014/main" id="{EDA12091-458E-760C-EA04-3E13CC194572}"/>
              </a:ext>
            </a:extLst>
          </p:cNvPr>
          <p:cNvSpPr txBox="1"/>
          <p:nvPr/>
        </p:nvSpPr>
        <p:spPr>
          <a:xfrm>
            <a:off x="4350175" y="1765154"/>
            <a:ext cx="5184575" cy="523220"/>
          </a:xfrm>
          <a:prstGeom prst="rect">
            <a:avLst/>
          </a:prstGeom>
          <a:noFill/>
        </p:spPr>
        <p:txBody>
          <a:bodyPr wrap="square" rtlCol="0">
            <a:spAutoFit/>
          </a:bodyPr>
          <a:lstStyle/>
          <a:p>
            <a:r>
              <a:rPr lang="en-US" altLang="zh-CN" sz="2800" b="0" i="0" dirty="0">
                <a:solidFill>
                  <a:srgbClr val="FF0000"/>
                </a:solidFill>
                <a:latin typeface="+mn-ea"/>
                <a:ea typeface="+mn-ea"/>
              </a:rPr>
              <a:t>D</a:t>
            </a:r>
            <a:r>
              <a:rPr lang="zh-CN" altLang="en-US" sz="2800" b="0" i="0" dirty="0">
                <a:solidFill>
                  <a:srgbClr val="FF0000"/>
                </a:solidFill>
                <a:latin typeface="+mn-ea"/>
                <a:ea typeface="+mn-ea"/>
              </a:rPr>
              <a:t>结点的带权路径长度</a:t>
            </a:r>
            <a:r>
              <a:rPr lang="en-US" altLang="zh-CN" sz="2800" b="0" i="0" dirty="0">
                <a:solidFill>
                  <a:srgbClr val="FF0000"/>
                </a:solidFill>
                <a:latin typeface="+mn-ea"/>
                <a:ea typeface="+mn-ea"/>
              </a:rPr>
              <a:t>5*2=10</a:t>
            </a:r>
            <a:endParaRPr lang="zh-CN" altLang="en-US" sz="2800" b="0" i="0" dirty="0">
              <a:solidFill>
                <a:srgbClr val="FF0000"/>
              </a:solidFill>
              <a:latin typeface="+mn-ea"/>
              <a:ea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421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421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421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61" name="Text Box 5">
            <a:extLst>
              <a:ext uri="{FF2B5EF4-FFF2-40B4-BE49-F238E27FC236}">
                <a16:creationId xmlns:a16="http://schemas.microsoft.com/office/drawing/2014/main" id="{F8CD876A-AB05-4E7A-B654-9334CEC71402}"/>
              </a:ext>
            </a:extLst>
          </p:cNvPr>
          <p:cNvSpPr txBox="1">
            <a:spLocks noChangeArrowheads="1"/>
          </p:cNvSpPr>
          <p:nvPr/>
        </p:nvSpPr>
        <p:spPr bwMode="auto">
          <a:xfrm>
            <a:off x="517232" y="1124744"/>
            <a:ext cx="8087216" cy="12840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50000"/>
              </a:lnSpc>
              <a:spcBef>
                <a:spcPct val="0"/>
              </a:spcBef>
              <a:buClrTx/>
              <a:buSzTx/>
              <a:buFont typeface="Arial" panose="020B0604020202020204" pitchFamily="34" charset="0"/>
              <a:buNone/>
            </a:pPr>
            <a:r>
              <a:rPr lang="zh-CN" altLang="en-US" sz="2800" b="0" i="0" dirty="0">
                <a:latin typeface="黑体" panose="02010609060101010101" pitchFamily="49" charset="-122"/>
                <a:ea typeface="黑体" panose="02010609060101010101" pitchFamily="49" charset="-122"/>
              </a:rPr>
              <a:t>设5个叶子结点，分别带权7、9、5、4、2，</a:t>
            </a:r>
          </a:p>
          <a:p>
            <a:pPr eaLnBrk="1" hangingPunct="1">
              <a:lnSpc>
                <a:spcPct val="150000"/>
              </a:lnSpc>
              <a:spcBef>
                <a:spcPct val="0"/>
              </a:spcBef>
              <a:buClrTx/>
              <a:buSzTx/>
              <a:buFont typeface="Arial" panose="020B0604020202020204" pitchFamily="34" charset="0"/>
              <a:buNone/>
            </a:pPr>
            <a:r>
              <a:rPr lang="zh-CN" altLang="en-US" sz="2800" b="0" i="0" dirty="0">
                <a:latin typeface="黑体" panose="02010609060101010101" pitchFamily="49" charset="-122"/>
                <a:ea typeface="黑体" panose="02010609060101010101" pitchFamily="49" charset="-122"/>
              </a:rPr>
              <a:t>至少画出2种二叉树，并计算带权路径长度。</a:t>
            </a:r>
          </a:p>
        </p:txBody>
      </p:sp>
      <p:sp>
        <p:nvSpPr>
          <p:cNvPr id="2" name="Text Box 4">
            <a:extLst>
              <a:ext uri="{FF2B5EF4-FFF2-40B4-BE49-F238E27FC236}">
                <a16:creationId xmlns:a16="http://schemas.microsoft.com/office/drawing/2014/main" id="{95D9CC2E-86DE-4648-A584-CB2BB0F9E035}"/>
              </a:ext>
            </a:extLst>
          </p:cNvPr>
          <p:cNvSpPr txBox="1">
            <a:spLocks noChangeArrowheads="1"/>
          </p:cNvSpPr>
          <p:nvPr/>
        </p:nvSpPr>
        <p:spPr bwMode="auto">
          <a:xfrm>
            <a:off x="439150" y="326871"/>
            <a:ext cx="8458200" cy="70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342900" indent="-342900" algn="ctr" eaLnBrk="1" hangingPunct="1">
              <a:lnSpc>
                <a:spcPct val="90000"/>
              </a:lnSpc>
              <a:buNone/>
            </a:pPr>
            <a:r>
              <a:rPr lang="zh-CN" altLang="en-US" sz="4400" i="0" dirty="0">
                <a:solidFill>
                  <a:schemeClr val="tx2"/>
                </a:solidFill>
                <a:ea typeface="隶书" pitchFamily="49" charset="-122"/>
              </a:rPr>
              <a:t>带权路径长度举例</a:t>
            </a:r>
          </a:p>
        </p:txBody>
      </p:sp>
    </p:spTree>
  </p:cSld>
  <p:clrMapOvr>
    <a:masterClrMapping/>
  </p:clrMapOvr>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7282" name="Group 2">
            <a:extLst>
              <a:ext uri="{FF2B5EF4-FFF2-40B4-BE49-F238E27FC236}">
                <a16:creationId xmlns:a16="http://schemas.microsoft.com/office/drawing/2014/main" id="{61DDF915-60E9-4899-89E0-82E2DBD71D04}"/>
              </a:ext>
            </a:extLst>
          </p:cNvPr>
          <p:cNvGrpSpPr>
            <a:grpSpLocks/>
          </p:cNvGrpSpPr>
          <p:nvPr/>
        </p:nvGrpSpPr>
        <p:grpSpPr bwMode="auto">
          <a:xfrm>
            <a:off x="529554" y="1315827"/>
            <a:ext cx="3505200" cy="2774950"/>
            <a:chOff x="0" y="0"/>
            <a:chExt cx="5520" cy="4370"/>
          </a:xfrm>
        </p:grpSpPr>
        <p:sp>
          <p:nvSpPr>
            <p:cNvPr id="97307" name="Oval 3">
              <a:extLst>
                <a:ext uri="{FF2B5EF4-FFF2-40B4-BE49-F238E27FC236}">
                  <a16:creationId xmlns:a16="http://schemas.microsoft.com/office/drawing/2014/main" id="{07CA22C3-334F-4AE7-89A7-E55F96FA3416}"/>
                </a:ext>
              </a:extLst>
            </p:cNvPr>
            <p:cNvSpPr>
              <a:spLocks noChangeArrowheads="1"/>
            </p:cNvSpPr>
            <p:nvPr/>
          </p:nvSpPr>
          <p:spPr bwMode="auto">
            <a:xfrm>
              <a:off x="960" y="960"/>
              <a:ext cx="720" cy="720"/>
            </a:xfrm>
            <a:prstGeom prst="ellipse">
              <a:avLst/>
            </a:prstGeom>
            <a:noFill/>
            <a:ln w="12700" cap="sq">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97308" name="Oval 4">
              <a:extLst>
                <a:ext uri="{FF2B5EF4-FFF2-40B4-BE49-F238E27FC236}">
                  <a16:creationId xmlns:a16="http://schemas.microsoft.com/office/drawing/2014/main" id="{262BA34E-4F11-419F-A2C1-76318663D6F9}"/>
                </a:ext>
              </a:extLst>
            </p:cNvPr>
            <p:cNvSpPr>
              <a:spLocks noChangeArrowheads="1"/>
            </p:cNvSpPr>
            <p:nvPr/>
          </p:nvSpPr>
          <p:spPr bwMode="auto">
            <a:xfrm>
              <a:off x="3840" y="960"/>
              <a:ext cx="720" cy="720"/>
            </a:xfrm>
            <a:prstGeom prst="ellipse">
              <a:avLst/>
            </a:prstGeom>
            <a:noFill/>
            <a:ln w="12700" cap="sq">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97309" name="Oval 5">
              <a:extLst>
                <a:ext uri="{FF2B5EF4-FFF2-40B4-BE49-F238E27FC236}">
                  <a16:creationId xmlns:a16="http://schemas.microsoft.com/office/drawing/2014/main" id="{A3B01DC2-949D-4C17-80E9-A2DFF845EE71}"/>
                </a:ext>
              </a:extLst>
            </p:cNvPr>
            <p:cNvSpPr>
              <a:spLocks noChangeArrowheads="1"/>
            </p:cNvSpPr>
            <p:nvPr/>
          </p:nvSpPr>
          <p:spPr bwMode="auto">
            <a:xfrm>
              <a:off x="2400" y="0"/>
              <a:ext cx="720" cy="720"/>
            </a:xfrm>
            <a:prstGeom prst="ellipse">
              <a:avLst/>
            </a:prstGeom>
            <a:noFill/>
            <a:ln w="12700" cap="sq">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97310" name="Oval 6">
              <a:extLst>
                <a:ext uri="{FF2B5EF4-FFF2-40B4-BE49-F238E27FC236}">
                  <a16:creationId xmlns:a16="http://schemas.microsoft.com/office/drawing/2014/main" id="{74AD4F7C-261E-4474-BCEA-BF1B53800CE3}"/>
                </a:ext>
              </a:extLst>
            </p:cNvPr>
            <p:cNvSpPr>
              <a:spLocks noChangeArrowheads="1"/>
            </p:cNvSpPr>
            <p:nvPr/>
          </p:nvSpPr>
          <p:spPr bwMode="auto">
            <a:xfrm>
              <a:off x="3000" y="2160"/>
              <a:ext cx="720" cy="720"/>
            </a:xfrm>
            <a:prstGeom prst="ellipse">
              <a:avLst/>
            </a:prstGeom>
            <a:noFill/>
            <a:ln w="12700" cap="sq">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97311" name="Oval 7">
              <a:extLst>
                <a:ext uri="{FF2B5EF4-FFF2-40B4-BE49-F238E27FC236}">
                  <a16:creationId xmlns:a16="http://schemas.microsoft.com/office/drawing/2014/main" id="{E199CA20-420C-4343-AE8A-EB6341AD48F2}"/>
                </a:ext>
              </a:extLst>
            </p:cNvPr>
            <p:cNvSpPr>
              <a:spLocks noChangeArrowheads="1"/>
            </p:cNvSpPr>
            <p:nvPr/>
          </p:nvSpPr>
          <p:spPr bwMode="auto">
            <a:xfrm>
              <a:off x="4800" y="2160"/>
              <a:ext cx="720" cy="720"/>
            </a:xfrm>
            <a:prstGeom prst="ellipse">
              <a:avLst/>
            </a:prstGeom>
            <a:noFill/>
            <a:ln w="12700" cap="sq">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97312" name="Oval 8">
              <a:extLst>
                <a:ext uri="{FF2B5EF4-FFF2-40B4-BE49-F238E27FC236}">
                  <a16:creationId xmlns:a16="http://schemas.microsoft.com/office/drawing/2014/main" id="{A7A5816E-2B7F-4F22-968C-A92DA6E027D3}"/>
                </a:ext>
              </a:extLst>
            </p:cNvPr>
            <p:cNvSpPr>
              <a:spLocks noChangeArrowheads="1"/>
            </p:cNvSpPr>
            <p:nvPr/>
          </p:nvSpPr>
          <p:spPr bwMode="auto">
            <a:xfrm>
              <a:off x="2040" y="3480"/>
              <a:ext cx="720" cy="720"/>
            </a:xfrm>
            <a:prstGeom prst="ellipse">
              <a:avLst/>
            </a:prstGeom>
            <a:noFill/>
            <a:ln w="12700" cap="sq">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3600">
                  <a:latin typeface="Times New Roman" panose="02020603050405020304" pitchFamily="18" charset="0"/>
                </a:rPr>
                <a:t>2</a:t>
              </a:r>
              <a:endParaRPr lang="en-US" altLang="zh-CN" sz="2400">
                <a:latin typeface="Times New Roman" panose="02020603050405020304" pitchFamily="18" charset="0"/>
              </a:endParaRPr>
            </a:p>
          </p:txBody>
        </p:sp>
        <p:sp>
          <p:nvSpPr>
            <p:cNvPr id="97313" name="Oval 9">
              <a:extLst>
                <a:ext uri="{FF2B5EF4-FFF2-40B4-BE49-F238E27FC236}">
                  <a16:creationId xmlns:a16="http://schemas.microsoft.com/office/drawing/2014/main" id="{083C8654-B50C-412E-A780-5CAFEECE402C}"/>
                </a:ext>
              </a:extLst>
            </p:cNvPr>
            <p:cNvSpPr>
              <a:spLocks noChangeArrowheads="1"/>
            </p:cNvSpPr>
            <p:nvPr/>
          </p:nvSpPr>
          <p:spPr bwMode="auto">
            <a:xfrm>
              <a:off x="3720" y="3480"/>
              <a:ext cx="720" cy="720"/>
            </a:xfrm>
            <a:prstGeom prst="ellipse">
              <a:avLst/>
            </a:prstGeom>
            <a:noFill/>
            <a:ln w="12700" cap="sq">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97314" name="Oval 10">
              <a:extLst>
                <a:ext uri="{FF2B5EF4-FFF2-40B4-BE49-F238E27FC236}">
                  <a16:creationId xmlns:a16="http://schemas.microsoft.com/office/drawing/2014/main" id="{779D917B-F480-4BB9-B399-E853167E6D32}"/>
                </a:ext>
              </a:extLst>
            </p:cNvPr>
            <p:cNvSpPr>
              <a:spLocks noChangeArrowheads="1"/>
            </p:cNvSpPr>
            <p:nvPr/>
          </p:nvSpPr>
          <p:spPr bwMode="auto">
            <a:xfrm>
              <a:off x="0" y="2160"/>
              <a:ext cx="720" cy="720"/>
            </a:xfrm>
            <a:prstGeom prst="ellipse">
              <a:avLst/>
            </a:prstGeom>
            <a:noFill/>
            <a:ln w="12700" cap="sq">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97315" name="Oval 11">
              <a:extLst>
                <a:ext uri="{FF2B5EF4-FFF2-40B4-BE49-F238E27FC236}">
                  <a16:creationId xmlns:a16="http://schemas.microsoft.com/office/drawing/2014/main" id="{53FE4D10-6013-4D4C-810B-7D2764DAE976}"/>
                </a:ext>
              </a:extLst>
            </p:cNvPr>
            <p:cNvSpPr>
              <a:spLocks noChangeArrowheads="1"/>
            </p:cNvSpPr>
            <p:nvPr/>
          </p:nvSpPr>
          <p:spPr bwMode="auto">
            <a:xfrm>
              <a:off x="1800" y="2160"/>
              <a:ext cx="720" cy="720"/>
            </a:xfrm>
            <a:prstGeom prst="ellipse">
              <a:avLst/>
            </a:prstGeom>
            <a:noFill/>
            <a:ln w="12700" cap="sq">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97316" name="Line 12">
              <a:extLst>
                <a:ext uri="{FF2B5EF4-FFF2-40B4-BE49-F238E27FC236}">
                  <a16:creationId xmlns:a16="http://schemas.microsoft.com/office/drawing/2014/main" id="{6027458F-E76B-42C9-ADFB-70FF321891F7}"/>
                </a:ext>
              </a:extLst>
            </p:cNvPr>
            <p:cNvSpPr>
              <a:spLocks noChangeShapeType="1"/>
            </p:cNvSpPr>
            <p:nvPr/>
          </p:nvSpPr>
          <p:spPr bwMode="auto">
            <a:xfrm flipH="1">
              <a:off x="1320" y="360"/>
              <a:ext cx="1080" cy="600"/>
            </a:xfrm>
            <a:prstGeom prst="line">
              <a:avLst/>
            </a:prstGeom>
            <a:noFill/>
            <a:ln w="127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317" name="Line 13">
              <a:extLst>
                <a:ext uri="{FF2B5EF4-FFF2-40B4-BE49-F238E27FC236}">
                  <a16:creationId xmlns:a16="http://schemas.microsoft.com/office/drawing/2014/main" id="{563A938E-A354-400E-A745-E329AAB2FD41}"/>
                </a:ext>
              </a:extLst>
            </p:cNvPr>
            <p:cNvSpPr>
              <a:spLocks noChangeShapeType="1"/>
            </p:cNvSpPr>
            <p:nvPr/>
          </p:nvSpPr>
          <p:spPr bwMode="auto">
            <a:xfrm>
              <a:off x="3120" y="360"/>
              <a:ext cx="1080" cy="600"/>
            </a:xfrm>
            <a:prstGeom prst="line">
              <a:avLst/>
            </a:prstGeom>
            <a:noFill/>
            <a:ln w="127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318" name="Line 14">
              <a:extLst>
                <a:ext uri="{FF2B5EF4-FFF2-40B4-BE49-F238E27FC236}">
                  <a16:creationId xmlns:a16="http://schemas.microsoft.com/office/drawing/2014/main" id="{02E0A462-7C79-4B45-98C9-7FF0E9DFD145}"/>
                </a:ext>
              </a:extLst>
            </p:cNvPr>
            <p:cNvSpPr>
              <a:spLocks noChangeShapeType="1"/>
            </p:cNvSpPr>
            <p:nvPr/>
          </p:nvSpPr>
          <p:spPr bwMode="auto">
            <a:xfrm flipH="1">
              <a:off x="3360" y="1320"/>
              <a:ext cx="480" cy="840"/>
            </a:xfrm>
            <a:prstGeom prst="line">
              <a:avLst/>
            </a:prstGeom>
            <a:noFill/>
            <a:ln w="127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319" name="Line 15">
              <a:extLst>
                <a:ext uri="{FF2B5EF4-FFF2-40B4-BE49-F238E27FC236}">
                  <a16:creationId xmlns:a16="http://schemas.microsoft.com/office/drawing/2014/main" id="{991E06E0-A36C-4637-B539-6B212AB76726}"/>
                </a:ext>
              </a:extLst>
            </p:cNvPr>
            <p:cNvSpPr>
              <a:spLocks noChangeShapeType="1"/>
            </p:cNvSpPr>
            <p:nvPr/>
          </p:nvSpPr>
          <p:spPr bwMode="auto">
            <a:xfrm>
              <a:off x="4560" y="1320"/>
              <a:ext cx="600" cy="840"/>
            </a:xfrm>
            <a:prstGeom prst="line">
              <a:avLst/>
            </a:prstGeom>
            <a:noFill/>
            <a:ln w="127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320" name="Line 16">
              <a:extLst>
                <a:ext uri="{FF2B5EF4-FFF2-40B4-BE49-F238E27FC236}">
                  <a16:creationId xmlns:a16="http://schemas.microsoft.com/office/drawing/2014/main" id="{54A5CA89-DFA8-4995-96C7-B994C17DD9F9}"/>
                </a:ext>
              </a:extLst>
            </p:cNvPr>
            <p:cNvSpPr>
              <a:spLocks noChangeShapeType="1"/>
            </p:cNvSpPr>
            <p:nvPr/>
          </p:nvSpPr>
          <p:spPr bwMode="auto">
            <a:xfrm flipH="1">
              <a:off x="2400" y="2520"/>
              <a:ext cx="600" cy="960"/>
            </a:xfrm>
            <a:prstGeom prst="line">
              <a:avLst/>
            </a:prstGeom>
            <a:noFill/>
            <a:ln w="127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321" name="Line 17">
              <a:extLst>
                <a:ext uri="{FF2B5EF4-FFF2-40B4-BE49-F238E27FC236}">
                  <a16:creationId xmlns:a16="http://schemas.microsoft.com/office/drawing/2014/main" id="{36CFE8A8-1C2A-4648-B1A1-6C93B19258B0}"/>
                </a:ext>
              </a:extLst>
            </p:cNvPr>
            <p:cNvSpPr>
              <a:spLocks noChangeShapeType="1"/>
            </p:cNvSpPr>
            <p:nvPr/>
          </p:nvSpPr>
          <p:spPr bwMode="auto">
            <a:xfrm>
              <a:off x="3720" y="2520"/>
              <a:ext cx="360" cy="960"/>
            </a:xfrm>
            <a:prstGeom prst="line">
              <a:avLst/>
            </a:prstGeom>
            <a:noFill/>
            <a:ln w="127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322" name="Line 18">
              <a:extLst>
                <a:ext uri="{FF2B5EF4-FFF2-40B4-BE49-F238E27FC236}">
                  <a16:creationId xmlns:a16="http://schemas.microsoft.com/office/drawing/2014/main" id="{A128AE2D-CF61-4D3E-9113-6A5602D8267C}"/>
                </a:ext>
              </a:extLst>
            </p:cNvPr>
            <p:cNvSpPr>
              <a:spLocks noChangeShapeType="1"/>
            </p:cNvSpPr>
            <p:nvPr/>
          </p:nvSpPr>
          <p:spPr bwMode="auto">
            <a:xfrm flipH="1">
              <a:off x="360" y="1320"/>
              <a:ext cx="600" cy="840"/>
            </a:xfrm>
            <a:prstGeom prst="line">
              <a:avLst/>
            </a:prstGeom>
            <a:noFill/>
            <a:ln w="127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323" name="Line 19">
              <a:extLst>
                <a:ext uri="{FF2B5EF4-FFF2-40B4-BE49-F238E27FC236}">
                  <a16:creationId xmlns:a16="http://schemas.microsoft.com/office/drawing/2014/main" id="{74EE89E0-8DE5-490E-944B-9396FAC8E009}"/>
                </a:ext>
              </a:extLst>
            </p:cNvPr>
            <p:cNvSpPr>
              <a:spLocks noChangeShapeType="1"/>
            </p:cNvSpPr>
            <p:nvPr/>
          </p:nvSpPr>
          <p:spPr bwMode="auto">
            <a:xfrm>
              <a:off x="1680" y="1320"/>
              <a:ext cx="480" cy="840"/>
            </a:xfrm>
            <a:prstGeom prst="line">
              <a:avLst/>
            </a:prstGeom>
            <a:noFill/>
            <a:ln w="127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324" name="Text Box 20">
              <a:extLst>
                <a:ext uri="{FF2B5EF4-FFF2-40B4-BE49-F238E27FC236}">
                  <a16:creationId xmlns:a16="http://schemas.microsoft.com/office/drawing/2014/main" id="{05E221DA-CCE3-405A-808D-20660CC931F8}"/>
                </a:ext>
              </a:extLst>
            </p:cNvPr>
            <p:cNvSpPr txBox="1">
              <a:spLocks noChangeArrowheads="1"/>
            </p:cNvSpPr>
            <p:nvPr/>
          </p:nvSpPr>
          <p:spPr bwMode="auto">
            <a:xfrm>
              <a:off x="0" y="2040"/>
              <a:ext cx="805" cy="10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en-US" altLang="zh-CN" sz="3600">
                  <a:latin typeface="Times New Roman" panose="02020603050405020304" pitchFamily="18" charset="0"/>
                </a:rPr>
                <a:t>7</a:t>
              </a:r>
              <a:endParaRPr lang="en-US" altLang="zh-CN" sz="2400">
                <a:latin typeface="Times New Roman" panose="02020603050405020304" pitchFamily="18" charset="0"/>
              </a:endParaRPr>
            </a:p>
          </p:txBody>
        </p:sp>
        <p:sp>
          <p:nvSpPr>
            <p:cNvPr id="97325" name="Text Box 21">
              <a:extLst>
                <a:ext uri="{FF2B5EF4-FFF2-40B4-BE49-F238E27FC236}">
                  <a16:creationId xmlns:a16="http://schemas.microsoft.com/office/drawing/2014/main" id="{15C355FB-D21F-4F58-A80C-743FB80B63BB}"/>
                </a:ext>
              </a:extLst>
            </p:cNvPr>
            <p:cNvSpPr txBox="1">
              <a:spLocks noChangeArrowheads="1"/>
            </p:cNvSpPr>
            <p:nvPr/>
          </p:nvSpPr>
          <p:spPr bwMode="auto">
            <a:xfrm>
              <a:off x="1800" y="2040"/>
              <a:ext cx="650" cy="10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3600">
                  <a:latin typeface="Times New Roman" panose="02020603050405020304" pitchFamily="18" charset="0"/>
                </a:rPr>
                <a:t>5</a:t>
              </a:r>
              <a:endParaRPr lang="en-US" altLang="zh-CN" sz="2400">
                <a:latin typeface="Times New Roman" panose="02020603050405020304" pitchFamily="18" charset="0"/>
              </a:endParaRPr>
            </a:p>
          </p:txBody>
        </p:sp>
        <p:sp>
          <p:nvSpPr>
            <p:cNvPr id="97326" name="Text Box 22">
              <a:extLst>
                <a:ext uri="{FF2B5EF4-FFF2-40B4-BE49-F238E27FC236}">
                  <a16:creationId xmlns:a16="http://schemas.microsoft.com/office/drawing/2014/main" id="{0991F739-BE8F-4834-BF16-7255CEE91ABB}"/>
                </a:ext>
              </a:extLst>
            </p:cNvPr>
            <p:cNvSpPr txBox="1">
              <a:spLocks noChangeArrowheads="1"/>
            </p:cNvSpPr>
            <p:nvPr/>
          </p:nvSpPr>
          <p:spPr bwMode="auto">
            <a:xfrm>
              <a:off x="3720" y="3360"/>
              <a:ext cx="805" cy="10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en-US" altLang="zh-CN" sz="3600">
                  <a:latin typeface="Times New Roman" panose="02020603050405020304" pitchFamily="18" charset="0"/>
                </a:rPr>
                <a:t>4</a:t>
              </a:r>
              <a:endParaRPr lang="en-US" altLang="zh-CN" sz="2400">
                <a:latin typeface="Times New Roman" panose="02020603050405020304" pitchFamily="18" charset="0"/>
              </a:endParaRPr>
            </a:p>
          </p:txBody>
        </p:sp>
        <p:sp>
          <p:nvSpPr>
            <p:cNvPr id="97327" name="Text Box 23">
              <a:extLst>
                <a:ext uri="{FF2B5EF4-FFF2-40B4-BE49-F238E27FC236}">
                  <a16:creationId xmlns:a16="http://schemas.microsoft.com/office/drawing/2014/main" id="{5F633468-B539-48FE-88E0-A1A74B2AA99A}"/>
                </a:ext>
              </a:extLst>
            </p:cNvPr>
            <p:cNvSpPr txBox="1">
              <a:spLocks noChangeArrowheads="1"/>
            </p:cNvSpPr>
            <p:nvPr/>
          </p:nvSpPr>
          <p:spPr bwMode="auto">
            <a:xfrm>
              <a:off x="4800" y="2040"/>
              <a:ext cx="650" cy="10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3600">
                  <a:latin typeface="Times New Roman" panose="02020603050405020304" pitchFamily="18" charset="0"/>
                </a:rPr>
                <a:t>9</a:t>
              </a:r>
              <a:endParaRPr lang="en-US" altLang="zh-CN" sz="2400">
                <a:latin typeface="Times New Roman" panose="02020603050405020304" pitchFamily="18" charset="0"/>
              </a:endParaRPr>
            </a:p>
          </p:txBody>
        </p:sp>
      </p:grpSp>
      <p:sp>
        <p:nvSpPr>
          <p:cNvPr id="76824" name="Text Box 24">
            <a:extLst>
              <a:ext uri="{FF2B5EF4-FFF2-40B4-BE49-F238E27FC236}">
                <a16:creationId xmlns:a16="http://schemas.microsoft.com/office/drawing/2014/main" id="{E0F78082-FFEE-4CB9-A827-1FFFEEEB7B74}"/>
              </a:ext>
            </a:extLst>
          </p:cNvPr>
          <p:cNvSpPr txBox="1">
            <a:spLocks noChangeArrowheads="1"/>
          </p:cNvSpPr>
          <p:nvPr/>
        </p:nvSpPr>
        <p:spPr bwMode="auto">
          <a:xfrm>
            <a:off x="388266" y="4572793"/>
            <a:ext cx="3482975" cy="1588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50000"/>
              </a:spcBef>
              <a:buClrTx/>
              <a:buSzTx/>
              <a:buFont typeface="Arial" panose="020B0604020202020204" pitchFamily="34" charset="0"/>
              <a:buNone/>
            </a:pPr>
            <a:r>
              <a:rPr lang="en-US" altLang="zh-CN" sz="2800" i="0" dirty="0">
                <a:solidFill>
                  <a:srgbClr val="990033"/>
                </a:solidFill>
                <a:latin typeface="+mn-ea"/>
                <a:ea typeface="+mn-ea"/>
              </a:rPr>
              <a:t>WPL= 7</a:t>
            </a:r>
            <a:r>
              <a:rPr lang="en-US" altLang="zh-CN" sz="2800" i="0" dirty="0">
                <a:solidFill>
                  <a:srgbClr val="990033"/>
                </a:solidFill>
                <a:latin typeface="+mn-ea"/>
                <a:ea typeface="+mn-ea"/>
                <a:sym typeface="Symbol" panose="05050102010706020507" pitchFamily="18" charset="2"/>
              </a:rPr>
              <a:t>2+52+23+43+92      =60</a:t>
            </a:r>
            <a:endParaRPr lang="en-US" altLang="zh-CN" sz="2800" i="0" dirty="0">
              <a:solidFill>
                <a:srgbClr val="990033"/>
              </a:solidFill>
              <a:latin typeface="+mn-ea"/>
              <a:ea typeface="+mn-ea"/>
            </a:endParaRPr>
          </a:p>
        </p:txBody>
      </p:sp>
      <p:sp>
        <p:nvSpPr>
          <p:cNvPr id="76825" name="Text Box 25">
            <a:extLst>
              <a:ext uri="{FF2B5EF4-FFF2-40B4-BE49-F238E27FC236}">
                <a16:creationId xmlns:a16="http://schemas.microsoft.com/office/drawing/2014/main" id="{489AB2CD-E75B-4959-87AC-6087AEDE086B}"/>
              </a:ext>
            </a:extLst>
          </p:cNvPr>
          <p:cNvSpPr txBox="1">
            <a:spLocks noChangeArrowheads="1"/>
          </p:cNvSpPr>
          <p:nvPr/>
        </p:nvSpPr>
        <p:spPr bwMode="auto">
          <a:xfrm>
            <a:off x="4685628" y="4653136"/>
            <a:ext cx="3581400" cy="1574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en-US" altLang="zh-CN" sz="2800" i="0" dirty="0">
                <a:solidFill>
                  <a:srgbClr val="990033"/>
                </a:solidFill>
                <a:latin typeface="+mn-ea"/>
                <a:ea typeface="+mn-ea"/>
              </a:rPr>
              <a:t>WPL= 7</a:t>
            </a:r>
            <a:r>
              <a:rPr lang="en-US" altLang="zh-CN" sz="2800" i="0" dirty="0">
                <a:solidFill>
                  <a:srgbClr val="990033"/>
                </a:solidFill>
                <a:latin typeface="+mn-ea"/>
                <a:ea typeface="+mn-ea"/>
                <a:sym typeface="Symbol" panose="05050102010706020507" pitchFamily="18" charset="2"/>
              </a:rPr>
              <a:t>4+94+53+42+21      =89 </a:t>
            </a:r>
            <a:endParaRPr lang="en-US" altLang="zh-CN" sz="2800" i="0" dirty="0">
              <a:solidFill>
                <a:srgbClr val="990033"/>
              </a:solidFill>
              <a:latin typeface="+mn-ea"/>
              <a:ea typeface="+mn-ea"/>
            </a:endParaRPr>
          </a:p>
        </p:txBody>
      </p:sp>
      <p:grpSp>
        <p:nvGrpSpPr>
          <p:cNvPr id="97285" name="Group 26">
            <a:extLst>
              <a:ext uri="{FF2B5EF4-FFF2-40B4-BE49-F238E27FC236}">
                <a16:creationId xmlns:a16="http://schemas.microsoft.com/office/drawing/2014/main" id="{FFDD5C3A-0E2A-41F1-977D-35C758213EBE}"/>
              </a:ext>
            </a:extLst>
          </p:cNvPr>
          <p:cNvGrpSpPr>
            <a:grpSpLocks/>
          </p:cNvGrpSpPr>
          <p:nvPr/>
        </p:nvGrpSpPr>
        <p:grpSpPr bwMode="auto">
          <a:xfrm>
            <a:off x="4392488" y="1324319"/>
            <a:ext cx="4572000" cy="3124200"/>
            <a:chOff x="0" y="0"/>
            <a:chExt cx="7200" cy="4920"/>
          </a:xfrm>
        </p:grpSpPr>
        <p:sp>
          <p:nvSpPr>
            <p:cNvPr id="97287" name="Oval 27">
              <a:extLst>
                <a:ext uri="{FF2B5EF4-FFF2-40B4-BE49-F238E27FC236}">
                  <a16:creationId xmlns:a16="http://schemas.microsoft.com/office/drawing/2014/main" id="{5B84C27A-116A-4912-9F13-6157C28A38FE}"/>
                </a:ext>
              </a:extLst>
            </p:cNvPr>
            <p:cNvSpPr>
              <a:spLocks noChangeArrowheads="1"/>
            </p:cNvSpPr>
            <p:nvPr/>
          </p:nvSpPr>
          <p:spPr bwMode="auto">
            <a:xfrm>
              <a:off x="4800" y="0"/>
              <a:ext cx="720" cy="720"/>
            </a:xfrm>
            <a:prstGeom prst="ellipse">
              <a:avLst/>
            </a:prstGeom>
            <a:noFill/>
            <a:ln w="12700" cap="sq">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97288" name="Oval 28">
              <a:extLst>
                <a:ext uri="{FF2B5EF4-FFF2-40B4-BE49-F238E27FC236}">
                  <a16:creationId xmlns:a16="http://schemas.microsoft.com/office/drawing/2014/main" id="{D24FED3B-F12D-481E-9FFA-D6EE34661EB6}"/>
                </a:ext>
              </a:extLst>
            </p:cNvPr>
            <p:cNvSpPr>
              <a:spLocks noChangeArrowheads="1"/>
            </p:cNvSpPr>
            <p:nvPr/>
          </p:nvSpPr>
          <p:spPr bwMode="auto">
            <a:xfrm>
              <a:off x="3360" y="960"/>
              <a:ext cx="720" cy="720"/>
            </a:xfrm>
            <a:prstGeom prst="ellipse">
              <a:avLst/>
            </a:prstGeom>
            <a:noFill/>
            <a:ln w="12700" cap="sq">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97289" name="Oval 29">
              <a:extLst>
                <a:ext uri="{FF2B5EF4-FFF2-40B4-BE49-F238E27FC236}">
                  <a16:creationId xmlns:a16="http://schemas.microsoft.com/office/drawing/2014/main" id="{9D387CB1-7824-4C4A-AB70-3EA05B228F14}"/>
                </a:ext>
              </a:extLst>
            </p:cNvPr>
            <p:cNvSpPr>
              <a:spLocks noChangeArrowheads="1"/>
            </p:cNvSpPr>
            <p:nvPr/>
          </p:nvSpPr>
          <p:spPr bwMode="auto">
            <a:xfrm>
              <a:off x="6480" y="960"/>
              <a:ext cx="720" cy="720"/>
            </a:xfrm>
            <a:prstGeom prst="ellipse">
              <a:avLst/>
            </a:prstGeom>
            <a:noFill/>
            <a:ln w="12700" cap="sq">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97290" name="Oval 30">
              <a:extLst>
                <a:ext uri="{FF2B5EF4-FFF2-40B4-BE49-F238E27FC236}">
                  <a16:creationId xmlns:a16="http://schemas.microsoft.com/office/drawing/2014/main" id="{721963E2-900D-4E82-999D-FFC5CBB11415}"/>
                </a:ext>
              </a:extLst>
            </p:cNvPr>
            <p:cNvSpPr>
              <a:spLocks noChangeArrowheads="1"/>
            </p:cNvSpPr>
            <p:nvPr/>
          </p:nvSpPr>
          <p:spPr bwMode="auto">
            <a:xfrm>
              <a:off x="2040" y="1920"/>
              <a:ext cx="720" cy="720"/>
            </a:xfrm>
            <a:prstGeom prst="ellipse">
              <a:avLst/>
            </a:prstGeom>
            <a:noFill/>
            <a:ln w="12700" cap="sq">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97291" name="Oval 31">
              <a:extLst>
                <a:ext uri="{FF2B5EF4-FFF2-40B4-BE49-F238E27FC236}">
                  <a16:creationId xmlns:a16="http://schemas.microsoft.com/office/drawing/2014/main" id="{B7422404-FA2E-4BCC-A515-3B9722A216D2}"/>
                </a:ext>
              </a:extLst>
            </p:cNvPr>
            <p:cNvSpPr>
              <a:spLocks noChangeArrowheads="1"/>
            </p:cNvSpPr>
            <p:nvPr/>
          </p:nvSpPr>
          <p:spPr bwMode="auto">
            <a:xfrm>
              <a:off x="4800" y="1920"/>
              <a:ext cx="720" cy="720"/>
            </a:xfrm>
            <a:prstGeom prst="ellipse">
              <a:avLst/>
            </a:prstGeom>
            <a:noFill/>
            <a:ln w="12700" cap="sq">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97292" name="Oval 32">
              <a:extLst>
                <a:ext uri="{FF2B5EF4-FFF2-40B4-BE49-F238E27FC236}">
                  <a16:creationId xmlns:a16="http://schemas.microsoft.com/office/drawing/2014/main" id="{C545E3D1-D6C7-4C09-A582-81FA3FFCF545}"/>
                </a:ext>
              </a:extLst>
            </p:cNvPr>
            <p:cNvSpPr>
              <a:spLocks noChangeArrowheads="1"/>
            </p:cNvSpPr>
            <p:nvPr/>
          </p:nvSpPr>
          <p:spPr bwMode="auto">
            <a:xfrm>
              <a:off x="960" y="3000"/>
              <a:ext cx="720" cy="720"/>
            </a:xfrm>
            <a:prstGeom prst="ellipse">
              <a:avLst/>
            </a:prstGeom>
            <a:noFill/>
            <a:ln w="12700" cap="sq">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97293" name="Oval 33">
              <a:extLst>
                <a:ext uri="{FF2B5EF4-FFF2-40B4-BE49-F238E27FC236}">
                  <a16:creationId xmlns:a16="http://schemas.microsoft.com/office/drawing/2014/main" id="{0821AD39-1D26-4CCB-A56E-53C48ED03052}"/>
                </a:ext>
              </a:extLst>
            </p:cNvPr>
            <p:cNvSpPr>
              <a:spLocks noChangeArrowheads="1"/>
            </p:cNvSpPr>
            <p:nvPr/>
          </p:nvSpPr>
          <p:spPr bwMode="auto">
            <a:xfrm>
              <a:off x="3240" y="3000"/>
              <a:ext cx="720" cy="720"/>
            </a:xfrm>
            <a:prstGeom prst="ellipse">
              <a:avLst/>
            </a:prstGeom>
            <a:noFill/>
            <a:ln w="12700" cap="sq">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97294" name="Oval 34">
              <a:extLst>
                <a:ext uri="{FF2B5EF4-FFF2-40B4-BE49-F238E27FC236}">
                  <a16:creationId xmlns:a16="http://schemas.microsoft.com/office/drawing/2014/main" id="{406E71E0-7A32-4B1B-8569-83F449995B90}"/>
                </a:ext>
              </a:extLst>
            </p:cNvPr>
            <p:cNvSpPr>
              <a:spLocks noChangeArrowheads="1"/>
            </p:cNvSpPr>
            <p:nvPr/>
          </p:nvSpPr>
          <p:spPr bwMode="auto">
            <a:xfrm>
              <a:off x="0" y="4200"/>
              <a:ext cx="720" cy="720"/>
            </a:xfrm>
            <a:prstGeom prst="ellipse">
              <a:avLst/>
            </a:prstGeom>
            <a:noFill/>
            <a:ln w="12700" cap="sq">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3600">
                  <a:latin typeface="Times New Roman" panose="02020603050405020304" pitchFamily="18" charset="0"/>
                </a:rPr>
                <a:t>7          9  </a:t>
              </a:r>
              <a:endParaRPr lang="en-US" altLang="zh-CN" sz="2400">
                <a:latin typeface="Times New Roman" panose="02020603050405020304" pitchFamily="18" charset="0"/>
              </a:endParaRPr>
            </a:p>
          </p:txBody>
        </p:sp>
        <p:sp>
          <p:nvSpPr>
            <p:cNvPr id="97295" name="Oval 35">
              <a:extLst>
                <a:ext uri="{FF2B5EF4-FFF2-40B4-BE49-F238E27FC236}">
                  <a16:creationId xmlns:a16="http://schemas.microsoft.com/office/drawing/2014/main" id="{182021E3-087B-45E0-A719-70197FE9945E}"/>
                </a:ext>
              </a:extLst>
            </p:cNvPr>
            <p:cNvSpPr>
              <a:spLocks noChangeArrowheads="1"/>
            </p:cNvSpPr>
            <p:nvPr/>
          </p:nvSpPr>
          <p:spPr bwMode="auto">
            <a:xfrm>
              <a:off x="2040" y="4200"/>
              <a:ext cx="720" cy="720"/>
            </a:xfrm>
            <a:prstGeom prst="ellipse">
              <a:avLst/>
            </a:prstGeom>
            <a:noFill/>
            <a:ln w="12700" cap="sq">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97296" name="Text Box 36">
              <a:extLst>
                <a:ext uri="{FF2B5EF4-FFF2-40B4-BE49-F238E27FC236}">
                  <a16:creationId xmlns:a16="http://schemas.microsoft.com/office/drawing/2014/main" id="{032B4C46-A6F4-4867-BF4B-76E6647D754E}"/>
                </a:ext>
              </a:extLst>
            </p:cNvPr>
            <p:cNvSpPr txBox="1">
              <a:spLocks noChangeArrowheads="1"/>
            </p:cNvSpPr>
            <p:nvPr/>
          </p:nvSpPr>
          <p:spPr bwMode="auto">
            <a:xfrm>
              <a:off x="6480" y="840"/>
              <a:ext cx="650" cy="10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3600">
                  <a:latin typeface="Times New Roman" panose="02020603050405020304" pitchFamily="18" charset="0"/>
                </a:rPr>
                <a:t>2</a:t>
              </a:r>
              <a:endParaRPr lang="en-US" altLang="zh-CN" sz="2400">
                <a:latin typeface="Times New Roman" panose="02020603050405020304" pitchFamily="18" charset="0"/>
              </a:endParaRPr>
            </a:p>
          </p:txBody>
        </p:sp>
        <p:sp>
          <p:nvSpPr>
            <p:cNvPr id="97297" name="Text Box 37">
              <a:extLst>
                <a:ext uri="{FF2B5EF4-FFF2-40B4-BE49-F238E27FC236}">
                  <a16:creationId xmlns:a16="http://schemas.microsoft.com/office/drawing/2014/main" id="{1CCBA585-13BF-4F70-9D20-4C4EE74323A2}"/>
                </a:ext>
              </a:extLst>
            </p:cNvPr>
            <p:cNvSpPr txBox="1">
              <a:spLocks noChangeArrowheads="1"/>
            </p:cNvSpPr>
            <p:nvPr/>
          </p:nvSpPr>
          <p:spPr bwMode="auto">
            <a:xfrm>
              <a:off x="3240" y="2880"/>
              <a:ext cx="650" cy="10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3600">
                  <a:latin typeface="Times New Roman" panose="02020603050405020304" pitchFamily="18" charset="0"/>
                </a:rPr>
                <a:t>5</a:t>
              </a:r>
              <a:endParaRPr lang="en-US" altLang="zh-CN" sz="2400">
                <a:latin typeface="Times New Roman" panose="02020603050405020304" pitchFamily="18" charset="0"/>
              </a:endParaRPr>
            </a:p>
          </p:txBody>
        </p:sp>
        <p:sp>
          <p:nvSpPr>
            <p:cNvPr id="97298" name="Text Box 38">
              <a:extLst>
                <a:ext uri="{FF2B5EF4-FFF2-40B4-BE49-F238E27FC236}">
                  <a16:creationId xmlns:a16="http://schemas.microsoft.com/office/drawing/2014/main" id="{4C73BB56-9800-4422-ADAE-F73E5C6D5647}"/>
                </a:ext>
              </a:extLst>
            </p:cNvPr>
            <p:cNvSpPr txBox="1">
              <a:spLocks noChangeArrowheads="1"/>
            </p:cNvSpPr>
            <p:nvPr/>
          </p:nvSpPr>
          <p:spPr bwMode="auto">
            <a:xfrm>
              <a:off x="4800" y="1800"/>
              <a:ext cx="650" cy="10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3600">
                  <a:latin typeface="Times New Roman" panose="02020603050405020304" pitchFamily="18" charset="0"/>
                </a:rPr>
                <a:t>4</a:t>
              </a:r>
              <a:endParaRPr lang="en-US" altLang="zh-CN" sz="2400">
                <a:latin typeface="Times New Roman" panose="02020603050405020304" pitchFamily="18" charset="0"/>
              </a:endParaRPr>
            </a:p>
          </p:txBody>
        </p:sp>
        <p:sp>
          <p:nvSpPr>
            <p:cNvPr id="97299" name="Line 39">
              <a:extLst>
                <a:ext uri="{FF2B5EF4-FFF2-40B4-BE49-F238E27FC236}">
                  <a16:creationId xmlns:a16="http://schemas.microsoft.com/office/drawing/2014/main" id="{C0269DD3-BC04-43DF-93E2-61C5A7515983}"/>
                </a:ext>
              </a:extLst>
            </p:cNvPr>
            <p:cNvSpPr>
              <a:spLocks noChangeShapeType="1"/>
            </p:cNvSpPr>
            <p:nvPr/>
          </p:nvSpPr>
          <p:spPr bwMode="auto">
            <a:xfrm>
              <a:off x="5520" y="480"/>
              <a:ext cx="1080" cy="600"/>
            </a:xfrm>
            <a:prstGeom prst="line">
              <a:avLst/>
            </a:prstGeom>
            <a:noFill/>
            <a:ln w="127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300" name="Line 40">
              <a:extLst>
                <a:ext uri="{FF2B5EF4-FFF2-40B4-BE49-F238E27FC236}">
                  <a16:creationId xmlns:a16="http://schemas.microsoft.com/office/drawing/2014/main" id="{00D70A8C-2620-483A-B4BB-64BFE9434322}"/>
                </a:ext>
              </a:extLst>
            </p:cNvPr>
            <p:cNvSpPr>
              <a:spLocks noChangeShapeType="1"/>
            </p:cNvSpPr>
            <p:nvPr/>
          </p:nvSpPr>
          <p:spPr bwMode="auto">
            <a:xfrm flipH="1">
              <a:off x="3960" y="480"/>
              <a:ext cx="840" cy="600"/>
            </a:xfrm>
            <a:prstGeom prst="line">
              <a:avLst/>
            </a:prstGeom>
            <a:noFill/>
            <a:ln w="127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301" name="Line 41">
              <a:extLst>
                <a:ext uri="{FF2B5EF4-FFF2-40B4-BE49-F238E27FC236}">
                  <a16:creationId xmlns:a16="http://schemas.microsoft.com/office/drawing/2014/main" id="{FE61D432-E1A3-4FD3-9BE5-3A667F05F8D3}"/>
                </a:ext>
              </a:extLst>
            </p:cNvPr>
            <p:cNvSpPr>
              <a:spLocks noChangeShapeType="1"/>
            </p:cNvSpPr>
            <p:nvPr/>
          </p:nvSpPr>
          <p:spPr bwMode="auto">
            <a:xfrm>
              <a:off x="4080" y="1440"/>
              <a:ext cx="840" cy="600"/>
            </a:xfrm>
            <a:prstGeom prst="line">
              <a:avLst/>
            </a:prstGeom>
            <a:noFill/>
            <a:ln w="127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302" name="Line 42">
              <a:extLst>
                <a:ext uri="{FF2B5EF4-FFF2-40B4-BE49-F238E27FC236}">
                  <a16:creationId xmlns:a16="http://schemas.microsoft.com/office/drawing/2014/main" id="{627837BE-4C4B-4DAD-8EC3-BA8C74129659}"/>
                </a:ext>
              </a:extLst>
            </p:cNvPr>
            <p:cNvSpPr>
              <a:spLocks noChangeShapeType="1"/>
            </p:cNvSpPr>
            <p:nvPr/>
          </p:nvSpPr>
          <p:spPr bwMode="auto">
            <a:xfrm flipH="1">
              <a:off x="2640" y="1440"/>
              <a:ext cx="720" cy="600"/>
            </a:xfrm>
            <a:prstGeom prst="line">
              <a:avLst/>
            </a:prstGeom>
            <a:noFill/>
            <a:ln w="127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303" name="Line 43">
              <a:extLst>
                <a:ext uri="{FF2B5EF4-FFF2-40B4-BE49-F238E27FC236}">
                  <a16:creationId xmlns:a16="http://schemas.microsoft.com/office/drawing/2014/main" id="{E8B754C9-2BBB-4C69-94A7-063E90278742}"/>
                </a:ext>
              </a:extLst>
            </p:cNvPr>
            <p:cNvSpPr>
              <a:spLocks noChangeShapeType="1"/>
            </p:cNvSpPr>
            <p:nvPr/>
          </p:nvSpPr>
          <p:spPr bwMode="auto">
            <a:xfrm flipH="1">
              <a:off x="360" y="3600"/>
              <a:ext cx="600" cy="600"/>
            </a:xfrm>
            <a:prstGeom prst="line">
              <a:avLst/>
            </a:prstGeom>
            <a:noFill/>
            <a:ln w="127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304" name="Line 44">
              <a:extLst>
                <a:ext uri="{FF2B5EF4-FFF2-40B4-BE49-F238E27FC236}">
                  <a16:creationId xmlns:a16="http://schemas.microsoft.com/office/drawing/2014/main" id="{1E60CD6D-7945-4F4A-96E3-BE52B373A4BD}"/>
                </a:ext>
              </a:extLst>
            </p:cNvPr>
            <p:cNvSpPr>
              <a:spLocks noChangeShapeType="1"/>
            </p:cNvSpPr>
            <p:nvPr/>
          </p:nvSpPr>
          <p:spPr bwMode="auto">
            <a:xfrm>
              <a:off x="1560" y="3600"/>
              <a:ext cx="720" cy="600"/>
            </a:xfrm>
            <a:prstGeom prst="line">
              <a:avLst/>
            </a:prstGeom>
            <a:noFill/>
            <a:ln w="127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305" name="Line 45">
              <a:extLst>
                <a:ext uri="{FF2B5EF4-FFF2-40B4-BE49-F238E27FC236}">
                  <a16:creationId xmlns:a16="http://schemas.microsoft.com/office/drawing/2014/main" id="{E0372EFF-9AC1-4392-B967-9A2F25429352}"/>
                </a:ext>
              </a:extLst>
            </p:cNvPr>
            <p:cNvSpPr>
              <a:spLocks noChangeShapeType="1"/>
            </p:cNvSpPr>
            <p:nvPr/>
          </p:nvSpPr>
          <p:spPr bwMode="auto">
            <a:xfrm>
              <a:off x="2760" y="2520"/>
              <a:ext cx="600" cy="480"/>
            </a:xfrm>
            <a:prstGeom prst="line">
              <a:avLst/>
            </a:prstGeom>
            <a:noFill/>
            <a:ln w="127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306" name="Line 46">
              <a:extLst>
                <a:ext uri="{FF2B5EF4-FFF2-40B4-BE49-F238E27FC236}">
                  <a16:creationId xmlns:a16="http://schemas.microsoft.com/office/drawing/2014/main" id="{66B4CFB8-589D-4D57-8411-69A1BC4AB680}"/>
                </a:ext>
              </a:extLst>
            </p:cNvPr>
            <p:cNvSpPr>
              <a:spLocks noChangeShapeType="1"/>
            </p:cNvSpPr>
            <p:nvPr/>
          </p:nvSpPr>
          <p:spPr bwMode="auto">
            <a:xfrm flipH="1">
              <a:off x="1560" y="2520"/>
              <a:ext cx="600" cy="600"/>
            </a:xfrm>
            <a:prstGeom prst="line">
              <a:avLst/>
            </a:prstGeom>
            <a:noFill/>
            <a:ln w="127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6847" name="AutoShape 47">
            <a:hlinkClick r:id="" action="ppaction://hlinkshowjump?jump=lastslideviewed" highlightClick="1"/>
            <a:extLst>
              <a:ext uri="{FF2B5EF4-FFF2-40B4-BE49-F238E27FC236}">
                <a16:creationId xmlns:a16="http://schemas.microsoft.com/office/drawing/2014/main" id="{1DD35D5B-4BEE-4363-9953-5D3A533257BD}"/>
              </a:ext>
            </a:extLst>
          </p:cNvPr>
          <p:cNvSpPr>
            <a:spLocks noChangeArrowheads="1"/>
          </p:cNvSpPr>
          <p:nvPr/>
        </p:nvSpPr>
        <p:spPr bwMode="auto">
          <a:xfrm>
            <a:off x="8382000" y="6172200"/>
            <a:ext cx="381000" cy="381000"/>
          </a:xfrm>
          <a:prstGeom prst="actionButtonReturn">
            <a:avLst/>
          </a:prstGeom>
          <a:solidFill>
            <a:srgbClr val="CAF2CE"/>
          </a:solidFill>
          <a:ln w="12700"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3" name="Text Box 4">
            <a:extLst>
              <a:ext uri="{FF2B5EF4-FFF2-40B4-BE49-F238E27FC236}">
                <a16:creationId xmlns:a16="http://schemas.microsoft.com/office/drawing/2014/main" id="{5586FFCA-CE9F-4407-6D13-35DB561BE011}"/>
              </a:ext>
            </a:extLst>
          </p:cNvPr>
          <p:cNvSpPr txBox="1">
            <a:spLocks noChangeArrowheads="1"/>
          </p:cNvSpPr>
          <p:nvPr/>
        </p:nvSpPr>
        <p:spPr bwMode="auto">
          <a:xfrm>
            <a:off x="439150" y="326871"/>
            <a:ext cx="8458200" cy="70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342900" indent="-342900" algn="ctr" eaLnBrk="1" hangingPunct="1">
              <a:lnSpc>
                <a:spcPct val="90000"/>
              </a:lnSpc>
              <a:buNone/>
            </a:pPr>
            <a:r>
              <a:rPr lang="zh-CN" altLang="en-US" sz="4400" i="0" dirty="0">
                <a:solidFill>
                  <a:schemeClr val="tx2"/>
                </a:solidFill>
                <a:ea typeface="隶书" pitchFamily="49" charset="-122"/>
              </a:rPr>
              <a:t>带权路径长度举例</a:t>
            </a:r>
          </a:p>
        </p:txBody>
      </p:sp>
    </p:spTree>
  </p:cSld>
  <p:clrMapOvr>
    <a:masterClrMapping/>
  </p:clrMapOvr>
  <p:transition spd="med">
    <p:pull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 fill="hold" grpId="0" nodeType="clickEffect">
                                  <p:stCondLst>
                                    <p:cond delay="0"/>
                                  </p:stCondLst>
                                  <p:childTnLst>
                                    <p:set>
                                      <p:cBhvr>
                                        <p:cTn id="6" dur="1" fill="hold">
                                          <p:stCondLst>
                                            <p:cond delay="0"/>
                                          </p:stCondLst>
                                        </p:cTn>
                                        <p:tgtEl>
                                          <p:spTgt spid="76824"/>
                                        </p:tgtEl>
                                        <p:attrNameLst>
                                          <p:attrName>style.visibility</p:attrName>
                                        </p:attrNameLst>
                                      </p:cBhvr>
                                      <p:to>
                                        <p:strVal val="visible"/>
                                      </p:to>
                                    </p:set>
                                    <p:anim calcmode="lin" valueType="num">
                                      <p:cBhvr>
                                        <p:cTn id="7" dur="500" fill="hold"/>
                                        <p:tgtEl>
                                          <p:spTgt spid="76824"/>
                                        </p:tgtEl>
                                        <p:attrNameLst>
                                          <p:attrName>ppt_x</p:attrName>
                                        </p:attrNameLst>
                                      </p:cBhvr>
                                      <p:tavLst>
                                        <p:tav tm="0">
                                          <p:val>
                                            <p:strVal val="#ppt_x"/>
                                          </p:val>
                                        </p:tav>
                                        <p:tav tm="100000">
                                          <p:val>
                                            <p:strVal val="#ppt_x"/>
                                          </p:val>
                                        </p:tav>
                                      </p:tavLst>
                                    </p:anim>
                                    <p:anim calcmode="lin" valueType="num">
                                      <p:cBhvr>
                                        <p:cTn id="8" dur="500" fill="hold"/>
                                        <p:tgtEl>
                                          <p:spTgt spid="76824"/>
                                        </p:tgtEl>
                                        <p:attrNameLst>
                                          <p:attrName>ppt_y</p:attrName>
                                        </p:attrNameLst>
                                      </p:cBhvr>
                                      <p:tavLst>
                                        <p:tav tm="0">
                                          <p:val>
                                            <p:strVal val="#ppt_y-#ppt_h/2"/>
                                          </p:val>
                                        </p:tav>
                                        <p:tav tm="100000">
                                          <p:val>
                                            <p:strVal val="#ppt_y"/>
                                          </p:val>
                                        </p:tav>
                                      </p:tavLst>
                                    </p:anim>
                                    <p:anim calcmode="lin" valueType="num">
                                      <p:cBhvr>
                                        <p:cTn id="9" dur="500" fill="hold"/>
                                        <p:tgtEl>
                                          <p:spTgt spid="76824"/>
                                        </p:tgtEl>
                                        <p:attrNameLst>
                                          <p:attrName>ppt_w</p:attrName>
                                        </p:attrNameLst>
                                      </p:cBhvr>
                                      <p:tavLst>
                                        <p:tav tm="0">
                                          <p:val>
                                            <p:strVal val="#ppt_w"/>
                                          </p:val>
                                        </p:tav>
                                        <p:tav tm="100000">
                                          <p:val>
                                            <p:strVal val="#ppt_w"/>
                                          </p:val>
                                        </p:tav>
                                      </p:tavLst>
                                    </p:anim>
                                    <p:anim calcmode="lin" valueType="num">
                                      <p:cBhvr>
                                        <p:cTn id="10" dur="500" fill="hold"/>
                                        <p:tgtEl>
                                          <p:spTgt spid="76824"/>
                                        </p:tgtEl>
                                        <p:attrNameLst>
                                          <p:attrName>ppt_h</p:attrName>
                                        </p:attrNameLst>
                                      </p:cBhvr>
                                      <p:tavLst>
                                        <p:tav tm="0">
                                          <p:val>
                                            <p:fltVal val="0"/>
                                          </p:val>
                                        </p:tav>
                                        <p:tav tm="100000">
                                          <p:val>
                                            <p:strVal val="#ppt_h"/>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17" presetClass="entr" presetSubtype="1" fill="hold" grpId="0" nodeType="clickEffect">
                                  <p:stCondLst>
                                    <p:cond delay="0"/>
                                  </p:stCondLst>
                                  <p:childTnLst>
                                    <p:set>
                                      <p:cBhvr>
                                        <p:cTn id="14" dur="1" fill="hold">
                                          <p:stCondLst>
                                            <p:cond delay="0"/>
                                          </p:stCondLst>
                                        </p:cTn>
                                        <p:tgtEl>
                                          <p:spTgt spid="76825"/>
                                        </p:tgtEl>
                                        <p:attrNameLst>
                                          <p:attrName>style.visibility</p:attrName>
                                        </p:attrNameLst>
                                      </p:cBhvr>
                                      <p:to>
                                        <p:strVal val="visible"/>
                                      </p:to>
                                    </p:set>
                                    <p:anim calcmode="lin" valueType="num">
                                      <p:cBhvr>
                                        <p:cTn id="15" dur="500" fill="hold"/>
                                        <p:tgtEl>
                                          <p:spTgt spid="76825"/>
                                        </p:tgtEl>
                                        <p:attrNameLst>
                                          <p:attrName>ppt_x</p:attrName>
                                        </p:attrNameLst>
                                      </p:cBhvr>
                                      <p:tavLst>
                                        <p:tav tm="0">
                                          <p:val>
                                            <p:strVal val="#ppt_x"/>
                                          </p:val>
                                        </p:tav>
                                        <p:tav tm="100000">
                                          <p:val>
                                            <p:strVal val="#ppt_x"/>
                                          </p:val>
                                        </p:tav>
                                      </p:tavLst>
                                    </p:anim>
                                    <p:anim calcmode="lin" valueType="num">
                                      <p:cBhvr>
                                        <p:cTn id="16" dur="500" fill="hold"/>
                                        <p:tgtEl>
                                          <p:spTgt spid="76825"/>
                                        </p:tgtEl>
                                        <p:attrNameLst>
                                          <p:attrName>ppt_y</p:attrName>
                                        </p:attrNameLst>
                                      </p:cBhvr>
                                      <p:tavLst>
                                        <p:tav tm="0">
                                          <p:val>
                                            <p:strVal val="#ppt_y-#ppt_h/2"/>
                                          </p:val>
                                        </p:tav>
                                        <p:tav tm="100000">
                                          <p:val>
                                            <p:strVal val="#ppt_y"/>
                                          </p:val>
                                        </p:tav>
                                      </p:tavLst>
                                    </p:anim>
                                    <p:anim calcmode="lin" valueType="num">
                                      <p:cBhvr>
                                        <p:cTn id="17" dur="500" fill="hold"/>
                                        <p:tgtEl>
                                          <p:spTgt spid="76825"/>
                                        </p:tgtEl>
                                        <p:attrNameLst>
                                          <p:attrName>ppt_w</p:attrName>
                                        </p:attrNameLst>
                                      </p:cBhvr>
                                      <p:tavLst>
                                        <p:tav tm="0">
                                          <p:val>
                                            <p:strVal val="#ppt_w"/>
                                          </p:val>
                                        </p:tav>
                                        <p:tav tm="100000">
                                          <p:val>
                                            <p:strVal val="#ppt_w"/>
                                          </p:val>
                                        </p:tav>
                                      </p:tavLst>
                                    </p:anim>
                                    <p:anim calcmode="lin" valueType="num">
                                      <p:cBhvr>
                                        <p:cTn id="18" dur="500" fill="hold"/>
                                        <p:tgtEl>
                                          <p:spTgt spid="76825"/>
                                        </p:tgtEl>
                                        <p:attrNameLst>
                                          <p:attrName>ppt_h</p:attrName>
                                        </p:attrNameLst>
                                      </p:cBhvr>
                                      <p:tavLst>
                                        <p:tav tm="0">
                                          <p:val>
                                            <p:fltVal val="0"/>
                                          </p:val>
                                        </p:tav>
                                        <p:tav tm="100000">
                                          <p:val>
                                            <p:strVal val="#ppt_h"/>
                                          </p:val>
                                        </p:tav>
                                      </p:tavLst>
                                    </p:anim>
                                  </p:childTnLst>
                                </p:cTn>
                              </p:par>
                            </p:childTnLst>
                          </p:cTn>
                        </p:par>
                        <p:par>
                          <p:cTn id="19" fill="hold" nodeType="afterGroup">
                            <p:stCondLst>
                              <p:cond delay="500"/>
                            </p:stCondLst>
                            <p:childTnLst>
                              <p:par>
                                <p:cTn id="20" presetID="1" presetClass="entr" presetSubtype="0" fill="hold" grpId="0" nodeType="afterEffect">
                                  <p:stCondLst>
                                    <p:cond delay="0"/>
                                  </p:stCondLst>
                                  <p:childTnLst>
                                    <p:set>
                                      <p:cBhvr>
                                        <p:cTn id="21" dur="1" fill="hold">
                                          <p:stCondLst>
                                            <p:cond delay="499"/>
                                          </p:stCondLst>
                                        </p:cTn>
                                        <p:tgtEl>
                                          <p:spTgt spid="768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24" grpId="0" autoUpdateAnimBg="0"/>
      <p:bldP spid="76825" grpId="0" autoUpdateAnimBg="0"/>
      <p:bldP spid="76847"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5" name="Text Box 3">
            <a:extLst>
              <a:ext uri="{FF2B5EF4-FFF2-40B4-BE49-F238E27FC236}">
                <a16:creationId xmlns:a16="http://schemas.microsoft.com/office/drawing/2014/main" id="{7B1747C1-FE33-4784-B7B7-6F4F87E8C296}"/>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62A956A3-B060-4557-990B-2F6EC9119996}" type="slidenum">
              <a:rPr lang="zh-CN" altLang="en-US" sz="2400"/>
              <a:pPr algn="r" eaLnBrk="1" hangingPunct="1">
                <a:spcBef>
                  <a:spcPct val="50000"/>
                </a:spcBef>
                <a:buClrTx/>
                <a:buSzTx/>
                <a:buFont typeface="Arial" panose="020B0604020202020204" pitchFamily="34" charset="0"/>
                <a:buNone/>
              </a:pPr>
              <a:t>94</a:t>
            </a:fld>
            <a:endParaRPr lang="en-US" altLang="zh-CN" sz="2400"/>
          </a:p>
        </p:txBody>
      </p:sp>
      <p:sp>
        <p:nvSpPr>
          <p:cNvPr id="95237" name="Rectangle 5">
            <a:extLst>
              <a:ext uri="{FF2B5EF4-FFF2-40B4-BE49-F238E27FC236}">
                <a16:creationId xmlns:a16="http://schemas.microsoft.com/office/drawing/2014/main" id="{402C57BC-E5AE-43FB-91DB-1D694929E22B}"/>
              </a:ext>
            </a:extLst>
          </p:cNvPr>
          <p:cNvSpPr>
            <a:spLocks noGrp="1" noChangeArrowheads="1"/>
          </p:cNvSpPr>
          <p:nvPr>
            <p:ph type="body" idx="1"/>
          </p:nvPr>
        </p:nvSpPr>
        <p:spPr>
          <a:xfrm>
            <a:off x="611560" y="1277750"/>
            <a:ext cx="8763000" cy="2232619"/>
          </a:xfrm>
        </p:spPr>
        <p:txBody>
          <a:bodyPr/>
          <a:lstStyle/>
          <a:p>
            <a:pPr eaLnBrk="1" hangingPunct="1">
              <a:spcBef>
                <a:spcPct val="50000"/>
              </a:spcBef>
            </a:pPr>
            <a:r>
              <a:rPr lang="zh-CN" altLang="en-US" dirty="0">
                <a:latin typeface="黑体" panose="02010609060101010101" pitchFamily="49" charset="-122"/>
                <a:ea typeface="黑体" panose="02010609060101010101" pitchFamily="49" charset="-122"/>
              </a:rPr>
              <a:t>最优二叉树：假设二叉树有</a:t>
            </a:r>
            <a:r>
              <a:rPr lang="en-US" altLang="zh-CN" dirty="0">
                <a:latin typeface="黑体" panose="02010609060101010101" pitchFamily="49" charset="-122"/>
                <a:ea typeface="黑体" panose="02010609060101010101" pitchFamily="49" charset="-122"/>
              </a:rPr>
              <a:t>n</a:t>
            </a:r>
            <a:r>
              <a:rPr lang="zh-CN" altLang="en-US" dirty="0">
                <a:latin typeface="黑体" panose="02010609060101010101" pitchFamily="49" charset="-122"/>
                <a:ea typeface="黑体" panose="02010609060101010101" pitchFamily="49" charset="-122"/>
              </a:rPr>
              <a:t>个叶子，其每个叶子结点带权</a:t>
            </a:r>
            <a:r>
              <a:rPr lang="en-US" altLang="zh-CN" dirty="0" err="1">
                <a:latin typeface="黑体" panose="02010609060101010101" pitchFamily="49" charset="-122"/>
                <a:ea typeface="黑体" panose="02010609060101010101" pitchFamily="49" charset="-122"/>
              </a:rPr>
              <a:t>w</a:t>
            </a:r>
            <a:r>
              <a:rPr lang="en-US" altLang="zh-CN" baseline="-25000" dirty="0" err="1">
                <a:latin typeface="黑体" panose="02010609060101010101" pitchFamily="49" charset="-122"/>
                <a:ea typeface="黑体" panose="02010609060101010101" pitchFamily="49" charset="-122"/>
              </a:rPr>
              <a:t>i</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则带权路径长度</a:t>
            </a:r>
            <a:r>
              <a:rPr lang="en-US" altLang="zh-CN" dirty="0">
                <a:latin typeface="黑体" panose="02010609060101010101" pitchFamily="49" charset="-122"/>
                <a:ea typeface="黑体" panose="02010609060101010101" pitchFamily="49" charset="-122"/>
              </a:rPr>
              <a:t>WPL</a:t>
            </a:r>
            <a:r>
              <a:rPr lang="zh-CN" altLang="en-US" dirty="0">
                <a:latin typeface="黑体" panose="02010609060101010101" pitchFamily="49" charset="-122"/>
                <a:ea typeface="黑体" panose="02010609060101010101" pitchFamily="49" charset="-122"/>
              </a:rPr>
              <a:t>最小的二叉树称为最优二叉树或赫夫曼(</a:t>
            </a:r>
            <a:r>
              <a:rPr lang="en-US" altLang="zh-CN" dirty="0">
                <a:latin typeface="黑体" panose="02010609060101010101" pitchFamily="49" charset="-122"/>
                <a:ea typeface="黑体" panose="02010609060101010101" pitchFamily="49" charset="-122"/>
              </a:rPr>
              <a:t>Huffman)</a:t>
            </a:r>
            <a:r>
              <a:rPr lang="zh-CN" altLang="en-US" dirty="0">
                <a:latin typeface="黑体" panose="02010609060101010101" pitchFamily="49" charset="-122"/>
                <a:ea typeface="黑体" panose="02010609060101010101" pitchFamily="49" charset="-122"/>
              </a:rPr>
              <a:t>树。</a:t>
            </a:r>
          </a:p>
          <a:p>
            <a:pPr eaLnBrk="1" hangingPunct="1">
              <a:spcBef>
                <a:spcPct val="50000"/>
              </a:spcBef>
            </a:pPr>
            <a:r>
              <a:rPr lang="en-US" altLang="zh-CN" dirty="0">
                <a:latin typeface="黑体" panose="02010609060101010101" pitchFamily="49" charset="-122"/>
                <a:ea typeface="黑体" panose="02010609060101010101" pitchFamily="49" charset="-122"/>
              </a:rPr>
              <a:t>WPL = 1*5+2*3+2*4=19</a:t>
            </a:r>
          </a:p>
        </p:txBody>
      </p:sp>
      <p:grpSp>
        <p:nvGrpSpPr>
          <p:cNvPr id="95239" name="Group 7">
            <a:extLst>
              <a:ext uri="{FF2B5EF4-FFF2-40B4-BE49-F238E27FC236}">
                <a16:creationId xmlns:a16="http://schemas.microsoft.com/office/drawing/2014/main" id="{94AAA226-D086-4FCC-B1BE-D00509F8840F}"/>
              </a:ext>
            </a:extLst>
          </p:cNvPr>
          <p:cNvGrpSpPr>
            <a:grpSpLocks/>
          </p:cNvGrpSpPr>
          <p:nvPr/>
        </p:nvGrpSpPr>
        <p:grpSpPr bwMode="auto">
          <a:xfrm>
            <a:off x="5652120" y="3933056"/>
            <a:ext cx="2552700" cy="1731963"/>
            <a:chOff x="0" y="0"/>
            <a:chExt cx="1608" cy="1091"/>
          </a:xfrm>
        </p:grpSpPr>
        <p:sp>
          <p:nvSpPr>
            <p:cNvPr id="95240" name="Line 8">
              <a:extLst>
                <a:ext uri="{FF2B5EF4-FFF2-40B4-BE49-F238E27FC236}">
                  <a16:creationId xmlns:a16="http://schemas.microsoft.com/office/drawing/2014/main" id="{78B86EED-1A20-43E3-99CA-06F625FD3563}"/>
                </a:ext>
              </a:extLst>
            </p:cNvPr>
            <p:cNvSpPr>
              <a:spLocks noChangeShapeType="1"/>
            </p:cNvSpPr>
            <p:nvPr/>
          </p:nvSpPr>
          <p:spPr bwMode="auto">
            <a:xfrm>
              <a:off x="744" y="161"/>
              <a:ext cx="360" cy="27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95241" name="Line 9">
              <a:extLst>
                <a:ext uri="{FF2B5EF4-FFF2-40B4-BE49-F238E27FC236}">
                  <a16:creationId xmlns:a16="http://schemas.microsoft.com/office/drawing/2014/main" id="{0D1241E4-0E15-443A-B86B-D8AC0020A436}"/>
                </a:ext>
              </a:extLst>
            </p:cNvPr>
            <p:cNvSpPr>
              <a:spLocks noChangeShapeType="1"/>
            </p:cNvSpPr>
            <p:nvPr/>
          </p:nvSpPr>
          <p:spPr bwMode="auto">
            <a:xfrm flipH="1">
              <a:off x="240" y="161"/>
              <a:ext cx="360" cy="315"/>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95242" name="Oval 10">
              <a:extLst>
                <a:ext uri="{FF2B5EF4-FFF2-40B4-BE49-F238E27FC236}">
                  <a16:creationId xmlns:a16="http://schemas.microsoft.com/office/drawing/2014/main" id="{B85F39C6-5685-4DC9-9077-A0A29FD34CB1}"/>
                </a:ext>
              </a:extLst>
            </p:cNvPr>
            <p:cNvSpPr>
              <a:spLocks noChangeArrowheads="1"/>
            </p:cNvSpPr>
            <p:nvPr/>
          </p:nvSpPr>
          <p:spPr bwMode="auto">
            <a:xfrm>
              <a:off x="528" y="0"/>
              <a:ext cx="288" cy="271"/>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A</a:t>
              </a:r>
            </a:p>
          </p:txBody>
        </p:sp>
        <p:sp>
          <p:nvSpPr>
            <p:cNvPr id="95243" name="Line 11">
              <a:extLst>
                <a:ext uri="{FF2B5EF4-FFF2-40B4-BE49-F238E27FC236}">
                  <a16:creationId xmlns:a16="http://schemas.microsoft.com/office/drawing/2014/main" id="{03CB6DBE-3DC8-4008-BD78-956D85FA8C41}"/>
                </a:ext>
              </a:extLst>
            </p:cNvPr>
            <p:cNvSpPr>
              <a:spLocks noChangeShapeType="1"/>
            </p:cNvSpPr>
            <p:nvPr/>
          </p:nvSpPr>
          <p:spPr bwMode="auto">
            <a:xfrm flipH="1">
              <a:off x="912" y="556"/>
              <a:ext cx="264" cy="29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95244" name="Oval 12">
              <a:extLst>
                <a:ext uri="{FF2B5EF4-FFF2-40B4-BE49-F238E27FC236}">
                  <a16:creationId xmlns:a16="http://schemas.microsoft.com/office/drawing/2014/main" id="{11F85C78-9BF1-485F-9CFB-C7FAB96DE1BE}"/>
                </a:ext>
              </a:extLst>
            </p:cNvPr>
            <p:cNvSpPr>
              <a:spLocks noChangeArrowheads="1"/>
            </p:cNvSpPr>
            <p:nvPr/>
          </p:nvSpPr>
          <p:spPr bwMode="auto">
            <a:xfrm>
              <a:off x="672" y="801"/>
              <a:ext cx="288" cy="271"/>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D</a:t>
              </a:r>
            </a:p>
          </p:txBody>
        </p:sp>
        <p:sp>
          <p:nvSpPr>
            <p:cNvPr id="95245" name="Line 13">
              <a:extLst>
                <a:ext uri="{FF2B5EF4-FFF2-40B4-BE49-F238E27FC236}">
                  <a16:creationId xmlns:a16="http://schemas.microsoft.com/office/drawing/2014/main" id="{FB20FA4A-BC16-444F-A569-4A03CE2A43E7}"/>
                </a:ext>
              </a:extLst>
            </p:cNvPr>
            <p:cNvSpPr>
              <a:spLocks noChangeShapeType="1"/>
            </p:cNvSpPr>
            <p:nvPr/>
          </p:nvSpPr>
          <p:spPr bwMode="auto">
            <a:xfrm>
              <a:off x="1200" y="576"/>
              <a:ext cx="216" cy="27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95246" name="Oval 14">
              <a:extLst>
                <a:ext uri="{FF2B5EF4-FFF2-40B4-BE49-F238E27FC236}">
                  <a16:creationId xmlns:a16="http://schemas.microsoft.com/office/drawing/2014/main" id="{0AABD4E3-FB22-4EEE-98AE-653AE24840EE}"/>
                </a:ext>
              </a:extLst>
            </p:cNvPr>
            <p:cNvSpPr>
              <a:spLocks noChangeArrowheads="1"/>
            </p:cNvSpPr>
            <p:nvPr/>
          </p:nvSpPr>
          <p:spPr bwMode="auto">
            <a:xfrm>
              <a:off x="0" y="386"/>
              <a:ext cx="288" cy="271"/>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B</a:t>
              </a:r>
            </a:p>
          </p:txBody>
        </p:sp>
        <p:sp>
          <p:nvSpPr>
            <p:cNvPr id="95247" name="Oval 15">
              <a:extLst>
                <a:ext uri="{FF2B5EF4-FFF2-40B4-BE49-F238E27FC236}">
                  <a16:creationId xmlns:a16="http://schemas.microsoft.com/office/drawing/2014/main" id="{977A44BA-B208-495F-B5AA-A7A9718A4C5E}"/>
                </a:ext>
              </a:extLst>
            </p:cNvPr>
            <p:cNvSpPr>
              <a:spLocks noChangeArrowheads="1"/>
            </p:cNvSpPr>
            <p:nvPr/>
          </p:nvSpPr>
          <p:spPr bwMode="auto">
            <a:xfrm>
              <a:off x="1056" y="386"/>
              <a:ext cx="288" cy="271"/>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C</a:t>
              </a:r>
            </a:p>
          </p:txBody>
        </p:sp>
        <p:sp>
          <p:nvSpPr>
            <p:cNvPr id="95248" name="Oval 16">
              <a:extLst>
                <a:ext uri="{FF2B5EF4-FFF2-40B4-BE49-F238E27FC236}">
                  <a16:creationId xmlns:a16="http://schemas.microsoft.com/office/drawing/2014/main" id="{88064C13-7B19-4156-8AB0-492968F9840F}"/>
                </a:ext>
              </a:extLst>
            </p:cNvPr>
            <p:cNvSpPr>
              <a:spLocks noChangeArrowheads="1"/>
            </p:cNvSpPr>
            <p:nvPr/>
          </p:nvSpPr>
          <p:spPr bwMode="auto">
            <a:xfrm>
              <a:off x="1320" y="821"/>
              <a:ext cx="288" cy="270"/>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E</a:t>
              </a:r>
            </a:p>
          </p:txBody>
        </p:sp>
        <p:sp>
          <p:nvSpPr>
            <p:cNvPr id="95249" name="Text Box 17">
              <a:extLst>
                <a:ext uri="{FF2B5EF4-FFF2-40B4-BE49-F238E27FC236}">
                  <a16:creationId xmlns:a16="http://schemas.microsoft.com/office/drawing/2014/main" id="{E805A52D-65BF-4BEC-B9D0-F548C2A076D7}"/>
                </a:ext>
              </a:extLst>
            </p:cNvPr>
            <p:cNvSpPr txBox="1">
              <a:spLocks noChangeArrowheads="1"/>
            </p:cNvSpPr>
            <p:nvPr/>
          </p:nvSpPr>
          <p:spPr bwMode="auto">
            <a:xfrm>
              <a:off x="48" y="91"/>
              <a:ext cx="192"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2800" b="0" i="0" dirty="0">
                  <a:latin typeface="黑体" panose="02010609060101010101" pitchFamily="49" charset="-122"/>
                  <a:ea typeface="黑体" panose="02010609060101010101" pitchFamily="49" charset="-122"/>
                </a:rPr>
                <a:t>5</a:t>
              </a:r>
            </a:p>
          </p:txBody>
        </p:sp>
        <p:sp>
          <p:nvSpPr>
            <p:cNvPr id="95250" name="Text Box 18">
              <a:extLst>
                <a:ext uri="{FF2B5EF4-FFF2-40B4-BE49-F238E27FC236}">
                  <a16:creationId xmlns:a16="http://schemas.microsoft.com/office/drawing/2014/main" id="{EA5A66B0-2680-4C04-BB91-080F8A113EFA}"/>
                </a:ext>
              </a:extLst>
            </p:cNvPr>
            <p:cNvSpPr txBox="1">
              <a:spLocks noChangeArrowheads="1"/>
            </p:cNvSpPr>
            <p:nvPr/>
          </p:nvSpPr>
          <p:spPr bwMode="auto">
            <a:xfrm>
              <a:off x="1392" y="499"/>
              <a:ext cx="192"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2800" b="0" i="0" dirty="0">
                  <a:latin typeface="黑体" panose="02010609060101010101" pitchFamily="49" charset="-122"/>
                  <a:ea typeface="黑体" panose="02010609060101010101" pitchFamily="49" charset="-122"/>
                </a:rPr>
                <a:t>３</a:t>
              </a:r>
            </a:p>
          </p:txBody>
        </p:sp>
        <p:sp>
          <p:nvSpPr>
            <p:cNvPr id="95251" name="Text Box 19">
              <a:extLst>
                <a:ext uri="{FF2B5EF4-FFF2-40B4-BE49-F238E27FC236}">
                  <a16:creationId xmlns:a16="http://schemas.microsoft.com/office/drawing/2014/main" id="{ADB46F55-ABDE-4F09-A34D-F6AEDF3C220E}"/>
                </a:ext>
              </a:extLst>
            </p:cNvPr>
            <p:cNvSpPr txBox="1">
              <a:spLocks noChangeArrowheads="1"/>
            </p:cNvSpPr>
            <p:nvPr/>
          </p:nvSpPr>
          <p:spPr bwMode="auto">
            <a:xfrm>
              <a:off x="708" y="492"/>
              <a:ext cx="192"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2800" b="0" i="0" dirty="0">
                  <a:latin typeface="黑体" panose="02010609060101010101" pitchFamily="49" charset="-122"/>
                  <a:ea typeface="黑体" panose="02010609060101010101" pitchFamily="49" charset="-122"/>
                </a:rPr>
                <a:t>４</a:t>
              </a:r>
            </a:p>
          </p:txBody>
        </p:sp>
      </p:grpSp>
      <p:sp>
        <p:nvSpPr>
          <p:cNvPr id="2" name="Text Box 4">
            <a:extLst>
              <a:ext uri="{FF2B5EF4-FFF2-40B4-BE49-F238E27FC236}">
                <a16:creationId xmlns:a16="http://schemas.microsoft.com/office/drawing/2014/main" id="{F0D28451-DFD0-4DA7-AC93-0223314A1D1E}"/>
              </a:ext>
            </a:extLst>
          </p:cNvPr>
          <p:cNvSpPr txBox="1">
            <a:spLocks noChangeArrowheads="1"/>
          </p:cNvSpPr>
          <p:nvPr/>
        </p:nvSpPr>
        <p:spPr bwMode="auto">
          <a:xfrm>
            <a:off x="439150" y="326871"/>
            <a:ext cx="8458200" cy="70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342900" indent="-342900" algn="ctr" eaLnBrk="1" hangingPunct="1">
              <a:lnSpc>
                <a:spcPct val="90000"/>
              </a:lnSpc>
              <a:buNone/>
            </a:pPr>
            <a:r>
              <a:rPr lang="zh-CN" altLang="en-US" sz="4400" i="0" dirty="0">
                <a:solidFill>
                  <a:schemeClr val="tx2"/>
                </a:solidFill>
                <a:ea typeface="隶书" pitchFamily="49" charset="-122"/>
              </a:rPr>
              <a:t>一、最优二叉树</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523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523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61" name="Text Box 5">
            <a:extLst>
              <a:ext uri="{FF2B5EF4-FFF2-40B4-BE49-F238E27FC236}">
                <a16:creationId xmlns:a16="http://schemas.microsoft.com/office/drawing/2014/main" id="{F8CD876A-AB05-4E7A-B654-9334CEC71402}"/>
              </a:ext>
            </a:extLst>
          </p:cNvPr>
          <p:cNvSpPr txBox="1">
            <a:spLocks noChangeArrowheads="1"/>
          </p:cNvSpPr>
          <p:nvPr/>
        </p:nvSpPr>
        <p:spPr bwMode="auto">
          <a:xfrm>
            <a:off x="528392" y="1196752"/>
            <a:ext cx="8087216" cy="63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50000"/>
              </a:lnSpc>
              <a:spcBef>
                <a:spcPct val="0"/>
              </a:spcBef>
              <a:buClrTx/>
              <a:buSzTx/>
              <a:buFont typeface="Arial" panose="020B0604020202020204" pitchFamily="34" charset="0"/>
              <a:buNone/>
            </a:pPr>
            <a:r>
              <a:rPr lang="zh-CN" altLang="en-US" sz="2800" b="0" i="0" dirty="0">
                <a:latin typeface="+mn-ea"/>
                <a:ea typeface="+mn-ea"/>
              </a:rPr>
              <a:t>树的带权路径长度：求层次。</a:t>
            </a:r>
            <a:endParaRPr lang="en-US" altLang="zh-CN" sz="2800" b="0" i="0" dirty="0">
              <a:latin typeface="+mn-ea"/>
              <a:ea typeface="+mn-ea"/>
            </a:endParaRPr>
          </a:p>
        </p:txBody>
      </p:sp>
      <p:sp>
        <p:nvSpPr>
          <p:cNvPr id="2" name="Text Box 4">
            <a:extLst>
              <a:ext uri="{FF2B5EF4-FFF2-40B4-BE49-F238E27FC236}">
                <a16:creationId xmlns:a16="http://schemas.microsoft.com/office/drawing/2014/main" id="{95D9CC2E-86DE-4648-A584-CB2BB0F9E035}"/>
              </a:ext>
            </a:extLst>
          </p:cNvPr>
          <p:cNvSpPr txBox="1">
            <a:spLocks noChangeArrowheads="1"/>
          </p:cNvSpPr>
          <p:nvPr/>
        </p:nvSpPr>
        <p:spPr bwMode="auto">
          <a:xfrm>
            <a:off x="439150" y="326871"/>
            <a:ext cx="8458200" cy="70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342900" indent="-342900" algn="ctr" eaLnBrk="1" hangingPunct="1">
              <a:lnSpc>
                <a:spcPct val="90000"/>
              </a:lnSpc>
              <a:buNone/>
            </a:pPr>
            <a:r>
              <a:rPr lang="zh-CN" altLang="en-US" sz="4400" i="0" dirty="0">
                <a:solidFill>
                  <a:schemeClr val="tx2"/>
                </a:solidFill>
                <a:ea typeface="隶书" pitchFamily="49" charset="-122"/>
              </a:rPr>
              <a:t>树的带权路径长度实现</a:t>
            </a:r>
          </a:p>
        </p:txBody>
      </p:sp>
      <p:sp>
        <p:nvSpPr>
          <p:cNvPr id="4" name="文本框 3">
            <a:extLst>
              <a:ext uri="{FF2B5EF4-FFF2-40B4-BE49-F238E27FC236}">
                <a16:creationId xmlns:a16="http://schemas.microsoft.com/office/drawing/2014/main" id="{C104E042-C460-4E6B-3AF0-A7187AC7A2A2}"/>
              </a:ext>
            </a:extLst>
          </p:cNvPr>
          <p:cNvSpPr txBox="1"/>
          <p:nvPr/>
        </p:nvSpPr>
        <p:spPr>
          <a:xfrm>
            <a:off x="611560" y="1842067"/>
            <a:ext cx="8424936" cy="3108543"/>
          </a:xfrm>
          <a:prstGeom prst="rect">
            <a:avLst/>
          </a:prstGeom>
          <a:noFill/>
        </p:spPr>
        <p:txBody>
          <a:bodyPr wrap="square">
            <a:spAutoFit/>
          </a:bodyPr>
          <a:lstStyle/>
          <a:p>
            <a:r>
              <a:rPr lang="en-US" altLang="zh-CN" sz="2800" b="0" i="0" dirty="0">
                <a:solidFill>
                  <a:srgbClr val="0000FF"/>
                </a:solidFill>
                <a:effectLst/>
                <a:latin typeface="+mn-ea"/>
                <a:ea typeface="+mn-ea"/>
              </a:rPr>
              <a:t>void</a:t>
            </a:r>
            <a:r>
              <a:rPr lang="en-US" altLang="zh-CN" sz="2800" b="0" i="0" dirty="0">
                <a:solidFill>
                  <a:srgbClr val="000000"/>
                </a:solidFill>
                <a:effectLst/>
                <a:latin typeface="+mn-ea"/>
                <a:ea typeface="+mn-ea"/>
              </a:rPr>
              <a:t> </a:t>
            </a:r>
            <a:r>
              <a:rPr lang="en-US" altLang="zh-CN" sz="2800" b="0" i="0" dirty="0">
                <a:solidFill>
                  <a:srgbClr val="795E26"/>
                </a:solidFill>
                <a:effectLst/>
                <a:latin typeface="+mn-ea"/>
                <a:ea typeface="+mn-ea"/>
              </a:rPr>
              <a:t>preorder</a:t>
            </a:r>
            <a:r>
              <a:rPr lang="en-US" altLang="zh-CN" sz="2800" b="0" i="0" dirty="0">
                <a:solidFill>
                  <a:srgbClr val="000000"/>
                </a:solidFill>
                <a:effectLst/>
                <a:latin typeface="+mn-ea"/>
                <a:ea typeface="+mn-ea"/>
              </a:rPr>
              <a:t>(</a:t>
            </a:r>
            <a:r>
              <a:rPr lang="en-US" altLang="zh-CN" sz="2800" b="0" i="0" dirty="0" err="1">
                <a:solidFill>
                  <a:srgbClr val="267F99"/>
                </a:solidFill>
                <a:effectLst/>
                <a:latin typeface="+mn-ea"/>
                <a:ea typeface="+mn-ea"/>
              </a:rPr>
              <a:t>BiTNode</a:t>
            </a:r>
            <a:r>
              <a:rPr lang="en-US" altLang="zh-CN" sz="2800" b="0" i="0" dirty="0">
                <a:solidFill>
                  <a:srgbClr val="000000"/>
                </a:solidFill>
                <a:effectLst/>
                <a:latin typeface="+mn-ea"/>
                <a:ea typeface="+mn-ea"/>
              </a:rPr>
              <a:t> </a:t>
            </a:r>
            <a:r>
              <a:rPr lang="en-US" altLang="zh-CN" sz="2800" b="0" i="0" dirty="0">
                <a:solidFill>
                  <a:srgbClr val="0000FF"/>
                </a:solidFill>
                <a:effectLst/>
                <a:latin typeface="+mn-ea"/>
                <a:ea typeface="+mn-ea"/>
              </a:rPr>
              <a:t>*</a:t>
            </a:r>
            <a:r>
              <a:rPr lang="en-US" altLang="zh-CN" sz="2800" b="0" i="0" dirty="0">
                <a:solidFill>
                  <a:srgbClr val="001080"/>
                </a:solidFill>
                <a:effectLst/>
                <a:latin typeface="+mn-ea"/>
                <a:ea typeface="+mn-ea"/>
              </a:rPr>
              <a:t>t</a:t>
            </a:r>
            <a:r>
              <a:rPr lang="en-US" altLang="zh-CN" sz="2800" b="0" i="0" dirty="0">
                <a:solidFill>
                  <a:srgbClr val="000000"/>
                </a:solidFill>
                <a:effectLst/>
                <a:latin typeface="+mn-ea"/>
                <a:ea typeface="+mn-ea"/>
              </a:rPr>
              <a:t>, </a:t>
            </a:r>
            <a:r>
              <a:rPr lang="en-US" altLang="zh-CN" sz="2800" b="0" i="0" dirty="0">
                <a:solidFill>
                  <a:srgbClr val="0000FF"/>
                </a:solidFill>
                <a:effectLst/>
                <a:latin typeface="+mn-ea"/>
                <a:ea typeface="+mn-ea"/>
              </a:rPr>
              <a:t>int</a:t>
            </a:r>
            <a:r>
              <a:rPr lang="en-US" altLang="zh-CN" sz="2800" b="0" i="0" dirty="0">
                <a:solidFill>
                  <a:srgbClr val="000000"/>
                </a:solidFill>
                <a:effectLst/>
                <a:latin typeface="+mn-ea"/>
                <a:ea typeface="+mn-ea"/>
              </a:rPr>
              <a:t> </a:t>
            </a:r>
            <a:r>
              <a:rPr lang="en-US" altLang="zh-CN" sz="2800" b="0" i="0" dirty="0">
                <a:solidFill>
                  <a:srgbClr val="001080"/>
                </a:solidFill>
                <a:effectLst/>
                <a:latin typeface="+mn-ea"/>
                <a:ea typeface="+mn-ea"/>
              </a:rPr>
              <a:t>level</a:t>
            </a:r>
            <a:r>
              <a:rPr lang="en-US" altLang="zh-CN" sz="2800" b="0" i="0" dirty="0">
                <a:solidFill>
                  <a:srgbClr val="000000"/>
                </a:solidFill>
                <a:effectLst/>
                <a:latin typeface="+mn-ea"/>
                <a:ea typeface="+mn-ea"/>
              </a:rPr>
              <a:t>)</a:t>
            </a:r>
          </a:p>
          <a:p>
            <a:r>
              <a:rPr lang="en-US" altLang="zh-CN" sz="2800" b="0" i="0" dirty="0">
                <a:solidFill>
                  <a:srgbClr val="000000"/>
                </a:solidFill>
                <a:effectLst/>
                <a:latin typeface="+mn-ea"/>
                <a:ea typeface="+mn-ea"/>
              </a:rPr>
              <a:t>{</a:t>
            </a:r>
          </a:p>
          <a:p>
            <a:r>
              <a:rPr lang="en-US" altLang="zh-CN" sz="2800" b="0" i="0" dirty="0">
                <a:solidFill>
                  <a:srgbClr val="000000"/>
                </a:solidFill>
                <a:effectLst/>
                <a:latin typeface="+mn-ea"/>
                <a:ea typeface="+mn-ea"/>
              </a:rPr>
              <a:t>    </a:t>
            </a:r>
            <a:r>
              <a:rPr lang="en-US" altLang="zh-CN" sz="2800" b="0" i="0" dirty="0">
                <a:solidFill>
                  <a:srgbClr val="AF00DB"/>
                </a:solidFill>
                <a:effectLst/>
                <a:latin typeface="+mn-ea"/>
                <a:ea typeface="+mn-ea"/>
              </a:rPr>
              <a:t>if</a:t>
            </a:r>
            <a:r>
              <a:rPr lang="en-US" altLang="zh-CN" sz="2800" b="0" i="0" dirty="0">
                <a:solidFill>
                  <a:srgbClr val="000000"/>
                </a:solidFill>
                <a:effectLst/>
                <a:latin typeface="+mn-ea"/>
                <a:ea typeface="+mn-ea"/>
              </a:rPr>
              <a:t>(!</a:t>
            </a:r>
            <a:r>
              <a:rPr lang="en-US" altLang="zh-CN" sz="2800" b="0" i="0" dirty="0">
                <a:solidFill>
                  <a:srgbClr val="001080"/>
                </a:solidFill>
                <a:effectLst/>
                <a:latin typeface="+mn-ea"/>
                <a:ea typeface="+mn-ea"/>
              </a:rPr>
              <a:t>t</a:t>
            </a:r>
            <a:r>
              <a:rPr lang="en-US" altLang="zh-CN" sz="2800" b="0" i="0" dirty="0">
                <a:solidFill>
                  <a:srgbClr val="000000"/>
                </a:solidFill>
                <a:effectLst/>
                <a:latin typeface="+mn-ea"/>
                <a:ea typeface="+mn-ea"/>
              </a:rPr>
              <a:t>) </a:t>
            </a:r>
            <a:r>
              <a:rPr lang="en-US" altLang="zh-CN" sz="2800" b="0" i="0" dirty="0">
                <a:solidFill>
                  <a:srgbClr val="AF00DB"/>
                </a:solidFill>
                <a:effectLst/>
                <a:latin typeface="+mn-ea"/>
                <a:ea typeface="+mn-ea"/>
              </a:rPr>
              <a:t>return</a:t>
            </a:r>
            <a:r>
              <a:rPr lang="en-US" altLang="zh-CN" sz="2800" b="0" i="0" dirty="0">
                <a:solidFill>
                  <a:srgbClr val="000000"/>
                </a:solidFill>
                <a:effectLst/>
                <a:latin typeface="+mn-ea"/>
                <a:ea typeface="+mn-ea"/>
              </a:rPr>
              <a:t>;</a:t>
            </a:r>
          </a:p>
          <a:p>
            <a:r>
              <a:rPr lang="en-US" altLang="zh-CN" sz="2800" b="0" i="0" dirty="0">
                <a:solidFill>
                  <a:srgbClr val="000000"/>
                </a:solidFill>
                <a:effectLst/>
                <a:latin typeface="+mn-ea"/>
                <a:ea typeface="+mn-ea"/>
              </a:rPr>
              <a:t>    </a:t>
            </a:r>
            <a:r>
              <a:rPr lang="en-US" altLang="zh-CN" sz="2800" b="0" i="0" dirty="0">
                <a:solidFill>
                  <a:srgbClr val="795E26"/>
                </a:solidFill>
                <a:effectLst/>
                <a:latin typeface="+mn-ea"/>
                <a:ea typeface="+mn-ea"/>
              </a:rPr>
              <a:t>preorder</a:t>
            </a:r>
            <a:r>
              <a:rPr lang="en-US" altLang="zh-CN" sz="2800" b="0" i="0" dirty="0">
                <a:solidFill>
                  <a:srgbClr val="000000"/>
                </a:solidFill>
                <a:effectLst/>
                <a:latin typeface="+mn-ea"/>
                <a:ea typeface="+mn-ea"/>
              </a:rPr>
              <a:t>(</a:t>
            </a:r>
            <a:r>
              <a:rPr lang="en-US" altLang="zh-CN" sz="2800" b="0" i="0" dirty="0">
                <a:solidFill>
                  <a:srgbClr val="001080"/>
                </a:solidFill>
                <a:effectLst/>
                <a:latin typeface="+mn-ea"/>
                <a:ea typeface="+mn-ea"/>
              </a:rPr>
              <a:t>t</a:t>
            </a:r>
            <a:r>
              <a:rPr lang="en-US" altLang="zh-CN" sz="2800" b="0" i="0" dirty="0">
                <a:solidFill>
                  <a:srgbClr val="000000"/>
                </a:solidFill>
                <a:effectLst/>
                <a:latin typeface="+mn-ea"/>
                <a:ea typeface="+mn-ea"/>
              </a:rPr>
              <a:t>-&gt;</a:t>
            </a:r>
            <a:r>
              <a:rPr lang="en-US" altLang="zh-CN" sz="2800" b="0" i="0" dirty="0" err="1">
                <a:solidFill>
                  <a:srgbClr val="001080"/>
                </a:solidFill>
                <a:effectLst/>
                <a:latin typeface="+mn-ea"/>
                <a:ea typeface="+mn-ea"/>
              </a:rPr>
              <a:t>lchild</a:t>
            </a:r>
            <a:r>
              <a:rPr lang="en-US" altLang="zh-CN" sz="2800" b="0" i="0" dirty="0">
                <a:solidFill>
                  <a:srgbClr val="000000"/>
                </a:solidFill>
                <a:effectLst/>
                <a:latin typeface="+mn-ea"/>
                <a:ea typeface="+mn-ea"/>
              </a:rPr>
              <a:t>, </a:t>
            </a:r>
            <a:r>
              <a:rPr lang="en-US" altLang="zh-CN" sz="2800" b="0" i="0" dirty="0">
                <a:solidFill>
                  <a:srgbClr val="001080"/>
                </a:solidFill>
                <a:effectLst/>
                <a:latin typeface="+mn-ea"/>
                <a:ea typeface="+mn-ea"/>
              </a:rPr>
              <a:t>level</a:t>
            </a:r>
            <a:r>
              <a:rPr lang="en-US" altLang="zh-CN" sz="2800" b="0" i="0" dirty="0">
                <a:solidFill>
                  <a:srgbClr val="000000"/>
                </a:solidFill>
                <a:effectLst/>
                <a:latin typeface="+mn-ea"/>
                <a:ea typeface="+mn-ea"/>
              </a:rPr>
              <a:t>+</a:t>
            </a:r>
            <a:r>
              <a:rPr lang="en-US" altLang="zh-CN" sz="2800" b="0" i="0" dirty="0">
                <a:solidFill>
                  <a:srgbClr val="098658"/>
                </a:solidFill>
                <a:effectLst/>
                <a:latin typeface="+mn-ea"/>
                <a:ea typeface="+mn-ea"/>
              </a:rPr>
              <a:t>1</a:t>
            </a:r>
            <a:r>
              <a:rPr lang="en-US" altLang="zh-CN" sz="2800" b="0" i="0" dirty="0">
                <a:solidFill>
                  <a:srgbClr val="000000"/>
                </a:solidFill>
                <a:effectLst/>
                <a:latin typeface="+mn-ea"/>
                <a:ea typeface="+mn-ea"/>
              </a:rPr>
              <a:t>);</a:t>
            </a:r>
            <a:r>
              <a:rPr lang="en-US" altLang="zh-CN" sz="2800" b="0" i="0" dirty="0">
                <a:solidFill>
                  <a:srgbClr val="008000"/>
                </a:solidFill>
                <a:effectLst/>
                <a:latin typeface="+mn-ea"/>
                <a:ea typeface="+mn-ea"/>
              </a:rPr>
              <a:t>//</a:t>
            </a:r>
            <a:r>
              <a:rPr lang="zh-CN" altLang="en-US" sz="2800" b="0" i="0" dirty="0">
                <a:solidFill>
                  <a:srgbClr val="008000"/>
                </a:solidFill>
                <a:effectLst/>
                <a:latin typeface="+mn-ea"/>
                <a:ea typeface="+mn-ea"/>
              </a:rPr>
              <a:t>左子树层次</a:t>
            </a:r>
            <a:r>
              <a:rPr lang="en-US" altLang="zh-CN" sz="2800" b="0" i="0" dirty="0">
                <a:solidFill>
                  <a:srgbClr val="008000"/>
                </a:solidFill>
                <a:effectLst/>
                <a:latin typeface="+mn-ea"/>
                <a:ea typeface="+mn-ea"/>
              </a:rPr>
              <a:t>+1</a:t>
            </a:r>
            <a:endParaRPr lang="zh-CN" altLang="en-US" sz="2800" b="0" i="0" dirty="0">
              <a:solidFill>
                <a:srgbClr val="000000"/>
              </a:solidFill>
              <a:effectLst/>
              <a:latin typeface="+mn-ea"/>
              <a:ea typeface="+mn-ea"/>
            </a:endParaRPr>
          </a:p>
          <a:p>
            <a:r>
              <a:rPr lang="zh-CN" altLang="en-US" sz="2800" b="0" i="0" dirty="0">
                <a:solidFill>
                  <a:srgbClr val="000000"/>
                </a:solidFill>
                <a:effectLst/>
                <a:latin typeface="+mn-ea"/>
                <a:ea typeface="+mn-ea"/>
              </a:rPr>
              <a:t>    </a:t>
            </a:r>
            <a:r>
              <a:rPr lang="en-US" altLang="zh-CN" sz="2800" b="0" i="0" dirty="0">
                <a:solidFill>
                  <a:srgbClr val="795E26"/>
                </a:solidFill>
                <a:effectLst/>
                <a:latin typeface="+mn-ea"/>
                <a:ea typeface="+mn-ea"/>
              </a:rPr>
              <a:t>preorder</a:t>
            </a:r>
            <a:r>
              <a:rPr lang="en-US" altLang="zh-CN" sz="2800" b="0" i="0" dirty="0">
                <a:solidFill>
                  <a:srgbClr val="000000"/>
                </a:solidFill>
                <a:effectLst/>
                <a:latin typeface="+mn-ea"/>
                <a:ea typeface="+mn-ea"/>
              </a:rPr>
              <a:t>(</a:t>
            </a:r>
            <a:r>
              <a:rPr lang="en-US" altLang="zh-CN" sz="2800" b="0" i="0" dirty="0">
                <a:solidFill>
                  <a:srgbClr val="001080"/>
                </a:solidFill>
                <a:effectLst/>
                <a:latin typeface="+mn-ea"/>
                <a:ea typeface="+mn-ea"/>
              </a:rPr>
              <a:t>t</a:t>
            </a:r>
            <a:r>
              <a:rPr lang="en-US" altLang="zh-CN" sz="2800" b="0" i="0" dirty="0">
                <a:solidFill>
                  <a:srgbClr val="000000"/>
                </a:solidFill>
                <a:effectLst/>
                <a:latin typeface="+mn-ea"/>
                <a:ea typeface="+mn-ea"/>
              </a:rPr>
              <a:t>-&gt;</a:t>
            </a:r>
            <a:r>
              <a:rPr lang="en-US" altLang="zh-CN" sz="2800" b="0" i="0" dirty="0" err="1">
                <a:solidFill>
                  <a:srgbClr val="001080"/>
                </a:solidFill>
                <a:effectLst/>
                <a:latin typeface="+mn-ea"/>
                <a:ea typeface="+mn-ea"/>
              </a:rPr>
              <a:t>rchild</a:t>
            </a:r>
            <a:r>
              <a:rPr lang="en-US" altLang="zh-CN" sz="2800" b="0" i="0" dirty="0">
                <a:solidFill>
                  <a:srgbClr val="000000"/>
                </a:solidFill>
                <a:effectLst/>
                <a:latin typeface="+mn-ea"/>
                <a:ea typeface="+mn-ea"/>
              </a:rPr>
              <a:t>, </a:t>
            </a:r>
            <a:r>
              <a:rPr lang="en-US" altLang="zh-CN" sz="2800" b="0" i="0" dirty="0">
                <a:solidFill>
                  <a:srgbClr val="001080"/>
                </a:solidFill>
                <a:effectLst/>
                <a:latin typeface="+mn-ea"/>
                <a:ea typeface="+mn-ea"/>
              </a:rPr>
              <a:t>level</a:t>
            </a:r>
            <a:r>
              <a:rPr lang="en-US" altLang="zh-CN" sz="2800" b="0" i="0" dirty="0">
                <a:solidFill>
                  <a:srgbClr val="000000"/>
                </a:solidFill>
                <a:effectLst/>
                <a:latin typeface="+mn-ea"/>
                <a:ea typeface="+mn-ea"/>
              </a:rPr>
              <a:t>+</a:t>
            </a:r>
            <a:r>
              <a:rPr lang="en-US" altLang="zh-CN" sz="2800" b="0" i="0" dirty="0">
                <a:solidFill>
                  <a:srgbClr val="098658"/>
                </a:solidFill>
                <a:effectLst/>
                <a:latin typeface="+mn-ea"/>
                <a:ea typeface="+mn-ea"/>
              </a:rPr>
              <a:t>1</a:t>
            </a:r>
            <a:r>
              <a:rPr lang="en-US" altLang="zh-CN" sz="2800" b="0" i="0" dirty="0">
                <a:solidFill>
                  <a:srgbClr val="000000"/>
                </a:solidFill>
                <a:effectLst/>
                <a:latin typeface="+mn-ea"/>
                <a:ea typeface="+mn-ea"/>
              </a:rPr>
              <a:t>);</a:t>
            </a:r>
            <a:r>
              <a:rPr lang="en-US" altLang="zh-CN" sz="2800" b="0" i="0" dirty="0">
                <a:solidFill>
                  <a:srgbClr val="008000"/>
                </a:solidFill>
                <a:effectLst/>
                <a:latin typeface="+mn-ea"/>
                <a:ea typeface="+mn-ea"/>
              </a:rPr>
              <a:t>//</a:t>
            </a:r>
            <a:r>
              <a:rPr lang="zh-CN" altLang="en-US" sz="2800" b="0" i="0" dirty="0">
                <a:solidFill>
                  <a:srgbClr val="008000"/>
                </a:solidFill>
                <a:effectLst/>
                <a:latin typeface="+mn-ea"/>
                <a:ea typeface="+mn-ea"/>
              </a:rPr>
              <a:t>右子树层次</a:t>
            </a:r>
            <a:r>
              <a:rPr lang="en-US" altLang="zh-CN" sz="2800" b="0" i="0" dirty="0">
                <a:solidFill>
                  <a:srgbClr val="008000"/>
                </a:solidFill>
                <a:effectLst/>
                <a:latin typeface="+mn-ea"/>
                <a:ea typeface="+mn-ea"/>
              </a:rPr>
              <a:t>+1</a:t>
            </a:r>
            <a:endParaRPr lang="zh-CN" altLang="en-US" sz="2800" b="0" i="0" dirty="0">
              <a:solidFill>
                <a:srgbClr val="000000"/>
              </a:solidFill>
              <a:effectLst/>
              <a:latin typeface="+mn-ea"/>
              <a:ea typeface="+mn-ea"/>
            </a:endParaRPr>
          </a:p>
          <a:p>
            <a:r>
              <a:rPr lang="en-US" altLang="zh-CN" sz="2800" b="0" i="0" dirty="0">
                <a:solidFill>
                  <a:srgbClr val="000000"/>
                </a:solidFill>
                <a:effectLst/>
                <a:latin typeface="+mn-ea"/>
                <a:ea typeface="+mn-ea"/>
              </a:rPr>
              <a:t>}</a:t>
            </a:r>
          </a:p>
          <a:p>
            <a:r>
              <a:rPr lang="en-US" altLang="zh-CN" sz="2800" b="0" i="0" dirty="0">
                <a:solidFill>
                  <a:srgbClr val="001080"/>
                </a:solidFill>
                <a:effectLst/>
                <a:latin typeface="+mn-ea"/>
                <a:ea typeface="+mn-ea"/>
              </a:rPr>
              <a:t>preorder</a:t>
            </a:r>
            <a:r>
              <a:rPr lang="en-US" altLang="zh-CN" sz="2800" b="0" i="0" dirty="0">
                <a:solidFill>
                  <a:srgbClr val="000000"/>
                </a:solidFill>
                <a:effectLst/>
                <a:latin typeface="+mn-ea"/>
                <a:ea typeface="+mn-ea"/>
              </a:rPr>
              <a:t>(</a:t>
            </a:r>
            <a:r>
              <a:rPr lang="en-US" altLang="zh-CN" sz="2800" b="0" i="0" dirty="0">
                <a:solidFill>
                  <a:srgbClr val="001080"/>
                </a:solidFill>
                <a:effectLst/>
                <a:latin typeface="+mn-ea"/>
                <a:ea typeface="+mn-ea"/>
              </a:rPr>
              <a:t>root</a:t>
            </a:r>
            <a:r>
              <a:rPr lang="en-US" altLang="zh-CN" sz="2800" b="0" i="0" dirty="0">
                <a:solidFill>
                  <a:srgbClr val="000000"/>
                </a:solidFill>
                <a:effectLst/>
                <a:latin typeface="+mn-ea"/>
                <a:ea typeface="+mn-ea"/>
              </a:rPr>
              <a:t>,</a:t>
            </a:r>
            <a:r>
              <a:rPr lang="en-US" altLang="zh-CN" sz="2800" b="0" i="0" dirty="0">
                <a:solidFill>
                  <a:srgbClr val="098658"/>
                </a:solidFill>
                <a:effectLst/>
                <a:latin typeface="+mn-ea"/>
                <a:ea typeface="+mn-ea"/>
              </a:rPr>
              <a:t>1</a:t>
            </a:r>
            <a:r>
              <a:rPr lang="en-US" altLang="zh-CN" sz="2800" b="0" i="0" dirty="0">
                <a:solidFill>
                  <a:srgbClr val="000000"/>
                </a:solidFill>
                <a:effectLst/>
                <a:latin typeface="+mn-ea"/>
                <a:ea typeface="+mn-ea"/>
              </a:rPr>
              <a:t>);</a:t>
            </a:r>
            <a:r>
              <a:rPr lang="zh-CN" altLang="en-US" sz="2800" b="0" i="0" dirty="0">
                <a:solidFill>
                  <a:srgbClr val="000000"/>
                </a:solidFill>
                <a:effectLst/>
                <a:latin typeface="+mn-ea"/>
                <a:ea typeface="+mn-ea"/>
              </a:rPr>
              <a:t>  </a:t>
            </a:r>
            <a:r>
              <a:rPr lang="en-US" altLang="zh-CN" sz="2800" b="0" i="0" dirty="0">
                <a:solidFill>
                  <a:srgbClr val="008000"/>
                </a:solidFill>
                <a:latin typeface="+mn-ea"/>
                <a:ea typeface="+mn-ea"/>
              </a:rPr>
              <a:t>//</a:t>
            </a:r>
            <a:r>
              <a:rPr lang="zh-CN" altLang="en-US" sz="2800" b="0" i="0" dirty="0">
                <a:solidFill>
                  <a:srgbClr val="008000"/>
                </a:solidFill>
                <a:latin typeface="+mn-ea"/>
                <a:ea typeface="+mn-ea"/>
              </a:rPr>
              <a:t>根，第一层</a:t>
            </a:r>
            <a:endParaRPr lang="en-US" altLang="zh-CN" sz="2800" b="0" i="0" dirty="0">
              <a:solidFill>
                <a:srgbClr val="008000"/>
              </a:solidFill>
              <a:latin typeface="+mn-ea"/>
              <a:ea typeface="+mn-ea"/>
            </a:endParaRPr>
          </a:p>
        </p:txBody>
      </p:sp>
    </p:spTree>
    <p:extLst>
      <p:ext uri="{BB962C8B-B14F-4D97-AF65-F5344CB8AC3E}">
        <p14:creationId xmlns:p14="http://schemas.microsoft.com/office/powerpoint/2010/main" val="4283057294"/>
      </p:ext>
    </p:extLst>
  </p:cSld>
  <p:clrMapOvr>
    <a:masterClrMapping/>
  </p:clrMapOvr>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61" name="Text Box 5">
            <a:extLst>
              <a:ext uri="{FF2B5EF4-FFF2-40B4-BE49-F238E27FC236}">
                <a16:creationId xmlns:a16="http://schemas.microsoft.com/office/drawing/2014/main" id="{F8CD876A-AB05-4E7A-B654-9334CEC71402}"/>
              </a:ext>
            </a:extLst>
          </p:cNvPr>
          <p:cNvSpPr txBox="1">
            <a:spLocks noChangeArrowheads="1"/>
          </p:cNvSpPr>
          <p:nvPr/>
        </p:nvSpPr>
        <p:spPr bwMode="auto">
          <a:xfrm>
            <a:off x="528392" y="1196752"/>
            <a:ext cx="8087216" cy="4817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50000"/>
              </a:lnSpc>
              <a:spcBef>
                <a:spcPct val="0"/>
              </a:spcBef>
              <a:buClrTx/>
              <a:buSzTx/>
              <a:buFont typeface="Arial" panose="020B0604020202020204" pitchFamily="34" charset="0"/>
              <a:buNone/>
            </a:pPr>
            <a:r>
              <a:rPr lang="zh-CN" altLang="en-US" sz="2800" b="0" i="0" dirty="0">
                <a:solidFill>
                  <a:srgbClr val="FF0000"/>
                </a:solidFill>
                <a:latin typeface="+mn-ea"/>
                <a:ea typeface="+mn-ea"/>
              </a:rPr>
              <a:t>计算树高：</a:t>
            </a:r>
            <a:endParaRPr lang="en-US" altLang="zh-CN" sz="2800" b="0" i="0" dirty="0">
              <a:solidFill>
                <a:srgbClr val="FF0000"/>
              </a:solidFill>
              <a:latin typeface="+mn-ea"/>
              <a:ea typeface="+mn-ea"/>
            </a:endParaRPr>
          </a:p>
          <a:p>
            <a:pPr>
              <a:buNone/>
            </a:pPr>
            <a:r>
              <a:rPr lang="en-US" altLang="zh-CN" sz="2800" b="0" i="0" dirty="0">
                <a:solidFill>
                  <a:srgbClr val="0000FF"/>
                </a:solidFill>
                <a:latin typeface="+mn-ea"/>
                <a:ea typeface="+mn-ea"/>
              </a:rPr>
              <a:t>int</a:t>
            </a:r>
            <a:r>
              <a:rPr lang="en-US" altLang="zh-CN" sz="2800" b="0" i="0" dirty="0">
                <a:solidFill>
                  <a:srgbClr val="000000"/>
                </a:solidFill>
                <a:latin typeface="+mn-ea"/>
                <a:ea typeface="+mn-ea"/>
              </a:rPr>
              <a:t> </a:t>
            </a:r>
            <a:r>
              <a:rPr lang="en-US" altLang="zh-CN" sz="2800" b="0" i="0" dirty="0" err="1">
                <a:solidFill>
                  <a:srgbClr val="001080"/>
                </a:solidFill>
                <a:latin typeface="+mn-ea"/>
                <a:ea typeface="+mn-ea"/>
              </a:rPr>
              <a:t>getheight</a:t>
            </a:r>
            <a:r>
              <a:rPr lang="en-US" altLang="zh-CN" sz="2800" b="0" i="0" dirty="0">
                <a:solidFill>
                  <a:srgbClr val="000000"/>
                </a:solidFill>
                <a:latin typeface="+mn-ea"/>
                <a:ea typeface="+mn-ea"/>
              </a:rPr>
              <a:t>(</a:t>
            </a:r>
            <a:r>
              <a:rPr lang="en-US" altLang="zh-CN" sz="2800" b="0" i="0" dirty="0" err="1">
                <a:solidFill>
                  <a:srgbClr val="267F99"/>
                </a:solidFill>
                <a:latin typeface="+mn-ea"/>
                <a:ea typeface="+mn-ea"/>
              </a:rPr>
              <a:t>BiTNode</a:t>
            </a:r>
            <a:r>
              <a:rPr lang="en-US" altLang="zh-CN" sz="2800" b="0" i="0" dirty="0">
                <a:solidFill>
                  <a:srgbClr val="000000"/>
                </a:solidFill>
                <a:latin typeface="+mn-ea"/>
                <a:ea typeface="+mn-ea"/>
              </a:rPr>
              <a:t> </a:t>
            </a:r>
            <a:r>
              <a:rPr lang="en-US" altLang="zh-CN" sz="2800" b="0" i="0" dirty="0">
                <a:solidFill>
                  <a:srgbClr val="0000FF"/>
                </a:solidFill>
                <a:latin typeface="+mn-ea"/>
                <a:ea typeface="+mn-ea"/>
              </a:rPr>
              <a:t>*</a:t>
            </a:r>
            <a:r>
              <a:rPr lang="en-US" altLang="zh-CN" sz="2800" b="0" i="0" dirty="0">
                <a:solidFill>
                  <a:srgbClr val="001080"/>
                </a:solidFill>
                <a:latin typeface="+mn-ea"/>
                <a:ea typeface="+mn-ea"/>
              </a:rPr>
              <a:t>t</a:t>
            </a:r>
            <a:r>
              <a:rPr lang="en-US" altLang="zh-CN" sz="2800" b="0" i="0" dirty="0">
                <a:solidFill>
                  <a:srgbClr val="000000"/>
                </a:solidFill>
                <a:latin typeface="+mn-ea"/>
                <a:ea typeface="+mn-ea"/>
              </a:rPr>
              <a:t>)</a:t>
            </a:r>
          </a:p>
          <a:p>
            <a:pPr>
              <a:buNone/>
            </a:pPr>
            <a:r>
              <a:rPr lang="en-US" altLang="zh-CN" sz="2800" b="0" i="0" dirty="0">
                <a:solidFill>
                  <a:srgbClr val="000000"/>
                </a:solidFill>
                <a:latin typeface="+mn-ea"/>
                <a:ea typeface="+mn-ea"/>
              </a:rPr>
              <a:t>{</a:t>
            </a:r>
          </a:p>
          <a:p>
            <a:pPr>
              <a:buNone/>
            </a:pPr>
            <a:r>
              <a:rPr lang="en-US" altLang="zh-CN" sz="2800" b="0" i="0" dirty="0">
                <a:solidFill>
                  <a:srgbClr val="000000"/>
                </a:solidFill>
                <a:latin typeface="+mn-ea"/>
                <a:ea typeface="+mn-ea"/>
              </a:rPr>
              <a:t>    </a:t>
            </a:r>
            <a:r>
              <a:rPr lang="en-US" altLang="zh-CN" sz="2800" b="0" i="0" dirty="0">
                <a:solidFill>
                  <a:srgbClr val="AF00DB"/>
                </a:solidFill>
                <a:latin typeface="+mn-ea"/>
                <a:ea typeface="+mn-ea"/>
              </a:rPr>
              <a:t>if</a:t>
            </a:r>
            <a:r>
              <a:rPr lang="en-US" altLang="zh-CN" sz="2800" b="0" i="0" dirty="0">
                <a:solidFill>
                  <a:srgbClr val="000000"/>
                </a:solidFill>
                <a:latin typeface="+mn-ea"/>
                <a:ea typeface="+mn-ea"/>
              </a:rPr>
              <a:t>(!t)</a:t>
            </a:r>
          </a:p>
          <a:p>
            <a:pPr>
              <a:buNone/>
            </a:pPr>
            <a:r>
              <a:rPr lang="en-US" altLang="zh-CN" sz="2800" b="0" i="0" dirty="0">
                <a:solidFill>
                  <a:srgbClr val="000000"/>
                </a:solidFill>
                <a:latin typeface="+mn-ea"/>
                <a:ea typeface="+mn-ea"/>
              </a:rPr>
              <a:t>        </a:t>
            </a:r>
            <a:r>
              <a:rPr lang="en-US" altLang="zh-CN" sz="2800" b="0" i="0" dirty="0">
                <a:solidFill>
                  <a:srgbClr val="AF00DB"/>
                </a:solidFill>
                <a:latin typeface="+mn-ea"/>
                <a:ea typeface="+mn-ea"/>
              </a:rPr>
              <a:t>return</a:t>
            </a:r>
            <a:r>
              <a:rPr lang="en-US" altLang="zh-CN" sz="2800" b="0" i="0" dirty="0">
                <a:solidFill>
                  <a:srgbClr val="000000"/>
                </a:solidFill>
                <a:latin typeface="+mn-ea"/>
                <a:ea typeface="+mn-ea"/>
              </a:rPr>
              <a:t> </a:t>
            </a:r>
            <a:r>
              <a:rPr lang="en-US" altLang="zh-CN" sz="2800" b="0" i="0" dirty="0">
                <a:solidFill>
                  <a:srgbClr val="098658"/>
                </a:solidFill>
                <a:latin typeface="+mn-ea"/>
                <a:ea typeface="+mn-ea"/>
              </a:rPr>
              <a:t>0</a:t>
            </a:r>
            <a:r>
              <a:rPr lang="en-US" altLang="zh-CN" sz="2800" b="0" i="0" dirty="0">
                <a:solidFill>
                  <a:srgbClr val="000000"/>
                </a:solidFill>
                <a:latin typeface="+mn-ea"/>
                <a:ea typeface="+mn-ea"/>
              </a:rPr>
              <a:t>;</a:t>
            </a:r>
          </a:p>
          <a:p>
            <a:pPr>
              <a:buNone/>
            </a:pPr>
            <a:endParaRPr lang="en-US" altLang="zh-CN" sz="2800" b="0" i="0" dirty="0">
              <a:solidFill>
                <a:srgbClr val="000000"/>
              </a:solidFill>
              <a:latin typeface="+mn-ea"/>
              <a:ea typeface="+mn-ea"/>
            </a:endParaRPr>
          </a:p>
          <a:p>
            <a:pPr>
              <a:spcBef>
                <a:spcPct val="0"/>
              </a:spcBef>
              <a:buNone/>
            </a:pPr>
            <a:r>
              <a:rPr lang="en-US" altLang="zh-CN" sz="2800" b="0" i="0" dirty="0">
                <a:solidFill>
                  <a:srgbClr val="000000"/>
                </a:solidFill>
                <a:latin typeface="+mn-ea"/>
                <a:ea typeface="+mn-ea"/>
              </a:rPr>
              <a:t>    </a:t>
            </a:r>
            <a:r>
              <a:rPr lang="en-US" altLang="zh-CN" sz="2800" b="0" i="0" dirty="0">
                <a:solidFill>
                  <a:srgbClr val="008000"/>
                </a:solidFill>
                <a:latin typeface="+mn-ea"/>
                <a:ea typeface="+mn-ea"/>
              </a:rPr>
              <a:t>// </a:t>
            </a:r>
            <a:r>
              <a:rPr lang="zh-CN" altLang="en-US" sz="2800" b="0" i="0" dirty="0">
                <a:solidFill>
                  <a:srgbClr val="008000"/>
                </a:solidFill>
                <a:latin typeface="+mn-ea"/>
                <a:ea typeface="+mn-ea"/>
              </a:rPr>
              <a:t>否则返回左子树高度，右子树高度最大值</a:t>
            </a:r>
            <a:r>
              <a:rPr lang="en-US" altLang="zh-CN" sz="2800" b="0" i="0" dirty="0">
                <a:solidFill>
                  <a:srgbClr val="008000"/>
                </a:solidFill>
                <a:latin typeface="+mn-ea"/>
                <a:ea typeface="+mn-ea"/>
              </a:rPr>
              <a:t>+1</a:t>
            </a:r>
          </a:p>
          <a:p>
            <a:pPr>
              <a:buNone/>
            </a:pPr>
            <a:r>
              <a:rPr lang="en-US" altLang="zh-CN" sz="2800" b="0" i="0" dirty="0">
                <a:solidFill>
                  <a:srgbClr val="000000"/>
                </a:solidFill>
                <a:latin typeface="+mn-ea"/>
                <a:ea typeface="+mn-ea"/>
              </a:rPr>
              <a:t>}</a:t>
            </a:r>
          </a:p>
          <a:p>
            <a:pPr eaLnBrk="1" hangingPunct="1">
              <a:lnSpc>
                <a:spcPct val="150000"/>
              </a:lnSpc>
              <a:spcBef>
                <a:spcPct val="0"/>
              </a:spcBef>
              <a:buClrTx/>
              <a:buSzTx/>
              <a:buFont typeface="Arial" panose="020B0604020202020204" pitchFamily="34" charset="0"/>
              <a:buNone/>
            </a:pPr>
            <a:endParaRPr lang="en-US" altLang="zh-CN" sz="2800" b="0" i="0" dirty="0">
              <a:latin typeface="+mn-ea"/>
              <a:ea typeface="+mn-ea"/>
            </a:endParaRPr>
          </a:p>
        </p:txBody>
      </p:sp>
      <p:sp>
        <p:nvSpPr>
          <p:cNvPr id="3" name="Text Box 4">
            <a:extLst>
              <a:ext uri="{FF2B5EF4-FFF2-40B4-BE49-F238E27FC236}">
                <a16:creationId xmlns:a16="http://schemas.microsoft.com/office/drawing/2014/main" id="{49C423E2-352F-2971-A4BA-A653642399BE}"/>
              </a:ext>
            </a:extLst>
          </p:cNvPr>
          <p:cNvSpPr txBox="1">
            <a:spLocks noChangeArrowheads="1"/>
          </p:cNvSpPr>
          <p:nvPr/>
        </p:nvSpPr>
        <p:spPr bwMode="auto">
          <a:xfrm>
            <a:off x="439150" y="326871"/>
            <a:ext cx="8458200" cy="70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342900" indent="-342900" algn="ctr" eaLnBrk="1" hangingPunct="1">
              <a:lnSpc>
                <a:spcPct val="90000"/>
              </a:lnSpc>
              <a:buNone/>
            </a:pPr>
            <a:r>
              <a:rPr lang="zh-CN" altLang="en-US" sz="4400" i="0" dirty="0">
                <a:solidFill>
                  <a:schemeClr val="tx2"/>
                </a:solidFill>
                <a:ea typeface="隶书" pitchFamily="49" charset="-122"/>
              </a:rPr>
              <a:t>二叉树求树高实现代码</a:t>
            </a:r>
          </a:p>
        </p:txBody>
      </p:sp>
    </p:spTree>
    <p:extLst>
      <p:ext uri="{BB962C8B-B14F-4D97-AF65-F5344CB8AC3E}">
        <p14:creationId xmlns:p14="http://schemas.microsoft.com/office/powerpoint/2010/main" val="315346426"/>
      </p:ext>
    </p:extLst>
  </p:cSld>
  <p:clrMapOvr>
    <a:masterClrMapping/>
  </p:clrMapOv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61" name="Text Box 5">
            <a:extLst>
              <a:ext uri="{FF2B5EF4-FFF2-40B4-BE49-F238E27FC236}">
                <a16:creationId xmlns:a16="http://schemas.microsoft.com/office/drawing/2014/main" id="{F8CD876A-AB05-4E7A-B654-9334CEC71402}"/>
              </a:ext>
            </a:extLst>
          </p:cNvPr>
          <p:cNvSpPr txBox="1">
            <a:spLocks noChangeArrowheads="1"/>
          </p:cNvSpPr>
          <p:nvPr/>
        </p:nvSpPr>
        <p:spPr bwMode="auto">
          <a:xfrm>
            <a:off x="528392" y="1196752"/>
            <a:ext cx="8087216" cy="4401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buNone/>
            </a:pPr>
            <a:r>
              <a:rPr lang="en-US" altLang="zh-CN" sz="2800" b="0" i="0" dirty="0">
                <a:solidFill>
                  <a:srgbClr val="0000FF"/>
                </a:solidFill>
                <a:latin typeface="+mn-ea"/>
                <a:ea typeface="+mn-ea"/>
              </a:rPr>
              <a:t>int</a:t>
            </a:r>
            <a:r>
              <a:rPr lang="en-US" altLang="zh-CN" sz="2800" b="0" i="0" dirty="0">
                <a:solidFill>
                  <a:srgbClr val="000000"/>
                </a:solidFill>
                <a:latin typeface="+mn-ea"/>
                <a:ea typeface="+mn-ea"/>
              </a:rPr>
              <a:t> leaf(</a:t>
            </a:r>
            <a:r>
              <a:rPr lang="en-US" altLang="zh-CN" sz="2800" b="0" i="0" dirty="0" err="1">
                <a:solidFill>
                  <a:srgbClr val="267F99"/>
                </a:solidFill>
                <a:latin typeface="+mn-ea"/>
                <a:ea typeface="+mn-ea"/>
              </a:rPr>
              <a:t>BiTNode</a:t>
            </a:r>
            <a:r>
              <a:rPr lang="en-US" altLang="zh-CN" sz="2800" b="0" i="0" dirty="0">
                <a:solidFill>
                  <a:srgbClr val="000000"/>
                </a:solidFill>
                <a:latin typeface="+mn-ea"/>
                <a:ea typeface="+mn-ea"/>
              </a:rPr>
              <a:t> </a:t>
            </a:r>
            <a:r>
              <a:rPr lang="en-US" altLang="zh-CN" sz="2800" b="0" i="0" dirty="0">
                <a:solidFill>
                  <a:srgbClr val="0000FF"/>
                </a:solidFill>
                <a:latin typeface="+mn-ea"/>
                <a:ea typeface="+mn-ea"/>
              </a:rPr>
              <a:t>*</a:t>
            </a:r>
            <a:r>
              <a:rPr lang="en-US" altLang="zh-CN" sz="2800" b="0" i="0" dirty="0">
                <a:solidFill>
                  <a:srgbClr val="001080"/>
                </a:solidFill>
                <a:latin typeface="+mn-ea"/>
                <a:ea typeface="+mn-ea"/>
              </a:rPr>
              <a:t>t</a:t>
            </a:r>
            <a:r>
              <a:rPr lang="en-US" altLang="zh-CN" sz="2800" b="0" i="0" dirty="0">
                <a:solidFill>
                  <a:srgbClr val="000000"/>
                </a:solidFill>
                <a:latin typeface="+mn-ea"/>
                <a:ea typeface="+mn-ea"/>
              </a:rPr>
              <a:t>)</a:t>
            </a:r>
          </a:p>
          <a:p>
            <a:pPr>
              <a:buNone/>
            </a:pPr>
            <a:r>
              <a:rPr lang="en-US" altLang="zh-CN" sz="2800" b="0" i="0" dirty="0">
                <a:solidFill>
                  <a:srgbClr val="000000"/>
                </a:solidFill>
                <a:latin typeface="+mn-ea"/>
                <a:ea typeface="+mn-ea"/>
              </a:rPr>
              <a:t>{</a:t>
            </a:r>
          </a:p>
          <a:p>
            <a:pPr>
              <a:buNone/>
            </a:pPr>
            <a:r>
              <a:rPr lang="en-US" altLang="zh-CN" sz="2800" b="0" i="0" dirty="0">
                <a:solidFill>
                  <a:srgbClr val="000000"/>
                </a:solidFill>
                <a:latin typeface="+mn-ea"/>
                <a:ea typeface="+mn-ea"/>
              </a:rPr>
              <a:t>    </a:t>
            </a:r>
            <a:r>
              <a:rPr lang="en-US" altLang="zh-CN" sz="2800" b="0" i="0" dirty="0">
                <a:solidFill>
                  <a:srgbClr val="AF00DB"/>
                </a:solidFill>
                <a:latin typeface="+mn-ea"/>
                <a:ea typeface="+mn-ea"/>
              </a:rPr>
              <a:t>if</a:t>
            </a:r>
            <a:r>
              <a:rPr lang="en-US" altLang="zh-CN" sz="2800" b="0" i="0" dirty="0">
                <a:solidFill>
                  <a:srgbClr val="000000"/>
                </a:solidFill>
                <a:latin typeface="+mn-ea"/>
                <a:ea typeface="+mn-ea"/>
              </a:rPr>
              <a:t>(!t)</a:t>
            </a:r>
          </a:p>
          <a:p>
            <a:pPr>
              <a:buNone/>
            </a:pPr>
            <a:r>
              <a:rPr lang="en-US" altLang="zh-CN" sz="2800" b="0" i="0" dirty="0">
                <a:solidFill>
                  <a:srgbClr val="000000"/>
                </a:solidFill>
                <a:latin typeface="+mn-ea"/>
                <a:ea typeface="+mn-ea"/>
              </a:rPr>
              <a:t>        </a:t>
            </a:r>
            <a:r>
              <a:rPr lang="en-US" altLang="zh-CN" sz="2800" b="0" i="0" dirty="0">
                <a:solidFill>
                  <a:srgbClr val="AF00DB"/>
                </a:solidFill>
                <a:latin typeface="+mn-ea"/>
                <a:ea typeface="+mn-ea"/>
              </a:rPr>
              <a:t>return</a:t>
            </a:r>
            <a:r>
              <a:rPr lang="en-US" altLang="zh-CN" sz="2800" b="0" i="0" dirty="0">
                <a:solidFill>
                  <a:srgbClr val="000000"/>
                </a:solidFill>
                <a:latin typeface="+mn-ea"/>
                <a:ea typeface="+mn-ea"/>
              </a:rPr>
              <a:t> </a:t>
            </a:r>
            <a:r>
              <a:rPr lang="en-US" altLang="zh-CN" sz="2800" b="0" i="0" dirty="0">
                <a:solidFill>
                  <a:srgbClr val="098658"/>
                </a:solidFill>
                <a:latin typeface="+mn-ea"/>
                <a:ea typeface="+mn-ea"/>
              </a:rPr>
              <a:t>0</a:t>
            </a:r>
            <a:r>
              <a:rPr lang="en-US" altLang="zh-CN" sz="2800" b="0" i="0" dirty="0">
                <a:solidFill>
                  <a:srgbClr val="000000"/>
                </a:solidFill>
                <a:latin typeface="+mn-ea"/>
                <a:ea typeface="+mn-ea"/>
              </a:rPr>
              <a:t>;</a:t>
            </a:r>
          </a:p>
          <a:p>
            <a:pPr>
              <a:buNone/>
            </a:pPr>
            <a:endParaRPr lang="en-US" altLang="zh-CN" sz="2800" b="0" i="0" dirty="0">
              <a:solidFill>
                <a:srgbClr val="000000"/>
              </a:solidFill>
              <a:latin typeface="+mn-ea"/>
              <a:ea typeface="+mn-ea"/>
            </a:endParaRPr>
          </a:p>
          <a:p>
            <a:pPr>
              <a:spcBef>
                <a:spcPct val="0"/>
              </a:spcBef>
              <a:buNone/>
            </a:pPr>
            <a:r>
              <a:rPr lang="en-US" altLang="zh-CN" sz="2800" b="0" i="0" dirty="0">
                <a:solidFill>
                  <a:srgbClr val="000000"/>
                </a:solidFill>
                <a:latin typeface="+mn-ea"/>
                <a:ea typeface="+mn-ea"/>
              </a:rPr>
              <a:t>   </a:t>
            </a:r>
            <a:r>
              <a:rPr lang="en-US" altLang="zh-CN" sz="2800" b="0" i="0" dirty="0">
                <a:solidFill>
                  <a:srgbClr val="008000"/>
                </a:solidFill>
                <a:latin typeface="+mn-ea"/>
                <a:ea typeface="+mn-ea"/>
              </a:rPr>
              <a:t>// </a:t>
            </a:r>
            <a:r>
              <a:rPr lang="zh-CN" altLang="en-US" sz="2800" b="0" i="0" dirty="0">
                <a:solidFill>
                  <a:srgbClr val="008000"/>
                </a:solidFill>
                <a:latin typeface="+mn-ea"/>
                <a:ea typeface="+mn-ea"/>
              </a:rPr>
              <a:t>若</a:t>
            </a:r>
            <a:r>
              <a:rPr lang="en-US" altLang="zh-CN" sz="2800" b="0" i="0" dirty="0">
                <a:solidFill>
                  <a:srgbClr val="008000"/>
                </a:solidFill>
                <a:latin typeface="+mn-ea"/>
                <a:ea typeface="+mn-ea"/>
              </a:rPr>
              <a:t>t</a:t>
            </a:r>
            <a:r>
              <a:rPr lang="zh-CN" altLang="en-US" sz="2800" b="0" i="0" dirty="0">
                <a:solidFill>
                  <a:srgbClr val="008000"/>
                </a:solidFill>
                <a:latin typeface="+mn-ea"/>
                <a:ea typeface="+mn-ea"/>
              </a:rPr>
              <a:t>是叶子结点，返回</a:t>
            </a:r>
            <a:r>
              <a:rPr lang="en-US" altLang="zh-CN" sz="2800" b="0" i="0" dirty="0">
                <a:solidFill>
                  <a:srgbClr val="008000"/>
                </a:solidFill>
                <a:latin typeface="+mn-ea"/>
                <a:ea typeface="+mn-ea"/>
              </a:rPr>
              <a:t>1</a:t>
            </a:r>
          </a:p>
          <a:p>
            <a:pPr>
              <a:spcBef>
                <a:spcPct val="0"/>
              </a:spcBef>
              <a:buNone/>
            </a:pPr>
            <a:r>
              <a:rPr lang="en-US" altLang="zh-CN" sz="2800" b="0" i="0" dirty="0">
                <a:solidFill>
                  <a:srgbClr val="008000"/>
                </a:solidFill>
                <a:latin typeface="+mn-ea"/>
                <a:ea typeface="+mn-ea"/>
              </a:rPr>
              <a:t>   // </a:t>
            </a:r>
            <a:r>
              <a:rPr lang="zh-CN" altLang="en-US" sz="2800" b="0" i="0" dirty="0">
                <a:solidFill>
                  <a:srgbClr val="008000"/>
                </a:solidFill>
                <a:latin typeface="+mn-ea"/>
                <a:ea typeface="+mn-ea"/>
              </a:rPr>
              <a:t>否则返回左子树的叶子数 </a:t>
            </a:r>
            <a:r>
              <a:rPr lang="en-US" altLang="zh-CN" sz="2800" b="0" i="0" dirty="0">
                <a:solidFill>
                  <a:srgbClr val="008000"/>
                </a:solidFill>
                <a:latin typeface="+mn-ea"/>
                <a:ea typeface="+mn-ea"/>
              </a:rPr>
              <a:t>+ </a:t>
            </a:r>
            <a:r>
              <a:rPr lang="zh-CN" altLang="en-US" sz="2800" b="0" i="0" dirty="0">
                <a:solidFill>
                  <a:srgbClr val="008000"/>
                </a:solidFill>
                <a:latin typeface="+mn-ea"/>
                <a:ea typeface="+mn-ea"/>
              </a:rPr>
              <a:t>右子树的叶子</a:t>
            </a:r>
            <a:endParaRPr lang="en-US" altLang="zh-CN" sz="2800" b="0" i="0" dirty="0">
              <a:solidFill>
                <a:srgbClr val="008000"/>
              </a:solidFill>
              <a:latin typeface="+mn-ea"/>
              <a:ea typeface="+mn-ea"/>
            </a:endParaRPr>
          </a:p>
          <a:p>
            <a:pPr>
              <a:spcBef>
                <a:spcPct val="0"/>
              </a:spcBef>
              <a:buNone/>
            </a:pPr>
            <a:r>
              <a:rPr lang="en-US" altLang="zh-CN" sz="2800" b="0" i="0" dirty="0">
                <a:solidFill>
                  <a:srgbClr val="008000"/>
                </a:solidFill>
                <a:latin typeface="+mn-ea"/>
                <a:ea typeface="+mn-ea"/>
              </a:rPr>
              <a:t>   // </a:t>
            </a:r>
            <a:r>
              <a:rPr lang="zh-CN" altLang="en-US" sz="2800" b="0" i="0" dirty="0">
                <a:solidFill>
                  <a:srgbClr val="008000"/>
                </a:solidFill>
                <a:latin typeface="+mn-ea"/>
                <a:ea typeface="+mn-ea"/>
              </a:rPr>
              <a:t>数</a:t>
            </a:r>
            <a:endParaRPr lang="en-US" altLang="zh-CN" sz="2800" b="0" i="0" dirty="0">
              <a:solidFill>
                <a:srgbClr val="008000"/>
              </a:solidFill>
              <a:latin typeface="+mn-ea"/>
              <a:ea typeface="+mn-ea"/>
            </a:endParaRPr>
          </a:p>
          <a:p>
            <a:pPr>
              <a:buNone/>
            </a:pPr>
            <a:r>
              <a:rPr lang="en-US" altLang="zh-CN" sz="2800" b="0" i="0" dirty="0">
                <a:solidFill>
                  <a:srgbClr val="000000"/>
                </a:solidFill>
                <a:latin typeface="+mn-ea"/>
                <a:ea typeface="+mn-ea"/>
              </a:rPr>
              <a:t>}</a:t>
            </a:r>
            <a:endParaRPr lang="en-US" altLang="zh-CN" sz="2800" b="0" i="0" dirty="0">
              <a:latin typeface="+mn-ea"/>
              <a:ea typeface="+mn-ea"/>
            </a:endParaRPr>
          </a:p>
        </p:txBody>
      </p:sp>
      <p:sp>
        <p:nvSpPr>
          <p:cNvPr id="3" name="Text Box 4">
            <a:extLst>
              <a:ext uri="{FF2B5EF4-FFF2-40B4-BE49-F238E27FC236}">
                <a16:creationId xmlns:a16="http://schemas.microsoft.com/office/drawing/2014/main" id="{49C423E2-352F-2971-A4BA-A653642399BE}"/>
              </a:ext>
            </a:extLst>
          </p:cNvPr>
          <p:cNvSpPr txBox="1">
            <a:spLocks noChangeArrowheads="1"/>
          </p:cNvSpPr>
          <p:nvPr/>
        </p:nvSpPr>
        <p:spPr bwMode="auto">
          <a:xfrm>
            <a:off x="439150" y="326871"/>
            <a:ext cx="8458200" cy="70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342900" indent="-342900" algn="ctr" eaLnBrk="1" hangingPunct="1">
              <a:lnSpc>
                <a:spcPct val="90000"/>
              </a:lnSpc>
              <a:buNone/>
            </a:pPr>
            <a:r>
              <a:rPr lang="zh-CN" altLang="en-US" sz="4400" i="0" dirty="0">
                <a:solidFill>
                  <a:schemeClr val="tx2"/>
                </a:solidFill>
                <a:ea typeface="隶书" pitchFamily="49" charset="-122"/>
              </a:rPr>
              <a:t>二叉树求叶子结点数实现</a:t>
            </a:r>
          </a:p>
        </p:txBody>
      </p:sp>
    </p:spTree>
    <p:extLst>
      <p:ext uri="{BB962C8B-B14F-4D97-AF65-F5344CB8AC3E}">
        <p14:creationId xmlns:p14="http://schemas.microsoft.com/office/powerpoint/2010/main" val="390428246"/>
      </p:ext>
    </p:extLst>
  </p:cSld>
  <p:clrMapOvr>
    <a:masterClrMapping/>
  </p:clrMapOvr>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7" name="Text Box 3">
            <a:extLst>
              <a:ext uri="{FF2B5EF4-FFF2-40B4-BE49-F238E27FC236}">
                <a16:creationId xmlns:a16="http://schemas.microsoft.com/office/drawing/2014/main" id="{27CEF6F9-436A-49B8-827F-E6516A172F13}"/>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049AB90D-0F65-4415-9355-BD13991CD840}" type="slidenum">
              <a:rPr lang="zh-CN" altLang="en-US" sz="2400"/>
              <a:pPr algn="r" eaLnBrk="1" hangingPunct="1">
                <a:spcBef>
                  <a:spcPct val="50000"/>
                </a:spcBef>
                <a:buClrTx/>
                <a:buSzTx/>
                <a:buFont typeface="Arial" panose="020B0604020202020204" pitchFamily="34" charset="0"/>
                <a:buNone/>
              </a:pPr>
              <a:t>98</a:t>
            </a:fld>
            <a:endParaRPr lang="en-US" altLang="zh-CN" sz="2400"/>
          </a:p>
        </p:txBody>
      </p:sp>
      <p:sp>
        <p:nvSpPr>
          <p:cNvPr id="98309" name="Rectangle 5">
            <a:extLst>
              <a:ext uri="{FF2B5EF4-FFF2-40B4-BE49-F238E27FC236}">
                <a16:creationId xmlns:a16="http://schemas.microsoft.com/office/drawing/2014/main" id="{F81836C3-1BCF-4283-A1C8-FBA05F877066}"/>
              </a:ext>
            </a:extLst>
          </p:cNvPr>
          <p:cNvSpPr>
            <a:spLocks noGrp="1" noChangeArrowheads="1"/>
          </p:cNvSpPr>
          <p:nvPr>
            <p:ph type="body" idx="1"/>
          </p:nvPr>
        </p:nvSpPr>
        <p:spPr>
          <a:xfrm>
            <a:off x="539552" y="1248569"/>
            <a:ext cx="8763000" cy="1335088"/>
          </a:xfrm>
        </p:spPr>
        <p:txBody>
          <a:bodyPr/>
          <a:lstStyle/>
          <a:p>
            <a:pPr marL="0" indent="0" eaLnBrk="1" hangingPunct="1">
              <a:spcBef>
                <a:spcPct val="50000"/>
              </a:spcBef>
              <a:buNone/>
            </a:pPr>
            <a:r>
              <a:rPr lang="zh-CN" altLang="en-US" dirty="0">
                <a:latin typeface="黑体" panose="02010609060101010101" pitchFamily="49" charset="-122"/>
                <a:ea typeface="黑体" panose="02010609060101010101" pitchFamily="49" charset="-122"/>
              </a:rPr>
              <a:t>根据带权路径长度公式，</a:t>
            </a:r>
            <a:r>
              <a:rPr lang="en-US" altLang="zh-CN" dirty="0">
                <a:latin typeface="黑体" panose="02010609060101010101" pitchFamily="49" charset="-122"/>
                <a:ea typeface="黑体" panose="02010609060101010101" pitchFamily="49" charset="-122"/>
              </a:rPr>
              <a:t>Huffman</a:t>
            </a:r>
            <a:r>
              <a:rPr lang="zh-CN" altLang="en-US" dirty="0">
                <a:latin typeface="黑体" panose="02010609060101010101" pitchFamily="49" charset="-122"/>
                <a:ea typeface="黑体" panose="02010609060101010101" pitchFamily="49" charset="-122"/>
              </a:rPr>
              <a:t>树中，</a:t>
            </a:r>
            <a:endParaRPr lang="en-US" altLang="zh-CN" dirty="0">
              <a:latin typeface="黑体" panose="02010609060101010101" pitchFamily="49" charset="-122"/>
              <a:ea typeface="黑体" panose="02010609060101010101" pitchFamily="49" charset="-122"/>
            </a:endParaRPr>
          </a:p>
          <a:p>
            <a:pPr eaLnBrk="1" hangingPunct="1">
              <a:spcBef>
                <a:spcPct val="50000"/>
              </a:spcBef>
            </a:pPr>
            <a:r>
              <a:rPr lang="zh-CN" altLang="en-US" dirty="0">
                <a:latin typeface="黑体" panose="02010609060101010101" pitchFamily="49" charset="-122"/>
                <a:ea typeface="黑体" panose="02010609060101010101" pitchFamily="49" charset="-122"/>
              </a:rPr>
              <a:t>权值最大的结点离根最近。</a:t>
            </a:r>
          </a:p>
          <a:p>
            <a:pPr eaLnBrk="1" hangingPunct="1">
              <a:spcBef>
                <a:spcPct val="50000"/>
              </a:spcBef>
            </a:pPr>
            <a:r>
              <a:rPr lang="zh-CN" altLang="en-US" dirty="0">
                <a:latin typeface="黑体" panose="02010609060101010101" pitchFamily="49" charset="-122"/>
                <a:ea typeface="黑体" panose="02010609060101010101" pitchFamily="49" charset="-122"/>
              </a:rPr>
              <a:t>权值最小的结点离根最远。</a:t>
            </a:r>
          </a:p>
        </p:txBody>
      </p:sp>
      <p:grpSp>
        <p:nvGrpSpPr>
          <p:cNvPr id="98311" name="Group 7">
            <a:extLst>
              <a:ext uri="{FF2B5EF4-FFF2-40B4-BE49-F238E27FC236}">
                <a16:creationId xmlns:a16="http://schemas.microsoft.com/office/drawing/2014/main" id="{2F7B7975-8F14-4E8D-844F-35FFD3F32A40}"/>
              </a:ext>
            </a:extLst>
          </p:cNvPr>
          <p:cNvGrpSpPr>
            <a:grpSpLocks/>
          </p:cNvGrpSpPr>
          <p:nvPr/>
        </p:nvGrpSpPr>
        <p:grpSpPr bwMode="auto">
          <a:xfrm>
            <a:off x="5946067" y="3661568"/>
            <a:ext cx="2552700" cy="1731963"/>
            <a:chOff x="0" y="0"/>
            <a:chExt cx="1608" cy="1091"/>
          </a:xfrm>
        </p:grpSpPr>
        <p:sp>
          <p:nvSpPr>
            <p:cNvPr id="98312" name="Line 8">
              <a:extLst>
                <a:ext uri="{FF2B5EF4-FFF2-40B4-BE49-F238E27FC236}">
                  <a16:creationId xmlns:a16="http://schemas.microsoft.com/office/drawing/2014/main" id="{954E9FAD-2D8D-4659-9880-7BED7B3BE63D}"/>
                </a:ext>
              </a:extLst>
            </p:cNvPr>
            <p:cNvSpPr>
              <a:spLocks noChangeShapeType="1"/>
            </p:cNvSpPr>
            <p:nvPr/>
          </p:nvSpPr>
          <p:spPr bwMode="auto">
            <a:xfrm>
              <a:off x="744" y="161"/>
              <a:ext cx="360" cy="27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98313" name="Line 9">
              <a:extLst>
                <a:ext uri="{FF2B5EF4-FFF2-40B4-BE49-F238E27FC236}">
                  <a16:creationId xmlns:a16="http://schemas.microsoft.com/office/drawing/2014/main" id="{B4861A96-5400-4CF0-9E29-0AC1293FD140}"/>
                </a:ext>
              </a:extLst>
            </p:cNvPr>
            <p:cNvSpPr>
              <a:spLocks noChangeShapeType="1"/>
            </p:cNvSpPr>
            <p:nvPr/>
          </p:nvSpPr>
          <p:spPr bwMode="auto">
            <a:xfrm flipH="1">
              <a:off x="240" y="161"/>
              <a:ext cx="360" cy="315"/>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98314" name="Oval 10">
              <a:extLst>
                <a:ext uri="{FF2B5EF4-FFF2-40B4-BE49-F238E27FC236}">
                  <a16:creationId xmlns:a16="http://schemas.microsoft.com/office/drawing/2014/main" id="{9E985686-D63F-4379-A30B-7800B018BFF1}"/>
                </a:ext>
              </a:extLst>
            </p:cNvPr>
            <p:cNvSpPr>
              <a:spLocks noChangeArrowheads="1"/>
            </p:cNvSpPr>
            <p:nvPr/>
          </p:nvSpPr>
          <p:spPr bwMode="auto">
            <a:xfrm>
              <a:off x="528" y="0"/>
              <a:ext cx="288" cy="271"/>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A</a:t>
              </a:r>
            </a:p>
          </p:txBody>
        </p:sp>
        <p:sp>
          <p:nvSpPr>
            <p:cNvPr id="98315" name="Line 11">
              <a:extLst>
                <a:ext uri="{FF2B5EF4-FFF2-40B4-BE49-F238E27FC236}">
                  <a16:creationId xmlns:a16="http://schemas.microsoft.com/office/drawing/2014/main" id="{5DF1F78A-61BB-468C-B97E-C33B5F3EA011}"/>
                </a:ext>
              </a:extLst>
            </p:cNvPr>
            <p:cNvSpPr>
              <a:spLocks noChangeShapeType="1"/>
            </p:cNvSpPr>
            <p:nvPr/>
          </p:nvSpPr>
          <p:spPr bwMode="auto">
            <a:xfrm flipH="1">
              <a:off x="912" y="556"/>
              <a:ext cx="264" cy="29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98316" name="Oval 12">
              <a:extLst>
                <a:ext uri="{FF2B5EF4-FFF2-40B4-BE49-F238E27FC236}">
                  <a16:creationId xmlns:a16="http://schemas.microsoft.com/office/drawing/2014/main" id="{F80DA26D-DF1A-48A2-A603-CAF4C974761F}"/>
                </a:ext>
              </a:extLst>
            </p:cNvPr>
            <p:cNvSpPr>
              <a:spLocks noChangeArrowheads="1"/>
            </p:cNvSpPr>
            <p:nvPr/>
          </p:nvSpPr>
          <p:spPr bwMode="auto">
            <a:xfrm>
              <a:off x="672" y="801"/>
              <a:ext cx="288" cy="271"/>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D</a:t>
              </a:r>
            </a:p>
          </p:txBody>
        </p:sp>
        <p:sp>
          <p:nvSpPr>
            <p:cNvPr id="98317" name="Line 13">
              <a:extLst>
                <a:ext uri="{FF2B5EF4-FFF2-40B4-BE49-F238E27FC236}">
                  <a16:creationId xmlns:a16="http://schemas.microsoft.com/office/drawing/2014/main" id="{2A3C0475-449B-4269-A221-F1692F2FE3DD}"/>
                </a:ext>
              </a:extLst>
            </p:cNvPr>
            <p:cNvSpPr>
              <a:spLocks noChangeShapeType="1"/>
            </p:cNvSpPr>
            <p:nvPr/>
          </p:nvSpPr>
          <p:spPr bwMode="auto">
            <a:xfrm>
              <a:off x="1200" y="576"/>
              <a:ext cx="216" cy="27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98318" name="Oval 14">
              <a:extLst>
                <a:ext uri="{FF2B5EF4-FFF2-40B4-BE49-F238E27FC236}">
                  <a16:creationId xmlns:a16="http://schemas.microsoft.com/office/drawing/2014/main" id="{DB2E2615-9F7F-45E2-A669-8BB19021BD85}"/>
                </a:ext>
              </a:extLst>
            </p:cNvPr>
            <p:cNvSpPr>
              <a:spLocks noChangeArrowheads="1"/>
            </p:cNvSpPr>
            <p:nvPr/>
          </p:nvSpPr>
          <p:spPr bwMode="auto">
            <a:xfrm>
              <a:off x="0" y="386"/>
              <a:ext cx="288" cy="271"/>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B</a:t>
              </a:r>
            </a:p>
          </p:txBody>
        </p:sp>
        <p:sp>
          <p:nvSpPr>
            <p:cNvPr id="98319" name="Oval 15">
              <a:extLst>
                <a:ext uri="{FF2B5EF4-FFF2-40B4-BE49-F238E27FC236}">
                  <a16:creationId xmlns:a16="http://schemas.microsoft.com/office/drawing/2014/main" id="{5E9E453E-D2B4-4EA0-900F-87DDAAB15199}"/>
                </a:ext>
              </a:extLst>
            </p:cNvPr>
            <p:cNvSpPr>
              <a:spLocks noChangeArrowheads="1"/>
            </p:cNvSpPr>
            <p:nvPr/>
          </p:nvSpPr>
          <p:spPr bwMode="auto">
            <a:xfrm>
              <a:off x="1056" y="386"/>
              <a:ext cx="288" cy="271"/>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C</a:t>
              </a:r>
            </a:p>
          </p:txBody>
        </p:sp>
        <p:sp>
          <p:nvSpPr>
            <p:cNvPr id="98320" name="Oval 16">
              <a:extLst>
                <a:ext uri="{FF2B5EF4-FFF2-40B4-BE49-F238E27FC236}">
                  <a16:creationId xmlns:a16="http://schemas.microsoft.com/office/drawing/2014/main" id="{21616D0C-9D8E-4CB7-87E7-7BFEF8D611A1}"/>
                </a:ext>
              </a:extLst>
            </p:cNvPr>
            <p:cNvSpPr>
              <a:spLocks noChangeArrowheads="1"/>
            </p:cNvSpPr>
            <p:nvPr/>
          </p:nvSpPr>
          <p:spPr bwMode="auto">
            <a:xfrm>
              <a:off x="1320" y="821"/>
              <a:ext cx="288" cy="270"/>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E</a:t>
              </a:r>
            </a:p>
          </p:txBody>
        </p:sp>
        <p:sp>
          <p:nvSpPr>
            <p:cNvPr id="98321" name="Text Box 17">
              <a:extLst>
                <a:ext uri="{FF2B5EF4-FFF2-40B4-BE49-F238E27FC236}">
                  <a16:creationId xmlns:a16="http://schemas.microsoft.com/office/drawing/2014/main" id="{991386C0-E5F0-4B8E-8479-8E77D82BB1EC}"/>
                </a:ext>
              </a:extLst>
            </p:cNvPr>
            <p:cNvSpPr txBox="1">
              <a:spLocks noChangeArrowheads="1"/>
            </p:cNvSpPr>
            <p:nvPr/>
          </p:nvSpPr>
          <p:spPr bwMode="auto">
            <a:xfrm>
              <a:off x="48" y="80"/>
              <a:ext cx="192"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2800" b="0" i="0" dirty="0">
                  <a:latin typeface="黑体" panose="02010609060101010101" pitchFamily="49" charset="-122"/>
                  <a:ea typeface="黑体" panose="02010609060101010101" pitchFamily="49" charset="-122"/>
                </a:rPr>
                <a:t>5</a:t>
              </a:r>
            </a:p>
          </p:txBody>
        </p:sp>
        <p:sp>
          <p:nvSpPr>
            <p:cNvPr id="98322" name="Text Box 18">
              <a:extLst>
                <a:ext uri="{FF2B5EF4-FFF2-40B4-BE49-F238E27FC236}">
                  <a16:creationId xmlns:a16="http://schemas.microsoft.com/office/drawing/2014/main" id="{4B88D94E-B2CB-4B01-8001-7418260EBAD0}"/>
                </a:ext>
              </a:extLst>
            </p:cNvPr>
            <p:cNvSpPr txBox="1">
              <a:spLocks noChangeArrowheads="1"/>
            </p:cNvSpPr>
            <p:nvPr/>
          </p:nvSpPr>
          <p:spPr bwMode="auto">
            <a:xfrm>
              <a:off x="1392" y="534"/>
              <a:ext cx="192"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2800" b="0" i="0" dirty="0">
                  <a:latin typeface="黑体" panose="02010609060101010101" pitchFamily="49" charset="-122"/>
                  <a:ea typeface="黑体" panose="02010609060101010101" pitchFamily="49" charset="-122"/>
                </a:rPr>
                <a:t>３</a:t>
              </a:r>
            </a:p>
          </p:txBody>
        </p:sp>
        <p:sp>
          <p:nvSpPr>
            <p:cNvPr id="98323" name="Text Box 19">
              <a:extLst>
                <a:ext uri="{FF2B5EF4-FFF2-40B4-BE49-F238E27FC236}">
                  <a16:creationId xmlns:a16="http://schemas.microsoft.com/office/drawing/2014/main" id="{D8A4C50D-1224-49B8-B96E-2CD4CF44F779}"/>
                </a:ext>
              </a:extLst>
            </p:cNvPr>
            <p:cNvSpPr txBox="1">
              <a:spLocks noChangeArrowheads="1"/>
            </p:cNvSpPr>
            <p:nvPr/>
          </p:nvSpPr>
          <p:spPr bwMode="auto">
            <a:xfrm>
              <a:off x="722" y="521"/>
              <a:ext cx="192"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2800" b="0" i="0" dirty="0">
                  <a:latin typeface="黑体" panose="02010609060101010101" pitchFamily="49" charset="-122"/>
                  <a:ea typeface="黑体" panose="02010609060101010101" pitchFamily="49" charset="-122"/>
                </a:rPr>
                <a:t>４</a:t>
              </a:r>
            </a:p>
          </p:txBody>
        </p:sp>
      </p:grpSp>
      <p:sp>
        <p:nvSpPr>
          <p:cNvPr id="2" name="Text Box 4">
            <a:extLst>
              <a:ext uri="{FF2B5EF4-FFF2-40B4-BE49-F238E27FC236}">
                <a16:creationId xmlns:a16="http://schemas.microsoft.com/office/drawing/2014/main" id="{013D46A6-0603-49AD-971F-486D14794402}"/>
              </a:ext>
            </a:extLst>
          </p:cNvPr>
          <p:cNvSpPr txBox="1">
            <a:spLocks noChangeArrowheads="1"/>
          </p:cNvSpPr>
          <p:nvPr/>
        </p:nvSpPr>
        <p:spPr bwMode="auto">
          <a:xfrm>
            <a:off x="439150" y="326871"/>
            <a:ext cx="8458200" cy="70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342900" indent="-342900" algn="ctr" eaLnBrk="1" hangingPunct="1">
              <a:lnSpc>
                <a:spcPct val="90000"/>
              </a:lnSpc>
              <a:buNone/>
            </a:pPr>
            <a:r>
              <a:rPr lang="zh-CN" altLang="en-US" sz="4400" i="0" dirty="0">
                <a:solidFill>
                  <a:schemeClr val="tx2"/>
                </a:solidFill>
                <a:ea typeface="隶书" pitchFamily="49" charset="-122"/>
              </a:rPr>
              <a:t>二、</a:t>
            </a:r>
            <a:r>
              <a:rPr lang="en-US" altLang="zh-CN" sz="4400" i="0" dirty="0">
                <a:solidFill>
                  <a:schemeClr val="tx2"/>
                </a:solidFill>
                <a:ea typeface="隶书" pitchFamily="49" charset="-122"/>
              </a:rPr>
              <a:t>Huffman</a:t>
            </a:r>
            <a:r>
              <a:rPr lang="zh-CN" altLang="en-US" sz="4400" i="0" dirty="0">
                <a:solidFill>
                  <a:schemeClr val="tx2"/>
                </a:solidFill>
                <a:ea typeface="隶书" pitchFamily="49" charset="-122"/>
              </a:rPr>
              <a:t>树构造</a:t>
            </a:r>
          </a:p>
        </p:txBody>
      </p:sp>
      <p:sp>
        <p:nvSpPr>
          <p:cNvPr id="4" name="文本框 3">
            <a:extLst>
              <a:ext uri="{FF2B5EF4-FFF2-40B4-BE49-F238E27FC236}">
                <a16:creationId xmlns:a16="http://schemas.microsoft.com/office/drawing/2014/main" id="{8759A65B-17C7-670D-65B5-DC558E03FEA8}"/>
              </a:ext>
            </a:extLst>
          </p:cNvPr>
          <p:cNvSpPr txBox="1"/>
          <p:nvPr/>
        </p:nvSpPr>
        <p:spPr>
          <a:xfrm>
            <a:off x="594115" y="3750449"/>
            <a:ext cx="4767199" cy="954107"/>
          </a:xfrm>
          <a:prstGeom prst="rect">
            <a:avLst/>
          </a:prstGeom>
          <a:noFill/>
        </p:spPr>
        <p:txBody>
          <a:bodyPr wrap="square" rtlCol="0">
            <a:spAutoFit/>
          </a:bodyPr>
          <a:lstStyle/>
          <a:p>
            <a:r>
              <a:rPr lang="zh-CN" altLang="en-US" sz="2800" b="0" i="0" dirty="0">
                <a:solidFill>
                  <a:srgbClr val="FF0000"/>
                </a:solidFill>
                <a:latin typeface="+mn-ea"/>
                <a:ea typeface="+mn-ea"/>
              </a:rPr>
              <a:t>贪心算法，从权值小的结点两两合并。</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830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830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830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1" name="Text Box 3">
            <a:extLst>
              <a:ext uri="{FF2B5EF4-FFF2-40B4-BE49-F238E27FC236}">
                <a16:creationId xmlns:a16="http://schemas.microsoft.com/office/drawing/2014/main" id="{00E00413-EE8E-47B4-8853-F59A113CA678}"/>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B5DF16DF-6964-4768-AD4C-101F468CE3D6}" type="slidenum">
              <a:rPr lang="zh-CN" altLang="en-US" sz="2400"/>
              <a:pPr algn="r" eaLnBrk="1" hangingPunct="1">
                <a:spcBef>
                  <a:spcPct val="50000"/>
                </a:spcBef>
                <a:buClrTx/>
                <a:buSzTx/>
                <a:buFont typeface="Arial" panose="020B0604020202020204" pitchFamily="34" charset="0"/>
                <a:buNone/>
              </a:pPr>
              <a:t>99</a:t>
            </a:fld>
            <a:endParaRPr lang="en-US" altLang="zh-CN" sz="2400"/>
          </a:p>
        </p:txBody>
      </p:sp>
      <p:sp>
        <p:nvSpPr>
          <p:cNvPr id="99333" name="Rectangle 5">
            <a:extLst>
              <a:ext uri="{FF2B5EF4-FFF2-40B4-BE49-F238E27FC236}">
                <a16:creationId xmlns:a16="http://schemas.microsoft.com/office/drawing/2014/main" id="{EA6BE7DA-6C85-492F-8322-D0BE3E5BDB05}"/>
              </a:ext>
            </a:extLst>
          </p:cNvPr>
          <p:cNvSpPr>
            <a:spLocks noGrp="1" noChangeArrowheads="1"/>
          </p:cNvSpPr>
          <p:nvPr>
            <p:ph type="body" idx="1"/>
          </p:nvPr>
        </p:nvSpPr>
        <p:spPr>
          <a:xfrm>
            <a:off x="539552" y="1371600"/>
            <a:ext cx="8763000" cy="4114800"/>
          </a:xfrm>
        </p:spPr>
        <p:txBody>
          <a:bodyPr/>
          <a:lstStyle/>
          <a:p>
            <a:pPr eaLnBrk="1" hangingPunct="1">
              <a:lnSpc>
                <a:spcPct val="90000"/>
              </a:lnSpc>
              <a:spcBef>
                <a:spcPct val="50000"/>
              </a:spcBef>
              <a:buFont typeface="Wingdings" panose="05000000000000000000" pitchFamily="2" charset="2"/>
              <a:buNone/>
            </a:pPr>
            <a:r>
              <a:rPr lang="zh-CN" altLang="en-US" sz="2800" b="1" dirty="0">
                <a:latin typeface="黑体" panose="02010609060101010101" pitchFamily="49" charset="-122"/>
                <a:ea typeface="黑体" panose="02010609060101010101" pitchFamily="49" charset="-122"/>
              </a:rPr>
              <a:t>1.</a:t>
            </a:r>
            <a:r>
              <a:rPr lang="zh-CN" altLang="en-US" sz="2800" dirty="0">
                <a:latin typeface="+mn-ea"/>
              </a:rPr>
              <a:t>根据给定的</a:t>
            </a:r>
            <a:r>
              <a:rPr lang="en-US" altLang="zh-CN" sz="2800" dirty="0">
                <a:latin typeface="+mn-ea"/>
              </a:rPr>
              <a:t>n</a:t>
            </a:r>
            <a:r>
              <a:rPr lang="zh-CN" altLang="en-US" sz="2800" dirty="0">
                <a:latin typeface="+mn-ea"/>
              </a:rPr>
              <a:t>个权值(</a:t>
            </a:r>
            <a:r>
              <a:rPr lang="en-US" altLang="zh-CN" sz="2800" dirty="0">
                <a:latin typeface="+mn-ea"/>
              </a:rPr>
              <a:t>w</a:t>
            </a:r>
            <a:r>
              <a:rPr lang="en-US" altLang="zh-CN" sz="2800" baseline="-25000" dirty="0">
                <a:latin typeface="+mn-ea"/>
              </a:rPr>
              <a:t>1</a:t>
            </a:r>
            <a:r>
              <a:rPr lang="en-US" altLang="zh-CN" sz="2800" dirty="0">
                <a:latin typeface="+mn-ea"/>
              </a:rPr>
              <a:t>, w</a:t>
            </a:r>
            <a:r>
              <a:rPr lang="en-US" altLang="zh-CN" sz="2800" baseline="-25000" dirty="0">
                <a:latin typeface="+mn-ea"/>
              </a:rPr>
              <a:t>2</a:t>
            </a:r>
            <a:r>
              <a:rPr lang="en-US" altLang="zh-CN" sz="2800" dirty="0">
                <a:latin typeface="+mn-ea"/>
              </a:rPr>
              <a:t>, …, </a:t>
            </a:r>
            <a:r>
              <a:rPr lang="en-US" altLang="zh-CN" sz="2800" dirty="0" err="1">
                <a:latin typeface="+mn-ea"/>
              </a:rPr>
              <a:t>w</a:t>
            </a:r>
            <a:r>
              <a:rPr lang="en-US" altLang="zh-CN" sz="2800" baseline="-25000" dirty="0" err="1">
                <a:latin typeface="+mn-ea"/>
              </a:rPr>
              <a:t>n</a:t>
            </a:r>
            <a:r>
              <a:rPr lang="en-US" altLang="zh-CN" sz="2800" dirty="0">
                <a:latin typeface="+mn-ea"/>
              </a:rPr>
              <a:t>)</a:t>
            </a:r>
            <a:r>
              <a:rPr lang="zh-CN" altLang="en-US" sz="2800" dirty="0">
                <a:latin typeface="+mn-ea"/>
              </a:rPr>
              <a:t>构成</a:t>
            </a:r>
            <a:r>
              <a:rPr lang="en-US" altLang="zh-CN" sz="2800" dirty="0">
                <a:latin typeface="+mn-ea"/>
              </a:rPr>
              <a:t>n</a:t>
            </a:r>
            <a:r>
              <a:rPr lang="zh-CN" altLang="en-US" sz="2800" dirty="0">
                <a:latin typeface="+mn-ea"/>
              </a:rPr>
              <a:t>棵二叉树的集合</a:t>
            </a:r>
            <a:r>
              <a:rPr lang="en-US" altLang="zh-CN" sz="2800" dirty="0">
                <a:latin typeface="+mn-ea"/>
              </a:rPr>
              <a:t>F={T</a:t>
            </a:r>
            <a:r>
              <a:rPr lang="en-US" altLang="zh-CN" sz="2800" baseline="-25000" dirty="0">
                <a:latin typeface="+mn-ea"/>
              </a:rPr>
              <a:t>1</a:t>
            </a:r>
            <a:r>
              <a:rPr lang="en-US" altLang="zh-CN" sz="2800" dirty="0">
                <a:latin typeface="+mn-ea"/>
              </a:rPr>
              <a:t>, T</a:t>
            </a:r>
            <a:r>
              <a:rPr lang="en-US" altLang="zh-CN" sz="2800" baseline="-25000" dirty="0">
                <a:latin typeface="+mn-ea"/>
              </a:rPr>
              <a:t>2</a:t>
            </a:r>
            <a:r>
              <a:rPr lang="en-US" altLang="zh-CN" sz="2800" dirty="0">
                <a:latin typeface="+mn-ea"/>
              </a:rPr>
              <a:t>, …, T</a:t>
            </a:r>
            <a:r>
              <a:rPr lang="en-US" altLang="zh-CN" sz="2800" baseline="-25000" dirty="0">
                <a:latin typeface="+mn-ea"/>
              </a:rPr>
              <a:t>n</a:t>
            </a:r>
            <a:r>
              <a:rPr lang="en-US" altLang="zh-CN" sz="2800" dirty="0">
                <a:latin typeface="+mn-ea"/>
              </a:rPr>
              <a:t>}，</a:t>
            </a:r>
            <a:r>
              <a:rPr lang="zh-CN" altLang="en-US" sz="2800" dirty="0">
                <a:latin typeface="+mn-ea"/>
              </a:rPr>
              <a:t>其中每棵二叉树</a:t>
            </a:r>
            <a:r>
              <a:rPr lang="en-US" altLang="zh-CN" sz="2800" dirty="0" err="1">
                <a:latin typeface="+mn-ea"/>
              </a:rPr>
              <a:t>T</a:t>
            </a:r>
            <a:r>
              <a:rPr lang="en-US" altLang="zh-CN" sz="2800" baseline="-25000" dirty="0" err="1">
                <a:latin typeface="+mn-ea"/>
              </a:rPr>
              <a:t>i</a:t>
            </a:r>
            <a:r>
              <a:rPr lang="zh-CN" altLang="en-US" sz="2800" dirty="0">
                <a:latin typeface="+mn-ea"/>
              </a:rPr>
              <a:t>中只有一个带权为</a:t>
            </a:r>
            <a:r>
              <a:rPr lang="en-US" altLang="zh-CN" sz="2800" dirty="0" err="1">
                <a:latin typeface="+mn-ea"/>
              </a:rPr>
              <a:t>w</a:t>
            </a:r>
            <a:r>
              <a:rPr lang="en-US" altLang="zh-CN" sz="2800" baseline="-25000" dirty="0" err="1">
                <a:latin typeface="+mn-ea"/>
              </a:rPr>
              <a:t>i</a:t>
            </a:r>
            <a:r>
              <a:rPr lang="zh-CN" altLang="en-US" sz="2800" dirty="0">
                <a:latin typeface="+mn-ea"/>
              </a:rPr>
              <a:t>的根结点，左右子树为空</a:t>
            </a:r>
            <a:endParaRPr lang="en-US" altLang="zh-CN" sz="2800" dirty="0">
              <a:latin typeface="+mn-ea"/>
            </a:endParaRPr>
          </a:p>
          <a:p>
            <a:pPr eaLnBrk="1" hangingPunct="1">
              <a:lnSpc>
                <a:spcPct val="90000"/>
              </a:lnSpc>
              <a:spcBef>
                <a:spcPct val="50000"/>
              </a:spcBef>
              <a:buFont typeface="Wingdings" panose="05000000000000000000" pitchFamily="2" charset="2"/>
              <a:buNone/>
            </a:pPr>
            <a:r>
              <a:rPr lang="zh-CN" altLang="en-US" sz="2800" dirty="0">
                <a:latin typeface="+mn-ea"/>
              </a:rPr>
              <a:t>2.在</a:t>
            </a:r>
            <a:r>
              <a:rPr lang="en-US" altLang="zh-CN" sz="2800" dirty="0">
                <a:latin typeface="+mn-ea"/>
              </a:rPr>
              <a:t>F</a:t>
            </a:r>
            <a:r>
              <a:rPr lang="zh-CN" altLang="en-US" sz="2800" dirty="0">
                <a:latin typeface="+mn-ea"/>
              </a:rPr>
              <a:t>中选取两棵根结点的权值最小的树作为左右子树构造一棵新的二叉树，且置其根结点的权值为其左右子树根结点的权值之和</a:t>
            </a:r>
          </a:p>
          <a:p>
            <a:pPr eaLnBrk="1" hangingPunct="1">
              <a:lnSpc>
                <a:spcPct val="90000"/>
              </a:lnSpc>
              <a:spcBef>
                <a:spcPct val="50000"/>
              </a:spcBef>
              <a:buFont typeface="Wingdings" panose="05000000000000000000" pitchFamily="2" charset="2"/>
              <a:buNone/>
            </a:pPr>
            <a:r>
              <a:rPr lang="zh-CN" altLang="en-US" sz="2800" dirty="0">
                <a:latin typeface="+mn-ea"/>
              </a:rPr>
              <a:t>3.在</a:t>
            </a:r>
            <a:r>
              <a:rPr lang="en-US" altLang="zh-CN" sz="2800" dirty="0">
                <a:latin typeface="+mn-ea"/>
              </a:rPr>
              <a:t>F</a:t>
            </a:r>
            <a:r>
              <a:rPr lang="zh-CN" altLang="en-US" sz="2800" dirty="0">
                <a:latin typeface="+mn-ea"/>
              </a:rPr>
              <a:t>中删除这两棵树，同时将新得到的二叉树加入</a:t>
            </a:r>
            <a:r>
              <a:rPr lang="en-US" altLang="zh-CN" sz="2800" dirty="0">
                <a:latin typeface="+mn-ea"/>
              </a:rPr>
              <a:t>F</a:t>
            </a:r>
            <a:r>
              <a:rPr lang="zh-CN" altLang="en-US" sz="2800" dirty="0">
                <a:latin typeface="+mn-ea"/>
              </a:rPr>
              <a:t>中</a:t>
            </a:r>
          </a:p>
          <a:p>
            <a:pPr eaLnBrk="1" hangingPunct="1">
              <a:lnSpc>
                <a:spcPct val="90000"/>
              </a:lnSpc>
              <a:spcBef>
                <a:spcPct val="50000"/>
              </a:spcBef>
              <a:buFont typeface="Wingdings" panose="05000000000000000000" pitchFamily="2" charset="2"/>
              <a:buNone/>
            </a:pPr>
            <a:r>
              <a:rPr lang="zh-CN" altLang="en-US" sz="2800" dirty="0">
                <a:latin typeface="+mn-ea"/>
              </a:rPr>
              <a:t>4.重复2, 3，直到</a:t>
            </a:r>
            <a:r>
              <a:rPr lang="en-US" altLang="zh-CN" sz="2800" dirty="0">
                <a:latin typeface="+mn-ea"/>
              </a:rPr>
              <a:t>F</a:t>
            </a:r>
            <a:r>
              <a:rPr lang="zh-CN" altLang="en-US" sz="2800" dirty="0">
                <a:latin typeface="+mn-ea"/>
              </a:rPr>
              <a:t>只含一棵树为止</a:t>
            </a:r>
          </a:p>
        </p:txBody>
      </p:sp>
      <p:sp>
        <p:nvSpPr>
          <p:cNvPr id="3" name="Text Box 4">
            <a:extLst>
              <a:ext uri="{FF2B5EF4-FFF2-40B4-BE49-F238E27FC236}">
                <a16:creationId xmlns:a16="http://schemas.microsoft.com/office/drawing/2014/main" id="{CFFB0F03-B2E0-5029-0166-88E0F1B3E2BB}"/>
              </a:ext>
            </a:extLst>
          </p:cNvPr>
          <p:cNvSpPr txBox="1">
            <a:spLocks noChangeArrowheads="1"/>
          </p:cNvSpPr>
          <p:nvPr/>
        </p:nvSpPr>
        <p:spPr bwMode="auto">
          <a:xfrm>
            <a:off x="439150" y="326871"/>
            <a:ext cx="8458200" cy="70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342900" indent="-342900" algn="ctr" eaLnBrk="1" hangingPunct="1">
              <a:lnSpc>
                <a:spcPct val="90000"/>
              </a:lnSpc>
              <a:buNone/>
            </a:pPr>
            <a:r>
              <a:rPr lang="zh-CN" altLang="en-US" sz="4400" i="0" dirty="0">
                <a:solidFill>
                  <a:schemeClr val="tx2"/>
                </a:solidFill>
                <a:ea typeface="隶书" pitchFamily="49" charset="-122"/>
              </a:rPr>
              <a:t>二、</a:t>
            </a:r>
            <a:r>
              <a:rPr lang="en-US" altLang="zh-CN" sz="4400" i="0" dirty="0">
                <a:solidFill>
                  <a:schemeClr val="tx2"/>
                </a:solidFill>
                <a:ea typeface="隶书" pitchFamily="49" charset="-122"/>
              </a:rPr>
              <a:t>Huffman</a:t>
            </a:r>
            <a:r>
              <a:rPr lang="zh-CN" altLang="en-US" sz="4400" i="0" dirty="0">
                <a:solidFill>
                  <a:schemeClr val="tx2"/>
                </a:solidFill>
                <a:ea typeface="隶书" pitchFamily="49" charset="-122"/>
              </a:rPr>
              <a:t>树构造算法</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933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933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933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933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5" name="Text Box 3">
            <a:extLst>
              <a:ext uri="{FF2B5EF4-FFF2-40B4-BE49-F238E27FC236}">
                <a16:creationId xmlns:a16="http://schemas.microsoft.com/office/drawing/2014/main" id="{BE49FAB0-2A72-4756-B8B6-A67C814FCA07}"/>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EDD37127-9E4B-464F-B259-D7E75F6E3A47}" type="slidenum">
              <a:rPr lang="zh-CN" altLang="en-US" sz="2400"/>
              <a:pPr algn="r" eaLnBrk="1" hangingPunct="1">
                <a:spcBef>
                  <a:spcPct val="50000"/>
                </a:spcBef>
                <a:buClrTx/>
                <a:buSzTx/>
                <a:buFont typeface="Arial" panose="020B0604020202020204" pitchFamily="34" charset="0"/>
                <a:buNone/>
              </a:pPr>
              <a:t>100</a:t>
            </a:fld>
            <a:endParaRPr lang="en-US" altLang="zh-CN" sz="2400"/>
          </a:p>
        </p:txBody>
      </p:sp>
      <p:sp>
        <p:nvSpPr>
          <p:cNvPr id="100356" name="Text Box 4">
            <a:extLst>
              <a:ext uri="{FF2B5EF4-FFF2-40B4-BE49-F238E27FC236}">
                <a16:creationId xmlns:a16="http://schemas.microsoft.com/office/drawing/2014/main" id="{AD319642-D4D2-445B-B601-05828F5450BE}"/>
              </a:ext>
            </a:extLst>
          </p:cNvPr>
          <p:cNvSpPr txBox="1">
            <a:spLocks noChangeArrowheads="1"/>
          </p:cNvSpPr>
          <p:nvPr/>
        </p:nvSpPr>
        <p:spPr bwMode="auto">
          <a:xfrm>
            <a:off x="457200" y="211287"/>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二、</a:t>
            </a:r>
            <a:r>
              <a:rPr lang="en-US" altLang="zh-CN" sz="4400" i="0" dirty="0">
                <a:solidFill>
                  <a:schemeClr val="tx2"/>
                </a:solidFill>
                <a:ea typeface="隶书" pitchFamily="49" charset="-122"/>
              </a:rPr>
              <a:t>Huffman</a:t>
            </a:r>
            <a:r>
              <a:rPr lang="zh-CN" altLang="en-US" sz="4400" i="0" dirty="0">
                <a:solidFill>
                  <a:schemeClr val="tx2"/>
                </a:solidFill>
                <a:ea typeface="隶书" pitchFamily="49" charset="-122"/>
              </a:rPr>
              <a:t>树构造举例</a:t>
            </a:r>
          </a:p>
        </p:txBody>
      </p:sp>
      <p:sp>
        <p:nvSpPr>
          <p:cNvPr id="100359" name="Text Box 7">
            <a:extLst>
              <a:ext uri="{FF2B5EF4-FFF2-40B4-BE49-F238E27FC236}">
                <a16:creationId xmlns:a16="http://schemas.microsoft.com/office/drawing/2014/main" id="{16DD008F-8077-4006-8FEA-7B68B9CBD202}"/>
              </a:ext>
            </a:extLst>
          </p:cNvPr>
          <p:cNvSpPr txBox="1">
            <a:spLocks noChangeArrowheads="1"/>
          </p:cNvSpPr>
          <p:nvPr/>
        </p:nvSpPr>
        <p:spPr bwMode="auto">
          <a:xfrm>
            <a:off x="1188346" y="1505140"/>
            <a:ext cx="2438296"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b="1" i="0" dirty="0">
                <a:latin typeface="Times New Roman" panose="02020603050405020304" pitchFamily="18" charset="0"/>
              </a:rPr>
              <a:t>F : {7} {5} {2} {4}</a:t>
            </a:r>
            <a:endParaRPr lang="en-US" altLang="zh-CN" sz="2400" i="0" dirty="0">
              <a:latin typeface="Times New Roman" panose="02020603050405020304" pitchFamily="18" charset="0"/>
            </a:endParaRPr>
          </a:p>
        </p:txBody>
      </p:sp>
      <p:sp>
        <p:nvSpPr>
          <p:cNvPr id="100360" name="Text Box 8">
            <a:extLst>
              <a:ext uri="{FF2B5EF4-FFF2-40B4-BE49-F238E27FC236}">
                <a16:creationId xmlns:a16="http://schemas.microsoft.com/office/drawing/2014/main" id="{51BBA108-D9ED-49EE-A98B-A9E89B73F02B}"/>
              </a:ext>
            </a:extLst>
          </p:cNvPr>
          <p:cNvSpPr txBox="1">
            <a:spLocks noChangeArrowheads="1"/>
          </p:cNvSpPr>
          <p:nvPr/>
        </p:nvSpPr>
        <p:spPr bwMode="auto">
          <a:xfrm>
            <a:off x="4800616" y="1505140"/>
            <a:ext cx="1963807"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b="1" i="0" dirty="0">
                <a:latin typeface="Times New Roman" panose="02020603050405020304" pitchFamily="18" charset="0"/>
              </a:rPr>
              <a:t>F : {7} {5} {6}</a:t>
            </a:r>
            <a:endParaRPr lang="en-US" altLang="zh-CN" sz="2400" i="0" dirty="0">
              <a:latin typeface="Times New Roman" panose="02020603050405020304" pitchFamily="18" charset="0"/>
            </a:endParaRPr>
          </a:p>
        </p:txBody>
      </p:sp>
      <p:sp>
        <p:nvSpPr>
          <p:cNvPr id="100361" name="Text Box 9">
            <a:extLst>
              <a:ext uri="{FF2B5EF4-FFF2-40B4-BE49-F238E27FC236}">
                <a16:creationId xmlns:a16="http://schemas.microsoft.com/office/drawing/2014/main" id="{5C0FA800-7D2B-4CFB-9489-A42AEB2039A9}"/>
              </a:ext>
            </a:extLst>
          </p:cNvPr>
          <p:cNvSpPr txBox="1">
            <a:spLocks noChangeArrowheads="1"/>
          </p:cNvSpPr>
          <p:nvPr/>
        </p:nvSpPr>
        <p:spPr bwMode="auto">
          <a:xfrm>
            <a:off x="1088395" y="3140265"/>
            <a:ext cx="1703159"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b="1" i="0" dirty="0">
                <a:latin typeface="Times New Roman" panose="02020603050405020304" pitchFamily="18" charset="0"/>
              </a:rPr>
              <a:t>F : {7} {11} </a:t>
            </a:r>
            <a:endParaRPr lang="en-US" altLang="zh-CN" sz="2400" i="0" dirty="0">
              <a:latin typeface="Times New Roman" panose="02020603050405020304" pitchFamily="18" charset="0"/>
            </a:endParaRPr>
          </a:p>
        </p:txBody>
      </p:sp>
      <p:grpSp>
        <p:nvGrpSpPr>
          <p:cNvPr id="2" name="组合 1">
            <a:extLst>
              <a:ext uri="{FF2B5EF4-FFF2-40B4-BE49-F238E27FC236}">
                <a16:creationId xmlns:a16="http://schemas.microsoft.com/office/drawing/2014/main" id="{2711BD51-51DC-850E-48CB-732FB0F4D103}"/>
              </a:ext>
            </a:extLst>
          </p:cNvPr>
          <p:cNvGrpSpPr/>
          <p:nvPr/>
        </p:nvGrpSpPr>
        <p:grpSpPr>
          <a:xfrm>
            <a:off x="1371650" y="2136965"/>
            <a:ext cx="2179638" cy="469603"/>
            <a:chOff x="1496268" y="2586385"/>
            <a:chExt cx="2179638" cy="469603"/>
          </a:xfrm>
        </p:grpSpPr>
        <p:sp>
          <p:nvSpPr>
            <p:cNvPr id="100362" name="Rectangle 10">
              <a:extLst>
                <a:ext uri="{FF2B5EF4-FFF2-40B4-BE49-F238E27FC236}">
                  <a16:creationId xmlns:a16="http://schemas.microsoft.com/office/drawing/2014/main" id="{0FE9F10B-9DFA-4FCA-8B3A-DA0DC7738713}"/>
                </a:ext>
              </a:extLst>
            </p:cNvPr>
            <p:cNvSpPr>
              <a:spLocks noChangeArrowheads="1"/>
            </p:cNvSpPr>
            <p:nvPr/>
          </p:nvSpPr>
          <p:spPr bwMode="auto">
            <a:xfrm>
              <a:off x="1496268" y="2682280"/>
              <a:ext cx="374650" cy="282575"/>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100363" name="Rectangle 11">
              <a:extLst>
                <a:ext uri="{FF2B5EF4-FFF2-40B4-BE49-F238E27FC236}">
                  <a16:creationId xmlns:a16="http://schemas.microsoft.com/office/drawing/2014/main" id="{5A642342-A493-42B2-9592-6E1204DADFBA}"/>
                </a:ext>
              </a:extLst>
            </p:cNvPr>
            <p:cNvSpPr>
              <a:spLocks noChangeArrowheads="1"/>
            </p:cNvSpPr>
            <p:nvPr/>
          </p:nvSpPr>
          <p:spPr bwMode="auto">
            <a:xfrm>
              <a:off x="2096343" y="2682280"/>
              <a:ext cx="376238" cy="282575"/>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100364" name="Rectangle 12">
              <a:extLst>
                <a:ext uri="{FF2B5EF4-FFF2-40B4-BE49-F238E27FC236}">
                  <a16:creationId xmlns:a16="http://schemas.microsoft.com/office/drawing/2014/main" id="{8FDFD5CA-D5D7-4D83-90AB-A1BA2AFDAA1D}"/>
                </a:ext>
              </a:extLst>
            </p:cNvPr>
            <p:cNvSpPr>
              <a:spLocks noChangeArrowheads="1"/>
            </p:cNvSpPr>
            <p:nvPr/>
          </p:nvSpPr>
          <p:spPr bwMode="auto">
            <a:xfrm>
              <a:off x="2698005" y="2682280"/>
              <a:ext cx="376238" cy="282575"/>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100365" name="Rectangle 13">
              <a:extLst>
                <a:ext uri="{FF2B5EF4-FFF2-40B4-BE49-F238E27FC236}">
                  <a16:creationId xmlns:a16="http://schemas.microsoft.com/office/drawing/2014/main" id="{31C33A14-FEB4-4590-AE31-F54B2E594CF7}"/>
                </a:ext>
              </a:extLst>
            </p:cNvPr>
            <p:cNvSpPr>
              <a:spLocks noChangeArrowheads="1"/>
            </p:cNvSpPr>
            <p:nvPr/>
          </p:nvSpPr>
          <p:spPr bwMode="auto">
            <a:xfrm>
              <a:off x="3299668" y="2682280"/>
              <a:ext cx="376238" cy="282575"/>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100366" name="Text Box 14">
              <a:extLst>
                <a:ext uri="{FF2B5EF4-FFF2-40B4-BE49-F238E27FC236}">
                  <a16:creationId xmlns:a16="http://schemas.microsoft.com/office/drawing/2014/main" id="{2220370B-5E7E-4105-8E76-425830433A48}"/>
                </a:ext>
              </a:extLst>
            </p:cNvPr>
            <p:cNvSpPr txBox="1">
              <a:spLocks noChangeArrowheads="1"/>
            </p:cNvSpPr>
            <p:nvPr/>
          </p:nvSpPr>
          <p:spPr bwMode="auto">
            <a:xfrm>
              <a:off x="1505585" y="2594323"/>
              <a:ext cx="338555"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a:latin typeface="Times New Roman" panose="02020603050405020304" pitchFamily="18" charset="0"/>
                </a:rPr>
                <a:t>7</a:t>
              </a:r>
              <a:endParaRPr lang="zh-CN" altLang="en-US" sz="2400" i="0">
                <a:latin typeface="Times New Roman" panose="02020603050405020304" pitchFamily="18" charset="0"/>
              </a:endParaRPr>
            </a:p>
          </p:txBody>
        </p:sp>
        <p:sp>
          <p:nvSpPr>
            <p:cNvPr id="100367" name="Text Box 15">
              <a:extLst>
                <a:ext uri="{FF2B5EF4-FFF2-40B4-BE49-F238E27FC236}">
                  <a16:creationId xmlns:a16="http://schemas.microsoft.com/office/drawing/2014/main" id="{32BBA651-DD35-4698-AF31-80877753CF39}"/>
                </a:ext>
              </a:extLst>
            </p:cNvPr>
            <p:cNvSpPr txBox="1">
              <a:spLocks noChangeArrowheads="1"/>
            </p:cNvSpPr>
            <p:nvPr/>
          </p:nvSpPr>
          <p:spPr bwMode="auto">
            <a:xfrm>
              <a:off x="2123123" y="2586386"/>
              <a:ext cx="338555"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a:latin typeface="Times New Roman" panose="02020603050405020304" pitchFamily="18" charset="0"/>
                </a:rPr>
                <a:t>5</a:t>
              </a:r>
              <a:endParaRPr lang="zh-CN" altLang="en-US" sz="2400" i="0">
                <a:latin typeface="Times New Roman" panose="02020603050405020304" pitchFamily="18" charset="0"/>
              </a:endParaRPr>
            </a:p>
          </p:txBody>
        </p:sp>
        <p:sp>
          <p:nvSpPr>
            <p:cNvPr id="100368" name="Text Box 16">
              <a:extLst>
                <a:ext uri="{FF2B5EF4-FFF2-40B4-BE49-F238E27FC236}">
                  <a16:creationId xmlns:a16="http://schemas.microsoft.com/office/drawing/2014/main" id="{3B596443-218B-459A-923C-2DFD4C28229A}"/>
                </a:ext>
              </a:extLst>
            </p:cNvPr>
            <p:cNvSpPr txBox="1">
              <a:spLocks noChangeArrowheads="1"/>
            </p:cNvSpPr>
            <p:nvPr/>
          </p:nvSpPr>
          <p:spPr bwMode="auto">
            <a:xfrm>
              <a:off x="2723991" y="2586385"/>
              <a:ext cx="338554"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a:latin typeface="Times New Roman" panose="02020603050405020304" pitchFamily="18" charset="0"/>
                </a:rPr>
                <a:t>2</a:t>
              </a:r>
              <a:endParaRPr lang="zh-CN" altLang="en-US" sz="2400" i="0">
                <a:latin typeface="Times New Roman" panose="02020603050405020304" pitchFamily="18" charset="0"/>
              </a:endParaRPr>
            </a:p>
          </p:txBody>
        </p:sp>
        <p:sp>
          <p:nvSpPr>
            <p:cNvPr id="100369" name="Text Box 17">
              <a:extLst>
                <a:ext uri="{FF2B5EF4-FFF2-40B4-BE49-F238E27FC236}">
                  <a16:creationId xmlns:a16="http://schemas.microsoft.com/office/drawing/2014/main" id="{2D9DF733-99F7-422C-AB70-537C53B026B2}"/>
                </a:ext>
              </a:extLst>
            </p:cNvPr>
            <p:cNvSpPr txBox="1">
              <a:spLocks noChangeArrowheads="1"/>
            </p:cNvSpPr>
            <p:nvPr/>
          </p:nvSpPr>
          <p:spPr bwMode="auto">
            <a:xfrm>
              <a:off x="3327241" y="2586385"/>
              <a:ext cx="338554"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a:latin typeface="Times New Roman" panose="02020603050405020304" pitchFamily="18" charset="0"/>
                </a:rPr>
                <a:t>4</a:t>
              </a:r>
              <a:endParaRPr lang="zh-CN" altLang="en-US" sz="2400" i="0">
                <a:latin typeface="Times New Roman" panose="02020603050405020304" pitchFamily="18" charset="0"/>
              </a:endParaRPr>
            </a:p>
          </p:txBody>
        </p:sp>
      </p:grpSp>
      <p:sp>
        <p:nvSpPr>
          <p:cNvPr id="100370" name="Text Box 18">
            <a:extLst>
              <a:ext uri="{FF2B5EF4-FFF2-40B4-BE49-F238E27FC236}">
                <a16:creationId xmlns:a16="http://schemas.microsoft.com/office/drawing/2014/main" id="{C0B2FC01-24E3-4CB4-9479-4CFCF0D57ED8}"/>
              </a:ext>
            </a:extLst>
          </p:cNvPr>
          <p:cNvSpPr txBox="1">
            <a:spLocks noChangeArrowheads="1"/>
          </p:cNvSpPr>
          <p:nvPr/>
        </p:nvSpPr>
        <p:spPr bwMode="auto">
          <a:xfrm>
            <a:off x="2133575" y="2630679"/>
            <a:ext cx="803425"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i="0" dirty="0">
                <a:latin typeface="Times New Roman" panose="02020603050405020304" pitchFamily="18" charset="0"/>
                <a:ea typeface="隶书" panose="02010509060101010101" pitchFamily="49" charset="-122"/>
              </a:rPr>
              <a:t>初始</a:t>
            </a:r>
            <a:endParaRPr lang="zh-CN" altLang="en-US" sz="2400" i="0" dirty="0">
              <a:latin typeface="Times New Roman" panose="02020603050405020304" pitchFamily="18" charset="0"/>
            </a:endParaRPr>
          </a:p>
        </p:txBody>
      </p:sp>
      <p:sp>
        <p:nvSpPr>
          <p:cNvPr id="100371" name="Text Box 19">
            <a:extLst>
              <a:ext uri="{FF2B5EF4-FFF2-40B4-BE49-F238E27FC236}">
                <a16:creationId xmlns:a16="http://schemas.microsoft.com/office/drawing/2014/main" id="{5755F4E9-244B-41C8-BBFA-731FEB575206}"/>
              </a:ext>
            </a:extLst>
          </p:cNvPr>
          <p:cNvSpPr txBox="1">
            <a:spLocks noChangeArrowheads="1"/>
          </p:cNvSpPr>
          <p:nvPr/>
        </p:nvSpPr>
        <p:spPr bwMode="auto">
          <a:xfrm>
            <a:off x="5653608" y="2856104"/>
            <a:ext cx="1675459"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i="0" dirty="0">
                <a:latin typeface="Times New Roman" panose="02020603050405020304" pitchFamily="18" charset="0"/>
                <a:ea typeface="隶书" panose="02010509060101010101" pitchFamily="49" charset="-122"/>
              </a:rPr>
              <a:t>合并</a:t>
            </a:r>
            <a:r>
              <a:rPr lang="zh-CN" altLang="en-US" sz="2400" b="1" i="0" dirty="0">
                <a:latin typeface="Times New Roman" panose="02020603050405020304" pitchFamily="18" charset="0"/>
              </a:rPr>
              <a:t>{2} {4}</a:t>
            </a:r>
            <a:endParaRPr lang="zh-CN" altLang="en-US" sz="2400" i="0" dirty="0">
              <a:latin typeface="Times New Roman" panose="02020603050405020304" pitchFamily="18" charset="0"/>
            </a:endParaRPr>
          </a:p>
        </p:txBody>
      </p:sp>
      <p:grpSp>
        <p:nvGrpSpPr>
          <p:cNvPr id="100372" name="Group 20">
            <a:extLst>
              <a:ext uri="{FF2B5EF4-FFF2-40B4-BE49-F238E27FC236}">
                <a16:creationId xmlns:a16="http://schemas.microsoft.com/office/drawing/2014/main" id="{47FB2C20-2973-4A4F-9102-64BC944EB185}"/>
              </a:ext>
            </a:extLst>
          </p:cNvPr>
          <p:cNvGrpSpPr>
            <a:grpSpLocks/>
          </p:cNvGrpSpPr>
          <p:nvPr/>
        </p:nvGrpSpPr>
        <p:grpSpPr bwMode="auto">
          <a:xfrm>
            <a:off x="5580112" y="1988840"/>
            <a:ext cx="2105025" cy="1012330"/>
            <a:chOff x="0" y="-28"/>
            <a:chExt cx="1344" cy="862"/>
          </a:xfrm>
        </p:grpSpPr>
        <p:sp>
          <p:nvSpPr>
            <p:cNvPr id="100411" name="Line 21">
              <a:extLst>
                <a:ext uri="{FF2B5EF4-FFF2-40B4-BE49-F238E27FC236}">
                  <a16:creationId xmlns:a16="http://schemas.microsoft.com/office/drawing/2014/main" id="{BE3DD308-EA43-4503-B498-385385C417FC}"/>
                </a:ext>
              </a:extLst>
            </p:cNvPr>
            <p:cNvSpPr>
              <a:spLocks noChangeShapeType="1"/>
            </p:cNvSpPr>
            <p:nvPr/>
          </p:nvSpPr>
          <p:spPr bwMode="auto">
            <a:xfrm>
              <a:off x="1056" y="276"/>
              <a:ext cx="144" cy="288"/>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i="0"/>
            </a:p>
          </p:txBody>
        </p:sp>
        <p:sp>
          <p:nvSpPr>
            <p:cNvPr id="100412" name="Line 22">
              <a:extLst>
                <a:ext uri="{FF2B5EF4-FFF2-40B4-BE49-F238E27FC236}">
                  <a16:creationId xmlns:a16="http://schemas.microsoft.com/office/drawing/2014/main" id="{903BE391-ACE9-47F7-8D20-9BEE201B515E}"/>
                </a:ext>
              </a:extLst>
            </p:cNvPr>
            <p:cNvSpPr>
              <a:spLocks noChangeShapeType="1"/>
            </p:cNvSpPr>
            <p:nvPr/>
          </p:nvSpPr>
          <p:spPr bwMode="auto">
            <a:xfrm flipH="1">
              <a:off x="816" y="276"/>
              <a:ext cx="144" cy="288"/>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i="0"/>
            </a:p>
          </p:txBody>
        </p:sp>
        <p:sp>
          <p:nvSpPr>
            <p:cNvPr id="100413" name="Rectangle 23">
              <a:extLst>
                <a:ext uri="{FF2B5EF4-FFF2-40B4-BE49-F238E27FC236}">
                  <a16:creationId xmlns:a16="http://schemas.microsoft.com/office/drawing/2014/main" id="{FDBEF009-82A9-4F0B-9DA5-4532C27C213D}"/>
                </a:ext>
              </a:extLst>
            </p:cNvPr>
            <p:cNvSpPr>
              <a:spLocks noChangeArrowheads="1"/>
            </p:cNvSpPr>
            <p:nvPr/>
          </p:nvSpPr>
          <p:spPr bwMode="auto">
            <a:xfrm>
              <a:off x="0" y="84"/>
              <a:ext cx="240" cy="240"/>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100414" name="Rectangle 24">
              <a:extLst>
                <a:ext uri="{FF2B5EF4-FFF2-40B4-BE49-F238E27FC236}">
                  <a16:creationId xmlns:a16="http://schemas.microsoft.com/office/drawing/2014/main" id="{8A2B6BCC-E5B4-40CE-8008-B580E0F2E711}"/>
                </a:ext>
              </a:extLst>
            </p:cNvPr>
            <p:cNvSpPr>
              <a:spLocks noChangeArrowheads="1"/>
            </p:cNvSpPr>
            <p:nvPr/>
          </p:nvSpPr>
          <p:spPr bwMode="auto">
            <a:xfrm>
              <a:off x="384" y="84"/>
              <a:ext cx="240" cy="240"/>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100415" name="Rectangle 25">
              <a:extLst>
                <a:ext uri="{FF2B5EF4-FFF2-40B4-BE49-F238E27FC236}">
                  <a16:creationId xmlns:a16="http://schemas.microsoft.com/office/drawing/2014/main" id="{B804E4F4-A5B7-48E0-8D1B-EFEFA3CF6A53}"/>
                </a:ext>
              </a:extLst>
            </p:cNvPr>
            <p:cNvSpPr>
              <a:spLocks noChangeArrowheads="1"/>
            </p:cNvSpPr>
            <p:nvPr/>
          </p:nvSpPr>
          <p:spPr bwMode="auto">
            <a:xfrm>
              <a:off x="672" y="516"/>
              <a:ext cx="240" cy="240"/>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100416" name="Rectangle 26">
              <a:extLst>
                <a:ext uri="{FF2B5EF4-FFF2-40B4-BE49-F238E27FC236}">
                  <a16:creationId xmlns:a16="http://schemas.microsoft.com/office/drawing/2014/main" id="{7FACFD54-27F5-4C9B-B05C-C46FE0630A23}"/>
                </a:ext>
              </a:extLst>
            </p:cNvPr>
            <p:cNvSpPr>
              <a:spLocks noChangeArrowheads="1"/>
            </p:cNvSpPr>
            <p:nvPr/>
          </p:nvSpPr>
          <p:spPr bwMode="auto">
            <a:xfrm>
              <a:off x="1104" y="516"/>
              <a:ext cx="240" cy="240"/>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100417" name="Oval 27">
              <a:extLst>
                <a:ext uri="{FF2B5EF4-FFF2-40B4-BE49-F238E27FC236}">
                  <a16:creationId xmlns:a16="http://schemas.microsoft.com/office/drawing/2014/main" id="{A8B944A0-189E-4ABB-8843-79F5D29EE286}"/>
                </a:ext>
              </a:extLst>
            </p:cNvPr>
            <p:cNvSpPr>
              <a:spLocks noChangeArrowheads="1"/>
            </p:cNvSpPr>
            <p:nvPr/>
          </p:nvSpPr>
          <p:spPr bwMode="auto">
            <a:xfrm>
              <a:off x="864" y="36"/>
              <a:ext cx="288" cy="288"/>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100418" name="Text Box 28">
              <a:extLst>
                <a:ext uri="{FF2B5EF4-FFF2-40B4-BE49-F238E27FC236}">
                  <a16:creationId xmlns:a16="http://schemas.microsoft.com/office/drawing/2014/main" id="{7175B488-CD61-49AB-BD2D-C25E47141A3F}"/>
                </a:ext>
              </a:extLst>
            </p:cNvPr>
            <p:cNvSpPr txBox="1">
              <a:spLocks noChangeArrowheads="1"/>
            </p:cNvSpPr>
            <p:nvPr/>
          </p:nvSpPr>
          <p:spPr bwMode="auto">
            <a:xfrm>
              <a:off x="15" y="10"/>
              <a:ext cx="216" cy="3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dirty="0">
                  <a:latin typeface="Times New Roman" panose="02020603050405020304" pitchFamily="18" charset="0"/>
                </a:rPr>
                <a:t>7</a:t>
              </a:r>
              <a:endParaRPr lang="zh-CN" altLang="en-US" sz="2400" i="0" dirty="0">
                <a:latin typeface="Times New Roman" panose="02020603050405020304" pitchFamily="18" charset="0"/>
              </a:endParaRPr>
            </a:p>
          </p:txBody>
        </p:sp>
        <p:sp>
          <p:nvSpPr>
            <p:cNvPr id="100419" name="Text Box 29">
              <a:extLst>
                <a:ext uri="{FF2B5EF4-FFF2-40B4-BE49-F238E27FC236}">
                  <a16:creationId xmlns:a16="http://schemas.microsoft.com/office/drawing/2014/main" id="{77B8C76E-D2F5-4DCC-956E-DFDED0834C72}"/>
                </a:ext>
              </a:extLst>
            </p:cNvPr>
            <p:cNvSpPr txBox="1">
              <a:spLocks noChangeArrowheads="1"/>
            </p:cNvSpPr>
            <p:nvPr/>
          </p:nvSpPr>
          <p:spPr bwMode="auto">
            <a:xfrm>
              <a:off x="401" y="2"/>
              <a:ext cx="216" cy="3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a:latin typeface="Times New Roman" panose="02020603050405020304" pitchFamily="18" charset="0"/>
                </a:rPr>
                <a:t>5</a:t>
              </a:r>
              <a:endParaRPr lang="zh-CN" altLang="en-US" sz="2400" i="0">
                <a:latin typeface="Times New Roman" panose="02020603050405020304" pitchFamily="18" charset="0"/>
              </a:endParaRPr>
            </a:p>
          </p:txBody>
        </p:sp>
        <p:sp>
          <p:nvSpPr>
            <p:cNvPr id="100420" name="Text Box 30">
              <a:extLst>
                <a:ext uri="{FF2B5EF4-FFF2-40B4-BE49-F238E27FC236}">
                  <a16:creationId xmlns:a16="http://schemas.microsoft.com/office/drawing/2014/main" id="{FFDD78BA-2C7C-4DAF-A74A-68728C8EE17F}"/>
                </a:ext>
              </a:extLst>
            </p:cNvPr>
            <p:cNvSpPr txBox="1">
              <a:spLocks noChangeArrowheads="1"/>
            </p:cNvSpPr>
            <p:nvPr/>
          </p:nvSpPr>
          <p:spPr bwMode="auto">
            <a:xfrm>
              <a:off x="676" y="441"/>
              <a:ext cx="216" cy="3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a:latin typeface="Times New Roman" panose="02020603050405020304" pitchFamily="18" charset="0"/>
                </a:rPr>
                <a:t>2</a:t>
              </a:r>
              <a:endParaRPr lang="zh-CN" altLang="en-US" sz="2400" i="0">
                <a:latin typeface="Times New Roman" panose="02020603050405020304" pitchFamily="18" charset="0"/>
              </a:endParaRPr>
            </a:p>
          </p:txBody>
        </p:sp>
        <p:sp>
          <p:nvSpPr>
            <p:cNvPr id="100421" name="Text Box 31">
              <a:extLst>
                <a:ext uri="{FF2B5EF4-FFF2-40B4-BE49-F238E27FC236}">
                  <a16:creationId xmlns:a16="http://schemas.microsoft.com/office/drawing/2014/main" id="{F240D7AB-EF75-4C3D-A1EF-88B6042DA0A5}"/>
                </a:ext>
              </a:extLst>
            </p:cNvPr>
            <p:cNvSpPr txBox="1">
              <a:spLocks noChangeArrowheads="1"/>
            </p:cNvSpPr>
            <p:nvPr/>
          </p:nvSpPr>
          <p:spPr bwMode="auto">
            <a:xfrm>
              <a:off x="1121" y="441"/>
              <a:ext cx="216" cy="3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a:latin typeface="Times New Roman" panose="02020603050405020304" pitchFamily="18" charset="0"/>
                </a:rPr>
                <a:t>4</a:t>
              </a:r>
              <a:endParaRPr lang="zh-CN" altLang="en-US" sz="2400" i="0">
                <a:latin typeface="Times New Roman" panose="02020603050405020304" pitchFamily="18" charset="0"/>
              </a:endParaRPr>
            </a:p>
          </p:txBody>
        </p:sp>
        <p:sp>
          <p:nvSpPr>
            <p:cNvPr id="100422" name="Text Box 32">
              <a:extLst>
                <a:ext uri="{FF2B5EF4-FFF2-40B4-BE49-F238E27FC236}">
                  <a16:creationId xmlns:a16="http://schemas.microsoft.com/office/drawing/2014/main" id="{9297EDBE-039A-4F63-841A-3989ED32B801}"/>
                </a:ext>
              </a:extLst>
            </p:cNvPr>
            <p:cNvSpPr txBox="1">
              <a:spLocks noChangeArrowheads="1"/>
            </p:cNvSpPr>
            <p:nvPr/>
          </p:nvSpPr>
          <p:spPr bwMode="auto">
            <a:xfrm>
              <a:off x="878" y="-28"/>
              <a:ext cx="216" cy="3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a:latin typeface="Times New Roman" panose="02020603050405020304" pitchFamily="18" charset="0"/>
                </a:rPr>
                <a:t>6</a:t>
              </a:r>
              <a:endParaRPr lang="zh-CN" altLang="en-US" sz="2400" i="0">
                <a:latin typeface="Times New Roman" panose="02020603050405020304" pitchFamily="18" charset="0"/>
              </a:endParaRPr>
            </a:p>
          </p:txBody>
        </p:sp>
      </p:grpSp>
      <p:sp>
        <p:nvSpPr>
          <p:cNvPr id="100373" name="Text Box 33">
            <a:extLst>
              <a:ext uri="{FF2B5EF4-FFF2-40B4-BE49-F238E27FC236}">
                <a16:creationId xmlns:a16="http://schemas.microsoft.com/office/drawing/2014/main" id="{E3CD35BD-BE9F-4C97-97E2-09B321F1F636}"/>
              </a:ext>
            </a:extLst>
          </p:cNvPr>
          <p:cNvSpPr txBox="1">
            <a:spLocks noChangeArrowheads="1"/>
          </p:cNvSpPr>
          <p:nvPr/>
        </p:nvSpPr>
        <p:spPr bwMode="auto">
          <a:xfrm>
            <a:off x="4694550" y="3308540"/>
            <a:ext cx="1245662"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b="1" i="0" dirty="0">
                <a:latin typeface="Times New Roman" panose="02020603050405020304" pitchFamily="18" charset="0"/>
              </a:rPr>
              <a:t>F : {18} </a:t>
            </a:r>
            <a:endParaRPr lang="en-US" altLang="zh-CN" sz="2400" i="0" dirty="0">
              <a:latin typeface="Times New Roman" panose="02020603050405020304" pitchFamily="18" charset="0"/>
            </a:endParaRPr>
          </a:p>
        </p:txBody>
      </p:sp>
      <p:grpSp>
        <p:nvGrpSpPr>
          <p:cNvPr id="3" name="组合 2">
            <a:extLst>
              <a:ext uri="{FF2B5EF4-FFF2-40B4-BE49-F238E27FC236}">
                <a16:creationId xmlns:a16="http://schemas.microsoft.com/office/drawing/2014/main" id="{7B101D6F-5D5F-511D-5F14-3D96A1200436}"/>
              </a:ext>
            </a:extLst>
          </p:cNvPr>
          <p:cNvGrpSpPr/>
          <p:nvPr/>
        </p:nvGrpSpPr>
        <p:grpSpPr>
          <a:xfrm>
            <a:off x="1446262" y="3607635"/>
            <a:ext cx="2028825" cy="1435746"/>
            <a:chOff x="1570880" y="4057055"/>
            <a:chExt cx="2028825" cy="1435746"/>
          </a:xfrm>
        </p:grpSpPr>
        <p:sp>
          <p:nvSpPr>
            <p:cNvPr id="100374" name="Line 34">
              <a:extLst>
                <a:ext uri="{FF2B5EF4-FFF2-40B4-BE49-F238E27FC236}">
                  <a16:creationId xmlns:a16="http://schemas.microsoft.com/office/drawing/2014/main" id="{C73EAFBE-5C7F-405A-90EE-7DB75DF5E47E}"/>
                </a:ext>
              </a:extLst>
            </p:cNvPr>
            <p:cNvSpPr>
              <a:spLocks noChangeShapeType="1"/>
            </p:cNvSpPr>
            <p:nvPr/>
          </p:nvSpPr>
          <p:spPr bwMode="auto">
            <a:xfrm flipH="1">
              <a:off x="2472580" y="4339630"/>
              <a:ext cx="225425" cy="338138"/>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i="0"/>
            </a:p>
          </p:txBody>
        </p:sp>
        <p:sp>
          <p:nvSpPr>
            <p:cNvPr id="100375" name="Line 35">
              <a:extLst>
                <a:ext uri="{FF2B5EF4-FFF2-40B4-BE49-F238E27FC236}">
                  <a16:creationId xmlns:a16="http://schemas.microsoft.com/office/drawing/2014/main" id="{418BC33A-784C-40A3-B772-4E3EA290811B}"/>
                </a:ext>
              </a:extLst>
            </p:cNvPr>
            <p:cNvSpPr>
              <a:spLocks noChangeShapeType="1"/>
            </p:cNvSpPr>
            <p:nvPr/>
          </p:nvSpPr>
          <p:spPr bwMode="auto">
            <a:xfrm>
              <a:off x="2848818" y="4339630"/>
              <a:ext cx="225425" cy="338138"/>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i="0"/>
            </a:p>
          </p:txBody>
        </p:sp>
        <p:sp>
          <p:nvSpPr>
            <p:cNvPr id="100376" name="Line 36">
              <a:extLst>
                <a:ext uri="{FF2B5EF4-FFF2-40B4-BE49-F238E27FC236}">
                  <a16:creationId xmlns:a16="http://schemas.microsoft.com/office/drawing/2014/main" id="{D414A02F-8413-419C-8286-A6215969BEAC}"/>
                </a:ext>
              </a:extLst>
            </p:cNvPr>
            <p:cNvSpPr>
              <a:spLocks noChangeShapeType="1"/>
            </p:cNvSpPr>
            <p:nvPr/>
          </p:nvSpPr>
          <p:spPr bwMode="auto">
            <a:xfrm>
              <a:off x="3225055" y="4903193"/>
              <a:ext cx="225425" cy="338138"/>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i="0"/>
            </a:p>
          </p:txBody>
        </p:sp>
        <p:sp>
          <p:nvSpPr>
            <p:cNvPr id="100377" name="Line 37">
              <a:extLst>
                <a:ext uri="{FF2B5EF4-FFF2-40B4-BE49-F238E27FC236}">
                  <a16:creationId xmlns:a16="http://schemas.microsoft.com/office/drawing/2014/main" id="{340AEEFE-D169-421B-9673-5708DA136274}"/>
                </a:ext>
              </a:extLst>
            </p:cNvPr>
            <p:cNvSpPr>
              <a:spLocks noChangeShapeType="1"/>
            </p:cNvSpPr>
            <p:nvPr/>
          </p:nvSpPr>
          <p:spPr bwMode="auto">
            <a:xfrm flipH="1">
              <a:off x="2848818" y="4836518"/>
              <a:ext cx="225425" cy="338138"/>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i="0"/>
            </a:p>
          </p:txBody>
        </p:sp>
        <p:sp>
          <p:nvSpPr>
            <p:cNvPr id="100378" name="Rectangle 38">
              <a:extLst>
                <a:ext uri="{FF2B5EF4-FFF2-40B4-BE49-F238E27FC236}">
                  <a16:creationId xmlns:a16="http://schemas.microsoft.com/office/drawing/2014/main" id="{17FCCA4D-5F4E-45C5-8274-74E902C48C60}"/>
                </a:ext>
              </a:extLst>
            </p:cNvPr>
            <p:cNvSpPr>
              <a:spLocks noChangeArrowheads="1"/>
            </p:cNvSpPr>
            <p:nvPr/>
          </p:nvSpPr>
          <p:spPr bwMode="auto">
            <a:xfrm>
              <a:off x="1570880" y="4565055"/>
              <a:ext cx="376238" cy="280988"/>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100379" name="Rectangle 39">
              <a:extLst>
                <a:ext uri="{FF2B5EF4-FFF2-40B4-BE49-F238E27FC236}">
                  <a16:creationId xmlns:a16="http://schemas.microsoft.com/office/drawing/2014/main" id="{7B826674-C10B-4C15-BCE9-341BFFFCE2CD}"/>
                </a:ext>
              </a:extLst>
            </p:cNvPr>
            <p:cNvSpPr>
              <a:spLocks noChangeArrowheads="1"/>
            </p:cNvSpPr>
            <p:nvPr/>
          </p:nvSpPr>
          <p:spPr bwMode="auto">
            <a:xfrm>
              <a:off x="2247155" y="4565055"/>
              <a:ext cx="376238" cy="280988"/>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100380" name="Rectangle 40">
              <a:extLst>
                <a:ext uri="{FF2B5EF4-FFF2-40B4-BE49-F238E27FC236}">
                  <a16:creationId xmlns:a16="http://schemas.microsoft.com/office/drawing/2014/main" id="{412FFE78-63E8-49C8-9DFF-07178C673A4C}"/>
                </a:ext>
              </a:extLst>
            </p:cNvPr>
            <p:cNvSpPr>
              <a:spLocks noChangeArrowheads="1"/>
            </p:cNvSpPr>
            <p:nvPr/>
          </p:nvSpPr>
          <p:spPr bwMode="auto">
            <a:xfrm>
              <a:off x="2623393" y="5117505"/>
              <a:ext cx="376238" cy="282575"/>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100381" name="Rectangle 41">
              <a:extLst>
                <a:ext uri="{FF2B5EF4-FFF2-40B4-BE49-F238E27FC236}">
                  <a16:creationId xmlns:a16="http://schemas.microsoft.com/office/drawing/2014/main" id="{A8FF06D3-E142-44C5-9DC4-99C1004E0C6F}"/>
                </a:ext>
              </a:extLst>
            </p:cNvPr>
            <p:cNvSpPr>
              <a:spLocks noChangeArrowheads="1"/>
            </p:cNvSpPr>
            <p:nvPr/>
          </p:nvSpPr>
          <p:spPr bwMode="auto">
            <a:xfrm>
              <a:off x="3225055" y="5117505"/>
              <a:ext cx="374650" cy="282575"/>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100382" name="Oval 42">
              <a:extLst>
                <a:ext uri="{FF2B5EF4-FFF2-40B4-BE49-F238E27FC236}">
                  <a16:creationId xmlns:a16="http://schemas.microsoft.com/office/drawing/2014/main" id="{99275E70-0273-4CD4-B56C-0E3D41D01BD8}"/>
                </a:ext>
              </a:extLst>
            </p:cNvPr>
            <p:cNvSpPr>
              <a:spLocks noChangeArrowheads="1"/>
            </p:cNvSpPr>
            <p:nvPr/>
          </p:nvSpPr>
          <p:spPr bwMode="auto">
            <a:xfrm>
              <a:off x="2923430" y="4553943"/>
              <a:ext cx="450850" cy="338138"/>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100383" name="Oval 43">
              <a:extLst>
                <a:ext uri="{FF2B5EF4-FFF2-40B4-BE49-F238E27FC236}">
                  <a16:creationId xmlns:a16="http://schemas.microsoft.com/office/drawing/2014/main" id="{3A2188FE-3E55-4B2D-8CF3-5281AB17755F}"/>
                </a:ext>
              </a:extLst>
            </p:cNvPr>
            <p:cNvSpPr>
              <a:spLocks noChangeArrowheads="1"/>
            </p:cNvSpPr>
            <p:nvPr/>
          </p:nvSpPr>
          <p:spPr bwMode="auto">
            <a:xfrm>
              <a:off x="2547193" y="4057055"/>
              <a:ext cx="452438" cy="338138"/>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a:latin typeface="Times New Roman" panose="02020603050405020304" pitchFamily="18" charset="0"/>
                </a:rPr>
                <a:t>11</a:t>
              </a:r>
            </a:p>
          </p:txBody>
        </p:sp>
        <p:sp>
          <p:nvSpPr>
            <p:cNvPr id="100384" name="Text Box 44">
              <a:extLst>
                <a:ext uri="{FF2B5EF4-FFF2-40B4-BE49-F238E27FC236}">
                  <a16:creationId xmlns:a16="http://schemas.microsoft.com/office/drawing/2014/main" id="{CCB14A0A-54F2-49B3-9F05-9B4CA7A0E2C3}"/>
                </a:ext>
              </a:extLst>
            </p:cNvPr>
            <p:cNvSpPr txBox="1">
              <a:spLocks noChangeArrowheads="1"/>
            </p:cNvSpPr>
            <p:nvPr/>
          </p:nvSpPr>
          <p:spPr bwMode="auto">
            <a:xfrm>
              <a:off x="1598453" y="4465985"/>
              <a:ext cx="338554"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dirty="0">
                  <a:latin typeface="Times New Roman" panose="02020603050405020304" pitchFamily="18" charset="0"/>
                </a:rPr>
                <a:t>7</a:t>
              </a:r>
              <a:endParaRPr lang="zh-CN" altLang="en-US" sz="2400" i="0" dirty="0">
                <a:latin typeface="Times New Roman" panose="02020603050405020304" pitchFamily="18" charset="0"/>
              </a:endParaRPr>
            </a:p>
          </p:txBody>
        </p:sp>
        <p:sp>
          <p:nvSpPr>
            <p:cNvPr id="100385" name="Text Box 45">
              <a:extLst>
                <a:ext uri="{FF2B5EF4-FFF2-40B4-BE49-F238E27FC236}">
                  <a16:creationId xmlns:a16="http://schemas.microsoft.com/office/drawing/2014/main" id="{5047E8F4-85BC-41E2-90D7-9B2709F46BAE}"/>
                </a:ext>
              </a:extLst>
            </p:cNvPr>
            <p:cNvSpPr txBox="1">
              <a:spLocks noChangeArrowheads="1"/>
            </p:cNvSpPr>
            <p:nvPr/>
          </p:nvSpPr>
          <p:spPr bwMode="auto">
            <a:xfrm>
              <a:off x="2274728" y="4465985"/>
              <a:ext cx="338554"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a:latin typeface="Times New Roman" panose="02020603050405020304" pitchFamily="18" charset="0"/>
                </a:rPr>
                <a:t>5</a:t>
              </a:r>
              <a:endParaRPr lang="zh-CN" altLang="en-US" sz="2400" i="0">
                <a:latin typeface="Times New Roman" panose="02020603050405020304" pitchFamily="18" charset="0"/>
              </a:endParaRPr>
            </a:p>
          </p:txBody>
        </p:sp>
        <p:sp>
          <p:nvSpPr>
            <p:cNvPr id="100386" name="Text Box 46">
              <a:extLst>
                <a:ext uri="{FF2B5EF4-FFF2-40B4-BE49-F238E27FC236}">
                  <a16:creationId xmlns:a16="http://schemas.microsoft.com/office/drawing/2014/main" id="{7CCD1347-82E3-4390-ABB9-5790327FDD8E}"/>
                </a:ext>
              </a:extLst>
            </p:cNvPr>
            <p:cNvSpPr txBox="1">
              <a:spLocks noChangeArrowheads="1"/>
            </p:cNvSpPr>
            <p:nvPr/>
          </p:nvSpPr>
          <p:spPr bwMode="auto">
            <a:xfrm>
              <a:off x="2631916" y="5031135"/>
              <a:ext cx="338554"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a:latin typeface="Times New Roman" panose="02020603050405020304" pitchFamily="18" charset="0"/>
                </a:rPr>
                <a:t>2</a:t>
              </a:r>
              <a:endParaRPr lang="zh-CN" altLang="en-US" sz="2400" i="0">
                <a:latin typeface="Times New Roman" panose="02020603050405020304" pitchFamily="18" charset="0"/>
              </a:endParaRPr>
            </a:p>
          </p:txBody>
        </p:sp>
        <p:sp>
          <p:nvSpPr>
            <p:cNvPr id="100387" name="Text Box 47">
              <a:extLst>
                <a:ext uri="{FF2B5EF4-FFF2-40B4-BE49-F238E27FC236}">
                  <a16:creationId xmlns:a16="http://schemas.microsoft.com/office/drawing/2014/main" id="{5F3B8A59-6194-4D30-868A-4E70A5DD650D}"/>
                </a:ext>
              </a:extLst>
            </p:cNvPr>
            <p:cNvSpPr txBox="1">
              <a:spLocks noChangeArrowheads="1"/>
            </p:cNvSpPr>
            <p:nvPr/>
          </p:nvSpPr>
          <p:spPr bwMode="auto">
            <a:xfrm>
              <a:off x="3251835" y="5031136"/>
              <a:ext cx="338555"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a:latin typeface="Times New Roman" panose="02020603050405020304" pitchFamily="18" charset="0"/>
                </a:rPr>
                <a:t>4</a:t>
              </a:r>
              <a:endParaRPr lang="zh-CN" altLang="en-US" sz="2400" i="0">
                <a:latin typeface="Times New Roman" panose="02020603050405020304" pitchFamily="18" charset="0"/>
              </a:endParaRPr>
            </a:p>
          </p:txBody>
        </p:sp>
        <p:sp>
          <p:nvSpPr>
            <p:cNvPr id="100388" name="Text Box 48">
              <a:extLst>
                <a:ext uri="{FF2B5EF4-FFF2-40B4-BE49-F238E27FC236}">
                  <a16:creationId xmlns:a16="http://schemas.microsoft.com/office/drawing/2014/main" id="{4C1BB8F9-8C39-4017-BA5C-49CC20B090AA}"/>
                </a:ext>
              </a:extLst>
            </p:cNvPr>
            <p:cNvSpPr txBox="1">
              <a:spLocks noChangeArrowheads="1"/>
            </p:cNvSpPr>
            <p:nvPr/>
          </p:nvSpPr>
          <p:spPr bwMode="auto">
            <a:xfrm>
              <a:off x="2850405" y="4480273"/>
              <a:ext cx="517525"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a:latin typeface="Times New Roman" panose="02020603050405020304" pitchFamily="18" charset="0"/>
                </a:rPr>
                <a:t>6</a:t>
              </a:r>
              <a:endParaRPr lang="zh-CN" altLang="en-US" sz="2400" i="0">
                <a:latin typeface="Times New Roman" panose="02020603050405020304" pitchFamily="18" charset="0"/>
              </a:endParaRPr>
            </a:p>
          </p:txBody>
        </p:sp>
      </p:grpSp>
      <p:sp>
        <p:nvSpPr>
          <p:cNvPr id="100389" name="Text Box 49">
            <a:extLst>
              <a:ext uri="{FF2B5EF4-FFF2-40B4-BE49-F238E27FC236}">
                <a16:creationId xmlns:a16="http://schemas.microsoft.com/office/drawing/2014/main" id="{8CE7527C-7FD7-4129-8827-E12C82FF1364}"/>
              </a:ext>
            </a:extLst>
          </p:cNvPr>
          <p:cNvSpPr txBox="1">
            <a:spLocks noChangeArrowheads="1"/>
          </p:cNvSpPr>
          <p:nvPr/>
        </p:nvSpPr>
        <p:spPr bwMode="auto">
          <a:xfrm>
            <a:off x="1518171" y="5056379"/>
            <a:ext cx="1675459"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i="0" dirty="0">
                <a:latin typeface="Times New Roman" panose="02020603050405020304" pitchFamily="18" charset="0"/>
                <a:ea typeface="隶书" panose="02010509060101010101" pitchFamily="49" charset="-122"/>
              </a:rPr>
              <a:t>合并</a:t>
            </a:r>
            <a:r>
              <a:rPr lang="zh-CN" altLang="en-US" sz="2400" b="1" i="0" dirty="0">
                <a:latin typeface="Times New Roman" panose="02020603050405020304" pitchFamily="18" charset="0"/>
              </a:rPr>
              <a:t>{5} {6}</a:t>
            </a:r>
            <a:endParaRPr lang="zh-CN" altLang="en-US" sz="2400" i="0" dirty="0">
              <a:latin typeface="Times New Roman" panose="02020603050405020304" pitchFamily="18" charset="0"/>
            </a:endParaRPr>
          </a:p>
        </p:txBody>
      </p:sp>
      <p:sp>
        <p:nvSpPr>
          <p:cNvPr id="100399" name="Text Box 59">
            <a:extLst>
              <a:ext uri="{FF2B5EF4-FFF2-40B4-BE49-F238E27FC236}">
                <a16:creationId xmlns:a16="http://schemas.microsoft.com/office/drawing/2014/main" id="{91FF3754-9C4B-49BA-BBE1-F130DA065901}"/>
              </a:ext>
            </a:extLst>
          </p:cNvPr>
          <p:cNvSpPr txBox="1">
            <a:spLocks noChangeArrowheads="1"/>
          </p:cNvSpPr>
          <p:nvPr/>
        </p:nvSpPr>
        <p:spPr bwMode="auto">
          <a:xfrm>
            <a:off x="5585159" y="5678129"/>
            <a:ext cx="1812356"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i="0" dirty="0">
                <a:latin typeface="Times New Roman" panose="02020603050405020304" pitchFamily="18" charset="0"/>
                <a:ea typeface="隶书" panose="02010509060101010101" pitchFamily="49" charset="-122"/>
              </a:rPr>
              <a:t>合并</a:t>
            </a:r>
            <a:r>
              <a:rPr lang="zh-CN" altLang="en-US" sz="2400" b="1" i="0" dirty="0">
                <a:latin typeface="Times New Roman" panose="02020603050405020304" pitchFamily="18" charset="0"/>
              </a:rPr>
              <a:t>{7} {11}</a:t>
            </a:r>
            <a:endParaRPr lang="zh-CN" altLang="en-US" sz="2400" i="0" dirty="0">
              <a:latin typeface="Times New Roman" panose="02020603050405020304" pitchFamily="18" charset="0"/>
            </a:endParaRPr>
          </a:p>
        </p:txBody>
      </p:sp>
      <p:grpSp>
        <p:nvGrpSpPr>
          <p:cNvPr id="4" name="组合 3">
            <a:extLst>
              <a:ext uri="{FF2B5EF4-FFF2-40B4-BE49-F238E27FC236}">
                <a16:creationId xmlns:a16="http://schemas.microsoft.com/office/drawing/2014/main" id="{CB91542E-6D39-7FC9-AAE3-C61DA3D76FD4}"/>
              </a:ext>
            </a:extLst>
          </p:cNvPr>
          <p:cNvGrpSpPr/>
          <p:nvPr/>
        </p:nvGrpSpPr>
        <p:grpSpPr>
          <a:xfrm>
            <a:off x="5956350" y="3570478"/>
            <a:ext cx="1803400" cy="1992015"/>
            <a:chOff x="6080968" y="4019898"/>
            <a:chExt cx="1803400" cy="1992015"/>
          </a:xfrm>
        </p:grpSpPr>
        <p:sp>
          <p:nvSpPr>
            <p:cNvPr id="100390" name="Line 50">
              <a:extLst>
                <a:ext uri="{FF2B5EF4-FFF2-40B4-BE49-F238E27FC236}">
                  <a16:creationId xmlns:a16="http://schemas.microsoft.com/office/drawing/2014/main" id="{0F29E333-FB07-484C-8DC8-9C1133035558}"/>
                </a:ext>
              </a:extLst>
            </p:cNvPr>
            <p:cNvSpPr>
              <a:spLocks noChangeShapeType="1"/>
            </p:cNvSpPr>
            <p:nvPr/>
          </p:nvSpPr>
          <p:spPr bwMode="auto">
            <a:xfrm flipH="1">
              <a:off x="6306393" y="4339630"/>
              <a:ext cx="225425" cy="338138"/>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i="0"/>
            </a:p>
          </p:txBody>
        </p:sp>
        <p:sp>
          <p:nvSpPr>
            <p:cNvPr id="100391" name="Line 51">
              <a:extLst>
                <a:ext uri="{FF2B5EF4-FFF2-40B4-BE49-F238E27FC236}">
                  <a16:creationId xmlns:a16="http://schemas.microsoft.com/office/drawing/2014/main" id="{CADC104B-2B37-4F91-968E-279FC37314B5}"/>
                </a:ext>
              </a:extLst>
            </p:cNvPr>
            <p:cNvSpPr>
              <a:spLocks noChangeShapeType="1"/>
            </p:cNvSpPr>
            <p:nvPr/>
          </p:nvSpPr>
          <p:spPr bwMode="auto">
            <a:xfrm>
              <a:off x="6681043" y="4282480"/>
              <a:ext cx="227013" cy="338138"/>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i="0"/>
            </a:p>
          </p:txBody>
        </p:sp>
        <p:sp>
          <p:nvSpPr>
            <p:cNvPr id="100392" name="Line 52">
              <a:extLst>
                <a:ext uri="{FF2B5EF4-FFF2-40B4-BE49-F238E27FC236}">
                  <a16:creationId xmlns:a16="http://schemas.microsoft.com/office/drawing/2014/main" id="{5F9FE790-8DFD-49EA-9E40-19E96E5D0398}"/>
                </a:ext>
              </a:extLst>
            </p:cNvPr>
            <p:cNvSpPr>
              <a:spLocks noChangeShapeType="1"/>
            </p:cNvSpPr>
            <p:nvPr/>
          </p:nvSpPr>
          <p:spPr bwMode="auto">
            <a:xfrm>
              <a:off x="7057280" y="4846043"/>
              <a:ext cx="225425" cy="338138"/>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i="0"/>
            </a:p>
          </p:txBody>
        </p:sp>
        <p:sp>
          <p:nvSpPr>
            <p:cNvPr id="100393" name="Line 53">
              <a:extLst>
                <a:ext uri="{FF2B5EF4-FFF2-40B4-BE49-F238E27FC236}">
                  <a16:creationId xmlns:a16="http://schemas.microsoft.com/office/drawing/2014/main" id="{0D3CBC05-45D1-4D4E-B18C-04C582616430}"/>
                </a:ext>
              </a:extLst>
            </p:cNvPr>
            <p:cNvSpPr>
              <a:spLocks noChangeShapeType="1"/>
            </p:cNvSpPr>
            <p:nvPr/>
          </p:nvSpPr>
          <p:spPr bwMode="auto">
            <a:xfrm flipH="1">
              <a:off x="6681043" y="4836518"/>
              <a:ext cx="227013" cy="338138"/>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i="0"/>
            </a:p>
          </p:txBody>
        </p:sp>
        <p:sp>
          <p:nvSpPr>
            <p:cNvPr id="100394" name="Rectangle 54">
              <a:extLst>
                <a:ext uri="{FF2B5EF4-FFF2-40B4-BE49-F238E27FC236}">
                  <a16:creationId xmlns:a16="http://schemas.microsoft.com/office/drawing/2014/main" id="{D8114129-5052-4A17-998E-E88A67A4B55E}"/>
                </a:ext>
              </a:extLst>
            </p:cNvPr>
            <p:cNvSpPr>
              <a:spLocks noChangeArrowheads="1"/>
            </p:cNvSpPr>
            <p:nvPr/>
          </p:nvSpPr>
          <p:spPr bwMode="auto">
            <a:xfrm>
              <a:off x="6080968" y="4565055"/>
              <a:ext cx="374650" cy="280988"/>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100395" name="Rectangle 55">
              <a:extLst>
                <a:ext uri="{FF2B5EF4-FFF2-40B4-BE49-F238E27FC236}">
                  <a16:creationId xmlns:a16="http://schemas.microsoft.com/office/drawing/2014/main" id="{2B15DC01-23C4-4B40-8C3F-E42F3167BDB3}"/>
                </a:ext>
              </a:extLst>
            </p:cNvPr>
            <p:cNvSpPr>
              <a:spLocks noChangeArrowheads="1"/>
            </p:cNvSpPr>
            <p:nvPr/>
          </p:nvSpPr>
          <p:spPr bwMode="auto">
            <a:xfrm>
              <a:off x="6455618" y="5117505"/>
              <a:ext cx="376238" cy="282575"/>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100396" name="Oval 56">
              <a:extLst>
                <a:ext uri="{FF2B5EF4-FFF2-40B4-BE49-F238E27FC236}">
                  <a16:creationId xmlns:a16="http://schemas.microsoft.com/office/drawing/2014/main" id="{6D50211B-2145-416F-BC4E-CA2F55D7EAF5}"/>
                </a:ext>
              </a:extLst>
            </p:cNvPr>
            <p:cNvSpPr>
              <a:spLocks noChangeArrowheads="1"/>
            </p:cNvSpPr>
            <p:nvPr/>
          </p:nvSpPr>
          <p:spPr bwMode="auto">
            <a:xfrm>
              <a:off x="6757243" y="4553943"/>
              <a:ext cx="450850" cy="338138"/>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100397" name="Oval 57">
              <a:extLst>
                <a:ext uri="{FF2B5EF4-FFF2-40B4-BE49-F238E27FC236}">
                  <a16:creationId xmlns:a16="http://schemas.microsoft.com/office/drawing/2014/main" id="{30679ADC-F4F1-4FA9-8498-DD821DB11E5A}"/>
                </a:ext>
              </a:extLst>
            </p:cNvPr>
            <p:cNvSpPr>
              <a:spLocks noChangeArrowheads="1"/>
            </p:cNvSpPr>
            <p:nvPr/>
          </p:nvSpPr>
          <p:spPr bwMode="auto">
            <a:xfrm>
              <a:off x="6381005" y="4057055"/>
              <a:ext cx="450850" cy="338138"/>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100398" name="Text Box 58">
              <a:extLst>
                <a:ext uri="{FF2B5EF4-FFF2-40B4-BE49-F238E27FC236}">
                  <a16:creationId xmlns:a16="http://schemas.microsoft.com/office/drawing/2014/main" id="{7BB1738E-D3F4-4CF7-B8A1-975A5C57AA16}"/>
                </a:ext>
              </a:extLst>
            </p:cNvPr>
            <p:cNvSpPr txBox="1">
              <a:spLocks noChangeArrowheads="1"/>
            </p:cNvSpPr>
            <p:nvPr/>
          </p:nvSpPr>
          <p:spPr bwMode="auto">
            <a:xfrm>
              <a:off x="6464141" y="5031135"/>
              <a:ext cx="338554"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a:latin typeface="Times New Roman" panose="02020603050405020304" pitchFamily="18" charset="0"/>
                </a:rPr>
                <a:t>5</a:t>
              </a:r>
              <a:endParaRPr lang="zh-CN" altLang="en-US" sz="2400" i="0">
                <a:latin typeface="Times New Roman" panose="02020603050405020304" pitchFamily="18" charset="0"/>
              </a:endParaRPr>
            </a:p>
          </p:txBody>
        </p:sp>
        <p:sp>
          <p:nvSpPr>
            <p:cNvPr id="100400" name="Line 60">
              <a:extLst>
                <a:ext uri="{FF2B5EF4-FFF2-40B4-BE49-F238E27FC236}">
                  <a16:creationId xmlns:a16="http://schemas.microsoft.com/office/drawing/2014/main" id="{EBCC8B28-1440-4C07-943B-14C27A6511A0}"/>
                </a:ext>
              </a:extLst>
            </p:cNvPr>
            <p:cNvSpPr>
              <a:spLocks noChangeShapeType="1"/>
            </p:cNvSpPr>
            <p:nvPr/>
          </p:nvSpPr>
          <p:spPr bwMode="auto">
            <a:xfrm>
              <a:off x="7414468" y="5354043"/>
              <a:ext cx="225425" cy="338138"/>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i="0"/>
            </a:p>
          </p:txBody>
        </p:sp>
        <p:sp>
          <p:nvSpPr>
            <p:cNvPr id="100401" name="Line 61">
              <a:extLst>
                <a:ext uri="{FF2B5EF4-FFF2-40B4-BE49-F238E27FC236}">
                  <a16:creationId xmlns:a16="http://schemas.microsoft.com/office/drawing/2014/main" id="{41A0B4C0-00A0-46A0-AF81-47AD68231C91}"/>
                </a:ext>
              </a:extLst>
            </p:cNvPr>
            <p:cNvSpPr>
              <a:spLocks noChangeShapeType="1"/>
            </p:cNvSpPr>
            <p:nvPr/>
          </p:nvSpPr>
          <p:spPr bwMode="auto">
            <a:xfrm flipH="1">
              <a:off x="7038230" y="5354043"/>
              <a:ext cx="225425" cy="338138"/>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i="0"/>
            </a:p>
          </p:txBody>
        </p:sp>
        <p:sp>
          <p:nvSpPr>
            <p:cNvPr id="100402" name="Rectangle 62">
              <a:extLst>
                <a:ext uri="{FF2B5EF4-FFF2-40B4-BE49-F238E27FC236}">
                  <a16:creationId xmlns:a16="http://schemas.microsoft.com/office/drawing/2014/main" id="{977399AA-3F0D-4112-9CA9-50BF981A3EBB}"/>
                </a:ext>
              </a:extLst>
            </p:cNvPr>
            <p:cNvSpPr>
              <a:spLocks noChangeArrowheads="1"/>
            </p:cNvSpPr>
            <p:nvPr/>
          </p:nvSpPr>
          <p:spPr bwMode="auto">
            <a:xfrm>
              <a:off x="6812805" y="5636618"/>
              <a:ext cx="376238" cy="280988"/>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100403" name="Rectangle 63">
              <a:extLst>
                <a:ext uri="{FF2B5EF4-FFF2-40B4-BE49-F238E27FC236}">
                  <a16:creationId xmlns:a16="http://schemas.microsoft.com/office/drawing/2014/main" id="{E9834178-1522-4FF7-ACAD-A36437CBCE4F}"/>
                </a:ext>
              </a:extLst>
            </p:cNvPr>
            <p:cNvSpPr>
              <a:spLocks noChangeArrowheads="1"/>
            </p:cNvSpPr>
            <p:nvPr/>
          </p:nvSpPr>
          <p:spPr bwMode="auto">
            <a:xfrm>
              <a:off x="7508130" y="5636618"/>
              <a:ext cx="376238" cy="280988"/>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100404" name="Oval 64">
              <a:extLst>
                <a:ext uri="{FF2B5EF4-FFF2-40B4-BE49-F238E27FC236}">
                  <a16:creationId xmlns:a16="http://schemas.microsoft.com/office/drawing/2014/main" id="{18C813FB-331E-453B-A562-C605C5A43970}"/>
                </a:ext>
              </a:extLst>
            </p:cNvPr>
            <p:cNvSpPr>
              <a:spLocks noChangeArrowheads="1"/>
            </p:cNvSpPr>
            <p:nvPr/>
          </p:nvSpPr>
          <p:spPr bwMode="auto">
            <a:xfrm>
              <a:off x="7114430" y="5071468"/>
              <a:ext cx="450850" cy="339725"/>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100405" name="Text Box 65">
              <a:extLst>
                <a:ext uri="{FF2B5EF4-FFF2-40B4-BE49-F238E27FC236}">
                  <a16:creationId xmlns:a16="http://schemas.microsoft.com/office/drawing/2014/main" id="{491128D8-59B3-4CB0-B712-A3B45498CADE}"/>
                </a:ext>
              </a:extLst>
            </p:cNvPr>
            <p:cNvSpPr txBox="1">
              <a:spLocks noChangeArrowheads="1"/>
            </p:cNvSpPr>
            <p:nvPr/>
          </p:nvSpPr>
          <p:spPr bwMode="auto">
            <a:xfrm>
              <a:off x="6819741" y="5550248"/>
              <a:ext cx="338554"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a:latin typeface="Times New Roman" panose="02020603050405020304" pitchFamily="18" charset="0"/>
                </a:rPr>
                <a:t>2</a:t>
              </a:r>
              <a:endParaRPr lang="zh-CN" altLang="en-US" sz="2400" i="0">
                <a:latin typeface="Times New Roman" panose="02020603050405020304" pitchFamily="18" charset="0"/>
              </a:endParaRPr>
            </a:p>
          </p:txBody>
        </p:sp>
        <p:sp>
          <p:nvSpPr>
            <p:cNvPr id="100406" name="Text Box 66">
              <a:extLst>
                <a:ext uri="{FF2B5EF4-FFF2-40B4-BE49-F238E27FC236}">
                  <a16:creationId xmlns:a16="http://schemas.microsoft.com/office/drawing/2014/main" id="{D2E36F97-AFE8-4242-8153-2CEF88D2281E}"/>
                </a:ext>
              </a:extLst>
            </p:cNvPr>
            <p:cNvSpPr txBox="1">
              <a:spLocks noChangeArrowheads="1"/>
            </p:cNvSpPr>
            <p:nvPr/>
          </p:nvSpPr>
          <p:spPr bwMode="auto">
            <a:xfrm>
              <a:off x="6090285" y="4467573"/>
              <a:ext cx="338555"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a:latin typeface="Times New Roman" panose="02020603050405020304" pitchFamily="18" charset="0"/>
                </a:rPr>
                <a:t>7</a:t>
              </a:r>
              <a:endParaRPr lang="zh-CN" altLang="en-US" sz="2400" i="0">
                <a:latin typeface="Times New Roman" panose="02020603050405020304" pitchFamily="18" charset="0"/>
              </a:endParaRPr>
            </a:p>
          </p:txBody>
        </p:sp>
        <p:sp>
          <p:nvSpPr>
            <p:cNvPr id="100407" name="Text Box 67">
              <a:extLst>
                <a:ext uri="{FF2B5EF4-FFF2-40B4-BE49-F238E27FC236}">
                  <a16:creationId xmlns:a16="http://schemas.microsoft.com/office/drawing/2014/main" id="{5BA055A8-BD7D-4AA5-96C4-534BE7D1F0C8}"/>
                </a:ext>
              </a:extLst>
            </p:cNvPr>
            <p:cNvSpPr txBox="1">
              <a:spLocks noChangeArrowheads="1"/>
            </p:cNvSpPr>
            <p:nvPr/>
          </p:nvSpPr>
          <p:spPr bwMode="auto">
            <a:xfrm>
              <a:off x="7534116" y="5550248"/>
              <a:ext cx="338554"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a:latin typeface="Times New Roman" panose="02020603050405020304" pitchFamily="18" charset="0"/>
                </a:rPr>
                <a:t>4</a:t>
              </a:r>
              <a:endParaRPr lang="zh-CN" altLang="en-US" sz="2400" i="0">
                <a:latin typeface="Times New Roman" panose="02020603050405020304" pitchFamily="18" charset="0"/>
              </a:endParaRPr>
            </a:p>
          </p:txBody>
        </p:sp>
        <p:sp>
          <p:nvSpPr>
            <p:cNvPr id="100408" name="Text Box 68">
              <a:extLst>
                <a:ext uri="{FF2B5EF4-FFF2-40B4-BE49-F238E27FC236}">
                  <a16:creationId xmlns:a16="http://schemas.microsoft.com/office/drawing/2014/main" id="{CEE868EA-A3F9-45DA-90BB-7A7EC05F8447}"/>
                </a:ext>
              </a:extLst>
            </p:cNvPr>
            <p:cNvSpPr txBox="1">
              <a:spLocks noChangeArrowheads="1"/>
            </p:cNvSpPr>
            <p:nvPr/>
          </p:nvSpPr>
          <p:spPr bwMode="auto">
            <a:xfrm>
              <a:off x="7062043" y="4986685"/>
              <a:ext cx="522288"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a:latin typeface="Times New Roman" panose="02020603050405020304" pitchFamily="18" charset="0"/>
                </a:rPr>
                <a:t>6</a:t>
              </a:r>
              <a:endParaRPr lang="zh-CN" altLang="en-US" sz="2400" i="0">
                <a:latin typeface="Times New Roman" panose="02020603050405020304" pitchFamily="18" charset="0"/>
              </a:endParaRPr>
            </a:p>
          </p:txBody>
        </p:sp>
        <p:sp>
          <p:nvSpPr>
            <p:cNvPr id="100409" name="Text Box 69">
              <a:extLst>
                <a:ext uri="{FF2B5EF4-FFF2-40B4-BE49-F238E27FC236}">
                  <a16:creationId xmlns:a16="http://schemas.microsoft.com/office/drawing/2014/main" id="{98A8BCD3-08B0-4B2C-BA99-E125C132185F}"/>
                </a:ext>
              </a:extLst>
            </p:cNvPr>
            <p:cNvSpPr txBox="1">
              <a:spLocks noChangeArrowheads="1"/>
            </p:cNvSpPr>
            <p:nvPr/>
          </p:nvSpPr>
          <p:spPr bwMode="auto">
            <a:xfrm>
              <a:off x="6685805" y="4480273"/>
              <a:ext cx="609600"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a:latin typeface="Times New Roman" panose="02020603050405020304" pitchFamily="18" charset="0"/>
                </a:rPr>
                <a:t>11</a:t>
              </a:r>
              <a:endParaRPr lang="zh-CN" altLang="en-US" sz="2400" i="0">
                <a:latin typeface="Times New Roman" panose="02020603050405020304" pitchFamily="18" charset="0"/>
              </a:endParaRPr>
            </a:p>
          </p:txBody>
        </p:sp>
        <p:sp>
          <p:nvSpPr>
            <p:cNvPr id="100410" name="Text Box 70">
              <a:extLst>
                <a:ext uri="{FF2B5EF4-FFF2-40B4-BE49-F238E27FC236}">
                  <a16:creationId xmlns:a16="http://schemas.microsoft.com/office/drawing/2014/main" id="{F9DC1402-B4A1-47EC-B8D7-120D94188D67}"/>
                </a:ext>
              </a:extLst>
            </p:cNvPr>
            <p:cNvSpPr txBox="1">
              <a:spLocks noChangeArrowheads="1"/>
            </p:cNvSpPr>
            <p:nvPr/>
          </p:nvSpPr>
          <p:spPr bwMode="auto">
            <a:xfrm>
              <a:off x="6306393" y="4019898"/>
              <a:ext cx="606425"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a:latin typeface="Times New Roman" panose="02020603050405020304" pitchFamily="18" charset="0"/>
                </a:rPr>
                <a:t>18</a:t>
              </a:r>
              <a:endParaRPr lang="zh-CN" altLang="en-US" sz="2400" i="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035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037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037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037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036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038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0036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0039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0037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9" grpId="0"/>
      <p:bldP spid="100360" grpId="0"/>
      <p:bldP spid="100361" grpId="0"/>
      <p:bldP spid="100370" grpId="0"/>
      <p:bldP spid="100371" grpId="0"/>
      <p:bldP spid="100389" grpId="0"/>
      <p:bldP spid="100399"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Oval 2">
            <a:extLst>
              <a:ext uri="{FF2B5EF4-FFF2-40B4-BE49-F238E27FC236}">
                <a16:creationId xmlns:a16="http://schemas.microsoft.com/office/drawing/2014/main" id="{1606C5F2-9A33-4A91-8797-AD30E2F8262F}"/>
              </a:ext>
            </a:extLst>
          </p:cNvPr>
          <p:cNvSpPr>
            <a:spLocks noChangeArrowheads="1"/>
          </p:cNvSpPr>
          <p:nvPr/>
        </p:nvSpPr>
        <p:spPr bwMode="auto">
          <a:xfrm>
            <a:off x="3935016" y="1916832"/>
            <a:ext cx="381000" cy="461665"/>
          </a:xfrm>
          <a:prstGeom prst="ellipse">
            <a:avLst/>
          </a:prstGeom>
          <a:solidFill>
            <a:srgbClr val="FFFF99">
              <a:alpha val="50195"/>
            </a:srgbClr>
          </a:solidFill>
          <a:ln w="25400" cap="sq">
            <a:solidFill>
              <a:srgbClr val="CC66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400" b="0" i="0" dirty="0">
                <a:solidFill>
                  <a:srgbClr val="990000"/>
                </a:solidFill>
                <a:latin typeface="+mn-ea"/>
                <a:ea typeface="+mn-ea"/>
              </a:rPr>
              <a:t>9</a:t>
            </a:r>
            <a:endParaRPr lang="en-US" altLang="zh-CN" sz="2400" b="0" i="0" dirty="0">
              <a:latin typeface="+mn-ea"/>
              <a:ea typeface="+mn-ea"/>
            </a:endParaRPr>
          </a:p>
        </p:txBody>
      </p:sp>
      <p:sp>
        <p:nvSpPr>
          <p:cNvPr id="80899" name="Text Box 3">
            <a:extLst>
              <a:ext uri="{FF2B5EF4-FFF2-40B4-BE49-F238E27FC236}">
                <a16:creationId xmlns:a16="http://schemas.microsoft.com/office/drawing/2014/main" id="{6024FC51-E3AB-4473-89A0-C773ED3344E6}"/>
              </a:ext>
            </a:extLst>
          </p:cNvPr>
          <p:cNvSpPr txBox="1">
            <a:spLocks noChangeArrowheads="1"/>
          </p:cNvSpPr>
          <p:nvPr/>
        </p:nvSpPr>
        <p:spPr bwMode="auto">
          <a:xfrm>
            <a:off x="539117" y="1209328"/>
            <a:ext cx="847658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0" i="0" dirty="0">
                <a:latin typeface="+mn-ea"/>
                <a:ea typeface="+mn-ea"/>
              </a:rPr>
              <a:t>已知权值 </a:t>
            </a:r>
            <a:r>
              <a:rPr lang="en-US" altLang="zh-CN" sz="2800" b="0" i="0" dirty="0">
                <a:latin typeface="+mn-ea"/>
                <a:ea typeface="+mn-ea"/>
              </a:rPr>
              <a:t>W={ 5, 6, 2, 9, 7 }</a:t>
            </a:r>
            <a:r>
              <a:rPr lang="zh-CN" altLang="en-US" sz="2800" b="0" i="0" dirty="0">
                <a:latin typeface="+mn-ea"/>
                <a:ea typeface="+mn-ea"/>
              </a:rPr>
              <a:t>，求</a:t>
            </a:r>
            <a:r>
              <a:rPr lang="en-US" altLang="zh-CN" sz="2800" b="0" i="0" dirty="0">
                <a:latin typeface="+mn-ea"/>
                <a:ea typeface="+mn-ea"/>
              </a:rPr>
              <a:t>Huffman</a:t>
            </a:r>
            <a:r>
              <a:rPr lang="zh-CN" altLang="en-US" sz="2800" b="0" i="0" dirty="0">
                <a:latin typeface="+mn-ea"/>
                <a:ea typeface="+mn-ea"/>
              </a:rPr>
              <a:t>树。</a:t>
            </a:r>
            <a:endParaRPr lang="en-US" altLang="zh-CN" sz="2800" b="0" i="0" dirty="0">
              <a:latin typeface="+mn-ea"/>
              <a:ea typeface="+mn-ea"/>
            </a:endParaRPr>
          </a:p>
        </p:txBody>
      </p:sp>
      <p:sp>
        <p:nvSpPr>
          <p:cNvPr id="80900" name="Oval 4">
            <a:extLst>
              <a:ext uri="{FF2B5EF4-FFF2-40B4-BE49-F238E27FC236}">
                <a16:creationId xmlns:a16="http://schemas.microsoft.com/office/drawing/2014/main" id="{7F72A091-98A7-420D-8E8B-0DB9439FEE40}"/>
              </a:ext>
            </a:extLst>
          </p:cNvPr>
          <p:cNvSpPr>
            <a:spLocks noChangeArrowheads="1"/>
          </p:cNvSpPr>
          <p:nvPr/>
        </p:nvSpPr>
        <p:spPr bwMode="auto">
          <a:xfrm>
            <a:off x="1115616" y="1916832"/>
            <a:ext cx="432048" cy="467072"/>
          </a:xfrm>
          <a:prstGeom prst="ellipse">
            <a:avLst/>
          </a:prstGeom>
          <a:solidFill>
            <a:srgbClr val="FFFF99">
              <a:alpha val="50195"/>
            </a:srgbClr>
          </a:solidFill>
          <a:ln w="25400" cap="sq">
            <a:solidFill>
              <a:srgbClr val="CC66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400" b="0" i="0" dirty="0">
                <a:solidFill>
                  <a:srgbClr val="990000"/>
                </a:solidFill>
                <a:latin typeface="+mn-ea"/>
                <a:ea typeface="+mn-ea"/>
              </a:rPr>
              <a:t>5</a:t>
            </a:r>
            <a:endParaRPr lang="en-US" altLang="zh-CN" sz="2400" b="0" i="0" dirty="0">
              <a:latin typeface="+mn-ea"/>
              <a:ea typeface="+mn-ea"/>
            </a:endParaRPr>
          </a:p>
        </p:txBody>
      </p:sp>
      <p:sp>
        <p:nvSpPr>
          <p:cNvPr id="80901" name="Oval 5">
            <a:extLst>
              <a:ext uri="{FF2B5EF4-FFF2-40B4-BE49-F238E27FC236}">
                <a16:creationId xmlns:a16="http://schemas.microsoft.com/office/drawing/2014/main" id="{D8CD93B3-6A66-46EA-BA10-AD38E0ED9BF7}"/>
              </a:ext>
            </a:extLst>
          </p:cNvPr>
          <p:cNvSpPr>
            <a:spLocks noChangeArrowheads="1"/>
          </p:cNvSpPr>
          <p:nvPr/>
        </p:nvSpPr>
        <p:spPr bwMode="auto">
          <a:xfrm>
            <a:off x="2030016" y="1916832"/>
            <a:ext cx="385192" cy="467072"/>
          </a:xfrm>
          <a:prstGeom prst="ellipse">
            <a:avLst/>
          </a:prstGeom>
          <a:solidFill>
            <a:srgbClr val="FFFF99">
              <a:alpha val="50195"/>
            </a:srgbClr>
          </a:solidFill>
          <a:ln w="25400" cap="sq">
            <a:solidFill>
              <a:srgbClr val="CC66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400" b="0" i="0">
                <a:solidFill>
                  <a:srgbClr val="990000"/>
                </a:solidFill>
                <a:latin typeface="+mn-ea"/>
                <a:ea typeface="+mn-ea"/>
              </a:rPr>
              <a:t>6</a:t>
            </a:r>
            <a:endParaRPr lang="en-US" altLang="zh-CN" sz="2400" b="0" i="0">
              <a:latin typeface="+mn-ea"/>
              <a:ea typeface="+mn-ea"/>
            </a:endParaRPr>
          </a:p>
        </p:txBody>
      </p:sp>
      <p:sp>
        <p:nvSpPr>
          <p:cNvPr id="80902" name="Oval 6">
            <a:extLst>
              <a:ext uri="{FF2B5EF4-FFF2-40B4-BE49-F238E27FC236}">
                <a16:creationId xmlns:a16="http://schemas.microsoft.com/office/drawing/2014/main" id="{087B6864-E45E-42A3-8472-0DDB6CB66736}"/>
              </a:ext>
            </a:extLst>
          </p:cNvPr>
          <p:cNvSpPr>
            <a:spLocks noChangeArrowheads="1"/>
          </p:cNvSpPr>
          <p:nvPr/>
        </p:nvSpPr>
        <p:spPr bwMode="auto">
          <a:xfrm>
            <a:off x="2944416" y="1916832"/>
            <a:ext cx="385192" cy="467072"/>
          </a:xfrm>
          <a:prstGeom prst="ellipse">
            <a:avLst/>
          </a:prstGeom>
          <a:solidFill>
            <a:srgbClr val="FFFF99">
              <a:alpha val="50195"/>
            </a:srgbClr>
          </a:solidFill>
          <a:ln w="25400" cap="sq">
            <a:solidFill>
              <a:srgbClr val="CC66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400" b="0" i="0" dirty="0">
                <a:solidFill>
                  <a:srgbClr val="990000"/>
                </a:solidFill>
                <a:latin typeface="+mn-ea"/>
                <a:ea typeface="+mn-ea"/>
              </a:rPr>
              <a:t>2</a:t>
            </a:r>
            <a:endParaRPr lang="en-US" altLang="zh-CN" sz="2400" b="0" i="0" dirty="0">
              <a:latin typeface="+mn-ea"/>
              <a:ea typeface="+mn-ea"/>
            </a:endParaRPr>
          </a:p>
        </p:txBody>
      </p:sp>
      <p:sp>
        <p:nvSpPr>
          <p:cNvPr id="80903" name="Oval 7">
            <a:extLst>
              <a:ext uri="{FF2B5EF4-FFF2-40B4-BE49-F238E27FC236}">
                <a16:creationId xmlns:a16="http://schemas.microsoft.com/office/drawing/2014/main" id="{8A863430-B1FF-45F8-9FBD-544E3D330108}"/>
              </a:ext>
            </a:extLst>
          </p:cNvPr>
          <p:cNvSpPr>
            <a:spLocks noChangeArrowheads="1"/>
          </p:cNvSpPr>
          <p:nvPr/>
        </p:nvSpPr>
        <p:spPr bwMode="auto">
          <a:xfrm>
            <a:off x="4849416" y="1916832"/>
            <a:ext cx="432048" cy="523220"/>
          </a:xfrm>
          <a:prstGeom prst="ellipse">
            <a:avLst/>
          </a:prstGeom>
          <a:solidFill>
            <a:srgbClr val="FFFF99">
              <a:alpha val="50195"/>
            </a:srgbClr>
          </a:solidFill>
          <a:ln w="25400" cap="sq">
            <a:solidFill>
              <a:srgbClr val="CC66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400" b="0" i="0">
                <a:solidFill>
                  <a:srgbClr val="990000"/>
                </a:solidFill>
                <a:latin typeface="+mn-ea"/>
                <a:ea typeface="+mn-ea"/>
              </a:rPr>
              <a:t>7</a:t>
            </a:r>
            <a:endParaRPr lang="en-US" altLang="zh-CN" sz="2400" b="0" i="0">
              <a:latin typeface="+mn-ea"/>
              <a:ea typeface="+mn-ea"/>
            </a:endParaRPr>
          </a:p>
        </p:txBody>
      </p:sp>
      <p:sp>
        <p:nvSpPr>
          <p:cNvPr id="80904" name="Oval 8">
            <a:extLst>
              <a:ext uri="{FF2B5EF4-FFF2-40B4-BE49-F238E27FC236}">
                <a16:creationId xmlns:a16="http://schemas.microsoft.com/office/drawing/2014/main" id="{8C898269-8DEE-4E46-BB71-844F55067BB0}"/>
              </a:ext>
            </a:extLst>
          </p:cNvPr>
          <p:cNvSpPr>
            <a:spLocks noChangeArrowheads="1"/>
          </p:cNvSpPr>
          <p:nvPr/>
        </p:nvSpPr>
        <p:spPr bwMode="auto">
          <a:xfrm>
            <a:off x="4682480" y="3585592"/>
            <a:ext cx="471736" cy="417349"/>
          </a:xfrm>
          <a:prstGeom prst="ellipse">
            <a:avLst/>
          </a:prstGeom>
          <a:solidFill>
            <a:srgbClr val="FFFF99">
              <a:alpha val="50195"/>
            </a:srgbClr>
          </a:solidFill>
          <a:ln w="25400" cap="sq">
            <a:solidFill>
              <a:srgbClr val="CC66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400" b="0" i="0">
                <a:solidFill>
                  <a:srgbClr val="990000"/>
                </a:solidFill>
                <a:latin typeface="+mn-ea"/>
                <a:ea typeface="+mn-ea"/>
              </a:rPr>
              <a:t>5</a:t>
            </a:r>
            <a:endParaRPr lang="en-US" altLang="zh-CN" sz="2400" b="0" i="0">
              <a:latin typeface="+mn-ea"/>
              <a:ea typeface="+mn-ea"/>
            </a:endParaRPr>
          </a:p>
        </p:txBody>
      </p:sp>
      <p:sp>
        <p:nvSpPr>
          <p:cNvPr id="80905" name="Oval 9">
            <a:extLst>
              <a:ext uri="{FF2B5EF4-FFF2-40B4-BE49-F238E27FC236}">
                <a16:creationId xmlns:a16="http://schemas.microsoft.com/office/drawing/2014/main" id="{3927907E-CDD9-47B9-9BDB-27A62DA972A2}"/>
              </a:ext>
            </a:extLst>
          </p:cNvPr>
          <p:cNvSpPr>
            <a:spLocks noChangeArrowheads="1"/>
          </p:cNvSpPr>
          <p:nvPr/>
        </p:nvSpPr>
        <p:spPr bwMode="auto">
          <a:xfrm>
            <a:off x="3463280" y="3585592"/>
            <a:ext cx="471736" cy="417349"/>
          </a:xfrm>
          <a:prstGeom prst="ellipse">
            <a:avLst/>
          </a:prstGeom>
          <a:solidFill>
            <a:srgbClr val="FFFF99">
              <a:alpha val="50195"/>
            </a:srgbClr>
          </a:solidFill>
          <a:ln w="25400" cap="sq">
            <a:solidFill>
              <a:srgbClr val="CC66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400" b="0" i="0">
                <a:solidFill>
                  <a:srgbClr val="990000"/>
                </a:solidFill>
                <a:latin typeface="+mn-ea"/>
                <a:ea typeface="+mn-ea"/>
              </a:rPr>
              <a:t>2</a:t>
            </a:r>
            <a:endParaRPr lang="en-US" altLang="zh-CN" sz="2400" b="0" i="0">
              <a:latin typeface="+mn-ea"/>
              <a:ea typeface="+mn-ea"/>
            </a:endParaRPr>
          </a:p>
        </p:txBody>
      </p:sp>
      <p:sp>
        <p:nvSpPr>
          <p:cNvPr id="80906" name="Line 10">
            <a:extLst>
              <a:ext uri="{FF2B5EF4-FFF2-40B4-BE49-F238E27FC236}">
                <a16:creationId xmlns:a16="http://schemas.microsoft.com/office/drawing/2014/main" id="{D2660FA5-A739-44C3-A452-0F7F098B304B}"/>
              </a:ext>
            </a:extLst>
          </p:cNvPr>
          <p:cNvSpPr>
            <a:spLocks noChangeShapeType="1"/>
          </p:cNvSpPr>
          <p:nvPr/>
        </p:nvSpPr>
        <p:spPr bwMode="auto">
          <a:xfrm flipH="1">
            <a:off x="3768080" y="3356992"/>
            <a:ext cx="381000" cy="228600"/>
          </a:xfrm>
          <a:prstGeom prst="line">
            <a:avLst/>
          </a:prstGeom>
          <a:noFill/>
          <a:ln w="28575" cap="sq">
            <a:solidFill>
              <a:srgbClr val="99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0" i="0">
              <a:latin typeface="+mn-ea"/>
              <a:ea typeface="+mn-ea"/>
            </a:endParaRPr>
          </a:p>
        </p:txBody>
      </p:sp>
      <p:sp>
        <p:nvSpPr>
          <p:cNvPr id="80907" name="Line 11">
            <a:extLst>
              <a:ext uri="{FF2B5EF4-FFF2-40B4-BE49-F238E27FC236}">
                <a16:creationId xmlns:a16="http://schemas.microsoft.com/office/drawing/2014/main" id="{DEDE675C-F1B5-466D-AEAA-7320E8D3E7FF}"/>
              </a:ext>
            </a:extLst>
          </p:cNvPr>
          <p:cNvSpPr>
            <a:spLocks noChangeShapeType="1"/>
          </p:cNvSpPr>
          <p:nvPr/>
        </p:nvSpPr>
        <p:spPr bwMode="auto">
          <a:xfrm>
            <a:off x="4491980" y="3322678"/>
            <a:ext cx="381000" cy="228600"/>
          </a:xfrm>
          <a:prstGeom prst="line">
            <a:avLst/>
          </a:prstGeom>
          <a:noFill/>
          <a:ln w="28575" cap="sq">
            <a:solidFill>
              <a:srgbClr val="99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0" i="0">
              <a:latin typeface="+mn-ea"/>
              <a:ea typeface="+mn-ea"/>
            </a:endParaRPr>
          </a:p>
        </p:txBody>
      </p:sp>
      <p:sp>
        <p:nvSpPr>
          <p:cNvPr id="80908" name="Text Box 12">
            <a:extLst>
              <a:ext uri="{FF2B5EF4-FFF2-40B4-BE49-F238E27FC236}">
                <a16:creationId xmlns:a16="http://schemas.microsoft.com/office/drawing/2014/main" id="{E253D9D6-6A53-4301-B69B-5133ABB385F8}"/>
              </a:ext>
            </a:extLst>
          </p:cNvPr>
          <p:cNvSpPr txBox="1">
            <a:spLocks noChangeArrowheads="1"/>
          </p:cNvSpPr>
          <p:nvPr/>
        </p:nvSpPr>
        <p:spPr bwMode="auto">
          <a:xfrm>
            <a:off x="4133205" y="2852936"/>
            <a:ext cx="339403" cy="461665"/>
          </a:xfrm>
          <a:prstGeom prst="rect">
            <a:avLst/>
          </a:prstGeom>
          <a:solidFill>
            <a:srgbClr val="CCFFCC">
              <a:alpha val="50195"/>
            </a:srgbClr>
          </a:solidFill>
          <a:ln w="25400" cap="sq">
            <a:solidFill>
              <a:srgbClr val="00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400" b="0" i="0" dirty="0">
                <a:solidFill>
                  <a:srgbClr val="FF3300"/>
                </a:solidFill>
                <a:latin typeface="+mn-ea"/>
                <a:ea typeface="+mn-ea"/>
              </a:rPr>
              <a:t>7</a:t>
            </a:r>
            <a:endParaRPr lang="en-US" altLang="zh-CN" sz="2400" b="0" i="0" dirty="0">
              <a:latin typeface="+mn-ea"/>
              <a:ea typeface="+mn-ea"/>
            </a:endParaRPr>
          </a:p>
        </p:txBody>
      </p:sp>
      <p:sp>
        <p:nvSpPr>
          <p:cNvPr id="80909" name="Oval 13">
            <a:extLst>
              <a:ext uri="{FF2B5EF4-FFF2-40B4-BE49-F238E27FC236}">
                <a16:creationId xmlns:a16="http://schemas.microsoft.com/office/drawing/2014/main" id="{FDC9FE9C-9AAA-43CE-8DDE-8825ABC2DFDF}"/>
              </a:ext>
            </a:extLst>
          </p:cNvPr>
          <p:cNvSpPr>
            <a:spLocks noChangeArrowheads="1"/>
          </p:cNvSpPr>
          <p:nvPr/>
        </p:nvSpPr>
        <p:spPr bwMode="auto">
          <a:xfrm>
            <a:off x="1084312" y="2852936"/>
            <a:ext cx="381001" cy="461665"/>
          </a:xfrm>
          <a:prstGeom prst="ellipse">
            <a:avLst/>
          </a:prstGeom>
          <a:solidFill>
            <a:srgbClr val="FFFF99">
              <a:alpha val="50195"/>
            </a:srgbClr>
          </a:solidFill>
          <a:ln w="25400" cap="sq">
            <a:solidFill>
              <a:srgbClr val="CC66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400" b="0" i="0">
                <a:solidFill>
                  <a:srgbClr val="990000"/>
                </a:solidFill>
                <a:latin typeface="+mn-ea"/>
                <a:ea typeface="+mn-ea"/>
              </a:rPr>
              <a:t>6</a:t>
            </a:r>
            <a:endParaRPr lang="en-US" altLang="zh-CN" sz="2400" b="0" i="0">
              <a:latin typeface="+mn-ea"/>
              <a:ea typeface="+mn-ea"/>
            </a:endParaRPr>
          </a:p>
        </p:txBody>
      </p:sp>
      <p:sp>
        <p:nvSpPr>
          <p:cNvPr id="80910" name="Oval 14">
            <a:extLst>
              <a:ext uri="{FF2B5EF4-FFF2-40B4-BE49-F238E27FC236}">
                <a16:creationId xmlns:a16="http://schemas.microsoft.com/office/drawing/2014/main" id="{0ECB57CC-6879-4B50-889A-C4C83B336DD6}"/>
              </a:ext>
            </a:extLst>
          </p:cNvPr>
          <p:cNvSpPr>
            <a:spLocks noChangeArrowheads="1"/>
          </p:cNvSpPr>
          <p:nvPr/>
        </p:nvSpPr>
        <p:spPr bwMode="auto">
          <a:xfrm>
            <a:off x="1998712" y="2852936"/>
            <a:ext cx="381001" cy="461665"/>
          </a:xfrm>
          <a:prstGeom prst="ellipse">
            <a:avLst/>
          </a:prstGeom>
          <a:solidFill>
            <a:srgbClr val="FFFF99">
              <a:alpha val="50195"/>
            </a:srgbClr>
          </a:solidFill>
          <a:ln w="25400" cap="sq">
            <a:solidFill>
              <a:srgbClr val="CC66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400" b="0" i="0" dirty="0">
                <a:solidFill>
                  <a:srgbClr val="990000"/>
                </a:solidFill>
                <a:latin typeface="+mn-ea"/>
                <a:ea typeface="+mn-ea"/>
              </a:rPr>
              <a:t>9</a:t>
            </a:r>
            <a:endParaRPr lang="en-US" altLang="zh-CN" sz="2400" b="0" i="0" dirty="0">
              <a:latin typeface="+mn-ea"/>
              <a:ea typeface="+mn-ea"/>
            </a:endParaRPr>
          </a:p>
        </p:txBody>
      </p:sp>
      <p:sp>
        <p:nvSpPr>
          <p:cNvPr id="80911" name="Oval 15">
            <a:extLst>
              <a:ext uri="{FF2B5EF4-FFF2-40B4-BE49-F238E27FC236}">
                <a16:creationId xmlns:a16="http://schemas.microsoft.com/office/drawing/2014/main" id="{5F8A485E-793D-42C5-8F7F-2A28C0112638}"/>
              </a:ext>
            </a:extLst>
          </p:cNvPr>
          <p:cNvSpPr>
            <a:spLocks noChangeArrowheads="1"/>
          </p:cNvSpPr>
          <p:nvPr/>
        </p:nvSpPr>
        <p:spPr bwMode="auto">
          <a:xfrm>
            <a:off x="2913113" y="2852936"/>
            <a:ext cx="416496" cy="461665"/>
          </a:xfrm>
          <a:prstGeom prst="ellipse">
            <a:avLst/>
          </a:prstGeom>
          <a:solidFill>
            <a:srgbClr val="FFFF99">
              <a:alpha val="50195"/>
            </a:srgbClr>
          </a:solidFill>
          <a:ln w="25400" cap="sq">
            <a:solidFill>
              <a:srgbClr val="CC66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400" b="0" i="0">
                <a:solidFill>
                  <a:srgbClr val="990000"/>
                </a:solidFill>
                <a:latin typeface="+mn-ea"/>
                <a:ea typeface="+mn-ea"/>
              </a:rPr>
              <a:t>7</a:t>
            </a:r>
            <a:endParaRPr lang="en-US" altLang="zh-CN" sz="2400" b="0" i="0">
              <a:latin typeface="+mn-ea"/>
              <a:ea typeface="+mn-ea"/>
            </a:endParaRPr>
          </a:p>
        </p:txBody>
      </p:sp>
      <p:sp>
        <p:nvSpPr>
          <p:cNvPr id="80912" name="Oval 16">
            <a:extLst>
              <a:ext uri="{FF2B5EF4-FFF2-40B4-BE49-F238E27FC236}">
                <a16:creationId xmlns:a16="http://schemas.microsoft.com/office/drawing/2014/main" id="{C6B086F1-26BE-4EE5-8D96-3ED67A51AA56}"/>
              </a:ext>
            </a:extLst>
          </p:cNvPr>
          <p:cNvSpPr>
            <a:spLocks noChangeArrowheads="1"/>
          </p:cNvSpPr>
          <p:nvPr/>
        </p:nvSpPr>
        <p:spPr bwMode="auto">
          <a:xfrm>
            <a:off x="4167808" y="5066020"/>
            <a:ext cx="471736" cy="461665"/>
          </a:xfrm>
          <a:prstGeom prst="ellipse">
            <a:avLst/>
          </a:prstGeom>
          <a:solidFill>
            <a:srgbClr val="FFFF99">
              <a:alpha val="50195"/>
            </a:srgbClr>
          </a:solidFill>
          <a:ln w="25400" cap="sq">
            <a:solidFill>
              <a:srgbClr val="CC66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400" b="0" i="0">
                <a:solidFill>
                  <a:srgbClr val="990000"/>
                </a:solidFill>
                <a:latin typeface="+mn-ea"/>
                <a:ea typeface="+mn-ea"/>
              </a:rPr>
              <a:t>6</a:t>
            </a:r>
            <a:endParaRPr lang="en-US" altLang="zh-CN" sz="2400" b="0" i="0">
              <a:latin typeface="+mn-ea"/>
              <a:ea typeface="+mn-ea"/>
            </a:endParaRPr>
          </a:p>
        </p:txBody>
      </p:sp>
      <p:sp>
        <p:nvSpPr>
          <p:cNvPr id="80913" name="Oval 17">
            <a:extLst>
              <a:ext uri="{FF2B5EF4-FFF2-40B4-BE49-F238E27FC236}">
                <a16:creationId xmlns:a16="http://schemas.microsoft.com/office/drawing/2014/main" id="{29E4364D-FF11-4AB3-9653-10D75280DFC7}"/>
              </a:ext>
            </a:extLst>
          </p:cNvPr>
          <p:cNvSpPr>
            <a:spLocks noChangeArrowheads="1"/>
          </p:cNvSpPr>
          <p:nvPr/>
        </p:nvSpPr>
        <p:spPr bwMode="auto">
          <a:xfrm>
            <a:off x="5234607" y="5066020"/>
            <a:ext cx="533399" cy="461665"/>
          </a:xfrm>
          <a:prstGeom prst="ellipse">
            <a:avLst/>
          </a:prstGeom>
          <a:solidFill>
            <a:srgbClr val="FFFF99">
              <a:alpha val="50195"/>
            </a:srgbClr>
          </a:solidFill>
          <a:ln w="25400" cap="sq">
            <a:solidFill>
              <a:srgbClr val="CC66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400" b="0" i="0">
                <a:solidFill>
                  <a:srgbClr val="990000"/>
                </a:solidFill>
                <a:latin typeface="+mn-ea"/>
                <a:ea typeface="+mn-ea"/>
              </a:rPr>
              <a:t>7</a:t>
            </a:r>
            <a:endParaRPr lang="en-US" altLang="zh-CN" sz="2400" b="0" i="0">
              <a:latin typeface="+mn-ea"/>
              <a:ea typeface="+mn-ea"/>
            </a:endParaRPr>
          </a:p>
        </p:txBody>
      </p:sp>
      <p:sp>
        <p:nvSpPr>
          <p:cNvPr id="80914" name="Text Box 18">
            <a:extLst>
              <a:ext uri="{FF2B5EF4-FFF2-40B4-BE49-F238E27FC236}">
                <a16:creationId xmlns:a16="http://schemas.microsoft.com/office/drawing/2014/main" id="{543E93BA-A9DD-42BD-B4B6-378DFE2C3D7B}"/>
              </a:ext>
            </a:extLst>
          </p:cNvPr>
          <p:cNvSpPr txBox="1">
            <a:spLocks noChangeArrowheads="1"/>
          </p:cNvSpPr>
          <p:nvPr/>
        </p:nvSpPr>
        <p:spPr bwMode="auto">
          <a:xfrm>
            <a:off x="4701208" y="4324980"/>
            <a:ext cx="533400" cy="461665"/>
          </a:xfrm>
          <a:prstGeom prst="rect">
            <a:avLst/>
          </a:prstGeom>
          <a:solidFill>
            <a:srgbClr val="CCFFCC">
              <a:alpha val="50195"/>
            </a:srgbClr>
          </a:solidFill>
          <a:ln w="25400" cap="sq">
            <a:solidFill>
              <a:srgbClr val="00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400" b="0" i="0" dirty="0">
                <a:solidFill>
                  <a:srgbClr val="FF3300"/>
                </a:solidFill>
                <a:latin typeface="+mn-ea"/>
                <a:ea typeface="+mn-ea"/>
              </a:rPr>
              <a:t>13</a:t>
            </a:r>
            <a:endParaRPr lang="en-US" altLang="zh-CN" sz="2400" b="0" i="0" dirty="0">
              <a:latin typeface="+mn-ea"/>
              <a:ea typeface="+mn-ea"/>
            </a:endParaRPr>
          </a:p>
        </p:txBody>
      </p:sp>
      <p:sp>
        <p:nvSpPr>
          <p:cNvPr id="80915" name="Line 19">
            <a:extLst>
              <a:ext uri="{FF2B5EF4-FFF2-40B4-BE49-F238E27FC236}">
                <a16:creationId xmlns:a16="http://schemas.microsoft.com/office/drawing/2014/main" id="{315D10C8-26B6-4389-B851-8A84B3A3586A}"/>
              </a:ext>
            </a:extLst>
          </p:cNvPr>
          <p:cNvSpPr>
            <a:spLocks noChangeShapeType="1"/>
          </p:cNvSpPr>
          <p:nvPr/>
        </p:nvSpPr>
        <p:spPr bwMode="auto">
          <a:xfrm flipH="1">
            <a:off x="4472608" y="4761220"/>
            <a:ext cx="228600" cy="304800"/>
          </a:xfrm>
          <a:prstGeom prst="line">
            <a:avLst/>
          </a:prstGeom>
          <a:noFill/>
          <a:ln w="28575" cap="sq">
            <a:solidFill>
              <a:srgbClr val="99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0" i="0">
              <a:latin typeface="+mn-ea"/>
              <a:ea typeface="+mn-ea"/>
            </a:endParaRPr>
          </a:p>
        </p:txBody>
      </p:sp>
      <p:sp>
        <p:nvSpPr>
          <p:cNvPr id="80916" name="Line 20">
            <a:extLst>
              <a:ext uri="{FF2B5EF4-FFF2-40B4-BE49-F238E27FC236}">
                <a16:creationId xmlns:a16="http://schemas.microsoft.com/office/drawing/2014/main" id="{79172672-EC85-47C3-B44F-E865DC41EB93}"/>
              </a:ext>
            </a:extLst>
          </p:cNvPr>
          <p:cNvSpPr>
            <a:spLocks noChangeShapeType="1"/>
          </p:cNvSpPr>
          <p:nvPr/>
        </p:nvSpPr>
        <p:spPr bwMode="auto">
          <a:xfrm>
            <a:off x="5263598" y="4822376"/>
            <a:ext cx="152400" cy="228600"/>
          </a:xfrm>
          <a:prstGeom prst="line">
            <a:avLst/>
          </a:prstGeom>
          <a:noFill/>
          <a:ln w="28575" cap="sq">
            <a:solidFill>
              <a:srgbClr val="99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0" i="0">
              <a:latin typeface="+mn-ea"/>
              <a:ea typeface="+mn-ea"/>
            </a:endParaRPr>
          </a:p>
        </p:txBody>
      </p:sp>
      <p:sp>
        <p:nvSpPr>
          <p:cNvPr id="80917" name="Oval 21">
            <a:extLst>
              <a:ext uri="{FF2B5EF4-FFF2-40B4-BE49-F238E27FC236}">
                <a16:creationId xmlns:a16="http://schemas.microsoft.com/office/drawing/2014/main" id="{684331C7-369E-406E-AA93-3C1CD8CF82E9}"/>
              </a:ext>
            </a:extLst>
          </p:cNvPr>
          <p:cNvSpPr>
            <a:spLocks noChangeArrowheads="1"/>
          </p:cNvSpPr>
          <p:nvPr/>
        </p:nvSpPr>
        <p:spPr bwMode="auto">
          <a:xfrm>
            <a:off x="1043608" y="4324980"/>
            <a:ext cx="381001" cy="461665"/>
          </a:xfrm>
          <a:prstGeom prst="ellipse">
            <a:avLst/>
          </a:prstGeom>
          <a:solidFill>
            <a:srgbClr val="FFFF99">
              <a:alpha val="50195"/>
            </a:srgbClr>
          </a:solidFill>
          <a:ln w="25400" cap="sq">
            <a:solidFill>
              <a:srgbClr val="CC66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400" b="0" i="0" dirty="0">
                <a:solidFill>
                  <a:srgbClr val="990000"/>
                </a:solidFill>
                <a:latin typeface="+mn-ea"/>
                <a:ea typeface="+mn-ea"/>
              </a:rPr>
              <a:t>9</a:t>
            </a:r>
            <a:endParaRPr lang="en-US" altLang="zh-CN" sz="2400" b="0" i="0" dirty="0">
              <a:latin typeface="+mn-ea"/>
              <a:ea typeface="+mn-ea"/>
            </a:endParaRPr>
          </a:p>
        </p:txBody>
      </p:sp>
      <p:sp>
        <p:nvSpPr>
          <p:cNvPr id="80918" name="Line 22">
            <a:extLst>
              <a:ext uri="{FF2B5EF4-FFF2-40B4-BE49-F238E27FC236}">
                <a16:creationId xmlns:a16="http://schemas.microsoft.com/office/drawing/2014/main" id="{2843A65A-538D-4E6A-B7C7-2048596ED2DA}"/>
              </a:ext>
            </a:extLst>
          </p:cNvPr>
          <p:cNvSpPr>
            <a:spLocks noChangeShapeType="1"/>
          </p:cNvSpPr>
          <p:nvPr/>
        </p:nvSpPr>
        <p:spPr bwMode="auto">
          <a:xfrm flipH="1">
            <a:off x="2110408" y="4837420"/>
            <a:ext cx="381000" cy="228600"/>
          </a:xfrm>
          <a:prstGeom prst="line">
            <a:avLst/>
          </a:prstGeom>
          <a:noFill/>
          <a:ln w="28575" cap="sq">
            <a:solidFill>
              <a:srgbClr val="99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0" i="0">
              <a:latin typeface="+mn-ea"/>
              <a:ea typeface="+mn-ea"/>
            </a:endParaRPr>
          </a:p>
        </p:txBody>
      </p:sp>
      <p:sp>
        <p:nvSpPr>
          <p:cNvPr id="80919" name="Line 23">
            <a:extLst>
              <a:ext uri="{FF2B5EF4-FFF2-40B4-BE49-F238E27FC236}">
                <a16:creationId xmlns:a16="http://schemas.microsoft.com/office/drawing/2014/main" id="{4900ACE2-79A5-4786-A40B-5E502C06FB9A}"/>
              </a:ext>
            </a:extLst>
          </p:cNvPr>
          <p:cNvSpPr>
            <a:spLocks noChangeShapeType="1"/>
          </p:cNvSpPr>
          <p:nvPr/>
        </p:nvSpPr>
        <p:spPr bwMode="auto">
          <a:xfrm>
            <a:off x="2987824" y="4807332"/>
            <a:ext cx="325909" cy="258688"/>
          </a:xfrm>
          <a:prstGeom prst="line">
            <a:avLst/>
          </a:prstGeom>
          <a:noFill/>
          <a:ln w="28575" cap="sq">
            <a:solidFill>
              <a:srgbClr val="99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0" i="0">
              <a:latin typeface="+mn-ea"/>
              <a:ea typeface="+mn-ea"/>
            </a:endParaRPr>
          </a:p>
        </p:txBody>
      </p:sp>
      <p:sp>
        <p:nvSpPr>
          <p:cNvPr id="80920" name="Text Box 24">
            <a:extLst>
              <a:ext uri="{FF2B5EF4-FFF2-40B4-BE49-F238E27FC236}">
                <a16:creationId xmlns:a16="http://schemas.microsoft.com/office/drawing/2014/main" id="{4FE01E8C-8E54-4F43-BA2F-43E9F2D66DA3}"/>
              </a:ext>
            </a:extLst>
          </p:cNvPr>
          <p:cNvSpPr txBox="1">
            <a:spLocks noChangeArrowheads="1"/>
          </p:cNvSpPr>
          <p:nvPr/>
        </p:nvSpPr>
        <p:spPr bwMode="auto">
          <a:xfrm>
            <a:off x="2475534" y="4324981"/>
            <a:ext cx="437580" cy="461665"/>
          </a:xfrm>
          <a:prstGeom prst="rect">
            <a:avLst/>
          </a:prstGeom>
          <a:solidFill>
            <a:srgbClr val="CCFFCC">
              <a:alpha val="50195"/>
            </a:srgbClr>
          </a:solidFill>
          <a:ln w="25400" cap="sq">
            <a:solidFill>
              <a:srgbClr val="00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400" b="0" i="0" dirty="0">
                <a:solidFill>
                  <a:srgbClr val="FF3300"/>
                </a:solidFill>
                <a:latin typeface="+mn-ea"/>
                <a:ea typeface="+mn-ea"/>
              </a:rPr>
              <a:t>7</a:t>
            </a:r>
            <a:endParaRPr lang="en-US" altLang="zh-CN" sz="2400" b="0" i="0" dirty="0">
              <a:latin typeface="+mn-ea"/>
              <a:ea typeface="+mn-ea"/>
            </a:endParaRPr>
          </a:p>
        </p:txBody>
      </p:sp>
      <p:sp>
        <p:nvSpPr>
          <p:cNvPr id="80921" name="Oval 25">
            <a:extLst>
              <a:ext uri="{FF2B5EF4-FFF2-40B4-BE49-F238E27FC236}">
                <a16:creationId xmlns:a16="http://schemas.microsoft.com/office/drawing/2014/main" id="{0FB48A91-CC80-49E0-A447-B2DE943D72EB}"/>
              </a:ext>
            </a:extLst>
          </p:cNvPr>
          <p:cNvSpPr>
            <a:spLocks noChangeArrowheads="1"/>
          </p:cNvSpPr>
          <p:nvPr/>
        </p:nvSpPr>
        <p:spPr bwMode="auto">
          <a:xfrm>
            <a:off x="3098304" y="5095364"/>
            <a:ext cx="471736" cy="461665"/>
          </a:xfrm>
          <a:prstGeom prst="ellipse">
            <a:avLst/>
          </a:prstGeom>
          <a:solidFill>
            <a:srgbClr val="FFFF99">
              <a:alpha val="50195"/>
            </a:srgbClr>
          </a:solidFill>
          <a:ln w="25400" cap="sq">
            <a:solidFill>
              <a:srgbClr val="CC66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400" b="0" i="0">
                <a:solidFill>
                  <a:srgbClr val="990000"/>
                </a:solidFill>
                <a:latin typeface="+mn-ea"/>
                <a:ea typeface="+mn-ea"/>
              </a:rPr>
              <a:t>5</a:t>
            </a:r>
            <a:endParaRPr lang="en-US" altLang="zh-CN" sz="2400" b="0" i="0">
              <a:latin typeface="+mn-ea"/>
              <a:ea typeface="+mn-ea"/>
            </a:endParaRPr>
          </a:p>
        </p:txBody>
      </p:sp>
      <p:sp>
        <p:nvSpPr>
          <p:cNvPr id="80922" name="Oval 26">
            <a:extLst>
              <a:ext uri="{FF2B5EF4-FFF2-40B4-BE49-F238E27FC236}">
                <a16:creationId xmlns:a16="http://schemas.microsoft.com/office/drawing/2014/main" id="{3FAA1A78-5D5B-4355-8B68-F36B4B616232}"/>
              </a:ext>
            </a:extLst>
          </p:cNvPr>
          <p:cNvSpPr>
            <a:spLocks noChangeArrowheads="1"/>
          </p:cNvSpPr>
          <p:nvPr/>
        </p:nvSpPr>
        <p:spPr bwMode="auto">
          <a:xfrm>
            <a:off x="1805608" y="5066020"/>
            <a:ext cx="381000" cy="461665"/>
          </a:xfrm>
          <a:prstGeom prst="ellipse">
            <a:avLst/>
          </a:prstGeom>
          <a:solidFill>
            <a:srgbClr val="FFFF99">
              <a:alpha val="50195"/>
            </a:srgbClr>
          </a:solidFill>
          <a:ln w="25400" cap="sq">
            <a:solidFill>
              <a:srgbClr val="CC66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400" b="0" i="0">
                <a:solidFill>
                  <a:srgbClr val="990000"/>
                </a:solidFill>
                <a:latin typeface="+mn-ea"/>
                <a:ea typeface="+mn-ea"/>
              </a:rPr>
              <a:t>2</a:t>
            </a:r>
            <a:endParaRPr lang="en-US" altLang="zh-CN" sz="2400" b="0" i="0">
              <a:latin typeface="+mn-ea"/>
              <a:ea typeface="+mn-ea"/>
            </a:endParaRPr>
          </a:p>
        </p:txBody>
      </p:sp>
      <p:sp>
        <p:nvSpPr>
          <p:cNvPr id="2" name="Text Box 4">
            <a:extLst>
              <a:ext uri="{FF2B5EF4-FFF2-40B4-BE49-F238E27FC236}">
                <a16:creationId xmlns:a16="http://schemas.microsoft.com/office/drawing/2014/main" id="{E4BB12EC-267F-47DB-AB4A-ADCA92377A71}"/>
              </a:ext>
            </a:extLst>
          </p:cNvPr>
          <p:cNvSpPr txBox="1">
            <a:spLocks noChangeArrowheads="1"/>
          </p:cNvSpPr>
          <p:nvPr/>
        </p:nvSpPr>
        <p:spPr bwMode="auto">
          <a:xfrm>
            <a:off x="457200" y="211287"/>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en-US" altLang="zh-CN" sz="4400" i="0" dirty="0">
                <a:solidFill>
                  <a:schemeClr val="tx2"/>
                </a:solidFill>
                <a:ea typeface="隶书" pitchFamily="49" charset="-122"/>
              </a:rPr>
              <a:t>Huffman</a:t>
            </a:r>
            <a:r>
              <a:rPr lang="zh-CN" altLang="en-US" sz="4400" i="0" dirty="0">
                <a:solidFill>
                  <a:schemeClr val="tx2"/>
                </a:solidFill>
                <a:ea typeface="隶书" pitchFamily="49" charset="-122"/>
              </a:rPr>
              <a:t>树练习</a:t>
            </a:r>
            <a:r>
              <a:rPr lang="en-US" altLang="zh-CN" sz="4400" i="0" dirty="0">
                <a:solidFill>
                  <a:schemeClr val="tx2"/>
                </a:solidFill>
                <a:ea typeface="隶书" pitchFamily="49" charset="-122"/>
              </a:rPr>
              <a:t>1</a:t>
            </a:r>
            <a:endParaRPr lang="zh-CN" altLang="en-US" sz="4400" i="0" dirty="0">
              <a:solidFill>
                <a:schemeClr val="tx2"/>
              </a:solidFill>
              <a:ea typeface="隶书" pitchFamily="49" charset="-122"/>
            </a:endParaRPr>
          </a:p>
        </p:txBody>
      </p:sp>
    </p:spTree>
  </p:cSld>
  <p:clrMapOvr>
    <a:masterClrMapping/>
  </p:clrMapOvr>
  <p:transition spd="med">
    <p:pull dir="d"/>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80899"/>
                                        </p:tgtEl>
                                        <p:attrNameLst>
                                          <p:attrName>style.visibility</p:attrName>
                                        </p:attrNameLst>
                                      </p:cBhvr>
                                      <p:to>
                                        <p:strVal val="visible"/>
                                      </p:to>
                                    </p:set>
                                    <p:anim calcmode="lin" valueType="num">
                                      <p:cBhvr additive="base">
                                        <p:cTn id="7" dur="500" fill="hold"/>
                                        <p:tgtEl>
                                          <p:spTgt spid="80899"/>
                                        </p:tgtEl>
                                        <p:attrNameLst>
                                          <p:attrName>ppt_x</p:attrName>
                                        </p:attrNameLst>
                                      </p:cBhvr>
                                      <p:tavLst>
                                        <p:tav tm="0">
                                          <p:val>
                                            <p:strVal val="#ppt_x"/>
                                          </p:val>
                                        </p:tav>
                                        <p:tav tm="100000">
                                          <p:val>
                                            <p:strVal val="#ppt_x"/>
                                          </p:val>
                                        </p:tav>
                                      </p:tavLst>
                                    </p:anim>
                                    <p:anim calcmode="lin" valueType="num">
                                      <p:cBhvr additive="base">
                                        <p:cTn id="8" dur="500" fill="hold"/>
                                        <p:tgtEl>
                                          <p:spTgt spid="80899"/>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80900"/>
                                        </p:tgtEl>
                                        <p:attrNameLst>
                                          <p:attrName>style.visibility</p:attrName>
                                        </p:attrNameLst>
                                      </p:cBhvr>
                                      <p:to>
                                        <p:strVal val="visible"/>
                                      </p:to>
                                    </p:set>
                                    <p:animEffect transition="in" filter="dissolve">
                                      <p:cBhvr>
                                        <p:cTn id="13" dur="500"/>
                                        <p:tgtEl>
                                          <p:spTgt spid="80900"/>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80901"/>
                                        </p:tgtEl>
                                        <p:attrNameLst>
                                          <p:attrName>style.visibility</p:attrName>
                                        </p:attrNameLst>
                                      </p:cBhvr>
                                      <p:to>
                                        <p:strVal val="visible"/>
                                      </p:to>
                                    </p:set>
                                    <p:animEffect transition="in" filter="dissolve">
                                      <p:cBhvr>
                                        <p:cTn id="18" dur="500"/>
                                        <p:tgtEl>
                                          <p:spTgt spid="80901"/>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80902"/>
                                        </p:tgtEl>
                                        <p:attrNameLst>
                                          <p:attrName>style.visibility</p:attrName>
                                        </p:attrNameLst>
                                      </p:cBhvr>
                                      <p:to>
                                        <p:strVal val="visible"/>
                                      </p:to>
                                    </p:set>
                                    <p:animEffect transition="in" filter="dissolve">
                                      <p:cBhvr>
                                        <p:cTn id="23" dur="500"/>
                                        <p:tgtEl>
                                          <p:spTgt spid="80902"/>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80898"/>
                                        </p:tgtEl>
                                        <p:attrNameLst>
                                          <p:attrName>style.visibility</p:attrName>
                                        </p:attrNameLst>
                                      </p:cBhvr>
                                      <p:to>
                                        <p:strVal val="visible"/>
                                      </p:to>
                                    </p:set>
                                    <p:animEffect transition="in" filter="dissolve">
                                      <p:cBhvr>
                                        <p:cTn id="28" dur="500"/>
                                        <p:tgtEl>
                                          <p:spTgt spid="80898"/>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9" presetClass="entr" presetSubtype="0" fill="hold" grpId="0" nodeType="clickEffect">
                                  <p:stCondLst>
                                    <p:cond delay="0"/>
                                  </p:stCondLst>
                                  <p:childTnLst>
                                    <p:set>
                                      <p:cBhvr>
                                        <p:cTn id="32" dur="1" fill="hold">
                                          <p:stCondLst>
                                            <p:cond delay="0"/>
                                          </p:stCondLst>
                                        </p:cTn>
                                        <p:tgtEl>
                                          <p:spTgt spid="80903"/>
                                        </p:tgtEl>
                                        <p:attrNameLst>
                                          <p:attrName>style.visibility</p:attrName>
                                        </p:attrNameLst>
                                      </p:cBhvr>
                                      <p:to>
                                        <p:strVal val="visible"/>
                                      </p:to>
                                    </p:set>
                                    <p:animEffect transition="in" filter="dissolve">
                                      <p:cBhvr>
                                        <p:cTn id="33" dur="500"/>
                                        <p:tgtEl>
                                          <p:spTgt spid="80903"/>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9" presetClass="entr" presetSubtype="0" fill="hold" grpId="0" nodeType="clickEffect">
                                  <p:stCondLst>
                                    <p:cond delay="0"/>
                                  </p:stCondLst>
                                  <p:childTnLst>
                                    <p:set>
                                      <p:cBhvr>
                                        <p:cTn id="37" dur="1" fill="hold">
                                          <p:stCondLst>
                                            <p:cond delay="0"/>
                                          </p:stCondLst>
                                        </p:cTn>
                                        <p:tgtEl>
                                          <p:spTgt spid="80904"/>
                                        </p:tgtEl>
                                        <p:attrNameLst>
                                          <p:attrName>style.visibility</p:attrName>
                                        </p:attrNameLst>
                                      </p:cBhvr>
                                      <p:to>
                                        <p:strVal val="visible"/>
                                      </p:to>
                                    </p:set>
                                    <p:animEffect transition="in" filter="dissolve">
                                      <p:cBhvr>
                                        <p:cTn id="38" dur="500"/>
                                        <p:tgtEl>
                                          <p:spTgt spid="80904"/>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9" presetClass="entr" presetSubtype="0" fill="hold" grpId="0" nodeType="clickEffect">
                                  <p:stCondLst>
                                    <p:cond delay="0"/>
                                  </p:stCondLst>
                                  <p:childTnLst>
                                    <p:set>
                                      <p:cBhvr>
                                        <p:cTn id="42" dur="1" fill="hold">
                                          <p:stCondLst>
                                            <p:cond delay="0"/>
                                          </p:stCondLst>
                                        </p:cTn>
                                        <p:tgtEl>
                                          <p:spTgt spid="80905"/>
                                        </p:tgtEl>
                                        <p:attrNameLst>
                                          <p:attrName>style.visibility</p:attrName>
                                        </p:attrNameLst>
                                      </p:cBhvr>
                                      <p:to>
                                        <p:strVal val="visible"/>
                                      </p:to>
                                    </p:set>
                                    <p:animEffect transition="in" filter="dissolve">
                                      <p:cBhvr>
                                        <p:cTn id="43" dur="500"/>
                                        <p:tgtEl>
                                          <p:spTgt spid="80905"/>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17" presetClass="entr" presetSubtype="4" fill="hold" nodeType="clickEffect">
                                  <p:stCondLst>
                                    <p:cond delay="0"/>
                                  </p:stCondLst>
                                  <p:childTnLst>
                                    <p:set>
                                      <p:cBhvr>
                                        <p:cTn id="47" dur="1" fill="hold">
                                          <p:stCondLst>
                                            <p:cond delay="0"/>
                                          </p:stCondLst>
                                        </p:cTn>
                                        <p:tgtEl>
                                          <p:spTgt spid="80906"/>
                                        </p:tgtEl>
                                        <p:attrNameLst>
                                          <p:attrName>style.visibility</p:attrName>
                                        </p:attrNameLst>
                                      </p:cBhvr>
                                      <p:to>
                                        <p:strVal val="visible"/>
                                      </p:to>
                                    </p:set>
                                    <p:anim calcmode="lin" valueType="num">
                                      <p:cBhvr additive="base">
                                        <p:cTn id="48" dur="500" fill="hold"/>
                                        <p:tgtEl>
                                          <p:spTgt spid="80906"/>
                                        </p:tgtEl>
                                        <p:attrNameLst>
                                          <p:attrName>ppt_x</p:attrName>
                                        </p:attrNameLst>
                                      </p:cBhvr>
                                      <p:tavLst>
                                        <p:tav tm="0">
                                          <p:val>
                                            <p:strVal val="#ppt_x"/>
                                          </p:val>
                                        </p:tav>
                                        <p:tav tm="100000">
                                          <p:val>
                                            <p:strVal val="#ppt_x"/>
                                          </p:val>
                                        </p:tav>
                                      </p:tavLst>
                                    </p:anim>
                                    <p:anim calcmode="lin" valueType="num">
                                      <p:cBhvr additive="base">
                                        <p:cTn id="49" dur="500" fill="hold"/>
                                        <p:tgtEl>
                                          <p:spTgt spid="80906"/>
                                        </p:tgtEl>
                                        <p:attrNameLst>
                                          <p:attrName>ppt_y</p:attrName>
                                        </p:attrNameLst>
                                      </p:cBhvr>
                                      <p:tavLst>
                                        <p:tav tm="0">
                                          <p:val>
                                            <p:strVal val="#ppt_y+#ppt_h/2"/>
                                          </p:val>
                                        </p:tav>
                                        <p:tav tm="100000">
                                          <p:val>
                                            <p:strVal val="#ppt_y"/>
                                          </p:val>
                                        </p:tav>
                                      </p:tavLst>
                                    </p:anim>
                                    <p:anim calcmode="lin" valueType="num">
                                      <p:cBhvr additive="base">
                                        <p:cTn id="50" dur="500" fill="hold"/>
                                        <p:tgtEl>
                                          <p:spTgt spid="80906"/>
                                        </p:tgtEl>
                                        <p:attrNameLst>
                                          <p:attrName>ppt_w</p:attrName>
                                        </p:attrNameLst>
                                      </p:cBhvr>
                                      <p:tavLst>
                                        <p:tav tm="0">
                                          <p:val>
                                            <p:strVal val="#ppt_w"/>
                                          </p:val>
                                        </p:tav>
                                        <p:tav tm="100000">
                                          <p:val>
                                            <p:strVal val="#ppt_w"/>
                                          </p:val>
                                        </p:tav>
                                      </p:tavLst>
                                    </p:anim>
                                    <p:anim calcmode="lin" valueType="num">
                                      <p:cBhvr additive="base">
                                        <p:cTn id="51" dur="500" fill="hold"/>
                                        <p:tgtEl>
                                          <p:spTgt spid="80906"/>
                                        </p:tgtEl>
                                        <p:attrNameLst>
                                          <p:attrName>ppt_h</p:attrName>
                                        </p:attrNameLst>
                                      </p:cBhvr>
                                      <p:tavLst>
                                        <p:tav tm="0">
                                          <p:val>
                                            <p:fltVal val="0"/>
                                          </p:val>
                                        </p:tav>
                                        <p:tav tm="100000">
                                          <p:val>
                                            <p:strVal val="#ppt_h"/>
                                          </p:val>
                                        </p:tav>
                                      </p:tavLst>
                                    </p:anim>
                                  </p:childTnLst>
                                </p:cTn>
                              </p:par>
                            </p:childTnLst>
                          </p:cTn>
                        </p:par>
                        <p:par>
                          <p:cTn id="52" fill="hold" nodeType="afterGroup">
                            <p:stCondLst>
                              <p:cond delay="500"/>
                            </p:stCondLst>
                            <p:childTnLst>
                              <p:par>
                                <p:cTn id="53" presetID="17" presetClass="entr" presetSubtype="4" fill="hold" nodeType="afterEffect">
                                  <p:stCondLst>
                                    <p:cond delay="0"/>
                                  </p:stCondLst>
                                  <p:childTnLst>
                                    <p:set>
                                      <p:cBhvr>
                                        <p:cTn id="54" dur="1" fill="hold">
                                          <p:stCondLst>
                                            <p:cond delay="0"/>
                                          </p:stCondLst>
                                        </p:cTn>
                                        <p:tgtEl>
                                          <p:spTgt spid="80907"/>
                                        </p:tgtEl>
                                        <p:attrNameLst>
                                          <p:attrName>style.visibility</p:attrName>
                                        </p:attrNameLst>
                                      </p:cBhvr>
                                      <p:to>
                                        <p:strVal val="visible"/>
                                      </p:to>
                                    </p:set>
                                    <p:anim calcmode="lin" valueType="num">
                                      <p:cBhvr additive="base">
                                        <p:cTn id="55" dur="500" fill="hold"/>
                                        <p:tgtEl>
                                          <p:spTgt spid="80907"/>
                                        </p:tgtEl>
                                        <p:attrNameLst>
                                          <p:attrName>ppt_x</p:attrName>
                                        </p:attrNameLst>
                                      </p:cBhvr>
                                      <p:tavLst>
                                        <p:tav tm="0">
                                          <p:val>
                                            <p:strVal val="#ppt_x"/>
                                          </p:val>
                                        </p:tav>
                                        <p:tav tm="100000">
                                          <p:val>
                                            <p:strVal val="#ppt_x"/>
                                          </p:val>
                                        </p:tav>
                                      </p:tavLst>
                                    </p:anim>
                                    <p:anim calcmode="lin" valueType="num">
                                      <p:cBhvr additive="base">
                                        <p:cTn id="56" dur="500" fill="hold"/>
                                        <p:tgtEl>
                                          <p:spTgt spid="80907"/>
                                        </p:tgtEl>
                                        <p:attrNameLst>
                                          <p:attrName>ppt_y</p:attrName>
                                        </p:attrNameLst>
                                      </p:cBhvr>
                                      <p:tavLst>
                                        <p:tav tm="0">
                                          <p:val>
                                            <p:strVal val="#ppt_y+#ppt_h/2"/>
                                          </p:val>
                                        </p:tav>
                                        <p:tav tm="100000">
                                          <p:val>
                                            <p:strVal val="#ppt_y"/>
                                          </p:val>
                                        </p:tav>
                                      </p:tavLst>
                                    </p:anim>
                                    <p:anim calcmode="lin" valueType="num">
                                      <p:cBhvr additive="base">
                                        <p:cTn id="57" dur="500" fill="hold"/>
                                        <p:tgtEl>
                                          <p:spTgt spid="80907"/>
                                        </p:tgtEl>
                                        <p:attrNameLst>
                                          <p:attrName>ppt_w</p:attrName>
                                        </p:attrNameLst>
                                      </p:cBhvr>
                                      <p:tavLst>
                                        <p:tav tm="0">
                                          <p:val>
                                            <p:strVal val="#ppt_w"/>
                                          </p:val>
                                        </p:tav>
                                        <p:tav tm="100000">
                                          <p:val>
                                            <p:strVal val="#ppt_w"/>
                                          </p:val>
                                        </p:tav>
                                      </p:tavLst>
                                    </p:anim>
                                    <p:anim calcmode="lin" valueType="num">
                                      <p:cBhvr additive="base">
                                        <p:cTn id="58" dur="500" fill="hold"/>
                                        <p:tgtEl>
                                          <p:spTgt spid="80907"/>
                                        </p:tgtEl>
                                        <p:attrNameLst>
                                          <p:attrName>ppt_h</p:attrName>
                                        </p:attrNameLst>
                                      </p:cBhvr>
                                      <p:tavLst>
                                        <p:tav tm="0">
                                          <p:val>
                                            <p:fltVal val="0"/>
                                          </p:val>
                                        </p:tav>
                                        <p:tav tm="100000">
                                          <p:val>
                                            <p:strVal val="#ppt_h"/>
                                          </p:val>
                                        </p:tav>
                                      </p:tavLst>
                                    </p:anim>
                                  </p:childTnLst>
                                </p:cTn>
                              </p:par>
                            </p:childTnLst>
                          </p:cTn>
                        </p:par>
                      </p:childTnLst>
                    </p:cTn>
                  </p:par>
                  <p:par>
                    <p:cTn id="59" fill="hold" nodeType="clickPar">
                      <p:stCondLst>
                        <p:cond delay="indefinite"/>
                      </p:stCondLst>
                      <p:childTnLst>
                        <p:par>
                          <p:cTn id="60" fill="hold" nodeType="withGroup">
                            <p:stCondLst>
                              <p:cond delay="0"/>
                            </p:stCondLst>
                            <p:childTnLst>
                              <p:par>
                                <p:cTn id="61" presetID="17" presetClass="entr" presetSubtype="4" fill="hold" grpId="0" nodeType="clickEffect">
                                  <p:stCondLst>
                                    <p:cond delay="0"/>
                                  </p:stCondLst>
                                  <p:childTnLst>
                                    <p:set>
                                      <p:cBhvr>
                                        <p:cTn id="62" dur="1" fill="hold">
                                          <p:stCondLst>
                                            <p:cond delay="0"/>
                                          </p:stCondLst>
                                        </p:cTn>
                                        <p:tgtEl>
                                          <p:spTgt spid="80908"/>
                                        </p:tgtEl>
                                        <p:attrNameLst>
                                          <p:attrName>style.visibility</p:attrName>
                                        </p:attrNameLst>
                                      </p:cBhvr>
                                      <p:to>
                                        <p:strVal val="visible"/>
                                      </p:to>
                                    </p:set>
                                    <p:anim calcmode="lin" valueType="num">
                                      <p:cBhvr additive="base">
                                        <p:cTn id="63" dur="500" fill="hold"/>
                                        <p:tgtEl>
                                          <p:spTgt spid="80908"/>
                                        </p:tgtEl>
                                        <p:attrNameLst>
                                          <p:attrName>ppt_x</p:attrName>
                                        </p:attrNameLst>
                                      </p:cBhvr>
                                      <p:tavLst>
                                        <p:tav tm="0">
                                          <p:val>
                                            <p:strVal val="#ppt_x"/>
                                          </p:val>
                                        </p:tav>
                                        <p:tav tm="100000">
                                          <p:val>
                                            <p:strVal val="#ppt_x"/>
                                          </p:val>
                                        </p:tav>
                                      </p:tavLst>
                                    </p:anim>
                                    <p:anim calcmode="lin" valueType="num">
                                      <p:cBhvr additive="base">
                                        <p:cTn id="64" dur="500" fill="hold"/>
                                        <p:tgtEl>
                                          <p:spTgt spid="80908"/>
                                        </p:tgtEl>
                                        <p:attrNameLst>
                                          <p:attrName>ppt_y</p:attrName>
                                        </p:attrNameLst>
                                      </p:cBhvr>
                                      <p:tavLst>
                                        <p:tav tm="0">
                                          <p:val>
                                            <p:strVal val="#ppt_y+#ppt_h/2"/>
                                          </p:val>
                                        </p:tav>
                                        <p:tav tm="100000">
                                          <p:val>
                                            <p:strVal val="#ppt_y"/>
                                          </p:val>
                                        </p:tav>
                                      </p:tavLst>
                                    </p:anim>
                                    <p:anim calcmode="lin" valueType="num">
                                      <p:cBhvr additive="base">
                                        <p:cTn id="65" dur="500" fill="hold"/>
                                        <p:tgtEl>
                                          <p:spTgt spid="80908"/>
                                        </p:tgtEl>
                                        <p:attrNameLst>
                                          <p:attrName>ppt_w</p:attrName>
                                        </p:attrNameLst>
                                      </p:cBhvr>
                                      <p:tavLst>
                                        <p:tav tm="0">
                                          <p:val>
                                            <p:strVal val="#ppt_w"/>
                                          </p:val>
                                        </p:tav>
                                        <p:tav tm="100000">
                                          <p:val>
                                            <p:strVal val="#ppt_w"/>
                                          </p:val>
                                        </p:tav>
                                      </p:tavLst>
                                    </p:anim>
                                    <p:anim calcmode="lin" valueType="num">
                                      <p:cBhvr additive="base">
                                        <p:cTn id="66" dur="500" fill="hold"/>
                                        <p:tgtEl>
                                          <p:spTgt spid="80908"/>
                                        </p:tgtEl>
                                        <p:attrNameLst>
                                          <p:attrName>ppt_h</p:attrName>
                                        </p:attrNameLst>
                                      </p:cBhvr>
                                      <p:tavLst>
                                        <p:tav tm="0">
                                          <p:val>
                                            <p:fltVal val="0"/>
                                          </p:val>
                                        </p:tav>
                                        <p:tav tm="100000">
                                          <p:val>
                                            <p:strVal val="#ppt_h"/>
                                          </p:val>
                                        </p:tav>
                                      </p:tavLst>
                                    </p:anim>
                                  </p:childTnLst>
                                </p:cTn>
                              </p:par>
                            </p:childTnLst>
                          </p:cTn>
                        </p:par>
                      </p:childTnLst>
                    </p:cTn>
                  </p:par>
                  <p:par>
                    <p:cTn id="67" fill="hold" nodeType="clickPar">
                      <p:stCondLst>
                        <p:cond delay="indefinite"/>
                      </p:stCondLst>
                      <p:childTnLst>
                        <p:par>
                          <p:cTn id="68" fill="hold" nodeType="withGroup">
                            <p:stCondLst>
                              <p:cond delay="0"/>
                            </p:stCondLst>
                            <p:childTnLst>
                              <p:par>
                                <p:cTn id="69" presetID="9" presetClass="entr" presetSubtype="0" fill="hold" grpId="0" nodeType="clickEffect">
                                  <p:stCondLst>
                                    <p:cond delay="0"/>
                                  </p:stCondLst>
                                  <p:childTnLst>
                                    <p:set>
                                      <p:cBhvr>
                                        <p:cTn id="70" dur="1" fill="hold">
                                          <p:stCondLst>
                                            <p:cond delay="0"/>
                                          </p:stCondLst>
                                        </p:cTn>
                                        <p:tgtEl>
                                          <p:spTgt spid="80909"/>
                                        </p:tgtEl>
                                        <p:attrNameLst>
                                          <p:attrName>style.visibility</p:attrName>
                                        </p:attrNameLst>
                                      </p:cBhvr>
                                      <p:to>
                                        <p:strVal val="visible"/>
                                      </p:to>
                                    </p:set>
                                    <p:animEffect transition="in" filter="dissolve">
                                      <p:cBhvr>
                                        <p:cTn id="71" dur="500"/>
                                        <p:tgtEl>
                                          <p:spTgt spid="80909"/>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9" presetClass="entr" presetSubtype="0" fill="hold" grpId="0" nodeType="clickEffect">
                                  <p:stCondLst>
                                    <p:cond delay="0"/>
                                  </p:stCondLst>
                                  <p:childTnLst>
                                    <p:set>
                                      <p:cBhvr>
                                        <p:cTn id="75" dur="1" fill="hold">
                                          <p:stCondLst>
                                            <p:cond delay="0"/>
                                          </p:stCondLst>
                                        </p:cTn>
                                        <p:tgtEl>
                                          <p:spTgt spid="80910"/>
                                        </p:tgtEl>
                                        <p:attrNameLst>
                                          <p:attrName>style.visibility</p:attrName>
                                        </p:attrNameLst>
                                      </p:cBhvr>
                                      <p:to>
                                        <p:strVal val="visible"/>
                                      </p:to>
                                    </p:set>
                                    <p:animEffect transition="in" filter="dissolve">
                                      <p:cBhvr>
                                        <p:cTn id="76" dur="500"/>
                                        <p:tgtEl>
                                          <p:spTgt spid="80910"/>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9" presetClass="entr" presetSubtype="0" fill="hold" grpId="0" nodeType="clickEffect">
                                  <p:stCondLst>
                                    <p:cond delay="0"/>
                                  </p:stCondLst>
                                  <p:childTnLst>
                                    <p:set>
                                      <p:cBhvr>
                                        <p:cTn id="80" dur="1" fill="hold">
                                          <p:stCondLst>
                                            <p:cond delay="0"/>
                                          </p:stCondLst>
                                        </p:cTn>
                                        <p:tgtEl>
                                          <p:spTgt spid="80911"/>
                                        </p:tgtEl>
                                        <p:attrNameLst>
                                          <p:attrName>style.visibility</p:attrName>
                                        </p:attrNameLst>
                                      </p:cBhvr>
                                      <p:to>
                                        <p:strVal val="visible"/>
                                      </p:to>
                                    </p:set>
                                    <p:animEffect transition="in" filter="dissolve">
                                      <p:cBhvr>
                                        <p:cTn id="81" dur="500"/>
                                        <p:tgtEl>
                                          <p:spTgt spid="80911"/>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9" presetClass="entr" presetSubtype="0" fill="hold" grpId="0" nodeType="clickEffect">
                                  <p:stCondLst>
                                    <p:cond delay="0"/>
                                  </p:stCondLst>
                                  <p:childTnLst>
                                    <p:set>
                                      <p:cBhvr>
                                        <p:cTn id="85" dur="1" fill="hold">
                                          <p:stCondLst>
                                            <p:cond delay="0"/>
                                          </p:stCondLst>
                                        </p:cTn>
                                        <p:tgtEl>
                                          <p:spTgt spid="80912"/>
                                        </p:tgtEl>
                                        <p:attrNameLst>
                                          <p:attrName>style.visibility</p:attrName>
                                        </p:attrNameLst>
                                      </p:cBhvr>
                                      <p:to>
                                        <p:strVal val="visible"/>
                                      </p:to>
                                    </p:set>
                                    <p:animEffect transition="in" filter="dissolve">
                                      <p:cBhvr>
                                        <p:cTn id="86" dur="500"/>
                                        <p:tgtEl>
                                          <p:spTgt spid="80912"/>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9" presetClass="entr" presetSubtype="0" fill="hold" grpId="0" nodeType="clickEffect">
                                  <p:stCondLst>
                                    <p:cond delay="0"/>
                                  </p:stCondLst>
                                  <p:childTnLst>
                                    <p:set>
                                      <p:cBhvr>
                                        <p:cTn id="90" dur="1" fill="hold">
                                          <p:stCondLst>
                                            <p:cond delay="0"/>
                                          </p:stCondLst>
                                        </p:cTn>
                                        <p:tgtEl>
                                          <p:spTgt spid="80913"/>
                                        </p:tgtEl>
                                        <p:attrNameLst>
                                          <p:attrName>style.visibility</p:attrName>
                                        </p:attrNameLst>
                                      </p:cBhvr>
                                      <p:to>
                                        <p:strVal val="visible"/>
                                      </p:to>
                                    </p:set>
                                    <p:animEffect transition="in" filter="dissolve">
                                      <p:cBhvr>
                                        <p:cTn id="91" dur="500"/>
                                        <p:tgtEl>
                                          <p:spTgt spid="80913"/>
                                        </p:tgtEl>
                                      </p:cBhvr>
                                    </p:animEffect>
                                  </p:childTnLst>
                                </p:cTn>
                              </p:par>
                            </p:childTnLst>
                          </p:cTn>
                        </p:par>
                      </p:childTnLst>
                    </p:cTn>
                  </p:par>
                  <p:par>
                    <p:cTn id="92" fill="hold" nodeType="clickPar">
                      <p:stCondLst>
                        <p:cond delay="indefinite"/>
                      </p:stCondLst>
                      <p:childTnLst>
                        <p:par>
                          <p:cTn id="93" fill="hold" nodeType="withGroup">
                            <p:stCondLst>
                              <p:cond delay="0"/>
                            </p:stCondLst>
                            <p:childTnLst>
                              <p:par>
                                <p:cTn id="94" presetID="17" presetClass="entr" presetSubtype="4" fill="hold" nodeType="clickEffect">
                                  <p:stCondLst>
                                    <p:cond delay="0"/>
                                  </p:stCondLst>
                                  <p:childTnLst>
                                    <p:set>
                                      <p:cBhvr>
                                        <p:cTn id="95" dur="1" fill="hold">
                                          <p:stCondLst>
                                            <p:cond delay="0"/>
                                          </p:stCondLst>
                                        </p:cTn>
                                        <p:tgtEl>
                                          <p:spTgt spid="80915"/>
                                        </p:tgtEl>
                                        <p:attrNameLst>
                                          <p:attrName>style.visibility</p:attrName>
                                        </p:attrNameLst>
                                      </p:cBhvr>
                                      <p:to>
                                        <p:strVal val="visible"/>
                                      </p:to>
                                    </p:set>
                                    <p:anim calcmode="lin" valueType="num">
                                      <p:cBhvr additive="base">
                                        <p:cTn id="96" dur="500" fill="hold"/>
                                        <p:tgtEl>
                                          <p:spTgt spid="80915"/>
                                        </p:tgtEl>
                                        <p:attrNameLst>
                                          <p:attrName>ppt_x</p:attrName>
                                        </p:attrNameLst>
                                      </p:cBhvr>
                                      <p:tavLst>
                                        <p:tav tm="0">
                                          <p:val>
                                            <p:strVal val="#ppt_x"/>
                                          </p:val>
                                        </p:tav>
                                        <p:tav tm="100000">
                                          <p:val>
                                            <p:strVal val="#ppt_x"/>
                                          </p:val>
                                        </p:tav>
                                      </p:tavLst>
                                    </p:anim>
                                    <p:anim calcmode="lin" valueType="num">
                                      <p:cBhvr additive="base">
                                        <p:cTn id="97" dur="500" fill="hold"/>
                                        <p:tgtEl>
                                          <p:spTgt spid="80915"/>
                                        </p:tgtEl>
                                        <p:attrNameLst>
                                          <p:attrName>ppt_y</p:attrName>
                                        </p:attrNameLst>
                                      </p:cBhvr>
                                      <p:tavLst>
                                        <p:tav tm="0">
                                          <p:val>
                                            <p:strVal val="#ppt_y+#ppt_h/2"/>
                                          </p:val>
                                        </p:tav>
                                        <p:tav tm="100000">
                                          <p:val>
                                            <p:strVal val="#ppt_y"/>
                                          </p:val>
                                        </p:tav>
                                      </p:tavLst>
                                    </p:anim>
                                    <p:anim calcmode="lin" valueType="num">
                                      <p:cBhvr additive="base">
                                        <p:cTn id="98" dur="500" fill="hold"/>
                                        <p:tgtEl>
                                          <p:spTgt spid="80915"/>
                                        </p:tgtEl>
                                        <p:attrNameLst>
                                          <p:attrName>ppt_w</p:attrName>
                                        </p:attrNameLst>
                                      </p:cBhvr>
                                      <p:tavLst>
                                        <p:tav tm="0">
                                          <p:val>
                                            <p:strVal val="#ppt_w"/>
                                          </p:val>
                                        </p:tav>
                                        <p:tav tm="100000">
                                          <p:val>
                                            <p:strVal val="#ppt_w"/>
                                          </p:val>
                                        </p:tav>
                                      </p:tavLst>
                                    </p:anim>
                                    <p:anim calcmode="lin" valueType="num">
                                      <p:cBhvr additive="base">
                                        <p:cTn id="99" dur="500" fill="hold"/>
                                        <p:tgtEl>
                                          <p:spTgt spid="80915"/>
                                        </p:tgtEl>
                                        <p:attrNameLst>
                                          <p:attrName>ppt_h</p:attrName>
                                        </p:attrNameLst>
                                      </p:cBhvr>
                                      <p:tavLst>
                                        <p:tav tm="0">
                                          <p:val>
                                            <p:fltVal val="0"/>
                                          </p:val>
                                        </p:tav>
                                        <p:tav tm="100000">
                                          <p:val>
                                            <p:strVal val="#ppt_h"/>
                                          </p:val>
                                        </p:tav>
                                      </p:tavLst>
                                    </p:anim>
                                  </p:childTnLst>
                                </p:cTn>
                              </p:par>
                            </p:childTnLst>
                          </p:cTn>
                        </p:par>
                        <p:par>
                          <p:cTn id="100" fill="hold" nodeType="afterGroup">
                            <p:stCondLst>
                              <p:cond delay="500"/>
                            </p:stCondLst>
                            <p:childTnLst>
                              <p:par>
                                <p:cTn id="101" presetID="17" presetClass="entr" presetSubtype="4" fill="hold" nodeType="afterEffect">
                                  <p:stCondLst>
                                    <p:cond delay="0"/>
                                  </p:stCondLst>
                                  <p:childTnLst>
                                    <p:set>
                                      <p:cBhvr>
                                        <p:cTn id="102" dur="1" fill="hold">
                                          <p:stCondLst>
                                            <p:cond delay="0"/>
                                          </p:stCondLst>
                                        </p:cTn>
                                        <p:tgtEl>
                                          <p:spTgt spid="80916"/>
                                        </p:tgtEl>
                                        <p:attrNameLst>
                                          <p:attrName>style.visibility</p:attrName>
                                        </p:attrNameLst>
                                      </p:cBhvr>
                                      <p:to>
                                        <p:strVal val="visible"/>
                                      </p:to>
                                    </p:set>
                                    <p:anim calcmode="lin" valueType="num">
                                      <p:cBhvr additive="base">
                                        <p:cTn id="103" dur="500" fill="hold"/>
                                        <p:tgtEl>
                                          <p:spTgt spid="80916"/>
                                        </p:tgtEl>
                                        <p:attrNameLst>
                                          <p:attrName>ppt_x</p:attrName>
                                        </p:attrNameLst>
                                      </p:cBhvr>
                                      <p:tavLst>
                                        <p:tav tm="0">
                                          <p:val>
                                            <p:strVal val="#ppt_x"/>
                                          </p:val>
                                        </p:tav>
                                        <p:tav tm="100000">
                                          <p:val>
                                            <p:strVal val="#ppt_x"/>
                                          </p:val>
                                        </p:tav>
                                      </p:tavLst>
                                    </p:anim>
                                    <p:anim calcmode="lin" valueType="num">
                                      <p:cBhvr additive="base">
                                        <p:cTn id="104" dur="500" fill="hold"/>
                                        <p:tgtEl>
                                          <p:spTgt spid="80916"/>
                                        </p:tgtEl>
                                        <p:attrNameLst>
                                          <p:attrName>ppt_y</p:attrName>
                                        </p:attrNameLst>
                                      </p:cBhvr>
                                      <p:tavLst>
                                        <p:tav tm="0">
                                          <p:val>
                                            <p:strVal val="#ppt_y+#ppt_h/2"/>
                                          </p:val>
                                        </p:tav>
                                        <p:tav tm="100000">
                                          <p:val>
                                            <p:strVal val="#ppt_y"/>
                                          </p:val>
                                        </p:tav>
                                      </p:tavLst>
                                    </p:anim>
                                    <p:anim calcmode="lin" valueType="num">
                                      <p:cBhvr additive="base">
                                        <p:cTn id="105" dur="500" fill="hold"/>
                                        <p:tgtEl>
                                          <p:spTgt spid="80916"/>
                                        </p:tgtEl>
                                        <p:attrNameLst>
                                          <p:attrName>ppt_w</p:attrName>
                                        </p:attrNameLst>
                                      </p:cBhvr>
                                      <p:tavLst>
                                        <p:tav tm="0">
                                          <p:val>
                                            <p:strVal val="#ppt_w"/>
                                          </p:val>
                                        </p:tav>
                                        <p:tav tm="100000">
                                          <p:val>
                                            <p:strVal val="#ppt_w"/>
                                          </p:val>
                                        </p:tav>
                                      </p:tavLst>
                                    </p:anim>
                                    <p:anim calcmode="lin" valueType="num">
                                      <p:cBhvr additive="base">
                                        <p:cTn id="106" dur="500" fill="hold"/>
                                        <p:tgtEl>
                                          <p:spTgt spid="80916"/>
                                        </p:tgtEl>
                                        <p:attrNameLst>
                                          <p:attrName>ppt_h</p:attrName>
                                        </p:attrNameLst>
                                      </p:cBhvr>
                                      <p:tavLst>
                                        <p:tav tm="0">
                                          <p:val>
                                            <p:fltVal val="0"/>
                                          </p:val>
                                        </p:tav>
                                        <p:tav tm="100000">
                                          <p:val>
                                            <p:strVal val="#ppt_h"/>
                                          </p:val>
                                        </p:tav>
                                      </p:tavLst>
                                    </p:anim>
                                  </p:childTnLst>
                                </p:cTn>
                              </p:par>
                            </p:childTnLst>
                          </p:cTn>
                        </p:par>
                      </p:childTnLst>
                    </p:cTn>
                  </p:par>
                  <p:par>
                    <p:cTn id="107" fill="hold" nodeType="clickPar">
                      <p:stCondLst>
                        <p:cond delay="indefinite"/>
                      </p:stCondLst>
                      <p:childTnLst>
                        <p:par>
                          <p:cTn id="108" fill="hold" nodeType="withGroup">
                            <p:stCondLst>
                              <p:cond delay="0"/>
                            </p:stCondLst>
                            <p:childTnLst>
                              <p:par>
                                <p:cTn id="109" presetID="17" presetClass="entr" presetSubtype="4" fill="hold" grpId="0" nodeType="clickEffect">
                                  <p:stCondLst>
                                    <p:cond delay="0"/>
                                  </p:stCondLst>
                                  <p:childTnLst>
                                    <p:set>
                                      <p:cBhvr>
                                        <p:cTn id="110" dur="1" fill="hold">
                                          <p:stCondLst>
                                            <p:cond delay="0"/>
                                          </p:stCondLst>
                                        </p:cTn>
                                        <p:tgtEl>
                                          <p:spTgt spid="80914"/>
                                        </p:tgtEl>
                                        <p:attrNameLst>
                                          <p:attrName>style.visibility</p:attrName>
                                        </p:attrNameLst>
                                      </p:cBhvr>
                                      <p:to>
                                        <p:strVal val="visible"/>
                                      </p:to>
                                    </p:set>
                                    <p:anim calcmode="lin" valueType="num">
                                      <p:cBhvr additive="base">
                                        <p:cTn id="111" dur="500" fill="hold"/>
                                        <p:tgtEl>
                                          <p:spTgt spid="80914"/>
                                        </p:tgtEl>
                                        <p:attrNameLst>
                                          <p:attrName>ppt_x</p:attrName>
                                        </p:attrNameLst>
                                      </p:cBhvr>
                                      <p:tavLst>
                                        <p:tav tm="0">
                                          <p:val>
                                            <p:strVal val="#ppt_x"/>
                                          </p:val>
                                        </p:tav>
                                        <p:tav tm="100000">
                                          <p:val>
                                            <p:strVal val="#ppt_x"/>
                                          </p:val>
                                        </p:tav>
                                      </p:tavLst>
                                    </p:anim>
                                    <p:anim calcmode="lin" valueType="num">
                                      <p:cBhvr additive="base">
                                        <p:cTn id="112" dur="500" fill="hold"/>
                                        <p:tgtEl>
                                          <p:spTgt spid="80914"/>
                                        </p:tgtEl>
                                        <p:attrNameLst>
                                          <p:attrName>ppt_y</p:attrName>
                                        </p:attrNameLst>
                                      </p:cBhvr>
                                      <p:tavLst>
                                        <p:tav tm="0">
                                          <p:val>
                                            <p:strVal val="#ppt_y+#ppt_h/2"/>
                                          </p:val>
                                        </p:tav>
                                        <p:tav tm="100000">
                                          <p:val>
                                            <p:strVal val="#ppt_y"/>
                                          </p:val>
                                        </p:tav>
                                      </p:tavLst>
                                    </p:anim>
                                    <p:anim calcmode="lin" valueType="num">
                                      <p:cBhvr additive="base">
                                        <p:cTn id="113" dur="500" fill="hold"/>
                                        <p:tgtEl>
                                          <p:spTgt spid="80914"/>
                                        </p:tgtEl>
                                        <p:attrNameLst>
                                          <p:attrName>ppt_w</p:attrName>
                                        </p:attrNameLst>
                                      </p:cBhvr>
                                      <p:tavLst>
                                        <p:tav tm="0">
                                          <p:val>
                                            <p:strVal val="#ppt_w"/>
                                          </p:val>
                                        </p:tav>
                                        <p:tav tm="100000">
                                          <p:val>
                                            <p:strVal val="#ppt_w"/>
                                          </p:val>
                                        </p:tav>
                                      </p:tavLst>
                                    </p:anim>
                                    <p:anim calcmode="lin" valueType="num">
                                      <p:cBhvr additive="base">
                                        <p:cTn id="114" dur="500" fill="hold"/>
                                        <p:tgtEl>
                                          <p:spTgt spid="80914"/>
                                        </p:tgtEl>
                                        <p:attrNameLst>
                                          <p:attrName>ppt_h</p:attrName>
                                        </p:attrNameLst>
                                      </p:cBhvr>
                                      <p:tavLst>
                                        <p:tav tm="0">
                                          <p:val>
                                            <p:fltVal val="0"/>
                                          </p:val>
                                        </p:tav>
                                        <p:tav tm="100000">
                                          <p:val>
                                            <p:strVal val="#ppt_h"/>
                                          </p:val>
                                        </p:tav>
                                      </p:tavLst>
                                    </p:anim>
                                  </p:childTnLst>
                                </p:cTn>
                              </p:par>
                            </p:childTnLst>
                          </p:cTn>
                        </p:par>
                      </p:childTnLst>
                    </p:cTn>
                  </p:par>
                  <p:par>
                    <p:cTn id="115" fill="hold" nodeType="clickPar">
                      <p:stCondLst>
                        <p:cond delay="indefinite"/>
                      </p:stCondLst>
                      <p:childTnLst>
                        <p:par>
                          <p:cTn id="116" fill="hold" nodeType="withGroup">
                            <p:stCondLst>
                              <p:cond delay="0"/>
                            </p:stCondLst>
                            <p:childTnLst>
                              <p:par>
                                <p:cTn id="117" presetID="9" presetClass="entr" presetSubtype="0" fill="hold" grpId="0" nodeType="clickEffect">
                                  <p:stCondLst>
                                    <p:cond delay="0"/>
                                  </p:stCondLst>
                                  <p:childTnLst>
                                    <p:set>
                                      <p:cBhvr>
                                        <p:cTn id="118" dur="1" fill="hold">
                                          <p:stCondLst>
                                            <p:cond delay="0"/>
                                          </p:stCondLst>
                                        </p:cTn>
                                        <p:tgtEl>
                                          <p:spTgt spid="80917"/>
                                        </p:tgtEl>
                                        <p:attrNameLst>
                                          <p:attrName>style.visibility</p:attrName>
                                        </p:attrNameLst>
                                      </p:cBhvr>
                                      <p:to>
                                        <p:strVal val="visible"/>
                                      </p:to>
                                    </p:set>
                                    <p:animEffect transition="in" filter="dissolve">
                                      <p:cBhvr>
                                        <p:cTn id="119" dur="500"/>
                                        <p:tgtEl>
                                          <p:spTgt spid="80917"/>
                                        </p:tgtEl>
                                      </p:cBhvr>
                                    </p:animEffect>
                                  </p:childTnLst>
                                </p:cTn>
                              </p:par>
                            </p:childTnLst>
                          </p:cTn>
                        </p:par>
                      </p:childTnLst>
                    </p:cTn>
                  </p:par>
                  <p:par>
                    <p:cTn id="120" fill="hold" nodeType="clickPar">
                      <p:stCondLst>
                        <p:cond delay="indefinite"/>
                      </p:stCondLst>
                      <p:childTnLst>
                        <p:par>
                          <p:cTn id="121" fill="hold" nodeType="withGroup">
                            <p:stCondLst>
                              <p:cond delay="0"/>
                            </p:stCondLst>
                            <p:childTnLst>
                              <p:par>
                                <p:cTn id="122" presetID="9" presetClass="entr" presetSubtype="0" fill="hold" grpId="0" nodeType="clickEffect">
                                  <p:stCondLst>
                                    <p:cond delay="0"/>
                                  </p:stCondLst>
                                  <p:childTnLst>
                                    <p:set>
                                      <p:cBhvr>
                                        <p:cTn id="123" dur="1" fill="hold">
                                          <p:stCondLst>
                                            <p:cond delay="0"/>
                                          </p:stCondLst>
                                        </p:cTn>
                                        <p:tgtEl>
                                          <p:spTgt spid="80922"/>
                                        </p:tgtEl>
                                        <p:attrNameLst>
                                          <p:attrName>style.visibility</p:attrName>
                                        </p:attrNameLst>
                                      </p:cBhvr>
                                      <p:to>
                                        <p:strVal val="visible"/>
                                      </p:to>
                                    </p:set>
                                    <p:animEffect transition="in" filter="dissolve">
                                      <p:cBhvr>
                                        <p:cTn id="124" dur="500"/>
                                        <p:tgtEl>
                                          <p:spTgt spid="80922"/>
                                        </p:tgtEl>
                                      </p:cBhvr>
                                    </p:animEffect>
                                  </p:childTnLst>
                                </p:cTn>
                              </p:par>
                            </p:childTnLst>
                          </p:cTn>
                        </p:par>
                      </p:childTnLst>
                    </p:cTn>
                  </p:par>
                  <p:par>
                    <p:cTn id="125" fill="hold" nodeType="clickPar">
                      <p:stCondLst>
                        <p:cond delay="indefinite"/>
                      </p:stCondLst>
                      <p:childTnLst>
                        <p:par>
                          <p:cTn id="126" fill="hold" nodeType="withGroup">
                            <p:stCondLst>
                              <p:cond delay="0"/>
                            </p:stCondLst>
                            <p:childTnLst>
                              <p:par>
                                <p:cTn id="127" presetID="9" presetClass="entr" presetSubtype="0" fill="hold" grpId="0" nodeType="clickEffect">
                                  <p:stCondLst>
                                    <p:cond delay="0"/>
                                  </p:stCondLst>
                                  <p:childTnLst>
                                    <p:set>
                                      <p:cBhvr>
                                        <p:cTn id="128" dur="1" fill="hold">
                                          <p:stCondLst>
                                            <p:cond delay="0"/>
                                          </p:stCondLst>
                                        </p:cTn>
                                        <p:tgtEl>
                                          <p:spTgt spid="80921"/>
                                        </p:tgtEl>
                                        <p:attrNameLst>
                                          <p:attrName>style.visibility</p:attrName>
                                        </p:attrNameLst>
                                      </p:cBhvr>
                                      <p:to>
                                        <p:strVal val="visible"/>
                                      </p:to>
                                    </p:set>
                                    <p:animEffect transition="in" filter="dissolve">
                                      <p:cBhvr>
                                        <p:cTn id="129" dur="500"/>
                                        <p:tgtEl>
                                          <p:spTgt spid="80921"/>
                                        </p:tgtEl>
                                      </p:cBhvr>
                                    </p:animEffect>
                                  </p:childTnLst>
                                </p:cTn>
                              </p:par>
                            </p:childTnLst>
                          </p:cTn>
                        </p:par>
                        <p:par>
                          <p:cTn id="130" fill="hold" nodeType="afterGroup">
                            <p:stCondLst>
                              <p:cond delay="500"/>
                            </p:stCondLst>
                            <p:childTnLst>
                              <p:par>
                                <p:cTn id="131" presetID="1" presetClass="entr" presetSubtype="0" fill="hold" nodeType="afterEffect">
                                  <p:stCondLst>
                                    <p:cond delay="0"/>
                                  </p:stCondLst>
                                  <p:childTnLst>
                                    <p:set>
                                      <p:cBhvr>
                                        <p:cTn id="132" dur="1" fill="hold">
                                          <p:stCondLst>
                                            <p:cond delay="499"/>
                                          </p:stCondLst>
                                        </p:cTn>
                                        <p:tgtEl>
                                          <p:spTgt spid="80918"/>
                                        </p:tgtEl>
                                        <p:attrNameLst>
                                          <p:attrName>style.visibility</p:attrName>
                                        </p:attrNameLst>
                                      </p:cBhvr>
                                      <p:to>
                                        <p:strVal val="visible"/>
                                      </p:to>
                                    </p:set>
                                  </p:childTnLst>
                                </p:cTn>
                              </p:par>
                            </p:childTnLst>
                          </p:cTn>
                        </p:par>
                        <p:par>
                          <p:cTn id="133" fill="hold" nodeType="afterGroup">
                            <p:stCondLst>
                              <p:cond delay="1000"/>
                            </p:stCondLst>
                            <p:childTnLst>
                              <p:par>
                                <p:cTn id="134" presetID="1" presetClass="entr" presetSubtype="0" fill="hold" nodeType="afterEffect">
                                  <p:stCondLst>
                                    <p:cond delay="0"/>
                                  </p:stCondLst>
                                  <p:childTnLst>
                                    <p:set>
                                      <p:cBhvr>
                                        <p:cTn id="135" dur="1" fill="hold">
                                          <p:stCondLst>
                                            <p:cond delay="499"/>
                                          </p:stCondLst>
                                        </p:cTn>
                                        <p:tgtEl>
                                          <p:spTgt spid="80919"/>
                                        </p:tgtEl>
                                        <p:attrNameLst>
                                          <p:attrName>style.visibility</p:attrName>
                                        </p:attrNameLst>
                                      </p:cBhvr>
                                      <p:to>
                                        <p:strVal val="visible"/>
                                      </p:to>
                                    </p:set>
                                  </p:childTnLst>
                                </p:cTn>
                              </p:par>
                            </p:childTnLst>
                          </p:cTn>
                        </p:par>
                        <p:par>
                          <p:cTn id="136" fill="hold" nodeType="afterGroup">
                            <p:stCondLst>
                              <p:cond delay="1500"/>
                            </p:stCondLst>
                            <p:childTnLst>
                              <p:par>
                                <p:cTn id="137" presetID="1" presetClass="entr" presetSubtype="0" fill="hold" grpId="0" nodeType="afterEffect">
                                  <p:stCondLst>
                                    <p:cond delay="0"/>
                                  </p:stCondLst>
                                  <p:childTnLst>
                                    <p:set>
                                      <p:cBhvr>
                                        <p:cTn id="138" dur="1" fill="hold">
                                          <p:stCondLst>
                                            <p:cond delay="499"/>
                                          </p:stCondLst>
                                        </p:cTn>
                                        <p:tgtEl>
                                          <p:spTgt spid="809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898" grpId="0" animBg="1" autoUpdateAnimBg="0"/>
      <p:bldP spid="80899" grpId="0"/>
      <p:bldP spid="80900" grpId="0" animBg="1" autoUpdateAnimBg="0"/>
      <p:bldP spid="80901" grpId="0" animBg="1" autoUpdateAnimBg="0"/>
      <p:bldP spid="80902" grpId="0" animBg="1" autoUpdateAnimBg="0"/>
      <p:bldP spid="80903" grpId="0" animBg="1" autoUpdateAnimBg="0"/>
      <p:bldP spid="80904" grpId="0" animBg="1" autoUpdateAnimBg="0"/>
      <p:bldP spid="80905" grpId="0" animBg="1" autoUpdateAnimBg="0"/>
      <p:bldP spid="80908" grpId="0" animBg="1" autoUpdateAnimBg="0"/>
      <p:bldP spid="80909" grpId="0" animBg="1" autoUpdateAnimBg="0"/>
      <p:bldP spid="80910" grpId="0" animBg="1" autoUpdateAnimBg="0"/>
      <p:bldP spid="80911" grpId="0" animBg="1" autoUpdateAnimBg="0"/>
      <p:bldP spid="80912" grpId="0" animBg="1" autoUpdateAnimBg="0"/>
      <p:bldP spid="80913" grpId="0" animBg="1" autoUpdateAnimBg="0"/>
      <p:bldP spid="80914" grpId="0" animBg="1" autoUpdateAnimBg="0"/>
      <p:bldP spid="80917" grpId="0" animBg="1" autoUpdateAnimBg="0"/>
      <p:bldP spid="80920" grpId="0" animBg="1" autoUpdateAnimBg="0"/>
      <p:bldP spid="80921" grpId="0" animBg="1" autoUpdateAnimBg="0"/>
      <p:bldP spid="80922" grpId="0" animBg="1" autoUpdateAnimBg="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Oval 2">
            <a:extLst>
              <a:ext uri="{FF2B5EF4-FFF2-40B4-BE49-F238E27FC236}">
                <a16:creationId xmlns:a16="http://schemas.microsoft.com/office/drawing/2014/main" id="{DF8DAB6C-5D19-4192-AFF6-4E3C0B59318C}"/>
              </a:ext>
            </a:extLst>
          </p:cNvPr>
          <p:cNvSpPr>
            <a:spLocks noChangeArrowheads="1"/>
          </p:cNvSpPr>
          <p:nvPr/>
        </p:nvSpPr>
        <p:spPr bwMode="auto">
          <a:xfrm>
            <a:off x="999141" y="2305990"/>
            <a:ext cx="459990" cy="533400"/>
          </a:xfrm>
          <a:prstGeom prst="ellipse">
            <a:avLst/>
          </a:prstGeom>
          <a:solidFill>
            <a:srgbClr val="FFFF99">
              <a:alpha val="50195"/>
            </a:srgbClr>
          </a:solidFill>
          <a:ln w="25400" cap="sq">
            <a:solidFill>
              <a:srgbClr val="CC66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800" b="0" i="0">
                <a:solidFill>
                  <a:srgbClr val="990000"/>
                </a:solidFill>
                <a:latin typeface="+mn-ea"/>
                <a:ea typeface="+mn-ea"/>
              </a:rPr>
              <a:t>6</a:t>
            </a:r>
            <a:endParaRPr lang="en-US" altLang="zh-CN" sz="2800" b="0" i="0">
              <a:latin typeface="+mn-ea"/>
              <a:ea typeface="+mn-ea"/>
            </a:endParaRPr>
          </a:p>
        </p:txBody>
      </p:sp>
      <p:sp>
        <p:nvSpPr>
          <p:cNvPr id="81923" name="Oval 3">
            <a:extLst>
              <a:ext uri="{FF2B5EF4-FFF2-40B4-BE49-F238E27FC236}">
                <a16:creationId xmlns:a16="http://schemas.microsoft.com/office/drawing/2014/main" id="{CD45B28B-9982-4B00-B108-DFCCCD3B879B}"/>
              </a:ext>
            </a:extLst>
          </p:cNvPr>
          <p:cNvSpPr>
            <a:spLocks noChangeArrowheads="1"/>
          </p:cNvSpPr>
          <p:nvPr/>
        </p:nvSpPr>
        <p:spPr bwMode="auto">
          <a:xfrm>
            <a:off x="2065941" y="2305990"/>
            <a:ext cx="543739" cy="523220"/>
          </a:xfrm>
          <a:prstGeom prst="ellipse">
            <a:avLst/>
          </a:prstGeom>
          <a:solidFill>
            <a:srgbClr val="FFFF99">
              <a:alpha val="50195"/>
            </a:srgbClr>
          </a:solidFill>
          <a:ln w="25400" cap="sq">
            <a:solidFill>
              <a:srgbClr val="CC66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800" b="0" i="0">
                <a:solidFill>
                  <a:srgbClr val="990000"/>
                </a:solidFill>
                <a:latin typeface="+mn-ea"/>
                <a:ea typeface="+mn-ea"/>
              </a:rPr>
              <a:t>7</a:t>
            </a:r>
            <a:endParaRPr lang="en-US" altLang="zh-CN" sz="2800" b="0" i="0">
              <a:latin typeface="+mn-ea"/>
              <a:ea typeface="+mn-ea"/>
            </a:endParaRPr>
          </a:p>
        </p:txBody>
      </p:sp>
      <p:sp>
        <p:nvSpPr>
          <p:cNvPr id="81924" name="Text Box 4">
            <a:extLst>
              <a:ext uri="{FF2B5EF4-FFF2-40B4-BE49-F238E27FC236}">
                <a16:creationId xmlns:a16="http://schemas.microsoft.com/office/drawing/2014/main" id="{EB4F6752-DB9C-4740-9216-6C2996F0C5BA}"/>
              </a:ext>
            </a:extLst>
          </p:cNvPr>
          <p:cNvSpPr txBox="1">
            <a:spLocks noChangeArrowheads="1"/>
          </p:cNvSpPr>
          <p:nvPr/>
        </p:nvSpPr>
        <p:spPr bwMode="auto">
          <a:xfrm>
            <a:off x="1532541" y="1546966"/>
            <a:ext cx="543739" cy="523220"/>
          </a:xfrm>
          <a:prstGeom prst="rect">
            <a:avLst/>
          </a:prstGeom>
          <a:solidFill>
            <a:srgbClr val="CCFFCC">
              <a:alpha val="50195"/>
            </a:srgbClr>
          </a:solidFill>
          <a:ln w="25400" cap="sq">
            <a:solidFill>
              <a:srgbClr val="00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b="0" i="0">
                <a:solidFill>
                  <a:srgbClr val="FF3300"/>
                </a:solidFill>
                <a:latin typeface="+mn-ea"/>
                <a:ea typeface="+mn-ea"/>
              </a:rPr>
              <a:t>13</a:t>
            </a:r>
            <a:endParaRPr lang="en-US" altLang="zh-CN" sz="2800" b="0" i="0">
              <a:latin typeface="+mn-ea"/>
              <a:ea typeface="+mn-ea"/>
            </a:endParaRPr>
          </a:p>
        </p:txBody>
      </p:sp>
      <p:sp>
        <p:nvSpPr>
          <p:cNvPr id="81925" name="Line 5">
            <a:extLst>
              <a:ext uri="{FF2B5EF4-FFF2-40B4-BE49-F238E27FC236}">
                <a16:creationId xmlns:a16="http://schemas.microsoft.com/office/drawing/2014/main" id="{A36A213D-A21C-4E0C-8310-4F3C1A14E28D}"/>
              </a:ext>
            </a:extLst>
          </p:cNvPr>
          <p:cNvSpPr>
            <a:spLocks noChangeShapeType="1"/>
          </p:cNvSpPr>
          <p:nvPr/>
        </p:nvSpPr>
        <p:spPr bwMode="auto">
          <a:xfrm flipH="1">
            <a:off x="1303941" y="2001190"/>
            <a:ext cx="228600" cy="304800"/>
          </a:xfrm>
          <a:prstGeom prst="line">
            <a:avLst/>
          </a:prstGeom>
          <a:noFill/>
          <a:ln w="28575" cap="sq">
            <a:solidFill>
              <a:srgbClr val="99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b="0" i="0">
              <a:latin typeface="+mn-ea"/>
              <a:ea typeface="+mn-ea"/>
            </a:endParaRPr>
          </a:p>
        </p:txBody>
      </p:sp>
      <p:sp>
        <p:nvSpPr>
          <p:cNvPr id="81926" name="Line 6">
            <a:extLst>
              <a:ext uri="{FF2B5EF4-FFF2-40B4-BE49-F238E27FC236}">
                <a16:creationId xmlns:a16="http://schemas.microsoft.com/office/drawing/2014/main" id="{0FBD7971-2F6C-4961-9BA4-DD14A64AC964}"/>
              </a:ext>
            </a:extLst>
          </p:cNvPr>
          <p:cNvSpPr>
            <a:spLocks noChangeShapeType="1"/>
          </p:cNvSpPr>
          <p:nvPr/>
        </p:nvSpPr>
        <p:spPr bwMode="auto">
          <a:xfrm>
            <a:off x="2085368" y="2077390"/>
            <a:ext cx="152400" cy="228600"/>
          </a:xfrm>
          <a:prstGeom prst="line">
            <a:avLst/>
          </a:prstGeom>
          <a:noFill/>
          <a:ln w="28575" cap="sq">
            <a:solidFill>
              <a:srgbClr val="99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b="0" i="0">
              <a:latin typeface="+mn-ea"/>
              <a:ea typeface="+mn-ea"/>
            </a:endParaRPr>
          </a:p>
        </p:txBody>
      </p:sp>
      <p:sp>
        <p:nvSpPr>
          <p:cNvPr id="81927" name="Oval 7">
            <a:extLst>
              <a:ext uri="{FF2B5EF4-FFF2-40B4-BE49-F238E27FC236}">
                <a16:creationId xmlns:a16="http://schemas.microsoft.com/office/drawing/2014/main" id="{2F74F3CA-8FC0-455A-8638-58667BBA4F47}"/>
              </a:ext>
            </a:extLst>
          </p:cNvPr>
          <p:cNvSpPr>
            <a:spLocks noChangeArrowheads="1"/>
          </p:cNvSpPr>
          <p:nvPr/>
        </p:nvSpPr>
        <p:spPr bwMode="auto">
          <a:xfrm>
            <a:off x="5415083" y="2537341"/>
            <a:ext cx="549275" cy="457200"/>
          </a:xfrm>
          <a:prstGeom prst="ellipse">
            <a:avLst/>
          </a:prstGeom>
          <a:solidFill>
            <a:srgbClr val="FFFF99">
              <a:alpha val="50195"/>
            </a:srgbClr>
          </a:solidFill>
          <a:ln w="25400" cap="sq">
            <a:solidFill>
              <a:srgbClr val="CC66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800" b="0" i="0">
                <a:solidFill>
                  <a:srgbClr val="990000"/>
                </a:solidFill>
                <a:latin typeface="+mn-ea"/>
                <a:ea typeface="+mn-ea"/>
              </a:rPr>
              <a:t>9</a:t>
            </a:r>
            <a:endParaRPr lang="en-US" altLang="zh-CN" sz="2800" b="0" i="0">
              <a:latin typeface="+mn-ea"/>
              <a:ea typeface="+mn-ea"/>
            </a:endParaRPr>
          </a:p>
        </p:txBody>
      </p:sp>
      <p:sp>
        <p:nvSpPr>
          <p:cNvPr id="81928" name="Line 8">
            <a:extLst>
              <a:ext uri="{FF2B5EF4-FFF2-40B4-BE49-F238E27FC236}">
                <a16:creationId xmlns:a16="http://schemas.microsoft.com/office/drawing/2014/main" id="{32F4CAF5-7D5A-4EDC-9A32-C40343096353}"/>
              </a:ext>
            </a:extLst>
          </p:cNvPr>
          <p:cNvSpPr>
            <a:spLocks noChangeShapeType="1"/>
          </p:cNvSpPr>
          <p:nvPr/>
        </p:nvSpPr>
        <p:spPr bwMode="auto">
          <a:xfrm flipH="1">
            <a:off x="3537857" y="3083871"/>
            <a:ext cx="381000" cy="228600"/>
          </a:xfrm>
          <a:prstGeom prst="line">
            <a:avLst/>
          </a:prstGeom>
          <a:noFill/>
          <a:ln w="28575" cap="sq">
            <a:solidFill>
              <a:srgbClr val="99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b="0" i="0">
              <a:latin typeface="+mn-ea"/>
              <a:ea typeface="+mn-ea"/>
            </a:endParaRPr>
          </a:p>
        </p:txBody>
      </p:sp>
      <p:sp>
        <p:nvSpPr>
          <p:cNvPr id="81929" name="Line 9">
            <a:extLst>
              <a:ext uri="{FF2B5EF4-FFF2-40B4-BE49-F238E27FC236}">
                <a16:creationId xmlns:a16="http://schemas.microsoft.com/office/drawing/2014/main" id="{EC730A15-9561-4345-9915-D9F20D81D69D}"/>
              </a:ext>
            </a:extLst>
          </p:cNvPr>
          <p:cNvSpPr>
            <a:spLocks noChangeShapeType="1"/>
          </p:cNvSpPr>
          <p:nvPr/>
        </p:nvSpPr>
        <p:spPr bwMode="auto">
          <a:xfrm>
            <a:off x="4376057" y="3083871"/>
            <a:ext cx="381000" cy="228600"/>
          </a:xfrm>
          <a:prstGeom prst="line">
            <a:avLst/>
          </a:prstGeom>
          <a:noFill/>
          <a:ln w="28575" cap="sq">
            <a:solidFill>
              <a:srgbClr val="99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b="0" i="0">
              <a:latin typeface="+mn-ea"/>
              <a:ea typeface="+mn-ea"/>
            </a:endParaRPr>
          </a:p>
        </p:txBody>
      </p:sp>
      <p:sp>
        <p:nvSpPr>
          <p:cNvPr id="81930" name="Text Box 10">
            <a:extLst>
              <a:ext uri="{FF2B5EF4-FFF2-40B4-BE49-F238E27FC236}">
                <a16:creationId xmlns:a16="http://schemas.microsoft.com/office/drawing/2014/main" id="{6A3335C3-A868-4EF2-A0CA-94ECE7ED1EAB}"/>
              </a:ext>
            </a:extLst>
          </p:cNvPr>
          <p:cNvSpPr txBox="1">
            <a:spLocks noChangeArrowheads="1"/>
          </p:cNvSpPr>
          <p:nvPr/>
        </p:nvSpPr>
        <p:spPr bwMode="auto">
          <a:xfrm>
            <a:off x="3902982" y="2553447"/>
            <a:ext cx="457201" cy="523220"/>
          </a:xfrm>
          <a:prstGeom prst="rect">
            <a:avLst/>
          </a:prstGeom>
          <a:solidFill>
            <a:srgbClr val="CCFFCC">
              <a:alpha val="50195"/>
            </a:srgbClr>
          </a:solidFill>
          <a:ln w="25400" cap="sq">
            <a:solidFill>
              <a:srgbClr val="00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800" b="0" i="0" dirty="0">
                <a:solidFill>
                  <a:srgbClr val="FF3300"/>
                </a:solidFill>
                <a:latin typeface="+mn-ea"/>
                <a:ea typeface="+mn-ea"/>
              </a:rPr>
              <a:t>7</a:t>
            </a:r>
            <a:endParaRPr lang="en-US" altLang="zh-CN" sz="2800" b="0" i="0" dirty="0">
              <a:latin typeface="+mn-ea"/>
              <a:ea typeface="+mn-ea"/>
            </a:endParaRPr>
          </a:p>
        </p:txBody>
      </p:sp>
      <p:sp>
        <p:nvSpPr>
          <p:cNvPr id="81948" name="Oval 28">
            <a:extLst>
              <a:ext uri="{FF2B5EF4-FFF2-40B4-BE49-F238E27FC236}">
                <a16:creationId xmlns:a16="http://schemas.microsoft.com/office/drawing/2014/main" id="{6C9C788A-90CB-4711-9105-B5993D02C65D}"/>
              </a:ext>
            </a:extLst>
          </p:cNvPr>
          <p:cNvSpPr>
            <a:spLocks noChangeArrowheads="1"/>
          </p:cNvSpPr>
          <p:nvPr/>
        </p:nvSpPr>
        <p:spPr bwMode="auto">
          <a:xfrm>
            <a:off x="4506139" y="3298622"/>
            <a:ext cx="543739" cy="523220"/>
          </a:xfrm>
          <a:prstGeom prst="ellipse">
            <a:avLst/>
          </a:prstGeom>
          <a:solidFill>
            <a:srgbClr val="FFFF99">
              <a:alpha val="50195"/>
            </a:srgbClr>
          </a:solidFill>
          <a:ln w="25400" cap="sq">
            <a:solidFill>
              <a:srgbClr val="CC66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800" b="0" i="0">
                <a:solidFill>
                  <a:srgbClr val="990000"/>
                </a:solidFill>
                <a:latin typeface="+mn-ea"/>
                <a:ea typeface="+mn-ea"/>
              </a:rPr>
              <a:t>5</a:t>
            </a:r>
            <a:endParaRPr lang="en-US" altLang="zh-CN" sz="2800" b="0" i="0">
              <a:latin typeface="+mn-ea"/>
              <a:ea typeface="+mn-ea"/>
            </a:endParaRPr>
          </a:p>
        </p:txBody>
      </p:sp>
      <p:sp>
        <p:nvSpPr>
          <p:cNvPr id="81949" name="Oval 29">
            <a:extLst>
              <a:ext uri="{FF2B5EF4-FFF2-40B4-BE49-F238E27FC236}">
                <a16:creationId xmlns:a16="http://schemas.microsoft.com/office/drawing/2014/main" id="{EEAA5B7B-977E-4029-A440-1EB685FB68CB}"/>
              </a:ext>
            </a:extLst>
          </p:cNvPr>
          <p:cNvSpPr>
            <a:spLocks noChangeArrowheads="1"/>
          </p:cNvSpPr>
          <p:nvPr/>
        </p:nvSpPr>
        <p:spPr bwMode="auto">
          <a:xfrm>
            <a:off x="3233057" y="3236271"/>
            <a:ext cx="543739" cy="523220"/>
          </a:xfrm>
          <a:prstGeom prst="ellipse">
            <a:avLst/>
          </a:prstGeom>
          <a:solidFill>
            <a:srgbClr val="FFFF99">
              <a:alpha val="50195"/>
            </a:srgbClr>
          </a:solidFill>
          <a:ln w="25400" cap="sq">
            <a:solidFill>
              <a:srgbClr val="CC66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800" b="0" i="0">
                <a:solidFill>
                  <a:srgbClr val="990000"/>
                </a:solidFill>
                <a:latin typeface="+mn-ea"/>
                <a:ea typeface="+mn-ea"/>
              </a:rPr>
              <a:t>2</a:t>
            </a:r>
            <a:endParaRPr lang="en-US" altLang="zh-CN" sz="2800" b="0" i="0">
              <a:latin typeface="+mn-ea"/>
              <a:ea typeface="+mn-ea"/>
            </a:endParaRPr>
          </a:p>
        </p:txBody>
      </p:sp>
      <p:sp>
        <p:nvSpPr>
          <p:cNvPr id="3" name="Text Box 15">
            <a:extLst>
              <a:ext uri="{FF2B5EF4-FFF2-40B4-BE49-F238E27FC236}">
                <a16:creationId xmlns:a16="http://schemas.microsoft.com/office/drawing/2014/main" id="{8BC25CDC-2C83-ABB9-076B-37CFB7428B9A}"/>
              </a:ext>
            </a:extLst>
          </p:cNvPr>
          <p:cNvSpPr txBox="1">
            <a:spLocks noChangeArrowheads="1"/>
          </p:cNvSpPr>
          <p:nvPr/>
        </p:nvSpPr>
        <p:spPr bwMode="auto">
          <a:xfrm>
            <a:off x="4713023" y="1554170"/>
            <a:ext cx="543739" cy="523220"/>
          </a:xfrm>
          <a:prstGeom prst="rect">
            <a:avLst/>
          </a:prstGeom>
          <a:solidFill>
            <a:srgbClr val="CAF2CE">
              <a:alpha val="50195"/>
            </a:srgbClr>
          </a:solidFill>
          <a:ln w="25400" cap="sq">
            <a:solidFill>
              <a:srgbClr val="00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b="0" i="0" dirty="0">
                <a:solidFill>
                  <a:srgbClr val="FF3300"/>
                </a:solidFill>
                <a:latin typeface="+mn-ea"/>
                <a:ea typeface="+mn-ea"/>
              </a:rPr>
              <a:t>16</a:t>
            </a:r>
            <a:endParaRPr lang="en-US" altLang="zh-CN" sz="2800" b="0" i="0" dirty="0">
              <a:latin typeface="+mn-ea"/>
              <a:ea typeface="+mn-ea"/>
            </a:endParaRPr>
          </a:p>
        </p:txBody>
      </p:sp>
      <p:sp>
        <p:nvSpPr>
          <p:cNvPr id="4" name="Line 16">
            <a:extLst>
              <a:ext uri="{FF2B5EF4-FFF2-40B4-BE49-F238E27FC236}">
                <a16:creationId xmlns:a16="http://schemas.microsoft.com/office/drawing/2014/main" id="{ADB53C46-F0A0-56A1-D8E6-A63D15A209F2}"/>
              </a:ext>
            </a:extLst>
          </p:cNvPr>
          <p:cNvSpPr>
            <a:spLocks noChangeShapeType="1"/>
          </p:cNvSpPr>
          <p:nvPr/>
        </p:nvSpPr>
        <p:spPr bwMode="auto">
          <a:xfrm flipH="1">
            <a:off x="4236773" y="2041880"/>
            <a:ext cx="457200" cy="457200"/>
          </a:xfrm>
          <a:prstGeom prst="line">
            <a:avLst/>
          </a:prstGeom>
          <a:noFill/>
          <a:ln w="28575" cap="sq">
            <a:solidFill>
              <a:srgbClr val="99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b="0" i="0">
              <a:latin typeface="+mn-ea"/>
              <a:ea typeface="+mn-ea"/>
            </a:endParaRPr>
          </a:p>
        </p:txBody>
      </p:sp>
      <p:sp>
        <p:nvSpPr>
          <p:cNvPr id="5" name="Line 17">
            <a:extLst>
              <a:ext uri="{FF2B5EF4-FFF2-40B4-BE49-F238E27FC236}">
                <a16:creationId xmlns:a16="http://schemas.microsoft.com/office/drawing/2014/main" id="{5034214E-9A59-1859-904E-1F3C8C1CEA4B}"/>
              </a:ext>
            </a:extLst>
          </p:cNvPr>
          <p:cNvSpPr>
            <a:spLocks noChangeShapeType="1"/>
          </p:cNvSpPr>
          <p:nvPr/>
        </p:nvSpPr>
        <p:spPr bwMode="auto">
          <a:xfrm>
            <a:off x="5224583" y="2041880"/>
            <a:ext cx="381000" cy="457200"/>
          </a:xfrm>
          <a:prstGeom prst="line">
            <a:avLst/>
          </a:prstGeom>
          <a:noFill/>
          <a:ln w="28575" cap="sq">
            <a:solidFill>
              <a:srgbClr val="99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b="0" i="0">
              <a:latin typeface="+mn-ea"/>
              <a:ea typeface="+mn-ea"/>
            </a:endParaRPr>
          </a:p>
        </p:txBody>
      </p:sp>
      <p:sp>
        <p:nvSpPr>
          <p:cNvPr id="6" name="Text Box 4">
            <a:extLst>
              <a:ext uri="{FF2B5EF4-FFF2-40B4-BE49-F238E27FC236}">
                <a16:creationId xmlns:a16="http://schemas.microsoft.com/office/drawing/2014/main" id="{4B78CF8F-BA89-1EEE-DBFC-B72F07280558}"/>
              </a:ext>
            </a:extLst>
          </p:cNvPr>
          <p:cNvSpPr txBox="1">
            <a:spLocks noChangeArrowheads="1"/>
          </p:cNvSpPr>
          <p:nvPr/>
        </p:nvSpPr>
        <p:spPr bwMode="auto">
          <a:xfrm>
            <a:off x="457200" y="211287"/>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en-US" altLang="zh-CN" sz="4400" i="0" dirty="0">
                <a:solidFill>
                  <a:schemeClr val="tx2"/>
                </a:solidFill>
                <a:ea typeface="隶书" pitchFamily="49" charset="-122"/>
              </a:rPr>
              <a:t>Huffman</a:t>
            </a:r>
            <a:r>
              <a:rPr lang="zh-CN" altLang="en-US" sz="4400" i="0" dirty="0">
                <a:solidFill>
                  <a:schemeClr val="tx2"/>
                </a:solidFill>
                <a:ea typeface="隶书" pitchFamily="49" charset="-122"/>
              </a:rPr>
              <a:t>树练习</a:t>
            </a:r>
            <a:r>
              <a:rPr lang="en-US" altLang="zh-CN" sz="4400" i="0" dirty="0">
                <a:solidFill>
                  <a:schemeClr val="tx2"/>
                </a:solidFill>
                <a:ea typeface="隶书" pitchFamily="49" charset="-122"/>
              </a:rPr>
              <a:t>1</a:t>
            </a:r>
            <a:endParaRPr lang="zh-CN" altLang="en-US" sz="4400" i="0" dirty="0">
              <a:solidFill>
                <a:schemeClr val="tx2"/>
              </a:solidFill>
              <a:ea typeface="隶书" pitchFamily="49" charset="-122"/>
            </a:endParaRPr>
          </a:p>
        </p:txBody>
      </p:sp>
    </p:spTree>
    <p:extLst>
      <p:ext uri="{BB962C8B-B14F-4D97-AF65-F5344CB8AC3E}">
        <p14:creationId xmlns:p14="http://schemas.microsoft.com/office/powerpoint/2010/main" val="587801110"/>
      </p:ext>
    </p:extLst>
  </p:cSld>
  <p:clrMapOvr>
    <a:masterClrMapping/>
  </p:clrMapOvr>
  <p:transition spd="med">
    <p:pull dir="d"/>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81927"/>
                                        </p:tgtEl>
                                        <p:attrNameLst>
                                          <p:attrName>style.visibility</p:attrName>
                                        </p:attrNameLst>
                                      </p:cBhvr>
                                      <p:to>
                                        <p:strVal val="visible"/>
                                      </p:to>
                                    </p:set>
                                    <p:anim calcmode="lin" valueType="num">
                                      <p:cBhvr additive="base">
                                        <p:cTn id="7" dur="500" fill="hold"/>
                                        <p:tgtEl>
                                          <p:spTgt spid="81927"/>
                                        </p:tgtEl>
                                        <p:attrNameLst>
                                          <p:attrName>ppt_x</p:attrName>
                                        </p:attrNameLst>
                                      </p:cBhvr>
                                      <p:tavLst>
                                        <p:tav tm="0">
                                          <p:val>
                                            <p:strVal val="#ppt_x"/>
                                          </p:val>
                                        </p:tav>
                                        <p:tav tm="100000">
                                          <p:val>
                                            <p:strVal val="#ppt_x"/>
                                          </p:val>
                                        </p:tav>
                                      </p:tavLst>
                                    </p:anim>
                                    <p:anim calcmode="lin" valueType="num">
                                      <p:cBhvr additive="base">
                                        <p:cTn id="8" dur="500" fill="hold"/>
                                        <p:tgtEl>
                                          <p:spTgt spid="81927"/>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stCondLst>
                                    <p:cond delay="0"/>
                                  </p:stCondLst>
                                  <p:childTnLst>
                                    <p:set>
                                      <p:cBhvr>
                                        <p:cTn id="10" dur="1" fill="hold">
                                          <p:stCondLst>
                                            <p:cond delay="0"/>
                                          </p:stCondLst>
                                        </p:cTn>
                                        <p:tgtEl>
                                          <p:spTgt spid="81930"/>
                                        </p:tgtEl>
                                        <p:attrNameLst>
                                          <p:attrName>style.visibility</p:attrName>
                                        </p:attrNameLst>
                                      </p:cBhvr>
                                      <p:to>
                                        <p:strVal val="visible"/>
                                      </p:to>
                                    </p:set>
                                    <p:anim calcmode="lin" valueType="num">
                                      <p:cBhvr additive="base">
                                        <p:cTn id="11" dur="500" fill="hold"/>
                                        <p:tgtEl>
                                          <p:spTgt spid="81930"/>
                                        </p:tgtEl>
                                        <p:attrNameLst>
                                          <p:attrName>ppt_x</p:attrName>
                                        </p:attrNameLst>
                                      </p:cBhvr>
                                      <p:tavLst>
                                        <p:tav tm="0">
                                          <p:val>
                                            <p:strVal val="#ppt_x"/>
                                          </p:val>
                                        </p:tav>
                                        <p:tav tm="100000">
                                          <p:val>
                                            <p:strVal val="#ppt_x"/>
                                          </p:val>
                                        </p:tav>
                                      </p:tavLst>
                                    </p:anim>
                                    <p:anim calcmode="lin" valueType="num">
                                      <p:cBhvr additive="base">
                                        <p:cTn id="12" dur="500" fill="hold"/>
                                        <p:tgtEl>
                                          <p:spTgt spid="81930"/>
                                        </p:tgtEl>
                                        <p:attrNameLst>
                                          <p:attrName>ppt_y</p:attrName>
                                        </p:attrNameLst>
                                      </p:cBhvr>
                                      <p:tavLst>
                                        <p:tav tm="0">
                                          <p:val>
                                            <p:strVal val="0-#ppt_h/2"/>
                                          </p:val>
                                        </p:tav>
                                        <p:tav tm="100000">
                                          <p:val>
                                            <p:strVal val="#ppt_y"/>
                                          </p:val>
                                        </p:tav>
                                      </p:tavLst>
                                    </p:anim>
                                  </p:childTnLst>
                                </p:cTn>
                              </p:par>
                              <p:par>
                                <p:cTn id="13" presetID="2" presetClass="entr" presetSubtype="1" fill="hold" nodeType="withEffect">
                                  <p:stCondLst>
                                    <p:cond delay="0"/>
                                  </p:stCondLst>
                                  <p:childTnLst>
                                    <p:set>
                                      <p:cBhvr>
                                        <p:cTn id="14" dur="1" fill="hold">
                                          <p:stCondLst>
                                            <p:cond delay="0"/>
                                          </p:stCondLst>
                                        </p:cTn>
                                        <p:tgtEl>
                                          <p:spTgt spid="81928"/>
                                        </p:tgtEl>
                                        <p:attrNameLst>
                                          <p:attrName>style.visibility</p:attrName>
                                        </p:attrNameLst>
                                      </p:cBhvr>
                                      <p:to>
                                        <p:strVal val="visible"/>
                                      </p:to>
                                    </p:set>
                                    <p:anim calcmode="lin" valueType="num">
                                      <p:cBhvr additive="base">
                                        <p:cTn id="15" dur="500" fill="hold"/>
                                        <p:tgtEl>
                                          <p:spTgt spid="81928"/>
                                        </p:tgtEl>
                                        <p:attrNameLst>
                                          <p:attrName>ppt_x</p:attrName>
                                        </p:attrNameLst>
                                      </p:cBhvr>
                                      <p:tavLst>
                                        <p:tav tm="0">
                                          <p:val>
                                            <p:strVal val="#ppt_x"/>
                                          </p:val>
                                        </p:tav>
                                        <p:tav tm="100000">
                                          <p:val>
                                            <p:strVal val="#ppt_x"/>
                                          </p:val>
                                        </p:tav>
                                      </p:tavLst>
                                    </p:anim>
                                    <p:anim calcmode="lin" valueType="num">
                                      <p:cBhvr additive="base">
                                        <p:cTn id="16" dur="500" fill="hold"/>
                                        <p:tgtEl>
                                          <p:spTgt spid="81928"/>
                                        </p:tgtEl>
                                        <p:attrNameLst>
                                          <p:attrName>ppt_y</p:attrName>
                                        </p:attrNameLst>
                                      </p:cBhvr>
                                      <p:tavLst>
                                        <p:tav tm="0">
                                          <p:val>
                                            <p:strVal val="0-#ppt_h/2"/>
                                          </p:val>
                                        </p:tav>
                                        <p:tav tm="100000">
                                          <p:val>
                                            <p:strVal val="#ppt_y"/>
                                          </p:val>
                                        </p:tav>
                                      </p:tavLst>
                                    </p:anim>
                                  </p:childTnLst>
                                </p:cTn>
                              </p:par>
                              <p:par>
                                <p:cTn id="17" presetID="2" presetClass="entr" presetSubtype="1" fill="hold" nodeType="withEffect">
                                  <p:stCondLst>
                                    <p:cond delay="0"/>
                                  </p:stCondLst>
                                  <p:childTnLst>
                                    <p:set>
                                      <p:cBhvr>
                                        <p:cTn id="18" dur="1" fill="hold">
                                          <p:stCondLst>
                                            <p:cond delay="0"/>
                                          </p:stCondLst>
                                        </p:cTn>
                                        <p:tgtEl>
                                          <p:spTgt spid="81929"/>
                                        </p:tgtEl>
                                        <p:attrNameLst>
                                          <p:attrName>style.visibility</p:attrName>
                                        </p:attrNameLst>
                                      </p:cBhvr>
                                      <p:to>
                                        <p:strVal val="visible"/>
                                      </p:to>
                                    </p:set>
                                    <p:anim calcmode="lin" valueType="num">
                                      <p:cBhvr additive="base">
                                        <p:cTn id="19" dur="500" fill="hold"/>
                                        <p:tgtEl>
                                          <p:spTgt spid="81929"/>
                                        </p:tgtEl>
                                        <p:attrNameLst>
                                          <p:attrName>ppt_x</p:attrName>
                                        </p:attrNameLst>
                                      </p:cBhvr>
                                      <p:tavLst>
                                        <p:tav tm="0">
                                          <p:val>
                                            <p:strVal val="#ppt_x"/>
                                          </p:val>
                                        </p:tav>
                                        <p:tav tm="100000">
                                          <p:val>
                                            <p:strVal val="#ppt_x"/>
                                          </p:val>
                                        </p:tav>
                                      </p:tavLst>
                                    </p:anim>
                                    <p:anim calcmode="lin" valueType="num">
                                      <p:cBhvr additive="base">
                                        <p:cTn id="20" dur="500" fill="hold"/>
                                        <p:tgtEl>
                                          <p:spTgt spid="81929"/>
                                        </p:tgtEl>
                                        <p:attrNameLst>
                                          <p:attrName>ppt_y</p:attrName>
                                        </p:attrNameLst>
                                      </p:cBhvr>
                                      <p:tavLst>
                                        <p:tav tm="0">
                                          <p:val>
                                            <p:strVal val="0-#ppt_h/2"/>
                                          </p:val>
                                        </p:tav>
                                        <p:tav tm="100000">
                                          <p:val>
                                            <p:strVal val="#ppt_y"/>
                                          </p:val>
                                        </p:tav>
                                      </p:tavLst>
                                    </p:anim>
                                  </p:childTnLst>
                                </p:cTn>
                              </p:par>
                              <p:par>
                                <p:cTn id="21" presetID="9" presetClass="entr" presetSubtype="0" fill="hold" grpId="0" nodeType="withEffect">
                                  <p:stCondLst>
                                    <p:cond delay="0"/>
                                  </p:stCondLst>
                                  <p:childTnLst>
                                    <p:set>
                                      <p:cBhvr>
                                        <p:cTn id="22" dur="1" fill="hold">
                                          <p:stCondLst>
                                            <p:cond delay="0"/>
                                          </p:stCondLst>
                                        </p:cTn>
                                        <p:tgtEl>
                                          <p:spTgt spid="81949"/>
                                        </p:tgtEl>
                                        <p:attrNameLst>
                                          <p:attrName>style.visibility</p:attrName>
                                        </p:attrNameLst>
                                      </p:cBhvr>
                                      <p:to>
                                        <p:strVal val="visible"/>
                                      </p:to>
                                    </p:set>
                                    <p:animEffect transition="in" filter="dissolve">
                                      <p:cBhvr>
                                        <p:cTn id="23" dur="500"/>
                                        <p:tgtEl>
                                          <p:spTgt spid="81949"/>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81948"/>
                                        </p:tgtEl>
                                        <p:attrNameLst>
                                          <p:attrName>style.visibility</p:attrName>
                                        </p:attrNameLst>
                                      </p:cBhvr>
                                      <p:to>
                                        <p:strVal val="visible"/>
                                      </p:to>
                                    </p:set>
                                    <p:animEffect transition="in" filter="dissolve">
                                      <p:cBhvr>
                                        <p:cTn id="26" dur="500"/>
                                        <p:tgtEl>
                                          <p:spTgt spid="81948"/>
                                        </p:tgtEl>
                                      </p:cBhvr>
                                    </p:animEffect>
                                  </p:childTnLst>
                                </p:cTn>
                              </p:par>
                            </p:childTnLst>
                          </p:cTn>
                        </p:par>
                      </p:childTnLst>
                    </p:cTn>
                  </p:par>
                  <p:par>
                    <p:cTn id="27" fill="hold">
                      <p:stCondLst>
                        <p:cond delay="indefinite"/>
                      </p:stCondLst>
                      <p:childTnLst>
                        <p:par>
                          <p:cTn id="28" fill="hold">
                            <p:stCondLst>
                              <p:cond delay="0"/>
                            </p:stCondLst>
                            <p:childTnLst>
                              <p:par>
                                <p:cTn id="29" presetID="17" presetClass="entr" presetSubtype="4"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anim calcmode="lin" valueType="num">
                                      <p:cBhvr additive="base">
                                        <p:cTn id="31" dur="500" fill="hold"/>
                                        <p:tgtEl>
                                          <p:spTgt spid="4"/>
                                        </p:tgtEl>
                                        <p:attrNameLst>
                                          <p:attrName>ppt_x</p:attrName>
                                        </p:attrNameLst>
                                      </p:cBhvr>
                                      <p:tavLst>
                                        <p:tav tm="0">
                                          <p:val>
                                            <p:strVal val="#ppt_x"/>
                                          </p:val>
                                        </p:tav>
                                        <p:tav tm="100000">
                                          <p:val>
                                            <p:strVal val="#ppt_x"/>
                                          </p:val>
                                        </p:tav>
                                      </p:tavLst>
                                    </p:anim>
                                    <p:anim calcmode="lin" valueType="num">
                                      <p:cBhvr additive="base">
                                        <p:cTn id="32" dur="500" fill="hold"/>
                                        <p:tgtEl>
                                          <p:spTgt spid="4"/>
                                        </p:tgtEl>
                                        <p:attrNameLst>
                                          <p:attrName>ppt_y</p:attrName>
                                        </p:attrNameLst>
                                      </p:cBhvr>
                                      <p:tavLst>
                                        <p:tav tm="0">
                                          <p:val>
                                            <p:strVal val="#ppt_y+#ppt_h/2"/>
                                          </p:val>
                                        </p:tav>
                                        <p:tav tm="100000">
                                          <p:val>
                                            <p:strVal val="#ppt_y"/>
                                          </p:val>
                                        </p:tav>
                                      </p:tavLst>
                                    </p:anim>
                                    <p:anim calcmode="lin" valueType="num">
                                      <p:cBhvr additive="base">
                                        <p:cTn id="33" dur="500" fill="hold"/>
                                        <p:tgtEl>
                                          <p:spTgt spid="4"/>
                                        </p:tgtEl>
                                        <p:attrNameLst>
                                          <p:attrName>ppt_w</p:attrName>
                                        </p:attrNameLst>
                                      </p:cBhvr>
                                      <p:tavLst>
                                        <p:tav tm="0">
                                          <p:val>
                                            <p:strVal val="#ppt_w"/>
                                          </p:val>
                                        </p:tav>
                                        <p:tav tm="100000">
                                          <p:val>
                                            <p:strVal val="#ppt_w"/>
                                          </p:val>
                                        </p:tav>
                                      </p:tavLst>
                                    </p:anim>
                                    <p:anim calcmode="lin" valueType="num">
                                      <p:cBhvr additive="base">
                                        <p:cTn id="34" dur="500" fill="hold"/>
                                        <p:tgtEl>
                                          <p:spTgt spid="4"/>
                                        </p:tgtEl>
                                        <p:attrNameLst>
                                          <p:attrName>ppt_h</p:attrName>
                                        </p:attrNameLst>
                                      </p:cBhvr>
                                      <p:tavLst>
                                        <p:tav tm="0">
                                          <p:val>
                                            <p:fltVal val="0"/>
                                          </p:val>
                                        </p:tav>
                                        <p:tav tm="100000">
                                          <p:val>
                                            <p:strVal val="#ppt_h"/>
                                          </p:val>
                                        </p:tav>
                                      </p:tavLst>
                                    </p:anim>
                                  </p:childTnLst>
                                </p:cTn>
                              </p:par>
                            </p:childTnLst>
                          </p:cTn>
                        </p:par>
                      </p:childTnLst>
                    </p:cTn>
                  </p:par>
                  <p:par>
                    <p:cTn id="35" fill="hold">
                      <p:stCondLst>
                        <p:cond delay="indefinite"/>
                      </p:stCondLst>
                      <p:childTnLst>
                        <p:par>
                          <p:cTn id="36" fill="hold">
                            <p:stCondLst>
                              <p:cond delay="0"/>
                            </p:stCondLst>
                            <p:childTnLst>
                              <p:par>
                                <p:cTn id="37" presetID="17" presetClass="entr" presetSubtype="4" fill="hold" nodeType="clickEffect">
                                  <p:stCondLst>
                                    <p:cond delay="0"/>
                                  </p:stCondLst>
                                  <p:childTnLst>
                                    <p:set>
                                      <p:cBhvr>
                                        <p:cTn id="38" dur="1" fill="hold">
                                          <p:stCondLst>
                                            <p:cond delay="0"/>
                                          </p:stCondLst>
                                        </p:cTn>
                                        <p:tgtEl>
                                          <p:spTgt spid="5"/>
                                        </p:tgtEl>
                                        <p:attrNameLst>
                                          <p:attrName>style.visibility</p:attrName>
                                        </p:attrNameLst>
                                      </p:cBhvr>
                                      <p:to>
                                        <p:strVal val="visible"/>
                                      </p:to>
                                    </p:set>
                                    <p:anim calcmode="lin" valueType="num">
                                      <p:cBhvr additive="base">
                                        <p:cTn id="39" dur="500" fill="hold"/>
                                        <p:tgtEl>
                                          <p:spTgt spid="5"/>
                                        </p:tgtEl>
                                        <p:attrNameLst>
                                          <p:attrName>ppt_x</p:attrName>
                                        </p:attrNameLst>
                                      </p:cBhvr>
                                      <p:tavLst>
                                        <p:tav tm="0">
                                          <p:val>
                                            <p:strVal val="#ppt_x"/>
                                          </p:val>
                                        </p:tav>
                                        <p:tav tm="100000">
                                          <p:val>
                                            <p:strVal val="#ppt_x"/>
                                          </p:val>
                                        </p:tav>
                                      </p:tavLst>
                                    </p:anim>
                                    <p:anim calcmode="lin" valueType="num">
                                      <p:cBhvr additive="base">
                                        <p:cTn id="40" dur="500" fill="hold"/>
                                        <p:tgtEl>
                                          <p:spTgt spid="5"/>
                                        </p:tgtEl>
                                        <p:attrNameLst>
                                          <p:attrName>ppt_y</p:attrName>
                                        </p:attrNameLst>
                                      </p:cBhvr>
                                      <p:tavLst>
                                        <p:tav tm="0">
                                          <p:val>
                                            <p:strVal val="#ppt_y+#ppt_h/2"/>
                                          </p:val>
                                        </p:tav>
                                        <p:tav tm="100000">
                                          <p:val>
                                            <p:strVal val="#ppt_y"/>
                                          </p:val>
                                        </p:tav>
                                      </p:tavLst>
                                    </p:anim>
                                    <p:anim calcmode="lin" valueType="num">
                                      <p:cBhvr additive="base">
                                        <p:cTn id="41" dur="500" fill="hold"/>
                                        <p:tgtEl>
                                          <p:spTgt spid="5"/>
                                        </p:tgtEl>
                                        <p:attrNameLst>
                                          <p:attrName>ppt_w</p:attrName>
                                        </p:attrNameLst>
                                      </p:cBhvr>
                                      <p:tavLst>
                                        <p:tav tm="0">
                                          <p:val>
                                            <p:strVal val="#ppt_w"/>
                                          </p:val>
                                        </p:tav>
                                        <p:tav tm="100000">
                                          <p:val>
                                            <p:strVal val="#ppt_w"/>
                                          </p:val>
                                        </p:tav>
                                      </p:tavLst>
                                    </p:anim>
                                    <p:anim calcmode="lin" valueType="num">
                                      <p:cBhvr additive="base">
                                        <p:cTn id="42"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5" presetID="17" presetClass="entr" presetSubtype="4" fill="hold" grpId="0" nodeType="clickEffect">
                                  <p:stCondLst>
                                    <p:cond delay="0"/>
                                  </p:stCondLst>
                                  <p:childTnLst>
                                    <p:set>
                                      <p:cBhvr>
                                        <p:cTn id="46" dur="1" fill="hold">
                                          <p:stCondLst>
                                            <p:cond delay="0"/>
                                          </p:stCondLst>
                                        </p:cTn>
                                        <p:tgtEl>
                                          <p:spTgt spid="3"/>
                                        </p:tgtEl>
                                        <p:attrNameLst>
                                          <p:attrName>style.visibility</p:attrName>
                                        </p:attrNameLst>
                                      </p:cBhvr>
                                      <p:to>
                                        <p:strVal val="visible"/>
                                      </p:to>
                                    </p:set>
                                    <p:anim calcmode="lin" valueType="num">
                                      <p:cBhvr additive="base">
                                        <p:cTn id="47" dur="500" fill="hold"/>
                                        <p:tgtEl>
                                          <p:spTgt spid="3"/>
                                        </p:tgtEl>
                                        <p:attrNameLst>
                                          <p:attrName>ppt_x</p:attrName>
                                        </p:attrNameLst>
                                      </p:cBhvr>
                                      <p:tavLst>
                                        <p:tav tm="0">
                                          <p:val>
                                            <p:strVal val="#ppt_x"/>
                                          </p:val>
                                        </p:tav>
                                        <p:tav tm="100000">
                                          <p:val>
                                            <p:strVal val="#ppt_x"/>
                                          </p:val>
                                        </p:tav>
                                      </p:tavLst>
                                    </p:anim>
                                    <p:anim calcmode="lin" valueType="num">
                                      <p:cBhvr additive="base">
                                        <p:cTn id="48" dur="500" fill="hold"/>
                                        <p:tgtEl>
                                          <p:spTgt spid="3"/>
                                        </p:tgtEl>
                                        <p:attrNameLst>
                                          <p:attrName>ppt_y</p:attrName>
                                        </p:attrNameLst>
                                      </p:cBhvr>
                                      <p:tavLst>
                                        <p:tav tm="0">
                                          <p:val>
                                            <p:strVal val="#ppt_y+#ppt_h/2"/>
                                          </p:val>
                                        </p:tav>
                                        <p:tav tm="100000">
                                          <p:val>
                                            <p:strVal val="#ppt_y"/>
                                          </p:val>
                                        </p:tav>
                                      </p:tavLst>
                                    </p:anim>
                                    <p:anim calcmode="lin" valueType="num">
                                      <p:cBhvr additive="base">
                                        <p:cTn id="49" dur="500" fill="hold"/>
                                        <p:tgtEl>
                                          <p:spTgt spid="3"/>
                                        </p:tgtEl>
                                        <p:attrNameLst>
                                          <p:attrName>ppt_w</p:attrName>
                                        </p:attrNameLst>
                                      </p:cBhvr>
                                      <p:tavLst>
                                        <p:tav tm="0">
                                          <p:val>
                                            <p:strVal val="#ppt_w"/>
                                          </p:val>
                                        </p:tav>
                                        <p:tav tm="100000">
                                          <p:val>
                                            <p:strVal val="#ppt_w"/>
                                          </p:val>
                                        </p:tav>
                                      </p:tavLst>
                                    </p:anim>
                                    <p:anim calcmode="lin" valueType="num">
                                      <p:cBhvr additive="base">
                                        <p:cTn id="50" dur="500" fill="hold"/>
                                        <p:tgtEl>
                                          <p:spTgt spid="3"/>
                                        </p:tgtEl>
                                        <p:attrNameLst>
                                          <p:attrName>ppt_h</p:attrName>
                                        </p:attrNameLst>
                                      </p:cBhvr>
                                      <p:tavLst>
                                        <p:tav tm="0">
                                          <p:val>
                                            <p:fltVal val="0"/>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81922"/>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81923"/>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81924"/>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81925"/>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819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2" grpId="0" animBg="1"/>
      <p:bldP spid="81923" grpId="0" animBg="1"/>
      <p:bldP spid="81924" grpId="0" animBg="1"/>
      <p:bldP spid="81925" grpId="0" animBg="1"/>
      <p:bldP spid="81926" grpId="0" animBg="1"/>
      <p:bldP spid="81927" grpId="0" animBg="1" autoUpdateAnimBg="0"/>
      <p:bldP spid="81930" grpId="0" animBg="1" autoUpdateAnimBg="0"/>
      <p:bldP spid="81948" grpId="0" animBg="1" autoUpdateAnimBg="0"/>
      <p:bldP spid="81949" grpId="0" animBg="1" autoUpdateAnimBg="0"/>
      <p:bldP spid="3" grpId="0" animBg="1" autoUpdateAnimBg="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1" name="Oval 11">
            <a:extLst>
              <a:ext uri="{FF2B5EF4-FFF2-40B4-BE49-F238E27FC236}">
                <a16:creationId xmlns:a16="http://schemas.microsoft.com/office/drawing/2014/main" id="{9B5E0FE8-78C0-46F4-A1B3-D3394B664B63}"/>
              </a:ext>
            </a:extLst>
          </p:cNvPr>
          <p:cNvSpPr>
            <a:spLocks noChangeArrowheads="1"/>
          </p:cNvSpPr>
          <p:nvPr/>
        </p:nvSpPr>
        <p:spPr bwMode="auto">
          <a:xfrm>
            <a:off x="4613176" y="3410000"/>
            <a:ext cx="457200" cy="457200"/>
          </a:xfrm>
          <a:prstGeom prst="ellipse">
            <a:avLst/>
          </a:prstGeom>
          <a:solidFill>
            <a:srgbClr val="FFFF99">
              <a:alpha val="50195"/>
            </a:srgbClr>
          </a:solidFill>
          <a:ln w="25400" cap="sq">
            <a:solidFill>
              <a:srgbClr val="CC66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800" b="0" i="0">
                <a:solidFill>
                  <a:srgbClr val="990000"/>
                </a:solidFill>
                <a:latin typeface="+mn-ea"/>
                <a:ea typeface="+mn-ea"/>
              </a:rPr>
              <a:t>9</a:t>
            </a:r>
            <a:endParaRPr lang="en-US" altLang="zh-CN" sz="2800" b="0" i="0">
              <a:latin typeface="+mn-ea"/>
              <a:ea typeface="+mn-ea"/>
            </a:endParaRPr>
          </a:p>
        </p:txBody>
      </p:sp>
      <p:sp>
        <p:nvSpPr>
          <p:cNvPr id="81932" name="Line 12">
            <a:extLst>
              <a:ext uri="{FF2B5EF4-FFF2-40B4-BE49-F238E27FC236}">
                <a16:creationId xmlns:a16="http://schemas.microsoft.com/office/drawing/2014/main" id="{C37932D7-D850-470F-B0ED-A016A334A54C}"/>
              </a:ext>
            </a:extLst>
          </p:cNvPr>
          <p:cNvSpPr>
            <a:spLocks noChangeShapeType="1"/>
          </p:cNvSpPr>
          <p:nvPr/>
        </p:nvSpPr>
        <p:spPr bwMode="auto">
          <a:xfrm flipH="1">
            <a:off x="2920902" y="3933220"/>
            <a:ext cx="230185" cy="252100"/>
          </a:xfrm>
          <a:prstGeom prst="line">
            <a:avLst/>
          </a:prstGeom>
          <a:noFill/>
          <a:ln w="28575" cap="sq">
            <a:solidFill>
              <a:srgbClr val="99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sz="2800" b="0" i="0">
              <a:latin typeface="+mn-ea"/>
              <a:ea typeface="+mn-ea"/>
            </a:endParaRPr>
          </a:p>
        </p:txBody>
      </p:sp>
      <p:sp>
        <p:nvSpPr>
          <p:cNvPr id="81933" name="Line 13">
            <a:extLst>
              <a:ext uri="{FF2B5EF4-FFF2-40B4-BE49-F238E27FC236}">
                <a16:creationId xmlns:a16="http://schemas.microsoft.com/office/drawing/2014/main" id="{9435B620-EA0D-4C64-9615-218241B4724D}"/>
              </a:ext>
            </a:extLst>
          </p:cNvPr>
          <p:cNvSpPr>
            <a:spLocks noChangeShapeType="1"/>
          </p:cNvSpPr>
          <p:nvPr/>
        </p:nvSpPr>
        <p:spPr bwMode="auto">
          <a:xfrm>
            <a:off x="3638451" y="3956720"/>
            <a:ext cx="381000" cy="228600"/>
          </a:xfrm>
          <a:prstGeom prst="line">
            <a:avLst/>
          </a:prstGeom>
          <a:noFill/>
          <a:ln w="28575" cap="sq">
            <a:solidFill>
              <a:srgbClr val="99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sz="2800" b="0" i="0">
              <a:latin typeface="+mn-ea"/>
              <a:ea typeface="+mn-ea"/>
            </a:endParaRPr>
          </a:p>
        </p:txBody>
      </p:sp>
      <p:sp>
        <p:nvSpPr>
          <p:cNvPr id="81934" name="Text Box 14">
            <a:extLst>
              <a:ext uri="{FF2B5EF4-FFF2-40B4-BE49-F238E27FC236}">
                <a16:creationId xmlns:a16="http://schemas.microsoft.com/office/drawing/2014/main" id="{5CA039E8-E1FF-44B7-AE8E-5CDC5F7F24C0}"/>
              </a:ext>
            </a:extLst>
          </p:cNvPr>
          <p:cNvSpPr txBox="1">
            <a:spLocks noChangeArrowheads="1"/>
          </p:cNvSpPr>
          <p:nvPr/>
        </p:nvSpPr>
        <p:spPr bwMode="auto">
          <a:xfrm>
            <a:off x="3165377" y="3410000"/>
            <a:ext cx="457200" cy="523220"/>
          </a:xfrm>
          <a:prstGeom prst="rect">
            <a:avLst/>
          </a:prstGeom>
          <a:solidFill>
            <a:srgbClr val="CCFFCC">
              <a:alpha val="50195"/>
            </a:srgbClr>
          </a:solidFill>
          <a:ln w="25400" cap="sq">
            <a:solidFill>
              <a:srgbClr val="00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800" b="0" i="0">
                <a:solidFill>
                  <a:srgbClr val="FF3300"/>
                </a:solidFill>
                <a:latin typeface="+mn-ea"/>
                <a:ea typeface="+mn-ea"/>
              </a:rPr>
              <a:t>7</a:t>
            </a:r>
            <a:endParaRPr lang="en-US" altLang="zh-CN" sz="2800" b="0" i="0">
              <a:latin typeface="+mn-ea"/>
              <a:ea typeface="+mn-ea"/>
            </a:endParaRPr>
          </a:p>
        </p:txBody>
      </p:sp>
      <p:sp>
        <p:nvSpPr>
          <p:cNvPr id="81935" name="Text Box 15">
            <a:extLst>
              <a:ext uri="{FF2B5EF4-FFF2-40B4-BE49-F238E27FC236}">
                <a16:creationId xmlns:a16="http://schemas.microsoft.com/office/drawing/2014/main" id="{BE8D4258-A33C-44A0-B577-4A8829C3EA0E}"/>
              </a:ext>
            </a:extLst>
          </p:cNvPr>
          <p:cNvSpPr txBox="1">
            <a:spLocks noChangeArrowheads="1"/>
          </p:cNvSpPr>
          <p:nvPr/>
        </p:nvSpPr>
        <p:spPr bwMode="auto">
          <a:xfrm>
            <a:off x="3794026" y="2465090"/>
            <a:ext cx="549274" cy="523220"/>
          </a:xfrm>
          <a:prstGeom prst="rect">
            <a:avLst/>
          </a:prstGeom>
          <a:solidFill>
            <a:srgbClr val="CAF2CE">
              <a:alpha val="50195"/>
            </a:srgbClr>
          </a:solidFill>
          <a:ln w="25400" cap="sq">
            <a:solidFill>
              <a:srgbClr val="00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800" b="0" i="0" dirty="0">
                <a:solidFill>
                  <a:srgbClr val="FF3300"/>
                </a:solidFill>
                <a:latin typeface="+mn-ea"/>
                <a:ea typeface="+mn-ea"/>
              </a:rPr>
              <a:t>16</a:t>
            </a:r>
            <a:endParaRPr lang="en-US" altLang="zh-CN" sz="2800" b="0" i="0" dirty="0">
              <a:latin typeface="+mn-ea"/>
              <a:ea typeface="+mn-ea"/>
            </a:endParaRPr>
          </a:p>
        </p:txBody>
      </p:sp>
      <p:sp>
        <p:nvSpPr>
          <p:cNvPr id="81936" name="Line 16">
            <a:extLst>
              <a:ext uri="{FF2B5EF4-FFF2-40B4-BE49-F238E27FC236}">
                <a16:creationId xmlns:a16="http://schemas.microsoft.com/office/drawing/2014/main" id="{07A73078-ACA8-4E9E-9AB3-F0C3FE421A4A}"/>
              </a:ext>
            </a:extLst>
          </p:cNvPr>
          <p:cNvSpPr>
            <a:spLocks noChangeShapeType="1"/>
          </p:cNvSpPr>
          <p:nvPr/>
        </p:nvSpPr>
        <p:spPr bwMode="auto">
          <a:xfrm flipH="1">
            <a:off x="3317776" y="2952800"/>
            <a:ext cx="457200" cy="457200"/>
          </a:xfrm>
          <a:prstGeom prst="line">
            <a:avLst/>
          </a:prstGeom>
          <a:noFill/>
          <a:ln w="28575" cap="sq">
            <a:solidFill>
              <a:srgbClr val="99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sz="2800" b="0" i="0">
              <a:latin typeface="+mn-ea"/>
              <a:ea typeface="+mn-ea"/>
            </a:endParaRPr>
          </a:p>
        </p:txBody>
      </p:sp>
      <p:sp>
        <p:nvSpPr>
          <p:cNvPr id="81937" name="Line 17">
            <a:extLst>
              <a:ext uri="{FF2B5EF4-FFF2-40B4-BE49-F238E27FC236}">
                <a16:creationId xmlns:a16="http://schemas.microsoft.com/office/drawing/2014/main" id="{810E40CE-103A-48DE-8588-DC844364878E}"/>
              </a:ext>
            </a:extLst>
          </p:cNvPr>
          <p:cNvSpPr>
            <a:spLocks noChangeShapeType="1"/>
          </p:cNvSpPr>
          <p:nvPr/>
        </p:nvSpPr>
        <p:spPr bwMode="auto">
          <a:xfrm>
            <a:off x="4306464" y="2971800"/>
            <a:ext cx="381000" cy="457200"/>
          </a:xfrm>
          <a:prstGeom prst="line">
            <a:avLst/>
          </a:prstGeom>
          <a:noFill/>
          <a:ln w="28575" cap="sq">
            <a:solidFill>
              <a:srgbClr val="99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sz="2800" b="0" i="0">
              <a:latin typeface="+mn-ea"/>
              <a:ea typeface="+mn-ea"/>
            </a:endParaRPr>
          </a:p>
        </p:txBody>
      </p:sp>
      <p:sp>
        <p:nvSpPr>
          <p:cNvPr id="81938" name="Oval 18">
            <a:extLst>
              <a:ext uri="{FF2B5EF4-FFF2-40B4-BE49-F238E27FC236}">
                <a16:creationId xmlns:a16="http://schemas.microsoft.com/office/drawing/2014/main" id="{54CD7477-E40D-4742-92BE-131755D87E3B}"/>
              </a:ext>
            </a:extLst>
          </p:cNvPr>
          <p:cNvSpPr>
            <a:spLocks noChangeArrowheads="1"/>
          </p:cNvSpPr>
          <p:nvPr/>
        </p:nvSpPr>
        <p:spPr bwMode="auto">
          <a:xfrm>
            <a:off x="879376" y="3410000"/>
            <a:ext cx="609600" cy="533400"/>
          </a:xfrm>
          <a:prstGeom prst="ellipse">
            <a:avLst/>
          </a:prstGeom>
          <a:solidFill>
            <a:srgbClr val="FFFF99">
              <a:alpha val="50195"/>
            </a:srgbClr>
          </a:solidFill>
          <a:ln w="25400" cap="sq">
            <a:solidFill>
              <a:srgbClr val="CC66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800" b="0" i="0">
                <a:solidFill>
                  <a:srgbClr val="990000"/>
                </a:solidFill>
                <a:latin typeface="+mn-ea"/>
                <a:ea typeface="+mn-ea"/>
              </a:rPr>
              <a:t>6</a:t>
            </a:r>
            <a:endParaRPr lang="en-US" altLang="zh-CN" sz="2800" b="0" i="0">
              <a:latin typeface="+mn-ea"/>
              <a:ea typeface="+mn-ea"/>
            </a:endParaRPr>
          </a:p>
        </p:txBody>
      </p:sp>
      <p:sp>
        <p:nvSpPr>
          <p:cNvPr id="81939" name="Oval 19">
            <a:extLst>
              <a:ext uri="{FF2B5EF4-FFF2-40B4-BE49-F238E27FC236}">
                <a16:creationId xmlns:a16="http://schemas.microsoft.com/office/drawing/2014/main" id="{083C67BC-D7BF-475F-8BB3-A0288C158C69}"/>
              </a:ext>
            </a:extLst>
          </p:cNvPr>
          <p:cNvSpPr>
            <a:spLocks noChangeArrowheads="1"/>
          </p:cNvSpPr>
          <p:nvPr/>
        </p:nvSpPr>
        <p:spPr bwMode="auto">
          <a:xfrm>
            <a:off x="1946176" y="3410000"/>
            <a:ext cx="533400" cy="457200"/>
          </a:xfrm>
          <a:prstGeom prst="ellipse">
            <a:avLst/>
          </a:prstGeom>
          <a:solidFill>
            <a:srgbClr val="FFFF99">
              <a:alpha val="50195"/>
            </a:srgbClr>
          </a:solidFill>
          <a:ln w="25400" cap="sq">
            <a:solidFill>
              <a:srgbClr val="CC66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800" b="0" i="0" dirty="0">
                <a:solidFill>
                  <a:srgbClr val="990000"/>
                </a:solidFill>
                <a:latin typeface="+mn-ea"/>
                <a:ea typeface="+mn-ea"/>
              </a:rPr>
              <a:t>7</a:t>
            </a:r>
            <a:endParaRPr lang="en-US" altLang="zh-CN" sz="2800" b="0" i="0" dirty="0">
              <a:latin typeface="+mn-ea"/>
              <a:ea typeface="+mn-ea"/>
            </a:endParaRPr>
          </a:p>
        </p:txBody>
      </p:sp>
      <p:sp>
        <p:nvSpPr>
          <p:cNvPr id="81940" name="Text Box 20">
            <a:extLst>
              <a:ext uri="{FF2B5EF4-FFF2-40B4-BE49-F238E27FC236}">
                <a16:creationId xmlns:a16="http://schemas.microsoft.com/office/drawing/2014/main" id="{C4BBEB82-DB5E-4D77-8D43-0692C94804CF}"/>
              </a:ext>
            </a:extLst>
          </p:cNvPr>
          <p:cNvSpPr txBox="1">
            <a:spLocks noChangeArrowheads="1"/>
          </p:cNvSpPr>
          <p:nvPr/>
        </p:nvSpPr>
        <p:spPr bwMode="auto">
          <a:xfrm>
            <a:off x="1412776" y="2446040"/>
            <a:ext cx="568324" cy="523220"/>
          </a:xfrm>
          <a:prstGeom prst="rect">
            <a:avLst/>
          </a:prstGeom>
          <a:solidFill>
            <a:srgbClr val="CCFFCC">
              <a:alpha val="50195"/>
            </a:srgbClr>
          </a:solidFill>
          <a:ln w="25400" cap="sq">
            <a:solidFill>
              <a:srgbClr val="00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800" b="0" i="0">
                <a:solidFill>
                  <a:srgbClr val="FF3300"/>
                </a:solidFill>
                <a:latin typeface="+mn-ea"/>
                <a:ea typeface="+mn-ea"/>
              </a:rPr>
              <a:t>13</a:t>
            </a:r>
            <a:endParaRPr lang="en-US" altLang="zh-CN" sz="2800" b="0" i="0">
              <a:latin typeface="+mn-ea"/>
              <a:ea typeface="+mn-ea"/>
            </a:endParaRPr>
          </a:p>
        </p:txBody>
      </p:sp>
      <p:sp>
        <p:nvSpPr>
          <p:cNvPr id="81941" name="Line 21">
            <a:extLst>
              <a:ext uri="{FF2B5EF4-FFF2-40B4-BE49-F238E27FC236}">
                <a16:creationId xmlns:a16="http://schemas.microsoft.com/office/drawing/2014/main" id="{E37FB989-A12F-4250-82DE-DCC49E8A9F78}"/>
              </a:ext>
            </a:extLst>
          </p:cNvPr>
          <p:cNvSpPr>
            <a:spLocks noChangeShapeType="1"/>
          </p:cNvSpPr>
          <p:nvPr/>
        </p:nvSpPr>
        <p:spPr bwMode="auto">
          <a:xfrm flipH="1">
            <a:off x="1184176" y="2876600"/>
            <a:ext cx="228600" cy="533400"/>
          </a:xfrm>
          <a:prstGeom prst="line">
            <a:avLst/>
          </a:prstGeom>
          <a:noFill/>
          <a:ln w="28575" cap="sq">
            <a:solidFill>
              <a:srgbClr val="99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sz="2800" b="0" i="0">
              <a:latin typeface="+mn-ea"/>
              <a:ea typeface="+mn-ea"/>
            </a:endParaRPr>
          </a:p>
        </p:txBody>
      </p:sp>
      <p:sp>
        <p:nvSpPr>
          <p:cNvPr id="81942" name="Line 22">
            <a:extLst>
              <a:ext uri="{FF2B5EF4-FFF2-40B4-BE49-F238E27FC236}">
                <a16:creationId xmlns:a16="http://schemas.microsoft.com/office/drawing/2014/main" id="{FE12AC08-8E41-43D1-AC57-F7FC6EB3024A}"/>
              </a:ext>
            </a:extLst>
          </p:cNvPr>
          <p:cNvSpPr>
            <a:spLocks noChangeShapeType="1"/>
          </p:cNvSpPr>
          <p:nvPr/>
        </p:nvSpPr>
        <p:spPr bwMode="auto">
          <a:xfrm>
            <a:off x="1935063" y="2952800"/>
            <a:ext cx="152400" cy="457200"/>
          </a:xfrm>
          <a:prstGeom prst="line">
            <a:avLst/>
          </a:prstGeom>
          <a:noFill/>
          <a:ln w="28575" cap="sq">
            <a:solidFill>
              <a:srgbClr val="99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sz="2800" b="0" i="0">
              <a:latin typeface="+mn-ea"/>
              <a:ea typeface="+mn-ea"/>
            </a:endParaRPr>
          </a:p>
        </p:txBody>
      </p:sp>
      <p:sp>
        <p:nvSpPr>
          <p:cNvPr id="81943" name="Text Box 23">
            <a:extLst>
              <a:ext uri="{FF2B5EF4-FFF2-40B4-BE49-F238E27FC236}">
                <a16:creationId xmlns:a16="http://schemas.microsoft.com/office/drawing/2014/main" id="{6819B63F-11D2-4F57-A421-A8C432A241EA}"/>
              </a:ext>
            </a:extLst>
          </p:cNvPr>
          <p:cNvSpPr txBox="1">
            <a:spLocks noChangeArrowheads="1"/>
          </p:cNvSpPr>
          <p:nvPr/>
        </p:nvSpPr>
        <p:spPr bwMode="auto">
          <a:xfrm>
            <a:off x="2555777" y="1412776"/>
            <a:ext cx="609600" cy="523220"/>
          </a:xfrm>
          <a:prstGeom prst="rect">
            <a:avLst/>
          </a:prstGeom>
          <a:solidFill>
            <a:srgbClr val="CAF2CE">
              <a:alpha val="50195"/>
            </a:srgbClr>
          </a:solidFill>
          <a:ln w="25400" cap="sq">
            <a:solidFill>
              <a:srgbClr val="00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2800" b="0" i="0">
                <a:solidFill>
                  <a:srgbClr val="FF3300"/>
                </a:solidFill>
                <a:latin typeface="+mn-ea"/>
                <a:ea typeface="+mn-ea"/>
              </a:rPr>
              <a:t>29</a:t>
            </a:r>
            <a:endParaRPr lang="en-US" altLang="zh-CN" sz="2800" b="0" i="0">
              <a:latin typeface="+mn-ea"/>
              <a:ea typeface="+mn-ea"/>
            </a:endParaRPr>
          </a:p>
        </p:txBody>
      </p:sp>
      <p:sp>
        <p:nvSpPr>
          <p:cNvPr id="81944" name="Line 24">
            <a:extLst>
              <a:ext uri="{FF2B5EF4-FFF2-40B4-BE49-F238E27FC236}">
                <a16:creationId xmlns:a16="http://schemas.microsoft.com/office/drawing/2014/main" id="{C3FD4817-99DE-45E1-9F27-166EBF8C6B5A}"/>
              </a:ext>
            </a:extLst>
          </p:cNvPr>
          <p:cNvSpPr>
            <a:spLocks noChangeShapeType="1"/>
          </p:cNvSpPr>
          <p:nvPr/>
        </p:nvSpPr>
        <p:spPr bwMode="auto">
          <a:xfrm flipH="1">
            <a:off x="1793776" y="1946138"/>
            <a:ext cx="838200" cy="457200"/>
          </a:xfrm>
          <a:prstGeom prst="line">
            <a:avLst/>
          </a:prstGeom>
          <a:noFill/>
          <a:ln w="28575" cap="sq">
            <a:solidFill>
              <a:srgbClr val="99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sz="2800" b="0" i="0">
              <a:latin typeface="+mn-ea"/>
              <a:ea typeface="+mn-ea"/>
            </a:endParaRPr>
          </a:p>
        </p:txBody>
      </p:sp>
      <p:sp>
        <p:nvSpPr>
          <p:cNvPr id="81945" name="Line 25">
            <a:extLst>
              <a:ext uri="{FF2B5EF4-FFF2-40B4-BE49-F238E27FC236}">
                <a16:creationId xmlns:a16="http://schemas.microsoft.com/office/drawing/2014/main" id="{0C60A472-FD9A-4C8E-8E24-34E403630F8F}"/>
              </a:ext>
            </a:extLst>
          </p:cNvPr>
          <p:cNvSpPr>
            <a:spLocks noChangeShapeType="1"/>
          </p:cNvSpPr>
          <p:nvPr/>
        </p:nvSpPr>
        <p:spPr bwMode="auto">
          <a:xfrm>
            <a:off x="3151088" y="1964724"/>
            <a:ext cx="838200" cy="457200"/>
          </a:xfrm>
          <a:prstGeom prst="line">
            <a:avLst/>
          </a:prstGeom>
          <a:noFill/>
          <a:ln w="28575" cap="sq">
            <a:solidFill>
              <a:srgbClr val="99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sz="2800" b="0" i="0">
              <a:latin typeface="+mn-ea"/>
              <a:ea typeface="+mn-ea"/>
            </a:endParaRPr>
          </a:p>
        </p:txBody>
      </p:sp>
      <p:sp>
        <p:nvSpPr>
          <p:cNvPr id="81950" name="Oval 30">
            <a:extLst>
              <a:ext uri="{FF2B5EF4-FFF2-40B4-BE49-F238E27FC236}">
                <a16:creationId xmlns:a16="http://schemas.microsoft.com/office/drawing/2014/main" id="{8C3CE623-7A77-4F53-8F49-A090500C6633}"/>
              </a:ext>
            </a:extLst>
          </p:cNvPr>
          <p:cNvSpPr>
            <a:spLocks noChangeArrowheads="1"/>
          </p:cNvSpPr>
          <p:nvPr/>
        </p:nvSpPr>
        <p:spPr bwMode="auto">
          <a:xfrm>
            <a:off x="3714651" y="4185320"/>
            <a:ext cx="549274" cy="467816"/>
          </a:xfrm>
          <a:prstGeom prst="ellipse">
            <a:avLst/>
          </a:prstGeom>
          <a:solidFill>
            <a:srgbClr val="FFFF99">
              <a:alpha val="50195"/>
            </a:srgbClr>
          </a:solidFill>
          <a:ln w="25400" cap="sq">
            <a:solidFill>
              <a:srgbClr val="CC66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800" b="0" i="0" dirty="0">
                <a:solidFill>
                  <a:srgbClr val="990000"/>
                </a:solidFill>
                <a:latin typeface="+mn-ea"/>
                <a:ea typeface="+mn-ea"/>
              </a:rPr>
              <a:t>5</a:t>
            </a:r>
            <a:endParaRPr lang="en-US" altLang="zh-CN" sz="2800" b="0" i="0" dirty="0">
              <a:latin typeface="+mn-ea"/>
              <a:ea typeface="+mn-ea"/>
            </a:endParaRPr>
          </a:p>
        </p:txBody>
      </p:sp>
      <p:sp>
        <p:nvSpPr>
          <p:cNvPr id="81951" name="Oval 31">
            <a:extLst>
              <a:ext uri="{FF2B5EF4-FFF2-40B4-BE49-F238E27FC236}">
                <a16:creationId xmlns:a16="http://schemas.microsoft.com/office/drawing/2014/main" id="{95311D98-EB76-416E-95AB-82F36FD91C32}"/>
              </a:ext>
            </a:extLst>
          </p:cNvPr>
          <p:cNvSpPr>
            <a:spLocks noChangeArrowheads="1"/>
          </p:cNvSpPr>
          <p:nvPr/>
        </p:nvSpPr>
        <p:spPr bwMode="auto">
          <a:xfrm>
            <a:off x="2495451" y="4185320"/>
            <a:ext cx="609600" cy="523220"/>
          </a:xfrm>
          <a:prstGeom prst="ellipse">
            <a:avLst/>
          </a:prstGeom>
          <a:solidFill>
            <a:srgbClr val="FFFF99">
              <a:alpha val="50195"/>
            </a:srgbClr>
          </a:solidFill>
          <a:ln w="25400" cap="sq">
            <a:solidFill>
              <a:srgbClr val="CC66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800" b="0" i="0">
                <a:solidFill>
                  <a:srgbClr val="990000"/>
                </a:solidFill>
                <a:latin typeface="+mn-ea"/>
                <a:ea typeface="+mn-ea"/>
              </a:rPr>
              <a:t>2</a:t>
            </a:r>
            <a:endParaRPr lang="en-US" altLang="zh-CN" sz="2800" b="0" i="0">
              <a:latin typeface="+mn-ea"/>
              <a:ea typeface="+mn-ea"/>
            </a:endParaRPr>
          </a:p>
        </p:txBody>
      </p:sp>
      <p:sp>
        <p:nvSpPr>
          <p:cNvPr id="6" name="Text Box 4">
            <a:extLst>
              <a:ext uri="{FF2B5EF4-FFF2-40B4-BE49-F238E27FC236}">
                <a16:creationId xmlns:a16="http://schemas.microsoft.com/office/drawing/2014/main" id="{7FE77D99-05FC-DE35-06E1-952B744CC63D}"/>
              </a:ext>
            </a:extLst>
          </p:cNvPr>
          <p:cNvSpPr txBox="1">
            <a:spLocks noChangeArrowheads="1"/>
          </p:cNvSpPr>
          <p:nvPr/>
        </p:nvSpPr>
        <p:spPr bwMode="auto">
          <a:xfrm>
            <a:off x="384076" y="231887"/>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en-US" altLang="zh-CN" sz="4400" i="0" dirty="0">
                <a:solidFill>
                  <a:schemeClr val="tx2"/>
                </a:solidFill>
                <a:ea typeface="隶书" pitchFamily="49" charset="-122"/>
              </a:rPr>
              <a:t>Huffman</a:t>
            </a:r>
            <a:r>
              <a:rPr lang="zh-CN" altLang="en-US" sz="4400" i="0" dirty="0">
                <a:solidFill>
                  <a:schemeClr val="tx2"/>
                </a:solidFill>
                <a:ea typeface="隶书" pitchFamily="49" charset="-122"/>
              </a:rPr>
              <a:t>树练习</a:t>
            </a:r>
            <a:r>
              <a:rPr lang="en-US" altLang="zh-CN" sz="4400" i="0" dirty="0">
                <a:solidFill>
                  <a:schemeClr val="tx2"/>
                </a:solidFill>
                <a:ea typeface="隶书" pitchFamily="49" charset="-122"/>
              </a:rPr>
              <a:t>1</a:t>
            </a:r>
            <a:endParaRPr lang="zh-CN" altLang="en-US" sz="4400" i="0" dirty="0">
              <a:solidFill>
                <a:schemeClr val="tx2"/>
              </a:solidFill>
              <a:ea typeface="隶书" pitchFamily="49" charset="-122"/>
            </a:endParaRPr>
          </a:p>
        </p:txBody>
      </p:sp>
    </p:spTree>
  </p:cSld>
  <p:clrMapOvr>
    <a:masterClrMapping/>
  </p:clrMapOvr>
  <p:transition spd="med">
    <p:pull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1931"/>
                                        </p:tgtEl>
                                        <p:attrNameLst>
                                          <p:attrName>style.visibility</p:attrName>
                                        </p:attrNameLst>
                                      </p:cBhvr>
                                      <p:to>
                                        <p:strVal val="visible"/>
                                      </p:to>
                                    </p:set>
                                    <p:animEffect transition="in" filter="dissolve">
                                      <p:cBhvr>
                                        <p:cTn id="7" dur="500"/>
                                        <p:tgtEl>
                                          <p:spTgt spid="8193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7" presetClass="entr" presetSubtype="1" fill="hold" grpId="0" nodeType="clickEffect">
                                  <p:stCondLst>
                                    <p:cond delay="0"/>
                                  </p:stCondLst>
                                  <p:childTnLst>
                                    <p:set>
                                      <p:cBhvr>
                                        <p:cTn id="11" dur="1" fill="hold">
                                          <p:stCondLst>
                                            <p:cond delay="0"/>
                                          </p:stCondLst>
                                        </p:cTn>
                                        <p:tgtEl>
                                          <p:spTgt spid="81934"/>
                                        </p:tgtEl>
                                        <p:attrNameLst>
                                          <p:attrName>style.visibility</p:attrName>
                                        </p:attrNameLst>
                                      </p:cBhvr>
                                      <p:to>
                                        <p:strVal val="visible"/>
                                      </p:to>
                                    </p:set>
                                    <p:anim calcmode="lin" valueType="num">
                                      <p:cBhvr additive="base">
                                        <p:cTn id="12" dur="500" fill="hold"/>
                                        <p:tgtEl>
                                          <p:spTgt spid="81934"/>
                                        </p:tgtEl>
                                        <p:attrNameLst>
                                          <p:attrName>ppt_x</p:attrName>
                                        </p:attrNameLst>
                                      </p:cBhvr>
                                      <p:tavLst>
                                        <p:tav tm="0">
                                          <p:val>
                                            <p:strVal val="#ppt_x"/>
                                          </p:val>
                                        </p:tav>
                                        <p:tav tm="100000">
                                          <p:val>
                                            <p:strVal val="#ppt_x"/>
                                          </p:val>
                                        </p:tav>
                                      </p:tavLst>
                                    </p:anim>
                                    <p:anim calcmode="lin" valueType="num">
                                      <p:cBhvr additive="base">
                                        <p:cTn id="13" dur="500" fill="hold"/>
                                        <p:tgtEl>
                                          <p:spTgt spid="81934"/>
                                        </p:tgtEl>
                                        <p:attrNameLst>
                                          <p:attrName>ppt_y</p:attrName>
                                        </p:attrNameLst>
                                      </p:cBhvr>
                                      <p:tavLst>
                                        <p:tav tm="0">
                                          <p:val>
                                            <p:strVal val="#ppt_y-#ppt_h/2"/>
                                          </p:val>
                                        </p:tav>
                                        <p:tav tm="100000">
                                          <p:val>
                                            <p:strVal val="#ppt_y"/>
                                          </p:val>
                                        </p:tav>
                                      </p:tavLst>
                                    </p:anim>
                                    <p:anim calcmode="lin" valueType="num">
                                      <p:cBhvr additive="base">
                                        <p:cTn id="14" dur="500" fill="hold"/>
                                        <p:tgtEl>
                                          <p:spTgt spid="81934"/>
                                        </p:tgtEl>
                                        <p:attrNameLst>
                                          <p:attrName>ppt_w</p:attrName>
                                        </p:attrNameLst>
                                      </p:cBhvr>
                                      <p:tavLst>
                                        <p:tav tm="0">
                                          <p:val>
                                            <p:strVal val="#ppt_w"/>
                                          </p:val>
                                        </p:tav>
                                        <p:tav tm="100000">
                                          <p:val>
                                            <p:strVal val="#ppt_w"/>
                                          </p:val>
                                        </p:tav>
                                      </p:tavLst>
                                    </p:anim>
                                    <p:anim calcmode="lin" valueType="num">
                                      <p:cBhvr additive="base">
                                        <p:cTn id="15" dur="500" fill="hold"/>
                                        <p:tgtEl>
                                          <p:spTgt spid="81934"/>
                                        </p:tgtEl>
                                        <p:attrNameLst>
                                          <p:attrName>ppt_h</p:attrName>
                                        </p:attrNameLst>
                                      </p:cBhvr>
                                      <p:tavLst>
                                        <p:tav tm="0">
                                          <p:val>
                                            <p:fltVal val="0"/>
                                          </p:val>
                                        </p:tav>
                                        <p:tav tm="100000">
                                          <p:val>
                                            <p:strVal val="#ppt_h"/>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81950"/>
                                        </p:tgtEl>
                                        <p:attrNameLst>
                                          <p:attrName>style.visibility</p:attrName>
                                        </p:attrNameLst>
                                      </p:cBhvr>
                                      <p:to>
                                        <p:strVal val="visible"/>
                                      </p:to>
                                    </p:set>
                                    <p:animEffect transition="in" filter="dissolve">
                                      <p:cBhvr>
                                        <p:cTn id="20" dur="500"/>
                                        <p:tgtEl>
                                          <p:spTgt spid="81950"/>
                                        </p:tgtEl>
                                      </p:cBhvr>
                                    </p:animEffect>
                                  </p:childTnLst>
                                </p:cTn>
                              </p:par>
                            </p:childTnLst>
                          </p:cTn>
                        </p:par>
                        <p:par>
                          <p:cTn id="21" fill="hold" nodeType="afterGroup">
                            <p:stCondLst>
                              <p:cond delay="500"/>
                            </p:stCondLst>
                            <p:childTnLst>
                              <p:par>
                                <p:cTn id="22" presetID="17" presetClass="entr" presetSubtype="1" fill="hold" nodeType="afterEffect">
                                  <p:stCondLst>
                                    <p:cond delay="0"/>
                                  </p:stCondLst>
                                  <p:childTnLst>
                                    <p:set>
                                      <p:cBhvr>
                                        <p:cTn id="23" dur="1" fill="hold">
                                          <p:stCondLst>
                                            <p:cond delay="0"/>
                                          </p:stCondLst>
                                        </p:cTn>
                                        <p:tgtEl>
                                          <p:spTgt spid="81932"/>
                                        </p:tgtEl>
                                        <p:attrNameLst>
                                          <p:attrName>style.visibility</p:attrName>
                                        </p:attrNameLst>
                                      </p:cBhvr>
                                      <p:to>
                                        <p:strVal val="visible"/>
                                      </p:to>
                                    </p:set>
                                    <p:anim calcmode="lin" valueType="num">
                                      <p:cBhvr additive="base">
                                        <p:cTn id="24" dur="500" fill="hold"/>
                                        <p:tgtEl>
                                          <p:spTgt spid="81932"/>
                                        </p:tgtEl>
                                        <p:attrNameLst>
                                          <p:attrName>ppt_x</p:attrName>
                                        </p:attrNameLst>
                                      </p:cBhvr>
                                      <p:tavLst>
                                        <p:tav tm="0">
                                          <p:val>
                                            <p:strVal val="#ppt_x"/>
                                          </p:val>
                                        </p:tav>
                                        <p:tav tm="100000">
                                          <p:val>
                                            <p:strVal val="#ppt_x"/>
                                          </p:val>
                                        </p:tav>
                                      </p:tavLst>
                                    </p:anim>
                                    <p:anim calcmode="lin" valueType="num">
                                      <p:cBhvr additive="base">
                                        <p:cTn id="25" dur="500" fill="hold"/>
                                        <p:tgtEl>
                                          <p:spTgt spid="81932"/>
                                        </p:tgtEl>
                                        <p:attrNameLst>
                                          <p:attrName>ppt_y</p:attrName>
                                        </p:attrNameLst>
                                      </p:cBhvr>
                                      <p:tavLst>
                                        <p:tav tm="0">
                                          <p:val>
                                            <p:strVal val="#ppt_y-#ppt_h/2"/>
                                          </p:val>
                                        </p:tav>
                                        <p:tav tm="100000">
                                          <p:val>
                                            <p:strVal val="#ppt_y"/>
                                          </p:val>
                                        </p:tav>
                                      </p:tavLst>
                                    </p:anim>
                                    <p:anim calcmode="lin" valueType="num">
                                      <p:cBhvr additive="base">
                                        <p:cTn id="26" dur="500" fill="hold"/>
                                        <p:tgtEl>
                                          <p:spTgt spid="81932"/>
                                        </p:tgtEl>
                                        <p:attrNameLst>
                                          <p:attrName>ppt_w</p:attrName>
                                        </p:attrNameLst>
                                      </p:cBhvr>
                                      <p:tavLst>
                                        <p:tav tm="0">
                                          <p:val>
                                            <p:strVal val="#ppt_w"/>
                                          </p:val>
                                        </p:tav>
                                        <p:tav tm="100000">
                                          <p:val>
                                            <p:strVal val="#ppt_w"/>
                                          </p:val>
                                        </p:tav>
                                      </p:tavLst>
                                    </p:anim>
                                    <p:anim calcmode="lin" valueType="num">
                                      <p:cBhvr additive="base">
                                        <p:cTn id="27" dur="500" fill="hold"/>
                                        <p:tgtEl>
                                          <p:spTgt spid="81932"/>
                                        </p:tgtEl>
                                        <p:attrNameLst>
                                          <p:attrName>ppt_h</p:attrName>
                                        </p:attrNameLst>
                                      </p:cBhvr>
                                      <p:tavLst>
                                        <p:tav tm="0">
                                          <p:val>
                                            <p:fltVal val="0"/>
                                          </p:val>
                                        </p:tav>
                                        <p:tav tm="100000">
                                          <p:val>
                                            <p:strVal val="#ppt_h"/>
                                          </p:val>
                                        </p:tav>
                                      </p:tavLst>
                                    </p:anim>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81951"/>
                                        </p:tgtEl>
                                        <p:attrNameLst>
                                          <p:attrName>style.visibility</p:attrName>
                                        </p:attrNameLst>
                                      </p:cBhvr>
                                      <p:to>
                                        <p:strVal val="visible"/>
                                      </p:to>
                                    </p:set>
                                    <p:animEffect transition="in" filter="dissolve">
                                      <p:cBhvr>
                                        <p:cTn id="32" dur="500"/>
                                        <p:tgtEl>
                                          <p:spTgt spid="81951"/>
                                        </p:tgtEl>
                                      </p:cBhvr>
                                    </p:animEffect>
                                  </p:childTnLst>
                                </p:cTn>
                              </p:par>
                            </p:childTnLst>
                          </p:cTn>
                        </p:par>
                        <p:par>
                          <p:cTn id="33" fill="hold" nodeType="afterGroup">
                            <p:stCondLst>
                              <p:cond delay="500"/>
                            </p:stCondLst>
                            <p:childTnLst>
                              <p:par>
                                <p:cTn id="34" presetID="17" presetClass="entr" presetSubtype="1" fill="hold" nodeType="afterEffect">
                                  <p:stCondLst>
                                    <p:cond delay="0"/>
                                  </p:stCondLst>
                                  <p:childTnLst>
                                    <p:set>
                                      <p:cBhvr>
                                        <p:cTn id="35" dur="1" fill="hold">
                                          <p:stCondLst>
                                            <p:cond delay="0"/>
                                          </p:stCondLst>
                                        </p:cTn>
                                        <p:tgtEl>
                                          <p:spTgt spid="81933"/>
                                        </p:tgtEl>
                                        <p:attrNameLst>
                                          <p:attrName>style.visibility</p:attrName>
                                        </p:attrNameLst>
                                      </p:cBhvr>
                                      <p:to>
                                        <p:strVal val="visible"/>
                                      </p:to>
                                    </p:set>
                                    <p:anim calcmode="lin" valueType="num">
                                      <p:cBhvr additive="base">
                                        <p:cTn id="36" dur="500" fill="hold"/>
                                        <p:tgtEl>
                                          <p:spTgt spid="81933"/>
                                        </p:tgtEl>
                                        <p:attrNameLst>
                                          <p:attrName>ppt_x</p:attrName>
                                        </p:attrNameLst>
                                      </p:cBhvr>
                                      <p:tavLst>
                                        <p:tav tm="0">
                                          <p:val>
                                            <p:strVal val="#ppt_x"/>
                                          </p:val>
                                        </p:tav>
                                        <p:tav tm="100000">
                                          <p:val>
                                            <p:strVal val="#ppt_x"/>
                                          </p:val>
                                        </p:tav>
                                      </p:tavLst>
                                    </p:anim>
                                    <p:anim calcmode="lin" valueType="num">
                                      <p:cBhvr additive="base">
                                        <p:cTn id="37" dur="500" fill="hold"/>
                                        <p:tgtEl>
                                          <p:spTgt spid="81933"/>
                                        </p:tgtEl>
                                        <p:attrNameLst>
                                          <p:attrName>ppt_y</p:attrName>
                                        </p:attrNameLst>
                                      </p:cBhvr>
                                      <p:tavLst>
                                        <p:tav tm="0">
                                          <p:val>
                                            <p:strVal val="#ppt_y-#ppt_h/2"/>
                                          </p:val>
                                        </p:tav>
                                        <p:tav tm="100000">
                                          <p:val>
                                            <p:strVal val="#ppt_y"/>
                                          </p:val>
                                        </p:tav>
                                      </p:tavLst>
                                    </p:anim>
                                    <p:anim calcmode="lin" valueType="num">
                                      <p:cBhvr additive="base">
                                        <p:cTn id="38" dur="500" fill="hold"/>
                                        <p:tgtEl>
                                          <p:spTgt spid="81933"/>
                                        </p:tgtEl>
                                        <p:attrNameLst>
                                          <p:attrName>ppt_w</p:attrName>
                                        </p:attrNameLst>
                                      </p:cBhvr>
                                      <p:tavLst>
                                        <p:tav tm="0">
                                          <p:val>
                                            <p:strVal val="#ppt_w"/>
                                          </p:val>
                                        </p:tav>
                                        <p:tav tm="100000">
                                          <p:val>
                                            <p:strVal val="#ppt_w"/>
                                          </p:val>
                                        </p:tav>
                                      </p:tavLst>
                                    </p:anim>
                                    <p:anim calcmode="lin" valueType="num">
                                      <p:cBhvr additive="base">
                                        <p:cTn id="39" dur="500" fill="hold"/>
                                        <p:tgtEl>
                                          <p:spTgt spid="81933"/>
                                        </p:tgtEl>
                                        <p:attrNameLst>
                                          <p:attrName>ppt_h</p:attrName>
                                        </p:attrNameLst>
                                      </p:cBhvr>
                                      <p:tavLst>
                                        <p:tav tm="0">
                                          <p:val>
                                            <p:fltVal val="0"/>
                                          </p:val>
                                        </p:tav>
                                        <p:tav tm="100000">
                                          <p:val>
                                            <p:strVal val="#ppt_h"/>
                                          </p:val>
                                        </p:tav>
                                      </p:tavLst>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17" presetClass="entr" presetSubtype="4" fill="hold" nodeType="clickEffect">
                                  <p:stCondLst>
                                    <p:cond delay="0"/>
                                  </p:stCondLst>
                                  <p:childTnLst>
                                    <p:set>
                                      <p:cBhvr>
                                        <p:cTn id="43" dur="1" fill="hold">
                                          <p:stCondLst>
                                            <p:cond delay="0"/>
                                          </p:stCondLst>
                                        </p:cTn>
                                        <p:tgtEl>
                                          <p:spTgt spid="81936"/>
                                        </p:tgtEl>
                                        <p:attrNameLst>
                                          <p:attrName>style.visibility</p:attrName>
                                        </p:attrNameLst>
                                      </p:cBhvr>
                                      <p:to>
                                        <p:strVal val="visible"/>
                                      </p:to>
                                    </p:set>
                                    <p:anim calcmode="lin" valueType="num">
                                      <p:cBhvr additive="base">
                                        <p:cTn id="44" dur="500" fill="hold"/>
                                        <p:tgtEl>
                                          <p:spTgt spid="81936"/>
                                        </p:tgtEl>
                                        <p:attrNameLst>
                                          <p:attrName>ppt_x</p:attrName>
                                        </p:attrNameLst>
                                      </p:cBhvr>
                                      <p:tavLst>
                                        <p:tav tm="0">
                                          <p:val>
                                            <p:strVal val="#ppt_x"/>
                                          </p:val>
                                        </p:tav>
                                        <p:tav tm="100000">
                                          <p:val>
                                            <p:strVal val="#ppt_x"/>
                                          </p:val>
                                        </p:tav>
                                      </p:tavLst>
                                    </p:anim>
                                    <p:anim calcmode="lin" valueType="num">
                                      <p:cBhvr additive="base">
                                        <p:cTn id="45" dur="500" fill="hold"/>
                                        <p:tgtEl>
                                          <p:spTgt spid="81936"/>
                                        </p:tgtEl>
                                        <p:attrNameLst>
                                          <p:attrName>ppt_y</p:attrName>
                                        </p:attrNameLst>
                                      </p:cBhvr>
                                      <p:tavLst>
                                        <p:tav tm="0">
                                          <p:val>
                                            <p:strVal val="#ppt_y+#ppt_h/2"/>
                                          </p:val>
                                        </p:tav>
                                        <p:tav tm="100000">
                                          <p:val>
                                            <p:strVal val="#ppt_y"/>
                                          </p:val>
                                        </p:tav>
                                      </p:tavLst>
                                    </p:anim>
                                    <p:anim calcmode="lin" valueType="num">
                                      <p:cBhvr additive="base">
                                        <p:cTn id="46" dur="500" fill="hold"/>
                                        <p:tgtEl>
                                          <p:spTgt spid="81936"/>
                                        </p:tgtEl>
                                        <p:attrNameLst>
                                          <p:attrName>ppt_w</p:attrName>
                                        </p:attrNameLst>
                                      </p:cBhvr>
                                      <p:tavLst>
                                        <p:tav tm="0">
                                          <p:val>
                                            <p:strVal val="#ppt_w"/>
                                          </p:val>
                                        </p:tav>
                                        <p:tav tm="100000">
                                          <p:val>
                                            <p:strVal val="#ppt_w"/>
                                          </p:val>
                                        </p:tav>
                                      </p:tavLst>
                                    </p:anim>
                                    <p:anim calcmode="lin" valueType="num">
                                      <p:cBhvr additive="base">
                                        <p:cTn id="47" dur="500" fill="hold"/>
                                        <p:tgtEl>
                                          <p:spTgt spid="81936"/>
                                        </p:tgtEl>
                                        <p:attrNameLst>
                                          <p:attrName>ppt_h</p:attrName>
                                        </p:attrNameLst>
                                      </p:cBhvr>
                                      <p:tavLst>
                                        <p:tav tm="0">
                                          <p:val>
                                            <p:fltVal val="0"/>
                                          </p:val>
                                        </p:tav>
                                        <p:tav tm="100000">
                                          <p:val>
                                            <p:strVal val="#ppt_h"/>
                                          </p:val>
                                        </p:tav>
                                      </p:tavLst>
                                    </p:anim>
                                  </p:childTnLst>
                                </p:cTn>
                              </p:par>
                            </p:childTnLst>
                          </p:cTn>
                        </p:par>
                      </p:childTnLst>
                    </p:cTn>
                  </p:par>
                  <p:par>
                    <p:cTn id="48" fill="hold" nodeType="clickPar">
                      <p:stCondLst>
                        <p:cond delay="indefinite"/>
                      </p:stCondLst>
                      <p:childTnLst>
                        <p:par>
                          <p:cTn id="49" fill="hold" nodeType="withGroup">
                            <p:stCondLst>
                              <p:cond delay="0"/>
                            </p:stCondLst>
                            <p:childTnLst>
                              <p:par>
                                <p:cTn id="50" presetID="17" presetClass="entr" presetSubtype="4" fill="hold" nodeType="clickEffect">
                                  <p:stCondLst>
                                    <p:cond delay="0"/>
                                  </p:stCondLst>
                                  <p:childTnLst>
                                    <p:set>
                                      <p:cBhvr>
                                        <p:cTn id="51" dur="1" fill="hold">
                                          <p:stCondLst>
                                            <p:cond delay="0"/>
                                          </p:stCondLst>
                                        </p:cTn>
                                        <p:tgtEl>
                                          <p:spTgt spid="81937"/>
                                        </p:tgtEl>
                                        <p:attrNameLst>
                                          <p:attrName>style.visibility</p:attrName>
                                        </p:attrNameLst>
                                      </p:cBhvr>
                                      <p:to>
                                        <p:strVal val="visible"/>
                                      </p:to>
                                    </p:set>
                                    <p:anim calcmode="lin" valueType="num">
                                      <p:cBhvr additive="base">
                                        <p:cTn id="52" dur="500" fill="hold"/>
                                        <p:tgtEl>
                                          <p:spTgt spid="81937"/>
                                        </p:tgtEl>
                                        <p:attrNameLst>
                                          <p:attrName>ppt_x</p:attrName>
                                        </p:attrNameLst>
                                      </p:cBhvr>
                                      <p:tavLst>
                                        <p:tav tm="0">
                                          <p:val>
                                            <p:strVal val="#ppt_x"/>
                                          </p:val>
                                        </p:tav>
                                        <p:tav tm="100000">
                                          <p:val>
                                            <p:strVal val="#ppt_x"/>
                                          </p:val>
                                        </p:tav>
                                      </p:tavLst>
                                    </p:anim>
                                    <p:anim calcmode="lin" valueType="num">
                                      <p:cBhvr additive="base">
                                        <p:cTn id="53" dur="500" fill="hold"/>
                                        <p:tgtEl>
                                          <p:spTgt spid="81937"/>
                                        </p:tgtEl>
                                        <p:attrNameLst>
                                          <p:attrName>ppt_y</p:attrName>
                                        </p:attrNameLst>
                                      </p:cBhvr>
                                      <p:tavLst>
                                        <p:tav tm="0">
                                          <p:val>
                                            <p:strVal val="#ppt_y+#ppt_h/2"/>
                                          </p:val>
                                        </p:tav>
                                        <p:tav tm="100000">
                                          <p:val>
                                            <p:strVal val="#ppt_y"/>
                                          </p:val>
                                        </p:tav>
                                      </p:tavLst>
                                    </p:anim>
                                    <p:anim calcmode="lin" valueType="num">
                                      <p:cBhvr additive="base">
                                        <p:cTn id="54" dur="500" fill="hold"/>
                                        <p:tgtEl>
                                          <p:spTgt spid="81937"/>
                                        </p:tgtEl>
                                        <p:attrNameLst>
                                          <p:attrName>ppt_w</p:attrName>
                                        </p:attrNameLst>
                                      </p:cBhvr>
                                      <p:tavLst>
                                        <p:tav tm="0">
                                          <p:val>
                                            <p:strVal val="#ppt_w"/>
                                          </p:val>
                                        </p:tav>
                                        <p:tav tm="100000">
                                          <p:val>
                                            <p:strVal val="#ppt_w"/>
                                          </p:val>
                                        </p:tav>
                                      </p:tavLst>
                                    </p:anim>
                                    <p:anim calcmode="lin" valueType="num">
                                      <p:cBhvr additive="base">
                                        <p:cTn id="55" dur="500" fill="hold"/>
                                        <p:tgtEl>
                                          <p:spTgt spid="81937"/>
                                        </p:tgtEl>
                                        <p:attrNameLst>
                                          <p:attrName>ppt_h</p:attrName>
                                        </p:attrNameLst>
                                      </p:cBhvr>
                                      <p:tavLst>
                                        <p:tav tm="0">
                                          <p:val>
                                            <p:fltVal val="0"/>
                                          </p:val>
                                        </p:tav>
                                        <p:tav tm="100000">
                                          <p:val>
                                            <p:strVal val="#ppt_h"/>
                                          </p:val>
                                        </p:tav>
                                      </p:tavLst>
                                    </p:anim>
                                  </p:childTnLst>
                                </p:cTn>
                              </p:par>
                            </p:childTnLst>
                          </p:cTn>
                        </p:par>
                      </p:childTnLst>
                    </p:cTn>
                  </p:par>
                  <p:par>
                    <p:cTn id="56" fill="hold" nodeType="clickPar">
                      <p:stCondLst>
                        <p:cond delay="indefinite"/>
                      </p:stCondLst>
                      <p:childTnLst>
                        <p:par>
                          <p:cTn id="57" fill="hold" nodeType="withGroup">
                            <p:stCondLst>
                              <p:cond delay="0"/>
                            </p:stCondLst>
                            <p:childTnLst>
                              <p:par>
                                <p:cTn id="58" presetID="17" presetClass="entr" presetSubtype="4" fill="hold" grpId="0" nodeType="clickEffect">
                                  <p:stCondLst>
                                    <p:cond delay="0"/>
                                  </p:stCondLst>
                                  <p:childTnLst>
                                    <p:set>
                                      <p:cBhvr>
                                        <p:cTn id="59" dur="1" fill="hold">
                                          <p:stCondLst>
                                            <p:cond delay="0"/>
                                          </p:stCondLst>
                                        </p:cTn>
                                        <p:tgtEl>
                                          <p:spTgt spid="81935"/>
                                        </p:tgtEl>
                                        <p:attrNameLst>
                                          <p:attrName>style.visibility</p:attrName>
                                        </p:attrNameLst>
                                      </p:cBhvr>
                                      <p:to>
                                        <p:strVal val="visible"/>
                                      </p:to>
                                    </p:set>
                                    <p:anim calcmode="lin" valueType="num">
                                      <p:cBhvr additive="base">
                                        <p:cTn id="60" dur="500" fill="hold"/>
                                        <p:tgtEl>
                                          <p:spTgt spid="81935"/>
                                        </p:tgtEl>
                                        <p:attrNameLst>
                                          <p:attrName>ppt_x</p:attrName>
                                        </p:attrNameLst>
                                      </p:cBhvr>
                                      <p:tavLst>
                                        <p:tav tm="0">
                                          <p:val>
                                            <p:strVal val="#ppt_x"/>
                                          </p:val>
                                        </p:tav>
                                        <p:tav tm="100000">
                                          <p:val>
                                            <p:strVal val="#ppt_x"/>
                                          </p:val>
                                        </p:tav>
                                      </p:tavLst>
                                    </p:anim>
                                    <p:anim calcmode="lin" valueType="num">
                                      <p:cBhvr additive="base">
                                        <p:cTn id="61" dur="500" fill="hold"/>
                                        <p:tgtEl>
                                          <p:spTgt spid="81935"/>
                                        </p:tgtEl>
                                        <p:attrNameLst>
                                          <p:attrName>ppt_y</p:attrName>
                                        </p:attrNameLst>
                                      </p:cBhvr>
                                      <p:tavLst>
                                        <p:tav tm="0">
                                          <p:val>
                                            <p:strVal val="#ppt_y+#ppt_h/2"/>
                                          </p:val>
                                        </p:tav>
                                        <p:tav tm="100000">
                                          <p:val>
                                            <p:strVal val="#ppt_y"/>
                                          </p:val>
                                        </p:tav>
                                      </p:tavLst>
                                    </p:anim>
                                    <p:anim calcmode="lin" valueType="num">
                                      <p:cBhvr additive="base">
                                        <p:cTn id="62" dur="500" fill="hold"/>
                                        <p:tgtEl>
                                          <p:spTgt spid="81935"/>
                                        </p:tgtEl>
                                        <p:attrNameLst>
                                          <p:attrName>ppt_w</p:attrName>
                                        </p:attrNameLst>
                                      </p:cBhvr>
                                      <p:tavLst>
                                        <p:tav tm="0">
                                          <p:val>
                                            <p:strVal val="#ppt_w"/>
                                          </p:val>
                                        </p:tav>
                                        <p:tav tm="100000">
                                          <p:val>
                                            <p:strVal val="#ppt_w"/>
                                          </p:val>
                                        </p:tav>
                                      </p:tavLst>
                                    </p:anim>
                                    <p:anim calcmode="lin" valueType="num">
                                      <p:cBhvr additive="base">
                                        <p:cTn id="63" dur="500" fill="hold"/>
                                        <p:tgtEl>
                                          <p:spTgt spid="81935"/>
                                        </p:tgtEl>
                                        <p:attrNameLst>
                                          <p:attrName>ppt_h</p:attrName>
                                        </p:attrNameLst>
                                      </p:cBhvr>
                                      <p:tavLst>
                                        <p:tav tm="0">
                                          <p:val>
                                            <p:fltVal val="0"/>
                                          </p:val>
                                        </p:tav>
                                        <p:tav tm="100000">
                                          <p:val>
                                            <p:strVal val="#ppt_h"/>
                                          </p:val>
                                        </p:tav>
                                      </p:tavLst>
                                    </p:anim>
                                  </p:childTnLst>
                                </p:cTn>
                              </p:par>
                            </p:childTnLst>
                          </p:cTn>
                        </p:par>
                      </p:childTnLst>
                    </p:cTn>
                  </p:par>
                  <p:par>
                    <p:cTn id="64" fill="hold" nodeType="clickPar">
                      <p:stCondLst>
                        <p:cond delay="indefinite"/>
                      </p:stCondLst>
                      <p:childTnLst>
                        <p:par>
                          <p:cTn id="65" fill="hold" nodeType="withGroup">
                            <p:stCondLst>
                              <p:cond delay="0"/>
                            </p:stCondLst>
                            <p:childTnLst>
                              <p:par>
                                <p:cTn id="66" presetID="17" presetClass="entr" presetSubtype="1" fill="hold" grpId="0" nodeType="clickEffect">
                                  <p:stCondLst>
                                    <p:cond delay="0"/>
                                  </p:stCondLst>
                                  <p:childTnLst>
                                    <p:set>
                                      <p:cBhvr>
                                        <p:cTn id="67" dur="1" fill="hold">
                                          <p:stCondLst>
                                            <p:cond delay="0"/>
                                          </p:stCondLst>
                                        </p:cTn>
                                        <p:tgtEl>
                                          <p:spTgt spid="81940"/>
                                        </p:tgtEl>
                                        <p:attrNameLst>
                                          <p:attrName>style.visibility</p:attrName>
                                        </p:attrNameLst>
                                      </p:cBhvr>
                                      <p:to>
                                        <p:strVal val="visible"/>
                                      </p:to>
                                    </p:set>
                                    <p:anim calcmode="lin" valueType="num">
                                      <p:cBhvr additive="base">
                                        <p:cTn id="68" dur="500" fill="hold"/>
                                        <p:tgtEl>
                                          <p:spTgt spid="81940"/>
                                        </p:tgtEl>
                                        <p:attrNameLst>
                                          <p:attrName>ppt_x</p:attrName>
                                        </p:attrNameLst>
                                      </p:cBhvr>
                                      <p:tavLst>
                                        <p:tav tm="0">
                                          <p:val>
                                            <p:strVal val="#ppt_x"/>
                                          </p:val>
                                        </p:tav>
                                        <p:tav tm="100000">
                                          <p:val>
                                            <p:strVal val="#ppt_x"/>
                                          </p:val>
                                        </p:tav>
                                      </p:tavLst>
                                    </p:anim>
                                    <p:anim calcmode="lin" valueType="num">
                                      <p:cBhvr additive="base">
                                        <p:cTn id="69" dur="500" fill="hold"/>
                                        <p:tgtEl>
                                          <p:spTgt spid="81940"/>
                                        </p:tgtEl>
                                        <p:attrNameLst>
                                          <p:attrName>ppt_y</p:attrName>
                                        </p:attrNameLst>
                                      </p:cBhvr>
                                      <p:tavLst>
                                        <p:tav tm="0">
                                          <p:val>
                                            <p:strVal val="#ppt_y-#ppt_h/2"/>
                                          </p:val>
                                        </p:tav>
                                        <p:tav tm="100000">
                                          <p:val>
                                            <p:strVal val="#ppt_y"/>
                                          </p:val>
                                        </p:tav>
                                      </p:tavLst>
                                    </p:anim>
                                    <p:anim calcmode="lin" valueType="num">
                                      <p:cBhvr additive="base">
                                        <p:cTn id="70" dur="500" fill="hold"/>
                                        <p:tgtEl>
                                          <p:spTgt spid="81940"/>
                                        </p:tgtEl>
                                        <p:attrNameLst>
                                          <p:attrName>ppt_w</p:attrName>
                                        </p:attrNameLst>
                                      </p:cBhvr>
                                      <p:tavLst>
                                        <p:tav tm="0">
                                          <p:val>
                                            <p:strVal val="#ppt_w"/>
                                          </p:val>
                                        </p:tav>
                                        <p:tav tm="100000">
                                          <p:val>
                                            <p:strVal val="#ppt_w"/>
                                          </p:val>
                                        </p:tav>
                                      </p:tavLst>
                                    </p:anim>
                                    <p:anim calcmode="lin" valueType="num">
                                      <p:cBhvr additive="base">
                                        <p:cTn id="71" dur="500" fill="hold"/>
                                        <p:tgtEl>
                                          <p:spTgt spid="81940"/>
                                        </p:tgtEl>
                                        <p:attrNameLst>
                                          <p:attrName>ppt_h</p:attrName>
                                        </p:attrNameLst>
                                      </p:cBhvr>
                                      <p:tavLst>
                                        <p:tav tm="0">
                                          <p:val>
                                            <p:fltVal val="0"/>
                                          </p:val>
                                        </p:tav>
                                        <p:tav tm="100000">
                                          <p:val>
                                            <p:strVal val="#ppt_h"/>
                                          </p:val>
                                        </p:tav>
                                      </p:tavLst>
                                    </p:anim>
                                  </p:childTnLst>
                                </p:cTn>
                              </p:par>
                            </p:childTnLst>
                          </p:cTn>
                        </p:par>
                        <p:par>
                          <p:cTn id="72" fill="hold" nodeType="afterGroup">
                            <p:stCondLst>
                              <p:cond delay="500"/>
                            </p:stCondLst>
                            <p:childTnLst>
                              <p:par>
                                <p:cTn id="73" presetID="17" presetClass="entr" presetSubtype="1" fill="hold" nodeType="afterEffect">
                                  <p:stCondLst>
                                    <p:cond delay="0"/>
                                  </p:stCondLst>
                                  <p:childTnLst>
                                    <p:set>
                                      <p:cBhvr>
                                        <p:cTn id="74" dur="1" fill="hold">
                                          <p:stCondLst>
                                            <p:cond delay="0"/>
                                          </p:stCondLst>
                                        </p:cTn>
                                        <p:tgtEl>
                                          <p:spTgt spid="81941"/>
                                        </p:tgtEl>
                                        <p:attrNameLst>
                                          <p:attrName>style.visibility</p:attrName>
                                        </p:attrNameLst>
                                      </p:cBhvr>
                                      <p:to>
                                        <p:strVal val="visible"/>
                                      </p:to>
                                    </p:set>
                                    <p:anim calcmode="lin" valueType="num">
                                      <p:cBhvr additive="base">
                                        <p:cTn id="75" dur="500" fill="hold"/>
                                        <p:tgtEl>
                                          <p:spTgt spid="81941"/>
                                        </p:tgtEl>
                                        <p:attrNameLst>
                                          <p:attrName>ppt_x</p:attrName>
                                        </p:attrNameLst>
                                      </p:cBhvr>
                                      <p:tavLst>
                                        <p:tav tm="0">
                                          <p:val>
                                            <p:strVal val="#ppt_x"/>
                                          </p:val>
                                        </p:tav>
                                        <p:tav tm="100000">
                                          <p:val>
                                            <p:strVal val="#ppt_x"/>
                                          </p:val>
                                        </p:tav>
                                      </p:tavLst>
                                    </p:anim>
                                    <p:anim calcmode="lin" valueType="num">
                                      <p:cBhvr additive="base">
                                        <p:cTn id="76" dur="500" fill="hold"/>
                                        <p:tgtEl>
                                          <p:spTgt spid="81941"/>
                                        </p:tgtEl>
                                        <p:attrNameLst>
                                          <p:attrName>ppt_y</p:attrName>
                                        </p:attrNameLst>
                                      </p:cBhvr>
                                      <p:tavLst>
                                        <p:tav tm="0">
                                          <p:val>
                                            <p:strVal val="#ppt_y-#ppt_h/2"/>
                                          </p:val>
                                        </p:tav>
                                        <p:tav tm="100000">
                                          <p:val>
                                            <p:strVal val="#ppt_y"/>
                                          </p:val>
                                        </p:tav>
                                      </p:tavLst>
                                    </p:anim>
                                    <p:anim calcmode="lin" valueType="num">
                                      <p:cBhvr additive="base">
                                        <p:cTn id="77" dur="500" fill="hold"/>
                                        <p:tgtEl>
                                          <p:spTgt spid="81941"/>
                                        </p:tgtEl>
                                        <p:attrNameLst>
                                          <p:attrName>ppt_w</p:attrName>
                                        </p:attrNameLst>
                                      </p:cBhvr>
                                      <p:tavLst>
                                        <p:tav tm="0">
                                          <p:val>
                                            <p:strVal val="#ppt_w"/>
                                          </p:val>
                                        </p:tav>
                                        <p:tav tm="100000">
                                          <p:val>
                                            <p:strVal val="#ppt_w"/>
                                          </p:val>
                                        </p:tav>
                                      </p:tavLst>
                                    </p:anim>
                                    <p:anim calcmode="lin" valueType="num">
                                      <p:cBhvr additive="base">
                                        <p:cTn id="78" dur="500" fill="hold"/>
                                        <p:tgtEl>
                                          <p:spTgt spid="81941"/>
                                        </p:tgtEl>
                                        <p:attrNameLst>
                                          <p:attrName>ppt_h</p:attrName>
                                        </p:attrNameLst>
                                      </p:cBhvr>
                                      <p:tavLst>
                                        <p:tav tm="0">
                                          <p:val>
                                            <p:fltVal val="0"/>
                                          </p:val>
                                        </p:tav>
                                        <p:tav tm="100000">
                                          <p:val>
                                            <p:strVal val="#ppt_h"/>
                                          </p:val>
                                        </p:tav>
                                      </p:tavLst>
                                    </p:anim>
                                  </p:childTnLst>
                                </p:cTn>
                              </p:par>
                            </p:childTnLst>
                          </p:cTn>
                        </p:par>
                        <p:par>
                          <p:cTn id="79" fill="hold" nodeType="afterGroup">
                            <p:stCondLst>
                              <p:cond delay="1000"/>
                            </p:stCondLst>
                            <p:childTnLst>
                              <p:par>
                                <p:cTn id="80" presetID="17" presetClass="entr" presetSubtype="1" fill="hold" grpId="0" nodeType="afterEffect">
                                  <p:stCondLst>
                                    <p:cond delay="0"/>
                                  </p:stCondLst>
                                  <p:childTnLst>
                                    <p:set>
                                      <p:cBhvr>
                                        <p:cTn id="81" dur="1" fill="hold">
                                          <p:stCondLst>
                                            <p:cond delay="0"/>
                                          </p:stCondLst>
                                        </p:cTn>
                                        <p:tgtEl>
                                          <p:spTgt spid="81938"/>
                                        </p:tgtEl>
                                        <p:attrNameLst>
                                          <p:attrName>style.visibility</p:attrName>
                                        </p:attrNameLst>
                                      </p:cBhvr>
                                      <p:to>
                                        <p:strVal val="visible"/>
                                      </p:to>
                                    </p:set>
                                    <p:anim calcmode="lin" valueType="num">
                                      <p:cBhvr additive="base">
                                        <p:cTn id="82" dur="500" fill="hold"/>
                                        <p:tgtEl>
                                          <p:spTgt spid="81938"/>
                                        </p:tgtEl>
                                        <p:attrNameLst>
                                          <p:attrName>ppt_x</p:attrName>
                                        </p:attrNameLst>
                                      </p:cBhvr>
                                      <p:tavLst>
                                        <p:tav tm="0">
                                          <p:val>
                                            <p:strVal val="#ppt_x"/>
                                          </p:val>
                                        </p:tav>
                                        <p:tav tm="100000">
                                          <p:val>
                                            <p:strVal val="#ppt_x"/>
                                          </p:val>
                                        </p:tav>
                                      </p:tavLst>
                                    </p:anim>
                                    <p:anim calcmode="lin" valueType="num">
                                      <p:cBhvr additive="base">
                                        <p:cTn id="83" dur="500" fill="hold"/>
                                        <p:tgtEl>
                                          <p:spTgt spid="81938"/>
                                        </p:tgtEl>
                                        <p:attrNameLst>
                                          <p:attrName>ppt_y</p:attrName>
                                        </p:attrNameLst>
                                      </p:cBhvr>
                                      <p:tavLst>
                                        <p:tav tm="0">
                                          <p:val>
                                            <p:strVal val="#ppt_y-#ppt_h/2"/>
                                          </p:val>
                                        </p:tav>
                                        <p:tav tm="100000">
                                          <p:val>
                                            <p:strVal val="#ppt_y"/>
                                          </p:val>
                                        </p:tav>
                                      </p:tavLst>
                                    </p:anim>
                                    <p:anim calcmode="lin" valueType="num">
                                      <p:cBhvr additive="base">
                                        <p:cTn id="84" dur="500" fill="hold"/>
                                        <p:tgtEl>
                                          <p:spTgt spid="81938"/>
                                        </p:tgtEl>
                                        <p:attrNameLst>
                                          <p:attrName>ppt_w</p:attrName>
                                        </p:attrNameLst>
                                      </p:cBhvr>
                                      <p:tavLst>
                                        <p:tav tm="0">
                                          <p:val>
                                            <p:strVal val="#ppt_w"/>
                                          </p:val>
                                        </p:tav>
                                        <p:tav tm="100000">
                                          <p:val>
                                            <p:strVal val="#ppt_w"/>
                                          </p:val>
                                        </p:tav>
                                      </p:tavLst>
                                    </p:anim>
                                    <p:anim calcmode="lin" valueType="num">
                                      <p:cBhvr additive="base">
                                        <p:cTn id="85" dur="500" fill="hold"/>
                                        <p:tgtEl>
                                          <p:spTgt spid="81938"/>
                                        </p:tgtEl>
                                        <p:attrNameLst>
                                          <p:attrName>ppt_h</p:attrName>
                                        </p:attrNameLst>
                                      </p:cBhvr>
                                      <p:tavLst>
                                        <p:tav tm="0">
                                          <p:val>
                                            <p:fltVal val="0"/>
                                          </p:val>
                                        </p:tav>
                                        <p:tav tm="100000">
                                          <p:val>
                                            <p:strVal val="#ppt_h"/>
                                          </p:val>
                                        </p:tav>
                                      </p:tavLst>
                                    </p:anim>
                                  </p:childTnLst>
                                </p:cTn>
                              </p:par>
                            </p:childTnLst>
                          </p:cTn>
                        </p:par>
                        <p:par>
                          <p:cTn id="86" fill="hold" nodeType="afterGroup">
                            <p:stCondLst>
                              <p:cond delay="1500"/>
                            </p:stCondLst>
                            <p:childTnLst>
                              <p:par>
                                <p:cTn id="87" presetID="17" presetClass="entr" presetSubtype="1" fill="hold" nodeType="afterEffect">
                                  <p:stCondLst>
                                    <p:cond delay="0"/>
                                  </p:stCondLst>
                                  <p:childTnLst>
                                    <p:set>
                                      <p:cBhvr>
                                        <p:cTn id="88" dur="1" fill="hold">
                                          <p:stCondLst>
                                            <p:cond delay="0"/>
                                          </p:stCondLst>
                                        </p:cTn>
                                        <p:tgtEl>
                                          <p:spTgt spid="81942"/>
                                        </p:tgtEl>
                                        <p:attrNameLst>
                                          <p:attrName>style.visibility</p:attrName>
                                        </p:attrNameLst>
                                      </p:cBhvr>
                                      <p:to>
                                        <p:strVal val="visible"/>
                                      </p:to>
                                    </p:set>
                                    <p:anim calcmode="lin" valueType="num">
                                      <p:cBhvr additive="base">
                                        <p:cTn id="89" dur="500" fill="hold"/>
                                        <p:tgtEl>
                                          <p:spTgt spid="81942"/>
                                        </p:tgtEl>
                                        <p:attrNameLst>
                                          <p:attrName>ppt_x</p:attrName>
                                        </p:attrNameLst>
                                      </p:cBhvr>
                                      <p:tavLst>
                                        <p:tav tm="0">
                                          <p:val>
                                            <p:strVal val="#ppt_x"/>
                                          </p:val>
                                        </p:tav>
                                        <p:tav tm="100000">
                                          <p:val>
                                            <p:strVal val="#ppt_x"/>
                                          </p:val>
                                        </p:tav>
                                      </p:tavLst>
                                    </p:anim>
                                    <p:anim calcmode="lin" valueType="num">
                                      <p:cBhvr additive="base">
                                        <p:cTn id="90" dur="500" fill="hold"/>
                                        <p:tgtEl>
                                          <p:spTgt spid="81942"/>
                                        </p:tgtEl>
                                        <p:attrNameLst>
                                          <p:attrName>ppt_y</p:attrName>
                                        </p:attrNameLst>
                                      </p:cBhvr>
                                      <p:tavLst>
                                        <p:tav tm="0">
                                          <p:val>
                                            <p:strVal val="#ppt_y-#ppt_h/2"/>
                                          </p:val>
                                        </p:tav>
                                        <p:tav tm="100000">
                                          <p:val>
                                            <p:strVal val="#ppt_y"/>
                                          </p:val>
                                        </p:tav>
                                      </p:tavLst>
                                    </p:anim>
                                    <p:anim calcmode="lin" valueType="num">
                                      <p:cBhvr additive="base">
                                        <p:cTn id="91" dur="500" fill="hold"/>
                                        <p:tgtEl>
                                          <p:spTgt spid="81942"/>
                                        </p:tgtEl>
                                        <p:attrNameLst>
                                          <p:attrName>ppt_w</p:attrName>
                                        </p:attrNameLst>
                                      </p:cBhvr>
                                      <p:tavLst>
                                        <p:tav tm="0">
                                          <p:val>
                                            <p:strVal val="#ppt_w"/>
                                          </p:val>
                                        </p:tav>
                                        <p:tav tm="100000">
                                          <p:val>
                                            <p:strVal val="#ppt_w"/>
                                          </p:val>
                                        </p:tav>
                                      </p:tavLst>
                                    </p:anim>
                                    <p:anim calcmode="lin" valueType="num">
                                      <p:cBhvr additive="base">
                                        <p:cTn id="92" dur="500" fill="hold"/>
                                        <p:tgtEl>
                                          <p:spTgt spid="81942"/>
                                        </p:tgtEl>
                                        <p:attrNameLst>
                                          <p:attrName>ppt_h</p:attrName>
                                        </p:attrNameLst>
                                      </p:cBhvr>
                                      <p:tavLst>
                                        <p:tav tm="0">
                                          <p:val>
                                            <p:fltVal val="0"/>
                                          </p:val>
                                        </p:tav>
                                        <p:tav tm="100000">
                                          <p:val>
                                            <p:strVal val="#ppt_h"/>
                                          </p:val>
                                        </p:tav>
                                      </p:tavLst>
                                    </p:anim>
                                  </p:childTnLst>
                                </p:cTn>
                              </p:par>
                            </p:childTnLst>
                          </p:cTn>
                        </p:par>
                        <p:par>
                          <p:cTn id="93" fill="hold" nodeType="afterGroup">
                            <p:stCondLst>
                              <p:cond delay="2000"/>
                            </p:stCondLst>
                            <p:childTnLst>
                              <p:par>
                                <p:cTn id="94" presetID="17" presetClass="entr" presetSubtype="1" fill="hold" grpId="0" nodeType="afterEffect">
                                  <p:stCondLst>
                                    <p:cond delay="0"/>
                                  </p:stCondLst>
                                  <p:childTnLst>
                                    <p:set>
                                      <p:cBhvr>
                                        <p:cTn id="95" dur="1" fill="hold">
                                          <p:stCondLst>
                                            <p:cond delay="0"/>
                                          </p:stCondLst>
                                        </p:cTn>
                                        <p:tgtEl>
                                          <p:spTgt spid="81939"/>
                                        </p:tgtEl>
                                        <p:attrNameLst>
                                          <p:attrName>style.visibility</p:attrName>
                                        </p:attrNameLst>
                                      </p:cBhvr>
                                      <p:to>
                                        <p:strVal val="visible"/>
                                      </p:to>
                                    </p:set>
                                    <p:anim calcmode="lin" valueType="num">
                                      <p:cBhvr additive="base">
                                        <p:cTn id="96" dur="500" fill="hold"/>
                                        <p:tgtEl>
                                          <p:spTgt spid="81939"/>
                                        </p:tgtEl>
                                        <p:attrNameLst>
                                          <p:attrName>ppt_x</p:attrName>
                                        </p:attrNameLst>
                                      </p:cBhvr>
                                      <p:tavLst>
                                        <p:tav tm="0">
                                          <p:val>
                                            <p:strVal val="#ppt_x"/>
                                          </p:val>
                                        </p:tav>
                                        <p:tav tm="100000">
                                          <p:val>
                                            <p:strVal val="#ppt_x"/>
                                          </p:val>
                                        </p:tav>
                                      </p:tavLst>
                                    </p:anim>
                                    <p:anim calcmode="lin" valueType="num">
                                      <p:cBhvr additive="base">
                                        <p:cTn id="97" dur="500" fill="hold"/>
                                        <p:tgtEl>
                                          <p:spTgt spid="81939"/>
                                        </p:tgtEl>
                                        <p:attrNameLst>
                                          <p:attrName>ppt_y</p:attrName>
                                        </p:attrNameLst>
                                      </p:cBhvr>
                                      <p:tavLst>
                                        <p:tav tm="0">
                                          <p:val>
                                            <p:strVal val="#ppt_y-#ppt_h/2"/>
                                          </p:val>
                                        </p:tav>
                                        <p:tav tm="100000">
                                          <p:val>
                                            <p:strVal val="#ppt_y"/>
                                          </p:val>
                                        </p:tav>
                                      </p:tavLst>
                                    </p:anim>
                                    <p:anim calcmode="lin" valueType="num">
                                      <p:cBhvr additive="base">
                                        <p:cTn id="98" dur="500" fill="hold"/>
                                        <p:tgtEl>
                                          <p:spTgt spid="81939"/>
                                        </p:tgtEl>
                                        <p:attrNameLst>
                                          <p:attrName>ppt_w</p:attrName>
                                        </p:attrNameLst>
                                      </p:cBhvr>
                                      <p:tavLst>
                                        <p:tav tm="0">
                                          <p:val>
                                            <p:strVal val="#ppt_w"/>
                                          </p:val>
                                        </p:tav>
                                        <p:tav tm="100000">
                                          <p:val>
                                            <p:strVal val="#ppt_w"/>
                                          </p:val>
                                        </p:tav>
                                      </p:tavLst>
                                    </p:anim>
                                    <p:anim calcmode="lin" valueType="num">
                                      <p:cBhvr additive="base">
                                        <p:cTn id="99" dur="500" fill="hold"/>
                                        <p:tgtEl>
                                          <p:spTgt spid="81939"/>
                                        </p:tgtEl>
                                        <p:attrNameLst>
                                          <p:attrName>ppt_h</p:attrName>
                                        </p:attrNameLst>
                                      </p:cBhvr>
                                      <p:tavLst>
                                        <p:tav tm="0">
                                          <p:val>
                                            <p:fltVal val="0"/>
                                          </p:val>
                                        </p:tav>
                                        <p:tav tm="100000">
                                          <p:val>
                                            <p:strVal val="#ppt_h"/>
                                          </p:val>
                                        </p:tav>
                                      </p:tavLst>
                                    </p:anim>
                                  </p:childTnLst>
                                </p:cTn>
                              </p:par>
                            </p:childTnLst>
                          </p:cTn>
                        </p:par>
                      </p:childTnLst>
                    </p:cTn>
                  </p:par>
                  <p:par>
                    <p:cTn id="100" fill="hold" nodeType="clickPar">
                      <p:stCondLst>
                        <p:cond delay="indefinite"/>
                      </p:stCondLst>
                      <p:childTnLst>
                        <p:par>
                          <p:cTn id="101" fill="hold" nodeType="withGroup">
                            <p:stCondLst>
                              <p:cond delay="0"/>
                            </p:stCondLst>
                            <p:childTnLst>
                              <p:par>
                                <p:cTn id="102" presetID="17" presetClass="entr" presetSubtype="4" fill="hold" nodeType="clickEffect">
                                  <p:stCondLst>
                                    <p:cond delay="0"/>
                                  </p:stCondLst>
                                  <p:childTnLst>
                                    <p:set>
                                      <p:cBhvr>
                                        <p:cTn id="103" dur="1" fill="hold">
                                          <p:stCondLst>
                                            <p:cond delay="0"/>
                                          </p:stCondLst>
                                        </p:cTn>
                                        <p:tgtEl>
                                          <p:spTgt spid="81944"/>
                                        </p:tgtEl>
                                        <p:attrNameLst>
                                          <p:attrName>style.visibility</p:attrName>
                                        </p:attrNameLst>
                                      </p:cBhvr>
                                      <p:to>
                                        <p:strVal val="visible"/>
                                      </p:to>
                                    </p:set>
                                    <p:anim calcmode="lin" valueType="num">
                                      <p:cBhvr additive="base">
                                        <p:cTn id="104" dur="500" fill="hold"/>
                                        <p:tgtEl>
                                          <p:spTgt spid="81944"/>
                                        </p:tgtEl>
                                        <p:attrNameLst>
                                          <p:attrName>ppt_x</p:attrName>
                                        </p:attrNameLst>
                                      </p:cBhvr>
                                      <p:tavLst>
                                        <p:tav tm="0">
                                          <p:val>
                                            <p:strVal val="#ppt_x"/>
                                          </p:val>
                                        </p:tav>
                                        <p:tav tm="100000">
                                          <p:val>
                                            <p:strVal val="#ppt_x"/>
                                          </p:val>
                                        </p:tav>
                                      </p:tavLst>
                                    </p:anim>
                                    <p:anim calcmode="lin" valueType="num">
                                      <p:cBhvr additive="base">
                                        <p:cTn id="105" dur="500" fill="hold"/>
                                        <p:tgtEl>
                                          <p:spTgt spid="81944"/>
                                        </p:tgtEl>
                                        <p:attrNameLst>
                                          <p:attrName>ppt_y</p:attrName>
                                        </p:attrNameLst>
                                      </p:cBhvr>
                                      <p:tavLst>
                                        <p:tav tm="0">
                                          <p:val>
                                            <p:strVal val="#ppt_y+#ppt_h/2"/>
                                          </p:val>
                                        </p:tav>
                                        <p:tav tm="100000">
                                          <p:val>
                                            <p:strVal val="#ppt_y"/>
                                          </p:val>
                                        </p:tav>
                                      </p:tavLst>
                                    </p:anim>
                                    <p:anim calcmode="lin" valueType="num">
                                      <p:cBhvr additive="base">
                                        <p:cTn id="106" dur="500" fill="hold"/>
                                        <p:tgtEl>
                                          <p:spTgt spid="81944"/>
                                        </p:tgtEl>
                                        <p:attrNameLst>
                                          <p:attrName>ppt_w</p:attrName>
                                        </p:attrNameLst>
                                      </p:cBhvr>
                                      <p:tavLst>
                                        <p:tav tm="0">
                                          <p:val>
                                            <p:strVal val="#ppt_w"/>
                                          </p:val>
                                        </p:tav>
                                        <p:tav tm="100000">
                                          <p:val>
                                            <p:strVal val="#ppt_w"/>
                                          </p:val>
                                        </p:tav>
                                      </p:tavLst>
                                    </p:anim>
                                    <p:anim calcmode="lin" valueType="num">
                                      <p:cBhvr additive="base">
                                        <p:cTn id="107" dur="500" fill="hold"/>
                                        <p:tgtEl>
                                          <p:spTgt spid="81944"/>
                                        </p:tgtEl>
                                        <p:attrNameLst>
                                          <p:attrName>ppt_h</p:attrName>
                                        </p:attrNameLst>
                                      </p:cBhvr>
                                      <p:tavLst>
                                        <p:tav tm="0">
                                          <p:val>
                                            <p:fltVal val="0"/>
                                          </p:val>
                                        </p:tav>
                                        <p:tav tm="100000">
                                          <p:val>
                                            <p:strVal val="#ppt_h"/>
                                          </p:val>
                                        </p:tav>
                                      </p:tavLst>
                                    </p:anim>
                                  </p:childTnLst>
                                </p:cTn>
                              </p:par>
                            </p:childTnLst>
                          </p:cTn>
                        </p:par>
                      </p:childTnLst>
                    </p:cTn>
                  </p:par>
                  <p:par>
                    <p:cTn id="108" fill="hold" nodeType="clickPar">
                      <p:stCondLst>
                        <p:cond delay="indefinite"/>
                      </p:stCondLst>
                      <p:childTnLst>
                        <p:par>
                          <p:cTn id="109" fill="hold" nodeType="withGroup">
                            <p:stCondLst>
                              <p:cond delay="0"/>
                            </p:stCondLst>
                            <p:childTnLst>
                              <p:par>
                                <p:cTn id="110" presetID="17" presetClass="entr" presetSubtype="4" fill="hold" nodeType="clickEffect">
                                  <p:stCondLst>
                                    <p:cond delay="0"/>
                                  </p:stCondLst>
                                  <p:childTnLst>
                                    <p:set>
                                      <p:cBhvr>
                                        <p:cTn id="111" dur="1" fill="hold">
                                          <p:stCondLst>
                                            <p:cond delay="0"/>
                                          </p:stCondLst>
                                        </p:cTn>
                                        <p:tgtEl>
                                          <p:spTgt spid="81945"/>
                                        </p:tgtEl>
                                        <p:attrNameLst>
                                          <p:attrName>style.visibility</p:attrName>
                                        </p:attrNameLst>
                                      </p:cBhvr>
                                      <p:to>
                                        <p:strVal val="visible"/>
                                      </p:to>
                                    </p:set>
                                    <p:anim calcmode="lin" valueType="num">
                                      <p:cBhvr additive="base">
                                        <p:cTn id="112" dur="500" fill="hold"/>
                                        <p:tgtEl>
                                          <p:spTgt spid="81945"/>
                                        </p:tgtEl>
                                        <p:attrNameLst>
                                          <p:attrName>ppt_x</p:attrName>
                                        </p:attrNameLst>
                                      </p:cBhvr>
                                      <p:tavLst>
                                        <p:tav tm="0">
                                          <p:val>
                                            <p:strVal val="#ppt_x"/>
                                          </p:val>
                                        </p:tav>
                                        <p:tav tm="100000">
                                          <p:val>
                                            <p:strVal val="#ppt_x"/>
                                          </p:val>
                                        </p:tav>
                                      </p:tavLst>
                                    </p:anim>
                                    <p:anim calcmode="lin" valueType="num">
                                      <p:cBhvr additive="base">
                                        <p:cTn id="113" dur="500" fill="hold"/>
                                        <p:tgtEl>
                                          <p:spTgt spid="81945"/>
                                        </p:tgtEl>
                                        <p:attrNameLst>
                                          <p:attrName>ppt_y</p:attrName>
                                        </p:attrNameLst>
                                      </p:cBhvr>
                                      <p:tavLst>
                                        <p:tav tm="0">
                                          <p:val>
                                            <p:strVal val="#ppt_y+#ppt_h/2"/>
                                          </p:val>
                                        </p:tav>
                                        <p:tav tm="100000">
                                          <p:val>
                                            <p:strVal val="#ppt_y"/>
                                          </p:val>
                                        </p:tav>
                                      </p:tavLst>
                                    </p:anim>
                                    <p:anim calcmode="lin" valueType="num">
                                      <p:cBhvr additive="base">
                                        <p:cTn id="114" dur="500" fill="hold"/>
                                        <p:tgtEl>
                                          <p:spTgt spid="81945"/>
                                        </p:tgtEl>
                                        <p:attrNameLst>
                                          <p:attrName>ppt_w</p:attrName>
                                        </p:attrNameLst>
                                      </p:cBhvr>
                                      <p:tavLst>
                                        <p:tav tm="0">
                                          <p:val>
                                            <p:strVal val="#ppt_w"/>
                                          </p:val>
                                        </p:tav>
                                        <p:tav tm="100000">
                                          <p:val>
                                            <p:strVal val="#ppt_w"/>
                                          </p:val>
                                        </p:tav>
                                      </p:tavLst>
                                    </p:anim>
                                    <p:anim calcmode="lin" valueType="num">
                                      <p:cBhvr additive="base">
                                        <p:cTn id="115" dur="500" fill="hold"/>
                                        <p:tgtEl>
                                          <p:spTgt spid="81945"/>
                                        </p:tgtEl>
                                        <p:attrNameLst>
                                          <p:attrName>ppt_h</p:attrName>
                                        </p:attrNameLst>
                                      </p:cBhvr>
                                      <p:tavLst>
                                        <p:tav tm="0">
                                          <p:val>
                                            <p:fltVal val="0"/>
                                          </p:val>
                                        </p:tav>
                                        <p:tav tm="100000">
                                          <p:val>
                                            <p:strVal val="#ppt_h"/>
                                          </p:val>
                                        </p:tav>
                                      </p:tavLst>
                                    </p:anim>
                                  </p:childTnLst>
                                </p:cTn>
                              </p:par>
                            </p:childTnLst>
                          </p:cTn>
                        </p:par>
                      </p:childTnLst>
                    </p:cTn>
                  </p:par>
                  <p:par>
                    <p:cTn id="116" fill="hold" nodeType="clickPar">
                      <p:stCondLst>
                        <p:cond delay="indefinite"/>
                      </p:stCondLst>
                      <p:childTnLst>
                        <p:par>
                          <p:cTn id="117" fill="hold" nodeType="withGroup">
                            <p:stCondLst>
                              <p:cond delay="0"/>
                            </p:stCondLst>
                            <p:childTnLst>
                              <p:par>
                                <p:cTn id="118" presetID="17" presetClass="entr" presetSubtype="4" fill="hold" grpId="0" nodeType="clickEffect">
                                  <p:stCondLst>
                                    <p:cond delay="0"/>
                                  </p:stCondLst>
                                  <p:childTnLst>
                                    <p:set>
                                      <p:cBhvr>
                                        <p:cTn id="119" dur="1" fill="hold">
                                          <p:stCondLst>
                                            <p:cond delay="0"/>
                                          </p:stCondLst>
                                        </p:cTn>
                                        <p:tgtEl>
                                          <p:spTgt spid="81943"/>
                                        </p:tgtEl>
                                        <p:attrNameLst>
                                          <p:attrName>style.visibility</p:attrName>
                                        </p:attrNameLst>
                                      </p:cBhvr>
                                      <p:to>
                                        <p:strVal val="visible"/>
                                      </p:to>
                                    </p:set>
                                    <p:anim calcmode="lin" valueType="num">
                                      <p:cBhvr additive="base">
                                        <p:cTn id="120" dur="500" fill="hold"/>
                                        <p:tgtEl>
                                          <p:spTgt spid="81943"/>
                                        </p:tgtEl>
                                        <p:attrNameLst>
                                          <p:attrName>ppt_x</p:attrName>
                                        </p:attrNameLst>
                                      </p:cBhvr>
                                      <p:tavLst>
                                        <p:tav tm="0">
                                          <p:val>
                                            <p:strVal val="#ppt_x"/>
                                          </p:val>
                                        </p:tav>
                                        <p:tav tm="100000">
                                          <p:val>
                                            <p:strVal val="#ppt_x"/>
                                          </p:val>
                                        </p:tav>
                                      </p:tavLst>
                                    </p:anim>
                                    <p:anim calcmode="lin" valueType="num">
                                      <p:cBhvr additive="base">
                                        <p:cTn id="121" dur="500" fill="hold"/>
                                        <p:tgtEl>
                                          <p:spTgt spid="81943"/>
                                        </p:tgtEl>
                                        <p:attrNameLst>
                                          <p:attrName>ppt_y</p:attrName>
                                        </p:attrNameLst>
                                      </p:cBhvr>
                                      <p:tavLst>
                                        <p:tav tm="0">
                                          <p:val>
                                            <p:strVal val="#ppt_y+#ppt_h/2"/>
                                          </p:val>
                                        </p:tav>
                                        <p:tav tm="100000">
                                          <p:val>
                                            <p:strVal val="#ppt_y"/>
                                          </p:val>
                                        </p:tav>
                                      </p:tavLst>
                                    </p:anim>
                                    <p:anim calcmode="lin" valueType="num">
                                      <p:cBhvr additive="base">
                                        <p:cTn id="122" dur="500" fill="hold"/>
                                        <p:tgtEl>
                                          <p:spTgt spid="81943"/>
                                        </p:tgtEl>
                                        <p:attrNameLst>
                                          <p:attrName>ppt_w</p:attrName>
                                        </p:attrNameLst>
                                      </p:cBhvr>
                                      <p:tavLst>
                                        <p:tav tm="0">
                                          <p:val>
                                            <p:strVal val="#ppt_w"/>
                                          </p:val>
                                        </p:tav>
                                        <p:tav tm="100000">
                                          <p:val>
                                            <p:strVal val="#ppt_w"/>
                                          </p:val>
                                        </p:tav>
                                      </p:tavLst>
                                    </p:anim>
                                    <p:anim calcmode="lin" valueType="num">
                                      <p:cBhvr additive="base">
                                        <p:cTn id="123" dur="500" fill="hold"/>
                                        <p:tgtEl>
                                          <p:spTgt spid="81943"/>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31" grpId="0" animBg="1" autoUpdateAnimBg="0"/>
      <p:bldP spid="81934" grpId="0" animBg="1" autoUpdateAnimBg="0"/>
      <p:bldP spid="81935" grpId="0" animBg="1" autoUpdateAnimBg="0"/>
      <p:bldP spid="81938" grpId="0" animBg="1" autoUpdateAnimBg="0"/>
      <p:bldP spid="81939" grpId="0" animBg="1" autoUpdateAnimBg="0"/>
      <p:bldP spid="81940" grpId="0" animBg="1" autoUpdateAnimBg="0"/>
      <p:bldP spid="81943" grpId="0" animBg="1" autoUpdateAnimBg="0"/>
      <p:bldP spid="81950" grpId="0" animBg="1" autoUpdateAnimBg="0"/>
      <p:bldP spid="81951" grpId="0" animBg="1" autoUpdateAnimBg="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7" name="Text Box 3">
            <a:extLst>
              <a:ext uri="{FF2B5EF4-FFF2-40B4-BE49-F238E27FC236}">
                <a16:creationId xmlns:a16="http://schemas.microsoft.com/office/drawing/2014/main" id="{4B7E19AE-1662-4393-92C8-FD20DFB3DB07}"/>
              </a:ext>
            </a:extLst>
          </p:cNvPr>
          <p:cNvSpPr txBox="1">
            <a:spLocks noChangeArrowheads="1"/>
          </p:cNvSpPr>
          <p:nvPr/>
        </p:nvSpPr>
        <p:spPr bwMode="auto">
          <a:xfrm>
            <a:off x="395536" y="188640"/>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en-US" altLang="zh-CN" sz="4400" i="0" dirty="0">
                <a:solidFill>
                  <a:schemeClr val="tx2"/>
                </a:solidFill>
                <a:ea typeface="隶书" pitchFamily="49" charset="-122"/>
              </a:rPr>
              <a:t>Huffman</a:t>
            </a:r>
            <a:r>
              <a:rPr lang="zh-CN" altLang="en-US" sz="4400" i="0" dirty="0">
                <a:solidFill>
                  <a:schemeClr val="tx2"/>
                </a:solidFill>
                <a:ea typeface="隶书" pitchFamily="49" charset="-122"/>
              </a:rPr>
              <a:t>树练习</a:t>
            </a:r>
            <a:r>
              <a:rPr lang="en-US" altLang="zh-CN" sz="4400" i="0" dirty="0">
                <a:solidFill>
                  <a:schemeClr val="tx2"/>
                </a:solidFill>
                <a:ea typeface="隶书" pitchFamily="49" charset="-122"/>
              </a:rPr>
              <a:t>2</a:t>
            </a:r>
            <a:endParaRPr lang="zh-CN" altLang="en-US" sz="4400" i="0" dirty="0">
              <a:solidFill>
                <a:schemeClr val="tx2"/>
              </a:solidFill>
              <a:ea typeface="隶书" pitchFamily="49" charset="-122"/>
            </a:endParaRPr>
          </a:p>
        </p:txBody>
      </p:sp>
      <p:sp>
        <p:nvSpPr>
          <p:cNvPr id="103429" name="Text Box 5">
            <a:extLst>
              <a:ext uri="{FF2B5EF4-FFF2-40B4-BE49-F238E27FC236}">
                <a16:creationId xmlns:a16="http://schemas.microsoft.com/office/drawing/2014/main" id="{223557ED-70D5-4CAE-B0C9-03165FBCCDC9}"/>
              </a:ext>
            </a:extLst>
          </p:cNvPr>
          <p:cNvSpPr txBox="1">
            <a:spLocks noChangeArrowheads="1"/>
          </p:cNvSpPr>
          <p:nvPr/>
        </p:nvSpPr>
        <p:spPr bwMode="auto">
          <a:xfrm>
            <a:off x="608371" y="1268760"/>
            <a:ext cx="8234337" cy="1574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zh-CN" altLang="en-US" sz="2800" b="0" i="0" dirty="0">
                <a:latin typeface="黑体" panose="02010609060101010101" pitchFamily="49" charset="-122"/>
                <a:ea typeface="黑体" panose="02010609060101010101" pitchFamily="49" charset="-122"/>
              </a:rPr>
              <a:t>设叶子结点a、b、c、d、e的权值分别为5 、4 、10 、12 、9，构造Huffman树，并计算带权路径长度。</a:t>
            </a:r>
            <a:endParaRPr lang="zh-CN" altLang="en-US" sz="2800" b="0" dirty="0">
              <a:latin typeface="黑体" panose="02010609060101010101" pitchFamily="49" charset="-122"/>
              <a:ea typeface="黑体" panose="02010609060101010101" pitchFamily="49" charset="-122"/>
            </a:endParaRPr>
          </a:p>
        </p:txBody>
      </p:sp>
      <p:sp>
        <p:nvSpPr>
          <p:cNvPr id="4" name="Text Box 5">
            <a:extLst>
              <a:ext uri="{FF2B5EF4-FFF2-40B4-BE49-F238E27FC236}">
                <a16:creationId xmlns:a16="http://schemas.microsoft.com/office/drawing/2014/main" id="{D3E0614B-7C9A-4537-87E8-C1347D9A1302}"/>
              </a:ext>
            </a:extLst>
          </p:cNvPr>
          <p:cNvSpPr txBox="1">
            <a:spLocks noChangeArrowheads="1"/>
          </p:cNvSpPr>
          <p:nvPr/>
        </p:nvSpPr>
        <p:spPr bwMode="auto">
          <a:xfrm>
            <a:off x="454831" y="3573016"/>
            <a:ext cx="8234337" cy="1205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None/>
            </a:pPr>
            <a:r>
              <a:rPr lang="en-US" altLang="zh-CN" sz="3600" dirty="0">
                <a:latin typeface="华文楷体" panose="02010600040101010101" pitchFamily="2" charset="-122"/>
                <a:ea typeface="华文楷体" panose="02010600040101010101" pitchFamily="2" charset="-122"/>
              </a:rPr>
              <a:t> </a:t>
            </a:r>
            <a:r>
              <a:rPr lang="zh-CN" altLang="en-US" sz="2800" b="0" i="0" dirty="0">
                <a:latin typeface="+mn-ea"/>
                <a:ea typeface="+mn-ea"/>
              </a:rPr>
              <a:t>构造的</a:t>
            </a:r>
            <a:r>
              <a:rPr lang="en-US" altLang="zh-CN" sz="2800" b="0" i="0" dirty="0">
                <a:latin typeface="+mn-ea"/>
                <a:ea typeface="+mn-ea"/>
              </a:rPr>
              <a:t>Huffman</a:t>
            </a:r>
            <a:r>
              <a:rPr lang="zh-CN" altLang="en-US" sz="2800" b="0" i="0" dirty="0">
                <a:latin typeface="+mn-ea"/>
                <a:ea typeface="+mn-ea"/>
              </a:rPr>
              <a:t>树在下页。详细计算过程见</a:t>
            </a:r>
            <a:r>
              <a:rPr lang="en-US" altLang="zh-CN" sz="2800" b="0" i="0" dirty="0">
                <a:latin typeface="+mn-ea"/>
                <a:ea typeface="+mn-ea"/>
              </a:rPr>
              <a:t>P101</a:t>
            </a:r>
            <a:r>
              <a:rPr lang="zh-CN" altLang="en-US" sz="2800" b="0" i="0" dirty="0">
                <a:latin typeface="+mn-ea"/>
                <a:ea typeface="+mn-ea"/>
              </a:rPr>
              <a:t>练</a:t>
            </a:r>
            <a:endParaRPr lang="en-US" altLang="zh-CN" sz="2800" b="0" i="0" dirty="0">
              <a:latin typeface="+mn-ea"/>
              <a:ea typeface="+mn-ea"/>
            </a:endParaRPr>
          </a:p>
          <a:p>
            <a:pPr eaLnBrk="1" hangingPunct="1">
              <a:lnSpc>
                <a:spcPct val="120000"/>
              </a:lnSpc>
              <a:spcBef>
                <a:spcPct val="0"/>
              </a:spcBef>
              <a:buClrTx/>
              <a:buSzTx/>
              <a:buNone/>
            </a:pPr>
            <a:r>
              <a:rPr lang="en-US" altLang="zh-CN" sz="2800" b="0" i="0" dirty="0">
                <a:latin typeface="+mn-ea"/>
                <a:ea typeface="+mn-ea"/>
              </a:rPr>
              <a:t> </a:t>
            </a:r>
            <a:r>
              <a:rPr lang="zh-CN" altLang="en-US" sz="2800" b="0" i="0" dirty="0">
                <a:latin typeface="+mn-ea"/>
                <a:ea typeface="+mn-ea"/>
              </a:rPr>
              <a:t>习</a:t>
            </a:r>
            <a:r>
              <a:rPr lang="en-US" altLang="zh-CN" sz="2800" b="0" i="0" dirty="0">
                <a:latin typeface="+mn-ea"/>
                <a:ea typeface="+mn-ea"/>
              </a:rPr>
              <a:t>1</a:t>
            </a:r>
            <a:r>
              <a:rPr lang="zh-CN" altLang="en-US" sz="2800" b="0" i="0" dirty="0">
                <a:latin typeface="+mn-ea"/>
                <a:ea typeface="+mn-ea"/>
              </a:rPr>
              <a:t>，一个合并一图。</a:t>
            </a:r>
          </a:p>
        </p:txBody>
      </p:sp>
    </p:spTree>
    <p:extLst>
      <p:ext uri="{BB962C8B-B14F-4D97-AF65-F5344CB8AC3E}">
        <p14:creationId xmlns:p14="http://schemas.microsoft.com/office/powerpoint/2010/main" val="176720406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7" name="Text Box 3">
            <a:extLst>
              <a:ext uri="{FF2B5EF4-FFF2-40B4-BE49-F238E27FC236}">
                <a16:creationId xmlns:a16="http://schemas.microsoft.com/office/drawing/2014/main" id="{4B7E19AE-1662-4393-92C8-FD20DFB3DB07}"/>
              </a:ext>
            </a:extLst>
          </p:cNvPr>
          <p:cNvSpPr txBox="1">
            <a:spLocks noChangeArrowheads="1"/>
          </p:cNvSpPr>
          <p:nvPr/>
        </p:nvSpPr>
        <p:spPr bwMode="auto">
          <a:xfrm>
            <a:off x="395536" y="188640"/>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en-US" altLang="zh-CN" sz="4400" i="0" dirty="0">
                <a:solidFill>
                  <a:schemeClr val="tx2"/>
                </a:solidFill>
                <a:ea typeface="隶书" pitchFamily="49" charset="-122"/>
              </a:rPr>
              <a:t>Huffman</a:t>
            </a:r>
            <a:r>
              <a:rPr lang="zh-CN" altLang="en-US" sz="4400" i="0" dirty="0">
                <a:solidFill>
                  <a:schemeClr val="tx2"/>
                </a:solidFill>
                <a:ea typeface="隶书" pitchFamily="49" charset="-122"/>
              </a:rPr>
              <a:t>树练习</a:t>
            </a:r>
            <a:r>
              <a:rPr lang="en-US" altLang="zh-CN" sz="4400" i="0" dirty="0">
                <a:solidFill>
                  <a:schemeClr val="tx2"/>
                </a:solidFill>
                <a:ea typeface="隶书" pitchFamily="49" charset="-122"/>
              </a:rPr>
              <a:t>2</a:t>
            </a:r>
            <a:endParaRPr lang="zh-CN" altLang="en-US" sz="4400" i="0" dirty="0">
              <a:solidFill>
                <a:schemeClr val="tx2"/>
              </a:solidFill>
              <a:ea typeface="隶书" pitchFamily="49" charset="-122"/>
            </a:endParaRPr>
          </a:p>
        </p:txBody>
      </p:sp>
      <p:grpSp>
        <p:nvGrpSpPr>
          <p:cNvPr id="33" name="组合 32">
            <a:extLst>
              <a:ext uri="{FF2B5EF4-FFF2-40B4-BE49-F238E27FC236}">
                <a16:creationId xmlns:a16="http://schemas.microsoft.com/office/drawing/2014/main" id="{21404C7D-7FB8-C6CB-6CD4-0713A19F4550}"/>
              </a:ext>
            </a:extLst>
          </p:cNvPr>
          <p:cNvGrpSpPr/>
          <p:nvPr/>
        </p:nvGrpSpPr>
        <p:grpSpPr>
          <a:xfrm>
            <a:off x="2123728" y="1525247"/>
            <a:ext cx="4390019" cy="2582070"/>
            <a:chOff x="2123728" y="1525247"/>
            <a:chExt cx="4390019" cy="2582070"/>
          </a:xfrm>
        </p:grpSpPr>
        <p:sp>
          <p:nvSpPr>
            <p:cNvPr id="3" name="Line 8">
              <a:extLst>
                <a:ext uri="{FF2B5EF4-FFF2-40B4-BE49-F238E27FC236}">
                  <a16:creationId xmlns:a16="http://schemas.microsoft.com/office/drawing/2014/main" id="{0DA5951A-C2F6-F205-F554-D1B787F9FF34}"/>
                </a:ext>
              </a:extLst>
            </p:cNvPr>
            <p:cNvSpPr>
              <a:spLocks noChangeShapeType="1"/>
            </p:cNvSpPr>
            <p:nvPr/>
          </p:nvSpPr>
          <p:spPr bwMode="auto">
            <a:xfrm>
              <a:off x="3304828" y="2630942"/>
              <a:ext cx="571500" cy="428625"/>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5" name="Line 9">
              <a:extLst>
                <a:ext uri="{FF2B5EF4-FFF2-40B4-BE49-F238E27FC236}">
                  <a16:creationId xmlns:a16="http://schemas.microsoft.com/office/drawing/2014/main" id="{E6B38621-5F96-D261-B457-6F21BD15296E}"/>
                </a:ext>
              </a:extLst>
            </p:cNvPr>
            <p:cNvSpPr>
              <a:spLocks noChangeShapeType="1"/>
            </p:cNvSpPr>
            <p:nvPr/>
          </p:nvSpPr>
          <p:spPr bwMode="auto">
            <a:xfrm flipH="1">
              <a:off x="2504728" y="2630942"/>
              <a:ext cx="571500" cy="500063"/>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6" name="Oval 10">
              <a:extLst>
                <a:ext uri="{FF2B5EF4-FFF2-40B4-BE49-F238E27FC236}">
                  <a16:creationId xmlns:a16="http://schemas.microsoft.com/office/drawing/2014/main" id="{C8B7AE96-5280-EEA1-332F-CF085C9E4298}"/>
                </a:ext>
              </a:extLst>
            </p:cNvPr>
            <p:cNvSpPr>
              <a:spLocks noChangeArrowheads="1"/>
            </p:cNvSpPr>
            <p:nvPr/>
          </p:nvSpPr>
          <p:spPr bwMode="auto">
            <a:xfrm>
              <a:off x="2961928" y="2375354"/>
              <a:ext cx="457200" cy="430213"/>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en-US" altLang="zh-CN" sz="2400" i="0" dirty="0">
                <a:solidFill>
                  <a:schemeClr val="bg1"/>
                </a:solidFill>
              </a:endParaRPr>
            </a:p>
          </p:txBody>
        </p:sp>
        <p:sp>
          <p:nvSpPr>
            <p:cNvPr id="7" name="Line 11">
              <a:extLst>
                <a:ext uri="{FF2B5EF4-FFF2-40B4-BE49-F238E27FC236}">
                  <a16:creationId xmlns:a16="http://schemas.microsoft.com/office/drawing/2014/main" id="{6597497E-4422-3F1D-D2F9-5BADE5E4C15A}"/>
                </a:ext>
              </a:extLst>
            </p:cNvPr>
            <p:cNvSpPr>
              <a:spLocks noChangeShapeType="1"/>
            </p:cNvSpPr>
            <p:nvPr/>
          </p:nvSpPr>
          <p:spPr bwMode="auto">
            <a:xfrm flipH="1">
              <a:off x="3571528" y="3258004"/>
              <a:ext cx="419100" cy="460375"/>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8" name="Oval 12">
              <a:extLst>
                <a:ext uri="{FF2B5EF4-FFF2-40B4-BE49-F238E27FC236}">
                  <a16:creationId xmlns:a16="http://schemas.microsoft.com/office/drawing/2014/main" id="{C2907F4B-8227-FDAF-67FD-A2F895034FE9}"/>
                </a:ext>
              </a:extLst>
            </p:cNvPr>
            <p:cNvSpPr>
              <a:spLocks noChangeArrowheads="1"/>
            </p:cNvSpPr>
            <p:nvPr/>
          </p:nvSpPr>
          <p:spPr bwMode="auto">
            <a:xfrm>
              <a:off x="3190528" y="3646942"/>
              <a:ext cx="457200" cy="430213"/>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dirty="0">
                  <a:solidFill>
                    <a:schemeClr val="bg1"/>
                  </a:solidFill>
                </a:rPr>
                <a:t>b</a:t>
              </a:r>
            </a:p>
          </p:txBody>
        </p:sp>
        <p:sp>
          <p:nvSpPr>
            <p:cNvPr id="9" name="Line 13">
              <a:extLst>
                <a:ext uri="{FF2B5EF4-FFF2-40B4-BE49-F238E27FC236}">
                  <a16:creationId xmlns:a16="http://schemas.microsoft.com/office/drawing/2014/main" id="{CAAC3F93-8749-8ACC-47BA-6D48F05E366A}"/>
                </a:ext>
              </a:extLst>
            </p:cNvPr>
            <p:cNvSpPr>
              <a:spLocks noChangeShapeType="1"/>
            </p:cNvSpPr>
            <p:nvPr/>
          </p:nvSpPr>
          <p:spPr bwMode="auto">
            <a:xfrm>
              <a:off x="4028728" y="3289754"/>
              <a:ext cx="342900" cy="428625"/>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10" name="Oval 14">
              <a:extLst>
                <a:ext uri="{FF2B5EF4-FFF2-40B4-BE49-F238E27FC236}">
                  <a16:creationId xmlns:a16="http://schemas.microsoft.com/office/drawing/2014/main" id="{F0E59582-86BB-D96D-458C-51C41BF18DDC}"/>
                </a:ext>
              </a:extLst>
            </p:cNvPr>
            <p:cNvSpPr>
              <a:spLocks noChangeArrowheads="1"/>
            </p:cNvSpPr>
            <p:nvPr/>
          </p:nvSpPr>
          <p:spPr bwMode="auto">
            <a:xfrm>
              <a:off x="2123728" y="2988129"/>
              <a:ext cx="457200" cy="430213"/>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dirty="0">
                  <a:solidFill>
                    <a:schemeClr val="bg1"/>
                  </a:solidFill>
                </a:rPr>
                <a:t>e</a:t>
              </a:r>
            </a:p>
          </p:txBody>
        </p:sp>
        <p:sp>
          <p:nvSpPr>
            <p:cNvPr id="11" name="Oval 15">
              <a:extLst>
                <a:ext uri="{FF2B5EF4-FFF2-40B4-BE49-F238E27FC236}">
                  <a16:creationId xmlns:a16="http://schemas.microsoft.com/office/drawing/2014/main" id="{0DB999F8-167D-F65A-D038-CD74A7F8C339}"/>
                </a:ext>
              </a:extLst>
            </p:cNvPr>
            <p:cNvSpPr>
              <a:spLocks noChangeArrowheads="1"/>
            </p:cNvSpPr>
            <p:nvPr/>
          </p:nvSpPr>
          <p:spPr bwMode="auto">
            <a:xfrm>
              <a:off x="3800128" y="2988129"/>
              <a:ext cx="457200" cy="430213"/>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en-US" altLang="zh-CN" sz="2400" i="0" dirty="0">
                <a:solidFill>
                  <a:schemeClr val="bg1"/>
                </a:solidFill>
              </a:endParaRPr>
            </a:p>
          </p:txBody>
        </p:sp>
        <p:sp>
          <p:nvSpPr>
            <p:cNvPr id="12" name="Oval 16">
              <a:extLst>
                <a:ext uri="{FF2B5EF4-FFF2-40B4-BE49-F238E27FC236}">
                  <a16:creationId xmlns:a16="http://schemas.microsoft.com/office/drawing/2014/main" id="{EDE25724-6D17-8855-0F79-F910D3E760ED}"/>
                </a:ext>
              </a:extLst>
            </p:cNvPr>
            <p:cNvSpPr>
              <a:spLocks noChangeArrowheads="1"/>
            </p:cNvSpPr>
            <p:nvPr/>
          </p:nvSpPr>
          <p:spPr bwMode="auto">
            <a:xfrm>
              <a:off x="4219228" y="3678692"/>
              <a:ext cx="457200" cy="428625"/>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dirty="0">
                  <a:solidFill>
                    <a:schemeClr val="bg1"/>
                  </a:solidFill>
                </a:rPr>
                <a:t>a</a:t>
              </a:r>
            </a:p>
          </p:txBody>
        </p:sp>
        <p:sp>
          <p:nvSpPr>
            <p:cNvPr id="13" name="Text Box 17">
              <a:extLst>
                <a:ext uri="{FF2B5EF4-FFF2-40B4-BE49-F238E27FC236}">
                  <a16:creationId xmlns:a16="http://schemas.microsoft.com/office/drawing/2014/main" id="{E16A7452-9310-8AD7-E91F-E064764CC901}"/>
                </a:ext>
              </a:extLst>
            </p:cNvPr>
            <p:cNvSpPr txBox="1">
              <a:spLocks noChangeArrowheads="1"/>
            </p:cNvSpPr>
            <p:nvPr/>
          </p:nvSpPr>
          <p:spPr bwMode="auto">
            <a:xfrm>
              <a:off x="2199928" y="2519817"/>
              <a:ext cx="30480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en-US" altLang="zh-CN" sz="2800" b="0" i="0" dirty="0">
                  <a:latin typeface="黑体" panose="02010609060101010101" pitchFamily="49" charset="-122"/>
                  <a:ea typeface="黑体" panose="02010609060101010101" pitchFamily="49" charset="-122"/>
                </a:rPr>
                <a:t>9</a:t>
              </a:r>
              <a:endParaRPr lang="zh-CN" altLang="en-US" sz="2800" b="0" i="0" dirty="0">
                <a:latin typeface="黑体" panose="02010609060101010101" pitchFamily="49" charset="-122"/>
                <a:ea typeface="黑体" panose="02010609060101010101" pitchFamily="49" charset="-122"/>
              </a:endParaRPr>
            </a:p>
          </p:txBody>
        </p:sp>
        <p:sp>
          <p:nvSpPr>
            <p:cNvPr id="14" name="Text Box 18">
              <a:extLst>
                <a:ext uri="{FF2B5EF4-FFF2-40B4-BE49-F238E27FC236}">
                  <a16:creationId xmlns:a16="http://schemas.microsoft.com/office/drawing/2014/main" id="{BC7B1B7C-DAE1-951E-FC30-BAF19E49B8A8}"/>
                </a:ext>
              </a:extLst>
            </p:cNvPr>
            <p:cNvSpPr txBox="1">
              <a:spLocks noChangeArrowheads="1"/>
            </p:cNvSpPr>
            <p:nvPr/>
          </p:nvSpPr>
          <p:spPr bwMode="auto">
            <a:xfrm>
              <a:off x="4333528" y="3167517"/>
              <a:ext cx="30480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en-US" altLang="zh-CN" sz="2800" b="0" i="0" dirty="0">
                  <a:latin typeface="黑体" panose="02010609060101010101" pitchFamily="49" charset="-122"/>
                  <a:ea typeface="黑体" panose="02010609060101010101" pitchFamily="49" charset="-122"/>
                </a:rPr>
                <a:t>5</a:t>
              </a:r>
              <a:endParaRPr lang="zh-CN" altLang="en-US" sz="2800" b="0" i="0" dirty="0">
                <a:latin typeface="黑体" panose="02010609060101010101" pitchFamily="49" charset="-122"/>
                <a:ea typeface="黑体" panose="02010609060101010101" pitchFamily="49" charset="-122"/>
              </a:endParaRPr>
            </a:p>
          </p:txBody>
        </p:sp>
        <p:sp>
          <p:nvSpPr>
            <p:cNvPr id="15" name="Text Box 19">
              <a:extLst>
                <a:ext uri="{FF2B5EF4-FFF2-40B4-BE49-F238E27FC236}">
                  <a16:creationId xmlns:a16="http://schemas.microsoft.com/office/drawing/2014/main" id="{DE97D10D-26B8-084D-73F0-FCDCC4168C2F}"/>
                </a:ext>
              </a:extLst>
            </p:cNvPr>
            <p:cNvSpPr txBox="1">
              <a:spLocks noChangeArrowheads="1"/>
            </p:cNvSpPr>
            <p:nvPr/>
          </p:nvSpPr>
          <p:spPr bwMode="auto">
            <a:xfrm>
              <a:off x="3247678" y="3156404"/>
              <a:ext cx="30480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2800" b="0" i="0" dirty="0">
                  <a:latin typeface="黑体" panose="02010609060101010101" pitchFamily="49" charset="-122"/>
                  <a:ea typeface="黑体" panose="02010609060101010101" pitchFamily="49" charset="-122"/>
                </a:rPr>
                <a:t>４</a:t>
              </a:r>
            </a:p>
          </p:txBody>
        </p:sp>
        <p:sp>
          <p:nvSpPr>
            <p:cNvPr id="17" name="Line 8">
              <a:extLst>
                <a:ext uri="{FF2B5EF4-FFF2-40B4-BE49-F238E27FC236}">
                  <a16:creationId xmlns:a16="http://schemas.microsoft.com/office/drawing/2014/main" id="{50ACA8F3-3965-7F78-AB9C-6EF060A8EE9A}"/>
                </a:ext>
              </a:extLst>
            </p:cNvPr>
            <p:cNvSpPr>
              <a:spLocks noChangeShapeType="1"/>
            </p:cNvSpPr>
            <p:nvPr/>
          </p:nvSpPr>
          <p:spPr bwMode="auto">
            <a:xfrm>
              <a:off x="4505674" y="1871902"/>
              <a:ext cx="990600" cy="523875"/>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19" name="Oval 10">
              <a:extLst>
                <a:ext uri="{FF2B5EF4-FFF2-40B4-BE49-F238E27FC236}">
                  <a16:creationId xmlns:a16="http://schemas.microsoft.com/office/drawing/2014/main" id="{16273D79-3175-CE7D-7773-AB03ED2EC8A4}"/>
                </a:ext>
              </a:extLst>
            </p:cNvPr>
            <p:cNvSpPr>
              <a:spLocks noChangeArrowheads="1"/>
            </p:cNvSpPr>
            <p:nvPr/>
          </p:nvSpPr>
          <p:spPr bwMode="auto">
            <a:xfrm>
              <a:off x="4104928" y="1525247"/>
              <a:ext cx="457200" cy="430213"/>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en-US" altLang="zh-CN" sz="2400" i="0" dirty="0">
                <a:solidFill>
                  <a:schemeClr val="bg1"/>
                </a:solidFill>
              </a:endParaRPr>
            </a:p>
          </p:txBody>
        </p:sp>
        <p:sp>
          <p:nvSpPr>
            <p:cNvPr id="20" name="Line 11">
              <a:extLst>
                <a:ext uri="{FF2B5EF4-FFF2-40B4-BE49-F238E27FC236}">
                  <a16:creationId xmlns:a16="http://schemas.microsoft.com/office/drawing/2014/main" id="{0BE31E03-CD2C-51A3-5707-88BE33FB0446}"/>
                </a:ext>
              </a:extLst>
            </p:cNvPr>
            <p:cNvSpPr>
              <a:spLocks noChangeShapeType="1"/>
            </p:cNvSpPr>
            <p:nvPr/>
          </p:nvSpPr>
          <p:spPr bwMode="auto">
            <a:xfrm flipH="1">
              <a:off x="5247928" y="2582522"/>
              <a:ext cx="419100" cy="460375"/>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21" name="Oval 12">
              <a:extLst>
                <a:ext uri="{FF2B5EF4-FFF2-40B4-BE49-F238E27FC236}">
                  <a16:creationId xmlns:a16="http://schemas.microsoft.com/office/drawing/2014/main" id="{C2884721-A129-CB0C-58CD-7B97275A1AD3}"/>
                </a:ext>
              </a:extLst>
            </p:cNvPr>
            <p:cNvSpPr>
              <a:spLocks noChangeArrowheads="1"/>
            </p:cNvSpPr>
            <p:nvPr/>
          </p:nvSpPr>
          <p:spPr bwMode="auto">
            <a:xfrm>
              <a:off x="4866928" y="2971460"/>
              <a:ext cx="457200" cy="430213"/>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dirty="0">
                  <a:solidFill>
                    <a:schemeClr val="bg1"/>
                  </a:solidFill>
                </a:rPr>
                <a:t>c</a:t>
              </a:r>
            </a:p>
          </p:txBody>
        </p:sp>
        <p:sp>
          <p:nvSpPr>
            <p:cNvPr id="22" name="Line 13">
              <a:extLst>
                <a:ext uri="{FF2B5EF4-FFF2-40B4-BE49-F238E27FC236}">
                  <a16:creationId xmlns:a16="http://schemas.microsoft.com/office/drawing/2014/main" id="{857FF37F-D7E8-8FB4-03A8-984835683584}"/>
                </a:ext>
              </a:extLst>
            </p:cNvPr>
            <p:cNvSpPr>
              <a:spLocks noChangeShapeType="1"/>
            </p:cNvSpPr>
            <p:nvPr/>
          </p:nvSpPr>
          <p:spPr bwMode="auto">
            <a:xfrm>
              <a:off x="5705128" y="2614272"/>
              <a:ext cx="342900" cy="428625"/>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24" name="Oval 15">
              <a:extLst>
                <a:ext uri="{FF2B5EF4-FFF2-40B4-BE49-F238E27FC236}">
                  <a16:creationId xmlns:a16="http://schemas.microsoft.com/office/drawing/2014/main" id="{2608D8EC-A7C7-64A1-7254-D5DB202D6D4E}"/>
                </a:ext>
              </a:extLst>
            </p:cNvPr>
            <p:cNvSpPr>
              <a:spLocks noChangeArrowheads="1"/>
            </p:cNvSpPr>
            <p:nvPr/>
          </p:nvSpPr>
          <p:spPr bwMode="auto">
            <a:xfrm>
              <a:off x="5476528" y="2312647"/>
              <a:ext cx="457200" cy="430213"/>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en-US" altLang="zh-CN" sz="2400" i="0" dirty="0">
                <a:solidFill>
                  <a:schemeClr val="bg1"/>
                </a:solidFill>
              </a:endParaRPr>
            </a:p>
          </p:txBody>
        </p:sp>
        <p:sp>
          <p:nvSpPr>
            <p:cNvPr id="25" name="Oval 16">
              <a:extLst>
                <a:ext uri="{FF2B5EF4-FFF2-40B4-BE49-F238E27FC236}">
                  <a16:creationId xmlns:a16="http://schemas.microsoft.com/office/drawing/2014/main" id="{451B0C8B-00DB-638F-48DD-0709CC57021B}"/>
                </a:ext>
              </a:extLst>
            </p:cNvPr>
            <p:cNvSpPr>
              <a:spLocks noChangeArrowheads="1"/>
            </p:cNvSpPr>
            <p:nvPr/>
          </p:nvSpPr>
          <p:spPr bwMode="auto">
            <a:xfrm>
              <a:off x="5895628" y="3003210"/>
              <a:ext cx="457200" cy="428625"/>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dirty="0">
                  <a:solidFill>
                    <a:schemeClr val="bg1"/>
                  </a:solidFill>
                </a:rPr>
                <a:t>d</a:t>
              </a:r>
            </a:p>
          </p:txBody>
        </p:sp>
        <p:sp>
          <p:nvSpPr>
            <p:cNvPr id="27" name="Text Box 18">
              <a:extLst>
                <a:ext uri="{FF2B5EF4-FFF2-40B4-BE49-F238E27FC236}">
                  <a16:creationId xmlns:a16="http://schemas.microsoft.com/office/drawing/2014/main" id="{5A14E206-3C11-DDB3-B218-7BA73E11A5F8}"/>
                </a:ext>
              </a:extLst>
            </p:cNvPr>
            <p:cNvSpPr txBox="1">
              <a:spLocks noChangeArrowheads="1"/>
            </p:cNvSpPr>
            <p:nvPr/>
          </p:nvSpPr>
          <p:spPr bwMode="auto">
            <a:xfrm>
              <a:off x="5980347" y="2481250"/>
              <a:ext cx="5334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en-US" altLang="zh-CN" sz="2800" b="0" i="0" dirty="0">
                  <a:latin typeface="黑体" panose="02010609060101010101" pitchFamily="49" charset="-122"/>
                  <a:ea typeface="黑体" panose="02010609060101010101" pitchFamily="49" charset="-122"/>
                </a:rPr>
                <a:t>12</a:t>
              </a:r>
              <a:endParaRPr lang="zh-CN" altLang="en-US" sz="2800" b="0" i="0" dirty="0">
                <a:latin typeface="黑体" panose="02010609060101010101" pitchFamily="49" charset="-122"/>
                <a:ea typeface="黑体" panose="02010609060101010101" pitchFamily="49" charset="-122"/>
              </a:endParaRPr>
            </a:p>
          </p:txBody>
        </p:sp>
        <p:sp>
          <p:nvSpPr>
            <p:cNvPr id="28" name="Text Box 19">
              <a:extLst>
                <a:ext uri="{FF2B5EF4-FFF2-40B4-BE49-F238E27FC236}">
                  <a16:creationId xmlns:a16="http://schemas.microsoft.com/office/drawing/2014/main" id="{0C125713-BB6A-A091-600F-36ECB67908BD}"/>
                </a:ext>
              </a:extLst>
            </p:cNvPr>
            <p:cNvSpPr txBox="1">
              <a:spLocks noChangeArrowheads="1"/>
            </p:cNvSpPr>
            <p:nvPr/>
          </p:nvSpPr>
          <p:spPr bwMode="auto">
            <a:xfrm>
              <a:off x="4828828" y="2480922"/>
              <a:ext cx="40005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en-US" altLang="zh-CN" sz="2800" b="0" i="0" dirty="0">
                  <a:latin typeface="黑体" panose="02010609060101010101" pitchFamily="49" charset="-122"/>
                  <a:ea typeface="黑体" panose="02010609060101010101" pitchFamily="49" charset="-122"/>
                </a:rPr>
                <a:t>10</a:t>
              </a:r>
              <a:endParaRPr lang="zh-CN" altLang="en-US" sz="2800" b="0" i="0" dirty="0">
                <a:latin typeface="黑体" panose="02010609060101010101" pitchFamily="49" charset="-122"/>
                <a:ea typeface="黑体" panose="02010609060101010101" pitchFamily="49" charset="-122"/>
              </a:endParaRPr>
            </a:p>
          </p:txBody>
        </p:sp>
        <p:sp>
          <p:nvSpPr>
            <p:cNvPr id="29" name="Line 8">
              <a:extLst>
                <a:ext uri="{FF2B5EF4-FFF2-40B4-BE49-F238E27FC236}">
                  <a16:creationId xmlns:a16="http://schemas.microsoft.com/office/drawing/2014/main" id="{37B3B62C-F100-2BBE-7062-B6291B2EFBDC}"/>
                </a:ext>
              </a:extLst>
            </p:cNvPr>
            <p:cNvSpPr>
              <a:spLocks noChangeShapeType="1"/>
            </p:cNvSpPr>
            <p:nvPr/>
          </p:nvSpPr>
          <p:spPr bwMode="auto">
            <a:xfrm flipH="1">
              <a:off x="3304828" y="1873703"/>
              <a:ext cx="838200" cy="572295"/>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grpSp>
      <p:sp>
        <p:nvSpPr>
          <p:cNvPr id="32" name="文本框 31">
            <a:extLst>
              <a:ext uri="{FF2B5EF4-FFF2-40B4-BE49-F238E27FC236}">
                <a16:creationId xmlns:a16="http://schemas.microsoft.com/office/drawing/2014/main" id="{86645A60-61C4-6C3E-9684-B6FEA1929DE1}"/>
              </a:ext>
            </a:extLst>
          </p:cNvPr>
          <p:cNvSpPr txBox="1"/>
          <p:nvPr/>
        </p:nvSpPr>
        <p:spPr>
          <a:xfrm>
            <a:off x="676898" y="4674484"/>
            <a:ext cx="7618059" cy="523220"/>
          </a:xfrm>
          <a:prstGeom prst="rect">
            <a:avLst/>
          </a:prstGeom>
          <a:noFill/>
        </p:spPr>
        <p:txBody>
          <a:bodyPr wrap="square">
            <a:spAutoFit/>
          </a:bodyPr>
          <a:lstStyle/>
          <a:p>
            <a:r>
              <a:rPr kumimoji="0" lang="en-US" altLang="zh-CN" sz="2800" b="0" i="0" u="none" strike="noStrike" kern="1200" cap="none" spc="0" normalizeH="0" baseline="0" noProof="0" dirty="0">
                <a:ln>
                  <a:noFill/>
                </a:ln>
                <a:solidFill>
                  <a:prstClr val="black"/>
                </a:solidFill>
                <a:effectLst/>
                <a:uLnTx/>
                <a:uFillTx/>
                <a:latin typeface="+mn-ea"/>
                <a:ea typeface="+mn-ea"/>
                <a:cs typeface="+mn-cs"/>
              </a:rPr>
              <a:t>WPL = 9</a:t>
            </a:r>
            <a:r>
              <a:rPr kumimoji="0" lang="zh-CN" altLang="en-US" sz="2800" b="0" i="0" u="none" strike="noStrike" kern="1200" cap="none" spc="0" normalizeH="0" baseline="0" noProof="0" dirty="0">
                <a:ln>
                  <a:noFill/>
                </a:ln>
                <a:solidFill>
                  <a:prstClr val="black"/>
                </a:solidFill>
                <a:effectLst/>
                <a:uLnTx/>
                <a:uFillTx/>
                <a:latin typeface="+mn-ea"/>
                <a:ea typeface="+mn-ea"/>
                <a:cs typeface="+mn-cs"/>
              </a:rPr>
              <a:t>*</a:t>
            </a:r>
            <a:r>
              <a:rPr kumimoji="0" lang="en-US" altLang="zh-CN" sz="2800" b="0" i="0" u="none" strike="noStrike" kern="1200" cap="none" spc="0" normalizeH="0" baseline="0" noProof="0" dirty="0">
                <a:ln>
                  <a:noFill/>
                </a:ln>
                <a:solidFill>
                  <a:prstClr val="black"/>
                </a:solidFill>
                <a:effectLst/>
                <a:uLnTx/>
                <a:uFillTx/>
                <a:latin typeface="+mn-ea"/>
                <a:ea typeface="+mn-ea"/>
                <a:cs typeface="+mn-cs"/>
              </a:rPr>
              <a:t>2 + 4</a:t>
            </a:r>
            <a:r>
              <a:rPr kumimoji="0" lang="zh-CN" altLang="en-US" sz="2800" b="0" i="0" u="none" strike="noStrike" kern="1200" cap="none" spc="0" normalizeH="0" baseline="0" noProof="0" dirty="0">
                <a:ln>
                  <a:noFill/>
                </a:ln>
                <a:solidFill>
                  <a:prstClr val="black"/>
                </a:solidFill>
                <a:effectLst/>
                <a:uLnTx/>
                <a:uFillTx/>
                <a:latin typeface="+mn-ea"/>
                <a:ea typeface="+mn-ea"/>
                <a:cs typeface="+mn-cs"/>
              </a:rPr>
              <a:t>*</a:t>
            </a:r>
            <a:r>
              <a:rPr kumimoji="0" lang="en-US" altLang="zh-CN" sz="2800" b="0" i="0" u="none" strike="noStrike" kern="1200" cap="none" spc="0" normalizeH="0" baseline="0" noProof="0" dirty="0">
                <a:ln>
                  <a:noFill/>
                </a:ln>
                <a:solidFill>
                  <a:prstClr val="black"/>
                </a:solidFill>
                <a:effectLst/>
                <a:uLnTx/>
                <a:uFillTx/>
                <a:latin typeface="+mn-ea"/>
                <a:ea typeface="+mn-ea"/>
                <a:cs typeface="+mn-cs"/>
              </a:rPr>
              <a:t>3+5</a:t>
            </a:r>
            <a:r>
              <a:rPr kumimoji="0" lang="zh-CN" altLang="en-US" sz="2800" b="0" i="0" u="none" strike="noStrike" kern="1200" cap="none" spc="0" normalizeH="0" baseline="0" noProof="0" dirty="0">
                <a:ln>
                  <a:noFill/>
                </a:ln>
                <a:solidFill>
                  <a:prstClr val="black"/>
                </a:solidFill>
                <a:effectLst/>
                <a:uLnTx/>
                <a:uFillTx/>
                <a:latin typeface="+mn-ea"/>
                <a:ea typeface="+mn-ea"/>
                <a:cs typeface="+mn-cs"/>
              </a:rPr>
              <a:t>*</a:t>
            </a:r>
            <a:r>
              <a:rPr kumimoji="0" lang="en-US" altLang="zh-CN" sz="2800" b="0" i="0" u="none" strike="noStrike" kern="1200" cap="none" spc="0" normalizeH="0" baseline="0" noProof="0" dirty="0">
                <a:ln>
                  <a:noFill/>
                </a:ln>
                <a:solidFill>
                  <a:prstClr val="black"/>
                </a:solidFill>
                <a:effectLst/>
                <a:uLnTx/>
                <a:uFillTx/>
                <a:latin typeface="+mn-ea"/>
                <a:ea typeface="+mn-ea"/>
                <a:cs typeface="+mn-cs"/>
              </a:rPr>
              <a:t>3 + 10</a:t>
            </a:r>
            <a:r>
              <a:rPr kumimoji="0" lang="zh-CN" altLang="en-US" sz="2800" b="0" i="0" u="none" strike="noStrike" kern="1200" cap="none" spc="0" normalizeH="0" baseline="0" noProof="0" dirty="0">
                <a:ln>
                  <a:noFill/>
                </a:ln>
                <a:solidFill>
                  <a:prstClr val="black"/>
                </a:solidFill>
                <a:effectLst/>
                <a:uLnTx/>
                <a:uFillTx/>
                <a:latin typeface="+mn-ea"/>
                <a:ea typeface="+mn-ea"/>
                <a:cs typeface="+mn-cs"/>
              </a:rPr>
              <a:t>*</a:t>
            </a:r>
            <a:r>
              <a:rPr kumimoji="0" lang="en-US" altLang="zh-CN" sz="2800" b="0" i="0" u="none" strike="noStrike" kern="1200" cap="none" spc="0" normalizeH="0" baseline="0" noProof="0" dirty="0">
                <a:ln>
                  <a:noFill/>
                </a:ln>
                <a:solidFill>
                  <a:prstClr val="black"/>
                </a:solidFill>
                <a:effectLst/>
                <a:uLnTx/>
                <a:uFillTx/>
                <a:latin typeface="+mn-ea"/>
                <a:ea typeface="+mn-ea"/>
                <a:cs typeface="+mn-cs"/>
              </a:rPr>
              <a:t>2 + 12</a:t>
            </a:r>
            <a:r>
              <a:rPr kumimoji="0" lang="zh-CN" altLang="en-US" sz="2800" b="0" i="0" u="none" strike="noStrike" kern="1200" cap="none" spc="0" normalizeH="0" baseline="0" noProof="0" dirty="0">
                <a:ln>
                  <a:noFill/>
                </a:ln>
                <a:solidFill>
                  <a:prstClr val="black"/>
                </a:solidFill>
                <a:effectLst/>
                <a:uLnTx/>
                <a:uFillTx/>
                <a:latin typeface="+mn-ea"/>
                <a:ea typeface="+mn-ea"/>
                <a:cs typeface="+mn-cs"/>
              </a:rPr>
              <a:t>*</a:t>
            </a:r>
            <a:r>
              <a:rPr kumimoji="0" lang="en-US" altLang="zh-CN" sz="2800" b="0" i="0" u="none" strike="noStrike" kern="1200" cap="none" spc="0" normalizeH="0" baseline="0" noProof="0" dirty="0">
                <a:ln>
                  <a:noFill/>
                </a:ln>
                <a:solidFill>
                  <a:prstClr val="black"/>
                </a:solidFill>
                <a:effectLst/>
                <a:uLnTx/>
                <a:uFillTx/>
                <a:latin typeface="+mn-ea"/>
                <a:ea typeface="+mn-ea"/>
                <a:cs typeface="+mn-cs"/>
              </a:rPr>
              <a:t>2</a:t>
            </a:r>
            <a:endParaRPr lang="zh-CN" altLang="en-US" sz="2800" dirty="0">
              <a:latin typeface="+mn-ea"/>
              <a:ea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3" name="Rectangle 5">
            <a:extLst>
              <a:ext uri="{FF2B5EF4-FFF2-40B4-BE49-F238E27FC236}">
                <a16:creationId xmlns:a16="http://schemas.microsoft.com/office/drawing/2014/main" id="{94D045E3-A1D7-42EE-B350-62AC8A7C1F10}"/>
              </a:ext>
            </a:extLst>
          </p:cNvPr>
          <p:cNvSpPr>
            <a:spLocks noGrp="1" noChangeArrowheads="1"/>
          </p:cNvSpPr>
          <p:nvPr>
            <p:ph type="body" idx="1"/>
          </p:nvPr>
        </p:nvSpPr>
        <p:spPr>
          <a:xfrm>
            <a:off x="539552" y="1196752"/>
            <a:ext cx="8763000" cy="4114800"/>
          </a:xfrm>
        </p:spPr>
        <p:txBody>
          <a:bodyPr/>
          <a:lstStyle/>
          <a:p>
            <a:pPr marL="0" indent="0" eaLnBrk="1" hangingPunct="1">
              <a:spcBef>
                <a:spcPct val="50000"/>
              </a:spcBef>
              <a:buNone/>
            </a:pPr>
            <a:r>
              <a:rPr lang="zh-CN" altLang="en-US" dirty="0">
                <a:latin typeface="黑体" panose="02010609060101010101" pitchFamily="49" charset="-122"/>
                <a:ea typeface="黑体" panose="02010609060101010101" pitchFamily="49" charset="-122"/>
              </a:rPr>
              <a:t>设给出一段报文：</a:t>
            </a:r>
            <a:r>
              <a:rPr lang="en-US" altLang="zh-CN" sz="2800" dirty="0">
                <a:latin typeface="黑体" panose="02010609060101010101" pitchFamily="49" charset="-122"/>
                <a:ea typeface="黑体" panose="02010609060101010101" pitchFamily="49" charset="-122"/>
              </a:rPr>
              <a:t>GOOD_GOOD_GOOD_GOOOOOOOO_OFF</a:t>
            </a:r>
          </a:p>
          <a:p>
            <a:pPr marL="0" indent="0" eaLnBrk="1" hangingPunct="1">
              <a:spcBef>
                <a:spcPct val="50000"/>
              </a:spcBef>
              <a:buNone/>
            </a:pPr>
            <a:r>
              <a:rPr lang="zh-CN" altLang="en-US" dirty="0">
                <a:latin typeface="黑体" panose="02010609060101010101" pitchFamily="49" charset="-122"/>
                <a:ea typeface="黑体" panose="02010609060101010101" pitchFamily="49" charset="-122"/>
              </a:rPr>
              <a:t>字符集合是 { </a:t>
            </a:r>
            <a:r>
              <a:rPr lang="en-US" altLang="zh-CN" dirty="0">
                <a:latin typeface="黑体" panose="02010609060101010101" pitchFamily="49" charset="-122"/>
                <a:ea typeface="黑体" panose="02010609060101010101" pitchFamily="49" charset="-122"/>
              </a:rPr>
              <a:t>O, G, _, D, F}，</a:t>
            </a:r>
            <a:r>
              <a:rPr lang="zh-CN" altLang="en-US" dirty="0">
                <a:latin typeface="黑体" panose="02010609060101010101" pitchFamily="49" charset="-122"/>
                <a:ea typeface="黑体" panose="02010609060101010101" pitchFamily="49" charset="-122"/>
              </a:rPr>
              <a:t>各个字符出现的频度(次数)是 </a:t>
            </a:r>
            <a:r>
              <a:rPr lang="en-US" altLang="zh-CN" dirty="0">
                <a:latin typeface="黑体" panose="02010609060101010101" pitchFamily="49" charset="-122"/>
                <a:ea typeface="黑体" panose="02010609060101010101" pitchFamily="49" charset="-122"/>
              </a:rPr>
              <a:t>W＝{ 15, 4, 4, 3, 2}。</a:t>
            </a:r>
          </a:p>
          <a:p>
            <a:pPr marL="0" indent="0" eaLnBrk="1" hangingPunct="1">
              <a:spcBef>
                <a:spcPct val="50000"/>
              </a:spcBef>
              <a:buNone/>
            </a:pPr>
            <a:r>
              <a:rPr lang="zh-CN" altLang="en-US" dirty="0">
                <a:latin typeface="黑体" panose="02010609060101010101" pitchFamily="49" charset="-122"/>
                <a:ea typeface="黑体" panose="02010609060101010101" pitchFamily="49" charset="-122"/>
              </a:rPr>
              <a:t>若给每个字符以等长编码</a:t>
            </a:r>
          </a:p>
          <a:p>
            <a:pPr marL="0" indent="0" eaLnBrk="1" hangingPunct="1">
              <a:spcBef>
                <a:spcPct val="50000"/>
              </a:spcBef>
              <a:buNone/>
            </a:pPr>
            <a:r>
              <a:rPr lang="en-US" altLang="zh-CN" dirty="0">
                <a:latin typeface="黑体" panose="02010609060101010101" pitchFamily="49" charset="-122"/>
                <a:ea typeface="黑体" panose="02010609060101010101" pitchFamily="49" charset="-122"/>
              </a:rPr>
              <a:t>	O: 000  G: 001  _: 010   D: 011   F: 100</a:t>
            </a:r>
          </a:p>
          <a:p>
            <a:pPr marL="0" indent="0" eaLnBrk="1" hangingPunct="1">
              <a:spcBef>
                <a:spcPct val="50000"/>
              </a:spcBef>
              <a:buNone/>
            </a:pPr>
            <a:r>
              <a:rPr lang="zh-CN" altLang="en-US" dirty="0">
                <a:latin typeface="黑体" panose="02010609060101010101" pitchFamily="49" charset="-122"/>
                <a:ea typeface="黑体" panose="02010609060101010101" pitchFamily="49" charset="-122"/>
              </a:rPr>
              <a:t>则总编码长度为 (1</a:t>
            </a:r>
            <a:r>
              <a:rPr lang="en-US" altLang="zh-CN" dirty="0">
                <a:latin typeface="黑体" panose="02010609060101010101" pitchFamily="49" charset="-122"/>
                <a:ea typeface="黑体" panose="02010609060101010101" pitchFamily="49" charset="-122"/>
              </a:rPr>
              <a:t>5+4+4+3+2) * 3 = 84</a:t>
            </a:r>
            <a:r>
              <a:rPr lang="zh-CN" altLang="en-US" dirty="0">
                <a:latin typeface="黑体" panose="02010609060101010101" pitchFamily="49" charset="-122"/>
                <a:ea typeface="黑体" panose="02010609060101010101" pitchFamily="49" charset="-122"/>
              </a:rPr>
              <a:t>。</a:t>
            </a:r>
            <a:endParaRPr lang="en-US" altLang="zh-CN" dirty="0">
              <a:latin typeface="黑体" panose="02010609060101010101" pitchFamily="49" charset="-122"/>
              <a:ea typeface="黑体" panose="02010609060101010101" pitchFamily="49" charset="-122"/>
            </a:endParaRPr>
          </a:p>
        </p:txBody>
      </p:sp>
      <p:sp>
        <p:nvSpPr>
          <p:cNvPr id="2" name="Text Box 3">
            <a:extLst>
              <a:ext uri="{FF2B5EF4-FFF2-40B4-BE49-F238E27FC236}">
                <a16:creationId xmlns:a16="http://schemas.microsoft.com/office/drawing/2014/main" id="{F6FE8D22-B418-4DE3-850E-BF1F70282F7A}"/>
              </a:ext>
            </a:extLst>
          </p:cNvPr>
          <p:cNvSpPr txBox="1">
            <a:spLocks noChangeArrowheads="1"/>
          </p:cNvSpPr>
          <p:nvPr/>
        </p:nvSpPr>
        <p:spPr bwMode="auto">
          <a:xfrm>
            <a:off x="395536" y="188640"/>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三、</a:t>
            </a:r>
            <a:r>
              <a:rPr lang="en-US" altLang="zh-CN" sz="4400" i="0" dirty="0">
                <a:solidFill>
                  <a:schemeClr val="tx2"/>
                </a:solidFill>
                <a:ea typeface="隶书" pitchFamily="49" charset="-122"/>
              </a:rPr>
              <a:t>Huffman</a:t>
            </a:r>
            <a:r>
              <a:rPr lang="zh-CN" altLang="en-US" sz="4400" i="0" dirty="0">
                <a:solidFill>
                  <a:schemeClr val="tx2"/>
                </a:solidFill>
                <a:ea typeface="隶书" pitchFamily="49" charset="-122"/>
              </a:rPr>
              <a:t>编码</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83973">
                                            <p:txEl>
                                              <p:pRg st="2" end="2"/>
                                            </p:txEl>
                                          </p:spTgt>
                                        </p:tgtEl>
                                        <p:attrNameLst>
                                          <p:attrName>style.visibility</p:attrName>
                                        </p:attrNameLst>
                                      </p:cBhvr>
                                      <p:to>
                                        <p:strVal val="visible"/>
                                      </p:to>
                                    </p:set>
                                    <p:animEffect transition="in" filter="blinds(horizontal)">
                                      <p:cBhvr>
                                        <p:cTn id="7" dur="500"/>
                                        <p:tgtEl>
                                          <p:spTgt spid="83973">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83973">
                                            <p:txEl>
                                              <p:pRg st="3" end="3"/>
                                            </p:txEl>
                                          </p:spTgt>
                                        </p:tgtEl>
                                        <p:attrNameLst>
                                          <p:attrName>style.visibility</p:attrName>
                                        </p:attrNameLst>
                                      </p:cBhvr>
                                      <p:to>
                                        <p:strVal val="visible"/>
                                      </p:to>
                                    </p:set>
                                    <p:animEffect transition="in" filter="blinds(horizontal)">
                                      <p:cBhvr>
                                        <p:cTn id="10" dur="500"/>
                                        <p:tgtEl>
                                          <p:spTgt spid="83973">
                                            <p:txEl>
                                              <p:pRg st="3" end="3"/>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83973">
                                            <p:txEl>
                                              <p:pRg st="4" end="4"/>
                                            </p:txEl>
                                          </p:spTgt>
                                        </p:tgtEl>
                                        <p:attrNameLst>
                                          <p:attrName>style.visibility</p:attrName>
                                        </p:attrNameLst>
                                      </p:cBhvr>
                                      <p:to>
                                        <p:strVal val="visible"/>
                                      </p:to>
                                    </p:set>
                                    <p:animEffect transition="in" filter="blinds(horizontal)">
                                      <p:cBhvr>
                                        <p:cTn id="15" dur="500"/>
                                        <p:tgtEl>
                                          <p:spTgt spid="8397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7" name="Rectangle 5">
            <a:extLst>
              <a:ext uri="{FF2B5EF4-FFF2-40B4-BE49-F238E27FC236}">
                <a16:creationId xmlns:a16="http://schemas.microsoft.com/office/drawing/2014/main" id="{757607D7-CCF6-4054-B612-FEBB29A7FD53}"/>
              </a:ext>
            </a:extLst>
          </p:cNvPr>
          <p:cNvSpPr>
            <a:spLocks noGrp="1" noChangeArrowheads="1"/>
          </p:cNvSpPr>
          <p:nvPr>
            <p:ph type="body" idx="1"/>
          </p:nvPr>
        </p:nvSpPr>
        <p:spPr>
          <a:xfrm>
            <a:off x="539552" y="1268760"/>
            <a:ext cx="8458200" cy="4114800"/>
          </a:xfrm>
        </p:spPr>
        <p:txBody>
          <a:bodyPr/>
          <a:lstStyle/>
          <a:p>
            <a:pPr eaLnBrk="1" hangingPunct="1">
              <a:spcBef>
                <a:spcPct val="50000"/>
              </a:spcBef>
            </a:pPr>
            <a:r>
              <a:rPr lang="zh-CN" altLang="en-US" dirty="0">
                <a:latin typeface="黑体" panose="02010609060101010101" pitchFamily="49" charset="-122"/>
                <a:ea typeface="黑体" panose="02010609060101010101" pitchFamily="49" charset="-122"/>
              </a:rPr>
              <a:t>若按各个字符出现的概率不同而给予不等长编码，可望减少总编码长度。</a:t>
            </a:r>
          </a:p>
          <a:p>
            <a:pPr eaLnBrk="1" hangingPunct="1">
              <a:spcBef>
                <a:spcPct val="50000"/>
              </a:spcBef>
            </a:pPr>
            <a:r>
              <a:rPr lang="zh-CN" altLang="en-US" dirty="0">
                <a:latin typeface="黑体" panose="02010609060101010101" pitchFamily="49" charset="-122"/>
                <a:ea typeface="黑体" panose="02010609060101010101" pitchFamily="49" charset="-122"/>
              </a:rPr>
              <a:t>各字符{ </a:t>
            </a:r>
            <a:r>
              <a:rPr lang="en-US" altLang="zh-CN" dirty="0">
                <a:latin typeface="黑体" panose="02010609060101010101" pitchFamily="49" charset="-122"/>
                <a:ea typeface="黑体" panose="02010609060101010101" pitchFamily="49" charset="-122"/>
              </a:rPr>
              <a:t>O, G, _, D, F }</a:t>
            </a:r>
            <a:r>
              <a:rPr lang="zh-CN" altLang="en-US" dirty="0">
                <a:latin typeface="黑体" panose="02010609060101010101" pitchFamily="49" charset="-122"/>
                <a:ea typeface="黑体" panose="02010609060101010101" pitchFamily="49" charset="-122"/>
              </a:rPr>
              <a:t>出现频度为{ 1</a:t>
            </a:r>
            <a:r>
              <a:rPr lang="en-US" altLang="zh-CN" dirty="0">
                <a:latin typeface="黑体" panose="02010609060101010101" pitchFamily="49" charset="-122"/>
                <a:ea typeface="黑体" panose="02010609060101010101" pitchFamily="49" charset="-122"/>
              </a:rPr>
              <a:t>5, 4, 4, 3, 2 }</a:t>
            </a:r>
            <a:r>
              <a:rPr lang="zh-CN" altLang="en-US" dirty="0">
                <a:latin typeface="黑体" panose="02010609060101010101" pitchFamily="49" charset="-122"/>
                <a:ea typeface="黑体" panose="02010609060101010101" pitchFamily="49" charset="-122"/>
              </a:rPr>
              <a:t>，出现频度大的码值短。</a:t>
            </a:r>
            <a:endParaRPr lang="en-US" altLang="zh-CN" dirty="0">
              <a:latin typeface="黑体" panose="02010609060101010101" pitchFamily="49" charset="-122"/>
              <a:ea typeface="黑体" panose="02010609060101010101" pitchFamily="49" charset="-122"/>
            </a:endParaRPr>
          </a:p>
          <a:p>
            <a:pPr eaLnBrk="1" hangingPunct="1">
              <a:spcBef>
                <a:spcPct val="50000"/>
              </a:spcBef>
            </a:pPr>
            <a:r>
              <a:rPr lang="zh-CN" altLang="en-US" dirty="0">
                <a:latin typeface="黑体" panose="02010609060101010101" pitchFamily="49" charset="-122"/>
                <a:ea typeface="黑体" panose="02010609060101010101" pitchFamily="49" charset="-122"/>
              </a:rPr>
              <a:t>以字符频度为权值，构建</a:t>
            </a:r>
            <a:r>
              <a:rPr lang="en-US" altLang="zh-CN" dirty="0">
                <a:latin typeface="黑体" panose="02010609060101010101" pitchFamily="49" charset="-122"/>
                <a:ea typeface="黑体" panose="02010609060101010101" pitchFamily="49" charset="-122"/>
              </a:rPr>
              <a:t>Huffman</a:t>
            </a:r>
            <a:r>
              <a:rPr lang="zh-CN" altLang="en-US" dirty="0">
                <a:latin typeface="黑体" panose="02010609060101010101" pitchFamily="49" charset="-122"/>
                <a:ea typeface="黑体" panose="02010609060101010101" pitchFamily="49" charset="-122"/>
              </a:rPr>
              <a:t>树</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约定</a:t>
            </a:r>
            <a:r>
              <a:rPr lang="en-US" altLang="zh-CN" dirty="0">
                <a:latin typeface="黑体" panose="02010609060101010101" pitchFamily="49" charset="-122"/>
                <a:ea typeface="黑体" panose="02010609060101010101" pitchFamily="49" charset="-122"/>
              </a:rPr>
              <a:t>Huffman</a:t>
            </a:r>
            <a:r>
              <a:rPr lang="zh-CN" altLang="en-US" dirty="0">
                <a:latin typeface="黑体" panose="02010609060101010101" pitchFamily="49" charset="-122"/>
                <a:ea typeface="黑体" panose="02010609060101010101" pitchFamily="49" charset="-122"/>
              </a:rPr>
              <a:t>树的左子树小于右子树</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a:t>
            </a:r>
            <a:endParaRPr lang="en-US" altLang="zh-CN" dirty="0">
              <a:latin typeface="黑体" panose="02010609060101010101" pitchFamily="49" charset="-122"/>
              <a:ea typeface="黑体" panose="02010609060101010101" pitchFamily="49" charset="-122"/>
            </a:endParaRPr>
          </a:p>
        </p:txBody>
      </p:sp>
      <p:sp>
        <p:nvSpPr>
          <p:cNvPr id="2" name="Text Box 3">
            <a:extLst>
              <a:ext uri="{FF2B5EF4-FFF2-40B4-BE49-F238E27FC236}">
                <a16:creationId xmlns:a16="http://schemas.microsoft.com/office/drawing/2014/main" id="{E28AF251-4C3D-40F3-AE55-BEACA6BB5866}"/>
              </a:ext>
            </a:extLst>
          </p:cNvPr>
          <p:cNvSpPr txBox="1">
            <a:spLocks noChangeArrowheads="1"/>
          </p:cNvSpPr>
          <p:nvPr/>
        </p:nvSpPr>
        <p:spPr bwMode="auto">
          <a:xfrm>
            <a:off x="342900" y="148814"/>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三、</a:t>
            </a:r>
            <a:r>
              <a:rPr lang="en-US" altLang="zh-CN" sz="4400" i="0" dirty="0">
                <a:solidFill>
                  <a:schemeClr val="tx2"/>
                </a:solidFill>
                <a:ea typeface="隶书" pitchFamily="49" charset="-122"/>
              </a:rPr>
              <a:t>Huffman</a:t>
            </a:r>
            <a:r>
              <a:rPr lang="zh-CN" altLang="en-US" sz="4400" i="0" dirty="0">
                <a:solidFill>
                  <a:schemeClr val="tx2"/>
                </a:solidFill>
                <a:ea typeface="隶书" pitchFamily="49" charset="-122"/>
              </a:rPr>
              <a:t>编码</a:t>
            </a:r>
          </a:p>
        </p:txBody>
      </p:sp>
      <p:grpSp>
        <p:nvGrpSpPr>
          <p:cNvPr id="3" name="Group 7">
            <a:extLst>
              <a:ext uri="{FF2B5EF4-FFF2-40B4-BE49-F238E27FC236}">
                <a16:creationId xmlns:a16="http://schemas.microsoft.com/office/drawing/2014/main" id="{33DA3045-425D-7D21-5A74-092F0A2945F2}"/>
              </a:ext>
            </a:extLst>
          </p:cNvPr>
          <p:cNvGrpSpPr>
            <a:grpSpLocks/>
          </p:cNvGrpSpPr>
          <p:nvPr/>
        </p:nvGrpSpPr>
        <p:grpSpPr bwMode="auto">
          <a:xfrm>
            <a:off x="6231135" y="4283152"/>
            <a:ext cx="2373313" cy="2417763"/>
            <a:chOff x="0" y="0"/>
            <a:chExt cx="1495" cy="1523"/>
          </a:xfrm>
        </p:grpSpPr>
        <p:sp>
          <p:nvSpPr>
            <p:cNvPr id="4" name="Line 8">
              <a:extLst>
                <a:ext uri="{FF2B5EF4-FFF2-40B4-BE49-F238E27FC236}">
                  <a16:creationId xmlns:a16="http://schemas.microsoft.com/office/drawing/2014/main" id="{77CA4214-D96B-0CC5-578B-18E49B732D0A}"/>
                </a:ext>
              </a:extLst>
            </p:cNvPr>
            <p:cNvSpPr>
              <a:spLocks noChangeShapeType="1"/>
            </p:cNvSpPr>
            <p:nvPr/>
          </p:nvSpPr>
          <p:spPr bwMode="auto">
            <a:xfrm>
              <a:off x="1096" y="227"/>
              <a:ext cx="264" cy="300"/>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5" name="Line 9">
              <a:extLst>
                <a:ext uri="{FF2B5EF4-FFF2-40B4-BE49-F238E27FC236}">
                  <a16:creationId xmlns:a16="http://schemas.microsoft.com/office/drawing/2014/main" id="{C7E60827-64F2-9130-677B-9825C25FA526}"/>
                </a:ext>
              </a:extLst>
            </p:cNvPr>
            <p:cNvSpPr>
              <a:spLocks noChangeShapeType="1"/>
            </p:cNvSpPr>
            <p:nvPr/>
          </p:nvSpPr>
          <p:spPr bwMode="auto">
            <a:xfrm flipH="1">
              <a:off x="780" y="182"/>
              <a:ext cx="230" cy="277"/>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6" name="Line 10">
              <a:extLst>
                <a:ext uri="{FF2B5EF4-FFF2-40B4-BE49-F238E27FC236}">
                  <a16:creationId xmlns:a16="http://schemas.microsoft.com/office/drawing/2014/main" id="{343D8F96-8A2F-4DC3-E54A-028F14EC175F}"/>
                </a:ext>
              </a:extLst>
            </p:cNvPr>
            <p:cNvSpPr>
              <a:spLocks noChangeShapeType="1"/>
            </p:cNvSpPr>
            <p:nvPr/>
          </p:nvSpPr>
          <p:spPr bwMode="auto">
            <a:xfrm>
              <a:off x="784" y="636"/>
              <a:ext cx="272" cy="185"/>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 name="Line 11">
              <a:extLst>
                <a:ext uri="{FF2B5EF4-FFF2-40B4-BE49-F238E27FC236}">
                  <a16:creationId xmlns:a16="http://schemas.microsoft.com/office/drawing/2014/main" id="{D114D185-18FB-391B-DFC0-85095EB7FACB}"/>
                </a:ext>
              </a:extLst>
            </p:cNvPr>
            <p:cNvSpPr>
              <a:spLocks noChangeShapeType="1"/>
            </p:cNvSpPr>
            <p:nvPr/>
          </p:nvSpPr>
          <p:spPr bwMode="auto">
            <a:xfrm flipH="1">
              <a:off x="416" y="630"/>
              <a:ext cx="279" cy="191"/>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8" name="Rectangle 12">
              <a:extLst>
                <a:ext uri="{FF2B5EF4-FFF2-40B4-BE49-F238E27FC236}">
                  <a16:creationId xmlns:a16="http://schemas.microsoft.com/office/drawing/2014/main" id="{77B9AB40-8BAD-AE04-B8D3-5A0C3F3A4267}"/>
                </a:ext>
              </a:extLst>
            </p:cNvPr>
            <p:cNvSpPr>
              <a:spLocks noChangeArrowheads="1"/>
            </p:cNvSpPr>
            <p:nvPr/>
          </p:nvSpPr>
          <p:spPr bwMode="auto">
            <a:xfrm>
              <a:off x="1214" y="450"/>
              <a:ext cx="240" cy="181"/>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9" name="Oval 13">
              <a:extLst>
                <a:ext uri="{FF2B5EF4-FFF2-40B4-BE49-F238E27FC236}">
                  <a16:creationId xmlns:a16="http://schemas.microsoft.com/office/drawing/2014/main" id="{A8CCE31E-5ED9-ACE8-8ECD-7E5825BBD78E}"/>
                </a:ext>
              </a:extLst>
            </p:cNvPr>
            <p:cNvSpPr>
              <a:spLocks noChangeArrowheads="1"/>
            </p:cNvSpPr>
            <p:nvPr/>
          </p:nvSpPr>
          <p:spPr bwMode="auto">
            <a:xfrm>
              <a:off x="595" y="452"/>
              <a:ext cx="289" cy="217"/>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10" name="Oval 14">
              <a:extLst>
                <a:ext uri="{FF2B5EF4-FFF2-40B4-BE49-F238E27FC236}">
                  <a16:creationId xmlns:a16="http://schemas.microsoft.com/office/drawing/2014/main" id="{CA667879-AE81-CDCA-3D2E-CD09A0E64620}"/>
                </a:ext>
              </a:extLst>
            </p:cNvPr>
            <p:cNvSpPr>
              <a:spLocks noChangeArrowheads="1"/>
            </p:cNvSpPr>
            <p:nvPr/>
          </p:nvSpPr>
          <p:spPr bwMode="auto">
            <a:xfrm>
              <a:off x="883" y="0"/>
              <a:ext cx="289" cy="217"/>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11" name="Line 15">
              <a:extLst>
                <a:ext uri="{FF2B5EF4-FFF2-40B4-BE49-F238E27FC236}">
                  <a16:creationId xmlns:a16="http://schemas.microsoft.com/office/drawing/2014/main" id="{D05432D5-F7C0-6149-E157-CD0ECB411297}"/>
                </a:ext>
              </a:extLst>
            </p:cNvPr>
            <p:cNvSpPr>
              <a:spLocks noChangeShapeType="1"/>
            </p:cNvSpPr>
            <p:nvPr/>
          </p:nvSpPr>
          <p:spPr bwMode="auto">
            <a:xfrm>
              <a:off x="1196" y="949"/>
              <a:ext cx="145" cy="217"/>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12" name="Line 16">
              <a:extLst>
                <a:ext uri="{FF2B5EF4-FFF2-40B4-BE49-F238E27FC236}">
                  <a16:creationId xmlns:a16="http://schemas.microsoft.com/office/drawing/2014/main" id="{25016D07-381C-D57D-16E0-BA42BF2DC50C}"/>
                </a:ext>
              </a:extLst>
            </p:cNvPr>
            <p:cNvSpPr>
              <a:spLocks noChangeShapeType="1"/>
            </p:cNvSpPr>
            <p:nvPr/>
          </p:nvSpPr>
          <p:spPr bwMode="auto">
            <a:xfrm flipH="1">
              <a:off x="959" y="949"/>
              <a:ext cx="145" cy="217"/>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13" name="Rectangle 17">
              <a:extLst>
                <a:ext uri="{FF2B5EF4-FFF2-40B4-BE49-F238E27FC236}">
                  <a16:creationId xmlns:a16="http://schemas.microsoft.com/office/drawing/2014/main" id="{B266F056-37F5-4453-C69C-020B7C33AFA7}"/>
                </a:ext>
              </a:extLst>
            </p:cNvPr>
            <p:cNvSpPr>
              <a:spLocks noChangeArrowheads="1"/>
            </p:cNvSpPr>
            <p:nvPr/>
          </p:nvSpPr>
          <p:spPr bwMode="auto">
            <a:xfrm>
              <a:off x="816" y="1127"/>
              <a:ext cx="241" cy="181"/>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14" name="Rectangle 18">
              <a:extLst>
                <a:ext uri="{FF2B5EF4-FFF2-40B4-BE49-F238E27FC236}">
                  <a16:creationId xmlns:a16="http://schemas.microsoft.com/office/drawing/2014/main" id="{C35C5EAC-F788-27F1-7D16-A27A319B997A}"/>
                </a:ext>
              </a:extLst>
            </p:cNvPr>
            <p:cNvSpPr>
              <a:spLocks noChangeArrowheads="1"/>
            </p:cNvSpPr>
            <p:nvPr/>
          </p:nvSpPr>
          <p:spPr bwMode="auto">
            <a:xfrm>
              <a:off x="1254" y="1127"/>
              <a:ext cx="241" cy="181"/>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p>
          </p:txBody>
        </p:sp>
        <p:sp>
          <p:nvSpPr>
            <p:cNvPr id="15" name="Oval 19">
              <a:extLst>
                <a:ext uri="{FF2B5EF4-FFF2-40B4-BE49-F238E27FC236}">
                  <a16:creationId xmlns:a16="http://schemas.microsoft.com/office/drawing/2014/main" id="{D9D5949B-8F0C-ABFD-ABCF-58B7AD937F52}"/>
                </a:ext>
              </a:extLst>
            </p:cNvPr>
            <p:cNvSpPr>
              <a:spLocks noChangeArrowheads="1"/>
            </p:cNvSpPr>
            <p:nvPr/>
          </p:nvSpPr>
          <p:spPr bwMode="auto">
            <a:xfrm>
              <a:off x="1005" y="771"/>
              <a:ext cx="289" cy="218"/>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16" name="Text Box 20">
              <a:extLst>
                <a:ext uri="{FF2B5EF4-FFF2-40B4-BE49-F238E27FC236}">
                  <a16:creationId xmlns:a16="http://schemas.microsoft.com/office/drawing/2014/main" id="{E4F94BD7-48DA-C01E-50E6-54C4297E755A}"/>
                </a:ext>
              </a:extLst>
            </p:cNvPr>
            <p:cNvSpPr txBox="1">
              <a:spLocks noChangeArrowheads="1"/>
            </p:cNvSpPr>
            <p:nvPr/>
          </p:nvSpPr>
          <p:spPr bwMode="auto">
            <a:xfrm>
              <a:off x="831" y="1095"/>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a:latin typeface="Times New Roman" panose="02020603050405020304" pitchFamily="18" charset="0"/>
                </a:rPr>
                <a:t>4</a:t>
              </a:r>
              <a:endParaRPr lang="en-US" altLang="zh-CN" sz="2000" i="0">
                <a:latin typeface="Times New Roman" panose="02020603050405020304" pitchFamily="18" charset="0"/>
              </a:endParaRPr>
            </a:p>
          </p:txBody>
        </p:sp>
        <p:sp>
          <p:nvSpPr>
            <p:cNvPr id="17" name="Text Box 21">
              <a:extLst>
                <a:ext uri="{FF2B5EF4-FFF2-40B4-BE49-F238E27FC236}">
                  <a16:creationId xmlns:a16="http://schemas.microsoft.com/office/drawing/2014/main" id="{1A8ADD11-F0F9-9142-B9AE-FE8C400071C8}"/>
                </a:ext>
              </a:extLst>
            </p:cNvPr>
            <p:cNvSpPr txBox="1">
              <a:spLocks noChangeArrowheads="1"/>
            </p:cNvSpPr>
            <p:nvPr/>
          </p:nvSpPr>
          <p:spPr bwMode="auto">
            <a:xfrm>
              <a:off x="1189" y="411"/>
              <a:ext cx="27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000" b="1" i="0">
                  <a:latin typeface="Times New Roman" panose="02020603050405020304" pitchFamily="18" charset="0"/>
                </a:rPr>
                <a:t>1</a:t>
              </a:r>
              <a:r>
                <a:rPr lang="en-US" altLang="zh-CN" sz="2000" b="1" i="0">
                  <a:latin typeface="Times New Roman" panose="02020603050405020304" pitchFamily="18" charset="0"/>
                </a:rPr>
                <a:t>5</a:t>
              </a:r>
              <a:endParaRPr lang="en-US" altLang="zh-CN" sz="2000" i="0">
                <a:latin typeface="Times New Roman" panose="02020603050405020304" pitchFamily="18" charset="0"/>
              </a:endParaRPr>
            </a:p>
          </p:txBody>
        </p:sp>
        <p:sp>
          <p:nvSpPr>
            <p:cNvPr id="18" name="Text Box 22">
              <a:extLst>
                <a:ext uri="{FF2B5EF4-FFF2-40B4-BE49-F238E27FC236}">
                  <a16:creationId xmlns:a16="http://schemas.microsoft.com/office/drawing/2014/main" id="{71F12974-BD24-8315-A19A-3B388C4AFAE6}"/>
                </a:ext>
              </a:extLst>
            </p:cNvPr>
            <p:cNvSpPr txBox="1">
              <a:spLocks noChangeArrowheads="1"/>
            </p:cNvSpPr>
            <p:nvPr/>
          </p:nvSpPr>
          <p:spPr bwMode="auto">
            <a:xfrm>
              <a:off x="1281" y="1095"/>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a:latin typeface="Times New Roman" panose="02020603050405020304" pitchFamily="18" charset="0"/>
                </a:rPr>
                <a:t>4</a:t>
              </a:r>
            </a:p>
          </p:txBody>
        </p:sp>
        <p:sp>
          <p:nvSpPr>
            <p:cNvPr id="19" name="Text Box 23">
              <a:extLst>
                <a:ext uri="{FF2B5EF4-FFF2-40B4-BE49-F238E27FC236}">
                  <a16:creationId xmlns:a16="http://schemas.microsoft.com/office/drawing/2014/main" id="{17D14F02-8DB4-249A-C070-0E03B8DE4D4A}"/>
                </a:ext>
              </a:extLst>
            </p:cNvPr>
            <p:cNvSpPr txBox="1">
              <a:spLocks noChangeArrowheads="1"/>
            </p:cNvSpPr>
            <p:nvPr/>
          </p:nvSpPr>
          <p:spPr bwMode="auto">
            <a:xfrm>
              <a:off x="548" y="428"/>
              <a:ext cx="391"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000" i="0">
                <a:latin typeface="Times New Roman" panose="02020603050405020304" pitchFamily="18" charset="0"/>
              </a:endParaRPr>
            </a:p>
          </p:txBody>
        </p:sp>
        <p:sp>
          <p:nvSpPr>
            <p:cNvPr id="20" name="Text Box 24">
              <a:extLst>
                <a:ext uri="{FF2B5EF4-FFF2-40B4-BE49-F238E27FC236}">
                  <a16:creationId xmlns:a16="http://schemas.microsoft.com/office/drawing/2014/main" id="{3B6279FA-FEE6-7ECA-CAF3-818DB0B80F39}"/>
                </a:ext>
              </a:extLst>
            </p:cNvPr>
            <p:cNvSpPr txBox="1">
              <a:spLocks noChangeArrowheads="1"/>
            </p:cNvSpPr>
            <p:nvPr/>
          </p:nvSpPr>
          <p:spPr bwMode="auto">
            <a:xfrm>
              <a:off x="822" y="2"/>
              <a:ext cx="389"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000" i="0">
                <a:latin typeface="Times New Roman" panose="02020603050405020304" pitchFamily="18" charset="0"/>
              </a:endParaRPr>
            </a:p>
          </p:txBody>
        </p:sp>
        <p:sp>
          <p:nvSpPr>
            <p:cNvPr id="21" name="Line 25">
              <a:extLst>
                <a:ext uri="{FF2B5EF4-FFF2-40B4-BE49-F238E27FC236}">
                  <a16:creationId xmlns:a16="http://schemas.microsoft.com/office/drawing/2014/main" id="{EE184FFC-58CC-8633-66D8-0848229D0805}"/>
                </a:ext>
              </a:extLst>
            </p:cNvPr>
            <p:cNvSpPr>
              <a:spLocks noChangeShapeType="1"/>
            </p:cNvSpPr>
            <p:nvPr/>
          </p:nvSpPr>
          <p:spPr bwMode="auto">
            <a:xfrm>
              <a:off x="380" y="949"/>
              <a:ext cx="145" cy="217"/>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22" name="Line 26">
              <a:extLst>
                <a:ext uri="{FF2B5EF4-FFF2-40B4-BE49-F238E27FC236}">
                  <a16:creationId xmlns:a16="http://schemas.microsoft.com/office/drawing/2014/main" id="{09BC5609-A121-2884-FA7A-6DBD6261B992}"/>
                </a:ext>
              </a:extLst>
            </p:cNvPr>
            <p:cNvSpPr>
              <a:spLocks noChangeShapeType="1"/>
            </p:cNvSpPr>
            <p:nvPr/>
          </p:nvSpPr>
          <p:spPr bwMode="auto">
            <a:xfrm flipH="1">
              <a:off x="143" y="949"/>
              <a:ext cx="145" cy="217"/>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23" name="Rectangle 27">
              <a:extLst>
                <a:ext uri="{FF2B5EF4-FFF2-40B4-BE49-F238E27FC236}">
                  <a16:creationId xmlns:a16="http://schemas.microsoft.com/office/drawing/2014/main" id="{1B8DD0EF-AE42-C1DC-1598-F8A813435528}"/>
                </a:ext>
              </a:extLst>
            </p:cNvPr>
            <p:cNvSpPr>
              <a:spLocks noChangeArrowheads="1"/>
            </p:cNvSpPr>
            <p:nvPr/>
          </p:nvSpPr>
          <p:spPr bwMode="auto">
            <a:xfrm>
              <a:off x="0" y="1127"/>
              <a:ext cx="241" cy="181"/>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24" name="Rectangle 28">
              <a:extLst>
                <a:ext uri="{FF2B5EF4-FFF2-40B4-BE49-F238E27FC236}">
                  <a16:creationId xmlns:a16="http://schemas.microsoft.com/office/drawing/2014/main" id="{111E985A-0B7B-1F07-1587-6F78C323CCA6}"/>
                </a:ext>
              </a:extLst>
            </p:cNvPr>
            <p:cNvSpPr>
              <a:spLocks noChangeArrowheads="1"/>
            </p:cNvSpPr>
            <p:nvPr/>
          </p:nvSpPr>
          <p:spPr bwMode="auto">
            <a:xfrm>
              <a:off x="438" y="1127"/>
              <a:ext cx="241" cy="181"/>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p>
          </p:txBody>
        </p:sp>
        <p:sp>
          <p:nvSpPr>
            <p:cNvPr id="25" name="Oval 29">
              <a:extLst>
                <a:ext uri="{FF2B5EF4-FFF2-40B4-BE49-F238E27FC236}">
                  <a16:creationId xmlns:a16="http://schemas.microsoft.com/office/drawing/2014/main" id="{57D97DF2-5042-9920-BE2B-B3F567DA064D}"/>
                </a:ext>
              </a:extLst>
            </p:cNvPr>
            <p:cNvSpPr>
              <a:spLocks noChangeArrowheads="1"/>
            </p:cNvSpPr>
            <p:nvPr/>
          </p:nvSpPr>
          <p:spPr bwMode="auto">
            <a:xfrm>
              <a:off x="189" y="771"/>
              <a:ext cx="289" cy="218"/>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26" name="Text Box 30">
              <a:extLst>
                <a:ext uri="{FF2B5EF4-FFF2-40B4-BE49-F238E27FC236}">
                  <a16:creationId xmlns:a16="http://schemas.microsoft.com/office/drawing/2014/main" id="{61382C41-D849-2885-C57F-70CE66E557BA}"/>
                </a:ext>
              </a:extLst>
            </p:cNvPr>
            <p:cNvSpPr txBox="1">
              <a:spLocks noChangeArrowheads="1"/>
            </p:cNvSpPr>
            <p:nvPr/>
          </p:nvSpPr>
          <p:spPr bwMode="auto">
            <a:xfrm>
              <a:off x="15" y="1095"/>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a:latin typeface="Times New Roman" panose="02020603050405020304" pitchFamily="18" charset="0"/>
                </a:rPr>
                <a:t>2</a:t>
              </a:r>
              <a:endParaRPr lang="en-US" altLang="zh-CN" sz="2000" i="0">
                <a:latin typeface="Times New Roman" panose="02020603050405020304" pitchFamily="18" charset="0"/>
              </a:endParaRPr>
            </a:p>
          </p:txBody>
        </p:sp>
        <p:sp>
          <p:nvSpPr>
            <p:cNvPr id="27" name="Text Box 31">
              <a:extLst>
                <a:ext uri="{FF2B5EF4-FFF2-40B4-BE49-F238E27FC236}">
                  <a16:creationId xmlns:a16="http://schemas.microsoft.com/office/drawing/2014/main" id="{99E2B553-5D4A-020A-4C48-FBB5A042A7B3}"/>
                </a:ext>
              </a:extLst>
            </p:cNvPr>
            <p:cNvSpPr txBox="1">
              <a:spLocks noChangeArrowheads="1"/>
            </p:cNvSpPr>
            <p:nvPr/>
          </p:nvSpPr>
          <p:spPr bwMode="auto">
            <a:xfrm>
              <a:off x="465" y="1095"/>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a:latin typeface="Times New Roman" panose="02020603050405020304" pitchFamily="18" charset="0"/>
                </a:rPr>
                <a:t>3</a:t>
              </a:r>
            </a:p>
          </p:txBody>
        </p:sp>
        <p:sp>
          <p:nvSpPr>
            <p:cNvPr id="28" name="Text Box 32">
              <a:extLst>
                <a:ext uri="{FF2B5EF4-FFF2-40B4-BE49-F238E27FC236}">
                  <a16:creationId xmlns:a16="http://schemas.microsoft.com/office/drawing/2014/main" id="{1403B71A-69FF-00C9-598D-F0305588D72C}"/>
                </a:ext>
              </a:extLst>
            </p:cNvPr>
            <p:cNvSpPr txBox="1">
              <a:spLocks noChangeArrowheads="1"/>
            </p:cNvSpPr>
            <p:nvPr/>
          </p:nvSpPr>
          <p:spPr bwMode="auto">
            <a:xfrm>
              <a:off x="817" y="1311"/>
              <a:ext cx="21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1600" b="1" i="0">
                  <a:solidFill>
                    <a:srgbClr val="CC0066"/>
                  </a:solidFill>
                  <a:latin typeface="Times New Roman" panose="02020603050405020304" pitchFamily="18" charset="0"/>
                </a:rPr>
                <a:t>G</a:t>
              </a:r>
              <a:endParaRPr lang="en-US" altLang="zh-CN" sz="1600" i="0">
                <a:solidFill>
                  <a:srgbClr val="CC0066"/>
                </a:solidFill>
                <a:latin typeface="Times New Roman" panose="02020603050405020304" pitchFamily="18" charset="0"/>
              </a:endParaRPr>
            </a:p>
          </p:txBody>
        </p:sp>
        <p:sp>
          <p:nvSpPr>
            <p:cNvPr id="29" name="Text Box 33">
              <a:extLst>
                <a:ext uri="{FF2B5EF4-FFF2-40B4-BE49-F238E27FC236}">
                  <a16:creationId xmlns:a16="http://schemas.microsoft.com/office/drawing/2014/main" id="{78705C3C-1340-10DB-BEE1-53B7C15B024E}"/>
                </a:ext>
              </a:extLst>
            </p:cNvPr>
            <p:cNvSpPr txBox="1">
              <a:spLocks noChangeArrowheads="1"/>
            </p:cNvSpPr>
            <p:nvPr/>
          </p:nvSpPr>
          <p:spPr bwMode="auto">
            <a:xfrm>
              <a:off x="1272" y="1259"/>
              <a:ext cx="180"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1600" b="1" i="0">
                  <a:solidFill>
                    <a:srgbClr val="CC0066"/>
                  </a:solidFill>
                  <a:latin typeface="Times New Roman" panose="02020603050405020304" pitchFamily="18" charset="0"/>
                </a:rPr>
                <a:t>_</a:t>
              </a:r>
            </a:p>
          </p:txBody>
        </p:sp>
        <p:sp>
          <p:nvSpPr>
            <p:cNvPr id="30" name="Text Box 34">
              <a:extLst>
                <a:ext uri="{FF2B5EF4-FFF2-40B4-BE49-F238E27FC236}">
                  <a16:creationId xmlns:a16="http://schemas.microsoft.com/office/drawing/2014/main" id="{E98FB903-341A-F895-DA19-36379B52E29A}"/>
                </a:ext>
              </a:extLst>
            </p:cNvPr>
            <p:cNvSpPr txBox="1">
              <a:spLocks noChangeArrowheads="1"/>
            </p:cNvSpPr>
            <p:nvPr/>
          </p:nvSpPr>
          <p:spPr bwMode="auto">
            <a:xfrm>
              <a:off x="3" y="1310"/>
              <a:ext cx="202" cy="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1600" b="1" i="0">
                  <a:solidFill>
                    <a:srgbClr val="CC0066"/>
                  </a:solidFill>
                  <a:latin typeface="Times New Roman" panose="02020603050405020304" pitchFamily="18" charset="0"/>
                </a:rPr>
                <a:t>F</a:t>
              </a:r>
              <a:endParaRPr lang="en-US" altLang="zh-CN" sz="1600" i="0">
                <a:solidFill>
                  <a:srgbClr val="CC0066"/>
                </a:solidFill>
                <a:latin typeface="Times New Roman" panose="02020603050405020304" pitchFamily="18" charset="0"/>
              </a:endParaRPr>
            </a:p>
          </p:txBody>
        </p:sp>
        <p:sp>
          <p:nvSpPr>
            <p:cNvPr id="31" name="Text Box 35">
              <a:extLst>
                <a:ext uri="{FF2B5EF4-FFF2-40B4-BE49-F238E27FC236}">
                  <a16:creationId xmlns:a16="http://schemas.microsoft.com/office/drawing/2014/main" id="{522AF538-4A7A-3040-93EA-4538FEF3E54F}"/>
                </a:ext>
              </a:extLst>
            </p:cNvPr>
            <p:cNvSpPr txBox="1">
              <a:spLocks noChangeArrowheads="1"/>
            </p:cNvSpPr>
            <p:nvPr/>
          </p:nvSpPr>
          <p:spPr bwMode="auto">
            <a:xfrm>
              <a:off x="454" y="1311"/>
              <a:ext cx="208"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1600" b="1" i="0">
                  <a:solidFill>
                    <a:srgbClr val="CC0066"/>
                  </a:solidFill>
                  <a:latin typeface="Times New Roman" panose="02020603050405020304" pitchFamily="18" charset="0"/>
                </a:rPr>
                <a:t>D</a:t>
              </a:r>
            </a:p>
          </p:txBody>
        </p:sp>
        <p:sp>
          <p:nvSpPr>
            <p:cNvPr id="32" name="Text Box 36">
              <a:extLst>
                <a:ext uri="{FF2B5EF4-FFF2-40B4-BE49-F238E27FC236}">
                  <a16:creationId xmlns:a16="http://schemas.microsoft.com/office/drawing/2014/main" id="{CEBDCEAD-2761-18AC-4ABE-75A90631AAC2}"/>
                </a:ext>
              </a:extLst>
            </p:cNvPr>
            <p:cNvSpPr txBox="1">
              <a:spLocks noChangeArrowheads="1"/>
            </p:cNvSpPr>
            <p:nvPr/>
          </p:nvSpPr>
          <p:spPr bwMode="auto">
            <a:xfrm>
              <a:off x="1232" y="630"/>
              <a:ext cx="21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1600" b="1" i="0">
                  <a:solidFill>
                    <a:srgbClr val="CC0066"/>
                  </a:solidFill>
                  <a:latin typeface="Times New Roman" panose="02020603050405020304" pitchFamily="18" charset="0"/>
                </a:rPr>
                <a:t>O</a:t>
              </a: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84997">
                                            <p:txEl>
                                              <p:pRg st="0" end="0"/>
                                            </p:txEl>
                                          </p:spTgt>
                                        </p:tgtEl>
                                        <p:attrNameLst>
                                          <p:attrName>style.visibility</p:attrName>
                                        </p:attrNameLst>
                                      </p:cBhvr>
                                      <p:to>
                                        <p:strVal val="visible"/>
                                      </p:to>
                                    </p:set>
                                    <p:animEffect transition="in" filter="blinds(horizontal)">
                                      <p:cBhvr>
                                        <p:cTn id="7" dur="500"/>
                                        <p:tgtEl>
                                          <p:spTgt spid="8499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84997">
                                            <p:txEl>
                                              <p:pRg st="1" end="1"/>
                                            </p:txEl>
                                          </p:spTgt>
                                        </p:tgtEl>
                                        <p:attrNameLst>
                                          <p:attrName>style.visibility</p:attrName>
                                        </p:attrNameLst>
                                      </p:cBhvr>
                                      <p:to>
                                        <p:strVal val="visible"/>
                                      </p:to>
                                    </p:set>
                                    <p:animEffect transition="in" filter="blinds(horizontal)">
                                      <p:cBhvr>
                                        <p:cTn id="12" dur="500"/>
                                        <p:tgtEl>
                                          <p:spTgt spid="8499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84997">
                                            <p:txEl>
                                              <p:pRg st="2" end="2"/>
                                            </p:txEl>
                                          </p:spTgt>
                                        </p:tgtEl>
                                        <p:attrNameLst>
                                          <p:attrName>style.visibility</p:attrName>
                                        </p:attrNameLst>
                                      </p:cBhvr>
                                      <p:to>
                                        <p:strVal val="visible"/>
                                      </p:to>
                                    </p:set>
                                    <p:animEffect transition="in" filter="blinds(horizontal)">
                                      <p:cBhvr>
                                        <p:cTn id="17" dur="500"/>
                                        <p:tgtEl>
                                          <p:spTgt spid="8499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5" name="Rectangle 5">
            <a:extLst>
              <a:ext uri="{FF2B5EF4-FFF2-40B4-BE49-F238E27FC236}">
                <a16:creationId xmlns:a16="http://schemas.microsoft.com/office/drawing/2014/main" id="{98856687-5262-4426-9BB4-EC274377E93B}"/>
              </a:ext>
            </a:extLst>
          </p:cNvPr>
          <p:cNvSpPr>
            <a:spLocks noGrp="1" noChangeArrowheads="1"/>
          </p:cNvSpPr>
          <p:nvPr>
            <p:ph type="body" idx="1"/>
          </p:nvPr>
        </p:nvSpPr>
        <p:spPr>
          <a:xfrm>
            <a:off x="575048" y="1274768"/>
            <a:ext cx="8568952" cy="2008981"/>
          </a:xfrm>
        </p:spPr>
        <p:txBody>
          <a:bodyPr/>
          <a:lstStyle/>
          <a:p>
            <a:pPr eaLnBrk="1" hangingPunct="1">
              <a:spcBef>
                <a:spcPct val="50000"/>
              </a:spcBef>
            </a:pPr>
            <a:r>
              <a:rPr lang="zh-CN" altLang="en-US" dirty="0">
                <a:latin typeface="黑体" panose="02010609060101010101" pitchFamily="49" charset="-122"/>
                <a:ea typeface="黑体" panose="02010609060101010101" pitchFamily="49" charset="-122"/>
              </a:rPr>
              <a:t>令左孩子分支为编码</a:t>
            </a:r>
            <a:r>
              <a:rPr lang="zh-CN" altLang="en-US" dirty="0">
                <a:latin typeface="Times New Roman" panose="02020603050405020304" pitchFamily="18" charset="0"/>
                <a:ea typeface="黑体" panose="02010609060101010101" pitchFamily="49" charset="-122"/>
              </a:rPr>
              <a:t>‘</a:t>
            </a:r>
            <a:r>
              <a:rPr lang="zh-CN" altLang="en-US" dirty="0">
                <a:latin typeface="黑体" panose="02010609060101010101" pitchFamily="49" charset="-122"/>
                <a:ea typeface="黑体" panose="02010609060101010101" pitchFamily="49" charset="-122"/>
              </a:rPr>
              <a:t>0</a:t>
            </a:r>
            <a:r>
              <a:rPr lang="zh-CN" altLang="en-US" dirty="0">
                <a:latin typeface="Times New Roman" panose="02020603050405020304" pitchFamily="18" charset="0"/>
                <a:ea typeface="黑体" panose="02010609060101010101" pitchFamily="49" charset="-122"/>
              </a:rPr>
              <a:t>’</a:t>
            </a:r>
            <a:r>
              <a:rPr lang="zh-CN" altLang="en-US" dirty="0">
                <a:latin typeface="黑体" panose="02010609060101010101" pitchFamily="49" charset="-122"/>
                <a:ea typeface="黑体" panose="02010609060101010101" pitchFamily="49" charset="-122"/>
              </a:rPr>
              <a:t>，右孩子分支为编码</a:t>
            </a:r>
            <a:r>
              <a:rPr lang="zh-CN" altLang="en-US" dirty="0">
                <a:latin typeface="Times New Roman" panose="02020603050405020304" pitchFamily="18" charset="0"/>
                <a:ea typeface="黑体" panose="02010609060101010101" pitchFamily="49" charset="-122"/>
              </a:rPr>
              <a:t>‘</a:t>
            </a:r>
            <a:r>
              <a:rPr lang="zh-CN" altLang="en-US" dirty="0">
                <a:latin typeface="黑体" panose="02010609060101010101" pitchFamily="49" charset="-122"/>
                <a:ea typeface="黑体" panose="02010609060101010101" pitchFamily="49" charset="-122"/>
              </a:rPr>
              <a:t>1</a:t>
            </a:r>
            <a:r>
              <a:rPr lang="zh-CN" altLang="en-US" dirty="0">
                <a:latin typeface="Times New Roman" panose="02020603050405020304" pitchFamily="18" charset="0"/>
                <a:ea typeface="黑体" panose="02010609060101010101" pitchFamily="49" charset="-122"/>
              </a:rPr>
              <a:t>’</a:t>
            </a:r>
            <a:endParaRPr lang="zh-CN" altLang="en-US" dirty="0">
              <a:latin typeface="黑体" panose="02010609060101010101" pitchFamily="49" charset="-122"/>
              <a:ea typeface="黑体" panose="02010609060101010101" pitchFamily="49" charset="-122"/>
            </a:endParaRPr>
          </a:p>
          <a:p>
            <a:pPr eaLnBrk="1" hangingPunct="1">
              <a:spcBef>
                <a:spcPct val="50000"/>
              </a:spcBef>
            </a:pPr>
            <a:r>
              <a:rPr lang="zh-CN" altLang="en-US" dirty="0">
                <a:latin typeface="黑体" panose="02010609060101010101" pitchFamily="49" charset="-122"/>
                <a:ea typeface="黑体" panose="02010609060101010101" pitchFamily="49" charset="-122"/>
              </a:rPr>
              <a:t>将根结点到叶子结点路径上的分支编码，组合起来，作为该字符的</a:t>
            </a:r>
            <a:r>
              <a:rPr lang="en-US" altLang="zh-CN" dirty="0">
                <a:latin typeface="黑体" panose="02010609060101010101" pitchFamily="49" charset="-122"/>
                <a:ea typeface="黑体" panose="02010609060101010101" pitchFamily="49" charset="-122"/>
              </a:rPr>
              <a:t>Huffman</a:t>
            </a:r>
            <a:r>
              <a:rPr lang="zh-CN" altLang="en-US" dirty="0">
                <a:latin typeface="黑体" panose="02010609060101010101" pitchFamily="49" charset="-122"/>
                <a:ea typeface="黑体" panose="02010609060101010101" pitchFamily="49" charset="-122"/>
              </a:rPr>
              <a:t>码，则可得到：</a:t>
            </a:r>
          </a:p>
          <a:p>
            <a:pPr eaLnBrk="1" hangingPunct="1">
              <a:spcBef>
                <a:spcPct val="0"/>
              </a:spcBef>
              <a:buFont typeface="Wingdings" panose="05000000000000000000" pitchFamily="2" charset="2"/>
              <a:buNone/>
            </a:pPr>
            <a:r>
              <a:rPr lang="en-US" altLang="zh-CN" dirty="0">
                <a:latin typeface="黑体" panose="02010609060101010101" pitchFamily="49" charset="-122"/>
                <a:ea typeface="黑体" panose="02010609060101010101" pitchFamily="49" charset="-122"/>
              </a:rPr>
              <a:t>　 O:1  _:011  G:010  D:001 F:000</a:t>
            </a:r>
          </a:p>
        </p:txBody>
      </p:sp>
      <p:grpSp>
        <p:nvGrpSpPr>
          <p:cNvPr id="107527" name="Group 7">
            <a:extLst>
              <a:ext uri="{FF2B5EF4-FFF2-40B4-BE49-F238E27FC236}">
                <a16:creationId xmlns:a16="http://schemas.microsoft.com/office/drawing/2014/main" id="{A51CFEC3-D607-4E36-AD4D-75980D2CB42B}"/>
              </a:ext>
            </a:extLst>
          </p:cNvPr>
          <p:cNvGrpSpPr>
            <a:grpSpLocks/>
          </p:cNvGrpSpPr>
          <p:nvPr/>
        </p:nvGrpSpPr>
        <p:grpSpPr bwMode="auto">
          <a:xfrm>
            <a:off x="6005239" y="4035033"/>
            <a:ext cx="2447925" cy="2425700"/>
            <a:chOff x="0" y="0"/>
            <a:chExt cx="1542" cy="1528"/>
          </a:xfrm>
        </p:grpSpPr>
        <p:grpSp>
          <p:nvGrpSpPr>
            <p:cNvPr id="107528" name="Group 8">
              <a:extLst>
                <a:ext uri="{FF2B5EF4-FFF2-40B4-BE49-F238E27FC236}">
                  <a16:creationId xmlns:a16="http://schemas.microsoft.com/office/drawing/2014/main" id="{504A9F87-79E3-4578-A38C-30284D0FCFA7}"/>
                </a:ext>
              </a:extLst>
            </p:cNvPr>
            <p:cNvGrpSpPr>
              <a:grpSpLocks/>
            </p:cNvGrpSpPr>
            <p:nvPr/>
          </p:nvGrpSpPr>
          <p:grpSpPr bwMode="auto">
            <a:xfrm>
              <a:off x="0" y="0"/>
              <a:ext cx="1542" cy="1343"/>
              <a:chOff x="0" y="0"/>
              <a:chExt cx="1542" cy="1343"/>
            </a:xfrm>
          </p:grpSpPr>
          <p:grpSp>
            <p:nvGrpSpPr>
              <p:cNvPr id="107534" name="Group 9">
                <a:extLst>
                  <a:ext uri="{FF2B5EF4-FFF2-40B4-BE49-F238E27FC236}">
                    <a16:creationId xmlns:a16="http://schemas.microsoft.com/office/drawing/2014/main" id="{B358B239-6A1A-47ED-804C-96CB1079EEEB}"/>
                  </a:ext>
                </a:extLst>
              </p:cNvPr>
              <p:cNvGrpSpPr>
                <a:grpSpLocks/>
              </p:cNvGrpSpPr>
              <p:nvPr/>
            </p:nvGrpSpPr>
            <p:grpSpPr bwMode="auto">
              <a:xfrm>
                <a:off x="0" y="0"/>
                <a:ext cx="1491" cy="1343"/>
                <a:chOff x="0" y="0"/>
                <a:chExt cx="1491" cy="1343"/>
              </a:xfrm>
            </p:grpSpPr>
            <p:sp>
              <p:nvSpPr>
                <p:cNvPr id="107543" name="Line 10">
                  <a:extLst>
                    <a:ext uri="{FF2B5EF4-FFF2-40B4-BE49-F238E27FC236}">
                      <a16:creationId xmlns:a16="http://schemas.microsoft.com/office/drawing/2014/main" id="{AB1FFF35-647C-4A93-836E-11A4DBDADF30}"/>
                    </a:ext>
                  </a:extLst>
                </p:cNvPr>
                <p:cNvSpPr>
                  <a:spLocks noChangeShapeType="1"/>
                </p:cNvSpPr>
                <p:nvPr/>
              </p:nvSpPr>
              <p:spPr bwMode="auto">
                <a:xfrm>
                  <a:off x="1097" y="227"/>
                  <a:ext cx="259" cy="294"/>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544" name="Line 11">
                  <a:extLst>
                    <a:ext uri="{FF2B5EF4-FFF2-40B4-BE49-F238E27FC236}">
                      <a16:creationId xmlns:a16="http://schemas.microsoft.com/office/drawing/2014/main" id="{4664EA98-5F63-4B1A-B91F-FEB9D8A6D57F}"/>
                    </a:ext>
                  </a:extLst>
                </p:cNvPr>
                <p:cNvSpPr>
                  <a:spLocks noChangeShapeType="1"/>
                </p:cNvSpPr>
                <p:nvPr/>
              </p:nvSpPr>
              <p:spPr bwMode="auto">
                <a:xfrm flipH="1">
                  <a:off x="780" y="182"/>
                  <a:ext cx="226" cy="272"/>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545" name="Line 12">
                  <a:extLst>
                    <a:ext uri="{FF2B5EF4-FFF2-40B4-BE49-F238E27FC236}">
                      <a16:creationId xmlns:a16="http://schemas.microsoft.com/office/drawing/2014/main" id="{51A09C60-2006-4A5C-ABC7-898D9FB869DA}"/>
                    </a:ext>
                  </a:extLst>
                </p:cNvPr>
                <p:cNvSpPr>
                  <a:spLocks noChangeShapeType="1"/>
                </p:cNvSpPr>
                <p:nvPr/>
              </p:nvSpPr>
              <p:spPr bwMode="auto">
                <a:xfrm>
                  <a:off x="785" y="636"/>
                  <a:ext cx="267" cy="181"/>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546" name="Line 13">
                  <a:extLst>
                    <a:ext uri="{FF2B5EF4-FFF2-40B4-BE49-F238E27FC236}">
                      <a16:creationId xmlns:a16="http://schemas.microsoft.com/office/drawing/2014/main" id="{0B0A7C53-8F19-48B2-8937-12F1EB2FBFE1}"/>
                    </a:ext>
                  </a:extLst>
                </p:cNvPr>
                <p:cNvSpPr>
                  <a:spLocks noChangeShapeType="1"/>
                </p:cNvSpPr>
                <p:nvPr/>
              </p:nvSpPr>
              <p:spPr bwMode="auto">
                <a:xfrm flipH="1">
                  <a:off x="417" y="630"/>
                  <a:ext cx="274" cy="187"/>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547" name="Rectangle 14">
                  <a:extLst>
                    <a:ext uri="{FF2B5EF4-FFF2-40B4-BE49-F238E27FC236}">
                      <a16:creationId xmlns:a16="http://schemas.microsoft.com/office/drawing/2014/main" id="{7459933E-B6D1-4F16-8BF7-224F5A717023}"/>
                    </a:ext>
                  </a:extLst>
                </p:cNvPr>
                <p:cNvSpPr>
                  <a:spLocks noChangeArrowheads="1"/>
                </p:cNvSpPr>
                <p:nvPr/>
              </p:nvSpPr>
              <p:spPr bwMode="auto">
                <a:xfrm>
                  <a:off x="1214" y="450"/>
                  <a:ext cx="236" cy="177"/>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07548" name="Oval 15">
                  <a:extLst>
                    <a:ext uri="{FF2B5EF4-FFF2-40B4-BE49-F238E27FC236}">
                      <a16:creationId xmlns:a16="http://schemas.microsoft.com/office/drawing/2014/main" id="{D78B5335-376D-4757-8459-4CEAC1EFC28E}"/>
                    </a:ext>
                  </a:extLst>
                </p:cNvPr>
                <p:cNvSpPr>
                  <a:spLocks noChangeArrowheads="1"/>
                </p:cNvSpPr>
                <p:nvPr/>
              </p:nvSpPr>
              <p:spPr bwMode="auto">
                <a:xfrm>
                  <a:off x="596" y="452"/>
                  <a:ext cx="284" cy="213"/>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07549" name="Oval 16">
                  <a:extLst>
                    <a:ext uri="{FF2B5EF4-FFF2-40B4-BE49-F238E27FC236}">
                      <a16:creationId xmlns:a16="http://schemas.microsoft.com/office/drawing/2014/main" id="{5A87CA50-EE5D-451C-A511-74F229E0505F}"/>
                    </a:ext>
                  </a:extLst>
                </p:cNvPr>
                <p:cNvSpPr>
                  <a:spLocks noChangeArrowheads="1"/>
                </p:cNvSpPr>
                <p:nvPr/>
              </p:nvSpPr>
              <p:spPr bwMode="auto">
                <a:xfrm>
                  <a:off x="884" y="0"/>
                  <a:ext cx="284" cy="213"/>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07550" name="Line 17">
                  <a:extLst>
                    <a:ext uri="{FF2B5EF4-FFF2-40B4-BE49-F238E27FC236}">
                      <a16:creationId xmlns:a16="http://schemas.microsoft.com/office/drawing/2014/main" id="{4785DB88-082D-454D-874B-CC7DCCC01791}"/>
                    </a:ext>
                  </a:extLst>
                </p:cNvPr>
                <p:cNvSpPr>
                  <a:spLocks noChangeShapeType="1"/>
                </p:cNvSpPr>
                <p:nvPr/>
              </p:nvSpPr>
              <p:spPr bwMode="auto">
                <a:xfrm>
                  <a:off x="1195" y="949"/>
                  <a:ext cx="142" cy="213"/>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551" name="Line 18">
                  <a:extLst>
                    <a:ext uri="{FF2B5EF4-FFF2-40B4-BE49-F238E27FC236}">
                      <a16:creationId xmlns:a16="http://schemas.microsoft.com/office/drawing/2014/main" id="{9A3428A6-251F-49AF-923C-AF402103943D}"/>
                    </a:ext>
                  </a:extLst>
                </p:cNvPr>
                <p:cNvSpPr>
                  <a:spLocks noChangeShapeType="1"/>
                </p:cNvSpPr>
                <p:nvPr/>
              </p:nvSpPr>
              <p:spPr bwMode="auto">
                <a:xfrm flipH="1">
                  <a:off x="958" y="949"/>
                  <a:ext cx="142" cy="213"/>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552" name="Rectangle 19">
                  <a:extLst>
                    <a:ext uri="{FF2B5EF4-FFF2-40B4-BE49-F238E27FC236}">
                      <a16:creationId xmlns:a16="http://schemas.microsoft.com/office/drawing/2014/main" id="{0F17F130-0EED-4A45-AD73-20E2B7A9ABE9}"/>
                    </a:ext>
                  </a:extLst>
                </p:cNvPr>
                <p:cNvSpPr>
                  <a:spLocks noChangeArrowheads="1"/>
                </p:cNvSpPr>
                <p:nvPr/>
              </p:nvSpPr>
              <p:spPr bwMode="auto">
                <a:xfrm>
                  <a:off x="816" y="1127"/>
                  <a:ext cx="237" cy="177"/>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07553" name="Rectangle 20">
                  <a:extLst>
                    <a:ext uri="{FF2B5EF4-FFF2-40B4-BE49-F238E27FC236}">
                      <a16:creationId xmlns:a16="http://schemas.microsoft.com/office/drawing/2014/main" id="{34B84D87-D6EA-4910-B0FA-C3EDB4B93DDD}"/>
                    </a:ext>
                  </a:extLst>
                </p:cNvPr>
                <p:cNvSpPr>
                  <a:spLocks noChangeArrowheads="1"/>
                </p:cNvSpPr>
                <p:nvPr/>
              </p:nvSpPr>
              <p:spPr bwMode="auto">
                <a:xfrm>
                  <a:off x="1254" y="1127"/>
                  <a:ext cx="237" cy="177"/>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a:p>
              </p:txBody>
            </p:sp>
            <p:sp>
              <p:nvSpPr>
                <p:cNvPr id="107554" name="Oval 21">
                  <a:extLst>
                    <a:ext uri="{FF2B5EF4-FFF2-40B4-BE49-F238E27FC236}">
                      <a16:creationId xmlns:a16="http://schemas.microsoft.com/office/drawing/2014/main" id="{70B38E55-F186-461A-B15F-FD575820D22A}"/>
                    </a:ext>
                  </a:extLst>
                </p:cNvPr>
                <p:cNvSpPr>
                  <a:spLocks noChangeArrowheads="1"/>
                </p:cNvSpPr>
                <p:nvPr/>
              </p:nvSpPr>
              <p:spPr bwMode="auto">
                <a:xfrm>
                  <a:off x="1006" y="771"/>
                  <a:ext cx="284" cy="214"/>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07555" name="Text Box 22">
                  <a:extLst>
                    <a:ext uri="{FF2B5EF4-FFF2-40B4-BE49-F238E27FC236}">
                      <a16:creationId xmlns:a16="http://schemas.microsoft.com/office/drawing/2014/main" id="{A2B5DA85-174A-4929-9AEC-23C1642F15CE}"/>
                    </a:ext>
                  </a:extLst>
                </p:cNvPr>
                <p:cNvSpPr txBox="1">
                  <a:spLocks noChangeArrowheads="1"/>
                </p:cNvSpPr>
                <p:nvPr/>
              </p:nvSpPr>
              <p:spPr bwMode="auto">
                <a:xfrm>
                  <a:off x="829" y="1093"/>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a:latin typeface="Times New Roman" panose="02020603050405020304" pitchFamily="18" charset="0"/>
                    </a:rPr>
                    <a:t>4</a:t>
                  </a:r>
                  <a:endParaRPr lang="en-US" altLang="zh-CN" sz="2000">
                    <a:latin typeface="Times New Roman" panose="02020603050405020304" pitchFamily="18" charset="0"/>
                  </a:endParaRPr>
                </a:p>
              </p:txBody>
            </p:sp>
            <p:sp>
              <p:nvSpPr>
                <p:cNvPr id="107556" name="Text Box 23">
                  <a:extLst>
                    <a:ext uri="{FF2B5EF4-FFF2-40B4-BE49-F238E27FC236}">
                      <a16:creationId xmlns:a16="http://schemas.microsoft.com/office/drawing/2014/main" id="{AF32C0BE-BCFA-4C57-8C90-23B6F0BDEB25}"/>
                    </a:ext>
                  </a:extLst>
                </p:cNvPr>
                <p:cNvSpPr txBox="1">
                  <a:spLocks noChangeArrowheads="1"/>
                </p:cNvSpPr>
                <p:nvPr/>
              </p:nvSpPr>
              <p:spPr bwMode="auto">
                <a:xfrm>
                  <a:off x="1188" y="409"/>
                  <a:ext cx="27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000" b="1">
                      <a:latin typeface="Times New Roman" panose="02020603050405020304" pitchFamily="18" charset="0"/>
                    </a:rPr>
                    <a:t>1</a:t>
                  </a:r>
                  <a:r>
                    <a:rPr lang="en-US" altLang="zh-CN" sz="2000" b="1">
                      <a:latin typeface="Times New Roman" panose="02020603050405020304" pitchFamily="18" charset="0"/>
                    </a:rPr>
                    <a:t>5</a:t>
                  </a:r>
                  <a:endParaRPr lang="en-US" altLang="zh-CN" sz="2000">
                    <a:latin typeface="Times New Roman" panose="02020603050405020304" pitchFamily="18" charset="0"/>
                  </a:endParaRPr>
                </a:p>
              </p:txBody>
            </p:sp>
            <p:sp>
              <p:nvSpPr>
                <p:cNvPr id="107557" name="Text Box 24">
                  <a:extLst>
                    <a:ext uri="{FF2B5EF4-FFF2-40B4-BE49-F238E27FC236}">
                      <a16:creationId xmlns:a16="http://schemas.microsoft.com/office/drawing/2014/main" id="{920FBFAF-1E82-4175-9D1C-EF8A0BB582B2}"/>
                    </a:ext>
                  </a:extLst>
                </p:cNvPr>
                <p:cNvSpPr txBox="1">
                  <a:spLocks noChangeArrowheads="1"/>
                </p:cNvSpPr>
                <p:nvPr/>
              </p:nvSpPr>
              <p:spPr bwMode="auto">
                <a:xfrm>
                  <a:off x="1279" y="1093"/>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a:latin typeface="Times New Roman" panose="02020603050405020304" pitchFamily="18" charset="0"/>
                    </a:rPr>
                    <a:t>4</a:t>
                  </a:r>
                </a:p>
              </p:txBody>
            </p:sp>
            <p:sp>
              <p:nvSpPr>
                <p:cNvPr id="107558" name="Text Box 25">
                  <a:extLst>
                    <a:ext uri="{FF2B5EF4-FFF2-40B4-BE49-F238E27FC236}">
                      <a16:creationId xmlns:a16="http://schemas.microsoft.com/office/drawing/2014/main" id="{919CD807-DD01-42DA-9313-D2334BBC24D9}"/>
                    </a:ext>
                  </a:extLst>
                </p:cNvPr>
                <p:cNvSpPr txBox="1">
                  <a:spLocks noChangeArrowheads="1"/>
                </p:cNvSpPr>
                <p:nvPr/>
              </p:nvSpPr>
              <p:spPr bwMode="auto">
                <a:xfrm>
                  <a:off x="551" y="426"/>
                  <a:ext cx="384"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000">
                    <a:latin typeface="Times New Roman" panose="02020603050405020304" pitchFamily="18" charset="0"/>
                  </a:endParaRPr>
                </a:p>
              </p:txBody>
            </p:sp>
            <p:sp>
              <p:nvSpPr>
                <p:cNvPr id="107559" name="Text Box 26">
                  <a:extLst>
                    <a:ext uri="{FF2B5EF4-FFF2-40B4-BE49-F238E27FC236}">
                      <a16:creationId xmlns:a16="http://schemas.microsoft.com/office/drawing/2014/main" id="{60A70968-5ACA-4DB1-B611-FD19835C2E8A}"/>
                    </a:ext>
                  </a:extLst>
                </p:cNvPr>
                <p:cNvSpPr txBox="1">
                  <a:spLocks noChangeArrowheads="1"/>
                </p:cNvSpPr>
                <p:nvPr/>
              </p:nvSpPr>
              <p:spPr bwMode="auto">
                <a:xfrm>
                  <a:off x="825" y="0"/>
                  <a:ext cx="382"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000">
                    <a:latin typeface="Times New Roman" panose="02020603050405020304" pitchFamily="18" charset="0"/>
                  </a:endParaRPr>
                </a:p>
              </p:txBody>
            </p:sp>
            <p:sp>
              <p:nvSpPr>
                <p:cNvPr id="107560" name="Line 27">
                  <a:extLst>
                    <a:ext uri="{FF2B5EF4-FFF2-40B4-BE49-F238E27FC236}">
                      <a16:creationId xmlns:a16="http://schemas.microsoft.com/office/drawing/2014/main" id="{081D0897-0E28-4C3D-A5FD-4D3F81E04EC1}"/>
                    </a:ext>
                  </a:extLst>
                </p:cNvPr>
                <p:cNvSpPr>
                  <a:spLocks noChangeShapeType="1"/>
                </p:cNvSpPr>
                <p:nvPr/>
              </p:nvSpPr>
              <p:spPr bwMode="auto">
                <a:xfrm>
                  <a:off x="379" y="949"/>
                  <a:ext cx="142" cy="213"/>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561" name="Line 28">
                  <a:extLst>
                    <a:ext uri="{FF2B5EF4-FFF2-40B4-BE49-F238E27FC236}">
                      <a16:creationId xmlns:a16="http://schemas.microsoft.com/office/drawing/2014/main" id="{21FBB18F-AE7D-4A30-939D-3E2A1D7E06D8}"/>
                    </a:ext>
                  </a:extLst>
                </p:cNvPr>
                <p:cNvSpPr>
                  <a:spLocks noChangeShapeType="1"/>
                </p:cNvSpPr>
                <p:nvPr/>
              </p:nvSpPr>
              <p:spPr bwMode="auto">
                <a:xfrm flipH="1">
                  <a:off x="142" y="949"/>
                  <a:ext cx="142" cy="213"/>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562" name="Rectangle 29">
                  <a:extLst>
                    <a:ext uri="{FF2B5EF4-FFF2-40B4-BE49-F238E27FC236}">
                      <a16:creationId xmlns:a16="http://schemas.microsoft.com/office/drawing/2014/main" id="{9B738B8D-1319-40D4-94A9-EE4DF84FD2A4}"/>
                    </a:ext>
                  </a:extLst>
                </p:cNvPr>
                <p:cNvSpPr>
                  <a:spLocks noChangeArrowheads="1"/>
                </p:cNvSpPr>
                <p:nvPr/>
              </p:nvSpPr>
              <p:spPr bwMode="auto">
                <a:xfrm>
                  <a:off x="0" y="1127"/>
                  <a:ext cx="237" cy="177"/>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07563" name="Rectangle 30">
                  <a:extLst>
                    <a:ext uri="{FF2B5EF4-FFF2-40B4-BE49-F238E27FC236}">
                      <a16:creationId xmlns:a16="http://schemas.microsoft.com/office/drawing/2014/main" id="{74E89580-6472-4408-BD55-3814566E4D3D}"/>
                    </a:ext>
                  </a:extLst>
                </p:cNvPr>
                <p:cNvSpPr>
                  <a:spLocks noChangeArrowheads="1"/>
                </p:cNvSpPr>
                <p:nvPr/>
              </p:nvSpPr>
              <p:spPr bwMode="auto">
                <a:xfrm>
                  <a:off x="438" y="1127"/>
                  <a:ext cx="237" cy="177"/>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a:p>
              </p:txBody>
            </p:sp>
            <p:sp>
              <p:nvSpPr>
                <p:cNvPr id="107564" name="Oval 31">
                  <a:extLst>
                    <a:ext uri="{FF2B5EF4-FFF2-40B4-BE49-F238E27FC236}">
                      <a16:creationId xmlns:a16="http://schemas.microsoft.com/office/drawing/2014/main" id="{47BDBC6C-C5F4-4881-98E7-BE9E4CCE3651}"/>
                    </a:ext>
                  </a:extLst>
                </p:cNvPr>
                <p:cNvSpPr>
                  <a:spLocks noChangeArrowheads="1"/>
                </p:cNvSpPr>
                <p:nvPr/>
              </p:nvSpPr>
              <p:spPr bwMode="auto">
                <a:xfrm>
                  <a:off x="190" y="771"/>
                  <a:ext cx="284" cy="214"/>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07565" name="Text Box 32">
                  <a:extLst>
                    <a:ext uri="{FF2B5EF4-FFF2-40B4-BE49-F238E27FC236}">
                      <a16:creationId xmlns:a16="http://schemas.microsoft.com/office/drawing/2014/main" id="{877E4271-CB99-4C6E-AFC9-2F1F399E8C19}"/>
                    </a:ext>
                  </a:extLst>
                </p:cNvPr>
                <p:cNvSpPr txBox="1">
                  <a:spLocks noChangeArrowheads="1"/>
                </p:cNvSpPr>
                <p:nvPr/>
              </p:nvSpPr>
              <p:spPr bwMode="auto">
                <a:xfrm>
                  <a:off x="13" y="1093"/>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a:latin typeface="Times New Roman" panose="02020603050405020304" pitchFamily="18" charset="0"/>
                    </a:rPr>
                    <a:t>2</a:t>
                  </a:r>
                  <a:endParaRPr lang="en-US" altLang="zh-CN" sz="2000">
                    <a:latin typeface="Times New Roman" panose="02020603050405020304" pitchFamily="18" charset="0"/>
                  </a:endParaRPr>
                </a:p>
              </p:txBody>
            </p:sp>
            <p:sp>
              <p:nvSpPr>
                <p:cNvPr id="107566" name="Text Box 33">
                  <a:extLst>
                    <a:ext uri="{FF2B5EF4-FFF2-40B4-BE49-F238E27FC236}">
                      <a16:creationId xmlns:a16="http://schemas.microsoft.com/office/drawing/2014/main" id="{324CD622-2422-490F-8FA3-05B1864466C2}"/>
                    </a:ext>
                  </a:extLst>
                </p:cNvPr>
                <p:cNvSpPr txBox="1">
                  <a:spLocks noChangeArrowheads="1"/>
                </p:cNvSpPr>
                <p:nvPr/>
              </p:nvSpPr>
              <p:spPr bwMode="auto">
                <a:xfrm>
                  <a:off x="463" y="1093"/>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a:latin typeface="Times New Roman" panose="02020603050405020304" pitchFamily="18" charset="0"/>
                    </a:rPr>
                    <a:t>3</a:t>
                  </a:r>
                </a:p>
              </p:txBody>
            </p:sp>
          </p:grpSp>
          <p:sp>
            <p:nvSpPr>
              <p:cNvPr id="107535" name="Text Box 34">
                <a:extLst>
                  <a:ext uri="{FF2B5EF4-FFF2-40B4-BE49-F238E27FC236}">
                    <a16:creationId xmlns:a16="http://schemas.microsoft.com/office/drawing/2014/main" id="{1AB817F0-41CB-4BEE-A513-106E712748CD}"/>
                  </a:ext>
                </a:extLst>
              </p:cNvPr>
              <p:cNvSpPr txBox="1">
                <a:spLocks noChangeArrowheads="1"/>
              </p:cNvSpPr>
              <p:nvPr/>
            </p:nvSpPr>
            <p:spPr bwMode="auto">
              <a:xfrm>
                <a:off x="681" y="136"/>
                <a:ext cx="27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en-US" altLang="zh-CN" sz="2000">
                    <a:solidFill>
                      <a:schemeClr val="hlink"/>
                    </a:solidFill>
                  </a:rPr>
                  <a:t>0</a:t>
                </a:r>
              </a:p>
            </p:txBody>
          </p:sp>
          <p:sp>
            <p:nvSpPr>
              <p:cNvPr id="107536" name="Text Box 35">
                <a:extLst>
                  <a:ext uri="{FF2B5EF4-FFF2-40B4-BE49-F238E27FC236}">
                    <a16:creationId xmlns:a16="http://schemas.microsoft.com/office/drawing/2014/main" id="{BA77B7C1-028F-48CF-A61B-2FEE5C9B3C55}"/>
                  </a:ext>
                </a:extLst>
              </p:cNvPr>
              <p:cNvSpPr txBox="1">
                <a:spLocks noChangeArrowheads="1"/>
              </p:cNvSpPr>
              <p:nvPr/>
            </p:nvSpPr>
            <p:spPr bwMode="auto">
              <a:xfrm>
                <a:off x="363" y="499"/>
                <a:ext cx="27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en-US" altLang="zh-CN" sz="2000">
                    <a:solidFill>
                      <a:schemeClr val="hlink"/>
                    </a:solidFill>
                  </a:rPr>
                  <a:t>0</a:t>
                </a:r>
              </a:p>
            </p:txBody>
          </p:sp>
          <p:sp>
            <p:nvSpPr>
              <p:cNvPr id="107537" name="Text Box 36">
                <a:extLst>
                  <a:ext uri="{FF2B5EF4-FFF2-40B4-BE49-F238E27FC236}">
                    <a16:creationId xmlns:a16="http://schemas.microsoft.com/office/drawing/2014/main" id="{219196C5-E7F6-4D61-8D5E-C23D4209B954}"/>
                  </a:ext>
                </a:extLst>
              </p:cNvPr>
              <p:cNvSpPr txBox="1">
                <a:spLocks noChangeArrowheads="1"/>
              </p:cNvSpPr>
              <p:nvPr/>
            </p:nvSpPr>
            <p:spPr bwMode="auto">
              <a:xfrm>
                <a:off x="0" y="862"/>
                <a:ext cx="27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en-US" altLang="zh-CN" sz="2000">
                    <a:solidFill>
                      <a:schemeClr val="hlink"/>
                    </a:solidFill>
                  </a:rPr>
                  <a:t>0</a:t>
                </a:r>
              </a:p>
            </p:txBody>
          </p:sp>
          <p:sp>
            <p:nvSpPr>
              <p:cNvPr id="107538" name="Text Box 37">
                <a:extLst>
                  <a:ext uri="{FF2B5EF4-FFF2-40B4-BE49-F238E27FC236}">
                    <a16:creationId xmlns:a16="http://schemas.microsoft.com/office/drawing/2014/main" id="{3ADF5582-D693-4D53-99E7-84070FDACB56}"/>
                  </a:ext>
                </a:extLst>
              </p:cNvPr>
              <p:cNvSpPr txBox="1">
                <a:spLocks noChangeArrowheads="1"/>
              </p:cNvSpPr>
              <p:nvPr/>
            </p:nvSpPr>
            <p:spPr bwMode="auto">
              <a:xfrm>
                <a:off x="862" y="862"/>
                <a:ext cx="27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en-US" altLang="zh-CN" sz="2000">
                    <a:solidFill>
                      <a:schemeClr val="hlink"/>
                    </a:solidFill>
                  </a:rPr>
                  <a:t>0</a:t>
                </a:r>
              </a:p>
            </p:txBody>
          </p:sp>
          <p:sp>
            <p:nvSpPr>
              <p:cNvPr id="107539" name="Text Box 38">
                <a:extLst>
                  <a:ext uri="{FF2B5EF4-FFF2-40B4-BE49-F238E27FC236}">
                    <a16:creationId xmlns:a16="http://schemas.microsoft.com/office/drawing/2014/main" id="{0C2C5331-6764-4411-8C7F-EFE19C0BED20}"/>
                  </a:ext>
                </a:extLst>
              </p:cNvPr>
              <p:cNvSpPr txBox="1">
                <a:spLocks noChangeArrowheads="1"/>
              </p:cNvSpPr>
              <p:nvPr/>
            </p:nvSpPr>
            <p:spPr bwMode="auto">
              <a:xfrm>
                <a:off x="1180" y="136"/>
                <a:ext cx="27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en-US" altLang="zh-CN" sz="2000">
                    <a:solidFill>
                      <a:srgbClr val="3333FF"/>
                    </a:solidFill>
                  </a:rPr>
                  <a:t>1</a:t>
                </a:r>
              </a:p>
            </p:txBody>
          </p:sp>
          <p:sp>
            <p:nvSpPr>
              <p:cNvPr id="107540" name="Text Box 39">
                <a:extLst>
                  <a:ext uri="{FF2B5EF4-FFF2-40B4-BE49-F238E27FC236}">
                    <a16:creationId xmlns:a16="http://schemas.microsoft.com/office/drawing/2014/main" id="{155428D5-19F2-40BB-8C46-0C01A8B30802}"/>
                  </a:ext>
                </a:extLst>
              </p:cNvPr>
              <p:cNvSpPr txBox="1">
                <a:spLocks noChangeArrowheads="1"/>
              </p:cNvSpPr>
              <p:nvPr/>
            </p:nvSpPr>
            <p:spPr bwMode="auto">
              <a:xfrm>
                <a:off x="907" y="545"/>
                <a:ext cx="27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en-US" altLang="zh-CN" sz="2000">
                    <a:solidFill>
                      <a:srgbClr val="3333FF"/>
                    </a:solidFill>
                  </a:rPr>
                  <a:t>1</a:t>
                </a:r>
              </a:p>
            </p:txBody>
          </p:sp>
          <p:sp>
            <p:nvSpPr>
              <p:cNvPr id="107541" name="Text Box 40">
                <a:extLst>
                  <a:ext uri="{FF2B5EF4-FFF2-40B4-BE49-F238E27FC236}">
                    <a16:creationId xmlns:a16="http://schemas.microsoft.com/office/drawing/2014/main" id="{BD27D2F0-08CF-45D9-B406-676101C1DB58}"/>
                  </a:ext>
                </a:extLst>
              </p:cNvPr>
              <p:cNvSpPr txBox="1">
                <a:spLocks noChangeArrowheads="1"/>
              </p:cNvSpPr>
              <p:nvPr/>
            </p:nvSpPr>
            <p:spPr bwMode="auto">
              <a:xfrm>
                <a:off x="1270" y="862"/>
                <a:ext cx="27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en-US" altLang="zh-CN" sz="2000">
                    <a:solidFill>
                      <a:srgbClr val="3333FF"/>
                    </a:solidFill>
                  </a:rPr>
                  <a:t>1</a:t>
                </a:r>
              </a:p>
            </p:txBody>
          </p:sp>
          <p:sp>
            <p:nvSpPr>
              <p:cNvPr id="107542" name="Text Box 41">
                <a:extLst>
                  <a:ext uri="{FF2B5EF4-FFF2-40B4-BE49-F238E27FC236}">
                    <a16:creationId xmlns:a16="http://schemas.microsoft.com/office/drawing/2014/main" id="{DA78C7AA-2A19-4322-BB54-44132A1CC561}"/>
                  </a:ext>
                </a:extLst>
              </p:cNvPr>
              <p:cNvSpPr txBox="1">
                <a:spLocks noChangeArrowheads="1"/>
              </p:cNvSpPr>
              <p:nvPr/>
            </p:nvSpPr>
            <p:spPr bwMode="auto">
              <a:xfrm>
                <a:off x="454" y="862"/>
                <a:ext cx="27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en-US" altLang="zh-CN" sz="2000">
                    <a:solidFill>
                      <a:srgbClr val="3333FF"/>
                    </a:solidFill>
                  </a:rPr>
                  <a:t>1</a:t>
                </a:r>
              </a:p>
            </p:txBody>
          </p:sp>
        </p:grpSp>
        <p:sp>
          <p:nvSpPr>
            <p:cNvPr id="107529" name="Text Box 42">
              <a:extLst>
                <a:ext uri="{FF2B5EF4-FFF2-40B4-BE49-F238E27FC236}">
                  <a16:creationId xmlns:a16="http://schemas.microsoft.com/office/drawing/2014/main" id="{A39D4775-CF86-4030-94F7-984260FC87BC}"/>
                </a:ext>
              </a:extLst>
            </p:cNvPr>
            <p:cNvSpPr txBox="1">
              <a:spLocks noChangeArrowheads="1"/>
            </p:cNvSpPr>
            <p:nvPr/>
          </p:nvSpPr>
          <p:spPr bwMode="auto">
            <a:xfrm>
              <a:off x="816" y="1316"/>
              <a:ext cx="21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1600" b="1">
                  <a:solidFill>
                    <a:srgbClr val="CC0066"/>
                  </a:solidFill>
                  <a:latin typeface="Times New Roman" panose="02020603050405020304" pitchFamily="18" charset="0"/>
                </a:rPr>
                <a:t>G</a:t>
              </a:r>
              <a:endParaRPr lang="en-US" altLang="zh-CN" sz="1600">
                <a:solidFill>
                  <a:srgbClr val="CC0066"/>
                </a:solidFill>
                <a:latin typeface="Times New Roman" panose="02020603050405020304" pitchFamily="18" charset="0"/>
              </a:endParaRPr>
            </a:p>
          </p:txBody>
        </p:sp>
        <p:sp>
          <p:nvSpPr>
            <p:cNvPr id="107530" name="Text Box 43">
              <a:extLst>
                <a:ext uri="{FF2B5EF4-FFF2-40B4-BE49-F238E27FC236}">
                  <a16:creationId xmlns:a16="http://schemas.microsoft.com/office/drawing/2014/main" id="{B475F82C-D976-4D1E-8550-05CBE4F2AFD4}"/>
                </a:ext>
              </a:extLst>
            </p:cNvPr>
            <p:cNvSpPr txBox="1">
              <a:spLocks noChangeArrowheads="1"/>
            </p:cNvSpPr>
            <p:nvPr/>
          </p:nvSpPr>
          <p:spPr bwMode="auto">
            <a:xfrm>
              <a:off x="1271" y="1264"/>
              <a:ext cx="180"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1600" b="1">
                  <a:solidFill>
                    <a:srgbClr val="CC0066"/>
                  </a:solidFill>
                  <a:latin typeface="Times New Roman" panose="02020603050405020304" pitchFamily="18" charset="0"/>
                </a:rPr>
                <a:t>_</a:t>
              </a:r>
            </a:p>
          </p:txBody>
        </p:sp>
        <p:sp>
          <p:nvSpPr>
            <p:cNvPr id="107531" name="Text Box 44">
              <a:extLst>
                <a:ext uri="{FF2B5EF4-FFF2-40B4-BE49-F238E27FC236}">
                  <a16:creationId xmlns:a16="http://schemas.microsoft.com/office/drawing/2014/main" id="{14852879-EC05-42AC-A677-8F6B29472D82}"/>
                </a:ext>
              </a:extLst>
            </p:cNvPr>
            <p:cNvSpPr txBox="1">
              <a:spLocks noChangeArrowheads="1"/>
            </p:cNvSpPr>
            <p:nvPr/>
          </p:nvSpPr>
          <p:spPr bwMode="auto">
            <a:xfrm>
              <a:off x="6" y="1316"/>
              <a:ext cx="194"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1600" b="1">
                  <a:solidFill>
                    <a:srgbClr val="CC0066"/>
                  </a:solidFill>
                  <a:latin typeface="Times New Roman" panose="02020603050405020304" pitchFamily="18" charset="0"/>
                </a:rPr>
                <a:t>F</a:t>
              </a:r>
              <a:endParaRPr lang="en-US" altLang="zh-CN" sz="1600">
                <a:solidFill>
                  <a:srgbClr val="CC0066"/>
                </a:solidFill>
                <a:latin typeface="Times New Roman" panose="02020603050405020304" pitchFamily="18" charset="0"/>
              </a:endParaRPr>
            </a:p>
          </p:txBody>
        </p:sp>
        <p:sp>
          <p:nvSpPr>
            <p:cNvPr id="107532" name="Text Box 45">
              <a:extLst>
                <a:ext uri="{FF2B5EF4-FFF2-40B4-BE49-F238E27FC236}">
                  <a16:creationId xmlns:a16="http://schemas.microsoft.com/office/drawing/2014/main" id="{D544CF1F-243C-4444-A16E-CF3993C91B5D}"/>
                </a:ext>
              </a:extLst>
            </p:cNvPr>
            <p:cNvSpPr txBox="1">
              <a:spLocks noChangeArrowheads="1"/>
            </p:cNvSpPr>
            <p:nvPr/>
          </p:nvSpPr>
          <p:spPr bwMode="auto">
            <a:xfrm>
              <a:off x="453" y="1316"/>
              <a:ext cx="208"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1600" b="1">
                  <a:solidFill>
                    <a:srgbClr val="CC0066"/>
                  </a:solidFill>
                  <a:latin typeface="Times New Roman" panose="02020603050405020304" pitchFamily="18" charset="0"/>
                </a:rPr>
                <a:t>D</a:t>
              </a:r>
            </a:p>
          </p:txBody>
        </p:sp>
        <p:sp>
          <p:nvSpPr>
            <p:cNvPr id="107533" name="Text Box 46">
              <a:extLst>
                <a:ext uri="{FF2B5EF4-FFF2-40B4-BE49-F238E27FC236}">
                  <a16:creationId xmlns:a16="http://schemas.microsoft.com/office/drawing/2014/main" id="{E73578FB-0ABE-4222-B9C0-97722C9FD563}"/>
                </a:ext>
              </a:extLst>
            </p:cNvPr>
            <p:cNvSpPr txBox="1">
              <a:spLocks noChangeArrowheads="1"/>
            </p:cNvSpPr>
            <p:nvPr/>
          </p:nvSpPr>
          <p:spPr bwMode="auto">
            <a:xfrm>
              <a:off x="1224" y="635"/>
              <a:ext cx="21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1600" b="1">
                  <a:solidFill>
                    <a:srgbClr val="CC0066"/>
                  </a:solidFill>
                  <a:latin typeface="Times New Roman" panose="02020603050405020304" pitchFamily="18" charset="0"/>
                </a:rPr>
                <a:t>O</a:t>
              </a:r>
            </a:p>
          </p:txBody>
        </p:sp>
      </p:grpSp>
      <p:sp>
        <p:nvSpPr>
          <p:cNvPr id="2" name="Text Box 3">
            <a:extLst>
              <a:ext uri="{FF2B5EF4-FFF2-40B4-BE49-F238E27FC236}">
                <a16:creationId xmlns:a16="http://schemas.microsoft.com/office/drawing/2014/main" id="{9673F4E1-A03B-48FE-A552-90DCE2163647}"/>
              </a:ext>
            </a:extLst>
          </p:cNvPr>
          <p:cNvSpPr txBox="1">
            <a:spLocks noChangeArrowheads="1"/>
          </p:cNvSpPr>
          <p:nvPr/>
        </p:nvSpPr>
        <p:spPr bwMode="auto">
          <a:xfrm>
            <a:off x="381000" y="249486"/>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三、</a:t>
            </a:r>
            <a:r>
              <a:rPr lang="en-US" altLang="zh-CN" sz="4400" i="0" dirty="0">
                <a:solidFill>
                  <a:schemeClr val="tx2"/>
                </a:solidFill>
                <a:ea typeface="隶书" pitchFamily="49" charset="-122"/>
              </a:rPr>
              <a:t>Huffman</a:t>
            </a:r>
            <a:r>
              <a:rPr lang="zh-CN" altLang="en-US" sz="4400" i="0" dirty="0">
                <a:solidFill>
                  <a:schemeClr val="tx2"/>
                </a:solidFill>
                <a:ea typeface="隶书" pitchFamily="49" charset="-122"/>
              </a:rPr>
              <a:t>编码</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87045">
                                            <p:txEl>
                                              <p:pRg st="0" end="0"/>
                                            </p:txEl>
                                          </p:spTgt>
                                        </p:tgtEl>
                                        <p:attrNameLst>
                                          <p:attrName>style.visibility</p:attrName>
                                        </p:attrNameLst>
                                      </p:cBhvr>
                                      <p:to>
                                        <p:strVal val="visible"/>
                                      </p:to>
                                    </p:set>
                                    <p:animEffect transition="in" filter="blinds(horizontal)">
                                      <p:cBhvr>
                                        <p:cTn id="7" dur="500"/>
                                        <p:tgtEl>
                                          <p:spTgt spid="8704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87045">
                                            <p:txEl>
                                              <p:pRg st="1" end="1"/>
                                            </p:txEl>
                                          </p:spTgt>
                                        </p:tgtEl>
                                        <p:attrNameLst>
                                          <p:attrName>style.visibility</p:attrName>
                                        </p:attrNameLst>
                                      </p:cBhvr>
                                      <p:to>
                                        <p:strVal val="visible"/>
                                      </p:to>
                                    </p:set>
                                    <p:animEffect transition="in" filter="blinds(horizontal)">
                                      <p:cBhvr>
                                        <p:cTn id="12" dur="500"/>
                                        <p:tgtEl>
                                          <p:spTgt spid="87045">
                                            <p:txEl>
                                              <p:pRg st="1" end="1"/>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87045">
                                            <p:txEl>
                                              <p:pRg st="2" end="2"/>
                                            </p:txEl>
                                          </p:spTgt>
                                        </p:tgtEl>
                                        <p:attrNameLst>
                                          <p:attrName>style.visibility</p:attrName>
                                        </p:attrNameLst>
                                      </p:cBhvr>
                                      <p:to>
                                        <p:strVal val="visible"/>
                                      </p:to>
                                    </p:set>
                                    <p:animEffect transition="in" filter="blinds(horizontal)">
                                      <p:cBhvr>
                                        <p:cTn id="15" dur="500"/>
                                        <p:tgtEl>
                                          <p:spTgt spid="8704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9" name="Rectangle 5">
            <a:extLst>
              <a:ext uri="{FF2B5EF4-FFF2-40B4-BE49-F238E27FC236}">
                <a16:creationId xmlns:a16="http://schemas.microsoft.com/office/drawing/2014/main" id="{F8877A07-9D05-452F-98C7-50C3D6B178D3}"/>
              </a:ext>
            </a:extLst>
          </p:cNvPr>
          <p:cNvSpPr>
            <a:spLocks noGrp="1" noChangeArrowheads="1"/>
          </p:cNvSpPr>
          <p:nvPr>
            <p:ph type="body" idx="1"/>
          </p:nvPr>
        </p:nvSpPr>
        <p:spPr>
          <a:xfrm>
            <a:off x="539552" y="1289015"/>
            <a:ext cx="9289032" cy="2467769"/>
          </a:xfrm>
        </p:spPr>
        <p:txBody>
          <a:bodyPr/>
          <a:lstStyle/>
          <a:p>
            <a:pPr eaLnBrk="1" hangingPunct="1">
              <a:spcBef>
                <a:spcPct val="50000"/>
              </a:spcBef>
            </a:pPr>
            <a:r>
              <a:rPr lang="zh-CN" altLang="en-US" dirty="0">
                <a:latin typeface="黑体" panose="02010609060101010101" pitchFamily="49" charset="-122"/>
                <a:ea typeface="黑体" panose="02010609060101010101" pitchFamily="49" charset="-122"/>
              </a:rPr>
              <a:t>则总编码长度为 </a:t>
            </a:r>
          </a:p>
          <a:p>
            <a:pPr eaLnBrk="1" hangingPunct="1">
              <a:spcBef>
                <a:spcPct val="0"/>
              </a:spcBef>
              <a:buFont typeface="Wingdings" panose="05000000000000000000" pitchFamily="2" charset="2"/>
              <a:buNone/>
            </a:pPr>
            <a:r>
              <a:rPr lang="zh-CN" altLang="en-US" dirty="0">
                <a:latin typeface="黑体" panose="02010609060101010101" pitchFamily="49" charset="-122"/>
                <a:ea typeface="黑体" panose="02010609060101010101" pitchFamily="49" charset="-122"/>
              </a:rPr>
              <a:t>  1</a:t>
            </a:r>
            <a:r>
              <a:rPr lang="en-US" altLang="zh-CN" dirty="0">
                <a:latin typeface="黑体" panose="02010609060101010101" pitchFamily="49" charset="-122"/>
                <a:ea typeface="黑体" panose="02010609060101010101" pitchFamily="49" charset="-122"/>
              </a:rPr>
              <a:t>5*1+(2+3+4+4)*3 = 54 </a:t>
            </a:r>
            <a:r>
              <a:rPr lang="en-US" altLang="zh-CN" dirty="0">
                <a:solidFill>
                  <a:schemeClr val="hlink"/>
                </a:solidFill>
                <a:latin typeface="黑体" panose="02010609060101010101" pitchFamily="49" charset="-122"/>
                <a:ea typeface="黑体" panose="02010609060101010101" pitchFamily="49" charset="-122"/>
              </a:rPr>
              <a:t>&lt; 84</a:t>
            </a:r>
          </a:p>
          <a:p>
            <a:pPr eaLnBrk="1" hangingPunct="1">
              <a:spcBef>
                <a:spcPct val="50000"/>
              </a:spcBef>
            </a:pPr>
            <a:r>
              <a:rPr lang="en-US" altLang="zh-CN" dirty="0">
                <a:latin typeface="黑体" panose="02010609060101010101" pitchFamily="49" charset="-122"/>
                <a:ea typeface="黑体" panose="02010609060101010101" pitchFamily="49" charset="-122"/>
              </a:rPr>
              <a:t>Huffman</a:t>
            </a:r>
            <a:r>
              <a:rPr lang="zh-CN" altLang="en-US" dirty="0">
                <a:latin typeface="黑体" panose="02010609060101010101" pitchFamily="49" charset="-122"/>
                <a:ea typeface="黑体" panose="02010609060101010101" pitchFamily="49" charset="-122"/>
              </a:rPr>
              <a:t>是一种前缀编码，解码时不会混淆</a:t>
            </a:r>
          </a:p>
          <a:p>
            <a:pPr eaLnBrk="1" hangingPunct="1">
              <a:spcBef>
                <a:spcPct val="50000"/>
              </a:spcBef>
            </a:pPr>
            <a:r>
              <a:rPr lang="zh-CN" altLang="en-US" dirty="0">
                <a:latin typeface="黑体" panose="02010609060101010101" pitchFamily="49" charset="-122"/>
                <a:ea typeface="黑体" panose="02010609060101010101" pitchFamily="49" charset="-122"/>
              </a:rPr>
              <a:t>如</a:t>
            </a:r>
            <a:r>
              <a:rPr lang="en-US" altLang="zh-CN" dirty="0">
                <a:latin typeface="黑体" panose="02010609060101010101" pitchFamily="49" charset="-122"/>
                <a:ea typeface="黑体" panose="02010609060101010101" pitchFamily="49" charset="-122"/>
              </a:rPr>
              <a:t>GOOD</a:t>
            </a:r>
            <a:r>
              <a:rPr lang="zh-CN" altLang="en-US" dirty="0">
                <a:latin typeface="黑体" panose="02010609060101010101" pitchFamily="49" charset="-122"/>
                <a:ea typeface="黑体" panose="02010609060101010101" pitchFamily="49" charset="-122"/>
              </a:rPr>
              <a:t>编码为：</a:t>
            </a:r>
            <a:r>
              <a:rPr lang="en-US" altLang="zh-CN" dirty="0">
                <a:latin typeface="黑体" panose="02010609060101010101" pitchFamily="49" charset="-122"/>
                <a:ea typeface="黑体" panose="02010609060101010101" pitchFamily="49" charset="-122"/>
              </a:rPr>
              <a:t>01011001</a:t>
            </a:r>
          </a:p>
        </p:txBody>
      </p:sp>
      <p:grpSp>
        <p:nvGrpSpPr>
          <p:cNvPr id="108551" name="Group 7">
            <a:extLst>
              <a:ext uri="{FF2B5EF4-FFF2-40B4-BE49-F238E27FC236}">
                <a16:creationId xmlns:a16="http://schemas.microsoft.com/office/drawing/2014/main" id="{27FC7D15-A411-49C9-A84F-353D79C7BC0A}"/>
              </a:ext>
            </a:extLst>
          </p:cNvPr>
          <p:cNvGrpSpPr>
            <a:grpSpLocks/>
          </p:cNvGrpSpPr>
          <p:nvPr/>
        </p:nvGrpSpPr>
        <p:grpSpPr bwMode="auto">
          <a:xfrm>
            <a:off x="5652120" y="3861048"/>
            <a:ext cx="2447925" cy="2425700"/>
            <a:chOff x="0" y="0"/>
            <a:chExt cx="1542" cy="1528"/>
          </a:xfrm>
        </p:grpSpPr>
        <p:grpSp>
          <p:nvGrpSpPr>
            <p:cNvPr id="108552" name="Group 8">
              <a:extLst>
                <a:ext uri="{FF2B5EF4-FFF2-40B4-BE49-F238E27FC236}">
                  <a16:creationId xmlns:a16="http://schemas.microsoft.com/office/drawing/2014/main" id="{606463BC-D7A4-4AE9-BD02-5A95774ED2A7}"/>
                </a:ext>
              </a:extLst>
            </p:cNvPr>
            <p:cNvGrpSpPr>
              <a:grpSpLocks/>
            </p:cNvGrpSpPr>
            <p:nvPr/>
          </p:nvGrpSpPr>
          <p:grpSpPr bwMode="auto">
            <a:xfrm>
              <a:off x="0" y="0"/>
              <a:ext cx="1542" cy="1343"/>
              <a:chOff x="0" y="0"/>
              <a:chExt cx="1542" cy="1343"/>
            </a:xfrm>
          </p:grpSpPr>
          <p:grpSp>
            <p:nvGrpSpPr>
              <p:cNvPr id="108558" name="Group 9">
                <a:extLst>
                  <a:ext uri="{FF2B5EF4-FFF2-40B4-BE49-F238E27FC236}">
                    <a16:creationId xmlns:a16="http://schemas.microsoft.com/office/drawing/2014/main" id="{D966F404-5D9F-46B4-853B-A5D58B9A5A95}"/>
                  </a:ext>
                </a:extLst>
              </p:cNvPr>
              <p:cNvGrpSpPr>
                <a:grpSpLocks/>
              </p:cNvGrpSpPr>
              <p:nvPr/>
            </p:nvGrpSpPr>
            <p:grpSpPr bwMode="auto">
              <a:xfrm>
                <a:off x="0" y="0"/>
                <a:ext cx="1491" cy="1343"/>
                <a:chOff x="0" y="0"/>
                <a:chExt cx="1491" cy="1343"/>
              </a:xfrm>
            </p:grpSpPr>
            <p:sp>
              <p:nvSpPr>
                <p:cNvPr id="108567" name="Line 10">
                  <a:extLst>
                    <a:ext uri="{FF2B5EF4-FFF2-40B4-BE49-F238E27FC236}">
                      <a16:creationId xmlns:a16="http://schemas.microsoft.com/office/drawing/2014/main" id="{B60B68AC-E9A6-4129-AD3F-F019ABBE32F8}"/>
                    </a:ext>
                  </a:extLst>
                </p:cNvPr>
                <p:cNvSpPr>
                  <a:spLocks noChangeShapeType="1"/>
                </p:cNvSpPr>
                <p:nvPr/>
              </p:nvSpPr>
              <p:spPr bwMode="auto">
                <a:xfrm>
                  <a:off x="1097" y="227"/>
                  <a:ext cx="259" cy="294"/>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108568" name="Line 11">
                  <a:extLst>
                    <a:ext uri="{FF2B5EF4-FFF2-40B4-BE49-F238E27FC236}">
                      <a16:creationId xmlns:a16="http://schemas.microsoft.com/office/drawing/2014/main" id="{C423C0E4-DCA0-4E91-9157-732EE09DDD28}"/>
                    </a:ext>
                  </a:extLst>
                </p:cNvPr>
                <p:cNvSpPr>
                  <a:spLocks noChangeShapeType="1"/>
                </p:cNvSpPr>
                <p:nvPr/>
              </p:nvSpPr>
              <p:spPr bwMode="auto">
                <a:xfrm flipH="1">
                  <a:off x="780" y="182"/>
                  <a:ext cx="226" cy="272"/>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108569" name="Line 12">
                  <a:extLst>
                    <a:ext uri="{FF2B5EF4-FFF2-40B4-BE49-F238E27FC236}">
                      <a16:creationId xmlns:a16="http://schemas.microsoft.com/office/drawing/2014/main" id="{17FF7032-CEE6-47CC-B2AA-BA8755CEFFB9}"/>
                    </a:ext>
                  </a:extLst>
                </p:cNvPr>
                <p:cNvSpPr>
                  <a:spLocks noChangeShapeType="1"/>
                </p:cNvSpPr>
                <p:nvPr/>
              </p:nvSpPr>
              <p:spPr bwMode="auto">
                <a:xfrm>
                  <a:off x="785" y="636"/>
                  <a:ext cx="267" cy="181"/>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108570" name="Line 13">
                  <a:extLst>
                    <a:ext uri="{FF2B5EF4-FFF2-40B4-BE49-F238E27FC236}">
                      <a16:creationId xmlns:a16="http://schemas.microsoft.com/office/drawing/2014/main" id="{1253E395-8301-4BA5-8A7D-1E1042C6879D}"/>
                    </a:ext>
                  </a:extLst>
                </p:cNvPr>
                <p:cNvSpPr>
                  <a:spLocks noChangeShapeType="1"/>
                </p:cNvSpPr>
                <p:nvPr/>
              </p:nvSpPr>
              <p:spPr bwMode="auto">
                <a:xfrm flipH="1">
                  <a:off x="417" y="630"/>
                  <a:ext cx="274" cy="187"/>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108571" name="Rectangle 14">
                  <a:extLst>
                    <a:ext uri="{FF2B5EF4-FFF2-40B4-BE49-F238E27FC236}">
                      <a16:creationId xmlns:a16="http://schemas.microsoft.com/office/drawing/2014/main" id="{1D14F4FD-3173-463D-AAB4-BF91F2AA9F57}"/>
                    </a:ext>
                  </a:extLst>
                </p:cNvPr>
                <p:cNvSpPr>
                  <a:spLocks noChangeArrowheads="1"/>
                </p:cNvSpPr>
                <p:nvPr/>
              </p:nvSpPr>
              <p:spPr bwMode="auto">
                <a:xfrm>
                  <a:off x="1214" y="450"/>
                  <a:ext cx="236" cy="177"/>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108572" name="Oval 15">
                  <a:extLst>
                    <a:ext uri="{FF2B5EF4-FFF2-40B4-BE49-F238E27FC236}">
                      <a16:creationId xmlns:a16="http://schemas.microsoft.com/office/drawing/2014/main" id="{08B8116A-3549-45E5-83A8-6DAEF87BE9C2}"/>
                    </a:ext>
                  </a:extLst>
                </p:cNvPr>
                <p:cNvSpPr>
                  <a:spLocks noChangeArrowheads="1"/>
                </p:cNvSpPr>
                <p:nvPr/>
              </p:nvSpPr>
              <p:spPr bwMode="auto">
                <a:xfrm>
                  <a:off x="596" y="452"/>
                  <a:ext cx="284" cy="213"/>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108573" name="Oval 16">
                  <a:extLst>
                    <a:ext uri="{FF2B5EF4-FFF2-40B4-BE49-F238E27FC236}">
                      <a16:creationId xmlns:a16="http://schemas.microsoft.com/office/drawing/2014/main" id="{80E52399-9E57-43F0-9840-BA67E7620AD2}"/>
                    </a:ext>
                  </a:extLst>
                </p:cNvPr>
                <p:cNvSpPr>
                  <a:spLocks noChangeArrowheads="1"/>
                </p:cNvSpPr>
                <p:nvPr/>
              </p:nvSpPr>
              <p:spPr bwMode="auto">
                <a:xfrm>
                  <a:off x="884" y="0"/>
                  <a:ext cx="284" cy="213"/>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108574" name="Line 17">
                  <a:extLst>
                    <a:ext uri="{FF2B5EF4-FFF2-40B4-BE49-F238E27FC236}">
                      <a16:creationId xmlns:a16="http://schemas.microsoft.com/office/drawing/2014/main" id="{53C47B80-4EDF-4C56-8451-1666DA47ED56}"/>
                    </a:ext>
                  </a:extLst>
                </p:cNvPr>
                <p:cNvSpPr>
                  <a:spLocks noChangeShapeType="1"/>
                </p:cNvSpPr>
                <p:nvPr/>
              </p:nvSpPr>
              <p:spPr bwMode="auto">
                <a:xfrm>
                  <a:off x="1195" y="949"/>
                  <a:ext cx="142" cy="213"/>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108575" name="Line 18">
                  <a:extLst>
                    <a:ext uri="{FF2B5EF4-FFF2-40B4-BE49-F238E27FC236}">
                      <a16:creationId xmlns:a16="http://schemas.microsoft.com/office/drawing/2014/main" id="{47ACC2E0-2788-4D64-8F09-B111D3FCB713}"/>
                    </a:ext>
                  </a:extLst>
                </p:cNvPr>
                <p:cNvSpPr>
                  <a:spLocks noChangeShapeType="1"/>
                </p:cNvSpPr>
                <p:nvPr/>
              </p:nvSpPr>
              <p:spPr bwMode="auto">
                <a:xfrm flipH="1">
                  <a:off x="958" y="949"/>
                  <a:ext cx="142" cy="213"/>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108576" name="Rectangle 19">
                  <a:extLst>
                    <a:ext uri="{FF2B5EF4-FFF2-40B4-BE49-F238E27FC236}">
                      <a16:creationId xmlns:a16="http://schemas.microsoft.com/office/drawing/2014/main" id="{ECA19B2F-989F-4AC4-B73F-19F30BC6AA5D}"/>
                    </a:ext>
                  </a:extLst>
                </p:cNvPr>
                <p:cNvSpPr>
                  <a:spLocks noChangeArrowheads="1"/>
                </p:cNvSpPr>
                <p:nvPr/>
              </p:nvSpPr>
              <p:spPr bwMode="auto">
                <a:xfrm>
                  <a:off x="816" y="1127"/>
                  <a:ext cx="237" cy="177"/>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108577" name="Rectangle 20">
                  <a:extLst>
                    <a:ext uri="{FF2B5EF4-FFF2-40B4-BE49-F238E27FC236}">
                      <a16:creationId xmlns:a16="http://schemas.microsoft.com/office/drawing/2014/main" id="{39A84027-DCC7-44EA-9DAB-7342D5702AA4}"/>
                    </a:ext>
                  </a:extLst>
                </p:cNvPr>
                <p:cNvSpPr>
                  <a:spLocks noChangeArrowheads="1"/>
                </p:cNvSpPr>
                <p:nvPr/>
              </p:nvSpPr>
              <p:spPr bwMode="auto">
                <a:xfrm>
                  <a:off x="1254" y="1127"/>
                  <a:ext cx="237" cy="177"/>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p>
              </p:txBody>
            </p:sp>
            <p:sp>
              <p:nvSpPr>
                <p:cNvPr id="108578" name="Oval 21">
                  <a:extLst>
                    <a:ext uri="{FF2B5EF4-FFF2-40B4-BE49-F238E27FC236}">
                      <a16:creationId xmlns:a16="http://schemas.microsoft.com/office/drawing/2014/main" id="{6B5E49A8-8676-4AB7-B69B-C7A776D27753}"/>
                    </a:ext>
                  </a:extLst>
                </p:cNvPr>
                <p:cNvSpPr>
                  <a:spLocks noChangeArrowheads="1"/>
                </p:cNvSpPr>
                <p:nvPr/>
              </p:nvSpPr>
              <p:spPr bwMode="auto">
                <a:xfrm>
                  <a:off x="1006" y="771"/>
                  <a:ext cx="284" cy="214"/>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108579" name="Text Box 22">
                  <a:extLst>
                    <a:ext uri="{FF2B5EF4-FFF2-40B4-BE49-F238E27FC236}">
                      <a16:creationId xmlns:a16="http://schemas.microsoft.com/office/drawing/2014/main" id="{316AF6B4-5532-43E2-AAA3-9B98E3EEC85F}"/>
                    </a:ext>
                  </a:extLst>
                </p:cNvPr>
                <p:cNvSpPr txBox="1">
                  <a:spLocks noChangeArrowheads="1"/>
                </p:cNvSpPr>
                <p:nvPr/>
              </p:nvSpPr>
              <p:spPr bwMode="auto">
                <a:xfrm>
                  <a:off x="829" y="1093"/>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a:latin typeface="Times New Roman" panose="02020603050405020304" pitchFamily="18" charset="0"/>
                    </a:rPr>
                    <a:t>4</a:t>
                  </a:r>
                  <a:endParaRPr lang="en-US" altLang="zh-CN" sz="2000" i="0">
                    <a:latin typeface="Times New Roman" panose="02020603050405020304" pitchFamily="18" charset="0"/>
                  </a:endParaRPr>
                </a:p>
              </p:txBody>
            </p:sp>
            <p:sp>
              <p:nvSpPr>
                <p:cNvPr id="108580" name="Text Box 23">
                  <a:extLst>
                    <a:ext uri="{FF2B5EF4-FFF2-40B4-BE49-F238E27FC236}">
                      <a16:creationId xmlns:a16="http://schemas.microsoft.com/office/drawing/2014/main" id="{250A267D-BD13-475B-9923-C1E70808785C}"/>
                    </a:ext>
                  </a:extLst>
                </p:cNvPr>
                <p:cNvSpPr txBox="1">
                  <a:spLocks noChangeArrowheads="1"/>
                </p:cNvSpPr>
                <p:nvPr/>
              </p:nvSpPr>
              <p:spPr bwMode="auto">
                <a:xfrm>
                  <a:off x="1188" y="409"/>
                  <a:ext cx="27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000" b="1" i="0">
                      <a:latin typeface="Times New Roman" panose="02020603050405020304" pitchFamily="18" charset="0"/>
                    </a:rPr>
                    <a:t>1</a:t>
                  </a:r>
                  <a:r>
                    <a:rPr lang="en-US" altLang="zh-CN" sz="2000" b="1" i="0">
                      <a:latin typeface="Times New Roman" panose="02020603050405020304" pitchFamily="18" charset="0"/>
                    </a:rPr>
                    <a:t>5</a:t>
                  </a:r>
                  <a:endParaRPr lang="en-US" altLang="zh-CN" sz="2000" i="0">
                    <a:latin typeface="Times New Roman" panose="02020603050405020304" pitchFamily="18" charset="0"/>
                  </a:endParaRPr>
                </a:p>
              </p:txBody>
            </p:sp>
            <p:sp>
              <p:nvSpPr>
                <p:cNvPr id="108581" name="Text Box 24">
                  <a:extLst>
                    <a:ext uri="{FF2B5EF4-FFF2-40B4-BE49-F238E27FC236}">
                      <a16:creationId xmlns:a16="http://schemas.microsoft.com/office/drawing/2014/main" id="{55D3F9FF-9371-4CA9-A101-E50DF91A426E}"/>
                    </a:ext>
                  </a:extLst>
                </p:cNvPr>
                <p:cNvSpPr txBox="1">
                  <a:spLocks noChangeArrowheads="1"/>
                </p:cNvSpPr>
                <p:nvPr/>
              </p:nvSpPr>
              <p:spPr bwMode="auto">
                <a:xfrm>
                  <a:off x="1279" y="1093"/>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a:latin typeface="Times New Roman" panose="02020603050405020304" pitchFamily="18" charset="0"/>
                    </a:rPr>
                    <a:t>4</a:t>
                  </a:r>
                </a:p>
              </p:txBody>
            </p:sp>
            <p:sp>
              <p:nvSpPr>
                <p:cNvPr id="108582" name="Text Box 25">
                  <a:extLst>
                    <a:ext uri="{FF2B5EF4-FFF2-40B4-BE49-F238E27FC236}">
                      <a16:creationId xmlns:a16="http://schemas.microsoft.com/office/drawing/2014/main" id="{29BE3053-2D1C-48E8-8F74-C7D1957CED43}"/>
                    </a:ext>
                  </a:extLst>
                </p:cNvPr>
                <p:cNvSpPr txBox="1">
                  <a:spLocks noChangeArrowheads="1"/>
                </p:cNvSpPr>
                <p:nvPr/>
              </p:nvSpPr>
              <p:spPr bwMode="auto">
                <a:xfrm>
                  <a:off x="551" y="426"/>
                  <a:ext cx="384"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000" i="0">
                    <a:latin typeface="Times New Roman" panose="02020603050405020304" pitchFamily="18" charset="0"/>
                  </a:endParaRPr>
                </a:p>
              </p:txBody>
            </p:sp>
            <p:sp>
              <p:nvSpPr>
                <p:cNvPr id="108583" name="Text Box 26">
                  <a:extLst>
                    <a:ext uri="{FF2B5EF4-FFF2-40B4-BE49-F238E27FC236}">
                      <a16:creationId xmlns:a16="http://schemas.microsoft.com/office/drawing/2014/main" id="{667623A5-31EA-4DC4-8E1C-FB1F609966EC}"/>
                    </a:ext>
                  </a:extLst>
                </p:cNvPr>
                <p:cNvSpPr txBox="1">
                  <a:spLocks noChangeArrowheads="1"/>
                </p:cNvSpPr>
                <p:nvPr/>
              </p:nvSpPr>
              <p:spPr bwMode="auto">
                <a:xfrm>
                  <a:off x="825" y="0"/>
                  <a:ext cx="382"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000" i="0">
                    <a:latin typeface="Times New Roman" panose="02020603050405020304" pitchFamily="18" charset="0"/>
                  </a:endParaRPr>
                </a:p>
              </p:txBody>
            </p:sp>
            <p:sp>
              <p:nvSpPr>
                <p:cNvPr id="108584" name="Line 27">
                  <a:extLst>
                    <a:ext uri="{FF2B5EF4-FFF2-40B4-BE49-F238E27FC236}">
                      <a16:creationId xmlns:a16="http://schemas.microsoft.com/office/drawing/2014/main" id="{ACB5A0FF-E0A2-4B94-A57D-BE7C4D203840}"/>
                    </a:ext>
                  </a:extLst>
                </p:cNvPr>
                <p:cNvSpPr>
                  <a:spLocks noChangeShapeType="1"/>
                </p:cNvSpPr>
                <p:nvPr/>
              </p:nvSpPr>
              <p:spPr bwMode="auto">
                <a:xfrm>
                  <a:off x="379" y="949"/>
                  <a:ext cx="142" cy="213"/>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108585" name="Line 28">
                  <a:extLst>
                    <a:ext uri="{FF2B5EF4-FFF2-40B4-BE49-F238E27FC236}">
                      <a16:creationId xmlns:a16="http://schemas.microsoft.com/office/drawing/2014/main" id="{AD57F4EE-8ADE-4F14-9755-2BE8A429958C}"/>
                    </a:ext>
                  </a:extLst>
                </p:cNvPr>
                <p:cNvSpPr>
                  <a:spLocks noChangeShapeType="1"/>
                </p:cNvSpPr>
                <p:nvPr/>
              </p:nvSpPr>
              <p:spPr bwMode="auto">
                <a:xfrm flipH="1">
                  <a:off x="142" y="949"/>
                  <a:ext cx="142" cy="213"/>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108586" name="Rectangle 29">
                  <a:extLst>
                    <a:ext uri="{FF2B5EF4-FFF2-40B4-BE49-F238E27FC236}">
                      <a16:creationId xmlns:a16="http://schemas.microsoft.com/office/drawing/2014/main" id="{25E85DF3-8F37-4CC6-ADF6-DC7E6ADC9699}"/>
                    </a:ext>
                  </a:extLst>
                </p:cNvPr>
                <p:cNvSpPr>
                  <a:spLocks noChangeArrowheads="1"/>
                </p:cNvSpPr>
                <p:nvPr/>
              </p:nvSpPr>
              <p:spPr bwMode="auto">
                <a:xfrm>
                  <a:off x="0" y="1127"/>
                  <a:ext cx="237" cy="177"/>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108587" name="Rectangle 30">
                  <a:extLst>
                    <a:ext uri="{FF2B5EF4-FFF2-40B4-BE49-F238E27FC236}">
                      <a16:creationId xmlns:a16="http://schemas.microsoft.com/office/drawing/2014/main" id="{B5AF5C27-8A5B-46DA-AE7E-9968057A3F45}"/>
                    </a:ext>
                  </a:extLst>
                </p:cNvPr>
                <p:cNvSpPr>
                  <a:spLocks noChangeArrowheads="1"/>
                </p:cNvSpPr>
                <p:nvPr/>
              </p:nvSpPr>
              <p:spPr bwMode="auto">
                <a:xfrm>
                  <a:off x="438" y="1127"/>
                  <a:ext cx="237" cy="177"/>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p>
              </p:txBody>
            </p:sp>
            <p:sp>
              <p:nvSpPr>
                <p:cNvPr id="108588" name="Oval 31">
                  <a:extLst>
                    <a:ext uri="{FF2B5EF4-FFF2-40B4-BE49-F238E27FC236}">
                      <a16:creationId xmlns:a16="http://schemas.microsoft.com/office/drawing/2014/main" id="{2F097DEC-44D7-47B3-8746-867B206C2FEB}"/>
                    </a:ext>
                  </a:extLst>
                </p:cNvPr>
                <p:cNvSpPr>
                  <a:spLocks noChangeArrowheads="1"/>
                </p:cNvSpPr>
                <p:nvPr/>
              </p:nvSpPr>
              <p:spPr bwMode="auto">
                <a:xfrm>
                  <a:off x="190" y="771"/>
                  <a:ext cx="284" cy="214"/>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108589" name="Text Box 32">
                  <a:extLst>
                    <a:ext uri="{FF2B5EF4-FFF2-40B4-BE49-F238E27FC236}">
                      <a16:creationId xmlns:a16="http://schemas.microsoft.com/office/drawing/2014/main" id="{F790A3B7-7A9D-4637-B894-E23CB90E250F}"/>
                    </a:ext>
                  </a:extLst>
                </p:cNvPr>
                <p:cNvSpPr txBox="1">
                  <a:spLocks noChangeArrowheads="1"/>
                </p:cNvSpPr>
                <p:nvPr/>
              </p:nvSpPr>
              <p:spPr bwMode="auto">
                <a:xfrm>
                  <a:off x="13" y="1093"/>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a:latin typeface="Times New Roman" panose="02020603050405020304" pitchFamily="18" charset="0"/>
                    </a:rPr>
                    <a:t>2</a:t>
                  </a:r>
                  <a:endParaRPr lang="en-US" altLang="zh-CN" sz="2000" i="0">
                    <a:latin typeface="Times New Roman" panose="02020603050405020304" pitchFamily="18" charset="0"/>
                  </a:endParaRPr>
                </a:p>
              </p:txBody>
            </p:sp>
            <p:sp>
              <p:nvSpPr>
                <p:cNvPr id="108590" name="Text Box 33">
                  <a:extLst>
                    <a:ext uri="{FF2B5EF4-FFF2-40B4-BE49-F238E27FC236}">
                      <a16:creationId xmlns:a16="http://schemas.microsoft.com/office/drawing/2014/main" id="{4CCB15C2-03CD-45D7-8773-2AF4F31B60EE}"/>
                    </a:ext>
                  </a:extLst>
                </p:cNvPr>
                <p:cNvSpPr txBox="1">
                  <a:spLocks noChangeArrowheads="1"/>
                </p:cNvSpPr>
                <p:nvPr/>
              </p:nvSpPr>
              <p:spPr bwMode="auto">
                <a:xfrm>
                  <a:off x="463" y="1093"/>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a:latin typeface="Times New Roman" panose="02020603050405020304" pitchFamily="18" charset="0"/>
                    </a:rPr>
                    <a:t>3</a:t>
                  </a:r>
                </a:p>
              </p:txBody>
            </p:sp>
          </p:grpSp>
          <p:sp>
            <p:nvSpPr>
              <p:cNvPr id="108559" name="Text Box 34">
                <a:extLst>
                  <a:ext uri="{FF2B5EF4-FFF2-40B4-BE49-F238E27FC236}">
                    <a16:creationId xmlns:a16="http://schemas.microsoft.com/office/drawing/2014/main" id="{4D0583B2-AD99-493E-809E-023534CC06C3}"/>
                  </a:ext>
                </a:extLst>
              </p:cNvPr>
              <p:cNvSpPr txBox="1">
                <a:spLocks noChangeArrowheads="1"/>
              </p:cNvSpPr>
              <p:nvPr/>
            </p:nvSpPr>
            <p:spPr bwMode="auto">
              <a:xfrm>
                <a:off x="681" y="136"/>
                <a:ext cx="27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en-US" altLang="zh-CN" sz="2000" i="0">
                    <a:solidFill>
                      <a:schemeClr val="hlink"/>
                    </a:solidFill>
                  </a:rPr>
                  <a:t>0</a:t>
                </a:r>
              </a:p>
            </p:txBody>
          </p:sp>
          <p:sp>
            <p:nvSpPr>
              <p:cNvPr id="108560" name="Text Box 35">
                <a:extLst>
                  <a:ext uri="{FF2B5EF4-FFF2-40B4-BE49-F238E27FC236}">
                    <a16:creationId xmlns:a16="http://schemas.microsoft.com/office/drawing/2014/main" id="{B138D687-1856-45F3-A0C7-D56B861FF60E}"/>
                  </a:ext>
                </a:extLst>
              </p:cNvPr>
              <p:cNvSpPr txBox="1">
                <a:spLocks noChangeArrowheads="1"/>
              </p:cNvSpPr>
              <p:nvPr/>
            </p:nvSpPr>
            <p:spPr bwMode="auto">
              <a:xfrm>
                <a:off x="363" y="499"/>
                <a:ext cx="27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en-US" altLang="zh-CN" sz="2000" i="0">
                    <a:solidFill>
                      <a:schemeClr val="hlink"/>
                    </a:solidFill>
                  </a:rPr>
                  <a:t>0</a:t>
                </a:r>
              </a:p>
            </p:txBody>
          </p:sp>
          <p:sp>
            <p:nvSpPr>
              <p:cNvPr id="108561" name="Text Box 36">
                <a:extLst>
                  <a:ext uri="{FF2B5EF4-FFF2-40B4-BE49-F238E27FC236}">
                    <a16:creationId xmlns:a16="http://schemas.microsoft.com/office/drawing/2014/main" id="{E0B64C70-CCAC-4077-8829-B5D70107F133}"/>
                  </a:ext>
                </a:extLst>
              </p:cNvPr>
              <p:cNvSpPr txBox="1">
                <a:spLocks noChangeArrowheads="1"/>
              </p:cNvSpPr>
              <p:nvPr/>
            </p:nvSpPr>
            <p:spPr bwMode="auto">
              <a:xfrm>
                <a:off x="0" y="862"/>
                <a:ext cx="27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en-US" altLang="zh-CN" sz="2000" i="0">
                    <a:solidFill>
                      <a:schemeClr val="hlink"/>
                    </a:solidFill>
                  </a:rPr>
                  <a:t>0</a:t>
                </a:r>
              </a:p>
            </p:txBody>
          </p:sp>
          <p:sp>
            <p:nvSpPr>
              <p:cNvPr id="108562" name="Text Box 37">
                <a:extLst>
                  <a:ext uri="{FF2B5EF4-FFF2-40B4-BE49-F238E27FC236}">
                    <a16:creationId xmlns:a16="http://schemas.microsoft.com/office/drawing/2014/main" id="{1D571C07-0FD3-4FCA-9E3D-06D1DC38A07B}"/>
                  </a:ext>
                </a:extLst>
              </p:cNvPr>
              <p:cNvSpPr txBox="1">
                <a:spLocks noChangeArrowheads="1"/>
              </p:cNvSpPr>
              <p:nvPr/>
            </p:nvSpPr>
            <p:spPr bwMode="auto">
              <a:xfrm>
                <a:off x="862" y="862"/>
                <a:ext cx="27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en-US" altLang="zh-CN" sz="2000" i="0">
                    <a:solidFill>
                      <a:schemeClr val="hlink"/>
                    </a:solidFill>
                  </a:rPr>
                  <a:t>0</a:t>
                </a:r>
              </a:p>
            </p:txBody>
          </p:sp>
          <p:sp>
            <p:nvSpPr>
              <p:cNvPr id="108563" name="Text Box 38">
                <a:extLst>
                  <a:ext uri="{FF2B5EF4-FFF2-40B4-BE49-F238E27FC236}">
                    <a16:creationId xmlns:a16="http://schemas.microsoft.com/office/drawing/2014/main" id="{EFBA095A-254B-469D-83B4-AE368FE73F2E}"/>
                  </a:ext>
                </a:extLst>
              </p:cNvPr>
              <p:cNvSpPr txBox="1">
                <a:spLocks noChangeArrowheads="1"/>
              </p:cNvSpPr>
              <p:nvPr/>
            </p:nvSpPr>
            <p:spPr bwMode="auto">
              <a:xfrm>
                <a:off x="1180" y="136"/>
                <a:ext cx="27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en-US" altLang="zh-CN" sz="2000" i="0">
                    <a:solidFill>
                      <a:srgbClr val="3333FF"/>
                    </a:solidFill>
                  </a:rPr>
                  <a:t>1</a:t>
                </a:r>
              </a:p>
            </p:txBody>
          </p:sp>
          <p:sp>
            <p:nvSpPr>
              <p:cNvPr id="108564" name="Text Box 39">
                <a:extLst>
                  <a:ext uri="{FF2B5EF4-FFF2-40B4-BE49-F238E27FC236}">
                    <a16:creationId xmlns:a16="http://schemas.microsoft.com/office/drawing/2014/main" id="{3F7714C3-4F44-4B6E-9880-8F1E96B8C7EA}"/>
                  </a:ext>
                </a:extLst>
              </p:cNvPr>
              <p:cNvSpPr txBox="1">
                <a:spLocks noChangeArrowheads="1"/>
              </p:cNvSpPr>
              <p:nvPr/>
            </p:nvSpPr>
            <p:spPr bwMode="auto">
              <a:xfrm>
                <a:off x="907" y="545"/>
                <a:ext cx="27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en-US" altLang="zh-CN" sz="2000" i="0">
                    <a:solidFill>
                      <a:srgbClr val="3333FF"/>
                    </a:solidFill>
                  </a:rPr>
                  <a:t>1</a:t>
                </a:r>
              </a:p>
            </p:txBody>
          </p:sp>
          <p:sp>
            <p:nvSpPr>
              <p:cNvPr id="108565" name="Text Box 40">
                <a:extLst>
                  <a:ext uri="{FF2B5EF4-FFF2-40B4-BE49-F238E27FC236}">
                    <a16:creationId xmlns:a16="http://schemas.microsoft.com/office/drawing/2014/main" id="{2297A2EA-490D-43CC-9D24-A76C2B3BB3CA}"/>
                  </a:ext>
                </a:extLst>
              </p:cNvPr>
              <p:cNvSpPr txBox="1">
                <a:spLocks noChangeArrowheads="1"/>
              </p:cNvSpPr>
              <p:nvPr/>
            </p:nvSpPr>
            <p:spPr bwMode="auto">
              <a:xfrm>
                <a:off x="1270" y="862"/>
                <a:ext cx="27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en-US" altLang="zh-CN" sz="2000" i="0">
                    <a:solidFill>
                      <a:srgbClr val="3333FF"/>
                    </a:solidFill>
                  </a:rPr>
                  <a:t>1</a:t>
                </a:r>
              </a:p>
            </p:txBody>
          </p:sp>
          <p:sp>
            <p:nvSpPr>
              <p:cNvPr id="108566" name="Text Box 41">
                <a:extLst>
                  <a:ext uri="{FF2B5EF4-FFF2-40B4-BE49-F238E27FC236}">
                    <a16:creationId xmlns:a16="http://schemas.microsoft.com/office/drawing/2014/main" id="{501652E0-BA36-4464-B72B-B6AFFD75CEDE}"/>
                  </a:ext>
                </a:extLst>
              </p:cNvPr>
              <p:cNvSpPr txBox="1">
                <a:spLocks noChangeArrowheads="1"/>
              </p:cNvSpPr>
              <p:nvPr/>
            </p:nvSpPr>
            <p:spPr bwMode="auto">
              <a:xfrm>
                <a:off x="454" y="862"/>
                <a:ext cx="27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en-US" altLang="zh-CN" sz="2000" i="0">
                    <a:solidFill>
                      <a:srgbClr val="3333FF"/>
                    </a:solidFill>
                  </a:rPr>
                  <a:t>1</a:t>
                </a:r>
              </a:p>
            </p:txBody>
          </p:sp>
        </p:grpSp>
        <p:sp>
          <p:nvSpPr>
            <p:cNvPr id="108553" name="Text Box 42">
              <a:extLst>
                <a:ext uri="{FF2B5EF4-FFF2-40B4-BE49-F238E27FC236}">
                  <a16:creationId xmlns:a16="http://schemas.microsoft.com/office/drawing/2014/main" id="{584CCD78-201A-45EA-BF0B-8714E970D90F}"/>
                </a:ext>
              </a:extLst>
            </p:cNvPr>
            <p:cNvSpPr txBox="1">
              <a:spLocks noChangeArrowheads="1"/>
            </p:cNvSpPr>
            <p:nvPr/>
          </p:nvSpPr>
          <p:spPr bwMode="auto">
            <a:xfrm>
              <a:off x="816" y="1316"/>
              <a:ext cx="21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1600" b="1" i="0">
                  <a:solidFill>
                    <a:srgbClr val="CC0066"/>
                  </a:solidFill>
                  <a:latin typeface="Times New Roman" panose="02020603050405020304" pitchFamily="18" charset="0"/>
                </a:rPr>
                <a:t>G</a:t>
              </a:r>
              <a:endParaRPr lang="en-US" altLang="zh-CN" sz="1600" i="0">
                <a:solidFill>
                  <a:srgbClr val="CC0066"/>
                </a:solidFill>
                <a:latin typeface="Times New Roman" panose="02020603050405020304" pitchFamily="18" charset="0"/>
              </a:endParaRPr>
            </a:p>
          </p:txBody>
        </p:sp>
        <p:sp>
          <p:nvSpPr>
            <p:cNvPr id="108554" name="Text Box 43">
              <a:extLst>
                <a:ext uri="{FF2B5EF4-FFF2-40B4-BE49-F238E27FC236}">
                  <a16:creationId xmlns:a16="http://schemas.microsoft.com/office/drawing/2014/main" id="{7495E02E-5731-429E-AEE4-D61B5B0F9D9F}"/>
                </a:ext>
              </a:extLst>
            </p:cNvPr>
            <p:cNvSpPr txBox="1">
              <a:spLocks noChangeArrowheads="1"/>
            </p:cNvSpPr>
            <p:nvPr/>
          </p:nvSpPr>
          <p:spPr bwMode="auto">
            <a:xfrm>
              <a:off x="1271" y="1264"/>
              <a:ext cx="180"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1600" b="1" i="0">
                  <a:solidFill>
                    <a:srgbClr val="CC0066"/>
                  </a:solidFill>
                  <a:latin typeface="Times New Roman" panose="02020603050405020304" pitchFamily="18" charset="0"/>
                </a:rPr>
                <a:t>_</a:t>
              </a:r>
            </a:p>
          </p:txBody>
        </p:sp>
        <p:sp>
          <p:nvSpPr>
            <p:cNvPr id="108555" name="Text Box 44">
              <a:extLst>
                <a:ext uri="{FF2B5EF4-FFF2-40B4-BE49-F238E27FC236}">
                  <a16:creationId xmlns:a16="http://schemas.microsoft.com/office/drawing/2014/main" id="{856537C7-32D1-413D-AA53-29B022851CED}"/>
                </a:ext>
              </a:extLst>
            </p:cNvPr>
            <p:cNvSpPr txBox="1">
              <a:spLocks noChangeArrowheads="1"/>
            </p:cNvSpPr>
            <p:nvPr/>
          </p:nvSpPr>
          <p:spPr bwMode="auto">
            <a:xfrm>
              <a:off x="6" y="1316"/>
              <a:ext cx="194"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1600" b="1" i="0">
                  <a:solidFill>
                    <a:srgbClr val="CC0066"/>
                  </a:solidFill>
                  <a:latin typeface="Times New Roman" panose="02020603050405020304" pitchFamily="18" charset="0"/>
                </a:rPr>
                <a:t>F</a:t>
              </a:r>
              <a:endParaRPr lang="en-US" altLang="zh-CN" sz="1600" i="0">
                <a:solidFill>
                  <a:srgbClr val="CC0066"/>
                </a:solidFill>
                <a:latin typeface="Times New Roman" panose="02020603050405020304" pitchFamily="18" charset="0"/>
              </a:endParaRPr>
            </a:p>
          </p:txBody>
        </p:sp>
        <p:sp>
          <p:nvSpPr>
            <p:cNvPr id="108556" name="Text Box 45">
              <a:extLst>
                <a:ext uri="{FF2B5EF4-FFF2-40B4-BE49-F238E27FC236}">
                  <a16:creationId xmlns:a16="http://schemas.microsoft.com/office/drawing/2014/main" id="{93126C56-7F89-432E-9843-160240B3DA48}"/>
                </a:ext>
              </a:extLst>
            </p:cNvPr>
            <p:cNvSpPr txBox="1">
              <a:spLocks noChangeArrowheads="1"/>
            </p:cNvSpPr>
            <p:nvPr/>
          </p:nvSpPr>
          <p:spPr bwMode="auto">
            <a:xfrm>
              <a:off x="453" y="1316"/>
              <a:ext cx="208"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1600" b="1" i="0">
                  <a:solidFill>
                    <a:srgbClr val="CC0066"/>
                  </a:solidFill>
                  <a:latin typeface="Times New Roman" panose="02020603050405020304" pitchFamily="18" charset="0"/>
                </a:rPr>
                <a:t>D</a:t>
              </a:r>
            </a:p>
          </p:txBody>
        </p:sp>
        <p:sp>
          <p:nvSpPr>
            <p:cNvPr id="108557" name="Text Box 46">
              <a:extLst>
                <a:ext uri="{FF2B5EF4-FFF2-40B4-BE49-F238E27FC236}">
                  <a16:creationId xmlns:a16="http://schemas.microsoft.com/office/drawing/2014/main" id="{208939A1-2DB1-4248-976B-B966D6532F50}"/>
                </a:ext>
              </a:extLst>
            </p:cNvPr>
            <p:cNvSpPr txBox="1">
              <a:spLocks noChangeArrowheads="1"/>
            </p:cNvSpPr>
            <p:nvPr/>
          </p:nvSpPr>
          <p:spPr bwMode="auto">
            <a:xfrm>
              <a:off x="1224" y="635"/>
              <a:ext cx="21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1600" b="1" i="0">
                  <a:solidFill>
                    <a:srgbClr val="CC0066"/>
                  </a:solidFill>
                  <a:latin typeface="Times New Roman" panose="02020603050405020304" pitchFamily="18" charset="0"/>
                </a:rPr>
                <a:t>O</a:t>
              </a:r>
            </a:p>
          </p:txBody>
        </p:sp>
      </p:grpSp>
      <p:sp>
        <p:nvSpPr>
          <p:cNvPr id="2" name="Text Box 3">
            <a:extLst>
              <a:ext uri="{FF2B5EF4-FFF2-40B4-BE49-F238E27FC236}">
                <a16:creationId xmlns:a16="http://schemas.microsoft.com/office/drawing/2014/main" id="{4F6EBFCB-7923-4AE0-BCFF-4625E88EBAF4}"/>
              </a:ext>
            </a:extLst>
          </p:cNvPr>
          <p:cNvSpPr txBox="1">
            <a:spLocks noChangeArrowheads="1"/>
          </p:cNvSpPr>
          <p:nvPr/>
        </p:nvSpPr>
        <p:spPr bwMode="auto">
          <a:xfrm>
            <a:off x="251520" y="242343"/>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三、</a:t>
            </a:r>
            <a:r>
              <a:rPr lang="en-US" altLang="zh-CN" sz="4400" i="0" dirty="0">
                <a:solidFill>
                  <a:schemeClr val="tx2"/>
                </a:solidFill>
                <a:ea typeface="隶书" pitchFamily="49" charset="-122"/>
              </a:rPr>
              <a:t>Huffman</a:t>
            </a:r>
            <a:r>
              <a:rPr lang="zh-CN" altLang="en-US" sz="4400" i="0" dirty="0">
                <a:solidFill>
                  <a:schemeClr val="tx2"/>
                </a:solidFill>
                <a:ea typeface="隶书" pitchFamily="49" charset="-122"/>
              </a:rPr>
              <a:t>编码</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88069">
                                            <p:txEl>
                                              <p:pRg st="0" end="0"/>
                                            </p:txEl>
                                          </p:spTgt>
                                        </p:tgtEl>
                                        <p:attrNameLst>
                                          <p:attrName>style.visibility</p:attrName>
                                        </p:attrNameLst>
                                      </p:cBhvr>
                                      <p:to>
                                        <p:strVal val="visible"/>
                                      </p:to>
                                    </p:set>
                                    <p:animEffect transition="in" filter="blinds(horizontal)">
                                      <p:cBhvr>
                                        <p:cTn id="7" dur="500"/>
                                        <p:tgtEl>
                                          <p:spTgt spid="88069">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88069">
                                            <p:txEl>
                                              <p:pRg st="1" end="1"/>
                                            </p:txEl>
                                          </p:spTgt>
                                        </p:tgtEl>
                                        <p:attrNameLst>
                                          <p:attrName>style.visibility</p:attrName>
                                        </p:attrNameLst>
                                      </p:cBhvr>
                                      <p:to>
                                        <p:strVal val="visible"/>
                                      </p:to>
                                    </p:set>
                                    <p:animEffect transition="in" filter="blinds(horizontal)">
                                      <p:cBhvr>
                                        <p:cTn id="10" dur="500"/>
                                        <p:tgtEl>
                                          <p:spTgt spid="88069">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88069">
                                            <p:txEl>
                                              <p:pRg st="2" end="2"/>
                                            </p:txEl>
                                          </p:spTgt>
                                        </p:tgtEl>
                                        <p:attrNameLst>
                                          <p:attrName>style.visibility</p:attrName>
                                        </p:attrNameLst>
                                      </p:cBhvr>
                                      <p:to>
                                        <p:strVal val="visible"/>
                                      </p:to>
                                    </p:set>
                                    <p:animEffect transition="in" filter="blinds(horizontal)">
                                      <p:cBhvr>
                                        <p:cTn id="15" dur="500"/>
                                        <p:tgtEl>
                                          <p:spTgt spid="88069">
                                            <p:txEl>
                                              <p:pRg st="2" end="2"/>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nodeType="clickEffect">
                                  <p:stCondLst>
                                    <p:cond delay="0"/>
                                  </p:stCondLst>
                                  <p:childTnLst>
                                    <p:set>
                                      <p:cBhvr>
                                        <p:cTn id="19" dur="1" fill="hold">
                                          <p:stCondLst>
                                            <p:cond delay="0"/>
                                          </p:stCondLst>
                                        </p:cTn>
                                        <p:tgtEl>
                                          <p:spTgt spid="88069">
                                            <p:txEl>
                                              <p:pRg st="3" end="3"/>
                                            </p:txEl>
                                          </p:spTgt>
                                        </p:tgtEl>
                                        <p:attrNameLst>
                                          <p:attrName>style.visibility</p:attrName>
                                        </p:attrNameLst>
                                      </p:cBhvr>
                                      <p:to>
                                        <p:strVal val="visible"/>
                                      </p:to>
                                    </p:set>
                                    <p:animEffect transition="in" filter="blinds(horizontal)">
                                      <p:cBhvr>
                                        <p:cTn id="20" dur="500"/>
                                        <p:tgtEl>
                                          <p:spTgt spid="8806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Text Box 2">
            <a:extLst>
              <a:ext uri="{FF2B5EF4-FFF2-40B4-BE49-F238E27FC236}">
                <a16:creationId xmlns:a16="http://schemas.microsoft.com/office/drawing/2014/main" id="{8ED2D520-9006-4AF1-8DF3-90B19BF0BAE6}"/>
              </a:ext>
            </a:extLst>
          </p:cNvPr>
          <p:cNvSpPr txBox="1">
            <a:spLocks noChangeArrowheads="1"/>
          </p:cNvSpPr>
          <p:nvPr/>
        </p:nvSpPr>
        <p:spPr bwMode="auto">
          <a:xfrm>
            <a:off x="469171" y="1124744"/>
            <a:ext cx="8554035" cy="12324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15000"/>
              </a:lnSpc>
              <a:spcBef>
                <a:spcPct val="0"/>
              </a:spcBef>
              <a:buClrTx/>
              <a:buSzTx/>
              <a:buFont typeface="Arial" panose="020B0604020202020204" pitchFamily="34" charset="0"/>
              <a:buNone/>
            </a:pPr>
            <a:r>
              <a:rPr lang="zh-CN" altLang="en-US" sz="4000" i="0" dirty="0">
                <a:latin typeface="Times New Roman" panose="02020603050405020304" pitchFamily="18" charset="0"/>
                <a:ea typeface="楷体_GB2312" pitchFamily="1" charset="-122"/>
              </a:rPr>
              <a:t>      </a:t>
            </a:r>
            <a:r>
              <a:rPr lang="zh-CN" altLang="en-US" sz="2800" b="0" i="0" dirty="0">
                <a:latin typeface="黑体" panose="02010609060101010101" pitchFamily="49" charset="-122"/>
                <a:ea typeface="黑体" panose="02010609060101010101" pitchFamily="49" charset="-122"/>
                <a:sym typeface="Arial" panose="020B0604020202020204" pitchFamily="34" charset="0"/>
              </a:rPr>
              <a:t>若设计长短不等的编码，则必须是任一个字符的编码都不是另一个字符编码的前缀，称为前缀编码。</a:t>
            </a:r>
          </a:p>
        </p:txBody>
      </p:sp>
      <p:sp>
        <p:nvSpPr>
          <p:cNvPr id="89092" name="Text Box 4">
            <a:extLst>
              <a:ext uri="{FF2B5EF4-FFF2-40B4-BE49-F238E27FC236}">
                <a16:creationId xmlns:a16="http://schemas.microsoft.com/office/drawing/2014/main" id="{94EC489E-F78C-4A3B-995D-C92A7CC87D49}"/>
              </a:ext>
            </a:extLst>
          </p:cNvPr>
          <p:cNvSpPr txBox="1">
            <a:spLocks noChangeArrowheads="1"/>
          </p:cNvSpPr>
          <p:nvPr/>
        </p:nvSpPr>
        <p:spPr bwMode="auto">
          <a:xfrm>
            <a:off x="469171" y="2924944"/>
            <a:ext cx="8458200" cy="17964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zh-CN" altLang="en-US" sz="4000" b="1" i="0" dirty="0">
                <a:solidFill>
                  <a:srgbClr val="800080"/>
                </a:solidFill>
                <a:latin typeface="Times New Roman" panose="02020603050405020304" pitchFamily="18" charset="0"/>
                <a:ea typeface="楷体_GB2312" pitchFamily="1" charset="-122"/>
              </a:rPr>
              <a:t>     </a:t>
            </a:r>
            <a:r>
              <a:rPr lang="zh-CN" altLang="en-US" sz="2800" b="0" i="0" dirty="0">
                <a:latin typeface="黑体" panose="02010609060101010101" pitchFamily="49" charset="-122"/>
                <a:ea typeface="黑体" panose="02010609060101010101" pitchFamily="49" charset="-122"/>
                <a:sym typeface="Arial" panose="020B0604020202020204" pitchFamily="34" charset="0"/>
              </a:rPr>
              <a:t>利用</a:t>
            </a:r>
            <a:r>
              <a:rPr lang="zh-CN" altLang="en-US" sz="2800" b="0" i="0" dirty="0">
                <a:solidFill>
                  <a:schemeClr val="hlink"/>
                </a:solidFill>
                <a:latin typeface="黑体" panose="02010609060101010101" pitchFamily="49" charset="-122"/>
                <a:ea typeface="黑体" panose="02010609060101010101" pitchFamily="49" charset="-122"/>
                <a:sym typeface="Arial" panose="020B0604020202020204" pitchFamily="34" charset="0"/>
              </a:rPr>
              <a:t>赫夫曼树</a:t>
            </a:r>
            <a:r>
              <a:rPr lang="zh-CN" altLang="en-US" sz="2800" b="0" i="0" dirty="0">
                <a:latin typeface="黑体" panose="02010609060101010101" pitchFamily="49" charset="-122"/>
                <a:ea typeface="黑体" panose="02010609060101010101" pitchFamily="49" charset="-122"/>
                <a:sym typeface="Arial" panose="020B0604020202020204" pitchFamily="34" charset="0"/>
              </a:rPr>
              <a:t>可以构造一种不等长的二进制编码，并且构造所得的赫夫曼编码是</a:t>
            </a:r>
            <a:r>
              <a:rPr lang="zh-CN" altLang="en-US" sz="2800" b="0" i="0" dirty="0">
                <a:solidFill>
                  <a:schemeClr val="hlink"/>
                </a:solidFill>
                <a:latin typeface="黑体" panose="02010609060101010101" pitchFamily="49" charset="-122"/>
                <a:ea typeface="黑体" panose="02010609060101010101" pitchFamily="49" charset="-122"/>
                <a:sym typeface="Arial" panose="020B0604020202020204" pitchFamily="34" charset="0"/>
              </a:rPr>
              <a:t>一种最优前缀编码</a:t>
            </a:r>
            <a:r>
              <a:rPr lang="zh-CN" altLang="en-US" sz="2800" b="0" i="0" dirty="0">
                <a:latin typeface="黑体" panose="02010609060101010101" pitchFamily="49" charset="-122"/>
                <a:ea typeface="黑体" panose="02010609060101010101" pitchFamily="49" charset="-122"/>
                <a:sym typeface="Arial" panose="020B0604020202020204" pitchFamily="34" charset="0"/>
              </a:rPr>
              <a:t>，即使</a:t>
            </a:r>
            <a:r>
              <a:rPr lang="zh-CN" altLang="en-US" sz="2800" b="0" i="0" dirty="0">
                <a:solidFill>
                  <a:schemeClr val="hlink"/>
                </a:solidFill>
                <a:latin typeface="黑体" panose="02010609060101010101" pitchFamily="49" charset="-122"/>
                <a:ea typeface="黑体" panose="02010609060101010101" pitchFamily="49" charset="-122"/>
                <a:sym typeface="Arial" panose="020B0604020202020204" pitchFamily="34" charset="0"/>
              </a:rPr>
              <a:t>所传电文的总长度最短</a:t>
            </a:r>
            <a:r>
              <a:rPr lang="zh-CN" altLang="en-US" sz="2800" b="0" i="0" dirty="0">
                <a:latin typeface="黑体" panose="02010609060101010101" pitchFamily="49" charset="-122"/>
                <a:ea typeface="黑体" panose="02010609060101010101" pitchFamily="49" charset="-122"/>
                <a:sym typeface="Arial" panose="020B0604020202020204" pitchFamily="34" charset="0"/>
              </a:rPr>
              <a:t>。</a:t>
            </a:r>
          </a:p>
        </p:txBody>
      </p:sp>
      <p:sp>
        <p:nvSpPr>
          <p:cNvPr id="2" name="Text Box 3">
            <a:extLst>
              <a:ext uri="{FF2B5EF4-FFF2-40B4-BE49-F238E27FC236}">
                <a16:creationId xmlns:a16="http://schemas.microsoft.com/office/drawing/2014/main" id="{01FA2E1F-4B67-405E-8868-88BE4CBCA694}"/>
              </a:ext>
            </a:extLst>
          </p:cNvPr>
          <p:cNvSpPr txBox="1">
            <a:spLocks noChangeArrowheads="1"/>
          </p:cNvSpPr>
          <p:nvPr/>
        </p:nvSpPr>
        <p:spPr bwMode="auto">
          <a:xfrm>
            <a:off x="395536" y="188640"/>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前缀编码</a:t>
            </a:r>
          </a:p>
        </p:txBody>
      </p:sp>
    </p:spTree>
  </p:cSld>
  <p:clrMapOvr>
    <a:masterClrMapping/>
  </p:clrMapOvr>
  <p:transition spd="med">
    <p:pull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4" fill="hold" grpId="0" nodeType="clickEffect">
                                  <p:stCondLst>
                                    <p:cond delay="0"/>
                                  </p:stCondLst>
                                  <p:childTnLst>
                                    <p:set>
                                      <p:cBhvr>
                                        <p:cTn id="6" dur="1" fill="hold">
                                          <p:stCondLst>
                                            <p:cond delay="0"/>
                                          </p:stCondLst>
                                        </p:cTn>
                                        <p:tgtEl>
                                          <p:spTgt spid="89090"/>
                                        </p:tgtEl>
                                        <p:attrNameLst>
                                          <p:attrName>style.visibility</p:attrName>
                                        </p:attrNameLst>
                                      </p:cBhvr>
                                      <p:to>
                                        <p:strVal val="visible"/>
                                      </p:to>
                                    </p:set>
                                    <p:anim calcmode="lin" valueType="num">
                                      <p:cBhvr>
                                        <p:cTn id="7" dur="500" fill="hold"/>
                                        <p:tgtEl>
                                          <p:spTgt spid="89090"/>
                                        </p:tgtEl>
                                        <p:attrNameLst>
                                          <p:attrName>ppt_x</p:attrName>
                                        </p:attrNameLst>
                                      </p:cBhvr>
                                      <p:tavLst>
                                        <p:tav tm="0">
                                          <p:val>
                                            <p:strVal val="#ppt_x"/>
                                          </p:val>
                                        </p:tav>
                                        <p:tav tm="100000">
                                          <p:val>
                                            <p:strVal val="#ppt_x"/>
                                          </p:val>
                                        </p:tav>
                                      </p:tavLst>
                                    </p:anim>
                                    <p:anim calcmode="lin" valueType="num">
                                      <p:cBhvr>
                                        <p:cTn id="8" dur="500" fill="hold"/>
                                        <p:tgtEl>
                                          <p:spTgt spid="89090"/>
                                        </p:tgtEl>
                                        <p:attrNameLst>
                                          <p:attrName>ppt_y</p:attrName>
                                        </p:attrNameLst>
                                      </p:cBhvr>
                                      <p:tavLst>
                                        <p:tav tm="0">
                                          <p:val>
                                            <p:strVal val="#ppt_y+#ppt_h/2"/>
                                          </p:val>
                                        </p:tav>
                                        <p:tav tm="100000">
                                          <p:val>
                                            <p:strVal val="#ppt_y"/>
                                          </p:val>
                                        </p:tav>
                                      </p:tavLst>
                                    </p:anim>
                                    <p:anim calcmode="lin" valueType="num">
                                      <p:cBhvr>
                                        <p:cTn id="9" dur="500" fill="hold"/>
                                        <p:tgtEl>
                                          <p:spTgt spid="89090"/>
                                        </p:tgtEl>
                                        <p:attrNameLst>
                                          <p:attrName>ppt_w</p:attrName>
                                        </p:attrNameLst>
                                      </p:cBhvr>
                                      <p:tavLst>
                                        <p:tav tm="0">
                                          <p:val>
                                            <p:strVal val="#ppt_w"/>
                                          </p:val>
                                        </p:tav>
                                        <p:tav tm="100000">
                                          <p:val>
                                            <p:strVal val="#ppt_w"/>
                                          </p:val>
                                        </p:tav>
                                      </p:tavLst>
                                    </p:anim>
                                    <p:anim calcmode="lin" valueType="num">
                                      <p:cBhvr>
                                        <p:cTn id="10" dur="500" fill="hold"/>
                                        <p:tgtEl>
                                          <p:spTgt spid="89090"/>
                                        </p:tgtEl>
                                        <p:attrNameLst>
                                          <p:attrName>ppt_h</p:attrName>
                                        </p:attrNameLst>
                                      </p:cBhvr>
                                      <p:tavLst>
                                        <p:tav tm="0">
                                          <p:val>
                                            <p:fltVal val="0"/>
                                          </p:val>
                                        </p:tav>
                                        <p:tav tm="100000">
                                          <p:val>
                                            <p:strVal val="#ppt_h"/>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89092"/>
                                        </p:tgtEl>
                                        <p:attrNameLst>
                                          <p:attrName>style.visibility</p:attrName>
                                        </p:attrNameLst>
                                      </p:cBhvr>
                                      <p:to>
                                        <p:strVal val="visible"/>
                                      </p:to>
                                    </p:set>
                                    <p:animEffect transition="in" filter="wipe(left)">
                                      <p:cBhvr>
                                        <p:cTn id="15" dur="500"/>
                                        <p:tgtEl>
                                          <p:spTgt spid="890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0" grpId="0" autoUpdateAnimBg="0"/>
      <p:bldP spid="89092" grpId="0" autoUpdateAnimBg="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6" name="Text Box 4">
            <a:extLst>
              <a:ext uri="{FF2B5EF4-FFF2-40B4-BE49-F238E27FC236}">
                <a16:creationId xmlns:a16="http://schemas.microsoft.com/office/drawing/2014/main" id="{86B81778-26FE-4DF4-85B0-67EE0D70201A}"/>
              </a:ext>
            </a:extLst>
          </p:cNvPr>
          <p:cNvSpPr txBox="1">
            <a:spLocks noChangeArrowheads="1"/>
          </p:cNvSpPr>
          <p:nvPr/>
        </p:nvSpPr>
        <p:spPr bwMode="auto">
          <a:xfrm>
            <a:off x="507467" y="1268760"/>
            <a:ext cx="6827510" cy="54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zh-CN" altLang="en-US" sz="2800" b="0" i="0" dirty="0">
                <a:latin typeface="黑体" panose="02010609060101010101" pitchFamily="49" charset="-122"/>
                <a:ea typeface="黑体" panose="02010609060101010101" pitchFamily="49" charset="-122"/>
                <a:sym typeface="Arial" panose="020B0604020202020204" pitchFamily="34" charset="0"/>
              </a:rPr>
              <a:t>对电文‘abbaccdeec‘进行Huffman编码。</a:t>
            </a:r>
            <a:endParaRPr lang="zh-CN" altLang="en-US" sz="2800" b="0" i="0" dirty="0">
              <a:latin typeface="黑体" panose="02010609060101010101" pitchFamily="49" charset="-122"/>
              <a:ea typeface="黑体" panose="02010609060101010101" pitchFamily="49" charset="-122"/>
            </a:endParaRPr>
          </a:p>
        </p:txBody>
      </p:sp>
      <p:sp>
        <p:nvSpPr>
          <p:cNvPr id="2" name="Text Box 3">
            <a:extLst>
              <a:ext uri="{FF2B5EF4-FFF2-40B4-BE49-F238E27FC236}">
                <a16:creationId xmlns:a16="http://schemas.microsoft.com/office/drawing/2014/main" id="{E68E21C1-FF89-436B-88C6-D184474D2DE2}"/>
              </a:ext>
            </a:extLst>
          </p:cNvPr>
          <p:cNvSpPr txBox="1">
            <a:spLocks noChangeArrowheads="1"/>
          </p:cNvSpPr>
          <p:nvPr/>
        </p:nvSpPr>
        <p:spPr bwMode="auto">
          <a:xfrm>
            <a:off x="395536" y="188640"/>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en-US" altLang="zh-CN" sz="4400" i="0" dirty="0">
                <a:solidFill>
                  <a:schemeClr val="tx2"/>
                </a:solidFill>
                <a:ea typeface="隶书" pitchFamily="49" charset="-122"/>
              </a:rPr>
              <a:t>Huffman</a:t>
            </a:r>
            <a:r>
              <a:rPr lang="zh-CN" altLang="en-US" sz="4400" i="0" dirty="0">
                <a:solidFill>
                  <a:schemeClr val="tx2"/>
                </a:solidFill>
                <a:ea typeface="隶书" pitchFamily="49" charset="-122"/>
              </a:rPr>
              <a:t>编码练习</a:t>
            </a:r>
          </a:p>
        </p:txBody>
      </p:sp>
      <p:sp>
        <p:nvSpPr>
          <p:cNvPr id="3" name="文本框 2">
            <a:extLst>
              <a:ext uri="{FF2B5EF4-FFF2-40B4-BE49-F238E27FC236}">
                <a16:creationId xmlns:a16="http://schemas.microsoft.com/office/drawing/2014/main" id="{75C59488-A7A1-7AD9-FA28-22093BAFC57E}"/>
              </a:ext>
            </a:extLst>
          </p:cNvPr>
          <p:cNvSpPr txBox="1"/>
          <p:nvPr/>
        </p:nvSpPr>
        <p:spPr>
          <a:xfrm>
            <a:off x="524302" y="1916832"/>
            <a:ext cx="7704856" cy="523220"/>
          </a:xfrm>
          <a:prstGeom prst="rect">
            <a:avLst/>
          </a:prstGeom>
          <a:noFill/>
        </p:spPr>
        <p:txBody>
          <a:bodyPr wrap="square" rtlCol="0">
            <a:spAutoFit/>
          </a:bodyPr>
          <a:lstStyle/>
          <a:p>
            <a:r>
              <a:rPr lang="zh-CN" altLang="en-US" sz="2800" b="0" i="0" dirty="0">
                <a:latin typeface="+mn-ea"/>
                <a:ea typeface="+mn-ea"/>
              </a:rPr>
              <a:t>统计字符出现频度：</a:t>
            </a:r>
            <a:r>
              <a:rPr lang="en-US" altLang="zh-CN" sz="2800" b="0" i="0" dirty="0">
                <a:latin typeface="+mn-ea"/>
                <a:ea typeface="+mn-ea"/>
              </a:rPr>
              <a:t>a:2, b:2 , c:3, d:1, e:2</a:t>
            </a:r>
            <a:endParaRPr lang="zh-CN" altLang="en-US" sz="2800" b="0" i="0" dirty="0">
              <a:latin typeface="+mn-ea"/>
              <a:ea typeface="+mn-ea"/>
            </a:endParaRPr>
          </a:p>
        </p:txBody>
      </p:sp>
      <p:sp>
        <p:nvSpPr>
          <p:cNvPr id="5" name="文本框 4">
            <a:extLst>
              <a:ext uri="{FF2B5EF4-FFF2-40B4-BE49-F238E27FC236}">
                <a16:creationId xmlns:a16="http://schemas.microsoft.com/office/drawing/2014/main" id="{B0E9E536-97BD-CDD8-6A74-8A9F8501EDDA}"/>
              </a:ext>
            </a:extLst>
          </p:cNvPr>
          <p:cNvSpPr txBox="1"/>
          <p:nvPr/>
        </p:nvSpPr>
        <p:spPr>
          <a:xfrm>
            <a:off x="546006" y="2578634"/>
            <a:ext cx="7704856" cy="523220"/>
          </a:xfrm>
          <a:prstGeom prst="rect">
            <a:avLst/>
          </a:prstGeom>
          <a:noFill/>
        </p:spPr>
        <p:txBody>
          <a:bodyPr wrap="square" rtlCol="0">
            <a:spAutoFit/>
          </a:bodyPr>
          <a:lstStyle/>
          <a:p>
            <a:r>
              <a:rPr lang="zh-CN" altLang="en-US" sz="2800" b="0" i="0" dirty="0">
                <a:latin typeface="+mn-ea"/>
                <a:ea typeface="+mn-ea"/>
              </a:rPr>
              <a:t>以频度为权值构造</a:t>
            </a:r>
            <a:r>
              <a:rPr lang="en-US" altLang="zh-CN" sz="2800" b="0" i="0" dirty="0">
                <a:latin typeface="+mn-ea"/>
                <a:ea typeface="+mn-ea"/>
              </a:rPr>
              <a:t>Huffman</a:t>
            </a:r>
            <a:r>
              <a:rPr lang="zh-CN" altLang="en-US" sz="2800" b="0" i="0" dirty="0">
                <a:latin typeface="+mn-ea"/>
                <a:ea typeface="+mn-ea"/>
              </a:rPr>
              <a:t>树如下：</a:t>
            </a:r>
          </a:p>
        </p:txBody>
      </p:sp>
    </p:spTree>
  </p:cSld>
  <p:clrMapOvr>
    <a:masterClrMapping/>
  </p:clrMapOvr>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
            <a:extLst>
              <a:ext uri="{FF2B5EF4-FFF2-40B4-BE49-F238E27FC236}">
                <a16:creationId xmlns:a16="http://schemas.microsoft.com/office/drawing/2014/main" id="{E68E21C1-FF89-436B-88C6-D184474D2DE2}"/>
              </a:ext>
            </a:extLst>
          </p:cNvPr>
          <p:cNvSpPr txBox="1">
            <a:spLocks noChangeArrowheads="1"/>
          </p:cNvSpPr>
          <p:nvPr/>
        </p:nvSpPr>
        <p:spPr bwMode="auto">
          <a:xfrm>
            <a:off x="395536" y="188640"/>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en-US" altLang="zh-CN" sz="4400" i="0" dirty="0">
                <a:solidFill>
                  <a:schemeClr val="tx2"/>
                </a:solidFill>
                <a:ea typeface="隶书" pitchFamily="49" charset="-122"/>
              </a:rPr>
              <a:t>Huffman</a:t>
            </a:r>
            <a:r>
              <a:rPr lang="zh-CN" altLang="en-US" sz="4400" i="0" dirty="0">
                <a:solidFill>
                  <a:schemeClr val="tx2"/>
                </a:solidFill>
                <a:ea typeface="隶书" pitchFamily="49" charset="-122"/>
              </a:rPr>
              <a:t>编码练习</a:t>
            </a:r>
          </a:p>
        </p:txBody>
      </p:sp>
      <p:sp>
        <p:nvSpPr>
          <p:cNvPr id="7" name="Line 8">
            <a:extLst>
              <a:ext uri="{FF2B5EF4-FFF2-40B4-BE49-F238E27FC236}">
                <a16:creationId xmlns:a16="http://schemas.microsoft.com/office/drawing/2014/main" id="{3DCABCE8-7013-4496-2418-9221250E87F2}"/>
              </a:ext>
            </a:extLst>
          </p:cNvPr>
          <p:cNvSpPr>
            <a:spLocks noChangeShapeType="1"/>
          </p:cNvSpPr>
          <p:nvPr/>
        </p:nvSpPr>
        <p:spPr bwMode="auto">
          <a:xfrm>
            <a:off x="5863836" y="2661123"/>
            <a:ext cx="571500" cy="428625"/>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8" name="Line 9">
            <a:extLst>
              <a:ext uri="{FF2B5EF4-FFF2-40B4-BE49-F238E27FC236}">
                <a16:creationId xmlns:a16="http://schemas.microsoft.com/office/drawing/2014/main" id="{1588CD17-95B6-0B16-DC27-BB9707CC6384}"/>
              </a:ext>
            </a:extLst>
          </p:cNvPr>
          <p:cNvSpPr>
            <a:spLocks noChangeShapeType="1"/>
          </p:cNvSpPr>
          <p:nvPr/>
        </p:nvSpPr>
        <p:spPr bwMode="auto">
          <a:xfrm flipH="1">
            <a:off x="5063736" y="2661123"/>
            <a:ext cx="571500" cy="500063"/>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9" name="Oval 10">
            <a:extLst>
              <a:ext uri="{FF2B5EF4-FFF2-40B4-BE49-F238E27FC236}">
                <a16:creationId xmlns:a16="http://schemas.microsoft.com/office/drawing/2014/main" id="{350B4062-CC2A-8D57-6370-37BFDBCF73F1}"/>
              </a:ext>
            </a:extLst>
          </p:cNvPr>
          <p:cNvSpPr>
            <a:spLocks noChangeArrowheads="1"/>
          </p:cNvSpPr>
          <p:nvPr/>
        </p:nvSpPr>
        <p:spPr bwMode="auto">
          <a:xfrm>
            <a:off x="5520936" y="2405535"/>
            <a:ext cx="457200" cy="430213"/>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en-US" altLang="zh-CN" sz="2400" i="0" dirty="0">
              <a:solidFill>
                <a:schemeClr val="bg1"/>
              </a:solidFill>
            </a:endParaRPr>
          </a:p>
        </p:txBody>
      </p:sp>
      <p:sp>
        <p:nvSpPr>
          <p:cNvPr id="10" name="Line 11">
            <a:extLst>
              <a:ext uri="{FF2B5EF4-FFF2-40B4-BE49-F238E27FC236}">
                <a16:creationId xmlns:a16="http://schemas.microsoft.com/office/drawing/2014/main" id="{08C5C2DC-AB41-E990-123D-6DAB92439666}"/>
              </a:ext>
            </a:extLst>
          </p:cNvPr>
          <p:cNvSpPr>
            <a:spLocks noChangeShapeType="1"/>
          </p:cNvSpPr>
          <p:nvPr/>
        </p:nvSpPr>
        <p:spPr bwMode="auto">
          <a:xfrm flipH="1">
            <a:off x="6130536" y="3288185"/>
            <a:ext cx="419100" cy="460375"/>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11" name="Oval 12">
            <a:extLst>
              <a:ext uri="{FF2B5EF4-FFF2-40B4-BE49-F238E27FC236}">
                <a16:creationId xmlns:a16="http://schemas.microsoft.com/office/drawing/2014/main" id="{9E472328-FDCC-F6D0-4FCE-807F7A93DB95}"/>
              </a:ext>
            </a:extLst>
          </p:cNvPr>
          <p:cNvSpPr>
            <a:spLocks noChangeArrowheads="1"/>
          </p:cNvSpPr>
          <p:nvPr/>
        </p:nvSpPr>
        <p:spPr bwMode="auto">
          <a:xfrm>
            <a:off x="5749536" y="3677123"/>
            <a:ext cx="457200" cy="430213"/>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dirty="0">
                <a:solidFill>
                  <a:schemeClr val="bg1"/>
                </a:solidFill>
              </a:rPr>
              <a:t>d</a:t>
            </a:r>
          </a:p>
        </p:txBody>
      </p:sp>
      <p:sp>
        <p:nvSpPr>
          <p:cNvPr id="12" name="Line 13">
            <a:extLst>
              <a:ext uri="{FF2B5EF4-FFF2-40B4-BE49-F238E27FC236}">
                <a16:creationId xmlns:a16="http://schemas.microsoft.com/office/drawing/2014/main" id="{10768450-21E4-38C8-9308-BE620789FCE7}"/>
              </a:ext>
            </a:extLst>
          </p:cNvPr>
          <p:cNvSpPr>
            <a:spLocks noChangeShapeType="1"/>
          </p:cNvSpPr>
          <p:nvPr/>
        </p:nvSpPr>
        <p:spPr bwMode="auto">
          <a:xfrm>
            <a:off x="6587736" y="3319935"/>
            <a:ext cx="342900" cy="428625"/>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13" name="Oval 14">
            <a:extLst>
              <a:ext uri="{FF2B5EF4-FFF2-40B4-BE49-F238E27FC236}">
                <a16:creationId xmlns:a16="http://schemas.microsoft.com/office/drawing/2014/main" id="{93C0CC4E-79CD-C9AC-C290-4F3A244CBE2C}"/>
              </a:ext>
            </a:extLst>
          </p:cNvPr>
          <p:cNvSpPr>
            <a:spLocks noChangeArrowheads="1"/>
          </p:cNvSpPr>
          <p:nvPr/>
        </p:nvSpPr>
        <p:spPr bwMode="auto">
          <a:xfrm>
            <a:off x="4682736" y="3018310"/>
            <a:ext cx="457200" cy="430213"/>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dirty="0">
                <a:solidFill>
                  <a:schemeClr val="bg1"/>
                </a:solidFill>
              </a:rPr>
              <a:t>c</a:t>
            </a:r>
          </a:p>
        </p:txBody>
      </p:sp>
      <p:sp>
        <p:nvSpPr>
          <p:cNvPr id="14" name="Oval 15">
            <a:extLst>
              <a:ext uri="{FF2B5EF4-FFF2-40B4-BE49-F238E27FC236}">
                <a16:creationId xmlns:a16="http://schemas.microsoft.com/office/drawing/2014/main" id="{299DD0F9-C7B5-B30E-8D5A-343598114954}"/>
              </a:ext>
            </a:extLst>
          </p:cNvPr>
          <p:cNvSpPr>
            <a:spLocks noChangeArrowheads="1"/>
          </p:cNvSpPr>
          <p:nvPr/>
        </p:nvSpPr>
        <p:spPr bwMode="auto">
          <a:xfrm>
            <a:off x="6359136" y="3018310"/>
            <a:ext cx="457200" cy="430213"/>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en-US" altLang="zh-CN" sz="2400" i="0" dirty="0">
              <a:solidFill>
                <a:schemeClr val="bg1"/>
              </a:solidFill>
            </a:endParaRPr>
          </a:p>
        </p:txBody>
      </p:sp>
      <p:sp>
        <p:nvSpPr>
          <p:cNvPr id="15" name="Oval 16">
            <a:extLst>
              <a:ext uri="{FF2B5EF4-FFF2-40B4-BE49-F238E27FC236}">
                <a16:creationId xmlns:a16="http://schemas.microsoft.com/office/drawing/2014/main" id="{462CC0DD-4981-3750-5D12-9C301F79834F}"/>
              </a:ext>
            </a:extLst>
          </p:cNvPr>
          <p:cNvSpPr>
            <a:spLocks noChangeArrowheads="1"/>
          </p:cNvSpPr>
          <p:nvPr/>
        </p:nvSpPr>
        <p:spPr bwMode="auto">
          <a:xfrm>
            <a:off x="6778236" y="3708873"/>
            <a:ext cx="457200" cy="428625"/>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dirty="0">
                <a:solidFill>
                  <a:schemeClr val="bg1"/>
                </a:solidFill>
              </a:rPr>
              <a:t>a</a:t>
            </a:r>
          </a:p>
        </p:txBody>
      </p:sp>
      <p:sp>
        <p:nvSpPr>
          <p:cNvPr id="16" name="Text Box 17">
            <a:extLst>
              <a:ext uri="{FF2B5EF4-FFF2-40B4-BE49-F238E27FC236}">
                <a16:creationId xmlns:a16="http://schemas.microsoft.com/office/drawing/2014/main" id="{32C19CCF-C3E2-D640-883F-DE20831E6696}"/>
              </a:ext>
            </a:extLst>
          </p:cNvPr>
          <p:cNvSpPr txBox="1">
            <a:spLocks noChangeArrowheads="1"/>
          </p:cNvSpPr>
          <p:nvPr/>
        </p:nvSpPr>
        <p:spPr bwMode="auto">
          <a:xfrm>
            <a:off x="4758936" y="3399310"/>
            <a:ext cx="30480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en-US" altLang="zh-CN" sz="2800" b="0" i="0" dirty="0">
                <a:latin typeface="黑体" panose="02010609060101010101" pitchFamily="49" charset="-122"/>
                <a:ea typeface="黑体" panose="02010609060101010101" pitchFamily="49" charset="-122"/>
              </a:rPr>
              <a:t>3</a:t>
            </a:r>
            <a:endParaRPr lang="zh-CN" altLang="en-US" sz="2800" b="0" i="0" dirty="0">
              <a:latin typeface="黑体" panose="02010609060101010101" pitchFamily="49" charset="-122"/>
              <a:ea typeface="黑体" panose="02010609060101010101" pitchFamily="49" charset="-122"/>
            </a:endParaRPr>
          </a:p>
        </p:txBody>
      </p:sp>
      <p:sp>
        <p:nvSpPr>
          <p:cNvPr id="17" name="Text Box 18">
            <a:extLst>
              <a:ext uri="{FF2B5EF4-FFF2-40B4-BE49-F238E27FC236}">
                <a16:creationId xmlns:a16="http://schemas.microsoft.com/office/drawing/2014/main" id="{4A815A0E-FEE6-6125-4E86-479E1A73C87B}"/>
              </a:ext>
            </a:extLst>
          </p:cNvPr>
          <p:cNvSpPr txBox="1">
            <a:spLocks noChangeArrowheads="1"/>
          </p:cNvSpPr>
          <p:nvPr/>
        </p:nvSpPr>
        <p:spPr bwMode="auto">
          <a:xfrm>
            <a:off x="6872643" y="4050185"/>
            <a:ext cx="30480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en-US" altLang="zh-CN" sz="2800" b="0" i="0" dirty="0">
                <a:latin typeface="黑体" panose="02010609060101010101" pitchFamily="49" charset="-122"/>
                <a:ea typeface="黑体" panose="02010609060101010101" pitchFamily="49" charset="-122"/>
              </a:rPr>
              <a:t>2</a:t>
            </a:r>
            <a:endParaRPr lang="zh-CN" altLang="en-US" sz="2800" b="0" i="0" dirty="0">
              <a:latin typeface="黑体" panose="02010609060101010101" pitchFamily="49" charset="-122"/>
              <a:ea typeface="黑体" panose="02010609060101010101" pitchFamily="49" charset="-122"/>
            </a:endParaRPr>
          </a:p>
        </p:txBody>
      </p:sp>
      <p:sp>
        <p:nvSpPr>
          <p:cNvPr id="18" name="Text Box 19">
            <a:extLst>
              <a:ext uri="{FF2B5EF4-FFF2-40B4-BE49-F238E27FC236}">
                <a16:creationId xmlns:a16="http://schemas.microsoft.com/office/drawing/2014/main" id="{CF641BF1-A117-2A25-50E5-24B956832F89}"/>
              </a:ext>
            </a:extLst>
          </p:cNvPr>
          <p:cNvSpPr txBox="1">
            <a:spLocks noChangeArrowheads="1"/>
          </p:cNvSpPr>
          <p:nvPr/>
        </p:nvSpPr>
        <p:spPr bwMode="auto">
          <a:xfrm>
            <a:off x="5843943" y="4086054"/>
            <a:ext cx="30480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en-US" altLang="zh-CN" sz="2800" b="0" i="0" dirty="0">
                <a:latin typeface="黑体" panose="02010609060101010101" pitchFamily="49" charset="-122"/>
                <a:ea typeface="黑体" panose="02010609060101010101" pitchFamily="49" charset="-122"/>
              </a:rPr>
              <a:t>1</a:t>
            </a:r>
            <a:endParaRPr lang="zh-CN" altLang="en-US" sz="2800" b="0" i="0" dirty="0">
              <a:latin typeface="黑体" panose="02010609060101010101" pitchFamily="49" charset="-122"/>
              <a:ea typeface="黑体" panose="02010609060101010101" pitchFamily="49" charset="-122"/>
            </a:endParaRPr>
          </a:p>
        </p:txBody>
      </p:sp>
      <p:sp>
        <p:nvSpPr>
          <p:cNvPr id="19" name="Line 8">
            <a:extLst>
              <a:ext uri="{FF2B5EF4-FFF2-40B4-BE49-F238E27FC236}">
                <a16:creationId xmlns:a16="http://schemas.microsoft.com/office/drawing/2014/main" id="{2D00EF2A-933A-BB90-2655-23E82E9DA3AB}"/>
              </a:ext>
            </a:extLst>
          </p:cNvPr>
          <p:cNvSpPr>
            <a:spLocks noChangeShapeType="1"/>
          </p:cNvSpPr>
          <p:nvPr/>
        </p:nvSpPr>
        <p:spPr bwMode="auto">
          <a:xfrm>
            <a:off x="4758936" y="1831439"/>
            <a:ext cx="838200" cy="572295"/>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20" name="Oval 10">
            <a:extLst>
              <a:ext uri="{FF2B5EF4-FFF2-40B4-BE49-F238E27FC236}">
                <a16:creationId xmlns:a16="http://schemas.microsoft.com/office/drawing/2014/main" id="{3C968C7F-92EF-4D9B-1C49-7AA6068D1149}"/>
              </a:ext>
            </a:extLst>
          </p:cNvPr>
          <p:cNvSpPr>
            <a:spLocks noChangeArrowheads="1"/>
          </p:cNvSpPr>
          <p:nvPr/>
        </p:nvSpPr>
        <p:spPr bwMode="auto">
          <a:xfrm>
            <a:off x="4358190" y="1484784"/>
            <a:ext cx="457200" cy="430213"/>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en-US" altLang="zh-CN" sz="2400" i="0" dirty="0">
              <a:solidFill>
                <a:schemeClr val="bg1"/>
              </a:solidFill>
            </a:endParaRPr>
          </a:p>
        </p:txBody>
      </p:sp>
      <p:sp>
        <p:nvSpPr>
          <p:cNvPr id="21" name="Line 11">
            <a:extLst>
              <a:ext uri="{FF2B5EF4-FFF2-40B4-BE49-F238E27FC236}">
                <a16:creationId xmlns:a16="http://schemas.microsoft.com/office/drawing/2014/main" id="{B2F4FCCF-1F68-11EE-7627-9666B25DC269}"/>
              </a:ext>
            </a:extLst>
          </p:cNvPr>
          <p:cNvSpPr>
            <a:spLocks noChangeShapeType="1"/>
          </p:cNvSpPr>
          <p:nvPr/>
        </p:nvSpPr>
        <p:spPr bwMode="auto">
          <a:xfrm flipH="1">
            <a:off x="3040177" y="2675410"/>
            <a:ext cx="419100" cy="460375"/>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22" name="Oval 12">
            <a:extLst>
              <a:ext uri="{FF2B5EF4-FFF2-40B4-BE49-F238E27FC236}">
                <a16:creationId xmlns:a16="http://schemas.microsoft.com/office/drawing/2014/main" id="{03336765-ACCF-3F5B-BA29-3C4205F96B7B}"/>
              </a:ext>
            </a:extLst>
          </p:cNvPr>
          <p:cNvSpPr>
            <a:spLocks noChangeArrowheads="1"/>
          </p:cNvSpPr>
          <p:nvPr/>
        </p:nvSpPr>
        <p:spPr bwMode="auto">
          <a:xfrm>
            <a:off x="2659177" y="3064348"/>
            <a:ext cx="457200" cy="430213"/>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dirty="0">
                <a:solidFill>
                  <a:schemeClr val="bg1"/>
                </a:solidFill>
              </a:rPr>
              <a:t>b</a:t>
            </a:r>
          </a:p>
        </p:txBody>
      </p:sp>
      <p:sp>
        <p:nvSpPr>
          <p:cNvPr id="23" name="Line 13">
            <a:extLst>
              <a:ext uri="{FF2B5EF4-FFF2-40B4-BE49-F238E27FC236}">
                <a16:creationId xmlns:a16="http://schemas.microsoft.com/office/drawing/2014/main" id="{2272A82C-2525-490D-4D14-50AF9E5AB69B}"/>
              </a:ext>
            </a:extLst>
          </p:cNvPr>
          <p:cNvSpPr>
            <a:spLocks noChangeShapeType="1"/>
          </p:cNvSpPr>
          <p:nvPr/>
        </p:nvSpPr>
        <p:spPr bwMode="auto">
          <a:xfrm>
            <a:off x="3497377" y="2707160"/>
            <a:ext cx="342900" cy="428625"/>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24" name="Oval 15">
            <a:extLst>
              <a:ext uri="{FF2B5EF4-FFF2-40B4-BE49-F238E27FC236}">
                <a16:creationId xmlns:a16="http://schemas.microsoft.com/office/drawing/2014/main" id="{5775CB22-5B7C-5B6B-F06E-1E937118E550}"/>
              </a:ext>
            </a:extLst>
          </p:cNvPr>
          <p:cNvSpPr>
            <a:spLocks noChangeArrowheads="1"/>
          </p:cNvSpPr>
          <p:nvPr/>
        </p:nvSpPr>
        <p:spPr bwMode="auto">
          <a:xfrm>
            <a:off x="3268777" y="2405535"/>
            <a:ext cx="457200" cy="430213"/>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en-US" altLang="zh-CN" sz="2400" i="0" dirty="0">
              <a:solidFill>
                <a:schemeClr val="bg1"/>
              </a:solidFill>
            </a:endParaRPr>
          </a:p>
        </p:txBody>
      </p:sp>
      <p:sp>
        <p:nvSpPr>
          <p:cNvPr id="25" name="Oval 16">
            <a:extLst>
              <a:ext uri="{FF2B5EF4-FFF2-40B4-BE49-F238E27FC236}">
                <a16:creationId xmlns:a16="http://schemas.microsoft.com/office/drawing/2014/main" id="{869F1B09-DC54-B032-BF89-680E58882FBF}"/>
              </a:ext>
            </a:extLst>
          </p:cNvPr>
          <p:cNvSpPr>
            <a:spLocks noChangeArrowheads="1"/>
          </p:cNvSpPr>
          <p:nvPr/>
        </p:nvSpPr>
        <p:spPr bwMode="auto">
          <a:xfrm>
            <a:off x="3687877" y="3096098"/>
            <a:ext cx="457200" cy="428625"/>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dirty="0">
                <a:solidFill>
                  <a:schemeClr val="bg1"/>
                </a:solidFill>
              </a:rPr>
              <a:t>e</a:t>
            </a:r>
          </a:p>
        </p:txBody>
      </p:sp>
      <p:sp>
        <p:nvSpPr>
          <p:cNvPr id="26" name="Text Box 18">
            <a:extLst>
              <a:ext uri="{FF2B5EF4-FFF2-40B4-BE49-F238E27FC236}">
                <a16:creationId xmlns:a16="http://schemas.microsoft.com/office/drawing/2014/main" id="{115849E7-2751-0792-A460-0ED700A5461F}"/>
              </a:ext>
            </a:extLst>
          </p:cNvPr>
          <p:cNvSpPr txBox="1">
            <a:spLocks noChangeArrowheads="1"/>
          </p:cNvSpPr>
          <p:nvPr/>
        </p:nvSpPr>
        <p:spPr bwMode="auto">
          <a:xfrm>
            <a:off x="3624417" y="3435506"/>
            <a:ext cx="5334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en-US" altLang="zh-CN" sz="2800" b="0" i="0" dirty="0">
                <a:latin typeface="黑体" panose="02010609060101010101" pitchFamily="49" charset="-122"/>
                <a:ea typeface="黑体" panose="02010609060101010101" pitchFamily="49" charset="-122"/>
              </a:rPr>
              <a:t>2</a:t>
            </a:r>
            <a:endParaRPr lang="zh-CN" altLang="en-US" sz="2800" b="0" i="0" dirty="0">
              <a:latin typeface="黑体" panose="02010609060101010101" pitchFamily="49" charset="-122"/>
              <a:ea typeface="黑体" panose="02010609060101010101" pitchFamily="49" charset="-122"/>
            </a:endParaRPr>
          </a:p>
        </p:txBody>
      </p:sp>
      <p:sp>
        <p:nvSpPr>
          <p:cNvPr id="27" name="Text Box 19">
            <a:extLst>
              <a:ext uri="{FF2B5EF4-FFF2-40B4-BE49-F238E27FC236}">
                <a16:creationId xmlns:a16="http://schemas.microsoft.com/office/drawing/2014/main" id="{D2FDB4C4-1DC5-9467-BD0B-8DCE0202DF1F}"/>
              </a:ext>
            </a:extLst>
          </p:cNvPr>
          <p:cNvSpPr txBox="1">
            <a:spLocks noChangeArrowheads="1"/>
          </p:cNvSpPr>
          <p:nvPr/>
        </p:nvSpPr>
        <p:spPr bwMode="auto">
          <a:xfrm>
            <a:off x="2678227" y="3460606"/>
            <a:ext cx="40005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en-US" altLang="zh-CN" sz="2800" b="0" i="0" dirty="0">
                <a:latin typeface="黑体" panose="02010609060101010101" pitchFamily="49" charset="-122"/>
                <a:ea typeface="黑体" panose="02010609060101010101" pitchFamily="49" charset="-122"/>
              </a:rPr>
              <a:t>2</a:t>
            </a:r>
            <a:endParaRPr lang="zh-CN" altLang="en-US" sz="2800" b="0" i="0" dirty="0">
              <a:latin typeface="黑体" panose="02010609060101010101" pitchFamily="49" charset="-122"/>
              <a:ea typeface="黑体" panose="02010609060101010101" pitchFamily="49" charset="-122"/>
            </a:endParaRPr>
          </a:p>
        </p:txBody>
      </p:sp>
      <p:sp>
        <p:nvSpPr>
          <p:cNvPr id="28" name="Line 8">
            <a:extLst>
              <a:ext uri="{FF2B5EF4-FFF2-40B4-BE49-F238E27FC236}">
                <a16:creationId xmlns:a16="http://schemas.microsoft.com/office/drawing/2014/main" id="{0335A9C4-3976-69B2-8652-A376A52AA0F1}"/>
              </a:ext>
            </a:extLst>
          </p:cNvPr>
          <p:cNvSpPr>
            <a:spLocks noChangeShapeType="1"/>
          </p:cNvSpPr>
          <p:nvPr/>
        </p:nvSpPr>
        <p:spPr bwMode="auto">
          <a:xfrm flipH="1">
            <a:off x="3558090" y="1833240"/>
            <a:ext cx="838200" cy="572295"/>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4" name="文本框 3">
            <a:extLst>
              <a:ext uri="{FF2B5EF4-FFF2-40B4-BE49-F238E27FC236}">
                <a16:creationId xmlns:a16="http://schemas.microsoft.com/office/drawing/2014/main" id="{5D1F276A-8D25-EE6E-8EE9-4AEE070888F9}"/>
              </a:ext>
            </a:extLst>
          </p:cNvPr>
          <p:cNvSpPr txBox="1"/>
          <p:nvPr/>
        </p:nvSpPr>
        <p:spPr>
          <a:xfrm>
            <a:off x="3738717" y="1711772"/>
            <a:ext cx="419100" cy="461665"/>
          </a:xfrm>
          <a:prstGeom prst="rect">
            <a:avLst/>
          </a:prstGeom>
          <a:noFill/>
        </p:spPr>
        <p:txBody>
          <a:bodyPr wrap="square" rtlCol="0">
            <a:spAutoFit/>
          </a:bodyPr>
          <a:lstStyle/>
          <a:p>
            <a:r>
              <a:rPr lang="en-US" altLang="zh-CN" sz="2400" b="0" i="0" dirty="0">
                <a:latin typeface="+mn-ea"/>
                <a:ea typeface="+mn-ea"/>
              </a:rPr>
              <a:t>0</a:t>
            </a:r>
            <a:endParaRPr lang="zh-CN" altLang="en-US" sz="2400" b="0" i="0" dirty="0">
              <a:latin typeface="+mn-ea"/>
              <a:ea typeface="+mn-ea"/>
            </a:endParaRPr>
          </a:p>
        </p:txBody>
      </p:sp>
      <p:sp>
        <p:nvSpPr>
          <p:cNvPr id="29" name="文本框 28">
            <a:extLst>
              <a:ext uri="{FF2B5EF4-FFF2-40B4-BE49-F238E27FC236}">
                <a16:creationId xmlns:a16="http://schemas.microsoft.com/office/drawing/2014/main" id="{745B11BC-D547-B797-D485-C912C5BBF6C6}"/>
              </a:ext>
            </a:extLst>
          </p:cNvPr>
          <p:cNvSpPr txBox="1"/>
          <p:nvPr/>
        </p:nvSpPr>
        <p:spPr>
          <a:xfrm>
            <a:off x="5158986" y="1753849"/>
            <a:ext cx="419100" cy="461665"/>
          </a:xfrm>
          <a:prstGeom prst="rect">
            <a:avLst/>
          </a:prstGeom>
          <a:noFill/>
        </p:spPr>
        <p:txBody>
          <a:bodyPr wrap="square" rtlCol="0">
            <a:spAutoFit/>
          </a:bodyPr>
          <a:lstStyle/>
          <a:p>
            <a:r>
              <a:rPr lang="en-US" altLang="zh-CN" sz="2400" b="0" i="0" dirty="0">
                <a:latin typeface="+mn-ea"/>
                <a:ea typeface="+mn-ea"/>
              </a:rPr>
              <a:t>1</a:t>
            </a:r>
            <a:endParaRPr lang="zh-CN" altLang="en-US" sz="2400" b="0" i="0" dirty="0">
              <a:latin typeface="+mn-ea"/>
              <a:ea typeface="+mn-ea"/>
            </a:endParaRPr>
          </a:p>
        </p:txBody>
      </p:sp>
      <p:sp>
        <p:nvSpPr>
          <p:cNvPr id="30" name="文本框 29">
            <a:extLst>
              <a:ext uri="{FF2B5EF4-FFF2-40B4-BE49-F238E27FC236}">
                <a16:creationId xmlns:a16="http://schemas.microsoft.com/office/drawing/2014/main" id="{9619A64D-C464-E453-122F-CD763C31A73B}"/>
              </a:ext>
            </a:extLst>
          </p:cNvPr>
          <p:cNvSpPr txBox="1"/>
          <p:nvPr/>
        </p:nvSpPr>
        <p:spPr>
          <a:xfrm>
            <a:off x="5097576" y="2530088"/>
            <a:ext cx="419100" cy="461665"/>
          </a:xfrm>
          <a:prstGeom prst="rect">
            <a:avLst/>
          </a:prstGeom>
          <a:noFill/>
        </p:spPr>
        <p:txBody>
          <a:bodyPr wrap="square" rtlCol="0">
            <a:spAutoFit/>
          </a:bodyPr>
          <a:lstStyle/>
          <a:p>
            <a:r>
              <a:rPr lang="en-US" altLang="zh-CN" sz="2400" b="0" i="0" dirty="0">
                <a:latin typeface="+mn-ea"/>
                <a:ea typeface="+mn-ea"/>
              </a:rPr>
              <a:t>0</a:t>
            </a:r>
            <a:endParaRPr lang="zh-CN" altLang="en-US" sz="2400" b="0" i="0" dirty="0">
              <a:latin typeface="+mn-ea"/>
              <a:ea typeface="+mn-ea"/>
            </a:endParaRPr>
          </a:p>
        </p:txBody>
      </p:sp>
      <p:sp>
        <p:nvSpPr>
          <p:cNvPr id="31" name="文本框 30">
            <a:extLst>
              <a:ext uri="{FF2B5EF4-FFF2-40B4-BE49-F238E27FC236}">
                <a16:creationId xmlns:a16="http://schemas.microsoft.com/office/drawing/2014/main" id="{F7208D52-1FCE-5616-1DC3-9BD1A2A3A349}"/>
              </a:ext>
            </a:extLst>
          </p:cNvPr>
          <p:cNvSpPr txBox="1"/>
          <p:nvPr/>
        </p:nvSpPr>
        <p:spPr>
          <a:xfrm>
            <a:off x="3657099" y="2634433"/>
            <a:ext cx="419100" cy="461665"/>
          </a:xfrm>
          <a:prstGeom prst="rect">
            <a:avLst/>
          </a:prstGeom>
          <a:noFill/>
        </p:spPr>
        <p:txBody>
          <a:bodyPr wrap="square" rtlCol="0">
            <a:spAutoFit/>
          </a:bodyPr>
          <a:lstStyle/>
          <a:p>
            <a:r>
              <a:rPr lang="en-US" altLang="zh-CN" sz="2400" b="0" i="0" dirty="0">
                <a:latin typeface="+mn-ea"/>
                <a:ea typeface="+mn-ea"/>
              </a:rPr>
              <a:t>1</a:t>
            </a:r>
            <a:endParaRPr lang="zh-CN" altLang="en-US" sz="2400" b="0" i="0" dirty="0">
              <a:latin typeface="+mn-ea"/>
              <a:ea typeface="+mn-ea"/>
            </a:endParaRPr>
          </a:p>
        </p:txBody>
      </p:sp>
      <p:sp>
        <p:nvSpPr>
          <p:cNvPr id="32" name="文本框 31">
            <a:extLst>
              <a:ext uri="{FF2B5EF4-FFF2-40B4-BE49-F238E27FC236}">
                <a16:creationId xmlns:a16="http://schemas.microsoft.com/office/drawing/2014/main" id="{ECB0AC3F-A594-F796-CBF6-6426F6109C78}"/>
              </a:ext>
            </a:extLst>
          </p:cNvPr>
          <p:cNvSpPr txBox="1"/>
          <p:nvPr/>
        </p:nvSpPr>
        <p:spPr>
          <a:xfrm>
            <a:off x="6044811" y="3235451"/>
            <a:ext cx="419100" cy="461665"/>
          </a:xfrm>
          <a:prstGeom prst="rect">
            <a:avLst/>
          </a:prstGeom>
          <a:noFill/>
        </p:spPr>
        <p:txBody>
          <a:bodyPr wrap="square" rtlCol="0">
            <a:spAutoFit/>
          </a:bodyPr>
          <a:lstStyle/>
          <a:p>
            <a:r>
              <a:rPr lang="en-US" altLang="zh-CN" sz="2400" b="0" i="0" dirty="0">
                <a:latin typeface="+mn-ea"/>
                <a:ea typeface="+mn-ea"/>
              </a:rPr>
              <a:t>0</a:t>
            </a:r>
            <a:endParaRPr lang="zh-CN" altLang="en-US" sz="2400" b="0" i="0" dirty="0">
              <a:latin typeface="+mn-ea"/>
              <a:ea typeface="+mn-ea"/>
            </a:endParaRPr>
          </a:p>
        </p:txBody>
      </p:sp>
      <p:sp>
        <p:nvSpPr>
          <p:cNvPr id="33" name="文本框 32">
            <a:extLst>
              <a:ext uri="{FF2B5EF4-FFF2-40B4-BE49-F238E27FC236}">
                <a16:creationId xmlns:a16="http://schemas.microsoft.com/office/drawing/2014/main" id="{F4A269B7-6EF2-4D92-6652-FD89DDF737C5}"/>
              </a:ext>
            </a:extLst>
          </p:cNvPr>
          <p:cNvSpPr txBox="1"/>
          <p:nvPr/>
        </p:nvSpPr>
        <p:spPr>
          <a:xfrm>
            <a:off x="6797286" y="3279454"/>
            <a:ext cx="419100" cy="461665"/>
          </a:xfrm>
          <a:prstGeom prst="rect">
            <a:avLst/>
          </a:prstGeom>
          <a:noFill/>
        </p:spPr>
        <p:txBody>
          <a:bodyPr wrap="square" rtlCol="0">
            <a:spAutoFit/>
          </a:bodyPr>
          <a:lstStyle/>
          <a:p>
            <a:r>
              <a:rPr lang="en-US" altLang="zh-CN" sz="2400" b="0" i="0" dirty="0">
                <a:latin typeface="+mn-ea"/>
                <a:ea typeface="+mn-ea"/>
              </a:rPr>
              <a:t>1</a:t>
            </a:r>
            <a:endParaRPr lang="zh-CN" altLang="en-US" sz="2400" b="0" i="0" dirty="0">
              <a:latin typeface="+mn-ea"/>
              <a:ea typeface="+mn-ea"/>
            </a:endParaRPr>
          </a:p>
        </p:txBody>
      </p:sp>
      <p:sp>
        <p:nvSpPr>
          <p:cNvPr id="34" name="文本框 33">
            <a:extLst>
              <a:ext uri="{FF2B5EF4-FFF2-40B4-BE49-F238E27FC236}">
                <a16:creationId xmlns:a16="http://schemas.microsoft.com/office/drawing/2014/main" id="{6EDD97E6-F29C-C74C-0695-B963AD565EBB}"/>
              </a:ext>
            </a:extLst>
          </p:cNvPr>
          <p:cNvSpPr txBox="1"/>
          <p:nvPr/>
        </p:nvSpPr>
        <p:spPr>
          <a:xfrm>
            <a:off x="6332618" y="2679527"/>
            <a:ext cx="419100" cy="461665"/>
          </a:xfrm>
          <a:prstGeom prst="rect">
            <a:avLst/>
          </a:prstGeom>
          <a:noFill/>
        </p:spPr>
        <p:txBody>
          <a:bodyPr wrap="square" rtlCol="0">
            <a:spAutoFit/>
          </a:bodyPr>
          <a:lstStyle/>
          <a:p>
            <a:r>
              <a:rPr lang="en-US" altLang="zh-CN" sz="2400" b="0" i="0" dirty="0">
                <a:latin typeface="+mn-ea"/>
                <a:ea typeface="+mn-ea"/>
              </a:rPr>
              <a:t>1</a:t>
            </a:r>
            <a:endParaRPr lang="zh-CN" altLang="en-US" sz="2400" b="0" i="0" dirty="0">
              <a:latin typeface="+mn-ea"/>
              <a:ea typeface="+mn-ea"/>
            </a:endParaRPr>
          </a:p>
        </p:txBody>
      </p:sp>
      <p:sp>
        <p:nvSpPr>
          <p:cNvPr id="35" name="文本框 34">
            <a:extLst>
              <a:ext uri="{FF2B5EF4-FFF2-40B4-BE49-F238E27FC236}">
                <a16:creationId xmlns:a16="http://schemas.microsoft.com/office/drawing/2014/main" id="{8C275CCB-F19F-4B4B-44BE-9D7112732316}"/>
              </a:ext>
            </a:extLst>
          </p:cNvPr>
          <p:cNvSpPr txBox="1"/>
          <p:nvPr/>
        </p:nvSpPr>
        <p:spPr>
          <a:xfrm>
            <a:off x="2920604" y="2650327"/>
            <a:ext cx="419100" cy="461665"/>
          </a:xfrm>
          <a:prstGeom prst="rect">
            <a:avLst/>
          </a:prstGeom>
          <a:noFill/>
        </p:spPr>
        <p:txBody>
          <a:bodyPr wrap="square" rtlCol="0">
            <a:spAutoFit/>
          </a:bodyPr>
          <a:lstStyle/>
          <a:p>
            <a:r>
              <a:rPr lang="en-US" altLang="zh-CN" sz="2400" b="0" i="0" dirty="0">
                <a:latin typeface="+mn-ea"/>
                <a:ea typeface="+mn-ea"/>
              </a:rPr>
              <a:t>0</a:t>
            </a:r>
            <a:endParaRPr lang="zh-CN" altLang="en-US" sz="2400" b="0" i="0" dirty="0">
              <a:latin typeface="+mn-ea"/>
              <a:ea typeface="+mn-ea"/>
            </a:endParaRPr>
          </a:p>
        </p:txBody>
      </p:sp>
      <p:sp>
        <p:nvSpPr>
          <p:cNvPr id="36" name="文本框 35">
            <a:extLst>
              <a:ext uri="{FF2B5EF4-FFF2-40B4-BE49-F238E27FC236}">
                <a16:creationId xmlns:a16="http://schemas.microsoft.com/office/drawing/2014/main" id="{7A3840B9-2DA5-0E62-EFAD-4A03F2255FA5}"/>
              </a:ext>
            </a:extLst>
          </p:cNvPr>
          <p:cNvSpPr txBox="1"/>
          <p:nvPr/>
        </p:nvSpPr>
        <p:spPr>
          <a:xfrm>
            <a:off x="564386" y="4748653"/>
            <a:ext cx="7704856" cy="523220"/>
          </a:xfrm>
          <a:prstGeom prst="rect">
            <a:avLst/>
          </a:prstGeom>
          <a:noFill/>
        </p:spPr>
        <p:txBody>
          <a:bodyPr wrap="square" rtlCol="0">
            <a:spAutoFit/>
          </a:bodyPr>
          <a:lstStyle/>
          <a:p>
            <a:r>
              <a:rPr lang="zh-CN" altLang="en-US" sz="2800" b="0" i="0" dirty="0">
                <a:latin typeface="+mn-ea"/>
                <a:ea typeface="+mn-ea"/>
              </a:rPr>
              <a:t>码值：</a:t>
            </a:r>
            <a:r>
              <a:rPr lang="en-US" altLang="zh-CN" sz="2800" b="0" i="0" dirty="0">
                <a:latin typeface="+mn-ea"/>
                <a:ea typeface="+mn-ea"/>
              </a:rPr>
              <a:t>b:00 ,  e:01, c:10, d:110, a:111</a:t>
            </a:r>
            <a:endParaRPr lang="zh-CN" altLang="en-US" sz="2800" b="0" i="0" dirty="0">
              <a:latin typeface="+mn-ea"/>
              <a:ea typeface="+mn-ea"/>
            </a:endParaRPr>
          </a:p>
        </p:txBody>
      </p:sp>
    </p:spTree>
    <p:extLst>
      <p:ext uri="{BB962C8B-B14F-4D97-AF65-F5344CB8AC3E}">
        <p14:creationId xmlns:p14="http://schemas.microsoft.com/office/powerpoint/2010/main" val="341737917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9" name="Text Box 3">
            <a:extLst>
              <a:ext uri="{FF2B5EF4-FFF2-40B4-BE49-F238E27FC236}">
                <a16:creationId xmlns:a16="http://schemas.microsoft.com/office/drawing/2014/main" id="{2FB93148-8962-44BB-B336-66AC8FDE16C6}"/>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4051B027-E68B-4F0A-A658-D8CDA7945DB5}" type="slidenum">
              <a:rPr lang="zh-CN" altLang="en-US" sz="2400"/>
              <a:pPr algn="r" eaLnBrk="1" hangingPunct="1">
                <a:spcBef>
                  <a:spcPct val="50000"/>
                </a:spcBef>
                <a:buClrTx/>
                <a:buSzTx/>
                <a:buFont typeface="Arial" panose="020B0604020202020204" pitchFamily="34" charset="0"/>
                <a:buNone/>
              </a:pPr>
              <a:t>113</a:t>
            </a:fld>
            <a:endParaRPr lang="en-US" altLang="zh-CN" sz="2400"/>
          </a:p>
        </p:txBody>
      </p:sp>
      <p:graphicFrame>
        <p:nvGraphicFramePr>
          <p:cNvPr id="91142" name="Group 6">
            <a:extLst>
              <a:ext uri="{FF2B5EF4-FFF2-40B4-BE49-F238E27FC236}">
                <a16:creationId xmlns:a16="http://schemas.microsoft.com/office/drawing/2014/main" id="{11D95E03-00BA-495B-A07D-C634FD1D468F}"/>
              </a:ext>
            </a:extLst>
          </p:cNvPr>
          <p:cNvGraphicFramePr>
            <a:graphicFrameLocks noGrp="1"/>
          </p:cNvGraphicFramePr>
          <p:nvPr>
            <p:extLst>
              <p:ext uri="{D42A27DB-BD31-4B8C-83A1-F6EECF244321}">
                <p14:modId xmlns:p14="http://schemas.microsoft.com/office/powerpoint/2010/main" val="253540336"/>
              </p:ext>
            </p:extLst>
          </p:nvPr>
        </p:nvGraphicFramePr>
        <p:xfrm>
          <a:off x="1139519" y="2461668"/>
          <a:ext cx="6850062" cy="1036637"/>
        </p:xfrm>
        <a:graphic>
          <a:graphicData uri="http://schemas.openxmlformats.org/drawingml/2006/table">
            <a:tbl>
              <a:tblPr/>
              <a:tblGrid>
                <a:gridCol w="1141866">
                  <a:extLst>
                    <a:ext uri="{9D8B030D-6E8A-4147-A177-3AD203B41FA5}">
                      <a16:colId xmlns:a16="http://schemas.microsoft.com/office/drawing/2014/main" val="20000"/>
                    </a:ext>
                  </a:extLst>
                </a:gridCol>
                <a:gridCol w="1141866">
                  <a:extLst>
                    <a:ext uri="{9D8B030D-6E8A-4147-A177-3AD203B41FA5}">
                      <a16:colId xmlns:a16="http://schemas.microsoft.com/office/drawing/2014/main" val="20001"/>
                    </a:ext>
                  </a:extLst>
                </a:gridCol>
                <a:gridCol w="1140732">
                  <a:extLst>
                    <a:ext uri="{9D8B030D-6E8A-4147-A177-3AD203B41FA5}">
                      <a16:colId xmlns:a16="http://schemas.microsoft.com/office/drawing/2014/main" val="20002"/>
                    </a:ext>
                  </a:extLst>
                </a:gridCol>
                <a:gridCol w="1141866">
                  <a:extLst>
                    <a:ext uri="{9D8B030D-6E8A-4147-A177-3AD203B41FA5}">
                      <a16:colId xmlns:a16="http://schemas.microsoft.com/office/drawing/2014/main" val="20003"/>
                    </a:ext>
                  </a:extLst>
                </a:gridCol>
                <a:gridCol w="1141866">
                  <a:extLst>
                    <a:ext uri="{9D8B030D-6E8A-4147-A177-3AD203B41FA5}">
                      <a16:colId xmlns:a16="http://schemas.microsoft.com/office/drawing/2014/main" val="20004"/>
                    </a:ext>
                  </a:extLst>
                </a:gridCol>
                <a:gridCol w="1141866">
                  <a:extLst>
                    <a:ext uri="{9D8B030D-6E8A-4147-A177-3AD203B41FA5}">
                      <a16:colId xmlns:a16="http://schemas.microsoft.com/office/drawing/2014/main" val="20005"/>
                    </a:ext>
                  </a:extLst>
                </a:gridCol>
              </a:tblGrid>
              <a:tr h="518064">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800" b="0" i="0" u="none" strike="noStrike" cap="none" normalizeH="0" baseline="0" dirty="0">
                        <a:ln>
                          <a:noFill/>
                        </a:ln>
                        <a:solidFill>
                          <a:schemeClr val="tx1"/>
                        </a:solidFill>
                        <a:effectLst/>
                        <a:latin typeface="Tahoma" pitchFamily="34" charset="0"/>
                        <a:ea typeface="宋体" pitchFamily="2" charset="-122"/>
                      </a:endParaRPr>
                    </a:p>
                  </a:txBody>
                  <a:tcPr marL="91445" marR="91445" marT="45672" marB="4567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800" b="0" i="0" u="none" strike="noStrike" cap="none" normalizeH="0" baseline="0" dirty="0">
                        <a:ln>
                          <a:noFill/>
                        </a:ln>
                        <a:solidFill>
                          <a:schemeClr val="tx1"/>
                        </a:solidFill>
                        <a:effectLst/>
                        <a:latin typeface="Tahoma" pitchFamily="34" charset="0"/>
                        <a:ea typeface="宋体" pitchFamily="2" charset="-122"/>
                      </a:endParaRPr>
                    </a:p>
                  </a:txBody>
                  <a:tcPr marL="91445" marR="91445" marT="45672" marB="456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800" b="0" i="0" u="none" strike="noStrike" cap="none" normalizeH="0" baseline="0">
                        <a:ln>
                          <a:noFill/>
                        </a:ln>
                        <a:solidFill>
                          <a:schemeClr val="tx1"/>
                        </a:solidFill>
                        <a:effectLst/>
                        <a:latin typeface="Tahoma" pitchFamily="34" charset="0"/>
                        <a:ea typeface="宋体" pitchFamily="2" charset="-122"/>
                      </a:endParaRPr>
                    </a:p>
                  </a:txBody>
                  <a:tcPr marL="91445" marR="91445" marT="45672" marB="456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800" b="0" i="0" u="none" strike="noStrike" cap="none" normalizeH="0" baseline="0">
                        <a:ln>
                          <a:noFill/>
                        </a:ln>
                        <a:solidFill>
                          <a:schemeClr val="tx1"/>
                        </a:solidFill>
                        <a:effectLst/>
                        <a:latin typeface="Tahoma" pitchFamily="34" charset="0"/>
                        <a:ea typeface="宋体" pitchFamily="2" charset="-122"/>
                      </a:endParaRPr>
                    </a:p>
                  </a:txBody>
                  <a:tcPr marL="91445" marR="91445" marT="45672" marB="456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800" b="0" i="0" u="none" strike="noStrike" cap="none" normalizeH="0" baseline="0" dirty="0">
                        <a:ln>
                          <a:noFill/>
                        </a:ln>
                        <a:solidFill>
                          <a:schemeClr val="tx1"/>
                        </a:solidFill>
                        <a:effectLst/>
                        <a:latin typeface="Tahoma" pitchFamily="34" charset="0"/>
                        <a:ea typeface="宋体" pitchFamily="2" charset="-122"/>
                      </a:endParaRPr>
                    </a:p>
                  </a:txBody>
                  <a:tcPr marL="91445" marR="91445" marT="45672" marB="456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800" b="0" i="0" u="none" strike="noStrike" cap="none" normalizeH="0" baseline="0" dirty="0">
                        <a:ln>
                          <a:noFill/>
                        </a:ln>
                        <a:solidFill>
                          <a:schemeClr val="tx1"/>
                        </a:solidFill>
                        <a:effectLst/>
                        <a:latin typeface="Tahoma" pitchFamily="34" charset="0"/>
                        <a:ea typeface="宋体" pitchFamily="2" charset="-122"/>
                      </a:endParaRPr>
                    </a:p>
                  </a:txBody>
                  <a:tcPr marL="91445" marR="91445" marT="45672" marB="456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8573">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800" b="0" i="0" u="none" strike="noStrike" cap="none" normalizeH="0" baseline="0">
                        <a:ln>
                          <a:noFill/>
                        </a:ln>
                        <a:solidFill>
                          <a:schemeClr val="tx1"/>
                        </a:solidFill>
                        <a:effectLst/>
                        <a:latin typeface="Tahoma" pitchFamily="34" charset="0"/>
                        <a:ea typeface="宋体" pitchFamily="2" charset="-122"/>
                      </a:endParaRPr>
                    </a:p>
                  </a:txBody>
                  <a:tcPr marL="91445" marR="91445" marT="45672" marB="4567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800" b="0" i="0" u="none" strike="noStrike" cap="none" normalizeH="0" baseline="0">
                        <a:ln>
                          <a:noFill/>
                        </a:ln>
                        <a:solidFill>
                          <a:schemeClr val="tx1"/>
                        </a:solidFill>
                        <a:effectLst/>
                        <a:latin typeface="Tahoma" pitchFamily="34" charset="0"/>
                        <a:ea typeface="宋体" pitchFamily="2" charset="-122"/>
                      </a:endParaRPr>
                    </a:p>
                  </a:txBody>
                  <a:tcPr marL="91445" marR="91445" marT="45672" marB="456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800" b="0" i="0" u="none" strike="noStrike" cap="none" normalizeH="0" baseline="0">
                        <a:ln>
                          <a:noFill/>
                        </a:ln>
                        <a:solidFill>
                          <a:schemeClr val="tx1"/>
                        </a:solidFill>
                        <a:effectLst/>
                        <a:latin typeface="Tahoma" pitchFamily="34" charset="0"/>
                        <a:ea typeface="宋体" pitchFamily="2" charset="-122"/>
                      </a:endParaRPr>
                    </a:p>
                  </a:txBody>
                  <a:tcPr marL="91445" marR="91445" marT="45672" marB="456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800" b="0" i="0" u="none" strike="noStrike" cap="none" normalizeH="0" baseline="0">
                        <a:ln>
                          <a:noFill/>
                        </a:ln>
                        <a:solidFill>
                          <a:schemeClr val="tx1"/>
                        </a:solidFill>
                        <a:effectLst/>
                        <a:latin typeface="Tahoma" pitchFamily="34" charset="0"/>
                        <a:ea typeface="宋体" pitchFamily="2" charset="-122"/>
                      </a:endParaRPr>
                    </a:p>
                  </a:txBody>
                  <a:tcPr marL="91445" marR="91445" marT="45672" marB="456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800" b="0" i="0" u="none" strike="noStrike" cap="none" normalizeH="0" baseline="0" dirty="0">
                        <a:ln>
                          <a:noFill/>
                        </a:ln>
                        <a:solidFill>
                          <a:schemeClr val="tx1"/>
                        </a:solidFill>
                        <a:effectLst/>
                        <a:latin typeface="Tahoma" pitchFamily="34" charset="0"/>
                        <a:ea typeface="宋体" pitchFamily="2" charset="-122"/>
                      </a:endParaRPr>
                    </a:p>
                  </a:txBody>
                  <a:tcPr marL="91445" marR="91445" marT="45672" marB="456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800" b="0" i="0" u="none" strike="noStrike" cap="none" normalizeH="0" baseline="0" dirty="0">
                        <a:ln>
                          <a:noFill/>
                        </a:ln>
                        <a:solidFill>
                          <a:schemeClr val="tx1"/>
                        </a:solidFill>
                        <a:effectLst/>
                        <a:latin typeface="Tahoma" pitchFamily="34" charset="0"/>
                        <a:ea typeface="宋体" pitchFamily="2" charset="-122"/>
                      </a:endParaRPr>
                    </a:p>
                  </a:txBody>
                  <a:tcPr marL="91445" marR="91445" marT="45672" marB="456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91162" name="Text Box 26">
            <a:extLst>
              <a:ext uri="{FF2B5EF4-FFF2-40B4-BE49-F238E27FC236}">
                <a16:creationId xmlns:a16="http://schemas.microsoft.com/office/drawing/2014/main" id="{B511CB04-DDAB-4C8E-9356-AB465D3EFDFC}"/>
              </a:ext>
            </a:extLst>
          </p:cNvPr>
          <p:cNvSpPr txBox="1">
            <a:spLocks noChangeArrowheads="1"/>
          </p:cNvSpPr>
          <p:nvPr/>
        </p:nvSpPr>
        <p:spPr bwMode="auto">
          <a:xfrm>
            <a:off x="788681" y="1956843"/>
            <a:ext cx="1439863" cy="457200"/>
          </a:xfrm>
          <a:prstGeom prst="rect">
            <a:avLst/>
          </a:prstGeom>
          <a:noFill/>
          <a:ln>
            <a:noFill/>
          </a:ln>
          <a:effectLst/>
        </p:spPr>
        <p:txBody>
          <a:bodyPr>
            <a:spAutoFit/>
          </a:bodyPr>
          <a:lstStyle>
            <a:lvl1pPr marL="342900" indent="-342900">
              <a:defRPr sz="2400">
                <a:solidFill>
                  <a:schemeClr val="tx1"/>
                </a:solidFill>
                <a:latin typeface="Arial" pitchFamily="34" charset="0"/>
                <a:ea typeface="宋体" pitchFamily="2" charset="-122"/>
              </a:defRPr>
            </a:lvl1pPr>
            <a:lvl2pPr>
              <a:defRPr sz="2400">
                <a:solidFill>
                  <a:schemeClr val="tx1"/>
                </a:solidFill>
                <a:latin typeface="Arial" pitchFamily="34" charset="0"/>
                <a:ea typeface="宋体" pitchFamily="2" charset="-122"/>
              </a:defRPr>
            </a:lvl2pPr>
            <a:lvl3pPr>
              <a:defRPr sz="2400">
                <a:solidFill>
                  <a:schemeClr val="tx1"/>
                </a:solidFill>
                <a:latin typeface="Arial" pitchFamily="34" charset="0"/>
                <a:ea typeface="宋体" pitchFamily="2" charset="-122"/>
              </a:defRPr>
            </a:lvl3pPr>
            <a:lvl4pPr>
              <a:defRPr sz="2400">
                <a:solidFill>
                  <a:schemeClr val="tx1"/>
                </a:solidFill>
                <a:latin typeface="Arial" pitchFamily="34" charset="0"/>
                <a:ea typeface="宋体" pitchFamily="2" charset="-122"/>
              </a:defRPr>
            </a:lvl4pPr>
            <a:lvl5pPr>
              <a:defRPr sz="2400">
                <a:solidFill>
                  <a:schemeClr val="tx1"/>
                </a:solidFill>
                <a:latin typeface="Arial" pitchFamily="34" charset="0"/>
                <a:ea typeface="宋体" pitchFamily="2" charset="-122"/>
              </a:defRPr>
            </a:lvl5pPr>
            <a:lvl6pPr fontAlgn="base">
              <a:spcBef>
                <a:spcPct val="0"/>
              </a:spcBef>
              <a:spcAft>
                <a:spcPct val="0"/>
              </a:spcAft>
              <a:buFont typeface="Arial" pitchFamily="34" charset="0"/>
              <a:defRPr sz="2400">
                <a:solidFill>
                  <a:schemeClr val="tx1"/>
                </a:solidFill>
                <a:latin typeface="Arial" pitchFamily="34" charset="0"/>
                <a:ea typeface="宋体" pitchFamily="2" charset="-122"/>
              </a:defRPr>
            </a:lvl6pPr>
            <a:lvl7pPr fontAlgn="base">
              <a:spcBef>
                <a:spcPct val="0"/>
              </a:spcBef>
              <a:spcAft>
                <a:spcPct val="0"/>
              </a:spcAft>
              <a:buFont typeface="Arial" pitchFamily="34" charset="0"/>
              <a:defRPr sz="2400">
                <a:solidFill>
                  <a:schemeClr val="tx1"/>
                </a:solidFill>
                <a:latin typeface="Arial" pitchFamily="34" charset="0"/>
                <a:ea typeface="宋体" pitchFamily="2" charset="-122"/>
              </a:defRPr>
            </a:lvl7pPr>
            <a:lvl8pPr fontAlgn="base">
              <a:spcBef>
                <a:spcPct val="0"/>
              </a:spcBef>
              <a:spcAft>
                <a:spcPct val="0"/>
              </a:spcAft>
              <a:buFont typeface="Arial" pitchFamily="34" charset="0"/>
              <a:defRPr sz="2400">
                <a:solidFill>
                  <a:schemeClr val="tx1"/>
                </a:solidFill>
                <a:latin typeface="Arial" pitchFamily="34" charset="0"/>
                <a:ea typeface="宋体" pitchFamily="2" charset="-122"/>
              </a:defRPr>
            </a:lvl8pPr>
            <a:lvl9pPr fontAlgn="base">
              <a:spcBef>
                <a:spcPct val="0"/>
              </a:spcBef>
              <a:spcAft>
                <a:spcPct val="0"/>
              </a:spcAft>
              <a:buFont typeface="Arial" pitchFamily="34" charset="0"/>
              <a:defRPr sz="2400">
                <a:solidFill>
                  <a:schemeClr val="tx1"/>
                </a:solidFill>
                <a:latin typeface="Arial" pitchFamily="34" charset="0"/>
                <a:ea typeface="宋体" pitchFamily="2" charset="-122"/>
              </a:defRPr>
            </a:lvl9pPr>
          </a:lstStyle>
          <a:p>
            <a:pPr algn="ctr" eaLnBrk="1" hangingPunct="1">
              <a:spcBef>
                <a:spcPct val="50000"/>
              </a:spcBef>
              <a:buClr>
                <a:schemeClr val="hlink"/>
              </a:buClr>
              <a:buSzPct val="75000"/>
              <a:buFont typeface="Wingdings" pitchFamily="2" charset="2"/>
              <a:buNone/>
              <a:defRPr/>
            </a:pPr>
            <a:r>
              <a:rPr lang="en-US" altLang="zh-CN" b="1" i="0" dirty="0">
                <a:solidFill>
                  <a:srgbClr val="D60629"/>
                </a:solidFill>
                <a:effectLst>
                  <a:outerShdw blurRad="38100" dist="38100" dir="2700000" algn="tl">
                    <a:srgbClr val="C0C0C0"/>
                  </a:outerShdw>
                </a:effectLst>
              </a:rPr>
              <a:t>data</a:t>
            </a:r>
          </a:p>
        </p:txBody>
      </p:sp>
      <p:sp>
        <p:nvSpPr>
          <p:cNvPr id="91163" name="Text Box 27">
            <a:extLst>
              <a:ext uri="{FF2B5EF4-FFF2-40B4-BE49-F238E27FC236}">
                <a16:creationId xmlns:a16="http://schemas.microsoft.com/office/drawing/2014/main" id="{27E12295-073A-4E5D-9A72-3FFB44C12ED0}"/>
              </a:ext>
            </a:extLst>
          </p:cNvPr>
          <p:cNvSpPr txBox="1">
            <a:spLocks noChangeArrowheads="1"/>
          </p:cNvSpPr>
          <p:nvPr/>
        </p:nvSpPr>
        <p:spPr bwMode="auto">
          <a:xfrm>
            <a:off x="2228544" y="1956843"/>
            <a:ext cx="1223962" cy="457200"/>
          </a:xfrm>
          <a:prstGeom prst="rect">
            <a:avLst/>
          </a:prstGeom>
          <a:noFill/>
          <a:ln>
            <a:noFill/>
          </a:ln>
          <a:effectLst/>
        </p:spPr>
        <p:txBody>
          <a:bodyPr>
            <a:spAutoFit/>
          </a:bodyPr>
          <a:lstStyle>
            <a:lvl1pPr marL="342900" indent="-342900">
              <a:defRPr sz="2400">
                <a:solidFill>
                  <a:schemeClr val="tx1"/>
                </a:solidFill>
                <a:latin typeface="Arial" pitchFamily="34" charset="0"/>
                <a:ea typeface="宋体" pitchFamily="2" charset="-122"/>
              </a:defRPr>
            </a:lvl1pPr>
            <a:lvl2pPr>
              <a:defRPr sz="2400">
                <a:solidFill>
                  <a:schemeClr val="tx1"/>
                </a:solidFill>
                <a:latin typeface="Arial" pitchFamily="34" charset="0"/>
                <a:ea typeface="宋体" pitchFamily="2" charset="-122"/>
              </a:defRPr>
            </a:lvl2pPr>
            <a:lvl3pPr>
              <a:defRPr sz="2400">
                <a:solidFill>
                  <a:schemeClr val="tx1"/>
                </a:solidFill>
                <a:latin typeface="Arial" pitchFamily="34" charset="0"/>
                <a:ea typeface="宋体" pitchFamily="2" charset="-122"/>
              </a:defRPr>
            </a:lvl3pPr>
            <a:lvl4pPr>
              <a:defRPr sz="2400">
                <a:solidFill>
                  <a:schemeClr val="tx1"/>
                </a:solidFill>
                <a:latin typeface="Arial" pitchFamily="34" charset="0"/>
                <a:ea typeface="宋体" pitchFamily="2" charset="-122"/>
              </a:defRPr>
            </a:lvl4pPr>
            <a:lvl5pPr>
              <a:defRPr sz="2400">
                <a:solidFill>
                  <a:schemeClr val="tx1"/>
                </a:solidFill>
                <a:latin typeface="Arial" pitchFamily="34" charset="0"/>
                <a:ea typeface="宋体" pitchFamily="2" charset="-122"/>
              </a:defRPr>
            </a:lvl5pPr>
            <a:lvl6pPr fontAlgn="base">
              <a:spcBef>
                <a:spcPct val="0"/>
              </a:spcBef>
              <a:spcAft>
                <a:spcPct val="0"/>
              </a:spcAft>
              <a:buFont typeface="Arial" pitchFamily="34" charset="0"/>
              <a:defRPr sz="2400">
                <a:solidFill>
                  <a:schemeClr val="tx1"/>
                </a:solidFill>
                <a:latin typeface="Arial" pitchFamily="34" charset="0"/>
                <a:ea typeface="宋体" pitchFamily="2" charset="-122"/>
              </a:defRPr>
            </a:lvl6pPr>
            <a:lvl7pPr fontAlgn="base">
              <a:spcBef>
                <a:spcPct val="0"/>
              </a:spcBef>
              <a:spcAft>
                <a:spcPct val="0"/>
              </a:spcAft>
              <a:buFont typeface="Arial" pitchFamily="34" charset="0"/>
              <a:defRPr sz="2400">
                <a:solidFill>
                  <a:schemeClr val="tx1"/>
                </a:solidFill>
                <a:latin typeface="Arial" pitchFamily="34" charset="0"/>
                <a:ea typeface="宋体" pitchFamily="2" charset="-122"/>
              </a:defRPr>
            </a:lvl7pPr>
            <a:lvl8pPr fontAlgn="base">
              <a:spcBef>
                <a:spcPct val="0"/>
              </a:spcBef>
              <a:spcAft>
                <a:spcPct val="0"/>
              </a:spcAft>
              <a:buFont typeface="Arial" pitchFamily="34" charset="0"/>
              <a:defRPr sz="2400">
                <a:solidFill>
                  <a:schemeClr val="tx1"/>
                </a:solidFill>
                <a:latin typeface="Arial" pitchFamily="34" charset="0"/>
                <a:ea typeface="宋体" pitchFamily="2" charset="-122"/>
              </a:defRPr>
            </a:lvl8pPr>
            <a:lvl9pPr fontAlgn="base">
              <a:spcBef>
                <a:spcPct val="0"/>
              </a:spcBef>
              <a:spcAft>
                <a:spcPct val="0"/>
              </a:spcAft>
              <a:buFont typeface="Arial" pitchFamily="34" charset="0"/>
              <a:defRPr sz="2400">
                <a:solidFill>
                  <a:schemeClr val="tx1"/>
                </a:solidFill>
                <a:latin typeface="Arial" pitchFamily="34" charset="0"/>
                <a:ea typeface="宋体" pitchFamily="2" charset="-122"/>
              </a:defRPr>
            </a:lvl9pPr>
          </a:lstStyle>
          <a:p>
            <a:pPr algn="ctr" eaLnBrk="1" hangingPunct="1">
              <a:spcBef>
                <a:spcPct val="50000"/>
              </a:spcBef>
              <a:buClr>
                <a:schemeClr val="hlink"/>
              </a:buClr>
              <a:buSzPct val="75000"/>
              <a:buFont typeface="Wingdings" pitchFamily="2" charset="2"/>
              <a:buNone/>
              <a:defRPr/>
            </a:pPr>
            <a:r>
              <a:rPr lang="en-US" altLang="zh-CN" b="1" i="0" dirty="0">
                <a:solidFill>
                  <a:srgbClr val="D60629"/>
                </a:solidFill>
                <a:effectLst>
                  <a:outerShdw blurRad="38100" dist="38100" dir="2700000" algn="tl">
                    <a:srgbClr val="C0C0C0"/>
                  </a:outerShdw>
                </a:effectLst>
              </a:rPr>
              <a:t>weight</a:t>
            </a:r>
          </a:p>
        </p:txBody>
      </p:sp>
      <p:sp>
        <p:nvSpPr>
          <p:cNvPr id="91164" name="Text Box 28">
            <a:extLst>
              <a:ext uri="{FF2B5EF4-FFF2-40B4-BE49-F238E27FC236}">
                <a16:creationId xmlns:a16="http://schemas.microsoft.com/office/drawing/2014/main" id="{CE0C69B9-32C7-413C-9EF8-5B210D1D9E73}"/>
              </a:ext>
            </a:extLst>
          </p:cNvPr>
          <p:cNvSpPr txBox="1">
            <a:spLocks noChangeArrowheads="1"/>
          </p:cNvSpPr>
          <p:nvPr/>
        </p:nvSpPr>
        <p:spPr bwMode="auto">
          <a:xfrm>
            <a:off x="3309631" y="1931443"/>
            <a:ext cx="1223963" cy="457200"/>
          </a:xfrm>
          <a:prstGeom prst="rect">
            <a:avLst/>
          </a:prstGeom>
          <a:noFill/>
          <a:ln>
            <a:noFill/>
          </a:ln>
          <a:effectLst/>
        </p:spPr>
        <p:txBody>
          <a:bodyPr>
            <a:spAutoFit/>
          </a:bodyPr>
          <a:lstStyle>
            <a:lvl1pPr marL="342900" indent="-342900">
              <a:defRPr sz="2400">
                <a:solidFill>
                  <a:schemeClr val="tx1"/>
                </a:solidFill>
                <a:latin typeface="Arial" pitchFamily="34" charset="0"/>
                <a:ea typeface="宋体" pitchFamily="2" charset="-122"/>
              </a:defRPr>
            </a:lvl1pPr>
            <a:lvl2pPr>
              <a:defRPr sz="2400">
                <a:solidFill>
                  <a:schemeClr val="tx1"/>
                </a:solidFill>
                <a:latin typeface="Arial" pitchFamily="34" charset="0"/>
                <a:ea typeface="宋体" pitchFamily="2" charset="-122"/>
              </a:defRPr>
            </a:lvl2pPr>
            <a:lvl3pPr>
              <a:defRPr sz="2400">
                <a:solidFill>
                  <a:schemeClr val="tx1"/>
                </a:solidFill>
                <a:latin typeface="Arial" pitchFamily="34" charset="0"/>
                <a:ea typeface="宋体" pitchFamily="2" charset="-122"/>
              </a:defRPr>
            </a:lvl3pPr>
            <a:lvl4pPr>
              <a:defRPr sz="2400">
                <a:solidFill>
                  <a:schemeClr val="tx1"/>
                </a:solidFill>
                <a:latin typeface="Arial" pitchFamily="34" charset="0"/>
                <a:ea typeface="宋体" pitchFamily="2" charset="-122"/>
              </a:defRPr>
            </a:lvl4pPr>
            <a:lvl5pPr>
              <a:defRPr sz="2400">
                <a:solidFill>
                  <a:schemeClr val="tx1"/>
                </a:solidFill>
                <a:latin typeface="Arial" pitchFamily="34" charset="0"/>
                <a:ea typeface="宋体" pitchFamily="2" charset="-122"/>
              </a:defRPr>
            </a:lvl5pPr>
            <a:lvl6pPr fontAlgn="base">
              <a:spcBef>
                <a:spcPct val="0"/>
              </a:spcBef>
              <a:spcAft>
                <a:spcPct val="0"/>
              </a:spcAft>
              <a:buFont typeface="Arial" pitchFamily="34" charset="0"/>
              <a:defRPr sz="2400">
                <a:solidFill>
                  <a:schemeClr val="tx1"/>
                </a:solidFill>
                <a:latin typeface="Arial" pitchFamily="34" charset="0"/>
                <a:ea typeface="宋体" pitchFamily="2" charset="-122"/>
              </a:defRPr>
            </a:lvl6pPr>
            <a:lvl7pPr fontAlgn="base">
              <a:spcBef>
                <a:spcPct val="0"/>
              </a:spcBef>
              <a:spcAft>
                <a:spcPct val="0"/>
              </a:spcAft>
              <a:buFont typeface="Arial" pitchFamily="34" charset="0"/>
              <a:defRPr sz="2400">
                <a:solidFill>
                  <a:schemeClr val="tx1"/>
                </a:solidFill>
                <a:latin typeface="Arial" pitchFamily="34" charset="0"/>
                <a:ea typeface="宋体" pitchFamily="2" charset="-122"/>
              </a:defRPr>
            </a:lvl7pPr>
            <a:lvl8pPr fontAlgn="base">
              <a:spcBef>
                <a:spcPct val="0"/>
              </a:spcBef>
              <a:spcAft>
                <a:spcPct val="0"/>
              </a:spcAft>
              <a:buFont typeface="Arial" pitchFamily="34" charset="0"/>
              <a:defRPr sz="2400">
                <a:solidFill>
                  <a:schemeClr val="tx1"/>
                </a:solidFill>
                <a:latin typeface="Arial" pitchFamily="34" charset="0"/>
                <a:ea typeface="宋体" pitchFamily="2" charset="-122"/>
              </a:defRPr>
            </a:lvl8pPr>
            <a:lvl9pPr fontAlgn="base">
              <a:spcBef>
                <a:spcPct val="0"/>
              </a:spcBef>
              <a:spcAft>
                <a:spcPct val="0"/>
              </a:spcAft>
              <a:buFont typeface="Arial" pitchFamily="34" charset="0"/>
              <a:defRPr sz="2400">
                <a:solidFill>
                  <a:schemeClr val="tx1"/>
                </a:solidFill>
                <a:latin typeface="Arial" pitchFamily="34" charset="0"/>
                <a:ea typeface="宋体" pitchFamily="2" charset="-122"/>
              </a:defRPr>
            </a:lvl9pPr>
          </a:lstStyle>
          <a:p>
            <a:pPr algn="ctr" eaLnBrk="1" hangingPunct="1">
              <a:spcBef>
                <a:spcPct val="50000"/>
              </a:spcBef>
              <a:buClr>
                <a:schemeClr val="hlink"/>
              </a:buClr>
              <a:buSzPct val="75000"/>
              <a:buFont typeface="Wingdings" pitchFamily="2" charset="2"/>
              <a:buNone/>
              <a:defRPr/>
            </a:pPr>
            <a:r>
              <a:rPr lang="en-US" altLang="zh-CN" b="1" i="0" dirty="0">
                <a:solidFill>
                  <a:srgbClr val="D60629"/>
                </a:solidFill>
                <a:effectLst>
                  <a:outerShdw blurRad="38100" dist="38100" dir="2700000" algn="tl">
                    <a:srgbClr val="C0C0C0"/>
                  </a:outerShdw>
                </a:effectLst>
              </a:rPr>
              <a:t>parent</a:t>
            </a:r>
          </a:p>
        </p:txBody>
      </p:sp>
      <p:sp>
        <p:nvSpPr>
          <p:cNvPr id="91165" name="Text Box 29">
            <a:extLst>
              <a:ext uri="{FF2B5EF4-FFF2-40B4-BE49-F238E27FC236}">
                <a16:creationId xmlns:a16="http://schemas.microsoft.com/office/drawing/2014/main" id="{6ADEB471-07E8-4E5F-B1C1-99F52F001274}"/>
              </a:ext>
            </a:extLst>
          </p:cNvPr>
          <p:cNvSpPr txBox="1">
            <a:spLocks noChangeArrowheads="1"/>
          </p:cNvSpPr>
          <p:nvPr/>
        </p:nvSpPr>
        <p:spPr bwMode="auto">
          <a:xfrm>
            <a:off x="4317694" y="1956843"/>
            <a:ext cx="1439862" cy="457200"/>
          </a:xfrm>
          <a:prstGeom prst="rect">
            <a:avLst/>
          </a:prstGeom>
          <a:noFill/>
          <a:ln>
            <a:noFill/>
          </a:ln>
          <a:effectLst/>
        </p:spPr>
        <p:txBody>
          <a:bodyPr>
            <a:spAutoFit/>
          </a:bodyPr>
          <a:lstStyle>
            <a:lvl1pPr marL="342900" indent="-342900">
              <a:defRPr sz="2400">
                <a:solidFill>
                  <a:schemeClr val="tx1"/>
                </a:solidFill>
                <a:latin typeface="Arial" pitchFamily="34" charset="0"/>
                <a:ea typeface="宋体" pitchFamily="2" charset="-122"/>
              </a:defRPr>
            </a:lvl1pPr>
            <a:lvl2pPr>
              <a:defRPr sz="2400">
                <a:solidFill>
                  <a:schemeClr val="tx1"/>
                </a:solidFill>
                <a:latin typeface="Arial" pitchFamily="34" charset="0"/>
                <a:ea typeface="宋体" pitchFamily="2" charset="-122"/>
              </a:defRPr>
            </a:lvl2pPr>
            <a:lvl3pPr>
              <a:defRPr sz="2400">
                <a:solidFill>
                  <a:schemeClr val="tx1"/>
                </a:solidFill>
                <a:latin typeface="Arial" pitchFamily="34" charset="0"/>
                <a:ea typeface="宋体" pitchFamily="2" charset="-122"/>
              </a:defRPr>
            </a:lvl3pPr>
            <a:lvl4pPr>
              <a:defRPr sz="2400">
                <a:solidFill>
                  <a:schemeClr val="tx1"/>
                </a:solidFill>
                <a:latin typeface="Arial" pitchFamily="34" charset="0"/>
                <a:ea typeface="宋体" pitchFamily="2" charset="-122"/>
              </a:defRPr>
            </a:lvl4pPr>
            <a:lvl5pPr>
              <a:defRPr sz="2400">
                <a:solidFill>
                  <a:schemeClr val="tx1"/>
                </a:solidFill>
                <a:latin typeface="Arial" pitchFamily="34" charset="0"/>
                <a:ea typeface="宋体" pitchFamily="2" charset="-122"/>
              </a:defRPr>
            </a:lvl5pPr>
            <a:lvl6pPr fontAlgn="base">
              <a:spcBef>
                <a:spcPct val="0"/>
              </a:spcBef>
              <a:spcAft>
                <a:spcPct val="0"/>
              </a:spcAft>
              <a:buFont typeface="Arial" pitchFamily="34" charset="0"/>
              <a:defRPr sz="2400">
                <a:solidFill>
                  <a:schemeClr val="tx1"/>
                </a:solidFill>
                <a:latin typeface="Arial" pitchFamily="34" charset="0"/>
                <a:ea typeface="宋体" pitchFamily="2" charset="-122"/>
              </a:defRPr>
            </a:lvl6pPr>
            <a:lvl7pPr fontAlgn="base">
              <a:spcBef>
                <a:spcPct val="0"/>
              </a:spcBef>
              <a:spcAft>
                <a:spcPct val="0"/>
              </a:spcAft>
              <a:buFont typeface="Arial" pitchFamily="34" charset="0"/>
              <a:defRPr sz="2400">
                <a:solidFill>
                  <a:schemeClr val="tx1"/>
                </a:solidFill>
                <a:latin typeface="Arial" pitchFamily="34" charset="0"/>
                <a:ea typeface="宋体" pitchFamily="2" charset="-122"/>
              </a:defRPr>
            </a:lvl7pPr>
            <a:lvl8pPr fontAlgn="base">
              <a:spcBef>
                <a:spcPct val="0"/>
              </a:spcBef>
              <a:spcAft>
                <a:spcPct val="0"/>
              </a:spcAft>
              <a:buFont typeface="Arial" pitchFamily="34" charset="0"/>
              <a:defRPr sz="2400">
                <a:solidFill>
                  <a:schemeClr val="tx1"/>
                </a:solidFill>
                <a:latin typeface="Arial" pitchFamily="34" charset="0"/>
                <a:ea typeface="宋体" pitchFamily="2" charset="-122"/>
              </a:defRPr>
            </a:lvl8pPr>
            <a:lvl9pPr fontAlgn="base">
              <a:spcBef>
                <a:spcPct val="0"/>
              </a:spcBef>
              <a:spcAft>
                <a:spcPct val="0"/>
              </a:spcAft>
              <a:buFont typeface="Arial" pitchFamily="34" charset="0"/>
              <a:defRPr sz="2400">
                <a:solidFill>
                  <a:schemeClr val="tx1"/>
                </a:solidFill>
                <a:latin typeface="Arial" pitchFamily="34" charset="0"/>
                <a:ea typeface="宋体" pitchFamily="2" charset="-122"/>
              </a:defRPr>
            </a:lvl9pPr>
          </a:lstStyle>
          <a:p>
            <a:pPr algn="ctr" eaLnBrk="1" hangingPunct="1">
              <a:spcBef>
                <a:spcPct val="50000"/>
              </a:spcBef>
              <a:buClr>
                <a:schemeClr val="hlink"/>
              </a:buClr>
              <a:buSzPct val="75000"/>
              <a:buFont typeface="Wingdings" pitchFamily="2" charset="2"/>
              <a:buNone/>
              <a:defRPr/>
            </a:pPr>
            <a:r>
              <a:rPr lang="en-US" altLang="zh-CN" b="1" i="0" dirty="0" err="1">
                <a:solidFill>
                  <a:srgbClr val="D60629"/>
                </a:solidFill>
                <a:effectLst>
                  <a:outerShdw blurRad="38100" dist="38100" dir="2700000" algn="tl">
                    <a:srgbClr val="C0C0C0"/>
                  </a:outerShdw>
                </a:effectLst>
              </a:rPr>
              <a:t>lchild</a:t>
            </a:r>
            <a:endParaRPr lang="en-US" altLang="zh-CN" b="1" i="0" dirty="0">
              <a:solidFill>
                <a:srgbClr val="D60629"/>
              </a:solidFill>
              <a:effectLst>
                <a:outerShdw blurRad="38100" dist="38100" dir="2700000" algn="tl">
                  <a:srgbClr val="C0C0C0"/>
                </a:outerShdw>
              </a:effectLst>
            </a:endParaRPr>
          </a:p>
        </p:txBody>
      </p:sp>
      <p:sp>
        <p:nvSpPr>
          <p:cNvPr id="91166" name="Text Box 30">
            <a:extLst>
              <a:ext uri="{FF2B5EF4-FFF2-40B4-BE49-F238E27FC236}">
                <a16:creationId xmlns:a16="http://schemas.microsoft.com/office/drawing/2014/main" id="{2E0CC39C-40B9-43D3-AADA-84726E912D8B}"/>
              </a:ext>
            </a:extLst>
          </p:cNvPr>
          <p:cNvSpPr txBox="1">
            <a:spLocks noChangeArrowheads="1"/>
          </p:cNvSpPr>
          <p:nvPr/>
        </p:nvSpPr>
        <p:spPr bwMode="auto">
          <a:xfrm>
            <a:off x="5541656" y="1956843"/>
            <a:ext cx="1439863" cy="457200"/>
          </a:xfrm>
          <a:prstGeom prst="rect">
            <a:avLst/>
          </a:prstGeom>
          <a:noFill/>
          <a:ln>
            <a:noFill/>
          </a:ln>
          <a:effectLst/>
        </p:spPr>
        <p:txBody>
          <a:bodyPr>
            <a:spAutoFit/>
          </a:bodyPr>
          <a:lstStyle>
            <a:lvl1pPr marL="342900" indent="-342900">
              <a:defRPr sz="2400">
                <a:solidFill>
                  <a:schemeClr val="tx1"/>
                </a:solidFill>
                <a:latin typeface="Arial" pitchFamily="34" charset="0"/>
                <a:ea typeface="宋体" pitchFamily="2" charset="-122"/>
              </a:defRPr>
            </a:lvl1pPr>
            <a:lvl2pPr>
              <a:defRPr sz="2400">
                <a:solidFill>
                  <a:schemeClr val="tx1"/>
                </a:solidFill>
                <a:latin typeface="Arial" pitchFamily="34" charset="0"/>
                <a:ea typeface="宋体" pitchFamily="2" charset="-122"/>
              </a:defRPr>
            </a:lvl2pPr>
            <a:lvl3pPr>
              <a:defRPr sz="2400">
                <a:solidFill>
                  <a:schemeClr val="tx1"/>
                </a:solidFill>
                <a:latin typeface="Arial" pitchFamily="34" charset="0"/>
                <a:ea typeface="宋体" pitchFamily="2" charset="-122"/>
              </a:defRPr>
            </a:lvl3pPr>
            <a:lvl4pPr>
              <a:defRPr sz="2400">
                <a:solidFill>
                  <a:schemeClr val="tx1"/>
                </a:solidFill>
                <a:latin typeface="Arial" pitchFamily="34" charset="0"/>
                <a:ea typeface="宋体" pitchFamily="2" charset="-122"/>
              </a:defRPr>
            </a:lvl4pPr>
            <a:lvl5pPr>
              <a:defRPr sz="2400">
                <a:solidFill>
                  <a:schemeClr val="tx1"/>
                </a:solidFill>
                <a:latin typeface="Arial" pitchFamily="34" charset="0"/>
                <a:ea typeface="宋体" pitchFamily="2" charset="-122"/>
              </a:defRPr>
            </a:lvl5pPr>
            <a:lvl6pPr fontAlgn="base">
              <a:spcBef>
                <a:spcPct val="0"/>
              </a:spcBef>
              <a:spcAft>
                <a:spcPct val="0"/>
              </a:spcAft>
              <a:buFont typeface="Arial" pitchFamily="34" charset="0"/>
              <a:defRPr sz="2400">
                <a:solidFill>
                  <a:schemeClr val="tx1"/>
                </a:solidFill>
                <a:latin typeface="Arial" pitchFamily="34" charset="0"/>
                <a:ea typeface="宋体" pitchFamily="2" charset="-122"/>
              </a:defRPr>
            </a:lvl6pPr>
            <a:lvl7pPr fontAlgn="base">
              <a:spcBef>
                <a:spcPct val="0"/>
              </a:spcBef>
              <a:spcAft>
                <a:spcPct val="0"/>
              </a:spcAft>
              <a:buFont typeface="Arial" pitchFamily="34" charset="0"/>
              <a:defRPr sz="2400">
                <a:solidFill>
                  <a:schemeClr val="tx1"/>
                </a:solidFill>
                <a:latin typeface="Arial" pitchFamily="34" charset="0"/>
                <a:ea typeface="宋体" pitchFamily="2" charset="-122"/>
              </a:defRPr>
            </a:lvl7pPr>
            <a:lvl8pPr fontAlgn="base">
              <a:spcBef>
                <a:spcPct val="0"/>
              </a:spcBef>
              <a:spcAft>
                <a:spcPct val="0"/>
              </a:spcAft>
              <a:buFont typeface="Arial" pitchFamily="34" charset="0"/>
              <a:defRPr sz="2400">
                <a:solidFill>
                  <a:schemeClr val="tx1"/>
                </a:solidFill>
                <a:latin typeface="Arial" pitchFamily="34" charset="0"/>
                <a:ea typeface="宋体" pitchFamily="2" charset="-122"/>
              </a:defRPr>
            </a:lvl8pPr>
            <a:lvl9pPr fontAlgn="base">
              <a:spcBef>
                <a:spcPct val="0"/>
              </a:spcBef>
              <a:spcAft>
                <a:spcPct val="0"/>
              </a:spcAft>
              <a:buFont typeface="Arial" pitchFamily="34" charset="0"/>
              <a:defRPr sz="2400">
                <a:solidFill>
                  <a:schemeClr val="tx1"/>
                </a:solidFill>
                <a:latin typeface="Arial" pitchFamily="34" charset="0"/>
                <a:ea typeface="宋体" pitchFamily="2" charset="-122"/>
              </a:defRPr>
            </a:lvl9pPr>
          </a:lstStyle>
          <a:p>
            <a:pPr algn="ctr" eaLnBrk="1" hangingPunct="1">
              <a:spcBef>
                <a:spcPct val="50000"/>
              </a:spcBef>
              <a:buClr>
                <a:schemeClr val="hlink"/>
              </a:buClr>
              <a:buSzPct val="75000"/>
              <a:buFont typeface="Wingdings" pitchFamily="2" charset="2"/>
              <a:buNone/>
              <a:defRPr/>
            </a:pPr>
            <a:r>
              <a:rPr lang="en-US" altLang="zh-CN" b="1" i="0" dirty="0" err="1">
                <a:solidFill>
                  <a:srgbClr val="D60629"/>
                </a:solidFill>
                <a:effectLst>
                  <a:outerShdw blurRad="38100" dist="38100" dir="2700000" algn="tl">
                    <a:srgbClr val="C0C0C0"/>
                  </a:outerShdw>
                </a:effectLst>
              </a:rPr>
              <a:t>rchild</a:t>
            </a:r>
            <a:endParaRPr lang="en-US" altLang="zh-CN" b="1" i="0" dirty="0">
              <a:solidFill>
                <a:srgbClr val="D60629"/>
              </a:solidFill>
              <a:effectLst>
                <a:outerShdw blurRad="38100" dist="38100" dir="2700000" algn="tl">
                  <a:srgbClr val="C0C0C0"/>
                </a:outerShdw>
              </a:effectLst>
            </a:endParaRPr>
          </a:p>
        </p:txBody>
      </p:sp>
      <p:sp>
        <p:nvSpPr>
          <p:cNvPr id="111650" name="Text Box 31">
            <a:extLst>
              <a:ext uri="{FF2B5EF4-FFF2-40B4-BE49-F238E27FC236}">
                <a16:creationId xmlns:a16="http://schemas.microsoft.com/office/drawing/2014/main" id="{0604DBB5-9736-472C-A018-817211E21782}"/>
              </a:ext>
            </a:extLst>
          </p:cNvPr>
          <p:cNvSpPr txBox="1">
            <a:spLocks noChangeArrowheads="1"/>
          </p:cNvSpPr>
          <p:nvPr/>
        </p:nvSpPr>
        <p:spPr bwMode="auto">
          <a:xfrm>
            <a:off x="526279" y="1268760"/>
            <a:ext cx="77652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2800" b="0" i="0" dirty="0">
                <a:latin typeface="黑体" panose="02010609060101010101" pitchFamily="49" charset="-122"/>
                <a:ea typeface="黑体" panose="02010609060101010101" pitchFamily="49" charset="-122"/>
              </a:rPr>
              <a:t>Huffman</a:t>
            </a:r>
            <a:r>
              <a:rPr lang="zh-CN" altLang="en-US" sz="2800" b="0" i="0" dirty="0">
                <a:latin typeface="黑体" panose="02010609060101010101" pitchFamily="49" charset="-122"/>
                <a:ea typeface="黑体" panose="02010609060101010101" pitchFamily="49" charset="-122"/>
              </a:rPr>
              <a:t>树的构造。用静态链表实现</a:t>
            </a:r>
            <a:r>
              <a:rPr lang="en-US" altLang="zh-CN" sz="2800" b="0" i="0" dirty="0">
                <a:latin typeface="黑体" panose="02010609060101010101" pitchFamily="49" charset="-122"/>
                <a:ea typeface="黑体" panose="02010609060101010101" pitchFamily="49" charset="-122"/>
              </a:rPr>
              <a:t>,</a:t>
            </a:r>
            <a:r>
              <a:rPr lang="zh-CN" altLang="en-US" sz="2800" b="0" i="0" dirty="0">
                <a:latin typeface="黑体" panose="02010609060101010101" pitchFamily="49" charset="-122"/>
                <a:ea typeface="黑体" panose="02010609060101010101" pitchFamily="49" charset="-122"/>
              </a:rPr>
              <a:t>结构如下。</a:t>
            </a:r>
          </a:p>
        </p:txBody>
      </p:sp>
      <p:sp>
        <p:nvSpPr>
          <p:cNvPr id="91168" name="Text Box 32">
            <a:extLst>
              <a:ext uri="{FF2B5EF4-FFF2-40B4-BE49-F238E27FC236}">
                <a16:creationId xmlns:a16="http://schemas.microsoft.com/office/drawing/2014/main" id="{883C0B09-2601-4E73-803E-8BF7835F0668}"/>
              </a:ext>
            </a:extLst>
          </p:cNvPr>
          <p:cNvSpPr txBox="1">
            <a:spLocks noChangeArrowheads="1"/>
          </p:cNvSpPr>
          <p:nvPr/>
        </p:nvSpPr>
        <p:spPr bwMode="auto">
          <a:xfrm>
            <a:off x="517740" y="4059780"/>
            <a:ext cx="7993063"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
                <a:schemeClr val="hlink"/>
              </a:buClr>
              <a:buSzPct val="75000"/>
              <a:buFont typeface="Wingdings" panose="05000000000000000000" pitchFamily="2" charset="2"/>
              <a:buNone/>
            </a:pPr>
            <a:r>
              <a:rPr lang="en-US" altLang="zh-CN" sz="2800" b="0" i="0" dirty="0">
                <a:latin typeface="黑体" panose="02010609060101010101" pitchFamily="49" charset="-122"/>
                <a:ea typeface="黑体" panose="02010609060101010101" pitchFamily="49" charset="-122"/>
              </a:rPr>
              <a:t>n</a:t>
            </a:r>
            <a:r>
              <a:rPr lang="zh-CN" altLang="en-US" sz="2800" b="0" i="0" dirty="0">
                <a:latin typeface="黑体" panose="02010609060101010101" pitchFamily="49" charset="-122"/>
                <a:ea typeface="黑体" panose="02010609060101010101" pitchFamily="49" charset="-122"/>
              </a:rPr>
              <a:t>个叶子结点的</a:t>
            </a:r>
            <a:r>
              <a:rPr lang="en-US" altLang="zh-CN" sz="2800" b="0" i="0" dirty="0">
                <a:latin typeface="黑体" panose="02010609060101010101" pitchFamily="49" charset="-122"/>
                <a:ea typeface="黑体" panose="02010609060101010101" pitchFamily="49" charset="-122"/>
              </a:rPr>
              <a:t>Huffman</a:t>
            </a:r>
            <a:r>
              <a:rPr lang="zh-CN" altLang="en-US" sz="2800" b="0" i="0" dirty="0">
                <a:latin typeface="黑体" panose="02010609060101010101" pitchFamily="49" charset="-122"/>
                <a:ea typeface="黑体" panose="02010609060101010101" pitchFamily="49" charset="-122"/>
              </a:rPr>
              <a:t>树共</a:t>
            </a:r>
            <a:r>
              <a:rPr lang="en-US" altLang="zh-CN" sz="2800" b="0" i="0" dirty="0">
                <a:latin typeface="黑体" panose="02010609060101010101" pitchFamily="49" charset="-122"/>
                <a:ea typeface="黑体" panose="02010609060101010101" pitchFamily="49" charset="-122"/>
              </a:rPr>
              <a:t>2n-1</a:t>
            </a:r>
            <a:r>
              <a:rPr lang="zh-CN" altLang="en-US" sz="2800" b="0" i="0" dirty="0">
                <a:latin typeface="黑体" panose="02010609060101010101" pitchFamily="49" charset="-122"/>
                <a:ea typeface="黑体" panose="02010609060101010101" pitchFamily="49" charset="-122"/>
              </a:rPr>
              <a:t>个结点。</a:t>
            </a:r>
            <a:r>
              <a:rPr lang="en-US" altLang="zh-CN" sz="2800" b="0" i="0" dirty="0">
                <a:latin typeface="黑体" panose="02010609060101010101" pitchFamily="49" charset="-122"/>
                <a:ea typeface="黑体" panose="02010609060101010101" pitchFamily="49" charset="-122"/>
              </a:rPr>
              <a:t>(</a:t>
            </a:r>
            <a:r>
              <a:rPr lang="zh-CN" altLang="en-US" sz="2800" b="0" i="0" dirty="0">
                <a:latin typeface="黑体" panose="02010609060101010101" pitchFamily="49" charset="-122"/>
                <a:ea typeface="黑体" panose="02010609060101010101" pitchFamily="49" charset="-122"/>
              </a:rPr>
              <a:t>两两合</a:t>
            </a:r>
          </a:p>
          <a:p>
            <a:pPr eaLnBrk="1" hangingPunct="1">
              <a:spcBef>
                <a:spcPct val="50000"/>
              </a:spcBef>
              <a:buClr>
                <a:schemeClr val="hlink"/>
              </a:buClr>
              <a:buSzPct val="75000"/>
              <a:buFont typeface="Wingdings" panose="05000000000000000000" pitchFamily="2" charset="2"/>
              <a:buNone/>
            </a:pPr>
            <a:r>
              <a:rPr lang="zh-CN" altLang="en-US" sz="2800" b="0" i="0" dirty="0">
                <a:latin typeface="黑体" panose="02010609060101010101" pitchFamily="49" charset="-122"/>
                <a:ea typeface="黑体" panose="02010609060101010101" pitchFamily="49" charset="-122"/>
              </a:rPr>
              <a:t>并，直至一个，共生成</a:t>
            </a:r>
            <a:r>
              <a:rPr lang="en-US" altLang="zh-CN" sz="2800" b="0" i="0" dirty="0">
                <a:latin typeface="黑体" panose="02010609060101010101" pitchFamily="49" charset="-122"/>
                <a:ea typeface="黑体" panose="02010609060101010101" pitchFamily="49" charset="-122"/>
              </a:rPr>
              <a:t>n-1</a:t>
            </a:r>
            <a:r>
              <a:rPr lang="zh-CN" altLang="en-US" sz="2800" b="0" i="0" dirty="0">
                <a:latin typeface="黑体" panose="02010609060101010101" pitchFamily="49" charset="-122"/>
                <a:ea typeface="黑体" panose="02010609060101010101" pitchFamily="49" charset="-122"/>
              </a:rPr>
              <a:t>个结点）</a:t>
            </a:r>
          </a:p>
        </p:txBody>
      </p:sp>
      <p:sp>
        <p:nvSpPr>
          <p:cNvPr id="14" name="Text Box 30">
            <a:extLst>
              <a:ext uri="{FF2B5EF4-FFF2-40B4-BE49-F238E27FC236}">
                <a16:creationId xmlns:a16="http://schemas.microsoft.com/office/drawing/2014/main" id="{D2FE931F-4C56-4D08-9701-C57383BFCFF0}"/>
              </a:ext>
            </a:extLst>
          </p:cNvPr>
          <p:cNvSpPr txBox="1">
            <a:spLocks noChangeArrowheads="1"/>
          </p:cNvSpPr>
          <p:nvPr/>
        </p:nvSpPr>
        <p:spPr bwMode="auto">
          <a:xfrm>
            <a:off x="6694181" y="1926680"/>
            <a:ext cx="1439863" cy="460375"/>
          </a:xfrm>
          <a:prstGeom prst="rect">
            <a:avLst/>
          </a:prstGeom>
          <a:noFill/>
          <a:ln>
            <a:noFill/>
          </a:ln>
          <a:effectLst/>
        </p:spPr>
        <p:txBody>
          <a:bodyPr>
            <a:spAutoFit/>
          </a:bodyPr>
          <a:lstStyle>
            <a:lvl1pPr marL="342900" indent="-342900">
              <a:defRPr sz="2400">
                <a:solidFill>
                  <a:schemeClr val="tx1"/>
                </a:solidFill>
                <a:latin typeface="Arial" pitchFamily="34" charset="0"/>
                <a:ea typeface="宋体" pitchFamily="2" charset="-122"/>
              </a:defRPr>
            </a:lvl1pPr>
            <a:lvl2pPr>
              <a:defRPr sz="2400">
                <a:solidFill>
                  <a:schemeClr val="tx1"/>
                </a:solidFill>
                <a:latin typeface="Arial" pitchFamily="34" charset="0"/>
                <a:ea typeface="宋体" pitchFamily="2" charset="-122"/>
              </a:defRPr>
            </a:lvl2pPr>
            <a:lvl3pPr>
              <a:defRPr sz="2400">
                <a:solidFill>
                  <a:schemeClr val="tx1"/>
                </a:solidFill>
                <a:latin typeface="Arial" pitchFamily="34" charset="0"/>
                <a:ea typeface="宋体" pitchFamily="2" charset="-122"/>
              </a:defRPr>
            </a:lvl3pPr>
            <a:lvl4pPr>
              <a:defRPr sz="2400">
                <a:solidFill>
                  <a:schemeClr val="tx1"/>
                </a:solidFill>
                <a:latin typeface="Arial" pitchFamily="34" charset="0"/>
                <a:ea typeface="宋体" pitchFamily="2" charset="-122"/>
              </a:defRPr>
            </a:lvl4pPr>
            <a:lvl5pPr>
              <a:defRPr sz="2400">
                <a:solidFill>
                  <a:schemeClr val="tx1"/>
                </a:solidFill>
                <a:latin typeface="Arial" pitchFamily="34" charset="0"/>
                <a:ea typeface="宋体" pitchFamily="2" charset="-122"/>
              </a:defRPr>
            </a:lvl5pPr>
            <a:lvl6pPr fontAlgn="base">
              <a:spcBef>
                <a:spcPct val="0"/>
              </a:spcBef>
              <a:spcAft>
                <a:spcPct val="0"/>
              </a:spcAft>
              <a:buFont typeface="Arial" pitchFamily="34" charset="0"/>
              <a:defRPr sz="2400">
                <a:solidFill>
                  <a:schemeClr val="tx1"/>
                </a:solidFill>
                <a:latin typeface="Arial" pitchFamily="34" charset="0"/>
                <a:ea typeface="宋体" pitchFamily="2" charset="-122"/>
              </a:defRPr>
            </a:lvl6pPr>
            <a:lvl7pPr fontAlgn="base">
              <a:spcBef>
                <a:spcPct val="0"/>
              </a:spcBef>
              <a:spcAft>
                <a:spcPct val="0"/>
              </a:spcAft>
              <a:buFont typeface="Arial" pitchFamily="34" charset="0"/>
              <a:defRPr sz="2400">
                <a:solidFill>
                  <a:schemeClr val="tx1"/>
                </a:solidFill>
                <a:latin typeface="Arial" pitchFamily="34" charset="0"/>
                <a:ea typeface="宋体" pitchFamily="2" charset="-122"/>
              </a:defRPr>
            </a:lvl7pPr>
            <a:lvl8pPr fontAlgn="base">
              <a:spcBef>
                <a:spcPct val="0"/>
              </a:spcBef>
              <a:spcAft>
                <a:spcPct val="0"/>
              </a:spcAft>
              <a:buFont typeface="Arial" pitchFamily="34" charset="0"/>
              <a:defRPr sz="2400">
                <a:solidFill>
                  <a:schemeClr val="tx1"/>
                </a:solidFill>
                <a:latin typeface="Arial" pitchFamily="34" charset="0"/>
                <a:ea typeface="宋体" pitchFamily="2" charset="-122"/>
              </a:defRPr>
            </a:lvl8pPr>
            <a:lvl9pPr fontAlgn="base">
              <a:spcBef>
                <a:spcPct val="0"/>
              </a:spcBef>
              <a:spcAft>
                <a:spcPct val="0"/>
              </a:spcAft>
              <a:buFont typeface="Arial" pitchFamily="34" charset="0"/>
              <a:defRPr sz="2400">
                <a:solidFill>
                  <a:schemeClr val="tx1"/>
                </a:solidFill>
                <a:latin typeface="Arial" pitchFamily="34" charset="0"/>
                <a:ea typeface="宋体" pitchFamily="2" charset="-122"/>
              </a:defRPr>
            </a:lvl9pPr>
          </a:lstStyle>
          <a:p>
            <a:pPr algn="ctr" eaLnBrk="1" hangingPunct="1">
              <a:spcBef>
                <a:spcPct val="50000"/>
              </a:spcBef>
              <a:buClr>
                <a:schemeClr val="hlink"/>
              </a:buClr>
              <a:buSzPct val="75000"/>
              <a:buFont typeface="Wingdings" pitchFamily="2" charset="2"/>
              <a:buNone/>
              <a:defRPr/>
            </a:pPr>
            <a:r>
              <a:rPr lang="en-US" altLang="zh-CN" b="1" i="0" dirty="0">
                <a:solidFill>
                  <a:srgbClr val="D60629"/>
                </a:solidFill>
                <a:effectLst>
                  <a:outerShdw blurRad="38100" dist="38100" dir="2700000" algn="tl">
                    <a:srgbClr val="C0C0C0"/>
                  </a:outerShdw>
                </a:effectLst>
              </a:rPr>
              <a:t>code</a:t>
            </a:r>
          </a:p>
        </p:txBody>
      </p:sp>
      <p:sp>
        <p:nvSpPr>
          <p:cNvPr id="2" name="Text Box 3">
            <a:extLst>
              <a:ext uri="{FF2B5EF4-FFF2-40B4-BE49-F238E27FC236}">
                <a16:creationId xmlns:a16="http://schemas.microsoft.com/office/drawing/2014/main" id="{6D5DF585-1FFF-437E-8F2E-5AB8C3DA1205}"/>
              </a:ext>
            </a:extLst>
          </p:cNvPr>
          <p:cNvSpPr txBox="1">
            <a:spLocks noChangeArrowheads="1"/>
          </p:cNvSpPr>
          <p:nvPr/>
        </p:nvSpPr>
        <p:spPr bwMode="auto">
          <a:xfrm>
            <a:off x="395536" y="188640"/>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四、</a:t>
            </a:r>
            <a:r>
              <a:rPr lang="en-US" altLang="zh-CN" sz="4400" i="0" dirty="0">
                <a:solidFill>
                  <a:schemeClr val="tx2"/>
                </a:solidFill>
                <a:ea typeface="隶书" pitchFamily="49" charset="-122"/>
              </a:rPr>
              <a:t>Huffman</a:t>
            </a:r>
            <a:r>
              <a:rPr lang="zh-CN" altLang="en-US" sz="4400" i="0" dirty="0">
                <a:solidFill>
                  <a:schemeClr val="tx2"/>
                </a:solidFill>
                <a:ea typeface="隶书" pitchFamily="49" charset="-122"/>
              </a:rPr>
              <a:t>树构建实现</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91168">
                                            <p:txEl>
                                              <p:pRg st="0" end="0"/>
                                            </p:txEl>
                                          </p:spTgt>
                                        </p:tgtEl>
                                        <p:attrNameLst>
                                          <p:attrName>style.visibility</p:attrName>
                                        </p:attrNameLst>
                                      </p:cBhvr>
                                      <p:to>
                                        <p:strVal val="visible"/>
                                      </p:to>
                                    </p:set>
                                    <p:animEffect transition="in" filter="box(in)">
                                      <p:cBhvr>
                                        <p:cTn id="7" dur="500"/>
                                        <p:tgtEl>
                                          <p:spTgt spid="91168">
                                            <p:txEl>
                                              <p:pRg st="0" end="0"/>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91168">
                                            <p:txEl>
                                              <p:pRg st="1" end="1"/>
                                            </p:txEl>
                                          </p:spTgt>
                                        </p:tgtEl>
                                        <p:attrNameLst>
                                          <p:attrName>style.visibility</p:attrName>
                                        </p:attrNameLst>
                                      </p:cBhvr>
                                      <p:to>
                                        <p:strVal val="visible"/>
                                      </p:to>
                                    </p:set>
                                    <p:animEffect transition="in" filter="box(in)">
                                      <p:cBhvr>
                                        <p:cTn id="10" dur="500"/>
                                        <p:tgtEl>
                                          <p:spTgt spid="9116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a:extLst>
              <a:ext uri="{FF2B5EF4-FFF2-40B4-BE49-F238E27FC236}">
                <a16:creationId xmlns:a16="http://schemas.microsoft.com/office/drawing/2014/main" id="{15092157-703B-41F6-AC84-D8CC455C936E}"/>
              </a:ext>
            </a:extLst>
          </p:cNvPr>
          <p:cNvSpPr>
            <a:spLocks noGrp="1" noRot="1" noChangeArrowheads="1"/>
          </p:cNvSpPr>
          <p:nvPr>
            <p:ph type="body" idx="1"/>
          </p:nvPr>
        </p:nvSpPr>
        <p:spPr>
          <a:xfrm>
            <a:off x="0" y="1268760"/>
            <a:ext cx="9428163" cy="6624638"/>
          </a:xfrm>
        </p:spPr>
        <p:txBody>
          <a:bodyPr/>
          <a:lstStyle/>
          <a:p>
            <a:pPr lvl="1">
              <a:lnSpc>
                <a:spcPct val="110000"/>
              </a:lnSpc>
              <a:buFontTx/>
              <a:buNone/>
            </a:pPr>
            <a:r>
              <a:rPr lang="zh-CN" altLang="en-US" sz="2800" dirty="0">
                <a:solidFill>
                  <a:schemeClr val="tx1"/>
                </a:solidFill>
                <a:latin typeface="宋体" panose="02010600030101010101" pitchFamily="2" charset="-122"/>
              </a:rPr>
              <a:t>设静态链表为HT，计算过程如下：</a:t>
            </a:r>
          </a:p>
          <a:p>
            <a:pPr lvl="1">
              <a:lnSpc>
                <a:spcPct val="110000"/>
              </a:lnSpc>
              <a:buFontTx/>
              <a:buNone/>
            </a:pPr>
            <a:r>
              <a:rPr lang="zh-CN" altLang="en-US" sz="2800" b="1" dirty="0">
                <a:solidFill>
                  <a:schemeClr val="tx1"/>
                </a:solidFill>
                <a:latin typeface="宋体" panose="02010600030101010101" pitchFamily="2" charset="-122"/>
              </a:rPr>
              <a:t>① </a:t>
            </a:r>
            <a:r>
              <a:rPr lang="zh-CN" altLang="en-US" sz="2800" dirty="0">
                <a:solidFill>
                  <a:schemeClr val="tx1"/>
                </a:solidFill>
                <a:latin typeface="+mn-ea"/>
              </a:rPr>
              <a:t>初始令n=叶子结点数，设置</a:t>
            </a:r>
            <a:r>
              <a:rPr lang="en-US" altLang="zh-CN" sz="2800" dirty="0">
                <a:solidFill>
                  <a:schemeClr val="tx1"/>
                </a:solidFill>
                <a:latin typeface="+mn-ea"/>
              </a:rPr>
              <a:t>0</a:t>
            </a:r>
            <a:r>
              <a:rPr lang="zh-CN" altLang="en-US" sz="2800" dirty="0">
                <a:solidFill>
                  <a:schemeClr val="tx1"/>
                </a:solidFill>
                <a:latin typeface="+mn-ea"/>
              </a:rPr>
              <a:t>~n</a:t>
            </a:r>
            <a:r>
              <a:rPr lang="en-US" altLang="zh-CN" sz="2800" dirty="0">
                <a:solidFill>
                  <a:schemeClr val="tx1"/>
                </a:solidFill>
                <a:latin typeface="+mn-ea"/>
              </a:rPr>
              <a:t>-1</a:t>
            </a:r>
            <a:r>
              <a:rPr lang="zh-CN" altLang="en-US" sz="2800" dirty="0">
                <a:solidFill>
                  <a:schemeClr val="tx1"/>
                </a:solidFill>
                <a:latin typeface="+mn-ea"/>
              </a:rPr>
              <a:t>结点的data、weight，并令所有单元的parent,lchild,rchild为</a:t>
            </a:r>
            <a:r>
              <a:rPr lang="en-US" altLang="zh-CN" sz="2800" dirty="0">
                <a:solidFill>
                  <a:schemeClr val="tx1"/>
                </a:solidFill>
                <a:latin typeface="+mn-ea"/>
              </a:rPr>
              <a:t>-1</a:t>
            </a:r>
            <a:endParaRPr lang="zh-CN" altLang="en-US" sz="2800" dirty="0">
              <a:solidFill>
                <a:schemeClr val="tx1"/>
              </a:solidFill>
              <a:latin typeface="+mn-ea"/>
            </a:endParaRPr>
          </a:p>
          <a:p>
            <a:pPr lvl="1">
              <a:lnSpc>
                <a:spcPct val="110000"/>
              </a:lnSpc>
              <a:buFontTx/>
              <a:buNone/>
            </a:pPr>
            <a:r>
              <a:rPr lang="zh-CN" altLang="en-US" sz="2800" dirty="0">
                <a:solidFill>
                  <a:schemeClr val="tx1"/>
                </a:solidFill>
                <a:latin typeface="+mn-ea"/>
              </a:rPr>
              <a:t>② 从0~n-1中选取parent为</a:t>
            </a:r>
            <a:r>
              <a:rPr lang="en-US" altLang="zh-CN" sz="2800" dirty="0">
                <a:solidFill>
                  <a:schemeClr val="tx1"/>
                </a:solidFill>
                <a:latin typeface="+mn-ea"/>
              </a:rPr>
              <a:t>-1</a:t>
            </a:r>
            <a:r>
              <a:rPr lang="zh-CN" altLang="en-US" sz="2800" dirty="0">
                <a:solidFill>
                  <a:schemeClr val="tx1"/>
                </a:solidFill>
                <a:latin typeface="+mn-ea"/>
              </a:rPr>
              <a:t>，权值最小的两个结点，</a:t>
            </a:r>
          </a:p>
          <a:p>
            <a:pPr lvl="1">
              <a:lnSpc>
                <a:spcPct val="110000"/>
              </a:lnSpc>
              <a:buFontTx/>
              <a:buNone/>
            </a:pPr>
            <a:r>
              <a:rPr lang="zh-CN" altLang="en-US" sz="2800" dirty="0">
                <a:solidFill>
                  <a:schemeClr val="tx1"/>
                </a:solidFill>
                <a:latin typeface="+mn-ea"/>
              </a:rPr>
              <a:t>   设为s1,s2,令n为此两结点的父结点，修改:</a:t>
            </a:r>
          </a:p>
          <a:p>
            <a:pPr lvl="1">
              <a:lnSpc>
                <a:spcPct val="110000"/>
              </a:lnSpc>
              <a:buFontTx/>
              <a:buNone/>
            </a:pPr>
            <a:r>
              <a:rPr lang="zh-CN" altLang="en-US" sz="2800" dirty="0">
                <a:solidFill>
                  <a:schemeClr val="tx1"/>
                </a:solidFill>
                <a:latin typeface="+mn-ea"/>
              </a:rPr>
              <a:t>   HT[s1].parent = n;    HT[s2].parent = n;</a:t>
            </a:r>
          </a:p>
          <a:p>
            <a:pPr lvl="1">
              <a:lnSpc>
                <a:spcPct val="110000"/>
              </a:lnSpc>
              <a:buFontTx/>
              <a:buNone/>
            </a:pPr>
            <a:r>
              <a:rPr lang="zh-CN" altLang="en-US" sz="2800" dirty="0">
                <a:solidFill>
                  <a:schemeClr val="tx1"/>
                </a:solidFill>
                <a:latin typeface="+mn-ea"/>
              </a:rPr>
              <a:t>   HT[n].lchild = s1;    HT[n].rchild = s2;      </a:t>
            </a:r>
          </a:p>
          <a:p>
            <a:pPr lvl="1">
              <a:lnSpc>
                <a:spcPct val="110000"/>
              </a:lnSpc>
              <a:buFontTx/>
              <a:buNone/>
            </a:pPr>
            <a:r>
              <a:rPr lang="zh-CN" altLang="en-US" sz="2800" dirty="0">
                <a:solidFill>
                  <a:schemeClr val="tx1"/>
                </a:solidFill>
                <a:latin typeface="+mn-ea"/>
              </a:rPr>
              <a:t>   HT[n].weight = HT[s1].weight+HT[s2].weight;</a:t>
            </a:r>
          </a:p>
          <a:p>
            <a:pPr lvl="1">
              <a:lnSpc>
                <a:spcPct val="110000"/>
              </a:lnSpc>
              <a:buFontTx/>
              <a:buNone/>
            </a:pPr>
            <a:r>
              <a:rPr lang="zh-CN" altLang="en-US" sz="2800" dirty="0">
                <a:solidFill>
                  <a:schemeClr val="tx1"/>
                </a:solidFill>
                <a:latin typeface="+mn-ea"/>
              </a:rPr>
              <a:t>   HT[n].parent = </a:t>
            </a:r>
            <a:r>
              <a:rPr lang="en-US" altLang="zh-CN" sz="2800" dirty="0">
                <a:solidFill>
                  <a:schemeClr val="tx1"/>
                </a:solidFill>
                <a:latin typeface="+mn-ea"/>
              </a:rPr>
              <a:t>-1</a:t>
            </a:r>
            <a:r>
              <a:rPr lang="zh-CN" altLang="en-US" sz="2800" dirty="0">
                <a:solidFill>
                  <a:schemeClr val="tx1"/>
                </a:solidFill>
                <a:latin typeface="+mn-ea"/>
              </a:rPr>
              <a:t>;</a:t>
            </a:r>
          </a:p>
          <a:p>
            <a:pPr lvl="1">
              <a:lnSpc>
                <a:spcPct val="110000"/>
              </a:lnSpc>
              <a:buFontTx/>
              <a:buNone/>
            </a:pPr>
            <a:r>
              <a:rPr lang="zh-CN" altLang="en-US" sz="2800" dirty="0">
                <a:solidFill>
                  <a:schemeClr val="tx1"/>
                </a:solidFill>
                <a:latin typeface="+mn-ea"/>
              </a:rPr>
              <a:t>   n++; </a:t>
            </a:r>
          </a:p>
          <a:p>
            <a:pPr lvl="1">
              <a:lnSpc>
                <a:spcPct val="110000"/>
              </a:lnSpc>
              <a:buFontTx/>
              <a:buNone/>
            </a:pPr>
            <a:r>
              <a:rPr lang="zh-CN" altLang="en-US" sz="2800" dirty="0">
                <a:solidFill>
                  <a:schemeClr val="tx1"/>
                </a:solidFill>
                <a:latin typeface="+mn-ea"/>
              </a:rPr>
              <a:t>③ 重复②直至n=2*叶子结点数-1</a:t>
            </a:r>
          </a:p>
        </p:txBody>
      </p:sp>
      <p:sp>
        <p:nvSpPr>
          <p:cNvPr id="3" name="Text Box 3">
            <a:extLst>
              <a:ext uri="{FF2B5EF4-FFF2-40B4-BE49-F238E27FC236}">
                <a16:creationId xmlns:a16="http://schemas.microsoft.com/office/drawing/2014/main" id="{0706D5A9-58D3-6D0E-D817-3C9FDBF8E113}"/>
              </a:ext>
            </a:extLst>
          </p:cNvPr>
          <p:cNvSpPr txBox="1">
            <a:spLocks noChangeArrowheads="1"/>
          </p:cNvSpPr>
          <p:nvPr/>
        </p:nvSpPr>
        <p:spPr bwMode="auto">
          <a:xfrm>
            <a:off x="395536" y="188640"/>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en-US" altLang="zh-CN" sz="4400" i="0" dirty="0">
                <a:solidFill>
                  <a:schemeClr val="tx2"/>
                </a:solidFill>
                <a:ea typeface="隶书" pitchFamily="49" charset="-122"/>
              </a:rPr>
              <a:t>Huffman</a:t>
            </a:r>
            <a:r>
              <a:rPr lang="zh-CN" altLang="en-US" sz="4400" i="0" dirty="0">
                <a:solidFill>
                  <a:schemeClr val="tx2"/>
                </a:solidFill>
                <a:ea typeface="隶书" pitchFamily="49" charset="-122"/>
              </a:rPr>
              <a:t>树构建过程</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264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264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2642">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2642">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12642">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12642">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12642">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12642">
                                            <p:txEl>
                                              <p:pRg st="8" end="8"/>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1264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F4BD7460-3FBA-4448-B15D-3491A6BDDFAD}"/>
              </a:ext>
            </a:extLst>
          </p:cNvPr>
          <p:cNvSpPr>
            <a:spLocks noGrp="1" noRot="1" noChangeArrowheads="1"/>
          </p:cNvSpPr>
          <p:nvPr>
            <p:ph type="body" sz="half" idx="1"/>
          </p:nvPr>
        </p:nvSpPr>
        <p:spPr>
          <a:xfrm>
            <a:off x="457200" y="1927373"/>
            <a:ext cx="4041775" cy="4525963"/>
          </a:xfrm>
        </p:spPr>
        <p:txBody>
          <a:bodyPr/>
          <a:lstStyle/>
          <a:p>
            <a:pPr eaLnBrk="1" hangingPunct="1">
              <a:buFontTx/>
              <a:buNone/>
            </a:pPr>
            <a:r>
              <a:rPr lang="en-US" altLang="zh-CN" sz="2800"/>
              <a:t> </a:t>
            </a:r>
          </a:p>
        </p:txBody>
      </p:sp>
      <p:sp>
        <p:nvSpPr>
          <p:cNvPr id="113667" name="Rectangle 3">
            <a:extLst>
              <a:ext uri="{FF2B5EF4-FFF2-40B4-BE49-F238E27FC236}">
                <a16:creationId xmlns:a16="http://schemas.microsoft.com/office/drawing/2014/main" id="{0B214F91-5EF8-492C-8164-758B36E45430}"/>
              </a:ext>
            </a:extLst>
          </p:cNvPr>
          <p:cNvSpPr>
            <a:spLocks noRot="1" noChangeArrowheads="1"/>
          </p:cNvSpPr>
          <p:nvPr/>
        </p:nvSpPr>
        <p:spPr bwMode="auto">
          <a:xfrm>
            <a:off x="228600" y="1249861"/>
            <a:ext cx="8540750" cy="9551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2800" i="0" dirty="0"/>
              <a:t>   </a:t>
            </a:r>
            <a:r>
              <a:rPr lang="zh-CN" altLang="en-US" b="0" i="0" dirty="0">
                <a:latin typeface="+mn-ea"/>
                <a:ea typeface="+mn-ea"/>
              </a:rPr>
              <a:t>以电文</a:t>
            </a:r>
            <a:r>
              <a:rPr lang="zh-CN" altLang="en-US" b="0" i="0" dirty="0">
                <a:latin typeface="+mn-ea"/>
                <a:ea typeface="+mn-ea"/>
                <a:cs typeface="Arial" panose="020B0604020202020204" pitchFamily="34" charset="0"/>
              </a:rPr>
              <a:t>‘</a:t>
            </a:r>
            <a:r>
              <a:rPr lang="en-US" altLang="zh-CN" b="0" i="0" dirty="0">
                <a:latin typeface="+mn-ea"/>
                <a:ea typeface="+mn-ea"/>
                <a:cs typeface="Arial" panose="020B0604020202020204" pitchFamily="34" charset="0"/>
              </a:rPr>
              <a:t>ABACCDA’</a:t>
            </a:r>
            <a:r>
              <a:rPr lang="zh-CN" altLang="en-US" b="0" i="0" dirty="0">
                <a:latin typeface="+mn-ea"/>
                <a:ea typeface="+mn-ea"/>
                <a:cs typeface="Arial" panose="020B0604020202020204" pitchFamily="34" charset="0"/>
              </a:rPr>
              <a:t>的</a:t>
            </a:r>
            <a:r>
              <a:rPr lang="en-US" altLang="zh-CN" b="0" i="0" dirty="0">
                <a:latin typeface="+mn-ea"/>
                <a:ea typeface="+mn-ea"/>
                <a:cs typeface="Arial" panose="020B0604020202020204" pitchFamily="34" charset="0"/>
              </a:rPr>
              <a:t>Huffman</a:t>
            </a:r>
            <a:r>
              <a:rPr lang="zh-CN" altLang="en-US" b="0" i="0" dirty="0">
                <a:latin typeface="+mn-ea"/>
                <a:ea typeface="+mn-ea"/>
                <a:cs typeface="Arial" panose="020B0604020202020204" pitchFamily="34" charset="0"/>
              </a:rPr>
              <a:t>树构造为例说明静态链表的变化。</a:t>
            </a:r>
          </a:p>
        </p:txBody>
      </p:sp>
      <p:graphicFrame>
        <p:nvGraphicFramePr>
          <p:cNvPr id="93188" name="Group 4">
            <a:extLst>
              <a:ext uri="{FF2B5EF4-FFF2-40B4-BE49-F238E27FC236}">
                <a16:creationId xmlns:a16="http://schemas.microsoft.com/office/drawing/2014/main" id="{C7828FC5-4577-4EB9-8EB8-30BC8E7BFFA6}"/>
              </a:ext>
            </a:extLst>
          </p:cNvPr>
          <p:cNvGraphicFramePr>
            <a:graphicFrameLocks noGrp="1"/>
          </p:cNvGraphicFramePr>
          <p:nvPr>
            <p:ph sz="half" idx="2"/>
            <p:extLst>
              <p:ext uri="{D42A27DB-BD31-4B8C-83A1-F6EECF244321}">
                <p14:modId xmlns:p14="http://schemas.microsoft.com/office/powerpoint/2010/main" val="1842346763"/>
              </p:ext>
            </p:extLst>
          </p:nvPr>
        </p:nvGraphicFramePr>
        <p:xfrm>
          <a:off x="2411413" y="2568723"/>
          <a:ext cx="4032252" cy="3632203"/>
        </p:xfrm>
        <a:graphic>
          <a:graphicData uri="http://schemas.openxmlformats.org/drawingml/2006/table">
            <a:tbl>
              <a:tblPr/>
              <a:tblGrid>
                <a:gridCol w="672042">
                  <a:extLst>
                    <a:ext uri="{9D8B030D-6E8A-4147-A177-3AD203B41FA5}">
                      <a16:colId xmlns:a16="http://schemas.microsoft.com/office/drawing/2014/main" val="20000"/>
                    </a:ext>
                  </a:extLst>
                </a:gridCol>
                <a:gridCol w="672042">
                  <a:extLst>
                    <a:ext uri="{9D8B030D-6E8A-4147-A177-3AD203B41FA5}">
                      <a16:colId xmlns:a16="http://schemas.microsoft.com/office/drawing/2014/main" val="20001"/>
                    </a:ext>
                  </a:extLst>
                </a:gridCol>
                <a:gridCol w="672042">
                  <a:extLst>
                    <a:ext uri="{9D8B030D-6E8A-4147-A177-3AD203B41FA5}">
                      <a16:colId xmlns:a16="http://schemas.microsoft.com/office/drawing/2014/main" val="20002"/>
                    </a:ext>
                  </a:extLst>
                </a:gridCol>
                <a:gridCol w="672042">
                  <a:extLst>
                    <a:ext uri="{9D8B030D-6E8A-4147-A177-3AD203B41FA5}">
                      <a16:colId xmlns:a16="http://schemas.microsoft.com/office/drawing/2014/main" val="20003"/>
                    </a:ext>
                  </a:extLst>
                </a:gridCol>
                <a:gridCol w="672042">
                  <a:extLst>
                    <a:ext uri="{9D8B030D-6E8A-4147-A177-3AD203B41FA5}">
                      <a16:colId xmlns:a16="http://schemas.microsoft.com/office/drawing/2014/main" val="20004"/>
                    </a:ext>
                  </a:extLst>
                </a:gridCol>
                <a:gridCol w="672042">
                  <a:extLst>
                    <a:ext uri="{9D8B030D-6E8A-4147-A177-3AD203B41FA5}">
                      <a16:colId xmlns:a16="http://schemas.microsoft.com/office/drawing/2014/main" val="20005"/>
                    </a:ext>
                  </a:extLst>
                </a:gridCol>
              </a:tblGrid>
              <a:tr h="518148">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A</a:t>
                      </a: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3</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2800" b="0" i="0" u="none" strike="noStrike" cap="none" normalizeH="0" baseline="0" dirty="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20630">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B</a:t>
                      </a: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2800" b="0" i="0" u="none" strike="noStrike" cap="none" normalizeH="0" baseline="0" dirty="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8148">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C</a:t>
                      </a: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2</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2800" b="0" i="0" u="none" strike="noStrike" cap="none" normalizeH="0" baseline="0" dirty="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9043">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D</a:t>
                      </a: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2800" b="0" i="0" u="none" strike="noStrike" cap="none" normalizeH="0" baseline="0" dirty="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8148">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dirty="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dirty="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dirty="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9043">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dirty="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dirty="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19043">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dirty="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dirty="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93238" name="AutoShape 54">
            <a:extLst>
              <a:ext uri="{FF2B5EF4-FFF2-40B4-BE49-F238E27FC236}">
                <a16:creationId xmlns:a16="http://schemas.microsoft.com/office/drawing/2014/main" id="{D4BB85B0-E9C6-4EAD-B5F2-06264FC2CBBE}"/>
              </a:ext>
            </a:extLst>
          </p:cNvPr>
          <p:cNvSpPr>
            <a:spLocks noChangeArrowheads="1"/>
          </p:cNvSpPr>
          <p:nvPr/>
        </p:nvSpPr>
        <p:spPr bwMode="auto">
          <a:xfrm>
            <a:off x="6571113" y="2287272"/>
            <a:ext cx="2393375" cy="1357752"/>
          </a:xfrm>
          <a:prstGeom prst="wedgeRoundRectCallout">
            <a:avLst>
              <a:gd name="adj1" fmla="val -67982"/>
              <a:gd name="adj2" fmla="val 32219"/>
              <a:gd name="adj3" fmla="val 16667"/>
            </a:avLst>
          </a:prstGeom>
          <a:solidFill>
            <a:srgbClr val="FFFF00"/>
          </a:solidFill>
          <a:ln>
            <a:noFill/>
          </a:ln>
          <a:effectLst/>
        </p:spPr>
        <p:txBody>
          <a:bodyPr lIns="0" tIns="0" rIns="0" bIns="0"/>
          <a:lstStyle>
            <a:lvl1pPr marL="342900" indent="-342900">
              <a:defRPr sz="2400">
                <a:solidFill>
                  <a:schemeClr val="tx1"/>
                </a:solidFill>
                <a:latin typeface="Arial" pitchFamily="34" charset="0"/>
                <a:ea typeface="宋体" pitchFamily="2" charset="-122"/>
              </a:defRPr>
            </a:lvl1pPr>
            <a:lvl2pPr>
              <a:defRPr sz="2400">
                <a:solidFill>
                  <a:schemeClr val="tx1"/>
                </a:solidFill>
                <a:latin typeface="Arial" pitchFamily="34" charset="0"/>
                <a:ea typeface="宋体" pitchFamily="2" charset="-122"/>
              </a:defRPr>
            </a:lvl2pPr>
            <a:lvl3pPr>
              <a:defRPr sz="2400">
                <a:solidFill>
                  <a:schemeClr val="tx1"/>
                </a:solidFill>
                <a:latin typeface="Arial" pitchFamily="34" charset="0"/>
                <a:ea typeface="宋体" pitchFamily="2" charset="-122"/>
              </a:defRPr>
            </a:lvl3pPr>
            <a:lvl4pPr>
              <a:defRPr sz="2400">
                <a:solidFill>
                  <a:schemeClr val="tx1"/>
                </a:solidFill>
                <a:latin typeface="Arial" pitchFamily="34" charset="0"/>
                <a:ea typeface="宋体" pitchFamily="2" charset="-122"/>
              </a:defRPr>
            </a:lvl4pPr>
            <a:lvl5pPr>
              <a:defRPr sz="2400">
                <a:solidFill>
                  <a:schemeClr val="tx1"/>
                </a:solidFill>
                <a:latin typeface="Arial" pitchFamily="34" charset="0"/>
                <a:ea typeface="宋体" pitchFamily="2" charset="-122"/>
              </a:defRPr>
            </a:lvl5pPr>
            <a:lvl6pPr fontAlgn="base">
              <a:spcBef>
                <a:spcPct val="0"/>
              </a:spcBef>
              <a:spcAft>
                <a:spcPct val="0"/>
              </a:spcAft>
              <a:buFont typeface="Arial" pitchFamily="34" charset="0"/>
              <a:defRPr sz="2400">
                <a:solidFill>
                  <a:schemeClr val="tx1"/>
                </a:solidFill>
                <a:latin typeface="Arial" pitchFamily="34" charset="0"/>
                <a:ea typeface="宋体" pitchFamily="2" charset="-122"/>
              </a:defRPr>
            </a:lvl6pPr>
            <a:lvl7pPr fontAlgn="base">
              <a:spcBef>
                <a:spcPct val="0"/>
              </a:spcBef>
              <a:spcAft>
                <a:spcPct val="0"/>
              </a:spcAft>
              <a:buFont typeface="Arial" pitchFamily="34" charset="0"/>
              <a:defRPr sz="2400">
                <a:solidFill>
                  <a:schemeClr val="tx1"/>
                </a:solidFill>
                <a:latin typeface="Arial" pitchFamily="34" charset="0"/>
                <a:ea typeface="宋体" pitchFamily="2" charset="-122"/>
              </a:defRPr>
            </a:lvl7pPr>
            <a:lvl8pPr fontAlgn="base">
              <a:spcBef>
                <a:spcPct val="0"/>
              </a:spcBef>
              <a:spcAft>
                <a:spcPct val="0"/>
              </a:spcAft>
              <a:buFont typeface="Arial" pitchFamily="34" charset="0"/>
              <a:defRPr sz="2400">
                <a:solidFill>
                  <a:schemeClr val="tx1"/>
                </a:solidFill>
                <a:latin typeface="Arial" pitchFamily="34" charset="0"/>
                <a:ea typeface="宋体" pitchFamily="2" charset="-122"/>
              </a:defRPr>
            </a:lvl8pPr>
            <a:lvl9pPr fontAlgn="base">
              <a:spcBef>
                <a:spcPct val="0"/>
              </a:spcBef>
              <a:spcAft>
                <a:spcPct val="0"/>
              </a:spcAft>
              <a:buFont typeface="Arial" pitchFamily="34" charset="0"/>
              <a:defRPr sz="2400">
                <a:solidFill>
                  <a:schemeClr val="tx1"/>
                </a:solidFill>
                <a:latin typeface="Arial" pitchFamily="34" charset="0"/>
                <a:ea typeface="宋体" pitchFamily="2" charset="-122"/>
              </a:defRPr>
            </a:lvl9pPr>
          </a:lstStyle>
          <a:p>
            <a:pPr algn="ctr" eaLnBrk="1" hangingPunct="1">
              <a:spcBef>
                <a:spcPct val="20000"/>
              </a:spcBef>
              <a:buClr>
                <a:schemeClr val="hlink"/>
              </a:buClr>
              <a:buSzPct val="75000"/>
              <a:buFont typeface="Wingdings" pitchFamily="2" charset="2"/>
              <a:buNone/>
              <a:defRPr/>
            </a:pPr>
            <a:r>
              <a:rPr lang="en-US" altLang="zh-CN" sz="2800" i="0" dirty="0">
                <a:effectLst>
                  <a:outerShdw blurRad="38100" dist="38100" dir="2700000" algn="tl">
                    <a:srgbClr val="FFFFFF"/>
                  </a:outerShdw>
                </a:effectLst>
              </a:rPr>
              <a:t>-1</a:t>
            </a:r>
            <a:r>
              <a:rPr lang="zh-CN" altLang="en-US" sz="2800" b="1" i="0" dirty="0">
                <a:effectLst>
                  <a:outerShdw blurRad="38100" dist="38100" dir="2700000" algn="tl">
                    <a:srgbClr val="FFFFFF"/>
                  </a:outerShdw>
                </a:effectLst>
              </a:rPr>
              <a:t>表示无双</a:t>
            </a:r>
          </a:p>
          <a:p>
            <a:pPr algn="ctr" eaLnBrk="1" hangingPunct="1">
              <a:spcBef>
                <a:spcPct val="20000"/>
              </a:spcBef>
              <a:buClr>
                <a:schemeClr val="hlink"/>
              </a:buClr>
              <a:buSzPct val="75000"/>
              <a:buFont typeface="Wingdings" pitchFamily="2" charset="2"/>
              <a:buNone/>
              <a:defRPr/>
            </a:pPr>
            <a:r>
              <a:rPr lang="zh-CN" altLang="en-US" sz="2800" b="1" i="0" dirty="0">
                <a:effectLst>
                  <a:outerShdw blurRad="38100" dist="38100" dir="2700000" algn="tl">
                    <a:srgbClr val="FFFFFF"/>
                  </a:outerShdw>
                </a:effectLst>
              </a:rPr>
              <a:t>亲无孩子</a:t>
            </a:r>
          </a:p>
        </p:txBody>
      </p:sp>
      <p:sp>
        <p:nvSpPr>
          <p:cNvPr id="113727" name="Text Box 55">
            <a:extLst>
              <a:ext uri="{FF2B5EF4-FFF2-40B4-BE49-F238E27FC236}">
                <a16:creationId xmlns:a16="http://schemas.microsoft.com/office/drawing/2014/main" id="{81FA72C7-7AB0-45C7-AEC6-CC1FD75E6D1C}"/>
              </a:ext>
            </a:extLst>
          </p:cNvPr>
          <p:cNvSpPr txBox="1">
            <a:spLocks noChangeArrowheads="1"/>
          </p:cNvSpPr>
          <p:nvPr/>
        </p:nvSpPr>
        <p:spPr bwMode="auto">
          <a:xfrm>
            <a:off x="611560" y="2568723"/>
            <a:ext cx="216058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chemeClr val="hlink"/>
              </a:buClr>
              <a:buSzPct val="75000"/>
              <a:buFont typeface="Wingdings" panose="05000000000000000000" pitchFamily="2" charset="2"/>
              <a:buChar char="F"/>
            </a:pPr>
            <a:r>
              <a:rPr lang="zh-CN" altLang="en-US" sz="2800" i="0" dirty="0"/>
              <a:t>初始</a:t>
            </a:r>
          </a:p>
        </p:txBody>
      </p:sp>
      <p:sp>
        <p:nvSpPr>
          <p:cNvPr id="2" name="Text Box 3">
            <a:extLst>
              <a:ext uri="{FF2B5EF4-FFF2-40B4-BE49-F238E27FC236}">
                <a16:creationId xmlns:a16="http://schemas.microsoft.com/office/drawing/2014/main" id="{B21705D2-BEC4-4D7D-9C05-36884EB92E8A}"/>
              </a:ext>
            </a:extLst>
          </p:cNvPr>
          <p:cNvSpPr txBox="1">
            <a:spLocks noChangeArrowheads="1"/>
          </p:cNvSpPr>
          <p:nvPr/>
        </p:nvSpPr>
        <p:spPr bwMode="auto">
          <a:xfrm>
            <a:off x="395536" y="188640"/>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赫夫曼树实现</a:t>
            </a:r>
            <a:r>
              <a:rPr lang="en-US" altLang="zh-CN" sz="4400" i="0" dirty="0">
                <a:solidFill>
                  <a:schemeClr val="tx2"/>
                </a:solidFill>
                <a:ea typeface="隶书" pitchFamily="49" charset="-122"/>
              </a:rPr>
              <a:t>—</a:t>
            </a:r>
            <a:r>
              <a:rPr lang="zh-CN" altLang="en-US" sz="4400" i="0" dirty="0">
                <a:solidFill>
                  <a:schemeClr val="tx2"/>
                </a:solidFill>
                <a:ea typeface="隶书" pitchFamily="49" charset="-122"/>
              </a:rPr>
              <a:t>静态链表变化</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37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318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32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238" grpId="0" animBg="1"/>
      <p:bldP spid="113727" grpId="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a:extLst>
              <a:ext uri="{FF2B5EF4-FFF2-40B4-BE49-F238E27FC236}">
                <a16:creationId xmlns:a16="http://schemas.microsoft.com/office/drawing/2014/main" id="{7E8958A6-AE8B-4908-9480-4E65AC8E9A4F}"/>
              </a:ext>
            </a:extLst>
          </p:cNvPr>
          <p:cNvSpPr>
            <a:spLocks noGrp="1" noRot="1" noChangeArrowheads="1"/>
          </p:cNvSpPr>
          <p:nvPr>
            <p:ph type="body" sz="half" idx="1"/>
          </p:nvPr>
        </p:nvSpPr>
        <p:spPr>
          <a:xfrm>
            <a:off x="15193" y="1268760"/>
            <a:ext cx="8858250" cy="1438275"/>
          </a:xfrm>
        </p:spPr>
        <p:txBody>
          <a:bodyPr/>
          <a:lstStyle/>
          <a:p>
            <a:pPr lvl="1">
              <a:buFont typeface="Wingdings" panose="05000000000000000000" pitchFamily="2" charset="2"/>
              <a:buChar char="F"/>
            </a:pPr>
            <a:r>
              <a:rPr lang="zh-CN" altLang="en-US" sz="2400" dirty="0"/>
              <a:t> </a:t>
            </a:r>
            <a:r>
              <a:rPr lang="zh-CN" altLang="en-US" sz="2800" dirty="0">
                <a:solidFill>
                  <a:schemeClr val="tx1"/>
                </a:solidFill>
                <a:latin typeface="+mn-ea"/>
              </a:rPr>
              <a:t>选取表中0~3中双亲为</a:t>
            </a:r>
            <a:r>
              <a:rPr lang="en-US" altLang="zh-CN" sz="2800" dirty="0">
                <a:solidFill>
                  <a:schemeClr val="tx1"/>
                </a:solidFill>
                <a:latin typeface="+mn-ea"/>
              </a:rPr>
              <a:t>-1</a:t>
            </a:r>
            <a:r>
              <a:rPr lang="zh-CN" altLang="en-US" sz="2800" dirty="0">
                <a:solidFill>
                  <a:schemeClr val="tx1"/>
                </a:solidFill>
                <a:latin typeface="+mn-ea"/>
              </a:rPr>
              <a:t>的权值最小的两个结点</a:t>
            </a:r>
            <a:r>
              <a:rPr lang="en-US" altLang="zh-CN" sz="2800" dirty="0">
                <a:solidFill>
                  <a:schemeClr val="tx1"/>
                </a:solidFill>
                <a:latin typeface="+mn-ea"/>
              </a:rPr>
              <a:t>(</a:t>
            </a:r>
            <a:r>
              <a:rPr lang="en-US" altLang="zh-CN" sz="2800" dirty="0">
                <a:solidFill>
                  <a:srgbClr val="FF0000"/>
                </a:solidFill>
                <a:latin typeface="+mn-ea"/>
              </a:rPr>
              <a:t>1,3</a:t>
            </a:r>
            <a:r>
              <a:rPr lang="en-US" altLang="zh-CN" sz="2800" dirty="0">
                <a:solidFill>
                  <a:schemeClr val="tx1"/>
                </a:solidFill>
                <a:latin typeface="+mn-ea"/>
              </a:rPr>
              <a:t>)</a:t>
            </a:r>
            <a:r>
              <a:rPr lang="zh-CN" altLang="en-US" sz="2800" dirty="0">
                <a:solidFill>
                  <a:schemeClr val="tx1"/>
                </a:solidFill>
                <a:latin typeface="+mn-ea"/>
              </a:rPr>
              <a:t>，第</a:t>
            </a:r>
            <a:r>
              <a:rPr lang="zh-CN" altLang="en-US" sz="2800" dirty="0">
                <a:solidFill>
                  <a:srgbClr val="FF0000"/>
                </a:solidFill>
                <a:latin typeface="+mn-ea"/>
              </a:rPr>
              <a:t>4</a:t>
            </a:r>
            <a:r>
              <a:rPr lang="zh-CN" altLang="en-US" sz="2800" dirty="0">
                <a:solidFill>
                  <a:schemeClr val="tx1"/>
                </a:solidFill>
                <a:latin typeface="+mn-ea"/>
              </a:rPr>
              <a:t>单元做此两结点的双亲，修改双亲、左右孩子、权值。</a:t>
            </a:r>
          </a:p>
        </p:txBody>
      </p:sp>
      <p:graphicFrame>
        <p:nvGraphicFramePr>
          <p:cNvPr id="94211" name="Group 3">
            <a:extLst>
              <a:ext uri="{FF2B5EF4-FFF2-40B4-BE49-F238E27FC236}">
                <a16:creationId xmlns:a16="http://schemas.microsoft.com/office/drawing/2014/main" id="{9BA41428-188C-4FEE-BA20-2D68473279B6}"/>
              </a:ext>
            </a:extLst>
          </p:cNvPr>
          <p:cNvGraphicFramePr>
            <a:graphicFrameLocks noGrp="1"/>
          </p:cNvGraphicFramePr>
          <p:nvPr>
            <p:ph sz="quarter" idx="2"/>
            <p:extLst>
              <p:ext uri="{D42A27DB-BD31-4B8C-83A1-F6EECF244321}">
                <p14:modId xmlns:p14="http://schemas.microsoft.com/office/powerpoint/2010/main" val="3634498576"/>
              </p:ext>
            </p:extLst>
          </p:nvPr>
        </p:nvGraphicFramePr>
        <p:xfrm>
          <a:off x="2987675" y="2647777"/>
          <a:ext cx="4194175" cy="3630612"/>
        </p:xfrm>
        <a:graphic>
          <a:graphicData uri="http://schemas.openxmlformats.org/drawingml/2006/table">
            <a:tbl>
              <a:tblPr/>
              <a:tblGrid>
                <a:gridCol w="698588">
                  <a:extLst>
                    <a:ext uri="{9D8B030D-6E8A-4147-A177-3AD203B41FA5}">
                      <a16:colId xmlns:a16="http://schemas.microsoft.com/office/drawing/2014/main" val="20000"/>
                    </a:ext>
                  </a:extLst>
                </a:gridCol>
                <a:gridCol w="699912">
                  <a:extLst>
                    <a:ext uri="{9D8B030D-6E8A-4147-A177-3AD203B41FA5}">
                      <a16:colId xmlns:a16="http://schemas.microsoft.com/office/drawing/2014/main" val="20001"/>
                    </a:ext>
                  </a:extLst>
                </a:gridCol>
                <a:gridCol w="698588">
                  <a:extLst>
                    <a:ext uri="{9D8B030D-6E8A-4147-A177-3AD203B41FA5}">
                      <a16:colId xmlns:a16="http://schemas.microsoft.com/office/drawing/2014/main" val="20002"/>
                    </a:ext>
                  </a:extLst>
                </a:gridCol>
                <a:gridCol w="699911">
                  <a:extLst>
                    <a:ext uri="{9D8B030D-6E8A-4147-A177-3AD203B41FA5}">
                      <a16:colId xmlns:a16="http://schemas.microsoft.com/office/drawing/2014/main" val="20003"/>
                    </a:ext>
                  </a:extLst>
                </a:gridCol>
                <a:gridCol w="698588">
                  <a:extLst>
                    <a:ext uri="{9D8B030D-6E8A-4147-A177-3AD203B41FA5}">
                      <a16:colId xmlns:a16="http://schemas.microsoft.com/office/drawing/2014/main" val="20004"/>
                    </a:ext>
                  </a:extLst>
                </a:gridCol>
                <a:gridCol w="698588">
                  <a:extLst>
                    <a:ext uri="{9D8B030D-6E8A-4147-A177-3AD203B41FA5}">
                      <a16:colId xmlns:a16="http://schemas.microsoft.com/office/drawing/2014/main" val="20005"/>
                    </a:ext>
                  </a:extLst>
                </a:gridCol>
              </a:tblGrid>
              <a:tr h="518147">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A</a:t>
                      </a: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3</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2800" b="0" i="0" u="none" strike="noStrike" cap="none" normalizeH="0" baseline="0" dirty="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9042">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B</a:t>
                      </a: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en-US" sz="2800" b="0" i="0" u="none" strike="noStrike" cap="none" normalizeH="0" baseline="0" dirty="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2800" b="0" i="0" u="none" strike="noStrike" cap="none" normalizeH="0" baseline="0" dirty="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9042">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C</a:t>
                      </a: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2</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2800" b="0" i="0" u="none" strike="noStrike" cap="none" normalizeH="0" baseline="0" dirty="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9042">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D</a:t>
                      </a: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en-US" sz="2800" b="0" i="0" u="none" strike="noStrike" cap="none" normalizeH="0" baseline="0" dirty="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2800" b="0" i="0" u="none" strike="noStrike" cap="none" normalizeH="0" baseline="0" dirty="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8147">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2800" b="0" i="0" u="none" strike="noStrike" cap="none" normalizeH="0" baseline="0" dirty="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2800" b="0" i="0" u="none" strike="noStrike" cap="none" normalizeH="0" baseline="0" dirty="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en-US" sz="2800" b="0" i="0" u="none" strike="noStrike" cap="none" normalizeH="0" baseline="0" dirty="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en-US" sz="2800" b="0" i="0" u="none" strike="noStrike" cap="none" normalizeH="0" baseline="0" dirty="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en-US" sz="2800" b="0" i="0" u="none" strike="noStrike" cap="none" normalizeH="0" baseline="0" dirty="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9042">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dirty="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dirty="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dirty="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18147">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dirty="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dirty="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graphicFrame>
        <p:nvGraphicFramePr>
          <p:cNvPr id="94261" name="Group 53">
            <a:extLst>
              <a:ext uri="{FF2B5EF4-FFF2-40B4-BE49-F238E27FC236}">
                <a16:creationId xmlns:a16="http://schemas.microsoft.com/office/drawing/2014/main" id="{2AE78A64-DDC0-41FD-9499-0A3CFA1D0B18}"/>
              </a:ext>
            </a:extLst>
          </p:cNvPr>
          <p:cNvGraphicFramePr>
            <a:graphicFrameLocks noGrp="1"/>
          </p:cNvGraphicFramePr>
          <p:nvPr>
            <p:ph sz="quarter" idx="3"/>
            <p:extLst>
              <p:ext uri="{D42A27DB-BD31-4B8C-83A1-F6EECF244321}">
                <p14:modId xmlns:p14="http://schemas.microsoft.com/office/powerpoint/2010/main" val="1071531842"/>
              </p:ext>
            </p:extLst>
          </p:nvPr>
        </p:nvGraphicFramePr>
        <p:xfrm>
          <a:off x="1908175" y="2662064"/>
          <a:ext cx="930275" cy="4151312"/>
        </p:xfrm>
        <a:graphic>
          <a:graphicData uri="http://schemas.openxmlformats.org/drawingml/2006/table">
            <a:tbl>
              <a:tblPr/>
              <a:tblGrid>
                <a:gridCol w="930275">
                  <a:extLst>
                    <a:ext uri="{9D8B030D-6E8A-4147-A177-3AD203B41FA5}">
                      <a16:colId xmlns:a16="http://schemas.microsoft.com/office/drawing/2014/main" val="20000"/>
                    </a:ext>
                  </a:extLst>
                </a:gridCol>
              </a:tblGrid>
              <a:tr h="518239">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0</a:t>
                      </a:r>
                    </a:p>
                  </a:txBody>
                  <a:tcPr marT="45727" marB="45727" horzOverflow="overflow">
                    <a:lnL cap="flat">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520780">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1</a:t>
                      </a:r>
                    </a:p>
                  </a:txBody>
                  <a:tcPr marT="45727" marB="45727"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518239">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2</a:t>
                      </a:r>
                    </a:p>
                  </a:txBody>
                  <a:tcPr marT="45727" marB="45727"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519192">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3</a:t>
                      </a:r>
                    </a:p>
                  </a:txBody>
                  <a:tcPr marT="45727" marB="45727"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518239">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4</a:t>
                      </a:r>
                    </a:p>
                  </a:txBody>
                  <a:tcPr marT="45727" marB="45727"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519192">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5</a:t>
                      </a:r>
                    </a:p>
                  </a:txBody>
                  <a:tcPr marT="45727" marB="45727"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519192">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6</a:t>
                      </a:r>
                    </a:p>
                  </a:txBody>
                  <a:tcPr marT="45727" marB="45727"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6"/>
                  </a:ext>
                </a:extLst>
              </a:tr>
              <a:tr h="518239">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marT="45727" marB="45727" horzOverflow="overflow">
                    <a:lnL cap="flat">
                      <a:noFill/>
                    </a:lnL>
                    <a:lnR cap="flat">
                      <a:noFill/>
                    </a:lnR>
                    <a:lnT>
                      <a:noFill/>
                    </a:lnT>
                    <a:lnB cap="flat">
                      <a:noFill/>
                    </a:lnB>
                    <a:lnTlToBr>
                      <a:noFill/>
                    </a:lnTlToBr>
                    <a:lnBlToTr>
                      <a:noFill/>
                    </a:lnBlToTr>
                    <a:noFill/>
                  </a:tcPr>
                </a:tc>
                <a:extLst>
                  <a:ext uri="{0D108BD9-81ED-4DB2-BD59-A6C34878D82A}">
                    <a16:rowId xmlns:a16="http://schemas.microsoft.com/office/drawing/2014/main" val="10007"/>
                  </a:ext>
                </a:extLst>
              </a:tr>
            </a:tbl>
          </a:graphicData>
        </a:graphic>
      </p:graphicFrame>
      <p:sp>
        <p:nvSpPr>
          <p:cNvPr id="2" name="Text Box 3">
            <a:extLst>
              <a:ext uri="{FF2B5EF4-FFF2-40B4-BE49-F238E27FC236}">
                <a16:creationId xmlns:a16="http://schemas.microsoft.com/office/drawing/2014/main" id="{AE9FECC4-E39C-4E9A-82C0-896D7137B9FD}"/>
              </a:ext>
            </a:extLst>
          </p:cNvPr>
          <p:cNvSpPr txBox="1">
            <a:spLocks noChangeArrowheads="1"/>
          </p:cNvSpPr>
          <p:nvPr/>
        </p:nvSpPr>
        <p:spPr bwMode="auto">
          <a:xfrm>
            <a:off x="395536" y="188640"/>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赫夫曼树实现</a:t>
            </a:r>
            <a:r>
              <a:rPr lang="en-US" altLang="zh-CN" sz="4400" i="0" dirty="0">
                <a:solidFill>
                  <a:schemeClr val="tx2"/>
                </a:solidFill>
                <a:ea typeface="隶书" pitchFamily="49" charset="-122"/>
              </a:rPr>
              <a:t>—</a:t>
            </a:r>
            <a:r>
              <a:rPr lang="zh-CN" altLang="en-US" sz="4400" i="0" dirty="0">
                <a:solidFill>
                  <a:schemeClr val="tx2"/>
                </a:solidFill>
                <a:ea typeface="隶书" pitchFamily="49" charset="-122"/>
              </a:rPr>
              <a:t>静态链表变化</a:t>
            </a:r>
          </a:p>
        </p:txBody>
      </p:sp>
      <p:sp>
        <p:nvSpPr>
          <p:cNvPr id="3" name="文本框 2">
            <a:extLst>
              <a:ext uri="{FF2B5EF4-FFF2-40B4-BE49-F238E27FC236}">
                <a16:creationId xmlns:a16="http://schemas.microsoft.com/office/drawing/2014/main" id="{F6E29BE4-3EA2-D385-D5C3-0F21EEDBD20F}"/>
              </a:ext>
            </a:extLst>
          </p:cNvPr>
          <p:cNvSpPr txBox="1"/>
          <p:nvPr/>
        </p:nvSpPr>
        <p:spPr>
          <a:xfrm>
            <a:off x="4631219" y="4725144"/>
            <a:ext cx="410656" cy="430887"/>
          </a:xfrm>
          <a:prstGeom prst="rect">
            <a:avLst/>
          </a:prstGeom>
          <a:noFill/>
        </p:spPr>
        <p:txBody>
          <a:bodyPr wrap="square" lIns="0" tIns="0" rIns="0" bIns="0" rtlCol="0">
            <a:spAutoFit/>
          </a:bodyPr>
          <a:lstStyle/>
          <a:p>
            <a:r>
              <a:rPr lang="en-US" altLang="zh-CN" sz="2800" b="0" i="0" dirty="0">
                <a:latin typeface="+mn-ea"/>
                <a:ea typeface="+mn-ea"/>
              </a:rPr>
              <a:t>-1</a:t>
            </a:r>
            <a:endParaRPr lang="zh-CN" altLang="en-US" sz="2800" b="0" i="0" dirty="0">
              <a:latin typeface="+mn-ea"/>
              <a:ea typeface="+mn-ea"/>
            </a:endParaRPr>
          </a:p>
        </p:txBody>
      </p:sp>
      <p:sp>
        <p:nvSpPr>
          <p:cNvPr id="5" name="文本框 4">
            <a:extLst>
              <a:ext uri="{FF2B5EF4-FFF2-40B4-BE49-F238E27FC236}">
                <a16:creationId xmlns:a16="http://schemas.microsoft.com/office/drawing/2014/main" id="{F4B5E32B-8777-5B40-D87D-AB1768EF1168}"/>
              </a:ext>
            </a:extLst>
          </p:cNvPr>
          <p:cNvSpPr txBox="1"/>
          <p:nvPr/>
        </p:nvSpPr>
        <p:spPr>
          <a:xfrm>
            <a:off x="5312115" y="4725143"/>
            <a:ext cx="288032" cy="430887"/>
          </a:xfrm>
          <a:prstGeom prst="rect">
            <a:avLst/>
          </a:prstGeom>
          <a:noFill/>
        </p:spPr>
        <p:txBody>
          <a:bodyPr wrap="square" lIns="0" tIns="0" rIns="0" bIns="0" rtlCol="0">
            <a:spAutoFit/>
          </a:bodyPr>
          <a:lstStyle/>
          <a:p>
            <a:r>
              <a:rPr lang="en-US" altLang="zh-CN" sz="2800" b="0" i="0" dirty="0">
                <a:latin typeface="+mn-ea"/>
                <a:ea typeface="+mn-ea"/>
              </a:rPr>
              <a:t>1</a:t>
            </a:r>
            <a:endParaRPr lang="zh-CN" altLang="en-US" sz="2800" b="0" i="0" dirty="0">
              <a:latin typeface="+mn-ea"/>
              <a:ea typeface="+mn-ea"/>
            </a:endParaRPr>
          </a:p>
        </p:txBody>
      </p:sp>
      <p:sp>
        <p:nvSpPr>
          <p:cNvPr id="6" name="文本框 5">
            <a:extLst>
              <a:ext uri="{FF2B5EF4-FFF2-40B4-BE49-F238E27FC236}">
                <a16:creationId xmlns:a16="http://schemas.microsoft.com/office/drawing/2014/main" id="{DD8C1D70-905E-C499-EFB1-3DD0611F8B61}"/>
              </a:ext>
            </a:extLst>
          </p:cNvPr>
          <p:cNvSpPr txBox="1"/>
          <p:nvPr/>
        </p:nvSpPr>
        <p:spPr>
          <a:xfrm>
            <a:off x="6033552" y="4725142"/>
            <a:ext cx="410656" cy="430887"/>
          </a:xfrm>
          <a:prstGeom prst="rect">
            <a:avLst/>
          </a:prstGeom>
          <a:noFill/>
        </p:spPr>
        <p:txBody>
          <a:bodyPr wrap="square" lIns="0" tIns="0" rIns="0" bIns="0" rtlCol="0">
            <a:spAutoFit/>
          </a:bodyPr>
          <a:lstStyle/>
          <a:p>
            <a:r>
              <a:rPr lang="en-US" altLang="zh-CN" sz="2800" b="0" i="0" dirty="0">
                <a:latin typeface="+mn-ea"/>
                <a:ea typeface="+mn-ea"/>
              </a:rPr>
              <a:t>3</a:t>
            </a:r>
            <a:endParaRPr lang="zh-CN" altLang="en-US" sz="2800" b="0" i="0" dirty="0">
              <a:latin typeface="+mn-ea"/>
              <a:ea typeface="+mn-ea"/>
            </a:endParaRPr>
          </a:p>
        </p:txBody>
      </p:sp>
      <p:sp>
        <p:nvSpPr>
          <p:cNvPr id="7" name="文本框 6">
            <a:extLst>
              <a:ext uri="{FF2B5EF4-FFF2-40B4-BE49-F238E27FC236}">
                <a16:creationId xmlns:a16="http://schemas.microsoft.com/office/drawing/2014/main" id="{C633B051-FB70-3908-1700-762ADD4B0963}"/>
              </a:ext>
            </a:extLst>
          </p:cNvPr>
          <p:cNvSpPr txBox="1"/>
          <p:nvPr/>
        </p:nvSpPr>
        <p:spPr>
          <a:xfrm>
            <a:off x="3965065" y="4737720"/>
            <a:ext cx="288032" cy="430887"/>
          </a:xfrm>
          <a:prstGeom prst="rect">
            <a:avLst/>
          </a:prstGeom>
          <a:noFill/>
        </p:spPr>
        <p:txBody>
          <a:bodyPr wrap="square" lIns="0" tIns="0" rIns="0" bIns="0" rtlCol="0">
            <a:spAutoFit/>
          </a:bodyPr>
          <a:lstStyle/>
          <a:p>
            <a:r>
              <a:rPr lang="en-US" altLang="zh-CN" sz="2800" b="0" i="0" dirty="0">
                <a:latin typeface="+mn-ea"/>
                <a:ea typeface="+mn-ea"/>
              </a:rPr>
              <a:t>2</a:t>
            </a:r>
            <a:endParaRPr lang="zh-CN" altLang="en-US" sz="2800" b="0" i="0" dirty="0">
              <a:latin typeface="+mn-ea"/>
              <a:ea typeface="+mn-ea"/>
            </a:endParaRPr>
          </a:p>
        </p:txBody>
      </p:sp>
      <p:sp>
        <p:nvSpPr>
          <p:cNvPr id="8" name="文本框 7">
            <a:extLst>
              <a:ext uri="{FF2B5EF4-FFF2-40B4-BE49-F238E27FC236}">
                <a16:creationId xmlns:a16="http://schemas.microsoft.com/office/drawing/2014/main" id="{157DD75E-1E27-F03D-1045-6CDBCA9289EA}"/>
              </a:ext>
            </a:extLst>
          </p:cNvPr>
          <p:cNvSpPr txBox="1"/>
          <p:nvPr/>
        </p:nvSpPr>
        <p:spPr>
          <a:xfrm>
            <a:off x="4526104" y="3213556"/>
            <a:ext cx="410656" cy="430887"/>
          </a:xfrm>
          <a:prstGeom prst="rect">
            <a:avLst/>
          </a:prstGeom>
          <a:noFill/>
        </p:spPr>
        <p:txBody>
          <a:bodyPr wrap="square" lIns="0" tIns="0" rIns="0" bIns="0" rtlCol="0">
            <a:spAutoFit/>
          </a:bodyPr>
          <a:lstStyle/>
          <a:p>
            <a:r>
              <a:rPr lang="en-US" altLang="zh-CN" sz="2800" b="0" i="0" dirty="0">
                <a:latin typeface="+mn-ea"/>
                <a:ea typeface="+mn-ea"/>
              </a:rPr>
              <a:t>-1</a:t>
            </a:r>
            <a:endParaRPr lang="zh-CN" altLang="en-US" sz="2800" b="0" i="0" dirty="0">
              <a:latin typeface="+mn-ea"/>
              <a:ea typeface="+mn-ea"/>
            </a:endParaRPr>
          </a:p>
        </p:txBody>
      </p:sp>
      <p:sp>
        <p:nvSpPr>
          <p:cNvPr id="9" name="文本框 8">
            <a:extLst>
              <a:ext uri="{FF2B5EF4-FFF2-40B4-BE49-F238E27FC236}">
                <a16:creationId xmlns:a16="http://schemas.microsoft.com/office/drawing/2014/main" id="{CDEC057A-CC53-D67D-BB59-0D90F2334621}"/>
              </a:ext>
            </a:extLst>
          </p:cNvPr>
          <p:cNvSpPr txBox="1"/>
          <p:nvPr/>
        </p:nvSpPr>
        <p:spPr>
          <a:xfrm>
            <a:off x="4546892" y="4277268"/>
            <a:ext cx="410656" cy="430887"/>
          </a:xfrm>
          <a:prstGeom prst="rect">
            <a:avLst/>
          </a:prstGeom>
          <a:noFill/>
        </p:spPr>
        <p:txBody>
          <a:bodyPr wrap="square" lIns="0" tIns="0" rIns="0" bIns="0" rtlCol="0">
            <a:spAutoFit/>
          </a:bodyPr>
          <a:lstStyle/>
          <a:p>
            <a:r>
              <a:rPr lang="en-US" altLang="zh-CN" sz="2800" b="0" i="0" dirty="0">
                <a:latin typeface="+mn-ea"/>
                <a:ea typeface="+mn-ea"/>
              </a:rPr>
              <a:t>-1</a:t>
            </a:r>
            <a:endParaRPr lang="zh-CN" altLang="en-US" sz="2800" b="0" i="0" dirty="0">
              <a:latin typeface="+mn-ea"/>
              <a:ea typeface="+mn-ea"/>
            </a:endParaRPr>
          </a:p>
        </p:txBody>
      </p:sp>
      <p:sp>
        <p:nvSpPr>
          <p:cNvPr id="10" name="文本框 9">
            <a:extLst>
              <a:ext uri="{FF2B5EF4-FFF2-40B4-BE49-F238E27FC236}">
                <a16:creationId xmlns:a16="http://schemas.microsoft.com/office/drawing/2014/main" id="{064166F6-96B3-714D-2A78-2233234F5F5C}"/>
              </a:ext>
            </a:extLst>
          </p:cNvPr>
          <p:cNvSpPr txBox="1"/>
          <p:nvPr/>
        </p:nvSpPr>
        <p:spPr>
          <a:xfrm>
            <a:off x="4624636" y="3196567"/>
            <a:ext cx="410656" cy="430887"/>
          </a:xfrm>
          <a:prstGeom prst="rect">
            <a:avLst/>
          </a:prstGeom>
          <a:noFill/>
        </p:spPr>
        <p:txBody>
          <a:bodyPr wrap="square" lIns="0" tIns="0" rIns="0" bIns="0" rtlCol="0">
            <a:spAutoFit/>
          </a:bodyPr>
          <a:lstStyle/>
          <a:p>
            <a:r>
              <a:rPr lang="en-US" altLang="zh-CN" sz="2800" b="0" i="0" dirty="0">
                <a:latin typeface="+mn-ea"/>
                <a:ea typeface="+mn-ea"/>
              </a:rPr>
              <a:t>4</a:t>
            </a:r>
            <a:endParaRPr lang="zh-CN" altLang="en-US" sz="2800" b="0" i="0" dirty="0">
              <a:latin typeface="+mn-ea"/>
              <a:ea typeface="+mn-ea"/>
            </a:endParaRPr>
          </a:p>
        </p:txBody>
      </p:sp>
      <p:sp>
        <p:nvSpPr>
          <p:cNvPr id="11" name="文本框 10">
            <a:extLst>
              <a:ext uri="{FF2B5EF4-FFF2-40B4-BE49-F238E27FC236}">
                <a16:creationId xmlns:a16="http://schemas.microsoft.com/office/drawing/2014/main" id="{9D29C99A-384E-1C40-F31D-1E47AE143A4C}"/>
              </a:ext>
            </a:extLst>
          </p:cNvPr>
          <p:cNvSpPr txBox="1"/>
          <p:nvPr/>
        </p:nvSpPr>
        <p:spPr>
          <a:xfrm>
            <a:off x="4686136" y="4222123"/>
            <a:ext cx="410656" cy="430887"/>
          </a:xfrm>
          <a:prstGeom prst="rect">
            <a:avLst/>
          </a:prstGeom>
          <a:noFill/>
        </p:spPr>
        <p:txBody>
          <a:bodyPr wrap="square" lIns="0" tIns="0" rIns="0" bIns="0" rtlCol="0">
            <a:spAutoFit/>
          </a:bodyPr>
          <a:lstStyle/>
          <a:p>
            <a:r>
              <a:rPr lang="en-US" altLang="zh-CN" sz="2800" b="0" i="0" dirty="0">
                <a:latin typeface="+mn-ea"/>
                <a:ea typeface="+mn-ea"/>
              </a:rPr>
              <a:t>4</a:t>
            </a:r>
            <a:endParaRPr lang="zh-CN" altLang="en-US" sz="2800" b="0" i="0" dirty="0">
              <a:latin typeface="+mn-ea"/>
              <a:ea typeface="+mn-ea"/>
            </a:endParaRPr>
          </a:p>
        </p:txBody>
      </p:sp>
      <p:sp>
        <p:nvSpPr>
          <p:cNvPr id="4" name="矩形 3">
            <a:extLst>
              <a:ext uri="{FF2B5EF4-FFF2-40B4-BE49-F238E27FC236}">
                <a16:creationId xmlns:a16="http://schemas.microsoft.com/office/drawing/2014/main" id="{950EAA75-9383-3685-8F90-881DBDB58628}"/>
              </a:ext>
            </a:extLst>
          </p:cNvPr>
          <p:cNvSpPr/>
          <p:nvPr/>
        </p:nvSpPr>
        <p:spPr bwMode="auto">
          <a:xfrm>
            <a:off x="2477060" y="3179578"/>
            <a:ext cx="410656" cy="447876"/>
          </a:xfrm>
          <a:prstGeom prst="rect">
            <a:avLst/>
          </a:prstGeom>
          <a:noFill/>
          <a:ln w="349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1" u="none" strike="noStrike" cap="none" normalizeH="0" baseline="0">
              <a:ln>
                <a:noFill/>
              </a:ln>
              <a:solidFill>
                <a:schemeClr val="tx1"/>
              </a:solidFill>
              <a:effectLst/>
              <a:latin typeface="Times New Roman" pitchFamily="18" charset="0"/>
              <a:ea typeface="宋体" pitchFamily="2" charset="-122"/>
            </a:endParaRPr>
          </a:p>
        </p:txBody>
      </p:sp>
      <p:sp>
        <p:nvSpPr>
          <p:cNvPr id="12" name="矩形 11">
            <a:extLst>
              <a:ext uri="{FF2B5EF4-FFF2-40B4-BE49-F238E27FC236}">
                <a16:creationId xmlns:a16="http://schemas.microsoft.com/office/drawing/2014/main" id="{6F8A8611-5E77-E1CE-4044-6CF4220BD73F}"/>
              </a:ext>
            </a:extLst>
          </p:cNvPr>
          <p:cNvSpPr/>
          <p:nvPr/>
        </p:nvSpPr>
        <p:spPr bwMode="auto">
          <a:xfrm>
            <a:off x="2452427" y="4239145"/>
            <a:ext cx="410656" cy="447876"/>
          </a:xfrm>
          <a:prstGeom prst="rect">
            <a:avLst/>
          </a:prstGeom>
          <a:noFill/>
          <a:ln w="349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1" u="none" strike="noStrike" cap="none" normalizeH="0" baseline="0">
              <a:ln>
                <a:noFill/>
              </a:ln>
              <a:solidFill>
                <a:schemeClr val="tx1"/>
              </a:solidFill>
              <a:effectLst/>
              <a:latin typeface="Times New Roman" pitchFamily="18" charset="0"/>
              <a:ea typeface="宋体" pitchFamily="2" charset="-122"/>
            </a:endParaRPr>
          </a:p>
        </p:txBody>
      </p:sp>
      <p:sp>
        <p:nvSpPr>
          <p:cNvPr id="14" name="文本框 13">
            <a:extLst>
              <a:ext uri="{FF2B5EF4-FFF2-40B4-BE49-F238E27FC236}">
                <a16:creationId xmlns:a16="http://schemas.microsoft.com/office/drawing/2014/main" id="{1BB6AD40-4F6F-218A-4D3B-115D9ADC3464}"/>
              </a:ext>
            </a:extLst>
          </p:cNvPr>
          <p:cNvSpPr txBox="1"/>
          <p:nvPr/>
        </p:nvSpPr>
        <p:spPr>
          <a:xfrm>
            <a:off x="1735377" y="4734186"/>
            <a:ext cx="514656" cy="523220"/>
          </a:xfrm>
          <a:prstGeom prst="rect">
            <a:avLst/>
          </a:prstGeom>
          <a:noFill/>
        </p:spPr>
        <p:txBody>
          <a:bodyPr wrap="square">
            <a:spAutoFit/>
          </a:bodyPr>
          <a:lstStyle/>
          <a:p>
            <a:r>
              <a:rPr kumimoji="0" lang="zh-CN" altLang="en-US" sz="2800" b="0" i="0" u="none" strike="noStrike" kern="0" cap="none" spc="0" normalizeH="0" baseline="0" noProof="0" dirty="0">
                <a:ln>
                  <a:noFill/>
                </a:ln>
                <a:solidFill>
                  <a:srgbClr val="FF0000"/>
                </a:solidFill>
                <a:effectLst/>
                <a:uLnTx/>
                <a:uFillTx/>
                <a:latin typeface="黑体"/>
                <a:ea typeface="黑体"/>
                <a:cs typeface="+mn-cs"/>
              </a:rPr>
              <a:t>√</a:t>
            </a:r>
            <a:endParaRPr lang="zh-CN" altLang="en-US"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P spid="7" grpId="0"/>
      <p:bldP spid="8" grpId="0"/>
      <p:bldP spid="9" grpId="0"/>
      <p:bldP spid="10" grpId="0"/>
      <p:bldP spid="11" grpId="0"/>
      <p:bldP spid="4" grpId="0" animBg="1"/>
      <p:bldP spid="12" grpId="0" animBg="1"/>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a:extLst>
              <a:ext uri="{FF2B5EF4-FFF2-40B4-BE49-F238E27FC236}">
                <a16:creationId xmlns:a16="http://schemas.microsoft.com/office/drawing/2014/main" id="{F2909991-0324-4CB4-9272-B2EB7C309333}"/>
              </a:ext>
            </a:extLst>
          </p:cNvPr>
          <p:cNvSpPr>
            <a:spLocks noGrp="1" noRot="1" noChangeArrowheads="1"/>
          </p:cNvSpPr>
          <p:nvPr>
            <p:ph type="body" sz="half" idx="1"/>
          </p:nvPr>
        </p:nvSpPr>
        <p:spPr>
          <a:xfrm>
            <a:off x="0" y="1256831"/>
            <a:ext cx="8588375" cy="1368425"/>
          </a:xfrm>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lvl="1">
              <a:lnSpc>
                <a:spcPct val="90000"/>
              </a:lnSpc>
              <a:buFont typeface="Wingdings" panose="05000000000000000000" pitchFamily="2" charset="2"/>
              <a:buChar char="F"/>
            </a:pPr>
            <a:r>
              <a:rPr lang="zh-CN" altLang="en-US" sz="2400" dirty="0"/>
              <a:t> </a:t>
            </a:r>
            <a:r>
              <a:rPr lang="zh-CN" altLang="en-US" sz="2800" dirty="0">
                <a:solidFill>
                  <a:schemeClr val="tx1"/>
                </a:solidFill>
                <a:latin typeface="+mn-ea"/>
              </a:rPr>
              <a:t>选取表中0~4中双亲为</a:t>
            </a:r>
            <a:r>
              <a:rPr lang="en-US" altLang="zh-CN" sz="2800" dirty="0">
                <a:solidFill>
                  <a:schemeClr val="tx1"/>
                </a:solidFill>
                <a:latin typeface="+mn-ea"/>
              </a:rPr>
              <a:t>-1</a:t>
            </a:r>
            <a:r>
              <a:rPr lang="zh-CN" altLang="en-US" sz="2800" dirty="0">
                <a:solidFill>
                  <a:schemeClr val="tx1"/>
                </a:solidFill>
                <a:latin typeface="+mn-ea"/>
              </a:rPr>
              <a:t>的权值最小的两个结点</a:t>
            </a:r>
            <a:r>
              <a:rPr lang="en-US" altLang="zh-CN" sz="2800" dirty="0">
                <a:solidFill>
                  <a:schemeClr val="tx1"/>
                </a:solidFill>
                <a:latin typeface="+mn-ea"/>
              </a:rPr>
              <a:t>(</a:t>
            </a:r>
            <a:r>
              <a:rPr lang="en-US" altLang="zh-CN" sz="2800" dirty="0">
                <a:solidFill>
                  <a:srgbClr val="FF0000"/>
                </a:solidFill>
                <a:latin typeface="+mn-ea"/>
              </a:rPr>
              <a:t>2,4</a:t>
            </a:r>
            <a:r>
              <a:rPr lang="en-US" altLang="zh-CN" sz="2800" dirty="0">
                <a:solidFill>
                  <a:schemeClr val="tx1"/>
                </a:solidFill>
                <a:latin typeface="+mn-ea"/>
              </a:rPr>
              <a:t>)</a:t>
            </a:r>
            <a:r>
              <a:rPr lang="zh-CN" altLang="en-US" sz="2800" dirty="0">
                <a:solidFill>
                  <a:schemeClr val="tx1"/>
                </a:solidFill>
                <a:latin typeface="+mn-ea"/>
              </a:rPr>
              <a:t>，第</a:t>
            </a:r>
            <a:r>
              <a:rPr lang="zh-CN" altLang="en-US" sz="2800" dirty="0">
                <a:solidFill>
                  <a:srgbClr val="FF0000"/>
                </a:solidFill>
                <a:latin typeface="+mn-ea"/>
              </a:rPr>
              <a:t>5</a:t>
            </a:r>
            <a:r>
              <a:rPr lang="zh-CN" altLang="en-US" sz="2800" dirty="0">
                <a:solidFill>
                  <a:schemeClr val="tx1"/>
                </a:solidFill>
                <a:latin typeface="+mn-ea"/>
              </a:rPr>
              <a:t>单元做此两结点的双亲，修改双亲、左右孩子、权值。</a:t>
            </a:r>
          </a:p>
        </p:txBody>
      </p:sp>
      <p:graphicFrame>
        <p:nvGraphicFramePr>
          <p:cNvPr id="95235" name="Group 3">
            <a:extLst>
              <a:ext uri="{FF2B5EF4-FFF2-40B4-BE49-F238E27FC236}">
                <a16:creationId xmlns:a16="http://schemas.microsoft.com/office/drawing/2014/main" id="{4DA596B6-F8C5-49CE-9A12-49312CF85968}"/>
              </a:ext>
            </a:extLst>
          </p:cNvPr>
          <p:cNvGraphicFramePr>
            <a:graphicFrameLocks noGrp="1"/>
          </p:cNvGraphicFramePr>
          <p:nvPr>
            <p:extLst>
              <p:ext uri="{D42A27DB-BD31-4B8C-83A1-F6EECF244321}">
                <p14:modId xmlns:p14="http://schemas.microsoft.com/office/powerpoint/2010/main" val="3083075267"/>
              </p:ext>
            </p:extLst>
          </p:nvPr>
        </p:nvGraphicFramePr>
        <p:xfrm>
          <a:off x="2682081" y="2855042"/>
          <a:ext cx="4194175" cy="3670302"/>
        </p:xfrm>
        <a:graphic>
          <a:graphicData uri="http://schemas.openxmlformats.org/drawingml/2006/table">
            <a:tbl>
              <a:tblPr/>
              <a:tblGrid>
                <a:gridCol w="698588">
                  <a:extLst>
                    <a:ext uri="{9D8B030D-6E8A-4147-A177-3AD203B41FA5}">
                      <a16:colId xmlns:a16="http://schemas.microsoft.com/office/drawing/2014/main" val="20000"/>
                    </a:ext>
                  </a:extLst>
                </a:gridCol>
                <a:gridCol w="699911">
                  <a:extLst>
                    <a:ext uri="{9D8B030D-6E8A-4147-A177-3AD203B41FA5}">
                      <a16:colId xmlns:a16="http://schemas.microsoft.com/office/drawing/2014/main" val="20001"/>
                    </a:ext>
                  </a:extLst>
                </a:gridCol>
                <a:gridCol w="698588">
                  <a:extLst>
                    <a:ext uri="{9D8B030D-6E8A-4147-A177-3AD203B41FA5}">
                      <a16:colId xmlns:a16="http://schemas.microsoft.com/office/drawing/2014/main" val="20002"/>
                    </a:ext>
                  </a:extLst>
                </a:gridCol>
                <a:gridCol w="699912">
                  <a:extLst>
                    <a:ext uri="{9D8B030D-6E8A-4147-A177-3AD203B41FA5}">
                      <a16:colId xmlns:a16="http://schemas.microsoft.com/office/drawing/2014/main" val="20003"/>
                    </a:ext>
                  </a:extLst>
                </a:gridCol>
                <a:gridCol w="698588">
                  <a:extLst>
                    <a:ext uri="{9D8B030D-6E8A-4147-A177-3AD203B41FA5}">
                      <a16:colId xmlns:a16="http://schemas.microsoft.com/office/drawing/2014/main" val="20004"/>
                    </a:ext>
                  </a:extLst>
                </a:gridCol>
                <a:gridCol w="698588">
                  <a:extLst>
                    <a:ext uri="{9D8B030D-6E8A-4147-A177-3AD203B41FA5}">
                      <a16:colId xmlns:a16="http://schemas.microsoft.com/office/drawing/2014/main" val="20005"/>
                    </a:ext>
                  </a:extLst>
                </a:gridCol>
              </a:tblGrid>
              <a:tr h="523875">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A</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2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2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23875">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B</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800" b="0" i="0" u="none" strike="noStrike" cap="none" normalizeH="0" baseline="0">
                          <a:ln>
                            <a:noFill/>
                          </a:ln>
                          <a:solidFill>
                            <a:schemeClr val="tx1"/>
                          </a:solidFill>
                          <a:effectLst/>
                          <a:latin typeface="Arial" pitchFamily="34" charset="0"/>
                          <a:ea typeface="宋体" pitchFamily="2" charset="-122"/>
                        </a:rPr>
                        <a:t>4</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2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25463">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C</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en-US" sz="2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2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22288">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D</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800" b="0" i="0" u="none" strike="noStrike" cap="none" normalizeH="0" baseline="0">
                          <a:ln>
                            <a:noFill/>
                          </a:ln>
                          <a:solidFill>
                            <a:schemeClr val="tx1"/>
                          </a:solidFill>
                          <a:effectLst/>
                          <a:latin typeface="Arial" pitchFamily="34" charset="0"/>
                          <a:ea typeface="宋体" pitchFamily="2" charset="-122"/>
                        </a:rPr>
                        <a:t>4</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2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25463">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2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en-US" sz="2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en-US" sz="2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en-US" sz="2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en-US" sz="2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23875">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en-US" sz="2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en-US" sz="2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en-US" sz="2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en-US" sz="2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en-US" sz="2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25463">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graphicFrame>
        <p:nvGraphicFramePr>
          <p:cNvPr id="95285" name="Group 53">
            <a:extLst>
              <a:ext uri="{FF2B5EF4-FFF2-40B4-BE49-F238E27FC236}">
                <a16:creationId xmlns:a16="http://schemas.microsoft.com/office/drawing/2014/main" id="{361242D1-0D28-456A-A84E-E9CE82AD6BE5}"/>
              </a:ext>
            </a:extLst>
          </p:cNvPr>
          <p:cNvGraphicFramePr>
            <a:graphicFrameLocks noGrp="1"/>
          </p:cNvGraphicFramePr>
          <p:nvPr>
            <p:ph sz="half" idx="2"/>
            <p:extLst>
              <p:ext uri="{D42A27DB-BD31-4B8C-83A1-F6EECF244321}">
                <p14:modId xmlns:p14="http://schemas.microsoft.com/office/powerpoint/2010/main" val="3300952376"/>
              </p:ext>
            </p:extLst>
          </p:nvPr>
        </p:nvGraphicFramePr>
        <p:xfrm>
          <a:off x="1835943" y="2780928"/>
          <a:ext cx="644525" cy="4279904"/>
        </p:xfrm>
        <a:graphic>
          <a:graphicData uri="http://schemas.openxmlformats.org/drawingml/2006/table">
            <a:tbl>
              <a:tblPr/>
              <a:tblGrid>
                <a:gridCol w="644525">
                  <a:extLst>
                    <a:ext uri="{9D8B030D-6E8A-4147-A177-3AD203B41FA5}">
                      <a16:colId xmlns:a16="http://schemas.microsoft.com/office/drawing/2014/main" val="20000"/>
                    </a:ext>
                  </a:extLst>
                </a:gridCol>
              </a:tblGrid>
              <a:tr h="534988">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0</a:t>
                      </a:r>
                    </a:p>
                  </a:txBody>
                  <a:tcPr horzOverflow="overflow">
                    <a:lnL cap="flat">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534988">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1</a:t>
                      </a:r>
                    </a:p>
                  </a:txBody>
                  <a:tcPr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534988">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2</a:t>
                      </a:r>
                    </a:p>
                  </a:txBody>
                  <a:tcPr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534988">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3</a:t>
                      </a:r>
                    </a:p>
                  </a:txBody>
                  <a:tcPr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534988">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4</a:t>
                      </a:r>
                    </a:p>
                  </a:txBody>
                  <a:tcPr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534988">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5</a:t>
                      </a:r>
                    </a:p>
                  </a:txBody>
                  <a:tcPr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534988">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6</a:t>
                      </a:r>
                    </a:p>
                  </a:txBody>
                  <a:tcPr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6"/>
                  </a:ext>
                </a:extLst>
              </a:tr>
              <a:tr h="534988">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dirty="0">
                        <a:ln>
                          <a:noFill/>
                        </a:ln>
                        <a:solidFill>
                          <a:schemeClr val="tx1"/>
                        </a:solidFill>
                        <a:effectLst/>
                        <a:latin typeface="Arial" pitchFamily="34" charset="0"/>
                        <a:ea typeface="宋体" pitchFamily="2" charset="-122"/>
                      </a:endParaRPr>
                    </a:p>
                  </a:txBody>
                  <a:tcPr horzOverflow="overflow">
                    <a:lnL cap="flat">
                      <a:noFill/>
                    </a:lnL>
                    <a:lnR cap="flat">
                      <a:noFill/>
                    </a:lnR>
                    <a:lnT>
                      <a:noFill/>
                    </a:lnT>
                    <a:lnB cap="flat">
                      <a:noFill/>
                    </a:lnB>
                    <a:lnTlToBr>
                      <a:noFill/>
                    </a:lnTlToBr>
                    <a:lnBlToTr>
                      <a:noFill/>
                    </a:lnBlToTr>
                    <a:noFill/>
                  </a:tcPr>
                </a:tc>
                <a:extLst>
                  <a:ext uri="{0D108BD9-81ED-4DB2-BD59-A6C34878D82A}">
                    <a16:rowId xmlns:a16="http://schemas.microsoft.com/office/drawing/2014/main" val="10007"/>
                  </a:ext>
                </a:extLst>
              </a:tr>
            </a:tbl>
          </a:graphicData>
        </a:graphic>
      </p:graphicFrame>
      <p:sp>
        <p:nvSpPr>
          <p:cNvPr id="2" name="Text Box 3">
            <a:extLst>
              <a:ext uri="{FF2B5EF4-FFF2-40B4-BE49-F238E27FC236}">
                <a16:creationId xmlns:a16="http://schemas.microsoft.com/office/drawing/2014/main" id="{D96502D7-60F2-4511-A40E-9184C9B1ECE6}"/>
              </a:ext>
            </a:extLst>
          </p:cNvPr>
          <p:cNvSpPr txBox="1">
            <a:spLocks noChangeArrowheads="1"/>
          </p:cNvSpPr>
          <p:nvPr/>
        </p:nvSpPr>
        <p:spPr bwMode="auto">
          <a:xfrm>
            <a:off x="395536" y="188640"/>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赫夫曼树实现</a:t>
            </a:r>
            <a:r>
              <a:rPr lang="en-US" altLang="zh-CN" sz="4400" i="0" dirty="0">
                <a:solidFill>
                  <a:schemeClr val="tx2"/>
                </a:solidFill>
                <a:ea typeface="隶书" pitchFamily="49" charset="-122"/>
              </a:rPr>
              <a:t>—</a:t>
            </a:r>
            <a:r>
              <a:rPr lang="zh-CN" altLang="en-US" sz="4400" i="0" dirty="0">
                <a:solidFill>
                  <a:schemeClr val="tx2"/>
                </a:solidFill>
                <a:ea typeface="隶书" pitchFamily="49" charset="-122"/>
              </a:rPr>
              <a:t>静态链表变化</a:t>
            </a:r>
          </a:p>
        </p:txBody>
      </p:sp>
      <p:sp>
        <p:nvSpPr>
          <p:cNvPr id="3" name="文本框 2">
            <a:extLst>
              <a:ext uri="{FF2B5EF4-FFF2-40B4-BE49-F238E27FC236}">
                <a16:creationId xmlns:a16="http://schemas.microsoft.com/office/drawing/2014/main" id="{B085FA64-BCE0-736A-F8E4-23AA8954615E}"/>
              </a:ext>
            </a:extLst>
          </p:cNvPr>
          <p:cNvSpPr txBox="1"/>
          <p:nvPr/>
        </p:nvSpPr>
        <p:spPr>
          <a:xfrm>
            <a:off x="4271179" y="5001761"/>
            <a:ext cx="410656" cy="430887"/>
          </a:xfrm>
          <a:prstGeom prst="rect">
            <a:avLst/>
          </a:prstGeom>
          <a:noFill/>
        </p:spPr>
        <p:txBody>
          <a:bodyPr wrap="square" lIns="0" tIns="0" rIns="0" bIns="0" rtlCol="0">
            <a:spAutoFit/>
          </a:bodyPr>
          <a:lstStyle/>
          <a:p>
            <a:r>
              <a:rPr lang="en-US" altLang="zh-CN" sz="2800" b="0" i="0" dirty="0">
                <a:latin typeface="+mn-ea"/>
                <a:ea typeface="+mn-ea"/>
              </a:rPr>
              <a:t>-1</a:t>
            </a:r>
            <a:endParaRPr lang="zh-CN" altLang="en-US" sz="2800" b="0" i="0" dirty="0">
              <a:latin typeface="+mn-ea"/>
              <a:ea typeface="+mn-ea"/>
            </a:endParaRPr>
          </a:p>
        </p:txBody>
      </p:sp>
      <p:sp>
        <p:nvSpPr>
          <p:cNvPr id="4" name="文本框 3">
            <a:extLst>
              <a:ext uri="{FF2B5EF4-FFF2-40B4-BE49-F238E27FC236}">
                <a16:creationId xmlns:a16="http://schemas.microsoft.com/office/drawing/2014/main" id="{3905E6AB-EC3B-9F46-219C-EAE235ABE3FD}"/>
              </a:ext>
            </a:extLst>
          </p:cNvPr>
          <p:cNvSpPr txBox="1"/>
          <p:nvPr/>
        </p:nvSpPr>
        <p:spPr>
          <a:xfrm>
            <a:off x="4952075" y="5001760"/>
            <a:ext cx="288032" cy="430887"/>
          </a:xfrm>
          <a:prstGeom prst="rect">
            <a:avLst/>
          </a:prstGeom>
          <a:noFill/>
        </p:spPr>
        <p:txBody>
          <a:bodyPr wrap="square" lIns="0" tIns="0" rIns="0" bIns="0" rtlCol="0">
            <a:spAutoFit/>
          </a:bodyPr>
          <a:lstStyle/>
          <a:p>
            <a:r>
              <a:rPr lang="en-US" altLang="zh-CN" sz="2800" b="0" i="0" dirty="0">
                <a:latin typeface="+mn-ea"/>
                <a:ea typeface="+mn-ea"/>
              </a:rPr>
              <a:t>1</a:t>
            </a:r>
            <a:endParaRPr lang="zh-CN" altLang="en-US" sz="2800" b="0" i="0" dirty="0">
              <a:latin typeface="+mn-ea"/>
              <a:ea typeface="+mn-ea"/>
            </a:endParaRPr>
          </a:p>
        </p:txBody>
      </p:sp>
      <p:sp>
        <p:nvSpPr>
          <p:cNvPr id="5" name="文本框 4">
            <a:extLst>
              <a:ext uri="{FF2B5EF4-FFF2-40B4-BE49-F238E27FC236}">
                <a16:creationId xmlns:a16="http://schemas.microsoft.com/office/drawing/2014/main" id="{44B74737-B9CA-FD1B-A030-7584C6E9C7EF}"/>
              </a:ext>
            </a:extLst>
          </p:cNvPr>
          <p:cNvSpPr txBox="1"/>
          <p:nvPr/>
        </p:nvSpPr>
        <p:spPr>
          <a:xfrm>
            <a:off x="5673512" y="5001759"/>
            <a:ext cx="410656" cy="430887"/>
          </a:xfrm>
          <a:prstGeom prst="rect">
            <a:avLst/>
          </a:prstGeom>
          <a:noFill/>
        </p:spPr>
        <p:txBody>
          <a:bodyPr wrap="square" lIns="0" tIns="0" rIns="0" bIns="0" rtlCol="0">
            <a:spAutoFit/>
          </a:bodyPr>
          <a:lstStyle/>
          <a:p>
            <a:r>
              <a:rPr lang="en-US" altLang="zh-CN" sz="2800" b="0" i="0" dirty="0">
                <a:latin typeface="+mn-ea"/>
                <a:ea typeface="+mn-ea"/>
              </a:rPr>
              <a:t>3</a:t>
            </a:r>
            <a:endParaRPr lang="zh-CN" altLang="en-US" sz="2800" b="0" i="0" dirty="0">
              <a:latin typeface="+mn-ea"/>
              <a:ea typeface="+mn-ea"/>
            </a:endParaRPr>
          </a:p>
        </p:txBody>
      </p:sp>
      <p:sp>
        <p:nvSpPr>
          <p:cNvPr id="6" name="文本框 5">
            <a:extLst>
              <a:ext uri="{FF2B5EF4-FFF2-40B4-BE49-F238E27FC236}">
                <a16:creationId xmlns:a16="http://schemas.microsoft.com/office/drawing/2014/main" id="{2BECEF6B-CD0D-BD56-B8D7-4B4E8441306E}"/>
              </a:ext>
            </a:extLst>
          </p:cNvPr>
          <p:cNvSpPr txBox="1"/>
          <p:nvPr/>
        </p:nvSpPr>
        <p:spPr>
          <a:xfrm>
            <a:off x="3605025" y="5014337"/>
            <a:ext cx="288032" cy="430887"/>
          </a:xfrm>
          <a:prstGeom prst="rect">
            <a:avLst/>
          </a:prstGeom>
          <a:noFill/>
        </p:spPr>
        <p:txBody>
          <a:bodyPr wrap="square" lIns="0" tIns="0" rIns="0" bIns="0" rtlCol="0">
            <a:spAutoFit/>
          </a:bodyPr>
          <a:lstStyle/>
          <a:p>
            <a:r>
              <a:rPr lang="en-US" altLang="zh-CN" sz="2800" b="0" i="0" dirty="0">
                <a:latin typeface="+mn-ea"/>
                <a:ea typeface="+mn-ea"/>
              </a:rPr>
              <a:t>2</a:t>
            </a:r>
            <a:endParaRPr lang="zh-CN" altLang="en-US" sz="2800" b="0" i="0" dirty="0">
              <a:latin typeface="+mn-ea"/>
              <a:ea typeface="+mn-ea"/>
            </a:endParaRPr>
          </a:p>
        </p:txBody>
      </p:sp>
      <p:sp>
        <p:nvSpPr>
          <p:cNvPr id="7" name="文本框 6">
            <a:extLst>
              <a:ext uri="{FF2B5EF4-FFF2-40B4-BE49-F238E27FC236}">
                <a16:creationId xmlns:a16="http://schemas.microsoft.com/office/drawing/2014/main" id="{4CEE80AC-6838-907E-50CE-C6EC9589A15D}"/>
              </a:ext>
            </a:extLst>
          </p:cNvPr>
          <p:cNvSpPr txBox="1"/>
          <p:nvPr/>
        </p:nvSpPr>
        <p:spPr>
          <a:xfrm>
            <a:off x="4213980" y="2889356"/>
            <a:ext cx="410656" cy="430887"/>
          </a:xfrm>
          <a:prstGeom prst="rect">
            <a:avLst/>
          </a:prstGeom>
          <a:noFill/>
        </p:spPr>
        <p:txBody>
          <a:bodyPr wrap="square" lIns="0" tIns="0" rIns="0" bIns="0" rtlCol="0">
            <a:spAutoFit/>
          </a:bodyPr>
          <a:lstStyle/>
          <a:p>
            <a:r>
              <a:rPr lang="en-US" altLang="zh-CN" sz="2800" b="0" i="0" dirty="0">
                <a:latin typeface="+mn-ea"/>
                <a:ea typeface="+mn-ea"/>
              </a:rPr>
              <a:t>-1</a:t>
            </a:r>
            <a:endParaRPr lang="zh-CN" altLang="en-US" sz="2800" b="0" i="0" dirty="0">
              <a:latin typeface="+mn-ea"/>
              <a:ea typeface="+mn-ea"/>
            </a:endParaRPr>
          </a:p>
        </p:txBody>
      </p:sp>
      <p:sp>
        <p:nvSpPr>
          <p:cNvPr id="9" name="文本框 8">
            <a:extLst>
              <a:ext uri="{FF2B5EF4-FFF2-40B4-BE49-F238E27FC236}">
                <a16:creationId xmlns:a16="http://schemas.microsoft.com/office/drawing/2014/main" id="{A1246BA0-E80A-4E9E-7E2A-019A6DD871D5}"/>
              </a:ext>
            </a:extLst>
          </p:cNvPr>
          <p:cNvSpPr txBox="1"/>
          <p:nvPr/>
        </p:nvSpPr>
        <p:spPr>
          <a:xfrm>
            <a:off x="4219115" y="3945559"/>
            <a:ext cx="410656" cy="430887"/>
          </a:xfrm>
          <a:prstGeom prst="rect">
            <a:avLst/>
          </a:prstGeom>
          <a:noFill/>
        </p:spPr>
        <p:txBody>
          <a:bodyPr wrap="square" lIns="0" tIns="0" rIns="0" bIns="0" rtlCol="0">
            <a:spAutoFit/>
          </a:bodyPr>
          <a:lstStyle/>
          <a:p>
            <a:r>
              <a:rPr lang="en-US" altLang="zh-CN" sz="2800" b="0" i="0" dirty="0">
                <a:latin typeface="+mn-ea"/>
                <a:ea typeface="+mn-ea"/>
              </a:rPr>
              <a:t>-1</a:t>
            </a:r>
            <a:endParaRPr lang="zh-CN" altLang="en-US" sz="2800" b="0" i="0" dirty="0">
              <a:latin typeface="+mn-ea"/>
              <a:ea typeface="+mn-ea"/>
            </a:endParaRPr>
          </a:p>
        </p:txBody>
      </p:sp>
      <p:sp>
        <p:nvSpPr>
          <p:cNvPr id="10" name="文本框 9">
            <a:extLst>
              <a:ext uri="{FF2B5EF4-FFF2-40B4-BE49-F238E27FC236}">
                <a16:creationId xmlns:a16="http://schemas.microsoft.com/office/drawing/2014/main" id="{3973008A-43CB-7EB5-052E-5845EFDDD08F}"/>
              </a:ext>
            </a:extLst>
          </p:cNvPr>
          <p:cNvSpPr txBox="1"/>
          <p:nvPr/>
        </p:nvSpPr>
        <p:spPr>
          <a:xfrm>
            <a:off x="4317447" y="3945558"/>
            <a:ext cx="410656" cy="430887"/>
          </a:xfrm>
          <a:prstGeom prst="rect">
            <a:avLst/>
          </a:prstGeom>
          <a:noFill/>
        </p:spPr>
        <p:txBody>
          <a:bodyPr wrap="square" lIns="0" tIns="0" rIns="0" bIns="0" rtlCol="0">
            <a:spAutoFit/>
          </a:bodyPr>
          <a:lstStyle/>
          <a:p>
            <a:r>
              <a:rPr lang="en-US" altLang="zh-CN" sz="2800" b="0" i="0" dirty="0">
                <a:latin typeface="+mn-ea"/>
                <a:ea typeface="+mn-ea"/>
              </a:rPr>
              <a:t>5</a:t>
            </a:r>
            <a:endParaRPr lang="zh-CN" altLang="en-US" sz="2800" b="0" i="0" dirty="0">
              <a:latin typeface="+mn-ea"/>
              <a:ea typeface="+mn-ea"/>
            </a:endParaRPr>
          </a:p>
        </p:txBody>
      </p:sp>
      <p:sp>
        <p:nvSpPr>
          <p:cNvPr id="11" name="文本框 10">
            <a:extLst>
              <a:ext uri="{FF2B5EF4-FFF2-40B4-BE49-F238E27FC236}">
                <a16:creationId xmlns:a16="http://schemas.microsoft.com/office/drawing/2014/main" id="{66C4660B-C56A-B205-33F4-B4E3E79C724B}"/>
              </a:ext>
            </a:extLst>
          </p:cNvPr>
          <p:cNvSpPr txBox="1"/>
          <p:nvPr/>
        </p:nvSpPr>
        <p:spPr>
          <a:xfrm>
            <a:off x="4342763" y="4968037"/>
            <a:ext cx="410656" cy="430887"/>
          </a:xfrm>
          <a:prstGeom prst="rect">
            <a:avLst/>
          </a:prstGeom>
          <a:noFill/>
        </p:spPr>
        <p:txBody>
          <a:bodyPr wrap="square" lIns="0" tIns="0" rIns="0" bIns="0" rtlCol="0">
            <a:spAutoFit/>
          </a:bodyPr>
          <a:lstStyle/>
          <a:p>
            <a:r>
              <a:rPr lang="en-US" altLang="zh-CN" sz="2800" b="0" i="0" dirty="0">
                <a:latin typeface="+mn-ea"/>
                <a:ea typeface="+mn-ea"/>
              </a:rPr>
              <a:t>5</a:t>
            </a:r>
            <a:endParaRPr lang="zh-CN" altLang="en-US" sz="2800" b="0" i="0" dirty="0">
              <a:latin typeface="+mn-ea"/>
              <a:ea typeface="+mn-ea"/>
            </a:endParaRPr>
          </a:p>
        </p:txBody>
      </p:sp>
      <p:sp>
        <p:nvSpPr>
          <p:cNvPr id="12" name="文本框 11">
            <a:extLst>
              <a:ext uri="{FF2B5EF4-FFF2-40B4-BE49-F238E27FC236}">
                <a16:creationId xmlns:a16="http://schemas.microsoft.com/office/drawing/2014/main" id="{97CEE402-4CDF-EA18-23D2-63FB0BA0B0DC}"/>
              </a:ext>
            </a:extLst>
          </p:cNvPr>
          <p:cNvSpPr txBox="1"/>
          <p:nvPr/>
        </p:nvSpPr>
        <p:spPr>
          <a:xfrm>
            <a:off x="4294187" y="5465358"/>
            <a:ext cx="410656" cy="430887"/>
          </a:xfrm>
          <a:prstGeom prst="rect">
            <a:avLst/>
          </a:prstGeom>
          <a:noFill/>
        </p:spPr>
        <p:txBody>
          <a:bodyPr wrap="square" lIns="0" tIns="0" rIns="0" bIns="0" rtlCol="0">
            <a:spAutoFit/>
          </a:bodyPr>
          <a:lstStyle/>
          <a:p>
            <a:r>
              <a:rPr lang="en-US" altLang="zh-CN" sz="2800" b="0" i="0" dirty="0">
                <a:latin typeface="+mn-ea"/>
                <a:ea typeface="+mn-ea"/>
              </a:rPr>
              <a:t>-1</a:t>
            </a:r>
            <a:endParaRPr lang="zh-CN" altLang="en-US" sz="2800" b="0" i="0" dirty="0">
              <a:latin typeface="+mn-ea"/>
              <a:ea typeface="+mn-ea"/>
            </a:endParaRPr>
          </a:p>
        </p:txBody>
      </p:sp>
      <p:sp>
        <p:nvSpPr>
          <p:cNvPr id="13" name="文本框 12">
            <a:extLst>
              <a:ext uri="{FF2B5EF4-FFF2-40B4-BE49-F238E27FC236}">
                <a16:creationId xmlns:a16="http://schemas.microsoft.com/office/drawing/2014/main" id="{52E36084-3AB7-9B12-66FD-54ED7056414B}"/>
              </a:ext>
            </a:extLst>
          </p:cNvPr>
          <p:cNvSpPr txBox="1"/>
          <p:nvPr/>
        </p:nvSpPr>
        <p:spPr>
          <a:xfrm>
            <a:off x="4953788" y="5473154"/>
            <a:ext cx="410656" cy="430887"/>
          </a:xfrm>
          <a:prstGeom prst="rect">
            <a:avLst/>
          </a:prstGeom>
          <a:noFill/>
        </p:spPr>
        <p:txBody>
          <a:bodyPr wrap="square" lIns="0" tIns="0" rIns="0" bIns="0" rtlCol="0">
            <a:spAutoFit/>
          </a:bodyPr>
          <a:lstStyle/>
          <a:p>
            <a:r>
              <a:rPr lang="en-US" altLang="zh-CN" sz="2800" b="0" i="0" dirty="0">
                <a:latin typeface="+mn-ea"/>
                <a:ea typeface="+mn-ea"/>
              </a:rPr>
              <a:t>2</a:t>
            </a:r>
            <a:endParaRPr lang="zh-CN" altLang="en-US" sz="2800" b="0" i="0" dirty="0">
              <a:latin typeface="+mn-ea"/>
              <a:ea typeface="+mn-ea"/>
            </a:endParaRPr>
          </a:p>
        </p:txBody>
      </p:sp>
      <p:sp>
        <p:nvSpPr>
          <p:cNvPr id="14" name="文本框 13">
            <a:extLst>
              <a:ext uri="{FF2B5EF4-FFF2-40B4-BE49-F238E27FC236}">
                <a16:creationId xmlns:a16="http://schemas.microsoft.com/office/drawing/2014/main" id="{14AF9143-B8C0-BEC2-B558-7455402C4B68}"/>
              </a:ext>
            </a:extLst>
          </p:cNvPr>
          <p:cNvSpPr txBox="1"/>
          <p:nvPr/>
        </p:nvSpPr>
        <p:spPr>
          <a:xfrm>
            <a:off x="5709694" y="5451307"/>
            <a:ext cx="410656" cy="430887"/>
          </a:xfrm>
          <a:prstGeom prst="rect">
            <a:avLst/>
          </a:prstGeom>
          <a:noFill/>
        </p:spPr>
        <p:txBody>
          <a:bodyPr wrap="square" lIns="0" tIns="0" rIns="0" bIns="0" rtlCol="0">
            <a:spAutoFit/>
          </a:bodyPr>
          <a:lstStyle/>
          <a:p>
            <a:r>
              <a:rPr lang="en-US" altLang="zh-CN" sz="2800" b="0" i="0" dirty="0">
                <a:latin typeface="+mn-ea"/>
                <a:ea typeface="+mn-ea"/>
              </a:rPr>
              <a:t>4</a:t>
            </a:r>
            <a:endParaRPr lang="zh-CN" altLang="en-US" sz="2800" b="0" i="0" dirty="0">
              <a:latin typeface="+mn-ea"/>
              <a:ea typeface="+mn-ea"/>
            </a:endParaRPr>
          </a:p>
        </p:txBody>
      </p:sp>
      <p:sp>
        <p:nvSpPr>
          <p:cNvPr id="15" name="文本框 14">
            <a:extLst>
              <a:ext uri="{FF2B5EF4-FFF2-40B4-BE49-F238E27FC236}">
                <a16:creationId xmlns:a16="http://schemas.microsoft.com/office/drawing/2014/main" id="{34E56B32-E4C2-FC6C-CD19-09EC9AAE8191}"/>
              </a:ext>
            </a:extLst>
          </p:cNvPr>
          <p:cNvSpPr txBox="1"/>
          <p:nvPr/>
        </p:nvSpPr>
        <p:spPr>
          <a:xfrm>
            <a:off x="3634586" y="5465358"/>
            <a:ext cx="410656" cy="430887"/>
          </a:xfrm>
          <a:prstGeom prst="rect">
            <a:avLst/>
          </a:prstGeom>
          <a:noFill/>
        </p:spPr>
        <p:txBody>
          <a:bodyPr wrap="square" lIns="0" tIns="0" rIns="0" bIns="0" rtlCol="0">
            <a:spAutoFit/>
          </a:bodyPr>
          <a:lstStyle/>
          <a:p>
            <a:r>
              <a:rPr lang="en-US" altLang="zh-CN" sz="2800" b="0" i="0" dirty="0">
                <a:latin typeface="+mn-ea"/>
                <a:ea typeface="+mn-ea"/>
              </a:rPr>
              <a:t>4</a:t>
            </a:r>
            <a:endParaRPr lang="zh-CN" altLang="en-US" sz="2800" b="0" i="0" dirty="0">
              <a:latin typeface="+mn-ea"/>
              <a:ea typeface="+mn-ea"/>
            </a:endParaRPr>
          </a:p>
        </p:txBody>
      </p:sp>
      <p:sp>
        <p:nvSpPr>
          <p:cNvPr id="8" name="矩形 7">
            <a:extLst>
              <a:ext uri="{FF2B5EF4-FFF2-40B4-BE49-F238E27FC236}">
                <a16:creationId xmlns:a16="http://schemas.microsoft.com/office/drawing/2014/main" id="{C3BFCCC2-46B5-BDDD-F900-8EE4172CFD0B}"/>
              </a:ext>
            </a:extLst>
          </p:cNvPr>
          <p:cNvSpPr/>
          <p:nvPr/>
        </p:nvSpPr>
        <p:spPr bwMode="auto">
          <a:xfrm>
            <a:off x="2070962" y="3922613"/>
            <a:ext cx="410656" cy="447876"/>
          </a:xfrm>
          <a:prstGeom prst="rect">
            <a:avLst/>
          </a:prstGeom>
          <a:noFill/>
          <a:ln w="349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1" u="none" strike="noStrike" cap="none" normalizeH="0" baseline="0">
              <a:ln>
                <a:noFill/>
              </a:ln>
              <a:solidFill>
                <a:schemeClr val="tx1"/>
              </a:solidFill>
              <a:effectLst/>
              <a:latin typeface="Times New Roman" pitchFamily="18" charset="0"/>
              <a:ea typeface="宋体" pitchFamily="2" charset="-122"/>
            </a:endParaRPr>
          </a:p>
        </p:txBody>
      </p:sp>
      <p:sp>
        <p:nvSpPr>
          <p:cNvPr id="16" name="矩形 15">
            <a:extLst>
              <a:ext uri="{FF2B5EF4-FFF2-40B4-BE49-F238E27FC236}">
                <a16:creationId xmlns:a16="http://schemas.microsoft.com/office/drawing/2014/main" id="{48C052C4-3AEE-D498-1B3F-8E6F45BE6D55}"/>
              </a:ext>
            </a:extLst>
          </p:cNvPr>
          <p:cNvSpPr/>
          <p:nvPr/>
        </p:nvSpPr>
        <p:spPr bwMode="auto">
          <a:xfrm>
            <a:off x="2105604" y="4976971"/>
            <a:ext cx="410656" cy="447876"/>
          </a:xfrm>
          <a:prstGeom prst="rect">
            <a:avLst/>
          </a:prstGeom>
          <a:noFill/>
          <a:ln w="349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1" u="none" strike="noStrike" cap="none" normalizeH="0" baseline="0">
              <a:ln>
                <a:noFill/>
              </a:ln>
              <a:solidFill>
                <a:schemeClr val="tx1"/>
              </a:solidFill>
              <a:effectLst/>
              <a:latin typeface="Times New Roman" pitchFamily="18" charset="0"/>
              <a:ea typeface="宋体" pitchFamily="2" charset="-122"/>
            </a:endParaRPr>
          </a:p>
        </p:txBody>
      </p:sp>
      <p:sp>
        <p:nvSpPr>
          <p:cNvPr id="17" name="文本框 16">
            <a:extLst>
              <a:ext uri="{FF2B5EF4-FFF2-40B4-BE49-F238E27FC236}">
                <a16:creationId xmlns:a16="http://schemas.microsoft.com/office/drawing/2014/main" id="{95793BDA-DF35-4B92-8F6F-8AC35B34CCEB}"/>
              </a:ext>
            </a:extLst>
          </p:cNvPr>
          <p:cNvSpPr txBox="1"/>
          <p:nvPr/>
        </p:nvSpPr>
        <p:spPr>
          <a:xfrm>
            <a:off x="1516435" y="5473154"/>
            <a:ext cx="514656" cy="523220"/>
          </a:xfrm>
          <a:prstGeom prst="rect">
            <a:avLst/>
          </a:prstGeom>
          <a:noFill/>
        </p:spPr>
        <p:txBody>
          <a:bodyPr wrap="square">
            <a:spAutoFit/>
          </a:bodyPr>
          <a:lstStyle/>
          <a:p>
            <a:r>
              <a:rPr kumimoji="0" lang="zh-CN" altLang="en-US" sz="2800" b="0" i="0" u="none" strike="noStrike" kern="0" cap="none" spc="0" normalizeH="0" baseline="0" noProof="0" dirty="0">
                <a:ln>
                  <a:noFill/>
                </a:ln>
                <a:solidFill>
                  <a:srgbClr val="FF0000"/>
                </a:solidFill>
                <a:effectLst/>
                <a:uLnTx/>
                <a:uFillTx/>
                <a:latin typeface="黑体"/>
                <a:ea typeface="黑体"/>
                <a:cs typeface="+mn-cs"/>
              </a:rPr>
              <a:t>√</a:t>
            </a:r>
            <a:endParaRPr lang="zh-CN" altLang="en-US"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9" grpId="0"/>
      <p:bldP spid="10" grpId="0"/>
      <p:bldP spid="11" grpId="0"/>
      <p:bldP spid="12" grpId="0"/>
      <p:bldP spid="13" grpId="0"/>
      <p:bldP spid="14" grpId="0"/>
      <p:bldP spid="15" grpId="0"/>
      <p:bldP spid="8" grpId="0" animBg="1"/>
      <p:bldP spid="16" grpId="0" animBg="1"/>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a:extLst>
              <a:ext uri="{FF2B5EF4-FFF2-40B4-BE49-F238E27FC236}">
                <a16:creationId xmlns:a16="http://schemas.microsoft.com/office/drawing/2014/main" id="{EB6E4995-EADD-43D6-8DB2-DDB243C79EC7}"/>
              </a:ext>
            </a:extLst>
          </p:cNvPr>
          <p:cNvSpPr>
            <a:spLocks noGrp="1" noRot="1" noChangeArrowheads="1"/>
          </p:cNvSpPr>
          <p:nvPr>
            <p:ph type="body" sz="half" idx="1"/>
          </p:nvPr>
        </p:nvSpPr>
        <p:spPr>
          <a:xfrm>
            <a:off x="18380" y="1223342"/>
            <a:ext cx="8662988" cy="1584325"/>
          </a:xfrm>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lvl="1">
              <a:buFont typeface="Wingdings" panose="05000000000000000000" pitchFamily="2" charset="2"/>
              <a:buChar char="F"/>
            </a:pPr>
            <a:r>
              <a:rPr lang="zh-CN" altLang="en-US" sz="2800" dirty="0">
                <a:solidFill>
                  <a:schemeClr val="tx1"/>
                </a:solidFill>
              </a:rPr>
              <a:t> </a:t>
            </a:r>
            <a:r>
              <a:rPr lang="zh-CN" altLang="en-US" sz="2800" dirty="0">
                <a:solidFill>
                  <a:schemeClr val="tx1"/>
                </a:solidFill>
                <a:latin typeface="+mn-ea"/>
              </a:rPr>
              <a:t>选取表中0~5中双亲为</a:t>
            </a:r>
            <a:r>
              <a:rPr lang="en-US" altLang="zh-CN" sz="2800" dirty="0">
                <a:solidFill>
                  <a:schemeClr val="tx1"/>
                </a:solidFill>
                <a:latin typeface="+mn-ea"/>
              </a:rPr>
              <a:t>-1</a:t>
            </a:r>
            <a:r>
              <a:rPr lang="zh-CN" altLang="en-US" sz="2800" dirty="0">
                <a:solidFill>
                  <a:schemeClr val="tx1"/>
                </a:solidFill>
                <a:latin typeface="+mn-ea"/>
              </a:rPr>
              <a:t>的权值最小的两个结点</a:t>
            </a:r>
            <a:r>
              <a:rPr lang="en-US" altLang="zh-CN" sz="2800" dirty="0">
                <a:solidFill>
                  <a:schemeClr val="tx1"/>
                </a:solidFill>
                <a:latin typeface="+mn-ea"/>
              </a:rPr>
              <a:t>(</a:t>
            </a:r>
            <a:r>
              <a:rPr lang="en-US" altLang="zh-CN" sz="2800" dirty="0">
                <a:solidFill>
                  <a:srgbClr val="FF0000"/>
                </a:solidFill>
                <a:latin typeface="+mn-ea"/>
              </a:rPr>
              <a:t>0,5</a:t>
            </a:r>
            <a:r>
              <a:rPr lang="en-US" altLang="zh-CN" sz="2800" dirty="0">
                <a:solidFill>
                  <a:schemeClr val="tx1"/>
                </a:solidFill>
                <a:latin typeface="+mn-ea"/>
              </a:rPr>
              <a:t>)</a:t>
            </a:r>
            <a:r>
              <a:rPr lang="zh-CN" altLang="en-US" sz="2800" dirty="0">
                <a:solidFill>
                  <a:schemeClr val="tx1"/>
                </a:solidFill>
                <a:latin typeface="+mn-ea"/>
              </a:rPr>
              <a:t>，第</a:t>
            </a:r>
            <a:r>
              <a:rPr lang="zh-CN" altLang="en-US" sz="2800" dirty="0">
                <a:solidFill>
                  <a:srgbClr val="FF0000"/>
                </a:solidFill>
                <a:latin typeface="+mn-ea"/>
              </a:rPr>
              <a:t>6</a:t>
            </a:r>
            <a:r>
              <a:rPr lang="zh-CN" altLang="en-US" sz="2800" dirty="0">
                <a:solidFill>
                  <a:schemeClr val="tx1"/>
                </a:solidFill>
                <a:latin typeface="+mn-ea"/>
              </a:rPr>
              <a:t>单元做此两结点的双亲，修改双亲、左右孩子、权值。完成。</a:t>
            </a:r>
          </a:p>
        </p:txBody>
      </p:sp>
      <p:graphicFrame>
        <p:nvGraphicFramePr>
          <p:cNvPr id="96259" name="Group 3">
            <a:extLst>
              <a:ext uri="{FF2B5EF4-FFF2-40B4-BE49-F238E27FC236}">
                <a16:creationId xmlns:a16="http://schemas.microsoft.com/office/drawing/2014/main" id="{996B0E58-23C8-4615-A1DC-7B1C0EC2C6FD}"/>
              </a:ext>
            </a:extLst>
          </p:cNvPr>
          <p:cNvGraphicFramePr>
            <a:graphicFrameLocks noGrp="1"/>
          </p:cNvGraphicFramePr>
          <p:nvPr>
            <p:extLst>
              <p:ext uri="{D42A27DB-BD31-4B8C-83A1-F6EECF244321}">
                <p14:modId xmlns:p14="http://schemas.microsoft.com/office/powerpoint/2010/main" val="151610870"/>
              </p:ext>
            </p:extLst>
          </p:nvPr>
        </p:nvGraphicFramePr>
        <p:xfrm>
          <a:off x="2640235" y="2807667"/>
          <a:ext cx="4194175" cy="3632203"/>
        </p:xfrm>
        <a:graphic>
          <a:graphicData uri="http://schemas.openxmlformats.org/drawingml/2006/table">
            <a:tbl>
              <a:tblPr/>
              <a:tblGrid>
                <a:gridCol w="698588">
                  <a:extLst>
                    <a:ext uri="{9D8B030D-6E8A-4147-A177-3AD203B41FA5}">
                      <a16:colId xmlns:a16="http://schemas.microsoft.com/office/drawing/2014/main" val="20000"/>
                    </a:ext>
                  </a:extLst>
                </a:gridCol>
                <a:gridCol w="699912">
                  <a:extLst>
                    <a:ext uri="{9D8B030D-6E8A-4147-A177-3AD203B41FA5}">
                      <a16:colId xmlns:a16="http://schemas.microsoft.com/office/drawing/2014/main" val="20001"/>
                    </a:ext>
                  </a:extLst>
                </a:gridCol>
                <a:gridCol w="698588">
                  <a:extLst>
                    <a:ext uri="{9D8B030D-6E8A-4147-A177-3AD203B41FA5}">
                      <a16:colId xmlns:a16="http://schemas.microsoft.com/office/drawing/2014/main" val="20002"/>
                    </a:ext>
                  </a:extLst>
                </a:gridCol>
                <a:gridCol w="699911">
                  <a:extLst>
                    <a:ext uri="{9D8B030D-6E8A-4147-A177-3AD203B41FA5}">
                      <a16:colId xmlns:a16="http://schemas.microsoft.com/office/drawing/2014/main" val="20003"/>
                    </a:ext>
                  </a:extLst>
                </a:gridCol>
                <a:gridCol w="698588">
                  <a:extLst>
                    <a:ext uri="{9D8B030D-6E8A-4147-A177-3AD203B41FA5}">
                      <a16:colId xmlns:a16="http://schemas.microsoft.com/office/drawing/2014/main" val="20004"/>
                    </a:ext>
                  </a:extLst>
                </a:gridCol>
                <a:gridCol w="698588">
                  <a:extLst>
                    <a:ext uri="{9D8B030D-6E8A-4147-A177-3AD203B41FA5}">
                      <a16:colId xmlns:a16="http://schemas.microsoft.com/office/drawing/2014/main" val="20005"/>
                    </a:ext>
                  </a:extLst>
                </a:gridCol>
              </a:tblGrid>
              <a:tr h="518148">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A</a:t>
                      </a: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3</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2800" b="0" i="0" u="none" strike="noStrike" cap="none" normalizeH="0" baseline="0" dirty="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2800" b="0" i="0" u="none" strike="noStrike" cap="none" normalizeH="0" baseline="0" dirty="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20630">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B</a:t>
                      </a: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4</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2800" b="0" i="0" u="none" strike="noStrike" cap="none" normalizeH="0" baseline="0" dirty="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8148">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C</a:t>
                      </a: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2</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5</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2800" b="0" i="0" u="none" strike="noStrike" cap="none" normalizeH="0" baseline="0" dirty="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9043">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D</a:t>
                      </a: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4</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2800" b="0" i="0" u="none" strike="noStrike" cap="none" normalizeH="0" baseline="0" dirty="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8148">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2</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5</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3</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2800" b="0" i="0" u="none" strike="noStrike" cap="none" normalizeH="0" baseline="0" dirty="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9043">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4</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2800" b="0" i="0" u="none" strike="noStrike" cap="none" normalizeH="0" baseline="0" dirty="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2</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4</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2800" b="0" i="0" u="none" strike="noStrike" cap="none" normalizeH="0" baseline="0" dirty="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19043">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en-US" sz="2800" b="0" i="0" u="none" strike="noStrike" cap="none" normalizeH="0" baseline="0" dirty="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en-US" sz="2800" b="0" i="0" u="none" strike="noStrike" cap="none" normalizeH="0" baseline="0" dirty="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en-US" sz="2800" b="0" i="0" u="none" strike="noStrike" cap="none" normalizeH="0" baseline="0" dirty="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en-US" sz="2800" b="0" i="0" u="none" strike="noStrike" cap="none" normalizeH="0" baseline="0" dirty="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en-US" sz="2800" b="0" i="0" u="none" strike="noStrike" cap="none" normalizeH="0" baseline="0" dirty="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graphicFrame>
        <p:nvGraphicFramePr>
          <p:cNvPr id="96309" name="Group 53">
            <a:extLst>
              <a:ext uri="{FF2B5EF4-FFF2-40B4-BE49-F238E27FC236}">
                <a16:creationId xmlns:a16="http://schemas.microsoft.com/office/drawing/2014/main" id="{185E222A-5C3D-486C-B47D-27E155D25F4F}"/>
              </a:ext>
            </a:extLst>
          </p:cNvPr>
          <p:cNvGraphicFramePr>
            <a:graphicFrameLocks noGrp="1"/>
          </p:cNvGraphicFramePr>
          <p:nvPr>
            <p:ph sz="half" idx="2"/>
            <p:extLst>
              <p:ext uri="{D42A27DB-BD31-4B8C-83A1-F6EECF244321}">
                <p14:modId xmlns:p14="http://schemas.microsoft.com/office/powerpoint/2010/main" val="955751147"/>
              </p:ext>
            </p:extLst>
          </p:nvPr>
        </p:nvGraphicFramePr>
        <p:xfrm>
          <a:off x="2055589" y="2807667"/>
          <a:ext cx="644525" cy="4149725"/>
        </p:xfrm>
        <a:graphic>
          <a:graphicData uri="http://schemas.openxmlformats.org/drawingml/2006/table">
            <a:tbl>
              <a:tblPr/>
              <a:tblGrid>
                <a:gridCol w="644525">
                  <a:extLst>
                    <a:ext uri="{9D8B030D-6E8A-4147-A177-3AD203B41FA5}">
                      <a16:colId xmlns:a16="http://schemas.microsoft.com/office/drawing/2014/main" val="20000"/>
                    </a:ext>
                  </a:extLst>
                </a:gridCol>
              </a:tblGrid>
              <a:tr h="518149">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0</a:t>
                      </a:r>
                    </a:p>
                  </a:txBody>
                  <a:tcPr marT="45715" marB="45715" horzOverflow="overflow">
                    <a:lnL cap="flat">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519055">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1</a:t>
                      </a:r>
                    </a:p>
                  </a:txBody>
                  <a:tcPr marT="45715" marB="45715"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519055">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2</a:t>
                      </a:r>
                    </a:p>
                  </a:txBody>
                  <a:tcPr marT="45715" marB="45715"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519055">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3</a:t>
                      </a:r>
                    </a:p>
                  </a:txBody>
                  <a:tcPr marT="45715" marB="45715"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518149">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4</a:t>
                      </a:r>
                    </a:p>
                  </a:txBody>
                  <a:tcPr marT="45715" marB="45715"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519055">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5</a:t>
                      </a:r>
                    </a:p>
                  </a:txBody>
                  <a:tcPr marT="45715" marB="45715"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518149">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6</a:t>
                      </a:r>
                    </a:p>
                  </a:txBody>
                  <a:tcPr marT="45715" marB="45715"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6"/>
                  </a:ext>
                </a:extLst>
              </a:tr>
              <a:tr h="519055">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dirty="0">
                        <a:ln>
                          <a:noFill/>
                        </a:ln>
                        <a:solidFill>
                          <a:schemeClr val="tx1"/>
                        </a:solidFill>
                        <a:effectLst/>
                        <a:latin typeface="Arial" pitchFamily="34" charset="0"/>
                        <a:ea typeface="宋体" pitchFamily="2" charset="-122"/>
                      </a:endParaRPr>
                    </a:p>
                  </a:txBody>
                  <a:tcPr marT="45715" marB="45715" horzOverflow="overflow">
                    <a:lnL cap="flat">
                      <a:noFill/>
                    </a:lnL>
                    <a:lnR cap="flat">
                      <a:noFill/>
                    </a:lnR>
                    <a:lnT>
                      <a:noFill/>
                    </a:lnT>
                    <a:lnB cap="flat">
                      <a:noFill/>
                    </a:lnB>
                    <a:lnTlToBr>
                      <a:noFill/>
                    </a:lnTlToBr>
                    <a:lnBlToTr>
                      <a:noFill/>
                    </a:lnBlToTr>
                    <a:noFill/>
                  </a:tcPr>
                </a:tc>
                <a:extLst>
                  <a:ext uri="{0D108BD9-81ED-4DB2-BD59-A6C34878D82A}">
                    <a16:rowId xmlns:a16="http://schemas.microsoft.com/office/drawing/2014/main" val="10007"/>
                  </a:ext>
                </a:extLst>
              </a:tr>
            </a:tbl>
          </a:graphicData>
        </a:graphic>
      </p:graphicFrame>
      <p:sp>
        <p:nvSpPr>
          <p:cNvPr id="2" name="Text Box 3">
            <a:extLst>
              <a:ext uri="{FF2B5EF4-FFF2-40B4-BE49-F238E27FC236}">
                <a16:creationId xmlns:a16="http://schemas.microsoft.com/office/drawing/2014/main" id="{00469585-5D31-4587-9170-CD9D98BC75CC}"/>
              </a:ext>
            </a:extLst>
          </p:cNvPr>
          <p:cNvSpPr txBox="1">
            <a:spLocks noChangeArrowheads="1"/>
          </p:cNvSpPr>
          <p:nvPr/>
        </p:nvSpPr>
        <p:spPr bwMode="auto">
          <a:xfrm>
            <a:off x="395536" y="188640"/>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赫夫曼树实现</a:t>
            </a:r>
            <a:r>
              <a:rPr lang="en-US" altLang="zh-CN" sz="4400" i="0" dirty="0">
                <a:solidFill>
                  <a:schemeClr val="tx2"/>
                </a:solidFill>
                <a:ea typeface="隶书" pitchFamily="49" charset="-122"/>
              </a:rPr>
              <a:t>—</a:t>
            </a:r>
            <a:r>
              <a:rPr lang="zh-CN" altLang="en-US" sz="4400" i="0" dirty="0">
                <a:solidFill>
                  <a:schemeClr val="tx2"/>
                </a:solidFill>
                <a:ea typeface="隶书" pitchFamily="49" charset="-122"/>
              </a:rPr>
              <a:t>静态链表变化</a:t>
            </a:r>
          </a:p>
        </p:txBody>
      </p:sp>
      <p:sp>
        <p:nvSpPr>
          <p:cNvPr id="3" name="文本框 2">
            <a:extLst>
              <a:ext uri="{FF2B5EF4-FFF2-40B4-BE49-F238E27FC236}">
                <a16:creationId xmlns:a16="http://schemas.microsoft.com/office/drawing/2014/main" id="{B4711B7A-CBD2-5449-6B6B-89ACF19D8CBE}"/>
              </a:ext>
            </a:extLst>
          </p:cNvPr>
          <p:cNvSpPr txBox="1"/>
          <p:nvPr/>
        </p:nvSpPr>
        <p:spPr>
          <a:xfrm>
            <a:off x="4211960" y="5445224"/>
            <a:ext cx="410656" cy="430887"/>
          </a:xfrm>
          <a:prstGeom prst="rect">
            <a:avLst/>
          </a:prstGeom>
          <a:noFill/>
        </p:spPr>
        <p:txBody>
          <a:bodyPr wrap="square" lIns="0" tIns="0" rIns="0" bIns="0" rtlCol="0">
            <a:spAutoFit/>
          </a:bodyPr>
          <a:lstStyle/>
          <a:p>
            <a:r>
              <a:rPr lang="en-US" altLang="zh-CN" sz="2800" b="0" i="0" dirty="0">
                <a:latin typeface="+mn-ea"/>
                <a:ea typeface="+mn-ea"/>
              </a:rPr>
              <a:t>-1</a:t>
            </a:r>
            <a:endParaRPr lang="zh-CN" altLang="en-US" sz="2800" b="0" i="0" dirty="0">
              <a:latin typeface="+mn-ea"/>
              <a:ea typeface="+mn-ea"/>
            </a:endParaRPr>
          </a:p>
        </p:txBody>
      </p:sp>
      <p:sp>
        <p:nvSpPr>
          <p:cNvPr id="4" name="文本框 3">
            <a:extLst>
              <a:ext uri="{FF2B5EF4-FFF2-40B4-BE49-F238E27FC236}">
                <a16:creationId xmlns:a16="http://schemas.microsoft.com/office/drawing/2014/main" id="{63471AC9-DBD1-E1A6-CF4F-52E4A6CB6514}"/>
              </a:ext>
            </a:extLst>
          </p:cNvPr>
          <p:cNvSpPr txBox="1"/>
          <p:nvPr/>
        </p:nvSpPr>
        <p:spPr>
          <a:xfrm>
            <a:off x="4151278" y="2850984"/>
            <a:ext cx="410656" cy="430887"/>
          </a:xfrm>
          <a:prstGeom prst="rect">
            <a:avLst/>
          </a:prstGeom>
          <a:noFill/>
        </p:spPr>
        <p:txBody>
          <a:bodyPr wrap="square" lIns="0" tIns="0" rIns="0" bIns="0" rtlCol="0">
            <a:spAutoFit/>
          </a:bodyPr>
          <a:lstStyle/>
          <a:p>
            <a:r>
              <a:rPr lang="en-US" altLang="zh-CN" sz="2800" b="0" i="0" dirty="0">
                <a:latin typeface="+mn-ea"/>
                <a:ea typeface="+mn-ea"/>
              </a:rPr>
              <a:t>-1</a:t>
            </a:r>
            <a:endParaRPr lang="zh-CN" altLang="en-US" sz="2800" b="0" i="0" dirty="0">
              <a:latin typeface="+mn-ea"/>
              <a:ea typeface="+mn-ea"/>
            </a:endParaRPr>
          </a:p>
        </p:txBody>
      </p:sp>
      <p:sp>
        <p:nvSpPr>
          <p:cNvPr id="5" name="文本框 4">
            <a:extLst>
              <a:ext uri="{FF2B5EF4-FFF2-40B4-BE49-F238E27FC236}">
                <a16:creationId xmlns:a16="http://schemas.microsoft.com/office/drawing/2014/main" id="{19BB3F58-321C-2D07-F631-AA11581E6B4F}"/>
              </a:ext>
            </a:extLst>
          </p:cNvPr>
          <p:cNvSpPr txBox="1"/>
          <p:nvPr/>
        </p:nvSpPr>
        <p:spPr>
          <a:xfrm>
            <a:off x="4305360" y="2780928"/>
            <a:ext cx="410656" cy="430887"/>
          </a:xfrm>
          <a:prstGeom prst="rect">
            <a:avLst/>
          </a:prstGeom>
          <a:noFill/>
        </p:spPr>
        <p:txBody>
          <a:bodyPr wrap="square" lIns="0" tIns="0" rIns="0" bIns="0" rtlCol="0">
            <a:spAutoFit/>
          </a:bodyPr>
          <a:lstStyle/>
          <a:p>
            <a:r>
              <a:rPr lang="en-US" altLang="zh-CN" sz="2800" b="0" i="0" dirty="0">
                <a:latin typeface="+mn-ea"/>
                <a:ea typeface="+mn-ea"/>
              </a:rPr>
              <a:t>6</a:t>
            </a:r>
            <a:endParaRPr lang="zh-CN" altLang="en-US" sz="2800" b="0" i="0" dirty="0">
              <a:latin typeface="+mn-ea"/>
              <a:ea typeface="+mn-ea"/>
            </a:endParaRPr>
          </a:p>
        </p:txBody>
      </p:sp>
      <p:sp>
        <p:nvSpPr>
          <p:cNvPr id="6" name="文本框 5">
            <a:extLst>
              <a:ext uri="{FF2B5EF4-FFF2-40B4-BE49-F238E27FC236}">
                <a16:creationId xmlns:a16="http://schemas.microsoft.com/office/drawing/2014/main" id="{1821DAC0-FA82-3D5F-11EF-5F48B1568BC0}"/>
              </a:ext>
            </a:extLst>
          </p:cNvPr>
          <p:cNvSpPr txBox="1"/>
          <p:nvPr/>
        </p:nvSpPr>
        <p:spPr>
          <a:xfrm>
            <a:off x="4305360" y="5445223"/>
            <a:ext cx="410656" cy="430887"/>
          </a:xfrm>
          <a:prstGeom prst="rect">
            <a:avLst/>
          </a:prstGeom>
          <a:noFill/>
        </p:spPr>
        <p:txBody>
          <a:bodyPr wrap="square" lIns="0" tIns="0" rIns="0" bIns="0" rtlCol="0">
            <a:spAutoFit/>
          </a:bodyPr>
          <a:lstStyle/>
          <a:p>
            <a:r>
              <a:rPr lang="en-US" altLang="zh-CN" sz="2800" b="0" i="0" dirty="0">
                <a:latin typeface="+mn-ea"/>
                <a:ea typeface="+mn-ea"/>
              </a:rPr>
              <a:t>6</a:t>
            </a:r>
            <a:endParaRPr lang="zh-CN" altLang="en-US" sz="2800" b="0" i="0" dirty="0">
              <a:latin typeface="+mn-ea"/>
              <a:ea typeface="+mn-ea"/>
            </a:endParaRPr>
          </a:p>
        </p:txBody>
      </p:sp>
      <p:sp>
        <p:nvSpPr>
          <p:cNvPr id="7" name="文本框 6">
            <a:extLst>
              <a:ext uri="{FF2B5EF4-FFF2-40B4-BE49-F238E27FC236}">
                <a16:creationId xmlns:a16="http://schemas.microsoft.com/office/drawing/2014/main" id="{7A1DA27D-C184-110C-3CBC-BB5EA3840E3A}"/>
              </a:ext>
            </a:extLst>
          </p:cNvPr>
          <p:cNvSpPr txBox="1"/>
          <p:nvPr/>
        </p:nvSpPr>
        <p:spPr>
          <a:xfrm>
            <a:off x="4305360" y="5919427"/>
            <a:ext cx="410656" cy="430887"/>
          </a:xfrm>
          <a:prstGeom prst="rect">
            <a:avLst/>
          </a:prstGeom>
          <a:noFill/>
        </p:spPr>
        <p:txBody>
          <a:bodyPr wrap="square" lIns="0" tIns="0" rIns="0" bIns="0" rtlCol="0">
            <a:spAutoFit/>
          </a:bodyPr>
          <a:lstStyle/>
          <a:p>
            <a:r>
              <a:rPr lang="en-US" altLang="zh-CN" sz="2800" b="0" i="0" dirty="0">
                <a:latin typeface="+mn-ea"/>
                <a:ea typeface="+mn-ea"/>
              </a:rPr>
              <a:t>-1</a:t>
            </a:r>
            <a:endParaRPr lang="zh-CN" altLang="en-US" sz="2800" b="0" i="0" dirty="0">
              <a:latin typeface="+mn-ea"/>
              <a:ea typeface="+mn-ea"/>
            </a:endParaRPr>
          </a:p>
        </p:txBody>
      </p:sp>
      <p:sp>
        <p:nvSpPr>
          <p:cNvPr id="8" name="文本框 7">
            <a:extLst>
              <a:ext uri="{FF2B5EF4-FFF2-40B4-BE49-F238E27FC236}">
                <a16:creationId xmlns:a16="http://schemas.microsoft.com/office/drawing/2014/main" id="{7145206B-1C55-491E-336B-A5E1EEFBB5BD}"/>
              </a:ext>
            </a:extLst>
          </p:cNvPr>
          <p:cNvSpPr txBox="1"/>
          <p:nvPr/>
        </p:nvSpPr>
        <p:spPr>
          <a:xfrm>
            <a:off x="5025440" y="5877272"/>
            <a:ext cx="410656" cy="430887"/>
          </a:xfrm>
          <a:prstGeom prst="rect">
            <a:avLst/>
          </a:prstGeom>
          <a:noFill/>
        </p:spPr>
        <p:txBody>
          <a:bodyPr wrap="square" lIns="0" tIns="0" rIns="0" bIns="0" rtlCol="0">
            <a:spAutoFit/>
          </a:bodyPr>
          <a:lstStyle/>
          <a:p>
            <a:r>
              <a:rPr lang="en-US" altLang="zh-CN" sz="2800" b="0" i="0" dirty="0">
                <a:latin typeface="+mn-ea"/>
                <a:ea typeface="+mn-ea"/>
              </a:rPr>
              <a:t>0</a:t>
            </a:r>
            <a:endParaRPr lang="zh-CN" altLang="en-US" sz="2800" b="0" i="0" dirty="0">
              <a:latin typeface="+mn-ea"/>
              <a:ea typeface="+mn-ea"/>
            </a:endParaRPr>
          </a:p>
        </p:txBody>
      </p:sp>
      <p:sp>
        <p:nvSpPr>
          <p:cNvPr id="9" name="文本框 8">
            <a:extLst>
              <a:ext uri="{FF2B5EF4-FFF2-40B4-BE49-F238E27FC236}">
                <a16:creationId xmlns:a16="http://schemas.microsoft.com/office/drawing/2014/main" id="{52207160-F452-C389-5932-78F950005464}"/>
              </a:ext>
            </a:extLst>
          </p:cNvPr>
          <p:cNvSpPr txBox="1"/>
          <p:nvPr/>
        </p:nvSpPr>
        <p:spPr>
          <a:xfrm>
            <a:off x="5633592" y="5919427"/>
            <a:ext cx="410656" cy="430887"/>
          </a:xfrm>
          <a:prstGeom prst="rect">
            <a:avLst/>
          </a:prstGeom>
          <a:noFill/>
        </p:spPr>
        <p:txBody>
          <a:bodyPr wrap="square" lIns="0" tIns="0" rIns="0" bIns="0" rtlCol="0">
            <a:spAutoFit/>
          </a:bodyPr>
          <a:lstStyle/>
          <a:p>
            <a:r>
              <a:rPr lang="en-US" altLang="zh-CN" sz="2800" b="0" i="0" dirty="0">
                <a:latin typeface="+mn-ea"/>
                <a:ea typeface="+mn-ea"/>
              </a:rPr>
              <a:t>5</a:t>
            </a:r>
            <a:endParaRPr lang="zh-CN" altLang="en-US" sz="2800" b="0" i="0" dirty="0">
              <a:latin typeface="+mn-ea"/>
              <a:ea typeface="+mn-ea"/>
            </a:endParaRPr>
          </a:p>
        </p:txBody>
      </p:sp>
      <p:sp>
        <p:nvSpPr>
          <p:cNvPr id="10" name="文本框 9">
            <a:extLst>
              <a:ext uri="{FF2B5EF4-FFF2-40B4-BE49-F238E27FC236}">
                <a16:creationId xmlns:a16="http://schemas.microsoft.com/office/drawing/2014/main" id="{25A2A383-0550-37E1-E50B-39F243AA7BFC}"/>
              </a:ext>
            </a:extLst>
          </p:cNvPr>
          <p:cNvSpPr txBox="1"/>
          <p:nvPr/>
        </p:nvSpPr>
        <p:spPr>
          <a:xfrm>
            <a:off x="3550869" y="5919427"/>
            <a:ext cx="410656" cy="430887"/>
          </a:xfrm>
          <a:prstGeom prst="rect">
            <a:avLst/>
          </a:prstGeom>
          <a:noFill/>
        </p:spPr>
        <p:txBody>
          <a:bodyPr wrap="square" lIns="0" tIns="0" rIns="0" bIns="0" rtlCol="0">
            <a:spAutoFit/>
          </a:bodyPr>
          <a:lstStyle/>
          <a:p>
            <a:r>
              <a:rPr lang="en-US" altLang="zh-CN" sz="2800" b="0" i="0" dirty="0">
                <a:latin typeface="+mn-ea"/>
                <a:ea typeface="+mn-ea"/>
              </a:rPr>
              <a:t>7</a:t>
            </a:r>
            <a:endParaRPr lang="zh-CN" altLang="en-US" sz="2800" b="0" i="0" dirty="0">
              <a:latin typeface="+mn-ea"/>
              <a:ea typeface="+mn-ea"/>
            </a:endParaRPr>
          </a:p>
        </p:txBody>
      </p:sp>
      <p:sp>
        <p:nvSpPr>
          <p:cNvPr id="11" name="矩形 10">
            <a:extLst>
              <a:ext uri="{FF2B5EF4-FFF2-40B4-BE49-F238E27FC236}">
                <a16:creationId xmlns:a16="http://schemas.microsoft.com/office/drawing/2014/main" id="{BB9F5593-E286-F518-8958-DC1D11FA944D}"/>
              </a:ext>
            </a:extLst>
          </p:cNvPr>
          <p:cNvSpPr/>
          <p:nvPr/>
        </p:nvSpPr>
        <p:spPr bwMode="auto">
          <a:xfrm>
            <a:off x="2220224" y="2850984"/>
            <a:ext cx="410656" cy="447876"/>
          </a:xfrm>
          <a:prstGeom prst="rect">
            <a:avLst/>
          </a:prstGeom>
          <a:noFill/>
          <a:ln w="349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1" u="none" strike="noStrike" cap="none" normalizeH="0" baseline="0">
              <a:ln>
                <a:noFill/>
              </a:ln>
              <a:solidFill>
                <a:schemeClr val="tx1"/>
              </a:solidFill>
              <a:effectLst/>
              <a:latin typeface="Times New Roman" pitchFamily="18" charset="0"/>
              <a:ea typeface="宋体" pitchFamily="2" charset="-122"/>
            </a:endParaRPr>
          </a:p>
        </p:txBody>
      </p:sp>
      <p:sp>
        <p:nvSpPr>
          <p:cNvPr id="12" name="矩形 11">
            <a:extLst>
              <a:ext uri="{FF2B5EF4-FFF2-40B4-BE49-F238E27FC236}">
                <a16:creationId xmlns:a16="http://schemas.microsoft.com/office/drawing/2014/main" id="{D0779940-0885-0D1A-771A-402C530ABE55}"/>
              </a:ext>
            </a:extLst>
          </p:cNvPr>
          <p:cNvSpPr/>
          <p:nvPr/>
        </p:nvSpPr>
        <p:spPr bwMode="auto">
          <a:xfrm>
            <a:off x="2238842" y="5410720"/>
            <a:ext cx="410656" cy="447876"/>
          </a:xfrm>
          <a:prstGeom prst="rect">
            <a:avLst/>
          </a:prstGeom>
          <a:noFill/>
          <a:ln w="349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1" u="none" strike="noStrike" cap="none" normalizeH="0" baseline="0">
              <a:ln>
                <a:noFill/>
              </a:ln>
              <a:solidFill>
                <a:schemeClr val="tx1"/>
              </a:solidFill>
              <a:effectLst/>
              <a:latin typeface="Times New Roman" pitchFamily="18" charset="0"/>
              <a:ea typeface="宋体" pitchFamily="2" charset="-122"/>
            </a:endParaRPr>
          </a:p>
        </p:txBody>
      </p:sp>
      <p:sp>
        <p:nvSpPr>
          <p:cNvPr id="13" name="文本框 12">
            <a:extLst>
              <a:ext uri="{FF2B5EF4-FFF2-40B4-BE49-F238E27FC236}">
                <a16:creationId xmlns:a16="http://schemas.microsoft.com/office/drawing/2014/main" id="{04D9553B-FB8F-A3DA-F3F0-3566339D03B7}"/>
              </a:ext>
            </a:extLst>
          </p:cNvPr>
          <p:cNvSpPr txBox="1"/>
          <p:nvPr/>
        </p:nvSpPr>
        <p:spPr>
          <a:xfrm>
            <a:off x="1516435" y="5473154"/>
            <a:ext cx="514656" cy="523220"/>
          </a:xfrm>
          <a:prstGeom prst="rect">
            <a:avLst/>
          </a:prstGeom>
          <a:noFill/>
        </p:spPr>
        <p:txBody>
          <a:bodyPr wrap="square">
            <a:spAutoFit/>
          </a:bodyPr>
          <a:lstStyle/>
          <a:p>
            <a:r>
              <a:rPr kumimoji="0" lang="zh-CN" altLang="en-US" sz="2800" b="0" i="0" u="none" strike="noStrike" kern="0" cap="none" spc="0" normalizeH="0" baseline="0" noProof="0" dirty="0">
                <a:ln>
                  <a:noFill/>
                </a:ln>
                <a:solidFill>
                  <a:srgbClr val="FF0000"/>
                </a:solidFill>
                <a:effectLst/>
                <a:uLnTx/>
                <a:uFillTx/>
                <a:latin typeface="黑体"/>
                <a:ea typeface="黑体"/>
                <a:cs typeface="+mn-cs"/>
              </a:rPr>
              <a:t>√</a:t>
            </a:r>
            <a:endParaRPr lang="zh-CN" altLang="en-US"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p:bldP spid="9" grpId="0"/>
      <p:bldP spid="10" grpId="0"/>
      <p:bldP spid="11" grpId="0" animBg="1"/>
      <p:bldP spid="12" grpId="0" animBg="1"/>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9" name="Text Box 3">
            <a:extLst>
              <a:ext uri="{FF2B5EF4-FFF2-40B4-BE49-F238E27FC236}">
                <a16:creationId xmlns:a16="http://schemas.microsoft.com/office/drawing/2014/main" id="{2FB93148-8962-44BB-B336-66AC8FDE16C6}"/>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4051B027-E68B-4F0A-A658-D8CDA7945DB5}" type="slidenum">
              <a:rPr lang="zh-CN" altLang="en-US" sz="2400"/>
              <a:pPr algn="r" eaLnBrk="1" hangingPunct="1">
                <a:spcBef>
                  <a:spcPct val="50000"/>
                </a:spcBef>
                <a:buClrTx/>
                <a:buSzTx/>
                <a:buFont typeface="Arial" panose="020B0604020202020204" pitchFamily="34" charset="0"/>
                <a:buNone/>
              </a:pPr>
              <a:t>119</a:t>
            </a:fld>
            <a:endParaRPr lang="en-US" altLang="zh-CN" sz="2400"/>
          </a:p>
        </p:txBody>
      </p:sp>
      <p:sp>
        <p:nvSpPr>
          <p:cNvPr id="7" name="文本框 6">
            <a:extLst>
              <a:ext uri="{FF2B5EF4-FFF2-40B4-BE49-F238E27FC236}">
                <a16:creationId xmlns:a16="http://schemas.microsoft.com/office/drawing/2014/main" id="{6FF2BE6D-94D7-DB7A-AB96-E3DBAA283080}"/>
              </a:ext>
            </a:extLst>
          </p:cNvPr>
          <p:cNvSpPr txBox="1"/>
          <p:nvPr/>
        </p:nvSpPr>
        <p:spPr>
          <a:xfrm>
            <a:off x="539552" y="1249520"/>
            <a:ext cx="8458200" cy="4893647"/>
          </a:xfrm>
          <a:prstGeom prst="rect">
            <a:avLst/>
          </a:prstGeom>
          <a:noFill/>
        </p:spPr>
        <p:txBody>
          <a:bodyPr wrap="square">
            <a:spAutoFit/>
          </a:bodyPr>
          <a:lstStyle/>
          <a:p>
            <a:r>
              <a:rPr lang="en-US" altLang="zh-CN" sz="2400" b="0" i="0" dirty="0">
                <a:solidFill>
                  <a:srgbClr val="008000"/>
                </a:solidFill>
                <a:effectLst/>
                <a:latin typeface="+mn-ea"/>
                <a:ea typeface="+mn-ea"/>
              </a:rPr>
              <a:t>// Huffman</a:t>
            </a:r>
            <a:r>
              <a:rPr lang="zh-CN" altLang="en-US" sz="2400" b="0" i="0" dirty="0">
                <a:solidFill>
                  <a:srgbClr val="008000"/>
                </a:solidFill>
                <a:effectLst/>
                <a:latin typeface="+mn-ea"/>
                <a:ea typeface="+mn-ea"/>
              </a:rPr>
              <a:t>树结点，静态链表</a:t>
            </a:r>
            <a:endParaRPr lang="zh-CN" altLang="en-US" sz="2400" b="0" i="0" dirty="0">
              <a:solidFill>
                <a:srgbClr val="000000"/>
              </a:solidFill>
              <a:effectLst/>
              <a:latin typeface="+mn-ea"/>
              <a:ea typeface="+mn-ea"/>
            </a:endParaRPr>
          </a:p>
          <a:p>
            <a:r>
              <a:rPr lang="en-US" altLang="zh-CN" sz="2400" b="0" i="0" dirty="0">
                <a:solidFill>
                  <a:srgbClr val="0000FF"/>
                </a:solidFill>
                <a:effectLst/>
                <a:latin typeface="+mn-ea"/>
                <a:ea typeface="+mn-ea"/>
              </a:rPr>
              <a:t>typedef</a:t>
            </a:r>
            <a:r>
              <a:rPr lang="en-US" altLang="zh-CN" sz="2400" b="0" i="0" dirty="0">
                <a:solidFill>
                  <a:srgbClr val="000000"/>
                </a:solidFill>
                <a:effectLst/>
                <a:latin typeface="+mn-ea"/>
                <a:ea typeface="+mn-ea"/>
              </a:rPr>
              <a:t> </a:t>
            </a:r>
            <a:r>
              <a:rPr lang="en-US" altLang="zh-CN" sz="2400" b="0" i="0" dirty="0">
                <a:solidFill>
                  <a:srgbClr val="0000FF"/>
                </a:solidFill>
                <a:effectLst/>
                <a:latin typeface="+mn-ea"/>
                <a:ea typeface="+mn-ea"/>
              </a:rPr>
              <a:t>struct</a:t>
            </a:r>
            <a:r>
              <a:rPr lang="en-US" altLang="zh-CN" sz="2400" b="0" i="0" dirty="0">
                <a:solidFill>
                  <a:srgbClr val="000000"/>
                </a:solidFill>
                <a:effectLst/>
                <a:latin typeface="+mn-ea"/>
                <a:ea typeface="+mn-ea"/>
              </a:rPr>
              <a:t> </a:t>
            </a:r>
            <a:r>
              <a:rPr lang="en-US" altLang="zh-CN" sz="2400" b="0" i="0" dirty="0" err="1">
                <a:solidFill>
                  <a:srgbClr val="267F99"/>
                </a:solidFill>
                <a:effectLst/>
                <a:latin typeface="+mn-ea"/>
                <a:ea typeface="+mn-ea"/>
              </a:rPr>
              <a:t>HuffmanNode</a:t>
            </a:r>
            <a:endParaRPr lang="en-US" altLang="zh-CN" sz="2400" b="0" i="0" dirty="0">
              <a:solidFill>
                <a:srgbClr val="000000"/>
              </a:solidFill>
              <a:effectLst/>
              <a:latin typeface="+mn-ea"/>
              <a:ea typeface="+mn-ea"/>
            </a:endParaRPr>
          </a:p>
          <a:p>
            <a:r>
              <a:rPr lang="en-US" altLang="zh-CN" sz="2400" b="0" i="0" dirty="0">
                <a:solidFill>
                  <a:srgbClr val="000000"/>
                </a:solidFill>
                <a:effectLst/>
                <a:latin typeface="+mn-ea"/>
                <a:ea typeface="+mn-ea"/>
              </a:rPr>
              <a:t>{</a:t>
            </a:r>
          </a:p>
          <a:p>
            <a:r>
              <a:rPr lang="en-US" altLang="zh-CN" sz="2400" b="0" i="0" dirty="0">
                <a:solidFill>
                  <a:srgbClr val="000000"/>
                </a:solidFill>
                <a:effectLst/>
                <a:latin typeface="+mn-ea"/>
                <a:ea typeface="+mn-ea"/>
              </a:rPr>
              <a:t>    </a:t>
            </a:r>
            <a:r>
              <a:rPr lang="en-US" altLang="zh-CN" sz="2400" b="0" i="0" dirty="0">
                <a:solidFill>
                  <a:srgbClr val="0000FF"/>
                </a:solidFill>
                <a:effectLst/>
                <a:latin typeface="+mn-ea"/>
                <a:ea typeface="+mn-ea"/>
              </a:rPr>
              <a:t>char</a:t>
            </a:r>
            <a:r>
              <a:rPr lang="en-US" altLang="zh-CN" sz="2400" b="0" i="0" dirty="0">
                <a:solidFill>
                  <a:srgbClr val="000000"/>
                </a:solidFill>
                <a:effectLst/>
                <a:latin typeface="+mn-ea"/>
                <a:ea typeface="+mn-ea"/>
              </a:rPr>
              <a:t> </a:t>
            </a:r>
            <a:r>
              <a:rPr lang="en-US" altLang="zh-CN" sz="2400" b="0" i="0" dirty="0">
                <a:solidFill>
                  <a:srgbClr val="001080"/>
                </a:solidFill>
                <a:effectLst/>
                <a:latin typeface="+mn-ea"/>
                <a:ea typeface="+mn-ea"/>
              </a:rPr>
              <a:t>data</a:t>
            </a:r>
            <a:r>
              <a:rPr lang="en-US" altLang="zh-CN" sz="2400" b="0" i="0" dirty="0">
                <a:solidFill>
                  <a:srgbClr val="000000"/>
                </a:solidFill>
                <a:effectLst/>
                <a:latin typeface="+mn-ea"/>
                <a:ea typeface="+mn-ea"/>
              </a:rPr>
              <a:t>;</a:t>
            </a:r>
            <a:r>
              <a:rPr lang="en-US" altLang="zh-CN" sz="2400" b="0" i="0" dirty="0">
                <a:solidFill>
                  <a:srgbClr val="008000"/>
                </a:solidFill>
                <a:effectLst/>
                <a:latin typeface="+mn-ea"/>
                <a:ea typeface="+mn-ea"/>
              </a:rPr>
              <a:t>        // </a:t>
            </a:r>
            <a:r>
              <a:rPr lang="zh-CN" altLang="en-US" sz="2400" b="0" i="0" dirty="0">
                <a:solidFill>
                  <a:srgbClr val="008000"/>
                </a:solidFill>
                <a:effectLst/>
                <a:latin typeface="+mn-ea"/>
                <a:ea typeface="+mn-ea"/>
              </a:rPr>
              <a:t>结点值</a:t>
            </a:r>
            <a:endParaRPr lang="zh-CN" altLang="en-US" sz="2400" b="0" i="0" dirty="0">
              <a:solidFill>
                <a:srgbClr val="000000"/>
              </a:solidFill>
              <a:effectLst/>
              <a:latin typeface="+mn-ea"/>
              <a:ea typeface="+mn-ea"/>
            </a:endParaRPr>
          </a:p>
          <a:p>
            <a:r>
              <a:rPr lang="zh-CN" altLang="en-US" sz="2400" b="0" i="0" dirty="0">
                <a:solidFill>
                  <a:srgbClr val="000000"/>
                </a:solidFill>
                <a:effectLst/>
                <a:latin typeface="+mn-ea"/>
                <a:ea typeface="+mn-ea"/>
              </a:rPr>
              <a:t>    </a:t>
            </a:r>
            <a:r>
              <a:rPr lang="en-US" altLang="zh-CN" sz="2400" b="0" i="0" dirty="0">
                <a:solidFill>
                  <a:srgbClr val="0000FF"/>
                </a:solidFill>
                <a:effectLst/>
                <a:latin typeface="+mn-ea"/>
                <a:ea typeface="+mn-ea"/>
              </a:rPr>
              <a:t>int</a:t>
            </a:r>
            <a:r>
              <a:rPr lang="en-US" altLang="zh-CN" sz="2400" b="0" i="0" dirty="0">
                <a:solidFill>
                  <a:srgbClr val="000000"/>
                </a:solidFill>
                <a:effectLst/>
                <a:latin typeface="+mn-ea"/>
                <a:ea typeface="+mn-ea"/>
              </a:rPr>
              <a:t> </a:t>
            </a:r>
            <a:r>
              <a:rPr lang="en-US" altLang="zh-CN" sz="2400" b="0" i="0" dirty="0">
                <a:solidFill>
                  <a:srgbClr val="001080"/>
                </a:solidFill>
                <a:effectLst/>
                <a:latin typeface="+mn-ea"/>
                <a:ea typeface="+mn-ea"/>
              </a:rPr>
              <a:t>w</a:t>
            </a:r>
            <a:r>
              <a:rPr lang="en-US" altLang="zh-CN" sz="2400" b="0" i="0" dirty="0">
                <a:solidFill>
                  <a:srgbClr val="000000"/>
                </a:solidFill>
                <a:effectLst/>
                <a:latin typeface="+mn-ea"/>
                <a:ea typeface="+mn-ea"/>
              </a:rPr>
              <a:t>, </a:t>
            </a:r>
            <a:r>
              <a:rPr lang="en-US" altLang="zh-CN" sz="2400" b="0" i="0" dirty="0" err="1">
                <a:solidFill>
                  <a:srgbClr val="001080"/>
                </a:solidFill>
                <a:effectLst/>
                <a:latin typeface="+mn-ea"/>
                <a:ea typeface="+mn-ea"/>
              </a:rPr>
              <a:t>lchild</a:t>
            </a:r>
            <a:r>
              <a:rPr lang="en-US" altLang="zh-CN" sz="2400" b="0" i="0" dirty="0">
                <a:solidFill>
                  <a:srgbClr val="000000"/>
                </a:solidFill>
                <a:effectLst/>
                <a:latin typeface="+mn-ea"/>
                <a:ea typeface="+mn-ea"/>
              </a:rPr>
              <a:t>, </a:t>
            </a:r>
            <a:r>
              <a:rPr lang="en-US" altLang="zh-CN" sz="2400" b="0" i="0" dirty="0" err="1">
                <a:solidFill>
                  <a:srgbClr val="001080"/>
                </a:solidFill>
                <a:effectLst/>
                <a:latin typeface="+mn-ea"/>
                <a:ea typeface="+mn-ea"/>
              </a:rPr>
              <a:t>rchild</a:t>
            </a:r>
            <a:r>
              <a:rPr lang="en-US" altLang="zh-CN" sz="2400" b="0" i="0" dirty="0">
                <a:solidFill>
                  <a:srgbClr val="000000"/>
                </a:solidFill>
                <a:effectLst/>
                <a:latin typeface="+mn-ea"/>
                <a:ea typeface="+mn-ea"/>
              </a:rPr>
              <a:t>, </a:t>
            </a:r>
            <a:r>
              <a:rPr lang="en-US" altLang="zh-CN" sz="2400" b="0" i="0" dirty="0">
                <a:solidFill>
                  <a:srgbClr val="001080"/>
                </a:solidFill>
                <a:effectLst/>
                <a:latin typeface="+mn-ea"/>
                <a:ea typeface="+mn-ea"/>
              </a:rPr>
              <a:t>parent</a:t>
            </a:r>
            <a:r>
              <a:rPr lang="en-US" altLang="zh-CN" sz="2400" b="0" i="0" dirty="0">
                <a:solidFill>
                  <a:srgbClr val="000000"/>
                </a:solidFill>
                <a:effectLst/>
                <a:latin typeface="+mn-ea"/>
                <a:ea typeface="+mn-ea"/>
              </a:rPr>
              <a:t>;</a:t>
            </a:r>
            <a:r>
              <a:rPr lang="en-US" altLang="zh-CN" sz="2400" b="0" i="0" dirty="0">
                <a:solidFill>
                  <a:srgbClr val="008000"/>
                </a:solidFill>
                <a:effectLst/>
                <a:latin typeface="+mn-ea"/>
                <a:ea typeface="+mn-ea"/>
              </a:rPr>
              <a:t> </a:t>
            </a:r>
          </a:p>
          <a:p>
            <a:r>
              <a:rPr lang="en-US" altLang="zh-CN" sz="2400" b="0" i="0" dirty="0">
                <a:solidFill>
                  <a:srgbClr val="008000"/>
                </a:solidFill>
                <a:latin typeface="+mn-ea"/>
                <a:ea typeface="+mn-ea"/>
              </a:rPr>
              <a:t>                   </a:t>
            </a:r>
            <a:r>
              <a:rPr lang="en-US" altLang="zh-CN" sz="2400" b="0" i="0" dirty="0">
                <a:solidFill>
                  <a:srgbClr val="008000"/>
                </a:solidFill>
                <a:effectLst/>
                <a:latin typeface="+mn-ea"/>
                <a:ea typeface="+mn-ea"/>
              </a:rPr>
              <a:t>// </a:t>
            </a:r>
            <a:r>
              <a:rPr lang="zh-CN" altLang="en-US" sz="2400" b="0" i="0" dirty="0">
                <a:solidFill>
                  <a:srgbClr val="008000"/>
                </a:solidFill>
                <a:effectLst/>
                <a:latin typeface="+mn-ea"/>
                <a:ea typeface="+mn-ea"/>
              </a:rPr>
              <a:t>权值，左孩子，右孩子，双亲</a:t>
            </a:r>
            <a:endParaRPr lang="zh-CN" altLang="en-US" sz="2400" b="0" i="0" dirty="0">
              <a:solidFill>
                <a:srgbClr val="000000"/>
              </a:solidFill>
              <a:effectLst/>
              <a:latin typeface="+mn-ea"/>
              <a:ea typeface="+mn-ea"/>
            </a:endParaRPr>
          </a:p>
          <a:p>
            <a:r>
              <a:rPr lang="zh-CN" altLang="en-US" sz="2400" b="0" i="0" dirty="0">
                <a:solidFill>
                  <a:srgbClr val="000000"/>
                </a:solidFill>
                <a:effectLst/>
                <a:latin typeface="+mn-ea"/>
                <a:ea typeface="+mn-ea"/>
              </a:rPr>
              <a:t>    </a:t>
            </a:r>
            <a:r>
              <a:rPr lang="en-US" altLang="zh-CN" sz="2400" b="0" i="0" dirty="0">
                <a:solidFill>
                  <a:srgbClr val="267F99"/>
                </a:solidFill>
                <a:effectLst/>
                <a:latin typeface="+mn-ea"/>
                <a:ea typeface="+mn-ea"/>
              </a:rPr>
              <a:t>string</a:t>
            </a:r>
            <a:r>
              <a:rPr lang="en-US" altLang="zh-CN" sz="2400" b="0" i="0" dirty="0">
                <a:solidFill>
                  <a:srgbClr val="000000"/>
                </a:solidFill>
                <a:effectLst/>
                <a:latin typeface="+mn-ea"/>
                <a:ea typeface="+mn-ea"/>
              </a:rPr>
              <a:t> </a:t>
            </a:r>
            <a:r>
              <a:rPr lang="en-US" altLang="zh-CN" sz="2400" b="0" i="0" dirty="0">
                <a:solidFill>
                  <a:srgbClr val="001080"/>
                </a:solidFill>
                <a:effectLst/>
                <a:latin typeface="+mn-ea"/>
                <a:ea typeface="+mn-ea"/>
              </a:rPr>
              <a:t>code</a:t>
            </a:r>
            <a:r>
              <a:rPr lang="en-US" altLang="zh-CN" sz="2400" b="0" i="0" dirty="0">
                <a:solidFill>
                  <a:srgbClr val="000000"/>
                </a:solidFill>
                <a:effectLst/>
                <a:latin typeface="+mn-ea"/>
                <a:ea typeface="+mn-ea"/>
              </a:rPr>
              <a:t>;</a:t>
            </a:r>
            <a:r>
              <a:rPr lang="en-US" altLang="zh-CN" sz="2400" b="0" i="0" dirty="0">
                <a:solidFill>
                  <a:srgbClr val="008000"/>
                </a:solidFill>
                <a:effectLst/>
                <a:latin typeface="+mn-ea"/>
                <a:ea typeface="+mn-ea"/>
              </a:rPr>
              <a:t>     // </a:t>
            </a:r>
            <a:r>
              <a:rPr lang="zh-CN" altLang="en-US" sz="2400" b="0" i="0" dirty="0">
                <a:solidFill>
                  <a:srgbClr val="008000"/>
                </a:solidFill>
                <a:effectLst/>
                <a:latin typeface="+mn-ea"/>
                <a:ea typeface="+mn-ea"/>
              </a:rPr>
              <a:t>结点码值</a:t>
            </a:r>
            <a:endParaRPr lang="zh-CN" altLang="en-US" sz="2400" b="0" i="0" dirty="0">
              <a:solidFill>
                <a:srgbClr val="000000"/>
              </a:solidFill>
              <a:effectLst/>
              <a:latin typeface="+mn-ea"/>
              <a:ea typeface="+mn-ea"/>
            </a:endParaRPr>
          </a:p>
          <a:p>
            <a:br>
              <a:rPr lang="zh-CN" altLang="en-US" sz="2400" b="0" i="0" dirty="0">
                <a:solidFill>
                  <a:srgbClr val="000000"/>
                </a:solidFill>
                <a:effectLst/>
                <a:latin typeface="+mn-ea"/>
                <a:ea typeface="+mn-ea"/>
              </a:rPr>
            </a:br>
            <a:r>
              <a:rPr lang="zh-CN" altLang="en-US" sz="2400" b="0" i="0" dirty="0">
                <a:solidFill>
                  <a:srgbClr val="008000"/>
                </a:solidFill>
                <a:effectLst/>
                <a:latin typeface="+mn-ea"/>
                <a:ea typeface="+mn-ea"/>
              </a:rPr>
              <a:t>    </a:t>
            </a:r>
            <a:r>
              <a:rPr lang="en-US" altLang="zh-CN" sz="2400" b="0" i="0" dirty="0">
                <a:solidFill>
                  <a:srgbClr val="008000"/>
                </a:solidFill>
                <a:effectLst/>
                <a:latin typeface="+mn-ea"/>
                <a:ea typeface="+mn-ea"/>
              </a:rPr>
              <a:t>// </a:t>
            </a:r>
            <a:r>
              <a:rPr lang="zh-CN" altLang="en-US" sz="2400" b="0" i="0" dirty="0">
                <a:solidFill>
                  <a:srgbClr val="008000"/>
                </a:solidFill>
                <a:effectLst/>
                <a:latin typeface="+mn-ea"/>
                <a:ea typeface="+mn-ea"/>
              </a:rPr>
              <a:t>设置结点及权重，左右双亲为</a:t>
            </a:r>
            <a:r>
              <a:rPr lang="en-US" altLang="zh-CN" sz="2400" b="0" i="0" dirty="0">
                <a:solidFill>
                  <a:srgbClr val="008000"/>
                </a:solidFill>
                <a:effectLst/>
                <a:latin typeface="+mn-ea"/>
                <a:ea typeface="+mn-ea"/>
              </a:rPr>
              <a:t>-1</a:t>
            </a:r>
            <a:r>
              <a:rPr lang="zh-CN" altLang="en-US" sz="2400" b="0" i="0" dirty="0">
                <a:solidFill>
                  <a:srgbClr val="008000"/>
                </a:solidFill>
                <a:effectLst/>
                <a:latin typeface="+mn-ea"/>
                <a:ea typeface="+mn-ea"/>
              </a:rPr>
              <a:t>， 码值空串</a:t>
            </a:r>
            <a:endParaRPr lang="zh-CN" altLang="en-US" sz="2400" b="0" i="0" dirty="0">
              <a:solidFill>
                <a:srgbClr val="000000"/>
              </a:solidFill>
              <a:effectLst/>
              <a:latin typeface="+mn-ea"/>
              <a:ea typeface="+mn-ea"/>
            </a:endParaRPr>
          </a:p>
          <a:p>
            <a:r>
              <a:rPr lang="zh-CN" altLang="en-US" sz="2400" b="0" i="0" dirty="0">
                <a:solidFill>
                  <a:srgbClr val="000000"/>
                </a:solidFill>
                <a:effectLst/>
                <a:latin typeface="+mn-ea"/>
                <a:ea typeface="+mn-ea"/>
              </a:rPr>
              <a:t>    </a:t>
            </a:r>
            <a:r>
              <a:rPr lang="en-US" altLang="zh-CN" sz="2400" b="0" i="0" dirty="0" err="1">
                <a:solidFill>
                  <a:srgbClr val="795E26"/>
                </a:solidFill>
                <a:effectLst/>
                <a:latin typeface="+mn-ea"/>
                <a:ea typeface="+mn-ea"/>
              </a:rPr>
              <a:t>HuffmanNode</a:t>
            </a:r>
            <a:r>
              <a:rPr lang="en-US" altLang="zh-CN" sz="2400" b="0" i="0" dirty="0">
                <a:solidFill>
                  <a:srgbClr val="000000"/>
                </a:solidFill>
                <a:effectLst/>
                <a:latin typeface="+mn-ea"/>
                <a:ea typeface="+mn-ea"/>
              </a:rPr>
              <a:t>(</a:t>
            </a:r>
            <a:r>
              <a:rPr lang="en-US" altLang="zh-CN" sz="2400" b="0" i="0" dirty="0">
                <a:solidFill>
                  <a:srgbClr val="0000FF"/>
                </a:solidFill>
                <a:effectLst/>
                <a:latin typeface="+mn-ea"/>
                <a:ea typeface="+mn-ea"/>
              </a:rPr>
              <a:t>char</a:t>
            </a:r>
            <a:r>
              <a:rPr lang="en-US" altLang="zh-CN" sz="2400" b="0" i="0" dirty="0">
                <a:solidFill>
                  <a:srgbClr val="000000"/>
                </a:solidFill>
                <a:effectLst/>
                <a:latin typeface="+mn-ea"/>
                <a:ea typeface="+mn-ea"/>
              </a:rPr>
              <a:t> </a:t>
            </a:r>
            <a:r>
              <a:rPr lang="en-US" altLang="zh-CN" sz="2400" b="0" i="0" dirty="0">
                <a:solidFill>
                  <a:srgbClr val="001080"/>
                </a:solidFill>
                <a:effectLst/>
                <a:latin typeface="+mn-ea"/>
                <a:ea typeface="+mn-ea"/>
              </a:rPr>
              <a:t>e</a:t>
            </a:r>
            <a:r>
              <a:rPr lang="en-US" altLang="zh-CN" sz="2400" b="0" i="0" dirty="0">
                <a:solidFill>
                  <a:srgbClr val="000000"/>
                </a:solidFill>
                <a:effectLst/>
                <a:latin typeface="+mn-ea"/>
                <a:ea typeface="+mn-ea"/>
              </a:rPr>
              <a:t> = </a:t>
            </a:r>
            <a:r>
              <a:rPr lang="en-US" altLang="zh-CN" sz="2400" b="0" i="0" dirty="0">
                <a:solidFill>
                  <a:srgbClr val="A31515"/>
                </a:solidFill>
                <a:effectLst/>
                <a:latin typeface="+mn-ea"/>
                <a:ea typeface="+mn-ea"/>
              </a:rPr>
              <a:t>' '</a:t>
            </a:r>
            <a:r>
              <a:rPr lang="en-US" altLang="zh-CN" sz="2400" b="0" i="0" dirty="0">
                <a:solidFill>
                  <a:srgbClr val="000000"/>
                </a:solidFill>
                <a:effectLst/>
                <a:latin typeface="+mn-ea"/>
                <a:ea typeface="+mn-ea"/>
              </a:rPr>
              <a:t>, </a:t>
            </a:r>
            <a:r>
              <a:rPr lang="en-US" altLang="zh-CN" sz="2400" b="0" i="0" dirty="0">
                <a:solidFill>
                  <a:srgbClr val="0000FF"/>
                </a:solidFill>
                <a:effectLst/>
                <a:latin typeface="+mn-ea"/>
                <a:ea typeface="+mn-ea"/>
              </a:rPr>
              <a:t>int</a:t>
            </a:r>
            <a:r>
              <a:rPr lang="en-US" altLang="zh-CN" sz="2400" b="0" i="0" dirty="0">
                <a:solidFill>
                  <a:srgbClr val="000000"/>
                </a:solidFill>
                <a:effectLst/>
                <a:latin typeface="+mn-ea"/>
                <a:ea typeface="+mn-ea"/>
              </a:rPr>
              <a:t> </a:t>
            </a:r>
            <a:r>
              <a:rPr lang="en-US" altLang="zh-CN" sz="2400" b="0" i="0" dirty="0" err="1">
                <a:solidFill>
                  <a:srgbClr val="001080"/>
                </a:solidFill>
                <a:effectLst/>
                <a:latin typeface="+mn-ea"/>
                <a:ea typeface="+mn-ea"/>
              </a:rPr>
              <a:t>wval</a:t>
            </a:r>
            <a:r>
              <a:rPr lang="en-US" altLang="zh-CN" sz="2400" b="0" i="0" dirty="0">
                <a:solidFill>
                  <a:srgbClr val="000000"/>
                </a:solidFill>
                <a:effectLst/>
                <a:latin typeface="+mn-ea"/>
                <a:ea typeface="+mn-ea"/>
              </a:rPr>
              <a:t> = </a:t>
            </a:r>
            <a:r>
              <a:rPr lang="en-US" altLang="zh-CN" sz="2400" b="0" i="0" dirty="0">
                <a:solidFill>
                  <a:srgbClr val="098658"/>
                </a:solidFill>
                <a:effectLst/>
                <a:latin typeface="+mn-ea"/>
                <a:ea typeface="+mn-ea"/>
              </a:rPr>
              <a:t>0</a:t>
            </a:r>
            <a:r>
              <a:rPr lang="en-US" altLang="zh-CN" sz="2400" b="0" i="0" dirty="0">
                <a:solidFill>
                  <a:srgbClr val="000000"/>
                </a:solidFill>
                <a:effectLst/>
                <a:latin typeface="+mn-ea"/>
                <a:ea typeface="+mn-ea"/>
              </a:rPr>
              <a:t>) : </a:t>
            </a:r>
            <a:r>
              <a:rPr lang="en-US" altLang="zh-CN" sz="2400" b="0" i="0" dirty="0">
                <a:solidFill>
                  <a:srgbClr val="001080"/>
                </a:solidFill>
                <a:effectLst/>
                <a:latin typeface="+mn-ea"/>
                <a:ea typeface="+mn-ea"/>
              </a:rPr>
              <a:t>data</a:t>
            </a:r>
            <a:r>
              <a:rPr lang="en-US" altLang="zh-CN" sz="2400" b="0" i="0" dirty="0">
                <a:solidFill>
                  <a:srgbClr val="000000"/>
                </a:solidFill>
                <a:effectLst/>
                <a:latin typeface="+mn-ea"/>
                <a:ea typeface="+mn-ea"/>
              </a:rPr>
              <a:t>(</a:t>
            </a:r>
            <a:r>
              <a:rPr lang="en-US" altLang="zh-CN" sz="2400" b="0" i="0" dirty="0">
                <a:solidFill>
                  <a:srgbClr val="001080"/>
                </a:solidFill>
                <a:effectLst/>
                <a:latin typeface="+mn-ea"/>
                <a:ea typeface="+mn-ea"/>
              </a:rPr>
              <a:t>e</a:t>
            </a:r>
            <a:r>
              <a:rPr lang="en-US" altLang="zh-CN" sz="2400" b="0" i="0" dirty="0">
                <a:solidFill>
                  <a:srgbClr val="000000"/>
                </a:solidFill>
                <a:effectLst/>
                <a:latin typeface="+mn-ea"/>
                <a:ea typeface="+mn-ea"/>
              </a:rPr>
              <a:t>), </a:t>
            </a:r>
            <a:r>
              <a:rPr lang="en-US" altLang="zh-CN" sz="2400" b="0" i="0" dirty="0">
                <a:solidFill>
                  <a:srgbClr val="001080"/>
                </a:solidFill>
                <a:effectLst/>
                <a:latin typeface="+mn-ea"/>
                <a:ea typeface="+mn-ea"/>
              </a:rPr>
              <a:t>w</a:t>
            </a:r>
            <a:r>
              <a:rPr lang="en-US" altLang="zh-CN" sz="2400" b="0" i="0" dirty="0">
                <a:solidFill>
                  <a:srgbClr val="000000"/>
                </a:solidFill>
                <a:effectLst/>
                <a:latin typeface="+mn-ea"/>
                <a:ea typeface="+mn-ea"/>
              </a:rPr>
              <a:t>(</a:t>
            </a:r>
            <a:r>
              <a:rPr lang="en-US" altLang="zh-CN" sz="2400" b="0" i="0" dirty="0" err="1">
                <a:solidFill>
                  <a:srgbClr val="001080"/>
                </a:solidFill>
                <a:effectLst/>
                <a:latin typeface="+mn-ea"/>
                <a:ea typeface="+mn-ea"/>
              </a:rPr>
              <a:t>wval</a:t>
            </a:r>
            <a:r>
              <a:rPr lang="en-US" altLang="zh-CN" sz="2400" b="0" i="0" dirty="0">
                <a:solidFill>
                  <a:srgbClr val="000000"/>
                </a:solidFill>
                <a:effectLst/>
                <a:latin typeface="+mn-ea"/>
                <a:ea typeface="+mn-ea"/>
              </a:rPr>
              <a:t>), </a:t>
            </a:r>
            <a:r>
              <a:rPr lang="en-US" altLang="zh-CN" sz="2400" b="0" i="0" dirty="0" err="1">
                <a:solidFill>
                  <a:srgbClr val="001080"/>
                </a:solidFill>
                <a:effectLst/>
                <a:latin typeface="+mn-ea"/>
                <a:ea typeface="+mn-ea"/>
              </a:rPr>
              <a:t>lchild</a:t>
            </a:r>
            <a:r>
              <a:rPr lang="en-US" altLang="zh-CN" sz="2400" b="0" i="0" dirty="0">
                <a:solidFill>
                  <a:srgbClr val="000000"/>
                </a:solidFill>
                <a:effectLst/>
                <a:latin typeface="+mn-ea"/>
                <a:ea typeface="+mn-ea"/>
              </a:rPr>
              <a:t>(-</a:t>
            </a:r>
            <a:r>
              <a:rPr lang="en-US" altLang="zh-CN" sz="2400" b="0" i="0" dirty="0">
                <a:solidFill>
                  <a:srgbClr val="098658"/>
                </a:solidFill>
                <a:effectLst/>
                <a:latin typeface="+mn-ea"/>
                <a:ea typeface="+mn-ea"/>
              </a:rPr>
              <a:t>1</a:t>
            </a:r>
            <a:r>
              <a:rPr lang="en-US" altLang="zh-CN" sz="2400" b="0" i="0" dirty="0">
                <a:solidFill>
                  <a:srgbClr val="000000"/>
                </a:solidFill>
                <a:effectLst/>
                <a:latin typeface="+mn-ea"/>
                <a:ea typeface="+mn-ea"/>
              </a:rPr>
              <a:t>), </a:t>
            </a:r>
            <a:r>
              <a:rPr lang="en-US" altLang="zh-CN" sz="2400" b="0" i="0" dirty="0" err="1">
                <a:solidFill>
                  <a:srgbClr val="001080"/>
                </a:solidFill>
                <a:effectLst/>
                <a:latin typeface="+mn-ea"/>
                <a:ea typeface="+mn-ea"/>
              </a:rPr>
              <a:t>rchild</a:t>
            </a:r>
            <a:r>
              <a:rPr lang="en-US" altLang="zh-CN" sz="2400" b="0" i="0" dirty="0">
                <a:solidFill>
                  <a:srgbClr val="000000"/>
                </a:solidFill>
                <a:effectLst/>
                <a:latin typeface="+mn-ea"/>
                <a:ea typeface="+mn-ea"/>
              </a:rPr>
              <a:t>(-</a:t>
            </a:r>
            <a:r>
              <a:rPr lang="en-US" altLang="zh-CN" sz="2400" b="0" i="0" dirty="0">
                <a:solidFill>
                  <a:srgbClr val="098658"/>
                </a:solidFill>
                <a:effectLst/>
                <a:latin typeface="+mn-ea"/>
                <a:ea typeface="+mn-ea"/>
              </a:rPr>
              <a:t>1</a:t>
            </a:r>
            <a:r>
              <a:rPr lang="en-US" altLang="zh-CN" sz="2400" b="0" i="0" dirty="0">
                <a:solidFill>
                  <a:srgbClr val="000000"/>
                </a:solidFill>
                <a:effectLst/>
                <a:latin typeface="+mn-ea"/>
                <a:ea typeface="+mn-ea"/>
              </a:rPr>
              <a:t>), </a:t>
            </a:r>
            <a:r>
              <a:rPr lang="en-US" altLang="zh-CN" sz="2400" b="0" i="0" dirty="0">
                <a:solidFill>
                  <a:srgbClr val="001080"/>
                </a:solidFill>
                <a:effectLst/>
                <a:latin typeface="+mn-ea"/>
                <a:ea typeface="+mn-ea"/>
              </a:rPr>
              <a:t>parent</a:t>
            </a:r>
            <a:r>
              <a:rPr lang="en-US" altLang="zh-CN" sz="2400" b="0" i="0" dirty="0">
                <a:solidFill>
                  <a:srgbClr val="000000"/>
                </a:solidFill>
                <a:effectLst/>
                <a:latin typeface="+mn-ea"/>
                <a:ea typeface="+mn-ea"/>
              </a:rPr>
              <a:t>(-</a:t>
            </a:r>
            <a:r>
              <a:rPr lang="en-US" altLang="zh-CN" sz="2400" b="0" i="0" dirty="0">
                <a:solidFill>
                  <a:srgbClr val="098658"/>
                </a:solidFill>
                <a:effectLst/>
                <a:latin typeface="+mn-ea"/>
                <a:ea typeface="+mn-ea"/>
              </a:rPr>
              <a:t>1</a:t>
            </a:r>
            <a:r>
              <a:rPr lang="en-US" altLang="zh-CN" sz="2400" b="0" i="0" dirty="0">
                <a:solidFill>
                  <a:srgbClr val="000000"/>
                </a:solidFill>
                <a:effectLst/>
                <a:latin typeface="+mn-ea"/>
                <a:ea typeface="+mn-ea"/>
              </a:rPr>
              <a:t>), </a:t>
            </a:r>
            <a:r>
              <a:rPr lang="en-US" altLang="zh-CN" sz="2400" b="0" i="0" dirty="0">
                <a:solidFill>
                  <a:srgbClr val="001080"/>
                </a:solidFill>
                <a:effectLst/>
                <a:latin typeface="+mn-ea"/>
                <a:ea typeface="+mn-ea"/>
              </a:rPr>
              <a:t>code</a:t>
            </a:r>
            <a:r>
              <a:rPr lang="en-US" altLang="zh-CN" sz="2400" b="0" i="0" dirty="0">
                <a:solidFill>
                  <a:srgbClr val="000000"/>
                </a:solidFill>
                <a:effectLst/>
                <a:latin typeface="+mn-ea"/>
                <a:ea typeface="+mn-ea"/>
              </a:rPr>
              <a:t>(</a:t>
            </a:r>
            <a:r>
              <a:rPr lang="en-US" altLang="zh-CN" sz="2400" b="0" i="0" dirty="0">
                <a:solidFill>
                  <a:srgbClr val="A31515"/>
                </a:solidFill>
                <a:effectLst/>
                <a:latin typeface="+mn-ea"/>
                <a:ea typeface="+mn-ea"/>
              </a:rPr>
              <a:t>""</a:t>
            </a:r>
            <a:r>
              <a:rPr lang="en-US" altLang="zh-CN" sz="2400" b="0" i="0" dirty="0">
                <a:solidFill>
                  <a:srgbClr val="000000"/>
                </a:solidFill>
                <a:effectLst/>
                <a:latin typeface="+mn-ea"/>
                <a:ea typeface="+mn-ea"/>
              </a:rPr>
              <a:t>) {};</a:t>
            </a:r>
          </a:p>
          <a:p>
            <a:r>
              <a:rPr lang="en-US" altLang="zh-CN" sz="2400" b="0" i="0" dirty="0">
                <a:solidFill>
                  <a:srgbClr val="000000"/>
                </a:solidFill>
                <a:effectLst/>
                <a:latin typeface="+mn-ea"/>
                <a:ea typeface="+mn-ea"/>
              </a:rPr>
              <a:t>} </a:t>
            </a:r>
            <a:r>
              <a:rPr lang="en-US" altLang="zh-CN" sz="2400" b="0" i="0" dirty="0" err="1">
                <a:solidFill>
                  <a:srgbClr val="267F99"/>
                </a:solidFill>
                <a:effectLst/>
                <a:latin typeface="+mn-ea"/>
                <a:ea typeface="+mn-ea"/>
              </a:rPr>
              <a:t>HuffmanTree</a:t>
            </a:r>
            <a:r>
              <a:rPr lang="en-US" altLang="zh-CN" sz="2400" b="0" i="0" dirty="0">
                <a:solidFill>
                  <a:srgbClr val="000000"/>
                </a:solidFill>
                <a:effectLst/>
                <a:latin typeface="+mn-ea"/>
                <a:ea typeface="+mn-ea"/>
              </a:rPr>
              <a:t>[200];</a:t>
            </a:r>
            <a:r>
              <a:rPr lang="en-US" altLang="zh-CN" sz="2400" b="0" i="0" dirty="0">
                <a:solidFill>
                  <a:srgbClr val="008000"/>
                </a:solidFill>
                <a:effectLst/>
                <a:latin typeface="+mn-ea"/>
                <a:ea typeface="+mn-ea"/>
              </a:rPr>
              <a:t>  // </a:t>
            </a:r>
            <a:r>
              <a:rPr lang="en-US" altLang="zh-CN" sz="2400" b="0" i="0" dirty="0" err="1">
                <a:solidFill>
                  <a:srgbClr val="008000"/>
                </a:solidFill>
                <a:effectLst/>
                <a:latin typeface="+mn-ea"/>
                <a:ea typeface="+mn-ea"/>
              </a:rPr>
              <a:t>HuffmanTree</a:t>
            </a:r>
            <a:r>
              <a:rPr lang="zh-CN" altLang="en-US" sz="2400" b="0" i="0" dirty="0">
                <a:solidFill>
                  <a:srgbClr val="008000"/>
                </a:solidFill>
                <a:effectLst/>
                <a:latin typeface="+mn-ea"/>
                <a:ea typeface="+mn-ea"/>
              </a:rPr>
              <a:t>类型，含</a:t>
            </a:r>
            <a:r>
              <a:rPr lang="en-US" altLang="zh-CN" sz="2400" b="0" i="0" dirty="0">
                <a:solidFill>
                  <a:srgbClr val="008000"/>
                </a:solidFill>
                <a:effectLst/>
                <a:latin typeface="+mn-ea"/>
                <a:ea typeface="+mn-ea"/>
              </a:rPr>
              <a:t>200</a:t>
            </a:r>
            <a:r>
              <a:rPr lang="zh-CN" altLang="en-US" sz="2400" b="0" i="0" dirty="0">
                <a:solidFill>
                  <a:srgbClr val="008000"/>
                </a:solidFill>
                <a:effectLst/>
                <a:latin typeface="+mn-ea"/>
                <a:ea typeface="+mn-ea"/>
              </a:rPr>
              <a:t>个结点</a:t>
            </a:r>
            <a:endParaRPr lang="zh-CN" altLang="en-US" sz="2400" b="0" i="0" dirty="0">
              <a:solidFill>
                <a:srgbClr val="000000"/>
              </a:solidFill>
              <a:effectLst/>
              <a:latin typeface="+mn-ea"/>
              <a:ea typeface="+mn-ea"/>
            </a:endParaRPr>
          </a:p>
        </p:txBody>
      </p:sp>
      <p:sp>
        <p:nvSpPr>
          <p:cNvPr id="3" name="Text Box 3">
            <a:extLst>
              <a:ext uri="{FF2B5EF4-FFF2-40B4-BE49-F238E27FC236}">
                <a16:creationId xmlns:a16="http://schemas.microsoft.com/office/drawing/2014/main" id="{291564B3-28B1-732D-C1CA-5595ECC1E94D}"/>
              </a:ext>
            </a:extLst>
          </p:cNvPr>
          <p:cNvSpPr txBox="1">
            <a:spLocks noChangeArrowheads="1"/>
          </p:cNvSpPr>
          <p:nvPr/>
        </p:nvSpPr>
        <p:spPr bwMode="auto">
          <a:xfrm>
            <a:off x="395536" y="188640"/>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en-US" altLang="zh-CN" sz="4400" i="0" dirty="0">
                <a:solidFill>
                  <a:schemeClr val="tx2"/>
                </a:solidFill>
                <a:ea typeface="隶书" pitchFamily="49" charset="-122"/>
              </a:rPr>
              <a:t>Huffman</a:t>
            </a:r>
            <a:r>
              <a:rPr lang="zh-CN" altLang="en-US" sz="4400" i="0" dirty="0">
                <a:solidFill>
                  <a:schemeClr val="tx2"/>
                </a:solidFill>
                <a:ea typeface="隶书" pitchFamily="49" charset="-122"/>
              </a:rPr>
              <a:t>树结点定义</a:t>
            </a:r>
          </a:p>
        </p:txBody>
      </p:sp>
    </p:spTree>
    <p:extLst>
      <p:ext uri="{BB962C8B-B14F-4D97-AF65-F5344CB8AC3E}">
        <p14:creationId xmlns:p14="http://schemas.microsoft.com/office/powerpoint/2010/main" val="2954242711"/>
      </p:ext>
    </p:extLst>
  </p:cSld>
  <p:clrMapOvr>
    <a:masterClrMapping/>
  </p:clrMapOvr>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9" name="Text Box 3">
            <a:extLst>
              <a:ext uri="{FF2B5EF4-FFF2-40B4-BE49-F238E27FC236}">
                <a16:creationId xmlns:a16="http://schemas.microsoft.com/office/drawing/2014/main" id="{2FB93148-8962-44BB-B336-66AC8FDE16C6}"/>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4051B027-E68B-4F0A-A658-D8CDA7945DB5}" type="slidenum">
              <a:rPr lang="zh-CN" altLang="en-US" sz="2400"/>
              <a:pPr algn="r" eaLnBrk="1" hangingPunct="1">
                <a:spcBef>
                  <a:spcPct val="50000"/>
                </a:spcBef>
                <a:buClrTx/>
                <a:buSzTx/>
                <a:buFont typeface="Arial" panose="020B0604020202020204" pitchFamily="34" charset="0"/>
                <a:buNone/>
              </a:pPr>
              <a:t>120</a:t>
            </a:fld>
            <a:endParaRPr lang="en-US" altLang="zh-CN" sz="2400"/>
          </a:p>
        </p:txBody>
      </p:sp>
      <p:sp>
        <p:nvSpPr>
          <p:cNvPr id="7" name="文本框 6">
            <a:extLst>
              <a:ext uri="{FF2B5EF4-FFF2-40B4-BE49-F238E27FC236}">
                <a16:creationId xmlns:a16="http://schemas.microsoft.com/office/drawing/2014/main" id="{6FF2BE6D-94D7-DB7A-AB96-E3DBAA283080}"/>
              </a:ext>
            </a:extLst>
          </p:cNvPr>
          <p:cNvSpPr txBox="1"/>
          <p:nvPr/>
        </p:nvSpPr>
        <p:spPr>
          <a:xfrm>
            <a:off x="611560" y="1340768"/>
            <a:ext cx="10225136" cy="954107"/>
          </a:xfrm>
          <a:prstGeom prst="rect">
            <a:avLst/>
          </a:prstGeom>
          <a:noFill/>
        </p:spPr>
        <p:txBody>
          <a:bodyPr wrap="square">
            <a:spAutoFit/>
          </a:bodyPr>
          <a:lstStyle/>
          <a:p>
            <a:r>
              <a:rPr lang="en-US" altLang="zh-CN" sz="2800" b="0" i="0" dirty="0">
                <a:solidFill>
                  <a:srgbClr val="008000"/>
                </a:solidFill>
                <a:effectLst/>
                <a:latin typeface="+mn-ea"/>
                <a:ea typeface="+mn-ea"/>
              </a:rPr>
              <a:t>//</a:t>
            </a:r>
            <a:r>
              <a:rPr lang="zh-CN" altLang="en-US" sz="2800" b="0" i="0" dirty="0">
                <a:solidFill>
                  <a:srgbClr val="008000"/>
                </a:solidFill>
                <a:effectLst/>
                <a:latin typeface="+mn-ea"/>
                <a:ea typeface="+mn-ea"/>
              </a:rPr>
              <a:t>哈夫曼</a:t>
            </a:r>
            <a:r>
              <a:rPr lang="zh-CN" altLang="en-US" sz="2800" b="0" i="0" dirty="0">
                <a:solidFill>
                  <a:srgbClr val="008000"/>
                </a:solidFill>
                <a:latin typeface="+mn-ea"/>
                <a:ea typeface="+mn-ea"/>
              </a:rPr>
              <a:t>树</a:t>
            </a:r>
            <a:endParaRPr lang="en-US" altLang="zh-CN" sz="2800" b="0" i="0" dirty="0">
              <a:solidFill>
                <a:srgbClr val="008000"/>
              </a:solidFill>
              <a:latin typeface="+mn-ea"/>
              <a:ea typeface="+mn-ea"/>
            </a:endParaRPr>
          </a:p>
          <a:p>
            <a:r>
              <a:rPr lang="en-US" altLang="zh-CN" sz="2800" b="0" i="0" dirty="0" err="1">
                <a:solidFill>
                  <a:srgbClr val="267F99"/>
                </a:solidFill>
                <a:effectLst/>
                <a:latin typeface="+mn-ea"/>
                <a:ea typeface="+mn-ea"/>
              </a:rPr>
              <a:t>HuffmanTree</a:t>
            </a:r>
            <a:r>
              <a:rPr lang="en-US" altLang="zh-CN" sz="2800" b="0" i="0" dirty="0">
                <a:solidFill>
                  <a:srgbClr val="000000"/>
                </a:solidFill>
                <a:effectLst/>
                <a:latin typeface="+mn-ea"/>
                <a:ea typeface="+mn-ea"/>
              </a:rPr>
              <a:t> </a:t>
            </a:r>
            <a:r>
              <a:rPr lang="en-US" altLang="zh-CN" sz="2800" b="0" i="0" dirty="0">
                <a:solidFill>
                  <a:srgbClr val="001080"/>
                </a:solidFill>
                <a:effectLst/>
                <a:latin typeface="+mn-ea"/>
                <a:ea typeface="+mn-ea"/>
              </a:rPr>
              <a:t>HT</a:t>
            </a:r>
            <a:r>
              <a:rPr lang="en-US" altLang="zh-CN" sz="2800" b="0" i="0" dirty="0">
                <a:solidFill>
                  <a:srgbClr val="000000"/>
                </a:solidFill>
                <a:effectLst/>
                <a:latin typeface="+mn-ea"/>
                <a:ea typeface="+mn-ea"/>
              </a:rPr>
              <a:t>;</a:t>
            </a:r>
            <a:r>
              <a:rPr lang="en-US" altLang="zh-CN" sz="2800" b="0" i="0" dirty="0">
                <a:solidFill>
                  <a:srgbClr val="008000"/>
                </a:solidFill>
                <a:effectLst/>
                <a:latin typeface="+mn-ea"/>
                <a:ea typeface="+mn-ea"/>
              </a:rPr>
              <a:t> // </a:t>
            </a:r>
            <a:r>
              <a:rPr lang="zh-CN" altLang="en-US" sz="2800" b="0" i="0" dirty="0">
                <a:solidFill>
                  <a:srgbClr val="008000"/>
                </a:solidFill>
                <a:effectLst/>
                <a:latin typeface="+mn-ea"/>
                <a:ea typeface="+mn-ea"/>
              </a:rPr>
              <a:t>数组，</a:t>
            </a:r>
            <a:r>
              <a:rPr lang="en-US" altLang="zh-CN" sz="2800" b="0" i="0" dirty="0">
                <a:solidFill>
                  <a:srgbClr val="008000"/>
                </a:solidFill>
                <a:effectLst/>
                <a:latin typeface="+mn-ea"/>
                <a:ea typeface="+mn-ea"/>
              </a:rPr>
              <a:t>200</a:t>
            </a:r>
            <a:r>
              <a:rPr lang="zh-CN" altLang="en-US" sz="2800" b="0" i="0" dirty="0">
                <a:solidFill>
                  <a:srgbClr val="008000"/>
                </a:solidFill>
                <a:effectLst/>
                <a:latin typeface="+mn-ea"/>
                <a:ea typeface="+mn-ea"/>
              </a:rPr>
              <a:t>个元素，</a:t>
            </a:r>
            <a:r>
              <a:rPr lang="en-US" altLang="zh-CN" sz="2800" b="0" i="0" dirty="0">
                <a:solidFill>
                  <a:srgbClr val="008000"/>
                </a:solidFill>
                <a:effectLst/>
                <a:latin typeface="+mn-ea"/>
                <a:ea typeface="+mn-ea"/>
              </a:rPr>
              <a:t>2*n-1</a:t>
            </a:r>
            <a:r>
              <a:rPr lang="zh-CN" altLang="en-US" sz="2800" b="0" i="0" dirty="0">
                <a:solidFill>
                  <a:srgbClr val="008000"/>
                </a:solidFill>
                <a:effectLst/>
                <a:latin typeface="+mn-ea"/>
                <a:ea typeface="+mn-ea"/>
              </a:rPr>
              <a:t>大小即可</a:t>
            </a:r>
            <a:endParaRPr lang="en-US" altLang="zh-CN" sz="2800" b="0" i="0" dirty="0">
              <a:solidFill>
                <a:srgbClr val="008000"/>
              </a:solidFill>
              <a:latin typeface="+mn-ea"/>
              <a:ea typeface="+mn-ea"/>
            </a:endParaRPr>
          </a:p>
        </p:txBody>
      </p:sp>
      <p:sp>
        <p:nvSpPr>
          <p:cNvPr id="3" name="Text Box 3">
            <a:extLst>
              <a:ext uri="{FF2B5EF4-FFF2-40B4-BE49-F238E27FC236}">
                <a16:creationId xmlns:a16="http://schemas.microsoft.com/office/drawing/2014/main" id="{26216075-E345-D5F1-0C55-2F696577FFEE}"/>
              </a:ext>
            </a:extLst>
          </p:cNvPr>
          <p:cNvSpPr txBox="1">
            <a:spLocks noChangeArrowheads="1"/>
          </p:cNvSpPr>
          <p:nvPr/>
        </p:nvSpPr>
        <p:spPr bwMode="auto">
          <a:xfrm>
            <a:off x="395536" y="188640"/>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en-US" altLang="zh-CN" sz="4400" i="0" dirty="0">
                <a:solidFill>
                  <a:schemeClr val="tx2"/>
                </a:solidFill>
                <a:ea typeface="隶书" pitchFamily="49" charset="-122"/>
              </a:rPr>
              <a:t>Huffman</a:t>
            </a:r>
            <a:r>
              <a:rPr lang="zh-CN" altLang="en-US" sz="4400" i="0" dirty="0">
                <a:solidFill>
                  <a:schemeClr val="tx2"/>
                </a:solidFill>
                <a:ea typeface="隶书" pitchFamily="49" charset="-122"/>
              </a:rPr>
              <a:t>树定义及操作</a:t>
            </a:r>
          </a:p>
        </p:txBody>
      </p:sp>
      <p:sp>
        <p:nvSpPr>
          <p:cNvPr id="4" name="文本框 3">
            <a:extLst>
              <a:ext uri="{FF2B5EF4-FFF2-40B4-BE49-F238E27FC236}">
                <a16:creationId xmlns:a16="http://schemas.microsoft.com/office/drawing/2014/main" id="{66819266-45CE-CA34-EE45-4817EDA7B602}"/>
              </a:ext>
            </a:extLst>
          </p:cNvPr>
          <p:cNvSpPr txBox="1"/>
          <p:nvPr/>
        </p:nvSpPr>
        <p:spPr>
          <a:xfrm>
            <a:off x="611560" y="2749279"/>
            <a:ext cx="8532440" cy="523220"/>
          </a:xfrm>
          <a:prstGeom prst="rect">
            <a:avLst/>
          </a:prstGeom>
          <a:noFill/>
        </p:spPr>
        <p:txBody>
          <a:bodyPr wrap="square">
            <a:spAutoFit/>
          </a:bodyPr>
          <a:lstStyle/>
          <a:p>
            <a:r>
              <a:rPr lang="en-US" altLang="zh-CN" sz="2800" b="0" i="0" dirty="0" err="1">
                <a:solidFill>
                  <a:srgbClr val="795E26"/>
                </a:solidFill>
                <a:effectLst/>
                <a:latin typeface="+mn-ea"/>
                <a:ea typeface="+mn-ea"/>
              </a:rPr>
              <a:t>init</a:t>
            </a:r>
            <a:r>
              <a:rPr lang="en-US" altLang="zh-CN" sz="2800" b="0" i="0" dirty="0">
                <a:solidFill>
                  <a:srgbClr val="000000"/>
                </a:solidFill>
                <a:effectLst/>
                <a:latin typeface="+mn-ea"/>
                <a:ea typeface="+mn-ea"/>
              </a:rPr>
              <a:t>(</a:t>
            </a:r>
            <a:r>
              <a:rPr lang="en-US" altLang="zh-CN" sz="2800" b="0" i="0" dirty="0">
                <a:solidFill>
                  <a:srgbClr val="001080"/>
                </a:solidFill>
                <a:effectLst/>
                <a:latin typeface="+mn-ea"/>
                <a:ea typeface="+mn-ea"/>
              </a:rPr>
              <a:t>HT</a:t>
            </a:r>
            <a:r>
              <a:rPr lang="en-US" altLang="zh-CN" sz="2800" b="0" i="0" dirty="0">
                <a:solidFill>
                  <a:srgbClr val="000000"/>
                </a:solidFill>
                <a:effectLst/>
                <a:latin typeface="+mn-ea"/>
                <a:ea typeface="+mn-ea"/>
              </a:rPr>
              <a:t>, </a:t>
            </a:r>
            <a:r>
              <a:rPr lang="en-US" altLang="zh-CN" sz="2800" b="0" i="0" dirty="0">
                <a:solidFill>
                  <a:srgbClr val="001080"/>
                </a:solidFill>
                <a:effectLst/>
                <a:latin typeface="+mn-ea"/>
                <a:ea typeface="+mn-ea"/>
              </a:rPr>
              <a:t>n</a:t>
            </a:r>
            <a:r>
              <a:rPr lang="en-US" altLang="zh-CN" sz="2800" b="0" i="0" dirty="0">
                <a:solidFill>
                  <a:srgbClr val="000000"/>
                </a:solidFill>
                <a:effectLst/>
                <a:latin typeface="+mn-ea"/>
                <a:ea typeface="+mn-ea"/>
              </a:rPr>
              <a:t>); </a:t>
            </a:r>
            <a:r>
              <a:rPr lang="en-US" altLang="zh-CN" sz="2800" b="0" i="0" dirty="0">
                <a:solidFill>
                  <a:srgbClr val="008000"/>
                </a:solidFill>
                <a:latin typeface="+mn-ea"/>
                <a:ea typeface="+mn-ea"/>
              </a:rPr>
              <a:t>//</a:t>
            </a:r>
            <a:r>
              <a:rPr lang="zh-CN" altLang="en-US" sz="2800" b="0" i="0" dirty="0">
                <a:solidFill>
                  <a:srgbClr val="008000"/>
                </a:solidFill>
                <a:latin typeface="+mn-ea"/>
                <a:ea typeface="+mn-ea"/>
              </a:rPr>
              <a:t>完成</a:t>
            </a:r>
            <a:r>
              <a:rPr lang="en-US" altLang="zh-CN" sz="2800" b="0" i="0" dirty="0">
                <a:solidFill>
                  <a:srgbClr val="008000"/>
                </a:solidFill>
                <a:latin typeface="+mn-ea"/>
                <a:ea typeface="+mn-ea"/>
              </a:rPr>
              <a:t>n</a:t>
            </a:r>
            <a:r>
              <a:rPr lang="zh-CN" altLang="en-US" sz="2800" b="0" i="0" dirty="0">
                <a:solidFill>
                  <a:srgbClr val="008000"/>
                </a:solidFill>
                <a:latin typeface="+mn-ea"/>
                <a:ea typeface="+mn-ea"/>
              </a:rPr>
              <a:t>个叶子结点及权重设置</a:t>
            </a:r>
            <a:r>
              <a:rPr lang="zh-CN" altLang="en-US" sz="2800" b="0" i="0" dirty="0">
                <a:solidFill>
                  <a:srgbClr val="000000"/>
                </a:solidFill>
                <a:effectLst/>
                <a:latin typeface="+mn-ea"/>
                <a:ea typeface="+mn-ea"/>
              </a:rPr>
              <a:t>。</a:t>
            </a:r>
            <a:endParaRPr lang="en-US" altLang="zh-CN" sz="2800" b="0" i="0" dirty="0">
              <a:solidFill>
                <a:srgbClr val="000000"/>
              </a:solidFill>
              <a:effectLst/>
              <a:latin typeface="+mn-ea"/>
              <a:ea typeface="+mn-ea"/>
            </a:endParaRPr>
          </a:p>
        </p:txBody>
      </p:sp>
    </p:spTree>
    <p:extLst>
      <p:ext uri="{BB962C8B-B14F-4D97-AF65-F5344CB8AC3E}">
        <p14:creationId xmlns:p14="http://schemas.microsoft.com/office/powerpoint/2010/main" val="3435016820"/>
      </p:ext>
    </p:extLst>
  </p:cSld>
  <p:clrMapOvr>
    <a:masterClrMapping/>
  </p:clrMapOvr>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
            <a:extLst>
              <a:ext uri="{FF2B5EF4-FFF2-40B4-BE49-F238E27FC236}">
                <a16:creationId xmlns:a16="http://schemas.microsoft.com/office/drawing/2014/main" id="{00469585-5D31-4587-9170-CD9D98BC75CC}"/>
              </a:ext>
            </a:extLst>
          </p:cNvPr>
          <p:cNvSpPr txBox="1">
            <a:spLocks noChangeArrowheads="1"/>
          </p:cNvSpPr>
          <p:nvPr/>
        </p:nvSpPr>
        <p:spPr bwMode="auto">
          <a:xfrm>
            <a:off x="395536" y="188640"/>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赫夫曼树构建实现</a:t>
            </a:r>
          </a:p>
        </p:txBody>
      </p:sp>
      <p:sp>
        <p:nvSpPr>
          <p:cNvPr id="17" name="文本框 16">
            <a:extLst>
              <a:ext uri="{FF2B5EF4-FFF2-40B4-BE49-F238E27FC236}">
                <a16:creationId xmlns:a16="http://schemas.microsoft.com/office/drawing/2014/main" id="{C03F209E-9532-EC2C-D7C7-2C1F58376309}"/>
              </a:ext>
            </a:extLst>
          </p:cNvPr>
          <p:cNvSpPr txBox="1"/>
          <p:nvPr/>
        </p:nvSpPr>
        <p:spPr>
          <a:xfrm>
            <a:off x="657292" y="1106283"/>
            <a:ext cx="4572000" cy="523220"/>
          </a:xfrm>
          <a:prstGeom prst="rect">
            <a:avLst/>
          </a:prstGeom>
          <a:noFill/>
        </p:spPr>
        <p:txBody>
          <a:bodyPr wrap="square">
            <a:spAutoFit/>
          </a:bodyPr>
          <a:lstStyle/>
          <a:p>
            <a:r>
              <a:rPr lang="en-US" altLang="zh-CN" sz="2800" b="0" i="0" dirty="0">
                <a:solidFill>
                  <a:srgbClr val="008000"/>
                </a:solidFill>
                <a:effectLst/>
                <a:latin typeface="+mn-ea"/>
                <a:ea typeface="+mn-ea"/>
              </a:rPr>
              <a:t>//</a:t>
            </a:r>
            <a:r>
              <a:rPr lang="zh-CN" altLang="en-US" sz="2800" b="0" i="0" dirty="0">
                <a:solidFill>
                  <a:srgbClr val="008000"/>
                </a:solidFill>
                <a:effectLst/>
                <a:latin typeface="+mn-ea"/>
                <a:ea typeface="+mn-ea"/>
              </a:rPr>
              <a:t>哈夫曼</a:t>
            </a:r>
            <a:r>
              <a:rPr lang="zh-CN" altLang="en-US" sz="2800" b="0" i="0" dirty="0">
                <a:solidFill>
                  <a:srgbClr val="008000"/>
                </a:solidFill>
                <a:latin typeface="+mn-ea"/>
                <a:ea typeface="+mn-ea"/>
              </a:rPr>
              <a:t>树创建及编码</a:t>
            </a:r>
            <a:endParaRPr lang="en-US" altLang="zh-CN" sz="2800" b="0" i="0" dirty="0">
              <a:solidFill>
                <a:srgbClr val="008000"/>
              </a:solidFill>
              <a:latin typeface="+mn-ea"/>
              <a:ea typeface="+mn-ea"/>
            </a:endParaRPr>
          </a:p>
        </p:txBody>
      </p:sp>
      <p:sp>
        <p:nvSpPr>
          <p:cNvPr id="4" name="文本框 3">
            <a:extLst>
              <a:ext uri="{FF2B5EF4-FFF2-40B4-BE49-F238E27FC236}">
                <a16:creationId xmlns:a16="http://schemas.microsoft.com/office/drawing/2014/main" id="{61869E35-9DE4-3A36-F68B-9F7DD812861D}"/>
              </a:ext>
            </a:extLst>
          </p:cNvPr>
          <p:cNvSpPr txBox="1"/>
          <p:nvPr/>
        </p:nvSpPr>
        <p:spPr>
          <a:xfrm>
            <a:off x="657292" y="1613816"/>
            <a:ext cx="8955268" cy="4524315"/>
          </a:xfrm>
          <a:prstGeom prst="rect">
            <a:avLst/>
          </a:prstGeom>
          <a:noFill/>
        </p:spPr>
        <p:txBody>
          <a:bodyPr wrap="square">
            <a:spAutoFit/>
          </a:bodyPr>
          <a:lstStyle/>
          <a:p>
            <a:r>
              <a:rPr lang="en-US" altLang="zh-CN" sz="2400" b="0" i="0" dirty="0">
                <a:solidFill>
                  <a:srgbClr val="0000FF"/>
                </a:solidFill>
                <a:effectLst/>
                <a:latin typeface="+mn-ea"/>
                <a:ea typeface="+mn-ea"/>
              </a:rPr>
              <a:t>void</a:t>
            </a:r>
            <a:r>
              <a:rPr lang="en-US" altLang="zh-CN" sz="2400" b="0" i="0" dirty="0">
                <a:solidFill>
                  <a:srgbClr val="000000"/>
                </a:solidFill>
                <a:effectLst/>
                <a:latin typeface="+mn-ea"/>
                <a:ea typeface="+mn-ea"/>
              </a:rPr>
              <a:t> </a:t>
            </a:r>
            <a:r>
              <a:rPr lang="en-US" altLang="zh-CN" sz="2400" b="0" i="0" dirty="0" err="1">
                <a:solidFill>
                  <a:srgbClr val="795E26"/>
                </a:solidFill>
                <a:effectLst/>
                <a:latin typeface="+mn-ea"/>
                <a:ea typeface="+mn-ea"/>
              </a:rPr>
              <a:t>maketree</a:t>
            </a:r>
            <a:r>
              <a:rPr lang="en-US" altLang="zh-CN" sz="2400" b="0" i="0" dirty="0">
                <a:solidFill>
                  <a:srgbClr val="000000"/>
                </a:solidFill>
                <a:effectLst/>
                <a:latin typeface="+mn-ea"/>
                <a:ea typeface="+mn-ea"/>
              </a:rPr>
              <a:t>(</a:t>
            </a:r>
            <a:r>
              <a:rPr lang="en-US" altLang="zh-CN" sz="2400" b="0" i="0" dirty="0" err="1">
                <a:solidFill>
                  <a:srgbClr val="267F99"/>
                </a:solidFill>
                <a:effectLst/>
                <a:latin typeface="+mn-ea"/>
                <a:ea typeface="+mn-ea"/>
              </a:rPr>
              <a:t>HuffmanTree</a:t>
            </a:r>
            <a:r>
              <a:rPr lang="en-US" altLang="zh-CN" sz="2400" b="0" i="0" dirty="0">
                <a:solidFill>
                  <a:srgbClr val="000000"/>
                </a:solidFill>
                <a:effectLst/>
                <a:latin typeface="+mn-ea"/>
                <a:ea typeface="+mn-ea"/>
              </a:rPr>
              <a:t> </a:t>
            </a:r>
            <a:r>
              <a:rPr lang="en-US" altLang="zh-CN" sz="2400" b="0" i="0" dirty="0" err="1">
                <a:solidFill>
                  <a:srgbClr val="001080"/>
                </a:solidFill>
                <a:effectLst/>
                <a:latin typeface="+mn-ea"/>
                <a:ea typeface="+mn-ea"/>
              </a:rPr>
              <a:t>T</a:t>
            </a:r>
            <a:r>
              <a:rPr lang="en-US" altLang="zh-CN" sz="2400" b="0" i="0" dirty="0" err="1">
                <a:solidFill>
                  <a:srgbClr val="000000"/>
                </a:solidFill>
                <a:effectLst/>
                <a:latin typeface="+mn-ea"/>
                <a:ea typeface="+mn-ea"/>
              </a:rPr>
              <a:t>,</a:t>
            </a:r>
            <a:r>
              <a:rPr lang="en-US" altLang="zh-CN" sz="2400" b="0" i="0" dirty="0" err="1">
                <a:solidFill>
                  <a:srgbClr val="0000FF"/>
                </a:solidFill>
                <a:effectLst/>
                <a:latin typeface="+mn-ea"/>
                <a:ea typeface="+mn-ea"/>
              </a:rPr>
              <a:t>int</a:t>
            </a:r>
            <a:r>
              <a:rPr lang="en-US" altLang="zh-CN" sz="2400" b="0" i="0" dirty="0">
                <a:solidFill>
                  <a:srgbClr val="000000"/>
                </a:solidFill>
                <a:effectLst/>
                <a:latin typeface="+mn-ea"/>
                <a:ea typeface="+mn-ea"/>
              </a:rPr>
              <a:t> </a:t>
            </a:r>
            <a:r>
              <a:rPr lang="en-US" altLang="zh-CN" sz="2400" b="0" i="0" dirty="0">
                <a:solidFill>
                  <a:srgbClr val="001080"/>
                </a:solidFill>
                <a:effectLst/>
                <a:latin typeface="+mn-ea"/>
                <a:ea typeface="+mn-ea"/>
              </a:rPr>
              <a:t>n</a:t>
            </a:r>
            <a:r>
              <a:rPr lang="en-US" altLang="zh-CN" sz="2400" b="0" i="0" dirty="0">
                <a:solidFill>
                  <a:srgbClr val="000000"/>
                </a:solidFill>
                <a:effectLst/>
                <a:latin typeface="+mn-ea"/>
                <a:ea typeface="+mn-ea"/>
              </a:rPr>
              <a:t>)</a:t>
            </a:r>
          </a:p>
          <a:p>
            <a:r>
              <a:rPr lang="en-US" altLang="zh-CN" sz="2400" b="0" i="0" dirty="0">
                <a:solidFill>
                  <a:srgbClr val="000000"/>
                </a:solidFill>
                <a:effectLst/>
                <a:latin typeface="+mn-ea"/>
                <a:ea typeface="+mn-ea"/>
              </a:rPr>
              <a:t>{</a:t>
            </a:r>
          </a:p>
          <a:p>
            <a:r>
              <a:rPr lang="en-US" altLang="zh-CN" sz="2400" b="0" i="0" dirty="0">
                <a:solidFill>
                  <a:srgbClr val="000000"/>
                </a:solidFill>
                <a:effectLst/>
                <a:latin typeface="+mn-ea"/>
                <a:ea typeface="+mn-ea"/>
              </a:rPr>
              <a:t>    </a:t>
            </a:r>
            <a:r>
              <a:rPr lang="en-US" altLang="zh-CN" sz="2400" b="0" i="0" dirty="0">
                <a:solidFill>
                  <a:srgbClr val="0000FF"/>
                </a:solidFill>
                <a:effectLst/>
                <a:latin typeface="+mn-ea"/>
                <a:ea typeface="+mn-ea"/>
              </a:rPr>
              <a:t>int</a:t>
            </a:r>
            <a:r>
              <a:rPr lang="en-US" altLang="zh-CN" sz="2400" b="0" i="0" dirty="0">
                <a:solidFill>
                  <a:srgbClr val="000000"/>
                </a:solidFill>
                <a:effectLst/>
                <a:latin typeface="+mn-ea"/>
                <a:ea typeface="+mn-ea"/>
              </a:rPr>
              <a:t> </a:t>
            </a:r>
            <a:r>
              <a:rPr lang="en-US" altLang="zh-CN" sz="2400" b="0" i="0" dirty="0">
                <a:solidFill>
                  <a:srgbClr val="001080"/>
                </a:solidFill>
                <a:latin typeface="+mn-ea"/>
                <a:ea typeface="+mn-ea"/>
              </a:rPr>
              <a:t>s1</a:t>
            </a:r>
            <a:r>
              <a:rPr lang="en-US" altLang="zh-CN" sz="2400" b="0" i="0" dirty="0">
                <a:solidFill>
                  <a:srgbClr val="000000"/>
                </a:solidFill>
                <a:effectLst/>
                <a:latin typeface="+mn-ea"/>
                <a:ea typeface="+mn-ea"/>
              </a:rPr>
              <a:t>, s2;</a:t>
            </a:r>
          </a:p>
          <a:p>
            <a:r>
              <a:rPr lang="en-US" altLang="zh-CN" sz="2400" b="0" i="0" dirty="0">
                <a:solidFill>
                  <a:srgbClr val="000000"/>
                </a:solidFill>
                <a:effectLst/>
                <a:latin typeface="+mn-ea"/>
                <a:ea typeface="+mn-ea"/>
              </a:rPr>
              <a:t>    </a:t>
            </a:r>
            <a:r>
              <a:rPr lang="en-US" altLang="zh-CN" sz="2400" b="0" i="0" dirty="0">
                <a:solidFill>
                  <a:srgbClr val="AF00DB"/>
                </a:solidFill>
                <a:effectLst/>
                <a:latin typeface="+mn-ea"/>
                <a:ea typeface="+mn-ea"/>
              </a:rPr>
              <a:t>for</a:t>
            </a:r>
            <a:r>
              <a:rPr lang="en-US" altLang="zh-CN" sz="2400" b="0" i="0" dirty="0">
                <a:solidFill>
                  <a:srgbClr val="000000"/>
                </a:solidFill>
                <a:effectLst/>
                <a:latin typeface="+mn-ea"/>
                <a:ea typeface="+mn-ea"/>
              </a:rPr>
              <a:t>(</a:t>
            </a:r>
            <a:r>
              <a:rPr lang="en-US" altLang="zh-CN" sz="2400" b="0" i="0" dirty="0">
                <a:solidFill>
                  <a:srgbClr val="0000FF"/>
                </a:solidFill>
                <a:effectLst/>
                <a:latin typeface="+mn-ea"/>
                <a:ea typeface="+mn-ea"/>
              </a:rPr>
              <a:t>int</a:t>
            </a:r>
            <a:r>
              <a:rPr lang="en-US" altLang="zh-CN" sz="2400" b="0" i="0" dirty="0">
                <a:solidFill>
                  <a:srgbClr val="000000"/>
                </a:solidFill>
                <a:effectLst/>
                <a:latin typeface="+mn-ea"/>
                <a:ea typeface="+mn-ea"/>
              </a:rPr>
              <a:t> </a:t>
            </a:r>
            <a:r>
              <a:rPr lang="en-US" altLang="zh-CN" sz="2400" b="0" i="0" dirty="0" err="1">
                <a:solidFill>
                  <a:srgbClr val="001080"/>
                </a:solidFill>
                <a:effectLst/>
                <a:latin typeface="+mn-ea"/>
                <a:ea typeface="+mn-ea"/>
              </a:rPr>
              <a:t>i</a:t>
            </a:r>
            <a:r>
              <a:rPr lang="en-US" altLang="zh-CN" sz="2400" b="0" i="0" dirty="0">
                <a:solidFill>
                  <a:srgbClr val="000000"/>
                </a:solidFill>
                <a:effectLst/>
                <a:latin typeface="+mn-ea"/>
                <a:ea typeface="+mn-ea"/>
              </a:rPr>
              <a:t>=</a:t>
            </a:r>
            <a:r>
              <a:rPr lang="en-US" altLang="zh-CN" sz="2400" b="0" i="0" dirty="0">
                <a:solidFill>
                  <a:srgbClr val="001080"/>
                </a:solidFill>
                <a:effectLst/>
                <a:latin typeface="+mn-ea"/>
                <a:ea typeface="+mn-ea"/>
              </a:rPr>
              <a:t>n</a:t>
            </a:r>
            <a:r>
              <a:rPr lang="en-US" altLang="zh-CN" sz="2400" b="0" i="0" dirty="0">
                <a:solidFill>
                  <a:srgbClr val="000000"/>
                </a:solidFill>
                <a:effectLst/>
                <a:latin typeface="+mn-ea"/>
                <a:ea typeface="+mn-ea"/>
              </a:rPr>
              <a:t>; </a:t>
            </a:r>
            <a:r>
              <a:rPr lang="en-US" altLang="zh-CN" sz="2400" b="0" i="0" dirty="0" err="1">
                <a:solidFill>
                  <a:srgbClr val="001080"/>
                </a:solidFill>
                <a:effectLst/>
                <a:latin typeface="+mn-ea"/>
                <a:ea typeface="+mn-ea"/>
              </a:rPr>
              <a:t>i</a:t>
            </a:r>
            <a:r>
              <a:rPr lang="en-US" altLang="zh-CN" sz="2400" b="0" i="0" dirty="0">
                <a:solidFill>
                  <a:srgbClr val="000000"/>
                </a:solidFill>
                <a:effectLst/>
                <a:latin typeface="+mn-ea"/>
                <a:ea typeface="+mn-ea"/>
              </a:rPr>
              <a:t>&lt;</a:t>
            </a:r>
            <a:r>
              <a:rPr lang="en-US" altLang="zh-CN" sz="2400" b="0" i="0" dirty="0">
                <a:solidFill>
                  <a:srgbClr val="098658"/>
                </a:solidFill>
                <a:effectLst/>
                <a:latin typeface="+mn-ea"/>
                <a:ea typeface="+mn-ea"/>
              </a:rPr>
              <a:t>2</a:t>
            </a:r>
            <a:r>
              <a:rPr lang="en-US" altLang="zh-CN" sz="2400" b="0" i="0" dirty="0">
                <a:solidFill>
                  <a:srgbClr val="000000"/>
                </a:solidFill>
                <a:effectLst/>
                <a:latin typeface="+mn-ea"/>
                <a:ea typeface="+mn-ea"/>
              </a:rPr>
              <a:t>*</a:t>
            </a:r>
            <a:r>
              <a:rPr lang="en-US" altLang="zh-CN" sz="2400" b="0" i="0" dirty="0">
                <a:solidFill>
                  <a:srgbClr val="001080"/>
                </a:solidFill>
                <a:effectLst/>
                <a:latin typeface="+mn-ea"/>
                <a:ea typeface="+mn-ea"/>
              </a:rPr>
              <a:t>n</a:t>
            </a:r>
            <a:r>
              <a:rPr lang="en-US" altLang="zh-CN" sz="2400" b="0" i="0" dirty="0">
                <a:solidFill>
                  <a:srgbClr val="000000"/>
                </a:solidFill>
                <a:effectLst/>
                <a:latin typeface="+mn-ea"/>
                <a:ea typeface="+mn-ea"/>
              </a:rPr>
              <a:t>-</a:t>
            </a:r>
            <a:r>
              <a:rPr lang="en-US" altLang="zh-CN" sz="2400" b="0" i="0" dirty="0">
                <a:solidFill>
                  <a:srgbClr val="098658"/>
                </a:solidFill>
                <a:effectLst/>
                <a:latin typeface="+mn-ea"/>
                <a:ea typeface="+mn-ea"/>
              </a:rPr>
              <a:t>1</a:t>
            </a:r>
            <a:r>
              <a:rPr lang="en-US" altLang="zh-CN" sz="2400" b="0" i="0" dirty="0">
                <a:solidFill>
                  <a:srgbClr val="000000"/>
                </a:solidFill>
                <a:effectLst/>
                <a:latin typeface="+mn-ea"/>
                <a:ea typeface="+mn-ea"/>
              </a:rPr>
              <a:t>; </a:t>
            </a:r>
            <a:r>
              <a:rPr lang="en-US" altLang="zh-CN" sz="2400" b="0" i="0" dirty="0" err="1">
                <a:solidFill>
                  <a:srgbClr val="001080"/>
                </a:solidFill>
                <a:effectLst/>
                <a:latin typeface="+mn-ea"/>
                <a:ea typeface="+mn-ea"/>
              </a:rPr>
              <a:t>i</a:t>
            </a:r>
            <a:r>
              <a:rPr lang="en-US" altLang="zh-CN" sz="2400" b="0" i="0" dirty="0">
                <a:solidFill>
                  <a:srgbClr val="000000"/>
                </a:solidFill>
                <a:effectLst/>
                <a:latin typeface="+mn-ea"/>
                <a:ea typeface="+mn-ea"/>
              </a:rPr>
              <a:t>++)</a:t>
            </a:r>
            <a:r>
              <a:rPr lang="en-US" altLang="zh-CN" sz="2400" b="0" i="0" dirty="0">
                <a:solidFill>
                  <a:srgbClr val="008000"/>
                </a:solidFill>
                <a:effectLst/>
                <a:latin typeface="+mn-ea"/>
                <a:ea typeface="+mn-ea"/>
              </a:rPr>
              <a:t>   // </a:t>
            </a:r>
            <a:r>
              <a:rPr lang="zh-CN" altLang="en-US" sz="2400" b="0" i="0" dirty="0">
                <a:solidFill>
                  <a:srgbClr val="008000"/>
                </a:solidFill>
                <a:effectLst/>
                <a:latin typeface="+mn-ea"/>
                <a:ea typeface="+mn-ea"/>
              </a:rPr>
              <a:t>设置</a:t>
            </a:r>
            <a:r>
              <a:rPr lang="en-US" altLang="zh-CN" sz="2400" b="0" i="0" dirty="0">
                <a:solidFill>
                  <a:srgbClr val="008000"/>
                </a:solidFill>
                <a:effectLst/>
                <a:latin typeface="+mn-ea"/>
                <a:ea typeface="+mn-ea"/>
              </a:rPr>
              <a:t>n</a:t>
            </a:r>
            <a:r>
              <a:rPr lang="zh-CN" altLang="en-US" sz="2400" b="0" i="0" dirty="0">
                <a:solidFill>
                  <a:srgbClr val="008000"/>
                </a:solidFill>
                <a:effectLst/>
                <a:latin typeface="+mn-ea"/>
                <a:ea typeface="+mn-ea"/>
              </a:rPr>
              <a:t>到</a:t>
            </a:r>
            <a:r>
              <a:rPr lang="en-US" altLang="zh-CN" sz="2400" b="0" i="0" dirty="0">
                <a:solidFill>
                  <a:srgbClr val="008000"/>
                </a:solidFill>
                <a:effectLst/>
                <a:latin typeface="+mn-ea"/>
                <a:ea typeface="+mn-ea"/>
              </a:rPr>
              <a:t>2*n-2</a:t>
            </a:r>
            <a:r>
              <a:rPr lang="zh-CN" altLang="en-US" sz="2400" b="0" i="0" dirty="0">
                <a:solidFill>
                  <a:srgbClr val="008000"/>
                </a:solidFill>
                <a:effectLst/>
                <a:latin typeface="+mn-ea"/>
                <a:ea typeface="+mn-ea"/>
              </a:rPr>
              <a:t>的结点值</a:t>
            </a:r>
            <a:endParaRPr lang="zh-CN" altLang="en-US" sz="2400" b="0" i="0" dirty="0">
              <a:solidFill>
                <a:srgbClr val="000000"/>
              </a:solidFill>
              <a:effectLst/>
              <a:latin typeface="+mn-ea"/>
              <a:ea typeface="+mn-ea"/>
            </a:endParaRPr>
          </a:p>
          <a:p>
            <a:r>
              <a:rPr lang="zh-CN" altLang="en-US" sz="2400" b="0" i="0" dirty="0">
                <a:solidFill>
                  <a:srgbClr val="000000"/>
                </a:solidFill>
                <a:effectLst/>
                <a:latin typeface="+mn-ea"/>
                <a:ea typeface="+mn-ea"/>
              </a:rPr>
              <a:t>    </a:t>
            </a:r>
            <a:r>
              <a:rPr lang="en-US" altLang="zh-CN" sz="2400" b="0" i="0" dirty="0">
                <a:solidFill>
                  <a:srgbClr val="000000"/>
                </a:solidFill>
                <a:effectLst/>
                <a:latin typeface="+mn-ea"/>
                <a:ea typeface="+mn-ea"/>
              </a:rPr>
              <a:t>{</a:t>
            </a:r>
          </a:p>
          <a:p>
            <a:r>
              <a:rPr lang="en-US" altLang="zh-CN" sz="2400" b="0" i="0" dirty="0">
                <a:solidFill>
                  <a:srgbClr val="000000"/>
                </a:solidFill>
                <a:effectLst/>
                <a:latin typeface="+mn-ea"/>
                <a:ea typeface="+mn-ea"/>
              </a:rPr>
              <a:t>        </a:t>
            </a:r>
            <a:r>
              <a:rPr lang="en-US" altLang="zh-CN" sz="2400" b="0" i="0" dirty="0">
                <a:solidFill>
                  <a:srgbClr val="795E26"/>
                </a:solidFill>
                <a:effectLst/>
                <a:latin typeface="+mn-ea"/>
                <a:ea typeface="+mn-ea"/>
              </a:rPr>
              <a:t>select</a:t>
            </a:r>
            <a:r>
              <a:rPr lang="en-US" altLang="zh-CN" sz="2400" b="0" i="0" dirty="0">
                <a:solidFill>
                  <a:srgbClr val="000000"/>
                </a:solidFill>
                <a:effectLst/>
                <a:latin typeface="+mn-ea"/>
                <a:ea typeface="+mn-ea"/>
              </a:rPr>
              <a:t>(</a:t>
            </a:r>
            <a:r>
              <a:rPr lang="en-US" altLang="zh-CN" sz="2400" b="0" i="0" dirty="0">
                <a:solidFill>
                  <a:srgbClr val="001080"/>
                </a:solidFill>
                <a:effectLst/>
                <a:latin typeface="+mn-ea"/>
                <a:ea typeface="+mn-ea"/>
              </a:rPr>
              <a:t>T</a:t>
            </a:r>
            <a:r>
              <a:rPr lang="en-US" altLang="zh-CN" sz="2400" b="0" i="0" dirty="0">
                <a:solidFill>
                  <a:srgbClr val="000000"/>
                </a:solidFill>
                <a:effectLst/>
                <a:latin typeface="+mn-ea"/>
                <a:ea typeface="+mn-ea"/>
              </a:rPr>
              <a:t>,</a:t>
            </a:r>
            <a:r>
              <a:rPr lang="en-US" altLang="zh-CN" sz="2400" b="0" i="0" dirty="0">
                <a:solidFill>
                  <a:srgbClr val="001080"/>
                </a:solidFill>
                <a:effectLst/>
                <a:latin typeface="+mn-ea"/>
                <a:ea typeface="+mn-ea"/>
              </a:rPr>
              <a:t>i</a:t>
            </a:r>
            <a:r>
              <a:rPr lang="en-US" altLang="zh-CN" sz="2400" b="0" i="0" dirty="0">
                <a:solidFill>
                  <a:srgbClr val="000000"/>
                </a:solidFill>
                <a:effectLst/>
                <a:latin typeface="+mn-ea"/>
                <a:ea typeface="+mn-ea"/>
              </a:rPr>
              <a:t>,</a:t>
            </a:r>
            <a:r>
              <a:rPr lang="en-US" altLang="zh-CN" sz="2400" b="0" i="0" dirty="0">
                <a:solidFill>
                  <a:srgbClr val="001080"/>
                </a:solidFill>
                <a:latin typeface="+mn-ea"/>
                <a:ea typeface="+mn-ea"/>
              </a:rPr>
              <a:t>s1</a:t>
            </a:r>
            <a:r>
              <a:rPr lang="en-US" altLang="zh-CN" sz="2400" b="0" i="0" dirty="0">
                <a:solidFill>
                  <a:srgbClr val="000000"/>
                </a:solidFill>
                <a:effectLst/>
                <a:latin typeface="+mn-ea"/>
                <a:ea typeface="+mn-ea"/>
              </a:rPr>
              <a:t>,s2);</a:t>
            </a:r>
            <a:r>
              <a:rPr lang="en-US" altLang="zh-CN" sz="2400" b="0" i="0" dirty="0">
                <a:solidFill>
                  <a:srgbClr val="008000"/>
                </a:solidFill>
                <a:effectLst/>
                <a:latin typeface="+mn-ea"/>
                <a:ea typeface="+mn-ea"/>
              </a:rPr>
              <a:t>  // </a:t>
            </a:r>
            <a:r>
              <a:rPr lang="zh-CN" altLang="en-US" sz="2400" b="0" i="0" dirty="0">
                <a:solidFill>
                  <a:srgbClr val="008000"/>
                </a:solidFill>
                <a:effectLst/>
                <a:latin typeface="+mn-ea"/>
                <a:ea typeface="+mn-ea"/>
              </a:rPr>
              <a:t>选择</a:t>
            </a:r>
            <a:r>
              <a:rPr lang="en-US" altLang="zh-CN" sz="2400" b="0" i="0" dirty="0">
                <a:solidFill>
                  <a:srgbClr val="008000"/>
                </a:solidFill>
                <a:effectLst/>
                <a:latin typeface="+mn-ea"/>
                <a:ea typeface="+mn-ea"/>
              </a:rPr>
              <a:t>0~i-1</a:t>
            </a:r>
            <a:r>
              <a:rPr lang="zh-CN" altLang="en-US" sz="2400" b="0" i="0" dirty="0">
                <a:solidFill>
                  <a:srgbClr val="008000"/>
                </a:solidFill>
                <a:effectLst/>
                <a:latin typeface="+mn-ea"/>
                <a:ea typeface="+mn-ea"/>
              </a:rPr>
              <a:t>中双亲</a:t>
            </a:r>
            <a:r>
              <a:rPr lang="en-US" altLang="zh-CN" sz="2400" b="0" i="0" dirty="0">
                <a:solidFill>
                  <a:srgbClr val="008000"/>
                </a:solidFill>
                <a:effectLst/>
                <a:latin typeface="+mn-ea"/>
                <a:ea typeface="+mn-ea"/>
              </a:rPr>
              <a:t>-1</a:t>
            </a:r>
            <a:r>
              <a:rPr lang="zh-CN" altLang="en-US" sz="2400" b="0" i="0" dirty="0">
                <a:solidFill>
                  <a:srgbClr val="008000"/>
                </a:solidFill>
                <a:effectLst/>
                <a:latin typeface="+mn-ea"/>
                <a:ea typeface="+mn-ea"/>
              </a:rPr>
              <a:t>，权</a:t>
            </a:r>
            <a:endParaRPr lang="en-US" altLang="zh-CN" sz="2400" b="0" i="0" dirty="0">
              <a:solidFill>
                <a:srgbClr val="008000"/>
              </a:solidFill>
              <a:effectLst/>
              <a:latin typeface="+mn-ea"/>
              <a:ea typeface="+mn-ea"/>
            </a:endParaRPr>
          </a:p>
          <a:p>
            <a:r>
              <a:rPr lang="en-US" altLang="zh-CN" sz="2400" b="0" i="0" dirty="0">
                <a:solidFill>
                  <a:srgbClr val="008000"/>
                </a:solidFill>
                <a:latin typeface="+mn-ea"/>
                <a:ea typeface="+mn-ea"/>
              </a:rPr>
              <a:t>                         // </a:t>
            </a:r>
            <a:r>
              <a:rPr lang="zh-CN" altLang="en-US" sz="2400" b="0" i="0" dirty="0">
                <a:solidFill>
                  <a:srgbClr val="008000"/>
                </a:solidFill>
                <a:effectLst/>
                <a:latin typeface="+mn-ea"/>
                <a:ea typeface="+mn-ea"/>
              </a:rPr>
              <a:t>值最小和第</a:t>
            </a:r>
            <a:r>
              <a:rPr lang="en-US" altLang="zh-CN" sz="2400" b="0" i="0" dirty="0">
                <a:solidFill>
                  <a:srgbClr val="008000"/>
                </a:solidFill>
                <a:effectLst/>
                <a:latin typeface="+mn-ea"/>
                <a:ea typeface="+mn-ea"/>
              </a:rPr>
              <a:t>2</a:t>
            </a:r>
            <a:r>
              <a:rPr lang="zh-CN" altLang="en-US" sz="2400" b="0" i="0" dirty="0">
                <a:solidFill>
                  <a:srgbClr val="008000"/>
                </a:solidFill>
                <a:effectLst/>
                <a:latin typeface="+mn-ea"/>
                <a:ea typeface="+mn-ea"/>
              </a:rPr>
              <a:t>小下标</a:t>
            </a:r>
            <a:endParaRPr lang="zh-CN" altLang="en-US" sz="2400" b="0" i="0" dirty="0">
              <a:solidFill>
                <a:srgbClr val="000000"/>
              </a:solidFill>
              <a:effectLst/>
              <a:latin typeface="+mn-ea"/>
              <a:ea typeface="+mn-ea"/>
            </a:endParaRPr>
          </a:p>
          <a:p>
            <a:r>
              <a:rPr lang="zh-CN" altLang="en-US" sz="2400" b="0" i="0" dirty="0">
                <a:solidFill>
                  <a:srgbClr val="000000"/>
                </a:solidFill>
                <a:effectLst/>
                <a:latin typeface="+mn-ea"/>
                <a:ea typeface="+mn-ea"/>
              </a:rPr>
              <a:t>        </a:t>
            </a:r>
            <a:endParaRPr lang="en-US" altLang="zh-CN" sz="2400" b="0" i="0" dirty="0">
              <a:solidFill>
                <a:srgbClr val="000000"/>
              </a:solidFill>
              <a:effectLst/>
              <a:latin typeface="+mn-ea"/>
              <a:ea typeface="+mn-ea"/>
            </a:endParaRPr>
          </a:p>
          <a:p>
            <a:r>
              <a:rPr lang="en-US" altLang="zh-CN" sz="2400" b="0" i="0" dirty="0">
                <a:solidFill>
                  <a:srgbClr val="000000"/>
                </a:solidFill>
                <a:latin typeface="+mn-ea"/>
                <a:ea typeface="+mn-ea"/>
              </a:rPr>
              <a:t>      </a:t>
            </a:r>
            <a:r>
              <a:rPr lang="en-US" altLang="zh-CN" sz="2400" b="0" i="0" dirty="0">
                <a:solidFill>
                  <a:srgbClr val="008000"/>
                </a:solidFill>
                <a:latin typeface="+mn-ea"/>
                <a:ea typeface="+mn-ea"/>
              </a:rPr>
              <a:t>// </a:t>
            </a:r>
            <a:r>
              <a:rPr lang="zh-CN" altLang="en-US" sz="2400" b="0" i="0" dirty="0">
                <a:solidFill>
                  <a:srgbClr val="008000"/>
                </a:solidFill>
                <a:latin typeface="+mn-ea"/>
                <a:ea typeface="+mn-ea"/>
              </a:rPr>
              <a:t>按</a:t>
            </a:r>
            <a:r>
              <a:rPr lang="en-US" altLang="zh-CN" sz="2400" b="0" i="0" dirty="0">
                <a:solidFill>
                  <a:srgbClr val="008000"/>
                </a:solidFill>
                <a:latin typeface="+mn-ea"/>
                <a:ea typeface="+mn-ea"/>
              </a:rPr>
              <a:t>P114</a:t>
            </a:r>
            <a:r>
              <a:rPr lang="zh-CN" altLang="en-US" sz="2400" b="0" i="0" dirty="0">
                <a:solidFill>
                  <a:srgbClr val="008000"/>
                </a:solidFill>
                <a:latin typeface="+mn-ea"/>
                <a:ea typeface="+mn-ea"/>
              </a:rPr>
              <a:t>语句修改</a:t>
            </a:r>
            <a:r>
              <a:rPr lang="en-US" altLang="zh-CN" sz="2400" b="0" i="0" dirty="0">
                <a:solidFill>
                  <a:srgbClr val="008000"/>
                </a:solidFill>
                <a:latin typeface="+mn-ea"/>
                <a:ea typeface="+mn-ea"/>
              </a:rPr>
              <a:t>s1,s2</a:t>
            </a:r>
            <a:r>
              <a:rPr lang="zh-CN" altLang="en-US" sz="2400" b="0" i="0" dirty="0">
                <a:solidFill>
                  <a:srgbClr val="008000"/>
                </a:solidFill>
                <a:latin typeface="+mn-ea"/>
                <a:ea typeface="+mn-ea"/>
              </a:rPr>
              <a:t>的双亲，</a:t>
            </a:r>
            <a:r>
              <a:rPr lang="en-US" altLang="zh-CN" sz="2400" b="0" i="0" dirty="0" err="1">
                <a:solidFill>
                  <a:srgbClr val="008000"/>
                </a:solidFill>
                <a:latin typeface="+mn-ea"/>
                <a:ea typeface="+mn-ea"/>
              </a:rPr>
              <a:t>i</a:t>
            </a:r>
            <a:r>
              <a:rPr lang="zh-CN" altLang="en-US" sz="2400" b="0" i="0" dirty="0">
                <a:solidFill>
                  <a:srgbClr val="008000"/>
                </a:solidFill>
                <a:latin typeface="+mn-ea"/>
                <a:ea typeface="+mn-ea"/>
              </a:rPr>
              <a:t>结点的左右孩子和</a:t>
            </a:r>
            <a:endParaRPr lang="en-US" altLang="zh-CN" sz="2400" b="0" i="0" dirty="0">
              <a:solidFill>
                <a:srgbClr val="008000"/>
              </a:solidFill>
              <a:latin typeface="+mn-ea"/>
              <a:ea typeface="+mn-ea"/>
            </a:endParaRPr>
          </a:p>
          <a:p>
            <a:r>
              <a:rPr lang="en-US" altLang="zh-CN" sz="2400" b="0" i="0" dirty="0">
                <a:solidFill>
                  <a:srgbClr val="008000"/>
                </a:solidFill>
                <a:latin typeface="+mn-ea"/>
                <a:ea typeface="+mn-ea"/>
              </a:rPr>
              <a:t>      //  </a:t>
            </a:r>
            <a:r>
              <a:rPr lang="zh-CN" altLang="en-US" sz="2400" b="0" i="0" dirty="0">
                <a:solidFill>
                  <a:srgbClr val="008000"/>
                </a:solidFill>
                <a:latin typeface="+mn-ea"/>
                <a:ea typeface="+mn-ea"/>
              </a:rPr>
              <a:t>权值</a:t>
            </a:r>
            <a:endParaRPr lang="en-US" altLang="zh-CN" sz="2400" b="0" i="0" dirty="0">
              <a:solidFill>
                <a:srgbClr val="008000"/>
              </a:solidFill>
              <a:latin typeface="+mn-ea"/>
              <a:ea typeface="+mn-ea"/>
            </a:endParaRPr>
          </a:p>
          <a:p>
            <a:r>
              <a:rPr lang="en-US" altLang="zh-CN" sz="2400" b="0" i="0" dirty="0">
                <a:solidFill>
                  <a:srgbClr val="008000"/>
                </a:solidFill>
                <a:latin typeface="+mn-ea"/>
                <a:ea typeface="+mn-ea"/>
              </a:rPr>
              <a:t>       </a:t>
            </a:r>
            <a:r>
              <a:rPr lang="en-US" altLang="zh-CN" sz="2400" b="0" i="0" dirty="0">
                <a:solidFill>
                  <a:srgbClr val="795E26"/>
                </a:solidFill>
                <a:effectLst/>
                <a:latin typeface="+mn-ea"/>
                <a:ea typeface="+mn-ea"/>
              </a:rPr>
              <a:t>coding</a:t>
            </a:r>
            <a:r>
              <a:rPr lang="en-US" altLang="zh-CN" sz="2400" b="0" i="0" dirty="0">
                <a:solidFill>
                  <a:srgbClr val="000000"/>
                </a:solidFill>
                <a:effectLst/>
                <a:latin typeface="+mn-ea"/>
                <a:ea typeface="+mn-ea"/>
              </a:rPr>
              <a:t>(</a:t>
            </a:r>
            <a:r>
              <a:rPr lang="en-US" altLang="zh-CN" sz="2400" b="0" i="0" dirty="0">
                <a:solidFill>
                  <a:srgbClr val="001080"/>
                </a:solidFill>
                <a:effectLst/>
                <a:latin typeface="+mn-ea"/>
                <a:ea typeface="+mn-ea"/>
              </a:rPr>
              <a:t>T</a:t>
            </a:r>
            <a:r>
              <a:rPr lang="en-US" altLang="zh-CN" sz="2400" b="0" i="0" dirty="0">
                <a:solidFill>
                  <a:srgbClr val="000000"/>
                </a:solidFill>
                <a:effectLst/>
                <a:latin typeface="+mn-ea"/>
                <a:ea typeface="+mn-ea"/>
              </a:rPr>
              <a:t>,</a:t>
            </a:r>
            <a:r>
              <a:rPr lang="en-US" altLang="zh-CN" sz="2400" b="0" i="0" dirty="0">
                <a:solidFill>
                  <a:srgbClr val="098658"/>
                </a:solidFill>
                <a:effectLst/>
                <a:latin typeface="+mn-ea"/>
                <a:ea typeface="+mn-ea"/>
              </a:rPr>
              <a:t>2</a:t>
            </a:r>
            <a:r>
              <a:rPr lang="en-US" altLang="zh-CN" sz="2400" b="0" i="0" dirty="0">
                <a:solidFill>
                  <a:srgbClr val="000000"/>
                </a:solidFill>
                <a:effectLst/>
                <a:latin typeface="+mn-ea"/>
                <a:ea typeface="+mn-ea"/>
              </a:rPr>
              <a:t>*</a:t>
            </a:r>
            <a:r>
              <a:rPr lang="en-US" altLang="zh-CN" sz="2400" b="0" i="0" dirty="0">
                <a:solidFill>
                  <a:srgbClr val="001080"/>
                </a:solidFill>
                <a:effectLst/>
                <a:latin typeface="+mn-ea"/>
                <a:ea typeface="+mn-ea"/>
              </a:rPr>
              <a:t>n</a:t>
            </a:r>
            <a:r>
              <a:rPr lang="en-US" altLang="zh-CN" sz="2400" b="0" i="0" dirty="0">
                <a:solidFill>
                  <a:srgbClr val="000000"/>
                </a:solidFill>
                <a:effectLst/>
                <a:latin typeface="+mn-ea"/>
                <a:ea typeface="+mn-ea"/>
              </a:rPr>
              <a:t>-</a:t>
            </a:r>
            <a:r>
              <a:rPr lang="en-US" altLang="zh-CN" sz="2400" b="0" i="0" dirty="0">
                <a:solidFill>
                  <a:srgbClr val="098658"/>
                </a:solidFill>
                <a:effectLst/>
                <a:latin typeface="+mn-ea"/>
                <a:ea typeface="+mn-ea"/>
              </a:rPr>
              <a:t>2</a:t>
            </a:r>
            <a:r>
              <a:rPr lang="en-US" altLang="zh-CN" sz="2400" b="0" i="0" dirty="0">
                <a:solidFill>
                  <a:srgbClr val="000000"/>
                </a:solidFill>
                <a:effectLst/>
                <a:latin typeface="+mn-ea"/>
                <a:ea typeface="+mn-ea"/>
              </a:rPr>
              <a:t>,</a:t>
            </a:r>
            <a:r>
              <a:rPr lang="en-US" altLang="zh-CN" sz="2400" b="0" i="0" dirty="0">
                <a:solidFill>
                  <a:srgbClr val="A31515"/>
                </a:solidFill>
                <a:effectLst/>
                <a:latin typeface="+mn-ea"/>
                <a:ea typeface="+mn-ea"/>
              </a:rPr>
              <a:t>“”</a:t>
            </a:r>
            <a:r>
              <a:rPr lang="en-US" altLang="zh-CN" sz="2400" b="0" i="0" dirty="0">
                <a:solidFill>
                  <a:srgbClr val="000000"/>
                </a:solidFill>
                <a:effectLst/>
                <a:latin typeface="+mn-ea"/>
                <a:ea typeface="+mn-ea"/>
              </a:rPr>
              <a:t>);   </a:t>
            </a:r>
            <a:r>
              <a:rPr lang="en-US" altLang="zh-CN" sz="2400" b="0" i="0" dirty="0">
                <a:solidFill>
                  <a:srgbClr val="008000"/>
                </a:solidFill>
                <a:latin typeface="+mn-ea"/>
                <a:ea typeface="+mn-ea"/>
              </a:rPr>
              <a:t>// </a:t>
            </a:r>
            <a:r>
              <a:rPr lang="zh-CN" altLang="en-US" sz="2400" b="0" i="0" dirty="0">
                <a:solidFill>
                  <a:srgbClr val="008000"/>
                </a:solidFill>
                <a:latin typeface="+mn-ea"/>
                <a:ea typeface="+mn-ea"/>
              </a:rPr>
              <a:t>对结点进行</a:t>
            </a:r>
            <a:r>
              <a:rPr lang="en-US" altLang="zh-CN" sz="2400" b="0" i="0" dirty="0">
                <a:solidFill>
                  <a:srgbClr val="008000"/>
                </a:solidFill>
                <a:latin typeface="+mn-ea"/>
                <a:ea typeface="+mn-ea"/>
              </a:rPr>
              <a:t>Huffman</a:t>
            </a:r>
            <a:r>
              <a:rPr lang="zh-CN" altLang="en-US" sz="2400" b="0" i="0" dirty="0">
                <a:solidFill>
                  <a:srgbClr val="008000"/>
                </a:solidFill>
                <a:latin typeface="+mn-ea"/>
                <a:ea typeface="+mn-ea"/>
              </a:rPr>
              <a:t>编码</a:t>
            </a:r>
            <a:endParaRPr lang="en-US" altLang="zh-CN" sz="2400" b="0" i="0" dirty="0">
              <a:solidFill>
                <a:srgbClr val="008000"/>
              </a:solidFill>
              <a:latin typeface="+mn-ea"/>
              <a:ea typeface="+mn-ea"/>
            </a:endParaRPr>
          </a:p>
          <a:p>
            <a:r>
              <a:rPr lang="en-US" altLang="zh-CN" sz="2400" b="0" i="0" dirty="0">
                <a:solidFill>
                  <a:srgbClr val="000000"/>
                </a:solidFill>
                <a:effectLst/>
                <a:latin typeface="+mn-ea"/>
                <a:ea typeface="+mn-ea"/>
              </a:rPr>
              <a:t>  }</a:t>
            </a:r>
          </a:p>
        </p:txBody>
      </p:sp>
    </p:spTree>
    <p:extLst>
      <p:ext uri="{BB962C8B-B14F-4D97-AF65-F5344CB8AC3E}">
        <p14:creationId xmlns:p14="http://schemas.microsoft.com/office/powerpoint/2010/main" val="862919246"/>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5" name="Text Box 5">
            <a:extLst>
              <a:ext uri="{FF2B5EF4-FFF2-40B4-BE49-F238E27FC236}">
                <a16:creationId xmlns:a16="http://schemas.microsoft.com/office/drawing/2014/main" id="{C1DF2F8F-C01D-4796-AA5E-C3CE49B3F5FD}"/>
              </a:ext>
            </a:extLst>
          </p:cNvPr>
          <p:cNvSpPr txBox="1">
            <a:spLocks noChangeArrowheads="1"/>
          </p:cNvSpPr>
          <p:nvPr/>
        </p:nvSpPr>
        <p:spPr bwMode="auto">
          <a:xfrm>
            <a:off x="-242192" y="1268760"/>
            <a:ext cx="9095928"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
                <a:schemeClr val="hlink"/>
              </a:buClr>
              <a:buSzPct val="75000"/>
              <a:buFont typeface="Wingdings" panose="05000000000000000000" pitchFamily="2" charset="2"/>
              <a:buNone/>
            </a:pPr>
            <a:r>
              <a:rPr lang="zh-CN" altLang="en-US" sz="2800" dirty="0">
                <a:latin typeface="Arial" panose="020B0604020202020204" pitchFamily="34" charset="0"/>
              </a:rPr>
              <a:t>        </a:t>
            </a:r>
            <a:r>
              <a:rPr lang="zh-CN" altLang="en-US" sz="2800" b="0" i="0" dirty="0">
                <a:latin typeface="黑体" panose="02010609060101010101" pitchFamily="49" charset="-122"/>
                <a:ea typeface="黑体" panose="02010609060101010101" pitchFamily="49" charset="-122"/>
              </a:rPr>
              <a:t>编码从叶子结点开始</a:t>
            </a:r>
            <a:r>
              <a:rPr lang="en-US" altLang="zh-CN" sz="2800" b="0" i="0" dirty="0">
                <a:latin typeface="黑体" panose="02010609060101010101" pitchFamily="49" charset="-122"/>
                <a:ea typeface="黑体" panose="02010609060101010101" pitchFamily="49" charset="-122"/>
              </a:rPr>
              <a:t>(0~n-1)</a:t>
            </a:r>
            <a:r>
              <a:rPr lang="zh-CN" altLang="en-US" sz="2800" b="0" i="0" dirty="0">
                <a:latin typeface="黑体" panose="02010609060101010101" pitchFamily="49" charset="-122"/>
                <a:ea typeface="黑体" panose="02010609060101010101" pitchFamily="49" charset="-122"/>
              </a:rPr>
              <a:t>。对每个叶子结点k ，</a:t>
            </a:r>
          </a:p>
          <a:p>
            <a:pPr eaLnBrk="1" hangingPunct="1">
              <a:spcBef>
                <a:spcPct val="50000"/>
              </a:spcBef>
              <a:buClr>
                <a:schemeClr val="hlink"/>
              </a:buClr>
              <a:buSzPct val="75000"/>
              <a:buFont typeface="Wingdings" panose="05000000000000000000" pitchFamily="2" charset="2"/>
              <a:buNone/>
            </a:pPr>
            <a:r>
              <a:rPr lang="zh-CN" altLang="en-US" sz="2800" b="1" dirty="0">
                <a:latin typeface="宋体" panose="02010600030101010101" pitchFamily="2" charset="-122"/>
              </a:rPr>
              <a:t>     </a:t>
            </a:r>
          </a:p>
        </p:txBody>
      </p:sp>
      <p:sp>
        <p:nvSpPr>
          <p:cNvPr id="117766" name="Text Box 6">
            <a:extLst>
              <a:ext uri="{FF2B5EF4-FFF2-40B4-BE49-F238E27FC236}">
                <a16:creationId xmlns:a16="http://schemas.microsoft.com/office/drawing/2014/main" id="{78DD1CE7-8558-44A7-9CC7-B2A3537BD216}"/>
              </a:ext>
            </a:extLst>
          </p:cNvPr>
          <p:cNvSpPr txBox="1">
            <a:spLocks noChangeArrowheads="1"/>
          </p:cNvSpPr>
          <p:nvPr/>
        </p:nvSpPr>
        <p:spPr bwMode="auto">
          <a:xfrm>
            <a:off x="514599" y="1818209"/>
            <a:ext cx="6264275" cy="522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
                <a:schemeClr val="hlink"/>
              </a:buClr>
              <a:buSzPct val="75000"/>
              <a:buFont typeface="Wingdings" panose="05000000000000000000" pitchFamily="2" charset="2"/>
              <a:buNone/>
            </a:pPr>
            <a:r>
              <a:rPr lang="zh-CN" altLang="en-US" sz="2800" b="1" i="0" dirty="0">
                <a:latin typeface="宋体" panose="02010600030101010101" pitchFamily="2" charset="-122"/>
              </a:rPr>
              <a:t>① </a:t>
            </a:r>
            <a:r>
              <a:rPr lang="zh-CN" altLang="en-US" sz="2800" b="0" i="0" dirty="0">
                <a:latin typeface="黑体" panose="02010609060101010101" pitchFamily="49" charset="-122"/>
                <a:ea typeface="黑体" panose="02010609060101010101" pitchFamily="49" charset="-122"/>
              </a:rPr>
              <a:t>parent = HT[k].parent; </a:t>
            </a:r>
          </a:p>
        </p:txBody>
      </p:sp>
      <p:sp>
        <p:nvSpPr>
          <p:cNvPr id="117767" name="Text Box 7">
            <a:extLst>
              <a:ext uri="{FF2B5EF4-FFF2-40B4-BE49-F238E27FC236}">
                <a16:creationId xmlns:a16="http://schemas.microsoft.com/office/drawing/2014/main" id="{94E4060B-873D-41AC-800F-4262AB712E2F}"/>
              </a:ext>
            </a:extLst>
          </p:cNvPr>
          <p:cNvSpPr txBox="1">
            <a:spLocks noChangeArrowheads="1"/>
          </p:cNvSpPr>
          <p:nvPr/>
        </p:nvSpPr>
        <p:spPr bwMode="auto">
          <a:xfrm>
            <a:off x="478086" y="2425807"/>
            <a:ext cx="8532812" cy="522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
                <a:schemeClr val="hlink"/>
              </a:buClr>
              <a:buSzPct val="75000"/>
              <a:buFont typeface="Wingdings" panose="05000000000000000000" pitchFamily="2" charset="2"/>
              <a:buNone/>
            </a:pPr>
            <a:r>
              <a:rPr lang="zh-CN" altLang="en-US" sz="2800" i="0" dirty="0">
                <a:latin typeface="华文中宋" panose="02010600040101010101" pitchFamily="2" charset="-122"/>
                <a:ea typeface="华文中宋" panose="02010600040101010101" pitchFamily="2" charset="-122"/>
              </a:rPr>
              <a:t>    </a:t>
            </a:r>
            <a:r>
              <a:rPr lang="zh-CN" altLang="en-US" sz="2800" b="0" i="0" dirty="0">
                <a:latin typeface="黑体" panose="02010609060101010101" pitchFamily="49" charset="-122"/>
                <a:ea typeface="黑体" panose="02010609060101010101" pitchFamily="49" charset="-122"/>
              </a:rPr>
              <a:t>若HT[parent].lchild = k; 则code</a:t>
            </a:r>
            <a:r>
              <a:rPr lang="en-US" altLang="zh-CN" sz="2800" b="0" i="0" dirty="0">
                <a:latin typeface="黑体" panose="02010609060101010101" pitchFamily="49" charset="-122"/>
                <a:ea typeface="黑体" panose="02010609060101010101" pitchFamily="49" charset="-122"/>
              </a:rPr>
              <a:t>=“0”+code</a:t>
            </a:r>
            <a:r>
              <a:rPr lang="zh-CN" altLang="en-US" sz="2800" b="0" i="0" dirty="0">
                <a:latin typeface="黑体" panose="02010609060101010101" pitchFamily="49" charset="-122"/>
                <a:ea typeface="黑体" panose="02010609060101010101" pitchFamily="49" charset="-122"/>
              </a:rPr>
              <a:t>;</a:t>
            </a:r>
          </a:p>
        </p:txBody>
      </p:sp>
      <p:sp>
        <p:nvSpPr>
          <p:cNvPr id="117768" name="Text Box 8">
            <a:extLst>
              <a:ext uri="{FF2B5EF4-FFF2-40B4-BE49-F238E27FC236}">
                <a16:creationId xmlns:a16="http://schemas.microsoft.com/office/drawing/2014/main" id="{2A072BA0-E07B-4D5F-AC5B-304384697221}"/>
              </a:ext>
            </a:extLst>
          </p:cNvPr>
          <p:cNvSpPr txBox="1">
            <a:spLocks noChangeArrowheads="1"/>
          </p:cNvSpPr>
          <p:nvPr/>
        </p:nvSpPr>
        <p:spPr bwMode="auto">
          <a:xfrm>
            <a:off x="441574" y="3101931"/>
            <a:ext cx="8412162"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
                <a:schemeClr val="hlink"/>
              </a:buClr>
              <a:buSzPct val="75000"/>
              <a:buFont typeface="Wingdings" panose="05000000000000000000" pitchFamily="2" charset="2"/>
              <a:buNone/>
            </a:pPr>
            <a:r>
              <a:rPr lang="zh-CN" altLang="en-US" sz="2800" i="0" dirty="0">
                <a:latin typeface="华文中宋" panose="02010600040101010101" pitchFamily="2" charset="-122"/>
                <a:ea typeface="华文中宋" panose="02010600040101010101" pitchFamily="2" charset="-122"/>
              </a:rPr>
              <a:t>    </a:t>
            </a:r>
            <a:r>
              <a:rPr lang="zh-CN" altLang="en-US" sz="2800" b="0" i="0" dirty="0">
                <a:latin typeface="+mn-ea"/>
                <a:ea typeface="+mn-ea"/>
              </a:rPr>
              <a:t>若HT[parent].rchild = k; 则code=</a:t>
            </a:r>
            <a:r>
              <a:rPr lang="en-US" altLang="zh-CN" sz="2800" b="0" i="0" dirty="0">
                <a:latin typeface="+mn-ea"/>
                <a:ea typeface="+mn-ea"/>
              </a:rPr>
              <a:t>“1”+code</a:t>
            </a:r>
            <a:r>
              <a:rPr lang="zh-CN" altLang="en-US" sz="2800" b="0" i="0" dirty="0">
                <a:latin typeface="+mn-ea"/>
                <a:ea typeface="+mn-ea"/>
              </a:rPr>
              <a:t> ;</a:t>
            </a:r>
          </a:p>
        </p:txBody>
      </p:sp>
      <p:sp>
        <p:nvSpPr>
          <p:cNvPr id="117769" name="Text Box 9">
            <a:extLst>
              <a:ext uri="{FF2B5EF4-FFF2-40B4-BE49-F238E27FC236}">
                <a16:creationId xmlns:a16="http://schemas.microsoft.com/office/drawing/2014/main" id="{1F5746C9-F0FC-4786-BF1C-D430485F0704}"/>
              </a:ext>
            </a:extLst>
          </p:cNvPr>
          <p:cNvSpPr txBox="1">
            <a:spLocks noChangeArrowheads="1"/>
          </p:cNvSpPr>
          <p:nvPr/>
        </p:nvSpPr>
        <p:spPr bwMode="auto">
          <a:xfrm>
            <a:off x="514599" y="3733756"/>
            <a:ext cx="8027987"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
                <a:schemeClr val="hlink"/>
              </a:buClr>
              <a:buSzPct val="75000"/>
              <a:buFont typeface="Wingdings" panose="05000000000000000000" pitchFamily="2" charset="2"/>
              <a:buNone/>
            </a:pPr>
            <a:r>
              <a:rPr lang="zh-CN" altLang="en-US" sz="2800" i="0" dirty="0">
                <a:latin typeface="华文中宋" panose="02010600040101010101" pitchFamily="2" charset="-122"/>
                <a:ea typeface="华文中宋" panose="02010600040101010101" pitchFamily="2" charset="-122"/>
              </a:rPr>
              <a:t>    </a:t>
            </a:r>
            <a:r>
              <a:rPr lang="zh-CN" altLang="en-US" sz="2800" b="0" i="0" dirty="0">
                <a:latin typeface="黑体" panose="02010609060101010101" pitchFamily="49" charset="-122"/>
                <a:ea typeface="黑体" panose="02010609060101010101" pitchFamily="49" charset="-122"/>
              </a:rPr>
              <a:t>k = parent; </a:t>
            </a:r>
          </a:p>
        </p:txBody>
      </p:sp>
      <p:sp>
        <p:nvSpPr>
          <p:cNvPr id="117770" name="Text Box 10">
            <a:extLst>
              <a:ext uri="{FF2B5EF4-FFF2-40B4-BE49-F238E27FC236}">
                <a16:creationId xmlns:a16="http://schemas.microsoft.com/office/drawing/2014/main" id="{C0135CC3-1F83-4240-B70F-35722D8C06AA}"/>
              </a:ext>
            </a:extLst>
          </p:cNvPr>
          <p:cNvSpPr txBox="1">
            <a:spLocks noChangeArrowheads="1"/>
          </p:cNvSpPr>
          <p:nvPr/>
        </p:nvSpPr>
        <p:spPr bwMode="auto">
          <a:xfrm>
            <a:off x="478086" y="4238581"/>
            <a:ext cx="62642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
                <a:schemeClr val="hlink"/>
              </a:buClr>
              <a:buSzPct val="75000"/>
              <a:buFont typeface="Wingdings" panose="05000000000000000000" pitchFamily="2" charset="2"/>
              <a:buNone/>
            </a:pPr>
            <a:r>
              <a:rPr lang="zh-CN" altLang="en-US" sz="2800" b="0" i="0" dirty="0">
                <a:latin typeface="+mn-ea"/>
                <a:ea typeface="+mn-ea"/>
              </a:rPr>
              <a:t>② 重复①直至</a:t>
            </a:r>
            <a:r>
              <a:rPr lang="en-US" altLang="zh-CN" sz="2800" b="0" i="0" dirty="0">
                <a:latin typeface="+mn-ea"/>
                <a:ea typeface="+mn-ea"/>
              </a:rPr>
              <a:t>HT[k].parent = -1</a:t>
            </a:r>
            <a:r>
              <a:rPr lang="zh-CN" altLang="en-US" sz="2800" b="0" i="0" dirty="0">
                <a:latin typeface="+mn-ea"/>
                <a:ea typeface="+mn-ea"/>
              </a:rPr>
              <a:t>；</a:t>
            </a:r>
          </a:p>
        </p:txBody>
      </p:sp>
      <p:sp>
        <p:nvSpPr>
          <p:cNvPr id="117771" name="Text Box 11">
            <a:extLst>
              <a:ext uri="{FF2B5EF4-FFF2-40B4-BE49-F238E27FC236}">
                <a16:creationId xmlns:a16="http://schemas.microsoft.com/office/drawing/2014/main" id="{D63F8FA5-C111-4751-80A8-5A0D6FF6573A}"/>
              </a:ext>
            </a:extLst>
          </p:cNvPr>
          <p:cNvSpPr txBox="1">
            <a:spLocks noChangeArrowheads="1"/>
          </p:cNvSpPr>
          <p:nvPr/>
        </p:nvSpPr>
        <p:spPr bwMode="auto">
          <a:xfrm>
            <a:off x="478086" y="4741819"/>
            <a:ext cx="7343775"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
                <a:schemeClr val="hlink"/>
              </a:buClr>
              <a:buSzPct val="75000"/>
              <a:buFont typeface="Wingdings" panose="05000000000000000000" pitchFamily="2" charset="2"/>
              <a:buNone/>
            </a:pPr>
            <a:r>
              <a:rPr lang="en-US" altLang="zh-CN" sz="2800" b="0" i="0" dirty="0">
                <a:latin typeface="+mn-ea"/>
                <a:ea typeface="+mn-ea"/>
              </a:rPr>
              <a:t>③ </a:t>
            </a:r>
            <a:r>
              <a:rPr lang="zh-CN" altLang="en-US" sz="2800" b="0" i="0" dirty="0">
                <a:latin typeface="+mn-ea"/>
                <a:ea typeface="+mn-ea"/>
              </a:rPr>
              <a:t>每个字符的编码值为</a:t>
            </a:r>
            <a:r>
              <a:rPr lang="en-US" altLang="zh-CN" sz="2800" b="0" i="0" dirty="0">
                <a:latin typeface="+mn-ea"/>
                <a:ea typeface="+mn-ea"/>
              </a:rPr>
              <a:t>string</a:t>
            </a:r>
            <a:r>
              <a:rPr lang="zh-CN" altLang="en-US" sz="2800" b="0" i="0" dirty="0">
                <a:latin typeface="+mn-ea"/>
                <a:ea typeface="+mn-ea"/>
              </a:rPr>
              <a:t>类对象</a:t>
            </a:r>
            <a:r>
              <a:rPr lang="en-US" altLang="zh-CN" sz="2800" b="0" i="0" dirty="0">
                <a:latin typeface="+mn-ea"/>
                <a:ea typeface="+mn-ea"/>
              </a:rPr>
              <a:t>code</a:t>
            </a:r>
            <a:r>
              <a:rPr lang="zh-CN" altLang="en-US" sz="2800" b="0" i="0" dirty="0">
                <a:latin typeface="+mn-ea"/>
                <a:ea typeface="+mn-ea"/>
              </a:rPr>
              <a:t>;</a:t>
            </a:r>
          </a:p>
        </p:txBody>
      </p:sp>
      <p:sp>
        <p:nvSpPr>
          <p:cNvPr id="11" name="思想气泡: 云 10">
            <a:extLst>
              <a:ext uri="{FF2B5EF4-FFF2-40B4-BE49-F238E27FC236}">
                <a16:creationId xmlns:a16="http://schemas.microsoft.com/office/drawing/2014/main" id="{4AAD19A6-7948-4A32-AE81-024573245154}"/>
              </a:ext>
            </a:extLst>
          </p:cNvPr>
          <p:cNvSpPr/>
          <p:nvPr/>
        </p:nvSpPr>
        <p:spPr bwMode="auto">
          <a:xfrm>
            <a:off x="6132981" y="2148314"/>
            <a:ext cx="1750544" cy="796469"/>
          </a:xfrm>
          <a:prstGeom prst="cloudCallout">
            <a:avLst>
              <a:gd name="adj1" fmla="val -53406"/>
              <a:gd name="adj2" fmla="val 132520"/>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r>
              <a:rPr lang="en-US" altLang="zh-CN" sz="2800" i="0" dirty="0"/>
              <a:t>string</a:t>
            </a:r>
            <a:endParaRPr kumimoji="0" lang="zh-CN" altLang="en-US" sz="2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3" name="Text Box 3">
            <a:extLst>
              <a:ext uri="{FF2B5EF4-FFF2-40B4-BE49-F238E27FC236}">
                <a16:creationId xmlns:a16="http://schemas.microsoft.com/office/drawing/2014/main" id="{569DC258-8078-3912-BFA3-89B1592CE3F4}"/>
              </a:ext>
            </a:extLst>
          </p:cNvPr>
          <p:cNvSpPr txBox="1">
            <a:spLocks noChangeArrowheads="1"/>
          </p:cNvSpPr>
          <p:nvPr/>
        </p:nvSpPr>
        <p:spPr bwMode="auto">
          <a:xfrm>
            <a:off x="395536" y="188640"/>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五、赫夫曼编码实现</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776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776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776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776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777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777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766" grpId="0"/>
      <p:bldP spid="117767" grpId="0"/>
      <p:bldP spid="117768" grpId="0"/>
      <p:bldP spid="117769" grpId="0"/>
      <p:bldP spid="117770" grpId="0"/>
      <p:bldP spid="117771" grpId="0"/>
      <p:bldP spid="11" grpId="0" animBg="1"/>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9813" name="Group 6">
            <a:extLst>
              <a:ext uri="{FF2B5EF4-FFF2-40B4-BE49-F238E27FC236}">
                <a16:creationId xmlns:a16="http://schemas.microsoft.com/office/drawing/2014/main" id="{9C98B3DD-D95C-4558-82CA-049971AE65B9}"/>
              </a:ext>
            </a:extLst>
          </p:cNvPr>
          <p:cNvGrpSpPr>
            <a:grpSpLocks/>
          </p:cNvGrpSpPr>
          <p:nvPr/>
        </p:nvGrpSpPr>
        <p:grpSpPr bwMode="auto">
          <a:xfrm>
            <a:off x="800100" y="2160125"/>
            <a:ext cx="8053636" cy="619125"/>
            <a:chOff x="0" y="0"/>
            <a:chExt cx="2296" cy="390"/>
          </a:xfrm>
        </p:grpSpPr>
        <p:grpSp>
          <p:nvGrpSpPr>
            <p:cNvPr id="119815" name="Group 7">
              <a:extLst>
                <a:ext uri="{FF2B5EF4-FFF2-40B4-BE49-F238E27FC236}">
                  <a16:creationId xmlns:a16="http://schemas.microsoft.com/office/drawing/2014/main" id="{60BDC524-9F2F-48AD-B83B-E302290AA98F}"/>
                </a:ext>
              </a:extLst>
            </p:cNvPr>
            <p:cNvGrpSpPr>
              <a:grpSpLocks/>
            </p:cNvGrpSpPr>
            <p:nvPr/>
          </p:nvGrpSpPr>
          <p:grpSpPr bwMode="auto">
            <a:xfrm>
              <a:off x="3" y="3"/>
              <a:ext cx="2290" cy="384"/>
              <a:chOff x="0" y="0"/>
              <a:chExt cx="2290" cy="384"/>
            </a:xfrm>
          </p:grpSpPr>
          <p:grpSp>
            <p:nvGrpSpPr>
              <p:cNvPr id="119817" name="Group 8">
                <a:extLst>
                  <a:ext uri="{FF2B5EF4-FFF2-40B4-BE49-F238E27FC236}">
                    <a16:creationId xmlns:a16="http://schemas.microsoft.com/office/drawing/2014/main" id="{95637697-3728-488A-A9D5-ADF8282DB462}"/>
                  </a:ext>
                </a:extLst>
              </p:cNvPr>
              <p:cNvGrpSpPr>
                <a:grpSpLocks/>
              </p:cNvGrpSpPr>
              <p:nvPr/>
            </p:nvGrpSpPr>
            <p:grpSpPr bwMode="auto">
              <a:xfrm>
                <a:off x="0" y="0"/>
                <a:ext cx="402" cy="384"/>
                <a:chOff x="0" y="0"/>
                <a:chExt cx="402" cy="384"/>
              </a:xfrm>
            </p:grpSpPr>
            <p:sp>
              <p:nvSpPr>
                <p:cNvPr id="119830" name="Rectangle 9">
                  <a:extLst>
                    <a:ext uri="{FF2B5EF4-FFF2-40B4-BE49-F238E27FC236}">
                      <a16:creationId xmlns:a16="http://schemas.microsoft.com/office/drawing/2014/main" id="{C11960A0-9F08-4AC6-B912-E86FDE6B9E15}"/>
                    </a:ext>
                  </a:extLst>
                </p:cNvPr>
                <p:cNvSpPr>
                  <a:spLocks noChangeArrowheads="1"/>
                </p:cNvSpPr>
                <p:nvPr/>
              </p:nvSpPr>
              <p:spPr bwMode="auto">
                <a:xfrm>
                  <a:off x="43" y="0"/>
                  <a:ext cx="31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rgbClr val="080808"/>
                      </a:solidFill>
                      <a:latin typeface="Times New Roman" panose="02020603050405020304" pitchFamily="18" charset="0"/>
                    </a:rPr>
                    <a:t>start</a:t>
                  </a:r>
                </a:p>
              </p:txBody>
            </p:sp>
            <p:sp>
              <p:nvSpPr>
                <p:cNvPr id="119831" name="Rectangle 10">
                  <a:extLst>
                    <a:ext uri="{FF2B5EF4-FFF2-40B4-BE49-F238E27FC236}">
                      <a16:creationId xmlns:a16="http://schemas.microsoft.com/office/drawing/2014/main" id="{1F630687-694A-41D2-87CF-1E03E75A76D4}"/>
                    </a:ext>
                  </a:extLst>
                </p:cNvPr>
                <p:cNvSpPr>
                  <a:spLocks noChangeArrowheads="1"/>
                </p:cNvSpPr>
                <p:nvPr/>
              </p:nvSpPr>
              <p:spPr bwMode="auto">
                <a:xfrm>
                  <a:off x="0" y="0"/>
                  <a:ext cx="402"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800" i="0"/>
                </a:p>
              </p:txBody>
            </p:sp>
          </p:grpSp>
          <p:grpSp>
            <p:nvGrpSpPr>
              <p:cNvPr id="119818" name="Group 11">
                <a:extLst>
                  <a:ext uri="{FF2B5EF4-FFF2-40B4-BE49-F238E27FC236}">
                    <a16:creationId xmlns:a16="http://schemas.microsoft.com/office/drawing/2014/main" id="{83DF0BF5-A6DB-46D7-B643-88DC1787ACAB}"/>
                  </a:ext>
                </a:extLst>
              </p:cNvPr>
              <p:cNvGrpSpPr>
                <a:grpSpLocks/>
              </p:cNvGrpSpPr>
              <p:nvPr/>
            </p:nvGrpSpPr>
            <p:grpSpPr bwMode="auto">
              <a:xfrm>
                <a:off x="402" y="0"/>
                <a:ext cx="442" cy="384"/>
                <a:chOff x="0" y="0"/>
                <a:chExt cx="442" cy="384"/>
              </a:xfrm>
            </p:grpSpPr>
            <p:sp>
              <p:nvSpPr>
                <p:cNvPr id="119828" name="Rectangle 12">
                  <a:extLst>
                    <a:ext uri="{FF2B5EF4-FFF2-40B4-BE49-F238E27FC236}">
                      <a16:creationId xmlns:a16="http://schemas.microsoft.com/office/drawing/2014/main" id="{7891CDFB-9759-49E9-98BC-C3DAC4B62C00}"/>
                    </a:ext>
                  </a:extLst>
                </p:cNvPr>
                <p:cNvSpPr>
                  <a:spLocks noChangeArrowheads="1"/>
                </p:cNvSpPr>
                <p:nvPr/>
              </p:nvSpPr>
              <p:spPr bwMode="auto">
                <a:xfrm>
                  <a:off x="43" y="0"/>
                  <a:ext cx="35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rgbClr val="080808"/>
                      </a:solidFill>
                      <a:latin typeface="Times New Roman" panose="02020603050405020304" pitchFamily="18" charset="0"/>
                    </a:rPr>
                    <a:t>bit[0]</a:t>
                  </a:r>
                </a:p>
              </p:txBody>
            </p:sp>
            <p:sp>
              <p:nvSpPr>
                <p:cNvPr id="119829" name="Rectangle 13">
                  <a:extLst>
                    <a:ext uri="{FF2B5EF4-FFF2-40B4-BE49-F238E27FC236}">
                      <a16:creationId xmlns:a16="http://schemas.microsoft.com/office/drawing/2014/main" id="{DBB1A7CC-BF18-41BE-B87F-2EB50B0C3704}"/>
                    </a:ext>
                  </a:extLst>
                </p:cNvPr>
                <p:cNvSpPr>
                  <a:spLocks noChangeArrowheads="1"/>
                </p:cNvSpPr>
                <p:nvPr/>
              </p:nvSpPr>
              <p:spPr bwMode="auto">
                <a:xfrm>
                  <a:off x="0" y="0"/>
                  <a:ext cx="442"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800" i="0"/>
                </a:p>
              </p:txBody>
            </p:sp>
          </p:grpSp>
          <p:grpSp>
            <p:nvGrpSpPr>
              <p:cNvPr id="119819" name="Group 14">
                <a:extLst>
                  <a:ext uri="{FF2B5EF4-FFF2-40B4-BE49-F238E27FC236}">
                    <a16:creationId xmlns:a16="http://schemas.microsoft.com/office/drawing/2014/main" id="{168D2B7D-A8D7-41C5-82DC-496262FA730B}"/>
                  </a:ext>
                </a:extLst>
              </p:cNvPr>
              <p:cNvGrpSpPr>
                <a:grpSpLocks/>
              </p:cNvGrpSpPr>
              <p:nvPr/>
            </p:nvGrpSpPr>
            <p:grpSpPr bwMode="auto">
              <a:xfrm>
                <a:off x="844" y="0"/>
                <a:ext cx="442" cy="384"/>
                <a:chOff x="0" y="0"/>
                <a:chExt cx="442" cy="384"/>
              </a:xfrm>
            </p:grpSpPr>
            <p:sp>
              <p:nvSpPr>
                <p:cNvPr id="119826" name="Rectangle 15">
                  <a:extLst>
                    <a:ext uri="{FF2B5EF4-FFF2-40B4-BE49-F238E27FC236}">
                      <a16:creationId xmlns:a16="http://schemas.microsoft.com/office/drawing/2014/main" id="{2D0783F2-B4D5-42B8-A732-AE42830554C8}"/>
                    </a:ext>
                  </a:extLst>
                </p:cNvPr>
                <p:cNvSpPr>
                  <a:spLocks noChangeArrowheads="1"/>
                </p:cNvSpPr>
                <p:nvPr/>
              </p:nvSpPr>
              <p:spPr bwMode="auto">
                <a:xfrm>
                  <a:off x="43" y="0"/>
                  <a:ext cx="35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i="0" dirty="0">
                      <a:solidFill>
                        <a:srgbClr val="080808"/>
                      </a:solidFill>
                      <a:latin typeface="Times New Roman" panose="02020603050405020304" pitchFamily="18" charset="0"/>
                    </a:rPr>
                    <a:t>b</a:t>
                  </a:r>
                  <a:r>
                    <a:rPr lang="en-US" altLang="zh-CN" sz="2800" b="1" i="0" dirty="0">
                      <a:solidFill>
                        <a:srgbClr val="080808"/>
                      </a:solidFill>
                      <a:latin typeface="Times New Roman" panose="02020603050405020304" pitchFamily="18" charset="0"/>
                    </a:rPr>
                    <a:t>it[1]</a:t>
                  </a:r>
                </a:p>
                <a:p>
                  <a:pPr algn="ctr">
                    <a:spcBef>
                      <a:spcPct val="0"/>
                    </a:spcBef>
                    <a:buClrTx/>
                    <a:buSzTx/>
                    <a:buFont typeface="Arial" panose="020B0604020202020204" pitchFamily="34" charset="0"/>
                    <a:buNone/>
                  </a:pPr>
                  <a:endParaRPr lang="en-US" altLang="zh-CN" sz="2800" b="1" i="0" dirty="0">
                    <a:solidFill>
                      <a:srgbClr val="080808"/>
                    </a:solidFill>
                    <a:latin typeface="Times New Roman" panose="02020603050405020304" pitchFamily="18" charset="0"/>
                  </a:endParaRPr>
                </a:p>
              </p:txBody>
            </p:sp>
            <p:sp>
              <p:nvSpPr>
                <p:cNvPr id="119827" name="Rectangle 16">
                  <a:extLst>
                    <a:ext uri="{FF2B5EF4-FFF2-40B4-BE49-F238E27FC236}">
                      <a16:creationId xmlns:a16="http://schemas.microsoft.com/office/drawing/2014/main" id="{70E46EB2-1633-406A-BBE1-BD32DB173FA0}"/>
                    </a:ext>
                  </a:extLst>
                </p:cNvPr>
                <p:cNvSpPr>
                  <a:spLocks noChangeArrowheads="1"/>
                </p:cNvSpPr>
                <p:nvPr/>
              </p:nvSpPr>
              <p:spPr bwMode="auto">
                <a:xfrm>
                  <a:off x="0" y="0"/>
                  <a:ext cx="442"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800" i="0"/>
                </a:p>
              </p:txBody>
            </p:sp>
          </p:grpSp>
          <p:grpSp>
            <p:nvGrpSpPr>
              <p:cNvPr id="119820" name="Group 17">
                <a:extLst>
                  <a:ext uri="{FF2B5EF4-FFF2-40B4-BE49-F238E27FC236}">
                    <a16:creationId xmlns:a16="http://schemas.microsoft.com/office/drawing/2014/main" id="{D1637E00-0041-4BD9-B8D0-FA353B921703}"/>
                  </a:ext>
                </a:extLst>
              </p:cNvPr>
              <p:cNvGrpSpPr>
                <a:grpSpLocks/>
              </p:cNvGrpSpPr>
              <p:nvPr/>
            </p:nvGrpSpPr>
            <p:grpSpPr bwMode="auto">
              <a:xfrm>
                <a:off x="1286" y="0"/>
                <a:ext cx="282" cy="384"/>
                <a:chOff x="0" y="0"/>
                <a:chExt cx="282" cy="384"/>
              </a:xfrm>
            </p:grpSpPr>
            <p:sp>
              <p:nvSpPr>
                <p:cNvPr id="119824" name="Rectangle 18">
                  <a:extLst>
                    <a:ext uri="{FF2B5EF4-FFF2-40B4-BE49-F238E27FC236}">
                      <a16:creationId xmlns:a16="http://schemas.microsoft.com/office/drawing/2014/main" id="{D411673B-9A6D-4948-99CB-D1161FC01350}"/>
                    </a:ext>
                  </a:extLst>
                </p:cNvPr>
                <p:cNvSpPr>
                  <a:spLocks noChangeArrowheads="1"/>
                </p:cNvSpPr>
                <p:nvPr/>
              </p:nvSpPr>
              <p:spPr bwMode="auto">
                <a:xfrm>
                  <a:off x="43" y="0"/>
                  <a:ext cx="19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080808"/>
                      </a:solidFill>
                      <a:latin typeface="Times New Roman" panose="02020603050405020304" pitchFamily="18" charset="0"/>
                    </a:rPr>
                    <a:t>…</a:t>
                  </a:r>
                </a:p>
                <a:p>
                  <a:pPr algn="ctr">
                    <a:spcBef>
                      <a:spcPct val="0"/>
                    </a:spcBef>
                    <a:buClrTx/>
                    <a:buSzTx/>
                    <a:buFont typeface="Arial" panose="020B0604020202020204" pitchFamily="34" charset="0"/>
                    <a:buNone/>
                  </a:pPr>
                  <a:endParaRPr lang="zh-CN" altLang="en-US" sz="2800" b="1" i="0">
                    <a:solidFill>
                      <a:srgbClr val="080808"/>
                    </a:solidFill>
                    <a:latin typeface="Times New Roman" panose="02020603050405020304" pitchFamily="18" charset="0"/>
                  </a:endParaRPr>
                </a:p>
              </p:txBody>
            </p:sp>
            <p:sp>
              <p:nvSpPr>
                <p:cNvPr id="119825" name="Rectangle 19">
                  <a:extLst>
                    <a:ext uri="{FF2B5EF4-FFF2-40B4-BE49-F238E27FC236}">
                      <a16:creationId xmlns:a16="http://schemas.microsoft.com/office/drawing/2014/main" id="{4783BF37-AE50-4AFC-81D6-B20B874800B4}"/>
                    </a:ext>
                  </a:extLst>
                </p:cNvPr>
                <p:cNvSpPr>
                  <a:spLocks noChangeArrowheads="1"/>
                </p:cNvSpPr>
                <p:nvPr/>
              </p:nvSpPr>
              <p:spPr bwMode="auto">
                <a:xfrm>
                  <a:off x="0" y="0"/>
                  <a:ext cx="282"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800" i="0"/>
                </a:p>
              </p:txBody>
            </p:sp>
          </p:grpSp>
          <p:grpSp>
            <p:nvGrpSpPr>
              <p:cNvPr id="119821" name="Group 20">
                <a:extLst>
                  <a:ext uri="{FF2B5EF4-FFF2-40B4-BE49-F238E27FC236}">
                    <a16:creationId xmlns:a16="http://schemas.microsoft.com/office/drawing/2014/main" id="{DFEA70DB-C17C-4963-B60E-618ECD6C0682}"/>
                  </a:ext>
                </a:extLst>
              </p:cNvPr>
              <p:cNvGrpSpPr>
                <a:grpSpLocks/>
              </p:cNvGrpSpPr>
              <p:nvPr/>
            </p:nvGrpSpPr>
            <p:grpSpPr bwMode="auto">
              <a:xfrm>
                <a:off x="1568" y="0"/>
                <a:ext cx="722" cy="384"/>
                <a:chOff x="0" y="0"/>
                <a:chExt cx="722" cy="384"/>
              </a:xfrm>
            </p:grpSpPr>
            <p:sp>
              <p:nvSpPr>
                <p:cNvPr id="119822" name="Rectangle 21">
                  <a:extLst>
                    <a:ext uri="{FF2B5EF4-FFF2-40B4-BE49-F238E27FC236}">
                      <a16:creationId xmlns:a16="http://schemas.microsoft.com/office/drawing/2014/main" id="{66F4C592-BCE4-43B2-AFB7-14977F7A6392}"/>
                    </a:ext>
                  </a:extLst>
                </p:cNvPr>
                <p:cNvSpPr>
                  <a:spLocks noChangeArrowheads="1"/>
                </p:cNvSpPr>
                <p:nvPr/>
              </p:nvSpPr>
              <p:spPr bwMode="auto">
                <a:xfrm>
                  <a:off x="43" y="0"/>
                  <a:ext cx="63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i="0">
                      <a:solidFill>
                        <a:srgbClr val="080808"/>
                      </a:solidFill>
                      <a:latin typeface="Times New Roman" panose="02020603050405020304" pitchFamily="18" charset="0"/>
                    </a:rPr>
                    <a:t>\0</a:t>
                  </a:r>
                  <a:endParaRPr lang="en-US" altLang="zh-CN" sz="2800" b="1" i="0">
                    <a:solidFill>
                      <a:srgbClr val="080808"/>
                    </a:solidFill>
                    <a:latin typeface="Times New Roman" panose="02020603050405020304" pitchFamily="18" charset="0"/>
                  </a:endParaRPr>
                </a:p>
                <a:p>
                  <a:pPr algn="ctr">
                    <a:spcBef>
                      <a:spcPct val="0"/>
                    </a:spcBef>
                    <a:buClrTx/>
                    <a:buSzTx/>
                    <a:buFont typeface="Arial" panose="020B0604020202020204" pitchFamily="34" charset="0"/>
                    <a:buNone/>
                  </a:pPr>
                  <a:endParaRPr lang="zh-CN" altLang="en-US" sz="2800" b="1" i="0">
                    <a:solidFill>
                      <a:srgbClr val="080808"/>
                    </a:solidFill>
                    <a:latin typeface="Times New Roman" panose="02020603050405020304" pitchFamily="18" charset="0"/>
                  </a:endParaRPr>
                </a:p>
              </p:txBody>
            </p:sp>
            <p:sp>
              <p:nvSpPr>
                <p:cNvPr id="119823" name="Rectangle 22">
                  <a:extLst>
                    <a:ext uri="{FF2B5EF4-FFF2-40B4-BE49-F238E27FC236}">
                      <a16:creationId xmlns:a16="http://schemas.microsoft.com/office/drawing/2014/main" id="{9DDCEC45-AD43-4294-BAC9-5C6A23B6570C}"/>
                    </a:ext>
                  </a:extLst>
                </p:cNvPr>
                <p:cNvSpPr>
                  <a:spLocks noChangeArrowheads="1"/>
                </p:cNvSpPr>
                <p:nvPr/>
              </p:nvSpPr>
              <p:spPr bwMode="auto">
                <a:xfrm>
                  <a:off x="0" y="0"/>
                  <a:ext cx="722"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800" i="0"/>
                </a:p>
              </p:txBody>
            </p:sp>
          </p:grpSp>
        </p:grpSp>
        <p:sp>
          <p:nvSpPr>
            <p:cNvPr id="119816" name="Rectangle 23">
              <a:extLst>
                <a:ext uri="{FF2B5EF4-FFF2-40B4-BE49-F238E27FC236}">
                  <a16:creationId xmlns:a16="http://schemas.microsoft.com/office/drawing/2014/main" id="{ECC17484-7B68-4F70-AACE-192D32C638F6}"/>
                </a:ext>
              </a:extLst>
            </p:cNvPr>
            <p:cNvSpPr>
              <a:spLocks noChangeArrowheads="1"/>
            </p:cNvSpPr>
            <p:nvPr/>
          </p:nvSpPr>
          <p:spPr bwMode="auto">
            <a:xfrm>
              <a:off x="0" y="0"/>
              <a:ext cx="2296" cy="390"/>
            </a:xfrm>
            <a:prstGeom prst="rect">
              <a:avLst/>
            </a:prstGeom>
            <a:noFill/>
            <a:ln w="9525">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800" i="0"/>
            </a:p>
          </p:txBody>
        </p:sp>
      </p:grpSp>
      <p:sp>
        <p:nvSpPr>
          <p:cNvPr id="119814" name="Text Box 24">
            <a:extLst>
              <a:ext uri="{FF2B5EF4-FFF2-40B4-BE49-F238E27FC236}">
                <a16:creationId xmlns:a16="http://schemas.microsoft.com/office/drawing/2014/main" id="{37A0CAA4-FF21-4F73-97D9-407947AC6376}"/>
              </a:ext>
            </a:extLst>
          </p:cNvPr>
          <p:cNvSpPr txBox="1">
            <a:spLocks noChangeArrowheads="1"/>
          </p:cNvSpPr>
          <p:nvPr/>
        </p:nvSpPr>
        <p:spPr bwMode="auto">
          <a:xfrm>
            <a:off x="501650" y="1297493"/>
            <a:ext cx="8802410"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0" i="0" dirty="0">
                <a:latin typeface="黑体" panose="02010609060101010101" pitchFamily="49" charset="-122"/>
                <a:ea typeface="黑体" panose="02010609060101010101" pitchFamily="49" charset="-122"/>
                <a:sym typeface="Arial" panose="020B0604020202020204" pitchFamily="34" charset="0"/>
              </a:rPr>
              <a:t>为方便理解编码过程，用</a:t>
            </a:r>
            <a:r>
              <a:rPr lang="en-US" altLang="zh-CN" sz="2800" b="0" i="0" dirty="0">
                <a:latin typeface="黑体" panose="02010609060101010101" pitchFamily="49" charset="-122"/>
                <a:ea typeface="黑体" panose="02010609060101010101" pitchFamily="49" charset="-122"/>
                <a:sym typeface="Arial" panose="020B0604020202020204" pitchFamily="34" charset="0"/>
              </a:rPr>
              <a:t>char co</a:t>
            </a:r>
            <a:r>
              <a:rPr lang="zh-CN" altLang="en-US" sz="2800" b="0" i="0" dirty="0">
                <a:latin typeface="黑体" panose="02010609060101010101" pitchFamily="49" charset="-122"/>
                <a:ea typeface="黑体" panose="02010609060101010101" pitchFamily="49" charset="-122"/>
                <a:sym typeface="Arial" panose="020B0604020202020204" pitchFamily="34" charset="0"/>
              </a:rPr>
              <a:t>de[n]存放结点编码。</a:t>
            </a:r>
            <a:endParaRPr lang="zh-CN" altLang="en-US" sz="2800" b="0" i="0" dirty="0">
              <a:latin typeface="黑体" panose="02010609060101010101" pitchFamily="49" charset="-122"/>
              <a:ea typeface="黑体" panose="02010609060101010101" pitchFamily="49" charset="-122"/>
            </a:endParaRPr>
          </a:p>
        </p:txBody>
      </p:sp>
      <p:sp>
        <p:nvSpPr>
          <p:cNvPr id="2" name="Text Box 3">
            <a:extLst>
              <a:ext uri="{FF2B5EF4-FFF2-40B4-BE49-F238E27FC236}">
                <a16:creationId xmlns:a16="http://schemas.microsoft.com/office/drawing/2014/main" id="{5E10289D-2702-0E8B-A88F-DF7A18FA2C9C}"/>
              </a:ext>
            </a:extLst>
          </p:cNvPr>
          <p:cNvSpPr txBox="1">
            <a:spLocks noChangeArrowheads="1"/>
          </p:cNvSpPr>
          <p:nvPr/>
        </p:nvSpPr>
        <p:spPr bwMode="auto">
          <a:xfrm>
            <a:off x="395536" y="188640"/>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赫夫曼编码实现</a:t>
            </a:r>
          </a:p>
        </p:txBody>
      </p:sp>
    </p:spTree>
  </p:cSld>
  <p:clrMapOvr>
    <a:masterClrMapping/>
  </p:clrMapOvr>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a:extLst>
              <a:ext uri="{FF2B5EF4-FFF2-40B4-BE49-F238E27FC236}">
                <a16:creationId xmlns:a16="http://schemas.microsoft.com/office/drawing/2014/main" id="{86599F72-0D98-42D8-B4C2-61EA06BD926D}"/>
              </a:ext>
            </a:extLst>
          </p:cNvPr>
          <p:cNvSpPr>
            <a:spLocks noRot="1" noChangeArrowheads="1"/>
          </p:cNvSpPr>
          <p:nvPr/>
        </p:nvSpPr>
        <p:spPr bwMode="auto">
          <a:xfrm>
            <a:off x="123214" y="1176485"/>
            <a:ext cx="8913282" cy="1008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2800" dirty="0"/>
              <a:t>   </a:t>
            </a:r>
            <a:r>
              <a:rPr lang="zh-CN" altLang="en-US" sz="2800" b="0" i="0" dirty="0">
                <a:latin typeface="+mn-ea"/>
                <a:ea typeface="+mn-ea"/>
              </a:rPr>
              <a:t>以电文</a:t>
            </a:r>
            <a:r>
              <a:rPr lang="zh-CN" altLang="en-US" sz="2800" b="0" i="0" dirty="0">
                <a:latin typeface="+mn-ea"/>
                <a:ea typeface="+mn-ea"/>
                <a:cs typeface="Arial" panose="020B0604020202020204" pitchFamily="34" charset="0"/>
              </a:rPr>
              <a:t>‘</a:t>
            </a:r>
            <a:r>
              <a:rPr lang="en-US" altLang="zh-CN" sz="2800" b="0" i="0" dirty="0">
                <a:latin typeface="+mn-ea"/>
                <a:ea typeface="+mn-ea"/>
                <a:cs typeface="Arial" panose="020B0604020202020204" pitchFamily="34" charset="0"/>
              </a:rPr>
              <a:t>ABACCDA’</a:t>
            </a:r>
            <a:r>
              <a:rPr lang="zh-CN" altLang="en-US" sz="2800" b="0" i="0" dirty="0">
                <a:latin typeface="+mn-ea"/>
                <a:ea typeface="+mn-ea"/>
                <a:cs typeface="Arial" panose="020B0604020202020204" pitchFamily="34" charset="0"/>
              </a:rPr>
              <a:t>的</a:t>
            </a:r>
            <a:r>
              <a:rPr lang="en-US" altLang="zh-CN" sz="2800" b="0" i="0" dirty="0">
                <a:latin typeface="+mn-ea"/>
                <a:ea typeface="+mn-ea"/>
                <a:cs typeface="Arial" panose="020B0604020202020204" pitchFamily="34" charset="0"/>
              </a:rPr>
              <a:t>A</a:t>
            </a:r>
            <a:r>
              <a:rPr lang="zh-CN" altLang="en-US" sz="2800" b="0" i="0" dirty="0">
                <a:latin typeface="+mn-ea"/>
                <a:ea typeface="+mn-ea"/>
                <a:cs typeface="Arial" panose="020B0604020202020204" pitchFamily="34" charset="0"/>
              </a:rPr>
              <a:t>、</a:t>
            </a:r>
            <a:r>
              <a:rPr lang="en-US" altLang="zh-CN" sz="2800" b="0" i="0" dirty="0">
                <a:latin typeface="+mn-ea"/>
                <a:ea typeface="+mn-ea"/>
                <a:cs typeface="Arial" panose="020B0604020202020204" pitchFamily="34" charset="0"/>
              </a:rPr>
              <a:t>B</a:t>
            </a:r>
            <a:r>
              <a:rPr lang="zh-CN" altLang="en-US" sz="2800" b="0" i="0" dirty="0">
                <a:latin typeface="+mn-ea"/>
                <a:ea typeface="+mn-ea"/>
                <a:cs typeface="Arial" panose="020B0604020202020204" pitchFamily="34" charset="0"/>
              </a:rPr>
              <a:t>字符编码为例说明编码过程。</a:t>
            </a:r>
            <a:r>
              <a:rPr lang="en-US" altLang="zh-CN" sz="2800" b="0" i="0" dirty="0">
                <a:latin typeface="+mn-ea"/>
                <a:ea typeface="+mn-ea"/>
                <a:cs typeface="Arial" panose="020B0604020202020204" pitchFamily="34" charset="0"/>
              </a:rPr>
              <a:t>        </a:t>
            </a:r>
            <a:endParaRPr lang="zh-CN" altLang="en-US" sz="2800" b="0" i="0" dirty="0">
              <a:latin typeface="+mn-ea"/>
              <a:ea typeface="+mn-ea"/>
              <a:cs typeface="Arial" panose="020B0604020202020204" pitchFamily="34" charset="0"/>
            </a:endParaRPr>
          </a:p>
        </p:txBody>
      </p:sp>
      <p:graphicFrame>
        <p:nvGraphicFramePr>
          <p:cNvPr id="99331" name="Group 3">
            <a:extLst>
              <a:ext uri="{FF2B5EF4-FFF2-40B4-BE49-F238E27FC236}">
                <a16:creationId xmlns:a16="http://schemas.microsoft.com/office/drawing/2014/main" id="{9D973197-79E7-4390-ADB1-92BBAAEDAFC8}"/>
              </a:ext>
            </a:extLst>
          </p:cNvPr>
          <p:cNvGraphicFramePr>
            <a:graphicFrameLocks noGrp="1"/>
          </p:cNvGraphicFramePr>
          <p:nvPr>
            <p:extLst>
              <p:ext uri="{D42A27DB-BD31-4B8C-83A1-F6EECF244321}">
                <p14:modId xmlns:p14="http://schemas.microsoft.com/office/powerpoint/2010/main" val="1716053676"/>
              </p:ext>
            </p:extLst>
          </p:nvPr>
        </p:nvGraphicFramePr>
        <p:xfrm>
          <a:off x="737294" y="2321073"/>
          <a:ext cx="4194175" cy="3632203"/>
        </p:xfrm>
        <a:graphic>
          <a:graphicData uri="http://schemas.openxmlformats.org/drawingml/2006/table">
            <a:tbl>
              <a:tblPr/>
              <a:tblGrid>
                <a:gridCol w="838200">
                  <a:extLst>
                    <a:ext uri="{9D8B030D-6E8A-4147-A177-3AD203B41FA5}">
                      <a16:colId xmlns:a16="http://schemas.microsoft.com/office/drawing/2014/main" val="20000"/>
                    </a:ext>
                  </a:extLst>
                </a:gridCol>
                <a:gridCol w="839788">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gridCol w="839787">
                  <a:extLst>
                    <a:ext uri="{9D8B030D-6E8A-4147-A177-3AD203B41FA5}">
                      <a16:colId xmlns:a16="http://schemas.microsoft.com/office/drawing/2014/main" val="20003"/>
                    </a:ext>
                  </a:extLst>
                </a:gridCol>
                <a:gridCol w="838200">
                  <a:extLst>
                    <a:ext uri="{9D8B030D-6E8A-4147-A177-3AD203B41FA5}">
                      <a16:colId xmlns:a16="http://schemas.microsoft.com/office/drawing/2014/main" val="20004"/>
                    </a:ext>
                  </a:extLst>
                </a:gridCol>
              </a:tblGrid>
              <a:tr h="518148">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A</a:t>
                      </a: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3</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6</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20630">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B</a:t>
                      </a: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4</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8148">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C</a:t>
                      </a: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2</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5</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9043">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D</a:t>
                      </a: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4</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8148">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2</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5</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3</a:t>
                      </a: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9043">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4</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6</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2</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4</a:t>
                      </a: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19043">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7</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0</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5</a:t>
                      </a: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graphicFrame>
        <p:nvGraphicFramePr>
          <p:cNvPr id="99381" name="Group 53">
            <a:extLst>
              <a:ext uri="{FF2B5EF4-FFF2-40B4-BE49-F238E27FC236}">
                <a16:creationId xmlns:a16="http://schemas.microsoft.com/office/drawing/2014/main" id="{1EF2288F-593E-4D9C-8366-4599A93FBA60}"/>
              </a:ext>
            </a:extLst>
          </p:cNvPr>
          <p:cNvGraphicFramePr>
            <a:graphicFrameLocks noGrp="1"/>
          </p:cNvGraphicFramePr>
          <p:nvPr>
            <p:extLst>
              <p:ext uri="{D42A27DB-BD31-4B8C-83A1-F6EECF244321}">
                <p14:modId xmlns:p14="http://schemas.microsoft.com/office/powerpoint/2010/main" val="2715335412"/>
              </p:ext>
            </p:extLst>
          </p:nvPr>
        </p:nvGraphicFramePr>
        <p:xfrm>
          <a:off x="41969" y="2303611"/>
          <a:ext cx="641350" cy="4149725"/>
        </p:xfrm>
        <a:graphic>
          <a:graphicData uri="http://schemas.openxmlformats.org/drawingml/2006/table">
            <a:tbl>
              <a:tblPr/>
              <a:tblGrid>
                <a:gridCol w="641350">
                  <a:extLst>
                    <a:ext uri="{9D8B030D-6E8A-4147-A177-3AD203B41FA5}">
                      <a16:colId xmlns:a16="http://schemas.microsoft.com/office/drawing/2014/main" val="20000"/>
                    </a:ext>
                  </a:extLst>
                </a:gridCol>
              </a:tblGrid>
              <a:tr h="518149">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0</a:t>
                      </a:r>
                    </a:p>
                  </a:txBody>
                  <a:tcPr marT="45715" marB="45715" horzOverflow="overflow">
                    <a:lnL cap="flat">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519055">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1</a:t>
                      </a:r>
                    </a:p>
                  </a:txBody>
                  <a:tcPr marT="45715" marB="45715"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519055">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2</a:t>
                      </a:r>
                    </a:p>
                  </a:txBody>
                  <a:tcPr marT="45715" marB="45715"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519055">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3</a:t>
                      </a:r>
                    </a:p>
                  </a:txBody>
                  <a:tcPr marT="45715" marB="45715"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518149">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4</a:t>
                      </a:r>
                    </a:p>
                  </a:txBody>
                  <a:tcPr marT="45715" marB="45715"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519055">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5</a:t>
                      </a:r>
                    </a:p>
                  </a:txBody>
                  <a:tcPr marT="45715" marB="45715"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518149">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6</a:t>
                      </a:r>
                    </a:p>
                  </a:txBody>
                  <a:tcPr marT="45715" marB="45715"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6"/>
                  </a:ext>
                </a:extLst>
              </a:tr>
              <a:tr h="519055">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dirty="0">
                        <a:ln>
                          <a:noFill/>
                        </a:ln>
                        <a:solidFill>
                          <a:schemeClr val="tx1"/>
                        </a:solidFill>
                        <a:effectLst/>
                        <a:latin typeface="Arial" pitchFamily="34" charset="0"/>
                        <a:ea typeface="宋体" pitchFamily="2" charset="-122"/>
                      </a:endParaRPr>
                    </a:p>
                  </a:txBody>
                  <a:tcPr marT="45715" marB="45715" horzOverflow="overflow">
                    <a:lnL cap="flat">
                      <a:noFill/>
                    </a:lnL>
                    <a:lnR cap="flat">
                      <a:noFill/>
                    </a:lnR>
                    <a:lnT>
                      <a:noFill/>
                    </a:lnT>
                    <a:lnB cap="flat">
                      <a:noFill/>
                    </a:lnB>
                    <a:lnTlToBr>
                      <a:noFill/>
                    </a:lnTlToBr>
                    <a:lnBlToTr>
                      <a:noFill/>
                    </a:lnBlToTr>
                    <a:noFill/>
                  </a:tcPr>
                </a:tc>
                <a:extLst>
                  <a:ext uri="{0D108BD9-81ED-4DB2-BD59-A6C34878D82A}">
                    <a16:rowId xmlns:a16="http://schemas.microsoft.com/office/drawing/2014/main" val="10007"/>
                  </a:ext>
                </a:extLst>
              </a:tr>
            </a:tbl>
          </a:graphicData>
        </a:graphic>
      </p:graphicFrame>
      <p:sp>
        <p:nvSpPr>
          <p:cNvPr id="99406" name="Text Box 78">
            <a:extLst>
              <a:ext uri="{FF2B5EF4-FFF2-40B4-BE49-F238E27FC236}">
                <a16:creationId xmlns:a16="http://schemas.microsoft.com/office/drawing/2014/main" id="{A8E5AE18-83A1-44D2-AA94-13CD422E148C}"/>
              </a:ext>
            </a:extLst>
          </p:cNvPr>
          <p:cNvSpPr txBox="1">
            <a:spLocks noChangeArrowheads="1"/>
          </p:cNvSpPr>
          <p:nvPr/>
        </p:nvSpPr>
        <p:spPr bwMode="auto">
          <a:xfrm>
            <a:off x="8135838" y="2218679"/>
            <a:ext cx="1081087" cy="457200"/>
          </a:xfrm>
          <a:prstGeom prst="rect">
            <a:avLst/>
          </a:prstGeom>
          <a:noFill/>
          <a:ln>
            <a:noFill/>
          </a:ln>
          <a:effectLst/>
        </p:spPr>
        <p:txBody>
          <a:bodyPr>
            <a:spAutoFit/>
          </a:bodyPr>
          <a:lstStyle>
            <a:lvl1pPr marL="342900" indent="-342900">
              <a:defRPr sz="2400">
                <a:solidFill>
                  <a:schemeClr val="tx1"/>
                </a:solidFill>
                <a:latin typeface="Arial" pitchFamily="34" charset="0"/>
                <a:ea typeface="宋体" pitchFamily="2" charset="-122"/>
              </a:defRPr>
            </a:lvl1pPr>
            <a:lvl2pPr>
              <a:defRPr sz="2400">
                <a:solidFill>
                  <a:schemeClr val="tx1"/>
                </a:solidFill>
                <a:latin typeface="Arial" pitchFamily="34" charset="0"/>
                <a:ea typeface="宋体" pitchFamily="2" charset="-122"/>
              </a:defRPr>
            </a:lvl2pPr>
            <a:lvl3pPr>
              <a:defRPr sz="2400">
                <a:solidFill>
                  <a:schemeClr val="tx1"/>
                </a:solidFill>
                <a:latin typeface="Arial" pitchFamily="34" charset="0"/>
                <a:ea typeface="宋体" pitchFamily="2" charset="-122"/>
              </a:defRPr>
            </a:lvl3pPr>
            <a:lvl4pPr>
              <a:defRPr sz="2400">
                <a:solidFill>
                  <a:schemeClr val="tx1"/>
                </a:solidFill>
                <a:latin typeface="Arial" pitchFamily="34" charset="0"/>
                <a:ea typeface="宋体" pitchFamily="2" charset="-122"/>
              </a:defRPr>
            </a:lvl4pPr>
            <a:lvl5pPr>
              <a:defRPr sz="2400">
                <a:solidFill>
                  <a:schemeClr val="tx1"/>
                </a:solidFill>
                <a:latin typeface="Arial" pitchFamily="34" charset="0"/>
                <a:ea typeface="宋体" pitchFamily="2" charset="-122"/>
              </a:defRPr>
            </a:lvl5pPr>
            <a:lvl6pPr fontAlgn="base">
              <a:spcBef>
                <a:spcPct val="0"/>
              </a:spcBef>
              <a:spcAft>
                <a:spcPct val="0"/>
              </a:spcAft>
              <a:buFont typeface="Arial" pitchFamily="34" charset="0"/>
              <a:defRPr sz="2400">
                <a:solidFill>
                  <a:schemeClr val="tx1"/>
                </a:solidFill>
                <a:latin typeface="Arial" pitchFamily="34" charset="0"/>
                <a:ea typeface="宋体" pitchFamily="2" charset="-122"/>
              </a:defRPr>
            </a:lvl6pPr>
            <a:lvl7pPr fontAlgn="base">
              <a:spcBef>
                <a:spcPct val="0"/>
              </a:spcBef>
              <a:spcAft>
                <a:spcPct val="0"/>
              </a:spcAft>
              <a:buFont typeface="Arial" pitchFamily="34" charset="0"/>
              <a:defRPr sz="2400">
                <a:solidFill>
                  <a:schemeClr val="tx1"/>
                </a:solidFill>
                <a:latin typeface="Arial" pitchFamily="34" charset="0"/>
                <a:ea typeface="宋体" pitchFamily="2" charset="-122"/>
              </a:defRPr>
            </a:lvl7pPr>
            <a:lvl8pPr fontAlgn="base">
              <a:spcBef>
                <a:spcPct val="0"/>
              </a:spcBef>
              <a:spcAft>
                <a:spcPct val="0"/>
              </a:spcAft>
              <a:buFont typeface="Arial" pitchFamily="34" charset="0"/>
              <a:defRPr sz="2400">
                <a:solidFill>
                  <a:schemeClr val="tx1"/>
                </a:solidFill>
                <a:latin typeface="Arial" pitchFamily="34" charset="0"/>
                <a:ea typeface="宋体" pitchFamily="2" charset="-122"/>
              </a:defRPr>
            </a:lvl8pPr>
            <a:lvl9pPr fontAlgn="base">
              <a:spcBef>
                <a:spcPct val="0"/>
              </a:spcBef>
              <a:spcAft>
                <a:spcPct val="0"/>
              </a:spcAft>
              <a:buFont typeface="Arial" pitchFamily="34" charset="0"/>
              <a:defRPr sz="2400">
                <a:solidFill>
                  <a:schemeClr val="tx1"/>
                </a:solidFill>
                <a:latin typeface="Arial" pitchFamily="34" charset="0"/>
                <a:ea typeface="宋体" pitchFamily="2" charset="-122"/>
              </a:defRPr>
            </a:lvl9pPr>
          </a:lstStyle>
          <a:p>
            <a:pPr eaLnBrk="1" hangingPunct="1">
              <a:spcBef>
                <a:spcPct val="50000"/>
              </a:spcBef>
              <a:buClr>
                <a:schemeClr val="hlink"/>
              </a:buClr>
              <a:buSzPct val="75000"/>
              <a:buFont typeface="Wingdings" pitchFamily="2" charset="2"/>
              <a:buNone/>
              <a:defRPr/>
            </a:pPr>
            <a:r>
              <a:rPr lang="en-US" altLang="zh-CN" b="1" i="0" dirty="0">
                <a:effectLst>
                  <a:outerShdw blurRad="38100" dist="38100" dir="2700000" algn="tl">
                    <a:srgbClr val="C0C0C0"/>
                  </a:outerShdw>
                </a:effectLst>
              </a:rPr>
              <a:t>A</a:t>
            </a:r>
            <a:r>
              <a:rPr lang="zh-CN" altLang="en-US" b="1" i="0" dirty="0">
                <a:effectLst>
                  <a:outerShdw blurRad="38100" dist="38100" dir="2700000" algn="tl">
                    <a:srgbClr val="C0C0C0"/>
                  </a:outerShdw>
                </a:effectLst>
              </a:rPr>
              <a:t>：</a:t>
            </a:r>
            <a:r>
              <a:rPr lang="en-US" altLang="zh-CN" b="1" i="0" dirty="0">
                <a:effectLst>
                  <a:outerShdw blurRad="38100" dist="38100" dir="2700000" algn="tl">
                    <a:srgbClr val="C0C0C0"/>
                  </a:outerShdw>
                </a:effectLst>
              </a:rPr>
              <a:t>0</a:t>
            </a:r>
          </a:p>
        </p:txBody>
      </p:sp>
      <p:sp>
        <p:nvSpPr>
          <p:cNvPr id="99407" name="Text Box 79">
            <a:extLst>
              <a:ext uri="{FF2B5EF4-FFF2-40B4-BE49-F238E27FC236}">
                <a16:creationId xmlns:a16="http://schemas.microsoft.com/office/drawing/2014/main" id="{19957B19-829B-480E-B030-AC8C92B5DD01}"/>
              </a:ext>
            </a:extLst>
          </p:cNvPr>
          <p:cNvSpPr txBox="1">
            <a:spLocks noChangeArrowheads="1"/>
          </p:cNvSpPr>
          <p:nvPr/>
        </p:nvSpPr>
        <p:spPr bwMode="auto">
          <a:xfrm>
            <a:off x="5291832" y="2211536"/>
            <a:ext cx="3384550" cy="457200"/>
          </a:xfrm>
          <a:prstGeom prst="rect">
            <a:avLst/>
          </a:prstGeom>
          <a:noFill/>
          <a:ln>
            <a:noFill/>
          </a:ln>
          <a:effectLst/>
        </p:spPr>
        <p:txBody>
          <a:bodyPr>
            <a:spAutoFit/>
          </a:bodyPr>
          <a:lstStyle>
            <a:lvl1pPr marL="342900" indent="-342900">
              <a:defRPr sz="2400">
                <a:solidFill>
                  <a:schemeClr val="tx1"/>
                </a:solidFill>
                <a:latin typeface="Arial" pitchFamily="34" charset="0"/>
                <a:ea typeface="宋体" pitchFamily="2" charset="-122"/>
              </a:defRPr>
            </a:lvl1pPr>
            <a:lvl2pPr>
              <a:defRPr sz="2400">
                <a:solidFill>
                  <a:schemeClr val="tx1"/>
                </a:solidFill>
                <a:latin typeface="Arial" pitchFamily="34" charset="0"/>
                <a:ea typeface="宋体" pitchFamily="2" charset="-122"/>
              </a:defRPr>
            </a:lvl2pPr>
            <a:lvl3pPr>
              <a:defRPr sz="2400">
                <a:solidFill>
                  <a:schemeClr val="tx1"/>
                </a:solidFill>
                <a:latin typeface="Arial" pitchFamily="34" charset="0"/>
                <a:ea typeface="宋体" pitchFamily="2" charset="-122"/>
              </a:defRPr>
            </a:lvl3pPr>
            <a:lvl4pPr>
              <a:defRPr sz="2400">
                <a:solidFill>
                  <a:schemeClr val="tx1"/>
                </a:solidFill>
                <a:latin typeface="Arial" pitchFamily="34" charset="0"/>
                <a:ea typeface="宋体" pitchFamily="2" charset="-122"/>
              </a:defRPr>
            </a:lvl4pPr>
            <a:lvl5pPr>
              <a:defRPr sz="2400">
                <a:solidFill>
                  <a:schemeClr val="tx1"/>
                </a:solidFill>
                <a:latin typeface="Arial" pitchFamily="34" charset="0"/>
                <a:ea typeface="宋体" pitchFamily="2" charset="-122"/>
              </a:defRPr>
            </a:lvl5pPr>
            <a:lvl6pPr fontAlgn="base">
              <a:spcBef>
                <a:spcPct val="0"/>
              </a:spcBef>
              <a:spcAft>
                <a:spcPct val="0"/>
              </a:spcAft>
              <a:buFont typeface="Arial" pitchFamily="34" charset="0"/>
              <a:defRPr sz="2400">
                <a:solidFill>
                  <a:schemeClr val="tx1"/>
                </a:solidFill>
                <a:latin typeface="Arial" pitchFamily="34" charset="0"/>
                <a:ea typeface="宋体" pitchFamily="2" charset="-122"/>
              </a:defRPr>
            </a:lvl6pPr>
            <a:lvl7pPr fontAlgn="base">
              <a:spcBef>
                <a:spcPct val="0"/>
              </a:spcBef>
              <a:spcAft>
                <a:spcPct val="0"/>
              </a:spcAft>
              <a:buFont typeface="Arial" pitchFamily="34" charset="0"/>
              <a:defRPr sz="2400">
                <a:solidFill>
                  <a:schemeClr val="tx1"/>
                </a:solidFill>
                <a:latin typeface="Arial" pitchFamily="34" charset="0"/>
                <a:ea typeface="宋体" pitchFamily="2" charset="-122"/>
              </a:defRPr>
            </a:lvl7pPr>
            <a:lvl8pPr fontAlgn="base">
              <a:spcBef>
                <a:spcPct val="0"/>
              </a:spcBef>
              <a:spcAft>
                <a:spcPct val="0"/>
              </a:spcAft>
              <a:buFont typeface="Arial" pitchFamily="34" charset="0"/>
              <a:defRPr sz="2400">
                <a:solidFill>
                  <a:schemeClr val="tx1"/>
                </a:solidFill>
                <a:latin typeface="Arial" pitchFamily="34" charset="0"/>
                <a:ea typeface="宋体" pitchFamily="2" charset="-122"/>
              </a:defRPr>
            </a:lvl8pPr>
            <a:lvl9pPr fontAlgn="base">
              <a:spcBef>
                <a:spcPct val="0"/>
              </a:spcBef>
              <a:spcAft>
                <a:spcPct val="0"/>
              </a:spcAft>
              <a:buFont typeface="Arial" pitchFamily="34" charset="0"/>
              <a:defRPr sz="2400">
                <a:solidFill>
                  <a:schemeClr val="tx1"/>
                </a:solidFill>
                <a:latin typeface="Arial" pitchFamily="34" charset="0"/>
                <a:ea typeface="宋体" pitchFamily="2" charset="-122"/>
              </a:defRPr>
            </a:lvl9pPr>
          </a:lstStyle>
          <a:p>
            <a:pPr eaLnBrk="1" hangingPunct="1">
              <a:spcBef>
                <a:spcPct val="50000"/>
              </a:spcBef>
              <a:buClr>
                <a:schemeClr val="hlink"/>
              </a:buClr>
              <a:buSzPct val="75000"/>
              <a:buFont typeface="Wingdings" pitchFamily="2" charset="2"/>
              <a:buNone/>
              <a:defRPr/>
            </a:pPr>
            <a:r>
              <a:rPr lang="en-US" altLang="zh-CN" i="0" dirty="0">
                <a:solidFill>
                  <a:srgbClr val="D60629"/>
                </a:solidFill>
                <a:effectLst>
                  <a:outerShdw blurRad="38100" dist="38100" dir="2700000" algn="tl">
                    <a:srgbClr val="C0C0C0"/>
                  </a:outerShdw>
                </a:effectLst>
                <a:latin typeface="+mn-ea"/>
                <a:ea typeface="+mn-ea"/>
              </a:rPr>
              <a:t>A</a:t>
            </a:r>
            <a:r>
              <a:rPr lang="zh-CN" altLang="en-US" i="0" dirty="0">
                <a:solidFill>
                  <a:srgbClr val="D60629"/>
                </a:solidFill>
                <a:effectLst>
                  <a:outerShdw blurRad="38100" dist="38100" dir="2700000" algn="tl">
                    <a:srgbClr val="C0C0C0"/>
                  </a:outerShdw>
                </a:effectLst>
                <a:latin typeface="+mn-ea"/>
                <a:ea typeface="+mn-ea"/>
              </a:rPr>
              <a:t>字符的</a:t>
            </a:r>
            <a:r>
              <a:rPr lang="en-US" altLang="zh-CN" i="0" dirty="0">
                <a:solidFill>
                  <a:srgbClr val="D60629"/>
                </a:solidFill>
                <a:effectLst>
                  <a:outerShdw blurRad="38100" dist="38100" dir="2700000" algn="tl">
                    <a:srgbClr val="C0C0C0"/>
                  </a:outerShdw>
                </a:effectLst>
                <a:latin typeface="+mn-ea"/>
                <a:ea typeface="+mn-ea"/>
              </a:rPr>
              <a:t>code</a:t>
            </a:r>
            <a:r>
              <a:rPr lang="zh-CN" altLang="en-US" i="0" dirty="0">
                <a:solidFill>
                  <a:srgbClr val="D60629"/>
                </a:solidFill>
                <a:effectLst>
                  <a:outerShdw blurRad="38100" dist="38100" dir="2700000" algn="tl">
                    <a:srgbClr val="C0C0C0"/>
                  </a:outerShdw>
                </a:effectLst>
                <a:latin typeface="+mn-ea"/>
                <a:ea typeface="+mn-ea"/>
              </a:rPr>
              <a:t>变化</a:t>
            </a:r>
            <a:r>
              <a:rPr lang="en-US" altLang="zh-CN" i="0" dirty="0">
                <a:solidFill>
                  <a:srgbClr val="D60629"/>
                </a:solidFill>
                <a:effectLst>
                  <a:outerShdw blurRad="38100" dist="38100" dir="2700000" algn="tl">
                    <a:srgbClr val="C0C0C0"/>
                  </a:outerShdw>
                </a:effectLst>
                <a:latin typeface="+mn-ea"/>
                <a:ea typeface="+mn-ea"/>
              </a:rPr>
              <a:t>:</a:t>
            </a:r>
          </a:p>
        </p:txBody>
      </p:sp>
      <p:graphicFrame>
        <p:nvGraphicFramePr>
          <p:cNvPr id="99408" name="Group 80">
            <a:extLst>
              <a:ext uri="{FF2B5EF4-FFF2-40B4-BE49-F238E27FC236}">
                <a16:creationId xmlns:a16="http://schemas.microsoft.com/office/drawing/2014/main" id="{E20CB615-2FE9-4C61-B000-F3F8E44F4BE9}"/>
              </a:ext>
            </a:extLst>
          </p:cNvPr>
          <p:cNvGraphicFramePr>
            <a:graphicFrameLocks noGrp="1"/>
          </p:cNvGraphicFramePr>
          <p:nvPr>
            <p:extLst>
              <p:ext uri="{D42A27DB-BD31-4B8C-83A1-F6EECF244321}">
                <p14:modId xmlns:p14="http://schemas.microsoft.com/office/powerpoint/2010/main" val="3553641758"/>
              </p:ext>
            </p:extLst>
          </p:nvPr>
        </p:nvGraphicFramePr>
        <p:xfrm>
          <a:off x="6552306" y="2917973"/>
          <a:ext cx="2052142" cy="517530"/>
        </p:xfrm>
        <a:graphic>
          <a:graphicData uri="http://schemas.openxmlformats.org/drawingml/2006/table">
            <a:tbl>
              <a:tblPr/>
              <a:tblGrid>
                <a:gridCol w="513035">
                  <a:extLst>
                    <a:ext uri="{9D8B030D-6E8A-4147-A177-3AD203B41FA5}">
                      <a16:colId xmlns:a16="http://schemas.microsoft.com/office/drawing/2014/main" val="20000"/>
                    </a:ext>
                  </a:extLst>
                </a:gridCol>
                <a:gridCol w="513036">
                  <a:extLst>
                    <a:ext uri="{9D8B030D-6E8A-4147-A177-3AD203B41FA5}">
                      <a16:colId xmlns:a16="http://schemas.microsoft.com/office/drawing/2014/main" val="20001"/>
                    </a:ext>
                  </a:extLst>
                </a:gridCol>
                <a:gridCol w="513035">
                  <a:extLst>
                    <a:ext uri="{9D8B030D-6E8A-4147-A177-3AD203B41FA5}">
                      <a16:colId xmlns:a16="http://schemas.microsoft.com/office/drawing/2014/main" val="20002"/>
                    </a:ext>
                  </a:extLst>
                </a:gridCol>
                <a:gridCol w="513036">
                  <a:extLst>
                    <a:ext uri="{9D8B030D-6E8A-4147-A177-3AD203B41FA5}">
                      <a16:colId xmlns:a16="http://schemas.microsoft.com/office/drawing/2014/main" val="20003"/>
                    </a:ext>
                  </a:extLst>
                </a:gridCol>
              </a:tblGrid>
              <a:tr h="517525">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dirty="0">
                        <a:ln>
                          <a:noFill/>
                        </a:ln>
                        <a:solidFill>
                          <a:schemeClr val="tx1"/>
                        </a:solidFill>
                        <a:effectLst/>
                        <a:latin typeface="Arial" pitchFamily="34" charset="0"/>
                        <a:ea typeface="宋体" pitchFamily="2" charset="-122"/>
                      </a:endParaRPr>
                    </a:p>
                  </a:txBody>
                  <a:tcPr marT="45405" marB="45405"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marT="45405" marB="4540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dirty="0">
                        <a:ln>
                          <a:noFill/>
                        </a:ln>
                        <a:solidFill>
                          <a:schemeClr val="tx1"/>
                        </a:solidFill>
                        <a:effectLst/>
                        <a:latin typeface="Arial" pitchFamily="34" charset="0"/>
                        <a:ea typeface="宋体" pitchFamily="2" charset="-122"/>
                      </a:endParaRPr>
                    </a:p>
                  </a:txBody>
                  <a:tcPr marT="45405" marB="4540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800" b="0" i="0" u="none" strike="noStrike" cap="none" normalizeH="0" baseline="0" dirty="0">
                          <a:ln>
                            <a:noFill/>
                          </a:ln>
                          <a:solidFill>
                            <a:schemeClr val="tx1"/>
                          </a:solidFill>
                          <a:effectLst/>
                          <a:latin typeface="Arial" pitchFamily="34" charset="0"/>
                          <a:ea typeface="宋体" pitchFamily="2" charset="-122"/>
                        </a:rPr>
                        <a:t>\0</a:t>
                      </a:r>
                    </a:p>
                  </a:txBody>
                  <a:tcPr marT="45405" marB="45405"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99420" name="Text Box 92">
            <a:extLst>
              <a:ext uri="{FF2B5EF4-FFF2-40B4-BE49-F238E27FC236}">
                <a16:creationId xmlns:a16="http://schemas.microsoft.com/office/drawing/2014/main" id="{645E378C-F309-406C-83AD-6AD5E1335821}"/>
              </a:ext>
            </a:extLst>
          </p:cNvPr>
          <p:cNvSpPr txBox="1">
            <a:spLocks noChangeArrowheads="1"/>
          </p:cNvSpPr>
          <p:nvPr/>
        </p:nvSpPr>
        <p:spPr bwMode="auto">
          <a:xfrm>
            <a:off x="5328344" y="2917973"/>
            <a:ext cx="1223963" cy="457200"/>
          </a:xfrm>
          <a:prstGeom prst="rect">
            <a:avLst/>
          </a:prstGeom>
          <a:noFill/>
          <a:ln>
            <a:noFill/>
          </a:ln>
          <a:effectLst/>
        </p:spPr>
        <p:txBody>
          <a:bodyPr wrap="square">
            <a:spAutoFit/>
          </a:bodyPr>
          <a:lstStyle>
            <a:lvl1pPr marL="342900" indent="-342900">
              <a:defRPr sz="2400">
                <a:solidFill>
                  <a:schemeClr val="tx1"/>
                </a:solidFill>
                <a:latin typeface="Arial" pitchFamily="34" charset="0"/>
                <a:ea typeface="宋体" pitchFamily="2" charset="-122"/>
              </a:defRPr>
            </a:lvl1pPr>
            <a:lvl2pPr>
              <a:defRPr sz="2400">
                <a:solidFill>
                  <a:schemeClr val="tx1"/>
                </a:solidFill>
                <a:latin typeface="Arial" pitchFamily="34" charset="0"/>
                <a:ea typeface="宋体" pitchFamily="2" charset="-122"/>
              </a:defRPr>
            </a:lvl2pPr>
            <a:lvl3pPr>
              <a:defRPr sz="2400">
                <a:solidFill>
                  <a:schemeClr val="tx1"/>
                </a:solidFill>
                <a:latin typeface="Arial" pitchFamily="34" charset="0"/>
                <a:ea typeface="宋体" pitchFamily="2" charset="-122"/>
              </a:defRPr>
            </a:lvl3pPr>
            <a:lvl4pPr>
              <a:defRPr sz="2400">
                <a:solidFill>
                  <a:schemeClr val="tx1"/>
                </a:solidFill>
                <a:latin typeface="Arial" pitchFamily="34" charset="0"/>
                <a:ea typeface="宋体" pitchFamily="2" charset="-122"/>
              </a:defRPr>
            </a:lvl4pPr>
            <a:lvl5pPr>
              <a:defRPr sz="2400">
                <a:solidFill>
                  <a:schemeClr val="tx1"/>
                </a:solidFill>
                <a:latin typeface="Arial" pitchFamily="34" charset="0"/>
                <a:ea typeface="宋体" pitchFamily="2" charset="-122"/>
              </a:defRPr>
            </a:lvl5pPr>
            <a:lvl6pPr fontAlgn="base">
              <a:spcBef>
                <a:spcPct val="0"/>
              </a:spcBef>
              <a:spcAft>
                <a:spcPct val="0"/>
              </a:spcAft>
              <a:buFont typeface="Arial" pitchFamily="34" charset="0"/>
              <a:defRPr sz="2400">
                <a:solidFill>
                  <a:schemeClr val="tx1"/>
                </a:solidFill>
                <a:latin typeface="Arial" pitchFamily="34" charset="0"/>
                <a:ea typeface="宋体" pitchFamily="2" charset="-122"/>
              </a:defRPr>
            </a:lvl6pPr>
            <a:lvl7pPr fontAlgn="base">
              <a:spcBef>
                <a:spcPct val="0"/>
              </a:spcBef>
              <a:spcAft>
                <a:spcPct val="0"/>
              </a:spcAft>
              <a:buFont typeface="Arial" pitchFamily="34" charset="0"/>
              <a:defRPr sz="2400">
                <a:solidFill>
                  <a:schemeClr val="tx1"/>
                </a:solidFill>
                <a:latin typeface="Arial" pitchFamily="34" charset="0"/>
                <a:ea typeface="宋体" pitchFamily="2" charset="-122"/>
              </a:defRPr>
            </a:lvl7pPr>
            <a:lvl8pPr fontAlgn="base">
              <a:spcBef>
                <a:spcPct val="0"/>
              </a:spcBef>
              <a:spcAft>
                <a:spcPct val="0"/>
              </a:spcAft>
              <a:buFont typeface="Arial" pitchFamily="34" charset="0"/>
              <a:defRPr sz="2400">
                <a:solidFill>
                  <a:schemeClr val="tx1"/>
                </a:solidFill>
                <a:latin typeface="Arial" pitchFamily="34" charset="0"/>
                <a:ea typeface="宋体" pitchFamily="2" charset="-122"/>
              </a:defRPr>
            </a:lvl8pPr>
            <a:lvl9pPr fontAlgn="base">
              <a:spcBef>
                <a:spcPct val="0"/>
              </a:spcBef>
              <a:spcAft>
                <a:spcPct val="0"/>
              </a:spcAft>
              <a:buFont typeface="Arial" pitchFamily="34" charset="0"/>
              <a:defRPr sz="2400">
                <a:solidFill>
                  <a:schemeClr val="tx1"/>
                </a:solidFill>
                <a:latin typeface="Arial" pitchFamily="34" charset="0"/>
                <a:ea typeface="宋体" pitchFamily="2" charset="-122"/>
              </a:defRPr>
            </a:lvl9pPr>
          </a:lstStyle>
          <a:p>
            <a:pPr eaLnBrk="1" hangingPunct="1">
              <a:spcBef>
                <a:spcPct val="50000"/>
              </a:spcBef>
              <a:buClr>
                <a:schemeClr val="hlink"/>
              </a:buClr>
              <a:buSzPct val="75000"/>
              <a:buFont typeface="Wingdings" pitchFamily="2" charset="2"/>
              <a:buNone/>
              <a:defRPr/>
            </a:pPr>
            <a:r>
              <a:rPr lang="en-US" altLang="zh-CN" i="0" dirty="0">
                <a:solidFill>
                  <a:srgbClr val="D60629"/>
                </a:solidFill>
                <a:effectLst>
                  <a:outerShdw blurRad="38100" dist="38100" dir="2700000" algn="tl">
                    <a:srgbClr val="C0C0C0"/>
                  </a:outerShdw>
                </a:effectLst>
              </a:rPr>
              <a:t>start: 2</a:t>
            </a:r>
          </a:p>
        </p:txBody>
      </p:sp>
      <p:sp>
        <p:nvSpPr>
          <p:cNvPr id="99421" name="Text Box 93">
            <a:extLst>
              <a:ext uri="{FF2B5EF4-FFF2-40B4-BE49-F238E27FC236}">
                <a16:creationId xmlns:a16="http://schemas.microsoft.com/office/drawing/2014/main" id="{F0BDB337-E57A-4AEB-9710-68EF2F3FF82C}"/>
              </a:ext>
            </a:extLst>
          </p:cNvPr>
          <p:cNvSpPr txBox="1">
            <a:spLocks noChangeArrowheads="1"/>
          </p:cNvSpPr>
          <p:nvPr/>
        </p:nvSpPr>
        <p:spPr bwMode="auto">
          <a:xfrm>
            <a:off x="5518703" y="6327379"/>
            <a:ext cx="1516663" cy="457200"/>
          </a:xfrm>
          <a:prstGeom prst="rect">
            <a:avLst/>
          </a:prstGeom>
          <a:noFill/>
          <a:ln>
            <a:noFill/>
          </a:ln>
          <a:effectLst/>
        </p:spPr>
        <p:txBody>
          <a:bodyPr wrap="square">
            <a:spAutoFit/>
          </a:bodyPr>
          <a:lstStyle>
            <a:lvl1pPr marL="342900" indent="-342900">
              <a:defRPr sz="2400">
                <a:solidFill>
                  <a:schemeClr val="tx1"/>
                </a:solidFill>
                <a:latin typeface="Arial" pitchFamily="34" charset="0"/>
                <a:ea typeface="宋体" pitchFamily="2" charset="-122"/>
              </a:defRPr>
            </a:lvl1pPr>
            <a:lvl2pPr>
              <a:defRPr sz="2400">
                <a:solidFill>
                  <a:schemeClr val="tx1"/>
                </a:solidFill>
                <a:latin typeface="Arial" pitchFamily="34" charset="0"/>
                <a:ea typeface="宋体" pitchFamily="2" charset="-122"/>
              </a:defRPr>
            </a:lvl2pPr>
            <a:lvl3pPr>
              <a:defRPr sz="2400">
                <a:solidFill>
                  <a:schemeClr val="tx1"/>
                </a:solidFill>
                <a:latin typeface="Arial" pitchFamily="34" charset="0"/>
                <a:ea typeface="宋体" pitchFamily="2" charset="-122"/>
              </a:defRPr>
            </a:lvl3pPr>
            <a:lvl4pPr>
              <a:defRPr sz="2400">
                <a:solidFill>
                  <a:schemeClr val="tx1"/>
                </a:solidFill>
                <a:latin typeface="Arial" pitchFamily="34" charset="0"/>
                <a:ea typeface="宋体" pitchFamily="2" charset="-122"/>
              </a:defRPr>
            </a:lvl4pPr>
            <a:lvl5pPr>
              <a:defRPr sz="2400">
                <a:solidFill>
                  <a:schemeClr val="tx1"/>
                </a:solidFill>
                <a:latin typeface="Arial" pitchFamily="34" charset="0"/>
                <a:ea typeface="宋体" pitchFamily="2" charset="-122"/>
              </a:defRPr>
            </a:lvl5pPr>
            <a:lvl6pPr fontAlgn="base">
              <a:spcBef>
                <a:spcPct val="0"/>
              </a:spcBef>
              <a:spcAft>
                <a:spcPct val="0"/>
              </a:spcAft>
              <a:buFont typeface="Arial" pitchFamily="34" charset="0"/>
              <a:defRPr sz="2400">
                <a:solidFill>
                  <a:schemeClr val="tx1"/>
                </a:solidFill>
                <a:latin typeface="Arial" pitchFamily="34" charset="0"/>
                <a:ea typeface="宋体" pitchFamily="2" charset="-122"/>
              </a:defRPr>
            </a:lvl6pPr>
            <a:lvl7pPr fontAlgn="base">
              <a:spcBef>
                <a:spcPct val="0"/>
              </a:spcBef>
              <a:spcAft>
                <a:spcPct val="0"/>
              </a:spcAft>
              <a:buFont typeface="Arial" pitchFamily="34" charset="0"/>
              <a:defRPr sz="2400">
                <a:solidFill>
                  <a:schemeClr val="tx1"/>
                </a:solidFill>
                <a:latin typeface="Arial" pitchFamily="34" charset="0"/>
                <a:ea typeface="宋体" pitchFamily="2" charset="-122"/>
              </a:defRPr>
            </a:lvl7pPr>
            <a:lvl8pPr fontAlgn="base">
              <a:spcBef>
                <a:spcPct val="0"/>
              </a:spcBef>
              <a:spcAft>
                <a:spcPct val="0"/>
              </a:spcAft>
              <a:buFont typeface="Arial" pitchFamily="34" charset="0"/>
              <a:defRPr sz="2400">
                <a:solidFill>
                  <a:schemeClr val="tx1"/>
                </a:solidFill>
                <a:latin typeface="Arial" pitchFamily="34" charset="0"/>
                <a:ea typeface="宋体" pitchFamily="2" charset="-122"/>
              </a:defRPr>
            </a:lvl8pPr>
            <a:lvl9pPr fontAlgn="base">
              <a:spcBef>
                <a:spcPct val="0"/>
              </a:spcBef>
              <a:spcAft>
                <a:spcPct val="0"/>
              </a:spcAft>
              <a:buFont typeface="Arial" pitchFamily="34" charset="0"/>
              <a:defRPr sz="2400">
                <a:solidFill>
                  <a:schemeClr val="tx1"/>
                </a:solidFill>
                <a:latin typeface="Arial" pitchFamily="34" charset="0"/>
                <a:ea typeface="宋体" pitchFamily="2" charset="-122"/>
              </a:defRPr>
            </a:lvl9pPr>
          </a:lstStyle>
          <a:p>
            <a:pPr eaLnBrk="1" hangingPunct="1">
              <a:spcBef>
                <a:spcPct val="50000"/>
              </a:spcBef>
              <a:buClr>
                <a:schemeClr val="hlink"/>
              </a:buClr>
              <a:buSzPct val="75000"/>
              <a:buFont typeface="Wingdings" pitchFamily="2" charset="2"/>
              <a:buNone/>
              <a:defRPr/>
            </a:pPr>
            <a:r>
              <a:rPr lang="en-US" altLang="zh-CN" b="1" i="0" dirty="0">
                <a:effectLst>
                  <a:outerShdw blurRad="38100" dist="38100" dir="2700000" algn="tl">
                    <a:srgbClr val="C0C0C0"/>
                  </a:outerShdw>
                </a:effectLst>
              </a:rPr>
              <a:t>B</a:t>
            </a:r>
            <a:r>
              <a:rPr lang="zh-CN" altLang="en-US" b="1" i="0" dirty="0">
                <a:effectLst>
                  <a:outerShdw blurRad="38100" dist="38100" dir="2700000" algn="tl">
                    <a:srgbClr val="C0C0C0"/>
                  </a:outerShdw>
                </a:effectLst>
              </a:rPr>
              <a:t>：</a:t>
            </a:r>
            <a:r>
              <a:rPr lang="en-US" altLang="zh-CN" b="1" i="0" dirty="0">
                <a:effectLst>
                  <a:outerShdw blurRad="38100" dist="38100" dir="2700000" algn="tl">
                    <a:srgbClr val="C0C0C0"/>
                  </a:outerShdw>
                </a:effectLst>
              </a:rPr>
              <a:t>110</a:t>
            </a:r>
          </a:p>
        </p:txBody>
      </p:sp>
      <p:sp>
        <p:nvSpPr>
          <p:cNvPr id="99422" name="Text Box 94">
            <a:extLst>
              <a:ext uri="{FF2B5EF4-FFF2-40B4-BE49-F238E27FC236}">
                <a16:creationId xmlns:a16="http://schemas.microsoft.com/office/drawing/2014/main" id="{31CD8672-8F39-43F2-A0CF-6BE2229F000F}"/>
              </a:ext>
            </a:extLst>
          </p:cNvPr>
          <p:cNvSpPr txBox="1">
            <a:spLocks noChangeArrowheads="1"/>
          </p:cNvSpPr>
          <p:nvPr/>
        </p:nvSpPr>
        <p:spPr bwMode="auto">
          <a:xfrm>
            <a:off x="5279414" y="3651398"/>
            <a:ext cx="3384550" cy="457200"/>
          </a:xfrm>
          <a:prstGeom prst="rect">
            <a:avLst/>
          </a:prstGeom>
          <a:noFill/>
          <a:ln>
            <a:noFill/>
          </a:ln>
          <a:effectLst/>
        </p:spPr>
        <p:txBody>
          <a:bodyPr>
            <a:spAutoFit/>
          </a:bodyPr>
          <a:lstStyle>
            <a:lvl1pPr marL="342900" indent="-342900">
              <a:defRPr sz="2400">
                <a:solidFill>
                  <a:schemeClr val="tx1"/>
                </a:solidFill>
                <a:latin typeface="Arial" pitchFamily="34" charset="0"/>
                <a:ea typeface="宋体" pitchFamily="2" charset="-122"/>
              </a:defRPr>
            </a:lvl1pPr>
            <a:lvl2pPr>
              <a:defRPr sz="2400">
                <a:solidFill>
                  <a:schemeClr val="tx1"/>
                </a:solidFill>
                <a:latin typeface="Arial" pitchFamily="34" charset="0"/>
                <a:ea typeface="宋体" pitchFamily="2" charset="-122"/>
              </a:defRPr>
            </a:lvl2pPr>
            <a:lvl3pPr>
              <a:defRPr sz="2400">
                <a:solidFill>
                  <a:schemeClr val="tx1"/>
                </a:solidFill>
                <a:latin typeface="Arial" pitchFamily="34" charset="0"/>
                <a:ea typeface="宋体" pitchFamily="2" charset="-122"/>
              </a:defRPr>
            </a:lvl3pPr>
            <a:lvl4pPr>
              <a:defRPr sz="2400">
                <a:solidFill>
                  <a:schemeClr val="tx1"/>
                </a:solidFill>
                <a:latin typeface="Arial" pitchFamily="34" charset="0"/>
                <a:ea typeface="宋体" pitchFamily="2" charset="-122"/>
              </a:defRPr>
            </a:lvl4pPr>
            <a:lvl5pPr>
              <a:defRPr sz="2400">
                <a:solidFill>
                  <a:schemeClr val="tx1"/>
                </a:solidFill>
                <a:latin typeface="Arial" pitchFamily="34" charset="0"/>
                <a:ea typeface="宋体" pitchFamily="2" charset="-122"/>
              </a:defRPr>
            </a:lvl5pPr>
            <a:lvl6pPr fontAlgn="base">
              <a:spcBef>
                <a:spcPct val="0"/>
              </a:spcBef>
              <a:spcAft>
                <a:spcPct val="0"/>
              </a:spcAft>
              <a:buFont typeface="Arial" pitchFamily="34" charset="0"/>
              <a:defRPr sz="2400">
                <a:solidFill>
                  <a:schemeClr val="tx1"/>
                </a:solidFill>
                <a:latin typeface="Arial" pitchFamily="34" charset="0"/>
                <a:ea typeface="宋体" pitchFamily="2" charset="-122"/>
              </a:defRPr>
            </a:lvl6pPr>
            <a:lvl7pPr fontAlgn="base">
              <a:spcBef>
                <a:spcPct val="0"/>
              </a:spcBef>
              <a:spcAft>
                <a:spcPct val="0"/>
              </a:spcAft>
              <a:buFont typeface="Arial" pitchFamily="34" charset="0"/>
              <a:defRPr sz="2400">
                <a:solidFill>
                  <a:schemeClr val="tx1"/>
                </a:solidFill>
                <a:latin typeface="Arial" pitchFamily="34" charset="0"/>
                <a:ea typeface="宋体" pitchFamily="2" charset="-122"/>
              </a:defRPr>
            </a:lvl7pPr>
            <a:lvl8pPr fontAlgn="base">
              <a:spcBef>
                <a:spcPct val="0"/>
              </a:spcBef>
              <a:spcAft>
                <a:spcPct val="0"/>
              </a:spcAft>
              <a:buFont typeface="Arial" pitchFamily="34" charset="0"/>
              <a:defRPr sz="2400">
                <a:solidFill>
                  <a:schemeClr val="tx1"/>
                </a:solidFill>
                <a:latin typeface="Arial" pitchFamily="34" charset="0"/>
                <a:ea typeface="宋体" pitchFamily="2" charset="-122"/>
              </a:defRPr>
            </a:lvl8pPr>
            <a:lvl9pPr fontAlgn="base">
              <a:spcBef>
                <a:spcPct val="0"/>
              </a:spcBef>
              <a:spcAft>
                <a:spcPct val="0"/>
              </a:spcAft>
              <a:buFont typeface="Arial" pitchFamily="34" charset="0"/>
              <a:defRPr sz="2400">
                <a:solidFill>
                  <a:schemeClr val="tx1"/>
                </a:solidFill>
                <a:latin typeface="Arial" pitchFamily="34" charset="0"/>
                <a:ea typeface="宋体" pitchFamily="2" charset="-122"/>
              </a:defRPr>
            </a:lvl9pPr>
          </a:lstStyle>
          <a:p>
            <a:pPr eaLnBrk="1" hangingPunct="1">
              <a:spcBef>
                <a:spcPct val="50000"/>
              </a:spcBef>
              <a:buClr>
                <a:schemeClr val="hlink"/>
              </a:buClr>
              <a:buSzPct val="75000"/>
              <a:buFont typeface="Wingdings" pitchFamily="2" charset="2"/>
              <a:buNone/>
              <a:defRPr/>
            </a:pPr>
            <a:r>
              <a:rPr lang="en-US" altLang="zh-CN" b="1" i="0">
                <a:solidFill>
                  <a:srgbClr val="D60629"/>
                </a:solidFill>
                <a:effectLst>
                  <a:outerShdw blurRad="38100" dist="38100" dir="2700000" algn="tl">
                    <a:srgbClr val="C0C0C0"/>
                  </a:outerShdw>
                </a:effectLst>
              </a:rPr>
              <a:t>B</a:t>
            </a:r>
            <a:r>
              <a:rPr lang="zh-CN" altLang="en-US" b="1" i="0">
                <a:solidFill>
                  <a:srgbClr val="D60629"/>
                </a:solidFill>
                <a:effectLst>
                  <a:outerShdw blurRad="38100" dist="38100" dir="2700000" algn="tl">
                    <a:srgbClr val="C0C0C0"/>
                  </a:outerShdw>
                </a:effectLst>
              </a:rPr>
              <a:t>字符的</a:t>
            </a:r>
            <a:r>
              <a:rPr lang="en-US" altLang="zh-CN" b="1" i="0">
                <a:solidFill>
                  <a:srgbClr val="D60629"/>
                </a:solidFill>
                <a:effectLst>
                  <a:outerShdw blurRad="38100" dist="38100" dir="2700000" algn="tl">
                    <a:srgbClr val="C0C0C0"/>
                  </a:outerShdw>
                </a:effectLst>
              </a:rPr>
              <a:t>code</a:t>
            </a:r>
            <a:r>
              <a:rPr lang="zh-CN" altLang="en-US" b="1" i="0">
                <a:solidFill>
                  <a:srgbClr val="D60629"/>
                </a:solidFill>
                <a:effectLst>
                  <a:outerShdw blurRad="38100" dist="38100" dir="2700000" algn="tl">
                    <a:srgbClr val="C0C0C0"/>
                  </a:outerShdw>
                </a:effectLst>
              </a:rPr>
              <a:t>变化</a:t>
            </a:r>
            <a:r>
              <a:rPr lang="en-US" altLang="zh-CN" b="1" i="0">
                <a:solidFill>
                  <a:srgbClr val="D60629"/>
                </a:solidFill>
                <a:effectLst>
                  <a:outerShdw blurRad="38100" dist="38100" dir="2700000" algn="tl">
                    <a:srgbClr val="C0C0C0"/>
                  </a:outerShdw>
                </a:effectLst>
              </a:rPr>
              <a:t>:</a:t>
            </a:r>
          </a:p>
        </p:txBody>
      </p:sp>
      <p:graphicFrame>
        <p:nvGraphicFramePr>
          <p:cNvPr id="99423" name="Group 95">
            <a:extLst>
              <a:ext uri="{FF2B5EF4-FFF2-40B4-BE49-F238E27FC236}">
                <a16:creationId xmlns:a16="http://schemas.microsoft.com/office/drawing/2014/main" id="{F3F16D1B-3978-4B7E-BA16-9DDF1ED74A7D}"/>
              </a:ext>
            </a:extLst>
          </p:cNvPr>
          <p:cNvGraphicFramePr>
            <a:graphicFrameLocks noGrp="1"/>
          </p:cNvGraphicFramePr>
          <p:nvPr>
            <p:extLst>
              <p:ext uri="{D42A27DB-BD31-4B8C-83A1-F6EECF244321}">
                <p14:modId xmlns:p14="http://schemas.microsoft.com/office/powerpoint/2010/main" val="3929232509"/>
              </p:ext>
            </p:extLst>
          </p:nvPr>
        </p:nvGraphicFramePr>
        <p:xfrm>
          <a:off x="6660257" y="4227661"/>
          <a:ext cx="2160215" cy="519112"/>
        </p:xfrm>
        <a:graphic>
          <a:graphicData uri="http://schemas.openxmlformats.org/drawingml/2006/table">
            <a:tbl>
              <a:tblPr/>
              <a:tblGrid>
                <a:gridCol w="421005">
                  <a:extLst>
                    <a:ext uri="{9D8B030D-6E8A-4147-A177-3AD203B41FA5}">
                      <a16:colId xmlns:a16="http://schemas.microsoft.com/office/drawing/2014/main" val="20000"/>
                    </a:ext>
                  </a:extLst>
                </a:gridCol>
                <a:gridCol w="587082">
                  <a:extLst>
                    <a:ext uri="{9D8B030D-6E8A-4147-A177-3AD203B41FA5}">
                      <a16:colId xmlns:a16="http://schemas.microsoft.com/office/drawing/2014/main" val="20001"/>
                    </a:ext>
                  </a:extLst>
                </a:gridCol>
                <a:gridCol w="504056">
                  <a:extLst>
                    <a:ext uri="{9D8B030D-6E8A-4147-A177-3AD203B41FA5}">
                      <a16:colId xmlns:a16="http://schemas.microsoft.com/office/drawing/2014/main" val="20002"/>
                    </a:ext>
                  </a:extLst>
                </a:gridCol>
                <a:gridCol w="648072">
                  <a:extLst>
                    <a:ext uri="{9D8B030D-6E8A-4147-A177-3AD203B41FA5}">
                      <a16:colId xmlns:a16="http://schemas.microsoft.com/office/drawing/2014/main" val="20003"/>
                    </a:ext>
                  </a:extLst>
                </a:gridCol>
              </a:tblGrid>
              <a:tr h="519112">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dirty="0">
                        <a:ln>
                          <a:noFill/>
                        </a:ln>
                        <a:solidFill>
                          <a:schemeClr val="tx1"/>
                        </a:solidFill>
                        <a:effectLst/>
                        <a:latin typeface="Arial" pitchFamily="34"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800" b="0" i="0" u="none" strike="noStrike" cap="none" normalizeH="0" baseline="0" dirty="0">
                          <a:ln>
                            <a:noFill/>
                          </a:ln>
                          <a:solidFill>
                            <a:schemeClr val="tx1"/>
                          </a:solidFill>
                          <a:effectLst/>
                          <a:latin typeface="Arial" pitchFamily="34" charset="0"/>
                          <a:ea typeface="宋体" pitchFamily="2" charset="-122"/>
                        </a:rPr>
                        <a:t> \0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99435" name="Text Box 107">
            <a:extLst>
              <a:ext uri="{FF2B5EF4-FFF2-40B4-BE49-F238E27FC236}">
                <a16:creationId xmlns:a16="http://schemas.microsoft.com/office/drawing/2014/main" id="{33143ADE-BA09-49F2-8BB3-407DCF933E69}"/>
              </a:ext>
            </a:extLst>
          </p:cNvPr>
          <p:cNvSpPr txBox="1">
            <a:spLocks noChangeArrowheads="1"/>
          </p:cNvSpPr>
          <p:nvPr/>
        </p:nvSpPr>
        <p:spPr bwMode="auto">
          <a:xfrm>
            <a:off x="5436294" y="4227661"/>
            <a:ext cx="1223963" cy="457200"/>
          </a:xfrm>
          <a:prstGeom prst="rect">
            <a:avLst/>
          </a:prstGeom>
          <a:noFill/>
          <a:ln>
            <a:noFill/>
          </a:ln>
          <a:effectLst/>
        </p:spPr>
        <p:txBody>
          <a:bodyPr>
            <a:spAutoFit/>
          </a:bodyPr>
          <a:lstStyle>
            <a:lvl1pPr marL="342900" indent="-342900">
              <a:defRPr sz="2400">
                <a:solidFill>
                  <a:schemeClr val="tx1"/>
                </a:solidFill>
                <a:latin typeface="Arial" pitchFamily="34" charset="0"/>
                <a:ea typeface="宋体" pitchFamily="2" charset="-122"/>
              </a:defRPr>
            </a:lvl1pPr>
            <a:lvl2pPr>
              <a:defRPr sz="2400">
                <a:solidFill>
                  <a:schemeClr val="tx1"/>
                </a:solidFill>
                <a:latin typeface="Arial" pitchFamily="34" charset="0"/>
                <a:ea typeface="宋体" pitchFamily="2" charset="-122"/>
              </a:defRPr>
            </a:lvl2pPr>
            <a:lvl3pPr>
              <a:defRPr sz="2400">
                <a:solidFill>
                  <a:schemeClr val="tx1"/>
                </a:solidFill>
                <a:latin typeface="Arial" pitchFamily="34" charset="0"/>
                <a:ea typeface="宋体" pitchFamily="2" charset="-122"/>
              </a:defRPr>
            </a:lvl3pPr>
            <a:lvl4pPr>
              <a:defRPr sz="2400">
                <a:solidFill>
                  <a:schemeClr val="tx1"/>
                </a:solidFill>
                <a:latin typeface="Arial" pitchFamily="34" charset="0"/>
                <a:ea typeface="宋体" pitchFamily="2" charset="-122"/>
              </a:defRPr>
            </a:lvl4pPr>
            <a:lvl5pPr>
              <a:defRPr sz="2400">
                <a:solidFill>
                  <a:schemeClr val="tx1"/>
                </a:solidFill>
                <a:latin typeface="Arial" pitchFamily="34" charset="0"/>
                <a:ea typeface="宋体" pitchFamily="2" charset="-122"/>
              </a:defRPr>
            </a:lvl5pPr>
            <a:lvl6pPr fontAlgn="base">
              <a:spcBef>
                <a:spcPct val="0"/>
              </a:spcBef>
              <a:spcAft>
                <a:spcPct val="0"/>
              </a:spcAft>
              <a:buFont typeface="Arial" pitchFamily="34" charset="0"/>
              <a:defRPr sz="2400">
                <a:solidFill>
                  <a:schemeClr val="tx1"/>
                </a:solidFill>
                <a:latin typeface="Arial" pitchFamily="34" charset="0"/>
                <a:ea typeface="宋体" pitchFamily="2" charset="-122"/>
              </a:defRPr>
            </a:lvl6pPr>
            <a:lvl7pPr fontAlgn="base">
              <a:spcBef>
                <a:spcPct val="0"/>
              </a:spcBef>
              <a:spcAft>
                <a:spcPct val="0"/>
              </a:spcAft>
              <a:buFont typeface="Arial" pitchFamily="34" charset="0"/>
              <a:defRPr sz="2400">
                <a:solidFill>
                  <a:schemeClr val="tx1"/>
                </a:solidFill>
                <a:latin typeface="Arial" pitchFamily="34" charset="0"/>
                <a:ea typeface="宋体" pitchFamily="2" charset="-122"/>
              </a:defRPr>
            </a:lvl7pPr>
            <a:lvl8pPr fontAlgn="base">
              <a:spcBef>
                <a:spcPct val="0"/>
              </a:spcBef>
              <a:spcAft>
                <a:spcPct val="0"/>
              </a:spcAft>
              <a:buFont typeface="Arial" pitchFamily="34" charset="0"/>
              <a:defRPr sz="2400">
                <a:solidFill>
                  <a:schemeClr val="tx1"/>
                </a:solidFill>
                <a:latin typeface="Arial" pitchFamily="34" charset="0"/>
                <a:ea typeface="宋体" pitchFamily="2" charset="-122"/>
              </a:defRPr>
            </a:lvl8pPr>
            <a:lvl9pPr fontAlgn="base">
              <a:spcBef>
                <a:spcPct val="0"/>
              </a:spcBef>
              <a:spcAft>
                <a:spcPct val="0"/>
              </a:spcAft>
              <a:buFont typeface="Arial" pitchFamily="34" charset="0"/>
              <a:defRPr sz="2400">
                <a:solidFill>
                  <a:schemeClr val="tx1"/>
                </a:solidFill>
                <a:latin typeface="Arial" pitchFamily="34" charset="0"/>
                <a:ea typeface="宋体" pitchFamily="2" charset="-122"/>
              </a:defRPr>
            </a:lvl9pPr>
          </a:lstStyle>
          <a:p>
            <a:pPr eaLnBrk="1" hangingPunct="1">
              <a:spcBef>
                <a:spcPct val="50000"/>
              </a:spcBef>
              <a:buClr>
                <a:schemeClr val="hlink"/>
              </a:buClr>
              <a:buSzPct val="75000"/>
              <a:buFont typeface="Wingdings" pitchFamily="2" charset="2"/>
              <a:buNone/>
              <a:defRPr/>
            </a:pPr>
            <a:r>
              <a:rPr lang="en-US" altLang="zh-CN" b="1" i="0">
                <a:solidFill>
                  <a:srgbClr val="D60629"/>
                </a:solidFill>
                <a:effectLst>
                  <a:outerShdw blurRad="38100" dist="38100" dir="2700000" algn="tl">
                    <a:srgbClr val="C0C0C0"/>
                  </a:outerShdw>
                </a:effectLst>
              </a:rPr>
              <a:t>start:2 </a:t>
            </a:r>
          </a:p>
        </p:txBody>
      </p:sp>
      <p:sp>
        <p:nvSpPr>
          <p:cNvPr id="99436" name="Text Box 108">
            <a:extLst>
              <a:ext uri="{FF2B5EF4-FFF2-40B4-BE49-F238E27FC236}">
                <a16:creationId xmlns:a16="http://schemas.microsoft.com/office/drawing/2014/main" id="{261F479D-620E-40FE-BA85-6BD589550C36}"/>
              </a:ext>
            </a:extLst>
          </p:cNvPr>
          <p:cNvSpPr txBox="1">
            <a:spLocks noChangeArrowheads="1"/>
          </p:cNvSpPr>
          <p:nvPr/>
        </p:nvSpPr>
        <p:spPr bwMode="auto">
          <a:xfrm>
            <a:off x="5436294" y="4948386"/>
            <a:ext cx="1223963" cy="457200"/>
          </a:xfrm>
          <a:prstGeom prst="rect">
            <a:avLst/>
          </a:prstGeom>
          <a:noFill/>
          <a:ln>
            <a:noFill/>
          </a:ln>
          <a:effectLst/>
        </p:spPr>
        <p:txBody>
          <a:bodyPr>
            <a:spAutoFit/>
          </a:bodyPr>
          <a:lstStyle>
            <a:lvl1pPr marL="342900" indent="-342900">
              <a:defRPr sz="2400">
                <a:solidFill>
                  <a:schemeClr val="tx1"/>
                </a:solidFill>
                <a:latin typeface="Arial" pitchFamily="34" charset="0"/>
                <a:ea typeface="宋体" pitchFamily="2" charset="-122"/>
              </a:defRPr>
            </a:lvl1pPr>
            <a:lvl2pPr>
              <a:defRPr sz="2400">
                <a:solidFill>
                  <a:schemeClr val="tx1"/>
                </a:solidFill>
                <a:latin typeface="Arial" pitchFamily="34" charset="0"/>
                <a:ea typeface="宋体" pitchFamily="2" charset="-122"/>
              </a:defRPr>
            </a:lvl2pPr>
            <a:lvl3pPr>
              <a:defRPr sz="2400">
                <a:solidFill>
                  <a:schemeClr val="tx1"/>
                </a:solidFill>
                <a:latin typeface="Arial" pitchFamily="34" charset="0"/>
                <a:ea typeface="宋体" pitchFamily="2" charset="-122"/>
              </a:defRPr>
            </a:lvl3pPr>
            <a:lvl4pPr>
              <a:defRPr sz="2400">
                <a:solidFill>
                  <a:schemeClr val="tx1"/>
                </a:solidFill>
                <a:latin typeface="Arial" pitchFamily="34" charset="0"/>
                <a:ea typeface="宋体" pitchFamily="2" charset="-122"/>
              </a:defRPr>
            </a:lvl4pPr>
            <a:lvl5pPr>
              <a:defRPr sz="2400">
                <a:solidFill>
                  <a:schemeClr val="tx1"/>
                </a:solidFill>
                <a:latin typeface="Arial" pitchFamily="34" charset="0"/>
                <a:ea typeface="宋体" pitchFamily="2" charset="-122"/>
              </a:defRPr>
            </a:lvl5pPr>
            <a:lvl6pPr fontAlgn="base">
              <a:spcBef>
                <a:spcPct val="0"/>
              </a:spcBef>
              <a:spcAft>
                <a:spcPct val="0"/>
              </a:spcAft>
              <a:buFont typeface="Arial" pitchFamily="34" charset="0"/>
              <a:defRPr sz="2400">
                <a:solidFill>
                  <a:schemeClr val="tx1"/>
                </a:solidFill>
                <a:latin typeface="Arial" pitchFamily="34" charset="0"/>
                <a:ea typeface="宋体" pitchFamily="2" charset="-122"/>
              </a:defRPr>
            </a:lvl6pPr>
            <a:lvl7pPr fontAlgn="base">
              <a:spcBef>
                <a:spcPct val="0"/>
              </a:spcBef>
              <a:spcAft>
                <a:spcPct val="0"/>
              </a:spcAft>
              <a:buFont typeface="Arial" pitchFamily="34" charset="0"/>
              <a:defRPr sz="2400">
                <a:solidFill>
                  <a:schemeClr val="tx1"/>
                </a:solidFill>
                <a:latin typeface="Arial" pitchFamily="34" charset="0"/>
                <a:ea typeface="宋体" pitchFamily="2" charset="-122"/>
              </a:defRPr>
            </a:lvl7pPr>
            <a:lvl8pPr fontAlgn="base">
              <a:spcBef>
                <a:spcPct val="0"/>
              </a:spcBef>
              <a:spcAft>
                <a:spcPct val="0"/>
              </a:spcAft>
              <a:buFont typeface="Arial" pitchFamily="34" charset="0"/>
              <a:defRPr sz="2400">
                <a:solidFill>
                  <a:schemeClr val="tx1"/>
                </a:solidFill>
                <a:latin typeface="Arial" pitchFamily="34" charset="0"/>
                <a:ea typeface="宋体" pitchFamily="2" charset="-122"/>
              </a:defRPr>
            </a:lvl8pPr>
            <a:lvl9pPr fontAlgn="base">
              <a:spcBef>
                <a:spcPct val="0"/>
              </a:spcBef>
              <a:spcAft>
                <a:spcPct val="0"/>
              </a:spcAft>
              <a:buFont typeface="Arial" pitchFamily="34" charset="0"/>
              <a:defRPr sz="2400">
                <a:solidFill>
                  <a:schemeClr val="tx1"/>
                </a:solidFill>
                <a:latin typeface="Arial" pitchFamily="34" charset="0"/>
                <a:ea typeface="宋体" pitchFamily="2" charset="-122"/>
              </a:defRPr>
            </a:lvl9pPr>
          </a:lstStyle>
          <a:p>
            <a:pPr eaLnBrk="1" hangingPunct="1">
              <a:spcBef>
                <a:spcPct val="50000"/>
              </a:spcBef>
              <a:buClr>
                <a:schemeClr val="hlink"/>
              </a:buClr>
              <a:buSzPct val="75000"/>
              <a:buFont typeface="Wingdings" pitchFamily="2" charset="2"/>
              <a:buNone/>
              <a:defRPr/>
            </a:pPr>
            <a:r>
              <a:rPr lang="en-US" altLang="zh-CN" b="1" i="0">
                <a:solidFill>
                  <a:srgbClr val="D60629"/>
                </a:solidFill>
                <a:effectLst>
                  <a:outerShdw blurRad="38100" dist="38100" dir="2700000" algn="tl">
                    <a:srgbClr val="C0C0C0"/>
                  </a:outerShdw>
                </a:effectLst>
              </a:rPr>
              <a:t>start:1 </a:t>
            </a:r>
          </a:p>
        </p:txBody>
      </p:sp>
      <p:graphicFrame>
        <p:nvGraphicFramePr>
          <p:cNvPr id="99437" name="Group 109">
            <a:extLst>
              <a:ext uri="{FF2B5EF4-FFF2-40B4-BE49-F238E27FC236}">
                <a16:creationId xmlns:a16="http://schemas.microsoft.com/office/drawing/2014/main" id="{502C4766-070C-41FB-9A27-D53CBAF92F67}"/>
              </a:ext>
            </a:extLst>
          </p:cNvPr>
          <p:cNvGraphicFramePr>
            <a:graphicFrameLocks noGrp="1"/>
          </p:cNvGraphicFramePr>
          <p:nvPr>
            <p:ph/>
            <p:extLst>
              <p:ext uri="{D42A27DB-BD31-4B8C-83A1-F6EECF244321}">
                <p14:modId xmlns:p14="http://schemas.microsoft.com/office/powerpoint/2010/main" val="496119374"/>
              </p:ext>
            </p:extLst>
          </p:nvPr>
        </p:nvGraphicFramePr>
        <p:xfrm>
          <a:off x="6649144" y="4899173"/>
          <a:ext cx="2160215" cy="552450"/>
        </p:xfrm>
        <a:graphic>
          <a:graphicData uri="http://schemas.openxmlformats.org/drawingml/2006/table">
            <a:tbl>
              <a:tblPr/>
              <a:tblGrid>
                <a:gridCol w="539517">
                  <a:extLst>
                    <a:ext uri="{9D8B030D-6E8A-4147-A177-3AD203B41FA5}">
                      <a16:colId xmlns:a16="http://schemas.microsoft.com/office/drawing/2014/main" val="20000"/>
                    </a:ext>
                  </a:extLst>
                </a:gridCol>
                <a:gridCol w="539516">
                  <a:extLst>
                    <a:ext uri="{9D8B030D-6E8A-4147-A177-3AD203B41FA5}">
                      <a16:colId xmlns:a16="http://schemas.microsoft.com/office/drawing/2014/main" val="20001"/>
                    </a:ext>
                  </a:extLst>
                </a:gridCol>
                <a:gridCol w="541665">
                  <a:extLst>
                    <a:ext uri="{9D8B030D-6E8A-4147-A177-3AD203B41FA5}">
                      <a16:colId xmlns:a16="http://schemas.microsoft.com/office/drawing/2014/main" val="20002"/>
                    </a:ext>
                  </a:extLst>
                </a:gridCol>
                <a:gridCol w="539517">
                  <a:extLst>
                    <a:ext uri="{9D8B030D-6E8A-4147-A177-3AD203B41FA5}">
                      <a16:colId xmlns:a16="http://schemas.microsoft.com/office/drawing/2014/main" val="20003"/>
                    </a:ext>
                  </a:extLst>
                </a:gridCol>
              </a:tblGrid>
              <a:tr h="552450">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dirty="0">
                        <a:ln>
                          <a:noFill/>
                        </a:ln>
                        <a:solidFill>
                          <a:schemeClr val="tx1"/>
                        </a:solidFill>
                        <a:effectLst/>
                        <a:latin typeface="Arial" pitchFamily="34"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800" b="0" i="0" u="none" strike="noStrike" cap="none" normalizeH="0" baseline="0" dirty="0">
                          <a:ln>
                            <a:noFill/>
                          </a:ln>
                          <a:solidFill>
                            <a:schemeClr val="tx1"/>
                          </a:solidFill>
                          <a:effectLst/>
                          <a:latin typeface="Arial" pitchFamily="34" charset="0"/>
                          <a:ea typeface="宋体" pitchFamily="2" charset="-122"/>
                        </a:rPr>
                        <a:t>\0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99449" name="Text Box 121">
            <a:extLst>
              <a:ext uri="{FF2B5EF4-FFF2-40B4-BE49-F238E27FC236}">
                <a16:creationId xmlns:a16="http://schemas.microsoft.com/office/drawing/2014/main" id="{C8E6204C-00C9-40AD-B868-27C436C4968E}"/>
              </a:ext>
            </a:extLst>
          </p:cNvPr>
          <p:cNvSpPr txBox="1">
            <a:spLocks noChangeArrowheads="1"/>
          </p:cNvSpPr>
          <p:nvPr/>
        </p:nvSpPr>
        <p:spPr bwMode="auto">
          <a:xfrm>
            <a:off x="5436294" y="5669111"/>
            <a:ext cx="1223963" cy="457200"/>
          </a:xfrm>
          <a:prstGeom prst="rect">
            <a:avLst/>
          </a:prstGeom>
          <a:noFill/>
          <a:ln>
            <a:noFill/>
          </a:ln>
          <a:effectLst/>
        </p:spPr>
        <p:txBody>
          <a:bodyPr>
            <a:spAutoFit/>
          </a:bodyPr>
          <a:lstStyle>
            <a:lvl1pPr marL="342900" indent="-342900">
              <a:defRPr sz="2400">
                <a:solidFill>
                  <a:schemeClr val="tx1"/>
                </a:solidFill>
                <a:latin typeface="Arial" pitchFamily="34" charset="0"/>
                <a:ea typeface="宋体" pitchFamily="2" charset="-122"/>
              </a:defRPr>
            </a:lvl1pPr>
            <a:lvl2pPr>
              <a:defRPr sz="2400">
                <a:solidFill>
                  <a:schemeClr val="tx1"/>
                </a:solidFill>
                <a:latin typeface="Arial" pitchFamily="34" charset="0"/>
                <a:ea typeface="宋体" pitchFamily="2" charset="-122"/>
              </a:defRPr>
            </a:lvl2pPr>
            <a:lvl3pPr>
              <a:defRPr sz="2400">
                <a:solidFill>
                  <a:schemeClr val="tx1"/>
                </a:solidFill>
                <a:latin typeface="Arial" pitchFamily="34" charset="0"/>
                <a:ea typeface="宋体" pitchFamily="2" charset="-122"/>
              </a:defRPr>
            </a:lvl3pPr>
            <a:lvl4pPr>
              <a:defRPr sz="2400">
                <a:solidFill>
                  <a:schemeClr val="tx1"/>
                </a:solidFill>
                <a:latin typeface="Arial" pitchFamily="34" charset="0"/>
                <a:ea typeface="宋体" pitchFamily="2" charset="-122"/>
              </a:defRPr>
            </a:lvl4pPr>
            <a:lvl5pPr>
              <a:defRPr sz="2400">
                <a:solidFill>
                  <a:schemeClr val="tx1"/>
                </a:solidFill>
                <a:latin typeface="Arial" pitchFamily="34" charset="0"/>
                <a:ea typeface="宋体" pitchFamily="2" charset="-122"/>
              </a:defRPr>
            </a:lvl5pPr>
            <a:lvl6pPr fontAlgn="base">
              <a:spcBef>
                <a:spcPct val="0"/>
              </a:spcBef>
              <a:spcAft>
                <a:spcPct val="0"/>
              </a:spcAft>
              <a:buFont typeface="Arial" pitchFamily="34" charset="0"/>
              <a:defRPr sz="2400">
                <a:solidFill>
                  <a:schemeClr val="tx1"/>
                </a:solidFill>
                <a:latin typeface="Arial" pitchFamily="34" charset="0"/>
                <a:ea typeface="宋体" pitchFamily="2" charset="-122"/>
              </a:defRPr>
            </a:lvl6pPr>
            <a:lvl7pPr fontAlgn="base">
              <a:spcBef>
                <a:spcPct val="0"/>
              </a:spcBef>
              <a:spcAft>
                <a:spcPct val="0"/>
              </a:spcAft>
              <a:buFont typeface="Arial" pitchFamily="34" charset="0"/>
              <a:defRPr sz="2400">
                <a:solidFill>
                  <a:schemeClr val="tx1"/>
                </a:solidFill>
                <a:latin typeface="Arial" pitchFamily="34" charset="0"/>
                <a:ea typeface="宋体" pitchFamily="2" charset="-122"/>
              </a:defRPr>
            </a:lvl7pPr>
            <a:lvl8pPr fontAlgn="base">
              <a:spcBef>
                <a:spcPct val="0"/>
              </a:spcBef>
              <a:spcAft>
                <a:spcPct val="0"/>
              </a:spcAft>
              <a:buFont typeface="Arial" pitchFamily="34" charset="0"/>
              <a:defRPr sz="2400">
                <a:solidFill>
                  <a:schemeClr val="tx1"/>
                </a:solidFill>
                <a:latin typeface="Arial" pitchFamily="34" charset="0"/>
                <a:ea typeface="宋体" pitchFamily="2" charset="-122"/>
              </a:defRPr>
            </a:lvl8pPr>
            <a:lvl9pPr fontAlgn="base">
              <a:spcBef>
                <a:spcPct val="0"/>
              </a:spcBef>
              <a:spcAft>
                <a:spcPct val="0"/>
              </a:spcAft>
              <a:buFont typeface="Arial" pitchFamily="34" charset="0"/>
              <a:defRPr sz="2400">
                <a:solidFill>
                  <a:schemeClr val="tx1"/>
                </a:solidFill>
                <a:latin typeface="Arial" pitchFamily="34" charset="0"/>
                <a:ea typeface="宋体" pitchFamily="2" charset="-122"/>
              </a:defRPr>
            </a:lvl9pPr>
          </a:lstStyle>
          <a:p>
            <a:pPr eaLnBrk="1" hangingPunct="1">
              <a:spcBef>
                <a:spcPct val="50000"/>
              </a:spcBef>
              <a:buClr>
                <a:schemeClr val="hlink"/>
              </a:buClr>
              <a:buSzPct val="75000"/>
              <a:buFont typeface="Wingdings" pitchFamily="2" charset="2"/>
              <a:buNone/>
              <a:defRPr/>
            </a:pPr>
            <a:r>
              <a:rPr lang="en-US" altLang="zh-CN" b="1" i="0">
                <a:solidFill>
                  <a:srgbClr val="D60629"/>
                </a:solidFill>
                <a:effectLst>
                  <a:outerShdw blurRad="38100" dist="38100" dir="2700000" algn="tl">
                    <a:srgbClr val="C0C0C0"/>
                  </a:outerShdw>
                </a:effectLst>
              </a:rPr>
              <a:t>start:0 </a:t>
            </a:r>
          </a:p>
        </p:txBody>
      </p:sp>
      <p:graphicFrame>
        <p:nvGraphicFramePr>
          <p:cNvPr id="99450" name="Group 122">
            <a:extLst>
              <a:ext uri="{FF2B5EF4-FFF2-40B4-BE49-F238E27FC236}">
                <a16:creationId xmlns:a16="http://schemas.microsoft.com/office/drawing/2014/main" id="{9B093E40-5E2B-4283-A3BA-D82997F63D58}"/>
              </a:ext>
            </a:extLst>
          </p:cNvPr>
          <p:cNvGraphicFramePr>
            <a:graphicFrameLocks noGrp="1"/>
          </p:cNvGraphicFramePr>
          <p:nvPr>
            <p:extLst>
              <p:ext uri="{D42A27DB-BD31-4B8C-83A1-F6EECF244321}">
                <p14:modId xmlns:p14="http://schemas.microsoft.com/office/powerpoint/2010/main" val="425851255"/>
              </p:ext>
            </p:extLst>
          </p:nvPr>
        </p:nvGraphicFramePr>
        <p:xfrm>
          <a:off x="6660255" y="5669111"/>
          <a:ext cx="2149103" cy="519112"/>
        </p:xfrm>
        <a:graphic>
          <a:graphicData uri="http://schemas.openxmlformats.org/drawingml/2006/table">
            <a:tbl>
              <a:tblPr/>
              <a:tblGrid>
                <a:gridCol w="535730">
                  <a:extLst>
                    <a:ext uri="{9D8B030D-6E8A-4147-A177-3AD203B41FA5}">
                      <a16:colId xmlns:a16="http://schemas.microsoft.com/office/drawing/2014/main" val="20000"/>
                    </a:ext>
                  </a:extLst>
                </a:gridCol>
                <a:gridCol w="539852">
                  <a:extLst>
                    <a:ext uri="{9D8B030D-6E8A-4147-A177-3AD203B41FA5}">
                      <a16:colId xmlns:a16="http://schemas.microsoft.com/office/drawing/2014/main" val="20001"/>
                    </a:ext>
                  </a:extLst>
                </a:gridCol>
                <a:gridCol w="535730">
                  <a:extLst>
                    <a:ext uri="{9D8B030D-6E8A-4147-A177-3AD203B41FA5}">
                      <a16:colId xmlns:a16="http://schemas.microsoft.com/office/drawing/2014/main" val="20002"/>
                    </a:ext>
                  </a:extLst>
                </a:gridCol>
                <a:gridCol w="537791">
                  <a:extLst>
                    <a:ext uri="{9D8B030D-6E8A-4147-A177-3AD203B41FA5}">
                      <a16:colId xmlns:a16="http://schemas.microsoft.com/office/drawing/2014/main" val="20003"/>
                    </a:ext>
                  </a:extLst>
                </a:gridCol>
              </a:tblGrid>
              <a:tr h="519112">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dirty="0">
                        <a:ln>
                          <a:noFill/>
                        </a:ln>
                        <a:solidFill>
                          <a:schemeClr val="tx1"/>
                        </a:solidFill>
                        <a:effectLst/>
                        <a:latin typeface="Arial" pitchFamily="34"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800" b="0" i="0" u="none" strike="noStrike" cap="none" normalizeH="0" baseline="0" dirty="0">
                          <a:ln>
                            <a:noFill/>
                          </a:ln>
                          <a:solidFill>
                            <a:schemeClr val="tx1"/>
                          </a:solidFill>
                          <a:effectLst/>
                          <a:latin typeface="Arial" pitchFamily="34" charset="0"/>
                          <a:ea typeface="宋体" pitchFamily="2" charset="-122"/>
                        </a:rPr>
                        <a:t>\0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 name="Text Box 3">
            <a:extLst>
              <a:ext uri="{FF2B5EF4-FFF2-40B4-BE49-F238E27FC236}">
                <a16:creationId xmlns:a16="http://schemas.microsoft.com/office/drawing/2014/main" id="{ED6BE6FA-1198-4D07-BE4F-34C2AA9548F2}"/>
              </a:ext>
            </a:extLst>
          </p:cNvPr>
          <p:cNvSpPr txBox="1">
            <a:spLocks noChangeArrowheads="1"/>
          </p:cNvSpPr>
          <p:nvPr/>
        </p:nvSpPr>
        <p:spPr bwMode="auto">
          <a:xfrm>
            <a:off x="395536" y="188640"/>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赫夫曼树编码实现</a:t>
            </a:r>
          </a:p>
        </p:txBody>
      </p:sp>
      <p:sp>
        <p:nvSpPr>
          <p:cNvPr id="3" name="文本框 2">
            <a:extLst>
              <a:ext uri="{FF2B5EF4-FFF2-40B4-BE49-F238E27FC236}">
                <a16:creationId xmlns:a16="http://schemas.microsoft.com/office/drawing/2014/main" id="{C593D7CE-856E-4139-9DEC-E363231633FD}"/>
              </a:ext>
            </a:extLst>
          </p:cNvPr>
          <p:cNvSpPr txBox="1"/>
          <p:nvPr/>
        </p:nvSpPr>
        <p:spPr>
          <a:xfrm>
            <a:off x="2664200" y="2348880"/>
            <a:ext cx="395632" cy="430887"/>
          </a:xfrm>
          <a:prstGeom prst="rect">
            <a:avLst/>
          </a:prstGeom>
          <a:solidFill>
            <a:srgbClr val="FFFF00"/>
          </a:solidFill>
        </p:spPr>
        <p:txBody>
          <a:bodyPr wrap="square" lIns="0" tIns="0" rIns="0" bIns="0" rtlCol="0">
            <a:spAutoFit/>
          </a:bodyPr>
          <a:lstStyle/>
          <a:p>
            <a:pPr algn="ctr"/>
            <a:r>
              <a:rPr lang="en-US" altLang="zh-CN" sz="2800" i="0" dirty="0"/>
              <a:t>6</a:t>
            </a:r>
            <a:endParaRPr lang="zh-CN" altLang="en-US" sz="2800" i="0" dirty="0"/>
          </a:p>
        </p:txBody>
      </p:sp>
      <p:sp>
        <p:nvSpPr>
          <p:cNvPr id="19" name="文本框 18">
            <a:extLst>
              <a:ext uri="{FF2B5EF4-FFF2-40B4-BE49-F238E27FC236}">
                <a16:creationId xmlns:a16="http://schemas.microsoft.com/office/drawing/2014/main" id="{88F927B1-212F-4487-83BA-DE2C83B2A907}"/>
              </a:ext>
            </a:extLst>
          </p:cNvPr>
          <p:cNvSpPr txBox="1"/>
          <p:nvPr/>
        </p:nvSpPr>
        <p:spPr>
          <a:xfrm>
            <a:off x="3477530" y="5451623"/>
            <a:ext cx="395632" cy="430887"/>
          </a:xfrm>
          <a:prstGeom prst="rect">
            <a:avLst/>
          </a:prstGeom>
          <a:solidFill>
            <a:srgbClr val="FFFF00"/>
          </a:solidFill>
        </p:spPr>
        <p:txBody>
          <a:bodyPr wrap="square" lIns="0" tIns="0" rIns="0" bIns="0" rtlCol="0">
            <a:spAutoFit/>
          </a:bodyPr>
          <a:lstStyle/>
          <a:p>
            <a:pPr algn="ctr"/>
            <a:r>
              <a:rPr lang="en-US" altLang="zh-CN" sz="2800" i="0" dirty="0"/>
              <a:t>0</a:t>
            </a:r>
            <a:endParaRPr lang="zh-CN" altLang="en-US" sz="2800" i="0" dirty="0"/>
          </a:p>
        </p:txBody>
      </p:sp>
      <p:sp>
        <p:nvSpPr>
          <p:cNvPr id="20" name="文本框 19">
            <a:extLst>
              <a:ext uri="{FF2B5EF4-FFF2-40B4-BE49-F238E27FC236}">
                <a16:creationId xmlns:a16="http://schemas.microsoft.com/office/drawing/2014/main" id="{0784B575-CC87-4302-993D-8556D27F573C}"/>
              </a:ext>
            </a:extLst>
          </p:cNvPr>
          <p:cNvSpPr txBox="1"/>
          <p:nvPr/>
        </p:nvSpPr>
        <p:spPr>
          <a:xfrm>
            <a:off x="7596336" y="2944286"/>
            <a:ext cx="395632" cy="430887"/>
          </a:xfrm>
          <a:prstGeom prst="rect">
            <a:avLst/>
          </a:prstGeom>
          <a:solidFill>
            <a:srgbClr val="FFFF00"/>
          </a:solidFill>
        </p:spPr>
        <p:txBody>
          <a:bodyPr wrap="square" lIns="0" tIns="0" rIns="0" bIns="0" rtlCol="0">
            <a:spAutoFit/>
          </a:bodyPr>
          <a:lstStyle/>
          <a:p>
            <a:pPr algn="ctr"/>
            <a:r>
              <a:rPr lang="en-US" altLang="zh-CN" sz="2800" i="0" dirty="0"/>
              <a:t>0</a:t>
            </a:r>
            <a:endParaRPr lang="zh-CN" altLang="en-US" sz="2800" i="0" dirty="0"/>
          </a:p>
        </p:txBody>
      </p:sp>
      <p:sp>
        <p:nvSpPr>
          <p:cNvPr id="21" name="文本框 20">
            <a:extLst>
              <a:ext uri="{FF2B5EF4-FFF2-40B4-BE49-F238E27FC236}">
                <a16:creationId xmlns:a16="http://schemas.microsoft.com/office/drawing/2014/main" id="{55AD82F7-A423-4E10-9979-B918498F40B8}"/>
              </a:ext>
            </a:extLst>
          </p:cNvPr>
          <p:cNvSpPr txBox="1"/>
          <p:nvPr/>
        </p:nvSpPr>
        <p:spPr>
          <a:xfrm>
            <a:off x="2607579" y="5479548"/>
            <a:ext cx="395632" cy="430887"/>
          </a:xfrm>
          <a:prstGeom prst="rect">
            <a:avLst/>
          </a:prstGeom>
          <a:solidFill>
            <a:srgbClr val="FFFF00"/>
          </a:solidFill>
        </p:spPr>
        <p:txBody>
          <a:bodyPr wrap="square" lIns="0" tIns="0" rIns="0" bIns="0" rtlCol="0">
            <a:spAutoFit/>
          </a:bodyPr>
          <a:lstStyle/>
          <a:p>
            <a:pPr algn="ctr"/>
            <a:r>
              <a:rPr lang="en-US" altLang="zh-CN" sz="2800" i="0" dirty="0"/>
              <a:t>-1</a:t>
            </a:r>
            <a:endParaRPr lang="zh-CN" altLang="en-US" sz="2800" i="0" dirty="0"/>
          </a:p>
        </p:txBody>
      </p:sp>
      <p:sp>
        <p:nvSpPr>
          <p:cNvPr id="22" name="文本框 21">
            <a:extLst>
              <a:ext uri="{FF2B5EF4-FFF2-40B4-BE49-F238E27FC236}">
                <a16:creationId xmlns:a16="http://schemas.microsoft.com/office/drawing/2014/main" id="{659687DC-D0FB-4D1A-89CF-82E81D05BC70}"/>
              </a:ext>
            </a:extLst>
          </p:cNvPr>
          <p:cNvSpPr txBox="1"/>
          <p:nvPr/>
        </p:nvSpPr>
        <p:spPr>
          <a:xfrm>
            <a:off x="2664200" y="2926105"/>
            <a:ext cx="395632" cy="430887"/>
          </a:xfrm>
          <a:prstGeom prst="rect">
            <a:avLst/>
          </a:prstGeom>
          <a:solidFill>
            <a:srgbClr val="FFFF00"/>
          </a:solidFill>
        </p:spPr>
        <p:txBody>
          <a:bodyPr wrap="square" lIns="0" tIns="0" rIns="0" bIns="0" rtlCol="0">
            <a:spAutoFit/>
          </a:bodyPr>
          <a:lstStyle/>
          <a:p>
            <a:pPr algn="ctr"/>
            <a:r>
              <a:rPr lang="en-US" altLang="zh-CN" sz="2800" i="0" dirty="0"/>
              <a:t>4</a:t>
            </a:r>
            <a:endParaRPr lang="zh-CN" altLang="en-US" sz="2800" i="0" dirty="0"/>
          </a:p>
        </p:txBody>
      </p:sp>
      <p:sp>
        <p:nvSpPr>
          <p:cNvPr id="23" name="文本框 22">
            <a:extLst>
              <a:ext uri="{FF2B5EF4-FFF2-40B4-BE49-F238E27FC236}">
                <a16:creationId xmlns:a16="http://schemas.microsoft.com/office/drawing/2014/main" id="{4A57982F-81DB-41A9-8BB7-29258333FF1D}"/>
              </a:ext>
            </a:extLst>
          </p:cNvPr>
          <p:cNvSpPr txBox="1"/>
          <p:nvPr/>
        </p:nvSpPr>
        <p:spPr>
          <a:xfrm>
            <a:off x="3477530" y="4440198"/>
            <a:ext cx="395632" cy="430887"/>
          </a:xfrm>
          <a:prstGeom prst="rect">
            <a:avLst/>
          </a:prstGeom>
          <a:solidFill>
            <a:srgbClr val="FFFF00"/>
          </a:solidFill>
        </p:spPr>
        <p:txBody>
          <a:bodyPr wrap="square" lIns="0" tIns="0" rIns="0" bIns="0" rtlCol="0">
            <a:spAutoFit/>
          </a:bodyPr>
          <a:lstStyle/>
          <a:p>
            <a:pPr algn="ctr"/>
            <a:r>
              <a:rPr lang="en-US" altLang="zh-CN" sz="2800" i="0" dirty="0"/>
              <a:t>1</a:t>
            </a:r>
            <a:endParaRPr lang="zh-CN" altLang="en-US" sz="2800" i="0" dirty="0"/>
          </a:p>
        </p:txBody>
      </p:sp>
      <p:sp>
        <p:nvSpPr>
          <p:cNvPr id="24" name="文本框 23">
            <a:extLst>
              <a:ext uri="{FF2B5EF4-FFF2-40B4-BE49-F238E27FC236}">
                <a16:creationId xmlns:a16="http://schemas.microsoft.com/office/drawing/2014/main" id="{A50CD359-DBA3-4F0C-946C-3FDF6EA9A655}"/>
              </a:ext>
            </a:extLst>
          </p:cNvPr>
          <p:cNvSpPr txBox="1"/>
          <p:nvPr/>
        </p:nvSpPr>
        <p:spPr>
          <a:xfrm>
            <a:off x="7729251" y="4280389"/>
            <a:ext cx="395632" cy="430887"/>
          </a:xfrm>
          <a:prstGeom prst="rect">
            <a:avLst/>
          </a:prstGeom>
          <a:solidFill>
            <a:srgbClr val="FFFF00"/>
          </a:solidFill>
        </p:spPr>
        <p:txBody>
          <a:bodyPr wrap="square" lIns="0" tIns="0" rIns="0" bIns="0" rtlCol="0">
            <a:spAutoFit/>
          </a:bodyPr>
          <a:lstStyle/>
          <a:p>
            <a:pPr algn="ctr"/>
            <a:r>
              <a:rPr lang="en-US" altLang="zh-CN" sz="2800" i="0" dirty="0"/>
              <a:t>0</a:t>
            </a:r>
            <a:endParaRPr lang="zh-CN" altLang="en-US" sz="2800" i="0" dirty="0"/>
          </a:p>
        </p:txBody>
      </p:sp>
      <p:sp>
        <p:nvSpPr>
          <p:cNvPr id="25" name="文本框 24">
            <a:extLst>
              <a:ext uri="{FF2B5EF4-FFF2-40B4-BE49-F238E27FC236}">
                <a16:creationId xmlns:a16="http://schemas.microsoft.com/office/drawing/2014/main" id="{6CAF61C2-86BE-4365-B0F3-4C4F1136BA0B}"/>
              </a:ext>
            </a:extLst>
          </p:cNvPr>
          <p:cNvSpPr txBox="1"/>
          <p:nvPr/>
        </p:nvSpPr>
        <p:spPr>
          <a:xfrm>
            <a:off x="2664174" y="4439690"/>
            <a:ext cx="395632" cy="430887"/>
          </a:xfrm>
          <a:prstGeom prst="rect">
            <a:avLst/>
          </a:prstGeom>
          <a:solidFill>
            <a:srgbClr val="FFFF00"/>
          </a:solidFill>
        </p:spPr>
        <p:txBody>
          <a:bodyPr wrap="square" lIns="0" tIns="0" rIns="0" bIns="0" rtlCol="0">
            <a:spAutoFit/>
          </a:bodyPr>
          <a:lstStyle/>
          <a:p>
            <a:pPr algn="ctr"/>
            <a:r>
              <a:rPr lang="en-US" altLang="zh-CN" sz="2800" i="0" dirty="0"/>
              <a:t>5</a:t>
            </a:r>
            <a:endParaRPr lang="zh-CN" altLang="en-US" sz="2800" i="0" dirty="0"/>
          </a:p>
        </p:txBody>
      </p:sp>
      <p:sp>
        <p:nvSpPr>
          <p:cNvPr id="26" name="文本框 25">
            <a:extLst>
              <a:ext uri="{FF2B5EF4-FFF2-40B4-BE49-F238E27FC236}">
                <a16:creationId xmlns:a16="http://schemas.microsoft.com/office/drawing/2014/main" id="{520F9F8F-A56F-4C31-B6FF-8090BA7FD11C}"/>
              </a:ext>
            </a:extLst>
          </p:cNvPr>
          <p:cNvSpPr txBox="1"/>
          <p:nvPr/>
        </p:nvSpPr>
        <p:spPr>
          <a:xfrm>
            <a:off x="4264045" y="4948386"/>
            <a:ext cx="395632" cy="430887"/>
          </a:xfrm>
          <a:prstGeom prst="rect">
            <a:avLst/>
          </a:prstGeom>
          <a:solidFill>
            <a:srgbClr val="FFFF00"/>
          </a:solidFill>
        </p:spPr>
        <p:txBody>
          <a:bodyPr wrap="square" lIns="0" tIns="0" rIns="0" bIns="0" rtlCol="0">
            <a:spAutoFit/>
          </a:bodyPr>
          <a:lstStyle/>
          <a:p>
            <a:pPr algn="ctr"/>
            <a:r>
              <a:rPr lang="en-US" altLang="zh-CN" sz="2800" i="0" dirty="0"/>
              <a:t>4</a:t>
            </a:r>
            <a:endParaRPr lang="zh-CN" altLang="en-US" sz="2800" i="0" dirty="0"/>
          </a:p>
        </p:txBody>
      </p:sp>
      <p:sp>
        <p:nvSpPr>
          <p:cNvPr id="27" name="文本框 26">
            <a:extLst>
              <a:ext uri="{FF2B5EF4-FFF2-40B4-BE49-F238E27FC236}">
                <a16:creationId xmlns:a16="http://schemas.microsoft.com/office/drawing/2014/main" id="{2CE6416E-1F8B-4805-AA52-D50DBE4FBF42}"/>
              </a:ext>
            </a:extLst>
          </p:cNvPr>
          <p:cNvSpPr txBox="1"/>
          <p:nvPr/>
        </p:nvSpPr>
        <p:spPr>
          <a:xfrm>
            <a:off x="7314418" y="4942329"/>
            <a:ext cx="395632" cy="430887"/>
          </a:xfrm>
          <a:prstGeom prst="rect">
            <a:avLst/>
          </a:prstGeom>
          <a:solidFill>
            <a:srgbClr val="FFFF00"/>
          </a:solidFill>
        </p:spPr>
        <p:txBody>
          <a:bodyPr wrap="square" lIns="0" tIns="0" rIns="0" bIns="0" rtlCol="0">
            <a:spAutoFit/>
          </a:bodyPr>
          <a:lstStyle/>
          <a:p>
            <a:pPr algn="ctr"/>
            <a:r>
              <a:rPr lang="en-US" altLang="zh-CN" sz="2800" i="0" dirty="0"/>
              <a:t>1</a:t>
            </a:r>
            <a:endParaRPr lang="zh-CN" altLang="en-US" sz="2800" i="0" dirty="0"/>
          </a:p>
        </p:txBody>
      </p:sp>
      <p:sp>
        <p:nvSpPr>
          <p:cNvPr id="28" name="文本框 27">
            <a:extLst>
              <a:ext uri="{FF2B5EF4-FFF2-40B4-BE49-F238E27FC236}">
                <a16:creationId xmlns:a16="http://schemas.microsoft.com/office/drawing/2014/main" id="{7044CA04-DBCA-4B46-9D2A-87F2A3DA1649}"/>
              </a:ext>
            </a:extLst>
          </p:cNvPr>
          <p:cNvSpPr txBox="1"/>
          <p:nvPr/>
        </p:nvSpPr>
        <p:spPr>
          <a:xfrm>
            <a:off x="2664850" y="4945710"/>
            <a:ext cx="395632" cy="430887"/>
          </a:xfrm>
          <a:prstGeom prst="rect">
            <a:avLst/>
          </a:prstGeom>
          <a:solidFill>
            <a:srgbClr val="FFFF00"/>
          </a:solidFill>
        </p:spPr>
        <p:txBody>
          <a:bodyPr wrap="square" lIns="0" tIns="0" rIns="0" bIns="0" rtlCol="0">
            <a:spAutoFit/>
          </a:bodyPr>
          <a:lstStyle/>
          <a:p>
            <a:pPr algn="ctr"/>
            <a:r>
              <a:rPr lang="en-US" altLang="zh-CN" sz="2800" i="0" dirty="0"/>
              <a:t>6</a:t>
            </a:r>
            <a:endParaRPr lang="zh-CN" altLang="en-US" sz="2800" i="0" dirty="0"/>
          </a:p>
        </p:txBody>
      </p:sp>
      <p:sp>
        <p:nvSpPr>
          <p:cNvPr id="29" name="文本框 28">
            <a:extLst>
              <a:ext uri="{FF2B5EF4-FFF2-40B4-BE49-F238E27FC236}">
                <a16:creationId xmlns:a16="http://schemas.microsoft.com/office/drawing/2014/main" id="{9CEED61D-EC1A-418E-BCF4-0E4B234D06E2}"/>
              </a:ext>
            </a:extLst>
          </p:cNvPr>
          <p:cNvSpPr txBox="1"/>
          <p:nvPr/>
        </p:nvSpPr>
        <p:spPr>
          <a:xfrm>
            <a:off x="4336367" y="5518206"/>
            <a:ext cx="395632" cy="430887"/>
          </a:xfrm>
          <a:prstGeom prst="rect">
            <a:avLst/>
          </a:prstGeom>
          <a:solidFill>
            <a:srgbClr val="FFFF00"/>
          </a:solidFill>
        </p:spPr>
        <p:txBody>
          <a:bodyPr wrap="square" lIns="0" tIns="0" rIns="0" bIns="0" rtlCol="0">
            <a:spAutoFit/>
          </a:bodyPr>
          <a:lstStyle/>
          <a:p>
            <a:pPr algn="ctr"/>
            <a:r>
              <a:rPr lang="en-US" altLang="zh-CN" sz="2800" i="0" dirty="0"/>
              <a:t>5</a:t>
            </a:r>
            <a:endParaRPr lang="zh-CN" altLang="en-US" sz="2800" i="0" dirty="0"/>
          </a:p>
        </p:txBody>
      </p:sp>
      <p:sp>
        <p:nvSpPr>
          <p:cNvPr id="30" name="文本框 29">
            <a:extLst>
              <a:ext uri="{FF2B5EF4-FFF2-40B4-BE49-F238E27FC236}">
                <a16:creationId xmlns:a16="http://schemas.microsoft.com/office/drawing/2014/main" id="{68D916F2-8A6D-4B73-B6EC-C3D3A80A775F}"/>
              </a:ext>
            </a:extLst>
          </p:cNvPr>
          <p:cNvSpPr txBox="1"/>
          <p:nvPr/>
        </p:nvSpPr>
        <p:spPr>
          <a:xfrm>
            <a:off x="6661726" y="5704073"/>
            <a:ext cx="395632" cy="430887"/>
          </a:xfrm>
          <a:prstGeom prst="rect">
            <a:avLst/>
          </a:prstGeom>
          <a:solidFill>
            <a:srgbClr val="FFFF00"/>
          </a:solidFill>
        </p:spPr>
        <p:txBody>
          <a:bodyPr wrap="square" lIns="0" tIns="0" rIns="0" bIns="0" rtlCol="0">
            <a:spAutoFit/>
          </a:bodyPr>
          <a:lstStyle/>
          <a:p>
            <a:pPr algn="ctr"/>
            <a:r>
              <a:rPr lang="en-US" altLang="zh-CN" sz="2800" i="0" dirty="0"/>
              <a:t>1</a:t>
            </a:r>
            <a:endParaRPr lang="zh-CN" altLang="en-US" sz="2800" i="0" dirty="0"/>
          </a:p>
        </p:txBody>
      </p:sp>
      <p:sp>
        <p:nvSpPr>
          <p:cNvPr id="31" name="文本框 30">
            <a:extLst>
              <a:ext uri="{FF2B5EF4-FFF2-40B4-BE49-F238E27FC236}">
                <a16:creationId xmlns:a16="http://schemas.microsoft.com/office/drawing/2014/main" id="{0B63B086-519C-49C6-B593-86FB478D9BFE}"/>
              </a:ext>
            </a:extLst>
          </p:cNvPr>
          <p:cNvSpPr txBox="1"/>
          <p:nvPr/>
        </p:nvSpPr>
        <p:spPr>
          <a:xfrm>
            <a:off x="7790796" y="4942329"/>
            <a:ext cx="395632" cy="430887"/>
          </a:xfrm>
          <a:prstGeom prst="rect">
            <a:avLst/>
          </a:prstGeom>
          <a:solidFill>
            <a:srgbClr val="FFFF00"/>
          </a:solidFill>
        </p:spPr>
        <p:txBody>
          <a:bodyPr wrap="square" lIns="0" tIns="0" rIns="0" bIns="0" rtlCol="0">
            <a:spAutoFit/>
          </a:bodyPr>
          <a:lstStyle/>
          <a:p>
            <a:pPr algn="ctr"/>
            <a:r>
              <a:rPr lang="en-US" altLang="zh-CN" sz="2800" i="0" dirty="0"/>
              <a:t>0</a:t>
            </a:r>
            <a:endParaRPr lang="zh-CN" altLang="en-US" sz="2800" i="0" dirty="0"/>
          </a:p>
        </p:txBody>
      </p:sp>
      <p:sp>
        <p:nvSpPr>
          <p:cNvPr id="32" name="文本框 31">
            <a:extLst>
              <a:ext uri="{FF2B5EF4-FFF2-40B4-BE49-F238E27FC236}">
                <a16:creationId xmlns:a16="http://schemas.microsoft.com/office/drawing/2014/main" id="{54591131-AA5E-4FFC-97FE-23856FE1DD9D}"/>
              </a:ext>
            </a:extLst>
          </p:cNvPr>
          <p:cNvSpPr txBox="1"/>
          <p:nvPr/>
        </p:nvSpPr>
        <p:spPr>
          <a:xfrm>
            <a:off x="7801902" y="5733649"/>
            <a:ext cx="395632" cy="430887"/>
          </a:xfrm>
          <a:prstGeom prst="rect">
            <a:avLst/>
          </a:prstGeom>
          <a:solidFill>
            <a:srgbClr val="FFFF00"/>
          </a:solidFill>
        </p:spPr>
        <p:txBody>
          <a:bodyPr wrap="square" lIns="0" tIns="0" rIns="0" bIns="0" rtlCol="0">
            <a:spAutoFit/>
          </a:bodyPr>
          <a:lstStyle/>
          <a:p>
            <a:pPr algn="ctr"/>
            <a:r>
              <a:rPr lang="en-US" altLang="zh-CN" sz="2800" i="0" dirty="0"/>
              <a:t>0</a:t>
            </a:r>
            <a:endParaRPr lang="zh-CN" altLang="en-US" sz="2800" i="0" dirty="0"/>
          </a:p>
        </p:txBody>
      </p:sp>
      <p:sp>
        <p:nvSpPr>
          <p:cNvPr id="33" name="文本框 32">
            <a:extLst>
              <a:ext uri="{FF2B5EF4-FFF2-40B4-BE49-F238E27FC236}">
                <a16:creationId xmlns:a16="http://schemas.microsoft.com/office/drawing/2014/main" id="{938C6B4A-934B-4647-AAF1-29285FFB523C}"/>
              </a:ext>
            </a:extLst>
          </p:cNvPr>
          <p:cNvSpPr txBox="1"/>
          <p:nvPr/>
        </p:nvSpPr>
        <p:spPr>
          <a:xfrm>
            <a:off x="7262666" y="5714267"/>
            <a:ext cx="395632" cy="430887"/>
          </a:xfrm>
          <a:prstGeom prst="rect">
            <a:avLst/>
          </a:prstGeom>
          <a:solidFill>
            <a:srgbClr val="FFFF00"/>
          </a:solidFill>
        </p:spPr>
        <p:txBody>
          <a:bodyPr wrap="square" lIns="0" tIns="0" rIns="0" bIns="0" rtlCol="0">
            <a:spAutoFit/>
          </a:bodyPr>
          <a:lstStyle/>
          <a:p>
            <a:pPr algn="ctr"/>
            <a:r>
              <a:rPr lang="en-US" altLang="zh-CN" sz="2800" i="0" dirty="0"/>
              <a:t>1</a:t>
            </a:r>
            <a:endParaRPr lang="zh-CN" altLang="en-US" sz="2800" i="0" dirty="0"/>
          </a:p>
        </p:txBody>
      </p:sp>
      <p:sp>
        <p:nvSpPr>
          <p:cNvPr id="35" name="文本框 34">
            <a:extLst>
              <a:ext uri="{FF2B5EF4-FFF2-40B4-BE49-F238E27FC236}">
                <a16:creationId xmlns:a16="http://schemas.microsoft.com/office/drawing/2014/main" id="{4CBDF619-9AB6-4B9B-B60D-5ABC639ED152}"/>
              </a:ext>
            </a:extLst>
          </p:cNvPr>
          <p:cNvSpPr txBox="1"/>
          <p:nvPr/>
        </p:nvSpPr>
        <p:spPr>
          <a:xfrm>
            <a:off x="2411760" y="1876762"/>
            <a:ext cx="2664296" cy="400110"/>
          </a:xfrm>
          <a:prstGeom prst="rect">
            <a:avLst/>
          </a:prstGeom>
          <a:noFill/>
        </p:spPr>
        <p:txBody>
          <a:bodyPr wrap="square" rtlCol="0">
            <a:spAutoFit/>
          </a:bodyPr>
          <a:lstStyle/>
          <a:p>
            <a:r>
              <a:rPr lang="en-US" altLang="zh-CN" sz="2000" i="0" dirty="0"/>
              <a:t>parent   </a:t>
            </a:r>
            <a:r>
              <a:rPr lang="en-US" altLang="zh-CN" sz="2000" i="0" dirty="0" err="1"/>
              <a:t>lchild</a:t>
            </a:r>
            <a:r>
              <a:rPr lang="en-US" altLang="zh-CN" sz="2000" i="0" dirty="0"/>
              <a:t>   </a:t>
            </a:r>
            <a:r>
              <a:rPr lang="en-US" altLang="zh-CN" sz="2000" i="0" dirty="0" err="1"/>
              <a:t>rchild</a:t>
            </a:r>
            <a:endParaRPr lang="zh-CN" altLang="en-US" sz="2000" i="0" dirty="0"/>
          </a:p>
        </p:txBody>
      </p:sp>
      <p:sp>
        <p:nvSpPr>
          <p:cNvPr id="4" name="文本框 3">
            <a:extLst>
              <a:ext uri="{FF2B5EF4-FFF2-40B4-BE49-F238E27FC236}">
                <a16:creationId xmlns:a16="http://schemas.microsoft.com/office/drawing/2014/main" id="{B06EFBA9-4130-C0D8-F8C4-15976B6E3FD0}"/>
              </a:ext>
            </a:extLst>
          </p:cNvPr>
          <p:cNvSpPr txBox="1"/>
          <p:nvPr/>
        </p:nvSpPr>
        <p:spPr>
          <a:xfrm>
            <a:off x="2594365" y="5475609"/>
            <a:ext cx="395632" cy="430887"/>
          </a:xfrm>
          <a:prstGeom prst="rect">
            <a:avLst/>
          </a:prstGeom>
          <a:solidFill>
            <a:srgbClr val="FFFF00"/>
          </a:solidFill>
        </p:spPr>
        <p:txBody>
          <a:bodyPr wrap="square" lIns="0" tIns="0" rIns="0" bIns="0" rtlCol="0">
            <a:spAutoFit/>
          </a:bodyPr>
          <a:lstStyle/>
          <a:p>
            <a:pPr algn="ctr"/>
            <a:r>
              <a:rPr lang="en-US" altLang="zh-CN" sz="2800" i="0" dirty="0"/>
              <a:t>-1</a:t>
            </a:r>
            <a:endParaRPr lang="zh-CN" altLang="en-US" sz="2800" i="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940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2" nodeType="clickEffect">
                                  <p:stCondLst>
                                    <p:cond delay="0"/>
                                  </p:stCondLst>
                                  <p:childTnLst>
                                    <p:set>
                                      <p:cBhvr>
                                        <p:cTn id="26" dur="1" fill="hold">
                                          <p:stCondLst>
                                            <p:cond delay="0"/>
                                          </p:stCondLst>
                                        </p:cTn>
                                        <p:tgtEl>
                                          <p:spTgt spid="21"/>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1"/>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9"/>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0"/>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2"/>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33"/>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4"/>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994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406" grpId="0"/>
      <p:bldP spid="99421" grpId="0"/>
      <p:bldP spid="3" grpId="0" animBg="1"/>
      <p:bldP spid="19" grpId="0" animBg="1"/>
      <p:bldP spid="20" grpId="0" animBg="1"/>
      <p:bldP spid="21" grpId="0" animBg="1"/>
      <p:bldP spid="21" grpId="2"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4" grpId="0" animBg="1"/>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a:extLst>
              <a:ext uri="{FF2B5EF4-FFF2-40B4-BE49-F238E27FC236}">
                <a16:creationId xmlns:a16="http://schemas.microsoft.com/office/drawing/2014/main" id="{58019CB0-C157-4838-895B-25A845F590A0}"/>
              </a:ext>
            </a:extLst>
          </p:cNvPr>
          <p:cNvSpPr>
            <a:spLocks noRot="1" noChangeArrowheads="1"/>
          </p:cNvSpPr>
          <p:nvPr/>
        </p:nvSpPr>
        <p:spPr bwMode="auto">
          <a:xfrm>
            <a:off x="205067" y="1281138"/>
            <a:ext cx="8938933"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2800" dirty="0"/>
              <a:t>   </a:t>
            </a:r>
            <a:r>
              <a:rPr lang="zh-CN" altLang="en-US" sz="2800" i="0" dirty="0"/>
              <a:t>实际编程中，用</a:t>
            </a:r>
            <a:r>
              <a:rPr lang="en-US" altLang="zh-CN" sz="2800" b="0" i="0" dirty="0">
                <a:latin typeface="+mn-ea"/>
                <a:ea typeface="+mn-ea"/>
              </a:rPr>
              <a:t>string</a:t>
            </a:r>
            <a:r>
              <a:rPr lang="zh-CN" altLang="en-US" sz="2800" b="0" i="0" dirty="0">
                <a:latin typeface="+mn-ea"/>
                <a:ea typeface="+mn-ea"/>
              </a:rPr>
              <a:t>字符串</a:t>
            </a:r>
            <a:r>
              <a:rPr lang="en-US" altLang="zh-CN" sz="2800" b="0" i="0" dirty="0">
                <a:latin typeface="+mn-ea"/>
                <a:ea typeface="+mn-ea"/>
              </a:rPr>
              <a:t>code</a:t>
            </a:r>
            <a:r>
              <a:rPr lang="zh-CN" altLang="en-US" sz="2800" b="0" i="0" dirty="0">
                <a:latin typeface="+mn-ea"/>
                <a:ea typeface="+mn-ea"/>
              </a:rPr>
              <a:t>存储编码操作简单。</a:t>
            </a:r>
            <a:endParaRPr lang="zh-CN" altLang="en-US" sz="2800" b="0" i="0" dirty="0">
              <a:latin typeface="+mn-ea"/>
              <a:ea typeface="+mn-ea"/>
              <a:cs typeface="Arial" panose="020B0604020202020204" pitchFamily="34" charset="0"/>
            </a:endParaRPr>
          </a:p>
        </p:txBody>
      </p:sp>
      <p:graphicFrame>
        <p:nvGraphicFramePr>
          <p:cNvPr id="99331" name="Group 3">
            <a:extLst>
              <a:ext uri="{FF2B5EF4-FFF2-40B4-BE49-F238E27FC236}">
                <a16:creationId xmlns:a16="http://schemas.microsoft.com/office/drawing/2014/main" id="{27641E01-1A3F-4FD4-962B-20BE070846A2}"/>
              </a:ext>
            </a:extLst>
          </p:cNvPr>
          <p:cNvGraphicFramePr>
            <a:graphicFrameLocks noGrp="1"/>
          </p:cNvGraphicFramePr>
          <p:nvPr>
            <p:extLst>
              <p:ext uri="{D42A27DB-BD31-4B8C-83A1-F6EECF244321}">
                <p14:modId xmlns:p14="http://schemas.microsoft.com/office/powerpoint/2010/main" val="3019228678"/>
              </p:ext>
            </p:extLst>
          </p:nvPr>
        </p:nvGraphicFramePr>
        <p:xfrm>
          <a:off x="881682" y="2276872"/>
          <a:ext cx="4770438" cy="3632203"/>
        </p:xfrm>
        <a:graphic>
          <a:graphicData uri="http://schemas.openxmlformats.org/drawingml/2006/table">
            <a:tbl>
              <a:tblPr/>
              <a:tblGrid>
                <a:gridCol w="698599">
                  <a:extLst>
                    <a:ext uri="{9D8B030D-6E8A-4147-A177-3AD203B41FA5}">
                      <a16:colId xmlns:a16="http://schemas.microsoft.com/office/drawing/2014/main" val="20000"/>
                    </a:ext>
                  </a:extLst>
                </a:gridCol>
                <a:gridCol w="699923">
                  <a:extLst>
                    <a:ext uri="{9D8B030D-6E8A-4147-A177-3AD203B41FA5}">
                      <a16:colId xmlns:a16="http://schemas.microsoft.com/office/drawing/2014/main" val="20001"/>
                    </a:ext>
                  </a:extLst>
                </a:gridCol>
                <a:gridCol w="698599">
                  <a:extLst>
                    <a:ext uri="{9D8B030D-6E8A-4147-A177-3AD203B41FA5}">
                      <a16:colId xmlns:a16="http://schemas.microsoft.com/office/drawing/2014/main" val="20002"/>
                    </a:ext>
                  </a:extLst>
                </a:gridCol>
                <a:gridCol w="699922">
                  <a:extLst>
                    <a:ext uri="{9D8B030D-6E8A-4147-A177-3AD203B41FA5}">
                      <a16:colId xmlns:a16="http://schemas.microsoft.com/office/drawing/2014/main" val="20003"/>
                    </a:ext>
                  </a:extLst>
                </a:gridCol>
                <a:gridCol w="698599">
                  <a:extLst>
                    <a:ext uri="{9D8B030D-6E8A-4147-A177-3AD203B41FA5}">
                      <a16:colId xmlns:a16="http://schemas.microsoft.com/office/drawing/2014/main" val="20004"/>
                    </a:ext>
                  </a:extLst>
                </a:gridCol>
                <a:gridCol w="1274796">
                  <a:extLst>
                    <a:ext uri="{9D8B030D-6E8A-4147-A177-3AD203B41FA5}">
                      <a16:colId xmlns:a16="http://schemas.microsoft.com/office/drawing/2014/main" val="20005"/>
                    </a:ext>
                  </a:extLst>
                </a:gridCol>
              </a:tblGrid>
              <a:tr h="518148">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A</a:t>
                      </a:r>
                    </a:p>
                  </a:txBody>
                  <a:tcPr marL="91441" marR="91441"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3</a:t>
                      </a:r>
                    </a:p>
                  </a:txBody>
                  <a:tcPr marL="91441" marR="91441"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6</a:t>
                      </a:r>
                    </a:p>
                  </a:txBody>
                  <a:tcPr marL="91441" marR="91441"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L="91441" marR="91441"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L="91441" marR="91441"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0</a:t>
                      </a:r>
                    </a:p>
                  </a:txBody>
                  <a:tcPr marL="91441" marR="91441"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20630">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B</a:t>
                      </a:r>
                    </a:p>
                  </a:txBody>
                  <a:tcPr marL="91441" marR="91441"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1</a:t>
                      </a:r>
                    </a:p>
                  </a:txBody>
                  <a:tcPr marL="91441" marR="91441"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4</a:t>
                      </a:r>
                    </a:p>
                  </a:txBody>
                  <a:tcPr marL="91441" marR="91441"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L="91441" marR="91441"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L="91441" marR="91441"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110</a:t>
                      </a:r>
                    </a:p>
                  </a:txBody>
                  <a:tcPr marL="91441" marR="91441"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8148">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C</a:t>
                      </a:r>
                    </a:p>
                  </a:txBody>
                  <a:tcPr marL="91441" marR="91441"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2</a:t>
                      </a:r>
                    </a:p>
                  </a:txBody>
                  <a:tcPr marL="91441" marR="91441"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5</a:t>
                      </a:r>
                    </a:p>
                  </a:txBody>
                  <a:tcPr marL="91441" marR="91441"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L="91441" marR="91441"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L="91441" marR="91441"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10</a:t>
                      </a:r>
                    </a:p>
                  </a:txBody>
                  <a:tcPr marL="91441" marR="91441"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9043">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D</a:t>
                      </a:r>
                    </a:p>
                  </a:txBody>
                  <a:tcPr marL="91441" marR="91441"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1</a:t>
                      </a:r>
                    </a:p>
                  </a:txBody>
                  <a:tcPr marL="91441" marR="91441"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4</a:t>
                      </a:r>
                    </a:p>
                  </a:txBody>
                  <a:tcPr marL="91441" marR="91441"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L="91441" marR="91441"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L="91441" marR="91441"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111</a:t>
                      </a:r>
                    </a:p>
                  </a:txBody>
                  <a:tcPr marL="91441" marR="91441"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8148">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marL="91441" marR="91441"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2</a:t>
                      </a:r>
                    </a:p>
                  </a:txBody>
                  <a:tcPr marL="91441" marR="91441"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5</a:t>
                      </a:r>
                    </a:p>
                  </a:txBody>
                  <a:tcPr marL="91441" marR="91441"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1</a:t>
                      </a:r>
                    </a:p>
                  </a:txBody>
                  <a:tcPr marL="91441" marR="91441"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3</a:t>
                      </a:r>
                    </a:p>
                  </a:txBody>
                  <a:tcPr marL="91441" marR="91441"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2800" b="0" i="0" u="none" strike="noStrike" cap="none" normalizeH="0" baseline="0" dirty="0">
                        <a:ln>
                          <a:noFill/>
                        </a:ln>
                        <a:solidFill>
                          <a:schemeClr val="tx1"/>
                        </a:solidFill>
                        <a:effectLst/>
                        <a:latin typeface="Arial" pitchFamily="34" charset="0"/>
                        <a:ea typeface="宋体" pitchFamily="2" charset="-122"/>
                      </a:endParaRPr>
                    </a:p>
                  </a:txBody>
                  <a:tcPr marL="91441" marR="91441"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9043">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marL="91441" marR="91441"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4</a:t>
                      </a:r>
                    </a:p>
                  </a:txBody>
                  <a:tcPr marL="91441" marR="91441"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6</a:t>
                      </a:r>
                    </a:p>
                  </a:txBody>
                  <a:tcPr marL="91441" marR="91441"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2</a:t>
                      </a:r>
                    </a:p>
                  </a:txBody>
                  <a:tcPr marL="91441" marR="91441"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4</a:t>
                      </a:r>
                    </a:p>
                  </a:txBody>
                  <a:tcPr marL="91441" marR="91441"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2800" b="0" i="0" u="none" strike="noStrike" cap="none" normalizeH="0" baseline="0" dirty="0">
                        <a:ln>
                          <a:noFill/>
                        </a:ln>
                        <a:solidFill>
                          <a:schemeClr val="tx1"/>
                        </a:solidFill>
                        <a:effectLst/>
                        <a:latin typeface="Arial" pitchFamily="34" charset="0"/>
                        <a:ea typeface="宋体" pitchFamily="2" charset="-122"/>
                      </a:endParaRPr>
                    </a:p>
                  </a:txBody>
                  <a:tcPr marL="91441" marR="91441"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19043">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marL="91441" marR="91441"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7</a:t>
                      </a:r>
                    </a:p>
                  </a:txBody>
                  <a:tcPr marL="91441" marR="91441"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L="91441" marR="91441"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0</a:t>
                      </a:r>
                    </a:p>
                  </a:txBody>
                  <a:tcPr marL="91441" marR="91441"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5</a:t>
                      </a:r>
                    </a:p>
                  </a:txBody>
                  <a:tcPr marL="91441" marR="91441"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2800" b="0" i="0" u="none" strike="noStrike" cap="none" normalizeH="0" baseline="0" dirty="0">
                        <a:ln>
                          <a:noFill/>
                        </a:ln>
                        <a:solidFill>
                          <a:schemeClr val="tx1"/>
                        </a:solidFill>
                        <a:effectLst/>
                        <a:latin typeface="Arial" pitchFamily="34" charset="0"/>
                        <a:ea typeface="宋体" pitchFamily="2" charset="-122"/>
                      </a:endParaRPr>
                    </a:p>
                  </a:txBody>
                  <a:tcPr marL="91441" marR="91441"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graphicFrame>
        <p:nvGraphicFramePr>
          <p:cNvPr id="99381" name="Group 53">
            <a:extLst>
              <a:ext uri="{FF2B5EF4-FFF2-40B4-BE49-F238E27FC236}">
                <a16:creationId xmlns:a16="http://schemas.microsoft.com/office/drawing/2014/main" id="{FE798F4C-0868-40E0-BB82-FA0CE77A08F0}"/>
              </a:ext>
            </a:extLst>
          </p:cNvPr>
          <p:cNvGraphicFramePr>
            <a:graphicFrameLocks noGrp="1"/>
          </p:cNvGraphicFramePr>
          <p:nvPr>
            <p:extLst>
              <p:ext uri="{D42A27DB-BD31-4B8C-83A1-F6EECF244321}">
                <p14:modId xmlns:p14="http://schemas.microsoft.com/office/powerpoint/2010/main" val="3343596720"/>
              </p:ext>
            </p:extLst>
          </p:nvPr>
        </p:nvGraphicFramePr>
        <p:xfrm>
          <a:off x="186357" y="2204864"/>
          <a:ext cx="641350" cy="4149725"/>
        </p:xfrm>
        <a:graphic>
          <a:graphicData uri="http://schemas.openxmlformats.org/drawingml/2006/table">
            <a:tbl>
              <a:tblPr/>
              <a:tblGrid>
                <a:gridCol w="641350">
                  <a:extLst>
                    <a:ext uri="{9D8B030D-6E8A-4147-A177-3AD203B41FA5}">
                      <a16:colId xmlns:a16="http://schemas.microsoft.com/office/drawing/2014/main" val="20000"/>
                    </a:ext>
                  </a:extLst>
                </a:gridCol>
              </a:tblGrid>
              <a:tr h="518149">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0</a:t>
                      </a:r>
                    </a:p>
                  </a:txBody>
                  <a:tcPr marT="45715" marB="45715" horzOverflow="overflow">
                    <a:lnL cap="flat">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519055">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5" marB="45715"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519055">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2</a:t>
                      </a:r>
                    </a:p>
                  </a:txBody>
                  <a:tcPr marT="45715" marB="45715"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519055">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3</a:t>
                      </a:r>
                    </a:p>
                  </a:txBody>
                  <a:tcPr marT="45715" marB="45715"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518149">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4</a:t>
                      </a:r>
                    </a:p>
                  </a:txBody>
                  <a:tcPr marT="45715" marB="45715"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519055">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5</a:t>
                      </a:r>
                    </a:p>
                  </a:txBody>
                  <a:tcPr marT="45715" marB="45715"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518149">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6</a:t>
                      </a:r>
                    </a:p>
                  </a:txBody>
                  <a:tcPr marT="45715" marB="45715"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6"/>
                  </a:ext>
                </a:extLst>
              </a:tr>
              <a:tr h="519055">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dirty="0">
                        <a:ln>
                          <a:noFill/>
                        </a:ln>
                        <a:solidFill>
                          <a:schemeClr val="tx1"/>
                        </a:solidFill>
                        <a:effectLst/>
                        <a:latin typeface="Arial" pitchFamily="34" charset="0"/>
                        <a:ea typeface="宋体" pitchFamily="2" charset="-122"/>
                      </a:endParaRPr>
                    </a:p>
                  </a:txBody>
                  <a:tcPr marT="45715" marB="45715" horzOverflow="overflow">
                    <a:lnL cap="flat">
                      <a:noFill/>
                    </a:lnL>
                    <a:lnR cap="flat">
                      <a:noFill/>
                    </a:lnR>
                    <a:lnT>
                      <a:noFill/>
                    </a:lnT>
                    <a:lnB cap="flat">
                      <a:noFill/>
                    </a:lnB>
                    <a:lnTlToBr>
                      <a:noFill/>
                    </a:lnTlToBr>
                    <a:lnBlToTr>
                      <a:noFill/>
                    </a:lnBlToTr>
                    <a:noFill/>
                  </a:tcPr>
                </a:tc>
                <a:extLst>
                  <a:ext uri="{0D108BD9-81ED-4DB2-BD59-A6C34878D82A}">
                    <a16:rowId xmlns:a16="http://schemas.microsoft.com/office/drawing/2014/main" val="10007"/>
                  </a:ext>
                </a:extLst>
              </a:tr>
            </a:tbl>
          </a:graphicData>
        </a:graphic>
      </p:graphicFrame>
      <p:sp>
        <p:nvSpPr>
          <p:cNvPr id="99407" name="Text Box 79">
            <a:extLst>
              <a:ext uri="{FF2B5EF4-FFF2-40B4-BE49-F238E27FC236}">
                <a16:creationId xmlns:a16="http://schemas.microsoft.com/office/drawing/2014/main" id="{09D12E7C-A0C1-4A27-962A-35D91CE64D6B}"/>
              </a:ext>
            </a:extLst>
          </p:cNvPr>
          <p:cNvSpPr txBox="1">
            <a:spLocks noChangeArrowheads="1"/>
          </p:cNvSpPr>
          <p:nvPr/>
        </p:nvSpPr>
        <p:spPr bwMode="auto">
          <a:xfrm>
            <a:off x="5872184" y="2220077"/>
            <a:ext cx="2952006" cy="1815882"/>
          </a:xfrm>
          <a:prstGeom prst="rect">
            <a:avLst/>
          </a:prstGeom>
          <a:noFill/>
          <a:ln>
            <a:noFill/>
          </a:ln>
          <a:effectLst/>
        </p:spPr>
        <p:txBody>
          <a:bodyPr wrap="square">
            <a:spAutoFit/>
          </a:bodyPr>
          <a:lstStyle>
            <a:lvl1pPr marL="342900" indent="-342900">
              <a:defRPr sz="2400">
                <a:solidFill>
                  <a:schemeClr val="tx1"/>
                </a:solidFill>
                <a:latin typeface="Arial" pitchFamily="34" charset="0"/>
                <a:ea typeface="宋体" pitchFamily="2" charset="-122"/>
              </a:defRPr>
            </a:lvl1pPr>
            <a:lvl2pPr>
              <a:defRPr sz="2400">
                <a:solidFill>
                  <a:schemeClr val="tx1"/>
                </a:solidFill>
                <a:latin typeface="Arial" pitchFamily="34" charset="0"/>
                <a:ea typeface="宋体" pitchFamily="2" charset="-122"/>
              </a:defRPr>
            </a:lvl2pPr>
            <a:lvl3pPr>
              <a:defRPr sz="2400">
                <a:solidFill>
                  <a:schemeClr val="tx1"/>
                </a:solidFill>
                <a:latin typeface="Arial" pitchFamily="34" charset="0"/>
                <a:ea typeface="宋体" pitchFamily="2" charset="-122"/>
              </a:defRPr>
            </a:lvl3pPr>
            <a:lvl4pPr>
              <a:defRPr sz="2400">
                <a:solidFill>
                  <a:schemeClr val="tx1"/>
                </a:solidFill>
                <a:latin typeface="Arial" pitchFamily="34" charset="0"/>
                <a:ea typeface="宋体" pitchFamily="2" charset="-122"/>
              </a:defRPr>
            </a:lvl4pPr>
            <a:lvl5pPr>
              <a:defRPr sz="2400">
                <a:solidFill>
                  <a:schemeClr val="tx1"/>
                </a:solidFill>
                <a:latin typeface="Arial" pitchFamily="34" charset="0"/>
                <a:ea typeface="宋体" pitchFamily="2" charset="-122"/>
              </a:defRPr>
            </a:lvl5pPr>
            <a:lvl6pPr fontAlgn="base">
              <a:spcBef>
                <a:spcPct val="0"/>
              </a:spcBef>
              <a:spcAft>
                <a:spcPct val="0"/>
              </a:spcAft>
              <a:buFont typeface="Arial" pitchFamily="34" charset="0"/>
              <a:defRPr sz="2400">
                <a:solidFill>
                  <a:schemeClr val="tx1"/>
                </a:solidFill>
                <a:latin typeface="Arial" pitchFamily="34" charset="0"/>
                <a:ea typeface="宋体" pitchFamily="2" charset="-122"/>
              </a:defRPr>
            </a:lvl6pPr>
            <a:lvl7pPr fontAlgn="base">
              <a:spcBef>
                <a:spcPct val="0"/>
              </a:spcBef>
              <a:spcAft>
                <a:spcPct val="0"/>
              </a:spcAft>
              <a:buFont typeface="Arial" pitchFamily="34" charset="0"/>
              <a:defRPr sz="2400">
                <a:solidFill>
                  <a:schemeClr val="tx1"/>
                </a:solidFill>
                <a:latin typeface="Arial" pitchFamily="34" charset="0"/>
                <a:ea typeface="宋体" pitchFamily="2" charset="-122"/>
              </a:defRPr>
            </a:lvl7pPr>
            <a:lvl8pPr fontAlgn="base">
              <a:spcBef>
                <a:spcPct val="0"/>
              </a:spcBef>
              <a:spcAft>
                <a:spcPct val="0"/>
              </a:spcAft>
              <a:buFont typeface="Arial" pitchFamily="34" charset="0"/>
              <a:defRPr sz="2400">
                <a:solidFill>
                  <a:schemeClr val="tx1"/>
                </a:solidFill>
                <a:latin typeface="Arial" pitchFamily="34" charset="0"/>
                <a:ea typeface="宋体" pitchFamily="2" charset="-122"/>
              </a:defRPr>
            </a:lvl8pPr>
            <a:lvl9pPr fontAlgn="base">
              <a:spcBef>
                <a:spcPct val="0"/>
              </a:spcBef>
              <a:spcAft>
                <a:spcPct val="0"/>
              </a:spcAft>
              <a:buFont typeface="Arial" pitchFamily="34" charset="0"/>
              <a:defRPr sz="2400">
                <a:solidFill>
                  <a:schemeClr val="tx1"/>
                </a:solidFill>
                <a:latin typeface="Arial" pitchFamily="34" charset="0"/>
                <a:ea typeface="宋体" pitchFamily="2" charset="-122"/>
              </a:defRPr>
            </a:lvl9pPr>
          </a:lstStyle>
          <a:p>
            <a:pPr eaLnBrk="1" hangingPunct="1">
              <a:spcBef>
                <a:spcPct val="50000"/>
              </a:spcBef>
              <a:buClr>
                <a:schemeClr val="hlink"/>
              </a:buClr>
              <a:buSzPct val="75000"/>
              <a:buFont typeface="Wingdings" pitchFamily="2" charset="2"/>
              <a:buNone/>
              <a:defRPr/>
            </a:pPr>
            <a:r>
              <a:rPr lang="en-US" altLang="zh-CN" sz="2800" b="1" i="0" dirty="0">
                <a:solidFill>
                  <a:srgbClr val="D60629"/>
                </a:solidFill>
                <a:effectLst>
                  <a:outerShdw blurRad="38100" dist="38100" dir="2700000" algn="tl">
                    <a:srgbClr val="C0C0C0"/>
                  </a:outerShdw>
                </a:effectLst>
              </a:rPr>
              <a:t>string   code;</a:t>
            </a:r>
          </a:p>
          <a:p>
            <a:pPr eaLnBrk="1" hangingPunct="1">
              <a:spcBef>
                <a:spcPct val="50000"/>
              </a:spcBef>
              <a:buClr>
                <a:schemeClr val="hlink"/>
              </a:buClr>
              <a:buSzPct val="75000"/>
              <a:buFont typeface="Wingdings" pitchFamily="2" charset="2"/>
              <a:buNone/>
              <a:defRPr/>
            </a:pPr>
            <a:r>
              <a:rPr lang="en-US" altLang="zh-CN" sz="2800" b="1" i="0" dirty="0">
                <a:solidFill>
                  <a:srgbClr val="D60629"/>
                </a:solidFill>
                <a:effectLst>
                  <a:outerShdw blurRad="38100" dist="38100" dir="2700000" algn="tl">
                    <a:srgbClr val="C0C0C0"/>
                  </a:outerShdw>
                </a:effectLst>
              </a:rPr>
              <a:t>code=“0”+code;</a:t>
            </a:r>
          </a:p>
          <a:p>
            <a:pPr eaLnBrk="1" hangingPunct="1">
              <a:spcBef>
                <a:spcPct val="50000"/>
              </a:spcBef>
              <a:buClr>
                <a:schemeClr val="hlink"/>
              </a:buClr>
              <a:buSzPct val="75000"/>
              <a:buFont typeface="Wingdings" pitchFamily="2" charset="2"/>
              <a:buNone/>
              <a:defRPr/>
            </a:pPr>
            <a:r>
              <a:rPr lang="en-US" altLang="zh-CN" sz="2800" b="1" i="0" dirty="0">
                <a:solidFill>
                  <a:srgbClr val="D60629"/>
                </a:solidFill>
                <a:effectLst>
                  <a:outerShdw blurRad="38100" dist="38100" dir="2700000" algn="tl">
                    <a:srgbClr val="C0C0C0"/>
                  </a:outerShdw>
                </a:effectLst>
              </a:rPr>
              <a:t>code=“1”+code;  </a:t>
            </a:r>
          </a:p>
        </p:txBody>
      </p:sp>
      <p:sp>
        <p:nvSpPr>
          <p:cNvPr id="2" name="Text Box 3">
            <a:extLst>
              <a:ext uri="{FF2B5EF4-FFF2-40B4-BE49-F238E27FC236}">
                <a16:creationId xmlns:a16="http://schemas.microsoft.com/office/drawing/2014/main" id="{9E41A7F9-76F1-4246-A81C-6B1BFA31DC81}"/>
              </a:ext>
            </a:extLst>
          </p:cNvPr>
          <p:cNvSpPr txBox="1">
            <a:spLocks noChangeArrowheads="1"/>
          </p:cNvSpPr>
          <p:nvPr/>
        </p:nvSpPr>
        <p:spPr bwMode="auto">
          <a:xfrm>
            <a:off x="395536" y="188640"/>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赫夫曼编码实现</a:t>
            </a: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a:extLst>
              <a:ext uri="{FF2B5EF4-FFF2-40B4-BE49-F238E27FC236}">
                <a16:creationId xmlns:a16="http://schemas.microsoft.com/office/drawing/2014/main" id="{58019CB0-C157-4838-895B-25A845F590A0}"/>
              </a:ext>
            </a:extLst>
          </p:cNvPr>
          <p:cNvSpPr>
            <a:spLocks noRot="1" noChangeArrowheads="1"/>
          </p:cNvSpPr>
          <p:nvPr/>
        </p:nvSpPr>
        <p:spPr bwMode="auto">
          <a:xfrm>
            <a:off x="205067" y="1281138"/>
            <a:ext cx="8938933"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2800" dirty="0"/>
              <a:t>   </a:t>
            </a:r>
            <a:r>
              <a:rPr lang="zh-CN" altLang="en-US" sz="2800" i="0" dirty="0"/>
              <a:t>同层次递归计算，传当前结点</a:t>
            </a:r>
            <a:r>
              <a:rPr lang="en-US" altLang="zh-CN" sz="2800" i="0" dirty="0"/>
              <a:t>T</a:t>
            </a:r>
            <a:r>
              <a:rPr lang="zh-CN" altLang="en-US" sz="2800" i="0" dirty="0"/>
              <a:t>的码值参数</a:t>
            </a:r>
            <a:r>
              <a:rPr lang="en-US" altLang="zh-CN" sz="2800" i="0" dirty="0"/>
              <a:t>code</a:t>
            </a:r>
            <a:r>
              <a:rPr lang="zh-CN" altLang="en-US" sz="2800" i="0" dirty="0"/>
              <a:t>。</a:t>
            </a:r>
            <a:endParaRPr lang="en-US" altLang="zh-CN" sz="2800" i="0" dirty="0"/>
          </a:p>
          <a:p>
            <a:pPr eaLnBrk="1" hangingPunct="1">
              <a:buFontTx/>
              <a:buNone/>
            </a:pPr>
            <a:endParaRPr lang="en-US" altLang="zh-CN" sz="2800" i="0" dirty="0"/>
          </a:p>
          <a:p>
            <a:pPr marL="0" indent="0" eaLnBrk="1" hangingPunct="1">
              <a:buClr>
                <a:srgbClr val="FF0000"/>
              </a:buClr>
              <a:buNone/>
            </a:pPr>
            <a:r>
              <a:rPr lang="en-US" altLang="zh-CN" sz="2800" i="0" dirty="0"/>
              <a:t>   </a:t>
            </a:r>
            <a:r>
              <a:rPr lang="zh-CN" altLang="en-US" sz="2800" b="0" i="0" dirty="0">
                <a:latin typeface="+mn-ea"/>
                <a:ea typeface="+mn-ea"/>
              </a:rPr>
              <a:t>置</a:t>
            </a:r>
            <a:r>
              <a:rPr lang="en-US" altLang="zh-CN" sz="2800" b="0" i="0" dirty="0">
                <a:latin typeface="+mn-ea"/>
                <a:ea typeface="+mn-ea"/>
              </a:rPr>
              <a:t>T</a:t>
            </a:r>
            <a:r>
              <a:rPr lang="zh-CN" altLang="en-US" sz="2800" b="0" i="0" dirty="0">
                <a:latin typeface="+mn-ea"/>
                <a:ea typeface="+mn-ea"/>
              </a:rPr>
              <a:t>的码值为</a:t>
            </a:r>
            <a:r>
              <a:rPr lang="en-US" altLang="zh-CN" sz="2800" b="0" i="0" dirty="0">
                <a:latin typeface="+mn-ea"/>
                <a:ea typeface="+mn-ea"/>
              </a:rPr>
              <a:t>code</a:t>
            </a:r>
          </a:p>
          <a:p>
            <a:pPr eaLnBrk="1" hangingPunct="1">
              <a:buFontTx/>
              <a:buNone/>
            </a:pPr>
            <a:r>
              <a:rPr lang="en-US" altLang="zh-CN" sz="2800" b="0" i="0" dirty="0">
                <a:latin typeface="+mn-ea"/>
                <a:ea typeface="+mn-ea"/>
              </a:rPr>
              <a:t>  </a:t>
            </a:r>
            <a:r>
              <a:rPr lang="zh-CN" altLang="en-US" sz="2800" b="0" i="0" dirty="0">
                <a:latin typeface="+mn-ea"/>
                <a:ea typeface="+mn-ea"/>
              </a:rPr>
              <a:t>若</a:t>
            </a:r>
            <a:r>
              <a:rPr lang="en-US" altLang="zh-CN" sz="2800" b="0" i="0" dirty="0">
                <a:latin typeface="+mn-ea"/>
                <a:ea typeface="+mn-ea"/>
              </a:rPr>
              <a:t>T</a:t>
            </a:r>
            <a:r>
              <a:rPr lang="zh-CN" altLang="en-US" sz="2800" b="0" i="0" dirty="0">
                <a:latin typeface="+mn-ea"/>
                <a:ea typeface="+mn-ea"/>
              </a:rPr>
              <a:t>左子树非空</a:t>
            </a:r>
            <a:endParaRPr lang="en-US" altLang="zh-CN" sz="2800" b="0" i="0" dirty="0">
              <a:latin typeface="+mn-ea"/>
              <a:ea typeface="+mn-ea"/>
            </a:endParaRPr>
          </a:p>
          <a:p>
            <a:pPr eaLnBrk="1" hangingPunct="1">
              <a:buFontTx/>
              <a:buNone/>
            </a:pPr>
            <a:r>
              <a:rPr lang="en-US" altLang="zh-CN" sz="2800" b="0" i="0" dirty="0">
                <a:latin typeface="+mn-ea"/>
                <a:ea typeface="+mn-ea"/>
              </a:rPr>
              <a:t>     </a:t>
            </a:r>
            <a:r>
              <a:rPr lang="zh-CN" altLang="en-US" sz="2800" b="0" i="0" dirty="0">
                <a:latin typeface="+mn-ea"/>
                <a:ea typeface="+mn-ea"/>
              </a:rPr>
              <a:t>递归对左子树编码，左子树码值</a:t>
            </a:r>
            <a:r>
              <a:rPr lang="en-US" altLang="zh-CN" sz="2800" b="0" i="0" dirty="0">
                <a:latin typeface="+mn-ea"/>
                <a:ea typeface="+mn-ea"/>
              </a:rPr>
              <a:t>code + ‘0’</a:t>
            </a:r>
          </a:p>
          <a:p>
            <a:pPr eaLnBrk="1" hangingPunct="1">
              <a:buFontTx/>
              <a:buNone/>
            </a:pPr>
            <a:r>
              <a:rPr lang="en-US" altLang="zh-CN" sz="2800" b="0" i="0" dirty="0">
                <a:latin typeface="+mn-ea"/>
                <a:ea typeface="+mn-ea"/>
              </a:rPr>
              <a:t>   </a:t>
            </a:r>
            <a:r>
              <a:rPr lang="zh-CN" altLang="en-US" sz="2800" b="0" i="0" dirty="0">
                <a:latin typeface="+mn-ea"/>
                <a:ea typeface="+mn-ea"/>
              </a:rPr>
              <a:t>若</a:t>
            </a:r>
            <a:r>
              <a:rPr lang="en-US" altLang="zh-CN" sz="2800" b="0" i="0" dirty="0">
                <a:latin typeface="+mn-ea"/>
                <a:ea typeface="+mn-ea"/>
              </a:rPr>
              <a:t>T</a:t>
            </a:r>
            <a:r>
              <a:rPr lang="zh-CN" altLang="en-US" sz="2800" b="0" i="0" dirty="0">
                <a:latin typeface="+mn-ea"/>
                <a:ea typeface="+mn-ea"/>
              </a:rPr>
              <a:t>右子树非空</a:t>
            </a:r>
            <a:r>
              <a:rPr lang="en-US" altLang="zh-CN" sz="2800" b="0" i="0" dirty="0">
                <a:latin typeface="+mn-ea"/>
                <a:ea typeface="+mn-ea"/>
              </a:rPr>
              <a:t>  </a:t>
            </a:r>
          </a:p>
          <a:p>
            <a:pPr eaLnBrk="1" hangingPunct="1">
              <a:buFontTx/>
              <a:buNone/>
            </a:pPr>
            <a:r>
              <a:rPr lang="en-US" altLang="zh-CN" sz="2800" b="0" i="0" dirty="0">
                <a:latin typeface="+mn-ea"/>
                <a:ea typeface="+mn-ea"/>
              </a:rPr>
              <a:t>     </a:t>
            </a:r>
            <a:r>
              <a:rPr lang="zh-CN" altLang="en-US" sz="2800" b="0" i="0" dirty="0">
                <a:latin typeface="+mn-ea"/>
                <a:ea typeface="+mn-ea"/>
              </a:rPr>
              <a:t>递归对右子树编码，右子树码值</a:t>
            </a:r>
            <a:r>
              <a:rPr lang="en-US" altLang="zh-CN" sz="2800" b="0" i="0" dirty="0">
                <a:latin typeface="+mn-ea"/>
                <a:ea typeface="+mn-ea"/>
              </a:rPr>
              <a:t>code + ‘1’</a:t>
            </a:r>
          </a:p>
          <a:p>
            <a:pPr eaLnBrk="1" hangingPunct="1">
              <a:buFontTx/>
              <a:buNone/>
            </a:pPr>
            <a:r>
              <a:rPr lang="en-US" altLang="zh-CN" sz="2800" b="0" i="0" dirty="0">
                <a:solidFill>
                  <a:srgbClr val="FF0000"/>
                </a:solidFill>
                <a:latin typeface="+mn-ea"/>
                <a:ea typeface="+mn-ea"/>
              </a:rPr>
              <a:t>     </a:t>
            </a:r>
          </a:p>
          <a:p>
            <a:pPr eaLnBrk="1" hangingPunct="1">
              <a:buFontTx/>
              <a:buNone/>
            </a:pPr>
            <a:r>
              <a:rPr lang="en-US" altLang="zh-CN" sz="2800" b="0" i="0" dirty="0">
                <a:solidFill>
                  <a:srgbClr val="FF0000"/>
                </a:solidFill>
                <a:latin typeface="+mn-ea"/>
                <a:ea typeface="+mn-ea"/>
              </a:rPr>
              <a:t>   coding(HT, 2*n-2, “”);  //</a:t>
            </a:r>
            <a:r>
              <a:rPr lang="zh-CN" altLang="en-US" sz="2800" b="0" i="0" dirty="0">
                <a:solidFill>
                  <a:srgbClr val="FF0000"/>
                </a:solidFill>
                <a:latin typeface="+mn-ea"/>
                <a:ea typeface="+mn-ea"/>
              </a:rPr>
              <a:t>初始根的码值，空串</a:t>
            </a:r>
            <a:r>
              <a:rPr lang="en-US" altLang="zh-CN" sz="2800" b="0" i="0" dirty="0">
                <a:latin typeface="+mn-ea"/>
                <a:ea typeface="+mn-ea"/>
              </a:rPr>
              <a:t>        </a:t>
            </a:r>
          </a:p>
          <a:p>
            <a:pPr eaLnBrk="1" hangingPunct="1">
              <a:buFontTx/>
              <a:buNone/>
            </a:pPr>
            <a:endParaRPr lang="en-US" altLang="zh-CN" sz="2800" i="0" dirty="0"/>
          </a:p>
          <a:p>
            <a:pPr eaLnBrk="1" hangingPunct="1">
              <a:buFontTx/>
              <a:buNone/>
            </a:pPr>
            <a:r>
              <a:rPr lang="en-US" altLang="zh-CN" sz="2800" i="0" dirty="0"/>
              <a:t>   </a:t>
            </a:r>
            <a:endParaRPr lang="zh-CN" altLang="en-US" sz="2800" b="0" i="0" dirty="0">
              <a:latin typeface="+mn-ea"/>
              <a:ea typeface="+mn-ea"/>
              <a:cs typeface="Arial" panose="020B0604020202020204" pitchFamily="34" charset="0"/>
            </a:endParaRPr>
          </a:p>
        </p:txBody>
      </p:sp>
      <p:sp>
        <p:nvSpPr>
          <p:cNvPr id="2" name="Text Box 3">
            <a:extLst>
              <a:ext uri="{FF2B5EF4-FFF2-40B4-BE49-F238E27FC236}">
                <a16:creationId xmlns:a16="http://schemas.microsoft.com/office/drawing/2014/main" id="{9E41A7F9-76F1-4246-A81C-6B1BFA31DC81}"/>
              </a:ext>
            </a:extLst>
          </p:cNvPr>
          <p:cNvSpPr txBox="1">
            <a:spLocks noChangeArrowheads="1"/>
          </p:cNvSpPr>
          <p:nvPr/>
        </p:nvSpPr>
        <p:spPr bwMode="auto">
          <a:xfrm>
            <a:off x="395536" y="188640"/>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赫夫曼编码递归实现</a:t>
            </a:r>
          </a:p>
        </p:txBody>
      </p:sp>
    </p:spTree>
    <p:extLst>
      <p:ext uri="{BB962C8B-B14F-4D97-AF65-F5344CB8AC3E}">
        <p14:creationId xmlns:p14="http://schemas.microsoft.com/office/powerpoint/2010/main" val="993594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786">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78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78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786">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8786">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878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61" name="Text Box 5">
            <a:extLst>
              <a:ext uri="{FF2B5EF4-FFF2-40B4-BE49-F238E27FC236}">
                <a16:creationId xmlns:a16="http://schemas.microsoft.com/office/drawing/2014/main" id="{E3B3081D-85CA-4E3A-B44B-079E7337F56B}"/>
              </a:ext>
            </a:extLst>
          </p:cNvPr>
          <p:cNvSpPr txBox="1">
            <a:spLocks noChangeArrowheads="1"/>
          </p:cNvSpPr>
          <p:nvPr/>
        </p:nvSpPr>
        <p:spPr bwMode="auto">
          <a:xfrm>
            <a:off x="-180528" y="1277445"/>
            <a:ext cx="9144000"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chemeClr val="hlink"/>
              </a:buClr>
              <a:buSzPct val="75000"/>
              <a:buFont typeface="Wingdings" panose="05000000000000000000" pitchFamily="2" charset="2"/>
              <a:buNone/>
            </a:pPr>
            <a:r>
              <a:rPr lang="zh-CN" altLang="en-US" sz="2800" dirty="0"/>
              <a:t>       </a:t>
            </a:r>
            <a:r>
              <a:rPr lang="zh-CN" altLang="en-US" sz="2800" b="0" i="0" dirty="0">
                <a:latin typeface="+mn-ea"/>
                <a:ea typeface="+mn-ea"/>
              </a:rPr>
              <a:t>假设待解码字符串为</a:t>
            </a:r>
            <a:r>
              <a:rPr lang="en-US" altLang="zh-CN" sz="2800" b="0" i="0" dirty="0">
                <a:latin typeface="+mn-ea"/>
                <a:ea typeface="+mn-ea"/>
              </a:rPr>
              <a:t>s</a:t>
            </a:r>
            <a:r>
              <a:rPr lang="zh-CN" altLang="en-US" sz="2800" b="0" i="0" dirty="0">
                <a:latin typeface="+mn-ea"/>
                <a:ea typeface="+mn-ea"/>
              </a:rPr>
              <a:t>。</a:t>
            </a:r>
            <a:endParaRPr lang="en-US" altLang="zh-CN" sz="2800" b="0" dirty="0">
              <a:latin typeface="+mn-ea"/>
              <a:ea typeface="+mn-ea"/>
            </a:endParaRPr>
          </a:p>
          <a:p>
            <a:pPr eaLnBrk="1" hangingPunct="1">
              <a:spcBef>
                <a:spcPct val="50000"/>
              </a:spcBef>
              <a:buClr>
                <a:schemeClr val="hlink"/>
              </a:buClr>
              <a:buSzPct val="75000"/>
              <a:buFont typeface="Wingdings" panose="05000000000000000000" pitchFamily="2" charset="2"/>
              <a:buNone/>
            </a:pPr>
            <a:r>
              <a:rPr lang="en-US" altLang="zh-CN" sz="2800" b="0" dirty="0">
                <a:latin typeface="+mn-ea"/>
                <a:ea typeface="+mn-ea"/>
              </a:rPr>
              <a:t>    </a:t>
            </a:r>
            <a:r>
              <a:rPr lang="zh-CN" altLang="en-US" sz="2800" b="0" i="0" dirty="0">
                <a:solidFill>
                  <a:srgbClr val="FF0000"/>
                </a:solidFill>
                <a:latin typeface="+mn-ea"/>
                <a:ea typeface="+mn-ea"/>
              </a:rPr>
              <a:t>思路：</a:t>
            </a:r>
            <a:r>
              <a:rPr lang="zh-CN" altLang="en-US" sz="2800" b="0" i="0" dirty="0">
                <a:latin typeface="+mn-ea"/>
                <a:ea typeface="+mn-ea"/>
              </a:rPr>
              <a:t>令</a:t>
            </a:r>
            <a:r>
              <a:rPr lang="en-US" altLang="zh-CN" sz="2800" b="0" i="0" dirty="0">
                <a:latin typeface="+mn-ea"/>
                <a:ea typeface="+mn-ea"/>
              </a:rPr>
              <a:t>k=</a:t>
            </a:r>
            <a:r>
              <a:rPr lang="zh-CN" altLang="en-US" sz="2800" b="0" i="0" dirty="0">
                <a:latin typeface="+mn-ea"/>
                <a:ea typeface="+mn-ea"/>
              </a:rPr>
              <a:t>树根，依次读</a:t>
            </a:r>
            <a:r>
              <a:rPr lang="en-US" altLang="zh-CN" sz="2800" b="0" i="0" dirty="0">
                <a:latin typeface="+mn-ea"/>
                <a:ea typeface="+mn-ea"/>
              </a:rPr>
              <a:t>s</a:t>
            </a:r>
            <a:r>
              <a:rPr lang="zh-CN" altLang="en-US" sz="2800" b="0" i="0" dirty="0">
                <a:latin typeface="+mn-ea"/>
                <a:ea typeface="+mn-ea"/>
              </a:rPr>
              <a:t>的每个字符，若为</a:t>
            </a:r>
            <a:r>
              <a:rPr lang="en-US" altLang="zh-CN" sz="2800" b="0" i="0" dirty="0">
                <a:latin typeface="+mn-ea"/>
                <a:ea typeface="+mn-ea"/>
              </a:rPr>
              <a:t>0</a:t>
            </a:r>
            <a:r>
              <a:rPr lang="zh-CN" altLang="en-US" sz="2800" b="0" i="0" dirty="0">
                <a:latin typeface="+mn-ea"/>
                <a:ea typeface="+mn-ea"/>
              </a:rPr>
              <a:t>，</a:t>
            </a:r>
            <a:endParaRPr lang="en-US" altLang="zh-CN" sz="2800" b="0" i="0" dirty="0">
              <a:latin typeface="+mn-ea"/>
              <a:ea typeface="+mn-ea"/>
            </a:endParaRPr>
          </a:p>
          <a:p>
            <a:pPr eaLnBrk="1" hangingPunct="1">
              <a:spcBef>
                <a:spcPct val="50000"/>
              </a:spcBef>
              <a:buClr>
                <a:schemeClr val="hlink"/>
              </a:buClr>
              <a:buSzPct val="75000"/>
              <a:buFont typeface="Wingdings" panose="05000000000000000000" pitchFamily="2" charset="2"/>
              <a:buNone/>
            </a:pPr>
            <a:r>
              <a:rPr lang="en-US" altLang="zh-CN" sz="2800" b="0" i="0" dirty="0">
                <a:latin typeface="+mn-ea"/>
                <a:ea typeface="+mn-ea"/>
              </a:rPr>
              <a:t>          </a:t>
            </a:r>
            <a:r>
              <a:rPr lang="zh-CN" altLang="en-US" sz="2800" b="0" i="0" dirty="0">
                <a:latin typeface="+mn-ea"/>
                <a:ea typeface="+mn-ea"/>
              </a:rPr>
              <a:t>走</a:t>
            </a:r>
            <a:r>
              <a:rPr lang="en-US" altLang="zh-CN" sz="2800" b="0" i="0" dirty="0">
                <a:latin typeface="+mn-ea"/>
                <a:ea typeface="+mn-ea"/>
              </a:rPr>
              <a:t>k</a:t>
            </a:r>
            <a:r>
              <a:rPr lang="zh-CN" altLang="en-US" sz="2800" b="0" i="0" dirty="0">
                <a:latin typeface="+mn-ea"/>
                <a:ea typeface="+mn-ea"/>
              </a:rPr>
              <a:t>的左子树；为</a:t>
            </a:r>
            <a:r>
              <a:rPr lang="en-US" altLang="zh-CN" sz="2800" b="0" i="0" dirty="0">
                <a:latin typeface="+mn-ea"/>
                <a:ea typeface="+mn-ea"/>
              </a:rPr>
              <a:t>1</a:t>
            </a:r>
            <a:r>
              <a:rPr lang="zh-CN" altLang="en-US" sz="2800" b="0" i="0" dirty="0">
                <a:latin typeface="+mn-ea"/>
                <a:ea typeface="+mn-ea"/>
              </a:rPr>
              <a:t>，走</a:t>
            </a:r>
            <a:r>
              <a:rPr lang="en-US" altLang="zh-CN" sz="2800" b="0" i="0" dirty="0">
                <a:latin typeface="+mn-ea"/>
                <a:ea typeface="+mn-ea"/>
              </a:rPr>
              <a:t>k</a:t>
            </a:r>
            <a:r>
              <a:rPr lang="zh-CN" altLang="en-US" sz="2800" b="0" i="0" dirty="0">
                <a:latin typeface="+mn-ea"/>
                <a:ea typeface="+mn-ea"/>
              </a:rPr>
              <a:t>的右子树，直到走</a:t>
            </a:r>
            <a:endParaRPr lang="en-US" altLang="zh-CN" sz="2800" b="0" i="0" dirty="0">
              <a:latin typeface="+mn-ea"/>
              <a:ea typeface="+mn-ea"/>
            </a:endParaRPr>
          </a:p>
          <a:p>
            <a:pPr eaLnBrk="1" hangingPunct="1">
              <a:spcBef>
                <a:spcPct val="50000"/>
              </a:spcBef>
              <a:buClr>
                <a:schemeClr val="hlink"/>
              </a:buClr>
              <a:buSzPct val="75000"/>
              <a:buFont typeface="Wingdings" panose="05000000000000000000" pitchFamily="2" charset="2"/>
              <a:buNone/>
            </a:pPr>
            <a:r>
              <a:rPr lang="zh-CN" altLang="en-US" sz="2800" b="0" i="0" dirty="0">
                <a:latin typeface="+mn-ea"/>
                <a:ea typeface="+mn-ea"/>
              </a:rPr>
              <a:t>          到叶结点，该节点即为得到的解码字符。</a:t>
            </a:r>
            <a:endParaRPr lang="en-US" altLang="zh-CN" sz="2800" b="0" i="0" dirty="0">
              <a:latin typeface="+mn-ea"/>
              <a:ea typeface="+mn-ea"/>
            </a:endParaRPr>
          </a:p>
          <a:p>
            <a:pPr eaLnBrk="1" hangingPunct="1">
              <a:spcBef>
                <a:spcPct val="50000"/>
              </a:spcBef>
              <a:buClr>
                <a:schemeClr val="hlink"/>
              </a:buClr>
              <a:buSzPct val="75000"/>
              <a:buFont typeface="Wingdings" panose="05000000000000000000" pitchFamily="2" charset="2"/>
              <a:buNone/>
            </a:pPr>
            <a:r>
              <a:rPr lang="en-US" altLang="zh-CN" sz="2800" b="0" i="0" dirty="0">
                <a:latin typeface="+mn-ea"/>
                <a:ea typeface="+mn-ea"/>
              </a:rPr>
              <a:t>          </a:t>
            </a:r>
            <a:r>
              <a:rPr lang="zh-CN" altLang="en-US" sz="2800" b="0" i="0" dirty="0">
                <a:latin typeface="+mn-ea"/>
                <a:ea typeface="+mn-ea"/>
              </a:rPr>
              <a:t>重复上述过程，直到</a:t>
            </a:r>
            <a:r>
              <a:rPr lang="en-US" altLang="zh-CN" sz="2800" b="0" i="0" dirty="0">
                <a:latin typeface="+mn-ea"/>
                <a:ea typeface="+mn-ea"/>
              </a:rPr>
              <a:t>s</a:t>
            </a:r>
            <a:r>
              <a:rPr lang="zh-CN" altLang="en-US" sz="2800" b="0" i="0" dirty="0">
                <a:latin typeface="+mn-ea"/>
                <a:ea typeface="+mn-ea"/>
              </a:rPr>
              <a:t>串结束。</a:t>
            </a:r>
            <a:endParaRPr lang="en-US" altLang="zh-CN" sz="2800" b="0" i="0" dirty="0">
              <a:latin typeface="+mn-ea"/>
              <a:ea typeface="+mn-ea"/>
            </a:endParaRPr>
          </a:p>
          <a:p>
            <a:pPr eaLnBrk="1" hangingPunct="1">
              <a:spcBef>
                <a:spcPct val="50000"/>
              </a:spcBef>
              <a:buClr>
                <a:schemeClr val="hlink"/>
              </a:buClr>
              <a:buSzPct val="75000"/>
              <a:buFont typeface="Wingdings" panose="05000000000000000000" pitchFamily="2" charset="2"/>
              <a:buNone/>
            </a:pPr>
            <a:r>
              <a:rPr lang="en-US" altLang="zh-CN" sz="2800" b="0" i="0" dirty="0">
                <a:latin typeface="+mn-ea"/>
                <a:ea typeface="+mn-ea"/>
              </a:rPr>
              <a:t>          </a:t>
            </a:r>
            <a:r>
              <a:rPr lang="zh-CN" altLang="en-US" sz="2800" b="0" i="0" dirty="0">
                <a:latin typeface="+mn-ea"/>
                <a:ea typeface="+mn-ea"/>
              </a:rPr>
              <a:t>若</a:t>
            </a:r>
            <a:r>
              <a:rPr lang="en-US" altLang="zh-CN" sz="2800" b="0" i="0" dirty="0">
                <a:latin typeface="+mn-ea"/>
                <a:ea typeface="+mn-ea"/>
              </a:rPr>
              <a:t>s</a:t>
            </a:r>
            <a:r>
              <a:rPr lang="zh-CN" altLang="en-US" sz="2800" b="0" i="0" dirty="0">
                <a:latin typeface="+mn-ea"/>
                <a:ea typeface="+mn-ea"/>
              </a:rPr>
              <a:t>串结束，</a:t>
            </a:r>
            <a:r>
              <a:rPr lang="en-US" altLang="zh-CN" sz="2800" b="0" i="0" dirty="0">
                <a:latin typeface="+mn-ea"/>
                <a:ea typeface="+mn-ea"/>
              </a:rPr>
              <a:t>k</a:t>
            </a:r>
            <a:r>
              <a:rPr lang="zh-CN" altLang="en-US" sz="2800" b="0" i="0" dirty="0">
                <a:latin typeface="+mn-ea"/>
                <a:ea typeface="+mn-ea"/>
              </a:rPr>
              <a:t>非树根，则解码失败。</a:t>
            </a:r>
            <a:endParaRPr lang="en-US" altLang="zh-CN" sz="2800" b="0" i="0" dirty="0">
              <a:latin typeface="+mn-ea"/>
              <a:ea typeface="+mn-ea"/>
            </a:endParaRPr>
          </a:p>
          <a:p>
            <a:pPr eaLnBrk="1" hangingPunct="1">
              <a:spcBef>
                <a:spcPct val="50000"/>
              </a:spcBef>
              <a:buClr>
                <a:schemeClr val="hlink"/>
              </a:buClr>
              <a:buSzPct val="75000"/>
              <a:buFont typeface="Wingdings" panose="05000000000000000000" pitchFamily="2" charset="2"/>
              <a:buNone/>
            </a:pPr>
            <a:endParaRPr lang="zh-CN" altLang="en-US" sz="2800" b="1" dirty="0">
              <a:latin typeface="宋体" panose="02010600030101010101" pitchFamily="2" charset="-122"/>
            </a:endParaRPr>
          </a:p>
        </p:txBody>
      </p:sp>
      <p:sp>
        <p:nvSpPr>
          <p:cNvPr id="5" name="思想气泡: 云 4">
            <a:extLst>
              <a:ext uri="{FF2B5EF4-FFF2-40B4-BE49-F238E27FC236}">
                <a16:creationId xmlns:a16="http://schemas.microsoft.com/office/drawing/2014/main" id="{AF46904D-2599-4B1C-AC60-41235271DBEB}"/>
              </a:ext>
            </a:extLst>
          </p:cNvPr>
          <p:cNvSpPr/>
          <p:nvPr/>
        </p:nvSpPr>
        <p:spPr bwMode="auto">
          <a:xfrm>
            <a:off x="2955167" y="683360"/>
            <a:ext cx="1584176" cy="796469"/>
          </a:xfrm>
          <a:prstGeom prst="cloudCallout">
            <a:avLst>
              <a:gd name="adj1" fmla="val -53406"/>
              <a:gd name="adj2" fmla="val 132520"/>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itchFamily="18" charset="0"/>
                <a:ea typeface="宋体" pitchFamily="2" charset="-122"/>
              </a:rPr>
              <a:t>2n-2</a:t>
            </a:r>
            <a:endParaRPr kumimoji="0" lang="zh-CN" altLang="en-US" sz="2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3" name="Text Box 3">
            <a:extLst>
              <a:ext uri="{FF2B5EF4-FFF2-40B4-BE49-F238E27FC236}">
                <a16:creationId xmlns:a16="http://schemas.microsoft.com/office/drawing/2014/main" id="{9B4CAD71-1C86-BBDA-D5E0-DBCEE008244D}"/>
              </a:ext>
            </a:extLst>
          </p:cNvPr>
          <p:cNvSpPr txBox="1">
            <a:spLocks noChangeArrowheads="1"/>
          </p:cNvSpPr>
          <p:nvPr/>
        </p:nvSpPr>
        <p:spPr bwMode="auto">
          <a:xfrm>
            <a:off x="342900" y="116302"/>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六、赫夫曼解码实现</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186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186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186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1861">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1861">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5" name="Text Box 5">
            <a:extLst>
              <a:ext uri="{FF2B5EF4-FFF2-40B4-BE49-F238E27FC236}">
                <a16:creationId xmlns:a16="http://schemas.microsoft.com/office/drawing/2014/main" id="{010A7E50-ED91-49BF-9614-15D60EB2C46E}"/>
              </a:ext>
            </a:extLst>
          </p:cNvPr>
          <p:cNvSpPr txBox="1">
            <a:spLocks noChangeArrowheads="1"/>
          </p:cNvSpPr>
          <p:nvPr/>
        </p:nvSpPr>
        <p:spPr bwMode="auto">
          <a:xfrm>
            <a:off x="-180528" y="1268760"/>
            <a:ext cx="8566150" cy="1169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chemeClr val="hlink"/>
              </a:buClr>
              <a:buSzPct val="75000"/>
              <a:buFont typeface="Wingdings" panose="05000000000000000000" pitchFamily="2" charset="2"/>
              <a:buNone/>
            </a:pPr>
            <a:r>
              <a:rPr lang="zh-CN" altLang="en-US" sz="2800" b="1" i="0" dirty="0">
                <a:latin typeface="宋体" panose="02010600030101010101" pitchFamily="2" charset="-122"/>
              </a:rPr>
              <a:t>    </a:t>
            </a:r>
            <a:r>
              <a:rPr lang="zh-CN" altLang="en-US" sz="2800" b="0" i="0" dirty="0">
                <a:latin typeface="黑体" panose="02010609060101010101" pitchFamily="49" charset="-122"/>
                <a:ea typeface="黑体" panose="02010609060101010101" pitchFamily="49" charset="-122"/>
              </a:rPr>
              <a:t>解码从树根开始，具体算法描述如下：</a:t>
            </a:r>
            <a:r>
              <a:rPr lang="en-US" altLang="zh-CN" sz="2800" b="0" i="0" dirty="0">
                <a:latin typeface="黑体" panose="02010609060101010101" pitchFamily="49" charset="-122"/>
                <a:ea typeface="黑体" panose="02010609060101010101" pitchFamily="49" charset="-122"/>
              </a:rPr>
              <a:t> </a:t>
            </a:r>
          </a:p>
          <a:p>
            <a:pPr eaLnBrk="1" hangingPunct="1">
              <a:spcBef>
                <a:spcPct val="50000"/>
              </a:spcBef>
              <a:buClr>
                <a:schemeClr val="hlink"/>
              </a:buClr>
              <a:buSzPct val="75000"/>
              <a:buFont typeface="Wingdings" panose="05000000000000000000" pitchFamily="2" charset="2"/>
              <a:buNone/>
            </a:pPr>
            <a:r>
              <a:rPr lang="en-US" altLang="zh-CN" sz="2800" b="0" i="0" dirty="0">
                <a:latin typeface="黑体" panose="02010609060101010101" pitchFamily="49" charset="-122"/>
                <a:ea typeface="黑体" panose="02010609060101010101" pitchFamily="49" charset="-122"/>
              </a:rPr>
              <a:t> </a:t>
            </a:r>
            <a:r>
              <a:rPr lang="zh-CN" altLang="en-US" sz="2800" b="0" i="0" dirty="0">
                <a:latin typeface="黑体" panose="02010609060101010101" pitchFamily="49" charset="-122"/>
                <a:ea typeface="黑体" panose="02010609060101010101" pitchFamily="49" charset="-122"/>
              </a:rPr>
              <a:t>   ① 初始令</a:t>
            </a:r>
            <a:r>
              <a:rPr lang="en-US" altLang="zh-CN" sz="2800" b="0" i="0" dirty="0">
                <a:latin typeface="黑体" panose="02010609060101010101" pitchFamily="49" charset="-122"/>
                <a:ea typeface="黑体" panose="02010609060101010101" pitchFamily="49" charset="-122"/>
              </a:rPr>
              <a:t>k</a:t>
            </a:r>
            <a:r>
              <a:rPr lang="zh-CN" altLang="en-US" sz="2800" b="0" i="0" dirty="0">
                <a:latin typeface="黑体" panose="02010609060101010101" pitchFamily="49" charset="-122"/>
                <a:ea typeface="黑体" panose="02010609060101010101" pitchFamily="49" charset="-122"/>
              </a:rPr>
              <a:t> = </a:t>
            </a:r>
            <a:r>
              <a:rPr lang="en-US" altLang="zh-CN" sz="2800" b="0" i="0" dirty="0">
                <a:latin typeface="黑体" panose="02010609060101010101" pitchFamily="49" charset="-122"/>
                <a:ea typeface="黑体" panose="02010609060101010101" pitchFamily="49" charset="-122"/>
              </a:rPr>
              <a:t>2</a:t>
            </a:r>
            <a:r>
              <a:rPr lang="zh-CN" altLang="en-US" sz="2800" b="0" i="0" dirty="0">
                <a:latin typeface="黑体" panose="02010609060101010101" pitchFamily="49" charset="-122"/>
                <a:ea typeface="黑体" panose="02010609060101010101" pitchFamily="49" charset="-122"/>
              </a:rPr>
              <a:t>n-2，</a:t>
            </a:r>
            <a:r>
              <a:rPr lang="en-US" altLang="zh-CN" sz="2800" b="0" i="0" dirty="0" err="1">
                <a:latin typeface="黑体" panose="02010609060101010101" pitchFamily="49" charset="-122"/>
                <a:ea typeface="黑体" panose="02010609060101010101" pitchFamily="49" charset="-122"/>
              </a:rPr>
              <a:t>i</a:t>
            </a:r>
            <a:r>
              <a:rPr lang="en-US" altLang="zh-CN" sz="2800" b="0" i="0" dirty="0">
                <a:latin typeface="黑体" panose="02010609060101010101" pitchFamily="49" charset="-122"/>
                <a:ea typeface="黑体" panose="02010609060101010101" pitchFamily="49" charset="-122"/>
              </a:rPr>
              <a:t>=0</a:t>
            </a:r>
            <a:endParaRPr lang="zh-CN" altLang="en-US" sz="2800" b="0" i="0" dirty="0">
              <a:latin typeface="黑体" panose="02010609060101010101" pitchFamily="49" charset="-122"/>
              <a:ea typeface="黑体" panose="02010609060101010101" pitchFamily="49" charset="-122"/>
            </a:endParaRPr>
          </a:p>
        </p:txBody>
      </p:sp>
      <p:sp>
        <p:nvSpPr>
          <p:cNvPr id="122886" name="Text Box 6">
            <a:extLst>
              <a:ext uri="{FF2B5EF4-FFF2-40B4-BE49-F238E27FC236}">
                <a16:creationId xmlns:a16="http://schemas.microsoft.com/office/drawing/2014/main" id="{2F4F032B-F470-437F-A389-7BEF2C991C45}"/>
              </a:ext>
            </a:extLst>
          </p:cNvPr>
          <p:cNvSpPr txBox="1">
            <a:spLocks noChangeArrowheads="1"/>
          </p:cNvSpPr>
          <p:nvPr/>
        </p:nvSpPr>
        <p:spPr bwMode="auto">
          <a:xfrm>
            <a:off x="537022" y="2500660"/>
            <a:ext cx="8424863" cy="3108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chemeClr val="hlink"/>
              </a:buClr>
              <a:buSzPct val="75000"/>
              <a:buFont typeface="Wingdings" panose="05000000000000000000" pitchFamily="2" charset="2"/>
              <a:buNone/>
            </a:pPr>
            <a:r>
              <a:rPr lang="zh-CN" altLang="en-US" sz="2800" b="0" i="0" dirty="0">
                <a:latin typeface="黑体" panose="02010609060101010101" pitchFamily="49" charset="-122"/>
                <a:ea typeface="黑体" panose="02010609060101010101" pitchFamily="49" charset="-122"/>
              </a:rPr>
              <a:t>② 若</a:t>
            </a:r>
            <a:r>
              <a:rPr lang="en-US" altLang="zh-CN" sz="2800" b="0" i="0" dirty="0" err="1">
                <a:latin typeface="黑体" panose="02010609060101010101" pitchFamily="49" charset="-122"/>
                <a:ea typeface="黑体" panose="02010609060101010101" pitchFamily="49" charset="-122"/>
              </a:rPr>
              <a:t>i</a:t>
            </a:r>
            <a:r>
              <a:rPr lang="en-US" altLang="zh-CN" sz="2800" b="0" i="0" dirty="0">
                <a:latin typeface="黑体" panose="02010609060101010101" pitchFamily="49" charset="-122"/>
                <a:ea typeface="黑体" panose="02010609060101010101" pitchFamily="49" charset="-122"/>
              </a:rPr>
              <a:t>&gt;=</a:t>
            </a:r>
            <a:r>
              <a:rPr lang="en-US" altLang="zh-CN" sz="2800" b="0" i="0" dirty="0" err="1">
                <a:latin typeface="黑体" panose="02010609060101010101" pitchFamily="49" charset="-122"/>
                <a:ea typeface="黑体" panose="02010609060101010101" pitchFamily="49" charset="-122"/>
              </a:rPr>
              <a:t>s.length</a:t>
            </a:r>
            <a:r>
              <a:rPr lang="en-US" altLang="zh-CN" sz="2800" b="0" i="0" dirty="0">
                <a:latin typeface="黑体" panose="02010609060101010101" pitchFamily="49" charset="-122"/>
                <a:ea typeface="黑体" panose="02010609060101010101" pitchFamily="49" charset="-122"/>
              </a:rPr>
              <a:t>()</a:t>
            </a:r>
            <a:r>
              <a:rPr lang="zh-CN" altLang="en-US" sz="2800" b="0" i="0" dirty="0">
                <a:latin typeface="黑体" panose="02010609060101010101" pitchFamily="49" charset="-122"/>
                <a:ea typeface="黑体" panose="02010609060101010101" pitchFamily="49" charset="-122"/>
              </a:rPr>
              <a:t>，转⑥</a:t>
            </a:r>
            <a:endParaRPr lang="en-US" altLang="zh-CN" sz="2800" b="0" i="0" dirty="0">
              <a:latin typeface="黑体" panose="02010609060101010101" pitchFamily="49" charset="-122"/>
              <a:ea typeface="黑体" panose="02010609060101010101" pitchFamily="49" charset="-122"/>
            </a:endParaRPr>
          </a:p>
          <a:p>
            <a:pPr eaLnBrk="1" hangingPunct="1">
              <a:spcBef>
                <a:spcPct val="50000"/>
              </a:spcBef>
              <a:buClr>
                <a:schemeClr val="hlink"/>
              </a:buClr>
              <a:buSzPct val="75000"/>
              <a:buFont typeface="Wingdings" panose="05000000000000000000" pitchFamily="2" charset="2"/>
              <a:buNone/>
            </a:pPr>
            <a:r>
              <a:rPr lang="zh-CN" altLang="en-US" sz="2800" b="0" i="0" dirty="0">
                <a:latin typeface="黑体" panose="02010609060101010101" pitchFamily="49" charset="-122"/>
                <a:ea typeface="黑体" panose="02010609060101010101" pitchFamily="49" charset="-122"/>
              </a:rPr>
              <a:t>③ 若</a:t>
            </a:r>
            <a:r>
              <a:rPr lang="en-US" altLang="zh-CN" sz="2800" b="0" i="0" dirty="0">
                <a:latin typeface="黑体" panose="02010609060101010101" pitchFamily="49" charset="-122"/>
                <a:ea typeface="黑体" panose="02010609060101010101" pitchFamily="49" charset="-122"/>
              </a:rPr>
              <a:t>s[</a:t>
            </a:r>
            <a:r>
              <a:rPr lang="en-US" altLang="zh-CN" sz="2800" b="0" i="0" dirty="0" err="1">
                <a:latin typeface="黑体" panose="02010609060101010101" pitchFamily="49" charset="-122"/>
                <a:ea typeface="黑体" panose="02010609060101010101" pitchFamily="49" charset="-122"/>
              </a:rPr>
              <a:t>i</a:t>
            </a:r>
            <a:r>
              <a:rPr lang="en-US" altLang="zh-CN" sz="2800" b="0" i="0" dirty="0">
                <a:latin typeface="黑体" panose="02010609060101010101" pitchFamily="49" charset="-122"/>
                <a:ea typeface="黑体" panose="02010609060101010101" pitchFamily="49" charset="-122"/>
              </a:rPr>
              <a:t>]=‘0’,</a:t>
            </a:r>
            <a:r>
              <a:rPr lang="zh-CN" altLang="en-US" sz="2800" b="0" i="0" dirty="0">
                <a:latin typeface="黑体" panose="02010609060101010101" pitchFamily="49" charset="-122"/>
                <a:ea typeface="黑体" panose="02010609060101010101" pitchFamily="49" charset="-122"/>
              </a:rPr>
              <a:t>则</a:t>
            </a:r>
            <a:r>
              <a:rPr lang="en-US" altLang="zh-CN" sz="2800" b="0" i="0" dirty="0">
                <a:latin typeface="黑体" panose="02010609060101010101" pitchFamily="49" charset="-122"/>
                <a:ea typeface="黑体" panose="02010609060101010101" pitchFamily="49" charset="-122"/>
              </a:rPr>
              <a:t>k</a:t>
            </a:r>
            <a:r>
              <a:rPr lang="zh-CN" altLang="en-US" sz="2800" b="0" i="0" dirty="0">
                <a:latin typeface="黑体" panose="02010609060101010101" pitchFamily="49" charset="-122"/>
                <a:ea typeface="黑体" panose="02010609060101010101" pitchFamily="49" charset="-122"/>
              </a:rPr>
              <a:t> = </a:t>
            </a:r>
            <a:r>
              <a:rPr lang="en-US" altLang="zh-CN" sz="2800" b="0" i="0" dirty="0">
                <a:latin typeface="黑体" panose="02010609060101010101" pitchFamily="49" charset="-122"/>
                <a:ea typeface="黑体" panose="02010609060101010101" pitchFamily="49" charset="-122"/>
              </a:rPr>
              <a:t>HT[k].</a:t>
            </a:r>
            <a:r>
              <a:rPr lang="en-US" altLang="zh-CN" sz="2800" b="0" i="0" dirty="0" err="1">
                <a:latin typeface="黑体" panose="02010609060101010101" pitchFamily="49" charset="-122"/>
                <a:ea typeface="黑体" panose="02010609060101010101" pitchFamily="49" charset="-122"/>
              </a:rPr>
              <a:t>lchild</a:t>
            </a:r>
            <a:r>
              <a:rPr lang="en-US" altLang="zh-CN" sz="2800" b="0" i="0" dirty="0">
                <a:latin typeface="黑体" panose="02010609060101010101" pitchFamily="49" charset="-122"/>
                <a:ea typeface="黑体" panose="02010609060101010101" pitchFamily="49" charset="-122"/>
              </a:rPr>
              <a:t>;</a:t>
            </a:r>
          </a:p>
          <a:p>
            <a:pPr eaLnBrk="1" hangingPunct="1">
              <a:spcBef>
                <a:spcPct val="50000"/>
              </a:spcBef>
              <a:buClr>
                <a:schemeClr val="hlink"/>
              </a:buClr>
              <a:buSzPct val="75000"/>
              <a:buFont typeface="Wingdings" panose="05000000000000000000" pitchFamily="2" charset="2"/>
              <a:buNone/>
            </a:pPr>
            <a:r>
              <a:rPr lang="en-US" altLang="zh-CN" sz="2800" b="0" i="0" dirty="0">
                <a:latin typeface="黑体" panose="02010609060101010101" pitchFamily="49" charset="-122"/>
                <a:ea typeface="黑体" panose="02010609060101010101" pitchFamily="49" charset="-122"/>
              </a:rPr>
              <a:t>   </a:t>
            </a:r>
            <a:r>
              <a:rPr lang="zh-CN" altLang="en-US" sz="2800" b="0" i="0" dirty="0">
                <a:latin typeface="黑体" panose="02010609060101010101" pitchFamily="49" charset="-122"/>
                <a:ea typeface="黑体" panose="02010609060101010101" pitchFamily="49" charset="-122"/>
              </a:rPr>
              <a:t>否则，</a:t>
            </a:r>
            <a:r>
              <a:rPr lang="en-US" altLang="zh-CN" sz="2800" b="0" i="0" dirty="0">
                <a:latin typeface="黑体" panose="02010609060101010101" pitchFamily="49" charset="-122"/>
                <a:ea typeface="黑体" panose="02010609060101010101" pitchFamily="49" charset="-122"/>
              </a:rPr>
              <a:t>k=HT[k].</a:t>
            </a:r>
            <a:r>
              <a:rPr lang="en-US" altLang="zh-CN" sz="2800" b="0" i="0" dirty="0" err="1">
                <a:latin typeface="黑体" panose="02010609060101010101" pitchFamily="49" charset="-122"/>
                <a:ea typeface="黑体" panose="02010609060101010101" pitchFamily="49" charset="-122"/>
              </a:rPr>
              <a:t>rchild</a:t>
            </a:r>
            <a:r>
              <a:rPr lang="en-US" altLang="zh-CN" sz="2800" b="0" i="0" dirty="0">
                <a:latin typeface="黑体" panose="02010609060101010101" pitchFamily="49" charset="-122"/>
                <a:ea typeface="黑体" panose="02010609060101010101" pitchFamily="49" charset="-122"/>
              </a:rPr>
              <a:t>; </a:t>
            </a:r>
          </a:p>
          <a:p>
            <a:pPr eaLnBrk="1" hangingPunct="1">
              <a:spcBef>
                <a:spcPct val="50000"/>
              </a:spcBef>
              <a:buClr>
                <a:schemeClr val="hlink"/>
              </a:buClr>
              <a:buSzPct val="75000"/>
              <a:buFont typeface="Wingdings" panose="05000000000000000000" pitchFamily="2" charset="2"/>
              <a:buNone/>
            </a:pPr>
            <a:r>
              <a:rPr lang="zh-CN" altLang="en-US" sz="2800" b="0" i="0" dirty="0">
                <a:latin typeface="黑体" panose="02010609060101010101" pitchFamily="49" charset="-122"/>
                <a:ea typeface="黑体" panose="02010609060101010101" pitchFamily="49" charset="-122"/>
              </a:rPr>
              <a:t>④ 若</a:t>
            </a:r>
            <a:r>
              <a:rPr lang="en-US" altLang="zh-CN" sz="2800" b="0" i="0" dirty="0">
                <a:latin typeface="黑体" panose="02010609060101010101" pitchFamily="49" charset="-122"/>
                <a:ea typeface="黑体" panose="02010609060101010101" pitchFamily="49" charset="-122"/>
              </a:rPr>
              <a:t>HT[k].</a:t>
            </a:r>
            <a:r>
              <a:rPr lang="en-US" altLang="zh-CN" sz="2800" b="0" i="0" dirty="0" err="1">
                <a:latin typeface="黑体" panose="02010609060101010101" pitchFamily="49" charset="-122"/>
                <a:ea typeface="黑体" panose="02010609060101010101" pitchFamily="49" charset="-122"/>
              </a:rPr>
              <a:t>lchild</a:t>
            </a:r>
            <a:r>
              <a:rPr lang="en-US" altLang="zh-CN" sz="2800" b="0" i="0" dirty="0">
                <a:latin typeface="黑体" panose="02010609060101010101" pitchFamily="49" charset="-122"/>
                <a:ea typeface="黑体" panose="02010609060101010101" pitchFamily="49" charset="-122"/>
              </a:rPr>
              <a:t>=-1</a:t>
            </a:r>
            <a:r>
              <a:rPr lang="zh-CN" altLang="en-US" sz="2800" b="0" i="0" dirty="0">
                <a:latin typeface="黑体" panose="02010609060101010101" pitchFamily="49" charset="-122"/>
                <a:ea typeface="黑体" panose="02010609060101010101" pitchFamily="49" charset="-122"/>
              </a:rPr>
              <a:t>且</a:t>
            </a:r>
            <a:r>
              <a:rPr lang="en-US" altLang="zh-CN" sz="2800" b="0" i="0" dirty="0">
                <a:latin typeface="黑体" panose="02010609060101010101" pitchFamily="49" charset="-122"/>
                <a:ea typeface="黑体" panose="02010609060101010101" pitchFamily="49" charset="-122"/>
              </a:rPr>
              <a:t>HT[k].</a:t>
            </a:r>
            <a:r>
              <a:rPr lang="en-US" altLang="zh-CN" sz="2800" b="0" i="0" dirty="0" err="1">
                <a:latin typeface="黑体" panose="02010609060101010101" pitchFamily="49" charset="-122"/>
                <a:ea typeface="黑体" panose="02010609060101010101" pitchFamily="49" charset="-122"/>
              </a:rPr>
              <a:t>rchild</a:t>
            </a:r>
            <a:r>
              <a:rPr lang="en-US" altLang="zh-CN" sz="2800" b="0" i="0" dirty="0">
                <a:latin typeface="黑体" panose="02010609060101010101" pitchFamily="49" charset="-122"/>
                <a:ea typeface="黑体" panose="02010609060101010101" pitchFamily="49" charset="-122"/>
              </a:rPr>
              <a:t>=-1</a:t>
            </a:r>
            <a:r>
              <a:rPr lang="zh-CN" altLang="en-US" sz="2800" b="0" i="0" dirty="0">
                <a:latin typeface="黑体" panose="02010609060101010101" pitchFamily="49" charset="-122"/>
                <a:ea typeface="黑体" panose="02010609060101010101" pitchFamily="49" charset="-122"/>
              </a:rPr>
              <a:t>，则</a:t>
            </a:r>
            <a:endParaRPr lang="en-US" altLang="zh-CN" sz="2800" b="0" i="0" dirty="0">
              <a:latin typeface="黑体" panose="02010609060101010101" pitchFamily="49" charset="-122"/>
              <a:ea typeface="黑体" panose="02010609060101010101" pitchFamily="49" charset="-122"/>
            </a:endParaRPr>
          </a:p>
          <a:p>
            <a:pPr eaLnBrk="1" hangingPunct="1">
              <a:spcBef>
                <a:spcPct val="50000"/>
              </a:spcBef>
              <a:buClr>
                <a:schemeClr val="hlink"/>
              </a:buClr>
              <a:buSzPct val="75000"/>
              <a:buFont typeface="Wingdings" panose="05000000000000000000" pitchFamily="2" charset="2"/>
              <a:buNone/>
            </a:pPr>
            <a:r>
              <a:rPr lang="en-US" altLang="zh-CN" sz="2800" b="0" i="0" dirty="0">
                <a:latin typeface="黑体" panose="02010609060101010101" pitchFamily="49" charset="-122"/>
                <a:ea typeface="黑体" panose="02010609060101010101" pitchFamily="49" charset="-122"/>
              </a:rPr>
              <a:t>   </a:t>
            </a:r>
            <a:r>
              <a:rPr lang="zh-CN" altLang="en-US" sz="2800" b="0" i="0" dirty="0">
                <a:latin typeface="黑体" panose="02010609060101010101" pitchFamily="49" charset="-122"/>
                <a:ea typeface="黑体" panose="02010609060101010101" pitchFamily="49" charset="-122"/>
              </a:rPr>
              <a:t>解码串加</a:t>
            </a:r>
            <a:r>
              <a:rPr lang="en-US" altLang="zh-CN" sz="2800" b="0" i="0" dirty="0">
                <a:latin typeface="黑体" panose="02010609060101010101" pitchFamily="49" charset="-122"/>
                <a:ea typeface="黑体" panose="02010609060101010101" pitchFamily="49" charset="-122"/>
              </a:rPr>
              <a:t>HT[k].node,  k=2n-2 </a:t>
            </a:r>
            <a:endParaRPr lang="zh-CN" altLang="en-US" sz="2800" b="0" i="0" dirty="0">
              <a:latin typeface="黑体" panose="02010609060101010101" pitchFamily="49" charset="-122"/>
              <a:ea typeface="黑体" panose="02010609060101010101" pitchFamily="49" charset="-122"/>
            </a:endParaRPr>
          </a:p>
        </p:txBody>
      </p:sp>
      <p:sp>
        <p:nvSpPr>
          <p:cNvPr id="2" name="Text Box 3">
            <a:extLst>
              <a:ext uri="{FF2B5EF4-FFF2-40B4-BE49-F238E27FC236}">
                <a16:creationId xmlns:a16="http://schemas.microsoft.com/office/drawing/2014/main" id="{C395454A-4053-26F0-52D7-422655C73B8F}"/>
              </a:ext>
            </a:extLst>
          </p:cNvPr>
          <p:cNvSpPr txBox="1">
            <a:spLocks noChangeArrowheads="1"/>
          </p:cNvSpPr>
          <p:nvPr/>
        </p:nvSpPr>
        <p:spPr bwMode="auto">
          <a:xfrm>
            <a:off x="179512" y="116632"/>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赫夫曼解码实现</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288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288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2886">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2886">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2886">
                                            <p:txEl>
                                              <p:pRg st="3" end="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288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9" name="Text Box 5">
            <a:extLst>
              <a:ext uri="{FF2B5EF4-FFF2-40B4-BE49-F238E27FC236}">
                <a16:creationId xmlns:a16="http://schemas.microsoft.com/office/drawing/2014/main" id="{32AD54DF-5CC5-4F88-86F7-BA9D46E0683D}"/>
              </a:ext>
            </a:extLst>
          </p:cNvPr>
          <p:cNvSpPr txBox="1">
            <a:spLocks noChangeArrowheads="1"/>
          </p:cNvSpPr>
          <p:nvPr/>
        </p:nvSpPr>
        <p:spPr bwMode="auto">
          <a:xfrm>
            <a:off x="-108520" y="1412776"/>
            <a:ext cx="856615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chemeClr val="hlink"/>
              </a:buClr>
              <a:buSzPct val="75000"/>
              <a:buFont typeface="Wingdings" panose="05000000000000000000" pitchFamily="2" charset="2"/>
              <a:buNone/>
            </a:pPr>
            <a:r>
              <a:rPr lang="zh-CN" altLang="en-US" sz="2800" i="0" dirty="0"/>
              <a:t>        </a:t>
            </a:r>
            <a:r>
              <a:rPr lang="zh-CN" altLang="en-US" sz="2800" b="1" i="0" dirty="0">
                <a:latin typeface="宋体" panose="02010600030101010101" pitchFamily="2" charset="-122"/>
              </a:rPr>
              <a:t>⑤ </a:t>
            </a:r>
            <a:r>
              <a:rPr lang="en-US" altLang="zh-CN" sz="2800" b="1" i="0" dirty="0" err="1">
                <a:latin typeface="+mn-ea"/>
                <a:ea typeface="+mn-ea"/>
              </a:rPr>
              <a:t>i</a:t>
            </a:r>
            <a:r>
              <a:rPr lang="en-US" altLang="zh-CN" sz="2800" b="1" i="0" dirty="0">
                <a:latin typeface="+mn-ea"/>
                <a:ea typeface="+mn-ea"/>
              </a:rPr>
              <a:t>++</a:t>
            </a:r>
            <a:r>
              <a:rPr lang="zh-CN" altLang="en-US" sz="2800" b="1" i="0" dirty="0">
                <a:latin typeface="+mn-ea"/>
                <a:ea typeface="+mn-ea"/>
              </a:rPr>
              <a:t>，转</a:t>
            </a:r>
            <a:r>
              <a:rPr lang="zh-CN" altLang="en-US" sz="2800" i="0" dirty="0">
                <a:latin typeface="+mn-ea"/>
                <a:ea typeface="+mn-ea"/>
              </a:rPr>
              <a:t>②。</a:t>
            </a:r>
            <a:endParaRPr lang="zh-CN" altLang="en-US" sz="2800" b="1" i="0" dirty="0">
              <a:latin typeface="+mn-ea"/>
              <a:ea typeface="+mn-ea"/>
            </a:endParaRPr>
          </a:p>
        </p:txBody>
      </p:sp>
      <p:sp>
        <p:nvSpPr>
          <p:cNvPr id="123910" name="Text Box 6">
            <a:extLst>
              <a:ext uri="{FF2B5EF4-FFF2-40B4-BE49-F238E27FC236}">
                <a16:creationId xmlns:a16="http://schemas.microsoft.com/office/drawing/2014/main" id="{6A15EDCD-DFF8-4E8D-9A28-BD9ABA6A781D}"/>
              </a:ext>
            </a:extLst>
          </p:cNvPr>
          <p:cNvSpPr txBox="1">
            <a:spLocks noChangeArrowheads="1"/>
          </p:cNvSpPr>
          <p:nvPr/>
        </p:nvSpPr>
        <p:spPr bwMode="auto">
          <a:xfrm>
            <a:off x="620143" y="2143026"/>
            <a:ext cx="8423275"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chemeClr val="hlink"/>
              </a:buClr>
              <a:buSzPct val="75000"/>
              <a:buFont typeface="Wingdings" panose="05000000000000000000" pitchFamily="2" charset="2"/>
              <a:buNone/>
            </a:pPr>
            <a:r>
              <a:rPr lang="zh-CN" altLang="en-US" sz="2800" i="0" dirty="0">
                <a:latin typeface="+mn-ea"/>
                <a:ea typeface="+mn-ea"/>
              </a:rPr>
              <a:t>⑥ </a:t>
            </a:r>
            <a:r>
              <a:rPr lang="zh-CN" altLang="en-US" sz="2800" b="0" i="0" dirty="0">
                <a:latin typeface="+mn-ea"/>
                <a:ea typeface="+mn-ea"/>
              </a:rPr>
              <a:t>若</a:t>
            </a:r>
            <a:r>
              <a:rPr lang="en-US" altLang="zh-CN" sz="2800" b="0" i="0" dirty="0">
                <a:latin typeface="+mn-ea"/>
                <a:ea typeface="+mn-ea"/>
              </a:rPr>
              <a:t>k=2n-2,</a:t>
            </a:r>
            <a:r>
              <a:rPr lang="zh-CN" altLang="en-US" sz="2800" b="0" i="0" dirty="0">
                <a:latin typeface="+mn-ea"/>
                <a:ea typeface="+mn-ea"/>
              </a:rPr>
              <a:t>解码正确，否则解码不正确</a:t>
            </a:r>
            <a:r>
              <a:rPr lang="zh-CN" altLang="en-US" sz="2800" i="0" dirty="0">
                <a:latin typeface="+mn-ea"/>
                <a:ea typeface="+mn-ea"/>
              </a:rPr>
              <a:t>。</a:t>
            </a:r>
          </a:p>
        </p:txBody>
      </p:sp>
      <p:sp>
        <p:nvSpPr>
          <p:cNvPr id="2" name="Text Box 3">
            <a:extLst>
              <a:ext uri="{FF2B5EF4-FFF2-40B4-BE49-F238E27FC236}">
                <a16:creationId xmlns:a16="http://schemas.microsoft.com/office/drawing/2014/main" id="{E64B7068-DEFC-DFFE-96D8-5C39C59F52E6}"/>
              </a:ext>
            </a:extLst>
          </p:cNvPr>
          <p:cNvSpPr txBox="1">
            <a:spLocks noChangeArrowheads="1"/>
          </p:cNvSpPr>
          <p:nvPr/>
        </p:nvSpPr>
        <p:spPr bwMode="auto">
          <a:xfrm>
            <a:off x="179512" y="116632"/>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赫夫曼解码实现</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390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39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09" grpId="0"/>
      <p:bldP spid="123910" grpId="0"/>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9" name="Text Box 5">
            <a:extLst>
              <a:ext uri="{FF2B5EF4-FFF2-40B4-BE49-F238E27FC236}">
                <a16:creationId xmlns:a16="http://schemas.microsoft.com/office/drawing/2014/main" id="{32AD54DF-5CC5-4F88-86F7-BA9D46E0683D}"/>
              </a:ext>
            </a:extLst>
          </p:cNvPr>
          <p:cNvSpPr txBox="1">
            <a:spLocks noChangeArrowheads="1"/>
          </p:cNvSpPr>
          <p:nvPr/>
        </p:nvSpPr>
        <p:spPr bwMode="auto">
          <a:xfrm>
            <a:off x="-180528" y="1340768"/>
            <a:ext cx="9252520"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chemeClr val="hlink"/>
              </a:buClr>
              <a:buSzPct val="75000"/>
              <a:buFont typeface="Wingdings" panose="05000000000000000000" pitchFamily="2" charset="2"/>
              <a:buNone/>
            </a:pPr>
            <a:r>
              <a:rPr lang="zh-CN" altLang="en-US" sz="2800" i="0" dirty="0"/>
              <a:t>        </a:t>
            </a:r>
            <a:r>
              <a:rPr lang="zh-CN" altLang="en-US" sz="2800" b="0" i="0" dirty="0">
                <a:latin typeface="+mn-ea"/>
                <a:ea typeface="+mn-ea"/>
              </a:rPr>
              <a:t>赫夫曼树构建可以用优先队列</a:t>
            </a:r>
            <a:r>
              <a:rPr lang="en-US" altLang="zh-CN" sz="2800" b="0" i="0" dirty="0">
                <a:latin typeface="+mn-ea"/>
                <a:ea typeface="+mn-ea"/>
              </a:rPr>
              <a:t>, </a:t>
            </a:r>
            <a:r>
              <a:rPr lang="zh-CN" altLang="en-US" sz="2800" b="0" i="0" dirty="0">
                <a:latin typeface="+mn-ea"/>
                <a:ea typeface="+mn-ea"/>
              </a:rPr>
              <a:t>按权值从小到大</a:t>
            </a:r>
            <a:endParaRPr lang="en-US" altLang="zh-CN" sz="2800" b="0" i="0" dirty="0">
              <a:latin typeface="+mn-ea"/>
              <a:ea typeface="+mn-ea"/>
            </a:endParaRPr>
          </a:p>
          <a:p>
            <a:pPr eaLnBrk="1" hangingPunct="1">
              <a:spcBef>
                <a:spcPct val="50000"/>
              </a:spcBef>
              <a:buClr>
                <a:schemeClr val="hlink"/>
              </a:buClr>
              <a:buSzPct val="75000"/>
              <a:buFont typeface="Wingdings" panose="05000000000000000000" pitchFamily="2" charset="2"/>
              <a:buNone/>
            </a:pPr>
            <a:r>
              <a:rPr lang="zh-CN" altLang="en-US" sz="2800" b="0" i="0" dirty="0">
                <a:latin typeface="+mn-ea"/>
                <a:ea typeface="+mn-ea"/>
              </a:rPr>
              <a:t>     排序，出队头两棵子树，压入合并后的子树。</a:t>
            </a:r>
            <a:endParaRPr lang="en-US" altLang="zh-CN" sz="2800" b="0" i="0" dirty="0">
              <a:latin typeface="+mn-ea"/>
              <a:ea typeface="+mn-ea"/>
            </a:endParaRPr>
          </a:p>
          <a:p>
            <a:pPr eaLnBrk="1" hangingPunct="1">
              <a:spcBef>
                <a:spcPct val="50000"/>
              </a:spcBef>
              <a:buClr>
                <a:schemeClr val="hlink"/>
              </a:buClr>
              <a:buSzPct val="75000"/>
              <a:buFont typeface="Wingdings" panose="05000000000000000000" pitchFamily="2" charset="2"/>
              <a:buNone/>
            </a:pPr>
            <a:r>
              <a:rPr lang="en-US" altLang="zh-CN" sz="2800" b="1" i="0" dirty="0">
                <a:latin typeface="宋体" panose="02010600030101010101" pitchFamily="2" charset="-122"/>
              </a:rPr>
              <a:t>     </a:t>
            </a:r>
            <a:r>
              <a:rPr lang="en-US" altLang="zh-CN" sz="2800" b="1" i="0" dirty="0" err="1">
                <a:solidFill>
                  <a:srgbClr val="FF0000"/>
                </a:solidFill>
                <a:latin typeface="宋体" panose="02010600030101010101" pitchFamily="2" charset="-122"/>
              </a:rPr>
              <a:t>prority_queue</a:t>
            </a:r>
            <a:r>
              <a:rPr lang="en-US" altLang="zh-CN" sz="2800" b="1" i="0" dirty="0">
                <a:latin typeface="宋体" panose="02010600030101010101" pitchFamily="2" charset="-122"/>
              </a:rPr>
              <a:t>&lt;</a:t>
            </a:r>
            <a:r>
              <a:rPr lang="en-US" altLang="zh-CN" sz="2800" b="1" i="0" dirty="0" err="1">
                <a:latin typeface="宋体" panose="02010600030101010101" pitchFamily="2" charset="-122"/>
              </a:rPr>
              <a:t>HTNode</a:t>
            </a:r>
            <a:r>
              <a:rPr lang="en-US" altLang="zh-CN" sz="2800" b="1" i="0" dirty="0">
                <a:latin typeface="宋体" panose="02010600030101010101" pitchFamily="2" charset="-122"/>
              </a:rPr>
              <a:t> *&gt;  Tree;</a:t>
            </a:r>
            <a:endParaRPr lang="zh-CN" altLang="en-US" sz="2800" b="1" i="0" dirty="0">
              <a:latin typeface="宋体" panose="02010600030101010101" pitchFamily="2" charset="-122"/>
            </a:endParaRPr>
          </a:p>
        </p:txBody>
      </p:sp>
      <p:sp>
        <p:nvSpPr>
          <p:cNvPr id="3" name="Text Box 3">
            <a:extLst>
              <a:ext uri="{FF2B5EF4-FFF2-40B4-BE49-F238E27FC236}">
                <a16:creationId xmlns:a16="http://schemas.microsoft.com/office/drawing/2014/main" id="{999B1650-7C71-404B-A009-CD48C0CC0885}"/>
              </a:ext>
            </a:extLst>
          </p:cNvPr>
          <p:cNvSpPr txBox="1">
            <a:spLocks noChangeArrowheads="1"/>
          </p:cNvSpPr>
          <p:nvPr/>
        </p:nvSpPr>
        <p:spPr bwMode="auto">
          <a:xfrm>
            <a:off x="395536" y="188640"/>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赫夫曼树实现的其它方法</a:t>
            </a:r>
          </a:p>
        </p:txBody>
      </p:sp>
    </p:spTree>
    <p:extLst>
      <p:ext uri="{BB962C8B-B14F-4D97-AF65-F5344CB8AC3E}">
        <p14:creationId xmlns:p14="http://schemas.microsoft.com/office/powerpoint/2010/main" val="110198517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390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2" name="Text Box 4">
            <a:extLst>
              <a:ext uri="{FF2B5EF4-FFF2-40B4-BE49-F238E27FC236}">
                <a16:creationId xmlns:a16="http://schemas.microsoft.com/office/drawing/2014/main" id="{CE7E7C44-7FBC-4071-8553-34C703DFDD1E}"/>
              </a:ext>
            </a:extLst>
          </p:cNvPr>
          <p:cNvSpPr txBox="1">
            <a:spLocks noChangeArrowheads="1"/>
          </p:cNvSpPr>
          <p:nvPr/>
        </p:nvSpPr>
        <p:spPr bwMode="auto">
          <a:xfrm>
            <a:off x="539552" y="1340768"/>
            <a:ext cx="7766870" cy="215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zh-CN" altLang="en-US" sz="2800" b="0" i="0" dirty="0">
                <a:latin typeface="黑体" panose="02010609060101010101" pitchFamily="49" charset="-122"/>
                <a:ea typeface="黑体" panose="02010609060101010101" pitchFamily="49" charset="-122"/>
              </a:rPr>
              <a:t>对电文‘abbaccdeec‘进行Huffman编码。</a:t>
            </a:r>
          </a:p>
          <a:p>
            <a:pPr eaLnBrk="1" hangingPunct="1">
              <a:lnSpc>
                <a:spcPct val="120000"/>
              </a:lnSpc>
              <a:spcBef>
                <a:spcPct val="0"/>
              </a:spcBef>
              <a:buClrTx/>
              <a:buSzTx/>
              <a:buFont typeface="Arial" panose="020B0604020202020204" pitchFamily="34" charset="0"/>
              <a:buNone/>
            </a:pPr>
            <a:r>
              <a:rPr lang="zh-CN" altLang="en-US" sz="2800" b="0" i="0" dirty="0">
                <a:latin typeface="黑体" panose="02010609060101010101" pitchFamily="49" charset="-122"/>
                <a:ea typeface="黑体" panose="02010609060101010101" pitchFamily="49" charset="-122"/>
              </a:rPr>
              <a:t>画出生成的静态链表---Huffman树和各字符编码</a:t>
            </a:r>
          </a:p>
          <a:p>
            <a:pPr eaLnBrk="1" hangingPunct="1">
              <a:lnSpc>
                <a:spcPct val="120000"/>
              </a:lnSpc>
              <a:spcBef>
                <a:spcPct val="0"/>
              </a:spcBef>
              <a:buClrTx/>
              <a:buSzTx/>
              <a:buFont typeface="Arial" panose="020B0604020202020204" pitchFamily="34" charset="0"/>
              <a:buNone/>
            </a:pPr>
            <a:r>
              <a:rPr lang="zh-CN" altLang="en-US" sz="2800" b="0" i="0" dirty="0">
                <a:latin typeface="黑体" panose="02010609060101010101" pitchFamily="49" charset="-122"/>
                <a:ea typeface="黑体" panose="02010609060101010101" pitchFamily="49" charset="-122"/>
              </a:rPr>
              <a:t>最后形成的</a:t>
            </a:r>
            <a:r>
              <a:rPr lang="en-US" altLang="zh-CN" sz="2800" b="0" i="0" dirty="0">
                <a:latin typeface="黑体" panose="02010609060101010101" pitchFamily="49" charset="-122"/>
                <a:ea typeface="黑体" panose="02010609060101010101" pitchFamily="49" charset="-122"/>
              </a:rPr>
              <a:t>code</a:t>
            </a:r>
            <a:r>
              <a:rPr lang="zh-CN" altLang="en-US" sz="2800" b="0" i="0" dirty="0">
                <a:latin typeface="黑体" panose="02010609060101010101" pitchFamily="49" charset="-122"/>
                <a:ea typeface="黑体" panose="02010609060101010101" pitchFamily="49" charset="-122"/>
              </a:rPr>
              <a:t>字符串。</a:t>
            </a:r>
          </a:p>
          <a:p>
            <a:pPr eaLnBrk="1" hangingPunct="1">
              <a:lnSpc>
                <a:spcPct val="120000"/>
              </a:lnSpc>
              <a:spcBef>
                <a:spcPct val="0"/>
              </a:spcBef>
              <a:buClrTx/>
              <a:buSzTx/>
              <a:buFont typeface="Arial" panose="020B0604020202020204" pitchFamily="34" charset="0"/>
              <a:buNone/>
            </a:pPr>
            <a:endParaRPr lang="zh-CN" altLang="en-US" b="1" i="0" dirty="0">
              <a:latin typeface="宋体" panose="02010600030101010101" pitchFamily="2" charset="-122"/>
            </a:endParaRPr>
          </a:p>
        </p:txBody>
      </p:sp>
      <p:sp>
        <p:nvSpPr>
          <p:cNvPr id="2" name="Text Box 3">
            <a:extLst>
              <a:ext uri="{FF2B5EF4-FFF2-40B4-BE49-F238E27FC236}">
                <a16:creationId xmlns:a16="http://schemas.microsoft.com/office/drawing/2014/main" id="{5417CA1F-3452-461D-B243-AFB7A883F9B7}"/>
              </a:ext>
            </a:extLst>
          </p:cNvPr>
          <p:cNvSpPr txBox="1">
            <a:spLocks noChangeArrowheads="1"/>
          </p:cNvSpPr>
          <p:nvPr/>
        </p:nvSpPr>
        <p:spPr bwMode="auto">
          <a:xfrm>
            <a:off x="395536" y="188640"/>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练习</a:t>
            </a:r>
          </a:p>
        </p:txBody>
      </p:sp>
    </p:spTree>
  </p:cSld>
  <p:clrMapOvr>
    <a:masterClrMapping/>
  </p:clrMapOvr>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6" name="Text Box 5">
            <a:extLst>
              <a:ext uri="{FF2B5EF4-FFF2-40B4-BE49-F238E27FC236}">
                <a16:creationId xmlns:a16="http://schemas.microsoft.com/office/drawing/2014/main" id="{98CD7384-D40A-44B2-B0F4-ECFE013FA4F5}"/>
              </a:ext>
            </a:extLst>
          </p:cNvPr>
          <p:cNvSpPr txBox="1">
            <a:spLocks noChangeArrowheads="1"/>
          </p:cNvSpPr>
          <p:nvPr/>
        </p:nvSpPr>
        <p:spPr bwMode="auto">
          <a:xfrm>
            <a:off x="403229" y="1262062"/>
            <a:ext cx="5128327" cy="624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zh-CN" altLang="en-US" b="0" i="0" dirty="0">
                <a:latin typeface="黑体" panose="02010609060101010101" pitchFamily="49" charset="-122"/>
                <a:ea typeface="黑体" panose="02010609060101010101" pitchFamily="49" charset="-122"/>
              </a:rPr>
              <a:t>假设某班成绩分布如下表：</a:t>
            </a:r>
          </a:p>
        </p:txBody>
      </p:sp>
      <p:graphicFrame>
        <p:nvGraphicFramePr>
          <p:cNvPr id="101382" name="Group 6">
            <a:extLst>
              <a:ext uri="{FF2B5EF4-FFF2-40B4-BE49-F238E27FC236}">
                <a16:creationId xmlns:a16="http://schemas.microsoft.com/office/drawing/2014/main" id="{A99F33AF-ECAC-45C6-9192-E1207E34741E}"/>
              </a:ext>
            </a:extLst>
          </p:cNvPr>
          <p:cNvGraphicFramePr>
            <a:graphicFrameLocks noGrp="1"/>
          </p:cNvGraphicFramePr>
          <p:nvPr>
            <p:ph type="tbl" idx="1"/>
            <p:extLst>
              <p:ext uri="{D42A27DB-BD31-4B8C-83A1-F6EECF244321}">
                <p14:modId xmlns:p14="http://schemas.microsoft.com/office/powerpoint/2010/main" val="1025660266"/>
              </p:ext>
            </p:extLst>
          </p:nvPr>
        </p:nvGraphicFramePr>
        <p:xfrm>
          <a:off x="539552" y="2174078"/>
          <a:ext cx="8497888" cy="1223962"/>
        </p:xfrm>
        <a:graphic>
          <a:graphicData uri="http://schemas.openxmlformats.org/drawingml/2006/table">
            <a:tbl>
              <a:tblPr/>
              <a:tblGrid>
                <a:gridCol w="1416050">
                  <a:extLst>
                    <a:ext uri="{9D8B030D-6E8A-4147-A177-3AD203B41FA5}">
                      <a16:colId xmlns:a16="http://schemas.microsoft.com/office/drawing/2014/main" val="20000"/>
                    </a:ext>
                  </a:extLst>
                </a:gridCol>
                <a:gridCol w="1416050">
                  <a:extLst>
                    <a:ext uri="{9D8B030D-6E8A-4147-A177-3AD203B41FA5}">
                      <a16:colId xmlns:a16="http://schemas.microsoft.com/office/drawing/2014/main" val="20001"/>
                    </a:ext>
                  </a:extLst>
                </a:gridCol>
                <a:gridCol w="1417638">
                  <a:extLst>
                    <a:ext uri="{9D8B030D-6E8A-4147-A177-3AD203B41FA5}">
                      <a16:colId xmlns:a16="http://schemas.microsoft.com/office/drawing/2014/main" val="20002"/>
                    </a:ext>
                  </a:extLst>
                </a:gridCol>
                <a:gridCol w="1416050">
                  <a:extLst>
                    <a:ext uri="{9D8B030D-6E8A-4147-A177-3AD203B41FA5}">
                      <a16:colId xmlns:a16="http://schemas.microsoft.com/office/drawing/2014/main" val="20003"/>
                    </a:ext>
                  </a:extLst>
                </a:gridCol>
                <a:gridCol w="1416050">
                  <a:extLst>
                    <a:ext uri="{9D8B030D-6E8A-4147-A177-3AD203B41FA5}">
                      <a16:colId xmlns:a16="http://schemas.microsoft.com/office/drawing/2014/main" val="20004"/>
                    </a:ext>
                  </a:extLst>
                </a:gridCol>
                <a:gridCol w="1416050">
                  <a:extLst>
                    <a:ext uri="{9D8B030D-6E8A-4147-A177-3AD203B41FA5}">
                      <a16:colId xmlns:a16="http://schemas.microsoft.com/office/drawing/2014/main" val="20005"/>
                    </a:ext>
                  </a:extLst>
                </a:gridCol>
              </a:tblGrid>
              <a:tr h="590550">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800" b="0" i="0" u="none" strike="noStrike" cap="none" normalizeH="0" baseline="0" dirty="0">
                          <a:ln>
                            <a:noFill/>
                          </a:ln>
                          <a:solidFill>
                            <a:schemeClr val="tx1"/>
                          </a:solidFill>
                          <a:effectLst/>
                          <a:latin typeface="+mn-ea"/>
                          <a:ea typeface="+mn-ea"/>
                        </a:rPr>
                        <a:t>分数</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dirty="0">
                          <a:ln>
                            <a:noFill/>
                          </a:ln>
                          <a:solidFill>
                            <a:schemeClr val="tx1"/>
                          </a:solidFill>
                          <a:effectLst/>
                          <a:latin typeface="+mn-ea"/>
                          <a:ea typeface="+mn-ea"/>
                        </a:rPr>
                        <a:t>&lt;60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a:ln>
                            <a:noFill/>
                          </a:ln>
                          <a:solidFill>
                            <a:schemeClr val="tx1"/>
                          </a:solidFill>
                          <a:effectLst/>
                          <a:latin typeface="+mn-ea"/>
                          <a:ea typeface="+mn-ea"/>
                        </a:rPr>
                        <a:t>60~69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a:ln>
                            <a:noFill/>
                          </a:ln>
                          <a:solidFill>
                            <a:schemeClr val="tx1"/>
                          </a:solidFill>
                          <a:effectLst/>
                          <a:latin typeface="+mn-ea"/>
                          <a:ea typeface="+mn-ea"/>
                        </a:rPr>
                        <a:t>70~79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a:ln>
                            <a:noFill/>
                          </a:ln>
                          <a:solidFill>
                            <a:schemeClr val="tx1"/>
                          </a:solidFill>
                          <a:effectLst/>
                          <a:latin typeface="+mn-ea"/>
                          <a:ea typeface="+mn-ea"/>
                        </a:rPr>
                        <a:t>80~89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a:ln>
                            <a:noFill/>
                          </a:ln>
                          <a:solidFill>
                            <a:schemeClr val="tx1"/>
                          </a:solidFill>
                          <a:effectLst/>
                          <a:latin typeface="+mn-ea"/>
                          <a:ea typeface="+mn-ea"/>
                        </a:rPr>
                        <a:t>&gt;90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33412">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800" b="0" i="0" u="none" strike="noStrike" cap="none" normalizeH="0" baseline="0">
                          <a:ln>
                            <a:noFill/>
                          </a:ln>
                          <a:solidFill>
                            <a:schemeClr val="tx1"/>
                          </a:solidFill>
                          <a:effectLst/>
                          <a:latin typeface="+mn-ea"/>
                          <a:ea typeface="+mn-ea"/>
                        </a:rPr>
                        <a:t>比例数</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a:ln>
                            <a:noFill/>
                          </a:ln>
                          <a:solidFill>
                            <a:schemeClr val="tx1"/>
                          </a:solidFill>
                          <a:effectLst/>
                          <a:latin typeface="+mn-ea"/>
                          <a:ea typeface="+mn-ea"/>
                        </a:rPr>
                        <a:t>0.03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dirty="0">
                          <a:ln>
                            <a:noFill/>
                          </a:ln>
                          <a:solidFill>
                            <a:schemeClr val="tx1"/>
                          </a:solidFill>
                          <a:effectLst/>
                          <a:latin typeface="+mn-ea"/>
                          <a:ea typeface="+mn-ea"/>
                        </a:rPr>
                        <a:t>0.04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a:ln>
                            <a:noFill/>
                          </a:ln>
                          <a:solidFill>
                            <a:schemeClr val="tx1"/>
                          </a:solidFill>
                          <a:effectLst/>
                          <a:latin typeface="+mn-ea"/>
                          <a:ea typeface="+mn-ea"/>
                        </a:rPr>
                        <a:t>0.5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dirty="0">
                          <a:ln>
                            <a:noFill/>
                          </a:ln>
                          <a:solidFill>
                            <a:schemeClr val="tx1"/>
                          </a:solidFill>
                          <a:effectLst/>
                          <a:latin typeface="+mn-ea"/>
                          <a:ea typeface="+mn-ea"/>
                        </a:rPr>
                        <a:t>0.3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dirty="0">
                          <a:ln>
                            <a:noFill/>
                          </a:ln>
                          <a:solidFill>
                            <a:schemeClr val="tx1"/>
                          </a:solidFill>
                          <a:effectLst/>
                          <a:latin typeface="+mn-ea"/>
                          <a:ea typeface="+mn-ea"/>
                        </a:rPr>
                        <a:t>0.13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25980" name="Text Box 29">
            <a:extLst>
              <a:ext uri="{FF2B5EF4-FFF2-40B4-BE49-F238E27FC236}">
                <a16:creationId xmlns:a16="http://schemas.microsoft.com/office/drawing/2014/main" id="{F40B53FA-26EE-4313-AC86-52F15F48567E}"/>
              </a:ext>
            </a:extLst>
          </p:cNvPr>
          <p:cNvSpPr txBox="1">
            <a:spLocks noChangeArrowheads="1"/>
          </p:cNvSpPr>
          <p:nvPr/>
        </p:nvSpPr>
        <p:spPr bwMode="auto">
          <a:xfrm>
            <a:off x="404833" y="4149080"/>
            <a:ext cx="8496300" cy="115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
                <a:schemeClr val="hlink"/>
              </a:buClr>
              <a:buSzPct val="75000"/>
              <a:buFont typeface="Wingdings" panose="05000000000000000000" pitchFamily="2" charset="2"/>
              <a:buNone/>
            </a:pPr>
            <a:r>
              <a:rPr lang="zh-CN" altLang="en-US" sz="2800" b="0" i="0" dirty="0">
                <a:latin typeface="黑体" panose="02010609060101010101" pitchFamily="49" charset="-122"/>
                <a:ea typeface="黑体" panose="02010609060101010101" pitchFamily="49" charset="-122"/>
              </a:rPr>
              <a:t>为查找某一分数段同学成绩，需进行比较。试构造二</a:t>
            </a:r>
          </a:p>
          <a:p>
            <a:pPr eaLnBrk="1" hangingPunct="1">
              <a:spcBef>
                <a:spcPct val="50000"/>
              </a:spcBef>
              <a:buClr>
                <a:schemeClr val="hlink"/>
              </a:buClr>
              <a:buSzPct val="75000"/>
              <a:buFont typeface="Wingdings" panose="05000000000000000000" pitchFamily="2" charset="2"/>
              <a:buNone/>
            </a:pPr>
            <a:r>
              <a:rPr lang="zh-CN" altLang="en-US" sz="2800" b="0" i="0" dirty="0">
                <a:latin typeface="黑体" panose="02010609060101010101" pitchFamily="49" charset="-122"/>
                <a:ea typeface="黑体" panose="02010609060101010101" pitchFamily="49" charset="-122"/>
              </a:rPr>
              <a:t>叉树，使得总比较次数最少。</a:t>
            </a:r>
          </a:p>
        </p:txBody>
      </p:sp>
      <p:sp>
        <p:nvSpPr>
          <p:cNvPr id="2" name="Text Box 3">
            <a:extLst>
              <a:ext uri="{FF2B5EF4-FFF2-40B4-BE49-F238E27FC236}">
                <a16:creationId xmlns:a16="http://schemas.microsoft.com/office/drawing/2014/main" id="{70FDDCB0-6058-4A55-B249-1ACECC277A19}"/>
              </a:ext>
            </a:extLst>
          </p:cNvPr>
          <p:cNvSpPr txBox="1">
            <a:spLocks noChangeArrowheads="1"/>
          </p:cNvSpPr>
          <p:nvPr/>
        </p:nvSpPr>
        <p:spPr bwMode="auto">
          <a:xfrm>
            <a:off x="395536" y="188640"/>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练习</a:t>
            </a: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6" name="Text Box 5">
            <a:extLst>
              <a:ext uri="{FF2B5EF4-FFF2-40B4-BE49-F238E27FC236}">
                <a16:creationId xmlns:a16="http://schemas.microsoft.com/office/drawing/2014/main" id="{98CD7384-D40A-44B2-B0F4-ECFE013FA4F5}"/>
              </a:ext>
            </a:extLst>
          </p:cNvPr>
          <p:cNvSpPr txBox="1">
            <a:spLocks noChangeArrowheads="1"/>
          </p:cNvSpPr>
          <p:nvPr/>
        </p:nvSpPr>
        <p:spPr bwMode="auto">
          <a:xfrm>
            <a:off x="403229" y="1262062"/>
            <a:ext cx="8458200" cy="3643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zh-CN" altLang="en-US" sz="2800" b="0" i="0" dirty="0">
                <a:latin typeface="+mn-ea"/>
                <a:ea typeface="+mn-ea"/>
              </a:rPr>
              <a:t>设有</a:t>
            </a:r>
            <a:r>
              <a:rPr lang="en-US" altLang="zh-CN" sz="2800" b="0" i="0" dirty="0">
                <a:latin typeface="+mn-ea"/>
                <a:ea typeface="+mn-ea"/>
              </a:rPr>
              <a:t>6</a:t>
            </a:r>
            <a:r>
              <a:rPr lang="zh-CN" altLang="en-US" sz="2800" b="0" i="0" dirty="0">
                <a:latin typeface="+mn-ea"/>
                <a:ea typeface="+mn-ea"/>
              </a:rPr>
              <a:t>个有序表</a:t>
            </a:r>
            <a:r>
              <a:rPr lang="en-US" altLang="zh-CN" sz="2800" b="0" i="0" dirty="0">
                <a:latin typeface="+mn-ea"/>
                <a:ea typeface="+mn-ea"/>
              </a:rPr>
              <a:t>A</a:t>
            </a:r>
            <a:r>
              <a:rPr lang="zh-CN" altLang="en-US" sz="2800" b="0" i="0" dirty="0">
                <a:latin typeface="+mn-ea"/>
                <a:ea typeface="+mn-ea"/>
              </a:rPr>
              <a:t>、</a:t>
            </a:r>
            <a:r>
              <a:rPr lang="en-US" altLang="zh-CN" sz="2800" b="0" i="0" dirty="0">
                <a:latin typeface="+mn-ea"/>
                <a:ea typeface="+mn-ea"/>
              </a:rPr>
              <a:t>B</a:t>
            </a:r>
            <a:r>
              <a:rPr lang="zh-CN" altLang="en-US" sz="2800" b="0" i="0" dirty="0">
                <a:latin typeface="+mn-ea"/>
                <a:ea typeface="+mn-ea"/>
              </a:rPr>
              <a:t>、</a:t>
            </a:r>
            <a:r>
              <a:rPr lang="en-US" altLang="zh-CN" sz="2800" b="0" i="0" dirty="0">
                <a:latin typeface="+mn-ea"/>
                <a:ea typeface="+mn-ea"/>
              </a:rPr>
              <a:t>C</a:t>
            </a:r>
            <a:r>
              <a:rPr lang="zh-CN" altLang="en-US" sz="2800" b="0" i="0" dirty="0">
                <a:latin typeface="+mn-ea"/>
                <a:ea typeface="+mn-ea"/>
              </a:rPr>
              <a:t>、</a:t>
            </a:r>
            <a:r>
              <a:rPr lang="en-US" altLang="zh-CN" sz="2800" b="0" i="0" dirty="0">
                <a:latin typeface="+mn-ea"/>
                <a:ea typeface="+mn-ea"/>
              </a:rPr>
              <a:t>D</a:t>
            </a:r>
            <a:r>
              <a:rPr lang="zh-CN" altLang="en-US" sz="2800" b="0" i="0" dirty="0">
                <a:latin typeface="+mn-ea"/>
                <a:ea typeface="+mn-ea"/>
              </a:rPr>
              <a:t>、</a:t>
            </a:r>
            <a:r>
              <a:rPr lang="en-US" altLang="zh-CN" sz="2800" b="0" i="0" dirty="0">
                <a:latin typeface="+mn-ea"/>
                <a:ea typeface="+mn-ea"/>
              </a:rPr>
              <a:t>F</a:t>
            </a:r>
            <a:r>
              <a:rPr lang="zh-CN" altLang="en-US" sz="2800" b="0" i="0" dirty="0">
                <a:latin typeface="+mn-ea"/>
                <a:ea typeface="+mn-ea"/>
              </a:rPr>
              <a:t>，分别含有</a:t>
            </a:r>
            <a:r>
              <a:rPr lang="en-US" altLang="zh-CN" sz="2800" b="0" i="0" dirty="0">
                <a:latin typeface="+mn-ea"/>
                <a:ea typeface="+mn-ea"/>
              </a:rPr>
              <a:t>10</a:t>
            </a:r>
            <a:r>
              <a:rPr lang="zh-CN" altLang="en-US" sz="2800" b="0" i="0" dirty="0">
                <a:latin typeface="+mn-ea"/>
                <a:ea typeface="+mn-ea"/>
              </a:rPr>
              <a:t>、</a:t>
            </a:r>
            <a:r>
              <a:rPr lang="en-US" altLang="zh-CN" sz="2800" b="0" i="0" dirty="0">
                <a:latin typeface="+mn-ea"/>
                <a:ea typeface="+mn-ea"/>
              </a:rPr>
              <a:t>35</a:t>
            </a:r>
            <a:r>
              <a:rPr lang="zh-CN" altLang="en-US" sz="2800" b="0" i="0" dirty="0">
                <a:latin typeface="+mn-ea"/>
                <a:ea typeface="+mn-ea"/>
              </a:rPr>
              <a:t>、</a:t>
            </a:r>
            <a:r>
              <a:rPr lang="en-US" altLang="zh-CN" sz="2800" b="0" i="0" dirty="0">
                <a:latin typeface="+mn-ea"/>
                <a:ea typeface="+mn-ea"/>
              </a:rPr>
              <a:t>40</a:t>
            </a:r>
            <a:r>
              <a:rPr lang="zh-CN" altLang="en-US" sz="2800" b="0" i="0" dirty="0">
                <a:latin typeface="+mn-ea"/>
                <a:ea typeface="+mn-ea"/>
              </a:rPr>
              <a:t>、</a:t>
            </a:r>
            <a:r>
              <a:rPr lang="en-US" altLang="zh-CN" sz="2800" b="0" i="0" dirty="0">
                <a:latin typeface="+mn-ea"/>
                <a:ea typeface="+mn-ea"/>
              </a:rPr>
              <a:t>50</a:t>
            </a:r>
            <a:r>
              <a:rPr lang="zh-CN" altLang="en-US" sz="2800" b="0" i="0" dirty="0">
                <a:latin typeface="+mn-ea"/>
                <a:ea typeface="+mn-ea"/>
              </a:rPr>
              <a:t>、</a:t>
            </a:r>
            <a:r>
              <a:rPr lang="en-US" altLang="zh-CN" sz="2800" b="0" i="0" dirty="0">
                <a:latin typeface="+mn-ea"/>
                <a:ea typeface="+mn-ea"/>
              </a:rPr>
              <a:t>60</a:t>
            </a:r>
            <a:r>
              <a:rPr lang="zh-CN" altLang="en-US" sz="2800" b="0" i="0" dirty="0">
                <a:latin typeface="+mn-ea"/>
                <a:ea typeface="+mn-ea"/>
              </a:rPr>
              <a:t>和</a:t>
            </a:r>
            <a:r>
              <a:rPr lang="en-US" altLang="zh-CN" sz="2800" b="0" i="0" dirty="0">
                <a:latin typeface="+mn-ea"/>
                <a:ea typeface="+mn-ea"/>
              </a:rPr>
              <a:t>200</a:t>
            </a:r>
            <a:r>
              <a:rPr lang="zh-CN" altLang="en-US" sz="2800" b="0" i="0" dirty="0">
                <a:latin typeface="+mn-ea"/>
                <a:ea typeface="+mn-ea"/>
              </a:rPr>
              <a:t>个元素，各表中元素按升序排列。要求通过</a:t>
            </a:r>
            <a:r>
              <a:rPr lang="en-US" altLang="zh-CN" sz="2800" b="0" i="0" dirty="0">
                <a:latin typeface="+mn-ea"/>
                <a:ea typeface="+mn-ea"/>
              </a:rPr>
              <a:t>5</a:t>
            </a:r>
            <a:r>
              <a:rPr lang="zh-CN" altLang="en-US" sz="2800" b="0" i="0" dirty="0">
                <a:latin typeface="+mn-ea"/>
                <a:ea typeface="+mn-ea"/>
              </a:rPr>
              <a:t>次两两合并，将</a:t>
            </a:r>
            <a:r>
              <a:rPr lang="en-US" altLang="zh-CN" sz="2800" b="0" i="0" dirty="0">
                <a:latin typeface="+mn-ea"/>
                <a:ea typeface="+mn-ea"/>
              </a:rPr>
              <a:t>6</a:t>
            </a:r>
            <a:r>
              <a:rPr lang="zh-CN" altLang="en-US" sz="2800" b="0" i="0" dirty="0">
                <a:latin typeface="+mn-ea"/>
                <a:ea typeface="+mn-ea"/>
              </a:rPr>
              <a:t>个表最终合并为</a:t>
            </a:r>
            <a:r>
              <a:rPr lang="en-US" altLang="zh-CN" sz="2800" b="0" i="0" dirty="0">
                <a:latin typeface="+mn-ea"/>
                <a:ea typeface="+mn-ea"/>
              </a:rPr>
              <a:t>1</a:t>
            </a:r>
            <a:r>
              <a:rPr lang="zh-CN" altLang="en-US" sz="2800" b="0" i="0" dirty="0">
                <a:latin typeface="+mn-ea"/>
                <a:ea typeface="+mn-ea"/>
              </a:rPr>
              <a:t>个升序表。并在最坏情况下比较的总次数达到最小。</a:t>
            </a:r>
            <a:endParaRPr lang="en-US" altLang="zh-CN" sz="2800" b="0" i="0" dirty="0">
              <a:latin typeface="+mn-ea"/>
              <a:ea typeface="+mn-ea"/>
            </a:endParaRPr>
          </a:p>
          <a:p>
            <a:pPr eaLnBrk="1" hangingPunct="1">
              <a:lnSpc>
                <a:spcPct val="120000"/>
              </a:lnSpc>
              <a:spcBef>
                <a:spcPct val="0"/>
              </a:spcBef>
              <a:buClrTx/>
              <a:buSzTx/>
              <a:buFont typeface="Arial" panose="020B0604020202020204" pitchFamily="34" charset="0"/>
              <a:buNone/>
            </a:pPr>
            <a:r>
              <a:rPr lang="en-US" altLang="zh-CN" sz="2800" b="0" i="0" dirty="0">
                <a:latin typeface="+mn-ea"/>
                <a:ea typeface="+mn-ea"/>
              </a:rPr>
              <a:t>1</a:t>
            </a:r>
            <a:r>
              <a:rPr lang="zh-CN" altLang="en-US" sz="2800" b="0" i="0" dirty="0">
                <a:latin typeface="+mn-ea"/>
                <a:ea typeface="+mn-ea"/>
              </a:rPr>
              <a:t>）设计算法，给出算法描述。</a:t>
            </a:r>
            <a:endParaRPr lang="en-US" altLang="zh-CN" sz="2800" b="0" i="0" dirty="0">
              <a:latin typeface="+mn-ea"/>
              <a:ea typeface="+mn-ea"/>
            </a:endParaRPr>
          </a:p>
          <a:p>
            <a:pPr eaLnBrk="1" hangingPunct="1">
              <a:lnSpc>
                <a:spcPct val="120000"/>
              </a:lnSpc>
              <a:spcBef>
                <a:spcPct val="0"/>
              </a:spcBef>
              <a:buClrTx/>
              <a:buSzTx/>
              <a:buFont typeface="Arial" panose="020B0604020202020204" pitchFamily="34" charset="0"/>
              <a:buNone/>
            </a:pPr>
            <a:r>
              <a:rPr lang="en-US" altLang="zh-CN" sz="2800" b="0" i="0" dirty="0">
                <a:latin typeface="+mn-ea"/>
                <a:ea typeface="+mn-ea"/>
              </a:rPr>
              <a:t>2</a:t>
            </a:r>
            <a:r>
              <a:rPr lang="zh-CN" altLang="en-US" sz="2800" b="0" i="0" dirty="0">
                <a:latin typeface="+mn-ea"/>
                <a:ea typeface="+mn-ea"/>
              </a:rPr>
              <a:t>）针对上述数字，给出完整的合并过程，并求</a:t>
            </a:r>
            <a:endParaRPr lang="en-US" altLang="zh-CN" sz="2800" b="0" i="0" dirty="0">
              <a:latin typeface="+mn-ea"/>
              <a:ea typeface="+mn-ea"/>
            </a:endParaRPr>
          </a:p>
          <a:p>
            <a:pPr eaLnBrk="1" hangingPunct="1">
              <a:lnSpc>
                <a:spcPct val="120000"/>
              </a:lnSpc>
              <a:spcBef>
                <a:spcPct val="0"/>
              </a:spcBef>
              <a:buClrTx/>
              <a:buSzTx/>
              <a:buFont typeface="Arial" panose="020B0604020202020204" pitchFamily="34" charset="0"/>
              <a:buNone/>
            </a:pPr>
            <a:r>
              <a:rPr lang="zh-CN" altLang="en-US" sz="2800" b="0" i="0" dirty="0">
                <a:latin typeface="+mn-ea"/>
                <a:ea typeface="+mn-ea"/>
              </a:rPr>
              <a:t>出最坏情况下比较的总次数。</a:t>
            </a:r>
          </a:p>
        </p:txBody>
      </p:sp>
      <p:sp>
        <p:nvSpPr>
          <p:cNvPr id="2" name="Text Box 3">
            <a:extLst>
              <a:ext uri="{FF2B5EF4-FFF2-40B4-BE49-F238E27FC236}">
                <a16:creationId xmlns:a16="http://schemas.microsoft.com/office/drawing/2014/main" id="{70FDDCB0-6058-4A55-B249-1ACECC277A19}"/>
              </a:ext>
            </a:extLst>
          </p:cNvPr>
          <p:cNvSpPr txBox="1">
            <a:spLocks noChangeArrowheads="1"/>
          </p:cNvSpPr>
          <p:nvPr/>
        </p:nvSpPr>
        <p:spPr bwMode="auto">
          <a:xfrm>
            <a:off x="395536" y="188640"/>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练习</a:t>
            </a:r>
          </a:p>
        </p:txBody>
      </p:sp>
    </p:spTree>
    <p:extLst>
      <p:ext uri="{BB962C8B-B14F-4D97-AF65-F5344CB8AC3E}">
        <p14:creationId xmlns:p14="http://schemas.microsoft.com/office/powerpoint/2010/main" val="3589865296"/>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6" name="Text Box 5">
            <a:extLst>
              <a:ext uri="{FF2B5EF4-FFF2-40B4-BE49-F238E27FC236}">
                <a16:creationId xmlns:a16="http://schemas.microsoft.com/office/drawing/2014/main" id="{98CD7384-D40A-44B2-B0F4-ECFE013FA4F5}"/>
              </a:ext>
            </a:extLst>
          </p:cNvPr>
          <p:cNvSpPr txBox="1">
            <a:spLocks noChangeArrowheads="1"/>
          </p:cNvSpPr>
          <p:nvPr/>
        </p:nvSpPr>
        <p:spPr bwMode="auto">
          <a:xfrm>
            <a:off x="403229" y="1262062"/>
            <a:ext cx="7399783" cy="1057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zh-CN" altLang="en-US" sz="2800" b="0" i="0" dirty="0">
                <a:latin typeface="+mn-ea"/>
                <a:ea typeface="+mn-ea"/>
              </a:rPr>
              <a:t>构建三叉链表，结点值</a:t>
            </a:r>
            <a:r>
              <a:rPr lang="en-US" altLang="zh-CN" sz="2800" b="0" i="0" dirty="0">
                <a:latin typeface="+mn-ea"/>
                <a:ea typeface="+mn-ea"/>
              </a:rPr>
              <a:t>A</a:t>
            </a:r>
            <a:r>
              <a:rPr lang="zh-CN" altLang="en-US" sz="2800" b="0" i="0" dirty="0">
                <a:latin typeface="+mn-ea"/>
                <a:ea typeface="+mn-ea"/>
              </a:rPr>
              <a:t>，</a:t>
            </a:r>
            <a:r>
              <a:rPr lang="en-US" altLang="zh-CN" sz="2800" b="0" i="0" dirty="0">
                <a:latin typeface="+mn-ea"/>
                <a:ea typeface="+mn-ea"/>
              </a:rPr>
              <a:t>B</a:t>
            </a:r>
            <a:r>
              <a:rPr lang="zh-CN" altLang="en-US" sz="2800" b="0" i="0" dirty="0">
                <a:latin typeface="+mn-ea"/>
                <a:ea typeface="+mn-ea"/>
              </a:rPr>
              <a:t>，</a:t>
            </a:r>
            <a:r>
              <a:rPr lang="en-US" altLang="zh-CN" sz="2800" b="0" i="0" dirty="0">
                <a:latin typeface="+mn-ea"/>
                <a:ea typeface="+mn-ea"/>
              </a:rPr>
              <a:t>…</a:t>
            </a:r>
            <a:r>
              <a:rPr lang="zh-CN" altLang="en-US" sz="2800" b="0" i="0" dirty="0">
                <a:latin typeface="+mn-ea"/>
                <a:ea typeface="+mn-ea"/>
              </a:rPr>
              <a:t>，权值如下。</a:t>
            </a:r>
            <a:endParaRPr lang="en-US" altLang="zh-CN" sz="2800" b="0" i="0" dirty="0">
              <a:latin typeface="+mn-ea"/>
              <a:ea typeface="+mn-ea"/>
            </a:endParaRPr>
          </a:p>
          <a:p>
            <a:pPr eaLnBrk="1" hangingPunct="1">
              <a:lnSpc>
                <a:spcPct val="120000"/>
              </a:lnSpc>
              <a:spcBef>
                <a:spcPct val="0"/>
              </a:spcBef>
              <a:buClrTx/>
              <a:buSzTx/>
              <a:buFont typeface="Arial" panose="020B0604020202020204" pitchFamily="34" charset="0"/>
              <a:buNone/>
            </a:pPr>
            <a:r>
              <a:rPr lang="zh-CN" altLang="en-US" sz="2800" b="0" i="0" dirty="0">
                <a:latin typeface="+mn-ea"/>
                <a:ea typeface="+mn-ea"/>
              </a:rPr>
              <a:t>按子树分支</a:t>
            </a:r>
            <a:r>
              <a:rPr lang="en-US" altLang="zh-CN" sz="2800" b="0" i="0" dirty="0">
                <a:latin typeface="+mn-ea"/>
                <a:ea typeface="+mn-ea"/>
              </a:rPr>
              <a:t>0</a:t>
            </a:r>
            <a:r>
              <a:rPr lang="zh-CN" altLang="en-US" sz="2800" b="0" i="0" dirty="0">
                <a:latin typeface="+mn-ea"/>
                <a:ea typeface="+mn-ea"/>
              </a:rPr>
              <a:t>，</a:t>
            </a:r>
            <a:r>
              <a:rPr lang="en-US" altLang="zh-CN" sz="2800" b="0" i="0" dirty="0">
                <a:latin typeface="+mn-ea"/>
                <a:ea typeface="+mn-ea"/>
              </a:rPr>
              <a:t>1</a:t>
            </a:r>
            <a:r>
              <a:rPr lang="zh-CN" altLang="en-US" sz="2800" b="0" i="0" dirty="0">
                <a:latin typeface="+mn-ea"/>
                <a:ea typeface="+mn-ea"/>
              </a:rPr>
              <a:t>，</a:t>
            </a:r>
            <a:r>
              <a:rPr lang="en-US" altLang="zh-CN" sz="2800" b="0" i="0" dirty="0">
                <a:latin typeface="+mn-ea"/>
                <a:ea typeface="+mn-ea"/>
              </a:rPr>
              <a:t>2</a:t>
            </a:r>
            <a:r>
              <a:rPr lang="zh-CN" altLang="en-US" sz="2800" b="0" i="0" dirty="0">
                <a:latin typeface="+mn-ea"/>
                <a:ea typeface="+mn-ea"/>
              </a:rPr>
              <a:t>码值编码。</a:t>
            </a:r>
          </a:p>
        </p:txBody>
      </p:sp>
      <p:sp>
        <p:nvSpPr>
          <p:cNvPr id="2" name="Text Box 3">
            <a:extLst>
              <a:ext uri="{FF2B5EF4-FFF2-40B4-BE49-F238E27FC236}">
                <a16:creationId xmlns:a16="http://schemas.microsoft.com/office/drawing/2014/main" id="{70FDDCB0-6058-4A55-B249-1ACECC277A19}"/>
              </a:ext>
            </a:extLst>
          </p:cNvPr>
          <p:cNvSpPr txBox="1">
            <a:spLocks noChangeArrowheads="1"/>
          </p:cNvSpPr>
          <p:nvPr/>
        </p:nvSpPr>
        <p:spPr bwMode="auto">
          <a:xfrm>
            <a:off x="395536" y="188640"/>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练习</a:t>
            </a:r>
          </a:p>
        </p:txBody>
      </p:sp>
      <p:sp>
        <p:nvSpPr>
          <p:cNvPr id="9" name="文本框 8">
            <a:extLst>
              <a:ext uri="{FF2B5EF4-FFF2-40B4-BE49-F238E27FC236}">
                <a16:creationId xmlns:a16="http://schemas.microsoft.com/office/drawing/2014/main" id="{56DD514C-67DC-4DE9-8931-665A52DD86B4}"/>
              </a:ext>
            </a:extLst>
          </p:cNvPr>
          <p:cNvSpPr txBox="1"/>
          <p:nvPr/>
        </p:nvSpPr>
        <p:spPr>
          <a:xfrm>
            <a:off x="488022" y="2852936"/>
            <a:ext cx="8273227" cy="954107"/>
          </a:xfrm>
          <a:prstGeom prst="rect">
            <a:avLst/>
          </a:prstGeom>
          <a:noFill/>
        </p:spPr>
        <p:txBody>
          <a:bodyPr wrap="square">
            <a:spAutoFit/>
          </a:bodyPr>
          <a:lstStyle/>
          <a:p>
            <a:pPr algn="just"/>
            <a:r>
              <a:rPr lang="en-US" altLang="zh-CN" sz="2800" i="0" kern="100" dirty="0">
                <a:effectLst/>
                <a:latin typeface="宋体" panose="02010600030101010101" pitchFamily="2" charset="-122"/>
                <a:ea typeface="宋体" panose="02010600030101010101" pitchFamily="2" charset="-122"/>
              </a:rPr>
              <a:t>14</a:t>
            </a:r>
            <a:endParaRPr lang="zh-CN" altLang="zh-CN" sz="2800" i="0" kern="100" dirty="0">
              <a:effectLst/>
              <a:latin typeface="Times New Roman" panose="02020603050405020304" pitchFamily="18" charset="0"/>
              <a:ea typeface="宋体" panose="02010600030101010101" pitchFamily="2" charset="-122"/>
            </a:endParaRPr>
          </a:p>
          <a:p>
            <a:pPr algn="just"/>
            <a:r>
              <a:rPr lang="en-US" altLang="zh-CN" sz="2800" i="0" kern="100" dirty="0">
                <a:effectLst/>
                <a:latin typeface="宋体" panose="02010600030101010101" pitchFamily="2" charset="-122"/>
                <a:ea typeface="宋体" panose="02010600030101010101" pitchFamily="2" charset="-122"/>
              </a:rPr>
              <a:t>25 8 9 10 30 32 2 4 5 12 15 18 20 24</a:t>
            </a:r>
            <a:endParaRPr lang="zh-CN" altLang="zh-CN" sz="2800" i="0" kern="1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983498434"/>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矩形 1">
            <a:extLst>
              <a:ext uri="{FF2B5EF4-FFF2-40B4-BE49-F238E27FC236}">
                <a16:creationId xmlns:a16="http://schemas.microsoft.com/office/drawing/2014/main" id="{AE61CD09-13D4-4CEA-B516-F6FB2AC97695}"/>
              </a:ext>
            </a:extLst>
          </p:cNvPr>
          <p:cNvSpPr>
            <a:spLocks noChangeArrowheads="1"/>
          </p:cNvSpPr>
          <p:nvPr/>
        </p:nvSpPr>
        <p:spPr bwMode="auto">
          <a:xfrm>
            <a:off x="477837" y="1340768"/>
            <a:ext cx="8569325" cy="3108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0" i="0" dirty="0">
                <a:latin typeface="+mn-ea"/>
                <a:ea typeface="+mn-ea"/>
              </a:rPr>
              <a:t>设深度为</a:t>
            </a:r>
            <a:r>
              <a:rPr lang="en-US" altLang="zh-CN" sz="2800" b="0" i="0" dirty="0">
                <a:latin typeface="+mn-ea"/>
                <a:ea typeface="+mn-ea"/>
              </a:rPr>
              <a:t>h</a:t>
            </a:r>
            <a:r>
              <a:rPr lang="zh-CN" altLang="en-US" sz="2800" b="0" i="0" dirty="0">
                <a:latin typeface="+mn-ea"/>
                <a:ea typeface="+mn-ea"/>
              </a:rPr>
              <a:t>的二叉树上只有叶子结点和同时具有左右子树的结点，则此类二叉树中所包含的结点数目至少为</a:t>
            </a:r>
            <a:r>
              <a:rPr lang="en-US" altLang="zh-CN" sz="2800" b="0" i="0" dirty="0">
                <a:latin typeface="+mn-ea"/>
                <a:ea typeface="+mn-ea"/>
              </a:rPr>
              <a:t>_____</a:t>
            </a:r>
            <a:r>
              <a:rPr lang="zh-CN" altLang="en-US" sz="2800" b="0" i="0" dirty="0">
                <a:latin typeface="+mn-ea"/>
                <a:ea typeface="+mn-ea"/>
              </a:rPr>
              <a:t>。</a:t>
            </a:r>
            <a:endParaRPr lang="en-US" altLang="zh-CN" sz="2800" b="0" i="0" dirty="0">
              <a:latin typeface="+mn-ea"/>
              <a:ea typeface="+mn-ea"/>
            </a:endParaRPr>
          </a:p>
          <a:p>
            <a:pPr eaLnBrk="1" hangingPunct="1">
              <a:spcBef>
                <a:spcPct val="0"/>
              </a:spcBef>
              <a:buClrTx/>
              <a:buSzTx/>
              <a:buFont typeface="Arial" panose="020B0604020202020204" pitchFamily="34" charset="0"/>
              <a:buNone/>
            </a:pPr>
            <a:endParaRPr lang="en-US" altLang="zh-CN" sz="2800" b="0" i="0" dirty="0">
              <a:latin typeface="+mn-ea"/>
              <a:ea typeface="+mn-ea"/>
            </a:endParaRPr>
          </a:p>
          <a:p>
            <a:pPr eaLnBrk="1" hangingPunct="1">
              <a:spcBef>
                <a:spcPct val="0"/>
              </a:spcBef>
              <a:buClrTx/>
              <a:buSzTx/>
              <a:buFont typeface="Arial" panose="020B0604020202020204" pitchFamily="34" charset="0"/>
              <a:buNone/>
            </a:pPr>
            <a:r>
              <a:rPr lang="en-US" altLang="zh-CN" sz="2800" b="0" i="0" dirty="0">
                <a:latin typeface="+mn-ea"/>
                <a:ea typeface="+mn-ea"/>
              </a:rPr>
              <a:t> A.2h                               B.2h-2          </a:t>
            </a:r>
          </a:p>
          <a:p>
            <a:pPr eaLnBrk="1" hangingPunct="1">
              <a:spcBef>
                <a:spcPct val="0"/>
              </a:spcBef>
              <a:buClrTx/>
              <a:buSzTx/>
              <a:buFont typeface="Arial" panose="020B0604020202020204" pitchFamily="34" charset="0"/>
              <a:buNone/>
            </a:pPr>
            <a:r>
              <a:rPr lang="en-US" altLang="zh-CN" sz="2800" b="0" i="0" dirty="0">
                <a:latin typeface="+mn-ea"/>
                <a:ea typeface="+mn-ea"/>
              </a:rPr>
              <a:t> C.2h</a:t>
            </a:r>
            <a:r>
              <a:rPr lang="zh-CN" altLang="en-US" sz="2800" b="0" i="0" dirty="0">
                <a:latin typeface="+mn-ea"/>
                <a:ea typeface="+mn-ea"/>
              </a:rPr>
              <a:t>＋</a:t>
            </a:r>
            <a:r>
              <a:rPr lang="en-US" altLang="zh-CN" sz="2800" b="0" i="0" dirty="0">
                <a:latin typeface="+mn-ea"/>
                <a:ea typeface="+mn-ea"/>
              </a:rPr>
              <a:t>1                          D.2h-l</a:t>
            </a:r>
          </a:p>
          <a:p>
            <a:pPr eaLnBrk="1" hangingPunct="1">
              <a:spcBef>
                <a:spcPct val="0"/>
              </a:spcBef>
              <a:buClrTx/>
              <a:buSzTx/>
              <a:buFont typeface="Arial" panose="020B0604020202020204" pitchFamily="34" charset="0"/>
              <a:buNone/>
            </a:pPr>
            <a:r>
              <a:rPr lang="en-US" altLang="zh-CN" sz="2800" b="0" i="0" dirty="0">
                <a:latin typeface="+mn-ea"/>
                <a:ea typeface="+mn-ea"/>
              </a:rPr>
              <a:t> </a:t>
            </a:r>
          </a:p>
        </p:txBody>
      </p:sp>
      <p:sp>
        <p:nvSpPr>
          <p:cNvPr id="126979" name="Rectangle 3">
            <a:extLst>
              <a:ext uri="{FF2B5EF4-FFF2-40B4-BE49-F238E27FC236}">
                <a16:creationId xmlns:a16="http://schemas.microsoft.com/office/drawing/2014/main" id="{C98F2AE4-FA52-4F7C-AAB2-9EF444DEA511}"/>
              </a:ext>
            </a:extLst>
          </p:cNvPr>
          <p:cNvSpPr>
            <a:spLocks noChangeArrowheads="1"/>
          </p:cNvSpPr>
          <p:nvPr/>
        </p:nvSpPr>
        <p:spPr bwMode="auto">
          <a:xfrm>
            <a:off x="609600" y="152400"/>
            <a:ext cx="83058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indent="0" algn="ctr" eaLnBrk="1" hangingPunct="1">
              <a:lnSpc>
                <a:spcPct val="90000"/>
              </a:lnSpc>
              <a:spcBef>
                <a:spcPct val="50000"/>
              </a:spcBef>
              <a:buClrTx/>
              <a:buSzTx/>
              <a:buNone/>
            </a:pPr>
            <a:r>
              <a:rPr lang="zh-CN" altLang="en-US" sz="4400" i="0" dirty="0">
                <a:solidFill>
                  <a:schemeClr val="tx2"/>
                </a:solidFill>
                <a:ea typeface="隶书" pitchFamily="49" charset="-122"/>
              </a:rPr>
              <a:t>练习</a:t>
            </a:r>
          </a:p>
        </p:txBody>
      </p:sp>
    </p:spTree>
  </p:cSld>
  <p:clrMapOvr>
    <a:masterClrMapping/>
  </p:clrMapOvr>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矩形 1">
            <a:extLst>
              <a:ext uri="{FF2B5EF4-FFF2-40B4-BE49-F238E27FC236}">
                <a16:creationId xmlns:a16="http://schemas.microsoft.com/office/drawing/2014/main" id="{AE61CD09-13D4-4CEA-B516-F6FB2AC97695}"/>
              </a:ext>
            </a:extLst>
          </p:cNvPr>
          <p:cNvSpPr>
            <a:spLocks noChangeArrowheads="1"/>
          </p:cNvSpPr>
          <p:nvPr/>
        </p:nvSpPr>
        <p:spPr bwMode="auto">
          <a:xfrm>
            <a:off x="477837" y="1340768"/>
            <a:ext cx="8569325"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0" i="0" dirty="0">
                <a:latin typeface="+mn-ea"/>
                <a:ea typeface="+mn-ea"/>
              </a:rPr>
              <a:t>设哈夫曼树有</a:t>
            </a:r>
            <a:r>
              <a:rPr lang="en-US" altLang="zh-CN" sz="2800" b="0" i="0" dirty="0">
                <a:latin typeface="+mn-ea"/>
                <a:ea typeface="+mn-ea"/>
              </a:rPr>
              <a:t>n</a:t>
            </a:r>
            <a:r>
              <a:rPr lang="zh-CN" altLang="en-US" sz="2800" b="0" i="0" dirty="0">
                <a:latin typeface="+mn-ea"/>
                <a:ea typeface="+mn-ea"/>
              </a:rPr>
              <a:t>个结点，则该哈夫曼有</a:t>
            </a:r>
            <a:r>
              <a:rPr lang="en-US" altLang="zh-CN" sz="2800" b="0" i="0" dirty="0">
                <a:latin typeface="+mn-ea"/>
                <a:ea typeface="+mn-ea"/>
              </a:rPr>
              <a:t>_____</a:t>
            </a:r>
            <a:r>
              <a:rPr lang="zh-CN" altLang="en-US" sz="2800" b="0" i="0" dirty="0">
                <a:latin typeface="+mn-ea"/>
                <a:ea typeface="+mn-ea"/>
              </a:rPr>
              <a:t>个度为</a:t>
            </a:r>
            <a:r>
              <a:rPr lang="en-US" altLang="zh-CN" sz="2800" b="0" i="0" dirty="0">
                <a:latin typeface="+mn-ea"/>
                <a:ea typeface="+mn-ea"/>
              </a:rPr>
              <a:t>1</a:t>
            </a:r>
            <a:r>
              <a:rPr lang="zh-CN" altLang="en-US" sz="2800" b="0" i="0" dirty="0">
                <a:latin typeface="+mn-ea"/>
                <a:ea typeface="+mn-ea"/>
              </a:rPr>
              <a:t>的结点</a:t>
            </a:r>
            <a:r>
              <a:rPr lang="zh-CN" altLang="en-US" i="0" dirty="0"/>
              <a:t>。</a:t>
            </a:r>
            <a:endParaRPr lang="en-US" altLang="zh-CN" i="0" dirty="0"/>
          </a:p>
        </p:txBody>
      </p:sp>
      <p:sp>
        <p:nvSpPr>
          <p:cNvPr id="126979" name="Rectangle 3">
            <a:extLst>
              <a:ext uri="{FF2B5EF4-FFF2-40B4-BE49-F238E27FC236}">
                <a16:creationId xmlns:a16="http://schemas.microsoft.com/office/drawing/2014/main" id="{C98F2AE4-FA52-4F7C-AAB2-9EF444DEA511}"/>
              </a:ext>
            </a:extLst>
          </p:cNvPr>
          <p:cNvSpPr>
            <a:spLocks noChangeArrowheads="1"/>
          </p:cNvSpPr>
          <p:nvPr/>
        </p:nvSpPr>
        <p:spPr bwMode="auto">
          <a:xfrm>
            <a:off x="609600" y="152400"/>
            <a:ext cx="83058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indent="0" algn="ctr" eaLnBrk="1" hangingPunct="1">
              <a:lnSpc>
                <a:spcPct val="90000"/>
              </a:lnSpc>
              <a:spcBef>
                <a:spcPct val="50000"/>
              </a:spcBef>
              <a:buClrTx/>
              <a:buSzTx/>
              <a:buNone/>
            </a:pPr>
            <a:r>
              <a:rPr lang="zh-CN" altLang="en-US" sz="4400" i="0" dirty="0">
                <a:solidFill>
                  <a:schemeClr val="tx2"/>
                </a:solidFill>
                <a:ea typeface="隶书" pitchFamily="49" charset="-122"/>
              </a:rPr>
              <a:t>练习</a:t>
            </a:r>
          </a:p>
        </p:txBody>
      </p:sp>
    </p:spTree>
    <p:extLst>
      <p:ext uri="{BB962C8B-B14F-4D97-AF65-F5344CB8AC3E}">
        <p14:creationId xmlns:p14="http://schemas.microsoft.com/office/powerpoint/2010/main" val="2014212624"/>
      </p:ext>
    </p:extLst>
  </p:cSld>
  <p:clrMapOvr>
    <a:masterClrMapping/>
  </p:clrMapOvr>
  <p:transition/>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矩形 1">
            <a:extLst>
              <a:ext uri="{FF2B5EF4-FFF2-40B4-BE49-F238E27FC236}">
                <a16:creationId xmlns:a16="http://schemas.microsoft.com/office/drawing/2014/main" id="{DDD78589-7B4F-446D-96B2-F85D0457D3EC}"/>
              </a:ext>
            </a:extLst>
          </p:cNvPr>
          <p:cNvSpPr>
            <a:spLocks noChangeArrowheads="1"/>
          </p:cNvSpPr>
          <p:nvPr/>
        </p:nvSpPr>
        <p:spPr bwMode="auto">
          <a:xfrm>
            <a:off x="539750" y="1341943"/>
            <a:ext cx="8604250"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0" i="0" dirty="0">
                <a:latin typeface="+mn-ea"/>
                <a:ea typeface="+mn-ea"/>
              </a:rPr>
              <a:t>二叉树的深度为</a:t>
            </a:r>
            <a:r>
              <a:rPr lang="en-US" altLang="zh-CN" sz="2800" b="0" i="0" dirty="0">
                <a:latin typeface="+mn-ea"/>
                <a:ea typeface="+mn-ea"/>
              </a:rPr>
              <a:t>k</a:t>
            </a:r>
            <a:r>
              <a:rPr lang="zh-CN" altLang="en-US" sz="2800" b="0" i="0" dirty="0">
                <a:latin typeface="+mn-ea"/>
                <a:ea typeface="+mn-ea"/>
              </a:rPr>
              <a:t>，则二叉树最多有</a:t>
            </a:r>
            <a:r>
              <a:rPr lang="en-US" altLang="zh-CN" sz="2800" b="0" i="0" dirty="0">
                <a:latin typeface="+mn-ea"/>
                <a:ea typeface="+mn-ea"/>
              </a:rPr>
              <a:t>____</a:t>
            </a:r>
            <a:r>
              <a:rPr lang="zh-CN" altLang="en-US" sz="2800" b="0" i="0" dirty="0">
                <a:latin typeface="+mn-ea"/>
                <a:ea typeface="+mn-ea"/>
              </a:rPr>
              <a:t>个结点。</a:t>
            </a:r>
          </a:p>
          <a:p>
            <a:pPr eaLnBrk="1" hangingPunct="1">
              <a:spcBef>
                <a:spcPct val="0"/>
              </a:spcBef>
              <a:buClrTx/>
              <a:buSzTx/>
              <a:buFont typeface="Arial" panose="020B0604020202020204" pitchFamily="34" charset="0"/>
              <a:buNone/>
            </a:pPr>
            <a:r>
              <a:rPr lang="zh-CN" altLang="en-US" sz="2800" b="0" i="0" dirty="0">
                <a:latin typeface="+mn-ea"/>
                <a:ea typeface="+mn-ea"/>
              </a:rPr>
              <a:t>    </a:t>
            </a:r>
            <a:r>
              <a:rPr lang="en-US" altLang="zh-CN" sz="2800" b="0" i="0" dirty="0">
                <a:latin typeface="+mn-ea"/>
                <a:ea typeface="+mn-ea"/>
              </a:rPr>
              <a:t>A.2k                               B.2k-1             </a:t>
            </a:r>
          </a:p>
          <a:p>
            <a:pPr eaLnBrk="1" hangingPunct="1">
              <a:spcBef>
                <a:spcPct val="0"/>
              </a:spcBef>
              <a:buClrTx/>
              <a:buSzTx/>
              <a:buFont typeface="Arial" panose="020B0604020202020204" pitchFamily="34" charset="0"/>
              <a:buNone/>
            </a:pPr>
            <a:r>
              <a:rPr lang="en-US" altLang="zh-CN" sz="2800" b="0" i="0" dirty="0">
                <a:latin typeface="+mn-ea"/>
                <a:ea typeface="+mn-ea"/>
              </a:rPr>
              <a:t>   C.2^(k-1)                    D.2^k-1</a:t>
            </a:r>
            <a:endParaRPr lang="zh-CN" altLang="en-US" sz="2800" b="0" i="0" dirty="0">
              <a:latin typeface="+mn-ea"/>
              <a:ea typeface="+mn-ea"/>
            </a:endParaRPr>
          </a:p>
        </p:txBody>
      </p:sp>
      <p:sp>
        <p:nvSpPr>
          <p:cNvPr id="128003" name="Rectangle 3">
            <a:extLst>
              <a:ext uri="{FF2B5EF4-FFF2-40B4-BE49-F238E27FC236}">
                <a16:creationId xmlns:a16="http://schemas.microsoft.com/office/drawing/2014/main" id="{F0940DED-4009-4270-B153-C83B8A3F2494}"/>
              </a:ext>
            </a:extLst>
          </p:cNvPr>
          <p:cNvSpPr>
            <a:spLocks noChangeArrowheads="1"/>
          </p:cNvSpPr>
          <p:nvPr/>
        </p:nvSpPr>
        <p:spPr bwMode="auto">
          <a:xfrm>
            <a:off x="609600" y="152400"/>
            <a:ext cx="83058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indent="0" algn="ctr" eaLnBrk="1" hangingPunct="1">
              <a:lnSpc>
                <a:spcPct val="90000"/>
              </a:lnSpc>
              <a:spcBef>
                <a:spcPct val="50000"/>
              </a:spcBef>
              <a:buClrTx/>
              <a:buSzTx/>
              <a:buNone/>
            </a:pPr>
            <a:r>
              <a:rPr lang="zh-CN" altLang="en-US" sz="4400" i="0" dirty="0">
                <a:solidFill>
                  <a:schemeClr val="tx2"/>
                </a:solidFill>
                <a:ea typeface="隶书" pitchFamily="49" charset="-122"/>
              </a:rPr>
              <a:t>练习</a:t>
            </a:r>
          </a:p>
        </p:txBody>
      </p:sp>
    </p:spTree>
  </p:cSld>
  <p:clrMapOvr>
    <a:masterClrMapping/>
  </p:clrMapOvr>
  <p:transition/>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3">
            <a:extLst>
              <a:ext uri="{FF2B5EF4-FFF2-40B4-BE49-F238E27FC236}">
                <a16:creationId xmlns:a16="http://schemas.microsoft.com/office/drawing/2014/main" id="{B24BAF45-170D-48E1-9276-E40F0B775E86}"/>
              </a:ext>
            </a:extLst>
          </p:cNvPr>
          <p:cNvSpPr>
            <a:spLocks noChangeArrowheads="1"/>
          </p:cNvSpPr>
          <p:nvPr/>
        </p:nvSpPr>
        <p:spPr bwMode="auto">
          <a:xfrm>
            <a:off x="609600" y="152400"/>
            <a:ext cx="83058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indent="0" algn="ctr" eaLnBrk="1" hangingPunct="1">
              <a:lnSpc>
                <a:spcPct val="90000"/>
              </a:lnSpc>
              <a:spcBef>
                <a:spcPct val="50000"/>
              </a:spcBef>
              <a:buClrTx/>
              <a:buSzTx/>
              <a:buNone/>
            </a:pPr>
            <a:r>
              <a:rPr lang="zh-CN" altLang="en-US" sz="4400" i="0" dirty="0">
                <a:solidFill>
                  <a:schemeClr val="tx2"/>
                </a:solidFill>
                <a:ea typeface="隶书" pitchFamily="49" charset="-122"/>
              </a:rPr>
              <a:t>练习</a:t>
            </a:r>
          </a:p>
        </p:txBody>
      </p:sp>
      <p:sp>
        <p:nvSpPr>
          <p:cNvPr id="2" name="矩形 1">
            <a:extLst>
              <a:ext uri="{FF2B5EF4-FFF2-40B4-BE49-F238E27FC236}">
                <a16:creationId xmlns:a16="http://schemas.microsoft.com/office/drawing/2014/main" id="{256B5E17-343A-4A66-B4B6-6B555E362D12}"/>
              </a:ext>
            </a:extLst>
          </p:cNvPr>
          <p:cNvSpPr/>
          <p:nvPr/>
        </p:nvSpPr>
        <p:spPr>
          <a:xfrm>
            <a:off x="467545" y="1340768"/>
            <a:ext cx="8447856" cy="3970318"/>
          </a:xfrm>
          <a:prstGeom prst="rect">
            <a:avLst/>
          </a:prstGeom>
        </p:spPr>
        <p:txBody>
          <a:bodyPr wrap="square">
            <a:spAutoFit/>
          </a:bodyPr>
          <a:lstStyle/>
          <a:p>
            <a:pPr algn="just">
              <a:spcAft>
                <a:spcPts val="0"/>
              </a:spcAft>
              <a:defRPr/>
            </a:pPr>
            <a:r>
              <a:rPr lang="zh-CN" altLang="zh-CN" sz="2800" b="0" i="0" kern="100" dirty="0">
                <a:latin typeface="+mn-ea"/>
                <a:ea typeface="+mn-ea"/>
              </a:rPr>
              <a:t>已知森林的先序遍历为：</a:t>
            </a:r>
            <a:r>
              <a:rPr lang="en-US" altLang="zh-CN" sz="2800" b="0" i="0" kern="100" dirty="0" err="1">
                <a:latin typeface="+mn-ea"/>
                <a:ea typeface="+mn-ea"/>
              </a:rPr>
              <a:t>abdgmpcehkf</a:t>
            </a:r>
            <a:r>
              <a:rPr lang="zh-CN" altLang="en-US" sz="2800" b="0" i="0" kern="100" dirty="0">
                <a:latin typeface="+mn-ea"/>
                <a:ea typeface="+mn-ea"/>
              </a:rPr>
              <a:t>，</a:t>
            </a:r>
            <a:r>
              <a:rPr lang="zh-CN" altLang="zh-CN" sz="2800" b="0" i="0" kern="100" dirty="0">
                <a:latin typeface="+mn-ea"/>
                <a:ea typeface="+mn-ea"/>
              </a:rPr>
              <a:t>中序遍历为：</a:t>
            </a:r>
            <a:r>
              <a:rPr lang="en-US" altLang="zh-CN" sz="2800" b="0" i="0" kern="100" dirty="0" err="1">
                <a:latin typeface="+mn-ea"/>
                <a:ea typeface="+mn-ea"/>
              </a:rPr>
              <a:t>gmdpbahkecf</a:t>
            </a:r>
            <a:r>
              <a:rPr lang="zh-CN" altLang="zh-CN" sz="2800" b="0" i="0" kern="100" dirty="0">
                <a:latin typeface="+mn-ea"/>
                <a:ea typeface="+mn-ea"/>
              </a:rPr>
              <a:t>。</a:t>
            </a:r>
            <a:endParaRPr lang="en-US" altLang="zh-CN" sz="2800" b="0" i="0" kern="100" dirty="0">
              <a:latin typeface="+mn-ea"/>
              <a:ea typeface="+mn-ea"/>
            </a:endParaRPr>
          </a:p>
          <a:p>
            <a:pPr algn="just">
              <a:spcAft>
                <a:spcPts val="0"/>
              </a:spcAft>
              <a:defRPr/>
            </a:pPr>
            <a:endParaRPr lang="en-US" altLang="zh-CN" sz="2800" b="0" i="0" kern="100" dirty="0">
              <a:latin typeface="+mn-ea"/>
              <a:ea typeface="+mn-ea"/>
            </a:endParaRPr>
          </a:p>
          <a:p>
            <a:pPr algn="just">
              <a:spcAft>
                <a:spcPts val="0"/>
              </a:spcAft>
              <a:defRPr/>
            </a:pPr>
            <a:r>
              <a:rPr lang="en-US" altLang="zh-CN" sz="2800" b="0" i="0" kern="100" dirty="0">
                <a:latin typeface="+mn-ea"/>
                <a:ea typeface="+mn-ea"/>
              </a:rPr>
              <a:t>(1)</a:t>
            </a:r>
            <a:r>
              <a:rPr lang="zh-CN" altLang="zh-CN" sz="2800" b="0" i="0" kern="100" dirty="0">
                <a:latin typeface="+mn-ea"/>
                <a:ea typeface="+mn-ea"/>
              </a:rPr>
              <a:t>画出该森林。</a:t>
            </a:r>
            <a:endParaRPr lang="en-US" altLang="zh-CN" sz="2800" b="0" i="0" kern="100" dirty="0">
              <a:latin typeface="+mn-ea"/>
              <a:ea typeface="+mn-ea"/>
            </a:endParaRPr>
          </a:p>
          <a:p>
            <a:pPr algn="just">
              <a:spcAft>
                <a:spcPts val="0"/>
              </a:spcAft>
              <a:defRPr/>
            </a:pPr>
            <a:r>
              <a:rPr lang="en-US" altLang="zh-CN" sz="2800" b="0" i="0" kern="100" dirty="0">
                <a:latin typeface="+mn-ea"/>
                <a:ea typeface="+mn-ea"/>
              </a:rPr>
              <a:t>(2)</a:t>
            </a:r>
            <a:r>
              <a:rPr lang="zh-CN" altLang="zh-CN" sz="2800" b="0" i="0" kern="100" dirty="0">
                <a:latin typeface="+mn-ea"/>
                <a:ea typeface="+mn-ea"/>
              </a:rPr>
              <a:t>将其转换为二叉树。</a:t>
            </a:r>
            <a:endParaRPr lang="en-US" altLang="zh-CN" sz="2800" b="0" i="0" kern="100" dirty="0">
              <a:latin typeface="+mn-ea"/>
              <a:ea typeface="+mn-ea"/>
            </a:endParaRPr>
          </a:p>
          <a:p>
            <a:pPr algn="just">
              <a:spcAft>
                <a:spcPts val="0"/>
              </a:spcAft>
              <a:defRPr/>
            </a:pPr>
            <a:r>
              <a:rPr lang="en-US" altLang="zh-CN" sz="2800" b="0" i="0" kern="100" dirty="0">
                <a:latin typeface="+mn-ea"/>
                <a:ea typeface="+mn-ea"/>
              </a:rPr>
              <a:t>(3)</a:t>
            </a:r>
            <a:r>
              <a:rPr lang="zh-CN" altLang="zh-CN" sz="2800" b="0" i="0" kern="100" dirty="0">
                <a:latin typeface="+mn-ea"/>
                <a:ea typeface="+mn-ea"/>
              </a:rPr>
              <a:t>给出转换后的二叉树的先序遍历、中序遍历、后序遍历和层次遍历序列。</a:t>
            </a:r>
            <a:endParaRPr lang="en-US" altLang="zh-CN" sz="2800" b="0" i="0" kern="100" dirty="0">
              <a:latin typeface="+mn-ea"/>
              <a:ea typeface="+mn-ea"/>
            </a:endParaRPr>
          </a:p>
          <a:p>
            <a:pPr algn="just">
              <a:spcAft>
                <a:spcPts val="0"/>
              </a:spcAft>
              <a:defRPr/>
            </a:pPr>
            <a:r>
              <a:rPr lang="en-US" altLang="zh-CN" sz="2800" b="0" i="0" kern="100" dirty="0">
                <a:latin typeface="+mn-ea"/>
                <a:ea typeface="+mn-ea"/>
              </a:rPr>
              <a:t>(4)</a:t>
            </a:r>
            <a:r>
              <a:rPr lang="zh-CN" altLang="zh-CN" sz="2800" b="0" i="0" kern="100" dirty="0">
                <a:latin typeface="+mn-ea"/>
                <a:ea typeface="+mn-ea"/>
              </a:rPr>
              <a:t>对转换后的二叉树，假设左子树编码为</a:t>
            </a:r>
            <a:r>
              <a:rPr lang="en-US" altLang="zh-CN" sz="2800" b="0" i="0" kern="100" dirty="0">
                <a:latin typeface="+mn-ea"/>
                <a:ea typeface="+mn-ea"/>
              </a:rPr>
              <a:t>0</a:t>
            </a:r>
            <a:r>
              <a:rPr lang="zh-CN" altLang="zh-CN" sz="2800" b="0" i="0" kern="100" dirty="0">
                <a:latin typeface="+mn-ea"/>
                <a:ea typeface="+mn-ea"/>
              </a:rPr>
              <a:t>，右子树编码为</a:t>
            </a:r>
            <a:r>
              <a:rPr lang="en-US" altLang="zh-CN" sz="2800" b="0" i="0" kern="100" dirty="0">
                <a:latin typeface="+mn-ea"/>
                <a:ea typeface="+mn-ea"/>
              </a:rPr>
              <a:t>1</a:t>
            </a:r>
            <a:r>
              <a:rPr lang="zh-CN" altLang="zh-CN" sz="2800" b="0" i="0" kern="100" dirty="0">
                <a:latin typeface="+mn-ea"/>
                <a:ea typeface="+mn-ea"/>
              </a:rPr>
              <a:t>，给出叶子结点的码值。</a:t>
            </a:r>
          </a:p>
        </p:txBody>
      </p:sp>
    </p:spTree>
  </p:cSld>
  <p:clrMapOvr>
    <a:masterClrMapping/>
  </p:clrMapOvr>
  <p:transition/>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3">
            <a:extLst>
              <a:ext uri="{FF2B5EF4-FFF2-40B4-BE49-F238E27FC236}">
                <a16:creationId xmlns:a16="http://schemas.microsoft.com/office/drawing/2014/main" id="{B24BAF45-170D-48E1-9276-E40F0B775E86}"/>
              </a:ext>
            </a:extLst>
          </p:cNvPr>
          <p:cNvSpPr>
            <a:spLocks noChangeArrowheads="1"/>
          </p:cNvSpPr>
          <p:nvPr/>
        </p:nvSpPr>
        <p:spPr bwMode="auto">
          <a:xfrm>
            <a:off x="609600" y="152400"/>
            <a:ext cx="83058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indent="0" algn="ctr" eaLnBrk="1" hangingPunct="1">
              <a:lnSpc>
                <a:spcPct val="90000"/>
              </a:lnSpc>
              <a:spcBef>
                <a:spcPct val="50000"/>
              </a:spcBef>
              <a:buClrTx/>
              <a:buSzTx/>
              <a:buNone/>
            </a:pPr>
            <a:r>
              <a:rPr lang="zh-CN" altLang="en-US" sz="4400" i="0" dirty="0">
                <a:solidFill>
                  <a:schemeClr val="tx2"/>
                </a:solidFill>
                <a:ea typeface="隶书" pitchFamily="49" charset="-122"/>
              </a:rPr>
              <a:t>本章总结</a:t>
            </a:r>
          </a:p>
        </p:txBody>
      </p:sp>
      <p:sp>
        <p:nvSpPr>
          <p:cNvPr id="2" name="矩形 1">
            <a:extLst>
              <a:ext uri="{FF2B5EF4-FFF2-40B4-BE49-F238E27FC236}">
                <a16:creationId xmlns:a16="http://schemas.microsoft.com/office/drawing/2014/main" id="{256B5E17-343A-4A66-B4B6-6B555E362D12}"/>
              </a:ext>
            </a:extLst>
          </p:cNvPr>
          <p:cNvSpPr/>
          <p:nvPr/>
        </p:nvSpPr>
        <p:spPr>
          <a:xfrm>
            <a:off x="467544" y="1340768"/>
            <a:ext cx="8893175" cy="4401205"/>
          </a:xfrm>
          <a:prstGeom prst="rect">
            <a:avLst/>
          </a:prstGeom>
        </p:spPr>
        <p:txBody>
          <a:bodyPr>
            <a:spAutoFit/>
          </a:bodyPr>
          <a:lstStyle/>
          <a:p>
            <a:pPr marL="514350" indent="-514350" algn="just">
              <a:spcAft>
                <a:spcPts val="0"/>
              </a:spcAft>
              <a:buAutoNum type="arabicPeriod"/>
              <a:defRPr/>
            </a:pPr>
            <a:r>
              <a:rPr lang="zh-CN" altLang="en-US" sz="2800" b="0" i="0" kern="100" dirty="0">
                <a:latin typeface="+mn-ea"/>
                <a:ea typeface="+mn-ea"/>
              </a:rPr>
              <a:t>掌握树和二叉树的概念和性质。</a:t>
            </a:r>
            <a:endParaRPr lang="en-US" altLang="zh-CN" sz="2800" b="0" i="0" kern="100" dirty="0">
              <a:latin typeface="+mn-ea"/>
              <a:ea typeface="+mn-ea"/>
            </a:endParaRPr>
          </a:p>
          <a:p>
            <a:pPr marL="514350" indent="-514350" algn="just">
              <a:spcAft>
                <a:spcPts val="0"/>
              </a:spcAft>
              <a:buAutoNum type="arabicPeriod"/>
              <a:defRPr/>
            </a:pPr>
            <a:r>
              <a:rPr lang="zh-CN" altLang="en-US" sz="2800" b="0" i="0" kern="100" dirty="0">
                <a:latin typeface="+mn-ea"/>
                <a:ea typeface="+mn-ea"/>
              </a:rPr>
              <a:t>掌握二叉树的存储结构。</a:t>
            </a:r>
            <a:endParaRPr lang="en-US" altLang="zh-CN" sz="2800" b="0" i="0" kern="100" dirty="0">
              <a:latin typeface="+mn-ea"/>
              <a:ea typeface="+mn-ea"/>
            </a:endParaRPr>
          </a:p>
          <a:p>
            <a:pPr marL="514350" indent="-514350" algn="just">
              <a:spcAft>
                <a:spcPts val="0"/>
              </a:spcAft>
              <a:buAutoNum type="arabicPeriod"/>
              <a:defRPr/>
            </a:pPr>
            <a:r>
              <a:rPr lang="zh-CN" altLang="en-US" sz="2800" b="0" i="0" kern="100" dirty="0">
                <a:latin typeface="+mn-ea"/>
                <a:ea typeface="+mn-ea"/>
              </a:rPr>
              <a:t>掌握二叉树的先序、中序、后序、层次遍历算法及实现。</a:t>
            </a:r>
            <a:endParaRPr lang="en-US" altLang="zh-CN" sz="2800" b="0" i="0" kern="100" dirty="0">
              <a:latin typeface="+mn-ea"/>
              <a:ea typeface="+mn-ea"/>
            </a:endParaRPr>
          </a:p>
          <a:p>
            <a:pPr marL="514350" indent="-514350" algn="just">
              <a:spcAft>
                <a:spcPts val="0"/>
              </a:spcAft>
              <a:buAutoNum type="arabicPeriod"/>
              <a:defRPr/>
            </a:pPr>
            <a:r>
              <a:rPr lang="zh-CN" altLang="en-US" sz="2800" b="0" i="0" kern="100" dirty="0">
                <a:latin typeface="+mn-ea"/>
                <a:ea typeface="+mn-ea"/>
              </a:rPr>
              <a:t>掌握二叉树的创建方法。</a:t>
            </a:r>
            <a:endParaRPr lang="en-US" altLang="zh-CN" sz="2800" b="0" i="0" kern="100" dirty="0">
              <a:latin typeface="+mn-ea"/>
              <a:ea typeface="+mn-ea"/>
            </a:endParaRPr>
          </a:p>
          <a:p>
            <a:pPr marL="514350" indent="-514350" algn="just">
              <a:spcAft>
                <a:spcPts val="0"/>
              </a:spcAft>
              <a:buAutoNum type="arabicPeriod"/>
              <a:defRPr/>
            </a:pPr>
            <a:r>
              <a:rPr lang="zh-CN" altLang="en-US" sz="2800" b="0" i="0" kern="100" dirty="0">
                <a:latin typeface="+mn-ea"/>
                <a:ea typeface="+mn-ea"/>
              </a:rPr>
              <a:t>掌握树的存储结构。</a:t>
            </a:r>
            <a:endParaRPr lang="en-US" altLang="zh-CN" sz="2800" b="0" i="0" kern="100" dirty="0">
              <a:latin typeface="+mn-ea"/>
              <a:ea typeface="+mn-ea"/>
            </a:endParaRPr>
          </a:p>
          <a:p>
            <a:pPr marL="514350" indent="-514350" algn="just">
              <a:spcAft>
                <a:spcPts val="0"/>
              </a:spcAft>
              <a:buAutoNum type="arabicPeriod"/>
              <a:defRPr/>
            </a:pPr>
            <a:r>
              <a:rPr lang="zh-CN" altLang="en-US" sz="2800" b="0" i="0" kern="100" dirty="0">
                <a:latin typeface="+mn-ea"/>
                <a:ea typeface="+mn-ea"/>
              </a:rPr>
              <a:t>掌握树和二叉树的转换，森林和二叉树的转换。</a:t>
            </a:r>
            <a:endParaRPr lang="en-US" altLang="zh-CN" sz="2800" b="0" i="0" kern="100" dirty="0">
              <a:latin typeface="+mn-ea"/>
              <a:ea typeface="+mn-ea"/>
            </a:endParaRPr>
          </a:p>
          <a:p>
            <a:pPr marL="514350" indent="-514350" algn="just">
              <a:spcAft>
                <a:spcPts val="0"/>
              </a:spcAft>
              <a:buAutoNum type="arabicPeriod"/>
              <a:defRPr/>
            </a:pPr>
            <a:r>
              <a:rPr lang="zh-CN" altLang="en-US" sz="2800" b="0" i="0" kern="100" dirty="0">
                <a:latin typeface="+mn-ea"/>
                <a:ea typeface="+mn-ea"/>
              </a:rPr>
              <a:t>掌握树和森林的遍历算法。</a:t>
            </a:r>
            <a:endParaRPr lang="en-US" altLang="zh-CN" sz="2800" b="0" i="0" kern="100" dirty="0">
              <a:latin typeface="+mn-ea"/>
              <a:ea typeface="+mn-ea"/>
            </a:endParaRPr>
          </a:p>
          <a:p>
            <a:pPr marL="514350" indent="-514350" algn="just">
              <a:spcAft>
                <a:spcPts val="0"/>
              </a:spcAft>
              <a:buAutoNum type="arabicPeriod"/>
              <a:defRPr/>
            </a:pPr>
            <a:r>
              <a:rPr lang="zh-CN" altLang="en-US" sz="2800" b="0" i="0" kern="100" dirty="0">
                <a:latin typeface="+mn-ea"/>
                <a:ea typeface="+mn-ea"/>
              </a:rPr>
              <a:t>掌握赫夫曼树构建及其在无损编码中的应用。</a:t>
            </a:r>
            <a:endParaRPr lang="en-US" altLang="zh-CN" sz="2800" b="0" i="0" kern="100" dirty="0">
              <a:latin typeface="+mn-ea"/>
              <a:ea typeface="+mn-ea"/>
            </a:endParaRPr>
          </a:p>
          <a:p>
            <a:pPr marL="514350" indent="-514350" algn="just">
              <a:spcAft>
                <a:spcPts val="0"/>
              </a:spcAft>
              <a:buAutoNum type="arabicPeriod"/>
              <a:defRPr/>
            </a:pPr>
            <a:r>
              <a:rPr lang="zh-CN" altLang="en-US" sz="2800" b="0" i="0" kern="100" dirty="0">
                <a:latin typeface="+mn-ea"/>
                <a:ea typeface="+mn-ea"/>
              </a:rPr>
              <a:t>了解线索二叉树。</a:t>
            </a:r>
            <a:endParaRPr lang="zh-CN" altLang="zh-CN" sz="2800" b="0" i="0" kern="100" dirty="0">
              <a:latin typeface="+mn-ea"/>
              <a:ea typeface="+mn-ea"/>
            </a:endParaRPr>
          </a:p>
        </p:txBody>
      </p:sp>
    </p:spTree>
    <p:extLst>
      <p:ext uri="{BB962C8B-B14F-4D97-AF65-F5344CB8AC3E}">
        <p14:creationId xmlns:p14="http://schemas.microsoft.com/office/powerpoint/2010/main" val="364387586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1_Profile">
  <a:themeElements>
    <a:clrScheme name="1_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1_Profile">
      <a:majorFont>
        <a:latin typeface="Times New Roman"/>
        <a:ea typeface="黑体"/>
        <a:cs typeface=""/>
      </a:majorFont>
      <a:minorFont>
        <a:latin typeface="Times New Roman"/>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50000"/>
          </a:spcBef>
          <a:spcAft>
            <a:spcPct val="0"/>
          </a:spcAft>
          <a:buClrTx/>
          <a:buSzTx/>
          <a:buFontTx/>
          <a:buNone/>
          <a:tabLst/>
          <a:defRPr kumimoji="0" lang="zh-CN" altLang="en-US" sz="1800" b="1" i="1"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50000"/>
          </a:spcBef>
          <a:spcAft>
            <a:spcPct val="0"/>
          </a:spcAft>
          <a:buClrTx/>
          <a:buSzTx/>
          <a:buFontTx/>
          <a:buNone/>
          <a:tabLst/>
          <a:defRPr kumimoji="0" lang="zh-CN" altLang="en-US" sz="1800" b="1" i="1"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1_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1_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1_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1_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1_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1_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1_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1_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1_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第五章演示文稿</Template>
  <TotalTime>20523</TotalTime>
  <Words>9517</Words>
  <Application>Microsoft Office PowerPoint</Application>
  <PresentationFormat>全屏显示(4:3)</PresentationFormat>
  <Paragraphs>2104</Paragraphs>
  <Slides>139</Slides>
  <Notes>32</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139</vt:i4>
      </vt:variant>
    </vt:vector>
  </HeadingPairs>
  <TitlesOfParts>
    <vt:vector size="153" baseType="lpstr">
      <vt:lpstr>黑体</vt:lpstr>
      <vt:lpstr>华文楷体</vt:lpstr>
      <vt:lpstr>华文行楷</vt:lpstr>
      <vt:lpstr>华文中宋</vt:lpstr>
      <vt:lpstr>楷体_GB2312</vt:lpstr>
      <vt:lpstr>隶书</vt:lpstr>
      <vt:lpstr>宋体</vt:lpstr>
      <vt:lpstr>Arial</vt:lpstr>
      <vt:lpstr>Calibri</vt:lpstr>
      <vt:lpstr>Tahoma</vt:lpstr>
      <vt:lpstr>Times New Roman</vt:lpstr>
      <vt:lpstr>Verdana</vt:lpstr>
      <vt:lpstr>Wingdings</vt:lpstr>
      <vt:lpstr>1_Profile</vt:lpstr>
      <vt:lpstr>数据结构 </vt:lpstr>
      <vt:lpstr>一、树的定义(Tree)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一、二叉树(Binary Tree)定义</vt:lpstr>
      <vt:lpstr>PowerPoint 演示文稿</vt:lpstr>
      <vt:lpstr>PowerPoint 演示文稿</vt:lpstr>
      <vt:lpstr>PowerPoint 演示文稿</vt:lpstr>
      <vt:lpstr>PowerPoint 演示文稿</vt:lpstr>
      <vt:lpstr>PowerPoint 演示文稿</vt:lpstr>
      <vt:lpstr>PowerPoint 演示文稿</vt:lpstr>
      <vt:lpstr>性质５：对含n个结点的完全二叉树的结点按层序从1开始编号。</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遍历练习</vt:lpstr>
      <vt:lpstr>遍历的应用一</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遍历的应用二</vt:lpstr>
      <vt:lpstr>PowerPoint 演示文稿</vt:lpstr>
      <vt:lpstr>PowerPoint 演示文稿</vt:lpstr>
      <vt:lpstr>PowerPoint 演示文稿</vt:lpstr>
      <vt:lpstr>PowerPoint 演示文稿</vt:lpstr>
      <vt:lpstr>练习</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一、树的存储结构</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一、最优二叉树</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dongfanghong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zhang</dc:creator>
  <cp:lastModifiedBy>Chen Hu</cp:lastModifiedBy>
  <cp:revision>1532</cp:revision>
  <cp:lastPrinted>2019-12-25T01:12:26Z</cp:lastPrinted>
  <dcterms:created xsi:type="dcterms:W3CDTF">2002-01-07T04:58:02Z</dcterms:created>
  <dcterms:modified xsi:type="dcterms:W3CDTF">2024-10-10T06:53:35Z</dcterms:modified>
</cp:coreProperties>
</file>