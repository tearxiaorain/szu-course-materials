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64" r:id="rId4"/>
    <p:sldId id="257" r:id="rId5"/>
    <p:sldId id="265" r:id="rId6"/>
    <p:sldId id="262" r:id="rId7"/>
    <p:sldId id="266" r:id="rId8"/>
    <p:sldId id="267" r:id="rId9"/>
    <p:sldId id="258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 userDrawn="1"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4B9E5E-4093-4650-A3D2-857507B9CFC7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40353-2ADE-4A5B-8115-2330E10D237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AF2C95-36A0-4490-8E94-506EDA93DBC6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94DB9-42D6-43C9-8DC4-91DCE39E700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1263D2-D34C-4D13-B6E1-21750C7CFBC7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C9FBF6-2F5A-4059-9BA9-3E414BF65A8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740DE0-A52E-4E9D-83F8-E999EBBFEEDF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19FBE8-0167-4589-9CBB-EF4B9AAC0CA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33E535-3BAE-4863-A99C-9AD3052ACA8C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437CB3-44C1-400D-BBF5-622197F0F58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F96D56-9BD2-4684-97A7-C7991133B4D8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22CCA5-E216-4F3F-8CF4-16B9F217B2F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7AB305-58BF-4B7B-A717-930B1ECAACDA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C739F5-429B-4315-A800-A5D44769FA1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F68C0C-1541-41B2-9C5A-27B10541628B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8FF617-5031-4112-8E91-51AEF65F27D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5"/>
            <a:ext cx="1676400" cy="365125"/>
          </a:xfrm>
        </p:spPr>
        <p:txBody>
          <a:bodyPr/>
          <a:lstStyle>
            <a:lvl1pPr>
              <a:defRPr/>
            </a:lvl1pPr>
          </a:lstStyle>
          <a:p>
            <a:fld id="{A2983ED7-C16A-4600-B197-0B484CE9BB24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6000" y="6492875"/>
            <a:ext cx="2643188" cy="36512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2625" y="5346700"/>
            <a:ext cx="871538" cy="871538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0F272C-0AF2-4129-B789-2FA16B5CE32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F4692-1BA6-4736-97B4-B47DEEDE1C78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28AE1-B0DE-415D-AC7C-5DF749D36E9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4356AF-EB70-4F1C-BDCD-A0ECC9D6D6B3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4ACED1-8834-4449-83DB-9FFFF15BB24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5575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27432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Goudy Old Style" pitchFamily="18" charset="0"/>
              </a:defRPr>
            </a:lvl1pPr>
          </a:lstStyle>
          <a:p>
            <a:fld id="{2B0FBC74-9F39-4296-A353-31E2F1A536D2}" type="datetimeFigureOut">
              <a:rPr lang="en-US" altLang="zh-CN"/>
              <a:pPr/>
              <a:t>9/2/2024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oudy Old Style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oudy Old Style" pitchFamily="18" charset="0"/>
              </a:defRPr>
            </a:lvl1pPr>
          </a:lstStyle>
          <a:p>
            <a:fld id="{A3FC11CF-4039-4FF7-8EA5-8A61C7E98FE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lang="zh-CN" altLang="en-US" sz="4400" kern="1200" spc="50" dirty="0">
          <a:ln w="12700">
            <a:noFill/>
            <a:prstDash val="solid"/>
          </a:ln>
          <a:solidFill>
            <a:srgbClr val="4BC5B9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rgbClr val="4BC5B9"/>
          </a:solidFill>
          <a:latin typeface="Footlight MT Light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rgbClr val="4BC5B9"/>
          </a:solidFill>
          <a:latin typeface="Footlight MT Light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rgbClr val="4BC5B9"/>
          </a:solidFill>
          <a:latin typeface="Footlight MT Light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rgbClr val="4BC5B9"/>
          </a:solidFill>
          <a:latin typeface="Footlight MT Light" pitchFamily="18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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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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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ngdang.com/author/%D4%AC%B3%E7%D2%E5_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2928934"/>
            <a:ext cx="8143932" cy="2000264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tx1"/>
                </a:solidFill>
              </a:rPr>
              <a:t>Discrete  Mathematics 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				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315" name="副标题 2"/>
          <p:cNvSpPr>
            <a:spLocks noGrp="1"/>
          </p:cNvSpPr>
          <p:nvPr>
            <p:ph type="subTitle" idx="1"/>
          </p:nvPr>
        </p:nvSpPr>
        <p:spPr>
          <a:xfrm>
            <a:off x="714375" y="1071563"/>
            <a:ext cx="8077200" cy="1500187"/>
          </a:xfrm>
        </p:spPr>
        <p:txBody>
          <a:bodyPr/>
          <a:lstStyle/>
          <a:p>
            <a:r>
              <a:rPr sz="6000" dirty="0" err="1">
                <a:latin typeface="黑体" pitchFamily="2" charset="-122"/>
                <a:ea typeface="黑体" pitchFamily="2" charset="-122"/>
              </a:rPr>
              <a:t>离散数学</a:t>
            </a:r>
            <a:endParaRPr sz="600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85750" y="1671638"/>
            <a:ext cx="8477250" cy="3114675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altLang="zh-CN" sz="4000" dirty="0">
                <a:latin typeface="+mj-ea"/>
                <a:ea typeface="+mj-ea"/>
              </a:rPr>
              <a:t>1</a:t>
            </a:r>
            <a:r>
              <a:rPr sz="4000" dirty="0">
                <a:latin typeface="+mj-ea"/>
                <a:ea typeface="+mj-ea"/>
              </a:rPr>
              <a:t>、任课教师简介</a:t>
            </a:r>
            <a:endParaRPr lang="en-US" altLang="zh-CN" sz="4000" dirty="0">
              <a:latin typeface="+mj-ea"/>
              <a:ea typeface="+mj-ea"/>
            </a:endParaRPr>
          </a:p>
          <a:p>
            <a:pPr algn="l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altLang="zh-CN" sz="4000" dirty="0">
                <a:latin typeface="+mj-ea"/>
                <a:ea typeface="+mj-ea"/>
              </a:rPr>
              <a:t>2</a:t>
            </a:r>
            <a:r>
              <a:rPr sz="4000" dirty="0">
                <a:latin typeface="+mj-ea"/>
                <a:ea typeface="+mj-ea"/>
              </a:rPr>
              <a:t>、课程简介</a:t>
            </a:r>
            <a:endParaRPr lang="en-US" altLang="zh-CN" sz="4000" dirty="0">
              <a:latin typeface="+mj-ea"/>
              <a:ea typeface="+mj-ea"/>
            </a:endParaRPr>
          </a:p>
          <a:p>
            <a:pPr algn="l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altLang="zh-CN" sz="4000" dirty="0">
                <a:latin typeface="+mj-ea"/>
                <a:ea typeface="+mj-ea"/>
              </a:rPr>
              <a:t>3</a:t>
            </a:r>
            <a:r>
              <a:rPr sz="4000" dirty="0">
                <a:latin typeface="+mj-ea"/>
                <a:ea typeface="+mj-ea"/>
              </a:rPr>
              <a:t>、课程要求</a:t>
            </a:r>
            <a:endParaRPr lang="en-US" altLang="zh-CN" sz="4000" dirty="0">
              <a:latin typeface="+mj-ea"/>
              <a:ea typeface="+mj-ea"/>
            </a:endParaRPr>
          </a:p>
          <a:p>
            <a:pPr algn="l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altLang="zh-CN" sz="4000" dirty="0">
                <a:latin typeface="+mj-ea"/>
                <a:ea typeface="+mj-ea"/>
              </a:rPr>
              <a:t>4</a:t>
            </a:r>
            <a:r>
              <a:rPr sz="4000" dirty="0">
                <a:latin typeface="+mj-ea"/>
                <a:ea typeface="+mj-ea"/>
              </a:rPr>
              <a:t>、考试</a:t>
            </a:r>
            <a:r>
              <a:rPr lang="zh-CN" altLang="en-US" sz="4000" dirty="0">
                <a:latin typeface="+mj-ea"/>
                <a:ea typeface="+mj-ea"/>
              </a:rPr>
              <a:t>分数占比</a:t>
            </a:r>
            <a:endParaRPr sz="4000" dirty="0">
              <a:latin typeface="+mj-ea"/>
              <a:ea typeface="+mj-ea"/>
            </a:endParaRPr>
          </a:p>
        </p:txBody>
      </p:sp>
      <p:sp>
        <p:nvSpPr>
          <p:cNvPr id="14339" name="TextBox 5"/>
          <p:cNvSpPr txBox="1">
            <a:spLocks noChangeArrowheads="1"/>
          </p:cNvSpPr>
          <p:nvPr/>
        </p:nvSpPr>
        <p:spPr bwMode="auto">
          <a:xfrm>
            <a:off x="2428875" y="357188"/>
            <a:ext cx="450056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6000">
                <a:latin typeface="楷体_GB2312" pitchFamily="49" charset="-122"/>
                <a:ea typeface="楷体_GB2312" pitchFamily="49" charset="-122"/>
              </a:rPr>
              <a:t>内     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7776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dirty="0">
                <a:solidFill>
                  <a:schemeClr val="tx1"/>
                </a:solidFill>
              </a:rPr>
              <a:t>任课教师      闫  巧        教授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2071688"/>
            <a:ext cx="8186737" cy="4054475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r>
              <a:rPr lang="en-US" altLang="zh-CN" dirty="0"/>
              <a:t>2005</a:t>
            </a:r>
            <a:r>
              <a:rPr lang="zh-CN" altLang="en-US" dirty="0"/>
              <a:t>年清华大学博士后出站后到深圳大学任职。研究兴趣是网络安全和人工智能。从事离散数学教学</a:t>
            </a:r>
            <a:r>
              <a:rPr lang="en-US" altLang="zh-CN" dirty="0"/>
              <a:t>10</a:t>
            </a:r>
            <a:r>
              <a:rPr lang="zh-CN" altLang="en-US" dirty="0"/>
              <a:t>年。</a:t>
            </a:r>
            <a:endParaRPr lang="en-US" altLang="zh-CN" dirty="0"/>
          </a:p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r>
              <a:rPr lang="zh-CN" altLang="en-US" dirty="0"/>
              <a:t>我在网络与信息安全研究所，欢迎有兴趣的同学联系我。</a:t>
            </a:r>
            <a:endParaRPr lang="en-US" altLang="zh-CN" dirty="0"/>
          </a:p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r>
              <a:rPr lang="zh-CN" altLang="en-US" dirty="0"/>
              <a:t>联系方式</a:t>
            </a:r>
            <a:endParaRPr lang="en-US" altLang="zh-CN" dirty="0"/>
          </a:p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r>
              <a:rPr lang="zh-CN" altLang="en-US" dirty="0"/>
              <a:t>办公地点   南区计算机大楼</a:t>
            </a:r>
            <a:r>
              <a:rPr lang="en-US" altLang="zh-CN" dirty="0"/>
              <a:t>942</a:t>
            </a:r>
            <a:r>
              <a:rPr lang="zh-CN" altLang="en-US" dirty="0"/>
              <a:t>房间</a:t>
            </a:r>
            <a:endParaRPr lang="en-US" altLang="zh-CN" sz="2800" dirty="0"/>
          </a:p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r>
              <a:rPr lang="zh-CN" altLang="en-US" sz="2800" dirty="0"/>
              <a:t>办公电话       </a:t>
            </a:r>
            <a:r>
              <a:rPr lang="en-US" altLang="zh-CN" sz="2800" dirty="0"/>
              <a:t>26749965</a:t>
            </a:r>
          </a:p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r>
              <a:rPr lang="en-US" altLang="zh-CN" sz="2800" dirty="0"/>
              <a:t> </a:t>
            </a:r>
            <a:r>
              <a:rPr lang="zh-CN" altLang="en-US" sz="2800" dirty="0"/>
              <a:t>邮箱            </a:t>
            </a:r>
            <a:r>
              <a:rPr lang="en-US" altLang="zh-CN" sz="2800" dirty="0"/>
              <a:t>yanq@szu.edu.cn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500034" y="3214686"/>
            <a:ext cx="8262966" cy="1714512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dirty="0">
                <a:solidFill>
                  <a:srgbClr val="FFC000"/>
                </a:solidFill>
                <a:latin typeface="Times New Roman" pitchFamily="18" charset="0"/>
              </a:rPr>
              <a:t>计算机科学、信息科学、数字化科学的数学基础</a:t>
            </a:r>
            <a:endParaRPr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7" name="副标题 2"/>
          <p:cNvSpPr>
            <a:spLocks noGrp="1"/>
          </p:cNvSpPr>
          <p:nvPr>
            <p:ph type="subTitle" idx="1"/>
          </p:nvPr>
        </p:nvSpPr>
        <p:spPr>
          <a:xfrm>
            <a:off x="571500" y="571500"/>
            <a:ext cx="8077200" cy="1071563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sz="4800">
                <a:ea typeface="宋体" pitchFamily="2" charset="-122"/>
              </a:rPr>
              <a:t>离散数学</a:t>
            </a:r>
          </a:p>
          <a:p>
            <a:pPr algn="l">
              <a:lnSpc>
                <a:spcPct val="120000"/>
              </a:lnSpc>
            </a:pPr>
            <a:r>
              <a:rPr sz="4800">
                <a:ea typeface="宋体" pitchFamily="2" charset="-122"/>
              </a:rPr>
              <a:t>         研究离散对象及其相互间关系的一门数学学科。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     教材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《离散数学》 （第五版）耿素云等，清华大学出版社，</a:t>
            </a:r>
            <a:r>
              <a:rPr lang="en-US" altLang="zh-CN" dirty="0"/>
              <a:t>2013</a:t>
            </a:r>
            <a:r>
              <a:rPr lang="zh-CN" altLang="zh-CN" dirty="0"/>
              <a:t>年</a:t>
            </a:r>
            <a:r>
              <a:rPr lang="en-US" altLang="zh-CN" dirty="0"/>
              <a:t>7</a:t>
            </a:r>
            <a:r>
              <a:rPr lang="zh-CN" altLang="zh-CN" dirty="0"/>
              <a:t>月</a:t>
            </a:r>
            <a:endParaRPr lang="en-US" altLang="zh-CN" dirty="0"/>
          </a:p>
          <a:p>
            <a:pPr>
              <a:buNone/>
            </a:pPr>
            <a:endParaRPr lang="zh-CN" altLang="zh-CN" dirty="0"/>
          </a:p>
          <a:p>
            <a:r>
              <a:rPr lang="zh-CN" altLang="zh-CN" b="1" dirty="0"/>
              <a:t>（美）</a:t>
            </a:r>
            <a:r>
              <a:rPr lang="en-US" altLang="zh-CN" dirty="0"/>
              <a:t>Kenneth </a:t>
            </a:r>
            <a:r>
              <a:rPr lang="en-US" altLang="zh-CN" dirty="0" err="1"/>
              <a:t>H.Rosen</a:t>
            </a:r>
            <a:r>
              <a:rPr lang="zh-CN" altLang="zh-CN" b="1" dirty="0"/>
              <a:t>　著，</a:t>
            </a:r>
            <a:r>
              <a:rPr lang="en-US" altLang="zh-CN" b="1" dirty="0" err="1">
                <a:hlinkClick r:id="rId2"/>
              </a:rPr>
              <a:t>袁崇义</a:t>
            </a:r>
            <a:r>
              <a:rPr lang="zh-CN" altLang="zh-CN" b="1" dirty="0"/>
              <a:t>　等译 离散数学及其应用（原书第</a:t>
            </a:r>
            <a:r>
              <a:rPr lang="en-US" altLang="zh-CN" b="1" dirty="0"/>
              <a:t>6</a:t>
            </a:r>
            <a:r>
              <a:rPr lang="zh-CN" altLang="zh-CN" b="1" dirty="0"/>
              <a:t>版</a:t>
            </a:r>
            <a:r>
              <a:rPr lang="en-US" altLang="zh-CN" b="1" dirty="0"/>
              <a:t>·</a:t>
            </a:r>
            <a:r>
              <a:rPr lang="zh-CN" altLang="zh-CN" b="1" dirty="0"/>
              <a:t>本科教学版）</a:t>
            </a:r>
            <a:r>
              <a:rPr lang="en-US" altLang="zh-CN" b="1" dirty="0"/>
              <a:t>(</a:t>
            </a:r>
            <a:r>
              <a:rPr lang="zh-CN" altLang="zh-CN" b="1" dirty="0"/>
              <a:t>离散数学经典教材</a:t>
            </a:r>
            <a:r>
              <a:rPr lang="en-US" altLang="zh-CN" b="1" dirty="0"/>
              <a:t>)</a:t>
            </a:r>
            <a:r>
              <a:rPr lang="zh-CN" altLang="zh-CN" b="1" dirty="0"/>
              <a:t>， 机械工业出版社</a:t>
            </a:r>
            <a:r>
              <a:rPr lang="en-US" altLang="zh-CN" b="1" dirty="0"/>
              <a:t> 2011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571480"/>
            <a:ext cx="8229600" cy="353874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accent4"/>
                </a:solidFill>
              </a:rPr>
              <a:t>     </a:t>
            </a:r>
            <a:br>
              <a:rPr lang="en-US" altLang="zh-CN" dirty="0">
                <a:solidFill>
                  <a:schemeClr val="accent4"/>
                </a:solidFill>
              </a:rPr>
            </a:br>
            <a:endParaRPr lang="en-US" altLang="zh-CN" dirty="0">
              <a:solidFill>
                <a:schemeClr val="accent4"/>
              </a:solidFill>
            </a:endParaRPr>
          </a:p>
        </p:txBody>
      </p:sp>
      <p:sp>
        <p:nvSpPr>
          <p:cNvPr id="17411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3FEC31C-BFE9-4789-8DD3-8C7F0B2F8D3C}" type="datetime8">
              <a:rPr lang="en-US" altLang="zh-CN"/>
              <a:pPr/>
              <a:t>9/2/2024 1:29 PM</a:t>
            </a:fld>
            <a:r>
              <a:rPr lang="en-US" altLang="zh-CN"/>
              <a:t> </a:t>
            </a:r>
          </a:p>
        </p:txBody>
      </p:sp>
      <p:sp>
        <p:nvSpPr>
          <p:cNvPr id="17412" name="页脚占位符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/>
              <a:t>Discrete Math. , DeRen Chen</a:t>
            </a:r>
          </a:p>
        </p:txBody>
      </p:sp>
      <p:sp>
        <p:nvSpPr>
          <p:cNvPr id="17413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16A2159-1F63-451B-BC86-AE8EF3C64E79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57200" y="990600"/>
            <a:ext cx="8229600" cy="464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defTabSz="22225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 2"/>
              <a:buChar char=""/>
              <a:defRPr/>
            </a:pPr>
            <a:r>
              <a:rPr lang="zh-CN" altLang="en-US" sz="2800" dirty="0">
                <a:latin typeface="+mn-lt"/>
                <a:ea typeface="+mn-ea"/>
              </a:rPr>
              <a:t>离散数学的内容：</a:t>
            </a:r>
          </a:p>
          <a:p>
            <a:pPr marL="342900" indent="-342900" defTabSz="22225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 2"/>
              <a:buChar char=""/>
              <a:defRPr/>
            </a:pPr>
            <a:r>
              <a:rPr lang="zh-CN" altLang="en-US" sz="2800" dirty="0">
                <a:latin typeface="+mn-lt"/>
                <a:ea typeface="+mn-ea"/>
              </a:rPr>
              <a:t>          数理逻辑（</a:t>
            </a:r>
            <a:r>
              <a:rPr lang="en-US" altLang="zh-CN" sz="2800" dirty="0">
                <a:latin typeface="+mn-lt"/>
                <a:ea typeface="+mn-ea"/>
              </a:rPr>
              <a:t>Mathematics Logic)</a:t>
            </a:r>
          </a:p>
          <a:p>
            <a:pPr marL="342900" indent="-342900" defTabSz="22225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 2"/>
              <a:buChar char=""/>
              <a:defRPr/>
            </a:pPr>
            <a:r>
              <a:rPr lang="en-US" altLang="zh-CN" sz="2800" dirty="0">
                <a:latin typeface="+mn-lt"/>
                <a:ea typeface="+mn-ea"/>
              </a:rPr>
              <a:t>          </a:t>
            </a:r>
            <a:r>
              <a:rPr lang="zh-CN" altLang="en-US" sz="2800" dirty="0">
                <a:latin typeface="+mn-lt"/>
                <a:ea typeface="+mn-ea"/>
              </a:rPr>
              <a:t>集合论</a:t>
            </a:r>
            <a:r>
              <a:rPr lang="en-US" altLang="zh-CN" sz="2800" dirty="0">
                <a:latin typeface="+mn-lt"/>
                <a:ea typeface="+mn-ea"/>
              </a:rPr>
              <a:t>(Sets)</a:t>
            </a:r>
          </a:p>
          <a:p>
            <a:pPr marL="342900" indent="-342900" defTabSz="22225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 2"/>
              <a:buChar char=""/>
              <a:defRPr/>
            </a:pPr>
            <a:r>
              <a:rPr lang="en-US" altLang="zh-CN" sz="2800" dirty="0">
                <a:latin typeface="+mn-lt"/>
                <a:ea typeface="+mn-ea"/>
              </a:rPr>
              <a:t>          </a:t>
            </a:r>
            <a:r>
              <a:rPr lang="zh-CN" altLang="en-US" sz="2800" dirty="0">
                <a:latin typeface="+mn-lt"/>
                <a:ea typeface="+mn-ea"/>
              </a:rPr>
              <a:t>图论（</a:t>
            </a:r>
            <a:r>
              <a:rPr lang="en-US" altLang="zh-CN" sz="2800" dirty="0">
                <a:latin typeface="+mn-lt"/>
                <a:ea typeface="+mn-ea"/>
              </a:rPr>
              <a:t>Graph Theory)</a:t>
            </a:r>
          </a:p>
          <a:p>
            <a:pPr marL="342900" indent="-342900" defTabSz="22225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 2"/>
              <a:buChar char=""/>
              <a:defRPr/>
            </a:pPr>
            <a:r>
              <a:rPr lang="en-US" altLang="zh-CN" sz="2800" dirty="0">
                <a:latin typeface="+mn-lt"/>
                <a:ea typeface="+mn-ea"/>
              </a:rPr>
              <a:t>          </a:t>
            </a:r>
            <a:r>
              <a:rPr lang="zh-CN" altLang="en-US" sz="2800" dirty="0">
                <a:latin typeface="+mn-lt"/>
                <a:ea typeface="+mn-ea"/>
              </a:rPr>
              <a:t>代数结构（</a:t>
            </a:r>
            <a:r>
              <a:rPr lang="en-US" altLang="zh-CN" sz="2800" dirty="0" err="1">
                <a:latin typeface="+mn-lt"/>
                <a:ea typeface="+mn-ea"/>
              </a:rPr>
              <a:t>Algbra</a:t>
            </a:r>
            <a:r>
              <a:rPr lang="en-US" altLang="zh-CN" sz="2800" dirty="0">
                <a:latin typeface="+mn-lt"/>
                <a:ea typeface="+mn-ea"/>
              </a:rPr>
              <a:t> Structure)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altLang="zh-CN" dirty="0">
              <a:solidFill>
                <a:schemeClr val="accent4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116888" cy="1447800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离散数学的由来与发展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  </a:t>
            </a:r>
            <a:r>
              <a:rPr lang="zh-CN" altLang="en-US" dirty="0"/>
              <a:t>一、</a:t>
            </a:r>
            <a:r>
              <a:rPr lang="zh-CN" altLang="en-US" dirty="0">
                <a:solidFill>
                  <a:schemeClr val="tx2"/>
                </a:solidFill>
              </a:rPr>
              <a:t>古老</a:t>
            </a:r>
          </a:p>
          <a:p>
            <a:r>
              <a:rPr lang="zh-CN" altLang="en-US" dirty="0"/>
              <a:t>              历史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            </a:t>
            </a:r>
            <a:r>
              <a:rPr lang="zh-CN" altLang="en-US" dirty="0"/>
              <a:t>计数</a:t>
            </a:r>
            <a:r>
              <a:rPr lang="en-US" altLang="zh-CN" dirty="0"/>
              <a:t>:</a:t>
            </a:r>
            <a:r>
              <a:rPr lang="zh-CN" altLang="en-US" dirty="0"/>
              <a:t>自然数</a:t>
            </a:r>
          </a:p>
          <a:p>
            <a:r>
              <a:rPr lang="zh-CN" altLang="en-US" dirty="0"/>
              <a:t>              发展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            </a:t>
            </a:r>
            <a:r>
              <a:rPr lang="zh-CN" altLang="en-US" dirty="0"/>
              <a:t>图论</a:t>
            </a:r>
            <a:r>
              <a:rPr lang="en-US" altLang="zh-CN" dirty="0"/>
              <a:t>:Konigsberg</a:t>
            </a:r>
            <a:r>
              <a:rPr lang="zh-CN" altLang="en-US" dirty="0"/>
              <a:t>七桥问题</a:t>
            </a:r>
            <a:endParaRPr lang="en-US" altLang="zh-CN" dirty="0"/>
          </a:p>
          <a:p>
            <a:r>
              <a:rPr lang="en-US" altLang="zh-CN" dirty="0"/>
              <a:t>                    </a:t>
            </a:r>
            <a:r>
              <a:rPr lang="zh-CN" altLang="en-US" dirty="0"/>
              <a:t>（</a:t>
            </a:r>
            <a:r>
              <a:rPr lang="en-US" altLang="zh-CN" dirty="0"/>
              <a:t>18</a:t>
            </a:r>
            <a:r>
              <a:rPr lang="zh-CN" altLang="en-US" dirty="0"/>
              <a:t>世纪）</a:t>
            </a:r>
          </a:p>
          <a:p>
            <a:r>
              <a:rPr lang="zh-CN" altLang="en-US" dirty="0"/>
              <a:t>          </a:t>
            </a:r>
          </a:p>
        </p:txBody>
      </p:sp>
      <p:sp>
        <p:nvSpPr>
          <p:cNvPr id="1843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44D1905-4658-4528-B10B-02F724F3A000}" type="datetime8">
              <a:rPr lang="en-US" altLang="zh-CN"/>
              <a:pPr/>
              <a:t>9/2/2024 1:29 PM</a:t>
            </a:fld>
            <a:r>
              <a:rPr lang="en-US" altLang="zh-CN"/>
              <a:t> </a:t>
            </a:r>
          </a:p>
        </p:txBody>
      </p:sp>
      <p:sp>
        <p:nvSpPr>
          <p:cNvPr id="18437" name="页脚占位符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/>
              <a:t>Discrete Math. , DeRen Chen</a:t>
            </a:r>
          </a:p>
        </p:txBody>
      </p:sp>
      <p:sp>
        <p:nvSpPr>
          <p:cNvPr id="18438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BB780C4-177C-4282-9DFC-C2FA0D419222}" type="slidenum">
              <a:rPr lang="en-US" altLang="zh-CN"/>
              <a:pPr/>
              <a:t>7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altLang="zh-CN" dirty="0">
              <a:solidFill>
                <a:schemeClr val="accent4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116888" cy="1447800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离散数学的由来与发展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二、</a:t>
            </a:r>
            <a:r>
              <a:rPr lang="zh-CN" altLang="en-US" dirty="0">
                <a:solidFill>
                  <a:schemeClr val="tx2"/>
                </a:solidFill>
              </a:rPr>
              <a:t>年青</a:t>
            </a:r>
          </a:p>
          <a:p>
            <a:r>
              <a:rPr lang="zh-CN" altLang="en-US" dirty="0"/>
              <a:t>               新生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             </a:t>
            </a:r>
            <a:r>
              <a:rPr lang="zh-CN" altLang="en-US" dirty="0"/>
              <a:t>计算机</a:t>
            </a:r>
            <a:r>
              <a:rPr lang="en-US" altLang="zh-CN" dirty="0"/>
              <a:t>:</a:t>
            </a:r>
            <a:r>
              <a:rPr lang="zh-CN" altLang="en-US" dirty="0"/>
              <a:t>二进制运算</a:t>
            </a:r>
            <a:endParaRPr lang="en-US" altLang="zh-CN" dirty="0"/>
          </a:p>
          <a:p>
            <a:r>
              <a:rPr lang="en-US" altLang="zh-CN" dirty="0"/>
              <a:t>                     </a:t>
            </a:r>
            <a:r>
              <a:rPr lang="zh-CN" altLang="en-US" dirty="0"/>
              <a:t>图论的应用：计算机病毒</a:t>
            </a:r>
            <a:endParaRPr lang="en-US" altLang="zh-CN" dirty="0"/>
          </a:p>
          <a:p>
            <a:r>
              <a:rPr lang="en-US" altLang="zh-CN" dirty="0"/>
              <a:t>                     </a:t>
            </a:r>
            <a:r>
              <a:rPr lang="zh-CN" altLang="en-US" dirty="0"/>
              <a:t>数论的应用</a:t>
            </a:r>
            <a:r>
              <a:rPr lang="en-US" altLang="zh-CN" dirty="0"/>
              <a:t>: RSA</a:t>
            </a:r>
            <a:r>
              <a:rPr lang="zh-CN" altLang="en-US" dirty="0"/>
              <a:t>加密</a:t>
            </a:r>
            <a:endParaRPr lang="en-US" altLang="zh-CN" dirty="0"/>
          </a:p>
          <a:p>
            <a:r>
              <a:rPr lang="en-US" altLang="zh-CN" dirty="0"/>
              <a:t>                     </a:t>
            </a:r>
            <a:r>
              <a:rPr lang="zh-CN" altLang="en-US" dirty="0"/>
              <a:t>人工智能的基础：谷歌与</a:t>
            </a:r>
            <a:r>
              <a:rPr lang="en-US" altLang="zh-CN" dirty="0"/>
              <a:t>MIT</a:t>
            </a:r>
            <a:r>
              <a:rPr lang="zh-CN" altLang="en-US" dirty="0"/>
              <a:t>的巨著</a:t>
            </a:r>
            <a:r>
              <a:rPr lang="en-US" altLang="zh-CN" dirty="0"/>
              <a:t>《</a:t>
            </a:r>
            <a:r>
              <a:rPr lang="zh-CN" altLang="en-US" dirty="0"/>
              <a:t>计算机科学的数学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1843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44D1905-4658-4528-B10B-02F724F3A000}" type="datetime8">
              <a:rPr lang="en-US" altLang="zh-CN"/>
              <a:pPr/>
              <a:t>9/2/2024 1:29 PM</a:t>
            </a:fld>
            <a:r>
              <a:rPr lang="en-US" altLang="zh-CN"/>
              <a:t> </a:t>
            </a:r>
          </a:p>
        </p:txBody>
      </p:sp>
      <p:sp>
        <p:nvSpPr>
          <p:cNvPr id="18437" name="页脚占位符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/>
              <a:t>Discrete Math. , DeRen Chen</a:t>
            </a:r>
          </a:p>
        </p:txBody>
      </p:sp>
      <p:sp>
        <p:nvSpPr>
          <p:cNvPr id="18438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BB780C4-177C-4282-9DFC-C2FA0D419222}" type="slidenum">
              <a:rPr lang="en-US" altLang="zh-CN"/>
              <a:pPr/>
              <a:t>8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4375" y="1071563"/>
            <a:ext cx="8077200" cy="1500187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buFont typeface="Wingdings 2"/>
              <a:buNone/>
              <a:defRPr/>
            </a:pPr>
            <a:endParaRPr sz="4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5536" y="908720"/>
            <a:ext cx="8001056" cy="2428892"/>
          </a:xfrm>
        </p:spPr>
        <p:txBody>
          <a:bodyPr>
            <a:normAutofit fontScale="90000"/>
          </a:bodyPr>
          <a:lstStyle/>
          <a:p>
            <a:pPr algn="l" fontAlgn="auto">
              <a:spcAft>
                <a:spcPts val="0"/>
              </a:spcAft>
              <a:defRPr/>
            </a:pPr>
            <a:br>
              <a:rPr lang="en-US" altLang="zh-CN" dirty="0">
                <a:solidFill>
                  <a:schemeClr val="accent4"/>
                </a:solidFill>
              </a:rPr>
            </a:br>
            <a:br>
              <a:rPr lang="en-US" altLang="zh-CN" dirty="0">
                <a:solidFill>
                  <a:schemeClr val="accent4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dirty="0">
                <a:solidFill>
                  <a:schemeClr val="tx1"/>
                </a:solidFill>
              </a:rPr>
              <a:t>、课程为数学课程，要重视课堂听讲和课后作业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zh-CN" altLang="en-US" dirty="0">
                <a:solidFill>
                  <a:schemeClr val="tx1"/>
                </a:solidFill>
              </a:rPr>
              <a:t>作业布置在</a:t>
            </a:r>
            <a:r>
              <a:rPr lang="en-US" altLang="zh-CN" dirty="0">
                <a:solidFill>
                  <a:schemeClr val="tx1"/>
                </a:solidFill>
              </a:rPr>
              <a:t>blackboard</a:t>
            </a:r>
            <a:r>
              <a:rPr lang="zh-CN" altLang="en-US" dirty="0">
                <a:solidFill>
                  <a:schemeClr val="tx1"/>
                </a:solidFill>
              </a:rPr>
              <a:t>上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      </a:t>
            </a:r>
            <a:r>
              <a:rPr lang="zh-CN" altLang="en-US" dirty="0">
                <a:solidFill>
                  <a:schemeClr val="tx1"/>
                </a:solidFill>
              </a:rPr>
              <a:t>每章交一次，交纸质版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、考试为闭卷，平时成绩</a:t>
            </a:r>
            <a:r>
              <a:rPr lang="en-US" altLang="zh-CN" dirty="0">
                <a:solidFill>
                  <a:schemeClr val="tx1"/>
                </a:solidFill>
              </a:rPr>
              <a:t>30%</a:t>
            </a:r>
            <a:r>
              <a:rPr lang="zh-CN" altLang="en-US" dirty="0">
                <a:solidFill>
                  <a:schemeClr val="tx1"/>
                </a:solidFill>
              </a:rPr>
              <a:t>，包括作业和考勤，期末考试占</a:t>
            </a:r>
            <a:r>
              <a:rPr lang="en-US" altLang="zh-CN" dirty="0">
                <a:solidFill>
                  <a:schemeClr val="tx1"/>
                </a:solidFill>
              </a:rPr>
              <a:t>70%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br>
              <a:rPr lang="en-US" dirty="0">
                <a:solidFill>
                  <a:schemeClr val="tx1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187</TotalTime>
  <Words>348</Words>
  <Application>Microsoft Office PowerPoint</Application>
  <PresentationFormat>全屏显示(4:3)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黑体</vt:lpstr>
      <vt:lpstr>华文新魏</vt:lpstr>
      <vt:lpstr>楷体_GB2312</vt:lpstr>
      <vt:lpstr>Arial</vt:lpstr>
      <vt:lpstr>Footlight MT Light</vt:lpstr>
      <vt:lpstr>Goudy Old Style</vt:lpstr>
      <vt:lpstr>Times New Roman</vt:lpstr>
      <vt:lpstr>Wingdings 2</vt:lpstr>
      <vt:lpstr>凤舞九天</vt:lpstr>
      <vt:lpstr>Discrete  Mathematics      </vt:lpstr>
      <vt:lpstr>PowerPoint 演示文稿</vt:lpstr>
      <vt:lpstr>任课教师      闫  巧        教授</vt:lpstr>
      <vt:lpstr>计算机科学、信息科学、数字化科学的数学基础</vt:lpstr>
      <vt:lpstr>     教材</vt:lpstr>
      <vt:lpstr>      </vt:lpstr>
      <vt:lpstr>PowerPoint 演示文稿</vt:lpstr>
      <vt:lpstr>PowerPoint 演示文稿</vt:lpstr>
      <vt:lpstr>  1、课程为数学课程，要重视课堂听讲和课后作业。      作业布置在blackboard上       每章交一次，交纸质版 2、考试为闭卷，平时成绩30%，包括作业和考勤，期末考试占70%。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 Mathematics And Its Applications     Kenneth H. Rosen</dc:title>
  <dc:creator>User</dc:creator>
  <cp:lastModifiedBy>chuchu murongchuchu</cp:lastModifiedBy>
  <cp:revision>31</cp:revision>
  <dcterms:created xsi:type="dcterms:W3CDTF">2011-03-03T01:20:56Z</dcterms:created>
  <dcterms:modified xsi:type="dcterms:W3CDTF">2024-09-02T07:05:26Z</dcterms:modified>
</cp:coreProperties>
</file>