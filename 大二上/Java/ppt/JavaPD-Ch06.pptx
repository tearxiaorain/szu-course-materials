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63" r:id="rId4"/>
    <p:sldId id="329" r:id="rId5"/>
    <p:sldId id="265" r:id="rId6"/>
    <p:sldId id="330" r:id="rId7"/>
    <p:sldId id="266" r:id="rId8"/>
    <p:sldId id="267" r:id="rId9"/>
    <p:sldId id="268" r:id="rId10"/>
    <p:sldId id="26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9" r:id="rId19"/>
    <p:sldId id="310" r:id="rId20"/>
    <p:sldId id="258" r:id="rId21"/>
    <p:sldId id="270" r:id="rId22"/>
    <p:sldId id="331" r:id="rId23"/>
    <p:sldId id="312" r:id="rId24"/>
    <p:sldId id="313" r:id="rId25"/>
    <p:sldId id="314" r:id="rId26"/>
    <p:sldId id="315" r:id="rId27"/>
    <p:sldId id="316" r:id="rId28"/>
    <p:sldId id="383" r:id="rId29"/>
    <p:sldId id="392" r:id="rId30"/>
    <p:sldId id="259" r:id="rId31"/>
    <p:sldId id="276" r:id="rId32"/>
    <p:sldId id="317" r:id="rId33"/>
    <p:sldId id="318" r:id="rId34"/>
    <p:sldId id="378" r:id="rId35"/>
    <p:sldId id="379" r:id="rId36"/>
    <p:sldId id="380" r:id="rId37"/>
    <p:sldId id="381" r:id="rId38"/>
    <p:sldId id="382" r:id="rId39"/>
    <p:sldId id="262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57" r:id="rId48"/>
    <p:sldId id="358" r:id="rId49"/>
    <p:sldId id="359" r:id="rId50"/>
    <p:sldId id="360" r:id="rId51"/>
    <p:sldId id="361" r:id="rId52"/>
    <p:sldId id="362" r:id="rId53"/>
    <p:sldId id="363" r:id="rId54"/>
    <p:sldId id="364" r:id="rId55"/>
    <p:sldId id="365" r:id="rId56"/>
    <p:sldId id="366" r:id="rId57"/>
    <p:sldId id="367" r:id="rId58"/>
    <p:sldId id="368" r:id="rId59"/>
    <p:sldId id="369" r:id="rId60"/>
    <p:sldId id="370" r:id="rId61"/>
    <p:sldId id="377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2023/11/12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848019-7F8E-4133-9E4F-948F643F493C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976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5F8AC-17D9-476C-84C1-0DE5BFB3C614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26AB1-6648-45CC-AFED-63D780199DB0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8E9D-1E60-4EC0-867D-7C0C02D54829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FF46-4915-496B-8027-C6CF53E3E2B3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E1A49-0743-4032-8D83-FE8ECB87E2AD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8489B-082A-48BC-B23E-397504E1A1D5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A60C7-70D1-45FD-A648-ECD611FAEC2B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545B9-1D2A-489B-8AA9-590D9229F7CA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9FDF6-0BF8-4376-A1D5-B2F807AEACD6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5A0A3-442F-478C-8764-7CC42083AEFC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8072D-A740-4EE5-A3C3-3C52D08E39BE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6FD5-F688-4F77-B02C-9ADC50E674E4}" type="datetime1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>
                <a:latin typeface="+mn-lt"/>
              </a:rPr>
              <a:t>JAVA</a:t>
            </a:r>
            <a:r>
              <a:rPr lang="zh-CN" altLang="en-US" sz="4800" dirty="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35496" y="6172200"/>
            <a:ext cx="8784976" cy="64633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dirty="0">
                <a:ea typeface="仿宋" panose="02010609060101010101" pitchFamily="49" charset="-122"/>
              </a:rPr>
              <a:t>Java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的作者和其他老师提供</a:t>
            </a:r>
            <a:r>
              <a:rPr lang="en-US" altLang="zh-CN" dirty="0">
                <a:ea typeface="仿宋" panose="02010609060101010101" pitchFamily="49" charset="-122"/>
              </a:rPr>
              <a:t>PowerPoint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zh-CN" altLang="en-US" dirty="0"/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说明：本课程所使用的所有讲义，都是在以上资料上修改的。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6.1 String</a:t>
            </a:r>
            <a:r>
              <a:rPr lang="zh-CN" altLang="en-US" sz="2000" dirty="0">
                <a:solidFill>
                  <a:srgbClr val="FF0000"/>
                </a:solidFill>
              </a:rPr>
              <a:t>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6.6 </a:t>
            </a:r>
            <a:r>
              <a:rPr lang="zh-CN" altLang="en-US" sz="2000" dirty="0"/>
              <a:t>模式匹配	</a:t>
            </a:r>
            <a:endParaRPr lang="en-US" altLang="zh-CN" sz="2000" dirty="0"/>
          </a:p>
          <a:p>
            <a:r>
              <a:rPr lang="en-US" altLang="zh-CN" sz="2000" dirty="0"/>
              <a:t>6.4 </a:t>
            </a:r>
            <a:r>
              <a:rPr lang="zh-CN" altLang="en-US" sz="2000" dirty="0"/>
              <a:t>正则表达式及字符串的替换与分解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03894" y="4581128"/>
            <a:ext cx="3708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注：调整顺序，</a:t>
            </a:r>
            <a:r>
              <a:rPr lang="en-US" altLang="zh-CN" dirty="0"/>
              <a:t>6.4</a:t>
            </a:r>
            <a:r>
              <a:rPr lang="zh-CN" altLang="en-US" dirty="0"/>
              <a:t>节移到最后讲解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5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使用</a:t>
            </a:r>
            <a:r>
              <a:rPr lang="en-US" altLang="zh-CN" sz="2000" dirty="0" err="1"/>
              <a:t>java.lang</a:t>
            </a:r>
            <a:r>
              <a:rPr lang="zh-CN" altLang="en-US" sz="2000" dirty="0"/>
              <a:t>包中的</a:t>
            </a:r>
            <a:r>
              <a:rPr lang="en-US" altLang="zh-CN" sz="2000" dirty="0"/>
              <a:t>String</a:t>
            </a:r>
            <a:r>
              <a:rPr lang="zh-CN" altLang="en-US" sz="2000" dirty="0"/>
              <a:t>类来创建一个</a:t>
            </a:r>
            <a:r>
              <a:rPr lang="zh-CN" altLang="en-US" sz="2000" b="1" dirty="0">
                <a:solidFill>
                  <a:srgbClr val="FF0000"/>
                </a:solidFill>
              </a:rPr>
              <a:t>字符串变量</a:t>
            </a:r>
            <a:r>
              <a:rPr lang="zh-CN" altLang="en-US" sz="2000" dirty="0"/>
              <a:t>，因此字符串变量是</a:t>
            </a:r>
            <a:r>
              <a:rPr lang="zh-CN" altLang="en-US" sz="2000" b="1" dirty="0">
                <a:solidFill>
                  <a:srgbClr val="FF0000"/>
                </a:solidFill>
              </a:rPr>
              <a:t>类</a:t>
            </a:r>
            <a:r>
              <a:rPr lang="zh-CN" altLang="en-US" sz="2000" b="1" dirty="0">
                <a:solidFill>
                  <a:srgbClr val="0000FF"/>
                </a:solidFill>
              </a:rPr>
              <a:t>类型</a:t>
            </a:r>
            <a:r>
              <a:rPr lang="zh-CN" altLang="en-US" sz="2000" dirty="0"/>
              <a:t>的变量，是一个</a:t>
            </a:r>
            <a:r>
              <a:rPr lang="zh-CN" altLang="en-US" sz="2000" b="1" dirty="0">
                <a:solidFill>
                  <a:srgbClr val="FF0000"/>
                </a:solidFill>
              </a:rPr>
              <a:t>对象（</a:t>
            </a:r>
            <a:r>
              <a:rPr lang="en-US" altLang="zh-CN" sz="2000" b="1" dirty="0">
                <a:solidFill>
                  <a:srgbClr val="FF0000"/>
                </a:solidFill>
              </a:rPr>
              <a:t>object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字符串类</a:t>
            </a:r>
            <a:r>
              <a:rPr lang="en-US" altLang="zh-CN" sz="2000" dirty="0"/>
              <a:t>String</a:t>
            </a:r>
            <a:r>
              <a:rPr lang="zh-CN" altLang="en-US" sz="2000" dirty="0"/>
              <a:t>表示一个</a:t>
            </a:r>
            <a:r>
              <a:rPr lang="en-US" altLang="zh-CN" sz="2000" dirty="0"/>
              <a:t>UTF-16</a:t>
            </a:r>
            <a:r>
              <a:rPr lang="zh-CN" altLang="en-US" sz="2000" dirty="0"/>
              <a:t>格式（</a:t>
            </a:r>
            <a:r>
              <a:rPr lang="en-US" altLang="zh-CN" sz="2000" dirty="0"/>
              <a:t>16</a:t>
            </a:r>
            <a:r>
              <a:rPr lang="zh-CN" altLang="en-US" sz="2000" dirty="0"/>
              <a:t>位</a:t>
            </a:r>
            <a:r>
              <a:rPr lang="en-US" altLang="zh-CN" sz="2000" dirty="0"/>
              <a:t>/</a:t>
            </a:r>
            <a:r>
              <a:rPr lang="zh-CN" altLang="en-US" sz="2000" dirty="0"/>
              <a:t>两个字节）的字符串，其代码单元是</a:t>
            </a:r>
            <a:r>
              <a:rPr lang="en-US" altLang="zh-CN" sz="2000" dirty="0">
                <a:solidFill>
                  <a:srgbClr val="FF0000"/>
                </a:solidFill>
              </a:rPr>
              <a:t>char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7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创建字符串对象</a:t>
            </a:r>
          </a:p>
          <a:p>
            <a:pPr lvl="1"/>
            <a:r>
              <a:rPr lang="zh-CN" altLang="en-US" sz="2000" dirty="0"/>
              <a:t>使用</a:t>
            </a:r>
            <a:r>
              <a:rPr lang="en-US" altLang="zh-CN" sz="2000" dirty="0"/>
              <a:t>String</a:t>
            </a:r>
            <a:r>
              <a:rPr lang="zh-CN" altLang="en-US" sz="2000" dirty="0"/>
              <a:t>类的</a:t>
            </a:r>
            <a:r>
              <a:rPr lang="zh-CN" altLang="en-US" sz="2000" b="1" dirty="0">
                <a:solidFill>
                  <a:srgbClr val="FF0000"/>
                </a:solidFill>
              </a:rPr>
              <a:t>构造方法</a:t>
            </a:r>
            <a:r>
              <a:rPr lang="zh-CN" altLang="en-US" sz="2000" dirty="0"/>
              <a:t>创建字符串对象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zh-CN" altLang="en-US" sz="2000" dirty="0"/>
              <a:t>也可以用一个</a:t>
            </a:r>
            <a:r>
              <a:rPr lang="zh-CN" altLang="en-US" sz="2000" b="1" dirty="0">
                <a:solidFill>
                  <a:srgbClr val="FF0000"/>
                </a:solidFill>
              </a:rPr>
              <a:t>已经创建好的字符串</a:t>
            </a:r>
            <a:r>
              <a:rPr lang="zh-CN" altLang="en-US" sz="2000" dirty="0"/>
              <a:t>创建另一个字符串</a:t>
            </a:r>
          </a:p>
        </p:txBody>
      </p:sp>
      <p:sp>
        <p:nvSpPr>
          <p:cNvPr id="4" name="矩形 3"/>
          <p:cNvSpPr/>
          <p:nvPr/>
        </p:nvSpPr>
        <p:spPr>
          <a:xfrm>
            <a:off x="1763688" y="2413911"/>
            <a:ext cx="4752528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s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"we are students"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矩形 4"/>
          <p:cNvSpPr/>
          <p:nvPr/>
        </p:nvSpPr>
        <p:spPr>
          <a:xfrm>
            <a:off x="1763688" y="3494031"/>
            <a:ext cx="3384376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s2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String(s);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1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String</a:t>
            </a:r>
            <a:r>
              <a:rPr lang="zh-CN" altLang="en-US" sz="2000" dirty="0"/>
              <a:t>类还有两个比较常用的构造方法：</a:t>
            </a:r>
          </a:p>
          <a:p>
            <a:pPr lvl="1"/>
            <a:r>
              <a:rPr lang="en-US" altLang="zh-CN" sz="2000" b="1" dirty="0">
                <a:solidFill>
                  <a:srgbClr val="FF0000"/>
                </a:solidFill>
              </a:rPr>
              <a:t>String (char a[])</a:t>
            </a:r>
            <a:r>
              <a:rPr lang="zh-CN" altLang="en-US" sz="2000" dirty="0"/>
              <a:t>：用一个</a:t>
            </a:r>
            <a:r>
              <a:rPr lang="zh-CN" altLang="en-US" sz="2000" b="1" dirty="0">
                <a:solidFill>
                  <a:srgbClr val="FF0000"/>
                </a:solidFill>
              </a:rPr>
              <a:t>字符数组</a:t>
            </a:r>
            <a:r>
              <a:rPr lang="en-US" altLang="zh-CN" sz="2000" dirty="0"/>
              <a:t>a</a:t>
            </a:r>
            <a:r>
              <a:rPr lang="zh-CN" altLang="en-US" sz="2000" dirty="0"/>
              <a:t>创建一个</a:t>
            </a:r>
            <a:r>
              <a:rPr lang="en-US" altLang="zh-CN" sz="2000" dirty="0"/>
              <a:t>String</a:t>
            </a:r>
            <a:r>
              <a:rPr lang="zh-CN" altLang="en-US" sz="2000" dirty="0"/>
              <a:t>对象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FF0000"/>
                </a:solidFill>
              </a:rPr>
              <a:t>String(char a[], </a:t>
            </a:r>
            <a:r>
              <a:rPr lang="en-US" altLang="zh-CN" sz="2000" b="1" dirty="0" err="1">
                <a:solidFill>
                  <a:srgbClr val="FF0000"/>
                </a:solidFill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startIndex</a:t>
            </a:r>
            <a:r>
              <a:rPr lang="en-US" altLang="zh-CN" sz="2000" b="1" dirty="0">
                <a:solidFill>
                  <a:srgbClr val="FF0000"/>
                </a:solidFill>
              </a:rPr>
              <a:t>, </a:t>
            </a:r>
            <a:r>
              <a:rPr lang="en-US" altLang="zh-CN" sz="2000" b="1" dirty="0" err="1">
                <a:solidFill>
                  <a:srgbClr val="FF0000"/>
                </a:solidFill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</a:rPr>
              <a:t> count)</a:t>
            </a:r>
            <a:r>
              <a:rPr lang="zh-CN" altLang="en-US" sz="2000" dirty="0"/>
              <a:t>：提取</a:t>
            </a:r>
            <a:r>
              <a:rPr lang="zh-CN" altLang="en-US" sz="2000" b="1" dirty="0">
                <a:solidFill>
                  <a:srgbClr val="FF0000"/>
                </a:solidFill>
              </a:rPr>
              <a:t>字符数组</a:t>
            </a:r>
            <a:r>
              <a:rPr lang="en-US" altLang="zh-CN" sz="2000" dirty="0"/>
              <a:t>a</a:t>
            </a:r>
            <a:r>
              <a:rPr lang="zh-CN" altLang="en-US" sz="2000" dirty="0"/>
              <a:t>中的一部分字符创建一个</a:t>
            </a:r>
            <a:r>
              <a:rPr lang="en-US" altLang="zh-CN" sz="2000" dirty="0"/>
              <a:t>String</a:t>
            </a:r>
            <a:r>
              <a:rPr lang="zh-CN" altLang="en-US" sz="2000" dirty="0"/>
              <a:t>对象，参数</a:t>
            </a:r>
            <a:r>
              <a:rPr lang="en-US" altLang="zh-CN" sz="2000" dirty="0" err="1"/>
              <a:t>startIndex</a:t>
            </a:r>
            <a:r>
              <a:rPr lang="zh-CN" altLang="en-US" sz="2000" dirty="0"/>
              <a:t>和</a:t>
            </a:r>
            <a:r>
              <a:rPr lang="en-US" altLang="zh-CN" sz="2000" dirty="0"/>
              <a:t>count</a:t>
            </a:r>
            <a:r>
              <a:rPr lang="zh-CN" altLang="en-US" sz="2000" dirty="0"/>
              <a:t>分别指定在</a:t>
            </a:r>
            <a:r>
              <a:rPr lang="en-US" altLang="zh-CN" sz="2000" dirty="0"/>
              <a:t>a</a:t>
            </a:r>
            <a:r>
              <a:rPr lang="zh-CN" altLang="en-US" sz="2000" dirty="0"/>
              <a:t>中提取字符的起始位置和从该位置开始截取的字符个数</a:t>
            </a:r>
          </a:p>
        </p:txBody>
      </p:sp>
      <p:sp>
        <p:nvSpPr>
          <p:cNvPr id="4" name="矩形 3"/>
          <p:cNvSpPr/>
          <p:nvPr/>
        </p:nvSpPr>
        <p:spPr>
          <a:xfrm>
            <a:off x="1979712" y="2484183"/>
            <a:ext cx="3168352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pt-BR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pt-BR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a = {</a:t>
            </a:r>
            <a:r>
              <a:rPr lang="pt-BR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pt-BR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'o'</a:t>
            </a:r>
            <a:r>
              <a:rPr lang="pt-BR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'y'</a:t>
            </a:r>
            <a:r>
              <a:rPr lang="pt-BR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s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String(a);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712" y="4572417"/>
            <a:ext cx="4320480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a = {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s'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't'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'u'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's'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'n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s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String(a,2,3);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6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</a:t>
            </a:r>
            <a:r>
              <a:rPr lang="zh-CN" altLang="en-US" sz="2000" dirty="0"/>
              <a:t>引用字符串常量对象</a:t>
            </a:r>
          </a:p>
          <a:p>
            <a:pPr lvl="1"/>
            <a:r>
              <a:rPr lang="zh-CN" altLang="en-US" sz="2000" b="1" dirty="0">
                <a:solidFill>
                  <a:srgbClr val="0000FF"/>
                </a:solidFill>
              </a:rPr>
              <a:t>字符串常量（</a:t>
            </a:r>
            <a:r>
              <a:rPr lang="en-US" altLang="zh-CN" sz="2000" b="1" dirty="0">
                <a:solidFill>
                  <a:srgbClr val="0000FF"/>
                </a:solidFill>
              </a:rPr>
              <a:t>string literal</a:t>
            </a:r>
            <a:r>
              <a:rPr lang="zh-CN" altLang="en-US" sz="2000" b="1" dirty="0">
                <a:solidFill>
                  <a:srgbClr val="0000FF"/>
                </a:solidFill>
              </a:rPr>
              <a:t>）</a:t>
            </a:r>
            <a:r>
              <a:rPr lang="zh-CN" altLang="en-US" sz="2000" dirty="0"/>
              <a:t>被当作是</a:t>
            </a:r>
            <a:r>
              <a:rPr lang="en-US" altLang="zh-CN" sz="2000" b="1" dirty="0">
                <a:solidFill>
                  <a:srgbClr val="FF0000"/>
                </a:solidFill>
              </a:rPr>
              <a:t>String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zh-CN" altLang="en-US" sz="2000" dirty="0"/>
              <a:t>，因此可以把</a:t>
            </a:r>
            <a:r>
              <a:rPr lang="zh-CN" altLang="en-US" sz="2000" b="1" dirty="0">
                <a:solidFill>
                  <a:srgbClr val="0000FF"/>
                </a:solidFill>
              </a:rPr>
              <a:t>字符串常量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引用</a:t>
            </a:r>
            <a:r>
              <a:rPr lang="zh-CN" altLang="en-US" sz="2000" dirty="0"/>
              <a:t>赋值给一个字符串变量（</a:t>
            </a:r>
            <a:r>
              <a:rPr lang="en-US" altLang="zh-CN" sz="2000" dirty="0"/>
              <a:t>String variable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s1, s2</a:t>
            </a:r>
            <a:r>
              <a:rPr lang="zh-CN" altLang="en-US" sz="2000" dirty="0"/>
              <a:t>具有</a:t>
            </a:r>
            <a:r>
              <a:rPr lang="zh-CN" altLang="en-US" sz="2000" b="1" dirty="0">
                <a:solidFill>
                  <a:srgbClr val="FF0000"/>
                </a:solidFill>
              </a:rPr>
              <a:t>相同的引用（</a:t>
            </a:r>
            <a:r>
              <a:rPr lang="en-US" altLang="zh-CN" sz="2000" b="1" dirty="0">
                <a:solidFill>
                  <a:srgbClr val="FF0000"/>
                </a:solidFill>
              </a:rPr>
              <a:t>reference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r>
              <a:rPr lang="zh-CN" altLang="en-US" sz="2000" dirty="0"/>
              <a:t>，因而具有</a:t>
            </a:r>
            <a:r>
              <a:rPr lang="zh-CN" altLang="en-US" sz="2000" b="1" dirty="0">
                <a:solidFill>
                  <a:srgbClr val="0000FF"/>
                </a:solidFill>
              </a:rPr>
              <a:t>相同的实体（</a:t>
            </a:r>
            <a:r>
              <a:rPr lang="en-US" altLang="zh-CN" sz="2000" b="1" dirty="0">
                <a:solidFill>
                  <a:srgbClr val="0000FF"/>
                </a:solidFill>
              </a:rPr>
              <a:t>string value or </a:t>
            </a:r>
            <a:r>
              <a:rPr lang="en-US" altLang="zh-CN" sz="2000" b="1" u="sng" dirty="0">
                <a:solidFill>
                  <a:srgbClr val="0000FF"/>
                </a:solidFill>
              </a:rPr>
              <a:t>content</a:t>
            </a:r>
            <a:r>
              <a:rPr lang="zh-CN" altLang="en-US" sz="2000" b="1" dirty="0">
                <a:solidFill>
                  <a:srgbClr val="0000FF"/>
                </a:solidFill>
              </a:rPr>
              <a:t>）</a:t>
            </a:r>
            <a:r>
              <a:rPr lang="zh-CN" altLang="en-US" sz="2000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331640" y="2752465"/>
            <a:ext cx="2376264" cy="83099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s1, s2;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s1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"How are you"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s2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"How are you"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1043608" y="5734997"/>
            <a:ext cx="7590411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A </a:t>
            </a:r>
            <a:r>
              <a:rPr lang="en-US" altLang="zh-CN" b="1" u="sng" dirty="0"/>
              <a:t>String variable</a:t>
            </a:r>
            <a:r>
              <a:rPr lang="en-US" altLang="zh-CN" b="1" dirty="0"/>
              <a:t> </a:t>
            </a:r>
            <a:r>
              <a:rPr lang="en-US" altLang="zh-CN" dirty="0"/>
              <a:t>holds a reference to a </a:t>
            </a:r>
            <a:r>
              <a:rPr lang="en-US" altLang="zh-CN" b="1" u="sng" dirty="0"/>
              <a:t>String object</a:t>
            </a:r>
            <a:r>
              <a:rPr lang="en-US" altLang="zh-CN" b="1" dirty="0"/>
              <a:t> </a:t>
            </a:r>
            <a:r>
              <a:rPr lang="en-US" altLang="zh-CN" dirty="0"/>
              <a:t>that stores a </a:t>
            </a:r>
            <a:r>
              <a:rPr lang="en-US" altLang="zh-CN" b="1" u="sng" dirty="0"/>
              <a:t>string value</a:t>
            </a:r>
            <a:r>
              <a:rPr lang="en-US" altLang="zh-CN" dirty="0"/>
              <a:t>. </a:t>
            </a:r>
          </a:p>
          <a:p>
            <a:r>
              <a:rPr lang="zh-CN" altLang="en-US" dirty="0"/>
              <a:t>注：大多数情况下，三者之间的差异可以忽略。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43608" y="4628738"/>
            <a:ext cx="7590411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Since strings are </a:t>
            </a:r>
            <a:r>
              <a:rPr lang="en-US" altLang="zh-CN" b="1" dirty="0"/>
              <a:t>immutable</a:t>
            </a:r>
            <a:r>
              <a:rPr lang="en-US" altLang="zh-CN" dirty="0"/>
              <a:t> (</a:t>
            </a:r>
            <a:r>
              <a:rPr lang="zh-CN" altLang="en-US" dirty="0"/>
              <a:t>不变的</a:t>
            </a:r>
            <a:r>
              <a:rPr lang="en-US" altLang="zh-CN" dirty="0"/>
              <a:t>) and are </a:t>
            </a:r>
            <a:r>
              <a:rPr lang="en-US" altLang="zh-CN" b="1" dirty="0"/>
              <a:t>ubiquitous</a:t>
            </a:r>
            <a:r>
              <a:rPr lang="en-US" altLang="zh-CN" dirty="0"/>
              <a:t> (</a:t>
            </a:r>
            <a:r>
              <a:rPr lang="zh-CN" altLang="en-US" dirty="0"/>
              <a:t>无处不在的</a:t>
            </a:r>
            <a:r>
              <a:rPr lang="en-US" altLang="zh-CN" dirty="0"/>
              <a:t>) in programming, the JVM uses 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unique 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唯一的</a:t>
            </a:r>
            <a:r>
              <a:rPr lang="en-US" altLang="zh-CN" dirty="0">
                <a:solidFill>
                  <a:srgbClr val="FF0000"/>
                </a:solidFill>
              </a:rPr>
              <a:t>) instance for </a:t>
            </a:r>
            <a:r>
              <a:rPr lang="en-US" altLang="zh-CN" b="1" u="sng" dirty="0">
                <a:solidFill>
                  <a:srgbClr val="0000FF"/>
                </a:solidFill>
              </a:rPr>
              <a:t>string literals with the same character sequence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in order to improve efficiency and save memory.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525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3.String</a:t>
            </a:r>
            <a:r>
              <a:rPr lang="zh-CN" altLang="en-US" sz="2000" dirty="0"/>
              <a:t>类的常用方法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length</a:t>
            </a:r>
            <a:r>
              <a:rPr lang="en-US" altLang="zh-CN" sz="2000" dirty="0"/>
              <a:t>()</a:t>
            </a:r>
          </a:p>
          <a:p>
            <a:pPr lvl="2"/>
            <a:r>
              <a:rPr lang="zh-CN" altLang="en-US" sz="2000" dirty="0"/>
              <a:t>获取一个字符串的</a:t>
            </a:r>
            <a:r>
              <a:rPr lang="zh-CN" altLang="en-US" sz="2000" b="1" dirty="0">
                <a:solidFill>
                  <a:srgbClr val="FF0000"/>
                </a:solidFill>
              </a:rPr>
              <a:t>长度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equals</a:t>
            </a:r>
            <a:r>
              <a:rPr lang="en-US" altLang="zh-CN" sz="2000" dirty="0"/>
              <a:t>(String s)</a:t>
            </a:r>
          </a:p>
          <a:p>
            <a:pPr lvl="2"/>
            <a:r>
              <a:rPr lang="zh-CN" altLang="en-US" sz="2000" dirty="0"/>
              <a:t>比较当前字符串对象的</a:t>
            </a:r>
            <a:r>
              <a:rPr lang="zh-CN" altLang="en-US" sz="2000" b="1" dirty="0">
                <a:solidFill>
                  <a:srgbClr val="FF0000"/>
                </a:solidFill>
              </a:rPr>
              <a:t>实体</a:t>
            </a:r>
            <a:r>
              <a:rPr lang="zh-CN" altLang="en-US" sz="2000" dirty="0"/>
              <a:t>是否与参数指定的字符串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实体</a:t>
            </a:r>
            <a:r>
              <a:rPr lang="zh-CN" altLang="en-US" sz="2000" dirty="0"/>
              <a:t>相同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5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startsWith</a:t>
            </a:r>
            <a:r>
              <a:rPr lang="en-US" altLang="zh-CN" sz="2000" dirty="0"/>
              <a:t>(String s)</a:t>
            </a:r>
          </a:p>
          <a:p>
            <a:pPr lvl="2"/>
            <a:r>
              <a:rPr lang="zh-CN" altLang="en-US" sz="2000" dirty="0"/>
              <a:t>判断当前字符串对象的</a:t>
            </a:r>
            <a:r>
              <a:rPr lang="zh-CN" altLang="en-US" sz="2000" b="1" dirty="0">
                <a:solidFill>
                  <a:srgbClr val="FF0000"/>
                </a:solidFill>
              </a:rPr>
              <a:t>前缀</a:t>
            </a:r>
            <a:r>
              <a:rPr lang="zh-CN" altLang="en-US" sz="2000" dirty="0"/>
              <a:t>是否是参数指定的字符串</a:t>
            </a:r>
            <a:r>
              <a:rPr lang="en-US" altLang="zh-CN" sz="2000" dirty="0"/>
              <a:t>s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endsWith</a:t>
            </a:r>
            <a:r>
              <a:rPr lang="en-US" altLang="zh-CN" sz="2000" dirty="0"/>
              <a:t>(String s)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2"/>
            <a:r>
              <a:rPr lang="zh-CN" altLang="en-US" sz="2000" dirty="0"/>
              <a:t>判断当前字符串对象的</a:t>
            </a:r>
            <a:r>
              <a:rPr lang="zh-CN" altLang="en-US" sz="2000" b="1" dirty="0">
                <a:solidFill>
                  <a:srgbClr val="FF0000"/>
                </a:solidFill>
              </a:rPr>
              <a:t>后缀</a:t>
            </a:r>
            <a:r>
              <a:rPr lang="zh-CN" altLang="en-US" sz="2000" dirty="0"/>
              <a:t>是否是参数指定的字符串</a:t>
            </a:r>
            <a:r>
              <a:rPr lang="en-US" altLang="zh-CN" sz="2000" dirty="0"/>
              <a:t>s</a:t>
            </a:r>
            <a:endParaRPr lang="zh-CN" altLang="en-US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compareTo</a:t>
            </a:r>
            <a:r>
              <a:rPr lang="en-US" altLang="zh-CN" sz="2000" dirty="0"/>
              <a:t>(String s)</a:t>
            </a:r>
          </a:p>
          <a:p>
            <a:pPr lvl="2"/>
            <a:r>
              <a:rPr lang="zh-CN" altLang="en-US" sz="2000" dirty="0"/>
              <a:t>按</a:t>
            </a:r>
            <a:r>
              <a:rPr lang="zh-CN" altLang="en-US" sz="2000" b="1" dirty="0">
                <a:solidFill>
                  <a:srgbClr val="FF0000"/>
                </a:solidFill>
              </a:rPr>
              <a:t>字典序</a:t>
            </a:r>
            <a:r>
              <a:rPr lang="zh-CN" altLang="en-US" sz="2000" dirty="0"/>
              <a:t>与参数</a:t>
            </a:r>
            <a:r>
              <a:rPr lang="en-US" altLang="zh-CN" sz="2000" dirty="0"/>
              <a:t>s</a:t>
            </a:r>
            <a:r>
              <a:rPr lang="zh-CN" altLang="en-US" sz="2000" dirty="0"/>
              <a:t>指定的字符串</a:t>
            </a:r>
            <a:r>
              <a:rPr lang="zh-CN" altLang="en-US" sz="2000" b="1" dirty="0">
                <a:solidFill>
                  <a:srgbClr val="FF0000"/>
                </a:solidFill>
              </a:rPr>
              <a:t>比较大小</a:t>
            </a:r>
            <a:r>
              <a:rPr lang="zh-CN" altLang="en-US" sz="2000" dirty="0"/>
              <a:t>。如果当前字符串与</a:t>
            </a:r>
            <a:r>
              <a:rPr lang="en-US" altLang="zh-CN" sz="2000" dirty="0"/>
              <a:t>s</a:t>
            </a:r>
            <a:r>
              <a:rPr lang="zh-CN" altLang="en-US" sz="2000" dirty="0"/>
              <a:t>相同，该方法返回值</a:t>
            </a:r>
            <a:r>
              <a:rPr lang="en-US" altLang="zh-CN" sz="2000" b="1" dirty="0">
                <a:solidFill>
                  <a:srgbClr val="0000FF"/>
                </a:solidFill>
              </a:rPr>
              <a:t>0</a:t>
            </a:r>
            <a:r>
              <a:rPr lang="zh-CN" altLang="en-US" sz="2000" dirty="0"/>
              <a:t>；如果当前字符串对象大于</a:t>
            </a:r>
            <a:r>
              <a:rPr lang="en-US" altLang="zh-CN" sz="2000" dirty="0"/>
              <a:t>s</a:t>
            </a:r>
            <a:r>
              <a:rPr lang="zh-CN" altLang="en-US" sz="2000" dirty="0"/>
              <a:t>，该方法返回</a:t>
            </a:r>
            <a:r>
              <a:rPr lang="zh-CN" altLang="en-US" sz="2000" b="1" dirty="0">
                <a:solidFill>
                  <a:srgbClr val="0000FF"/>
                </a:solidFill>
              </a:rPr>
              <a:t>正值</a:t>
            </a:r>
            <a:r>
              <a:rPr lang="zh-CN" altLang="en-US" sz="2000" dirty="0"/>
              <a:t>；如果小于</a:t>
            </a:r>
            <a:r>
              <a:rPr lang="en-US" altLang="zh-CN" sz="2000" dirty="0"/>
              <a:t>s</a:t>
            </a:r>
            <a:r>
              <a:rPr lang="zh-CN" altLang="en-US" sz="2000" dirty="0"/>
              <a:t>，该方法返回</a:t>
            </a:r>
            <a:r>
              <a:rPr lang="zh-CN" altLang="en-US" sz="2000" b="1" dirty="0">
                <a:solidFill>
                  <a:srgbClr val="0000FF"/>
                </a:solidFill>
              </a:rPr>
              <a:t>负值</a:t>
            </a:r>
            <a:r>
              <a:rPr lang="zh-CN" altLang="en-US" sz="2000" dirty="0"/>
              <a:t>。</a:t>
            </a: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0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015208" y="1124744"/>
            <a:ext cx="6517232" cy="477053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Example6_1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String s1,s2;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s1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"we are students"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s2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"we are students"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(s1.equals(s2));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same content?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(s1==s2);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same reference?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(s1.compareTo(s2));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String s3,s4;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s3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"how are you"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s4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"how are you"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(s3.equals(s4));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same content?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(s3==s4);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same reference?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(s3.compareTo(s4));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9632" y="4735952"/>
            <a:ext cx="504056" cy="115932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259632" y="2348880"/>
            <a:ext cx="1368152" cy="2880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259632" y="4031440"/>
            <a:ext cx="1368152" cy="2880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8100392" y="3256409"/>
            <a:ext cx="648072" cy="0"/>
          </a:xfrm>
          <a:prstGeom prst="straightConnector1">
            <a:avLst/>
          </a:prstGeom>
          <a:ln w="254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42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indexOf</a:t>
            </a:r>
            <a:r>
              <a:rPr lang="en-US" altLang="zh-CN" sz="2000" dirty="0"/>
              <a:t>(String s)</a:t>
            </a:r>
          </a:p>
          <a:p>
            <a:pPr lvl="2"/>
            <a:r>
              <a:rPr lang="zh-CN" altLang="en-US" sz="2000" dirty="0"/>
              <a:t>从当前字符串的头开始</a:t>
            </a:r>
            <a:r>
              <a:rPr lang="zh-CN" altLang="en-US" sz="2000" b="1" dirty="0">
                <a:solidFill>
                  <a:srgbClr val="FF0000"/>
                </a:solidFill>
              </a:rPr>
              <a:t>检索</a:t>
            </a:r>
            <a:r>
              <a:rPr lang="zh-CN" altLang="en-US" sz="2000" dirty="0"/>
              <a:t>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，并返回首次出现</a:t>
            </a:r>
            <a:r>
              <a:rPr lang="en-US" altLang="zh-CN" sz="2000" dirty="0"/>
              <a:t>s</a:t>
            </a:r>
            <a:r>
              <a:rPr lang="zh-CN" altLang="en-US" sz="2000" dirty="0"/>
              <a:t>的位置。如果没有检索到字符串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，该方法返回的值是</a:t>
            </a:r>
            <a:r>
              <a:rPr lang="en-US" altLang="zh-CN" sz="2000" dirty="0"/>
              <a:t>-1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b="1" dirty="0">
                <a:solidFill>
                  <a:srgbClr val="FF0000"/>
                </a:solidFill>
              </a:rPr>
              <a:t>substring</a:t>
            </a:r>
            <a:r>
              <a:rPr lang="en-US" altLang="zh-CN" sz="2000" dirty="0"/>
              <a:t>(int </a:t>
            </a:r>
            <a:r>
              <a:rPr lang="en-US" altLang="zh-CN" sz="2000" dirty="0" err="1"/>
              <a:t>startPoint</a:t>
            </a:r>
            <a:r>
              <a:rPr lang="en-US" altLang="zh-CN" sz="2000" dirty="0"/>
              <a:t>)</a:t>
            </a:r>
          </a:p>
          <a:p>
            <a:pPr lvl="2"/>
            <a:r>
              <a:rPr lang="zh-CN" altLang="en-US" sz="2000" dirty="0"/>
              <a:t>获得一个当前字符串的</a:t>
            </a:r>
            <a:r>
              <a:rPr lang="zh-CN" altLang="en-US" sz="2000" b="1" dirty="0">
                <a:solidFill>
                  <a:srgbClr val="FF0000"/>
                </a:solidFill>
              </a:rPr>
              <a:t>子串</a:t>
            </a:r>
            <a:r>
              <a:rPr lang="zh-CN" altLang="en-US" sz="2000" dirty="0"/>
              <a:t>，该子串是从当前字符串的</a:t>
            </a:r>
            <a:r>
              <a:rPr lang="en-US" altLang="zh-CN" sz="2000" dirty="0" err="1"/>
              <a:t>startPoint</a:t>
            </a:r>
            <a:r>
              <a:rPr lang="zh-CN" altLang="en-US" sz="2000" dirty="0"/>
              <a:t>处截取到最后所得到的字符串。</a:t>
            </a:r>
          </a:p>
          <a:p>
            <a:pPr lvl="1"/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replaceAll</a:t>
            </a:r>
            <a:r>
              <a:rPr lang="en-US" altLang="zh-CN" sz="2000" dirty="0"/>
              <a:t>(String s1, String s2)</a:t>
            </a:r>
          </a:p>
          <a:p>
            <a:pPr lvl="2"/>
            <a:r>
              <a:rPr lang="zh-CN" altLang="en-US" sz="2000" dirty="0"/>
              <a:t>获得一个</a:t>
            </a:r>
            <a:r>
              <a:rPr lang="zh-CN" altLang="en-US" sz="2000" b="1" u="sng" dirty="0"/>
              <a:t>新的</a:t>
            </a:r>
            <a:r>
              <a:rPr lang="zh-CN" altLang="en-US" sz="2000" dirty="0"/>
              <a:t>字符串对象，该字符串对象是通过用参数</a:t>
            </a:r>
            <a:r>
              <a:rPr lang="en-US" altLang="zh-CN" sz="2000" b="1" dirty="0">
                <a:solidFill>
                  <a:srgbClr val="7030A0"/>
                </a:solidFill>
              </a:rPr>
              <a:t>s2</a:t>
            </a:r>
            <a:r>
              <a:rPr lang="zh-CN" altLang="en-US" sz="2000" b="1" dirty="0">
                <a:solidFill>
                  <a:srgbClr val="7030A0"/>
                </a:solidFill>
              </a:rPr>
              <a:t>指定的字符串</a:t>
            </a:r>
            <a:r>
              <a:rPr lang="zh-CN" altLang="en-US" sz="2000" b="1" dirty="0">
                <a:solidFill>
                  <a:srgbClr val="FF0000"/>
                </a:solidFill>
              </a:rPr>
              <a:t>替换</a:t>
            </a:r>
            <a:r>
              <a:rPr lang="zh-CN" altLang="en-US" sz="2000" dirty="0"/>
              <a:t>原字符串中</a:t>
            </a:r>
            <a:r>
              <a:rPr lang="zh-CN" altLang="en-US" sz="2000" b="1" dirty="0">
                <a:solidFill>
                  <a:srgbClr val="0000FF"/>
                </a:solidFill>
              </a:rPr>
              <a:t>由</a:t>
            </a:r>
            <a:r>
              <a:rPr lang="en-US" altLang="zh-CN" sz="2000" b="1" dirty="0">
                <a:solidFill>
                  <a:srgbClr val="0000FF"/>
                </a:solidFill>
              </a:rPr>
              <a:t>s1</a:t>
            </a:r>
            <a:r>
              <a:rPr lang="zh-CN" altLang="en-US" sz="2000" b="1" dirty="0">
                <a:solidFill>
                  <a:srgbClr val="0000FF"/>
                </a:solidFill>
              </a:rPr>
              <a:t>指定的所有字符串</a:t>
            </a:r>
            <a:r>
              <a:rPr lang="zh-CN" altLang="en-US" sz="2000" dirty="0"/>
              <a:t>而得到的字符串。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b="1" dirty="0">
                <a:solidFill>
                  <a:srgbClr val="FF0000"/>
                </a:solidFill>
              </a:rPr>
              <a:t>trim</a:t>
            </a:r>
            <a:r>
              <a:rPr lang="en-US" altLang="zh-CN" sz="2000" dirty="0"/>
              <a:t>()</a:t>
            </a:r>
          </a:p>
          <a:p>
            <a:pPr lvl="2"/>
            <a:r>
              <a:rPr lang="zh-CN" altLang="en-US" sz="2000" dirty="0"/>
              <a:t>获得一个</a:t>
            </a:r>
            <a:r>
              <a:rPr lang="zh-CN" altLang="en-US" sz="2000" b="1" u="sng" dirty="0"/>
              <a:t>新的</a:t>
            </a:r>
            <a:r>
              <a:rPr lang="zh-CN" altLang="en-US" sz="2000" dirty="0"/>
              <a:t>字符串对象，该字符串对象是</a:t>
            </a:r>
            <a:r>
              <a:rPr lang="zh-CN" altLang="en-US" sz="2000" b="1" dirty="0">
                <a:solidFill>
                  <a:srgbClr val="FF0000"/>
                </a:solidFill>
              </a:rPr>
              <a:t>去掉</a:t>
            </a:r>
            <a:r>
              <a:rPr lang="zh-CN" altLang="en-US" sz="2000" b="1" u="sng" dirty="0">
                <a:solidFill>
                  <a:srgbClr val="FF0000"/>
                </a:solidFill>
              </a:rPr>
              <a:t>前后</a:t>
            </a:r>
            <a:r>
              <a:rPr lang="zh-CN" altLang="en-US" sz="2000" b="1" dirty="0">
                <a:solidFill>
                  <a:srgbClr val="FF0000"/>
                </a:solidFill>
              </a:rPr>
              <a:t>空格</a:t>
            </a:r>
            <a:r>
              <a:rPr lang="zh-CN" altLang="en-US" sz="2000" dirty="0"/>
              <a:t>后的字符串。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5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4.</a:t>
            </a:r>
            <a:r>
              <a:rPr lang="zh-CN" altLang="en-US" sz="2000" dirty="0"/>
              <a:t>字符串与基本数据的相互转化</a:t>
            </a:r>
          </a:p>
          <a:p>
            <a:pPr lvl="1"/>
            <a:r>
              <a:rPr lang="en-US" altLang="zh-CN" sz="2000" dirty="0" err="1"/>
              <a:t>java.lang</a:t>
            </a:r>
            <a:r>
              <a:rPr lang="zh-CN" altLang="en-US" sz="2000" dirty="0"/>
              <a:t>包中的</a:t>
            </a:r>
            <a:r>
              <a:rPr lang="en-US" altLang="zh-CN" sz="2000" dirty="0"/>
              <a:t>Integer</a:t>
            </a:r>
            <a:r>
              <a:rPr lang="zh-CN" altLang="en-US" sz="2000" dirty="0"/>
              <a:t>类调用其</a:t>
            </a:r>
            <a:r>
              <a:rPr lang="zh-CN" altLang="en-US" sz="2000" dirty="0">
                <a:solidFill>
                  <a:srgbClr val="FF0000"/>
                </a:solidFill>
              </a:rPr>
              <a:t>静态方法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sz="2000" dirty="0"/>
              <a:t>	public static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parseInt</a:t>
            </a:r>
            <a:r>
              <a:rPr lang="en-US" altLang="zh-CN" sz="2000" dirty="0"/>
              <a:t>(String s)</a:t>
            </a:r>
          </a:p>
          <a:p>
            <a:pPr marL="457200" lvl="1" indent="0">
              <a:buNone/>
            </a:pPr>
            <a:r>
              <a:rPr lang="zh-CN" altLang="en-US" sz="2000" dirty="0"/>
              <a:t>可以将“数字”格式的字符串，如“</a:t>
            </a:r>
            <a:r>
              <a:rPr lang="en-US" altLang="zh-CN" sz="2000" dirty="0"/>
              <a:t>12387</a:t>
            </a:r>
            <a:r>
              <a:rPr lang="zh-CN" altLang="en-US" sz="2000" dirty="0"/>
              <a:t>”，转化为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型数据。</a:t>
            </a:r>
          </a:p>
          <a:p>
            <a:endParaRPr lang="en-US" altLang="zh-CN" sz="2000" dirty="0"/>
          </a:p>
          <a:p>
            <a:pPr lvl="1"/>
            <a:r>
              <a:rPr lang="zh-CN" altLang="en-US" sz="2000" dirty="0"/>
              <a:t>在</a:t>
            </a:r>
            <a:r>
              <a:rPr lang="en-US" altLang="zh-CN" sz="2000" dirty="0"/>
              <a:t>Byte</a:t>
            </a:r>
            <a:r>
              <a:rPr lang="zh-CN" altLang="en-US" sz="2000" dirty="0"/>
              <a:t>、</a:t>
            </a:r>
            <a:r>
              <a:rPr lang="en-US" altLang="zh-CN" sz="2000" dirty="0"/>
              <a:t>Short</a:t>
            </a:r>
            <a:r>
              <a:rPr lang="zh-CN" altLang="en-US" sz="2000" dirty="0"/>
              <a:t>、</a:t>
            </a:r>
            <a:r>
              <a:rPr lang="en-US" altLang="zh-CN" sz="2000" dirty="0"/>
              <a:t>Long</a:t>
            </a:r>
            <a:r>
              <a:rPr lang="zh-CN" altLang="en-US" sz="2000" dirty="0"/>
              <a:t>、</a:t>
            </a:r>
            <a:r>
              <a:rPr lang="en-US" altLang="zh-CN" sz="2000" dirty="0"/>
              <a:t>Float</a:t>
            </a:r>
            <a:r>
              <a:rPr lang="zh-CN" altLang="en-US" sz="2000" dirty="0"/>
              <a:t>和</a:t>
            </a:r>
            <a:r>
              <a:rPr lang="en-US" altLang="zh-CN" sz="2000" dirty="0"/>
              <a:t>Double</a:t>
            </a:r>
            <a:r>
              <a:rPr lang="zh-CN" altLang="en-US" sz="2000" dirty="0"/>
              <a:t>类中也有类似的静态方法：</a:t>
            </a:r>
            <a:endParaRPr lang="en-US" altLang="zh-CN" sz="2000" dirty="0"/>
          </a:p>
          <a:p>
            <a:pPr marL="857250" lvl="2" indent="0">
              <a:buNone/>
            </a:pPr>
            <a:r>
              <a:rPr lang="en-US" altLang="zh-CN" sz="2000" dirty="0"/>
              <a:t>public static byte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parseByte</a:t>
            </a:r>
            <a:r>
              <a:rPr lang="en-US" altLang="zh-CN" sz="2000" dirty="0"/>
              <a:t>(String s)</a:t>
            </a:r>
          </a:p>
          <a:p>
            <a:pPr marL="857250" lvl="2" indent="0">
              <a:buNone/>
            </a:pPr>
            <a:r>
              <a:rPr lang="en-US" altLang="zh-CN" sz="2000" dirty="0"/>
              <a:t>public static short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parseShort</a:t>
            </a:r>
            <a:r>
              <a:rPr lang="en-US" altLang="zh-CN" sz="2000" dirty="0"/>
              <a:t>(String s)</a:t>
            </a:r>
          </a:p>
          <a:p>
            <a:pPr marL="857250" lvl="2" indent="0">
              <a:buNone/>
            </a:pPr>
            <a:r>
              <a:rPr lang="en-US" altLang="zh-CN" sz="2000" dirty="0"/>
              <a:t>public static long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parseLong</a:t>
            </a:r>
            <a:r>
              <a:rPr lang="en-US" altLang="zh-CN" sz="2000" dirty="0"/>
              <a:t>(String s)</a:t>
            </a:r>
          </a:p>
          <a:p>
            <a:pPr marL="857250" lvl="2" indent="0">
              <a:buNone/>
            </a:pPr>
            <a:r>
              <a:rPr lang="en-US" altLang="zh-CN" sz="2000" dirty="0"/>
              <a:t>public static double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parseFloat</a:t>
            </a:r>
            <a:r>
              <a:rPr lang="en-US" altLang="zh-CN" sz="2000" dirty="0"/>
              <a:t>(String s)</a:t>
            </a:r>
          </a:p>
          <a:p>
            <a:pPr marL="857250" lvl="2" indent="0">
              <a:buNone/>
            </a:pPr>
            <a:r>
              <a:rPr lang="en-US" altLang="zh-CN" sz="2000" dirty="0"/>
              <a:t>public static double </a:t>
            </a:r>
            <a:r>
              <a:rPr lang="en-US" altLang="zh-CN" sz="2000" b="1" dirty="0" err="1">
                <a:solidFill>
                  <a:srgbClr val="FF0000"/>
                </a:solidFill>
              </a:rPr>
              <a:t>parseDouble</a:t>
            </a:r>
            <a:r>
              <a:rPr lang="en-US" altLang="zh-CN" sz="2000" dirty="0"/>
              <a:t>(String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7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2000" dirty="0"/>
              <a:t>我们也可以将数字转化为字符串，可以使用</a:t>
            </a:r>
            <a:r>
              <a:rPr lang="en-US" altLang="zh-CN" sz="2000" dirty="0"/>
              <a:t>String</a:t>
            </a:r>
            <a:r>
              <a:rPr lang="zh-CN" altLang="en-US" sz="2000" dirty="0"/>
              <a:t>类的</a:t>
            </a:r>
            <a:r>
              <a:rPr lang="zh-CN" altLang="en-US" sz="2000" dirty="0">
                <a:solidFill>
                  <a:srgbClr val="FF0000"/>
                </a:solidFill>
              </a:rPr>
              <a:t>静态方法</a:t>
            </a:r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 dirty="0"/>
              <a:t>(byte b)</a:t>
            </a:r>
            <a:endParaRPr lang="zh-CN" altLang="en-US" sz="2000" dirty="0"/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/>
              <a:t>(short s)</a:t>
            </a:r>
            <a:endParaRPr lang="zh-CN" altLang="en-US" sz="2000" dirty="0"/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 dirty="0"/>
              <a:t>(long l)</a:t>
            </a:r>
            <a:endParaRPr lang="zh-CN" altLang="en-US" sz="2000" dirty="0"/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 dirty="0"/>
              <a:t>(float f)</a:t>
            </a:r>
            <a:endParaRPr lang="zh-CN" altLang="en-US" sz="2000" dirty="0"/>
          </a:p>
          <a:p>
            <a:pPr marL="857250" lvl="2" indent="0">
              <a:buNone/>
            </a:pPr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valueOf</a:t>
            </a:r>
            <a:r>
              <a:rPr lang="en-US" altLang="zh-CN" sz="2000" dirty="0"/>
              <a:t>(double d)</a:t>
            </a:r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6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51520" y="2276872"/>
            <a:ext cx="8666652" cy="280076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Example6_2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Double.parseDouble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"99.99"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Integer.toBinaryString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(64));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or </a:t>
            </a:r>
            <a:r>
              <a:rPr lang="en-US" altLang="zh-CN" sz="1600" i="1" dirty="0" err="1">
                <a:solidFill>
                  <a:srgbClr val="3F7F5F"/>
                </a:solidFill>
                <a:latin typeface="Consolas" panose="020B0609020204030204" pitchFamily="49" charset="0"/>
              </a:rPr>
              <a:t>toString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(64,2)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Integer.toOctalString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(64));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or </a:t>
            </a:r>
            <a:r>
              <a:rPr lang="en-US" altLang="zh-CN" sz="1600" i="1" dirty="0" err="1">
                <a:solidFill>
                  <a:srgbClr val="3F7F5F"/>
                </a:solidFill>
                <a:latin typeface="Consolas" panose="020B0609020204030204" pitchFamily="49" charset="0"/>
              </a:rPr>
              <a:t>toString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(64,8)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Integer.toHexString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(64)); 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// or </a:t>
            </a:r>
            <a:r>
              <a:rPr lang="en-US" altLang="zh-CN" sz="1600" i="1" dirty="0" err="1">
                <a:solidFill>
                  <a:srgbClr val="3F7F5F"/>
                </a:solidFill>
                <a:latin typeface="Consolas" panose="020B0609020204030204" pitchFamily="49" charset="0"/>
              </a:rPr>
              <a:t>toString</a:t>
            </a:r>
            <a:r>
              <a:rPr lang="en-US" altLang="zh-CN" sz="1600" i="1" dirty="0">
                <a:solidFill>
                  <a:srgbClr val="3F7F5F"/>
                </a:solidFill>
                <a:latin typeface="Consolas" panose="020B0609020204030204" pitchFamily="49" charset="0"/>
              </a:rPr>
              <a:t>(64,16)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5204257"/>
            <a:ext cx="842764" cy="90296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88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5.</a:t>
            </a:r>
            <a:r>
              <a:rPr lang="zh-CN" altLang="en-US" sz="2000" dirty="0"/>
              <a:t>对象的字符串表示</a:t>
            </a:r>
          </a:p>
          <a:p>
            <a:r>
              <a:rPr lang="zh-CN" altLang="en-US" sz="2000" dirty="0"/>
              <a:t>所有的类都默认是</a:t>
            </a:r>
            <a:r>
              <a:rPr lang="en-US" altLang="zh-CN" sz="2000" dirty="0" err="1"/>
              <a:t>java.lang</a:t>
            </a:r>
            <a:r>
              <a:rPr lang="zh-CN" altLang="en-US" sz="2000" dirty="0"/>
              <a:t>包中</a:t>
            </a:r>
            <a:r>
              <a:rPr lang="en-US" altLang="zh-CN" sz="2000" dirty="0"/>
              <a:t>Object</a:t>
            </a:r>
            <a:r>
              <a:rPr lang="zh-CN" altLang="en-US" sz="2000" dirty="0"/>
              <a:t>类的子类或间接子类。</a:t>
            </a:r>
            <a:r>
              <a:rPr lang="en-US" altLang="zh-CN" sz="2000" dirty="0"/>
              <a:t>Object</a:t>
            </a:r>
            <a:r>
              <a:rPr lang="zh-CN" altLang="en-US" sz="2000" dirty="0"/>
              <a:t>类有一个</a:t>
            </a:r>
            <a:r>
              <a:rPr lang="en-US" altLang="zh-CN" sz="2000" dirty="0"/>
              <a:t>public</a:t>
            </a:r>
            <a:r>
              <a:rPr lang="zh-CN" altLang="en-US" sz="2000" dirty="0"/>
              <a:t>方法</a:t>
            </a:r>
            <a:r>
              <a:rPr lang="en-US" altLang="zh-CN" sz="2000" b="1" dirty="0" err="1">
                <a:solidFill>
                  <a:srgbClr val="FF0000"/>
                </a:solidFill>
              </a:rPr>
              <a:t>toString</a:t>
            </a:r>
            <a:r>
              <a:rPr lang="en-US" altLang="zh-CN" sz="2000" dirty="0"/>
              <a:t>()</a:t>
            </a:r>
            <a:r>
              <a:rPr lang="zh-CN" altLang="en-US" sz="2000" dirty="0"/>
              <a:t>，一个对象通过调用该方法可以获得</a:t>
            </a:r>
            <a:r>
              <a:rPr lang="zh-CN" altLang="en-US" sz="2000" b="1" dirty="0">
                <a:solidFill>
                  <a:srgbClr val="FF0000"/>
                </a:solidFill>
              </a:rPr>
              <a:t>该对象的字符串表示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00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5065887" y="2408689"/>
            <a:ext cx="3962292" cy="310854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altLang="zh-CN" sz="1400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score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Student(String name,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score)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name;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score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score;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score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3704252"/>
            <a:ext cx="4724508" cy="289310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java.util.Date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Example6_3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Date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Student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"Tom"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89);</a:t>
            </a:r>
          </a:p>
          <a:p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TV tv = </a:t>
            </a:r>
            <a:r>
              <a:rPr lang="nn-NO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nn-NO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TV(</a:t>
            </a:r>
            <a:r>
              <a:rPr lang="nn-NO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"Samsung"</a:t>
            </a:r>
            <a:r>
              <a:rPr lang="nn-NO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8776);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date.toString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stu.toString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tv.toString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5635364" y="129883"/>
            <a:ext cx="3383714" cy="224676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TV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altLang="zh-CN" sz="1400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price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TV(String name,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price)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name;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price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price;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5957989"/>
            <a:ext cx="2318034" cy="61662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7596336" y="4041904"/>
            <a:ext cx="504056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98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</a:t>
            </a:r>
            <a:r>
              <a:rPr lang="zh-CN" altLang="en-US" sz="2000" dirty="0"/>
              <a:t>字符串与字符数组、字节数组</a:t>
            </a:r>
          </a:p>
          <a:p>
            <a:r>
              <a:rPr lang="en-US" altLang="zh-CN" sz="2000" dirty="0"/>
              <a:t>(1)</a:t>
            </a:r>
            <a:r>
              <a:rPr lang="zh-CN" altLang="en-US" sz="2000" dirty="0"/>
              <a:t>字符串与字符数组</a:t>
            </a:r>
          </a:p>
          <a:p>
            <a:pPr lvl="1"/>
            <a:r>
              <a:rPr lang="en-US" altLang="zh-CN" sz="2000" dirty="0"/>
              <a:t>String</a:t>
            </a:r>
            <a:r>
              <a:rPr lang="zh-CN" altLang="en-US" sz="2000" dirty="0"/>
              <a:t>类提供了将字符串存放到数组中的方法</a:t>
            </a:r>
          </a:p>
          <a:p>
            <a:pPr marL="0" indent="0">
              <a:buNone/>
            </a:pPr>
            <a:r>
              <a:rPr lang="en-US" altLang="zh-CN" sz="2000" dirty="0"/>
              <a:t>	public void </a:t>
            </a:r>
            <a:r>
              <a:rPr lang="en-US" altLang="zh-CN" sz="2000" dirty="0" err="1"/>
              <a:t>getChars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start,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end, char c[],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offset )  </a:t>
            </a:r>
          </a:p>
          <a:p>
            <a:pPr marL="457200" lvl="1" indent="0">
              <a:buNone/>
            </a:pPr>
            <a:r>
              <a:rPr lang="zh-CN" altLang="en-US" sz="2000" dirty="0"/>
              <a:t>字符串调用该方法将当前字符串中的一部分字符</a:t>
            </a:r>
            <a:r>
              <a:rPr lang="zh-CN" altLang="en-US" sz="2000" b="1" dirty="0">
                <a:solidFill>
                  <a:srgbClr val="FF0000"/>
                </a:solidFill>
              </a:rPr>
              <a:t>复制</a:t>
            </a:r>
            <a:r>
              <a:rPr lang="zh-CN" altLang="en-US" sz="2000" dirty="0"/>
              <a:t>到参数</a:t>
            </a:r>
            <a:r>
              <a:rPr lang="en-US" altLang="zh-CN" sz="2000" dirty="0"/>
              <a:t>c</a:t>
            </a:r>
            <a:r>
              <a:rPr lang="zh-CN" altLang="en-US" sz="2000" dirty="0"/>
              <a:t>指定的数组中，将字符串中</a:t>
            </a:r>
            <a:r>
              <a:rPr lang="zh-CN" altLang="en-US" sz="2000" b="1" dirty="0">
                <a:solidFill>
                  <a:srgbClr val="FF0000"/>
                </a:solidFill>
              </a:rPr>
              <a:t>从位置</a:t>
            </a:r>
            <a:r>
              <a:rPr lang="en-US" altLang="zh-CN" sz="2000" b="1" dirty="0">
                <a:solidFill>
                  <a:srgbClr val="FF0000"/>
                </a:solidFill>
              </a:rPr>
              <a:t>start</a:t>
            </a:r>
            <a:r>
              <a:rPr lang="zh-CN" altLang="en-US" sz="2000" b="1" dirty="0">
                <a:solidFill>
                  <a:srgbClr val="FF0000"/>
                </a:solidFill>
              </a:rPr>
              <a:t>到</a:t>
            </a:r>
            <a:r>
              <a:rPr lang="en-US" altLang="zh-CN" sz="2000" b="1" dirty="0">
                <a:solidFill>
                  <a:srgbClr val="FF0000"/>
                </a:solidFill>
              </a:rPr>
              <a:t>end-1</a:t>
            </a:r>
            <a:r>
              <a:rPr lang="zh-CN" altLang="en-US" sz="2000" b="1" dirty="0">
                <a:solidFill>
                  <a:srgbClr val="FF0000"/>
                </a:solidFill>
              </a:rPr>
              <a:t>位置上的字符</a:t>
            </a:r>
            <a:r>
              <a:rPr lang="zh-CN" altLang="en-US" sz="2000" dirty="0"/>
              <a:t>复制到数组</a:t>
            </a:r>
            <a:r>
              <a:rPr lang="en-US" altLang="zh-CN" sz="2000" dirty="0"/>
              <a:t>c</a:t>
            </a:r>
            <a:r>
              <a:rPr lang="zh-CN" altLang="en-US" sz="2000" dirty="0"/>
              <a:t>中，并从数组</a:t>
            </a:r>
            <a:r>
              <a:rPr lang="en-US" altLang="zh-CN" sz="2000" dirty="0"/>
              <a:t>c</a:t>
            </a:r>
            <a:r>
              <a:rPr lang="zh-CN" altLang="en-US" sz="2000" dirty="0"/>
              <a:t>的</a:t>
            </a:r>
            <a:r>
              <a:rPr lang="en-US" altLang="zh-CN" sz="2000" dirty="0"/>
              <a:t>offset</a:t>
            </a:r>
            <a:r>
              <a:rPr lang="zh-CN" altLang="en-US" sz="2000" dirty="0"/>
              <a:t>处开始存放这些字符。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需要注意的是，必须保证数组</a:t>
            </a:r>
            <a:r>
              <a:rPr lang="en-US" altLang="zh-CN" sz="2000" dirty="0"/>
              <a:t>c</a:t>
            </a:r>
            <a:r>
              <a:rPr lang="zh-CN" altLang="en-US" sz="2000" dirty="0"/>
              <a:t>能容纳要被复制的字符。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lvl="1"/>
            <a:r>
              <a:rPr lang="en-US" altLang="zh-CN" sz="2000" dirty="0"/>
              <a:t>public char[] </a:t>
            </a:r>
            <a:r>
              <a:rPr lang="en-US" altLang="zh-CN" sz="2000" dirty="0" err="1"/>
              <a:t>toCharArray</a:t>
            </a:r>
            <a:r>
              <a:rPr lang="en-US" altLang="zh-CN" sz="2000" dirty="0"/>
              <a:t>() </a:t>
            </a:r>
          </a:p>
          <a:p>
            <a:pPr marL="457200" lvl="1" indent="0">
              <a:buNone/>
            </a:pPr>
            <a:r>
              <a:rPr lang="zh-CN" altLang="en-US" sz="2000" dirty="0"/>
              <a:t>字符串对象调用该方法可以初始化一个字符数组，该数组的长度与字符串的长度相等，并</a:t>
            </a:r>
            <a:r>
              <a:rPr lang="zh-CN" altLang="en-US" sz="2000" b="1" dirty="0">
                <a:solidFill>
                  <a:srgbClr val="FF0000"/>
                </a:solidFill>
              </a:rPr>
              <a:t>将字符串对象的全部字符复制到该数组中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907704" y="1268760"/>
            <a:ext cx="4896544" cy="526297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Example6_4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Scanner reader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altLang="zh-CN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reader.nextLine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a[] =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s.toCharArray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(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)(a[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]^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secret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String(a);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(secret);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=0;i&lt;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;i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]=(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)(a[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]^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code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String(a);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(code);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20272" y="5802196"/>
            <a:ext cx="952872" cy="72954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292080" y="5229200"/>
            <a:ext cx="504056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5508104" y="2780928"/>
            <a:ext cx="504056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653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6.1 String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(2)</a:t>
            </a:r>
            <a:r>
              <a:rPr lang="zh-CN" altLang="en-US" sz="2000" dirty="0"/>
              <a:t>字符串与字节数组</a:t>
            </a:r>
          </a:p>
          <a:p>
            <a:pPr lvl="1"/>
            <a:r>
              <a:rPr lang="en-US" altLang="zh-CN" sz="2000" dirty="0"/>
              <a:t>String(byte[])</a:t>
            </a:r>
            <a:r>
              <a:rPr lang="zh-CN" altLang="en-US" sz="2000" dirty="0"/>
              <a:t>：用指定的字节数组构造一个字符串对象。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String(byte[],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offset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length</a:t>
            </a:r>
            <a:r>
              <a:rPr lang="en-US" altLang="zh-CN" sz="2000" dirty="0"/>
              <a:t>)</a:t>
            </a:r>
            <a:r>
              <a:rPr lang="zh-CN" altLang="en-US" sz="2000" dirty="0"/>
              <a:t>：用指定的字节数组的一部分，即从数组起始位置</a:t>
            </a:r>
            <a:r>
              <a:rPr lang="en-US" altLang="zh-CN" sz="2000" dirty="0"/>
              <a:t>offset</a:t>
            </a:r>
            <a:r>
              <a:rPr lang="zh-CN" altLang="en-US" sz="2000" dirty="0"/>
              <a:t>开始取</a:t>
            </a:r>
            <a:r>
              <a:rPr lang="en-US" altLang="zh-CN" sz="2000" dirty="0"/>
              <a:t>length</a:t>
            </a:r>
            <a:r>
              <a:rPr lang="zh-CN" altLang="en-US" sz="2000" dirty="0"/>
              <a:t>个字节构造一个字符串对象。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byte[] </a:t>
            </a:r>
            <a:r>
              <a:rPr lang="en-US" altLang="zh-CN" sz="2000" dirty="0" err="1"/>
              <a:t>getBytes</a:t>
            </a:r>
            <a:r>
              <a:rPr lang="en-US" altLang="zh-CN" sz="2000" dirty="0"/>
              <a:t>()</a:t>
            </a:r>
            <a:r>
              <a:rPr lang="zh-CN" altLang="en-US" sz="2000" dirty="0"/>
              <a:t>：使用平台默认的字符编码，将当前字符串转化为一个字节数组。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7601A8-2121-3F72-B0C7-053461FFB79A}"/>
              </a:ext>
            </a:extLst>
          </p:cNvPr>
          <p:cNvSpPr/>
          <p:nvPr/>
        </p:nvSpPr>
        <p:spPr>
          <a:xfrm>
            <a:off x="971600" y="4581128"/>
            <a:ext cx="5228009" cy="224676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Example6_5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d[] = 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ShenzhenUniversity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getBytes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d.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String(d,8,10);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6E3A80-41ED-7E6D-3129-1180BAB30A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11379" y="6308725"/>
            <a:ext cx="1005260" cy="49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410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6.2 </a:t>
            </a:r>
            <a:r>
              <a:rPr lang="en-US" altLang="zh-CN" sz="2000" dirty="0" err="1">
                <a:solidFill>
                  <a:srgbClr val="FF0000"/>
                </a:solidFill>
              </a:rPr>
              <a:t>StringBuffer</a:t>
            </a:r>
            <a:r>
              <a:rPr lang="zh-CN" altLang="en-US" sz="2000" dirty="0">
                <a:solidFill>
                  <a:srgbClr val="FF0000"/>
                </a:solidFill>
              </a:rPr>
              <a:t>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6.6 </a:t>
            </a:r>
            <a:r>
              <a:rPr lang="zh-CN" altLang="en-US" sz="2000" dirty="0"/>
              <a:t>模式匹配	</a:t>
            </a:r>
            <a:endParaRPr lang="en-US" altLang="zh-CN" sz="2000" dirty="0"/>
          </a:p>
          <a:p>
            <a:r>
              <a:rPr lang="en-US" altLang="zh-CN" sz="2000" dirty="0"/>
              <a:t>6.4 </a:t>
            </a:r>
            <a:r>
              <a:rPr lang="zh-CN" altLang="en-US" sz="2000" dirty="0"/>
              <a:t>正则表达式及字符串的替换与分解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57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String</a:t>
            </a:r>
            <a:r>
              <a:rPr lang="zh-CN" altLang="en-US" sz="2000" dirty="0"/>
              <a:t>类创建的字符串对象是</a:t>
            </a:r>
            <a:r>
              <a:rPr lang="zh-CN" altLang="en-US" sz="2000" b="1" dirty="0">
                <a:solidFill>
                  <a:srgbClr val="FF0000"/>
                </a:solidFill>
              </a:rPr>
              <a:t>不可修改</a:t>
            </a:r>
            <a:r>
              <a:rPr lang="zh-CN" altLang="en-US" sz="2000" dirty="0"/>
              <a:t>的（不能修改、删除或替换字符串中的某个字符），即</a:t>
            </a:r>
            <a:r>
              <a:rPr lang="en-US" altLang="zh-CN" sz="2000" dirty="0"/>
              <a:t>String</a:t>
            </a:r>
            <a:r>
              <a:rPr lang="zh-CN" altLang="en-US" sz="2000" dirty="0"/>
              <a:t>对象一旦创建，那么</a:t>
            </a:r>
            <a:r>
              <a:rPr lang="zh-CN" altLang="en-US" sz="2000" b="1" dirty="0">
                <a:solidFill>
                  <a:srgbClr val="FF0000"/>
                </a:solidFill>
              </a:rPr>
              <a:t>实体</a:t>
            </a:r>
            <a:r>
              <a:rPr lang="zh-CN" altLang="en-US" sz="2000" dirty="0"/>
              <a:t>是</a:t>
            </a:r>
            <a:r>
              <a:rPr lang="zh-CN" altLang="en-US" sz="2000" b="1" u="sng" dirty="0"/>
              <a:t>不可以再发生变化</a:t>
            </a:r>
            <a:r>
              <a:rPr lang="zh-CN" altLang="en-US" sz="2000" dirty="0"/>
              <a:t>的。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StringBuffer</a:t>
            </a:r>
            <a:r>
              <a:rPr lang="zh-CN" altLang="en-US" sz="2000" dirty="0"/>
              <a:t>类：能创建</a:t>
            </a:r>
            <a:r>
              <a:rPr lang="zh-CN" altLang="en-US" sz="2000" b="1" dirty="0">
                <a:solidFill>
                  <a:srgbClr val="0000FF"/>
                </a:solidFill>
              </a:rPr>
              <a:t>可修改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字符串序列</a:t>
            </a:r>
            <a:r>
              <a:rPr lang="zh-CN" altLang="en-US" sz="2000" dirty="0"/>
              <a:t>，也就是说，该类的对象的实体的内存空间可以自动改变大小，便于存放一个</a:t>
            </a:r>
            <a:r>
              <a:rPr lang="zh-CN" altLang="en-US" sz="2000" b="1" dirty="0">
                <a:solidFill>
                  <a:srgbClr val="FF0000"/>
                </a:solidFill>
              </a:rPr>
              <a:t>可变的字符串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1.StringBuffer</a:t>
            </a:r>
            <a:r>
              <a:rPr lang="zh-CN" altLang="en-US" sz="2000" dirty="0"/>
              <a:t>类的构造方法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StringBuffer</a:t>
            </a:r>
            <a:r>
              <a:rPr lang="zh-CN" altLang="en-US" sz="2000" dirty="0"/>
              <a:t>类的构造方法</a:t>
            </a:r>
          </a:p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()</a:t>
            </a:r>
            <a:r>
              <a:rPr lang="zh-CN" altLang="en-US" sz="2000" dirty="0"/>
              <a:t>：分配给该对象的实体的</a:t>
            </a:r>
            <a:r>
              <a:rPr lang="zh-CN" altLang="en-US" sz="2000" b="1" dirty="0">
                <a:solidFill>
                  <a:srgbClr val="0000FF"/>
                </a:solidFill>
              </a:rPr>
              <a:t>初始容量（</a:t>
            </a:r>
            <a:r>
              <a:rPr lang="en-US" altLang="zh-CN" sz="2000" b="1" dirty="0">
                <a:solidFill>
                  <a:srgbClr val="0000FF"/>
                </a:solidFill>
              </a:rPr>
              <a:t>capacity</a:t>
            </a:r>
            <a:r>
              <a:rPr lang="zh-CN" altLang="en-US" sz="2000" b="1" dirty="0">
                <a:solidFill>
                  <a:srgbClr val="0000FF"/>
                </a:solidFill>
              </a:rPr>
              <a:t>）</a:t>
            </a:r>
            <a:r>
              <a:rPr lang="zh-CN" altLang="en-US" sz="2000" dirty="0"/>
              <a:t>可以容纳</a:t>
            </a:r>
            <a:r>
              <a:rPr lang="en-US" altLang="zh-CN" sz="2000" b="1" dirty="0">
                <a:solidFill>
                  <a:srgbClr val="FF0000"/>
                </a:solidFill>
              </a:rPr>
              <a:t>16</a:t>
            </a:r>
            <a:r>
              <a:rPr lang="zh-CN" altLang="en-US" sz="2000" b="1" dirty="0">
                <a:solidFill>
                  <a:srgbClr val="FF0000"/>
                </a:solidFill>
              </a:rPr>
              <a:t>个字符</a:t>
            </a:r>
            <a:r>
              <a:rPr lang="zh-CN" altLang="en-US" sz="2000" dirty="0"/>
              <a:t>，当该对象的实体存放的字符序列的长度大于</a:t>
            </a:r>
            <a:r>
              <a:rPr lang="en-US" altLang="zh-CN" sz="2000" dirty="0"/>
              <a:t>16</a:t>
            </a:r>
            <a:r>
              <a:rPr lang="zh-CN" altLang="en-US" sz="2000" dirty="0"/>
              <a:t>时，实体的容量自动增加，以便存放所增加的字符。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size)</a:t>
            </a:r>
            <a:r>
              <a:rPr lang="zh-CN" altLang="en-US" sz="2000" dirty="0"/>
              <a:t>：指定分配给该对象的实体的</a:t>
            </a:r>
            <a:r>
              <a:rPr lang="zh-CN" altLang="en-US" sz="2000" b="1" dirty="0">
                <a:solidFill>
                  <a:srgbClr val="0000FF"/>
                </a:solidFill>
              </a:rPr>
              <a:t>初始容量</a:t>
            </a:r>
            <a:r>
              <a:rPr lang="zh-CN" altLang="en-US" sz="2000" dirty="0"/>
              <a:t>为</a:t>
            </a:r>
            <a:r>
              <a:rPr lang="zh-CN" altLang="en-US" sz="2000" b="1" dirty="0">
                <a:solidFill>
                  <a:srgbClr val="FF0000"/>
                </a:solidFill>
              </a:rPr>
              <a:t>参数</a:t>
            </a:r>
            <a:r>
              <a:rPr lang="en-US" altLang="zh-CN" sz="2000" b="1" dirty="0">
                <a:solidFill>
                  <a:srgbClr val="FF0000"/>
                </a:solidFill>
              </a:rPr>
              <a:t>size</a:t>
            </a:r>
            <a:r>
              <a:rPr lang="zh-CN" altLang="en-US" sz="2000" b="1" dirty="0">
                <a:solidFill>
                  <a:srgbClr val="FF0000"/>
                </a:solidFill>
              </a:rPr>
              <a:t>指定的字符个数</a:t>
            </a:r>
            <a:r>
              <a:rPr lang="zh-CN" altLang="en-US" sz="2000" dirty="0"/>
              <a:t>，当该对象的实体存放的字符序列的长度大于</a:t>
            </a:r>
            <a:r>
              <a:rPr lang="en-US" altLang="zh-CN" sz="2000" dirty="0"/>
              <a:t>size</a:t>
            </a:r>
            <a:r>
              <a:rPr lang="zh-CN" altLang="en-US" sz="2000" dirty="0"/>
              <a:t>个字符时，实体的容量自动增加，以便存放所增加的字符。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(String s)</a:t>
            </a:r>
            <a:r>
              <a:rPr lang="zh-CN" altLang="en-US" sz="2000" dirty="0"/>
              <a:t>：指定分配给该对象的实体的</a:t>
            </a:r>
            <a:r>
              <a:rPr lang="zh-CN" altLang="en-US" sz="2000" b="1" dirty="0">
                <a:solidFill>
                  <a:srgbClr val="0000FF"/>
                </a:solidFill>
              </a:rPr>
              <a:t>初始容量</a:t>
            </a:r>
            <a:r>
              <a:rPr lang="zh-CN" altLang="en-US" sz="2000" dirty="0"/>
              <a:t>为</a:t>
            </a:r>
            <a:r>
              <a:rPr lang="zh-CN" altLang="en-US" sz="2000" b="1" dirty="0">
                <a:solidFill>
                  <a:srgbClr val="FF0000"/>
                </a:solidFill>
              </a:rPr>
              <a:t>参数字符串</a:t>
            </a:r>
            <a:r>
              <a:rPr lang="en-US" altLang="zh-CN" sz="2000" b="1" dirty="0">
                <a:solidFill>
                  <a:srgbClr val="FF0000"/>
                </a:solidFill>
              </a:rPr>
              <a:t>s</a:t>
            </a:r>
            <a:r>
              <a:rPr lang="zh-CN" altLang="en-US" sz="2000" b="1" dirty="0">
                <a:solidFill>
                  <a:srgbClr val="FF0000"/>
                </a:solidFill>
              </a:rPr>
              <a:t>的长度额外再加</a:t>
            </a:r>
            <a:r>
              <a:rPr lang="en-US" altLang="zh-CN" sz="2000" b="1" dirty="0">
                <a:solidFill>
                  <a:srgbClr val="FF0000"/>
                </a:solidFill>
              </a:rPr>
              <a:t>16</a:t>
            </a:r>
            <a:r>
              <a:rPr lang="zh-CN" altLang="en-US" sz="2000" b="1" dirty="0">
                <a:solidFill>
                  <a:srgbClr val="FF0000"/>
                </a:solidFill>
              </a:rPr>
              <a:t>个字符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24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/>
              <a:t>StringBuffer</a:t>
            </a:r>
            <a:r>
              <a:rPr lang="zh-CN" altLang="en-US" sz="2000" dirty="0"/>
              <a:t>对象可以通过</a:t>
            </a:r>
            <a:endParaRPr lang="en-US" altLang="zh-CN" sz="2000" dirty="0"/>
          </a:p>
          <a:p>
            <a:pPr lvl="1"/>
            <a:r>
              <a:rPr lang="en-US" altLang="zh-CN" sz="2000" dirty="0"/>
              <a:t>length()</a:t>
            </a:r>
            <a:r>
              <a:rPr lang="zh-CN" altLang="en-US" sz="2000" dirty="0"/>
              <a:t>方法获取实体中存放的字符序列的</a:t>
            </a:r>
            <a:r>
              <a:rPr lang="zh-CN" altLang="en-US" sz="2000" b="1" dirty="0">
                <a:solidFill>
                  <a:srgbClr val="FF0000"/>
                </a:solidFill>
              </a:rPr>
              <a:t>长度</a:t>
            </a:r>
            <a:r>
              <a:rPr lang="zh-CN" altLang="en-US" sz="2000" dirty="0"/>
              <a:t>（</a:t>
            </a:r>
            <a:r>
              <a:rPr lang="en-US" altLang="zh-CN" sz="2000" dirty="0"/>
              <a:t>length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en-US" altLang="zh-CN" sz="2000" dirty="0"/>
              <a:t>capacity()</a:t>
            </a:r>
            <a:r>
              <a:rPr lang="zh-CN" altLang="en-US" sz="2000" dirty="0"/>
              <a:t>方法获取当前实体的实际</a:t>
            </a:r>
            <a:r>
              <a:rPr lang="zh-CN" altLang="en-US" sz="2000" b="1" dirty="0">
                <a:solidFill>
                  <a:srgbClr val="FF0000"/>
                </a:solidFill>
              </a:rPr>
              <a:t>容量</a:t>
            </a:r>
            <a:r>
              <a:rPr lang="zh-CN" altLang="en-US" sz="2000" dirty="0"/>
              <a:t>（</a:t>
            </a:r>
            <a:r>
              <a:rPr lang="en-US" altLang="zh-CN" sz="2000" dirty="0"/>
              <a:t>capacity</a:t>
            </a:r>
            <a:r>
              <a:rPr lang="zh-CN" altLang="en-US" sz="2000" dirty="0"/>
              <a:t>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9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2.StringBuffer</a:t>
            </a:r>
            <a:r>
              <a:rPr lang="zh-CN" altLang="en-US" sz="2000" dirty="0"/>
              <a:t>类的常用方法</a:t>
            </a:r>
          </a:p>
          <a:p>
            <a:pPr lvl="1"/>
            <a:r>
              <a:rPr lang="en-US" altLang="zh-CN" sz="2000" b="1" dirty="0">
                <a:solidFill>
                  <a:srgbClr val="FF0000"/>
                </a:solidFill>
              </a:rPr>
              <a:t>append</a:t>
            </a:r>
            <a:r>
              <a:rPr lang="zh-CN" altLang="en-US" sz="2000" dirty="0"/>
              <a:t>方法：可以将其它</a:t>
            </a:r>
            <a:r>
              <a:rPr lang="en-US" altLang="zh-CN" sz="2000" dirty="0"/>
              <a:t>Java</a:t>
            </a:r>
            <a:r>
              <a:rPr lang="zh-CN" altLang="en-US" sz="2000" dirty="0"/>
              <a:t>类型数据转化为字符串后，再追加到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对象中。</a:t>
            </a:r>
            <a:endParaRPr lang="en-US" altLang="zh-CN" sz="2000" dirty="0"/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dirty="0"/>
              <a:t>char </a:t>
            </a:r>
            <a:r>
              <a:rPr lang="en-US" altLang="zh-CN" sz="2000" b="1" dirty="0" err="1">
                <a:solidFill>
                  <a:srgbClr val="FF0000"/>
                </a:solidFill>
              </a:rPr>
              <a:t>charAt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index)</a:t>
            </a:r>
            <a:r>
              <a:rPr lang="zh-CN" altLang="en-US" sz="2000" dirty="0"/>
              <a:t>：得到参数</a:t>
            </a:r>
            <a:r>
              <a:rPr lang="en-US" altLang="zh-CN" sz="2000" dirty="0"/>
              <a:t>index</a:t>
            </a:r>
            <a:r>
              <a:rPr lang="zh-CN" altLang="en-US" sz="2000" dirty="0"/>
              <a:t>指定的位置上的单个字符。当前对象实体中的字符串序列的第一个位置为</a:t>
            </a:r>
            <a:r>
              <a:rPr lang="en-US" altLang="zh-CN" sz="2000" dirty="0"/>
              <a:t>0</a:t>
            </a:r>
            <a:r>
              <a:rPr lang="zh-CN" altLang="en-US" sz="2000" dirty="0"/>
              <a:t>，第二个位置为</a:t>
            </a:r>
            <a:r>
              <a:rPr lang="en-US" altLang="zh-CN" sz="2000" dirty="0"/>
              <a:t>1</a:t>
            </a:r>
            <a:r>
              <a:rPr lang="zh-CN" altLang="en-US" sz="2000" dirty="0"/>
              <a:t>，依次类推。</a:t>
            </a:r>
            <a:r>
              <a:rPr lang="en-US" altLang="zh-CN" sz="2000" dirty="0"/>
              <a:t>index</a:t>
            </a:r>
            <a:r>
              <a:rPr lang="zh-CN" altLang="en-US" sz="2000" dirty="0"/>
              <a:t>的值必须是非负的，并且小于当前对象实体中字符串序列的长度。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void </a:t>
            </a:r>
            <a:r>
              <a:rPr lang="en-US" altLang="zh-CN" sz="2000" b="1" dirty="0" err="1">
                <a:solidFill>
                  <a:srgbClr val="FF0000"/>
                </a:solidFill>
              </a:rPr>
              <a:t>setCharAt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index, char </a:t>
            </a:r>
            <a:r>
              <a:rPr lang="en-US" altLang="zh-CN" sz="2000" dirty="0" err="1"/>
              <a:t>ch</a:t>
            </a:r>
            <a:r>
              <a:rPr lang="en-US" altLang="zh-CN" sz="2000" dirty="0"/>
              <a:t>)</a:t>
            </a:r>
            <a:r>
              <a:rPr lang="zh-CN" altLang="en-US" sz="2000" dirty="0"/>
              <a:t>：将当前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对象实体中的字符串位置</a:t>
            </a:r>
            <a:r>
              <a:rPr lang="en-US" altLang="zh-CN" sz="2000" dirty="0"/>
              <a:t>index</a:t>
            </a:r>
            <a:r>
              <a:rPr lang="zh-CN" altLang="en-US" sz="2000" dirty="0"/>
              <a:t>处的字符用参数</a:t>
            </a:r>
            <a:r>
              <a:rPr lang="en-US" altLang="zh-CN" sz="2000" dirty="0" err="1"/>
              <a:t>ch</a:t>
            </a:r>
            <a:r>
              <a:rPr lang="zh-CN" altLang="en-US" sz="2000" dirty="0"/>
              <a:t>指定的字符</a:t>
            </a:r>
            <a:r>
              <a:rPr lang="zh-CN" altLang="en-US" sz="2000" b="1" dirty="0">
                <a:solidFill>
                  <a:srgbClr val="FF0000"/>
                </a:solidFill>
              </a:rPr>
              <a:t>替换</a:t>
            </a:r>
            <a:r>
              <a:rPr lang="zh-CN" altLang="en-US" sz="2000" dirty="0"/>
              <a:t>。</a:t>
            </a:r>
            <a:r>
              <a:rPr lang="en-US" altLang="zh-CN" sz="2000" dirty="0"/>
              <a:t>index</a:t>
            </a:r>
            <a:r>
              <a:rPr lang="zh-CN" altLang="en-US" sz="2000" dirty="0"/>
              <a:t>的值必须是非负的，并且小于当前对象实体中字符串序列的长度。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6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insert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index, String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  <a:r>
              <a:rPr lang="zh-CN" altLang="en-US" sz="2000" dirty="0"/>
              <a:t>：将一个字符串</a:t>
            </a:r>
            <a:r>
              <a:rPr lang="zh-CN" altLang="en-US" sz="2000" b="1" dirty="0">
                <a:solidFill>
                  <a:srgbClr val="FF0000"/>
                </a:solidFill>
              </a:rPr>
              <a:t>插入</a:t>
            </a:r>
            <a:r>
              <a:rPr lang="zh-CN" altLang="en-US" sz="2000" dirty="0"/>
              <a:t>另一个字符串中，并返回</a:t>
            </a:r>
            <a:r>
              <a:rPr lang="zh-CN" altLang="en-US" sz="2000" b="1" u="sng" dirty="0"/>
              <a:t>当前</a:t>
            </a:r>
            <a:r>
              <a:rPr lang="zh-CN" altLang="en-US" sz="2000" dirty="0"/>
              <a:t>对象的引用。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StringBuffer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reverse</a:t>
            </a:r>
            <a:r>
              <a:rPr lang="en-US" altLang="zh-CN" sz="2000" dirty="0"/>
              <a:t>()</a:t>
            </a:r>
            <a:r>
              <a:rPr lang="zh-CN" altLang="en-US" sz="2000" dirty="0"/>
              <a:t>：将该对象实体中的字符串</a:t>
            </a:r>
            <a:r>
              <a:rPr lang="zh-CN" altLang="en-US" sz="2000" b="1" dirty="0">
                <a:solidFill>
                  <a:srgbClr val="FF0000"/>
                </a:solidFill>
              </a:rPr>
              <a:t>翻转</a:t>
            </a:r>
            <a:r>
              <a:rPr lang="zh-CN" altLang="en-US" sz="2000" dirty="0"/>
              <a:t>，并返回</a:t>
            </a:r>
            <a:r>
              <a:rPr lang="zh-CN" altLang="en-US" sz="2000" b="1" u="sng" dirty="0"/>
              <a:t>当前</a:t>
            </a:r>
            <a:r>
              <a:rPr lang="zh-CN" altLang="en-US" sz="2000" dirty="0"/>
              <a:t>对象的引用。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delete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startIndex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endIndex</a:t>
            </a:r>
            <a:r>
              <a:rPr lang="en-US" altLang="zh-CN" sz="2000" dirty="0"/>
              <a:t>)</a:t>
            </a:r>
            <a:r>
              <a:rPr lang="zh-CN" altLang="en-US" sz="2000" dirty="0"/>
              <a:t>：从当前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对象实体中的字符串中</a:t>
            </a:r>
            <a:r>
              <a:rPr lang="zh-CN" altLang="en-US" sz="2000" b="1" dirty="0">
                <a:solidFill>
                  <a:srgbClr val="FF0000"/>
                </a:solidFill>
              </a:rPr>
              <a:t>删除</a:t>
            </a:r>
            <a:r>
              <a:rPr lang="zh-CN" altLang="en-US" sz="2000" dirty="0"/>
              <a:t>一个子字符串，并返回</a:t>
            </a:r>
            <a:r>
              <a:rPr lang="zh-CN" altLang="en-US" sz="2000" b="1" u="sng" dirty="0"/>
              <a:t>当前</a:t>
            </a:r>
            <a:r>
              <a:rPr lang="zh-CN" altLang="en-US" sz="2000" dirty="0"/>
              <a:t>对象的引用。这里</a:t>
            </a:r>
            <a:r>
              <a:rPr lang="en-US" altLang="zh-CN" sz="2000" dirty="0" err="1"/>
              <a:t>startIndex</a:t>
            </a:r>
            <a:r>
              <a:rPr lang="zh-CN" altLang="en-US" sz="2000" dirty="0"/>
              <a:t>指定了需删除的第一个字符的下标，而</a:t>
            </a:r>
            <a:r>
              <a:rPr lang="en-US" altLang="zh-CN" sz="2000" dirty="0" err="1"/>
              <a:t>endIndex</a:t>
            </a:r>
            <a:r>
              <a:rPr lang="zh-CN" altLang="en-US" sz="2000" dirty="0"/>
              <a:t>指定了需删除的最后一个字符的前一个字符的下标。因此要删除的子字符串</a:t>
            </a:r>
            <a:r>
              <a:rPr lang="zh-CN" altLang="en-US" sz="2000" dirty="0">
                <a:solidFill>
                  <a:srgbClr val="0000FF"/>
                </a:solidFill>
              </a:rPr>
              <a:t>从</a:t>
            </a:r>
            <a:r>
              <a:rPr lang="en-US" altLang="zh-CN" sz="2000" dirty="0" err="1">
                <a:solidFill>
                  <a:srgbClr val="0000FF"/>
                </a:solidFill>
              </a:rPr>
              <a:t>startIndex</a:t>
            </a:r>
            <a:r>
              <a:rPr lang="zh-CN" altLang="en-US" sz="2000" dirty="0">
                <a:solidFill>
                  <a:srgbClr val="0000FF"/>
                </a:solidFill>
              </a:rPr>
              <a:t>到</a:t>
            </a:r>
            <a:r>
              <a:rPr lang="en-US" altLang="zh-CN" sz="2000" dirty="0">
                <a:solidFill>
                  <a:srgbClr val="0000FF"/>
                </a:solidFill>
              </a:rPr>
              <a:t>endIndex-1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34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 err="1"/>
              <a:t>StringBuffer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replace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startIndex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endIndex</a:t>
            </a:r>
            <a:r>
              <a:rPr lang="en-US" altLang="zh-CN" sz="2000" dirty="0"/>
              <a:t>, String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  <a:r>
              <a:rPr lang="zh-CN" altLang="en-US" sz="2000" dirty="0"/>
              <a:t>：将当前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对象实体中的字符串的一个子字符串用参数</a:t>
            </a:r>
            <a:r>
              <a:rPr lang="en-US" altLang="zh-CN" sz="2000" dirty="0" err="1"/>
              <a:t>str</a:t>
            </a:r>
            <a:r>
              <a:rPr lang="zh-CN" altLang="en-US" sz="2000" dirty="0"/>
              <a:t>指定的字符串</a:t>
            </a:r>
            <a:r>
              <a:rPr lang="zh-CN" altLang="en-US" sz="2000" b="1" dirty="0">
                <a:solidFill>
                  <a:srgbClr val="FF0000"/>
                </a:solidFill>
              </a:rPr>
              <a:t>替换</a:t>
            </a:r>
            <a:r>
              <a:rPr lang="zh-CN" altLang="en-US" sz="2000" dirty="0"/>
              <a:t>。被替换的子字符串由下标</a:t>
            </a:r>
            <a:r>
              <a:rPr lang="en-US" altLang="zh-CN" sz="2000" dirty="0" err="1"/>
              <a:t>startIndex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endIndex</a:t>
            </a:r>
            <a:r>
              <a:rPr lang="zh-CN" altLang="en-US" sz="2000" dirty="0"/>
              <a:t>指定，即</a:t>
            </a:r>
            <a:r>
              <a:rPr lang="zh-CN" altLang="en-US" sz="2000" dirty="0">
                <a:solidFill>
                  <a:srgbClr val="0000FF"/>
                </a:solidFill>
              </a:rPr>
              <a:t>从</a:t>
            </a:r>
            <a:r>
              <a:rPr lang="en-US" altLang="zh-CN" sz="2000" dirty="0" err="1">
                <a:solidFill>
                  <a:srgbClr val="0000FF"/>
                </a:solidFill>
              </a:rPr>
              <a:t>startIndex</a:t>
            </a:r>
            <a:r>
              <a:rPr lang="zh-CN" altLang="en-US" sz="2000" dirty="0">
                <a:solidFill>
                  <a:srgbClr val="0000FF"/>
                </a:solidFill>
              </a:rPr>
              <a:t>到</a:t>
            </a:r>
            <a:r>
              <a:rPr lang="en-US" altLang="zh-CN" sz="2000" dirty="0">
                <a:solidFill>
                  <a:srgbClr val="0000FF"/>
                </a:solidFill>
              </a:rPr>
              <a:t>endIndex-1</a:t>
            </a:r>
            <a:r>
              <a:rPr lang="zh-CN" altLang="en-US" sz="2000" dirty="0"/>
              <a:t>的字符串被替换。该方法返回</a:t>
            </a:r>
            <a:r>
              <a:rPr lang="zh-CN" altLang="en-US" sz="2000" b="1" u="sng" dirty="0"/>
              <a:t>当前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对象的引用。</a:t>
            </a: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74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000175" y="2060848"/>
            <a:ext cx="5948089" cy="353943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Example6_6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StringBuffer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StringBuffer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"0123456789"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str.setCharAt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(0,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str.setCharAt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(1,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'b'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str.insert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(2,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"**"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str.delete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(6,8);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81651" y="5013177"/>
            <a:ext cx="1069508" cy="55319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58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6.2 </a:t>
            </a:r>
            <a:r>
              <a:rPr lang="en-US" altLang="zh-CN" sz="3200" dirty="0" err="1"/>
              <a:t>StringBuffer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/>
              <a:t>StringBuffer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StringBuilder</a:t>
            </a:r>
            <a:endParaRPr lang="en-US" altLang="zh-CN" sz="2000" dirty="0"/>
          </a:p>
          <a:p>
            <a:pPr lvl="1"/>
            <a:r>
              <a:rPr lang="zh-CN" altLang="en-US" sz="2000" dirty="0"/>
              <a:t>功能几乎完全相同</a:t>
            </a:r>
            <a:endParaRPr lang="en-US" altLang="zh-CN" sz="2000" dirty="0"/>
          </a:p>
          <a:p>
            <a:pPr lvl="1"/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 err="1">
                <a:solidFill>
                  <a:srgbClr val="FF0000"/>
                </a:solidFill>
              </a:rPr>
              <a:t>StringBuffer</a:t>
            </a:r>
            <a:r>
              <a:rPr lang="zh-CN" altLang="en-US" sz="2000" dirty="0">
                <a:solidFill>
                  <a:srgbClr val="FF0000"/>
                </a:solidFill>
              </a:rPr>
              <a:t>是线程安全的，</a:t>
            </a:r>
            <a:r>
              <a:rPr lang="en-US" altLang="zh-CN" sz="2000" dirty="0" err="1">
                <a:solidFill>
                  <a:srgbClr val="FF0000"/>
                </a:solidFill>
              </a:rPr>
              <a:t>StringBuilder</a:t>
            </a:r>
            <a:r>
              <a:rPr lang="zh-CN" altLang="en-US" sz="2000" dirty="0">
                <a:solidFill>
                  <a:srgbClr val="FF0000"/>
                </a:solidFill>
              </a:rPr>
              <a:t>不是线程安全的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/>
            <a:r>
              <a:rPr lang="zh-CN" altLang="en-US" sz="2000" b="1" dirty="0">
                <a:solidFill>
                  <a:srgbClr val="0000FF"/>
                </a:solidFill>
              </a:rPr>
              <a:t>线程安全是指</a:t>
            </a:r>
            <a:r>
              <a:rPr lang="zh-CN" altLang="en-US" sz="2000" b="1" u="sng" dirty="0">
                <a:solidFill>
                  <a:srgbClr val="0000FF"/>
                </a:solidFill>
              </a:rPr>
              <a:t>多个线程</a:t>
            </a:r>
            <a:r>
              <a:rPr lang="zh-CN" altLang="en-US" sz="2000" b="1" dirty="0">
                <a:solidFill>
                  <a:srgbClr val="0000FF"/>
                </a:solidFill>
              </a:rPr>
              <a:t>操作</a:t>
            </a:r>
            <a:r>
              <a:rPr lang="zh-CN" altLang="en-US" sz="2000" b="1" u="sng" dirty="0">
                <a:solidFill>
                  <a:srgbClr val="0000FF"/>
                </a:solidFill>
              </a:rPr>
              <a:t>同一个对象</a:t>
            </a:r>
            <a:r>
              <a:rPr lang="zh-CN" altLang="en-US" sz="2000" b="1" dirty="0">
                <a:solidFill>
                  <a:srgbClr val="0000FF"/>
                </a:solidFill>
              </a:rPr>
              <a:t>不会出现问题。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如果字符串缓冲区被</a:t>
            </a:r>
            <a:r>
              <a:rPr lang="zh-CN" altLang="en-US" sz="2000" b="1" dirty="0">
                <a:solidFill>
                  <a:srgbClr val="7030A0"/>
                </a:solidFill>
              </a:rPr>
              <a:t>单个线程</a:t>
            </a:r>
            <a:r>
              <a:rPr lang="zh-CN" altLang="en-US" sz="2000" dirty="0"/>
              <a:t>使用（这种情况很普遍），建议优先采用</a:t>
            </a:r>
            <a:r>
              <a:rPr lang="en-US" altLang="zh-CN" sz="2000" b="1" dirty="0" err="1">
                <a:solidFill>
                  <a:srgbClr val="7030A0"/>
                </a:solidFill>
              </a:rPr>
              <a:t>StringBuilder</a:t>
            </a:r>
            <a:r>
              <a:rPr lang="zh-CN" altLang="en-US" sz="2000" dirty="0"/>
              <a:t>，因为效率高（而</a:t>
            </a:r>
            <a:r>
              <a:rPr lang="zh-CN" altLang="en-US" sz="2000" b="1" dirty="0">
                <a:solidFill>
                  <a:srgbClr val="0000FF"/>
                </a:solidFill>
              </a:rPr>
              <a:t>线程同步</a:t>
            </a:r>
            <a:r>
              <a:rPr lang="zh-CN" altLang="en-US" sz="2000" dirty="0"/>
              <a:t>需要时间开销）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如果需要</a:t>
            </a:r>
            <a:r>
              <a:rPr lang="zh-CN" altLang="en-US" sz="2000" b="1" dirty="0">
                <a:solidFill>
                  <a:srgbClr val="0000FF"/>
                </a:solidFill>
              </a:rPr>
              <a:t>多线程同步</a:t>
            </a:r>
            <a:r>
              <a:rPr lang="zh-CN" altLang="en-US" sz="2000" dirty="0"/>
              <a:t>，则建议使用</a:t>
            </a:r>
            <a:r>
              <a:rPr lang="en-US" altLang="zh-CN" sz="2000" b="1" dirty="0" err="1">
                <a:solidFill>
                  <a:srgbClr val="0000FF"/>
                </a:solidFill>
              </a:rPr>
              <a:t>StringBuffer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19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练习：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CN" sz="1800" dirty="0"/>
              <a:t>1</a:t>
            </a:r>
            <a:r>
              <a:rPr lang="zh-CN" altLang="zh-CN" sz="1800" dirty="0"/>
              <a:t>、下述关于</a:t>
            </a:r>
            <a:r>
              <a:rPr lang="en-US" altLang="zh-CN" sz="1800" dirty="0" err="1"/>
              <a:t>StringBuffer</a:t>
            </a:r>
            <a:r>
              <a:rPr lang="zh-CN" altLang="zh-CN" sz="1800" dirty="0"/>
              <a:t>，错误的是（</a:t>
            </a:r>
            <a:r>
              <a:rPr lang="en-US" altLang="zh-CN" sz="1800" dirty="0"/>
              <a:t>  </a:t>
            </a:r>
            <a:r>
              <a:rPr lang="zh-CN" altLang="zh-CN" sz="1800" dirty="0"/>
              <a:t>）。</a:t>
            </a:r>
          </a:p>
          <a:p>
            <a:pPr>
              <a:buNone/>
            </a:pPr>
            <a:r>
              <a:rPr lang="en-US" altLang="zh-CN" sz="1800" dirty="0"/>
              <a:t>	A. </a:t>
            </a:r>
            <a:r>
              <a:rPr lang="en-US" altLang="zh-CN" sz="1800" dirty="0" err="1"/>
              <a:t>StringBuffer</a:t>
            </a:r>
            <a:r>
              <a:rPr lang="zh-CN" altLang="zh-CN" sz="1800" dirty="0"/>
              <a:t>与</a:t>
            </a:r>
            <a:r>
              <a:rPr lang="en-US" altLang="zh-CN" sz="1800" dirty="0" err="1"/>
              <a:t>StringBuilder</a:t>
            </a:r>
            <a:r>
              <a:rPr lang="zh-CN" altLang="zh-CN" sz="1800" dirty="0"/>
              <a:t>功能几乎完全相同。</a:t>
            </a:r>
          </a:p>
          <a:p>
            <a:pPr>
              <a:buNone/>
            </a:pPr>
            <a:r>
              <a:rPr lang="en-US" altLang="zh-CN" sz="1800" dirty="0"/>
              <a:t>	B. </a:t>
            </a:r>
            <a:r>
              <a:rPr lang="en-US" altLang="zh-CN" sz="1800" dirty="0" err="1"/>
              <a:t>StringBuffer</a:t>
            </a:r>
            <a:r>
              <a:rPr lang="zh-CN" altLang="zh-CN" sz="1800" dirty="0"/>
              <a:t>不是线程安全的。</a:t>
            </a:r>
          </a:p>
          <a:p>
            <a:pPr>
              <a:buNone/>
            </a:pPr>
            <a:r>
              <a:rPr lang="en-US" altLang="zh-CN" sz="1800" dirty="0"/>
              <a:t>	C. </a:t>
            </a:r>
            <a:r>
              <a:rPr lang="en-US" altLang="zh-CN" sz="1800" dirty="0" err="1"/>
              <a:t>StringBuffer</a:t>
            </a:r>
            <a:r>
              <a:rPr lang="zh-CN" altLang="zh-CN" sz="1800" dirty="0"/>
              <a:t>的容量可自动增加。</a:t>
            </a:r>
          </a:p>
          <a:p>
            <a:pPr>
              <a:buNone/>
            </a:pPr>
            <a:r>
              <a:rPr lang="en-US" altLang="zh-CN" sz="1800" dirty="0"/>
              <a:t>	D. </a:t>
            </a:r>
            <a:r>
              <a:rPr lang="en-US" altLang="zh-CN" sz="1800" dirty="0" err="1"/>
              <a:t>StringBuffer</a:t>
            </a:r>
            <a:r>
              <a:rPr lang="zh-CN" altLang="zh-CN" sz="1800" dirty="0"/>
              <a:t>有</a:t>
            </a:r>
            <a:r>
              <a:rPr lang="en-US" altLang="zh-CN" sz="1800" dirty="0"/>
              <a:t>reverse()</a:t>
            </a:r>
            <a:r>
              <a:rPr lang="zh-CN" altLang="zh-CN" sz="1800" dirty="0"/>
              <a:t>方法实现字符串翻转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7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6.3 </a:t>
            </a:r>
            <a:r>
              <a:rPr lang="en-US" altLang="zh-CN" sz="2000" dirty="0" err="1">
                <a:solidFill>
                  <a:srgbClr val="FF0000"/>
                </a:solidFill>
              </a:rPr>
              <a:t>StringTokenizer</a:t>
            </a:r>
            <a:r>
              <a:rPr lang="zh-CN" altLang="en-US" sz="2000" dirty="0">
                <a:solidFill>
                  <a:srgbClr val="FF0000"/>
                </a:solidFill>
              </a:rPr>
              <a:t>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6.6 </a:t>
            </a:r>
            <a:r>
              <a:rPr lang="zh-CN" altLang="en-US" sz="2000" dirty="0"/>
              <a:t>模式匹配	</a:t>
            </a:r>
            <a:endParaRPr lang="en-US" altLang="zh-CN" sz="2000" dirty="0"/>
          </a:p>
          <a:p>
            <a:r>
              <a:rPr lang="en-US" altLang="zh-CN" sz="2000" dirty="0"/>
              <a:t>6.4 </a:t>
            </a:r>
            <a:r>
              <a:rPr lang="zh-CN" altLang="en-US" sz="2000" dirty="0"/>
              <a:t>正则表达式及字符串的替换与分解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28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6.3 </a:t>
            </a:r>
            <a:r>
              <a:rPr lang="en-US" altLang="zh-CN" sz="3200" dirty="0" err="1"/>
              <a:t>StringTokenizer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当我们需要分析一个字符串并将字符串</a:t>
            </a:r>
            <a:r>
              <a:rPr lang="zh-CN" altLang="en-US" sz="2000" b="1" dirty="0">
                <a:solidFill>
                  <a:srgbClr val="FF0000"/>
                </a:solidFill>
              </a:rPr>
              <a:t>分解</a:t>
            </a:r>
            <a:r>
              <a:rPr lang="zh-CN" altLang="en-US" sz="2000" dirty="0"/>
              <a:t>成可被独立使用的单词时，可以使用</a:t>
            </a:r>
            <a:r>
              <a:rPr lang="en-US" altLang="zh-CN" sz="2000" dirty="0" err="1"/>
              <a:t>java.util</a:t>
            </a:r>
            <a:r>
              <a:rPr lang="zh-CN" altLang="en-US" sz="2000" dirty="0"/>
              <a:t>包中的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类，该类有两个常用的构造方法：</a:t>
            </a:r>
          </a:p>
          <a:p>
            <a:pPr lvl="1"/>
            <a:r>
              <a:rPr lang="en-US" altLang="zh-CN" sz="2000" b="1" dirty="0" err="1">
                <a:solidFill>
                  <a:srgbClr val="FF0000"/>
                </a:solidFill>
              </a:rPr>
              <a:t>StringTokenizer</a:t>
            </a:r>
            <a:r>
              <a:rPr lang="en-US" altLang="zh-CN" sz="2000" dirty="0"/>
              <a:t>(String s)</a:t>
            </a:r>
            <a:r>
              <a:rPr lang="zh-CN" altLang="en-US" sz="2000" dirty="0"/>
              <a:t>：为字符串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构造一个分析器。使用默认的分隔符集合，即空格符（多个空格被看做一个空格）、换行符</a:t>
            </a:r>
            <a:r>
              <a:rPr lang="en-US" altLang="zh-CN" sz="2000" dirty="0"/>
              <a:t>’\n’</a:t>
            </a:r>
            <a:r>
              <a:rPr lang="zh-CN" altLang="en-US" sz="2000" dirty="0"/>
              <a:t>、回车符</a:t>
            </a:r>
            <a:r>
              <a:rPr lang="en-US" altLang="zh-CN" sz="2000" dirty="0"/>
              <a:t>’\r’</a:t>
            </a:r>
            <a:r>
              <a:rPr lang="zh-CN" altLang="en-US" sz="2000" dirty="0"/>
              <a:t>、</a:t>
            </a:r>
            <a:r>
              <a:rPr lang="en-US" altLang="zh-CN" sz="2000" dirty="0"/>
              <a:t>tab</a:t>
            </a:r>
            <a:r>
              <a:rPr lang="zh-CN" altLang="en-US" sz="2000" dirty="0"/>
              <a:t>符</a:t>
            </a:r>
            <a:r>
              <a:rPr lang="en-US" altLang="zh-CN" sz="2000" dirty="0"/>
              <a:t>’\t’</a:t>
            </a:r>
            <a:r>
              <a:rPr lang="zh-CN" altLang="en-US" sz="2000" dirty="0"/>
              <a:t>、进纸符</a:t>
            </a:r>
            <a:r>
              <a:rPr lang="en-US" altLang="zh-CN" sz="2000" dirty="0"/>
              <a:t>’\f’</a:t>
            </a:r>
          </a:p>
          <a:p>
            <a:pPr lvl="1"/>
            <a:endParaRPr lang="zh-CN" altLang="en-US" sz="2000" dirty="0"/>
          </a:p>
          <a:p>
            <a:pPr lvl="1"/>
            <a:r>
              <a:rPr lang="en-US" altLang="zh-CN" sz="2000" b="1" dirty="0" err="1">
                <a:solidFill>
                  <a:srgbClr val="FF0000"/>
                </a:solidFill>
              </a:rPr>
              <a:t>StringTokenizer</a:t>
            </a:r>
            <a:r>
              <a:rPr lang="en-US" altLang="zh-CN" sz="2000" dirty="0"/>
              <a:t>(String s, String </a:t>
            </a:r>
            <a:r>
              <a:rPr lang="en-US" altLang="zh-CN" sz="2000" b="1" dirty="0" err="1">
                <a:solidFill>
                  <a:srgbClr val="0000FF"/>
                </a:solidFill>
              </a:rPr>
              <a:t>delim</a:t>
            </a:r>
            <a:r>
              <a:rPr lang="en-US" altLang="zh-CN" sz="2000" dirty="0"/>
              <a:t>)</a:t>
            </a:r>
            <a:r>
              <a:rPr lang="zh-CN" altLang="en-US" sz="2000" dirty="0"/>
              <a:t>：为字符串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构造一个分析器，参数</a:t>
            </a:r>
            <a:r>
              <a:rPr lang="en-US" altLang="zh-CN" sz="2000" dirty="0" err="1"/>
              <a:t>delim</a:t>
            </a:r>
            <a:r>
              <a:rPr lang="zh-CN" altLang="en-US" sz="2000" dirty="0"/>
              <a:t>中的字符被作为</a:t>
            </a:r>
            <a:r>
              <a:rPr lang="zh-CN" altLang="en-US" sz="2000" b="1" dirty="0">
                <a:solidFill>
                  <a:srgbClr val="0000FF"/>
                </a:solidFill>
              </a:rPr>
              <a:t>分隔符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45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6.3 </a:t>
            </a:r>
            <a:r>
              <a:rPr lang="en-US" altLang="zh-CN" sz="3200" dirty="0" err="1"/>
              <a:t>StringTokenizer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我们把一个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对象称作一个</a:t>
            </a:r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，字符串分析器封装了语言符号和对其进行操作的方法。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可以使用</a:t>
            </a:r>
            <a:r>
              <a:rPr lang="en-US" altLang="zh-CN" sz="2000" dirty="0" err="1"/>
              <a:t>nextToken</a:t>
            </a:r>
            <a:r>
              <a:rPr lang="en-US" altLang="zh-CN" sz="2000" dirty="0"/>
              <a:t>()</a:t>
            </a:r>
            <a:r>
              <a:rPr lang="zh-CN" altLang="en-US" sz="2000" dirty="0"/>
              <a:t>方法逐个获取</a:t>
            </a:r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中的语言符号（单词），每当获取到一个语言符号，</a:t>
            </a:r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中的负责计数的变量的值就自动减一，该计数变量的初始值等于字符串中的单词数目，</a:t>
            </a:r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调用</a:t>
            </a:r>
            <a:r>
              <a:rPr lang="en-US" altLang="zh-CN" sz="2000" dirty="0" err="1"/>
              <a:t>countTokens</a:t>
            </a:r>
            <a:r>
              <a:rPr lang="en-US" altLang="zh-CN" sz="2000" dirty="0"/>
              <a:t>()</a:t>
            </a:r>
            <a:r>
              <a:rPr lang="zh-CN" altLang="en-US" sz="2000" dirty="0"/>
              <a:t>方法可以得到计数变量的值。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字符串分析器</a:t>
            </a:r>
            <a:r>
              <a:rPr lang="zh-CN" altLang="en-US" sz="2000" dirty="0"/>
              <a:t>通常用</a:t>
            </a:r>
            <a:r>
              <a:rPr lang="en-US" altLang="zh-CN" sz="2000" dirty="0"/>
              <a:t>while</a:t>
            </a:r>
            <a:r>
              <a:rPr lang="zh-CN" altLang="en-US" sz="2000" dirty="0"/>
              <a:t>循环来逐个获取语言符号，为了控制循环，我们可以使用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类中的</a:t>
            </a:r>
            <a:r>
              <a:rPr lang="en-US" altLang="zh-CN" sz="2000" dirty="0" err="1"/>
              <a:t>hasMoreTokens</a:t>
            </a:r>
            <a:r>
              <a:rPr lang="en-US" altLang="zh-CN" sz="2000" dirty="0"/>
              <a:t>()</a:t>
            </a:r>
            <a:r>
              <a:rPr lang="zh-CN" altLang="en-US" sz="2000" dirty="0"/>
              <a:t>方法，只要计数的变量的值大于</a:t>
            </a:r>
            <a:r>
              <a:rPr lang="en-US" altLang="zh-CN" sz="2000" dirty="0"/>
              <a:t>0</a:t>
            </a:r>
            <a:r>
              <a:rPr lang="zh-CN" altLang="en-US" sz="2000" dirty="0"/>
              <a:t>，该方法就返回</a:t>
            </a:r>
            <a:r>
              <a:rPr lang="en-US" altLang="zh-CN" sz="2000" dirty="0"/>
              <a:t>true</a:t>
            </a:r>
            <a:r>
              <a:rPr lang="zh-CN" altLang="en-US" sz="2000" dirty="0"/>
              <a:t>，否则返回</a:t>
            </a:r>
            <a:r>
              <a:rPr lang="en-US" altLang="zh-CN" sz="2000" dirty="0"/>
              <a:t>false</a:t>
            </a:r>
            <a:r>
              <a:rPr lang="zh-CN" altLang="en-US"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78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6.3 </a:t>
            </a:r>
            <a:r>
              <a:rPr lang="en-US" altLang="zh-CN" sz="3200" dirty="0" err="1"/>
              <a:t>StringTokenizer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20272" y="5275081"/>
            <a:ext cx="1368152" cy="5406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00175" y="2060848"/>
            <a:ext cx="5948089" cy="375487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 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Example6_7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[] mess = {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"integer part"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"decimal part"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Scanner reader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altLang="zh-CN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reader.nextDouble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valueOf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(x);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StringTokenizer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fenxi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StringTokenizer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(s,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"."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fenxi.hasMoreTokens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fenxi.nextToken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(mess[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6732240" y="3680192"/>
            <a:ext cx="504056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4788024" y="4509120"/>
            <a:ext cx="1152128" cy="21602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19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6.5 Scanner</a:t>
            </a:r>
            <a:r>
              <a:rPr lang="zh-CN" altLang="en-US" sz="2000" dirty="0">
                <a:solidFill>
                  <a:srgbClr val="FF0000"/>
                </a:solidFill>
              </a:rPr>
              <a:t>类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6.6 </a:t>
            </a:r>
            <a:r>
              <a:rPr lang="zh-CN" altLang="en-US" sz="2000" dirty="0"/>
              <a:t>模式匹配	</a:t>
            </a:r>
            <a:endParaRPr lang="en-US" altLang="zh-CN" sz="2000" dirty="0"/>
          </a:p>
          <a:p>
            <a:r>
              <a:rPr lang="en-US" altLang="zh-CN" sz="2000" dirty="0"/>
              <a:t>6.4 </a:t>
            </a:r>
            <a:r>
              <a:rPr lang="zh-CN" altLang="en-US" sz="2000" dirty="0"/>
              <a:t>正则表达式及字符串的替换与分解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84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6.5 Scanner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Scanner</a:t>
            </a:r>
            <a:r>
              <a:rPr lang="zh-CN" altLang="en-US" sz="2000" dirty="0"/>
              <a:t>类不仅可以创建出用于读取用户</a:t>
            </a:r>
            <a:r>
              <a:rPr lang="zh-CN" altLang="en-US" sz="2000" b="1" dirty="0">
                <a:solidFill>
                  <a:srgbClr val="FF0000"/>
                </a:solidFill>
              </a:rPr>
              <a:t>从键盘输入</a:t>
            </a:r>
            <a:r>
              <a:rPr lang="zh-CN" altLang="en-US" sz="2000" dirty="0"/>
              <a:t>的数据的对象，而且还可以创建出用于</a:t>
            </a:r>
            <a:r>
              <a:rPr lang="zh-CN" altLang="en-US" sz="2000" b="1" dirty="0">
                <a:solidFill>
                  <a:srgbClr val="0000FF"/>
                </a:solidFill>
              </a:rPr>
              <a:t>解析字符串</a:t>
            </a:r>
            <a:r>
              <a:rPr lang="zh-CN" altLang="en-US" sz="2000" dirty="0"/>
              <a:t>的对象。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1. </a:t>
            </a:r>
            <a:r>
              <a:rPr lang="zh-CN" altLang="en-US" sz="2000" dirty="0"/>
              <a:t>使用</a:t>
            </a:r>
            <a:r>
              <a:rPr lang="zh-CN" altLang="en-US" sz="2000" b="1" dirty="0">
                <a:solidFill>
                  <a:srgbClr val="FF0000"/>
                </a:solidFill>
              </a:rPr>
              <a:t>默认分隔标记</a:t>
            </a:r>
            <a:r>
              <a:rPr lang="zh-CN" altLang="en-US" sz="2000" dirty="0"/>
              <a:t>解析</a:t>
            </a:r>
            <a:r>
              <a:rPr lang="zh-CN" altLang="en-US" sz="2000" b="1" dirty="0">
                <a:solidFill>
                  <a:srgbClr val="FF0000"/>
                </a:solidFill>
              </a:rPr>
              <a:t>字符串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以“空白”作为分隔符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50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6.5 Scanner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907704" y="1190357"/>
            <a:ext cx="6624736" cy="526297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Example_Scanner1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cost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 TV cost 877 dollar, Computer cost 2398"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Scanner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Scanner(cost);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scanner.hasNext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price =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sum = sum + price;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(price);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InputMismatchException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t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"Sum: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sum);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4288" y="5648541"/>
            <a:ext cx="1368152" cy="80479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255240" y="3267400"/>
            <a:ext cx="122413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7345144" y="3906680"/>
            <a:ext cx="122413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6337032" y="5194032"/>
            <a:ext cx="122413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400775" y="2843411"/>
            <a:ext cx="122413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519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6.5 Scanner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 </a:t>
            </a:r>
            <a:r>
              <a:rPr lang="zh-CN" altLang="en-US" sz="2000" dirty="0"/>
              <a:t>使用正则表达式作为分隔标记解析字符串</a:t>
            </a:r>
            <a:endParaRPr lang="en-US" altLang="zh-CN" sz="2000" dirty="0"/>
          </a:p>
          <a:p>
            <a:pPr lvl="1"/>
            <a:r>
              <a:rPr lang="en-US" altLang="zh-CN" sz="2000" dirty="0"/>
              <a:t>Scanner</a:t>
            </a:r>
            <a:r>
              <a:rPr lang="zh-CN" altLang="en-US" sz="2000" dirty="0"/>
              <a:t>对象可以调用</a:t>
            </a:r>
            <a:r>
              <a:rPr lang="en-US" altLang="zh-CN" sz="2000" b="1" dirty="0" err="1">
                <a:solidFill>
                  <a:srgbClr val="FF0000"/>
                </a:solidFill>
              </a:rPr>
              <a:t>useDelimiter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方法将一个</a:t>
            </a:r>
            <a:r>
              <a:rPr lang="zh-CN" altLang="en-US" sz="2000" b="1" dirty="0">
                <a:solidFill>
                  <a:srgbClr val="FF0000"/>
                </a:solidFill>
              </a:rPr>
              <a:t>正则表达式</a:t>
            </a:r>
            <a:r>
              <a:rPr lang="zh-CN" altLang="en-US" sz="2000" dirty="0"/>
              <a:t>作为分隔标记，即和正则表达式匹配的字符串都是分隔标记。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72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6.5 Scanner</a:t>
            </a:r>
            <a:r>
              <a:rPr lang="zh-CN" altLang="en-US" sz="3200" dirty="0"/>
              <a:t>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539552" y="1262365"/>
            <a:ext cx="7704856" cy="483209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Example_Scanner2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cost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市话费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: 176.89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长途费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: 187.98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网络费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: 928.66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Scanner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Scanner(cost);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scanner.useDelimiter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"[^0123456789.]+"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scanner.hasNext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price =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scanner.nextDouble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(price);</a:t>
            </a:r>
          </a:p>
          <a:p>
            <a:pPr lvl="2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InputMismatchException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String t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89023" y="5733256"/>
            <a:ext cx="825794" cy="792088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95536" y="3140968"/>
            <a:ext cx="936104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416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6.6 </a:t>
            </a:r>
            <a:r>
              <a:rPr lang="zh-CN" altLang="en-US" sz="2000" dirty="0">
                <a:solidFill>
                  <a:srgbClr val="FF0000"/>
                </a:solidFill>
              </a:rPr>
              <a:t>模式匹配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6.4 </a:t>
            </a:r>
            <a:r>
              <a:rPr lang="zh-CN" altLang="en-US" sz="2000" dirty="0"/>
              <a:t>正则表达式及字符串的替换与分解</a:t>
            </a:r>
            <a:endParaRPr lang="en-US" altLang="zh-CN" sz="2000" dirty="0"/>
          </a:p>
          <a:p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530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000" dirty="0"/>
              <a:t>模式匹配就是检索和指定模式匹配的字符串。</a:t>
            </a:r>
            <a:r>
              <a:rPr lang="en-US" altLang="zh-CN" sz="2000" dirty="0"/>
              <a:t>Java</a:t>
            </a:r>
            <a:r>
              <a:rPr lang="zh-CN" altLang="en-US" sz="2000" dirty="0"/>
              <a:t>提供了专门用来进行模式匹配的类，这些类在</a:t>
            </a:r>
            <a:r>
              <a:rPr lang="en-US" altLang="zh-CN" sz="2000" b="1" dirty="0" err="1">
                <a:solidFill>
                  <a:srgbClr val="FF0000"/>
                </a:solidFill>
              </a:rPr>
              <a:t>java.util.regex</a:t>
            </a:r>
            <a:r>
              <a:rPr lang="zh-CN" altLang="en-US" sz="2000" dirty="0"/>
              <a:t>包中。</a:t>
            </a:r>
          </a:p>
          <a:p>
            <a:endParaRPr lang="en-US" altLang="zh-CN" sz="2000" dirty="0"/>
          </a:p>
          <a:p>
            <a:r>
              <a:rPr lang="en-US" altLang="zh-CN" sz="2000" dirty="0"/>
              <a:t>(1) </a:t>
            </a:r>
            <a:r>
              <a:rPr lang="zh-CN" altLang="en-US" sz="2000" dirty="0"/>
              <a:t>建立模式对象</a:t>
            </a:r>
          </a:p>
          <a:p>
            <a:r>
              <a:rPr lang="zh-CN" altLang="en-US" sz="2000" dirty="0"/>
              <a:t>进行模式匹配的第一步就是使用</a:t>
            </a:r>
            <a:r>
              <a:rPr lang="en-US" altLang="zh-CN" sz="2000" dirty="0"/>
              <a:t>Pattern</a:t>
            </a:r>
            <a:r>
              <a:rPr lang="zh-CN" altLang="en-US" sz="2000" dirty="0"/>
              <a:t>类创建一个对象，称作</a:t>
            </a:r>
            <a:r>
              <a:rPr lang="zh-CN" altLang="en-US" sz="2000" b="1" dirty="0">
                <a:solidFill>
                  <a:srgbClr val="FF0000"/>
                </a:solidFill>
              </a:rPr>
              <a:t>模式对象</a:t>
            </a:r>
            <a:r>
              <a:rPr lang="zh-CN" altLang="en-US" sz="2000" dirty="0"/>
              <a:t>。</a:t>
            </a:r>
            <a:r>
              <a:rPr lang="en-US" altLang="zh-CN" sz="2000" dirty="0"/>
              <a:t>Pattern</a:t>
            </a:r>
            <a:r>
              <a:rPr lang="zh-CN" altLang="en-US" sz="2000" dirty="0"/>
              <a:t>类调用</a:t>
            </a:r>
            <a:r>
              <a:rPr lang="zh-CN" altLang="en-US" sz="2000" dirty="0">
                <a:solidFill>
                  <a:srgbClr val="FF0000"/>
                </a:solidFill>
              </a:rPr>
              <a:t>静态方法</a:t>
            </a:r>
            <a:r>
              <a:rPr lang="en-US" altLang="zh-CN" sz="2000" dirty="0"/>
              <a:t>compile(String pattern)</a:t>
            </a:r>
            <a:r>
              <a:rPr lang="zh-CN" altLang="en-US" sz="2000" dirty="0"/>
              <a:t>来完成这一任务，其中的参数</a:t>
            </a:r>
            <a:r>
              <a:rPr lang="en-US" altLang="zh-CN" sz="2000" dirty="0"/>
              <a:t>pattern</a:t>
            </a:r>
            <a:r>
              <a:rPr lang="zh-CN" altLang="en-US" sz="2000" dirty="0"/>
              <a:t>是一个正则表达式，称作模式对象使用的模式。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例如，我们使用正则表达式“</a:t>
            </a:r>
            <a:r>
              <a:rPr lang="en-US" altLang="zh-CN" sz="2000" dirty="0"/>
              <a:t>A\\d</a:t>
            </a:r>
            <a:r>
              <a:rPr lang="zh-CN" altLang="en-US" sz="2000" dirty="0"/>
              <a:t>”建立一个</a:t>
            </a:r>
            <a:r>
              <a:rPr lang="zh-CN" altLang="en-US" sz="2000" b="1" dirty="0">
                <a:solidFill>
                  <a:srgbClr val="FF0000"/>
                </a:solidFill>
              </a:rPr>
              <a:t>模式对象</a:t>
            </a:r>
            <a:r>
              <a:rPr lang="en-US" altLang="zh-CN" sz="2000" b="1" dirty="0">
                <a:solidFill>
                  <a:srgbClr val="FF0000"/>
                </a:solidFill>
              </a:rPr>
              <a:t>p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如果参数</a:t>
            </a:r>
            <a:r>
              <a:rPr lang="en-US" altLang="zh-CN" sz="2000" dirty="0"/>
              <a:t>pattern</a:t>
            </a:r>
            <a:r>
              <a:rPr lang="zh-CN" altLang="en-US" sz="2000" dirty="0"/>
              <a:t>指定的正则表达式有错，</a:t>
            </a:r>
            <a:r>
              <a:rPr lang="en-US" altLang="zh-CN" sz="2000" dirty="0"/>
              <a:t>compile</a:t>
            </a:r>
            <a:r>
              <a:rPr lang="zh-CN" altLang="en-US" sz="2000" dirty="0"/>
              <a:t>方法将抛出异常</a:t>
            </a:r>
            <a:r>
              <a:rPr lang="en-US" altLang="zh-CN" sz="2000" dirty="0" err="1"/>
              <a:t>PatternSyntaxException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1979712" y="4581128"/>
            <a:ext cx="3960440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Pattern  p = </a:t>
            </a:r>
            <a:r>
              <a:rPr lang="en-US" altLang="zh-CN" dirty="0" err="1"/>
              <a:t>Pattern.compile</a:t>
            </a:r>
            <a:r>
              <a:rPr lang="en-US" altLang="zh-CN" dirty="0"/>
              <a:t>("A\\d");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012160" y="4581128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\\d</a:t>
            </a:r>
            <a:r>
              <a:rPr lang="zh-CN" altLang="en-US" b="1" dirty="0">
                <a:solidFill>
                  <a:srgbClr val="FF0000"/>
                </a:solidFill>
              </a:rPr>
              <a:t>代表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到</a:t>
            </a: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中的任何一个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511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Pattern</a:t>
            </a:r>
            <a:r>
              <a:rPr lang="zh-CN" altLang="en-US" sz="2000" dirty="0"/>
              <a:t>类也可以调用静态方法</a:t>
            </a:r>
            <a:r>
              <a:rPr lang="en-US" altLang="zh-CN" sz="2000" dirty="0"/>
              <a:t>compile(String regex,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flags)</a:t>
            </a:r>
            <a:r>
              <a:rPr lang="zh-CN" altLang="en-US" sz="2000" dirty="0"/>
              <a:t>返回一个</a:t>
            </a:r>
            <a:r>
              <a:rPr lang="en-US" altLang="zh-CN" sz="2000" dirty="0"/>
              <a:t>Pattern</a:t>
            </a:r>
            <a:r>
              <a:rPr lang="zh-CN" altLang="en-US" sz="2000" dirty="0"/>
              <a:t>对象，参数</a:t>
            </a:r>
            <a:r>
              <a:rPr lang="en-US" altLang="zh-CN" sz="2000" dirty="0"/>
              <a:t>flags</a:t>
            </a:r>
            <a:r>
              <a:rPr lang="zh-CN" altLang="en-US" sz="2000" dirty="0"/>
              <a:t>可以取下列有效值</a:t>
            </a:r>
          </a:p>
          <a:p>
            <a:pPr lvl="1"/>
            <a:r>
              <a:rPr lang="en-US" altLang="zh-CN" sz="2000" dirty="0" err="1"/>
              <a:t>Pattern.CASE_INSENSITIVE</a:t>
            </a:r>
            <a:r>
              <a:rPr lang="en-US" altLang="zh-CN" sz="2000" dirty="0"/>
              <a:t> </a:t>
            </a:r>
          </a:p>
          <a:p>
            <a:pPr lvl="2"/>
            <a:r>
              <a:rPr lang="zh-CN" altLang="en-US" sz="2000" dirty="0"/>
              <a:t>表示模式匹配时将忽略大小写</a:t>
            </a:r>
            <a:endParaRPr lang="en-US" altLang="zh-CN" sz="2000" dirty="0"/>
          </a:p>
          <a:p>
            <a:pPr lvl="1"/>
            <a:r>
              <a:rPr lang="en-US" altLang="zh-CN" sz="2000" dirty="0"/>
              <a:t>…</a:t>
            </a:r>
          </a:p>
          <a:p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4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(2) </a:t>
            </a:r>
            <a:r>
              <a:rPr lang="zh-CN" altLang="en-US" sz="2000" dirty="0"/>
              <a:t>建立匹配对象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模式对象</a:t>
            </a:r>
            <a:r>
              <a:rPr lang="en-US" altLang="zh-CN" sz="2000" b="1" dirty="0">
                <a:solidFill>
                  <a:srgbClr val="FF0000"/>
                </a:solidFill>
              </a:rPr>
              <a:t>p</a:t>
            </a:r>
            <a:r>
              <a:rPr lang="zh-CN" altLang="en-US" sz="2000" dirty="0"/>
              <a:t>调用</a:t>
            </a:r>
            <a:r>
              <a:rPr lang="en-US" altLang="zh-CN" sz="2000" b="1" dirty="0">
                <a:solidFill>
                  <a:srgbClr val="FF0000"/>
                </a:solidFill>
              </a:rPr>
              <a:t>matcher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CharSequence</a:t>
            </a:r>
            <a:r>
              <a:rPr lang="en-US" altLang="zh-CN" sz="2000" dirty="0"/>
              <a:t> input)</a:t>
            </a:r>
            <a:r>
              <a:rPr lang="zh-CN" altLang="en-US" sz="2000" dirty="0"/>
              <a:t>方法返回一个</a:t>
            </a:r>
            <a:r>
              <a:rPr lang="en-US" altLang="zh-CN" sz="2000" b="1" dirty="0">
                <a:solidFill>
                  <a:srgbClr val="FF0000"/>
                </a:solidFill>
              </a:rPr>
              <a:t>Matcher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en-US" altLang="zh-CN" sz="2000" b="1" dirty="0">
                <a:solidFill>
                  <a:srgbClr val="FF0000"/>
                </a:solidFill>
              </a:rPr>
              <a:t>m</a:t>
            </a:r>
            <a:r>
              <a:rPr lang="zh-CN" altLang="en-US" sz="2000" dirty="0"/>
              <a:t>（称作</a:t>
            </a:r>
            <a:r>
              <a:rPr lang="zh-CN" altLang="en-US" sz="2000" b="1" dirty="0">
                <a:solidFill>
                  <a:srgbClr val="0000FF"/>
                </a:solidFill>
              </a:rPr>
              <a:t>匹配对象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，参数</a:t>
            </a:r>
            <a:r>
              <a:rPr lang="en-US" altLang="zh-CN" sz="2000" dirty="0"/>
              <a:t>input</a:t>
            </a:r>
            <a:r>
              <a:rPr lang="zh-CN" altLang="en-US" sz="2000" dirty="0"/>
              <a:t>可以是任何一个实现了</a:t>
            </a:r>
            <a:r>
              <a:rPr lang="en-US" altLang="zh-CN" sz="2000" dirty="0" err="1"/>
              <a:t>CharSequence</a:t>
            </a:r>
            <a:r>
              <a:rPr lang="zh-CN" altLang="en-US" sz="2000" dirty="0"/>
              <a:t>接口的类创建的对象，我们前面学习的</a:t>
            </a:r>
            <a:r>
              <a:rPr lang="en-US" altLang="zh-CN" sz="2000" dirty="0"/>
              <a:t>String</a:t>
            </a:r>
            <a:r>
              <a:rPr lang="zh-CN" altLang="en-US" sz="2000" dirty="0"/>
              <a:t>类和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类都实现了</a:t>
            </a:r>
            <a:r>
              <a:rPr lang="en-US" altLang="zh-CN" sz="2000" dirty="0" err="1"/>
              <a:t>CharSequence</a:t>
            </a:r>
            <a:r>
              <a:rPr lang="zh-CN" altLang="en-US" sz="2000" dirty="0"/>
              <a:t>接口。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Matcher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en-US" altLang="zh-CN" sz="2000" b="1" dirty="0">
                <a:solidFill>
                  <a:srgbClr val="FF0000"/>
                </a:solidFill>
              </a:rPr>
              <a:t>m</a:t>
            </a:r>
            <a:r>
              <a:rPr lang="zh-CN" altLang="en-US" sz="2000" dirty="0"/>
              <a:t>可以使用下列</a:t>
            </a:r>
            <a:r>
              <a:rPr lang="en-US" altLang="zh-CN" sz="2000" dirty="0"/>
              <a:t>3</a:t>
            </a:r>
            <a:r>
              <a:rPr lang="zh-CN" altLang="en-US" sz="2000" dirty="0"/>
              <a:t>个方法寻找参数</a:t>
            </a:r>
            <a:r>
              <a:rPr lang="en-US" altLang="zh-CN" sz="2000" dirty="0"/>
              <a:t>input</a:t>
            </a:r>
            <a:r>
              <a:rPr lang="zh-CN" altLang="en-US" sz="2000" dirty="0"/>
              <a:t>指定的字符序列中是否有和</a:t>
            </a:r>
            <a:r>
              <a:rPr lang="en-US" altLang="zh-CN" sz="2000" b="1" dirty="0">
                <a:solidFill>
                  <a:srgbClr val="FF0000"/>
                </a:solidFill>
              </a:rPr>
              <a:t>pattern</a:t>
            </a:r>
            <a:r>
              <a:rPr lang="zh-CN" altLang="en-US" sz="2000" dirty="0"/>
              <a:t>匹配的子序列（</a:t>
            </a:r>
            <a:r>
              <a:rPr lang="en-US" altLang="zh-CN" sz="2000" dirty="0"/>
              <a:t>pattern</a:t>
            </a:r>
            <a:r>
              <a:rPr lang="zh-CN" altLang="en-US" sz="2000" dirty="0"/>
              <a:t>是创建模式对象</a:t>
            </a:r>
            <a:r>
              <a:rPr lang="en-US" altLang="zh-CN" sz="2000" dirty="0"/>
              <a:t>p</a:t>
            </a:r>
            <a:r>
              <a:rPr lang="zh-CN" altLang="en-US" sz="2000" dirty="0"/>
              <a:t>时使用的正则表达式）</a:t>
            </a:r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find</a:t>
            </a:r>
            <a:r>
              <a:rPr lang="en-US" altLang="zh-CN" sz="2000" dirty="0"/>
              <a:t>() </a:t>
            </a:r>
            <a:r>
              <a:rPr lang="zh-CN" altLang="en-US" sz="2000" dirty="0"/>
              <a:t>：在</a:t>
            </a:r>
            <a:r>
              <a:rPr lang="en-US" altLang="zh-CN" sz="2000" dirty="0"/>
              <a:t>input</a:t>
            </a:r>
            <a:r>
              <a:rPr lang="zh-CN" altLang="en-US" sz="2000" dirty="0"/>
              <a:t>中寻找和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</a:t>
            </a:r>
            <a:r>
              <a:rPr lang="zh-CN" altLang="en-US" sz="2000" b="1" dirty="0">
                <a:solidFill>
                  <a:srgbClr val="FF0000"/>
                </a:solidFill>
              </a:rPr>
              <a:t>下一子序列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matches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</a:t>
            </a:r>
            <a:r>
              <a:rPr lang="en-US" altLang="zh-CN" sz="2000" dirty="0"/>
              <a:t>input</a:t>
            </a:r>
            <a:r>
              <a:rPr lang="zh-CN" altLang="en-US" sz="2000" dirty="0"/>
              <a:t>是否</a:t>
            </a:r>
            <a:r>
              <a:rPr lang="zh-CN" altLang="en-US" sz="2000" b="1" dirty="0">
                <a:solidFill>
                  <a:srgbClr val="FF0000"/>
                </a:solidFill>
              </a:rPr>
              <a:t>完全</a:t>
            </a:r>
            <a:r>
              <a:rPr lang="zh-CN" altLang="en-US" sz="2000" dirty="0"/>
              <a:t>和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 err="1">
                <a:solidFill>
                  <a:srgbClr val="FF0000"/>
                </a:solidFill>
              </a:rPr>
              <a:t>lookingAt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：判断从</a:t>
            </a:r>
            <a:r>
              <a:rPr lang="en-US" altLang="zh-CN" sz="2000" dirty="0"/>
              <a:t>input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开始位置</a:t>
            </a:r>
            <a:r>
              <a:rPr lang="zh-CN" altLang="en-US" sz="2000" dirty="0"/>
              <a:t>是否有和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匹配的子序列</a:t>
            </a: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611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下列几个方法也是</a:t>
            </a:r>
            <a:r>
              <a:rPr lang="en-US" altLang="zh-CN" sz="2000" b="1" dirty="0">
                <a:solidFill>
                  <a:srgbClr val="FF0000"/>
                </a:solidFill>
              </a:rPr>
              <a:t>Matcher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en-US" altLang="zh-CN" sz="2000" b="1" dirty="0">
                <a:solidFill>
                  <a:srgbClr val="FF0000"/>
                </a:solidFill>
              </a:rPr>
              <a:t>m</a:t>
            </a:r>
            <a:r>
              <a:rPr lang="zh-CN" altLang="en-US" sz="2000" dirty="0"/>
              <a:t>常用的方法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find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start)</a:t>
            </a:r>
            <a:r>
              <a:rPr lang="zh-CN" altLang="en-US" sz="2000" dirty="0"/>
              <a:t>：判断</a:t>
            </a:r>
            <a:r>
              <a:rPr lang="en-US" altLang="zh-CN" sz="2000" dirty="0"/>
              <a:t>input</a:t>
            </a:r>
            <a:r>
              <a:rPr lang="zh-CN" altLang="en-US" sz="2000" dirty="0"/>
              <a:t>从参数</a:t>
            </a:r>
            <a:r>
              <a:rPr lang="en-US" altLang="zh-CN" sz="2000" dirty="0"/>
              <a:t>start</a:t>
            </a:r>
            <a:r>
              <a:rPr lang="zh-CN" altLang="en-US" sz="2000" dirty="0"/>
              <a:t>指定位置开始是否有和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匹配的子序列，参数</a:t>
            </a:r>
            <a:r>
              <a:rPr lang="en-US" altLang="zh-CN" sz="2000" dirty="0"/>
              <a:t>start</a:t>
            </a:r>
            <a:r>
              <a:rPr lang="zh-CN" altLang="en-US" sz="2000" dirty="0"/>
              <a:t>取值</a:t>
            </a:r>
            <a:r>
              <a:rPr lang="en-US" altLang="zh-CN" sz="2000" dirty="0"/>
              <a:t>0</a:t>
            </a:r>
            <a:r>
              <a:rPr lang="zh-CN" altLang="en-US" sz="2000" dirty="0"/>
              <a:t>时，该方法和</a:t>
            </a:r>
            <a:r>
              <a:rPr lang="en-US" altLang="zh-CN" sz="2000" dirty="0" err="1"/>
              <a:t>lookingAt</a:t>
            </a:r>
            <a:r>
              <a:rPr lang="en-US" altLang="zh-CN" sz="2000" dirty="0"/>
              <a:t>()</a:t>
            </a:r>
            <a:r>
              <a:rPr lang="zh-CN" altLang="en-US" sz="2000" dirty="0"/>
              <a:t>的功能相同。</a:t>
            </a:r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replaceAll</a:t>
            </a:r>
            <a:r>
              <a:rPr lang="en-US" altLang="zh-CN" sz="2000" dirty="0"/>
              <a:t>(String replacement)</a:t>
            </a:r>
            <a:r>
              <a:rPr lang="zh-CN" altLang="en-US" sz="2000" dirty="0"/>
              <a:t>：</a:t>
            </a:r>
            <a:r>
              <a:rPr lang="en-US" altLang="zh-CN" sz="2000" dirty="0"/>
              <a:t>Matcher</a:t>
            </a:r>
            <a:r>
              <a:rPr lang="zh-CN" altLang="en-US" sz="2000" dirty="0"/>
              <a:t>对象</a:t>
            </a:r>
            <a:r>
              <a:rPr lang="en-US" altLang="zh-CN" sz="2000" dirty="0"/>
              <a:t>m</a:t>
            </a:r>
            <a:r>
              <a:rPr lang="zh-CN" altLang="en-US" sz="2000" dirty="0"/>
              <a:t>调用该方法可以返回一个字符串对象，该字符串是通过把</a:t>
            </a:r>
            <a:r>
              <a:rPr lang="en-US" altLang="zh-CN" sz="2000" dirty="0"/>
              <a:t>input</a:t>
            </a:r>
            <a:r>
              <a:rPr lang="zh-CN" altLang="en-US" sz="2000" dirty="0"/>
              <a:t>中与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匹配的子字符串全部替换为参数</a:t>
            </a:r>
            <a:r>
              <a:rPr lang="en-US" altLang="zh-CN" sz="2000" dirty="0"/>
              <a:t>replacement</a:t>
            </a:r>
            <a:r>
              <a:rPr lang="zh-CN" altLang="en-US" sz="2000" dirty="0"/>
              <a:t>指定的字符串得到的（</a:t>
            </a:r>
            <a:r>
              <a:rPr lang="en-US" altLang="zh-CN" sz="2000" b="1" dirty="0">
                <a:solidFill>
                  <a:srgbClr val="0000FF"/>
                </a:solidFill>
              </a:rPr>
              <a:t>input</a:t>
            </a:r>
            <a:r>
              <a:rPr lang="zh-CN" altLang="en-US" sz="2000" b="1" dirty="0">
                <a:solidFill>
                  <a:srgbClr val="0000FF"/>
                </a:solidFill>
              </a:rPr>
              <a:t>本身没有发生变化</a:t>
            </a:r>
            <a:r>
              <a:rPr lang="zh-CN" altLang="en-US" sz="2000" dirty="0"/>
              <a:t>）。</a:t>
            </a:r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b="1" dirty="0" err="1">
                <a:solidFill>
                  <a:srgbClr val="FF0000"/>
                </a:solidFill>
              </a:rPr>
              <a:t>replaceFirst</a:t>
            </a:r>
            <a:r>
              <a:rPr lang="en-US" altLang="zh-CN" sz="2000" dirty="0"/>
              <a:t>(String replacement)</a:t>
            </a:r>
            <a:r>
              <a:rPr lang="zh-CN" altLang="en-US" sz="2000" dirty="0"/>
              <a:t>：</a:t>
            </a:r>
            <a:r>
              <a:rPr lang="en-US" altLang="zh-CN" sz="2000" dirty="0"/>
              <a:t>Matcher</a:t>
            </a:r>
            <a:r>
              <a:rPr lang="zh-CN" altLang="en-US" sz="2000" dirty="0"/>
              <a:t>对象</a:t>
            </a:r>
            <a:r>
              <a:rPr lang="en-US" altLang="zh-CN" sz="2000" dirty="0"/>
              <a:t>m</a:t>
            </a:r>
            <a:r>
              <a:rPr lang="zh-CN" altLang="en-US" sz="2000" dirty="0"/>
              <a:t>调用该方法可以返回一个字符串对象，该字符串是通过把</a:t>
            </a:r>
            <a:r>
              <a:rPr lang="en-US" altLang="zh-CN" sz="2000" dirty="0"/>
              <a:t>input</a:t>
            </a:r>
            <a:r>
              <a:rPr lang="zh-CN" altLang="en-US" sz="2000" dirty="0"/>
              <a:t>中</a:t>
            </a:r>
            <a:r>
              <a:rPr lang="zh-CN" altLang="en-US" sz="2000" b="1" dirty="0">
                <a:solidFill>
                  <a:srgbClr val="FF0000"/>
                </a:solidFill>
              </a:rPr>
              <a:t>第一个</a:t>
            </a:r>
            <a:r>
              <a:rPr lang="zh-CN" altLang="en-US" sz="2000" dirty="0"/>
              <a:t>与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匹配的子字符串替换为参数</a:t>
            </a:r>
            <a:r>
              <a:rPr lang="en-US" altLang="zh-CN" sz="2000" dirty="0"/>
              <a:t>replacement</a:t>
            </a:r>
            <a:r>
              <a:rPr lang="zh-CN" altLang="en-US" sz="2000" dirty="0"/>
              <a:t>指定的字符串得到的（</a:t>
            </a:r>
            <a:r>
              <a:rPr lang="en-US" altLang="zh-CN" sz="2000" b="1" dirty="0">
                <a:solidFill>
                  <a:srgbClr val="0000FF"/>
                </a:solidFill>
              </a:rPr>
              <a:t>input</a:t>
            </a:r>
            <a:r>
              <a:rPr lang="zh-CN" altLang="en-US" sz="2000" b="1" dirty="0">
                <a:solidFill>
                  <a:srgbClr val="0000FF"/>
                </a:solidFill>
              </a:rPr>
              <a:t>本身没有发生变化</a:t>
            </a:r>
            <a:r>
              <a:rPr lang="zh-CN" altLang="en-US" sz="2000"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81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9311" y="2039431"/>
            <a:ext cx="7748289" cy="440120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Example6_8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Pattern p;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Matcher m;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input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"0A1A2A3A4A5A6A7A8A9"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"\\dA\\d"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(input);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m.find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m.group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"From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m.start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To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m.end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60232" y="1234846"/>
            <a:ext cx="1718295" cy="98737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940152" y="4653136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返回匹配的字符串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4644008" y="4797152"/>
            <a:ext cx="1224137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797596" y="3356992"/>
            <a:ext cx="3744416" cy="1152128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3425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9311" y="2039431"/>
            <a:ext cx="5310881" cy="427809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Example6_8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Pattern p;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Matcher m;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input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"0A1A2A3A4A5A6A7A8A9"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"\\dA\\d"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(input);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temp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m.replaceAll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"***"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(temp);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(input);       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46428" y="5803507"/>
            <a:ext cx="2258020" cy="50723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1907704" y="3501008"/>
            <a:ext cx="4248472" cy="1296144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174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6.6 </a:t>
            </a:r>
            <a:r>
              <a:rPr lang="zh-CN" altLang="en-US" sz="3200" dirty="0"/>
              <a:t>模式匹配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07704" y="1143268"/>
            <a:ext cx="5670921" cy="550920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Example6_8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Pattern p;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Matcher m;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input = 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"9A00A3"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"\\dA\\d"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(input);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m.matches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       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"Not exact match"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m.lookingAt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 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String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m.group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9655" y="6178871"/>
            <a:ext cx="1537940" cy="46561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2771800" y="2420888"/>
            <a:ext cx="3744416" cy="1224136"/>
          </a:xfrm>
          <a:prstGeom prst="rec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891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6.6 </a:t>
            </a:r>
            <a:r>
              <a:rPr lang="zh-CN" altLang="en-US" sz="2000" dirty="0"/>
              <a:t>模式匹配	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6.4 </a:t>
            </a:r>
            <a:r>
              <a:rPr lang="zh-CN" altLang="en-US" sz="2000" dirty="0">
                <a:solidFill>
                  <a:srgbClr val="FF0000"/>
                </a:solidFill>
              </a:rPr>
              <a:t>正则表达式及字符串的替换与分解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094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1. </a:t>
            </a:r>
            <a:r>
              <a:rPr lang="zh-CN" altLang="en-US" sz="2000" dirty="0"/>
              <a:t>正则表达式</a:t>
            </a:r>
          </a:p>
          <a:p>
            <a:r>
              <a:rPr lang="zh-CN" altLang="en-US" sz="2000" dirty="0"/>
              <a:t>一个正则表达式是一些含有特殊意义字符的字符串，这些特殊字符称作正则表达式中的</a:t>
            </a:r>
            <a:r>
              <a:rPr lang="zh-CN" altLang="en-US" sz="2000" b="1" dirty="0">
                <a:solidFill>
                  <a:srgbClr val="FF0000"/>
                </a:solidFill>
              </a:rPr>
              <a:t>元字符</a:t>
            </a:r>
            <a:r>
              <a:rPr lang="zh-CN" altLang="en-US" sz="2000" dirty="0"/>
              <a:t>。比如，“</a:t>
            </a:r>
            <a:r>
              <a:rPr lang="en-US" altLang="zh-CN" sz="2000" dirty="0"/>
              <a:t>\\dok</a:t>
            </a:r>
            <a:r>
              <a:rPr lang="zh-CN" altLang="en-US" sz="2000" dirty="0"/>
              <a:t>”中的</a:t>
            </a:r>
            <a:r>
              <a:rPr lang="en-US" altLang="zh-CN" sz="2000" b="1" dirty="0">
                <a:solidFill>
                  <a:srgbClr val="FF0000"/>
                </a:solidFill>
              </a:rPr>
              <a:t>\\d</a:t>
            </a:r>
            <a:r>
              <a:rPr lang="zh-CN" altLang="en-US" sz="2000" dirty="0"/>
              <a:t>就是有特殊意义的元字符，</a:t>
            </a:r>
            <a:r>
              <a:rPr lang="zh-CN" altLang="en-US" sz="2000" b="1" dirty="0">
                <a:solidFill>
                  <a:srgbClr val="FF0000"/>
                </a:solidFill>
              </a:rPr>
              <a:t>代表</a:t>
            </a:r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</a:rPr>
              <a:t>到</a:t>
            </a:r>
            <a:r>
              <a:rPr lang="en-US" altLang="zh-CN" sz="2000" b="1" dirty="0">
                <a:solidFill>
                  <a:srgbClr val="FF0000"/>
                </a:solidFill>
              </a:rPr>
              <a:t>9</a:t>
            </a:r>
            <a:r>
              <a:rPr lang="zh-CN" altLang="en-US" sz="2000" b="1" dirty="0">
                <a:solidFill>
                  <a:srgbClr val="FF0000"/>
                </a:solidFill>
              </a:rPr>
              <a:t>中的任何一个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一个正则表达式也称作一个</a:t>
            </a:r>
            <a:r>
              <a:rPr lang="zh-CN" altLang="en-US" sz="2000" b="1" dirty="0">
                <a:solidFill>
                  <a:srgbClr val="FF0000"/>
                </a:solidFill>
              </a:rPr>
              <a:t>模式</a:t>
            </a:r>
            <a:r>
              <a:rPr lang="zh-CN" altLang="en-US" sz="2000" dirty="0"/>
              <a:t>，字符串“</a:t>
            </a:r>
            <a:r>
              <a:rPr lang="en-US" altLang="zh-CN" sz="2000" dirty="0"/>
              <a:t>9ok</a:t>
            </a:r>
            <a:r>
              <a:rPr lang="zh-CN" altLang="en-US" sz="2000" dirty="0"/>
              <a:t>”和“</a:t>
            </a:r>
            <a:r>
              <a:rPr lang="en-US" altLang="zh-CN" sz="2000" dirty="0"/>
              <a:t>1ok</a:t>
            </a:r>
            <a:r>
              <a:rPr lang="zh-CN" altLang="en-US" sz="2000" dirty="0"/>
              <a:t>”都是和模式“</a:t>
            </a:r>
            <a:r>
              <a:rPr lang="en-US" altLang="zh-CN" sz="2000" dirty="0"/>
              <a:t>\\dok</a:t>
            </a:r>
            <a:r>
              <a:rPr lang="zh-CN" altLang="en-US" sz="2000" dirty="0"/>
              <a:t>”匹配的字符串之一。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和一个模式匹配的字符串称作</a:t>
            </a:r>
            <a:r>
              <a:rPr lang="zh-CN" altLang="en-US" sz="2000" b="1" dirty="0">
                <a:solidFill>
                  <a:srgbClr val="FF0000"/>
                </a:solidFill>
              </a:rPr>
              <a:t>匹配模式字符串</a:t>
            </a:r>
            <a:r>
              <a:rPr lang="zh-CN" altLang="en-US" sz="2000" dirty="0"/>
              <a:t>，也称作</a:t>
            </a:r>
            <a:r>
              <a:rPr lang="zh-CN" altLang="en-US" sz="2000" b="1" dirty="0">
                <a:solidFill>
                  <a:srgbClr val="FF0000"/>
                </a:solidFill>
              </a:rPr>
              <a:t>模式匹配字符串</a:t>
            </a:r>
            <a:r>
              <a:rPr lang="zh-CN" altLang="en-US" sz="2000" dirty="0"/>
              <a:t>。</a:t>
            </a:r>
          </a:p>
          <a:p>
            <a:endParaRPr lang="en-US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39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表</a:t>
            </a:r>
            <a:r>
              <a:rPr lang="en-US" altLang="zh-CN" sz="2000" dirty="0"/>
              <a:t>6.1</a:t>
            </a:r>
            <a:r>
              <a:rPr lang="zh-CN" altLang="en-US" sz="2000" dirty="0"/>
              <a:t> 元字符</a:t>
            </a:r>
          </a:p>
          <a:p>
            <a:endParaRPr lang="zh-CN" altLang="en-US" dirty="0"/>
          </a:p>
        </p:txBody>
      </p:sp>
      <p:graphicFrame>
        <p:nvGraphicFramePr>
          <p:cNvPr id="4" name="Group 16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268027"/>
              </p:ext>
            </p:extLst>
          </p:nvPr>
        </p:nvGraphicFramePr>
        <p:xfrm>
          <a:off x="552315" y="2060848"/>
          <a:ext cx="8124141" cy="4152265"/>
        </p:xfrm>
        <a:graphic>
          <a:graphicData uri="http://schemas.openxmlformats.org/drawingml/2006/table">
            <a:tbl>
              <a:tblPr/>
              <a:tblGrid>
                <a:gridCol w="1108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元字符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在正则表达式中的写法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意义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.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.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代表任何一个字符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\d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\\d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0~9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的任何一个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数字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\D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\\D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代表任何一个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非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数字字符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\s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\\s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空格类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字符，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\t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\n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\x0B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\f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‘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\r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’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\S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\\S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非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空格类字符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\w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\\w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代表可用于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标识符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的字符（不包括美元符号）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\W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\\W 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代表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不能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用于标识符的字符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51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表</a:t>
            </a:r>
            <a:r>
              <a:rPr lang="en-US" altLang="zh-CN" sz="2000" dirty="0"/>
              <a:t>6.2 </a:t>
            </a:r>
            <a:r>
              <a:rPr lang="zh-CN" altLang="en-US" sz="2000" dirty="0"/>
              <a:t>限定修饰符</a:t>
            </a:r>
          </a:p>
          <a:p>
            <a:endParaRPr lang="zh-CN" altLang="en-US" dirty="0"/>
          </a:p>
        </p:txBody>
      </p:sp>
      <p:graphicFrame>
        <p:nvGraphicFramePr>
          <p:cNvPr id="4" name="Group 39"/>
          <p:cNvGraphicFramePr>
            <a:graphicFrameLocks/>
          </p:cNvGraphicFramePr>
          <p:nvPr/>
        </p:nvGraphicFramePr>
        <p:xfrm>
          <a:off x="923975" y="2070373"/>
          <a:ext cx="5975350" cy="415131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带限定符号的模式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意义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X?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次或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X*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次或多次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X+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次或多次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X{n}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恰好出现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X{n,}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至少出现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X{n, m}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出现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次至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834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在正则表达式（模式）中可以使用一对</a:t>
            </a:r>
            <a:r>
              <a:rPr lang="zh-CN" altLang="en-US" sz="2000" b="1" dirty="0">
                <a:solidFill>
                  <a:srgbClr val="FF0000"/>
                </a:solidFill>
              </a:rPr>
              <a:t>方括号</a:t>
            </a:r>
            <a:r>
              <a:rPr lang="zh-CN" altLang="en-US" sz="2000" dirty="0"/>
              <a:t>括起若干个字符，代表方括号中的</a:t>
            </a:r>
            <a:r>
              <a:rPr lang="zh-CN" altLang="en-US" sz="2000" dirty="0">
                <a:solidFill>
                  <a:srgbClr val="FF0000"/>
                </a:solidFill>
              </a:rPr>
              <a:t>任何</a:t>
            </a:r>
            <a:r>
              <a:rPr lang="zh-CN" altLang="en-US" sz="2000" dirty="0"/>
              <a:t>一个字符。例如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“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ABC</a:t>
            </a:r>
            <a:r>
              <a:rPr lang="zh-CN" altLang="en-US" sz="2000" dirty="0"/>
              <a:t>”</a:t>
            </a:r>
            <a:r>
              <a:rPr lang="en-US" altLang="zh-CN" sz="2000" dirty="0"/>
              <a:t> </a:t>
            </a:r>
            <a:r>
              <a:rPr lang="zh-CN" altLang="en-US" sz="2000" dirty="0"/>
              <a:t>、“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en-US" altLang="zh-CN" sz="2000" dirty="0"/>
              <a:t>ABC</a:t>
            </a:r>
            <a:r>
              <a:rPr lang="zh-CN" altLang="en-US" sz="2000" dirty="0"/>
              <a:t>”和“</a:t>
            </a:r>
            <a:r>
              <a:rPr lang="en-US" altLang="zh-CN" sz="2000" dirty="0">
                <a:solidFill>
                  <a:srgbClr val="FF0000"/>
                </a:solidFill>
              </a:rPr>
              <a:t>9</a:t>
            </a:r>
            <a:r>
              <a:rPr lang="en-US" altLang="zh-CN" sz="2000" dirty="0"/>
              <a:t>ABC</a:t>
            </a:r>
            <a:r>
              <a:rPr lang="zh-CN" altLang="en-US" sz="2000" dirty="0"/>
              <a:t>”都是和模式</a:t>
            </a:r>
            <a:r>
              <a:rPr lang="en-US" altLang="zh-CN" sz="2000" dirty="0"/>
              <a:t>pattern</a:t>
            </a:r>
            <a:r>
              <a:rPr lang="zh-CN" altLang="en-US" sz="2000" dirty="0"/>
              <a:t>匹配的字符序列。</a:t>
            </a:r>
          </a:p>
        </p:txBody>
      </p:sp>
      <p:sp>
        <p:nvSpPr>
          <p:cNvPr id="4" name="矩形 3"/>
          <p:cNvSpPr/>
          <p:nvPr/>
        </p:nvSpPr>
        <p:spPr>
          <a:xfrm>
            <a:off x="1619672" y="2412159"/>
            <a:ext cx="2736304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pattern = "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[159]</a:t>
            </a:r>
            <a:r>
              <a:rPr lang="en-US" altLang="zh-CN" dirty="0">
                <a:latin typeface="Consolas" panose="020B0609020204030204" pitchFamily="49" charset="0"/>
              </a:rPr>
              <a:t>ABC"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229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000" dirty="0"/>
              <a:t>[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]</a:t>
            </a:r>
            <a:r>
              <a:rPr lang="zh-CN" altLang="en-US" sz="2000" dirty="0"/>
              <a:t>：代表</a:t>
            </a:r>
            <a:r>
              <a:rPr lang="en-US" altLang="zh-CN" sz="2000" dirty="0"/>
              <a:t>a, b, c</a:t>
            </a:r>
            <a:r>
              <a:rPr lang="zh-CN" altLang="en-US" sz="2000" dirty="0"/>
              <a:t>中的任何一个</a:t>
            </a:r>
          </a:p>
          <a:p>
            <a:pPr lvl="1"/>
            <a:r>
              <a:rPr lang="en-US" altLang="zh-CN" sz="2000" dirty="0"/>
              <a:t>[^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]</a:t>
            </a:r>
            <a:r>
              <a:rPr lang="zh-CN" altLang="en-US" sz="2000" dirty="0"/>
              <a:t>：代表</a:t>
            </a:r>
            <a:r>
              <a:rPr lang="zh-CN" altLang="en-US" sz="2000" b="1" dirty="0">
                <a:solidFill>
                  <a:srgbClr val="FF0000"/>
                </a:solidFill>
              </a:rPr>
              <a:t>除了</a:t>
            </a:r>
            <a:r>
              <a:rPr lang="en-US" altLang="zh-CN" sz="2000" b="1" dirty="0">
                <a:solidFill>
                  <a:srgbClr val="FF0000"/>
                </a:solidFill>
              </a:rPr>
              <a:t>a, b, c</a:t>
            </a:r>
            <a:r>
              <a:rPr lang="zh-CN" altLang="en-US" sz="2000" b="1" dirty="0">
                <a:solidFill>
                  <a:srgbClr val="FF0000"/>
                </a:solidFill>
              </a:rPr>
              <a:t>以外</a:t>
            </a:r>
            <a:r>
              <a:rPr lang="zh-CN" altLang="en-US" sz="2000" dirty="0"/>
              <a:t>的任何字符</a:t>
            </a:r>
          </a:p>
          <a:p>
            <a:pPr lvl="1"/>
            <a:r>
              <a:rPr lang="en-US" altLang="zh-CN" sz="2000" dirty="0"/>
              <a:t>[a-d]</a:t>
            </a:r>
            <a:r>
              <a:rPr lang="zh-CN" altLang="en-US" sz="2000" dirty="0"/>
              <a:t>：代表</a:t>
            </a:r>
            <a:r>
              <a:rPr lang="en-US" altLang="zh-CN" sz="2000" dirty="0"/>
              <a:t>a</a:t>
            </a:r>
            <a:r>
              <a:rPr lang="zh-CN" altLang="en-US" sz="2000" dirty="0"/>
              <a:t>至</a:t>
            </a:r>
            <a:r>
              <a:rPr lang="en-US" altLang="zh-CN" sz="2000" dirty="0"/>
              <a:t>d</a:t>
            </a:r>
            <a:r>
              <a:rPr lang="zh-CN" altLang="en-US" sz="2000" dirty="0"/>
              <a:t>中的任何一个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dirty="0"/>
              <a:t>另外，</a:t>
            </a:r>
            <a:r>
              <a:rPr lang="zh-CN" altLang="en-US" sz="2000" b="1" dirty="0">
                <a:solidFill>
                  <a:srgbClr val="FF0000"/>
                </a:solidFill>
              </a:rPr>
              <a:t>方括号</a:t>
            </a:r>
            <a:r>
              <a:rPr lang="zh-CN" altLang="en-US" sz="2000" dirty="0"/>
              <a:t>里允许</a:t>
            </a:r>
            <a:r>
              <a:rPr lang="zh-CN" altLang="en-US" sz="2000" b="1" dirty="0">
                <a:solidFill>
                  <a:srgbClr val="0000FF"/>
                </a:solidFill>
              </a:rPr>
              <a:t>嵌套</a:t>
            </a:r>
            <a:r>
              <a:rPr lang="zh-CN" altLang="en-US" sz="2000" b="1" dirty="0">
                <a:solidFill>
                  <a:srgbClr val="FF0000"/>
                </a:solidFill>
              </a:rPr>
              <a:t>方括号</a:t>
            </a:r>
            <a:r>
              <a:rPr lang="zh-CN" altLang="en-US" sz="2000" dirty="0"/>
              <a:t>，可以进行并、交、差运算</a:t>
            </a:r>
          </a:p>
          <a:p>
            <a:pPr lvl="2"/>
            <a:r>
              <a:rPr lang="en-US" altLang="zh-CN" sz="2000" dirty="0"/>
              <a:t>[a-d[m-p]]</a:t>
            </a:r>
            <a:r>
              <a:rPr lang="zh-CN" altLang="en-US" sz="2000" dirty="0"/>
              <a:t>：代表</a:t>
            </a:r>
            <a:r>
              <a:rPr lang="en-US" altLang="zh-CN" sz="2000" dirty="0"/>
              <a:t>a</a:t>
            </a:r>
            <a:r>
              <a:rPr lang="zh-CN" altLang="en-US" sz="2000" dirty="0"/>
              <a:t>至</a:t>
            </a:r>
            <a:r>
              <a:rPr lang="en-US" altLang="zh-CN" sz="2000" dirty="0"/>
              <a:t>d</a:t>
            </a:r>
            <a:r>
              <a:rPr lang="zh-CN" altLang="en-US" sz="2000" dirty="0"/>
              <a:t>，或</a:t>
            </a:r>
            <a:r>
              <a:rPr lang="en-US" altLang="zh-CN" sz="2000" dirty="0"/>
              <a:t>m</a:t>
            </a:r>
            <a:r>
              <a:rPr lang="zh-CN" altLang="en-US" sz="2000" dirty="0"/>
              <a:t>至</a:t>
            </a:r>
            <a:r>
              <a:rPr lang="en-US" altLang="zh-CN" sz="2000" dirty="0"/>
              <a:t>p</a:t>
            </a:r>
            <a:r>
              <a:rPr lang="zh-CN" altLang="en-US" sz="2000" dirty="0"/>
              <a:t>中的任何字符（</a:t>
            </a:r>
            <a:r>
              <a:rPr lang="zh-CN" altLang="en-US" sz="2000" b="1" dirty="0">
                <a:solidFill>
                  <a:srgbClr val="FF0000"/>
                </a:solidFill>
              </a:rPr>
              <a:t>并</a:t>
            </a:r>
            <a:r>
              <a:rPr lang="zh-CN" altLang="en-US" sz="2000" dirty="0"/>
              <a:t>）</a:t>
            </a:r>
          </a:p>
          <a:p>
            <a:pPr lvl="2"/>
            <a:r>
              <a:rPr lang="en-US" altLang="zh-CN" sz="2000" dirty="0"/>
              <a:t>[a-z&amp;&amp;[</a:t>
            </a:r>
            <a:r>
              <a:rPr lang="en-US" altLang="zh-CN" sz="2000" dirty="0" err="1"/>
              <a:t>def</a:t>
            </a:r>
            <a:r>
              <a:rPr lang="en-US" altLang="zh-CN" sz="2000" dirty="0"/>
              <a:t>]]</a:t>
            </a:r>
            <a:r>
              <a:rPr lang="zh-CN" altLang="en-US" sz="2000" dirty="0"/>
              <a:t>：代表</a:t>
            </a:r>
            <a:r>
              <a:rPr lang="en-US" altLang="zh-CN" sz="2000" dirty="0"/>
              <a:t>d, e</a:t>
            </a:r>
            <a:r>
              <a:rPr lang="zh-CN" altLang="en-US" sz="2000" dirty="0"/>
              <a:t>或</a:t>
            </a:r>
            <a:r>
              <a:rPr lang="en-US" altLang="zh-CN" sz="2000" dirty="0"/>
              <a:t>f</a:t>
            </a:r>
            <a:r>
              <a:rPr lang="zh-CN" altLang="en-US" sz="2000" dirty="0"/>
              <a:t>中的任何一个（</a:t>
            </a:r>
            <a:r>
              <a:rPr lang="zh-CN" altLang="en-US" sz="2000" b="1" dirty="0">
                <a:solidFill>
                  <a:srgbClr val="FF0000"/>
                </a:solidFill>
              </a:rPr>
              <a:t>交</a:t>
            </a:r>
            <a:r>
              <a:rPr lang="zh-CN" altLang="en-US" sz="2000" dirty="0"/>
              <a:t>） </a:t>
            </a:r>
          </a:p>
          <a:p>
            <a:pPr lvl="2"/>
            <a:r>
              <a:rPr lang="en-US" altLang="zh-CN" sz="2000" dirty="0"/>
              <a:t>[a-f&amp;&amp;[^</a:t>
            </a:r>
            <a:r>
              <a:rPr lang="en-US" altLang="zh-CN" sz="2000" dirty="0" err="1"/>
              <a:t>bc</a:t>
            </a:r>
            <a:r>
              <a:rPr lang="en-US" altLang="zh-CN" sz="2000" dirty="0"/>
              <a:t>]]</a:t>
            </a:r>
            <a:r>
              <a:rPr lang="zh-CN" altLang="en-US" sz="2000" dirty="0"/>
              <a:t>：代表</a:t>
            </a:r>
            <a:r>
              <a:rPr lang="en-US" altLang="zh-CN" sz="2000" dirty="0"/>
              <a:t>a, d, e, f</a:t>
            </a:r>
            <a:r>
              <a:rPr lang="zh-CN" altLang="en-US" sz="2000" dirty="0"/>
              <a:t>（</a:t>
            </a:r>
            <a:r>
              <a:rPr lang="zh-CN" altLang="en-US" sz="2000" b="1" dirty="0">
                <a:solidFill>
                  <a:srgbClr val="FF0000"/>
                </a:solidFill>
              </a:rPr>
              <a:t>差</a:t>
            </a:r>
            <a:r>
              <a:rPr lang="zh-CN" altLang="en-US" sz="2000" dirty="0"/>
              <a:t>）</a:t>
            </a: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21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用</a:t>
            </a:r>
            <a:r>
              <a:rPr lang="en-US" altLang="zh-CN" sz="2000" dirty="0"/>
              <a:t>X</a:t>
            </a:r>
            <a:r>
              <a:rPr lang="zh-CN" altLang="en-US" sz="2000" dirty="0"/>
              <a:t>代表正则表达式中的一个元字符或普通字符，那么“ </a:t>
            </a:r>
            <a:r>
              <a:rPr lang="en-US" altLang="zh-CN" sz="2000" b="1" dirty="0">
                <a:solidFill>
                  <a:srgbClr val="FF0000"/>
                </a:solidFill>
              </a:rPr>
              <a:t>X?</a:t>
            </a:r>
            <a:r>
              <a:rPr lang="zh-CN" altLang="en-US" sz="2000" dirty="0"/>
              <a:t> ”就表示</a:t>
            </a:r>
            <a:r>
              <a:rPr lang="en-US" altLang="zh-CN" sz="2000" dirty="0"/>
              <a:t>X</a:t>
            </a:r>
            <a:r>
              <a:rPr lang="zh-CN" altLang="en-US" sz="2000" dirty="0"/>
              <a:t>出现</a:t>
            </a:r>
            <a:r>
              <a:rPr lang="en-US" altLang="zh-CN" sz="2000" dirty="0"/>
              <a:t>0</a:t>
            </a:r>
            <a:r>
              <a:rPr lang="zh-CN" altLang="en-US" sz="2000" dirty="0"/>
              <a:t>次或</a:t>
            </a:r>
            <a:r>
              <a:rPr lang="en-US" altLang="zh-CN" sz="2000" dirty="0"/>
              <a:t>1</a:t>
            </a:r>
            <a:r>
              <a:rPr lang="zh-CN" altLang="en-US" sz="2000" dirty="0"/>
              <a:t>次。</a:t>
            </a:r>
            <a:endParaRPr lang="en-US" altLang="zh-CN" sz="2000" dirty="0"/>
          </a:p>
          <a:p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X</a:t>
            </a:r>
            <a:r>
              <a:rPr lang="zh-CN" altLang="en-US" sz="2000" dirty="0"/>
              <a:t>是“</a:t>
            </a:r>
            <a:r>
              <a:rPr lang="en-US" altLang="zh-CN" sz="2000" dirty="0"/>
              <a:t>A[1359]</a:t>
            </a:r>
            <a:r>
              <a:rPr lang="zh-CN" altLang="en-US" sz="2000" dirty="0"/>
              <a:t>”，那么“</a:t>
            </a:r>
            <a:r>
              <a:rPr lang="en-US" altLang="zh-CN" sz="2000" dirty="0"/>
              <a:t>A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A1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A3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A5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A9</a:t>
            </a:r>
            <a:r>
              <a:rPr lang="zh-CN" altLang="en-US" sz="2000" dirty="0"/>
              <a:t> ”是匹配模式</a:t>
            </a:r>
            <a:r>
              <a:rPr lang="en-US" altLang="zh-CN" sz="2000" dirty="0"/>
              <a:t>pattern</a:t>
            </a:r>
            <a:r>
              <a:rPr lang="zh-CN" altLang="en-US" sz="2000" dirty="0"/>
              <a:t>的</a:t>
            </a:r>
            <a:r>
              <a:rPr lang="zh-CN" altLang="en-US" sz="2000" b="1" dirty="0">
                <a:solidFill>
                  <a:srgbClr val="FF0000"/>
                </a:solidFill>
              </a:rPr>
              <a:t>全部</a:t>
            </a:r>
            <a:r>
              <a:rPr lang="zh-CN" altLang="en-US" sz="2000" dirty="0"/>
              <a:t>字符串。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X</a:t>
            </a:r>
            <a:r>
              <a:rPr lang="zh-CN" altLang="en-US" sz="2000" dirty="0"/>
              <a:t>是“</a:t>
            </a:r>
            <a:r>
              <a:rPr lang="en-US" altLang="zh-CN" sz="2000" dirty="0"/>
              <a:t>\\w</a:t>
            </a:r>
            <a:r>
              <a:rPr lang="zh-CN" altLang="en-US" sz="2000" dirty="0"/>
              <a:t>”，那么“</a:t>
            </a:r>
            <a:r>
              <a:rPr lang="en-US" altLang="zh-CN" sz="2000" dirty="0"/>
              <a:t>@</a:t>
            </a:r>
            <a:r>
              <a:rPr lang="en-US" altLang="zh-CN" sz="2000" dirty="0" err="1"/>
              <a:t>abcd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@girl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@moon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“</a:t>
            </a:r>
            <a:r>
              <a:rPr lang="en-US" altLang="zh-CN" sz="2000" dirty="0"/>
              <a:t>@flag</a:t>
            </a:r>
            <a:r>
              <a:rPr lang="zh-CN" altLang="en-US" sz="2000" dirty="0"/>
              <a:t> ”</a:t>
            </a:r>
            <a:r>
              <a:rPr lang="zh-CN" altLang="en-US" sz="2000" b="1" dirty="0">
                <a:solidFill>
                  <a:srgbClr val="FF0000"/>
                </a:solidFill>
              </a:rPr>
              <a:t>都是</a:t>
            </a:r>
            <a:r>
              <a:rPr lang="zh-CN" altLang="en-US" sz="2000" dirty="0"/>
              <a:t>匹配模式</a:t>
            </a:r>
            <a:r>
              <a:rPr lang="en-US" altLang="zh-CN" sz="2000" dirty="0"/>
              <a:t>pattern</a:t>
            </a:r>
            <a:r>
              <a:rPr lang="zh-CN" altLang="en-US" sz="2000" dirty="0"/>
              <a:t>的字符串之一。</a:t>
            </a:r>
          </a:p>
        </p:txBody>
      </p:sp>
      <p:sp>
        <p:nvSpPr>
          <p:cNvPr id="4" name="矩形 3"/>
          <p:cNvSpPr/>
          <p:nvPr/>
        </p:nvSpPr>
        <p:spPr>
          <a:xfrm>
            <a:off x="971600" y="2555612"/>
            <a:ext cx="2736304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pattern = "</a:t>
            </a:r>
            <a:r>
              <a:rPr lang="en-US" altLang="zh-CN" dirty="0"/>
              <a:t>A[1359]?</a:t>
            </a:r>
            <a:r>
              <a:rPr lang="en-US" altLang="zh-CN" dirty="0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3995772"/>
            <a:ext cx="2736304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pattern = "</a:t>
            </a:r>
            <a:r>
              <a:rPr lang="en-US" altLang="zh-CN" dirty="0"/>
              <a:t>@\\w{4}</a:t>
            </a:r>
            <a:r>
              <a:rPr lang="en-US" altLang="zh-CN" dirty="0"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50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45679" y="1190937"/>
            <a:ext cx="7698729" cy="547842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Example6_9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Pattern p;                      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Matcher m;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"\\d+"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"2008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年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月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日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m.find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m.group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"From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m.start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To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m.end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"\\D+"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"2008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年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月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08</a:t>
            </a:r>
            <a:r>
              <a:rPr lang="zh-CN" altLang="en-US" sz="1400" dirty="0">
                <a:solidFill>
                  <a:srgbClr val="2A00FF"/>
                </a:solidFill>
                <a:latin typeface="Consolas" panose="020B0609020204030204" pitchFamily="49" charset="0"/>
              </a:rPr>
              <a:t>日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m.find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m.group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"From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m.start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To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m.end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4138740"/>
            <a:ext cx="1656184" cy="121542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4211960" y="2461538"/>
            <a:ext cx="694015" cy="3913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211960" y="4180938"/>
            <a:ext cx="694015" cy="39139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5152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模式可以使用“</a:t>
            </a:r>
            <a:r>
              <a:rPr lang="en-US" altLang="zh-CN" sz="2000" dirty="0"/>
              <a:t>|</a:t>
            </a:r>
            <a:r>
              <a:rPr lang="zh-CN" altLang="en-US" sz="2000" dirty="0"/>
              <a:t>”位运算符进行</a:t>
            </a:r>
            <a:r>
              <a:rPr lang="zh-CN" altLang="en-US" sz="2000" dirty="0">
                <a:solidFill>
                  <a:srgbClr val="FF0000"/>
                </a:solidFill>
              </a:rPr>
              <a:t>逻辑“或”</a:t>
            </a:r>
            <a:r>
              <a:rPr lang="zh-CN" altLang="en-US" sz="2000" dirty="0"/>
              <a:t>运算得到一个新模式。例如，</a:t>
            </a:r>
            <a:r>
              <a:rPr lang="en-US" altLang="zh-CN" sz="2000" dirty="0"/>
              <a:t>pattern1</a:t>
            </a:r>
            <a:r>
              <a:rPr lang="zh-CN" altLang="en-US" sz="2000" dirty="0"/>
              <a:t>、</a:t>
            </a:r>
            <a:r>
              <a:rPr lang="en-US" altLang="zh-CN" sz="2000" dirty="0"/>
              <a:t>pattern2</a:t>
            </a:r>
            <a:r>
              <a:rPr lang="zh-CN" altLang="en-US" sz="2000" dirty="0"/>
              <a:t>是两个模式，即两个正则表达式。那么，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zh-CN" altLang="en-US" sz="2000" dirty="0"/>
              <a:t>就是两个模式的“或”。一个字符串如果匹配模式</a:t>
            </a:r>
            <a:r>
              <a:rPr lang="en-US" altLang="zh-CN" sz="2000" dirty="0"/>
              <a:t>pattren1 </a:t>
            </a:r>
            <a:r>
              <a:rPr lang="zh-CN" altLang="en-US" sz="2000" b="1" dirty="0">
                <a:solidFill>
                  <a:srgbClr val="FF0000"/>
                </a:solidFill>
              </a:rPr>
              <a:t>或</a:t>
            </a:r>
            <a:r>
              <a:rPr lang="zh-CN" altLang="en-US" sz="2000" dirty="0"/>
              <a:t> 匹配模式</a:t>
            </a:r>
            <a:r>
              <a:rPr lang="en-US" altLang="zh-CN" sz="2000" dirty="0"/>
              <a:t>pattern2</a:t>
            </a:r>
            <a:r>
              <a:rPr lang="zh-CN" altLang="en-US" sz="2000" dirty="0"/>
              <a:t>，那么就匹配模式</a:t>
            </a:r>
            <a:r>
              <a:rPr lang="en-US" altLang="zh-CN" sz="2000" dirty="0"/>
              <a:t>pattern</a:t>
            </a:r>
            <a:r>
              <a:rPr lang="zh-CN" altLang="en-US" sz="2000" dirty="0"/>
              <a:t>。 </a:t>
            </a:r>
          </a:p>
        </p:txBody>
      </p:sp>
      <p:sp>
        <p:nvSpPr>
          <p:cNvPr id="4" name="矩形 3"/>
          <p:cNvSpPr/>
          <p:nvPr/>
        </p:nvSpPr>
        <p:spPr>
          <a:xfrm>
            <a:off x="1331640" y="2439938"/>
            <a:ext cx="3384376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pattern=pattern1|pattern2;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607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1009700" y="2050970"/>
            <a:ext cx="7698729" cy="3970318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java.util.regex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Example6_10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Pattern p;                           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Matcher m;                           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s1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"likeKFChateMDlike123jkjhate999like888"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p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Pattern.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compile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"like\\w{3}|hate\\w{2}"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m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p.matcher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(s1);                      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m.find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m.group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"From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m.start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To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m.end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88719" y="5585903"/>
            <a:ext cx="1798081" cy="87076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588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</a:t>
            </a:r>
            <a:r>
              <a:rPr lang="zh-CN" altLang="en-US" sz="2000" dirty="0"/>
              <a:t>字符串的替换</a:t>
            </a:r>
            <a:endParaRPr lang="en-US" altLang="zh-CN" sz="2000" dirty="0"/>
          </a:p>
          <a:p>
            <a:r>
              <a:rPr lang="en-US" altLang="zh-CN" sz="2000" dirty="0"/>
              <a:t>public String </a:t>
            </a:r>
            <a:r>
              <a:rPr lang="en-US" altLang="zh-CN" sz="2000" dirty="0" err="1"/>
              <a:t>replaceAll</a:t>
            </a:r>
            <a:r>
              <a:rPr lang="en-US" altLang="zh-CN" sz="2000" dirty="0"/>
              <a:t>(String regex, String replacement)</a:t>
            </a:r>
            <a:r>
              <a:rPr lang="zh-CN" altLang="en-US" sz="2000" dirty="0"/>
              <a:t>方法返回一个字符串，该字符串是当前字符串中所有与参数</a:t>
            </a:r>
            <a:r>
              <a:rPr lang="en-US" altLang="zh-CN" sz="2000" dirty="0"/>
              <a:t>regex</a:t>
            </a:r>
            <a:r>
              <a:rPr lang="zh-CN" altLang="en-US" sz="2000" dirty="0"/>
              <a:t>指定的正则表达式匹配的字符串被参数</a:t>
            </a:r>
            <a:r>
              <a:rPr lang="en-US" altLang="zh-CN" sz="2000" dirty="0"/>
              <a:t>replacement</a:t>
            </a:r>
            <a:r>
              <a:rPr lang="zh-CN" altLang="en-US" sz="2000" dirty="0"/>
              <a:t>指定的字符串替换后的字符串。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987947" y="3835926"/>
            <a:ext cx="6849813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result = "12hello567".replaceAll("[a-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zA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-Z]+","***");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7947" y="4291676"/>
            <a:ext cx="944528" cy="28945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75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</a:p>
          <a:p>
            <a:endParaRPr lang="en-US" altLang="zh-CN" sz="20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1009701" y="2050970"/>
            <a:ext cx="7450732" cy="2677656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Example_replaceAll</a:t>
            </a:r>
            <a:endParaRPr lang="en-US" altLang="zh-CN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"Please logon :http://www.cctv.cn Watch TV"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regex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(http://|www)[.]?\\w+[.]{1}\\w+[.]{1}\\p{Alpha}+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newStr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str.replaceAll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(regex,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newStr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7960" y="4874596"/>
            <a:ext cx="3892835" cy="4266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755576" y="5902801"/>
            <a:ext cx="16979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p{Alpha}</a:t>
            </a:r>
            <a:r>
              <a:rPr lang="zh-CN" alt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：字母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6200463" y="3861048"/>
            <a:ext cx="2836033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\\p{Alpha}</a:t>
            </a:r>
            <a:r>
              <a:rPr lang="zh-CN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表示</a:t>
            </a:r>
            <a:r>
              <a:rPr lang="zh-CN" altLang="en-US" dirty="0">
                <a:solidFill>
                  <a:srgbClr val="FF0000"/>
                </a:solidFill>
              </a:rPr>
              <a:t>字母字符</a:t>
            </a:r>
          </a:p>
        </p:txBody>
      </p:sp>
    </p:spTree>
    <p:extLst>
      <p:ext uri="{BB962C8B-B14F-4D97-AF65-F5344CB8AC3E}">
        <p14:creationId xmlns:p14="http://schemas.microsoft.com/office/powerpoint/2010/main" val="5149659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3.</a:t>
            </a:r>
            <a:r>
              <a:rPr lang="zh-CN" altLang="en-US" sz="2000" dirty="0"/>
              <a:t>字符串的分解</a:t>
            </a:r>
          </a:p>
          <a:p>
            <a:r>
              <a:rPr lang="en-US" altLang="zh-CN" sz="2000" dirty="0"/>
              <a:t>public String[] </a:t>
            </a:r>
            <a:r>
              <a:rPr lang="en-US" altLang="zh-CN" sz="2000" b="1" dirty="0">
                <a:solidFill>
                  <a:srgbClr val="FF0000"/>
                </a:solidFill>
              </a:rPr>
              <a:t>split</a:t>
            </a:r>
            <a:r>
              <a:rPr lang="en-US" altLang="zh-CN" sz="2000" dirty="0"/>
              <a:t>(String regex)</a:t>
            </a:r>
            <a:r>
              <a:rPr lang="zh-CN" altLang="en-US" sz="2000" dirty="0"/>
              <a:t>：使用参数指定的正则表达式</a:t>
            </a:r>
            <a:r>
              <a:rPr lang="en-US" altLang="zh-CN" sz="2000" dirty="0"/>
              <a:t>regex</a:t>
            </a:r>
            <a:r>
              <a:rPr lang="zh-CN" altLang="en-US" sz="2000" dirty="0"/>
              <a:t>做为分隔标记</a:t>
            </a:r>
            <a:r>
              <a:rPr lang="zh-CN" altLang="en-US" sz="2000" b="1" dirty="0">
                <a:solidFill>
                  <a:srgbClr val="FF0000"/>
                </a:solidFill>
              </a:rPr>
              <a:t>分解</a:t>
            </a:r>
            <a:r>
              <a:rPr lang="zh-CN" altLang="en-US" sz="2000" dirty="0"/>
              <a:t>出其中的单词，并将分解出的单词存放在字符串数组中 。</a:t>
            </a:r>
          </a:p>
          <a:p>
            <a:endParaRPr lang="en-US" altLang="zh-CN" sz="2000" dirty="0"/>
          </a:p>
          <a:p>
            <a:r>
              <a:rPr lang="zh-CN" altLang="en-US" sz="2000" dirty="0">
                <a:solidFill>
                  <a:srgbClr val="FF0000"/>
                </a:solidFill>
              </a:rPr>
              <a:t>注：我在处理数据的时候，为了分隔不同的字段，常用</a:t>
            </a:r>
            <a:r>
              <a:rPr lang="en-US" altLang="zh-CN" sz="2000" dirty="0">
                <a:solidFill>
                  <a:srgbClr val="FF0000"/>
                </a:solidFill>
              </a:rPr>
              <a:t>split(…)</a:t>
            </a:r>
            <a:r>
              <a:rPr lang="zh-CN" altLang="en-US" sz="2000" dirty="0">
                <a:solidFill>
                  <a:srgbClr val="FF0000"/>
                </a:solidFill>
              </a:rPr>
              <a:t>方法</a:t>
            </a:r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966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6.4 </a:t>
            </a:r>
            <a:r>
              <a:rPr lang="zh-CN" altLang="en-US" sz="3200" dirty="0"/>
              <a:t>正则表达式及字符串的替换与分解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1988840"/>
            <a:ext cx="7770737" cy="375487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Example6_11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 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Scanner reader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en-US" altLang="zh-CN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reader.nextLine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3F7F5F"/>
                </a:solidFill>
                <a:latin typeface="Consolas" panose="020B0609020204030204" pitchFamily="49" charset="0"/>
              </a:rPr>
              <a:t>空格字符、数字和符号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(!"#$%&amp;'()*+,-./:;&lt;=&gt;?@[\]^_`{|}~)</a:t>
            </a:r>
            <a:r>
              <a:rPr lang="zh-CN" altLang="en-US" sz="1400" dirty="0">
                <a:solidFill>
                  <a:srgbClr val="3F7F5F"/>
                </a:solidFill>
                <a:latin typeface="Consolas" panose="020B0609020204030204" pitchFamily="49" charset="0"/>
              </a:rPr>
              <a:t>组成的正则表达式</a:t>
            </a:r>
            <a:endParaRPr lang="en-US" altLang="zh-CN" sz="1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regex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"[\\s\\d\\p{</a:t>
            </a:r>
            <a:r>
              <a:rPr lang="en-US" altLang="zh-CN" sz="1400" dirty="0" err="1">
                <a:solidFill>
                  <a:srgbClr val="2A00FF"/>
                </a:solidFill>
                <a:latin typeface="Consolas" panose="020B0609020204030204" pitchFamily="49" charset="0"/>
              </a:rPr>
              <a:t>Punct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}]+"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words[]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str.split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(regex);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words.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 = i+1;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"Word"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m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words[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28184" y="5392786"/>
            <a:ext cx="2154113" cy="76849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611560" y="6186790"/>
            <a:ext cx="6240811" cy="33855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\\p{Punct}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表示标点符号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!"#$%&amp;'()*+,-./:;&lt;=&gt;?@[\]^_`{|}~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4630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/>
              <a:t>小结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6.1 String</a:t>
            </a:r>
            <a:r>
              <a:rPr lang="zh-CN" altLang="en-US" sz="2000" dirty="0"/>
              <a:t>类：</a:t>
            </a:r>
            <a:r>
              <a:rPr lang="en-US" altLang="zh-CN" sz="2000" dirty="0">
                <a:solidFill>
                  <a:srgbClr val="FF0000"/>
                </a:solidFill>
              </a:rPr>
              <a:t>process </a:t>
            </a:r>
            <a:r>
              <a:rPr lang="en-US" altLang="zh-CN" sz="2000" b="1" dirty="0">
                <a:solidFill>
                  <a:srgbClr val="FF0000"/>
                </a:solidFill>
              </a:rPr>
              <a:t>fixed</a:t>
            </a:r>
            <a:r>
              <a:rPr lang="en-US" altLang="zh-CN" sz="2000" dirty="0">
                <a:solidFill>
                  <a:srgbClr val="FF0000"/>
                </a:solidFill>
              </a:rPr>
              <a:t> strings</a:t>
            </a:r>
          </a:p>
          <a:p>
            <a:r>
              <a:rPr lang="en-US" altLang="zh-CN" sz="2000" dirty="0"/>
              <a:t>6.2 </a:t>
            </a:r>
            <a:r>
              <a:rPr lang="en-US" altLang="zh-CN" sz="2000" dirty="0" err="1"/>
              <a:t>StringBuffer</a:t>
            </a:r>
            <a:r>
              <a:rPr lang="zh-CN" altLang="en-US" sz="2000" dirty="0"/>
              <a:t>类：</a:t>
            </a:r>
            <a:r>
              <a:rPr lang="en-US" altLang="zh-CN" sz="2000" dirty="0">
                <a:solidFill>
                  <a:srgbClr val="FF0000"/>
                </a:solidFill>
              </a:rPr>
              <a:t>process </a:t>
            </a:r>
            <a:r>
              <a:rPr lang="en-US" altLang="zh-CN" sz="2000" b="1" dirty="0">
                <a:solidFill>
                  <a:srgbClr val="FF0000"/>
                </a:solidFill>
              </a:rPr>
              <a:t>flexible</a:t>
            </a:r>
            <a:r>
              <a:rPr lang="en-US" altLang="zh-CN" sz="2000" dirty="0">
                <a:solidFill>
                  <a:srgbClr val="FF0000"/>
                </a:solidFill>
              </a:rPr>
              <a:t> strings</a:t>
            </a:r>
          </a:p>
          <a:p>
            <a:r>
              <a:rPr lang="en-US" altLang="zh-CN" sz="2000" dirty="0"/>
              <a:t>6.3 </a:t>
            </a:r>
            <a:r>
              <a:rPr lang="en-US" altLang="zh-CN" sz="2000" dirty="0" err="1"/>
              <a:t>StringTokenizer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6.5 Scanner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r>
              <a:rPr lang="en-US" altLang="zh-CN" sz="2000" dirty="0"/>
              <a:t>6.6 </a:t>
            </a:r>
            <a:r>
              <a:rPr lang="zh-CN" altLang="en-US" sz="2000" dirty="0">
                <a:solidFill>
                  <a:srgbClr val="FF0000"/>
                </a:solidFill>
              </a:rPr>
              <a:t>模式</a:t>
            </a:r>
            <a:r>
              <a:rPr lang="zh-CN" altLang="en-US" sz="2000" dirty="0"/>
              <a:t>匹配	</a:t>
            </a:r>
            <a:endParaRPr lang="en-US" altLang="zh-CN" sz="2000" dirty="0"/>
          </a:p>
          <a:p>
            <a:r>
              <a:rPr lang="en-US" altLang="zh-CN" sz="2000" dirty="0"/>
              <a:t>6.4 </a:t>
            </a:r>
            <a:r>
              <a:rPr lang="zh-CN" altLang="en-US" sz="2000" dirty="0">
                <a:solidFill>
                  <a:srgbClr val="FF0000"/>
                </a:solidFill>
              </a:rPr>
              <a:t>正则表达式</a:t>
            </a:r>
            <a:r>
              <a:rPr lang="zh-CN" altLang="en-US" sz="2000" dirty="0"/>
              <a:t>及字符串的替换与分解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6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6635</TotalTime>
  <Words>5842</Words>
  <Application>Microsoft Office PowerPoint</Application>
  <PresentationFormat>全屏显示(4:3)</PresentationFormat>
  <Paragraphs>755</Paragraphs>
  <Slides>61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8" baseType="lpstr">
      <vt:lpstr>仿宋</vt:lpstr>
      <vt:lpstr>Arial</vt:lpstr>
      <vt:lpstr>Calibri</vt:lpstr>
      <vt:lpstr>Consolas</vt:lpstr>
      <vt:lpstr>Tahoma</vt:lpstr>
      <vt:lpstr>Wingdings</vt:lpstr>
      <vt:lpstr>Office Theme</vt:lpstr>
      <vt:lpstr>JAVA程序设计</vt:lpstr>
      <vt:lpstr>Outline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6.1 String类</vt:lpstr>
      <vt:lpstr>Outline</vt:lpstr>
      <vt:lpstr>6.2 StringBuffer类</vt:lpstr>
      <vt:lpstr>6.2 StringBuffer类</vt:lpstr>
      <vt:lpstr>6.2 StringBuffer类</vt:lpstr>
      <vt:lpstr>6.2 StringBuffer类</vt:lpstr>
      <vt:lpstr>6.2 StringBuffer类</vt:lpstr>
      <vt:lpstr>6.2 StringBuffer类</vt:lpstr>
      <vt:lpstr>6.2 StringBuffer类</vt:lpstr>
      <vt:lpstr>6.2 StringBuffer类</vt:lpstr>
      <vt:lpstr>练习：</vt:lpstr>
      <vt:lpstr>Outline</vt:lpstr>
      <vt:lpstr>6.3 StringTokenizer类</vt:lpstr>
      <vt:lpstr>6.3 StringTokenizer类</vt:lpstr>
      <vt:lpstr>6.3 StringTokenizer类</vt:lpstr>
      <vt:lpstr>Outline</vt:lpstr>
      <vt:lpstr>6.5 Scanner类</vt:lpstr>
      <vt:lpstr>6.5 Scanner类</vt:lpstr>
      <vt:lpstr>6.5 Scanner类</vt:lpstr>
      <vt:lpstr>6.5 Scanner类</vt:lpstr>
      <vt:lpstr>Outline</vt:lpstr>
      <vt:lpstr>6.6 模式匹配</vt:lpstr>
      <vt:lpstr>6.6 模式匹配</vt:lpstr>
      <vt:lpstr>6.6 模式匹配</vt:lpstr>
      <vt:lpstr>6.6 模式匹配</vt:lpstr>
      <vt:lpstr>6.6 模式匹配</vt:lpstr>
      <vt:lpstr>6.6 模式匹配</vt:lpstr>
      <vt:lpstr>6.6 模式匹配</vt:lpstr>
      <vt:lpstr>Outline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6.4 正则表达式及字符串的替换与分解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jm yao</cp:lastModifiedBy>
  <cp:revision>819</cp:revision>
  <dcterms:created xsi:type="dcterms:W3CDTF">2006-08-16T00:00:00Z</dcterms:created>
  <dcterms:modified xsi:type="dcterms:W3CDTF">2023-11-12T13:26:26Z</dcterms:modified>
</cp:coreProperties>
</file>