
<file path=[Content_Types].xml><?xml version="1.0" encoding="utf-8"?>
<Types xmlns="http://schemas.openxmlformats.org/package/2006/content-types">
  <Default Extension="jpeg" ContentType="image/jpe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648" r:id="rId1"/>
  </p:sldMasterIdLst>
  <p:notesMasterIdLst>
    <p:notesMasterId r:id="rId42"/>
  </p:notesMasterIdLst>
  <p:handoutMasterIdLst>
    <p:handoutMasterId r:id="rId43"/>
  </p:handoutMasterIdLst>
  <p:sldIdLst>
    <p:sldId id="606" r:id="rId3"/>
    <p:sldId id="1262" r:id="rId4"/>
    <p:sldId id="864" r:id="rId5"/>
    <p:sldId id="282" r:id="rId6"/>
    <p:sldId id="1195" r:id="rId7"/>
    <p:sldId id="1222" r:id="rId8"/>
    <p:sldId id="1196" r:id="rId9"/>
    <p:sldId id="1223" r:id="rId10"/>
    <p:sldId id="1197" r:id="rId11"/>
    <p:sldId id="1199" r:id="rId12"/>
    <p:sldId id="1224" r:id="rId13"/>
    <p:sldId id="1231" r:id="rId14"/>
    <p:sldId id="1232" r:id="rId15"/>
    <p:sldId id="1200" r:id="rId16"/>
    <p:sldId id="1201" r:id="rId17"/>
    <p:sldId id="1202" r:id="rId18"/>
    <p:sldId id="1226" r:id="rId19"/>
    <p:sldId id="1206" r:id="rId20"/>
    <p:sldId id="1227" r:id="rId21"/>
    <p:sldId id="1228" r:id="rId22"/>
    <p:sldId id="1207" r:id="rId23"/>
    <p:sldId id="1208" r:id="rId24"/>
    <p:sldId id="1209" r:id="rId25"/>
    <p:sldId id="1210" r:id="rId26"/>
    <p:sldId id="1211" r:id="rId27"/>
    <p:sldId id="1212" r:id="rId28"/>
    <p:sldId id="1233" r:id="rId29"/>
    <p:sldId id="1229" r:id="rId30"/>
    <p:sldId id="1213" r:id="rId31"/>
    <p:sldId id="1214" r:id="rId32"/>
    <p:sldId id="1215" r:id="rId33"/>
    <p:sldId id="1216" r:id="rId34"/>
    <p:sldId id="1230" r:id="rId35"/>
    <p:sldId id="1217" r:id="rId36"/>
    <p:sldId id="1218" r:id="rId37"/>
    <p:sldId id="1219" r:id="rId38"/>
    <p:sldId id="1259" r:id="rId39"/>
    <p:sldId id="1140" r:id="rId40"/>
    <p:sldId id="613" r:id="rId41"/>
  </p:sldIdLst>
  <p:sldSz cx="12192000" cy="6858000"/>
  <p:notesSz cx="6858000" cy="9144000"/>
  <p:embeddedFontLst>
    <p:embeddedFont>
      <p:font typeface="Copperplate Gothic Bold" panose="020E0705020206020404" charset="0"/>
      <p:regular r:id="rId48"/>
    </p:embeddedFont>
    <p:embeddedFont>
      <p:font typeface="微软雅黑" panose="020B0503020204020204" pitchFamily="34" charset="-122"/>
      <p:regular r:id="rId49"/>
    </p:embeddedFont>
    <p:embeddedFont>
      <p:font typeface="Tahoma" panose="020B0604030504040204" charset="0"/>
      <p:regular r:id="rId50"/>
      <p:bold r:id="rId51"/>
    </p:embeddedFont>
    <p:embeddedFont>
      <p:font typeface="黑体" panose="02010609060101010101" pitchFamily="2" charset="-122"/>
      <p:regular r:id="rId52"/>
    </p:embeddedFont>
  </p:embeddedFont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odongdongzjhw" initials="g" lastIdx="16" clrIdx="0"/>
  <p:cmAuthor id="2" name="Wuqijun" initials="W" lastIdx="7" clrIdx="1"/>
  <p:cmAuthor id="3" name="bjc" initials="b"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594" y="102"/>
      </p:cViewPr>
      <p:guideLst>
        <p:guide orient="horz" pos="414"/>
        <p:guide orient="horz" pos="1150"/>
        <p:guide orient="horz" pos="4120"/>
        <p:guide orient="horz" pos="3143"/>
        <p:guide orient="horz" pos="2816"/>
        <p:guide pos="3708"/>
        <p:guide pos="892"/>
        <p:guide pos="7680"/>
        <p:guide pos="7036"/>
        <p:guide pos="1314"/>
        <p:guide pos="6461"/>
      </p:guideLst>
    </p:cSldViewPr>
  </p:slideViewPr>
  <p:notesTextViewPr>
    <p:cViewPr>
      <p:scale>
        <a:sx n="100" d="100"/>
        <a:sy n="100" d="100"/>
      </p:scale>
      <p:origin x="0" y="0"/>
    </p:cViewPr>
  </p:notesTextViewPr>
  <p:notesViewPr>
    <p:cSldViewPr>
      <p:cViewPr varScale="1">
        <p:scale>
          <a:sx n="67" d="100"/>
          <a:sy n="67" d="100"/>
        </p:scale>
        <p:origin x="-3360" y="-108"/>
      </p:cViewPr>
      <p:guideLst>
        <p:guide orient="horz" pos="2879"/>
        <p:guide pos="208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font" Target="fonts/font5.fntdata"/><Relationship Id="rId51" Type="http://schemas.openxmlformats.org/officeDocument/2006/relationships/font" Target="fonts/font4.fntdata"/><Relationship Id="rId50" Type="http://schemas.openxmlformats.org/officeDocument/2006/relationships/font" Target="fonts/font3.fntdata"/><Relationship Id="rId5" Type="http://schemas.openxmlformats.org/officeDocument/2006/relationships/slide" Target="slides/slide3.xml"/><Relationship Id="rId49" Type="http://schemas.openxmlformats.org/officeDocument/2006/relationships/font" Target="fonts/font2.fntdata"/><Relationship Id="rId48" Type="http://schemas.openxmlformats.org/officeDocument/2006/relationships/font" Target="fonts/font1.fntdata"/><Relationship Id="rId47" Type="http://schemas.openxmlformats.org/officeDocument/2006/relationships/commentAuthors" Target="commentAuthors.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handoutMaster" Target="handoutMasters/handoutMaster1.xml"/><Relationship Id="rId42" Type="http://schemas.openxmlformats.org/officeDocument/2006/relationships/notesMaster" Target="notesMasters/notesMaster1.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2-03-28T21:47:21.048" idx="1">
    <p:pos x="6043" y="839"/>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033BA84-6C1D-4F93-A9F4-04B92CE1945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8FCAEF-2C49-435D-B9DA-BA0CC419F84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8788"/>
          </a:xfrm>
          <a:prstGeom prst="rect">
            <a:avLst/>
          </a:prstGeom>
          <a:noFill/>
          <a:ln w="9525">
            <a:noFill/>
            <a:miter lim="800000"/>
          </a:ln>
        </p:spPr>
        <p:txBody>
          <a:bodyPr vert="horz" wrap="square" lIns="91440" tIns="45720" rIns="91440" bIns="45720" numCol="1" anchor="t" anchorCtr="0" compatLnSpc="1"/>
          <a:lstStyle>
            <a:lvl1pPr>
              <a:defRPr sz="1200"/>
            </a:lvl1pPr>
          </a:lstStyle>
          <a:p>
            <a:endParaRPr lang="zh-CN" altLang="zh-CN"/>
          </a:p>
        </p:txBody>
      </p:sp>
      <p:sp>
        <p:nvSpPr>
          <p:cNvPr id="2051" name="日期占位符 2"/>
          <p:cNvSpPr>
            <a:spLocks noGrp="1" noChangeArrowheads="1"/>
          </p:cNvSpPr>
          <p:nvPr>
            <p:ph type="dt" idx="1"/>
          </p:nvPr>
        </p:nvSpPr>
        <p:spPr bwMode="auto">
          <a:xfrm>
            <a:off x="3884613" y="0"/>
            <a:ext cx="2971800" cy="458788"/>
          </a:xfrm>
          <a:prstGeom prst="rect">
            <a:avLst/>
          </a:prstGeom>
          <a:noFill/>
          <a:ln w="9525">
            <a:noFill/>
            <a:miter lim="800000"/>
          </a:ln>
        </p:spPr>
        <p:txBody>
          <a:bodyPr vert="horz" wrap="square" lIns="91440" tIns="45720" rIns="91440" bIns="45720" numCol="1" anchor="t" anchorCtr="0" compatLnSpc="1"/>
          <a:lstStyle>
            <a:lvl1pPr algn="r">
              <a:defRPr/>
            </a:lvl1pPr>
          </a:lstStyle>
          <a:p>
            <a:fld id="{9DD59B10-E385-4D3C-A0B0-F174EA9AA91B}"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685800" y="1143000"/>
            <a:ext cx="5486400" cy="3086100"/>
          </a:xfrm>
          <a:prstGeom prst="rect">
            <a:avLst/>
          </a:prstGeom>
          <a:noFill/>
          <a:ln w="12700" cmpd="sng">
            <a:noFill/>
            <a:bevel/>
          </a:ln>
        </p:spPr>
      </p:sp>
      <p:sp>
        <p:nvSpPr>
          <p:cNvPr id="2053" name="备注占位符 4"/>
          <p:cNvSpPr>
            <a:spLocks noGrp="1" noRot="1" noChangeAspect="1" noChangeArrowheads="1"/>
          </p:cNvSpPr>
          <p:nvPr/>
        </p:nvSpPr>
        <p:spPr bwMode="auto">
          <a:xfrm>
            <a:off x="685800" y="4400550"/>
            <a:ext cx="5486400" cy="3600450"/>
          </a:xfrm>
          <a:prstGeom prst="rect">
            <a:avLst/>
          </a:prstGeom>
          <a:noFill/>
          <a:ln w="12700" cmpd="sng">
            <a:noFill/>
            <a:bevel/>
          </a:ln>
        </p:spPr>
        <p:txBody>
          <a:bodyPr anchor="ctr"/>
          <a:lstStyle/>
          <a:p>
            <a:pPr defTabSz="0" eaLnBrk="0" hangingPunct="0">
              <a:spcBef>
                <a:spcPct val="30000"/>
              </a:spcBef>
              <a:buFontTx/>
              <a:buNone/>
            </a:pPr>
            <a:r>
              <a:rPr lang="zh-CN" altLang="en-US" sz="1200"/>
              <a:t>单击此处编辑母版文本样式</a:t>
            </a:r>
            <a:endParaRPr lang="zh-CN" altLang="en-US" sz="1200"/>
          </a:p>
          <a:p>
            <a:pPr defTabSz="0" eaLnBrk="0" hangingPunct="0">
              <a:spcBef>
                <a:spcPct val="30000"/>
              </a:spcBef>
              <a:buFontTx/>
              <a:buNone/>
            </a:pPr>
            <a:r>
              <a:rPr lang="zh-CN" altLang="en-US" sz="1200"/>
              <a:t>第二级</a:t>
            </a:r>
            <a:endParaRPr lang="zh-CN" altLang="en-US" sz="1200"/>
          </a:p>
          <a:p>
            <a:pPr defTabSz="0" eaLnBrk="0" hangingPunct="0">
              <a:spcBef>
                <a:spcPct val="30000"/>
              </a:spcBef>
              <a:buFontTx/>
              <a:buNone/>
            </a:pPr>
            <a:r>
              <a:rPr lang="zh-CN" altLang="en-US" sz="1200"/>
              <a:t>第三级</a:t>
            </a:r>
            <a:endParaRPr lang="zh-CN" altLang="en-US" sz="1200"/>
          </a:p>
          <a:p>
            <a:pPr defTabSz="0" eaLnBrk="0" hangingPunct="0">
              <a:spcBef>
                <a:spcPct val="30000"/>
              </a:spcBef>
              <a:buFontTx/>
              <a:buNone/>
            </a:pPr>
            <a:r>
              <a:rPr lang="zh-CN" altLang="en-US" sz="1200"/>
              <a:t>第四级</a:t>
            </a:r>
            <a:endParaRPr lang="zh-CN" altLang="en-US" sz="1200"/>
          </a:p>
          <a:p>
            <a:pPr defTabSz="0" eaLnBrk="0" hangingPunct="0">
              <a:spcBef>
                <a:spcPct val="30000"/>
              </a:spcBef>
              <a:buFontTx/>
              <a:buNone/>
            </a:pPr>
            <a:r>
              <a:rPr lang="zh-CN" altLang="en-US" sz="1200"/>
              <a:t>第五级</a:t>
            </a:r>
            <a:endParaRPr lang="zh-CN" altLang="en-US" sz="1200"/>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w="9525">
            <a:noFill/>
            <a:miter lim="800000"/>
          </a:ln>
        </p:spPr>
        <p:txBody>
          <a:bodyPr vert="horz" wrap="square" lIns="91440" tIns="45720" rIns="91440" bIns="45720" numCol="1" anchor="b" anchorCtr="0" compatLnSpc="1"/>
          <a:lstStyle>
            <a:lvl1pPr>
              <a:defRPr sz="1200"/>
            </a:lvl1pPr>
          </a:lstStyle>
          <a:p>
            <a:endParaRPr lang="zh-CN" altLang="zh-CN"/>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w="9525">
            <a:noFill/>
            <a:miter lim="800000"/>
          </a:ln>
        </p:spPr>
        <p:txBody>
          <a:bodyPr vert="horz" wrap="square" lIns="91440" tIns="45720" rIns="91440" bIns="45720" numCol="1" anchor="b" anchorCtr="0" compatLnSpc="1"/>
          <a:lstStyle>
            <a:lvl1pPr algn="r">
              <a:defRPr/>
            </a:lvl1pPr>
          </a:lstStyle>
          <a:p>
            <a:fld id="{79B3A261-A9C9-4EB5-901F-E33BE236AA87}"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3085" name="文本框 42"/>
          <p:cNvSpPr>
            <a:spLocks noChangeArrowheads="1"/>
          </p:cNvSpPr>
          <p:nvPr userDrawn="1"/>
        </p:nvSpPr>
        <p:spPr bwMode="auto">
          <a:xfrm>
            <a:off x="5067300" y="6322695"/>
            <a:ext cx="2606675" cy="260350"/>
          </a:xfrm>
          <a:prstGeom prst="rect">
            <a:avLst/>
          </a:prstGeom>
          <a:noFill/>
          <a:ln w="9525">
            <a:noFill/>
            <a:miter lim="800000"/>
          </a:ln>
        </p:spPr>
        <p:txBody>
          <a:bodyPr>
            <a:spAutoFit/>
          </a:bodyPr>
          <a:lstStyle/>
          <a:p>
            <a:pPr algn="dist"/>
            <a:r>
              <a:rPr lang="zh-CN" altLang="en-US" sz="11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zh-CN" altLang="en-US" sz="11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sp>
        <p:nvSpPr>
          <p:cNvPr id="15" name="直接连接符 40"/>
          <p:cNvSpPr>
            <a:spLocks noChangeShapeType="1"/>
          </p:cNvSpPr>
          <p:nvPr userDrawn="1"/>
        </p:nvSpPr>
        <p:spPr bwMode="auto">
          <a:xfrm>
            <a:off x="-7302" y="6426835"/>
            <a:ext cx="4319587" cy="12700"/>
          </a:xfrm>
          <a:prstGeom prst="line">
            <a:avLst/>
          </a:prstGeom>
          <a:noFill/>
          <a:ln w="3175" cap="flat" cmpd="sng">
            <a:solidFill>
              <a:srgbClr val="28A9D6"/>
            </a:solidFill>
            <a:bevel/>
          </a:ln>
        </p:spPr>
        <p:txBody>
          <a:bodyPr/>
          <a:lstStyle/>
          <a:p>
            <a:endParaRPr lang="zh-CN" altLang="en-US"/>
          </a:p>
        </p:txBody>
      </p:sp>
      <p:pic>
        <p:nvPicPr>
          <p:cNvPr id="20" name="图片 19" descr="图片1"/>
          <p:cNvPicPr>
            <a:picLocks noChangeAspect="1"/>
          </p:cNvPicPr>
          <p:nvPr userDrawn="1"/>
        </p:nvPicPr>
        <p:blipFill>
          <a:blip r:embed="rId2"/>
          <a:stretch>
            <a:fillRect/>
          </a:stretch>
        </p:blipFill>
        <p:spPr>
          <a:xfrm>
            <a:off x="4240530" y="6153785"/>
            <a:ext cx="869950" cy="582295"/>
          </a:xfrm>
          <a:prstGeom prst="rect">
            <a:avLst/>
          </a:prstGeom>
        </p:spPr>
      </p:pic>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lstStyle/>
          <a:p>
            <a:pPr algn="ctr"/>
            <a:endParaRPr lang="zh-CN" altLang="zh-CN">
              <a:solidFill>
                <a:srgbClr val="FFFFFF"/>
              </a:solidFill>
            </a:endParaRPr>
          </a:p>
        </p:txBody>
      </p:sp>
      <p:sp>
        <p:nvSpPr>
          <p:cNvPr id="1026" name="灯片编号占位符 3"/>
          <p:cNvSpPr>
            <a:spLocks noGrp="1" noChangeArrowheads="1"/>
          </p:cNvSpPr>
          <p:nvPr>
            <p:ph type="sldNum" sz="quarter" idx="4"/>
          </p:nvPr>
        </p:nvSpPr>
        <p:spPr bwMode="auto">
          <a:xfrm>
            <a:off x="11376025" y="648366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4707255" y="283210"/>
            <a:ext cx="270764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上次回顾</a:t>
            </a:r>
            <a:endParaRPr lang="zh-CN" altLang="en-US" sz="3600" b="1"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2" name="椭圆 24"/>
          <p:cNvSpPr>
            <a:spLocks noChangeArrowheads="1"/>
          </p:cNvSpPr>
          <p:nvPr userDrawn="1"/>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4" name="文本框 25"/>
          <p:cNvSpPr>
            <a:spLocks noChangeArrowheads="1"/>
          </p:cNvSpPr>
          <p:nvPr userDrawn="1"/>
        </p:nvSpPr>
        <p:spPr bwMode="auto">
          <a:xfrm>
            <a:off x="5095240" y="283845"/>
            <a:ext cx="212090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目录</a:t>
            </a:r>
            <a:endParaRPr lang="zh-CN" altLang="en-US" sz="3600" b="1"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5044440" y="283210"/>
            <a:ext cx="203835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总结</a:t>
            </a:r>
            <a:endParaRPr lang="zh-CN" altLang="en-US" sz="3600" b="1"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10" name="图片 9" descr="SZU讲义封面"/>
          <p:cNvPicPr>
            <a:picLocks noChangeAspect="1"/>
          </p:cNvPicPr>
          <p:nvPr userDrawn="1"/>
        </p:nvPicPr>
        <p:blipFill>
          <a:blip r:embed="rId2"/>
          <a:stretch>
            <a:fillRect/>
          </a:stretch>
        </p:blipFill>
        <p:spPr>
          <a:xfrm>
            <a:off x="0" y="1905"/>
            <a:ext cx="12192000" cy="4400550"/>
          </a:xfrm>
          <a:prstGeom prst="rect">
            <a:avLst/>
          </a:prstGeom>
        </p:spPr>
      </p:pic>
      <p:sp>
        <p:nvSpPr>
          <p:cNvPr id="3075" name="矩形 1"/>
          <p:cNvSpPr>
            <a:spLocks noChangeArrowheads="1"/>
          </p:cNvSpPr>
          <p:nvPr userDrawn="1"/>
        </p:nvSpPr>
        <p:spPr bwMode="auto">
          <a:xfrm>
            <a:off x="635" y="4088765"/>
            <a:ext cx="12192000" cy="824865"/>
          </a:xfrm>
          <a:prstGeom prst="rect">
            <a:avLst/>
          </a:prstGeom>
          <a:solidFill>
            <a:srgbClr val="28A9D6"/>
          </a:solidFill>
          <a:ln w="9525" cmpd="sng">
            <a:noFill/>
            <a:bevel/>
          </a:ln>
        </p:spPr>
        <p:txBody>
          <a:bodyPr lIns="121920" tIns="60960" rIns="121920" bIns="60960" anchor="ctr" anchorCtr="0"/>
          <a:lstStyle/>
          <a:p>
            <a:pPr algn="ctr"/>
            <a:endParaRPr lang="en-US" altLang="zh-CN" sz="3600">
              <a:solidFill>
                <a:srgbClr val="FFFF00"/>
              </a:solidFill>
              <a:latin typeface="Copperplate Gothic Bold" panose="020E0705020206020404" charset="0"/>
              <a:ea typeface="微软雅黑" panose="020B0503020204020204" pitchFamily="34" charset="-122"/>
              <a:sym typeface="Copperplate Gothic Bold" panose="020E0705020206020404" charset="0"/>
            </a:endParaRPr>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3" name="组合 2"/>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en-US" altLang="zh-CN" sz="1200" b="1" dirty="0" smtClean="0">
                <a:solidFill>
                  <a:srgbClr val="00B0F0"/>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6" name="Picture 3"/>
            <p:cNvPicPr>
              <a:picLocks noChangeAspect="1" noChangeArrowheads="1"/>
            </p:cNvPicPr>
            <p:nvPr userDrawn="1"/>
          </p:nvPicPr>
          <p:blipFill>
            <a:blip r:embed="rId3"/>
            <a:srcRect/>
            <a:stretch>
              <a:fillRect/>
            </a:stretch>
          </p:blipFill>
          <p:spPr bwMode="auto">
            <a:xfrm>
              <a:off x="6934" y="9160"/>
              <a:ext cx="1101" cy="1101"/>
            </a:xfrm>
            <a:prstGeom prst="rect">
              <a:avLst/>
            </a:prstGeom>
            <a:noFill/>
            <a:ln w="9525">
              <a:noFill/>
              <a:miter lim="800000"/>
              <a:headEnd/>
              <a:tailEnd/>
            </a:ln>
            <a:effectLst/>
          </p:spPr>
        </p:pic>
      </p:grpSp>
      <p:grpSp>
        <p:nvGrpSpPr>
          <p:cNvPr id="4" name="组合 3"/>
          <p:cNvGrpSpPr/>
          <p:nvPr userDrawn="1"/>
        </p:nvGrpSpPr>
        <p:grpSpPr>
          <a:xfrm>
            <a:off x="948055" y="5455920"/>
            <a:ext cx="10026650" cy="398780"/>
            <a:chOff x="1493" y="8366"/>
            <a:chExt cx="15790" cy="628"/>
          </a:xfrm>
        </p:grpSpPr>
        <p:sp>
          <p:nvSpPr>
            <p:cNvPr id="7175" name="直接连接符 29"/>
            <p:cNvSpPr/>
            <p:nvPr userDrawn="1"/>
          </p:nvSpPr>
          <p:spPr>
            <a:xfrm>
              <a:off x="1493" y="8671"/>
              <a:ext cx="5983" cy="22"/>
            </a:xfrm>
            <a:prstGeom prst="line">
              <a:avLst/>
            </a:prstGeom>
            <a:ln w="3175" cap="flat" cmpd="sng">
              <a:solidFill>
                <a:srgbClr val="28A9D6"/>
              </a:solidFill>
              <a:prstDash val="solid"/>
              <a:bevel/>
              <a:headEnd type="none" w="med" len="med"/>
              <a:tailEnd type="none" w="med" len="med"/>
            </a:ln>
          </p:spPr>
        </p:sp>
        <p:sp>
          <p:nvSpPr>
            <p:cNvPr id="7178" name="直接连接符 40"/>
            <p:cNvSpPr/>
            <p:nvPr userDrawn="1"/>
          </p:nvSpPr>
          <p:spPr>
            <a:xfrm>
              <a:off x="11671" y="8672"/>
              <a:ext cx="5612" cy="21"/>
            </a:xfrm>
            <a:prstGeom prst="line">
              <a:avLst/>
            </a:prstGeom>
            <a:ln w="3175" cap="flat" cmpd="sng">
              <a:solidFill>
                <a:srgbClr val="28A9D6"/>
              </a:solidFill>
              <a:prstDash val="solid"/>
              <a:bevel/>
              <a:headEnd type="none" w="med" len="med"/>
              <a:tailEnd type="none" w="med" len="med"/>
            </a:ln>
          </p:spPr>
        </p:sp>
        <p:sp>
          <p:nvSpPr>
            <p:cNvPr id="7181" name="TextBox 14"/>
            <p:cNvSpPr txBox="1"/>
            <p:nvPr userDrawn="1"/>
          </p:nvSpPr>
          <p:spPr>
            <a:xfrm>
              <a:off x="8491" y="8366"/>
              <a:ext cx="2479"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主讲白鉴聪</a:t>
              </a:r>
              <a:endParaRPr lang="zh-CN" altLang="en-US" sz="2000" dirty="0">
                <a:latin typeface="Tahoma" panose="020B0604030504040204" charset="0"/>
                <a:ea typeface="宋体" panose="02010600030101010101" pitchFamily="2" charset="-122"/>
              </a:endParaRPr>
            </a:p>
          </p:txBody>
        </p:sp>
      </p:grpSp>
      <p:grpSp>
        <p:nvGrpSpPr>
          <p:cNvPr id="5" name="组合 4"/>
          <p:cNvGrpSpPr/>
          <p:nvPr userDrawn="1"/>
        </p:nvGrpSpPr>
        <p:grpSpPr>
          <a:xfrm>
            <a:off x="1198245" y="5008880"/>
            <a:ext cx="9531350" cy="398780"/>
            <a:chOff x="1868" y="8366"/>
            <a:chExt cx="15010" cy="628"/>
          </a:xfrm>
        </p:grpSpPr>
        <p:sp>
          <p:nvSpPr>
            <p:cNvPr id="7" name="直接连接符 29"/>
            <p:cNvSpPr/>
            <p:nvPr userDrawn="1"/>
          </p:nvSpPr>
          <p:spPr>
            <a:xfrm>
              <a:off x="1868" y="8671"/>
              <a:ext cx="5159" cy="21"/>
            </a:xfrm>
            <a:prstGeom prst="line">
              <a:avLst/>
            </a:prstGeom>
            <a:ln w="3175" cap="flat" cmpd="sng">
              <a:solidFill>
                <a:srgbClr val="28A9D6"/>
              </a:solidFill>
              <a:prstDash val="solid"/>
              <a:bevel/>
              <a:headEnd type="none" w="med" len="med"/>
              <a:tailEnd type="none" w="med" len="med"/>
            </a:ln>
          </p:spPr>
        </p:sp>
        <p:sp>
          <p:nvSpPr>
            <p:cNvPr id="8" name="直接连接符 40"/>
            <p:cNvSpPr/>
            <p:nvPr userDrawn="1"/>
          </p:nvSpPr>
          <p:spPr>
            <a:xfrm>
              <a:off x="11897" y="8692"/>
              <a:ext cx="4981" cy="2"/>
            </a:xfrm>
            <a:prstGeom prst="line">
              <a:avLst/>
            </a:prstGeom>
            <a:ln w="3175" cap="flat" cmpd="sng">
              <a:solidFill>
                <a:srgbClr val="28A9D6"/>
              </a:solidFill>
              <a:prstDash val="solid"/>
              <a:bevel/>
              <a:headEnd type="none" w="med" len="med"/>
              <a:tailEnd type="none" w="med" len="med"/>
            </a:ln>
          </p:spPr>
        </p:sp>
        <p:sp>
          <p:nvSpPr>
            <p:cNvPr id="9" name="TextBox 14"/>
            <p:cNvSpPr txBox="1"/>
            <p:nvPr userDrawn="1"/>
          </p:nvSpPr>
          <p:spPr>
            <a:xfrm>
              <a:off x="7792" y="8366"/>
              <a:ext cx="3621"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面向对象程序设计</a:t>
              </a:r>
              <a:endParaRPr lang="zh-CN" altLang="en-US" sz="2000" dirty="0">
                <a:latin typeface="Tahoma" panose="020B0604030504040204" charset="0"/>
                <a:ea typeface="宋体" panose="02010600030101010101" pitchFamily="2" charset="-122"/>
              </a:endParaRPr>
            </a:p>
          </p:txBody>
        </p:sp>
      </p:gr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075" name="矩形 1"/>
          <p:cNvSpPr>
            <a:spLocks noChangeArrowheads="1"/>
          </p:cNvSpPr>
          <p:nvPr userDrawn="1"/>
        </p:nvSpPr>
        <p:spPr bwMode="auto">
          <a:xfrm>
            <a:off x="0" y="4728210"/>
            <a:ext cx="12192000" cy="903605"/>
          </a:xfrm>
          <a:prstGeom prst="rect">
            <a:avLst/>
          </a:prstGeom>
          <a:solidFill>
            <a:srgbClr val="28A9D6"/>
          </a:solidFill>
          <a:ln w="9525" cmpd="sng">
            <a:noFill/>
            <a:bevel/>
          </a:ln>
        </p:spPr>
        <p:txBody>
          <a:bodyPr lIns="121920" tIns="60960" rIns="121920" bIns="60960" anchor="ctr" anchorCtr="0"/>
          <a:lstStyle/>
          <a:p>
            <a:pPr algn="ctr"/>
            <a:r>
              <a:rPr lang="zh-CN" altLang="zh-CN" sz="4000">
                <a:solidFill>
                  <a:srgbClr val="FFFF00"/>
                </a:solidFill>
                <a:latin typeface="Copperplate Gothic Bold" panose="020E0705020206020404" charset="0"/>
                <a:ea typeface="微软雅黑" panose="020B0503020204020204" pitchFamily="34" charset="-122"/>
                <a:sym typeface="Copperplate Gothic Bold" panose="020E0705020206020404" charset="0"/>
              </a:rPr>
              <a:t>谢谢观看</a:t>
            </a:r>
            <a:endParaRPr lang="zh-CN" altLang="zh-CN" sz="4000">
              <a:solidFill>
                <a:srgbClr val="FFFF00"/>
              </a:solidFill>
              <a:latin typeface="Copperplate Gothic Bold" panose="020E0705020206020404" charset="0"/>
              <a:ea typeface="微软雅黑" panose="020B0503020204020204" pitchFamily="34" charset="-122"/>
              <a:sym typeface="Copperplate Gothic Bold" panose="020E0705020206020404" charset="0"/>
            </a:endParaRPr>
          </a:p>
        </p:txBody>
      </p:sp>
      <p:sp>
        <p:nvSpPr>
          <p:cNvPr id="3076" name="直接连接符 24"/>
          <p:cNvSpPr>
            <a:spLocks noChangeShapeType="1"/>
          </p:cNvSpPr>
          <p:nvPr userDrawn="1"/>
        </p:nvSpPr>
        <p:spPr bwMode="auto">
          <a:xfrm>
            <a:off x="0" y="5665153"/>
            <a:ext cx="12192000" cy="1587"/>
          </a:xfrm>
          <a:prstGeom prst="line">
            <a:avLst/>
          </a:prstGeom>
          <a:noFill/>
          <a:ln w="19050" cap="flat" cmpd="sng">
            <a:solidFill>
              <a:srgbClr val="28A9D6"/>
            </a:solidFill>
            <a:bevel/>
          </a:ln>
        </p:spPr>
        <p:txBody>
          <a:bodyPr/>
          <a:lstStyle/>
          <a:p>
            <a:endParaRPr lang="zh-CN" altLang="en-US"/>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4" name="组合 3"/>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en-US" altLang="zh-CN" sz="1200" b="1" dirty="0" smtClean="0">
                <a:solidFill>
                  <a:srgbClr val="00B0F0"/>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6" name="Picture 3"/>
            <p:cNvPicPr>
              <a:picLocks noChangeAspect="1" noChangeArrowheads="1"/>
            </p:cNvPicPr>
            <p:nvPr userDrawn="1"/>
          </p:nvPicPr>
          <p:blipFill>
            <a:blip r:embed="rId2"/>
            <a:srcRect/>
            <a:stretch>
              <a:fillRect/>
            </a:stretch>
          </p:blipFill>
          <p:spPr bwMode="auto">
            <a:xfrm>
              <a:off x="6934" y="9160"/>
              <a:ext cx="1101" cy="1101"/>
            </a:xfrm>
            <a:prstGeom prst="rect">
              <a:avLst/>
            </a:prstGeom>
            <a:noFill/>
            <a:ln w="9525">
              <a:noFill/>
              <a:miter lim="800000"/>
              <a:headEnd/>
              <a:tailEnd/>
            </a:ln>
            <a:effectLst/>
          </p:spPr>
        </p:pic>
      </p:grpSp>
      <p:pic>
        <p:nvPicPr>
          <p:cNvPr id="2" name="图片 1" descr="SZU讲义尾页"/>
          <p:cNvPicPr>
            <a:picLocks noChangeAspect="1"/>
          </p:cNvPicPr>
          <p:nvPr userDrawn="1"/>
        </p:nvPicPr>
        <p:blipFill>
          <a:blip r:embed="rId3"/>
          <a:stretch>
            <a:fillRect/>
          </a:stretch>
        </p:blipFill>
        <p:spPr>
          <a:xfrm>
            <a:off x="0" y="-35560"/>
            <a:ext cx="12191365" cy="4763770"/>
          </a:xfrm>
          <a:prstGeom prst="rect">
            <a:avLst/>
          </a:prstGeom>
        </p:spPr>
      </p:pic>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5144135"/>
          </a:xfrm>
        </p:spPr>
        <p:txBody>
          <a:bodyPr/>
          <a:lstStyle>
            <a:lvl1pPr>
              <a:buFont typeface="Wingdings" panose="05000000000000000000" charset="0"/>
              <a:buChar char="l"/>
              <a:defRPr sz="2800"/>
            </a:lvl1pPr>
            <a:lvl2pPr>
              <a:defRPr sz="2400"/>
            </a:lvl2pPr>
            <a:lvl3pPr>
              <a:buFont typeface="Arial" panose="020B0604020202020204" pitchFamily="34" charset="0"/>
              <a:buChar char="•"/>
              <a:defRPr sz="2000"/>
            </a:lvl3pPr>
            <a:lvl4pPr>
              <a:defRPr sz="2000"/>
            </a:lvl4pPr>
            <a:lvl5pPr>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endParaRPr lang="en-US" dirty="0"/>
          </a:p>
        </p:txBody>
      </p:sp>
      <p:sp>
        <p:nvSpPr>
          <p:cNvPr id="7" name="标题 6"/>
          <p:cNvSpPr>
            <a:spLocks noGrp="1"/>
          </p:cNvSpPr>
          <p:nvPr>
            <p:ph type="title"/>
          </p:nvPr>
        </p:nvSpPr>
        <p:spPr>
          <a:xfrm>
            <a:off x="752475" y="150813"/>
            <a:ext cx="10972800" cy="796908"/>
          </a:xfrm>
        </p:spPr>
        <p:txBody>
          <a:bodyPr rtlCol="0"/>
          <a:lstStyle>
            <a:lvl1pPr algn="l">
              <a:defRPr sz="3600"/>
            </a:lvl1pPr>
          </a:lstStyle>
          <a:p>
            <a:r>
              <a:rPr lang="zh-CN" altLang="en-US" smtClean="0"/>
              <a:t>单击此处编辑母版标题样式</a:t>
            </a:r>
            <a:endParaRPr lang="en-US"/>
          </a:p>
        </p:txBody>
      </p:sp>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p>
            <a:pPr algn="ctr"/>
            <a:endParaRPr lang="zh-CN" altLang="zh-CN">
              <a:solidFill>
                <a:srgbClr val="FFFFFF"/>
              </a:solidFill>
            </a:endParaRPr>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rPr>
                <a:t>深圳大学计算机与软件学院</a:t>
              </a:r>
              <a:endParaRPr lang="zh-CN" altLang="en-US" sz="1200" dirty="0" smtClean="0">
                <a:solidFill>
                  <a:srgbClr val="3F3F3F"/>
                </a:solidFill>
                <a:latin typeface="Copperplate Gothic Bold" panose="020E0705020206020404" charset="0"/>
                <a:ea typeface="微软雅黑" panose="020B0503020204020204" pitchFamily="34" charset="-122"/>
                <a:sym typeface="Copperplate Gothic Bold" panose="020E0705020206020404" charset="0"/>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p>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直角三角形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5" name="组合 15"/>
          <p:cNvGrpSpPr/>
          <p:nvPr/>
        </p:nvGrpSpPr>
        <p:grpSpPr bwMode="auto">
          <a:xfrm>
            <a:off x="-4233" y="4953000"/>
            <a:ext cx="12196233" cy="1911350"/>
            <a:chOff x="-3765" y="4832896"/>
            <a:chExt cx="9147765" cy="2032192"/>
          </a:xfrm>
        </p:grpSpPr>
        <p:sp>
          <p:nvSpPr>
            <p:cNvPr id="6" name="任意多边形 5"/>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a typeface="+mn-ea"/>
              </a:endParaRPr>
            </a:p>
          </p:txBody>
        </p:sp>
        <p:sp>
          <p:nvSpPr>
            <p:cNvPr id="7" name="任意多边形 18"/>
            <p:cNvSpPr/>
            <p:nvPr/>
          </p:nvSpPr>
          <p:spPr bwMode="auto">
            <a:xfrm>
              <a:off x="35443" y="5135526"/>
              <a:ext cx="9108557" cy="838200"/>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w="9525" cap="flat" cmpd="sng" algn="ctr">
              <a:noFill/>
              <a:prstDash val="solid"/>
              <a:round/>
              <a:headEnd type="none" w="med" len="med"/>
              <a:tailEnd type="none" w="med" len="med"/>
            </a:ln>
          </p:spPr>
          <p:txBody>
            <a:bodyPr/>
            <a:lstStyle/>
            <a:p>
              <a:endParaRPr lang="zh-CN" altLang="en-US"/>
            </a:p>
          </p:txBody>
        </p:sp>
        <p:sp>
          <p:nvSpPr>
            <p:cNvPr id="8" name="任意多边形 7"/>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0" name="直接连接符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标题 8"/>
          <p:cNvSpPr>
            <a:spLocks noGrp="1"/>
          </p:cNvSpPr>
          <p:nvPr>
            <p:ph type="ctrTitle"/>
          </p:nvPr>
        </p:nvSpPr>
        <p:spPr>
          <a:xfrm>
            <a:off x="914400" y="1752601"/>
            <a:ext cx="103632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lstStyle>
          <a:p>
            <a:r>
              <a:rPr lang="zh-CN" altLang="en-US" smtClean="0"/>
              <a:t>单击此处编辑母版标题样式</a:t>
            </a:r>
            <a:endParaRPr lang="en-US"/>
          </a:p>
        </p:txBody>
      </p:sp>
      <p:sp>
        <p:nvSpPr>
          <p:cNvPr id="17" name="副标题 16"/>
          <p:cNvSpPr>
            <a:spLocks noGrp="1"/>
          </p:cNvSpPr>
          <p:nvPr>
            <p:ph type="subTitle" idx="1"/>
          </p:nvPr>
        </p:nvSpPr>
        <p:spPr>
          <a:xfrm>
            <a:off x="914400" y="3611607"/>
            <a:ext cx="103632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smtClean="0"/>
              <a:t>单击此处编辑母版副标题样式</a:t>
            </a:r>
            <a:endParaRPr lang="en-US"/>
          </a:p>
        </p:txBody>
      </p:sp>
      <p:sp>
        <p:nvSpPr>
          <p:cNvPr id="11" name="日期占位符 29"/>
          <p:cNvSpPr>
            <a:spLocks noGrp="1"/>
          </p:cNvSpPr>
          <p:nvPr>
            <p:ph type="dt" sz="half" idx="10"/>
          </p:nvPr>
        </p:nvSpPr>
        <p:spPr>
          <a:xfrm>
            <a:off x="8970433" y="6408738"/>
            <a:ext cx="2559051" cy="365125"/>
          </a:xfrm>
        </p:spPr>
        <p:txBody>
          <a:bodyPr/>
          <a:lstStyle>
            <a:lvl1pPr>
              <a:defRPr smtClean="0">
                <a:solidFill>
                  <a:srgbClr val="FFFFFF"/>
                </a:solidFill>
              </a:defRPr>
            </a:lvl1pPr>
          </a:lstStyle>
          <a:p>
            <a:pPr>
              <a:defRPr/>
            </a:pPr>
            <a:fld id="{3802FB08-2637-4CF6-AD74-C07441CFA7C0}" type="datetimeFigureOut">
              <a:rPr lang="zh-CN" altLang="en-US"/>
            </a:fld>
            <a:endParaRPr lang="zh-CN" altLang="en-US"/>
          </a:p>
        </p:txBody>
      </p:sp>
      <p:sp>
        <p:nvSpPr>
          <p:cNvPr id="12" name="页脚占位符 18"/>
          <p:cNvSpPr>
            <a:spLocks noGrp="1"/>
          </p:cNvSpPr>
          <p:nvPr>
            <p:ph type="ftr" sz="quarter" idx="11"/>
          </p:nvPr>
        </p:nvSpPr>
        <p:spPr>
          <a:xfrm>
            <a:off x="5839884" y="6408738"/>
            <a:ext cx="3134783" cy="365125"/>
          </a:xfrm>
        </p:spPr>
        <p:txBody>
          <a:bodyPr/>
          <a:lstStyle>
            <a:lvl1pPr>
              <a:defRPr>
                <a:solidFill>
                  <a:schemeClr val="accent1">
                    <a:tint val="20000"/>
                  </a:schemeClr>
                </a:solidFill>
              </a:defRPr>
            </a:lvl1pPr>
          </a:lstStyle>
          <a:p>
            <a:pPr>
              <a:defRPr/>
            </a:pPr>
            <a:endParaRPr lang="zh-CN" altLang="en-US"/>
          </a:p>
        </p:txBody>
      </p:sp>
      <p:sp>
        <p:nvSpPr>
          <p:cNvPr id="13" name="灯片编号占位符 26"/>
          <p:cNvSpPr>
            <a:spLocks noGrp="1"/>
          </p:cNvSpPr>
          <p:nvPr>
            <p:ph type="sldNum" sz="quarter" idx="12"/>
          </p:nvPr>
        </p:nvSpPr>
        <p:spPr/>
        <p:txBody>
          <a:bodyPr/>
          <a:lstStyle>
            <a:lvl1pPr>
              <a:defRPr smtClean="0">
                <a:solidFill>
                  <a:srgbClr val="FFFFFF"/>
                </a:solidFill>
              </a:defRPr>
            </a:lvl1pPr>
          </a:lstStyle>
          <a:p>
            <a:pPr>
              <a:defRPr/>
            </a:pPr>
            <a:fld id="{370B242F-C22E-4D80-AB00-A977E93DF3AD}"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F4F8FB"/>
            </a:gs>
            <a:gs pos="63000">
              <a:srgbClr val="F2F2F2"/>
            </a:gs>
            <a:gs pos="100000">
              <a:srgbClr val="D8D8D8"/>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1026" name="灯片编号占位符 3"/>
          <p:cNvSpPr>
            <a:spLocks noGrp="1" noChangeArrowheads="1"/>
          </p:cNvSpPr>
          <p:nvPr>
            <p:ph type="sldNum" sz="quarter" idx="4"/>
          </p:nvPr>
        </p:nvSpPr>
        <p:spPr bwMode="auto">
          <a:xfrm>
            <a:off x="942975" y="633888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marL="1219200" indent="-1219200" algn="ctr" rtl="0" fontAlgn="base">
        <a:spcBef>
          <a:spcPct val="0"/>
        </a:spcBef>
        <a:spcAft>
          <a:spcPct val="0"/>
        </a:spcAft>
        <a:defRPr sz="5800">
          <a:solidFill>
            <a:schemeClr val="tx1"/>
          </a:solidFill>
          <a:latin typeface="+mj-lt"/>
          <a:ea typeface="+mj-ea"/>
          <a:cs typeface="+mj-cs"/>
          <a:sym typeface="Copperplate Gothic Bold" panose="020E0705020206020404" charset="0"/>
        </a:defRPr>
      </a:lvl1pPr>
      <a:lvl2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2pPr>
      <a:lvl3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3pPr>
      <a:lvl4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4pPr>
      <a:lvl5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5pPr>
      <a:lvl6pPr marL="16764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6pPr>
      <a:lvl7pPr marL="21336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7pPr>
      <a:lvl8pPr marL="25908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8pPr>
      <a:lvl9pPr marL="30480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9pPr>
    </p:titleStyle>
    <p:bodyStyle>
      <a:lvl1pPr marL="457200" indent="-457200" algn="l" defTabSz="1219200" rtl="0" fontAlgn="base">
        <a:spcBef>
          <a:spcPct val="20000"/>
        </a:spcBef>
        <a:spcAft>
          <a:spcPct val="0"/>
        </a:spcAft>
        <a:buFont typeface="Arial" panose="020B0604020202020204" pitchFamily="34" charset="0"/>
        <a:buChar char="•"/>
        <a:defRPr sz="4200">
          <a:solidFill>
            <a:schemeClr val="tx1"/>
          </a:solidFill>
          <a:latin typeface="+mn-lt"/>
          <a:ea typeface="+mn-ea"/>
          <a:cs typeface="+mn-cs"/>
          <a:sym typeface="Copperplate Gothic Bold" panose="020E0705020206020404" charset="0"/>
        </a:defRPr>
      </a:lvl1pPr>
      <a:lvl2pPr marL="990600" indent="-381000" algn="l" defTabSz="1219200" rtl="0" fontAlgn="base">
        <a:spcBef>
          <a:spcPct val="20000"/>
        </a:spcBef>
        <a:spcAft>
          <a:spcPct val="0"/>
        </a:spcAft>
        <a:buFont typeface="Arial" panose="020B0604020202020204" pitchFamily="34" charset="0"/>
        <a:buChar char="–"/>
        <a:defRPr sz="3700">
          <a:solidFill>
            <a:schemeClr val="tx1"/>
          </a:solidFill>
          <a:latin typeface="+mn-lt"/>
          <a:ea typeface="+mn-ea"/>
          <a:sym typeface="Copperplate Gothic Bold" panose="020E0705020206020404" charset="0"/>
        </a:defRPr>
      </a:lvl2pPr>
      <a:lvl3pPr marL="1524000" indent="-304800" algn="l" defTabSz="1219200" rtl="0" fontAlgn="base">
        <a:spcBef>
          <a:spcPct val="20000"/>
        </a:spcBef>
        <a:spcAft>
          <a:spcPct val="0"/>
        </a:spcAft>
        <a:buFont typeface="Arial" panose="020B0604020202020204" pitchFamily="34" charset="0"/>
        <a:buChar char="•"/>
        <a:defRPr sz="3200">
          <a:solidFill>
            <a:schemeClr val="tx1"/>
          </a:solidFill>
          <a:latin typeface="+mn-lt"/>
          <a:ea typeface="+mn-ea"/>
          <a:sym typeface="Copperplate Gothic Bold" panose="020E0705020206020404" charset="0"/>
        </a:defRPr>
      </a:lvl3pPr>
      <a:lvl4pPr marL="2133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4pPr>
      <a:lvl5pPr marL="27432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5pPr>
      <a:lvl6pPr marL="32004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6pPr>
      <a:lvl7pPr marL="3657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7pPr>
      <a:lvl8pPr marL="41148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8pPr>
      <a:lvl9pPr marL="45720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2.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4294967295"/>
          </p:nvPr>
        </p:nvSpPr>
        <p:spPr>
          <a:xfrm>
            <a:off x="11650345" y="6483985"/>
            <a:ext cx="541655" cy="282575"/>
          </a:xfrm>
        </p:spPr>
        <p:txBody>
          <a:bodyPr/>
          <a:p>
            <a:fld id="{F18B4237-A20D-4DE2-ADD8-75BCC50A7656}" type="slidenum">
              <a:rPr lang="zh-CN" altLang="en-US"/>
            </a:fld>
            <a:endParaRPr lang="zh-CN" altLang="en-US"/>
          </a:p>
        </p:txBody>
      </p:sp>
      <p:sp>
        <p:nvSpPr>
          <p:cNvPr id="3" name="文本框 2"/>
          <p:cNvSpPr txBox="1"/>
          <p:nvPr/>
        </p:nvSpPr>
        <p:spPr>
          <a:xfrm>
            <a:off x="3506470" y="4126230"/>
            <a:ext cx="4791075" cy="815340"/>
          </a:xfrm>
          <a:prstGeom prst="rect">
            <a:avLst/>
          </a:prstGeom>
        </p:spPr>
        <p:txBody>
          <a:bodyPr vert="horz" lIns="91440" tIns="45720" rIns="91440" bIns="45720" rtlCol="0" anchor="ctr" anchorCtr="0">
            <a:noAutofit/>
          </a:bodyPr>
          <a:p>
            <a:pPr marL="0" lvl="0" indent="0" algn="ctr">
              <a:lnSpc>
                <a:spcPct val="90000"/>
              </a:lnSpc>
              <a:spcBef>
                <a:spcPts val="1000"/>
              </a:spcBef>
              <a:buClr>
                <a:schemeClr val="accent2"/>
              </a:buClr>
              <a:buFont typeface="Wingdings" panose="05000000000000000000" pitchFamily="2" charset="2"/>
              <a:buNone/>
            </a:pPr>
            <a:r>
              <a:rPr lang="zh-CN" altLang="en-US" sz="4000">
                <a:solidFill>
                  <a:srgbClr val="FFFF00"/>
                </a:solidFill>
              </a:rPr>
              <a:t>五</a:t>
            </a:r>
            <a:r>
              <a:rPr lang="en-US" altLang="zh-CN" sz="4000">
                <a:solidFill>
                  <a:srgbClr val="FFFF00"/>
                </a:solidFill>
              </a:rPr>
              <a:t>.</a:t>
            </a:r>
            <a:r>
              <a:rPr lang="zh-CN" altLang="en-US" sz="4000">
                <a:solidFill>
                  <a:srgbClr val="FFFF00"/>
                </a:solidFill>
              </a:rPr>
              <a:t>拷贝构造</a:t>
            </a:r>
            <a:endParaRPr lang="zh-CN" altLang="en-US" sz="400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2"/>
          <p:cNvSpPr>
            <a:spLocks noGrp="1"/>
          </p:cNvSpPr>
          <p:nvPr>
            <p:ph idx="1"/>
          </p:nvPr>
        </p:nvSpPr>
        <p:spPr>
          <a:xfrm>
            <a:off x="191770" y="981075"/>
            <a:ext cx="8229600" cy="4386580"/>
          </a:xfrm>
        </p:spPr>
        <p:txBody>
          <a:bodyPr/>
          <a:lstStyle/>
          <a:p>
            <a:pPr eaLnBrk="1" hangingPunct="1"/>
            <a:r>
              <a:rPr lang="zh-CN" altLang="en-US" sz="2400" smtClean="0"/>
              <a:t>指针</a:t>
            </a:r>
            <a:r>
              <a:rPr lang="en-US" altLang="zh-CN" sz="2400" smtClean="0"/>
              <a:t>+</a:t>
            </a:r>
            <a:r>
              <a:rPr lang="zh-CN" altLang="en-US" sz="2400" smtClean="0"/>
              <a:t>引用</a:t>
            </a:r>
            <a:r>
              <a:rPr lang="en-US" altLang="zh-CN" sz="2400" smtClean="0"/>
              <a:t>+</a:t>
            </a:r>
            <a:r>
              <a:rPr lang="zh-CN" altLang="en-US" sz="2400" smtClean="0"/>
              <a:t>结构</a:t>
            </a:r>
            <a:endParaRPr lang="en-US" altLang="zh-CN" sz="2400" smtClean="0"/>
          </a:p>
          <a:p>
            <a:pPr eaLnBrk="1" hangingPunct="1"/>
            <a:r>
              <a:rPr lang="zh-CN" altLang="en-US" sz="2400" smtClean="0"/>
              <a:t>类与对象</a:t>
            </a:r>
            <a:endParaRPr lang="zh-CN" altLang="en-US" sz="2400" smtClean="0"/>
          </a:p>
          <a:p>
            <a:pPr eaLnBrk="1" hangingPunct="1"/>
            <a:r>
              <a:rPr lang="zh-CN" altLang="en-US" sz="2400" smtClean="0"/>
              <a:t>构造与析构</a:t>
            </a:r>
            <a:endParaRPr lang="zh-CN" altLang="en-US" sz="2400" smtClean="0"/>
          </a:p>
          <a:p>
            <a:pPr eaLnBrk="1" hangingPunct="1"/>
            <a:r>
              <a:rPr lang="zh-CN" altLang="en-US" sz="2400" smtClean="0"/>
              <a:t>拷贝构造</a:t>
            </a:r>
            <a:endParaRPr lang="zh-CN" altLang="en-US" sz="2400" smtClean="0"/>
          </a:p>
          <a:p>
            <a:pPr eaLnBrk="1" hangingPunct="1"/>
            <a:r>
              <a:rPr lang="zh-CN" altLang="en-US" sz="2400" smtClean="0"/>
              <a:t>静态成员</a:t>
            </a:r>
            <a:r>
              <a:rPr lang="en-US" altLang="zh-CN" sz="2400" smtClean="0"/>
              <a:t>+</a:t>
            </a:r>
            <a:r>
              <a:rPr lang="zh-CN" altLang="en-US" sz="2400" smtClean="0"/>
              <a:t>友元</a:t>
            </a:r>
            <a:endParaRPr lang="zh-CN" altLang="en-US" sz="2400" smtClean="0"/>
          </a:p>
          <a:p>
            <a:pPr eaLnBrk="1" hangingPunct="1"/>
            <a:r>
              <a:rPr lang="zh-CN" altLang="en-US" sz="2400" smtClean="0"/>
              <a:t>继承</a:t>
            </a:r>
            <a:endParaRPr lang="zh-CN" altLang="en-US" sz="2400" smtClean="0"/>
          </a:p>
          <a:p>
            <a:pPr eaLnBrk="1" hangingPunct="1"/>
            <a:r>
              <a:rPr lang="zh-CN" altLang="en-US" sz="2400" smtClean="0"/>
              <a:t>多重继承</a:t>
            </a:r>
            <a:endParaRPr lang="zh-CN" altLang="en-US" sz="2400" smtClean="0"/>
          </a:p>
          <a:p>
            <a:pPr eaLnBrk="1" hangingPunct="1"/>
            <a:r>
              <a:rPr lang="zh-CN" altLang="en-US" sz="2400" smtClean="0"/>
              <a:t>运算符重载</a:t>
            </a:r>
            <a:endParaRPr lang="zh-CN" altLang="en-US" sz="2400" smtClean="0"/>
          </a:p>
          <a:p>
            <a:pPr eaLnBrk="1" hangingPunct="1"/>
            <a:r>
              <a:rPr lang="zh-CN" altLang="en-US" sz="2400" smtClean="0"/>
              <a:t>模板</a:t>
            </a:r>
            <a:endParaRPr lang="zh-CN" altLang="en-US" sz="2400" smtClean="0"/>
          </a:p>
        </p:txBody>
      </p:sp>
      <p:sp>
        <p:nvSpPr>
          <p:cNvPr id="2" name="标题 1"/>
          <p:cNvSpPr>
            <a:spLocks noGrp="1"/>
          </p:cNvSpPr>
          <p:nvPr>
            <p:ph type="title"/>
          </p:nvPr>
        </p:nvSpPr>
        <p:spPr/>
        <p:txBody>
          <a:bodyPr/>
          <a:lstStyle/>
          <a:p>
            <a:pPr eaLnBrk="1" fontAlgn="auto" hangingPunct="1">
              <a:spcAft>
                <a:spcPts val="0"/>
              </a:spcAft>
              <a:defRPr/>
            </a:pPr>
            <a:r>
              <a:rPr lang="zh-CN" altLang="en-US" dirty="0" smtClean="0"/>
              <a:t>课程结构（按教材划分）</a:t>
            </a:r>
            <a:endParaRPr lang="zh-CN" altLang="en-US" dirty="0"/>
          </a:p>
        </p:txBody>
      </p:sp>
      <p:sp>
        <p:nvSpPr>
          <p:cNvPr id="4" name="右大括号 3"/>
          <p:cNvSpPr/>
          <p:nvPr/>
        </p:nvSpPr>
        <p:spPr>
          <a:xfrm>
            <a:off x="3503930" y="1698625"/>
            <a:ext cx="504190" cy="128587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a:solidFill>
                  <a:srgbClr val="FF0000"/>
                </a:solidFill>
                <a:latin typeface="黑体" panose="02010609060101010101" pitchFamily="2" charset="-122"/>
                <a:ea typeface="黑体" panose="02010609060101010101" pitchFamily="2" charset="-122"/>
              </a:rPr>
              <a:t>封装</a:t>
            </a:r>
            <a:endParaRPr lang="zh-CN" altLang="en-US">
              <a:solidFill>
                <a:srgbClr val="FF0000"/>
              </a:solidFill>
              <a:latin typeface="黑体" panose="02010609060101010101" pitchFamily="2" charset="-122"/>
              <a:ea typeface="黑体" panose="02010609060101010101" pitchFamily="2" charset="-122"/>
            </a:endParaRPr>
          </a:p>
        </p:txBody>
      </p:sp>
      <p:sp>
        <p:nvSpPr>
          <p:cNvPr id="5" name="右大括号 4"/>
          <p:cNvSpPr/>
          <p:nvPr/>
        </p:nvSpPr>
        <p:spPr>
          <a:xfrm>
            <a:off x="3935730" y="3195955"/>
            <a:ext cx="504190" cy="815340"/>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a:solidFill>
                  <a:srgbClr val="FF0000"/>
                </a:solidFill>
                <a:latin typeface="黑体" panose="02010609060101010101" pitchFamily="2" charset="-122"/>
                <a:ea typeface="黑体" panose="02010609060101010101" pitchFamily="2" charset="-122"/>
              </a:rPr>
              <a:t>继承</a:t>
            </a:r>
            <a:endParaRPr lang="zh-CN" altLang="en-US">
              <a:solidFill>
                <a:srgbClr val="FF0000"/>
              </a:solidFill>
              <a:latin typeface="黑体" panose="02010609060101010101" pitchFamily="2" charset="-122"/>
              <a:ea typeface="黑体" panose="02010609060101010101" pitchFamily="2" charset="-122"/>
            </a:endParaRPr>
          </a:p>
        </p:txBody>
      </p:sp>
      <p:sp>
        <p:nvSpPr>
          <p:cNvPr id="6" name="右大括号 5"/>
          <p:cNvSpPr/>
          <p:nvPr/>
        </p:nvSpPr>
        <p:spPr>
          <a:xfrm>
            <a:off x="4655820" y="3342640"/>
            <a:ext cx="876935" cy="1628140"/>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1800">
                <a:solidFill>
                  <a:srgbClr val="FF0000"/>
                </a:solidFill>
                <a:latin typeface="黑体" panose="02010609060101010101" pitchFamily="2" charset="-122"/>
                <a:ea typeface="黑体" panose="02010609060101010101" pitchFamily="2" charset="-122"/>
              </a:rPr>
              <a:t>多态</a:t>
            </a:r>
            <a:endParaRPr lang="zh-CN" altLang="en-US" sz="1800">
              <a:solidFill>
                <a:srgbClr val="FF0000"/>
              </a:solidFill>
              <a:latin typeface="黑体" panose="02010609060101010101" pitchFamily="2" charset="-122"/>
              <a:ea typeface="黑体" panose="02010609060101010101" pitchFamily="2" charset="-122"/>
            </a:endParaRPr>
          </a:p>
          <a:p>
            <a:pPr algn="ctr"/>
            <a:r>
              <a:rPr lang="zh-CN" altLang="en-US" sz="1800">
                <a:solidFill>
                  <a:srgbClr val="00B050"/>
                </a:solidFill>
                <a:latin typeface="黑体" panose="02010609060101010101" pitchFamily="2" charset="-122"/>
                <a:ea typeface="黑体" panose="02010609060101010101" pitchFamily="2" charset="-122"/>
              </a:rPr>
              <a:t>多种</a:t>
            </a:r>
            <a:r>
              <a:rPr lang="zh-CN" altLang="en-US" sz="1800">
                <a:solidFill>
                  <a:srgbClr val="00B050"/>
                </a:solidFill>
                <a:latin typeface="黑体" panose="02010609060101010101" pitchFamily="2" charset="-122"/>
                <a:ea typeface="黑体" panose="02010609060101010101" pitchFamily="2" charset="-122"/>
                <a:sym typeface="+mn-ea"/>
              </a:rPr>
              <a:t>形态</a:t>
            </a:r>
            <a:endParaRPr lang="zh-CN" altLang="en-US" sz="1800">
              <a:solidFill>
                <a:srgbClr val="00B050"/>
              </a:solidFill>
              <a:latin typeface="黑体" panose="02010609060101010101" pitchFamily="2" charset="-122"/>
              <a:ea typeface="黑体" panose="02010609060101010101" pitchFamily="2" charset="-122"/>
              <a:sym typeface="+mn-ea"/>
            </a:endParaRPr>
          </a:p>
        </p:txBody>
      </p:sp>
      <p:sp>
        <p:nvSpPr>
          <p:cNvPr id="7" name="右大括号 6"/>
          <p:cNvSpPr/>
          <p:nvPr/>
        </p:nvSpPr>
        <p:spPr>
          <a:xfrm>
            <a:off x="5735955" y="1772920"/>
            <a:ext cx="876935" cy="3197860"/>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en-US" altLang="zh-CN" sz="2000">
                <a:solidFill>
                  <a:srgbClr val="FF0000"/>
                </a:solidFill>
                <a:latin typeface="黑体" panose="02010609060101010101" pitchFamily="2" charset="-122"/>
                <a:ea typeface="黑体" panose="02010609060101010101" pitchFamily="2" charset="-122"/>
                <a:cs typeface="黑体" panose="02010609060101010101" pitchFamily="2" charset="-122"/>
              </a:rPr>
              <a:t>C++</a:t>
            </a:r>
            <a:endParaRPr lang="zh-CN" altLang="en-US" sz="2000">
              <a:solidFill>
                <a:srgbClr val="FF0000"/>
              </a:solidFill>
              <a:latin typeface="黑体" panose="02010609060101010101" pitchFamily="2" charset="-122"/>
              <a:ea typeface="黑体" panose="02010609060101010101" pitchFamily="2" charset="-122"/>
              <a:cs typeface="黑体" panose="02010609060101010101" pitchFamily="2" charset="-122"/>
            </a:endParaRPr>
          </a:p>
          <a:p>
            <a:pPr algn="ctr"/>
            <a:r>
              <a:rPr lang="zh-CN" altLang="en-US" sz="200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三大特性</a:t>
            </a:r>
            <a:endParaRPr lang="zh-CN" altLang="en-US" sz="200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p:txBody>
      </p:sp>
      <p:pic>
        <p:nvPicPr>
          <p:cNvPr id="3" name="图片 2"/>
          <p:cNvPicPr>
            <a:picLocks noChangeAspect="1"/>
          </p:cNvPicPr>
          <p:nvPr/>
        </p:nvPicPr>
        <p:blipFill>
          <a:blip r:embed="rId1"/>
          <a:stretch>
            <a:fillRect/>
          </a:stretch>
        </p:blipFill>
        <p:spPr>
          <a:xfrm>
            <a:off x="8688705" y="1523365"/>
            <a:ext cx="2783840" cy="3667760"/>
          </a:xfrm>
          <a:prstGeom prst="rect">
            <a:avLst/>
          </a:prstGeom>
        </p:spPr>
      </p:pic>
      <p:sp>
        <p:nvSpPr>
          <p:cNvPr id="10" name="右大括号 9"/>
          <p:cNvSpPr/>
          <p:nvPr/>
        </p:nvSpPr>
        <p:spPr>
          <a:xfrm>
            <a:off x="2856230" y="1523365"/>
            <a:ext cx="504190" cy="605790"/>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a:solidFill>
                  <a:schemeClr val="tx2">
                    <a:lumMod val="60000"/>
                    <a:lumOff val="40000"/>
                  </a:schemeClr>
                </a:solidFill>
                <a:latin typeface="黑体" panose="02010609060101010101" pitchFamily="2" charset="-122"/>
                <a:ea typeface="黑体" panose="02010609060101010101" pitchFamily="2" charset="-122"/>
              </a:rPr>
              <a:t>抽象</a:t>
            </a:r>
            <a:endParaRPr lang="zh-CN" altLang="en-US">
              <a:solidFill>
                <a:schemeClr val="tx2">
                  <a:lumMod val="60000"/>
                  <a:lumOff val="40000"/>
                </a:schemeClr>
              </a:solidFill>
              <a:latin typeface="黑体" panose="02010609060101010101" pitchFamily="2" charset="-122"/>
              <a:ea typeface="黑体" panose="02010609060101010101" pitchFamily="2" charset="-122"/>
            </a:endParaRPr>
          </a:p>
        </p:txBody>
      </p:sp>
      <p:sp>
        <p:nvSpPr>
          <p:cNvPr id="11" name="右大括号 10"/>
          <p:cNvSpPr/>
          <p:nvPr/>
        </p:nvSpPr>
        <p:spPr>
          <a:xfrm>
            <a:off x="6960235" y="1522730"/>
            <a:ext cx="876935" cy="337756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400">
                <a:solidFill>
                  <a:schemeClr val="tx2">
                    <a:lumMod val="60000"/>
                    <a:lumOff val="40000"/>
                  </a:schemeClr>
                </a:solidFill>
                <a:latin typeface="黑体" panose="02010609060101010101" pitchFamily="2" charset="-122"/>
                <a:ea typeface="黑体" panose="02010609060101010101" pitchFamily="2" charset="-122"/>
                <a:cs typeface="黑体" panose="02010609060101010101" pitchFamily="2" charset="-122"/>
              </a:rPr>
              <a:t>面向对象四个特征</a:t>
            </a:r>
            <a:endParaRPr lang="zh-CN" altLang="en-US" sz="2400">
              <a:solidFill>
                <a:schemeClr val="tx2">
                  <a:lumMod val="60000"/>
                  <a:lumOff val="40000"/>
                </a:schemeClr>
              </a:solidFill>
              <a:latin typeface="黑体" panose="02010609060101010101" pitchFamily="2" charset="-122"/>
              <a:ea typeface="黑体" panose="02010609060101010101" pitchFamily="2" charset="-122"/>
              <a:cs typeface="黑体" panose="02010609060101010101" pitchFamily="2" charset="-122"/>
              <a:sym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9470" y="188278"/>
            <a:ext cx="8229600" cy="868346"/>
          </a:xfrm>
        </p:spPr>
        <p:txBody>
          <a:bodyPr>
            <a:normAutofit/>
          </a:bodyPr>
          <a:lstStyle/>
          <a:p>
            <a:r>
              <a:rPr lang="zh-CN" altLang="en-US" dirty="0" smtClean="0">
                <a:solidFill>
                  <a:srgbClr val="FF0000"/>
                </a:solidFill>
                <a:latin typeface="黑体" panose="02010609060101010101" pitchFamily="2" charset="-122"/>
                <a:ea typeface="黑体" panose="02010609060101010101" pitchFamily="2" charset="-122"/>
              </a:rPr>
              <a:t>前面知识点</a:t>
            </a:r>
            <a:endParaRPr lang="zh-CN" altLang="en-US" sz="4000" dirty="0" smtClean="0">
              <a:solidFill>
                <a:srgbClr val="FF0000"/>
              </a:solidFill>
              <a:latin typeface="黑体" panose="02010609060101010101" pitchFamily="2" charset="-122"/>
              <a:ea typeface="黑体" panose="02010609060101010101" pitchFamily="2" charset="-122"/>
            </a:endParaRPr>
          </a:p>
        </p:txBody>
      </p:sp>
      <p:sp>
        <p:nvSpPr>
          <p:cNvPr id="6" name="内容占位符 5"/>
          <p:cNvSpPr>
            <a:spLocks noGrp="1"/>
          </p:cNvSpPr>
          <p:nvPr>
            <p:ph idx="1"/>
          </p:nvPr>
        </p:nvSpPr>
        <p:spPr>
          <a:xfrm>
            <a:off x="335915" y="908685"/>
            <a:ext cx="11232515" cy="4857750"/>
          </a:xfrm>
        </p:spPr>
        <p:txBody>
          <a:bodyPr/>
          <a:p>
            <a:r>
              <a:rPr lang="zh-CN" altLang="en-US" sz="2000" dirty="0" smtClean="0">
                <a:latin typeface="黑体" panose="02010609060101010101" pitchFamily="2" charset="-122"/>
                <a:ea typeface="黑体" panose="02010609060101010101" pitchFamily="2" charset="-122"/>
                <a:cs typeface="黑体" panose="02010609060101010101" pitchFamily="2" charset="-122"/>
              </a:rPr>
              <a:t>构造函数，对类数据成员进行初始化的方法</a:t>
            </a:r>
            <a:endParaRPr lang="en-US" altLang="zh-CN" sz="2000" dirty="0" smtClean="0">
              <a:latin typeface="黑体" panose="02010609060101010101" pitchFamily="2" charset="-122"/>
              <a:ea typeface="黑体" panose="02010609060101010101" pitchFamily="2" charset="-122"/>
              <a:cs typeface="黑体" panose="02010609060101010101" pitchFamily="2" charset="-122"/>
            </a:endParaRPr>
          </a:p>
          <a:p>
            <a:pPr lvl="1"/>
            <a:r>
              <a:rPr lang="zh-CN" altLang="en-US" sz="1800" dirty="0" smtClean="0">
                <a:latin typeface="黑体" panose="02010609060101010101" pitchFamily="2" charset="-122"/>
                <a:ea typeface="黑体" panose="02010609060101010101" pitchFamily="2" charset="-122"/>
                <a:cs typeface="黑体" panose="02010609060101010101" pitchFamily="2" charset="-122"/>
              </a:rPr>
              <a:t>构造函数名和类名相同，无</a:t>
            </a:r>
            <a:r>
              <a:rPr lang="zh-CN" altLang="en-US" sz="1800" dirty="0" smtClean="0">
                <a:latin typeface="黑体" panose="02010609060101010101" pitchFamily="2" charset="-122"/>
                <a:ea typeface="黑体" panose="02010609060101010101" pitchFamily="2" charset="-122"/>
                <a:cs typeface="黑体" panose="02010609060101010101" pitchFamily="2" charset="-122"/>
                <a:sym typeface="+mn-ea"/>
              </a:rPr>
              <a:t>返回值，不是</a:t>
            </a:r>
            <a:r>
              <a:rPr lang="en-US" altLang="zh-CN" sz="1800" dirty="0" smtClean="0">
                <a:latin typeface="黑体" panose="02010609060101010101" pitchFamily="2" charset="-122"/>
                <a:ea typeface="黑体" panose="02010609060101010101" pitchFamily="2" charset="-122"/>
                <a:cs typeface="黑体" panose="02010609060101010101" pitchFamily="2" charset="-122"/>
                <a:sym typeface="+mn-ea"/>
              </a:rPr>
              <a:t>void</a:t>
            </a:r>
            <a:r>
              <a:rPr lang="zh-CN" altLang="en-US" sz="1800" dirty="0" smtClean="0">
                <a:latin typeface="黑体" panose="02010609060101010101" pitchFamily="2" charset="-122"/>
                <a:ea typeface="黑体" panose="02010609060101010101" pitchFamily="2" charset="-122"/>
                <a:cs typeface="黑体" panose="02010609060101010101" pitchFamily="2" charset="-122"/>
                <a:sym typeface="+mn-ea"/>
              </a:rPr>
              <a:t>，函数内可以使用无返回值的</a:t>
            </a:r>
            <a:r>
              <a:rPr lang="en-US" altLang="zh-CN" sz="1800" dirty="0" smtClean="0">
                <a:latin typeface="黑体" panose="02010609060101010101" pitchFamily="2" charset="-122"/>
                <a:ea typeface="黑体" panose="02010609060101010101" pitchFamily="2" charset="-122"/>
                <a:cs typeface="黑体" panose="02010609060101010101" pitchFamily="2" charset="-122"/>
                <a:sym typeface="+mn-ea"/>
              </a:rPr>
              <a:t>return</a:t>
            </a:r>
            <a:endParaRPr lang="en-US" altLang="zh-CN" sz="1800" dirty="0" smtClean="0">
              <a:latin typeface="黑体" panose="02010609060101010101" pitchFamily="2" charset="-122"/>
              <a:ea typeface="黑体" panose="02010609060101010101" pitchFamily="2" charset="-122"/>
              <a:cs typeface="黑体" panose="02010609060101010101" pitchFamily="2" charset="-122"/>
            </a:endParaRPr>
          </a:p>
          <a:p>
            <a:pPr lvl="1">
              <a:lnSpc>
                <a:spcPts val="2880"/>
              </a:lnSpc>
              <a:spcBef>
                <a:spcPts val="0"/>
              </a:spcBef>
            </a:pPr>
            <a:r>
              <a:rPr lang="zh-CN" altLang="en-US" sz="1800" dirty="0" smtClean="0">
                <a:latin typeface="黑体" panose="02010609060101010101" pitchFamily="2" charset="-122"/>
                <a:ea typeface="黑体" panose="02010609060101010101" pitchFamily="2" charset="-122"/>
                <a:cs typeface="黑体" panose="02010609060101010101" pitchFamily="2" charset="-122"/>
              </a:rPr>
              <a:t>当用类创建对象、</a:t>
            </a:r>
            <a:r>
              <a:rPr lang="en-US" altLang="zh-CN" sz="1800" dirty="0" smtClean="0">
                <a:latin typeface="黑体" panose="02010609060101010101" pitchFamily="2" charset="-122"/>
                <a:ea typeface="黑体" panose="02010609060101010101" pitchFamily="2" charset="-122"/>
                <a:cs typeface="黑体" panose="02010609060101010101" pitchFamily="2" charset="-122"/>
              </a:rPr>
              <a:t>new</a:t>
            </a:r>
            <a:r>
              <a:rPr lang="zh-CN" altLang="en-US" sz="1800" dirty="0" smtClean="0">
                <a:latin typeface="黑体" panose="02010609060101010101" pitchFamily="2" charset="-122"/>
                <a:ea typeface="黑体" panose="02010609060101010101" pitchFamily="2" charset="-122"/>
                <a:cs typeface="黑体" panose="02010609060101010101" pitchFamily="2" charset="-122"/>
              </a:rPr>
              <a:t>一个对象时，系统会自动隐式调用构造函数，用户不能主动</a:t>
            </a:r>
            <a:r>
              <a:rPr lang="zh-CN" altLang="en-US" sz="1800" dirty="0" smtClean="0">
                <a:latin typeface="黑体" panose="02010609060101010101" pitchFamily="2" charset="-122"/>
                <a:ea typeface="黑体" panose="02010609060101010101" pitchFamily="2" charset="-122"/>
                <a:cs typeface="黑体" panose="02010609060101010101" pitchFamily="2" charset="-122"/>
                <a:sym typeface="+mn-ea"/>
              </a:rPr>
              <a:t>显式调用构造函数</a:t>
            </a:r>
            <a:endParaRPr lang="zh-CN" altLang="en-US" sz="1800" dirty="0" smtClean="0">
              <a:latin typeface="黑体" panose="02010609060101010101" pitchFamily="2" charset="-122"/>
              <a:ea typeface="黑体" panose="02010609060101010101" pitchFamily="2" charset="-122"/>
              <a:cs typeface="黑体" panose="02010609060101010101" pitchFamily="2" charset="-122"/>
              <a:sym typeface="+mn-ea"/>
            </a:endParaRPr>
          </a:p>
          <a:p>
            <a:pPr lvl="1">
              <a:lnSpc>
                <a:spcPts val="2880"/>
              </a:lnSpc>
              <a:spcBef>
                <a:spcPts val="0"/>
              </a:spcBef>
            </a:pPr>
            <a:r>
              <a:rPr lang="zh-CN" altLang="en-US" sz="1800" dirty="0" smtClean="0">
                <a:latin typeface="黑体" panose="02010609060101010101" pitchFamily="2" charset="-122"/>
                <a:ea typeface="黑体" panose="02010609060101010101" pitchFamily="2" charset="-122"/>
                <a:cs typeface="黑体" panose="02010609060101010101" pitchFamily="2" charset="-122"/>
              </a:rPr>
              <a:t>构造函数包括无参构造、有参构造、带默认值有参构造</a:t>
            </a:r>
            <a:endParaRPr lang="zh-CN" altLang="en-US" sz="1800" dirty="0" smtClean="0">
              <a:latin typeface="黑体" panose="02010609060101010101" pitchFamily="2" charset="-122"/>
              <a:ea typeface="黑体" panose="02010609060101010101" pitchFamily="2" charset="-122"/>
              <a:cs typeface="黑体" panose="02010609060101010101" pitchFamily="2" charset="-122"/>
            </a:endParaRPr>
          </a:p>
          <a:p>
            <a:pPr lvl="1">
              <a:lnSpc>
                <a:spcPts val="2880"/>
              </a:lnSpc>
              <a:spcBef>
                <a:spcPts val="0"/>
              </a:spcBef>
            </a:pPr>
            <a:r>
              <a:rPr lang="zh-CN" altLang="en-US" sz="1800" dirty="0" smtClean="0">
                <a:latin typeface="黑体" panose="02010609060101010101" pitchFamily="2" charset="-122"/>
                <a:ea typeface="黑体" panose="02010609060101010101" pitchFamily="2" charset="-122"/>
                <a:cs typeface="黑体" panose="02010609060101010101" pitchFamily="2" charset="-122"/>
              </a:rPr>
              <a:t>如果要用对象数组，或者不写构造函数、或者定义</a:t>
            </a:r>
            <a:r>
              <a:rPr lang="zh-CN" altLang="en-US" sz="1800" dirty="0" smtClean="0">
                <a:latin typeface="黑体" panose="02010609060101010101" pitchFamily="2" charset="-122"/>
                <a:ea typeface="黑体" panose="02010609060101010101" pitchFamily="2" charset="-122"/>
                <a:cs typeface="黑体" panose="02010609060101010101" pitchFamily="2" charset="-122"/>
                <a:sym typeface="+mn-ea"/>
              </a:rPr>
              <a:t>无参构造、或者定义带默认值有参构造</a:t>
            </a:r>
            <a:endParaRPr lang="en-US" altLang="zh-CN" sz="1800" dirty="0" smtClean="0">
              <a:latin typeface="黑体" panose="02010609060101010101" pitchFamily="2" charset="-122"/>
              <a:ea typeface="黑体" panose="02010609060101010101" pitchFamily="2" charset="-122"/>
              <a:cs typeface="黑体" panose="02010609060101010101" pitchFamily="2" charset="-122"/>
            </a:endParaRPr>
          </a:p>
          <a:p>
            <a:r>
              <a:rPr lang="zh-CN" altLang="en-US" sz="2000" dirty="0" smtClean="0">
                <a:latin typeface="黑体" panose="02010609060101010101" pitchFamily="2" charset="-122"/>
                <a:ea typeface="黑体" panose="02010609060101010101" pitchFamily="2" charset="-122"/>
                <a:cs typeface="黑体" panose="02010609060101010101" pitchFamily="2" charset="-122"/>
              </a:rPr>
              <a:t>析构函数，回收对象资源的方法</a:t>
            </a:r>
            <a:endParaRPr lang="en-US" altLang="zh-CN" sz="2000" dirty="0" smtClean="0">
              <a:latin typeface="黑体" panose="02010609060101010101" pitchFamily="2" charset="-122"/>
              <a:ea typeface="黑体" panose="02010609060101010101" pitchFamily="2" charset="-122"/>
              <a:cs typeface="黑体" panose="02010609060101010101" pitchFamily="2" charset="-122"/>
            </a:endParaRPr>
          </a:p>
          <a:p>
            <a:pPr lvl="1">
              <a:lnSpc>
                <a:spcPts val="2880"/>
              </a:lnSpc>
              <a:spcBef>
                <a:spcPts val="0"/>
              </a:spcBef>
            </a:pPr>
            <a:r>
              <a:rPr lang="zh-CN" altLang="en-US" sz="1800" dirty="0" smtClean="0">
                <a:latin typeface="黑体" panose="02010609060101010101" pitchFamily="2" charset="-122"/>
                <a:ea typeface="黑体" panose="02010609060101010101" pitchFamily="2" charset="-122"/>
                <a:cs typeface="黑体" panose="02010609060101010101" pitchFamily="2" charset="-122"/>
              </a:rPr>
              <a:t>析构函数名是类名前加‘</a:t>
            </a:r>
            <a:r>
              <a:rPr lang="en-US" altLang="zh-CN" sz="1800" dirty="0" smtClean="0">
                <a:latin typeface="黑体" panose="02010609060101010101" pitchFamily="2" charset="-122"/>
                <a:ea typeface="黑体" panose="02010609060101010101" pitchFamily="2" charset="-122"/>
                <a:cs typeface="黑体" panose="02010609060101010101" pitchFamily="2" charset="-122"/>
              </a:rPr>
              <a:t>~’</a:t>
            </a:r>
            <a:r>
              <a:rPr lang="zh-CN" altLang="en-US" sz="1800" dirty="0" smtClean="0">
                <a:latin typeface="黑体" panose="02010609060101010101" pitchFamily="2" charset="-122"/>
                <a:ea typeface="黑体" panose="02010609060101010101" pitchFamily="2" charset="-122"/>
                <a:cs typeface="黑体" panose="02010609060101010101" pitchFamily="2" charset="-122"/>
              </a:rPr>
              <a:t>字符，</a:t>
            </a:r>
            <a:r>
              <a:rPr lang="zh-CN" altLang="en-US" sz="1800" dirty="0" smtClean="0">
                <a:latin typeface="黑体" panose="02010609060101010101" pitchFamily="2" charset="-122"/>
                <a:ea typeface="黑体" panose="02010609060101010101" pitchFamily="2" charset="-122"/>
                <a:cs typeface="黑体" panose="02010609060101010101" pitchFamily="2" charset="-122"/>
                <a:sym typeface="+mn-ea"/>
              </a:rPr>
              <a:t>无返回值，不是</a:t>
            </a:r>
            <a:r>
              <a:rPr lang="en-US" altLang="zh-CN" sz="1800" dirty="0" smtClean="0">
                <a:latin typeface="黑体" panose="02010609060101010101" pitchFamily="2" charset="-122"/>
                <a:ea typeface="黑体" panose="02010609060101010101" pitchFamily="2" charset="-122"/>
                <a:cs typeface="黑体" panose="02010609060101010101" pitchFamily="2" charset="-122"/>
                <a:sym typeface="+mn-ea"/>
              </a:rPr>
              <a:t>void</a:t>
            </a:r>
            <a:r>
              <a:rPr lang="zh-CN" altLang="en-US" sz="1800" dirty="0" smtClean="0">
                <a:latin typeface="黑体" panose="02010609060101010101" pitchFamily="2" charset="-122"/>
                <a:ea typeface="黑体" panose="02010609060101010101" pitchFamily="2" charset="-122"/>
                <a:cs typeface="黑体" panose="02010609060101010101" pitchFamily="2" charset="-122"/>
                <a:sym typeface="+mn-ea"/>
              </a:rPr>
              <a:t>，函数内可以使用无返回值的</a:t>
            </a:r>
            <a:r>
              <a:rPr lang="en-US" altLang="zh-CN" sz="1800" dirty="0" smtClean="0">
                <a:latin typeface="黑体" panose="02010609060101010101" pitchFamily="2" charset="-122"/>
                <a:ea typeface="黑体" panose="02010609060101010101" pitchFamily="2" charset="-122"/>
                <a:cs typeface="黑体" panose="02010609060101010101" pitchFamily="2" charset="-122"/>
                <a:sym typeface="+mn-ea"/>
              </a:rPr>
              <a:t>return</a:t>
            </a:r>
            <a:endParaRPr lang="en-US" altLang="zh-CN" sz="1800" dirty="0" smtClean="0">
              <a:latin typeface="黑体" panose="02010609060101010101" pitchFamily="2" charset="-122"/>
              <a:ea typeface="黑体" panose="02010609060101010101" pitchFamily="2" charset="-122"/>
              <a:cs typeface="黑体" panose="02010609060101010101" pitchFamily="2" charset="-122"/>
            </a:endParaRPr>
          </a:p>
          <a:p>
            <a:pPr lvl="1">
              <a:lnSpc>
                <a:spcPts val="2880"/>
              </a:lnSpc>
              <a:spcBef>
                <a:spcPts val="0"/>
              </a:spcBef>
            </a:pPr>
            <a:r>
              <a:rPr lang="zh-CN" altLang="en-US" sz="1800" dirty="0" smtClean="0">
                <a:latin typeface="黑体" panose="02010609060101010101" pitchFamily="2" charset="-122"/>
                <a:ea typeface="黑体" panose="02010609060101010101" pitchFamily="2" charset="-122"/>
                <a:cs typeface="黑体" panose="02010609060101010101" pitchFamily="2" charset="-122"/>
              </a:rPr>
              <a:t>当类对象按作用域撤消时、</a:t>
            </a:r>
            <a:r>
              <a:rPr lang="en-US" altLang="zh-CN" sz="1800" dirty="0" smtClean="0">
                <a:latin typeface="黑体" panose="02010609060101010101" pitchFamily="2" charset="-122"/>
                <a:ea typeface="黑体" panose="02010609060101010101" pitchFamily="2" charset="-122"/>
                <a:cs typeface="黑体" panose="02010609060101010101" pitchFamily="2" charset="-122"/>
              </a:rPr>
              <a:t>delete</a:t>
            </a:r>
            <a:r>
              <a:rPr lang="zh-CN" altLang="en-US" sz="1800" dirty="0" smtClean="0">
                <a:latin typeface="黑体" panose="02010609060101010101" pitchFamily="2" charset="-122"/>
                <a:ea typeface="黑体" panose="02010609060101010101" pitchFamily="2" charset="-122"/>
                <a:cs typeface="黑体" panose="02010609060101010101" pitchFamily="2" charset="-122"/>
              </a:rPr>
              <a:t>一个对象时，自动</a:t>
            </a:r>
            <a:r>
              <a:rPr lang="zh-CN" altLang="en-US" sz="1800" dirty="0" smtClean="0">
                <a:latin typeface="黑体" panose="02010609060101010101" pitchFamily="2" charset="-122"/>
                <a:ea typeface="黑体" panose="02010609060101010101" pitchFamily="2" charset="-122"/>
                <a:cs typeface="黑体" panose="02010609060101010101" pitchFamily="2" charset="-122"/>
                <a:sym typeface="+mn-ea"/>
              </a:rPr>
              <a:t>隐式</a:t>
            </a:r>
            <a:r>
              <a:rPr lang="zh-CN" altLang="en-US" sz="1800" dirty="0" smtClean="0">
                <a:latin typeface="黑体" panose="02010609060101010101" pitchFamily="2" charset="-122"/>
                <a:ea typeface="黑体" panose="02010609060101010101" pitchFamily="2" charset="-122"/>
                <a:cs typeface="黑体" panose="02010609060101010101" pitchFamily="2" charset="-122"/>
              </a:rPr>
              <a:t>调用析构函数，用户不能</a:t>
            </a:r>
            <a:r>
              <a:rPr lang="zh-CN" altLang="en-US" sz="1800" dirty="0" smtClean="0">
                <a:latin typeface="黑体" panose="02010609060101010101" pitchFamily="2" charset="-122"/>
                <a:ea typeface="黑体" panose="02010609060101010101" pitchFamily="2" charset="-122"/>
                <a:cs typeface="黑体" panose="02010609060101010101" pitchFamily="2" charset="-122"/>
                <a:sym typeface="+mn-ea"/>
              </a:rPr>
              <a:t>主动显式调用析构函数</a:t>
            </a:r>
            <a:endParaRPr lang="zh-CN" altLang="en-US" sz="1800" dirty="0" smtClean="0">
              <a:latin typeface="黑体" panose="02010609060101010101" pitchFamily="2" charset="-122"/>
              <a:ea typeface="黑体" panose="02010609060101010101" pitchFamily="2" charset="-122"/>
              <a:cs typeface="黑体" panose="02010609060101010101" pitchFamily="2" charset="-122"/>
              <a:sym typeface="+mn-ea"/>
            </a:endParaRPr>
          </a:p>
          <a:p>
            <a:pPr lvl="1">
              <a:lnSpc>
                <a:spcPts val="2880"/>
              </a:lnSpc>
              <a:spcBef>
                <a:spcPts val="0"/>
              </a:spcBef>
            </a:pPr>
            <a:r>
              <a:rPr lang="zh-CN" altLang="en-US" sz="1800" dirty="0" smtClean="0">
                <a:latin typeface="黑体" panose="02010609060101010101" pitchFamily="2" charset="-122"/>
                <a:ea typeface="黑体" panose="02010609060101010101" pitchFamily="2" charset="-122"/>
                <a:cs typeface="黑体" panose="02010609060101010101" pitchFamily="2" charset="-122"/>
                <a:sym typeface="+mn-ea"/>
              </a:rPr>
              <a:t>析构函数没有参数，不可以重载</a:t>
            </a:r>
            <a:endParaRPr lang="en-US" altLang="zh-CN" sz="1800" dirty="0" smtClean="0">
              <a:latin typeface="黑体" panose="02010609060101010101" pitchFamily="2" charset="-122"/>
              <a:ea typeface="黑体" panose="02010609060101010101" pitchFamily="2" charset="-122"/>
              <a:cs typeface="黑体" panose="02010609060101010101" pitchFamily="2" charset="-122"/>
            </a:endParaRPr>
          </a:p>
          <a:p>
            <a:r>
              <a:rPr lang="zh-CN" altLang="en-US" sz="2000" dirty="0" smtClean="0">
                <a:latin typeface="黑体" panose="02010609060101010101" pitchFamily="2" charset="-122"/>
                <a:ea typeface="黑体" panose="02010609060101010101" pitchFamily="2" charset="-122"/>
                <a:cs typeface="黑体" panose="02010609060101010101" pitchFamily="2" charset="-122"/>
              </a:rPr>
              <a:t>构造与析构的顺序是相反的</a:t>
            </a:r>
            <a:endParaRPr lang="zh-CN" altLang="en-US" sz="2000" dirty="0" smtClean="0">
              <a:latin typeface="黑体" panose="02010609060101010101" pitchFamily="2" charset="-122"/>
              <a:ea typeface="黑体" panose="02010609060101010101" pitchFamily="2" charset="-122"/>
              <a:cs typeface="黑体" panose="02010609060101010101" pitchFamily="2" charset="-122"/>
            </a:endParaRPr>
          </a:p>
          <a:p>
            <a:r>
              <a:rPr lang="zh-CN" altLang="en-US" sz="2000" dirty="0" smtClean="0">
                <a:latin typeface="黑体" panose="02010609060101010101" pitchFamily="2" charset="-122"/>
                <a:ea typeface="黑体" panose="02010609060101010101" pitchFamily="2" charset="-122"/>
                <a:cs typeface="黑体" panose="02010609060101010101" pitchFamily="2" charset="-122"/>
              </a:rPr>
              <a:t>在构造函数声明时，</a:t>
            </a:r>
            <a:r>
              <a:rPr lang="zh-CN" altLang="en-US" sz="2000" dirty="0" smtClean="0">
                <a:latin typeface="黑体" panose="02010609060101010101" pitchFamily="2" charset="-122"/>
                <a:ea typeface="黑体" panose="02010609060101010101" pitchFamily="2" charset="-122"/>
                <a:cs typeface="黑体" panose="02010609060101010101" pitchFamily="2" charset="-122"/>
                <a:sym typeface="+mn-ea"/>
              </a:rPr>
              <a:t>通过</a:t>
            </a:r>
            <a:r>
              <a:rPr lang="zh-CN" altLang="en-US" sz="2000" dirty="0" smtClean="0">
                <a:latin typeface="黑体" panose="02010609060101010101" pitchFamily="2" charset="-122"/>
                <a:ea typeface="黑体" panose="02010609060101010101" pitchFamily="2" charset="-122"/>
                <a:cs typeface="黑体" panose="02010609060101010101" pitchFamily="2" charset="-122"/>
              </a:rPr>
              <a:t>运算符</a:t>
            </a:r>
            <a:r>
              <a:rPr lang="en-US" altLang="zh-CN" sz="2000" dirty="0" smtClean="0">
                <a:latin typeface="黑体" panose="02010609060101010101" pitchFamily="2" charset="-122"/>
                <a:ea typeface="黑体" panose="02010609060101010101" pitchFamily="2" charset="-122"/>
                <a:cs typeface="黑体" panose="02010609060101010101" pitchFamily="2" charset="-122"/>
              </a:rPr>
              <a:t>:</a:t>
            </a:r>
            <a:r>
              <a:rPr lang="zh-CN" altLang="en-US" sz="2000" dirty="0" smtClean="0">
                <a:latin typeface="黑体" panose="02010609060101010101" pitchFamily="2" charset="-122"/>
                <a:ea typeface="黑体" panose="02010609060101010101" pitchFamily="2" charset="-122"/>
                <a:cs typeface="黑体" panose="02010609060101010101" pitchFamily="2" charset="-122"/>
              </a:rPr>
              <a:t>对数据成员进行初始化，不必在函数内初始化</a:t>
            </a:r>
            <a:endParaRPr lang="zh-CN" altLang="en-US" sz="2000" dirty="0" smtClean="0">
              <a:latin typeface="黑体" panose="02010609060101010101" pitchFamily="2" charset="-122"/>
              <a:ea typeface="黑体" panose="02010609060101010101" pitchFamily="2" charset="-122"/>
              <a:cs typeface="黑体" panose="02010609060101010101" pitchFamily="2" charset="-122"/>
            </a:endParaRPr>
          </a:p>
          <a:p>
            <a:pPr lvl="1"/>
            <a:r>
              <a:rPr lang="zh-CN" altLang="en-US" sz="2000" dirty="0" smtClean="0">
                <a:latin typeface="黑体" panose="02010609060101010101" pitchFamily="2" charset="-122"/>
                <a:ea typeface="黑体" panose="02010609060101010101" pitchFamily="2" charset="-122"/>
                <a:cs typeface="黑体" panose="02010609060101010101" pitchFamily="2" charset="-122"/>
                <a:sym typeface="+mn-ea"/>
              </a:rPr>
              <a:t>运算符</a:t>
            </a:r>
            <a:r>
              <a:rPr lang="en-US" altLang="zh-CN" sz="2000" dirty="0" smtClean="0">
                <a:latin typeface="黑体" panose="02010609060101010101" pitchFamily="2" charset="-122"/>
                <a:ea typeface="黑体" panose="02010609060101010101" pitchFamily="2" charset="-122"/>
                <a:cs typeface="黑体" panose="02010609060101010101" pitchFamily="2" charset="-122"/>
                <a:sym typeface="+mn-ea"/>
              </a:rPr>
              <a:t>:</a:t>
            </a:r>
            <a:r>
              <a:rPr lang="zh-CN" altLang="en-US" sz="2000" dirty="0" smtClean="0">
                <a:latin typeface="黑体" panose="02010609060101010101" pitchFamily="2" charset="-122"/>
                <a:ea typeface="黑体" panose="02010609060101010101" pitchFamily="2" charset="-122"/>
                <a:cs typeface="黑体" panose="02010609060101010101" pitchFamily="2" charset="-122"/>
                <a:sym typeface="+mn-ea"/>
              </a:rPr>
              <a:t>常用于</a:t>
            </a:r>
            <a:r>
              <a:rPr lang="zh-CN" altLang="en-US" sz="2000" dirty="0" smtClean="0">
                <a:latin typeface="黑体" panose="02010609060101010101" pitchFamily="2" charset="-122"/>
                <a:ea typeface="黑体" panose="02010609060101010101" pitchFamily="2" charset="-122"/>
                <a:cs typeface="黑体" panose="02010609060101010101" pitchFamily="2" charset="-122"/>
              </a:rPr>
              <a:t>复合类构造</a:t>
            </a:r>
            <a:endParaRPr lang="en-US" altLang="zh-CN" sz="2000" dirty="0" smtClean="0">
              <a:latin typeface="黑体" panose="02010609060101010101" pitchFamily="2" charset="-122"/>
              <a:ea typeface="黑体" panose="02010609060101010101" pitchFamily="2" charset="-122"/>
              <a:cs typeface="黑体" panose="02010609060101010101"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575685" y="1315720"/>
            <a:ext cx="6001385" cy="4664075"/>
          </a:xfrm>
          <a:prstGeom prst="rect">
            <a:avLst/>
          </a:prstGeom>
        </p:spPr>
        <p:txBody>
          <a:bodyPr vert="horz" lIns="91440" tIns="45720" rIns="91440" bIns="45720" rtlCol="0">
            <a:noAutofit/>
          </a:bodyPr>
          <a:lstStyle/>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拷贝构造函数</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深拷贝</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各种对象</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构造函数与类型转换</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en-US" altLang="zh-CN" sz="2800" b="0" i="0" u="none" strike="noStrike" kern="1200" cap="none" spc="0" normalizeH="0" baseline="0" noProof="0" dirty="0" smtClean="0">
              <a:ln>
                <a:noFill/>
              </a:ln>
              <a:solidFill>
                <a:schemeClr val="tx1"/>
              </a:solidFill>
              <a:effectLst/>
              <a:uLnTx/>
              <a:uFillTx/>
              <a:latin typeface="黑体" panose="02010609060101010101" pitchFamily="2" charset="-122"/>
              <a:ea typeface="黑体" panose="02010609060101010101" pitchFamily="2" charset="-122"/>
              <a:cs typeface="+mn-cs"/>
              <a:sym typeface="+mn-lt"/>
            </a:endParaRPr>
          </a:p>
        </p:txBody>
      </p:sp>
      <p:sp>
        <p:nvSpPr>
          <p:cNvPr id="4" name="灯片编号占位符 3"/>
          <p:cNvSpPr>
            <a:spLocks noGrp="1"/>
          </p:cNvSpPr>
          <p:nvPr>
            <p:ph type="sldNum" sz="quarter" idx="4"/>
          </p:nvPr>
        </p:nvSpPr>
        <p:spPr/>
        <p:txBody>
          <a:bodyPr/>
          <a:p>
            <a:r>
              <a:rPr lang="zh-CN" altLang="en-US"/>
              <a:t>*</a:t>
            </a:r>
            <a:endParaRPr lang="zh-CN" altLang="en-US"/>
          </a:p>
        </p:txBody>
      </p:sp>
      <p:sp>
        <p:nvSpPr>
          <p:cNvPr id="8" name="矩形 7"/>
          <p:cNvSpPr/>
          <p:nvPr/>
        </p:nvSpPr>
        <p:spPr>
          <a:xfrm>
            <a:off x="4041775" y="1323975"/>
            <a:ext cx="3390265" cy="3911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spd="med">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2275" y="978535"/>
            <a:ext cx="11214735" cy="4500880"/>
          </a:xfrm>
        </p:spPr>
        <p:txBody>
          <a:bodyPr/>
          <a:lstStyle/>
          <a:p>
            <a:pPr>
              <a:lnSpc>
                <a:spcPts val="2880"/>
              </a:lnSpc>
              <a:spcBef>
                <a:spcPts val="0"/>
              </a:spcBef>
            </a:pPr>
            <a:r>
              <a:rPr lang="zh-CN" altLang="en-US" sz="2000" dirty="0" smtClean="0"/>
              <a:t>构造函数只应用于对象定义、对象动态创建，在实际中有一些应用场景是需要使用构造函数的</a:t>
            </a:r>
            <a:endParaRPr lang="en-US" altLang="zh-CN" sz="2000" dirty="0" smtClean="0"/>
          </a:p>
          <a:p>
            <a:pPr lvl="1">
              <a:lnSpc>
                <a:spcPts val="2880"/>
              </a:lnSpc>
              <a:spcBef>
                <a:spcPts val="0"/>
              </a:spcBef>
            </a:pPr>
            <a:r>
              <a:rPr lang="zh-CN" altLang="en-US" sz="1800" dirty="0" smtClean="0"/>
              <a:t>用一个对象去构造另一个对象</a:t>
            </a:r>
            <a:endParaRPr lang="en-US" altLang="zh-CN" sz="1800" dirty="0" smtClean="0"/>
          </a:p>
          <a:p>
            <a:pPr lvl="1">
              <a:lnSpc>
                <a:spcPts val="2880"/>
              </a:lnSpc>
              <a:spcBef>
                <a:spcPts val="0"/>
              </a:spcBef>
              <a:buNone/>
            </a:pPr>
            <a:r>
              <a:rPr lang="en-US" altLang="zh-CN" sz="1600" b="1" dirty="0" err="1" smtClean="0">
                <a:latin typeface="黑体" panose="02010609060101010101" pitchFamily="2" charset="-122"/>
                <a:ea typeface="黑体" panose="02010609060101010101" pitchFamily="2" charset="-122"/>
              </a:rPr>
              <a:t>Tdate</a:t>
            </a:r>
            <a:r>
              <a:rPr lang="en-US" altLang="zh-CN" sz="1600" b="1" dirty="0" smtClean="0">
                <a:latin typeface="黑体" panose="02010609060101010101" pitchFamily="2" charset="-122"/>
                <a:ea typeface="黑体" panose="02010609060101010101" pitchFamily="2" charset="-122"/>
              </a:rPr>
              <a:t> d1(1,1,2015);</a:t>
            </a:r>
            <a:endParaRPr lang="en-US" altLang="zh-CN" sz="1600" b="1" dirty="0" smtClean="0">
              <a:latin typeface="黑体" panose="02010609060101010101" pitchFamily="2" charset="-122"/>
              <a:ea typeface="黑体" panose="02010609060101010101" pitchFamily="2" charset="-122"/>
            </a:endParaRPr>
          </a:p>
          <a:p>
            <a:pPr lvl="1">
              <a:lnSpc>
                <a:spcPts val="2880"/>
              </a:lnSpc>
              <a:spcBef>
                <a:spcPts val="0"/>
              </a:spcBef>
              <a:buNone/>
            </a:pPr>
            <a:r>
              <a:rPr lang="en-US" altLang="zh-CN" sz="1600" b="1" dirty="0" err="1" smtClean="0">
                <a:latin typeface="黑体" panose="02010609060101010101" pitchFamily="2" charset="-122"/>
                <a:ea typeface="黑体" panose="02010609060101010101" pitchFamily="2" charset="-122"/>
              </a:rPr>
              <a:t>Tdate</a:t>
            </a:r>
            <a:r>
              <a:rPr lang="en-US" altLang="zh-CN" sz="1600" b="1" dirty="0" smtClean="0">
                <a:latin typeface="黑体" panose="02010609060101010101" pitchFamily="2" charset="-122"/>
                <a:ea typeface="黑体" panose="02010609060101010101" pitchFamily="2" charset="-122"/>
              </a:rPr>
              <a:t> d2 = d1;</a:t>
            </a:r>
            <a:endParaRPr lang="en-US" altLang="zh-CN" sz="1600" dirty="0" smtClean="0"/>
          </a:p>
          <a:p>
            <a:pPr lvl="1">
              <a:lnSpc>
                <a:spcPts val="2880"/>
              </a:lnSpc>
              <a:spcBef>
                <a:spcPts val="0"/>
              </a:spcBef>
            </a:pPr>
            <a:r>
              <a:rPr lang="zh-CN" altLang="en-US" sz="1800" dirty="0" smtClean="0"/>
              <a:t>对象作为函数参数进行传递</a:t>
            </a:r>
            <a:endParaRPr lang="zh-CN" altLang="en-US" sz="1800" dirty="0" smtClean="0"/>
          </a:p>
          <a:p>
            <a:pPr lvl="1">
              <a:lnSpc>
                <a:spcPts val="2880"/>
              </a:lnSpc>
              <a:spcBef>
                <a:spcPts val="0"/>
              </a:spcBef>
            </a:pPr>
            <a:r>
              <a:rPr lang="zh-CN" altLang="en-US" sz="1800" dirty="0" smtClean="0">
                <a:sym typeface="+mn-ea"/>
              </a:rPr>
              <a:t>对象承接函数返回值</a:t>
            </a:r>
            <a:endParaRPr lang="en-US" altLang="zh-CN" sz="1800" dirty="0" smtClean="0"/>
          </a:p>
          <a:p>
            <a:pPr lvl="1">
              <a:lnSpc>
                <a:spcPts val="288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void fn(</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Tdate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t1)</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lvl="1">
              <a:lnSpc>
                <a:spcPts val="288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lvl="1">
              <a:lnSpc>
                <a:spcPts val="288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void main()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lvl="1">
              <a:lnSpc>
                <a:spcPts val="288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Tdate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d1(1,1,2015);</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lvl="1">
              <a:lnSpc>
                <a:spcPts val="288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fn(d1); </a:t>
            </a:r>
            <a:r>
              <a:rPr lang="zh-CN" altLang="en-US"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zh-CN" altLang="en-US" sz="1600" dirty="0" smtClean="0">
                <a:latin typeface="黑体" panose="02010609060101010101" pitchFamily="2" charset="-122"/>
                <a:ea typeface="黑体" panose="02010609060101010101" pitchFamily="2" charset="-122"/>
                <a:cs typeface="黑体" panose="02010609060101010101" pitchFamily="2" charset="-122"/>
              </a:rPr>
              <a:t>把</a:t>
            </a:r>
            <a:r>
              <a:rPr lang="en-US" altLang="zh-CN" sz="1600" dirty="0" smtClean="0">
                <a:latin typeface="黑体" panose="02010609060101010101" pitchFamily="2" charset="-122"/>
                <a:ea typeface="黑体" panose="02010609060101010101" pitchFamily="2" charset="-122"/>
                <a:cs typeface="黑体" panose="02010609060101010101" pitchFamily="2" charset="-122"/>
              </a:rPr>
              <a:t>d1</a:t>
            </a:r>
            <a:r>
              <a:rPr lang="zh-CN" altLang="en-US" sz="1600" dirty="0" smtClean="0">
                <a:latin typeface="黑体" panose="02010609060101010101" pitchFamily="2" charset="-122"/>
                <a:ea typeface="黑体" panose="02010609060101010101" pitchFamily="2" charset="-122"/>
                <a:cs typeface="黑体" panose="02010609060101010101" pitchFamily="2" charset="-122"/>
              </a:rPr>
              <a:t>传递给</a:t>
            </a:r>
            <a:r>
              <a:rPr lang="en-US" altLang="zh-CN" sz="1600" dirty="0" smtClean="0">
                <a:latin typeface="黑体" panose="02010609060101010101" pitchFamily="2" charset="-122"/>
                <a:ea typeface="黑体" panose="02010609060101010101" pitchFamily="2" charset="-122"/>
                <a:cs typeface="黑体" panose="02010609060101010101" pitchFamily="2" charset="-122"/>
              </a:rPr>
              <a:t>t1</a:t>
            </a:r>
            <a:r>
              <a:rPr lang="zh-CN" altLang="en-US" sz="1600" dirty="0" smtClean="0">
                <a:latin typeface="黑体" panose="02010609060101010101" pitchFamily="2" charset="-122"/>
                <a:ea typeface="黑体" panose="02010609060101010101" pitchFamily="2" charset="-122"/>
                <a:cs typeface="黑体" panose="02010609060101010101" pitchFamily="2" charset="-122"/>
              </a:rPr>
              <a:t>，就是创建临时对象</a:t>
            </a:r>
            <a:r>
              <a:rPr lang="en-US" altLang="zh-CN" sz="1600" dirty="0" smtClean="0">
                <a:latin typeface="黑体" panose="02010609060101010101" pitchFamily="2" charset="-122"/>
                <a:ea typeface="黑体" panose="02010609060101010101" pitchFamily="2" charset="-122"/>
                <a:cs typeface="黑体" panose="02010609060101010101" pitchFamily="2" charset="-122"/>
              </a:rPr>
              <a:t>t1</a:t>
            </a:r>
            <a:r>
              <a:rPr lang="zh-CN" altLang="en-US" sz="1600" dirty="0" smtClean="0">
                <a:latin typeface="黑体" panose="02010609060101010101" pitchFamily="2" charset="-122"/>
                <a:ea typeface="黑体" panose="02010609060101010101" pitchFamily="2" charset="-122"/>
                <a:cs typeface="黑体" panose="02010609060101010101" pitchFamily="2" charset="-122"/>
              </a:rPr>
              <a:t>，并用</a:t>
            </a:r>
            <a:r>
              <a:rPr lang="en-US" altLang="zh-CN" sz="1600" dirty="0" smtClean="0">
                <a:latin typeface="黑体" panose="02010609060101010101" pitchFamily="2" charset="-122"/>
                <a:ea typeface="黑体" panose="02010609060101010101" pitchFamily="2" charset="-122"/>
                <a:cs typeface="黑体" panose="02010609060101010101" pitchFamily="2" charset="-122"/>
              </a:rPr>
              <a:t>d1</a:t>
            </a:r>
            <a:r>
              <a:rPr lang="zh-CN" altLang="en-US" sz="1600" dirty="0" smtClean="0">
                <a:latin typeface="黑体" panose="02010609060101010101" pitchFamily="2" charset="-122"/>
                <a:ea typeface="黑体" panose="02010609060101010101" pitchFamily="2" charset="-122"/>
                <a:cs typeface="黑体" panose="02010609060101010101" pitchFamily="2" charset="-122"/>
              </a:rPr>
              <a:t>对</a:t>
            </a:r>
            <a:r>
              <a:rPr lang="en-US" altLang="zh-CN" sz="1600" dirty="0" smtClean="0">
                <a:latin typeface="黑体" panose="02010609060101010101" pitchFamily="2" charset="-122"/>
                <a:ea typeface="黑体" panose="02010609060101010101" pitchFamily="2" charset="-122"/>
                <a:cs typeface="黑体" panose="02010609060101010101" pitchFamily="2" charset="-122"/>
              </a:rPr>
              <a:t>t1</a:t>
            </a:r>
            <a:r>
              <a:rPr lang="zh-CN" altLang="en-US" sz="1600" dirty="0" smtClean="0">
                <a:latin typeface="黑体" panose="02010609060101010101" pitchFamily="2" charset="-122"/>
                <a:ea typeface="黑体" panose="02010609060101010101" pitchFamily="2" charset="-122"/>
                <a:cs typeface="黑体" panose="02010609060101010101" pitchFamily="2" charset="-122"/>
              </a:rPr>
              <a:t>进行初始化构造</a:t>
            </a:r>
            <a:endParaRPr lang="zh-CN" altLang="en-US" sz="1600" dirty="0" smtClean="0">
              <a:latin typeface="黑体" panose="02010609060101010101" pitchFamily="2" charset="-122"/>
              <a:ea typeface="黑体" panose="02010609060101010101" pitchFamily="2" charset="-122"/>
              <a:cs typeface="黑体" panose="02010609060101010101" pitchFamily="2" charset="-122"/>
            </a:endParaRPr>
          </a:p>
          <a:p>
            <a:pPr lvl="1">
              <a:lnSpc>
                <a:spcPts val="2880"/>
              </a:lnSpc>
              <a:spcBef>
                <a:spcPts val="0"/>
              </a:spcBef>
              <a:buNone/>
            </a:pPr>
            <a:r>
              <a:rPr lang="zh-CN" altLang="en-US"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sym typeface="+mn-ea"/>
              </a:rPr>
              <a:t>Tdate</a:t>
            </a: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 d2=fn(d1); //</a:t>
            </a:r>
            <a:r>
              <a:rPr lang="zh-CN" altLang="en-US" sz="1600" dirty="0" smtClean="0">
                <a:latin typeface="黑体" panose="02010609060101010101" pitchFamily="2" charset="-122"/>
                <a:ea typeface="黑体" panose="02010609060101010101" pitchFamily="2" charset="-122"/>
                <a:cs typeface="黑体" panose="02010609060101010101" pitchFamily="2" charset="-122"/>
                <a:sym typeface="+mn-ea"/>
              </a:rPr>
              <a:t>创建</a:t>
            </a: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d2</a:t>
            </a:r>
            <a:r>
              <a:rPr lang="zh-CN" altLang="en-US" sz="1600" dirty="0" smtClean="0">
                <a:latin typeface="黑体" panose="02010609060101010101" pitchFamily="2" charset="-122"/>
                <a:ea typeface="黑体" panose="02010609060101010101" pitchFamily="2" charset="-122"/>
                <a:cs typeface="黑体" panose="02010609060101010101" pitchFamily="2" charset="-122"/>
                <a:sym typeface="+mn-ea"/>
              </a:rPr>
              <a:t>的同时，用函数返回值初始化</a:t>
            </a: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d2</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lvl="1">
              <a:lnSpc>
                <a:spcPts val="288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lvl="1">
              <a:lnSpc>
                <a:spcPts val="2880"/>
              </a:lnSpc>
              <a:spcBef>
                <a:spcPts val="0"/>
              </a:spcBef>
            </a:pPr>
            <a:r>
              <a:rPr lang="zh-CN" altLang="en-US" sz="1800" dirty="0" smtClean="0"/>
              <a:t>深拷贝（我个人认为是主要原因）</a:t>
            </a:r>
            <a:endParaRPr lang="en-US" altLang="zh-CN" sz="2000" dirty="0" smtClean="0">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spcBef>
                <a:spcPct val="20000"/>
              </a:spcBef>
              <a:buClr>
                <a:srgbClr val="FF5050"/>
              </a:buClr>
              <a:buNone/>
            </a:pPr>
            <a:endParaRPr lang="zh-CN" altLang="en-US" sz="1800" dirty="0" smtClean="0"/>
          </a:p>
          <a:p>
            <a:pPr>
              <a:lnSpc>
                <a:spcPts val="2880"/>
              </a:lnSpc>
              <a:spcBef>
                <a:spcPts val="0"/>
              </a:spcBef>
            </a:pPr>
            <a:endParaRPr lang="en-US" altLang="zh-CN" sz="1800" dirty="0" smtClean="0"/>
          </a:p>
        </p:txBody>
      </p:sp>
      <p:sp>
        <p:nvSpPr>
          <p:cNvPr id="3" name="标题 2"/>
          <p:cNvSpPr>
            <a:spLocks noGrp="1"/>
          </p:cNvSpPr>
          <p:nvPr>
            <p:ph type="title"/>
          </p:nvPr>
        </p:nvSpPr>
        <p:spPr>
          <a:xfrm>
            <a:off x="788035" y="213678"/>
            <a:ext cx="8229600" cy="868346"/>
          </a:xfrm>
        </p:spPr>
        <p:txBody>
          <a:bodyPr>
            <a:normAutofit/>
          </a:bodyPr>
          <a:lstStyle/>
          <a:p>
            <a:r>
              <a:rPr lang="en-US" altLang="zh-CN" sz="3600" dirty="0" smtClean="0"/>
              <a:t>1.拷贝构造函数</a:t>
            </a:r>
            <a:endParaRPr lang="zh-CN" altLang="en-US" sz="3600" dirty="0"/>
          </a:p>
        </p:txBody>
      </p:sp>
      <p:sp>
        <p:nvSpPr>
          <p:cNvPr id="4" name="文本框 3"/>
          <p:cNvSpPr txBox="1"/>
          <p:nvPr/>
        </p:nvSpPr>
        <p:spPr>
          <a:xfrm>
            <a:off x="6831965" y="2637155"/>
            <a:ext cx="4805045" cy="1861185"/>
          </a:xfrm>
          <a:prstGeom prst="rect">
            <a:avLst/>
          </a:prstGeom>
        </p:spPr>
        <p:txBody>
          <a:bodyPr vert="horz" wrap="squar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sz="2000" dirty="0" smtClean="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因为构造函数的应用场景不包含这些，</a:t>
            </a:r>
            <a:endParaRPr lang="zh-CN" altLang="en-US" sz="2000" dirty="0" smtClean="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a:p>
            <a:pPr marL="0" lvl="0" indent="0">
              <a:lnSpc>
                <a:spcPct val="90000"/>
              </a:lnSpc>
              <a:spcBef>
                <a:spcPts val="1000"/>
              </a:spcBef>
              <a:buClr>
                <a:schemeClr val="accent2"/>
              </a:buClr>
              <a:buFont typeface="Wingdings" panose="05000000000000000000" pitchFamily="2" charset="2"/>
              <a:buNone/>
            </a:pPr>
            <a:r>
              <a:rPr lang="en-US" altLang="zh-CN" sz="2000" dirty="0" smtClean="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C++</a:t>
            </a:r>
            <a:r>
              <a:rPr lang="zh-CN" altLang="en-US" sz="2000" dirty="0" smtClean="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针对这些情况，定义了拷贝构造函数</a:t>
            </a:r>
            <a:endParaRPr lang="zh-CN" altLang="en-US" sz="2000" dirty="0" smtClean="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a:p>
            <a:pPr marL="0" lvl="0" indent="0">
              <a:lnSpc>
                <a:spcPct val="90000"/>
              </a:lnSpc>
              <a:spcBef>
                <a:spcPts val="1000"/>
              </a:spcBef>
              <a:buClr>
                <a:schemeClr val="accent2"/>
              </a:buClr>
              <a:buFont typeface="Wingdings" panose="05000000000000000000" pitchFamily="2" charset="2"/>
              <a:buNone/>
            </a:pPr>
            <a:r>
              <a:rPr lang="zh-CN" altLang="en-US" sz="2000" dirty="0" smtClean="0">
                <a:solidFill>
                  <a:srgbClr val="FF0000"/>
                </a:solidFill>
                <a:latin typeface="黑体" panose="02010609060101010101" pitchFamily="2" charset="-122"/>
                <a:ea typeface="黑体" panose="02010609060101010101" pitchFamily="2" charset="-122"/>
                <a:cs typeface="黑体" panose="02010609060101010101" pitchFamily="2" charset="-122"/>
                <a:sym typeface="+mn-ea"/>
              </a:rPr>
              <a:t>拷贝构造函数是一种特殊的构造函数，在特定应用场景被自动隐式触发</a:t>
            </a:r>
            <a:endParaRPr lang="zh-CN" altLang="en-US" sz="2000" dirty="0" smtClean="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a:p>
            <a:pPr marL="0" lvl="0" indent="0">
              <a:lnSpc>
                <a:spcPct val="90000"/>
              </a:lnSpc>
              <a:spcBef>
                <a:spcPts val="1000"/>
              </a:spcBef>
              <a:buClr>
                <a:schemeClr val="accent2"/>
              </a:buClr>
              <a:buFont typeface="Wingdings" panose="05000000000000000000" pitchFamily="2" charset="2"/>
              <a:buNone/>
            </a:pPr>
            <a:endParaRPr lang="zh-CN" altLang="en-US" sz="2000" dirty="0" smtClean="0">
              <a:solidFill>
                <a:srgbClr val="FF0000"/>
              </a:solidFill>
              <a:latin typeface="黑体" panose="02010609060101010101" pitchFamily="2" charset="-122"/>
              <a:ea typeface="黑体" panose="02010609060101010101" pitchFamily="2" charset="-122"/>
              <a:cs typeface="黑体" panose="02010609060101010101" pitchFamily="2" charset="-122"/>
              <a:sym typeface="+mn-ea"/>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35915" y="908685"/>
            <a:ext cx="11157585" cy="4324985"/>
          </a:xfrm>
        </p:spPr>
        <p:txBody>
          <a:bodyPr/>
          <a:lstStyle/>
          <a:p>
            <a:pPr>
              <a:lnSpc>
                <a:spcPts val="2880"/>
              </a:lnSpc>
              <a:spcBef>
                <a:spcPts val="0"/>
              </a:spcBef>
            </a:pPr>
            <a:r>
              <a:rPr lang="zh-CN" altLang="en-US" sz="2000" dirty="0" smtClean="0"/>
              <a:t>拷贝构造函数，又称复制构造函数</a:t>
            </a:r>
            <a:endParaRPr lang="en-US" altLang="zh-CN" sz="2000" dirty="0" smtClean="0"/>
          </a:p>
          <a:p>
            <a:pPr lvl="1">
              <a:lnSpc>
                <a:spcPts val="2880"/>
              </a:lnSpc>
              <a:spcBef>
                <a:spcPts val="0"/>
              </a:spcBef>
            </a:pPr>
            <a:r>
              <a:rPr lang="zh-CN" altLang="en-US" sz="1800" b="1" dirty="0" smtClean="0">
                <a:solidFill>
                  <a:srgbClr val="FF0000"/>
                </a:solidFill>
              </a:rPr>
              <a:t>拷贝构造函数的函数名与类名相同</a:t>
            </a:r>
            <a:r>
              <a:rPr lang="zh-CN" altLang="en-US" sz="1800" dirty="0" smtClean="0"/>
              <a:t>。</a:t>
            </a:r>
            <a:endParaRPr lang="en-US" altLang="zh-CN" sz="1800" dirty="0" smtClean="0"/>
          </a:p>
          <a:p>
            <a:pPr lvl="1">
              <a:lnSpc>
                <a:spcPts val="2880"/>
              </a:lnSpc>
              <a:spcBef>
                <a:spcPts val="0"/>
              </a:spcBef>
            </a:pPr>
            <a:r>
              <a:rPr lang="zh-CN" altLang="en-US" sz="1800" b="1" dirty="0" smtClean="0">
                <a:solidFill>
                  <a:srgbClr val="FF0000"/>
                </a:solidFill>
                <a:sym typeface="+mn-ea"/>
              </a:rPr>
              <a:t>构造函数不能有返回类型</a:t>
            </a:r>
            <a:r>
              <a:rPr lang="en-US" altLang="zh-CN" sz="1800" dirty="0" smtClean="0">
                <a:sym typeface="+mn-ea"/>
              </a:rPr>
              <a:t>(</a:t>
            </a:r>
            <a:r>
              <a:rPr lang="zh-CN" altLang="en-US" sz="1800" dirty="0" smtClean="0">
                <a:sym typeface="+mn-ea"/>
              </a:rPr>
              <a:t>包括</a:t>
            </a:r>
            <a:r>
              <a:rPr lang="en-US" altLang="zh-CN" sz="1800" dirty="0" smtClean="0">
                <a:sym typeface="+mn-ea"/>
              </a:rPr>
              <a:t>void)</a:t>
            </a:r>
            <a:r>
              <a:rPr lang="zh-CN" altLang="en-US" sz="1800" dirty="0" smtClean="0">
                <a:sym typeface="+mn-ea"/>
              </a:rPr>
              <a:t>，也即构造函数的函数体内不能有</a:t>
            </a:r>
            <a:r>
              <a:rPr lang="en-US" altLang="zh-CN" sz="1800" dirty="0" smtClean="0">
                <a:sym typeface="+mn-ea"/>
              </a:rPr>
              <a:t>return </a:t>
            </a:r>
            <a:r>
              <a:rPr lang="zh-CN" altLang="en-US" sz="1800" dirty="0" smtClean="0">
                <a:sym typeface="+mn-ea"/>
              </a:rPr>
              <a:t>返回值的语句，但是可以有无返回值的</a:t>
            </a:r>
            <a:r>
              <a:rPr lang="en-US" altLang="zh-CN" sz="1800" dirty="0" smtClean="0">
                <a:sym typeface="+mn-ea"/>
              </a:rPr>
              <a:t>return</a:t>
            </a:r>
            <a:r>
              <a:rPr lang="zh-CN" altLang="en-US" sz="1800" dirty="0" smtClean="0">
                <a:sym typeface="+mn-ea"/>
              </a:rPr>
              <a:t>。</a:t>
            </a:r>
            <a:endParaRPr lang="zh-CN" altLang="en-US" sz="1800" dirty="0" smtClean="0">
              <a:sym typeface="+mn-ea"/>
            </a:endParaRPr>
          </a:p>
          <a:p>
            <a:pPr lvl="1">
              <a:lnSpc>
                <a:spcPts val="2880"/>
              </a:lnSpc>
              <a:spcBef>
                <a:spcPts val="0"/>
              </a:spcBef>
            </a:pPr>
            <a:r>
              <a:rPr lang="zh-CN" altLang="en-US" sz="1800" dirty="0" smtClean="0">
                <a:sym typeface="+mn-ea"/>
              </a:rPr>
              <a:t>拷贝构造函数的参数只有一个，即本类对象的引用，因此拷贝构造函数不可重载</a:t>
            </a:r>
            <a:endParaRPr lang="zh-CN" altLang="en-US" sz="1800" dirty="0" smtClean="0">
              <a:sym typeface="+mn-ea"/>
            </a:endParaRPr>
          </a:p>
          <a:p>
            <a:pPr lvl="1">
              <a:lnSpc>
                <a:spcPts val="2880"/>
              </a:lnSpc>
              <a:spcBef>
                <a:spcPts val="0"/>
              </a:spcBef>
            </a:pPr>
            <a:r>
              <a:rPr lang="zh-CN" altLang="en-US" sz="1800" dirty="0" smtClean="0">
                <a:sym typeface="+mn-ea"/>
              </a:rPr>
              <a:t>在特定应用场景，系统会自动隐式调用拷贝构造函数</a:t>
            </a:r>
            <a:endParaRPr lang="en-US" altLang="zh-CN" sz="1800" dirty="0" smtClean="0"/>
          </a:p>
          <a:p>
            <a:pPr lvl="1">
              <a:lnSpc>
                <a:spcPts val="2880"/>
              </a:lnSpc>
              <a:spcBef>
                <a:spcPts val="0"/>
              </a:spcBef>
            </a:pPr>
            <a:r>
              <a:rPr lang="zh-CN" altLang="en-US" sz="1800" b="1" dirty="0" smtClean="0">
                <a:solidFill>
                  <a:srgbClr val="FF0000"/>
                </a:solidFill>
              </a:rPr>
              <a:t>在类定义中，如果函数名与类名同名，且无返回值类型，则单参类型是本类对象引用，</a:t>
            </a:r>
            <a:r>
              <a:rPr lang="en-US" altLang="zh-CN" sz="1800" b="1" dirty="0" smtClean="0">
                <a:solidFill>
                  <a:srgbClr val="FF0000"/>
                </a:solidFill>
              </a:rPr>
              <a:t>C++</a:t>
            </a:r>
            <a:r>
              <a:rPr lang="zh-CN" altLang="en-US" sz="1800" b="1" dirty="0" smtClean="0">
                <a:solidFill>
                  <a:srgbClr val="FF0000"/>
                </a:solidFill>
              </a:rPr>
              <a:t>自动识别为拷贝构造函数</a:t>
            </a:r>
            <a:endParaRPr lang="en-US" altLang="zh-CN" sz="1800" b="1" dirty="0" smtClean="0">
              <a:solidFill>
                <a:srgbClr val="FF0000"/>
              </a:solidFill>
            </a:endParaRPr>
          </a:p>
          <a:p>
            <a:pPr lvl="1">
              <a:lnSpc>
                <a:spcPts val="2880"/>
              </a:lnSpc>
              <a:spcBef>
                <a:spcPts val="0"/>
              </a:spcBef>
            </a:pPr>
            <a:endParaRPr lang="en-US" altLang="zh-CN" sz="1800" dirty="0" smtClean="0"/>
          </a:p>
          <a:p>
            <a:pPr lvl="1">
              <a:lnSpc>
                <a:spcPts val="2880"/>
              </a:lnSpc>
              <a:spcBef>
                <a:spcPts val="0"/>
              </a:spcBef>
            </a:pPr>
            <a:endParaRPr lang="en-US" altLang="zh-CN" dirty="0" smtClean="0"/>
          </a:p>
          <a:p>
            <a:pPr eaLnBrk="1" hangingPunct="1">
              <a:lnSpc>
                <a:spcPts val="2880"/>
              </a:lnSpc>
              <a:spcBef>
                <a:spcPts val="0"/>
              </a:spcBef>
            </a:pPr>
            <a:endParaRPr lang="zh-CN" altLang="en-US" dirty="0" smtClean="0"/>
          </a:p>
        </p:txBody>
      </p:sp>
      <p:sp>
        <p:nvSpPr>
          <p:cNvPr id="3" name="标题 2"/>
          <p:cNvSpPr>
            <a:spLocks noGrp="1"/>
          </p:cNvSpPr>
          <p:nvPr>
            <p:ph type="title"/>
          </p:nvPr>
        </p:nvSpPr>
        <p:spPr>
          <a:xfrm>
            <a:off x="767715" y="188278"/>
            <a:ext cx="8229600" cy="868346"/>
          </a:xfrm>
        </p:spPr>
        <p:txBody>
          <a:bodyPr>
            <a:normAutofit/>
          </a:bodyPr>
          <a:lstStyle/>
          <a:p>
            <a:r>
              <a:rPr lang="en-US" altLang="zh-CN" sz="3600" dirty="0" smtClean="0"/>
              <a:t>1.</a:t>
            </a:r>
            <a:r>
              <a:rPr lang="zh-CN" altLang="en-US" sz="3600" dirty="0" smtClean="0"/>
              <a:t>拷贝构造函数</a:t>
            </a:r>
            <a:endParaRPr lang="zh-CN" altLang="en-US" sz="36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39420" y="943610"/>
            <a:ext cx="11301095" cy="4191000"/>
          </a:xfrm>
        </p:spPr>
        <p:txBody>
          <a:bodyPr/>
          <a:lstStyle/>
          <a:p>
            <a:pPr>
              <a:lnSpc>
                <a:spcPts val="2880"/>
              </a:lnSpc>
              <a:spcBef>
                <a:spcPts val="0"/>
              </a:spcBef>
            </a:pPr>
            <a:r>
              <a:rPr lang="en-US" altLang="zh-CN" sz="2000" dirty="0" smtClean="0"/>
              <a:t>C++</a:t>
            </a:r>
            <a:r>
              <a:rPr lang="zh-CN" altLang="en-US" sz="2000" dirty="0" smtClean="0"/>
              <a:t>允许用户自定义拷贝构造函数，即使用一个已知的对象初始化另一个对象，格式如下：</a:t>
            </a:r>
            <a:endParaRPr lang="zh-CN" altLang="en-US" sz="2000" dirty="0" smtClean="0"/>
          </a:p>
          <a:p>
            <a:pPr marL="342900" indent="-342900" eaLnBrk="1" hangingPunct="1">
              <a:spcBef>
                <a:spcPct val="20000"/>
              </a:spcBef>
              <a:buClr>
                <a:srgbClr val="FF5050"/>
              </a:buClr>
              <a:buNone/>
            </a:pPr>
            <a:r>
              <a:rPr lang="zh-CN" altLang="en-US" sz="2000" dirty="0" smtClean="0">
                <a:solidFill>
                  <a:srgbClr val="FF0000"/>
                </a:solidFill>
              </a:rPr>
              <a:t>        </a:t>
            </a:r>
            <a:r>
              <a:rPr lang="en-US" altLang="zh-CN" sz="1800" dirty="0" smtClean="0">
                <a:solidFill>
                  <a:srgbClr val="FF0000"/>
                </a:solidFill>
              </a:rPr>
              <a:t>&lt;</a:t>
            </a:r>
            <a:r>
              <a:rPr lang="zh-CN" altLang="en-US" sz="1800" dirty="0" smtClean="0">
                <a:solidFill>
                  <a:srgbClr val="FF0000"/>
                </a:solidFill>
              </a:rPr>
              <a:t>类名</a:t>
            </a:r>
            <a:r>
              <a:rPr lang="en-US" altLang="zh-CN" sz="1800" dirty="0" smtClean="0">
                <a:solidFill>
                  <a:srgbClr val="FF0000"/>
                </a:solidFill>
              </a:rPr>
              <a:t>&gt;::&lt;</a:t>
            </a:r>
            <a:r>
              <a:rPr lang="zh-CN" altLang="en-US" sz="1800" dirty="0" smtClean="0">
                <a:solidFill>
                  <a:srgbClr val="FF0000"/>
                </a:solidFill>
              </a:rPr>
              <a:t>拷贝构造函数名</a:t>
            </a:r>
            <a:r>
              <a:rPr lang="en-US" altLang="zh-CN" sz="1800" dirty="0" smtClean="0">
                <a:solidFill>
                  <a:srgbClr val="FF0000"/>
                </a:solidFill>
              </a:rPr>
              <a:t>&gt; (&lt;</a:t>
            </a:r>
            <a:r>
              <a:rPr lang="zh-CN" altLang="en-US" sz="1800" dirty="0" smtClean="0">
                <a:solidFill>
                  <a:srgbClr val="FF0000"/>
                </a:solidFill>
              </a:rPr>
              <a:t>类名</a:t>
            </a:r>
            <a:r>
              <a:rPr lang="en-US" altLang="zh-CN" sz="1800" dirty="0" smtClean="0">
                <a:solidFill>
                  <a:srgbClr val="FF0000"/>
                </a:solidFill>
              </a:rPr>
              <a:t>&gt; &amp; &lt;</a:t>
            </a:r>
            <a:r>
              <a:rPr lang="zh-CN" altLang="en-US" sz="1800" dirty="0" smtClean="0">
                <a:solidFill>
                  <a:srgbClr val="FF0000"/>
                </a:solidFill>
              </a:rPr>
              <a:t>引用名</a:t>
            </a:r>
            <a:r>
              <a:rPr lang="en-US" altLang="zh-CN" sz="1800" dirty="0" smtClean="0">
                <a:solidFill>
                  <a:srgbClr val="FF0000"/>
                </a:solidFill>
              </a:rPr>
              <a:t>&gt;)</a:t>
            </a:r>
            <a:endParaRPr lang="en-US" altLang="zh-CN" sz="1800" dirty="0" smtClean="0">
              <a:solidFill>
                <a:srgbClr val="FF0000"/>
              </a:solidFill>
            </a:endParaRPr>
          </a:p>
          <a:p>
            <a:pPr marL="342900" indent="-342900" eaLnBrk="1" hangingPunct="1">
              <a:lnSpc>
                <a:spcPts val="2000"/>
              </a:lnSpc>
              <a:spcBef>
                <a:spcPct val="20000"/>
              </a:spcBef>
              <a:buClr>
                <a:srgbClr val="FF5050"/>
              </a:buClr>
              <a:buNone/>
              <a:defRPr/>
            </a:pPr>
            <a:r>
              <a:rPr lang="en-US" altLang="zh-CN" sz="1600" b="1" dirty="0" smtClean="0">
                <a:latin typeface="黑体" panose="02010609060101010101" pitchFamily="2" charset="-122"/>
                <a:ea typeface="黑体" panose="02010609060101010101" pitchFamily="2" charset="-122"/>
                <a:cs typeface="黑体" panose="02010609060101010101" pitchFamily="2" charset="-122"/>
              </a:rPr>
              <a:t>class </a:t>
            </a:r>
            <a:r>
              <a:rPr lang="en-US" altLang="zh-CN" sz="1600" b="1" dirty="0" err="1" smtClean="0">
                <a:latin typeface="黑体" panose="02010609060101010101" pitchFamily="2" charset="-122"/>
                <a:ea typeface="黑体" panose="02010609060101010101" pitchFamily="2" charset="-122"/>
                <a:cs typeface="黑体" panose="02010609060101010101" pitchFamily="2" charset="-122"/>
              </a:rPr>
              <a:t>CDate</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lnSpc>
                <a:spcPts val="2000"/>
              </a:lnSpc>
              <a:spcBef>
                <a:spcPct val="20000"/>
              </a:spcBef>
              <a:buClr>
                <a:srgbClr val="FF5050"/>
              </a:buClr>
              <a:buNone/>
              <a:defRPr/>
            </a:pPr>
            <a:r>
              <a:rPr lang="en-US" altLang="zh-CN" sz="1600" b="1" dirty="0" smtClean="0">
                <a:latin typeface="黑体" panose="02010609060101010101" pitchFamily="2" charset="-122"/>
                <a:ea typeface="黑体" panose="02010609060101010101" pitchFamily="2" charset="-122"/>
                <a:cs typeface="黑体" panose="02010609060101010101" pitchFamily="2" charset="-122"/>
              </a:rPr>
              <a:t>{private:</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lnSpc>
                <a:spcPts val="2000"/>
              </a:lnSpc>
              <a:spcBef>
                <a:spcPct val="20000"/>
              </a:spcBef>
              <a:buClr>
                <a:srgbClr val="FF5050"/>
              </a:buClr>
              <a:buNone/>
              <a:defRPr/>
            </a:pPr>
            <a:r>
              <a:rPr lang="en-US" altLang="zh-CN" sz="1600" b="1"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b="1" dirty="0" err="1" smtClean="0">
                <a:latin typeface="黑体" panose="02010609060101010101" pitchFamily="2" charset="-122"/>
                <a:ea typeface="黑体" panose="02010609060101010101" pitchFamily="2" charset="-122"/>
                <a:cs typeface="黑体" panose="02010609060101010101" pitchFamily="2" charset="-122"/>
              </a:rPr>
              <a:t>int</a:t>
            </a:r>
            <a:r>
              <a:rPr lang="en-US" altLang="zh-CN" sz="1600" b="1" dirty="0" smtClean="0">
                <a:latin typeface="黑体" panose="02010609060101010101" pitchFamily="2" charset="-122"/>
                <a:ea typeface="黑体" panose="02010609060101010101" pitchFamily="2" charset="-122"/>
                <a:cs typeface="黑体" panose="02010609060101010101" pitchFamily="2" charset="-122"/>
              </a:rPr>
              <a:t>  year, month, day;</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lnSpc>
                <a:spcPts val="2000"/>
              </a:lnSpc>
              <a:spcBef>
                <a:spcPct val="20000"/>
              </a:spcBef>
              <a:buClr>
                <a:srgbClr val="FF5050"/>
              </a:buClr>
              <a:buNone/>
              <a:defRPr/>
            </a:pPr>
            <a:r>
              <a:rPr lang="en-US" altLang="zh-CN" sz="1600" b="1" dirty="0" smtClean="0">
                <a:latin typeface="黑体" panose="02010609060101010101" pitchFamily="2" charset="-122"/>
                <a:ea typeface="黑体" panose="02010609060101010101" pitchFamily="2" charset="-122"/>
                <a:cs typeface="黑体" panose="02010609060101010101" pitchFamily="2" charset="-122"/>
              </a:rPr>
              <a:t>public:</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lnSpc>
                <a:spcPts val="2000"/>
              </a:lnSpc>
              <a:spcBef>
                <a:spcPct val="20000"/>
              </a:spcBef>
              <a:buClr>
                <a:srgbClr val="FF5050"/>
              </a:buClr>
              <a:buNone/>
              <a:defRPr/>
            </a:pPr>
            <a:r>
              <a:rPr lang="en-US" altLang="zh-CN" sz="1600" b="1"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b="1" dirty="0" err="1" smtClean="0">
                <a:latin typeface="黑体" panose="02010609060101010101" pitchFamily="2" charset="-122"/>
                <a:ea typeface="黑体" panose="02010609060101010101" pitchFamily="2" charset="-122"/>
                <a:cs typeface="黑体" panose="02010609060101010101" pitchFamily="2" charset="-122"/>
              </a:rPr>
              <a:t>CDate</a:t>
            </a:r>
            <a:r>
              <a:rPr lang="en-US" altLang="zh-CN" sz="1600" b="1" dirty="0" smtClean="0">
                <a:latin typeface="黑体" panose="02010609060101010101" pitchFamily="2" charset="-122"/>
                <a:ea typeface="黑体" panose="02010609060101010101" pitchFamily="2" charset="-122"/>
                <a:cs typeface="黑体" panose="02010609060101010101" pitchFamily="2" charset="-122"/>
              </a:rPr>
              <a:t>(</a:t>
            </a:r>
            <a:r>
              <a:rPr lang="en-US" altLang="zh-CN" sz="1600" b="1" dirty="0" err="1" smtClean="0">
                <a:latin typeface="黑体" panose="02010609060101010101" pitchFamily="2" charset="-122"/>
                <a:ea typeface="黑体" panose="02010609060101010101" pitchFamily="2" charset="-122"/>
                <a:cs typeface="黑体" panose="02010609060101010101" pitchFamily="2" charset="-122"/>
              </a:rPr>
              <a:t>int</a:t>
            </a:r>
            <a:r>
              <a:rPr lang="en-US" altLang="zh-CN" sz="1600" b="1" dirty="0" smtClean="0">
                <a:latin typeface="黑体" panose="02010609060101010101" pitchFamily="2" charset="-122"/>
                <a:ea typeface="黑体" panose="02010609060101010101" pitchFamily="2" charset="-122"/>
                <a:cs typeface="黑体" panose="02010609060101010101" pitchFamily="2" charset="-122"/>
              </a:rPr>
              <a:t> y, </a:t>
            </a:r>
            <a:r>
              <a:rPr lang="en-US" altLang="zh-CN" sz="1600" b="1" dirty="0" err="1" smtClean="0">
                <a:latin typeface="黑体" panose="02010609060101010101" pitchFamily="2" charset="-122"/>
                <a:ea typeface="黑体" panose="02010609060101010101" pitchFamily="2" charset="-122"/>
                <a:cs typeface="黑体" panose="02010609060101010101" pitchFamily="2" charset="-122"/>
              </a:rPr>
              <a:t>int</a:t>
            </a:r>
            <a:r>
              <a:rPr lang="en-US" altLang="zh-CN" sz="1600" b="1" dirty="0" smtClean="0">
                <a:latin typeface="黑体" panose="02010609060101010101" pitchFamily="2" charset="-122"/>
                <a:ea typeface="黑体" panose="02010609060101010101" pitchFamily="2" charset="-122"/>
                <a:cs typeface="黑体" panose="02010609060101010101" pitchFamily="2" charset="-122"/>
              </a:rPr>
              <a:t> m, </a:t>
            </a:r>
            <a:r>
              <a:rPr lang="en-US" altLang="zh-CN" sz="1600" b="1" dirty="0" err="1" smtClean="0">
                <a:latin typeface="黑体" panose="02010609060101010101" pitchFamily="2" charset="-122"/>
                <a:ea typeface="黑体" panose="02010609060101010101" pitchFamily="2" charset="-122"/>
                <a:cs typeface="黑体" panose="02010609060101010101" pitchFamily="2" charset="-122"/>
              </a:rPr>
              <a:t>int</a:t>
            </a:r>
            <a:r>
              <a:rPr lang="en-US" altLang="zh-CN" sz="1600" b="1" dirty="0" smtClean="0">
                <a:latin typeface="黑体" panose="02010609060101010101" pitchFamily="2" charset="-122"/>
                <a:ea typeface="黑体" panose="02010609060101010101" pitchFamily="2" charset="-122"/>
                <a:cs typeface="黑体" panose="02010609060101010101" pitchFamily="2" charset="-122"/>
              </a:rPr>
              <a:t> d) { …… }  //</a:t>
            </a:r>
            <a:r>
              <a:rPr lang="zh-CN" altLang="en-US" sz="1600" b="1" dirty="0" smtClean="0">
                <a:latin typeface="黑体" panose="02010609060101010101" pitchFamily="2" charset="-122"/>
                <a:ea typeface="黑体" panose="02010609060101010101" pitchFamily="2" charset="-122"/>
                <a:cs typeface="黑体" panose="02010609060101010101" pitchFamily="2" charset="-122"/>
              </a:rPr>
              <a:t>有参构造，创建对象时必须带参数</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lnSpc>
                <a:spcPts val="2000"/>
              </a:lnSpc>
              <a:spcBef>
                <a:spcPct val="20000"/>
              </a:spcBef>
              <a:buClr>
                <a:srgbClr val="FF5050"/>
              </a:buClr>
              <a:buNone/>
              <a:defRPr/>
            </a:pPr>
            <a:r>
              <a:rPr lang="en-US" altLang="zh-CN" sz="1600" b="1"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b="1" dirty="0" err="1" smtClean="0">
                <a:solidFill>
                  <a:srgbClr val="FF0000"/>
                </a:solidFill>
                <a:latin typeface="黑体" panose="02010609060101010101" pitchFamily="2" charset="-122"/>
                <a:ea typeface="黑体" panose="02010609060101010101" pitchFamily="2" charset="-122"/>
                <a:cs typeface="黑体" panose="02010609060101010101" pitchFamily="2" charset="-122"/>
              </a:rPr>
              <a:t>CDate</a:t>
            </a:r>
            <a:r>
              <a:rPr lang="en-US" altLang="zh-CN" sz="16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a:t>
            </a:r>
            <a:r>
              <a:rPr lang="en-US" altLang="zh-CN" sz="1600" b="1" dirty="0" err="1" smtClean="0">
                <a:solidFill>
                  <a:srgbClr val="FF0000"/>
                </a:solidFill>
                <a:latin typeface="黑体" panose="02010609060101010101" pitchFamily="2" charset="-122"/>
                <a:ea typeface="黑体" panose="02010609060101010101" pitchFamily="2" charset="-122"/>
                <a:cs typeface="黑体" panose="02010609060101010101" pitchFamily="2" charset="-122"/>
              </a:rPr>
              <a:t>CDate</a:t>
            </a:r>
            <a:r>
              <a:rPr lang="en-US" altLang="zh-CN" sz="16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 &amp;r)</a:t>
            </a:r>
            <a:r>
              <a:rPr lang="en-US" altLang="zh-CN" sz="1600" b="1" dirty="0" smtClean="0">
                <a:latin typeface="黑体" panose="02010609060101010101" pitchFamily="2" charset="-122"/>
                <a:ea typeface="黑体" panose="02010609060101010101" pitchFamily="2" charset="-122"/>
                <a:cs typeface="黑体" panose="02010609060101010101" pitchFamily="2" charset="-122"/>
              </a:rPr>
              <a:t>  //</a:t>
            </a:r>
            <a:r>
              <a:rPr lang="zh-CN" altLang="en-US" sz="1600" b="1" dirty="0" smtClean="0">
                <a:latin typeface="黑体" panose="02010609060101010101" pitchFamily="2" charset="-122"/>
                <a:ea typeface="黑体" panose="02010609060101010101" pitchFamily="2" charset="-122"/>
                <a:cs typeface="黑体" panose="02010609060101010101" pitchFamily="2" charset="-122"/>
              </a:rPr>
              <a:t>拷贝构造函数，函数名同类名，无返回类型，单参类型是本类引用</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lnSpc>
                <a:spcPts val="2000"/>
              </a:lnSpc>
              <a:spcBef>
                <a:spcPct val="20000"/>
              </a:spcBef>
              <a:buClr>
                <a:srgbClr val="FF5050"/>
              </a:buClr>
              <a:buNone/>
              <a:defRPr/>
            </a:pPr>
            <a:r>
              <a:rPr lang="en-US" altLang="zh-CN" sz="1600" b="1" dirty="0" smtClean="0">
                <a:latin typeface="黑体" panose="02010609060101010101" pitchFamily="2" charset="-122"/>
                <a:ea typeface="黑体" panose="02010609060101010101" pitchFamily="2" charset="-122"/>
                <a:cs typeface="黑体" panose="02010609060101010101" pitchFamily="2" charset="-122"/>
              </a:rPr>
              <a:t>   { year = </a:t>
            </a:r>
            <a:r>
              <a:rPr lang="en-US" altLang="zh-CN" sz="1600" b="1" dirty="0" err="1" smtClean="0">
                <a:latin typeface="黑体" panose="02010609060101010101" pitchFamily="2" charset="-122"/>
                <a:ea typeface="黑体" panose="02010609060101010101" pitchFamily="2" charset="-122"/>
                <a:cs typeface="黑体" panose="02010609060101010101" pitchFamily="2" charset="-122"/>
              </a:rPr>
              <a:t>r.year</a:t>
            </a:r>
            <a:r>
              <a:rPr lang="en-US" altLang="zh-CN" sz="1600" b="1"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lnSpc>
                <a:spcPts val="2000"/>
              </a:lnSpc>
              <a:spcBef>
                <a:spcPct val="20000"/>
              </a:spcBef>
              <a:buClr>
                <a:srgbClr val="FF5050"/>
              </a:buClr>
              <a:buNone/>
              <a:defRPr/>
            </a:pPr>
            <a:r>
              <a:rPr lang="en-US" altLang="zh-CN" sz="1600" b="1" dirty="0" smtClean="0">
                <a:latin typeface="黑体" panose="02010609060101010101" pitchFamily="2" charset="-122"/>
                <a:ea typeface="黑体" panose="02010609060101010101" pitchFamily="2" charset="-122"/>
                <a:cs typeface="黑体" panose="02010609060101010101" pitchFamily="2" charset="-122"/>
              </a:rPr>
              <a:t>	month = </a:t>
            </a:r>
            <a:r>
              <a:rPr lang="en-US" altLang="zh-CN" sz="1600" b="1" dirty="0" err="1" smtClean="0">
                <a:latin typeface="黑体" panose="02010609060101010101" pitchFamily="2" charset="-122"/>
                <a:ea typeface="黑体" panose="02010609060101010101" pitchFamily="2" charset="-122"/>
                <a:cs typeface="黑体" panose="02010609060101010101" pitchFamily="2" charset="-122"/>
              </a:rPr>
              <a:t>r.month</a:t>
            </a:r>
            <a:r>
              <a:rPr lang="en-US" altLang="zh-CN" sz="1600" b="1"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lnSpc>
                <a:spcPts val="2000"/>
              </a:lnSpc>
              <a:spcBef>
                <a:spcPct val="20000"/>
              </a:spcBef>
              <a:buClr>
                <a:srgbClr val="FF5050"/>
              </a:buClr>
              <a:buNone/>
              <a:defRPr/>
            </a:pPr>
            <a:r>
              <a:rPr lang="en-US" altLang="zh-CN" sz="1600" b="1" dirty="0" smtClean="0">
                <a:latin typeface="黑体" panose="02010609060101010101" pitchFamily="2" charset="-122"/>
                <a:ea typeface="黑体" panose="02010609060101010101" pitchFamily="2" charset="-122"/>
                <a:cs typeface="黑体" panose="02010609060101010101" pitchFamily="2" charset="-122"/>
              </a:rPr>
              <a:t>	day=</a:t>
            </a:r>
            <a:r>
              <a:rPr lang="en-US" altLang="zh-CN" sz="1600" b="1" dirty="0" err="1" smtClean="0">
                <a:latin typeface="黑体" panose="02010609060101010101" pitchFamily="2" charset="-122"/>
                <a:ea typeface="黑体" panose="02010609060101010101" pitchFamily="2" charset="-122"/>
                <a:cs typeface="黑体" panose="02010609060101010101" pitchFamily="2" charset="-122"/>
              </a:rPr>
              <a:t>r.day</a:t>
            </a:r>
            <a:r>
              <a:rPr lang="en-US" altLang="zh-CN" sz="1600" b="1"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pPr marL="342900" indent="-342900" eaLnBrk="1" hangingPunct="1">
              <a:lnSpc>
                <a:spcPts val="2000"/>
              </a:lnSpc>
              <a:spcBef>
                <a:spcPct val="20000"/>
              </a:spcBef>
              <a:buClr>
                <a:srgbClr val="FF5050"/>
              </a:buClr>
              <a:buNone/>
              <a:defRPr/>
            </a:pPr>
            <a:r>
              <a:rPr lang="en-US" altLang="zh-CN" sz="1600" b="1"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p>
          <a:p>
            <a:pPr marL="342900" indent="-342900" eaLnBrk="1" hangingPunct="1">
              <a:lnSpc>
                <a:spcPts val="2000"/>
              </a:lnSpc>
              <a:spcBef>
                <a:spcPct val="20000"/>
              </a:spcBef>
              <a:buClr>
                <a:srgbClr val="FF5050"/>
              </a:buClr>
              <a:buNone/>
              <a:defRPr/>
            </a:pPr>
            <a:endParaRPr lang="en-US" altLang="zh-CN" sz="1600" dirty="0" smtClean="0"/>
          </a:p>
          <a:p>
            <a:pPr marL="342900" indent="-342900" eaLnBrk="1" hangingPunct="1">
              <a:spcBef>
                <a:spcPct val="20000"/>
              </a:spcBef>
              <a:buClr>
                <a:srgbClr val="FF5050"/>
              </a:buClr>
              <a:buNone/>
            </a:pPr>
            <a:endParaRPr lang="zh-CN" altLang="en-US" sz="1800" dirty="0" smtClean="0"/>
          </a:p>
          <a:p>
            <a:pPr>
              <a:lnSpc>
                <a:spcPts val="2880"/>
              </a:lnSpc>
              <a:spcBef>
                <a:spcPts val="0"/>
              </a:spcBef>
            </a:pPr>
            <a:endParaRPr lang="en-US" altLang="zh-CN" sz="1800" dirty="0" smtClean="0"/>
          </a:p>
        </p:txBody>
      </p:sp>
      <p:sp>
        <p:nvSpPr>
          <p:cNvPr id="3" name="标题 2"/>
          <p:cNvSpPr>
            <a:spLocks noGrp="1"/>
          </p:cNvSpPr>
          <p:nvPr>
            <p:ph type="title"/>
          </p:nvPr>
        </p:nvSpPr>
        <p:spPr>
          <a:xfrm>
            <a:off x="770255" y="274638"/>
            <a:ext cx="8229600" cy="868346"/>
          </a:xfrm>
        </p:spPr>
        <p:txBody>
          <a:bodyPr>
            <a:normAutofit/>
          </a:bodyPr>
          <a:lstStyle/>
          <a:p>
            <a:r>
              <a:rPr lang="en-US" altLang="zh-CN" sz="3600" dirty="0" smtClean="0"/>
              <a:t>1.拷贝构造函数</a:t>
            </a:r>
            <a:endParaRPr lang="zh-CN" altLang="en-US" sz="3600" dirty="0"/>
          </a:p>
        </p:txBody>
      </p:sp>
      <p:sp>
        <p:nvSpPr>
          <p:cNvPr id="6" name="矩形 5"/>
          <p:cNvSpPr/>
          <p:nvPr/>
        </p:nvSpPr>
        <p:spPr>
          <a:xfrm>
            <a:off x="5001260" y="3853180"/>
            <a:ext cx="6385560" cy="2061210"/>
          </a:xfrm>
          <a:prstGeom prst="rect">
            <a:avLst/>
          </a:prstGeom>
        </p:spPr>
        <p:txBody>
          <a:bodyPr wrap="square">
            <a:spAutoFit/>
          </a:bodyPr>
          <a:lstStyle/>
          <a:p>
            <a:r>
              <a:rPr lang="en-US" altLang="zh-CN" sz="1600" b="1" dirty="0" smtClean="0">
                <a:latin typeface="黑体" panose="02010609060101010101" pitchFamily="2" charset="-122"/>
                <a:ea typeface="黑体" panose="02010609060101010101" pitchFamily="2" charset="-122"/>
                <a:cs typeface="黑体" panose="02010609060101010101" pitchFamily="2" charset="-122"/>
              </a:rPr>
              <a:t>void main()</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b="1"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b="1" dirty="0" err="1" smtClean="0">
                <a:latin typeface="黑体" panose="02010609060101010101" pitchFamily="2" charset="-122"/>
                <a:ea typeface="黑体" panose="02010609060101010101" pitchFamily="2" charset="-122"/>
                <a:cs typeface="黑体" panose="02010609060101010101" pitchFamily="2" charset="-122"/>
              </a:rPr>
              <a:t>CDate</a:t>
            </a:r>
            <a:r>
              <a:rPr lang="en-US" altLang="zh-CN" sz="1600" b="1" dirty="0" smtClean="0">
                <a:latin typeface="黑体" panose="02010609060101010101" pitchFamily="2" charset="-122"/>
                <a:ea typeface="黑体" panose="02010609060101010101" pitchFamily="2" charset="-122"/>
                <a:cs typeface="黑体" panose="02010609060101010101" pitchFamily="2" charset="-122"/>
              </a:rPr>
              <a:t> day(1949, 10, 1);</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b="1" dirty="0" err="1" smtClean="0">
                <a:latin typeface="黑体" panose="02010609060101010101" pitchFamily="2" charset="-122"/>
                <a:ea typeface="黑体" panose="02010609060101010101" pitchFamily="2" charset="-122"/>
                <a:cs typeface="黑体" panose="02010609060101010101" pitchFamily="2" charset="-122"/>
              </a:rPr>
              <a:t>  CDate</a:t>
            </a:r>
            <a:r>
              <a:rPr lang="en-US" altLang="zh-CN" sz="1600" b="1" dirty="0" smtClean="0">
                <a:latin typeface="黑体" panose="02010609060101010101" pitchFamily="2" charset="-122"/>
                <a:ea typeface="黑体" panose="02010609060101010101" pitchFamily="2" charset="-122"/>
                <a:cs typeface="黑体" panose="02010609060101010101" pitchFamily="2" charset="-122"/>
              </a:rPr>
              <a:t> day1 = day; //day1</a:t>
            </a:r>
            <a:r>
              <a:rPr lang="zh-CN" altLang="en-US" sz="1600" b="1" dirty="0" smtClean="0">
                <a:latin typeface="黑体" panose="02010609060101010101" pitchFamily="2" charset="-122"/>
                <a:ea typeface="黑体" panose="02010609060101010101" pitchFamily="2" charset="-122"/>
                <a:cs typeface="黑体" panose="02010609060101010101" pitchFamily="2" charset="-122"/>
              </a:rPr>
              <a:t>是无参构造？</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b="1" dirty="0" smtClean="0">
                <a:latin typeface="黑体" panose="02010609060101010101" pitchFamily="2" charset="-122"/>
                <a:ea typeface="黑体" panose="02010609060101010101" pitchFamily="2" charset="-122"/>
                <a:cs typeface="黑体" panose="02010609060101010101" pitchFamily="2" charset="-122"/>
              </a:rPr>
              <a:t>  CDate day2(day1); </a:t>
            </a:r>
            <a:r>
              <a:rPr lang="en-US" altLang="zh-CN" sz="1600" b="1" dirty="0" smtClean="0">
                <a:latin typeface="黑体" panose="02010609060101010101" pitchFamily="2" charset="-122"/>
                <a:ea typeface="黑体" panose="02010609060101010101" pitchFamily="2" charset="-122"/>
                <a:cs typeface="黑体" panose="02010609060101010101" pitchFamily="2" charset="-122"/>
                <a:sym typeface="+mn-ea"/>
              </a:rPr>
              <a:t>//day2</a:t>
            </a:r>
            <a:r>
              <a:rPr lang="zh-CN" altLang="en-US" sz="1600" b="1" dirty="0" smtClean="0">
                <a:latin typeface="黑体" panose="02010609060101010101" pitchFamily="2" charset="-122"/>
                <a:ea typeface="黑体" panose="02010609060101010101" pitchFamily="2" charset="-122"/>
                <a:cs typeface="黑体" panose="02010609060101010101" pitchFamily="2" charset="-122"/>
                <a:sym typeface="+mn-ea"/>
              </a:rPr>
              <a:t>是有参构造？参数类型不符合？</a:t>
            </a:r>
            <a:endParaRPr lang="en-US" altLang="zh-CN" sz="1600" b="1" dirty="0" smtClean="0">
              <a:latin typeface="黑体" panose="02010609060101010101" pitchFamily="2" charset="-122"/>
              <a:ea typeface="黑体" panose="02010609060101010101" pitchFamily="2" charset="-122"/>
              <a:cs typeface="黑体" panose="02010609060101010101" pitchFamily="2" charset="-122"/>
            </a:endParaRPr>
          </a:p>
          <a:p>
            <a:endParaRPr lang="en-US" altLang="zh-CN" sz="1600" b="1" dirty="0" smtClean="0">
              <a:solidFill>
                <a:schemeClr val="tx1">
                  <a:lumMod val="85000"/>
                  <a:lumOff val="15000"/>
                </a:schemeClr>
              </a:solidFill>
              <a:latin typeface="黑体" panose="02010609060101010101" pitchFamily="2" charset="-122"/>
              <a:ea typeface="黑体" panose="02010609060101010101" pitchFamily="2" charset="-122"/>
              <a:cs typeface="黑体" panose="02010609060101010101" pitchFamily="2" charset="-122"/>
            </a:endParaRPr>
          </a:p>
          <a:p>
            <a:r>
              <a:rPr lang="en-US" altLang="zh-CN" sz="16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//day1</a:t>
            </a:r>
            <a:r>
              <a:rPr lang="zh-CN" altLang="en-US" sz="16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和</a:t>
            </a:r>
            <a:r>
              <a:rPr lang="en-US" altLang="zh-CN" sz="16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day2</a:t>
            </a:r>
            <a:r>
              <a:rPr lang="zh-CN" altLang="en-US" sz="16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看起来没有符合格式的构造函数，但是能执行</a:t>
            </a:r>
            <a:endParaRPr lang="en-US" altLang="zh-CN" sz="1600" b="1"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r>
              <a:rPr lang="en-US" altLang="zh-CN" sz="16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a:t>
            </a:r>
            <a:r>
              <a:rPr lang="zh-CN" altLang="en-US" sz="16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因为语句符合调用了拷贝构造函数的场景</a:t>
            </a:r>
            <a:endParaRPr lang="en-US" altLang="zh-CN" sz="1600" b="1"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r>
              <a:rPr lang="en-US" altLang="zh-CN" sz="1600" b="1" dirty="0" smtClean="0">
                <a:latin typeface="黑体" panose="02010609060101010101" pitchFamily="2" charset="-122"/>
                <a:ea typeface="黑体" panose="02010609060101010101" pitchFamily="2" charset="-122"/>
                <a:cs typeface="黑体" panose="02010609060101010101" pitchFamily="2" charset="-122"/>
              </a:rPr>
              <a:t>}</a:t>
            </a:r>
            <a:endParaRPr lang="zh-CN" altLang="en-US" sz="1600" b="1" dirty="0">
              <a:latin typeface="黑体" panose="02010609060101010101" pitchFamily="2" charset="-122"/>
              <a:ea typeface="黑体" panose="02010609060101010101" pitchFamily="2" charset="-122"/>
              <a:cs typeface="黑体" panose="02010609060101010101" pitchFamily="2"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39420" y="943610"/>
            <a:ext cx="11301095" cy="4191000"/>
          </a:xfrm>
        </p:spPr>
        <p:txBody>
          <a:bodyPr/>
          <a:lstStyle/>
          <a:p>
            <a:pPr>
              <a:lnSpc>
                <a:spcPts val="2880"/>
              </a:lnSpc>
              <a:spcBef>
                <a:spcPts val="0"/>
              </a:spcBef>
            </a:pPr>
            <a:r>
              <a:rPr lang="zh-CN" altLang="en-US" sz="1800" dirty="0" smtClean="0">
                <a:solidFill>
                  <a:schemeClr val="tx1"/>
                </a:solidFill>
              </a:rPr>
              <a:t>拷贝构造参数必须是本类对象引用</a:t>
            </a:r>
            <a:endParaRPr lang="zh-CN" altLang="en-US" sz="1800" dirty="0" smtClean="0">
              <a:solidFill>
                <a:schemeClr val="tx1"/>
              </a:solidFill>
            </a:endParaRPr>
          </a:p>
          <a:p>
            <a:pPr>
              <a:lnSpc>
                <a:spcPts val="2880"/>
              </a:lnSpc>
              <a:spcBef>
                <a:spcPts val="0"/>
              </a:spcBef>
            </a:pPr>
            <a:r>
              <a:rPr lang="zh-CN" altLang="en-US" sz="1800" dirty="0" smtClean="0">
                <a:solidFill>
                  <a:schemeClr val="tx1"/>
                </a:solidFill>
              </a:rPr>
              <a:t>拷贝构造函数不能显式调用</a:t>
            </a:r>
            <a:endParaRPr lang="en-US" altLang="zh-CN" sz="1800" dirty="0" smtClean="0">
              <a:solidFill>
                <a:srgbClr val="FF0000"/>
              </a:solidFill>
            </a:endParaRPr>
          </a:p>
          <a:p>
            <a:pPr marL="0" indent="0">
              <a:lnSpc>
                <a:spcPts val="2880"/>
              </a:lnSpc>
              <a:spcBef>
                <a:spcPts val="0"/>
              </a:spcBef>
              <a:buNone/>
            </a:pPr>
            <a:endParaRPr lang="en-US" altLang="zh-CN" sz="1800" dirty="0" smtClean="0"/>
          </a:p>
        </p:txBody>
      </p:sp>
      <p:sp>
        <p:nvSpPr>
          <p:cNvPr id="3" name="标题 2"/>
          <p:cNvSpPr>
            <a:spLocks noGrp="1"/>
          </p:cNvSpPr>
          <p:nvPr>
            <p:ph type="title"/>
          </p:nvPr>
        </p:nvSpPr>
        <p:spPr>
          <a:xfrm>
            <a:off x="770255" y="274638"/>
            <a:ext cx="8229600" cy="868346"/>
          </a:xfrm>
        </p:spPr>
        <p:txBody>
          <a:bodyPr>
            <a:normAutofit/>
          </a:bodyPr>
          <a:lstStyle/>
          <a:p>
            <a:r>
              <a:rPr lang="en-US" altLang="zh-CN" sz="3600" dirty="0" smtClean="0"/>
              <a:t>1.拷贝构造函数</a:t>
            </a:r>
            <a:endParaRPr lang="zh-CN" altLang="en-US" sz="3600" dirty="0"/>
          </a:p>
        </p:txBody>
      </p:sp>
      <p:pic>
        <p:nvPicPr>
          <p:cNvPr id="4" name="图片 3"/>
          <p:cNvPicPr>
            <a:picLocks noChangeAspect="1"/>
          </p:cNvPicPr>
          <p:nvPr/>
        </p:nvPicPr>
        <p:blipFill>
          <a:blip r:embed="rId1"/>
          <a:stretch>
            <a:fillRect/>
          </a:stretch>
        </p:blipFill>
        <p:spPr>
          <a:xfrm>
            <a:off x="309880" y="1861185"/>
            <a:ext cx="5756275" cy="4294505"/>
          </a:xfrm>
          <a:prstGeom prst="rect">
            <a:avLst/>
          </a:prstGeom>
        </p:spPr>
      </p:pic>
      <p:pic>
        <p:nvPicPr>
          <p:cNvPr id="7" name="图片 6"/>
          <p:cNvPicPr>
            <a:picLocks noChangeAspect="1"/>
          </p:cNvPicPr>
          <p:nvPr/>
        </p:nvPicPr>
        <p:blipFill>
          <a:blip r:embed="rId2"/>
          <a:stretch>
            <a:fillRect/>
          </a:stretch>
        </p:blipFill>
        <p:spPr>
          <a:xfrm>
            <a:off x="6517005" y="3359150"/>
            <a:ext cx="4570730" cy="232664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2275" y="961390"/>
            <a:ext cx="11290935" cy="5045710"/>
          </a:xfrm>
        </p:spPr>
        <p:txBody>
          <a:bodyPr/>
          <a:lstStyle/>
          <a:p>
            <a:pPr>
              <a:lnSpc>
                <a:spcPts val="2880"/>
              </a:lnSpc>
              <a:spcBef>
                <a:spcPts val="0"/>
              </a:spcBef>
            </a:pPr>
            <a:r>
              <a:rPr lang="zh-CN" altLang="en-US" sz="2000" dirty="0" smtClean="0">
                <a:sym typeface="+mn-ea"/>
              </a:rPr>
              <a:t>拷贝构造函数被自动触发的总体思路：当创建一个对象时用另一个对象去初始化</a:t>
            </a:r>
            <a:endParaRPr lang="zh-CN" altLang="en-US" sz="2000" dirty="0" smtClean="0">
              <a:sym typeface="+mn-ea"/>
            </a:endParaRPr>
          </a:p>
          <a:p>
            <a:pPr>
              <a:lnSpc>
                <a:spcPts val="2880"/>
              </a:lnSpc>
              <a:spcBef>
                <a:spcPts val="0"/>
              </a:spcBef>
            </a:pPr>
            <a:r>
              <a:rPr lang="zh-CN" altLang="en-US" sz="2000" dirty="0" smtClean="0"/>
              <a:t>自动调用拷贝构造函数的三种场景</a:t>
            </a:r>
            <a:endParaRPr lang="en-US" altLang="zh-CN" sz="2000" dirty="0" smtClean="0"/>
          </a:p>
          <a:p>
            <a:pPr lvl="1">
              <a:lnSpc>
                <a:spcPts val="2880"/>
              </a:lnSpc>
              <a:spcBef>
                <a:spcPts val="0"/>
              </a:spcBef>
            </a:pPr>
            <a:r>
              <a:rPr lang="zh-CN" altLang="en-US" sz="1800" dirty="0" smtClean="0"/>
              <a:t>用一个已有的对象来初始化另一个同类的对象，包括</a:t>
            </a:r>
            <a:r>
              <a:rPr lang="en-US" altLang="zh-CN" sz="1800" dirty="0" smtClean="0"/>
              <a:t>new</a:t>
            </a:r>
            <a:endParaRPr lang="en-US" altLang="zh-CN" sz="1800" dirty="0" smtClean="0"/>
          </a:p>
          <a:p>
            <a:pPr lvl="1">
              <a:lnSpc>
                <a:spcPts val="2880"/>
              </a:lnSpc>
              <a:spcBef>
                <a:spcPts val="0"/>
              </a:spcBef>
              <a:buNone/>
            </a:pPr>
            <a:r>
              <a:rPr lang="en-US" altLang="zh-CN" sz="1800" dirty="0" smtClean="0"/>
              <a:t>	</a:t>
            </a:r>
            <a:r>
              <a:rPr lang="en-US" altLang="zh-CN" sz="1800" dirty="0" err="1" smtClean="0">
                <a:latin typeface="黑体" panose="02010609060101010101" pitchFamily="2" charset="-122"/>
                <a:ea typeface="黑体" panose="02010609060101010101" pitchFamily="2" charset="-122"/>
              </a:rPr>
              <a:t>CDay</a:t>
            </a:r>
            <a:r>
              <a:rPr lang="en-US" altLang="zh-CN" sz="1800" dirty="0" smtClean="0">
                <a:latin typeface="黑体" panose="02010609060101010101" pitchFamily="2" charset="-122"/>
                <a:ea typeface="黑体" panose="02010609060101010101" pitchFamily="2" charset="-122"/>
              </a:rPr>
              <a:t>  day1(2018,3,3);</a:t>
            </a:r>
            <a:endParaRPr lang="en-US" altLang="zh-CN" sz="1800" dirty="0" smtClean="0">
              <a:latin typeface="黑体" panose="02010609060101010101" pitchFamily="2" charset="-122"/>
              <a:ea typeface="黑体" panose="02010609060101010101" pitchFamily="2" charset="-122"/>
            </a:endParaRPr>
          </a:p>
          <a:p>
            <a:pPr lvl="1">
              <a:lnSpc>
                <a:spcPts val="2880"/>
              </a:lnSpc>
              <a:spcBef>
                <a:spcPts val="0"/>
              </a:spcBef>
              <a:buNone/>
            </a:pPr>
            <a:r>
              <a:rPr lang="en-US" altLang="zh-CN" sz="1800" dirty="0" smtClean="0">
                <a:latin typeface="黑体" panose="02010609060101010101" pitchFamily="2" charset="-122"/>
                <a:ea typeface="黑体" panose="02010609060101010101" pitchFamily="2" charset="-122"/>
              </a:rPr>
              <a:t>	</a:t>
            </a:r>
            <a:r>
              <a:rPr lang="en-US" altLang="zh-CN" sz="1800" dirty="0" err="1" smtClean="0">
                <a:latin typeface="黑体" panose="02010609060101010101" pitchFamily="2" charset="-122"/>
                <a:ea typeface="黑体" panose="02010609060101010101" pitchFamily="2" charset="-122"/>
              </a:rPr>
              <a:t>CDay</a:t>
            </a:r>
            <a:r>
              <a:rPr lang="en-US" altLang="zh-CN" sz="1800" dirty="0" smtClean="0">
                <a:latin typeface="黑体" panose="02010609060101010101" pitchFamily="2" charset="-122"/>
                <a:ea typeface="黑体" panose="02010609060101010101" pitchFamily="2" charset="-122"/>
              </a:rPr>
              <a:t>  day2(day1);</a:t>
            </a:r>
            <a:endParaRPr lang="en-US" altLang="zh-CN" sz="1800" dirty="0" smtClean="0">
              <a:latin typeface="黑体" panose="02010609060101010101" pitchFamily="2" charset="-122"/>
              <a:ea typeface="黑体" panose="02010609060101010101" pitchFamily="2" charset="-122"/>
            </a:endParaRPr>
          </a:p>
          <a:p>
            <a:pPr lvl="1">
              <a:lnSpc>
                <a:spcPts val="2880"/>
              </a:lnSpc>
              <a:spcBef>
                <a:spcPts val="0"/>
              </a:spcBef>
              <a:buNone/>
            </a:pPr>
            <a:r>
              <a:rPr lang="zh-CN" altLang="en-US" sz="1800" dirty="0" smtClean="0">
                <a:latin typeface="黑体" panose="02010609060101010101" pitchFamily="2" charset="-122"/>
                <a:ea typeface="黑体" panose="02010609060101010101" pitchFamily="2" charset="-122"/>
              </a:rPr>
              <a:t>  </a:t>
            </a:r>
            <a:r>
              <a:rPr lang="en-US" altLang="zh-CN" sz="1800" dirty="0" smtClean="0">
                <a:latin typeface="黑体" panose="02010609060101010101" pitchFamily="2" charset="-122"/>
                <a:ea typeface="黑体" panose="02010609060101010101" pitchFamily="2" charset="-122"/>
              </a:rPr>
              <a:t>	</a:t>
            </a:r>
            <a:r>
              <a:rPr lang="en-US" altLang="zh-CN" sz="1800" dirty="0" err="1" smtClean="0">
                <a:latin typeface="黑体" panose="02010609060101010101" pitchFamily="2" charset="-122"/>
                <a:ea typeface="黑体" panose="02010609060101010101" pitchFamily="2" charset="-122"/>
              </a:rPr>
              <a:t>CDay</a:t>
            </a:r>
            <a:r>
              <a:rPr lang="en-US" altLang="zh-CN" sz="1800" dirty="0" smtClean="0">
                <a:latin typeface="黑体" panose="02010609060101010101" pitchFamily="2" charset="-122"/>
                <a:ea typeface="黑体" panose="02010609060101010101" pitchFamily="2" charset="-122"/>
              </a:rPr>
              <a:t>  day3 = day2;</a:t>
            </a:r>
            <a:endParaRPr lang="en-US" altLang="zh-CN" sz="1800" dirty="0" smtClean="0">
              <a:latin typeface="黑体" panose="02010609060101010101" pitchFamily="2" charset="-122"/>
              <a:ea typeface="黑体" panose="02010609060101010101" pitchFamily="2" charset="-122"/>
            </a:endParaRPr>
          </a:p>
          <a:p>
            <a:pPr lvl="1">
              <a:lnSpc>
                <a:spcPts val="2880"/>
              </a:lnSpc>
              <a:spcBef>
                <a:spcPts val="0"/>
              </a:spcBef>
              <a:buNone/>
            </a:pPr>
            <a:r>
              <a:rPr lang="en-US" altLang="zh-CN" sz="1800" dirty="0" smtClean="0">
                <a:latin typeface="黑体" panose="02010609060101010101" pitchFamily="2" charset="-122"/>
                <a:ea typeface="黑体" panose="02010609060101010101" pitchFamily="2" charset="-122"/>
              </a:rPr>
              <a:t>	CDay  *p=new CDay(Day3);</a:t>
            </a:r>
            <a:endParaRPr lang="en-US" altLang="zh-CN" sz="1800" dirty="0" smtClean="0">
              <a:latin typeface="黑体" panose="02010609060101010101" pitchFamily="2" charset="-122"/>
              <a:ea typeface="黑体" panose="02010609060101010101" pitchFamily="2" charset="-122"/>
            </a:endParaRPr>
          </a:p>
          <a:p>
            <a:pPr lvl="1">
              <a:lnSpc>
                <a:spcPts val="2880"/>
              </a:lnSpc>
              <a:spcBef>
                <a:spcPts val="0"/>
              </a:spcBef>
            </a:pPr>
            <a:r>
              <a:rPr lang="zh-CN" altLang="en-US" sz="1800" dirty="0" smtClean="0"/>
              <a:t>类对象作为函数参数</a:t>
            </a:r>
            <a:endParaRPr lang="en-US" altLang="zh-CN" sz="1800" dirty="0" smtClean="0"/>
          </a:p>
          <a:p>
            <a:pPr lvl="1">
              <a:lnSpc>
                <a:spcPts val="2880"/>
              </a:lnSpc>
              <a:spcBef>
                <a:spcPts val="0"/>
              </a:spcBef>
              <a:buNone/>
            </a:pPr>
            <a:r>
              <a:rPr lang="en-US" altLang="zh-CN" sz="1800" dirty="0" smtClean="0"/>
              <a:t>	</a:t>
            </a:r>
            <a:r>
              <a:rPr lang="en-US" altLang="zh-CN" sz="1800" dirty="0" smtClean="0">
                <a:latin typeface="黑体" panose="02010609060101010101" pitchFamily="2" charset="-122"/>
                <a:ea typeface="黑体" panose="02010609060101010101" pitchFamily="2" charset="-122"/>
              </a:rPr>
              <a:t>Fn(</a:t>
            </a:r>
            <a:r>
              <a:rPr lang="en-US" altLang="zh-CN" sz="1800" dirty="0" err="1" smtClean="0">
                <a:latin typeface="黑体" panose="02010609060101010101" pitchFamily="2" charset="-122"/>
                <a:ea typeface="黑体" panose="02010609060101010101" pitchFamily="2" charset="-122"/>
              </a:rPr>
              <a:t>CDay</a:t>
            </a:r>
            <a:r>
              <a:rPr lang="en-US" altLang="zh-CN" sz="1800" dirty="0" smtClean="0">
                <a:latin typeface="黑体" panose="02010609060101010101" pitchFamily="2" charset="-122"/>
                <a:ea typeface="黑体" panose="02010609060101010101" pitchFamily="2" charset="-122"/>
              </a:rPr>
              <a:t>  t) {};   </a:t>
            </a:r>
            <a:endParaRPr lang="en-US" altLang="zh-CN" sz="1800" dirty="0" smtClean="0">
              <a:latin typeface="黑体" panose="02010609060101010101" pitchFamily="2" charset="-122"/>
              <a:ea typeface="黑体" panose="02010609060101010101" pitchFamily="2" charset="-122"/>
            </a:endParaRPr>
          </a:p>
          <a:p>
            <a:pPr lvl="1">
              <a:lnSpc>
                <a:spcPts val="2880"/>
              </a:lnSpc>
              <a:spcBef>
                <a:spcPts val="0"/>
              </a:spcBef>
              <a:buNone/>
            </a:pPr>
            <a:r>
              <a:rPr lang="en-US" altLang="zh-CN" sz="1800" dirty="0" smtClean="0">
                <a:latin typeface="黑体" panose="02010609060101010101" pitchFamily="2" charset="-122"/>
                <a:ea typeface="黑体" panose="02010609060101010101" pitchFamily="2" charset="-122"/>
              </a:rPr>
              <a:t>	Fn(day1);</a:t>
            </a:r>
            <a:endParaRPr lang="en-US" altLang="zh-CN" sz="1800" dirty="0" smtClean="0">
              <a:latin typeface="黑体" panose="02010609060101010101" pitchFamily="2" charset="-122"/>
              <a:ea typeface="黑体" panose="02010609060101010101" pitchFamily="2" charset="-122"/>
            </a:endParaRPr>
          </a:p>
          <a:p>
            <a:pPr lvl="1">
              <a:lnSpc>
                <a:spcPts val="2880"/>
              </a:lnSpc>
              <a:spcBef>
                <a:spcPts val="0"/>
              </a:spcBef>
            </a:pPr>
            <a:r>
              <a:rPr lang="zh-CN" altLang="en-US" sz="1800" dirty="0" smtClean="0"/>
              <a:t>类对象作为函数返回值</a:t>
            </a:r>
            <a:endParaRPr lang="en-US" altLang="zh-CN" sz="1800" dirty="0" smtClean="0"/>
          </a:p>
          <a:p>
            <a:pPr lvl="1">
              <a:lnSpc>
                <a:spcPts val="2880"/>
              </a:lnSpc>
              <a:spcBef>
                <a:spcPts val="0"/>
              </a:spcBef>
              <a:buNone/>
            </a:pPr>
            <a:r>
              <a:rPr lang="en-US" altLang="zh-CN" sz="1800" dirty="0" smtClean="0">
                <a:latin typeface="黑体" panose="02010609060101010101" pitchFamily="2" charset="-122"/>
                <a:ea typeface="黑体" panose="02010609060101010101" pitchFamily="2" charset="-122"/>
              </a:rPr>
              <a:t>	Fn() { </a:t>
            </a:r>
            <a:r>
              <a:rPr lang="en-US" altLang="zh-CN" sz="1800" dirty="0" err="1" smtClean="0">
                <a:latin typeface="黑体" panose="02010609060101010101" pitchFamily="2" charset="-122"/>
                <a:ea typeface="黑体" panose="02010609060101010101" pitchFamily="2" charset="-122"/>
              </a:rPr>
              <a:t>CDay</a:t>
            </a:r>
            <a:r>
              <a:rPr lang="en-US" altLang="zh-CN" sz="1800" dirty="0" smtClean="0">
                <a:latin typeface="黑体" panose="02010609060101010101" pitchFamily="2" charset="-122"/>
                <a:ea typeface="黑体" panose="02010609060101010101" pitchFamily="2" charset="-122"/>
              </a:rPr>
              <a:t>  t;  ……  return t};   </a:t>
            </a:r>
            <a:endParaRPr lang="en-US" altLang="zh-CN" sz="1800" dirty="0" smtClean="0">
              <a:latin typeface="黑体" panose="02010609060101010101" pitchFamily="2" charset="-122"/>
              <a:ea typeface="黑体" panose="02010609060101010101" pitchFamily="2" charset="-122"/>
            </a:endParaRPr>
          </a:p>
          <a:p>
            <a:pPr lvl="1">
              <a:lnSpc>
                <a:spcPts val="2880"/>
              </a:lnSpc>
              <a:spcBef>
                <a:spcPts val="0"/>
              </a:spcBef>
              <a:buNone/>
            </a:pPr>
            <a:r>
              <a:rPr lang="en-US" altLang="zh-CN" sz="1800" dirty="0" smtClean="0">
                <a:latin typeface="黑体" panose="02010609060101010101" pitchFamily="2" charset="-122"/>
                <a:ea typeface="黑体" panose="02010609060101010101" pitchFamily="2" charset="-122"/>
              </a:rPr>
              <a:t>   CDay day2 = Fn();  </a:t>
            </a:r>
            <a:r>
              <a:rPr lang="en-US" altLang="zh-CN" sz="1800" dirty="0" smtClean="0"/>
              <a:t> </a:t>
            </a:r>
            <a:endParaRPr lang="en-US" altLang="zh-CN" sz="1800" dirty="0" smtClean="0"/>
          </a:p>
          <a:p>
            <a:pPr lvl="1">
              <a:lnSpc>
                <a:spcPts val="2880"/>
              </a:lnSpc>
              <a:spcBef>
                <a:spcPts val="0"/>
              </a:spcBef>
              <a:buNone/>
            </a:pPr>
            <a:endParaRPr lang="en-US" altLang="zh-CN" sz="1800" dirty="0" smtClean="0"/>
          </a:p>
          <a:p>
            <a:pPr>
              <a:lnSpc>
                <a:spcPts val="2880"/>
              </a:lnSpc>
              <a:spcBef>
                <a:spcPts val="0"/>
              </a:spcBef>
            </a:pPr>
            <a:endParaRPr lang="zh-CN" altLang="en-US" sz="2000" dirty="0" smtClean="0"/>
          </a:p>
          <a:p>
            <a:pPr marL="342900" indent="-342900" eaLnBrk="1" hangingPunct="1">
              <a:lnSpc>
                <a:spcPts val="2000"/>
              </a:lnSpc>
              <a:spcBef>
                <a:spcPct val="20000"/>
              </a:spcBef>
              <a:buClr>
                <a:srgbClr val="FF5050"/>
              </a:buClr>
              <a:buNone/>
              <a:defRPr/>
            </a:pPr>
            <a:endParaRPr lang="en-US" altLang="zh-CN" sz="1800" dirty="0" smtClean="0"/>
          </a:p>
          <a:p>
            <a:pPr marL="342900" indent="-342900" eaLnBrk="1" hangingPunct="1">
              <a:spcBef>
                <a:spcPct val="20000"/>
              </a:spcBef>
              <a:buClr>
                <a:srgbClr val="FF5050"/>
              </a:buClr>
              <a:buNone/>
            </a:pPr>
            <a:endParaRPr lang="zh-CN" altLang="en-US" sz="1800" dirty="0" smtClean="0"/>
          </a:p>
          <a:p>
            <a:pPr>
              <a:lnSpc>
                <a:spcPts val="2880"/>
              </a:lnSpc>
              <a:spcBef>
                <a:spcPts val="0"/>
              </a:spcBef>
            </a:pPr>
            <a:endParaRPr lang="en-US" altLang="zh-CN" sz="1800" dirty="0" smtClean="0"/>
          </a:p>
        </p:txBody>
      </p:sp>
      <p:sp>
        <p:nvSpPr>
          <p:cNvPr id="3" name="标题 2"/>
          <p:cNvSpPr>
            <a:spLocks noGrp="1"/>
          </p:cNvSpPr>
          <p:nvPr>
            <p:ph type="title"/>
          </p:nvPr>
        </p:nvSpPr>
        <p:spPr>
          <a:xfrm>
            <a:off x="779145" y="274638"/>
            <a:ext cx="8229600" cy="868346"/>
          </a:xfrm>
        </p:spPr>
        <p:txBody>
          <a:bodyPr>
            <a:normAutofit/>
          </a:bodyPr>
          <a:lstStyle/>
          <a:p>
            <a:r>
              <a:rPr lang="en-US" altLang="zh-CN" sz="3600" dirty="0" smtClean="0"/>
              <a:t>1.拷贝构造函数</a:t>
            </a:r>
            <a:endParaRPr lang="zh-CN" altLang="en-US" sz="3600" dirty="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92100" y="987425"/>
            <a:ext cx="6457950" cy="4500880"/>
          </a:xfrm>
        </p:spPr>
        <p:txBody>
          <a:bodyPr/>
          <a:lstStyle/>
          <a:p>
            <a:pPr>
              <a:lnSpc>
                <a:spcPts val="2880"/>
              </a:lnSpc>
              <a:spcBef>
                <a:spcPts val="0"/>
              </a:spcBef>
            </a:pPr>
            <a:r>
              <a:rPr lang="zh-CN" altLang="en-US" sz="2000" dirty="0" smtClean="0"/>
              <a:t>拷贝构造函数举例</a:t>
            </a:r>
            <a:endParaRPr lang="en-US" altLang="zh-CN" sz="2000" dirty="0" smtClean="0"/>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class Student{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public:</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Student(char*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="no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name",int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ssId</a:t>
            </a:r>
            <a:r>
              <a:rPr lang="en-US" altLang="zh-CN" sz="1600" dirty="0" smtClean="0">
                <a:latin typeface="黑体" panose="02010609060101010101" pitchFamily="2" charset="-122"/>
                <a:ea typeface="黑体" panose="02010609060101010101" pitchFamily="2" charset="-122"/>
                <a:cs typeface="黑体" panose="02010609060101010101" pitchFamily="2" charset="-122"/>
              </a:rPr>
              <a:t>=0)</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strcpy</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name,pName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id =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ssId</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&lt;&lt;"Constructing new student "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Student(Student&amp; s)        //</a:t>
            </a:r>
            <a:r>
              <a:rPr lang="zh-CN" altLang="en-US" sz="1600" dirty="0" smtClean="0">
                <a:latin typeface="黑体" panose="02010609060101010101" pitchFamily="2" charset="-122"/>
                <a:ea typeface="黑体" panose="02010609060101010101" pitchFamily="2" charset="-122"/>
                <a:cs typeface="黑体" panose="02010609060101010101" pitchFamily="2" charset="-122"/>
              </a:rPr>
              <a:t>拷贝构造函数</a:t>
            </a:r>
            <a:endParaRPr lang="zh-CN" altLang="en-US"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zh-CN" altLang="en-US"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&lt;&lt;"Constructing copy of " &lt;&lt;s.name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strcpy</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name,"copy</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of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strcat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name,s.name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id=s.id;</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~Student()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&lt;&lt;"Destructing " &lt;&lt;name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private:</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char name[40];</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int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id;</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880"/>
              </a:lnSpc>
              <a:spcBef>
                <a:spcPts val="0"/>
              </a:spcBef>
              <a:buNone/>
            </a:pPr>
            <a:endParaRPr lang="zh-CN" altLang="en-US" sz="2000" dirty="0" smtClean="0"/>
          </a:p>
          <a:p>
            <a:pPr marL="342900" indent="-342900" eaLnBrk="1" hangingPunct="1">
              <a:lnSpc>
                <a:spcPts val="2000"/>
              </a:lnSpc>
              <a:spcBef>
                <a:spcPct val="20000"/>
              </a:spcBef>
              <a:buClr>
                <a:srgbClr val="FF5050"/>
              </a:buClr>
              <a:buNone/>
              <a:defRPr/>
            </a:pPr>
            <a:endParaRPr lang="en-US" altLang="zh-CN" sz="1800" dirty="0" smtClean="0"/>
          </a:p>
          <a:p>
            <a:pPr marL="342900" indent="-342900" eaLnBrk="1" hangingPunct="1">
              <a:spcBef>
                <a:spcPct val="20000"/>
              </a:spcBef>
              <a:buClr>
                <a:srgbClr val="FF5050"/>
              </a:buClr>
              <a:buNone/>
            </a:pPr>
            <a:endParaRPr lang="zh-CN" altLang="en-US" sz="1800" dirty="0" smtClean="0"/>
          </a:p>
          <a:p>
            <a:pPr>
              <a:lnSpc>
                <a:spcPts val="2880"/>
              </a:lnSpc>
              <a:spcBef>
                <a:spcPts val="0"/>
              </a:spcBef>
            </a:pPr>
            <a:endParaRPr lang="en-US" altLang="zh-CN" sz="1800" dirty="0" smtClean="0"/>
          </a:p>
        </p:txBody>
      </p:sp>
      <p:sp>
        <p:nvSpPr>
          <p:cNvPr id="3" name="标题 2"/>
          <p:cNvSpPr>
            <a:spLocks noGrp="1"/>
          </p:cNvSpPr>
          <p:nvPr>
            <p:ph type="title"/>
          </p:nvPr>
        </p:nvSpPr>
        <p:spPr>
          <a:xfrm>
            <a:off x="779145" y="274638"/>
            <a:ext cx="8229600" cy="868346"/>
          </a:xfrm>
        </p:spPr>
        <p:txBody>
          <a:bodyPr>
            <a:normAutofit/>
          </a:bodyPr>
          <a:lstStyle/>
          <a:p>
            <a:r>
              <a:rPr lang="en-US" altLang="zh-CN" sz="3600" dirty="0" smtClean="0"/>
              <a:t>1.拷贝构造函数</a:t>
            </a:r>
            <a:endParaRPr lang="zh-CN" altLang="en-US" sz="3600" dirty="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sp>
        <p:nvSpPr>
          <p:cNvPr id="6" name="矩形 5"/>
          <p:cNvSpPr/>
          <p:nvPr/>
        </p:nvSpPr>
        <p:spPr>
          <a:xfrm>
            <a:off x="7141533" y="987406"/>
            <a:ext cx="3571900" cy="5015865"/>
          </a:xfrm>
          <a:prstGeom prst="rect">
            <a:avLst/>
          </a:prstGeom>
        </p:spPr>
        <p:txBody>
          <a:bodyPr wrap="square">
            <a:spAutoFit/>
          </a:bodyPr>
          <a:lstStyle/>
          <a:p>
            <a:r>
              <a:rPr lang="en-US" altLang="zh-CN" sz="1600" dirty="0" smtClean="0">
                <a:latin typeface="黑体" panose="02010609060101010101" pitchFamily="2" charset="-122"/>
                <a:ea typeface="黑体" panose="02010609060101010101" pitchFamily="2" charset="-122"/>
                <a:cs typeface="黑体" panose="02010609060101010101" pitchFamily="2" charset="-122"/>
              </a:rPr>
              <a:t>void fn(Student s)</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&lt;&lt;"In function fn()\n";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void main()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  Student randy("Randy",1234);</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&lt;&lt;"Calling fn()\n";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  fn(randy);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&lt;&lt;"Returned from fn()\n";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zh-CN" altLang="en-US" sz="1600" dirty="0" smtClean="0">
                <a:latin typeface="黑体" panose="02010609060101010101" pitchFamily="2" charset="-122"/>
                <a:ea typeface="黑体" panose="02010609060101010101" pitchFamily="2" charset="-122"/>
                <a:cs typeface="黑体" panose="02010609060101010101" pitchFamily="2" charset="-122"/>
              </a:rPr>
              <a:t>输出信息</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Constructing new student 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Calling fn()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Constructing copy of 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In function fn()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Destructing copy of 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Returned from fn()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Destructing Randy</a:t>
            </a:r>
            <a:endParaRPr lang="zh-CN" altLang="en-US" sz="1600" dirty="0">
              <a:latin typeface="黑体" panose="02010609060101010101" pitchFamily="2" charset="-122"/>
              <a:ea typeface="黑体" panose="02010609060101010101" pitchFamily="2" charset="-122"/>
              <a:cs typeface="黑体" panose="0201060906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a:stretch>
            <a:fillRect/>
          </a:stretch>
        </p:blipFill>
        <p:spPr>
          <a:xfrm>
            <a:off x="5503545" y="326390"/>
            <a:ext cx="3942715" cy="2095500"/>
          </a:xfrm>
          <a:prstGeom prst="rect">
            <a:avLst/>
          </a:prstGeom>
        </p:spPr>
      </p:pic>
      <p:sp>
        <p:nvSpPr>
          <p:cNvPr id="2" name="内容占位符 1"/>
          <p:cNvSpPr>
            <a:spLocks noGrp="1"/>
          </p:cNvSpPr>
          <p:nvPr>
            <p:ph idx="1"/>
          </p:nvPr>
        </p:nvSpPr>
        <p:spPr>
          <a:xfrm>
            <a:off x="449580" y="977265"/>
            <a:ext cx="3726180" cy="553720"/>
          </a:xfrm>
        </p:spPr>
        <p:txBody>
          <a:bodyPr/>
          <a:lstStyle/>
          <a:p>
            <a:pPr>
              <a:lnSpc>
                <a:spcPts val="2880"/>
              </a:lnSpc>
              <a:spcBef>
                <a:spcPts val="0"/>
              </a:spcBef>
            </a:pPr>
            <a:r>
              <a:rPr lang="zh-CN" altLang="en-US" sz="2000" dirty="0" smtClean="0"/>
              <a:t>拷贝构造被触发的三种场景</a:t>
            </a:r>
            <a:endParaRPr lang="zh-CN" altLang="en-US" sz="2000" dirty="0" smtClean="0"/>
          </a:p>
          <a:p>
            <a:pPr>
              <a:lnSpc>
                <a:spcPts val="2880"/>
              </a:lnSpc>
              <a:spcBef>
                <a:spcPts val="0"/>
              </a:spcBef>
            </a:pPr>
            <a:endParaRPr lang="en-US" altLang="zh-CN" sz="2000" dirty="0" smtClean="0"/>
          </a:p>
          <a:p>
            <a:pPr>
              <a:lnSpc>
                <a:spcPts val="2000"/>
              </a:lnSpc>
              <a:spcBef>
                <a:spcPts val="0"/>
              </a:spcBef>
              <a:buNone/>
            </a:pPr>
            <a:endParaRPr lang="en-US" altLang="zh-CN" sz="1800" dirty="0" smtClean="0"/>
          </a:p>
        </p:txBody>
      </p:sp>
      <p:sp>
        <p:nvSpPr>
          <p:cNvPr id="3" name="标题 2"/>
          <p:cNvSpPr>
            <a:spLocks noGrp="1"/>
          </p:cNvSpPr>
          <p:nvPr>
            <p:ph type="title"/>
          </p:nvPr>
        </p:nvSpPr>
        <p:spPr>
          <a:xfrm>
            <a:off x="813435" y="240348"/>
            <a:ext cx="8229600" cy="868346"/>
          </a:xfrm>
        </p:spPr>
        <p:txBody>
          <a:bodyPr>
            <a:normAutofit/>
          </a:bodyPr>
          <a:lstStyle/>
          <a:p>
            <a:r>
              <a:rPr lang="en-US" altLang="zh-CN" sz="3600" dirty="0" smtClean="0"/>
              <a:t>1.拷贝构造函数</a:t>
            </a:r>
            <a:endParaRPr lang="zh-CN" altLang="en-US" sz="3600" dirty="0"/>
          </a:p>
        </p:txBody>
      </p:sp>
      <p:pic>
        <p:nvPicPr>
          <p:cNvPr id="4" name="图片 3"/>
          <p:cNvPicPr>
            <a:picLocks noChangeAspect="1"/>
          </p:cNvPicPr>
          <p:nvPr/>
        </p:nvPicPr>
        <p:blipFill>
          <a:blip r:embed="rId2"/>
          <a:stretch>
            <a:fillRect/>
          </a:stretch>
        </p:blipFill>
        <p:spPr>
          <a:xfrm>
            <a:off x="257175" y="1456055"/>
            <a:ext cx="5028565" cy="4618990"/>
          </a:xfrm>
          <a:prstGeom prst="rect">
            <a:avLst/>
          </a:prstGeom>
        </p:spPr>
      </p:pic>
      <p:sp>
        <p:nvSpPr>
          <p:cNvPr id="10" name="文本框 9"/>
          <p:cNvSpPr txBox="1"/>
          <p:nvPr/>
        </p:nvSpPr>
        <p:spPr>
          <a:xfrm>
            <a:off x="8742045" y="2024380"/>
            <a:ext cx="3255010" cy="4892675"/>
          </a:xfrm>
          <a:prstGeom prst="rect">
            <a:avLst/>
          </a:prstGeom>
          <a:noFill/>
        </p:spPr>
        <p:txBody>
          <a:bodyPr wrap="square" rtlCol="0" anchor="t">
            <a:spAutoFit/>
          </a:bodyPr>
          <a:p>
            <a:r>
              <a:rPr lang="zh-CN" altLang="en-US" sz="1200" b="1"/>
              <a:t>Constructor 0.</a:t>
            </a:r>
            <a:endParaRPr lang="zh-CN" altLang="en-US" sz="1200" b="1"/>
          </a:p>
          <a:p>
            <a:r>
              <a:rPr lang="zh-CN" altLang="en-US" sz="1200" b="1"/>
              <a:t>Constructor new point (1, 1)</a:t>
            </a:r>
            <a:endParaRPr lang="zh-CN" altLang="en-US" sz="1200" b="1"/>
          </a:p>
          <a:p>
            <a:r>
              <a:rPr lang="zh-CN" altLang="en-US" sz="1200" b="1"/>
              <a:t>Constructor Copy point (1001, 1001)</a:t>
            </a:r>
            <a:endParaRPr lang="zh-CN" altLang="en-US" sz="1200" b="1"/>
          </a:p>
          <a:p>
            <a:r>
              <a:rPr lang="zh-CN" altLang="en-US" sz="1200" b="1"/>
              <a:t>Constructor new point (2, 2)</a:t>
            </a:r>
            <a:endParaRPr lang="zh-CN" altLang="en-US" sz="1200" b="1"/>
          </a:p>
          <a:p>
            <a:r>
              <a:rPr lang="zh-CN" altLang="en-US" sz="1200" b="1"/>
              <a:t>Constructor Copy point (1002, 1002)</a:t>
            </a:r>
            <a:endParaRPr lang="zh-CN" altLang="en-US" sz="1200" b="1"/>
          </a:p>
          <a:p>
            <a:r>
              <a:rPr lang="zh-CN" altLang="en-US" sz="1200" b="1"/>
              <a:t>call void function!</a:t>
            </a:r>
            <a:endParaRPr lang="zh-CN" altLang="en-US" sz="1200" b="1"/>
          </a:p>
          <a:p>
            <a:r>
              <a:rPr lang="zh-CN" altLang="en-US" sz="1200" b="1"/>
              <a:t>Distructor point (1002, 1002)</a:t>
            </a:r>
            <a:endParaRPr lang="zh-CN" altLang="en-US" sz="1200" b="1"/>
          </a:p>
          <a:p>
            <a:r>
              <a:rPr lang="zh-CN" altLang="en-US" sz="1200" b="1"/>
              <a:t>Constructor new point (3, 3)</a:t>
            </a:r>
            <a:endParaRPr lang="zh-CN" altLang="en-US" sz="1200" b="1"/>
          </a:p>
          <a:p>
            <a:r>
              <a:rPr lang="zh-CN" altLang="en-US" sz="1200" b="1"/>
              <a:t>Constructor Copy point (1003, 1003)</a:t>
            </a:r>
            <a:endParaRPr lang="zh-CN" altLang="en-US" sz="1200" b="1"/>
          </a:p>
          <a:p>
            <a:r>
              <a:rPr lang="zh-CN" altLang="en-US" sz="1200" b="1"/>
              <a:t>call function with return value!</a:t>
            </a:r>
            <a:endParaRPr lang="zh-CN" altLang="en-US" sz="1200" b="1"/>
          </a:p>
          <a:p>
            <a:r>
              <a:rPr lang="zh-CN" altLang="en-US" sz="1200" b="1"/>
              <a:t>Constructor Copy point (2003, 2003)</a:t>
            </a:r>
            <a:endParaRPr lang="zh-CN" altLang="en-US" sz="1200" b="1"/>
          </a:p>
          <a:p>
            <a:r>
              <a:rPr lang="zh-CN" altLang="en-US" sz="1200" b="1"/>
              <a:t>Distructor point (1003, 1003)</a:t>
            </a:r>
            <a:endParaRPr lang="zh-CN" altLang="en-US" sz="1200" b="1"/>
          </a:p>
          <a:p>
            <a:r>
              <a:rPr lang="zh-CN" altLang="en-US" sz="1200" b="1"/>
              <a:t>Distructor point (2003, 2003)</a:t>
            </a:r>
            <a:endParaRPr lang="zh-CN" altLang="en-US" sz="1200" b="1"/>
          </a:p>
          <a:p>
            <a:r>
              <a:rPr lang="zh-CN" altLang="en-US" sz="1200" b="1"/>
              <a:t>Constructor 0.</a:t>
            </a:r>
            <a:endParaRPr lang="zh-CN" altLang="en-US" sz="1200" b="1"/>
          </a:p>
          <a:p>
            <a:r>
              <a:rPr lang="zh-CN" altLang="en-US" sz="1200" b="1"/>
              <a:t>Constructor Copy point (1003, 1003)</a:t>
            </a:r>
            <a:endParaRPr lang="zh-CN" altLang="en-US" sz="1200" b="1"/>
          </a:p>
          <a:p>
            <a:r>
              <a:rPr lang="zh-CN" altLang="en-US" sz="1200" b="1"/>
              <a:t>call function with return value!</a:t>
            </a:r>
            <a:endParaRPr lang="zh-CN" altLang="en-US" sz="1200" b="1"/>
          </a:p>
          <a:p>
            <a:r>
              <a:rPr lang="zh-CN" altLang="en-US" sz="1200" b="1"/>
              <a:t>Constructor Copy point (2003, 2003)</a:t>
            </a:r>
            <a:endParaRPr lang="zh-CN" altLang="en-US" sz="1200" b="1"/>
          </a:p>
          <a:p>
            <a:r>
              <a:rPr lang="zh-CN" altLang="en-US" sz="1200" b="1"/>
              <a:t>Distructor point (1003, 1003)</a:t>
            </a:r>
            <a:endParaRPr lang="zh-CN" altLang="en-US" sz="1200" b="1"/>
          </a:p>
          <a:p>
            <a:r>
              <a:rPr lang="zh-CN" altLang="en-US" sz="1200" b="1"/>
              <a:t>Distructor point (2003, 2003)</a:t>
            </a:r>
            <a:endParaRPr lang="zh-CN" altLang="en-US" sz="1200" b="1"/>
          </a:p>
          <a:p>
            <a:r>
              <a:rPr lang="zh-CN" altLang="en-US" sz="1200" b="1"/>
              <a:t>p4's x is 2003</a:t>
            </a:r>
            <a:endParaRPr lang="zh-CN" altLang="en-US" sz="1200" b="1"/>
          </a:p>
          <a:p>
            <a:r>
              <a:rPr lang="zh-CN" altLang="en-US" sz="1200" b="1"/>
              <a:t>Distructor point (2003, 2003)</a:t>
            </a:r>
            <a:endParaRPr lang="zh-CN" altLang="en-US" sz="1200" b="1"/>
          </a:p>
          <a:p>
            <a:r>
              <a:rPr lang="zh-CN" altLang="en-US" sz="1200" b="1"/>
              <a:t>Distructor point (3, 3)</a:t>
            </a:r>
            <a:endParaRPr lang="zh-CN" altLang="en-US" sz="1200" b="1"/>
          </a:p>
          <a:p>
            <a:r>
              <a:rPr lang="zh-CN" altLang="en-US" sz="1200" b="1"/>
              <a:t>Distructor point (2, 2)</a:t>
            </a:r>
            <a:endParaRPr lang="zh-CN" altLang="en-US" sz="1200" b="1"/>
          </a:p>
          <a:p>
            <a:r>
              <a:rPr lang="zh-CN" altLang="en-US" sz="1200" b="1"/>
              <a:t>Distructor point (1001, 1001)</a:t>
            </a:r>
            <a:endParaRPr lang="zh-CN" altLang="en-US" sz="1200" b="1"/>
          </a:p>
          <a:p>
            <a:r>
              <a:rPr lang="zh-CN" altLang="en-US" sz="1200" b="1"/>
              <a:t>Distructor point (1, 1)</a:t>
            </a:r>
            <a:endParaRPr lang="zh-CN" altLang="en-US" sz="1200" b="1"/>
          </a:p>
          <a:p>
            <a:r>
              <a:rPr lang="zh-CN" altLang="en-US" sz="1200" b="1"/>
              <a:t>Distructor point (0, 0)</a:t>
            </a:r>
            <a:endParaRPr lang="zh-CN" altLang="en-US" sz="1200" b="1"/>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9580" y="977265"/>
            <a:ext cx="5196840" cy="553720"/>
          </a:xfrm>
        </p:spPr>
        <p:txBody>
          <a:bodyPr/>
          <a:lstStyle/>
          <a:p>
            <a:pPr>
              <a:lnSpc>
                <a:spcPts val="2880"/>
              </a:lnSpc>
              <a:spcBef>
                <a:spcPts val="0"/>
              </a:spcBef>
            </a:pPr>
            <a:r>
              <a:rPr lang="zh-CN" altLang="en-US" sz="2000" dirty="0" smtClean="0"/>
              <a:t>在创建对象时触发拷贝构造的示例分析</a:t>
            </a:r>
            <a:endParaRPr lang="zh-CN" altLang="en-US" sz="2000" dirty="0" smtClean="0"/>
          </a:p>
          <a:p>
            <a:pPr>
              <a:lnSpc>
                <a:spcPts val="2880"/>
              </a:lnSpc>
              <a:spcBef>
                <a:spcPts val="0"/>
              </a:spcBef>
            </a:pPr>
            <a:endParaRPr lang="en-US" altLang="zh-CN" sz="2000" dirty="0" smtClean="0"/>
          </a:p>
          <a:p>
            <a:pPr>
              <a:lnSpc>
                <a:spcPts val="2000"/>
              </a:lnSpc>
              <a:spcBef>
                <a:spcPts val="0"/>
              </a:spcBef>
              <a:buNone/>
            </a:pPr>
            <a:endParaRPr lang="en-US" altLang="zh-CN" sz="1800" dirty="0" smtClean="0"/>
          </a:p>
        </p:txBody>
      </p:sp>
      <p:sp>
        <p:nvSpPr>
          <p:cNvPr id="3" name="标题 2"/>
          <p:cNvSpPr>
            <a:spLocks noGrp="1"/>
          </p:cNvSpPr>
          <p:nvPr>
            <p:ph type="title"/>
          </p:nvPr>
        </p:nvSpPr>
        <p:spPr>
          <a:xfrm>
            <a:off x="813435" y="240348"/>
            <a:ext cx="8229600" cy="868346"/>
          </a:xfrm>
        </p:spPr>
        <p:txBody>
          <a:bodyPr>
            <a:normAutofit/>
          </a:bodyPr>
          <a:lstStyle/>
          <a:p>
            <a:r>
              <a:rPr lang="en-US" altLang="zh-CN" sz="3600" dirty="0" smtClean="0"/>
              <a:t>1.拷贝构造函数</a:t>
            </a:r>
            <a:endParaRPr lang="zh-CN" altLang="en-US" sz="3600" dirty="0"/>
          </a:p>
        </p:txBody>
      </p:sp>
      <p:pic>
        <p:nvPicPr>
          <p:cNvPr id="5" name="图片 4"/>
          <p:cNvPicPr>
            <a:picLocks noChangeAspect="1"/>
          </p:cNvPicPr>
          <p:nvPr/>
        </p:nvPicPr>
        <p:blipFill>
          <a:blip r:embed="rId1"/>
          <a:stretch>
            <a:fillRect/>
          </a:stretch>
        </p:blipFill>
        <p:spPr>
          <a:xfrm>
            <a:off x="6026150" y="568325"/>
            <a:ext cx="5041900" cy="5456555"/>
          </a:xfrm>
          <a:prstGeom prst="rect">
            <a:avLst/>
          </a:prstGeom>
        </p:spPr>
      </p:pic>
      <p:sp>
        <p:nvSpPr>
          <p:cNvPr id="6" name="文本框 5"/>
          <p:cNvSpPr txBox="1"/>
          <p:nvPr/>
        </p:nvSpPr>
        <p:spPr>
          <a:xfrm>
            <a:off x="115570" y="4256405"/>
            <a:ext cx="5426710" cy="1094105"/>
          </a:xfrm>
          <a:prstGeom prst="rect">
            <a:avLst/>
          </a:prstGeom>
        </p:spPr>
        <p:txBody>
          <a:bodyPr vert="horz" wrap="squar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a:t>STU stu2(stu1);	//自动触发拷贝构造</a:t>
            </a:r>
            <a:endParaRPr lang="zh-CN" altLang="en-US"/>
          </a:p>
          <a:p>
            <a:pPr marL="0" lvl="0" indent="0">
              <a:lnSpc>
                <a:spcPct val="90000"/>
              </a:lnSpc>
              <a:spcBef>
                <a:spcPts val="1000"/>
              </a:spcBef>
              <a:buClr>
                <a:schemeClr val="accent2"/>
              </a:buClr>
              <a:buFont typeface="Wingdings" panose="05000000000000000000" pitchFamily="2" charset="2"/>
              <a:buNone/>
            </a:pPr>
            <a:r>
              <a:rPr lang="zh-CN" altLang="en-US"/>
              <a:t>STU stu3 = stu2;	//自动触发拷贝构造</a:t>
            </a:r>
            <a:endParaRPr lang="zh-CN" altLang="en-US"/>
          </a:p>
          <a:p>
            <a:pPr marL="0" lvl="0" indent="0">
              <a:lnSpc>
                <a:spcPct val="90000"/>
              </a:lnSpc>
              <a:spcBef>
                <a:spcPts val="1000"/>
              </a:spcBef>
              <a:buClr>
                <a:schemeClr val="accent2"/>
              </a:buClr>
              <a:buFont typeface="Wingdings" panose="05000000000000000000" pitchFamily="2" charset="2"/>
              <a:buNone/>
            </a:pPr>
            <a:r>
              <a:rPr lang="zh-CN" altLang="en-US"/>
              <a:t>stu3 = stu1; //没有触发拷贝构造，只是复制数据</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9580" y="977265"/>
            <a:ext cx="5196840" cy="553720"/>
          </a:xfrm>
        </p:spPr>
        <p:txBody>
          <a:bodyPr/>
          <a:lstStyle/>
          <a:p>
            <a:pPr>
              <a:lnSpc>
                <a:spcPts val="2880"/>
              </a:lnSpc>
              <a:spcBef>
                <a:spcPts val="0"/>
              </a:spcBef>
            </a:pPr>
            <a:r>
              <a:rPr lang="zh-CN" altLang="en-US" sz="2000" dirty="0" smtClean="0"/>
              <a:t>函数传递、函数返回、</a:t>
            </a:r>
            <a:r>
              <a:rPr lang="en-US" altLang="zh-CN" sz="2000" dirty="0" smtClean="0"/>
              <a:t>new</a:t>
            </a:r>
            <a:r>
              <a:rPr lang="zh-CN" altLang="en-US" sz="2000" dirty="0" smtClean="0"/>
              <a:t>的拷贝构造被触发示例</a:t>
            </a:r>
            <a:endParaRPr lang="zh-CN" altLang="en-US" sz="2000" dirty="0" smtClean="0"/>
          </a:p>
          <a:p>
            <a:pPr>
              <a:lnSpc>
                <a:spcPts val="2880"/>
              </a:lnSpc>
              <a:spcBef>
                <a:spcPts val="0"/>
              </a:spcBef>
            </a:pPr>
            <a:endParaRPr lang="en-US" altLang="zh-CN" sz="2000" dirty="0" smtClean="0"/>
          </a:p>
          <a:p>
            <a:pPr>
              <a:lnSpc>
                <a:spcPts val="2000"/>
              </a:lnSpc>
              <a:spcBef>
                <a:spcPts val="0"/>
              </a:spcBef>
              <a:buNone/>
            </a:pPr>
            <a:endParaRPr lang="en-US" altLang="zh-CN" sz="1800" dirty="0" smtClean="0"/>
          </a:p>
        </p:txBody>
      </p:sp>
      <p:sp>
        <p:nvSpPr>
          <p:cNvPr id="3" name="标题 2"/>
          <p:cNvSpPr>
            <a:spLocks noGrp="1"/>
          </p:cNvSpPr>
          <p:nvPr>
            <p:ph type="title"/>
          </p:nvPr>
        </p:nvSpPr>
        <p:spPr>
          <a:xfrm>
            <a:off x="813435" y="240348"/>
            <a:ext cx="8229600" cy="868346"/>
          </a:xfrm>
        </p:spPr>
        <p:txBody>
          <a:bodyPr>
            <a:normAutofit/>
          </a:bodyPr>
          <a:lstStyle/>
          <a:p>
            <a:r>
              <a:rPr lang="en-US" altLang="zh-CN" sz="3600" dirty="0" smtClean="0"/>
              <a:t>1.拷贝构造函数</a:t>
            </a:r>
            <a:endParaRPr lang="zh-CN" altLang="en-US" sz="3600" dirty="0"/>
          </a:p>
        </p:txBody>
      </p:sp>
      <p:grpSp>
        <p:nvGrpSpPr>
          <p:cNvPr id="14" name="组合 13"/>
          <p:cNvGrpSpPr/>
          <p:nvPr/>
        </p:nvGrpSpPr>
        <p:grpSpPr>
          <a:xfrm>
            <a:off x="8930005" y="1301750"/>
            <a:ext cx="2870835" cy="4930775"/>
            <a:chOff x="14063" y="2050"/>
            <a:chExt cx="4521" cy="7765"/>
          </a:xfrm>
        </p:grpSpPr>
        <p:sp>
          <p:nvSpPr>
            <p:cNvPr id="9" name="文本框 8"/>
            <p:cNvSpPr txBox="1"/>
            <p:nvPr/>
          </p:nvSpPr>
          <p:spPr>
            <a:xfrm>
              <a:off x="14063" y="2050"/>
              <a:ext cx="3769" cy="535"/>
            </a:xfrm>
            <a:prstGeom prst="rect">
              <a:avLst/>
            </a:prstGeom>
          </p:spPr>
          <p:txBody>
            <a:bodyPr vert="horz" wrap="squar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b="1">
                  <a:solidFill>
                    <a:srgbClr val="FF0000"/>
                  </a:solidFill>
                </a:rPr>
                <a:t>一行输入：</a:t>
              </a:r>
              <a:r>
                <a:rPr lang="en-US" altLang="zh-CN" b="1">
                  <a:solidFill>
                    <a:srgbClr val="FF0000"/>
                  </a:solidFill>
                </a:rPr>
                <a:t>100 tom</a:t>
              </a:r>
              <a:endParaRPr lang="en-US" altLang="zh-CN" b="1">
                <a:solidFill>
                  <a:srgbClr val="FF0000"/>
                </a:solidFill>
              </a:endParaRPr>
            </a:p>
          </p:txBody>
        </p:sp>
        <p:pic>
          <p:nvPicPr>
            <p:cNvPr id="13" name="图片 12"/>
            <p:cNvPicPr>
              <a:picLocks noChangeAspect="1"/>
            </p:cNvPicPr>
            <p:nvPr/>
          </p:nvPicPr>
          <p:blipFill>
            <a:blip r:embed="rId1"/>
            <a:stretch>
              <a:fillRect/>
            </a:stretch>
          </p:blipFill>
          <p:spPr>
            <a:xfrm>
              <a:off x="14322" y="2585"/>
              <a:ext cx="4263" cy="7231"/>
            </a:xfrm>
            <a:prstGeom prst="rect">
              <a:avLst/>
            </a:prstGeom>
          </p:spPr>
        </p:pic>
      </p:grpSp>
      <p:pic>
        <p:nvPicPr>
          <p:cNvPr id="15" name="图片 14"/>
          <p:cNvPicPr>
            <a:picLocks noChangeAspect="1"/>
          </p:cNvPicPr>
          <p:nvPr/>
        </p:nvPicPr>
        <p:blipFill>
          <a:blip r:embed="rId2"/>
          <a:stretch>
            <a:fillRect/>
          </a:stretch>
        </p:blipFill>
        <p:spPr>
          <a:xfrm>
            <a:off x="297180" y="1825625"/>
            <a:ext cx="4702175" cy="4885055"/>
          </a:xfrm>
          <a:prstGeom prst="rect">
            <a:avLst/>
          </a:prstGeom>
        </p:spPr>
      </p:pic>
      <p:pic>
        <p:nvPicPr>
          <p:cNvPr id="16" name="图片 15"/>
          <p:cNvPicPr>
            <a:picLocks noChangeAspect="1"/>
          </p:cNvPicPr>
          <p:nvPr/>
        </p:nvPicPr>
        <p:blipFill>
          <a:blip r:embed="rId3"/>
          <a:stretch>
            <a:fillRect/>
          </a:stretch>
        </p:blipFill>
        <p:spPr>
          <a:xfrm>
            <a:off x="5447665" y="2223135"/>
            <a:ext cx="3333750" cy="4010025"/>
          </a:xfrm>
          <a:prstGeom prst="rect">
            <a:avLst/>
          </a:prstGeom>
        </p:spPr>
      </p:pic>
      <p:sp>
        <p:nvSpPr>
          <p:cNvPr id="18" name="文本框 17"/>
          <p:cNvSpPr txBox="1"/>
          <p:nvPr/>
        </p:nvSpPr>
        <p:spPr>
          <a:xfrm>
            <a:off x="6143625" y="396875"/>
            <a:ext cx="5426710" cy="837565"/>
          </a:xfrm>
          <a:prstGeom prst="rect">
            <a:avLst/>
          </a:prstGeom>
        </p:spPr>
        <p:txBody>
          <a:bodyPr vert="horz" wrap="squar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b="1"/>
              <a:t>当函数返回值回到main函数后，main函数会创建一个无名对象承接函数返回值，这会触发拷贝构造，然后再把无名对象赋值给变量</a:t>
            </a:r>
            <a:endParaRPr lang="zh-CN" alt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7675" y="979170"/>
            <a:ext cx="10808335" cy="4500880"/>
          </a:xfrm>
        </p:spPr>
        <p:txBody>
          <a:bodyPr/>
          <a:lstStyle/>
          <a:p>
            <a:pPr>
              <a:lnSpc>
                <a:spcPts val="2880"/>
              </a:lnSpc>
              <a:spcBef>
                <a:spcPts val="0"/>
              </a:spcBef>
            </a:pPr>
            <a:r>
              <a:rPr lang="zh-CN" altLang="en-US" sz="2000" dirty="0" smtClean="0"/>
              <a:t>如果类没有定义拷贝构造函数，</a:t>
            </a:r>
            <a:r>
              <a:rPr lang="en-US" altLang="zh-CN" sz="2000" dirty="0" smtClean="0"/>
              <a:t>C++</a:t>
            </a:r>
            <a:r>
              <a:rPr lang="zh-CN" altLang="en-US" sz="2000" dirty="0" smtClean="0"/>
              <a:t>会提供一个默认拷贝构造函数</a:t>
            </a:r>
            <a:endParaRPr lang="en-US" altLang="zh-CN" sz="2000" dirty="0" smtClean="0"/>
          </a:p>
          <a:p>
            <a:pPr>
              <a:lnSpc>
                <a:spcPts val="2880"/>
              </a:lnSpc>
              <a:spcBef>
                <a:spcPts val="0"/>
              </a:spcBef>
            </a:pPr>
            <a:r>
              <a:rPr lang="zh-CN" altLang="en-US" sz="2000" dirty="0" smtClean="0"/>
              <a:t>默认拷贝构造函数就是将源对象中的数据成员值逐个拷贝到目标对象中。</a:t>
            </a:r>
            <a:endParaRPr lang="en-US" altLang="zh-CN" sz="2000" dirty="0" smtClean="0"/>
          </a:p>
          <a:p>
            <a:pPr>
              <a:lnSpc>
                <a:spcPts val="2880"/>
              </a:lnSpc>
              <a:spcBef>
                <a:spcPts val="0"/>
              </a:spcBef>
            </a:pPr>
            <a:r>
              <a:rPr lang="zh-CN" altLang="en-US" sz="2000" dirty="0" smtClean="0"/>
              <a:t>如果成员是类对象（即复合类），则调用该成员的默认拷贝构造函数</a:t>
            </a:r>
            <a:endParaRPr lang="en-US" altLang="zh-CN" sz="2000" dirty="0" smtClean="0"/>
          </a:p>
          <a:p>
            <a:pPr>
              <a:lnSpc>
                <a:spcPts val="1800"/>
              </a:lnSpc>
              <a:spcBef>
                <a:spcPts val="0"/>
              </a:spcBef>
              <a:buNone/>
            </a:pPr>
            <a:endParaRPr lang="en-US" altLang="zh-CN" sz="1400" dirty="0" smtClean="0"/>
          </a:p>
          <a:p>
            <a:pPr>
              <a:lnSpc>
                <a:spcPts val="2880"/>
              </a:lnSpc>
              <a:spcBef>
                <a:spcPts val="0"/>
              </a:spcBef>
            </a:pPr>
            <a:endParaRPr lang="zh-CN" altLang="en-US" sz="2000" dirty="0" smtClean="0"/>
          </a:p>
          <a:p>
            <a:pPr marL="342900" indent="-342900" eaLnBrk="1" hangingPunct="1">
              <a:lnSpc>
                <a:spcPts val="2000"/>
              </a:lnSpc>
              <a:spcBef>
                <a:spcPct val="20000"/>
              </a:spcBef>
              <a:buClr>
                <a:srgbClr val="FF5050"/>
              </a:buClr>
              <a:buNone/>
              <a:defRPr/>
            </a:pPr>
            <a:endParaRPr lang="en-US" altLang="zh-CN" sz="1800" dirty="0" smtClean="0"/>
          </a:p>
          <a:p>
            <a:pPr marL="342900" indent="-342900" eaLnBrk="1" hangingPunct="1">
              <a:spcBef>
                <a:spcPct val="20000"/>
              </a:spcBef>
              <a:buClr>
                <a:srgbClr val="FF5050"/>
              </a:buClr>
              <a:buNone/>
            </a:pPr>
            <a:endParaRPr lang="zh-CN" altLang="en-US" sz="1800" dirty="0" smtClean="0"/>
          </a:p>
          <a:p>
            <a:pPr>
              <a:lnSpc>
                <a:spcPts val="2880"/>
              </a:lnSpc>
              <a:spcBef>
                <a:spcPts val="0"/>
              </a:spcBef>
            </a:pPr>
            <a:endParaRPr lang="en-US" altLang="zh-CN" sz="1800" dirty="0" smtClean="0"/>
          </a:p>
        </p:txBody>
      </p:sp>
      <p:sp>
        <p:nvSpPr>
          <p:cNvPr id="3" name="标题 2"/>
          <p:cNvSpPr>
            <a:spLocks noGrp="1"/>
          </p:cNvSpPr>
          <p:nvPr>
            <p:ph type="title"/>
          </p:nvPr>
        </p:nvSpPr>
        <p:spPr>
          <a:xfrm>
            <a:off x="796290" y="274638"/>
            <a:ext cx="8229600" cy="868346"/>
          </a:xfrm>
        </p:spPr>
        <p:txBody>
          <a:bodyPr>
            <a:normAutofit/>
          </a:bodyPr>
          <a:lstStyle/>
          <a:p>
            <a:r>
              <a:rPr lang="en-US" altLang="zh-CN" sz="3600" dirty="0" smtClean="0"/>
              <a:t>1.拷贝构造函数</a:t>
            </a:r>
            <a:endParaRPr lang="zh-CN" altLang="en-US" sz="3600" dirty="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66700" y="996315"/>
            <a:ext cx="4970780" cy="4916170"/>
          </a:xfrm>
        </p:spPr>
        <p:txBody>
          <a:bodyPr/>
          <a:lstStyle/>
          <a:p>
            <a:pPr>
              <a:lnSpc>
                <a:spcPts val="2880"/>
              </a:lnSpc>
              <a:spcBef>
                <a:spcPts val="0"/>
              </a:spcBef>
            </a:pPr>
            <a:r>
              <a:rPr lang="zh-CN" altLang="en-US" sz="1800" dirty="0" smtClean="0">
                <a:latin typeface="黑体" panose="02010609060101010101" pitchFamily="2" charset="-122"/>
                <a:ea typeface="黑体" panose="02010609060101010101" pitchFamily="2" charset="-122"/>
                <a:cs typeface="黑体" panose="02010609060101010101" pitchFamily="2" charset="-122"/>
              </a:rPr>
              <a:t>默认拷贝构造函数举例</a:t>
            </a:r>
            <a:endParaRPr lang="en-US" altLang="zh-CN" sz="18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class Student{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public:</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Student(char*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400" dirty="0" smtClean="0">
                <a:latin typeface="黑体" panose="02010609060101010101" pitchFamily="2" charset="-122"/>
                <a:ea typeface="黑体" panose="02010609060101010101" pitchFamily="2" charset="-122"/>
                <a:cs typeface="黑体" panose="02010609060101010101" pitchFamily="2" charset="-122"/>
              </a:rPr>
              <a:t>="no name")</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&lt;&lt;"Constructing new student "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strncpy</a:t>
            </a:r>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name,pName,sizeof</a:t>
            </a:r>
            <a:r>
              <a:rPr lang="en-US" altLang="zh-CN" sz="1400" dirty="0" smtClean="0">
                <a:latin typeface="黑体" panose="02010609060101010101" pitchFamily="2" charset="-122"/>
                <a:ea typeface="黑体" panose="02010609060101010101" pitchFamily="2" charset="-122"/>
                <a:cs typeface="黑体" panose="02010609060101010101" pitchFamily="2" charset="-122"/>
              </a:rPr>
              <a:t>(name));</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name[</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sizeof</a:t>
            </a:r>
            <a:r>
              <a:rPr lang="en-US" altLang="zh-CN" sz="1400" dirty="0" smtClean="0">
                <a:latin typeface="黑体" panose="02010609060101010101" pitchFamily="2" charset="-122"/>
                <a:ea typeface="黑体" panose="02010609060101010101" pitchFamily="2" charset="-122"/>
                <a:cs typeface="黑体" panose="02010609060101010101" pitchFamily="2" charset="-122"/>
              </a:rPr>
              <a:t>(name)-1]='\0';</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Student(Student&amp; s) //</a:t>
            </a:r>
            <a:r>
              <a:rPr lang="zh-CN" altLang="en-US" sz="1400" dirty="0" smtClean="0">
                <a:latin typeface="黑体" panose="02010609060101010101" pitchFamily="2" charset="-122"/>
                <a:ea typeface="黑体" panose="02010609060101010101" pitchFamily="2" charset="-122"/>
                <a:cs typeface="黑体" panose="02010609060101010101" pitchFamily="2" charset="-122"/>
              </a:rPr>
              <a:t>拷贝构造函数</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&lt;&lt;"Constructing copy of "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&lt;&lt;s.name &lt;&lt;</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strcpy</a:t>
            </a:r>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name,"copy</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of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strcat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name,s.name</a:t>
            </a:r>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~Student()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&lt;&lt;"Destructing " &lt;&lt;name &lt;&lt;</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private:</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char name[40];</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2880"/>
              </a:lnSpc>
              <a:spcBef>
                <a:spcPts val="0"/>
              </a:spcBef>
            </a:pPr>
            <a:endParaRPr lang="en-US" altLang="zh-CN" sz="1800" dirty="0" smtClean="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a:xfrm>
            <a:off x="762000" y="274638"/>
            <a:ext cx="8229600" cy="868346"/>
          </a:xfrm>
        </p:spPr>
        <p:txBody>
          <a:bodyPr>
            <a:normAutofit/>
          </a:bodyPr>
          <a:lstStyle/>
          <a:p>
            <a:r>
              <a:rPr lang="en-US" altLang="zh-CN" sz="3600" dirty="0" smtClean="0"/>
              <a:t>1.拷贝构造函数</a:t>
            </a:r>
            <a:endParaRPr lang="zh-CN" altLang="en-US" sz="3600" dirty="0"/>
          </a:p>
        </p:txBody>
      </p:sp>
      <p:sp>
        <p:nvSpPr>
          <p:cNvPr id="6" name="矩形 5"/>
          <p:cNvSpPr/>
          <p:nvPr/>
        </p:nvSpPr>
        <p:spPr>
          <a:xfrm>
            <a:off x="8220075" y="1263650"/>
            <a:ext cx="3139440" cy="1814830"/>
          </a:xfrm>
          <a:prstGeom prst="rect">
            <a:avLst/>
          </a:prstGeom>
        </p:spPr>
        <p:txBody>
          <a:bodyPr wrap="square">
            <a:spAutoFit/>
          </a:bodyPr>
          <a:lstStyle/>
          <a:p>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void main()</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 Student randy("Randy");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  Tutor </a:t>
            </a:r>
            <a:r>
              <a:rPr lang="en-US" altLang="zh-CN" sz="1400" dirty="0" err="1" smtClean="0">
                <a:latin typeface="黑体" panose="02010609060101010101" pitchFamily="2" charset="-122"/>
                <a:ea typeface="黑体" panose="02010609060101010101" pitchFamily="2" charset="-122"/>
                <a:cs typeface="黑体" panose="02010609060101010101" pitchFamily="2" charset="-122"/>
                <a:sym typeface="+mn-ea"/>
              </a:rPr>
              <a:t>tutor</a:t>
            </a:r>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  </a:t>
            </a:r>
            <a:r>
              <a:rPr lang="en-US" altLang="zh-CN" sz="1400" dirty="0" err="1" smtClean="0">
                <a:latin typeface="黑体" panose="02010609060101010101" pitchFamily="2" charset="-122"/>
                <a:ea typeface="黑体" panose="02010609060101010101" pitchFamily="2" charset="-122"/>
                <a:cs typeface="黑体" panose="02010609060101010101" pitchFamily="2" charset="-122"/>
                <a:sym typeface="+mn-ea"/>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 &lt;&lt;"Calling fn()\n";</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  fn(tutor);  </a:t>
            </a:r>
            <a:endPar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  </a:t>
            </a:r>
            <a:r>
              <a:rPr lang="en-US" altLang="zh-CN" sz="1400" dirty="0" err="1" smtClean="0">
                <a:latin typeface="黑体" panose="02010609060101010101" pitchFamily="2" charset="-122"/>
                <a:ea typeface="黑体" panose="02010609060101010101" pitchFamily="2" charset="-122"/>
                <a:cs typeface="黑体" panose="02010609060101010101" pitchFamily="2" charset="-122"/>
                <a:sym typeface="+mn-ea"/>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 &lt;&lt;"Returned from fn()\n";</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endParaRPr lang="zh-CN" altLang="en-US" sz="1400" dirty="0">
              <a:latin typeface="黑体" panose="02010609060101010101" pitchFamily="2" charset="-122"/>
              <a:ea typeface="黑体" panose="02010609060101010101" pitchFamily="2" charset="-122"/>
              <a:cs typeface="黑体" panose="02010609060101010101" pitchFamily="2" charset="-122"/>
            </a:endParaRPr>
          </a:p>
        </p:txBody>
      </p:sp>
      <p:sp>
        <p:nvSpPr>
          <p:cNvPr id="4" name="文本框 3"/>
          <p:cNvSpPr txBox="1"/>
          <p:nvPr/>
        </p:nvSpPr>
        <p:spPr>
          <a:xfrm>
            <a:off x="8021955" y="3293745"/>
            <a:ext cx="4046220" cy="2799715"/>
          </a:xfrm>
          <a:prstGeom prst="rect">
            <a:avLst/>
          </a:prstGeom>
        </p:spPr>
        <p:txBody>
          <a:bodyPr vert="horz" wrap="square" lIns="91440" tIns="45720" rIns="91440" bIns="45720" rtlCol="0" anchor="t">
            <a:spAutoFit/>
          </a:bodyPr>
          <a:p>
            <a:pPr marL="0" lvl="0" indent="0" eaLnBrk="1" latinLnBrk="0" hangingPunct="1">
              <a:lnSpc>
                <a:spcPct val="100000"/>
              </a:lnSpc>
              <a:spcBef>
                <a:spcPts val="0"/>
              </a:spcBef>
              <a:buClr>
                <a:schemeClr val="accent2"/>
              </a:buClr>
              <a:buFont typeface="Wingdings" panose="05000000000000000000" pitchFamily="2" charset="2"/>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a:t>
            </a:r>
            <a:r>
              <a:rPr lang="zh-CN" altLang="en-US" sz="1600" dirty="0" smtClean="0">
                <a:latin typeface="黑体" panose="02010609060101010101" pitchFamily="2" charset="-122"/>
                <a:ea typeface="黑体" panose="02010609060101010101" pitchFamily="2" charset="-122"/>
                <a:cs typeface="黑体" panose="02010609060101010101" pitchFamily="2" charset="-122"/>
                <a:sym typeface="+mn-ea"/>
              </a:rPr>
              <a:t>输出结果</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marL="0" lvl="0" indent="0" eaLnBrk="1" latinLnBrk="0" hangingPunct="1">
              <a:lnSpc>
                <a:spcPct val="100000"/>
              </a:lnSpc>
              <a:spcBef>
                <a:spcPts val="0"/>
              </a:spcBef>
              <a:buClr>
                <a:schemeClr val="accent2"/>
              </a:buClr>
              <a:buFont typeface="Wingdings" panose="05000000000000000000" pitchFamily="2" charset="2"/>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1.  Constructing new student 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marL="0" lvl="0" indent="0" eaLnBrk="1" latinLnBrk="0" hangingPunct="1">
              <a:lnSpc>
                <a:spcPct val="100000"/>
              </a:lnSpc>
              <a:spcBef>
                <a:spcPts val="0"/>
              </a:spcBef>
              <a:buClr>
                <a:schemeClr val="accent2"/>
              </a:buClr>
              <a:buFont typeface="Wingdings" panose="05000000000000000000" pitchFamily="2" charset="2"/>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2.  Constructing copy of 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marL="0" lvl="0" indent="0" eaLnBrk="1" latinLnBrk="0" hangingPunct="1">
              <a:lnSpc>
                <a:spcPct val="100000"/>
              </a:lnSpc>
              <a:spcBef>
                <a:spcPts val="0"/>
              </a:spcBef>
              <a:buClr>
                <a:schemeClr val="accent2"/>
              </a:buClr>
              <a:buFont typeface="Wingdings" panose="05000000000000000000" pitchFamily="2" charset="2"/>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3.  Constructing tutor</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marL="0" lvl="0" indent="0" eaLnBrk="1" latinLnBrk="0" hangingPunct="1">
              <a:lnSpc>
                <a:spcPct val="100000"/>
              </a:lnSpc>
              <a:spcBef>
                <a:spcPts val="0"/>
              </a:spcBef>
              <a:buClr>
                <a:schemeClr val="accent2"/>
              </a:buClr>
              <a:buFont typeface="Wingdings" panose="05000000000000000000" pitchFamily="2" charset="2"/>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4.  Calling fn()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marL="0" lvl="0" indent="0" eaLnBrk="1" latinLnBrk="0" hangingPunct="1">
              <a:lnSpc>
                <a:spcPct val="100000"/>
              </a:lnSpc>
              <a:spcBef>
                <a:spcPts val="0"/>
              </a:spcBef>
              <a:buClr>
                <a:schemeClr val="accent2"/>
              </a:buClr>
              <a:buFont typeface="Wingdings" panose="05000000000000000000" pitchFamily="2" charset="2"/>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5.  Constructing copy of copy of 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marL="0" lvl="0" indent="0" eaLnBrk="1" latinLnBrk="0" hangingPunct="1">
              <a:lnSpc>
                <a:spcPct val="100000"/>
              </a:lnSpc>
              <a:spcBef>
                <a:spcPts val="0"/>
              </a:spcBef>
              <a:buClr>
                <a:schemeClr val="accent2"/>
              </a:buClr>
              <a:buFont typeface="Wingdings" panose="05000000000000000000" pitchFamily="2" charset="2"/>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6.  In function fn()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marL="0" lvl="0" indent="0" eaLnBrk="1" latinLnBrk="0" hangingPunct="1">
              <a:lnSpc>
                <a:spcPct val="100000"/>
              </a:lnSpc>
              <a:spcBef>
                <a:spcPts val="0"/>
              </a:spcBef>
              <a:buClr>
                <a:schemeClr val="accent2"/>
              </a:buClr>
              <a:buFont typeface="Wingdings" panose="05000000000000000000" pitchFamily="2" charset="2"/>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7.  Destructing copy of copy of 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marL="0" lvl="0" indent="0" eaLnBrk="1" latinLnBrk="0" hangingPunct="1">
              <a:lnSpc>
                <a:spcPct val="100000"/>
              </a:lnSpc>
              <a:spcBef>
                <a:spcPts val="0"/>
              </a:spcBef>
              <a:buClr>
                <a:schemeClr val="accent2"/>
              </a:buClr>
              <a:buFont typeface="Wingdings" panose="05000000000000000000" pitchFamily="2" charset="2"/>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8.  Returned from fn()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marL="0" lvl="0" indent="0" eaLnBrk="1" latinLnBrk="0" hangingPunct="1">
              <a:lnSpc>
                <a:spcPct val="100000"/>
              </a:lnSpc>
              <a:spcBef>
                <a:spcPts val="0"/>
              </a:spcBef>
              <a:buClr>
                <a:schemeClr val="accent2"/>
              </a:buClr>
              <a:buFont typeface="Wingdings" panose="05000000000000000000" pitchFamily="2" charset="2"/>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9.  Destructing copy of 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endParaRPr>
          </a:p>
          <a:p>
            <a:pPr marL="0" lvl="0" indent="0" eaLnBrk="1" latinLnBrk="0" hangingPunct="1">
              <a:lnSpc>
                <a:spcPct val="100000"/>
              </a:lnSpc>
              <a:spcBef>
                <a:spcPts val="0"/>
              </a:spcBef>
              <a:buClr>
                <a:schemeClr val="accent2"/>
              </a:buClr>
              <a:buFont typeface="Wingdings" panose="05000000000000000000" pitchFamily="2" charset="2"/>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rPr>
              <a:t>10. Destructing 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9" name="矩形 8"/>
          <p:cNvSpPr/>
          <p:nvPr/>
        </p:nvSpPr>
        <p:spPr>
          <a:xfrm>
            <a:off x="3983990" y="1048385"/>
            <a:ext cx="4037965" cy="2461260"/>
          </a:xfrm>
          <a:prstGeom prst="rect">
            <a:avLst/>
          </a:prstGeom>
        </p:spPr>
        <p:txBody>
          <a:bodyPr wrap="square">
            <a:spAutoFit/>
          </a:bodyPr>
          <a:p>
            <a:r>
              <a:rPr lang="en-US" altLang="zh-CN" sz="1400" dirty="0" smtClean="0">
                <a:latin typeface="黑体" panose="02010609060101010101" pitchFamily="2" charset="-122"/>
                <a:ea typeface="黑体" panose="02010609060101010101" pitchFamily="2" charset="-122"/>
                <a:cs typeface="黑体" panose="02010609060101010101" pitchFamily="2" charset="-122"/>
              </a:rPr>
              <a:t>class Tutor{</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Public: </a:t>
            </a:r>
            <a:r>
              <a:rPr lang="en-US" altLang="zh-CN"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a:t>
            </a:r>
            <a:r>
              <a:rPr lang="zh-CN" altLang="en-US"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构造函数用引用的方法来做参数</a:t>
            </a:r>
            <a:endParaRPr lang="en-US" altLang="zh-CN"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Tutor(Student&amp; s):student(s)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&lt;&lt;"Constructing tutor\n";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private:</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r>
              <a:rPr lang="en-US" altLang="zh-CN" sz="1400" b="1" dirty="0" smtClean="0">
                <a:latin typeface="黑体" panose="02010609060101010101" pitchFamily="2" charset="-122"/>
                <a:ea typeface="黑体" panose="02010609060101010101" pitchFamily="2" charset="-122"/>
                <a:cs typeface="黑体" panose="02010609060101010101" pitchFamily="2" charset="-122"/>
              </a:rPr>
              <a:t>Student </a:t>
            </a:r>
            <a:r>
              <a:rPr lang="en-US" altLang="zh-CN" sz="1400" b="1" dirty="0" err="1" smtClean="0">
                <a:latin typeface="黑体" panose="02010609060101010101" pitchFamily="2" charset="-122"/>
                <a:ea typeface="黑体" panose="02010609060101010101" pitchFamily="2" charset="-122"/>
                <a:cs typeface="黑体" panose="02010609060101010101" pitchFamily="2" charset="-122"/>
              </a:rPr>
              <a:t>student</a:t>
            </a:r>
            <a:r>
              <a:rPr lang="en-US" altLang="zh-CN" sz="1400" b="1" dirty="0" smtClean="0">
                <a:latin typeface="黑体" panose="02010609060101010101" pitchFamily="2" charset="-122"/>
                <a:ea typeface="黑体" panose="02010609060101010101" pitchFamily="2" charset="-122"/>
                <a:cs typeface="黑体" panose="02010609060101010101" pitchFamily="2" charset="-122"/>
              </a:rPr>
              <a:t>;  //copy of Randy</a:t>
            </a:r>
            <a:endParaRPr lang="en-US" altLang="zh-CN"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endPar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void fn(Tutor </a:t>
            </a:r>
            <a:r>
              <a:rPr lang="en-US" altLang="zh-CN" sz="1400" dirty="0" err="1" smtClean="0">
                <a:latin typeface="黑体" panose="02010609060101010101" pitchFamily="2" charset="-122"/>
                <a:ea typeface="黑体" panose="02010609060101010101" pitchFamily="2" charset="-122"/>
                <a:cs typeface="黑体" panose="02010609060101010101" pitchFamily="2" charset="-122"/>
                <a:sym typeface="+mn-ea"/>
              </a:rPr>
              <a:t>tutor</a:t>
            </a:r>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  </a:t>
            </a:r>
            <a:r>
              <a:rPr lang="en-US" altLang="zh-CN" sz="1400" dirty="0" err="1" smtClean="0">
                <a:latin typeface="黑体" panose="02010609060101010101" pitchFamily="2" charset="-122"/>
                <a:ea typeface="黑体" panose="02010609060101010101" pitchFamily="2" charset="-122"/>
                <a:cs typeface="黑体" panose="02010609060101010101" pitchFamily="2" charset="-122"/>
                <a:sym typeface="+mn-ea"/>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sym typeface="+mn-ea"/>
              </a:rPr>
              <a:t> &lt;&lt;"In function fn()\n";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endParaRPr lang="zh-CN" altLang="en-US" sz="1400" dirty="0">
              <a:latin typeface="黑体" panose="02010609060101010101" pitchFamily="2" charset="-122"/>
              <a:ea typeface="黑体" panose="02010609060101010101" pitchFamily="2" charset="-122"/>
              <a:cs typeface="黑体" panose="0201060906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26359" y="980740"/>
            <a:ext cx="8429684" cy="4500594"/>
          </a:xfrm>
        </p:spPr>
        <p:txBody>
          <a:bodyPr/>
          <a:lstStyle/>
          <a:p>
            <a:pPr>
              <a:lnSpc>
                <a:spcPts val="2880"/>
              </a:lnSpc>
              <a:spcBef>
                <a:spcPts val="0"/>
              </a:spcBef>
            </a:pPr>
            <a:r>
              <a:rPr lang="zh-CN" altLang="en-US" sz="1800" dirty="0" smtClean="0"/>
              <a:t>默认拷贝构造函数举例</a:t>
            </a:r>
            <a:r>
              <a:rPr lang="en-US" altLang="zh-CN" sz="1800" dirty="0" smtClean="0"/>
              <a:t>2</a:t>
            </a:r>
            <a:endParaRPr lang="en-US" altLang="zh-CN" sz="1800" dirty="0" smtClean="0"/>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class Student{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public:</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Student(char*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400" dirty="0" smtClean="0">
                <a:latin typeface="黑体" panose="02010609060101010101" pitchFamily="2" charset="-122"/>
                <a:ea typeface="黑体" panose="02010609060101010101" pitchFamily="2" charset="-122"/>
                <a:cs typeface="黑体" panose="02010609060101010101" pitchFamily="2" charset="-122"/>
              </a:rPr>
              <a:t>="no name")</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&lt;&lt;"Constructing new student "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Student(Student&amp; s) //</a:t>
            </a:r>
            <a:r>
              <a:rPr lang="zh-CN" altLang="en-US" sz="1400" dirty="0" smtClean="0">
                <a:latin typeface="黑体" panose="02010609060101010101" pitchFamily="2" charset="-122"/>
                <a:ea typeface="黑体" panose="02010609060101010101" pitchFamily="2" charset="-122"/>
                <a:cs typeface="黑体" panose="02010609060101010101" pitchFamily="2" charset="-122"/>
              </a:rPr>
              <a:t>拷贝构造函数</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&lt;&lt;"Constructing copy of "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&lt;&lt;s.name &lt;&lt;</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~Student()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&lt;&lt;"Destructing " &lt;&lt;name &lt;&lt;</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private:</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char name[40];</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class Tutor{</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public:</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Tutor(Student s):student(s) //</a:t>
            </a:r>
            <a:r>
              <a:rPr lang="zh-CN" altLang="en-US"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去掉</a:t>
            </a:r>
            <a:r>
              <a:rPr lang="en-US" altLang="zh-CN"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&amp;，</a:t>
            </a:r>
            <a:r>
              <a:rPr lang="zh-CN" altLang="en-US"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构造函数用形参</a:t>
            </a:r>
            <a:endParaRPr lang="en-US" altLang="zh-CN"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&lt;&lt;"Constructing tutor\n";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private:</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r>
              <a:rPr lang="en-US" altLang="zh-CN"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Student </a:t>
            </a:r>
            <a:r>
              <a:rPr lang="en-US" altLang="zh-CN" sz="1400" b="1" dirty="0" err="1" smtClean="0">
                <a:solidFill>
                  <a:srgbClr val="FF0000"/>
                </a:solidFill>
                <a:latin typeface="黑体" panose="02010609060101010101" pitchFamily="2" charset="-122"/>
                <a:ea typeface="黑体" panose="02010609060101010101" pitchFamily="2" charset="-122"/>
                <a:cs typeface="黑体" panose="02010609060101010101" pitchFamily="2" charset="-122"/>
              </a:rPr>
              <a:t>student</a:t>
            </a:r>
            <a:r>
              <a:rPr lang="en-US" altLang="zh-CN"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rPr>
              <a:t>;  </a:t>
            </a:r>
            <a:endParaRPr lang="en-US" altLang="zh-CN" sz="1400" b="1"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pPr>
              <a:lnSpc>
                <a:spcPts val="1800"/>
              </a:lnSpc>
              <a:spcBef>
                <a:spcPts val="0"/>
              </a:spcBef>
              <a:buNone/>
            </a:pPr>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endParaRPr lang="zh-CN" altLang="en-US" sz="1400" dirty="0" smtClean="0"/>
          </a:p>
          <a:p>
            <a:pPr>
              <a:lnSpc>
                <a:spcPts val="2880"/>
              </a:lnSpc>
              <a:spcBef>
                <a:spcPts val="0"/>
              </a:spcBef>
              <a:buNone/>
            </a:pPr>
            <a:endParaRPr lang="en-US" altLang="zh-CN" sz="1800" dirty="0" smtClean="0"/>
          </a:p>
        </p:txBody>
      </p:sp>
      <p:sp>
        <p:nvSpPr>
          <p:cNvPr id="3" name="标题 2"/>
          <p:cNvSpPr>
            <a:spLocks noGrp="1"/>
          </p:cNvSpPr>
          <p:nvPr>
            <p:ph type="title"/>
          </p:nvPr>
        </p:nvSpPr>
        <p:spPr>
          <a:xfrm>
            <a:off x="735965" y="213678"/>
            <a:ext cx="8229600" cy="868346"/>
          </a:xfrm>
        </p:spPr>
        <p:txBody>
          <a:bodyPr>
            <a:normAutofit/>
          </a:bodyPr>
          <a:lstStyle/>
          <a:p>
            <a:r>
              <a:rPr lang="en-US" altLang="zh-CN" sz="3600" dirty="0" smtClean="0"/>
              <a:t>1.拷贝构造函数</a:t>
            </a:r>
            <a:endParaRPr lang="zh-CN" altLang="en-US" sz="3600" dirty="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sp>
        <p:nvSpPr>
          <p:cNvPr id="7" name="矩形 6"/>
          <p:cNvSpPr/>
          <p:nvPr/>
        </p:nvSpPr>
        <p:spPr>
          <a:xfrm>
            <a:off x="6667502" y="980735"/>
            <a:ext cx="4071998" cy="5046345"/>
          </a:xfrm>
          <a:prstGeom prst="rect">
            <a:avLst/>
          </a:prstGeom>
        </p:spPr>
        <p:txBody>
          <a:bodyPr wrap="square">
            <a:spAutoFit/>
          </a:bodyPr>
          <a:lstStyle/>
          <a:p>
            <a:r>
              <a:rPr lang="en-US" altLang="zh-CN" sz="1400" dirty="0" smtClean="0">
                <a:latin typeface="黑体" panose="02010609060101010101" pitchFamily="2" charset="-122"/>
                <a:ea typeface="黑体" panose="02010609060101010101" pitchFamily="2" charset="-122"/>
                <a:cs typeface="黑体" panose="02010609060101010101" pitchFamily="2" charset="-122"/>
              </a:rPr>
              <a:t>void fn(Tutor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tutor</a:t>
            </a:r>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&lt;&lt;"In function fn()\n"; }</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void main()</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 Student randy("Randy");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  Tutor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tutor</a:t>
            </a:r>
            <a:r>
              <a:rPr lang="en-US" altLang="zh-CN" sz="1400" dirty="0" smtClean="0">
                <a:latin typeface="黑体" panose="02010609060101010101" pitchFamily="2" charset="-122"/>
                <a:ea typeface="黑体" panose="02010609060101010101" pitchFamily="2" charset="-122"/>
                <a:cs typeface="黑体" panose="02010609060101010101" pitchFamily="2" charset="-122"/>
              </a:rPr>
              <a:t>(randy);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&lt;&lt;"Calling fn()\n";</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  fn(tutor); //</a:t>
            </a:r>
            <a:r>
              <a:rPr lang="zh-CN" altLang="en-US" sz="1400" dirty="0" smtClean="0">
                <a:latin typeface="黑体" panose="02010609060101010101" pitchFamily="2" charset="-122"/>
                <a:ea typeface="黑体" panose="02010609060101010101" pitchFamily="2" charset="-122"/>
                <a:cs typeface="黑体" panose="02010609060101010101" pitchFamily="2" charset="-122"/>
              </a:rPr>
              <a:t>没有调用</a:t>
            </a:r>
            <a:r>
              <a:rPr lang="en-US" altLang="zh-CN" sz="1400" dirty="0" smtClean="0">
                <a:latin typeface="黑体" panose="02010609060101010101" pitchFamily="2" charset="-122"/>
                <a:ea typeface="黑体" panose="02010609060101010101" pitchFamily="2" charset="-122"/>
                <a:cs typeface="黑体" panose="02010609060101010101" pitchFamily="2" charset="-122"/>
              </a:rPr>
              <a:t>Tutor</a:t>
            </a:r>
            <a:r>
              <a:rPr lang="zh-CN" altLang="en-US" sz="1400" dirty="0" smtClean="0">
                <a:latin typeface="黑体" panose="02010609060101010101" pitchFamily="2" charset="-122"/>
                <a:ea typeface="黑体" panose="02010609060101010101" pitchFamily="2" charset="-122"/>
                <a:cs typeface="黑体" panose="02010609060101010101" pitchFamily="2" charset="-122"/>
              </a:rPr>
              <a:t>的构造函数</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  </a:t>
            </a:r>
            <a:r>
              <a:rPr lang="en-US" altLang="zh-CN" sz="14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400" dirty="0" smtClean="0">
                <a:latin typeface="黑体" panose="02010609060101010101" pitchFamily="2" charset="-122"/>
                <a:ea typeface="黑体" panose="02010609060101010101" pitchFamily="2" charset="-122"/>
                <a:cs typeface="黑体" panose="02010609060101010101" pitchFamily="2" charset="-122"/>
              </a:rPr>
              <a:t> &lt;&lt;"Returned from fn()\n";</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a:t>
            </a:r>
            <a:r>
              <a:rPr lang="zh-CN" altLang="en-US" sz="1400" dirty="0" smtClean="0">
                <a:latin typeface="黑体" panose="02010609060101010101" pitchFamily="2" charset="-122"/>
                <a:ea typeface="黑体" panose="02010609060101010101" pitchFamily="2" charset="-122"/>
                <a:cs typeface="黑体" panose="02010609060101010101" pitchFamily="2" charset="-122"/>
              </a:rPr>
              <a:t>输出结果</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Constructing new student 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Constructing copy of 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Constructing copy of copy of 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Constructing tutor</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Destructing copy of 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Calling fn()</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Constructing copy of copy of copy of 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In function fn()</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Destructing copy of copy of copy of 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Returned from fn()</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Destructing copy of copy of 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Destructing 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80365" y="856615"/>
            <a:ext cx="3726180" cy="553720"/>
          </a:xfrm>
        </p:spPr>
        <p:txBody>
          <a:bodyPr/>
          <a:lstStyle/>
          <a:p>
            <a:pPr>
              <a:lnSpc>
                <a:spcPts val="2880"/>
              </a:lnSpc>
              <a:spcBef>
                <a:spcPts val="0"/>
              </a:spcBef>
            </a:pPr>
            <a:r>
              <a:rPr lang="zh-CN" altLang="en-US" sz="2000" dirty="0" smtClean="0"/>
              <a:t>复合类</a:t>
            </a:r>
            <a:r>
              <a:rPr lang="en-US" altLang="zh-CN" sz="2000" dirty="0" smtClean="0"/>
              <a:t>+</a:t>
            </a:r>
            <a:r>
              <a:rPr lang="zh-CN" altLang="en-US" sz="2000" dirty="0" smtClean="0"/>
              <a:t>拷贝构造</a:t>
            </a:r>
            <a:endParaRPr lang="en-US" altLang="zh-CN" sz="2000" dirty="0" smtClean="0"/>
          </a:p>
          <a:p>
            <a:pPr>
              <a:lnSpc>
                <a:spcPts val="2000"/>
              </a:lnSpc>
              <a:spcBef>
                <a:spcPts val="0"/>
              </a:spcBef>
              <a:buNone/>
            </a:pPr>
            <a:endParaRPr lang="en-US" altLang="zh-CN" sz="1800" dirty="0" smtClean="0"/>
          </a:p>
        </p:txBody>
      </p:sp>
      <p:sp>
        <p:nvSpPr>
          <p:cNvPr id="3" name="标题 2"/>
          <p:cNvSpPr>
            <a:spLocks noGrp="1"/>
          </p:cNvSpPr>
          <p:nvPr>
            <p:ph type="title"/>
          </p:nvPr>
        </p:nvSpPr>
        <p:spPr>
          <a:xfrm>
            <a:off x="762000" y="179388"/>
            <a:ext cx="8229600" cy="868346"/>
          </a:xfrm>
        </p:spPr>
        <p:txBody>
          <a:bodyPr>
            <a:normAutofit/>
          </a:bodyPr>
          <a:lstStyle/>
          <a:p>
            <a:r>
              <a:rPr lang="en-US" altLang="zh-CN" sz="3600" dirty="0" smtClean="0"/>
              <a:t>1.拷贝构造函数</a:t>
            </a:r>
            <a:endParaRPr lang="zh-CN" altLang="en-US" sz="3600" dirty="0"/>
          </a:p>
        </p:txBody>
      </p:sp>
      <p:pic>
        <p:nvPicPr>
          <p:cNvPr id="8" name="图片 7"/>
          <p:cNvPicPr>
            <a:picLocks noChangeAspect="1"/>
          </p:cNvPicPr>
          <p:nvPr/>
        </p:nvPicPr>
        <p:blipFill>
          <a:blip r:embed="rId1"/>
          <a:stretch>
            <a:fillRect/>
          </a:stretch>
        </p:blipFill>
        <p:spPr>
          <a:xfrm>
            <a:off x="487680" y="1339215"/>
            <a:ext cx="4961890" cy="5380990"/>
          </a:xfrm>
          <a:prstGeom prst="rect">
            <a:avLst/>
          </a:prstGeom>
        </p:spPr>
      </p:pic>
      <p:pic>
        <p:nvPicPr>
          <p:cNvPr id="9" name="图片 8"/>
          <p:cNvPicPr>
            <a:picLocks noChangeAspect="1"/>
          </p:cNvPicPr>
          <p:nvPr/>
        </p:nvPicPr>
        <p:blipFill>
          <a:blip r:embed="rId2"/>
          <a:stretch>
            <a:fillRect/>
          </a:stretch>
        </p:blipFill>
        <p:spPr>
          <a:xfrm>
            <a:off x="7120890" y="496570"/>
            <a:ext cx="2118995" cy="2206625"/>
          </a:xfrm>
          <a:prstGeom prst="rect">
            <a:avLst/>
          </a:prstGeom>
        </p:spPr>
      </p:pic>
      <p:pic>
        <p:nvPicPr>
          <p:cNvPr id="12" name="图片 11"/>
          <p:cNvPicPr>
            <a:picLocks noChangeAspect="1"/>
          </p:cNvPicPr>
          <p:nvPr/>
        </p:nvPicPr>
        <p:blipFill>
          <a:blip r:embed="rId3"/>
          <a:stretch>
            <a:fillRect/>
          </a:stretch>
        </p:blipFill>
        <p:spPr>
          <a:xfrm>
            <a:off x="6877685" y="3114040"/>
            <a:ext cx="3443605" cy="324421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30530" y="987425"/>
            <a:ext cx="10721340" cy="4051935"/>
          </a:xfrm>
        </p:spPr>
        <p:txBody>
          <a:bodyPr/>
          <a:lstStyle/>
          <a:p>
            <a:pPr>
              <a:lnSpc>
                <a:spcPts val="2880"/>
              </a:lnSpc>
              <a:spcBef>
                <a:spcPts val="0"/>
              </a:spcBef>
            </a:pPr>
            <a:r>
              <a:rPr lang="zh-CN" altLang="en-US" sz="2000" dirty="0" smtClean="0"/>
              <a:t>默认拷贝构造函数就是将源对象中的数据成员值逐个拷贝到目标对象中。</a:t>
            </a:r>
            <a:endParaRPr lang="en-US" altLang="zh-CN" sz="2000" dirty="0" smtClean="0"/>
          </a:p>
          <a:p>
            <a:pPr lvl="1">
              <a:lnSpc>
                <a:spcPts val="2880"/>
              </a:lnSpc>
              <a:spcBef>
                <a:spcPts val="0"/>
              </a:spcBef>
            </a:pPr>
            <a:r>
              <a:rPr lang="zh-CN" altLang="en-US" sz="1600" dirty="0" smtClean="0"/>
              <a:t>如果成员是类对象（即复合类），则调用该成员的默认拷贝构造函数</a:t>
            </a:r>
            <a:endParaRPr lang="en-US" altLang="zh-CN" sz="1600" dirty="0" smtClean="0"/>
          </a:p>
          <a:p>
            <a:pPr>
              <a:lnSpc>
                <a:spcPts val="2880"/>
              </a:lnSpc>
              <a:spcBef>
                <a:spcPts val="0"/>
              </a:spcBef>
            </a:pPr>
            <a:r>
              <a:rPr lang="zh-CN" altLang="en-US" sz="2000" dirty="0" smtClean="0"/>
              <a:t>默认拷贝构造函数是一种浅拷贝</a:t>
            </a:r>
            <a:endParaRPr lang="en-US" altLang="zh-CN" sz="1600" dirty="0" smtClean="0"/>
          </a:p>
          <a:p>
            <a:pPr>
              <a:lnSpc>
                <a:spcPts val="2880"/>
              </a:lnSpc>
              <a:spcBef>
                <a:spcPts val="0"/>
              </a:spcBef>
            </a:pPr>
            <a:r>
              <a:rPr lang="zh-CN" altLang="en-US" sz="2000" dirty="0" smtClean="0">
                <a:sym typeface="+mn-ea"/>
              </a:rPr>
              <a:t>浅拷贝就是对象数据的直接复制</a:t>
            </a:r>
            <a:endParaRPr lang="en-US" altLang="zh-CN" sz="2000" dirty="0" smtClean="0"/>
          </a:p>
          <a:p>
            <a:pPr>
              <a:lnSpc>
                <a:spcPts val="2880"/>
              </a:lnSpc>
              <a:spcBef>
                <a:spcPts val="0"/>
              </a:spcBef>
            </a:pPr>
            <a:endParaRPr lang="zh-CN" altLang="en-US" sz="2000" dirty="0" smtClean="0"/>
          </a:p>
          <a:p>
            <a:pPr marL="342900" indent="-342900" eaLnBrk="1" hangingPunct="1">
              <a:lnSpc>
                <a:spcPts val="2000"/>
              </a:lnSpc>
              <a:spcBef>
                <a:spcPct val="20000"/>
              </a:spcBef>
              <a:buClr>
                <a:srgbClr val="FF5050"/>
              </a:buClr>
              <a:buNone/>
              <a:defRPr/>
            </a:pPr>
            <a:endParaRPr lang="en-US" altLang="zh-CN" sz="1800" dirty="0" smtClean="0"/>
          </a:p>
          <a:p>
            <a:pPr marL="342900" indent="-342900" eaLnBrk="1" hangingPunct="1">
              <a:spcBef>
                <a:spcPct val="20000"/>
              </a:spcBef>
              <a:buClr>
                <a:srgbClr val="FF5050"/>
              </a:buClr>
              <a:buNone/>
            </a:pPr>
            <a:endParaRPr lang="zh-CN" altLang="en-US" sz="1800" dirty="0" smtClean="0"/>
          </a:p>
          <a:p>
            <a:pPr>
              <a:lnSpc>
                <a:spcPts val="2880"/>
              </a:lnSpc>
              <a:spcBef>
                <a:spcPts val="0"/>
              </a:spcBef>
            </a:pPr>
            <a:endParaRPr lang="en-US" altLang="zh-CN" sz="1800" dirty="0" smtClean="0"/>
          </a:p>
        </p:txBody>
      </p:sp>
      <p:sp>
        <p:nvSpPr>
          <p:cNvPr id="3" name="标题 2"/>
          <p:cNvSpPr>
            <a:spLocks noGrp="1"/>
          </p:cNvSpPr>
          <p:nvPr>
            <p:ph type="title"/>
          </p:nvPr>
        </p:nvSpPr>
        <p:spPr>
          <a:xfrm>
            <a:off x="814070" y="187643"/>
            <a:ext cx="8229600" cy="868346"/>
          </a:xfrm>
        </p:spPr>
        <p:txBody>
          <a:bodyPr>
            <a:normAutofit/>
          </a:bodyPr>
          <a:lstStyle/>
          <a:p>
            <a:r>
              <a:rPr lang="en-US" altLang="zh-CN" sz="3600" dirty="0" smtClean="0"/>
              <a:t>1.拷贝构造函数</a:t>
            </a:r>
            <a:endParaRPr lang="zh-CN" altLang="en-US" sz="36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575685" y="1315720"/>
            <a:ext cx="6001385" cy="4664075"/>
          </a:xfrm>
          <a:prstGeom prst="rect">
            <a:avLst/>
          </a:prstGeom>
        </p:spPr>
        <p:txBody>
          <a:bodyPr vert="horz" lIns="91440" tIns="45720" rIns="91440" bIns="45720" rtlCol="0">
            <a:noAutofit/>
          </a:bodyPr>
          <a:lstStyle/>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拷贝构造函数</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深拷贝</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各种对象</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构造函数与类型转换</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en-US" altLang="zh-CN" sz="2800" b="0" i="0" u="none" strike="noStrike" kern="1200" cap="none" spc="0" normalizeH="0" baseline="0" noProof="0" dirty="0" smtClean="0">
              <a:ln>
                <a:noFill/>
              </a:ln>
              <a:solidFill>
                <a:schemeClr val="tx1"/>
              </a:solidFill>
              <a:effectLst/>
              <a:uLnTx/>
              <a:uFillTx/>
              <a:latin typeface="黑体" panose="02010609060101010101" pitchFamily="2" charset="-122"/>
              <a:ea typeface="黑体" panose="02010609060101010101" pitchFamily="2" charset="-122"/>
              <a:cs typeface="+mn-cs"/>
              <a:sym typeface="+mn-lt"/>
            </a:endParaRPr>
          </a:p>
        </p:txBody>
      </p:sp>
      <p:sp>
        <p:nvSpPr>
          <p:cNvPr id="8" name="矩形 7"/>
          <p:cNvSpPr/>
          <p:nvPr/>
        </p:nvSpPr>
        <p:spPr>
          <a:xfrm>
            <a:off x="4041775" y="1864995"/>
            <a:ext cx="3390265" cy="3911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spd="med">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30530" y="987425"/>
            <a:ext cx="10721340" cy="4051935"/>
          </a:xfrm>
        </p:spPr>
        <p:txBody>
          <a:bodyPr/>
          <a:lstStyle/>
          <a:p>
            <a:pPr>
              <a:lnSpc>
                <a:spcPts val="2880"/>
              </a:lnSpc>
              <a:spcBef>
                <a:spcPts val="0"/>
              </a:spcBef>
            </a:pPr>
            <a:r>
              <a:rPr lang="zh-CN" altLang="en-US" sz="2000" dirty="0" smtClean="0">
                <a:sym typeface="+mn-ea"/>
              </a:rPr>
              <a:t>浅拷贝就是对象数据的直接复制</a:t>
            </a:r>
            <a:endParaRPr lang="en-US" altLang="zh-CN" sz="2000" dirty="0" smtClean="0"/>
          </a:p>
          <a:p>
            <a:pPr>
              <a:lnSpc>
                <a:spcPts val="2880"/>
              </a:lnSpc>
              <a:spcBef>
                <a:spcPts val="0"/>
              </a:spcBef>
            </a:pPr>
            <a:r>
              <a:rPr lang="zh-CN" altLang="en-US" sz="2000" dirty="0" smtClean="0">
                <a:sym typeface="+mn-ea"/>
              </a:rPr>
              <a:t>浅拷贝引发的问题的两条件：</a:t>
            </a:r>
            <a:endParaRPr lang="en-US" altLang="zh-CN" sz="2000" dirty="0" smtClean="0"/>
          </a:p>
          <a:p>
            <a:pPr lvl="1">
              <a:lnSpc>
                <a:spcPts val="2880"/>
              </a:lnSpc>
              <a:spcBef>
                <a:spcPts val="0"/>
              </a:spcBef>
            </a:pPr>
            <a:r>
              <a:rPr lang="zh-CN" altLang="en-US" sz="2000" dirty="0" smtClean="0">
                <a:sym typeface="+mn-ea"/>
              </a:rPr>
              <a:t>当数据成员是指针，且在构造函数为它动态分配空间</a:t>
            </a:r>
            <a:endParaRPr lang="en-US" altLang="zh-CN" sz="2000" dirty="0" smtClean="0"/>
          </a:p>
          <a:p>
            <a:pPr lvl="1">
              <a:lnSpc>
                <a:spcPts val="2880"/>
              </a:lnSpc>
              <a:spcBef>
                <a:spcPts val="0"/>
              </a:spcBef>
            </a:pPr>
            <a:r>
              <a:rPr lang="zh-CN" altLang="en-US" sz="2000" dirty="0" smtClean="0">
                <a:sym typeface="+mn-ea"/>
              </a:rPr>
              <a:t>如果在拷贝构造中没有动态分配空间，将可能引发错误</a:t>
            </a:r>
            <a:endParaRPr lang="en-US" altLang="zh-CN" sz="2000" dirty="0" smtClean="0"/>
          </a:p>
          <a:p>
            <a:pPr>
              <a:lnSpc>
                <a:spcPts val="2880"/>
              </a:lnSpc>
              <a:spcBef>
                <a:spcPts val="0"/>
              </a:spcBef>
            </a:pPr>
            <a:endParaRPr lang="en-US" altLang="zh-CN" sz="2000" dirty="0" smtClean="0"/>
          </a:p>
          <a:p>
            <a:pPr>
              <a:lnSpc>
                <a:spcPts val="1800"/>
              </a:lnSpc>
              <a:spcBef>
                <a:spcPts val="0"/>
              </a:spcBef>
              <a:buNone/>
            </a:pPr>
            <a:endParaRPr lang="en-US" altLang="zh-CN" sz="1400" dirty="0" smtClean="0"/>
          </a:p>
          <a:p>
            <a:pPr>
              <a:lnSpc>
                <a:spcPts val="2880"/>
              </a:lnSpc>
              <a:spcBef>
                <a:spcPts val="0"/>
              </a:spcBef>
            </a:pPr>
            <a:endParaRPr lang="zh-CN" altLang="en-US" sz="2000" dirty="0" smtClean="0"/>
          </a:p>
          <a:p>
            <a:pPr marL="342900" indent="-342900" eaLnBrk="1" hangingPunct="1">
              <a:lnSpc>
                <a:spcPts val="2000"/>
              </a:lnSpc>
              <a:spcBef>
                <a:spcPct val="20000"/>
              </a:spcBef>
              <a:buClr>
                <a:srgbClr val="FF5050"/>
              </a:buClr>
              <a:buNone/>
              <a:defRPr/>
            </a:pPr>
            <a:endParaRPr lang="en-US" altLang="zh-CN" sz="1800" dirty="0" smtClean="0"/>
          </a:p>
          <a:p>
            <a:pPr marL="342900" indent="-342900" eaLnBrk="1" hangingPunct="1">
              <a:spcBef>
                <a:spcPct val="20000"/>
              </a:spcBef>
              <a:buClr>
                <a:srgbClr val="FF5050"/>
              </a:buClr>
              <a:buNone/>
            </a:pPr>
            <a:endParaRPr lang="zh-CN" altLang="en-US" sz="1800" dirty="0" smtClean="0"/>
          </a:p>
          <a:p>
            <a:pPr>
              <a:lnSpc>
                <a:spcPts val="2880"/>
              </a:lnSpc>
              <a:spcBef>
                <a:spcPts val="0"/>
              </a:spcBef>
            </a:pPr>
            <a:endParaRPr lang="en-US" altLang="zh-CN" sz="1800" dirty="0" smtClean="0"/>
          </a:p>
        </p:txBody>
      </p:sp>
      <p:sp>
        <p:nvSpPr>
          <p:cNvPr id="3" name="标题 2"/>
          <p:cNvSpPr>
            <a:spLocks noGrp="1"/>
          </p:cNvSpPr>
          <p:nvPr>
            <p:ph type="title"/>
          </p:nvPr>
        </p:nvSpPr>
        <p:spPr>
          <a:xfrm>
            <a:off x="814070" y="187643"/>
            <a:ext cx="8229600" cy="868346"/>
          </a:xfrm>
        </p:spPr>
        <p:txBody>
          <a:bodyPr>
            <a:normAutofit/>
          </a:bodyPr>
          <a:lstStyle/>
          <a:p>
            <a:r>
              <a:rPr lang="en-US" altLang="zh-CN" sz="3600" dirty="0" smtClean="0"/>
              <a:t>2.</a:t>
            </a:r>
            <a:r>
              <a:rPr lang="zh-CN" altLang="en-US" sz="3600" dirty="0" smtClean="0"/>
              <a:t>深</a:t>
            </a:r>
            <a:r>
              <a:rPr lang="en-US" altLang="zh-CN" sz="3600" dirty="0" smtClean="0"/>
              <a:t>拷贝</a:t>
            </a:r>
            <a:endParaRPr lang="zh-CN" altLang="en-US" sz="36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87321" y="935339"/>
            <a:ext cx="8429684" cy="4500594"/>
          </a:xfrm>
        </p:spPr>
        <p:txBody>
          <a:bodyPr/>
          <a:lstStyle/>
          <a:p>
            <a:pPr>
              <a:lnSpc>
                <a:spcPts val="2880"/>
              </a:lnSpc>
              <a:spcBef>
                <a:spcPts val="0"/>
              </a:spcBef>
            </a:pPr>
            <a:r>
              <a:rPr lang="zh-CN" altLang="en-US" sz="2000" dirty="0" smtClean="0"/>
              <a:t>浅拷贝引发的错误</a:t>
            </a:r>
            <a:endParaRPr lang="en-US" altLang="zh-CN" sz="2000" dirty="0" smtClean="0"/>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class Person{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public:</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Person(char*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zh-CN" altLang="en-US" sz="1600" dirty="0" smtClean="0">
                <a:latin typeface="黑体" panose="02010609060101010101" pitchFamily="2" charset="-122"/>
                <a:ea typeface="黑体" panose="02010609060101010101" pitchFamily="2" charset="-122"/>
                <a:cs typeface="黑体" panose="02010609060101010101" pitchFamily="2" charset="-122"/>
              </a:rPr>
              <a:t>构造函数</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&lt;&lt;"Constructing "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=new char[</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strlen</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t>
            </a:r>
            <a:r>
              <a:rPr lang="en-US" altLang="zh-CN" sz="1600" dirty="0" smtClean="0">
                <a:latin typeface="黑体" panose="02010609060101010101" pitchFamily="2" charset="-122"/>
                <a:ea typeface="黑体" panose="02010609060101010101" pitchFamily="2" charset="-122"/>
                <a:cs typeface="黑体" panose="02010609060101010101" pitchFamily="2" charset="-122"/>
              </a:rPr>
              <a:t>)+1];</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if(</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!=0)</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strcpy</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pName,pN</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~Person()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&lt;&lt;"Destructing "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[0]='\0';</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delete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private</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char* </a:t>
            </a:r>
            <a:r>
              <a:rPr lang="en-US" altLang="zh-CN" sz="1600" dirty="0" err="1" smtClean="0">
                <a:solidFill>
                  <a:srgbClr val="FF0000"/>
                </a:solidFill>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800" dirty="0" smtClean="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a:xfrm>
            <a:off x="787400" y="205423"/>
            <a:ext cx="8229600" cy="868346"/>
          </a:xfrm>
        </p:spPr>
        <p:txBody>
          <a:bodyPr>
            <a:normAutofit/>
          </a:bodyPr>
          <a:lstStyle/>
          <a:p>
            <a:r>
              <a:rPr lang="en-US" altLang="zh-CN" sz="3600" dirty="0" smtClean="0"/>
              <a:t>2.</a:t>
            </a:r>
            <a:r>
              <a:rPr lang="zh-CN" altLang="en-US" sz="3600" dirty="0" smtClean="0"/>
              <a:t>深</a:t>
            </a:r>
            <a:r>
              <a:rPr lang="en-US" altLang="zh-CN" sz="3600" dirty="0" smtClean="0"/>
              <a:t>拷贝</a:t>
            </a:r>
            <a:endParaRPr lang="zh-CN" altLang="en-US" sz="3600" dirty="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sp>
        <p:nvSpPr>
          <p:cNvPr id="6" name="矩形 5"/>
          <p:cNvSpPr/>
          <p:nvPr/>
        </p:nvSpPr>
        <p:spPr>
          <a:xfrm>
            <a:off x="6524628" y="3143248"/>
            <a:ext cx="3929090" cy="2891790"/>
          </a:xfrm>
          <a:prstGeom prst="rect">
            <a:avLst/>
          </a:prstGeom>
        </p:spPr>
        <p:txBody>
          <a:bodyPr wrap="square">
            <a:spAutoFit/>
          </a:bodyPr>
          <a:lstStyle/>
          <a:p>
            <a:r>
              <a:rPr lang="en-US" altLang="zh-CN" sz="1600" dirty="0" smtClean="0">
                <a:latin typeface="黑体" panose="02010609060101010101" pitchFamily="2" charset="-122"/>
                <a:ea typeface="黑体" panose="02010609060101010101" pitchFamily="2" charset="-122"/>
                <a:cs typeface="黑体" panose="02010609060101010101" pitchFamily="2" charset="-122"/>
              </a:rPr>
              <a:t>void main()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  Person p1("Randy");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  Person p2=p1;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zh-CN" altLang="en-US" sz="1600" dirty="0" smtClean="0">
                <a:latin typeface="黑体" panose="02010609060101010101" pitchFamily="2" charset="-122"/>
                <a:ea typeface="黑体" panose="02010609060101010101" pitchFamily="2" charset="-122"/>
                <a:cs typeface="黑体" panose="02010609060101010101" pitchFamily="2" charset="-122"/>
              </a:rPr>
              <a:t>等价于</a:t>
            </a:r>
            <a:r>
              <a:rPr lang="en-US" altLang="zh-CN" sz="1600" dirty="0" smtClean="0">
                <a:latin typeface="黑体" panose="02010609060101010101" pitchFamily="2" charset="-122"/>
                <a:ea typeface="黑体" panose="02010609060101010101" pitchFamily="2" charset="-122"/>
                <a:cs typeface="黑体" panose="02010609060101010101" pitchFamily="2" charset="-122"/>
              </a:rPr>
              <a:t>Person p2(p1);</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zh-CN" altLang="en-US" sz="1600" dirty="0" smtClean="0">
                <a:latin typeface="黑体" panose="02010609060101010101" pitchFamily="2" charset="-122"/>
                <a:ea typeface="黑体" panose="02010609060101010101" pitchFamily="2" charset="-122"/>
                <a:cs typeface="黑体" panose="02010609060101010101" pitchFamily="2" charset="-122"/>
              </a:rPr>
              <a:t>运行结果</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Constructing 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Destructing Randy</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400" dirty="0" smtClean="0">
                <a:latin typeface="黑体" panose="02010609060101010101" pitchFamily="2" charset="-122"/>
                <a:ea typeface="黑体" panose="02010609060101010101" pitchFamily="2" charset="-122"/>
                <a:cs typeface="黑体" panose="02010609060101010101" pitchFamily="2" charset="-122"/>
              </a:rPr>
              <a:t>Destructing </a:t>
            </a:r>
            <a:r>
              <a:rPr lang="zh-CN" altLang="en-US" sz="1400" dirty="0" smtClean="0">
                <a:latin typeface="黑体" panose="02010609060101010101" pitchFamily="2" charset="-122"/>
                <a:ea typeface="黑体" panose="02010609060101010101" pitchFamily="2" charset="-122"/>
                <a:cs typeface="黑体" panose="02010609060101010101" pitchFamily="2" charset="-122"/>
              </a:rPr>
              <a:t>葺葺葺葺葺葺葺葺</a:t>
            </a:r>
            <a:r>
              <a:rPr lang="en-US" altLang="zh-CN" sz="1400" dirty="0" smtClean="0">
                <a:latin typeface="黑体" panose="02010609060101010101" pitchFamily="2" charset="-122"/>
                <a:ea typeface="黑体" panose="02010609060101010101" pitchFamily="2" charset="-122"/>
                <a:cs typeface="黑体" panose="02010609060101010101" pitchFamily="2" charset="-122"/>
              </a:rPr>
              <a:t>7</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r>
              <a:rPr lang="zh-CN" altLang="en-US" sz="1400" dirty="0" smtClean="0">
                <a:latin typeface="黑体" panose="02010609060101010101" pitchFamily="2" charset="-122"/>
                <a:ea typeface="黑体" panose="02010609060101010101" pitchFamily="2" charset="-122"/>
                <a:cs typeface="黑体" panose="02010609060101010101" pitchFamily="2" charset="-122"/>
              </a:rPr>
              <a:t>在第三行就出现乱码，并且运行报错</a:t>
            </a:r>
            <a:endParaRPr lang="en-US" altLang="zh-CN" sz="1400" dirty="0" smtClean="0">
              <a:latin typeface="黑体" panose="02010609060101010101" pitchFamily="2" charset="-122"/>
              <a:ea typeface="黑体" panose="02010609060101010101" pitchFamily="2" charset="-122"/>
              <a:cs typeface="黑体" panose="02010609060101010101" pitchFamily="2" charset="-122"/>
            </a:endParaRPr>
          </a:p>
          <a:p>
            <a:endParaRPr lang="zh-CN" altLang="en-US" sz="1400" dirty="0">
              <a:latin typeface="黑体" panose="02010609060101010101" pitchFamily="2" charset="-122"/>
              <a:ea typeface="黑体" panose="02010609060101010101" pitchFamily="2" charset="-122"/>
              <a:cs typeface="黑体" panose="02010609060101010101" pitchFamily="2" charset="-122"/>
            </a:endParaRPr>
          </a:p>
        </p:txBody>
      </p:sp>
      <p:sp>
        <p:nvSpPr>
          <p:cNvPr id="7" name="矩形 6"/>
          <p:cNvSpPr/>
          <p:nvPr/>
        </p:nvSpPr>
        <p:spPr>
          <a:xfrm>
            <a:off x="6524628" y="1571612"/>
            <a:ext cx="4000528" cy="1373505"/>
          </a:xfrm>
          <a:prstGeom prst="rect">
            <a:avLst/>
          </a:prstGeom>
        </p:spPr>
        <p:txBody>
          <a:bodyPr wrap="square">
            <a:spAutoFit/>
          </a:bodyPr>
          <a:lstStyle/>
          <a:p>
            <a:pPr>
              <a:lnSpc>
                <a:spcPts val="2000"/>
              </a:lnSpc>
              <a:spcBef>
                <a:spcPts val="0"/>
              </a:spcBef>
              <a:buNone/>
            </a:pPr>
            <a:r>
              <a:rPr lang="zh-CN" altLang="en-US"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该类无拷贝构造函数</a:t>
            </a:r>
            <a:endPar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zh-CN" altLang="en-US"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使用</a:t>
            </a:r>
            <a:r>
              <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C++</a:t>
            </a:r>
            <a:r>
              <a:rPr lang="zh-CN" altLang="en-US"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的默认拷贝构造函数</a:t>
            </a:r>
            <a:endPar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zh-CN" altLang="en-US"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自动产生类似代码：</a:t>
            </a:r>
            <a:endPar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Person(Person &amp;</a:t>
            </a:r>
            <a:r>
              <a:rPr lang="en-US" altLang="zh-CN" sz="1600" dirty="0" err="1" smtClean="0">
                <a:solidFill>
                  <a:srgbClr val="FF0000"/>
                </a:solidFill>
                <a:latin typeface="黑体" panose="02010609060101010101" pitchFamily="2" charset="-122"/>
                <a:ea typeface="黑体" panose="02010609060101010101" pitchFamily="2" charset="-122"/>
                <a:cs typeface="黑体" panose="02010609060101010101" pitchFamily="2" charset="-122"/>
              </a:rPr>
              <a:t>obj</a:t>
            </a:r>
            <a:r>
              <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 </a:t>
            </a:r>
            <a:r>
              <a:rPr lang="en-US" altLang="zh-CN" sz="14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a:t>
            </a:r>
            <a:r>
              <a:rPr lang="zh-CN" altLang="en-US" sz="14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默认拷贝构造函数</a:t>
            </a:r>
            <a:endPar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solidFill>
                  <a:srgbClr val="FF0000"/>
                </a:solidFill>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 = </a:t>
            </a:r>
            <a:r>
              <a:rPr lang="en-US" altLang="zh-CN" sz="1600" dirty="0" err="1" smtClean="0">
                <a:solidFill>
                  <a:srgbClr val="FF0000"/>
                </a:solidFill>
                <a:latin typeface="黑体" panose="02010609060101010101" pitchFamily="2" charset="-122"/>
                <a:ea typeface="黑体" panose="02010609060101010101" pitchFamily="2" charset="-122"/>
                <a:cs typeface="黑体" panose="02010609060101010101" pitchFamily="2" charset="-122"/>
              </a:rPr>
              <a:t>obj.pName</a:t>
            </a:r>
            <a:r>
              <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 }</a:t>
            </a:r>
            <a:endPar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74955" y="935355"/>
            <a:ext cx="11663680" cy="2494280"/>
          </a:xfrm>
        </p:spPr>
        <p:txBody>
          <a:bodyPr/>
          <a:lstStyle/>
          <a:p>
            <a:pPr>
              <a:lnSpc>
                <a:spcPts val="2880"/>
              </a:lnSpc>
              <a:spcBef>
                <a:spcPts val="0"/>
              </a:spcBef>
            </a:pPr>
            <a:r>
              <a:rPr lang="zh-CN" altLang="en-US" sz="2000" dirty="0" smtClean="0"/>
              <a:t>浅拷贝引发的错误：当类对象包含指针数据成员，如果没有拷贝构造函数，当把一个对象复制到另一个对象时，两个对象的指针指向同一块内存空间，在析构函数执行时，同一个内存空间会被回收两次，因此报错！</a:t>
            </a:r>
            <a:endParaRPr lang="en-US" altLang="zh-CN" sz="2000" dirty="0" smtClean="0"/>
          </a:p>
          <a:p>
            <a:pPr>
              <a:lnSpc>
                <a:spcPts val="2880"/>
              </a:lnSpc>
              <a:spcBef>
                <a:spcPts val="0"/>
              </a:spcBef>
            </a:pPr>
            <a:r>
              <a:rPr lang="zh-CN" altLang="en-US" sz="2000" dirty="0" smtClean="0"/>
              <a:t>当把一个对象复制给另一个对象，只是复制数值，没有复制资源，则称为浅拷贝。数值和资源都被复制，则称为深拷贝</a:t>
            </a:r>
            <a:endParaRPr lang="en-US" altLang="zh-CN" sz="2000" dirty="0" smtClean="0"/>
          </a:p>
        </p:txBody>
      </p:sp>
      <p:sp>
        <p:nvSpPr>
          <p:cNvPr id="3" name="标题 2"/>
          <p:cNvSpPr>
            <a:spLocks noGrp="1"/>
          </p:cNvSpPr>
          <p:nvPr>
            <p:ph type="title"/>
          </p:nvPr>
        </p:nvSpPr>
        <p:spPr>
          <a:xfrm>
            <a:off x="779145" y="274638"/>
            <a:ext cx="8229600" cy="868346"/>
          </a:xfrm>
        </p:spPr>
        <p:txBody>
          <a:bodyPr>
            <a:normAutofit/>
          </a:bodyPr>
          <a:lstStyle/>
          <a:p>
            <a:r>
              <a:rPr lang="en-US" altLang="zh-CN" sz="3600" dirty="0" smtClean="0"/>
              <a:t>2.</a:t>
            </a:r>
            <a:r>
              <a:rPr lang="zh-CN" altLang="en-US" sz="3600" dirty="0" smtClean="0"/>
              <a:t>深拷贝</a:t>
            </a:r>
            <a:endParaRPr lang="zh-CN" altLang="en-US" sz="3600" dirty="0" smtClean="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pic>
        <p:nvPicPr>
          <p:cNvPr id="1027" name="Picture 3"/>
          <p:cNvPicPr>
            <a:picLocks noChangeAspect="1" noChangeArrowheads="1"/>
          </p:cNvPicPr>
          <p:nvPr/>
        </p:nvPicPr>
        <p:blipFill>
          <a:blip r:embed="rId1"/>
          <a:srcRect/>
          <a:stretch>
            <a:fillRect/>
          </a:stretch>
        </p:blipFill>
        <p:spPr bwMode="auto">
          <a:xfrm>
            <a:off x="1181390" y="3041648"/>
            <a:ext cx="4071966" cy="3211802"/>
          </a:xfrm>
          <a:prstGeom prst="rect">
            <a:avLst/>
          </a:prstGeom>
          <a:noFill/>
          <a:ln w="9525">
            <a:noFill/>
            <a:miter lim="800000"/>
            <a:headEnd/>
            <a:tailEnd/>
          </a:ln>
          <a:effectLst/>
        </p:spPr>
      </p:pic>
      <p:pic>
        <p:nvPicPr>
          <p:cNvPr id="1028" name="Picture 4"/>
          <p:cNvPicPr>
            <a:picLocks noChangeAspect="1" noChangeArrowheads="1"/>
          </p:cNvPicPr>
          <p:nvPr/>
        </p:nvPicPr>
        <p:blipFill>
          <a:blip r:embed="rId2"/>
          <a:srcRect/>
          <a:stretch>
            <a:fillRect/>
          </a:stretch>
        </p:blipFill>
        <p:spPr bwMode="auto">
          <a:xfrm>
            <a:off x="6703698" y="2944493"/>
            <a:ext cx="3814772" cy="30089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38756" y="901049"/>
            <a:ext cx="8429684" cy="5357850"/>
          </a:xfrm>
        </p:spPr>
        <p:txBody>
          <a:bodyPr/>
          <a:lstStyle/>
          <a:p>
            <a:pPr>
              <a:lnSpc>
                <a:spcPts val="2880"/>
              </a:lnSpc>
              <a:spcBef>
                <a:spcPts val="0"/>
              </a:spcBef>
            </a:pPr>
            <a:r>
              <a:rPr lang="zh-CN" altLang="en-US" sz="2000" dirty="0" smtClean="0"/>
              <a:t>深拷贝示例</a:t>
            </a:r>
            <a:endParaRPr lang="en-US" altLang="zh-CN" sz="2000" dirty="0" smtClean="0"/>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class Person{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public:</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Person(char*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zh-CN" altLang="en-US" sz="1600" dirty="0" smtClean="0">
                <a:latin typeface="黑体" panose="02010609060101010101" pitchFamily="2" charset="-122"/>
                <a:ea typeface="黑体" panose="02010609060101010101" pitchFamily="2" charset="-122"/>
                <a:cs typeface="黑体" panose="02010609060101010101" pitchFamily="2" charset="-122"/>
              </a:rPr>
              <a:t>构造函数</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&lt;&lt;"Constructing "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=new char[</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strlen</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t>
            </a:r>
            <a:r>
              <a:rPr lang="en-US" altLang="zh-CN" sz="1600" dirty="0" smtClean="0">
                <a:latin typeface="黑体" panose="02010609060101010101" pitchFamily="2" charset="-122"/>
                <a:ea typeface="黑体" panose="02010609060101010101" pitchFamily="2" charset="-122"/>
                <a:cs typeface="黑体" panose="02010609060101010101" pitchFamily="2" charset="-122"/>
              </a:rPr>
              <a:t>)+1];</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if(</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!=0)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strcpy</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pName,pN</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Person(Person&amp; p) //</a:t>
            </a:r>
            <a:r>
              <a:rPr lang="zh-CN" altLang="en-US" sz="1600" smtClean="0">
                <a:latin typeface="黑体" panose="02010609060101010101" pitchFamily="2" charset="-122"/>
                <a:ea typeface="黑体" panose="02010609060101010101" pitchFamily="2" charset="-122"/>
                <a:cs typeface="黑体" panose="02010609060101010101" pitchFamily="2" charset="-122"/>
              </a:rPr>
              <a:t>拷贝构造函数</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&lt;&lt;"Copying "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 into its own block\n";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=new char[</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strlen</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)+1];</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if(</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!=0)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strcpy</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pName,p.pName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~Person()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cout</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&lt;&lt;"Destructing “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&lt;&lt;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endl</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[0]='\0';</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delete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private</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char* </a:t>
            </a:r>
            <a:r>
              <a:rPr lang="en-US" altLang="zh-CN" sz="1600" dirty="0" err="1" smtClean="0">
                <a:solidFill>
                  <a:srgbClr val="FF0000"/>
                </a:solidFill>
                <a:latin typeface="黑体" panose="02010609060101010101" pitchFamily="2" charset="-122"/>
                <a:ea typeface="黑体" panose="02010609060101010101" pitchFamily="2" charset="-122"/>
                <a:cs typeface="黑体" panose="02010609060101010101" pitchFamily="2" charset="-122"/>
              </a:rPr>
              <a:t>pName</a:t>
            </a:r>
            <a:r>
              <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solidFill>
                <a:srgbClr val="FF0000"/>
              </a:solidFill>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a:xfrm>
            <a:off x="779145" y="214313"/>
            <a:ext cx="8229600" cy="868346"/>
          </a:xfrm>
        </p:spPr>
        <p:txBody>
          <a:bodyPr>
            <a:normAutofit/>
          </a:bodyPr>
          <a:lstStyle/>
          <a:p>
            <a:r>
              <a:rPr lang="en-US" altLang="zh-CN" sz="3600" dirty="0" smtClean="0"/>
              <a:t>2.</a:t>
            </a:r>
            <a:r>
              <a:rPr lang="zh-CN" altLang="en-US" sz="3600" dirty="0" smtClean="0"/>
              <a:t>深</a:t>
            </a:r>
            <a:r>
              <a:rPr lang="en-US" altLang="zh-CN" sz="3600" dirty="0" smtClean="0"/>
              <a:t>拷贝</a:t>
            </a:r>
            <a:endParaRPr lang="zh-CN" altLang="en-US" sz="3600" dirty="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sp>
        <p:nvSpPr>
          <p:cNvPr id="6" name="矩形 5"/>
          <p:cNvSpPr/>
          <p:nvPr/>
        </p:nvSpPr>
        <p:spPr>
          <a:xfrm>
            <a:off x="6972622" y="1972290"/>
            <a:ext cx="3714776" cy="2738120"/>
          </a:xfrm>
          <a:prstGeom prst="rect">
            <a:avLst/>
          </a:prstGeom>
        </p:spPr>
        <p:txBody>
          <a:bodyPr wrap="square">
            <a:spAutoFit/>
          </a:bodyPr>
          <a:lstStyle/>
          <a:p>
            <a:r>
              <a:rPr lang="en-US" altLang="zh-CN" sz="1600" dirty="0" smtClean="0">
                <a:latin typeface="黑体" panose="02010609060101010101" pitchFamily="2" charset="-122"/>
                <a:ea typeface="黑体" panose="02010609060101010101" pitchFamily="2" charset="-122"/>
                <a:cs typeface="黑体" panose="02010609060101010101" pitchFamily="2" charset="-122"/>
              </a:rPr>
              <a:t>void main()</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  Person p1("Randy");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  Person p2=p1;  //</a:t>
            </a:r>
            <a:r>
              <a:rPr lang="zh-CN" altLang="en-US" sz="1600" dirty="0" smtClean="0">
                <a:latin typeface="黑体" panose="02010609060101010101" pitchFamily="2" charset="-122"/>
                <a:ea typeface="黑体" panose="02010609060101010101" pitchFamily="2" charset="-122"/>
                <a:cs typeface="黑体" panose="02010609060101010101" pitchFamily="2" charset="-122"/>
              </a:rPr>
              <a:t>即</a:t>
            </a:r>
            <a:r>
              <a:rPr lang="en-US" altLang="zh-CN" sz="1600" dirty="0" smtClean="0">
                <a:latin typeface="黑体" panose="02010609060101010101" pitchFamily="2" charset="-122"/>
                <a:ea typeface="黑体" panose="02010609060101010101" pitchFamily="2" charset="-122"/>
                <a:cs typeface="黑体" panose="02010609060101010101" pitchFamily="2" charset="-122"/>
              </a:rPr>
              <a:t>Person p2(p1);</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zh-CN" altLang="en-US" sz="1600" dirty="0" smtClean="0">
                <a:latin typeface="黑体" panose="02010609060101010101" pitchFamily="2" charset="-122"/>
                <a:ea typeface="黑体" panose="02010609060101010101" pitchFamily="2" charset="-122"/>
                <a:cs typeface="黑体" panose="02010609060101010101" pitchFamily="2" charset="-122"/>
              </a:rPr>
              <a:t>运行结果</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Constructing 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Copying Randy into its own block</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Destructing Randy</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r>
              <a:rPr lang="en-US" altLang="zh-CN" sz="1600" dirty="0" smtClean="0">
                <a:latin typeface="黑体" panose="02010609060101010101" pitchFamily="2" charset="-122"/>
                <a:ea typeface="黑体" panose="02010609060101010101" pitchFamily="2" charset="-122"/>
                <a:cs typeface="黑体" panose="02010609060101010101" pitchFamily="2" charset="-122"/>
              </a:rPr>
              <a:t>Destructing Randy</a:t>
            </a:r>
            <a:endParaRPr lang="en-US" altLang="zh-CN" sz="1400" dirty="0" smtClean="0"/>
          </a:p>
          <a:p>
            <a:endParaRPr lang="zh-CN" altLang="en-US" sz="12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1762" y="1000109"/>
            <a:ext cx="8429684" cy="5357850"/>
          </a:xfrm>
        </p:spPr>
        <p:txBody>
          <a:bodyPr/>
          <a:lstStyle/>
          <a:p>
            <a:pPr>
              <a:lnSpc>
                <a:spcPts val="2880"/>
              </a:lnSpc>
              <a:spcBef>
                <a:spcPts val="0"/>
              </a:spcBef>
            </a:pPr>
            <a:r>
              <a:rPr lang="zh-CN" altLang="en-US" sz="2000" dirty="0" smtClean="0"/>
              <a:t>复合类与深拷贝的综合用法</a:t>
            </a:r>
            <a:endParaRPr lang="en-US" altLang="zh-CN" sz="2000" dirty="0" smtClean="0"/>
          </a:p>
          <a:p>
            <a:pPr lvl="1">
              <a:lnSpc>
                <a:spcPts val="2880"/>
              </a:lnSpc>
              <a:spcBef>
                <a:spcPts val="0"/>
              </a:spcBef>
            </a:pPr>
            <a:r>
              <a:rPr lang="zh-CN" altLang="en-US" sz="1800" dirty="0" smtClean="0">
                <a:solidFill>
                  <a:srgbClr val="FF0000"/>
                </a:solidFill>
              </a:rPr>
              <a:t>当类的数据成员是一个类对象指针，如何在构造函数中初始化？</a:t>
            </a:r>
            <a:endParaRPr lang="en-US" altLang="zh-CN" sz="1800" dirty="0" smtClean="0">
              <a:solidFill>
                <a:srgbClr val="FF0000"/>
              </a:solidFill>
            </a:endParaRPr>
          </a:p>
          <a:p>
            <a:pPr lvl="1">
              <a:lnSpc>
                <a:spcPts val="2880"/>
              </a:lnSpc>
              <a:spcBef>
                <a:spcPts val="0"/>
              </a:spcBef>
            </a:pPr>
            <a:r>
              <a:rPr lang="zh-CN" altLang="en-US" sz="1800" dirty="0" smtClean="0"/>
              <a:t>无法使用冒号来初始化，因为类对象指针还没有分配空间</a:t>
            </a:r>
            <a:endParaRPr lang="en-US" altLang="zh-CN" sz="1800" dirty="0" smtClean="0"/>
          </a:p>
          <a:p>
            <a:pPr>
              <a:buNone/>
            </a:pPr>
            <a:endParaRPr lang="en-US" altLang="zh-CN" sz="1800" dirty="0" smtClean="0">
              <a:solidFill>
                <a:srgbClr val="FF0000"/>
              </a:solidFill>
            </a:endParaRPr>
          </a:p>
          <a:p>
            <a:pPr>
              <a:buNone/>
            </a:pPr>
            <a:endParaRPr lang="en-US" altLang="zh-CN" sz="1800" dirty="0" smtClean="0">
              <a:solidFill>
                <a:srgbClr val="FF0000"/>
              </a:solidFill>
            </a:endParaRPr>
          </a:p>
          <a:p>
            <a:pPr lvl="1">
              <a:lnSpc>
                <a:spcPts val="2880"/>
              </a:lnSpc>
              <a:spcBef>
                <a:spcPts val="0"/>
              </a:spcBef>
            </a:pPr>
            <a:endParaRPr lang="en-US" altLang="zh-CN" sz="1800" dirty="0" smtClean="0">
              <a:solidFill>
                <a:srgbClr val="FF0000"/>
              </a:solidFill>
            </a:endParaRPr>
          </a:p>
          <a:p>
            <a:pPr lvl="1">
              <a:lnSpc>
                <a:spcPts val="2880"/>
              </a:lnSpc>
              <a:spcBef>
                <a:spcPts val="0"/>
              </a:spcBef>
            </a:pPr>
            <a:endParaRPr lang="en-US" altLang="zh-CN" sz="1800" dirty="0" smtClean="0">
              <a:solidFill>
                <a:srgbClr val="FF0000"/>
              </a:solidFill>
            </a:endParaRPr>
          </a:p>
          <a:p>
            <a:pPr lvl="1">
              <a:lnSpc>
                <a:spcPts val="2880"/>
              </a:lnSpc>
              <a:spcBef>
                <a:spcPts val="0"/>
              </a:spcBef>
            </a:pPr>
            <a:endParaRPr lang="en-US" altLang="zh-CN" sz="1800" dirty="0" smtClean="0">
              <a:solidFill>
                <a:srgbClr val="FF0000"/>
              </a:solidFill>
            </a:endParaRPr>
          </a:p>
          <a:p>
            <a:pPr lvl="1">
              <a:lnSpc>
                <a:spcPts val="2880"/>
              </a:lnSpc>
              <a:spcBef>
                <a:spcPts val="0"/>
              </a:spcBef>
            </a:pPr>
            <a:endParaRPr lang="zh-CN" altLang="en-US" sz="1800" dirty="0" smtClean="0">
              <a:solidFill>
                <a:srgbClr val="FF0000"/>
              </a:solidFill>
            </a:endParaRPr>
          </a:p>
          <a:p>
            <a:pPr lvl="1">
              <a:lnSpc>
                <a:spcPts val="2880"/>
              </a:lnSpc>
              <a:spcBef>
                <a:spcPts val="0"/>
              </a:spcBef>
            </a:pPr>
            <a:r>
              <a:rPr lang="zh-CN" altLang="en-US" sz="1800" dirty="0" smtClean="0">
                <a:solidFill>
                  <a:srgbClr val="FF0000"/>
                </a:solidFill>
              </a:rPr>
              <a:t>只能在构造函数中先分配空间，再用对象赋值或参数赋值的方法。</a:t>
            </a:r>
            <a:endParaRPr lang="en-US" altLang="zh-CN" sz="1800" dirty="0" smtClean="0">
              <a:solidFill>
                <a:srgbClr val="FF0000"/>
              </a:solidFill>
            </a:endParaRPr>
          </a:p>
          <a:p>
            <a:pPr lvl="1">
              <a:lnSpc>
                <a:spcPts val="2880"/>
              </a:lnSpc>
              <a:spcBef>
                <a:spcPts val="0"/>
              </a:spcBef>
              <a:buNone/>
            </a:pPr>
            <a:endParaRPr lang="en-US" altLang="zh-CN" sz="1800" dirty="0" smtClean="0">
              <a:solidFill>
                <a:srgbClr val="FF0000"/>
              </a:solidFill>
            </a:endParaRPr>
          </a:p>
        </p:txBody>
      </p:sp>
      <p:sp>
        <p:nvSpPr>
          <p:cNvPr id="3" name="标题 2"/>
          <p:cNvSpPr>
            <a:spLocks noGrp="1"/>
          </p:cNvSpPr>
          <p:nvPr>
            <p:ph type="title"/>
          </p:nvPr>
        </p:nvSpPr>
        <p:spPr>
          <a:xfrm>
            <a:off x="744220" y="274638"/>
            <a:ext cx="8229600" cy="868346"/>
          </a:xfrm>
        </p:spPr>
        <p:txBody>
          <a:bodyPr>
            <a:normAutofit/>
          </a:bodyPr>
          <a:lstStyle/>
          <a:p>
            <a:r>
              <a:rPr lang="en-US" altLang="zh-CN" sz="3600" dirty="0" smtClean="0"/>
              <a:t>2.</a:t>
            </a:r>
            <a:r>
              <a:rPr lang="zh-CN" altLang="en-US" sz="3600" dirty="0" smtClean="0"/>
              <a:t>深</a:t>
            </a:r>
            <a:r>
              <a:rPr lang="en-US" altLang="zh-CN" sz="3600" dirty="0" smtClean="0"/>
              <a:t>拷贝</a:t>
            </a:r>
            <a:endParaRPr lang="zh-CN" altLang="en-US" sz="3600" dirty="0"/>
          </a:p>
        </p:txBody>
      </p:sp>
      <p:sp>
        <p:nvSpPr>
          <p:cNvPr id="7" name="矩形 6"/>
          <p:cNvSpPr/>
          <p:nvPr/>
        </p:nvSpPr>
        <p:spPr>
          <a:xfrm>
            <a:off x="1666844" y="2357430"/>
            <a:ext cx="3643338" cy="1814830"/>
          </a:xfrm>
          <a:prstGeom prst="rect">
            <a:avLst/>
          </a:prstGeom>
        </p:spPr>
        <p:txBody>
          <a:bodyPr wrap="square">
            <a:spAutoFit/>
          </a:bodyPr>
          <a:lstStyle/>
          <a:p>
            <a:r>
              <a:rPr lang="en-US" altLang="zh-CN" sz="1600" dirty="0" smtClean="0"/>
              <a:t>class Tutor{</a:t>
            </a:r>
            <a:endParaRPr lang="en-US" altLang="zh-CN" sz="1600" dirty="0" smtClean="0"/>
          </a:p>
          <a:p>
            <a:r>
              <a:rPr lang="en-US" altLang="zh-CN" sz="1600" dirty="0" smtClean="0"/>
              <a:t>Public:</a:t>
            </a:r>
            <a:endParaRPr lang="en-US" altLang="zh-CN" sz="1600" dirty="0" smtClean="0"/>
          </a:p>
          <a:p>
            <a:r>
              <a:rPr lang="en-US" altLang="zh-CN" sz="1600" dirty="0" smtClean="0"/>
              <a:t>Tutor(Student&amp; s):student(s) </a:t>
            </a:r>
            <a:endParaRPr lang="en-US" altLang="zh-CN" sz="1600" dirty="0" smtClean="0"/>
          </a:p>
          <a:p>
            <a:r>
              <a:rPr lang="en-US" altLang="zh-CN" sz="1600" dirty="0" smtClean="0"/>
              <a:t>    {    </a:t>
            </a:r>
            <a:r>
              <a:rPr lang="en-US" altLang="zh-CN" sz="1600" dirty="0" err="1" smtClean="0"/>
              <a:t>cout</a:t>
            </a:r>
            <a:r>
              <a:rPr lang="en-US" altLang="zh-CN" sz="1600" dirty="0" smtClean="0"/>
              <a:t> &lt;&lt;"Constructing \n";  }</a:t>
            </a:r>
            <a:endParaRPr lang="en-US" altLang="zh-CN" sz="1600" dirty="0" smtClean="0"/>
          </a:p>
          <a:p>
            <a:r>
              <a:rPr lang="en-US" altLang="zh-CN" sz="1600" dirty="0" smtClean="0"/>
              <a:t>private:</a:t>
            </a:r>
            <a:endParaRPr lang="en-US" altLang="zh-CN" sz="1600" dirty="0" smtClean="0"/>
          </a:p>
          <a:p>
            <a:r>
              <a:rPr lang="en-US" altLang="zh-CN" sz="1600" dirty="0" smtClean="0"/>
              <a:t>  </a:t>
            </a:r>
            <a:r>
              <a:rPr lang="en-US" altLang="zh-CN" sz="1600" b="1" dirty="0" smtClean="0"/>
              <a:t>Student </a:t>
            </a:r>
            <a:r>
              <a:rPr lang="en-US" altLang="zh-CN" sz="1600" b="1" dirty="0" err="1" smtClean="0"/>
              <a:t>student</a:t>
            </a:r>
            <a:r>
              <a:rPr lang="en-US" altLang="zh-CN" sz="1600" b="1" dirty="0" smtClean="0"/>
              <a:t>;  </a:t>
            </a:r>
            <a:endParaRPr lang="en-US" altLang="zh-CN" sz="1600" b="1" dirty="0" smtClean="0">
              <a:solidFill>
                <a:srgbClr val="FF0000"/>
              </a:solidFill>
            </a:endParaRPr>
          </a:p>
          <a:p>
            <a:r>
              <a:rPr lang="en-US" altLang="zh-CN" sz="1600" dirty="0" smtClean="0"/>
              <a:t>};</a:t>
            </a:r>
            <a:endParaRPr lang="zh-CN" altLang="en-US" sz="1600" dirty="0"/>
          </a:p>
        </p:txBody>
      </p:sp>
      <p:sp>
        <p:nvSpPr>
          <p:cNvPr id="8" name="矩形 7"/>
          <p:cNvSpPr/>
          <p:nvPr/>
        </p:nvSpPr>
        <p:spPr>
          <a:xfrm>
            <a:off x="6238876" y="2357430"/>
            <a:ext cx="4071966" cy="1814830"/>
          </a:xfrm>
          <a:prstGeom prst="rect">
            <a:avLst/>
          </a:prstGeom>
        </p:spPr>
        <p:txBody>
          <a:bodyPr wrap="square">
            <a:spAutoFit/>
          </a:bodyPr>
          <a:lstStyle/>
          <a:p>
            <a:r>
              <a:rPr lang="en-US" altLang="zh-CN" sz="1600" dirty="0" smtClean="0"/>
              <a:t>class Tutor{</a:t>
            </a:r>
            <a:endParaRPr lang="en-US" altLang="zh-CN" sz="1600" dirty="0" smtClean="0"/>
          </a:p>
          <a:p>
            <a:r>
              <a:rPr lang="en-US" altLang="zh-CN" sz="1600" dirty="0" smtClean="0"/>
              <a:t>Public: </a:t>
            </a:r>
            <a:endParaRPr lang="en-US" altLang="zh-CN" sz="1600" dirty="0" smtClean="0"/>
          </a:p>
          <a:p>
            <a:r>
              <a:rPr lang="en-US" altLang="zh-CN" sz="1600" dirty="0" smtClean="0"/>
              <a:t>Tutor(Student&amp; s) </a:t>
            </a:r>
            <a:r>
              <a:rPr lang="en-US" altLang="zh-CN" sz="1600" b="1" dirty="0" smtClean="0">
                <a:solidFill>
                  <a:schemeClr val="accent2"/>
                </a:solidFill>
              </a:rPr>
              <a:t>:student(s)  //error</a:t>
            </a:r>
            <a:endParaRPr lang="en-US" altLang="zh-CN" sz="1600" b="1" dirty="0" smtClean="0">
              <a:solidFill>
                <a:schemeClr val="accent2"/>
              </a:solidFill>
            </a:endParaRPr>
          </a:p>
          <a:p>
            <a:r>
              <a:rPr lang="en-US" altLang="zh-CN" sz="1600" dirty="0" smtClean="0"/>
              <a:t>    {    </a:t>
            </a:r>
            <a:r>
              <a:rPr lang="en-US" altLang="zh-CN" sz="1600" dirty="0" err="1" smtClean="0"/>
              <a:t>cout</a:t>
            </a:r>
            <a:r>
              <a:rPr lang="en-US" altLang="zh-CN" sz="1600" dirty="0" smtClean="0"/>
              <a:t> &lt;&lt;"Constructing \n";  }</a:t>
            </a:r>
            <a:endParaRPr lang="en-US" altLang="zh-CN" sz="1600" dirty="0" smtClean="0"/>
          </a:p>
          <a:p>
            <a:r>
              <a:rPr lang="en-US" altLang="zh-CN" sz="1600" dirty="0" smtClean="0"/>
              <a:t>private:</a:t>
            </a:r>
            <a:endParaRPr lang="en-US" altLang="zh-CN" sz="1600" dirty="0" smtClean="0"/>
          </a:p>
          <a:p>
            <a:r>
              <a:rPr lang="en-US" altLang="zh-CN" sz="1600" dirty="0" smtClean="0"/>
              <a:t>  </a:t>
            </a:r>
            <a:r>
              <a:rPr lang="en-US" altLang="zh-CN" sz="1600" b="1" dirty="0" smtClean="0"/>
              <a:t>Student  *student;  </a:t>
            </a:r>
            <a:endParaRPr lang="en-US" altLang="zh-CN" sz="1600" b="1" dirty="0" smtClean="0">
              <a:solidFill>
                <a:srgbClr val="FF0000"/>
              </a:solidFill>
            </a:endParaRPr>
          </a:p>
          <a:p>
            <a:r>
              <a:rPr lang="en-US" altLang="zh-CN" sz="1600" dirty="0" smtClean="0"/>
              <a:t>};</a:t>
            </a:r>
            <a:endParaRPr lang="zh-CN" altLang="en-US" sz="1600" dirty="0"/>
          </a:p>
        </p:txBody>
      </p:sp>
      <p:sp>
        <p:nvSpPr>
          <p:cNvPr id="9" name="矩形 8"/>
          <p:cNvSpPr/>
          <p:nvPr/>
        </p:nvSpPr>
        <p:spPr>
          <a:xfrm>
            <a:off x="8443595" y="398145"/>
            <a:ext cx="2874645" cy="1568450"/>
          </a:xfrm>
          <a:prstGeom prst="rect">
            <a:avLst/>
          </a:prstGeom>
        </p:spPr>
        <p:txBody>
          <a:bodyPr wrap="square">
            <a:spAutoFit/>
          </a:bodyPr>
          <a:lstStyle/>
          <a:p>
            <a:r>
              <a:rPr lang="en-US" altLang="zh-CN" sz="1600" dirty="0" smtClean="0"/>
              <a:t>class Student {</a:t>
            </a:r>
            <a:endParaRPr lang="en-US" altLang="zh-CN" sz="1600" dirty="0" smtClean="0"/>
          </a:p>
          <a:p>
            <a:r>
              <a:rPr lang="en-US" altLang="zh-CN" sz="1600" dirty="0" smtClean="0"/>
              <a:t>private:</a:t>
            </a:r>
            <a:endParaRPr lang="en-US" altLang="zh-CN" sz="1600" dirty="0" smtClean="0"/>
          </a:p>
          <a:p>
            <a:r>
              <a:rPr lang="en-US" altLang="zh-CN" sz="1600" dirty="0" smtClean="0"/>
              <a:t>   </a:t>
            </a:r>
            <a:r>
              <a:rPr lang="en-US" altLang="zh-CN" sz="1600" dirty="0" err="1" smtClean="0"/>
              <a:t>int</a:t>
            </a:r>
            <a:r>
              <a:rPr lang="en-US" altLang="zh-CN" sz="1600" dirty="0" smtClean="0"/>
              <a:t> </a:t>
            </a:r>
            <a:r>
              <a:rPr lang="en-US" altLang="zh-CN" sz="1600" dirty="0" err="1" smtClean="0"/>
              <a:t>sid</a:t>
            </a:r>
            <a:r>
              <a:rPr lang="en-US" altLang="zh-CN" sz="1600" dirty="0" smtClean="0"/>
              <a:t>;</a:t>
            </a:r>
            <a:endParaRPr lang="en-US" altLang="zh-CN" sz="1600" dirty="0" smtClean="0"/>
          </a:p>
          <a:p>
            <a:r>
              <a:rPr lang="en-US" altLang="zh-CN" sz="1600" dirty="0" smtClean="0"/>
              <a:t>public:</a:t>
            </a:r>
            <a:endParaRPr lang="en-US" altLang="zh-CN" sz="1600" dirty="0" smtClean="0"/>
          </a:p>
          <a:p>
            <a:r>
              <a:rPr lang="en-US" altLang="zh-CN" sz="1600" dirty="0" smtClean="0"/>
              <a:t>   Student(</a:t>
            </a:r>
            <a:r>
              <a:rPr lang="en-US" altLang="zh-CN" sz="1600" dirty="0" err="1" smtClean="0"/>
              <a:t>int</a:t>
            </a:r>
            <a:r>
              <a:rPr lang="en-US" altLang="zh-CN" sz="1600" dirty="0" smtClean="0"/>
              <a:t> t) : </a:t>
            </a:r>
            <a:r>
              <a:rPr lang="en-US" altLang="zh-CN" sz="1600" dirty="0" err="1" smtClean="0"/>
              <a:t>sid</a:t>
            </a:r>
            <a:r>
              <a:rPr lang="en-US" altLang="zh-CN" sz="1600" dirty="0" smtClean="0"/>
              <a:t>(t)    { }</a:t>
            </a:r>
            <a:endParaRPr lang="en-US" altLang="zh-CN" sz="1600" dirty="0" smtClean="0"/>
          </a:p>
          <a:p>
            <a:r>
              <a:rPr lang="en-US" altLang="zh-CN" sz="1600" dirty="0" smtClean="0"/>
              <a:t>}</a:t>
            </a:r>
            <a:endParaRPr lang="en-US" altLang="zh-CN" sz="1600" dirty="0" smtClean="0"/>
          </a:p>
        </p:txBody>
      </p:sp>
      <p:sp>
        <p:nvSpPr>
          <p:cNvPr id="10" name="矩形 9"/>
          <p:cNvSpPr/>
          <p:nvPr/>
        </p:nvSpPr>
        <p:spPr>
          <a:xfrm>
            <a:off x="1100425" y="4846645"/>
            <a:ext cx="3571900" cy="1322070"/>
          </a:xfrm>
          <a:prstGeom prst="rect">
            <a:avLst/>
          </a:prstGeom>
        </p:spPr>
        <p:txBody>
          <a:bodyPr wrap="square">
            <a:spAutoFit/>
          </a:bodyPr>
          <a:lstStyle/>
          <a:p>
            <a:r>
              <a:rPr lang="en-US" altLang="zh-CN" sz="1600" dirty="0" smtClean="0"/>
              <a:t>Tutor(Student&amp; s) //</a:t>
            </a:r>
            <a:r>
              <a:rPr lang="zh-CN" altLang="en-US" sz="1600" dirty="0" smtClean="0"/>
              <a:t>参数为对象</a:t>
            </a:r>
            <a:endParaRPr lang="en-US" altLang="zh-CN" sz="1600" dirty="0" smtClean="0"/>
          </a:p>
          <a:p>
            <a:r>
              <a:rPr lang="en-US" altLang="zh-CN" sz="1600" dirty="0" smtClean="0"/>
              <a:t> {  student = new Student; </a:t>
            </a:r>
            <a:endParaRPr lang="en-US" altLang="zh-CN" sz="1600" dirty="0" smtClean="0"/>
          </a:p>
          <a:p>
            <a:r>
              <a:rPr lang="en-US" altLang="zh-CN" sz="1600" dirty="0" smtClean="0"/>
              <a:t>    student = s;   //</a:t>
            </a:r>
            <a:r>
              <a:rPr lang="zh-CN" altLang="en-US" sz="1600" dirty="0" smtClean="0"/>
              <a:t>拷贝构造初始化</a:t>
            </a:r>
            <a:endParaRPr lang="en-US" altLang="zh-CN" sz="1600" dirty="0" smtClean="0"/>
          </a:p>
          <a:p>
            <a:r>
              <a:rPr lang="en-US" altLang="zh-CN" sz="1600" dirty="0" smtClean="0"/>
              <a:t>    </a:t>
            </a:r>
            <a:r>
              <a:rPr lang="en-US" altLang="zh-CN" sz="1600" dirty="0" err="1" smtClean="0"/>
              <a:t>cout</a:t>
            </a:r>
            <a:r>
              <a:rPr lang="en-US" altLang="zh-CN" sz="1600" dirty="0" smtClean="0"/>
              <a:t> &lt;&lt;"Constructing \n";  </a:t>
            </a:r>
            <a:endParaRPr lang="en-US" altLang="zh-CN" sz="1600" dirty="0" smtClean="0"/>
          </a:p>
          <a:p>
            <a:r>
              <a:rPr lang="en-US" altLang="zh-CN" sz="1600" dirty="0" smtClean="0"/>
              <a:t>}</a:t>
            </a:r>
            <a:endParaRPr lang="en-US" altLang="zh-CN" sz="1600" dirty="0" smtClean="0"/>
          </a:p>
        </p:txBody>
      </p:sp>
      <p:sp>
        <p:nvSpPr>
          <p:cNvPr id="11" name="矩形 10"/>
          <p:cNvSpPr/>
          <p:nvPr/>
        </p:nvSpPr>
        <p:spPr>
          <a:xfrm>
            <a:off x="6238559" y="4846963"/>
            <a:ext cx="3286148" cy="1322070"/>
          </a:xfrm>
          <a:prstGeom prst="rect">
            <a:avLst/>
          </a:prstGeom>
        </p:spPr>
        <p:txBody>
          <a:bodyPr wrap="square">
            <a:spAutoFit/>
          </a:bodyPr>
          <a:lstStyle/>
          <a:p>
            <a:r>
              <a:rPr lang="en-US" altLang="zh-CN" sz="1600" dirty="0" smtClean="0"/>
              <a:t>Tutor(</a:t>
            </a:r>
            <a:r>
              <a:rPr lang="en-US" altLang="zh-CN" sz="1600" dirty="0" err="1" smtClean="0"/>
              <a:t>int</a:t>
            </a:r>
            <a:r>
              <a:rPr lang="en-US" altLang="zh-CN" sz="1600" dirty="0" smtClean="0"/>
              <a:t> id) //</a:t>
            </a:r>
            <a:r>
              <a:rPr lang="zh-CN" altLang="en-US" sz="1600" dirty="0" smtClean="0"/>
              <a:t>参数为对象</a:t>
            </a:r>
            <a:endParaRPr lang="en-US" altLang="zh-CN" sz="1600" dirty="0" smtClean="0"/>
          </a:p>
          <a:p>
            <a:r>
              <a:rPr lang="en-US" altLang="zh-CN" sz="1600" dirty="0" smtClean="0"/>
              <a:t> { //</a:t>
            </a:r>
            <a:r>
              <a:rPr lang="zh-CN" altLang="en-US" sz="1600" dirty="0" smtClean="0"/>
              <a:t>创建无名对象并拷贝构造</a:t>
            </a:r>
            <a:endParaRPr lang="en-US" altLang="zh-CN" sz="1600" dirty="0" smtClean="0"/>
          </a:p>
          <a:p>
            <a:r>
              <a:rPr lang="en-US" altLang="zh-CN" sz="1600" dirty="0" smtClean="0"/>
              <a:t>   student = new Student(id);</a:t>
            </a:r>
            <a:endParaRPr lang="en-US" altLang="zh-CN" sz="1600" dirty="0" smtClean="0"/>
          </a:p>
          <a:p>
            <a:r>
              <a:rPr lang="en-US" altLang="zh-CN" sz="1600" dirty="0" smtClean="0"/>
              <a:t>    </a:t>
            </a:r>
            <a:r>
              <a:rPr lang="en-US" altLang="zh-CN" sz="1600" dirty="0" err="1" smtClean="0"/>
              <a:t>cout</a:t>
            </a:r>
            <a:r>
              <a:rPr lang="en-US" altLang="zh-CN" sz="1600" dirty="0" smtClean="0"/>
              <a:t> &lt;&lt;"Constructing \n";  </a:t>
            </a:r>
            <a:endParaRPr lang="en-US" altLang="zh-CN" sz="1600" dirty="0" smtClean="0"/>
          </a:p>
          <a:p>
            <a:r>
              <a:rPr lang="en-US" altLang="zh-CN" sz="1600" dirty="0" smtClean="0"/>
              <a:t>}</a:t>
            </a:r>
            <a:endParaRPr lang="en-US" altLang="zh-CN" sz="16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09550" y="1000125"/>
            <a:ext cx="5524500" cy="697865"/>
          </a:xfrm>
        </p:spPr>
        <p:txBody>
          <a:bodyPr/>
          <a:lstStyle/>
          <a:p>
            <a:pPr>
              <a:lnSpc>
                <a:spcPts val="2880"/>
              </a:lnSpc>
              <a:spcBef>
                <a:spcPts val="0"/>
              </a:spcBef>
            </a:pPr>
            <a:r>
              <a:rPr lang="zh-CN" altLang="en-US" sz="1800" dirty="0" smtClean="0"/>
              <a:t>综合示例，设置软件最大拷贝次数防盗版</a:t>
            </a:r>
            <a:endParaRPr lang="en-US" altLang="zh-CN" sz="1800" dirty="0" smtClean="0"/>
          </a:p>
        </p:txBody>
      </p:sp>
      <p:sp>
        <p:nvSpPr>
          <p:cNvPr id="3" name="标题 2"/>
          <p:cNvSpPr>
            <a:spLocks noGrp="1"/>
          </p:cNvSpPr>
          <p:nvPr>
            <p:ph type="title"/>
          </p:nvPr>
        </p:nvSpPr>
        <p:spPr>
          <a:xfrm>
            <a:off x="847725" y="240348"/>
            <a:ext cx="8229600" cy="868346"/>
          </a:xfrm>
        </p:spPr>
        <p:txBody>
          <a:bodyPr>
            <a:normAutofit/>
          </a:bodyPr>
          <a:lstStyle/>
          <a:p>
            <a:r>
              <a:rPr lang="en-US" altLang="zh-CN" sz="3600" dirty="0" smtClean="0"/>
              <a:t>2.</a:t>
            </a:r>
            <a:r>
              <a:rPr lang="zh-CN" altLang="en-US" sz="3600" dirty="0" smtClean="0"/>
              <a:t>深</a:t>
            </a:r>
            <a:r>
              <a:rPr lang="en-US" altLang="zh-CN" sz="3600" dirty="0" smtClean="0"/>
              <a:t>拷贝</a:t>
            </a:r>
            <a:endParaRPr lang="zh-CN" altLang="en-US" sz="3600" dirty="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pic>
        <p:nvPicPr>
          <p:cNvPr id="2052" name="Picture 4"/>
          <p:cNvPicPr>
            <a:picLocks noChangeAspect="1" noChangeArrowheads="1"/>
          </p:cNvPicPr>
          <p:nvPr/>
        </p:nvPicPr>
        <p:blipFill>
          <a:blip r:embed="rId1"/>
          <a:srcRect/>
          <a:stretch>
            <a:fillRect/>
          </a:stretch>
        </p:blipFill>
        <p:spPr bwMode="auto">
          <a:xfrm>
            <a:off x="6453190" y="142852"/>
            <a:ext cx="3857652" cy="5126482"/>
          </a:xfrm>
          <a:prstGeom prst="rect">
            <a:avLst/>
          </a:prstGeom>
          <a:noFill/>
          <a:ln w="9525">
            <a:noFill/>
            <a:miter lim="800000"/>
            <a:headEnd/>
            <a:tailEnd/>
          </a:ln>
          <a:effectLst/>
        </p:spPr>
      </p:pic>
      <p:pic>
        <p:nvPicPr>
          <p:cNvPr id="2053" name="Picture 5"/>
          <p:cNvPicPr>
            <a:picLocks noChangeAspect="1" noChangeArrowheads="1"/>
          </p:cNvPicPr>
          <p:nvPr/>
        </p:nvPicPr>
        <p:blipFill>
          <a:blip r:embed="rId2"/>
          <a:srcRect/>
          <a:stretch>
            <a:fillRect/>
          </a:stretch>
        </p:blipFill>
        <p:spPr bwMode="auto">
          <a:xfrm>
            <a:off x="847725" y="3538763"/>
            <a:ext cx="3643338" cy="3319237"/>
          </a:xfrm>
          <a:prstGeom prst="rect">
            <a:avLst/>
          </a:prstGeom>
          <a:noFill/>
          <a:ln w="9525">
            <a:noFill/>
            <a:miter lim="800000"/>
            <a:headEnd/>
            <a:tailEnd/>
          </a:ln>
          <a:effectLst/>
        </p:spPr>
      </p:pic>
      <p:pic>
        <p:nvPicPr>
          <p:cNvPr id="2054" name="Picture 6"/>
          <p:cNvPicPr>
            <a:picLocks noChangeAspect="1" noChangeArrowheads="1"/>
          </p:cNvPicPr>
          <p:nvPr/>
        </p:nvPicPr>
        <p:blipFill>
          <a:blip r:embed="rId3"/>
          <a:srcRect/>
          <a:stretch>
            <a:fillRect/>
          </a:stretch>
        </p:blipFill>
        <p:spPr bwMode="auto">
          <a:xfrm>
            <a:off x="581660" y="1402701"/>
            <a:ext cx="3757402" cy="2000264"/>
          </a:xfrm>
          <a:prstGeom prst="rect">
            <a:avLst/>
          </a:prstGeom>
          <a:noFill/>
          <a:ln w="9525">
            <a:noFill/>
            <a:miter lim="800000"/>
            <a:headEnd/>
            <a:tailEnd/>
          </a:ln>
          <a:effectLst/>
        </p:spPr>
      </p:pic>
      <p:pic>
        <p:nvPicPr>
          <p:cNvPr id="2055" name="Picture 7"/>
          <p:cNvPicPr>
            <a:picLocks noChangeAspect="1" noChangeArrowheads="1"/>
          </p:cNvPicPr>
          <p:nvPr/>
        </p:nvPicPr>
        <p:blipFill>
          <a:blip r:embed="rId4"/>
          <a:srcRect/>
          <a:stretch>
            <a:fillRect/>
          </a:stretch>
        </p:blipFill>
        <p:spPr bwMode="auto">
          <a:xfrm>
            <a:off x="6075676" y="5532054"/>
            <a:ext cx="5143504" cy="132594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01295" y="1000125"/>
            <a:ext cx="5938520" cy="1388110"/>
          </a:xfrm>
        </p:spPr>
        <p:txBody>
          <a:bodyPr/>
          <a:lstStyle/>
          <a:p>
            <a:pPr>
              <a:lnSpc>
                <a:spcPts val="2880"/>
              </a:lnSpc>
              <a:spcBef>
                <a:spcPts val="0"/>
              </a:spcBef>
            </a:pPr>
            <a:r>
              <a:rPr lang="zh-CN" altLang="en-US" sz="1800" dirty="0" smtClean="0"/>
              <a:t>综合示例，设置软件最大拷贝次数防盗版</a:t>
            </a:r>
            <a:endParaRPr lang="en-US" altLang="zh-CN" sz="1800" dirty="0" smtClean="0"/>
          </a:p>
        </p:txBody>
      </p:sp>
      <p:sp>
        <p:nvSpPr>
          <p:cNvPr id="3" name="标题 2"/>
          <p:cNvSpPr>
            <a:spLocks noGrp="1"/>
          </p:cNvSpPr>
          <p:nvPr>
            <p:ph type="title"/>
          </p:nvPr>
        </p:nvSpPr>
        <p:spPr>
          <a:xfrm>
            <a:off x="830580" y="360998"/>
            <a:ext cx="8229600" cy="868346"/>
          </a:xfrm>
        </p:spPr>
        <p:txBody>
          <a:bodyPr>
            <a:normAutofit/>
          </a:bodyPr>
          <a:lstStyle/>
          <a:p>
            <a:r>
              <a:rPr lang="en-US" altLang="zh-CN" sz="3600" dirty="0" smtClean="0"/>
              <a:t>2.</a:t>
            </a:r>
            <a:r>
              <a:rPr lang="zh-CN" altLang="en-US" sz="3600" dirty="0" smtClean="0"/>
              <a:t>深</a:t>
            </a:r>
            <a:r>
              <a:rPr lang="en-US" altLang="zh-CN" sz="3600" dirty="0" smtClean="0"/>
              <a:t>拷贝</a:t>
            </a:r>
            <a:endParaRPr lang="zh-CN" altLang="en-US" sz="3600" dirty="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pic>
        <p:nvPicPr>
          <p:cNvPr id="2054" name="Picture 6"/>
          <p:cNvPicPr>
            <a:picLocks noChangeAspect="1" noChangeArrowheads="1"/>
          </p:cNvPicPr>
          <p:nvPr/>
        </p:nvPicPr>
        <p:blipFill>
          <a:blip r:embed="rId1"/>
          <a:srcRect/>
          <a:stretch>
            <a:fillRect/>
          </a:stretch>
        </p:blipFill>
        <p:spPr bwMode="auto">
          <a:xfrm>
            <a:off x="693420" y="1508746"/>
            <a:ext cx="3757402" cy="2000264"/>
          </a:xfrm>
          <a:prstGeom prst="rect">
            <a:avLst/>
          </a:prstGeom>
          <a:noFill/>
          <a:ln w="9525">
            <a:noFill/>
            <a:miter lim="800000"/>
            <a:headEnd/>
            <a:tailEnd/>
          </a:ln>
          <a:effectLst/>
        </p:spPr>
      </p:pic>
      <p:pic>
        <p:nvPicPr>
          <p:cNvPr id="3075" name="Picture 3"/>
          <p:cNvPicPr>
            <a:picLocks noChangeAspect="1" noChangeArrowheads="1"/>
          </p:cNvPicPr>
          <p:nvPr/>
        </p:nvPicPr>
        <p:blipFill>
          <a:blip r:embed="rId2"/>
          <a:srcRect/>
          <a:stretch>
            <a:fillRect/>
          </a:stretch>
        </p:blipFill>
        <p:spPr bwMode="auto">
          <a:xfrm>
            <a:off x="6310921" y="43180"/>
            <a:ext cx="3786214" cy="5099589"/>
          </a:xfrm>
          <a:prstGeom prst="rect">
            <a:avLst/>
          </a:prstGeom>
          <a:noFill/>
          <a:ln w="9525">
            <a:noFill/>
            <a:miter lim="800000"/>
            <a:headEnd/>
            <a:tailEnd/>
          </a:ln>
          <a:effectLst/>
        </p:spPr>
      </p:pic>
      <p:pic>
        <p:nvPicPr>
          <p:cNvPr id="3076" name="Picture 4"/>
          <p:cNvPicPr>
            <a:picLocks noChangeAspect="1" noChangeArrowheads="1"/>
          </p:cNvPicPr>
          <p:nvPr/>
        </p:nvPicPr>
        <p:blipFill>
          <a:blip r:embed="rId3"/>
          <a:srcRect/>
          <a:stretch>
            <a:fillRect/>
          </a:stretch>
        </p:blipFill>
        <p:spPr bwMode="auto">
          <a:xfrm>
            <a:off x="735965" y="3595546"/>
            <a:ext cx="3714744" cy="3348814"/>
          </a:xfrm>
          <a:prstGeom prst="rect">
            <a:avLst/>
          </a:prstGeom>
          <a:noFill/>
          <a:ln w="9525">
            <a:noFill/>
            <a:miter lim="800000"/>
            <a:headEnd/>
            <a:tailEnd/>
          </a:ln>
          <a:effectLst/>
        </p:spPr>
      </p:pic>
      <p:pic>
        <p:nvPicPr>
          <p:cNvPr id="3077" name="Picture 5"/>
          <p:cNvPicPr>
            <a:picLocks noChangeAspect="1" noChangeArrowheads="1"/>
          </p:cNvPicPr>
          <p:nvPr/>
        </p:nvPicPr>
        <p:blipFill>
          <a:blip r:embed="rId4"/>
          <a:srcRect/>
          <a:stretch>
            <a:fillRect/>
          </a:stretch>
        </p:blipFill>
        <p:spPr bwMode="auto">
          <a:xfrm>
            <a:off x="5481120" y="5572116"/>
            <a:ext cx="5186880" cy="128588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01295" y="1000125"/>
            <a:ext cx="5938520" cy="1388110"/>
          </a:xfrm>
        </p:spPr>
        <p:txBody>
          <a:bodyPr/>
          <a:lstStyle/>
          <a:p>
            <a:pPr>
              <a:lnSpc>
                <a:spcPts val="2880"/>
              </a:lnSpc>
              <a:spcBef>
                <a:spcPts val="0"/>
              </a:spcBef>
            </a:pPr>
            <a:r>
              <a:rPr lang="zh-CN" altLang="en-US" sz="1800" dirty="0" smtClean="0"/>
              <a:t>深拷贝示例分析</a:t>
            </a:r>
            <a:endParaRPr lang="en-US" altLang="zh-CN" sz="1800" dirty="0" smtClean="0"/>
          </a:p>
        </p:txBody>
      </p:sp>
      <p:sp>
        <p:nvSpPr>
          <p:cNvPr id="3" name="标题 2"/>
          <p:cNvSpPr>
            <a:spLocks noGrp="1"/>
          </p:cNvSpPr>
          <p:nvPr>
            <p:ph type="title"/>
          </p:nvPr>
        </p:nvSpPr>
        <p:spPr>
          <a:xfrm>
            <a:off x="830580" y="217488"/>
            <a:ext cx="8229600" cy="868346"/>
          </a:xfrm>
        </p:spPr>
        <p:txBody>
          <a:bodyPr>
            <a:normAutofit/>
          </a:bodyPr>
          <a:lstStyle/>
          <a:p>
            <a:r>
              <a:rPr lang="en-US" altLang="zh-CN" sz="3600" dirty="0" smtClean="0"/>
              <a:t>2.</a:t>
            </a:r>
            <a:r>
              <a:rPr lang="zh-CN" altLang="en-US" sz="3600" dirty="0" smtClean="0"/>
              <a:t>深</a:t>
            </a:r>
            <a:r>
              <a:rPr lang="en-US" altLang="zh-CN" sz="3600" dirty="0" smtClean="0"/>
              <a:t>拷贝</a:t>
            </a:r>
            <a:endParaRPr lang="zh-CN" altLang="en-US" sz="3600" dirty="0"/>
          </a:p>
        </p:txBody>
      </p:sp>
      <p:grpSp>
        <p:nvGrpSpPr>
          <p:cNvPr id="6" name="组合 5"/>
          <p:cNvGrpSpPr/>
          <p:nvPr/>
        </p:nvGrpSpPr>
        <p:grpSpPr>
          <a:xfrm>
            <a:off x="8561705" y="2889250"/>
            <a:ext cx="3086100" cy="3047107"/>
            <a:chOff x="13470" y="5368"/>
            <a:chExt cx="4451" cy="4311"/>
          </a:xfrm>
        </p:grpSpPr>
        <p:pic>
          <p:nvPicPr>
            <p:cNvPr id="4" name="图片 3"/>
            <p:cNvPicPr>
              <a:picLocks noChangeAspect="1"/>
            </p:cNvPicPr>
            <p:nvPr/>
          </p:nvPicPr>
          <p:blipFill>
            <a:blip r:embed="rId1"/>
            <a:stretch>
              <a:fillRect/>
            </a:stretch>
          </p:blipFill>
          <p:spPr>
            <a:xfrm>
              <a:off x="13470" y="7104"/>
              <a:ext cx="4451" cy="2575"/>
            </a:xfrm>
            <a:prstGeom prst="rect">
              <a:avLst/>
            </a:prstGeom>
          </p:spPr>
        </p:pic>
        <p:sp>
          <p:nvSpPr>
            <p:cNvPr id="9" name="文本框 8"/>
            <p:cNvSpPr txBox="1"/>
            <p:nvPr/>
          </p:nvSpPr>
          <p:spPr>
            <a:xfrm>
              <a:off x="13470" y="5368"/>
              <a:ext cx="3769" cy="2082"/>
            </a:xfrm>
            <a:prstGeom prst="rect">
              <a:avLst/>
            </a:prstGeom>
          </p:spPr>
          <p:txBody>
            <a:bodyPr vert="horz" wrap="square" lIns="91440" tIns="45720" rIns="91440" bIns="45720" rtlCol="0" anchor="t">
              <a:spAutoFit/>
            </a:bodyPr>
            <a:p>
              <a:pPr marL="0" lvl="0" indent="0">
                <a:lnSpc>
                  <a:spcPct val="90000"/>
                </a:lnSpc>
                <a:spcBef>
                  <a:spcPts val="1000"/>
                </a:spcBef>
                <a:buClr>
                  <a:schemeClr val="accent2"/>
                </a:buClr>
                <a:buFont typeface="Wingdings" panose="05000000000000000000" pitchFamily="2" charset="2"/>
                <a:buNone/>
              </a:pPr>
              <a:r>
                <a:rPr lang="zh-CN" altLang="en-US" b="1">
                  <a:solidFill>
                    <a:srgbClr val="FF0000"/>
                  </a:solidFill>
                </a:rPr>
                <a:t>两行输入：</a:t>
              </a:r>
              <a:endParaRPr lang="zh-CN" altLang="en-US" b="1">
                <a:solidFill>
                  <a:srgbClr val="FF0000"/>
                </a:solidFill>
              </a:endParaRPr>
            </a:p>
            <a:p>
              <a:pPr marL="0" lvl="0" indent="0">
                <a:lnSpc>
                  <a:spcPct val="90000"/>
                </a:lnSpc>
                <a:spcBef>
                  <a:spcPts val="1000"/>
                </a:spcBef>
                <a:buClr>
                  <a:schemeClr val="accent2"/>
                </a:buClr>
                <a:buFont typeface="Wingdings" panose="05000000000000000000" pitchFamily="2" charset="2"/>
                <a:buNone/>
              </a:pPr>
              <a:r>
                <a:rPr lang="en-US" altLang="zh-CN" b="1">
                  <a:solidFill>
                    <a:srgbClr val="FF0000"/>
                  </a:solidFill>
                </a:rPr>
                <a:t>100 tom</a:t>
              </a:r>
              <a:endParaRPr lang="en-US" altLang="zh-CN" b="1">
                <a:solidFill>
                  <a:srgbClr val="FF0000"/>
                </a:solidFill>
              </a:endParaRPr>
            </a:p>
            <a:p>
              <a:pPr marL="0" lvl="0" indent="0">
                <a:lnSpc>
                  <a:spcPct val="90000"/>
                </a:lnSpc>
                <a:spcBef>
                  <a:spcPts val="1000"/>
                </a:spcBef>
                <a:buClr>
                  <a:schemeClr val="accent2"/>
                </a:buClr>
                <a:buFont typeface="Wingdings" panose="05000000000000000000" pitchFamily="2" charset="2"/>
                <a:buNone/>
              </a:pPr>
              <a:r>
                <a:rPr lang="en-US" altLang="zh-CN" b="1">
                  <a:solidFill>
                    <a:srgbClr val="FF0000"/>
                  </a:solidFill>
                </a:rPr>
                <a:t>2022 6 30</a:t>
              </a:r>
              <a:endParaRPr lang="en-US" altLang="zh-CN" b="1">
                <a:solidFill>
                  <a:srgbClr val="FF0000"/>
                </a:solidFill>
              </a:endParaRPr>
            </a:p>
            <a:p>
              <a:pPr marL="0" lvl="0" indent="0">
                <a:lnSpc>
                  <a:spcPct val="90000"/>
                </a:lnSpc>
                <a:spcBef>
                  <a:spcPts val="1000"/>
                </a:spcBef>
                <a:buClr>
                  <a:schemeClr val="accent2"/>
                </a:buClr>
                <a:buFont typeface="Wingdings" panose="05000000000000000000" pitchFamily="2" charset="2"/>
                <a:buNone/>
              </a:pPr>
              <a:endParaRPr lang="en-US" altLang="zh-CN" b="1">
                <a:solidFill>
                  <a:srgbClr val="FF0000"/>
                </a:solidFill>
              </a:endParaRPr>
            </a:p>
          </p:txBody>
        </p:sp>
      </p:grpSp>
      <p:pic>
        <p:nvPicPr>
          <p:cNvPr id="7" name="图片 6"/>
          <p:cNvPicPr>
            <a:picLocks noChangeAspect="1"/>
          </p:cNvPicPr>
          <p:nvPr/>
        </p:nvPicPr>
        <p:blipFill>
          <a:blip r:embed="rId2"/>
          <a:stretch>
            <a:fillRect/>
          </a:stretch>
        </p:blipFill>
        <p:spPr>
          <a:xfrm>
            <a:off x="4017645" y="269875"/>
            <a:ext cx="4276725" cy="6438900"/>
          </a:xfrm>
          <a:prstGeom prst="rect">
            <a:avLst/>
          </a:prstGeom>
        </p:spPr>
      </p:pic>
      <p:pic>
        <p:nvPicPr>
          <p:cNvPr id="8" name="图片 7"/>
          <p:cNvPicPr>
            <a:picLocks noChangeAspect="1"/>
          </p:cNvPicPr>
          <p:nvPr/>
        </p:nvPicPr>
        <p:blipFill>
          <a:blip r:embed="rId3"/>
          <a:stretch>
            <a:fillRect/>
          </a:stretch>
        </p:blipFill>
        <p:spPr>
          <a:xfrm>
            <a:off x="106045" y="2691765"/>
            <a:ext cx="3614420" cy="2667635"/>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575685" y="1315720"/>
            <a:ext cx="6001385" cy="4664075"/>
          </a:xfrm>
          <a:prstGeom prst="rect">
            <a:avLst/>
          </a:prstGeom>
        </p:spPr>
        <p:txBody>
          <a:bodyPr vert="horz" lIns="91440" tIns="45720" rIns="91440" bIns="45720" rtlCol="0">
            <a:noAutofit/>
          </a:bodyPr>
          <a:lstStyle/>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拷贝构造函数</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深拷贝</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各种对象</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构造函数与类型转换</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en-US" altLang="zh-CN" sz="2800" b="0" i="0" u="none" strike="noStrike" kern="1200" cap="none" spc="0" normalizeH="0" baseline="0" noProof="0" dirty="0" smtClean="0">
              <a:ln>
                <a:noFill/>
              </a:ln>
              <a:solidFill>
                <a:schemeClr val="tx1"/>
              </a:solidFill>
              <a:effectLst/>
              <a:uLnTx/>
              <a:uFillTx/>
              <a:latin typeface="黑体" panose="02010609060101010101" pitchFamily="2" charset="-122"/>
              <a:ea typeface="黑体" panose="02010609060101010101" pitchFamily="2" charset="-122"/>
              <a:cs typeface="+mn-cs"/>
              <a:sym typeface="+mn-lt"/>
            </a:endParaRPr>
          </a:p>
        </p:txBody>
      </p:sp>
      <p:sp>
        <p:nvSpPr>
          <p:cNvPr id="8" name="矩形 7"/>
          <p:cNvSpPr/>
          <p:nvPr/>
        </p:nvSpPr>
        <p:spPr>
          <a:xfrm>
            <a:off x="4041775" y="2359025"/>
            <a:ext cx="3390265" cy="3911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spd="med">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04466" y="996299"/>
            <a:ext cx="8429684" cy="4500594"/>
          </a:xfrm>
        </p:spPr>
        <p:txBody>
          <a:bodyPr/>
          <a:lstStyle/>
          <a:p>
            <a:pPr>
              <a:lnSpc>
                <a:spcPts val="2880"/>
              </a:lnSpc>
              <a:spcBef>
                <a:spcPts val="0"/>
              </a:spcBef>
            </a:pPr>
            <a:r>
              <a:rPr lang="zh-CN" altLang="en-US" sz="2000" dirty="0" smtClean="0"/>
              <a:t>当函数返回值是对象时，要创建一个</a:t>
            </a:r>
            <a:r>
              <a:rPr lang="zh-CN" altLang="en-US" sz="2000" b="1" dirty="0" smtClean="0">
                <a:solidFill>
                  <a:srgbClr val="FF0000"/>
                </a:solidFill>
              </a:rPr>
              <a:t>临时对象</a:t>
            </a:r>
            <a:r>
              <a:rPr lang="zh-CN" altLang="en-US" sz="2000" dirty="0" smtClean="0"/>
              <a:t>来存放返回的对象</a:t>
            </a:r>
            <a:endParaRPr lang="en-US" altLang="zh-CN" sz="2000" dirty="0" smtClean="0"/>
          </a:p>
          <a:p>
            <a:pPr>
              <a:lnSpc>
                <a:spcPts val="2880"/>
              </a:lnSpc>
              <a:spcBef>
                <a:spcPts val="0"/>
              </a:spcBef>
              <a:buNone/>
            </a:pPr>
            <a:r>
              <a:rPr lang="en-US" altLang="zh-CN" sz="1600" dirty="0" smtClean="0"/>
              <a:t>Student </a:t>
            </a:r>
            <a:r>
              <a:rPr lang="en-US" altLang="zh-CN" sz="1600" dirty="0" err="1" smtClean="0"/>
              <a:t>Func</a:t>
            </a:r>
            <a:r>
              <a:rPr lang="en-US" altLang="zh-CN" sz="1600" dirty="0" smtClean="0"/>
              <a:t>()</a:t>
            </a:r>
            <a:endParaRPr lang="en-US" altLang="zh-CN" sz="1600" dirty="0" smtClean="0"/>
          </a:p>
          <a:p>
            <a:pPr>
              <a:lnSpc>
                <a:spcPts val="2880"/>
              </a:lnSpc>
              <a:spcBef>
                <a:spcPts val="0"/>
              </a:spcBef>
              <a:buNone/>
            </a:pPr>
            <a:r>
              <a:rPr lang="en-US" altLang="zh-CN" sz="1600" dirty="0" smtClean="0"/>
              <a:t>{ ……</a:t>
            </a:r>
            <a:endParaRPr lang="en-US" altLang="zh-CN" sz="1600" dirty="0" smtClean="0"/>
          </a:p>
          <a:p>
            <a:pPr>
              <a:lnSpc>
                <a:spcPts val="2880"/>
              </a:lnSpc>
              <a:spcBef>
                <a:spcPts val="0"/>
              </a:spcBef>
              <a:buNone/>
            </a:pPr>
            <a:r>
              <a:rPr lang="en-US" altLang="zh-CN" sz="1600" dirty="0" smtClean="0"/>
              <a:t>  </a:t>
            </a:r>
            <a:r>
              <a:rPr lang="en-US" altLang="zh-CN" sz="1600" dirty="0" err="1" smtClean="0"/>
              <a:t>Stuedent</a:t>
            </a:r>
            <a:r>
              <a:rPr lang="en-US" altLang="zh-CN" sz="1600" dirty="0" smtClean="0"/>
              <a:t> ms(“Randy”);</a:t>
            </a:r>
            <a:endParaRPr lang="en-US" altLang="zh-CN" sz="1600" dirty="0" smtClean="0"/>
          </a:p>
          <a:p>
            <a:pPr>
              <a:lnSpc>
                <a:spcPts val="2880"/>
              </a:lnSpc>
              <a:spcBef>
                <a:spcPts val="0"/>
              </a:spcBef>
              <a:buNone/>
            </a:pPr>
            <a:r>
              <a:rPr lang="en-US" altLang="zh-CN" sz="1600" dirty="0" smtClean="0"/>
              <a:t>  return ms;</a:t>
            </a:r>
            <a:endParaRPr lang="en-US" altLang="zh-CN" sz="1600" dirty="0" smtClean="0"/>
          </a:p>
          <a:p>
            <a:pPr>
              <a:lnSpc>
                <a:spcPts val="2880"/>
              </a:lnSpc>
              <a:spcBef>
                <a:spcPts val="0"/>
              </a:spcBef>
              <a:buNone/>
            </a:pPr>
            <a:r>
              <a:rPr lang="en-US" altLang="zh-CN" sz="1600" dirty="0" smtClean="0"/>
              <a:t>}</a:t>
            </a:r>
            <a:endParaRPr lang="en-US" altLang="zh-CN" sz="1600" dirty="0" smtClean="0"/>
          </a:p>
          <a:p>
            <a:pPr>
              <a:lnSpc>
                <a:spcPts val="2880"/>
              </a:lnSpc>
              <a:spcBef>
                <a:spcPts val="0"/>
              </a:spcBef>
              <a:buNone/>
            </a:pPr>
            <a:r>
              <a:rPr lang="en-US" altLang="zh-CN" sz="1600" dirty="0" smtClean="0"/>
              <a:t>void main()</a:t>
            </a:r>
            <a:endParaRPr lang="en-US" altLang="zh-CN" sz="1600" dirty="0" smtClean="0"/>
          </a:p>
          <a:p>
            <a:pPr>
              <a:lnSpc>
                <a:spcPts val="2880"/>
              </a:lnSpc>
              <a:spcBef>
                <a:spcPts val="0"/>
              </a:spcBef>
              <a:buNone/>
            </a:pPr>
            <a:r>
              <a:rPr lang="en-US" altLang="zh-CN" sz="1600" dirty="0" smtClean="0"/>
              <a:t>{ Student </a:t>
            </a:r>
            <a:r>
              <a:rPr lang="en-US" altLang="zh-CN" sz="1600" dirty="0" err="1" smtClean="0"/>
              <a:t>obj</a:t>
            </a:r>
            <a:r>
              <a:rPr lang="en-US" altLang="zh-CN" sz="1600" dirty="0" smtClean="0"/>
              <a:t>;</a:t>
            </a:r>
            <a:endParaRPr lang="en-US" altLang="zh-CN" sz="1600" dirty="0" smtClean="0"/>
          </a:p>
          <a:p>
            <a:pPr>
              <a:lnSpc>
                <a:spcPts val="2880"/>
              </a:lnSpc>
              <a:spcBef>
                <a:spcPts val="0"/>
              </a:spcBef>
              <a:buNone/>
            </a:pPr>
            <a:r>
              <a:rPr lang="en-US" altLang="zh-CN" sz="1600" dirty="0" smtClean="0"/>
              <a:t>  fn(); //</a:t>
            </a:r>
            <a:r>
              <a:rPr lang="zh-CN" altLang="en-US" sz="1600" dirty="0" smtClean="0"/>
              <a:t>可以通过，但返回值会丢失</a:t>
            </a:r>
            <a:endParaRPr lang="en-US" altLang="zh-CN" sz="1600" dirty="0" smtClean="0"/>
          </a:p>
          <a:p>
            <a:pPr>
              <a:lnSpc>
                <a:spcPts val="2880"/>
              </a:lnSpc>
              <a:spcBef>
                <a:spcPts val="0"/>
              </a:spcBef>
              <a:buNone/>
            </a:pPr>
            <a:r>
              <a:rPr lang="en-US" altLang="zh-CN" sz="1600" dirty="0" smtClean="0"/>
              <a:t>  </a:t>
            </a:r>
            <a:r>
              <a:rPr lang="en-US" altLang="zh-CN" sz="1600" dirty="0" err="1" smtClean="0"/>
              <a:t>obj</a:t>
            </a:r>
            <a:r>
              <a:rPr lang="en-US" altLang="zh-CN" sz="1600" dirty="0" smtClean="0"/>
              <a:t> = fn()</a:t>
            </a:r>
            <a:r>
              <a:rPr lang="en-US" altLang="zh-CN" sz="1600" b="1" dirty="0" smtClean="0">
                <a:solidFill>
                  <a:srgbClr val="FF0000"/>
                </a:solidFill>
              </a:rPr>
              <a:t>;//</a:t>
            </a:r>
            <a:r>
              <a:rPr lang="zh-CN" altLang="en-US" sz="1600" b="1" dirty="0" smtClean="0">
                <a:solidFill>
                  <a:srgbClr val="FF0000"/>
                </a:solidFill>
              </a:rPr>
              <a:t>用一个对象接收返回值</a:t>
            </a:r>
            <a:endParaRPr lang="en-US" altLang="zh-CN" sz="1600" b="1" dirty="0" smtClean="0">
              <a:solidFill>
                <a:srgbClr val="FF0000"/>
              </a:solidFill>
            </a:endParaRPr>
          </a:p>
          <a:p>
            <a:pPr>
              <a:lnSpc>
                <a:spcPts val="2880"/>
              </a:lnSpc>
              <a:spcBef>
                <a:spcPts val="0"/>
              </a:spcBef>
              <a:buNone/>
            </a:pPr>
            <a:r>
              <a:rPr lang="en-US" altLang="zh-CN" sz="1600" b="1" dirty="0" smtClean="0">
                <a:solidFill>
                  <a:srgbClr val="FF0000"/>
                </a:solidFill>
              </a:rPr>
              <a:t>		//</a:t>
            </a:r>
            <a:r>
              <a:rPr lang="zh-CN" altLang="en-US" sz="1600" b="1" dirty="0" smtClean="0">
                <a:solidFill>
                  <a:srgbClr val="FF0000"/>
                </a:solidFill>
              </a:rPr>
              <a:t>会调用拷贝构造函数</a:t>
            </a:r>
            <a:endParaRPr lang="en-US" altLang="zh-CN" sz="1600" b="1" dirty="0" smtClean="0">
              <a:solidFill>
                <a:srgbClr val="FF0000"/>
              </a:solidFill>
            </a:endParaRPr>
          </a:p>
          <a:p>
            <a:pPr>
              <a:lnSpc>
                <a:spcPts val="2880"/>
              </a:lnSpc>
              <a:spcBef>
                <a:spcPts val="0"/>
              </a:spcBef>
              <a:buNone/>
            </a:pPr>
            <a:r>
              <a:rPr lang="en-US" altLang="zh-CN" sz="1600" b="1" dirty="0" smtClean="0">
                <a:solidFill>
                  <a:srgbClr val="FF0000"/>
                </a:solidFill>
              </a:rPr>
              <a:t>		//</a:t>
            </a:r>
            <a:r>
              <a:rPr lang="zh-CN" altLang="en-US" sz="1600" b="1" dirty="0" smtClean="0">
                <a:solidFill>
                  <a:srgbClr val="FF0000"/>
                </a:solidFill>
              </a:rPr>
              <a:t>要注意浅拷贝可能引发的问题</a:t>
            </a:r>
            <a:endParaRPr lang="en-US" altLang="zh-CN" sz="1600" b="1" dirty="0" smtClean="0">
              <a:solidFill>
                <a:srgbClr val="FF0000"/>
              </a:solidFill>
            </a:endParaRPr>
          </a:p>
          <a:p>
            <a:pPr>
              <a:lnSpc>
                <a:spcPts val="2880"/>
              </a:lnSpc>
              <a:spcBef>
                <a:spcPts val="0"/>
              </a:spcBef>
              <a:buNone/>
            </a:pPr>
            <a:r>
              <a:rPr lang="en-US" altLang="zh-CN" sz="1600" dirty="0" smtClean="0"/>
              <a:t>}</a:t>
            </a:r>
            <a:endParaRPr lang="en-US" altLang="zh-CN" sz="1600" dirty="0" smtClean="0"/>
          </a:p>
        </p:txBody>
      </p:sp>
      <p:sp>
        <p:nvSpPr>
          <p:cNvPr id="3" name="标题 2"/>
          <p:cNvSpPr>
            <a:spLocks noGrp="1"/>
          </p:cNvSpPr>
          <p:nvPr>
            <p:ph type="title"/>
          </p:nvPr>
        </p:nvSpPr>
        <p:spPr>
          <a:xfrm>
            <a:off x="839470" y="274638"/>
            <a:ext cx="8229600" cy="868346"/>
          </a:xfrm>
        </p:spPr>
        <p:txBody>
          <a:bodyPr>
            <a:normAutofit/>
          </a:bodyPr>
          <a:lstStyle/>
          <a:p>
            <a:r>
              <a:rPr lang="en-US" altLang="zh-CN" sz="3600" dirty="0" smtClean="0"/>
              <a:t>3.</a:t>
            </a:r>
            <a:r>
              <a:rPr lang="zh-CN" altLang="en-US" sz="3600" dirty="0" smtClean="0"/>
              <a:t>各种对象</a:t>
            </a:r>
            <a:endParaRPr lang="zh-CN" altLang="en-US" sz="3600" dirty="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pic>
        <p:nvPicPr>
          <p:cNvPr id="2051" name="Picture 3"/>
          <p:cNvPicPr>
            <a:picLocks noChangeAspect="1" noChangeArrowheads="1"/>
          </p:cNvPicPr>
          <p:nvPr/>
        </p:nvPicPr>
        <p:blipFill>
          <a:blip r:embed="rId1"/>
          <a:srcRect/>
          <a:stretch>
            <a:fillRect/>
          </a:stretch>
        </p:blipFill>
        <p:spPr bwMode="auto">
          <a:xfrm>
            <a:off x="5953124" y="2071678"/>
            <a:ext cx="4264939" cy="2928958"/>
          </a:xfrm>
          <a:prstGeom prst="rect">
            <a:avLst/>
          </a:prstGeom>
          <a:noFill/>
          <a:ln w="9525">
            <a:noFill/>
            <a:miter lim="800000"/>
            <a:headEnd/>
            <a:tailEnd/>
          </a:ln>
          <a:effectLst/>
        </p:spPr>
      </p:pic>
      <p:sp>
        <p:nvSpPr>
          <p:cNvPr id="6" name="矩形 5"/>
          <p:cNvSpPr/>
          <p:nvPr/>
        </p:nvSpPr>
        <p:spPr>
          <a:xfrm>
            <a:off x="5513696" y="5357828"/>
            <a:ext cx="5143536" cy="829945"/>
          </a:xfrm>
          <a:prstGeom prst="rect">
            <a:avLst/>
          </a:prstGeom>
        </p:spPr>
        <p:txBody>
          <a:bodyPr wrap="square">
            <a:spAutoFit/>
          </a:bodyPr>
          <a:lstStyle/>
          <a:p>
            <a:pPr>
              <a:spcBef>
                <a:spcPts val="0"/>
              </a:spcBef>
            </a:pPr>
            <a:r>
              <a:rPr lang="zh-CN" altLang="en-US" sz="1600" b="1" dirty="0" smtClean="0"/>
              <a:t>临时对象的生命周期是创建它的外部表达式的范围。例如上述代码，临时对象有效期就是</a:t>
            </a:r>
            <a:r>
              <a:rPr lang="en-US" altLang="zh-CN" sz="1600" b="1" dirty="0" err="1" smtClean="0"/>
              <a:t>obj</a:t>
            </a:r>
            <a:r>
              <a:rPr lang="en-US" altLang="zh-CN" sz="1600" b="1" dirty="0" smtClean="0"/>
              <a:t> = fn();</a:t>
            </a:r>
            <a:r>
              <a:rPr lang="zh-CN" altLang="en-US" sz="1600" b="1" dirty="0" smtClean="0"/>
              <a:t>这一行语句，当执行到分号，临时对象就被析构。</a:t>
            </a:r>
            <a:endParaRPr lang="en-US" altLang="zh-CN" sz="1600" b="1"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05101" y="978519"/>
            <a:ext cx="8429684" cy="4500594"/>
          </a:xfrm>
        </p:spPr>
        <p:txBody>
          <a:bodyPr/>
          <a:lstStyle/>
          <a:p>
            <a:pPr>
              <a:lnSpc>
                <a:spcPts val="2880"/>
              </a:lnSpc>
              <a:spcBef>
                <a:spcPts val="0"/>
              </a:spcBef>
            </a:pPr>
            <a:r>
              <a:rPr lang="zh-CN" altLang="en-US" sz="2000" dirty="0" smtClean="0"/>
              <a:t>临时对象的错误示例</a:t>
            </a:r>
            <a:endParaRPr lang="en-US" altLang="zh-CN" sz="2000" dirty="0" smtClean="0"/>
          </a:p>
          <a:p>
            <a:pPr>
              <a:lnSpc>
                <a:spcPts val="2880"/>
              </a:lnSpc>
              <a:spcBef>
                <a:spcPts val="0"/>
              </a:spcBef>
              <a:buNone/>
            </a:pPr>
            <a:r>
              <a:rPr lang="en-US" altLang="zh-CN" sz="1600" dirty="0" smtClean="0"/>
              <a:t>Student&amp; fn()</a:t>
            </a:r>
            <a:endParaRPr lang="en-US" altLang="zh-CN" sz="1600" dirty="0" smtClean="0"/>
          </a:p>
          <a:p>
            <a:pPr>
              <a:lnSpc>
                <a:spcPts val="2880"/>
              </a:lnSpc>
              <a:spcBef>
                <a:spcPts val="0"/>
              </a:spcBef>
              <a:buNone/>
            </a:pPr>
            <a:r>
              <a:rPr lang="en-US" altLang="zh-CN" sz="1600" dirty="0" smtClean="0"/>
              <a:t>{ ……</a:t>
            </a:r>
            <a:endParaRPr lang="en-US" altLang="zh-CN" sz="1600" dirty="0" smtClean="0"/>
          </a:p>
          <a:p>
            <a:pPr>
              <a:lnSpc>
                <a:spcPts val="2880"/>
              </a:lnSpc>
              <a:spcBef>
                <a:spcPts val="0"/>
              </a:spcBef>
              <a:buNone/>
            </a:pPr>
            <a:r>
              <a:rPr lang="en-US" altLang="zh-CN" sz="1600" dirty="0" smtClean="0"/>
              <a:t>  </a:t>
            </a:r>
            <a:r>
              <a:rPr lang="en-US" altLang="zh-CN" sz="1600" dirty="0" err="1" smtClean="0"/>
              <a:t>Stuedent</a:t>
            </a:r>
            <a:r>
              <a:rPr lang="en-US" altLang="zh-CN" sz="1600" dirty="0" smtClean="0"/>
              <a:t> s1(“Randy”);</a:t>
            </a:r>
            <a:endParaRPr lang="en-US" altLang="zh-CN" sz="1600" dirty="0" smtClean="0"/>
          </a:p>
          <a:p>
            <a:pPr>
              <a:lnSpc>
                <a:spcPts val="2880"/>
              </a:lnSpc>
              <a:spcBef>
                <a:spcPts val="0"/>
              </a:spcBef>
              <a:buNone/>
            </a:pPr>
            <a:r>
              <a:rPr lang="en-US" altLang="zh-CN" sz="1600" dirty="0" smtClean="0"/>
              <a:t>  return s1;</a:t>
            </a:r>
            <a:endParaRPr lang="en-US" altLang="zh-CN" sz="1600" dirty="0" smtClean="0"/>
          </a:p>
          <a:p>
            <a:pPr>
              <a:lnSpc>
                <a:spcPts val="2880"/>
              </a:lnSpc>
              <a:spcBef>
                <a:spcPts val="0"/>
              </a:spcBef>
              <a:buNone/>
            </a:pPr>
            <a:r>
              <a:rPr lang="en-US" altLang="zh-CN" sz="1600" dirty="0" smtClean="0"/>
              <a:t>}</a:t>
            </a:r>
            <a:endParaRPr lang="en-US" altLang="zh-CN" sz="1600" dirty="0" smtClean="0"/>
          </a:p>
          <a:p>
            <a:pPr>
              <a:lnSpc>
                <a:spcPts val="2880"/>
              </a:lnSpc>
              <a:spcBef>
                <a:spcPts val="0"/>
              </a:spcBef>
              <a:buNone/>
            </a:pPr>
            <a:r>
              <a:rPr lang="en-US" altLang="zh-CN" sz="1600" dirty="0" smtClean="0"/>
              <a:t>void main()</a:t>
            </a:r>
            <a:endParaRPr lang="en-US" altLang="zh-CN" sz="1600" dirty="0" smtClean="0"/>
          </a:p>
          <a:p>
            <a:pPr>
              <a:lnSpc>
                <a:spcPts val="2880"/>
              </a:lnSpc>
              <a:spcBef>
                <a:spcPts val="0"/>
              </a:spcBef>
              <a:buNone/>
            </a:pPr>
            <a:r>
              <a:rPr lang="en-US" altLang="zh-CN" sz="1600" dirty="0" smtClean="0"/>
              <a:t>{  Student &amp;</a:t>
            </a:r>
            <a:r>
              <a:rPr lang="en-US" altLang="zh-CN" sz="1600" dirty="0" err="1" smtClean="0"/>
              <a:t>obj</a:t>
            </a:r>
            <a:r>
              <a:rPr lang="en-US" altLang="zh-CN" sz="1600" dirty="0" smtClean="0"/>
              <a:t> = fn(); </a:t>
            </a:r>
            <a:endParaRPr lang="en-US" altLang="zh-CN" sz="1600" dirty="0" smtClean="0"/>
          </a:p>
          <a:p>
            <a:pPr>
              <a:lnSpc>
                <a:spcPts val="2880"/>
              </a:lnSpc>
              <a:spcBef>
                <a:spcPts val="0"/>
              </a:spcBef>
              <a:buNone/>
            </a:pPr>
            <a:r>
              <a:rPr lang="en-US" altLang="zh-CN" sz="1600" dirty="0" smtClean="0"/>
              <a:t>   //</a:t>
            </a:r>
            <a:r>
              <a:rPr lang="zh-CN" altLang="en-US" sz="1600" dirty="0" smtClean="0"/>
              <a:t>后面使用</a:t>
            </a:r>
            <a:r>
              <a:rPr lang="en-US" altLang="zh-CN" sz="1600" dirty="0" err="1" smtClean="0"/>
              <a:t>obj</a:t>
            </a:r>
            <a:r>
              <a:rPr lang="zh-CN" altLang="en-US" sz="1600" dirty="0" smtClean="0"/>
              <a:t>的任何代码都是错误的</a:t>
            </a:r>
            <a:endParaRPr lang="en-US" altLang="zh-CN" sz="1600" dirty="0" smtClean="0"/>
          </a:p>
          <a:p>
            <a:pPr>
              <a:lnSpc>
                <a:spcPts val="2880"/>
              </a:lnSpc>
              <a:spcBef>
                <a:spcPts val="0"/>
              </a:spcBef>
              <a:buNone/>
            </a:pPr>
            <a:r>
              <a:rPr lang="en-US" altLang="zh-CN" sz="1600" dirty="0" smtClean="0"/>
              <a:t>   //</a:t>
            </a:r>
            <a:r>
              <a:rPr lang="zh-CN" altLang="en-US" sz="1600" dirty="0" smtClean="0"/>
              <a:t>因为</a:t>
            </a:r>
            <a:r>
              <a:rPr lang="en-US" altLang="zh-CN" sz="1600" dirty="0" err="1" smtClean="0"/>
              <a:t>obj</a:t>
            </a:r>
            <a:r>
              <a:rPr lang="zh-CN" altLang="en-US" sz="1600" dirty="0" smtClean="0"/>
              <a:t>是对</a:t>
            </a:r>
            <a:r>
              <a:rPr lang="en-US" altLang="zh-CN" sz="1600" dirty="0" smtClean="0"/>
              <a:t>fn</a:t>
            </a:r>
            <a:r>
              <a:rPr lang="zh-CN" altLang="en-US" sz="1600" dirty="0" smtClean="0"/>
              <a:t>函数返回对象的引用，但是该对象在这一行语句已经被析构</a:t>
            </a:r>
            <a:endParaRPr lang="en-US" altLang="zh-CN" sz="1600" dirty="0" smtClean="0"/>
          </a:p>
          <a:p>
            <a:pPr>
              <a:lnSpc>
                <a:spcPts val="2880"/>
              </a:lnSpc>
              <a:spcBef>
                <a:spcPts val="0"/>
              </a:spcBef>
              <a:buNone/>
            </a:pPr>
            <a:r>
              <a:rPr lang="en-US" altLang="zh-CN" sz="1600" dirty="0" smtClean="0"/>
              <a:t>}</a:t>
            </a:r>
            <a:endParaRPr lang="en-US" altLang="zh-CN" sz="1600" dirty="0" smtClean="0"/>
          </a:p>
        </p:txBody>
      </p:sp>
      <p:sp>
        <p:nvSpPr>
          <p:cNvPr id="3" name="标题 2"/>
          <p:cNvSpPr>
            <a:spLocks noGrp="1"/>
          </p:cNvSpPr>
          <p:nvPr>
            <p:ph type="title"/>
          </p:nvPr>
        </p:nvSpPr>
        <p:spPr>
          <a:xfrm>
            <a:off x="787400" y="274638"/>
            <a:ext cx="8229600" cy="868346"/>
          </a:xfrm>
        </p:spPr>
        <p:txBody>
          <a:bodyPr>
            <a:normAutofit/>
          </a:bodyPr>
          <a:lstStyle/>
          <a:p>
            <a:r>
              <a:rPr lang="en-US" altLang="zh-CN" sz="3600" dirty="0" smtClean="0"/>
              <a:t>3.</a:t>
            </a:r>
            <a:r>
              <a:rPr lang="zh-CN" altLang="en-US" sz="3600" dirty="0" smtClean="0"/>
              <a:t>各种对象</a:t>
            </a:r>
            <a:endParaRPr lang="zh-CN" altLang="en-US" sz="36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52396" y="970264"/>
            <a:ext cx="8429684" cy="4500594"/>
          </a:xfrm>
        </p:spPr>
        <p:txBody>
          <a:bodyPr/>
          <a:lstStyle/>
          <a:p>
            <a:pPr>
              <a:lnSpc>
                <a:spcPts val="2880"/>
              </a:lnSpc>
              <a:spcBef>
                <a:spcPts val="0"/>
              </a:spcBef>
            </a:pPr>
            <a:r>
              <a:rPr lang="zh-CN" altLang="en-US" sz="2000" dirty="0" smtClean="0"/>
              <a:t>无名对象，当直接调用构造函数会产生无名对象</a:t>
            </a:r>
            <a:endParaRPr lang="en-US" altLang="zh-CN" sz="2000" dirty="0" smtClean="0"/>
          </a:p>
          <a:p>
            <a:pPr>
              <a:lnSpc>
                <a:spcPts val="2000"/>
              </a:lnSpc>
              <a:spcBef>
                <a:spcPts val="0"/>
              </a:spcBef>
              <a:buNone/>
            </a:pPr>
            <a:r>
              <a:rPr lang="en-US" altLang="zh-CN" sz="1600" dirty="0" smtClean="0"/>
              <a:t>class Student{</a:t>
            </a:r>
            <a:endParaRPr lang="en-US" altLang="zh-CN" sz="1600" dirty="0" smtClean="0"/>
          </a:p>
          <a:p>
            <a:pPr>
              <a:lnSpc>
                <a:spcPts val="2000"/>
              </a:lnSpc>
              <a:spcBef>
                <a:spcPts val="0"/>
              </a:spcBef>
              <a:buNone/>
            </a:pPr>
            <a:r>
              <a:rPr lang="en-US" altLang="zh-CN" sz="1600" dirty="0" smtClean="0"/>
              <a:t>public:</a:t>
            </a:r>
            <a:endParaRPr lang="en-US" altLang="zh-CN" sz="1600" dirty="0" smtClean="0"/>
          </a:p>
          <a:p>
            <a:pPr>
              <a:lnSpc>
                <a:spcPts val="2000"/>
              </a:lnSpc>
              <a:spcBef>
                <a:spcPts val="0"/>
              </a:spcBef>
              <a:buNone/>
            </a:pPr>
            <a:r>
              <a:rPr lang="en-US" altLang="zh-CN" sz="1600" dirty="0" smtClean="0"/>
              <a:t>  Student(char* </a:t>
            </a:r>
            <a:r>
              <a:rPr lang="en-US" altLang="zh-CN" sz="1600" dirty="0" err="1" smtClean="0"/>
              <a:t>pName</a:t>
            </a:r>
            <a:r>
              <a:rPr lang="en-US" altLang="zh-CN" sz="1600" dirty="0" smtClean="0"/>
              <a:t>=“no name”)</a:t>
            </a:r>
            <a:r>
              <a:rPr lang="zh-CN" altLang="en-US" sz="1600" dirty="0" smtClean="0"/>
              <a:t>；</a:t>
            </a:r>
            <a:endParaRPr lang="en-US" altLang="zh-CN" sz="1600" dirty="0" smtClean="0"/>
          </a:p>
          <a:p>
            <a:pPr>
              <a:lnSpc>
                <a:spcPts val="2000"/>
              </a:lnSpc>
              <a:spcBef>
                <a:spcPts val="0"/>
              </a:spcBef>
              <a:buNone/>
            </a:pPr>
            <a:r>
              <a:rPr lang="en-US" altLang="zh-CN" sz="1600" dirty="0" smtClean="0"/>
              <a:t>  {…… }</a:t>
            </a:r>
            <a:endParaRPr lang="en-US" altLang="zh-CN" sz="1600" dirty="0" smtClean="0"/>
          </a:p>
          <a:p>
            <a:pPr>
              <a:lnSpc>
                <a:spcPts val="2000"/>
              </a:lnSpc>
              <a:spcBef>
                <a:spcPts val="0"/>
              </a:spcBef>
              <a:buNone/>
            </a:pPr>
            <a:r>
              <a:rPr lang="en-US" altLang="zh-CN" sz="1600" dirty="0" smtClean="0"/>
              <a:t>……</a:t>
            </a:r>
            <a:endParaRPr lang="en-US" altLang="zh-CN" sz="1600" dirty="0" smtClean="0"/>
          </a:p>
          <a:p>
            <a:pPr>
              <a:lnSpc>
                <a:spcPts val="2000"/>
              </a:lnSpc>
              <a:spcBef>
                <a:spcPts val="0"/>
              </a:spcBef>
              <a:buNone/>
            </a:pPr>
            <a:r>
              <a:rPr lang="en-US" altLang="zh-CN" sz="1600" dirty="0" smtClean="0"/>
              <a:t>}</a:t>
            </a:r>
            <a:endParaRPr lang="en-US" altLang="zh-CN" sz="1600" dirty="0" smtClean="0"/>
          </a:p>
          <a:p>
            <a:pPr>
              <a:lnSpc>
                <a:spcPts val="2000"/>
              </a:lnSpc>
              <a:spcBef>
                <a:spcPts val="0"/>
              </a:spcBef>
              <a:buNone/>
            </a:pPr>
            <a:r>
              <a:rPr lang="en-US" altLang="zh-CN" sz="1600" dirty="0" smtClean="0"/>
              <a:t>void  fn()</a:t>
            </a:r>
            <a:endParaRPr lang="en-US" altLang="zh-CN" sz="1600" dirty="0" smtClean="0"/>
          </a:p>
          <a:p>
            <a:pPr>
              <a:lnSpc>
                <a:spcPts val="2000"/>
              </a:lnSpc>
              <a:spcBef>
                <a:spcPts val="0"/>
              </a:spcBef>
              <a:buNone/>
            </a:pPr>
            <a:r>
              <a:rPr lang="en-US" altLang="zh-CN" sz="1600" dirty="0" smtClean="0"/>
              <a:t>{ </a:t>
            </a:r>
            <a:r>
              <a:rPr lang="en-US" altLang="zh-CN" sz="1600" dirty="0" err="1" smtClean="0"/>
              <a:t>Stuedent</a:t>
            </a:r>
            <a:r>
              <a:rPr lang="en-US" altLang="zh-CN" sz="1600" dirty="0" smtClean="0"/>
              <a:t>(“Randy”); //</a:t>
            </a:r>
            <a:r>
              <a:rPr lang="zh-CN" altLang="en-US" sz="1600" dirty="0" smtClean="0"/>
              <a:t>创建了一个无名对象</a:t>
            </a:r>
            <a:endParaRPr lang="en-US" altLang="zh-CN" sz="1600" dirty="0" smtClean="0"/>
          </a:p>
          <a:p>
            <a:pPr>
              <a:lnSpc>
                <a:spcPts val="2000"/>
              </a:lnSpc>
              <a:spcBef>
                <a:spcPts val="0"/>
              </a:spcBef>
              <a:buNone/>
            </a:pPr>
            <a:r>
              <a:rPr lang="en-US" altLang="zh-CN" sz="1600" dirty="0" smtClean="0"/>
              <a:t>  ……</a:t>
            </a:r>
            <a:endParaRPr lang="en-US" altLang="zh-CN" sz="1600" dirty="0" smtClean="0"/>
          </a:p>
          <a:p>
            <a:pPr>
              <a:lnSpc>
                <a:spcPts val="2000"/>
              </a:lnSpc>
              <a:spcBef>
                <a:spcPts val="0"/>
              </a:spcBef>
              <a:buNone/>
            </a:pPr>
            <a:r>
              <a:rPr lang="en-US" altLang="zh-CN" sz="1600" dirty="0" smtClean="0"/>
              <a:t>}</a:t>
            </a:r>
            <a:endParaRPr lang="en-US" altLang="zh-CN" sz="1600" dirty="0" smtClean="0"/>
          </a:p>
        </p:txBody>
      </p:sp>
      <p:sp>
        <p:nvSpPr>
          <p:cNvPr id="3" name="标题 2"/>
          <p:cNvSpPr>
            <a:spLocks noGrp="1"/>
          </p:cNvSpPr>
          <p:nvPr>
            <p:ph type="title"/>
          </p:nvPr>
        </p:nvSpPr>
        <p:spPr>
          <a:xfrm>
            <a:off x="805180" y="162243"/>
            <a:ext cx="8229600" cy="868346"/>
          </a:xfrm>
        </p:spPr>
        <p:txBody>
          <a:bodyPr>
            <a:normAutofit/>
          </a:bodyPr>
          <a:lstStyle/>
          <a:p>
            <a:r>
              <a:rPr lang="en-US" altLang="zh-CN" sz="3600" dirty="0" smtClean="0"/>
              <a:t>3.</a:t>
            </a:r>
            <a:r>
              <a:rPr lang="zh-CN" altLang="en-US" sz="3600" dirty="0" smtClean="0"/>
              <a:t>各种对象</a:t>
            </a:r>
            <a:endParaRPr lang="zh-CN" altLang="en-US" sz="36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61315" y="1047750"/>
            <a:ext cx="10824210" cy="4500880"/>
          </a:xfrm>
        </p:spPr>
        <p:txBody>
          <a:bodyPr/>
          <a:lstStyle/>
          <a:p>
            <a:pPr>
              <a:lnSpc>
                <a:spcPts val="2880"/>
              </a:lnSpc>
              <a:spcBef>
                <a:spcPts val="0"/>
              </a:spcBef>
            </a:pPr>
            <a:r>
              <a:rPr lang="zh-CN" altLang="en-US" sz="2000" dirty="0" smtClean="0"/>
              <a:t>无名对象并非全是错误，以下是无名对象的三种应用场景</a:t>
            </a:r>
            <a:endParaRPr lang="en-US" altLang="zh-CN" sz="2000" dirty="0" smtClean="0"/>
          </a:p>
          <a:p>
            <a:pPr>
              <a:lnSpc>
                <a:spcPts val="2000"/>
              </a:lnSpc>
              <a:spcBef>
                <a:spcPts val="0"/>
              </a:spcBef>
              <a:buNone/>
            </a:pPr>
            <a:r>
              <a:rPr lang="en-US" altLang="zh-CN" sz="1600" dirty="0" smtClean="0"/>
              <a:t>class Student{</a:t>
            </a:r>
            <a:endParaRPr lang="en-US" altLang="zh-CN" sz="1600" dirty="0" smtClean="0"/>
          </a:p>
          <a:p>
            <a:pPr>
              <a:lnSpc>
                <a:spcPts val="2000"/>
              </a:lnSpc>
              <a:spcBef>
                <a:spcPts val="0"/>
              </a:spcBef>
              <a:buNone/>
            </a:pPr>
            <a:r>
              <a:rPr lang="en-US" altLang="zh-CN" sz="1600" dirty="0" smtClean="0"/>
              <a:t>public:</a:t>
            </a:r>
            <a:endParaRPr lang="en-US" altLang="zh-CN" sz="1600" dirty="0" smtClean="0"/>
          </a:p>
          <a:p>
            <a:pPr>
              <a:lnSpc>
                <a:spcPts val="2000"/>
              </a:lnSpc>
              <a:spcBef>
                <a:spcPts val="0"/>
              </a:spcBef>
              <a:buNone/>
            </a:pPr>
            <a:r>
              <a:rPr lang="en-US" altLang="zh-CN" sz="1600" dirty="0" smtClean="0"/>
              <a:t>  Student(char* </a:t>
            </a:r>
            <a:r>
              <a:rPr lang="en-US" altLang="zh-CN" sz="1600" dirty="0" err="1" smtClean="0"/>
              <a:t>pName</a:t>
            </a:r>
            <a:r>
              <a:rPr lang="en-US" altLang="zh-CN" sz="1600" dirty="0" smtClean="0"/>
              <a:t>="no name”)</a:t>
            </a:r>
            <a:endParaRPr lang="en-US" altLang="zh-CN" sz="1600" dirty="0" smtClean="0"/>
          </a:p>
          <a:p>
            <a:pPr>
              <a:lnSpc>
                <a:spcPts val="2000"/>
              </a:lnSpc>
              <a:spcBef>
                <a:spcPts val="0"/>
              </a:spcBef>
              <a:buNone/>
            </a:pPr>
            <a:r>
              <a:rPr lang="en-US" altLang="zh-CN" sz="1600" dirty="0" smtClean="0"/>
              <a:t>  {…… }</a:t>
            </a:r>
            <a:endParaRPr lang="en-US" altLang="zh-CN" sz="1600" dirty="0" smtClean="0"/>
          </a:p>
          <a:p>
            <a:pPr>
              <a:lnSpc>
                <a:spcPts val="2000"/>
              </a:lnSpc>
              <a:spcBef>
                <a:spcPts val="0"/>
              </a:spcBef>
              <a:buNone/>
            </a:pPr>
            <a:r>
              <a:rPr lang="en-US" altLang="zh-CN" sz="1600" dirty="0" smtClean="0"/>
              <a:t>……</a:t>
            </a:r>
            <a:endParaRPr lang="en-US" altLang="zh-CN" sz="1600" dirty="0" smtClean="0"/>
          </a:p>
          <a:p>
            <a:pPr>
              <a:lnSpc>
                <a:spcPts val="2000"/>
              </a:lnSpc>
              <a:spcBef>
                <a:spcPts val="0"/>
              </a:spcBef>
              <a:buNone/>
            </a:pPr>
            <a:r>
              <a:rPr lang="en-US" altLang="zh-CN" sz="1600" dirty="0" smtClean="0"/>
              <a:t>}</a:t>
            </a:r>
            <a:endParaRPr lang="en-US" altLang="zh-CN" sz="1600" dirty="0" smtClean="0"/>
          </a:p>
          <a:p>
            <a:pPr>
              <a:lnSpc>
                <a:spcPts val="2000"/>
              </a:lnSpc>
              <a:spcBef>
                <a:spcPts val="0"/>
              </a:spcBef>
              <a:buNone/>
            </a:pPr>
            <a:r>
              <a:rPr lang="en-US" altLang="zh-CN" sz="1600" dirty="0" smtClean="0"/>
              <a:t>void  fn(Student &amp;s) {……}</a:t>
            </a:r>
            <a:endParaRPr lang="en-US" altLang="zh-CN" sz="1600" dirty="0" smtClean="0"/>
          </a:p>
          <a:p>
            <a:pPr>
              <a:lnSpc>
                <a:spcPts val="2000"/>
              </a:lnSpc>
              <a:spcBef>
                <a:spcPts val="0"/>
              </a:spcBef>
              <a:buNone/>
            </a:pPr>
            <a:r>
              <a:rPr lang="en-US" altLang="zh-CN" sz="1600" dirty="0" smtClean="0"/>
              <a:t>void main</a:t>
            </a:r>
            <a:r>
              <a:rPr lang="zh-CN" altLang="en-US" sz="1600" dirty="0" smtClean="0"/>
              <a:t>（）</a:t>
            </a:r>
            <a:endParaRPr lang="en-US" altLang="zh-CN" sz="1600" dirty="0" smtClean="0"/>
          </a:p>
          <a:p>
            <a:pPr>
              <a:lnSpc>
                <a:spcPts val="2000"/>
              </a:lnSpc>
              <a:spcBef>
                <a:spcPts val="0"/>
              </a:spcBef>
              <a:buNone/>
            </a:pPr>
            <a:r>
              <a:rPr lang="en-US" altLang="zh-CN" sz="1600" dirty="0" smtClean="0"/>
              <a:t>{ Student &amp;refs = Student(“Randy”);  //</a:t>
            </a:r>
            <a:r>
              <a:rPr lang="zh-CN" altLang="en-US" sz="1600" dirty="0" smtClean="0"/>
              <a:t>创建一个无名对象，并赋值给一个引用</a:t>
            </a:r>
            <a:endParaRPr lang="en-US" altLang="zh-CN" sz="1600" dirty="0" smtClean="0"/>
          </a:p>
          <a:p>
            <a:pPr>
              <a:lnSpc>
                <a:spcPts val="2000"/>
              </a:lnSpc>
              <a:spcBef>
                <a:spcPts val="0"/>
              </a:spcBef>
              <a:buNone/>
            </a:pPr>
            <a:r>
              <a:rPr lang="en-US" altLang="zh-CN" sz="1600" dirty="0" smtClean="0"/>
              <a:t>  Student s = Student(“Randy”); //</a:t>
            </a:r>
            <a:r>
              <a:rPr lang="zh-CN" altLang="en-US" sz="1600" dirty="0" smtClean="0"/>
              <a:t>创建一个无名对象，并复制到一个对象中</a:t>
            </a:r>
            <a:endParaRPr lang="en-US" altLang="zh-CN" sz="1600" dirty="0" smtClean="0"/>
          </a:p>
          <a:p>
            <a:pPr>
              <a:lnSpc>
                <a:spcPts val="2000"/>
              </a:lnSpc>
              <a:spcBef>
                <a:spcPts val="0"/>
              </a:spcBef>
              <a:buNone/>
            </a:pPr>
            <a:r>
              <a:rPr lang="en-US" altLang="zh-CN" sz="1600" dirty="0" smtClean="0"/>
              <a:t>  fn ( Student(“Randy”) ) ; //</a:t>
            </a:r>
            <a:r>
              <a:rPr lang="zh-CN" altLang="en-US" sz="1600" dirty="0" smtClean="0"/>
              <a:t>创建一个无名对象，并作为实参传递给函数</a:t>
            </a:r>
            <a:endParaRPr lang="en-US" altLang="zh-CN" sz="1600" dirty="0" smtClean="0"/>
          </a:p>
          <a:p>
            <a:pPr>
              <a:lnSpc>
                <a:spcPts val="2000"/>
              </a:lnSpc>
              <a:spcBef>
                <a:spcPts val="0"/>
              </a:spcBef>
              <a:buNone/>
            </a:pPr>
            <a:r>
              <a:rPr lang="en-US" altLang="zh-CN" sz="1600" dirty="0" smtClean="0">
                <a:solidFill>
                  <a:srgbClr val="FF0000"/>
                </a:solidFill>
              </a:rPr>
              <a:t>  //</a:t>
            </a:r>
            <a:r>
              <a:rPr lang="zh-CN" altLang="en-US" sz="1600" dirty="0" smtClean="0">
                <a:solidFill>
                  <a:srgbClr val="FF0000"/>
                </a:solidFill>
              </a:rPr>
              <a:t>后两句都要注意浅拷贝问题</a:t>
            </a:r>
            <a:endParaRPr lang="en-US" altLang="zh-CN" sz="1600" dirty="0" smtClean="0">
              <a:solidFill>
                <a:srgbClr val="FF0000"/>
              </a:solidFill>
            </a:endParaRPr>
          </a:p>
          <a:p>
            <a:pPr>
              <a:lnSpc>
                <a:spcPts val="2000"/>
              </a:lnSpc>
              <a:spcBef>
                <a:spcPts val="0"/>
              </a:spcBef>
              <a:buNone/>
            </a:pPr>
            <a:r>
              <a:rPr lang="en-US" altLang="zh-CN" sz="1600" dirty="0" smtClean="0"/>
              <a:t>}</a:t>
            </a:r>
            <a:endParaRPr lang="en-US" altLang="zh-CN" sz="1600" dirty="0" smtClean="0"/>
          </a:p>
          <a:p>
            <a:pPr>
              <a:lnSpc>
                <a:spcPts val="2000"/>
              </a:lnSpc>
              <a:spcBef>
                <a:spcPts val="0"/>
              </a:spcBef>
              <a:buNone/>
            </a:pPr>
            <a:endParaRPr lang="en-US" altLang="zh-CN" sz="1600" dirty="0" smtClean="0"/>
          </a:p>
        </p:txBody>
      </p:sp>
      <p:sp>
        <p:nvSpPr>
          <p:cNvPr id="3" name="标题 2"/>
          <p:cNvSpPr>
            <a:spLocks noGrp="1"/>
          </p:cNvSpPr>
          <p:nvPr>
            <p:ph type="title"/>
          </p:nvPr>
        </p:nvSpPr>
        <p:spPr>
          <a:xfrm>
            <a:off x="796290" y="179388"/>
            <a:ext cx="8229600" cy="868346"/>
          </a:xfrm>
        </p:spPr>
        <p:txBody>
          <a:bodyPr>
            <a:normAutofit/>
          </a:bodyPr>
          <a:lstStyle/>
          <a:p>
            <a:r>
              <a:rPr lang="en-US" altLang="zh-CN" sz="3600" dirty="0" smtClean="0"/>
              <a:t>3.</a:t>
            </a:r>
            <a:r>
              <a:rPr lang="zh-CN" altLang="en-US" sz="3600" dirty="0" smtClean="0"/>
              <a:t>各种对象</a:t>
            </a:r>
            <a:endParaRPr lang="zh-CN" altLang="en-US" sz="36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575685" y="1315720"/>
            <a:ext cx="6001385" cy="4664075"/>
          </a:xfrm>
          <a:prstGeom prst="rect">
            <a:avLst/>
          </a:prstGeom>
        </p:spPr>
        <p:txBody>
          <a:bodyPr vert="horz" lIns="91440" tIns="45720" rIns="91440" bIns="45720" rtlCol="0">
            <a:noAutofit/>
          </a:bodyPr>
          <a:lstStyle/>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拷贝构造函数</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深拷贝</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各种对象</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indent="-571500" algn="l" defTabSz="914400" fontAlgn="auto">
              <a:lnSpc>
                <a:spcPct val="90000"/>
              </a:lnSpc>
              <a:spcBef>
                <a:spcPts val="1000"/>
              </a:spcBef>
              <a:spcAft>
                <a:spcPts val="0"/>
              </a:spcAft>
              <a:buClr>
                <a:schemeClr val="accent2"/>
              </a:buClr>
              <a:buSzTx/>
              <a:buFont typeface="Wingdings" panose="05000000000000000000" pitchFamily="2" charset="2"/>
              <a:buChar char="n"/>
              <a:defRPr/>
            </a:pPr>
            <a:r>
              <a:rPr lang="zh-CN" sz="2800" noProof="0" dirty="0" err="1" smtClean="0">
                <a:ln>
                  <a:noFill/>
                </a:ln>
                <a:effectLst/>
                <a:uLnTx/>
                <a:uFillTx/>
                <a:latin typeface="黑体" panose="02010609060101010101" pitchFamily="2" charset="-122"/>
                <a:ea typeface="黑体" panose="02010609060101010101" pitchFamily="2" charset="-122"/>
              </a:rPr>
              <a:t>构造函数与类型转换</a:t>
            </a:r>
            <a:endParaRPr lang="zh-CN" sz="2800" noProof="0" dirty="0" err="1" smtClean="0">
              <a:ln>
                <a:noFill/>
              </a:ln>
              <a:effectLst/>
              <a:uLnTx/>
              <a:uFillTx/>
              <a:latin typeface="黑体" panose="02010609060101010101" pitchFamily="2" charset="-122"/>
              <a:ea typeface="黑体" panose="02010609060101010101" pitchFamily="2"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endParaRPr kumimoji="0" lang="en-US" altLang="zh-CN" sz="2800" b="0" i="0" u="none" strike="noStrike" kern="1200" cap="none" spc="0" normalizeH="0" baseline="0" noProof="0" dirty="0" smtClean="0">
              <a:ln>
                <a:noFill/>
              </a:ln>
              <a:solidFill>
                <a:schemeClr val="tx1"/>
              </a:solidFill>
              <a:effectLst/>
              <a:uLnTx/>
              <a:uFillTx/>
              <a:latin typeface="黑体" panose="02010609060101010101" pitchFamily="2" charset="-122"/>
              <a:ea typeface="黑体" panose="02010609060101010101" pitchFamily="2" charset="-122"/>
              <a:cs typeface="+mn-cs"/>
              <a:sym typeface="+mn-lt"/>
            </a:endParaRPr>
          </a:p>
        </p:txBody>
      </p:sp>
      <p:sp>
        <p:nvSpPr>
          <p:cNvPr id="8" name="矩形 7"/>
          <p:cNvSpPr/>
          <p:nvPr/>
        </p:nvSpPr>
        <p:spPr>
          <a:xfrm>
            <a:off x="4113530" y="2861310"/>
            <a:ext cx="3390265" cy="3911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spd="med">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04495" y="952500"/>
            <a:ext cx="10850245" cy="5104765"/>
          </a:xfrm>
        </p:spPr>
        <p:txBody>
          <a:bodyPr/>
          <a:lstStyle/>
          <a:p>
            <a:pPr>
              <a:lnSpc>
                <a:spcPts val="2880"/>
              </a:lnSpc>
              <a:spcBef>
                <a:spcPts val="0"/>
              </a:spcBef>
            </a:pPr>
            <a:r>
              <a:rPr lang="zh-CN" altLang="en-US" sz="2000" dirty="0" smtClean="0"/>
              <a:t>类型转换</a:t>
            </a:r>
            <a:endParaRPr lang="en-US" altLang="zh-CN" sz="2000" dirty="0" smtClean="0"/>
          </a:p>
          <a:p>
            <a:pPr lvl="1">
              <a:lnSpc>
                <a:spcPts val="2880"/>
              </a:lnSpc>
              <a:spcBef>
                <a:spcPts val="0"/>
              </a:spcBef>
            </a:pPr>
            <a:r>
              <a:rPr lang="en-US" altLang="zh-CN" sz="1800" dirty="0" smtClean="0"/>
              <a:t>5/8 </a:t>
            </a:r>
            <a:r>
              <a:rPr lang="zh-CN" altLang="en-US" sz="1800" dirty="0" smtClean="0"/>
              <a:t>和 </a:t>
            </a:r>
            <a:r>
              <a:rPr lang="en-US" altLang="zh-CN" sz="1800" dirty="0" smtClean="0"/>
              <a:t>5.0/8</a:t>
            </a:r>
            <a:r>
              <a:rPr lang="zh-CN" altLang="en-US" sz="1800" dirty="0" smtClean="0"/>
              <a:t>在</a:t>
            </a:r>
            <a:r>
              <a:rPr lang="en-US" altLang="zh-CN" sz="1800" dirty="0" smtClean="0"/>
              <a:t>C++</a:t>
            </a:r>
            <a:r>
              <a:rPr lang="zh-CN" altLang="en-US" sz="1800" dirty="0" smtClean="0"/>
              <a:t>中执行两种不同的操作，一个是整数相除，一个是先把</a:t>
            </a:r>
            <a:r>
              <a:rPr lang="en-US" altLang="zh-CN" sz="1800" dirty="0" smtClean="0"/>
              <a:t>8</a:t>
            </a:r>
            <a:r>
              <a:rPr lang="zh-CN" altLang="en-US" sz="1800" dirty="0" smtClean="0"/>
              <a:t>转成</a:t>
            </a:r>
            <a:r>
              <a:rPr lang="en-US" altLang="zh-CN" sz="1800" dirty="0" smtClean="0"/>
              <a:t>8.0</a:t>
            </a:r>
            <a:r>
              <a:rPr lang="zh-CN" altLang="en-US" sz="1800" dirty="0" smtClean="0"/>
              <a:t>，再执行浮点数相除</a:t>
            </a:r>
            <a:endParaRPr lang="en-US" altLang="zh-CN" sz="1800" dirty="0" smtClean="0"/>
          </a:p>
          <a:p>
            <a:pPr lvl="1">
              <a:lnSpc>
                <a:spcPts val="2880"/>
              </a:lnSpc>
              <a:spcBef>
                <a:spcPts val="0"/>
              </a:spcBef>
            </a:pPr>
            <a:r>
              <a:rPr lang="zh-CN" altLang="en-US" sz="1800" dirty="0" smtClean="0"/>
              <a:t>对象相关的类型转换是怎样？？</a:t>
            </a:r>
            <a:endParaRPr lang="en-US" altLang="zh-CN" sz="1800" dirty="0" smtClean="0"/>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class Student{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public:</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Student(char* p)</a:t>
            </a:r>
            <a:r>
              <a:rPr lang="zh-CN" altLang="en-US"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void  fn(Student &amp;s)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void main</a:t>
            </a:r>
            <a:r>
              <a:rPr lang="zh-CN" altLang="en-US"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//fn ( Student(“Randy”) ) ; </a:t>
            </a:r>
            <a:r>
              <a:rPr lang="zh-CN" altLang="en-US" sz="1600" dirty="0" smtClean="0">
                <a:latin typeface="黑体" panose="02010609060101010101" pitchFamily="2" charset="-122"/>
                <a:ea typeface="黑体" panose="02010609060101010101" pitchFamily="2" charset="-122"/>
                <a:cs typeface="黑体" panose="02010609060101010101" pitchFamily="2" charset="-122"/>
              </a:rPr>
              <a:t>正规的代码写法</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fn (“Randy”) ; //</a:t>
            </a:r>
            <a:r>
              <a:rPr lang="zh-CN" altLang="en-US" sz="1600" dirty="0" smtClean="0">
                <a:latin typeface="黑体" panose="02010609060101010101" pitchFamily="2" charset="-122"/>
                <a:ea typeface="黑体" panose="02010609060101010101" pitchFamily="2" charset="-122"/>
                <a:cs typeface="黑体" panose="02010609060101010101" pitchFamily="2" charset="-122"/>
              </a:rPr>
              <a:t>执行了类型转换</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t>//</a:t>
            </a:r>
            <a:r>
              <a:rPr lang="zh-CN" altLang="en-US" sz="1600" dirty="0" smtClean="0"/>
              <a:t>上述代码中，因为</a:t>
            </a:r>
            <a:r>
              <a:rPr lang="en-US" altLang="zh-CN" sz="1600" dirty="0" smtClean="0"/>
              <a:t>Student</a:t>
            </a:r>
            <a:r>
              <a:rPr lang="zh-CN" altLang="en-US" sz="1600" dirty="0" smtClean="0"/>
              <a:t>类的构造函数已经声明了一个字符串参数</a:t>
            </a:r>
            <a:endParaRPr lang="en-US" altLang="zh-CN" sz="1600" dirty="0" smtClean="0"/>
          </a:p>
          <a:p>
            <a:pPr>
              <a:lnSpc>
                <a:spcPts val="2000"/>
              </a:lnSpc>
              <a:spcBef>
                <a:spcPts val="0"/>
              </a:spcBef>
              <a:buNone/>
            </a:pPr>
            <a:r>
              <a:rPr lang="en-US" altLang="zh-CN" sz="1600" dirty="0" smtClean="0"/>
              <a:t>//</a:t>
            </a:r>
            <a:r>
              <a:rPr lang="zh-CN" altLang="en-US" sz="1600" dirty="0" smtClean="0"/>
              <a:t>当调用函数</a:t>
            </a:r>
            <a:r>
              <a:rPr lang="en-US" altLang="zh-CN" sz="1600" dirty="0" smtClean="0"/>
              <a:t>fn</a:t>
            </a:r>
            <a:r>
              <a:rPr lang="zh-CN" altLang="en-US" sz="1600" dirty="0" smtClean="0"/>
              <a:t>并输入一个字符串时，因为</a:t>
            </a:r>
            <a:r>
              <a:rPr lang="en-US" altLang="zh-CN" sz="1600" dirty="0" smtClean="0"/>
              <a:t>fn</a:t>
            </a:r>
            <a:r>
              <a:rPr lang="zh-CN" altLang="en-US" sz="1600" dirty="0" smtClean="0"/>
              <a:t>函数的参数是一个对象，因此</a:t>
            </a:r>
            <a:r>
              <a:rPr lang="en-US" altLang="zh-CN" sz="1600" dirty="0" smtClean="0"/>
              <a:t>C++</a:t>
            </a:r>
            <a:r>
              <a:rPr lang="zh-CN" altLang="en-US" sz="1600" dirty="0" smtClean="0"/>
              <a:t>会进行类型转换试探。结果</a:t>
            </a:r>
            <a:r>
              <a:rPr lang="en-US" altLang="zh-CN" sz="1600" dirty="0" smtClean="0"/>
              <a:t>C++</a:t>
            </a:r>
            <a:r>
              <a:rPr lang="zh-CN" altLang="en-US" sz="1600" dirty="0" smtClean="0"/>
              <a:t>会把这句代码转成</a:t>
            </a:r>
            <a:r>
              <a:rPr lang="en-US" altLang="zh-CN" sz="1600" dirty="0" smtClean="0"/>
              <a:t>fn ( Student(“Randy”) )</a:t>
            </a:r>
            <a:r>
              <a:rPr lang="zh-CN" altLang="en-US" sz="1600" dirty="0" smtClean="0"/>
              <a:t>，予以匹配。</a:t>
            </a:r>
            <a:endParaRPr lang="en-US" altLang="zh-CN" sz="1600" dirty="0" smtClean="0"/>
          </a:p>
          <a:p>
            <a:pPr>
              <a:lnSpc>
                <a:spcPts val="2000"/>
              </a:lnSpc>
              <a:spcBef>
                <a:spcPts val="0"/>
              </a:spcBef>
              <a:buNone/>
            </a:pPr>
            <a:endParaRPr lang="en-US" altLang="zh-CN" sz="1600" dirty="0" smtClean="0"/>
          </a:p>
        </p:txBody>
      </p:sp>
      <p:sp>
        <p:nvSpPr>
          <p:cNvPr id="3" name="标题 2"/>
          <p:cNvSpPr>
            <a:spLocks noGrp="1"/>
          </p:cNvSpPr>
          <p:nvPr>
            <p:ph type="title"/>
          </p:nvPr>
        </p:nvSpPr>
        <p:spPr>
          <a:xfrm>
            <a:off x="814070" y="171133"/>
            <a:ext cx="8229600" cy="868346"/>
          </a:xfrm>
        </p:spPr>
        <p:txBody>
          <a:bodyPr>
            <a:normAutofit/>
          </a:bodyPr>
          <a:lstStyle/>
          <a:p>
            <a:r>
              <a:rPr lang="en-US" altLang="zh-CN" sz="3600" dirty="0" smtClean="0"/>
              <a:t>4.</a:t>
            </a:r>
            <a:r>
              <a:rPr lang="zh-CN" altLang="en-US" sz="3600" dirty="0" smtClean="0"/>
              <a:t>构造函数与类型转换</a:t>
            </a:r>
            <a:endParaRPr lang="zh-CN" altLang="en-US" sz="36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6253480" y="3025140"/>
            <a:ext cx="2932430" cy="1123950"/>
          </a:xfrm>
          <a:prstGeom prst="rect">
            <a:avLst/>
          </a:prstGeom>
        </p:spPr>
      </p:pic>
      <p:sp>
        <p:nvSpPr>
          <p:cNvPr id="2" name="内容占位符 1"/>
          <p:cNvSpPr>
            <a:spLocks noGrp="1"/>
          </p:cNvSpPr>
          <p:nvPr>
            <p:ph idx="1"/>
          </p:nvPr>
        </p:nvSpPr>
        <p:spPr>
          <a:xfrm>
            <a:off x="283210" y="961390"/>
            <a:ext cx="6950710" cy="746125"/>
          </a:xfrm>
        </p:spPr>
        <p:txBody>
          <a:bodyPr/>
          <a:lstStyle/>
          <a:p>
            <a:pPr>
              <a:lnSpc>
                <a:spcPts val="2880"/>
              </a:lnSpc>
              <a:spcBef>
                <a:spcPts val="0"/>
              </a:spcBef>
            </a:pPr>
            <a:r>
              <a:rPr lang="zh-CN" altLang="en-US" sz="2000" dirty="0" smtClean="0"/>
              <a:t>构造函数实现隐式类型转换</a:t>
            </a:r>
            <a:endParaRPr lang="en-US" altLang="zh-CN" sz="2000" dirty="0" smtClean="0"/>
          </a:p>
          <a:p>
            <a:pPr>
              <a:lnSpc>
                <a:spcPts val="2000"/>
              </a:lnSpc>
              <a:spcBef>
                <a:spcPts val="0"/>
              </a:spcBef>
              <a:buNone/>
            </a:pPr>
            <a:endParaRPr lang="en-US" altLang="zh-CN" sz="1600" dirty="0" smtClean="0"/>
          </a:p>
          <a:p>
            <a:pPr>
              <a:lnSpc>
                <a:spcPts val="2000"/>
              </a:lnSpc>
              <a:spcBef>
                <a:spcPts val="0"/>
              </a:spcBef>
              <a:buNone/>
            </a:pPr>
            <a:endParaRPr lang="en-US" altLang="zh-CN" sz="1600" dirty="0" smtClean="0"/>
          </a:p>
          <a:p>
            <a:pPr>
              <a:lnSpc>
                <a:spcPts val="2000"/>
              </a:lnSpc>
              <a:spcBef>
                <a:spcPts val="0"/>
              </a:spcBef>
              <a:buNone/>
            </a:pPr>
            <a:endParaRPr lang="en-US" altLang="zh-CN" sz="1600" dirty="0" smtClean="0"/>
          </a:p>
          <a:p>
            <a:pPr>
              <a:lnSpc>
                <a:spcPts val="2000"/>
              </a:lnSpc>
              <a:spcBef>
                <a:spcPts val="0"/>
              </a:spcBef>
              <a:buNone/>
            </a:pPr>
            <a:endParaRPr lang="en-US" altLang="zh-CN" sz="1600" dirty="0" smtClean="0"/>
          </a:p>
          <a:p>
            <a:pPr>
              <a:lnSpc>
                <a:spcPts val="2000"/>
              </a:lnSpc>
              <a:spcBef>
                <a:spcPts val="0"/>
              </a:spcBef>
              <a:buNone/>
            </a:pPr>
            <a:endParaRPr lang="en-US" altLang="zh-CN" sz="1600" dirty="0" smtClean="0"/>
          </a:p>
          <a:p>
            <a:pPr>
              <a:lnSpc>
                <a:spcPts val="2000"/>
              </a:lnSpc>
              <a:spcBef>
                <a:spcPts val="0"/>
              </a:spcBef>
              <a:buNone/>
            </a:pPr>
            <a:endParaRPr lang="en-US" altLang="zh-CN" sz="1600" dirty="0" smtClean="0"/>
          </a:p>
        </p:txBody>
      </p:sp>
      <p:sp>
        <p:nvSpPr>
          <p:cNvPr id="3" name="标题 2"/>
          <p:cNvSpPr>
            <a:spLocks noGrp="1"/>
          </p:cNvSpPr>
          <p:nvPr>
            <p:ph type="title"/>
          </p:nvPr>
        </p:nvSpPr>
        <p:spPr>
          <a:xfrm>
            <a:off x="814070" y="205423"/>
            <a:ext cx="8229600" cy="868346"/>
          </a:xfrm>
        </p:spPr>
        <p:txBody>
          <a:bodyPr>
            <a:normAutofit/>
          </a:bodyPr>
          <a:lstStyle/>
          <a:p>
            <a:r>
              <a:rPr lang="en-US" altLang="zh-CN" sz="3600" dirty="0" smtClean="0"/>
              <a:t>4.</a:t>
            </a:r>
            <a:r>
              <a:rPr lang="zh-CN" altLang="en-US" sz="3600" dirty="0" smtClean="0"/>
              <a:t>构造函数与类型转换</a:t>
            </a:r>
            <a:endParaRPr lang="zh-CN" altLang="en-US" sz="3600" dirty="0"/>
          </a:p>
        </p:txBody>
      </p:sp>
      <p:pic>
        <p:nvPicPr>
          <p:cNvPr id="4" name="图片 3"/>
          <p:cNvPicPr>
            <a:picLocks noChangeAspect="1"/>
          </p:cNvPicPr>
          <p:nvPr/>
        </p:nvPicPr>
        <p:blipFill>
          <a:blip r:embed="rId2"/>
          <a:stretch>
            <a:fillRect/>
          </a:stretch>
        </p:blipFill>
        <p:spPr>
          <a:xfrm>
            <a:off x="494030" y="1630680"/>
            <a:ext cx="3964305" cy="3804920"/>
          </a:xfrm>
          <a:prstGeom prst="rect">
            <a:avLst/>
          </a:prstGeom>
        </p:spPr>
      </p:pic>
      <p:pic>
        <p:nvPicPr>
          <p:cNvPr id="6" name="图片 5"/>
          <p:cNvPicPr>
            <a:picLocks noChangeAspect="1"/>
          </p:cNvPicPr>
          <p:nvPr/>
        </p:nvPicPr>
        <p:blipFill>
          <a:blip r:embed="rId3"/>
          <a:stretch>
            <a:fillRect/>
          </a:stretch>
        </p:blipFill>
        <p:spPr>
          <a:xfrm>
            <a:off x="5974715" y="1426845"/>
            <a:ext cx="4465955" cy="1383665"/>
          </a:xfrm>
          <a:prstGeom prst="rect">
            <a:avLst/>
          </a:prstGeom>
        </p:spPr>
      </p:pic>
      <p:sp>
        <p:nvSpPr>
          <p:cNvPr id="8" name="线形标注 1 7"/>
          <p:cNvSpPr/>
          <p:nvPr/>
        </p:nvSpPr>
        <p:spPr>
          <a:xfrm>
            <a:off x="6026785" y="4418965"/>
            <a:ext cx="5212715" cy="1812290"/>
          </a:xfrm>
          <a:prstGeom prst="borderCallout1">
            <a:avLst>
              <a:gd name="adj1" fmla="val -14558"/>
              <a:gd name="adj2" fmla="val 49559"/>
              <a:gd name="adj3" fmla="val -25151"/>
              <a:gd name="adj4" fmla="val 47679"/>
            </a:avLst>
          </a:prstGeom>
          <a:noFill/>
          <a:ln w="19050">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en-US" altLang="zh-CN" sz="1600">
                <a:solidFill>
                  <a:schemeClr val="tx1"/>
                </a:solidFill>
                <a:latin typeface="黑体" panose="02010609060101010101" pitchFamily="2" charset="-122"/>
                <a:ea typeface="黑体" panose="02010609060101010101" pitchFamily="2" charset="-122"/>
                <a:cs typeface="黑体" panose="02010609060101010101" pitchFamily="2" charset="-122"/>
              </a:rPr>
              <a:t>20190929</a:t>
            </a:r>
            <a:r>
              <a:rPr lang="zh-CN" altLang="en-US" sz="1600">
                <a:solidFill>
                  <a:schemeClr val="tx1"/>
                </a:solidFill>
                <a:latin typeface="黑体" panose="02010609060101010101" pitchFamily="2" charset="-122"/>
                <a:ea typeface="黑体" panose="02010609060101010101" pitchFamily="2" charset="-122"/>
                <a:cs typeface="黑体" panose="02010609060101010101" pitchFamily="2" charset="-122"/>
              </a:rPr>
              <a:t>是一个常量整数</a:t>
            </a:r>
            <a:endParaRPr lang="zh-CN" altLang="en-US" sz="1600">
              <a:solidFill>
                <a:schemeClr val="tx1"/>
              </a:solidFill>
              <a:latin typeface="黑体" panose="02010609060101010101" pitchFamily="2" charset="-122"/>
              <a:ea typeface="黑体" panose="02010609060101010101" pitchFamily="2" charset="-122"/>
              <a:cs typeface="黑体" panose="02010609060101010101" pitchFamily="2" charset="-122"/>
            </a:endParaRPr>
          </a:p>
          <a:p>
            <a:pPr algn="l"/>
            <a:r>
              <a:rPr lang="en-US" altLang="zh-CN" sz="1600">
                <a:solidFill>
                  <a:schemeClr val="tx1"/>
                </a:solidFill>
                <a:latin typeface="黑体" panose="02010609060101010101" pitchFamily="2" charset="-122"/>
                <a:ea typeface="黑体" panose="02010609060101010101" pitchFamily="2" charset="-122"/>
                <a:cs typeface="黑体" panose="02010609060101010101" pitchFamily="2" charset="-122"/>
              </a:rPr>
              <a:t>C++</a:t>
            </a:r>
            <a:r>
              <a:rPr lang="zh-CN" altLang="en-US" sz="1600">
                <a:solidFill>
                  <a:schemeClr val="tx1"/>
                </a:solidFill>
                <a:latin typeface="黑体" panose="02010609060101010101" pitchFamily="2" charset="-122"/>
                <a:ea typeface="黑体" panose="02010609060101010101" pitchFamily="2" charset="-122"/>
                <a:cs typeface="黑体" panose="02010609060101010101" pitchFamily="2" charset="-122"/>
              </a:rPr>
              <a:t>尝试能否将</a:t>
            </a:r>
            <a:r>
              <a:rPr lang="en-US" altLang="zh-CN"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20190929</a:t>
            </a:r>
            <a:r>
              <a:rPr lang="zh-CN" altLang="en-US"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与</a:t>
            </a:r>
            <a:r>
              <a:rPr lang="en-US" altLang="zh-CN"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CDate</a:t>
            </a:r>
            <a:r>
              <a:rPr lang="zh-CN" altLang="en-US"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对象进行类型转换。发现</a:t>
            </a:r>
            <a:r>
              <a:rPr lang="en-US" altLang="zh-CN"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CDate</a:t>
            </a:r>
            <a:r>
              <a:rPr lang="zh-CN" altLang="en-US"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有一个构造函数的参数能够匹配</a:t>
            </a:r>
            <a:endParaRPr lang="zh-CN" altLang="en-US"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a:p>
            <a:pPr algn="l"/>
            <a:r>
              <a:rPr lang="zh-CN" altLang="en-US"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这种尝试是自动的、隐式的</a:t>
            </a:r>
            <a:endParaRPr lang="zh-CN" altLang="en-US"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a:p>
            <a:pPr algn="l"/>
            <a:r>
              <a:rPr lang="zh-CN" altLang="en-US"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例如这个语句也是正确的：</a:t>
            </a:r>
            <a:r>
              <a:rPr lang="en-US" altLang="zh-CN"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rPr>
              <a:t>CDate cc2=20190929</a:t>
            </a:r>
            <a:endParaRPr lang="zh-CN" altLang="en-US" sz="1600">
              <a:solidFill>
                <a:schemeClr val="tx1"/>
              </a:solidFill>
              <a:latin typeface="黑体" panose="02010609060101010101" pitchFamily="2" charset="-122"/>
              <a:ea typeface="黑体" panose="02010609060101010101" pitchFamily="2" charset="-122"/>
              <a:cs typeface="黑体" panose="0201060906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87350" y="943610"/>
            <a:ext cx="11172190" cy="4500880"/>
          </a:xfrm>
        </p:spPr>
        <p:txBody>
          <a:bodyPr/>
          <a:lstStyle/>
          <a:p>
            <a:pPr>
              <a:lnSpc>
                <a:spcPts val="2880"/>
              </a:lnSpc>
              <a:spcBef>
                <a:spcPts val="0"/>
              </a:spcBef>
            </a:pPr>
            <a:r>
              <a:rPr lang="zh-CN" altLang="en-US" sz="2000" dirty="0" smtClean="0"/>
              <a:t>把构造函数用来将一种类型转换成另一种类型，这是</a:t>
            </a:r>
            <a:r>
              <a:rPr lang="en-US" altLang="zh-CN" sz="2000" dirty="0" smtClean="0"/>
              <a:t>C++</a:t>
            </a:r>
            <a:r>
              <a:rPr lang="zh-CN" altLang="en-US" sz="2000" dirty="0" smtClean="0"/>
              <a:t>的附加性能，但是有所限制：</a:t>
            </a:r>
            <a:endParaRPr lang="en-US" altLang="zh-CN" sz="2000" dirty="0" smtClean="0"/>
          </a:p>
          <a:p>
            <a:pPr lvl="1">
              <a:lnSpc>
                <a:spcPts val="2880"/>
              </a:lnSpc>
              <a:spcBef>
                <a:spcPts val="0"/>
              </a:spcBef>
            </a:pPr>
            <a:r>
              <a:rPr lang="en-US" altLang="zh-CN" sz="1800" dirty="0" smtClean="0"/>
              <a:t>C++</a:t>
            </a:r>
            <a:r>
              <a:rPr lang="zh-CN" altLang="en-US" sz="1800" dirty="0" smtClean="0"/>
              <a:t>只会尝试含有一个参数的构造函数</a:t>
            </a:r>
            <a:endParaRPr lang="en-US" altLang="zh-CN" sz="1800" dirty="0" smtClean="0"/>
          </a:p>
          <a:p>
            <a:pPr lvl="1">
              <a:lnSpc>
                <a:spcPts val="2880"/>
              </a:lnSpc>
              <a:spcBef>
                <a:spcPts val="0"/>
              </a:spcBef>
            </a:pPr>
            <a:r>
              <a:rPr lang="zh-CN" altLang="en-US" sz="1800" dirty="0" smtClean="0"/>
              <a:t>如果有二义性，</a:t>
            </a:r>
            <a:r>
              <a:rPr lang="en-US" altLang="zh-CN" sz="1800" dirty="0" smtClean="0"/>
              <a:t>C++</a:t>
            </a:r>
            <a:r>
              <a:rPr lang="zh-CN" altLang="en-US" sz="1800" dirty="0" smtClean="0"/>
              <a:t>会放弃尝试</a:t>
            </a:r>
            <a:endParaRPr lang="en-US" altLang="zh-CN" sz="1800" dirty="0" smtClean="0"/>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class Student{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public:</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Student(char* p)</a:t>
            </a:r>
            <a:r>
              <a:rPr lang="zh-CN" altLang="en-US"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class Teacher{</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public:</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Teacher(char* p)</a:t>
            </a:r>
            <a:r>
              <a:rPr lang="zh-CN" altLang="en-US"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void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addCourse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(Student &amp;s)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void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addCourse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(Teacher &amp;t)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a:xfrm>
            <a:off x="779145" y="222568"/>
            <a:ext cx="8229600" cy="868346"/>
          </a:xfrm>
        </p:spPr>
        <p:txBody>
          <a:bodyPr>
            <a:normAutofit/>
          </a:bodyPr>
          <a:lstStyle/>
          <a:p>
            <a:r>
              <a:rPr lang="en-US" altLang="zh-CN" sz="3600" dirty="0" smtClean="0"/>
              <a:t>4.</a:t>
            </a:r>
            <a:r>
              <a:rPr lang="zh-CN" altLang="en-US" sz="3600" dirty="0" smtClean="0"/>
              <a:t>构造函数与类型转换</a:t>
            </a:r>
            <a:endParaRPr lang="zh-CN" altLang="en-US" sz="3600" dirty="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sp>
        <p:nvSpPr>
          <p:cNvPr id="6" name="矩形 5"/>
          <p:cNvSpPr/>
          <p:nvPr/>
        </p:nvSpPr>
        <p:spPr>
          <a:xfrm>
            <a:off x="5881370" y="2928620"/>
            <a:ext cx="5678170" cy="1630045"/>
          </a:xfrm>
          <a:prstGeom prst="rect">
            <a:avLst/>
          </a:prstGeom>
        </p:spPr>
        <p:txBody>
          <a:bodyPr wrap="square">
            <a:spAutoFit/>
          </a:bodyPr>
          <a:lstStyle/>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void main</a:t>
            </a:r>
            <a:r>
              <a:rPr lang="zh-CN" altLang="en-US"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addCourse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(“Randy”) ; //</a:t>
            </a:r>
            <a:r>
              <a:rPr lang="zh-CN" altLang="en-US" sz="1600" dirty="0" smtClean="0">
                <a:latin typeface="黑体" panose="02010609060101010101" pitchFamily="2" charset="-122"/>
                <a:ea typeface="黑体" panose="02010609060101010101" pitchFamily="2" charset="-122"/>
                <a:cs typeface="黑体" panose="02010609060101010101" pitchFamily="2" charset="-122"/>
              </a:rPr>
              <a:t>有二义性，</a:t>
            </a:r>
            <a:r>
              <a:rPr lang="en-US" altLang="zh-CN" sz="1600" dirty="0" smtClean="0">
                <a:latin typeface="黑体" panose="02010609060101010101" pitchFamily="2" charset="-122"/>
                <a:ea typeface="黑体" panose="02010609060101010101" pitchFamily="2" charset="-122"/>
                <a:cs typeface="黑体" panose="02010609060101010101" pitchFamily="2" charset="-122"/>
              </a:rPr>
              <a:t>error</a:t>
            </a:r>
            <a:r>
              <a:rPr lang="zh-CN" altLang="en-US" sz="1600" dirty="0" smtClean="0">
                <a:latin typeface="黑体" panose="02010609060101010101" pitchFamily="2" charset="-122"/>
                <a:ea typeface="黑体" panose="02010609060101010101" pitchFamily="2" charset="-122"/>
                <a:cs typeface="黑体" panose="02010609060101010101" pitchFamily="2" charset="-122"/>
              </a:rPr>
              <a:t> </a:t>
            </a: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addCourse</a:t>
            </a:r>
            <a:r>
              <a:rPr lang="zh-CN" altLang="en-US" sz="1600" dirty="0" smtClean="0">
                <a:latin typeface="黑体" panose="02010609060101010101" pitchFamily="2" charset="-122"/>
                <a:ea typeface="黑体" panose="02010609060101010101" pitchFamily="2" charset="-122"/>
                <a:cs typeface="黑体" panose="02010609060101010101" pitchFamily="2" charset="-122"/>
              </a:rPr>
              <a:t>是函数重载，因为两个类的构造函数都是包含一个字符串参数，不知道调用哪个类</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a:p>
            <a:pPr>
              <a:lnSpc>
                <a:spcPts val="2000"/>
              </a:lnSpc>
              <a:spcBef>
                <a:spcPts val="0"/>
              </a:spcBef>
              <a:buNone/>
            </a:pPr>
            <a:r>
              <a:rPr lang="en-US" altLang="zh-CN" sz="1600" dirty="0" smtClean="0">
                <a:latin typeface="黑体" panose="02010609060101010101" pitchFamily="2" charset="-122"/>
                <a:ea typeface="黑体" panose="02010609060101010101" pitchFamily="2" charset="-122"/>
                <a:cs typeface="黑体" panose="02010609060101010101" pitchFamily="2" charset="-122"/>
              </a:rPr>
              <a:t>//</a:t>
            </a:r>
            <a:r>
              <a:rPr lang="zh-CN" altLang="en-US" sz="1600" dirty="0" smtClean="0">
                <a:latin typeface="黑体" panose="02010609060101010101" pitchFamily="2" charset="-122"/>
                <a:ea typeface="黑体" panose="02010609060101010101" pitchFamily="2" charset="-122"/>
                <a:cs typeface="黑体" panose="02010609060101010101" pitchFamily="2" charset="-122"/>
              </a:rPr>
              <a:t>改正为 </a:t>
            </a:r>
            <a:r>
              <a:rPr lang="en-US" altLang="zh-CN" sz="1600" dirty="0" err="1" smtClean="0">
                <a:latin typeface="黑体" panose="02010609060101010101" pitchFamily="2" charset="-122"/>
                <a:ea typeface="黑体" panose="02010609060101010101" pitchFamily="2" charset="-122"/>
                <a:cs typeface="黑体" panose="02010609060101010101" pitchFamily="2" charset="-122"/>
              </a:rPr>
              <a:t>addCourse</a:t>
            </a:r>
            <a:r>
              <a:rPr lang="en-US" altLang="zh-CN" sz="1600" dirty="0" smtClean="0">
                <a:latin typeface="黑体" panose="02010609060101010101" pitchFamily="2" charset="-122"/>
                <a:ea typeface="黑体" panose="02010609060101010101" pitchFamily="2" charset="-122"/>
                <a:cs typeface="黑体" panose="02010609060101010101" pitchFamily="2" charset="-122"/>
              </a:rPr>
              <a:t> (Teacher(“Randy”)) ;</a:t>
            </a:r>
            <a:endParaRPr lang="en-US" altLang="zh-CN" sz="1600" dirty="0" smtClean="0">
              <a:latin typeface="黑体" panose="02010609060101010101" pitchFamily="2" charset="-122"/>
              <a:ea typeface="黑体" panose="02010609060101010101" pitchFamily="2" charset="-122"/>
              <a:cs typeface="黑体" panose="02010609060101010101" pitchFamily="2"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87350" y="943610"/>
            <a:ext cx="10999470" cy="4500880"/>
          </a:xfrm>
        </p:spPr>
        <p:txBody>
          <a:bodyPr/>
          <a:lstStyle/>
          <a:p>
            <a:pPr marL="457200" lvl="1" indent="-457200" algn="l">
              <a:lnSpc>
                <a:spcPts val="2880"/>
              </a:lnSpc>
              <a:spcBef>
                <a:spcPts val="0"/>
              </a:spcBef>
              <a:buClrTx/>
              <a:buSzTx/>
              <a:buFont typeface="Wingdings" panose="05000000000000000000" charset="0"/>
              <a:buChar char="l"/>
            </a:pPr>
            <a:r>
              <a:rPr lang="zh-CN" altLang="en-US" sz="2000" dirty="0" smtClean="0">
                <a:sym typeface="+mn-ea"/>
              </a:rPr>
              <a:t>类的默认函数是指：</a:t>
            </a:r>
            <a:r>
              <a:rPr lang="en-US" sz="2000" dirty="0" smtClean="0">
                <a:sym typeface="+mn-ea"/>
              </a:rPr>
              <a:t>当创建一个类时，</a:t>
            </a:r>
            <a:r>
              <a:rPr lang="zh-CN" altLang="en-US" sz="2000" dirty="0" smtClean="0">
                <a:sym typeface="+mn-ea"/>
              </a:rPr>
              <a:t>如果用户没定义该函数，</a:t>
            </a:r>
            <a:r>
              <a:rPr lang="en-US" altLang="zh-CN" sz="2000" dirty="0" smtClean="0">
                <a:sym typeface="+mn-ea"/>
              </a:rPr>
              <a:t>C++</a:t>
            </a:r>
            <a:r>
              <a:rPr lang="en-US" sz="2000" dirty="0" smtClean="0">
                <a:sym typeface="+mn-ea"/>
              </a:rPr>
              <a:t>自动生成</a:t>
            </a:r>
            <a:r>
              <a:rPr lang="zh-CN" altLang="en-US" sz="2000" dirty="0" smtClean="0">
                <a:sym typeface="+mn-ea"/>
              </a:rPr>
              <a:t>该函数。</a:t>
            </a:r>
            <a:endParaRPr lang="zh-CN" altLang="en-US" sz="2000" dirty="0" smtClean="0">
              <a:cs typeface="+mn-cs"/>
            </a:endParaRPr>
          </a:p>
          <a:p>
            <a:pPr lvl="1" algn="l">
              <a:lnSpc>
                <a:spcPts val="2880"/>
              </a:lnSpc>
              <a:spcBef>
                <a:spcPts val="0"/>
              </a:spcBef>
              <a:buClrTx/>
              <a:buSzTx/>
              <a:buChar char="–"/>
            </a:pPr>
            <a:r>
              <a:rPr lang="en-US" altLang="zh-CN" sz="2000" dirty="0" smtClean="0">
                <a:cs typeface="+mn-ea"/>
                <a:sym typeface="+mn-ea"/>
              </a:rPr>
              <a:t>默认函数</a:t>
            </a:r>
            <a:r>
              <a:rPr lang="zh-CN" altLang="en-US" sz="2000" dirty="0" smtClean="0">
                <a:cs typeface="+mn-ea"/>
                <a:sym typeface="+mn-ea"/>
              </a:rPr>
              <a:t>不一定是空函数，根据函数作用有不同实现</a:t>
            </a:r>
            <a:endParaRPr lang="en-US" altLang="zh-CN" sz="2000" dirty="0" smtClean="0">
              <a:cs typeface="+mn-ea"/>
            </a:endParaRPr>
          </a:p>
          <a:p>
            <a:pPr>
              <a:lnSpc>
                <a:spcPts val="2880"/>
              </a:lnSpc>
              <a:spcBef>
                <a:spcPts val="0"/>
              </a:spcBef>
            </a:pPr>
            <a:r>
              <a:rPr lang="en-US" sz="2000" dirty="0" smtClean="0"/>
              <a:t>C++类的6个默认函数</a:t>
            </a:r>
            <a:r>
              <a:rPr lang="zh-CN" altLang="en-US" sz="2000" dirty="0" smtClean="0"/>
              <a:t>：</a:t>
            </a:r>
            <a:endParaRPr lang="en-US" altLang="zh-CN" sz="2000" dirty="0" smtClean="0"/>
          </a:p>
          <a:p>
            <a:pPr lvl="1">
              <a:lnSpc>
                <a:spcPts val="2880"/>
              </a:lnSpc>
              <a:spcBef>
                <a:spcPts val="0"/>
              </a:spcBef>
            </a:pPr>
            <a:r>
              <a:rPr lang="en-US" altLang="zh-CN" sz="1800" dirty="0" smtClean="0"/>
              <a:t>缺省构造函数</a:t>
            </a:r>
            <a:endParaRPr lang="en-US" altLang="zh-CN" sz="1800" dirty="0" smtClean="0"/>
          </a:p>
          <a:p>
            <a:pPr lvl="1">
              <a:lnSpc>
                <a:spcPts val="2880"/>
              </a:lnSpc>
              <a:spcBef>
                <a:spcPts val="0"/>
              </a:spcBef>
            </a:pPr>
            <a:r>
              <a:rPr lang="en-US" altLang="zh-CN" sz="1800" dirty="0" smtClean="0"/>
              <a:t>拷贝构造函数</a:t>
            </a:r>
            <a:endParaRPr lang="en-US" altLang="zh-CN" sz="1800" dirty="0" smtClean="0"/>
          </a:p>
          <a:p>
            <a:pPr lvl="1">
              <a:lnSpc>
                <a:spcPts val="2880"/>
              </a:lnSpc>
              <a:spcBef>
                <a:spcPts val="0"/>
              </a:spcBef>
            </a:pPr>
            <a:r>
              <a:rPr lang="en-US" altLang="zh-CN" sz="1800" dirty="0" smtClean="0"/>
              <a:t>析构函数</a:t>
            </a:r>
            <a:endParaRPr lang="en-US" altLang="zh-CN" sz="1800" dirty="0" smtClean="0"/>
          </a:p>
          <a:p>
            <a:pPr lvl="1">
              <a:lnSpc>
                <a:spcPts val="2880"/>
              </a:lnSpc>
              <a:spcBef>
                <a:spcPts val="0"/>
              </a:spcBef>
            </a:pPr>
            <a:r>
              <a:rPr lang="en-US" altLang="zh-CN" sz="1800" dirty="0" smtClean="0"/>
              <a:t>赋值操作符重载</a:t>
            </a:r>
            <a:endParaRPr lang="en-US" altLang="zh-CN" sz="1800" dirty="0" smtClean="0"/>
          </a:p>
          <a:p>
            <a:pPr lvl="1">
              <a:lnSpc>
                <a:spcPts val="2880"/>
              </a:lnSpc>
              <a:spcBef>
                <a:spcPts val="0"/>
              </a:spcBef>
            </a:pPr>
            <a:r>
              <a:rPr lang="en-US" altLang="zh-CN" sz="1800" dirty="0" smtClean="0"/>
              <a:t>取地址操作符重载</a:t>
            </a:r>
            <a:endParaRPr lang="en-US" altLang="zh-CN" sz="1800" dirty="0" smtClean="0"/>
          </a:p>
          <a:p>
            <a:pPr lvl="1">
              <a:lnSpc>
                <a:spcPts val="2880"/>
              </a:lnSpc>
              <a:spcBef>
                <a:spcPts val="0"/>
              </a:spcBef>
            </a:pPr>
            <a:r>
              <a:rPr lang="en-US" altLang="zh-CN" sz="1800" dirty="0" smtClean="0"/>
              <a:t>const修饰的取地址操作符重载</a:t>
            </a:r>
            <a:endParaRPr lang="en-US" altLang="zh-CN" sz="1800" dirty="0" smtClean="0"/>
          </a:p>
          <a:p>
            <a:pPr marL="457200" lvl="1" indent="-457200" algn="l">
              <a:lnSpc>
                <a:spcPts val="2880"/>
              </a:lnSpc>
              <a:spcBef>
                <a:spcPts val="0"/>
              </a:spcBef>
              <a:buClrTx/>
              <a:buSzTx/>
              <a:buFont typeface="Wingdings" panose="05000000000000000000" charset="0"/>
              <a:buChar char="l"/>
            </a:pPr>
            <a:r>
              <a:rPr lang="zh-CN" altLang="en-US" sz="2000" dirty="0" smtClean="0">
                <a:cs typeface="+mn-cs"/>
              </a:rPr>
              <a:t>有些编译器</a:t>
            </a:r>
            <a:r>
              <a:rPr lang="en-US" sz="2000" dirty="0" smtClean="0">
                <a:cs typeface="+mn-cs"/>
              </a:rPr>
              <a:t>对于空类，不会生成</a:t>
            </a:r>
            <a:r>
              <a:rPr lang="zh-CN" altLang="en-US" sz="2000" dirty="0" smtClean="0">
                <a:cs typeface="+mn-cs"/>
              </a:rPr>
              <a:t>默认函数</a:t>
            </a:r>
            <a:r>
              <a:rPr lang="en-US" sz="2000" dirty="0" smtClean="0">
                <a:cs typeface="+mn-cs"/>
              </a:rPr>
              <a:t>，只会生成1个字节的占位符。</a:t>
            </a:r>
            <a:endParaRPr lang="en-US" sz="2000" dirty="0" smtClean="0">
              <a:cs typeface="+mn-cs"/>
            </a:endParaRPr>
          </a:p>
          <a:p>
            <a:pPr marL="457200" lvl="1" indent="-457200" algn="l">
              <a:lnSpc>
                <a:spcPts val="2880"/>
              </a:lnSpc>
              <a:spcBef>
                <a:spcPts val="0"/>
              </a:spcBef>
              <a:buClrTx/>
              <a:buSzTx/>
              <a:buFont typeface="Wingdings" panose="05000000000000000000" charset="0"/>
              <a:buChar char="l"/>
            </a:pPr>
            <a:r>
              <a:rPr lang="zh-CN" altLang="en-US" sz="2000" dirty="0" smtClean="0">
                <a:cs typeface="+mn-cs"/>
              </a:rPr>
              <a:t>有些编译器对于空类初始不生成默认函数，但</a:t>
            </a:r>
            <a:r>
              <a:rPr lang="en-US" altLang="zh-CN" sz="2000" dirty="0" smtClean="0">
                <a:cs typeface="+mn-ea"/>
              </a:rPr>
              <a:t>在需要时</a:t>
            </a:r>
            <a:r>
              <a:rPr lang="zh-CN" altLang="en-US" sz="2000" dirty="0" smtClean="0">
                <a:cs typeface="+mn-ea"/>
              </a:rPr>
              <a:t>会</a:t>
            </a:r>
            <a:r>
              <a:rPr lang="en-US" altLang="zh-CN" sz="2000" dirty="0" smtClean="0">
                <a:cs typeface="+mn-ea"/>
              </a:rPr>
              <a:t>生成6个默认成员函数和this指针</a:t>
            </a:r>
            <a:endParaRPr lang="en-US" altLang="zh-CN" sz="2000" dirty="0" smtClean="0">
              <a:cs typeface="+mn-ea"/>
            </a:endParaRPr>
          </a:p>
        </p:txBody>
      </p:sp>
      <p:sp>
        <p:nvSpPr>
          <p:cNvPr id="3" name="标题 2"/>
          <p:cNvSpPr>
            <a:spLocks noGrp="1"/>
          </p:cNvSpPr>
          <p:nvPr>
            <p:ph type="title"/>
          </p:nvPr>
        </p:nvSpPr>
        <p:spPr>
          <a:xfrm>
            <a:off x="779145" y="222568"/>
            <a:ext cx="8229600" cy="868346"/>
          </a:xfrm>
        </p:spPr>
        <p:txBody>
          <a:bodyPr>
            <a:normAutofit/>
          </a:bodyPr>
          <a:lstStyle/>
          <a:p>
            <a:r>
              <a:rPr lang="en-US" altLang="zh-CN" sz="3600" dirty="0" smtClean="0"/>
              <a:t>4.</a:t>
            </a:r>
            <a:r>
              <a:rPr lang="zh-CN" altLang="en-US" sz="3600" dirty="0" smtClean="0"/>
              <a:t>构造函数与类型转换</a:t>
            </a:r>
            <a:endParaRPr lang="zh-CN" altLang="en-US" sz="3600" dirty="0"/>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35915" y="908685"/>
            <a:ext cx="11232515" cy="4857750"/>
          </a:xfrm>
        </p:spPr>
        <p:txBody>
          <a:bodyPr/>
          <a:lstStyle/>
          <a:p>
            <a:pPr algn="l">
              <a:lnSpc>
                <a:spcPct val="100000"/>
              </a:lnSpc>
              <a:spcBef>
                <a:spcPct val="20000"/>
              </a:spcBef>
              <a:buClrTx/>
              <a:buSzTx/>
            </a:pPr>
            <a:r>
              <a:rPr lang="zh-CN" altLang="en-US" sz="1800" dirty="0" smtClean="0">
                <a:sym typeface="+mn-ea"/>
              </a:rPr>
              <a:t>拷贝构造函数，又称复制构造函数</a:t>
            </a:r>
            <a:endParaRPr lang="zh-CN" altLang="en-US" sz="1800" dirty="0" smtClean="0"/>
          </a:p>
          <a:p>
            <a:pPr lvl="1">
              <a:lnSpc>
                <a:spcPts val="2880"/>
              </a:lnSpc>
              <a:spcBef>
                <a:spcPts val="0"/>
              </a:spcBef>
            </a:pPr>
            <a:r>
              <a:rPr lang="zh-CN" altLang="en-US" sz="1600" dirty="0" smtClean="0">
                <a:cs typeface="+mn-ea"/>
                <a:sym typeface="+mn-ea"/>
              </a:rPr>
              <a:t>拷贝构造函数的函数名与类名相同。</a:t>
            </a:r>
            <a:endParaRPr lang="zh-CN" altLang="en-US" sz="1600" dirty="0" smtClean="0">
              <a:cs typeface="+mn-ea"/>
            </a:endParaRPr>
          </a:p>
          <a:p>
            <a:pPr lvl="1">
              <a:lnSpc>
                <a:spcPts val="2880"/>
              </a:lnSpc>
              <a:spcBef>
                <a:spcPts val="0"/>
              </a:spcBef>
            </a:pPr>
            <a:r>
              <a:rPr lang="zh-CN" altLang="en-US" sz="1600" dirty="0" smtClean="0">
                <a:cs typeface="+mn-ea"/>
                <a:sym typeface="+mn-ea"/>
              </a:rPr>
              <a:t>构造函数不能有返回类型(包括void)，也即构造函数的函数体内不能有return 返回值的语句，但是可以有无返回值的return。</a:t>
            </a:r>
            <a:endParaRPr lang="zh-CN" altLang="en-US" sz="1600" dirty="0" smtClean="0">
              <a:cs typeface="+mn-ea"/>
              <a:sym typeface="+mn-ea"/>
            </a:endParaRPr>
          </a:p>
          <a:p>
            <a:pPr lvl="1">
              <a:lnSpc>
                <a:spcPts val="2880"/>
              </a:lnSpc>
              <a:spcBef>
                <a:spcPts val="0"/>
              </a:spcBef>
            </a:pPr>
            <a:r>
              <a:rPr lang="zh-CN" altLang="en-US" sz="1600" dirty="0" smtClean="0">
                <a:cs typeface="+mn-ea"/>
                <a:sym typeface="+mn-ea"/>
              </a:rPr>
              <a:t>拷贝构造函数的参数只有一个，即本类对象的引用，因此拷贝构造函数不可重载</a:t>
            </a:r>
            <a:endParaRPr lang="zh-CN" altLang="en-US" sz="1600" dirty="0" smtClean="0">
              <a:cs typeface="+mn-ea"/>
              <a:sym typeface="+mn-ea"/>
            </a:endParaRPr>
          </a:p>
          <a:p>
            <a:pPr lvl="1">
              <a:lnSpc>
                <a:spcPts val="2880"/>
              </a:lnSpc>
              <a:spcBef>
                <a:spcPts val="0"/>
              </a:spcBef>
            </a:pPr>
            <a:r>
              <a:rPr lang="zh-CN" altLang="en-US" sz="1600" dirty="0" smtClean="0">
                <a:cs typeface="+mn-ea"/>
                <a:sym typeface="+mn-ea"/>
              </a:rPr>
              <a:t>在特定应用场景，系统会自动隐式调用拷贝构造函数</a:t>
            </a:r>
            <a:endParaRPr lang="zh-CN" altLang="en-US" sz="1600" dirty="0" smtClean="0">
              <a:cs typeface="+mn-ea"/>
            </a:endParaRPr>
          </a:p>
          <a:p>
            <a:pPr marL="457200" lvl="1" indent="-457200" algn="l">
              <a:lnSpc>
                <a:spcPct val="100000"/>
              </a:lnSpc>
              <a:spcBef>
                <a:spcPct val="20000"/>
              </a:spcBef>
              <a:buClrTx/>
              <a:buSzTx/>
              <a:buFont typeface="Wingdings" panose="05000000000000000000" charset="0"/>
              <a:buChar char="l"/>
            </a:pPr>
            <a:r>
              <a:rPr lang="zh-CN" altLang="en-US" sz="1800" dirty="0" smtClean="0">
                <a:cs typeface="+mn-cs"/>
                <a:sym typeface="+mn-ea"/>
              </a:rPr>
              <a:t>拷贝构造函数被触发的主要三种场景</a:t>
            </a:r>
            <a:endParaRPr lang="zh-CN" altLang="en-US" sz="1800" dirty="0" smtClean="0">
              <a:cs typeface="+mn-cs"/>
              <a:sym typeface="+mn-ea"/>
            </a:endParaRPr>
          </a:p>
          <a:p>
            <a:pPr lvl="1">
              <a:lnSpc>
                <a:spcPts val="2880"/>
              </a:lnSpc>
              <a:spcBef>
                <a:spcPts val="0"/>
              </a:spcBef>
            </a:pPr>
            <a:r>
              <a:rPr lang="zh-CN" altLang="en-US" sz="1600" dirty="0" smtClean="0">
                <a:cs typeface="+mn-ea"/>
                <a:sym typeface="+mn-ea"/>
              </a:rPr>
              <a:t>创建对象时用另一个对象初始化；对象指针</a:t>
            </a:r>
            <a:r>
              <a:rPr lang="en-US" altLang="zh-CN" sz="1600" dirty="0" smtClean="0">
                <a:cs typeface="+mn-ea"/>
                <a:sym typeface="+mn-ea"/>
              </a:rPr>
              <a:t>new</a:t>
            </a:r>
            <a:r>
              <a:rPr lang="zh-CN" altLang="en-US" sz="1600" dirty="0" smtClean="0">
                <a:cs typeface="+mn-ea"/>
                <a:sym typeface="+mn-ea"/>
              </a:rPr>
              <a:t>时，用另一个对象初始化</a:t>
            </a:r>
            <a:endParaRPr lang="zh-CN" altLang="en-US" sz="1600" dirty="0" smtClean="0">
              <a:cs typeface="+mn-ea"/>
              <a:sym typeface="+mn-ea"/>
            </a:endParaRPr>
          </a:p>
          <a:p>
            <a:pPr lvl="1">
              <a:lnSpc>
                <a:spcPts val="2880"/>
              </a:lnSpc>
              <a:spcBef>
                <a:spcPts val="0"/>
              </a:spcBef>
            </a:pPr>
            <a:r>
              <a:rPr lang="zh-CN" altLang="en-US" sz="1600" dirty="0" smtClean="0">
                <a:cs typeface="+mn-ea"/>
                <a:sym typeface="+mn-ea"/>
              </a:rPr>
              <a:t>函数参数值传递，就是用实参拷贝构造形参</a:t>
            </a:r>
            <a:endParaRPr lang="zh-CN" altLang="en-US" sz="1600" dirty="0" smtClean="0">
              <a:cs typeface="+mn-ea"/>
              <a:sym typeface="+mn-ea"/>
            </a:endParaRPr>
          </a:p>
          <a:p>
            <a:pPr lvl="1">
              <a:lnSpc>
                <a:spcPts val="2880"/>
              </a:lnSpc>
              <a:spcBef>
                <a:spcPts val="0"/>
              </a:spcBef>
            </a:pPr>
            <a:r>
              <a:rPr lang="zh-CN" altLang="en-US" sz="1600" dirty="0" smtClean="0">
                <a:cs typeface="+mn-ea"/>
                <a:sym typeface="+mn-ea"/>
              </a:rPr>
              <a:t>函数返回值是一个对象，并且用其他对象承接，实际是返回值对象先拷贝无名对象，无名对象再赋值给其他对象</a:t>
            </a:r>
            <a:endParaRPr lang="zh-CN" altLang="en-US" sz="1500" dirty="0" smtClean="0">
              <a:cs typeface="+mn-cs"/>
              <a:sym typeface="+mn-ea"/>
            </a:endParaRPr>
          </a:p>
          <a:p>
            <a:pPr marL="457200" lvl="1" indent="-457200" algn="l">
              <a:lnSpc>
                <a:spcPct val="100000"/>
              </a:lnSpc>
              <a:spcBef>
                <a:spcPct val="20000"/>
              </a:spcBef>
              <a:buClrTx/>
              <a:buSzTx/>
              <a:buFont typeface="Wingdings" panose="05000000000000000000" charset="0"/>
              <a:buChar char="l"/>
            </a:pPr>
            <a:r>
              <a:rPr lang="zh-CN" altLang="en-US" sz="1800" dirty="0" smtClean="0">
                <a:cs typeface="+mn-cs"/>
                <a:sym typeface="+mn-ea"/>
              </a:rPr>
              <a:t>深拷贝使用的场景：</a:t>
            </a:r>
            <a:endParaRPr lang="zh-CN" altLang="en-US" sz="1800" dirty="0" smtClean="0"/>
          </a:p>
          <a:p>
            <a:pPr lvl="1">
              <a:lnSpc>
                <a:spcPts val="2880"/>
              </a:lnSpc>
              <a:spcBef>
                <a:spcPts val="0"/>
              </a:spcBef>
            </a:pPr>
            <a:r>
              <a:rPr lang="zh-CN" altLang="en-US" sz="1600" dirty="0" smtClean="0">
                <a:cs typeface="+mn-ea"/>
                <a:sym typeface="+mn-ea"/>
              </a:rPr>
              <a:t>数据成员是指针</a:t>
            </a:r>
            <a:endParaRPr lang="zh-CN" altLang="en-US" sz="1600" dirty="0" smtClean="0">
              <a:cs typeface="+mn-ea"/>
              <a:sym typeface="+mn-ea"/>
            </a:endParaRPr>
          </a:p>
          <a:p>
            <a:pPr lvl="1">
              <a:lnSpc>
                <a:spcPts val="2880"/>
              </a:lnSpc>
              <a:spcBef>
                <a:spcPts val="0"/>
              </a:spcBef>
            </a:pPr>
            <a:r>
              <a:rPr lang="zh-CN" altLang="en-US" sz="1600" dirty="0" smtClean="0">
                <a:cs typeface="+mn-ea"/>
                <a:sym typeface="+mn-ea"/>
              </a:rPr>
              <a:t>构造函数中指针成员被</a:t>
            </a:r>
            <a:r>
              <a:rPr lang="en-US" altLang="zh-CN" sz="1600" dirty="0" smtClean="0">
                <a:cs typeface="+mn-ea"/>
                <a:sym typeface="+mn-ea"/>
              </a:rPr>
              <a:t>new</a:t>
            </a:r>
            <a:r>
              <a:rPr lang="zh-CN" altLang="en-US" sz="1600" dirty="0" smtClean="0">
                <a:cs typeface="+mn-ea"/>
                <a:sym typeface="+mn-ea"/>
              </a:rPr>
              <a:t>，析构函数中指针成员被</a:t>
            </a:r>
            <a:r>
              <a:rPr lang="en-US" altLang="zh-CN" sz="1600" dirty="0" smtClean="0">
                <a:cs typeface="+mn-ea"/>
                <a:sym typeface="+mn-ea"/>
              </a:rPr>
              <a:t>delete</a:t>
            </a:r>
            <a:endParaRPr lang="en-US" altLang="zh-CN" sz="1600" dirty="0" smtClean="0">
              <a:cs typeface="+mn-ea"/>
              <a:sym typeface="+mn-ea"/>
            </a:endParaRPr>
          </a:p>
          <a:p>
            <a:pPr lvl="1">
              <a:lnSpc>
                <a:spcPts val="2880"/>
              </a:lnSpc>
              <a:spcBef>
                <a:spcPts val="0"/>
              </a:spcBef>
            </a:pPr>
            <a:r>
              <a:rPr lang="zh-CN" altLang="en-US" sz="1600" dirty="0" smtClean="0">
                <a:cs typeface="+mn-ea"/>
                <a:sym typeface="+mn-ea"/>
              </a:rPr>
              <a:t>在上述条件满足时，拷贝构造函数必须对指针成员做</a:t>
            </a:r>
            <a:r>
              <a:rPr lang="en-US" altLang="zh-CN" sz="1600" dirty="0" smtClean="0">
                <a:cs typeface="+mn-ea"/>
                <a:sym typeface="+mn-ea"/>
              </a:rPr>
              <a:t>new</a:t>
            </a:r>
            <a:endParaRPr lang="en-US" altLang="zh-CN" sz="1600" dirty="0" smtClean="0">
              <a:cs typeface="+mn-ea"/>
              <a:sym typeface="+mn-ea"/>
            </a:endParaRPr>
          </a:p>
          <a:p>
            <a:pPr lvl="1">
              <a:lnSpc>
                <a:spcPts val="2880"/>
              </a:lnSpc>
              <a:spcBef>
                <a:spcPts val="0"/>
              </a:spcBef>
            </a:pPr>
            <a:endParaRPr lang="zh-CN" altLang="en-US" sz="1800" dirty="0" smtClean="0">
              <a:cs typeface="+mn-ea"/>
            </a:endParaRPr>
          </a:p>
          <a:p>
            <a:pPr marL="457200" lvl="1" indent="-457200" algn="l">
              <a:lnSpc>
                <a:spcPct val="100000"/>
              </a:lnSpc>
              <a:spcBef>
                <a:spcPct val="20000"/>
              </a:spcBef>
              <a:buClrTx/>
              <a:buSzTx/>
              <a:buFont typeface="Wingdings" panose="05000000000000000000" charset="0"/>
              <a:buChar char="l"/>
            </a:pPr>
            <a:endParaRPr lang="zh-CN" altLang="en-US" sz="1800" dirty="0" smtClean="0">
              <a:cs typeface="+mn-cs"/>
              <a:sym typeface="+mn-ea"/>
            </a:endParaRPr>
          </a:p>
          <a:p>
            <a:pPr marL="914400" lvl="2" indent="-457200" algn="l">
              <a:lnSpc>
                <a:spcPct val="100000"/>
              </a:lnSpc>
              <a:spcBef>
                <a:spcPct val="20000"/>
              </a:spcBef>
              <a:buClrTx/>
              <a:buSzTx/>
              <a:buFont typeface="Wingdings" panose="05000000000000000000" charset="0"/>
              <a:buChar char="l"/>
            </a:pPr>
            <a:endParaRPr lang="zh-CN" altLang="en-US" sz="1500" dirty="0" smtClean="0">
              <a:cs typeface="+mn-cs"/>
              <a:sym typeface="+mn-ea"/>
            </a:endParaRPr>
          </a:p>
          <a:p>
            <a:pPr marL="457200" lvl="1" indent="-457200" algn="l">
              <a:lnSpc>
                <a:spcPct val="100000"/>
              </a:lnSpc>
              <a:spcBef>
                <a:spcPct val="20000"/>
              </a:spcBef>
              <a:buClrTx/>
              <a:buSzTx/>
              <a:buFont typeface="Wingdings" panose="05000000000000000000" charset="0"/>
              <a:buChar char="l"/>
            </a:pPr>
            <a:endParaRPr lang="zh-CN" altLang="en-US" sz="1800" dirty="0" smtClean="0">
              <a:cs typeface="+mn-cs"/>
              <a:sym typeface="+mn-ea"/>
            </a:endParaRPr>
          </a:p>
          <a:p>
            <a:pPr marL="457200" lvl="1" indent="-457200" algn="l">
              <a:lnSpc>
                <a:spcPct val="100000"/>
              </a:lnSpc>
              <a:spcBef>
                <a:spcPct val="20000"/>
              </a:spcBef>
              <a:buClrTx/>
              <a:buSzTx/>
              <a:buFont typeface="Wingdings" panose="05000000000000000000" charset="0"/>
              <a:buChar char="l"/>
            </a:pPr>
            <a:endParaRPr lang="zh-CN" altLang="en-US" sz="1800" dirty="0" smtClean="0">
              <a:cs typeface="+mn-cs"/>
            </a:endParaRPr>
          </a:p>
        </p:txBody>
      </p:sp>
      <p:sp>
        <p:nvSpPr>
          <p:cNvPr id="3" name="标题 2"/>
          <p:cNvSpPr>
            <a:spLocks noGrp="1"/>
          </p:cNvSpPr>
          <p:nvPr>
            <p:ph type="title"/>
          </p:nvPr>
        </p:nvSpPr>
        <p:spPr>
          <a:xfrm>
            <a:off x="767715" y="188278"/>
            <a:ext cx="8229600" cy="868346"/>
          </a:xfrm>
        </p:spPr>
        <p:txBody>
          <a:bodyPr>
            <a:normAutofit/>
          </a:bodyPr>
          <a:lstStyle/>
          <a:p>
            <a:r>
              <a:rPr lang="zh-CN" altLang="en-US" dirty="0" smtClean="0">
                <a:solidFill>
                  <a:srgbClr val="FF0000"/>
                </a:solidFill>
              </a:rPr>
              <a:t>本章总结</a:t>
            </a:r>
            <a:endParaRPr lang="zh-CN" altLang="en-US" dirty="0" smtClean="0">
              <a:solidFill>
                <a:srgbClr val="FF0000"/>
              </a:solidFill>
            </a:endParaRPr>
          </a:p>
        </p:txBody>
      </p:sp>
      <p:sp>
        <p:nvSpPr>
          <p:cNvPr id="5" name="页脚占位符 4"/>
          <p:cNvSpPr>
            <a:spLocks noGrp="1"/>
          </p:cNvSpPr>
          <p:nvPr>
            <p:ph type="ftr" sz="quarter" idx="11"/>
          </p:nvPr>
        </p:nvSpPr>
        <p:spPr>
          <a:xfrm>
            <a:off x="8167702" y="6357958"/>
            <a:ext cx="2351087" cy="365125"/>
          </a:xfrm>
        </p:spPr>
        <p:txBody>
          <a:bodyPr/>
          <a:lstStyle/>
          <a:p>
            <a:pPr>
              <a:defRPr/>
            </a:pPr>
            <a:fld id="{AD7BC6A2-D5BD-40D0-957C-A2CF55A98CE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4294967295"/>
          </p:nvPr>
        </p:nvSpPr>
        <p:spPr>
          <a:xfrm>
            <a:off x="11650345" y="6483985"/>
            <a:ext cx="541655" cy="282575"/>
          </a:xfrm>
        </p:spPr>
        <p:txBody>
          <a:bodyPr/>
          <a:p>
            <a:fld id="{F18B4237-A20D-4DE2-ADD8-75BCC50A7656}" type="slidenum">
              <a:rPr lang="zh-CN" altLang="en-US"/>
            </a:fld>
            <a:endParaRPr lang="zh-CN" altLang="en-US"/>
          </a:p>
        </p:txBody>
      </p:sp>
    </p:spTree>
  </p:cSld>
  <p:clrMapOvr>
    <a:masterClrMapping/>
  </p:clrMapOvr>
</p:sld>
</file>

<file path=ppt/theme/theme1.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主题​​">
      <a:majorFont>
        <a:latin typeface="Copperplate Gothic Bold"/>
        <a:ea typeface="微软雅黑"/>
        <a:cs typeface=""/>
      </a:majorFont>
      <a:minorFont>
        <a:latin typeface="Copperplate Gothic Bold"/>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bodyPr vert="horz" lIns="91440" tIns="45720" rIns="91440" bIns="45720" rtlCol="0">
        <a:noAutofit/>
      </a:bodyPr>
      <a:lstStyle>
        <a:defPPr marL="571500" lvl="0" indent="-571500">
          <a:lnSpc>
            <a:spcPct val="90000"/>
          </a:lnSpc>
          <a:spcBef>
            <a:spcPts val="1000"/>
          </a:spcBef>
          <a:buClr>
            <a:schemeClr val="accent2"/>
          </a:buClr>
          <a:buFont typeface="Wingdings" panose="05000000000000000000" pitchFamily="2" charset="2"/>
          <a:buChar char="n"/>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10097</Words>
  <Application>WPS 演示</Application>
  <PresentationFormat>宽屏</PresentationFormat>
  <Paragraphs>742</Paragraphs>
  <Slides>39</Slides>
  <Notes>12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39</vt:i4>
      </vt:variant>
    </vt:vector>
  </HeadingPairs>
  <TitlesOfParts>
    <vt:vector size="49" baseType="lpstr">
      <vt:lpstr>Arial</vt:lpstr>
      <vt:lpstr>宋体</vt:lpstr>
      <vt:lpstr>Wingdings</vt:lpstr>
      <vt:lpstr>Copperplate Gothic Bold</vt:lpstr>
      <vt:lpstr>微软雅黑</vt:lpstr>
      <vt:lpstr>Tahoma</vt:lpstr>
      <vt:lpstr>Wingdings</vt:lpstr>
      <vt:lpstr>黑体</vt:lpstr>
      <vt:lpstr>Arial Unicode MS</vt:lpstr>
      <vt:lpstr>1_Office 主题​​</vt:lpstr>
      <vt:lpstr>PowerPoint 演示文稿</vt:lpstr>
      <vt:lpstr>课程结构（按教材划分）</vt:lpstr>
      <vt:lpstr>前面知识点</vt:lpstr>
      <vt:lpstr>PowerPoint 演示文稿</vt:lpstr>
      <vt:lpstr>1.拷贝构造函数</vt:lpstr>
      <vt:lpstr>1.拷贝构造函数</vt:lpstr>
      <vt:lpstr>1.拷贝构造函数</vt:lpstr>
      <vt:lpstr>1.拷贝构造函数</vt:lpstr>
      <vt:lpstr>1.拷贝构造函数</vt:lpstr>
      <vt:lpstr>1.拷贝构造函数</vt:lpstr>
      <vt:lpstr>1.拷贝构造函数</vt:lpstr>
      <vt:lpstr>1.拷贝构造函数</vt:lpstr>
      <vt:lpstr>1.拷贝构造函数</vt:lpstr>
      <vt:lpstr>1.拷贝构造函数</vt:lpstr>
      <vt:lpstr>1.拷贝构造函数</vt:lpstr>
      <vt:lpstr>1.拷贝构造函数</vt:lpstr>
      <vt:lpstr>1.拷贝构造函数</vt:lpstr>
      <vt:lpstr>1.拷贝构造函数</vt:lpstr>
      <vt:lpstr>PowerPoint 演示文稿</vt:lpstr>
      <vt:lpstr>2.深拷贝</vt:lpstr>
      <vt:lpstr>2.深拷贝</vt:lpstr>
      <vt:lpstr>2.深拷贝</vt:lpstr>
      <vt:lpstr>2.深拷贝</vt:lpstr>
      <vt:lpstr>2.深拷贝</vt:lpstr>
      <vt:lpstr>2.深拷贝</vt:lpstr>
      <vt:lpstr>2.深拷贝</vt:lpstr>
      <vt:lpstr>2.深拷贝</vt:lpstr>
      <vt:lpstr>PowerPoint 演示文稿</vt:lpstr>
      <vt:lpstr>3.各种对象</vt:lpstr>
      <vt:lpstr>3.各种对象</vt:lpstr>
      <vt:lpstr>3.各种对象</vt:lpstr>
      <vt:lpstr>3.各种对象</vt:lpstr>
      <vt:lpstr>PowerPoint 演示文稿</vt:lpstr>
      <vt:lpstr>4.构造函数与类型转换</vt:lpstr>
      <vt:lpstr>4.构造函数与类型转换</vt:lpstr>
      <vt:lpstr>4.构造函数与类型转换</vt:lpstr>
      <vt:lpstr>4.构造函数与类型转换</vt:lpstr>
      <vt:lpstr>本章总结</vt:lpstr>
      <vt:lpstr>PowerPoint 演示文稿</vt:lpstr>
    </vt:vector>
  </TitlesOfParts>
  <Company>SZU</Company>
  <LinksUpToDate>false</LinksUpToDate>
  <SharedDoc>false</SharedDoc>
  <HyperlinksChanged>false</HyperlinksChanged>
  <AppVersion>14.0000</AppVersion>
  <Manager>BJC</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教学讲义</dc:title>
  <dc:creator>白; BJC</dc:creator>
  <dc:subject>C++</dc:subject>
  <cp:lastModifiedBy>bai</cp:lastModifiedBy>
  <cp:revision>2193</cp:revision>
  <dcterms:created xsi:type="dcterms:W3CDTF">2014-01-11T15:22:00Z</dcterms:created>
  <dcterms:modified xsi:type="dcterms:W3CDTF">2024-04-08T12:48:35Z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2052-11.8.2.8361</vt:lpwstr>
  </property>
  <property fmtid="{D5CDD505-2E9C-101B-9397-08002B2CF9AE}" pid="3" name="ICV">
    <vt:lpwstr>929928FDE8C1469C8B0F50FEA79C365E</vt:lpwstr>
  </property>
</Properties>
</file>