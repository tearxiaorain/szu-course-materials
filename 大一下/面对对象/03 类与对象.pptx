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handoutMasterIdLst>
    <p:handoutMasterId r:id="rId50"/>
  </p:handoutMasterIdLst>
  <p:sldIdLst>
    <p:sldId id="682" r:id="rId3"/>
    <p:sldId id="683" r:id="rId4"/>
    <p:sldId id="684" r:id="rId5"/>
    <p:sldId id="685" r:id="rId6"/>
    <p:sldId id="686" r:id="rId7"/>
    <p:sldId id="687" r:id="rId8"/>
    <p:sldId id="688" r:id="rId9"/>
    <p:sldId id="689" r:id="rId10"/>
    <p:sldId id="690" r:id="rId11"/>
    <p:sldId id="691" r:id="rId12"/>
    <p:sldId id="692" r:id="rId13"/>
    <p:sldId id="693" r:id="rId14"/>
    <p:sldId id="694" r:id="rId15"/>
    <p:sldId id="695" r:id="rId16"/>
    <p:sldId id="580" r:id="rId17"/>
    <p:sldId id="581" r:id="rId18"/>
    <p:sldId id="582" r:id="rId19"/>
    <p:sldId id="583" r:id="rId20"/>
    <p:sldId id="584" r:id="rId21"/>
    <p:sldId id="585" r:id="rId22"/>
    <p:sldId id="588" r:id="rId23"/>
    <p:sldId id="589" r:id="rId24"/>
    <p:sldId id="590" r:id="rId25"/>
    <p:sldId id="591" r:id="rId26"/>
    <p:sldId id="592" r:id="rId27"/>
    <p:sldId id="609" r:id="rId28"/>
    <p:sldId id="630" r:id="rId29"/>
    <p:sldId id="631" r:id="rId30"/>
    <p:sldId id="632" r:id="rId31"/>
    <p:sldId id="633" r:id="rId32"/>
    <p:sldId id="634" r:id="rId33"/>
    <p:sldId id="650" r:id="rId34"/>
    <p:sldId id="651" r:id="rId35"/>
    <p:sldId id="652" r:id="rId36"/>
    <p:sldId id="653" r:id="rId37"/>
    <p:sldId id="654" r:id="rId38"/>
    <p:sldId id="635" r:id="rId39"/>
    <p:sldId id="636" r:id="rId40"/>
    <p:sldId id="637" r:id="rId41"/>
    <p:sldId id="638" r:id="rId42"/>
    <p:sldId id="639" r:id="rId43"/>
    <p:sldId id="640" r:id="rId44"/>
    <p:sldId id="641" r:id="rId45"/>
    <p:sldId id="642" r:id="rId46"/>
    <p:sldId id="643" r:id="rId47"/>
    <p:sldId id="644" r:id="rId4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Lucida Sans Unicode" panose="020B0602030504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Lucida Sans Unicode" panose="020B0602030504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Lucida Sans Unicode" panose="020B0602030504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Lucida Sans Unicode" panose="020B0602030504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Lucida Sans Unicode" panose="020B0602030504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Lucida Sans Unicode" panose="020B0602030504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Lucida Sans Unicode" panose="020B0602030504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Lucida Sans Unicode" panose="020B0602030504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Lucida Sans Unicode" panose="020B0602030504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271" autoAdjust="0"/>
    <p:restoredTop sz="94660"/>
  </p:normalViewPr>
  <p:slideViewPr>
    <p:cSldViewPr>
      <p:cViewPr>
        <p:scale>
          <a:sx n="100" d="100"/>
          <a:sy n="100" d="100"/>
        </p:scale>
        <p:origin x="-1944" y="-2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3.xml"/><Relationship Id="rId49" Type="http://schemas.openxmlformats.org/officeDocument/2006/relationships/notesMaster" Target="notesMasters/notesMaster1.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940B6B-78AE-4017-B7E7-CC67B38BADD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C79072E-8C30-4346-B477-D812B115D3C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BCF08B-64EE-48BE-B0BA-D219D27F4B3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BEB867-7509-4723-9538-9D475DF7F60B}"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直角三角形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组合 15"/>
          <p:cNvGrpSpPr/>
          <p:nvPr/>
        </p:nvGrpSpPr>
        <p:grpSpPr bwMode="auto">
          <a:xfrm>
            <a:off x="-3175" y="4953000"/>
            <a:ext cx="9147175" cy="1911350"/>
            <a:chOff x="-3765" y="4832896"/>
            <a:chExt cx="9147765" cy="2032192"/>
          </a:xfrm>
        </p:grpSpPr>
        <p:sp>
          <p:nvSpPr>
            <p:cNvPr id="6" name="任意多边形 5"/>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a typeface="+mn-ea"/>
              </a:endParaRPr>
            </a:p>
          </p:txBody>
        </p:sp>
        <p:sp>
          <p:nvSpPr>
            <p:cNvPr id="7" name="任意多边形 18"/>
            <p:cNvSpPr/>
            <p:nvPr/>
          </p:nvSpPr>
          <p:spPr bwMode="auto">
            <a:xfrm>
              <a:off x="35443" y="5135526"/>
              <a:ext cx="9108557"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w="9525" cap="flat" cmpd="sng" algn="ctr">
              <a:noFill/>
              <a:prstDash val="solid"/>
              <a:round/>
              <a:headEnd type="none" w="med" len="med"/>
              <a:tailEnd type="none" w="med" len="med"/>
            </a:ln>
          </p:spPr>
          <p:txBody>
            <a:bodyPr/>
            <a:lstStyle/>
            <a:p>
              <a:endParaRPr lang="zh-CN" altLang="en-US"/>
            </a:p>
          </p:txBody>
        </p:sp>
        <p:sp>
          <p:nvSpPr>
            <p:cNvPr id="8" name="任意多边形 7"/>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直接连接符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标题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11" name="日期占位符 29"/>
          <p:cNvSpPr>
            <a:spLocks noGrp="1"/>
          </p:cNvSpPr>
          <p:nvPr>
            <p:ph type="dt" sz="half" idx="10"/>
          </p:nvPr>
        </p:nvSpPr>
        <p:spPr/>
        <p:txBody>
          <a:bodyPr/>
          <a:lstStyle>
            <a:lvl1pPr>
              <a:defRPr smtClean="0">
                <a:solidFill>
                  <a:srgbClr val="FFFFFF"/>
                </a:solidFill>
              </a:defRPr>
            </a:lvl1pPr>
          </a:lstStyle>
          <a:p>
            <a:pPr>
              <a:defRPr/>
            </a:pPr>
            <a:fld id="{3802FB08-2637-4CF6-AD74-C07441CFA7C0}" type="datetimeFigureOut">
              <a:rPr lang="zh-CN" altLang="en-US"/>
            </a:fld>
            <a:endParaRPr lang="zh-CN" altLang="en-US"/>
          </a:p>
        </p:txBody>
      </p:sp>
      <p:sp>
        <p:nvSpPr>
          <p:cNvPr id="12" name="页脚占位符 18"/>
          <p:cNvSpPr>
            <a:spLocks noGrp="1"/>
          </p:cNvSpPr>
          <p:nvPr>
            <p:ph type="ftr" sz="quarter" idx="11"/>
          </p:nvPr>
        </p:nvSpPr>
        <p:spPr/>
        <p:txBody>
          <a:bodyPr/>
          <a:lstStyle>
            <a:lvl1pPr>
              <a:defRPr>
                <a:solidFill>
                  <a:schemeClr val="accent1">
                    <a:tint val="20000"/>
                  </a:schemeClr>
                </a:solidFill>
              </a:defRPr>
            </a:lvl1pPr>
          </a:lstStyle>
          <a:p>
            <a:pPr>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7" name="标题 6"/>
          <p:cNvSpPr>
            <a:spLocks noGrp="1"/>
          </p:cNvSpPr>
          <p:nvPr>
            <p:ph type="title"/>
          </p:nvPr>
        </p:nvSpPr>
        <p:spPr/>
        <p:txBody>
          <a:bodyPr rtlCol="0"/>
          <a:lstStyle/>
          <a:p>
            <a:r>
              <a:rPr lang="zh-CN" altLang="en-US" smtClean="0"/>
              <a:t>单击此处编辑母版标题样式</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a typeface="+mn-ea"/>
            </a:endParaRPr>
          </a:p>
        </p:txBody>
      </p:sp>
      <p:sp>
        <p:nvSpPr>
          <p:cNvPr id="1027" name="任意多边形 11"/>
          <p:cNvSpPr/>
          <p:nvPr/>
        </p:nvSpPr>
        <p:spPr bwMode="auto">
          <a:xfrm>
            <a:off x="485775" y="5938838"/>
            <a:ext cx="3690938"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w="9525" cap="flat" cmpd="sng" algn="ctr">
            <a:noFill/>
            <a:prstDash val="solid"/>
            <a:round/>
            <a:headEnd type="none" w="med" len="med"/>
            <a:tailEnd type="none" w="med" len="med"/>
          </a:ln>
        </p:spPr>
        <p:txBody>
          <a:bodyPr/>
          <a:lstStyle/>
          <a:p>
            <a:endParaRPr lang="zh-CN" altLang="en-US"/>
          </a:p>
        </p:txBody>
      </p:sp>
      <p:sp>
        <p:nvSpPr>
          <p:cNvPr id="14" name="直角三角形 13"/>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直接连接符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796908"/>
          </a:xfrm>
          <a:prstGeom prst="rect">
            <a:avLst/>
          </a:prstGeom>
        </p:spPr>
        <p:txBody>
          <a:bodyPr vert="horz" anchor="ctr">
            <a:normAutofit/>
            <a:scene3d>
              <a:camera prst="orthographicFront"/>
              <a:lightRig rig="soft" dir="t"/>
            </a:scene3d>
            <a:sp3d prstMaterial="softEdge">
              <a:bevelT w="25400" h="25400"/>
            </a:sp3d>
          </a:bodyPr>
          <a:lstStyle/>
          <a:p>
            <a:r>
              <a:rPr lang="zh-CN" altLang="en-US" smtClean="0"/>
              <a:t>单击此处编辑母版标题样式</a:t>
            </a:r>
            <a:endParaRPr lang="en-US"/>
          </a:p>
        </p:txBody>
      </p:sp>
      <p:sp>
        <p:nvSpPr>
          <p:cNvPr id="1033" name="文本占位符 29"/>
          <p:cNvSpPr>
            <a:spLocks noGrp="1"/>
          </p:cNvSpPr>
          <p:nvPr>
            <p:ph type="body" idx="1"/>
          </p:nvPr>
        </p:nvSpPr>
        <p:spPr bwMode="auto">
          <a:xfrm>
            <a:off x="428596" y="1214422"/>
            <a:ext cx="8229600" cy="4714908"/>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smtClean="0"/>
          </a:p>
        </p:txBody>
      </p:sp>
      <p:sp>
        <p:nvSpPr>
          <p:cNvPr id="10" name="日期占位符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ea typeface="+mn-ea"/>
              </a:defRPr>
            </a:lvl1pPr>
          </a:lstStyle>
          <a:p>
            <a:pPr>
              <a:defRPr/>
            </a:pPr>
            <a:fld id="{A81E30BA-3C34-4183-A909-4D733F30C1A1}" type="datetimeFigureOut">
              <a:rPr lang="zh-CN" altLang="en-US"/>
            </a:fld>
            <a:endParaRPr lang="zh-CN" altLang="en-US"/>
          </a:p>
        </p:txBody>
      </p:sp>
      <p:sp>
        <p:nvSpPr>
          <p:cNvPr id="22" name="页脚占位符 21"/>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ea typeface="+mn-ea"/>
              </a:defRPr>
            </a:lvl1pPr>
          </a:lstStyle>
          <a:p>
            <a:pPr>
              <a:defRPr/>
            </a:pPr>
            <a:endParaRPr lang="zh-CN" altLang="en-US" dirty="0"/>
          </a:p>
        </p:txBody>
      </p:sp>
      <p:sp>
        <p:nvSpPr>
          <p:cNvPr id="18" name="灯片编号占位符 17"/>
          <p:cNvSpPr>
            <a:spLocks noGrp="1"/>
          </p:cNvSpPr>
          <p:nvPr>
            <p:ph type="sldNum" sz="quarter" idx="4"/>
          </p:nvPr>
        </p:nvSpPr>
        <p:spPr>
          <a:xfrm>
            <a:off x="8647113" y="6408738"/>
            <a:ext cx="366712" cy="365125"/>
          </a:xfrm>
          <a:prstGeom prst="rect">
            <a:avLst/>
          </a:prstGeom>
        </p:spPr>
        <p:txBody>
          <a:bodyPr vert="horz" anchor="b"/>
          <a:lstStyle>
            <a:lvl1pPr algn="r" eaLnBrk="1" fontAlgn="auto" latinLnBrk="0" hangingPunct="1">
              <a:spcBef>
                <a:spcPts val="0"/>
              </a:spcBef>
              <a:spcAft>
                <a:spcPts val="0"/>
              </a:spcAft>
              <a:defRPr kumimoji="0" sz="1000" b="0" smtClean="0">
                <a:solidFill>
                  <a:schemeClr val="tx1"/>
                </a:solidFill>
                <a:latin typeface="+mn-lt"/>
                <a:ea typeface="+mn-ea"/>
              </a:defRPr>
            </a:lvl1pPr>
          </a:lstStyle>
          <a:p>
            <a:pPr>
              <a:defRPr/>
            </a:pPr>
            <a:fld id="{56A43F19-69B5-4382-A06C-E34D724156A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rtl="0" fontAlgn="base">
        <a:spcBef>
          <a:spcPct val="0"/>
        </a:spcBef>
        <a:spcAft>
          <a:spcPct val="0"/>
        </a:spcAft>
        <a:defRPr sz="40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p:titleStyle>
    <p:bodyStyle>
      <a:lvl1pPr marL="365125" indent="-255905" algn="l" rtl="0" fontAlgn="base">
        <a:spcBef>
          <a:spcPts val="400"/>
        </a:spcBef>
        <a:spcAft>
          <a:spcPct val="0"/>
        </a:spcAft>
        <a:buClr>
          <a:schemeClr val="accent1"/>
        </a:buClr>
        <a:buSzPct val="68000"/>
        <a:buFont typeface="Wingdings 3" panose="05040102010807070707" pitchFamily="18" charset="2"/>
        <a:buChar char=""/>
        <a:defRPr sz="2400" kern="1200">
          <a:solidFill>
            <a:schemeClr val="tx1"/>
          </a:solidFill>
          <a:latin typeface="+mn-lt"/>
          <a:ea typeface="+mn-ea"/>
          <a:cs typeface="+mn-cs"/>
        </a:defRPr>
      </a:lvl1pPr>
      <a:lvl2pPr marL="621030" indent="-228600" algn="l" rtl="0" fontAlgn="base">
        <a:spcBef>
          <a:spcPts val="325"/>
        </a:spcBef>
        <a:spcAft>
          <a:spcPct val="0"/>
        </a:spcAft>
        <a:buClr>
          <a:schemeClr val="accent1"/>
        </a:buClr>
        <a:buFont typeface="Verdana" panose="020B0604030504040204" pitchFamily="34" charset="0"/>
        <a:buChar char="◦"/>
        <a:defRPr sz="2000" kern="1200">
          <a:solidFill>
            <a:schemeClr val="tx1"/>
          </a:solidFill>
          <a:latin typeface="+mn-lt"/>
          <a:ea typeface="+mn-ea"/>
          <a:cs typeface="+mn-cs"/>
        </a:defRPr>
      </a:lvl2pPr>
      <a:lvl3pPr marL="859155" indent="-228600" algn="l" rtl="0" fontAlgn="base">
        <a:spcBef>
          <a:spcPts val="350"/>
        </a:spcBef>
        <a:spcAft>
          <a:spcPct val="0"/>
        </a:spcAft>
        <a:buClr>
          <a:schemeClr val="accent2"/>
        </a:buClr>
        <a:buSzPct val="100000"/>
        <a:buFont typeface="Wingdings 2" panose="05020102010507070707" pitchFamily="18" charset="2"/>
        <a:buChar char=""/>
        <a:defRPr sz="20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anose="05020102010507070707" pitchFamily="18" charset="2"/>
        <a:buChar char=""/>
        <a:defRPr sz="18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anose="05020102010507070707" pitchFamily="18" charset="2"/>
        <a:buChar char=""/>
        <a:defRPr sz="16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14348" y="1285860"/>
            <a:ext cx="7772400" cy="1829761"/>
          </a:xfrm>
        </p:spPr>
        <p:txBody>
          <a:bodyPr/>
          <a:lstStyle/>
          <a:p>
            <a:pPr fontAlgn="auto">
              <a:spcAft>
                <a:spcPts val="0"/>
              </a:spcAft>
              <a:defRPr/>
            </a:pPr>
            <a:r>
              <a:rPr lang="zh-CN" altLang="en-US" dirty="0" smtClean="0"/>
              <a:t>面向对象程序设计</a:t>
            </a:r>
            <a:endParaRPr lang="zh-CN" altLang="en-US" dirty="0"/>
          </a:p>
        </p:txBody>
      </p:sp>
      <p:sp>
        <p:nvSpPr>
          <p:cNvPr id="9219" name="副标题 2"/>
          <p:cNvSpPr>
            <a:spLocks noGrp="1"/>
          </p:cNvSpPr>
          <p:nvPr>
            <p:ph type="subTitle" idx="1"/>
          </p:nvPr>
        </p:nvSpPr>
        <p:spPr>
          <a:xfrm>
            <a:off x="714348" y="3143248"/>
            <a:ext cx="7772400" cy="1200150"/>
          </a:xfrm>
        </p:spPr>
        <p:txBody>
          <a:bodyPr/>
          <a:lstStyle/>
          <a:p>
            <a:pPr marR="0" algn="ctr"/>
            <a:r>
              <a:rPr lang="zh-CN" altLang="en-US" sz="3200" b="1" dirty="0" smtClean="0">
                <a:solidFill>
                  <a:srgbClr val="FF0000"/>
                </a:solidFill>
              </a:rPr>
              <a:t>第十一章 类</a:t>
            </a:r>
            <a:endParaRPr lang="zh-CN" altLang="en-US" sz="3200" b="1" dirty="0" smtClean="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p:cNvSpPr>
            <a:spLocks noGrp="1"/>
          </p:cNvSpPr>
          <p:nvPr>
            <p:ph idx="1"/>
          </p:nvPr>
        </p:nvSpPr>
        <p:spPr>
          <a:xfrm>
            <a:off x="457200" y="1357298"/>
            <a:ext cx="8229600" cy="4525962"/>
          </a:xfrm>
        </p:spPr>
        <p:txBody>
          <a:bodyPr/>
          <a:lstStyle/>
          <a:p>
            <a:pPr marL="566420" indent="-457200">
              <a:buClr>
                <a:srgbClr val="FF0000"/>
              </a:buClr>
              <a:buSzPct val="100000"/>
              <a:buFont typeface="+mj-lt"/>
              <a:buAutoNum type="arabicPeriod"/>
            </a:pPr>
            <a:r>
              <a:rPr lang="zh-CN" altLang="en-US" dirty="0" smtClean="0"/>
              <a:t>计算机程序设计语言的发展</a:t>
            </a:r>
            <a:endParaRPr lang="en-US" altLang="zh-CN" dirty="0" smtClean="0"/>
          </a:p>
          <a:p>
            <a:pPr marL="566420" indent="-457200">
              <a:buClr>
                <a:srgbClr val="FF0000"/>
              </a:buClr>
              <a:buSzPct val="100000"/>
              <a:buFont typeface="+mj-lt"/>
              <a:buAutoNum type="arabicPeriod"/>
            </a:pPr>
            <a:r>
              <a:rPr lang="zh-CN" altLang="en-US" dirty="0" smtClean="0"/>
              <a:t>面向过程的程序设计</a:t>
            </a:r>
            <a:endParaRPr lang="en-US" altLang="zh-CN" dirty="0" smtClean="0"/>
          </a:p>
          <a:p>
            <a:pPr marL="566420" indent="-457200">
              <a:buClr>
                <a:srgbClr val="FF0000"/>
              </a:buClr>
              <a:buSzPct val="100000"/>
              <a:buFont typeface="+mj-lt"/>
              <a:buAutoNum type="arabicPeriod"/>
            </a:pPr>
            <a:r>
              <a:rPr lang="zh-CN" altLang="en-US" dirty="0" smtClean="0"/>
              <a:t>面向对象的设计思想</a:t>
            </a:r>
            <a:endParaRPr lang="en-US" altLang="zh-CN" dirty="0" smtClean="0"/>
          </a:p>
          <a:p>
            <a:pPr marL="566420" indent="-457200">
              <a:buClr>
                <a:srgbClr val="FF0000"/>
              </a:buClr>
              <a:buSzPct val="100000"/>
              <a:buFont typeface="+mj-lt"/>
              <a:buAutoNum type="arabicPeriod"/>
            </a:pPr>
            <a:r>
              <a:rPr lang="zh-CN" altLang="en-US" dirty="0" smtClean="0"/>
              <a:t>面向对象的基本概念</a:t>
            </a:r>
            <a:endParaRPr lang="en-US" altLang="zh-CN" dirty="0" smtClean="0"/>
          </a:p>
          <a:p>
            <a:pPr marL="566420" indent="-457200">
              <a:buClr>
                <a:srgbClr val="FF0000"/>
              </a:buClr>
              <a:buSzPct val="100000"/>
              <a:buFont typeface="+mj-lt"/>
              <a:buAutoNum type="arabicPeriod"/>
            </a:pPr>
            <a:r>
              <a:rPr lang="zh-CN" altLang="en-US" dirty="0" smtClean="0"/>
              <a:t>类的基础用法</a:t>
            </a:r>
            <a:endParaRPr lang="en-US" altLang="zh-CN" dirty="0" smtClean="0"/>
          </a:p>
          <a:p>
            <a:pPr marL="566420" indent="-457200">
              <a:buClr>
                <a:srgbClr val="FF0000"/>
              </a:buClr>
              <a:buSzPct val="100000"/>
              <a:buFont typeface="+mj-lt"/>
              <a:buAutoNum type="arabicPeriod"/>
            </a:pPr>
            <a:r>
              <a:rPr lang="zh-CN" altLang="en-US" dirty="0" smtClean="0"/>
              <a:t>类的程序结构</a:t>
            </a:r>
            <a:endParaRPr lang="en-US" altLang="zh-CN" dirty="0" smtClean="0"/>
          </a:p>
          <a:p>
            <a:pPr marL="566420" indent="-457200">
              <a:buClr>
                <a:srgbClr val="FF0000"/>
              </a:buClr>
              <a:buSzPct val="100000"/>
              <a:buFont typeface="+mj-lt"/>
              <a:buAutoNum type="arabicPeriod"/>
            </a:pPr>
            <a:r>
              <a:rPr lang="zh-CN" altLang="en-US" smtClean="0"/>
              <a:t>面向对象</a:t>
            </a:r>
            <a:r>
              <a:rPr lang="zh-CN" altLang="en-US" dirty="0" smtClean="0"/>
              <a:t>的四个特征</a:t>
            </a:r>
            <a:endParaRPr lang="en-US" altLang="zh-CN" dirty="0" smtClean="0"/>
          </a:p>
          <a:p>
            <a:endParaRPr lang="en-US" altLang="zh-CN" dirty="0" smtClean="0"/>
          </a:p>
          <a:p>
            <a:endParaRPr lang="zh-CN" altLang="en-US" dirty="0" smtClean="0"/>
          </a:p>
        </p:txBody>
      </p:sp>
      <p:sp>
        <p:nvSpPr>
          <p:cNvPr id="2" name="标题 1"/>
          <p:cNvSpPr>
            <a:spLocks noGrp="1"/>
          </p:cNvSpPr>
          <p:nvPr>
            <p:ph type="title"/>
          </p:nvPr>
        </p:nvSpPr>
        <p:spPr/>
        <p:txBody>
          <a:bodyPr/>
          <a:lstStyle/>
          <a:p>
            <a:pPr fontAlgn="auto">
              <a:spcAft>
                <a:spcPts val="0"/>
              </a:spcAft>
              <a:defRPr/>
            </a:pPr>
            <a:r>
              <a:rPr lang="zh-CN" altLang="en-US" dirty="0" smtClean="0"/>
              <a:t>本章主要内容</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a:lnSpc>
                <a:spcPct val="125000"/>
              </a:lnSpc>
            </a:pPr>
            <a:r>
              <a:rPr lang="zh-CN" altLang="en-US" sz="2000" dirty="0" smtClean="0"/>
              <a:t>机器语言→汇编语言→高级语言→面向对象程序设计语言</a:t>
            </a:r>
            <a:endParaRPr lang="zh-CN" altLang="en-US" sz="2000" dirty="0" smtClean="0"/>
          </a:p>
          <a:p>
            <a:pPr eaLnBrk="1" hangingPunct="1">
              <a:lnSpc>
                <a:spcPct val="125000"/>
              </a:lnSpc>
            </a:pPr>
            <a:r>
              <a:rPr lang="zh-CN" altLang="en-US" sz="2000" dirty="0" smtClean="0"/>
              <a:t>机器语言</a:t>
            </a:r>
            <a:endParaRPr lang="en-US" altLang="zh-CN" sz="2000" dirty="0" smtClean="0"/>
          </a:p>
          <a:p>
            <a:pPr lvl="1">
              <a:lnSpc>
                <a:spcPct val="125000"/>
              </a:lnSpc>
            </a:pPr>
            <a:r>
              <a:rPr lang="zh-CN" altLang="en-US" sz="1800" dirty="0" smtClean="0"/>
              <a:t>指令，就是指计算机能够识别的命令，它们是一些由</a:t>
            </a:r>
            <a:r>
              <a:rPr lang="en-US" altLang="zh-CN" sz="1800" dirty="0" smtClean="0"/>
              <a:t>0</a:t>
            </a:r>
            <a:r>
              <a:rPr lang="zh-CN" altLang="en-US" sz="1800" dirty="0" smtClean="0"/>
              <a:t>和</a:t>
            </a:r>
            <a:r>
              <a:rPr lang="en-US" altLang="zh-CN" sz="1800" dirty="0" smtClean="0"/>
              <a:t>1</a:t>
            </a:r>
            <a:r>
              <a:rPr lang="zh-CN" altLang="en-US" sz="1800" dirty="0" smtClean="0"/>
              <a:t>组合成的二进制编码。指令系统，计算机硬件系统能够识别的所有指令的集合。</a:t>
            </a:r>
            <a:endParaRPr lang="en-US" altLang="zh-CN" sz="1800" dirty="0" smtClean="0"/>
          </a:p>
          <a:p>
            <a:pPr eaLnBrk="1" hangingPunct="1">
              <a:lnSpc>
                <a:spcPct val="125000"/>
              </a:lnSpc>
            </a:pPr>
            <a:r>
              <a:rPr lang="zh-CN" altLang="en-US" sz="2000" dirty="0" smtClean="0"/>
              <a:t>汇编语言，用一些便于记忆的符号代替机器语言中的二进制指令代码，就将二进制的机器语言转换成了一种便于记忆的符号语言</a:t>
            </a:r>
            <a:endParaRPr lang="zh-CN" altLang="en-US" sz="2000" dirty="0" smtClean="0"/>
          </a:p>
          <a:p>
            <a:pPr lvl="1">
              <a:lnSpc>
                <a:spcPct val="125000"/>
              </a:lnSpc>
            </a:pPr>
            <a:r>
              <a:rPr lang="zh-CN" altLang="en-US" sz="1800" dirty="0" smtClean="0"/>
              <a:t>与机器语言的比较，汇编语言编程比机器语言简单。同机器语言一样，它仍然是与机器相关的。不同机器系统的汇编语言并不相同，要在不同硬件系统（其指令系统不同）的计算机上完成相同的任务，需要编写不同的汇编程序。</a:t>
            </a:r>
            <a:endParaRPr lang="zh-CN" altLang="en-US" sz="1800" dirty="0" smtClean="0"/>
          </a:p>
          <a:p>
            <a:pPr lvl="1">
              <a:lnSpc>
                <a:spcPct val="125000"/>
              </a:lnSpc>
            </a:pPr>
            <a:endParaRPr lang="zh-CN" altLang="en-US" sz="1800" dirty="0" smtClean="0"/>
          </a:p>
          <a:p>
            <a:pPr lvl="1">
              <a:lnSpc>
                <a:spcPct val="125000"/>
              </a:lnSpc>
            </a:pPr>
            <a:endParaRPr lang="zh-CN" altLang="en-US" sz="1600" dirty="0" smtClean="0"/>
          </a:p>
          <a:p>
            <a:pPr lvl="1"/>
            <a:endParaRPr lang="en-US" altLang="zh-CN" dirty="0" smtClean="0"/>
          </a:p>
          <a:p>
            <a:pPr eaLnBrk="1" hangingPunct="1"/>
            <a:endParaRPr lang="zh-CN" altLang="en-US"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1.</a:t>
            </a:r>
            <a:r>
              <a:rPr lang="zh-CN" altLang="en-US" sz="3600" dirty="0" smtClean="0"/>
              <a:t>计算机程序设计语言的发展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高级语言，屏蔽了与机器硬件相关的细节，采用具有一定含义的命名符号和容易理解的程序语句进行程序设计，不仅大大降低了程序设计的难度，而且也使程序易被人们理解。 </a:t>
            </a:r>
            <a:endParaRPr lang="zh-CN" altLang="en-US" sz="2000" dirty="0" smtClean="0"/>
          </a:p>
          <a:p>
            <a:pPr eaLnBrk="1" hangingPunct="1">
              <a:lnSpc>
                <a:spcPct val="125000"/>
              </a:lnSpc>
            </a:pPr>
            <a:r>
              <a:rPr lang="zh-CN" altLang="en-US" sz="2000" dirty="0" smtClean="0"/>
              <a:t>高级语言程序的通用性和可移植性更高</a:t>
            </a:r>
            <a:endParaRPr lang="zh-CN" altLang="en-US" sz="2000" dirty="0" smtClean="0"/>
          </a:p>
          <a:p>
            <a:pPr eaLnBrk="1" hangingPunct="1">
              <a:lnSpc>
                <a:spcPct val="125000"/>
              </a:lnSpc>
            </a:pPr>
            <a:r>
              <a:rPr lang="zh-CN" altLang="en-US" sz="2000" dirty="0" smtClean="0"/>
              <a:t>与人们自然思维很接近，编程更容易、简单</a:t>
            </a:r>
            <a:endParaRPr lang="en-US" altLang="zh-CN" sz="2000" dirty="0" smtClean="0"/>
          </a:p>
          <a:p>
            <a:pPr eaLnBrk="1" hangingPunct="1">
              <a:lnSpc>
                <a:spcPct val="125000"/>
              </a:lnSpc>
            </a:pPr>
            <a:r>
              <a:rPr lang="zh-CN" altLang="en-US" sz="2000" dirty="0" smtClean="0"/>
              <a:t>高级语言包括面向过程程序设计语言和面向对象程序设计语言</a:t>
            </a:r>
            <a:endParaRPr lang="zh-CN" altLang="en-US"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1.</a:t>
            </a:r>
            <a:r>
              <a:rPr lang="zh-CN" altLang="en-US" sz="3600" dirty="0" smtClean="0"/>
              <a:t>计算机程序设计语言的发展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面向过程的程序设计语言有：</a:t>
            </a:r>
            <a:r>
              <a:rPr lang="en-US" altLang="zh-CN" sz="2000" dirty="0" err="1" smtClean="0"/>
              <a:t>Pascal、C</a:t>
            </a:r>
            <a:r>
              <a:rPr lang="zh-CN" altLang="en-US" sz="2000" dirty="0" smtClean="0"/>
              <a:t>语言</a:t>
            </a:r>
            <a:endParaRPr lang="en-US" altLang="zh-CN" sz="2000" dirty="0" smtClean="0"/>
          </a:p>
          <a:p>
            <a:pPr eaLnBrk="1" hangingPunct="1">
              <a:lnSpc>
                <a:spcPct val="125000"/>
              </a:lnSpc>
            </a:pPr>
            <a:r>
              <a:rPr lang="zh-CN" altLang="en-US" sz="2000" dirty="0" smtClean="0"/>
              <a:t>面向过程的程序设计又称为结构化程序设计</a:t>
            </a:r>
            <a:endParaRPr lang="zh-CN" altLang="en-US" sz="2000" dirty="0" smtClean="0"/>
          </a:p>
          <a:p>
            <a:pPr eaLnBrk="1" hangingPunct="1">
              <a:lnSpc>
                <a:spcPct val="125000"/>
              </a:lnSpc>
            </a:pPr>
            <a:r>
              <a:rPr lang="zh-CN" altLang="en-US" sz="2000" dirty="0" smtClean="0"/>
              <a:t>结构化设计的主要内容包括：</a:t>
            </a:r>
            <a:endParaRPr lang="en-US" altLang="zh-CN" sz="2000" dirty="0" smtClean="0"/>
          </a:p>
          <a:p>
            <a:pPr lvl="1">
              <a:lnSpc>
                <a:spcPct val="125000"/>
              </a:lnSpc>
            </a:pPr>
            <a:r>
              <a:rPr lang="zh-CN" altLang="en-US" sz="1800" dirty="0" smtClean="0"/>
              <a:t>结构的类型：顺利、分支、循环</a:t>
            </a:r>
            <a:endParaRPr lang="en-US" altLang="zh-CN" sz="1800" dirty="0" smtClean="0"/>
          </a:p>
          <a:p>
            <a:pPr lvl="1">
              <a:lnSpc>
                <a:spcPct val="125000"/>
              </a:lnSpc>
            </a:pPr>
            <a:r>
              <a:rPr lang="zh-CN" altLang="en-US" sz="1800" dirty="0" smtClean="0"/>
              <a:t>程序设计思想：利用过程或函数来抽象和模拟客观现实。</a:t>
            </a:r>
            <a:endParaRPr lang="en-US" altLang="zh-CN" sz="1800" dirty="0" smtClean="0"/>
          </a:p>
          <a:p>
            <a:pPr lvl="1">
              <a:lnSpc>
                <a:spcPct val="125000"/>
              </a:lnSpc>
            </a:pPr>
            <a:endParaRPr lang="zh-CN" altLang="en-US" sz="1800" dirty="0" smtClean="0"/>
          </a:p>
          <a:p>
            <a:pPr lvl="1">
              <a:lnSpc>
                <a:spcPct val="125000"/>
              </a:lnSpc>
            </a:pPr>
            <a:r>
              <a:rPr lang="zh-CN" altLang="en-US" sz="1800" dirty="0" smtClean="0"/>
              <a:t>形式：主模块</a:t>
            </a:r>
            <a:r>
              <a:rPr lang="en-US" altLang="zh-CN" sz="1800" dirty="0" smtClean="0"/>
              <a:t>+</a:t>
            </a:r>
            <a:r>
              <a:rPr lang="zh-CN" altLang="en-US" sz="1800" dirty="0" smtClean="0"/>
              <a:t>若干个子模块，如Ｃ语言的：</a:t>
            </a:r>
            <a:r>
              <a:rPr lang="en-US" altLang="zh-CN" sz="1800" dirty="0" smtClean="0"/>
              <a:t>main()+</a:t>
            </a:r>
            <a:r>
              <a:rPr lang="zh-CN" altLang="en-US" sz="1800" dirty="0" smtClean="0"/>
              <a:t>子函数</a:t>
            </a:r>
            <a:endParaRPr lang="zh-CN" altLang="en-US" sz="1800" dirty="0" smtClean="0"/>
          </a:p>
          <a:p>
            <a:pPr eaLnBrk="1" hangingPunct="1">
              <a:lnSpc>
                <a:spcPct val="125000"/>
              </a:lnSpc>
            </a:pPr>
            <a:r>
              <a:rPr lang="zh-CN" altLang="en-US" sz="2000" dirty="0" smtClean="0"/>
              <a:t>结构化程序设计的特点</a:t>
            </a:r>
            <a:r>
              <a:rPr lang="zh-CN" altLang="en-US" sz="1800" dirty="0" smtClean="0"/>
              <a:t>：</a:t>
            </a:r>
            <a:endParaRPr lang="en-US" altLang="zh-CN" sz="1800" dirty="0" smtClean="0"/>
          </a:p>
          <a:p>
            <a:pPr lvl="1" eaLnBrk="1" hangingPunct="1"/>
            <a:r>
              <a:rPr lang="zh-CN" altLang="en-US" sz="1800" dirty="0" smtClean="0">
                <a:solidFill>
                  <a:srgbClr val="FF0000"/>
                </a:solidFill>
              </a:rPr>
              <a:t>自顶向下</a:t>
            </a:r>
            <a:endParaRPr lang="zh-CN" altLang="en-US" sz="1800" dirty="0" smtClean="0">
              <a:solidFill>
                <a:srgbClr val="FF0000"/>
              </a:solidFill>
            </a:endParaRPr>
          </a:p>
          <a:p>
            <a:pPr lvl="1" eaLnBrk="1" hangingPunct="1"/>
            <a:r>
              <a:rPr lang="zh-CN" altLang="en-US" sz="1800" dirty="0" smtClean="0">
                <a:solidFill>
                  <a:srgbClr val="FF0000"/>
                </a:solidFill>
              </a:rPr>
              <a:t>逐步求精</a:t>
            </a:r>
            <a:endParaRPr lang="zh-CN" altLang="en-US" sz="1800" dirty="0" smtClean="0">
              <a:solidFill>
                <a:srgbClr val="FF0000"/>
              </a:solidFill>
            </a:endParaRPr>
          </a:p>
          <a:p>
            <a:pPr lvl="1" eaLnBrk="1" hangingPunct="1"/>
            <a:r>
              <a:rPr lang="zh-CN" altLang="en-US" sz="1800" dirty="0" smtClean="0">
                <a:solidFill>
                  <a:srgbClr val="FF0000"/>
                </a:solidFill>
              </a:rPr>
              <a:t>模块化设计</a:t>
            </a:r>
            <a:endParaRPr lang="zh-CN" altLang="en-US" sz="1800" dirty="0" smtClean="0">
              <a:solidFill>
                <a:srgbClr val="FF0000"/>
              </a:solidFill>
            </a:endParaRPr>
          </a:p>
          <a:p>
            <a:pPr lvl="1" eaLnBrk="1" hangingPunct="1"/>
            <a:r>
              <a:rPr lang="zh-CN" altLang="en-US" sz="1800" dirty="0" smtClean="0">
                <a:solidFill>
                  <a:srgbClr val="FF0000"/>
                </a:solidFill>
              </a:rPr>
              <a:t>结构化编码</a:t>
            </a:r>
            <a:endParaRPr lang="zh-CN" altLang="en-US" sz="1800" dirty="0" smtClean="0"/>
          </a:p>
          <a:p>
            <a:pPr eaLnBrk="1" hangingPunct="1">
              <a:lnSpc>
                <a:spcPct val="125000"/>
              </a:lnSpc>
            </a:pPr>
            <a:endParaRPr lang="zh-CN" altLang="en-US"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2.</a:t>
            </a:r>
            <a:r>
              <a:rPr lang="zh-CN" altLang="en-US" sz="3600" dirty="0" smtClean="0"/>
              <a:t>面向过程的程序设计</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pic>
        <p:nvPicPr>
          <p:cNvPr id="1027" name="Picture 3"/>
          <p:cNvPicPr>
            <a:picLocks noChangeAspect="1" noChangeArrowheads="1"/>
          </p:cNvPicPr>
          <p:nvPr/>
        </p:nvPicPr>
        <p:blipFill>
          <a:blip r:embed="rId1"/>
          <a:srcRect/>
          <a:stretch>
            <a:fillRect/>
          </a:stretch>
        </p:blipFill>
        <p:spPr bwMode="auto">
          <a:xfrm>
            <a:off x="4080812" y="4000504"/>
            <a:ext cx="5063188" cy="31432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algn="just"/>
            <a:r>
              <a:rPr lang="zh-CN" altLang="en-US" sz="2000" dirty="0" smtClean="0">
                <a:solidFill>
                  <a:srgbClr val="FF0000"/>
                </a:solidFill>
                <a:latin typeface="Times New Roman" panose="02020603050405020304" pitchFamily="18" charset="0"/>
              </a:rPr>
              <a:t>结构化</a:t>
            </a:r>
            <a:r>
              <a:rPr lang="zh-CN" altLang="en-US" sz="2000" dirty="0" smtClean="0"/>
              <a:t>设计重点放在如何实现细节过程方面，将数据与函数分开。</a:t>
            </a:r>
            <a:endParaRPr lang="en-US" altLang="zh-CN" sz="2000" dirty="0" smtClean="0">
              <a:solidFill>
                <a:srgbClr val="FF0000"/>
              </a:solidFill>
              <a:latin typeface="Times New Roman" panose="02020603050405020304" pitchFamily="18" charset="0"/>
            </a:endParaRPr>
          </a:p>
          <a:p>
            <a:pPr algn="just"/>
            <a:r>
              <a:rPr lang="zh-CN" altLang="en-US" sz="2000" dirty="0" smtClean="0">
                <a:solidFill>
                  <a:srgbClr val="FF0000"/>
                </a:solidFill>
                <a:latin typeface="Times New Roman" panose="02020603050405020304" pitchFamily="18" charset="0"/>
              </a:rPr>
              <a:t>结构化设计的问题</a:t>
            </a:r>
            <a:r>
              <a:rPr lang="en-US" altLang="zh-CN" sz="2000" dirty="0" smtClean="0">
                <a:solidFill>
                  <a:srgbClr val="FF0000"/>
                </a:solidFill>
                <a:latin typeface="Arial" panose="020B0604020202020204" pitchFamily="34" charset="0"/>
              </a:rPr>
              <a:t>——</a:t>
            </a:r>
            <a:r>
              <a:rPr lang="zh-CN" altLang="en-US" sz="2000" dirty="0" smtClean="0">
                <a:solidFill>
                  <a:srgbClr val="FF0000"/>
                </a:solidFill>
                <a:latin typeface="Times New Roman" panose="02020603050405020304" pitchFamily="18" charset="0"/>
              </a:rPr>
              <a:t>数据和算法分离</a:t>
            </a:r>
            <a:r>
              <a:rPr lang="zh-CN" altLang="en-US" sz="2000" dirty="0" smtClean="0">
                <a:latin typeface="Times New Roman" panose="02020603050405020304" pitchFamily="18" charset="0"/>
              </a:rPr>
              <a:t>，程序数据和操作数据的函数是分离的。</a:t>
            </a:r>
            <a:endParaRPr lang="zh-CN" altLang="en-US" sz="1800" dirty="0" smtClean="0"/>
          </a:p>
          <a:p>
            <a:pPr lvl="1">
              <a:lnSpc>
                <a:spcPct val="125000"/>
              </a:lnSpc>
            </a:pPr>
            <a:endParaRPr lang="zh-CN" altLang="en-US" sz="1600" dirty="0" smtClean="0">
              <a:solidFill>
                <a:srgbClr val="FF0000"/>
              </a:solidFill>
            </a:endParaRPr>
          </a:p>
          <a:p>
            <a:pPr lvl="1">
              <a:lnSpc>
                <a:spcPct val="125000"/>
              </a:lnSpc>
            </a:pPr>
            <a:endParaRPr lang="zh-CN" altLang="en-US" sz="1600" dirty="0" smtClean="0"/>
          </a:p>
          <a:p>
            <a:pPr eaLnBrk="1" hangingPunct="1">
              <a:lnSpc>
                <a:spcPct val="125000"/>
              </a:lnSpc>
            </a:pPr>
            <a:endParaRPr lang="zh-CN" altLang="en-US"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2.</a:t>
            </a:r>
            <a:r>
              <a:rPr lang="zh-CN" altLang="en-US" sz="3600" dirty="0" smtClean="0"/>
              <a:t>面向过程的程序设计</a:t>
            </a:r>
            <a:endParaRPr lang="zh-CN" altLang="en-US" sz="3600" dirty="0"/>
          </a:p>
        </p:txBody>
      </p:sp>
      <p:sp>
        <p:nvSpPr>
          <p:cNvPr id="5" name="页脚占位符 4"/>
          <p:cNvSpPr>
            <a:spLocks noGrp="1"/>
          </p:cNvSpPr>
          <p:nvPr>
            <p:ph type="ftr" sz="quarter" idx="11"/>
          </p:nvPr>
        </p:nvSpPr>
        <p:spPr>
          <a:xfrm>
            <a:off x="6572264" y="6215082"/>
            <a:ext cx="2351087" cy="365125"/>
          </a:xfrm>
        </p:spPr>
        <p:txBody>
          <a:bodyPr/>
          <a:lstStyle/>
          <a:p>
            <a:pPr>
              <a:defRPr/>
            </a:pPr>
            <a:fld id="{AD7BC6A2-D5BD-40D0-957C-A2CF55A98CE9}" type="slidenum">
              <a:rPr lang="zh-CN" altLang="en-US" smtClean="0"/>
            </a:fld>
            <a:endParaRPr lang="zh-CN" altLang="en-US" dirty="0"/>
          </a:p>
        </p:txBody>
      </p:sp>
      <p:sp>
        <p:nvSpPr>
          <p:cNvPr id="6" name="Freeform 2"/>
          <p:cNvSpPr/>
          <p:nvPr/>
        </p:nvSpPr>
        <p:spPr bwMode="auto">
          <a:xfrm>
            <a:off x="5210146" y="2662230"/>
            <a:ext cx="1027113" cy="1566863"/>
          </a:xfrm>
          <a:custGeom>
            <a:avLst/>
            <a:gdLst>
              <a:gd name="T0" fmla="*/ 0 w 647"/>
              <a:gd name="T1" fmla="*/ 0 h 987"/>
              <a:gd name="T2" fmla="*/ 435988037 w 647"/>
              <a:gd name="T3" fmla="*/ 279738227 h 987"/>
              <a:gd name="T4" fmla="*/ 556955596 w 647"/>
              <a:gd name="T5" fmla="*/ 398184815 h 987"/>
              <a:gd name="T6" fmla="*/ 614918424 w 647"/>
              <a:gd name="T7" fmla="*/ 458668584 h 987"/>
              <a:gd name="T8" fmla="*/ 1033264565 w 647"/>
              <a:gd name="T9" fmla="*/ 1073586905 h 987"/>
              <a:gd name="T10" fmla="*/ 1509575122 w 647"/>
              <a:gd name="T11" fmla="*/ 1930440304 h 987"/>
              <a:gd name="T12" fmla="*/ 1570058902 w 647"/>
              <a:gd name="T13" fmla="*/ 2147483647 h 987"/>
              <a:gd name="T14" fmla="*/ 1630542681 w 647"/>
              <a:gd name="T15" fmla="*/ 2147483647 h 9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7" h="987">
                <a:moveTo>
                  <a:pt x="0" y="0"/>
                </a:moveTo>
                <a:cubicBezTo>
                  <a:pt x="53" y="43"/>
                  <a:pt x="122" y="65"/>
                  <a:pt x="173" y="111"/>
                </a:cubicBezTo>
                <a:cubicBezTo>
                  <a:pt x="190" y="126"/>
                  <a:pt x="205" y="142"/>
                  <a:pt x="221" y="158"/>
                </a:cubicBezTo>
                <a:cubicBezTo>
                  <a:pt x="229" y="166"/>
                  <a:pt x="244" y="182"/>
                  <a:pt x="244" y="182"/>
                </a:cubicBezTo>
                <a:cubicBezTo>
                  <a:pt x="277" y="276"/>
                  <a:pt x="353" y="347"/>
                  <a:pt x="410" y="426"/>
                </a:cubicBezTo>
                <a:cubicBezTo>
                  <a:pt x="487" y="533"/>
                  <a:pt x="540" y="649"/>
                  <a:pt x="599" y="766"/>
                </a:cubicBezTo>
                <a:cubicBezTo>
                  <a:pt x="611" y="790"/>
                  <a:pt x="615" y="840"/>
                  <a:pt x="623" y="868"/>
                </a:cubicBezTo>
                <a:cubicBezTo>
                  <a:pt x="636" y="914"/>
                  <a:pt x="647" y="938"/>
                  <a:pt x="647" y="987"/>
                </a:cubicBezTo>
              </a:path>
            </a:pathLst>
          </a:custGeom>
          <a:noFill/>
          <a:ln w="3175" cap="flat" cmpd="sng">
            <a:solidFill>
              <a:srgbClr val="0000FF"/>
            </a:solidFill>
            <a:prstDash val="solid"/>
            <a:round/>
            <a:headEnd type="none" w="med" len="med"/>
            <a:tailEnd type="triangle" w="med" len="med"/>
          </a:ln>
          <a:effectLst/>
        </p:spPr>
        <p:txBody>
          <a:bodyPr lIns="92075" tIns="46038" rIns="92075" bIns="46038" anchor="ctr">
            <a:spAutoFit/>
          </a:bodyPr>
          <a:lstStyle/>
          <a:p>
            <a:endParaRPr lang="zh-CN" altLang="en-US"/>
          </a:p>
        </p:txBody>
      </p:sp>
      <p:sp>
        <p:nvSpPr>
          <p:cNvPr id="8" name="Oval 4"/>
          <p:cNvSpPr>
            <a:spLocks noChangeArrowheads="1"/>
          </p:cNvSpPr>
          <p:nvPr/>
        </p:nvSpPr>
        <p:spPr bwMode="auto">
          <a:xfrm>
            <a:off x="5038696" y="2428868"/>
            <a:ext cx="1920875" cy="611187"/>
          </a:xfrm>
          <a:prstGeom prst="ellipse">
            <a:avLst/>
          </a:prstGeom>
          <a:solidFill>
            <a:schemeClr val="accent1"/>
          </a:solidFill>
          <a:ln w="3175">
            <a:solidFill>
              <a:schemeClr val="bg1"/>
            </a:solidFill>
            <a:round/>
          </a:ln>
          <a:effectLst/>
        </p:spPr>
        <p:txBody>
          <a:bodyPr wrap="none" lIns="92075" tIns="46038" rIns="92075" bIns="46038" anchor="ctr">
            <a:spAutoFit/>
          </a:bodyPr>
          <a:lstStyle/>
          <a:p>
            <a:pPr algn="ctr"/>
            <a:r>
              <a:rPr kumimoji="1" lang="zh-CN" altLang="en-US" sz="2400" b="1">
                <a:latin typeface="Times New Roman" panose="02020603050405020304" pitchFamily="18" charset="0"/>
              </a:rPr>
              <a:t>全局变量</a:t>
            </a:r>
            <a:endParaRPr kumimoji="1" lang="zh-CN" altLang="en-US" sz="2400" b="1">
              <a:latin typeface="Times New Roman" panose="02020603050405020304" pitchFamily="18" charset="0"/>
            </a:endParaRPr>
          </a:p>
        </p:txBody>
      </p:sp>
      <p:grpSp>
        <p:nvGrpSpPr>
          <p:cNvPr id="4" name="Group 5"/>
          <p:cNvGrpSpPr/>
          <p:nvPr/>
        </p:nvGrpSpPr>
        <p:grpSpPr bwMode="auto">
          <a:xfrm>
            <a:off x="2085946" y="4084630"/>
            <a:ext cx="2087563" cy="1657350"/>
            <a:chOff x="612" y="2251"/>
            <a:chExt cx="1315" cy="1270"/>
          </a:xfrm>
        </p:grpSpPr>
        <p:sp>
          <p:nvSpPr>
            <p:cNvPr id="10" name="Rectangle 6"/>
            <p:cNvSpPr>
              <a:spLocks noChangeArrowheads="1"/>
            </p:cNvSpPr>
            <p:nvPr/>
          </p:nvSpPr>
          <p:spPr bwMode="auto">
            <a:xfrm>
              <a:off x="612" y="2251"/>
              <a:ext cx="1315" cy="1270"/>
            </a:xfrm>
            <a:prstGeom prst="rect">
              <a:avLst/>
            </a:prstGeom>
            <a:solidFill>
              <a:schemeClr val="accent1"/>
            </a:solidFill>
            <a:ln w="3175">
              <a:solidFill>
                <a:schemeClr val="bg1"/>
              </a:solidFill>
              <a:miter lim="800000"/>
            </a:ln>
            <a:effectLst/>
          </p:spPr>
          <p:txBody>
            <a:bodyPr lIns="92075" tIns="46038" rIns="92075" bIns="46038" anchor="ctr">
              <a:spAutoFit/>
            </a:bodyPr>
            <a:lstStyle/>
            <a:p>
              <a:endParaRPr lang="zh-CN" altLang="en-US"/>
            </a:p>
          </p:txBody>
        </p:sp>
        <p:sp>
          <p:nvSpPr>
            <p:cNvPr id="11" name="Oval 7"/>
            <p:cNvSpPr>
              <a:spLocks noChangeArrowheads="1"/>
            </p:cNvSpPr>
            <p:nvPr/>
          </p:nvSpPr>
          <p:spPr bwMode="auto">
            <a:xfrm>
              <a:off x="656" y="2346"/>
              <a:ext cx="1210" cy="468"/>
            </a:xfrm>
            <a:prstGeom prst="ellipse">
              <a:avLst/>
            </a:prstGeom>
            <a:solidFill>
              <a:srgbClr val="FF9900"/>
            </a:solidFill>
            <a:ln w="3175">
              <a:solidFill>
                <a:schemeClr val="bg1"/>
              </a:solidFill>
              <a:round/>
            </a:ln>
            <a:effectLst/>
          </p:spPr>
          <p:txBody>
            <a:bodyPr wrap="none" lIns="92075" tIns="46038" rIns="92075" bIns="46038" anchor="ctr">
              <a:spAutoFit/>
            </a:bodyPr>
            <a:lstStyle/>
            <a:p>
              <a:pPr algn="ctr"/>
              <a:r>
                <a:rPr kumimoji="1" lang="zh-CN" altLang="en-US" sz="2400" b="1">
                  <a:latin typeface="Times New Roman" panose="02020603050405020304" pitchFamily="18" charset="0"/>
                </a:rPr>
                <a:t>局部变量</a:t>
              </a:r>
              <a:endParaRPr kumimoji="1" lang="zh-CN" altLang="en-US" sz="2400" b="1">
                <a:latin typeface="Times New Roman" panose="02020603050405020304" pitchFamily="18" charset="0"/>
              </a:endParaRPr>
            </a:p>
          </p:txBody>
        </p:sp>
        <p:sp>
          <p:nvSpPr>
            <p:cNvPr id="12" name="Text Box 8"/>
            <p:cNvSpPr txBox="1">
              <a:spLocks noChangeArrowheads="1"/>
            </p:cNvSpPr>
            <p:nvPr/>
          </p:nvSpPr>
          <p:spPr bwMode="auto">
            <a:xfrm>
              <a:off x="793" y="3067"/>
              <a:ext cx="1089" cy="351"/>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400" b="1">
                  <a:latin typeface="Times New Roman" panose="02020603050405020304" pitchFamily="18" charset="0"/>
                </a:rPr>
                <a:t>函数Ａ</a:t>
              </a:r>
              <a:endParaRPr kumimoji="1" lang="zh-CN" altLang="en-US" sz="2400" b="1">
                <a:latin typeface="Times New Roman" panose="02020603050405020304" pitchFamily="18" charset="0"/>
              </a:endParaRPr>
            </a:p>
          </p:txBody>
        </p:sp>
      </p:grpSp>
      <p:grpSp>
        <p:nvGrpSpPr>
          <p:cNvPr id="7" name="Group 9"/>
          <p:cNvGrpSpPr/>
          <p:nvPr/>
        </p:nvGrpSpPr>
        <p:grpSpPr bwMode="auto">
          <a:xfrm>
            <a:off x="5397471" y="4084630"/>
            <a:ext cx="2087563" cy="1584325"/>
            <a:chOff x="612" y="2251"/>
            <a:chExt cx="1315" cy="1270"/>
          </a:xfrm>
        </p:grpSpPr>
        <p:sp>
          <p:nvSpPr>
            <p:cNvPr id="14" name="Rectangle 10"/>
            <p:cNvSpPr>
              <a:spLocks noChangeArrowheads="1"/>
            </p:cNvSpPr>
            <p:nvPr/>
          </p:nvSpPr>
          <p:spPr bwMode="auto">
            <a:xfrm>
              <a:off x="612" y="2251"/>
              <a:ext cx="1315" cy="1270"/>
            </a:xfrm>
            <a:prstGeom prst="rect">
              <a:avLst/>
            </a:prstGeom>
            <a:solidFill>
              <a:schemeClr val="accent1"/>
            </a:solidFill>
            <a:ln w="3175">
              <a:solidFill>
                <a:schemeClr val="bg1"/>
              </a:solidFill>
              <a:miter lim="800000"/>
            </a:ln>
            <a:effectLst/>
          </p:spPr>
          <p:txBody>
            <a:bodyPr lIns="92075" tIns="46038" rIns="92075" bIns="46038" anchor="ctr">
              <a:spAutoFit/>
            </a:bodyPr>
            <a:lstStyle/>
            <a:p>
              <a:endParaRPr lang="zh-CN" altLang="en-US"/>
            </a:p>
          </p:txBody>
        </p:sp>
        <p:sp>
          <p:nvSpPr>
            <p:cNvPr id="15" name="Oval 11"/>
            <p:cNvSpPr>
              <a:spLocks noChangeArrowheads="1"/>
            </p:cNvSpPr>
            <p:nvPr/>
          </p:nvSpPr>
          <p:spPr bwMode="auto">
            <a:xfrm>
              <a:off x="656" y="2335"/>
              <a:ext cx="1210" cy="490"/>
            </a:xfrm>
            <a:prstGeom prst="ellipse">
              <a:avLst/>
            </a:prstGeom>
            <a:solidFill>
              <a:srgbClr val="FF9900"/>
            </a:solidFill>
            <a:ln w="3175">
              <a:solidFill>
                <a:schemeClr val="bg1"/>
              </a:solidFill>
              <a:round/>
            </a:ln>
            <a:effectLst/>
          </p:spPr>
          <p:txBody>
            <a:bodyPr wrap="none" lIns="92075" tIns="46038" rIns="92075" bIns="46038" anchor="ctr">
              <a:spAutoFit/>
            </a:bodyPr>
            <a:lstStyle/>
            <a:p>
              <a:pPr algn="ctr"/>
              <a:r>
                <a:rPr kumimoji="1" lang="zh-CN" altLang="en-US" sz="2400" b="1">
                  <a:latin typeface="Times New Roman" panose="02020603050405020304" pitchFamily="18" charset="0"/>
                </a:rPr>
                <a:t>局部变量</a:t>
              </a:r>
              <a:endParaRPr kumimoji="1" lang="zh-CN" altLang="en-US" sz="2400" b="1">
                <a:latin typeface="Times New Roman" panose="02020603050405020304" pitchFamily="18" charset="0"/>
              </a:endParaRPr>
            </a:p>
          </p:txBody>
        </p:sp>
        <p:sp>
          <p:nvSpPr>
            <p:cNvPr id="16" name="Text Box 12"/>
            <p:cNvSpPr txBox="1">
              <a:spLocks noChangeArrowheads="1"/>
            </p:cNvSpPr>
            <p:nvPr/>
          </p:nvSpPr>
          <p:spPr bwMode="auto">
            <a:xfrm>
              <a:off x="793" y="3067"/>
              <a:ext cx="1089" cy="366"/>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400" b="1">
                  <a:latin typeface="Times New Roman" panose="02020603050405020304" pitchFamily="18" charset="0"/>
                </a:rPr>
                <a:t>函数Ｂ</a:t>
              </a:r>
              <a:endParaRPr kumimoji="1" lang="zh-CN" altLang="en-US" sz="2400" b="1">
                <a:latin typeface="Times New Roman" panose="02020603050405020304" pitchFamily="18" charset="0"/>
              </a:endParaRPr>
            </a:p>
          </p:txBody>
        </p:sp>
      </p:grpSp>
      <p:sp>
        <p:nvSpPr>
          <p:cNvPr id="17" name="AutoShape 13"/>
          <p:cNvSpPr>
            <a:spLocks noChangeArrowheads="1"/>
          </p:cNvSpPr>
          <p:nvPr/>
        </p:nvSpPr>
        <p:spPr bwMode="auto">
          <a:xfrm>
            <a:off x="428596" y="2716205"/>
            <a:ext cx="1763713" cy="1368425"/>
          </a:xfrm>
          <a:prstGeom prst="wedgeEllipseCallout">
            <a:avLst>
              <a:gd name="adj1" fmla="val 78444"/>
              <a:gd name="adj2" fmla="val 54986"/>
            </a:avLst>
          </a:prstGeom>
          <a:solidFill>
            <a:srgbClr val="FF99FF"/>
          </a:solidFill>
          <a:ln w="3175">
            <a:solidFill>
              <a:schemeClr val="bg1"/>
            </a:solidFill>
            <a:miter lim="800000"/>
          </a:ln>
          <a:effectLst/>
        </p:spPr>
        <p:txBody>
          <a:bodyPr lIns="92075" tIns="46038" rIns="92075" bIns="46038" anchor="ctr"/>
          <a:lstStyle/>
          <a:p>
            <a:pPr algn="ctr"/>
            <a:r>
              <a:rPr kumimoji="1" lang="zh-CN" altLang="en-US" sz="2400" b="1">
                <a:latin typeface="Times New Roman" panose="02020603050405020304" pitchFamily="18" charset="0"/>
              </a:rPr>
              <a:t>只有函数Ａ才能访问</a:t>
            </a:r>
            <a:endParaRPr kumimoji="1" lang="zh-CN" altLang="en-US" sz="2400" b="1">
              <a:latin typeface="Times New Roman" panose="02020603050405020304" pitchFamily="18" charset="0"/>
            </a:endParaRPr>
          </a:p>
        </p:txBody>
      </p:sp>
      <p:sp>
        <p:nvSpPr>
          <p:cNvPr id="18" name="AutoShape 14"/>
          <p:cNvSpPr>
            <a:spLocks noChangeArrowheads="1"/>
          </p:cNvSpPr>
          <p:nvPr/>
        </p:nvSpPr>
        <p:spPr bwMode="auto">
          <a:xfrm>
            <a:off x="7342159" y="2500305"/>
            <a:ext cx="1763712" cy="1368425"/>
          </a:xfrm>
          <a:prstGeom prst="wedgeEllipseCallout">
            <a:avLst>
              <a:gd name="adj1" fmla="val -58731"/>
              <a:gd name="adj2" fmla="val 71347"/>
            </a:avLst>
          </a:prstGeom>
          <a:solidFill>
            <a:srgbClr val="FF99FF"/>
          </a:solidFill>
          <a:ln w="3175">
            <a:solidFill>
              <a:schemeClr val="bg1"/>
            </a:solidFill>
            <a:miter lim="800000"/>
          </a:ln>
          <a:effectLst/>
        </p:spPr>
        <p:txBody>
          <a:bodyPr lIns="92075" tIns="46038" rIns="92075" bIns="46038" anchor="ctr"/>
          <a:lstStyle/>
          <a:p>
            <a:pPr algn="ctr"/>
            <a:r>
              <a:rPr kumimoji="1" lang="zh-CN" altLang="en-US" sz="2400" b="1">
                <a:latin typeface="Times New Roman" panose="02020603050405020304" pitchFamily="18" charset="0"/>
              </a:rPr>
              <a:t>只有函数Ｂ才能访问</a:t>
            </a:r>
            <a:endParaRPr kumimoji="1" lang="zh-CN" altLang="en-US" sz="2400" b="1">
              <a:latin typeface="Times New Roman" panose="02020603050405020304" pitchFamily="18" charset="0"/>
            </a:endParaRPr>
          </a:p>
        </p:txBody>
      </p:sp>
      <p:sp>
        <p:nvSpPr>
          <p:cNvPr id="19" name="Text Box 15"/>
          <p:cNvSpPr txBox="1">
            <a:spLocks noChangeArrowheads="1"/>
          </p:cNvSpPr>
          <p:nvPr/>
        </p:nvSpPr>
        <p:spPr bwMode="auto">
          <a:xfrm>
            <a:off x="3309909" y="3292468"/>
            <a:ext cx="3095625" cy="457200"/>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400" b="1">
                <a:latin typeface="Times New Roman" panose="02020603050405020304" pitchFamily="18" charset="0"/>
              </a:rPr>
              <a:t>可被任何函数访问</a:t>
            </a:r>
            <a:endParaRPr kumimoji="1" lang="zh-CN" altLang="en-US" sz="2400" b="1">
              <a:latin typeface="Times New Roman" panose="02020603050405020304" pitchFamily="18" charset="0"/>
            </a:endParaRPr>
          </a:p>
        </p:txBody>
      </p:sp>
      <p:sp>
        <p:nvSpPr>
          <p:cNvPr id="20" name="Freeform 16"/>
          <p:cNvSpPr/>
          <p:nvPr/>
        </p:nvSpPr>
        <p:spPr bwMode="auto">
          <a:xfrm>
            <a:off x="3452784" y="2716205"/>
            <a:ext cx="1065212" cy="1527175"/>
          </a:xfrm>
          <a:custGeom>
            <a:avLst/>
            <a:gdLst>
              <a:gd name="T0" fmla="*/ 1691023256 w 671"/>
              <a:gd name="T1" fmla="*/ 0 h 962"/>
              <a:gd name="T2" fmla="*/ 1353322477 w 671"/>
              <a:gd name="T3" fmla="*/ 118448138 h 962"/>
              <a:gd name="T4" fmla="*/ 1192032553 w 671"/>
              <a:gd name="T5" fmla="*/ 178931888 h 962"/>
              <a:gd name="T6" fmla="*/ 1113908540 w 671"/>
              <a:gd name="T7" fmla="*/ 239415638 h 962"/>
              <a:gd name="T8" fmla="*/ 975299217 w 671"/>
              <a:gd name="T9" fmla="*/ 277217188 h 962"/>
              <a:gd name="T10" fmla="*/ 597275957 w 671"/>
              <a:gd name="T11" fmla="*/ 635079375 h 962"/>
              <a:gd name="T12" fmla="*/ 516630995 w 671"/>
              <a:gd name="T13" fmla="*/ 756046875 h 962"/>
              <a:gd name="T14" fmla="*/ 476308514 w 671"/>
              <a:gd name="T15" fmla="*/ 834172513 h 962"/>
              <a:gd name="T16" fmla="*/ 418345741 w 671"/>
              <a:gd name="T17" fmla="*/ 854333763 h 962"/>
              <a:gd name="T18" fmla="*/ 259575178 w 671"/>
              <a:gd name="T19" fmla="*/ 1192034700 h 962"/>
              <a:gd name="T20" fmla="*/ 100806203 w 671"/>
              <a:gd name="T21" fmla="*/ 1691025638 h 962"/>
              <a:gd name="T22" fmla="*/ 0 w 671"/>
              <a:gd name="T23" fmla="*/ 2147483647 h 962"/>
              <a:gd name="T24" fmla="*/ 20161241 w 671"/>
              <a:gd name="T25" fmla="*/ 2147483647 h 9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71" h="962">
                <a:moveTo>
                  <a:pt x="671" y="0"/>
                </a:moveTo>
                <a:cubicBezTo>
                  <a:pt x="620" y="10"/>
                  <a:pt x="584" y="29"/>
                  <a:pt x="537" y="47"/>
                </a:cubicBezTo>
                <a:cubicBezTo>
                  <a:pt x="491" y="64"/>
                  <a:pt x="517" y="43"/>
                  <a:pt x="473" y="71"/>
                </a:cubicBezTo>
                <a:cubicBezTo>
                  <a:pt x="462" y="78"/>
                  <a:pt x="454" y="89"/>
                  <a:pt x="442" y="95"/>
                </a:cubicBezTo>
                <a:cubicBezTo>
                  <a:pt x="384" y="123"/>
                  <a:pt x="433" y="84"/>
                  <a:pt x="387" y="110"/>
                </a:cubicBezTo>
                <a:cubicBezTo>
                  <a:pt x="326" y="144"/>
                  <a:pt x="277" y="195"/>
                  <a:pt x="237" y="252"/>
                </a:cubicBezTo>
                <a:cubicBezTo>
                  <a:pt x="220" y="302"/>
                  <a:pt x="242" y="249"/>
                  <a:pt x="205" y="300"/>
                </a:cubicBezTo>
                <a:cubicBezTo>
                  <a:pt x="198" y="309"/>
                  <a:pt x="197" y="323"/>
                  <a:pt x="189" y="331"/>
                </a:cubicBezTo>
                <a:cubicBezTo>
                  <a:pt x="183" y="337"/>
                  <a:pt x="174" y="336"/>
                  <a:pt x="166" y="339"/>
                </a:cubicBezTo>
                <a:cubicBezTo>
                  <a:pt x="149" y="387"/>
                  <a:pt x="119" y="424"/>
                  <a:pt x="103" y="473"/>
                </a:cubicBezTo>
                <a:cubicBezTo>
                  <a:pt x="81" y="539"/>
                  <a:pt x="59" y="604"/>
                  <a:pt x="40" y="671"/>
                </a:cubicBezTo>
                <a:cubicBezTo>
                  <a:pt x="30" y="751"/>
                  <a:pt x="13" y="828"/>
                  <a:pt x="0" y="907"/>
                </a:cubicBezTo>
                <a:cubicBezTo>
                  <a:pt x="3" y="925"/>
                  <a:pt x="8" y="962"/>
                  <a:pt x="8" y="962"/>
                </a:cubicBezTo>
              </a:path>
            </a:pathLst>
          </a:custGeom>
          <a:noFill/>
          <a:ln w="3175" cap="flat" cmpd="sng">
            <a:solidFill>
              <a:srgbClr val="0000FF"/>
            </a:solidFill>
            <a:prstDash val="solid"/>
            <a:round/>
            <a:headEnd type="none" w="med" len="med"/>
            <a:tailEnd type="triangle" w="med" len="med"/>
          </a:ln>
          <a:effectLst/>
        </p:spPr>
        <p:txBody>
          <a:bodyPr lIns="92075" tIns="46038" rIns="92075" bIns="46038" anchor="ctr">
            <a:spAutoFit/>
          </a:bodyPr>
          <a:lstStyle/>
          <a:p>
            <a:endParaRPr lang="zh-CN" altLang="en-US"/>
          </a:p>
        </p:txBody>
      </p:sp>
      <p:sp>
        <p:nvSpPr>
          <p:cNvPr id="21" name="Oval 17"/>
          <p:cNvSpPr>
            <a:spLocks noChangeArrowheads="1"/>
          </p:cNvSpPr>
          <p:nvPr/>
        </p:nvSpPr>
        <p:spPr bwMode="auto">
          <a:xfrm>
            <a:off x="3020984" y="2428868"/>
            <a:ext cx="1920875" cy="611187"/>
          </a:xfrm>
          <a:prstGeom prst="ellipse">
            <a:avLst/>
          </a:prstGeom>
          <a:solidFill>
            <a:schemeClr val="accent1"/>
          </a:solidFill>
          <a:ln w="3175">
            <a:solidFill>
              <a:schemeClr val="bg1"/>
            </a:solidFill>
            <a:round/>
          </a:ln>
          <a:effectLst/>
        </p:spPr>
        <p:txBody>
          <a:bodyPr wrap="none" lIns="92075" tIns="46038" rIns="92075" bIns="46038" anchor="ctr">
            <a:spAutoFit/>
          </a:bodyPr>
          <a:lstStyle/>
          <a:p>
            <a:pPr algn="ctr"/>
            <a:r>
              <a:rPr kumimoji="1" lang="zh-CN" altLang="en-US" sz="2400" b="1">
                <a:latin typeface="Times New Roman" panose="02020603050405020304" pitchFamily="18" charset="0"/>
              </a:rPr>
              <a:t>全局变量</a:t>
            </a:r>
            <a:endParaRPr kumimoji="1" lang="zh-CN" altLang="en-US" sz="24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70" decel="100000"/>
                                        <p:tgtEl>
                                          <p:spTgt spid="8"/>
                                        </p:tgtEl>
                                      </p:cBhvr>
                                    </p:animEffect>
                                    <p:animScale>
                                      <p:cBhvr>
                                        <p:cTn id="8" dur="770" decel="100000"/>
                                        <p:tgtEl>
                                          <p:spTgt spid="8"/>
                                        </p:tgtEl>
                                      </p:cBhvr>
                                      <p:from x="10000" y="10000"/>
                                      <p:to x="200000" y="450000"/>
                                    </p:animScale>
                                    <p:animScale>
                                      <p:cBhvr>
                                        <p:cTn id="9" dur="1230" accel="100000" fill="hold">
                                          <p:stCondLst>
                                            <p:cond delay="770"/>
                                          </p:stCondLst>
                                        </p:cTn>
                                        <p:tgtEl>
                                          <p:spTgt spid="8"/>
                                        </p:tgtEl>
                                      </p:cBhvr>
                                      <p:from x="200000" y="450000"/>
                                      <p:to x="100000" y="100000"/>
                                    </p:animScale>
                                    <p:set>
                                      <p:cBhvr>
                                        <p:cTn id="10" dur="770" fill="hold"/>
                                        <p:tgtEl>
                                          <p:spTgt spid="8"/>
                                        </p:tgtEl>
                                        <p:attrNameLst>
                                          <p:attrName>ppt_x</p:attrName>
                                        </p:attrNameLst>
                                      </p:cBhvr>
                                      <p:to>
                                        <p:strVal val="(0.5)"/>
                                      </p:to>
                                    </p:set>
                                    <p:anim from="(0.5)" to="(#ppt_x)" calcmode="lin" valueType="num">
                                      <p:cBhvr>
                                        <p:cTn id="11" dur="1230" accel="100000" fill="hold">
                                          <p:stCondLst>
                                            <p:cond delay="770"/>
                                          </p:stCondLst>
                                        </p:cTn>
                                        <p:tgtEl>
                                          <p:spTgt spid="8"/>
                                        </p:tgtEl>
                                        <p:attrNameLst>
                                          <p:attrName>ppt_x</p:attrName>
                                        </p:attrNameLst>
                                      </p:cBhvr>
                                    </p:anim>
                                    <p:set>
                                      <p:cBhvr>
                                        <p:cTn id="12" dur="770" fill="hold"/>
                                        <p:tgtEl>
                                          <p:spTgt spid="8"/>
                                        </p:tgtEl>
                                        <p:attrNameLst>
                                          <p:attrName>ppt_y</p:attrName>
                                        </p:attrNameLst>
                                      </p:cBhvr>
                                      <p:to>
                                        <p:strVal val="(#ppt_y+0.4)"/>
                                      </p:to>
                                    </p:set>
                                    <p:anim from="(#ppt_y+0.4)" to="(#ppt_y)" calcmode="lin" valueType="num">
                                      <p:cBhvr>
                                        <p:cTn id="13" dur="1230" accel="100000" fill="hold">
                                          <p:stCondLst>
                                            <p:cond delay="770"/>
                                          </p:stCondLst>
                                        </p:cTn>
                                        <p:tgtEl>
                                          <p:spTgt spid="8"/>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2"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Scale>
                                      <p:cBhvr>
                                        <p:cTn id="18"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4"/>
                                        </p:tgtEl>
                                        <p:attrNameLst>
                                          <p:attrName>ppt_x</p:attrName>
                                          <p:attrName>ppt_y</p:attrName>
                                        </p:attrNameLst>
                                      </p:cBhvr>
                                    </p:animMotion>
                                    <p:animEffect transition="in" filter="fade">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28" dur="1000" fill="hold"/>
                                        <p:tgtEl>
                                          <p:spTgt spid="7"/>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1000" fill="hold"/>
                                        <p:tgtEl>
                                          <p:spTgt spid="18"/>
                                        </p:tgtEl>
                                        <p:attrNameLst>
                                          <p:attrName>ppt_w</p:attrName>
                                        </p:attrNameLst>
                                      </p:cBhvr>
                                      <p:tavLst>
                                        <p:tav tm="0">
                                          <p:val>
                                            <p:strVal val="#ppt_w*0.70"/>
                                          </p:val>
                                        </p:tav>
                                        <p:tav tm="100000">
                                          <p:val>
                                            <p:strVal val="#ppt_w"/>
                                          </p:val>
                                        </p:tav>
                                      </p:tavLst>
                                    </p:anim>
                                    <p:anim calcmode="lin" valueType="num">
                                      <p:cBhvr>
                                        <p:cTn id="43" dur="1000" fill="hold"/>
                                        <p:tgtEl>
                                          <p:spTgt spid="18"/>
                                        </p:tgtEl>
                                        <p:attrNameLst>
                                          <p:attrName>ppt_h</p:attrName>
                                        </p:attrNameLst>
                                      </p:cBhvr>
                                      <p:tavLst>
                                        <p:tav tm="0">
                                          <p:val>
                                            <p:strVal val="#ppt_h"/>
                                          </p:val>
                                        </p:tav>
                                        <p:tav tm="100000">
                                          <p:val>
                                            <p:strVal val="#ppt_h"/>
                                          </p:val>
                                        </p:tav>
                                      </p:tavLst>
                                    </p:anim>
                                    <p:animEffect transition="in" filter="fade">
                                      <p:cBhvr>
                                        <p:cTn id="44" dur="10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5"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p:cTn id="49" dur="500"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19"/>
                                        </p:tgtEl>
                                        <p:attrNameLst>
                                          <p:attrName>ppt_w</p:attrName>
                                        </p:attrNameLst>
                                      </p:cBhvr>
                                      <p:tavLst>
                                        <p:tav tm="0">
                                          <p:val>
                                            <p:strVal val="#ppt_w*.05"/>
                                          </p:val>
                                        </p:tav>
                                        <p:tav tm="100000">
                                          <p:val>
                                            <p:strVal val="#ppt_w"/>
                                          </p:val>
                                        </p:tav>
                                      </p:tavLst>
                                    </p:anim>
                                    <p:anim calcmode="lin" valueType="num">
                                      <p:cBhvr>
                                        <p:cTn id="52" dur="1000" fill="hold"/>
                                        <p:tgtEl>
                                          <p:spTgt spid="19"/>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19"/>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19"/>
                                        </p:tgtEl>
                                      </p:cBhvr>
                                    </p:animEffect>
                                  </p:childTnLst>
                                </p:cTn>
                              </p:par>
                            </p:childTnLst>
                          </p:cTn>
                        </p:par>
                        <p:par>
                          <p:cTn id="57" fill="hold">
                            <p:stCondLst>
                              <p:cond delay="1000"/>
                            </p:stCondLst>
                            <p:childTnLst>
                              <p:par>
                                <p:cTn id="58" presetID="22" presetClass="entr" presetSubtype="1" fill="hold" grpId="0"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ipe(up)">
                                      <p:cBhvr>
                                        <p:cTn id="60" dur="500"/>
                                        <p:tgtEl>
                                          <p:spTgt spid="20"/>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down)">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51"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770" decel="100000"/>
                                        <p:tgtEl>
                                          <p:spTgt spid="21"/>
                                        </p:tgtEl>
                                      </p:cBhvr>
                                    </p:animEffect>
                                    <p:animScale>
                                      <p:cBhvr>
                                        <p:cTn id="69" dur="770" decel="100000"/>
                                        <p:tgtEl>
                                          <p:spTgt spid="21"/>
                                        </p:tgtEl>
                                      </p:cBhvr>
                                      <p:from x="10000" y="10000"/>
                                      <p:to x="200000" y="450000"/>
                                    </p:animScale>
                                    <p:animScale>
                                      <p:cBhvr>
                                        <p:cTn id="70" dur="1230" accel="100000" fill="hold">
                                          <p:stCondLst>
                                            <p:cond delay="770"/>
                                          </p:stCondLst>
                                        </p:cTn>
                                        <p:tgtEl>
                                          <p:spTgt spid="21"/>
                                        </p:tgtEl>
                                      </p:cBhvr>
                                      <p:from x="200000" y="450000"/>
                                      <p:to x="100000" y="100000"/>
                                    </p:animScale>
                                    <p:set>
                                      <p:cBhvr>
                                        <p:cTn id="71" dur="770" fill="hold"/>
                                        <p:tgtEl>
                                          <p:spTgt spid="21"/>
                                        </p:tgtEl>
                                        <p:attrNameLst>
                                          <p:attrName>ppt_x</p:attrName>
                                        </p:attrNameLst>
                                      </p:cBhvr>
                                      <p:to>
                                        <p:strVal val="(0.5)"/>
                                      </p:to>
                                    </p:set>
                                    <p:anim from="(0.5)" to="(#ppt_x)" calcmode="lin" valueType="num">
                                      <p:cBhvr>
                                        <p:cTn id="72" dur="1230" accel="100000" fill="hold">
                                          <p:stCondLst>
                                            <p:cond delay="770"/>
                                          </p:stCondLst>
                                        </p:cTn>
                                        <p:tgtEl>
                                          <p:spTgt spid="21"/>
                                        </p:tgtEl>
                                        <p:attrNameLst>
                                          <p:attrName>ppt_x</p:attrName>
                                        </p:attrNameLst>
                                      </p:cBhvr>
                                    </p:anim>
                                    <p:set>
                                      <p:cBhvr>
                                        <p:cTn id="73" dur="770" fill="hold"/>
                                        <p:tgtEl>
                                          <p:spTgt spid="21"/>
                                        </p:tgtEl>
                                        <p:attrNameLst>
                                          <p:attrName>ppt_y</p:attrName>
                                        </p:attrNameLst>
                                      </p:cBhvr>
                                      <p:to>
                                        <p:strVal val="(#ppt_y+0.4)"/>
                                      </p:to>
                                    </p:set>
                                    <p:anim from="(#ppt_y+0.4)" to="(#ppt_y)" calcmode="lin" valueType="num">
                                      <p:cBhvr>
                                        <p:cTn id="74" dur="1230" accel="100000" fill="hold">
                                          <p:stCondLst>
                                            <p:cond delay="770"/>
                                          </p:stCondLst>
                                        </p:cTn>
                                        <p:tgtEl>
                                          <p:spTgt spid="21"/>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17" grpId="0" bldLvl="0" animBg="1"/>
      <p:bldP spid="18" grpId="0" bldLvl="0" animBg="1"/>
      <p:bldP spid="19" grpId="0" bldLvl="0" animBg="1"/>
      <p:bldP spid="20" grpId="0" bldLvl="0" animBg="1"/>
      <p:bldP spid="21"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1643074"/>
          </a:xfrm>
        </p:spPr>
        <p:txBody>
          <a:bodyPr/>
          <a:lstStyle/>
          <a:p>
            <a:pPr algn="just"/>
            <a:r>
              <a:rPr lang="zh-CN" altLang="en-US" sz="2000" dirty="0" smtClean="0">
                <a:solidFill>
                  <a:srgbClr val="FF0000"/>
                </a:solidFill>
                <a:latin typeface="Times New Roman" panose="02020603050405020304" pitchFamily="18" charset="0"/>
              </a:rPr>
              <a:t>结构化设计缺陷：</a:t>
            </a:r>
            <a:endParaRPr lang="en-US" altLang="zh-CN" sz="2000" dirty="0" smtClean="0">
              <a:solidFill>
                <a:srgbClr val="FF0000"/>
              </a:solidFill>
              <a:latin typeface="Times New Roman" panose="02020603050405020304" pitchFamily="18" charset="0"/>
            </a:endParaRPr>
          </a:p>
          <a:p>
            <a:pPr lvl="1" algn="just"/>
            <a:r>
              <a:rPr lang="zh-CN" altLang="en-US" sz="1800" dirty="0" smtClean="0"/>
              <a:t>大型程序中，有很多全局数据和全局函数，这导致了函数和数据之间数目巨大的潜在连接！</a:t>
            </a:r>
            <a:endParaRPr lang="en-US" altLang="zh-CN" sz="1800" dirty="0" smtClean="0"/>
          </a:p>
          <a:p>
            <a:pPr lvl="1" algn="just"/>
            <a:r>
              <a:rPr lang="zh-CN" altLang="en-US" sz="1800" dirty="0" smtClean="0"/>
              <a:t>若全局数据有所改动，可能会导致所有访问这个数据的全部函数的重写</a:t>
            </a:r>
            <a:endParaRPr lang="zh-CN" altLang="en-US" sz="1800" dirty="0" smtClean="0"/>
          </a:p>
          <a:p>
            <a:pPr algn="just"/>
            <a:endParaRPr lang="zh-CN" altLang="en-US" sz="2000" dirty="0" smtClean="0"/>
          </a:p>
          <a:p>
            <a:pPr lvl="1">
              <a:lnSpc>
                <a:spcPct val="125000"/>
              </a:lnSpc>
            </a:pPr>
            <a:endParaRPr lang="zh-CN" altLang="en-US" sz="1600" dirty="0" smtClean="0">
              <a:solidFill>
                <a:srgbClr val="FF0000"/>
              </a:solidFill>
            </a:endParaRPr>
          </a:p>
          <a:p>
            <a:pPr lvl="1">
              <a:lnSpc>
                <a:spcPct val="125000"/>
              </a:lnSpc>
            </a:pPr>
            <a:endParaRPr lang="zh-CN" altLang="en-US" sz="1600" dirty="0" smtClean="0"/>
          </a:p>
          <a:p>
            <a:pPr eaLnBrk="1" hangingPunct="1">
              <a:lnSpc>
                <a:spcPct val="125000"/>
              </a:lnSpc>
            </a:pPr>
            <a:endParaRPr lang="zh-CN" altLang="en-US"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2.</a:t>
            </a:r>
            <a:r>
              <a:rPr lang="zh-CN" altLang="en-US" sz="3600" dirty="0" smtClean="0"/>
              <a:t>面向过程的程序设计</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grpSp>
        <p:nvGrpSpPr>
          <p:cNvPr id="4" name="Group 4"/>
          <p:cNvGrpSpPr/>
          <p:nvPr/>
        </p:nvGrpSpPr>
        <p:grpSpPr bwMode="auto">
          <a:xfrm>
            <a:off x="1285852" y="3071810"/>
            <a:ext cx="6913563" cy="2343411"/>
            <a:chOff x="748" y="834"/>
            <a:chExt cx="4629" cy="2472"/>
          </a:xfrm>
        </p:grpSpPr>
        <p:sp>
          <p:nvSpPr>
            <p:cNvPr id="23" name="Oval 5"/>
            <p:cNvSpPr>
              <a:spLocks noChangeArrowheads="1"/>
            </p:cNvSpPr>
            <p:nvPr/>
          </p:nvSpPr>
          <p:spPr bwMode="auto">
            <a:xfrm>
              <a:off x="848" y="878"/>
              <a:ext cx="1340" cy="773"/>
            </a:xfrm>
            <a:prstGeom prst="ellipse">
              <a:avLst/>
            </a:prstGeom>
            <a:solidFill>
              <a:schemeClr val="accent1"/>
            </a:solidFill>
            <a:ln w="3175">
              <a:solidFill>
                <a:schemeClr val="bg1"/>
              </a:solidFill>
              <a:round/>
            </a:ln>
            <a:effectLst/>
          </p:spPr>
          <p:txBody>
            <a:bodyPr wrap="none" lIns="92075" tIns="46038" rIns="92075" bIns="46038" anchor="ctr">
              <a:spAutoFit/>
            </a:bodyPr>
            <a:lstStyle/>
            <a:p>
              <a:pPr algn="ctr"/>
              <a:r>
                <a:rPr kumimoji="1" lang="zh-CN" altLang="en-US" sz="2400" b="1">
                  <a:latin typeface="Times New Roman" panose="02020603050405020304" pitchFamily="18" charset="0"/>
                </a:rPr>
                <a:t>全局数据</a:t>
              </a:r>
              <a:endParaRPr kumimoji="1" lang="zh-CN" altLang="en-US" sz="2400" b="1">
                <a:latin typeface="Times New Roman" panose="02020603050405020304" pitchFamily="18" charset="0"/>
              </a:endParaRPr>
            </a:p>
          </p:txBody>
        </p:sp>
        <p:sp>
          <p:nvSpPr>
            <p:cNvPr id="24" name="Oval 6"/>
            <p:cNvSpPr>
              <a:spLocks noChangeArrowheads="1"/>
            </p:cNvSpPr>
            <p:nvPr/>
          </p:nvSpPr>
          <p:spPr bwMode="auto">
            <a:xfrm>
              <a:off x="2436" y="878"/>
              <a:ext cx="1340" cy="773"/>
            </a:xfrm>
            <a:prstGeom prst="ellipse">
              <a:avLst/>
            </a:prstGeom>
            <a:solidFill>
              <a:schemeClr val="accent1"/>
            </a:solidFill>
            <a:ln w="3175">
              <a:solidFill>
                <a:schemeClr val="bg1"/>
              </a:solidFill>
              <a:round/>
            </a:ln>
            <a:effectLst/>
          </p:spPr>
          <p:txBody>
            <a:bodyPr wrap="none" lIns="92075" tIns="46038" rIns="92075" bIns="46038" anchor="ctr">
              <a:spAutoFit/>
            </a:bodyPr>
            <a:lstStyle/>
            <a:p>
              <a:pPr algn="ctr"/>
              <a:r>
                <a:rPr kumimoji="1" lang="zh-CN" altLang="en-US" sz="2400" b="1">
                  <a:latin typeface="Times New Roman" panose="02020603050405020304" pitchFamily="18" charset="0"/>
                </a:rPr>
                <a:t>全局数据</a:t>
              </a:r>
              <a:endParaRPr kumimoji="1" lang="zh-CN" altLang="en-US" sz="2400" b="1">
                <a:latin typeface="Times New Roman" panose="02020603050405020304" pitchFamily="18" charset="0"/>
              </a:endParaRPr>
            </a:p>
          </p:txBody>
        </p:sp>
        <p:sp>
          <p:nvSpPr>
            <p:cNvPr id="25" name="Oval 7"/>
            <p:cNvSpPr>
              <a:spLocks noChangeArrowheads="1"/>
            </p:cNvSpPr>
            <p:nvPr/>
          </p:nvSpPr>
          <p:spPr bwMode="auto">
            <a:xfrm>
              <a:off x="3932" y="834"/>
              <a:ext cx="1340" cy="773"/>
            </a:xfrm>
            <a:prstGeom prst="ellipse">
              <a:avLst/>
            </a:prstGeom>
            <a:solidFill>
              <a:schemeClr val="accent1"/>
            </a:solidFill>
            <a:ln w="3175">
              <a:solidFill>
                <a:schemeClr val="bg1"/>
              </a:solidFill>
              <a:round/>
            </a:ln>
            <a:effectLst/>
          </p:spPr>
          <p:txBody>
            <a:bodyPr wrap="none" lIns="92075" tIns="46038" rIns="92075" bIns="46038" anchor="ctr">
              <a:spAutoFit/>
            </a:bodyPr>
            <a:lstStyle/>
            <a:p>
              <a:pPr algn="ctr"/>
              <a:r>
                <a:rPr kumimoji="1" lang="zh-CN" altLang="en-US" sz="2400" b="1">
                  <a:latin typeface="Times New Roman" panose="02020603050405020304" pitchFamily="18" charset="0"/>
                </a:rPr>
                <a:t>全局数据</a:t>
              </a:r>
              <a:endParaRPr kumimoji="1" lang="zh-CN" altLang="en-US" sz="2400" b="1">
                <a:latin typeface="Times New Roman" panose="02020603050405020304" pitchFamily="18" charset="0"/>
              </a:endParaRPr>
            </a:p>
          </p:txBody>
        </p:sp>
        <p:sp>
          <p:nvSpPr>
            <p:cNvPr id="26" name="Rectangle 8"/>
            <p:cNvSpPr>
              <a:spLocks noChangeArrowheads="1"/>
            </p:cNvSpPr>
            <p:nvPr/>
          </p:nvSpPr>
          <p:spPr bwMode="auto">
            <a:xfrm>
              <a:off x="748" y="1650"/>
              <a:ext cx="954" cy="1656"/>
            </a:xfrm>
            <a:prstGeom prst="rect">
              <a:avLst/>
            </a:prstGeom>
            <a:solidFill>
              <a:srgbClr val="FF99FF"/>
            </a:solidFill>
            <a:ln w="3175">
              <a:solidFill>
                <a:schemeClr val="bg1"/>
              </a:solidFill>
              <a:miter lim="800000"/>
            </a:ln>
            <a:effectLst/>
          </p:spPr>
          <p:txBody>
            <a:bodyPr wrap="square" lIns="92075" tIns="46038" rIns="92075" bIns="46038" anchor="ctr">
              <a:spAutoFit/>
            </a:bodyPr>
            <a:lstStyle/>
            <a:p>
              <a:pPr algn="ctr"/>
              <a:endParaRPr kumimoji="1" lang="en-US" altLang="zh-CN" sz="2400" b="1">
                <a:latin typeface="Times New Roman" panose="02020603050405020304" pitchFamily="18" charset="0"/>
              </a:endParaRPr>
            </a:p>
            <a:p>
              <a:pPr algn="ctr"/>
              <a:r>
                <a:rPr kumimoji="1" lang="zh-CN" altLang="en-US" sz="2400" b="1">
                  <a:latin typeface="Times New Roman" panose="02020603050405020304" pitchFamily="18" charset="0"/>
                </a:rPr>
                <a:t>函数</a:t>
              </a:r>
              <a:endParaRPr kumimoji="1" lang="zh-CN" altLang="en-US" sz="2400" b="1">
                <a:latin typeface="Times New Roman" panose="02020603050405020304" pitchFamily="18" charset="0"/>
              </a:endParaRPr>
            </a:p>
            <a:p>
              <a:pPr algn="ctr"/>
              <a:endParaRPr kumimoji="1" lang="zh-CN" altLang="en-US" sz="2400" b="1">
                <a:latin typeface="Times New Roman" panose="02020603050405020304" pitchFamily="18" charset="0"/>
              </a:endParaRPr>
            </a:p>
            <a:p>
              <a:pPr algn="ctr"/>
              <a:endParaRPr kumimoji="1" lang="en-US" altLang="zh-CN" sz="2400" b="1">
                <a:latin typeface="Times New Roman" panose="02020603050405020304" pitchFamily="18" charset="0"/>
              </a:endParaRPr>
            </a:p>
          </p:txBody>
        </p:sp>
        <p:sp>
          <p:nvSpPr>
            <p:cNvPr id="27" name="Rectangle 9"/>
            <p:cNvSpPr>
              <a:spLocks noChangeArrowheads="1"/>
            </p:cNvSpPr>
            <p:nvPr/>
          </p:nvSpPr>
          <p:spPr bwMode="auto">
            <a:xfrm>
              <a:off x="1972" y="1650"/>
              <a:ext cx="956" cy="1656"/>
            </a:xfrm>
            <a:prstGeom prst="rect">
              <a:avLst/>
            </a:prstGeom>
            <a:solidFill>
              <a:srgbClr val="FF99FF"/>
            </a:solidFill>
            <a:ln w="3175">
              <a:solidFill>
                <a:schemeClr val="bg1"/>
              </a:solidFill>
              <a:miter lim="800000"/>
            </a:ln>
            <a:effectLst/>
          </p:spPr>
          <p:txBody>
            <a:bodyPr wrap="square" lIns="92075" tIns="46038" rIns="92075" bIns="46038" anchor="ctr">
              <a:spAutoFit/>
            </a:bodyPr>
            <a:lstStyle/>
            <a:p>
              <a:pPr algn="ctr"/>
              <a:endParaRPr kumimoji="1" lang="en-US" altLang="zh-CN" sz="2400" b="1">
                <a:latin typeface="Times New Roman" panose="02020603050405020304" pitchFamily="18" charset="0"/>
              </a:endParaRPr>
            </a:p>
            <a:p>
              <a:pPr algn="ctr"/>
              <a:r>
                <a:rPr kumimoji="1" lang="zh-CN" altLang="en-US" sz="2400" b="1">
                  <a:latin typeface="Times New Roman" panose="02020603050405020304" pitchFamily="18" charset="0"/>
                </a:rPr>
                <a:t>函数</a:t>
              </a:r>
              <a:endParaRPr kumimoji="1" lang="zh-CN" altLang="en-US" sz="2400" b="1">
                <a:latin typeface="Times New Roman" panose="02020603050405020304" pitchFamily="18" charset="0"/>
              </a:endParaRPr>
            </a:p>
            <a:p>
              <a:pPr algn="ctr"/>
              <a:endParaRPr kumimoji="1" lang="zh-CN" altLang="en-US" sz="2400" b="1">
                <a:latin typeface="Times New Roman" panose="02020603050405020304" pitchFamily="18" charset="0"/>
              </a:endParaRPr>
            </a:p>
            <a:p>
              <a:pPr algn="ctr"/>
              <a:endParaRPr kumimoji="1" lang="en-US" altLang="zh-CN" sz="2400" b="1">
                <a:latin typeface="Times New Roman" panose="02020603050405020304" pitchFamily="18" charset="0"/>
              </a:endParaRPr>
            </a:p>
          </p:txBody>
        </p:sp>
        <p:sp>
          <p:nvSpPr>
            <p:cNvPr id="28" name="Rectangle 10"/>
            <p:cNvSpPr>
              <a:spLocks noChangeArrowheads="1"/>
            </p:cNvSpPr>
            <p:nvPr/>
          </p:nvSpPr>
          <p:spPr bwMode="auto">
            <a:xfrm>
              <a:off x="3198" y="1650"/>
              <a:ext cx="955" cy="1656"/>
            </a:xfrm>
            <a:prstGeom prst="rect">
              <a:avLst/>
            </a:prstGeom>
            <a:solidFill>
              <a:srgbClr val="FF99FF"/>
            </a:solidFill>
            <a:ln w="3175">
              <a:solidFill>
                <a:schemeClr val="bg1"/>
              </a:solidFill>
              <a:miter lim="800000"/>
            </a:ln>
            <a:effectLst/>
          </p:spPr>
          <p:txBody>
            <a:bodyPr wrap="square" lIns="92075" tIns="46038" rIns="92075" bIns="46038" anchor="ctr">
              <a:spAutoFit/>
            </a:bodyPr>
            <a:lstStyle/>
            <a:p>
              <a:pPr algn="ctr"/>
              <a:endParaRPr kumimoji="1" lang="en-US" altLang="zh-CN" sz="2400" b="1">
                <a:latin typeface="Times New Roman" panose="02020603050405020304" pitchFamily="18" charset="0"/>
              </a:endParaRPr>
            </a:p>
            <a:p>
              <a:pPr algn="ctr"/>
              <a:r>
                <a:rPr kumimoji="1" lang="zh-CN" altLang="en-US" sz="2400" b="1">
                  <a:latin typeface="Times New Roman" panose="02020603050405020304" pitchFamily="18" charset="0"/>
                </a:rPr>
                <a:t>函数</a:t>
              </a:r>
              <a:endParaRPr kumimoji="1" lang="zh-CN" altLang="en-US" sz="2400" b="1">
                <a:latin typeface="Times New Roman" panose="02020603050405020304" pitchFamily="18" charset="0"/>
              </a:endParaRPr>
            </a:p>
            <a:p>
              <a:pPr algn="ctr"/>
              <a:endParaRPr kumimoji="1" lang="zh-CN" altLang="en-US" sz="2400" b="1">
                <a:latin typeface="Times New Roman" panose="02020603050405020304" pitchFamily="18" charset="0"/>
              </a:endParaRPr>
            </a:p>
            <a:p>
              <a:pPr algn="ctr"/>
              <a:endParaRPr kumimoji="1" lang="en-US" altLang="zh-CN" sz="2400" b="1">
                <a:latin typeface="Times New Roman" panose="02020603050405020304" pitchFamily="18" charset="0"/>
              </a:endParaRPr>
            </a:p>
          </p:txBody>
        </p:sp>
        <p:sp>
          <p:nvSpPr>
            <p:cNvPr id="29" name="Rectangle 11"/>
            <p:cNvSpPr>
              <a:spLocks noChangeArrowheads="1"/>
            </p:cNvSpPr>
            <p:nvPr/>
          </p:nvSpPr>
          <p:spPr bwMode="auto">
            <a:xfrm>
              <a:off x="4423" y="1650"/>
              <a:ext cx="954" cy="1656"/>
            </a:xfrm>
            <a:prstGeom prst="rect">
              <a:avLst/>
            </a:prstGeom>
            <a:solidFill>
              <a:srgbClr val="FF99FF"/>
            </a:solidFill>
            <a:ln w="3175">
              <a:solidFill>
                <a:schemeClr val="bg1"/>
              </a:solidFill>
              <a:miter lim="800000"/>
            </a:ln>
            <a:effectLst/>
          </p:spPr>
          <p:txBody>
            <a:bodyPr wrap="square" lIns="92075" tIns="46038" rIns="92075" bIns="46038" anchor="ctr">
              <a:spAutoFit/>
            </a:bodyPr>
            <a:lstStyle/>
            <a:p>
              <a:pPr algn="ctr"/>
              <a:endParaRPr kumimoji="1" lang="en-US" altLang="zh-CN" sz="2400" b="1">
                <a:latin typeface="Times New Roman" panose="02020603050405020304" pitchFamily="18" charset="0"/>
              </a:endParaRPr>
            </a:p>
            <a:p>
              <a:pPr algn="ctr"/>
              <a:r>
                <a:rPr kumimoji="1" lang="zh-CN" altLang="en-US" sz="2400" b="1">
                  <a:latin typeface="Times New Roman" panose="02020603050405020304" pitchFamily="18" charset="0"/>
                </a:rPr>
                <a:t>函数</a:t>
              </a:r>
              <a:endParaRPr kumimoji="1" lang="zh-CN" altLang="en-US" sz="2400" b="1">
                <a:latin typeface="Times New Roman" panose="02020603050405020304" pitchFamily="18" charset="0"/>
              </a:endParaRPr>
            </a:p>
            <a:p>
              <a:pPr algn="ctr"/>
              <a:endParaRPr kumimoji="1" lang="zh-CN" altLang="en-US" sz="2400" b="1">
                <a:latin typeface="Times New Roman" panose="02020603050405020304" pitchFamily="18" charset="0"/>
              </a:endParaRPr>
            </a:p>
            <a:p>
              <a:pPr algn="ctr"/>
              <a:endParaRPr kumimoji="1" lang="en-US" altLang="zh-CN" sz="2400" b="1">
                <a:latin typeface="Times New Roman" panose="02020603050405020304" pitchFamily="18" charset="0"/>
              </a:endParaRPr>
            </a:p>
          </p:txBody>
        </p:sp>
        <p:sp>
          <p:nvSpPr>
            <p:cNvPr id="30" name="Line 12"/>
            <p:cNvSpPr>
              <a:spLocks noChangeShapeType="1"/>
            </p:cNvSpPr>
            <p:nvPr/>
          </p:nvSpPr>
          <p:spPr bwMode="auto">
            <a:xfrm flipV="1">
              <a:off x="1247" y="1434"/>
              <a:ext cx="1588" cy="635"/>
            </a:xfrm>
            <a:prstGeom prst="line">
              <a:avLst/>
            </a:prstGeom>
            <a:noFill/>
            <a:ln w="3175">
              <a:solidFill>
                <a:srgbClr val="0000FF"/>
              </a:solidFill>
              <a:round/>
              <a:tailEnd type="triangle" w="med" len="med"/>
            </a:ln>
            <a:effectLst/>
          </p:spPr>
          <p:txBody>
            <a:bodyPr lIns="92075" tIns="46038" rIns="92075" bIns="46038" anchor="ctr">
              <a:spAutoFit/>
            </a:bodyPr>
            <a:lstStyle/>
            <a:p>
              <a:endParaRPr lang="zh-CN" altLang="en-US" b="1"/>
            </a:p>
          </p:txBody>
        </p:sp>
        <p:sp>
          <p:nvSpPr>
            <p:cNvPr id="31" name="Line 13"/>
            <p:cNvSpPr>
              <a:spLocks noChangeShapeType="1"/>
            </p:cNvSpPr>
            <p:nvPr/>
          </p:nvSpPr>
          <p:spPr bwMode="auto">
            <a:xfrm flipH="1" flipV="1">
              <a:off x="1746" y="1389"/>
              <a:ext cx="1724" cy="635"/>
            </a:xfrm>
            <a:prstGeom prst="line">
              <a:avLst/>
            </a:prstGeom>
            <a:noFill/>
            <a:ln w="3175">
              <a:solidFill>
                <a:srgbClr val="FF3300"/>
              </a:solidFill>
              <a:round/>
              <a:tailEnd type="triangle" w="med" len="med"/>
            </a:ln>
            <a:effectLst/>
          </p:spPr>
          <p:txBody>
            <a:bodyPr lIns="92075" tIns="46038" rIns="92075" bIns="46038" anchor="ctr">
              <a:spAutoFit/>
            </a:bodyPr>
            <a:lstStyle/>
            <a:p>
              <a:endParaRPr lang="zh-CN" altLang="en-US" b="1"/>
            </a:p>
          </p:txBody>
        </p:sp>
        <p:sp>
          <p:nvSpPr>
            <p:cNvPr id="32" name="Line 14"/>
            <p:cNvSpPr>
              <a:spLocks noChangeShapeType="1"/>
            </p:cNvSpPr>
            <p:nvPr/>
          </p:nvSpPr>
          <p:spPr bwMode="auto">
            <a:xfrm flipH="1" flipV="1">
              <a:off x="3198" y="1434"/>
              <a:ext cx="544" cy="590"/>
            </a:xfrm>
            <a:prstGeom prst="line">
              <a:avLst/>
            </a:prstGeom>
            <a:noFill/>
            <a:ln w="3175">
              <a:solidFill>
                <a:srgbClr val="FF3300"/>
              </a:solidFill>
              <a:round/>
              <a:tailEnd type="triangle" w="med" len="med"/>
            </a:ln>
            <a:effectLst/>
          </p:spPr>
          <p:txBody>
            <a:bodyPr lIns="92075" tIns="46038" rIns="92075" bIns="46038" anchor="ctr">
              <a:spAutoFit/>
            </a:bodyPr>
            <a:lstStyle/>
            <a:p>
              <a:endParaRPr lang="zh-CN" altLang="en-US" b="1"/>
            </a:p>
          </p:txBody>
        </p:sp>
        <p:sp>
          <p:nvSpPr>
            <p:cNvPr id="33" name="Line 15"/>
            <p:cNvSpPr>
              <a:spLocks noChangeShapeType="1"/>
            </p:cNvSpPr>
            <p:nvPr/>
          </p:nvSpPr>
          <p:spPr bwMode="auto">
            <a:xfrm flipV="1">
              <a:off x="3878" y="1434"/>
              <a:ext cx="635" cy="590"/>
            </a:xfrm>
            <a:prstGeom prst="line">
              <a:avLst/>
            </a:prstGeom>
            <a:noFill/>
            <a:ln w="3175">
              <a:solidFill>
                <a:srgbClr val="FF3300"/>
              </a:solidFill>
              <a:round/>
              <a:tailEnd type="triangle" w="med" len="med"/>
            </a:ln>
            <a:effectLst/>
          </p:spPr>
          <p:txBody>
            <a:bodyPr lIns="92075" tIns="46038" rIns="92075" bIns="46038" anchor="ctr">
              <a:spAutoFit/>
            </a:bodyPr>
            <a:lstStyle/>
            <a:p>
              <a:endParaRPr lang="zh-CN" altLang="en-US" b="1"/>
            </a:p>
          </p:txBody>
        </p:sp>
        <p:sp>
          <p:nvSpPr>
            <p:cNvPr id="34" name="Line 16"/>
            <p:cNvSpPr>
              <a:spLocks noChangeShapeType="1"/>
            </p:cNvSpPr>
            <p:nvPr/>
          </p:nvSpPr>
          <p:spPr bwMode="auto">
            <a:xfrm flipH="1" flipV="1">
              <a:off x="3470" y="1389"/>
              <a:ext cx="1179" cy="635"/>
            </a:xfrm>
            <a:prstGeom prst="line">
              <a:avLst/>
            </a:prstGeom>
            <a:noFill/>
            <a:ln w="3175">
              <a:solidFill>
                <a:schemeClr val="tx2"/>
              </a:solidFill>
              <a:round/>
              <a:tailEnd type="triangle" w="med" len="med"/>
            </a:ln>
            <a:effectLst/>
          </p:spPr>
          <p:txBody>
            <a:bodyPr lIns="92075" tIns="46038" rIns="92075" bIns="46038" anchor="ctr">
              <a:spAutoFit/>
            </a:bodyPr>
            <a:lstStyle/>
            <a:p>
              <a:endParaRPr lang="zh-CN" altLang="en-US" b="1"/>
            </a:p>
          </p:txBody>
        </p:sp>
        <p:sp>
          <p:nvSpPr>
            <p:cNvPr id="35" name="Line 17"/>
            <p:cNvSpPr>
              <a:spLocks noChangeShapeType="1"/>
            </p:cNvSpPr>
            <p:nvPr/>
          </p:nvSpPr>
          <p:spPr bwMode="auto">
            <a:xfrm flipH="1" flipV="1">
              <a:off x="4694" y="1389"/>
              <a:ext cx="46" cy="635"/>
            </a:xfrm>
            <a:prstGeom prst="line">
              <a:avLst/>
            </a:prstGeom>
            <a:noFill/>
            <a:ln w="3175">
              <a:solidFill>
                <a:schemeClr val="tx2"/>
              </a:solidFill>
              <a:round/>
              <a:tailEnd type="triangle" w="med" len="med"/>
            </a:ln>
            <a:effectLst/>
          </p:spPr>
          <p:txBody>
            <a:bodyPr lIns="92075" tIns="46038" rIns="92075" bIns="46038" anchor="ctr">
              <a:spAutoFit/>
            </a:bodyPr>
            <a:lstStyle/>
            <a:p>
              <a:endParaRPr lang="zh-CN" altLang="en-US" b="1"/>
            </a:p>
          </p:txBody>
        </p:sp>
        <p:sp>
          <p:nvSpPr>
            <p:cNvPr id="36" name="Line 18"/>
            <p:cNvSpPr>
              <a:spLocks noChangeShapeType="1"/>
            </p:cNvSpPr>
            <p:nvPr/>
          </p:nvSpPr>
          <p:spPr bwMode="auto">
            <a:xfrm flipH="1" flipV="1">
              <a:off x="1383" y="1389"/>
              <a:ext cx="1179" cy="635"/>
            </a:xfrm>
            <a:prstGeom prst="line">
              <a:avLst/>
            </a:prstGeom>
            <a:noFill/>
            <a:ln w="3175">
              <a:solidFill>
                <a:schemeClr val="bg2"/>
              </a:solidFill>
              <a:round/>
              <a:tailEnd type="triangle" w="med" len="med"/>
            </a:ln>
            <a:effectLst/>
          </p:spPr>
          <p:txBody>
            <a:bodyPr lIns="92075" tIns="46038" rIns="92075" bIns="46038" anchor="ctr">
              <a:spAutoFit/>
            </a:bodyPr>
            <a:lstStyle/>
            <a:p>
              <a:endParaRPr lang="zh-CN" altLang="en-US" b="1"/>
            </a:p>
          </p:txBody>
        </p:sp>
        <p:sp>
          <p:nvSpPr>
            <p:cNvPr id="37" name="Line 19"/>
            <p:cNvSpPr>
              <a:spLocks noChangeShapeType="1"/>
            </p:cNvSpPr>
            <p:nvPr/>
          </p:nvSpPr>
          <p:spPr bwMode="auto">
            <a:xfrm flipV="1">
              <a:off x="2789" y="1344"/>
              <a:ext cx="1452" cy="680"/>
            </a:xfrm>
            <a:prstGeom prst="line">
              <a:avLst/>
            </a:prstGeom>
            <a:noFill/>
            <a:ln w="3175">
              <a:solidFill>
                <a:schemeClr val="bg2"/>
              </a:solidFill>
              <a:round/>
              <a:tailEnd type="triangle" w="med" len="med"/>
            </a:ln>
            <a:effectLst/>
          </p:spPr>
          <p:txBody>
            <a:bodyPr lIns="92075" tIns="46038" rIns="92075" bIns="46038" anchor="ctr">
              <a:spAutoFit/>
            </a:bodyPr>
            <a:lstStyle/>
            <a:p>
              <a:endParaRPr lang="zh-CN" altLang="en-US" b="1"/>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r>
              <a:rPr lang="zh-CN" altLang="en-US" sz="2000" dirty="0" smtClean="0"/>
              <a:t>在面向过程的结构化程序设计中，人们常使用这样的公式来表述程序： </a:t>
            </a:r>
            <a:endParaRPr lang="zh-CN" altLang="en-US" sz="2000" dirty="0" smtClean="0"/>
          </a:p>
          <a:p>
            <a:pPr eaLnBrk="1" hangingPunct="1">
              <a:buNone/>
            </a:pPr>
            <a:r>
              <a:rPr lang="en-US" altLang="zh-CN" sz="2000" dirty="0" smtClean="0"/>
              <a:t>		</a:t>
            </a:r>
            <a:r>
              <a:rPr lang="zh-CN" altLang="en-US" sz="2000" dirty="0" smtClean="0">
                <a:solidFill>
                  <a:srgbClr val="FF0000"/>
                </a:solidFill>
              </a:rPr>
              <a:t>程序</a:t>
            </a:r>
            <a:r>
              <a:rPr lang="en-US" altLang="zh-CN" sz="2000" dirty="0" smtClean="0">
                <a:solidFill>
                  <a:srgbClr val="FF0000"/>
                </a:solidFill>
              </a:rPr>
              <a:t>=</a:t>
            </a:r>
            <a:r>
              <a:rPr lang="zh-CN" altLang="en-US" sz="2000" dirty="0" smtClean="0">
                <a:solidFill>
                  <a:srgbClr val="FF0000"/>
                </a:solidFill>
              </a:rPr>
              <a:t>算法＋数据结构</a:t>
            </a:r>
            <a:endParaRPr lang="zh-CN" altLang="en-US" sz="2000" dirty="0" smtClean="0">
              <a:solidFill>
                <a:srgbClr val="FF0000"/>
              </a:solidFill>
            </a:endParaRPr>
          </a:p>
          <a:p>
            <a:pPr lvl="1"/>
            <a:r>
              <a:rPr lang="zh-CN" altLang="en-US" sz="1800" dirty="0" smtClean="0"/>
              <a:t>算法和数据结构两者是互相独立、分开设计的，面向过程的程序设计是以算法为主体的</a:t>
            </a:r>
            <a:endParaRPr lang="zh-CN" altLang="en-US" sz="1800" dirty="0" smtClean="0"/>
          </a:p>
          <a:p>
            <a:pPr eaLnBrk="1" hangingPunct="1">
              <a:lnSpc>
                <a:spcPct val="125000"/>
              </a:lnSpc>
            </a:pPr>
            <a:r>
              <a:rPr lang="zh-CN" altLang="en-US" sz="2000" dirty="0" smtClean="0"/>
              <a:t>在实践中人们逐渐认识到算法和数据结构是互相紧密联系不可分的，应当以一个算法对应一组数据结构，而不宜提倡一个算法对应多组数据结构，以及一组数据结构对应多个算法。基于对象和面向对象程序设计就是把一个算法和一组数据结构封装在一个对象中。因此，就形成了新的观念： </a:t>
            </a:r>
            <a:endParaRPr lang="zh-CN" altLang="en-US" sz="2000" dirty="0" smtClean="0"/>
          </a:p>
          <a:p>
            <a:pPr eaLnBrk="1" hangingPunct="1">
              <a:lnSpc>
                <a:spcPct val="125000"/>
              </a:lnSpc>
              <a:buNone/>
            </a:pPr>
            <a:r>
              <a:rPr lang="en-US" altLang="zh-CN" sz="2000" dirty="0" smtClean="0"/>
              <a:t>		</a:t>
            </a:r>
            <a:r>
              <a:rPr lang="zh-CN" altLang="en-US" sz="2000" dirty="0" smtClean="0">
                <a:solidFill>
                  <a:srgbClr val="FF0000"/>
                </a:solidFill>
              </a:rPr>
              <a:t>对象 </a:t>
            </a:r>
            <a:r>
              <a:rPr lang="en-US" altLang="zh-CN" sz="2000" dirty="0" smtClean="0">
                <a:solidFill>
                  <a:srgbClr val="FF0000"/>
                </a:solidFill>
              </a:rPr>
              <a:t>= </a:t>
            </a:r>
            <a:r>
              <a:rPr lang="zh-CN" altLang="en-US" sz="2000" dirty="0" smtClean="0">
                <a:solidFill>
                  <a:srgbClr val="FF0000"/>
                </a:solidFill>
              </a:rPr>
              <a:t>算法 ＋ 数据结构</a:t>
            </a:r>
            <a:endParaRPr lang="zh-CN" altLang="en-US" sz="2000" dirty="0" smtClean="0">
              <a:solidFill>
                <a:srgbClr val="FF0000"/>
              </a:solidFill>
            </a:endParaRPr>
          </a:p>
          <a:p>
            <a:pPr eaLnBrk="1" hangingPunct="1">
              <a:lnSpc>
                <a:spcPct val="125000"/>
              </a:lnSpc>
              <a:buNone/>
            </a:pPr>
            <a:r>
              <a:rPr lang="en-US" altLang="zh-CN" sz="2000" dirty="0" smtClean="0">
                <a:solidFill>
                  <a:srgbClr val="FF0000"/>
                </a:solidFill>
              </a:rPr>
              <a:t>		</a:t>
            </a:r>
            <a:r>
              <a:rPr lang="zh-CN" altLang="en-US" sz="2000" dirty="0" smtClean="0">
                <a:solidFill>
                  <a:srgbClr val="FF0000"/>
                </a:solidFill>
              </a:rPr>
              <a:t>程序 </a:t>
            </a:r>
            <a:r>
              <a:rPr lang="en-US" altLang="zh-CN" sz="2000" dirty="0" smtClean="0">
                <a:solidFill>
                  <a:srgbClr val="FF0000"/>
                </a:solidFill>
              </a:rPr>
              <a:t>= (</a:t>
            </a:r>
            <a:r>
              <a:rPr lang="zh-CN" altLang="en-US" sz="2000" dirty="0" smtClean="0">
                <a:solidFill>
                  <a:srgbClr val="FF0000"/>
                </a:solidFill>
              </a:rPr>
              <a:t>对象</a:t>
            </a:r>
            <a:r>
              <a:rPr lang="en-US" altLang="zh-CN" sz="2000" dirty="0" smtClean="0">
                <a:solidFill>
                  <a:srgbClr val="FF0000"/>
                </a:solidFill>
              </a:rPr>
              <a:t>+</a:t>
            </a:r>
            <a:r>
              <a:rPr lang="zh-CN" altLang="en-US" sz="2000" dirty="0" smtClean="0">
                <a:solidFill>
                  <a:srgbClr val="FF0000"/>
                </a:solidFill>
              </a:rPr>
              <a:t>对象</a:t>
            </a:r>
            <a:r>
              <a:rPr lang="en-US" altLang="zh-CN" sz="2000" dirty="0" smtClean="0">
                <a:solidFill>
                  <a:srgbClr val="FF0000"/>
                </a:solidFill>
              </a:rPr>
              <a:t>+</a:t>
            </a:r>
            <a:r>
              <a:rPr lang="zh-CN" altLang="en-US" sz="2000" dirty="0" smtClean="0">
                <a:solidFill>
                  <a:srgbClr val="FF0000"/>
                </a:solidFill>
              </a:rPr>
              <a:t>对象</a:t>
            </a:r>
            <a:r>
              <a:rPr lang="en-US" altLang="zh-CN" sz="2000" dirty="0" smtClean="0">
                <a:solidFill>
                  <a:srgbClr val="FF0000"/>
                </a:solidFill>
              </a:rPr>
              <a:t>+…) + </a:t>
            </a:r>
            <a:r>
              <a:rPr lang="zh-CN" altLang="en-US" sz="2000" dirty="0" smtClean="0">
                <a:solidFill>
                  <a:srgbClr val="FF0000"/>
                </a:solidFill>
              </a:rPr>
              <a:t>消息        </a:t>
            </a:r>
            <a:endParaRPr lang="en-US" altLang="zh-CN" sz="2000" dirty="0" smtClean="0">
              <a:solidFill>
                <a:srgbClr val="FF0000"/>
              </a:solidFill>
            </a:endParaRPr>
          </a:p>
          <a:p>
            <a:pPr eaLnBrk="1" hangingPunct="1">
              <a:lnSpc>
                <a:spcPct val="125000"/>
              </a:lnSpc>
              <a:buNone/>
            </a:pPr>
            <a:r>
              <a:rPr lang="zh-CN" altLang="en-US" sz="2000" dirty="0" smtClean="0"/>
              <a:t>或：    </a:t>
            </a:r>
            <a:r>
              <a:rPr lang="zh-CN" altLang="en-US" sz="2000" dirty="0" smtClean="0">
                <a:solidFill>
                  <a:srgbClr val="FF0000"/>
                </a:solidFill>
              </a:rPr>
              <a:t>程序 </a:t>
            </a:r>
            <a:r>
              <a:rPr lang="en-US" altLang="zh-CN" sz="2000" dirty="0" smtClean="0">
                <a:solidFill>
                  <a:srgbClr val="FF0000"/>
                </a:solidFill>
              </a:rPr>
              <a:t>= </a:t>
            </a:r>
            <a:r>
              <a:rPr lang="zh-CN" altLang="en-US" sz="2000" dirty="0" smtClean="0">
                <a:solidFill>
                  <a:srgbClr val="FF0000"/>
                </a:solidFill>
              </a:rPr>
              <a:t>对象</a:t>
            </a:r>
            <a:r>
              <a:rPr lang="en-US" altLang="zh-CN" sz="2000" dirty="0" smtClean="0">
                <a:solidFill>
                  <a:srgbClr val="FF0000"/>
                </a:solidFill>
              </a:rPr>
              <a:t>s + </a:t>
            </a:r>
            <a:r>
              <a:rPr lang="zh-CN" altLang="en-US" sz="2000" dirty="0" smtClean="0">
                <a:solidFill>
                  <a:srgbClr val="FF0000"/>
                </a:solidFill>
              </a:rPr>
              <a:t>消息 </a:t>
            </a:r>
            <a:endParaRPr lang="zh-CN" altLang="en-US" sz="2000" dirty="0" smtClean="0">
              <a:solidFill>
                <a:srgbClr val="FF0000"/>
              </a:solidFill>
            </a:endParaRPr>
          </a:p>
          <a:p>
            <a:pPr lvl="1">
              <a:lnSpc>
                <a:spcPct val="125000"/>
              </a:lnSpc>
            </a:pPr>
            <a:r>
              <a:rPr lang="en-US" altLang="zh-CN" sz="1800" dirty="0" smtClean="0"/>
              <a:t>S</a:t>
            </a:r>
            <a:r>
              <a:rPr lang="zh-CN" altLang="en-US" sz="1800" dirty="0" smtClean="0"/>
              <a:t>表示</a:t>
            </a:r>
            <a:r>
              <a:rPr lang="en-US" altLang="zh-CN" sz="1800" dirty="0" smtClean="0"/>
              <a:t>serial，</a:t>
            </a:r>
            <a:r>
              <a:rPr lang="zh-CN" altLang="en-US" sz="1800" dirty="0" smtClean="0"/>
              <a:t>一系列的对象。</a:t>
            </a:r>
            <a:endParaRPr lang="zh-CN" altLang="en-US" sz="1800" dirty="0" smtClean="0"/>
          </a:p>
          <a:p>
            <a:pPr eaLnBrk="1" hangingPunct="1">
              <a:lnSpc>
                <a:spcPct val="125000"/>
              </a:lnSpc>
            </a:pPr>
            <a:endParaRPr lang="zh-CN" altLang="en-US"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3.</a:t>
            </a:r>
            <a:r>
              <a:rPr lang="zh-CN" altLang="en-US" sz="3600" dirty="0" smtClean="0"/>
              <a:t>面向对象的设计思想</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面向对象的程序设计者任务包括两方面：</a:t>
            </a:r>
            <a:endParaRPr lang="zh-CN" altLang="en-US" sz="2000" dirty="0" smtClean="0"/>
          </a:p>
          <a:p>
            <a:pPr lvl="1">
              <a:lnSpc>
                <a:spcPct val="125000"/>
              </a:lnSpc>
            </a:pPr>
            <a:r>
              <a:rPr lang="zh-CN" altLang="en-US" sz="1800" dirty="0" smtClean="0"/>
              <a:t>一是设计所需的各种类和对象，即决定把哪些数据和操作封装在一起；</a:t>
            </a:r>
            <a:endParaRPr lang="zh-CN" altLang="en-US" sz="1800" dirty="0" smtClean="0"/>
          </a:p>
          <a:p>
            <a:pPr lvl="1">
              <a:lnSpc>
                <a:spcPct val="125000"/>
              </a:lnSpc>
            </a:pPr>
            <a:r>
              <a:rPr lang="zh-CN" altLang="en-US" sz="1800" dirty="0" smtClean="0"/>
              <a:t>二是考虑怎样向有关对象发送消息，以完成所需的任务。这时他如同一个总调度，不断地向各个对象发出命令，让这些对象活动起来</a:t>
            </a:r>
            <a:r>
              <a:rPr lang="en-US" altLang="zh-CN" sz="1800" dirty="0" smtClean="0"/>
              <a:t>(</a:t>
            </a:r>
            <a:r>
              <a:rPr lang="zh-CN" altLang="en-US" sz="1800" dirty="0" smtClean="0"/>
              <a:t>或者说激活这些对象</a:t>
            </a:r>
            <a:r>
              <a:rPr lang="en-US" altLang="zh-CN" sz="1800" dirty="0" smtClean="0"/>
              <a:t>)</a:t>
            </a:r>
            <a:r>
              <a:rPr lang="zh-CN" altLang="en-US" sz="1800" dirty="0" smtClean="0"/>
              <a:t>，完成自己职责范围内的工作。各个对象的操作完成了，整体任务也就完成了。</a:t>
            </a:r>
            <a:endParaRPr lang="zh-CN" altLang="en-US" sz="1800" dirty="0" smtClean="0"/>
          </a:p>
          <a:p>
            <a:pPr eaLnBrk="1" hangingPunct="1">
              <a:lnSpc>
                <a:spcPct val="125000"/>
              </a:lnSpc>
            </a:pPr>
            <a:r>
              <a:rPr lang="zh-CN" altLang="en-US" sz="2000" dirty="0" smtClean="0"/>
              <a:t>显然，对一个大型任务来说，面向对象程序设计方法是十分有效的，它能大大降低程 序设计人员的工作难度，减少出错机会。</a:t>
            </a:r>
            <a:endParaRPr lang="en-US" altLang="zh-CN" sz="2000" dirty="0" smtClean="0"/>
          </a:p>
          <a:p>
            <a:pPr eaLnBrk="1" hangingPunct="1">
              <a:lnSpc>
                <a:spcPct val="125000"/>
              </a:lnSpc>
            </a:pPr>
            <a:r>
              <a:rPr lang="zh-CN" altLang="en-US" sz="1800" dirty="0" smtClean="0">
                <a:solidFill>
                  <a:srgbClr val="FF0000"/>
                </a:solidFill>
              </a:rPr>
              <a:t>面向过程开发模式，倾向于一个主程序控制一切运行，类似主动控制</a:t>
            </a:r>
            <a:endParaRPr lang="en-US" altLang="zh-CN" sz="1800" dirty="0" smtClean="0">
              <a:solidFill>
                <a:srgbClr val="FF0000"/>
              </a:solidFill>
            </a:endParaRPr>
          </a:p>
          <a:p>
            <a:pPr>
              <a:lnSpc>
                <a:spcPct val="125000"/>
              </a:lnSpc>
            </a:pPr>
            <a:r>
              <a:rPr lang="zh-CN" altLang="en-US" sz="1800" dirty="0" smtClean="0">
                <a:solidFill>
                  <a:srgbClr val="FF0000"/>
                </a:solidFill>
              </a:rPr>
              <a:t>面向对象开发模式，倾向于程序自主运行，等待使用者激发，类似请求</a:t>
            </a:r>
            <a:r>
              <a:rPr lang="en-US" altLang="zh-CN" sz="1800" dirty="0" smtClean="0">
                <a:solidFill>
                  <a:srgbClr val="FF0000"/>
                </a:solidFill>
              </a:rPr>
              <a:t>/</a:t>
            </a:r>
            <a:r>
              <a:rPr lang="zh-CN" altLang="en-US" sz="1800" dirty="0" smtClean="0">
                <a:solidFill>
                  <a:srgbClr val="FF0000"/>
                </a:solidFill>
              </a:rPr>
              <a:t>响应</a:t>
            </a:r>
            <a:endParaRPr lang="en-US" altLang="zh-CN" sz="1800" dirty="0" smtClean="0">
              <a:solidFill>
                <a:srgbClr val="FF0000"/>
              </a:solidFill>
            </a:endParaRPr>
          </a:p>
          <a:p>
            <a:pPr eaLnBrk="1" hangingPunct="1">
              <a:lnSpc>
                <a:spcPct val="125000"/>
              </a:lnSpc>
            </a:pPr>
            <a:endParaRPr lang="zh-CN" altLang="en-US"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3.</a:t>
            </a:r>
            <a:r>
              <a:rPr lang="zh-CN" altLang="en-US" sz="3600" dirty="0" smtClean="0"/>
              <a:t>面向对象的设计思想</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什么是面向对象</a:t>
            </a:r>
            <a:endParaRPr lang="en-US" altLang="zh-CN" sz="2000" dirty="0" smtClean="0"/>
          </a:p>
          <a:p>
            <a:pPr lvl="1">
              <a:lnSpc>
                <a:spcPct val="125000"/>
              </a:lnSpc>
            </a:pPr>
            <a:r>
              <a:rPr lang="zh-CN" altLang="en-US" sz="1800" dirty="0" smtClean="0"/>
              <a:t>面向对象的编程思想力图使对计算机语言中对事物的的描述与现实世界中该事物的本来面目尽可能的一致。 </a:t>
            </a:r>
            <a:endParaRPr lang="zh-CN" altLang="en-US" sz="1800" dirty="0" smtClean="0"/>
          </a:p>
          <a:p>
            <a:pPr eaLnBrk="1" hangingPunct="1">
              <a:lnSpc>
                <a:spcPct val="125000"/>
              </a:lnSpc>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3.</a:t>
            </a:r>
            <a:r>
              <a:rPr lang="zh-CN" altLang="en-US" sz="3600" dirty="0" smtClean="0"/>
              <a:t>面向对象的设计思想</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pic>
        <p:nvPicPr>
          <p:cNvPr id="1027" name="Picture 3"/>
          <p:cNvPicPr>
            <a:picLocks noChangeAspect="1" noChangeArrowheads="1"/>
          </p:cNvPicPr>
          <p:nvPr/>
        </p:nvPicPr>
        <p:blipFill>
          <a:blip r:embed="rId1"/>
          <a:srcRect/>
          <a:stretch>
            <a:fillRect/>
          </a:stretch>
        </p:blipFill>
        <p:spPr bwMode="auto">
          <a:xfrm>
            <a:off x="2214546" y="2643182"/>
            <a:ext cx="4746697" cy="30718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面向对象的设计思想</a:t>
            </a:r>
            <a:endParaRPr lang="en-US" altLang="zh-CN" sz="2000" dirty="0" smtClean="0"/>
          </a:p>
          <a:p>
            <a:pPr lvl="1">
              <a:lnSpc>
                <a:spcPct val="125000"/>
              </a:lnSpc>
            </a:pPr>
            <a:r>
              <a:rPr lang="zh-CN" altLang="en-US" sz="1800" dirty="0" smtClean="0"/>
              <a:t>将客观事物的属性和行为抽象成数据和操作数据的函数，并把它们组合成一个不可分割的整体（即对象）的方法能够实现对客观世界的真实模拟，反映出世界的本来面目。从客观世界中抽象出一个个对象，对象之间能够传递消息。</a:t>
            </a:r>
            <a:endParaRPr lang="zh-CN" altLang="en-US"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3.</a:t>
            </a:r>
            <a:r>
              <a:rPr lang="zh-CN" altLang="en-US" sz="3600" dirty="0" smtClean="0"/>
              <a:t>面向对象的设计思想</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grpSp>
        <p:nvGrpSpPr>
          <p:cNvPr id="4" name="Group 4"/>
          <p:cNvGrpSpPr/>
          <p:nvPr/>
        </p:nvGrpSpPr>
        <p:grpSpPr bwMode="auto">
          <a:xfrm>
            <a:off x="3071802" y="2786058"/>
            <a:ext cx="5689598" cy="3608434"/>
            <a:chOff x="975" y="845"/>
            <a:chExt cx="3765" cy="3113"/>
          </a:xfrm>
        </p:grpSpPr>
        <p:grpSp>
          <p:nvGrpSpPr>
            <p:cNvPr id="6" name="Group 5"/>
            <p:cNvGrpSpPr/>
            <p:nvPr/>
          </p:nvGrpSpPr>
          <p:grpSpPr bwMode="auto">
            <a:xfrm>
              <a:off x="2381" y="845"/>
              <a:ext cx="1134" cy="1225"/>
              <a:chOff x="2381" y="845"/>
              <a:chExt cx="1134" cy="1225"/>
            </a:xfrm>
          </p:grpSpPr>
          <p:sp>
            <p:nvSpPr>
              <p:cNvPr id="28" name="Oval 6"/>
              <p:cNvSpPr>
                <a:spLocks noChangeArrowheads="1"/>
              </p:cNvSpPr>
              <p:nvPr/>
            </p:nvSpPr>
            <p:spPr bwMode="auto">
              <a:xfrm>
                <a:off x="2381" y="845"/>
                <a:ext cx="1134" cy="1225"/>
              </a:xfrm>
              <a:prstGeom prst="ellipse">
                <a:avLst/>
              </a:prstGeom>
              <a:solidFill>
                <a:schemeClr val="accent1"/>
              </a:solidFill>
              <a:ln w="3175">
                <a:solidFill>
                  <a:schemeClr val="bg1"/>
                </a:solidFill>
                <a:round/>
              </a:ln>
              <a:effectLst/>
            </p:spPr>
            <p:txBody>
              <a:bodyPr lIns="92075" tIns="46038" rIns="92075" bIns="46038" anchor="ctr">
                <a:spAutoFit/>
              </a:bodyPr>
              <a:lstStyle/>
              <a:p>
                <a:endParaRPr lang="zh-CN" altLang="en-US"/>
              </a:p>
            </p:txBody>
          </p:sp>
          <p:sp>
            <p:nvSpPr>
              <p:cNvPr id="29" name="Oval 7"/>
              <p:cNvSpPr>
                <a:spLocks noChangeArrowheads="1"/>
              </p:cNvSpPr>
              <p:nvPr/>
            </p:nvSpPr>
            <p:spPr bwMode="auto">
              <a:xfrm>
                <a:off x="2607" y="859"/>
                <a:ext cx="663" cy="449"/>
              </a:xfrm>
              <a:prstGeom prst="ellipse">
                <a:avLst/>
              </a:prstGeom>
              <a:solidFill>
                <a:srgbClr val="FF99FF"/>
              </a:solidFill>
              <a:ln w="3175">
                <a:solidFill>
                  <a:schemeClr val="bg1"/>
                </a:solidFill>
                <a:round/>
              </a:ln>
              <a:effectLst/>
            </p:spPr>
            <p:txBody>
              <a:bodyPr wrap="none" lIns="92075" tIns="46038" rIns="92075" bIns="46038" anchor="ctr">
                <a:spAutoFit/>
              </a:bodyPr>
              <a:lstStyle/>
              <a:p>
                <a:pPr algn="ctr"/>
                <a:r>
                  <a:rPr kumimoji="1" lang="zh-CN" altLang="en-US" sz="2400">
                    <a:latin typeface="Times New Roman" panose="02020603050405020304" pitchFamily="18" charset="0"/>
                  </a:rPr>
                  <a:t>数据</a:t>
                </a:r>
                <a:endParaRPr kumimoji="1" lang="zh-CN" altLang="en-US" sz="2400">
                  <a:latin typeface="Times New Roman" panose="02020603050405020304" pitchFamily="18" charset="0"/>
                </a:endParaRPr>
              </a:p>
            </p:txBody>
          </p:sp>
          <p:sp>
            <p:nvSpPr>
              <p:cNvPr id="30" name="Text Box 8"/>
              <p:cNvSpPr txBox="1">
                <a:spLocks noChangeArrowheads="1"/>
              </p:cNvSpPr>
              <p:nvPr/>
            </p:nvSpPr>
            <p:spPr bwMode="auto">
              <a:xfrm>
                <a:off x="2517" y="1298"/>
                <a:ext cx="817" cy="291"/>
              </a:xfrm>
              <a:prstGeom prst="rect">
                <a:avLst/>
              </a:prstGeom>
              <a:solidFill>
                <a:schemeClr val="hlink"/>
              </a:solidFill>
              <a:ln w="3175">
                <a:noFill/>
                <a:miter lim="800000"/>
              </a:ln>
              <a:effectLst/>
            </p:spPr>
            <p:txBody>
              <a:bodyPr lIns="92075" tIns="46038" rIns="92075" bIns="46038">
                <a:spAutoFit/>
              </a:bodyPr>
              <a:lstStyle/>
              <a:p>
                <a:pPr algn="ctr">
                  <a:spcBef>
                    <a:spcPct val="50000"/>
                  </a:spcBef>
                </a:pPr>
                <a:r>
                  <a:rPr kumimoji="1" lang="zh-CN" altLang="en-US" sz="2000" b="1">
                    <a:solidFill>
                      <a:srgbClr val="0000FF"/>
                    </a:solidFill>
                    <a:latin typeface="Times New Roman" panose="02020603050405020304" pitchFamily="18" charset="0"/>
                  </a:rPr>
                  <a:t>成员函数</a:t>
                </a:r>
                <a:endParaRPr kumimoji="1" lang="zh-CN" altLang="en-US" sz="2000" b="1">
                  <a:solidFill>
                    <a:srgbClr val="0000FF"/>
                  </a:solidFill>
                  <a:latin typeface="Times New Roman" panose="02020603050405020304" pitchFamily="18" charset="0"/>
                </a:endParaRPr>
              </a:p>
            </p:txBody>
          </p:sp>
          <p:sp>
            <p:nvSpPr>
              <p:cNvPr id="31" name="Text Box 9"/>
              <p:cNvSpPr txBox="1">
                <a:spLocks noChangeArrowheads="1"/>
              </p:cNvSpPr>
              <p:nvPr/>
            </p:nvSpPr>
            <p:spPr bwMode="auto">
              <a:xfrm>
                <a:off x="2517" y="1616"/>
                <a:ext cx="817" cy="290"/>
              </a:xfrm>
              <a:prstGeom prst="rect">
                <a:avLst/>
              </a:prstGeom>
              <a:solidFill>
                <a:schemeClr val="hlink"/>
              </a:solidFill>
              <a:ln w="3175">
                <a:noFill/>
                <a:miter lim="800000"/>
              </a:ln>
              <a:effectLst/>
            </p:spPr>
            <p:txBody>
              <a:bodyPr lIns="92075" tIns="46038" rIns="92075" bIns="46038">
                <a:spAutoFit/>
              </a:bodyPr>
              <a:lstStyle/>
              <a:p>
                <a:pPr algn="ctr">
                  <a:spcBef>
                    <a:spcPct val="50000"/>
                  </a:spcBef>
                </a:pPr>
                <a:r>
                  <a:rPr kumimoji="1" lang="zh-CN" altLang="en-US" sz="2000" b="1">
                    <a:solidFill>
                      <a:srgbClr val="0000FF"/>
                    </a:solidFill>
                    <a:latin typeface="Times New Roman" panose="02020603050405020304" pitchFamily="18" charset="0"/>
                  </a:rPr>
                  <a:t>成员函数</a:t>
                </a:r>
                <a:endParaRPr kumimoji="1" lang="zh-CN" altLang="en-US" sz="2000" b="1">
                  <a:solidFill>
                    <a:srgbClr val="0000FF"/>
                  </a:solidFill>
                  <a:latin typeface="Times New Roman" panose="02020603050405020304" pitchFamily="18" charset="0"/>
                </a:endParaRPr>
              </a:p>
            </p:txBody>
          </p:sp>
        </p:grpSp>
        <p:grpSp>
          <p:nvGrpSpPr>
            <p:cNvPr id="7" name="Group 10"/>
            <p:cNvGrpSpPr/>
            <p:nvPr/>
          </p:nvGrpSpPr>
          <p:grpSpPr bwMode="auto">
            <a:xfrm>
              <a:off x="975" y="2341"/>
              <a:ext cx="1134" cy="1225"/>
              <a:chOff x="2381" y="845"/>
              <a:chExt cx="1134" cy="1225"/>
            </a:xfrm>
          </p:grpSpPr>
          <p:sp>
            <p:nvSpPr>
              <p:cNvPr id="24" name="Oval 11"/>
              <p:cNvSpPr>
                <a:spLocks noChangeArrowheads="1"/>
              </p:cNvSpPr>
              <p:nvPr/>
            </p:nvSpPr>
            <p:spPr bwMode="auto">
              <a:xfrm>
                <a:off x="2381" y="845"/>
                <a:ext cx="1134" cy="1225"/>
              </a:xfrm>
              <a:prstGeom prst="ellipse">
                <a:avLst/>
              </a:prstGeom>
              <a:solidFill>
                <a:schemeClr val="accent1"/>
              </a:solidFill>
              <a:ln w="3175">
                <a:solidFill>
                  <a:schemeClr val="bg1"/>
                </a:solidFill>
                <a:round/>
              </a:ln>
              <a:effectLst/>
            </p:spPr>
            <p:txBody>
              <a:bodyPr lIns="92075" tIns="46038" rIns="92075" bIns="46038" anchor="ctr">
                <a:spAutoFit/>
              </a:bodyPr>
              <a:lstStyle/>
              <a:p>
                <a:endParaRPr lang="zh-CN" altLang="en-US"/>
              </a:p>
            </p:txBody>
          </p:sp>
          <p:sp>
            <p:nvSpPr>
              <p:cNvPr id="25" name="Oval 12"/>
              <p:cNvSpPr>
                <a:spLocks noChangeArrowheads="1"/>
              </p:cNvSpPr>
              <p:nvPr/>
            </p:nvSpPr>
            <p:spPr bwMode="auto">
              <a:xfrm>
                <a:off x="2608" y="859"/>
                <a:ext cx="662" cy="449"/>
              </a:xfrm>
              <a:prstGeom prst="ellipse">
                <a:avLst/>
              </a:prstGeom>
              <a:solidFill>
                <a:srgbClr val="FF99FF"/>
              </a:solidFill>
              <a:ln w="3175">
                <a:solidFill>
                  <a:schemeClr val="bg1"/>
                </a:solidFill>
                <a:round/>
              </a:ln>
              <a:effectLst/>
            </p:spPr>
            <p:txBody>
              <a:bodyPr wrap="none" lIns="92075" tIns="46038" rIns="92075" bIns="46038" anchor="ctr">
                <a:spAutoFit/>
              </a:bodyPr>
              <a:lstStyle/>
              <a:p>
                <a:pPr algn="ctr"/>
                <a:r>
                  <a:rPr kumimoji="1" lang="zh-CN" altLang="en-US" sz="2400">
                    <a:latin typeface="Times New Roman" panose="02020603050405020304" pitchFamily="18" charset="0"/>
                  </a:rPr>
                  <a:t>数据</a:t>
                </a:r>
                <a:endParaRPr kumimoji="1" lang="zh-CN" altLang="en-US" sz="2400">
                  <a:latin typeface="Times New Roman" panose="02020603050405020304" pitchFamily="18" charset="0"/>
                </a:endParaRPr>
              </a:p>
            </p:txBody>
          </p:sp>
          <p:sp>
            <p:nvSpPr>
              <p:cNvPr id="26" name="Text Box 13"/>
              <p:cNvSpPr txBox="1">
                <a:spLocks noChangeArrowheads="1"/>
              </p:cNvSpPr>
              <p:nvPr/>
            </p:nvSpPr>
            <p:spPr bwMode="auto">
              <a:xfrm>
                <a:off x="2517" y="1298"/>
                <a:ext cx="817" cy="291"/>
              </a:xfrm>
              <a:prstGeom prst="rect">
                <a:avLst/>
              </a:prstGeom>
              <a:solidFill>
                <a:schemeClr val="hlink"/>
              </a:solidFill>
              <a:ln w="3175">
                <a:noFill/>
                <a:miter lim="800000"/>
              </a:ln>
              <a:effectLst/>
            </p:spPr>
            <p:txBody>
              <a:bodyPr lIns="92075" tIns="46038" rIns="92075" bIns="46038">
                <a:spAutoFit/>
              </a:bodyPr>
              <a:lstStyle/>
              <a:p>
                <a:pPr algn="ctr">
                  <a:spcBef>
                    <a:spcPct val="50000"/>
                  </a:spcBef>
                </a:pPr>
                <a:r>
                  <a:rPr kumimoji="1" lang="zh-CN" altLang="en-US" sz="2000" b="1">
                    <a:solidFill>
                      <a:srgbClr val="0000FF"/>
                    </a:solidFill>
                    <a:latin typeface="Times New Roman" panose="02020603050405020304" pitchFamily="18" charset="0"/>
                  </a:rPr>
                  <a:t>成员函数</a:t>
                </a:r>
                <a:endParaRPr kumimoji="1" lang="zh-CN" altLang="en-US" sz="2000" b="1">
                  <a:solidFill>
                    <a:srgbClr val="0000FF"/>
                  </a:solidFill>
                  <a:latin typeface="Times New Roman" panose="02020603050405020304" pitchFamily="18" charset="0"/>
                </a:endParaRPr>
              </a:p>
            </p:txBody>
          </p:sp>
          <p:sp>
            <p:nvSpPr>
              <p:cNvPr id="27" name="Text Box 14"/>
              <p:cNvSpPr txBox="1">
                <a:spLocks noChangeArrowheads="1"/>
              </p:cNvSpPr>
              <p:nvPr/>
            </p:nvSpPr>
            <p:spPr bwMode="auto">
              <a:xfrm>
                <a:off x="2517" y="1616"/>
                <a:ext cx="817" cy="290"/>
              </a:xfrm>
              <a:prstGeom prst="rect">
                <a:avLst/>
              </a:prstGeom>
              <a:solidFill>
                <a:schemeClr val="hlink"/>
              </a:solidFill>
              <a:ln w="3175">
                <a:noFill/>
                <a:miter lim="800000"/>
              </a:ln>
              <a:effectLst/>
            </p:spPr>
            <p:txBody>
              <a:bodyPr lIns="92075" tIns="46038" rIns="92075" bIns="46038">
                <a:spAutoFit/>
              </a:bodyPr>
              <a:lstStyle/>
              <a:p>
                <a:pPr algn="ctr">
                  <a:spcBef>
                    <a:spcPct val="50000"/>
                  </a:spcBef>
                </a:pPr>
                <a:r>
                  <a:rPr kumimoji="1" lang="zh-CN" altLang="en-US" sz="2000" b="1">
                    <a:solidFill>
                      <a:srgbClr val="0000FF"/>
                    </a:solidFill>
                    <a:latin typeface="Times New Roman" panose="02020603050405020304" pitchFamily="18" charset="0"/>
                  </a:rPr>
                  <a:t>成员函数</a:t>
                </a:r>
                <a:endParaRPr kumimoji="1" lang="zh-CN" altLang="en-US" sz="2000" b="1">
                  <a:solidFill>
                    <a:srgbClr val="0000FF"/>
                  </a:solidFill>
                  <a:latin typeface="Times New Roman" panose="02020603050405020304" pitchFamily="18" charset="0"/>
                </a:endParaRPr>
              </a:p>
            </p:txBody>
          </p:sp>
        </p:grpSp>
        <p:grpSp>
          <p:nvGrpSpPr>
            <p:cNvPr id="8" name="Group 15"/>
            <p:cNvGrpSpPr/>
            <p:nvPr/>
          </p:nvGrpSpPr>
          <p:grpSpPr bwMode="auto">
            <a:xfrm>
              <a:off x="3606" y="2251"/>
              <a:ext cx="1134" cy="1225"/>
              <a:chOff x="2381" y="845"/>
              <a:chExt cx="1134" cy="1225"/>
            </a:xfrm>
          </p:grpSpPr>
          <p:sp>
            <p:nvSpPr>
              <p:cNvPr id="20" name="Oval 16"/>
              <p:cNvSpPr>
                <a:spLocks noChangeArrowheads="1"/>
              </p:cNvSpPr>
              <p:nvPr/>
            </p:nvSpPr>
            <p:spPr bwMode="auto">
              <a:xfrm>
                <a:off x="2381" y="845"/>
                <a:ext cx="1134" cy="1225"/>
              </a:xfrm>
              <a:prstGeom prst="ellipse">
                <a:avLst/>
              </a:prstGeom>
              <a:solidFill>
                <a:schemeClr val="accent1"/>
              </a:solidFill>
              <a:ln w="3175">
                <a:solidFill>
                  <a:schemeClr val="bg1"/>
                </a:solidFill>
                <a:round/>
              </a:ln>
              <a:effectLst/>
            </p:spPr>
            <p:txBody>
              <a:bodyPr lIns="92075" tIns="46038" rIns="92075" bIns="46038" anchor="ctr">
                <a:spAutoFit/>
              </a:bodyPr>
              <a:lstStyle/>
              <a:p>
                <a:endParaRPr lang="zh-CN" altLang="en-US"/>
              </a:p>
            </p:txBody>
          </p:sp>
          <p:sp>
            <p:nvSpPr>
              <p:cNvPr id="21" name="Oval 17"/>
              <p:cNvSpPr>
                <a:spLocks noChangeArrowheads="1"/>
              </p:cNvSpPr>
              <p:nvPr/>
            </p:nvSpPr>
            <p:spPr bwMode="auto">
              <a:xfrm>
                <a:off x="2608" y="859"/>
                <a:ext cx="662" cy="448"/>
              </a:xfrm>
              <a:prstGeom prst="ellipse">
                <a:avLst/>
              </a:prstGeom>
              <a:solidFill>
                <a:srgbClr val="FF99FF"/>
              </a:solidFill>
              <a:ln w="3175">
                <a:solidFill>
                  <a:schemeClr val="bg1"/>
                </a:solidFill>
                <a:round/>
              </a:ln>
              <a:effectLst/>
            </p:spPr>
            <p:txBody>
              <a:bodyPr wrap="none" lIns="92075" tIns="46038" rIns="92075" bIns="46038" anchor="ctr">
                <a:spAutoFit/>
              </a:bodyPr>
              <a:lstStyle/>
              <a:p>
                <a:pPr algn="ctr"/>
                <a:r>
                  <a:rPr kumimoji="1" lang="zh-CN" altLang="en-US" sz="2400">
                    <a:latin typeface="Times New Roman" panose="02020603050405020304" pitchFamily="18" charset="0"/>
                  </a:rPr>
                  <a:t>数据</a:t>
                </a:r>
                <a:endParaRPr kumimoji="1" lang="zh-CN" altLang="en-US" sz="2400">
                  <a:latin typeface="Times New Roman" panose="02020603050405020304" pitchFamily="18" charset="0"/>
                </a:endParaRPr>
              </a:p>
            </p:txBody>
          </p:sp>
          <p:sp>
            <p:nvSpPr>
              <p:cNvPr id="22" name="Text Box 18"/>
              <p:cNvSpPr txBox="1">
                <a:spLocks noChangeArrowheads="1"/>
              </p:cNvSpPr>
              <p:nvPr/>
            </p:nvSpPr>
            <p:spPr bwMode="auto">
              <a:xfrm>
                <a:off x="2517" y="1298"/>
                <a:ext cx="817" cy="290"/>
              </a:xfrm>
              <a:prstGeom prst="rect">
                <a:avLst/>
              </a:prstGeom>
              <a:solidFill>
                <a:schemeClr val="hlink"/>
              </a:solidFill>
              <a:ln w="3175">
                <a:noFill/>
                <a:miter lim="800000"/>
              </a:ln>
              <a:effectLst/>
            </p:spPr>
            <p:txBody>
              <a:bodyPr lIns="92075" tIns="46038" rIns="92075" bIns="46038">
                <a:spAutoFit/>
              </a:bodyPr>
              <a:lstStyle/>
              <a:p>
                <a:pPr algn="ctr">
                  <a:spcBef>
                    <a:spcPct val="50000"/>
                  </a:spcBef>
                </a:pPr>
                <a:r>
                  <a:rPr kumimoji="1" lang="zh-CN" altLang="en-US" sz="2000" b="1">
                    <a:solidFill>
                      <a:srgbClr val="0000FF"/>
                    </a:solidFill>
                    <a:latin typeface="Times New Roman" panose="02020603050405020304" pitchFamily="18" charset="0"/>
                  </a:rPr>
                  <a:t>成员函数</a:t>
                </a:r>
                <a:endParaRPr kumimoji="1" lang="zh-CN" altLang="en-US" sz="2000" b="1">
                  <a:solidFill>
                    <a:srgbClr val="0000FF"/>
                  </a:solidFill>
                  <a:latin typeface="Times New Roman" panose="02020603050405020304" pitchFamily="18" charset="0"/>
                </a:endParaRPr>
              </a:p>
            </p:txBody>
          </p:sp>
          <p:sp>
            <p:nvSpPr>
              <p:cNvPr id="23" name="Text Box 19"/>
              <p:cNvSpPr txBox="1">
                <a:spLocks noChangeArrowheads="1"/>
              </p:cNvSpPr>
              <p:nvPr/>
            </p:nvSpPr>
            <p:spPr bwMode="auto">
              <a:xfrm>
                <a:off x="2517" y="1616"/>
                <a:ext cx="817" cy="290"/>
              </a:xfrm>
              <a:prstGeom prst="rect">
                <a:avLst/>
              </a:prstGeom>
              <a:solidFill>
                <a:schemeClr val="hlink"/>
              </a:solidFill>
              <a:ln w="3175">
                <a:noFill/>
                <a:miter lim="800000"/>
              </a:ln>
              <a:effectLst/>
            </p:spPr>
            <p:txBody>
              <a:bodyPr lIns="92075" tIns="46038" rIns="92075" bIns="46038">
                <a:spAutoFit/>
              </a:bodyPr>
              <a:lstStyle/>
              <a:p>
                <a:pPr algn="ctr">
                  <a:spcBef>
                    <a:spcPct val="50000"/>
                  </a:spcBef>
                </a:pPr>
                <a:r>
                  <a:rPr kumimoji="1" lang="zh-CN" altLang="en-US" sz="2000" b="1">
                    <a:solidFill>
                      <a:srgbClr val="0000FF"/>
                    </a:solidFill>
                    <a:latin typeface="Times New Roman" panose="02020603050405020304" pitchFamily="18" charset="0"/>
                  </a:rPr>
                  <a:t>成员函数</a:t>
                </a:r>
                <a:endParaRPr kumimoji="1" lang="zh-CN" altLang="en-US" sz="2000" b="1">
                  <a:solidFill>
                    <a:srgbClr val="0000FF"/>
                  </a:solidFill>
                  <a:latin typeface="Times New Roman" panose="02020603050405020304" pitchFamily="18" charset="0"/>
                </a:endParaRPr>
              </a:p>
            </p:txBody>
          </p:sp>
        </p:grpSp>
        <p:sp>
          <p:nvSpPr>
            <p:cNvPr id="11" name="Text Box 20"/>
            <p:cNvSpPr txBox="1">
              <a:spLocks noChangeArrowheads="1"/>
            </p:cNvSpPr>
            <p:nvPr/>
          </p:nvSpPr>
          <p:spPr bwMode="auto">
            <a:xfrm>
              <a:off x="2608" y="2115"/>
              <a:ext cx="726" cy="346"/>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000" b="1" dirty="0">
                  <a:latin typeface="Times New Roman" panose="02020603050405020304" pitchFamily="18" charset="0"/>
                </a:rPr>
                <a:t>对象１</a:t>
              </a:r>
              <a:endParaRPr kumimoji="1" lang="zh-CN" altLang="en-US" sz="2000" b="1" dirty="0">
                <a:latin typeface="Times New Roman" panose="02020603050405020304" pitchFamily="18" charset="0"/>
              </a:endParaRPr>
            </a:p>
          </p:txBody>
        </p:sp>
        <p:sp>
          <p:nvSpPr>
            <p:cNvPr id="12" name="Text Box 21"/>
            <p:cNvSpPr txBox="1">
              <a:spLocks noChangeArrowheads="1"/>
            </p:cNvSpPr>
            <p:nvPr/>
          </p:nvSpPr>
          <p:spPr bwMode="auto">
            <a:xfrm>
              <a:off x="1156" y="3612"/>
              <a:ext cx="726" cy="346"/>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000" b="1" dirty="0">
                  <a:latin typeface="Times New Roman" panose="02020603050405020304" pitchFamily="18" charset="0"/>
                </a:rPr>
                <a:t>对象２</a:t>
              </a:r>
              <a:endParaRPr kumimoji="1" lang="zh-CN" altLang="en-US" sz="2000" b="1" dirty="0">
                <a:latin typeface="Times New Roman" panose="02020603050405020304" pitchFamily="18" charset="0"/>
              </a:endParaRPr>
            </a:p>
          </p:txBody>
        </p:sp>
        <p:sp>
          <p:nvSpPr>
            <p:cNvPr id="13" name="Text Box 22"/>
            <p:cNvSpPr txBox="1">
              <a:spLocks noChangeArrowheads="1"/>
            </p:cNvSpPr>
            <p:nvPr/>
          </p:nvSpPr>
          <p:spPr bwMode="auto">
            <a:xfrm>
              <a:off x="3833" y="3520"/>
              <a:ext cx="726" cy="346"/>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000" b="1" dirty="0">
                  <a:latin typeface="Times New Roman" panose="02020603050405020304" pitchFamily="18" charset="0"/>
                </a:rPr>
                <a:t>对象３</a:t>
              </a:r>
              <a:endParaRPr kumimoji="1" lang="zh-CN" altLang="en-US" sz="2000" b="1" dirty="0">
                <a:latin typeface="Times New Roman" panose="02020603050405020304" pitchFamily="18" charset="0"/>
              </a:endParaRPr>
            </a:p>
          </p:txBody>
        </p:sp>
        <p:sp>
          <p:nvSpPr>
            <p:cNvPr id="14" name="Line 23"/>
            <p:cNvSpPr>
              <a:spLocks noChangeShapeType="1"/>
            </p:cNvSpPr>
            <p:nvPr/>
          </p:nvSpPr>
          <p:spPr bwMode="auto">
            <a:xfrm flipV="1">
              <a:off x="1746" y="1888"/>
              <a:ext cx="771" cy="453"/>
            </a:xfrm>
            <a:prstGeom prst="line">
              <a:avLst/>
            </a:prstGeom>
            <a:noFill/>
            <a:ln w="3175">
              <a:solidFill>
                <a:srgbClr val="0000FF"/>
              </a:solidFill>
              <a:round/>
              <a:headEnd type="triangle" w="med" len="med"/>
              <a:tailEnd type="triangle" w="med" len="med"/>
            </a:ln>
            <a:effectLst/>
          </p:spPr>
          <p:txBody>
            <a:bodyPr lIns="92075" tIns="46038" rIns="92075" bIns="46038" anchor="ctr">
              <a:spAutoFit/>
            </a:bodyPr>
            <a:lstStyle/>
            <a:p>
              <a:endParaRPr lang="zh-CN" altLang="en-US"/>
            </a:p>
          </p:txBody>
        </p:sp>
        <p:sp>
          <p:nvSpPr>
            <p:cNvPr id="15" name="Line 24"/>
            <p:cNvSpPr>
              <a:spLocks noChangeShapeType="1"/>
            </p:cNvSpPr>
            <p:nvPr/>
          </p:nvSpPr>
          <p:spPr bwMode="auto">
            <a:xfrm>
              <a:off x="2109" y="3112"/>
              <a:ext cx="1542" cy="1"/>
            </a:xfrm>
            <a:prstGeom prst="line">
              <a:avLst/>
            </a:prstGeom>
            <a:noFill/>
            <a:ln w="3175">
              <a:solidFill>
                <a:srgbClr val="0000FF"/>
              </a:solidFill>
              <a:round/>
              <a:headEnd type="triangle" w="med" len="med"/>
              <a:tailEnd type="triangle" w="med" len="med"/>
            </a:ln>
            <a:effectLst/>
          </p:spPr>
          <p:txBody>
            <a:bodyPr lIns="92075" tIns="46038" rIns="92075" bIns="46038" anchor="ctr">
              <a:spAutoFit/>
            </a:bodyPr>
            <a:lstStyle/>
            <a:p>
              <a:endParaRPr lang="zh-CN" altLang="en-US"/>
            </a:p>
          </p:txBody>
        </p:sp>
        <p:sp>
          <p:nvSpPr>
            <p:cNvPr id="16" name="Line 25"/>
            <p:cNvSpPr>
              <a:spLocks noChangeShapeType="1"/>
            </p:cNvSpPr>
            <p:nvPr/>
          </p:nvSpPr>
          <p:spPr bwMode="auto">
            <a:xfrm>
              <a:off x="3379" y="1797"/>
              <a:ext cx="635" cy="454"/>
            </a:xfrm>
            <a:prstGeom prst="line">
              <a:avLst/>
            </a:prstGeom>
            <a:noFill/>
            <a:ln w="3175">
              <a:solidFill>
                <a:srgbClr val="0000FF"/>
              </a:solidFill>
              <a:round/>
              <a:headEnd type="triangle" w="med" len="med"/>
              <a:tailEnd type="triangle" w="med" len="med"/>
            </a:ln>
            <a:effectLst/>
          </p:spPr>
          <p:txBody>
            <a:bodyPr lIns="92075" tIns="46038" rIns="92075" bIns="46038" anchor="ctr">
              <a:spAutoFit/>
            </a:bodyPr>
            <a:lstStyle/>
            <a:p>
              <a:endParaRPr lang="zh-CN" altLang="en-US"/>
            </a:p>
          </p:txBody>
        </p:sp>
        <p:sp>
          <p:nvSpPr>
            <p:cNvPr id="17" name="Text Box 26"/>
            <p:cNvSpPr txBox="1">
              <a:spLocks noChangeArrowheads="1"/>
            </p:cNvSpPr>
            <p:nvPr/>
          </p:nvSpPr>
          <p:spPr bwMode="auto">
            <a:xfrm>
              <a:off x="1701" y="1752"/>
              <a:ext cx="589" cy="346"/>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000" b="1" dirty="0">
                  <a:solidFill>
                    <a:srgbClr val="FF3300"/>
                  </a:solidFill>
                  <a:latin typeface="Times New Roman" panose="02020603050405020304" pitchFamily="18" charset="0"/>
                </a:rPr>
                <a:t>消息</a:t>
              </a:r>
              <a:endParaRPr kumimoji="1" lang="zh-CN" altLang="en-US" sz="2000" b="1" dirty="0">
                <a:solidFill>
                  <a:srgbClr val="FF3300"/>
                </a:solidFill>
                <a:latin typeface="Times New Roman" panose="02020603050405020304" pitchFamily="18" charset="0"/>
              </a:endParaRPr>
            </a:p>
          </p:txBody>
        </p:sp>
        <p:sp>
          <p:nvSpPr>
            <p:cNvPr id="18" name="Text Box 27"/>
            <p:cNvSpPr txBox="1">
              <a:spLocks noChangeArrowheads="1"/>
            </p:cNvSpPr>
            <p:nvPr/>
          </p:nvSpPr>
          <p:spPr bwMode="auto">
            <a:xfrm>
              <a:off x="2562" y="2839"/>
              <a:ext cx="589" cy="346"/>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000" b="1">
                  <a:solidFill>
                    <a:srgbClr val="FF3300"/>
                  </a:solidFill>
                  <a:latin typeface="Times New Roman" panose="02020603050405020304" pitchFamily="18" charset="0"/>
                </a:rPr>
                <a:t>消息</a:t>
              </a:r>
              <a:endParaRPr kumimoji="1" lang="zh-CN" altLang="en-US" sz="2000" b="1">
                <a:solidFill>
                  <a:srgbClr val="FF3300"/>
                </a:solidFill>
                <a:latin typeface="Times New Roman" panose="02020603050405020304" pitchFamily="18" charset="0"/>
              </a:endParaRPr>
            </a:p>
          </p:txBody>
        </p:sp>
        <p:sp>
          <p:nvSpPr>
            <p:cNvPr id="19" name="Text Box 28"/>
            <p:cNvSpPr txBox="1">
              <a:spLocks noChangeArrowheads="1"/>
            </p:cNvSpPr>
            <p:nvPr/>
          </p:nvSpPr>
          <p:spPr bwMode="auto">
            <a:xfrm>
              <a:off x="3560" y="1842"/>
              <a:ext cx="589" cy="346"/>
            </a:xfrm>
            <a:prstGeom prst="rect">
              <a:avLst/>
            </a:prstGeom>
            <a:noFill/>
            <a:ln w="3175">
              <a:noFill/>
              <a:miter lim="800000"/>
            </a:ln>
            <a:effectLst/>
          </p:spPr>
          <p:txBody>
            <a:bodyPr lIns="92075" tIns="46038" rIns="92075" bIns="46038">
              <a:spAutoFit/>
            </a:bodyPr>
            <a:lstStyle/>
            <a:p>
              <a:pPr algn="ctr">
                <a:spcBef>
                  <a:spcPct val="50000"/>
                </a:spcBef>
              </a:pPr>
              <a:r>
                <a:rPr kumimoji="1" lang="zh-CN" altLang="en-US" sz="2000" b="1">
                  <a:solidFill>
                    <a:srgbClr val="FF3300"/>
                  </a:solidFill>
                  <a:latin typeface="Times New Roman" panose="02020603050405020304" pitchFamily="18" charset="0"/>
                </a:rPr>
                <a:t>消息</a:t>
              </a:r>
              <a:endParaRPr kumimoji="1" lang="zh-CN" altLang="en-US" sz="2000" b="1">
                <a:solidFill>
                  <a:srgbClr val="FF33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latin typeface="+mn-ea"/>
              </a:rPr>
              <a:t>实例说明</a:t>
            </a:r>
            <a:endParaRPr lang="en-US" altLang="zh-CN" sz="2000" dirty="0" smtClean="0">
              <a:latin typeface="+mn-ea"/>
            </a:endParaRPr>
          </a:p>
          <a:p>
            <a:pPr eaLnBrk="1" hangingPunct="1">
              <a:lnSpc>
                <a:spcPct val="80000"/>
              </a:lnSpc>
              <a:buFont typeface="Wingdings" panose="05000000000000000000" pitchFamily="2" charset="2"/>
              <a:buNone/>
              <a:defRPr/>
            </a:pPr>
            <a:r>
              <a:rPr lang="zh-CN" altLang="en-US" sz="1800" dirty="0" smtClean="0">
                <a:latin typeface="+mn-ea"/>
              </a:rPr>
              <a:t>（</a:t>
            </a:r>
            <a:r>
              <a:rPr lang="en-US" altLang="zh-CN" sz="1800" dirty="0" smtClean="0">
                <a:latin typeface="+mn-ea"/>
              </a:rPr>
              <a:t>1</a:t>
            </a:r>
            <a:r>
              <a:rPr lang="zh-CN" altLang="en-US" sz="1800" dirty="0" smtClean="0">
                <a:latin typeface="+mn-ea"/>
              </a:rPr>
              <a:t>）对象就是我们周围的各种各样的事物。</a:t>
            </a:r>
            <a:endParaRPr lang="zh-CN" altLang="en-US" sz="1800" dirty="0" smtClean="0">
              <a:latin typeface="+mn-ea"/>
            </a:endParaRPr>
          </a:p>
          <a:p>
            <a:pPr eaLnBrk="1" hangingPunct="1">
              <a:lnSpc>
                <a:spcPct val="80000"/>
              </a:lnSpc>
              <a:buFont typeface="Wingdings" panose="05000000000000000000" pitchFamily="2" charset="2"/>
              <a:buNone/>
              <a:defRPr/>
            </a:pPr>
            <a:r>
              <a:rPr lang="zh-CN" altLang="en-US" sz="1800" dirty="0" smtClean="0">
                <a:latin typeface="+mn-ea"/>
              </a:rPr>
              <a:t>例如：</a:t>
            </a:r>
            <a:endParaRPr lang="zh-CN" altLang="en-US" sz="1800" dirty="0" smtClean="0">
              <a:latin typeface="+mn-ea"/>
            </a:endParaRPr>
          </a:p>
          <a:p>
            <a:pPr eaLnBrk="1" hangingPunct="1">
              <a:lnSpc>
                <a:spcPct val="80000"/>
              </a:lnSpc>
              <a:buFont typeface="Wingdings" panose="05000000000000000000" pitchFamily="2" charset="2"/>
              <a:buNone/>
              <a:defRPr/>
            </a:pPr>
            <a:r>
              <a:rPr lang="zh-CN" altLang="en-US" sz="1800" dirty="0" smtClean="0">
                <a:latin typeface="+mn-ea"/>
              </a:rPr>
              <a:t>        衣服、盘子、宠物、朋友、电脑等。</a:t>
            </a:r>
            <a:endParaRPr lang="en-US" altLang="zh-CN" sz="1800" dirty="0" smtClean="0">
              <a:latin typeface="+mn-ea"/>
            </a:endParaRPr>
          </a:p>
          <a:p>
            <a:pPr eaLnBrk="1" hangingPunct="1">
              <a:lnSpc>
                <a:spcPct val="80000"/>
              </a:lnSpc>
              <a:buFont typeface="Wingdings" panose="05000000000000000000" pitchFamily="2" charset="2"/>
              <a:buNone/>
              <a:defRPr/>
            </a:pPr>
            <a:endParaRPr lang="zh-CN" altLang="en-US" sz="1800" dirty="0" smtClean="0">
              <a:latin typeface="+mn-ea"/>
            </a:endParaRPr>
          </a:p>
          <a:p>
            <a:pPr eaLnBrk="1" hangingPunct="1">
              <a:lnSpc>
                <a:spcPct val="80000"/>
              </a:lnSpc>
              <a:buFont typeface="Wingdings" panose="05000000000000000000" pitchFamily="2" charset="2"/>
              <a:buNone/>
              <a:defRPr/>
            </a:pPr>
            <a:r>
              <a:rPr lang="zh-CN" altLang="en-US" sz="1800" dirty="0" smtClean="0">
                <a:latin typeface="+mn-ea"/>
              </a:rPr>
              <a:t>（</a:t>
            </a:r>
            <a:r>
              <a:rPr lang="en-US" altLang="zh-CN" sz="1800" dirty="0" smtClean="0">
                <a:latin typeface="+mn-ea"/>
              </a:rPr>
              <a:t>2</a:t>
            </a:r>
            <a:r>
              <a:rPr lang="zh-CN" altLang="en-US" sz="1800" dirty="0" smtClean="0">
                <a:latin typeface="+mn-ea"/>
              </a:rPr>
              <a:t>）每个对象都有一些状态（属性）。</a:t>
            </a:r>
            <a:endParaRPr lang="zh-CN" altLang="en-US" sz="1800" dirty="0" smtClean="0">
              <a:latin typeface="+mn-ea"/>
            </a:endParaRPr>
          </a:p>
          <a:p>
            <a:pPr eaLnBrk="1" hangingPunct="1">
              <a:lnSpc>
                <a:spcPct val="80000"/>
              </a:lnSpc>
              <a:buFontTx/>
              <a:buNone/>
              <a:defRPr/>
            </a:pPr>
            <a:r>
              <a:rPr lang="zh-CN" altLang="en-US" sz="1800" dirty="0" smtClean="0">
                <a:latin typeface="+mn-ea"/>
              </a:rPr>
              <a:t>例如：</a:t>
            </a:r>
            <a:endParaRPr lang="zh-CN" altLang="en-US" sz="1800" dirty="0" smtClean="0">
              <a:latin typeface="+mn-ea"/>
            </a:endParaRPr>
          </a:p>
          <a:p>
            <a:pPr eaLnBrk="1" hangingPunct="1">
              <a:lnSpc>
                <a:spcPct val="80000"/>
              </a:lnSpc>
              <a:buFontTx/>
              <a:buNone/>
              <a:defRPr/>
            </a:pPr>
            <a:r>
              <a:rPr lang="zh-CN" altLang="en-US" sz="1800" dirty="0" smtClean="0">
                <a:latin typeface="+mn-ea"/>
              </a:rPr>
              <a:t>		衣服：</a:t>
            </a:r>
            <a:r>
              <a:rPr lang="en-US" altLang="zh-CN" sz="1800" dirty="0" smtClean="0">
                <a:latin typeface="+mn-ea"/>
              </a:rPr>
              <a:t>{</a:t>
            </a:r>
            <a:r>
              <a:rPr lang="zh-CN" altLang="en-US" sz="1800" dirty="0" smtClean="0">
                <a:latin typeface="+mn-ea"/>
              </a:rPr>
              <a:t>颜色，长度，面料</a:t>
            </a:r>
            <a:r>
              <a:rPr lang="en-US" altLang="zh-CN" sz="1800" dirty="0" smtClean="0">
                <a:latin typeface="+mn-ea"/>
              </a:rPr>
              <a:t>…}</a:t>
            </a:r>
            <a:r>
              <a:rPr lang="zh-CN" altLang="en-US" sz="1800" dirty="0" smtClean="0">
                <a:latin typeface="+mn-ea"/>
              </a:rPr>
              <a:t>。</a:t>
            </a:r>
            <a:endParaRPr lang="zh-CN" altLang="en-US" sz="1800" dirty="0" smtClean="0">
              <a:latin typeface="+mn-ea"/>
            </a:endParaRPr>
          </a:p>
          <a:p>
            <a:pPr eaLnBrk="1" hangingPunct="1">
              <a:lnSpc>
                <a:spcPct val="80000"/>
              </a:lnSpc>
              <a:buFontTx/>
              <a:buNone/>
              <a:defRPr/>
            </a:pPr>
            <a:r>
              <a:rPr lang="zh-CN" altLang="en-US" sz="1800" dirty="0" smtClean="0">
                <a:latin typeface="+mn-ea"/>
              </a:rPr>
              <a:t>		猫：   </a:t>
            </a:r>
            <a:r>
              <a:rPr lang="en-US" altLang="zh-CN" sz="1800" dirty="0" smtClean="0">
                <a:latin typeface="+mn-ea"/>
              </a:rPr>
              <a:t>{</a:t>
            </a:r>
            <a:r>
              <a:rPr lang="zh-CN" altLang="en-US" sz="1800" dirty="0" smtClean="0">
                <a:latin typeface="+mn-ea"/>
              </a:rPr>
              <a:t>名字，情绪，饥饿，</a:t>
            </a:r>
            <a:r>
              <a:rPr lang="en-US" altLang="zh-CN" sz="1800" dirty="0" smtClean="0">
                <a:latin typeface="+mn-ea"/>
              </a:rPr>
              <a:t>}</a:t>
            </a:r>
            <a:r>
              <a:rPr lang="zh-CN" altLang="en-US" sz="1800" dirty="0" smtClean="0">
                <a:latin typeface="+mn-ea"/>
              </a:rPr>
              <a:t>。</a:t>
            </a:r>
            <a:endParaRPr lang="en-US" altLang="zh-CN" sz="1800" dirty="0" smtClean="0">
              <a:latin typeface="+mn-ea"/>
            </a:endParaRPr>
          </a:p>
          <a:p>
            <a:pPr eaLnBrk="1" hangingPunct="1">
              <a:lnSpc>
                <a:spcPct val="80000"/>
              </a:lnSpc>
              <a:buFontTx/>
              <a:buNone/>
              <a:defRPr/>
            </a:pPr>
            <a:endParaRPr lang="zh-CN" altLang="en-US" sz="1800" dirty="0" smtClean="0">
              <a:latin typeface="+mn-ea"/>
            </a:endParaRPr>
          </a:p>
          <a:p>
            <a:pPr eaLnBrk="1" hangingPunct="1">
              <a:lnSpc>
                <a:spcPct val="80000"/>
              </a:lnSpc>
              <a:buFont typeface="Wingdings" panose="05000000000000000000" pitchFamily="2" charset="2"/>
              <a:buNone/>
              <a:defRPr/>
            </a:pPr>
            <a:r>
              <a:rPr lang="zh-CN" altLang="en-US" sz="1800" dirty="0" smtClean="0">
                <a:latin typeface="+mn-ea"/>
              </a:rPr>
              <a:t>（</a:t>
            </a:r>
            <a:r>
              <a:rPr lang="en-US" altLang="zh-CN" sz="1800" dirty="0" smtClean="0">
                <a:latin typeface="+mn-ea"/>
              </a:rPr>
              <a:t>3</a:t>
            </a:r>
            <a:r>
              <a:rPr lang="zh-CN" altLang="en-US" sz="1800" dirty="0" smtClean="0">
                <a:latin typeface="+mn-ea"/>
              </a:rPr>
              <a:t>）有些对象会作出一些行为。</a:t>
            </a:r>
            <a:endParaRPr lang="zh-CN" altLang="en-US" sz="1800" dirty="0" smtClean="0">
              <a:latin typeface="+mn-ea"/>
            </a:endParaRPr>
          </a:p>
          <a:p>
            <a:pPr eaLnBrk="1" hangingPunct="1">
              <a:lnSpc>
                <a:spcPct val="80000"/>
              </a:lnSpc>
              <a:buFontTx/>
              <a:buNone/>
              <a:defRPr/>
            </a:pPr>
            <a:r>
              <a:rPr lang="zh-CN" altLang="en-US" sz="1800" dirty="0" smtClean="0">
                <a:latin typeface="+mn-ea"/>
              </a:rPr>
              <a:t>例如：</a:t>
            </a:r>
            <a:endParaRPr lang="zh-CN" altLang="en-US" sz="1800" dirty="0" smtClean="0">
              <a:latin typeface="+mn-ea"/>
            </a:endParaRPr>
          </a:p>
          <a:p>
            <a:pPr eaLnBrk="1" hangingPunct="1">
              <a:lnSpc>
                <a:spcPct val="80000"/>
              </a:lnSpc>
              <a:buFontTx/>
              <a:buNone/>
              <a:defRPr/>
            </a:pPr>
            <a:r>
              <a:rPr lang="zh-CN" altLang="en-US" sz="1800" dirty="0" smtClean="0">
                <a:latin typeface="+mn-ea"/>
              </a:rPr>
              <a:t>		猫：</a:t>
            </a:r>
            <a:r>
              <a:rPr lang="en-US" altLang="zh-CN" sz="1800" dirty="0" smtClean="0">
                <a:latin typeface="+mn-ea"/>
              </a:rPr>
              <a:t>{</a:t>
            </a:r>
            <a:r>
              <a:rPr lang="zh-CN" altLang="en-US" sz="1800" dirty="0" smtClean="0">
                <a:latin typeface="+mn-ea"/>
              </a:rPr>
              <a:t>发怒，玩，吃，睡</a:t>
            </a:r>
            <a:r>
              <a:rPr lang="en-US" altLang="zh-CN" sz="1800" dirty="0" smtClean="0">
                <a:latin typeface="+mn-ea"/>
              </a:rPr>
              <a:t>…}</a:t>
            </a:r>
            <a:r>
              <a:rPr lang="zh-CN" altLang="en-US" sz="1800" dirty="0" smtClean="0">
                <a:latin typeface="+mn-ea"/>
              </a:rPr>
              <a:t>。</a:t>
            </a:r>
            <a:endParaRPr lang="zh-CN" altLang="en-US" sz="1800" dirty="0" smtClean="0">
              <a:latin typeface="+mn-ea"/>
            </a:endParaRPr>
          </a:p>
          <a:p>
            <a:pPr eaLnBrk="1" hangingPunct="1">
              <a:lnSpc>
                <a:spcPct val="125000"/>
              </a:lnSpc>
            </a:pPr>
            <a:endParaRPr lang="zh-CN" altLang="en-US" sz="1800" dirty="0" smtClean="0">
              <a:latin typeface="+mn-ea"/>
            </a:endParaRPr>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5072098"/>
          </a:xfrm>
        </p:spPr>
        <p:txBody>
          <a:bodyPr/>
          <a:lstStyle/>
          <a:p>
            <a:pPr eaLnBrk="1" hangingPunct="1">
              <a:lnSpc>
                <a:spcPct val="125000"/>
              </a:lnSpc>
            </a:pPr>
            <a:r>
              <a:rPr lang="zh-CN" altLang="en-US" sz="2000" dirty="0" smtClean="0">
                <a:latin typeface="+mn-ea"/>
              </a:rPr>
              <a:t>实例说明</a:t>
            </a:r>
            <a:endParaRPr lang="en-US" altLang="zh-CN" sz="2000" dirty="0" smtClean="0">
              <a:latin typeface="+mn-ea"/>
            </a:endParaRPr>
          </a:p>
          <a:p>
            <a:pPr eaLnBrk="1" hangingPunct="1">
              <a:lnSpc>
                <a:spcPts val="2800"/>
              </a:lnSpc>
              <a:spcBef>
                <a:spcPts val="0"/>
              </a:spcBef>
              <a:buFont typeface="Wingdings" panose="05000000000000000000" pitchFamily="2" charset="2"/>
              <a:buNone/>
            </a:pPr>
            <a:r>
              <a:rPr lang="zh-CN" altLang="en-US" sz="1800" dirty="0" smtClean="0">
                <a:latin typeface="+mn-ea"/>
              </a:rPr>
              <a:t>（</a:t>
            </a:r>
            <a:r>
              <a:rPr lang="en-US" altLang="zh-CN" sz="1800" dirty="0" smtClean="0">
                <a:latin typeface="+mn-ea"/>
              </a:rPr>
              <a:t>4</a:t>
            </a:r>
            <a:r>
              <a:rPr lang="zh-CN" altLang="en-US" sz="1800" dirty="0" smtClean="0">
                <a:latin typeface="+mn-ea"/>
              </a:rPr>
              <a:t>）对象的行为会改变对象的状态。</a:t>
            </a:r>
            <a:endParaRPr lang="zh-CN" altLang="en-US" sz="1800" dirty="0" smtClean="0">
              <a:latin typeface="+mn-ea"/>
            </a:endParaRPr>
          </a:p>
          <a:p>
            <a:pPr eaLnBrk="1" hangingPunct="1">
              <a:lnSpc>
                <a:spcPts val="2800"/>
              </a:lnSpc>
              <a:spcBef>
                <a:spcPts val="0"/>
              </a:spcBef>
              <a:buFont typeface="Wingdings" panose="05000000000000000000" pitchFamily="2" charset="2"/>
              <a:buNone/>
            </a:pPr>
            <a:r>
              <a:rPr lang="zh-CN" altLang="en-US" sz="1800" dirty="0" smtClean="0">
                <a:latin typeface="+mn-ea"/>
              </a:rPr>
              <a:t> 例如：</a:t>
            </a:r>
            <a:r>
              <a:rPr lang="en-US" altLang="zh-CN" sz="1800" dirty="0" smtClean="0">
                <a:latin typeface="+mn-ea"/>
              </a:rPr>
              <a:t>		</a:t>
            </a:r>
            <a:r>
              <a:rPr lang="zh-CN" altLang="en-US" sz="1800" dirty="0" smtClean="0">
                <a:latin typeface="+mn-ea"/>
              </a:rPr>
              <a:t>玩 → 疲劳</a:t>
            </a:r>
            <a:r>
              <a:rPr lang="en-US" altLang="zh-CN" sz="1800" dirty="0" smtClean="0">
                <a:latin typeface="+mn-ea"/>
              </a:rPr>
              <a:t>=True</a:t>
            </a:r>
            <a:endParaRPr lang="en-US" altLang="zh-CN" sz="1800" dirty="0" smtClean="0">
              <a:latin typeface="+mn-ea"/>
            </a:endParaRPr>
          </a:p>
          <a:p>
            <a:pPr eaLnBrk="1" hangingPunct="1">
              <a:lnSpc>
                <a:spcPts val="2800"/>
              </a:lnSpc>
              <a:spcBef>
                <a:spcPts val="0"/>
              </a:spcBef>
              <a:buFont typeface="Wingdings" panose="05000000000000000000" pitchFamily="2" charset="2"/>
              <a:buNone/>
            </a:pPr>
            <a:r>
              <a:rPr lang="en-US" altLang="zh-CN" sz="1800" dirty="0" smtClean="0">
                <a:latin typeface="+mn-ea"/>
              </a:rPr>
              <a:t>               </a:t>
            </a:r>
            <a:r>
              <a:rPr lang="zh-CN" altLang="en-US" sz="1800" dirty="0" smtClean="0">
                <a:latin typeface="+mn-ea"/>
              </a:rPr>
              <a:t>睡 → 疲劳</a:t>
            </a:r>
            <a:r>
              <a:rPr lang="en-US" altLang="zh-CN" sz="1800" dirty="0" smtClean="0">
                <a:latin typeface="+mn-ea"/>
              </a:rPr>
              <a:t>=False</a:t>
            </a:r>
            <a:endParaRPr lang="en-US" altLang="zh-CN" sz="1800" dirty="0" smtClean="0">
              <a:latin typeface="+mn-ea"/>
            </a:endParaRPr>
          </a:p>
          <a:p>
            <a:pPr eaLnBrk="1" hangingPunct="1">
              <a:lnSpc>
                <a:spcPts val="2800"/>
              </a:lnSpc>
              <a:spcBef>
                <a:spcPts val="0"/>
              </a:spcBef>
              <a:buFont typeface="Wingdings" panose="05000000000000000000" pitchFamily="2" charset="2"/>
              <a:buNone/>
            </a:pPr>
            <a:r>
              <a:rPr lang="en-US" altLang="zh-CN" sz="1800" dirty="0" smtClean="0">
                <a:latin typeface="+mn-ea"/>
              </a:rPr>
              <a:t>               </a:t>
            </a:r>
            <a:r>
              <a:rPr lang="zh-CN" altLang="en-US" sz="1800" dirty="0" smtClean="0">
                <a:latin typeface="+mn-ea"/>
              </a:rPr>
              <a:t>吃 → 饥饿</a:t>
            </a:r>
            <a:r>
              <a:rPr lang="en-US" altLang="zh-CN" sz="1800" dirty="0" smtClean="0">
                <a:latin typeface="+mn-ea"/>
              </a:rPr>
              <a:t>=False</a:t>
            </a:r>
            <a:endParaRPr lang="en-US" altLang="zh-CN" sz="1800" dirty="0" smtClean="0">
              <a:latin typeface="+mn-ea"/>
            </a:endParaRPr>
          </a:p>
          <a:p>
            <a:pPr eaLnBrk="1" hangingPunct="1">
              <a:lnSpc>
                <a:spcPts val="2800"/>
              </a:lnSpc>
              <a:spcBef>
                <a:spcPts val="0"/>
              </a:spcBef>
              <a:buFont typeface="Wingdings" panose="05000000000000000000" pitchFamily="2" charset="2"/>
              <a:buNone/>
            </a:pPr>
            <a:r>
              <a:rPr lang="zh-CN" altLang="en-US" sz="1800" dirty="0" smtClean="0">
                <a:latin typeface="+mn-ea"/>
              </a:rPr>
              <a:t>（</a:t>
            </a:r>
            <a:r>
              <a:rPr lang="en-US" altLang="zh-CN" sz="1800" dirty="0" smtClean="0">
                <a:latin typeface="+mn-ea"/>
              </a:rPr>
              <a:t>5</a:t>
            </a:r>
            <a:r>
              <a:rPr lang="zh-CN" altLang="en-US" sz="1800" dirty="0" smtClean="0">
                <a:latin typeface="+mn-ea"/>
              </a:rPr>
              <a:t>）对象的状态会影响对象的行为。</a:t>
            </a:r>
            <a:endParaRPr lang="zh-CN" altLang="en-US" sz="1800" dirty="0" smtClean="0">
              <a:latin typeface="+mn-ea"/>
            </a:endParaRPr>
          </a:p>
          <a:p>
            <a:pPr eaLnBrk="1" hangingPunct="1">
              <a:lnSpc>
                <a:spcPts val="2800"/>
              </a:lnSpc>
              <a:spcBef>
                <a:spcPts val="0"/>
              </a:spcBef>
              <a:buFont typeface="Wingdings" panose="05000000000000000000" pitchFamily="2" charset="2"/>
              <a:buNone/>
            </a:pPr>
            <a:r>
              <a:rPr lang="zh-CN" altLang="en-US" sz="1800" dirty="0" smtClean="0">
                <a:latin typeface="+mn-ea"/>
              </a:rPr>
              <a:t>例如：</a:t>
            </a:r>
            <a:r>
              <a:rPr lang="en-US" altLang="zh-CN" sz="1800" dirty="0" smtClean="0">
                <a:latin typeface="+mn-ea"/>
              </a:rPr>
              <a:t>if( </a:t>
            </a:r>
            <a:r>
              <a:rPr lang="zh-CN" altLang="en-US" sz="1800" dirty="0" smtClean="0">
                <a:latin typeface="+mn-ea"/>
              </a:rPr>
              <a:t>饥饿 </a:t>
            </a:r>
            <a:r>
              <a:rPr lang="en-US" altLang="zh-CN" sz="1800" dirty="0" smtClean="0">
                <a:latin typeface="+mn-ea"/>
              </a:rPr>
              <a:t>== False) → </a:t>
            </a:r>
            <a:r>
              <a:rPr lang="zh-CN" altLang="en-US" sz="1800" dirty="0" smtClean="0">
                <a:latin typeface="+mn-ea"/>
              </a:rPr>
              <a:t>吃 </a:t>
            </a:r>
            <a:r>
              <a:rPr lang="en-US" altLang="zh-CN" sz="1800" dirty="0" smtClean="0">
                <a:latin typeface="+mn-ea"/>
              </a:rPr>
              <a:t>return failure</a:t>
            </a:r>
            <a:endParaRPr lang="en-US" altLang="zh-CN" sz="1800" dirty="0" smtClean="0">
              <a:latin typeface="+mn-ea"/>
            </a:endParaRPr>
          </a:p>
          <a:p>
            <a:pPr eaLnBrk="1" hangingPunct="1">
              <a:lnSpc>
                <a:spcPct val="80000"/>
              </a:lnSpc>
              <a:buFontTx/>
              <a:buNone/>
              <a:defRPr/>
            </a:pPr>
            <a:endParaRPr lang="zh-CN" altLang="en-US" sz="1800" dirty="0" smtClean="0">
              <a:latin typeface="+mn-ea"/>
            </a:endParaRPr>
          </a:p>
          <a:p>
            <a:pPr eaLnBrk="1" hangingPunct="1">
              <a:lnSpc>
                <a:spcPct val="125000"/>
              </a:lnSpc>
            </a:pPr>
            <a:endParaRPr lang="zh-CN" altLang="en-US" sz="1800" dirty="0" smtClean="0">
              <a:latin typeface="+mn-ea"/>
            </a:endParaRPr>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面向对象的程序设计与我们人类观察客观事物的模式相同：</a:t>
            </a:r>
            <a:endParaRPr lang="en-US" altLang="zh-CN" sz="2000" dirty="0" smtClean="0"/>
          </a:p>
          <a:p>
            <a:pPr lvl="1">
              <a:lnSpc>
                <a:spcPct val="125000"/>
              </a:lnSpc>
            </a:pPr>
            <a:r>
              <a:rPr lang="zh-CN" altLang="en-US" sz="1800" dirty="0" smtClean="0"/>
              <a:t>用</a:t>
            </a:r>
            <a:r>
              <a:rPr lang="zh-CN" altLang="en-US" sz="1800" dirty="0" smtClean="0">
                <a:solidFill>
                  <a:srgbClr val="FF0000"/>
                </a:solidFill>
              </a:rPr>
              <a:t>类</a:t>
            </a:r>
            <a:r>
              <a:rPr lang="zh-CN" altLang="en-US" sz="1800" dirty="0" smtClean="0"/>
              <a:t>表示</a:t>
            </a:r>
            <a:r>
              <a:rPr lang="zh-CN" altLang="en-US" sz="1800" dirty="0" smtClean="0">
                <a:solidFill>
                  <a:srgbClr val="FF0000"/>
                </a:solidFill>
              </a:rPr>
              <a:t>客观事物</a:t>
            </a:r>
            <a:endParaRPr lang="en-US" altLang="zh-CN" sz="1800" dirty="0" smtClean="0">
              <a:solidFill>
                <a:srgbClr val="FF0000"/>
              </a:solidFill>
            </a:endParaRPr>
          </a:p>
          <a:p>
            <a:pPr lvl="1">
              <a:lnSpc>
                <a:spcPct val="125000"/>
              </a:lnSpc>
            </a:pPr>
            <a:r>
              <a:rPr lang="zh-CN" altLang="en-US" sz="1800" dirty="0" smtClean="0"/>
              <a:t>用类中的</a:t>
            </a:r>
            <a:r>
              <a:rPr lang="zh-CN" altLang="en-US" sz="1800" dirty="0" smtClean="0">
                <a:solidFill>
                  <a:srgbClr val="FF0000"/>
                </a:solidFill>
              </a:rPr>
              <a:t>变量</a:t>
            </a:r>
            <a:r>
              <a:rPr lang="zh-CN" altLang="en-US" sz="1800" dirty="0" smtClean="0"/>
              <a:t>表示事物的</a:t>
            </a:r>
            <a:r>
              <a:rPr lang="zh-CN" altLang="en-US" sz="1800" dirty="0" smtClean="0">
                <a:solidFill>
                  <a:srgbClr val="FF0000"/>
                </a:solidFill>
              </a:rPr>
              <a:t>属性</a:t>
            </a:r>
            <a:endParaRPr lang="en-US" altLang="zh-CN" sz="1800" dirty="0" smtClean="0">
              <a:solidFill>
                <a:srgbClr val="FF0000"/>
              </a:solidFill>
            </a:endParaRPr>
          </a:p>
          <a:p>
            <a:pPr lvl="1">
              <a:lnSpc>
                <a:spcPct val="125000"/>
              </a:lnSpc>
            </a:pPr>
            <a:r>
              <a:rPr lang="zh-CN" altLang="en-US" sz="1800" dirty="0" smtClean="0"/>
              <a:t>用</a:t>
            </a:r>
            <a:r>
              <a:rPr lang="zh-CN" altLang="en-US" sz="1800" dirty="0" smtClean="0">
                <a:solidFill>
                  <a:srgbClr val="FF0000"/>
                </a:solidFill>
              </a:rPr>
              <a:t>函数</a:t>
            </a:r>
            <a:r>
              <a:rPr lang="zh-CN" altLang="en-US" sz="1800" dirty="0" smtClean="0"/>
              <a:t>表示事物的</a:t>
            </a:r>
            <a:r>
              <a:rPr lang="zh-CN" altLang="en-US" sz="1800" dirty="0" smtClean="0">
                <a:solidFill>
                  <a:srgbClr val="FF0000"/>
                </a:solidFill>
              </a:rPr>
              <a:t>行为</a:t>
            </a:r>
            <a:endParaRPr lang="en-US" altLang="zh-CN" sz="1800" dirty="0" smtClean="0">
              <a:solidFill>
                <a:srgbClr val="FF0000"/>
              </a:solidFill>
            </a:endParaRPr>
          </a:p>
          <a:p>
            <a:pPr lvl="1">
              <a:lnSpc>
                <a:spcPct val="125000"/>
              </a:lnSpc>
            </a:pPr>
            <a:r>
              <a:rPr lang="zh-CN" altLang="en-US" sz="1800" dirty="0" smtClean="0">
                <a:solidFill>
                  <a:srgbClr val="FF0000"/>
                </a:solidFill>
              </a:rPr>
              <a:t>属性</a:t>
            </a:r>
            <a:r>
              <a:rPr lang="zh-CN" altLang="en-US" sz="1800" dirty="0" smtClean="0"/>
              <a:t>与</a:t>
            </a:r>
            <a:r>
              <a:rPr lang="zh-CN" altLang="en-US" sz="1800" dirty="0" smtClean="0">
                <a:solidFill>
                  <a:srgbClr val="FF0000"/>
                </a:solidFill>
              </a:rPr>
              <a:t>行为</a:t>
            </a:r>
            <a:r>
              <a:rPr lang="zh-CN" altLang="en-US" sz="1800" dirty="0" smtClean="0"/>
              <a:t>相互作用。</a:t>
            </a:r>
            <a:endParaRPr lang="en-US" altLang="zh-CN" sz="1800" dirty="0" smtClean="0"/>
          </a:p>
          <a:p>
            <a:pPr eaLnBrk="1" hangingPunct="1">
              <a:lnSpc>
                <a:spcPct val="125000"/>
              </a:lnSpc>
            </a:pPr>
            <a:r>
              <a:rPr lang="zh-CN" altLang="en-US" sz="2000" dirty="0" smtClean="0">
                <a:latin typeface="+mn-ea"/>
              </a:rPr>
              <a:t>面向对象的基本概念</a:t>
            </a:r>
            <a:endParaRPr lang="zh-CN" altLang="en-US" sz="2000" dirty="0" smtClean="0"/>
          </a:p>
          <a:p>
            <a:pPr lvl="1">
              <a:lnSpc>
                <a:spcPct val="125000"/>
              </a:lnSpc>
            </a:pPr>
            <a:r>
              <a:rPr lang="zh-CN" altLang="en-US" dirty="0" smtClean="0"/>
              <a:t>类</a:t>
            </a:r>
            <a:r>
              <a:rPr lang="en-US" altLang="zh-CN" dirty="0" smtClean="0"/>
              <a:t>\</a:t>
            </a:r>
            <a:r>
              <a:rPr lang="zh-CN" altLang="en-US" dirty="0" smtClean="0"/>
              <a:t>对象</a:t>
            </a:r>
            <a:r>
              <a:rPr lang="en-US" altLang="zh-CN" dirty="0" smtClean="0"/>
              <a:t>\</a:t>
            </a:r>
            <a:r>
              <a:rPr lang="zh-CN" altLang="en-US" dirty="0" smtClean="0"/>
              <a:t>实例</a:t>
            </a:r>
            <a:endParaRPr lang="en-US" altLang="zh-CN" dirty="0" smtClean="0"/>
          </a:p>
          <a:p>
            <a:pPr lvl="1">
              <a:lnSpc>
                <a:spcPct val="125000"/>
              </a:lnSpc>
            </a:pPr>
            <a:r>
              <a:rPr lang="zh-CN" altLang="en-US" dirty="0" smtClean="0"/>
              <a:t>消息</a:t>
            </a:r>
            <a:endParaRPr lang="en-US" altLang="zh-CN" dirty="0" smtClean="0"/>
          </a:p>
          <a:p>
            <a:pPr lvl="1">
              <a:lnSpc>
                <a:spcPct val="125000"/>
              </a:lnSpc>
            </a:pPr>
            <a:r>
              <a:rPr lang="zh-CN" altLang="en-US" dirty="0" smtClean="0"/>
              <a:t>封装</a:t>
            </a:r>
            <a:endParaRPr lang="en-US" altLang="zh-CN" dirty="0" smtClean="0"/>
          </a:p>
          <a:p>
            <a:pPr lvl="1">
              <a:lnSpc>
                <a:spcPct val="125000"/>
              </a:lnSpc>
            </a:pPr>
            <a:r>
              <a:rPr lang="zh-CN" altLang="en-US" dirty="0" smtClean="0"/>
              <a:t>继承</a:t>
            </a:r>
            <a:endParaRPr lang="en-US" altLang="zh-CN" dirty="0" smtClean="0"/>
          </a:p>
          <a:p>
            <a:pPr lvl="1">
              <a:lnSpc>
                <a:spcPct val="125000"/>
              </a:lnSpc>
            </a:pPr>
            <a:r>
              <a:rPr lang="zh-CN" altLang="en-US" dirty="0" smtClean="0"/>
              <a:t>多态性</a:t>
            </a:r>
            <a:endParaRPr lang="zh-CN" altLang="en-US" sz="2800" dirty="0" smtClean="0"/>
          </a:p>
          <a:p>
            <a:pPr lvl="1">
              <a:lnSpc>
                <a:spcPct val="125000"/>
              </a:lnSpc>
            </a:pPr>
            <a:endParaRPr lang="zh-CN" altLang="en-US" sz="1800" dirty="0" smtClean="0">
              <a:latin typeface="+mn-ea"/>
            </a:endParaRPr>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例子</a:t>
            </a:r>
            <a:r>
              <a:rPr lang="en-US" altLang="zh-CN" sz="2000" dirty="0" smtClean="0"/>
              <a:t>1</a:t>
            </a:r>
            <a:r>
              <a:rPr lang="zh-CN" altLang="en-US" sz="2000" dirty="0" smtClean="0"/>
              <a:t>：关于</a:t>
            </a:r>
            <a:r>
              <a:rPr lang="zh-CN" altLang="en-US" sz="2000" dirty="0" smtClean="0">
                <a:latin typeface="Times New Roman" panose="02020603050405020304" pitchFamily="18" charset="0"/>
              </a:rPr>
              <a:t>“</a:t>
            </a:r>
            <a:r>
              <a:rPr lang="zh-CN" altLang="en-US" sz="2000" dirty="0" smtClean="0"/>
              <a:t>大学生</a:t>
            </a:r>
            <a:r>
              <a:rPr lang="zh-CN" altLang="en-US" sz="2000" dirty="0" smtClean="0">
                <a:latin typeface="Times New Roman" panose="02020603050405020304" pitchFamily="18" charset="0"/>
              </a:rPr>
              <a:t>”</a:t>
            </a:r>
            <a:r>
              <a:rPr lang="zh-CN" altLang="en-US" sz="2000" dirty="0" smtClean="0"/>
              <a:t>的有关说明</a:t>
            </a:r>
            <a:endParaRPr lang="en-US" altLang="zh-CN" sz="2000" dirty="0" smtClean="0">
              <a:latin typeface="+mn-ea"/>
            </a:endParaRPr>
          </a:p>
          <a:p>
            <a:pPr lvl="1">
              <a:lnSpc>
                <a:spcPct val="125000"/>
              </a:lnSpc>
            </a:pPr>
            <a:r>
              <a:rPr lang="zh-CN" altLang="en-US" dirty="0" smtClean="0"/>
              <a:t>描述学生特征的信息（属性）</a:t>
            </a:r>
            <a:r>
              <a:rPr lang="en-US" altLang="zh-CN" dirty="0" smtClean="0"/>
              <a:t>:     </a:t>
            </a:r>
            <a:r>
              <a:rPr lang="zh-CN" altLang="en-US" dirty="0" smtClean="0"/>
              <a:t>姓名，学号，专业，年龄，性别</a:t>
            </a:r>
            <a:endParaRPr lang="en-US" altLang="zh-CN" dirty="0" smtClean="0"/>
          </a:p>
          <a:p>
            <a:pPr lvl="1">
              <a:lnSpc>
                <a:spcPct val="125000"/>
              </a:lnSpc>
            </a:pPr>
            <a:r>
              <a:rPr lang="zh-CN" altLang="en-US" dirty="0" smtClean="0"/>
              <a:t>描述行为的信息（函数）</a:t>
            </a:r>
            <a:r>
              <a:rPr lang="en-US" altLang="zh-CN" dirty="0" smtClean="0"/>
              <a:t>:   </a:t>
            </a:r>
            <a:r>
              <a:rPr lang="zh-CN" altLang="en-US" dirty="0" smtClean="0"/>
              <a:t>一个学生主要是学习，如果学习主要的行为就是： 读；写</a:t>
            </a:r>
            <a:endParaRPr lang="en-US" altLang="zh-CN" dirty="0" smtClean="0"/>
          </a:p>
          <a:p>
            <a:pPr lvl="2">
              <a:lnSpc>
                <a:spcPct val="125000"/>
              </a:lnSpc>
            </a:pPr>
            <a:r>
              <a:rPr lang="zh-CN" altLang="en-US" dirty="0" smtClean="0"/>
              <a:t>对于读</a:t>
            </a:r>
            <a:r>
              <a:rPr lang="en-US" altLang="zh-CN" dirty="0" smtClean="0"/>
              <a:t>,</a:t>
            </a:r>
            <a:r>
              <a:rPr lang="zh-CN" altLang="en-US" dirty="0" smtClean="0"/>
              <a:t>要指明读的什么书，读书所获得的内容是什么？但这里不能用一具体的书名</a:t>
            </a:r>
            <a:endParaRPr lang="en-US" altLang="zh-CN" dirty="0" smtClean="0"/>
          </a:p>
          <a:p>
            <a:pPr lvl="2">
              <a:lnSpc>
                <a:spcPct val="125000"/>
              </a:lnSpc>
            </a:pPr>
            <a:r>
              <a:rPr lang="zh-CN" altLang="en-US" dirty="0" smtClean="0"/>
              <a:t>对于写</a:t>
            </a:r>
            <a:r>
              <a:rPr lang="en-US" altLang="zh-CN" dirty="0" smtClean="0"/>
              <a:t>,</a:t>
            </a:r>
            <a:r>
              <a:rPr lang="zh-CN" altLang="en-US" dirty="0" smtClean="0"/>
              <a:t>要指明做的什么作业，所完成的具体内容是什么？但不能用具体的课程名称</a:t>
            </a:r>
            <a:r>
              <a:rPr lang="en-US" altLang="zh-CN" dirty="0" smtClean="0"/>
              <a:t>.</a:t>
            </a:r>
            <a:endParaRPr lang="en-US" altLang="zh-CN" dirty="0" smtClean="0"/>
          </a:p>
          <a:p>
            <a:pPr eaLnBrk="1" hangingPunct="1">
              <a:lnSpc>
                <a:spcPct val="125000"/>
              </a:lnSpc>
            </a:pPr>
            <a:r>
              <a:rPr lang="zh-CN" altLang="en-US" sz="2000" dirty="0" smtClean="0"/>
              <a:t>通过以上两方面，就描述大学生的有关信息，可以说，这种描述使用于所有的大学生，实际上就是说明了一类人员</a:t>
            </a:r>
            <a:r>
              <a:rPr lang="en-US" altLang="zh-CN" sz="2000" dirty="0" smtClean="0"/>
              <a:t>——</a:t>
            </a:r>
            <a:r>
              <a:rPr lang="zh-CN" altLang="en-US" sz="2000" dirty="0" smtClean="0"/>
              <a:t>大学生。</a:t>
            </a:r>
            <a:endParaRPr lang="zh-CN" altLang="en-US" sz="2000" dirty="0" smtClean="0"/>
          </a:p>
          <a:p>
            <a:pPr eaLnBrk="1" hangingPunct="1">
              <a:lnSpc>
                <a:spcPct val="125000"/>
              </a:lnSpc>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例子</a:t>
            </a:r>
            <a:r>
              <a:rPr lang="en-US" altLang="zh-CN" sz="2000" dirty="0" smtClean="0"/>
              <a:t>1</a:t>
            </a:r>
            <a:r>
              <a:rPr lang="zh-CN" altLang="en-US" sz="2000" dirty="0" smtClean="0"/>
              <a:t>： </a:t>
            </a:r>
            <a:r>
              <a:rPr lang="zh-CN" altLang="en-US" sz="2000" dirty="0" smtClean="0">
                <a:latin typeface="Times New Roman" panose="02020603050405020304" pitchFamily="18" charset="0"/>
              </a:rPr>
              <a:t>“</a:t>
            </a:r>
            <a:r>
              <a:rPr lang="zh-CN" altLang="en-US" sz="2000" dirty="0" smtClean="0"/>
              <a:t>大学生类</a:t>
            </a:r>
            <a:r>
              <a:rPr lang="zh-CN" altLang="en-US" sz="2000" dirty="0" smtClean="0">
                <a:latin typeface="Times New Roman" panose="02020603050405020304" pitchFamily="18" charset="0"/>
              </a:rPr>
              <a:t>”</a:t>
            </a:r>
            <a:r>
              <a:rPr lang="zh-CN" altLang="en-US" sz="2000" dirty="0" smtClean="0"/>
              <a:t>的规范描述</a:t>
            </a:r>
            <a:endParaRPr lang="en-US" altLang="zh-CN" sz="2000" dirty="0" smtClean="0">
              <a:latin typeface="+mn-ea"/>
            </a:endParaRPr>
          </a:p>
          <a:p>
            <a:pPr eaLnBrk="1" hangingPunct="1">
              <a:lnSpc>
                <a:spcPct val="125000"/>
              </a:lnSpc>
              <a:buNone/>
            </a:pPr>
            <a:r>
              <a:rPr lang="en-US" altLang="zh-CN" sz="1600" dirty="0" smtClean="0"/>
              <a:t>class students{</a:t>
            </a:r>
            <a:endParaRPr lang="en-US" altLang="zh-CN" sz="1600" dirty="0" smtClean="0"/>
          </a:p>
          <a:p>
            <a:pPr eaLnBrk="1" hangingPunct="1">
              <a:lnSpc>
                <a:spcPct val="125000"/>
              </a:lnSpc>
              <a:buNone/>
            </a:pPr>
            <a:r>
              <a:rPr lang="en-US" altLang="zh-CN" sz="1600" dirty="0" smtClean="0"/>
              <a:t>        private</a:t>
            </a:r>
            <a:r>
              <a:rPr lang="zh-CN" altLang="en-US" sz="1600" dirty="0" smtClean="0"/>
              <a:t>：</a:t>
            </a:r>
            <a:endParaRPr lang="zh-CN" altLang="en-US" sz="1600" dirty="0" smtClean="0"/>
          </a:p>
          <a:p>
            <a:pPr eaLnBrk="1" hangingPunct="1">
              <a:lnSpc>
                <a:spcPct val="125000"/>
              </a:lnSpc>
              <a:buNone/>
            </a:pPr>
            <a:r>
              <a:rPr lang="zh-CN" altLang="en-US" sz="1600" dirty="0" smtClean="0"/>
              <a:t>                   </a:t>
            </a:r>
            <a:r>
              <a:rPr lang="en-US" altLang="zh-CN" sz="1600" dirty="0" smtClean="0"/>
              <a:t>string   XM;</a:t>
            </a:r>
            <a:endParaRPr lang="en-US" altLang="zh-CN" sz="1600" dirty="0" smtClean="0"/>
          </a:p>
          <a:p>
            <a:pPr eaLnBrk="1" hangingPunct="1">
              <a:lnSpc>
                <a:spcPct val="125000"/>
              </a:lnSpc>
              <a:buNone/>
            </a:pPr>
            <a:r>
              <a:rPr lang="en-US" altLang="zh-CN" sz="1600" dirty="0" smtClean="0"/>
              <a:t>                   </a:t>
            </a:r>
            <a:r>
              <a:rPr lang="en-US" altLang="zh-CN" sz="1600" dirty="0" err="1" smtClean="0"/>
              <a:t>int</a:t>
            </a:r>
            <a:r>
              <a:rPr lang="en-US" altLang="zh-CN" sz="1600" dirty="0" smtClean="0"/>
              <a:t>        XH;</a:t>
            </a:r>
            <a:endParaRPr lang="en-US" altLang="zh-CN" sz="1600" dirty="0" smtClean="0"/>
          </a:p>
          <a:p>
            <a:pPr eaLnBrk="1" hangingPunct="1">
              <a:lnSpc>
                <a:spcPct val="125000"/>
              </a:lnSpc>
              <a:buNone/>
            </a:pPr>
            <a:r>
              <a:rPr lang="en-US" altLang="zh-CN" sz="1600" dirty="0" smtClean="0"/>
              <a:t>                   string   ZY;</a:t>
            </a:r>
            <a:endParaRPr lang="en-US" altLang="zh-CN" sz="1600" dirty="0" smtClean="0"/>
          </a:p>
          <a:p>
            <a:pPr eaLnBrk="1" hangingPunct="1">
              <a:lnSpc>
                <a:spcPct val="125000"/>
              </a:lnSpc>
              <a:buNone/>
            </a:pPr>
            <a:r>
              <a:rPr lang="en-US" altLang="zh-CN" sz="1600" dirty="0" smtClean="0"/>
              <a:t>                   </a:t>
            </a:r>
            <a:r>
              <a:rPr lang="en-US" altLang="zh-CN" sz="1600" dirty="0" err="1" smtClean="0"/>
              <a:t>int</a:t>
            </a:r>
            <a:r>
              <a:rPr lang="en-US" altLang="zh-CN" sz="1600" dirty="0" smtClean="0"/>
              <a:t>        NL;</a:t>
            </a:r>
            <a:endParaRPr lang="en-US" altLang="zh-CN" sz="1600" dirty="0" smtClean="0"/>
          </a:p>
          <a:p>
            <a:pPr eaLnBrk="1" hangingPunct="1">
              <a:lnSpc>
                <a:spcPct val="125000"/>
              </a:lnSpc>
              <a:buNone/>
            </a:pPr>
            <a:r>
              <a:rPr lang="en-US" altLang="zh-CN" sz="1600" dirty="0" smtClean="0"/>
              <a:t>                   string   XB;</a:t>
            </a:r>
            <a:endParaRPr lang="en-US" altLang="zh-CN" sz="1600" dirty="0" smtClean="0"/>
          </a:p>
          <a:p>
            <a:pPr eaLnBrk="1" hangingPunct="1">
              <a:lnSpc>
                <a:spcPct val="125000"/>
              </a:lnSpc>
              <a:buNone/>
            </a:pPr>
            <a:r>
              <a:rPr lang="en-US" altLang="zh-CN" sz="1600" dirty="0" smtClean="0"/>
              <a:t>       public:</a:t>
            </a:r>
            <a:endParaRPr lang="en-US" altLang="zh-CN" sz="1600" dirty="0" smtClean="0"/>
          </a:p>
          <a:p>
            <a:pPr eaLnBrk="1" hangingPunct="1">
              <a:lnSpc>
                <a:spcPct val="125000"/>
              </a:lnSpc>
              <a:buNone/>
            </a:pPr>
            <a:r>
              <a:rPr lang="en-US" altLang="zh-CN" sz="1600" dirty="0" smtClean="0"/>
              <a:t>                   string read(String SM);</a:t>
            </a:r>
            <a:endParaRPr lang="en-US" altLang="zh-CN" sz="1600" dirty="0" smtClean="0"/>
          </a:p>
          <a:p>
            <a:pPr eaLnBrk="1" hangingPunct="1">
              <a:lnSpc>
                <a:spcPct val="125000"/>
              </a:lnSpc>
              <a:buNone/>
            </a:pPr>
            <a:r>
              <a:rPr lang="en-US" altLang="zh-CN" sz="1600" dirty="0" smtClean="0"/>
              <a:t>                   string write(String KCMC);</a:t>
            </a:r>
            <a:endParaRPr lang="en-US" altLang="zh-CN" sz="1600" dirty="0" smtClean="0"/>
          </a:p>
          <a:p>
            <a:pPr eaLnBrk="1" hangingPunct="1">
              <a:lnSpc>
                <a:spcPct val="125000"/>
              </a:lnSpc>
              <a:buNone/>
            </a:pPr>
            <a:r>
              <a:rPr lang="en-US" altLang="zh-CN" sz="1600" dirty="0" smtClean="0"/>
              <a:t>                   students(String x, </a:t>
            </a:r>
            <a:r>
              <a:rPr lang="en-US" altLang="zh-CN" sz="1600" dirty="0" err="1" smtClean="0"/>
              <a:t>int</a:t>
            </a:r>
            <a:r>
              <a:rPr lang="en-US" altLang="zh-CN" sz="1600" dirty="0" smtClean="0"/>
              <a:t> y, String z, </a:t>
            </a:r>
            <a:r>
              <a:rPr lang="en-US" altLang="zh-CN" sz="1600" dirty="0" err="1" smtClean="0"/>
              <a:t>int</a:t>
            </a:r>
            <a:r>
              <a:rPr lang="en-US" altLang="zh-CN" sz="1600" dirty="0" smtClean="0"/>
              <a:t> a, String b); </a:t>
            </a:r>
            <a:endParaRPr lang="en-US" altLang="zh-CN" sz="1600" dirty="0" smtClean="0"/>
          </a:p>
          <a:p>
            <a:pPr eaLnBrk="1" hangingPunct="1">
              <a:lnSpc>
                <a:spcPct val="125000"/>
              </a:lnSpc>
              <a:buNone/>
            </a:pPr>
            <a:r>
              <a:rPr lang="en-US" altLang="zh-CN" sz="1600" dirty="0" smtClean="0"/>
              <a:t>		       //</a:t>
            </a:r>
            <a:r>
              <a:rPr lang="zh-CN" altLang="en-US" sz="1600" dirty="0" smtClean="0"/>
              <a:t>用于创建一个学生</a:t>
            </a:r>
            <a:r>
              <a:rPr lang="en-US" altLang="zh-CN" sz="1600" dirty="0" smtClean="0"/>
              <a:t>(</a:t>
            </a:r>
            <a:r>
              <a:rPr lang="zh-CN" altLang="en-US" sz="1600" dirty="0" smtClean="0"/>
              <a:t>构造函数</a:t>
            </a:r>
            <a:r>
              <a:rPr lang="en-US" altLang="zh-CN" sz="1600" dirty="0" smtClean="0"/>
              <a:t>)</a:t>
            </a:r>
            <a:endParaRPr lang="en-US" altLang="zh-CN" sz="1600" dirty="0" smtClean="0"/>
          </a:p>
          <a:p>
            <a:pPr eaLnBrk="1" hangingPunct="1">
              <a:lnSpc>
                <a:spcPct val="125000"/>
              </a:lnSpc>
              <a:buNone/>
            </a:pPr>
            <a:r>
              <a:rPr lang="en-US" altLang="zh-CN" sz="1600" dirty="0" smtClean="0"/>
              <a:t>        }</a:t>
            </a:r>
            <a:endParaRPr lang="en-US" altLang="zh-CN" sz="18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例子</a:t>
            </a:r>
            <a:r>
              <a:rPr lang="en-US" altLang="zh-CN" sz="2000" dirty="0" smtClean="0"/>
              <a:t>1</a:t>
            </a:r>
            <a:r>
              <a:rPr lang="zh-CN" altLang="en-US" sz="2000" dirty="0" smtClean="0"/>
              <a:t>：对于以下大学生的现象该如何描述？</a:t>
            </a:r>
            <a:endParaRPr lang="en-US" altLang="zh-CN" sz="2000" dirty="0" smtClean="0">
              <a:latin typeface="+mn-ea"/>
            </a:endParaRPr>
          </a:p>
          <a:p>
            <a:pPr lvl="1">
              <a:lnSpc>
                <a:spcPct val="125000"/>
              </a:lnSpc>
            </a:pPr>
            <a:r>
              <a:rPr lang="zh-CN" altLang="en-US" dirty="0" smtClean="0"/>
              <a:t>张三正在读英语</a:t>
            </a:r>
            <a:r>
              <a:rPr lang="en-US" altLang="zh-CN" dirty="0" smtClean="0"/>
              <a:t>;</a:t>
            </a:r>
            <a:endParaRPr lang="en-US" altLang="zh-CN" dirty="0" smtClean="0"/>
          </a:p>
          <a:p>
            <a:pPr lvl="1">
              <a:lnSpc>
                <a:spcPct val="125000"/>
              </a:lnSpc>
            </a:pPr>
            <a:r>
              <a:rPr lang="zh-CN" altLang="en-US" dirty="0" smtClean="0"/>
              <a:t>李四正在做数学作业</a:t>
            </a:r>
            <a:r>
              <a:rPr lang="en-US" altLang="zh-CN" dirty="0" smtClean="0"/>
              <a:t>;</a:t>
            </a:r>
            <a:endParaRPr lang="en-US" altLang="zh-CN" dirty="0" smtClean="0"/>
          </a:p>
          <a:p>
            <a:pPr>
              <a:lnSpc>
                <a:spcPct val="125000"/>
              </a:lnSpc>
            </a:pPr>
            <a:r>
              <a:rPr lang="zh-CN" altLang="en-US" sz="2000" dirty="0" smtClean="0"/>
              <a:t>张三和李四是大学生，我们用</a:t>
            </a:r>
            <a:r>
              <a:rPr lang="en-US" altLang="zh-CN" sz="2000" dirty="0" smtClean="0"/>
              <a:t>A</a:t>
            </a:r>
            <a:r>
              <a:rPr lang="zh-CN" altLang="en-US" sz="2000" dirty="0" smtClean="0"/>
              <a:t>代表张三，</a:t>
            </a:r>
            <a:r>
              <a:rPr lang="en-US" altLang="zh-CN" sz="2000" dirty="0" smtClean="0"/>
              <a:t>B</a:t>
            </a:r>
            <a:r>
              <a:rPr lang="zh-CN" altLang="en-US" sz="2000" dirty="0" smtClean="0"/>
              <a:t>代表李四，设定张三和李四的具体信息，用</a:t>
            </a:r>
            <a:r>
              <a:rPr lang="en-US" altLang="zh-CN" sz="2000" dirty="0" err="1" smtClean="0"/>
              <a:t>english</a:t>
            </a:r>
            <a:r>
              <a:rPr lang="zh-CN" altLang="en-US" sz="2000" dirty="0" smtClean="0"/>
              <a:t>代表英语，</a:t>
            </a:r>
            <a:r>
              <a:rPr lang="en-US" altLang="zh-CN" sz="2000" dirty="0" err="1" smtClean="0"/>
              <a:t>maths</a:t>
            </a:r>
            <a:r>
              <a:rPr lang="zh-CN" altLang="en-US" sz="2000" dirty="0" smtClean="0"/>
              <a:t>代表数学，得到如下：</a:t>
            </a:r>
            <a:endParaRPr lang="en-US" altLang="zh-CN" sz="2000" dirty="0" smtClean="0"/>
          </a:p>
          <a:p>
            <a:pPr eaLnBrk="1" hangingPunct="1">
              <a:buFont typeface="Wingdings" panose="05000000000000000000" pitchFamily="2" charset="2"/>
              <a:buNone/>
            </a:pP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students A=students(“</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张三”</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计算机”</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,17,”</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男”</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Font typeface="Wingdings" panose="05000000000000000000" pitchFamily="2" charset="2"/>
              <a:buNone/>
            </a:pP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students </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B=students(“</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李四”</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电子”</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,18,”</a:t>
            </a:r>
            <a:r>
              <a:rPr lang="zh-CN" altLang="en-US" sz="2000" b="1" dirty="0" smtClean="0">
                <a:latin typeface="Times New Roman" panose="02020603050405020304" pitchFamily="18" charset="0"/>
                <a:ea typeface="楷体" panose="02010609060101010101" pitchFamily="49" charset="-122"/>
                <a:cs typeface="Times New Roman" panose="02020603050405020304" pitchFamily="18" charset="0"/>
              </a:rPr>
              <a:t>女”</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Font typeface="Wingdings" panose="05000000000000000000" pitchFamily="2" charset="2"/>
              <a:buNone/>
            </a:pP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A.read</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english</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Font typeface="Wingdings" panose="05000000000000000000" pitchFamily="2" charset="2"/>
              <a:buNone/>
            </a:pP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B.write</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err="1" smtClean="0">
                <a:latin typeface="Times New Roman" panose="02020603050405020304" pitchFamily="18" charset="0"/>
                <a:ea typeface="楷体" panose="02010609060101010101" pitchFamily="49" charset="-122"/>
                <a:cs typeface="Times New Roman" panose="02020603050405020304" pitchFamily="18" charset="0"/>
              </a:rPr>
              <a:t>maths</a:t>
            </a:r>
            <a:r>
              <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b="1" dirty="0" smtClean="0">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Font typeface="Wingdings" panose="05000000000000000000" pitchFamily="2" charset="2"/>
              <a:buNone/>
            </a:pPr>
            <a:r>
              <a:rPr lang="en-US" altLang="zh-CN" sz="2000" i="1" dirty="0" err="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A.read</a:t>
            </a:r>
            <a:r>
              <a:rPr lang="en-US" altLang="zh-CN" sz="20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err="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B.write</a:t>
            </a:r>
            <a:r>
              <a:rPr lang="en-US" altLang="zh-CN" sz="20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err="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maths</a:t>
            </a:r>
            <a:r>
              <a:rPr lang="en-US" altLang="zh-CN" sz="20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这句的意义是什么？</a:t>
            </a:r>
            <a:endParaRPr lang="zh-CN" altLang="en-US" sz="20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例子</a:t>
            </a:r>
            <a:r>
              <a:rPr lang="en-US" altLang="zh-CN" sz="2000" dirty="0" smtClean="0"/>
              <a:t>2</a:t>
            </a:r>
            <a:r>
              <a:rPr lang="zh-CN" altLang="en-US" sz="2000" dirty="0" smtClean="0"/>
              <a:t>：关于</a:t>
            </a:r>
            <a:r>
              <a:rPr lang="zh-CN" altLang="en-US" sz="2000" dirty="0" smtClean="0">
                <a:latin typeface="Times New Roman" panose="02020603050405020304" pitchFamily="18" charset="0"/>
              </a:rPr>
              <a:t>“教师”</a:t>
            </a:r>
            <a:r>
              <a:rPr lang="zh-CN" altLang="en-US" sz="2000" dirty="0" smtClean="0"/>
              <a:t>的有关说明</a:t>
            </a:r>
            <a:endParaRPr lang="en-US" altLang="zh-CN" sz="2000" dirty="0" smtClean="0">
              <a:latin typeface="+mn-ea"/>
            </a:endParaRPr>
          </a:p>
          <a:p>
            <a:pPr lvl="1">
              <a:lnSpc>
                <a:spcPct val="125000"/>
              </a:lnSpc>
            </a:pPr>
            <a:r>
              <a:rPr lang="zh-CN" altLang="en-US" sz="1800" dirty="0" smtClean="0"/>
              <a:t>描述教师特征的信息（属性）</a:t>
            </a:r>
            <a:r>
              <a:rPr lang="en-US" altLang="zh-CN" sz="1800" dirty="0" smtClean="0"/>
              <a:t>:   </a:t>
            </a:r>
            <a:r>
              <a:rPr lang="zh-CN" altLang="en-US" sz="1800" dirty="0" smtClean="0"/>
              <a:t>姓名，专业，学历，职称、教龄，性别</a:t>
            </a:r>
            <a:endParaRPr lang="zh-CN" altLang="en-US" sz="1800" dirty="0" smtClean="0"/>
          </a:p>
          <a:p>
            <a:pPr lvl="1">
              <a:lnSpc>
                <a:spcPct val="125000"/>
              </a:lnSpc>
            </a:pPr>
            <a:r>
              <a:rPr lang="zh-CN" altLang="en-US" sz="1800" dirty="0" smtClean="0"/>
              <a:t>描述教师行为（动作）的信息（行为）</a:t>
            </a:r>
            <a:r>
              <a:rPr lang="en-US" altLang="zh-CN" sz="1800" dirty="0" smtClean="0"/>
              <a:t>:   </a:t>
            </a:r>
            <a:r>
              <a:rPr lang="zh-CN" altLang="en-US" sz="1800" dirty="0" smtClean="0"/>
              <a:t>一个教师主要是教学，若教学主要的行为就是： 授课；批改作业</a:t>
            </a:r>
            <a:endParaRPr lang="zh-CN" altLang="en-US" sz="1800" dirty="0" smtClean="0"/>
          </a:p>
          <a:p>
            <a:pPr lvl="1">
              <a:lnSpc>
                <a:spcPct val="125000"/>
              </a:lnSpc>
            </a:pPr>
            <a:r>
              <a:rPr lang="zh-CN" altLang="en-US" sz="1800" dirty="0" smtClean="0"/>
              <a:t>对于授课</a:t>
            </a:r>
            <a:r>
              <a:rPr lang="en-US" altLang="zh-CN" sz="1800" dirty="0" smtClean="0"/>
              <a:t>,</a:t>
            </a:r>
            <a:r>
              <a:rPr lang="zh-CN" altLang="en-US" sz="1800" dirty="0" smtClean="0"/>
              <a:t>要指明讲什么课程，所讲的内容是什么？</a:t>
            </a:r>
            <a:endParaRPr lang="zh-CN" altLang="en-US" sz="1800" dirty="0" smtClean="0"/>
          </a:p>
          <a:p>
            <a:pPr lvl="1">
              <a:lnSpc>
                <a:spcPct val="125000"/>
              </a:lnSpc>
            </a:pPr>
            <a:r>
              <a:rPr lang="zh-CN" altLang="en-US" sz="1800" dirty="0" smtClean="0"/>
              <a:t>对于批改作业</a:t>
            </a:r>
            <a:r>
              <a:rPr lang="en-US" altLang="zh-CN" sz="1800" dirty="0" smtClean="0"/>
              <a:t>,</a:t>
            </a:r>
            <a:r>
              <a:rPr lang="zh-CN" altLang="en-US" sz="1800" dirty="0" smtClean="0"/>
              <a:t>要指明批改作业谁的作业，批改后的成绩是什么？</a:t>
            </a:r>
            <a:endParaRPr lang="zh-CN" altLang="en-US" sz="1800" dirty="0" smtClean="0"/>
          </a:p>
          <a:p>
            <a:pPr eaLnBrk="1" hangingPunct="1">
              <a:lnSpc>
                <a:spcPct val="125000"/>
              </a:lnSpc>
            </a:pPr>
            <a:r>
              <a:rPr lang="zh-CN" altLang="en-US" sz="2000" dirty="0" smtClean="0"/>
              <a:t>通过以上两方面，就较准确的描述教师的有关信息，可以说，这种描述使用于所有的教师，实际上就是说明了一类人员</a:t>
            </a:r>
            <a:r>
              <a:rPr lang="en-US" altLang="zh-CN" sz="2000" dirty="0" smtClean="0"/>
              <a:t>——</a:t>
            </a:r>
            <a:r>
              <a:rPr lang="zh-CN" altLang="en-US" sz="2000" dirty="0" smtClean="0"/>
              <a:t>教师。</a:t>
            </a:r>
            <a:endParaRPr lang="zh-CN" altLang="en-US" sz="2000" dirty="0" smtClean="0"/>
          </a:p>
          <a:p>
            <a:pPr eaLnBrk="1" hangingPunct="1">
              <a:lnSpc>
                <a:spcPct val="125000"/>
              </a:lnSpc>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例子</a:t>
            </a:r>
            <a:r>
              <a:rPr lang="en-US" altLang="zh-CN" sz="2000" dirty="0" smtClean="0"/>
              <a:t>2</a:t>
            </a:r>
            <a:r>
              <a:rPr lang="zh-CN" altLang="en-US" sz="2000" dirty="0" smtClean="0"/>
              <a:t>：关于</a:t>
            </a:r>
            <a:r>
              <a:rPr lang="zh-CN" altLang="en-US" sz="2000" dirty="0" smtClean="0">
                <a:latin typeface="Times New Roman" panose="02020603050405020304" pitchFamily="18" charset="0"/>
              </a:rPr>
              <a:t>“教师”</a:t>
            </a:r>
            <a:r>
              <a:rPr lang="zh-CN" altLang="en-US" sz="2000" dirty="0" smtClean="0"/>
              <a:t>的</a:t>
            </a:r>
            <a:r>
              <a:rPr lang="zh-CN" altLang="en-US" sz="2000" dirty="0" smtClean="0">
                <a:latin typeface="Times New Roman" panose="02020603050405020304" pitchFamily="18" charset="0"/>
              </a:rPr>
              <a:t>规范描述</a:t>
            </a:r>
            <a:endParaRPr lang="zh-CN" altLang="en-US" sz="2000" dirty="0" smtClean="0">
              <a:latin typeface="Times New Roman" panose="02020603050405020304" pitchFamily="18" charset="0"/>
            </a:endParaRPr>
          </a:p>
          <a:p>
            <a:pPr>
              <a:buNone/>
              <a:defRPr/>
            </a:pPr>
            <a:r>
              <a:rPr lang="en-US" altLang="zh-CN" sz="1600" dirty="0" smtClean="0"/>
              <a:t>class teachers{</a:t>
            </a:r>
            <a:endParaRPr lang="en-US" altLang="zh-CN" sz="1600" dirty="0" smtClean="0"/>
          </a:p>
          <a:p>
            <a:pPr>
              <a:buNone/>
              <a:defRPr/>
            </a:pPr>
            <a:r>
              <a:rPr lang="en-US" altLang="zh-CN" sz="1600" dirty="0" smtClean="0"/>
              <a:t>    private</a:t>
            </a:r>
            <a:r>
              <a:rPr lang="zh-CN" altLang="en-US" sz="1600" dirty="0" smtClean="0"/>
              <a:t>：</a:t>
            </a:r>
            <a:endParaRPr lang="zh-CN" altLang="en-US" sz="1600" dirty="0" smtClean="0"/>
          </a:p>
          <a:p>
            <a:pPr>
              <a:buNone/>
              <a:defRPr/>
            </a:pPr>
            <a:r>
              <a:rPr lang="zh-CN" altLang="en-US" sz="1600" dirty="0" smtClean="0"/>
              <a:t>              </a:t>
            </a:r>
            <a:r>
              <a:rPr lang="en-US" altLang="zh-CN" sz="1600" dirty="0" smtClean="0"/>
              <a:t>string   XM;</a:t>
            </a:r>
            <a:endParaRPr lang="en-US" altLang="zh-CN" sz="1600" dirty="0" smtClean="0"/>
          </a:p>
          <a:p>
            <a:pPr>
              <a:buNone/>
              <a:defRPr/>
            </a:pPr>
            <a:r>
              <a:rPr lang="en-US" altLang="zh-CN" sz="1600" dirty="0" smtClean="0"/>
              <a:t>              string   ZY;</a:t>
            </a:r>
            <a:endParaRPr lang="en-US" altLang="zh-CN" sz="1600" dirty="0" smtClean="0"/>
          </a:p>
          <a:p>
            <a:pPr>
              <a:buNone/>
              <a:defRPr/>
            </a:pPr>
            <a:r>
              <a:rPr lang="en-US" altLang="zh-CN" sz="1600" dirty="0" smtClean="0"/>
              <a:t>              string   XL;</a:t>
            </a:r>
            <a:endParaRPr lang="en-US" altLang="zh-CN" sz="1600" dirty="0" smtClean="0"/>
          </a:p>
          <a:p>
            <a:pPr>
              <a:buNone/>
              <a:defRPr/>
            </a:pPr>
            <a:r>
              <a:rPr lang="en-US" altLang="zh-CN" sz="1600" dirty="0" smtClean="0"/>
              <a:t>              string   ZC;</a:t>
            </a:r>
            <a:endParaRPr lang="en-US" altLang="zh-CN" sz="1600" dirty="0" smtClean="0"/>
          </a:p>
          <a:p>
            <a:pPr>
              <a:buNone/>
              <a:defRPr/>
            </a:pPr>
            <a:r>
              <a:rPr lang="en-US" altLang="zh-CN" sz="1600" dirty="0" smtClean="0"/>
              <a:t>              </a:t>
            </a:r>
            <a:r>
              <a:rPr lang="en-US" altLang="zh-CN" sz="1600" dirty="0" err="1" smtClean="0"/>
              <a:t>int</a:t>
            </a:r>
            <a:r>
              <a:rPr lang="en-US" altLang="zh-CN" sz="1600" dirty="0" smtClean="0"/>
              <a:t>         JL;</a:t>
            </a:r>
            <a:endParaRPr lang="en-US" altLang="zh-CN" sz="1600" dirty="0" smtClean="0"/>
          </a:p>
          <a:p>
            <a:pPr>
              <a:buNone/>
              <a:defRPr/>
            </a:pPr>
            <a:r>
              <a:rPr lang="en-US" altLang="zh-CN" sz="1600" dirty="0" smtClean="0"/>
              <a:t>             string    XB;</a:t>
            </a:r>
            <a:endParaRPr lang="en-US" altLang="zh-CN" sz="1600" dirty="0" smtClean="0"/>
          </a:p>
          <a:p>
            <a:pPr>
              <a:buNone/>
              <a:defRPr/>
            </a:pPr>
            <a:r>
              <a:rPr lang="en-US" altLang="zh-CN" sz="1600" dirty="0" smtClean="0"/>
              <a:t>    public:</a:t>
            </a:r>
            <a:endParaRPr lang="en-US" altLang="zh-CN" sz="1600" dirty="0" smtClean="0"/>
          </a:p>
          <a:p>
            <a:pPr>
              <a:buNone/>
              <a:defRPr/>
            </a:pPr>
            <a:r>
              <a:rPr lang="en-US" altLang="zh-CN" sz="1600" dirty="0" smtClean="0"/>
              <a:t>             teachers( String  x1, String  x2, String x3,String x4,int a, String x5);    //</a:t>
            </a:r>
            <a:r>
              <a:rPr lang="zh-CN" altLang="en-US" sz="1600" dirty="0" smtClean="0"/>
              <a:t>用于创建一个教师</a:t>
            </a:r>
            <a:r>
              <a:rPr lang="en-US" altLang="zh-CN" sz="1600" dirty="0" smtClean="0"/>
              <a:t>(</a:t>
            </a:r>
            <a:r>
              <a:rPr lang="zh-CN" altLang="en-US" sz="1600" dirty="0" smtClean="0"/>
              <a:t>构造函数</a:t>
            </a:r>
            <a:r>
              <a:rPr lang="en-US" altLang="zh-CN" sz="1600" dirty="0" smtClean="0"/>
              <a:t>)</a:t>
            </a:r>
            <a:endParaRPr lang="en-US" altLang="zh-CN" sz="1600" dirty="0" smtClean="0"/>
          </a:p>
          <a:p>
            <a:pPr>
              <a:buNone/>
              <a:defRPr/>
            </a:pPr>
            <a:r>
              <a:rPr lang="en-US" altLang="zh-CN" sz="1600" dirty="0" smtClean="0"/>
              <a:t>             string teach(String KM);</a:t>
            </a:r>
            <a:endParaRPr lang="en-US" altLang="zh-CN" sz="1600" dirty="0" smtClean="0"/>
          </a:p>
          <a:p>
            <a:pPr>
              <a:buNone/>
              <a:defRPr/>
            </a:pPr>
            <a:r>
              <a:rPr lang="en-US" altLang="zh-CN" sz="1600" dirty="0" smtClean="0"/>
              <a:t>             </a:t>
            </a:r>
            <a:r>
              <a:rPr lang="en-US" altLang="zh-CN" sz="1600" dirty="0" err="1" smtClean="0"/>
              <a:t>int</a:t>
            </a:r>
            <a:r>
              <a:rPr lang="en-US" altLang="zh-CN" sz="1600" dirty="0" smtClean="0"/>
              <a:t> review(string ZY);</a:t>
            </a:r>
            <a:endParaRPr lang="en-US" altLang="zh-CN" sz="1600" dirty="0" smtClean="0"/>
          </a:p>
          <a:p>
            <a:pPr>
              <a:buNone/>
              <a:defRPr/>
            </a:pPr>
            <a:r>
              <a:rPr lang="en-US" altLang="zh-CN" sz="1600" dirty="0" smtClean="0"/>
              <a:t>        } </a:t>
            </a:r>
            <a:endParaRPr lang="en-US" altLang="zh-CN" sz="1600" dirty="0" smtClean="0"/>
          </a:p>
          <a:p>
            <a:pPr eaLnBrk="1" hangingPunct="1">
              <a:lnSpc>
                <a:spcPct val="125000"/>
              </a:lnSpc>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例子</a:t>
            </a:r>
            <a:r>
              <a:rPr lang="en-US" altLang="zh-CN" sz="2000" dirty="0" smtClean="0"/>
              <a:t>2</a:t>
            </a:r>
            <a:r>
              <a:rPr lang="zh-CN" altLang="en-US" sz="2000" dirty="0" smtClean="0"/>
              <a:t>：对于以下老师的现象该如何描述？</a:t>
            </a:r>
            <a:endParaRPr lang="en-US" altLang="zh-CN" sz="2000" dirty="0" smtClean="0">
              <a:latin typeface="+mn-ea"/>
            </a:endParaRPr>
          </a:p>
          <a:p>
            <a:pPr lvl="1">
              <a:lnSpc>
                <a:spcPct val="125000"/>
              </a:lnSpc>
            </a:pPr>
            <a:r>
              <a:rPr lang="zh-CN" altLang="en-US" dirty="0" smtClean="0"/>
              <a:t>张三老师正在讲课”</a:t>
            </a:r>
            <a:r>
              <a:rPr lang="en-US" altLang="zh-CN" dirty="0" smtClean="0"/>
              <a:t>c</a:t>
            </a:r>
            <a:r>
              <a:rPr lang="zh-CN" altLang="en-US" dirty="0" smtClean="0"/>
              <a:t>语言”</a:t>
            </a:r>
            <a:r>
              <a:rPr lang="en-US" altLang="zh-CN" dirty="0" smtClean="0"/>
              <a:t>;</a:t>
            </a:r>
            <a:endParaRPr lang="en-US" altLang="zh-CN" dirty="0" smtClean="0"/>
          </a:p>
          <a:p>
            <a:pPr lvl="1">
              <a:lnSpc>
                <a:spcPct val="125000"/>
              </a:lnSpc>
            </a:pPr>
            <a:r>
              <a:rPr lang="zh-CN" altLang="en-US" dirty="0" smtClean="0"/>
              <a:t>张老师批改学生李四的作业</a:t>
            </a:r>
            <a:r>
              <a:rPr lang="en-US" altLang="zh-CN" dirty="0" smtClean="0"/>
              <a:t>;</a:t>
            </a:r>
            <a:endParaRPr lang="en-US" altLang="zh-CN" dirty="0" smtClean="0"/>
          </a:p>
          <a:p>
            <a:pPr eaLnBrk="1" hangingPunct="1">
              <a:lnSpc>
                <a:spcPct val="125000"/>
              </a:lnSpc>
            </a:pPr>
            <a:r>
              <a:rPr lang="zh-CN" altLang="en-US" sz="2000" dirty="0" smtClean="0"/>
              <a:t>在这里，张老师是教师，我们用</a:t>
            </a:r>
            <a:r>
              <a:rPr lang="en-US" altLang="zh-CN" sz="2000" dirty="0" smtClean="0"/>
              <a:t>X</a:t>
            </a:r>
            <a:r>
              <a:rPr lang="zh-CN" altLang="en-US" sz="2000" dirty="0" smtClean="0"/>
              <a:t>代表张老师，</a:t>
            </a:r>
            <a:r>
              <a:rPr lang="en-US" altLang="zh-CN" sz="2000" dirty="0" smtClean="0"/>
              <a:t>Y</a:t>
            </a:r>
            <a:r>
              <a:rPr lang="zh-CN" altLang="en-US" sz="2000" dirty="0" smtClean="0"/>
              <a:t>代表学生李四，那么：</a:t>
            </a:r>
            <a:endParaRPr lang="zh-CN" altLang="en-US" sz="2000" dirty="0" smtClean="0"/>
          </a:p>
          <a:p>
            <a:pPr eaLnBrk="1" hangingPunct="1">
              <a:buFont typeface="Wingdings" panose="05000000000000000000" pitchFamily="2" charset="2"/>
              <a:buNone/>
            </a:pPr>
            <a:r>
              <a:rPr lang="en-US" altLang="zh-CN" sz="2000" b="1" dirty="0" err="1" smtClean="0">
                <a:latin typeface="Times New Roman" panose="02020603050405020304" pitchFamily="18" charset="0"/>
                <a:cs typeface="Times New Roman" panose="02020603050405020304" pitchFamily="18" charset="0"/>
              </a:rPr>
              <a:t>int</a:t>
            </a:r>
            <a:r>
              <a:rPr lang="en-US" altLang="zh-CN" sz="2000" b="1" dirty="0" smtClean="0">
                <a:latin typeface="Times New Roman" panose="02020603050405020304" pitchFamily="18" charset="0"/>
                <a:cs typeface="Times New Roman" panose="02020603050405020304" pitchFamily="18" charset="0"/>
              </a:rPr>
              <a:t> </a:t>
            </a:r>
            <a:r>
              <a:rPr lang="en-US" altLang="zh-CN" sz="2000" b="1" dirty="0" err="1" smtClean="0">
                <a:latin typeface="Times New Roman" panose="02020603050405020304" pitchFamily="18" charset="0"/>
                <a:cs typeface="Times New Roman" panose="02020603050405020304" pitchFamily="18" charset="0"/>
              </a:rPr>
              <a:t>CJ;string</a:t>
            </a:r>
            <a:r>
              <a:rPr lang="en-US" altLang="zh-CN" sz="2000" b="1" dirty="0" smtClean="0">
                <a:latin typeface="Times New Roman" panose="02020603050405020304" pitchFamily="18" charset="0"/>
                <a:cs typeface="Times New Roman" panose="02020603050405020304" pitchFamily="18" charset="0"/>
              </a:rPr>
              <a:t> T;</a:t>
            </a:r>
            <a:endParaRPr lang="en-US" altLang="zh-CN" sz="2000" b="1" dirty="0" smtClean="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zh-CN" sz="2000" b="1" dirty="0" smtClean="0">
                <a:latin typeface="Times New Roman" panose="02020603050405020304" pitchFamily="18" charset="0"/>
                <a:cs typeface="Times New Roman" panose="02020603050405020304" pitchFamily="18" charset="0"/>
              </a:rPr>
              <a:t>teachers  X= teachers(“</a:t>
            </a:r>
            <a:r>
              <a:rPr lang="zh-CN" altLang="en-US" sz="2000" b="1" dirty="0" smtClean="0">
                <a:latin typeface="Times New Roman" panose="02020603050405020304" pitchFamily="18" charset="0"/>
                <a:cs typeface="Times New Roman" panose="02020603050405020304" pitchFamily="18" charset="0"/>
              </a:rPr>
              <a:t>张三”</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计算机”</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研究生”</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教授”</a:t>
            </a:r>
            <a:r>
              <a:rPr lang="en-US" altLang="zh-CN" sz="2000" b="1" dirty="0" smtClean="0">
                <a:latin typeface="Times New Roman" panose="02020603050405020304" pitchFamily="18" charset="0"/>
                <a:cs typeface="Times New Roman" panose="02020603050405020304" pitchFamily="18" charset="0"/>
              </a:rPr>
              <a:t>,42,”</a:t>
            </a:r>
            <a:r>
              <a:rPr lang="zh-CN" altLang="en-US" sz="2000" b="1" dirty="0" smtClean="0">
                <a:latin typeface="Times New Roman" panose="02020603050405020304" pitchFamily="18" charset="0"/>
                <a:cs typeface="Times New Roman" panose="02020603050405020304" pitchFamily="18" charset="0"/>
              </a:rPr>
              <a:t>男”</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zh-CN" sz="2000" b="1" dirty="0" smtClean="0">
                <a:latin typeface="Times New Roman" panose="02020603050405020304" pitchFamily="18" charset="0"/>
                <a:cs typeface="Times New Roman" panose="02020603050405020304" pitchFamily="18" charset="0"/>
              </a:rPr>
              <a:t>students Y= students(“</a:t>
            </a:r>
            <a:r>
              <a:rPr lang="zh-CN" altLang="en-US" sz="2000" b="1" dirty="0" smtClean="0">
                <a:latin typeface="Times New Roman" panose="02020603050405020304" pitchFamily="18" charset="0"/>
                <a:cs typeface="Times New Roman" panose="02020603050405020304" pitchFamily="18" charset="0"/>
              </a:rPr>
              <a:t>李四”</a:t>
            </a:r>
            <a:r>
              <a:rPr lang="en-US" altLang="zh-CN" sz="2000" b="1" dirty="0" smtClean="0">
                <a:latin typeface="Times New Roman" panose="02020603050405020304" pitchFamily="18" charset="0"/>
                <a:cs typeface="Times New Roman" panose="02020603050405020304" pitchFamily="18" charset="0"/>
              </a:rPr>
              <a:t>,2,”</a:t>
            </a:r>
            <a:r>
              <a:rPr lang="zh-CN" altLang="en-US" sz="2000" b="1" dirty="0" smtClean="0">
                <a:latin typeface="Times New Roman" panose="02020603050405020304" pitchFamily="18" charset="0"/>
                <a:cs typeface="Times New Roman" panose="02020603050405020304" pitchFamily="18" charset="0"/>
              </a:rPr>
              <a:t>电子”</a:t>
            </a:r>
            <a:r>
              <a:rPr lang="en-US" altLang="zh-CN" sz="2000" b="1" dirty="0" smtClean="0">
                <a:latin typeface="Times New Roman" panose="02020603050405020304" pitchFamily="18" charset="0"/>
                <a:cs typeface="Times New Roman" panose="02020603050405020304" pitchFamily="18" charset="0"/>
              </a:rPr>
              <a:t>,18,”</a:t>
            </a:r>
            <a:r>
              <a:rPr lang="zh-CN" altLang="en-US" sz="2000" b="1" dirty="0" smtClean="0">
                <a:latin typeface="Times New Roman" panose="02020603050405020304" pitchFamily="18" charset="0"/>
                <a:cs typeface="Times New Roman" panose="02020603050405020304" pitchFamily="18" charset="0"/>
              </a:rPr>
              <a:t>女”</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zh-CN" sz="2000" b="1" dirty="0" smtClean="0">
                <a:latin typeface="Times New Roman" panose="02020603050405020304" pitchFamily="18" charset="0"/>
                <a:cs typeface="Times New Roman" panose="02020603050405020304" pitchFamily="18" charset="0"/>
              </a:rPr>
              <a:t>T=</a:t>
            </a:r>
            <a:r>
              <a:rPr lang="en-US" altLang="zh-CN" sz="2000" b="1" dirty="0" err="1" smtClean="0">
                <a:latin typeface="Times New Roman" panose="02020603050405020304" pitchFamily="18" charset="0"/>
                <a:cs typeface="Times New Roman" panose="02020603050405020304" pitchFamily="18" charset="0"/>
              </a:rPr>
              <a:t>X.teach</a:t>
            </a:r>
            <a:r>
              <a:rPr lang="en-US" altLang="zh-CN" sz="2000" b="1" dirty="0" smtClean="0">
                <a:latin typeface="Times New Roman" panose="02020603050405020304" pitchFamily="18" charset="0"/>
                <a:cs typeface="Times New Roman" panose="02020603050405020304" pitchFamily="18" charset="0"/>
              </a:rPr>
              <a:t>( “c</a:t>
            </a:r>
            <a:r>
              <a:rPr lang="zh-CN" altLang="en-US" sz="2000" b="1" dirty="0" smtClean="0">
                <a:latin typeface="Times New Roman" panose="02020603050405020304" pitchFamily="18" charset="0"/>
                <a:cs typeface="Times New Roman" panose="02020603050405020304" pitchFamily="18" charset="0"/>
              </a:rPr>
              <a:t>语言”</a:t>
            </a:r>
            <a:r>
              <a:rPr lang="en-US" altLang="zh-CN" sz="2000" b="1" dirty="0" smtClean="0">
                <a:latin typeface="Times New Roman" panose="02020603050405020304" pitchFamily="18" charset="0"/>
                <a:cs typeface="Times New Roman" panose="02020603050405020304" pitchFamily="18" charset="0"/>
              </a:rPr>
              <a:t>);  //</a:t>
            </a:r>
            <a:r>
              <a:rPr lang="zh-CN" altLang="en-US" sz="2000" b="1" dirty="0" smtClean="0">
                <a:solidFill>
                  <a:schemeClr val="hlink"/>
                </a:solidFill>
                <a:latin typeface="Times New Roman" panose="02020603050405020304" pitchFamily="18" charset="0"/>
                <a:cs typeface="Times New Roman" panose="02020603050405020304" pitchFamily="18" charset="0"/>
              </a:rPr>
              <a:t>这句的意义是什么？</a:t>
            </a:r>
            <a:endParaRPr lang="zh-CN" altLang="en-US" sz="2000" b="1" dirty="0" smtClean="0">
              <a:solidFill>
                <a:schemeClr val="hlink"/>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zh-CN" sz="2000" b="1" dirty="0" smtClean="0">
                <a:latin typeface="Times New Roman" panose="02020603050405020304" pitchFamily="18" charset="0"/>
                <a:cs typeface="Times New Roman" panose="02020603050405020304" pitchFamily="18" charset="0"/>
              </a:rPr>
              <a:t>CJ=</a:t>
            </a:r>
            <a:r>
              <a:rPr lang="en-US" altLang="zh-CN" sz="2000" b="1" dirty="0" err="1" smtClean="0">
                <a:latin typeface="Times New Roman" panose="02020603050405020304" pitchFamily="18" charset="0"/>
                <a:cs typeface="Times New Roman" panose="02020603050405020304" pitchFamily="18" charset="0"/>
              </a:rPr>
              <a:t>X.review</a:t>
            </a:r>
            <a:r>
              <a:rPr lang="en-US" altLang="zh-CN" sz="2000" b="1" dirty="0" smtClean="0">
                <a:latin typeface="Times New Roman" panose="02020603050405020304" pitchFamily="18" charset="0"/>
                <a:cs typeface="Times New Roman" panose="02020603050405020304" pitchFamily="18" charset="0"/>
              </a:rPr>
              <a:t>(</a:t>
            </a:r>
            <a:r>
              <a:rPr lang="en-US" altLang="zh-CN" sz="2000" b="1" dirty="0" err="1" smtClean="0">
                <a:latin typeface="Times New Roman" panose="02020603050405020304" pitchFamily="18" charset="0"/>
                <a:cs typeface="Times New Roman" panose="02020603050405020304" pitchFamily="18" charset="0"/>
              </a:rPr>
              <a:t>Y.write</a:t>
            </a:r>
            <a:r>
              <a:rPr lang="en-US" altLang="zh-CN" sz="2000" b="1" dirty="0" smtClean="0">
                <a:latin typeface="Times New Roman" panose="02020603050405020304" pitchFamily="18" charset="0"/>
                <a:cs typeface="Times New Roman" panose="02020603050405020304" pitchFamily="18" charset="0"/>
              </a:rPr>
              <a:t>(“math”));         //</a:t>
            </a:r>
            <a:r>
              <a:rPr lang="zh-CN" altLang="en-US" sz="2000" b="1" dirty="0" smtClean="0">
                <a:solidFill>
                  <a:schemeClr val="hlink"/>
                </a:solidFill>
                <a:latin typeface="Times New Roman" panose="02020603050405020304" pitchFamily="18" charset="0"/>
                <a:cs typeface="Times New Roman" panose="02020603050405020304" pitchFamily="18" charset="0"/>
              </a:rPr>
              <a:t>这句的意义是什么？</a:t>
            </a:r>
            <a:endParaRPr lang="zh-CN" altLang="en-US" sz="2000" b="1" dirty="0" smtClean="0">
              <a:solidFill>
                <a:schemeClr val="hlink"/>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endParaRPr lang="zh-CN" altLang="en-US" sz="2000" b="1" dirty="0" smtClean="0">
              <a:solidFill>
                <a:schemeClr val="hlink"/>
              </a:solidFill>
            </a:endParaRPr>
          </a:p>
          <a:p>
            <a:pPr eaLnBrk="1" hangingPunct="1">
              <a:buFont typeface="Wingdings" panose="05000000000000000000" pitchFamily="2" charset="2"/>
              <a:buNone/>
            </a:pPr>
            <a:endParaRPr lang="zh-CN" altLang="en-US" sz="20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4.</a:t>
            </a:r>
            <a:r>
              <a:rPr lang="zh-CN" altLang="en-US" sz="3600" dirty="0" smtClean="0"/>
              <a:t>面向对象的基本概念</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858180" cy="4500594"/>
          </a:xfrm>
        </p:spPr>
        <p:txBody>
          <a:bodyPr/>
          <a:lstStyle/>
          <a:p>
            <a:pPr eaLnBrk="1" hangingPunct="1">
              <a:lnSpc>
                <a:spcPct val="125000"/>
              </a:lnSpc>
            </a:pPr>
            <a:r>
              <a:rPr lang="zh-CN" altLang="en-US" sz="2000" dirty="0" smtClean="0"/>
              <a:t>在</a:t>
            </a:r>
            <a:r>
              <a:rPr lang="en-US" altLang="zh-CN" sz="2000" dirty="0" smtClean="0"/>
              <a:t>C++</a:t>
            </a:r>
            <a:r>
              <a:rPr lang="zh-CN" altLang="en-US" sz="2000" dirty="0" smtClean="0"/>
              <a:t>中用关键字</a:t>
            </a:r>
            <a:r>
              <a:rPr lang="en-US" altLang="zh-CN" sz="2000" dirty="0" smtClean="0"/>
              <a:t>class</a:t>
            </a:r>
            <a:r>
              <a:rPr lang="zh-CN" altLang="en-US" sz="2000" dirty="0" smtClean="0"/>
              <a:t>来定义描述一个类。</a:t>
            </a:r>
            <a:endParaRPr lang="en-US" altLang="zh-CN" sz="2000" dirty="0" smtClean="0"/>
          </a:p>
          <a:p>
            <a:pPr eaLnBrk="1" hangingPunct="1">
              <a:lnSpc>
                <a:spcPct val="125000"/>
              </a:lnSpc>
            </a:pPr>
            <a:r>
              <a:rPr lang="zh-CN" altLang="en-US" sz="2000" dirty="0" smtClean="0"/>
              <a:t>类包含类名、类边界“</a:t>
            </a:r>
            <a:r>
              <a:rPr lang="en-US" altLang="zh-CN" sz="2000" dirty="0" smtClean="0"/>
              <a:t>{</a:t>
            </a:r>
            <a:r>
              <a:rPr lang="zh-CN" altLang="en-US" sz="2000" dirty="0" smtClean="0"/>
              <a:t>”和“</a:t>
            </a:r>
            <a:r>
              <a:rPr lang="en-US" altLang="zh-CN" sz="2000" dirty="0" smtClean="0"/>
              <a:t>}</a:t>
            </a:r>
            <a:r>
              <a:rPr lang="zh-CN" altLang="en-US" sz="2000" dirty="0" smtClean="0"/>
              <a:t>”、访问控制方式、数据成员、函数成员</a:t>
            </a:r>
            <a:endParaRPr lang="en-US" altLang="zh-CN" sz="2000" dirty="0" smtClean="0"/>
          </a:p>
          <a:p>
            <a:pPr eaLnBrk="1" hangingPunct="1">
              <a:lnSpc>
                <a:spcPct val="90000"/>
              </a:lnSpc>
              <a:buFontTx/>
              <a:buNone/>
            </a:pPr>
            <a:r>
              <a:rPr lang="en-US" altLang="zh-CN" sz="1800" dirty="0" smtClean="0">
                <a:solidFill>
                  <a:srgbClr val="0000FF"/>
                </a:solidFill>
              </a:rPr>
              <a:t>class</a:t>
            </a:r>
            <a:r>
              <a:rPr lang="en-US" altLang="zh-CN" sz="1800" dirty="0" smtClean="0"/>
              <a:t> </a:t>
            </a:r>
            <a:r>
              <a:rPr lang="zh-CN" altLang="en-US" sz="1800" dirty="0" smtClean="0">
                <a:solidFill>
                  <a:srgbClr val="FF0000"/>
                </a:solidFill>
              </a:rPr>
              <a:t>类名</a:t>
            </a:r>
            <a:endParaRPr lang="zh-CN" altLang="en-US" sz="1800" dirty="0" smtClean="0">
              <a:solidFill>
                <a:srgbClr val="FF0000"/>
              </a:solidFill>
            </a:endParaRPr>
          </a:p>
          <a:p>
            <a:pPr eaLnBrk="1" hangingPunct="1">
              <a:lnSpc>
                <a:spcPct val="90000"/>
              </a:lnSpc>
              <a:buFontTx/>
              <a:buNone/>
            </a:pPr>
            <a:r>
              <a:rPr lang="en-US" altLang="zh-CN" sz="1800" dirty="0" smtClean="0"/>
              <a:t>{</a:t>
            </a:r>
            <a:endParaRPr lang="en-US" altLang="zh-CN" sz="1800" dirty="0" smtClean="0"/>
          </a:p>
          <a:p>
            <a:pPr eaLnBrk="1" hangingPunct="1">
              <a:lnSpc>
                <a:spcPct val="90000"/>
              </a:lnSpc>
              <a:buFontTx/>
              <a:buNone/>
            </a:pPr>
            <a:r>
              <a:rPr lang="en-US" altLang="zh-CN" sz="1800" dirty="0" smtClean="0">
                <a:solidFill>
                  <a:srgbClr val="0000FF"/>
                </a:solidFill>
              </a:rPr>
              <a:t>	</a:t>
            </a:r>
            <a:r>
              <a:rPr lang="zh-CN" altLang="en-US" sz="1800" dirty="0" smtClean="0">
                <a:solidFill>
                  <a:srgbClr val="0000FF"/>
                </a:solidFill>
              </a:rPr>
              <a:t>访问控制</a:t>
            </a:r>
            <a:r>
              <a:rPr lang="en-US" altLang="zh-CN" sz="1800" dirty="0" smtClean="0">
                <a:solidFill>
                  <a:srgbClr val="0000FF"/>
                </a:solidFill>
              </a:rPr>
              <a:t>1</a:t>
            </a:r>
            <a:r>
              <a:rPr lang="zh-CN" altLang="en-US" sz="1800" dirty="0" smtClean="0"/>
              <a:t>：</a:t>
            </a:r>
            <a:endParaRPr lang="zh-CN" altLang="en-US" sz="1800" dirty="0" smtClean="0"/>
          </a:p>
          <a:p>
            <a:pPr eaLnBrk="1" hangingPunct="1">
              <a:lnSpc>
                <a:spcPct val="90000"/>
              </a:lnSpc>
              <a:buFontTx/>
              <a:buNone/>
            </a:pPr>
            <a:r>
              <a:rPr lang="zh-CN" altLang="en-US" sz="1800" dirty="0" smtClean="0"/>
              <a:t>      	数据成员</a:t>
            </a:r>
            <a:endParaRPr lang="zh-CN" altLang="en-US" sz="1800" dirty="0" smtClean="0"/>
          </a:p>
          <a:p>
            <a:pPr eaLnBrk="1" hangingPunct="1">
              <a:lnSpc>
                <a:spcPct val="90000"/>
              </a:lnSpc>
              <a:buFontTx/>
              <a:buNone/>
            </a:pPr>
            <a:r>
              <a:rPr lang="zh-CN" altLang="en-US" sz="1800" dirty="0" smtClean="0"/>
              <a:t>      	函数成员</a:t>
            </a:r>
            <a:endParaRPr lang="zh-CN" altLang="en-US" sz="1800" dirty="0" smtClean="0"/>
          </a:p>
          <a:p>
            <a:pPr eaLnBrk="1" hangingPunct="1">
              <a:lnSpc>
                <a:spcPct val="90000"/>
              </a:lnSpc>
              <a:buFontTx/>
              <a:buNone/>
            </a:pPr>
            <a:r>
              <a:rPr lang="en-US" altLang="zh-CN" sz="1800" dirty="0" smtClean="0">
                <a:solidFill>
                  <a:srgbClr val="0000FF"/>
                </a:solidFill>
              </a:rPr>
              <a:t>	</a:t>
            </a:r>
            <a:r>
              <a:rPr lang="zh-CN" altLang="en-US" sz="1800" dirty="0" smtClean="0">
                <a:solidFill>
                  <a:srgbClr val="0000FF"/>
                </a:solidFill>
              </a:rPr>
              <a:t>访问控制</a:t>
            </a:r>
            <a:r>
              <a:rPr lang="en-US" altLang="zh-CN" sz="1800" dirty="0" smtClean="0">
                <a:solidFill>
                  <a:srgbClr val="0000FF"/>
                </a:solidFill>
              </a:rPr>
              <a:t>2</a:t>
            </a:r>
            <a:r>
              <a:rPr lang="zh-CN" altLang="en-US" sz="1800" dirty="0" smtClean="0">
                <a:solidFill>
                  <a:srgbClr val="0000FF"/>
                </a:solidFill>
              </a:rPr>
              <a:t>：</a:t>
            </a:r>
            <a:endParaRPr lang="zh-CN" altLang="en-US" sz="1800" dirty="0" smtClean="0">
              <a:solidFill>
                <a:srgbClr val="0000FF"/>
              </a:solidFill>
            </a:endParaRPr>
          </a:p>
          <a:p>
            <a:pPr eaLnBrk="1" hangingPunct="1">
              <a:lnSpc>
                <a:spcPct val="90000"/>
              </a:lnSpc>
              <a:buFontTx/>
              <a:buNone/>
            </a:pPr>
            <a:r>
              <a:rPr lang="zh-CN" altLang="en-US" sz="1800" dirty="0" smtClean="0"/>
              <a:t>      	数据成员</a:t>
            </a:r>
            <a:endParaRPr lang="zh-CN" altLang="en-US" sz="1800" dirty="0" smtClean="0"/>
          </a:p>
          <a:p>
            <a:pPr eaLnBrk="1" hangingPunct="1">
              <a:lnSpc>
                <a:spcPct val="90000"/>
              </a:lnSpc>
              <a:buFontTx/>
              <a:buNone/>
            </a:pPr>
            <a:r>
              <a:rPr lang="zh-CN" altLang="en-US" sz="1800" dirty="0" smtClean="0"/>
              <a:t>      	函数成员</a:t>
            </a:r>
            <a:endParaRPr lang="zh-CN" altLang="en-US" sz="1800" dirty="0" smtClean="0"/>
          </a:p>
          <a:p>
            <a:pPr eaLnBrk="1" hangingPunct="1">
              <a:lnSpc>
                <a:spcPct val="90000"/>
              </a:lnSpc>
              <a:buFontTx/>
              <a:buNone/>
            </a:pPr>
            <a:r>
              <a:rPr lang="zh-CN" altLang="en-US" sz="1800" dirty="0" smtClean="0"/>
              <a:t>      </a:t>
            </a:r>
            <a:r>
              <a:rPr lang="en-US" altLang="zh-CN" sz="1800" dirty="0" smtClean="0"/>
              <a:t>......</a:t>
            </a:r>
            <a:endParaRPr lang="en-US" altLang="zh-CN" sz="1800" dirty="0" smtClean="0"/>
          </a:p>
          <a:p>
            <a:pPr eaLnBrk="1" hangingPunct="1">
              <a:lnSpc>
                <a:spcPct val="90000"/>
              </a:lnSpc>
              <a:buFontTx/>
              <a:buNone/>
            </a:pPr>
            <a:r>
              <a:rPr lang="en-US" altLang="zh-CN" sz="1800" dirty="0" smtClean="0"/>
              <a:t>}</a:t>
            </a:r>
            <a:r>
              <a:rPr lang="zh-CN" altLang="en-US" sz="1800" dirty="0" smtClean="0"/>
              <a:t>；</a:t>
            </a:r>
            <a:endParaRPr lang="zh-CN" altLang="en-US" sz="18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3643306" y="2571744"/>
            <a:ext cx="2857520" cy="3333220"/>
          </a:xfrm>
          <a:prstGeom prst="rect">
            <a:avLst/>
          </a:prstGeom>
          <a:ln>
            <a:solidFill>
              <a:schemeClr val="accent1"/>
            </a:solidFill>
          </a:ln>
        </p:spPr>
        <p:txBody>
          <a:bodyPr wrap="square">
            <a:spAutoFit/>
          </a:bodyPr>
          <a:lstStyle/>
          <a:p>
            <a:pPr marL="365760" indent="-255905" eaLnBrk="1" fontAlgn="auto" hangingPunct="1">
              <a:lnSpc>
                <a:spcPct val="90000"/>
              </a:lnSpc>
              <a:spcAft>
                <a:spcPts val="0"/>
              </a:spcAft>
              <a:buFontTx/>
              <a:buNone/>
              <a:defRPr/>
            </a:pPr>
            <a:r>
              <a:rPr lang="en-US" altLang="zh-CN" dirty="0" smtClean="0"/>
              <a:t>class point</a:t>
            </a:r>
            <a:endParaRPr lang="en-US" altLang="zh-CN" dirty="0" smtClean="0"/>
          </a:p>
          <a:p>
            <a:pPr marL="365760" indent="-255905" eaLnBrk="1" fontAlgn="auto" hangingPunct="1">
              <a:lnSpc>
                <a:spcPct val="90000"/>
              </a:lnSpc>
              <a:spcAft>
                <a:spcPts val="0"/>
              </a:spcAft>
              <a:buFontTx/>
              <a:buNone/>
              <a:defRPr/>
            </a:pP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	private:</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int</a:t>
            </a:r>
            <a:r>
              <a:rPr lang="en-US" altLang="zh-CN" dirty="0" smtClean="0"/>
              <a:t> x;</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int</a:t>
            </a:r>
            <a:r>
              <a:rPr lang="en-US" altLang="zh-CN" dirty="0" smtClean="0"/>
              <a:t> y;</a:t>
            </a:r>
            <a:endParaRPr lang="en-US" altLang="zh-CN" dirty="0" smtClean="0"/>
          </a:p>
          <a:p>
            <a:pPr marL="365760" indent="-255905" eaLnBrk="1" fontAlgn="auto" hangingPunct="1">
              <a:lnSpc>
                <a:spcPct val="90000"/>
              </a:lnSpc>
              <a:spcAft>
                <a:spcPts val="0"/>
              </a:spcAft>
              <a:buFontTx/>
              <a:buNone/>
              <a:defRPr/>
            </a:pP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pubilc</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int</a:t>
            </a:r>
            <a:r>
              <a:rPr lang="en-US" altLang="zh-CN" dirty="0" smtClean="0"/>
              <a:t> z;</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GetX</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SetX</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GetY</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SetY</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858180" cy="4500594"/>
          </a:xfrm>
        </p:spPr>
        <p:txBody>
          <a:bodyPr/>
          <a:lstStyle/>
          <a:p>
            <a:pPr eaLnBrk="1" hangingPunct="1">
              <a:lnSpc>
                <a:spcPct val="90000"/>
              </a:lnSpc>
            </a:pPr>
            <a:r>
              <a:rPr lang="zh-CN" altLang="en-US" sz="2000" dirty="0" smtClean="0"/>
              <a:t>声明类</a:t>
            </a:r>
            <a:r>
              <a:rPr lang="zh-CN" altLang="en-US" sz="2000" dirty="0" smtClean="0">
                <a:solidFill>
                  <a:srgbClr val="FF0000"/>
                </a:solidFill>
              </a:rPr>
              <a:t>并没有分配存储空间</a:t>
            </a:r>
            <a:r>
              <a:rPr lang="zh-CN" altLang="en-US" sz="2000" dirty="0" smtClean="0"/>
              <a:t>，它只是说明它的构成情况：它包含些什么数据，功能是什么，</a:t>
            </a:r>
            <a:r>
              <a:rPr lang="zh-CN" altLang="en-US" sz="2000" dirty="0" smtClean="0">
                <a:solidFill>
                  <a:srgbClr val="FF0000"/>
                </a:solidFill>
              </a:rPr>
              <a:t>应该预留多大的存储空间</a:t>
            </a:r>
            <a:r>
              <a:rPr lang="zh-CN" altLang="en-US" sz="2000" dirty="0" smtClean="0"/>
              <a:t>。 </a:t>
            </a:r>
            <a:endParaRPr lang="zh-CN" altLang="en-US" sz="2000" dirty="0" smtClean="0"/>
          </a:p>
          <a:p>
            <a:pPr eaLnBrk="1" hangingPunct="1">
              <a:lnSpc>
                <a:spcPct val="90000"/>
              </a:lnSpc>
            </a:pPr>
            <a:r>
              <a:rPr lang="zh-CN" altLang="en-US" sz="2000" dirty="0" smtClean="0"/>
              <a:t>注意事项： </a:t>
            </a:r>
            <a:endParaRPr lang="zh-CN" altLang="en-US" sz="2000" dirty="0" smtClean="0"/>
          </a:p>
          <a:p>
            <a:pPr lvl="1" eaLnBrk="1" hangingPunct="1">
              <a:lnSpc>
                <a:spcPct val="90000"/>
              </a:lnSpc>
              <a:buNone/>
            </a:pPr>
            <a:r>
              <a:rPr lang="zh-CN" altLang="en-US" dirty="0" smtClean="0"/>
              <a:t>①类中任何数据成员不能加</a:t>
            </a:r>
            <a:r>
              <a:rPr lang="en-US" altLang="zh-CN" dirty="0" err="1" smtClean="0"/>
              <a:t>auto,register,extern</a:t>
            </a:r>
            <a:r>
              <a:rPr lang="zh-CN" altLang="en-US" dirty="0" smtClean="0"/>
              <a:t>修饰，但可用</a:t>
            </a:r>
            <a:r>
              <a:rPr lang="en-US" altLang="zh-CN" dirty="0" smtClean="0"/>
              <a:t>static</a:t>
            </a:r>
            <a:r>
              <a:rPr lang="zh-CN" altLang="en-US" dirty="0" smtClean="0"/>
              <a:t>修饰。</a:t>
            </a:r>
            <a:endParaRPr lang="zh-CN" altLang="en-US" dirty="0" smtClean="0"/>
          </a:p>
          <a:p>
            <a:pPr lvl="1" eaLnBrk="1" hangingPunct="1">
              <a:lnSpc>
                <a:spcPct val="90000"/>
              </a:lnSpc>
              <a:buNone/>
            </a:pPr>
            <a:r>
              <a:rPr lang="zh-CN" altLang="en-US" dirty="0" smtClean="0"/>
              <a:t>②</a:t>
            </a:r>
            <a:r>
              <a:rPr lang="zh-CN" altLang="en-US" b="1" dirty="0" smtClean="0">
                <a:solidFill>
                  <a:srgbClr val="FF0000"/>
                </a:solidFill>
              </a:rPr>
              <a:t>类中数据成员在声明时不允许用表达式进行初始化</a:t>
            </a:r>
            <a:r>
              <a:rPr lang="zh-CN" altLang="en-US" dirty="0" smtClean="0"/>
              <a:t>。</a:t>
            </a:r>
            <a:endParaRPr lang="zh-CN" altLang="en-US" dirty="0" smtClean="0"/>
          </a:p>
          <a:p>
            <a:pPr lvl="1" eaLnBrk="1" hangingPunct="1">
              <a:lnSpc>
                <a:spcPct val="90000"/>
              </a:lnSpc>
              <a:buNone/>
            </a:pPr>
            <a:r>
              <a:rPr lang="zh-CN" altLang="en-US" dirty="0" smtClean="0"/>
              <a:t>③类中数据成员和函数成员可以用</a:t>
            </a:r>
            <a:r>
              <a:rPr lang="en-US" altLang="zh-CN" dirty="0" smtClean="0"/>
              <a:t>const</a:t>
            </a:r>
            <a:r>
              <a:rPr lang="zh-CN" altLang="en-US" dirty="0" smtClean="0"/>
              <a:t>修饰；</a:t>
            </a:r>
            <a:endParaRPr lang="en-US" altLang="zh-CN" dirty="0" smtClean="0"/>
          </a:p>
          <a:p>
            <a:pPr lvl="1" eaLnBrk="1" hangingPunct="1">
              <a:lnSpc>
                <a:spcPct val="90000"/>
              </a:lnSpc>
              <a:buNone/>
            </a:pPr>
            <a:r>
              <a:rPr lang="zh-CN" altLang="en-US" dirty="0" smtClean="0"/>
              <a:t>④数据成员可以为用户自定义类类型。</a:t>
            </a:r>
            <a:endParaRPr lang="en-US" altLang="zh-CN" sz="16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858180" cy="4500594"/>
          </a:xfrm>
        </p:spPr>
        <p:txBody>
          <a:bodyPr/>
          <a:lstStyle/>
          <a:p>
            <a:pPr eaLnBrk="1" hangingPunct="1"/>
            <a:r>
              <a:rPr lang="zh-CN" altLang="en-US" sz="2000" dirty="0" smtClean="0"/>
              <a:t>访问控制是为保护类中成员不被其它类或其它函数破坏，提供三种访问方式：</a:t>
            </a:r>
            <a:endParaRPr lang="zh-CN" altLang="en-US" dirty="0" smtClean="0"/>
          </a:p>
          <a:p>
            <a:pPr lvl="1" eaLnBrk="1" hangingPunct="1"/>
            <a:r>
              <a:rPr lang="en-US" altLang="zh-CN" dirty="0" smtClean="0">
                <a:solidFill>
                  <a:srgbClr val="0000FF"/>
                </a:solidFill>
              </a:rPr>
              <a:t>private</a:t>
            </a:r>
            <a:r>
              <a:rPr lang="en-US" altLang="zh-CN" dirty="0" smtClean="0"/>
              <a:t>(</a:t>
            </a:r>
            <a:r>
              <a:rPr lang="zh-CN" altLang="en-US" dirty="0" smtClean="0"/>
              <a:t>私有</a:t>
            </a:r>
            <a:r>
              <a:rPr lang="en-US" altLang="zh-CN" dirty="0" smtClean="0"/>
              <a:t>)</a:t>
            </a:r>
            <a:r>
              <a:rPr lang="zh-CN" altLang="en-US" dirty="0" smtClean="0"/>
              <a:t>：除了该类的成员函数外，其它函数无法访问； </a:t>
            </a:r>
            <a:endParaRPr lang="zh-CN" altLang="en-US" dirty="0" smtClean="0"/>
          </a:p>
          <a:p>
            <a:pPr lvl="1" eaLnBrk="1" hangingPunct="1"/>
            <a:r>
              <a:rPr lang="en-US" altLang="zh-CN" dirty="0" smtClean="0">
                <a:solidFill>
                  <a:srgbClr val="0000FF"/>
                </a:solidFill>
              </a:rPr>
              <a:t>protected</a:t>
            </a:r>
            <a:r>
              <a:rPr lang="en-US" altLang="zh-CN" dirty="0" smtClean="0"/>
              <a:t>(</a:t>
            </a:r>
            <a:r>
              <a:rPr lang="zh-CN" altLang="en-US" dirty="0" smtClean="0"/>
              <a:t>保护</a:t>
            </a:r>
            <a:r>
              <a:rPr lang="en-US" altLang="zh-CN" dirty="0" smtClean="0"/>
              <a:t>)</a:t>
            </a:r>
            <a:r>
              <a:rPr lang="zh-CN" altLang="en-US" dirty="0" smtClean="0"/>
              <a:t>：该类的成员函数以及该类的派生类的函数可访问，其它函数无法访问。 </a:t>
            </a:r>
            <a:endParaRPr lang="zh-CN" altLang="en-US" dirty="0" smtClean="0"/>
          </a:p>
          <a:p>
            <a:pPr lvl="1" eaLnBrk="1" hangingPunct="1"/>
            <a:r>
              <a:rPr lang="en-US" altLang="zh-CN" dirty="0" smtClean="0">
                <a:solidFill>
                  <a:srgbClr val="0000FF"/>
                </a:solidFill>
              </a:rPr>
              <a:t>public</a:t>
            </a:r>
            <a:r>
              <a:rPr lang="en-US" altLang="zh-CN" dirty="0" smtClean="0"/>
              <a:t>(</a:t>
            </a:r>
            <a:r>
              <a:rPr lang="zh-CN" altLang="en-US" dirty="0" smtClean="0"/>
              <a:t>公有</a:t>
            </a:r>
            <a:r>
              <a:rPr lang="en-US" altLang="zh-CN" dirty="0" smtClean="0"/>
              <a:t>)</a:t>
            </a:r>
            <a:r>
              <a:rPr lang="zh-CN" altLang="en-US" dirty="0" smtClean="0"/>
              <a:t>：这种成员是该类对外的界面，允许程序的所有函数访问。</a:t>
            </a:r>
            <a:endParaRPr lang="en-US" altLang="zh-CN" dirty="0" smtClean="0"/>
          </a:p>
          <a:p>
            <a:pPr lvl="1"/>
            <a:r>
              <a:rPr lang="zh-CN" altLang="en-US" dirty="0" smtClean="0"/>
              <a:t>如果不标示出成员的访问控制方式，那么缺省为</a:t>
            </a:r>
            <a:r>
              <a:rPr lang="en-US" altLang="zh-CN" dirty="0" smtClean="0">
                <a:solidFill>
                  <a:srgbClr val="0000FF"/>
                </a:solidFill>
              </a:rPr>
              <a:t>private</a:t>
            </a:r>
            <a:r>
              <a:rPr lang="zh-CN" altLang="en-US" dirty="0" smtClean="0"/>
              <a:t>，但为了提高程序的可读性，我们不主张使用这种缺省方式。 </a:t>
            </a:r>
            <a:endParaRPr lang="zh-CN" altLang="en-US" dirty="0" smtClean="0"/>
          </a:p>
          <a:p>
            <a:pPr lvl="1" eaLnBrk="1" hangingPunct="1"/>
            <a:endParaRPr lang="zh-CN" altLang="en-US" dirty="0" smtClean="0"/>
          </a:p>
          <a:p>
            <a:pPr lvl="1" eaLnBrk="1" hangingPunct="1">
              <a:lnSpc>
                <a:spcPct val="90000"/>
              </a:lnSpc>
              <a:buNone/>
            </a:pPr>
            <a:endParaRPr lang="en-US" altLang="zh-CN" sz="16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6858048" cy="4500594"/>
          </a:xfrm>
        </p:spPr>
        <p:txBody>
          <a:bodyPr/>
          <a:lstStyle/>
          <a:p>
            <a:pPr eaLnBrk="1" hangingPunct="1">
              <a:lnSpc>
                <a:spcPct val="125000"/>
              </a:lnSpc>
            </a:pPr>
            <a:r>
              <a:rPr lang="zh-CN" altLang="en-US" sz="2000" dirty="0" smtClean="0"/>
              <a:t>类成员函数的定义和访问</a:t>
            </a:r>
            <a:endParaRPr lang="en-US" altLang="zh-CN" sz="2000" dirty="0" smtClean="0"/>
          </a:p>
          <a:p>
            <a:pPr lvl="1">
              <a:lnSpc>
                <a:spcPct val="125000"/>
              </a:lnSpc>
              <a:buNone/>
            </a:pPr>
            <a:r>
              <a:rPr lang="zh-CN" altLang="en-US" sz="1800" b="1" i="1" dirty="0" smtClean="0">
                <a:solidFill>
                  <a:srgbClr val="FF0000"/>
                </a:solidFill>
              </a:rPr>
              <a:t>具体运行过程是怎样？空间是如何分配的？</a:t>
            </a:r>
            <a:endParaRPr lang="en-US" altLang="zh-CN" sz="1800" b="1" i="1" dirty="0" smtClean="0">
              <a:solidFill>
                <a:srgbClr val="FF0000"/>
              </a:solidFill>
            </a:endParaRPr>
          </a:p>
          <a:p>
            <a:pPr marL="365760" indent="-255905" eaLnBrk="1" fontAlgn="auto" hangingPunct="1">
              <a:lnSpc>
                <a:spcPct val="90000"/>
              </a:lnSpc>
              <a:spcAft>
                <a:spcPts val="0"/>
              </a:spcAft>
              <a:buFontTx/>
              <a:buNone/>
              <a:defRPr/>
            </a:pPr>
            <a:r>
              <a:rPr lang="en-US" altLang="zh-CN" sz="1800" dirty="0" smtClean="0"/>
              <a:t>class </a:t>
            </a:r>
            <a:r>
              <a:rPr lang="en-US" altLang="zh-CN" sz="1800" dirty="0" err="1" smtClean="0"/>
              <a:t>Tdate</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public:</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Set(</a:t>
            </a:r>
            <a:r>
              <a:rPr lang="en-US" altLang="zh-CN" sz="1800" dirty="0" err="1" smtClean="0"/>
              <a:t>int</a:t>
            </a:r>
            <a:r>
              <a:rPr lang="en-US" altLang="zh-CN" sz="1800" dirty="0" smtClean="0"/>
              <a:t> </a:t>
            </a:r>
            <a:r>
              <a:rPr lang="en-US" altLang="zh-CN" sz="1800" dirty="0" err="1" smtClean="0"/>
              <a:t>m,int</a:t>
            </a:r>
            <a:r>
              <a:rPr lang="en-US" altLang="zh-CN" sz="1800" dirty="0" smtClean="0"/>
              <a:t> </a:t>
            </a:r>
            <a:r>
              <a:rPr lang="en-US" altLang="zh-CN" sz="1800" dirty="0" err="1" smtClean="0"/>
              <a:t>d,int</a:t>
            </a:r>
            <a:r>
              <a:rPr lang="en-US" altLang="zh-CN" sz="1800" dirty="0" smtClean="0"/>
              <a:t> y)    //</a:t>
            </a:r>
            <a:r>
              <a:rPr lang="zh-CN" altLang="en-US" sz="1800" dirty="0" smtClean="0"/>
              <a:t>置日期值</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    month=m; day=d; year=y;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a:t>
            </a:r>
            <a:r>
              <a:rPr lang="en-US" altLang="zh-CN" sz="1800" dirty="0" err="1" smtClean="0"/>
              <a:t>IsLeapYear</a:t>
            </a:r>
            <a:r>
              <a:rPr lang="en-US" altLang="zh-CN" sz="1800" dirty="0" smtClean="0"/>
              <a:t>()               //</a:t>
            </a:r>
            <a:r>
              <a:rPr lang="zh-CN" altLang="en-US" sz="1800" dirty="0" smtClean="0"/>
              <a:t>判是否闰年</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    return (year%4==0&amp;&amp;year%100!=0)||(year%400==0);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Print()                   //</a:t>
            </a:r>
            <a:r>
              <a:rPr lang="zh-CN" altLang="en-US" sz="1800" dirty="0" smtClean="0"/>
              <a:t>输出日期值</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    </a:t>
            </a:r>
            <a:r>
              <a:rPr lang="en-US" altLang="zh-CN" sz="1800" dirty="0" err="1" smtClean="0"/>
              <a:t>cout</a:t>
            </a:r>
            <a:r>
              <a:rPr lang="en-US" altLang="zh-CN" sz="1800" dirty="0" smtClean="0"/>
              <a:t> &lt;&lt;month &lt;&lt;"/" &lt;&lt;day &lt;&lt;"/" &lt;&lt;year &lt;&lt;</a:t>
            </a:r>
            <a:r>
              <a:rPr lang="en-US" altLang="zh-CN" sz="1800" dirty="0" err="1" smtClean="0"/>
              <a:t>endl</a:t>
            </a:r>
            <a:r>
              <a:rPr lang="en-US" altLang="zh-CN" sz="1800" dirty="0" smtClean="0"/>
              <a:t>;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private:</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month;</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day;</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year;</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4214810" y="4643446"/>
            <a:ext cx="4143404" cy="1837426"/>
          </a:xfrm>
          <a:prstGeom prst="rect">
            <a:avLst/>
          </a:prstGeom>
        </p:spPr>
        <p:txBody>
          <a:bodyPr wrap="square">
            <a:spAutoFit/>
          </a:bodyPr>
          <a:lstStyle/>
          <a:p>
            <a:pPr marL="365760" indent="-255905" eaLnBrk="1" fontAlgn="auto" hangingPunct="1">
              <a:lnSpc>
                <a:spcPct val="90000"/>
              </a:lnSpc>
              <a:spcAft>
                <a:spcPts val="0"/>
              </a:spcAft>
              <a:buFontTx/>
              <a:buNone/>
              <a:defRPr/>
            </a:pPr>
            <a:r>
              <a:rPr lang="en-US" altLang="zh-CN" dirty="0" smtClean="0"/>
              <a:t>void main()</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Tdate</a:t>
            </a:r>
            <a:r>
              <a:rPr lang="en-US" altLang="zh-CN" dirty="0" smtClean="0"/>
              <a:t> a; //</a:t>
            </a:r>
            <a:r>
              <a:rPr lang="zh-CN" altLang="en-US" dirty="0" smtClean="0"/>
              <a:t>这时才分配空间</a:t>
            </a:r>
            <a:endParaRPr lang="en-US" altLang="zh-CN" dirty="0" smtClean="0"/>
          </a:p>
          <a:p>
            <a:pPr marL="365760" indent="-255905" eaLnBrk="1" fontAlgn="auto" hangingPunct="1">
              <a:lnSpc>
                <a:spcPct val="90000"/>
              </a:lnSpc>
              <a:spcAft>
                <a:spcPts val="0"/>
              </a:spcAft>
              <a:buFontTx/>
              <a:buNone/>
              <a:defRPr/>
            </a:pPr>
            <a:r>
              <a:rPr lang="en-US" altLang="zh-CN" dirty="0" smtClean="0">
                <a:solidFill>
                  <a:srgbClr val="FF0000"/>
                </a:solidFill>
              </a:rPr>
              <a:t>   </a:t>
            </a:r>
            <a:r>
              <a:rPr lang="en-US" altLang="zh-CN" dirty="0" err="1" smtClean="0">
                <a:solidFill>
                  <a:srgbClr val="FF0000"/>
                </a:solidFill>
              </a:rPr>
              <a:t>a.year</a:t>
            </a:r>
            <a:r>
              <a:rPr lang="en-US" altLang="zh-CN" dirty="0" smtClean="0">
                <a:solidFill>
                  <a:srgbClr val="FF0000"/>
                </a:solidFill>
              </a:rPr>
              <a:t> = 1998; //error</a:t>
            </a:r>
            <a:endParaRPr lang="en-US" altLang="zh-CN" dirty="0" smtClean="0">
              <a:solidFill>
                <a:srgbClr val="FF0000"/>
              </a:solidFill>
            </a:endParaRPr>
          </a:p>
          <a:p>
            <a:pPr marL="365760" indent="-255905" eaLnBrk="1" fontAlgn="auto" hangingPunct="1">
              <a:lnSpc>
                <a:spcPct val="90000"/>
              </a:lnSpc>
              <a:spcAft>
                <a:spcPts val="0"/>
              </a:spcAft>
              <a:buFontTx/>
              <a:buNone/>
              <a:defRPr/>
            </a:pPr>
            <a:r>
              <a:rPr lang="en-US" altLang="zh-CN" dirty="0" smtClean="0"/>
              <a:t>   </a:t>
            </a:r>
            <a:r>
              <a:rPr lang="en-US" altLang="zh-CN" dirty="0" err="1" smtClean="0"/>
              <a:t>a.Set</a:t>
            </a:r>
            <a:r>
              <a:rPr lang="en-US" altLang="zh-CN" dirty="0" smtClean="0"/>
              <a:t>(2,4,1998); //</a:t>
            </a:r>
            <a:r>
              <a:rPr lang="zh-CN" altLang="en-US" dirty="0" smtClean="0"/>
              <a:t>初始化</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a.Print</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solidFill>
                  <a:srgbClr val="FF0000"/>
                </a:solidFill>
              </a:rPr>
              <a:t>cout</a:t>
            </a:r>
            <a:r>
              <a:rPr lang="en-US" altLang="zh-CN" dirty="0" smtClean="0">
                <a:solidFill>
                  <a:srgbClr val="FF0000"/>
                </a:solidFill>
              </a:rPr>
              <a:t>&lt;&lt;</a:t>
            </a:r>
            <a:r>
              <a:rPr lang="en-US" altLang="zh-CN" dirty="0" err="1" smtClean="0">
                <a:solidFill>
                  <a:srgbClr val="FF0000"/>
                </a:solidFill>
              </a:rPr>
              <a:t>a.day</a:t>
            </a:r>
            <a:r>
              <a:rPr lang="en-US" altLang="zh-CN" dirty="0" smtClean="0">
                <a:solidFill>
                  <a:srgbClr val="FF0000"/>
                </a:solidFill>
              </a:rPr>
              <a:t>; //error</a:t>
            </a:r>
            <a:endParaRPr lang="en-US" altLang="zh-CN" dirty="0" smtClean="0">
              <a:solidFill>
                <a:srgbClr val="FF0000"/>
              </a:solidFill>
            </a:endParaRPr>
          </a:p>
          <a:p>
            <a:pPr marL="365760" indent="-255905" eaLnBrk="1" fontAlgn="auto" hangingPunct="1">
              <a:lnSpc>
                <a:spcPct val="90000"/>
              </a:lnSpc>
              <a:spcAft>
                <a:spcPts val="0"/>
              </a:spcAft>
              <a:buFontTx/>
              <a:buNone/>
              <a:defRPr/>
            </a:pP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85720" y="1000108"/>
            <a:ext cx="7858180" cy="5214974"/>
          </a:xfrm>
        </p:spPr>
        <p:txBody>
          <a:bodyPr/>
          <a:lstStyle/>
          <a:p>
            <a:pPr eaLnBrk="1" hangingPunct="1">
              <a:lnSpc>
                <a:spcPct val="125000"/>
              </a:lnSpc>
            </a:pPr>
            <a:r>
              <a:rPr lang="zh-CN" altLang="en-US" sz="2000" dirty="0" smtClean="0"/>
              <a:t>类成员函数的定义在类声明之后</a:t>
            </a:r>
            <a:endParaRPr lang="en-US" altLang="zh-CN" sz="2000" dirty="0" smtClean="0"/>
          </a:p>
          <a:p>
            <a:pPr lvl="1">
              <a:lnSpc>
                <a:spcPct val="125000"/>
              </a:lnSpc>
              <a:buNone/>
            </a:pPr>
            <a:r>
              <a:rPr lang="en-US" altLang="zh-CN" sz="1600" b="1" dirty="0" smtClean="0">
                <a:solidFill>
                  <a:srgbClr val="FF0000"/>
                </a:solidFill>
              </a:rPr>
              <a:t>A1.</a:t>
            </a:r>
            <a:r>
              <a:rPr lang="zh-CN" altLang="en-US" sz="1600" b="1" dirty="0" smtClean="0">
                <a:solidFill>
                  <a:srgbClr val="FF0000"/>
                </a:solidFill>
              </a:rPr>
              <a:t>把类定义和成员函数定义分开是现代程序开发的通用做法</a:t>
            </a:r>
            <a:endParaRPr lang="en-US" altLang="zh-CN" sz="1600" b="1" dirty="0" smtClean="0">
              <a:solidFill>
                <a:srgbClr val="FF0000"/>
              </a:solidFill>
            </a:endParaRPr>
          </a:p>
          <a:p>
            <a:pPr lvl="1">
              <a:lnSpc>
                <a:spcPct val="125000"/>
              </a:lnSpc>
              <a:buNone/>
            </a:pPr>
            <a:r>
              <a:rPr lang="en-US" altLang="zh-CN" sz="1600" b="1" dirty="0" smtClean="0">
                <a:solidFill>
                  <a:srgbClr val="FF0000"/>
                </a:solidFill>
              </a:rPr>
              <a:t>A2.</a:t>
            </a:r>
            <a:r>
              <a:rPr lang="zh-CN" altLang="en-US" sz="1600" b="1" dirty="0" smtClean="0">
                <a:solidFill>
                  <a:srgbClr val="FF0000"/>
                </a:solidFill>
              </a:rPr>
              <a:t>在类声明之后定义成员函数，类名放在函数名之前，非函数类型之前</a:t>
            </a:r>
            <a:endParaRPr lang="en-US" altLang="zh-CN" sz="1600" b="1" dirty="0" smtClean="0">
              <a:solidFill>
                <a:srgbClr val="FF0000"/>
              </a:solidFill>
            </a:endParaRPr>
          </a:p>
          <a:p>
            <a:pPr lvl="1">
              <a:lnSpc>
                <a:spcPct val="125000"/>
              </a:lnSpc>
              <a:buNone/>
            </a:pPr>
            <a:r>
              <a:rPr lang="en-US" altLang="zh-CN" sz="1600" b="1" dirty="0" smtClean="0">
                <a:solidFill>
                  <a:srgbClr val="FF0000"/>
                </a:solidFill>
              </a:rPr>
              <a:t>A3.</a:t>
            </a:r>
            <a:r>
              <a:rPr lang="zh-CN" altLang="en-US" sz="1600" b="1" dirty="0" smtClean="0">
                <a:solidFill>
                  <a:srgbClr val="FF0000"/>
                </a:solidFill>
              </a:rPr>
              <a:t>类内的数据成员可以直接使用，无需声明是哪个类的成员</a:t>
            </a:r>
            <a:endParaRPr lang="en-US" altLang="zh-CN" sz="1600" b="1" dirty="0" smtClean="0">
              <a:solidFill>
                <a:srgbClr val="FF0000"/>
              </a:solidFill>
            </a:endParaRPr>
          </a:p>
          <a:p>
            <a:pPr marL="365760" indent="-255905" eaLnBrk="1" fontAlgn="auto" hangingPunct="1">
              <a:lnSpc>
                <a:spcPct val="90000"/>
              </a:lnSpc>
              <a:spcAft>
                <a:spcPts val="0"/>
              </a:spcAft>
              <a:buFontTx/>
              <a:buNone/>
              <a:defRPr/>
            </a:pPr>
            <a:r>
              <a:rPr lang="en-US" altLang="zh-CN" sz="1600" dirty="0" smtClean="0"/>
              <a:t>class </a:t>
            </a:r>
            <a:r>
              <a:rPr lang="en-US" altLang="zh-CN" sz="1600" dirty="0" err="1" smtClean="0"/>
              <a:t>Tdate</a:t>
            </a:r>
            <a:r>
              <a:rPr lang="en-US" altLang="zh-CN" sz="1600" dirty="0" smtClean="0"/>
              <a:t>{</a:t>
            </a:r>
            <a:endParaRPr lang="en-US" altLang="zh-CN" sz="1600" dirty="0" smtClean="0"/>
          </a:p>
          <a:p>
            <a:pPr marL="365760" indent="-255905" eaLnBrk="1" fontAlgn="auto" hangingPunct="1">
              <a:lnSpc>
                <a:spcPct val="90000"/>
              </a:lnSpc>
              <a:spcAft>
                <a:spcPts val="0"/>
              </a:spcAft>
              <a:buFontTx/>
              <a:buNone/>
              <a:defRPr/>
            </a:pPr>
            <a:r>
              <a:rPr lang="en-US" altLang="zh-CN" sz="1600" dirty="0" smtClean="0"/>
              <a:t>public:</a:t>
            </a:r>
            <a:endParaRPr lang="en-US" altLang="zh-CN" sz="1600" dirty="0" smtClean="0"/>
          </a:p>
          <a:p>
            <a:pPr marL="365760" indent="-255905" eaLnBrk="1" fontAlgn="auto" hangingPunct="1">
              <a:lnSpc>
                <a:spcPct val="90000"/>
              </a:lnSpc>
              <a:spcAft>
                <a:spcPts val="0"/>
              </a:spcAft>
              <a:buFontTx/>
              <a:buNone/>
              <a:defRPr/>
            </a:pPr>
            <a:r>
              <a:rPr lang="en-US" altLang="zh-CN" sz="1600" dirty="0" smtClean="0"/>
              <a:t>  	void Set(</a:t>
            </a:r>
            <a:r>
              <a:rPr lang="en-US" altLang="zh-CN" sz="1600" dirty="0" err="1" smtClean="0"/>
              <a:t>int</a:t>
            </a:r>
            <a:r>
              <a:rPr lang="en-US" altLang="zh-CN" sz="1600" dirty="0" smtClean="0"/>
              <a:t> </a:t>
            </a:r>
            <a:r>
              <a:rPr lang="en-US" altLang="zh-CN" sz="1600" dirty="0" err="1" smtClean="0"/>
              <a:t>m,int</a:t>
            </a:r>
            <a:r>
              <a:rPr lang="en-US" altLang="zh-CN" sz="1600" dirty="0" smtClean="0"/>
              <a:t> </a:t>
            </a:r>
            <a:r>
              <a:rPr lang="en-US" altLang="zh-CN" sz="1600" dirty="0" err="1" smtClean="0"/>
              <a:t>d,int</a:t>
            </a:r>
            <a:r>
              <a:rPr lang="en-US" altLang="zh-CN" sz="1600" dirty="0" smtClean="0"/>
              <a:t> y)</a:t>
            </a:r>
            <a:r>
              <a:rPr lang="en-US" altLang="zh-CN" sz="1600" b="1" dirty="0" smtClean="0">
                <a:solidFill>
                  <a:srgbClr val="FF0000"/>
                </a:solidFill>
              </a:rPr>
              <a:t>;</a:t>
            </a:r>
            <a:r>
              <a:rPr lang="en-US" altLang="zh-CN" sz="1600" dirty="0" smtClean="0"/>
              <a:t>    //</a:t>
            </a:r>
            <a:r>
              <a:rPr lang="zh-CN" altLang="en-US" sz="1600" dirty="0" smtClean="0"/>
              <a:t>多了一个分号</a:t>
            </a:r>
            <a:endParaRPr lang="zh-CN" altLang="en-US" sz="1600" dirty="0" smtClean="0"/>
          </a:p>
          <a:p>
            <a:pPr marL="365760" indent="-255905" eaLnBrk="1" fontAlgn="auto" hangingPunct="1">
              <a:lnSpc>
                <a:spcPct val="90000"/>
              </a:lnSpc>
              <a:spcAft>
                <a:spcPts val="0"/>
              </a:spcAft>
              <a:buFontTx/>
              <a:buNone/>
              <a:defRPr/>
            </a:pPr>
            <a:r>
              <a:rPr lang="en-US" altLang="zh-CN" sz="1600" dirty="0" smtClean="0"/>
              <a:t>	</a:t>
            </a:r>
            <a:r>
              <a:rPr lang="en-US" altLang="zh-CN" sz="1600" dirty="0" err="1" smtClean="0"/>
              <a:t>int</a:t>
            </a:r>
            <a:r>
              <a:rPr lang="en-US" altLang="zh-CN" sz="1600" dirty="0" smtClean="0"/>
              <a:t> </a:t>
            </a:r>
            <a:r>
              <a:rPr lang="en-US" altLang="zh-CN" sz="1600" dirty="0" err="1" smtClean="0"/>
              <a:t>IsLeapYear</a:t>
            </a:r>
            <a:r>
              <a:rPr lang="en-US" altLang="zh-CN" sz="1600" dirty="0" smtClean="0"/>
              <a:t>()</a:t>
            </a:r>
            <a:r>
              <a:rPr lang="en-US" altLang="zh-CN" sz="1600" b="1" dirty="0" smtClean="0">
                <a:solidFill>
                  <a:srgbClr val="FF0000"/>
                </a:solidFill>
              </a:rPr>
              <a:t>; </a:t>
            </a:r>
            <a:r>
              <a:rPr lang="en-US" altLang="zh-CN" sz="1600" dirty="0" smtClean="0"/>
              <a:t>           </a:t>
            </a:r>
            <a:endParaRPr lang="zh-CN" altLang="en-US" sz="1600" dirty="0" smtClean="0"/>
          </a:p>
          <a:p>
            <a:pPr marL="365760" indent="-255905" eaLnBrk="1" fontAlgn="auto" hangingPunct="1">
              <a:lnSpc>
                <a:spcPct val="90000"/>
              </a:lnSpc>
              <a:spcAft>
                <a:spcPts val="0"/>
              </a:spcAft>
              <a:buFontTx/>
              <a:buNone/>
              <a:defRPr/>
            </a:pPr>
            <a:r>
              <a:rPr lang="en-US" altLang="zh-CN" sz="1600" dirty="0" smtClean="0"/>
              <a:t>	void Print()</a:t>
            </a:r>
            <a:r>
              <a:rPr lang="en-US" altLang="zh-CN" sz="1600" dirty="0" smtClean="0">
                <a:solidFill>
                  <a:srgbClr val="FF0000"/>
                </a:solidFill>
              </a:rPr>
              <a:t>; </a:t>
            </a:r>
            <a:r>
              <a:rPr lang="en-US" altLang="zh-CN" sz="1600" dirty="0" smtClean="0"/>
              <a:t>                  </a:t>
            </a:r>
            <a:endParaRPr lang="zh-CN" altLang="en-US" sz="1600" dirty="0" smtClean="0"/>
          </a:p>
          <a:p>
            <a:pPr marL="365760" indent="-255905" eaLnBrk="1" fontAlgn="auto" hangingPunct="1">
              <a:lnSpc>
                <a:spcPct val="90000"/>
              </a:lnSpc>
              <a:spcAft>
                <a:spcPts val="0"/>
              </a:spcAft>
              <a:buFontTx/>
              <a:buNone/>
              <a:defRPr/>
            </a:pPr>
            <a:r>
              <a:rPr lang="en-US" altLang="zh-CN" sz="1600" dirty="0" smtClean="0"/>
              <a:t>private:</a:t>
            </a:r>
            <a:endParaRPr lang="en-US" altLang="zh-CN" sz="1600" dirty="0" smtClean="0"/>
          </a:p>
          <a:p>
            <a:pPr marL="365760" indent="-255905" eaLnBrk="1" fontAlgn="auto" hangingPunct="1">
              <a:lnSpc>
                <a:spcPct val="90000"/>
              </a:lnSpc>
              <a:spcAft>
                <a:spcPts val="0"/>
              </a:spcAft>
              <a:buFontTx/>
              <a:buNone/>
              <a:defRPr/>
            </a:pPr>
            <a:r>
              <a:rPr lang="en-US" altLang="zh-CN" sz="1600" dirty="0" smtClean="0"/>
              <a:t>  </a:t>
            </a:r>
            <a:r>
              <a:rPr lang="en-US" altLang="zh-CN" sz="1600" dirty="0" err="1" smtClean="0"/>
              <a:t>int</a:t>
            </a:r>
            <a:r>
              <a:rPr lang="en-US" altLang="zh-CN" sz="1600" dirty="0" smtClean="0"/>
              <a:t> month, </a:t>
            </a:r>
            <a:r>
              <a:rPr lang="en-US" altLang="zh-CN" sz="1600" dirty="0" err="1" smtClean="0"/>
              <a:t>day,year</a:t>
            </a:r>
            <a:r>
              <a:rPr lang="en-US" altLang="zh-CN" sz="1600" dirty="0" smtClean="0"/>
              <a:t>;</a:t>
            </a:r>
            <a:endParaRPr lang="en-US" altLang="zh-CN" sz="1600" dirty="0" smtClean="0"/>
          </a:p>
          <a:p>
            <a:pPr marL="365760" indent="-255905" eaLnBrk="1" fontAlgn="auto" hangingPunct="1">
              <a:lnSpc>
                <a:spcPct val="90000"/>
              </a:lnSpc>
              <a:spcAft>
                <a:spcPts val="0"/>
              </a:spcAft>
              <a:buFontTx/>
              <a:buNone/>
              <a:defRPr/>
            </a:pPr>
            <a:r>
              <a:rPr lang="en-US" altLang="zh-CN" sz="1600" dirty="0" smtClean="0"/>
              <a:t>};</a:t>
            </a:r>
            <a:endParaRPr lang="en-US" altLang="zh-CN" sz="1600" dirty="0" smtClean="0"/>
          </a:p>
          <a:p>
            <a:pPr marL="365760" indent="-255905" eaLnBrk="1" fontAlgn="auto" hangingPunct="1">
              <a:lnSpc>
                <a:spcPct val="90000"/>
              </a:lnSpc>
              <a:spcAft>
                <a:spcPts val="0"/>
              </a:spcAft>
              <a:buFontTx/>
              <a:buNone/>
              <a:defRPr/>
            </a:pPr>
            <a:r>
              <a:rPr lang="en-US" altLang="zh-CN" sz="1600" dirty="0" smtClean="0">
                <a:solidFill>
                  <a:srgbClr val="FF0000"/>
                </a:solidFill>
              </a:rPr>
              <a:t>void </a:t>
            </a:r>
            <a:r>
              <a:rPr lang="en-US" altLang="zh-CN" sz="1600" dirty="0" err="1" smtClean="0">
                <a:solidFill>
                  <a:srgbClr val="FF0000"/>
                </a:solidFill>
              </a:rPr>
              <a:t>Tdate</a:t>
            </a:r>
            <a:r>
              <a:rPr lang="en-US" altLang="zh-CN" sz="1600" dirty="0" smtClean="0">
                <a:solidFill>
                  <a:srgbClr val="FF0000"/>
                </a:solidFill>
              </a:rPr>
              <a:t>::Set</a:t>
            </a:r>
            <a:r>
              <a:rPr lang="en-US" altLang="zh-CN" sz="1600" dirty="0" smtClean="0"/>
              <a:t>(</a:t>
            </a:r>
            <a:r>
              <a:rPr lang="en-US" altLang="zh-CN" sz="1600" dirty="0" err="1" smtClean="0"/>
              <a:t>int</a:t>
            </a:r>
            <a:r>
              <a:rPr lang="en-US" altLang="zh-CN" sz="1600" dirty="0" smtClean="0"/>
              <a:t> </a:t>
            </a:r>
            <a:r>
              <a:rPr lang="en-US" altLang="zh-CN" sz="1600" dirty="0" err="1" smtClean="0"/>
              <a:t>m,int</a:t>
            </a:r>
            <a:r>
              <a:rPr lang="en-US" altLang="zh-CN" sz="1600" dirty="0" smtClean="0"/>
              <a:t> </a:t>
            </a:r>
            <a:r>
              <a:rPr lang="en-US" altLang="zh-CN" sz="1600" dirty="0" err="1" smtClean="0"/>
              <a:t>d,int</a:t>
            </a:r>
            <a:r>
              <a:rPr lang="en-US" altLang="zh-CN" sz="1600" dirty="0" smtClean="0"/>
              <a:t> y)    //</a:t>
            </a:r>
            <a:r>
              <a:rPr lang="zh-CN" altLang="en-US" sz="1600" dirty="0" smtClean="0"/>
              <a:t>置日期值</a:t>
            </a:r>
            <a:endParaRPr lang="zh-CN" altLang="en-US" sz="1600" dirty="0" smtClean="0"/>
          </a:p>
          <a:p>
            <a:pPr marL="365760" indent="-255905" eaLnBrk="1" fontAlgn="auto" hangingPunct="1">
              <a:lnSpc>
                <a:spcPct val="90000"/>
              </a:lnSpc>
              <a:spcAft>
                <a:spcPts val="0"/>
              </a:spcAft>
              <a:buFontTx/>
              <a:buNone/>
              <a:defRPr/>
            </a:pPr>
            <a:r>
              <a:rPr lang="zh-CN" altLang="en-US" sz="1600" dirty="0" smtClean="0"/>
              <a:t> </a:t>
            </a:r>
            <a:r>
              <a:rPr lang="en-US" altLang="zh-CN" sz="1600" dirty="0" smtClean="0"/>
              <a:t>{    month=m; day=d; year=y; }</a:t>
            </a:r>
            <a:endParaRPr lang="en-US" altLang="zh-CN" sz="1600" dirty="0" smtClean="0"/>
          </a:p>
          <a:p>
            <a:pPr marL="365760" indent="-255905" eaLnBrk="1" fontAlgn="auto" hangingPunct="1">
              <a:lnSpc>
                <a:spcPct val="90000"/>
              </a:lnSpc>
              <a:spcAft>
                <a:spcPts val="0"/>
              </a:spcAft>
              <a:buFontTx/>
              <a:buNone/>
              <a:defRPr/>
            </a:pPr>
            <a:r>
              <a:rPr lang="en-US" altLang="zh-CN" sz="1600" dirty="0" smtClean="0"/>
              <a:t> </a:t>
            </a:r>
            <a:r>
              <a:rPr lang="en-US" altLang="zh-CN" sz="1600" dirty="0" err="1" smtClean="0"/>
              <a:t>int</a:t>
            </a:r>
            <a:r>
              <a:rPr lang="en-US" altLang="zh-CN" sz="1600" dirty="0" smtClean="0"/>
              <a:t> </a:t>
            </a:r>
            <a:r>
              <a:rPr lang="en-US" altLang="zh-CN" sz="1600" dirty="0" err="1" smtClean="0"/>
              <a:t>Tdate</a:t>
            </a:r>
            <a:r>
              <a:rPr lang="en-US" altLang="zh-CN" sz="1600" dirty="0" smtClean="0"/>
              <a:t>::</a:t>
            </a:r>
            <a:r>
              <a:rPr lang="en-US" altLang="zh-CN" sz="1600" dirty="0" err="1" smtClean="0"/>
              <a:t>IsLeapYear</a:t>
            </a:r>
            <a:r>
              <a:rPr lang="en-US" altLang="zh-CN" sz="1600" dirty="0" smtClean="0"/>
              <a:t>()               //</a:t>
            </a:r>
            <a:r>
              <a:rPr lang="zh-CN" altLang="en-US" sz="1600" dirty="0" smtClean="0"/>
              <a:t>判是否闰年</a:t>
            </a:r>
            <a:endParaRPr lang="zh-CN" altLang="en-US" sz="1600" dirty="0" smtClean="0"/>
          </a:p>
          <a:p>
            <a:pPr marL="365760" indent="-255905" eaLnBrk="1" fontAlgn="auto" hangingPunct="1">
              <a:lnSpc>
                <a:spcPct val="90000"/>
              </a:lnSpc>
              <a:spcAft>
                <a:spcPts val="0"/>
              </a:spcAft>
              <a:buFontTx/>
              <a:buNone/>
              <a:defRPr/>
            </a:pPr>
            <a:r>
              <a:rPr lang="zh-CN" altLang="en-US" sz="1600" dirty="0" smtClean="0"/>
              <a:t> </a:t>
            </a:r>
            <a:r>
              <a:rPr lang="en-US" altLang="zh-CN" sz="1600" dirty="0" smtClean="0"/>
              <a:t>{    return (year%4==0&amp;&amp;year%100!=0)||(year%400==0);  }</a:t>
            </a:r>
            <a:endParaRPr lang="en-US" altLang="zh-CN" sz="1600" dirty="0" smtClean="0"/>
          </a:p>
          <a:p>
            <a:pPr marL="365760" indent="-255905" eaLnBrk="1" fontAlgn="auto" hangingPunct="1">
              <a:lnSpc>
                <a:spcPct val="90000"/>
              </a:lnSpc>
              <a:spcAft>
                <a:spcPts val="0"/>
              </a:spcAft>
              <a:buFontTx/>
              <a:buNone/>
              <a:defRPr/>
            </a:pPr>
            <a:r>
              <a:rPr lang="en-US" altLang="zh-CN" sz="1600" dirty="0" smtClean="0"/>
              <a:t> void </a:t>
            </a:r>
            <a:r>
              <a:rPr lang="en-US" altLang="zh-CN" sz="1600" dirty="0" err="1" smtClean="0"/>
              <a:t>Tdate</a:t>
            </a:r>
            <a:r>
              <a:rPr lang="en-US" altLang="zh-CN" sz="1600" dirty="0" smtClean="0"/>
              <a:t>::Print()                   //</a:t>
            </a:r>
            <a:r>
              <a:rPr lang="zh-CN" altLang="en-US" sz="1600" dirty="0" smtClean="0"/>
              <a:t>输出日期值</a:t>
            </a:r>
            <a:endParaRPr lang="zh-CN" altLang="en-US" sz="1600" dirty="0" smtClean="0"/>
          </a:p>
          <a:p>
            <a:pPr marL="365760" indent="-255905" eaLnBrk="1" fontAlgn="auto" hangingPunct="1">
              <a:lnSpc>
                <a:spcPct val="90000"/>
              </a:lnSpc>
              <a:spcAft>
                <a:spcPts val="0"/>
              </a:spcAft>
              <a:buFontTx/>
              <a:buNone/>
              <a:defRPr/>
            </a:pPr>
            <a:r>
              <a:rPr lang="zh-CN" altLang="en-US" sz="1600" dirty="0" smtClean="0"/>
              <a:t> </a:t>
            </a:r>
            <a:r>
              <a:rPr lang="en-US" altLang="zh-CN" sz="1600" dirty="0" smtClean="0"/>
              <a:t>{    </a:t>
            </a:r>
            <a:r>
              <a:rPr lang="en-US" altLang="zh-CN" sz="1600" dirty="0" err="1" smtClean="0"/>
              <a:t>cout</a:t>
            </a:r>
            <a:r>
              <a:rPr lang="en-US" altLang="zh-CN" sz="1600" dirty="0" smtClean="0"/>
              <a:t> &lt;&lt;month &lt;&lt;"/" &lt;&lt;day &lt;&lt;"/" &lt;&lt;year &lt;&lt;</a:t>
            </a:r>
            <a:r>
              <a:rPr lang="en-US" altLang="zh-CN" sz="1600" dirty="0" err="1" smtClean="0"/>
              <a:t>endl</a:t>
            </a:r>
            <a:r>
              <a:rPr lang="en-US" altLang="zh-CN" sz="1600" dirty="0" smtClean="0"/>
              <a:t>;  }</a:t>
            </a: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5786446" y="3143248"/>
            <a:ext cx="3071834" cy="1338828"/>
          </a:xfrm>
          <a:prstGeom prst="rect">
            <a:avLst/>
          </a:prstGeom>
        </p:spPr>
        <p:txBody>
          <a:bodyPr wrap="square">
            <a:spAutoFit/>
          </a:bodyPr>
          <a:lstStyle/>
          <a:p>
            <a:pPr marL="365760" indent="-255905" eaLnBrk="1" fontAlgn="auto" hangingPunct="1">
              <a:lnSpc>
                <a:spcPct val="90000"/>
              </a:lnSpc>
              <a:spcAft>
                <a:spcPts val="0"/>
              </a:spcAft>
              <a:buFontTx/>
              <a:buNone/>
              <a:defRPr/>
            </a:pPr>
            <a:r>
              <a:rPr lang="en-US" altLang="zh-CN" dirty="0" smtClean="0"/>
              <a:t>void main()</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Tdate</a:t>
            </a:r>
            <a:r>
              <a:rPr lang="en-US" altLang="zh-CN" dirty="0" smtClean="0"/>
              <a:t> a;</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a.Set</a:t>
            </a:r>
            <a:r>
              <a:rPr lang="en-US" altLang="zh-CN" dirty="0" smtClean="0"/>
              <a:t>(2,4,1998);</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a.Print</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6858048" cy="4500594"/>
          </a:xfrm>
        </p:spPr>
        <p:txBody>
          <a:bodyPr/>
          <a:lstStyle/>
          <a:p>
            <a:pPr eaLnBrk="1" hangingPunct="1">
              <a:lnSpc>
                <a:spcPct val="125000"/>
              </a:lnSpc>
            </a:pPr>
            <a:r>
              <a:rPr lang="zh-CN" altLang="en-US" sz="2000" dirty="0" smtClean="0"/>
              <a:t>当类成员变量是</a:t>
            </a:r>
            <a:r>
              <a:rPr lang="en-US" altLang="zh-CN" sz="2000" dirty="0" smtClean="0"/>
              <a:t>private</a:t>
            </a:r>
            <a:r>
              <a:rPr lang="zh-CN" altLang="en-US" sz="2000" dirty="0" smtClean="0"/>
              <a:t>，</a:t>
            </a:r>
            <a:r>
              <a:rPr lang="en-US" altLang="zh-CN" sz="2000" dirty="0" smtClean="0"/>
              <a:t>Get</a:t>
            </a:r>
            <a:r>
              <a:rPr lang="zh-CN" altLang="en-US" sz="2000" dirty="0" smtClean="0"/>
              <a:t>和</a:t>
            </a:r>
            <a:r>
              <a:rPr lang="en-US" altLang="zh-CN" sz="2000" dirty="0" smtClean="0"/>
              <a:t>Set</a:t>
            </a:r>
            <a:r>
              <a:rPr lang="zh-CN" altLang="en-US" sz="2000" dirty="0" smtClean="0"/>
              <a:t>用法</a:t>
            </a:r>
            <a:endParaRPr lang="en-US" altLang="zh-CN" sz="2000" dirty="0" smtClean="0"/>
          </a:p>
          <a:p>
            <a:pPr marL="365760" indent="-255905" eaLnBrk="1" fontAlgn="auto" hangingPunct="1">
              <a:lnSpc>
                <a:spcPct val="90000"/>
              </a:lnSpc>
              <a:spcAft>
                <a:spcPts val="0"/>
              </a:spcAft>
              <a:buFontTx/>
              <a:buNone/>
              <a:defRPr/>
            </a:pPr>
            <a:r>
              <a:rPr lang="en-US" altLang="zh-CN" sz="1800" dirty="0" smtClean="0"/>
              <a:t>class </a:t>
            </a:r>
            <a:r>
              <a:rPr lang="en-US" altLang="zh-CN" sz="1800" dirty="0" err="1" smtClean="0"/>
              <a:t>Tdate</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public:</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a:t>
            </a:r>
            <a:r>
              <a:rPr lang="en-US" altLang="zh-CN" sz="1800" dirty="0" err="1" smtClean="0"/>
              <a:t>GetDay</a:t>
            </a:r>
            <a:r>
              <a:rPr lang="en-US" altLang="zh-CN" sz="1800" dirty="0" smtClean="0"/>
              <a:t>()	{ return day; }</a:t>
            </a:r>
            <a:endParaRPr lang="en-US" altLang="zh-CN" sz="1800" dirty="0" smtClean="0"/>
          </a:p>
          <a:p>
            <a:pPr marL="365760" indent="-255905" fontAlgn="auto">
              <a:lnSpc>
                <a:spcPct val="90000"/>
              </a:lnSpc>
              <a:spcAft>
                <a:spcPts val="0"/>
              </a:spcAft>
              <a:buNone/>
              <a:defRPr/>
            </a:pPr>
            <a:r>
              <a:rPr lang="en-US" altLang="zh-CN" sz="1800" dirty="0" smtClean="0"/>
              <a:t> </a:t>
            </a:r>
            <a:r>
              <a:rPr lang="en-US" altLang="zh-CN" sz="1800" dirty="0" err="1" smtClean="0"/>
              <a:t>int</a:t>
            </a:r>
            <a:r>
              <a:rPr lang="en-US" altLang="zh-CN" sz="1800" dirty="0" smtClean="0"/>
              <a:t> </a:t>
            </a:r>
            <a:r>
              <a:rPr lang="en-US" altLang="zh-CN" sz="1800" dirty="0" err="1" smtClean="0"/>
              <a:t>GetMonth</a:t>
            </a:r>
            <a:r>
              <a:rPr lang="en-US" altLang="zh-CN" sz="1800" dirty="0" smtClean="0"/>
              <a:t>()	{ return month; }</a:t>
            </a:r>
            <a:endParaRPr lang="en-US" altLang="zh-CN" sz="1800" dirty="0" smtClean="0"/>
          </a:p>
          <a:p>
            <a:pPr marL="365760" indent="-255905" fontAlgn="auto">
              <a:lnSpc>
                <a:spcPct val="90000"/>
              </a:lnSpc>
              <a:spcAft>
                <a:spcPts val="0"/>
              </a:spcAft>
              <a:buNone/>
              <a:defRPr/>
            </a:pPr>
            <a:r>
              <a:rPr lang="en-US" altLang="zh-CN" sz="1800" dirty="0" smtClean="0"/>
              <a:t> </a:t>
            </a:r>
            <a:r>
              <a:rPr lang="en-US" altLang="zh-CN" sz="1800" dirty="0" err="1" smtClean="0"/>
              <a:t>int</a:t>
            </a:r>
            <a:r>
              <a:rPr lang="en-US" altLang="zh-CN" sz="1800" dirty="0" smtClean="0"/>
              <a:t> </a:t>
            </a:r>
            <a:r>
              <a:rPr lang="en-US" altLang="zh-CN" sz="1800" dirty="0" err="1" smtClean="0"/>
              <a:t>GetYear</a:t>
            </a:r>
            <a:r>
              <a:rPr lang="en-US" altLang="zh-CN" sz="1800" dirty="0" smtClean="0"/>
              <a:t>()	{ return year;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a:t>
            </a:r>
            <a:r>
              <a:rPr lang="en-US" altLang="zh-CN" sz="1800" dirty="0" err="1" smtClean="0"/>
              <a:t>SetDay</a:t>
            </a:r>
            <a:r>
              <a:rPr lang="en-US" altLang="zh-CN" sz="1800" dirty="0" smtClean="0"/>
              <a:t>(</a:t>
            </a:r>
            <a:r>
              <a:rPr lang="en-US" altLang="zh-CN" sz="1800" dirty="0" err="1" smtClean="0"/>
              <a:t>int</a:t>
            </a:r>
            <a:r>
              <a:rPr lang="en-US" altLang="zh-CN" sz="1800" dirty="0" smtClean="0"/>
              <a:t> d) </a:t>
            </a:r>
            <a:r>
              <a:rPr lang="zh-CN" altLang="en-US" sz="1800" dirty="0" smtClean="0"/>
              <a:t>  </a:t>
            </a:r>
            <a:r>
              <a:rPr lang="en-US" altLang="zh-CN" sz="1800" dirty="0" smtClean="0"/>
              <a:t>	{  day=d;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a:t>
            </a:r>
            <a:r>
              <a:rPr lang="en-US" altLang="zh-CN" sz="1800" dirty="0" err="1" smtClean="0"/>
              <a:t>SetMonth</a:t>
            </a:r>
            <a:r>
              <a:rPr lang="en-US" altLang="zh-CN" sz="1800" dirty="0" smtClean="0"/>
              <a:t>(</a:t>
            </a:r>
            <a:r>
              <a:rPr lang="en-US" altLang="zh-CN" sz="1800" dirty="0" err="1" smtClean="0"/>
              <a:t>int</a:t>
            </a:r>
            <a:r>
              <a:rPr lang="en-US" altLang="zh-CN" sz="1800" dirty="0" smtClean="0"/>
              <a:t> m) </a:t>
            </a:r>
            <a:r>
              <a:rPr lang="zh-CN" altLang="en-US" sz="1800" dirty="0" smtClean="0"/>
              <a:t> </a:t>
            </a:r>
            <a:r>
              <a:rPr lang="en-US" altLang="zh-CN" sz="1800" dirty="0" smtClean="0"/>
              <a:t>	{  month=m;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a:t>
            </a:r>
            <a:r>
              <a:rPr lang="en-US" altLang="zh-CN" sz="1800" dirty="0" err="1" smtClean="0"/>
              <a:t>SetYear</a:t>
            </a:r>
            <a:r>
              <a:rPr lang="en-US" altLang="zh-CN" sz="1800" dirty="0" smtClean="0"/>
              <a:t>(</a:t>
            </a:r>
            <a:r>
              <a:rPr lang="en-US" altLang="zh-CN" sz="1800" dirty="0" err="1" smtClean="0"/>
              <a:t>int</a:t>
            </a:r>
            <a:r>
              <a:rPr lang="en-US" altLang="zh-CN" sz="1800" dirty="0" smtClean="0"/>
              <a:t> y) </a:t>
            </a:r>
            <a:r>
              <a:rPr lang="zh-CN" altLang="en-US" sz="1800" dirty="0" smtClean="0"/>
              <a:t>  </a:t>
            </a:r>
            <a:r>
              <a:rPr lang="en-US" altLang="zh-CN" sz="1800" dirty="0" smtClean="0"/>
              <a:t>	{  year=y;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Set(</a:t>
            </a:r>
            <a:r>
              <a:rPr lang="en-US" altLang="zh-CN" sz="1800" dirty="0" err="1" smtClean="0"/>
              <a:t>int</a:t>
            </a:r>
            <a:r>
              <a:rPr lang="en-US" altLang="zh-CN" sz="1800" dirty="0" smtClean="0"/>
              <a:t> </a:t>
            </a:r>
            <a:r>
              <a:rPr lang="en-US" altLang="zh-CN" sz="1800" dirty="0" err="1" smtClean="0"/>
              <a:t>m,int</a:t>
            </a:r>
            <a:r>
              <a:rPr lang="en-US" altLang="zh-CN" sz="1800" dirty="0" smtClean="0"/>
              <a:t> </a:t>
            </a:r>
            <a:r>
              <a:rPr lang="en-US" altLang="zh-CN" sz="1800" dirty="0" err="1" smtClean="0"/>
              <a:t>d,int</a:t>
            </a:r>
            <a:r>
              <a:rPr lang="en-US" altLang="zh-CN" sz="1800" dirty="0" smtClean="0"/>
              <a:t> y)    //</a:t>
            </a:r>
            <a:r>
              <a:rPr lang="zh-CN" altLang="en-US" sz="1800" dirty="0" smtClean="0"/>
              <a:t>置日期值</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    month=m; day=d; year=y;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private:</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day;</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month;</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year;</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5143504" y="1928802"/>
            <a:ext cx="4143404" cy="3582519"/>
          </a:xfrm>
          <a:prstGeom prst="rect">
            <a:avLst/>
          </a:prstGeom>
        </p:spPr>
        <p:txBody>
          <a:bodyPr wrap="square">
            <a:spAutoFit/>
          </a:bodyPr>
          <a:lstStyle/>
          <a:p>
            <a:pPr marL="365760" indent="-255905" eaLnBrk="1" fontAlgn="auto" hangingPunct="1">
              <a:lnSpc>
                <a:spcPct val="90000"/>
              </a:lnSpc>
              <a:spcAft>
                <a:spcPts val="0"/>
              </a:spcAft>
              <a:buFontTx/>
              <a:buNone/>
              <a:defRPr/>
            </a:pPr>
            <a:r>
              <a:rPr lang="en-US" altLang="zh-CN" dirty="0" smtClean="0"/>
              <a:t>void main()</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Tdate</a:t>
            </a:r>
            <a:r>
              <a:rPr lang="en-US" altLang="zh-CN" dirty="0" smtClean="0"/>
              <a:t> a; </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a.Set</a:t>
            </a:r>
            <a:r>
              <a:rPr lang="en-US" altLang="zh-CN" dirty="0" smtClean="0"/>
              <a:t>(2,4,1998);</a:t>
            </a:r>
            <a:endParaRPr lang="en-US" altLang="zh-CN" dirty="0" smtClean="0"/>
          </a:p>
          <a:p>
            <a:pPr marL="365760" indent="-255905" fontAlgn="auto">
              <a:lnSpc>
                <a:spcPct val="90000"/>
              </a:lnSpc>
              <a:spcAft>
                <a:spcPts val="0"/>
              </a:spcAft>
              <a:defRPr/>
            </a:pPr>
            <a:r>
              <a:rPr lang="en-US" altLang="zh-CN" dirty="0" smtClean="0">
                <a:solidFill>
                  <a:srgbClr val="FF0000"/>
                </a:solidFill>
              </a:rPr>
              <a:t>	</a:t>
            </a:r>
            <a:r>
              <a:rPr lang="en-US" altLang="zh-CN" dirty="0" err="1" smtClean="0"/>
              <a:t>cout</a:t>
            </a:r>
            <a:r>
              <a:rPr lang="en-US" altLang="zh-CN" dirty="0" smtClean="0"/>
              <a:t>&lt;&lt;</a:t>
            </a:r>
            <a:r>
              <a:rPr lang="en-US" altLang="zh-CN" dirty="0" err="1" smtClean="0"/>
              <a:t>a.GetDay</a:t>
            </a:r>
            <a:r>
              <a:rPr lang="en-US" altLang="zh-CN" dirty="0" smtClean="0"/>
              <a:t>()&lt;&lt;‘ ‘</a:t>
            </a:r>
            <a:endParaRPr lang="en-US" altLang="zh-CN" dirty="0" smtClean="0"/>
          </a:p>
          <a:p>
            <a:pPr marL="365760" indent="-255905" fontAlgn="auto">
              <a:lnSpc>
                <a:spcPct val="90000"/>
              </a:lnSpc>
              <a:spcAft>
                <a:spcPts val="0"/>
              </a:spcAft>
              <a:defRPr/>
            </a:pPr>
            <a:r>
              <a:rPr lang="en-US" altLang="zh-CN" dirty="0" smtClean="0"/>
              <a:t>		&lt;&lt;</a:t>
            </a:r>
            <a:r>
              <a:rPr lang="en-US" altLang="zh-CN" dirty="0" err="1" smtClean="0"/>
              <a:t>a.GetMonth</a:t>
            </a:r>
            <a:r>
              <a:rPr lang="en-US" altLang="zh-CN" dirty="0" smtClean="0"/>
              <a:t>()&lt;&lt;‘ ‘</a:t>
            </a:r>
            <a:endParaRPr lang="en-US" altLang="zh-CN" dirty="0" smtClean="0"/>
          </a:p>
          <a:p>
            <a:pPr marL="365760" indent="-255905" fontAlgn="auto">
              <a:lnSpc>
                <a:spcPct val="90000"/>
              </a:lnSpc>
              <a:spcAft>
                <a:spcPts val="0"/>
              </a:spcAft>
              <a:defRPr/>
            </a:pPr>
            <a:r>
              <a:rPr lang="en-US" altLang="zh-CN" dirty="0" smtClean="0"/>
              <a:t>		&lt;&lt;</a:t>
            </a:r>
            <a:r>
              <a:rPr lang="en-US" altLang="zh-CN" dirty="0" err="1" smtClean="0"/>
              <a:t>a.GetYear</a:t>
            </a:r>
            <a:r>
              <a:rPr lang="en-US" altLang="zh-CN" dirty="0" smtClean="0"/>
              <a:t>()&lt;&lt;</a:t>
            </a:r>
            <a:r>
              <a:rPr lang="en-US" altLang="zh-CN" dirty="0" err="1" smtClean="0"/>
              <a:t>endl</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	</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a.SetDay</a:t>
            </a:r>
            <a:r>
              <a:rPr lang="en-US" altLang="zh-CN" dirty="0" smtClean="0"/>
              <a:t>(8);</a:t>
            </a:r>
            <a:endParaRPr lang="en-US" altLang="zh-CN" dirty="0" smtClean="0"/>
          </a:p>
          <a:p>
            <a:pPr marL="365760" indent="-255905" fontAlgn="auto">
              <a:lnSpc>
                <a:spcPct val="90000"/>
              </a:lnSpc>
              <a:spcAft>
                <a:spcPts val="0"/>
              </a:spcAft>
              <a:defRPr/>
            </a:pPr>
            <a:r>
              <a:rPr lang="en-US" altLang="zh-CN" dirty="0" smtClean="0"/>
              <a:t>	</a:t>
            </a:r>
            <a:r>
              <a:rPr lang="en-US" altLang="zh-CN" dirty="0" err="1" smtClean="0"/>
              <a:t>a.SetMonth</a:t>
            </a:r>
            <a:r>
              <a:rPr lang="en-US" altLang="zh-CN" dirty="0" smtClean="0"/>
              <a:t>(8);</a:t>
            </a:r>
            <a:endParaRPr lang="en-US" altLang="zh-CN" dirty="0" smtClean="0"/>
          </a:p>
          <a:p>
            <a:pPr marL="365760" indent="-255905" fontAlgn="auto">
              <a:lnSpc>
                <a:spcPct val="90000"/>
              </a:lnSpc>
              <a:spcAft>
                <a:spcPts val="0"/>
              </a:spcAft>
              <a:defRPr/>
            </a:pPr>
            <a:r>
              <a:rPr lang="en-US" altLang="zh-CN" dirty="0" smtClean="0"/>
              <a:t>	</a:t>
            </a:r>
            <a:r>
              <a:rPr lang="en-US" altLang="zh-CN" dirty="0" err="1" smtClean="0"/>
              <a:t>a.SetYear</a:t>
            </a:r>
            <a:r>
              <a:rPr lang="en-US" altLang="zh-CN" dirty="0" smtClean="0"/>
              <a:t>(2016);</a:t>
            </a:r>
            <a:endParaRPr lang="en-US" altLang="zh-CN" dirty="0" smtClean="0"/>
          </a:p>
          <a:p>
            <a:pPr marL="365760" indent="-255905" fontAlgn="auto">
              <a:lnSpc>
                <a:spcPct val="90000"/>
              </a:lnSpc>
              <a:spcAft>
                <a:spcPts val="0"/>
              </a:spcAft>
              <a:defRPr/>
            </a:pPr>
            <a:r>
              <a:rPr lang="en-US" altLang="zh-CN" dirty="0" smtClean="0"/>
              <a:t>	</a:t>
            </a:r>
            <a:r>
              <a:rPr lang="en-US" altLang="zh-CN" dirty="0" err="1" smtClean="0"/>
              <a:t>cout</a:t>
            </a:r>
            <a:r>
              <a:rPr lang="en-US" altLang="zh-CN" dirty="0" smtClean="0"/>
              <a:t>&lt;&lt;</a:t>
            </a:r>
            <a:r>
              <a:rPr lang="en-US" altLang="zh-CN" dirty="0" err="1" smtClean="0"/>
              <a:t>a.GetDay</a:t>
            </a:r>
            <a:r>
              <a:rPr lang="en-US" altLang="zh-CN" dirty="0" smtClean="0"/>
              <a:t>()&lt;&lt;‘ ‘</a:t>
            </a:r>
            <a:endParaRPr lang="en-US" altLang="zh-CN" dirty="0" smtClean="0"/>
          </a:p>
          <a:p>
            <a:pPr marL="365760" indent="-255905" fontAlgn="auto">
              <a:lnSpc>
                <a:spcPct val="90000"/>
              </a:lnSpc>
              <a:spcAft>
                <a:spcPts val="0"/>
              </a:spcAft>
              <a:defRPr/>
            </a:pPr>
            <a:r>
              <a:rPr lang="en-US" altLang="zh-CN" dirty="0" smtClean="0"/>
              <a:t>		&lt;&lt;</a:t>
            </a:r>
            <a:r>
              <a:rPr lang="en-US" altLang="zh-CN" dirty="0" err="1" smtClean="0"/>
              <a:t>a.GetMonth</a:t>
            </a:r>
            <a:r>
              <a:rPr lang="en-US" altLang="zh-CN" dirty="0" smtClean="0"/>
              <a:t>()&lt;&lt;‘ ‘</a:t>
            </a:r>
            <a:endParaRPr lang="en-US" altLang="zh-CN" dirty="0" smtClean="0"/>
          </a:p>
          <a:p>
            <a:pPr marL="365760" indent="-255905" fontAlgn="auto">
              <a:lnSpc>
                <a:spcPct val="90000"/>
              </a:lnSpc>
              <a:spcAft>
                <a:spcPts val="0"/>
              </a:spcAft>
              <a:defRPr/>
            </a:pPr>
            <a:r>
              <a:rPr lang="en-US" altLang="zh-CN" dirty="0" smtClean="0"/>
              <a:t>		&lt;&lt;</a:t>
            </a:r>
            <a:r>
              <a:rPr lang="en-US" altLang="zh-CN" dirty="0" err="1" smtClean="0"/>
              <a:t>a.GetYear</a:t>
            </a:r>
            <a:r>
              <a:rPr lang="en-US" altLang="zh-CN" dirty="0" smtClean="0"/>
              <a:t>()&lt;&lt;</a:t>
            </a:r>
            <a:r>
              <a:rPr lang="en-US" altLang="zh-CN" dirty="0" err="1" smtClean="0"/>
              <a:t>endl</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重载成员函数</a:t>
            </a:r>
            <a:endParaRPr lang="en-US" altLang="zh-CN" sz="2000" dirty="0" smtClean="0"/>
          </a:p>
          <a:p>
            <a:pPr lvl="1">
              <a:lnSpc>
                <a:spcPct val="125000"/>
              </a:lnSpc>
            </a:pPr>
            <a:r>
              <a:rPr lang="zh-CN" altLang="en-US" sz="1800" dirty="0" smtClean="0"/>
              <a:t>不同类的成员函数可以重名，成员函数与外部函数也可以重名</a:t>
            </a: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r>
              <a:rPr lang="en-US" altLang="zh-CN" sz="1800" dirty="0" smtClean="0"/>
              <a:t>void main()</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Student s;</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s.print</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print();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2714612" y="2214554"/>
            <a:ext cx="5000660" cy="2834622"/>
          </a:xfrm>
          <a:prstGeom prst="rect">
            <a:avLst/>
          </a:prstGeom>
        </p:spPr>
        <p:txBody>
          <a:bodyPr wrap="square">
            <a:spAutoFit/>
          </a:bodyPr>
          <a:lstStyle/>
          <a:p>
            <a:pPr marL="365760" indent="-255905" eaLnBrk="1" fontAlgn="auto" hangingPunct="1">
              <a:lnSpc>
                <a:spcPct val="90000"/>
              </a:lnSpc>
              <a:spcAft>
                <a:spcPts val="0"/>
              </a:spcAft>
              <a:buFontTx/>
              <a:buNone/>
              <a:defRPr/>
            </a:pPr>
            <a:r>
              <a:rPr lang="en-US" altLang="zh-CN" dirty="0" smtClean="0"/>
              <a:t>class Student{</a:t>
            </a:r>
            <a:endParaRPr lang="en-US" altLang="zh-CN" dirty="0" smtClean="0"/>
          </a:p>
          <a:p>
            <a:pPr marL="365760" indent="-255905" eaLnBrk="1" fontAlgn="auto" hangingPunct="1">
              <a:lnSpc>
                <a:spcPct val="90000"/>
              </a:lnSpc>
              <a:spcAft>
                <a:spcPts val="0"/>
              </a:spcAft>
              <a:buFontTx/>
              <a:buNone/>
              <a:defRPr/>
            </a:pPr>
            <a:r>
              <a:rPr lang="en-US" altLang="zh-CN" dirty="0" smtClean="0"/>
              <a:t>public:</a:t>
            </a:r>
            <a:endParaRPr lang="en-US" altLang="zh-CN" dirty="0" smtClean="0"/>
          </a:p>
          <a:p>
            <a:pPr marL="365760" indent="-255905" eaLnBrk="1" fontAlgn="auto" hangingPunct="1">
              <a:lnSpc>
                <a:spcPct val="90000"/>
              </a:lnSpc>
              <a:spcAft>
                <a:spcPts val="0"/>
              </a:spcAft>
              <a:buFontTx/>
              <a:buNone/>
              <a:defRPr/>
            </a:pPr>
            <a:r>
              <a:rPr lang="en-US" altLang="zh-CN" dirty="0" smtClean="0"/>
              <a:t>	void print(); //</a:t>
            </a:r>
            <a:r>
              <a:rPr lang="zh-CN" altLang="en-US" dirty="0" smtClean="0"/>
              <a:t>输出一个学生信息</a:t>
            </a:r>
            <a:endParaRPr lang="en-US" altLang="zh-CN" dirty="0" smtClean="0"/>
          </a:p>
          <a:p>
            <a:pPr marL="365760" indent="-255905" eaLnBrk="1" fontAlgn="auto" hangingPunct="1">
              <a:lnSpc>
                <a:spcPct val="90000"/>
              </a:lnSpc>
              <a:spcAft>
                <a:spcPts val="0"/>
              </a:spcAft>
              <a:buFontTx/>
              <a:buNone/>
              <a:defRPr/>
            </a:pPr>
            <a:r>
              <a:rPr lang="en-US" altLang="zh-CN" dirty="0" smtClean="0"/>
              <a:t>	……</a:t>
            </a:r>
            <a:endParaRPr lang="en-US" altLang="zh-CN" dirty="0" smtClean="0"/>
          </a:p>
          <a:p>
            <a:pPr marL="365760" indent="-255905" eaLnBrk="1" fontAlgn="auto" hangingPunct="1">
              <a:lnSpc>
                <a:spcPct val="90000"/>
              </a:lnSpc>
              <a:spcAft>
                <a:spcPts val="0"/>
              </a:spcAft>
              <a:buFontTx/>
              <a:buNone/>
              <a:defRPr/>
            </a:pPr>
            <a:r>
              <a:rPr lang="en-US" altLang="zh-CN" dirty="0" smtClean="0"/>
              <a:t>private:</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int</a:t>
            </a:r>
            <a:r>
              <a:rPr lang="en-US" altLang="zh-CN" dirty="0" smtClean="0"/>
              <a:t> name;</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int</a:t>
            </a:r>
            <a:r>
              <a:rPr lang="en-US" altLang="zh-CN" dirty="0" smtClean="0"/>
              <a:t> date;</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int</a:t>
            </a:r>
            <a:r>
              <a:rPr lang="en-US" altLang="zh-CN" dirty="0" smtClean="0"/>
              <a:t> id;</a:t>
            </a:r>
            <a:endParaRPr lang="en-US" altLang="zh-CN" dirty="0" smtClean="0"/>
          </a:p>
          <a:p>
            <a:pPr marL="365760" indent="-255905" eaLnBrk="1" fontAlgn="auto" hangingPunct="1">
              <a:lnSpc>
                <a:spcPct val="90000"/>
              </a:lnSpc>
              <a:spcAft>
                <a:spcPts val="0"/>
              </a:spcAft>
              <a:buFontTx/>
              <a:buNone/>
              <a:defRPr/>
            </a:pP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void print ()    //</a:t>
            </a:r>
            <a:r>
              <a:rPr lang="zh-CN" altLang="en-US" dirty="0" smtClean="0"/>
              <a:t>外部的输出函数</a:t>
            </a:r>
            <a:endParaRPr lang="zh-CN" altLang="en-US" dirty="0" smtClean="0"/>
          </a:p>
          <a:p>
            <a:pPr marL="365760" indent="-255905" eaLnBrk="1" fontAlgn="auto" hangingPunct="1">
              <a:lnSpc>
                <a:spcPct val="90000"/>
              </a:lnSpc>
              <a:spcAft>
                <a:spcPts val="0"/>
              </a:spcAft>
              <a:buFontTx/>
              <a:buNone/>
              <a:defRPr/>
            </a:pPr>
            <a:r>
              <a:rPr lang="zh-CN" altLang="en-US" dirty="0" smtClean="0"/>
              <a:t>  </a:t>
            </a:r>
            <a:r>
              <a:rPr lang="en-US" altLang="zh-CN" dirty="0" smtClean="0"/>
              <a:t>{    </a:t>
            </a:r>
            <a:r>
              <a:rPr lang="en-US" altLang="zh-CN" dirty="0" err="1" smtClean="0"/>
              <a:t>cout</a:t>
            </a:r>
            <a:r>
              <a:rPr lang="en-US" altLang="zh-CN" dirty="0" smtClean="0"/>
              <a:t>&lt;&lt;“hello”&lt;&lt;</a:t>
            </a:r>
            <a:r>
              <a:rPr lang="en-US" altLang="zh-CN" dirty="0" err="1" smtClean="0"/>
              <a:t>endl</a:t>
            </a:r>
            <a:r>
              <a:rPr lang="en-US" altLang="zh-CN" dirty="0" smtClean="0"/>
              <a:t>;  }</a:t>
            </a:r>
            <a:endParaRPr lang="en-US" altLang="zh-CN"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调用成员函数</a:t>
            </a:r>
            <a:endParaRPr lang="en-US" altLang="zh-CN" sz="2000" dirty="0" smtClean="0"/>
          </a:p>
          <a:p>
            <a:pPr lvl="1">
              <a:lnSpc>
                <a:spcPct val="125000"/>
              </a:lnSpc>
            </a:pPr>
            <a:r>
              <a:rPr lang="zh-CN" altLang="en-US" sz="1800" dirty="0" smtClean="0"/>
              <a:t>一个对象要表现其行为就要调用它的成员函数</a:t>
            </a:r>
            <a:endParaRPr lang="en-US" altLang="zh-CN" sz="1800" dirty="0" smtClean="0"/>
          </a:p>
          <a:p>
            <a:pPr lvl="1">
              <a:lnSpc>
                <a:spcPct val="125000"/>
              </a:lnSpc>
            </a:pPr>
            <a:r>
              <a:rPr lang="zh-CN" altLang="en-US" sz="1800" dirty="0" smtClean="0"/>
              <a:t>调用形式：对象名</a:t>
            </a:r>
            <a:r>
              <a:rPr lang="en-US" altLang="zh-CN" sz="1800" dirty="0" smtClean="0"/>
              <a:t>.</a:t>
            </a:r>
            <a:r>
              <a:rPr lang="zh-CN" altLang="en-US" sz="1800" dirty="0" smtClean="0"/>
              <a:t>成员名，在代码中是：对象变量名</a:t>
            </a:r>
            <a:r>
              <a:rPr lang="en-US" altLang="zh-CN" sz="1800" dirty="0" smtClean="0"/>
              <a:t>.</a:t>
            </a:r>
            <a:r>
              <a:rPr lang="zh-CN" altLang="en-US" sz="1800" dirty="0" smtClean="0"/>
              <a:t>函数名</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class </a:t>
            </a:r>
            <a:r>
              <a:rPr lang="en-US" altLang="zh-CN" sz="1800" dirty="0" err="1" smtClean="0"/>
              <a:t>Tdate</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public:</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Set(</a:t>
            </a:r>
            <a:r>
              <a:rPr lang="en-US" altLang="zh-CN" sz="1800" dirty="0" err="1" smtClean="0"/>
              <a:t>int</a:t>
            </a:r>
            <a:r>
              <a:rPr lang="en-US" altLang="zh-CN" sz="1800" dirty="0" smtClean="0"/>
              <a:t> </a:t>
            </a:r>
            <a:r>
              <a:rPr lang="en-US" altLang="zh-CN" sz="1800" dirty="0" err="1" smtClean="0"/>
              <a:t>m,int</a:t>
            </a:r>
            <a:r>
              <a:rPr lang="en-US" altLang="zh-CN" sz="1800" dirty="0" smtClean="0"/>
              <a:t> </a:t>
            </a:r>
            <a:r>
              <a:rPr lang="en-US" altLang="zh-CN" sz="1800" dirty="0" err="1" smtClean="0"/>
              <a:t>d,int</a:t>
            </a:r>
            <a:r>
              <a:rPr lang="en-US" altLang="zh-CN" sz="1800" dirty="0" smtClean="0"/>
              <a:t> y)    //</a:t>
            </a:r>
            <a:r>
              <a:rPr lang="zh-CN" altLang="en-US" sz="1800" dirty="0" smtClean="0"/>
              <a:t>置日期值</a:t>
            </a:r>
            <a:endParaRPr lang="zh-CN" altLang="en-US" sz="1800" dirty="0" smtClean="0"/>
          </a:p>
          <a:p>
            <a:pPr marL="365760" indent="-255905" eaLnBrk="1" fontAlgn="auto" hangingPunct="1">
              <a:lnSpc>
                <a:spcPct val="90000"/>
              </a:lnSpc>
              <a:spcAft>
                <a:spcPts val="0"/>
              </a:spcAft>
              <a:buFontTx/>
              <a:buNone/>
              <a:defRPr/>
            </a:pPr>
            <a:r>
              <a:rPr lang="en-US" altLang="zh-CN" sz="1800" dirty="0" smtClean="0"/>
              <a:t>	</a:t>
            </a:r>
            <a:r>
              <a:rPr lang="zh-CN" altLang="en-US"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private:</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month</a:t>
            </a:r>
            <a:r>
              <a:rPr lang="zh-CN" altLang="en-US" sz="1800" dirty="0" smtClean="0"/>
              <a:t>，</a:t>
            </a:r>
            <a:r>
              <a:rPr lang="en-US" altLang="zh-CN" sz="1800" dirty="0" smtClean="0"/>
              <a:t>day</a:t>
            </a:r>
            <a:r>
              <a:rPr lang="zh-CN" altLang="en-US" sz="1800" dirty="0" smtClean="0"/>
              <a:t>，</a:t>
            </a:r>
            <a:r>
              <a:rPr lang="en-US" altLang="zh-CN" sz="1800" dirty="0" smtClean="0"/>
              <a:t>year</a:t>
            </a:r>
            <a:r>
              <a:rPr lang="zh-CN" altLang="en-US"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void main()</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month = 10;		//</a:t>
            </a:r>
            <a:r>
              <a:rPr lang="en-US" altLang="zh-CN" sz="1800" dirty="0" err="1" smtClean="0"/>
              <a:t>erorr</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Tdate</a:t>
            </a:r>
            <a:r>
              <a:rPr lang="en-US" altLang="zh-CN" sz="1800" dirty="0" smtClean="0"/>
              <a:t>::month = 10; 	 //</a:t>
            </a:r>
            <a:r>
              <a:rPr lang="en-US" altLang="zh-CN" sz="1800" dirty="0" err="1" smtClean="0"/>
              <a:t>erorr</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Tdate</a:t>
            </a:r>
            <a:r>
              <a:rPr lang="en-US" altLang="zh-CN" sz="1800" dirty="0" smtClean="0"/>
              <a:t>::Set(2,4,1998);	 //</a:t>
            </a:r>
            <a:r>
              <a:rPr lang="en-US" altLang="zh-CN" sz="1800" dirty="0" err="1" smtClean="0"/>
              <a:t>erorr</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5000628" y="5143512"/>
            <a:ext cx="3071834" cy="1338828"/>
          </a:xfrm>
          <a:prstGeom prst="rect">
            <a:avLst/>
          </a:prstGeom>
        </p:spPr>
        <p:txBody>
          <a:bodyPr wrap="square">
            <a:spAutoFit/>
          </a:bodyPr>
          <a:lstStyle/>
          <a:p>
            <a:pPr marL="365760" indent="-255905" eaLnBrk="1" fontAlgn="auto" hangingPunct="1">
              <a:lnSpc>
                <a:spcPct val="90000"/>
              </a:lnSpc>
              <a:spcAft>
                <a:spcPts val="0"/>
              </a:spcAft>
              <a:buFontTx/>
              <a:buNone/>
              <a:defRPr/>
            </a:pPr>
            <a:r>
              <a:rPr lang="en-US" altLang="zh-CN" dirty="0" smtClean="0"/>
              <a:t>void main()</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Tdate</a:t>
            </a:r>
            <a:r>
              <a:rPr lang="en-US" altLang="zh-CN" dirty="0" smtClean="0"/>
              <a:t> a;</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a.Set</a:t>
            </a:r>
            <a:r>
              <a:rPr lang="en-US" altLang="zh-CN" dirty="0" smtClean="0"/>
              <a:t>(2,4,1998);</a:t>
            </a:r>
            <a:endParaRPr lang="en-US" altLang="zh-CN" dirty="0" smtClean="0"/>
          </a:p>
          <a:p>
            <a:pPr marL="365760" indent="-255905" eaLnBrk="1" fontAlgn="auto" hangingPunct="1">
              <a:lnSpc>
                <a:spcPct val="90000"/>
              </a:lnSpc>
              <a:spcAft>
                <a:spcPts val="0"/>
              </a:spcAft>
              <a:buFontTx/>
              <a:buNone/>
              <a:defRPr/>
            </a:pPr>
            <a:r>
              <a:rPr lang="en-US" altLang="zh-CN" dirty="0" smtClean="0"/>
              <a:t>   </a:t>
            </a:r>
            <a:r>
              <a:rPr lang="en-US" altLang="zh-CN" dirty="0" err="1" smtClean="0"/>
              <a:t>a.Print</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在成员函数中使用同一个类的其他成员，无需指出类名，直接使用，如下的</a:t>
            </a:r>
            <a:r>
              <a:rPr lang="en-US" altLang="zh-CN" sz="2000" dirty="0" smtClean="0"/>
              <a:t>year\month\day</a:t>
            </a:r>
            <a:endParaRPr lang="en-US" altLang="zh-CN" sz="2000" dirty="0" smtClean="0"/>
          </a:p>
          <a:p>
            <a:pPr marL="365760" indent="-255905" eaLnBrk="1" fontAlgn="auto" hangingPunct="1">
              <a:lnSpc>
                <a:spcPct val="90000"/>
              </a:lnSpc>
              <a:spcAft>
                <a:spcPts val="0"/>
              </a:spcAft>
              <a:buFontTx/>
              <a:buNone/>
              <a:defRPr/>
            </a:pPr>
            <a:r>
              <a:rPr lang="en-US" altLang="zh-CN" sz="1800" dirty="0" smtClean="0"/>
              <a:t>class </a:t>
            </a:r>
            <a:r>
              <a:rPr lang="en-US" altLang="zh-CN" sz="1800" dirty="0" err="1" smtClean="0"/>
              <a:t>Tdate</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public:</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Set(</a:t>
            </a:r>
            <a:r>
              <a:rPr lang="en-US" altLang="zh-CN" sz="1800" dirty="0" err="1" smtClean="0"/>
              <a:t>int</a:t>
            </a:r>
            <a:r>
              <a:rPr lang="en-US" altLang="zh-CN" sz="1800" dirty="0" smtClean="0"/>
              <a:t> </a:t>
            </a:r>
            <a:r>
              <a:rPr lang="en-US" altLang="zh-CN" sz="1800" dirty="0" err="1" smtClean="0"/>
              <a:t>m,int</a:t>
            </a:r>
            <a:r>
              <a:rPr lang="en-US" altLang="zh-CN" sz="1800" dirty="0" smtClean="0"/>
              <a:t> </a:t>
            </a:r>
            <a:r>
              <a:rPr lang="en-US" altLang="zh-CN" sz="1800" dirty="0" err="1" smtClean="0"/>
              <a:t>d,int</a:t>
            </a:r>
            <a:r>
              <a:rPr lang="en-US" altLang="zh-CN" sz="1800" dirty="0" smtClean="0"/>
              <a:t> y)    //</a:t>
            </a:r>
            <a:r>
              <a:rPr lang="zh-CN" altLang="en-US" sz="1800" dirty="0" smtClean="0"/>
              <a:t>置日期值</a:t>
            </a:r>
            <a:endParaRPr lang="zh-CN" altLang="en-US"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a:t>
            </a:r>
            <a:r>
              <a:rPr lang="en-US" altLang="zh-CN" sz="1800" dirty="0" err="1" smtClean="0"/>
              <a:t>IsLeapYear</a:t>
            </a:r>
            <a:r>
              <a:rPr lang="en-US" altLang="zh-CN" sz="1800" dirty="0" smtClean="0"/>
              <a:t>()               //</a:t>
            </a:r>
            <a:r>
              <a:rPr lang="zh-CN" altLang="en-US" sz="1800" dirty="0" smtClean="0"/>
              <a:t>判是否闰年</a:t>
            </a:r>
            <a:endParaRPr lang="zh-CN" altLang="en-US" sz="1800" dirty="0" smtClean="0"/>
          </a:p>
          <a:p>
            <a:pPr marL="365760" indent="-255905" eaLnBrk="1" fontAlgn="auto" hangingPunct="1">
              <a:lnSpc>
                <a:spcPct val="90000"/>
              </a:lnSpc>
              <a:spcAft>
                <a:spcPts val="0"/>
              </a:spcAft>
              <a:buFontTx/>
              <a:buNone/>
              <a:defRPr/>
            </a:pPr>
            <a:r>
              <a:rPr lang="en-US" altLang="zh-CN" sz="1800" dirty="0" smtClean="0"/>
              <a:t>	void Print()                   //</a:t>
            </a:r>
            <a:r>
              <a:rPr lang="zh-CN" altLang="en-US" sz="1800" dirty="0" smtClean="0"/>
              <a:t>输出日期值</a:t>
            </a:r>
            <a:endParaRPr lang="zh-CN" altLang="en-US" sz="1800" dirty="0" smtClean="0"/>
          </a:p>
          <a:p>
            <a:pPr marL="365760" indent="-255905" eaLnBrk="1" fontAlgn="auto" hangingPunct="1">
              <a:lnSpc>
                <a:spcPct val="90000"/>
              </a:lnSpc>
              <a:spcAft>
                <a:spcPts val="0"/>
              </a:spcAft>
              <a:buFontTx/>
              <a:buNone/>
              <a:defRPr/>
            </a:pPr>
            <a:r>
              <a:rPr lang="en-US" altLang="zh-CN" sz="1800" dirty="0" smtClean="0"/>
              <a:t>private:</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month, </a:t>
            </a:r>
            <a:r>
              <a:rPr lang="en-US" altLang="zh-CN" sz="1800" dirty="0" err="1" smtClean="0"/>
              <a:t>day,year</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void </a:t>
            </a:r>
            <a:r>
              <a:rPr lang="en-US" altLang="zh-CN" sz="1800" dirty="0" err="1" smtClean="0"/>
              <a:t>Tdate</a:t>
            </a:r>
            <a:r>
              <a:rPr lang="en-US" altLang="zh-CN" sz="1800" dirty="0" smtClean="0"/>
              <a:t>::Set(</a:t>
            </a:r>
            <a:r>
              <a:rPr lang="en-US" altLang="zh-CN" sz="1800" dirty="0" err="1" smtClean="0"/>
              <a:t>int</a:t>
            </a:r>
            <a:r>
              <a:rPr lang="en-US" altLang="zh-CN" sz="1800" dirty="0" smtClean="0"/>
              <a:t> </a:t>
            </a:r>
            <a:r>
              <a:rPr lang="en-US" altLang="zh-CN" sz="1800" dirty="0" err="1" smtClean="0"/>
              <a:t>m,int</a:t>
            </a:r>
            <a:r>
              <a:rPr lang="en-US" altLang="zh-CN" sz="1800" dirty="0" smtClean="0"/>
              <a:t> </a:t>
            </a:r>
            <a:r>
              <a:rPr lang="en-US" altLang="zh-CN" sz="1800" dirty="0" err="1" smtClean="0"/>
              <a:t>d,int</a:t>
            </a:r>
            <a:r>
              <a:rPr lang="en-US" altLang="zh-CN" sz="1800" dirty="0" smtClean="0"/>
              <a:t> y)    //</a:t>
            </a:r>
            <a:r>
              <a:rPr lang="zh-CN" altLang="en-US" sz="1800" dirty="0" smtClean="0"/>
              <a:t>置日期值</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    month=m; day=d; year=y;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a:t>
            </a:r>
            <a:r>
              <a:rPr lang="en-US" altLang="zh-CN" sz="1800" dirty="0" err="1" smtClean="0"/>
              <a:t>Tdate</a:t>
            </a:r>
            <a:r>
              <a:rPr lang="en-US" altLang="zh-CN" sz="1800" dirty="0" smtClean="0"/>
              <a:t>::</a:t>
            </a:r>
            <a:r>
              <a:rPr lang="en-US" altLang="zh-CN" sz="1800" dirty="0" err="1" smtClean="0"/>
              <a:t>IsLeapYear</a:t>
            </a:r>
            <a:r>
              <a:rPr lang="en-US" altLang="zh-CN" sz="1800" dirty="0" smtClean="0"/>
              <a:t>()               //</a:t>
            </a:r>
            <a:r>
              <a:rPr lang="zh-CN" altLang="en-US" sz="1800" dirty="0" smtClean="0"/>
              <a:t>判是否闰年</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    return (year%4==0&amp;&amp;year%100!=0)||(year%400==0);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a:t>
            </a:r>
            <a:r>
              <a:rPr lang="en-US" altLang="zh-CN" sz="1800" dirty="0" err="1" smtClean="0"/>
              <a:t>Tdate</a:t>
            </a:r>
            <a:r>
              <a:rPr lang="en-US" altLang="zh-CN" sz="1800" dirty="0" smtClean="0"/>
              <a:t>::Print()                   //</a:t>
            </a:r>
            <a:r>
              <a:rPr lang="zh-CN" altLang="en-US" sz="1800" dirty="0" smtClean="0"/>
              <a:t>输出日期值</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    </a:t>
            </a:r>
            <a:r>
              <a:rPr lang="en-US" altLang="zh-CN" sz="1800" dirty="0" err="1" smtClean="0"/>
              <a:t>cout</a:t>
            </a:r>
            <a:r>
              <a:rPr lang="en-US" altLang="zh-CN" sz="1800" dirty="0" smtClean="0"/>
              <a:t> &lt;&lt;month &lt;&lt;"/" &lt;&lt;day &lt;&lt;"/" &lt;&lt;year &lt;&lt;</a:t>
            </a:r>
            <a:r>
              <a:rPr lang="en-US" altLang="zh-CN" sz="1800" dirty="0" err="1" smtClean="0"/>
              <a:t>endl</a:t>
            </a:r>
            <a:r>
              <a:rPr lang="en-US" altLang="zh-CN" sz="1800" dirty="0" smtClean="0"/>
              <a:t>;  }</a:t>
            </a: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用指针调用成员函数，使用“</a:t>
            </a:r>
            <a:r>
              <a:rPr lang="en-US" altLang="zh-CN" sz="2000" dirty="0" smtClean="0"/>
              <a:t>-&gt;</a:t>
            </a:r>
            <a:r>
              <a:rPr lang="zh-CN" altLang="en-US" sz="2000" dirty="0" smtClean="0"/>
              <a:t>”符号</a:t>
            </a:r>
            <a:endParaRPr lang="en-US" altLang="zh-CN" sz="2000" dirty="0" smtClean="0"/>
          </a:p>
          <a:p>
            <a:pPr marL="365760" indent="-255905" eaLnBrk="1" fontAlgn="auto" hangingPunct="1">
              <a:lnSpc>
                <a:spcPct val="90000"/>
              </a:lnSpc>
              <a:spcAft>
                <a:spcPts val="0"/>
              </a:spcAft>
              <a:buFontTx/>
              <a:buNone/>
              <a:defRPr/>
            </a:pPr>
            <a:r>
              <a:rPr lang="en-US" altLang="zh-CN" sz="1800" dirty="0" smtClean="0"/>
              <a:t>class </a:t>
            </a:r>
            <a:r>
              <a:rPr lang="en-US" altLang="zh-CN" sz="1800" dirty="0" err="1" smtClean="0"/>
              <a:t>Tdate</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public:</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Set(</a:t>
            </a:r>
            <a:r>
              <a:rPr lang="en-US" altLang="zh-CN" sz="1800" dirty="0" err="1" smtClean="0"/>
              <a:t>int</a:t>
            </a:r>
            <a:r>
              <a:rPr lang="en-US" altLang="zh-CN" sz="1800" dirty="0" smtClean="0"/>
              <a:t> </a:t>
            </a:r>
            <a:r>
              <a:rPr lang="en-US" altLang="zh-CN" sz="1800" dirty="0" err="1" smtClean="0"/>
              <a:t>m,int</a:t>
            </a:r>
            <a:r>
              <a:rPr lang="en-US" altLang="zh-CN" sz="1800" dirty="0" smtClean="0"/>
              <a:t> </a:t>
            </a:r>
            <a:r>
              <a:rPr lang="en-US" altLang="zh-CN" sz="1800" dirty="0" err="1" smtClean="0"/>
              <a:t>d,int</a:t>
            </a:r>
            <a:r>
              <a:rPr lang="en-US" altLang="zh-CN" sz="1800" dirty="0" smtClean="0"/>
              <a:t> y)</a:t>
            </a:r>
            <a:r>
              <a:rPr lang="zh-CN" altLang="en-US" sz="1800" dirty="0" smtClean="0"/>
              <a:t>；</a:t>
            </a:r>
            <a:r>
              <a:rPr lang="en-US" altLang="zh-CN" sz="1800" dirty="0" smtClean="0"/>
              <a:t>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a:t>
            </a:r>
            <a:r>
              <a:rPr lang="en-US" altLang="zh-CN" sz="1800" dirty="0" err="1" smtClean="0"/>
              <a:t>IsLeapYear</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void Print();</a:t>
            </a:r>
            <a:endParaRPr lang="zh-CN" altLang="en-US" sz="1800" dirty="0" smtClean="0"/>
          </a:p>
          <a:p>
            <a:pPr marL="365760" indent="-255905" eaLnBrk="1" fontAlgn="auto" hangingPunct="1">
              <a:lnSpc>
                <a:spcPct val="90000"/>
              </a:lnSpc>
              <a:spcAft>
                <a:spcPts val="0"/>
              </a:spcAft>
              <a:buFontTx/>
              <a:buNone/>
              <a:defRPr/>
            </a:pPr>
            <a:r>
              <a:rPr lang="en-US" altLang="zh-CN" sz="1800" dirty="0" smtClean="0"/>
              <a:t>private:</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int</a:t>
            </a:r>
            <a:r>
              <a:rPr lang="en-US" altLang="zh-CN" sz="1800" dirty="0" smtClean="0"/>
              <a:t> month, </a:t>
            </a:r>
            <a:r>
              <a:rPr lang="en-US" altLang="zh-CN" sz="1800" dirty="0" err="1" smtClean="0"/>
              <a:t>day,year</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r>
              <a:rPr lang="zh-CN" altLang="en-US" sz="1800" dirty="0" smtClean="0"/>
              <a:t>成员函数实现省略</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void main()</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Tdate</a:t>
            </a:r>
            <a:r>
              <a:rPr lang="en-US" altLang="zh-CN" sz="1800" dirty="0" smtClean="0"/>
              <a:t> s, ;</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s.Set</a:t>
            </a:r>
            <a:r>
              <a:rPr lang="en-US" altLang="zh-CN" sz="1800" dirty="0" smtClean="0"/>
              <a:t>(2,4,1998);</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Funct</a:t>
            </a:r>
            <a:r>
              <a:rPr lang="en-US" altLang="zh-CN" sz="1800" dirty="0" smtClean="0"/>
              <a:t>(&amp;s);</a:t>
            </a: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4572000" y="3071810"/>
            <a:ext cx="4286280" cy="2252924"/>
          </a:xfrm>
          <a:prstGeom prst="rect">
            <a:avLst/>
          </a:prstGeom>
        </p:spPr>
        <p:txBody>
          <a:bodyPr wrap="square">
            <a:spAutoFit/>
          </a:bodyPr>
          <a:lstStyle/>
          <a:p>
            <a:pPr marL="365760" indent="-255905" eaLnBrk="1" fontAlgn="auto" hangingPunct="1">
              <a:lnSpc>
                <a:spcPct val="90000"/>
              </a:lnSpc>
              <a:spcAft>
                <a:spcPts val="0"/>
              </a:spcAft>
              <a:buFontTx/>
              <a:buNone/>
              <a:defRPr/>
            </a:pPr>
            <a:r>
              <a:rPr lang="en-US" altLang="zh-CN" dirty="0" smtClean="0"/>
              <a:t>void </a:t>
            </a:r>
            <a:r>
              <a:rPr lang="en-US" altLang="zh-CN" dirty="0" err="1" smtClean="0"/>
              <a:t>Func</a:t>
            </a:r>
            <a:r>
              <a:rPr lang="en-US" altLang="zh-CN" dirty="0" smtClean="0"/>
              <a:t>(</a:t>
            </a:r>
            <a:r>
              <a:rPr lang="en-US" altLang="zh-CN" dirty="0" err="1" smtClean="0"/>
              <a:t>Tdate</a:t>
            </a:r>
            <a:r>
              <a:rPr lang="en-US" altLang="zh-CN" dirty="0" smtClean="0"/>
              <a:t>* </a:t>
            </a:r>
            <a:r>
              <a:rPr lang="en-US" altLang="zh-CN" dirty="0" err="1" smtClean="0"/>
              <a:t>pS</a:t>
            </a:r>
            <a:r>
              <a:rPr lang="en-US" altLang="zh-CN" dirty="0" smtClean="0"/>
              <a:t>)</a:t>
            </a:r>
            <a:endParaRPr lang="en-US" altLang="zh-CN" dirty="0" smtClean="0"/>
          </a:p>
          <a:p>
            <a:pPr marL="365760" indent="-255905" eaLnBrk="1" fontAlgn="auto" hangingPunct="1">
              <a:lnSpc>
                <a:spcPct val="90000"/>
              </a:lnSpc>
              <a:spcAft>
                <a:spcPts val="0"/>
              </a:spcAft>
              <a:buFontTx/>
              <a:buNone/>
              <a:defRPr/>
            </a:pPr>
            <a:r>
              <a:rPr lang="en-US" altLang="zh-CN" dirty="0" smtClean="0"/>
              <a:t>{</a:t>
            </a:r>
            <a:endParaRPr lang="en-US" altLang="zh-CN" dirty="0" smtClean="0"/>
          </a:p>
          <a:p>
            <a:pPr marL="365760" indent="-255905" eaLnBrk="1" fontAlgn="auto" hangingPunct="1">
              <a:spcAft>
                <a:spcPts val="0"/>
              </a:spcAft>
              <a:buFontTx/>
              <a:buNone/>
              <a:defRPr/>
            </a:pPr>
            <a:r>
              <a:rPr lang="en-US" altLang="zh-CN" dirty="0" smtClean="0"/>
              <a:t>  </a:t>
            </a:r>
            <a:r>
              <a:rPr lang="en-US" altLang="zh-CN" dirty="0" err="1" smtClean="0"/>
              <a:t>pS</a:t>
            </a:r>
            <a:r>
              <a:rPr lang="en-US" altLang="zh-CN" dirty="0" smtClean="0"/>
              <a:t>-&gt;Print();  //</a:t>
            </a:r>
            <a:r>
              <a:rPr lang="en-US" altLang="zh-CN" dirty="0" err="1" smtClean="0"/>
              <a:t>pS</a:t>
            </a:r>
            <a:r>
              <a:rPr lang="zh-CN" altLang="en-US" dirty="0" smtClean="0"/>
              <a:t>是</a:t>
            </a:r>
            <a:r>
              <a:rPr lang="en-US" altLang="zh-CN" dirty="0" smtClean="0"/>
              <a:t>s</a:t>
            </a:r>
            <a:r>
              <a:rPr lang="zh-CN" altLang="en-US" dirty="0" smtClean="0"/>
              <a:t>对象的指针</a:t>
            </a:r>
            <a:endParaRPr lang="zh-CN" altLang="en-US" dirty="0" smtClean="0"/>
          </a:p>
          <a:p>
            <a:pPr marL="365760" indent="-255905" eaLnBrk="1" fontAlgn="auto" hangingPunct="1">
              <a:spcAft>
                <a:spcPts val="0"/>
              </a:spcAft>
              <a:buFontTx/>
              <a:buNone/>
              <a:defRPr/>
            </a:pPr>
            <a:r>
              <a:rPr lang="zh-CN" altLang="en-US" dirty="0" smtClean="0"/>
              <a:t>  </a:t>
            </a:r>
            <a:r>
              <a:rPr lang="en-US" altLang="zh-CN" dirty="0" smtClean="0"/>
              <a:t>if(</a:t>
            </a:r>
            <a:r>
              <a:rPr lang="en-US" altLang="zh-CN" dirty="0" err="1" smtClean="0"/>
              <a:t>pS</a:t>
            </a:r>
            <a:r>
              <a:rPr lang="en-US" altLang="zh-CN" dirty="0" smtClean="0"/>
              <a:t>-&gt;</a:t>
            </a:r>
            <a:r>
              <a:rPr lang="en-US" altLang="zh-CN" dirty="0" err="1" smtClean="0"/>
              <a:t>IsLeapYear</a:t>
            </a:r>
            <a:r>
              <a:rPr lang="en-US" altLang="zh-CN" dirty="0" smtClean="0"/>
              <a:t>())</a:t>
            </a:r>
            <a:endParaRPr lang="en-US" altLang="zh-CN" dirty="0" smtClean="0"/>
          </a:p>
          <a:p>
            <a:pPr marL="365760" indent="-255905" eaLnBrk="1" fontAlgn="auto" hangingPunct="1">
              <a:spcAft>
                <a:spcPts val="0"/>
              </a:spcAft>
              <a:buFontTx/>
              <a:buNone/>
              <a:defRPr/>
            </a:pPr>
            <a:r>
              <a:rPr lang="en-US" altLang="zh-CN" dirty="0" smtClean="0"/>
              <a:t>    </a:t>
            </a:r>
            <a:r>
              <a:rPr lang="en-US" altLang="zh-CN" dirty="0" err="1" smtClean="0"/>
              <a:t>cout</a:t>
            </a:r>
            <a:r>
              <a:rPr lang="en-US" altLang="zh-CN" dirty="0" smtClean="0"/>
              <a:t> &lt;&lt;“no”&lt;&lt;</a:t>
            </a:r>
            <a:r>
              <a:rPr lang="en-US" altLang="zh-CN" dirty="0" err="1" smtClean="0"/>
              <a:t>endl</a:t>
            </a:r>
            <a:r>
              <a:rPr lang="en-US" altLang="zh-CN" dirty="0" smtClean="0"/>
              <a:t>;</a:t>
            </a:r>
            <a:endParaRPr lang="en-US" altLang="zh-CN" dirty="0" smtClean="0"/>
          </a:p>
          <a:p>
            <a:pPr marL="365760" indent="-255905" eaLnBrk="1" fontAlgn="auto" hangingPunct="1">
              <a:spcAft>
                <a:spcPts val="0"/>
              </a:spcAft>
              <a:buFontTx/>
              <a:buNone/>
              <a:defRPr/>
            </a:pPr>
            <a:r>
              <a:rPr lang="en-US" altLang="zh-CN" dirty="0" smtClean="0"/>
              <a:t>  else</a:t>
            </a:r>
            <a:endParaRPr lang="en-US" altLang="zh-CN" dirty="0" smtClean="0"/>
          </a:p>
          <a:p>
            <a:pPr marL="365760" indent="-255905" eaLnBrk="1" fontAlgn="auto" hangingPunct="1">
              <a:spcAft>
                <a:spcPts val="0"/>
              </a:spcAft>
              <a:buFontTx/>
              <a:buNone/>
              <a:defRPr/>
            </a:pPr>
            <a:r>
              <a:rPr lang="en-US" altLang="zh-CN" dirty="0" smtClean="0"/>
              <a:t>    </a:t>
            </a:r>
            <a:r>
              <a:rPr lang="en-US" altLang="zh-CN" dirty="0" err="1" smtClean="0"/>
              <a:t>cout</a:t>
            </a:r>
            <a:r>
              <a:rPr lang="en-US" altLang="zh-CN" dirty="0" smtClean="0"/>
              <a:t> &lt;&lt;"right“&lt;&lt;</a:t>
            </a:r>
            <a:r>
              <a:rPr lang="en-US" altLang="zh-CN" dirty="0" err="1" smtClean="0"/>
              <a:t>endl</a:t>
            </a:r>
            <a:r>
              <a:rPr lang="en-US" altLang="zh-CN" dirty="0" smtClean="0"/>
              <a:t>;</a:t>
            </a:r>
            <a:endParaRPr lang="en-US" altLang="zh-CN" dirty="0" smtClean="0"/>
          </a:p>
          <a:p>
            <a:pPr marL="365760" indent="-255905" eaLnBrk="1" fontAlgn="auto" hangingPunct="1">
              <a:spcAft>
                <a:spcPts val="0"/>
              </a:spcAft>
              <a:buFontTx/>
              <a:buNone/>
              <a:defRPr/>
            </a:pP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用引用传递来调用成员函数</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r>
              <a:rPr lang="en-US" altLang="zh-CN" sz="1800" dirty="0" err="1" smtClean="0"/>
              <a:t>Tdate</a:t>
            </a:r>
            <a:r>
              <a:rPr lang="zh-CN" altLang="en-US" sz="1800" dirty="0" smtClean="0"/>
              <a:t>类定义省略</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void </a:t>
            </a:r>
            <a:r>
              <a:rPr lang="en-US" altLang="zh-CN" sz="1800" dirty="0" err="1" smtClean="0"/>
              <a:t>someFunc</a:t>
            </a:r>
            <a:r>
              <a:rPr lang="en-US" altLang="zh-CN" sz="1800" dirty="0" smtClean="0"/>
              <a:t>(</a:t>
            </a:r>
            <a:r>
              <a:rPr lang="en-US" altLang="zh-CN" sz="1800" dirty="0" err="1" smtClean="0"/>
              <a:t>Tdate</a:t>
            </a:r>
            <a:r>
              <a:rPr lang="en-US" altLang="zh-CN" sz="1800" dirty="0" smtClean="0"/>
              <a:t>&amp; refs)</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refs.Print</a:t>
            </a:r>
            <a:r>
              <a:rPr lang="en-US" altLang="zh-CN" sz="1800" dirty="0" smtClean="0"/>
              <a:t>();    //refs</a:t>
            </a:r>
            <a:r>
              <a:rPr lang="zh-CN" altLang="en-US" sz="1800" dirty="0" smtClean="0"/>
              <a:t>是</a:t>
            </a:r>
            <a:r>
              <a:rPr lang="en-US" altLang="zh-CN" sz="1800" dirty="0" smtClean="0"/>
              <a:t>s</a:t>
            </a:r>
            <a:r>
              <a:rPr lang="zh-CN" altLang="en-US" sz="1800" dirty="0" smtClean="0"/>
              <a:t>对象的别名</a:t>
            </a:r>
            <a:endParaRPr lang="zh-CN" altLang="en-US" sz="1800" dirty="0" smtClean="0"/>
          </a:p>
          <a:p>
            <a:pPr marL="365760" indent="-255905" eaLnBrk="1" fontAlgn="auto" hangingPunct="1">
              <a:lnSpc>
                <a:spcPct val="90000"/>
              </a:lnSpc>
              <a:spcAft>
                <a:spcPts val="0"/>
              </a:spcAft>
              <a:buFontTx/>
              <a:buNone/>
              <a:defRPr/>
            </a:pPr>
            <a:r>
              <a:rPr lang="zh-CN" altLang="en-US" sz="1800" dirty="0" smtClean="0"/>
              <a:t>  </a:t>
            </a:r>
            <a:r>
              <a:rPr lang="en-US" altLang="zh-CN" sz="1800" dirty="0" smtClean="0"/>
              <a:t>if(</a:t>
            </a:r>
            <a:r>
              <a:rPr lang="en-US" altLang="zh-CN" sz="1800" dirty="0" err="1" smtClean="0"/>
              <a:t>refs.IsLeapYear</a:t>
            </a:r>
            <a:r>
              <a:rPr lang="en-US" altLang="zh-CN" sz="1800" dirty="0" smtClean="0"/>
              <a:t>())</a:t>
            </a:r>
            <a:endParaRPr lang="en-US" altLang="zh-CN" sz="1800" dirty="0" smtClean="0"/>
          </a:p>
          <a:p>
            <a:pPr marL="365760" indent="-255905" eaLnBrk="1" fontAlgn="auto" hangingPunct="1">
              <a:spcAft>
                <a:spcPts val="0"/>
              </a:spcAft>
              <a:buFontTx/>
              <a:buNone/>
              <a:defRPr/>
            </a:pPr>
            <a:r>
              <a:rPr lang="en-US" altLang="zh-CN" sz="1800" dirty="0" smtClean="0"/>
              <a:t>	</a:t>
            </a:r>
            <a:r>
              <a:rPr lang="en-US" altLang="zh-CN" sz="1800" dirty="0" err="1" smtClean="0"/>
              <a:t>cout</a:t>
            </a:r>
            <a:r>
              <a:rPr lang="en-US" altLang="zh-CN" sz="1800" dirty="0" smtClean="0"/>
              <a:t> &lt;&lt;“no”&lt;&lt;</a:t>
            </a:r>
            <a:r>
              <a:rPr lang="en-US" altLang="zh-CN" sz="1800" dirty="0" err="1" smtClean="0"/>
              <a:t>endl</a:t>
            </a:r>
            <a:r>
              <a:rPr lang="en-US" altLang="zh-CN" sz="1800" dirty="0" smtClean="0"/>
              <a:t>;</a:t>
            </a:r>
            <a:endParaRPr lang="en-US" altLang="zh-CN" sz="1800" dirty="0" smtClean="0"/>
          </a:p>
          <a:p>
            <a:pPr marL="365760" indent="-255905" eaLnBrk="1" fontAlgn="auto" hangingPunct="1">
              <a:spcAft>
                <a:spcPts val="0"/>
              </a:spcAft>
              <a:buFontTx/>
              <a:buNone/>
              <a:defRPr/>
            </a:pPr>
            <a:r>
              <a:rPr lang="en-US" altLang="zh-CN" sz="1800" dirty="0" smtClean="0"/>
              <a:t>  else</a:t>
            </a:r>
            <a:endParaRPr lang="en-US" altLang="zh-CN" sz="1800" dirty="0" smtClean="0"/>
          </a:p>
          <a:p>
            <a:pPr marL="365760" indent="-255905" eaLnBrk="1" fontAlgn="auto" hangingPunct="1">
              <a:spcAft>
                <a:spcPts val="0"/>
              </a:spcAft>
              <a:buFontTx/>
              <a:buNone/>
              <a:defRPr/>
            </a:pPr>
            <a:r>
              <a:rPr lang="en-US" altLang="zh-CN" sz="1800" dirty="0" smtClean="0"/>
              <a:t>    </a:t>
            </a:r>
            <a:r>
              <a:rPr lang="en-US" altLang="zh-CN" sz="1800" dirty="0" err="1" smtClean="0"/>
              <a:t>cout</a:t>
            </a:r>
            <a:r>
              <a:rPr lang="en-US" altLang="zh-CN" sz="1800" dirty="0" smtClean="0"/>
              <a:t> &lt;&lt;"right“&lt;&lt;</a:t>
            </a:r>
            <a:r>
              <a:rPr lang="en-US" altLang="zh-CN" sz="1800" dirty="0" err="1" smtClean="0"/>
              <a:t>endl</a:t>
            </a: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void main()</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Tdate</a:t>
            </a:r>
            <a:r>
              <a:rPr lang="en-US" altLang="zh-CN" sz="1800" dirty="0" smtClean="0"/>
              <a:t> s;</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s.Set</a:t>
            </a:r>
            <a:r>
              <a:rPr lang="en-US" altLang="zh-CN" sz="1800" dirty="0" smtClean="0"/>
              <a:t>(2,15,1998);</a:t>
            </a:r>
            <a:endParaRPr lang="en-US" altLang="zh-CN" sz="1800" dirty="0" smtClean="0"/>
          </a:p>
          <a:p>
            <a:pPr marL="365760" indent="-255905" eaLnBrk="1" fontAlgn="auto" hangingPunct="1">
              <a:lnSpc>
                <a:spcPct val="90000"/>
              </a:lnSpc>
              <a:spcAft>
                <a:spcPts val="0"/>
              </a:spcAft>
              <a:buFontTx/>
              <a:buNone/>
              <a:defRPr/>
            </a:pPr>
            <a:r>
              <a:rPr lang="en-US" altLang="zh-CN" sz="1800" dirty="0" smtClean="0"/>
              <a:t>  </a:t>
            </a:r>
            <a:r>
              <a:rPr lang="en-US" altLang="zh-CN" sz="1800" dirty="0" err="1" smtClean="0"/>
              <a:t>someFunc</a:t>
            </a:r>
            <a:r>
              <a:rPr lang="en-US" altLang="zh-CN" sz="1800" dirty="0" smtClean="0"/>
              <a:t>(s);    //</a:t>
            </a:r>
            <a:r>
              <a:rPr lang="zh-CN" altLang="en-US" sz="1800" dirty="0" smtClean="0"/>
              <a:t>对象的地址传给引用</a:t>
            </a:r>
            <a:endParaRPr lang="zh-CN" altLang="en-US" sz="1800" dirty="0" smtClean="0"/>
          </a:p>
          <a:p>
            <a:pPr marL="365760" indent="-255905" eaLnBrk="1" fontAlgn="auto" hangingPunct="1">
              <a:lnSpc>
                <a:spcPct val="90000"/>
              </a:lnSpc>
              <a:spcAft>
                <a:spcPts val="0"/>
              </a:spcAft>
              <a:buFontTx/>
              <a:buNone/>
              <a:defRPr/>
            </a:pPr>
            <a:r>
              <a:rPr lang="en-US" altLang="zh-CN" sz="1800" dirty="0" smtClean="0"/>
              <a:t>}</a:t>
            </a: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面向对象设计场景示例</a:t>
            </a:r>
            <a:endParaRPr lang="en-US" altLang="zh-CN" sz="2000" dirty="0" smtClean="0">
              <a:latin typeface="+mn-ea"/>
            </a:endParaRPr>
          </a:p>
          <a:p>
            <a:pPr lvl="1">
              <a:lnSpc>
                <a:spcPct val="125000"/>
              </a:lnSpc>
            </a:pPr>
            <a:r>
              <a:rPr lang="zh-CN" altLang="en-US" sz="1800" dirty="0" smtClean="0"/>
              <a:t>现在有一个奥特曼打怪兽的角色扮演游戏，包括奥特曼类和怪兽类。</a:t>
            </a:r>
            <a:endParaRPr lang="zh-CN" altLang="en-US" sz="1800" dirty="0" smtClean="0"/>
          </a:p>
          <a:p>
            <a:pPr lvl="1">
              <a:lnSpc>
                <a:spcPct val="125000"/>
              </a:lnSpc>
            </a:pPr>
            <a:r>
              <a:rPr lang="zh-CN" altLang="en-US" sz="1800" dirty="0" smtClean="0"/>
              <a:t>每个奥特曼的等级</a:t>
            </a:r>
            <a:r>
              <a:rPr lang="en-US" altLang="zh-CN" sz="1800" dirty="0" smtClean="0"/>
              <a:t>(rank)</a:t>
            </a:r>
            <a:r>
              <a:rPr lang="zh-CN" altLang="en-US" sz="1800" dirty="0" smtClean="0"/>
              <a:t>都从第一级开始，随着它打怪兽经验</a:t>
            </a:r>
            <a:r>
              <a:rPr lang="en-US" altLang="zh-CN" sz="1800" dirty="0" smtClean="0"/>
              <a:t>(exp)</a:t>
            </a:r>
            <a:r>
              <a:rPr lang="zh-CN" altLang="en-US" sz="1800" dirty="0" smtClean="0"/>
              <a:t>的增加，等级将不断攀升。随着等级的升高，奥特曼的生命值</a:t>
            </a:r>
            <a:r>
              <a:rPr lang="en-US" altLang="zh-CN" sz="1800" dirty="0" smtClean="0"/>
              <a:t>(hp)</a:t>
            </a:r>
            <a:r>
              <a:rPr lang="zh-CN" altLang="en-US" sz="1800" dirty="0" smtClean="0"/>
              <a:t>上限和攻击力</a:t>
            </a:r>
            <a:r>
              <a:rPr lang="en-US" altLang="zh-CN" sz="1800" dirty="0" smtClean="0"/>
              <a:t>(damage)</a:t>
            </a:r>
            <a:r>
              <a:rPr lang="zh-CN" altLang="en-US" sz="1800" dirty="0" smtClean="0"/>
              <a:t>也将大大增强。在与怪兽的战斗中，奥特曼收获的不仅仅是经验，还能从怪兽身上弄到点钱</a:t>
            </a:r>
            <a:r>
              <a:rPr lang="en-US" altLang="zh-CN" sz="1800" dirty="0" smtClean="0"/>
              <a:t>(money)</a:t>
            </a:r>
            <a:r>
              <a:rPr lang="zh-CN" altLang="en-US" sz="1800" dirty="0" smtClean="0"/>
              <a:t>，钱能给奥特曼买药补血。奥特曼没有金刚不坏之身，在与怪兽的战斗中，一旦奥特曼的生命值降到</a:t>
            </a:r>
            <a:r>
              <a:rPr lang="en-US" altLang="zh-CN" sz="1800" dirty="0" smtClean="0"/>
              <a:t>0</a:t>
            </a:r>
            <a:r>
              <a:rPr lang="zh-CN" altLang="en-US" sz="1800" dirty="0" smtClean="0"/>
              <a:t>，它英雄的一生就结束了。</a:t>
            </a:r>
            <a:endParaRPr lang="zh-CN" altLang="en-US" sz="1800" dirty="0" smtClean="0"/>
          </a:p>
          <a:p>
            <a:pPr eaLnBrk="1" hangingPunct="1">
              <a:buFont typeface="Wingdings" panose="05000000000000000000" pitchFamily="2" charset="2"/>
              <a:buNone/>
            </a:pPr>
            <a:endParaRPr lang="zh-CN" altLang="en-US" sz="18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面向对象设计场景示例</a:t>
            </a:r>
            <a:endParaRPr lang="en-US" altLang="zh-CN" sz="2000" dirty="0" smtClean="0">
              <a:latin typeface="+mn-ea"/>
            </a:endParaRPr>
          </a:p>
          <a:p>
            <a:pPr lvl="1">
              <a:lnSpc>
                <a:spcPct val="125000"/>
              </a:lnSpc>
            </a:pPr>
            <a:r>
              <a:rPr lang="zh-CN" altLang="en-US" sz="1800" dirty="0" smtClean="0"/>
              <a:t>奥特曼和怪兽的类界面</a:t>
            </a:r>
            <a:r>
              <a:rPr lang="en-US" altLang="zh-CN" sz="1800" dirty="0" smtClean="0"/>
              <a:t>——</a:t>
            </a:r>
            <a:r>
              <a:rPr lang="zh-CN" altLang="en-US" sz="1800" dirty="0" smtClean="0"/>
              <a:t>属性部分</a:t>
            </a:r>
            <a:endParaRPr lang="zh-CN" altLang="en-US"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pic>
        <p:nvPicPr>
          <p:cNvPr id="2050" name="Picture 2"/>
          <p:cNvPicPr>
            <a:picLocks noChangeAspect="1" noChangeArrowheads="1"/>
          </p:cNvPicPr>
          <p:nvPr/>
        </p:nvPicPr>
        <p:blipFill>
          <a:blip r:embed="rId1"/>
          <a:srcRect/>
          <a:stretch>
            <a:fillRect/>
          </a:stretch>
        </p:blipFill>
        <p:spPr bwMode="auto">
          <a:xfrm>
            <a:off x="357158" y="2428868"/>
            <a:ext cx="3603924" cy="2714644"/>
          </a:xfrm>
          <a:prstGeom prst="rect">
            <a:avLst/>
          </a:prstGeom>
          <a:noFill/>
          <a:ln w="9525">
            <a:noFill/>
            <a:miter lim="800000"/>
            <a:headEnd/>
            <a:tailEnd/>
          </a:ln>
          <a:effectLst/>
        </p:spPr>
      </p:pic>
      <p:pic>
        <p:nvPicPr>
          <p:cNvPr id="2051" name="Picture 3"/>
          <p:cNvPicPr>
            <a:picLocks noChangeAspect="1" noChangeArrowheads="1"/>
          </p:cNvPicPr>
          <p:nvPr/>
        </p:nvPicPr>
        <p:blipFill>
          <a:blip r:embed="rId2"/>
          <a:srcRect/>
          <a:stretch>
            <a:fillRect/>
          </a:stretch>
        </p:blipFill>
        <p:spPr bwMode="auto">
          <a:xfrm>
            <a:off x="4714876" y="2285992"/>
            <a:ext cx="3857652" cy="290544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面向对象设计场景示例</a:t>
            </a:r>
            <a:endParaRPr lang="en-US" altLang="zh-CN" sz="2000" dirty="0" smtClean="0">
              <a:latin typeface="+mn-ea"/>
            </a:endParaRPr>
          </a:p>
          <a:p>
            <a:pPr lvl="1">
              <a:lnSpc>
                <a:spcPct val="125000"/>
              </a:lnSpc>
            </a:pPr>
            <a:r>
              <a:rPr lang="zh-CN" altLang="en-US" sz="1800" dirty="0" smtClean="0"/>
              <a:t>在与怪兽的战斗中要讲究策略。所谓知己知彼，百战不殆，一旦碰到怪兽，我们首先要查看自己和对方的实力</a:t>
            </a:r>
            <a:r>
              <a:rPr lang="en-US" altLang="zh-CN" sz="1800" dirty="0" smtClean="0"/>
              <a:t>(display)</a:t>
            </a:r>
            <a:r>
              <a:rPr lang="zh-CN" altLang="en-US" sz="1800" dirty="0" smtClean="0"/>
              <a:t>，包括双方的等级、生命值、攻击力、经验和所拥有的钱财。所谓打得赢就打，打不赢就跑。如果对手太强大，逃跑吧</a:t>
            </a:r>
            <a:r>
              <a:rPr lang="en-US" altLang="zh-CN" sz="1800" dirty="0" smtClean="0"/>
              <a:t>(escape)</a:t>
            </a:r>
            <a:r>
              <a:rPr lang="zh-CN" altLang="en-US" sz="1800" dirty="0" smtClean="0"/>
              <a:t>！偶尔逃跑无伤颜面，但会耗费一点生命值。</a:t>
            </a:r>
            <a:endParaRPr lang="en-US" altLang="zh-CN" sz="1800" dirty="0" smtClean="0"/>
          </a:p>
          <a:p>
            <a:pPr lvl="1">
              <a:lnSpc>
                <a:spcPct val="125000"/>
              </a:lnSpc>
            </a:pPr>
            <a:r>
              <a:rPr lang="zh-CN" altLang="en-US" sz="1800" dirty="0" smtClean="0"/>
              <a:t>如果总是逃跑，生命被虚耗，那英雄就当不成了。所以该出手时就出手，勇敢地战斗</a:t>
            </a:r>
            <a:r>
              <a:rPr lang="en-US" altLang="zh-CN" sz="1800" dirty="0" smtClean="0"/>
              <a:t>(attack)</a:t>
            </a:r>
            <a:r>
              <a:rPr lang="zh-CN" altLang="en-US" sz="1800" dirty="0" smtClean="0"/>
              <a:t>吧！每一回合的战斗中，怪兽会受到攻击</a:t>
            </a:r>
            <a:r>
              <a:rPr lang="en-US" altLang="zh-CN" sz="1800" dirty="0" smtClean="0"/>
              <a:t>(attacked)</a:t>
            </a:r>
            <a:r>
              <a:rPr lang="zh-CN" altLang="en-US" sz="1800" dirty="0" smtClean="0"/>
              <a:t>，怪兽也会反击</a:t>
            </a:r>
            <a:r>
              <a:rPr lang="en-US" altLang="zh-CN" sz="1800" dirty="0" smtClean="0"/>
              <a:t>(</a:t>
            </a:r>
            <a:r>
              <a:rPr lang="en-US" altLang="zh-CN" sz="1800" dirty="0" err="1" smtClean="0"/>
              <a:t>fightback</a:t>
            </a:r>
            <a:r>
              <a:rPr lang="en-US" altLang="zh-CN" sz="1800" dirty="0" smtClean="0"/>
              <a:t>)</a:t>
            </a:r>
            <a:r>
              <a:rPr lang="zh-CN" altLang="en-US" sz="1800" dirty="0" smtClean="0"/>
              <a:t>，让奥特曼受到攻击</a:t>
            </a:r>
            <a:r>
              <a:rPr lang="en-US" altLang="zh-CN" sz="1800" dirty="0" smtClean="0"/>
              <a:t>(attacked)</a:t>
            </a:r>
            <a:r>
              <a:rPr lang="zh-CN" altLang="en-US" sz="1800" dirty="0" smtClean="0"/>
              <a:t>。</a:t>
            </a:r>
            <a:endParaRPr lang="en-US" altLang="zh-CN" sz="1800" dirty="0" smtClean="0"/>
          </a:p>
          <a:p>
            <a:pPr lvl="1">
              <a:lnSpc>
                <a:spcPct val="125000"/>
              </a:lnSpc>
            </a:pPr>
            <a:r>
              <a:rPr lang="zh-CN" altLang="en-US" sz="1800" dirty="0" smtClean="0"/>
              <a:t>每一回合结束，只要奥特曼还活着</a:t>
            </a:r>
            <a:r>
              <a:rPr lang="en-US" altLang="zh-CN" sz="1800" dirty="0" smtClean="0"/>
              <a:t>(</a:t>
            </a:r>
            <a:r>
              <a:rPr lang="en-US" altLang="zh-CN" sz="1800" dirty="0" err="1" smtClean="0"/>
              <a:t>isalive</a:t>
            </a:r>
            <a:r>
              <a:rPr lang="en-US" altLang="zh-CN" sz="1800" dirty="0" smtClean="0"/>
              <a:t>)</a:t>
            </a:r>
            <a:r>
              <a:rPr lang="zh-CN" altLang="en-US" sz="1800" dirty="0" smtClean="0"/>
              <a:t>，而且怪兽也还活着，战斗就要继续。如果奥特曼的生命值太低，也许抵挡不了下一轮的进攻，那么别财迷了，掏钱出来给它补血</a:t>
            </a:r>
            <a:r>
              <a:rPr lang="en-US" altLang="zh-CN" sz="1800" dirty="0" smtClean="0"/>
              <a:t>(restore)</a:t>
            </a:r>
            <a:r>
              <a:rPr lang="zh-CN" altLang="en-US" sz="1800" dirty="0" smtClean="0"/>
              <a:t>吧。</a:t>
            </a:r>
            <a:endParaRPr lang="en-US" altLang="zh-CN" sz="1800" dirty="0" smtClean="0"/>
          </a:p>
          <a:p>
            <a:pPr lvl="1">
              <a:lnSpc>
                <a:spcPct val="125000"/>
              </a:lnSpc>
            </a:pPr>
            <a:r>
              <a:rPr lang="zh-CN" altLang="en-US" sz="1800" dirty="0" smtClean="0"/>
              <a:t>如果获得了最终的胜利</a:t>
            </a:r>
            <a:r>
              <a:rPr lang="en-US" altLang="zh-CN" sz="1800" dirty="0" smtClean="0"/>
              <a:t>(win)</a:t>
            </a:r>
            <a:r>
              <a:rPr lang="zh-CN" altLang="en-US" sz="1800" dirty="0" smtClean="0"/>
              <a:t>，不仅能赢得战斗经验，夺取怪兽身上的钱财，足够多的经验也许能让奥特曼升级</a:t>
            </a:r>
            <a:r>
              <a:rPr lang="en-US" altLang="zh-CN" sz="1800" dirty="0" smtClean="0"/>
              <a:t>(upgrade)</a:t>
            </a:r>
            <a:r>
              <a:rPr lang="zh-CN" altLang="en-US" sz="1800" dirty="0" smtClean="0"/>
              <a:t>。</a:t>
            </a:r>
            <a:endParaRPr lang="en-US" altLang="zh-CN" sz="1800" dirty="0" smtClean="0"/>
          </a:p>
          <a:p>
            <a:pPr eaLnBrk="1" hangingPunct="1">
              <a:buFont typeface="Wingdings" panose="05000000000000000000" pitchFamily="2" charset="2"/>
              <a:buNone/>
            </a:pPr>
            <a:endParaRPr lang="zh-CN" altLang="en-US" sz="18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面向对象设计场景示例</a:t>
            </a:r>
            <a:endParaRPr lang="en-US" altLang="zh-CN" sz="2000" dirty="0" smtClean="0">
              <a:latin typeface="+mn-ea"/>
            </a:endParaRPr>
          </a:p>
          <a:p>
            <a:pPr lvl="1">
              <a:lnSpc>
                <a:spcPct val="125000"/>
              </a:lnSpc>
            </a:pPr>
            <a:r>
              <a:rPr lang="zh-CN" altLang="en-US" sz="1800" dirty="0" smtClean="0"/>
              <a:t>奥特曼和怪兽的类界面</a:t>
            </a:r>
            <a:r>
              <a:rPr lang="en-US" altLang="zh-CN" sz="1800" dirty="0" smtClean="0"/>
              <a:t>——</a:t>
            </a:r>
            <a:r>
              <a:rPr lang="zh-CN" altLang="en-US" sz="1800" dirty="0" smtClean="0"/>
              <a:t>操作部分</a:t>
            </a:r>
            <a:endParaRPr lang="zh-CN" altLang="en-US"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pic>
        <p:nvPicPr>
          <p:cNvPr id="3074" name="Picture 2"/>
          <p:cNvPicPr>
            <a:picLocks noChangeAspect="1" noChangeArrowheads="1"/>
          </p:cNvPicPr>
          <p:nvPr/>
        </p:nvPicPr>
        <p:blipFill>
          <a:blip r:embed="rId1"/>
          <a:srcRect/>
          <a:stretch>
            <a:fillRect/>
          </a:stretch>
        </p:blipFill>
        <p:spPr bwMode="auto">
          <a:xfrm>
            <a:off x="285720" y="2000240"/>
            <a:ext cx="3746827" cy="4429156"/>
          </a:xfrm>
          <a:prstGeom prst="rect">
            <a:avLst/>
          </a:prstGeom>
          <a:noFill/>
          <a:ln w="9525">
            <a:noFill/>
            <a:miter lim="800000"/>
            <a:headEnd/>
            <a:tailEnd/>
          </a:ln>
          <a:effectLst/>
        </p:spPr>
      </p:pic>
      <p:pic>
        <p:nvPicPr>
          <p:cNvPr id="3075" name="Picture 3"/>
          <p:cNvPicPr>
            <a:picLocks noChangeAspect="1" noChangeArrowheads="1"/>
          </p:cNvPicPr>
          <p:nvPr/>
        </p:nvPicPr>
        <p:blipFill>
          <a:blip r:embed="rId2"/>
          <a:srcRect/>
          <a:stretch>
            <a:fillRect/>
          </a:stretch>
        </p:blipFill>
        <p:spPr bwMode="auto">
          <a:xfrm>
            <a:off x="4286248" y="2000240"/>
            <a:ext cx="4000528" cy="42313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429684" cy="4500594"/>
          </a:xfrm>
        </p:spPr>
        <p:txBody>
          <a:bodyPr/>
          <a:lstStyle/>
          <a:p>
            <a:pPr eaLnBrk="1" hangingPunct="1">
              <a:lnSpc>
                <a:spcPct val="125000"/>
              </a:lnSpc>
            </a:pPr>
            <a:r>
              <a:rPr lang="zh-CN" altLang="en-US" sz="2000" dirty="0" smtClean="0"/>
              <a:t>面向对象设计场景示例</a:t>
            </a:r>
            <a:endParaRPr lang="en-US" altLang="zh-CN" sz="2000" dirty="0" smtClean="0">
              <a:latin typeface="+mn-ea"/>
            </a:endParaRPr>
          </a:p>
          <a:p>
            <a:pPr lvl="1">
              <a:lnSpc>
                <a:spcPct val="125000"/>
              </a:lnSpc>
            </a:pPr>
            <a:r>
              <a:rPr lang="zh-CN" altLang="en-US" sz="1800" dirty="0" smtClean="0"/>
              <a:t>奥特曼和怪兽战斗流程描述</a:t>
            </a:r>
            <a:endParaRPr lang="en-US" altLang="zh-CN" sz="1800" dirty="0" smtClean="0"/>
          </a:p>
          <a:p>
            <a:pPr eaLnBrk="1" hangingPunct="1">
              <a:buFont typeface="Wingdings" panose="05000000000000000000" pitchFamily="2" charset="2"/>
              <a:buNone/>
            </a:pPr>
            <a:endParaRPr lang="zh-CN" altLang="en-US" sz="1800" i="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0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5.</a:t>
            </a:r>
            <a:r>
              <a:rPr lang="zh-CN" altLang="en-US" sz="3600" dirty="0" smtClean="0"/>
              <a:t>类的基本用法</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pic>
        <p:nvPicPr>
          <p:cNvPr id="4098" name="Picture 2"/>
          <p:cNvPicPr>
            <a:picLocks noChangeAspect="1" noChangeArrowheads="1"/>
          </p:cNvPicPr>
          <p:nvPr/>
        </p:nvPicPr>
        <p:blipFill>
          <a:blip r:embed="rId1"/>
          <a:srcRect/>
          <a:stretch>
            <a:fillRect/>
          </a:stretch>
        </p:blipFill>
        <p:spPr bwMode="auto">
          <a:xfrm>
            <a:off x="1428728" y="2143116"/>
            <a:ext cx="6072230" cy="35091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在类中设置保护屏障，不让外部成员访问，是由面向对象程序设计的目标决定的。</a:t>
            </a:r>
            <a:endParaRPr lang="en-US" altLang="zh-CN" sz="2000" dirty="0" smtClean="0"/>
          </a:p>
          <a:p>
            <a:pPr lvl="1">
              <a:lnSpc>
                <a:spcPct val="125000"/>
              </a:lnSpc>
            </a:pPr>
            <a:r>
              <a:rPr lang="zh-CN" altLang="en-US" sz="1800" dirty="0" smtClean="0"/>
              <a:t>相对于外部函数，保护类内部数据不被随意侵犯</a:t>
            </a:r>
            <a:endParaRPr lang="en-US" altLang="zh-CN" sz="1800" dirty="0" smtClean="0"/>
          </a:p>
          <a:p>
            <a:pPr lvl="1">
              <a:lnSpc>
                <a:spcPct val="125000"/>
              </a:lnSpc>
            </a:pPr>
            <a:r>
              <a:rPr lang="zh-CN" altLang="en-US" sz="1800" dirty="0" smtClean="0"/>
              <a:t>使得类自己负责内部的实现和维护</a:t>
            </a:r>
            <a:endParaRPr lang="en-US" altLang="zh-CN" sz="1800" dirty="0" smtClean="0"/>
          </a:p>
          <a:p>
            <a:pPr lvl="1">
              <a:lnSpc>
                <a:spcPct val="125000"/>
              </a:lnSpc>
            </a:pPr>
            <a:r>
              <a:rPr lang="zh-CN" altLang="en-US" sz="1800" dirty="0" smtClean="0"/>
              <a:t>限制类与外部世界的接口。可以把类两部分，</a:t>
            </a:r>
            <a:r>
              <a:rPr lang="zh-CN" altLang="en-US" sz="1800" dirty="0" smtClean="0">
                <a:solidFill>
                  <a:srgbClr val="FF0000"/>
                </a:solidFill>
              </a:rPr>
              <a:t>一部分是公共的，一部分是保护的。保护的部分对于使用者是不可见的，也无须了解</a:t>
            </a:r>
            <a:r>
              <a:rPr lang="zh-CN" altLang="en-US" sz="1800" dirty="0" smtClean="0"/>
              <a:t>。这就是面向对象的</a:t>
            </a:r>
            <a:r>
              <a:rPr lang="zh-CN" altLang="en-US" sz="1800" b="1" dirty="0" smtClean="0">
                <a:solidFill>
                  <a:srgbClr val="FF0000"/>
                </a:solidFill>
              </a:rPr>
              <a:t>封装</a:t>
            </a:r>
            <a:r>
              <a:rPr lang="zh-CN" altLang="en-US" sz="1800" dirty="0" smtClean="0"/>
              <a:t>特性。</a:t>
            </a:r>
            <a:endParaRPr lang="en-US" altLang="zh-CN" sz="1800" dirty="0" smtClean="0"/>
          </a:p>
          <a:p>
            <a:pPr lvl="1">
              <a:lnSpc>
                <a:spcPct val="125000"/>
              </a:lnSpc>
            </a:pPr>
            <a:r>
              <a:rPr lang="zh-CN" altLang="en-US" sz="1800" dirty="0" smtClean="0"/>
              <a:t>减少类与其他代码的关联程度，保证类的功能是独立的，不依赖与程序运行环境，可以放到任意的程序中使用。</a:t>
            </a:r>
            <a:endParaRPr lang="en-US" altLang="zh-CN" sz="1800" dirty="0" smtClean="0"/>
          </a:p>
          <a:p>
            <a:pPr lvl="1">
              <a:lnSpc>
                <a:spcPct val="125000"/>
              </a:lnSpc>
            </a:pPr>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在</a:t>
            </a:r>
            <a:r>
              <a:rPr lang="en-US" altLang="zh-CN" sz="2000" dirty="0" smtClean="0"/>
              <a:t>C++</a:t>
            </a:r>
            <a:r>
              <a:rPr lang="zh-CN" altLang="en-US" sz="2000" dirty="0" smtClean="0"/>
              <a:t>中，可以将类界面和类实现分开</a:t>
            </a:r>
            <a:endParaRPr lang="en-US" altLang="zh-CN" sz="2000" dirty="0" smtClean="0"/>
          </a:p>
          <a:p>
            <a:pPr lvl="1"/>
            <a:r>
              <a:rPr lang="zh-CN" altLang="en-US" sz="1800" dirty="0" smtClean="0">
                <a:solidFill>
                  <a:srgbClr val="FF0000"/>
                </a:solidFill>
              </a:rPr>
              <a:t>类界面</a:t>
            </a:r>
            <a:r>
              <a:rPr lang="zh-CN" altLang="en-US" sz="1800" dirty="0" smtClean="0">
                <a:sym typeface="Wingdings" panose="05000000000000000000" pitchFamily="2" charset="2"/>
              </a:rPr>
              <a:t> </a:t>
            </a:r>
            <a:r>
              <a:rPr lang="en-US" altLang="zh-CN" sz="1800" dirty="0" smtClean="0">
                <a:sym typeface="Wingdings" panose="05000000000000000000" pitchFamily="2" charset="2"/>
              </a:rPr>
              <a:t>(*.h)</a:t>
            </a:r>
            <a:r>
              <a:rPr lang="zh-CN" altLang="en-US" sz="1800" dirty="0" smtClean="0">
                <a:sym typeface="Wingdings" panose="05000000000000000000" pitchFamily="2" charset="2"/>
              </a:rPr>
              <a:t>，</a:t>
            </a:r>
            <a:r>
              <a:rPr lang="zh-CN" altLang="en-US" sz="1800" dirty="0" smtClean="0"/>
              <a:t>包含类中数据成员和成员函数的函数原型；</a:t>
            </a:r>
            <a:endParaRPr lang="zh-CN" altLang="en-US" sz="1800" dirty="0" smtClean="0"/>
          </a:p>
          <a:p>
            <a:pPr lvl="1"/>
            <a:r>
              <a:rPr lang="zh-CN" altLang="en-US" sz="1800" dirty="0" smtClean="0">
                <a:solidFill>
                  <a:srgbClr val="FF0000"/>
                </a:solidFill>
              </a:rPr>
              <a:t>类实现</a:t>
            </a:r>
            <a:r>
              <a:rPr lang="zh-CN" altLang="en-US" sz="1800" dirty="0" smtClean="0"/>
              <a:t> </a:t>
            </a:r>
            <a:r>
              <a:rPr lang="en-US" altLang="zh-CN" sz="1800" dirty="0" smtClean="0"/>
              <a:t>(*.cpp)</a:t>
            </a:r>
            <a:r>
              <a:rPr lang="zh-CN" altLang="en-US" sz="1800" dirty="0" smtClean="0"/>
              <a:t>，成员函数的具体实现</a:t>
            </a:r>
            <a:endParaRPr lang="en-US" altLang="zh-CN" sz="1800" dirty="0" smtClean="0"/>
          </a:p>
          <a:p>
            <a:pPr lvl="1"/>
            <a:r>
              <a:rPr lang="zh-CN" altLang="en-US" sz="1800" dirty="0" smtClean="0">
                <a:solidFill>
                  <a:srgbClr val="FF0000"/>
                </a:solidFill>
              </a:rPr>
              <a:t>类使用</a:t>
            </a:r>
            <a:r>
              <a:rPr lang="zh-CN" altLang="en-US" sz="1800" dirty="0" smtClean="0"/>
              <a:t> </a:t>
            </a:r>
            <a:r>
              <a:rPr lang="en-US" altLang="zh-CN" sz="1800" dirty="0" smtClean="0"/>
              <a:t>(*.cpp)</a:t>
            </a:r>
            <a:r>
              <a:rPr lang="zh-CN" altLang="en-US" sz="1800" dirty="0" smtClean="0"/>
              <a:t>，使用类来定义对象，并使用</a:t>
            </a:r>
            <a:endParaRPr lang="en-US" altLang="zh-CN" sz="1800" dirty="0" smtClean="0"/>
          </a:p>
          <a:p>
            <a:pPr eaLnBrk="1" hangingPunct="1">
              <a:lnSpc>
                <a:spcPct val="125000"/>
              </a:lnSpc>
            </a:pPr>
            <a:r>
              <a:rPr lang="zh-CN" altLang="en-US" sz="2000" dirty="0" smtClean="0"/>
              <a:t>类定义的形式有两种</a:t>
            </a:r>
            <a:endParaRPr lang="en-US" altLang="zh-CN" sz="2000" dirty="0" smtClean="0"/>
          </a:p>
          <a:p>
            <a:pPr lvl="1"/>
            <a:r>
              <a:rPr lang="zh-CN" altLang="en-US" sz="1800" dirty="0" smtClean="0"/>
              <a:t>类界面和类实现合在类定义中 ，只有类定义和类使用分开，当成员函数较简单可以使用这种。</a:t>
            </a:r>
            <a:endParaRPr lang="en-US" altLang="zh-CN" sz="1800" dirty="0" smtClean="0"/>
          </a:p>
          <a:p>
            <a:pPr lvl="1"/>
            <a:r>
              <a:rPr lang="zh-CN" altLang="en-US" sz="1800" dirty="0" smtClean="0"/>
              <a:t>类界面与类实现分开在不同文件中完成，当成员函数较复杂可以使用这种。</a:t>
            </a:r>
            <a:endParaRPr lang="en-US" altLang="zh-CN" sz="1800" dirty="0" smtClean="0"/>
          </a:p>
          <a:p>
            <a:pPr lvl="1"/>
            <a:endParaRPr lang="en-US" altLang="zh-CN" sz="1400" dirty="0" smtClean="0"/>
          </a:p>
          <a:p>
            <a:pPr lvl="1"/>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实现类保护，可以将类定义和类使用分开</a:t>
            </a:r>
            <a:endParaRPr lang="en-US" altLang="zh-CN" sz="2000" dirty="0" smtClean="0"/>
          </a:p>
          <a:p>
            <a:pPr lvl="1">
              <a:lnSpc>
                <a:spcPct val="125000"/>
              </a:lnSpc>
            </a:pPr>
            <a:r>
              <a:rPr lang="zh-CN" altLang="en-US" sz="1800" dirty="0" smtClean="0"/>
              <a:t>原程序在同一个文件，通过</a:t>
            </a:r>
            <a:r>
              <a:rPr lang="en-US" altLang="zh-CN" sz="1800" dirty="0" err="1" smtClean="0"/>
              <a:t>xy</a:t>
            </a:r>
            <a:r>
              <a:rPr lang="zh-CN" altLang="en-US" sz="1800" dirty="0" smtClean="0"/>
              <a:t>坐标求一个点的各种参数</a:t>
            </a:r>
            <a:endParaRPr lang="en-US" altLang="zh-CN" sz="1800" dirty="0" smtClean="0"/>
          </a:p>
          <a:p>
            <a:pPr lvl="1">
              <a:buNone/>
            </a:pPr>
            <a:r>
              <a:rPr lang="en-US" altLang="zh-CN" sz="1400" dirty="0" smtClean="0"/>
              <a:t>#include &lt;</a:t>
            </a:r>
            <a:r>
              <a:rPr lang="en-US" altLang="zh-CN" sz="1400" dirty="0" err="1" smtClean="0"/>
              <a:t>iostream</a:t>
            </a:r>
            <a:r>
              <a:rPr lang="en-US" altLang="zh-CN" sz="1400" dirty="0" smtClean="0"/>
              <a:t>&gt;</a:t>
            </a:r>
            <a:endParaRPr lang="en-US" altLang="zh-CN" sz="1400" dirty="0" smtClean="0"/>
          </a:p>
          <a:p>
            <a:pPr lvl="1">
              <a:buNone/>
            </a:pPr>
            <a:r>
              <a:rPr lang="en-US" altLang="zh-CN" sz="1400" dirty="0" smtClean="0"/>
              <a:t>#include &lt;math&gt;</a:t>
            </a:r>
            <a:endParaRPr lang="en-US" altLang="zh-CN" sz="1400" dirty="0" smtClean="0"/>
          </a:p>
          <a:p>
            <a:pPr lvl="1">
              <a:buNone/>
            </a:pPr>
            <a:r>
              <a:rPr lang="en-US" altLang="zh-CN" sz="1400" dirty="0" smtClean="0"/>
              <a:t>class Point{</a:t>
            </a:r>
            <a:endParaRPr lang="en-US" altLang="zh-CN" sz="1400" dirty="0" smtClean="0"/>
          </a:p>
          <a:p>
            <a:pPr lvl="1">
              <a:buNone/>
            </a:pPr>
            <a:r>
              <a:rPr lang="en-US" altLang="zh-CN" sz="1400" dirty="0" smtClean="0"/>
              <a:t>public:</a:t>
            </a:r>
            <a:endParaRPr lang="en-US" altLang="zh-CN" sz="1400" dirty="0" smtClean="0"/>
          </a:p>
          <a:p>
            <a:pPr lvl="1">
              <a:buNone/>
            </a:pPr>
            <a:r>
              <a:rPr lang="en-US" altLang="zh-CN" sz="1400" dirty="0" smtClean="0"/>
              <a:t>  void Set(double </a:t>
            </a:r>
            <a:r>
              <a:rPr lang="en-US" altLang="zh-CN" sz="1400" dirty="0" err="1" smtClean="0"/>
              <a:t>ix,double</a:t>
            </a:r>
            <a:r>
              <a:rPr lang="en-US" altLang="zh-CN" sz="1400" dirty="0" smtClean="0"/>
              <a:t> </a:t>
            </a:r>
            <a:r>
              <a:rPr lang="en-US" altLang="zh-CN" sz="1400" dirty="0" err="1" smtClean="0"/>
              <a:t>iy</a:t>
            </a:r>
            <a:r>
              <a:rPr lang="en-US" altLang="zh-CN" sz="1400" dirty="0" smtClean="0"/>
              <a:t>)    //</a:t>
            </a:r>
            <a:r>
              <a:rPr lang="zh-CN" altLang="en-US" sz="1400" dirty="0" smtClean="0"/>
              <a:t>设置坐标</a:t>
            </a:r>
            <a:endParaRPr lang="zh-CN" altLang="en-US" sz="1400" dirty="0" smtClean="0"/>
          </a:p>
          <a:p>
            <a:pPr lvl="1">
              <a:buNone/>
            </a:pPr>
            <a:r>
              <a:rPr lang="zh-CN" altLang="en-US" sz="1400" dirty="0" smtClean="0"/>
              <a:t>  </a:t>
            </a:r>
            <a:r>
              <a:rPr lang="en-US" altLang="zh-CN" sz="1400" dirty="0" smtClean="0"/>
              <a:t>{    x=ix;  y=</a:t>
            </a:r>
            <a:r>
              <a:rPr lang="en-US" altLang="zh-CN" sz="1400" dirty="0" err="1" smtClean="0"/>
              <a:t>iy</a:t>
            </a:r>
            <a:r>
              <a:rPr lang="en-US" altLang="zh-CN" sz="1400" dirty="0" smtClean="0"/>
              <a:t>;  }</a:t>
            </a:r>
            <a:endParaRPr lang="en-US" altLang="zh-CN" sz="1400" dirty="0" smtClean="0"/>
          </a:p>
          <a:p>
            <a:pPr lvl="1">
              <a:buNone/>
            </a:pPr>
            <a:r>
              <a:rPr lang="en-US" altLang="zh-CN" sz="1400" dirty="0" smtClean="0"/>
              <a:t>  double </a:t>
            </a:r>
            <a:r>
              <a:rPr lang="en-US" altLang="zh-CN" sz="1400" dirty="0" err="1" smtClean="0"/>
              <a:t>xOffset</a:t>
            </a:r>
            <a:r>
              <a:rPr lang="en-US" altLang="zh-CN" sz="1400" dirty="0" smtClean="0"/>
              <a:t>()             //</a:t>
            </a:r>
            <a:r>
              <a:rPr lang="zh-CN" altLang="en-US" sz="1400" dirty="0" smtClean="0"/>
              <a:t>取</a:t>
            </a:r>
            <a:r>
              <a:rPr lang="en-US" altLang="zh-CN" sz="1400" dirty="0" smtClean="0"/>
              <a:t>x</a:t>
            </a:r>
            <a:r>
              <a:rPr lang="zh-CN" altLang="en-US" sz="1400" dirty="0" smtClean="0"/>
              <a:t>轴坐标分量</a:t>
            </a:r>
            <a:endParaRPr lang="zh-CN" altLang="en-US" sz="1400" dirty="0" smtClean="0"/>
          </a:p>
          <a:p>
            <a:pPr lvl="1">
              <a:buNone/>
            </a:pPr>
            <a:r>
              <a:rPr lang="zh-CN" altLang="en-US" sz="1400" dirty="0" smtClean="0"/>
              <a:t>  </a:t>
            </a:r>
            <a:r>
              <a:rPr lang="en-US" altLang="zh-CN" sz="1400" dirty="0" smtClean="0"/>
              <a:t>{    return x;  }</a:t>
            </a:r>
            <a:endParaRPr lang="en-US" altLang="zh-CN" sz="1400" dirty="0" smtClean="0"/>
          </a:p>
          <a:p>
            <a:pPr lvl="1">
              <a:buNone/>
            </a:pPr>
            <a:r>
              <a:rPr lang="en-US" altLang="zh-CN" sz="1400" dirty="0" smtClean="0"/>
              <a:t>  double </a:t>
            </a:r>
            <a:r>
              <a:rPr lang="en-US" altLang="zh-CN" sz="1400" dirty="0" err="1" smtClean="0"/>
              <a:t>yOffset</a:t>
            </a:r>
            <a:r>
              <a:rPr lang="en-US" altLang="zh-CN" sz="1400" dirty="0" smtClean="0"/>
              <a:t>()      //</a:t>
            </a:r>
            <a:r>
              <a:rPr lang="zh-CN" altLang="en-US" sz="1400" dirty="0" smtClean="0"/>
              <a:t>取</a:t>
            </a:r>
            <a:r>
              <a:rPr lang="en-US" altLang="zh-CN" sz="1400" dirty="0" smtClean="0"/>
              <a:t>y</a:t>
            </a:r>
            <a:r>
              <a:rPr lang="zh-CN" altLang="en-US" sz="1400" dirty="0" smtClean="0"/>
              <a:t>轴坐标分量</a:t>
            </a:r>
            <a:endParaRPr lang="zh-CN" altLang="en-US" sz="1400" dirty="0" smtClean="0"/>
          </a:p>
          <a:p>
            <a:pPr lvl="1">
              <a:buNone/>
            </a:pPr>
            <a:r>
              <a:rPr lang="zh-CN" altLang="en-US" sz="1400" dirty="0" smtClean="0"/>
              <a:t>  </a:t>
            </a:r>
            <a:r>
              <a:rPr lang="en-US" altLang="zh-CN" sz="1400" dirty="0" smtClean="0"/>
              <a:t>{    return y;  }</a:t>
            </a:r>
            <a:endParaRPr lang="en-US" altLang="zh-CN" sz="1400" dirty="0" smtClean="0"/>
          </a:p>
          <a:p>
            <a:pPr lvl="1">
              <a:buNone/>
            </a:pPr>
            <a:r>
              <a:rPr lang="en-US" altLang="zh-CN" sz="1400" dirty="0" smtClean="0"/>
              <a:t>  double angle()        //</a:t>
            </a:r>
            <a:r>
              <a:rPr lang="zh-CN" altLang="en-US" sz="1400" dirty="0" smtClean="0"/>
              <a:t>取点的极坐标</a:t>
            </a:r>
            <a:endParaRPr lang="zh-CN" altLang="en-US" sz="1400" dirty="0" smtClean="0"/>
          </a:p>
          <a:p>
            <a:pPr lvl="1">
              <a:buNone/>
            </a:pPr>
            <a:r>
              <a:rPr lang="zh-CN" altLang="en-US" sz="1400" dirty="0" smtClean="0"/>
              <a:t>  </a:t>
            </a:r>
            <a:r>
              <a:rPr lang="en-US" altLang="zh-CN" sz="1400" dirty="0" smtClean="0"/>
              <a:t>{    return (180/3.14159)*atan2(</a:t>
            </a:r>
            <a:r>
              <a:rPr lang="en-US" altLang="zh-CN" sz="1400" dirty="0" err="1" smtClean="0"/>
              <a:t>y,x</a:t>
            </a:r>
            <a:r>
              <a:rPr lang="en-US" altLang="zh-CN" sz="1400" dirty="0" smtClean="0"/>
              <a:t>);  }</a:t>
            </a:r>
            <a:endParaRPr lang="en-US" altLang="zh-CN" sz="1400" dirty="0" smtClean="0"/>
          </a:p>
          <a:p>
            <a:pPr lvl="1">
              <a:buNone/>
            </a:pPr>
            <a:r>
              <a:rPr lang="en-US" altLang="zh-CN" sz="1400" dirty="0" smtClean="0"/>
              <a:t>  double radius()        //</a:t>
            </a:r>
            <a:r>
              <a:rPr lang="zh-CN" altLang="en-US" sz="1400" dirty="0" smtClean="0"/>
              <a:t>取点的极坐标半径</a:t>
            </a:r>
            <a:endParaRPr lang="zh-CN" altLang="en-US" sz="1400" dirty="0" smtClean="0"/>
          </a:p>
          <a:p>
            <a:pPr lvl="1">
              <a:buNone/>
            </a:pPr>
            <a:r>
              <a:rPr lang="zh-CN" altLang="en-US" sz="1400" dirty="0" smtClean="0"/>
              <a:t>  </a:t>
            </a:r>
            <a:r>
              <a:rPr lang="en-US" altLang="zh-CN" sz="1400" dirty="0" smtClean="0"/>
              <a:t>{    return </a:t>
            </a:r>
            <a:r>
              <a:rPr lang="en-US" altLang="zh-CN" sz="1400" dirty="0" err="1" smtClean="0"/>
              <a:t>sqrt</a:t>
            </a:r>
            <a:r>
              <a:rPr lang="en-US" altLang="zh-CN" sz="1400" dirty="0" smtClean="0"/>
              <a:t>(x*</a:t>
            </a:r>
            <a:r>
              <a:rPr lang="en-US" altLang="zh-CN" sz="1400" dirty="0" err="1" smtClean="0"/>
              <a:t>x+y</a:t>
            </a:r>
            <a:r>
              <a:rPr lang="en-US" altLang="zh-CN" sz="1400" dirty="0" smtClean="0"/>
              <a:t>*y);  }</a:t>
            </a:r>
            <a:endParaRPr lang="en-US" altLang="zh-CN" sz="1400" dirty="0" smtClean="0"/>
          </a:p>
          <a:p>
            <a:pPr lvl="1">
              <a:buNone/>
            </a:pPr>
            <a:r>
              <a:rPr lang="en-US" altLang="zh-CN" sz="1400" dirty="0" smtClean="0"/>
              <a:t>protected:</a:t>
            </a:r>
            <a:endParaRPr lang="en-US" altLang="zh-CN" sz="1400" dirty="0" smtClean="0"/>
          </a:p>
          <a:p>
            <a:pPr lvl="1">
              <a:buNone/>
            </a:pPr>
            <a:r>
              <a:rPr lang="en-US" altLang="zh-CN" sz="1400" dirty="0" smtClean="0"/>
              <a:t>  double x;      //x</a:t>
            </a:r>
            <a:r>
              <a:rPr lang="zh-CN" altLang="en-US" sz="1400" dirty="0" smtClean="0"/>
              <a:t>轴分量</a:t>
            </a:r>
            <a:endParaRPr lang="zh-CN" altLang="en-US" sz="1400" dirty="0" smtClean="0"/>
          </a:p>
          <a:p>
            <a:pPr lvl="1">
              <a:buNone/>
            </a:pPr>
            <a:r>
              <a:rPr lang="zh-CN" altLang="en-US" sz="1400" dirty="0" smtClean="0"/>
              <a:t>  </a:t>
            </a:r>
            <a:r>
              <a:rPr lang="en-US" altLang="zh-CN" sz="1400" dirty="0" smtClean="0"/>
              <a:t>double y;      //y</a:t>
            </a:r>
            <a:r>
              <a:rPr lang="zh-CN" altLang="en-US" sz="1400" dirty="0" smtClean="0"/>
              <a:t>轴分量</a:t>
            </a:r>
            <a:endParaRPr lang="zh-CN" altLang="en-US" sz="1400" dirty="0" smtClean="0"/>
          </a:p>
          <a:p>
            <a:pPr lvl="1">
              <a:buNone/>
            </a:pPr>
            <a:r>
              <a:rPr lang="en-US" altLang="zh-CN" sz="1400" dirty="0" smtClean="0"/>
              <a:t>};</a:t>
            </a:r>
            <a:endParaRPr lang="en-US" altLang="zh-CN" sz="1400" dirty="0" smtClean="0"/>
          </a:p>
          <a:p>
            <a:pPr lvl="1">
              <a:lnSpc>
                <a:spcPct val="125000"/>
              </a:lnSpc>
              <a:buNone/>
            </a:pPr>
            <a:endParaRPr lang="en-US" altLang="zh-CN" sz="1600" dirty="0" smtClean="0"/>
          </a:p>
          <a:p>
            <a:pPr lvl="1">
              <a:lnSpc>
                <a:spcPct val="125000"/>
              </a:lnSpc>
              <a:buNone/>
            </a:pPr>
            <a:endParaRPr lang="en-US" altLang="zh-CN" dirty="0" smtClean="0"/>
          </a:p>
          <a:p>
            <a:pPr eaLnBrk="1" hangingPunct="1">
              <a:lnSpc>
                <a:spcPct val="125000"/>
              </a:lnSpc>
            </a:pPr>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4714876" y="2000240"/>
            <a:ext cx="4000528" cy="4670509"/>
          </a:xfrm>
          <a:prstGeom prst="rect">
            <a:avLst/>
          </a:prstGeom>
        </p:spPr>
        <p:txBody>
          <a:bodyPr wrap="square">
            <a:spAutoFit/>
          </a:bodyPr>
          <a:lstStyle/>
          <a:p>
            <a:pPr lvl="1">
              <a:lnSpc>
                <a:spcPct val="125000"/>
              </a:lnSpc>
              <a:buNone/>
            </a:pPr>
            <a:r>
              <a:rPr lang="en-US" altLang="zh-CN" sz="1400" dirty="0" smtClean="0"/>
              <a:t>void main()</a:t>
            </a:r>
            <a:endParaRPr lang="en-US" altLang="zh-CN" sz="1400" dirty="0" smtClean="0"/>
          </a:p>
          <a:p>
            <a:pPr lvl="1">
              <a:lnSpc>
                <a:spcPct val="125000"/>
              </a:lnSpc>
              <a:buNone/>
            </a:pPr>
            <a:r>
              <a:rPr lang="en-US" altLang="zh-CN" sz="1400" dirty="0" smtClean="0"/>
              <a:t>{</a:t>
            </a:r>
            <a:endParaRPr lang="en-US" altLang="zh-CN" sz="1400" dirty="0" smtClean="0"/>
          </a:p>
          <a:p>
            <a:pPr lvl="1">
              <a:lnSpc>
                <a:spcPct val="125000"/>
              </a:lnSpc>
              <a:buNone/>
            </a:pPr>
            <a:r>
              <a:rPr lang="en-US" altLang="zh-CN" sz="1400" dirty="0" smtClean="0"/>
              <a:t>  Point p;</a:t>
            </a:r>
            <a:endParaRPr lang="en-US" altLang="zh-CN" sz="1400" dirty="0" smtClean="0"/>
          </a:p>
          <a:p>
            <a:pPr lvl="1">
              <a:lnSpc>
                <a:spcPct val="125000"/>
              </a:lnSpc>
              <a:buNone/>
            </a:pPr>
            <a:r>
              <a:rPr lang="en-US" altLang="zh-CN" sz="1400" dirty="0" smtClean="0"/>
              <a:t>  double </a:t>
            </a:r>
            <a:r>
              <a:rPr lang="en-US" altLang="zh-CN" sz="1400" dirty="0" err="1" smtClean="0"/>
              <a:t>x,y</a:t>
            </a:r>
            <a:r>
              <a:rPr lang="en-US" altLang="zh-CN" sz="1400" dirty="0" smtClean="0"/>
              <a:t>;</a:t>
            </a:r>
            <a:endParaRPr lang="en-US" altLang="zh-CN" sz="1400" dirty="0" smtClean="0"/>
          </a:p>
          <a:p>
            <a:pPr lvl="1">
              <a:lnSpc>
                <a:spcPct val="125000"/>
              </a:lnSpc>
              <a:buNone/>
            </a:pPr>
            <a:r>
              <a:rPr lang="en-US" altLang="zh-CN" sz="1400" dirty="0" smtClean="0"/>
              <a:t>  for(;;){      //</a:t>
            </a:r>
            <a:r>
              <a:rPr lang="zh-CN" altLang="en-US" sz="1400" dirty="0" smtClean="0"/>
              <a:t>重复输入直到</a:t>
            </a:r>
            <a:r>
              <a:rPr lang="en-US" altLang="zh-CN" sz="1400" dirty="0" smtClean="0"/>
              <a:t>x</a:t>
            </a:r>
            <a:r>
              <a:rPr lang="zh-CN" altLang="en-US" sz="1400" dirty="0" smtClean="0"/>
              <a:t>小于</a:t>
            </a:r>
            <a:r>
              <a:rPr lang="en-US" altLang="zh-CN" sz="1400" dirty="0" smtClean="0"/>
              <a:t>0</a:t>
            </a:r>
            <a:endParaRPr lang="en-US" altLang="zh-CN" sz="1400" dirty="0" smtClean="0"/>
          </a:p>
          <a:p>
            <a:pPr lvl="1">
              <a:lnSpc>
                <a:spcPct val="125000"/>
              </a:lnSpc>
              <a:buNone/>
            </a:pPr>
            <a:r>
              <a:rPr lang="en-US" altLang="zh-CN" sz="1400" dirty="0" smtClean="0"/>
              <a:t>    </a:t>
            </a:r>
            <a:r>
              <a:rPr lang="en-US" altLang="zh-CN" sz="1400" dirty="0" err="1" smtClean="0"/>
              <a:t>cout</a:t>
            </a:r>
            <a:r>
              <a:rPr lang="en-US" altLang="zh-CN" sz="1400" dirty="0" smtClean="0"/>
              <a:t> &lt;&lt;"Enter x and y:\n";</a:t>
            </a:r>
            <a:endParaRPr lang="en-US" altLang="zh-CN" sz="1400" dirty="0" smtClean="0"/>
          </a:p>
          <a:p>
            <a:pPr lvl="1">
              <a:lnSpc>
                <a:spcPct val="125000"/>
              </a:lnSpc>
              <a:buNone/>
            </a:pPr>
            <a:r>
              <a:rPr lang="en-US" altLang="zh-CN" sz="1400" dirty="0" smtClean="0"/>
              <a:t>    </a:t>
            </a:r>
            <a:r>
              <a:rPr lang="en-US" altLang="zh-CN" sz="1400" dirty="0" err="1" smtClean="0"/>
              <a:t>cin</a:t>
            </a:r>
            <a:r>
              <a:rPr lang="en-US" altLang="zh-CN" sz="1400" dirty="0" smtClean="0"/>
              <a:t> &gt;&gt;x &gt;&gt;y;</a:t>
            </a:r>
            <a:endParaRPr lang="en-US" altLang="zh-CN" sz="1400" dirty="0" smtClean="0"/>
          </a:p>
          <a:p>
            <a:pPr lvl="1">
              <a:lnSpc>
                <a:spcPct val="125000"/>
              </a:lnSpc>
              <a:buNone/>
            </a:pPr>
            <a:r>
              <a:rPr lang="en-US" altLang="zh-CN" sz="1400" dirty="0" smtClean="0"/>
              <a:t>    if(x&lt;0)</a:t>
            </a:r>
            <a:endParaRPr lang="en-US" altLang="zh-CN" sz="1400" dirty="0" smtClean="0"/>
          </a:p>
          <a:p>
            <a:pPr lvl="1">
              <a:lnSpc>
                <a:spcPct val="125000"/>
              </a:lnSpc>
              <a:buNone/>
            </a:pPr>
            <a:r>
              <a:rPr lang="en-US" altLang="zh-CN" sz="1400" dirty="0" smtClean="0"/>
              <a:t>      break;</a:t>
            </a:r>
            <a:endParaRPr lang="en-US" altLang="zh-CN" sz="1400" dirty="0" smtClean="0"/>
          </a:p>
          <a:p>
            <a:pPr lvl="1">
              <a:lnSpc>
                <a:spcPct val="125000"/>
              </a:lnSpc>
              <a:buNone/>
            </a:pPr>
            <a:r>
              <a:rPr lang="en-US" altLang="zh-CN" sz="1400" dirty="0" smtClean="0"/>
              <a:t>    </a:t>
            </a:r>
            <a:r>
              <a:rPr lang="en-US" altLang="zh-CN" sz="1400" dirty="0" err="1" smtClean="0"/>
              <a:t>p.Set</a:t>
            </a:r>
            <a:r>
              <a:rPr lang="en-US" altLang="zh-CN" sz="1400" dirty="0" smtClean="0"/>
              <a:t>(</a:t>
            </a:r>
            <a:r>
              <a:rPr lang="en-US" altLang="zh-CN" sz="1400" dirty="0" err="1" smtClean="0"/>
              <a:t>x,y</a:t>
            </a:r>
            <a:r>
              <a:rPr lang="en-US" altLang="zh-CN" sz="1400" dirty="0" smtClean="0"/>
              <a:t>);</a:t>
            </a:r>
            <a:endParaRPr lang="en-US" altLang="zh-CN" sz="1400" dirty="0" smtClean="0"/>
          </a:p>
          <a:p>
            <a:pPr lvl="1">
              <a:lnSpc>
                <a:spcPct val="125000"/>
              </a:lnSpc>
              <a:buNone/>
            </a:pPr>
            <a:r>
              <a:rPr lang="en-US" altLang="zh-CN" sz="1400" dirty="0" smtClean="0"/>
              <a:t>    </a:t>
            </a:r>
            <a:r>
              <a:rPr lang="en-US" altLang="zh-CN" sz="1400" dirty="0" err="1" smtClean="0"/>
              <a:t>cout</a:t>
            </a:r>
            <a:r>
              <a:rPr lang="en-US" altLang="zh-CN" sz="1400" dirty="0" smtClean="0"/>
              <a:t> &lt;&lt;"angle=" &lt;&lt;</a:t>
            </a:r>
            <a:r>
              <a:rPr lang="en-US" altLang="zh-CN" sz="1400" dirty="0" err="1" smtClean="0"/>
              <a:t>p.angle</a:t>
            </a:r>
            <a:r>
              <a:rPr lang="en-US" altLang="zh-CN" sz="1400" dirty="0" smtClean="0"/>
              <a:t>()</a:t>
            </a:r>
            <a:endParaRPr lang="en-US" altLang="zh-CN" sz="1400" dirty="0" smtClean="0"/>
          </a:p>
          <a:p>
            <a:pPr lvl="1">
              <a:lnSpc>
                <a:spcPct val="125000"/>
              </a:lnSpc>
              <a:buNone/>
            </a:pPr>
            <a:r>
              <a:rPr lang="en-US" altLang="zh-CN" sz="1400" dirty="0" smtClean="0"/>
              <a:t>         &lt;&lt;",radius=" &lt;&lt;</a:t>
            </a:r>
            <a:r>
              <a:rPr lang="en-US" altLang="zh-CN" sz="1400" dirty="0" err="1" smtClean="0"/>
              <a:t>p.radius</a:t>
            </a:r>
            <a:r>
              <a:rPr lang="en-US" altLang="zh-CN" sz="1400" dirty="0" smtClean="0"/>
              <a:t>()</a:t>
            </a:r>
            <a:endParaRPr lang="en-US" altLang="zh-CN" sz="1400" dirty="0" smtClean="0"/>
          </a:p>
          <a:p>
            <a:pPr lvl="1">
              <a:lnSpc>
                <a:spcPct val="125000"/>
              </a:lnSpc>
              <a:buNone/>
            </a:pPr>
            <a:r>
              <a:rPr lang="en-US" altLang="zh-CN" sz="1400" dirty="0" smtClean="0"/>
              <a:t>         &lt;&lt;",x offset=" &lt;&lt;</a:t>
            </a:r>
            <a:r>
              <a:rPr lang="en-US" altLang="zh-CN" sz="1400" dirty="0" err="1" smtClean="0"/>
              <a:t>p.xOffset</a:t>
            </a:r>
            <a:r>
              <a:rPr lang="en-US" altLang="zh-CN" sz="1400" dirty="0" smtClean="0"/>
              <a:t>()</a:t>
            </a:r>
            <a:endParaRPr lang="en-US" altLang="zh-CN" sz="1400" dirty="0" smtClean="0"/>
          </a:p>
          <a:p>
            <a:pPr lvl="1">
              <a:lnSpc>
                <a:spcPct val="125000"/>
              </a:lnSpc>
              <a:buNone/>
            </a:pPr>
            <a:r>
              <a:rPr lang="en-US" altLang="zh-CN" sz="1400" dirty="0" smtClean="0"/>
              <a:t>         &lt;&lt;",y offset=" &lt;&lt;</a:t>
            </a:r>
            <a:r>
              <a:rPr lang="en-US" altLang="zh-CN" sz="1400" dirty="0" err="1" smtClean="0"/>
              <a:t>p.yOffset</a:t>
            </a:r>
            <a:r>
              <a:rPr lang="en-US" altLang="zh-CN" sz="1400" dirty="0" smtClean="0"/>
              <a:t>() 	&lt;&lt;</a:t>
            </a:r>
            <a:r>
              <a:rPr lang="en-US" altLang="zh-CN" sz="1400" dirty="0" err="1" smtClean="0"/>
              <a:t>endl</a:t>
            </a:r>
            <a:r>
              <a:rPr lang="en-US" altLang="zh-CN" sz="1400" dirty="0" smtClean="0"/>
              <a:t>;</a:t>
            </a:r>
            <a:endParaRPr lang="en-US" altLang="zh-CN" sz="1400" dirty="0" smtClean="0"/>
          </a:p>
          <a:p>
            <a:pPr lvl="1">
              <a:lnSpc>
                <a:spcPct val="125000"/>
              </a:lnSpc>
              <a:buNone/>
            </a:pPr>
            <a:r>
              <a:rPr lang="en-US" altLang="zh-CN" sz="1400" dirty="0" smtClean="0"/>
              <a:t>  }</a:t>
            </a:r>
            <a:endParaRPr lang="en-US" altLang="zh-CN" sz="1400" dirty="0" smtClean="0"/>
          </a:p>
          <a:p>
            <a:pPr lvl="1">
              <a:lnSpc>
                <a:spcPct val="125000"/>
              </a:lnSpc>
              <a:buNone/>
            </a:pPr>
            <a:r>
              <a:rPr lang="en-US" altLang="zh-CN" sz="1400" dirty="0" smtClean="0"/>
              <a:t>}</a:t>
            </a:r>
            <a:endParaRPr lang="en-US" altLang="zh-CN" sz="14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类定义和类使用分开的例子</a:t>
            </a:r>
            <a:endParaRPr lang="en-US" altLang="zh-CN" sz="2000" dirty="0" smtClean="0"/>
          </a:p>
          <a:p>
            <a:pPr lvl="1">
              <a:lnSpc>
                <a:spcPct val="125000"/>
              </a:lnSpc>
            </a:pPr>
            <a:r>
              <a:rPr lang="zh-CN" altLang="en-US" sz="1800" dirty="0" smtClean="0"/>
              <a:t>把原程序拆成两个文件</a:t>
            </a:r>
            <a:endParaRPr lang="en-US" altLang="zh-CN" sz="1800" dirty="0" smtClean="0"/>
          </a:p>
          <a:p>
            <a:pPr lvl="1">
              <a:buNone/>
            </a:pPr>
            <a:r>
              <a:rPr lang="en-US" altLang="zh-CN" sz="1400" dirty="0" smtClean="0"/>
              <a:t>//</a:t>
            </a:r>
            <a:r>
              <a:rPr lang="zh-CN" altLang="en-US" sz="1400" dirty="0" smtClean="0"/>
              <a:t>类定义文件</a:t>
            </a:r>
            <a:r>
              <a:rPr lang="en-US" altLang="zh-CN" sz="1400" dirty="0" err="1" smtClean="0"/>
              <a:t>point.h</a:t>
            </a:r>
            <a:r>
              <a:rPr lang="zh-CN" altLang="en-US" sz="1400" dirty="0" smtClean="0"/>
              <a:t>，包含以下类定义代码</a:t>
            </a:r>
            <a:endParaRPr lang="en-US" altLang="zh-CN" sz="1400" dirty="0" smtClean="0"/>
          </a:p>
          <a:p>
            <a:pPr lvl="1">
              <a:buNone/>
            </a:pPr>
            <a:r>
              <a:rPr lang="en-US" altLang="zh-CN" sz="1400" dirty="0" smtClean="0"/>
              <a:t>#include &lt;</a:t>
            </a:r>
            <a:r>
              <a:rPr lang="en-US" altLang="zh-CN" sz="1400" dirty="0" err="1" smtClean="0"/>
              <a:t>iostream</a:t>
            </a:r>
            <a:r>
              <a:rPr lang="en-US" altLang="zh-CN" sz="1400" dirty="0" smtClean="0"/>
              <a:t>&gt;</a:t>
            </a:r>
            <a:endParaRPr lang="en-US" altLang="zh-CN" sz="1400" dirty="0" smtClean="0"/>
          </a:p>
          <a:p>
            <a:pPr lvl="1">
              <a:buNone/>
            </a:pPr>
            <a:r>
              <a:rPr lang="en-US" altLang="zh-CN" sz="1400" dirty="0" smtClean="0"/>
              <a:t>#include &lt;math&gt;</a:t>
            </a:r>
            <a:endParaRPr lang="en-US" altLang="zh-CN" sz="1400" dirty="0" smtClean="0"/>
          </a:p>
          <a:p>
            <a:pPr lvl="1">
              <a:buNone/>
            </a:pPr>
            <a:r>
              <a:rPr lang="en-US" altLang="zh-CN" sz="1400" dirty="0" smtClean="0"/>
              <a:t>class Point{</a:t>
            </a:r>
            <a:endParaRPr lang="en-US" altLang="zh-CN" sz="1400" dirty="0" smtClean="0"/>
          </a:p>
          <a:p>
            <a:pPr lvl="1">
              <a:buNone/>
            </a:pPr>
            <a:r>
              <a:rPr lang="en-US" altLang="zh-CN" sz="1400" dirty="0" smtClean="0"/>
              <a:t>public:</a:t>
            </a:r>
            <a:endParaRPr lang="en-US" altLang="zh-CN" sz="1400" dirty="0" smtClean="0"/>
          </a:p>
          <a:p>
            <a:pPr lvl="1">
              <a:buNone/>
            </a:pPr>
            <a:r>
              <a:rPr lang="en-US" altLang="zh-CN" sz="1400" dirty="0" smtClean="0"/>
              <a:t>  void Set(double </a:t>
            </a:r>
            <a:r>
              <a:rPr lang="en-US" altLang="zh-CN" sz="1400" dirty="0" err="1" smtClean="0"/>
              <a:t>ix,double</a:t>
            </a:r>
            <a:r>
              <a:rPr lang="en-US" altLang="zh-CN" sz="1400" dirty="0" smtClean="0"/>
              <a:t> </a:t>
            </a:r>
            <a:r>
              <a:rPr lang="en-US" altLang="zh-CN" sz="1400" dirty="0" err="1" smtClean="0"/>
              <a:t>iy</a:t>
            </a:r>
            <a:r>
              <a:rPr lang="en-US" altLang="zh-CN" sz="1400" dirty="0" smtClean="0"/>
              <a:t>)    //</a:t>
            </a:r>
            <a:r>
              <a:rPr lang="zh-CN" altLang="en-US" sz="1400" dirty="0" smtClean="0"/>
              <a:t>设置坐标</a:t>
            </a:r>
            <a:endParaRPr lang="zh-CN" altLang="en-US" sz="1400" dirty="0" smtClean="0"/>
          </a:p>
          <a:p>
            <a:pPr lvl="1">
              <a:buNone/>
            </a:pPr>
            <a:r>
              <a:rPr lang="zh-CN" altLang="en-US" sz="1400" dirty="0" smtClean="0"/>
              <a:t>  </a:t>
            </a:r>
            <a:r>
              <a:rPr lang="en-US" altLang="zh-CN" sz="1400" dirty="0" smtClean="0"/>
              <a:t>{    x=ix;  y=</a:t>
            </a:r>
            <a:r>
              <a:rPr lang="en-US" altLang="zh-CN" sz="1400" dirty="0" err="1" smtClean="0"/>
              <a:t>iy</a:t>
            </a:r>
            <a:r>
              <a:rPr lang="en-US" altLang="zh-CN" sz="1400" dirty="0" smtClean="0"/>
              <a:t>;  }</a:t>
            </a:r>
            <a:endParaRPr lang="en-US" altLang="zh-CN" sz="1400" dirty="0" smtClean="0"/>
          </a:p>
          <a:p>
            <a:pPr lvl="1">
              <a:buNone/>
            </a:pPr>
            <a:r>
              <a:rPr lang="en-US" altLang="zh-CN" sz="1400" dirty="0" smtClean="0"/>
              <a:t>  double </a:t>
            </a:r>
            <a:r>
              <a:rPr lang="en-US" altLang="zh-CN" sz="1400" dirty="0" err="1" smtClean="0"/>
              <a:t>xOffset</a:t>
            </a:r>
            <a:r>
              <a:rPr lang="en-US" altLang="zh-CN" sz="1400" dirty="0" smtClean="0"/>
              <a:t>()             //</a:t>
            </a:r>
            <a:r>
              <a:rPr lang="zh-CN" altLang="en-US" sz="1400" dirty="0" smtClean="0"/>
              <a:t>取</a:t>
            </a:r>
            <a:r>
              <a:rPr lang="en-US" altLang="zh-CN" sz="1400" dirty="0" smtClean="0"/>
              <a:t>x</a:t>
            </a:r>
            <a:r>
              <a:rPr lang="zh-CN" altLang="en-US" sz="1400" dirty="0" smtClean="0"/>
              <a:t>轴坐标分量</a:t>
            </a:r>
            <a:endParaRPr lang="zh-CN" altLang="en-US" sz="1400" dirty="0" smtClean="0"/>
          </a:p>
          <a:p>
            <a:pPr lvl="1">
              <a:buNone/>
            </a:pPr>
            <a:r>
              <a:rPr lang="zh-CN" altLang="en-US" sz="1400" dirty="0" smtClean="0"/>
              <a:t>  </a:t>
            </a:r>
            <a:r>
              <a:rPr lang="en-US" altLang="zh-CN" sz="1400" dirty="0" smtClean="0"/>
              <a:t>{    return x;  }</a:t>
            </a:r>
            <a:endParaRPr lang="en-US" altLang="zh-CN" sz="1400" dirty="0" smtClean="0"/>
          </a:p>
          <a:p>
            <a:pPr lvl="1">
              <a:buNone/>
            </a:pPr>
            <a:r>
              <a:rPr lang="en-US" altLang="zh-CN" sz="1400" dirty="0" smtClean="0"/>
              <a:t>  double </a:t>
            </a:r>
            <a:r>
              <a:rPr lang="en-US" altLang="zh-CN" sz="1400" dirty="0" err="1" smtClean="0"/>
              <a:t>yOffset</a:t>
            </a:r>
            <a:r>
              <a:rPr lang="en-US" altLang="zh-CN" sz="1400" dirty="0" smtClean="0"/>
              <a:t>()      //</a:t>
            </a:r>
            <a:r>
              <a:rPr lang="zh-CN" altLang="en-US" sz="1400" dirty="0" smtClean="0"/>
              <a:t>取</a:t>
            </a:r>
            <a:r>
              <a:rPr lang="en-US" altLang="zh-CN" sz="1400" dirty="0" smtClean="0"/>
              <a:t>y</a:t>
            </a:r>
            <a:r>
              <a:rPr lang="zh-CN" altLang="en-US" sz="1400" dirty="0" smtClean="0"/>
              <a:t>轴坐标分量</a:t>
            </a:r>
            <a:endParaRPr lang="zh-CN" altLang="en-US" sz="1400" dirty="0" smtClean="0"/>
          </a:p>
          <a:p>
            <a:pPr lvl="1">
              <a:buNone/>
            </a:pPr>
            <a:r>
              <a:rPr lang="zh-CN" altLang="en-US" sz="1400" dirty="0" smtClean="0"/>
              <a:t>  </a:t>
            </a:r>
            <a:r>
              <a:rPr lang="en-US" altLang="zh-CN" sz="1400" dirty="0" smtClean="0"/>
              <a:t>{    return y;  }</a:t>
            </a:r>
            <a:endParaRPr lang="en-US" altLang="zh-CN" sz="1400" dirty="0" smtClean="0"/>
          </a:p>
          <a:p>
            <a:pPr lvl="1">
              <a:buNone/>
            </a:pPr>
            <a:r>
              <a:rPr lang="en-US" altLang="zh-CN" sz="1400" dirty="0" smtClean="0"/>
              <a:t>  double angle()        //</a:t>
            </a:r>
            <a:r>
              <a:rPr lang="zh-CN" altLang="en-US" sz="1400" dirty="0" smtClean="0"/>
              <a:t>取点的极坐标</a:t>
            </a:r>
            <a:endParaRPr lang="zh-CN" altLang="en-US" sz="1400" dirty="0" smtClean="0"/>
          </a:p>
          <a:p>
            <a:pPr lvl="1">
              <a:buNone/>
            </a:pPr>
            <a:r>
              <a:rPr lang="zh-CN" altLang="en-US" sz="1400" dirty="0" smtClean="0"/>
              <a:t>  </a:t>
            </a:r>
            <a:r>
              <a:rPr lang="en-US" altLang="zh-CN" sz="1400" dirty="0" smtClean="0"/>
              <a:t>{    return (180/3.14159)*atan2(</a:t>
            </a:r>
            <a:r>
              <a:rPr lang="en-US" altLang="zh-CN" sz="1400" dirty="0" err="1" smtClean="0"/>
              <a:t>y,x</a:t>
            </a:r>
            <a:r>
              <a:rPr lang="en-US" altLang="zh-CN" sz="1400" dirty="0" smtClean="0"/>
              <a:t>);  }</a:t>
            </a:r>
            <a:endParaRPr lang="en-US" altLang="zh-CN" sz="1400" dirty="0" smtClean="0"/>
          </a:p>
          <a:p>
            <a:pPr lvl="1">
              <a:buNone/>
            </a:pPr>
            <a:r>
              <a:rPr lang="en-US" altLang="zh-CN" sz="1400" dirty="0" smtClean="0"/>
              <a:t>  double radius()        //</a:t>
            </a:r>
            <a:r>
              <a:rPr lang="zh-CN" altLang="en-US" sz="1400" dirty="0" smtClean="0"/>
              <a:t>取点的极坐标半径</a:t>
            </a:r>
            <a:endParaRPr lang="zh-CN" altLang="en-US" sz="1400" dirty="0" smtClean="0"/>
          </a:p>
          <a:p>
            <a:pPr lvl="1">
              <a:buNone/>
            </a:pPr>
            <a:r>
              <a:rPr lang="zh-CN" altLang="en-US" sz="1400" dirty="0" smtClean="0"/>
              <a:t>  </a:t>
            </a:r>
            <a:r>
              <a:rPr lang="en-US" altLang="zh-CN" sz="1400" dirty="0" smtClean="0"/>
              <a:t>{    return </a:t>
            </a:r>
            <a:r>
              <a:rPr lang="en-US" altLang="zh-CN" sz="1400" dirty="0" err="1" smtClean="0"/>
              <a:t>sqrt</a:t>
            </a:r>
            <a:r>
              <a:rPr lang="en-US" altLang="zh-CN" sz="1400" dirty="0" smtClean="0"/>
              <a:t>(x*</a:t>
            </a:r>
            <a:r>
              <a:rPr lang="en-US" altLang="zh-CN" sz="1400" dirty="0" err="1" smtClean="0"/>
              <a:t>x+y</a:t>
            </a:r>
            <a:r>
              <a:rPr lang="en-US" altLang="zh-CN" sz="1400" dirty="0" smtClean="0"/>
              <a:t>*y);  }</a:t>
            </a:r>
            <a:endParaRPr lang="en-US" altLang="zh-CN" sz="1400" dirty="0" smtClean="0"/>
          </a:p>
          <a:p>
            <a:pPr lvl="1">
              <a:buNone/>
            </a:pPr>
            <a:r>
              <a:rPr lang="en-US" altLang="zh-CN" sz="1400" dirty="0" smtClean="0"/>
              <a:t>protected:</a:t>
            </a:r>
            <a:endParaRPr lang="en-US" altLang="zh-CN" sz="1400" dirty="0" smtClean="0"/>
          </a:p>
          <a:p>
            <a:pPr lvl="1">
              <a:buNone/>
            </a:pPr>
            <a:r>
              <a:rPr lang="en-US" altLang="zh-CN" sz="1400" dirty="0" smtClean="0"/>
              <a:t>  double x;      //x</a:t>
            </a:r>
            <a:r>
              <a:rPr lang="zh-CN" altLang="en-US" sz="1400" dirty="0" smtClean="0"/>
              <a:t>轴分量</a:t>
            </a:r>
            <a:endParaRPr lang="zh-CN" altLang="en-US" sz="1400" dirty="0" smtClean="0"/>
          </a:p>
          <a:p>
            <a:pPr lvl="1">
              <a:buNone/>
            </a:pPr>
            <a:r>
              <a:rPr lang="zh-CN" altLang="en-US" sz="1400" dirty="0" smtClean="0"/>
              <a:t>  </a:t>
            </a:r>
            <a:r>
              <a:rPr lang="en-US" altLang="zh-CN" sz="1400" dirty="0" smtClean="0"/>
              <a:t>double y;      //y</a:t>
            </a:r>
            <a:r>
              <a:rPr lang="zh-CN" altLang="en-US" sz="1400" dirty="0" smtClean="0"/>
              <a:t>轴分量</a:t>
            </a:r>
            <a:endParaRPr lang="zh-CN" altLang="en-US" sz="1400" dirty="0" smtClean="0"/>
          </a:p>
          <a:p>
            <a:pPr lvl="1">
              <a:buNone/>
            </a:pPr>
            <a:r>
              <a:rPr lang="en-US" altLang="zh-CN" sz="1400" dirty="0" smtClean="0"/>
              <a:t>};</a:t>
            </a:r>
            <a:endParaRPr lang="en-US" altLang="zh-CN" sz="1400" dirty="0" smtClean="0"/>
          </a:p>
          <a:p>
            <a:pPr lvl="1">
              <a:lnSpc>
                <a:spcPct val="125000"/>
              </a:lnSpc>
              <a:buNone/>
            </a:pPr>
            <a:endParaRPr lang="en-US" altLang="zh-CN" sz="1600" dirty="0" smtClean="0"/>
          </a:p>
          <a:p>
            <a:pPr lvl="1">
              <a:lnSpc>
                <a:spcPct val="125000"/>
              </a:lnSpc>
              <a:buNone/>
            </a:pPr>
            <a:endParaRPr lang="en-US" altLang="zh-CN" dirty="0" smtClean="0"/>
          </a:p>
          <a:p>
            <a:pPr eaLnBrk="1" hangingPunct="1">
              <a:lnSpc>
                <a:spcPct val="125000"/>
              </a:lnSpc>
            </a:pPr>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5000628" y="1142984"/>
            <a:ext cx="4000528" cy="5209118"/>
          </a:xfrm>
          <a:prstGeom prst="rect">
            <a:avLst/>
          </a:prstGeom>
        </p:spPr>
        <p:txBody>
          <a:bodyPr wrap="square">
            <a:spAutoFit/>
          </a:bodyPr>
          <a:lstStyle/>
          <a:p>
            <a:pPr lvl="1">
              <a:lnSpc>
                <a:spcPct val="125000"/>
              </a:lnSpc>
              <a:buNone/>
            </a:pPr>
            <a:r>
              <a:rPr lang="en-US" altLang="zh-CN" sz="1400" dirty="0" smtClean="0"/>
              <a:t>//</a:t>
            </a:r>
            <a:r>
              <a:rPr lang="zh-CN" altLang="en-US" sz="1400" dirty="0" smtClean="0"/>
              <a:t>类使用文件</a:t>
            </a:r>
            <a:r>
              <a:rPr lang="en-US" altLang="zh-CN" sz="1400" dirty="0" smtClean="0"/>
              <a:t>main.cpp</a:t>
            </a:r>
            <a:endParaRPr lang="en-US" altLang="zh-CN" sz="1400" dirty="0" smtClean="0"/>
          </a:p>
          <a:p>
            <a:pPr lvl="1">
              <a:lnSpc>
                <a:spcPct val="125000"/>
              </a:lnSpc>
              <a:buNone/>
            </a:pPr>
            <a:r>
              <a:rPr lang="en-US" altLang="zh-CN" sz="1400" dirty="0" smtClean="0"/>
              <a:t>//</a:t>
            </a:r>
            <a:r>
              <a:rPr lang="zh-CN" altLang="en-US" sz="1400" dirty="0" smtClean="0"/>
              <a:t>通过</a:t>
            </a:r>
            <a:r>
              <a:rPr lang="en-US" altLang="zh-CN" sz="1400" dirty="0" smtClean="0"/>
              <a:t>include</a:t>
            </a:r>
            <a:r>
              <a:rPr lang="zh-CN" altLang="en-US" sz="1400" dirty="0" smtClean="0"/>
              <a:t>头文件，调用类定义代码</a:t>
            </a:r>
            <a:endParaRPr lang="en-US" altLang="zh-CN" sz="1400" dirty="0" smtClean="0"/>
          </a:p>
          <a:p>
            <a:pPr lvl="1">
              <a:lnSpc>
                <a:spcPct val="125000"/>
              </a:lnSpc>
              <a:buNone/>
            </a:pPr>
            <a:r>
              <a:rPr lang="en-US" altLang="zh-CN" sz="1400" dirty="0" smtClean="0"/>
              <a:t>#include “</a:t>
            </a:r>
            <a:r>
              <a:rPr lang="en-US" altLang="zh-CN" sz="1400" dirty="0" err="1" smtClean="0"/>
              <a:t>point.h</a:t>
            </a:r>
            <a:r>
              <a:rPr lang="en-US" altLang="zh-CN" sz="1400" dirty="0" smtClean="0"/>
              <a:t>”</a:t>
            </a:r>
            <a:endParaRPr lang="en-US" altLang="zh-CN" sz="1400" dirty="0" smtClean="0"/>
          </a:p>
          <a:p>
            <a:pPr lvl="1">
              <a:lnSpc>
                <a:spcPct val="125000"/>
              </a:lnSpc>
              <a:buNone/>
            </a:pPr>
            <a:r>
              <a:rPr lang="en-US" altLang="zh-CN" sz="1400" dirty="0" smtClean="0"/>
              <a:t>void main()</a:t>
            </a:r>
            <a:endParaRPr lang="en-US" altLang="zh-CN" sz="1400" dirty="0" smtClean="0"/>
          </a:p>
          <a:p>
            <a:pPr lvl="1">
              <a:lnSpc>
                <a:spcPct val="125000"/>
              </a:lnSpc>
              <a:buNone/>
            </a:pPr>
            <a:r>
              <a:rPr lang="en-US" altLang="zh-CN" sz="1400" dirty="0" smtClean="0"/>
              <a:t>{ Point p;</a:t>
            </a:r>
            <a:endParaRPr lang="en-US" altLang="zh-CN" sz="1400" dirty="0" smtClean="0"/>
          </a:p>
          <a:p>
            <a:pPr lvl="1">
              <a:lnSpc>
                <a:spcPct val="125000"/>
              </a:lnSpc>
              <a:buNone/>
            </a:pPr>
            <a:r>
              <a:rPr lang="en-US" altLang="zh-CN" sz="1400" dirty="0" smtClean="0"/>
              <a:t>  double </a:t>
            </a:r>
            <a:r>
              <a:rPr lang="en-US" altLang="zh-CN" sz="1400" dirty="0" err="1" smtClean="0"/>
              <a:t>x,y</a:t>
            </a:r>
            <a:r>
              <a:rPr lang="en-US" altLang="zh-CN" sz="1400" dirty="0" smtClean="0"/>
              <a:t>;</a:t>
            </a:r>
            <a:endParaRPr lang="en-US" altLang="zh-CN" sz="1400" dirty="0" smtClean="0"/>
          </a:p>
          <a:p>
            <a:pPr lvl="1">
              <a:lnSpc>
                <a:spcPct val="125000"/>
              </a:lnSpc>
              <a:buNone/>
            </a:pPr>
            <a:r>
              <a:rPr lang="en-US" altLang="zh-CN" sz="1400" dirty="0" smtClean="0"/>
              <a:t>  for(;;){      //</a:t>
            </a:r>
            <a:r>
              <a:rPr lang="zh-CN" altLang="en-US" sz="1400" dirty="0" smtClean="0"/>
              <a:t>重复输入直到</a:t>
            </a:r>
            <a:r>
              <a:rPr lang="en-US" altLang="zh-CN" sz="1400" dirty="0" smtClean="0"/>
              <a:t>x</a:t>
            </a:r>
            <a:r>
              <a:rPr lang="zh-CN" altLang="en-US" sz="1400" dirty="0" smtClean="0"/>
              <a:t>小于</a:t>
            </a:r>
            <a:r>
              <a:rPr lang="en-US" altLang="zh-CN" sz="1400" dirty="0" smtClean="0"/>
              <a:t>0</a:t>
            </a:r>
            <a:endParaRPr lang="en-US" altLang="zh-CN" sz="1400" dirty="0" smtClean="0"/>
          </a:p>
          <a:p>
            <a:pPr lvl="1">
              <a:lnSpc>
                <a:spcPct val="125000"/>
              </a:lnSpc>
              <a:buNone/>
            </a:pPr>
            <a:r>
              <a:rPr lang="en-US" altLang="zh-CN" sz="1400" dirty="0" smtClean="0"/>
              <a:t>    </a:t>
            </a:r>
            <a:r>
              <a:rPr lang="en-US" altLang="zh-CN" sz="1400" dirty="0" err="1" smtClean="0"/>
              <a:t>cout</a:t>
            </a:r>
            <a:r>
              <a:rPr lang="en-US" altLang="zh-CN" sz="1400" dirty="0" smtClean="0"/>
              <a:t> &lt;&lt;"Enter x and y:\n";</a:t>
            </a:r>
            <a:endParaRPr lang="en-US" altLang="zh-CN" sz="1400" dirty="0" smtClean="0"/>
          </a:p>
          <a:p>
            <a:pPr lvl="1">
              <a:lnSpc>
                <a:spcPct val="125000"/>
              </a:lnSpc>
              <a:buNone/>
            </a:pPr>
            <a:r>
              <a:rPr lang="en-US" altLang="zh-CN" sz="1400" dirty="0" smtClean="0"/>
              <a:t>    </a:t>
            </a:r>
            <a:r>
              <a:rPr lang="en-US" altLang="zh-CN" sz="1400" dirty="0" err="1" smtClean="0"/>
              <a:t>cin</a:t>
            </a:r>
            <a:r>
              <a:rPr lang="en-US" altLang="zh-CN" sz="1400" dirty="0" smtClean="0"/>
              <a:t> &gt;&gt;x &gt;&gt;y;</a:t>
            </a:r>
            <a:endParaRPr lang="en-US" altLang="zh-CN" sz="1400" dirty="0" smtClean="0"/>
          </a:p>
          <a:p>
            <a:pPr lvl="1">
              <a:lnSpc>
                <a:spcPct val="125000"/>
              </a:lnSpc>
              <a:buNone/>
            </a:pPr>
            <a:r>
              <a:rPr lang="en-US" altLang="zh-CN" sz="1400" dirty="0" smtClean="0"/>
              <a:t>    if(x&lt;0)</a:t>
            </a:r>
            <a:endParaRPr lang="en-US" altLang="zh-CN" sz="1400" dirty="0" smtClean="0"/>
          </a:p>
          <a:p>
            <a:pPr lvl="1">
              <a:lnSpc>
                <a:spcPct val="125000"/>
              </a:lnSpc>
              <a:buNone/>
            </a:pPr>
            <a:r>
              <a:rPr lang="en-US" altLang="zh-CN" sz="1400" dirty="0" smtClean="0"/>
              <a:t>      break;</a:t>
            </a:r>
            <a:endParaRPr lang="en-US" altLang="zh-CN" sz="1400" dirty="0" smtClean="0"/>
          </a:p>
          <a:p>
            <a:pPr lvl="1">
              <a:lnSpc>
                <a:spcPct val="125000"/>
              </a:lnSpc>
              <a:buNone/>
            </a:pPr>
            <a:r>
              <a:rPr lang="en-US" altLang="zh-CN" sz="1400" dirty="0" smtClean="0"/>
              <a:t>    </a:t>
            </a:r>
            <a:r>
              <a:rPr lang="en-US" altLang="zh-CN" sz="1400" dirty="0" err="1" smtClean="0"/>
              <a:t>p.Set</a:t>
            </a:r>
            <a:r>
              <a:rPr lang="en-US" altLang="zh-CN" sz="1400" dirty="0" smtClean="0"/>
              <a:t>(</a:t>
            </a:r>
            <a:r>
              <a:rPr lang="en-US" altLang="zh-CN" sz="1400" dirty="0" err="1" smtClean="0"/>
              <a:t>x,y</a:t>
            </a:r>
            <a:r>
              <a:rPr lang="en-US" altLang="zh-CN" sz="1400" dirty="0" smtClean="0"/>
              <a:t>);</a:t>
            </a:r>
            <a:endParaRPr lang="en-US" altLang="zh-CN" sz="1400" dirty="0" smtClean="0"/>
          </a:p>
          <a:p>
            <a:pPr lvl="1">
              <a:lnSpc>
                <a:spcPct val="125000"/>
              </a:lnSpc>
              <a:buNone/>
            </a:pPr>
            <a:r>
              <a:rPr lang="en-US" altLang="zh-CN" sz="1400" dirty="0" smtClean="0"/>
              <a:t>    </a:t>
            </a:r>
            <a:r>
              <a:rPr lang="en-US" altLang="zh-CN" sz="1400" dirty="0" err="1" smtClean="0"/>
              <a:t>cout</a:t>
            </a:r>
            <a:r>
              <a:rPr lang="en-US" altLang="zh-CN" sz="1400" dirty="0" smtClean="0"/>
              <a:t> &lt;&lt;"angle=" &lt;&lt;</a:t>
            </a:r>
            <a:r>
              <a:rPr lang="en-US" altLang="zh-CN" sz="1400" dirty="0" err="1" smtClean="0"/>
              <a:t>p.angle</a:t>
            </a:r>
            <a:r>
              <a:rPr lang="en-US" altLang="zh-CN" sz="1400" dirty="0" smtClean="0"/>
              <a:t>()</a:t>
            </a:r>
            <a:endParaRPr lang="en-US" altLang="zh-CN" sz="1400" dirty="0" smtClean="0"/>
          </a:p>
          <a:p>
            <a:pPr lvl="1">
              <a:lnSpc>
                <a:spcPct val="125000"/>
              </a:lnSpc>
              <a:buNone/>
            </a:pPr>
            <a:r>
              <a:rPr lang="en-US" altLang="zh-CN" sz="1400" dirty="0" smtClean="0"/>
              <a:t>         &lt;&lt;",radius=" &lt;&lt;</a:t>
            </a:r>
            <a:r>
              <a:rPr lang="en-US" altLang="zh-CN" sz="1400" dirty="0" err="1" smtClean="0"/>
              <a:t>p.radius</a:t>
            </a:r>
            <a:r>
              <a:rPr lang="en-US" altLang="zh-CN" sz="1400" dirty="0" smtClean="0"/>
              <a:t>()</a:t>
            </a:r>
            <a:endParaRPr lang="en-US" altLang="zh-CN" sz="1400" dirty="0" smtClean="0"/>
          </a:p>
          <a:p>
            <a:pPr lvl="1">
              <a:lnSpc>
                <a:spcPct val="125000"/>
              </a:lnSpc>
              <a:buNone/>
            </a:pPr>
            <a:r>
              <a:rPr lang="en-US" altLang="zh-CN" sz="1400" dirty="0" smtClean="0"/>
              <a:t>         &lt;&lt;",x offset=" &lt;&lt;</a:t>
            </a:r>
            <a:r>
              <a:rPr lang="en-US" altLang="zh-CN" sz="1400" dirty="0" err="1" smtClean="0"/>
              <a:t>p.xOffset</a:t>
            </a:r>
            <a:r>
              <a:rPr lang="en-US" altLang="zh-CN" sz="1400" dirty="0" smtClean="0"/>
              <a:t>()</a:t>
            </a:r>
            <a:endParaRPr lang="en-US" altLang="zh-CN" sz="1400" dirty="0" smtClean="0"/>
          </a:p>
          <a:p>
            <a:pPr lvl="1">
              <a:lnSpc>
                <a:spcPct val="125000"/>
              </a:lnSpc>
              <a:buNone/>
            </a:pPr>
            <a:r>
              <a:rPr lang="en-US" altLang="zh-CN" sz="1400" dirty="0" smtClean="0"/>
              <a:t>         &lt;&lt;",y offset=" &lt;&lt;</a:t>
            </a:r>
            <a:r>
              <a:rPr lang="en-US" altLang="zh-CN" sz="1400" dirty="0" err="1" smtClean="0"/>
              <a:t>p.yOffset</a:t>
            </a:r>
            <a:r>
              <a:rPr lang="en-US" altLang="zh-CN" sz="1400" dirty="0" smtClean="0"/>
              <a:t>() 	&lt;&lt;</a:t>
            </a:r>
            <a:r>
              <a:rPr lang="en-US" altLang="zh-CN" sz="1400" dirty="0" err="1" smtClean="0"/>
              <a:t>endl</a:t>
            </a:r>
            <a:r>
              <a:rPr lang="en-US" altLang="zh-CN" sz="1400" dirty="0" smtClean="0"/>
              <a:t>;</a:t>
            </a:r>
            <a:endParaRPr lang="en-US" altLang="zh-CN" sz="1400" dirty="0" smtClean="0"/>
          </a:p>
          <a:p>
            <a:pPr lvl="1">
              <a:lnSpc>
                <a:spcPct val="125000"/>
              </a:lnSpc>
              <a:buNone/>
            </a:pPr>
            <a:r>
              <a:rPr lang="en-US" altLang="zh-CN" sz="1400" dirty="0" smtClean="0"/>
              <a:t>  }</a:t>
            </a:r>
            <a:endParaRPr lang="en-US" altLang="zh-CN" sz="1400" dirty="0" smtClean="0"/>
          </a:p>
          <a:p>
            <a:pPr lvl="1">
              <a:lnSpc>
                <a:spcPct val="125000"/>
              </a:lnSpc>
              <a:buNone/>
            </a:pPr>
            <a:r>
              <a:rPr lang="en-US" altLang="zh-CN" sz="1400" dirty="0" smtClean="0"/>
              <a:t>}</a:t>
            </a:r>
            <a:endParaRPr lang="en-US" altLang="zh-CN" sz="1400" dirty="0"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4572032" cy="785818"/>
          </a:xfrm>
        </p:spPr>
        <p:txBody>
          <a:bodyPr/>
          <a:lstStyle/>
          <a:p>
            <a:pPr eaLnBrk="1" hangingPunct="1">
              <a:lnSpc>
                <a:spcPct val="125000"/>
              </a:lnSpc>
            </a:pPr>
            <a:r>
              <a:rPr lang="zh-CN" altLang="en-US" sz="2000" dirty="0" smtClean="0"/>
              <a:t>类定义</a:t>
            </a:r>
            <a:r>
              <a:rPr lang="en-US" altLang="zh-CN" sz="2000" dirty="0" smtClean="0"/>
              <a:t>\</a:t>
            </a:r>
            <a:r>
              <a:rPr lang="zh-CN" altLang="en-US" sz="2000" dirty="0" smtClean="0"/>
              <a:t>类实现</a:t>
            </a:r>
            <a:r>
              <a:rPr lang="en-US" altLang="zh-CN" sz="2000" dirty="0" smtClean="0"/>
              <a:t>\</a:t>
            </a:r>
            <a:r>
              <a:rPr lang="zh-CN" altLang="en-US" sz="2000" dirty="0" smtClean="0"/>
              <a:t>类使用分开的例子</a:t>
            </a:r>
            <a:endParaRPr lang="en-US" altLang="zh-CN" sz="2000" dirty="0" smtClean="0"/>
          </a:p>
          <a:p>
            <a:pPr lvl="1">
              <a:lnSpc>
                <a:spcPct val="125000"/>
              </a:lnSpc>
            </a:pPr>
            <a:r>
              <a:rPr lang="zh-CN" altLang="en-US" sz="1800" dirty="0" smtClean="0"/>
              <a:t>把原程序拆成三个文件</a:t>
            </a: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5286380" y="0"/>
            <a:ext cx="4000528" cy="3162404"/>
          </a:xfrm>
          <a:prstGeom prst="rect">
            <a:avLst/>
          </a:prstGeom>
        </p:spPr>
        <p:txBody>
          <a:bodyPr wrap="square">
            <a:spAutoFit/>
          </a:bodyPr>
          <a:lstStyle/>
          <a:p>
            <a:pPr marL="0" lvl="1">
              <a:lnSpc>
                <a:spcPct val="125000"/>
              </a:lnSpc>
              <a:buNone/>
            </a:pPr>
            <a:r>
              <a:rPr lang="en-US" altLang="zh-CN" sz="1400" dirty="0" smtClean="0"/>
              <a:t>//</a:t>
            </a:r>
            <a:r>
              <a:rPr lang="zh-CN" altLang="en-US" sz="1400" dirty="0" smtClean="0"/>
              <a:t>类使用文件</a:t>
            </a:r>
            <a:r>
              <a:rPr lang="en-US" altLang="zh-CN" sz="1400" dirty="0" smtClean="0"/>
              <a:t>main.cpp</a:t>
            </a:r>
            <a:endParaRPr lang="en-US" altLang="zh-CN" sz="1400" dirty="0" smtClean="0"/>
          </a:p>
          <a:p>
            <a:pPr marL="0" lvl="1">
              <a:lnSpc>
                <a:spcPct val="125000"/>
              </a:lnSpc>
              <a:buNone/>
            </a:pPr>
            <a:r>
              <a:rPr lang="en-US" altLang="zh-CN" sz="1400" dirty="0" smtClean="0"/>
              <a:t>//</a:t>
            </a:r>
            <a:r>
              <a:rPr lang="zh-CN" altLang="en-US" sz="1400" dirty="0" smtClean="0"/>
              <a:t>通过</a:t>
            </a:r>
            <a:r>
              <a:rPr lang="en-US" altLang="zh-CN" sz="1400" dirty="0" smtClean="0"/>
              <a:t>include</a:t>
            </a:r>
            <a:r>
              <a:rPr lang="zh-CN" altLang="en-US" sz="1400" dirty="0" smtClean="0"/>
              <a:t>头文件，调用类定义代码</a:t>
            </a:r>
            <a:endParaRPr lang="en-US" altLang="zh-CN" sz="1400" dirty="0" smtClean="0"/>
          </a:p>
          <a:p>
            <a:r>
              <a:rPr lang="en-US" altLang="zh-CN" sz="1400" dirty="0" smtClean="0"/>
              <a:t>#include &lt;</a:t>
            </a:r>
            <a:r>
              <a:rPr lang="en-US" altLang="zh-CN" sz="1400" dirty="0" err="1" smtClean="0"/>
              <a:t>iostream</a:t>
            </a:r>
            <a:r>
              <a:rPr lang="en-US" altLang="zh-CN" sz="1400" dirty="0" smtClean="0"/>
              <a:t>&gt;</a:t>
            </a:r>
            <a:endParaRPr lang="en-US" altLang="zh-CN" sz="1400" dirty="0" smtClean="0"/>
          </a:p>
          <a:p>
            <a:r>
              <a:rPr lang="en-US" altLang="zh-CN" sz="1400" dirty="0" smtClean="0"/>
              <a:t>using namespace std;</a:t>
            </a:r>
            <a:endParaRPr lang="en-US" altLang="zh-CN" sz="1400" dirty="0" smtClean="0"/>
          </a:p>
          <a:p>
            <a:r>
              <a:rPr lang="en-US" altLang="zh-CN" sz="1400" dirty="0" smtClean="0"/>
              <a:t>#include "</a:t>
            </a:r>
            <a:r>
              <a:rPr lang="en-US" altLang="zh-CN" sz="1400" dirty="0" err="1" smtClean="0"/>
              <a:t>pointI.h</a:t>
            </a:r>
            <a:r>
              <a:rPr lang="en-US" altLang="zh-CN" sz="1400" dirty="0" smtClean="0"/>
              <a:t>“</a:t>
            </a:r>
            <a:endParaRPr lang="en-US" altLang="zh-CN" sz="1400" dirty="0" smtClean="0"/>
          </a:p>
          <a:p>
            <a:pPr lvl="1">
              <a:lnSpc>
                <a:spcPct val="125000"/>
              </a:lnSpc>
              <a:buNone/>
            </a:pPr>
            <a:r>
              <a:rPr lang="en-US" altLang="zh-CN" sz="1400" dirty="0" smtClean="0"/>
              <a:t>void main()</a:t>
            </a:r>
            <a:endParaRPr lang="en-US" altLang="zh-CN" sz="1400" dirty="0" smtClean="0"/>
          </a:p>
          <a:p>
            <a:pPr lvl="1">
              <a:lnSpc>
                <a:spcPct val="125000"/>
              </a:lnSpc>
              <a:buNone/>
            </a:pPr>
            <a:r>
              <a:rPr lang="en-US" altLang="zh-CN" sz="1400" dirty="0" smtClean="0"/>
              <a:t>{ Point p;</a:t>
            </a:r>
            <a:endParaRPr lang="en-US" altLang="zh-CN" sz="1400" dirty="0" smtClean="0"/>
          </a:p>
          <a:p>
            <a:pPr lvl="1">
              <a:lnSpc>
                <a:spcPct val="125000"/>
              </a:lnSpc>
              <a:buNone/>
            </a:pPr>
            <a:r>
              <a:rPr lang="en-US" altLang="zh-CN" sz="1400" dirty="0" smtClean="0"/>
              <a:t>  double </a:t>
            </a:r>
            <a:r>
              <a:rPr lang="en-US" altLang="zh-CN" sz="1400" dirty="0" err="1" smtClean="0"/>
              <a:t>x,y</a:t>
            </a:r>
            <a:r>
              <a:rPr lang="en-US" altLang="zh-CN" sz="1400" dirty="0" smtClean="0"/>
              <a:t>;</a:t>
            </a:r>
            <a:endParaRPr lang="en-US" altLang="zh-CN" sz="1400" dirty="0" smtClean="0"/>
          </a:p>
          <a:p>
            <a:pPr lvl="1">
              <a:lnSpc>
                <a:spcPct val="125000"/>
              </a:lnSpc>
              <a:buNone/>
            </a:pPr>
            <a:r>
              <a:rPr lang="en-US" altLang="zh-CN" sz="1400" dirty="0" smtClean="0"/>
              <a:t>  for(;;){      //</a:t>
            </a:r>
            <a:r>
              <a:rPr lang="zh-CN" altLang="en-US" sz="1400" dirty="0" smtClean="0"/>
              <a:t>重复输入直到</a:t>
            </a:r>
            <a:r>
              <a:rPr lang="en-US" altLang="zh-CN" sz="1400" dirty="0" smtClean="0"/>
              <a:t>x</a:t>
            </a:r>
            <a:r>
              <a:rPr lang="zh-CN" altLang="en-US" sz="1400" dirty="0" smtClean="0"/>
              <a:t>小于</a:t>
            </a:r>
            <a:r>
              <a:rPr lang="en-US" altLang="zh-CN" sz="1400" dirty="0" smtClean="0"/>
              <a:t>0</a:t>
            </a:r>
            <a:endParaRPr lang="en-US" altLang="zh-CN" sz="1400" dirty="0" smtClean="0"/>
          </a:p>
          <a:p>
            <a:pPr lvl="1">
              <a:lnSpc>
                <a:spcPct val="125000"/>
              </a:lnSpc>
              <a:buNone/>
            </a:pPr>
            <a:r>
              <a:rPr lang="en-US" altLang="zh-CN" sz="1400" dirty="0" smtClean="0"/>
              <a:t>    </a:t>
            </a:r>
            <a:r>
              <a:rPr lang="en-US" altLang="zh-CN" sz="1400" dirty="0" err="1" smtClean="0"/>
              <a:t>cout</a:t>
            </a:r>
            <a:r>
              <a:rPr lang="en-US" altLang="zh-CN" sz="1400" dirty="0" smtClean="0"/>
              <a:t> &lt;&lt;"Enter x and y:\n";</a:t>
            </a:r>
            <a:endParaRPr lang="en-US" altLang="zh-CN" sz="1400" dirty="0" smtClean="0"/>
          </a:p>
          <a:p>
            <a:pPr lvl="1">
              <a:lnSpc>
                <a:spcPct val="125000"/>
              </a:lnSpc>
              <a:buNone/>
            </a:pPr>
            <a:r>
              <a:rPr lang="en-US" altLang="zh-CN" sz="1400" dirty="0" smtClean="0"/>
              <a:t>    	…….. }	</a:t>
            </a:r>
            <a:endParaRPr lang="en-US" altLang="zh-CN" sz="1400" dirty="0" smtClean="0"/>
          </a:p>
          <a:p>
            <a:pPr lvl="1">
              <a:lnSpc>
                <a:spcPct val="125000"/>
              </a:lnSpc>
              <a:buNone/>
            </a:pPr>
            <a:r>
              <a:rPr lang="en-US" altLang="zh-CN" sz="1400" dirty="0" smtClean="0"/>
              <a:t>}</a:t>
            </a:r>
            <a:endParaRPr lang="en-US" altLang="zh-CN" sz="1400" dirty="0" smtClean="0"/>
          </a:p>
        </p:txBody>
      </p:sp>
      <p:sp>
        <p:nvSpPr>
          <p:cNvPr id="7" name="矩形 6"/>
          <p:cNvSpPr/>
          <p:nvPr/>
        </p:nvSpPr>
        <p:spPr>
          <a:xfrm>
            <a:off x="4643374" y="3143248"/>
            <a:ext cx="4500626" cy="3539430"/>
          </a:xfrm>
          <a:prstGeom prst="rect">
            <a:avLst/>
          </a:prstGeom>
        </p:spPr>
        <p:txBody>
          <a:bodyPr wrap="square">
            <a:spAutoFit/>
          </a:bodyPr>
          <a:lstStyle/>
          <a:p>
            <a:r>
              <a:rPr lang="en-US" altLang="zh-CN" sz="1400" dirty="0" smtClean="0"/>
              <a:t>//</a:t>
            </a:r>
            <a:r>
              <a:rPr lang="zh-CN" altLang="en-US" sz="1400" dirty="0" smtClean="0"/>
              <a:t>类实现文件 </a:t>
            </a:r>
            <a:r>
              <a:rPr lang="en-US" altLang="zh-CN" sz="1400" dirty="0" err="1" smtClean="0"/>
              <a:t>pointI.h</a:t>
            </a:r>
            <a:endParaRPr lang="en-US" altLang="zh-CN" sz="1400" dirty="0" smtClean="0"/>
          </a:p>
          <a:p>
            <a:r>
              <a:rPr lang="en-US" altLang="zh-CN" sz="1400" dirty="0" smtClean="0"/>
              <a:t>#include &lt;</a:t>
            </a:r>
            <a:r>
              <a:rPr lang="en-US" altLang="zh-CN" sz="1400" dirty="0" err="1" smtClean="0"/>
              <a:t>iostream</a:t>
            </a:r>
            <a:r>
              <a:rPr lang="en-US" altLang="zh-CN" sz="1400" dirty="0" smtClean="0"/>
              <a:t>&gt;</a:t>
            </a:r>
            <a:endParaRPr lang="en-US" altLang="zh-CN" sz="1400" dirty="0" smtClean="0"/>
          </a:p>
          <a:p>
            <a:r>
              <a:rPr lang="en-US" altLang="zh-CN" sz="1400" dirty="0" smtClean="0"/>
              <a:t>#include &lt;</a:t>
            </a:r>
            <a:r>
              <a:rPr lang="en-US" altLang="zh-CN" sz="1400" dirty="0" err="1" smtClean="0"/>
              <a:t>cmath</a:t>
            </a:r>
            <a:r>
              <a:rPr lang="en-US" altLang="zh-CN" sz="1400" dirty="0" smtClean="0"/>
              <a:t>&gt;</a:t>
            </a:r>
            <a:endParaRPr lang="en-US" altLang="zh-CN" sz="1400" dirty="0" smtClean="0"/>
          </a:p>
          <a:p>
            <a:r>
              <a:rPr lang="en-US" altLang="zh-CN" sz="1400" dirty="0" smtClean="0"/>
              <a:t>#include "</a:t>
            </a:r>
            <a:r>
              <a:rPr lang="en-US" altLang="zh-CN" sz="1400" dirty="0" err="1" smtClean="0"/>
              <a:t>point.h</a:t>
            </a:r>
            <a:r>
              <a:rPr lang="en-US" altLang="zh-CN" sz="1400" dirty="0" smtClean="0"/>
              <a:t>"</a:t>
            </a:r>
            <a:endParaRPr lang="en-US" altLang="zh-CN" sz="1400" dirty="0" smtClean="0"/>
          </a:p>
          <a:p>
            <a:r>
              <a:rPr lang="en-US" altLang="zh-CN" sz="1400" dirty="0" smtClean="0"/>
              <a:t>using namespace std;</a:t>
            </a:r>
            <a:endParaRPr lang="en-US" altLang="zh-CN" sz="1400" dirty="0" smtClean="0"/>
          </a:p>
          <a:p>
            <a:endParaRPr lang="en-US" altLang="zh-CN" sz="1400" dirty="0" smtClean="0"/>
          </a:p>
          <a:p>
            <a:r>
              <a:rPr lang="en-US" altLang="zh-CN" sz="1400" dirty="0" smtClean="0"/>
              <a:t>void Point::Set(double </a:t>
            </a:r>
            <a:r>
              <a:rPr lang="en-US" altLang="zh-CN" sz="1400" dirty="0" err="1" smtClean="0"/>
              <a:t>ix,double</a:t>
            </a:r>
            <a:r>
              <a:rPr lang="en-US" altLang="zh-CN" sz="1400" dirty="0" smtClean="0"/>
              <a:t> </a:t>
            </a:r>
            <a:r>
              <a:rPr lang="en-US" altLang="zh-CN" sz="1400" dirty="0" err="1" smtClean="0"/>
              <a:t>iy</a:t>
            </a:r>
            <a:r>
              <a:rPr lang="en-US" altLang="zh-CN" sz="1400" dirty="0" smtClean="0"/>
              <a:t>)    //</a:t>
            </a:r>
            <a:r>
              <a:rPr lang="zh-CN" altLang="en-US" sz="1400" dirty="0" smtClean="0"/>
              <a:t>设置坐标</a:t>
            </a:r>
            <a:endParaRPr lang="zh-CN" altLang="en-US" sz="1400" dirty="0" smtClean="0"/>
          </a:p>
          <a:p>
            <a:r>
              <a:rPr lang="zh-CN" altLang="en-US" sz="1400" dirty="0" smtClean="0"/>
              <a:t>  </a:t>
            </a:r>
            <a:r>
              <a:rPr lang="en-US" altLang="zh-CN" sz="1400" dirty="0" smtClean="0"/>
              <a:t>{    x=ix;  y=</a:t>
            </a:r>
            <a:r>
              <a:rPr lang="en-US" altLang="zh-CN" sz="1400" dirty="0" err="1" smtClean="0"/>
              <a:t>iy</a:t>
            </a:r>
            <a:r>
              <a:rPr lang="en-US" altLang="zh-CN" sz="1400" dirty="0" smtClean="0"/>
              <a:t>;  }</a:t>
            </a:r>
            <a:endParaRPr lang="en-US" altLang="zh-CN" sz="1400" dirty="0" smtClean="0"/>
          </a:p>
          <a:p>
            <a:r>
              <a:rPr lang="en-US" altLang="zh-CN" sz="1400" dirty="0" smtClean="0"/>
              <a:t>double Point::</a:t>
            </a:r>
            <a:r>
              <a:rPr lang="en-US" altLang="zh-CN" sz="1400" dirty="0" err="1" smtClean="0"/>
              <a:t>xOffset</a:t>
            </a:r>
            <a:r>
              <a:rPr lang="en-US" altLang="zh-CN" sz="1400" dirty="0" smtClean="0"/>
              <a:t>()       //</a:t>
            </a:r>
            <a:r>
              <a:rPr lang="zh-CN" altLang="en-US" sz="1400" dirty="0" smtClean="0"/>
              <a:t>取</a:t>
            </a:r>
            <a:r>
              <a:rPr lang="en-US" altLang="zh-CN" sz="1400" dirty="0" smtClean="0"/>
              <a:t>x</a:t>
            </a:r>
            <a:r>
              <a:rPr lang="zh-CN" altLang="en-US" sz="1400" dirty="0" smtClean="0"/>
              <a:t>轴坐标分量</a:t>
            </a:r>
            <a:endParaRPr lang="zh-CN" altLang="en-US" sz="1400" dirty="0" smtClean="0"/>
          </a:p>
          <a:p>
            <a:r>
              <a:rPr lang="zh-CN" altLang="en-US" sz="1400" dirty="0" smtClean="0"/>
              <a:t>  </a:t>
            </a:r>
            <a:r>
              <a:rPr lang="en-US" altLang="zh-CN" sz="1400" dirty="0" smtClean="0"/>
              <a:t>{    return x;  }</a:t>
            </a:r>
            <a:endParaRPr lang="en-US" altLang="zh-CN" sz="1400" dirty="0" smtClean="0"/>
          </a:p>
          <a:p>
            <a:r>
              <a:rPr lang="en-US" altLang="zh-CN" sz="1400" dirty="0" smtClean="0"/>
              <a:t>double Point::</a:t>
            </a:r>
            <a:r>
              <a:rPr lang="en-US" altLang="zh-CN" sz="1400" dirty="0" err="1" smtClean="0"/>
              <a:t>yOffset</a:t>
            </a:r>
            <a:r>
              <a:rPr lang="en-US" altLang="zh-CN" sz="1400" dirty="0" smtClean="0"/>
              <a:t>()      //</a:t>
            </a:r>
            <a:r>
              <a:rPr lang="zh-CN" altLang="en-US" sz="1400" dirty="0" smtClean="0"/>
              <a:t>取</a:t>
            </a:r>
            <a:r>
              <a:rPr lang="en-US" altLang="zh-CN" sz="1400" dirty="0" smtClean="0"/>
              <a:t>y</a:t>
            </a:r>
            <a:r>
              <a:rPr lang="zh-CN" altLang="en-US" sz="1400" dirty="0" smtClean="0"/>
              <a:t>轴坐标分量</a:t>
            </a:r>
            <a:endParaRPr lang="zh-CN" altLang="en-US" sz="1400" dirty="0" smtClean="0"/>
          </a:p>
          <a:p>
            <a:r>
              <a:rPr lang="zh-CN" altLang="en-US" sz="1400" dirty="0" smtClean="0"/>
              <a:t>  </a:t>
            </a:r>
            <a:r>
              <a:rPr lang="en-US" altLang="zh-CN" sz="1400" dirty="0" smtClean="0"/>
              <a:t>{    return y;  }</a:t>
            </a:r>
            <a:endParaRPr lang="en-US" altLang="zh-CN" sz="1400" dirty="0" smtClean="0"/>
          </a:p>
          <a:p>
            <a:r>
              <a:rPr lang="en-US" altLang="zh-CN" sz="1400" dirty="0" smtClean="0"/>
              <a:t>double Point::angle()        //</a:t>
            </a:r>
            <a:r>
              <a:rPr lang="zh-CN" altLang="en-US" sz="1400" dirty="0" smtClean="0"/>
              <a:t>取点的极坐标</a:t>
            </a:r>
            <a:endParaRPr lang="zh-CN" altLang="en-US" sz="1400" dirty="0" smtClean="0"/>
          </a:p>
          <a:p>
            <a:r>
              <a:rPr lang="zh-CN" altLang="en-US" sz="1400" dirty="0" smtClean="0"/>
              <a:t>  </a:t>
            </a:r>
            <a:r>
              <a:rPr lang="en-US" altLang="zh-CN" sz="1400" dirty="0" smtClean="0"/>
              <a:t>{    return (180/3.14159)*atan2(</a:t>
            </a:r>
            <a:r>
              <a:rPr lang="en-US" altLang="zh-CN" sz="1400" dirty="0" err="1" smtClean="0"/>
              <a:t>y,x</a:t>
            </a:r>
            <a:r>
              <a:rPr lang="en-US" altLang="zh-CN" sz="1400" dirty="0" smtClean="0"/>
              <a:t>);  }</a:t>
            </a:r>
            <a:endParaRPr lang="en-US" altLang="zh-CN" sz="1400" dirty="0" smtClean="0"/>
          </a:p>
          <a:p>
            <a:r>
              <a:rPr lang="en-US" altLang="zh-CN" sz="1400" dirty="0" smtClean="0"/>
              <a:t>double Point::radius()        //</a:t>
            </a:r>
            <a:r>
              <a:rPr lang="zh-CN" altLang="en-US" sz="1400" dirty="0" smtClean="0"/>
              <a:t>取点的极坐标半径</a:t>
            </a:r>
            <a:endParaRPr lang="zh-CN" altLang="en-US" sz="1400" dirty="0" smtClean="0"/>
          </a:p>
          <a:p>
            <a:r>
              <a:rPr lang="zh-CN" altLang="en-US" sz="1400" dirty="0" smtClean="0"/>
              <a:t>  </a:t>
            </a:r>
            <a:r>
              <a:rPr lang="en-US" altLang="zh-CN" sz="1400" dirty="0" smtClean="0"/>
              <a:t>{    return </a:t>
            </a:r>
            <a:r>
              <a:rPr lang="en-US" altLang="zh-CN" sz="1400" dirty="0" err="1" smtClean="0"/>
              <a:t>sqrt</a:t>
            </a:r>
            <a:r>
              <a:rPr lang="en-US" altLang="zh-CN" sz="1400" dirty="0" smtClean="0"/>
              <a:t>(x*</a:t>
            </a:r>
            <a:r>
              <a:rPr lang="en-US" altLang="zh-CN" sz="1400" dirty="0" err="1" smtClean="0"/>
              <a:t>x+y</a:t>
            </a:r>
            <a:r>
              <a:rPr lang="en-US" altLang="zh-CN" sz="1400" dirty="0" smtClean="0"/>
              <a:t>*y);  }</a:t>
            </a:r>
            <a:endParaRPr lang="en-US" altLang="zh-CN" sz="1400" dirty="0" smtClean="0"/>
          </a:p>
        </p:txBody>
      </p:sp>
      <p:sp>
        <p:nvSpPr>
          <p:cNvPr id="8" name="矩形 7"/>
          <p:cNvSpPr/>
          <p:nvPr/>
        </p:nvSpPr>
        <p:spPr>
          <a:xfrm>
            <a:off x="142844" y="1928802"/>
            <a:ext cx="4714908" cy="2677656"/>
          </a:xfrm>
          <a:prstGeom prst="rect">
            <a:avLst/>
          </a:prstGeom>
        </p:spPr>
        <p:txBody>
          <a:bodyPr wrap="square">
            <a:spAutoFit/>
          </a:bodyPr>
          <a:lstStyle/>
          <a:p>
            <a:pPr marL="0" lvl="1">
              <a:buNone/>
            </a:pPr>
            <a:r>
              <a:rPr lang="en-US" altLang="zh-CN" sz="1400" dirty="0" smtClean="0"/>
              <a:t>//</a:t>
            </a:r>
            <a:r>
              <a:rPr lang="zh-CN" altLang="en-US" sz="1400" dirty="0" smtClean="0"/>
              <a:t>类头定义文件</a:t>
            </a:r>
            <a:r>
              <a:rPr lang="en-US" altLang="zh-CN" sz="1400" dirty="0" err="1" smtClean="0"/>
              <a:t>point.h</a:t>
            </a:r>
            <a:r>
              <a:rPr lang="zh-CN" altLang="en-US" sz="1400" dirty="0" smtClean="0"/>
              <a:t>，包含以下类定义代码</a:t>
            </a:r>
            <a:endParaRPr lang="en-US" altLang="zh-CN" sz="1400" dirty="0" smtClean="0"/>
          </a:p>
          <a:p>
            <a:pPr marL="0" lvl="1">
              <a:buNone/>
            </a:pPr>
            <a:r>
              <a:rPr lang="en-US" altLang="zh-CN" sz="1400" dirty="0" smtClean="0"/>
              <a:t>class Point{</a:t>
            </a:r>
            <a:endParaRPr lang="en-US" altLang="zh-CN" sz="1400" dirty="0" smtClean="0"/>
          </a:p>
          <a:p>
            <a:pPr marL="0" lvl="1">
              <a:buNone/>
            </a:pPr>
            <a:r>
              <a:rPr lang="en-US" altLang="zh-CN" sz="1400" dirty="0" smtClean="0"/>
              <a:t>public:</a:t>
            </a:r>
            <a:endParaRPr lang="en-US" altLang="zh-CN" sz="1400" dirty="0" smtClean="0"/>
          </a:p>
          <a:p>
            <a:pPr marL="0" lvl="1">
              <a:buNone/>
            </a:pPr>
            <a:r>
              <a:rPr lang="en-US" altLang="zh-CN" sz="1400" dirty="0" smtClean="0"/>
              <a:t> 	void Set(double </a:t>
            </a:r>
            <a:r>
              <a:rPr lang="en-US" altLang="zh-CN" sz="1400" dirty="0" err="1" smtClean="0"/>
              <a:t>ix,double</a:t>
            </a:r>
            <a:r>
              <a:rPr lang="en-US" altLang="zh-CN" sz="1400" dirty="0" smtClean="0"/>
              <a:t> </a:t>
            </a:r>
            <a:r>
              <a:rPr lang="en-US" altLang="zh-CN" sz="1400" dirty="0" err="1" smtClean="0"/>
              <a:t>iy</a:t>
            </a:r>
            <a:r>
              <a:rPr lang="en-US" altLang="zh-CN" sz="1400" dirty="0" smtClean="0"/>
              <a:t>);   //</a:t>
            </a:r>
            <a:r>
              <a:rPr lang="zh-CN" altLang="en-US" sz="1400" dirty="0" smtClean="0"/>
              <a:t>设置坐标</a:t>
            </a:r>
            <a:endParaRPr lang="zh-CN" altLang="en-US" sz="1400" dirty="0" smtClean="0"/>
          </a:p>
          <a:p>
            <a:pPr marL="0" lvl="1">
              <a:buNone/>
            </a:pPr>
            <a:r>
              <a:rPr lang="en-US" altLang="zh-CN" sz="1400" dirty="0" smtClean="0"/>
              <a:t> 	double </a:t>
            </a:r>
            <a:r>
              <a:rPr lang="en-US" altLang="zh-CN" sz="1400" dirty="0" err="1" smtClean="0"/>
              <a:t>xOffset</a:t>
            </a:r>
            <a:r>
              <a:rPr lang="en-US" altLang="zh-CN" sz="1400" dirty="0" smtClean="0"/>
              <a:t>();             //</a:t>
            </a:r>
            <a:r>
              <a:rPr lang="zh-CN" altLang="en-US" sz="1400" dirty="0" smtClean="0"/>
              <a:t>取</a:t>
            </a:r>
            <a:r>
              <a:rPr lang="en-US" altLang="zh-CN" sz="1400" dirty="0" smtClean="0"/>
              <a:t>x</a:t>
            </a:r>
            <a:r>
              <a:rPr lang="zh-CN" altLang="en-US" sz="1400" dirty="0" smtClean="0"/>
              <a:t>轴坐标分量</a:t>
            </a:r>
            <a:endParaRPr lang="zh-CN" altLang="en-US" sz="1400" dirty="0" smtClean="0"/>
          </a:p>
          <a:p>
            <a:pPr marL="0" lvl="1">
              <a:buNone/>
            </a:pPr>
            <a:r>
              <a:rPr lang="en-US" altLang="zh-CN" sz="1400" dirty="0" smtClean="0"/>
              <a:t>	double </a:t>
            </a:r>
            <a:r>
              <a:rPr lang="en-US" altLang="zh-CN" sz="1400" dirty="0" err="1" smtClean="0"/>
              <a:t>yOffset</a:t>
            </a:r>
            <a:r>
              <a:rPr lang="en-US" altLang="zh-CN" sz="1400" dirty="0" smtClean="0"/>
              <a:t>();      //</a:t>
            </a:r>
            <a:r>
              <a:rPr lang="zh-CN" altLang="en-US" sz="1400" dirty="0" smtClean="0"/>
              <a:t>取</a:t>
            </a:r>
            <a:r>
              <a:rPr lang="en-US" altLang="zh-CN" sz="1400" dirty="0" smtClean="0"/>
              <a:t>y</a:t>
            </a:r>
            <a:r>
              <a:rPr lang="zh-CN" altLang="en-US" sz="1400" dirty="0" smtClean="0"/>
              <a:t>轴坐标分量</a:t>
            </a:r>
            <a:endParaRPr lang="zh-CN" altLang="en-US" sz="1400" dirty="0" smtClean="0"/>
          </a:p>
          <a:p>
            <a:pPr marL="0" lvl="1">
              <a:buNone/>
            </a:pPr>
            <a:r>
              <a:rPr lang="en-US" altLang="zh-CN" sz="1400" dirty="0" smtClean="0"/>
              <a:t>	double angle(); </a:t>
            </a:r>
            <a:endParaRPr lang="en-US" altLang="zh-CN" sz="1400" dirty="0" smtClean="0"/>
          </a:p>
          <a:p>
            <a:pPr marL="0" lvl="1">
              <a:buNone/>
            </a:pPr>
            <a:r>
              <a:rPr lang="en-US" altLang="zh-CN" sz="1400" dirty="0" smtClean="0"/>
              <a:t>	double radius();</a:t>
            </a:r>
            <a:endParaRPr lang="zh-CN" altLang="en-US" sz="1400" dirty="0" smtClean="0"/>
          </a:p>
          <a:p>
            <a:pPr marL="0" lvl="1">
              <a:buNone/>
            </a:pPr>
            <a:r>
              <a:rPr lang="en-US" altLang="zh-CN" sz="1400" dirty="0" smtClean="0"/>
              <a:t>protected:</a:t>
            </a:r>
            <a:endParaRPr lang="en-US" altLang="zh-CN" sz="1400" dirty="0" smtClean="0"/>
          </a:p>
          <a:p>
            <a:pPr marL="0" lvl="1">
              <a:buNone/>
            </a:pPr>
            <a:r>
              <a:rPr lang="en-US" altLang="zh-CN" sz="1400" dirty="0" smtClean="0"/>
              <a:t>	double x;      //x</a:t>
            </a:r>
            <a:r>
              <a:rPr lang="zh-CN" altLang="en-US" sz="1400" dirty="0" smtClean="0"/>
              <a:t>轴分量</a:t>
            </a:r>
            <a:endParaRPr lang="zh-CN" altLang="en-US" sz="1400" dirty="0" smtClean="0"/>
          </a:p>
          <a:p>
            <a:pPr marL="0" lvl="1">
              <a:buNone/>
            </a:pPr>
            <a:r>
              <a:rPr lang="zh-CN" altLang="en-US" sz="1400" dirty="0" smtClean="0"/>
              <a:t> </a:t>
            </a:r>
            <a:r>
              <a:rPr lang="en-US" altLang="zh-CN" sz="1400" dirty="0" smtClean="0"/>
              <a:t>	double y;      //y</a:t>
            </a:r>
            <a:r>
              <a:rPr lang="zh-CN" altLang="en-US" sz="1400" dirty="0" smtClean="0"/>
              <a:t>轴分量</a:t>
            </a:r>
            <a:endParaRPr lang="zh-CN" altLang="en-US" sz="1400" dirty="0" smtClean="0"/>
          </a:p>
          <a:p>
            <a:pPr marL="0" lvl="1">
              <a:buNone/>
            </a:pPr>
            <a:r>
              <a:rPr lang="en-US" altLang="zh-CN" sz="1400" dirty="0" smtClean="0"/>
              <a:t>};</a:t>
            </a:r>
            <a:endParaRPr lang="en-US" altLang="zh-CN" dirty="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类定义与使用分开的作用</a:t>
            </a:r>
            <a:endParaRPr lang="en-US" altLang="zh-CN" sz="2000" dirty="0" smtClean="0"/>
          </a:p>
          <a:p>
            <a:pPr lvl="1">
              <a:lnSpc>
                <a:spcPct val="125000"/>
              </a:lnSpc>
            </a:pPr>
            <a:r>
              <a:rPr lang="zh-CN" altLang="en-US" sz="1800" dirty="0" smtClean="0">
                <a:solidFill>
                  <a:srgbClr val="FF0000"/>
                </a:solidFill>
              </a:rPr>
              <a:t>原程序用</a:t>
            </a:r>
            <a:r>
              <a:rPr lang="en-US" altLang="zh-CN" sz="1800" dirty="0" err="1" smtClean="0">
                <a:solidFill>
                  <a:srgbClr val="FF0000"/>
                </a:solidFill>
              </a:rPr>
              <a:t>xy</a:t>
            </a:r>
            <a:r>
              <a:rPr lang="zh-CN" altLang="en-US" sz="1800" dirty="0" smtClean="0">
                <a:solidFill>
                  <a:srgbClr val="FF0000"/>
                </a:solidFill>
              </a:rPr>
              <a:t>坐标作为参数，新程序用极坐标为参数</a:t>
            </a:r>
            <a:endParaRPr lang="en-US" altLang="zh-CN" sz="1800" dirty="0" smtClean="0">
              <a:solidFill>
                <a:srgbClr val="FF0000"/>
              </a:solidFill>
            </a:endParaRPr>
          </a:p>
          <a:p>
            <a:pPr lvl="1">
              <a:lnSpc>
                <a:spcPct val="125000"/>
              </a:lnSpc>
            </a:pPr>
            <a:r>
              <a:rPr lang="zh-CN" altLang="en-US" sz="1800" dirty="0" smtClean="0"/>
              <a:t>只需要修改类定义文件，类使用文件无需修改</a:t>
            </a:r>
            <a:endParaRPr lang="en-US" altLang="zh-CN" sz="1800" dirty="0" smtClean="0"/>
          </a:p>
          <a:p>
            <a:pPr lvl="1">
              <a:buNone/>
            </a:pPr>
            <a:r>
              <a:rPr lang="en-US" altLang="zh-CN" sz="1400" dirty="0" smtClean="0"/>
              <a:t>class Point{</a:t>
            </a:r>
            <a:endParaRPr lang="en-US" altLang="zh-CN" sz="1400" dirty="0" smtClean="0"/>
          </a:p>
          <a:p>
            <a:pPr lvl="1">
              <a:buNone/>
            </a:pPr>
            <a:r>
              <a:rPr lang="en-US" altLang="zh-CN" sz="1400" dirty="0" smtClean="0"/>
              <a:t>public:</a:t>
            </a:r>
            <a:endParaRPr lang="en-US" altLang="zh-CN" sz="1400" dirty="0" smtClean="0"/>
          </a:p>
          <a:p>
            <a:pPr lvl="1" algn="just">
              <a:buNone/>
            </a:pPr>
            <a:r>
              <a:rPr lang="en-US" altLang="zh-CN" sz="1400" dirty="0" smtClean="0"/>
              <a:t>  </a:t>
            </a:r>
            <a:r>
              <a:rPr lang="en-US" altLang="zh-CN" sz="1400" b="1" dirty="0" smtClean="0">
                <a:solidFill>
                  <a:srgbClr val="FF0000"/>
                </a:solidFill>
              </a:rPr>
              <a:t>void Set(double </a:t>
            </a:r>
            <a:r>
              <a:rPr lang="en-US" altLang="zh-CN" sz="1400" b="1" dirty="0" err="1" smtClean="0">
                <a:solidFill>
                  <a:srgbClr val="FF0000"/>
                </a:solidFill>
              </a:rPr>
              <a:t>ix,double</a:t>
            </a:r>
            <a:r>
              <a:rPr lang="en-US" altLang="zh-CN" sz="1400" b="1" dirty="0" smtClean="0">
                <a:solidFill>
                  <a:srgbClr val="FF0000"/>
                </a:solidFill>
              </a:rPr>
              <a:t> </a:t>
            </a:r>
            <a:r>
              <a:rPr lang="en-US" altLang="zh-CN" sz="1400" b="1" dirty="0" err="1" smtClean="0">
                <a:solidFill>
                  <a:srgbClr val="FF0000"/>
                </a:solidFill>
              </a:rPr>
              <a:t>iy</a:t>
            </a:r>
            <a:r>
              <a:rPr lang="en-US" altLang="zh-CN" sz="1400" b="1" dirty="0" smtClean="0">
                <a:solidFill>
                  <a:srgbClr val="FF0000"/>
                </a:solidFill>
              </a:rPr>
              <a:t>)    //</a:t>
            </a:r>
            <a:r>
              <a:rPr lang="zh-CN" altLang="en-US" sz="1400" b="1" dirty="0" smtClean="0">
                <a:solidFill>
                  <a:srgbClr val="FF0000"/>
                </a:solidFill>
              </a:rPr>
              <a:t>接收</a:t>
            </a:r>
            <a:r>
              <a:rPr lang="en-US" altLang="zh-CN" sz="1400" b="1" dirty="0" err="1" smtClean="0">
                <a:solidFill>
                  <a:srgbClr val="FF0000"/>
                </a:solidFill>
              </a:rPr>
              <a:t>xy</a:t>
            </a:r>
            <a:r>
              <a:rPr lang="zh-CN" altLang="en-US" sz="1400" b="1" dirty="0" smtClean="0">
                <a:solidFill>
                  <a:srgbClr val="FF0000"/>
                </a:solidFill>
              </a:rPr>
              <a:t>坐标后，转化求极坐标</a:t>
            </a:r>
            <a:endParaRPr lang="zh-CN" altLang="en-US" sz="1400" b="1" dirty="0" smtClean="0">
              <a:solidFill>
                <a:srgbClr val="FF0000"/>
              </a:solidFill>
            </a:endParaRPr>
          </a:p>
          <a:p>
            <a:pPr lvl="1">
              <a:buNone/>
            </a:pPr>
            <a:r>
              <a:rPr lang="zh-CN" altLang="en-US" sz="1400" dirty="0" smtClean="0"/>
              <a:t>  </a:t>
            </a:r>
            <a:r>
              <a:rPr lang="en-US" altLang="zh-CN" sz="1400" dirty="0" smtClean="0"/>
              <a:t>{    a=atan2(</a:t>
            </a:r>
            <a:r>
              <a:rPr lang="en-US" altLang="zh-CN" sz="1400" dirty="0" err="1" smtClean="0"/>
              <a:t>iy</a:t>
            </a:r>
            <a:r>
              <a:rPr lang="en-US" altLang="zh-CN" sz="1400" dirty="0" smtClean="0"/>
              <a:t>, ix);</a:t>
            </a:r>
            <a:endParaRPr lang="en-US" altLang="zh-CN" sz="1400" dirty="0" smtClean="0"/>
          </a:p>
          <a:p>
            <a:pPr lvl="1">
              <a:buNone/>
            </a:pPr>
            <a:r>
              <a:rPr lang="en-US" altLang="zh-CN" sz="1400" dirty="0" smtClean="0"/>
              <a:t>       r=</a:t>
            </a:r>
            <a:r>
              <a:rPr lang="en-US" altLang="zh-CN" sz="1400" dirty="0" err="1" smtClean="0"/>
              <a:t>sqrt</a:t>
            </a:r>
            <a:r>
              <a:rPr lang="en-US" altLang="zh-CN" sz="1400" dirty="0" smtClean="0"/>
              <a:t>(ix*</a:t>
            </a:r>
            <a:r>
              <a:rPr lang="en-US" altLang="zh-CN" sz="1400" dirty="0" err="1" smtClean="0"/>
              <a:t>ix+iy</a:t>
            </a:r>
            <a:r>
              <a:rPr lang="en-US" altLang="zh-CN" sz="1400" dirty="0" smtClean="0"/>
              <a:t>*</a:t>
            </a:r>
            <a:r>
              <a:rPr lang="en-US" altLang="zh-CN" sz="1400" dirty="0" err="1" smtClean="0"/>
              <a:t>iy</a:t>
            </a:r>
            <a:r>
              <a:rPr lang="en-US" altLang="zh-CN" sz="1400" dirty="0" smtClean="0"/>
              <a:t>);  }</a:t>
            </a:r>
            <a:endParaRPr lang="en-US" altLang="zh-CN" sz="1400" dirty="0" smtClean="0"/>
          </a:p>
          <a:p>
            <a:pPr lvl="1">
              <a:buNone/>
            </a:pPr>
            <a:r>
              <a:rPr lang="en-US" altLang="zh-CN" sz="1400" dirty="0" smtClean="0"/>
              <a:t>  </a:t>
            </a:r>
            <a:r>
              <a:rPr lang="en-US" altLang="zh-CN" sz="1400" b="1" dirty="0" smtClean="0">
                <a:solidFill>
                  <a:srgbClr val="FF0000"/>
                </a:solidFill>
              </a:rPr>
              <a:t>double </a:t>
            </a:r>
            <a:r>
              <a:rPr lang="en-US" altLang="zh-CN" sz="1400" b="1" dirty="0" err="1" smtClean="0">
                <a:solidFill>
                  <a:srgbClr val="FF0000"/>
                </a:solidFill>
              </a:rPr>
              <a:t>xOffset</a:t>
            </a:r>
            <a:r>
              <a:rPr lang="en-US" altLang="zh-CN" sz="1400" b="1" dirty="0" smtClean="0">
                <a:solidFill>
                  <a:srgbClr val="FF0000"/>
                </a:solidFill>
              </a:rPr>
              <a:t>()             //</a:t>
            </a:r>
            <a:r>
              <a:rPr lang="zh-CN" altLang="en-US" sz="1400" b="1" dirty="0" smtClean="0">
                <a:solidFill>
                  <a:srgbClr val="FF0000"/>
                </a:solidFill>
              </a:rPr>
              <a:t>接口不变</a:t>
            </a:r>
            <a:endParaRPr lang="zh-CN" altLang="en-US" sz="1400" b="1" dirty="0" smtClean="0">
              <a:solidFill>
                <a:srgbClr val="FF0000"/>
              </a:solidFill>
            </a:endParaRPr>
          </a:p>
          <a:p>
            <a:pPr lvl="1">
              <a:buNone/>
            </a:pPr>
            <a:r>
              <a:rPr lang="zh-CN" altLang="en-US" sz="1400" dirty="0" smtClean="0"/>
              <a:t>  </a:t>
            </a:r>
            <a:r>
              <a:rPr lang="en-US" altLang="zh-CN" sz="1400" dirty="0" smtClean="0"/>
              <a:t>{    return r*</a:t>
            </a:r>
            <a:r>
              <a:rPr lang="en-US" altLang="zh-CN" sz="1400" dirty="0" err="1" smtClean="0"/>
              <a:t>cos</a:t>
            </a:r>
            <a:r>
              <a:rPr lang="en-US" altLang="zh-CN" sz="1400" dirty="0" smtClean="0"/>
              <a:t>(a);  }</a:t>
            </a:r>
            <a:endParaRPr lang="en-US" altLang="zh-CN" sz="1400" dirty="0" smtClean="0"/>
          </a:p>
          <a:p>
            <a:pPr lvl="1">
              <a:buNone/>
            </a:pPr>
            <a:r>
              <a:rPr lang="en-US" altLang="zh-CN" sz="1400" dirty="0" smtClean="0"/>
              <a:t>  </a:t>
            </a:r>
            <a:r>
              <a:rPr lang="en-US" altLang="zh-CN" sz="1400" b="1" dirty="0" smtClean="0">
                <a:solidFill>
                  <a:srgbClr val="FF0000"/>
                </a:solidFill>
              </a:rPr>
              <a:t>double </a:t>
            </a:r>
            <a:r>
              <a:rPr lang="en-US" altLang="zh-CN" sz="1400" b="1" dirty="0" err="1" smtClean="0">
                <a:solidFill>
                  <a:srgbClr val="FF0000"/>
                </a:solidFill>
              </a:rPr>
              <a:t>yOffset</a:t>
            </a:r>
            <a:r>
              <a:rPr lang="en-US" altLang="zh-CN" sz="1400" b="1" dirty="0" smtClean="0">
                <a:solidFill>
                  <a:srgbClr val="FF0000"/>
                </a:solidFill>
              </a:rPr>
              <a:t>()      //</a:t>
            </a:r>
            <a:r>
              <a:rPr lang="zh-CN" altLang="en-US" sz="1400" b="1" dirty="0" smtClean="0">
                <a:solidFill>
                  <a:srgbClr val="FF0000"/>
                </a:solidFill>
              </a:rPr>
              <a:t>接口不变</a:t>
            </a:r>
            <a:endParaRPr lang="zh-CN" altLang="en-US" sz="1400" b="1" dirty="0" smtClean="0">
              <a:solidFill>
                <a:srgbClr val="FF0000"/>
              </a:solidFill>
            </a:endParaRPr>
          </a:p>
          <a:p>
            <a:pPr lvl="1">
              <a:buNone/>
            </a:pPr>
            <a:r>
              <a:rPr lang="zh-CN" altLang="en-US" sz="1400" dirty="0" smtClean="0"/>
              <a:t>  </a:t>
            </a:r>
            <a:r>
              <a:rPr lang="en-US" altLang="zh-CN" sz="1400" dirty="0" smtClean="0"/>
              <a:t>{    return r*sin(a);  }</a:t>
            </a:r>
            <a:endParaRPr lang="en-US" altLang="zh-CN" sz="1400" dirty="0" smtClean="0"/>
          </a:p>
          <a:p>
            <a:pPr lvl="1">
              <a:buNone/>
            </a:pPr>
            <a:r>
              <a:rPr lang="en-US" altLang="zh-CN" sz="1400" dirty="0" smtClean="0"/>
              <a:t>  </a:t>
            </a:r>
            <a:r>
              <a:rPr lang="en-US" altLang="zh-CN" sz="1400" b="1" dirty="0" smtClean="0">
                <a:solidFill>
                  <a:srgbClr val="FF0000"/>
                </a:solidFill>
              </a:rPr>
              <a:t>double angle()        //</a:t>
            </a:r>
            <a:r>
              <a:rPr lang="zh-CN" altLang="en-US" sz="1400" b="1" dirty="0" smtClean="0">
                <a:solidFill>
                  <a:srgbClr val="FF0000"/>
                </a:solidFill>
              </a:rPr>
              <a:t>接口不变</a:t>
            </a:r>
            <a:endParaRPr lang="zh-CN" altLang="en-US" sz="1400" b="1" dirty="0" smtClean="0">
              <a:solidFill>
                <a:srgbClr val="FF0000"/>
              </a:solidFill>
            </a:endParaRPr>
          </a:p>
          <a:p>
            <a:pPr lvl="1">
              <a:buNone/>
            </a:pPr>
            <a:r>
              <a:rPr lang="zh-CN" altLang="en-US" sz="1400" dirty="0" smtClean="0"/>
              <a:t>  </a:t>
            </a:r>
            <a:r>
              <a:rPr lang="en-US" altLang="zh-CN" sz="1400" dirty="0" smtClean="0"/>
              <a:t>{    return (180/3.14159)*a;  }</a:t>
            </a:r>
            <a:endParaRPr lang="en-US" altLang="zh-CN" sz="1400" dirty="0" smtClean="0"/>
          </a:p>
          <a:p>
            <a:pPr lvl="1">
              <a:buNone/>
            </a:pPr>
            <a:r>
              <a:rPr lang="en-US" altLang="zh-CN" sz="1400" dirty="0" smtClean="0"/>
              <a:t>  </a:t>
            </a:r>
            <a:r>
              <a:rPr lang="en-US" altLang="zh-CN" sz="1400" b="1" dirty="0" smtClean="0">
                <a:solidFill>
                  <a:srgbClr val="FF0000"/>
                </a:solidFill>
              </a:rPr>
              <a:t>double radius()        //</a:t>
            </a:r>
            <a:r>
              <a:rPr lang="zh-CN" altLang="en-US" sz="1400" b="1" dirty="0" smtClean="0">
                <a:solidFill>
                  <a:srgbClr val="FF0000"/>
                </a:solidFill>
              </a:rPr>
              <a:t>接口不变</a:t>
            </a:r>
            <a:endParaRPr lang="zh-CN" altLang="en-US" sz="1400" b="1" dirty="0" smtClean="0">
              <a:solidFill>
                <a:srgbClr val="FF0000"/>
              </a:solidFill>
            </a:endParaRPr>
          </a:p>
          <a:p>
            <a:pPr lvl="1">
              <a:buNone/>
            </a:pPr>
            <a:r>
              <a:rPr lang="zh-CN" altLang="en-US" sz="1400" dirty="0" smtClean="0"/>
              <a:t>  </a:t>
            </a:r>
            <a:r>
              <a:rPr lang="en-US" altLang="zh-CN" sz="1400" dirty="0" smtClean="0"/>
              <a:t>{    return r ;  }</a:t>
            </a:r>
            <a:endParaRPr lang="en-US" altLang="zh-CN" sz="1400" dirty="0" smtClean="0"/>
          </a:p>
          <a:p>
            <a:pPr lvl="1">
              <a:buNone/>
            </a:pPr>
            <a:r>
              <a:rPr lang="en-US" altLang="zh-CN" sz="1400" dirty="0" smtClean="0"/>
              <a:t>};</a:t>
            </a:r>
            <a:endParaRPr lang="en-US" altLang="zh-CN" sz="1400" dirty="0" smtClean="0"/>
          </a:p>
          <a:p>
            <a:pPr lvl="1">
              <a:lnSpc>
                <a:spcPct val="125000"/>
              </a:lnSpc>
              <a:buNone/>
            </a:pPr>
            <a:endParaRPr lang="en-US" altLang="zh-CN" sz="1600" dirty="0" smtClean="0"/>
          </a:p>
          <a:p>
            <a:pPr lvl="1">
              <a:lnSpc>
                <a:spcPct val="125000"/>
              </a:lnSpc>
              <a:buNone/>
            </a:pPr>
            <a:endParaRPr lang="en-US" altLang="zh-CN" dirty="0" smtClean="0"/>
          </a:p>
          <a:p>
            <a:pPr eaLnBrk="1" hangingPunct="1">
              <a:lnSpc>
                <a:spcPct val="125000"/>
              </a:lnSpc>
            </a:pPr>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4714876" y="5214950"/>
            <a:ext cx="4214842" cy="738664"/>
          </a:xfrm>
          <a:prstGeom prst="rect">
            <a:avLst/>
          </a:prstGeom>
        </p:spPr>
        <p:txBody>
          <a:bodyPr wrap="square">
            <a:spAutoFit/>
          </a:bodyPr>
          <a:lstStyle/>
          <a:p>
            <a:pPr lvl="1">
              <a:buNone/>
            </a:pPr>
            <a:r>
              <a:rPr lang="en-US" altLang="zh-CN" sz="1400" dirty="0" smtClean="0"/>
              <a:t>protected:</a:t>
            </a:r>
            <a:endParaRPr lang="en-US" altLang="zh-CN" sz="1400" dirty="0" smtClean="0"/>
          </a:p>
          <a:p>
            <a:pPr lvl="1" algn="just">
              <a:buNone/>
            </a:pPr>
            <a:r>
              <a:rPr lang="en-US" altLang="zh-CN" sz="1400" dirty="0" smtClean="0"/>
              <a:t>  </a:t>
            </a:r>
            <a:r>
              <a:rPr lang="en-US" altLang="zh-CN" sz="1400" b="1" dirty="0" smtClean="0">
                <a:solidFill>
                  <a:srgbClr val="FF0000"/>
                </a:solidFill>
                <a:latin typeface="+mn-lt"/>
                <a:ea typeface="+mn-ea"/>
              </a:rPr>
              <a:t>double a;      //</a:t>
            </a:r>
            <a:r>
              <a:rPr lang="zh-CN" altLang="en-US" sz="1400" b="1" dirty="0" smtClean="0">
                <a:solidFill>
                  <a:srgbClr val="FF0000"/>
                </a:solidFill>
                <a:latin typeface="+mn-lt"/>
                <a:ea typeface="+mn-ea"/>
              </a:rPr>
              <a:t>点与原点连线与</a:t>
            </a:r>
            <a:r>
              <a:rPr lang="en-US" altLang="zh-CN" sz="1400" b="1" dirty="0" smtClean="0">
                <a:solidFill>
                  <a:srgbClr val="FF0000"/>
                </a:solidFill>
                <a:latin typeface="+mn-lt"/>
                <a:ea typeface="+mn-ea"/>
              </a:rPr>
              <a:t>x</a:t>
            </a:r>
            <a:r>
              <a:rPr lang="zh-CN" altLang="en-US" sz="1400" b="1" dirty="0" smtClean="0">
                <a:solidFill>
                  <a:srgbClr val="FF0000"/>
                </a:solidFill>
                <a:latin typeface="+mn-lt"/>
                <a:ea typeface="+mn-ea"/>
              </a:rPr>
              <a:t>轴的角度</a:t>
            </a:r>
            <a:endParaRPr lang="zh-CN" altLang="en-US" sz="1400" b="1" dirty="0" smtClean="0">
              <a:solidFill>
                <a:srgbClr val="FF0000"/>
              </a:solidFill>
              <a:latin typeface="+mn-lt"/>
              <a:ea typeface="+mn-ea"/>
            </a:endParaRPr>
          </a:p>
          <a:p>
            <a:pPr lvl="1">
              <a:buNone/>
            </a:pPr>
            <a:r>
              <a:rPr lang="zh-CN" altLang="en-US" sz="1400" b="1" dirty="0" smtClean="0">
                <a:solidFill>
                  <a:srgbClr val="FF0000"/>
                </a:solidFill>
                <a:latin typeface="+mn-lt"/>
                <a:ea typeface="+mn-ea"/>
              </a:rPr>
              <a:t>  </a:t>
            </a:r>
            <a:r>
              <a:rPr lang="en-US" altLang="zh-CN" sz="1400" b="1" dirty="0" smtClean="0">
                <a:solidFill>
                  <a:srgbClr val="FF0000"/>
                </a:solidFill>
                <a:latin typeface="+mn-lt"/>
                <a:ea typeface="+mn-ea"/>
              </a:rPr>
              <a:t>double r;      //</a:t>
            </a:r>
            <a:r>
              <a:rPr lang="zh-CN" altLang="en-US" sz="1400" b="1" dirty="0" smtClean="0">
                <a:solidFill>
                  <a:srgbClr val="FF0000"/>
                </a:solidFill>
                <a:latin typeface="+mn-lt"/>
                <a:ea typeface="+mn-ea"/>
              </a:rPr>
              <a:t>点与原点连线的长度</a:t>
            </a:r>
            <a:endParaRPr lang="zh-CN" altLang="en-US" sz="1400" b="1" dirty="0" smtClean="0">
              <a:solidFill>
                <a:srgbClr val="FF0000"/>
              </a:solidFill>
              <a:latin typeface="+mn-lt"/>
              <a:ea typeface="+mn-ea"/>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500594"/>
          </a:xfrm>
        </p:spPr>
        <p:txBody>
          <a:bodyPr/>
          <a:lstStyle/>
          <a:p>
            <a:pPr eaLnBrk="1" hangingPunct="1">
              <a:lnSpc>
                <a:spcPct val="125000"/>
              </a:lnSpc>
            </a:pPr>
            <a:r>
              <a:rPr lang="zh-CN" altLang="en-US" sz="2000" dirty="0" smtClean="0"/>
              <a:t>由例子可见，类的内部实现改变了，但接口没变，因此类使用的程序无需做任何改变，运行结果也不变。</a:t>
            </a:r>
            <a:endParaRPr lang="en-US" altLang="zh-CN" sz="2000" dirty="0" smtClean="0"/>
          </a:p>
          <a:p>
            <a:pPr eaLnBrk="1" hangingPunct="1">
              <a:lnSpc>
                <a:spcPct val="125000"/>
              </a:lnSpc>
            </a:pPr>
            <a:r>
              <a:rPr lang="zh-CN" altLang="en-US" sz="2000" dirty="0" smtClean="0"/>
              <a:t>由于类很好的屏蔽了内部数据的表示，所以由类负责的内部实现的维护不影响应用程序的开发，大大减轻了开发强度。</a:t>
            </a:r>
            <a:endParaRPr lang="en-US" altLang="zh-CN" sz="2000" dirty="0" smtClean="0"/>
          </a:p>
          <a:p>
            <a:pPr lvl="1"/>
            <a:endParaRPr lang="en-US" altLang="zh-CN" sz="1400" dirty="0" smtClean="0"/>
          </a:p>
          <a:p>
            <a:pPr lvl="1"/>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000528"/>
          </a:xfrm>
        </p:spPr>
        <p:txBody>
          <a:bodyPr/>
          <a:lstStyle/>
          <a:p>
            <a:pPr eaLnBrk="1" hangingPunct="1">
              <a:lnSpc>
                <a:spcPct val="125000"/>
              </a:lnSpc>
            </a:pPr>
            <a:r>
              <a:rPr lang="zh-CN" altLang="en-US" sz="2000" dirty="0" smtClean="0"/>
              <a:t>类作用域，声明类时使用的</a:t>
            </a:r>
            <a:r>
              <a:rPr lang="en-US" altLang="zh-CN" sz="2000" dirty="0" smtClean="0">
                <a:solidFill>
                  <a:srgbClr val="0000FF"/>
                </a:solidFill>
              </a:rPr>
              <a:t>{ }</a:t>
            </a:r>
            <a:r>
              <a:rPr lang="zh-CN" altLang="en-US" sz="2000" dirty="0" smtClean="0"/>
              <a:t>内作为类作用域</a:t>
            </a:r>
            <a:endParaRPr lang="zh-CN" altLang="en-US" sz="2000" dirty="0" smtClean="0"/>
          </a:p>
          <a:p>
            <a:pPr lvl="1">
              <a:lnSpc>
                <a:spcPct val="90000"/>
              </a:lnSpc>
            </a:pPr>
            <a:r>
              <a:rPr lang="zh-CN" altLang="en-US" sz="1800" dirty="0" smtClean="0"/>
              <a:t>在类作用域中声明的标识符只在该类中具有可见性</a:t>
            </a:r>
            <a:endParaRPr lang="zh-CN" altLang="en-US" sz="1800" dirty="0" smtClean="0"/>
          </a:p>
          <a:p>
            <a:pPr lvl="1">
              <a:lnSpc>
                <a:spcPct val="90000"/>
              </a:lnSpc>
            </a:pPr>
            <a:r>
              <a:rPr lang="zh-CN" altLang="en-US" sz="1800" dirty="0" smtClean="0"/>
              <a:t>成员名限定：类中成员名字可以使用类名和作用域运算符来显式指定</a:t>
            </a:r>
            <a:endParaRPr lang="zh-CN" altLang="en-US" sz="1800" dirty="0" smtClean="0"/>
          </a:p>
          <a:p>
            <a:pPr lvl="1" eaLnBrk="1" hangingPunct="1">
              <a:lnSpc>
                <a:spcPct val="90000"/>
              </a:lnSpc>
              <a:buNone/>
            </a:pPr>
            <a:r>
              <a:rPr lang="en-US" altLang="zh-CN" sz="1800" dirty="0" smtClean="0"/>
              <a:t>	</a:t>
            </a:r>
            <a:r>
              <a:rPr lang="zh-CN" altLang="en-US" sz="1800" dirty="0" smtClean="0"/>
              <a:t>例如 </a:t>
            </a:r>
            <a:r>
              <a:rPr lang="en-US" altLang="zh-CN" sz="1800" dirty="0" smtClean="0"/>
              <a:t>Class::</a:t>
            </a:r>
            <a:r>
              <a:rPr lang="en-US" altLang="zh-CN" sz="1800" dirty="0" err="1" smtClean="0"/>
              <a:t>prar</a:t>
            </a:r>
            <a:endParaRPr lang="en-US" altLang="zh-CN" sz="1800" dirty="0" smtClean="0"/>
          </a:p>
          <a:p>
            <a:pPr eaLnBrk="1" hangingPunct="1">
              <a:lnSpc>
                <a:spcPct val="90000"/>
              </a:lnSpc>
            </a:pPr>
            <a:r>
              <a:rPr lang="zh-CN" altLang="en-US" sz="2000" dirty="0" smtClean="0"/>
              <a:t>类作用域包含了类中成员函数的作用域</a:t>
            </a:r>
            <a:endParaRPr lang="en-US" altLang="zh-CN" sz="2000" dirty="0" smtClean="0"/>
          </a:p>
          <a:p>
            <a:pPr lvl="1">
              <a:lnSpc>
                <a:spcPct val="90000"/>
              </a:lnSpc>
              <a:buNone/>
            </a:pPr>
            <a:r>
              <a:rPr lang="en-US" altLang="zh-CN" sz="1800" b="1" dirty="0" smtClean="0">
                <a:solidFill>
                  <a:srgbClr val="FF0000"/>
                </a:solidFill>
              </a:rPr>
              <a:t>A.</a:t>
            </a:r>
            <a:r>
              <a:rPr lang="zh-CN" altLang="en-US" sz="1800" b="1" dirty="0" smtClean="0">
                <a:solidFill>
                  <a:srgbClr val="FF0000"/>
                </a:solidFill>
              </a:rPr>
              <a:t>要注意在类成员函数中，不要使用与类成员变量同名的变量</a:t>
            </a:r>
            <a:endParaRPr lang="en-US" altLang="zh-CN" sz="1800" b="1" dirty="0" smtClean="0">
              <a:solidFill>
                <a:srgbClr val="FF0000"/>
              </a:solidFill>
            </a:endParaRPr>
          </a:p>
          <a:p>
            <a:pPr lvl="1">
              <a:buNone/>
            </a:pPr>
            <a:r>
              <a:rPr lang="en-US" altLang="zh-CN" sz="1400" dirty="0" smtClean="0"/>
              <a:t>Class X</a:t>
            </a:r>
            <a:endParaRPr lang="en-US" altLang="zh-CN" sz="1400" dirty="0" smtClean="0"/>
          </a:p>
          <a:p>
            <a:pPr lvl="1">
              <a:buNone/>
            </a:pPr>
            <a:r>
              <a:rPr lang="en-US" altLang="zh-CN" sz="1400" dirty="0" smtClean="0"/>
              <a:t>{	public:</a:t>
            </a:r>
            <a:endParaRPr lang="en-US" altLang="zh-CN" sz="1400" dirty="0" smtClean="0"/>
          </a:p>
          <a:p>
            <a:pPr lvl="1">
              <a:buNone/>
            </a:pPr>
            <a:r>
              <a:rPr lang="en-US" altLang="zh-CN" sz="1400" dirty="0" smtClean="0"/>
              <a:t>		void f1();</a:t>
            </a:r>
            <a:endParaRPr lang="en-US" altLang="zh-CN" sz="1400" dirty="0" smtClean="0"/>
          </a:p>
          <a:p>
            <a:pPr lvl="1">
              <a:buNone/>
            </a:pPr>
            <a:r>
              <a:rPr lang="en-US" altLang="zh-CN" sz="1400" dirty="0" smtClean="0"/>
              <a:t>		void f2();</a:t>
            </a:r>
            <a:endParaRPr lang="en-US" altLang="zh-CN" sz="1400" dirty="0" smtClean="0"/>
          </a:p>
          <a:p>
            <a:pPr lvl="1">
              <a:buNone/>
            </a:pPr>
            <a:r>
              <a:rPr lang="en-US" altLang="zh-CN" sz="1400" dirty="0" smtClean="0"/>
              <a:t>	protected:</a:t>
            </a:r>
            <a:endParaRPr lang="en-US" altLang="zh-CN" sz="1400" dirty="0" smtClean="0"/>
          </a:p>
          <a:p>
            <a:pPr lvl="1">
              <a:buNone/>
            </a:pPr>
            <a:r>
              <a:rPr lang="en-US" altLang="zh-CN" sz="1400" dirty="0" smtClean="0"/>
              <a:t>		</a:t>
            </a:r>
            <a:r>
              <a:rPr lang="en-US" altLang="zh-CN" sz="1400" dirty="0" err="1" smtClean="0"/>
              <a:t>int</a:t>
            </a:r>
            <a:r>
              <a:rPr lang="en-US" altLang="zh-CN" sz="1400" dirty="0" smtClean="0"/>
              <a:t> m;</a:t>
            </a:r>
            <a:endParaRPr lang="en-US" altLang="zh-CN" sz="1400" dirty="0" smtClean="0"/>
          </a:p>
          <a:p>
            <a:pPr lvl="1">
              <a:buNone/>
            </a:pPr>
            <a:r>
              <a:rPr lang="en-US" altLang="zh-CN" sz="1400" dirty="0" smtClean="0"/>
              <a:t>}</a:t>
            </a:r>
            <a:r>
              <a:rPr lang="zh-CN" altLang="en-US" sz="1400" dirty="0" smtClean="0"/>
              <a:t>；</a:t>
            </a:r>
            <a:endParaRPr lang="en-US" altLang="zh-CN" sz="1400" dirty="0" smtClean="0"/>
          </a:p>
          <a:p>
            <a:pPr lvl="1">
              <a:buNone/>
            </a:pPr>
            <a:endParaRPr lang="en-US" altLang="zh-CN" sz="1400" dirty="0" smtClean="0"/>
          </a:p>
          <a:p>
            <a:pPr lvl="1">
              <a:buNone/>
            </a:pPr>
            <a:endParaRPr lang="en-US" altLang="zh-CN" sz="1400" dirty="0" smtClean="0"/>
          </a:p>
          <a:p>
            <a:pPr lvl="1"/>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2857488" y="3786190"/>
            <a:ext cx="4572000" cy="1600438"/>
          </a:xfrm>
          <a:prstGeom prst="rect">
            <a:avLst/>
          </a:prstGeom>
        </p:spPr>
        <p:txBody>
          <a:bodyPr wrap="square">
            <a:spAutoFit/>
          </a:bodyPr>
          <a:lstStyle/>
          <a:p>
            <a:pPr lvl="1">
              <a:buNone/>
            </a:pPr>
            <a:r>
              <a:rPr lang="en-US" altLang="zh-CN" sz="1400" dirty="0" smtClean="0"/>
              <a:t>void X::f1() </a:t>
            </a:r>
            <a:endParaRPr lang="en-US" altLang="zh-CN" sz="1400" dirty="0" smtClean="0"/>
          </a:p>
          <a:p>
            <a:pPr lvl="1">
              <a:buNone/>
            </a:pPr>
            <a:r>
              <a:rPr lang="en-US" altLang="zh-CN" sz="1400" dirty="0" smtClean="0"/>
              <a:t>{  m = 2; } //m</a:t>
            </a:r>
            <a:r>
              <a:rPr lang="zh-CN" altLang="en-US" sz="1400" dirty="0" smtClean="0"/>
              <a:t>是类</a:t>
            </a:r>
            <a:r>
              <a:rPr lang="en-US" altLang="zh-CN" sz="1400" dirty="0" smtClean="0"/>
              <a:t>X</a:t>
            </a:r>
            <a:r>
              <a:rPr lang="zh-CN" altLang="en-US" sz="1400" dirty="0" smtClean="0"/>
              <a:t>的成员变量</a:t>
            </a:r>
            <a:endParaRPr lang="en-US" altLang="zh-CN" sz="1400" dirty="0" smtClean="0"/>
          </a:p>
          <a:p>
            <a:pPr lvl="1">
              <a:buNone/>
            </a:pPr>
            <a:r>
              <a:rPr lang="en-US" altLang="zh-CN" sz="1400" dirty="0" smtClean="0"/>
              <a:t>void X::f2() </a:t>
            </a:r>
            <a:endParaRPr lang="en-US" altLang="zh-CN" sz="1400" dirty="0" smtClean="0"/>
          </a:p>
          <a:p>
            <a:pPr lvl="1">
              <a:buNone/>
            </a:pPr>
            <a:r>
              <a:rPr lang="en-US" altLang="zh-CN" sz="1400" dirty="0" smtClean="0"/>
              <a:t>{  </a:t>
            </a:r>
            <a:r>
              <a:rPr lang="en-US" altLang="zh-CN" sz="1400" dirty="0" err="1" smtClean="0"/>
              <a:t>int</a:t>
            </a:r>
            <a:r>
              <a:rPr lang="en-US" altLang="zh-CN" sz="1400" dirty="0" smtClean="0"/>
              <a:t> m;</a:t>
            </a:r>
            <a:endParaRPr lang="en-US" altLang="zh-CN" sz="1400" dirty="0" smtClean="0"/>
          </a:p>
          <a:p>
            <a:pPr lvl="1">
              <a:buNone/>
            </a:pPr>
            <a:r>
              <a:rPr lang="en-US" altLang="zh-CN" sz="1400" dirty="0" smtClean="0"/>
              <a:t>   m = 2;  //m</a:t>
            </a:r>
            <a:r>
              <a:rPr lang="zh-CN" altLang="en-US" sz="1400" dirty="0" smtClean="0"/>
              <a:t>是函数</a:t>
            </a:r>
            <a:r>
              <a:rPr lang="en-US" altLang="zh-CN" sz="1400" dirty="0" smtClean="0"/>
              <a:t>f2</a:t>
            </a:r>
            <a:r>
              <a:rPr lang="zh-CN" altLang="en-US" sz="1400" dirty="0" smtClean="0"/>
              <a:t>中定义的新变量</a:t>
            </a:r>
            <a:endParaRPr lang="en-US" altLang="zh-CN" sz="1400" dirty="0" smtClean="0"/>
          </a:p>
          <a:p>
            <a:pPr lvl="1">
              <a:buNone/>
            </a:pPr>
            <a:r>
              <a:rPr lang="en-US" altLang="zh-CN" sz="1400" dirty="0" smtClean="0"/>
              <a:t>   //</a:t>
            </a:r>
            <a:r>
              <a:rPr lang="zh-CN" altLang="en-US" sz="1400" dirty="0" smtClean="0"/>
              <a:t>类</a:t>
            </a:r>
            <a:r>
              <a:rPr lang="en-US" altLang="zh-CN" sz="1400" dirty="0" smtClean="0"/>
              <a:t>X</a:t>
            </a:r>
            <a:r>
              <a:rPr lang="zh-CN" altLang="en-US" sz="1400" dirty="0" smtClean="0"/>
              <a:t>的成员变量</a:t>
            </a:r>
            <a:r>
              <a:rPr lang="en-US" altLang="zh-CN" sz="1400" dirty="0" smtClean="0"/>
              <a:t>m</a:t>
            </a:r>
            <a:r>
              <a:rPr lang="zh-CN" altLang="en-US" sz="1400" dirty="0" smtClean="0"/>
              <a:t>被隐藏掉了</a:t>
            </a:r>
            <a:endParaRPr lang="en-US" altLang="zh-CN" sz="1400" dirty="0" smtClean="0"/>
          </a:p>
          <a:p>
            <a:pPr lvl="1">
              <a:buNone/>
            </a:pPr>
            <a:r>
              <a:rPr lang="en-US" altLang="zh-CN" sz="1400" dirty="0" smtClean="0"/>
              <a:t>}</a:t>
            </a:r>
            <a:endParaRPr lang="zh-CN" alt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7643866" cy="4000528"/>
          </a:xfrm>
        </p:spPr>
        <p:txBody>
          <a:bodyPr/>
          <a:lstStyle/>
          <a:p>
            <a:pPr eaLnBrk="1" hangingPunct="1">
              <a:lnSpc>
                <a:spcPct val="125000"/>
              </a:lnSpc>
            </a:pPr>
            <a:r>
              <a:rPr lang="zh-CN" altLang="en-US" sz="2000" dirty="0" smtClean="0"/>
              <a:t>在实际应用中，我们不鼓励重名，不能贪方便就乱用变量名，在真实的编程中，变量名都应该是有意义</a:t>
            </a:r>
            <a:endParaRPr lang="en-US" altLang="zh-CN" sz="2000" dirty="0" smtClean="0"/>
          </a:p>
          <a:p>
            <a:pPr eaLnBrk="1" hangingPunct="1">
              <a:lnSpc>
                <a:spcPct val="125000"/>
              </a:lnSpc>
            </a:pPr>
            <a:r>
              <a:rPr lang="zh-CN" altLang="en-US" sz="2000" dirty="0" smtClean="0"/>
              <a:t>课本</a:t>
            </a:r>
            <a:r>
              <a:rPr lang="en-US" altLang="zh-CN" sz="2000" dirty="0" smtClean="0"/>
              <a:t>P253-254</a:t>
            </a:r>
            <a:r>
              <a:rPr lang="zh-CN" altLang="en-US" sz="2000" dirty="0" smtClean="0"/>
              <a:t>虽然列举了很多重名的例子，但都不可取</a:t>
            </a:r>
            <a:endParaRPr lang="en-US" altLang="zh-CN" sz="1600" dirty="0" smtClean="0"/>
          </a:p>
          <a:p>
            <a:pPr eaLnBrk="1" hangingPunct="1">
              <a:lnSpc>
                <a:spcPct val="125000"/>
              </a:lnSpc>
            </a:pPr>
            <a:r>
              <a:rPr lang="zh-CN" altLang="en-US" sz="2000" dirty="0" smtClean="0"/>
              <a:t>在</a:t>
            </a:r>
            <a:r>
              <a:rPr lang="en-US" altLang="zh-CN" sz="2000" dirty="0" smtClean="0"/>
              <a:t>C++</a:t>
            </a:r>
            <a:r>
              <a:rPr lang="zh-CN" altLang="en-US" sz="2000" dirty="0" smtClean="0"/>
              <a:t>中使用“</a:t>
            </a:r>
            <a:r>
              <a:rPr lang="en-US" altLang="zh-CN" sz="2000" dirty="0" smtClean="0"/>
              <a:t>using namespace std;</a:t>
            </a:r>
            <a:r>
              <a:rPr lang="zh-CN" altLang="en-US" sz="2000" dirty="0" smtClean="0"/>
              <a:t>”，就是把</a:t>
            </a:r>
            <a:r>
              <a:rPr lang="en-US" altLang="zh-CN" sz="2000" dirty="0" smtClean="0"/>
              <a:t>C++</a:t>
            </a:r>
            <a:r>
              <a:rPr lang="zh-CN" altLang="en-US" sz="2000" dirty="0" smtClean="0"/>
              <a:t>标准程序库中的所有标识符都定义在一个名为</a:t>
            </a:r>
            <a:r>
              <a:rPr lang="en-US" altLang="zh-CN" sz="2000" dirty="0" smtClean="0"/>
              <a:t>std</a:t>
            </a:r>
            <a:r>
              <a:rPr lang="zh-CN" altLang="en-US" sz="2000" dirty="0" smtClean="0"/>
              <a:t>的命名空间中，避免它和其他第三方的标识符重名。</a:t>
            </a:r>
            <a:endParaRPr lang="en-US" altLang="zh-CN" sz="2000" dirty="0" smtClean="0"/>
          </a:p>
          <a:p>
            <a:pPr lvl="1">
              <a:lnSpc>
                <a:spcPct val="125000"/>
              </a:lnSpc>
            </a:pPr>
            <a:r>
              <a:rPr lang="zh-CN" altLang="en-US" sz="1800" dirty="0" smtClean="0"/>
              <a:t>例如</a:t>
            </a:r>
            <a:r>
              <a:rPr lang="en-US" altLang="zh-CN" sz="1800" dirty="0" err="1" smtClean="0"/>
              <a:t>cout</a:t>
            </a:r>
            <a:r>
              <a:rPr lang="zh-CN" altLang="en-US" sz="1800" dirty="0" smtClean="0"/>
              <a:t>、</a:t>
            </a:r>
            <a:r>
              <a:rPr lang="en-US" altLang="zh-CN" sz="1800" dirty="0" err="1" smtClean="0"/>
              <a:t>endl</a:t>
            </a:r>
            <a:r>
              <a:rPr lang="zh-CN" altLang="en-US" sz="1800" dirty="0" smtClean="0"/>
              <a:t>这些都是在</a:t>
            </a:r>
            <a:r>
              <a:rPr lang="en-US" altLang="zh-CN" sz="1800" dirty="0" smtClean="0"/>
              <a:t>std</a:t>
            </a:r>
            <a:r>
              <a:rPr lang="zh-CN" altLang="en-US" sz="1800" dirty="0" smtClean="0"/>
              <a:t>的命名空间中</a:t>
            </a:r>
            <a:endParaRPr lang="en-US" altLang="zh-CN" sz="1800" dirty="0" smtClean="0"/>
          </a:p>
          <a:p>
            <a:pPr lvl="0">
              <a:lnSpc>
                <a:spcPct val="125000"/>
              </a:lnSpc>
            </a:pPr>
            <a:r>
              <a:rPr lang="zh-CN" altLang="en-US" sz="2160" dirty="0" smtClean="0"/>
              <a:t>我们自己定义的变量与函数使用默认的“全局”空间</a:t>
            </a:r>
            <a:r>
              <a:rPr lang="en-US" altLang="zh-CN" sz="2160" dirty="0" smtClean="0"/>
              <a:t>global</a:t>
            </a:r>
            <a:r>
              <a:rPr lang="zh-CN" altLang="en-US" sz="2160" dirty="0" smtClean="0"/>
              <a:t>中</a:t>
            </a:r>
            <a:endParaRPr lang="zh-CN" altLang="en-US" sz="2160" dirty="0" smtClean="0"/>
          </a:p>
          <a:p>
            <a:pPr lvl="0">
              <a:lnSpc>
                <a:spcPct val="125000"/>
              </a:lnSpc>
            </a:pPr>
            <a:r>
              <a:rPr lang="zh-CN" altLang="en-US" sz="2160" dirty="0" smtClean="0"/>
              <a:t>所以</a:t>
            </a:r>
            <a:r>
              <a:rPr lang="en-US" altLang="zh-CN" sz="2160" dirty="0" smtClean="0"/>
              <a:t>C++</a:t>
            </a:r>
            <a:r>
              <a:rPr lang="zh-CN" altLang="en-US" sz="2160" dirty="0" smtClean="0"/>
              <a:t>一般有两个命名空间</a:t>
            </a:r>
            <a:r>
              <a:rPr lang="en-US" altLang="zh-CN" b="1" dirty="0" smtClean="0">
                <a:solidFill>
                  <a:srgbClr val="FF0000"/>
                </a:solidFill>
              </a:rPr>
              <a:t>std</a:t>
            </a:r>
            <a:r>
              <a:rPr lang="zh-CN" altLang="en-US" b="1" dirty="0" smtClean="0">
                <a:solidFill>
                  <a:srgbClr val="FF0000"/>
                </a:solidFill>
              </a:rPr>
              <a:t>和</a:t>
            </a:r>
            <a:r>
              <a:rPr lang="en-US" altLang="zh-CN" b="1" dirty="0" smtClean="0">
                <a:solidFill>
                  <a:srgbClr val="FF0000"/>
                </a:solidFill>
              </a:rPr>
              <a:t>global</a:t>
            </a:r>
            <a:endParaRPr lang="en-US" altLang="zh-CN" sz="2160" dirty="0" smtClean="0"/>
          </a:p>
          <a:p>
            <a:pPr lvl="1"/>
            <a:endParaRPr lang="en-US" altLang="zh-CN" sz="1400" dirty="0" smtClean="0"/>
          </a:p>
          <a:p>
            <a:pPr marL="365760" indent="-255905" eaLnBrk="1" fontAlgn="auto" hangingPunct="1">
              <a:lnSpc>
                <a:spcPct val="90000"/>
              </a:lnSpc>
              <a:spcAft>
                <a:spcPts val="0"/>
              </a:spcAft>
              <a:buFontTx/>
              <a:buNone/>
              <a:defRPr/>
            </a:pPr>
            <a:endParaRPr lang="en-US" altLang="zh-CN" sz="1600" dirty="0" smtClean="0"/>
          </a:p>
          <a:p>
            <a:pPr lvl="1">
              <a:lnSpc>
                <a:spcPct val="125000"/>
              </a:lnSpc>
              <a:buNone/>
            </a:pPr>
            <a:endParaRPr lang="en-US" altLang="zh-CN" sz="1800" dirty="0" smtClean="0"/>
          </a:p>
          <a:p>
            <a:pPr marL="365760" indent="-255905" eaLnBrk="1" fontAlgn="auto" hangingPunct="1">
              <a:lnSpc>
                <a:spcPct val="90000"/>
              </a:lnSpc>
              <a:spcAft>
                <a:spcPts val="0"/>
              </a:spcAft>
              <a:buFontTx/>
              <a:buNone/>
              <a:defRPr/>
            </a:pPr>
            <a:endParaRPr lang="en-US" altLang="zh-CN" sz="1800" dirty="0" smtClean="0"/>
          </a:p>
          <a:p>
            <a:pPr marL="365760" indent="-255905" eaLnBrk="1" fontAlgn="auto" hangingPunct="1">
              <a:lnSpc>
                <a:spcPct val="90000"/>
              </a:lnSpc>
              <a:spcAft>
                <a:spcPts val="0"/>
              </a:spcAft>
              <a:buFontTx/>
              <a:buNone/>
              <a:defRPr/>
            </a:pPr>
            <a:endParaRPr lang="en-US" altLang="zh-CN" sz="16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596" y="1142984"/>
            <a:ext cx="8286808" cy="928694"/>
          </a:xfrm>
        </p:spPr>
        <p:txBody>
          <a:bodyPr/>
          <a:lstStyle/>
          <a:p>
            <a:pPr eaLnBrk="1" hangingPunct="1">
              <a:lnSpc>
                <a:spcPct val="125000"/>
              </a:lnSpc>
            </a:pPr>
            <a:r>
              <a:rPr lang="zh-CN" altLang="en-US" sz="2000" dirty="0" smtClean="0"/>
              <a:t>当碰到无法避免的重名时，可用命名空间的方法来区别</a:t>
            </a:r>
            <a:endParaRPr lang="en-US" altLang="zh-CN" sz="2000" dirty="0" smtClean="0"/>
          </a:p>
          <a:p>
            <a:pPr marL="365760" indent="-255905" eaLnBrk="1" fontAlgn="auto" hangingPunct="1">
              <a:lnSpc>
                <a:spcPct val="90000"/>
              </a:lnSpc>
              <a:spcAft>
                <a:spcPts val="0"/>
              </a:spcAft>
              <a:buFontTx/>
              <a:buNone/>
              <a:defRPr/>
            </a:pPr>
            <a:endParaRPr lang="en-US" altLang="zh-CN" sz="1600" dirty="0" smtClean="0"/>
          </a:p>
          <a:p>
            <a:pPr eaLnBrk="1" hangingPunct="1">
              <a:lnSpc>
                <a:spcPct val="125000"/>
              </a:lnSpc>
              <a:buNone/>
            </a:pPr>
            <a:endParaRPr lang="en-US" altLang="zh-CN" sz="1800" dirty="0" smtClean="0"/>
          </a:p>
        </p:txBody>
      </p:sp>
      <p:sp>
        <p:nvSpPr>
          <p:cNvPr id="3" name="标题 2"/>
          <p:cNvSpPr>
            <a:spLocks noGrp="1"/>
          </p:cNvSpPr>
          <p:nvPr>
            <p:ph type="title"/>
          </p:nvPr>
        </p:nvSpPr>
        <p:spPr>
          <a:xfrm>
            <a:off x="457200" y="274638"/>
            <a:ext cx="8229600" cy="868346"/>
          </a:xfrm>
        </p:spPr>
        <p:txBody>
          <a:bodyPr>
            <a:normAutofit/>
          </a:bodyPr>
          <a:lstStyle/>
          <a:p>
            <a:r>
              <a:rPr lang="en-US" altLang="zh-CN" sz="3600" dirty="0" smtClean="0"/>
              <a:t>6.</a:t>
            </a:r>
            <a:r>
              <a:rPr lang="zh-CN" altLang="en-US" sz="3600" dirty="0" smtClean="0"/>
              <a:t>类的程序结构</a:t>
            </a:r>
            <a:endParaRPr lang="zh-CN" altLang="en-US" sz="3600" dirty="0"/>
          </a:p>
        </p:txBody>
      </p:sp>
      <p:sp>
        <p:nvSpPr>
          <p:cNvPr id="5" name="页脚占位符 4"/>
          <p:cNvSpPr>
            <a:spLocks noGrp="1"/>
          </p:cNvSpPr>
          <p:nvPr>
            <p:ph type="ftr" sz="quarter" idx="11"/>
          </p:nvPr>
        </p:nvSpPr>
        <p:spPr>
          <a:xfrm>
            <a:off x="6643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4000496" y="2428868"/>
            <a:ext cx="5143504" cy="3108543"/>
          </a:xfrm>
          <a:prstGeom prst="rect">
            <a:avLst/>
          </a:prstGeom>
        </p:spPr>
        <p:txBody>
          <a:bodyPr wrap="square">
            <a:spAutoFit/>
          </a:bodyPr>
          <a:lstStyle/>
          <a:p>
            <a:pPr eaLnBrk="1" hangingPunct="1">
              <a:buNone/>
            </a:pPr>
            <a:r>
              <a:rPr lang="en-US" altLang="zh-CN" sz="1400" dirty="0" err="1" smtClean="0"/>
              <a:t>int</a:t>
            </a:r>
            <a:r>
              <a:rPr lang="en-US" altLang="zh-CN" sz="1400" dirty="0" smtClean="0"/>
              <a:t> main()</a:t>
            </a:r>
            <a:endParaRPr lang="en-US" altLang="zh-CN" sz="1400" dirty="0" smtClean="0"/>
          </a:p>
          <a:p>
            <a:pPr eaLnBrk="1" hangingPunct="1">
              <a:buNone/>
            </a:pPr>
            <a:r>
              <a:rPr lang="en-US" altLang="zh-CN" sz="1400" dirty="0" smtClean="0"/>
              <a:t>{</a:t>
            </a:r>
            <a:endParaRPr lang="en-US" altLang="zh-CN" sz="1400" dirty="0" smtClean="0"/>
          </a:p>
          <a:p>
            <a:pPr eaLnBrk="1" hangingPunct="1">
              <a:buNone/>
            </a:pPr>
            <a:r>
              <a:rPr lang="en-US" altLang="zh-CN" sz="1400" dirty="0" smtClean="0"/>
              <a:t>    { using namespace s2 ; //</a:t>
            </a:r>
            <a:r>
              <a:rPr lang="zh-CN" altLang="en-US" sz="1400" dirty="0" smtClean="0"/>
              <a:t>使用</a:t>
            </a:r>
            <a:r>
              <a:rPr lang="en-US" altLang="zh-CN" sz="1400" dirty="0" smtClean="0"/>
              <a:t>s2/std/</a:t>
            </a:r>
            <a:r>
              <a:rPr lang="zh-CN" altLang="en-US" sz="1400" dirty="0" smtClean="0"/>
              <a:t>全局三个命名空间</a:t>
            </a:r>
            <a:endParaRPr lang="zh-CN" altLang="en-US" sz="1400" dirty="0" smtClean="0"/>
          </a:p>
          <a:p>
            <a:pPr eaLnBrk="1" hangingPunct="1">
              <a:buNone/>
            </a:pPr>
            <a:r>
              <a:rPr lang="zh-CN" altLang="en-US" sz="1400" dirty="0" smtClean="0"/>
              <a:t>      </a:t>
            </a:r>
            <a:r>
              <a:rPr lang="en-US" altLang="zh-CN" sz="1400" dirty="0" smtClean="0"/>
              <a:t>greeting();</a:t>
            </a:r>
            <a:endParaRPr lang="en-US" altLang="zh-CN" sz="1400" dirty="0" smtClean="0"/>
          </a:p>
          <a:p>
            <a:pPr eaLnBrk="1" hangingPunct="1">
              <a:buNone/>
            </a:pPr>
            <a:r>
              <a:rPr lang="en-US" altLang="zh-CN" sz="1400" dirty="0" smtClean="0"/>
              <a:t>    }</a:t>
            </a:r>
            <a:endParaRPr lang="en-US" altLang="zh-CN" sz="1400" dirty="0" smtClean="0"/>
          </a:p>
          <a:p>
            <a:pPr eaLnBrk="1" hangingPunct="1">
              <a:buNone/>
            </a:pPr>
            <a:endParaRPr lang="en-US" altLang="zh-CN" sz="1400" dirty="0" smtClean="0"/>
          </a:p>
          <a:p>
            <a:pPr eaLnBrk="1" hangingPunct="1">
              <a:buNone/>
            </a:pPr>
            <a:r>
              <a:rPr lang="en-US" altLang="zh-CN" sz="1400" dirty="0" smtClean="0"/>
              <a:t>    { using namespace s1 ;//</a:t>
            </a:r>
            <a:r>
              <a:rPr lang="zh-CN" altLang="en-US" sz="1400" dirty="0" smtClean="0"/>
              <a:t>使用</a:t>
            </a:r>
            <a:r>
              <a:rPr lang="en-US" altLang="zh-CN" sz="1400" dirty="0" smtClean="0"/>
              <a:t>s1/std/</a:t>
            </a:r>
            <a:r>
              <a:rPr lang="zh-CN" altLang="en-US" sz="1400" dirty="0" smtClean="0"/>
              <a:t>全局三个命名空间</a:t>
            </a:r>
            <a:endParaRPr lang="zh-CN" altLang="en-US" sz="1400" dirty="0" smtClean="0"/>
          </a:p>
          <a:p>
            <a:pPr eaLnBrk="1" hangingPunct="1">
              <a:buNone/>
            </a:pPr>
            <a:r>
              <a:rPr lang="zh-CN" altLang="en-US" sz="1400" dirty="0" smtClean="0"/>
              <a:t>        </a:t>
            </a:r>
            <a:r>
              <a:rPr lang="en-US" altLang="zh-CN" sz="1400" dirty="0" smtClean="0"/>
              <a:t>greeting();</a:t>
            </a:r>
            <a:endParaRPr lang="en-US" altLang="zh-CN" sz="1400" dirty="0" smtClean="0"/>
          </a:p>
          <a:p>
            <a:pPr eaLnBrk="1" hangingPunct="1">
              <a:buNone/>
            </a:pPr>
            <a:r>
              <a:rPr lang="en-US" altLang="zh-CN" sz="1400" dirty="0" smtClean="0"/>
              <a:t>    }</a:t>
            </a:r>
            <a:endParaRPr lang="en-US" altLang="zh-CN" sz="1400" dirty="0" smtClean="0"/>
          </a:p>
          <a:p>
            <a:pPr eaLnBrk="1" hangingPunct="1">
              <a:buNone/>
            </a:pPr>
            <a:endParaRPr lang="en-US" altLang="zh-CN" sz="1400" dirty="0" smtClean="0"/>
          </a:p>
          <a:p>
            <a:pPr eaLnBrk="1" hangingPunct="1">
              <a:buNone/>
            </a:pPr>
            <a:r>
              <a:rPr lang="en-US" altLang="zh-CN" sz="1400" dirty="0" smtClean="0"/>
              <a:t>    </a:t>
            </a:r>
            <a:r>
              <a:rPr lang="en-US" altLang="zh-CN" sz="1400" dirty="0" err="1" smtClean="0"/>
              <a:t>big_greeting</a:t>
            </a:r>
            <a:r>
              <a:rPr lang="en-US" altLang="zh-CN" sz="1400" dirty="0" smtClean="0"/>
              <a:t>();    //</a:t>
            </a:r>
            <a:r>
              <a:rPr lang="zh-CN" altLang="en-US" sz="1400" dirty="0" smtClean="0"/>
              <a:t>使用了</a:t>
            </a:r>
            <a:r>
              <a:rPr lang="en-US" altLang="zh-CN" sz="1400" dirty="0" smtClean="0"/>
              <a:t>std</a:t>
            </a:r>
            <a:r>
              <a:rPr lang="zh-CN" altLang="en-US" sz="1400" dirty="0" smtClean="0"/>
              <a:t>和全局两个命名空间</a:t>
            </a:r>
            <a:endParaRPr lang="zh-CN" altLang="en-US" sz="1400" dirty="0" smtClean="0"/>
          </a:p>
          <a:p>
            <a:pPr eaLnBrk="1" hangingPunct="1">
              <a:buNone/>
            </a:pPr>
            <a:r>
              <a:rPr lang="zh-CN" altLang="en-US" sz="1400" dirty="0" smtClean="0"/>
              <a:t>     </a:t>
            </a:r>
            <a:endParaRPr lang="zh-CN" altLang="en-US" sz="1400" dirty="0" smtClean="0"/>
          </a:p>
          <a:p>
            <a:pPr eaLnBrk="1" hangingPunct="1">
              <a:buNone/>
            </a:pPr>
            <a:r>
              <a:rPr lang="zh-CN" altLang="en-US" sz="1400" dirty="0" smtClean="0"/>
              <a:t>    </a:t>
            </a:r>
            <a:r>
              <a:rPr lang="en-US" altLang="zh-CN" sz="1400" dirty="0" smtClean="0"/>
              <a:t>return0 ;</a:t>
            </a:r>
            <a:endParaRPr lang="en-US" altLang="zh-CN" sz="1400" dirty="0" smtClean="0"/>
          </a:p>
          <a:p>
            <a:pPr eaLnBrk="1" hangingPunct="1">
              <a:buNone/>
            </a:pPr>
            <a:r>
              <a:rPr lang="en-US" altLang="zh-CN" sz="1400" dirty="0" smtClean="0"/>
              <a:t>}</a:t>
            </a:r>
            <a:endParaRPr lang="en-US" altLang="zh-CN" sz="1400" dirty="0" smtClean="0"/>
          </a:p>
        </p:txBody>
      </p:sp>
      <p:sp>
        <p:nvSpPr>
          <p:cNvPr id="8" name="矩形 7"/>
          <p:cNvSpPr/>
          <p:nvPr/>
        </p:nvSpPr>
        <p:spPr>
          <a:xfrm>
            <a:off x="214282" y="1785926"/>
            <a:ext cx="3857652" cy="3600986"/>
          </a:xfrm>
          <a:prstGeom prst="rect">
            <a:avLst/>
          </a:prstGeom>
        </p:spPr>
        <p:txBody>
          <a:bodyPr wrap="square">
            <a:spAutoFit/>
          </a:bodyPr>
          <a:lstStyle/>
          <a:p>
            <a:pPr eaLnBrk="1" hangingPunct="1">
              <a:buNone/>
            </a:pPr>
            <a:r>
              <a:rPr lang="en-US" altLang="zh-CN" sz="1600" dirty="0" smtClean="0"/>
              <a:t>#include &lt;</a:t>
            </a:r>
            <a:r>
              <a:rPr lang="en-US" altLang="zh-CN" sz="1600" dirty="0" err="1" smtClean="0"/>
              <a:t>iostream</a:t>
            </a:r>
            <a:r>
              <a:rPr lang="en-US" altLang="zh-CN" sz="1600" dirty="0" smtClean="0"/>
              <a:t>&gt;</a:t>
            </a:r>
            <a:endParaRPr lang="en-US" altLang="zh-CN" sz="1600" dirty="0" smtClean="0"/>
          </a:p>
          <a:p>
            <a:pPr eaLnBrk="1" hangingPunct="1">
              <a:buNone/>
            </a:pPr>
            <a:r>
              <a:rPr lang="en-US" altLang="zh-CN" sz="1600" dirty="0" smtClean="0"/>
              <a:t>using namespace std ;</a:t>
            </a:r>
            <a:endParaRPr lang="en-US" altLang="zh-CN" sz="1600" dirty="0" smtClean="0"/>
          </a:p>
          <a:p>
            <a:pPr eaLnBrk="1" hangingPunct="1">
              <a:buNone/>
            </a:pPr>
            <a:r>
              <a:rPr lang="en-US" altLang="zh-CN" sz="1600" dirty="0" smtClean="0"/>
              <a:t>namespace s1 </a:t>
            </a:r>
            <a:endParaRPr lang="en-US" altLang="zh-CN" sz="1600" dirty="0" smtClean="0"/>
          </a:p>
          <a:p>
            <a:pPr eaLnBrk="1" hangingPunct="1">
              <a:buNone/>
            </a:pPr>
            <a:r>
              <a:rPr lang="en-US" altLang="zh-CN" sz="1600" dirty="0" smtClean="0"/>
              <a:t>{    void greeting()</a:t>
            </a:r>
            <a:endParaRPr lang="en-US" altLang="zh-CN" sz="1600" dirty="0" smtClean="0"/>
          </a:p>
          <a:p>
            <a:pPr eaLnBrk="1" hangingPunct="1">
              <a:buNone/>
            </a:pPr>
            <a:r>
              <a:rPr lang="en-US" altLang="zh-CN" sz="1600" dirty="0" smtClean="0"/>
              <a:t>    { </a:t>
            </a:r>
            <a:r>
              <a:rPr lang="en-US" altLang="zh-CN" sz="1600" dirty="0" err="1" smtClean="0"/>
              <a:t>cout</a:t>
            </a:r>
            <a:r>
              <a:rPr lang="en-US" altLang="zh-CN" sz="1600" dirty="0" smtClean="0"/>
              <a:t>&lt;&lt;"Hello from s1.\n" ;    }</a:t>
            </a:r>
            <a:endParaRPr lang="en-US" altLang="zh-CN" sz="1600" dirty="0" smtClean="0"/>
          </a:p>
          <a:p>
            <a:pPr eaLnBrk="1" hangingPunct="1">
              <a:buNone/>
            </a:pPr>
            <a:r>
              <a:rPr lang="en-US" altLang="zh-CN" sz="1600" dirty="0" smtClean="0"/>
              <a:t>}</a:t>
            </a:r>
            <a:endParaRPr lang="en-US" altLang="zh-CN" sz="1600" dirty="0" smtClean="0"/>
          </a:p>
          <a:p>
            <a:pPr eaLnBrk="1" hangingPunct="1">
              <a:buNone/>
            </a:pPr>
            <a:r>
              <a:rPr lang="en-US" altLang="zh-CN" sz="1600" dirty="0" smtClean="0"/>
              <a:t>namespace s2 </a:t>
            </a:r>
            <a:endParaRPr lang="en-US" altLang="zh-CN" sz="1600" dirty="0" smtClean="0"/>
          </a:p>
          <a:p>
            <a:pPr eaLnBrk="1" hangingPunct="1">
              <a:buNone/>
            </a:pPr>
            <a:r>
              <a:rPr lang="en-US" altLang="zh-CN" sz="1600" dirty="0" smtClean="0"/>
              <a:t>{    void greeting()</a:t>
            </a:r>
            <a:endParaRPr lang="en-US" altLang="zh-CN" sz="1600" dirty="0" smtClean="0"/>
          </a:p>
          <a:p>
            <a:pPr eaLnBrk="1" hangingPunct="1">
              <a:buNone/>
            </a:pPr>
            <a:r>
              <a:rPr lang="en-US" altLang="zh-CN" sz="1600" dirty="0" smtClean="0"/>
              <a:t>    { </a:t>
            </a:r>
            <a:r>
              <a:rPr lang="en-US" altLang="zh-CN" sz="1600" dirty="0" err="1" smtClean="0"/>
              <a:t>cout</a:t>
            </a:r>
            <a:r>
              <a:rPr lang="en-US" altLang="zh-CN" sz="1600" dirty="0" smtClean="0"/>
              <a:t>&lt;&lt;"Greetings from s2.\n" ;  }</a:t>
            </a:r>
            <a:endParaRPr lang="en-US" altLang="zh-CN" sz="1600" dirty="0" smtClean="0"/>
          </a:p>
          <a:p>
            <a:pPr eaLnBrk="1" hangingPunct="1">
              <a:buNone/>
            </a:pPr>
            <a:r>
              <a:rPr lang="en-US" altLang="zh-CN" sz="1600" dirty="0" smtClean="0"/>
              <a:t>}</a:t>
            </a:r>
            <a:endParaRPr lang="en-US" altLang="zh-CN" sz="1600" dirty="0" smtClean="0"/>
          </a:p>
          <a:p>
            <a:pPr eaLnBrk="1" hangingPunct="1">
              <a:buNone/>
            </a:pPr>
            <a:r>
              <a:rPr lang="en-US" altLang="zh-CN" sz="1600" dirty="0" smtClean="0"/>
              <a:t>void </a:t>
            </a:r>
            <a:r>
              <a:rPr lang="en-US" altLang="zh-CN" sz="1600" dirty="0" err="1" smtClean="0"/>
              <a:t>big_greeting</a:t>
            </a:r>
            <a:r>
              <a:rPr lang="en-US" altLang="zh-CN" sz="1600" dirty="0" smtClean="0"/>
              <a:t>()</a:t>
            </a:r>
            <a:endParaRPr lang="en-US" altLang="zh-CN" sz="1600" dirty="0" smtClean="0"/>
          </a:p>
          <a:p>
            <a:pPr eaLnBrk="1" hangingPunct="1">
              <a:buNone/>
            </a:pPr>
            <a:r>
              <a:rPr lang="en-US" altLang="zh-CN" sz="1600" dirty="0" smtClean="0"/>
              <a:t>{    </a:t>
            </a:r>
            <a:r>
              <a:rPr lang="en-US" altLang="zh-CN" sz="1600" dirty="0" err="1" smtClean="0"/>
              <a:t>cout</a:t>
            </a:r>
            <a:r>
              <a:rPr lang="en-US" altLang="zh-CN" sz="1600" dirty="0" smtClean="0"/>
              <a:t>&lt;&lt;"A Big Global Hello!\n" ;  }</a:t>
            </a:r>
            <a:endParaRPr lang="en-US" altLang="zh-CN" sz="2000" dirty="0" smtClean="0"/>
          </a:p>
          <a:p>
            <a:pPr marL="365760" indent="-255905" eaLnBrk="1" fontAlgn="auto" hangingPunct="1">
              <a:lnSpc>
                <a:spcPct val="90000"/>
              </a:lnSpc>
              <a:spcAft>
                <a:spcPts val="0"/>
              </a:spcAft>
              <a:buFontTx/>
              <a:buNone/>
              <a:defRPr/>
            </a:pPr>
            <a:endParaRPr lang="en-US" altLang="zh-CN" sz="2000" dirty="0" smtClean="0"/>
          </a:p>
          <a:p>
            <a:pPr marL="365760" indent="-255905" eaLnBrk="1" fontAlgn="auto" hangingPunct="1">
              <a:lnSpc>
                <a:spcPct val="90000"/>
              </a:lnSpc>
              <a:spcAft>
                <a:spcPts val="0"/>
              </a:spcAft>
              <a:buFontTx/>
              <a:buNone/>
              <a:defRPr/>
            </a:pPr>
            <a:endParaRPr lang="en-US" altLang="zh-CN" dirty="0"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13206</Words>
  <Application>WPS 演示</Application>
  <PresentationFormat>全屏显示(4:3)</PresentationFormat>
  <Paragraphs>1022</Paragraphs>
  <Slides>46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46</vt:i4>
      </vt:variant>
    </vt:vector>
  </HeadingPairs>
  <TitlesOfParts>
    <vt:vector size="61" baseType="lpstr">
      <vt:lpstr>Arial</vt:lpstr>
      <vt:lpstr>宋体</vt:lpstr>
      <vt:lpstr>Wingdings</vt:lpstr>
      <vt:lpstr>Lucida Sans Unicode</vt:lpstr>
      <vt:lpstr>黑体</vt:lpstr>
      <vt:lpstr>Wingdings 3</vt:lpstr>
      <vt:lpstr>Verdana</vt:lpstr>
      <vt:lpstr>Wingdings 2</vt:lpstr>
      <vt:lpstr>Wingdings 2</vt:lpstr>
      <vt:lpstr>Times New Roman</vt:lpstr>
      <vt:lpstr>微软雅黑</vt:lpstr>
      <vt:lpstr>Arial Unicode MS</vt:lpstr>
      <vt:lpstr>Calibri</vt:lpstr>
      <vt:lpstr>楷体</vt:lpstr>
      <vt:lpstr>聚合</vt:lpstr>
      <vt:lpstr>面向对象程序设计</vt:lpstr>
      <vt:lpstr>本章主要内容</vt:lpstr>
      <vt:lpstr>1.计算机程序设计语言的发展</vt:lpstr>
      <vt:lpstr>1.计算机程序设计语言的发展</vt:lpstr>
      <vt:lpstr>2.面向过程的程序设计</vt:lpstr>
      <vt:lpstr>2.面向过程的程序设计</vt:lpstr>
      <vt:lpstr>2.面向过程的程序设计</vt:lpstr>
      <vt:lpstr>3.面向对象的设计思想</vt:lpstr>
      <vt:lpstr>3.面向对象的设计思想</vt:lpstr>
      <vt:lpstr>3.面向对象的设计思想</vt:lpstr>
      <vt:lpstr>3.面向对象的设计思想</vt:lpstr>
      <vt:lpstr>4.面向对象的基本概念</vt:lpstr>
      <vt:lpstr>4.面向对象的基本概念</vt:lpstr>
      <vt:lpstr>4.面向对象的基本概念</vt:lpstr>
      <vt:lpstr>4.面向对象的基本概念</vt:lpstr>
      <vt:lpstr>4.面向对象的基本概念</vt:lpstr>
      <vt:lpstr>4.面向对象的基本概念</vt:lpstr>
      <vt:lpstr>4.面向对象的基本概念</vt:lpstr>
      <vt:lpstr>4.面向对象的基本概念</vt:lpstr>
      <vt:lpstr>4.面向对象的基本概念</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5.类的基本用法</vt:lpstr>
      <vt:lpstr>6.类的程序结构</vt:lpstr>
      <vt:lpstr>6.类的程序结构</vt:lpstr>
      <vt:lpstr>6.类的程序结构</vt:lpstr>
      <vt:lpstr>6.类的程序结构</vt:lpstr>
      <vt:lpstr>6.类的程序结构</vt:lpstr>
      <vt:lpstr>6.类的程序结构</vt:lpstr>
      <vt:lpstr>6.类的程序结构</vt:lpstr>
      <vt:lpstr>6.类的程序结构</vt:lpstr>
      <vt:lpstr>6.类的程序结构</vt:lpstr>
      <vt:lpstr>6.类的程序结构</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面向对象程序设计</dc:title>
  <dc:creator>BJC</dc:creator>
  <cp:lastModifiedBy>bjc</cp:lastModifiedBy>
  <cp:revision>264</cp:revision>
  <dcterms:created xsi:type="dcterms:W3CDTF">2015-01-19T08:02:00Z</dcterms:created>
  <dcterms:modified xsi:type="dcterms:W3CDTF">2022-03-21T07:01:24Z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4CA9B29847F04D68BB12456479DD480D</vt:lpwstr>
  </property>
</Properties>
</file>