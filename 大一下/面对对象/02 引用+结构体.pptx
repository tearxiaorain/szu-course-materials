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514" r:id="rId3"/>
    <p:sldId id="515" r:id="rId4"/>
    <p:sldId id="516" r:id="rId5"/>
    <p:sldId id="517" r:id="rId6"/>
    <p:sldId id="518" r:id="rId7"/>
    <p:sldId id="519" r:id="rId8"/>
    <p:sldId id="521" r:id="rId9"/>
    <p:sldId id="523" r:id="rId10"/>
    <p:sldId id="524" r:id="rId11"/>
    <p:sldId id="537" r:id="rId12"/>
    <p:sldId id="525" r:id="rId13"/>
    <p:sldId id="527" r:id="rId14"/>
    <p:sldId id="528" r:id="rId15"/>
    <p:sldId id="530" r:id="rId16"/>
    <p:sldId id="531" r:id="rId17"/>
    <p:sldId id="543" r:id="rId18"/>
    <p:sldId id="544" r:id="rId19"/>
    <p:sldId id="545" r:id="rId20"/>
    <p:sldId id="546" r:id="rId21"/>
    <p:sldId id="547" r:id="rId22"/>
    <p:sldId id="548" r:id="rId23"/>
    <p:sldId id="549" r:id="rId24"/>
    <p:sldId id="550" r:id="rId25"/>
    <p:sldId id="551" r:id="rId26"/>
    <p:sldId id="552" r:id="rId27"/>
    <p:sldId id="553" r:id="rId28"/>
    <p:sldId id="554" r:id="rId29"/>
    <p:sldId id="555" r:id="rId30"/>
    <p:sldId id="556" r:id="rId31"/>
    <p:sldId id="557" r:id="rId32"/>
    <p:sldId id="558" r:id="rId33"/>
    <p:sldId id="559" r:id="rId34"/>
    <p:sldId id="560" r:id="rId35"/>
    <p:sldId id="561" r:id="rId36"/>
    <p:sldId id="562" r:id="rId37"/>
    <p:sldId id="563" r:id="rId38"/>
    <p:sldId id="564" r:id="rId39"/>
    <p:sldId id="565" r:id="rId4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ucida Sans Unicode" panose="020B0602030504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ucida Sans Unicode" panose="020B0602030504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ucida Sans Unicode" panose="020B0602030504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ucida Sans Unicode" panose="020B0602030504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Lucida Sans Unicode" panose="020B0602030504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Lucida Sans Unicode" panose="020B0602030504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Lucida Sans Unicode" panose="020B0602030504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Lucida Sans Unicode" panose="020B0602030504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Lucida Sans Unicode" panose="020B0602030504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40B6B-78AE-4017-B7E7-CC67B38BADD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9072E-8C30-4346-B477-D812B115D3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CF08B-64EE-48BE-B0BA-D219D27F4B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EB867-7509-4723-9538-9D475DF7F60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角三角形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组合 15"/>
          <p:cNvGrpSpPr/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任意多边形 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7" name="任意多边形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5760 w 5760"/>
                <a:gd name="T3" fmla="*/ 0 h 528"/>
                <a:gd name="T4" fmla="*/ 5760 w 5760"/>
                <a:gd name="T5" fmla="*/ 528 h 528"/>
                <a:gd name="T6" fmla="*/ 48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任意多边形 7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smtClean="0"/>
              <a:t>单击此处编辑母版副标题样式</a:t>
            </a:r>
            <a:endParaRPr lang="en-US"/>
          </a:p>
        </p:txBody>
      </p:sp>
      <p:sp>
        <p:nvSpPr>
          <p:cNvPr id="11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802FB08-2637-4CF6-AD74-C07441CFA7C0}" type="datetimeFigureOut">
              <a:rPr lang="zh-CN" altLang="en-US"/>
            </a:fld>
            <a:endParaRPr lang="zh-CN" altLang="en-US"/>
          </a:p>
        </p:txBody>
      </p:sp>
      <p:sp>
        <p:nvSpPr>
          <p:cNvPr id="12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70B242F-C22E-4D80-AB00-A977E93DF3A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页脚占位符 21"/>
          <p:cNvSpPr>
            <a:spLocks noGrp="1"/>
          </p:cNvSpPr>
          <p:nvPr>
            <p:ph type="ftr" sz="quarter" idx="11"/>
          </p:nvPr>
        </p:nvSpPr>
        <p:spPr>
          <a:xfrm>
            <a:off x="6643702" y="6357958"/>
            <a:ext cx="23510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燕尾形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燕尾形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4A2116-F5B9-497E-AA07-F410CB2728DA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225276-B3E6-49CC-9263-AF43A9AFE578}" type="slidenum">
              <a:rPr lang="zh-CN" altLang="en-US"/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12770D-696A-473C-B529-8B5F2D8ED26E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590A9B-DCE3-4E93-AD74-84DA078ACD40}" type="slidenum">
              <a:rPr lang="zh-CN" altLang="en-US"/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12E4B-101C-47E1-95B7-7C58E32A2F05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6A20B3-D9A0-41F8-8A02-F68E9C58FDC4}" type="slidenum">
              <a:rPr lang="zh-CN" altLang="en-US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D4554-7E5F-4CEB-94C4-2EFB8084A2FF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CC6EFD-604C-4D56-8EB0-1A6F2A97AA8D}" type="slidenum">
              <a:rPr lang="zh-CN" altLang="en-US"/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ECCC1-36BB-44E1-9AD8-06E049E4C9DB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6996D-3AFF-4A3A-B8D2-6E8C3CF4969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1B5A6-B3C5-473D-9B4E-D2B5064AD3D0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9CD4B-988C-4FC3-8655-DF6A3C766823}" type="slidenum">
              <a:rPr lang="zh-CN" altLang="en-US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 4"/>
          <p:cNvSpPr/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6" name="任意多边形 15"/>
          <p:cNvSpPr/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直角三角形 6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燕尾形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燕尾形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55E8970-D81A-4845-B363-F1F3C3089575}" type="datetimeFigureOut">
              <a:rPr lang="zh-CN" altLang="en-US"/>
            </a:fld>
            <a:endParaRPr lang="zh-CN" altLang="en-US"/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BF92EA9-3D29-43C7-A249-8CB189375864}" type="slidenum">
              <a:rPr lang="zh-CN" altLang="en-US"/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28E2B-3710-4EF4-AD09-B19F395B998A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43D130-6308-4B60-BBB9-EB1083D2925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81D58-4F79-4953-AF5F-6691901059F3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F1D1BB-5AC8-407A-8769-279EE344124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/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027" name="任意多边形 11"/>
          <p:cNvSpPr/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5760 w 5591"/>
              <a:gd name="T3" fmla="*/ 0 h 588"/>
              <a:gd name="T4" fmla="*/ 5760 w 5591"/>
              <a:gd name="T5" fmla="*/ 528 h 588"/>
              <a:gd name="T6" fmla="*/ 4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直角三角形 13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33" name="文本占位符 29"/>
          <p:cNvSpPr>
            <a:spLocks noGrp="1"/>
          </p:cNvSpPr>
          <p:nvPr>
            <p:ph type="body" idx="1"/>
          </p:nvPr>
        </p:nvSpPr>
        <p:spPr bwMode="auto">
          <a:xfrm>
            <a:off x="428596" y="1214422"/>
            <a:ext cx="8229600" cy="47149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 smtClean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81E30BA-3C34-4183-A909-4D733F30C1A1}" type="datetimeFigureOut">
              <a:rPr lang="zh-CN" altLang="en-US"/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b="0" smtClean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6A43F19-69B5-4382-A06C-E34D724156A6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黑体" panose="02010609060101010101" pitchFamily="2" charset="-122"/>
        </a:defRPr>
      </a:lvl9pPr>
    </p:titleStyle>
    <p:bodyStyle>
      <a:lvl1pPr marL="365125" indent="-255905" algn="l" rtl="0" fontAlgn="base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21030" indent="-228600" algn="l" rtl="0" fontAlgn="base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9155" indent="-228600" algn="l" rtl="0" fontAlgn="base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fontAlgn="base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1285860"/>
            <a:ext cx="7772400" cy="1829761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 smtClean="0"/>
              <a:t>面向对象程序设计</a:t>
            </a:r>
            <a:endParaRPr lang="zh-CN" altLang="en-US" dirty="0"/>
          </a:p>
        </p:txBody>
      </p:sp>
      <p:sp>
        <p:nvSpPr>
          <p:cNvPr id="9219" name="副标题 2"/>
          <p:cNvSpPr>
            <a:spLocks noGrp="1"/>
          </p:cNvSpPr>
          <p:nvPr>
            <p:ph type="subTitle" idx="1"/>
          </p:nvPr>
        </p:nvSpPr>
        <p:spPr>
          <a:xfrm>
            <a:off x="714348" y="3143248"/>
            <a:ext cx="7772400" cy="1200150"/>
          </a:xfrm>
        </p:spPr>
        <p:txBody>
          <a:bodyPr/>
          <a:lstStyle/>
          <a:p>
            <a:pPr marR="0" algn="ctr"/>
            <a:r>
              <a:rPr lang="zh-CN" altLang="en-US" sz="3200" b="1" dirty="0" smtClean="0">
                <a:solidFill>
                  <a:srgbClr val="FF0000"/>
                </a:solidFill>
              </a:rPr>
              <a:t>第九章 引用</a:t>
            </a:r>
            <a:endParaRPr lang="zh-CN" altLang="en-US" sz="32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525962"/>
          </a:xfrm>
        </p:spPr>
        <p:txBody>
          <a:bodyPr/>
          <a:lstStyle/>
          <a:p>
            <a:r>
              <a:rPr lang="zh-CN" altLang="en-US" dirty="0" smtClean="0"/>
              <a:t>引用的概念</a:t>
            </a:r>
            <a:endParaRPr lang="en-US" altLang="zh-CN" dirty="0" smtClean="0"/>
          </a:p>
          <a:p>
            <a:r>
              <a:rPr lang="zh-CN" altLang="en-US" dirty="0" smtClean="0"/>
              <a:t>引用的操作</a:t>
            </a:r>
            <a:endParaRPr lang="en-US" altLang="zh-CN" dirty="0" smtClean="0"/>
          </a:p>
          <a:p>
            <a:r>
              <a:rPr lang="zh-CN" altLang="en-US" dirty="0" smtClean="0"/>
              <a:t>引用的类型</a:t>
            </a:r>
            <a:endParaRPr lang="en-US" altLang="zh-CN" dirty="0" smtClean="0"/>
          </a:p>
          <a:p>
            <a:r>
              <a:rPr lang="zh-CN" altLang="en-US" dirty="0" smtClean="0"/>
              <a:t>引用与函数</a:t>
            </a:r>
            <a:endParaRPr lang="en-US" altLang="zh-CN" dirty="0" smtClean="0"/>
          </a:p>
          <a:p>
            <a:r>
              <a:rPr lang="zh-CN" altLang="en-US" dirty="0" smtClean="0"/>
              <a:t>限定引用</a:t>
            </a:r>
            <a:endParaRPr lang="en-US" altLang="zh-CN" dirty="0" smtClean="0"/>
          </a:p>
          <a:p>
            <a:r>
              <a:rPr lang="zh-CN" altLang="en-US" dirty="0" smtClean="0"/>
              <a:t>函数调用作为左值</a:t>
            </a:r>
            <a:endParaRPr lang="en-US" altLang="zh-CN" dirty="0" smtClean="0"/>
          </a:p>
          <a:p>
            <a:endParaRPr lang="zh-CN" altLang="en-US" dirty="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 smtClean="0"/>
              <a:t>本章主要内容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FF33CC"/>
                </a:solidFill>
              </a:rPr>
              <a:t>引用</a:t>
            </a:r>
            <a:r>
              <a:rPr lang="zh-CN" altLang="en-US" dirty="0" smtClean="0"/>
              <a:t>就是一个变量或对象的别名。当定义引用时，用一个目标对象的名字对引用作初始化，从而让引用和目标对象建立起联系，对引用的操作就是对目标对象的操作。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这好比是在一个班里，有个学生叫“张小明”，同时他有个绰号叫“小猪”，那么班里的同学都明白，叫“张小明”和叫“小猪”实际上都是指同一个人。引用具有类似的概念。</a:t>
            </a:r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引用的概念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引用的声明需要用到引用运算符“</a:t>
            </a:r>
            <a:r>
              <a:rPr lang="en-US" altLang="zh-CN" dirty="0" smtClean="0">
                <a:solidFill>
                  <a:srgbClr val="FF0000"/>
                </a:solidFill>
              </a:rPr>
              <a:t>&amp;</a:t>
            </a:r>
            <a:r>
              <a:rPr lang="en-US" altLang="zh-CN" dirty="0" smtClean="0"/>
              <a:t>”</a:t>
            </a:r>
            <a:r>
              <a:rPr lang="zh-CN" altLang="en-US" dirty="0" smtClean="0"/>
              <a:t>，其一般形式如下：</a:t>
            </a:r>
            <a:endParaRPr lang="zh-CN" altLang="en-US" dirty="0" smtClean="0"/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zh-CN" altLang="en-US" dirty="0" smtClean="0">
                <a:latin typeface="+mn-ea"/>
              </a:rPr>
              <a:t>类型     </a:t>
            </a:r>
            <a:r>
              <a:rPr lang="en-US" altLang="zh-CN" dirty="0" smtClean="0">
                <a:latin typeface="+mn-ea"/>
              </a:rPr>
              <a:t>&amp;</a:t>
            </a:r>
            <a:r>
              <a:rPr lang="zh-CN" altLang="en-US" dirty="0" smtClean="0">
                <a:latin typeface="+mn-ea"/>
              </a:rPr>
              <a:t>变量＝变量</a:t>
            </a:r>
            <a:r>
              <a:rPr lang="en-US" altLang="zh-CN" dirty="0" smtClean="0">
                <a:latin typeface="+mn-ea"/>
              </a:rPr>
              <a:t>;</a:t>
            </a:r>
            <a:endParaRPr lang="en-US" altLang="zh-CN" dirty="0" smtClean="0">
              <a:latin typeface="+mn-ea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+mn-ea"/>
              </a:rPr>
              <a:t>	</a:t>
            </a:r>
            <a:r>
              <a:rPr lang="zh-CN" altLang="en-US" sz="2000" dirty="0" smtClean="0">
                <a:latin typeface="+mn-ea"/>
              </a:rPr>
              <a:t>例如：</a:t>
            </a:r>
            <a:r>
              <a:rPr lang="en-US" altLang="zh-CN" sz="2000" dirty="0" err="1" smtClean="0">
                <a:latin typeface="+mn-ea"/>
              </a:rPr>
              <a:t>int</a:t>
            </a:r>
            <a:r>
              <a:rPr lang="en-US" altLang="zh-CN" sz="2000" dirty="0" smtClean="0">
                <a:latin typeface="+mn-ea"/>
              </a:rPr>
              <a:t> a = 10;	</a:t>
            </a:r>
            <a:r>
              <a:rPr lang="en-US" altLang="zh-CN" sz="2000" dirty="0" err="1" smtClean="0">
                <a:latin typeface="+mn-ea"/>
              </a:rPr>
              <a:t>int</a:t>
            </a:r>
            <a:r>
              <a:rPr lang="en-US" altLang="zh-CN" sz="2000" dirty="0" smtClean="0">
                <a:latin typeface="+mn-ea"/>
              </a:rPr>
              <a:t> &amp;</a:t>
            </a:r>
            <a:r>
              <a:rPr lang="en-US" altLang="zh-CN" sz="2000" dirty="0" err="1" smtClean="0">
                <a:latin typeface="+mn-ea"/>
              </a:rPr>
              <a:t>ra</a:t>
            </a:r>
            <a:r>
              <a:rPr lang="en-US" altLang="zh-CN" sz="2000" dirty="0" smtClean="0">
                <a:latin typeface="+mn-ea"/>
              </a:rPr>
              <a:t> = a;</a:t>
            </a:r>
            <a:endParaRPr lang="en-US" altLang="zh-CN" sz="2000" dirty="0" smtClean="0">
              <a:latin typeface="+mn-ea"/>
            </a:endParaRPr>
          </a:p>
          <a:p>
            <a:pPr eaLnBrk="1" hangingPunct="1">
              <a:buNone/>
            </a:pPr>
            <a:r>
              <a:rPr lang="en-US" altLang="zh-CN" dirty="0" smtClean="0"/>
              <a:t>	 </a:t>
            </a:r>
            <a:r>
              <a:rPr lang="zh-CN" altLang="en-US" sz="2000" dirty="0" smtClean="0"/>
              <a:t>在上面的代码里，定义了一个整型变量，然后声明了对变量</a:t>
            </a:r>
            <a:r>
              <a:rPr lang="en-US" altLang="zh-CN" sz="2000" dirty="0" smtClean="0"/>
              <a:t>a</a:t>
            </a:r>
            <a:r>
              <a:rPr lang="zh-CN" altLang="en-US" sz="2000" dirty="0" smtClean="0"/>
              <a:t>的引用</a:t>
            </a:r>
            <a:r>
              <a:rPr lang="en-US" altLang="zh-CN" sz="2000" dirty="0" err="1" smtClean="0"/>
              <a:t>ra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eaLnBrk="1" hangingPunct="1"/>
            <a:r>
              <a:rPr lang="zh-CN" altLang="en-US" dirty="0" smtClean="0"/>
              <a:t>注意引用的声明方法是</a:t>
            </a:r>
            <a:r>
              <a:rPr lang="en-US" altLang="zh-CN" dirty="0" smtClean="0"/>
              <a:t>:</a:t>
            </a:r>
            <a:r>
              <a:rPr lang="zh-CN" altLang="en-US" dirty="0" smtClean="0">
                <a:solidFill>
                  <a:srgbClr val="FF00FF"/>
                </a:solidFill>
              </a:rPr>
              <a:t>先写上目标对象的数据类型，然后跟引用运算符“</a:t>
            </a:r>
            <a:r>
              <a:rPr lang="en-US" altLang="zh-CN" dirty="0" smtClean="0">
                <a:solidFill>
                  <a:srgbClr val="FF00FF"/>
                </a:solidFill>
              </a:rPr>
              <a:t>&amp;”</a:t>
            </a:r>
            <a:r>
              <a:rPr lang="zh-CN" altLang="en-US" dirty="0" smtClean="0">
                <a:solidFill>
                  <a:srgbClr val="FF00FF"/>
                </a:solidFill>
              </a:rPr>
              <a:t>，接着写引用的名字。</a:t>
            </a:r>
            <a:endParaRPr lang="zh-CN" altLang="en-US" dirty="0" smtClean="0">
              <a:solidFill>
                <a:srgbClr val="FF00FF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引用的概念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引用不是独立的变量，编译系统不给它分配存储单元。因此建立引用只有声明，没有定义，只是声明和某一个变量的关系</a:t>
            </a:r>
            <a:endParaRPr lang="en-US" altLang="zh-CN" dirty="0" smtClean="0"/>
          </a:p>
          <a:p>
            <a:pPr eaLnBrk="1" hangingPunct="1">
              <a:buNone/>
            </a:pPr>
            <a:r>
              <a:rPr lang="en-US" altLang="zh-CN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</a:t>
            </a:r>
            <a:r>
              <a:rPr lang="zh-CN" altLang="en-US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注意：</a:t>
            </a:r>
            <a:r>
              <a:rPr lang="zh-CN" altLang="en-US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声明引用时，必须给引用赋初值。</a:t>
            </a:r>
            <a:endParaRPr lang="en-US" altLang="zh-CN" dirty="0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lvl="1"/>
            <a:r>
              <a:rPr lang="zh-CN" altLang="en-US" dirty="0" smtClean="0">
                <a:latin typeface="Courier New" panose="02070309020205020404" pitchFamily="49" charset="0"/>
              </a:rPr>
              <a:t>也就是要求声明引用时，其引用的目标对象必须已经定义。这是因为引用仅仅是目标对象的一个别名，如果目标对象都不存在，又怎么会存在别名呢？所以下面的写法是错误的。</a:t>
            </a:r>
            <a:endParaRPr lang="en-US" altLang="zh-CN" dirty="0" smtClean="0">
              <a:latin typeface="Courier New" panose="02070309020205020404" pitchFamily="49" charset="0"/>
            </a:endParaRPr>
          </a:p>
          <a:p>
            <a:pPr lvl="1">
              <a:buNone/>
            </a:pPr>
            <a:r>
              <a:rPr lang="en-US" altLang="zh-CN" dirty="0" smtClean="0">
                <a:latin typeface="Courier New" panose="02070309020205020404" pitchFamily="49" charset="0"/>
              </a:rPr>
              <a:t>	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&amp;</a:t>
            </a:r>
            <a:r>
              <a:rPr lang="en-US" altLang="zh-CN" dirty="0" err="1" smtClean="0"/>
              <a:t>ra</a:t>
            </a:r>
            <a:r>
              <a:rPr lang="en-US" altLang="zh-CN" dirty="0" smtClean="0"/>
              <a:t>; </a:t>
            </a:r>
            <a:r>
              <a:rPr lang="en-US" altLang="zh-CN" dirty="0" smtClean="0">
                <a:ea typeface="隶书" panose="02010509060101010101" pitchFamily="49" charset="-122"/>
              </a:rPr>
              <a:t>//</a:t>
            </a:r>
            <a:r>
              <a:rPr lang="zh-CN" altLang="en-US" dirty="0" smtClean="0">
                <a:ea typeface="隶书" panose="02010509060101010101" pitchFamily="49" charset="-122"/>
              </a:rPr>
              <a:t>错误，没有给引用初始化</a:t>
            </a:r>
            <a:endParaRPr lang="en-US" altLang="zh-CN" dirty="0" smtClean="0"/>
          </a:p>
          <a:p>
            <a:pPr eaLnBrk="1" hangingPunct="1"/>
            <a:endParaRPr lang="zh-CN" altLang="en-US" dirty="0" smtClean="0">
              <a:solidFill>
                <a:srgbClr val="FF00FF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引用的概念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一旦声明了引用，那么对引用的所有操作实际上都是对其引用的目标对象的操作。</a:t>
            </a:r>
            <a:endParaRPr lang="en-US" altLang="zh-CN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 smtClean="0"/>
              <a:t>#include &lt;</a:t>
            </a:r>
            <a:r>
              <a:rPr lang="en-US" altLang="zh-CN" sz="1600" dirty="0" err="1" smtClean="0"/>
              <a:t>iostream</a:t>
            </a:r>
            <a:r>
              <a:rPr lang="en-US" altLang="zh-CN" sz="1600" dirty="0" smtClean="0"/>
              <a:t>&gt;</a:t>
            </a:r>
            <a:endParaRPr lang="en-US" altLang="zh-CN" sz="1600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 smtClean="0"/>
              <a:t>using namespace std;</a:t>
            </a:r>
            <a:endParaRPr lang="en-US" altLang="zh-CN" sz="1600" dirty="0" smtClean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void main()</a:t>
            </a:r>
            <a:endParaRPr lang="en-US" altLang="zh-CN" sz="1600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{ 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a = 10;	</a:t>
            </a:r>
            <a:endParaRPr lang="en-US" altLang="zh-CN" sz="1600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	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*pa = &amp;a;		//</a:t>
            </a:r>
            <a:r>
              <a:rPr lang="zh-CN" altLang="en-US" sz="1600" dirty="0" smtClean="0"/>
              <a:t>指向</a:t>
            </a:r>
            <a:r>
              <a:rPr lang="en-US" altLang="zh-CN" sz="1600" dirty="0" smtClean="0"/>
              <a:t>a</a:t>
            </a:r>
            <a:r>
              <a:rPr lang="zh-CN" altLang="en-US" sz="1600" dirty="0" smtClean="0"/>
              <a:t>的指针</a:t>
            </a:r>
            <a:endParaRPr lang="en-US" altLang="zh-CN" sz="1600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	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&amp;</a:t>
            </a:r>
            <a:r>
              <a:rPr lang="en-US" altLang="zh-CN" sz="1600" dirty="0" err="1" smtClean="0"/>
              <a:t>ra</a:t>
            </a:r>
            <a:r>
              <a:rPr lang="en-US" altLang="zh-CN" sz="1600" dirty="0" smtClean="0"/>
              <a:t> = a;   		//a</a:t>
            </a:r>
            <a:r>
              <a:rPr lang="zh-CN" altLang="en-US" sz="1600" dirty="0" smtClean="0"/>
              <a:t>的引用</a:t>
            </a:r>
            <a:endParaRPr lang="en-US" altLang="zh-CN" sz="1600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	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* &amp;</a:t>
            </a:r>
            <a:r>
              <a:rPr lang="en-US" altLang="zh-CN" sz="1600" dirty="0" err="1" smtClean="0"/>
              <a:t>rpa</a:t>
            </a:r>
            <a:r>
              <a:rPr lang="en-US" altLang="zh-CN" sz="1600" dirty="0" smtClean="0"/>
              <a:t> = pa; 	//</a:t>
            </a:r>
            <a:r>
              <a:rPr lang="en-US" altLang="zh-CN" sz="1600" dirty="0" err="1" smtClean="0"/>
              <a:t>ra</a:t>
            </a:r>
            <a:r>
              <a:rPr lang="zh-CN" altLang="en-US" sz="1600" dirty="0" smtClean="0"/>
              <a:t>的应用，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*</a:t>
            </a:r>
            <a:r>
              <a:rPr lang="zh-CN" altLang="en-US" sz="1600" dirty="0" smtClean="0"/>
              <a:t>表示</a:t>
            </a:r>
            <a:r>
              <a:rPr lang="en-US" altLang="zh-CN" sz="1600" dirty="0" err="1" smtClean="0"/>
              <a:t>rpa</a:t>
            </a:r>
            <a:r>
              <a:rPr lang="zh-CN" altLang="en-US" sz="1600" dirty="0" smtClean="0"/>
              <a:t>引用的类型是整数指针</a:t>
            </a:r>
            <a:endParaRPr lang="en-US" altLang="zh-CN" sz="1600" dirty="0" smtClean="0"/>
          </a:p>
          <a:p>
            <a:pPr>
              <a:lnSpc>
                <a:spcPct val="110000"/>
              </a:lnSpc>
              <a:buNone/>
            </a:pPr>
            <a:r>
              <a:rPr lang="en-US" altLang="zh-CN" sz="1600" dirty="0" smtClean="0"/>
              <a:t>	</a:t>
            </a:r>
            <a:r>
              <a:rPr lang="en-US" altLang="zh-CN" sz="1600" dirty="0" err="1" smtClean="0"/>
              <a:t>cout</a:t>
            </a:r>
            <a:r>
              <a:rPr lang="en-US" altLang="zh-CN" sz="1600" dirty="0" smtClean="0"/>
              <a:t>&lt;&lt; a &lt;&lt;“--”&lt;&lt;</a:t>
            </a:r>
            <a:r>
              <a:rPr lang="en-US" altLang="zh-CN" sz="1600" dirty="0" err="1" smtClean="0"/>
              <a:t>ra</a:t>
            </a:r>
            <a:r>
              <a:rPr lang="en-US" altLang="zh-CN" sz="1600" dirty="0" smtClean="0"/>
              <a:t>&lt;&lt;“--” &lt;&lt;*pa &lt;&lt;</a:t>
            </a:r>
            <a:r>
              <a:rPr lang="en-US" altLang="zh-CN" sz="1600" dirty="0" err="1" smtClean="0"/>
              <a:t>endl</a:t>
            </a:r>
            <a:r>
              <a:rPr lang="en-US" altLang="zh-CN" sz="1600" dirty="0" smtClean="0"/>
              <a:t>; </a:t>
            </a:r>
            <a:endParaRPr lang="zh-CN" altLang="en-US" sz="1600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1600" dirty="0" smtClean="0"/>
              <a:t>	</a:t>
            </a:r>
            <a:r>
              <a:rPr lang="en-US" altLang="zh-CN" sz="1600" dirty="0" err="1" smtClean="0"/>
              <a:t>cout</a:t>
            </a:r>
            <a:r>
              <a:rPr lang="en-US" altLang="zh-CN" sz="1600" dirty="0" smtClean="0"/>
              <a:t>&lt;&lt; &amp;a &lt;&lt;“--”&lt;&lt;&amp;</a:t>
            </a:r>
            <a:r>
              <a:rPr lang="en-US" altLang="zh-CN" sz="1600" dirty="0" err="1" smtClean="0"/>
              <a:t>ra</a:t>
            </a:r>
            <a:r>
              <a:rPr lang="en-US" altLang="zh-CN" sz="1600" dirty="0" smtClean="0"/>
              <a:t> &lt;&lt;“--” &lt;&lt;pa &lt;&lt;</a:t>
            </a:r>
            <a:r>
              <a:rPr lang="en-US" altLang="zh-CN" sz="1600" dirty="0" err="1" smtClean="0"/>
              <a:t>endl</a:t>
            </a:r>
            <a:r>
              <a:rPr lang="en-US" altLang="zh-CN" sz="1600" dirty="0" smtClean="0"/>
              <a:t>; </a:t>
            </a:r>
            <a:endParaRPr lang="zh-CN" altLang="en-US" sz="1600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1600" dirty="0" smtClean="0"/>
              <a:t>	</a:t>
            </a:r>
            <a:r>
              <a:rPr lang="en-US" altLang="zh-CN" sz="1600" dirty="0" smtClean="0"/>
              <a:t>*</a:t>
            </a:r>
            <a:r>
              <a:rPr lang="en-US" altLang="zh-CN" sz="1600" dirty="0" err="1" smtClean="0"/>
              <a:t>rpa</a:t>
            </a:r>
            <a:r>
              <a:rPr lang="en-US" altLang="zh-CN" sz="1600" dirty="0" smtClean="0"/>
              <a:t> = 1000;</a:t>
            </a:r>
            <a:endParaRPr lang="en-US" altLang="zh-CN" sz="1600" dirty="0" smtClean="0"/>
          </a:p>
          <a:p>
            <a:pPr>
              <a:lnSpc>
                <a:spcPct val="110000"/>
              </a:lnSpc>
              <a:buNone/>
            </a:pPr>
            <a:r>
              <a:rPr lang="en-US" altLang="zh-CN" sz="1600" dirty="0" smtClean="0"/>
              <a:t>	</a:t>
            </a:r>
            <a:r>
              <a:rPr lang="en-US" altLang="zh-CN" sz="1600" dirty="0" err="1" smtClean="0"/>
              <a:t>cout</a:t>
            </a:r>
            <a:r>
              <a:rPr lang="en-US" altLang="zh-CN" sz="1600" dirty="0" smtClean="0"/>
              <a:t>&lt;&lt; a &lt;&lt;“--”&lt;&lt;</a:t>
            </a:r>
            <a:r>
              <a:rPr lang="en-US" altLang="zh-CN" sz="1600" dirty="0" err="1" smtClean="0"/>
              <a:t>ra</a:t>
            </a:r>
            <a:r>
              <a:rPr lang="en-US" altLang="zh-CN" sz="1600" dirty="0" smtClean="0"/>
              <a:t>&lt;&lt;“--” &lt;&lt;*</a:t>
            </a:r>
            <a:r>
              <a:rPr lang="en-US" altLang="zh-CN" sz="1600" dirty="0" err="1" smtClean="0"/>
              <a:t>rpa</a:t>
            </a:r>
            <a:r>
              <a:rPr lang="en-US" altLang="zh-CN" sz="1600" dirty="0" smtClean="0"/>
              <a:t> &lt;&lt;</a:t>
            </a:r>
            <a:r>
              <a:rPr lang="en-US" altLang="zh-CN" sz="1600" dirty="0" err="1" smtClean="0"/>
              <a:t>endl</a:t>
            </a:r>
            <a:r>
              <a:rPr lang="en-US" altLang="zh-CN" sz="1600" dirty="0" smtClean="0"/>
              <a:t>; </a:t>
            </a:r>
            <a:endParaRPr lang="zh-CN" altLang="en-US" sz="1600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600" dirty="0" smtClean="0"/>
              <a:t>}</a:t>
            </a:r>
            <a:endParaRPr lang="en-US" altLang="zh-CN" dirty="0" smtClean="0"/>
          </a:p>
          <a:p>
            <a:pPr eaLnBrk="1" hangingPunct="1">
              <a:buNone/>
            </a:pPr>
            <a:endParaRPr lang="en-US" altLang="zh-CN" dirty="0" smtClean="0"/>
          </a:p>
          <a:p>
            <a:pPr eaLnBrk="1" hangingPunct="1">
              <a:buNone/>
            </a:pPr>
            <a:endParaRPr lang="zh-CN" altLang="en-US" dirty="0" smtClean="0"/>
          </a:p>
          <a:p>
            <a:pPr eaLnBrk="1" hangingPunct="1"/>
            <a:endParaRPr lang="zh-CN" altLang="en-US" dirty="0" smtClean="0">
              <a:solidFill>
                <a:srgbClr val="FF00FF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引用的操作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+mn-ea"/>
              </a:rPr>
              <a:t>引用的程序示例</a:t>
            </a:r>
            <a:endParaRPr lang="zh-CN" altLang="en-US" dirty="0" smtClean="0">
              <a:latin typeface="+mn-ea"/>
            </a:endParaRPr>
          </a:p>
          <a:p>
            <a:pPr algn="just" eaLnBrk="1" fontAlgn="auto" hangingPunct="1">
              <a:lnSpc>
                <a:spcPct val="120000"/>
              </a:lnSpc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000" dirty="0" smtClean="0"/>
              <a:t>void main()</a:t>
            </a:r>
            <a:endParaRPr lang="en-US" altLang="zh-CN" sz="2000" dirty="0" smtClean="0"/>
          </a:p>
          <a:p>
            <a:pPr algn="just" eaLnBrk="1" fontAlgn="auto" hangingPunct="1">
              <a:lnSpc>
                <a:spcPct val="120000"/>
              </a:lnSpc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000" dirty="0" smtClean="0"/>
              <a:t>{ 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 a=10;       </a:t>
            </a:r>
            <a:endParaRPr lang="en-US" altLang="zh-CN" sz="2000" dirty="0" smtClean="0"/>
          </a:p>
          <a:p>
            <a:pPr algn="just" eaLnBrk="1" fontAlgn="auto" hangingPunct="1">
              <a:lnSpc>
                <a:spcPct val="120000"/>
              </a:lnSpc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000" dirty="0" smtClean="0"/>
              <a:t>  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 &amp;b=a;   </a:t>
            </a:r>
            <a:r>
              <a:rPr lang="en-US" altLang="zh-CN" sz="2000" dirty="0" smtClean="0">
                <a:solidFill>
                  <a:srgbClr val="00B050"/>
                </a:solidFill>
              </a:rPr>
              <a:t>//</a:t>
            </a:r>
            <a:r>
              <a:rPr lang="zh-CN" altLang="en-US" sz="2000" dirty="0" smtClean="0">
                <a:solidFill>
                  <a:srgbClr val="00B050"/>
                </a:solidFill>
              </a:rPr>
              <a:t>声明</a:t>
            </a:r>
            <a:r>
              <a:rPr lang="en-US" altLang="zh-CN" sz="2000" dirty="0" smtClean="0">
                <a:solidFill>
                  <a:srgbClr val="00B050"/>
                </a:solidFill>
              </a:rPr>
              <a:t>b</a:t>
            </a:r>
            <a:r>
              <a:rPr lang="zh-CN" altLang="en-US" sz="2000" dirty="0" smtClean="0">
                <a:solidFill>
                  <a:srgbClr val="00B050"/>
                </a:solidFill>
              </a:rPr>
              <a:t>是对整数</a:t>
            </a:r>
            <a:r>
              <a:rPr lang="en-US" altLang="zh-CN" sz="2000" dirty="0" smtClean="0">
                <a:solidFill>
                  <a:srgbClr val="00B050"/>
                </a:solidFill>
              </a:rPr>
              <a:t>a</a:t>
            </a:r>
            <a:r>
              <a:rPr lang="zh-CN" altLang="en-US" sz="2000" dirty="0" smtClean="0">
                <a:solidFill>
                  <a:srgbClr val="00B050"/>
                </a:solidFill>
              </a:rPr>
              <a:t>的引用</a:t>
            </a:r>
            <a:endParaRPr lang="en-US" altLang="zh-CN" sz="2000" dirty="0" smtClean="0">
              <a:solidFill>
                <a:srgbClr val="00B050"/>
              </a:solidFill>
            </a:endParaRP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000" dirty="0" smtClean="0"/>
              <a:t>   a=a*a;         </a:t>
            </a:r>
            <a:r>
              <a:rPr lang="en-US" altLang="zh-CN" sz="2000" dirty="0" smtClean="0">
                <a:solidFill>
                  <a:srgbClr val="00B050"/>
                </a:solidFill>
              </a:rPr>
              <a:t>//a</a:t>
            </a:r>
            <a:r>
              <a:rPr lang="zh-CN" altLang="en-US" sz="2000" dirty="0" smtClean="0">
                <a:solidFill>
                  <a:srgbClr val="00B050"/>
                </a:solidFill>
              </a:rPr>
              <a:t>的值变化了，</a:t>
            </a:r>
            <a:r>
              <a:rPr lang="en-US" altLang="zh-CN" sz="2000" dirty="0" smtClean="0">
                <a:solidFill>
                  <a:srgbClr val="00B050"/>
                </a:solidFill>
              </a:rPr>
              <a:t>b</a:t>
            </a:r>
            <a:r>
              <a:rPr lang="zh-CN" altLang="en-US" sz="2000" dirty="0" smtClean="0">
                <a:solidFill>
                  <a:srgbClr val="00B050"/>
                </a:solidFill>
              </a:rPr>
              <a:t>的值也一起变化 </a:t>
            </a:r>
            <a:endParaRPr lang="zh-CN" altLang="en-US" sz="2000" dirty="0" smtClean="0">
              <a:solidFill>
                <a:srgbClr val="00B050"/>
              </a:solidFill>
            </a:endParaRPr>
          </a:p>
          <a:p>
            <a:pPr algn="just" eaLnBrk="1" fontAlgn="auto" hangingPunct="1">
              <a:lnSpc>
                <a:spcPct val="120000"/>
              </a:lnSpc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zh-CN" altLang="en-US" sz="2000" dirty="0" smtClean="0">
                <a:solidFill>
                  <a:srgbClr val="0000FF"/>
                </a:solidFill>
              </a:rPr>
              <a:t>   </a:t>
            </a:r>
            <a:r>
              <a:rPr lang="en-US" altLang="zh-CN" sz="2000" dirty="0" err="1" smtClean="0"/>
              <a:t>cout</a:t>
            </a:r>
            <a:r>
              <a:rPr lang="en-US" altLang="zh-CN" sz="2000" dirty="0" smtClean="0"/>
              <a:t>&lt;&lt;a&lt;&lt;</a:t>
            </a:r>
            <a:r>
              <a:rPr lang="en-US" altLang="zh-CN" sz="2000" dirty="0" err="1" smtClean="0"/>
              <a:t>setw</a:t>
            </a:r>
            <a:r>
              <a:rPr lang="en-US" altLang="zh-CN" sz="2000" dirty="0" smtClean="0"/>
              <a:t> ( 6 )&lt;&lt;b&lt;&lt; </a:t>
            </a:r>
            <a:r>
              <a:rPr lang="en-US" altLang="zh-CN" sz="2000" dirty="0" err="1" smtClean="0"/>
              <a:t>endl</a:t>
            </a:r>
            <a:r>
              <a:rPr lang="en-US" altLang="zh-CN" sz="2000" dirty="0" smtClean="0"/>
              <a:t>; </a:t>
            </a:r>
            <a:endParaRPr lang="en-US" altLang="zh-CN" sz="2000" dirty="0" smtClean="0"/>
          </a:p>
          <a:p>
            <a:pPr algn="just" eaLnBrk="1" fontAlgn="auto" hangingPunct="1">
              <a:lnSpc>
                <a:spcPct val="120000"/>
              </a:lnSpc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000" dirty="0" smtClean="0"/>
              <a:t>   b=b/5;        </a:t>
            </a:r>
            <a:r>
              <a:rPr lang="en-US" altLang="zh-CN" sz="2000" dirty="0" smtClean="0">
                <a:solidFill>
                  <a:srgbClr val="00B050"/>
                </a:solidFill>
              </a:rPr>
              <a:t>//b</a:t>
            </a:r>
            <a:r>
              <a:rPr lang="zh-CN" altLang="en-US" sz="2000" dirty="0" smtClean="0">
                <a:solidFill>
                  <a:srgbClr val="00B050"/>
                </a:solidFill>
              </a:rPr>
              <a:t>的值变化了，</a:t>
            </a:r>
            <a:r>
              <a:rPr lang="en-US" altLang="zh-CN" sz="2000" dirty="0" smtClean="0">
                <a:solidFill>
                  <a:srgbClr val="00B050"/>
                </a:solidFill>
              </a:rPr>
              <a:t>a</a:t>
            </a:r>
            <a:r>
              <a:rPr lang="zh-CN" altLang="en-US" sz="2000" dirty="0" smtClean="0">
                <a:solidFill>
                  <a:srgbClr val="00B050"/>
                </a:solidFill>
              </a:rPr>
              <a:t>的值也一起变化</a:t>
            </a:r>
            <a:endParaRPr lang="zh-CN" altLang="en-US" sz="2000" dirty="0" smtClean="0">
              <a:solidFill>
                <a:srgbClr val="00B050"/>
              </a:solidFill>
            </a:endParaRPr>
          </a:p>
          <a:p>
            <a:pPr algn="just" eaLnBrk="1" fontAlgn="auto" hangingPunct="1">
              <a:lnSpc>
                <a:spcPct val="120000"/>
              </a:lnSpc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zh-CN" altLang="en-US" sz="2000" dirty="0" smtClean="0">
                <a:solidFill>
                  <a:srgbClr val="0000FF"/>
                </a:solidFill>
              </a:rPr>
              <a:t>   </a:t>
            </a:r>
            <a:r>
              <a:rPr lang="en-US" altLang="zh-CN" sz="2000" dirty="0" err="1" smtClean="0"/>
              <a:t>cout</a:t>
            </a:r>
            <a:r>
              <a:rPr lang="en-US" altLang="zh-CN" sz="2000" dirty="0" smtClean="0"/>
              <a:t>&lt;&lt;b&lt;&lt; </a:t>
            </a:r>
            <a:r>
              <a:rPr lang="en-US" altLang="zh-CN" sz="2000" dirty="0" err="1" smtClean="0"/>
              <a:t>setw</a:t>
            </a:r>
            <a:r>
              <a:rPr lang="en-US" altLang="zh-CN" sz="2000" dirty="0" smtClean="0"/>
              <a:t> ( 6 )&lt;&lt;a&lt;&lt; </a:t>
            </a:r>
            <a:r>
              <a:rPr lang="en-US" altLang="zh-CN" sz="2000" dirty="0" err="1" smtClean="0"/>
              <a:t>endl</a:t>
            </a:r>
            <a:r>
              <a:rPr lang="en-US" altLang="zh-CN" sz="2000" dirty="0" smtClean="0"/>
              <a:t>;    </a:t>
            </a:r>
            <a:endParaRPr lang="en-US" altLang="zh-CN" sz="2000" dirty="0" smtClean="0"/>
          </a:p>
          <a:p>
            <a:pPr algn="just" eaLnBrk="1" fontAlgn="auto" hangingPunct="1">
              <a:lnSpc>
                <a:spcPct val="120000"/>
              </a:lnSpc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000" dirty="0" smtClean="0"/>
              <a:t> }</a:t>
            </a:r>
            <a:endParaRPr lang="en-US" altLang="zh-CN" sz="2000" dirty="0" smtClean="0"/>
          </a:p>
          <a:p>
            <a:pPr algn="just" eaLnBrk="1" fontAlgn="auto" hangingPunct="1">
              <a:lnSpc>
                <a:spcPct val="120000"/>
              </a:lnSpc>
              <a:spcAft>
                <a:spcPts val="0"/>
              </a:spcAft>
              <a:buNone/>
              <a:defRPr/>
            </a:pPr>
            <a:r>
              <a:rPr lang="en-US" altLang="zh-CN" sz="2000" dirty="0" smtClean="0"/>
              <a:t>//</a:t>
            </a:r>
            <a:r>
              <a:rPr lang="zh-CN" altLang="en-US" sz="2000" dirty="0" smtClean="0"/>
              <a:t>运行结果为</a:t>
            </a:r>
            <a:r>
              <a:rPr lang="en-US" altLang="zh-CN" sz="2000" dirty="0" smtClean="0"/>
              <a:t>:</a:t>
            </a:r>
            <a:endParaRPr lang="en-US" altLang="zh-CN" sz="2000" dirty="0" smtClean="0"/>
          </a:p>
          <a:p>
            <a:pPr algn="just" eaLnBrk="1" fontAlgn="auto" hangingPunct="1">
              <a:lnSpc>
                <a:spcPct val="120000"/>
              </a:lnSpc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000" dirty="0" smtClean="0"/>
              <a:t>//100      100</a:t>
            </a:r>
            <a:endParaRPr lang="en-US" altLang="zh-CN" sz="2000" dirty="0" smtClean="0"/>
          </a:p>
          <a:p>
            <a:pPr algn="just" eaLnBrk="1" fontAlgn="auto" hangingPunct="1">
              <a:lnSpc>
                <a:spcPct val="120000"/>
              </a:lnSpc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r>
              <a:rPr lang="en-US" altLang="zh-CN" sz="2000" dirty="0" smtClean="0"/>
              <a:t>//20      20</a:t>
            </a:r>
            <a:endParaRPr lang="en-US" altLang="zh-CN" sz="2000" dirty="0" smtClean="0">
              <a:solidFill>
                <a:srgbClr val="FF0066"/>
              </a:solidFill>
            </a:endParaRPr>
          </a:p>
          <a:p>
            <a:pPr eaLnBrk="1" hangingPunct="1">
              <a:buNone/>
            </a:pPr>
            <a:endParaRPr lang="en-US" altLang="zh-CN" dirty="0" smtClean="0"/>
          </a:p>
          <a:p>
            <a:pPr eaLnBrk="1" hangingPunct="1">
              <a:buNone/>
            </a:pPr>
            <a:endParaRPr lang="zh-CN" altLang="en-US" dirty="0" smtClean="0"/>
          </a:p>
          <a:p>
            <a:pPr eaLnBrk="1" hangingPunct="1"/>
            <a:endParaRPr lang="zh-CN" altLang="en-US" dirty="0" smtClean="0">
              <a:solidFill>
                <a:srgbClr val="FF00FF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引用的操作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+mn-ea"/>
              </a:rPr>
              <a:t>引用要注意的地方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b="1" dirty="0" smtClean="0">
                <a:solidFill>
                  <a:srgbClr val="FF0000"/>
                </a:solidFill>
              </a:rPr>
              <a:t>引用运算符只在声明时使用，</a:t>
            </a:r>
            <a:r>
              <a:rPr lang="zh-CN" altLang="en-US" dirty="0" smtClean="0">
                <a:solidFill>
                  <a:srgbClr val="FF0000"/>
                </a:solidFill>
              </a:rPr>
              <a:t>在声明语句中</a:t>
            </a:r>
            <a:r>
              <a:rPr lang="en-US" altLang="zh-CN" dirty="0" smtClean="0">
                <a:solidFill>
                  <a:srgbClr val="FF0000"/>
                </a:solidFill>
              </a:rPr>
              <a:t>&amp;</a:t>
            </a:r>
            <a:r>
              <a:rPr lang="zh-CN" altLang="en-US" dirty="0" smtClean="0">
                <a:solidFill>
                  <a:srgbClr val="FF0000"/>
                </a:solidFill>
              </a:rPr>
              <a:t>放在类型后表示引用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&amp;</a:t>
            </a:r>
            <a:r>
              <a:rPr lang="zh-CN" altLang="en-US" dirty="0" smtClean="0">
                <a:solidFill>
                  <a:srgbClr val="FF0000"/>
                </a:solidFill>
              </a:rPr>
              <a:t>放在等号后面表示地址运算符，不是引用运算符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altLang="zh-CN" sz="2000" dirty="0" smtClean="0">
                <a:solidFill>
                  <a:srgbClr val="0000FF"/>
                </a:solidFill>
              </a:rPr>
              <a:t>		</a:t>
            </a:r>
            <a:r>
              <a:rPr lang="en-US" altLang="zh-CN" sz="2000" dirty="0" err="1" smtClean="0">
                <a:solidFill>
                  <a:srgbClr val="0000FF"/>
                </a:solidFill>
              </a:rPr>
              <a:t>int</a:t>
            </a:r>
            <a:r>
              <a:rPr lang="en-US" altLang="zh-CN" sz="2000" dirty="0" smtClean="0">
                <a:solidFill>
                  <a:srgbClr val="0000FF"/>
                </a:solidFill>
              </a:rPr>
              <a:t> &amp; </a:t>
            </a:r>
            <a:r>
              <a:rPr lang="en-US" altLang="zh-CN" sz="2000" dirty="0" err="1" smtClean="0">
                <a:solidFill>
                  <a:srgbClr val="0000FF"/>
                </a:solidFill>
              </a:rPr>
              <a:t>ip</a:t>
            </a:r>
            <a:r>
              <a:rPr lang="en-US" altLang="zh-CN" sz="2000" dirty="0" smtClean="0">
                <a:solidFill>
                  <a:srgbClr val="0000FF"/>
                </a:solidFill>
              </a:rPr>
              <a:t> = a;  	 //&amp;</a:t>
            </a:r>
            <a:r>
              <a:rPr lang="zh-CN" altLang="en-US" sz="2000" dirty="0" smtClean="0">
                <a:solidFill>
                  <a:srgbClr val="0000FF"/>
                </a:solidFill>
              </a:rPr>
              <a:t>是引用运算</a:t>
            </a:r>
            <a:endParaRPr lang="en-US" altLang="zh-CN" sz="2000" dirty="0" smtClean="0">
              <a:solidFill>
                <a:srgbClr val="0000FF"/>
              </a:solidFill>
            </a:endParaRPr>
          </a:p>
          <a:p>
            <a:pPr algn="just" eaLnBrk="1" hangingPunct="1">
              <a:buFont typeface="Wingdings 2" panose="05020102010507070707" pitchFamily="18" charset="2"/>
              <a:buNone/>
            </a:pPr>
            <a:r>
              <a:rPr lang="en-US" altLang="zh-CN" sz="2000" dirty="0" smtClean="0">
                <a:solidFill>
                  <a:srgbClr val="0000FF"/>
                </a:solidFill>
              </a:rPr>
              <a:t>		</a:t>
            </a:r>
            <a:r>
              <a:rPr lang="en-US" altLang="zh-CN" sz="2000" dirty="0" err="1" smtClean="0">
                <a:solidFill>
                  <a:srgbClr val="0000FF"/>
                </a:solidFill>
              </a:rPr>
              <a:t>int</a:t>
            </a:r>
            <a:r>
              <a:rPr lang="en-US" altLang="zh-CN" sz="2000" dirty="0" smtClean="0">
                <a:solidFill>
                  <a:srgbClr val="0000FF"/>
                </a:solidFill>
              </a:rPr>
              <a:t> * </a:t>
            </a:r>
            <a:r>
              <a:rPr lang="en-US" altLang="zh-CN" sz="2000" dirty="0" err="1" smtClean="0">
                <a:solidFill>
                  <a:srgbClr val="0000FF"/>
                </a:solidFill>
              </a:rPr>
              <a:t>ip</a:t>
            </a:r>
            <a:r>
              <a:rPr lang="en-US" altLang="zh-CN" sz="2000" dirty="0" smtClean="0">
                <a:solidFill>
                  <a:srgbClr val="0000FF"/>
                </a:solidFill>
              </a:rPr>
              <a:t> = &amp;a;	 //&amp;</a:t>
            </a:r>
            <a:r>
              <a:rPr lang="zh-CN" altLang="en-US" sz="2000" dirty="0" smtClean="0">
                <a:solidFill>
                  <a:srgbClr val="0000FF"/>
                </a:solidFill>
              </a:rPr>
              <a:t>是地址运算</a:t>
            </a:r>
            <a:endParaRPr lang="en-US" altLang="zh-CN" sz="2000" dirty="0" smtClean="0">
              <a:solidFill>
                <a:srgbClr val="0000FF"/>
              </a:solidFill>
            </a:endParaRPr>
          </a:p>
          <a:p>
            <a:pPr algn="just">
              <a:buNone/>
            </a:pPr>
            <a:r>
              <a:rPr lang="en-US" altLang="zh-CN" sz="2000" dirty="0" smtClean="0">
                <a:solidFill>
                  <a:srgbClr val="0000FF"/>
                </a:solidFill>
              </a:rPr>
              <a:t>		p = &amp;b; 	//&amp;</a:t>
            </a:r>
            <a:r>
              <a:rPr lang="zh-CN" altLang="en-US" sz="2000" dirty="0" smtClean="0">
                <a:solidFill>
                  <a:srgbClr val="0000FF"/>
                </a:solidFill>
              </a:rPr>
              <a:t>是地址运算</a:t>
            </a:r>
            <a:endParaRPr lang="en-US" altLang="zh-CN" sz="2000" dirty="0" smtClean="0">
              <a:solidFill>
                <a:srgbClr val="0000FF"/>
              </a:solidFill>
            </a:endParaRPr>
          </a:p>
          <a:p>
            <a:pPr algn="just" eaLnBrk="1" hangingPunct="1">
              <a:buFont typeface="Wingdings 2" panose="05020102010507070707" pitchFamily="18" charset="2"/>
              <a:buNone/>
            </a:pPr>
            <a:r>
              <a:rPr lang="en-US" altLang="zh-CN" sz="2000" dirty="0" smtClean="0">
                <a:solidFill>
                  <a:srgbClr val="0000FF"/>
                </a:solidFill>
              </a:rPr>
              <a:t>	       </a:t>
            </a:r>
            <a:r>
              <a:rPr lang="en-US" altLang="zh-CN" sz="2000" dirty="0" err="1" smtClean="0">
                <a:solidFill>
                  <a:srgbClr val="0000FF"/>
                </a:solidFill>
              </a:rPr>
              <a:t>func</a:t>
            </a:r>
            <a:r>
              <a:rPr lang="en-US" altLang="zh-CN" sz="2000" dirty="0" smtClean="0">
                <a:solidFill>
                  <a:srgbClr val="0000FF"/>
                </a:solidFill>
              </a:rPr>
              <a:t>(&amp;v); 	//&amp;</a:t>
            </a:r>
            <a:r>
              <a:rPr lang="zh-CN" altLang="en-US" sz="2000" dirty="0" smtClean="0">
                <a:solidFill>
                  <a:srgbClr val="0000FF"/>
                </a:solidFill>
              </a:rPr>
              <a:t>是地址运算</a:t>
            </a:r>
            <a:endParaRPr lang="en-US" altLang="zh-CN" sz="2000" dirty="0" smtClean="0">
              <a:solidFill>
                <a:srgbClr val="0000FF"/>
              </a:solidFill>
            </a:endParaRPr>
          </a:p>
          <a:p>
            <a:pPr lvl="1"/>
            <a:r>
              <a:rPr lang="zh-CN" altLang="en-US" b="1" dirty="0" smtClean="0">
                <a:solidFill>
                  <a:srgbClr val="FF0000"/>
                </a:solidFill>
              </a:rPr>
              <a:t>引用运算符必须在变量声明时就初始化</a:t>
            </a:r>
            <a:endParaRPr lang="zh-CN" altLang="en-US" dirty="0" smtClean="0"/>
          </a:p>
          <a:p>
            <a:pPr algn="just" eaLnBrk="1" hangingPunct="1">
              <a:buFont typeface="Wingdings 2" panose="05020102010507070707" pitchFamily="18" charset="2"/>
              <a:buNone/>
            </a:pPr>
            <a:r>
              <a:rPr lang="en-US" altLang="zh-CN" sz="2000" dirty="0" smtClean="0">
                <a:solidFill>
                  <a:srgbClr val="0000FF"/>
                </a:solidFill>
              </a:rPr>
              <a:t>		</a:t>
            </a:r>
            <a:r>
              <a:rPr lang="en-US" altLang="zh-CN" sz="2000" dirty="0" err="1" smtClean="0">
                <a:solidFill>
                  <a:srgbClr val="0000FF"/>
                </a:solidFill>
              </a:rPr>
              <a:t>int</a:t>
            </a:r>
            <a:r>
              <a:rPr lang="en-US" altLang="zh-CN" sz="2000" dirty="0" smtClean="0">
                <a:solidFill>
                  <a:srgbClr val="0000FF"/>
                </a:solidFill>
              </a:rPr>
              <a:t>  &amp; </a:t>
            </a:r>
            <a:r>
              <a:rPr lang="en-US" altLang="zh-CN" sz="2000" dirty="0" err="1" smtClean="0">
                <a:solidFill>
                  <a:srgbClr val="0000FF"/>
                </a:solidFill>
              </a:rPr>
              <a:t>ri</a:t>
            </a:r>
            <a:r>
              <a:rPr lang="en-US" altLang="zh-CN" sz="2000" dirty="0" smtClean="0">
                <a:solidFill>
                  <a:srgbClr val="0000FF"/>
                </a:solidFill>
              </a:rPr>
              <a:t> = </a:t>
            </a:r>
            <a:r>
              <a:rPr lang="en-US" altLang="zh-CN" sz="2000" dirty="0" err="1" smtClean="0">
                <a:solidFill>
                  <a:srgbClr val="0000FF"/>
                </a:solidFill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</a:rPr>
              <a:t> </a:t>
            </a:r>
            <a:r>
              <a:rPr lang="zh-CN" altLang="en-US" sz="2000" dirty="0" smtClean="0">
                <a:solidFill>
                  <a:srgbClr val="0000FF"/>
                </a:solidFill>
              </a:rPr>
              <a:t>；</a:t>
            </a:r>
            <a:r>
              <a:rPr lang="en-US" altLang="zh-CN" sz="2000" dirty="0" smtClean="0">
                <a:solidFill>
                  <a:srgbClr val="0000FF"/>
                </a:solidFill>
              </a:rPr>
              <a:t>//ok</a:t>
            </a:r>
            <a:endParaRPr lang="en-US" altLang="zh-CN" sz="2000" dirty="0" smtClean="0">
              <a:solidFill>
                <a:srgbClr val="0000FF"/>
              </a:solidFill>
            </a:endParaRPr>
          </a:p>
          <a:p>
            <a:pPr algn="just" eaLnBrk="1" hangingPunct="1">
              <a:buFont typeface="Wingdings 2" panose="05020102010507070707" pitchFamily="18" charset="2"/>
              <a:buNone/>
            </a:pPr>
            <a:r>
              <a:rPr lang="en-US" altLang="zh-CN" sz="2000" dirty="0" smtClean="0">
                <a:solidFill>
                  <a:srgbClr val="0000FF"/>
                </a:solidFill>
              </a:rPr>
              <a:t>		</a:t>
            </a:r>
            <a:r>
              <a:rPr lang="en-US" altLang="zh-CN" sz="2000" dirty="0" err="1" smtClean="0">
                <a:solidFill>
                  <a:srgbClr val="0000FF"/>
                </a:solidFill>
              </a:rPr>
              <a:t>int</a:t>
            </a:r>
            <a:r>
              <a:rPr lang="en-US" altLang="zh-CN" sz="2000" dirty="0" smtClean="0">
                <a:solidFill>
                  <a:srgbClr val="0000FF"/>
                </a:solidFill>
              </a:rPr>
              <a:t> &amp;r;  //error</a:t>
            </a:r>
            <a:endParaRPr lang="zh-CN" altLang="en-US" sz="2000" dirty="0" smtClean="0">
              <a:solidFill>
                <a:srgbClr val="0000FF"/>
              </a:solidFill>
            </a:endParaRPr>
          </a:p>
          <a:p>
            <a:pPr lvl="1"/>
            <a:r>
              <a:rPr lang="zh-CN" altLang="en-US" b="1" dirty="0" smtClean="0">
                <a:solidFill>
                  <a:srgbClr val="FF0000"/>
                </a:solidFill>
              </a:rPr>
              <a:t>引用运算符也可以在函数声明时作为参数</a:t>
            </a:r>
            <a:endParaRPr lang="zh-CN" altLang="en-US" dirty="0" smtClean="0"/>
          </a:p>
          <a:p>
            <a:pPr algn="just" eaLnBrk="1" hangingPunct="1">
              <a:buFont typeface="Wingdings 2" panose="05020102010507070707" pitchFamily="18" charset="2"/>
              <a:buNone/>
            </a:pPr>
            <a:r>
              <a:rPr lang="en-US" altLang="zh-CN" sz="2000" dirty="0" smtClean="0">
                <a:solidFill>
                  <a:srgbClr val="0000FF"/>
                </a:solidFill>
              </a:rPr>
              <a:t>		void swap( </a:t>
            </a:r>
            <a:r>
              <a:rPr lang="en-US" altLang="zh-CN" sz="2000" dirty="0" err="1" smtClean="0">
                <a:solidFill>
                  <a:srgbClr val="0000FF"/>
                </a:solidFill>
              </a:rPr>
              <a:t>int</a:t>
            </a:r>
            <a:r>
              <a:rPr lang="en-US" altLang="zh-CN" sz="2000" dirty="0" smtClean="0">
                <a:solidFill>
                  <a:srgbClr val="0000FF"/>
                </a:solidFill>
              </a:rPr>
              <a:t> &amp;a, </a:t>
            </a:r>
            <a:r>
              <a:rPr lang="en-US" altLang="zh-CN" sz="2000" dirty="0" err="1" smtClean="0">
                <a:solidFill>
                  <a:srgbClr val="0000FF"/>
                </a:solidFill>
              </a:rPr>
              <a:t>int</a:t>
            </a:r>
            <a:r>
              <a:rPr lang="en-US" altLang="zh-CN" sz="2000" dirty="0" smtClean="0">
                <a:solidFill>
                  <a:srgbClr val="0000FF"/>
                </a:solidFill>
              </a:rPr>
              <a:t> &amp;b); //ok</a:t>
            </a:r>
            <a:endParaRPr lang="en-US" altLang="zh-CN" sz="2000" dirty="0" smtClean="0">
              <a:solidFill>
                <a:srgbClr val="0000FF"/>
              </a:solidFill>
            </a:endParaRPr>
          </a:p>
          <a:p>
            <a:pPr eaLnBrk="1" hangingPunct="1">
              <a:buNone/>
            </a:pPr>
            <a:endParaRPr lang="zh-CN" altLang="en-US" dirty="0" smtClean="0"/>
          </a:p>
          <a:p>
            <a:pPr eaLnBrk="1" hangingPunct="1"/>
            <a:endParaRPr lang="zh-CN" altLang="en-US" dirty="0" smtClean="0">
              <a:solidFill>
                <a:srgbClr val="FF00FF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引用的操作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+mn-ea"/>
              </a:rPr>
              <a:t>引用要注意的地方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sz="2000" dirty="0" smtClean="0"/>
              <a:t>与指针类似</a:t>
            </a:r>
            <a:r>
              <a:rPr lang="en-US" altLang="zh-CN" sz="2000" dirty="0" smtClean="0"/>
              <a:t>,</a:t>
            </a:r>
            <a:r>
              <a:rPr lang="zh-CN" altLang="en-US" sz="2000" dirty="0" smtClean="0"/>
              <a:t>下面三种声明引用的方法都是合法的</a:t>
            </a:r>
            <a:r>
              <a:rPr lang="en-US" altLang="zh-CN" sz="2000" dirty="0" smtClean="0"/>
              <a:t>:</a:t>
            </a:r>
            <a:endParaRPr lang="en-US" altLang="zh-CN" sz="2000" dirty="0" smtClean="0"/>
          </a:p>
          <a:p>
            <a:pPr algn="just" eaLnBrk="1" hangingPunct="1">
              <a:buFont typeface="Wingdings 2" panose="05020102010507070707" pitchFamily="18" charset="2"/>
              <a:buNone/>
            </a:pPr>
            <a:r>
              <a:rPr lang="en-US" altLang="zh-CN" sz="2000" dirty="0" smtClean="0"/>
              <a:t>                   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&amp;     </a:t>
            </a:r>
            <a:r>
              <a:rPr lang="en-US" altLang="zh-CN" sz="2000" dirty="0" err="1" smtClean="0"/>
              <a:t>ri</a:t>
            </a:r>
            <a:r>
              <a:rPr lang="en-US" altLang="zh-CN" sz="2000" dirty="0" smtClean="0"/>
              <a:t> =a ;</a:t>
            </a:r>
            <a:endParaRPr lang="en-US" altLang="zh-CN" sz="2000" dirty="0" smtClean="0"/>
          </a:p>
          <a:p>
            <a:pPr algn="just" eaLnBrk="1" hangingPunct="1">
              <a:buFont typeface="Wingdings 2" panose="05020102010507070707" pitchFamily="18" charset="2"/>
              <a:buNone/>
            </a:pPr>
            <a:r>
              <a:rPr lang="en-US" altLang="zh-CN" sz="2000" dirty="0" smtClean="0"/>
              <a:t>                   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    &amp;</a:t>
            </a:r>
            <a:r>
              <a:rPr lang="en-US" altLang="zh-CN" sz="2000" dirty="0" err="1" smtClean="0"/>
              <a:t>ri</a:t>
            </a:r>
            <a:r>
              <a:rPr lang="en-US" altLang="zh-CN" sz="2000" dirty="0" smtClean="0"/>
              <a:t> =a;</a:t>
            </a:r>
            <a:endParaRPr lang="en-US" altLang="zh-CN" sz="2000" dirty="0" smtClean="0"/>
          </a:p>
          <a:p>
            <a:pPr algn="just" eaLnBrk="1" hangingPunct="1">
              <a:buFont typeface="Wingdings 2" panose="05020102010507070707" pitchFamily="18" charset="2"/>
              <a:buNone/>
            </a:pPr>
            <a:r>
              <a:rPr lang="en-US" altLang="zh-CN" sz="2000" dirty="0" smtClean="0"/>
              <a:t>                   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 &amp;   </a:t>
            </a:r>
            <a:r>
              <a:rPr lang="en-US" altLang="zh-CN" sz="2000" dirty="0" err="1" smtClean="0"/>
              <a:t>ri</a:t>
            </a:r>
            <a:r>
              <a:rPr lang="en-US" altLang="zh-CN" sz="2000" dirty="0" smtClean="0"/>
              <a:t>  =a;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下面语句包含一个引用的声明和一个变量的定义</a:t>
            </a:r>
            <a:r>
              <a:rPr lang="en-US" altLang="zh-CN" sz="2000" dirty="0" smtClean="0"/>
              <a:t>:</a:t>
            </a:r>
            <a:endParaRPr lang="en-US" altLang="zh-CN" sz="2000" dirty="0" smtClean="0"/>
          </a:p>
          <a:p>
            <a:pPr algn="just" eaLnBrk="1" hangingPunct="1">
              <a:buFont typeface="Wingdings 2" panose="05020102010507070707" pitchFamily="18" charset="2"/>
              <a:buNone/>
            </a:pPr>
            <a:r>
              <a:rPr lang="en-US" altLang="zh-CN" sz="2000" i="1" dirty="0" smtClean="0">
                <a:solidFill>
                  <a:srgbClr val="FFFF00"/>
                </a:solidFill>
              </a:rPr>
              <a:t>          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&amp; </a:t>
            </a:r>
            <a:r>
              <a:rPr lang="en-US" altLang="zh-CN" sz="2000" dirty="0" err="1" smtClean="0"/>
              <a:t>ri</a:t>
            </a:r>
            <a:r>
              <a:rPr lang="en-US" altLang="zh-CN" sz="2000" dirty="0" smtClean="0"/>
              <a:t>  , b ;   </a:t>
            </a:r>
            <a:r>
              <a:rPr lang="en-US" altLang="zh-CN" sz="20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//</a:t>
            </a:r>
            <a:r>
              <a:rPr lang="zh-CN" altLang="en-US" sz="20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会误解为声明了两个引用，也是</a:t>
            </a:r>
            <a:r>
              <a:rPr lang="en-US" altLang="zh-CN" sz="20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error </a:t>
            </a:r>
            <a:endParaRPr lang="zh-CN" altLang="en-US" sz="2000" dirty="0" smtClean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1"/>
            <a:r>
              <a:rPr lang="zh-CN" altLang="en-US" dirty="0" smtClean="0"/>
              <a:t>为了提高可读性</a:t>
            </a:r>
            <a:r>
              <a:rPr lang="en-US" altLang="zh-CN" dirty="0" smtClean="0"/>
              <a:t>,</a:t>
            </a:r>
            <a:r>
              <a:rPr lang="zh-CN" altLang="en-US" dirty="0" smtClean="0">
                <a:solidFill>
                  <a:srgbClr val="FF33CC"/>
                </a:solidFill>
              </a:rPr>
              <a:t>不应在同一行上同时声明引用、指针和变量。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引用的操作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+mn-ea"/>
              </a:rPr>
              <a:t>引用要注意的地方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>
                <a:solidFill>
                  <a:srgbClr val="FF0000"/>
                </a:solidFill>
                <a:latin typeface="+mn-ea"/>
              </a:rPr>
              <a:t>不能对</a:t>
            </a:r>
            <a:r>
              <a:rPr lang="en-US" altLang="zh-CN" dirty="0" smtClean="0">
                <a:solidFill>
                  <a:srgbClr val="FF0000"/>
                </a:solidFill>
                <a:latin typeface="+mn-ea"/>
              </a:rPr>
              <a:t>void</a:t>
            </a:r>
            <a:r>
              <a:rPr lang="zh-CN" altLang="en-US" dirty="0" smtClean="0">
                <a:solidFill>
                  <a:srgbClr val="FF0000"/>
                </a:solidFill>
                <a:latin typeface="+mn-ea"/>
              </a:rPr>
              <a:t>进行引用</a:t>
            </a:r>
            <a:r>
              <a:rPr lang="zh-CN" altLang="en-US" dirty="0" smtClean="0">
                <a:latin typeface="+mn-ea"/>
              </a:rPr>
              <a:t>，例如 </a:t>
            </a:r>
            <a:endParaRPr lang="zh-CN" altLang="en-US" dirty="0" smtClean="0">
              <a:latin typeface="+mn-ea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latin typeface="+mn-ea"/>
              </a:rPr>
              <a:t>		</a:t>
            </a:r>
            <a:r>
              <a:rPr lang="en-US" altLang="zh-CN" dirty="0" smtClean="0">
                <a:latin typeface="+mn-ea"/>
              </a:rPr>
              <a:t>void &amp;</a:t>
            </a:r>
            <a:r>
              <a:rPr lang="en-US" altLang="zh-CN" dirty="0" err="1" smtClean="0">
                <a:latin typeface="+mn-ea"/>
              </a:rPr>
              <a:t>ra</a:t>
            </a:r>
            <a:r>
              <a:rPr lang="en-US" altLang="zh-CN" dirty="0" smtClean="0">
                <a:latin typeface="+mn-ea"/>
              </a:rPr>
              <a:t> = 3;</a:t>
            </a:r>
            <a:endParaRPr lang="en-US" altLang="zh-CN" dirty="0" smtClean="0">
              <a:latin typeface="+mn-ea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latin typeface="+mn-ea"/>
              </a:rPr>
              <a:t>	</a:t>
            </a:r>
            <a:r>
              <a:rPr lang="zh-CN" altLang="en-US" sz="2000" dirty="0" smtClean="0">
                <a:latin typeface="+mn-ea"/>
              </a:rPr>
              <a:t>这样的写法是错误的。这是因为</a:t>
            </a:r>
            <a:r>
              <a:rPr lang="en-US" altLang="zh-CN" sz="2000" dirty="0" smtClean="0">
                <a:latin typeface="+mn-ea"/>
              </a:rPr>
              <a:t>void</a:t>
            </a:r>
            <a:r>
              <a:rPr lang="zh-CN" altLang="en-US" sz="2000" dirty="0" smtClean="0">
                <a:latin typeface="+mn-ea"/>
              </a:rPr>
              <a:t>只是在语法上相当于一个类型，但其本质上并不是一个类型，因为没有任何一个变量或者对象其类型是</a:t>
            </a:r>
            <a:r>
              <a:rPr lang="en-US" altLang="zh-CN" sz="2000" dirty="0" smtClean="0">
                <a:latin typeface="+mn-ea"/>
              </a:rPr>
              <a:t>void</a:t>
            </a:r>
            <a:r>
              <a:rPr lang="zh-CN" altLang="en-US" sz="2000" dirty="0" smtClean="0">
                <a:latin typeface="+mn-ea"/>
              </a:rPr>
              <a:t>的。</a:t>
            </a:r>
            <a:endParaRPr lang="zh-CN" altLang="en-US" dirty="0" smtClean="0">
              <a:latin typeface="+mn-ea"/>
            </a:endParaRPr>
          </a:p>
          <a:p>
            <a:pPr lvl="1"/>
            <a:r>
              <a:rPr lang="zh-CN" altLang="en-US" dirty="0" smtClean="0">
                <a:solidFill>
                  <a:srgbClr val="FF0000"/>
                </a:solidFill>
                <a:latin typeface="+mn-ea"/>
              </a:rPr>
              <a:t>不能对数组建立引用</a:t>
            </a:r>
            <a:r>
              <a:rPr lang="zh-CN" altLang="en-US" dirty="0" smtClean="0">
                <a:latin typeface="+mn-ea"/>
              </a:rPr>
              <a:t>，例如</a:t>
            </a:r>
            <a:endParaRPr lang="zh-CN" altLang="en-US" dirty="0" smtClean="0">
              <a:latin typeface="+mn-ea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>
                <a:latin typeface="+mn-ea"/>
              </a:rPr>
              <a:t>		</a:t>
            </a:r>
            <a:r>
              <a:rPr lang="en-US" altLang="zh-CN" sz="2000" dirty="0" err="1" smtClean="0">
                <a:latin typeface="+mn-ea"/>
              </a:rPr>
              <a:t>int</a:t>
            </a:r>
            <a:r>
              <a:rPr lang="en-US" altLang="zh-CN" sz="2000" dirty="0" smtClean="0">
                <a:latin typeface="+mn-ea"/>
              </a:rPr>
              <a:t> a[10];</a:t>
            </a:r>
            <a:endParaRPr lang="en-US" altLang="zh-CN" sz="2000" dirty="0" smtClean="0">
              <a:latin typeface="+mn-ea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+mn-ea"/>
              </a:rPr>
              <a:t>		</a:t>
            </a:r>
            <a:r>
              <a:rPr lang="en-US" altLang="zh-CN" sz="2000" dirty="0" err="1" smtClean="0">
                <a:latin typeface="+mn-ea"/>
              </a:rPr>
              <a:t>int</a:t>
            </a:r>
            <a:r>
              <a:rPr lang="en-US" altLang="zh-CN" sz="2000" dirty="0" smtClean="0">
                <a:latin typeface="+mn-ea"/>
              </a:rPr>
              <a:t> &amp;</a:t>
            </a:r>
            <a:r>
              <a:rPr lang="en-US" altLang="zh-CN" sz="2000" dirty="0" err="1" smtClean="0">
                <a:latin typeface="+mn-ea"/>
              </a:rPr>
              <a:t>ra</a:t>
            </a:r>
            <a:r>
              <a:rPr lang="en-US" altLang="zh-CN" sz="2000" dirty="0" smtClean="0">
                <a:latin typeface="+mn-ea"/>
              </a:rPr>
              <a:t> = a; //error,</a:t>
            </a:r>
            <a:r>
              <a:rPr lang="zh-CN" altLang="en-US" sz="2000" dirty="0" smtClean="0">
                <a:latin typeface="+mn-ea"/>
              </a:rPr>
              <a:t>因为数组名是数组空间的首地址，其本身并不是一个数据类型。</a:t>
            </a:r>
            <a:endParaRPr lang="en-US" altLang="zh-CN" sz="2000" dirty="0" smtClean="0">
              <a:latin typeface="+mn-ea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>
                <a:latin typeface="+mn-ea"/>
              </a:rPr>
              <a:t>		</a:t>
            </a:r>
            <a:r>
              <a:rPr lang="en-US" altLang="zh-CN" sz="2000" dirty="0" err="1" smtClean="0">
                <a:latin typeface="+mn-ea"/>
              </a:rPr>
              <a:t>int</a:t>
            </a:r>
            <a:r>
              <a:rPr lang="en-US" altLang="zh-CN" sz="2000" dirty="0" smtClean="0">
                <a:latin typeface="+mn-ea"/>
              </a:rPr>
              <a:t> &amp;</a:t>
            </a:r>
            <a:r>
              <a:rPr lang="en-US" altLang="zh-CN" sz="2000" dirty="0" err="1" smtClean="0">
                <a:latin typeface="+mn-ea"/>
              </a:rPr>
              <a:t>ra</a:t>
            </a:r>
            <a:r>
              <a:rPr lang="en-US" altLang="zh-CN" sz="2000" dirty="0" smtClean="0">
                <a:latin typeface="+mn-ea"/>
              </a:rPr>
              <a:t> = a[0]; //ok,</a:t>
            </a:r>
            <a:r>
              <a:rPr lang="zh-CN" altLang="en-US" sz="2000" dirty="0" smtClean="0">
                <a:latin typeface="+mn-ea"/>
              </a:rPr>
              <a:t>对某个数组元素引用是可以的</a:t>
            </a:r>
            <a:endParaRPr lang="zh-CN" altLang="en-US" sz="2000" dirty="0" smtClean="0">
              <a:latin typeface="+mn-ea"/>
            </a:endParaRPr>
          </a:p>
          <a:p>
            <a:pPr algn="just" eaLnBrk="1" hangingPunct="1">
              <a:buFont typeface="Wingdings 2" panose="05020102010507070707" pitchFamily="18" charset="2"/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引用的操作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引用与指针的区别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dirty="0" smtClean="0"/>
              <a:t>通过引用和指针，都可以操作它们所指向的目标对象，但是它们在使用上有很大的差别。这种差别主要体现在：</a:t>
            </a:r>
            <a:endParaRPr lang="en-US" altLang="zh-CN" dirty="0" smtClean="0"/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指针是个变量</a:t>
            </a:r>
            <a:r>
              <a:rPr lang="zh-CN" altLang="en-US" dirty="0" smtClean="0"/>
              <a:t>，可以在程序中改变指针所指向的目标；而引用是一个声明，</a:t>
            </a:r>
            <a:r>
              <a:rPr lang="zh-CN" altLang="en-US" dirty="0" smtClean="0">
                <a:solidFill>
                  <a:srgbClr val="FF0000"/>
                </a:solidFill>
              </a:rPr>
              <a:t>引用不是值，不占内存空间</a:t>
            </a:r>
            <a:r>
              <a:rPr lang="zh-CN" altLang="en-US" dirty="0" smtClean="0"/>
              <a:t>，在声明引用时必须给它初始化，并且引用在初始化后，不可以再关联其他的目标对象。</a:t>
            </a:r>
            <a:endParaRPr lang="zh-CN" altLang="en-US" dirty="0" smtClean="0"/>
          </a:p>
          <a:p>
            <a:pPr algn="just" eaLnBrk="1" hangingPunct="1">
              <a:buFont typeface="Wingdings 2" panose="05020102010507070707" pitchFamily="18" charset="2"/>
              <a:buNone/>
            </a:pPr>
            <a:r>
              <a:rPr lang="en-US" altLang="zh-CN" sz="2000" dirty="0" smtClean="0"/>
              <a:t>      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引用的操作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不是所有的类型都可以被引用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不能声明引用的引用，因为引用本身不是一种数据类型，所以没有引用的引用。同时由于引用不是类型，在声明引用时，在概念上，计算机不会为引用分配空间，所以不可以定义引用的指针。</a:t>
            </a:r>
            <a:endParaRPr lang="en-US" altLang="zh-CN" dirty="0" smtClean="0">
              <a:latin typeface="+mn-ea"/>
            </a:endParaRPr>
          </a:p>
          <a:p>
            <a:pPr lvl="1"/>
            <a:r>
              <a:rPr lang="zh-CN" altLang="en-US" sz="2000" dirty="0" smtClean="0"/>
              <a:t>有空指针，但是没有空引用，例如不能这样写：</a:t>
            </a:r>
            <a:endParaRPr lang="zh-CN" altLang="en-US" sz="2000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000" dirty="0" smtClean="0"/>
              <a:t>		</a:t>
            </a:r>
            <a:r>
              <a:rPr lang="en-US" altLang="zh-CN" sz="2000" dirty="0" err="1" smtClean="0"/>
              <a:t>int</a:t>
            </a:r>
            <a:r>
              <a:rPr lang="en-US" altLang="zh-CN" sz="2000" dirty="0" smtClean="0"/>
              <a:t> &amp;r = NULL;</a:t>
            </a:r>
            <a:endParaRPr lang="en-US" altLang="zh-CN" sz="2000" dirty="0" smtClean="0"/>
          </a:p>
          <a:p>
            <a:pPr eaLnBrk="1" hangingPunct="1"/>
            <a:r>
              <a:rPr lang="zh-CN" altLang="en-US" dirty="0" smtClean="0"/>
              <a:t>可以建立指针变量的引用：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	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=5;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	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*p= &amp;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;    // </a:t>
            </a:r>
            <a:r>
              <a:rPr lang="zh-CN" altLang="en-US" dirty="0" smtClean="0"/>
              <a:t>定义指针变量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，指向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endParaRPr lang="zh-CN" altLang="en-US" dirty="0" smtClean="0"/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	</a:t>
            </a:r>
            <a:r>
              <a:rPr lang="en-US" altLang="zh-CN" dirty="0" err="1" smtClean="0">
                <a:solidFill>
                  <a:srgbClr val="FF0000"/>
                </a:solidFill>
              </a:rPr>
              <a:t>int</a:t>
            </a:r>
            <a:r>
              <a:rPr lang="en-US" altLang="zh-CN" dirty="0" smtClean="0">
                <a:solidFill>
                  <a:srgbClr val="FF0000"/>
                </a:solidFill>
              </a:rPr>
              <a:t> * &amp;t = p</a:t>
            </a:r>
            <a:r>
              <a:rPr lang="en-US" altLang="zh-CN" dirty="0" smtClean="0"/>
              <a:t>;  // t </a:t>
            </a:r>
            <a:r>
              <a:rPr lang="zh-CN" altLang="en-US" dirty="0" smtClean="0"/>
              <a:t>是指向整形变量的指针变量的引用，初始化为</a:t>
            </a:r>
            <a:r>
              <a:rPr lang="en-US" altLang="zh-CN" dirty="0" smtClean="0"/>
              <a:t>p.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	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 *pt = &amp;t; // </a:t>
            </a:r>
            <a:r>
              <a:rPr lang="zh-CN" altLang="en-US" dirty="0" smtClean="0"/>
              <a:t>错误，</a:t>
            </a:r>
            <a:r>
              <a:rPr lang="en-US" altLang="zh-CN" dirty="0" smtClean="0"/>
              <a:t>t</a:t>
            </a:r>
            <a:r>
              <a:rPr lang="zh-CN" altLang="en-US" dirty="0" smtClean="0"/>
              <a:t>没有空间，不能用指针指向</a:t>
            </a:r>
            <a:endParaRPr lang="en-US" altLang="zh-CN" dirty="0" smtClean="0"/>
          </a:p>
          <a:p>
            <a:pPr lvl="1">
              <a:buNone/>
              <a:defRPr/>
            </a:pPr>
            <a:r>
              <a:rPr lang="zh-CN" altLang="en-US" dirty="0" smtClean="0"/>
              <a:t>	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 &amp;pt = &amp;t; // </a:t>
            </a:r>
            <a:r>
              <a:rPr lang="zh-CN" altLang="en-US" dirty="0" smtClean="0"/>
              <a:t>错误，</a:t>
            </a:r>
            <a:r>
              <a:rPr lang="en-US" altLang="zh-CN" dirty="0" smtClean="0"/>
              <a:t>t</a:t>
            </a:r>
            <a:r>
              <a:rPr lang="zh-CN" altLang="en-US" dirty="0" smtClean="0"/>
              <a:t>没有空间，不存在</a:t>
            </a:r>
            <a:r>
              <a:rPr lang="en-US" altLang="zh-CN" dirty="0" smtClean="0"/>
              <a:t>t</a:t>
            </a:r>
            <a:r>
              <a:rPr lang="zh-CN" altLang="en-US" dirty="0" smtClean="0"/>
              <a:t>的内存地址，因此不用其他别名引用</a:t>
            </a:r>
            <a:r>
              <a:rPr lang="en-US" altLang="zh-CN" dirty="0" smtClean="0"/>
              <a:t>t</a:t>
            </a:r>
            <a:r>
              <a:rPr lang="zh-CN" altLang="en-US" dirty="0" smtClean="0"/>
              <a:t>的地址</a:t>
            </a:r>
            <a:endParaRPr lang="en-US" altLang="zh-CN" dirty="0" smtClean="0"/>
          </a:p>
          <a:p>
            <a:pPr lvl="1">
              <a:buNone/>
              <a:defRPr/>
            </a:pPr>
            <a:r>
              <a:rPr lang="en-US" altLang="zh-CN" dirty="0" smtClean="0"/>
              <a:t>	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&amp;pt = t; //ok，</a:t>
            </a:r>
            <a:r>
              <a:rPr lang="zh-CN" altLang="en-US" dirty="0" smtClean="0"/>
              <a:t>对引用再引用是可以的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None/>
              <a:defRPr/>
            </a:pPr>
            <a:endParaRPr lang="zh-CN" altLang="en-US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000" dirty="0" smtClean="0"/>
          </a:p>
          <a:p>
            <a:pPr algn="just" eaLnBrk="1" hangingPunct="1">
              <a:buFont typeface="Wingdings 2" panose="05020102010507070707" pitchFamily="18" charset="2"/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3.</a:t>
            </a:r>
            <a:r>
              <a:rPr lang="zh-CN" altLang="en-US" sz="4000" dirty="0" smtClean="0"/>
              <a:t>引用的类型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928694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2" charset="-122"/>
              </a:rPr>
              <a:t>引用用在函数参数的传递上</a:t>
            </a:r>
            <a:endParaRPr lang="en-US" altLang="zh-CN" dirty="0" smtClean="0">
              <a:ea typeface="黑体" panose="02010609060101010101" pitchFamily="2" charset="-122"/>
            </a:endParaRPr>
          </a:p>
          <a:p>
            <a:pPr eaLnBrk="1" hangingPunct="1"/>
            <a:endParaRPr lang="en-US" altLang="zh-CN" dirty="0" smtClean="0"/>
          </a:p>
          <a:p>
            <a:pPr algn="just" eaLnBrk="1" hangingPunct="1">
              <a:buFont typeface="Wingdings 2" panose="05020102010507070707" pitchFamily="18" charset="2"/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4.</a:t>
            </a:r>
            <a:r>
              <a:rPr lang="zh-CN" altLang="en-US" sz="4000" dirty="0" smtClean="0"/>
              <a:t>引用与函数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27038" y="2046288"/>
            <a:ext cx="3889375" cy="2545958"/>
          </a:xfrm>
          <a:prstGeom prst="rect">
            <a:avLst/>
          </a:prstGeom>
          <a:solidFill>
            <a:srgbClr val="C5D3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lIns="82936" tIns="41468" rIns="82936" bIns="41468" anchor="ctr">
            <a:spAutoFit/>
          </a:bodyPr>
          <a:lstStyle/>
          <a:p>
            <a:pPr defTabSz="912495"/>
            <a:r>
              <a:rPr lang="en-US" altLang="zh-CN" sz="2000" dirty="0"/>
              <a:t>#include &lt;</a:t>
            </a:r>
            <a:r>
              <a:rPr lang="en-US" altLang="zh-CN" sz="2000" smtClean="0"/>
              <a:t>iostream&gt;</a:t>
            </a:r>
            <a:endParaRPr lang="en-US" altLang="zh-CN" sz="2000" dirty="0"/>
          </a:p>
          <a:p>
            <a:pPr defTabSz="912495"/>
            <a:r>
              <a:rPr lang="en-US" altLang="zh-CN" sz="2000" dirty="0"/>
              <a:t>void swap (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&amp;a,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&amp;b )</a:t>
            </a:r>
            <a:endParaRPr lang="en-US" altLang="zh-CN" sz="2000" dirty="0"/>
          </a:p>
          <a:p>
            <a:pPr defTabSz="912495"/>
            <a:r>
              <a:rPr lang="en-US" altLang="zh-CN" sz="2000" dirty="0"/>
              <a:t>{ </a:t>
            </a:r>
            <a:endParaRPr lang="en-US" altLang="zh-CN" sz="2000" dirty="0"/>
          </a:p>
          <a:p>
            <a:pPr defTabSz="912495"/>
            <a:r>
              <a:rPr lang="en-US" altLang="zh-CN" sz="2000" dirty="0"/>
              <a:t>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temp;</a:t>
            </a:r>
            <a:endParaRPr lang="en-US" altLang="zh-CN" sz="2000" dirty="0"/>
          </a:p>
          <a:p>
            <a:pPr defTabSz="912495"/>
            <a:r>
              <a:rPr lang="en-US" altLang="zh-CN" sz="2000" dirty="0"/>
              <a:t>  temp = a;</a:t>
            </a:r>
            <a:endParaRPr lang="en-US" altLang="zh-CN" sz="2000" dirty="0"/>
          </a:p>
          <a:p>
            <a:pPr defTabSz="912495"/>
            <a:r>
              <a:rPr lang="en-US" altLang="zh-CN" sz="2000" dirty="0"/>
              <a:t>  a = b;</a:t>
            </a:r>
            <a:endParaRPr lang="en-US" altLang="zh-CN" sz="2000" dirty="0"/>
          </a:p>
          <a:p>
            <a:pPr defTabSz="912495"/>
            <a:r>
              <a:rPr lang="en-US" altLang="zh-CN" sz="2000" dirty="0"/>
              <a:t>  b = temp;</a:t>
            </a:r>
            <a:endParaRPr lang="en-US" altLang="zh-CN" sz="2000" dirty="0"/>
          </a:p>
          <a:p>
            <a:pPr defTabSz="912495"/>
            <a:r>
              <a:rPr lang="en-US" altLang="zh-CN" sz="2000" dirty="0"/>
              <a:t>}</a:t>
            </a:r>
            <a:endParaRPr lang="zh-CN" altLang="en-US" sz="2000" dirty="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641850" y="2046288"/>
            <a:ext cx="4032250" cy="2545958"/>
          </a:xfrm>
          <a:prstGeom prst="rect">
            <a:avLst/>
          </a:prstGeom>
          <a:solidFill>
            <a:srgbClr val="C5D3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lIns="82936" tIns="41468" rIns="82936" bIns="41468" anchor="ctr">
            <a:spAutoFit/>
          </a:bodyPr>
          <a:lstStyle/>
          <a:p>
            <a:pPr defTabSz="912495"/>
            <a:r>
              <a:rPr lang="en-US" altLang="zh-CN" sz="2000" dirty="0"/>
              <a:t>void main( )</a:t>
            </a:r>
            <a:endParaRPr lang="en-US" altLang="zh-CN" sz="2000" dirty="0"/>
          </a:p>
          <a:p>
            <a:pPr defTabSz="912495"/>
            <a:r>
              <a:rPr lang="en-US" altLang="zh-CN" sz="2000" dirty="0"/>
              <a:t>{ </a:t>
            </a:r>
            <a:endParaRPr lang="en-US" altLang="zh-CN" sz="2000" dirty="0"/>
          </a:p>
          <a:p>
            <a:pPr defTabSz="912495"/>
            <a:r>
              <a:rPr lang="en-US" altLang="zh-CN" sz="2000" dirty="0"/>
              <a:t> 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=3, j=5;</a:t>
            </a:r>
            <a:endParaRPr lang="en-US" altLang="zh-CN" sz="2000" dirty="0"/>
          </a:p>
          <a:p>
            <a:pPr defTabSz="912495"/>
            <a:r>
              <a:rPr lang="en-US" altLang="zh-CN" sz="2000" dirty="0"/>
              <a:t>  swap (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j );</a:t>
            </a:r>
            <a:endParaRPr lang="en-US" altLang="zh-CN" sz="2000" dirty="0"/>
          </a:p>
          <a:p>
            <a:pPr defTabSz="912495"/>
            <a:r>
              <a:rPr lang="en-US" altLang="zh-CN" sz="2000" dirty="0"/>
              <a:t>  </a:t>
            </a:r>
            <a:r>
              <a:rPr lang="en-US" altLang="zh-CN" sz="2000" dirty="0" err="1"/>
              <a:t>cout</a:t>
            </a:r>
            <a:r>
              <a:rPr lang="en-US" altLang="zh-CN" sz="2000" dirty="0"/>
              <a:t>&lt;&lt;</a:t>
            </a:r>
            <a:r>
              <a:rPr lang="en-US" altLang="zh-CN" sz="2000" dirty="0" err="1"/>
              <a:t>i</a:t>
            </a:r>
            <a:r>
              <a:rPr lang="en-US" altLang="zh-CN" sz="2000" dirty="0"/>
              <a:t>&lt;&lt;“,”&lt;&lt;j&lt;&lt;</a:t>
            </a:r>
            <a:r>
              <a:rPr lang="en-US" altLang="zh-CN" sz="2000" dirty="0" err="1"/>
              <a:t>endl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 defTabSz="912495"/>
            <a:r>
              <a:rPr lang="en-US" altLang="zh-CN" sz="2000" dirty="0"/>
              <a:t>}</a:t>
            </a:r>
            <a:endParaRPr lang="en-US" altLang="zh-CN" sz="2000" dirty="0"/>
          </a:p>
          <a:p>
            <a:pPr defTabSz="912495"/>
            <a:r>
              <a:rPr lang="zh-CN" altLang="en-US" sz="2000" dirty="0"/>
              <a:t>运行结果，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j </a:t>
            </a:r>
            <a:r>
              <a:rPr lang="zh-CN" altLang="en-US" sz="2000" dirty="0"/>
              <a:t>是</a:t>
            </a:r>
            <a:r>
              <a:rPr lang="en-US" altLang="zh-CN" sz="2000" dirty="0"/>
              <a:t>5</a:t>
            </a:r>
            <a:r>
              <a:rPr lang="zh-CN" altLang="en-US" sz="2000" dirty="0"/>
              <a:t>，</a:t>
            </a:r>
            <a:r>
              <a:rPr lang="en-US" altLang="zh-CN" sz="2000" dirty="0"/>
              <a:t>3</a:t>
            </a:r>
            <a:r>
              <a:rPr lang="zh-CN" altLang="en-US" sz="2000" dirty="0"/>
              <a:t>。</a:t>
            </a:r>
            <a:endParaRPr lang="zh-CN" altLang="en-US" sz="2000" dirty="0"/>
          </a:p>
          <a:p>
            <a:pPr defTabSz="912495"/>
            <a:r>
              <a:rPr lang="zh-CN" altLang="en-US" sz="2000" dirty="0"/>
              <a:t>变量值发生交换。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500034" y="5000636"/>
            <a:ext cx="6786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注意上述函数声明和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void swap( 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int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 a, 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int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 b)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的区别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在程序中，可以用传递</a:t>
            </a:r>
            <a:r>
              <a:rPr lang="en-US" altLang="zh-CN" dirty="0" smtClean="0"/>
              <a:t>const</a:t>
            </a:r>
            <a:r>
              <a:rPr lang="zh-CN" altLang="en-US" dirty="0" smtClean="0"/>
              <a:t>指针或引用的方法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000" dirty="0" smtClean="0"/>
          </a:p>
          <a:p>
            <a:pPr algn="just" eaLnBrk="1" hangingPunct="1">
              <a:buFont typeface="Wingdings 2" panose="05020102010507070707" pitchFamily="18" charset="2"/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5.</a:t>
            </a:r>
            <a:r>
              <a:rPr lang="zh-CN" altLang="en-US" sz="4000" dirty="0" smtClean="0"/>
              <a:t>限定引用</a:t>
            </a:r>
            <a:r>
              <a:rPr lang="zh-CN" altLang="en-US" dirty="0" smtClean="0">
                <a:solidFill>
                  <a:srgbClr val="FF0000"/>
                </a:solidFill>
              </a:rPr>
              <a:t>（自学）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857224" y="1785926"/>
            <a:ext cx="3500462" cy="427809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1600" dirty="0" smtClean="0"/>
              <a:t>#include &lt;</a:t>
            </a:r>
            <a:r>
              <a:rPr lang="en-US" altLang="zh-CN" sz="1600" dirty="0" err="1" smtClean="0"/>
              <a:t>iostream</a:t>
            </a:r>
            <a:r>
              <a:rPr lang="en-US" altLang="zh-CN" sz="1600" dirty="0" smtClean="0"/>
              <a:t>&gt;</a:t>
            </a:r>
            <a:endParaRPr lang="en-US" altLang="zh-CN" sz="1600" dirty="0" smtClean="0"/>
          </a:p>
          <a:p>
            <a:r>
              <a:rPr lang="en-US" altLang="zh-CN" sz="1600" b="1" dirty="0" smtClean="0">
                <a:solidFill>
                  <a:srgbClr val="FF0000"/>
                </a:solidFill>
              </a:rPr>
              <a:t>double*</a:t>
            </a:r>
            <a:r>
              <a:rPr lang="en-US" altLang="zh-CN" sz="1600" dirty="0" smtClean="0"/>
              <a:t> </a:t>
            </a:r>
            <a:r>
              <a:rPr lang="en-US" altLang="zh-CN" sz="1600" b="1" dirty="0" smtClean="0">
                <a:solidFill>
                  <a:srgbClr val="FF0000"/>
                </a:solidFill>
              </a:rPr>
              <a:t>fn(const double* pd</a:t>
            </a:r>
            <a:r>
              <a:rPr lang="en-US" altLang="zh-CN" sz="1600" dirty="0" smtClean="0"/>
              <a:t>)</a:t>
            </a:r>
            <a:endParaRPr lang="en-US" altLang="zh-CN" sz="1600" dirty="0" smtClean="0"/>
          </a:p>
          <a:p>
            <a:r>
              <a:rPr lang="en-US" altLang="zh-CN" sz="1600" dirty="0" smtClean="0"/>
              <a:t>{  static double ad=32;</a:t>
            </a:r>
            <a:endParaRPr lang="en-US" altLang="zh-CN" sz="1600" dirty="0" smtClean="0"/>
          </a:p>
          <a:p>
            <a:r>
              <a:rPr lang="en-US" altLang="zh-CN" sz="1600" dirty="0" smtClean="0"/>
              <a:t>  ad+=*pd;</a:t>
            </a:r>
            <a:endParaRPr lang="en-US" altLang="zh-CN" sz="1600" dirty="0" smtClean="0"/>
          </a:p>
          <a:p>
            <a:r>
              <a:rPr lang="en-US" altLang="zh-CN" sz="1600" dirty="0" smtClean="0"/>
              <a:t>  </a:t>
            </a:r>
            <a:r>
              <a:rPr lang="en-US" altLang="zh-CN" sz="1600" dirty="0" err="1" smtClean="0"/>
              <a:t>cout</a:t>
            </a:r>
            <a:r>
              <a:rPr lang="en-US" altLang="zh-CN" sz="1600" dirty="0" smtClean="0"/>
              <a:t> &lt;&lt;"fn being called...the value is: " &lt;&lt;*pd &lt;&lt;</a:t>
            </a:r>
            <a:r>
              <a:rPr lang="en-US" altLang="zh-CN" sz="1600" dirty="0" err="1" smtClean="0"/>
              <a:t>endl</a:t>
            </a:r>
            <a:r>
              <a:rPr lang="en-US" altLang="zh-CN" sz="1600" dirty="0" smtClean="0"/>
              <a:t>;</a:t>
            </a:r>
            <a:endParaRPr lang="en-US" altLang="zh-CN" sz="1600" dirty="0" smtClean="0"/>
          </a:p>
          <a:p>
            <a:r>
              <a:rPr lang="en-US" altLang="zh-CN" sz="1600" dirty="0" smtClean="0"/>
              <a:t>  return &amp;ad;</a:t>
            </a:r>
            <a:endParaRPr lang="en-US" altLang="zh-CN" sz="1600" dirty="0" smtClean="0"/>
          </a:p>
          <a:p>
            <a:r>
              <a:rPr lang="en-US" altLang="zh-CN" sz="1600" dirty="0" smtClean="0"/>
              <a:t>}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en-US" altLang="zh-CN" sz="1600" dirty="0" smtClean="0"/>
              <a:t>void main()</a:t>
            </a:r>
            <a:endParaRPr lang="en-US" altLang="zh-CN" sz="1600" dirty="0" smtClean="0"/>
          </a:p>
          <a:p>
            <a:r>
              <a:rPr lang="en-US" altLang="zh-CN" sz="1600" dirty="0" smtClean="0"/>
              <a:t>{  double a=345.6;</a:t>
            </a:r>
            <a:endParaRPr lang="en-US" altLang="zh-CN" sz="1600" dirty="0" smtClean="0"/>
          </a:p>
          <a:p>
            <a:r>
              <a:rPr lang="en-US" altLang="zh-CN" sz="1600" dirty="0" smtClean="0"/>
              <a:t>  double* pa=fn(&amp;a);</a:t>
            </a:r>
            <a:endParaRPr lang="en-US" altLang="zh-CN" sz="1600" dirty="0" smtClean="0"/>
          </a:p>
          <a:p>
            <a:r>
              <a:rPr lang="en-US" altLang="zh-CN" sz="1600" dirty="0" smtClean="0"/>
              <a:t>  </a:t>
            </a:r>
            <a:r>
              <a:rPr lang="en-US" altLang="zh-CN" sz="1600" dirty="0" err="1" smtClean="0"/>
              <a:t>cout</a:t>
            </a:r>
            <a:r>
              <a:rPr lang="en-US" altLang="zh-CN" sz="1600" dirty="0" smtClean="0"/>
              <a:t> &lt;&lt;*pa &lt;&lt;</a:t>
            </a:r>
            <a:r>
              <a:rPr lang="en-US" altLang="zh-CN" sz="1600" dirty="0" err="1" smtClean="0"/>
              <a:t>endl</a:t>
            </a:r>
            <a:r>
              <a:rPr lang="en-US" altLang="zh-CN" sz="1600" dirty="0" smtClean="0"/>
              <a:t>;</a:t>
            </a:r>
            <a:endParaRPr lang="en-US" altLang="zh-CN" sz="1600" dirty="0" smtClean="0"/>
          </a:p>
          <a:p>
            <a:r>
              <a:rPr lang="en-US" altLang="zh-CN" sz="1600" dirty="0" smtClean="0"/>
              <a:t>  a=55.5;</a:t>
            </a:r>
            <a:endParaRPr lang="en-US" altLang="zh-CN" sz="1600" dirty="0" smtClean="0"/>
          </a:p>
          <a:p>
            <a:r>
              <a:rPr lang="en-US" altLang="zh-CN" sz="1600" dirty="0" smtClean="0"/>
              <a:t>  pa = fn(&amp;a); </a:t>
            </a:r>
            <a:endParaRPr lang="en-US" altLang="zh-CN" sz="1600" dirty="0" smtClean="0"/>
          </a:p>
          <a:p>
            <a:r>
              <a:rPr lang="en-US" altLang="zh-CN" sz="1600" dirty="0" smtClean="0"/>
              <a:t>  </a:t>
            </a:r>
            <a:r>
              <a:rPr lang="en-US" altLang="zh-CN" sz="1600" dirty="0" err="1" smtClean="0"/>
              <a:t>cout</a:t>
            </a:r>
            <a:r>
              <a:rPr lang="en-US" altLang="zh-CN" sz="1600" dirty="0" smtClean="0"/>
              <a:t> &lt;&lt;*pa &lt;&lt;</a:t>
            </a:r>
            <a:r>
              <a:rPr lang="en-US" altLang="zh-CN" sz="1600" dirty="0" err="1" smtClean="0"/>
              <a:t>endl</a:t>
            </a:r>
            <a:r>
              <a:rPr lang="en-US" altLang="zh-CN" sz="1600" dirty="0" smtClean="0"/>
              <a:t>;</a:t>
            </a:r>
            <a:endParaRPr lang="en-US" altLang="zh-CN" sz="1600" dirty="0" smtClean="0"/>
          </a:p>
          <a:p>
            <a:r>
              <a:rPr lang="en-US" altLang="zh-CN" sz="1600" dirty="0" smtClean="0"/>
              <a:t>}</a:t>
            </a:r>
            <a:endParaRPr lang="en-US" altLang="zh-CN" sz="1600" dirty="0"/>
          </a:p>
        </p:txBody>
      </p:sp>
      <p:sp>
        <p:nvSpPr>
          <p:cNvPr id="8" name="矩形 4"/>
          <p:cNvSpPr>
            <a:spLocks noChangeArrowheads="1"/>
          </p:cNvSpPr>
          <p:nvPr/>
        </p:nvSpPr>
        <p:spPr bwMode="auto">
          <a:xfrm>
            <a:off x="4929190" y="1714488"/>
            <a:ext cx="3857652" cy="427809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1600" dirty="0" smtClean="0"/>
              <a:t>#include &lt;</a:t>
            </a:r>
            <a:r>
              <a:rPr lang="en-US" altLang="zh-CN" sz="1600" dirty="0" err="1" smtClean="0"/>
              <a:t>iostream</a:t>
            </a:r>
            <a:r>
              <a:rPr lang="en-US" altLang="zh-CN" sz="1600" dirty="0" smtClean="0"/>
              <a:t>&gt;</a:t>
            </a:r>
            <a:endParaRPr lang="en-US" altLang="zh-CN" sz="1600" dirty="0" smtClean="0"/>
          </a:p>
          <a:p>
            <a:r>
              <a:rPr lang="en-US" altLang="zh-CN" sz="1600" b="1" dirty="0" smtClean="0">
                <a:solidFill>
                  <a:srgbClr val="FF0000"/>
                </a:solidFill>
              </a:rPr>
              <a:t>double&amp; fn(const double&amp; pd)</a:t>
            </a:r>
            <a:endParaRPr lang="en-US" altLang="zh-CN" sz="1600" b="1" dirty="0" smtClean="0">
              <a:solidFill>
                <a:srgbClr val="FF0000"/>
              </a:solidFill>
            </a:endParaRPr>
          </a:p>
          <a:p>
            <a:r>
              <a:rPr lang="en-US" altLang="zh-CN" sz="1600" dirty="0" smtClean="0"/>
              <a:t>{  static double ad=32;</a:t>
            </a:r>
            <a:endParaRPr lang="en-US" altLang="zh-CN" sz="1600" dirty="0" smtClean="0"/>
          </a:p>
          <a:p>
            <a:r>
              <a:rPr lang="en-US" altLang="zh-CN" sz="1600" dirty="0" smtClean="0"/>
              <a:t>  ad+=pd;</a:t>
            </a:r>
            <a:endParaRPr lang="en-US" altLang="zh-CN" sz="1600" dirty="0" smtClean="0"/>
          </a:p>
          <a:p>
            <a:r>
              <a:rPr lang="en-US" altLang="zh-CN" sz="1600" dirty="0" smtClean="0"/>
              <a:t>  </a:t>
            </a:r>
            <a:r>
              <a:rPr lang="en-US" altLang="zh-CN" sz="1600" dirty="0" err="1" smtClean="0"/>
              <a:t>cout</a:t>
            </a:r>
            <a:r>
              <a:rPr lang="en-US" altLang="zh-CN" sz="1600" dirty="0" smtClean="0"/>
              <a:t> &lt;&lt;"fn being called...the value is: " &lt;&lt;pd &lt;&lt;</a:t>
            </a:r>
            <a:r>
              <a:rPr lang="en-US" altLang="zh-CN" sz="1600" dirty="0" err="1" smtClean="0"/>
              <a:t>endl</a:t>
            </a:r>
            <a:r>
              <a:rPr lang="en-US" altLang="zh-CN" sz="1600" dirty="0" smtClean="0"/>
              <a:t>;</a:t>
            </a:r>
            <a:endParaRPr lang="en-US" altLang="zh-CN" sz="1600" dirty="0" smtClean="0"/>
          </a:p>
          <a:p>
            <a:r>
              <a:rPr lang="en-US" altLang="zh-CN" sz="1600" dirty="0" smtClean="0"/>
              <a:t>  return ad;</a:t>
            </a:r>
            <a:endParaRPr lang="en-US" altLang="zh-CN" sz="1600" dirty="0" smtClean="0"/>
          </a:p>
          <a:p>
            <a:r>
              <a:rPr lang="en-US" altLang="zh-CN" sz="1600" dirty="0" smtClean="0"/>
              <a:t>}</a:t>
            </a:r>
            <a:endParaRPr lang="en-US" altLang="zh-CN" sz="1600" dirty="0" smtClean="0"/>
          </a:p>
          <a:p>
            <a:endParaRPr lang="en-US" altLang="zh-CN" sz="1600" dirty="0" smtClean="0"/>
          </a:p>
          <a:p>
            <a:r>
              <a:rPr lang="en-US" altLang="zh-CN" sz="1600" dirty="0" smtClean="0"/>
              <a:t>void main()</a:t>
            </a:r>
            <a:endParaRPr lang="en-US" altLang="zh-CN" sz="1600" dirty="0" smtClean="0"/>
          </a:p>
          <a:p>
            <a:r>
              <a:rPr lang="en-US" altLang="zh-CN" sz="1600" dirty="0" smtClean="0"/>
              <a:t>{  double a=345.6;</a:t>
            </a:r>
            <a:endParaRPr lang="en-US" altLang="zh-CN" sz="1600" dirty="0" smtClean="0"/>
          </a:p>
          <a:p>
            <a:r>
              <a:rPr lang="en-US" altLang="zh-CN" sz="1600" dirty="0" smtClean="0"/>
              <a:t>  double&amp; pa=fn(a); </a:t>
            </a:r>
            <a:r>
              <a:rPr lang="en-US" altLang="zh-CN" sz="1400" b="1" dirty="0" smtClean="0">
                <a:solidFill>
                  <a:srgbClr val="FF0000"/>
                </a:solidFill>
              </a:rPr>
              <a:t>//</a:t>
            </a:r>
            <a:r>
              <a:rPr lang="zh-CN" altLang="en-US" sz="1400" b="1" dirty="0" smtClean="0">
                <a:solidFill>
                  <a:srgbClr val="FF0000"/>
                </a:solidFill>
              </a:rPr>
              <a:t>这个引用不会出错</a:t>
            </a:r>
            <a:endParaRPr lang="en-US" altLang="zh-CN" sz="1600" b="1" dirty="0" smtClean="0">
              <a:solidFill>
                <a:srgbClr val="FF0000"/>
              </a:solidFill>
            </a:endParaRPr>
          </a:p>
          <a:p>
            <a:r>
              <a:rPr lang="en-US" altLang="zh-CN" sz="1600" dirty="0" smtClean="0"/>
              <a:t>  </a:t>
            </a:r>
            <a:r>
              <a:rPr lang="en-US" altLang="zh-CN" sz="1600" dirty="0" err="1" smtClean="0"/>
              <a:t>cout</a:t>
            </a:r>
            <a:r>
              <a:rPr lang="en-US" altLang="zh-CN" sz="1600" dirty="0" smtClean="0"/>
              <a:t> &lt;&lt;pa &lt;&lt;</a:t>
            </a:r>
            <a:r>
              <a:rPr lang="en-US" altLang="zh-CN" sz="1600" dirty="0" err="1" smtClean="0"/>
              <a:t>endl</a:t>
            </a:r>
            <a:r>
              <a:rPr lang="en-US" altLang="zh-CN" sz="1600" dirty="0" smtClean="0"/>
              <a:t>;</a:t>
            </a:r>
            <a:endParaRPr lang="en-US" altLang="zh-CN" sz="1600" dirty="0" smtClean="0"/>
          </a:p>
          <a:p>
            <a:r>
              <a:rPr lang="en-US" altLang="zh-CN" sz="1600" dirty="0" smtClean="0"/>
              <a:t>  a=55.5;</a:t>
            </a:r>
            <a:endParaRPr lang="en-US" altLang="zh-CN" sz="1600" dirty="0" smtClean="0"/>
          </a:p>
          <a:p>
            <a:r>
              <a:rPr lang="en-US" altLang="zh-CN" sz="1600" dirty="0" smtClean="0"/>
              <a:t>  pa = fn(a);</a:t>
            </a:r>
            <a:endParaRPr lang="en-US" altLang="zh-CN" sz="1600" dirty="0" smtClean="0"/>
          </a:p>
          <a:p>
            <a:r>
              <a:rPr lang="en-US" altLang="zh-CN" sz="1600" dirty="0" smtClean="0"/>
              <a:t>  </a:t>
            </a:r>
            <a:r>
              <a:rPr lang="en-US" altLang="zh-CN" sz="1600" dirty="0" err="1" smtClean="0"/>
              <a:t>cout</a:t>
            </a:r>
            <a:r>
              <a:rPr lang="en-US" altLang="zh-CN" sz="1600" dirty="0" smtClean="0"/>
              <a:t> &lt;&lt;pa &lt;&lt;</a:t>
            </a:r>
            <a:r>
              <a:rPr lang="en-US" altLang="zh-CN" sz="1600" dirty="0" err="1" smtClean="0"/>
              <a:t>endl</a:t>
            </a:r>
            <a:r>
              <a:rPr lang="en-US" altLang="zh-CN" sz="1600" dirty="0" smtClean="0"/>
              <a:t>;</a:t>
            </a:r>
            <a:endParaRPr lang="en-US" altLang="zh-CN" sz="1600" dirty="0" smtClean="0"/>
          </a:p>
          <a:p>
            <a:r>
              <a:rPr lang="en-US" altLang="zh-CN" sz="1600" dirty="0" smtClean="0"/>
              <a:t>}</a:t>
            </a:r>
            <a:endParaRPr lang="en-US" altLang="zh-CN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使用引用的方法，可以将一个函数调用作为左值</a:t>
            </a:r>
            <a:endParaRPr lang="en-US" altLang="zh-CN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endParaRPr lang="en-US" altLang="zh-CN" sz="2000" dirty="0" smtClean="0"/>
          </a:p>
          <a:p>
            <a:pPr algn="just" eaLnBrk="1" hangingPunct="1">
              <a:buFont typeface="Wingdings 2" panose="05020102010507070707" pitchFamily="18" charset="2"/>
              <a:buNone/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6.</a:t>
            </a:r>
            <a:r>
              <a:rPr lang="zh-CN" altLang="en-US" sz="4000" dirty="0" smtClean="0"/>
              <a:t>函数调用作为左值</a:t>
            </a:r>
            <a:r>
              <a:rPr lang="zh-CN" altLang="en-US" dirty="0" smtClean="0">
                <a:solidFill>
                  <a:srgbClr val="FF0000"/>
                </a:solidFill>
              </a:rPr>
              <a:t>（自学）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214282" y="1643050"/>
            <a:ext cx="7358114" cy="375487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1400" dirty="0" smtClean="0"/>
              <a:t>#include &lt;</a:t>
            </a:r>
            <a:r>
              <a:rPr lang="en-US" altLang="zh-CN" sz="1400" dirty="0" err="1" smtClean="0"/>
              <a:t>iostream.h</a:t>
            </a:r>
            <a:r>
              <a:rPr lang="en-US" altLang="zh-CN" sz="1400" dirty="0" smtClean="0"/>
              <a:t>&gt;</a:t>
            </a:r>
            <a:endParaRPr lang="en-US" altLang="zh-CN" sz="1400" dirty="0" smtClean="0"/>
          </a:p>
          <a:p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 array[6][4]={{60,80,90,75},</a:t>
            </a:r>
            <a:endParaRPr lang="en-US" altLang="zh-CN" sz="1400" dirty="0" smtClean="0"/>
          </a:p>
          <a:p>
            <a:r>
              <a:rPr lang="en-US" altLang="zh-CN" sz="1400" dirty="0" smtClean="0"/>
              <a:t>                 {75,85,65,77},</a:t>
            </a:r>
            <a:endParaRPr lang="en-US" altLang="zh-CN" sz="1400" dirty="0" smtClean="0"/>
          </a:p>
          <a:p>
            <a:r>
              <a:rPr lang="en-US" altLang="zh-CN" sz="1400" dirty="0" smtClean="0"/>
              <a:t>                 {80,88,90,98},</a:t>
            </a:r>
            <a:endParaRPr lang="en-US" altLang="zh-CN" sz="1400" dirty="0" smtClean="0"/>
          </a:p>
          <a:p>
            <a:r>
              <a:rPr lang="en-US" altLang="zh-CN" sz="1400" dirty="0" smtClean="0"/>
              <a:t>                 {89,100,78,81},</a:t>
            </a:r>
            <a:endParaRPr lang="en-US" altLang="zh-CN" sz="1400" dirty="0" smtClean="0"/>
          </a:p>
          <a:p>
            <a:r>
              <a:rPr lang="en-US" altLang="zh-CN" sz="1400" dirty="0" smtClean="0"/>
              <a:t>                 {62,68,69,75},</a:t>
            </a:r>
            <a:endParaRPr lang="en-US" altLang="zh-CN" sz="1400" dirty="0" smtClean="0"/>
          </a:p>
          <a:p>
            <a:r>
              <a:rPr lang="en-US" altLang="zh-CN" sz="1400" dirty="0" smtClean="0"/>
              <a:t>                 {85,85,77,91}};</a:t>
            </a:r>
            <a:endParaRPr lang="en-US" altLang="zh-CN" sz="1400" dirty="0" smtClean="0"/>
          </a:p>
          <a:p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&amp; level(</a:t>
            </a: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 grade[], </a:t>
            </a: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 size, </a:t>
            </a: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&amp; </a:t>
            </a:r>
            <a:r>
              <a:rPr lang="en-US" altLang="zh-CN" sz="1400" dirty="0" err="1" smtClean="0"/>
              <a:t>tA</a:t>
            </a:r>
            <a:r>
              <a:rPr lang="en-US" altLang="zh-CN" sz="1400" dirty="0" smtClean="0"/>
              <a:t>, </a:t>
            </a: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&amp; </a:t>
            </a:r>
            <a:r>
              <a:rPr lang="en-US" altLang="zh-CN" sz="1400" dirty="0" err="1" smtClean="0"/>
              <a:t>tB</a:t>
            </a:r>
            <a:r>
              <a:rPr lang="en-US" altLang="zh-CN" sz="1400" dirty="0" smtClean="0"/>
              <a:t>);</a:t>
            </a:r>
            <a:endParaRPr lang="en-US" altLang="zh-CN" sz="1400" dirty="0" smtClean="0"/>
          </a:p>
          <a:p>
            <a:r>
              <a:rPr lang="en-US" altLang="zh-CN" sz="1400" dirty="0" smtClean="0"/>
              <a:t>void main()</a:t>
            </a:r>
            <a:endParaRPr lang="en-US" altLang="zh-CN" sz="1400" dirty="0" smtClean="0"/>
          </a:p>
          <a:p>
            <a:r>
              <a:rPr lang="en-US" altLang="zh-CN" sz="1400" dirty="0" smtClean="0"/>
              <a:t>{  </a:t>
            </a: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typeA</a:t>
            </a:r>
            <a:r>
              <a:rPr lang="en-US" altLang="zh-CN" sz="1400" dirty="0" smtClean="0"/>
              <a:t>=0,typeB=0;</a:t>
            </a:r>
            <a:endParaRPr lang="en-US" altLang="zh-CN" sz="1400" dirty="0" smtClean="0"/>
          </a:p>
          <a:p>
            <a:r>
              <a:rPr lang="en-US" altLang="zh-CN" sz="1400" dirty="0" smtClean="0"/>
              <a:t>  </a:t>
            </a: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 student=6;</a:t>
            </a:r>
            <a:endParaRPr lang="en-US" altLang="zh-CN" sz="1400" dirty="0" smtClean="0"/>
          </a:p>
          <a:p>
            <a:r>
              <a:rPr lang="en-US" altLang="zh-CN" sz="1400" dirty="0" smtClean="0"/>
              <a:t>  </a:t>
            </a: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gradesize</a:t>
            </a:r>
            <a:r>
              <a:rPr lang="en-US" altLang="zh-CN" sz="1400" dirty="0" smtClean="0"/>
              <a:t>=4;</a:t>
            </a:r>
            <a:endParaRPr lang="en-US" altLang="zh-CN" sz="1400" dirty="0" smtClean="0"/>
          </a:p>
          <a:p>
            <a:r>
              <a:rPr lang="en-US" altLang="zh-CN" sz="1400" dirty="0" smtClean="0"/>
              <a:t>  for(</a:t>
            </a: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i</a:t>
            </a:r>
            <a:r>
              <a:rPr lang="en-US" altLang="zh-CN" sz="1400" dirty="0" smtClean="0"/>
              <a:t>=0; </a:t>
            </a:r>
            <a:r>
              <a:rPr lang="en-US" altLang="zh-CN" sz="1400" dirty="0" err="1" smtClean="0"/>
              <a:t>i</a:t>
            </a:r>
            <a:r>
              <a:rPr lang="en-US" altLang="zh-CN" sz="1400" dirty="0" smtClean="0"/>
              <a:t>&lt;student; </a:t>
            </a:r>
            <a:r>
              <a:rPr lang="en-US" altLang="zh-CN" sz="1400" dirty="0" err="1" smtClean="0"/>
              <a:t>i</a:t>
            </a:r>
            <a:r>
              <a:rPr lang="en-US" altLang="zh-CN" sz="1400" dirty="0" smtClean="0"/>
              <a:t>++)    //</a:t>
            </a:r>
            <a:r>
              <a:rPr lang="zh-CN" altLang="en-US" sz="1400" dirty="0" smtClean="0"/>
              <a:t>处理所有的学生</a:t>
            </a:r>
            <a:endParaRPr lang="zh-CN" altLang="en-US" sz="1400" dirty="0" smtClean="0"/>
          </a:p>
          <a:p>
            <a:r>
              <a:rPr lang="zh-CN" altLang="en-US" sz="1400" dirty="0" smtClean="0"/>
              <a:t>    </a:t>
            </a:r>
            <a:r>
              <a:rPr lang="en-US" altLang="zh-CN" sz="1400" dirty="0" smtClean="0"/>
              <a:t>level(array[</a:t>
            </a:r>
            <a:r>
              <a:rPr lang="en-US" altLang="zh-CN" sz="1400" dirty="0" err="1" smtClean="0"/>
              <a:t>i</a:t>
            </a:r>
            <a:r>
              <a:rPr lang="en-US" altLang="zh-CN" sz="1400" dirty="0" smtClean="0"/>
              <a:t>], </a:t>
            </a:r>
            <a:r>
              <a:rPr lang="en-US" altLang="zh-CN" sz="1400" dirty="0" err="1" smtClean="0"/>
              <a:t>gradesize</a:t>
            </a:r>
            <a:r>
              <a:rPr lang="en-US" altLang="zh-CN" sz="1400" dirty="0" smtClean="0"/>
              <a:t>, </a:t>
            </a:r>
            <a:r>
              <a:rPr lang="en-US" altLang="zh-CN" sz="1400" dirty="0" err="1" smtClean="0"/>
              <a:t>typeA</a:t>
            </a:r>
            <a:r>
              <a:rPr lang="en-US" altLang="zh-CN" sz="1400" dirty="0" smtClean="0"/>
              <a:t>, </a:t>
            </a:r>
            <a:r>
              <a:rPr lang="en-US" altLang="zh-CN" sz="1400" dirty="0" err="1" smtClean="0"/>
              <a:t>typeB</a:t>
            </a:r>
            <a:r>
              <a:rPr lang="en-US" altLang="zh-CN" sz="1400" dirty="0" smtClean="0"/>
              <a:t>)++;    //</a:t>
            </a:r>
            <a:r>
              <a:rPr lang="zh-CN" altLang="en-US" sz="1400" dirty="0" smtClean="0"/>
              <a:t>函数调用作为左值</a:t>
            </a:r>
            <a:endParaRPr lang="en-US" altLang="zh-CN" sz="1400" dirty="0" smtClean="0"/>
          </a:p>
          <a:p>
            <a:r>
              <a:rPr lang="zh-CN" altLang="en-US" sz="1400" dirty="0" smtClean="0"/>
              <a:t>  </a:t>
            </a:r>
            <a:r>
              <a:rPr lang="en-US" altLang="zh-CN" sz="1400" dirty="0" err="1" smtClean="0"/>
              <a:t>cout</a:t>
            </a:r>
            <a:r>
              <a:rPr lang="en-US" altLang="zh-CN" sz="1400" dirty="0" smtClean="0"/>
              <a:t> &lt;&lt;"number of type A is " &lt;&lt;</a:t>
            </a:r>
            <a:r>
              <a:rPr lang="en-US" altLang="zh-CN" sz="1400" dirty="0" err="1" smtClean="0"/>
              <a:t>typeA</a:t>
            </a:r>
            <a:r>
              <a:rPr lang="en-US" altLang="zh-CN" sz="1400" dirty="0" smtClean="0"/>
              <a:t> &lt;&lt;</a:t>
            </a:r>
            <a:r>
              <a:rPr lang="en-US" altLang="zh-CN" sz="1400" dirty="0" err="1" smtClean="0"/>
              <a:t>endl</a:t>
            </a:r>
            <a:r>
              <a:rPr lang="en-US" altLang="zh-CN" sz="1400" dirty="0" smtClean="0"/>
              <a:t>;</a:t>
            </a:r>
            <a:endParaRPr lang="en-US" altLang="zh-CN" sz="1400" dirty="0" smtClean="0"/>
          </a:p>
          <a:p>
            <a:r>
              <a:rPr lang="en-US" altLang="zh-CN" sz="1400" dirty="0" smtClean="0"/>
              <a:t>  </a:t>
            </a:r>
            <a:r>
              <a:rPr lang="en-US" altLang="zh-CN" sz="1400" dirty="0" err="1" smtClean="0"/>
              <a:t>cout</a:t>
            </a:r>
            <a:r>
              <a:rPr lang="en-US" altLang="zh-CN" sz="1400" dirty="0" smtClean="0"/>
              <a:t> &lt;&lt;"number of type B is " &lt;&lt;</a:t>
            </a:r>
            <a:r>
              <a:rPr lang="en-US" altLang="zh-CN" sz="1400" dirty="0" err="1" smtClean="0"/>
              <a:t>typeB</a:t>
            </a:r>
            <a:r>
              <a:rPr lang="en-US" altLang="zh-CN" sz="1400" dirty="0" smtClean="0"/>
              <a:t> &lt;&lt;</a:t>
            </a:r>
            <a:r>
              <a:rPr lang="en-US" altLang="zh-CN" sz="1400" dirty="0" err="1" smtClean="0"/>
              <a:t>endl</a:t>
            </a:r>
            <a:r>
              <a:rPr lang="en-US" altLang="zh-CN" sz="1400" dirty="0" smtClean="0"/>
              <a:t>;</a:t>
            </a:r>
            <a:endParaRPr lang="en-US" altLang="zh-CN" sz="1400" dirty="0" smtClean="0"/>
          </a:p>
          <a:p>
            <a:r>
              <a:rPr lang="en-US" altLang="zh-CN" sz="1400" dirty="0" smtClean="0"/>
              <a:t>}</a:t>
            </a:r>
            <a:endParaRPr lang="en-US" altLang="zh-CN" sz="1400" dirty="0"/>
          </a:p>
        </p:txBody>
      </p:sp>
      <p:sp>
        <p:nvSpPr>
          <p:cNvPr id="7" name="矩形 4"/>
          <p:cNvSpPr>
            <a:spLocks noChangeArrowheads="1"/>
          </p:cNvSpPr>
          <p:nvPr/>
        </p:nvSpPr>
        <p:spPr bwMode="auto">
          <a:xfrm>
            <a:off x="4786314" y="1785926"/>
            <a:ext cx="4357686" cy="246221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&amp; level(</a:t>
            </a: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 grade[], </a:t>
            </a: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size,int</a:t>
            </a:r>
            <a:r>
              <a:rPr lang="en-US" altLang="zh-CN" sz="1400" dirty="0" smtClean="0"/>
              <a:t>&amp; </a:t>
            </a:r>
            <a:r>
              <a:rPr lang="en-US" altLang="zh-CN" sz="1400" dirty="0" err="1" smtClean="0"/>
              <a:t>tA</a:t>
            </a:r>
            <a:r>
              <a:rPr lang="en-US" altLang="zh-CN" sz="1400" dirty="0" smtClean="0"/>
              <a:t>, </a:t>
            </a: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&amp; </a:t>
            </a:r>
            <a:r>
              <a:rPr lang="en-US" altLang="zh-CN" sz="1400" dirty="0" err="1" smtClean="0"/>
              <a:t>tB</a:t>
            </a:r>
            <a:r>
              <a:rPr lang="en-US" altLang="zh-CN" sz="1400" dirty="0" smtClean="0"/>
              <a:t>)</a:t>
            </a:r>
            <a:endParaRPr lang="en-US" altLang="zh-CN" sz="1400" dirty="0" smtClean="0"/>
          </a:p>
          <a:p>
            <a:r>
              <a:rPr lang="en-US" altLang="zh-CN" sz="1400" dirty="0" smtClean="0"/>
              <a:t>{</a:t>
            </a:r>
            <a:endParaRPr lang="en-US" altLang="zh-CN" sz="1400" dirty="0" smtClean="0"/>
          </a:p>
          <a:p>
            <a:r>
              <a:rPr lang="en-US" altLang="zh-CN" sz="1400" dirty="0" smtClean="0"/>
              <a:t>  </a:t>
            </a: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 sum=0;</a:t>
            </a:r>
            <a:endParaRPr lang="en-US" altLang="zh-CN" sz="1400" dirty="0" smtClean="0"/>
          </a:p>
          <a:p>
            <a:r>
              <a:rPr lang="en-US" altLang="zh-CN" sz="1400" dirty="0" smtClean="0"/>
              <a:t>  for(</a:t>
            </a:r>
            <a:r>
              <a:rPr lang="en-US" altLang="zh-CN" sz="1400" dirty="0" err="1" smtClean="0"/>
              <a:t>int</a:t>
            </a:r>
            <a:r>
              <a:rPr lang="en-US" altLang="zh-CN" sz="1400" dirty="0" smtClean="0"/>
              <a:t> </a:t>
            </a:r>
            <a:r>
              <a:rPr lang="en-US" altLang="zh-CN" sz="1400" dirty="0" err="1" smtClean="0"/>
              <a:t>i</a:t>
            </a:r>
            <a:r>
              <a:rPr lang="en-US" altLang="zh-CN" sz="1400" dirty="0" smtClean="0"/>
              <a:t>=0; </a:t>
            </a:r>
            <a:r>
              <a:rPr lang="en-US" altLang="zh-CN" sz="1400" dirty="0" err="1" smtClean="0"/>
              <a:t>i</a:t>
            </a:r>
            <a:r>
              <a:rPr lang="en-US" altLang="zh-CN" sz="1400" dirty="0" smtClean="0"/>
              <a:t>&lt;size; </a:t>
            </a:r>
            <a:r>
              <a:rPr lang="en-US" altLang="zh-CN" sz="1400" dirty="0" err="1" smtClean="0"/>
              <a:t>i</a:t>
            </a:r>
            <a:r>
              <a:rPr lang="en-US" altLang="zh-CN" sz="1400" dirty="0" smtClean="0"/>
              <a:t>++)    //</a:t>
            </a:r>
            <a:r>
              <a:rPr lang="zh-CN" altLang="en-US" sz="1400" dirty="0" smtClean="0"/>
              <a:t>成绩总分</a:t>
            </a:r>
            <a:endParaRPr lang="zh-CN" altLang="en-US" sz="1400" dirty="0" smtClean="0"/>
          </a:p>
          <a:p>
            <a:r>
              <a:rPr lang="zh-CN" altLang="en-US" sz="1400" dirty="0" smtClean="0"/>
              <a:t>    </a:t>
            </a:r>
            <a:r>
              <a:rPr lang="en-US" altLang="zh-CN" sz="1400" dirty="0" smtClean="0"/>
              <a:t>sum+=grade[</a:t>
            </a:r>
            <a:r>
              <a:rPr lang="en-US" altLang="zh-CN" sz="1400" dirty="0" err="1" smtClean="0"/>
              <a:t>i</a:t>
            </a:r>
            <a:r>
              <a:rPr lang="en-US" altLang="zh-CN" sz="1400" dirty="0" smtClean="0"/>
              <a:t>];</a:t>
            </a:r>
            <a:endParaRPr lang="en-US" altLang="zh-CN" sz="1400" dirty="0" smtClean="0"/>
          </a:p>
          <a:p>
            <a:r>
              <a:rPr lang="en-US" altLang="zh-CN" sz="1400" dirty="0" smtClean="0"/>
              <a:t>  sum/=size;      //</a:t>
            </a:r>
            <a:r>
              <a:rPr lang="zh-CN" altLang="en-US" sz="1400" dirty="0" smtClean="0"/>
              <a:t>平均分</a:t>
            </a:r>
            <a:endParaRPr lang="zh-CN" altLang="en-US" sz="1400" dirty="0" smtClean="0"/>
          </a:p>
          <a:p>
            <a:r>
              <a:rPr lang="zh-CN" altLang="en-US" sz="1400" dirty="0" smtClean="0"/>
              <a:t>  </a:t>
            </a:r>
            <a:r>
              <a:rPr lang="en-US" altLang="zh-CN" sz="1400" dirty="0" smtClean="0"/>
              <a:t>if(sum&gt;=80)</a:t>
            </a:r>
            <a:endParaRPr lang="en-US" altLang="zh-CN" sz="1400" dirty="0" smtClean="0"/>
          </a:p>
          <a:p>
            <a:r>
              <a:rPr lang="en-US" altLang="zh-CN" sz="1400" dirty="0" smtClean="0"/>
              <a:t>    return </a:t>
            </a:r>
            <a:r>
              <a:rPr lang="en-US" altLang="zh-CN" sz="1400" dirty="0" err="1" smtClean="0"/>
              <a:t>tA</a:t>
            </a:r>
            <a:r>
              <a:rPr lang="en-US" altLang="zh-CN" sz="1400" dirty="0" smtClean="0"/>
              <a:t>;    //type A student</a:t>
            </a:r>
            <a:endParaRPr lang="en-US" altLang="zh-CN" sz="1400" dirty="0" smtClean="0"/>
          </a:p>
          <a:p>
            <a:r>
              <a:rPr lang="en-US" altLang="zh-CN" sz="1400" dirty="0" smtClean="0"/>
              <a:t>  else</a:t>
            </a:r>
            <a:endParaRPr lang="en-US" altLang="zh-CN" sz="1400" dirty="0" smtClean="0"/>
          </a:p>
          <a:p>
            <a:r>
              <a:rPr lang="en-US" altLang="zh-CN" sz="1400" dirty="0" smtClean="0"/>
              <a:t>    return </a:t>
            </a:r>
            <a:r>
              <a:rPr lang="en-US" altLang="zh-CN" sz="1400" dirty="0" err="1" smtClean="0"/>
              <a:t>tB</a:t>
            </a:r>
            <a:r>
              <a:rPr lang="en-US" altLang="zh-CN" sz="1400" dirty="0" smtClean="0"/>
              <a:t>;    //type B student</a:t>
            </a:r>
            <a:endParaRPr lang="en-US" altLang="zh-CN" sz="1400" dirty="0" smtClean="0"/>
          </a:p>
          <a:p>
            <a:r>
              <a:rPr lang="en-US" altLang="zh-CN" sz="1400" dirty="0" smtClean="0"/>
              <a:t>}</a:t>
            </a:r>
            <a:endParaRPr lang="en-US" altLang="zh-CN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14348" y="1285860"/>
            <a:ext cx="7772400" cy="1829761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 smtClean="0"/>
              <a:t>面向对象程序设计</a:t>
            </a:r>
            <a:endParaRPr lang="zh-CN" altLang="en-US" dirty="0"/>
          </a:p>
        </p:txBody>
      </p:sp>
      <p:sp>
        <p:nvSpPr>
          <p:cNvPr id="9219" name="副标题 2"/>
          <p:cNvSpPr>
            <a:spLocks noGrp="1"/>
          </p:cNvSpPr>
          <p:nvPr>
            <p:ph type="subTitle" idx="1"/>
          </p:nvPr>
        </p:nvSpPr>
        <p:spPr>
          <a:xfrm>
            <a:off x="714348" y="3143248"/>
            <a:ext cx="7772400" cy="1200150"/>
          </a:xfrm>
        </p:spPr>
        <p:txBody>
          <a:bodyPr/>
          <a:lstStyle/>
          <a:p>
            <a:pPr marR="0" algn="ctr"/>
            <a:r>
              <a:rPr lang="zh-CN" altLang="en-US" sz="3200" b="1" dirty="0" smtClean="0">
                <a:solidFill>
                  <a:srgbClr val="FF0000"/>
                </a:solidFill>
              </a:rPr>
              <a:t>第十章 结构</a:t>
            </a:r>
            <a:endParaRPr lang="zh-CN" altLang="en-US" sz="32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525962"/>
          </a:xfrm>
        </p:spPr>
        <p:txBody>
          <a:bodyPr/>
          <a:lstStyle/>
          <a:p>
            <a:r>
              <a:rPr lang="zh-CN" altLang="en-US" dirty="0" smtClean="0"/>
              <a:t>结构概述</a:t>
            </a:r>
            <a:endParaRPr lang="en-US" altLang="zh-CN" dirty="0" smtClean="0"/>
          </a:p>
          <a:p>
            <a:r>
              <a:rPr lang="zh-CN" altLang="en-US" dirty="0" smtClean="0"/>
              <a:t>结构与指针</a:t>
            </a:r>
            <a:endParaRPr lang="en-US" altLang="zh-CN" dirty="0" smtClean="0"/>
          </a:p>
          <a:p>
            <a:r>
              <a:rPr lang="zh-CN" altLang="en-US" dirty="0" smtClean="0"/>
              <a:t>结构与数组</a:t>
            </a:r>
            <a:endParaRPr lang="en-US" altLang="zh-CN" dirty="0" smtClean="0"/>
          </a:p>
          <a:p>
            <a:r>
              <a:rPr lang="zh-CN" altLang="en-US" dirty="0" smtClean="0"/>
              <a:t>结构与参数传递</a:t>
            </a:r>
            <a:endParaRPr lang="en-US" altLang="zh-CN" dirty="0" smtClean="0"/>
          </a:p>
          <a:p>
            <a:r>
              <a:rPr lang="zh-CN" altLang="en-US" dirty="0" smtClean="0"/>
              <a:t>返回结构体</a:t>
            </a:r>
            <a:endParaRPr lang="en-US" altLang="zh-CN" dirty="0" smtClean="0"/>
          </a:p>
          <a:p>
            <a:endParaRPr lang="zh-CN" altLang="en-US" dirty="0" smtClean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 smtClean="0"/>
              <a:t>本章主要内容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857784"/>
          </a:xfrm>
        </p:spPr>
        <p:txBody>
          <a:bodyPr/>
          <a:lstStyle/>
          <a:p>
            <a:pPr eaLnBrk="1" hangingPunct="1"/>
            <a:r>
              <a:rPr lang="zh-CN" altLang="en-US" sz="2000" dirty="0" smtClean="0"/>
              <a:t>结构的引入</a:t>
            </a:r>
            <a:endParaRPr lang="en-US" altLang="zh-CN" sz="2000" dirty="0" smtClean="0"/>
          </a:p>
          <a:p>
            <a:pPr lvl="1"/>
            <a:r>
              <a:rPr lang="zh-CN" altLang="en-US" sz="1800" dirty="0" smtClean="0"/>
              <a:t>打印学生成绩单 ，格式如下：</a:t>
            </a:r>
            <a:endParaRPr lang="en-US" altLang="zh-CN" sz="1800" dirty="0" smtClean="0"/>
          </a:p>
          <a:p>
            <a:pPr lvl="1"/>
            <a:r>
              <a:rPr kumimoji="1" lang="zh-CN" altLang="en-US" sz="1800" b="1" dirty="0" smtClean="0">
                <a:solidFill>
                  <a:srgbClr val="FF0000"/>
                </a:solidFill>
                <a:ea typeface="宋体" panose="02010600030101010101" pitchFamily="2" charset="-122"/>
              </a:rPr>
              <a:t>如何在程序中表示这组学生信息？？</a:t>
            </a:r>
            <a:endParaRPr kumimoji="1" lang="zh-CN" altLang="en-US" b="1" dirty="0" smtClean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/>
            <a:endParaRPr lang="zh-CN" altLang="en-US" dirty="0" smtClean="0"/>
          </a:p>
          <a:p>
            <a:pPr lvl="1"/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结构概述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6" name="Group 171"/>
          <p:cNvGraphicFramePr/>
          <p:nvPr/>
        </p:nvGraphicFramePr>
        <p:xfrm>
          <a:off x="714348" y="2500306"/>
          <a:ext cx="7772400" cy="2641600"/>
        </p:xfrm>
        <a:graphic>
          <a:graphicData uri="http://schemas.openxmlformats.org/drawingml/2006/table">
            <a:tbl>
              <a:tblPr/>
              <a:tblGrid>
                <a:gridCol w="1739900"/>
                <a:gridCol w="1368425"/>
                <a:gridCol w="1554163"/>
                <a:gridCol w="1555750"/>
                <a:gridCol w="1554162"/>
              </a:tblGrid>
              <a:tr h="660400"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学号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姓名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语文成绩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数学成绩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英语成绩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张三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李四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89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王五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78155" marR="0" lvl="0" indent="-47815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78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500594"/>
          </a:xfrm>
        </p:spPr>
        <p:txBody>
          <a:bodyPr/>
          <a:lstStyle/>
          <a:p>
            <a:pPr eaLnBrk="1" hangingPunct="1"/>
            <a:r>
              <a:rPr lang="zh-CN" altLang="en-US" sz="2000" dirty="0" smtClean="0"/>
              <a:t>二维数据的解决方案</a:t>
            </a:r>
            <a:endParaRPr lang="en-US" altLang="zh-CN" sz="2000" dirty="0" smtClean="0"/>
          </a:p>
          <a:p>
            <a:pPr lvl="1">
              <a:lnSpc>
                <a:spcPct val="130000"/>
              </a:lnSpc>
            </a:pPr>
            <a:r>
              <a:rPr lang="zh-CN" altLang="en-US" sz="1800" dirty="0" smtClean="0">
                <a:latin typeface="宋体" panose="02010600030101010101" pitchFamily="2" charset="-122"/>
              </a:rPr>
              <a:t>用二维的数组来表示，该方案不可行，因为这些信息有不同的类型</a:t>
            </a:r>
            <a:endParaRPr lang="en-US" altLang="zh-CN" sz="1800" dirty="0" smtClean="0">
              <a:latin typeface="宋体" panose="0201060003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1800" dirty="0" smtClean="0">
                <a:latin typeface="宋体" panose="02010600030101010101" pitchFamily="2" charset="-122"/>
              </a:rPr>
              <a:t>每一列用一个一维数组来表示，这种方法称为并联数组，但要保证每位学生信息的正确性很难</a:t>
            </a:r>
            <a:endParaRPr lang="zh-CN" altLang="en-US" sz="1800" dirty="0" smtClean="0"/>
          </a:p>
          <a:p>
            <a:r>
              <a:rPr lang="zh-CN" altLang="en-US" sz="2000" dirty="0" smtClean="0">
                <a:latin typeface="宋体" panose="02010600030101010101" pitchFamily="2" charset="-122"/>
              </a:rPr>
              <a:t>当我们考虑怎么逻辑地组织数据时，应该将一个人的所有信息项放在一起，即保持相关性。</a:t>
            </a:r>
            <a:endParaRPr lang="zh-CN" altLang="en-US" sz="2000" dirty="0" smtClean="0">
              <a:latin typeface="宋体" panose="02010600030101010101" pitchFamily="2" charset="-122"/>
            </a:endParaRPr>
          </a:p>
          <a:p>
            <a:pPr lvl="1"/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结构概述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7" name="Group 79"/>
          <p:cNvGraphicFramePr/>
          <p:nvPr/>
        </p:nvGraphicFramePr>
        <p:xfrm>
          <a:off x="1357290" y="3429000"/>
          <a:ext cx="7213600" cy="2547939"/>
        </p:xfrm>
        <a:graphic>
          <a:graphicData uri="http://schemas.openxmlformats.org/drawingml/2006/table">
            <a:tbl>
              <a:tblPr/>
              <a:tblGrid>
                <a:gridCol w="1614488"/>
                <a:gridCol w="1271587"/>
                <a:gridCol w="1441450"/>
                <a:gridCol w="1443038"/>
                <a:gridCol w="1443037"/>
              </a:tblGrid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学号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语文成绩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数学成绩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英语成绩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.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张三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00003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李四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89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76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王五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5029200" algn="l"/>
                        </a:tabLst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78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500594"/>
          </a:xfrm>
        </p:spPr>
        <p:txBody>
          <a:bodyPr/>
          <a:lstStyle/>
          <a:p>
            <a:pPr eaLnBrk="1" hangingPunct="1"/>
            <a:r>
              <a:rPr lang="zh-CN" altLang="en-US" sz="2000" dirty="0" smtClean="0"/>
              <a:t>我们希望的结构</a:t>
            </a:r>
            <a:endParaRPr lang="en-US" altLang="zh-CN" sz="2000" dirty="0" smtClean="0"/>
          </a:p>
          <a:p>
            <a:pPr lvl="1">
              <a:spcBef>
                <a:spcPct val="50000"/>
              </a:spcBef>
            </a:pPr>
            <a:r>
              <a:rPr kumimoji="1" lang="zh-CN" altLang="en-US" sz="1800" dirty="0" smtClean="0">
                <a:ea typeface="黑体" panose="02010609060101010101" pitchFamily="2" charset="-122"/>
              </a:rPr>
              <a:t>在数据库中称为记录</a:t>
            </a:r>
            <a:endParaRPr kumimoji="1" lang="zh-CN" altLang="en-US" sz="1800" dirty="0" smtClean="0">
              <a:ea typeface="黑体" panose="02010609060101010101" pitchFamily="2" charset="-122"/>
            </a:endParaRPr>
          </a:p>
          <a:p>
            <a:pPr lvl="1">
              <a:spcBef>
                <a:spcPct val="50000"/>
              </a:spcBef>
            </a:pPr>
            <a:r>
              <a:rPr kumimoji="1" lang="zh-CN" altLang="en-US" sz="1800" dirty="0" smtClean="0">
                <a:ea typeface="黑体" panose="02010609060101010101" pitchFamily="2" charset="-122"/>
              </a:rPr>
              <a:t>在</a:t>
            </a:r>
            <a:r>
              <a:rPr kumimoji="1" lang="en-US" altLang="zh-CN" sz="1800" dirty="0" smtClean="0">
                <a:ea typeface="黑体" panose="02010609060101010101" pitchFamily="2" charset="-122"/>
              </a:rPr>
              <a:t>C</a:t>
            </a:r>
            <a:r>
              <a:rPr kumimoji="1" lang="zh-CN" altLang="en-US" sz="1800" dirty="0" smtClean="0">
                <a:ea typeface="黑体" panose="02010609060101010101" pitchFamily="2" charset="-122"/>
              </a:rPr>
              <a:t>中称为结构体</a:t>
            </a:r>
            <a:endParaRPr kumimoji="1" lang="en-US" altLang="zh-CN" sz="1800" dirty="0" smtClean="0">
              <a:ea typeface="黑体" panose="02010609060101010101" pitchFamily="2" charset="-122"/>
            </a:endParaRPr>
          </a:p>
          <a:p>
            <a:pPr lvl="1">
              <a:spcBef>
                <a:spcPct val="50000"/>
              </a:spcBef>
            </a:pPr>
            <a:r>
              <a:rPr kumimoji="1" lang="zh-CN" altLang="en-US" sz="1800" dirty="0" smtClean="0">
                <a:ea typeface="黑体" panose="02010609060101010101" pitchFamily="2" charset="-122"/>
              </a:rPr>
              <a:t>在</a:t>
            </a:r>
            <a:r>
              <a:rPr kumimoji="1" lang="en-US" altLang="zh-CN" sz="1800" dirty="0" smtClean="0">
                <a:ea typeface="黑体" panose="02010609060101010101" pitchFamily="2" charset="-122"/>
              </a:rPr>
              <a:t>C++</a:t>
            </a:r>
            <a:r>
              <a:rPr kumimoji="1" lang="zh-CN" altLang="en-US" sz="1800" dirty="0" smtClean="0">
                <a:ea typeface="黑体" panose="02010609060101010101" pitchFamily="2" charset="-122"/>
              </a:rPr>
              <a:t>中称为对象</a:t>
            </a:r>
            <a:endParaRPr kumimoji="1" lang="zh-CN" altLang="en-US" sz="1800" dirty="0" smtClean="0">
              <a:ea typeface="黑体" panose="02010609060101010101" pitchFamily="2" charset="-122"/>
            </a:endParaRPr>
          </a:p>
          <a:p>
            <a:pPr lvl="1"/>
            <a:endParaRPr lang="en-US" altLang="zh-CN" dirty="0" smtClean="0"/>
          </a:p>
          <a:p>
            <a:pPr eaLnBrk="1" hangingPunct="1"/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结构概述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6" name="Group 165"/>
          <p:cNvGraphicFramePr/>
          <p:nvPr/>
        </p:nvGraphicFramePr>
        <p:xfrm>
          <a:off x="5143504" y="357166"/>
          <a:ext cx="1803400" cy="5943600"/>
        </p:xfrm>
        <a:graphic>
          <a:graphicData uri="http://schemas.openxmlformats.org/drawingml/2006/table">
            <a:tbl>
              <a:tblPr/>
              <a:tblGrid>
                <a:gridCol w="901700"/>
                <a:gridCol w="901700"/>
              </a:tblGrid>
              <a:tr h="322263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一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8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张三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8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二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李四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8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89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875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生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三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王五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87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78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500594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sz="2000" dirty="0" smtClean="0"/>
              <a:t>结构体类型允许程序员把一些分量聚合成一个整体，用一个变量表示。</a:t>
            </a:r>
            <a:endParaRPr lang="zh-CN" altLang="en-US" sz="2000" dirty="0" smtClean="0"/>
          </a:p>
          <a:p>
            <a:pPr eaLnBrk="1" hangingPunct="1">
              <a:lnSpc>
                <a:spcPct val="125000"/>
              </a:lnSpc>
            </a:pPr>
            <a:r>
              <a:rPr lang="zh-CN" altLang="en-US" sz="2000" dirty="0" smtClean="0"/>
              <a:t>一个结构体的各个分量都有名字，把这些分量称为成员</a:t>
            </a:r>
            <a:r>
              <a:rPr lang="en-US" altLang="zh-CN" sz="2000" dirty="0" smtClean="0"/>
              <a:t>(member)</a:t>
            </a:r>
            <a:r>
              <a:rPr lang="zh-CN" altLang="en-US" sz="2000" dirty="0" smtClean="0"/>
              <a:t>。</a:t>
            </a:r>
            <a:endParaRPr lang="zh-CN" altLang="en-US" sz="2000" dirty="0" smtClean="0"/>
          </a:p>
          <a:p>
            <a:pPr eaLnBrk="1" hangingPunct="1">
              <a:lnSpc>
                <a:spcPct val="125000"/>
              </a:lnSpc>
            </a:pPr>
            <a:r>
              <a:rPr lang="zh-CN" altLang="en-US" sz="2000" dirty="0" smtClean="0"/>
              <a:t>由于结构体的成员可以是各种类型的，程序员能创建适合于问题的数据聚合。</a:t>
            </a:r>
            <a:endParaRPr lang="en-US" altLang="zh-CN" sz="2000" dirty="0" smtClean="0"/>
          </a:p>
          <a:p>
            <a:pPr eaLnBrk="1" hangingPunct="1">
              <a:lnSpc>
                <a:spcPct val="125000"/>
              </a:lnSpc>
            </a:pPr>
            <a:r>
              <a:rPr lang="zh-CN" altLang="en-US" sz="2000" dirty="0" smtClean="0"/>
              <a:t>结构体的使用</a:t>
            </a:r>
            <a:endParaRPr lang="en-US" altLang="zh-CN" sz="2000" dirty="0" smtClean="0"/>
          </a:p>
          <a:p>
            <a:pPr lvl="1">
              <a:lnSpc>
                <a:spcPct val="120000"/>
              </a:lnSpc>
            </a:pPr>
            <a:r>
              <a:rPr lang="zh-CN" altLang="en-US" sz="1800" dirty="0" smtClean="0"/>
              <a:t>定义一个新的结构体类型 </a:t>
            </a:r>
            <a:endParaRPr lang="zh-CN" altLang="en-US" sz="1800" dirty="0" smtClean="0"/>
          </a:p>
          <a:p>
            <a:pPr lvl="1">
              <a:lnSpc>
                <a:spcPct val="120000"/>
              </a:lnSpc>
            </a:pPr>
            <a:r>
              <a:rPr lang="zh-CN" altLang="en-US" sz="1800" dirty="0" smtClean="0"/>
              <a:t>定义新类型的变量 </a:t>
            </a:r>
            <a:endParaRPr lang="zh-CN" altLang="en-US" sz="1800" dirty="0" smtClean="0"/>
          </a:p>
          <a:p>
            <a:pPr lvl="1">
              <a:lnSpc>
                <a:spcPct val="120000"/>
              </a:lnSpc>
            </a:pPr>
            <a:r>
              <a:rPr lang="zh-CN" altLang="en-US" sz="1800" dirty="0" smtClean="0"/>
              <a:t>访问结构体变量 </a:t>
            </a:r>
            <a:endParaRPr lang="zh-CN" altLang="en-US" sz="1800" dirty="0" smtClean="0"/>
          </a:p>
          <a:p>
            <a:pPr lvl="1"/>
            <a:endParaRPr lang="en-US" altLang="zh-CN" dirty="0" smtClean="0"/>
          </a:p>
          <a:p>
            <a:pPr eaLnBrk="1" hangingPunct="1"/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结构概述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4500594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dirty="0" smtClean="0"/>
              <a:t>结构体的定义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定义结构体类型中包括哪些分量</a:t>
            </a:r>
            <a:endParaRPr lang="zh-CN" altLang="en-US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格式：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err="1" smtClean="0"/>
              <a:t>struct</a:t>
            </a:r>
            <a:r>
              <a:rPr lang="en-US" altLang="zh-CN" dirty="0" smtClean="0"/>
              <a:t> </a:t>
            </a:r>
            <a:r>
              <a:rPr lang="zh-CN" altLang="en-US" dirty="0" smtClean="0"/>
              <a:t>结构体类型名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{ </a:t>
            </a:r>
            <a:r>
              <a:rPr lang="zh-CN" altLang="en-US" dirty="0" smtClean="0"/>
              <a:t>字段声明；</a:t>
            </a:r>
            <a:endParaRPr lang="en-US" altLang="zh-CN" dirty="0" smtClean="0"/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	……</a:t>
            </a:r>
            <a:endParaRPr lang="zh-CN" altLang="en-US" dirty="0" smtClean="0"/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}</a:t>
            </a:r>
            <a:r>
              <a:rPr lang="zh-CN" altLang="en-US" dirty="0" smtClean="0"/>
              <a:t>；</a:t>
            </a:r>
            <a:endParaRPr lang="zh-CN" altLang="en-US" dirty="0" smtClean="0"/>
          </a:p>
          <a:p>
            <a:pPr eaLnBrk="1" hangingPunct="1">
              <a:lnSpc>
                <a:spcPct val="125000"/>
              </a:lnSpc>
            </a:pPr>
            <a:endParaRPr lang="en-US" altLang="zh-CN" dirty="0" smtClean="0"/>
          </a:p>
          <a:p>
            <a:pPr eaLnBrk="1" hangingPunct="1"/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结构概述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643438" y="2285992"/>
            <a:ext cx="2871787" cy="3902075"/>
          </a:xfrm>
          <a:prstGeom prst="rect">
            <a:avLst/>
          </a:prstGeom>
          <a:noFill/>
          <a:ln w="12700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pPr>
              <a:lnSpc>
                <a:spcPct val="130000"/>
              </a:lnSpc>
              <a:tabLst>
                <a:tab pos="5029200" algn="l"/>
              </a:tabLst>
            </a:pPr>
            <a:r>
              <a:rPr lang="zh-CN" altLang="en-US" sz="2400" b="1" dirty="0"/>
              <a:t>如：</a:t>
            </a:r>
            <a:endParaRPr lang="zh-CN" altLang="en-US" sz="2400" b="1" dirty="0"/>
          </a:p>
          <a:p>
            <a:pPr>
              <a:lnSpc>
                <a:spcPct val="130000"/>
              </a:lnSpc>
              <a:tabLst>
                <a:tab pos="5029200" algn="l"/>
              </a:tabLst>
            </a:pPr>
            <a:r>
              <a:rPr lang="en-US" altLang="zh-CN" sz="2400" b="1" dirty="0" err="1"/>
              <a:t>struct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studentT</a:t>
            </a:r>
            <a:r>
              <a:rPr lang="en-US" altLang="zh-CN" sz="2400" b="1" dirty="0"/>
              <a:t> {</a:t>
            </a:r>
            <a:endParaRPr lang="en-US" altLang="zh-CN" sz="2400" b="1" dirty="0"/>
          </a:p>
          <a:p>
            <a:pPr>
              <a:lnSpc>
                <a:spcPct val="130000"/>
              </a:lnSpc>
              <a:tabLst>
                <a:tab pos="5029200" algn="l"/>
              </a:tabLst>
            </a:pPr>
            <a:r>
              <a:rPr lang="pt-BR" altLang="zh-CN" sz="2400" b="1" dirty="0"/>
              <a:t>     char  no[10];</a:t>
            </a:r>
            <a:endParaRPr lang="pt-BR" altLang="zh-CN" sz="2400" b="1" dirty="0"/>
          </a:p>
          <a:p>
            <a:pPr>
              <a:lnSpc>
                <a:spcPct val="130000"/>
              </a:lnSpc>
              <a:tabLst>
                <a:tab pos="5029200" algn="l"/>
              </a:tabLst>
            </a:pPr>
            <a:r>
              <a:rPr lang="pt-BR" altLang="zh-CN" sz="2400" b="1" dirty="0"/>
              <a:t>     char  name[10];</a:t>
            </a:r>
            <a:endParaRPr lang="pt-BR" altLang="zh-CN" sz="2400" b="1" dirty="0"/>
          </a:p>
          <a:p>
            <a:pPr>
              <a:lnSpc>
                <a:spcPct val="130000"/>
              </a:lnSpc>
              <a:tabLst>
                <a:tab pos="5029200" algn="l"/>
              </a:tabLst>
            </a:pPr>
            <a:r>
              <a:rPr lang="en-US" altLang="zh-CN" sz="2400" b="1" dirty="0"/>
              <a:t>    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chinese</a:t>
            </a:r>
            <a:r>
              <a:rPr lang="en-US" altLang="zh-CN" sz="2400" b="1" dirty="0"/>
              <a:t>;</a:t>
            </a:r>
            <a:endParaRPr lang="en-US" altLang="zh-CN" sz="2400" b="1" dirty="0"/>
          </a:p>
          <a:p>
            <a:pPr>
              <a:lnSpc>
                <a:spcPct val="130000"/>
              </a:lnSpc>
              <a:tabLst>
                <a:tab pos="5029200" algn="l"/>
              </a:tabLst>
            </a:pPr>
            <a:r>
              <a:rPr lang="en-US" altLang="zh-CN" sz="2400" b="1" dirty="0"/>
              <a:t>    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math;</a:t>
            </a:r>
            <a:endParaRPr lang="en-US" altLang="zh-CN" sz="2400" b="1" dirty="0"/>
          </a:p>
          <a:p>
            <a:pPr>
              <a:lnSpc>
                <a:spcPct val="130000"/>
              </a:lnSpc>
              <a:tabLst>
                <a:tab pos="5029200" algn="l"/>
              </a:tabLst>
            </a:pPr>
            <a:r>
              <a:rPr lang="en-US" altLang="zh-CN" sz="2400" b="1" dirty="0"/>
              <a:t>     </a:t>
            </a:r>
            <a:r>
              <a:rPr lang="en-US" altLang="zh-CN" sz="2400" b="1" dirty="0" err="1"/>
              <a:t>int</a:t>
            </a:r>
            <a:r>
              <a:rPr lang="en-US" altLang="zh-CN" sz="2400" b="1" dirty="0"/>
              <a:t> </a:t>
            </a:r>
            <a:r>
              <a:rPr lang="en-US" altLang="zh-CN" sz="2400" b="1" dirty="0" err="1"/>
              <a:t>english</a:t>
            </a:r>
            <a:r>
              <a:rPr lang="en-US" altLang="zh-CN" sz="2400" b="1" dirty="0"/>
              <a:t>;</a:t>
            </a:r>
            <a:endParaRPr lang="en-US" altLang="zh-CN" sz="2400" b="1" dirty="0"/>
          </a:p>
          <a:p>
            <a:pPr>
              <a:lnSpc>
                <a:spcPct val="130000"/>
              </a:lnSpc>
              <a:tabLst>
                <a:tab pos="5029200" algn="l"/>
              </a:tabLst>
            </a:pPr>
            <a:r>
              <a:rPr lang="en-US" altLang="zh-CN" sz="2400" b="1" dirty="0"/>
              <a:t>   };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072098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dirty="0" smtClean="0"/>
              <a:t>结构体定义要注意：</a:t>
            </a:r>
            <a:endParaRPr lang="en-US" altLang="zh-CN" dirty="0" smtClean="0"/>
          </a:p>
          <a:p>
            <a:pPr lvl="1">
              <a:lnSpc>
                <a:spcPct val="130000"/>
              </a:lnSpc>
            </a:pPr>
            <a:r>
              <a:rPr lang="zh-CN" altLang="en-US" dirty="0" smtClean="0"/>
              <a:t>字段名可与程序中的变量名相同 </a:t>
            </a:r>
            <a:endParaRPr lang="zh-CN" altLang="en-US" dirty="0" smtClean="0"/>
          </a:p>
          <a:p>
            <a:pPr lvl="1">
              <a:lnSpc>
                <a:spcPct val="130000"/>
              </a:lnSpc>
            </a:pPr>
            <a:r>
              <a:rPr lang="zh-CN" altLang="en-US" dirty="0" smtClean="0"/>
              <a:t>在不同的结构体中可以有相同的字段名 </a:t>
            </a:r>
            <a:endParaRPr lang="zh-CN" altLang="en-US" dirty="0" smtClean="0"/>
          </a:p>
          <a:p>
            <a:pPr lvl="1">
              <a:lnSpc>
                <a:spcPct val="130000"/>
              </a:lnSpc>
            </a:pPr>
            <a:r>
              <a:rPr lang="zh-CN" altLang="en-US" dirty="0" smtClean="0"/>
              <a:t>结构体成员的类型可以是任意类型，当然也可以是结构体类型</a:t>
            </a:r>
            <a:endParaRPr lang="en-US" altLang="zh-CN" dirty="0" smtClean="0"/>
          </a:p>
          <a:p>
            <a:pPr>
              <a:lnSpc>
                <a:spcPct val="115000"/>
              </a:lnSpc>
              <a:buNone/>
            </a:pP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struct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dateT</a:t>
            </a:r>
            <a:endParaRPr lang="en-US" altLang="zh-CN" sz="1800" dirty="0" smtClean="0"/>
          </a:p>
          <a:p>
            <a:pPr>
              <a:lnSpc>
                <a:spcPct val="115000"/>
              </a:lnSpc>
              <a:buNone/>
            </a:pPr>
            <a:r>
              <a:rPr lang="en-US" altLang="zh-CN" sz="1800" dirty="0" smtClean="0"/>
              <a:t>	{	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month;</a:t>
            </a:r>
            <a:endParaRPr lang="en-US" altLang="zh-CN" sz="1800" dirty="0" smtClean="0"/>
          </a:p>
          <a:p>
            <a:pPr>
              <a:lnSpc>
                <a:spcPct val="115000"/>
              </a:lnSpc>
              <a:buNone/>
            </a:pPr>
            <a:r>
              <a:rPr lang="en-US" altLang="zh-CN" sz="1800" dirty="0" smtClean="0"/>
              <a:t>		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day;</a:t>
            </a:r>
            <a:endParaRPr lang="en-US" altLang="zh-CN" sz="1800" dirty="0" smtClean="0"/>
          </a:p>
          <a:p>
            <a:pPr>
              <a:lnSpc>
                <a:spcPct val="115000"/>
              </a:lnSpc>
              <a:buNone/>
            </a:pPr>
            <a:r>
              <a:rPr lang="en-US" altLang="zh-CN" sz="1800" dirty="0" smtClean="0"/>
              <a:t>		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year;</a:t>
            </a:r>
            <a:endParaRPr lang="en-US" altLang="zh-CN" sz="1800" dirty="0" smtClean="0"/>
          </a:p>
          <a:p>
            <a:pPr>
              <a:lnSpc>
                <a:spcPct val="115000"/>
              </a:lnSpc>
              <a:buNone/>
            </a:pPr>
            <a:r>
              <a:rPr lang="en-US" altLang="zh-CN" sz="1800" dirty="0" smtClean="0"/>
              <a:t>	};</a:t>
            </a:r>
            <a:endParaRPr lang="en-US" altLang="zh-CN" sz="1800" dirty="0" smtClean="0"/>
          </a:p>
          <a:p>
            <a:pPr>
              <a:lnSpc>
                <a:spcPct val="115000"/>
              </a:lnSpc>
              <a:buNone/>
            </a:pP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struct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studentT</a:t>
            </a:r>
            <a:endParaRPr lang="en-US" altLang="zh-CN" sz="1800" dirty="0" smtClean="0"/>
          </a:p>
          <a:p>
            <a:pPr>
              <a:lnSpc>
                <a:spcPct val="115000"/>
              </a:lnSpc>
              <a:buNone/>
            </a:pPr>
            <a:r>
              <a:rPr lang="en-US" altLang="zh-CN" sz="1800" dirty="0" smtClean="0"/>
              <a:t>	{	...</a:t>
            </a:r>
            <a:endParaRPr lang="en-US" altLang="zh-CN" sz="1800" dirty="0" smtClean="0"/>
          </a:p>
          <a:p>
            <a:pPr>
              <a:lnSpc>
                <a:spcPct val="115000"/>
              </a:lnSpc>
              <a:buNone/>
            </a:pPr>
            <a:r>
              <a:rPr lang="en-US" altLang="zh-CN" sz="1800" dirty="0" smtClean="0"/>
              <a:t>		</a:t>
            </a:r>
            <a:r>
              <a:rPr lang="en-US" altLang="zh-CN" sz="1800" dirty="0" err="1" smtClean="0"/>
              <a:t>dateT</a:t>
            </a:r>
            <a:r>
              <a:rPr lang="en-US" altLang="zh-CN" sz="1800" dirty="0" smtClean="0"/>
              <a:t> birthday;</a:t>
            </a:r>
            <a:endParaRPr lang="en-US" altLang="zh-CN" sz="1800" dirty="0" smtClean="0"/>
          </a:p>
          <a:p>
            <a:pPr>
              <a:lnSpc>
                <a:spcPct val="115000"/>
              </a:lnSpc>
            </a:pPr>
            <a:r>
              <a:rPr lang="en-US" altLang="zh-CN" sz="1800" dirty="0" smtClean="0"/>
              <a:t>}; </a:t>
            </a:r>
            <a:endParaRPr lang="en-US" altLang="zh-CN" sz="1800" dirty="0" smtClean="0"/>
          </a:p>
          <a:p>
            <a:pPr lvl="1">
              <a:lnSpc>
                <a:spcPct val="130000"/>
              </a:lnSpc>
              <a:buNone/>
            </a:pPr>
            <a:endParaRPr lang="zh-CN" altLang="en-US" dirty="0" smtClean="0"/>
          </a:p>
          <a:p>
            <a:pPr eaLnBrk="1" hangingPunct="1">
              <a:lnSpc>
                <a:spcPct val="125000"/>
              </a:lnSpc>
            </a:pPr>
            <a:endParaRPr lang="en-US" altLang="zh-CN" dirty="0" smtClean="0"/>
          </a:p>
          <a:p>
            <a:pPr eaLnBrk="1" hangingPunct="1"/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结构概述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072098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dirty="0" smtClean="0"/>
              <a:t>结构体变量的定义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结构体变量的定义和普通的变量定义一样。如定义了结构体类型</a:t>
            </a:r>
            <a:r>
              <a:rPr lang="en-US" altLang="zh-CN" dirty="0" err="1" smtClean="0"/>
              <a:t>studentT</a:t>
            </a:r>
            <a:r>
              <a:rPr lang="zh-CN" altLang="en-US" dirty="0" smtClean="0"/>
              <a:t>，就可以定义结构体变量：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一旦定义了一个结构体类型的变量，系统在分配内存时就会分配一块连续的空间，依次存放它的每一个分量。这块空间总的名字就是结构体变量的名字。内部还有各自的名字 </a:t>
            </a:r>
            <a:endParaRPr lang="zh-CN" altLang="en-US" dirty="0" smtClean="0"/>
          </a:p>
          <a:p>
            <a:pPr>
              <a:lnSpc>
                <a:spcPct val="125000"/>
              </a:lnSpc>
              <a:buNone/>
            </a:pPr>
            <a:r>
              <a:rPr lang="en-US" altLang="zh-CN" dirty="0" smtClean="0"/>
              <a:t>	</a:t>
            </a:r>
            <a:r>
              <a:rPr lang="en-US" altLang="zh-CN" dirty="0" err="1" smtClean="0"/>
              <a:t>studentT</a:t>
            </a:r>
            <a:r>
              <a:rPr lang="en-US" altLang="zh-CN" dirty="0" smtClean="0"/>
              <a:t>  student1;</a:t>
            </a:r>
            <a:endParaRPr lang="en-US" altLang="zh-CN" dirty="0" smtClean="0"/>
          </a:p>
          <a:p>
            <a:pPr eaLnBrk="1" hangingPunct="1">
              <a:lnSpc>
                <a:spcPct val="125000"/>
              </a:lnSpc>
            </a:pPr>
            <a:endParaRPr lang="en-US" altLang="zh-CN" dirty="0" smtClean="0"/>
          </a:p>
          <a:p>
            <a:pPr eaLnBrk="1" hangingPunct="1">
              <a:lnSpc>
                <a:spcPct val="125000"/>
              </a:lnSpc>
            </a:pPr>
            <a:endParaRPr lang="en-US" altLang="zh-CN" dirty="0" smtClean="0"/>
          </a:p>
          <a:p>
            <a:pPr eaLnBrk="1" hangingPunct="1">
              <a:lnSpc>
                <a:spcPct val="125000"/>
              </a:lnSpc>
            </a:pPr>
            <a:endParaRPr lang="en-US" altLang="zh-CN" dirty="0" smtClean="0"/>
          </a:p>
          <a:p>
            <a:pPr eaLnBrk="1" hangingPunct="1">
              <a:lnSpc>
                <a:spcPct val="125000"/>
              </a:lnSpc>
            </a:pPr>
            <a:r>
              <a:rPr lang="zh-CN" altLang="en-US" dirty="0" smtClean="0"/>
              <a:t>结构体变量的初始化</a:t>
            </a:r>
            <a:endParaRPr lang="en-US" altLang="zh-CN" dirty="0" smtClean="0"/>
          </a:p>
          <a:p>
            <a:pPr>
              <a:lnSpc>
                <a:spcPct val="12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	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studentT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 student1={“00001”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，“张三” ，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87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90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77}</a:t>
            </a:r>
            <a:r>
              <a:rPr lang="zh-CN" altLang="en-US" sz="20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zh-CN" altLang="en-US" sz="2000" b="1" dirty="0" smtClean="0">
                <a:latin typeface="Times New Roman" panose="02020603050405020304" pitchFamily="18" charset="0"/>
              </a:rPr>
              <a:t> </a:t>
            </a:r>
            <a:endParaRPr lang="zh-CN" altLang="en-US" b="1" dirty="0" smtClean="0">
              <a:latin typeface="Times New Roman" panose="02020603050405020304" pitchFamily="18" charset="0"/>
            </a:endParaRPr>
          </a:p>
          <a:p>
            <a:pPr>
              <a:lnSpc>
                <a:spcPct val="125000"/>
              </a:lnSpc>
              <a:buNone/>
            </a:pPr>
            <a:endParaRPr lang="en-US" altLang="zh-CN" dirty="0" smtClean="0"/>
          </a:p>
          <a:p>
            <a:pPr eaLnBrk="1" hangingPunct="1">
              <a:lnSpc>
                <a:spcPct val="125000"/>
              </a:lnSpc>
            </a:pPr>
            <a:endParaRPr lang="en-US" altLang="zh-CN" dirty="0" smtClean="0"/>
          </a:p>
          <a:p>
            <a:pPr eaLnBrk="1" hangingPunct="1"/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结构概述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4" name="Group 13"/>
          <p:cNvGrpSpPr/>
          <p:nvPr/>
        </p:nvGrpSpPr>
        <p:grpSpPr bwMode="auto">
          <a:xfrm>
            <a:off x="857224" y="3857628"/>
            <a:ext cx="7550152" cy="1079500"/>
            <a:chOff x="560" y="3256"/>
            <a:chExt cx="4576" cy="680"/>
          </a:xfrm>
        </p:grpSpPr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1360" y="3256"/>
              <a:ext cx="3776" cy="6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/>
            <a:lstStyle/>
            <a:p>
              <a:pPr algn="just"/>
              <a:r>
                <a:rPr lang="en-US" altLang="zh-CN" sz="2400" b="1">
                  <a:latin typeface="Times New Roman" panose="02020603050405020304" pitchFamily="18" charset="0"/>
                </a:rPr>
                <a:t> </a:t>
              </a:r>
              <a:endParaRPr lang="en-US" altLang="zh-CN" sz="2400" b="1">
                <a:solidFill>
                  <a:schemeClr val="bg2"/>
                </a:solidFill>
              </a:endParaRP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4296" y="3404"/>
              <a:ext cx="704" cy="258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ea typeface="黑体" panose="02010609060101010101" pitchFamily="2" charset="-122"/>
                </a:rPr>
                <a:t>english</a:t>
              </a:r>
              <a:endParaRPr kumimoji="1" lang="en-US" altLang="zh-CN" sz="2000" b="1">
                <a:ea typeface="黑体" panose="02010609060101010101" pitchFamily="2" charset="-122"/>
              </a:endParaRP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3624" y="3404"/>
              <a:ext cx="568" cy="258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ea typeface="黑体" panose="02010609060101010101" pitchFamily="2" charset="-122"/>
                </a:rPr>
                <a:t>math</a:t>
              </a:r>
              <a:endParaRPr kumimoji="1" lang="en-US" altLang="zh-CN" sz="2000" b="1">
                <a:ea typeface="黑体" panose="02010609060101010101" pitchFamily="2" charset="-122"/>
              </a:endParaRP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822" y="3439"/>
              <a:ext cx="720" cy="258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000" b="1">
                  <a:ea typeface="黑体" panose="02010609060101010101" pitchFamily="2" charset="-122"/>
                </a:rPr>
                <a:t>chinese</a:t>
              </a:r>
              <a:endParaRPr kumimoji="1" lang="en-US" altLang="zh-CN" sz="2000" b="1">
                <a:ea typeface="黑体" panose="02010609060101010101" pitchFamily="2" charset="-122"/>
              </a:endParaRP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2096" y="3439"/>
              <a:ext cx="568" cy="258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ea typeface="黑体" panose="02010609060101010101" pitchFamily="2" charset="-122"/>
                </a:rPr>
                <a:t>name</a:t>
              </a:r>
              <a:endParaRPr kumimoji="1" lang="en-US" altLang="zh-CN" sz="2000" b="1">
                <a:ea typeface="黑体" panose="02010609060101010101" pitchFamily="2" charset="-122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1584" y="3439"/>
              <a:ext cx="371" cy="258"/>
            </a:xfrm>
            <a:prstGeom prst="rect">
              <a:avLst/>
            </a:prstGeom>
            <a:noFill/>
            <a:ln w="12700" cap="sq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ea typeface="黑体" panose="02010609060101010101" pitchFamily="2" charset="-122"/>
                </a:rPr>
                <a:t>no</a:t>
              </a:r>
              <a:endParaRPr kumimoji="1" lang="en-US" altLang="zh-CN" sz="2000">
                <a:ea typeface="黑体" panose="02010609060101010101" pitchFamily="2" charset="-122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560" y="3481"/>
              <a:ext cx="800" cy="250"/>
            </a:xfrm>
            <a:prstGeom prst="rect">
              <a:avLst/>
            </a:prstGeom>
            <a:noFill/>
            <a:ln w="12700" cap="sq" algn="ctr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 dirty="0">
                  <a:ea typeface="黑体" panose="02010609060101010101" pitchFamily="2" charset="-122"/>
                </a:rPr>
                <a:t>student1</a:t>
              </a:r>
              <a:endParaRPr kumimoji="1" lang="en-US" altLang="zh-CN" sz="2000" b="1" dirty="0"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072098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dirty="0" smtClean="0"/>
              <a:t>定义结构体类型的同时定义变量</a:t>
            </a:r>
            <a:endParaRPr lang="en-US" altLang="zh-CN" dirty="0" smtClean="0"/>
          </a:p>
          <a:p>
            <a:pPr lvl="1">
              <a:lnSpc>
                <a:spcPct val="125000"/>
              </a:lnSpc>
            </a:pPr>
            <a:r>
              <a:rPr kumimoji="1" lang="zh-CN" altLang="en-US" dirty="0" smtClean="0">
                <a:ea typeface="黑体" panose="02010609060101010101" pitchFamily="2" charset="-122"/>
              </a:rPr>
              <a:t>区别：前者可以继续用结构体类型名定义变量</a:t>
            </a:r>
            <a:endParaRPr kumimoji="1" lang="zh-CN" altLang="en-US" dirty="0" smtClean="0"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zh-CN" altLang="en-US" b="1" dirty="0" smtClean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结构概述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2241550"/>
            <a:ext cx="3683000" cy="2076450"/>
          </a:xfrm>
          <a:prstGeom prst="rect">
            <a:avLst/>
          </a:prstGeom>
          <a:noFill/>
          <a:ln w="12700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lvl="1">
              <a:lnSpc>
                <a:spcPct val="180000"/>
              </a:lnSpc>
            </a:pPr>
            <a:r>
              <a:rPr lang="en-US" altLang="zh-CN" sz="2400" b="1"/>
              <a:t>struct </a:t>
            </a:r>
            <a:r>
              <a:rPr lang="zh-CN" altLang="en-US" sz="2400" b="1"/>
              <a:t>结构体类型名</a:t>
            </a:r>
            <a:r>
              <a:rPr lang="en-US" altLang="zh-CN" sz="2400" b="1"/>
              <a:t>{</a:t>
            </a:r>
            <a:endParaRPr lang="en-US" altLang="zh-CN" sz="2400" b="1"/>
          </a:p>
          <a:p>
            <a:pPr lvl="1">
              <a:lnSpc>
                <a:spcPct val="180000"/>
              </a:lnSpc>
            </a:pPr>
            <a:r>
              <a:rPr lang="en-US" altLang="zh-CN" sz="2400" b="1"/>
              <a:t>    </a:t>
            </a:r>
            <a:r>
              <a:rPr lang="zh-CN" altLang="en-US" sz="2400" b="1"/>
              <a:t>字段声明；</a:t>
            </a:r>
            <a:endParaRPr lang="zh-CN" altLang="en-US" sz="2400" b="1"/>
          </a:p>
          <a:p>
            <a:pPr lvl="1">
              <a:lnSpc>
                <a:spcPct val="180000"/>
              </a:lnSpc>
            </a:pPr>
            <a:r>
              <a:rPr lang="en-US" altLang="zh-CN" sz="2400" b="1"/>
              <a:t>} </a:t>
            </a:r>
            <a:r>
              <a:rPr lang="zh-CN" altLang="en-US" sz="2400" b="1"/>
              <a:t>结构体变量；</a:t>
            </a:r>
            <a:endParaRPr lang="zh-CN" altLang="en-US" sz="2400" b="1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635500" y="2241550"/>
            <a:ext cx="3416300" cy="2076450"/>
          </a:xfrm>
          <a:prstGeom prst="rect">
            <a:avLst/>
          </a:prstGeom>
          <a:noFill/>
          <a:ln w="12700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lvl="1">
              <a:lnSpc>
                <a:spcPct val="180000"/>
              </a:lnSpc>
            </a:pPr>
            <a:r>
              <a:rPr lang="en-US" altLang="zh-CN" sz="2400" b="1"/>
              <a:t>struct {</a:t>
            </a:r>
            <a:endParaRPr lang="en-US" altLang="zh-CN" sz="2400" b="1"/>
          </a:p>
          <a:p>
            <a:pPr lvl="1">
              <a:lnSpc>
                <a:spcPct val="180000"/>
              </a:lnSpc>
            </a:pPr>
            <a:r>
              <a:rPr lang="en-US" altLang="zh-CN" sz="2400" b="1"/>
              <a:t>     </a:t>
            </a:r>
            <a:r>
              <a:rPr lang="zh-CN" altLang="en-US" sz="2400" b="1"/>
              <a:t>字段声明；</a:t>
            </a:r>
            <a:endParaRPr lang="zh-CN" altLang="en-US" sz="2400" b="1"/>
          </a:p>
          <a:p>
            <a:pPr lvl="1">
              <a:lnSpc>
                <a:spcPct val="180000"/>
              </a:lnSpc>
            </a:pPr>
            <a:r>
              <a:rPr lang="en-US" altLang="zh-CN" sz="2400" b="1"/>
              <a:t>} </a:t>
            </a:r>
            <a:r>
              <a:rPr lang="zh-CN" altLang="en-US" sz="2400" b="1"/>
              <a:t>结构体变量；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072098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en-US" altLang="zh-CN" dirty="0" err="1" smtClean="0"/>
              <a:t>typedef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struct</a:t>
            </a:r>
            <a:endParaRPr lang="en-US" altLang="zh-CN" dirty="0" smtClean="0"/>
          </a:p>
          <a:p>
            <a:pPr lvl="1">
              <a:lnSpc>
                <a:spcPct val="125000"/>
              </a:lnSpc>
            </a:pPr>
            <a:r>
              <a:rPr kumimoji="1" lang="zh-CN" altLang="en-US" dirty="0" smtClean="0">
                <a:ea typeface="黑体" panose="02010609060101010101" pitchFamily="2" charset="-122"/>
              </a:rPr>
              <a:t>在纯</a:t>
            </a:r>
            <a:r>
              <a:rPr kumimoji="1" lang="en-US" altLang="zh-CN" dirty="0" smtClean="0">
                <a:ea typeface="黑体" panose="02010609060101010101" pitchFamily="2" charset="-122"/>
              </a:rPr>
              <a:t>C</a:t>
            </a:r>
            <a:r>
              <a:rPr kumimoji="1" lang="zh-CN" altLang="en-US" dirty="0" smtClean="0">
                <a:ea typeface="黑体" panose="02010609060101010101" pitchFamily="2" charset="-122"/>
              </a:rPr>
              <a:t>语言中，往往会看到</a:t>
            </a:r>
            <a:r>
              <a:rPr kumimoji="1" lang="en-US" altLang="zh-CN" dirty="0" err="1" smtClean="0">
                <a:ea typeface="黑体" panose="02010609060101010101" pitchFamily="2" charset="-122"/>
              </a:rPr>
              <a:t>typedef</a:t>
            </a:r>
            <a:r>
              <a:rPr kumimoji="1" lang="en-US" altLang="zh-CN" dirty="0" smtClean="0">
                <a:ea typeface="黑体" panose="02010609060101010101" pitchFamily="2" charset="-122"/>
              </a:rPr>
              <a:t> </a:t>
            </a:r>
            <a:r>
              <a:rPr kumimoji="1" lang="en-US" altLang="zh-CN" dirty="0" err="1" smtClean="0">
                <a:ea typeface="黑体" panose="02010609060101010101" pitchFamily="2" charset="-122"/>
              </a:rPr>
              <a:t>struct</a:t>
            </a:r>
            <a:r>
              <a:rPr kumimoji="1" lang="zh-CN" altLang="en-US" dirty="0" smtClean="0">
                <a:ea typeface="黑体" panose="02010609060101010101" pitchFamily="2" charset="-122"/>
              </a:rPr>
              <a:t>的用法，因为在纯</a:t>
            </a:r>
            <a:r>
              <a:rPr kumimoji="1" lang="en-US" altLang="zh-CN" dirty="0" smtClean="0">
                <a:ea typeface="黑体" panose="02010609060101010101" pitchFamily="2" charset="-122"/>
              </a:rPr>
              <a:t>C</a:t>
            </a:r>
            <a:r>
              <a:rPr kumimoji="1" lang="zh-CN" altLang="en-US" dirty="0" smtClean="0">
                <a:ea typeface="黑体" panose="02010609060101010101" pitchFamily="2" charset="-122"/>
              </a:rPr>
              <a:t>中，定义一个结构体变量往往要用</a:t>
            </a:r>
            <a:r>
              <a:rPr kumimoji="1" lang="en-US" altLang="zh-CN" b="1" u="sng" dirty="0" err="1" smtClean="0">
                <a:solidFill>
                  <a:srgbClr val="FF0000"/>
                </a:solidFill>
                <a:ea typeface="黑体" panose="02010609060101010101" pitchFamily="2" charset="-122"/>
              </a:rPr>
              <a:t>struct</a:t>
            </a:r>
            <a:r>
              <a:rPr kumimoji="1" lang="en-US" altLang="zh-CN" b="1" u="sng" dirty="0" smtClean="0">
                <a:solidFill>
                  <a:srgbClr val="FF0000"/>
                </a:solidFill>
                <a:ea typeface="黑体" panose="02010609060101010101" pitchFamily="2" charset="-122"/>
              </a:rPr>
              <a:t>  </a:t>
            </a:r>
            <a:r>
              <a:rPr kumimoji="1" lang="zh-CN" altLang="en-US" b="1" u="sng" dirty="0" smtClean="0">
                <a:solidFill>
                  <a:srgbClr val="FF0000"/>
                </a:solidFill>
                <a:ea typeface="黑体" panose="02010609060101010101" pitchFamily="2" charset="-122"/>
              </a:rPr>
              <a:t>结构体类型 变量名</a:t>
            </a:r>
            <a:r>
              <a:rPr kumimoji="1" lang="en-US" altLang="zh-CN" dirty="0" smtClean="0">
                <a:ea typeface="黑体" panose="02010609060101010101" pitchFamily="2" charset="-122"/>
              </a:rPr>
              <a:t>;</a:t>
            </a:r>
            <a:endParaRPr kumimoji="1" lang="en-US" altLang="zh-CN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600" dirty="0" err="1" smtClean="0">
                <a:ea typeface="黑体" panose="02010609060101010101" pitchFamily="2" charset="-122"/>
              </a:rPr>
              <a:t>typedef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struct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Date {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int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year;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int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month;	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int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day;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}DA;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600" dirty="0" err="1" smtClean="0">
                <a:ea typeface="黑体" panose="02010609060101010101" pitchFamily="2" charset="-122"/>
              </a:rPr>
              <a:t>struct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Person{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int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ID;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char name[20];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bool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sex;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} p1;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25000"/>
              </a:lnSpc>
              <a:buNone/>
            </a:pPr>
            <a:endParaRPr kumimoji="1" lang="en-US" altLang="zh-CN" dirty="0" smtClean="0">
              <a:ea typeface="黑体" panose="02010609060101010101" pitchFamily="2" charset="-122"/>
            </a:endParaRPr>
          </a:p>
          <a:p>
            <a:pPr lvl="1">
              <a:lnSpc>
                <a:spcPct val="125000"/>
              </a:lnSpc>
              <a:buNone/>
            </a:pPr>
            <a:endParaRPr kumimoji="1" lang="zh-CN" altLang="en-US" dirty="0" smtClean="0"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zh-CN" altLang="en-US" b="1" dirty="0" smtClean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结构概述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071934" y="2857496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dirty="0" smtClean="0">
                <a:ea typeface="黑体" panose="02010609060101010101" pitchFamily="2" charset="-122"/>
              </a:rPr>
              <a:t>void main()</a:t>
            </a:r>
            <a:endParaRPr kumimoji="1" lang="en-US" altLang="zh-CN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dirty="0" smtClean="0">
                <a:ea typeface="黑体" panose="02010609060101010101" pitchFamily="2" charset="-122"/>
              </a:rPr>
              <a:t>{  DA t1; //</a:t>
            </a:r>
            <a:r>
              <a:rPr kumimoji="1" lang="zh-CN" altLang="en-US" dirty="0" smtClean="0">
                <a:ea typeface="黑体" panose="02010609060101010101" pitchFamily="2" charset="-122"/>
              </a:rPr>
              <a:t>利用</a:t>
            </a:r>
            <a:r>
              <a:rPr kumimoji="1" lang="en-US" altLang="zh-CN" dirty="0" err="1" smtClean="0">
                <a:ea typeface="黑体" panose="02010609060101010101" pitchFamily="2" charset="-122"/>
              </a:rPr>
              <a:t>typedef</a:t>
            </a:r>
            <a:r>
              <a:rPr kumimoji="1" lang="zh-CN" altLang="en-US" dirty="0" smtClean="0">
                <a:ea typeface="黑体" panose="02010609060101010101" pitchFamily="2" charset="-122"/>
              </a:rPr>
              <a:t>的写法</a:t>
            </a:r>
            <a:endParaRPr kumimoji="1" lang="en-US" altLang="zh-CN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dirty="0" smtClean="0">
                <a:ea typeface="黑体" panose="02010609060101010101" pitchFamily="2" charset="-122"/>
              </a:rPr>
              <a:t>   Date t2; //C++</a:t>
            </a:r>
            <a:r>
              <a:rPr kumimoji="1" lang="zh-CN" altLang="en-US" dirty="0" smtClean="0">
                <a:ea typeface="黑体" panose="02010609060101010101" pitchFamily="2" charset="-122"/>
              </a:rPr>
              <a:t>写法省略</a:t>
            </a:r>
            <a:r>
              <a:rPr kumimoji="1" lang="en-US" altLang="zh-CN" dirty="0" err="1" smtClean="0">
                <a:ea typeface="黑体" panose="02010609060101010101" pitchFamily="2" charset="-122"/>
              </a:rPr>
              <a:t>struct</a:t>
            </a:r>
            <a:endParaRPr kumimoji="1" lang="en-US" altLang="zh-CN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dirty="0" smtClean="0">
                <a:ea typeface="黑体" panose="02010609060101010101" pitchFamily="2" charset="-122"/>
              </a:rPr>
              <a:t>   </a:t>
            </a:r>
            <a:r>
              <a:rPr kumimoji="1" lang="en-US" altLang="zh-CN" dirty="0" err="1" smtClean="0">
                <a:ea typeface="黑体" panose="02010609060101010101" pitchFamily="2" charset="-122"/>
              </a:rPr>
              <a:t>struct</a:t>
            </a:r>
            <a:r>
              <a:rPr kumimoji="1" lang="en-US" altLang="zh-CN" dirty="0" smtClean="0">
                <a:ea typeface="黑体" panose="02010609060101010101" pitchFamily="2" charset="-122"/>
              </a:rPr>
              <a:t> Date t3; //C</a:t>
            </a:r>
            <a:r>
              <a:rPr kumimoji="1" lang="zh-CN" altLang="en-US" smtClean="0">
                <a:ea typeface="黑体" panose="02010609060101010101" pitchFamily="2" charset="-122"/>
              </a:rPr>
              <a:t>写法</a:t>
            </a:r>
            <a:endParaRPr kumimoji="1" lang="en-US" altLang="zh-CN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dirty="0" smtClean="0">
                <a:ea typeface="黑体" panose="02010609060101010101" pitchFamily="2" charset="-122"/>
              </a:rPr>
              <a:t>   t1.year =2016;</a:t>
            </a:r>
            <a:endParaRPr kumimoji="1" lang="en-US" altLang="zh-CN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dirty="0" smtClean="0">
                <a:ea typeface="黑体" panose="02010609060101010101" pitchFamily="2" charset="-122"/>
              </a:rPr>
              <a:t>   p1.ID =2015150000;</a:t>
            </a:r>
            <a:endParaRPr kumimoji="1" lang="en-US" altLang="zh-CN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dirty="0" smtClean="0">
                <a:ea typeface="黑体" panose="02010609060101010101" pitchFamily="2" charset="-122"/>
              </a:rPr>
              <a:t>}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072098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dirty="0" smtClean="0"/>
              <a:t>结构体变量的访问</a:t>
            </a:r>
            <a:endParaRPr lang="en-US" altLang="zh-CN" dirty="0" smtClean="0"/>
          </a:p>
          <a:p>
            <a:pPr lvl="1">
              <a:lnSpc>
                <a:spcPct val="125000"/>
              </a:lnSpc>
            </a:pPr>
            <a:r>
              <a:rPr lang="zh-CN" altLang="en-US" dirty="0" smtClean="0"/>
              <a:t>对结构体类型变量的引用一般为引用他的成员 </a:t>
            </a:r>
            <a:endParaRPr lang="en-US" altLang="zh-CN" dirty="0" smtClean="0"/>
          </a:p>
          <a:p>
            <a:pPr lvl="1">
              <a:lnSpc>
                <a:spcPct val="125000"/>
              </a:lnSpc>
            </a:pPr>
            <a:r>
              <a:rPr kumimoji="1" lang="zh-CN" altLang="en-US" dirty="0" smtClean="0">
                <a:ea typeface="黑体" panose="02010609060101010101" pitchFamily="2" charset="-122"/>
              </a:rPr>
              <a:t>格式：变量名</a:t>
            </a:r>
            <a:r>
              <a:rPr kumimoji="1" lang="en-US" altLang="zh-CN" dirty="0" smtClean="0">
                <a:ea typeface="黑体" panose="02010609060101010101" pitchFamily="2" charset="-122"/>
              </a:rPr>
              <a:t>.</a:t>
            </a:r>
            <a:r>
              <a:rPr kumimoji="1" lang="zh-CN" altLang="en-US" dirty="0" smtClean="0">
                <a:ea typeface="黑体" panose="02010609060101010101" pitchFamily="2" charset="-122"/>
              </a:rPr>
              <a:t>成员名</a:t>
            </a:r>
            <a:endParaRPr kumimoji="1" lang="en-US" altLang="zh-CN" dirty="0" smtClean="0">
              <a:ea typeface="黑体" panose="02010609060101010101" pitchFamily="2" charset="-122"/>
            </a:endParaRPr>
          </a:p>
          <a:p>
            <a:pPr lvl="1">
              <a:lnSpc>
                <a:spcPct val="125000"/>
              </a:lnSpc>
              <a:buNone/>
            </a:pPr>
            <a:r>
              <a:rPr kumimoji="1" lang="en-US" altLang="zh-CN" dirty="0" smtClean="0">
                <a:ea typeface="黑体" panose="02010609060101010101" pitchFamily="2" charset="-122"/>
              </a:rPr>
              <a:t>student1.name</a:t>
            </a:r>
            <a:endParaRPr kumimoji="1" lang="en-US" altLang="zh-CN" dirty="0" smtClean="0">
              <a:ea typeface="黑体" panose="02010609060101010101" pitchFamily="2" charset="-122"/>
            </a:endParaRPr>
          </a:p>
          <a:p>
            <a:pPr lvl="1">
              <a:lnSpc>
                <a:spcPct val="125000"/>
              </a:lnSpc>
            </a:pPr>
            <a:r>
              <a:rPr lang="zh-CN" altLang="en-US" dirty="0" smtClean="0"/>
              <a:t>如成员中还包含结构体，可逐级展开</a:t>
            </a:r>
            <a:endParaRPr kumimoji="1" lang="en-US" altLang="zh-CN" dirty="0" smtClean="0">
              <a:ea typeface="黑体" panose="02010609060101010101" pitchFamily="2" charset="-122"/>
            </a:endParaRPr>
          </a:p>
          <a:p>
            <a:pPr lvl="1">
              <a:lnSpc>
                <a:spcPct val="125000"/>
              </a:lnSpc>
              <a:buNone/>
            </a:pPr>
            <a:r>
              <a:rPr kumimoji="1" lang="en-US" altLang="zh-CN" dirty="0" smtClean="0">
                <a:ea typeface="黑体" panose="02010609060101010101" pitchFamily="2" charset="-122"/>
              </a:rPr>
              <a:t>student1.birthday.year</a:t>
            </a:r>
            <a:endParaRPr kumimoji="1" lang="zh-CN" altLang="en-US" dirty="0" smtClean="0"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zh-CN" altLang="en-US" b="1" dirty="0" smtClean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结构概述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072098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000" dirty="0" smtClean="0"/>
              <a:t>结构体变量的赋值通常是通过对它的每一个成员的赋值而实现。如：输入</a:t>
            </a:r>
            <a:r>
              <a:rPr lang="en-US" altLang="zh-CN" sz="2000" dirty="0" smtClean="0"/>
              <a:t>student1</a:t>
            </a:r>
            <a:r>
              <a:rPr lang="zh-CN" altLang="en-US" sz="2000" dirty="0" smtClean="0"/>
              <a:t>的内容可用： </a:t>
            </a:r>
            <a:endParaRPr lang="zh-CN" altLang="en-US" sz="2000" dirty="0" smtClean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800" dirty="0" err="1" smtClean="0"/>
              <a:t>cin</a:t>
            </a:r>
            <a:r>
              <a:rPr lang="en-US" altLang="zh-CN" sz="1800" dirty="0" smtClean="0"/>
              <a:t> &gt;&gt; student1.no &gt;&gt; student1.name</a:t>
            </a:r>
            <a:endParaRPr lang="en-US" altLang="zh-CN" sz="1800" dirty="0" smtClean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&gt;&gt; student1.chinese  &gt;&gt; student1.math</a:t>
            </a:r>
            <a:endParaRPr lang="en-US" altLang="zh-CN" sz="1800" dirty="0" smtClean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&gt;&gt; student1.english</a:t>
            </a:r>
            <a:endParaRPr lang="en-US" altLang="zh-CN" sz="1800" dirty="0" smtClean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&gt;&gt; student1.birthday.year</a:t>
            </a:r>
            <a:endParaRPr lang="en-US" altLang="zh-CN" sz="1800" dirty="0" smtClean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&gt;&gt; student1.birthday.month</a:t>
            </a:r>
            <a:endParaRPr lang="en-US" altLang="zh-CN" sz="1800" dirty="0" smtClean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/>
              <a:t>      &gt;&gt; student1.birthday.day;</a:t>
            </a:r>
            <a:endParaRPr lang="en-US" altLang="zh-CN" sz="1800" dirty="0" smtClean="0"/>
          </a:p>
          <a:p>
            <a:pPr eaLnBrk="1" hangingPunct="1">
              <a:lnSpc>
                <a:spcPct val="110000"/>
              </a:lnSpc>
            </a:pPr>
            <a:r>
              <a:rPr lang="zh-CN" altLang="en-US" sz="2000" dirty="0" smtClean="0"/>
              <a:t>同类型的结构变量之间可以相互赋值，如</a:t>
            </a:r>
            <a:endParaRPr lang="zh-CN" altLang="en-US" sz="2000" dirty="0" smtClean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1800" dirty="0" smtClean="0"/>
              <a:t>			student1 = student2; </a:t>
            </a:r>
            <a:endParaRPr lang="en-US" altLang="zh-CN" sz="1800" dirty="0" smtClean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1800" dirty="0" smtClean="0"/>
              <a:t>将</a:t>
            </a:r>
            <a:r>
              <a:rPr lang="en-US" altLang="zh-CN" sz="1800" dirty="0" smtClean="0"/>
              <a:t>student2</a:t>
            </a:r>
            <a:r>
              <a:rPr lang="zh-CN" altLang="en-US" sz="1800" dirty="0" smtClean="0"/>
              <a:t>的成员对应赋给</a:t>
            </a:r>
            <a:r>
              <a:rPr lang="en-US" altLang="zh-CN" sz="1800" dirty="0" smtClean="0"/>
              <a:t>student1</a:t>
            </a:r>
            <a:r>
              <a:rPr lang="zh-CN" altLang="en-US" sz="1800" dirty="0" smtClean="0"/>
              <a:t>的成员</a:t>
            </a:r>
            <a:endParaRPr lang="zh-CN" altLang="en-US" sz="1800" dirty="0" smtClean="0"/>
          </a:p>
          <a:p>
            <a:pPr eaLnBrk="1" hangingPunct="1"/>
            <a:endParaRPr lang="zh-CN" altLang="en-US" sz="2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结构概述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072098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 smtClean="0"/>
              <a:t>结构体变量的输出通常是通过输出它的每一个成员而实现。如：输出</a:t>
            </a:r>
            <a:r>
              <a:rPr lang="en-US" altLang="zh-CN" dirty="0" smtClean="0"/>
              <a:t>student1</a:t>
            </a:r>
            <a:r>
              <a:rPr lang="zh-CN" altLang="en-US" dirty="0" smtClean="0"/>
              <a:t>的内容可用： </a:t>
            </a:r>
            <a:endParaRPr lang="zh-CN" altLang="en-US" dirty="0" smtClean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 err="1" smtClean="0"/>
              <a:t>cout</a:t>
            </a:r>
            <a:r>
              <a:rPr lang="en-US" altLang="zh-CN" dirty="0" smtClean="0"/>
              <a:t> &lt;&lt; student1.no &lt;&lt; student1.name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      &lt;&lt; student1.chinese &lt;&lt; student1.math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      &lt;&lt; student1.english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      &lt;&lt; student1.birthday.year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      &lt;&lt; student1.birthday.month</a:t>
            </a:r>
            <a:endParaRPr lang="en-US" altLang="zh-CN" dirty="0" smtClean="0"/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      &lt;&lt; student1.birthday.day;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结构概述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072098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en-US" altLang="zh-CN" dirty="0" err="1" smtClean="0"/>
              <a:t>struct</a:t>
            </a:r>
            <a:r>
              <a:rPr lang="zh-CN" altLang="en-US" dirty="0" smtClean="0"/>
              <a:t>基本用法</a:t>
            </a:r>
            <a:endParaRPr lang="en-US" altLang="zh-CN" dirty="0" smtClean="0"/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err="1" smtClean="0">
                <a:ea typeface="黑体" panose="02010609060101010101" pitchFamily="2" charset="-122"/>
              </a:rPr>
              <a:t>struct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Date {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int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year;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int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month;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int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day;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};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err="1" smtClean="0">
                <a:ea typeface="黑体" panose="02010609060101010101" pitchFamily="2" charset="-122"/>
              </a:rPr>
              <a:t>struct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Person {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char name[20];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unsigned long id;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double salary;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Date birth;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};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Person pr1={"Frank ", 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		12345,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		 3.35, 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		2016,10,10 };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25000"/>
              </a:lnSpc>
              <a:buNone/>
            </a:pPr>
            <a:endParaRPr kumimoji="1" lang="en-US" altLang="zh-CN" dirty="0" smtClean="0">
              <a:ea typeface="黑体" panose="02010609060101010101" pitchFamily="2" charset="-122"/>
            </a:endParaRPr>
          </a:p>
          <a:p>
            <a:pPr lvl="1">
              <a:lnSpc>
                <a:spcPct val="125000"/>
              </a:lnSpc>
              <a:buNone/>
            </a:pPr>
            <a:endParaRPr kumimoji="1" lang="zh-CN" altLang="en-US" dirty="0" smtClean="0"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zh-CN" altLang="en-US" b="1" dirty="0" smtClean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结构概述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143372" y="1357298"/>
            <a:ext cx="4572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void main()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{ Person pr2;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cout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&lt;&lt;"Input pr2's name:";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cin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&gt;&gt;pr2.name;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cout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&lt;&lt;"Input pr2's birthday:";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cin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&gt;&gt;pr2.birth.year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  &gt;&gt;pr2.birth.month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  &gt;&gt;pr2.birth.day;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pr2.id = pr1.id+1;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pr2.salary = pr1.salary *2;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cout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&lt;&lt;pr2.name &lt;&lt;"    “&lt;&lt;pr2.id 	&lt;&lt;"    “&lt;&lt;pr2.salary&lt;&lt;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endl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&lt;&lt;pr2.birth.year&lt;&lt;"    "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&lt;&lt;pr2.birth.month&lt;&lt;"    "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&lt;&lt;pr2.birth.day&lt;&lt;"    "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&lt;&lt;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endl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Person pr3;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pr3=pr1; 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}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072098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 smtClean="0"/>
              <a:t>指向结构的指针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直接定义指针变量</a:t>
            </a:r>
            <a:endParaRPr lang="zh-CN" altLang="en-US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      </a:t>
            </a:r>
            <a:r>
              <a:rPr lang="en-US" altLang="zh-CN" dirty="0" err="1" smtClean="0"/>
              <a:t>studentT</a:t>
            </a:r>
            <a:r>
              <a:rPr lang="en-US" altLang="zh-CN" dirty="0" smtClean="0"/>
              <a:t>  *sp;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也可以在定义结构体类型的同时定义指向结构体的指针</a:t>
            </a:r>
            <a:endParaRPr lang="zh-CN" altLang="en-US" dirty="0" smtClean="0"/>
          </a:p>
          <a:p>
            <a:pPr eaLnBrk="1" hangingPunct="1">
              <a:lnSpc>
                <a:spcPct val="110000"/>
              </a:lnSpc>
            </a:pP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结构体</a:t>
            </a:r>
            <a:r>
              <a:rPr lang="zh-CN" altLang="en-US" dirty="0" smtClean="0"/>
              <a:t>与</a:t>
            </a:r>
            <a:r>
              <a:rPr lang="zh-CN" altLang="en-US" sz="4000" dirty="0" smtClean="0"/>
              <a:t>指针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428860" y="3071810"/>
            <a:ext cx="4032250" cy="1692707"/>
          </a:xfrm>
          <a:prstGeom prst="rect">
            <a:avLst/>
          </a:prstGeom>
          <a:noFill/>
          <a:ln w="12700" cap="sq" algn="ctr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lvl="1">
              <a:lnSpc>
                <a:spcPct val="180000"/>
              </a:lnSpc>
            </a:pPr>
            <a:r>
              <a:rPr lang="en-US" altLang="zh-CN" sz="2000" b="1" dirty="0" err="1"/>
              <a:t>struct</a:t>
            </a:r>
            <a:r>
              <a:rPr lang="en-US" altLang="zh-CN" sz="2000" b="1" dirty="0"/>
              <a:t> </a:t>
            </a:r>
            <a:r>
              <a:rPr lang="zh-CN" altLang="en-US" sz="2000" b="1" dirty="0"/>
              <a:t>结构体类型名</a:t>
            </a:r>
            <a:r>
              <a:rPr lang="en-US" altLang="zh-CN" sz="2000" b="1" dirty="0"/>
              <a:t>{</a:t>
            </a:r>
            <a:endParaRPr lang="en-US" altLang="zh-CN" sz="2000" b="1" dirty="0"/>
          </a:p>
          <a:p>
            <a:pPr lvl="1">
              <a:lnSpc>
                <a:spcPct val="180000"/>
              </a:lnSpc>
            </a:pPr>
            <a:r>
              <a:rPr lang="en-US" altLang="zh-CN" sz="2000" b="1" dirty="0"/>
              <a:t>     </a:t>
            </a:r>
            <a:r>
              <a:rPr lang="zh-CN" altLang="en-US" sz="2000" b="1" dirty="0"/>
              <a:t>字段声明；</a:t>
            </a:r>
            <a:endParaRPr lang="zh-CN" altLang="en-US" sz="2000" b="1" dirty="0"/>
          </a:p>
          <a:p>
            <a:pPr lvl="1">
              <a:lnSpc>
                <a:spcPct val="180000"/>
              </a:lnSpc>
            </a:pPr>
            <a:r>
              <a:rPr lang="en-US" altLang="zh-CN" sz="2000" b="1" dirty="0"/>
              <a:t>}  *</a:t>
            </a:r>
            <a:r>
              <a:rPr lang="zh-CN" altLang="en-US" sz="2000" b="1" dirty="0"/>
              <a:t>结构体指针；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072098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dirty="0" smtClean="0"/>
              <a:t>通过指针使用结构体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给结构体指针赋值，如：</a:t>
            </a:r>
            <a:endParaRPr lang="zh-CN" alt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/>
              <a:t>     </a:t>
            </a:r>
            <a:r>
              <a:rPr lang="en-US" altLang="zh-CN" dirty="0" smtClean="0"/>
              <a:t>sp = &amp;student1;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结构体指针的引用：</a:t>
            </a:r>
            <a:endParaRPr lang="en-US" altLang="zh-CN" dirty="0" smtClean="0"/>
          </a:p>
          <a:p>
            <a:pPr lvl="2"/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(*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指针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).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成员      如：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(*sp).name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/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指针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-&gt;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成员     如：</a:t>
            </a: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sp-&gt;name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lvl="1"/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-&gt;</a:t>
            </a:r>
            <a:r>
              <a:rPr lang="zh-CN" altLang="en-US" b="1" dirty="0" smtClean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是所有运算符中优先级最高的，</a:t>
            </a:r>
            <a:r>
              <a:rPr kumimoji="1" lang="zh-CN" altLang="en-US" b="1" dirty="0" smtClean="0">
                <a:ea typeface="宋体" panose="02010600030101010101" pitchFamily="2" charset="-122"/>
              </a:rPr>
              <a:t>通常程序员习惯使用第二种方法</a:t>
            </a:r>
            <a:endParaRPr kumimoji="1" lang="en-US" altLang="zh-CN" b="1" dirty="0" smtClean="0">
              <a:ea typeface="宋体" panose="0201060003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dirty="0" smtClean="0"/>
              <a:t>通过指针动态分配结构体空间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用法和申请普通的动态变量一样。如：</a:t>
            </a:r>
            <a:endParaRPr lang="zh-CN" altLang="en-US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      </a:t>
            </a:r>
            <a:r>
              <a:rPr lang="en-US" altLang="zh-CN" sz="2000" dirty="0" err="1" smtClean="0"/>
              <a:t>studentT</a:t>
            </a:r>
            <a:r>
              <a:rPr lang="en-US" altLang="zh-CN" sz="2000" dirty="0" smtClean="0"/>
              <a:t>  *sp;</a:t>
            </a:r>
            <a:endParaRPr lang="en-US" altLang="zh-CN" sz="2000" dirty="0" smtClean="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000" dirty="0" smtClean="0"/>
              <a:t>      sp = new </a:t>
            </a:r>
            <a:r>
              <a:rPr lang="en-US" altLang="zh-CN" sz="2000" dirty="0" err="1" smtClean="0"/>
              <a:t>studentT</a:t>
            </a:r>
            <a:r>
              <a:rPr lang="en-US" altLang="zh-CN" sz="2000" dirty="0" smtClean="0"/>
              <a:t>;</a:t>
            </a:r>
            <a:endParaRPr kumimoji="1" lang="zh-CN" altLang="en-US" b="1" dirty="0" smtClean="0">
              <a:ea typeface="宋体" panose="02010600030101010101" pitchFamily="2" charset="-122"/>
            </a:endParaRPr>
          </a:p>
          <a:p>
            <a:pPr lvl="1"/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2.</a:t>
            </a:r>
            <a:r>
              <a:rPr lang="zh-CN" altLang="en-US" sz="4000" dirty="0" smtClean="0"/>
              <a:t>结构体</a:t>
            </a:r>
            <a:r>
              <a:rPr lang="zh-CN" altLang="en-US" dirty="0" smtClean="0"/>
              <a:t>与</a:t>
            </a:r>
            <a:r>
              <a:rPr lang="zh-CN" altLang="en-US" sz="4000" dirty="0" smtClean="0"/>
              <a:t>指针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42976" y="3386134"/>
            <a:ext cx="480060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072098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dirty="0" smtClean="0"/>
              <a:t>结构体与指针用法</a:t>
            </a:r>
            <a:endParaRPr lang="en-US" altLang="zh-CN" dirty="0" smtClean="0"/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err="1" smtClean="0">
                <a:ea typeface="黑体" panose="02010609060101010101" pitchFamily="2" charset="-122"/>
              </a:rPr>
              <a:t>struct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Date {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int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year;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int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month;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int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day;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};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err="1" smtClean="0">
                <a:ea typeface="黑体" panose="02010609060101010101" pitchFamily="2" charset="-122"/>
              </a:rPr>
              <a:t>struct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Person {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char name[20];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unsigned long id;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double salary;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</a:t>
            </a:r>
            <a:r>
              <a:rPr kumimoji="1" lang="en-US" altLang="zh-CN" sz="1600" b="1" dirty="0" smtClean="0">
                <a:solidFill>
                  <a:srgbClr val="FF0000"/>
                </a:solidFill>
                <a:ea typeface="黑体" panose="02010609060101010101" pitchFamily="2" charset="-122"/>
              </a:rPr>
              <a:t>Date * birth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};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lnSpc>
                <a:spcPct val="125000"/>
              </a:lnSpc>
              <a:buNone/>
            </a:pPr>
            <a:endParaRPr kumimoji="1" lang="en-US" altLang="zh-CN" dirty="0" smtClean="0">
              <a:ea typeface="黑体" panose="02010609060101010101" pitchFamily="2" charset="-122"/>
            </a:endParaRPr>
          </a:p>
          <a:p>
            <a:pPr lvl="1">
              <a:lnSpc>
                <a:spcPct val="125000"/>
              </a:lnSpc>
              <a:buNone/>
            </a:pPr>
            <a:endParaRPr kumimoji="1" lang="zh-CN" altLang="en-US" dirty="0" smtClean="0"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	</a:t>
            </a:r>
            <a:endParaRPr lang="zh-CN" altLang="en-US" b="1" dirty="0" smtClean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1.</a:t>
            </a:r>
            <a:r>
              <a:rPr lang="zh-CN" altLang="en-US" sz="4000" dirty="0" smtClean="0"/>
              <a:t>结构概述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143372" y="1357298"/>
            <a:ext cx="4572000" cy="4647426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lnSpc>
                <a:spcPct val="150000"/>
              </a:lnSpc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void main()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{ Person pr2;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cin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&gt;&gt;pr2.name;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pr2.id = 123456;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pr2.salary = 9.9;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</a:t>
            </a:r>
            <a:r>
              <a:rPr kumimoji="1" lang="en-US" altLang="zh-CN" sz="1600" dirty="0" smtClean="0">
                <a:solidFill>
                  <a:srgbClr val="FF0000"/>
                </a:solidFill>
                <a:ea typeface="黑体" panose="02010609060101010101" pitchFamily="2" charset="-122"/>
              </a:rPr>
              <a:t>pr2.birth = new Date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pr2.birth-&gt;year = 2015;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pr2.birth-&gt;month = 5;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(*pr2.birth).day = 5;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Person *pr3 = &amp;p2;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cout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 &lt;&lt;pr3-&gt;name &lt;&lt;"    "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        &lt;&lt; pr3-&gt; id &lt;&lt;"    "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          &lt;&lt; pr3-&gt; salary&lt;&lt;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endl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   &lt;&lt;pr2.birth-&gt;year&lt;&lt;"    "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   &lt;&lt;pr3-&gt;birth-&gt;month&lt;&lt;"    "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   &lt;&lt;pr2.birth-&gt;day&lt;&lt;"    "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	   &lt;&lt;</a:t>
            </a:r>
            <a:r>
              <a:rPr kumimoji="1" lang="en-US" altLang="zh-CN" sz="1600" dirty="0" err="1" smtClean="0">
                <a:ea typeface="黑体" panose="02010609060101010101" pitchFamily="2" charset="-122"/>
              </a:rPr>
              <a:t>endl</a:t>
            </a:r>
            <a:r>
              <a:rPr kumimoji="1" lang="en-US" altLang="zh-CN" sz="1600" dirty="0" smtClean="0">
                <a:ea typeface="黑体" panose="02010609060101010101" pitchFamily="2" charset="-122"/>
              </a:rPr>
              <a:t>;</a:t>
            </a:r>
            <a:endParaRPr kumimoji="1" lang="en-US" altLang="zh-CN" sz="1600" dirty="0" smtClean="0">
              <a:ea typeface="黑体" panose="02010609060101010101" pitchFamily="2" charset="-122"/>
            </a:endParaRPr>
          </a:p>
          <a:p>
            <a:pPr lvl="1">
              <a:spcBef>
                <a:spcPts val="0"/>
              </a:spcBef>
              <a:buNone/>
            </a:pPr>
            <a:r>
              <a:rPr kumimoji="1" lang="en-US" altLang="zh-CN" sz="1600" dirty="0" smtClean="0">
                <a:ea typeface="黑体" panose="02010609060101010101" pitchFamily="2" charset="-122"/>
              </a:rPr>
              <a:t>}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072098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用于描述个体的集合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定义格式：</a:t>
            </a:r>
            <a:endParaRPr lang="zh-CN" alt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/>
              <a:t>     </a:t>
            </a:r>
            <a:r>
              <a:rPr lang="en-US" altLang="zh-CN" dirty="0" err="1" smtClean="0"/>
              <a:t>studentT</a:t>
            </a:r>
            <a:r>
              <a:rPr lang="en-US" altLang="zh-CN" dirty="0" smtClean="0"/>
              <a:t>   </a:t>
            </a:r>
            <a:r>
              <a:rPr lang="en-US" altLang="zh-CN" dirty="0" err="1" smtClean="0"/>
              <a:t>studentArray</a:t>
            </a:r>
            <a:r>
              <a:rPr lang="en-US" altLang="zh-CN" dirty="0" smtClean="0"/>
              <a:t>[SIZE];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3.</a:t>
            </a:r>
            <a:r>
              <a:rPr lang="zh-CN" altLang="en-US" sz="4000" dirty="0" smtClean="0"/>
              <a:t>结构体</a:t>
            </a:r>
            <a:r>
              <a:rPr lang="zh-CN" altLang="en-US" dirty="0" smtClean="0"/>
              <a:t>与数组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42976" y="3386134"/>
            <a:ext cx="480060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072098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结构体数组的引用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引用数组的某一成员的成员</a:t>
            </a:r>
            <a:endParaRPr lang="zh-CN" altLang="en-US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     </a:t>
            </a:r>
            <a:r>
              <a:rPr lang="en-US" altLang="zh-CN" dirty="0" err="1" smtClean="0"/>
              <a:t>studentArray</a:t>
            </a:r>
            <a:r>
              <a:rPr lang="en-US" altLang="zh-CN" dirty="0" smtClean="0"/>
              <a:t>[3].name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数组成员之间相互赋值</a:t>
            </a:r>
            <a:endParaRPr lang="zh-CN" altLang="en-US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     </a:t>
            </a:r>
            <a:r>
              <a:rPr lang="en-US" altLang="zh-CN" dirty="0" err="1" smtClean="0"/>
              <a:t>studentArray</a:t>
            </a:r>
            <a:r>
              <a:rPr lang="en-US" altLang="zh-CN" dirty="0" smtClean="0"/>
              <a:t>[4] = </a:t>
            </a:r>
            <a:r>
              <a:rPr lang="en-US" altLang="zh-CN" dirty="0" err="1" smtClean="0"/>
              <a:t>studentArray</a:t>
            </a:r>
            <a:r>
              <a:rPr lang="en-US" altLang="zh-CN" dirty="0" smtClean="0"/>
              <a:t>[2]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结构数组的初始化 </a:t>
            </a:r>
            <a:endParaRPr lang="zh-CN" altLang="en-US" dirty="0" smtClean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     </a:t>
            </a:r>
            <a:r>
              <a:rPr lang="en-US" altLang="zh-CN" dirty="0" err="1" smtClean="0"/>
              <a:t>studentT</a:t>
            </a:r>
            <a:r>
              <a:rPr lang="en-US" altLang="zh-CN" dirty="0" smtClean="0"/>
              <a:t>   </a:t>
            </a:r>
            <a:r>
              <a:rPr lang="en-US" altLang="zh-CN" dirty="0" err="1" smtClean="0"/>
              <a:t>studentArray</a:t>
            </a:r>
            <a:r>
              <a:rPr lang="en-US" altLang="zh-CN" dirty="0" smtClean="0"/>
              <a:t>[5] = { {“00001”, </a:t>
            </a:r>
            <a:r>
              <a:rPr lang="zh-CN" altLang="en-US" dirty="0" smtClean="0"/>
              <a:t>张三“</a:t>
            </a:r>
            <a:r>
              <a:rPr lang="en-US" altLang="zh-CN" dirty="0" smtClean="0"/>
              <a:t>, 80, 90,98 }, {…}, {…}, {…}};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3.</a:t>
            </a:r>
            <a:r>
              <a:rPr lang="zh-CN" altLang="en-US" sz="4000" dirty="0" smtClean="0"/>
              <a:t>结构体</a:t>
            </a:r>
            <a:r>
              <a:rPr lang="zh-CN" altLang="en-US" dirty="0" smtClean="0"/>
              <a:t>与数组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42976" y="3386134"/>
            <a:ext cx="480060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4929222" cy="5072098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传递结构体的数值</a:t>
            </a:r>
            <a:endParaRPr lang="en-US" altLang="zh-CN" dirty="0" smtClean="0"/>
          </a:p>
          <a:p>
            <a:pPr eaLnBrk="1" hangingPunct="1">
              <a:buNone/>
            </a:pPr>
            <a:r>
              <a:rPr lang="en-US" altLang="zh-CN" sz="1600" dirty="0" err="1" smtClean="0"/>
              <a:t>struct</a:t>
            </a:r>
            <a:r>
              <a:rPr lang="en-US" altLang="zh-CN" sz="1600" dirty="0" smtClean="0"/>
              <a:t> Person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{  char name[20];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unsigned long id;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float salary;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};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void Print(Person pr)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{  </a:t>
            </a:r>
            <a:r>
              <a:rPr lang="en-US" altLang="zh-CN" sz="1600" dirty="0" err="1" smtClean="0"/>
              <a:t>cout</a:t>
            </a:r>
            <a:r>
              <a:rPr lang="en-US" altLang="zh-CN" sz="1600" dirty="0" smtClean="0"/>
              <a:t> &lt;&lt;pr.name &lt;&lt;"    "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    &lt;&lt;pr.id &lt;&lt;"    "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    &lt;&lt;</a:t>
            </a:r>
            <a:r>
              <a:rPr lang="en-US" altLang="zh-CN" sz="1600" dirty="0" err="1" smtClean="0"/>
              <a:t>pr.salary</a:t>
            </a:r>
            <a:r>
              <a:rPr lang="en-US" altLang="zh-CN" sz="1600" dirty="0" smtClean="0"/>
              <a:t> &lt;&lt;</a:t>
            </a:r>
            <a:r>
              <a:rPr lang="en-US" altLang="zh-CN" sz="1600" dirty="0" err="1" smtClean="0"/>
              <a:t>endl</a:t>
            </a:r>
            <a:r>
              <a:rPr lang="en-US" altLang="zh-CN" sz="1600" dirty="0" smtClean="0"/>
              <a:t>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}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Person </a:t>
            </a:r>
            <a:r>
              <a:rPr lang="en-US" altLang="zh-CN" sz="1600" dirty="0" err="1" smtClean="0"/>
              <a:t>allone</a:t>
            </a:r>
            <a:r>
              <a:rPr lang="en-US" altLang="zh-CN" sz="1600" dirty="0" smtClean="0"/>
              <a:t>[4]={{"</a:t>
            </a:r>
            <a:r>
              <a:rPr lang="en-US" altLang="zh-CN" sz="1600" dirty="0" err="1" smtClean="0"/>
              <a:t>jone</a:t>
            </a:r>
            <a:r>
              <a:rPr lang="en-US" altLang="zh-CN" sz="1600" dirty="0" smtClean="0"/>
              <a:t>", 12345, 339.0},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               {"</a:t>
            </a:r>
            <a:r>
              <a:rPr lang="en-US" altLang="zh-CN" sz="1600" dirty="0" err="1" smtClean="0"/>
              <a:t>david</a:t>
            </a:r>
            <a:r>
              <a:rPr lang="en-US" altLang="zh-CN" sz="1600" dirty="0" smtClean="0"/>
              <a:t>", 13916, 449.0},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               {"</a:t>
            </a:r>
            <a:r>
              <a:rPr lang="en-US" altLang="zh-CN" sz="1600" dirty="0" err="1" smtClean="0"/>
              <a:t>marit</a:t>
            </a:r>
            <a:r>
              <a:rPr lang="en-US" altLang="zh-CN" sz="1600" dirty="0" smtClean="0"/>
              <a:t>", 27519, 311.0},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               {"yoke",  12335, 511.0}};</a:t>
            </a:r>
            <a:endParaRPr lang="en-US" altLang="zh-CN" sz="1600" dirty="0" smtClean="0"/>
          </a:p>
          <a:p>
            <a:pPr eaLnBrk="1" hangingPunct="1">
              <a:buNone/>
            </a:pPr>
            <a:endParaRPr lang="en-US" altLang="zh-CN" sz="1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4.</a:t>
            </a:r>
            <a:r>
              <a:rPr lang="zh-CN" altLang="en-US" sz="4000" dirty="0" smtClean="0"/>
              <a:t>结构体</a:t>
            </a:r>
            <a:r>
              <a:rPr lang="zh-CN" altLang="en-US" dirty="0" smtClean="0"/>
              <a:t>与参数传递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143504" y="4714884"/>
            <a:ext cx="292895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lang="en-US" altLang="zh-CN" sz="1600" dirty="0" smtClean="0"/>
              <a:t>void main()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{ 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i</a:t>
            </a:r>
            <a:r>
              <a:rPr lang="zh-CN" altLang="en-US" sz="1600" dirty="0" smtClean="0"/>
              <a:t>；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 for(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=0; 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&lt;4; 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++)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     Print(</a:t>
            </a:r>
            <a:r>
              <a:rPr lang="en-US" altLang="zh-CN" sz="1600" dirty="0" err="1" smtClean="0"/>
              <a:t>allone</a:t>
            </a:r>
            <a:r>
              <a:rPr lang="en-US" altLang="zh-CN" sz="1600" dirty="0" smtClean="0"/>
              <a:t>[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]);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}</a:t>
            </a:r>
            <a:endParaRPr lang="en-US" altLang="zh-CN" sz="1600" dirty="0" smtClean="0"/>
          </a:p>
          <a:p>
            <a:pPr eaLnBrk="1" hangingPunct="1"/>
            <a:endParaRPr lang="en-US" altLang="zh-CN" dirty="0" smtClean="0"/>
          </a:p>
        </p:txBody>
      </p:sp>
      <p:sp>
        <p:nvSpPr>
          <p:cNvPr id="7" name="内容占位符 1"/>
          <p:cNvSpPr txBox="1"/>
          <p:nvPr/>
        </p:nvSpPr>
        <p:spPr bwMode="auto">
          <a:xfrm>
            <a:off x="3143240" y="2857496"/>
            <a:ext cx="5857884" cy="11430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65125" marR="0" lvl="0" indent="-2559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结构体作为参数，有值传递和引用两种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21030" marR="0" lvl="1" indent="-228600" algn="l" defTabSz="914400" rtl="0" eaLnBrk="1" fontAlgn="base" latinLnBrk="0" hangingPunct="1">
              <a:lnSpc>
                <a:spcPct val="100000"/>
              </a:lnSpc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SzTx/>
              <a:buFont typeface="Verdana" panose="020B0604030504040204" pitchFamily="34" charset="0"/>
              <a:buChar char="◦"/>
              <a:defRPr/>
            </a:pPr>
            <a:r>
              <a:rPr kumimoji="0" lang="zh-CN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前者需要耗费空间，后者只是引用原结构体的地址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21030" marR="0" lvl="1" indent="-228600" algn="l" defTabSz="914400" rtl="0" eaLnBrk="1" fontAlgn="base" latinLnBrk="0" hangingPunct="1">
              <a:lnSpc>
                <a:spcPct val="100000"/>
              </a:lnSpc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SzTx/>
              <a:buFont typeface="Verdana" panose="020B0604030504040204" pitchFamily="34" charset="0"/>
              <a:buChar char="◦"/>
              <a:defRPr/>
            </a:pPr>
            <a:r>
              <a:rPr kumimoji="0" lang="zh-CN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除非小结构体，一般很少用值传递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4929222" cy="5072098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传递结构体的引用</a:t>
            </a:r>
            <a:endParaRPr lang="en-US" altLang="zh-CN" dirty="0" smtClean="0"/>
          </a:p>
          <a:p>
            <a:pPr eaLnBrk="1" hangingPunct="1">
              <a:buNone/>
            </a:pPr>
            <a:r>
              <a:rPr lang="en-US" altLang="zh-CN" sz="1600" dirty="0" smtClean="0"/>
              <a:t>#include &lt;</a:t>
            </a:r>
            <a:r>
              <a:rPr lang="en-US" altLang="zh-CN" sz="1600" dirty="0" err="1" smtClean="0"/>
              <a:t>iostream</a:t>
            </a:r>
            <a:r>
              <a:rPr lang="en-US" altLang="zh-CN" sz="1600" dirty="0" smtClean="0"/>
              <a:t>&gt;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err="1" smtClean="0"/>
              <a:t>struct</a:t>
            </a:r>
            <a:r>
              <a:rPr lang="en-US" altLang="zh-CN" sz="1600" dirty="0" smtClean="0"/>
              <a:t> Person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{  char name[20];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unsigned long id;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float salary;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};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void Print(Person&amp; pr)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{  </a:t>
            </a:r>
            <a:r>
              <a:rPr lang="en-US" altLang="zh-CN" sz="1600" dirty="0" err="1" smtClean="0"/>
              <a:t>cout</a:t>
            </a:r>
            <a:r>
              <a:rPr lang="en-US" altLang="zh-CN" sz="1600" dirty="0" smtClean="0"/>
              <a:t> &lt;&lt;pr.name &lt;&lt;"    "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    &lt;&lt;pr.id &lt;&lt;"    "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    &lt;&lt;</a:t>
            </a:r>
            <a:r>
              <a:rPr lang="en-US" altLang="zh-CN" sz="1600" dirty="0" err="1" smtClean="0"/>
              <a:t>pr.salary</a:t>
            </a:r>
            <a:r>
              <a:rPr lang="en-US" altLang="zh-CN" sz="1600" dirty="0" smtClean="0"/>
              <a:t> &lt;&lt;</a:t>
            </a:r>
            <a:r>
              <a:rPr lang="en-US" altLang="zh-CN" sz="1600" dirty="0" err="1" smtClean="0"/>
              <a:t>endl</a:t>
            </a:r>
            <a:r>
              <a:rPr lang="en-US" altLang="zh-CN" sz="1600" dirty="0" smtClean="0"/>
              <a:t>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}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Person </a:t>
            </a:r>
            <a:r>
              <a:rPr lang="en-US" altLang="zh-CN" sz="1600" dirty="0" err="1" smtClean="0"/>
              <a:t>allone</a:t>
            </a:r>
            <a:r>
              <a:rPr lang="en-US" altLang="zh-CN" sz="1600" dirty="0" smtClean="0"/>
              <a:t>[4]={{"</a:t>
            </a:r>
            <a:r>
              <a:rPr lang="en-US" altLang="zh-CN" sz="1600" dirty="0" err="1" smtClean="0"/>
              <a:t>jone</a:t>
            </a:r>
            <a:r>
              <a:rPr lang="en-US" altLang="zh-CN" sz="1600" dirty="0" smtClean="0"/>
              <a:t>", 12345, 339.0},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               {"</a:t>
            </a:r>
            <a:r>
              <a:rPr lang="en-US" altLang="zh-CN" sz="1600" dirty="0" err="1" smtClean="0"/>
              <a:t>david</a:t>
            </a:r>
            <a:r>
              <a:rPr lang="en-US" altLang="zh-CN" sz="1600" dirty="0" smtClean="0"/>
              <a:t>", 13916, 449.0},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               {"</a:t>
            </a:r>
            <a:r>
              <a:rPr lang="en-US" altLang="zh-CN" sz="1600" dirty="0" err="1" smtClean="0"/>
              <a:t>marit</a:t>
            </a:r>
            <a:r>
              <a:rPr lang="en-US" altLang="zh-CN" sz="1600" dirty="0" smtClean="0"/>
              <a:t>", 27519, 311.0},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               {"yoke",  12335, 511.0}};</a:t>
            </a:r>
            <a:endParaRPr lang="en-US" altLang="zh-CN" sz="1600" dirty="0" smtClean="0"/>
          </a:p>
          <a:p>
            <a:pPr eaLnBrk="1" hangingPunct="1">
              <a:buNone/>
            </a:pPr>
            <a:endParaRPr lang="en-US" altLang="zh-CN" sz="1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4.</a:t>
            </a:r>
            <a:r>
              <a:rPr lang="zh-CN" altLang="en-US" sz="4000" dirty="0" smtClean="0"/>
              <a:t>结构体</a:t>
            </a:r>
            <a:r>
              <a:rPr lang="zh-CN" altLang="en-US" dirty="0" smtClean="0"/>
              <a:t>与参数传递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143504" y="4714884"/>
            <a:ext cx="2928958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lang="en-US" altLang="zh-CN" sz="1600" dirty="0" smtClean="0"/>
              <a:t>void main()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{  for(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=0; 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&lt;4; 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++)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 Print(</a:t>
            </a:r>
            <a:r>
              <a:rPr lang="en-US" altLang="zh-CN" sz="1600" dirty="0" err="1" smtClean="0"/>
              <a:t>allone</a:t>
            </a:r>
            <a:r>
              <a:rPr lang="en-US" altLang="zh-CN" sz="1600" dirty="0" smtClean="0"/>
              <a:t>[</a:t>
            </a:r>
            <a:r>
              <a:rPr lang="en-US" altLang="zh-CN" sz="1600" dirty="0" err="1" smtClean="0"/>
              <a:t>i</a:t>
            </a:r>
            <a:r>
              <a:rPr lang="en-US" altLang="zh-CN" sz="1600" dirty="0" smtClean="0"/>
              <a:t>]);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}</a:t>
            </a:r>
            <a:endParaRPr lang="en-US" altLang="zh-CN" sz="1600" dirty="0" smtClean="0"/>
          </a:p>
          <a:p>
            <a:pPr eaLnBrk="1" hangingPunct="1"/>
            <a:endParaRPr lang="en-US" altLang="zh-CN" dirty="0" smtClean="0"/>
          </a:p>
        </p:txBody>
      </p:sp>
      <p:sp>
        <p:nvSpPr>
          <p:cNvPr id="8" name="内容占位符 1"/>
          <p:cNvSpPr txBox="1"/>
          <p:nvPr/>
        </p:nvSpPr>
        <p:spPr bwMode="auto">
          <a:xfrm>
            <a:off x="3071802" y="2928934"/>
            <a:ext cx="5857884" cy="11430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65125" marR="0" lvl="0" indent="-2559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/>
            </a:pPr>
            <a:r>
              <a:rPr kumimoji="0" lang="zh-CN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结构体作为参数，有值传递和引用两种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21030" marR="0" lvl="1" indent="-228600" algn="l" defTabSz="914400" rtl="0" eaLnBrk="1" fontAlgn="base" latinLnBrk="0" hangingPunct="1">
              <a:lnSpc>
                <a:spcPct val="100000"/>
              </a:lnSpc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SzTx/>
              <a:buFont typeface="Verdana" panose="020B0604030504040204" pitchFamily="34" charset="0"/>
              <a:buChar char="◦"/>
              <a:defRPr/>
            </a:pPr>
            <a:r>
              <a:rPr kumimoji="0" lang="zh-CN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前者需要耗费空间，后者只是引用原结构体的地址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621030" marR="0" lvl="1" indent="-228600" algn="l" defTabSz="914400" rtl="0" eaLnBrk="1" fontAlgn="base" latinLnBrk="0" hangingPunct="1">
              <a:lnSpc>
                <a:spcPct val="100000"/>
              </a:lnSpc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SzTx/>
              <a:buFont typeface="Verdana" panose="020B0604030504040204" pitchFamily="34" charset="0"/>
              <a:buChar char="◦"/>
              <a:defRPr/>
            </a:pPr>
            <a:r>
              <a:rPr kumimoji="0" lang="zh-CN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除非小结构体，一般很少用值传递</a:t>
            </a:r>
            <a:endParaRPr kumimoji="0" lang="en-US" altLang="zh-CN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596" y="1142984"/>
            <a:ext cx="4929222" cy="5072098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返回值是结构体</a:t>
            </a:r>
            <a:endParaRPr lang="en-US" altLang="zh-CN" dirty="0" smtClean="0"/>
          </a:p>
          <a:p>
            <a:pPr eaLnBrk="1" hangingPunct="1">
              <a:buNone/>
            </a:pPr>
            <a:r>
              <a:rPr lang="en-US" altLang="zh-CN" sz="1600" dirty="0" smtClean="0"/>
              <a:t>#include &lt;</a:t>
            </a:r>
            <a:r>
              <a:rPr lang="en-US" altLang="zh-CN" sz="1600" dirty="0" err="1" smtClean="0"/>
              <a:t>iostream</a:t>
            </a:r>
            <a:r>
              <a:rPr lang="en-US" altLang="zh-CN" sz="1600" dirty="0" smtClean="0"/>
              <a:t>&gt;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err="1" smtClean="0"/>
              <a:t>struct</a:t>
            </a:r>
            <a:r>
              <a:rPr lang="en-US" altLang="zh-CN" sz="1600" dirty="0" smtClean="0"/>
              <a:t> Person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{  char name[20];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unsigned long id;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float salary;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};</a:t>
            </a:r>
            <a:endParaRPr lang="en-US" altLang="zh-CN" sz="1600" dirty="0" smtClean="0"/>
          </a:p>
          <a:p>
            <a:pPr eaLnBrk="1" hangingPunct="1">
              <a:buNone/>
            </a:pPr>
            <a:endParaRPr lang="en-US" altLang="zh-CN" sz="1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altLang="zh-CN" sz="4000" dirty="0" smtClean="0"/>
              <a:t>4.</a:t>
            </a:r>
            <a:r>
              <a:rPr lang="zh-CN" altLang="en-US" sz="4000" dirty="0" smtClean="0"/>
              <a:t>结构体</a:t>
            </a:r>
            <a:r>
              <a:rPr lang="zh-CN" altLang="en-US" dirty="0" smtClean="0"/>
              <a:t>与参数传递</a:t>
            </a:r>
            <a:endParaRPr lang="zh-CN" altLang="en-US" sz="400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fld id="{AD7BC6A2-D5BD-40D0-957C-A2CF55A98CE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906520" y="1275080"/>
            <a:ext cx="4467225" cy="5046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None/>
            </a:pPr>
            <a:r>
              <a:rPr lang="en-US" altLang="zh-CN" sz="1600" dirty="0" smtClean="0">
                <a:sym typeface="+mn-ea"/>
              </a:rPr>
              <a:t>Person Max()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>
                <a:sym typeface="+mn-ea"/>
              </a:rPr>
              <a:t>{  int pos=0;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>
                <a:sym typeface="+mn-ea"/>
              </a:rPr>
              <a:t>   for (int i=1; i&lt;4; i++)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>
                <a:sym typeface="+mn-ea"/>
              </a:rPr>
              <a:t>      if(allone[i].salary &gt; allone[pos].salary)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>
                <a:sym typeface="+mn-ea"/>
              </a:rPr>
              <a:t>         pos=i;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>
                <a:sym typeface="+mn-ea"/>
              </a:rPr>
              <a:t>   return allone[pos];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>
                <a:sym typeface="+mn-ea"/>
              </a:rPr>
              <a:t>}</a:t>
            </a:r>
            <a:endParaRPr lang="en-US" altLang="zh-CN" sz="1600" dirty="0" smtClean="0"/>
          </a:p>
          <a:p>
            <a:pPr eaLnBrk="1" hangingPunct="1">
              <a:buNone/>
            </a:pPr>
            <a:endParaRPr lang="en-US" altLang="zh-CN" sz="1600" dirty="0" smtClean="0">
              <a:sym typeface="+mn-ea"/>
            </a:endParaRPr>
          </a:p>
          <a:p>
            <a:pPr eaLnBrk="1" hangingPunct="1">
              <a:buNone/>
            </a:pPr>
            <a:r>
              <a:rPr lang="en-US" altLang="zh-CN" sz="1600" dirty="0" smtClean="0">
                <a:sym typeface="+mn-ea"/>
              </a:rPr>
              <a:t>Person </a:t>
            </a:r>
            <a:r>
              <a:rPr lang="en-US" altLang="zh-CN" sz="1600" dirty="0" err="1" smtClean="0">
                <a:sym typeface="+mn-ea"/>
              </a:rPr>
              <a:t>allone</a:t>
            </a:r>
            <a:r>
              <a:rPr lang="en-US" altLang="zh-CN" sz="1600" dirty="0" smtClean="0">
                <a:sym typeface="+mn-ea"/>
              </a:rPr>
              <a:t>[4]={{"</a:t>
            </a:r>
            <a:r>
              <a:rPr lang="en-US" altLang="zh-CN" sz="1600" dirty="0" err="1" smtClean="0">
                <a:sym typeface="+mn-ea"/>
              </a:rPr>
              <a:t>jone</a:t>
            </a:r>
            <a:r>
              <a:rPr lang="en-US" altLang="zh-CN" sz="1600" dirty="0" smtClean="0">
                <a:sym typeface="+mn-ea"/>
              </a:rPr>
              <a:t>", 12345, 339.0},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>
                <a:sym typeface="+mn-ea"/>
              </a:rPr>
              <a:t>                  {"</a:t>
            </a:r>
            <a:r>
              <a:rPr lang="en-US" altLang="zh-CN" sz="1600" dirty="0" err="1" smtClean="0">
                <a:sym typeface="+mn-ea"/>
              </a:rPr>
              <a:t>david</a:t>
            </a:r>
            <a:r>
              <a:rPr lang="en-US" altLang="zh-CN" sz="1600" dirty="0" smtClean="0">
                <a:sym typeface="+mn-ea"/>
              </a:rPr>
              <a:t>", 13916, 449.0},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>
                <a:sym typeface="+mn-ea"/>
              </a:rPr>
              <a:t>                  {"</a:t>
            </a:r>
            <a:r>
              <a:rPr lang="en-US" altLang="zh-CN" sz="1600" dirty="0" err="1" smtClean="0">
                <a:sym typeface="+mn-ea"/>
              </a:rPr>
              <a:t>marit</a:t>
            </a:r>
            <a:r>
              <a:rPr lang="en-US" altLang="zh-CN" sz="1600" dirty="0" smtClean="0">
                <a:sym typeface="+mn-ea"/>
              </a:rPr>
              <a:t>", 27519, 311.0},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>
                <a:sym typeface="+mn-ea"/>
              </a:rPr>
              <a:t>                  {"yoke",  12335, 511.0}};</a:t>
            </a:r>
            <a:endParaRPr lang="en-US" altLang="zh-CN" sz="1600" dirty="0" smtClean="0"/>
          </a:p>
          <a:p>
            <a:pPr eaLnBrk="1" hangingPunct="1">
              <a:buNone/>
            </a:pP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void main()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{  Person pr;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pr=Max();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cout&lt;&lt;pr.name&lt;&lt;” “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          &lt;&lt;pr.salary&lt;&lt;endl;</a:t>
            </a:r>
            <a:endParaRPr lang="en-US" altLang="zh-CN" sz="1600" dirty="0" smtClean="0"/>
          </a:p>
          <a:p>
            <a:pPr eaLnBrk="1" hangingPunct="1">
              <a:buNone/>
            </a:pPr>
            <a:r>
              <a:rPr lang="en-US" altLang="zh-CN" sz="1600" dirty="0" smtClean="0"/>
              <a:t>}</a:t>
            </a:r>
            <a:endParaRPr lang="en-US" altLang="zh-CN" sz="1600" dirty="0" smtClean="0"/>
          </a:p>
          <a:p>
            <a:pPr eaLnBrk="1" hangingPunct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聚合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聚合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聚合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聚合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9386</Words>
  <Application>WPS 演示</Application>
  <PresentationFormat>全屏显示(4:3)</PresentationFormat>
  <Paragraphs>910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5" baseType="lpstr">
      <vt:lpstr>Arial</vt:lpstr>
      <vt:lpstr>宋体</vt:lpstr>
      <vt:lpstr>Wingdings</vt:lpstr>
      <vt:lpstr>Lucida Sans Unicode</vt:lpstr>
      <vt:lpstr>黑体</vt:lpstr>
      <vt:lpstr>Wingdings 3</vt:lpstr>
      <vt:lpstr>Verdana</vt:lpstr>
      <vt:lpstr>Wingdings 2</vt:lpstr>
      <vt:lpstr>Wingdings 2</vt:lpstr>
      <vt:lpstr>Courier New</vt:lpstr>
      <vt:lpstr>隶书</vt:lpstr>
      <vt:lpstr>微软雅黑</vt:lpstr>
      <vt:lpstr>Arial Unicode MS</vt:lpstr>
      <vt:lpstr>Calibri</vt:lpstr>
      <vt:lpstr>Times New Roman</vt:lpstr>
      <vt:lpstr>Symbol</vt:lpstr>
      <vt:lpstr>聚合</vt:lpstr>
      <vt:lpstr>面向对象程序设计</vt:lpstr>
      <vt:lpstr>本章主要内容</vt:lpstr>
      <vt:lpstr>1.引用的概念</vt:lpstr>
      <vt:lpstr>1.引用的概念</vt:lpstr>
      <vt:lpstr>1.引用的概念</vt:lpstr>
      <vt:lpstr>2.引用的操作</vt:lpstr>
      <vt:lpstr>2.引用的操作</vt:lpstr>
      <vt:lpstr>2.引用的操作</vt:lpstr>
      <vt:lpstr>2.引用的操作</vt:lpstr>
      <vt:lpstr>2.引用的操作</vt:lpstr>
      <vt:lpstr>2.引用的操作</vt:lpstr>
      <vt:lpstr>3.引用的类型</vt:lpstr>
      <vt:lpstr>4.引用与函数</vt:lpstr>
      <vt:lpstr>5.限定引用（自学）</vt:lpstr>
      <vt:lpstr>6.函数调用作为左值（自学）</vt:lpstr>
      <vt:lpstr>面向对象程序设计</vt:lpstr>
      <vt:lpstr>本章主要内容</vt:lpstr>
      <vt:lpstr>1.结构概述</vt:lpstr>
      <vt:lpstr>1.结构概述</vt:lpstr>
      <vt:lpstr>1.结构概述</vt:lpstr>
      <vt:lpstr>1.结构概述</vt:lpstr>
      <vt:lpstr>1.结构概述</vt:lpstr>
      <vt:lpstr>1.结构概述</vt:lpstr>
      <vt:lpstr>1.结构概述</vt:lpstr>
      <vt:lpstr>1.结构概述</vt:lpstr>
      <vt:lpstr>1.结构概述</vt:lpstr>
      <vt:lpstr>1.结构概述</vt:lpstr>
      <vt:lpstr>1.结构概述</vt:lpstr>
      <vt:lpstr>1.结构概述</vt:lpstr>
      <vt:lpstr>1.结构概述</vt:lpstr>
      <vt:lpstr>2.结构体与指针</vt:lpstr>
      <vt:lpstr>2.结构体与指针</vt:lpstr>
      <vt:lpstr>1.结构概述</vt:lpstr>
      <vt:lpstr>3.结构体与数组</vt:lpstr>
      <vt:lpstr>3.结构体与数组</vt:lpstr>
      <vt:lpstr>4.结构体与参数传递</vt:lpstr>
      <vt:lpstr>4.结构体与参数传递</vt:lpstr>
      <vt:lpstr>4.结构体与参数传递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</dc:title>
  <dc:creator>BJC</dc:creator>
  <cp:lastModifiedBy>bai</cp:lastModifiedBy>
  <cp:revision>158</cp:revision>
  <dcterms:created xsi:type="dcterms:W3CDTF">2015-01-19T08:02:00Z</dcterms:created>
  <dcterms:modified xsi:type="dcterms:W3CDTF">2021-03-23T05:12:07Z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2052-11.8.2.8361</vt:lpwstr>
  </property>
</Properties>
</file>