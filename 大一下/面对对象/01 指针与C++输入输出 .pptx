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100"/>
  </p:notesMasterIdLst>
  <p:handoutMasterIdLst>
    <p:handoutMasterId r:id="rId101"/>
  </p:handoutMasterIdLst>
  <p:sldIdLst>
    <p:sldId id="606" r:id="rId3"/>
    <p:sldId id="607" r:id="rId4"/>
    <p:sldId id="701" r:id="rId5"/>
    <p:sldId id="1022" r:id="rId6"/>
    <p:sldId id="865" r:id="rId7"/>
    <p:sldId id="702" r:id="rId8"/>
    <p:sldId id="866" r:id="rId9"/>
    <p:sldId id="704" r:id="rId10"/>
    <p:sldId id="705" r:id="rId11"/>
    <p:sldId id="706" r:id="rId12"/>
    <p:sldId id="784" r:id="rId13"/>
    <p:sldId id="710" r:id="rId14"/>
    <p:sldId id="711" r:id="rId15"/>
    <p:sldId id="712" r:id="rId16"/>
    <p:sldId id="713" r:id="rId17"/>
    <p:sldId id="715" r:id="rId18"/>
    <p:sldId id="716" r:id="rId19"/>
    <p:sldId id="717" r:id="rId20"/>
    <p:sldId id="718" r:id="rId21"/>
    <p:sldId id="719" r:id="rId22"/>
    <p:sldId id="720" r:id="rId23"/>
    <p:sldId id="721" r:id="rId24"/>
    <p:sldId id="722" r:id="rId25"/>
    <p:sldId id="723" r:id="rId26"/>
    <p:sldId id="724" r:id="rId27"/>
    <p:sldId id="725" r:id="rId28"/>
    <p:sldId id="726" r:id="rId29"/>
    <p:sldId id="727" r:id="rId30"/>
    <p:sldId id="728" r:id="rId31"/>
    <p:sldId id="729" r:id="rId32"/>
    <p:sldId id="730" r:id="rId33"/>
    <p:sldId id="731" r:id="rId34"/>
    <p:sldId id="732" r:id="rId35"/>
    <p:sldId id="733" r:id="rId36"/>
    <p:sldId id="734" r:id="rId37"/>
    <p:sldId id="785" r:id="rId38"/>
    <p:sldId id="735" r:id="rId39"/>
    <p:sldId id="736" r:id="rId40"/>
    <p:sldId id="737" r:id="rId41"/>
    <p:sldId id="738" r:id="rId42"/>
    <p:sldId id="739" r:id="rId43"/>
    <p:sldId id="740" r:id="rId44"/>
    <p:sldId id="741" r:id="rId45"/>
    <p:sldId id="786" r:id="rId46"/>
    <p:sldId id="742" r:id="rId47"/>
    <p:sldId id="743" r:id="rId48"/>
    <p:sldId id="744" r:id="rId49"/>
    <p:sldId id="745" r:id="rId50"/>
    <p:sldId id="746" r:id="rId51"/>
    <p:sldId id="747" r:id="rId52"/>
    <p:sldId id="748" r:id="rId53"/>
    <p:sldId id="749" r:id="rId54"/>
    <p:sldId id="750" r:id="rId55"/>
    <p:sldId id="787" r:id="rId56"/>
    <p:sldId id="751" r:id="rId57"/>
    <p:sldId id="752" r:id="rId58"/>
    <p:sldId id="753" r:id="rId59"/>
    <p:sldId id="754" r:id="rId60"/>
    <p:sldId id="755" r:id="rId61"/>
    <p:sldId id="953" r:id="rId62"/>
    <p:sldId id="985" r:id="rId63"/>
    <p:sldId id="788" r:id="rId64"/>
    <p:sldId id="756" r:id="rId65"/>
    <p:sldId id="757" r:id="rId66"/>
    <p:sldId id="758" r:id="rId67"/>
    <p:sldId id="759" r:id="rId68"/>
    <p:sldId id="760" r:id="rId69"/>
    <p:sldId id="761" r:id="rId70"/>
    <p:sldId id="762" r:id="rId71"/>
    <p:sldId id="789" r:id="rId72"/>
    <p:sldId id="763" r:id="rId73"/>
    <p:sldId id="764" r:id="rId74"/>
    <p:sldId id="765" r:id="rId75"/>
    <p:sldId id="766" r:id="rId76"/>
    <p:sldId id="986" r:id="rId77"/>
    <p:sldId id="989" r:id="rId78"/>
    <p:sldId id="990" r:id="rId79"/>
    <p:sldId id="988" r:id="rId80"/>
    <p:sldId id="987" r:id="rId81"/>
    <p:sldId id="790" r:id="rId82"/>
    <p:sldId id="768" r:id="rId83"/>
    <p:sldId id="769" r:id="rId84"/>
    <p:sldId id="770" r:id="rId85"/>
    <p:sldId id="771" r:id="rId86"/>
    <p:sldId id="773" r:id="rId87"/>
    <p:sldId id="774" r:id="rId88"/>
    <p:sldId id="791" r:id="rId89"/>
    <p:sldId id="775" r:id="rId90"/>
    <p:sldId id="776" r:id="rId91"/>
    <p:sldId id="777" r:id="rId92"/>
    <p:sldId id="778" r:id="rId93"/>
    <p:sldId id="779" r:id="rId94"/>
    <p:sldId id="780" r:id="rId95"/>
    <p:sldId id="781" r:id="rId96"/>
    <p:sldId id="782" r:id="rId97"/>
    <p:sldId id="783" r:id="rId98"/>
    <p:sldId id="613" r:id="rId99"/>
  </p:sldIdLst>
  <p:sldSz cx="12192000" cy="6858000"/>
  <p:notesSz cx="6858000" cy="9144000"/>
  <p:embeddedFontLst>
    <p:embeddedFont>
      <p:font typeface="Copperplate Gothic Bold" panose="020E0705020206020404" charset="0"/>
      <p:regular r:id="rId106"/>
    </p:embeddedFont>
    <p:embeddedFont>
      <p:font typeface="微软雅黑" panose="020B0503020204020204" pitchFamily="34" charset="-122"/>
      <p:regular r:id="rId107"/>
    </p:embeddedFont>
    <p:embeddedFont>
      <p:font typeface="Tahoma" panose="020B0604030504040204" charset="0"/>
      <p:regular r:id="rId108"/>
      <p:bold r:id="rId109"/>
    </p:embeddedFont>
    <p:embeddedFont>
      <p:font typeface="黑体" panose="02010609060101010101" pitchFamily="2" charset="-122"/>
      <p:regular r:id="rId110"/>
    </p:embeddedFont>
    <p:embeddedFont>
      <p:font typeface="Wingdings 3" panose="05040102010807070707" pitchFamily="18" charset="2"/>
      <p:regular r:id="rId111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odongdongzjhw" initials="g" lastIdx="16" clrIdx="0"/>
  <p:cmAuthor id="2" name="Wuqijun" initials="W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594" y="102"/>
      </p:cViewPr>
      <p:guideLst>
        <p:guide orient="horz" pos="356"/>
        <p:guide orient="horz" pos="1196"/>
        <p:guide orient="horz" pos="4120"/>
        <p:guide orient="horz" pos="3136"/>
        <p:guide orient="horz" pos="2846"/>
        <p:guide pos="3861"/>
        <p:guide pos="892"/>
        <p:guide pos="7680"/>
        <p:guide pos="7013"/>
        <p:guide pos="1315"/>
        <p:guide pos="643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79"/>
        <p:guide pos="217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1" Type="http://schemas.openxmlformats.org/officeDocument/2006/relationships/font" Target="fonts/font6.fntdata"/><Relationship Id="rId110" Type="http://schemas.openxmlformats.org/officeDocument/2006/relationships/font" Target="fonts/font5.fntdata"/><Relationship Id="rId11" Type="http://schemas.openxmlformats.org/officeDocument/2006/relationships/slide" Target="slides/slide9.xml"/><Relationship Id="rId109" Type="http://schemas.openxmlformats.org/officeDocument/2006/relationships/font" Target="fonts/font4.fntdata"/><Relationship Id="rId108" Type="http://schemas.openxmlformats.org/officeDocument/2006/relationships/font" Target="fonts/font3.fntdata"/><Relationship Id="rId107" Type="http://schemas.openxmlformats.org/officeDocument/2006/relationships/font" Target="fonts/font2.fntdata"/><Relationship Id="rId106" Type="http://schemas.openxmlformats.org/officeDocument/2006/relationships/font" Target="fonts/font1.fntdata"/><Relationship Id="rId105" Type="http://schemas.openxmlformats.org/officeDocument/2006/relationships/commentAuthors" Target="commentAuthors.xml"/><Relationship Id="rId104" Type="http://schemas.openxmlformats.org/officeDocument/2006/relationships/tableStyles" Target="tableStyles.xml"/><Relationship Id="rId103" Type="http://schemas.openxmlformats.org/officeDocument/2006/relationships/viewProps" Target="viewProps.xml"/><Relationship Id="rId102" Type="http://schemas.openxmlformats.org/officeDocument/2006/relationships/presProps" Target="presProps.xml"/><Relationship Id="rId101" Type="http://schemas.openxmlformats.org/officeDocument/2006/relationships/handoutMaster" Target="handoutMasters/handoutMaster1.xml"/><Relationship Id="rId100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3BA84-6C1D-4F93-A9F4-04B92CE194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FCAEF-2C49-435D-B9DA-BA0CC419F8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fld id="{9DD59B10-E385-4D3C-A0B0-F174EA9AA91B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mpd="sng">
            <a:noFill/>
            <a:beve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12700" cmpd="sng">
            <a:noFill/>
            <a:bevel/>
          </a:ln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  <a:endParaRPr lang="zh-CN" altLang="en-US" sz="120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79B3A261-A9C9-4EB5-901F-E33BE236AA87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5" name="文本框 42"/>
          <p:cNvSpPr>
            <a:spLocks noChangeArrowheads="1"/>
          </p:cNvSpPr>
          <p:nvPr userDrawn="1"/>
        </p:nvSpPr>
        <p:spPr bwMode="auto">
          <a:xfrm>
            <a:off x="5067300" y="6322695"/>
            <a:ext cx="2606675" cy="26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dist"/>
            <a:r>
              <a:rPr lang="zh-CN" altLang="en-US" sz="11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深圳大学计算机与软件学院</a:t>
            </a:r>
            <a:endParaRPr lang="zh-CN" altLang="en-US" sz="1100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268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530" y="6153785"/>
            <a:ext cx="869950" cy="582295"/>
          </a:xfrm>
          <a:prstGeom prst="rect">
            <a:avLst/>
          </a:prstGeom>
        </p:spPr>
      </p:pic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4707255" y="283210"/>
            <a:ext cx="270764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上次回顾</a:t>
            </a:r>
            <a:endParaRPr lang="zh-CN" altLang="en-US" sz="3600" b="1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 userDrawn="1"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5095240" y="283845"/>
            <a:ext cx="212090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目录</a:t>
            </a:r>
            <a:endParaRPr lang="zh-CN" altLang="en-US" sz="3600" b="1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5044440" y="283210"/>
            <a:ext cx="20383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总结</a:t>
            </a:r>
            <a:endParaRPr lang="zh-CN" altLang="en-US" sz="3600" b="1" dirty="0" smtClean="0">
              <a:solidFill>
                <a:srgbClr val="3F3F3F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SZU讲义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05"/>
            <a:ext cx="12192000" cy="4400550"/>
          </a:xfrm>
          <a:prstGeom prst="rect">
            <a:avLst/>
          </a:prstGeom>
        </p:spPr>
      </p:pic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635" y="4088765"/>
            <a:ext cx="12192000" cy="82486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endParaRPr lang="en-US" altLang="zh-CN" sz="3600">
              <a:solidFill>
                <a:srgbClr val="FFFF00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" name="组合 3"/>
          <p:cNvGrpSpPr/>
          <p:nvPr userDrawn="1"/>
        </p:nvGrpSpPr>
        <p:grpSpPr>
          <a:xfrm>
            <a:off x="948055" y="5455920"/>
            <a:ext cx="10026650" cy="398780"/>
            <a:chOff x="1493" y="8366"/>
            <a:chExt cx="15790" cy="628"/>
          </a:xfrm>
        </p:grpSpPr>
        <p:sp>
          <p:nvSpPr>
            <p:cNvPr id="7175" name="直接连接符 29"/>
            <p:cNvSpPr/>
            <p:nvPr userDrawn="1"/>
          </p:nvSpPr>
          <p:spPr>
            <a:xfrm>
              <a:off x="1493" y="8671"/>
              <a:ext cx="5983" cy="2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78" name="直接连接符 40"/>
            <p:cNvSpPr/>
            <p:nvPr userDrawn="1"/>
          </p:nvSpPr>
          <p:spPr>
            <a:xfrm>
              <a:off x="11671" y="8672"/>
              <a:ext cx="5612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81" name="TextBox 14"/>
            <p:cNvSpPr txBox="1"/>
            <p:nvPr userDrawn="1"/>
          </p:nvSpPr>
          <p:spPr>
            <a:xfrm>
              <a:off x="8491" y="8366"/>
              <a:ext cx="2479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主讲白鉴聪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198245" y="5008880"/>
            <a:ext cx="9531350" cy="398780"/>
            <a:chOff x="1868" y="8366"/>
            <a:chExt cx="15010" cy="628"/>
          </a:xfrm>
        </p:grpSpPr>
        <p:sp>
          <p:nvSpPr>
            <p:cNvPr id="7" name="直接连接符 29"/>
            <p:cNvSpPr/>
            <p:nvPr userDrawn="1"/>
          </p:nvSpPr>
          <p:spPr>
            <a:xfrm>
              <a:off x="1868" y="8671"/>
              <a:ext cx="5159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8" name="直接连接符 40"/>
            <p:cNvSpPr/>
            <p:nvPr userDrawn="1"/>
          </p:nvSpPr>
          <p:spPr>
            <a:xfrm>
              <a:off x="11897" y="8692"/>
              <a:ext cx="4981" cy="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9" name="TextBox 14"/>
            <p:cNvSpPr txBox="1"/>
            <p:nvPr userDrawn="1"/>
          </p:nvSpPr>
          <p:spPr>
            <a:xfrm>
              <a:off x="7792" y="8366"/>
              <a:ext cx="3621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面向对象程序设计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0" y="4728210"/>
            <a:ext cx="12192000" cy="90360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zh-CN" sz="4000">
                <a:solidFill>
                  <a:srgbClr val="FFFF00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rPr>
              <a:t>谢谢观看</a:t>
            </a:r>
            <a:endParaRPr lang="zh-CN" altLang="zh-CN" sz="4000">
              <a:solidFill>
                <a:srgbClr val="FFFF00"/>
              </a:solidFill>
              <a:latin typeface="Copperplate Gothic Bold" panose="020E0705020206020404" charset="0"/>
              <a:ea typeface="微软雅黑" panose="020B0503020204020204" pitchFamily="34" charset="-122"/>
              <a:sym typeface="Copperplate Gothic Bold" panose="020E0705020206020404" charset="0"/>
            </a:endParaRPr>
          </a:p>
        </p:txBody>
      </p:sp>
      <p:sp>
        <p:nvSpPr>
          <p:cNvPr id="3076" name="直接连接符 24"/>
          <p:cNvSpPr>
            <a:spLocks noChangeShapeType="1"/>
          </p:cNvSpPr>
          <p:nvPr userDrawn="1"/>
        </p:nvSpPr>
        <p:spPr bwMode="auto">
          <a:xfrm>
            <a:off x="0" y="5665153"/>
            <a:ext cx="12192000" cy="1587"/>
          </a:xfrm>
          <a:prstGeom prst="line">
            <a:avLst/>
          </a:prstGeom>
          <a:noFill/>
          <a:ln w="1905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" name="图片 1" descr="SZU讲义尾页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5560"/>
            <a:ext cx="12191365" cy="476377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5144135"/>
          </a:xfrm>
        </p:spPr>
        <p:txBody>
          <a:bodyPr/>
          <a:lstStyle>
            <a:lvl1pPr>
              <a:buFont typeface="Wingdings" panose="05000000000000000000" charset="0"/>
              <a:buChar char="l"/>
              <a:defRPr sz="2800"/>
            </a:lvl1pPr>
            <a:lvl2pPr>
              <a:defRPr sz="2400"/>
            </a:lvl2pPr>
            <a:lvl3pPr>
              <a:buFont typeface="Arial" panose="020B0604020202020204" pitchFamily="34" charset="0"/>
              <a:buChar char="•"/>
              <a:defRPr sz="2000"/>
            </a:lvl3pPr>
            <a:lvl4pPr>
              <a:defRPr sz="2000"/>
            </a:lvl4pPr>
            <a:lvl5pPr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52475" y="150813"/>
            <a:ext cx="10972800" cy="796908"/>
          </a:xfrm>
        </p:spPr>
        <p:txBody>
          <a:bodyPr rtlCol="0"/>
          <a:lstStyle>
            <a:lvl1pPr algn="l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Copperplate Gothic Bold" panose="020E0705020206020404" charset="0"/>
                  <a:ea typeface="微软雅黑" panose="020B0503020204020204" pitchFamily="34" charset="-122"/>
                  <a:sym typeface="Copperplate Gothic Bold" panose="020E0705020206020404" charset="0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611284" cy="4752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284" y="1268413"/>
            <a:ext cx="5611283" cy="4752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4F8FB"/>
            </a:gs>
            <a:gs pos="63000">
              <a:srgbClr val="F2F2F2"/>
            </a:gs>
            <a:gs pos="100000">
              <a:srgbClr val="D8D8D8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2975" y="633888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+mj-lt"/>
          <a:ea typeface="+mj-ea"/>
          <a:cs typeface="+mj-cs"/>
          <a:sym typeface="Copperplate Gothic Bold" panose="020E0705020206020404" charset="0"/>
        </a:defRPr>
      </a:lvl1pPr>
      <a:lvl2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2pPr>
      <a:lvl3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3pPr>
      <a:lvl4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4pPr>
      <a:lvl5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5pPr>
      <a:lvl6pPr marL="16764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6pPr>
      <a:lvl7pPr marL="21336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7pPr>
      <a:lvl8pPr marL="25908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8pPr>
      <a:lvl9pPr marL="30480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9pPr>
    </p:titleStyle>
    <p:bodyStyle>
      <a:lvl1pPr marL="457200" indent="-4572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Copperplate Gothic Bold" panose="020E0705020206020404" charset="0"/>
        </a:defRPr>
      </a:lvl1pPr>
      <a:lvl2pPr marL="990600" indent="-3810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2pPr>
      <a:lvl3pPr marL="1524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3pPr>
      <a:lvl4pPr marL="2133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4pPr>
      <a:lvl5pPr marL="27432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5pPr>
      <a:lvl6pPr marL="32004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6pPr>
      <a:lvl7pPr marL="3657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7pPr>
      <a:lvl8pPr marL="41148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8pPr>
      <a:lvl9pPr marL="4572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tags" Target="../tags/tag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650345" y="6483985"/>
            <a:ext cx="541655" cy="282575"/>
          </a:xfrm>
        </p:spPr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06470" y="4126230"/>
            <a:ext cx="4791075" cy="815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p>
            <a:pPr marL="0" lvl="0" indent="0"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4000">
                <a:solidFill>
                  <a:srgbClr val="FFFF00"/>
                </a:solidFill>
              </a:rPr>
              <a:t>一</a:t>
            </a:r>
            <a:r>
              <a:rPr lang="en-US" altLang="zh-CN" sz="4000">
                <a:solidFill>
                  <a:srgbClr val="FFFF00"/>
                </a:solidFill>
              </a:rPr>
              <a:t>.C++</a:t>
            </a:r>
            <a:r>
              <a:rPr lang="zh-CN" altLang="en-US" sz="4000">
                <a:solidFill>
                  <a:srgbClr val="FFFF00"/>
                </a:solidFill>
              </a:rPr>
              <a:t>概述与指针</a:t>
            </a:r>
            <a:endParaRPr lang="zh-CN" altLang="en-US" sz="40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2325" y="208280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tx1"/>
                </a:solidFill>
              </a:rPr>
              <a:t>C</a:t>
            </a:r>
            <a:r>
              <a:rPr lang="zh-CN" altLang="en-US" sz="3600" b="1">
                <a:solidFill>
                  <a:schemeClr val="tx1"/>
                </a:solidFill>
              </a:rPr>
              <a:t>语言基础</a:t>
            </a:r>
            <a:endParaRPr lang="zh-CN" sz="3600" b="1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4335" y="1042035"/>
            <a:ext cx="11292840" cy="5114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  <a:ea typeface="+mn-ea"/>
                <a:sym typeface="+mn-ea"/>
              </a:rPr>
              <a:t>数据类型、变量、常量</a:t>
            </a:r>
            <a:endParaRPr lang="zh-CN" altLang="en-US" sz="2400">
              <a:latin typeface="+mn-ea"/>
              <a:ea typeface="+mn-ea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  <a:ea typeface="+mn-ea"/>
                <a:sym typeface="+mn-ea"/>
              </a:rPr>
              <a:t>表达式、运算符、语句</a:t>
            </a:r>
            <a:endParaRPr lang="zh-CN" altLang="en-US" sz="2400">
              <a:latin typeface="+mn-ea"/>
              <a:ea typeface="+mn-ea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  <a:ea typeface="+mn-ea"/>
                <a:sym typeface="+mn-ea"/>
              </a:rPr>
              <a:t>三种控制结构</a:t>
            </a:r>
            <a:endParaRPr lang="zh-CN" altLang="en-US" sz="2400">
              <a:latin typeface="+mn-ea"/>
              <a:ea typeface="+mn-ea"/>
            </a:endParaRPr>
          </a:p>
          <a:p>
            <a:pPr marL="885825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ea typeface="+mn-ea"/>
                <a:sym typeface="+mn-ea"/>
              </a:rPr>
              <a:t>顺序结构：默认结构</a:t>
            </a:r>
            <a:endParaRPr lang="zh-CN" altLang="en-US" sz="2000">
              <a:latin typeface="+mn-ea"/>
              <a:ea typeface="+mn-ea"/>
              <a:sym typeface="+mn-ea"/>
            </a:endParaRPr>
          </a:p>
          <a:p>
            <a:pPr marL="885825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ea typeface="+mn-ea"/>
                <a:sym typeface="+mn-ea"/>
              </a:rPr>
              <a:t>选择结构：if…else、switch</a:t>
            </a:r>
            <a:r>
              <a:rPr lang="en-US" altLang="zh-CN" sz="2000">
                <a:latin typeface="+mn-ea"/>
                <a:ea typeface="+mn-ea"/>
                <a:sym typeface="+mn-ea"/>
              </a:rPr>
              <a:t>....case....</a:t>
            </a:r>
            <a:r>
              <a:rPr lang="zh-CN" altLang="en-US" sz="2000">
                <a:latin typeface="+mn-ea"/>
                <a:ea typeface="+mn-ea"/>
                <a:sym typeface="+mn-ea"/>
              </a:rPr>
              <a:t>、？</a:t>
            </a:r>
            <a:r>
              <a:rPr lang="en-US" altLang="zh-CN" sz="2000">
                <a:latin typeface="+mn-ea"/>
                <a:ea typeface="+mn-ea"/>
                <a:sym typeface="+mn-ea"/>
              </a:rPr>
              <a:t>:</a:t>
            </a:r>
            <a:endParaRPr lang="zh-CN" altLang="en-US" sz="2000">
              <a:latin typeface="+mn-ea"/>
              <a:ea typeface="+mn-ea"/>
            </a:endParaRPr>
          </a:p>
          <a:p>
            <a:pPr marL="885825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ea typeface="+mn-ea"/>
                <a:sym typeface="+mn-ea"/>
              </a:rPr>
              <a:t>循环结构：for…、while</a:t>
            </a:r>
            <a:r>
              <a:rPr lang="en-US" altLang="zh-CN" sz="2000">
                <a:latin typeface="+mn-ea"/>
                <a:ea typeface="+mn-ea"/>
                <a:sym typeface="+mn-ea"/>
              </a:rPr>
              <a:t>.....</a:t>
            </a:r>
            <a:r>
              <a:rPr lang="zh-CN" altLang="en-US" sz="2000">
                <a:latin typeface="+mn-ea"/>
                <a:ea typeface="+mn-ea"/>
                <a:sym typeface="+mn-ea"/>
              </a:rPr>
              <a:t>、do…while</a:t>
            </a:r>
            <a:r>
              <a:rPr lang="en-US" altLang="zh-CN" sz="2000">
                <a:latin typeface="+mn-ea"/>
                <a:ea typeface="+mn-ea"/>
                <a:sym typeface="+mn-ea"/>
              </a:rPr>
              <a:t>.....</a:t>
            </a:r>
            <a:endParaRPr lang="en-US" altLang="zh-CN" sz="2000">
              <a:latin typeface="+mn-ea"/>
              <a:ea typeface="+mn-ea"/>
              <a:sym typeface="+mn-ea"/>
            </a:endParaRPr>
          </a:p>
          <a:p>
            <a:pPr marL="885825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ea typeface="+mn-ea"/>
                <a:sym typeface="+mn-ea"/>
              </a:rPr>
              <a:t>改变控制：break、continue、</a:t>
            </a:r>
            <a:r>
              <a:rPr lang="en-US" altLang="zh-CN" sz="2000">
                <a:latin typeface="+mn-ea"/>
                <a:ea typeface="+mn-ea"/>
                <a:sym typeface="+mn-ea"/>
              </a:rPr>
              <a:t>return</a:t>
            </a:r>
            <a:endParaRPr lang="zh-CN" altLang="en-US" sz="2400">
              <a:latin typeface="+mn-ea"/>
              <a:ea typeface="+mn-ea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  <a:ea typeface="+mn-ea"/>
                <a:sym typeface="+mn-ea"/>
              </a:rPr>
              <a:t>数组</a:t>
            </a:r>
            <a:endParaRPr lang="zh-CN" altLang="en-US" sz="2400">
              <a:latin typeface="+mn-ea"/>
              <a:ea typeface="+mn-ea"/>
              <a:sym typeface="+mn-ea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  <a:ea typeface="+mn-ea"/>
                <a:sym typeface="+mn-ea"/>
              </a:rPr>
              <a:t>函数与参数</a:t>
            </a:r>
            <a:endParaRPr lang="zh-CN" altLang="en-US" sz="2400">
              <a:latin typeface="+mn-ea"/>
              <a:ea typeface="+mn-ea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  <a:ea typeface="+mn-ea"/>
                <a:sym typeface="+mn-ea"/>
              </a:rPr>
              <a:t>生命周期与作用范围</a:t>
            </a:r>
            <a:endParaRPr lang="zh-CN" altLang="en-US" sz="2400">
              <a:latin typeface="+mn-ea"/>
              <a:ea typeface="+mn-ea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endParaRPr lang="zh-CN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191770" y="1052830"/>
            <a:ext cx="8229600" cy="4386580"/>
          </a:xfrm>
        </p:spPr>
        <p:txBody>
          <a:bodyPr/>
          <a:lstStyle/>
          <a:p>
            <a:pPr eaLnBrk="1" hangingPunct="1"/>
            <a:r>
              <a:rPr lang="zh-CN" altLang="en-US" sz="2400" smtClean="0"/>
              <a:t>指针</a:t>
            </a:r>
            <a:r>
              <a:rPr lang="en-US" altLang="zh-CN" sz="2400" smtClean="0"/>
              <a:t>+</a:t>
            </a:r>
            <a:r>
              <a:rPr lang="zh-CN" altLang="en-US" sz="2400" smtClean="0"/>
              <a:t>引用</a:t>
            </a:r>
            <a:r>
              <a:rPr lang="en-US" altLang="zh-CN" sz="2400" smtClean="0"/>
              <a:t>+</a:t>
            </a:r>
            <a:r>
              <a:rPr lang="zh-CN" altLang="en-US" sz="2400" smtClean="0"/>
              <a:t>结构</a:t>
            </a:r>
            <a:endParaRPr lang="en-US" altLang="zh-CN" sz="2400" smtClean="0"/>
          </a:p>
          <a:p>
            <a:pPr eaLnBrk="1" hangingPunct="1"/>
            <a:r>
              <a:rPr lang="zh-CN" altLang="en-US" sz="2400" smtClean="0"/>
              <a:t>类与对象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构造与析构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拷贝构造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静态成员</a:t>
            </a:r>
            <a:r>
              <a:rPr lang="en-US" altLang="zh-CN" sz="2400" smtClean="0"/>
              <a:t>+</a:t>
            </a:r>
            <a:r>
              <a:rPr lang="zh-CN" altLang="en-US" sz="2400" smtClean="0"/>
              <a:t>友元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继承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多重继承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运算符重载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模板</a:t>
            </a:r>
            <a:endParaRPr lang="zh-CN" altLang="en-US" sz="240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课程结构（按教材划分）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3503930" y="1770380"/>
            <a:ext cx="504190" cy="128587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封装</a:t>
            </a:r>
            <a:endParaRPr lang="zh-CN" altLang="en-US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3935730" y="3267710"/>
            <a:ext cx="504190" cy="81534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继承</a:t>
            </a:r>
            <a:endParaRPr lang="zh-CN" altLang="en-US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4655820" y="3414395"/>
            <a:ext cx="876935" cy="162814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多态</a:t>
            </a:r>
            <a:endParaRPr lang="zh-CN" altLang="en-US" sz="18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ctr"/>
            <a:r>
              <a:rPr lang="zh-CN" altLang="en-US" sz="1800">
                <a:solidFill>
                  <a:srgbClr val="00B05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多种</a:t>
            </a:r>
            <a:r>
              <a:rPr lang="zh-CN" altLang="en-US" sz="1800">
                <a:solidFill>
                  <a:srgbClr val="00B05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形态</a:t>
            </a:r>
            <a:endParaRPr lang="zh-CN" altLang="en-US" sz="1800">
              <a:solidFill>
                <a:srgbClr val="00B05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735955" y="1844675"/>
            <a:ext cx="876935" cy="319786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C++</a:t>
            </a:r>
            <a:endParaRPr lang="zh-CN" altLang="en-US" sz="20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ctr"/>
            <a:r>
              <a:rPr lang="zh-CN" altLang="en-US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三大特性</a:t>
            </a:r>
            <a:endParaRPr lang="zh-CN" altLang="en-US" sz="20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8705" y="1595120"/>
            <a:ext cx="2783840" cy="366776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/>
        </p:nvSpPr>
        <p:spPr>
          <a:xfrm>
            <a:off x="263525" y="5439410"/>
            <a:ext cx="5523865" cy="658495"/>
          </a:xfrm>
          <a:prstGeom prst="rect">
            <a:avLst/>
          </a:prstGeom>
        </p:spPr>
        <p:txBody>
          <a:bodyPr vert="horz" rtlCol="0"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u="sng" dirty="0" smtClean="0">
                <a:solidFill>
                  <a:srgbClr val="FF0000"/>
                </a:solidFill>
              </a:rPr>
              <a:t>成绩：平时成绩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60%+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期末机考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40%</a:t>
            </a:r>
            <a:endParaRPr lang="en-US" altLang="zh-CN" sz="2400" u="sng" dirty="0" smtClean="0">
              <a:solidFill>
                <a:srgbClr val="FF0000"/>
              </a:solidFill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2856230" y="1595120"/>
            <a:ext cx="504190" cy="60579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抽象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右大括号 10"/>
          <p:cNvSpPr/>
          <p:nvPr/>
        </p:nvSpPr>
        <p:spPr>
          <a:xfrm>
            <a:off x="6960235" y="1594485"/>
            <a:ext cx="876935" cy="337756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面向对象四个特征</a:t>
            </a:r>
            <a:endParaRPr lang="zh-CN" altLang="en-US" sz="2400">
              <a:solidFill>
                <a:schemeClr val="tx2">
                  <a:lumMod val="60000"/>
                  <a:lumOff val="4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7114580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5170" y="1983740"/>
            <a:ext cx="3755390" cy="4723765"/>
          </a:xfrm>
          <a:prstGeom prst="rect">
            <a:avLst/>
          </a:prstGeom>
        </p:spPr>
      </p:pic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230505" y="948055"/>
            <a:ext cx="11730355" cy="4386580"/>
          </a:xfrm>
        </p:spPr>
        <p:txBody>
          <a:bodyPr/>
          <a:lstStyle/>
          <a:p>
            <a:pPr eaLnBrk="1" hangingPunct="1"/>
            <a:r>
              <a:rPr lang="zh-CN" altLang="en-US" sz="2400" smtClean="0"/>
              <a:t>实验地址：</a:t>
            </a:r>
            <a:r>
              <a:rPr lang="en-US" altLang="zh-CN" sz="2400" smtClean="0"/>
              <a:t>172.31.221.68</a:t>
            </a:r>
            <a:endParaRPr lang="en-US" altLang="zh-CN" sz="2400" smtClean="0"/>
          </a:p>
          <a:p>
            <a:pPr eaLnBrk="1" hangingPunct="1"/>
            <a:r>
              <a:rPr lang="zh-CN" altLang="en-US" sz="2400" smtClean="0"/>
              <a:t>实验</a:t>
            </a:r>
            <a:r>
              <a:rPr lang="en-US" altLang="zh-CN" sz="2400" smtClean="0"/>
              <a:t>WEBVPN</a:t>
            </a:r>
            <a:r>
              <a:rPr lang="zh-CN" altLang="en-US" sz="2400" smtClean="0"/>
              <a:t>入口</a:t>
            </a:r>
            <a:r>
              <a:rPr lang="en-US" altLang="zh-CN" sz="2400" smtClean="0"/>
              <a:t>:</a:t>
            </a:r>
            <a:r>
              <a:rPr lang="zh-CN" altLang="en-US" sz="2400" smtClean="0"/>
              <a:t>深大</a:t>
            </a:r>
            <a:r>
              <a:rPr lang="en-US" altLang="zh-CN" sz="2400" smtClean="0"/>
              <a:t>WEBVPN--</a:t>
            </a:r>
            <a:r>
              <a:rPr lang="zh-CN" altLang="en-US" sz="2400" smtClean="0"/>
              <a:t>计算机与软件学院</a:t>
            </a:r>
            <a:r>
              <a:rPr lang="en-US" altLang="zh-CN" sz="2400" smtClean="0"/>
              <a:t>--</a:t>
            </a:r>
            <a:r>
              <a:rPr lang="zh-CN" altLang="en-US" sz="2400" smtClean="0"/>
              <a:t>【面向对象程序设计】</a:t>
            </a:r>
            <a:endParaRPr lang="zh-CN" altLang="en-US" sz="2400" smtClean="0"/>
          </a:p>
          <a:p>
            <a:pPr marL="0" indent="0" eaLnBrk="1" hangingPunct="1">
              <a:buNone/>
            </a:pPr>
            <a:r>
              <a:rPr lang="zh-CN" altLang="en-US" sz="2400" u="sng" dirty="0" smtClean="0">
                <a:solidFill>
                  <a:srgbClr val="FF0000"/>
                </a:solidFill>
                <a:sym typeface="+mn-ea"/>
              </a:rPr>
              <a:t>因为信息中心有</a:t>
            </a:r>
            <a:r>
              <a:rPr lang="en-US" altLang="zh-CN" sz="2400" u="sng" dirty="0" smtClean="0">
                <a:solidFill>
                  <a:srgbClr val="FF0000"/>
                </a:solidFill>
                <a:sym typeface="+mn-ea"/>
              </a:rPr>
              <a:t>VPN</a:t>
            </a:r>
            <a:r>
              <a:rPr lang="zh-CN" altLang="en-US" sz="2400" u="sng" dirty="0" smtClean="0">
                <a:solidFill>
                  <a:srgbClr val="FF0000"/>
                </a:solidFill>
                <a:sym typeface="+mn-ea"/>
              </a:rPr>
              <a:t>拦截，通过</a:t>
            </a:r>
            <a:r>
              <a:rPr lang="en-US" altLang="zh-CN" sz="2400" u="sng" dirty="0" smtClean="0">
                <a:solidFill>
                  <a:srgbClr val="FF0000"/>
                </a:solidFill>
                <a:sym typeface="+mn-ea"/>
              </a:rPr>
              <a:t>VPN</a:t>
            </a:r>
            <a:r>
              <a:rPr lang="zh-CN" altLang="en-US" sz="2400" u="sng" dirty="0" smtClean="0">
                <a:solidFill>
                  <a:srgbClr val="FF0000"/>
                </a:solidFill>
                <a:sym typeface="+mn-ea"/>
              </a:rPr>
              <a:t>访问</a:t>
            </a:r>
            <a:r>
              <a:rPr lang="en-US" altLang="zh-CN" sz="2400" u="sng" dirty="0" smtClean="0">
                <a:solidFill>
                  <a:srgbClr val="FF0000"/>
                </a:solidFill>
                <a:sym typeface="+mn-ea"/>
              </a:rPr>
              <a:t>OJ</a:t>
            </a:r>
            <a:r>
              <a:rPr lang="zh-CN" altLang="en-US" sz="2400" u="sng" dirty="0" smtClean="0">
                <a:solidFill>
                  <a:srgbClr val="FF0000"/>
                </a:solidFill>
                <a:sym typeface="+mn-ea"/>
              </a:rPr>
              <a:t>系统可能会被拦截</a:t>
            </a:r>
            <a:endParaRPr lang="zh-CN" altLang="en-US" sz="2400" u="sng" dirty="0" smtClean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2400" u="sng" dirty="0" smtClean="0">
                <a:solidFill>
                  <a:srgbClr val="FF0000"/>
                </a:solidFill>
                <a:sym typeface="+mn-ea"/>
              </a:rPr>
              <a:t>只能保证在实验室用实验室电脑能够正确提交！！</a:t>
            </a:r>
            <a:endParaRPr lang="en-US" altLang="zh-CN" sz="2400" smtClean="0"/>
          </a:p>
          <a:p>
            <a:pPr marL="0" indent="0" eaLnBrk="1" hangingPunct="1">
              <a:buNone/>
            </a:pPr>
            <a:r>
              <a:rPr lang="zh-CN" altLang="en-US" sz="2400" u="sng" smtClean="0">
                <a:solidFill>
                  <a:srgbClr val="FF0000"/>
                </a:solidFill>
              </a:rPr>
              <a:t>凡是因为</a:t>
            </a:r>
            <a:r>
              <a:rPr lang="en-US" altLang="zh-CN" sz="2400" u="sng" smtClean="0">
                <a:solidFill>
                  <a:srgbClr val="FF0000"/>
                </a:solidFill>
              </a:rPr>
              <a:t>VPN</a:t>
            </a:r>
            <a:r>
              <a:rPr lang="zh-CN" altLang="en-US" sz="2400" u="sng" smtClean="0">
                <a:solidFill>
                  <a:srgbClr val="FF0000"/>
                </a:solidFill>
              </a:rPr>
              <a:t>拦截，都不能补交！！</a:t>
            </a:r>
            <a:endParaRPr lang="zh-CN" altLang="en-US" sz="2400" u="sng" smtClean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zh-CN" altLang="en-US" sz="2400" u="sng" smtClean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u="sng" smtClean="0">
                <a:solidFill>
                  <a:srgbClr val="FF0000"/>
                </a:solidFill>
              </a:rPr>
              <a:t>OJ</a:t>
            </a:r>
            <a:r>
              <a:rPr lang="zh-CN" altLang="en-US" sz="2400" u="sng" smtClean="0">
                <a:solidFill>
                  <a:srgbClr val="FF0000"/>
                </a:solidFill>
              </a:rPr>
              <a:t>会有查重，凡是查重发现问题，不管谁抄谁一律同等处理</a:t>
            </a:r>
            <a:endParaRPr lang="zh-CN" altLang="en-US" sz="2400" u="sng" smtClean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400" u="sng" smtClean="0">
                <a:solidFill>
                  <a:srgbClr val="FF0000"/>
                </a:solidFill>
              </a:rPr>
              <a:t>查重三次有问题，取消课程考试资格</a:t>
            </a:r>
            <a:endParaRPr lang="zh-CN" altLang="en-US" sz="2400" u="sng" smtClean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400" u="sng" smtClean="0">
                <a:solidFill>
                  <a:srgbClr val="FF0000"/>
                </a:solidFill>
              </a:rPr>
              <a:t>少于三次，实验</a:t>
            </a:r>
            <a:r>
              <a:rPr lang="en-US" altLang="zh-CN" sz="2400" u="sng" smtClean="0">
                <a:solidFill>
                  <a:srgbClr val="FF0000"/>
                </a:solidFill>
              </a:rPr>
              <a:t>0</a:t>
            </a:r>
            <a:r>
              <a:rPr lang="zh-CN" altLang="en-US" sz="2400" u="sng" smtClean="0">
                <a:solidFill>
                  <a:srgbClr val="FF0000"/>
                </a:solidFill>
              </a:rPr>
              <a:t>分</a:t>
            </a:r>
            <a:endParaRPr lang="zh-CN" altLang="en-US" sz="2400" u="sng" smtClean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课程结构（按教材划分）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230505" y="5126355"/>
            <a:ext cx="7459980" cy="792480"/>
          </a:xfrm>
          <a:prstGeom prst="rect">
            <a:avLst/>
          </a:prstGeom>
        </p:spPr>
        <p:txBody>
          <a:bodyPr vert="horz" rtlCol="0"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u="sng" dirty="0" smtClean="0">
                <a:solidFill>
                  <a:srgbClr val="FF0000"/>
                </a:solidFill>
              </a:rPr>
              <a:t>成绩：课堂实验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20%+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课后实验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20+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课后实验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20%</a:t>
            </a:r>
            <a:endParaRPr lang="en-US" altLang="zh-CN" sz="2400" u="sng" dirty="0" smtClean="0">
              <a:solidFill>
                <a:srgbClr val="FF0000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u="sng" dirty="0" smtClean="0">
                <a:solidFill>
                  <a:srgbClr val="FF0000"/>
                </a:solidFill>
              </a:rPr>
              <a:t>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期末机考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40%</a:t>
            </a:r>
            <a:endParaRPr lang="en-US" altLang="zh-CN" sz="2400" u="sng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69640" y="1283970"/>
            <a:ext cx="2299970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496" y="1052814"/>
            <a:ext cx="8429684" cy="4857784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语言输入输出的缺陷：根据format参数，控制输入输出格式</a:t>
            </a:r>
            <a:endParaRPr lang="zh-CN" altLang="en-US" dirty="0" smtClean="0"/>
          </a:p>
          <a:p>
            <a:pPr lvl="1">
              <a:buNone/>
            </a:pP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的输入输出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2348865"/>
            <a:ext cx="3317875" cy="2552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25" y="2961640"/>
            <a:ext cx="3087370" cy="1220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 dirty="0" smtClean="0">
                <a:sym typeface="+mn-ea"/>
              </a:rPr>
              <a:t>C++</a:t>
            </a:r>
            <a:r>
              <a:rPr lang="zh-CN" altLang="en-US" sz="2400" dirty="0" smtClean="0">
                <a:sym typeface="+mn-ea"/>
              </a:rPr>
              <a:t>中用</a:t>
            </a:r>
            <a:r>
              <a:rPr lang="en-US" altLang="zh-CN" sz="2400" dirty="0" err="1" smtClean="0">
                <a:sym typeface="+mn-ea"/>
              </a:rPr>
              <a:t>cin</a:t>
            </a:r>
            <a:r>
              <a:rPr lang="zh-CN" altLang="en-US" sz="2400" dirty="0" smtClean="0">
                <a:sym typeface="+mn-ea"/>
              </a:rPr>
              <a:t>作为输入，</a:t>
            </a:r>
            <a:r>
              <a:rPr lang="en-US" altLang="zh-CN" sz="2400" dirty="0" err="1" smtClean="0">
                <a:sym typeface="+mn-ea"/>
              </a:rPr>
              <a:t>cou</a:t>
            </a:r>
            <a:r>
              <a:rPr lang="zh-CN" altLang="en-US" sz="2400" dirty="0" smtClean="0">
                <a:sym typeface="+mn-ea"/>
              </a:rPr>
              <a:t>作为输出，它实质是一种面向对象的流对象使用，而不像</a:t>
            </a:r>
            <a:r>
              <a:rPr lang="en-US" altLang="zh-CN" sz="2400" dirty="0" smtClean="0">
                <a:sym typeface="+mn-ea"/>
              </a:rPr>
              <a:t>C</a:t>
            </a:r>
            <a:r>
              <a:rPr lang="zh-CN" altLang="en-US" sz="2400" dirty="0" smtClean="0">
                <a:sym typeface="+mn-ea"/>
              </a:rPr>
              <a:t>语言的输入输出函数。</a:t>
            </a:r>
            <a:endParaRPr lang="zh-CN" altLang="en-US" sz="2400" dirty="0" smtClean="0">
              <a:sym typeface="+mn-ea"/>
            </a:endParaRPr>
          </a:p>
          <a:p>
            <a:pPr lvl="1"/>
            <a:r>
              <a:rPr lang="zh-CN" altLang="zh-CN" sz="2000" dirty="0" err="1" smtClean="0">
                <a:sym typeface="+mn-ea"/>
              </a:rPr>
              <a:t>与</a:t>
            </a:r>
            <a:r>
              <a:rPr lang="en-US" altLang="zh-CN" sz="2000" dirty="0" err="1" smtClean="0">
                <a:sym typeface="+mn-ea"/>
              </a:rPr>
              <a:t>C</a:t>
            </a:r>
            <a:r>
              <a:rPr lang="zh-CN" altLang="en-US" sz="2000" dirty="0" err="1" smtClean="0">
                <a:sym typeface="+mn-ea"/>
              </a:rPr>
              <a:t>语言相比，</a:t>
            </a:r>
            <a:r>
              <a:rPr lang="en-US" altLang="zh-CN" sz="2000" dirty="0" err="1" smtClean="0">
                <a:sym typeface="+mn-ea"/>
              </a:rPr>
              <a:t>C++</a:t>
            </a:r>
            <a:r>
              <a:rPr lang="zh-CN" altLang="en-US" sz="2000" dirty="0" err="1" smtClean="0">
                <a:sym typeface="+mn-ea"/>
              </a:rPr>
              <a:t>的输入输出不必指明数据类型，自动识别变量类型，更加方便</a:t>
            </a:r>
            <a:endParaRPr lang="zh-CN" altLang="en-US" sz="2000" dirty="0" err="1" smtClean="0">
              <a:sym typeface="+mn-ea"/>
            </a:endParaRPr>
          </a:p>
          <a:p>
            <a:pPr lvl="1"/>
            <a:r>
              <a:rPr lang="en-US" altLang="zh-CN" sz="2000" dirty="0" err="1" smtClean="0">
                <a:sym typeface="+mn-ea"/>
              </a:rPr>
              <a:t>C++</a:t>
            </a:r>
            <a:r>
              <a:rPr lang="zh-CN" altLang="en-US" sz="2000" dirty="0" err="1" smtClean="0">
                <a:sym typeface="+mn-ea"/>
              </a:rPr>
              <a:t>的输入输出可以自定义，通过运算符重载实现复杂数据输入输出</a:t>
            </a:r>
            <a:endParaRPr lang="zh-CN" altLang="en-US" sz="2000" dirty="0" err="1" smtClean="0">
              <a:sym typeface="+mn-ea"/>
            </a:endParaRPr>
          </a:p>
          <a:p>
            <a:pPr lvl="1"/>
            <a:r>
              <a:rPr lang="zh-CN" altLang="en-US" sz="2000" dirty="0" smtClean="0">
                <a:sym typeface="+mn-ea"/>
              </a:rPr>
              <a:t>使用</a:t>
            </a:r>
            <a:r>
              <a:rPr lang="en-US" altLang="zh-CN" sz="2000" dirty="0" err="1" smtClean="0">
                <a:sym typeface="+mn-ea"/>
              </a:rPr>
              <a:t>cin</a:t>
            </a:r>
            <a:r>
              <a:rPr lang="zh-CN" altLang="en-US" sz="2000" dirty="0" smtClean="0">
                <a:sym typeface="+mn-ea"/>
              </a:rPr>
              <a:t>和</a:t>
            </a:r>
            <a:r>
              <a:rPr lang="en-US" altLang="zh-CN" sz="2000" dirty="0" err="1" smtClean="0">
                <a:sym typeface="+mn-ea"/>
              </a:rPr>
              <a:t>cout</a:t>
            </a:r>
            <a:r>
              <a:rPr lang="zh-CN" altLang="en-US" sz="2000" dirty="0" smtClean="0">
                <a:sym typeface="+mn-ea"/>
              </a:rPr>
              <a:t>要包含头文件</a:t>
            </a:r>
            <a:r>
              <a:rPr lang="en-US" altLang="zh-CN" sz="2000" dirty="0" err="1" smtClean="0">
                <a:sym typeface="+mn-ea"/>
              </a:rPr>
              <a:t>iostream</a:t>
            </a:r>
            <a:r>
              <a:rPr lang="zh-CN" altLang="en-US" sz="2000" dirty="0" err="1" smtClean="0">
                <a:sym typeface="+mn-ea"/>
              </a:rPr>
              <a:t>，都包含</a:t>
            </a:r>
            <a:r>
              <a:rPr lang="en-US" altLang="zh-CN" sz="2000" dirty="0" err="1" smtClean="0">
                <a:sym typeface="+mn-ea"/>
              </a:rPr>
              <a:t>using namespace std;</a:t>
            </a:r>
            <a:endParaRPr lang="en-US" altLang="zh-CN" sz="2000" dirty="0" err="1" smtClean="0"/>
          </a:p>
          <a:p>
            <a:endParaRPr lang="en-US" altLang="zh-CN" sz="2000" dirty="0" err="1" smtClean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输入输出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6030" y="6517958"/>
            <a:ext cx="541338" cy="282575"/>
          </a:xfrm>
        </p:spPr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860" y="4671060"/>
            <a:ext cx="2553970" cy="6965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85" y="3305810"/>
            <a:ext cx="5033645" cy="285051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513205" y="3362960"/>
            <a:ext cx="2526665" cy="50673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7536180" y="3201670"/>
            <a:ext cx="3085465" cy="795020"/>
          </a:xfrm>
          <a:prstGeom prst="wedgeRoundRectCallout">
            <a:avLst>
              <a:gd name="adj1" fmla="val -162956"/>
              <a:gd name="adj2" fmla="val 16276"/>
              <a:gd name="adj3" fmla="val 16667"/>
            </a:avLst>
          </a:prstGeom>
          <a:noFill/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0000"/>
                </a:solidFill>
              </a:rPr>
              <a:t>这两行语句是</a:t>
            </a:r>
            <a:r>
              <a:rPr lang="en-US" altLang="zh-CN" sz="2000">
                <a:solidFill>
                  <a:srgbClr val="FF0000"/>
                </a:solidFill>
              </a:rPr>
              <a:t>C++</a:t>
            </a:r>
            <a:r>
              <a:rPr lang="zh-CN" altLang="en-US" sz="2000">
                <a:solidFill>
                  <a:srgbClr val="FF0000"/>
                </a:solidFill>
              </a:rPr>
              <a:t>标配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1770" y="908685"/>
            <a:ext cx="10192385" cy="2952750"/>
          </a:xfrm>
        </p:spPr>
        <p:txBody>
          <a:bodyPr/>
          <a:lstStyle/>
          <a:p>
            <a:r>
              <a:rPr lang="en-US" altLang="zh-CN" dirty="0" err="1" smtClean="0"/>
              <a:t>cin</a:t>
            </a:r>
            <a:r>
              <a:rPr lang="zh-CN" altLang="en-US" dirty="0" smtClean="0"/>
              <a:t>是输入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cin</a:t>
            </a:r>
            <a:r>
              <a:rPr lang="zh-CN" altLang="en-US" dirty="0" smtClean="0"/>
              <a:t>是接受一整行的输入，以回车为结束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在代码中，可以把多个输入变量联在一行，用</a:t>
            </a:r>
            <a:r>
              <a:rPr lang="en-US" altLang="zh-CN" dirty="0" smtClean="0"/>
              <a:t>&gt;&gt;</a:t>
            </a:r>
            <a:r>
              <a:rPr lang="zh-CN" altLang="en-US" dirty="0" smtClean="0"/>
              <a:t>关联起来，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在键盘输入时，在一行内输入多个数据，用空格分开</a:t>
            </a:r>
            <a:endParaRPr lang="en-US" altLang="zh-CN" dirty="0" smtClean="0"/>
          </a:p>
          <a:p>
            <a:pPr lvl="1"/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pPr lvl="1">
              <a:buNone/>
            </a:pP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的输入输出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679637" y="649257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400415" y="2420620"/>
            <a:ext cx="3630295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43795" y="3787463"/>
            <a:ext cx="2500330" cy="1234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9120505" y="5300980"/>
            <a:ext cx="2286000" cy="33337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1741" y="1000109"/>
            <a:ext cx="8429684" cy="4857784"/>
          </a:xfrm>
        </p:spPr>
        <p:txBody>
          <a:bodyPr/>
          <a:lstStyle/>
          <a:p>
            <a:r>
              <a:rPr lang="en-US" altLang="zh-CN" dirty="0" err="1" smtClean="0"/>
              <a:t>cout</a:t>
            </a:r>
            <a:r>
              <a:rPr lang="zh-CN" altLang="en-US" dirty="0" smtClean="0"/>
              <a:t>是输出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默认是在一行内输出，如果要分行输出，可以使用</a:t>
            </a:r>
            <a:r>
              <a:rPr lang="en-US" altLang="zh-CN" dirty="0" err="1" smtClean="0"/>
              <a:t>endl</a:t>
            </a:r>
            <a:r>
              <a:rPr lang="zh-CN" altLang="en-US" dirty="0" smtClean="0"/>
              <a:t>作为换行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通过操作符</a:t>
            </a:r>
            <a:r>
              <a:rPr lang="en-US" altLang="zh-CN" dirty="0" smtClean="0"/>
              <a:t>&lt;&lt;</a:t>
            </a:r>
            <a:r>
              <a:rPr lang="zh-CN" altLang="en-US" dirty="0" smtClean="0"/>
              <a:t>可以把多个输出变量联在一起</a:t>
            </a: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9018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的输入输出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63663" y="3573145"/>
            <a:ext cx="3000396" cy="1829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0370" y="1772920"/>
            <a:ext cx="3380105" cy="4646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6676" y="908669"/>
            <a:ext cx="8429684" cy="4857784"/>
          </a:xfrm>
        </p:spPr>
        <p:txBody>
          <a:bodyPr/>
          <a:lstStyle/>
          <a:p>
            <a:r>
              <a:rPr lang="zh-CN" altLang="en-US" dirty="0" smtClean="0"/>
              <a:t>通过控制符，可以控制输出的格式，课本</a:t>
            </a:r>
            <a:r>
              <a:rPr lang="en-US" altLang="zh-CN" dirty="0" smtClean="0"/>
              <a:t>P422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使用输出控制符需要包含头文件</a:t>
            </a:r>
            <a:r>
              <a:rPr lang="en-US" altLang="zh-CN" dirty="0" err="1" smtClean="0"/>
              <a:t>iomanip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的输入输出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28800" y="2064385"/>
            <a:ext cx="5385435" cy="4589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96233" y="2348863"/>
            <a:ext cx="320732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1828800" y="2286000"/>
            <a:ext cx="2390775" cy="24765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55595" y="4580890"/>
            <a:ext cx="2895600" cy="24765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线形标注 1 5"/>
          <p:cNvSpPr/>
          <p:nvPr/>
        </p:nvSpPr>
        <p:spPr>
          <a:xfrm>
            <a:off x="7964170" y="3933190"/>
            <a:ext cx="2061210" cy="989330"/>
          </a:xfrm>
          <a:prstGeom prst="borderCallout1">
            <a:avLst>
              <a:gd name="adj1" fmla="val 18750"/>
              <a:gd name="adj2" fmla="val -8333"/>
              <a:gd name="adj3" fmla="val 61745"/>
              <a:gd name="adj4" fmla="val -108194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</a:rPr>
              <a:t>fixed</a:t>
            </a:r>
            <a:r>
              <a:rPr lang="zh-CN" altLang="en-US" sz="1600">
                <a:solidFill>
                  <a:schemeClr val="tx1"/>
                </a:solidFill>
              </a:rPr>
              <a:t>与</a:t>
            </a:r>
            <a:r>
              <a:rPr lang="en-US" altLang="zh-CN" sz="1600">
                <a:solidFill>
                  <a:schemeClr val="tx1"/>
                </a:solidFill>
              </a:rPr>
              <a:t>setprecsion</a:t>
            </a:r>
            <a:r>
              <a:rPr lang="zh-CN" altLang="en-US" sz="1600">
                <a:solidFill>
                  <a:schemeClr val="tx1"/>
                </a:solidFill>
              </a:rPr>
              <a:t>默认支持四舍五入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31540" y="1700530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1419840" cy="4595495"/>
          </a:xfrm>
        </p:spPr>
        <p:txBody>
          <a:bodyPr/>
          <a:lstStyle/>
          <a:p>
            <a:r>
              <a:rPr lang="zh-CN" altLang="en-US" dirty="0" smtClean="0"/>
              <a:t>数据在内存中的存储和读取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如果在程序中定义了一个变量，在编译时就给这个变量分配内存单元。系统根据程序中定义的变量类型，分配一定长度的空间。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例如，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编译系统一般为整型变量分配4个字节，为单精度浮点型变量分配4个字节，为字符型变量分配1个字节。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内存区的每一个字节有一个编号。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08669"/>
            <a:ext cx="8429684" cy="642942"/>
          </a:xfrm>
        </p:spPr>
        <p:txBody>
          <a:bodyPr/>
          <a:lstStyle/>
          <a:p>
            <a:r>
              <a:rPr lang="zh-CN" altLang="en-US" dirty="0" smtClean="0"/>
              <a:t>变量在内存中的示意图</a:t>
            </a:r>
            <a:endParaRPr lang="zh-CN" altLang="en-US" dirty="0" smtClean="0"/>
          </a:p>
          <a:p>
            <a:r>
              <a:rPr lang="zh-CN" altLang="en-US" sz="2800" dirty="0" smtClean="0">
                <a:sym typeface="+mn-ea"/>
              </a:rPr>
              <a:t>内存单元的地址与变量的关联</a:t>
            </a:r>
            <a:endParaRPr lang="en-US" altLang="zh-CN" sz="2800" dirty="0" smtClean="0"/>
          </a:p>
          <a:p>
            <a:pPr lvl="1"/>
            <a:r>
              <a:rPr lang="zh-CN" altLang="en-US" sz="2800" b="1" dirty="0" smtClean="0">
                <a:solidFill>
                  <a:srgbClr val="FF0000"/>
                </a:solidFill>
                <a:sym typeface="+mn-ea"/>
              </a:rPr>
              <a:t>变量名</a:t>
            </a:r>
            <a:endParaRPr lang="zh-CN" altLang="en-US" sz="2800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800" b="1" dirty="0" smtClean="0">
                <a:solidFill>
                  <a:srgbClr val="FF0000"/>
                </a:solidFill>
                <a:sym typeface="+mn-ea"/>
              </a:rPr>
              <a:t>变量的地址</a:t>
            </a:r>
            <a:endParaRPr lang="zh-CN" altLang="en-US" sz="2800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800" b="1" dirty="0" smtClean="0">
                <a:solidFill>
                  <a:srgbClr val="FF0000"/>
                </a:solidFill>
                <a:sym typeface="+mn-ea"/>
              </a:rPr>
              <a:t>变量值</a:t>
            </a:r>
            <a:endParaRPr lang="zh-CN" altLang="en-US" sz="2800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800" b="1" dirty="0" smtClean="0">
                <a:solidFill>
                  <a:srgbClr val="FF0000"/>
                </a:solidFill>
                <a:sym typeface="+mn-ea"/>
              </a:rPr>
              <a:t>变量类型</a:t>
            </a:r>
            <a:endParaRPr lang="zh-CN" altLang="en-US" sz="2800" b="1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pic>
        <p:nvPicPr>
          <p:cNvPr id="4" name="Picture 3" descr="F:\计算机事业部电子教案\C++程序设计\tu\tu\图6.1.tif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384594" y="1196645"/>
            <a:ext cx="436562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9149715" cy="3500755"/>
          </a:xfrm>
        </p:spPr>
        <p:txBody>
          <a:bodyPr/>
          <a:lstStyle/>
          <a:p>
            <a:r>
              <a:rPr lang="zh-CN" altLang="en-US" dirty="0" smtClean="0"/>
              <a:t>变量的存取都是通过地址进行，包含两种方式：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直接存储（直接访问）：按变量地址存取变量值的方式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间接存取（间接访问）：在程序中定义这样一种特殊的变量，它是专门用来存放地址的，通过特殊变量得到地址，然后再根据地址去存储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1000109"/>
            <a:ext cx="8429684" cy="4857784"/>
          </a:xfrm>
        </p:spPr>
        <p:txBody>
          <a:bodyPr/>
          <a:lstStyle/>
          <a:p>
            <a:r>
              <a:rPr lang="zh-CN" altLang="en-US" dirty="0" smtClean="0"/>
              <a:t>变量的直接访问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a,b,c</a:t>
            </a:r>
            <a:r>
              <a:rPr lang="en-US" altLang="zh-CN" sz="2000" dirty="0" smtClean="0"/>
              <a:t>; 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		a=10;b=20;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c=</a:t>
            </a:r>
            <a:r>
              <a:rPr lang="en-US" altLang="zh-CN" sz="2000" dirty="0" err="1" smtClean="0"/>
              <a:t>a+b</a:t>
            </a:r>
            <a:r>
              <a:rPr lang="en-US" altLang="zh-CN" sz="2000" dirty="0" smtClean="0"/>
              <a:t>;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&lt;&lt;“c:"&lt;&lt;c&lt;&lt;</a:t>
            </a:r>
            <a:r>
              <a:rPr lang="en-US" altLang="zh-CN" sz="2000" dirty="0" err="1" smtClean="0"/>
              <a:t>endl</a:t>
            </a:r>
            <a:r>
              <a:rPr lang="en-US" altLang="zh-CN" sz="2000" dirty="0" smtClean="0"/>
              <a:t>;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在这里，对变量</a:t>
            </a:r>
            <a:r>
              <a:rPr lang="en-US" altLang="zh-CN" sz="2000" dirty="0" smtClean="0"/>
              <a:t>a, b, c</a:t>
            </a:r>
            <a:r>
              <a:rPr lang="zh-CN" altLang="en-US" sz="2000" dirty="0" smtClean="0"/>
              <a:t>的访问都是直接访问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1275060" cy="5026025"/>
          </a:xfrm>
        </p:spPr>
        <p:txBody>
          <a:bodyPr/>
          <a:lstStyle/>
          <a:p>
            <a:r>
              <a:rPr lang="zh-CN" altLang="en-US" dirty="0" smtClean="0"/>
              <a:t>变量的间接访问（</a:t>
            </a:r>
            <a:r>
              <a:rPr lang="en-US" altLang="zh-CN" dirty="0" smtClean="0">
                <a:sym typeface="+mn-ea"/>
              </a:rPr>
              <a:t> c/</a:t>
            </a:r>
            <a:r>
              <a:rPr lang="en-US" altLang="zh-CN" dirty="0" err="1" smtClean="0">
                <a:sym typeface="+mn-ea"/>
              </a:rPr>
              <a:t>c++</a:t>
            </a:r>
            <a:r>
              <a:rPr lang="zh-CN" altLang="en-US" dirty="0" smtClean="0">
                <a:sym typeface="+mn-ea"/>
              </a:rPr>
              <a:t>中的处理</a:t>
            </a:r>
            <a:r>
              <a:rPr lang="zh-CN" altLang="en-US" dirty="0" smtClean="0"/>
              <a:t>）</a:t>
            </a:r>
            <a:r>
              <a:rPr lang="en-US" altLang="zh-CN" dirty="0" smtClean="0"/>
              <a:t>	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安排相关的变量，专门用于存放变量地址。要间接访问时，从这些变量获得待访问的变量的地址，然后再按所获得的地址去访问要访问的变量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新的问题</a:t>
            </a:r>
            <a:r>
              <a:rPr lang="en-US" altLang="zh-CN" dirty="0" smtClean="0"/>
              <a:t>:</a:t>
            </a:r>
            <a:r>
              <a:rPr lang="zh-CN" altLang="en-US" dirty="0" smtClean="0"/>
              <a:t>按照冯诺依曼计算机的基本思想，存储单元中的内容都是按二进制存储，怎么知道该变量中存放是普通数据还是地址数据？单从存储单元所存放的形式已无法区分！</a:t>
            </a:r>
            <a:endParaRPr lang="en-US" altLang="zh-CN" dirty="0" smtClean="0"/>
          </a:p>
          <a:p>
            <a:pPr>
              <a:buNone/>
            </a:pPr>
            <a:r>
              <a:rPr lang="en-US" altLang="zh-CN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Q.</a:t>
            </a:r>
            <a:r>
              <a:rPr lang="zh-CN" alt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如何在存储单元中区分变量存放的是地址还是数值？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新的思路：设置一种专门的变量（可通过变量定义形式指定），这种变量专门用来存放变量的地址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即地址数据）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</a:t>
            </a:r>
            <a:r>
              <a:rPr lang="en-US" altLang="zh-CN" sz="2000" dirty="0" smtClean="0"/>
              <a:t> </a:t>
            </a:r>
            <a:endParaRPr lang="zh-CN" altLang="en-US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490960" cy="2782570"/>
          </a:xfrm>
        </p:spPr>
        <p:txBody>
          <a:bodyPr/>
          <a:lstStyle/>
          <a:p>
            <a:r>
              <a:rPr lang="zh-CN" altLang="en-US" dirty="0" smtClean="0"/>
              <a:t>指针变量的引入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由于通过地址能找到所需的变量单元，因此可以说，地址指向该变量单元。因此将地址形象化地称为“指针”。一个变量的地址称为该变量的指针。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如果有一个变量是专门用来存放另一变量地址（即指针）的，则它称为指针变量。指针变量的值（即指针变量中存放的值）是地址（即指针）。</a:t>
            </a:r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3" descr="F:\计算机事业部电子教案\C++程序设计\tu\tu\图6.2.tif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36121" y="4149092"/>
            <a:ext cx="4953000" cy="148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437495" cy="4358640"/>
          </a:xfrm>
        </p:spPr>
        <p:txBody>
          <a:bodyPr/>
          <a:lstStyle/>
          <a:p>
            <a:r>
              <a:rPr lang="zh-CN" altLang="en-US" dirty="0" smtClean="0"/>
              <a:t>指针变量的定义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普通变量的定义：数据类型　　变量名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存放地址的变量的定义：</a:t>
            </a: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数据类型　</a:t>
            </a:r>
            <a:r>
              <a:rPr lang="en-US" altLang="zh-CN" sz="2000" dirty="0" smtClean="0"/>
              <a:t>*</a:t>
            </a:r>
            <a:r>
              <a:rPr lang="zh-CN" altLang="en-US" sz="2000" dirty="0" smtClean="0"/>
              <a:t>变量名    或     数据类型</a:t>
            </a:r>
            <a:r>
              <a:rPr lang="en-US" altLang="zh-CN" sz="2000" dirty="0" smtClean="0"/>
              <a:t>*</a:t>
            </a:r>
            <a:r>
              <a:rPr lang="zh-CN" altLang="en-US" sz="2000" dirty="0" smtClean="0"/>
              <a:t>　变量名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	</a:t>
            </a:r>
            <a:r>
              <a:rPr lang="zh-CN" altLang="en-US" sz="2000" dirty="0" smtClean="0"/>
              <a:t>例：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x,y</a:t>
            </a:r>
            <a:r>
              <a:rPr lang="en-US" altLang="zh-CN" sz="2000" dirty="0" smtClean="0"/>
              <a:t>;    //</a:t>
            </a:r>
            <a:r>
              <a:rPr lang="zh-CN" altLang="en-US" sz="2000" dirty="0" smtClean="0"/>
              <a:t>普 通变量定义</a:t>
            </a:r>
            <a:r>
              <a:rPr lang="en-US" altLang="zh-CN" sz="2000" dirty="0" err="1" smtClean="0"/>
              <a:t>x,y</a:t>
            </a: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    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*p,*q; //</a:t>
            </a:r>
            <a:r>
              <a:rPr lang="en-US" altLang="zh-CN" sz="2000" dirty="0" err="1" smtClean="0"/>
              <a:t>p,q</a:t>
            </a:r>
            <a:r>
              <a:rPr lang="zh-CN" altLang="en-US" sz="2000" dirty="0" smtClean="0"/>
              <a:t>是存放地址的变量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    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* p;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* q;</a:t>
            </a:r>
            <a:endParaRPr lang="zh-CN" altLang="en-US" sz="2000" dirty="0" smtClean="0"/>
          </a:p>
          <a:p>
            <a:pPr lvl="1" eaLnBrk="1" hangingPunct="1"/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203940" cy="4796155"/>
          </a:xfrm>
        </p:spPr>
        <p:txBody>
          <a:bodyPr/>
          <a:lstStyle/>
          <a:p>
            <a:r>
              <a:rPr lang="zh-CN" altLang="en-US" dirty="0" smtClean="0"/>
              <a:t>指针与指针变量</a:t>
            </a:r>
            <a:endParaRPr lang="en-US" altLang="zh-CN" dirty="0" smtClean="0"/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指针（</a:t>
            </a:r>
            <a:r>
              <a:rPr lang="en-US" altLang="zh-CN" dirty="0" smtClean="0"/>
              <a:t>pointer)</a:t>
            </a:r>
            <a:r>
              <a:rPr lang="zh-CN" altLang="en-US" dirty="0" smtClean="0"/>
              <a:t>：变量的地址。</a:t>
            </a:r>
            <a:endParaRPr lang="en-US" altLang="zh-CN" dirty="0" smtClean="0"/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指针变量：专门存放变量地址的变量。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err="1" smtClean="0"/>
              <a:t>c++</a:t>
            </a:r>
            <a:r>
              <a:rPr lang="zh-CN" altLang="en-US" dirty="0" smtClean="0"/>
              <a:t>中指针变量的定义（先定义后使用）：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         类型</a:t>
            </a:r>
            <a:r>
              <a:rPr lang="en-US" altLang="zh-CN" sz="2000" dirty="0" smtClean="0"/>
              <a:t>*</a:t>
            </a:r>
            <a:r>
              <a:rPr lang="zh-CN" altLang="en-US" sz="2000" dirty="0" smtClean="0"/>
              <a:t>　指针变量名 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突出“指针类型”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      或：类型　</a:t>
            </a:r>
            <a:r>
              <a:rPr lang="en-US" altLang="zh-CN" sz="2000" dirty="0" smtClean="0"/>
              <a:t>*</a:t>
            </a:r>
            <a:r>
              <a:rPr lang="zh-CN" altLang="en-US" sz="2000" dirty="0" smtClean="0"/>
              <a:t>指针变量名</a:t>
            </a:r>
            <a:r>
              <a:rPr lang="en-US" altLang="zh-CN" sz="2000" dirty="0" smtClean="0"/>
              <a:t>//</a:t>
            </a:r>
            <a:r>
              <a:rPr lang="zh-CN" altLang="en-US" sz="2000" dirty="0" smtClean="0"/>
              <a:t>突出“指针”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Q.</a:t>
            </a:r>
            <a:r>
              <a:rPr lang="zh-CN" alt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这两种定义形式在使用时有什么区别？</a:t>
            </a:r>
            <a:endParaRPr lang="en-US" altLang="zh-CN" i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使用前者，只能一个一个地定义。 </a:t>
            </a:r>
            <a:endParaRPr lang="en-US" altLang="zh-CN" dirty="0" smtClean="0"/>
          </a:p>
          <a:p>
            <a:pPr lvl="1">
              <a:lnSpc>
                <a:spcPct val="90000"/>
              </a:lnSpc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如：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q;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p;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t;</a:t>
            </a:r>
            <a:endParaRPr lang="en-US" altLang="zh-CN" dirty="0" smtClean="0"/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使用后者，可连续定义若干个指针变量。</a:t>
            </a:r>
            <a:endParaRPr lang="en-US" altLang="zh-CN" dirty="0" smtClean="0"/>
          </a:p>
          <a:p>
            <a:pPr lvl="1">
              <a:lnSpc>
                <a:spcPct val="90000"/>
              </a:lnSpc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如：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*p,*q,*t;</a:t>
            </a:r>
            <a:endParaRPr lang="en-US" altLang="zh-CN" dirty="0" smtClean="0"/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如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</a:t>
            </a:r>
            <a:r>
              <a:rPr lang="en-US" altLang="zh-CN" dirty="0" err="1" smtClean="0"/>
              <a:t>p,q</a:t>
            </a:r>
            <a:r>
              <a:rPr lang="en-US" altLang="zh-CN" dirty="0" smtClean="0"/>
              <a:t>; </a:t>
            </a:r>
            <a:r>
              <a:rPr lang="zh-CN" altLang="en-US" dirty="0" smtClean="0"/>
              <a:t>是定义了一个指针（变量）</a:t>
            </a:r>
            <a:r>
              <a:rPr lang="en-US" altLang="zh-CN" dirty="0" smtClean="0"/>
              <a:t>p</a:t>
            </a:r>
            <a:r>
              <a:rPr lang="zh-CN" altLang="en-US" dirty="0" smtClean="0"/>
              <a:t>和一个整型变量</a:t>
            </a:r>
            <a:r>
              <a:rPr lang="en-US" altLang="zh-CN" dirty="0" smtClean="0"/>
              <a:t>q.</a:t>
            </a:r>
            <a:endParaRPr lang="zh-CN" altLang="en-US" dirty="0" smtClean="0"/>
          </a:p>
          <a:p>
            <a:pPr lvl="1" eaLnBrk="1" hangingPunct="1"/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986770" cy="476504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指针变量（指针）定义时指定的数据类型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普通变量定义时“类型”的含义－－指示所定义的变量将来只能接收这种类型的量。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如：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a;//</a:t>
            </a:r>
            <a:r>
              <a:rPr lang="zh-CN" altLang="en-US" dirty="0" smtClean="0"/>
              <a:t>将来只能接收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指针变量定义的类型，是指该指针变量所指向的变量类型：</a:t>
            </a:r>
            <a:endParaRPr lang="zh-CN" altLang="en-US" dirty="0" smtClean="0"/>
          </a:p>
          <a:p>
            <a:pPr marL="365125" lvl="1" indent="-255905">
              <a:spcBef>
                <a:spcPts val="400"/>
              </a:spcBef>
              <a:buSzPct val="68000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如：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a;//</a:t>
            </a:r>
            <a:r>
              <a:rPr lang="zh-CN" altLang="en-US" dirty="0" smtClean="0"/>
              <a:t>将来</a:t>
            </a:r>
            <a:r>
              <a:rPr lang="en-US" altLang="zh-CN" dirty="0" smtClean="0"/>
              <a:t>a</a:t>
            </a:r>
            <a:r>
              <a:rPr lang="zh-CN" altLang="en-US" dirty="0" smtClean="0"/>
              <a:t>指向的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型变量 </a:t>
            </a:r>
            <a:endParaRPr lang="zh-CN" altLang="en-US" dirty="0" smtClean="0"/>
          </a:p>
          <a:p>
            <a:r>
              <a:rPr lang="zh-CN" altLang="en-US" dirty="0" smtClean="0"/>
              <a:t>指针变量本身是专门存放地址量，因为所有地址量都是无符号整数，所以不必再指定“类型”</a:t>
            </a: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1000125"/>
            <a:ext cx="10656570" cy="4811395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A.</a:t>
            </a:r>
            <a:r>
              <a:rPr lang="zh-CN" altLang="en-US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注意</a:t>
            </a:r>
            <a:endParaRPr lang="en-US" altLang="zh-CN" u="sng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使用指针的用意是解决间接访问，而指针所指向的对象它是属于什么数据类型，这一点必须说明清楚。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57200" lvl="1" indent="-457200" algn="l">
              <a:buClrTx/>
              <a:buSzTx/>
              <a:buFont typeface="Wingdings" panose="05000000000000000000" pitchFamily="2" charset="2"/>
              <a:buNone/>
            </a:pPr>
            <a:r>
              <a:rPr lang="en-US" altLang="fr-FR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fr-FR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 x;</a:t>
            </a:r>
            <a:endParaRPr lang="fr-FR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fr-FR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double y;</a:t>
            </a:r>
            <a:endParaRPr lang="fr-FR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fr-FR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 *ax,*bx; </a:t>
            </a:r>
            <a:endParaRPr lang="fr-FR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fr-FR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ax =&amp;x;</a:t>
            </a:r>
            <a:endParaRPr lang="fr-FR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fr-FR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bx = &amp;y; 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//error</a:t>
            </a:r>
            <a:endParaRPr lang="fr-FR" altLang="zh-CN" sz="1800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指针概念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5" descr="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167174" y="2428868"/>
            <a:ext cx="3286148" cy="1764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182985" cy="485076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基类型 </a:t>
            </a:r>
            <a:r>
              <a:rPr lang="en-US" altLang="zh-CN" dirty="0" smtClean="0"/>
              <a:t>*</a:t>
            </a:r>
            <a:r>
              <a:rPr lang="zh-CN" altLang="en-US" dirty="0" smtClean="0"/>
              <a:t>的用法</a:t>
            </a:r>
            <a:endParaRPr lang="en-US" altLang="zh-CN" dirty="0" smtClean="0"/>
          </a:p>
          <a:p>
            <a:pPr indent="-6350" eaLnBrk="1" hangingPunct="1">
              <a:buFontTx/>
              <a:buNone/>
              <a:defRPr/>
            </a:pPr>
            <a:r>
              <a:rPr lang="en-US" altLang="zh-CN" sz="2000" dirty="0" smtClean="0"/>
              <a:t>float *pointer_3; // pointer_3</a:t>
            </a:r>
            <a:r>
              <a:rPr lang="zh-CN" altLang="en-US" sz="2000" dirty="0" smtClean="0"/>
              <a:t>是指向单精度型数据的指针变量</a:t>
            </a:r>
            <a:endParaRPr lang="zh-CN" altLang="en-US" sz="2000" dirty="0" smtClean="0"/>
          </a:p>
          <a:p>
            <a:pPr indent="-6350" eaLnBrk="1" hangingPunct="1">
              <a:buFontTx/>
              <a:buNone/>
              <a:defRPr/>
            </a:pPr>
            <a:r>
              <a:rPr lang="en-US" altLang="zh-CN" sz="2000" dirty="0" smtClean="0"/>
              <a:t>char *pointer_4; // pointer_4</a:t>
            </a:r>
            <a:r>
              <a:rPr lang="zh-CN" altLang="en-US" sz="2000" dirty="0" smtClean="0"/>
              <a:t>是指向字符型数据的指针变量</a:t>
            </a:r>
            <a:endParaRPr lang="en-US" altLang="zh-CN" sz="2000" dirty="0" smtClean="0"/>
          </a:p>
          <a:p>
            <a:pPr lvl="1"/>
            <a:r>
              <a:rPr lang="zh-CN" altLang="en-US" dirty="0" smtClean="0"/>
              <a:t>在第一行语句中，基类型是</a:t>
            </a:r>
            <a:r>
              <a:rPr lang="en-US" altLang="zh-CN" dirty="0" smtClean="0"/>
              <a:t>float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*</a:t>
            </a:r>
            <a:r>
              <a:rPr lang="zh-CN" altLang="en-US" dirty="0" smtClean="0"/>
              <a:t>表示指针类型，不是指针变量名的一部分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在定义变量时在变量名前加一个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/>
              <a:t>*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表示该变量是指针变量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指针变量名是</a:t>
            </a:r>
            <a:r>
              <a:rPr lang="en-US" altLang="zh-CN" dirty="0" smtClean="0"/>
              <a:t>pointer_3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pointer_4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</a:t>
            </a:r>
            <a:r>
              <a:rPr lang="zh-CN" altLang="en-US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endParaRPr lang="en-US" altLang="zh-CN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None/>
            </a:pPr>
            <a:r>
              <a:rPr lang="en-US" altLang="zh-CN" sz="1800" i="1" u="sng" dirty="0" smtClean="0"/>
              <a:t>*</a:t>
            </a:r>
            <a:r>
              <a:rPr lang="zh-CN" altLang="en-US" sz="1800" i="1" u="sng" dirty="0" smtClean="0"/>
              <a:t>放在贴近基类型或贴近变量的效果是一样的，都是只定义一个指针变量</a:t>
            </a:r>
            <a:endParaRPr lang="en-US" altLang="zh-CN" sz="1800" i="1" u="sng" dirty="0" smtClean="0"/>
          </a:p>
          <a:p>
            <a:pPr lvl="1">
              <a:buNone/>
            </a:pPr>
            <a:r>
              <a:rPr lang="zh-CN" altLang="en-US" sz="1800" dirty="0" smtClean="0"/>
              <a:t>例如：</a:t>
            </a:r>
            <a:endParaRPr lang="en-US" altLang="zh-CN" sz="1800" dirty="0" smtClean="0"/>
          </a:p>
          <a:p>
            <a:pPr lvl="1"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 *pa;</a:t>
            </a:r>
            <a:r>
              <a:rPr lang="zh-CN" altLang="en-US" sz="1800" dirty="0" smtClean="0"/>
              <a:t> 等价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*  pa;</a:t>
            </a:r>
            <a:endParaRPr lang="en-US" altLang="zh-CN" sz="1800" dirty="0" smtClean="0"/>
          </a:p>
          <a:p>
            <a:pPr lvl="1">
              <a:buNone/>
            </a:pPr>
            <a:r>
              <a:rPr lang="zh-CN" altLang="en-US" sz="1800" dirty="0" smtClean="0"/>
              <a:t>注意以下的误解：</a:t>
            </a:r>
            <a:endParaRPr lang="en-US" altLang="zh-CN" sz="1800" dirty="0" smtClean="0"/>
          </a:p>
          <a:p>
            <a:pPr lvl="1"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*pa,  </a:t>
            </a:r>
            <a:r>
              <a:rPr lang="en-US" altLang="zh-CN" sz="1800" dirty="0" err="1" smtClean="0"/>
              <a:t>pb</a:t>
            </a:r>
            <a:r>
              <a:rPr lang="en-US" altLang="zh-CN" sz="1800" dirty="0" smtClean="0"/>
              <a:t> ;  //</a:t>
            </a:r>
            <a:r>
              <a:rPr lang="zh-CN" altLang="en-US" sz="1800" dirty="0" smtClean="0"/>
              <a:t>是定义一个指针变量</a:t>
            </a:r>
            <a:r>
              <a:rPr lang="en-US" altLang="zh-CN" sz="1800" dirty="0" smtClean="0"/>
              <a:t>pa</a:t>
            </a:r>
            <a:r>
              <a:rPr lang="zh-CN" altLang="en-US" sz="1800" dirty="0" smtClean="0"/>
              <a:t>和一个整数变量</a:t>
            </a:r>
            <a:r>
              <a:rPr lang="en-US" altLang="zh-CN" sz="1800" dirty="0" err="1" smtClean="0"/>
              <a:t>pb</a:t>
            </a:r>
            <a:endParaRPr lang="en-US" altLang="zh-CN" sz="1800" dirty="0" smtClean="0"/>
          </a:p>
          <a:p>
            <a:pPr lvl="1"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*pa, *</a:t>
            </a:r>
            <a:r>
              <a:rPr lang="en-US" altLang="zh-CN" sz="1800" dirty="0" err="1" smtClean="0"/>
              <a:t>pb</a:t>
            </a:r>
            <a:r>
              <a:rPr lang="en-US" altLang="zh-CN" sz="1800" dirty="0" smtClean="0"/>
              <a:t>;  //</a:t>
            </a:r>
            <a:r>
              <a:rPr lang="zh-CN" altLang="en-US" sz="1800" dirty="0" smtClean="0"/>
              <a:t>这样才是连续定义多个指针变量</a:t>
            </a:r>
            <a:endParaRPr lang="en-US" altLang="zh-CN" sz="1800" dirty="0" smtClean="0"/>
          </a:p>
          <a:p>
            <a:pPr lvl="1">
              <a:buNone/>
            </a:pPr>
            <a:endParaRPr lang="en-US" altLang="zh-CN" sz="1800" i="1" u="sng" dirty="0" smtClean="0"/>
          </a:p>
          <a:p>
            <a:pPr lvl="1">
              <a:buNone/>
            </a:pPr>
            <a:endParaRPr lang="en-US" altLang="zh-CN" u="sng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指针基础用法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1364595" cy="472567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指针操作包括定义指针和使用指针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“数据类型  </a:t>
            </a:r>
            <a:r>
              <a:rPr lang="en-US" altLang="zh-CN" dirty="0" smtClean="0"/>
              <a:t>* </a:t>
            </a:r>
            <a:r>
              <a:rPr lang="zh-CN" altLang="en-US" dirty="0" smtClean="0"/>
              <a:t>”用于定义指针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在使用指针时，一般常用两个运算符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＆取地址运算符。求所指变量的地址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*指针运算符（或称间接访问运算符），表示该指针指向的对象的值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&amp;和*两个运算符的优先级别相同，但按自右至左方向结合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可见， </a:t>
            </a:r>
            <a:r>
              <a:rPr lang="en-US" altLang="zh-CN" dirty="0" smtClean="0"/>
              <a:t>*</a:t>
            </a:r>
            <a:r>
              <a:rPr lang="zh-CN" altLang="en-US" dirty="0" smtClean="0"/>
              <a:t>运算符包含两个应用，在定义时用来定义一个指针变量，在其他应用时表示取指针指向的变量的数值。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而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则配合指针表示，指针指向的变量的地址。</a:t>
            </a: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zh-CN" altLang="en-US" dirty="0" smtClean="0"/>
          </a:p>
          <a:p>
            <a:pPr indent="-6350" eaLnBrk="1" hangingPunct="1">
              <a:buFontTx/>
              <a:buNone/>
              <a:defRPr/>
            </a:pPr>
            <a:endParaRPr lang="en-US" altLang="zh-CN" dirty="0" smtClean="0"/>
          </a:p>
          <a:p>
            <a:pPr lvl="1"/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指针使用：先定义，接着初始化，再引用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a, 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*pa; //*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在定义时用于定义指针变量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pa = &amp;a;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 *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= &amp;b;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a = 10; b = 20;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*pa = 100;  //*pa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等价于变量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a，*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表示要使用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pa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指向的变量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&lt;&lt;“a= ”&lt;&lt;a&lt;&lt;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&lt;&lt;“pa = ”&lt;&lt;pa&lt;&lt;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&lt;&lt;“*pa = ”&lt;&lt;*pa&lt;&lt;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08669"/>
            <a:ext cx="8429684" cy="4857784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&amp;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的运算示例程序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a, b, *p1, *p2;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 = &amp;a; p2 = &amp;b;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 = 100; b=10;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 = p1;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 *p1&lt;&lt;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&lt;&lt;*&amp;a&lt;&lt;‘ ‘&lt;&lt;&amp;a&lt;&lt;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 //*&amp;a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是等价的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&lt;&lt;&amp;*p2&lt;&lt;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//&amp;*p2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&amp;a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是等价的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  <a:defRPr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3" descr="F:\计算机事业部电子教案\C++程序设计\tu\tu\图6.6.t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56350" y="1052517"/>
            <a:ext cx="5143536" cy="2358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0895965" cy="487934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指针示例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 smtClean="0"/>
              <a:t>	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a, b;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*pa, *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//*</a:t>
            </a: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在定义时用于定义指针变量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pa=&amp;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a，pb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= &amp;b; 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a = 5，b =10;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&lt;&lt;“a= ”&lt;&lt;a&lt;&lt;“b= ”&lt;&lt;b&lt;&lt;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*pa = 55;  //*</a:t>
            </a: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在非定义时用于间接访问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&lt;&lt;“a= ”&lt;&lt;a&lt;&lt;“b= ”&lt;&lt;b&lt;&lt;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= pa;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= 100；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&lt;&lt;“a= ”&lt;&lt;a&lt;&lt;“b= ”&lt;&lt;b&lt;&lt;</a:t>
            </a:r>
            <a:r>
              <a:rPr lang="en-US" altLang="zh-CN" sz="2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试分析程序运行</a:t>
            </a:r>
            <a:endParaRPr lang="zh-CN" altLang="en-US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0797540" cy="4735830"/>
          </a:xfrm>
        </p:spPr>
        <p:txBody>
          <a:bodyPr/>
          <a:lstStyle/>
          <a:p>
            <a:pPr marL="566420" indent="-457200">
              <a:buClr>
                <a:srgbClr val="FF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分析以下代码输出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a, b; //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假设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的内存地址为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10000，b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的内存地址为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10004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*p1, *p2;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 = &amp;a;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 = 111; b=222;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 *p1&lt;&lt;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*p1 = 333;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&lt;&lt;a&lt;&lt;‘ ‘&lt;&lt;&amp;a&lt;&lt;‘ ‘&lt;&lt;*&amp;a&lt;&lt;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&lt;&lt;*p2&lt;&lt;‘ ‘&lt;&lt;&amp;*p2&lt;&lt;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 = p1;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ts val="1800"/>
              </a:lnSpc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&lt;&lt;&amp;*p2&lt;&lt;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lvl="1" indent="-457200">
              <a:spcBef>
                <a:spcPts val="400"/>
              </a:spcBef>
              <a:buClr>
                <a:srgbClr val="FF0000"/>
              </a:buClr>
              <a:buSzPct val="100000"/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练习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0941050" cy="478980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指针常见错误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在非定义语句中，</a:t>
            </a:r>
            <a:r>
              <a:rPr lang="en-US" altLang="zh-CN" dirty="0" smtClean="0"/>
              <a:t>*</a:t>
            </a:r>
            <a:r>
              <a:rPr lang="zh-CN" altLang="en-US" dirty="0" smtClean="0"/>
              <a:t>不能用于普通变量，只能用于地址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count, *p;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p = &amp;count;</a:t>
            </a:r>
            <a:endParaRPr lang="en-US" altLang="zh-CN" dirty="0" smtClean="0"/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&lt;&lt;*count;  //</a:t>
            </a:r>
            <a:r>
              <a:rPr lang="zh-CN" altLang="en-US" sz="2000" dirty="0" smtClean="0"/>
              <a:t>报错</a:t>
            </a:r>
            <a:endParaRPr lang="en-US" altLang="zh-CN" sz="2000" dirty="0" smtClean="0"/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&lt;&lt;*p;	 //</a:t>
            </a:r>
            <a:r>
              <a:rPr lang="zh-CN" altLang="en-US" sz="2000" dirty="0" smtClean="0"/>
              <a:t>正确</a:t>
            </a:r>
            <a:endParaRPr lang="en-US" altLang="zh-CN" sz="2000" dirty="0" smtClean="0"/>
          </a:p>
          <a:p>
            <a:pPr indent="-6350" eaLnBrk="1" hangingPunct="1">
              <a:buFontTx/>
              <a:buNone/>
            </a:pPr>
            <a:endParaRPr lang="en-US" altLang="zh-CN" sz="2000" dirty="0" smtClean="0"/>
          </a:p>
          <a:p>
            <a:pPr lvl="1"/>
            <a:r>
              <a:rPr lang="zh-CN" altLang="en-US" dirty="0" smtClean="0"/>
              <a:t>指针类型与变量类型不相符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float count; 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*p; </a:t>
            </a:r>
            <a:endParaRPr lang="en-US" altLang="zh-CN" dirty="0" smtClean="0"/>
          </a:p>
          <a:p>
            <a:pPr lvl="1">
              <a:buNone/>
            </a:pPr>
            <a:r>
              <a:rPr lang="en-US" altLang="zh-CN" dirty="0" smtClean="0"/>
              <a:t>p = &amp;count; //</a:t>
            </a:r>
            <a:r>
              <a:rPr lang="zh-CN" altLang="en-US" dirty="0" smtClean="0"/>
              <a:t>报错，整数指针不能指向浮点数</a:t>
            </a:r>
            <a:endParaRPr lang="en-US" altLang="zh-CN" dirty="0" smtClean="0"/>
          </a:p>
          <a:p>
            <a:pPr indent="-6350" eaLnBrk="1" hangingPunct="1">
              <a:buFontTx/>
              <a:buNone/>
            </a:pPr>
            <a:endParaRPr lang="zh-CN" altLang="en-US" sz="2000" dirty="0" smtClean="0"/>
          </a:p>
          <a:p>
            <a:pPr indent="-6350" eaLnBrk="1" hangingPunct="1">
              <a:buFontTx/>
              <a:buNone/>
              <a:defRPr/>
            </a:pPr>
            <a:endParaRPr lang="en-US" altLang="zh-CN" dirty="0" smtClean="0"/>
          </a:p>
          <a:p>
            <a:pPr lvl="1"/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1588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08685"/>
            <a:ext cx="11107420" cy="5282565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指针常见错误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指针没有初始化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count, *p;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 = 30;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报警，运行时可能引发错误，因为</a:t>
            </a:r>
            <a:r>
              <a:rPr lang="zh-CN" altLang="en-US" sz="20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使用了未初始化的指针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count;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报警，可能引发错误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 = &amp;count;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报错，不能做类型转换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&amp;count; 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正确，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保存了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count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的地址，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count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定义语句和执行语句的混淆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count=5, *p =&amp;count;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这是在定义语句中做初始化，是可以的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以下有问题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 = count;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这是在执行语句中赋值，可能引发错误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改成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&amp;count;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  <a:defRPr/>
            </a:pP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0391140" cy="485076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空指针（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Null pointer)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空指针的值为全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0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，用符号表示为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NULL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，内部定义在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iostream.h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string.h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中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可以考虑在初始化时使用空指针，避免未初始化的错误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a=1;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*b = NULL;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b = &amp;a;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&lt;&lt;*b&lt;&lt;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80440"/>
            <a:ext cx="11441430" cy="482854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指针示例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最后输出？？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a,b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*p1,*p2;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a=100;b=10;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p1=&amp;a;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把变量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的地址赋给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p2=&amp;b;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把变量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的地址赋给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&lt;&lt;a&lt;&lt;″ ″&lt;&lt;b&lt;&lt;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&lt;&lt;*p1&lt;&lt;″ ″&lt;&lt;*p2&lt;&lt;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&lt;&lt;&amp;a&lt;&lt;″ ″&lt;&lt;&amp;b&lt;&lt;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&lt;&lt;p1&lt;&lt;″ ″&lt;&lt;p2&lt;&lt;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318875" cy="5184775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指针示例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输入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两个整数，按先大后小的顺序输出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b(</a:t>
            </a:r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用指针变量处理)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*p1, *p2, 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p, a, 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cin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&gt;&gt;a&gt;&gt;b;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输入两个整数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p1=&amp;a;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p2=&amp;b;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&lt;&lt;″p1=″&lt;&lt;p1&lt;&lt;″ p2=″&lt;&lt;p2&lt;&lt;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&lt;&lt;″p1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adr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=″&lt;&lt;&amp;p1&lt;&lt;″ p2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adr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=″&lt;&lt;&amp;p2&lt;&lt;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if(a&lt;b)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如果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a&lt;b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就使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与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的值交换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FontTx/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p=p1;p1=p2;p2=p;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将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的指向与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的指向交换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&lt;&lt;″p1=″&lt;&lt;p1&lt;&lt;″ p2=″&lt;&lt;p2&lt;&lt;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&lt;&lt;″p1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adr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=″&lt;&lt;&amp;p1&lt;&lt;″ p2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adr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=″&lt;&lt;&amp;p2&lt;&lt;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&lt;&lt;″a=″&lt;&lt;a&lt;&lt;″ b=″&lt;&lt;b&lt;&lt;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&lt;&lt;″max=″&lt;&lt;*p1&lt;&lt;″ min=″&lt;&lt;*p2&lt;&lt;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80440"/>
            <a:ext cx="10721340" cy="488251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指针示例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3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指针类型强制转换，课本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P149-150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 float f=34.5;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float*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=&amp;f;//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浮点指针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*)&amp;f;  //warning: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将浮点变量的地址赋给整型指针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&lt;&lt;f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:" &lt;&lt;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&lt;&lt;"=&gt;" &lt;&lt;*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:" &lt;&lt;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&lt;&lt;"=&gt;" &lt;&lt;*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隐式数据转换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&lt;&lt;f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80440"/>
            <a:ext cx="10963910" cy="448564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指针运算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指针加减某个整数－－与指针移动的量有关（与类型所对应字节数有关）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指针的乘除运算无意义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两指针相加无意义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两指针相减－－求出它们之间相对位置差 </a:t>
            </a:r>
            <a:endParaRPr lang="zh-CN" altLang="en-US" dirty="0" smtClean="0"/>
          </a:p>
          <a:p>
            <a:pPr indent="-6350" eaLnBrk="1" hangingPunct="1">
              <a:buFontTx/>
              <a:buNone/>
            </a:pPr>
            <a:endParaRPr lang="en-US" altLang="zh-CN" dirty="0" smtClean="0"/>
          </a:p>
          <a:p>
            <a:pPr lvl="1"/>
            <a:endParaRPr lang="en-US" altLang="zh-CN" sz="2000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1588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416030" cy="4832985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指针运算示例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a, b, *p1, *p2;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double c, d,  *q1, *q2;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a=100, b=10,  c=1.2, d=3.4;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 = &amp;a; p2 = &amp;b;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q1 = &amp;c; q2 = &amp;d;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p1++; q1++;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&lt;&lt;&amp;a&lt;&lt;‘ ‘&lt;&lt;p1&lt;&lt;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&lt;&lt;p1+p2&lt;&lt;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报错，因为两个指针不能相加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&lt;&lt;p1-p2&lt;&lt;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可以执行，一般用于计算数组元素距离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&lt;&lt;&amp;c&lt;&lt;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&lt;&lt;q1*q2&lt;&lt;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报错，因为识别为*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q2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&lt;&lt;(q1)*(q2)&lt;&lt;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报错，因为两个指针不能相乘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指针基本用法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31540" y="2132965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08685"/>
            <a:ext cx="11603355" cy="3914775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c/</a:t>
            </a:r>
            <a:r>
              <a:rPr lang="en-US" altLang="zh-CN" dirty="0" err="1" smtClean="0"/>
              <a:t>c++</a:t>
            </a:r>
            <a:r>
              <a:rPr lang="zh-CN" altLang="en-US" dirty="0" smtClean="0"/>
              <a:t>对数组名的特别处理</a:t>
            </a:r>
            <a:endParaRPr lang="en-US" altLang="zh-CN" dirty="0" smtClean="0"/>
          </a:p>
          <a:p>
            <a:pPr lvl="1"/>
            <a:r>
              <a:rPr lang="en-US" altLang="zh-CN" b="1" dirty="0" smtClean="0">
                <a:solidFill>
                  <a:srgbClr val="FF0000"/>
                </a:solidFill>
              </a:rPr>
              <a:t>c/</a:t>
            </a:r>
            <a:r>
              <a:rPr lang="en-US" altLang="zh-CN" b="1" dirty="0" err="1" smtClean="0">
                <a:solidFill>
                  <a:srgbClr val="FF0000"/>
                </a:solidFill>
              </a:rPr>
              <a:t>c++</a:t>
            </a:r>
            <a:r>
              <a:rPr lang="zh-CN" altLang="en-US" b="1" dirty="0" smtClean="0">
                <a:solidFill>
                  <a:srgbClr val="FF0000"/>
                </a:solidFill>
              </a:rPr>
              <a:t>的编译程序对数组处理时，自动将数组名转换为指向数组首元素的指针（简称指向该数组的指针），也就是数组首地址</a:t>
            </a:r>
            <a:endParaRPr lang="zh-CN" altLang="en-US" b="1" dirty="0" smtClean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 err="1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array[10], * 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p=&amp;array[0];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p=array;//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与上一句是等价的，都是把指针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指向数组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首部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5" descr="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832202" y="2853056"/>
            <a:ext cx="1903413" cy="22923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80440"/>
            <a:ext cx="11145520" cy="482854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引用一个数组元素，可用以下方法：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下标法，如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形式；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指针法，如*(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a+i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或*(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)。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其中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是数组名,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是指向数组元素的指针变量。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指向数组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a，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则*(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就是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]。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可以通过指向数组元素的指针找到所需的元素。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指针变量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可以指向当前的数组元素，也可以指向当前后面的元素。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指向某个数组元素的写法：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a;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a+i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&amp;a[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a[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 //error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95960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1000125"/>
            <a:ext cx="11115675" cy="477710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通过指针可以直接引用数组元素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20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array[10], * 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p=array;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p=1;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对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当前所指向的数组元素赋予数值1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&lt;&lt;*(p+1)&lt;&lt;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//p+1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指向同一数组中的下一个元素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指向数组头，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等价于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a+i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，都是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的地址，它们指向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数组的第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个元素。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*(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或*(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a+i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a+i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所指向的数组元素，等价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]。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s[10],  *pa, *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pa = s;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= &amp;s[5];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&lt;&lt;pa-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计算两个元素的距离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1000125"/>
            <a:ext cx="9276080" cy="428942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通过指针直接引用数组元素</a:t>
            </a:r>
            <a:r>
              <a:rPr lang="en-US" altLang="zh-CN" dirty="0" smtClean="0"/>
              <a:t>	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指向数组头，</a:t>
            </a:r>
            <a:r>
              <a:rPr lang="en-US" altLang="zh-CN" dirty="0" err="1" smtClean="0"/>
              <a:t>p+i</a:t>
            </a:r>
            <a:r>
              <a:rPr lang="zh-CN" altLang="en-US" dirty="0" smtClean="0"/>
              <a:t>等价于</a:t>
            </a:r>
            <a:r>
              <a:rPr lang="en-US" altLang="zh-CN" dirty="0" err="1" smtClean="0"/>
              <a:t>a+i</a:t>
            </a:r>
            <a:r>
              <a:rPr lang="zh-CN" altLang="en-US" dirty="0" smtClean="0"/>
              <a:t>，都是</a:t>
            </a: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的地址，它们指向</a:t>
            </a:r>
            <a:r>
              <a:rPr lang="en-US" altLang="zh-CN" dirty="0" smtClean="0"/>
              <a:t>a</a:t>
            </a:r>
            <a:r>
              <a:rPr lang="zh-CN" altLang="en-US" dirty="0" smtClean="0"/>
              <a:t>数组的第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个元素。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*(</a:t>
            </a:r>
            <a:r>
              <a:rPr lang="en-US" altLang="zh-CN" dirty="0" err="1" smtClean="0"/>
              <a:t>p+i</a:t>
            </a:r>
            <a:r>
              <a:rPr lang="en-US" altLang="zh-CN" dirty="0" smtClean="0"/>
              <a:t>)</a:t>
            </a:r>
            <a:r>
              <a:rPr lang="zh-CN" altLang="en-US" dirty="0" smtClean="0"/>
              <a:t>或*(</a:t>
            </a:r>
            <a:r>
              <a:rPr lang="en-US" altLang="zh-CN" dirty="0" err="1" smtClean="0"/>
              <a:t>a+i</a:t>
            </a:r>
            <a:r>
              <a:rPr lang="en-US" altLang="zh-CN" dirty="0" smtClean="0"/>
              <a:t>)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p+i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a+i</a:t>
            </a:r>
            <a:r>
              <a:rPr lang="zh-CN" altLang="en-US" dirty="0" smtClean="0"/>
              <a:t>所指向的数组元素，等价</a:t>
            </a: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指向数组的指针变量也可以带下标，如</a:t>
            </a:r>
            <a:r>
              <a:rPr lang="en-US" altLang="zh-CN" dirty="0" smtClean="0"/>
              <a:t>p[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与*(</a:t>
            </a:r>
            <a:r>
              <a:rPr lang="en-US" altLang="zh-CN" dirty="0" err="1" smtClean="0"/>
              <a:t>p+i</a:t>
            </a:r>
            <a:r>
              <a:rPr lang="en-US" altLang="zh-CN" dirty="0" smtClean="0"/>
              <a:t>)</a:t>
            </a:r>
            <a:r>
              <a:rPr lang="zh-CN" altLang="en-US" dirty="0" smtClean="0"/>
              <a:t>等价。</a:t>
            </a:r>
            <a:endParaRPr lang="en-US" altLang="zh-CN" sz="2000" dirty="0" smtClean="0"/>
          </a:p>
          <a:p>
            <a:pPr lvl="1">
              <a:buNone/>
            </a:pPr>
            <a:endParaRPr lang="en-US" altLang="zh-CN" dirty="0" smtClean="0"/>
          </a:p>
          <a:p>
            <a:pPr lvl="1"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pic>
        <p:nvPicPr>
          <p:cNvPr id="5" name="Picture 3" descr="F:\C++程序设计\tu\tu\图6.12.t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192582" y="2349179"/>
            <a:ext cx="2535334" cy="3614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1111865" cy="4854575"/>
          </a:xfrm>
        </p:spPr>
        <p:txBody>
          <a:bodyPr/>
          <a:lstStyle/>
          <a:p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使用指针表示数组的方法，假设有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array[15], 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并已赋值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形式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1: 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传统方式，用下标处理</a:t>
            </a: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  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for(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=0;i&lt;15;i++)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&lt;&lt;array[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]&lt;&lt;"  ";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形式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2: 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使用指针处理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for(p=array;p&lt;array+15;p++) 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cout&lt;&lt;*p&lt;&lt;"  ";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形式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3: 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使用指针加偏移</a:t>
            </a: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for(p=array,i=0;i&lt;15;i++) 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cout&lt;&lt;*(p+i)&lt;&lt;“  ”;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496" y="1052814"/>
            <a:ext cx="8429684" cy="4857784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</a:t>
            </a:r>
            <a:r>
              <a:rPr lang="zh-CN" altLang="en-US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endParaRPr lang="en-US" altLang="zh-CN" u="sng" dirty="0" smtClean="0"/>
          </a:p>
          <a:p>
            <a:pPr lvl="1"/>
            <a:r>
              <a:rPr lang="zh-CN" altLang="en-US" dirty="0" smtClean="0"/>
              <a:t>指向数组元素的指针的运算比较灵活，务必小心谨慎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指向数组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的首元素，要注意</a:t>
            </a:r>
            <a:endParaRPr lang="en-US" altLang="zh-CN" dirty="0" smtClean="0"/>
          </a:p>
          <a:p>
            <a:pPr lvl="2"/>
            <a:r>
              <a:rPr lang="zh-CN" altLang="en-US" sz="1800" dirty="0" smtClean="0"/>
              <a:t>将++和--运算符用于指向数组元素的指针变量十分有效，可以使指针变量自动向前或向后移动，指向下一个或上一个数组元素</a:t>
            </a:r>
            <a:endParaRPr lang="en-US" altLang="zh-CN" sz="1800" dirty="0" smtClean="0"/>
          </a:p>
          <a:p>
            <a:pPr lvl="2"/>
            <a:r>
              <a:rPr lang="en-US" altLang="zh-CN" sz="1800" dirty="0" smtClean="0"/>
              <a:t>p++（</a:t>
            </a:r>
            <a:r>
              <a:rPr lang="zh-CN" altLang="en-US" sz="1800" dirty="0" smtClean="0"/>
              <a:t>或</a:t>
            </a:r>
            <a:r>
              <a:rPr lang="en-US" altLang="zh-CN" sz="1800" dirty="0" smtClean="0"/>
              <a:t>p+=1）。</a:t>
            </a:r>
            <a:r>
              <a:rPr lang="zh-CN" altLang="en-US" sz="1800" dirty="0" smtClean="0"/>
              <a:t>使</a:t>
            </a:r>
            <a:r>
              <a:rPr lang="en-US" altLang="zh-CN" sz="1800" dirty="0" smtClean="0"/>
              <a:t>p</a:t>
            </a:r>
            <a:r>
              <a:rPr lang="zh-CN" altLang="en-US" sz="1800" dirty="0" smtClean="0"/>
              <a:t>指向下一元素，即</a:t>
            </a:r>
            <a:r>
              <a:rPr lang="en-US" altLang="zh-CN" sz="1800" dirty="0" smtClean="0"/>
              <a:t>a[1]。</a:t>
            </a:r>
            <a:r>
              <a:rPr lang="zh-CN" altLang="en-US" sz="1800" dirty="0" smtClean="0"/>
              <a:t>如果用*</a:t>
            </a:r>
            <a:r>
              <a:rPr lang="en-US" altLang="zh-CN" sz="1800" dirty="0" smtClean="0"/>
              <a:t>p，</a:t>
            </a:r>
            <a:r>
              <a:rPr lang="zh-CN" altLang="en-US" sz="1800" dirty="0" smtClean="0"/>
              <a:t>得到下一个元素</a:t>
            </a:r>
            <a:r>
              <a:rPr lang="en-US" altLang="zh-CN" sz="1800" dirty="0" smtClean="0"/>
              <a:t>a[1]</a:t>
            </a:r>
            <a:r>
              <a:rPr lang="zh-CN" altLang="en-US" sz="1800" dirty="0" smtClean="0"/>
              <a:t>的值。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*</a:t>
            </a:r>
            <a:r>
              <a:rPr lang="en-US" altLang="zh-CN" sz="1800" dirty="0" smtClean="0"/>
              <a:t>p++</a:t>
            </a:r>
            <a:r>
              <a:rPr lang="zh-CN" altLang="en-US" sz="1800" dirty="0" smtClean="0"/>
              <a:t>，由于++和*同优先级，结合方向为自右而左，因此它等价于*(</a:t>
            </a:r>
            <a:r>
              <a:rPr lang="en-US" altLang="zh-CN" sz="1800" dirty="0" smtClean="0"/>
              <a:t>p++)，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注意虽然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p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执行了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++，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但返回却是原值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p</a:t>
            </a:r>
            <a:endParaRPr lang="en-US" altLang="zh-CN" sz="1800" b="1" dirty="0" smtClean="0">
              <a:solidFill>
                <a:srgbClr val="FF0000"/>
              </a:solidFill>
            </a:endParaRPr>
          </a:p>
          <a:p>
            <a:pPr lvl="2"/>
            <a:r>
              <a:rPr lang="en-US" altLang="zh-CN" sz="1800" dirty="0" smtClean="0"/>
              <a:t>*(p++)</a:t>
            </a:r>
            <a:r>
              <a:rPr lang="zh-CN" altLang="en-US" sz="1800" dirty="0" smtClean="0"/>
              <a:t>与*(++</a:t>
            </a:r>
            <a:r>
              <a:rPr lang="en-US" altLang="zh-CN" sz="1800" dirty="0" smtClean="0"/>
              <a:t>p)</a:t>
            </a:r>
            <a:r>
              <a:rPr lang="zh-CN" altLang="en-US" sz="1800" dirty="0" smtClean="0"/>
              <a:t>的作用不同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 (*</a:t>
            </a:r>
            <a:r>
              <a:rPr lang="en-US" altLang="zh-CN" sz="1800" dirty="0" smtClean="0"/>
              <a:t>p)++</a:t>
            </a:r>
            <a:r>
              <a:rPr lang="zh-CN" altLang="en-US" sz="1800" dirty="0" smtClean="0"/>
              <a:t>表示</a:t>
            </a:r>
            <a:r>
              <a:rPr lang="en-US" altLang="zh-CN" sz="1800" dirty="0" smtClean="0"/>
              <a:t>p</a:t>
            </a:r>
            <a:r>
              <a:rPr lang="zh-CN" altLang="en-US" sz="1800" dirty="0" smtClean="0"/>
              <a:t>所指向的元素值加１</a:t>
            </a: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1000109"/>
            <a:ext cx="8429684" cy="4857784"/>
          </a:xfrm>
        </p:spPr>
        <p:txBody>
          <a:bodyPr/>
          <a:lstStyle/>
          <a:p>
            <a:r>
              <a:rPr lang="zh-CN" altLang="en-US" dirty="0" smtClean="0"/>
              <a:t>数组与指针的示例</a:t>
            </a:r>
            <a:endParaRPr lang="en-US" altLang="zh-CN" dirty="0" smtClean="0"/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a[5] ={0,2,4,6,8};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*p=&amp;a[2];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p++&lt;&lt;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先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p++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但返回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原值，再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++p&lt;&lt;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先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p++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并返回，再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*(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p--)&lt;&lt;end; //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先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p- -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但返回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原值，再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&lt;&lt;*(++p)&lt;&lt;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&lt;&lt;*(--p)&lt;&lt;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p)--&lt;&lt;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;//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先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*p，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再减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1，p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指针不变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&lt;&lt;*p&lt;&lt;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p)++&lt;&lt;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buNone/>
            </a:pP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&lt;&lt;*p&lt;&lt;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 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指针与数组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67438" y="1357298"/>
            <a:ext cx="3484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None/>
            </a:pPr>
            <a:r>
              <a:rPr lang="en-US" altLang="zh-CN" dirty="0" smtClean="0"/>
              <a:t>//</a:t>
            </a:r>
            <a:r>
              <a:rPr lang="zh-CN" altLang="en-US" dirty="0" smtClean="0"/>
              <a:t>输出结果：</a:t>
            </a:r>
            <a:r>
              <a:rPr lang="en-US" altLang="zh-CN" dirty="0" smtClean="0"/>
              <a:t>4 4 6 8 8 8 6 6 5 5 6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31540" y="2564765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1000125"/>
            <a:ext cx="9478645" cy="4721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常量标识符用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#define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宏定义表示：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如：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#define  PI  3.1415926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关键字定义常量标识符，能指出常量的类型，其格式如下：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1800" i="1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&lt;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类型说明符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&gt;&lt;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常量名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= &lt;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或：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类型说明符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const  &lt;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常量名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= &lt;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如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: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	 const double PI = 3.1415926 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或：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double const PI = 3.1415926;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4.指针</a:t>
            </a:r>
            <a:r>
              <a:rPr lang="zh-CN" altLang="en-US" dirty="0" smtClean="0"/>
              <a:t>与常量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z="2000" dirty="0" smtClean="0"/>
              <a:t>常量指针，表示指针指向的对象是常量，而指针是变量。</a:t>
            </a:r>
            <a:endParaRPr lang="en-US" altLang="zh-CN" sz="2000" dirty="0" smtClean="0"/>
          </a:p>
          <a:p>
            <a:pPr lvl="1">
              <a:spcAft>
                <a:spcPts val="0"/>
              </a:spcAft>
            </a:pPr>
            <a:r>
              <a:rPr lang="zh-CN" altLang="en-US" sz="1800" dirty="0" smtClean="0"/>
              <a:t>指针指向的对象不可更改</a:t>
            </a:r>
            <a:endParaRPr lang="en-US" altLang="zh-CN" sz="1800" dirty="0" smtClean="0"/>
          </a:p>
          <a:p>
            <a:pPr lvl="1">
              <a:spcAft>
                <a:spcPts val="0"/>
              </a:spcAft>
            </a:pPr>
            <a:r>
              <a:rPr lang="zh-CN" altLang="en-US" sz="1800" dirty="0" smtClean="0"/>
              <a:t>但指针可以指向不同的对象</a:t>
            </a:r>
            <a:endParaRPr lang="en-US" altLang="zh-CN" sz="1800" dirty="0" smtClean="0"/>
          </a:p>
          <a:p>
            <a:pPr lvl="1">
              <a:spcAft>
                <a:spcPts val="0"/>
              </a:spcAft>
            </a:pPr>
            <a:r>
              <a:rPr lang="zh-CN" altLang="en-US" sz="1800" dirty="0" smtClean="0"/>
              <a:t>其定义格式如下：</a:t>
            </a:r>
            <a:endParaRPr lang="en-US" altLang="zh-CN" sz="1800" i="1" dirty="0" smtClean="0"/>
          </a:p>
          <a:p>
            <a:pPr lvl="1">
              <a:spcAft>
                <a:spcPct val="50000"/>
              </a:spcAft>
              <a:buNone/>
            </a:pPr>
            <a:r>
              <a:rPr lang="en-US" altLang="zh-CN" sz="1800" dirty="0" smtClean="0"/>
              <a:t>const &lt;</a:t>
            </a:r>
            <a:r>
              <a:rPr lang="zh-CN" altLang="en-US" sz="1800" dirty="0" smtClean="0"/>
              <a:t>类型说明符</a:t>
            </a:r>
            <a:r>
              <a:rPr lang="en-US" altLang="zh-CN" sz="1800" dirty="0" smtClean="0"/>
              <a:t>&gt;  * &lt;</a:t>
            </a:r>
            <a:r>
              <a:rPr lang="zh-CN" altLang="en-US" sz="1800" dirty="0" smtClean="0"/>
              <a:t>指针名</a:t>
            </a:r>
            <a:r>
              <a:rPr lang="en-US" altLang="zh-CN" sz="1800" dirty="0" smtClean="0"/>
              <a:t>&gt; = &amp;&lt;</a:t>
            </a:r>
            <a:r>
              <a:rPr lang="zh-CN" altLang="en-US" sz="1800" dirty="0" smtClean="0"/>
              <a:t>常量名</a:t>
            </a:r>
            <a:r>
              <a:rPr lang="en-US" altLang="zh-CN" sz="1800" dirty="0" smtClean="0"/>
              <a:t>&gt;;</a:t>
            </a:r>
            <a:endParaRPr lang="en-US" altLang="zh-CN" sz="18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 smtClean="0"/>
              <a:t>如：</a:t>
            </a:r>
            <a:endParaRPr lang="en-US" altLang="zh-CN" sz="18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const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 =89; 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const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＝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&amp;a;//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注意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</a:t>
            </a:r>
            <a:r>
              <a:rPr lang="en-US" altLang="zh-CN" sz="1800" b="1" dirty="0" err="1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是一个整体，表示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指向整数常量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*p = 100;//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会产生错误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smtClean="0"/>
              <a:t>	</a:t>
            </a:r>
            <a:endParaRPr lang="en-US" altLang="zh-CN" sz="18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4.指针</a:t>
            </a:r>
            <a:r>
              <a:rPr lang="zh-CN" altLang="en-US" dirty="0" smtClean="0"/>
              <a:t>与常量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常量指针示例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Aft>
                <a:spcPts val="0"/>
              </a:spcAft>
              <a:buNone/>
            </a:pPr>
            <a:endParaRPr lang="en-US" altLang="zh-CN" sz="1800" dirty="0" err="1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Aft>
                <a:spcPts val="0"/>
              </a:spcAft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 =89;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const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b =99;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const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c =111;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const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 p 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 = &amp;a;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虽然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不是常量，但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vc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允许通过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*p = 100; //error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a= 100;//ok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 = &amp;b;	//ok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可改变指针指向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b= 100;//error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	*p = 100; 	//error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不可通过指针改变常量数值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 = &amp;c;//ok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4.指针</a:t>
            </a:r>
            <a:r>
              <a:rPr lang="zh-CN" altLang="en-US" dirty="0" smtClean="0"/>
              <a:t>与常量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1000125"/>
            <a:ext cx="10895965" cy="4667250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指针常量，表示指针本身是常量，而指针指向的对象可以改变。</a:t>
            </a:r>
            <a:endParaRPr lang="zh-CN" altLang="en-US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eaLnBrk="1" hangingPunct="1">
              <a:buNone/>
            </a:pP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其定义格式如下：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类型说明符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 *  const  &lt;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指针名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= &amp;&lt;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变量名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如：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 =89;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*const p = &amp;a;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表示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是常量，不能改变，但以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的值为地址的内存中存放的值可以修改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 =89, b=100;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	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*const p = &amp;a;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	*p = 100; //ok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可以通过指针改变指向对象的数值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	p = &amp;b;  //error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不可以改变指针指向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4.指针</a:t>
            </a:r>
            <a:r>
              <a:rPr lang="zh-CN" altLang="en-US" dirty="0" smtClean="0"/>
              <a:t>与常量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41" y="105281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常量指针与指针常量的区别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常量指针：指向某个常量的指针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const</a:t>
            </a:r>
            <a:r>
              <a:rPr lang="zh-CN" altLang="en-US" sz="1800" dirty="0" smtClean="0"/>
              <a:t>放在最前边，例如</a:t>
            </a:r>
            <a:r>
              <a:rPr lang="en-US" altLang="zh-CN" sz="1800" dirty="0" smtClean="0"/>
              <a:t>const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* p; const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指针本身可以变，可以指向不同的常量，但指针指向的数值不能变</a:t>
            </a:r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pPr lvl="1"/>
            <a:r>
              <a:rPr lang="zh-CN" altLang="en-US" sz="1800" dirty="0" smtClean="0"/>
              <a:t>指针常量：指针固定指向某个变量或常量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const</a:t>
            </a:r>
            <a:r>
              <a:rPr lang="zh-CN" altLang="en-US" sz="1800" dirty="0" smtClean="0"/>
              <a:t>贴着指针名在</a:t>
            </a:r>
            <a:r>
              <a:rPr lang="en-US" altLang="zh-CN" sz="1800" dirty="0" smtClean="0"/>
              <a:t>*</a:t>
            </a:r>
            <a:r>
              <a:rPr lang="zh-CN" altLang="en-US" sz="1800" dirty="0" smtClean="0"/>
              <a:t>的右边，例如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* const p;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指针本身不能变，但指向的数值可以变</a:t>
            </a:r>
            <a:endParaRPr lang="en-US" altLang="zh-CN" sz="18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4.指针</a:t>
            </a:r>
            <a:r>
              <a:rPr lang="zh-CN" altLang="en-US" dirty="0" smtClean="0"/>
              <a:t>与常量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174095" cy="4724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 smtClean="0"/>
              <a:t>指向常量的指针常量</a:t>
            </a:r>
            <a:r>
              <a:rPr lang="en-US" altLang="zh-CN" sz="2400" dirty="0" smtClean="0"/>
              <a:t>——</a:t>
            </a:r>
            <a:r>
              <a:rPr lang="zh-CN" altLang="en-US" sz="2400" dirty="0" smtClean="0"/>
              <a:t>表示指针指向的对象和指针本身都是常量。</a:t>
            </a:r>
            <a:endParaRPr lang="zh-CN" altLang="en-US" sz="2400" dirty="0" smtClean="0"/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dirty="0" smtClean="0"/>
              <a:t>其定义格式如下：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i="1" dirty="0" smtClean="0"/>
              <a:t> </a:t>
            </a:r>
            <a:r>
              <a:rPr lang="en-US" altLang="zh-CN" sz="1800" i="1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&lt;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类型说明符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*const &lt;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指针名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&gt;=&amp;&lt;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常量名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 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	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如：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const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 =89;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const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*const p = &amp;a;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= &amp;b;	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//error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指针指向不能改变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*p=100;	//error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不能通过指针改变指向对象的数值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1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4.指针</a:t>
            </a:r>
            <a:r>
              <a:rPr lang="zh-CN" altLang="en-US" dirty="0" smtClean="0"/>
              <a:t>与常量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6202" y="908667"/>
            <a:ext cx="8429684" cy="4857784"/>
          </a:xfrm>
        </p:spPr>
        <p:txBody>
          <a:bodyPr/>
          <a:lstStyle/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指针属于结构化数据类型，指针初始化：基类型 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变量名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指针运算符：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&amp;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后面跟变量地址，表示取该地址的数值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&amp;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后面跟变量名，表示取该变量的地址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空指针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NULL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，常用语指针初始化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指针与数组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指针与数组名是等价的，都是指向数组首地址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指向数组头：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p=array，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不是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p=&amp;array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指向数组第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号元素：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p=&amp;array[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array+I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array+i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， *(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array+i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array[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p[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指针与常量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常量指针，指向的对象是常量，指向可变，指向对象数值不能变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指针常量，指向固定，指向不可变，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指向对象数值可以变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常量指针常量，指向不可变，指向对象数值不可变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8001" y="188889"/>
            <a:ext cx="8229600" cy="868346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上节复习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marL="566420" indent="-457200">
              <a:buClr>
                <a:srgbClr val="FF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已知执行定义语句后，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值为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10000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，假定一个整数占用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4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个字节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请分析以下代码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istr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[10]= {1, 2, 3, 4, 5, 6, 7, 8, 9, 10};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 =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istr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+=4;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for(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=0;i&lt;5;i++) *(++p) = 10001+i;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for(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=0;i&lt;10;i++) *(p--) = 999-i;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//for(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=0;i&lt;10;i++) *(--p) = 999-i; 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可能引发错误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练习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734040" cy="4612640"/>
          </a:xfrm>
        </p:spPr>
        <p:txBody>
          <a:bodyPr/>
          <a:lstStyle/>
          <a:p>
            <a:pPr marL="566420" indent="-457200">
              <a:buClr>
                <a:srgbClr val="FF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如下代码，已知执行定义语句后，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值为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10000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，假定一个整数占用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4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个字节，求程序执行后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a\b\p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的值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a=9, b=10, *p = &amp;b;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&lt;&lt;"a= "&lt;&lt;a&lt;&lt;" b= "&lt;&lt;b&lt;&lt;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&lt;&lt;"&amp;a= "&lt;&lt;&amp;a&lt;&lt;" &amp;b= "&lt;&lt;&amp;b&lt;&lt;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 = 100;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&lt;&lt;"a= "&lt;&lt;a&lt;&lt;" b= "&lt;&lt;b&lt;&lt;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p++; 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这行代码是不好的，这里纯粹为了理论才这样写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 = 99;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&lt;&lt;"a= "&lt;&lt;a&lt;&lt;" b= "&lt;&lt;b&lt;&lt;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Clr>
                <a:srgbClr val="FF0000"/>
              </a:buClr>
              <a:buSzPct val="100000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566420" indent="-457200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练习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31540" y="2996565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r>
              <a:rPr lang="zh-CN" altLang="en-US" sz="2000" dirty="0" smtClean="0"/>
              <a:t>程序运行时地址空间的内存分区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代码区</a:t>
            </a:r>
            <a:r>
              <a:rPr lang="en-US" altLang="zh-CN" sz="1800" dirty="0" smtClean="0"/>
              <a:t>——</a:t>
            </a:r>
            <a:r>
              <a:rPr lang="zh-CN" altLang="en-US" sz="1800" dirty="0" smtClean="0"/>
              <a:t>存放程序的代码</a:t>
            </a:r>
            <a:endParaRPr lang="zh-CN" altLang="en-US" sz="1800" dirty="0" smtClean="0"/>
          </a:p>
          <a:p>
            <a:pPr lvl="1"/>
            <a:r>
              <a:rPr lang="zh-CN" altLang="en-US" sz="1800" dirty="0" smtClean="0"/>
              <a:t>全局数据区</a:t>
            </a:r>
            <a:r>
              <a:rPr lang="en-US" altLang="zh-CN" sz="1800" dirty="0" smtClean="0"/>
              <a:t>——</a:t>
            </a:r>
            <a:r>
              <a:rPr lang="zh-CN" altLang="en-US" sz="1800" dirty="0" smtClean="0"/>
              <a:t>存放程序的全局变量和静态变量数据</a:t>
            </a:r>
            <a:endParaRPr lang="zh-CN" altLang="en-US" sz="1800" dirty="0" smtClean="0"/>
          </a:p>
          <a:p>
            <a:pPr lvl="1"/>
            <a:r>
              <a:rPr lang="zh-CN" altLang="en-US" sz="1800" dirty="0" smtClean="0"/>
              <a:t>栈区</a:t>
            </a:r>
            <a:r>
              <a:rPr lang="en-US" altLang="zh-CN" sz="1800" dirty="0" smtClean="0"/>
              <a:t>——</a:t>
            </a:r>
            <a:r>
              <a:rPr lang="zh-CN" altLang="en-US" sz="1800" dirty="0" smtClean="0"/>
              <a:t>函数的形参和局部变量所占的空间都是在栈中动态分配的</a:t>
            </a:r>
            <a:endParaRPr lang="zh-CN" altLang="en-US" sz="1800" dirty="0" smtClean="0"/>
          </a:p>
          <a:p>
            <a:pPr lvl="1"/>
            <a:r>
              <a:rPr lang="zh-CN" altLang="en-US" sz="1800" dirty="0" smtClean="0"/>
              <a:t>堆区</a:t>
            </a:r>
            <a:r>
              <a:rPr lang="en-US" altLang="zh-CN" sz="1800" dirty="0" smtClean="0"/>
              <a:t>——</a:t>
            </a:r>
            <a:r>
              <a:rPr lang="zh-CN" altLang="en-US" sz="1800" dirty="0" smtClean="0"/>
              <a:t>存放程序的动态数据（由</a:t>
            </a:r>
            <a:r>
              <a:rPr lang="en-US" altLang="zh-CN" sz="1800" dirty="0" smtClean="0"/>
              <a:t>new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delete</a:t>
            </a:r>
            <a:r>
              <a:rPr lang="zh-CN" altLang="en-US" sz="1800" dirty="0" smtClean="0"/>
              <a:t>来创建和释放）</a:t>
            </a: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6"/>
          <p:cNvGrpSpPr/>
          <p:nvPr/>
        </p:nvGrpSpPr>
        <p:grpSpPr bwMode="auto">
          <a:xfrm>
            <a:off x="5024430" y="3357562"/>
            <a:ext cx="2160587" cy="1895475"/>
            <a:chOff x="2313" y="1628"/>
            <a:chExt cx="913" cy="1371"/>
          </a:xfrm>
        </p:grpSpPr>
        <p:sp>
          <p:nvSpPr>
            <p:cNvPr id="7" name="矩形 7"/>
            <p:cNvSpPr>
              <a:spLocks noChangeArrowheads="1"/>
            </p:cNvSpPr>
            <p:nvPr/>
          </p:nvSpPr>
          <p:spPr bwMode="auto">
            <a:xfrm>
              <a:off x="2313" y="1628"/>
              <a:ext cx="913" cy="332"/>
            </a:xfrm>
            <a:prstGeom prst="rect">
              <a:avLst/>
            </a:prstGeom>
            <a:solidFill>
              <a:srgbClr val="C0C0C0"/>
            </a:solidFill>
            <a:ln w="12700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代码区</a:t>
              </a:r>
              <a:endParaRPr lang="zh-CN" altLang="en-US"/>
            </a:p>
          </p:txBody>
        </p:sp>
        <p:sp>
          <p:nvSpPr>
            <p:cNvPr id="8" name="矩形 8"/>
            <p:cNvSpPr>
              <a:spLocks noChangeArrowheads="1"/>
            </p:cNvSpPr>
            <p:nvPr/>
          </p:nvSpPr>
          <p:spPr bwMode="auto">
            <a:xfrm>
              <a:off x="2313" y="1960"/>
              <a:ext cx="913" cy="332"/>
            </a:xfrm>
            <a:prstGeom prst="rect">
              <a:avLst/>
            </a:prstGeom>
            <a:solidFill>
              <a:srgbClr val="969696"/>
            </a:solidFill>
            <a:ln w="12700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zh-CN" altLang="en-US" dirty="0">
                  <a:solidFill>
                    <a:srgbClr val="000000"/>
                  </a:solidFill>
                </a:rPr>
                <a:t>全局数据区</a:t>
              </a:r>
              <a:endParaRPr lang="zh-CN" altLang="en-US" dirty="0"/>
            </a:p>
          </p:txBody>
        </p:sp>
        <p:sp>
          <p:nvSpPr>
            <p:cNvPr id="9" name="矩形 9"/>
            <p:cNvSpPr>
              <a:spLocks noChangeArrowheads="1"/>
            </p:cNvSpPr>
            <p:nvPr/>
          </p:nvSpPr>
          <p:spPr bwMode="auto">
            <a:xfrm>
              <a:off x="2313" y="2624"/>
              <a:ext cx="913" cy="375"/>
            </a:xfrm>
            <a:prstGeom prst="rect">
              <a:avLst/>
            </a:prstGeom>
            <a:solidFill>
              <a:srgbClr val="666699"/>
            </a:solidFill>
            <a:ln w="12700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堆区</a:t>
              </a:r>
              <a:endParaRPr lang="zh-CN" altLang="en-US"/>
            </a:p>
          </p:txBody>
        </p:sp>
        <p:sp>
          <p:nvSpPr>
            <p:cNvPr id="10" name="矩形 10"/>
            <p:cNvSpPr>
              <a:spLocks noChangeArrowheads="1"/>
            </p:cNvSpPr>
            <p:nvPr/>
          </p:nvSpPr>
          <p:spPr bwMode="auto">
            <a:xfrm>
              <a:off x="2313" y="2292"/>
              <a:ext cx="913" cy="347"/>
            </a:xfrm>
            <a:prstGeom prst="rect">
              <a:avLst/>
            </a:prstGeom>
            <a:solidFill>
              <a:srgbClr val="808080"/>
            </a:solidFill>
            <a:ln w="12700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</a:rPr>
                <a:t>栈区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1157585" cy="4603750"/>
          </a:xfrm>
        </p:spPr>
        <p:txBody>
          <a:bodyPr/>
          <a:lstStyle/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动态内存分配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为了有效利用内存，经常需要对内存进行动态的分配。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语言的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malloc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()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calloc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()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系统函数从内存的堆区分配一定的内存，动态内存不用时用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free()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系统释放。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C++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运算符替代了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语言中的动态内存分配函数。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C++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的运算符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用于从内存的堆区动态分配内存，其返回值是在堆中分配的内存单元的地址。通常可将这个地址赋给一个指针变量，然后通过该指针变量访问分配的内存。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指针变量 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 new 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数据类型名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大小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lnSpc>
                <a:spcPct val="90000"/>
              </a:lnSpc>
              <a:buNone/>
              <a:defRPr/>
            </a:pP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如：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*p;p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＝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[9];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由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分配的内存都应由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来释放，以免发生内存泄漏。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指针变量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: delete []p;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2">
              <a:lnSpc>
                <a:spcPct val="90000"/>
              </a:lnSpc>
              <a:defRPr/>
            </a:pP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这里释放的是指针变量所指向的内存，而不是指针变量本身所占用的内存</a:t>
            </a:r>
            <a:endParaRPr lang="zh-CN" altLang="en-US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984865" cy="4781550"/>
          </a:xfrm>
        </p:spPr>
        <p:txBody>
          <a:bodyPr/>
          <a:lstStyle/>
          <a:p>
            <a:r>
              <a:rPr lang="en-US" altLang="zh-CN" sz="2000" dirty="0" smtClean="0"/>
              <a:t>new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delete</a:t>
            </a:r>
            <a:r>
              <a:rPr lang="zh-CN" altLang="en-US" sz="2000" dirty="0" smtClean="0"/>
              <a:t>的优点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与</a:t>
            </a:r>
            <a:r>
              <a:rPr lang="en-US" altLang="zh-CN" sz="1800" dirty="0" smtClean="0"/>
              <a:t>C</a:t>
            </a:r>
            <a:r>
              <a:rPr lang="zh-CN" altLang="en-US" sz="1800" dirty="0" smtClean="0"/>
              <a:t>语言中的动态内存分配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malloc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和释放</a:t>
            </a:r>
            <a:r>
              <a:rPr lang="en-US" altLang="zh-CN" sz="1800" dirty="0" smtClean="0"/>
              <a:t>(free)</a:t>
            </a:r>
            <a:r>
              <a:rPr lang="zh-CN" altLang="en-US" sz="1800" dirty="0" smtClean="0"/>
              <a:t>系统函数比较</a:t>
            </a:r>
            <a:endParaRPr lang="zh-CN" altLang="en-US" sz="1800" dirty="0" smtClean="0">
              <a:latin typeface="隶书" panose="02010509060101010101" pitchFamily="49" charset="-122"/>
            </a:endParaRPr>
          </a:p>
          <a:p>
            <a:pPr lvl="1" eaLnBrk="1" hangingPunct="1"/>
            <a:r>
              <a:rPr lang="en-US" altLang="zh-CN" sz="1800" dirty="0" smtClean="0"/>
              <a:t>new </a:t>
            </a:r>
            <a:r>
              <a:rPr lang="zh-CN" altLang="en-US" sz="1800" dirty="0" smtClean="0"/>
              <a:t>可以自动计算所需要分配内存的大小，无需显示地给出</a:t>
            </a:r>
            <a:endParaRPr lang="zh-CN" altLang="en-US" sz="1800" dirty="0" smtClean="0"/>
          </a:p>
          <a:p>
            <a:pPr lvl="1" eaLnBrk="1" hangingPunct="1"/>
            <a:r>
              <a:rPr lang="en-US" altLang="zh-CN" sz="1800" dirty="0" smtClean="0"/>
              <a:t>new </a:t>
            </a:r>
            <a:r>
              <a:rPr lang="zh-CN" altLang="en-US" sz="1800" dirty="0" smtClean="0"/>
              <a:t>可以自动返回指针类型，无需强制类型转换</a:t>
            </a:r>
            <a:endParaRPr lang="zh-CN" altLang="en-US" sz="1800" dirty="0" smtClean="0"/>
          </a:p>
          <a:p>
            <a:pPr lvl="1" eaLnBrk="1" hangingPunct="1"/>
            <a:r>
              <a:rPr lang="zh-CN" altLang="en-US" sz="1800" dirty="0" smtClean="0"/>
              <a:t>用</a:t>
            </a:r>
            <a:r>
              <a:rPr lang="en-US" altLang="zh-CN" sz="1800" dirty="0" smtClean="0"/>
              <a:t>new</a:t>
            </a:r>
            <a:r>
              <a:rPr lang="zh-CN" altLang="en-US" sz="1800" dirty="0" smtClean="0"/>
              <a:t>动态创建一个类对象时，可以自动调用类的构造函数，对动态创建的对象初始化</a:t>
            </a:r>
            <a:endParaRPr lang="zh-CN" altLang="en-US" sz="1800" dirty="0" smtClean="0"/>
          </a:p>
          <a:p>
            <a:pPr lvl="1"/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505440" cy="4396105"/>
          </a:xfrm>
        </p:spPr>
        <p:txBody>
          <a:bodyPr/>
          <a:lstStyle/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动态创建数组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运算符常用于实现数组的动态分配，也即按实际需要来定义数组的大小。 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1800" dirty="0" err="1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n,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cin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&gt;&gt; n; 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new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[n];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动态分配存内存，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作为一维数组使用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……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 [ ] p;	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释放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的动态空间。因为动态分配的是数组，所以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加入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[]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 = new int;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……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delete p;	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释放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的动态空间。因为动态分配的是单个变量，所以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delete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不需要加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[]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lvl="1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	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这种用法在后面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c++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的对象动态创建中常用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lvl="1" eaLnBrk="1" hangingPunct="1">
              <a:buFontTx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0" lvl="1" eaLnBrk="1" hangingPunct="1">
              <a:buFontTx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980440"/>
            <a:ext cx="10241915" cy="4836795"/>
          </a:xfrm>
        </p:spPr>
        <p:txBody>
          <a:bodyPr/>
          <a:lstStyle/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动态创建二维数组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二维数组就是包含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个一维数组的数组，每个一维数组对应一个指针，因此二维数组等价于指针数组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二维数组的访问是通过行坐标、列坐标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动态创建一个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</a:t>
            </a: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</a:t>
            </a: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的二维数组，即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</a:t>
            </a: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行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</a:t>
            </a: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列</a:t>
            </a:r>
            <a:endParaRPr lang="en-US" altLang="zh-CN" sz="1800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64200" y="1988820"/>
            <a:ext cx="5215255" cy="424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984865" cy="4781550"/>
          </a:xfrm>
        </p:spPr>
        <p:txBody>
          <a:bodyPr/>
          <a:lstStyle/>
          <a:p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C++11</a:t>
            </a: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及以后的标准，允许直接动态内存分配，无需使用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endParaRPr lang="zh-CN" altLang="en-US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但是建议用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动态创建和回收一个类对象，提高代码的可读性和安全性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 n;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cin&gt;&gt;n;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  s[n];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不像过去要借助指针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 *s = new int[n]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for (int i=0; i&lt;n; i++)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66800" lvl="2" indent="457200" eaLnBrk="1" hangingPunct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cin&gt;&gt;s[i];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0" eaLnBrk="1" hangingPunct="1"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lvl="1" indent="457200" eaLnBrk="1" hangingPunct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class BiTNode {......};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BiTNode *pbn;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.......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pbn = new BiTNode;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lvl="1" indent="457200" eaLnBrk="1" hangingPunct="1"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.......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980440"/>
            <a:ext cx="10866755" cy="4836795"/>
          </a:xfrm>
        </p:spPr>
        <p:txBody>
          <a:bodyPr/>
          <a:lstStyle/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指针常用的场景：在编程时不需要立刻使用某个空间，在后续某个场景下才需要创建变量或对象来使用空间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例如创建大学生对象时，学生未确定毕业日期，只有执行毕业功能时才会创建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例如开通一个新手机号时，未可确定该手机的停机日期，只有执行停机操作才会生成停机日期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在上述场景中，可以先定义一个日期指针为空，在执行特定功能时才用</a:t>
            </a:r>
            <a:r>
              <a:rPr lang="en-US" altLang="zh-CN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18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运算来创建日期</a:t>
            </a:r>
            <a:endParaRPr lang="en-US" altLang="zh-CN" sz="1800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eaLnBrk="1" hangingPunct="1">
              <a:buFontTx/>
              <a:buNone/>
            </a:pP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5.堆内存分配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69640" y="3420110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8591550" cy="48450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函数的参数不仅可以是整型、浮点型、字符型等数据，还可以是指针类型。它的作用是将一个变量的地址传送给被调用函数的形参。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 对输入的两个整数按大小顺序输出，用函数处理</a:t>
            </a:r>
            <a:endParaRPr lang="en-US" altLang="zh-CN" sz="1600" i="1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endParaRPr lang="en-US" altLang="zh-CN" sz="1800" i="1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  <p:sp>
        <p:nvSpPr>
          <p:cNvPr id="6" name="副标题 2"/>
          <p:cNvSpPr txBox="1"/>
          <p:nvPr/>
        </p:nvSpPr>
        <p:spPr bwMode="auto">
          <a:xfrm>
            <a:off x="7968615" y="1988820"/>
            <a:ext cx="3914775" cy="18573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void swap1(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*p1,int *p2)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{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temp=*p1;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*p1=*p2;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*p2=temp;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65125" marR="0" lvl="0" indent="-2559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5" name="副标题 2"/>
          <p:cNvSpPr txBox="1"/>
          <p:nvPr/>
        </p:nvSpPr>
        <p:spPr bwMode="auto">
          <a:xfrm>
            <a:off x="8040370" y="3968115"/>
            <a:ext cx="3544570" cy="18573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void swap2(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x, int y)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{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temp=x;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x=y;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y=x;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65125" marR="0" lvl="0" indent="-2559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3570" y="2348865"/>
            <a:ext cx="6997700" cy="316928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main( 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*p1,*p2,a,b;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cin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&gt;&gt;a&gt;&gt;b;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pa=&amp;a, pb=&amp;b;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if(a&lt;b) swap1(pa,pb);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//if(a&lt;b) swap2(a,b); //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值传递，局部函数不影响主函数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&lt;&lt;a&lt;&lt;b&lt;&lt;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从小到大输出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return 0;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1000125"/>
            <a:ext cx="8429625" cy="93916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/>
              <a:t>交换数值的其他方法</a:t>
            </a:r>
            <a:endParaRPr lang="en-US" altLang="zh-CN" sz="2000" dirty="0" smtClean="0"/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18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Q.</a:t>
            </a:r>
            <a:r>
              <a:rPr lang="zh-CN" altLang="en-US" sz="18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两个交换程序</a:t>
            </a:r>
            <a:r>
              <a:rPr lang="en-US" altLang="zh-CN" sz="18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</a:t>
            </a:r>
            <a:r>
              <a:rPr lang="zh-CN" altLang="en-US" sz="18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交换的有什么区别？</a:t>
            </a:r>
            <a:endParaRPr lang="zh-CN" altLang="en-US" sz="1800" dirty="0" smtClean="0"/>
          </a:p>
          <a:p>
            <a:pPr indent="-6350">
              <a:spcBef>
                <a:spcPct val="0"/>
              </a:spcBef>
              <a:buFontTx/>
              <a:buNone/>
              <a:defRPr/>
            </a:pPr>
            <a:endParaRPr lang="zh-CN" altLang="en-US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副标题 2"/>
          <p:cNvSpPr txBox="1"/>
          <p:nvPr/>
        </p:nvSpPr>
        <p:spPr bwMode="auto">
          <a:xfrm>
            <a:off x="7968615" y="1988820"/>
            <a:ext cx="3914775" cy="18573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void swap1(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*p1,int *p2)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{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temp=*p1;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*p1=*p2;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*p2=temp;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65125" marR="0" lvl="0" indent="-2559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3570" y="2349500"/>
            <a:ext cx="6997700" cy="347662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main( 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*p1,*p2,a,b;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cin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&gt;&gt;a&gt;&gt;b;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pa=&amp;a, pb=&amp;b;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if(a&lt;b) swap1(pa,pb);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//if(a&lt;b) swap2(pa,pb);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&lt;&lt;a&lt;&lt;b&lt;&lt;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		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从小到大输出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 err="1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cout&lt;&lt;*pa&lt;&lt;*pb&lt;&lt;endl; 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从小到大输出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return 0;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spcBef>
                <a:spcPct val="0"/>
              </a:spcBef>
              <a:buFontTx/>
              <a:buNone/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8" name="副标题 2"/>
          <p:cNvSpPr txBox="1"/>
          <p:nvPr/>
        </p:nvSpPr>
        <p:spPr bwMode="auto">
          <a:xfrm>
            <a:off x="8040370" y="4173855"/>
            <a:ext cx="3914775" cy="18573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void swap2(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*p1,int *p2)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{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*temp;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temp=p1;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p1=p2;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  p2=temp;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indent="-6350">
              <a:defRPr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65125" marR="0" lvl="0" indent="-2559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1000125"/>
            <a:ext cx="10546715" cy="48577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/>
              <a:t>指针变量作函数参数接收数组地址</a:t>
            </a:r>
            <a:endParaRPr lang="en-US" altLang="zh-CN" sz="2000" dirty="0" smtClean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1800" dirty="0" smtClean="0"/>
              <a:t>数组名代表数组首元素的地址。用数组名作函数的参数，传递的是数组首元素的地址。</a:t>
            </a:r>
            <a:endParaRPr lang="en-US" altLang="zh-CN" sz="1800" dirty="0" smtClean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1800" dirty="0" smtClean="0"/>
              <a:t>用指针变量作函数形参，同样可以接收从实参传递来的数组首元素的地址(此时，实参是数组名)。</a:t>
            </a:r>
            <a:endParaRPr lang="zh-CN" altLang="en-US" sz="1800" dirty="0" smtClean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1800" dirty="0" smtClean="0"/>
              <a:t>在函数调用时并不存在一个占有存储空间的形参数组，只有指针变量。</a:t>
            </a:r>
            <a:endParaRPr lang="zh-CN" altLang="en-US" sz="18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14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Sum(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*p,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n)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sum = 0;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for(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=0;i&lt;n;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++){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	sum += *p;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p++; //p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指向下一个数组元素</a:t>
            </a:r>
            <a:endParaRPr lang="zh-CN" altLang="en-US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&lt;&lt;sum 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  <p:sp>
        <p:nvSpPr>
          <p:cNvPr id="5" name="矩形 4"/>
          <p:cNvSpPr/>
          <p:nvPr/>
        </p:nvSpPr>
        <p:spPr>
          <a:xfrm>
            <a:off x="6381784" y="3286124"/>
            <a:ext cx="4572000" cy="14439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pPr>
              <a:lnSpc>
                <a:spcPct val="110000"/>
              </a:lnSpc>
            </a:pPr>
            <a:r>
              <a:rPr lang="en-US" altLang="zh-CN" sz="1600" dirty="0" smtClean="0"/>
              <a:t>{</a:t>
            </a:r>
            <a:endParaRPr lang="en-US" altLang="zh-CN" sz="1600" dirty="0" smtClean="0"/>
          </a:p>
          <a:p>
            <a:pPr>
              <a:lnSpc>
                <a:spcPct val="110000"/>
              </a:lnSpc>
            </a:pPr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a[10]={1,2,3,4,5,6,7,8,9,10};</a:t>
            </a:r>
            <a:endParaRPr lang="en-US" altLang="zh-CN" sz="1600" dirty="0" smtClean="0"/>
          </a:p>
          <a:p>
            <a:pPr>
              <a:lnSpc>
                <a:spcPct val="110000"/>
              </a:lnSpc>
            </a:pPr>
            <a:r>
              <a:rPr lang="en-US" altLang="zh-CN" sz="1600" dirty="0" smtClean="0"/>
              <a:t>  Sum(a,10);</a:t>
            </a:r>
            <a:endParaRPr lang="en-US" altLang="zh-CN" sz="1600" dirty="0" smtClean="0"/>
          </a:p>
          <a:p>
            <a:pPr>
              <a:lnSpc>
                <a:spcPct val="110000"/>
              </a:lnSpc>
            </a:pPr>
            <a:r>
              <a:rPr lang="en-US" altLang="zh-CN" sz="1600" dirty="0" smtClean="0"/>
              <a:t>}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1000125"/>
            <a:ext cx="11062970" cy="465010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 smtClean="0"/>
              <a:t>返回指针值的函数</a:t>
            </a:r>
            <a:endParaRPr lang="en-US" altLang="zh-CN" dirty="0" smtClean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 smtClean="0"/>
              <a:t>一个函数可以带回一个整型值、字符值、实型值等，也可以带回指针型的数据，即地址。其概念与以前类似，只是带回的值的类型是指针类型而已。返回指针值的函数简称为指针函数。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 smtClean="0"/>
              <a:t>定义指针函数的一般形式为</a:t>
            </a:r>
            <a:endParaRPr lang="zh-CN" altLang="en-US" dirty="0" smtClean="0"/>
          </a:p>
          <a:p>
            <a:pPr indent="-6350" eaLnBrk="1" hangingPunct="1">
              <a:buFontTx/>
              <a:buNone/>
            </a:pPr>
            <a:r>
              <a:rPr lang="zh-CN" altLang="en-US" sz="2000" dirty="0" smtClean="0"/>
              <a:t>类型名 *函数名（参数表列）;</a:t>
            </a:r>
            <a:endParaRPr lang="zh-CN" altLang="en-US" sz="2000" dirty="0" smtClean="0"/>
          </a:p>
          <a:p>
            <a:pPr indent="-6350" eaLnBrk="1" hangingPunct="1">
              <a:buFontTx/>
              <a:buNone/>
            </a:pPr>
            <a:r>
              <a:rPr lang="zh-CN" altLang="en-US" sz="2000" dirty="0" smtClean="0"/>
              <a:t>例如</a:t>
            </a:r>
            <a:endParaRPr lang="zh-CN" altLang="en-US" sz="2000" dirty="0" smtClean="0"/>
          </a:p>
          <a:p>
            <a:pPr indent="-6350" eaLnBrk="1" hangingPunct="1">
              <a:buFontTx/>
              <a:buNone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*a(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x,int</a:t>
            </a:r>
            <a:r>
              <a:rPr lang="en-US" altLang="zh-CN" sz="2000" dirty="0" smtClean="0"/>
              <a:t> y);</a:t>
            </a:r>
            <a:endParaRPr lang="en-US" altLang="zh-CN" sz="20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  <p:sp>
        <p:nvSpPr>
          <p:cNvPr id="5" name="文本框 4"/>
          <p:cNvSpPr txBox="1"/>
          <p:nvPr/>
        </p:nvSpPr>
        <p:spPr>
          <a:xfrm>
            <a:off x="623570" y="4725035"/>
            <a:ext cx="7332345" cy="7169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函数返回值是指针类型，常用于</a:t>
            </a:r>
            <a:r>
              <a:rPr lang="en-US" altLang="zh-CN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C++</a:t>
            </a:r>
            <a:r>
              <a:rPr lang="zh-CN" altLang="en-US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的类对象返回</a:t>
            </a:r>
            <a:endParaRPr lang="zh-CN" altLang="en-US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例如数据结构的树搜索返回某个结点指针</a:t>
            </a:r>
            <a:endParaRPr lang="zh-CN" altLang="en-US" b="1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627360" cy="48577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/>
              <a:t>最好不要返回局部作用域内的数据地址，课本</a:t>
            </a:r>
            <a:r>
              <a:rPr lang="en-US" altLang="zh-CN" sz="2000" dirty="0" smtClean="0"/>
              <a:t>P165</a:t>
            </a:r>
            <a:endParaRPr lang="en-US" altLang="zh-CN" sz="2000" dirty="0" smtClean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getInt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(char*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指针函数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value=20;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return &amp;value; //warning: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将局部变量的地址返回是不妥的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somefn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(char*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a=40;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 pr=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getInt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("input a value:");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赋值取自返回的指针值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&lt;&lt;*pr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第一次输出*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pr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somefn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(“It is uncertain.”); 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调用另一个函数，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pr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指向的局部变量空间被回收了，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&lt;&lt;*pr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第二次输出*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pr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，虽然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pr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只被赋值一次，但两次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*pr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输出的值会不同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068560" cy="483679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指针作为函数返回值的示例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*large(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*pa,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n)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for(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&lt;n;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++)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pa[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 *= 2;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return pa;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	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*p1,a[5] = {1,2,3,4,5};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p1 = large(a, 5);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for(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&lt;5;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++)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&lt;&lt;*(p1+i)&lt;&lt;' ';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当函数返回值是数组往往用指针返回，要求数组生命周期在函数之外</a:t>
            </a:r>
            <a:endParaRPr lang="en-US" altLang="zh-CN" sz="2000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2000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1000125"/>
            <a:ext cx="10400030" cy="49085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空类型指针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* </a:t>
            </a:r>
            <a:endParaRPr lang="en-US" altLang="zh-CN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指针是空类型指针，它不指向任何类型，它不能做运算也不能做间接引用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可以通过强制类型转换，转化为其他类型指针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当不能预知类型时，可以先用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指针，然后再根据实际类型来转换。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课本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P166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char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src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[10]="*********";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char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dest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[10];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char* pc=(char*)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memcpy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(dest,src,10);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&lt;&lt;pc &lt;&lt;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 //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mencpy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默认是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void*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类型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6.</a:t>
            </a:r>
            <a:r>
              <a:rPr lang="zh-CN" altLang="en-US" dirty="0" smtClean="0"/>
              <a:t>指针与函数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69640" y="3860800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0652760" cy="474726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字符串实质是一个字符数组，因此指针在字符串中的用法，往往和指针在数组的用法相似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用字符数组存放一个字符串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 定义一个字符数组并初始化，然后输出其中的字符串。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#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include 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iostream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&gt;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using namespace std;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main( 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char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[]=″I love CHINA!″;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传统用法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return 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342900" indent="-6350">
              <a:spcBef>
                <a:spcPct val="2000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b="1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运行时输出： </a:t>
            </a:r>
            <a:r>
              <a:rPr lang="en-US" altLang="zh-CN" sz="1800" b="1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 love CHINA!</a:t>
            </a:r>
            <a:endParaRPr lang="en-US" altLang="zh-CN" sz="2000" b="1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1588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7.</a:t>
            </a:r>
            <a:r>
              <a:rPr lang="zh-CN" altLang="en-US" dirty="0" smtClean="0"/>
              <a:t>指针与字符串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用字符指针指向一个字符串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 用字符指针操作一个字符串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main( 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char 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=″I love CHINA!″;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return 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分析内存的具体操作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7.</a:t>
            </a:r>
            <a:r>
              <a:rPr lang="zh-CN" altLang="en-US" dirty="0" smtClean="0"/>
              <a:t>指针与字符串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312218" y="2060567"/>
            <a:ext cx="4286264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main( )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char *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="I love CHINA!";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while (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]!='\0')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{  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]&lt;&lt;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++;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}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return 0;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本例显示了指针可以作为数组使用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1000109"/>
            <a:ext cx="8429684" cy="485778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两个内容相同的字符串，但地址不一定相同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if("join"=="join")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&lt;&lt;"equal\n";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else		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&lt;&lt;"not equal\n";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输出结果是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not equal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课本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P167-P168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的说明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7.</a:t>
            </a:r>
            <a:r>
              <a:rPr lang="zh-CN" altLang="en-US" dirty="0" smtClean="0"/>
              <a:t>指针与字符串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1000109"/>
            <a:ext cx="8429684" cy="485778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对字符串中字符的存取，可以用下标方法，也可以用指针方法。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  将字符串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str1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复制为字符串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str2。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main( )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char str1[]=″I love CHINA!″,str2[20],*p1,*p2; 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p1=str1;p2=str2;  //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两个指针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p2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分别指向两个字符数组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for(;*p1!=′\0′;p1++,p2++)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*p2=*p1;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*p2=′\0′;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p1=str1;p2=str2;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&lt;&lt;″str1 is: ″&lt;&lt;p1&lt;&lt;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&lt;&lt;″str2 is: ″&lt;&lt;p2&lt;&lt;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return 0;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7.</a:t>
            </a:r>
            <a:r>
              <a:rPr lang="zh-CN" altLang="en-US" dirty="0" smtClean="0"/>
              <a:t>指针与字符串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6555" y="1052195"/>
            <a:ext cx="10756265" cy="521335"/>
          </a:xfrm>
        </p:spPr>
        <p:txBody>
          <a:bodyPr/>
          <a:lstStyle/>
          <a:p>
            <a:pPr algn="l">
              <a:lnSpc>
                <a:spcPct val="110000"/>
              </a:lnSpc>
              <a:buClrTx/>
              <a:buSzTx/>
            </a:pP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C++提供了string对象来处理字符串</a:t>
            </a:r>
            <a:endParaRPr lang="zh-CN" altLang="en-US" sz="2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string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表示一种字符串对象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从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语言语法来看，它等价于动态字符数组，类似于一个字符指针</a:t>
            </a:r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zh-CN" altLang="en-US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350"/>
            <a:ext cx="8229600" cy="61468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ym typeface="+mn-ea"/>
              </a:rPr>
              <a:t>7.</a:t>
            </a:r>
            <a:r>
              <a:rPr lang="zh-CN" altLang="en-US" dirty="0" smtClean="0">
                <a:sym typeface="+mn-ea"/>
              </a:rPr>
              <a:t>指针与字符串</a:t>
            </a:r>
            <a:endParaRPr lang="zh-CN" altLang="en-US" sz="40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767715" y="2631440"/>
            <a:ext cx="4650740" cy="3463290"/>
            <a:chOff x="1209" y="4663"/>
            <a:chExt cx="7324" cy="545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9" y="4663"/>
              <a:ext cx="7324" cy="5455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209" y="4982"/>
              <a:ext cx="3121" cy="288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6555" y="1052195"/>
            <a:ext cx="6156325" cy="1874520"/>
          </a:xfrm>
        </p:spPr>
        <p:txBody>
          <a:bodyPr/>
          <a:lstStyle/>
          <a:p>
            <a:pPr algn="l">
              <a:lnSpc>
                <a:spcPct val="110000"/>
              </a:lnSpc>
              <a:buClrTx/>
              <a:buSzTx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string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包含了很多函数：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length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find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insert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append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substr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swap</a:t>
            </a: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350"/>
            <a:ext cx="8229600" cy="61468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ym typeface="+mn-ea"/>
              </a:rPr>
              <a:t>7.</a:t>
            </a:r>
            <a:r>
              <a:rPr lang="zh-CN" altLang="en-US" dirty="0" smtClean="0">
                <a:sym typeface="+mn-ea"/>
              </a:rPr>
              <a:t>指针与字符串</a:t>
            </a:r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275" y="2222500"/>
            <a:ext cx="3219450" cy="3714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705" y="1619250"/>
            <a:ext cx="4152900" cy="4714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6555" y="1052195"/>
            <a:ext cx="6156325" cy="1874520"/>
          </a:xfrm>
        </p:spPr>
        <p:txBody>
          <a:bodyPr/>
          <a:lstStyle/>
          <a:p>
            <a:pPr algn="l">
              <a:lnSpc>
                <a:spcPct val="110000"/>
              </a:lnSpc>
              <a:buClrTx/>
              <a:buSzTx/>
            </a:pP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string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的一道题</a:t>
            </a: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350"/>
            <a:ext cx="8229600" cy="61468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ym typeface="+mn-ea"/>
              </a:rPr>
              <a:t>7.</a:t>
            </a:r>
            <a:r>
              <a:rPr lang="zh-CN" altLang="en-US" dirty="0" smtClean="0">
                <a:sym typeface="+mn-ea"/>
              </a:rPr>
              <a:t>指针与字符串</a:t>
            </a:r>
            <a:endParaRPr lang="zh-CN" altLang="en-US" sz="4000" dirty="0"/>
          </a:p>
        </p:txBody>
      </p:sp>
      <p:graphicFrame>
        <p:nvGraphicFramePr>
          <p:cNvPr id="6" name="对象 5"/>
          <p:cNvGraphicFramePr/>
          <p:nvPr>
            <p:custDataLst>
              <p:tags r:id="rId1"/>
            </p:custDataLst>
          </p:nvPr>
        </p:nvGraphicFramePr>
        <p:xfrm>
          <a:off x="5115560" y="459740"/>
          <a:ext cx="4817110" cy="565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4143375" imgH="4972050" progId="Paint.Picture">
                  <p:embed/>
                </p:oleObj>
              </mc:Choice>
              <mc:Fallback>
                <p:oleObj name="" r:id="rId2" imgW="4143375" imgH="4972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15560" y="459740"/>
                        <a:ext cx="4817110" cy="565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76555" y="1052195"/>
            <a:ext cx="10756265" cy="521335"/>
          </a:xfrm>
        </p:spPr>
        <p:txBody>
          <a:bodyPr/>
          <a:lstStyle/>
          <a:p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在输入时，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string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以空格或回车区分字符串</a:t>
            </a:r>
            <a:endParaRPr lang="zh-CN" altLang="en-US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350"/>
            <a:ext cx="8229600" cy="61468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ym typeface="+mn-ea"/>
              </a:rPr>
              <a:t>7.</a:t>
            </a:r>
            <a:r>
              <a:rPr lang="zh-CN" altLang="en-US" dirty="0" smtClean="0">
                <a:sym typeface="+mn-ea"/>
              </a:rPr>
              <a:t>指针与字符串</a:t>
            </a:r>
            <a:endParaRPr lang="zh-CN" altLang="en-US" sz="4000" dirty="0"/>
          </a:p>
        </p:txBody>
      </p:sp>
      <p:grpSp>
        <p:nvGrpSpPr>
          <p:cNvPr id="4" name="组合 3"/>
          <p:cNvGrpSpPr/>
          <p:nvPr/>
        </p:nvGrpSpPr>
        <p:grpSpPr>
          <a:xfrm>
            <a:off x="376555" y="2119630"/>
            <a:ext cx="4457700" cy="4066540"/>
            <a:chOff x="792" y="4004"/>
            <a:chExt cx="7020" cy="640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92" y="4004"/>
              <a:ext cx="7021" cy="6404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878" y="4352"/>
              <a:ext cx="3121" cy="367"/>
            </a:xfrm>
            <a:prstGeom prst="rect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圆角矩形标注 6"/>
          <p:cNvSpPr/>
          <p:nvPr/>
        </p:nvSpPr>
        <p:spPr>
          <a:xfrm>
            <a:off x="4174490" y="2854325"/>
            <a:ext cx="2641600" cy="813435"/>
          </a:xfrm>
          <a:prstGeom prst="wedgeRoundRectCallout">
            <a:avLst>
              <a:gd name="adj1" fmla="val -93533"/>
              <a:gd name="adj2" fmla="val 819"/>
              <a:gd name="adj3" fmla="val 16667"/>
            </a:avLst>
          </a:prstGeom>
          <a:noFill/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定义</a:t>
            </a:r>
            <a:r>
              <a:rPr lang="en-US" altLang="zh-CN">
                <a:solidFill>
                  <a:schemeClr val="tx1"/>
                </a:solidFill>
              </a:rPr>
              <a:t>10</a:t>
            </a:r>
            <a:r>
              <a:rPr lang="zh-CN" altLang="en-US">
                <a:solidFill>
                  <a:schemeClr val="tx1"/>
                </a:solidFill>
              </a:rPr>
              <a:t>个字符串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每个字符串长度不定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5240655" y="4826000"/>
            <a:ext cx="2993390" cy="499745"/>
          </a:xfrm>
          <a:prstGeom prst="wedgeRoundRectCallout">
            <a:avLst>
              <a:gd name="adj1" fmla="val -90576"/>
              <a:gd name="adj2" fmla="val -31194"/>
              <a:gd name="adj3" fmla="val 16667"/>
            </a:avLst>
          </a:prstGeom>
          <a:noFill/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输出每个字符串的前半段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705" y="2773680"/>
            <a:ext cx="2190115" cy="13100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620" y="4231005"/>
            <a:ext cx="1094740" cy="1496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08685"/>
            <a:ext cx="5358130" cy="3609340"/>
          </a:xfrm>
        </p:spPr>
        <p:txBody>
          <a:bodyPr/>
          <a:lstStyle/>
          <a:p>
            <a:r>
              <a:rPr lang="zh-CN" altLang="en-US" dirty="0" smtClean="0"/>
              <a:t>如果字符串本身包含空格</a:t>
            </a:r>
            <a:endParaRPr lang="zh-CN" altLang="en-US" dirty="0" smtClean="0"/>
          </a:p>
          <a:p>
            <a:r>
              <a:rPr lang="zh-CN" altLang="en-US" dirty="0" smtClean="0"/>
              <a:t>对于每行字符串的输入要用</a:t>
            </a:r>
            <a:r>
              <a:rPr lang="en-US" altLang="zh-CN" dirty="0" smtClean="0"/>
              <a:t>getline</a:t>
            </a:r>
            <a:endParaRPr lang="en-US" altLang="zh-CN" dirty="0" smtClean="0"/>
          </a:p>
          <a:p>
            <a:r>
              <a:rPr lang="zh-CN" altLang="en-US" dirty="0" smtClean="0"/>
              <a:t>当输入是字符串与数值混合时，可以</a:t>
            </a:r>
            <a:r>
              <a:rPr lang="en-US" altLang="zh-CN" dirty="0" smtClean="0"/>
              <a:t>ignore</a:t>
            </a:r>
            <a:r>
              <a:rPr lang="zh-CN" altLang="en-US" dirty="0" smtClean="0"/>
              <a:t>忽略回车</a:t>
            </a:r>
            <a:endParaRPr lang="zh-CN" altLang="en-US" dirty="0" smtClean="0"/>
          </a:p>
          <a:p>
            <a:r>
              <a:rPr lang="zh-CN" altLang="en-US" dirty="0" smtClean="0"/>
              <a:t>例如要求去掉字符串中的空格</a:t>
            </a:r>
            <a:endParaRPr lang="zh-CN" altLang="en-US" dirty="0" smtClean="0"/>
          </a:p>
          <a:p>
            <a:pPr lvl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91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的输入输出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5190" y="565785"/>
            <a:ext cx="4245610" cy="5841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4686300"/>
            <a:ext cx="1774825" cy="942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755" y="4859020"/>
            <a:ext cx="1494790" cy="598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69640" y="4293235"/>
            <a:ext cx="3305175" cy="3911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指针数组和数组指针 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指针数组，包含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个指针，数组元素都是指向同一类型的指针。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数组指针，只有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个指针，指向一个数组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数组指针，指基类型为数组类型的指针，即指向数组的指针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  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array[5],*p;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   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数组名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是指向数组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array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的指针，简称数组指针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若执行了“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p=array;”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或“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p=&amp;array[0];”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，指针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也成了数组指针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</a:t>
            </a:r>
            <a:r>
              <a:rPr lang="zh-CN" altLang="en-US" dirty="0" smtClean="0"/>
              <a:t>指针数组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指针数组程序示例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两、市斤、公斤对应的克数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Liang = 50;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Jin = 500;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Gjin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= 1000;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用常量指针指向一系列常量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const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[3]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；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[0]=&amp;Liang;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[1]=&amp;Jin;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ptr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[2]=&amp;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GJin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</a:t>
            </a:r>
            <a:r>
              <a:rPr lang="zh-CN" altLang="en-US" dirty="0" smtClean="0"/>
              <a:t>指针数组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指针数组常用于多个字符串常量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char* week[7] = {	“Sunday”,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	“Monday”，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	“Tuesday”,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	“Wednesday”,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	“Thursday”,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	“Friday”,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			“Saturday” };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cout&lt;&lt;week[0]&lt;&lt;endl;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从上例子可见指针数组与二维数组是有区别的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指针数组的每个指针指向的字符串长度可以不同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二维数组的每个行的长度都必须相同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</a:t>
            </a:r>
            <a:r>
              <a:rPr lang="zh-CN" altLang="en-US" dirty="0" smtClean="0"/>
              <a:t>指针数组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80440"/>
            <a:ext cx="11229340" cy="4476750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指向指针的指针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定义：</a:t>
            </a:r>
            <a:r>
              <a:rPr lang="en-US" altLang="zh-CN" sz="1800" dirty="0" smtClean="0"/>
              <a:t> char *(*p); </a:t>
            </a:r>
            <a:r>
              <a:rPr lang="zh-CN" altLang="en-US" sz="1800" dirty="0" smtClean="0"/>
              <a:t>或 </a:t>
            </a:r>
            <a:r>
              <a:rPr lang="en-US" altLang="zh-CN" sz="1800" dirty="0" smtClean="0"/>
              <a:t>char **p;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**p</a:t>
            </a:r>
            <a:r>
              <a:rPr lang="zh-CN" altLang="en-US" sz="1800" dirty="0" smtClean="0"/>
              <a:t>是一个指向指针的指针，常用于二维数组，或字符串数组中的某个字符串中的某个字符</a:t>
            </a:r>
            <a:endParaRPr lang="en-US" altLang="zh-CN" sz="1800" dirty="0" smtClean="0"/>
          </a:p>
          <a:p>
            <a:pPr indent="-6350" eaLnBrk="1" hangingPunct="1">
              <a:buFontTx/>
              <a:buNone/>
            </a:pPr>
            <a:endParaRPr lang="zh-CN" altLang="en-US" sz="1800" dirty="0" smtClean="0"/>
          </a:p>
          <a:p>
            <a:pPr indent="-6350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main( 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 char **p;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定义指向字符指针数据的指针变量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char *name[]={″BASIC″,″FORTRAN″,″C++″,″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Pascal″,″COBOL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″};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p=name+2;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&lt;&lt;*p&lt;&lt;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输出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name[2]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指向的字符串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&lt;&lt;**p&lt;&lt;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; 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输出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name[2]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指向的字符串中的第一个字符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运行结果为 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C++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C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指针数组的元素常用于字符串，也可以其他类型数据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indent="-6350" eaLnBrk="1" hangingPunct="1">
              <a:buFontTx/>
              <a:buNone/>
            </a:pPr>
            <a:endParaRPr lang="zh-CN" altLang="en-US" sz="1800" dirty="0" smtClean="0"/>
          </a:p>
          <a:p>
            <a:pPr lvl="1"/>
            <a:endParaRPr lang="zh-CN" altLang="en-US" sz="18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   </a:t>
            </a: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</a:t>
            </a:r>
            <a:r>
              <a:rPr lang="zh-CN" altLang="en-US" dirty="0" smtClean="0"/>
              <a:t>指针数组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8042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空指针值</a:t>
            </a:r>
            <a:r>
              <a:rPr lang="en-US" altLang="zh-CN" sz="2000" dirty="0" smtClean="0"/>
              <a:t>NULL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用于指针变量的初始化。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用于避免野指针。</a:t>
            </a:r>
            <a:endParaRPr lang="en-US" altLang="zh-CN" sz="1800" dirty="0" smtClean="0"/>
          </a:p>
          <a:p>
            <a:pPr eaLnBrk="1" hangingPunct="1"/>
            <a:r>
              <a:rPr lang="zh-CN" altLang="en-US" sz="2000" dirty="0" smtClean="0"/>
              <a:t>注意与</a:t>
            </a:r>
            <a:r>
              <a:rPr lang="en-US" altLang="zh-CN" sz="2000" dirty="0" smtClean="0"/>
              <a:t>void</a:t>
            </a:r>
            <a:r>
              <a:rPr lang="zh-CN" altLang="en-US" sz="2000" dirty="0" smtClean="0"/>
              <a:t>*的差别</a:t>
            </a:r>
            <a:endParaRPr lang="en-US" altLang="zh-CN" sz="2000" dirty="0" smtClean="0"/>
          </a:p>
          <a:p>
            <a:pPr lvl="1"/>
            <a:r>
              <a:rPr lang="en-US" altLang="zh-CN" sz="1800" dirty="0" smtClean="0"/>
              <a:t>void</a:t>
            </a:r>
            <a:r>
              <a:rPr lang="zh-CN" altLang="en-US" sz="1800" dirty="0" smtClean="0"/>
              <a:t>* ：空类型指针，不能运算，不能间接引用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任何类型指针都可以给空类型指针赋值，反之不允许，空类型指针可强制类型转换成其他类型指针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常用在函数，当参数</a:t>
            </a:r>
            <a:r>
              <a:rPr lang="en-US" altLang="zh-CN" sz="1800" dirty="0" smtClean="0"/>
              <a:t>or</a:t>
            </a:r>
            <a:r>
              <a:rPr lang="zh-CN" altLang="en-US" sz="1800" dirty="0" smtClean="0"/>
              <a:t>返回值可以是任意类型指针</a:t>
            </a:r>
            <a:endParaRPr lang="en-US" altLang="zh-CN" sz="1800" dirty="0" smtClean="0"/>
          </a:p>
          <a:p>
            <a:pPr lvl="1"/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</a:t>
            </a:r>
            <a:r>
              <a:rPr lang="zh-CN" altLang="en-US" dirty="0" smtClean="0"/>
              <a:t>指针数组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5" y="908668"/>
            <a:ext cx="8429684" cy="571504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综合示例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8.</a:t>
            </a:r>
            <a:r>
              <a:rPr lang="zh-CN" altLang="en-US" dirty="0" smtClean="0"/>
              <a:t>指针数组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36202" y="1340471"/>
            <a:ext cx="6691292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0597" y="2565081"/>
            <a:ext cx="424427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1416022" y="5516577"/>
            <a:ext cx="4000528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6350">
              <a:buNone/>
            </a:pPr>
            <a:r>
              <a:rPr lang="zh-CN" altLang="en-US" sz="2000" b="1" dirty="0" smtClean="0">
                <a:solidFill>
                  <a:srgbClr val="FF0000"/>
                </a:solidFill>
              </a:rPr>
              <a:t>示例说明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name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数组不是变量数组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indent="-6350">
              <a:buNone/>
            </a:pPr>
            <a:r>
              <a:rPr lang="en-US" altLang="zh-CN" sz="2000" b="1" dirty="0" smtClean="0">
                <a:solidFill>
                  <a:srgbClr val="FF0000"/>
                </a:solidFill>
              </a:rPr>
              <a:t>	name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指向的是</a:t>
            </a:r>
            <a:r>
              <a:rPr lang="en-US" altLang="zh-CN" sz="2000" b="1" smtClean="0">
                <a:solidFill>
                  <a:srgbClr val="FF0000"/>
                </a:solidFill>
              </a:rPr>
              <a:t>??</a:t>
            </a:r>
            <a:endParaRPr lang="en-US" altLang="zh-CN" sz="20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8397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输入输出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+mn-ea"/>
                <a:cs typeface="+mn-cs"/>
              </a:rPr>
              <a:t>指针概念与基本用法</a:t>
            </a:r>
            <a:endParaRPr kumimoji="0" lang="zh-CN" altLang="en-US" sz="28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指针与数组</a:t>
            </a:r>
            <a:endParaRPr lang="zh-CN" altLang="en-US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指针与常量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堆内存分配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  <a:sym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指针与函数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指针与字符串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指针数组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命令行参数</a:t>
            </a:r>
            <a:endParaRPr lang="zh-CN" sz="2800" noProof="0" dirty="0" err="1" smtClean="0">
              <a:ln>
                <a:noFill/>
              </a:ln>
              <a:effectLst/>
              <a:uLnTx/>
              <a:uFillTx/>
              <a:latin typeface="黑体" panose="02010609060101010101" pitchFamily="2" charset="-122"/>
              <a:ea typeface="+mn-ea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sz="2800" noProof="0" dirty="0" err="1" smtClean="0">
                <a:ln>
                  <a:noFill/>
                </a:ln>
                <a:effectLst/>
                <a:uLnTx/>
                <a:uFillTx/>
                <a:latin typeface="黑体" panose="02010609060101010101" pitchFamily="2" charset="-122"/>
                <a:ea typeface="+mn-ea"/>
                <a:sym typeface="+mn-ea"/>
              </a:rPr>
              <a:t>函数指针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</a:endParaRPr>
          </a:p>
          <a:p>
            <a:pPr marL="1028700" marR="0" lvl="1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charset="0"/>
              <a:buChar char="Ø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+mn-ea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469640" y="4725035"/>
            <a:ext cx="3305175" cy="79438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915" y="908685"/>
            <a:ext cx="11039475" cy="4689475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主函数也可以带参数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其参数在调用该程序时从命令行输入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main(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argc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char*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argv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[])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argc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自动计算参数个数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输入时不必显式给出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argv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中保存所有参数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打印命令行参数的示例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假设源文件名为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test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windows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的命令行界面中运行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test v1 v2 v3 v4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，可以看到打印命令行参数的结果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argc,char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argv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[])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iCount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while(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iCount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argc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){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" 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iCount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&lt;&lt;": " 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argv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iCount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] 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iCount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++;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}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9.</a:t>
            </a:r>
            <a:r>
              <a:rPr lang="zh-CN" altLang="en-US" dirty="0" smtClean="0"/>
              <a:t>命令行参数</a:t>
            </a:r>
            <a:r>
              <a:rPr lang="zh-CN" altLang="en-US" dirty="0" smtClean="0">
                <a:solidFill>
                  <a:srgbClr val="FF0000"/>
                </a:solidFill>
              </a:rPr>
              <a:t>（自学）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1000125"/>
            <a:ext cx="11387455" cy="4747260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执行程序时，操作系统就是调用主函数来读取参数参数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每个参数实际上是一个字符串，用不同指针的指向不同的参数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课本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P176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图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8.4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参数之间用空格来隔开，如果参数本身包含空格，需要在命令行中为参数加引号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例如，命令行输入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test  “v1 v2 v3 v4”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是共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个参数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主函数的返回值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当用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main()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时，根据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return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值来返回程序运行的状态码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也可以用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exit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函数来返回一个值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返回值是给操作系统的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A.</a:t>
            </a:r>
            <a:r>
              <a:rPr lang="zh-CN" altLang="en-US" sz="1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注意：</a:t>
            </a: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在程序任意地方用</a:t>
            </a:r>
            <a:r>
              <a:rPr lang="en-US" altLang="zh-CN" sz="16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return</a:t>
            </a: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，将立刻结束当前函数的运行</a:t>
            </a:r>
            <a:endParaRPr lang="en-US" altLang="zh-CN" sz="1600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A.</a:t>
            </a:r>
            <a:r>
              <a:rPr lang="zh-CN" altLang="en-US" sz="1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注意：</a:t>
            </a: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在程序任意地方用</a:t>
            </a:r>
            <a:r>
              <a:rPr lang="en-US" altLang="zh-CN" sz="16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exit</a:t>
            </a:r>
            <a:r>
              <a:rPr lang="zh-CN" altLang="en-US" sz="1600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函数，将立刻结束整个程序的运行</a:t>
            </a:r>
            <a:endParaRPr lang="en-US" altLang="zh-CN" sz="1600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9.</a:t>
            </a:r>
            <a:r>
              <a:rPr lang="zh-CN" altLang="en-US" dirty="0" smtClean="0"/>
              <a:t>命令行参数</a:t>
            </a:r>
            <a:r>
              <a:rPr lang="zh-CN" altLang="en-US" dirty="0" smtClean="0">
                <a:solidFill>
                  <a:srgbClr val="FF0000"/>
                </a:solidFill>
              </a:rPr>
              <a:t>（自学）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525" y="980440"/>
            <a:ext cx="11170920" cy="4925695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函数指针是存储函数地址的指针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函数指针与数据指针相异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</a:rPr>
              <a:t>函数指针值在代码区，数据指针值在其他三个区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/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</a:rPr>
              <a:t>函数指针与数据指针不能类型转换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</a:rPr>
              <a:t>函数指针的定义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(*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func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 (char a, char b);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8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A.</a:t>
            </a:r>
            <a:r>
              <a:rPr lang="zh-CN" altLang="en-US" sz="18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注意：括号在函数指针中的使用</a:t>
            </a:r>
            <a:endParaRPr lang="en-US" altLang="zh-CN" sz="1800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B.</a:t>
            </a:r>
            <a:r>
              <a:rPr lang="zh-CN" altLang="en-US" sz="16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对比： </a:t>
            </a:r>
            <a:endParaRPr lang="en-US" altLang="zh-CN" sz="1600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func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(char a, char b);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定义一个函数，函数名是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func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函数返回值为整数指针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func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）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(char a, char b);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定义一个函数指针，指针名是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func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，它将指向某个函数，但现在不知道，只知道函数将接受两个字符参数，并返回一个整数值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600" dirty="0" smtClean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10.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（自学）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1000109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函数指针的基本示例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argc,char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argv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[])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(*f1) (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v1); //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定义函数指针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f1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double (*f2) (double v2); //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定义函数指针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f2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*p;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f1 = p;  //error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，函数指针和变量指针不能转换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p = f1; //error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，函数指针和变量指针不能转换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f1 = Triple; //ok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f1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指向函数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Triple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f1 = Triple(7); //error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，不能带参数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f2 = Quadruple; //ok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f2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指向函数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Quadruple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f1 = f2;  //error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，两个函数定义不一致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&lt;&lt;f1(7)&lt;&lt;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//ok, 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调用函数指针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&lt;&lt;f2(5.55)&lt;&lt;</a:t>
            </a:r>
            <a:r>
              <a:rPr lang="en-US" altLang="zh-CN" sz="16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 //ok, </a:t>
            </a:r>
            <a:r>
              <a:rPr lang="zh-CN" altLang="en-US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调用函数指针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260033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10.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（自学）</a:t>
            </a:r>
            <a:endParaRPr lang="zh-CN" altLang="en-US" sz="4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953256" y="1785926"/>
            <a:ext cx="3500462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Triple(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a)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return a*3; }</a:t>
            </a:r>
            <a:endParaRPr lang="en-US" altLang="zh-CN" sz="1600" dirty="0" smtClean="0"/>
          </a:p>
          <a:p>
            <a:pPr eaLnBrk="1" hangingPunct="1">
              <a:buNone/>
            </a:pP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double </a:t>
            </a:r>
            <a:r>
              <a:rPr lang="en-US" altLang="zh-CN" sz="1600" dirty="0" err="1" smtClean="0"/>
              <a:t>Quadrple</a:t>
            </a:r>
            <a:r>
              <a:rPr lang="en-US" altLang="zh-CN" sz="1600" dirty="0" smtClean="0"/>
              <a:t>(double b)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return b*4; }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08669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可以用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typedef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简化函数指针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Triple(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	return a*3; 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argc,char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argv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[])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typedef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(*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 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v1);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f1;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f1 = Triple;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  = f1(7); 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10.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（自学）</a:t>
            </a:r>
            <a:endParaRPr lang="zh-CN" altLang="en-US" sz="4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3496" y="98042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函数指针作为函数参数使用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double sigma(double(*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)(double), double dl, double du)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double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=0.0;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for(double d=dl; d&lt;du; d+=0.1)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+=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(d);  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用函数指针调用函数</a:t>
            </a:r>
            <a:endParaRPr lang="zh-CN" altLang="en-US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return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double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dsum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dsum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=sigma(sin, 0.1, 1.0); //sin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函数为实参赋给函数指针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func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&lt;&lt;"the sum of sin from 0.1 to 1.0 is "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dsum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dsum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=sigma(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cos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0.5, 3.0); //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cos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函数赋给函数指针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&lt;&lt;"the sum of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cos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from 0.5 to 3.0 is "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dsum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endl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6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10.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（自学）</a:t>
            </a:r>
            <a:endParaRPr lang="zh-CN" altLang="en-US" sz="4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41" y="980424"/>
            <a:ext cx="5643602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函数指针可构成指针数组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void main()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</a:t>
            </a:r>
            <a:r>
              <a:rPr lang="en-US" altLang="zh-CN" sz="1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choice;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do{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cout</a:t>
            </a: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&lt;&lt;"1--display good\n"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&lt;&lt;"2--</a:t>
            </a:r>
            <a:r>
              <a:rPr lang="en-US" altLang="zh-CN" sz="1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dispaly</a:t>
            </a: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better\n"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&lt;&lt;"3--</a:t>
            </a:r>
            <a:r>
              <a:rPr lang="en-US" altLang="zh-CN" sz="1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dispaly</a:t>
            </a: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best\n"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&lt;&lt;"0--exit\n"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&lt;&lt;"Enter your choice: ";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cin</a:t>
            </a: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&gt;&gt;choice;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switch(choice){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case 1: fun[0]();  break;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case 2: fun[1]();  break;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case 3: fun[2]();  break;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case 0: return;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defaut:cout</a:t>
            </a: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&lt;&lt;"you entered a wrong key.\n";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}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}while(choice);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4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}</a:t>
            </a:r>
            <a:endParaRPr lang="en-US" altLang="zh-CN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10.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（自学）</a:t>
            </a:r>
            <a:endParaRPr lang="zh-CN" altLang="en-US" sz="4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53058" y="1714488"/>
            <a:ext cx="5072098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buNone/>
            </a:pPr>
            <a:r>
              <a:rPr lang="en-US" altLang="zh-CN" sz="1400" dirty="0" err="1" smtClean="0"/>
              <a:t>typedef</a:t>
            </a:r>
            <a:r>
              <a:rPr lang="en-US" altLang="zh-CN" sz="1400" dirty="0" smtClean="0"/>
              <a:t> void (*</a:t>
            </a:r>
            <a:r>
              <a:rPr lang="en-US" altLang="zh-CN" sz="1400" dirty="0" err="1" smtClean="0"/>
              <a:t>MenuFun</a:t>
            </a:r>
            <a:r>
              <a:rPr lang="en-US" altLang="zh-CN" sz="1400" dirty="0" smtClean="0"/>
              <a:t>)(); //</a:t>
            </a:r>
            <a:r>
              <a:rPr lang="zh-CN" altLang="en-US" sz="1400" dirty="0" smtClean="0"/>
              <a:t>声明函数指针类型</a:t>
            </a:r>
            <a:endParaRPr lang="zh-CN" altLang="en-US" sz="1400" dirty="0" smtClean="0"/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400" dirty="0" smtClean="0"/>
              <a:t>void f1(){ </a:t>
            </a:r>
            <a:r>
              <a:rPr lang="en-US" altLang="zh-CN" sz="1400" dirty="0" err="1" smtClean="0"/>
              <a:t>cout</a:t>
            </a:r>
            <a:r>
              <a:rPr lang="en-US" altLang="zh-CN" sz="1400" dirty="0" smtClean="0"/>
              <a:t> &lt;&lt;“good!“&lt;&lt;</a:t>
            </a:r>
            <a:r>
              <a:rPr lang="en-US" altLang="zh-CN" sz="1400" dirty="0" err="1" smtClean="0"/>
              <a:t>endl</a:t>
            </a:r>
            <a:r>
              <a:rPr lang="en-US" altLang="zh-CN" sz="1400" dirty="0" smtClean="0"/>
              <a:t>; }</a:t>
            </a:r>
            <a:endParaRPr lang="en-US" altLang="zh-CN" sz="1400" dirty="0" smtClean="0"/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400" dirty="0" smtClean="0"/>
              <a:t>void f2(){ </a:t>
            </a:r>
            <a:r>
              <a:rPr lang="en-US" altLang="zh-CN" sz="1400" dirty="0" err="1" smtClean="0"/>
              <a:t>cout</a:t>
            </a:r>
            <a:r>
              <a:rPr lang="en-US" altLang="zh-CN" sz="1400" dirty="0" smtClean="0"/>
              <a:t> &lt;&lt;“better!"&lt;&lt;</a:t>
            </a:r>
            <a:r>
              <a:rPr lang="en-US" altLang="zh-CN" sz="1400" dirty="0" err="1" smtClean="0"/>
              <a:t>endl</a:t>
            </a:r>
            <a:r>
              <a:rPr lang="en-US" altLang="zh-CN" sz="1400" dirty="0" smtClean="0"/>
              <a:t>; }</a:t>
            </a:r>
            <a:endParaRPr lang="en-US" altLang="zh-CN" sz="1400" dirty="0" smtClean="0"/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400" dirty="0" smtClean="0"/>
              <a:t>void f3(){ </a:t>
            </a:r>
            <a:r>
              <a:rPr lang="en-US" altLang="zh-CN" sz="1400" dirty="0" err="1" smtClean="0"/>
              <a:t>cout</a:t>
            </a:r>
            <a:r>
              <a:rPr lang="en-US" altLang="zh-CN" sz="1400" dirty="0" smtClean="0"/>
              <a:t> &lt;&lt;“best!"&lt;&lt;</a:t>
            </a:r>
            <a:r>
              <a:rPr lang="en-US" altLang="zh-CN" sz="1400" dirty="0" err="1" smtClean="0"/>
              <a:t>endl</a:t>
            </a:r>
            <a:r>
              <a:rPr lang="en-US" altLang="zh-CN" sz="1400" dirty="0" smtClean="0"/>
              <a:t>; }</a:t>
            </a:r>
            <a:endParaRPr lang="en-US" altLang="zh-CN" sz="1400" dirty="0" smtClean="0"/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400" dirty="0" err="1" smtClean="0"/>
              <a:t>MenuFun</a:t>
            </a:r>
            <a:r>
              <a:rPr lang="en-US" altLang="zh-CN" sz="1400" dirty="0" smtClean="0"/>
              <a:t> fun[]={f1,f2,f3}; //</a:t>
            </a:r>
            <a:r>
              <a:rPr lang="zh-CN" altLang="en-US" sz="1400" dirty="0" smtClean="0"/>
              <a:t>全局函数指针数组</a:t>
            </a:r>
            <a:endParaRPr lang="zh-CN" alt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5886" y="908669"/>
            <a:ext cx="8215370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函数指针可以作为函数返回值</a:t>
            </a:r>
            <a:endParaRPr lang="en-US" altLang="zh-CN" sz="14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Triple(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a)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	return a*3; 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double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Fourtimes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(double b)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{ return b*4; }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typedef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(*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 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int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v1);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typedef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double (*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 (double v2);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test(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);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最后一句是定义一个函数，函数返回值是一个类型为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的函数指针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//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函数参数是类型分别为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tp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18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fp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的两个函数指针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7715" y="18827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10.</a:t>
            </a: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</a:t>
            </a:r>
            <a:r>
              <a:rPr lang="zh-CN" altLang="en-US" dirty="0" smtClean="0">
                <a:solidFill>
                  <a:srgbClr val="FF0000"/>
                </a:solidFill>
              </a:rPr>
              <a:t>（自学）</a:t>
            </a:r>
            <a:endParaRPr lang="zh-CN" altLang="en-US" sz="4000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7670" y="980440"/>
            <a:ext cx="11105515" cy="4819650"/>
          </a:xfrm>
        </p:spPr>
        <p:txBody>
          <a:bodyPr/>
          <a:lstStyle/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指针，一种结构化数据类型，存储其他变量或函数的地址，用于间接访问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指针的定义与使用：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*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与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&amp;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的使用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指针在数组的应用：指针等价数组名，指针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</a:t>
            </a:r>
            <a:r>
              <a:rPr lang="en-US" altLang="zh-CN" sz="2000" dirty="0" err="1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i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等价数组下标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指针与常量：常量指针和指针常量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堆分配：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new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</a:t>
            </a:r>
            <a:r>
              <a:rPr lang="en-US" altLang="zh-CN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delete</a:t>
            </a:r>
            <a:r>
              <a:rPr lang="zh-CN" altLang="en-US" sz="18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的用法，动态创建一维数组、二维数组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指针与函数：指针作为函数参数、返回值的用法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指针与字符串：指针、字符串变量名、数组变量名都是等价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指针与数组：指针数组和数组指针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命令行参数：</a:t>
            </a:r>
            <a:r>
              <a:rPr lang="en-US" altLang="zh-CN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main</a:t>
            </a:r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的外部应用</a:t>
            </a:r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r>
              <a:rPr lang="zh-CN" altLang="en-US" sz="2000" dirty="0" smtClean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函数指针的用法</a:t>
            </a: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20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/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>
              <a:buNone/>
            </a:pPr>
            <a:endParaRPr lang="en-US" altLang="zh-CN" sz="1800" dirty="0" smtClean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70" y="188278"/>
            <a:ext cx="8229600" cy="868346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本章总结</a:t>
            </a:r>
            <a:endParaRPr lang="zh-CN" altLang="en-US" sz="4000" dirty="0" smtClean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67702" y="6357958"/>
            <a:ext cx="2351087" cy="365125"/>
          </a:xfrm>
        </p:spPr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650345" y="6483985"/>
            <a:ext cx="541655" cy="282575"/>
          </a:xfrm>
        </p:spPr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310,&quot;width&quot;:6525}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​​">
      <a:majorFont>
        <a:latin typeface="Copperplate Gothic Bold"/>
        <a:ea typeface="微软雅黑"/>
        <a:cs typeface=""/>
      </a:majorFont>
      <a:minorFont>
        <a:latin typeface="Copperplate Gothic 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/>
      <a:bodyPr vert="horz" lIns="91440" tIns="45720" rIns="91440" bIns="45720" rtlCol="0">
        <a:noAutofit/>
      </a:bodyPr>
      <a:lstStyle>
        <a:defPPr marL="571500" lvl="0" indent="-571500">
          <a:lnSpc>
            <a:spcPct val="90000"/>
          </a:lnSpc>
          <a:spcBef>
            <a:spcPts val="1000"/>
          </a:spcBef>
          <a:buClr>
            <a:schemeClr val="accent2"/>
          </a:buClr>
          <a:buFont typeface="Wingdings" panose="05000000000000000000" pitchFamily="2" charset="2"/>
          <a:buChar char="n"/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18242</Words>
  <Application>WPS 演示</Application>
  <PresentationFormat>宽屏</PresentationFormat>
  <Paragraphs>1565</Paragraphs>
  <Slides>97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97</vt:i4>
      </vt:variant>
    </vt:vector>
  </HeadingPairs>
  <TitlesOfParts>
    <vt:vector size="112" baseType="lpstr">
      <vt:lpstr>Arial</vt:lpstr>
      <vt:lpstr>宋体</vt:lpstr>
      <vt:lpstr>Wingdings</vt:lpstr>
      <vt:lpstr>Copperplate Gothic Bold</vt:lpstr>
      <vt:lpstr>微软雅黑</vt:lpstr>
      <vt:lpstr>Tahoma</vt:lpstr>
      <vt:lpstr>Wingdings</vt:lpstr>
      <vt:lpstr>黑体</vt:lpstr>
      <vt:lpstr>Lucida Sans Unicode</vt:lpstr>
      <vt:lpstr>Arial Unicode MS</vt:lpstr>
      <vt:lpstr>Arial</vt:lpstr>
      <vt:lpstr>隶书</vt:lpstr>
      <vt:lpstr>Wingdings 3</vt:lpstr>
      <vt:lpstr>1_Office 主题​​</vt:lpstr>
      <vt:lpstr>Paint.Picture</vt:lpstr>
      <vt:lpstr>PowerPoint 演示文稿</vt:lpstr>
      <vt:lpstr>PowerPoint 演示文稿</vt:lpstr>
      <vt:lpstr>课程结构（按教材划分）</vt:lpstr>
      <vt:lpstr>课程结构（按教材划分）</vt:lpstr>
      <vt:lpstr>PowerPoint 演示文稿</vt:lpstr>
      <vt:lpstr>C++的输入输出</vt:lpstr>
      <vt:lpstr>一.输入输出</vt:lpstr>
      <vt:lpstr>C++的输入输出</vt:lpstr>
      <vt:lpstr>C++的输入输出</vt:lpstr>
      <vt:lpstr>C++的输入输出</vt:lpstr>
      <vt:lpstr>PowerPoint 演示文稿</vt:lpstr>
      <vt:lpstr>1.指针概念</vt:lpstr>
      <vt:lpstr>1.指针概念</vt:lpstr>
      <vt:lpstr>1.指针概念</vt:lpstr>
      <vt:lpstr>1.指针概念</vt:lpstr>
      <vt:lpstr>1.指针概念</vt:lpstr>
      <vt:lpstr>1.指针概念</vt:lpstr>
      <vt:lpstr>1.指针概念</vt:lpstr>
      <vt:lpstr>1.指针概念</vt:lpstr>
      <vt:lpstr>1.指针概念</vt:lpstr>
      <vt:lpstr>1.指针概念</vt:lpstr>
      <vt:lpstr>2.指针基础用法</vt:lpstr>
      <vt:lpstr>2.指针基本用法</vt:lpstr>
      <vt:lpstr>2.指针基本用法</vt:lpstr>
      <vt:lpstr>2.指针基本用法</vt:lpstr>
      <vt:lpstr>2.指针基本用法</vt:lpstr>
      <vt:lpstr>练习</vt:lpstr>
      <vt:lpstr>2.指针基本用法</vt:lpstr>
      <vt:lpstr>2.指针基本用法</vt:lpstr>
      <vt:lpstr>2.指针基本用法</vt:lpstr>
      <vt:lpstr>2.指针基本用法</vt:lpstr>
      <vt:lpstr>2.指针基本用法</vt:lpstr>
      <vt:lpstr>2.指针基本用法</vt:lpstr>
      <vt:lpstr>2.指针基本用法</vt:lpstr>
      <vt:lpstr>2.指针基本用法</vt:lpstr>
      <vt:lpstr>PowerPoint 演示文稿</vt:lpstr>
      <vt:lpstr>3.指针与数组</vt:lpstr>
      <vt:lpstr>3.指针与数组</vt:lpstr>
      <vt:lpstr>3.指针与数组</vt:lpstr>
      <vt:lpstr>3.指针与数组</vt:lpstr>
      <vt:lpstr>3.指针与数组</vt:lpstr>
      <vt:lpstr>3.指针与数组</vt:lpstr>
      <vt:lpstr>3.指针与数组</vt:lpstr>
      <vt:lpstr>PowerPoint 演示文稿</vt:lpstr>
      <vt:lpstr>4.指针与常量</vt:lpstr>
      <vt:lpstr>4.指针与常量</vt:lpstr>
      <vt:lpstr>4.指针与常量</vt:lpstr>
      <vt:lpstr>4.指针与常量</vt:lpstr>
      <vt:lpstr>4.指针与常量</vt:lpstr>
      <vt:lpstr>4.指针与常量</vt:lpstr>
      <vt:lpstr>上节复习</vt:lpstr>
      <vt:lpstr>练习</vt:lpstr>
      <vt:lpstr>练习</vt:lpstr>
      <vt:lpstr>PowerPoint 演示文稿</vt:lpstr>
      <vt:lpstr>5.堆内存分配</vt:lpstr>
      <vt:lpstr>5.堆内存分配</vt:lpstr>
      <vt:lpstr>5.堆内存分配</vt:lpstr>
      <vt:lpstr>5.堆内存分配</vt:lpstr>
      <vt:lpstr>5.堆内存分配</vt:lpstr>
      <vt:lpstr>5.堆内存分配</vt:lpstr>
      <vt:lpstr>5.堆内存分配</vt:lpstr>
      <vt:lpstr>PowerPoint 演示文稿</vt:lpstr>
      <vt:lpstr>6.指针与函数</vt:lpstr>
      <vt:lpstr>6.指针与函数</vt:lpstr>
      <vt:lpstr>6.指针与函数</vt:lpstr>
      <vt:lpstr>6.指针与函数</vt:lpstr>
      <vt:lpstr>6.指针与函数</vt:lpstr>
      <vt:lpstr>6.指针与函数</vt:lpstr>
      <vt:lpstr>6.指针与函数</vt:lpstr>
      <vt:lpstr>PowerPoint 演示文稿</vt:lpstr>
      <vt:lpstr>7.指针与字符串</vt:lpstr>
      <vt:lpstr>7.指针与字符串</vt:lpstr>
      <vt:lpstr>7.指针与字符串</vt:lpstr>
      <vt:lpstr>7.指针与字符串</vt:lpstr>
      <vt:lpstr>7.指针与字符串</vt:lpstr>
      <vt:lpstr>7.指针与字符串</vt:lpstr>
      <vt:lpstr>7.指针与字符串</vt:lpstr>
      <vt:lpstr>7.指针与字符串</vt:lpstr>
      <vt:lpstr>C++的输入输出</vt:lpstr>
      <vt:lpstr>PowerPoint 演示文稿</vt:lpstr>
      <vt:lpstr>8.指针数组</vt:lpstr>
      <vt:lpstr>8.指针数组</vt:lpstr>
      <vt:lpstr>8.指针数组</vt:lpstr>
      <vt:lpstr>8.指针数组</vt:lpstr>
      <vt:lpstr>8.指针数组</vt:lpstr>
      <vt:lpstr>8.指针数组</vt:lpstr>
      <vt:lpstr>PowerPoint 演示文稿</vt:lpstr>
      <vt:lpstr>9.命令行参数（自学）</vt:lpstr>
      <vt:lpstr>9.命令行参数（自学）</vt:lpstr>
      <vt:lpstr>10.函数指针（自学）</vt:lpstr>
      <vt:lpstr>10.函数指针（自学）</vt:lpstr>
      <vt:lpstr>10.函数指针（自学）</vt:lpstr>
      <vt:lpstr>10.函数指针（自学）</vt:lpstr>
      <vt:lpstr>10.函数指针（自学）</vt:lpstr>
      <vt:lpstr>10.函数指针（自学）</vt:lpstr>
      <vt:lpstr>本章总结</vt:lpstr>
      <vt:lpstr>PowerPoint 演示文稿</vt:lpstr>
    </vt:vector>
  </TitlesOfParts>
  <Company>SZU</Company>
  <LinksUpToDate>false</LinksUpToDate>
  <SharedDoc>false</SharedDoc>
  <HyperlinksChanged>false</HyperlinksChanged>
  <AppVersion>14.0000</AppVersion>
  <Manager>BJC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教学讲义</dc:title>
  <dc:creator>白; BJC</dc:creator>
  <dc:subject>C++</dc:subject>
  <cp:lastModifiedBy>bai</cp:lastModifiedBy>
  <cp:revision>2044</cp:revision>
  <dcterms:created xsi:type="dcterms:W3CDTF">2014-01-11T15:22:00Z</dcterms:created>
  <dcterms:modified xsi:type="dcterms:W3CDTF">2024-03-04T12:19:06Z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  <property fmtid="{D5CDD505-2E9C-101B-9397-08002B2CF9AE}" pid="3" name="ICV">
    <vt:lpwstr>929928FDE8C1469C8B0F50FEA79C365E</vt:lpwstr>
  </property>
</Properties>
</file>