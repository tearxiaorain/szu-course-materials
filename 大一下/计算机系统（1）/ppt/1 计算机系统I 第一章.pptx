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0"/>
  </p:notesMasterIdLst>
  <p:sldIdLst>
    <p:sldId id="492" r:id="rId3"/>
    <p:sldId id="493" r:id="rId4"/>
    <p:sldId id="496" r:id="rId5"/>
    <p:sldId id="502" r:id="rId6"/>
    <p:sldId id="554" r:id="rId7"/>
    <p:sldId id="508" r:id="rId8"/>
    <p:sldId id="507" r:id="rId9"/>
    <p:sldId id="510" r:id="rId11"/>
    <p:sldId id="553" r:id="rId12"/>
    <p:sldId id="552" r:id="rId13"/>
    <p:sldId id="509" r:id="rId14"/>
    <p:sldId id="497" r:id="rId15"/>
    <p:sldId id="512" r:id="rId16"/>
    <p:sldId id="514" r:id="rId17"/>
    <p:sldId id="515" r:id="rId18"/>
    <p:sldId id="516" r:id="rId19"/>
    <p:sldId id="517" r:id="rId20"/>
    <p:sldId id="518" r:id="rId21"/>
    <p:sldId id="498" r:id="rId22"/>
    <p:sldId id="520" r:id="rId23"/>
    <p:sldId id="519" r:id="rId24"/>
    <p:sldId id="522" r:id="rId25"/>
    <p:sldId id="499" r:id="rId26"/>
    <p:sldId id="521" r:id="rId27"/>
    <p:sldId id="544" r:id="rId28"/>
    <p:sldId id="545" r:id="rId29"/>
    <p:sldId id="542" r:id="rId30"/>
    <p:sldId id="543" r:id="rId31"/>
    <p:sldId id="546" r:id="rId32"/>
    <p:sldId id="500" r:id="rId33"/>
    <p:sldId id="528" r:id="rId34"/>
    <p:sldId id="533" r:id="rId35"/>
    <p:sldId id="535" r:id="rId36"/>
    <p:sldId id="547" r:id="rId37"/>
    <p:sldId id="531" r:id="rId38"/>
    <p:sldId id="548" r:id="rId39"/>
    <p:sldId id="551" r:id="rId40"/>
    <p:sldId id="529" r:id="rId41"/>
    <p:sldId id="530" r:id="rId42"/>
    <p:sldId id="501" r:id="rId43"/>
    <p:sldId id="536" r:id="rId44"/>
    <p:sldId id="591" r:id="rId45"/>
  </p:sldIdLst>
  <p:sldSz cx="12192000" cy="6858000"/>
  <p:notesSz cx="6858000" cy="9144000"/>
  <p:custDataLst>
    <p:tags r:id="rId49"/>
  </p:custDataLst>
  <p:defaultTextStyle>
    <a:defPPr>
      <a:defRPr lang="zh-CN"/>
    </a:defPPr>
    <a:lvl1pPr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33CC33"/>
    <a:srgbClr val="00FFFF"/>
    <a:srgbClr val="FF99FF"/>
    <a:srgbClr val="003399"/>
    <a:srgbClr val="66FF33"/>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85096" autoAdjust="0"/>
  </p:normalViewPr>
  <p:slideViewPr>
    <p:cSldViewPr showGuides="1">
      <p:cViewPr varScale="1">
        <p:scale>
          <a:sx n="68" d="100"/>
          <a:sy n="68" d="100"/>
        </p:scale>
        <p:origin x="1063" y="51"/>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gs" Target="tags/tag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a:defRPr sz="1200" smtClean="0">
                <a:latin typeface="Arial" panose="020B0604020202020204" pitchFamily="34" charset="0"/>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w="9525">
            <a:noFill/>
            <a:miter lim="800000"/>
          </a:ln>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fld id="{250697F6-173F-4907-8E1F-6A4A7DCD3E53}" type="datetimeFigureOut">
              <a:rPr lang="zh-CN" altLang="en-US"/>
            </a:fld>
            <a:endParaRPr lang="en-US" altLang="zh-CN"/>
          </a:p>
        </p:txBody>
      </p:sp>
      <p:sp>
        <p:nvSpPr>
          <p:cNvPr id="45060" name="幻灯片图像占位符 3"/>
          <p:cNvSpPr>
            <a:spLocks noGrp="1" noRot="1" noChangeAspect="1" noChangeArrowheads="1"/>
          </p:cNvSpPr>
          <p:nvPr>
            <p:ph type="sldImg" idx="2"/>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w="9525">
            <a:noFill/>
            <a:miter lim="800000"/>
          </a:ln>
        </p:spPr>
        <p:txBody>
          <a:bodyPr vert="horz" wrap="square" lIns="91440" tIns="45720" rIns="91440" bIns="45720" numCol="1" anchor="b" anchorCtr="0" compatLnSpc="1"/>
          <a:lstStyle>
            <a:lvl1pPr>
              <a:defRPr sz="1200" smtClean="0">
                <a:latin typeface="Arial" panose="020B0604020202020204" pitchFamily="34" charset="0"/>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w="9525">
            <a:noFill/>
            <a:miter lim="800000"/>
          </a:ln>
        </p:spPr>
        <p:txBody>
          <a:bodyPr vert="horz" wrap="square" lIns="91440" tIns="45720" rIns="91440" bIns="45720" numCol="1" anchor="b" anchorCtr="0" compatLnSpc="1"/>
          <a:lstStyle>
            <a:lvl1pPr algn="r">
              <a:defRPr sz="1200" smtClean="0">
                <a:latin typeface="Arial" panose="020B0604020202020204" pitchFamily="34" charset="0"/>
              </a:defRPr>
            </a:lvl1pPr>
          </a:lstStyle>
          <a:p>
            <a:pPr>
              <a:defRPr/>
            </a:pPr>
            <a:fld id="{027A0B3A-CBE6-4851-A53D-4B4CBF114D67}"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p:cNvSpPr>
            <a:spLocks noGrp="1" noRot="1" noChangeAspect="1" noChangeArrowheads="1" noTextEdit="1"/>
          </p:cNvSpPr>
          <p:nvPr>
            <p:ph type="sldImg"/>
          </p:nvPr>
        </p:nvSpPr>
        <p:spPr>
          <a:xfrm>
            <a:off x="723900" y="879475"/>
            <a:ext cx="5410200" cy="3043238"/>
          </a:xfrm>
        </p:spPr>
      </p:sp>
      <p:sp>
        <p:nvSpPr>
          <p:cNvPr id="80899" name="Rectangle 1027"/>
          <p:cNvSpPr>
            <a:spLocks noGrp="1" noChangeArrowheads="1"/>
          </p:cNvSpPr>
          <p:nvPr>
            <p:ph type="body" idx="1"/>
          </p:nvPr>
        </p:nvSpPr>
        <p:spPr>
          <a:xfrm>
            <a:off x="914400" y="4341813"/>
            <a:ext cx="5029200"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41" tIns="45411" rIns="92241" bIns="45411" anchor="t"/>
          <a:lstStyle/>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传统：顶</a:t>
            </a:r>
            <a:r>
              <a:rPr lang="en-US" altLang="zh-CN" dirty="0"/>
              <a:t>-》</a:t>
            </a:r>
            <a:r>
              <a:rPr lang="zh-CN" altLang="en-US" dirty="0"/>
              <a:t>底</a:t>
            </a:r>
            <a:endParaRPr lang="en-US" altLang="zh-CN" dirty="0"/>
          </a:p>
          <a:p>
            <a:r>
              <a:rPr lang="zh-CN" altLang="en-US" dirty="0"/>
              <a:t>本课程：底</a:t>
            </a:r>
            <a:r>
              <a:rPr lang="en-US" altLang="zh-CN" dirty="0"/>
              <a:t>-》</a:t>
            </a:r>
            <a:r>
              <a:rPr lang="zh-CN" altLang="en-US" dirty="0"/>
              <a:t>顶</a:t>
            </a:r>
            <a:endParaRPr lang="zh-CN" altLang="en-US" dirty="0"/>
          </a:p>
        </p:txBody>
      </p:sp>
      <p:sp>
        <p:nvSpPr>
          <p:cNvPr id="4" name="灯片编号占位符 3"/>
          <p:cNvSpPr>
            <a:spLocks noGrp="1"/>
          </p:cNvSpPr>
          <p:nvPr>
            <p:ph type="sldNum" sz="quarter" idx="5"/>
          </p:nvPr>
        </p:nvSpPr>
        <p:spPr/>
        <p:txBody>
          <a:bodyPr/>
          <a:lstStyle/>
          <a:p>
            <a:pPr>
              <a:defRPr/>
            </a:pPr>
            <a:fld id="{027A0B3A-CBE6-4851-A53D-4B4CBF114D67}"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noChangeArrowheads="1"/>
          </p:cNvSpPr>
          <p:nvPr/>
        </p:nvSpPr>
        <p:spPr bwMode="auto">
          <a:xfrm>
            <a:off x="3886200" y="8688388"/>
            <a:ext cx="2971800" cy="455612"/>
          </a:xfrm>
          <a:prstGeom prst="rect">
            <a:avLst/>
          </a:prstGeom>
          <a:noFill/>
          <a:ln w="9525">
            <a:noFill/>
            <a:miter lim="800000"/>
          </a:ln>
        </p:spPr>
        <p:txBody>
          <a:bodyPr lIns="95109" tIns="47554" rIns="95109" bIns="47554" anchor="b"/>
          <a:lstStyle/>
          <a:p>
            <a:pPr algn="r" defTabSz="949325" eaLnBrk="0" hangingPunct="0"/>
            <a:fld id="{2CCAA72F-95F2-4300-9405-74CC2CF9BCD0}" type="slidenum">
              <a:rPr lang="zh-CN" altLang="en-US" sz="1200" baseline="0">
                <a:latin typeface="Garamond" panose="02020404030301010803" pitchFamily="18" charset="0"/>
              </a:rPr>
            </a:fld>
            <a:endParaRPr lang="en-US" altLang="zh-CN" sz="1200" baseline="0">
              <a:latin typeface="Garamond" panose="02020404030301010803" pitchFamily="18" charset="0"/>
            </a:endParaRPr>
          </a:p>
        </p:txBody>
      </p:sp>
      <p:sp>
        <p:nvSpPr>
          <p:cNvPr id="120835" name="Rectangle 2"/>
          <p:cNvSpPr>
            <a:spLocks noGrp="1" noRot="1" noChangeAspect="1" noChangeArrowheads="1" noTextEdit="1"/>
          </p:cNvSpPr>
          <p:nvPr>
            <p:ph type="sldImg"/>
          </p:nvPr>
        </p:nvSpPr>
        <p:spPr>
          <a:xfrm>
            <a:off x="381000" y="687388"/>
            <a:ext cx="6097588" cy="3430587"/>
          </a:xfrm>
        </p:spPr>
      </p:sp>
      <p:sp>
        <p:nvSpPr>
          <p:cNvPr id="120836" name="Rectangle 3"/>
          <p:cNvSpPr>
            <a:spLocks noGrp="1" noChangeArrowheads="1"/>
          </p:cNvSpPr>
          <p:nvPr>
            <p:ph type="body" idx="1"/>
          </p:nvPr>
        </p:nvSpPr>
        <p:spPr>
          <a:xfrm>
            <a:off x="914400" y="4343400"/>
            <a:ext cx="5029200" cy="4113213"/>
          </a:xfrm>
          <a:noFill/>
        </p:spPr>
        <p:txBody>
          <a:bodyPr lIns="95109" tIns="47554" rIns="95109" bIns="47554" anchor="t"/>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noChangeArrowheads="1"/>
          </p:cNvSpPr>
          <p:nvPr/>
        </p:nvSpPr>
        <p:spPr bwMode="auto">
          <a:xfrm>
            <a:off x="3886200" y="8688388"/>
            <a:ext cx="2971800" cy="455612"/>
          </a:xfrm>
          <a:prstGeom prst="rect">
            <a:avLst/>
          </a:prstGeom>
          <a:noFill/>
          <a:ln w="9525">
            <a:noFill/>
            <a:miter lim="800000"/>
          </a:ln>
        </p:spPr>
        <p:txBody>
          <a:bodyPr lIns="95109" tIns="47554" rIns="95109" bIns="47554" anchor="b"/>
          <a:lstStyle/>
          <a:p>
            <a:pPr algn="r" defTabSz="949325" eaLnBrk="0" hangingPunct="0"/>
            <a:fld id="{C066D171-77F2-4312-AD4F-CDC4CF77175E}" type="slidenum">
              <a:rPr lang="zh-CN" altLang="en-US" sz="1200" baseline="0">
                <a:latin typeface="Garamond" panose="02020404030301010803" pitchFamily="18" charset="0"/>
              </a:rPr>
            </a:fld>
            <a:endParaRPr lang="en-US" altLang="zh-CN" sz="1200" baseline="0">
              <a:latin typeface="Garamond" panose="02020404030301010803" pitchFamily="18" charset="0"/>
            </a:endParaRPr>
          </a:p>
        </p:txBody>
      </p:sp>
      <p:sp>
        <p:nvSpPr>
          <p:cNvPr id="115715" name="Rectangle 2"/>
          <p:cNvSpPr>
            <a:spLocks noGrp="1" noRot="1" noChangeAspect="1" noChangeArrowheads="1" noTextEdit="1"/>
          </p:cNvSpPr>
          <p:nvPr>
            <p:ph type="sldImg"/>
          </p:nvPr>
        </p:nvSpPr>
        <p:spPr>
          <a:xfrm>
            <a:off x="381000" y="687388"/>
            <a:ext cx="6097588" cy="3430587"/>
          </a:xfrm>
        </p:spPr>
      </p:sp>
      <p:sp>
        <p:nvSpPr>
          <p:cNvPr id="115716" name="Rectangle 3"/>
          <p:cNvSpPr>
            <a:spLocks noGrp="1" noChangeArrowheads="1"/>
          </p:cNvSpPr>
          <p:nvPr>
            <p:ph type="body" idx="1"/>
          </p:nvPr>
        </p:nvSpPr>
        <p:spPr>
          <a:xfrm>
            <a:off x="914400" y="4343400"/>
            <a:ext cx="5029200" cy="4113213"/>
          </a:xfrm>
          <a:noFill/>
        </p:spPr>
        <p:txBody>
          <a:bodyPr lIns="95109" tIns="47554" rIns="95109" bIns="47554" anchor="t"/>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86200" y="8688388"/>
            <a:ext cx="2971800" cy="455612"/>
          </a:xfrm>
          <a:prstGeom prst="rect">
            <a:avLst/>
          </a:prstGeom>
          <a:noFill/>
          <a:ln w="9525">
            <a:noFill/>
            <a:miter lim="800000"/>
          </a:ln>
        </p:spPr>
        <p:txBody>
          <a:bodyPr lIns="95109" tIns="47554" rIns="95109" bIns="47554" anchor="b"/>
          <a:lstStyle/>
          <a:p>
            <a:pPr algn="r" defTabSz="949325" eaLnBrk="0" hangingPunct="0"/>
            <a:fld id="{97162FF4-089B-4253-8D9C-8F86648EBC8B}" type="slidenum">
              <a:rPr lang="zh-CN" altLang="en-US" sz="1200" baseline="0">
                <a:latin typeface="Garamond" panose="02020404030301010803" pitchFamily="18" charset="0"/>
              </a:rPr>
            </a:fld>
            <a:endParaRPr lang="en-US" altLang="zh-CN" sz="1200" baseline="0">
              <a:latin typeface="Garamond" panose="02020404030301010803" pitchFamily="18" charset="0"/>
            </a:endParaRPr>
          </a:p>
        </p:txBody>
      </p:sp>
      <p:sp>
        <p:nvSpPr>
          <p:cNvPr id="117763" name="Rectangle 2"/>
          <p:cNvSpPr>
            <a:spLocks noGrp="1" noRot="1" noChangeAspect="1" noChangeArrowheads="1" noTextEdit="1"/>
          </p:cNvSpPr>
          <p:nvPr>
            <p:ph type="sldImg"/>
          </p:nvPr>
        </p:nvSpPr>
        <p:spPr>
          <a:xfrm>
            <a:off x="381000" y="687388"/>
            <a:ext cx="6097588" cy="3430587"/>
          </a:xfrm>
        </p:spPr>
      </p:sp>
      <p:sp>
        <p:nvSpPr>
          <p:cNvPr id="117764" name="Rectangle 3"/>
          <p:cNvSpPr>
            <a:spLocks noGrp="1" noChangeArrowheads="1"/>
          </p:cNvSpPr>
          <p:nvPr>
            <p:ph type="body" idx="1"/>
          </p:nvPr>
        </p:nvSpPr>
        <p:spPr>
          <a:xfrm>
            <a:off x="914400" y="4343400"/>
            <a:ext cx="5029200" cy="4113213"/>
          </a:xfrm>
          <a:noFill/>
        </p:spPr>
        <p:txBody>
          <a:bodyPr lIns="95109" tIns="47554" rIns="95109" bIns="47554" anchor="t"/>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noChangeArrowheads="1"/>
          </p:cNvSpPr>
          <p:nvPr/>
        </p:nvSpPr>
        <p:spPr bwMode="auto">
          <a:xfrm>
            <a:off x="3886200" y="8688388"/>
            <a:ext cx="2971800" cy="455612"/>
          </a:xfrm>
          <a:prstGeom prst="rect">
            <a:avLst/>
          </a:prstGeom>
          <a:noFill/>
          <a:ln w="9525">
            <a:noFill/>
            <a:miter lim="800000"/>
          </a:ln>
        </p:spPr>
        <p:txBody>
          <a:bodyPr lIns="95109" tIns="47554" rIns="95109" bIns="47554" anchor="b"/>
          <a:lstStyle/>
          <a:p>
            <a:pPr algn="r" defTabSz="949325" eaLnBrk="0" hangingPunct="0"/>
            <a:fld id="{3E08C328-00F7-4ED4-B80A-773E6E58D79C}" type="slidenum">
              <a:rPr lang="zh-CN" altLang="en-US" sz="1200" baseline="0">
                <a:latin typeface="Garamond" panose="02020404030301010803" pitchFamily="18" charset="0"/>
              </a:rPr>
            </a:fld>
            <a:endParaRPr lang="en-US" altLang="zh-CN" sz="1200" baseline="0">
              <a:latin typeface="Garamond" panose="02020404030301010803" pitchFamily="18" charset="0"/>
            </a:endParaRPr>
          </a:p>
        </p:txBody>
      </p:sp>
      <p:sp>
        <p:nvSpPr>
          <p:cNvPr id="122883" name="Rectangle 2"/>
          <p:cNvSpPr>
            <a:spLocks noGrp="1" noRot="1" noChangeAspect="1" noChangeArrowheads="1" noTextEdit="1"/>
          </p:cNvSpPr>
          <p:nvPr>
            <p:ph type="sldImg"/>
          </p:nvPr>
        </p:nvSpPr>
        <p:spPr>
          <a:xfrm>
            <a:off x="381000" y="687388"/>
            <a:ext cx="6097588" cy="3430587"/>
          </a:xfrm>
        </p:spPr>
      </p:sp>
      <p:sp>
        <p:nvSpPr>
          <p:cNvPr id="122884" name="Rectangle 3"/>
          <p:cNvSpPr>
            <a:spLocks noGrp="1" noChangeArrowheads="1"/>
          </p:cNvSpPr>
          <p:nvPr>
            <p:ph type="body" idx="1"/>
          </p:nvPr>
        </p:nvSpPr>
        <p:spPr>
          <a:xfrm>
            <a:off x="914400" y="4343400"/>
            <a:ext cx="5029200" cy="4113213"/>
          </a:xfrm>
          <a:noFill/>
        </p:spPr>
        <p:txBody>
          <a:bodyPr lIns="95109" tIns="47554" rIns="95109" bIns="47554" anchor="t"/>
          <a:lstStyle/>
          <a:p>
            <a:pPr eaLnBrk="1" hangingPunct="1">
              <a:spcBef>
                <a:spcPct val="0"/>
              </a:spcBef>
            </a:pPr>
            <a:r>
              <a:rPr lang="en-US" altLang="zh-CN" sz="1000"/>
              <a:t>Sun and Java are trademarks of Sun Microsystems, Inc.  SPARC is a trademark of SPARC International, Inc.  Intel and Pentium are trademarks of Intel Corporation.  IBM and PowerPC are trademarks of IBM Corporation.  AMD and Athlon and trademarks of Advanced Micro Devices, Inc.</a:t>
            </a:r>
            <a:endParaRPr lang="en-US" altLang="zh-CN" sz="1000"/>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886200" y="8688388"/>
            <a:ext cx="2971800" cy="455612"/>
          </a:xfrm>
          <a:prstGeom prst="rect">
            <a:avLst/>
          </a:prstGeom>
          <a:noFill/>
          <a:ln w="9525">
            <a:noFill/>
            <a:miter lim="800000"/>
          </a:ln>
        </p:spPr>
        <p:txBody>
          <a:bodyPr lIns="95109" tIns="47554" rIns="95109" bIns="47554" anchor="b"/>
          <a:lstStyle/>
          <a:p>
            <a:pPr algn="r" defTabSz="949325" eaLnBrk="0" hangingPunct="0"/>
            <a:fld id="{3F30D505-DFC8-4D67-935D-F0632E3A6504}" type="slidenum">
              <a:rPr lang="zh-CN" altLang="en-US" sz="1200" baseline="0">
                <a:latin typeface="Garamond" panose="02020404030301010803" pitchFamily="18" charset="0"/>
              </a:rPr>
            </a:fld>
            <a:endParaRPr lang="en-US" altLang="zh-CN" sz="1200" baseline="0">
              <a:latin typeface="Garamond" panose="02020404030301010803" pitchFamily="18" charset="0"/>
            </a:endParaRPr>
          </a:p>
        </p:txBody>
      </p:sp>
      <p:sp>
        <p:nvSpPr>
          <p:cNvPr id="112643" name="Rectangle 2"/>
          <p:cNvSpPr>
            <a:spLocks noGrp="1" noRot="1" noChangeAspect="1" noChangeArrowheads="1" noTextEdit="1"/>
          </p:cNvSpPr>
          <p:nvPr>
            <p:ph type="sldImg"/>
          </p:nvPr>
        </p:nvSpPr>
        <p:spPr>
          <a:xfrm>
            <a:off x="381000" y="687388"/>
            <a:ext cx="6097588" cy="3430587"/>
          </a:xfrm>
        </p:spPr>
      </p:sp>
      <p:sp>
        <p:nvSpPr>
          <p:cNvPr id="112644" name="Rectangle 3"/>
          <p:cNvSpPr>
            <a:spLocks noGrp="1" noChangeArrowheads="1"/>
          </p:cNvSpPr>
          <p:nvPr>
            <p:ph type="body" idx="1"/>
          </p:nvPr>
        </p:nvSpPr>
        <p:spPr>
          <a:xfrm>
            <a:off x="914400" y="4343400"/>
            <a:ext cx="5029200" cy="4113213"/>
          </a:xfrm>
          <a:noFill/>
        </p:spPr>
        <p:txBody>
          <a:bodyPr lIns="95109" tIns="47554" rIns="95109" bIns="47554" anchor="t"/>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723900" y="879475"/>
            <a:ext cx="5410200" cy="3043238"/>
          </a:xfrm>
        </p:spPr>
      </p:sp>
      <p:sp>
        <p:nvSpPr>
          <p:cNvPr id="70659" name="Rectangle 3"/>
          <p:cNvSpPr>
            <a:spLocks noGrp="1" noChangeArrowheads="1"/>
          </p:cNvSpPr>
          <p:nvPr>
            <p:ph type="body" idx="1"/>
          </p:nvPr>
        </p:nvSpPr>
        <p:spPr>
          <a:xfrm>
            <a:off x="914400" y="4341813"/>
            <a:ext cx="5029200" cy="4116387"/>
          </a:xfrm>
          <a:noFill/>
        </p:spPr>
        <p:txBody>
          <a:bodyPr lIns="92241" tIns="45411" rIns="92241" bIns="45411" anchor="t"/>
          <a:lstStyle/>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body" idx="1"/>
          </p:nvPr>
        </p:nvSpPr>
        <p:spPr>
          <a:xfrm>
            <a:off x="515938" y="4341813"/>
            <a:ext cx="5910262" cy="4116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5" tIns="44444" rIns="90475" bIns="44444" anchor="t"/>
          <a:lstStyle/>
          <a:p>
            <a:pPr defTabSz="457200">
              <a:spcBef>
                <a:spcPct val="0"/>
              </a:spcBef>
            </a:pPr>
            <a:endParaRPr lang="en-US" altLang="zh-CN"/>
          </a:p>
        </p:txBody>
      </p:sp>
      <p:sp>
        <p:nvSpPr>
          <p:cNvPr id="72707" name="Rectangle 3"/>
          <p:cNvSpPr>
            <a:spLocks noGrp="1" noRot="1" noChangeAspect="1" noChangeArrowheads="1" noTextEdit="1"/>
          </p:cNvSpPr>
          <p:nvPr>
            <p:ph type="sldImg"/>
          </p:nvPr>
        </p:nvSpPr>
        <p:spPr>
          <a:xfrm>
            <a:off x="400050" y="587375"/>
            <a:ext cx="6070600" cy="3416300"/>
          </a:xfrm>
          <a:ln>
            <a:solidFill>
              <a:srgbClr val="000000"/>
            </a:solidFill>
            <a:miter lim="800000"/>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altLang="zh-CN"/>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zh-CN"/>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pPr>
              <a:defRPr/>
            </a:pPr>
            <a:fld id="{D5144BBB-56E2-4AF1-B10E-2D4A62A6C89A}" type="datetime1">
              <a:rPr lang="zh-CN" altLang="en-US" smtClean="0"/>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r>
              <a:rPr lang="en-US" altLang="zh-CN"/>
              <a:t>Lecture 1</a:t>
            </a:r>
            <a:endParaRPr lang="en-US" altLang="zh-CN"/>
          </a:p>
        </p:txBody>
      </p:sp>
      <p:sp>
        <p:nvSpPr>
          <p:cNvPr id="27" name="Slide Number Placeholder 26"/>
          <p:cNvSpPr>
            <a:spLocks noGrp="1"/>
          </p:cNvSpPr>
          <p:nvPr>
            <p:ph type="sldNum" sz="quarter" idx="12"/>
          </p:nvPr>
        </p:nvSpPr>
        <p:spPr/>
        <p:txBody>
          <a:bodyPr/>
          <a:lstStyle>
            <a:lvl1pPr>
              <a:defRPr>
                <a:solidFill>
                  <a:srgbClr val="FFFFFF"/>
                </a:solidFill>
              </a:defRPr>
            </a:lvl1pPr>
          </a:lstStyle>
          <a:p>
            <a:pPr>
              <a:defRPr/>
            </a:pPr>
            <a:fld id="{7C93F2F6-B200-4836-9340-136DE798787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10961803-7A7E-4667-844E-E198458CDC13}"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
        <p:nvSpPr>
          <p:cNvPr id="7" name="Title 6"/>
          <p:cNvSpPr>
            <a:spLocks noGrp="1"/>
          </p:cNvSpPr>
          <p:nvPr>
            <p:ph type="title"/>
          </p:nvPr>
        </p:nvSpPr>
        <p:spPr/>
        <p:txBody>
          <a:bodyPr rtlCol="0"/>
          <a:lstStyle/>
          <a:p>
            <a:r>
              <a:rPr kumimoji="0" lang="en-US" altLang="zh-CN"/>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zh-CN"/>
              <a:t>Click to edit Master text styles</a:t>
            </a:r>
            <a:endParaRPr kumimoji="0" lang="en-US" altLang="zh-CN"/>
          </a:p>
        </p:txBody>
      </p:sp>
      <p:sp>
        <p:nvSpPr>
          <p:cNvPr id="4" name="Date Placeholder 3"/>
          <p:cNvSpPr>
            <a:spLocks noGrp="1"/>
          </p:cNvSpPr>
          <p:nvPr>
            <p:ph type="dt" sz="half" idx="10"/>
          </p:nvPr>
        </p:nvSpPr>
        <p:spPr/>
        <p:txBody>
          <a:bodyPr/>
          <a:lstStyle/>
          <a:p>
            <a:pPr>
              <a:defRPr/>
            </a:pPr>
            <a:fld id="{C01A12B6-39E3-4986-B050-F8A86E109781}"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pPr>
              <a:defRPr/>
            </a:pPr>
            <a:fld id="{ED2BF612-0051-4D55-9F6C-F2303796B1E6}" type="datetime1">
              <a:rPr lang="zh-CN" altLang="en-US" smtClean="0"/>
            </a:fld>
            <a:endParaRPr lang="en-US"/>
          </a:p>
        </p:txBody>
      </p:sp>
      <p:sp>
        <p:nvSpPr>
          <p:cNvPr id="6" name="Footer Placeholder 5"/>
          <p:cNvSpPr>
            <a:spLocks noGrp="1"/>
          </p:cNvSpPr>
          <p:nvPr>
            <p:ph type="ftr" sz="quarter" idx="11"/>
          </p:nvPr>
        </p:nvSpPr>
        <p:spPr/>
        <p:txBody>
          <a:bodyPr/>
          <a:lstStyle/>
          <a:p>
            <a:r>
              <a:rPr lang="en-US" altLang="zh-CN"/>
              <a:t>Lecture 1</a:t>
            </a:r>
            <a:endParaRPr lang="en-US" altLang="zh-CN"/>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fld>
            <a:endParaRPr lang="en-US"/>
          </a:p>
        </p:txBody>
      </p:sp>
      <p:sp>
        <p:nvSpPr>
          <p:cNvPr id="8" name="Title 7"/>
          <p:cNvSpPr>
            <a:spLocks noGrp="1"/>
          </p:cNvSpPr>
          <p:nvPr>
            <p:ph type="title"/>
          </p:nvPr>
        </p:nvSpPr>
        <p:spPr/>
        <p:txBody>
          <a:bodyPr rtlCol="0"/>
          <a:lstStyle/>
          <a:p>
            <a:r>
              <a:rPr kumimoji="0" lang="en-US" altLang="zh-CN"/>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endParaRPr kumimoji="0" lang="en-US" altLang="zh-CN"/>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endParaRPr kumimoji="0" lang="en-US" altLang="zh-CN"/>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7" name="Date Placeholder 6"/>
          <p:cNvSpPr>
            <a:spLocks noGrp="1"/>
          </p:cNvSpPr>
          <p:nvPr>
            <p:ph type="dt" sz="half" idx="10"/>
          </p:nvPr>
        </p:nvSpPr>
        <p:spPr/>
        <p:txBody>
          <a:bodyPr/>
          <a:lstStyle/>
          <a:p>
            <a:pPr>
              <a:defRPr/>
            </a:pPr>
            <a:fld id="{039BE60E-BDF2-4E9D-B90A-A3394300DA6E}" type="datetime1">
              <a:rPr lang="zh-CN" altLang="en-US" smtClean="0"/>
            </a:fld>
            <a:endParaRPr lang="en-US"/>
          </a:p>
        </p:txBody>
      </p:sp>
      <p:sp>
        <p:nvSpPr>
          <p:cNvPr id="8" name="Footer Placeholder 7"/>
          <p:cNvSpPr>
            <a:spLocks noGrp="1"/>
          </p:cNvSpPr>
          <p:nvPr>
            <p:ph type="ftr" sz="quarter" idx="11"/>
          </p:nvPr>
        </p:nvSpPr>
        <p:spPr/>
        <p:txBody>
          <a:bodyPr/>
          <a:lstStyle/>
          <a:p>
            <a:r>
              <a:rPr lang="en-US" altLang="zh-CN"/>
              <a:t>Lecture 1</a:t>
            </a:r>
            <a:endParaRPr lang="en-US" altLang="zh-CN"/>
          </a:p>
        </p:txBody>
      </p:sp>
      <p:sp>
        <p:nvSpPr>
          <p:cNvPr id="9" name="Slide Number Placeholder 8"/>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6236AFE6-A37E-43B7-A089-4536A91DF4B3}" type="datetime1">
              <a:rPr lang="zh-CN" altLang="en-US" smtClean="0"/>
            </a:fld>
            <a:endParaRPr lang="en-US"/>
          </a:p>
        </p:txBody>
      </p:sp>
      <p:sp>
        <p:nvSpPr>
          <p:cNvPr id="4" name="Footer Placeholder 3"/>
          <p:cNvSpPr>
            <a:spLocks noGrp="1"/>
          </p:cNvSpPr>
          <p:nvPr>
            <p:ph type="ftr" sz="quarter" idx="11"/>
          </p:nvPr>
        </p:nvSpPr>
        <p:spPr/>
        <p:txBody>
          <a:bodyPr/>
          <a:lstStyle/>
          <a:p>
            <a:r>
              <a:rPr lang="en-US" altLang="zh-CN"/>
              <a:t>Lecture 1</a:t>
            </a:r>
            <a:endParaRPr lang="en-US" altLang="zh-CN"/>
          </a:p>
        </p:txBody>
      </p:sp>
      <p:sp>
        <p:nvSpPr>
          <p:cNvPr id="5" name="Slide Number Placeholder 4"/>
          <p:cNvSpPr>
            <a:spLocks noGrp="1"/>
          </p:cNvSpPr>
          <p:nvPr>
            <p:ph type="sldNum" sz="quarter" idx="12"/>
          </p:nvPr>
        </p:nvSpPr>
        <p:spPr/>
        <p:txBody>
          <a:bodyPr/>
          <a:lstStyle/>
          <a:p>
            <a:pPr>
              <a:defRPr/>
            </a:pPr>
            <a:fld id="{7C93F2F6-B200-4836-9340-136DE7987878}" type="slidenum">
              <a:rPr lang="en-US" smtClean="0"/>
            </a:fld>
            <a:endParaRPr lang="en-US"/>
          </a:p>
        </p:txBody>
      </p:sp>
      <p:sp>
        <p:nvSpPr>
          <p:cNvPr id="6" name="Title 5"/>
          <p:cNvSpPr>
            <a:spLocks noGrp="1"/>
          </p:cNvSpPr>
          <p:nvPr>
            <p:ph type="title"/>
          </p:nvPr>
        </p:nvSpPr>
        <p:spPr/>
        <p:txBody>
          <a:bodyPr rtlCol="0"/>
          <a:lstStyle/>
          <a:p>
            <a:r>
              <a:rPr kumimoji="0" lang="en-US" altLang="zh-CN"/>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36B37A46-2173-48BE-9181-5B22FB828C92}" type="datetime1">
              <a:rPr lang="zh-CN" altLang="en-US" smtClean="0"/>
            </a:fld>
            <a:endParaRPr lang="en-US"/>
          </a:p>
        </p:txBody>
      </p:sp>
      <p:sp>
        <p:nvSpPr>
          <p:cNvPr id="3" name="Footer Placeholder 2"/>
          <p:cNvSpPr>
            <a:spLocks noGrp="1"/>
          </p:cNvSpPr>
          <p:nvPr>
            <p:ph type="ftr" sz="quarter" idx="11"/>
          </p:nvPr>
        </p:nvSpPr>
        <p:spPr/>
        <p:txBody>
          <a:bodyPr/>
          <a:lstStyle/>
          <a:p>
            <a:r>
              <a:rPr lang="en-US" altLang="zh-CN"/>
              <a:t>Lecture 1</a:t>
            </a:r>
            <a:endParaRPr lang="en-US" altLang="zh-CN"/>
          </a:p>
        </p:txBody>
      </p:sp>
      <p:sp>
        <p:nvSpPr>
          <p:cNvPr id="4" name="Slide Number Placeholder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n-US" altLang="zh-CN"/>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altLang="zh-CN"/>
              <a:t>Click to edit Master text styles</a:t>
            </a:r>
            <a:endParaRPr kumimoji="0" lang="en-US" altLang="zh-CN"/>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pPr>
              <a:defRPr/>
            </a:pPr>
            <a:fld id="{6E7D36A4-CB7C-45C6-9CDE-0BE3E89EFC40}" type="datetime1">
              <a:rPr lang="zh-CN" altLang="en-US" smtClean="0"/>
            </a:fld>
            <a:endParaRPr lang="en-US"/>
          </a:p>
        </p:txBody>
      </p:sp>
      <p:sp>
        <p:nvSpPr>
          <p:cNvPr id="6" name="Footer Placeholder 5"/>
          <p:cNvSpPr>
            <a:spLocks noGrp="1"/>
          </p:cNvSpPr>
          <p:nvPr>
            <p:ph type="ftr" sz="quarter" idx="11"/>
          </p:nvPr>
        </p:nvSpPr>
        <p:spPr/>
        <p:txBody>
          <a:bodyPr/>
          <a:lstStyle/>
          <a:p>
            <a:r>
              <a:rPr lang="en-US" altLang="zh-CN"/>
              <a:t>Lecture 1</a:t>
            </a:r>
            <a:endParaRPr lang="en-US" altLang="zh-CN"/>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altLang="zh-CN"/>
              <a:t>Click to edit Master text styles</a:t>
            </a:r>
            <a:endParaRPr kumimoji="0" lang="en-US" altLang="zh-CN"/>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altLang="zh-CN"/>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lstStyle>
          <a:p>
            <a:pPr>
              <a:defRPr/>
            </a:pPr>
            <a:fld id="{552837A5-C73F-4229-8463-B65CCFAFF86C}" type="datetime1">
              <a:rPr lang="zh-CN" altLang="en-US" smtClean="0"/>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lstStyle>
          <a:p>
            <a:r>
              <a:rPr lang="en-US" altLang="zh-CN"/>
              <a:t>Lecture 1</a:t>
            </a:r>
            <a:endParaRPr lang="en-US" altLang="zh-CN"/>
          </a:p>
        </p:txBody>
      </p:sp>
      <p:sp>
        <p:nvSpPr>
          <p:cNvPr id="7" name="Slide Number Placeholder 6"/>
          <p:cNvSpPr>
            <a:spLocks noGrp="1"/>
          </p:cNvSpPr>
          <p:nvPr>
            <p:ph type="sldNum" sz="quarter" idx="12"/>
          </p:nvPr>
        </p:nvSpPr>
        <p:spPr/>
        <p:txBody>
          <a:bodyPr/>
          <a:lstStyle>
            <a:lvl1pPr>
              <a:defRPr>
                <a:solidFill>
                  <a:schemeClr val="tx1"/>
                </a:solidFill>
              </a:defRPr>
            </a:lvl1pPr>
          </a:lstStyle>
          <a:p>
            <a:pPr>
              <a:defRPr/>
            </a:pPr>
            <a:fld id="{7C93F2F6-B200-4836-9340-136DE7987878}" type="slidenum">
              <a:rPr lang="en-US" smtClean="0"/>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altLang="zh-CN"/>
              <a:t>Click to edit Master title style</a:t>
            </a:r>
            <a:endParaRPr kumimoji="0" lang="en-US"/>
          </a:p>
        </p:txBody>
      </p:sp>
      <p:sp>
        <p:nvSpPr>
          <p:cNvPr id="8" name="Freeform 7"/>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7E257DFE-A432-49CD-871E-404B45B11F00}"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ltLang="zh-CN"/>
              <a:t>Click to edit Master text styles</a:t>
            </a:r>
            <a:endParaRPr lang="en-US" altLang="zh-CN"/>
          </a:p>
          <a:p>
            <a:pPr lvl="1" eaLnBrk="1" latinLnBrk="0" hangingPunct="1"/>
            <a:r>
              <a:rPr lang="en-US" altLang="zh-CN"/>
              <a:t>Second level</a:t>
            </a:r>
            <a:endParaRPr lang="en-US" altLang="zh-CN"/>
          </a:p>
          <a:p>
            <a:pPr lvl="2" eaLnBrk="1" latinLnBrk="0" hangingPunct="1"/>
            <a:r>
              <a:rPr lang="en-US" altLang="zh-CN"/>
              <a:t>Third level</a:t>
            </a:r>
            <a:endParaRPr lang="en-US" altLang="zh-CN"/>
          </a:p>
          <a:p>
            <a:pPr lvl="3" eaLnBrk="1" latinLnBrk="0" hangingPunct="1"/>
            <a:r>
              <a:rPr lang="en-US" altLang="zh-CN"/>
              <a:t>Fourth level</a:t>
            </a:r>
            <a:endParaRPr lang="en-US" altLang="zh-CN"/>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13B169BE-E1BA-4BFA-9C9A-8E39543A7015}"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p:nvPr/>
        </p:nvSpPr>
        <p:spPr bwMode="auto">
          <a:xfrm>
            <a:off x="-8056" y="5791253"/>
            <a:ext cx="4536419" cy="1080868"/>
          </a:xfrm>
          <a:prstGeom prst="rtTriangle">
            <a:avLst/>
          </a:prstGeom>
          <a:blipFill>
            <a:blip r:embed="rId1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ltLang="zh-CN"/>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ltLang="zh-CN"/>
              <a:t>Click to edit Master text styles</a:t>
            </a:r>
            <a:endParaRPr kumimoji="0" lang="en-US" altLang="zh-CN"/>
          </a:p>
          <a:p>
            <a:pPr lvl="1" eaLnBrk="1" latinLnBrk="0" hangingPunct="1"/>
            <a:r>
              <a:rPr kumimoji="0" lang="en-US" altLang="zh-CN"/>
              <a:t>Second level</a:t>
            </a:r>
            <a:endParaRPr kumimoji="0" lang="en-US" altLang="zh-CN"/>
          </a:p>
          <a:p>
            <a:pPr lvl="2" eaLnBrk="1" latinLnBrk="0" hangingPunct="1"/>
            <a:r>
              <a:rPr kumimoji="0" lang="en-US" altLang="zh-CN"/>
              <a:t>Third level</a:t>
            </a:r>
            <a:endParaRPr kumimoji="0" lang="en-US" altLang="zh-CN"/>
          </a:p>
          <a:p>
            <a:pPr lvl="3" eaLnBrk="1" latinLnBrk="0" hangingPunct="1"/>
            <a:r>
              <a:rPr kumimoji="0" lang="en-US" altLang="zh-CN"/>
              <a:t>Fourth level</a:t>
            </a:r>
            <a:endParaRPr kumimoji="0" lang="en-US" altLang="zh-CN"/>
          </a:p>
          <a:p>
            <a:pPr lvl="4" eaLnBrk="1" latinLnBrk="0" hangingPunct="1"/>
            <a:r>
              <a:rPr kumimoji="0" lang="en-US" altLang="zh-CN"/>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lstStyle>
          <a:p>
            <a:pPr>
              <a:defRPr/>
            </a:pPr>
            <a:fld id="{49411AD4-B12E-4880-B91B-94BB86DBD4C3}" type="datetime1">
              <a:rPr lang="zh-CN" altLang="en-US" smtClean="0"/>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lstStyle>
          <a:p>
            <a:r>
              <a:rPr lang="en-US" altLang="zh-CN"/>
              <a:t>Lecture 1</a:t>
            </a:r>
            <a:endParaRPr lang="en-US" altLang="zh-CN"/>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lstStyle>
          <a:p>
            <a:pPr>
              <a:defRPr/>
            </a:pPr>
            <a:fld id="{7C93F2F6-B200-4836-9340-136DE79878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png"/><Relationship Id="rId3" Type="http://schemas.openxmlformats.org/officeDocument/2006/relationships/image" Target="../media/image8.wmf"/><Relationship Id="rId2" Type="http://schemas.openxmlformats.org/officeDocument/2006/relationships/image" Target="../media/image7.png"/><Relationship Id="rId10" Type="http://schemas.openxmlformats.org/officeDocument/2006/relationships/notesSlide" Target="../notesSlides/notesSlide1.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jpeg"/><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image" Target="../media/image19.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hyperlink" Target="http://www.turingarchive.org/browse.php/B/12"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oleObject" Target="../embeddings/oleObject1.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2209800" y="1752602"/>
            <a:ext cx="8062664" cy="1829761"/>
          </a:xfrm>
        </p:spPr>
        <p:txBody>
          <a:bodyPr/>
          <a:lstStyle/>
          <a:p>
            <a:r>
              <a:rPr lang="zh-CN" altLang="en-US" dirty="0"/>
              <a:t>计算机系统 </a:t>
            </a:r>
            <a:r>
              <a:rPr lang="en-US" altLang="zh-CN" dirty="0"/>
              <a:t>I </a:t>
            </a:r>
            <a:endParaRPr lang="zh-CN" altLang="en-US" dirty="0"/>
          </a:p>
        </p:txBody>
      </p:sp>
      <p:sp>
        <p:nvSpPr>
          <p:cNvPr id="8" name="Subtitle 7"/>
          <p:cNvSpPr>
            <a:spLocks noGrp="1"/>
          </p:cNvSpPr>
          <p:nvPr>
            <p:ph type="subTitle" idx="1"/>
          </p:nvPr>
        </p:nvSpPr>
        <p:spPr/>
        <p:txBody>
          <a:bodyPr/>
          <a:lstStyle/>
          <a:p>
            <a:r>
              <a:rPr lang="zh-CN" altLang="en-US" dirty="0"/>
              <a:t>第一章：简介</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课程基本信息</a:t>
            </a:r>
            <a:endParaRPr lang="en-US" altLang="zh-CN" dirty="0"/>
          </a:p>
          <a:p>
            <a:endParaRPr lang="en-US" altLang="zh-CN" dirty="0"/>
          </a:p>
          <a:p>
            <a:r>
              <a:rPr lang="zh-CN" altLang="en-US" dirty="0"/>
              <a:t>课程目标、为什么学习此课程及我们的安排</a:t>
            </a:r>
            <a:endParaRPr lang="en-US" altLang="zh-CN" dirty="0"/>
          </a:p>
          <a:p>
            <a:endParaRPr lang="en-US" altLang="zh-CN" dirty="0"/>
          </a:p>
          <a:p>
            <a:r>
              <a:rPr lang="zh-CN" altLang="en-US" dirty="0"/>
              <a:t>计算机系统简述</a:t>
            </a:r>
            <a:endParaRPr lang="en-US" altLang="zh-CN" dirty="0"/>
          </a:p>
          <a:p>
            <a:endParaRPr lang="en-US" altLang="zh-CN" dirty="0"/>
          </a:p>
          <a:p>
            <a:r>
              <a:rPr lang="zh-CN" altLang="en-US" dirty="0"/>
              <a:t>计算机如何求解问题：问题描述至电路执行</a:t>
            </a:r>
            <a:endParaRPr lang="en-US" altLang="zh-CN" dirty="0"/>
          </a:p>
          <a:p>
            <a:endParaRPr lang="en-US" altLang="zh-CN" dirty="0"/>
          </a:p>
          <a:p>
            <a:r>
              <a:rPr lang="zh-CN" altLang="en-US" dirty="0"/>
              <a:t>两个重要的思想</a:t>
            </a:r>
            <a:endParaRPr lang="en-US" altLang="zh-CN" dirty="0"/>
          </a:p>
        </p:txBody>
      </p:sp>
      <p:sp>
        <p:nvSpPr>
          <p:cNvPr id="6" name="Title 5"/>
          <p:cNvSpPr>
            <a:spLocks noGrp="1"/>
          </p:cNvSpPr>
          <p:nvPr>
            <p:ph type="title"/>
          </p:nvPr>
        </p:nvSpPr>
        <p:spPr/>
        <p:txBody>
          <a:bodyPr/>
          <a:lstStyle/>
          <a:p>
            <a:r>
              <a:rPr lang="zh-CN" altLang="en-US" dirty="0"/>
              <a:t>大纲</a:t>
            </a:r>
            <a:endParaRPr lang="zh-CN" altLang="en-US" dirty="0"/>
          </a:p>
        </p:txBody>
      </p:sp>
      <p:sp>
        <p:nvSpPr>
          <p:cNvPr id="3" name="灯片编号占位符 2"/>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495600" y="2392288"/>
            <a:ext cx="7772400" cy="1108720"/>
          </a:xfrm>
        </p:spPr>
        <p:txBody>
          <a:bodyPr/>
          <a:lstStyle/>
          <a:p>
            <a:r>
              <a:rPr lang="zh-CN" altLang="en-US" dirty="0"/>
              <a:t>什么是计算机</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91544" y="1700808"/>
            <a:ext cx="8229600" cy="1872208"/>
          </a:xfrm>
        </p:spPr>
        <p:txBody>
          <a:bodyPr>
            <a:normAutofit fontScale="90000"/>
          </a:bodyPr>
          <a:lstStyle/>
          <a:p>
            <a:r>
              <a:rPr lang="zh-CN" altLang="en-US" dirty="0"/>
              <a:t>更严谨的定义：</a:t>
            </a:r>
            <a:br>
              <a:rPr lang="en-US" altLang="zh-CN" dirty="0"/>
            </a:br>
            <a:r>
              <a:rPr lang="en-US" altLang="zh-CN" dirty="0"/>
              <a:t>      </a:t>
            </a:r>
            <a:br>
              <a:rPr lang="en-US" altLang="zh-CN" dirty="0"/>
            </a:br>
            <a:r>
              <a:rPr lang="zh-CN" altLang="en-US" dirty="0"/>
              <a:t>           </a:t>
            </a:r>
            <a:r>
              <a:rPr lang="zh-CN" altLang="en-US" dirty="0">
                <a:solidFill>
                  <a:srgbClr val="33CC33"/>
                </a:solidFill>
              </a:rPr>
              <a:t>数字</a:t>
            </a:r>
            <a:r>
              <a:rPr lang="zh-CN" altLang="en-US" dirty="0">
                <a:solidFill>
                  <a:srgbClr val="FF0000"/>
                </a:solidFill>
              </a:rPr>
              <a:t>电子</a:t>
            </a:r>
            <a:r>
              <a:rPr lang="zh-CN" altLang="en-US" dirty="0">
                <a:solidFill>
                  <a:srgbClr val="0066FF"/>
                </a:solidFill>
              </a:rPr>
              <a:t>通用</a:t>
            </a:r>
            <a:r>
              <a:rPr lang="zh-CN" altLang="en-US" dirty="0"/>
              <a:t>计算机</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2" descr="http://queenslandcomputers.com.au/wp-content/uploads/2013/12/computer.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33328" y="1522834"/>
            <a:ext cx="5715000" cy="3562351"/>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2" descr="Untitled.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31890" y="816331"/>
            <a:ext cx="3924350" cy="213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7" descr="Untitled.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9608" y="3314067"/>
            <a:ext cx="1683555" cy="2669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14" name="Picture 2" descr="http://cdn2.knowyourmobile.com/sites/knowyourmobilecom/files/styles/gallery_wide/public/4/53/iphone5_ios7.jpg?itok=K4kV7sq-"/>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79576" y="3483548"/>
            <a:ext cx="3528392" cy="2330991"/>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5" name="Picture 1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159897" y="1633700"/>
            <a:ext cx="1728787"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8" name="Picture 4" descr="sim_moke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45289" y="4076701"/>
            <a:ext cx="3743325" cy="219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81"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43251" y="4149726"/>
            <a:ext cx="3313113" cy="231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9892" name="Group 20"/>
          <p:cNvGrpSpPr/>
          <p:nvPr/>
        </p:nvGrpSpPr>
        <p:grpSpPr bwMode="auto">
          <a:xfrm>
            <a:off x="8040688" y="2060576"/>
            <a:ext cx="2627312" cy="1655763"/>
            <a:chOff x="4241" y="1298"/>
            <a:chExt cx="1452" cy="879"/>
          </a:xfrm>
        </p:grpSpPr>
        <p:pic>
          <p:nvPicPr>
            <p:cNvPr id="79893" name="Picture 31" descr="Untitled.pn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1" y="1298"/>
              <a:ext cx="1452" cy="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94" name="Text Box 21"/>
            <p:cNvSpPr txBox="1">
              <a:spLocks noChangeArrowheads="1"/>
            </p:cNvSpPr>
            <p:nvPr/>
          </p:nvSpPr>
          <p:spPr bwMode="auto">
            <a:xfrm>
              <a:off x="4519" y="1906"/>
              <a:ext cx="907"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165" tIns="45583" rIns="91165" bIns="45583" anchor="ctr">
              <a:spAutoFit/>
            </a:bodyPr>
            <a:lstStyle>
              <a:lvl1pPr defTabSz="821055" eaLnBrk="0" hangingPunct="0">
                <a:defRPr baseline="-25000">
                  <a:solidFill>
                    <a:schemeClr val="tx1"/>
                  </a:solidFill>
                  <a:latin typeface="Arial" panose="020B0604020202020204" pitchFamily="34" charset="0"/>
                  <a:ea typeface="宋体" panose="02010600030101010101" pitchFamily="2" charset="-122"/>
                </a:defRPr>
              </a:lvl1pPr>
              <a:lvl2pPr marL="742950" indent="-285750" defTabSz="821055" eaLnBrk="0" hangingPunct="0">
                <a:defRPr baseline="-25000">
                  <a:solidFill>
                    <a:schemeClr val="tx1"/>
                  </a:solidFill>
                  <a:latin typeface="Arial" panose="020B0604020202020204" pitchFamily="34" charset="0"/>
                  <a:ea typeface="宋体" panose="02010600030101010101" pitchFamily="2" charset="-122"/>
                </a:defRPr>
              </a:lvl2pPr>
              <a:lvl3pPr marL="1143000" indent="-228600" defTabSz="821055" eaLnBrk="0" hangingPunct="0">
                <a:defRPr baseline="-25000">
                  <a:solidFill>
                    <a:schemeClr val="tx1"/>
                  </a:solidFill>
                  <a:latin typeface="Arial" panose="020B0604020202020204" pitchFamily="34" charset="0"/>
                  <a:ea typeface="宋体" panose="02010600030101010101" pitchFamily="2" charset="-122"/>
                </a:defRPr>
              </a:lvl3pPr>
              <a:lvl4pPr marL="1600200" indent="-228600" defTabSz="821055" eaLnBrk="0" hangingPunct="0">
                <a:defRPr baseline="-25000">
                  <a:solidFill>
                    <a:schemeClr val="tx1"/>
                  </a:solidFill>
                  <a:latin typeface="Arial" panose="020B0604020202020204" pitchFamily="34" charset="0"/>
                  <a:ea typeface="宋体" panose="02010600030101010101" pitchFamily="2" charset="-122"/>
                </a:defRPr>
              </a:lvl4pPr>
              <a:lvl5pPr marL="2057400" indent="-228600" defTabSz="821055" eaLnBrk="0" hangingPunct="0">
                <a:defRPr baseline="-25000">
                  <a:solidFill>
                    <a:schemeClr val="tx1"/>
                  </a:solidFill>
                  <a:latin typeface="Arial" panose="020B0604020202020204" pitchFamily="34" charset="0"/>
                  <a:ea typeface="宋体" panose="02010600030101010101" pitchFamily="2" charset="-122"/>
                </a:defRPr>
              </a:lvl5pPr>
              <a:lvl6pPr marL="25146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lnSpc>
                  <a:spcPct val="90000"/>
                </a:lnSpc>
                <a:spcBef>
                  <a:spcPct val="50000"/>
                </a:spcBef>
                <a:buClr>
                  <a:schemeClr val="tx1"/>
                </a:buClr>
                <a:buFont typeface="Wingdings" panose="05000000000000000000" pitchFamily="2" charset="2"/>
                <a:buNone/>
              </a:pPr>
              <a:r>
                <a:rPr lang="zh-CN" altLang="en-US" sz="2000" b="1" baseline="0" dirty="0">
                  <a:solidFill>
                    <a:schemeClr val="bg1"/>
                  </a:solidFill>
                </a:rPr>
                <a:t>服务器</a:t>
              </a:r>
              <a:endParaRPr lang="en-US" altLang="zh-CN" sz="2000" b="1" baseline="0" dirty="0">
                <a:solidFill>
                  <a:schemeClr val="bg1"/>
                </a:solidFill>
              </a:endParaRPr>
            </a:p>
          </p:txBody>
        </p:sp>
      </p:grpSp>
      <p:pic>
        <p:nvPicPr>
          <p:cNvPr id="79899"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00188" y="3219334"/>
            <a:ext cx="1871663"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9901" name="Group 29"/>
          <p:cNvGrpSpPr/>
          <p:nvPr/>
        </p:nvGrpSpPr>
        <p:grpSpPr bwMode="auto">
          <a:xfrm>
            <a:off x="8015038" y="505474"/>
            <a:ext cx="2089150" cy="1152525"/>
            <a:chOff x="3560" y="1480"/>
            <a:chExt cx="897" cy="400"/>
          </a:xfrm>
        </p:grpSpPr>
        <p:pic>
          <p:nvPicPr>
            <p:cNvPr id="79902" name="Picture 33" descr="Untitled.png"/>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0" y="1480"/>
              <a:ext cx="897"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903" name="Text Box 25"/>
            <p:cNvSpPr txBox="1">
              <a:spLocks noChangeArrowheads="1"/>
            </p:cNvSpPr>
            <p:nvPr/>
          </p:nvSpPr>
          <p:spPr bwMode="auto">
            <a:xfrm>
              <a:off x="3560" y="1753"/>
              <a:ext cx="86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165" tIns="45583" rIns="91165" bIns="45583" anchor="ctr">
              <a:spAutoFit/>
            </a:bodyPr>
            <a:lstStyle>
              <a:lvl1pPr defTabSz="821055" eaLnBrk="0" hangingPunct="0">
                <a:defRPr baseline="-25000">
                  <a:solidFill>
                    <a:schemeClr val="tx1"/>
                  </a:solidFill>
                  <a:latin typeface="Arial" panose="020B0604020202020204" pitchFamily="34" charset="0"/>
                  <a:ea typeface="宋体" panose="02010600030101010101" pitchFamily="2" charset="-122"/>
                </a:defRPr>
              </a:lvl1pPr>
              <a:lvl2pPr marL="742950" indent="-285750" defTabSz="821055" eaLnBrk="0" hangingPunct="0">
                <a:defRPr baseline="-25000">
                  <a:solidFill>
                    <a:schemeClr val="tx1"/>
                  </a:solidFill>
                  <a:latin typeface="Arial" panose="020B0604020202020204" pitchFamily="34" charset="0"/>
                  <a:ea typeface="宋体" panose="02010600030101010101" pitchFamily="2" charset="-122"/>
                </a:defRPr>
              </a:lvl2pPr>
              <a:lvl3pPr marL="1143000" indent="-228600" defTabSz="821055" eaLnBrk="0" hangingPunct="0">
                <a:defRPr baseline="-25000">
                  <a:solidFill>
                    <a:schemeClr val="tx1"/>
                  </a:solidFill>
                  <a:latin typeface="Arial" panose="020B0604020202020204" pitchFamily="34" charset="0"/>
                  <a:ea typeface="宋体" panose="02010600030101010101" pitchFamily="2" charset="-122"/>
                </a:defRPr>
              </a:lvl3pPr>
              <a:lvl4pPr marL="1600200" indent="-228600" defTabSz="821055" eaLnBrk="0" hangingPunct="0">
                <a:defRPr baseline="-25000">
                  <a:solidFill>
                    <a:schemeClr val="tx1"/>
                  </a:solidFill>
                  <a:latin typeface="Arial" panose="020B0604020202020204" pitchFamily="34" charset="0"/>
                  <a:ea typeface="宋体" panose="02010600030101010101" pitchFamily="2" charset="-122"/>
                </a:defRPr>
              </a:lvl4pPr>
              <a:lvl5pPr marL="2057400" indent="-228600" defTabSz="821055" eaLnBrk="0" hangingPunct="0">
                <a:defRPr baseline="-25000">
                  <a:solidFill>
                    <a:schemeClr val="tx1"/>
                  </a:solidFill>
                  <a:latin typeface="Arial" panose="020B0604020202020204" pitchFamily="34" charset="0"/>
                  <a:ea typeface="宋体" panose="02010600030101010101" pitchFamily="2" charset="-122"/>
                </a:defRPr>
              </a:lvl5pPr>
              <a:lvl6pPr marL="25146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lnSpc>
                  <a:spcPct val="90000"/>
                </a:lnSpc>
                <a:spcBef>
                  <a:spcPct val="50000"/>
                </a:spcBef>
                <a:buClr>
                  <a:schemeClr val="tx1"/>
                </a:buClr>
                <a:buFont typeface="Wingdings" panose="05000000000000000000" pitchFamily="2" charset="2"/>
                <a:buNone/>
              </a:pPr>
              <a:r>
                <a:rPr lang="zh-CN" altLang="en-US" sz="2000" b="1" baseline="0" dirty="0">
                  <a:solidFill>
                    <a:schemeClr val="bg1"/>
                  </a:solidFill>
                </a:rPr>
                <a:t>路由器</a:t>
              </a:r>
              <a:endParaRPr lang="en-US" altLang="zh-CN" sz="2000" b="1" baseline="0" dirty="0">
                <a:solidFill>
                  <a:schemeClr val="bg1"/>
                </a:solidFill>
              </a:endParaRPr>
            </a:p>
          </p:txBody>
        </p:sp>
      </p:grpSp>
      <p:pic>
        <p:nvPicPr>
          <p:cNvPr id="79905" name="Picture 29" descr="Untitled.png"/>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65746" y="251468"/>
            <a:ext cx="1120775"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907" name="Picture 30" descr="Untitled.png"/>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11624" y="1005681"/>
            <a:ext cx="1176338" cy="174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Box 25"/>
          <p:cNvSpPr txBox="1">
            <a:spLocks noChangeArrowheads="1"/>
          </p:cNvSpPr>
          <p:nvPr/>
        </p:nvSpPr>
        <p:spPr bwMode="auto">
          <a:xfrm>
            <a:off x="1364216" y="3596366"/>
            <a:ext cx="2007634" cy="365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165" tIns="45583" rIns="91165" bIns="45583" anchor="ctr">
            <a:spAutoFit/>
          </a:bodyPr>
          <a:lstStyle>
            <a:lvl1pPr defTabSz="821055" eaLnBrk="0" hangingPunct="0">
              <a:defRPr baseline="-25000">
                <a:solidFill>
                  <a:schemeClr val="tx1"/>
                </a:solidFill>
                <a:latin typeface="Arial" panose="020B0604020202020204" pitchFamily="34" charset="0"/>
                <a:ea typeface="宋体" panose="02010600030101010101" pitchFamily="2" charset="-122"/>
              </a:defRPr>
            </a:lvl1pPr>
            <a:lvl2pPr marL="742950" indent="-285750" defTabSz="821055" eaLnBrk="0" hangingPunct="0">
              <a:defRPr baseline="-25000">
                <a:solidFill>
                  <a:schemeClr val="tx1"/>
                </a:solidFill>
                <a:latin typeface="Arial" panose="020B0604020202020204" pitchFamily="34" charset="0"/>
                <a:ea typeface="宋体" panose="02010600030101010101" pitchFamily="2" charset="-122"/>
              </a:defRPr>
            </a:lvl2pPr>
            <a:lvl3pPr marL="1143000" indent="-228600" defTabSz="821055" eaLnBrk="0" hangingPunct="0">
              <a:defRPr baseline="-25000">
                <a:solidFill>
                  <a:schemeClr val="tx1"/>
                </a:solidFill>
                <a:latin typeface="Arial" panose="020B0604020202020204" pitchFamily="34" charset="0"/>
                <a:ea typeface="宋体" panose="02010600030101010101" pitchFamily="2" charset="-122"/>
              </a:defRPr>
            </a:lvl3pPr>
            <a:lvl4pPr marL="1600200" indent="-228600" defTabSz="821055" eaLnBrk="0" hangingPunct="0">
              <a:defRPr baseline="-25000">
                <a:solidFill>
                  <a:schemeClr val="tx1"/>
                </a:solidFill>
                <a:latin typeface="Arial" panose="020B0604020202020204" pitchFamily="34" charset="0"/>
                <a:ea typeface="宋体" panose="02010600030101010101" pitchFamily="2" charset="-122"/>
              </a:defRPr>
            </a:lvl4pPr>
            <a:lvl5pPr marL="2057400" indent="-228600" defTabSz="821055" eaLnBrk="0" hangingPunct="0">
              <a:defRPr baseline="-25000">
                <a:solidFill>
                  <a:schemeClr val="tx1"/>
                </a:solidFill>
                <a:latin typeface="Arial" panose="020B0604020202020204" pitchFamily="34" charset="0"/>
                <a:ea typeface="宋体" panose="02010600030101010101" pitchFamily="2" charset="-122"/>
              </a:defRPr>
            </a:lvl5pPr>
            <a:lvl6pPr marL="25146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lnSpc>
                <a:spcPct val="90000"/>
              </a:lnSpc>
              <a:spcBef>
                <a:spcPct val="50000"/>
              </a:spcBef>
              <a:buClr>
                <a:schemeClr val="tx1"/>
              </a:buClr>
              <a:buFont typeface="Wingdings" panose="05000000000000000000" pitchFamily="2" charset="2"/>
              <a:buNone/>
            </a:pPr>
            <a:r>
              <a:rPr lang="zh-CN" altLang="en-US" sz="2000" b="1" baseline="0" dirty="0">
                <a:solidFill>
                  <a:schemeClr val="bg1"/>
                </a:solidFill>
              </a:rPr>
              <a:t>传感器</a:t>
            </a:r>
            <a:endParaRPr lang="en-US" altLang="zh-CN" sz="2000" b="1" baseline="0" dirty="0">
              <a:solidFill>
                <a:schemeClr val="bg1"/>
              </a:solidFill>
            </a:endParaRPr>
          </a:p>
        </p:txBody>
      </p:sp>
      <p:sp>
        <p:nvSpPr>
          <p:cNvPr id="41" name="Text Box 21"/>
          <p:cNvSpPr txBox="1">
            <a:spLocks noChangeArrowheads="1"/>
          </p:cNvSpPr>
          <p:nvPr/>
        </p:nvSpPr>
        <p:spPr bwMode="auto">
          <a:xfrm>
            <a:off x="7796368" y="5653970"/>
            <a:ext cx="1641165" cy="367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1165" tIns="45583" rIns="91165" bIns="45583" anchor="ctr">
            <a:spAutoFit/>
          </a:bodyPr>
          <a:lstStyle>
            <a:lvl1pPr defTabSz="821055" eaLnBrk="0" hangingPunct="0">
              <a:defRPr baseline="-25000">
                <a:solidFill>
                  <a:schemeClr val="tx1"/>
                </a:solidFill>
                <a:latin typeface="Arial" panose="020B0604020202020204" pitchFamily="34" charset="0"/>
                <a:ea typeface="宋体" panose="02010600030101010101" pitchFamily="2" charset="-122"/>
              </a:defRPr>
            </a:lvl1pPr>
            <a:lvl2pPr marL="742950" indent="-285750" defTabSz="821055" eaLnBrk="0" hangingPunct="0">
              <a:defRPr baseline="-25000">
                <a:solidFill>
                  <a:schemeClr val="tx1"/>
                </a:solidFill>
                <a:latin typeface="Arial" panose="020B0604020202020204" pitchFamily="34" charset="0"/>
                <a:ea typeface="宋体" panose="02010600030101010101" pitchFamily="2" charset="-122"/>
              </a:defRPr>
            </a:lvl2pPr>
            <a:lvl3pPr marL="1143000" indent="-228600" defTabSz="821055" eaLnBrk="0" hangingPunct="0">
              <a:defRPr baseline="-25000">
                <a:solidFill>
                  <a:schemeClr val="tx1"/>
                </a:solidFill>
                <a:latin typeface="Arial" panose="020B0604020202020204" pitchFamily="34" charset="0"/>
                <a:ea typeface="宋体" panose="02010600030101010101" pitchFamily="2" charset="-122"/>
              </a:defRPr>
            </a:lvl3pPr>
            <a:lvl4pPr marL="1600200" indent="-228600" defTabSz="821055" eaLnBrk="0" hangingPunct="0">
              <a:defRPr baseline="-25000">
                <a:solidFill>
                  <a:schemeClr val="tx1"/>
                </a:solidFill>
                <a:latin typeface="Arial" panose="020B0604020202020204" pitchFamily="34" charset="0"/>
                <a:ea typeface="宋体" panose="02010600030101010101" pitchFamily="2" charset="-122"/>
              </a:defRPr>
            </a:lvl4pPr>
            <a:lvl5pPr marL="2057400" indent="-228600" defTabSz="821055" eaLnBrk="0" hangingPunct="0">
              <a:defRPr baseline="-25000">
                <a:solidFill>
                  <a:schemeClr val="tx1"/>
                </a:solidFill>
                <a:latin typeface="Arial" panose="020B0604020202020204" pitchFamily="34" charset="0"/>
                <a:ea typeface="宋体" panose="02010600030101010101" pitchFamily="2" charset="-122"/>
              </a:defRPr>
            </a:lvl5pPr>
            <a:lvl6pPr marL="25146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defTabSz="821055"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lnSpc>
                <a:spcPct val="90000"/>
              </a:lnSpc>
              <a:spcBef>
                <a:spcPct val="50000"/>
              </a:spcBef>
              <a:buClr>
                <a:schemeClr val="tx1"/>
              </a:buClr>
              <a:buFont typeface="Wingdings" panose="05000000000000000000" pitchFamily="2" charset="2"/>
              <a:buNone/>
            </a:pPr>
            <a:r>
              <a:rPr lang="zh-CN" altLang="en-US" sz="2000" b="1" baseline="0" dirty="0">
                <a:solidFill>
                  <a:schemeClr val="bg1"/>
                </a:solidFill>
              </a:rPr>
              <a:t>超级计算机</a:t>
            </a:r>
            <a:endParaRPr lang="en-US" altLang="zh-CN" sz="2000" b="1" baseline="0" dirty="0">
              <a:solidFill>
                <a:schemeClr val="bg1"/>
              </a:solidFill>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9554598" y="1772816"/>
            <a:ext cx="720080" cy="3816424"/>
          </a:xfrm>
        </p:spPr>
        <p:txBody>
          <a:bodyPr>
            <a:normAutofit/>
          </a:bodyPr>
          <a:lstStyle/>
          <a:p>
            <a:pPr marL="109855" indent="0">
              <a:buNone/>
            </a:pPr>
            <a:r>
              <a:rPr lang="zh-CN" altLang="en-US" dirty="0"/>
              <a:t>数据中心</a:t>
            </a:r>
            <a:endParaRPr lang="en-US" altLang="zh-CN" dirty="0"/>
          </a:p>
          <a:p>
            <a:pPr marL="109855" indent="0">
              <a:buNone/>
            </a:pPr>
            <a:endParaRPr lang="en-US" altLang="zh-CN" dirty="0"/>
          </a:p>
          <a:p>
            <a:pPr marL="109855" indent="0">
              <a:buNone/>
            </a:pPr>
            <a:r>
              <a:rPr lang="zh-CN" altLang="en-US" dirty="0"/>
              <a:t>云计算</a:t>
            </a:r>
            <a:endParaRPr lang="zh-CN" altLang="en-US" dirty="0"/>
          </a:p>
        </p:txBody>
      </p:sp>
      <p:sp>
        <p:nvSpPr>
          <p:cNvPr id="4" name="Title 3"/>
          <p:cNvSpPr>
            <a:spLocks noGrp="1"/>
          </p:cNvSpPr>
          <p:nvPr>
            <p:ph type="title"/>
          </p:nvPr>
        </p:nvSpPr>
        <p:spPr/>
        <p:txBody>
          <a:bodyPr/>
          <a:lstStyle/>
          <a:p>
            <a:r>
              <a:rPr lang="zh-CN" altLang="en-US" dirty="0"/>
              <a:t>仓储型计算机</a:t>
            </a:r>
            <a:endParaRPr lang="zh-CN" altLang="en-US" dirty="0"/>
          </a:p>
        </p:txBody>
      </p:sp>
      <p:pic>
        <p:nvPicPr>
          <p:cNvPr id="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91544" y="1340768"/>
            <a:ext cx="7563115"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991544" y="2132856"/>
            <a:ext cx="8229600" cy="1143000"/>
          </a:xfrm>
        </p:spPr>
        <p:txBody>
          <a:bodyPr>
            <a:normAutofit fontScale="90000"/>
          </a:bodyPr>
          <a:lstStyle/>
          <a:p>
            <a:r>
              <a:rPr lang="zh-CN" altLang="en-US" dirty="0"/>
              <a:t>计算无处不在。。。</a:t>
            </a:r>
            <a:br>
              <a:rPr lang="en-US" altLang="zh-CN" dirty="0"/>
            </a:br>
            <a:r>
              <a:rPr lang="en-US" altLang="zh-CN" dirty="0"/>
              <a:t>Computers are everywhere……</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pPr eaLnBrk="1" hangingPunct="1"/>
            <a:r>
              <a:rPr lang="zh-CN" altLang="en-US" dirty="0"/>
              <a:t>我们的时代：信息技术时代</a:t>
            </a:r>
            <a:endParaRPr lang="zh-CN" altLang="en-US" dirty="0"/>
          </a:p>
        </p:txBody>
      </p:sp>
      <p:sp>
        <p:nvSpPr>
          <p:cNvPr id="3" name="内容占位符 2"/>
          <p:cNvSpPr>
            <a:spLocks noGrp="1"/>
          </p:cNvSpPr>
          <p:nvPr>
            <p:ph idx="1"/>
          </p:nvPr>
        </p:nvSpPr>
        <p:spPr>
          <a:xfrm>
            <a:off x="1981200" y="1268760"/>
            <a:ext cx="8229600" cy="5184576"/>
          </a:xfrm>
        </p:spPr>
        <p:txBody>
          <a:bodyPr>
            <a:normAutofit fontScale="25000" lnSpcReduction="20000"/>
          </a:bodyPr>
          <a:lstStyle/>
          <a:p>
            <a:pPr marL="539750" lvl="1" indent="-539750">
              <a:spcBef>
                <a:spcPct val="50000"/>
              </a:spcBef>
              <a:spcAft>
                <a:spcPct val="50000"/>
              </a:spcAft>
              <a:buFont typeface="Wingdings" panose="05000000000000000000" pitchFamily="2" charset="2"/>
              <a:buChar char="Ø"/>
              <a:defRPr/>
            </a:pPr>
            <a:r>
              <a:rPr lang="zh-CN" altLang="en-US" sz="9600" b="1" dirty="0">
                <a:latin typeface="+mn-ea"/>
              </a:rPr>
              <a:t>信息技术时代重要标志：</a:t>
            </a:r>
            <a:endParaRPr lang="en-US" altLang="zh-CN" sz="9600" b="1" dirty="0">
              <a:latin typeface="+mn-ea"/>
            </a:endParaRPr>
          </a:p>
          <a:p>
            <a:pPr eaLnBrk="1" hangingPunct="1">
              <a:buFont typeface="Wingdings" panose="05000000000000000000" pitchFamily="2" charset="2"/>
              <a:buNone/>
              <a:defRPr/>
            </a:pPr>
            <a:r>
              <a:rPr lang="zh-CN" altLang="en-US" sz="9600" dirty="0">
                <a:latin typeface="+mn-ea"/>
              </a:rPr>
              <a:t>      数字电子通用计算机的发明与应用。 </a:t>
            </a:r>
            <a:endParaRPr lang="en-US" altLang="zh-CN" sz="9600" dirty="0">
              <a:latin typeface="+mn-ea"/>
            </a:endParaRPr>
          </a:p>
          <a:p>
            <a:pPr eaLnBrk="1" hangingPunct="1">
              <a:buFont typeface="Wingdings" panose="05000000000000000000" pitchFamily="2" charset="2"/>
              <a:buNone/>
              <a:defRPr/>
            </a:pPr>
            <a:endParaRPr lang="en-US" altLang="zh-CN" sz="9600" dirty="0">
              <a:latin typeface="+mn-ea"/>
            </a:endParaRPr>
          </a:p>
          <a:p>
            <a:pPr eaLnBrk="1" hangingPunct="1">
              <a:buFont typeface="Wingdings" panose="05000000000000000000" pitchFamily="2" charset="2"/>
              <a:buChar char="Ø"/>
              <a:defRPr/>
            </a:pPr>
            <a:r>
              <a:rPr lang="zh-CN" altLang="en-US" sz="9600" dirty="0">
                <a:latin typeface="+mn-ea"/>
              </a:rPr>
              <a:t> 通用微处理器是信息领域最关键、最核心的技术</a:t>
            </a:r>
            <a:endParaRPr lang="en-US" altLang="zh-CN" sz="9600" dirty="0">
              <a:latin typeface="+mn-ea"/>
            </a:endParaRPr>
          </a:p>
          <a:p>
            <a:pPr eaLnBrk="1" hangingPunct="1">
              <a:buFont typeface="Wingdings" panose="05000000000000000000" pitchFamily="2" charset="2"/>
              <a:buChar char="Ø"/>
              <a:defRPr/>
            </a:pPr>
            <a:endParaRPr lang="en-US" altLang="zh-CN" sz="9600" dirty="0">
              <a:latin typeface="+mn-ea"/>
            </a:endParaRPr>
          </a:p>
          <a:p>
            <a:pPr>
              <a:buNone/>
              <a:defRPr/>
            </a:pPr>
            <a:r>
              <a:rPr lang="zh-CN" altLang="en-US" sz="9600" dirty="0">
                <a:latin typeface="+mn-ea"/>
              </a:rPr>
              <a:t>      通用微处理器是当前最复杂的数字电路系统 ，是数字计算机的核心部件。</a:t>
            </a:r>
            <a:endParaRPr lang="en-US" altLang="zh-CN" sz="9600" dirty="0">
              <a:latin typeface="+mn-ea"/>
            </a:endParaRPr>
          </a:p>
          <a:p>
            <a:pPr>
              <a:buNone/>
              <a:defRPr/>
            </a:pPr>
            <a:r>
              <a:rPr lang="zh-CN" altLang="en-US" sz="9600" dirty="0">
                <a:latin typeface="+mn-ea"/>
              </a:rPr>
              <a:t>       计算机系统设计课程的核心是设计与实现高性能计算机系统。相关课程包括计算机系统</a:t>
            </a:r>
            <a:r>
              <a:rPr lang="en-US" altLang="zh-CN" sz="9600" dirty="0">
                <a:latin typeface="+mn-ea"/>
              </a:rPr>
              <a:t>I</a:t>
            </a:r>
            <a:r>
              <a:rPr lang="zh-CN" altLang="en-US" sz="9600" dirty="0">
                <a:latin typeface="+mn-ea"/>
              </a:rPr>
              <a:t>、</a:t>
            </a:r>
            <a:r>
              <a:rPr lang="en-US" altLang="zh-CN" sz="9600" dirty="0">
                <a:latin typeface="+mn-ea"/>
              </a:rPr>
              <a:t>II</a:t>
            </a:r>
            <a:r>
              <a:rPr lang="zh-CN" altLang="en-US" sz="9600" dirty="0">
                <a:latin typeface="+mn-ea"/>
              </a:rPr>
              <a:t>、</a:t>
            </a:r>
            <a:r>
              <a:rPr lang="en-US" altLang="zh-CN" sz="9600" dirty="0">
                <a:latin typeface="+mn-ea"/>
              </a:rPr>
              <a:t>III</a:t>
            </a:r>
            <a:r>
              <a:rPr lang="zh-CN" altLang="en-US" sz="9600" dirty="0">
                <a:latin typeface="+mn-ea"/>
              </a:rPr>
              <a:t>。</a:t>
            </a:r>
            <a:endParaRPr lang="en-US" altLang="zh-CN" sz="9600" dirty="0">
              <a:latin typeface="+mn-ea"/>
            </a:endParaRPr>
          </a:p>
          <a:p>
            <a:pPr>
              <a:buNone/>
              <a:defRPr/>
            </a:pPr>
            <a:endParaRPr lang="en-US" altLang="zh-CN" sz="9600" dirty="0">
              <a:latin typeface="+mn-ea"/>
            </a:endParaRPr>
          </a:p>
          <a:p>
            <a:pPr>
              <a:buFont typeface="Wingdings" panose="05000000000000000000" pitchFamily="2" charset="2"/>
              <a:buChar char="Ø"/>
              <a:defRPr/>
            </a:pPr>
            <a:r>
              <a:rPr lang="zh-CN" altLang="en-US" sz="9600" dirty="0">
                <a:solidFill>
                  <a:schemeClr val="accent3"/>
                </a:solidFill>
                <a:latin typeface="+mn-ea"/>
              </a:rPr>
              <a:t>角色转变</a:t>
            </a:r>
            <a:endParaRPr lang="en-US" altLang="zh-CN" sz="9600" dirty="0">
              <a:solidFill>
                <a:schemeClr val="accent3"/>
              </a:solidFill>
              <a:latin typeface="+mn-ea"/>
            </a:endParaRPr>
          </a:p>
          <a:p>
            <a:pPr>
              <a:buNone/>
              <a:defRPr/>
            </a:pPr>
            <a:r>
              <a:rPr lang="zh-CN" altLang="en-US" sz="9600" dirty="0">
                <a:solidFill>
                  <a:schemeClr val="accent3"/>
                </a:solidFill>
                <a:latin typeface="+mn-ea"/>
              </a:rPr>
              <a:t>   计算机使用者 </a:t>
            </a:r>
            <a:r>
              <a:rPr lang="en-US" altLang="zh-CN" sz="9600" dirty="0">
                <a:solidFill>
                  <a:schemeClr val="accent3"/>
                </a:solidFill>
                <a:latin typeface="+mn-ea"/>
              </a:rPr>
              <a:t> </a:t>
            </a:r>
            <a:r>
              <a:rPr lang="en-US" altLang="zh-CN" sz="9600" dirty="0" err="1">
                <a:solidFill>
                  <a:schemeClr val="accent3"/>
                </a:solidFill>
                <a:latin typeface="+mn-ea"/>
              </a:rPr>
              <a:t>vs</a:t>
            </a:r>
            <a:r>
              <a:rPr lang="en-US" altLang="zh-CN" sz="9600" dirty="0">
                <a:solidFill>
                  <a:schemeClr val="accent3"/>
                </a:solidFill>
                <a:latin typeface="+mn-ea"/>
              </a:rPr>
              <a:t> </a:t>
            </a:r>
            <a:r>
              <a:rPr lang="zh-CN" altLang="en-US" sz="9600" dirty="0">
                <a:solidFill>
                  <a:schemeClr val="accent3"/>
                </a:solidFill>
                <a:latin typeface="+mn-ea"/>
              </a:rPr>
              <a:t>计算机设计者</a:t>
            </a:r>
            <a:endParaRPr lang="en-US" altLang="zh-CN" sz="9600" dirty="0">
              <a:solidFill>
                <a:schemeClr val="accent3"/>
              </a:solidFill>
              <a:latin typeface="+mn-ea"/>
            </a:endParaRPr>
          </a:p>
          <a:p>
            <a:pPr>
              <a:buFont typeface="Wingdings" panose="05000000000000000000" pitchFamily="2" charset="2"/>
              <a:buChar char="Ø"/>
              <a:defRPr/>
            </a:pPr>
            <a:endParaRPr lang="en-US" altLang="zh-CN" sz="9600" dirty="0">
              <a:solidFill>
                <a:schemeClr val="accent3"/>
              </a:solidFill>
              <a:latin typeface="+mn-ea"/>
            </a:endParaRPr>
          </a:p>
          <a:p>
            <a:pPr>
              <a:buFont typeface="Wingdings" panose="05000000000000000000" pitchFamily="2" charset="2"/>
              <a:buChar char="Ø"/>
              <a:defRPr/>
            </a:pPr>
            <a:r>
              <a:rPr lang="zh-CN" altLang="en-US" sz="9600" dirty="0">
                <a:solidFill>
                  <a:schemeClr val="accent3"/>
                </a:solidFill>
                <a:latin typeface="+mn-ea"/>
              </a:rPr>
              <a:t>传统课程安排与现在课程安排的对比</a:t>
            </a:r>
            <a:endParaRPr lang="en-US" altLang="zh-CN" sz="9600" dirty="0">
              <a:solidFill>
                <a:schemeClr val="accent3"/>
              </a:solidFill>
              <a:latin typeface="+mn-ea"/>
            </a:endParaRPr>
          </a:p>
          <a:p>
            <a:pPr>
              <a:buNone/>
              <a:defRPr/>
            </a:pPr>
            <a:endParaRPr lang="en-US" altLang="zh-CN" sz="7400" dirty="0">
              <a:solidFill>
                <a:schemeClr val="accent3"/>
              </a:solidFill>
              <a:latin typeface="+mn-ea"/>
            </a:endParaRPr>
          </a:p>
          <a:p>
            <a:pPr eaLnBrk="1" hangingPunct="1">
              <a:buFont typeface="Wingdings" panose="05000000000000000000" pitchFamily="2" charset="2"/>
              <a:buChar char="Ø"/>
              <a:defRPr/>
            </a:pPr>
            <a:endParaRPr lang="en-US" altLang="zh-CN" sz="2400" dirty="0"/>
          </a:p>
          <a:p>
            <a:pPr eaLnBrk="1" hangingPunct="1">
              <a:buFont typeface="Wingdings" panose="05000000000000000000" pitchFamily="2" charset="2"/>
              <a:buNone/>
              <a:defRPr/>
            </a:pPr>
            <a:endParaRPr lang="en-US" altLang="zh-CN" b="0" dirty="0"/>
          </a:p>
          <a:p>
            <a:pPr eaLnBrk="1" hangingPunct="1">
              <a:buFont typeface="Wingdings" panose="05000000000000000000" pitchFamily="2" charset="2"/>
              <a:buChar char="Ø"/>
              <a:defRPr/>
            </a:pPr>
            <a:endParaRPr lang="en-US" altLang="zh-CN" b="0" dirty="0"/>
          </a:p>
          <a:p>
            <a:pPr eaLnBrk="1" hangingPunct="1">
              <a:buFont typeface="Wingdings" panose="05000000000000000000" pitchFamily="2" charset="2"/>
              <a:buNone/>
              <a:defRPr/>
            </a:pPr>
            <a:endParaRPr lang="en-US" altLang="zh-CN" b="0" dirty="0"/>
          </a:p>
          <a:p>
            <a:pPr eaLnBrk="1" hangingPunct="1">
              <a:buFont typeface="Wingdings" panose="05000000000000000000" pitchFamily="2" charset="2"/>
              <a:buNone/>
              <a:defRPr/>
            </a:pPr>
            <a:endParaRPr lang="en-US" altLang="zh-CN" b="0" dirty="0"/>
          </a:p>
          <a:p>
            <a:pPr eaLnBrk="1" hangingPunct="1">
              <a:buFont typeface="Wingdings" panose="05000000000000000000" pitchFamily="2" charset="2"/>
              <a:buNone/>
              <a:defRPr/>
            </a:pPr>
            <a:r>
              <a:rPr lang="zh-CN" altLang="en-US" b="0" dirty="0"/>
              <a:t>     </a:t>
            </a:r>
            <a:endParaRPr lang="en-US" altLang="zh-CN" b="0" dirty="0"/>
          </a:p>
          <a:p>
            <a:pPr eaLnBrk="1" hangingPunct="1">
              <a:buFont typeface="Wingdings" panose="05000000000000000000" pitchFamily="2" charset="2"/>
              <a:buNone/>
              <a:defRPr/>
            </a:pPr>
            <a:r>
              <a:rPr lang="zh-CN" altLang="en-US" dirty="0"/>
              <a:t>        </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7528" y="1124744"/>
            <a:ext cx="8553128" cy="4680520"/>
          </a:xfrm>
        </p:spPr>
        <p:txBody>
          <a:bodyPr>
            <a:noAutofit/>
          </a:bodyPr>
          <a:lstStyle/>
          <a:p>
            <a:r>
              <a:rPr lang="zh-CN" altLang="en-US" sz="3600" dirty="0">
                <a:solidFill>
                  <a:schemeClr val="accent3"/>
                </a:solidFill>
              </a:rPr>
              <a:t>你对计算机系统的理解？</a:t>
            </a:r>
            <a:endParaRPr lang="en-US" altLang="zh-CN" sz="3600" dirty="0">
              <a:solidFill>
                <a:schemeClr val="accent3"/>
              </a:solidFill>
            </a:endParaRPr>
          </a:p>
          <a:p>
            <a:r>
              <a:rPr lang="zh-CN" altLang="en-US" sz="3600" dirty="0">
                <a:solidFill>
                  <a:schemeClr val="accent3"/>
                </a:solidFill>
              </a:rPr>
              <a:t>你能回答吗：</a:t>
            </a:r>
            <a:r>
              <a:rPr lang="zh-CN" altLang="en-US" dirty="0"/>
              <a:t>当我按下键盘翻一页幻灯片</a:t>
            </a:r>
            <a:endParaRPr lang="zh-CN" altLang="en-US" dirty="0"/>
          </a:p>
          <a:p>
            <a:pPr lvl="1"/>
            <a:r>
              <a:rPr lang="zh-CN" altLang="en-US" dirty="0"/>
              <a:t>为什么我按一下键盘能够翻一页幻灯片？</a:t>
            </a:r>
            <a:endParaRPr lang="zh-CN" altLang="en-US" dirty="0"/>
          </a:p>
          <a:p>
            <a:pPr lvl="1"/>
            <a:r>
              <a:rPr lang="zh-CN" altLang="en-US" dirty="0"/>
              <a:t>从按一下键盘到翻一页幻灯片经过了什么过程？包括应用程序、操作系统、硬件系统、处理器、以及晶体管？</a:t>
            </a:r>
            <a:endParaRPr lang="zh-CN" altLang="en-US" dirty="0"/>
          </a:p>
          <a:p>
            <a:pPr lvl="1"/>
            <a:r>
              <a:rPr lang="zh-CN" altLang="en-US" dirty="0"/>
              <a:t>程序的运行和晶片中的电子的流动之间的关系？</a:t>
            </a:r>
            <a:endParaRPr lang="zh-CN" altLang="en-US" dirty="0"/>
          </a:p>
          <a:p>
            <a:pPr lvl="1"/>
            <a:r>
              <a:rPr lang="zh-CN" altLang="en-US" dirty="0"/>
              <a:t>在上述过程中涉及的重要量化指标（性能、功耗、成本）的关系？</a:t>
            </a:r>
            <a:endParaRPr lang="zh-CN" altLang="en-US" dirty="0"/>
          </a:p>
          <a:p>
            <a:endParaRPr lang="en-US" altLang="zh-CN" sz="3600" dirty="0">
              <a:solidFill>
                <a:schemeClr val="accent3"/>
              </a:solidFill>
            </a:endParaRPr>
          </a:p>
          <a:p>
            <a:endParaRPr lang="en-US" altLang="zh-CN" sz="3600" dirty="0">
              <a:solidFill>
                <a:schemeClr val="accent3"/>
              </a:solidFill>
            </a:endParaRPr>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495600" y="2392288"/>
            <a:ext cx="7772400" cy="1108720"/>
          </a:xfrm>
        </p:spPr>
        <p:txBody>
          <a:bodyPr/>
          <a:lstStyle/>
          <a:p>
            <a:r>
              <a:rPr lang="zh-CN" altLang="en-US" dirty="0"/>
              <a:t>本课程简介</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理解计算机是如何运作的</a:t>
            </a:r>
            <a:endParaRPr lang="en-US" altLang="zh-CN" dirty="0"/>
          </a:p>
          <a:p>
            <a:pPr lvl="1"/>
            <a:r>
              <a:rPr lang="zh-CN" altLang="en-US" dirty="0"/>
              <a:t>方法：由底至上</a:t>
            </a:r>
            <a:r>
              <a:rPr lang="en-US" altLang="zh-CN" dirty="0"/>
              <a:t>,</a:t>
            </a:r>
            <a:r>
              <a:rPr lang="zh-CN" altLang="en-US" dirty="0"/>
              <a:t>从晶体管到应用程序</a:t>
            </a:r>
            <a:endParaRPr lang="en-US" altLang="zh-CN" dirty="0"/>
          </a:p>
          <a:p>
            <a:pPr lvl="1"/>
            <a:r>
              <a:rPr lang="zh-CN" altLang="en-US" dirty="0"/>
              <a:t>像建房子一样，建造计算机</a:t>
            </a:r>
            <a:endParaRPr lang="en-US" altLang="zh-CN" dirty="0"/>
          </a:p>
          <a:p>
            <a:endParaRPr lang="en-US" altLang="zh-CN" dirty="0"/>
          </a:p>
          <a:p>
            <a:r>
              <a:rPr lang="zh-CN" altLang="en-US" dirty="0"/>
              <a:t>理解如何使用计算机帮助我们解决问题</a:t>
            </a:r>
            <a:endParaRPr lang="en-US" altLang="zh-CN" dirty="0"/>
          </a:p>
          <a:p>
            <a:endParaRPr lang="en-US" altLang="zh-CN" dirty="0"/>
          </a:p>
          <a:p>
            <a:r>
              <a:rPr lang="zh-CN" altLang="en-US" dirty="0"/>
              <a:t>介绍计算机科学与工程的各种经典概念、设计原则，这些不随着时代的改变而改变！</a:t>
            </a:r>
            <a:endParaRPr lang="en-US" altLang="zh-CN" dirty="0"/>
          </a:p>
          <a:p>
            <a:endParaRPr lang="en-US" altLang="zh-CN" dirty="0"/>
          </a:p>
          <a:p>
            <a:endParaRPr lang="zh-CN" altLang="en-US" dirty="0"/>
          </a:p>
        </p:txBody>
      </p:sp>
      <p:sp>
        <p:nvSpPr>
          <p:cNvPr id="3" name="Title 2"/>
          <p:cNvSpPr>
            <a:spLocks noGrp="1"/>
          </p:cNvSpPr>
          <p:nvPr>
            <p:ph type="title"/>
          </p:nvPr>
        </p:nvSpPr>
        <p:spPr/>
        <p:txBody>
          <a:bodyPr/>
          <a:lstStyle/>
          <a:p>
            <a:r>
              <a:rPr lang="zh-CN" altLang="en-US" dirty="0"/>
              <a:t>课程目标</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第二章：</a:t>
            </a:r>
            <a:r>
              <a:rPr lang="en-US" altLang="zh-CN" dirty="0"/>
              <a:t>Bit</a:t>
            </a:r>
            <a:r>
              <a:rPr lang="zh-CN" altLang="en-US" dirty="0"/>
              <a:t>、数据类型及其运算</a:t>
            </a:r>
            <a:endParaRPr lang="en-US" altLang="zh-CN" dirty="0"/>
          </a:p>
          <a:p>
            <a:pPr lvl="1"/>
            <a:r>
              <a:rPr lang="zh-CN" altLang="en-US" dirty="0"/>
              <a:t>计算机的本质（不过是一个电子设备而已）</a:t>
            </a:r>
            <a:endParaRPr lang="en-US" altLang="zh-CN" dirty="0"/>
          </a:p>
          <a:p>
            <a:pPr lvl="1"/>
            <a:r>
              <a:rPr lang="zh-CN" altLang="en-US" dirty="0"/>
              <a:t>计算机如何表示信息</a:t>
            </a:r>
            <a:endParaRPr lang="en-US" altLang="zh-CN" dirty="0"/>
          </a:p>
          <a:p>
            <a:pPr lvl="1"/>
            <a:endParaRPr lang="en-US" altLang="zh-CN" dirty="0"/>
          </a:p>
          <a:p>
            <a:r>
              <a:rPr lang="zh-CN" altLang="en-US" dirty="0"/>
              <a:t>第三章：数字逻辑</a:t>
            </a:r>
            <a:endParaRPr lang="en-US" altLang="zh-CN" dirty="0"/>
          </a:p>
          <a:p>
            <a:pPr lvl="1"/>
            <a:r>
              <a:rPr lang="zh-CN" altLang="en-US" dirty="0"/>
              <a:t>如何表示</a:t>
            </a:r>
            <a:r>
              <a:rPr lang="en-US" altLang="zh-CN" dirty="0"/>
              <a:t>0</a:t>
            </a:r>
            <a:r>
              <a:rPr lang="zh-CN" altLang="en-US" dirty="0"/>
              <a:t>，</a:t>
            </a:r>
            <a:r>
              <a:rPr lang="en-US" altLang="zh-CN" dirty="0"/>
              <a:t>1</a:t>
            </a:r>
            <a:endParaRPr lang="en-US" altLang="zh-CN" dirty="0"/>
          </a:p>
          <a:p>
            <a:pPr lvl="1"/>
            <a:r>
              <a:rPr lang="zh-CN" altLang="en-US" dirty="0"/>
              <a:t>门电路、组合电路、</a:t>
            </a:r>
            <a:endParaRPr lang="en-US" altLang="zh-CN" dirty="0"/>
          </a:p>
          <a:p>
            <a:pPr lvl="1"/>
            <a:r>
              <a:rPr lang="zh-CN" altLang="en-US" dirty="0"/>
              <a:t>寄存器、内存、时序电路</a:t>
            </a:r>
            <a:endParaRPr lang="en-US" altLang="zh-CN" dirty="0"/>
          </a:p>
          <a:p>
            <a:pPr lvl="1"/>
            <a:r>
              <a:rPr lang="zh-CN" altLang="en-US" dirty="0"/>
              <a:t>有限状态机</a:t>
            </a:r>
            <a:endParaRPr lang="en-US" altLang="zh-CN" dirty="0"/>
          </a:p>
        </p:txBody>
      </p:sp>
      <p:sp>
        <p:nvSpPr>
          <p:cNvPr id="3" name="Title 2"/>
          <p:cNvSpPr>
            <a:spLocks noGrp="1"/>
          </p:cNvSpPr>
          <p:nvPr>
            <p:ph type="title"/>
          </p:nvPr>
        </p:nvSpPr>
        <p:spPr/>
        <p:txBody>
          <a:bodyPr/>
          <a:lstStyle/>
          <a:p>
            <a:r>
              <a:rPr lang="zh-CN" altLang="en-US" dirty="0"/>
              <a:t>我们的安排</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第四章：冯诺依曼计算机模型</a:t>
            </a:r>
            <a:endParaRPr lang="en-US" altLang="zh-CN" dirty="0"/>
          </a:p>
          <a:p>
            <a:pPr lvl="1"/>
            <a:r>
              <a:rPr lang="zh-CN" altLang="en-US" dirty="0"/>
              <a:t>模型简介</a:t>
            </a:r>
            <a:endParaRPr lang="en-US" altLang="zh-CN" dirty="0"/>
          </a:p>
          <a:p>
            <a:pPr lvl="1"/>
            <a:r>
              <a:rPr lang="zh-CN" altLang="en-US" dirty="0"/>
              <a:t>举例：小型计算机</a:t>
            </a:r>
            <a:r>
              <a:rPr lang="en-US" altLang="zh-CN" dirty="0"/>
              <a:t>LC-3</a:t>
            </a:r>
            <a:endParaRPr lang="en-US" altLang="zh-CN" dirty="0"/>
          </a:p>
          <a:p>
            <a:pPr lvl="1"/>
            <a:r>
              <a:rPr lang="zh-CN" altLang="en-US" dirty="0"/>
              <a:t>程序如何运行、指令、程序跳转、停机</a:t>
            </a:r>
            <a:endParaRPr lang="en-US" altLang="zh-CN" dirty="0"/>
          </a:p>
          <a:p>
            <a:pPr lvl="1"/>
            <a:endParaRPr lang="en-US" altLang="zh-CN" dirty="0"/>
          </a:p>
          <a:p>
            <a:r>
              <a:rPr lang="zh-CN" altLang="en-US" dirty="0"/>
              <a:t>第五章：</a:t>
            </a:r>
            <a:r>
              <a:rPr lang="en-US" altLang="zh-CN" dirty="0"/>
              <a:t>LC-3</a:t>
            </a:r>
            <a:r>
              <a:rPr lang="zh-CN" altLang="en-US" dirty="0"/>
              <a:t>详解</a:t>
            </a:r>
            <a:endParaRPr lang="en-US" altLang="zh-CN" dirty="0"/>
          </a:p>
          <a:p>
            <a:pPr lvl="1"/>
            <a:r>
              <a:rPr lang="zh-CN" altLang="en-US" dirty="0"/>
              <a:t>指令集合</a:t>
            </a:r>
            <a:endParaRPr lang="en-US" altLang="zh-CN" dirty="0"/>
          </a:p>
          <a:p>
            <a:pPr lvl="1"/>
            <a:r>
              <a:rPr lang="zh-CN" altLang="en-US" dirty="0"/>
              <a:t>内存寻址</a:t>
            </a:r>
            <a:endParaRPr lang="en-US" altLang="zh-CN" dirty="0"/>
          </a:p>
          <a:p>
            <a:pPr lvl="1"/>
            <a:r>
              <a:rPr lang="en-US" altLang="zh-CN" dirty="0"/>
              <a:t>LC-3</a:t>
            </a:r>
            <a:r>
              <a:rPr lang="zh-CN" altLang="en-US" dirty="0"/>
              <a:t>机器指令编程</a:t>
            </a:r>
            <a:endParaRPr lang="en-US" altLang="zh-CN" dirty="0"/>
          </a:p>
        </p:txBody>
      </p:sp>
      <p:sp>
        <p:nvSpPr>
          <p:cNvPr id="3" name="Title 2"/>
          <p:cNvSpPr>
            <a:spLocks noGrp="1"/>
          </p:cNvSpPr>
          <p:nvPr>
            <p:ph type="title"/>
          </p:nvPr>
        </p:nvSpPr>
        <p:spPr/>
        <p:txBody>
          <a:bodyPr/>
          <a:lstStyle/>
          <a:p>
            <a:r>
              <a:rPr lang="zh-CN" altLang="en-US" dirty="0"/>
              <a:t>我们的安排</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第六章：如何求解问题</a:t>
            </a:r>
            <a:endParaRPr lang="en-US" altLang="zh-CN" dirty="0"/>
          </a:p>
          <a:p>
            <a:pPr lvl="1"/>
            <a:r>
              <a:rPr lang="zh-CN" altLang="en-US" dirty="0"/>
              <a:t>结构化程序设计</a:t>
            </a:r>
            <a:endParaRPr lang="en-US" altLang="zh-CN" dirty="0"/>
          </a:p>
          <a:p>
            <a:pPr lvl="1"/>
            <a:r>
              <a:rPr lang="zh-CN" altLang="en-US" dirty="0"/>
              <a:t>调试</a:t>
            </a:r>
            <a:endParaRPr lang="en-US" altLang="zh-CN" dirty="0"/>
          </a:p>
          <a:p>
            <a:pPr lvl="1"/>
            <a:endParaRPr lang="en-US" altLang="zh-CN" dirty="0"/>
          </a:p>
          <a:p>
            <a:r>
              <a:rPr lang="zh-CN" altLang="en-US" dirty="0"/>
              <a:t>第七章：汇编语言</a:t>
            </a:r>
            <a:endParaRPr lang="en-US" altLang="zh-CN" dirty="0"/>
          </a:p>
          <a:p>
            <a:pPr lvl="1"/>
            <a:r>
              <a:rPr lang="zh-CN" altLang="en-US" dirty="0"/>
              <a:t>从机器指令到汇编</a:t>
            </a:r>
            <a:endParaRPr lang="en-US" altLang="zh-CN" dirty="0"/>
          </a:p>
          <a:p>
            <a:pPr lvl="1"/>
            <a:r>
              <a:rPr lang="zh-CN" altLang="en-US" dirty="0"/>
              <a:t>汇编程序如何编译至机器指令程序</a:t>
            </a:r>
            <a:endParaRPr lang="en-US" altLang="zh-CN" dirty="0"/>
          </a:p>
          <a:p>
            <a:pPr lvl="1"/>
            <a:r>
              <a:rPr lang="zh-CN" altLang="en-US" dirty="0"/>
              <a:t>可执行文件格式、多目标文件、链接</a:t>
            </a:r>
            <a:endParaRPr lang="en-US" altLang="zh-CN" dirty="0"/>
          </a:p>
        </p:txBody>
      </p:sp>
      <p:sp>
        <p:nvSpPr>
          <p:cNvPr id="3" name="Title 2"/>
          <p:cNvSpPr>
            <a:spLocks noGrp="1"/>
          </p:cNvSpPr>
          <p:nvPr>
            <p:ph type="title"/>
          </p:nvPr>
        </p:nvSpPr>
        <p:spPr/>
        <p:txBody>
          <a:bodyPr/>
          <a:lstStyle/>
          <a:p>
            <a:r>
              <a:rPr lang="zh-CN" altLang="en-US" dirty="0"/>
              <a:t>我们的安排</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第八章：输入输出设备</a:t>
            </a:r>
            <a:endParaRPr lang="en-US" altLang="zh-CN" dirty="0"/>
          </a:p>
          <a:p>
            <a:pPr lvl="1"/>
            <a:r>
              <a:rPr lang="zh-CN" altLang="en-US" dirty="0"/>
              <a:t>硬件结构、同步</a:t>
            </a:r>
            <a:r>
              <a:rPr lang="en-US" altLang="zh-CN" dirty="0"/>
              <a:t>/</a:t>
            </a:r>
            <a:r>
              <a:rPr lang="zh-CN" altLang="en-US" dirty="0"/>
              <a:t>异步</a:t>
            </a:r>
            <a:r>
              <a:rPr lang="en-US" altLang="zh-CN" dirty="0"/>
              <a:t>IO</a:t>
            </a:r>
            <a:endParaRPr lang="en-US" altLang="zh-CN" dirty="0"/>
          </a:p>
          <a:p>
            <a:pPr lvl="1"/>
            <a:r>
              <a:rPr lang="zh-CN" altLang="en-US" dirty="0"/>
              <a:t>键盘如何输入信息、显示器输出信息</a:t>
            </a:r>
            <a:endParaRPr lang="en-US" altLang="zh-CN" dirty="0"/>
          </a:p>
          <a:p>
            <a:pPr lvl="1"/>
            <a:r>
              <a:rPr lang="zh-CN" altLang="en-US" dirty="0"/>
              <a:t>中断</a:t>
            </a:r>
            <a:r>
              <a:rPr lang="en-US" altLang="zh-CN" dirty="0"/>
              <a:t>IO</a:t>
            </a:r>
            <a:endParaRPr lang="en-US" altLang="zh-CN" dirty="0"/>
          </a:p>
          <a:p>
            <a:pPr lvl="1"/>
            <a:endParaRPr lang="en-US" altLang="zh-CN" dirty="0"/>
          </a:p>
          <a:p>
            <a:r>
              <a:rPr lang="zh-CN" altLang="en-US" dirty="0"/>
              <a:t>第九章：</a:t>
            </a:r>
            <a:r>
              <a:rPr lang="en-US" altLang="zh-CN" dirty="0"/>
              <a:t>TRAP</a:t>
            </a:r>
            <a:r>
              <a:rPr lang="zh-CN" altLang="en-US" dirty="0"/>
              <a:t>、子程序</a:t>
            </a:r>
            <a:endParaRPr lang="en-US" altLang="zh-CN" dirty="0"/>
          </a:p>
          <a:p>
            <a:pPr lvl="1"/>
            <a:r>
              <a:rPr lang="zh-CN" altLang="en-US" dirty="0"/>
              <a:t>系统调用</a:t>
            </a:r>
            <a:r>
              <a:rPr lang="en-US" altLang="zh-CN" dirty="0"/>
              <a:t>TRAP</a:t>
            </a:r>
            <a:r>
              <a:rPr lang="zh-CN" altLang="en-US" dirty="0"/>
              <a:t>及实现</a:t>
            </a:r>
            <a:endParaRPr lang="en-US" altLang="zh-CN" dirty="0"/>
          </a:p>
          <a:p>
            <a:pPr lvl="1"/>
            <a:r>
              <a:rPr lang="zh-CN" altLang="en-US" dirty="0"/>
              <a:t>子程序原理及实现</a:t>
            </a:r>
            <a:endParaRPr lang="en-US" altLang="zh-CN" dirty="0"/>
          </a:p>
        </p:txBody>
      </p:sp>
      <p:sp>
        <p:nvSpPr>
          <p:cNvPr id="3" name="Title 2"/>
          <p:cNvSpPr>
            <a:spLocks noGrp="1"/>
          </p:cNvSpPr>
          <p:nvPr>
            <p:ph type="title"/>
          </p:nvPr>
        </p:nvSpPr>
        <p:spPr/>
        <p:txBody>
          <a:bodyPr/>
          <a:lstStyle/>
          <a:p>
            <a:r>
              <a:rPr lang="zh-CN" altLang="en-US" dirty="0"/>
              <a:t>我们的安排</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第十章：栈、全面总结</a:t>
            </a:r>
            <a:r>
              <a:rPr lang="en-US" altLang="zh-CN" dirty="0"/>
              <a:t>LC-3</a:t>
            </a:r>
            <a:endParaRPr lang="en-US" altLang="zh-CN" dirty="0"/>
          </a:p>
          <a:p>
            <a:pPr lvl="1"/>
            <a:r>
              <a:rPr lang="zh-CN" altLang="en-US" dirty="0"/>
              <a:t>动机、内存实现</a:t>
            </a:r>
            <a:endParaRPr lang="en-US" altLang="zh-CN" dirty="0"/>
          </a:p>
          <a:p>
            <a:pPr lvl="1"/>
            <a:r>
              <a:rPr lang="zh-CN" altLang="en-US" dirty="0"/>
              <a:t>中断驱动</a:t>
            </a:r>
            <a:r>
              <a:rPr lang="en-US" altLang="zh-CN" dirty="0"/>
              <a:t>IO</a:t>
            </a:r>
            <a:r>
              <a:rPr lang="zh-CN" altLang="en-US" dirty="0"/>
              <a:t>、嵌套</a:t>
            </a:r>
            <a:endParaRPr lang="en-US" altLang="zh-CN" dirty="0"/>
          </a:p>
          <a:p>
            <a:pPr lvl="1"/>
            <a:r>
              <a:rPr lang="zh-CN" altLang="en-US" dirty="0"/>
              <a:t>数据转换</a:t>
            </a:r>
            <a:endParaRPr lang="en-US" altLang="zh-CN" dirty="0"/>
          </a:p>
          <a:p>
            <a:pPr lvl="1"/>
            <a:r>
              <a:rPr lang="zh-CN" altLang="en-US" dirty="0"/>
              <a:t>栈的使用举例</a:t>
            </a:r>
            <a:endParaRPr lang="en-US" altLang="zh-CN" dirty="0"/>
          </a:p>
        </p:txBody>
      </p:sp>
      <p:sp>
        <p:nvSpPr>
          <p:cNvPr id="3" name="Title 2"/>
          <p:cNvSpPr>
            <a:spLocks noGrp="1"/>
          </p:cNvSpPr>
          <p:nvPr>
            <p:ph type="title"/>
          </p:nvPr>
        </p:nvSpPr>
        <p:spPr/>
        <p:txBody>
          <a:bodyPr/>
          <a:lstStyle/>
          <a:p>
            <a:r>
              <a:rPr lang="zh-CN" altLang="en-US" dirty="0"/>
              <a:t>我们的安排</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495600" y="2392288"/>
            <a:ext cx="7772400" cy="1108720"/>
          </a:xfrm>
        </p:spPr>
        <p:txBody>
          <a:bodyPr/>
          <a:lstStyle/>
          <a:p>
            <a:r>
              <a:rPr lang="zh-CN" altLang="en-US" dirty="0"/>
              <a:t>计算机系统简述</a:t>
            </a:r>
            <a:endParaRPr lang="en-US" altLang="zh-CN"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2" descr="http://queenslandcomputers.com.au/wp-content/uploads/2013/12/computer.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33328" y="1522834"/>
            <a:ext cx="5715000" cy="3562351"/>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zh-CN" altLang="en-US" dirty="0"/>
              <a:t>输入、输出设备</a:t>
            </a:r>
            <a:endParaRPr lang="en-US" altLang="zh-CN" dirty="0"/>
          </a:p>
          <a:p>
            <a:pPr marL="109855" indent="0">
              <a:buNone/>
            </a:pPr>
            <a:endParaRPr lang="en-US" altLang="zh-CN" dirty="0"/>
          </a:p>
          <a:p>
            <a:pPr marL="109855" indent="0">
              <a:buNone/>
            </a:pPr>
            <a:endParaRPr lang="en-US" altLang="zh-CN" dirty="0"/>
          </a:p>
          <a:p>
            <a:r>
              <a:rPr lang="zh-CN" altLang="en-US" dirty="0"/>
              <a:t>存储</a:t>
            </a:r>
            <a:endParaRPr lang="en-US" altLang="zh-CN" dirty="0"/>
          </a:p>
          <a:p>
            <a:endParaRPr lang="en-US" altLang="zh-CN" dirty="0"/>
          </a:p>
          <a:p>
            <a:endParaRPr lang="en-US" altLang="zh-CN" dirty="0"/>
          </a:p>
          <a:p>
            <a:r>
              <a:rPr lang="zh-CN" altLang="en-US" dirty="0"/>
              <a:t>中央控制器（处理器））</a:t>
            </a:r>
            <a:endParaRPr lang="en-US" altLang="zh-CN" dirty="0"/>
          </a:p>
          <a:p>
            <a:pPr lvl="1"/>
            <a:r>
              <a:rPr lang="zh-CN" altLang="en-US" dirty="0"/>
              <a:t>运算器</a:t>
            </a:r>
            <a:endParaRPr lang="en-US" altLang="zh-CN" dirty="0"/>
          </a:p>
          <a:p>
            <a:pPr lvl="1"/>
            <a:r>
              <a:rPr lang="zh-CN" altLang="en-US" dirty="0"/>
              <a:t>控制器</a:t>
            </a:r>
            <a:endParaRPr lang="zh-CN" altLang="en-US" dirty="0"/>
          </a:p>
        </p:txBody>
      </p:sp>
      <p:sp>
        <p:nvSpPr>
          <p:cNvPr id="4" name="Title 3"/>
          <p:cNvSpPr>
            <a:spLocks noGrp="1"/>
          </p:cNvSpPr>
          <p:nvPr>
            <p:ph type="title"/>
          </p:nvPr>
        </p:nvSpPr>
        <p:spPr/>
        <p:txBody>
          <a:bodyPr/>
          <a:lstStyle/>
          <a:p>
            <a:r>
              <a:rPr lang="zh-CN" altLang="en-US" dirty="0"/>
              <a:t>计算机系统</a:t>
            </a:r>
            <a:endParaRPr lang="zh-CN" altLang="en-US" dirty="0"/>
          </a:p>
        </p:txBody>
      </p:sp>
      <p:sp>
        <p:nvSpPr>
          <p:cNvPr id="6" name="AutoShape 2" descr="Image result for cpu"/>
          <p:cNvSpPr>
            <a:spLocks noChangeAspect="1" noChangeArrowheads="1"/>
          </p:cNvSpPr>
          <p:nvPr/>
        </p:nvSpPr>
        <p:spPr bwMode="auto">
          <a:xfrm>
            <a:off x="1658938" y="-98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AutoShape 4" descr="Image result for cpu"/>
          <p:cNvSpPr>
            <a:spLocks noChangeAspect="1" noChangeArrowheads="1"/>
          </p:cNvSpPr>
          <p:nvPr/>
        </p:nvSpPr>
        <p:spPr bwMode="auto">
          <a:xfrm>
            <a:off x="1811338" y="539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8" name="AutoShape 6" descr="Image result for cpu"/>
          <p:cNvSpPr>
            <a:spLocks noChangeAspect="1" noChangeArrowheads="1"/>
          </p:cNvSpPr>
          <p:nvPr/>
        </p:nvSpPr>
        <p:spPr bwMode="auto">
          <a:xfrm>
            <a:off x="1963738" y="2063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AutoShape 8" descr="Image result for cpu"/>
          <p:cNvSpPr>
            <a:spLocks noChangeAspect="1" noChangeArrowheads="1"/>
          </p:cNvSpPr>
          <p:nvPr/>
        </p:nvSpPr>
        <p:spPr bwMode="auto">
          <a:xfrm>
            <a:off x="2116138" y="3587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0" name="AutoShape 10" descr="Image result for cpu"/>
          <p:cNvSpPr>
            <a:spLocks noChangeAspect="1" noChangeArrowheads="1"/>
          </p:cNvSpPr>
          <p:nvPr/>
        </p:nvSpPr>
        <p:spPr bwMode="auto">
          <a:xfrm>
            <a:off x="2268538" y="5111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19148" name="Picture 12" descr="http://images.anandtech.com/doci/6985/DT_Haswell_i7_FB_678x452.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79976" y="1988840"/>
            <a:ext cx="4392488" cy="2928326"/>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存储</a:t>
            </a:r>
            <a:endParaRPr lang="zh-CN" altLang="en-US" dirty="0"/>
          </a:p>
        </p:txBody>
      </p:sp>
      <p:pic>
        <p:nvPicPr>
          <p:cNvPr id="222210" name="Picture 2" descr="http://www.dansdata.com/images/samsung_ecogreen/hd103ui1024.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803032" y="658948"/>
            <a:ext cx="3767986" cy="29363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4" descr="http://news.techgenie.com/files/Computer-Memor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2456" y="2708921"/>
            <a:ext cx="2636912" cy="2636913"/>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data:image/jpeg;base64,/9j/4AAQSkZJRgABAQAAAQABAAD/2wCEAAkGBhQQEBQUEBQUFBQQFBQVFBAQFBUUFBAQFhQVFRUUFRQXHCYeFxojGRYVHy8gIycpLS0tFx4xNTAqNSYrLCkBCQoKDgwNFA8PFykcHB0pKSkpLCkpKSkpKSwpLCwpKSkpKSwsKSkpKSkpLCkpLCkpKSkpKSkpLCkpKSkqKSkpKf/AABEIAMwAzAMBIgACEQEDEQH/xAAbAAABBQEBAAAAAAAAAAAAAAAAAQIDBAYFB//EAEYQAAIBAgMDBgoGCAUFAAAAAAECAAMRBCExBRJBBlFhcYGREyIyM1JicqGxwSNCU4KSohQWQ3Oy0eHwFSRjk9JUs8LD8f/EABkBAAMBAQEAAAAAAAAAAAAAAAABAgMEBf/EAB0RAQEBAQADAQEBAAAAAAAAAAABAhEDEiExUSL/2gAMAwEAAhEDEQA/APcYQhACEIQAhCEAISOviFpqWdgqjUsbAds4OM5U38wtx9pVuq9ar5Te7rgGhJlHFbco0zZqi39EHeb8K3MyeJxb1fOOz+rfcT8C69pMiQ7ostlHMoA+EDaOpyrX6lOq3SVCD85ErtyqfhSH3qoHwUzhwgTsnlTVv5unb96fjuSSnynqH9kp9msPmonCk+GGsC67icqh9elUXpAVx+Uky3h+UNFzYVFB9F/Ebua0yTHM9cGa4scxzMLjuME+zfLUBjpgcPVan5tmp9Cm6fgbLutOvhOUzr51d4faUrm3S1M5jsvA5qNPCVsHtBKq7yMGB4gyzBQhCEAIQhACEIQAhCEAIQgTACcfavKBaZKUxv1BqL2Wn0u3DqGZlLbG3yxKUDZQSHrDW/FafTztw65wxkLAWHN08STxPSY+KmepcRiGqNvVG32GlxZU9hNB1m5kZMSEauCEIsSSQhFvEmklihoZXvLCmyd8EVXhCETO0QvCETO05HKtvKSj+mvH2l0YdefTO9szlHchK1lY5Kw8ioegnQ+qffM/DgQRcHUHQw6J5blv1e8dMfsvbRo2DktT0DnNqXQ54r63DjNZSrBhcSnTnc3OxJCEIKEIQgBCEIATNbe2xvk0qZIVcqrqcyfs1PPznhprLvKDahpqKdM2qVAc/s0HlP8AIdPVMtYAADQaD5nnJ1vKk6vGejqyAyAGgHMIQigSmvCRbRbRbRJsNhaPtC0SLDLRbR9olxJRTbSdh4ndId4SeschEzqvaJaSWhaDHVR2haPtEtJYa0ZCPtEKxOfWu/IQG0vbI2p4AhSfoibLf9kx0U+qeB4aSjaJ1i4ORB0I5o438NuL8b6nUuI+Zjk/tMqfBOb2F0Y6smlj6y6HsM0ym8t6MvfpYQhAxIsViVpozubKgJJ6BJZnOU+Muy0hoPpH6QDZFPW2f3YHJ1xa9dnZnfyqhuR6C/VTsHvJjLRbRwE3jszJJw0COtHARQI+K9TbRbRwEDlJsRcm2jS3NAwtIsZWGwtHhY2pVVfKZR1kX7pNY0BZLiRpK9LHUt4eONen+UmesrN4rKegEX7pLn3Udo4NHFIlpLk3s4QtGiPU3ic11dX4baJaSWiWj42xhGRGkSUiNIjdOcI7HLdyZTvIeZubqIyPXNdsbaAq0ww4jMcQdCD0gzKES5sbFeDrW+rVzHRUXyu8WPYY3Tj42MI1GuI6NZGMw1av4RmqfasSP3Y8VPcL/emo5Q4gph3t5TDcX2nO6PjMtugZDQZDqGQlReP0gEcBFAjgJfW8pto4CKBHAS5WudGyIySpG2lNflNtIsVi1pC7anRBqf5R2MxQpJvHMnJV5zGYTBGmys48JiavkU/Qy1PAWHHhI1GPkkn1C2Hq1F3qrihT5vrEf3zkR+E2NTbzVGrW9dvFQ9pKg++afAbAUEPXIq1Nc/IQ+op+JznYBmNrjt6xycn3Gf6In+4l/jKWP2MBc1aFWl66+Oo6ypIE314l4mWsSvOUpVaY3qLiqno6n++qW8HjVqjLJhqh17OeaXaOwUqEvT+jqemoyboddGHvmWx2z2LnLweIp52GlQcGU8R/8Mix5/m8Os/Z9i3aAkOAxnhVzydcmX5yxaEg8fiOGcLREklpTrz40do0rJSI0iNtMoyJHVuFuNUIdetcyO1d4dsmIgMjBfGr2ZiQ6AjQgEdRl2ZzkvVspT7NmX7oPi/lImjgTg8qKnmV56hY9SIx+O7OIBOpyja9emPRp1D3tTX+c5wEqLyQCOtFAjrRr6QCLaOAgwyj6qaQWjlWKBGYmpuU3bmU26zkPfLlazanhmFSq9Z/N4cWXmLDj8T3TSbCwJVTVqD6Stmb/UTVUHxPTODs7CA08NS4VX8I/Sou9j2KomxvM93rDy77eH3igxgM5+0NpMG8HStvfWY5hb6ADiZDF1IhM5FPA1TmatS/tZd2knw+KdGCVsw2S1LW8bmYDK/TALxM5u2dn+FS65VKfjUz08UPQ2ndOgY0mAYPE1AjpiEFlqZOvMeIPTke1Z1mX++iRbWwnjYinwIFZegt5X5lPfG7Mqb1FDzDd7jYe60OFnEiW0lEaRJEGUfF8NIjbSQiJaB8RERpElIjSIxxNsV92u49JUbtsVP8ImtU5TG4M2xCdNNh3OD/AOU2FI5SU1mtvH/Mj9wf+6v9JTAl/b62xCetSqDuemfnKQEYgAj7QAjrQPpAIOMo8CDjKB9QgSrtcfQP93+IS5aRY2lvUag9W/aM/lH0eyTZq/TYfmGHYjupD5zRE6f3xMzGyq2WFf2qLHmJBVfzKnfNLfLqkpt6ehznM2VT3qjk677X/EROgrSnUQ0qhdQSj5sBmVbibcRzwJ2wJQ21THgmPEC49oG499o5NsUiL769pHwlerW8OQACKakEsRbwhGYAB+rfO/G0AsudOqMJgzXjCYBxtqD/ADHXh2v+PL4mc3YQ+g++3wEt4+tepiH4U6a0x7VizfxKJHsmju0E6bt3nL3AS5PjbOfie0fTGUQiSUxlHw+GkRLSQiNtEXEREaRJSI0iBcRUx9PR6qv/AK5sKPkiZCiL4in0I573UfKa+iMhJrO/ricpEs9FvWdPxIfmonPAnZ5TUr0Cw1pFag+4Qx915yLc2nDq4REAI8CIBHgRdT0ARd2KBHARdTdK9o5I90ziARWs7tysFQ3Xq4ZjYP41JuZhmCO4fhmkwGM8Im8wswO5VX0ag17Dkw6DOPtHAmooKZVKeakceNo/Z+ONQ79MAVlG7VotkKyj4EcDw00MU0nHl+8ruMLfz54B7SLCYtagO5c28qm2T0z6w+YyMl3QdD2GaOomWu6L89orPeJ4M/2RDc5yB7/hAEvK20MaKSE6nRVGrufJURcZtBKQzOZyVRm7nmVROTiK+59NiPLzFGhe+4DxPO3OewRydVnN1VTG0SFp0AbvVbfqsOcm5Pfn1KJ1NwCwGigAdQylbZuEYXq1fOVPyrzdH9BLhE2dnJPkRWkwXKIiXMkIk1nUZEaRJCI0iJKMiMIkpEbuxEiwC3xJ9REXtJZj8RNagymY5Opvs7+m7EeyPFX3LNQJDGmYimGUg5gixHODMlhFIXcOtEmmend8k9qlZsZm9rUPB1w31a43D0VVuUPaLr2CKpv4iAjwIgEeBJ6wtKBHAQAjgJNrK6IUvIt2WAINTvJZXtQCVcZs3whDodyqNGGQbr/nLu7FAiRI5TY/MDFoyOuS4ilcHsI+V+qdKhiHbzdWjWH+oNx+1k/4yQi4sQCOZhcSAbHom5ClT6p+Rly10Y3YnL1/safX4ZrfwXkFd6n7SrRoj1fHbsLZfllf9X6fp1Oq4j6ewqK5lWb22/lLldE3aqJjEVj+jI1aq2tapcn38O4SxhdmEN4Ssd+ofwpOgihRZQFHMotEtNs12eO/DDEtH7skSlaV1r0xUtAiSkRhERdRkRpEkIjSIFyIiJWx1XcpsRrbdX228VfjfslsiUqi+Erqg0peM37xhZR2Lc/ek34jXyO1sHCblNQOAA7hOvIcLS3VEmkMBKW1sCK1JlOVxkRqrDNWHSDYy7AiAZXC1iy+MLOpK1F5nGvYdR0GWAIu2sKaT+GUXFrVVHFBo4HOvwvBTcXBuDmCNCDxEz18cvknqcBHARAI8CQw/SgRwEAIleqERmOiKWPUBeOKkZTbFHFPWc0n3UvZQK9NcgAL23sr2vKVTZu0VF96ow9SqGPcGnHw9I1aqj61VwO1m/rPUqtVKSXYhVUWuxtkNJtr/PIUzK8vbbOIBsatUEagscjHjbeIH7apz+Wc5JtfECviHdBk7eKLZnQDLnPzl/b3J80KFBjqVKv0OWLgfmI7JpJPhSNjgsQKtNHGjqG7xnMjyk5TsX3MOxVUPjVFNi7cwPoj3ytT2yyYTwKkglmBYcKRzsOkkmX+SvJcPatWH0a5qp+vb6x9Ue+KZmftb5vfkUaVLHMoYVGAIuA1dFNulWa4kw2btG1wzkerWVr9QDZzk4tvC1WYa1HJHWxynp9KmtGkoYhVpqFu2QFhbjNbfXjfx/WBwnKfEUHtU8exsyVBZh0XAuO282+Axq16a1E0bgdQRqD0zBcpMctfEM6eTYKD6Vh5X98wmx5L4BqOGUOLMxLkHVd61gemwHfHuTkrXGr3jpERpElIjCJk26jIjCJIRGkQHVXF4gU0LHO2i+kxyVe0ybk/gCBvNmzEsx52OvZw7JQoL+k1Qw83TJCeu2hqfIdvPNVhqO6JFvWOtdSgRYQiSIQhAGVKdxM1Vo/or2PmXPitwoMT5J9QnTmM1EgxWFFRSGAIIsQdCIrOp1manK5QEeBKDK2FO69zR+rU1NHobnTp4cZ0Fz0zB0I0I5xM7OOTWLmnASrtfCNVoOlMqGcWuxIAFxfQHhl2y2BKO2NuJhQpcMxe+6q8ba3JyGsef34GZTkNXBuHpAjiGcEfkky8h6zH6SqnWN9z7wIlbl5UPkU0HtEsfkI2jylxVUPuMoZADuKguy3sSCea4y5uqdH+xPVo9kcmKWHIYXd/Tfh7I0En5RYDw2GdRqBvL7S5jvFx2zLLtbEtiBRGIzvulgi2DAXPDOxuL9Ehwm18Q61GOIdRSVSbKrE7zhNMuJEXpe96uWc5wcmOTv6Q2+/mlP8AuH0R0c83GNwxai6U7KShVb5KtxYaA5CYili8QlSnRWsQtTc3CoFtx7bp3bXGukWrtnFJUCLWYkkAbwp6k24FvjK1m2/p5siQcg640ell6z/8I/8AUeux+kqp13dz3ED4yX/G8QDUVawd6IZmVqQCkIfG3WvnbpAkFLl1WHlJTbsK/Ay57tM+rt7K5JUqBDG9Rxoz6KecLz9c7BE4uyOVqYhxTKMjtpnvKbC+uo7p3CJnrvfrozZz4jIjCJIRGESen3iMicnGVjWY0qfkg2quOP8ApqfieyOxOOasfB0DZdHrDjzrT+bd07GytlCmoAFrcIuot6l2bgQijKdCIBFiIQhCAEIQgBCEIBFWoBhYzg1dnvhzeiN6nqaBNrdNM/VPRp1TRxGW8Cs7+uLgsclW+6c18pGFnT2l+eknrYdag3XUMDwYAj3xNobDWoQ2YZfJdDusvUw+Eo+Hr0cnXwy+ktlqAdK+S3ZaTxlfH/Edbkfhm+oV9hiPcbyGnyJRGDU6tVGGhG6bXBB4cxnVwm16VQ2VwG+zfxH/AAtr2S+BKmqXpP4y1HkKUYMlcqw0O4CQfxR2H5EOl9zEW3hY/RA3ANxcFueatRHASvfSpiMl+o77+/8ApJ3wQd80yTcaG5eLU5Clzd69zzikq/BprrQtH76P0jNNyR3gQ+IqsDa9ggLAabxtdu0wpcicOuodvabLuE0ZEYRF73+qmYpYXZlKj5pFXpAzPWxzMmIkGN2rSpZVHAPoDxnP3RnObU2rVq5UU8Gp/aVRd/uoMh2nsitX3i/jcalFb1GtfQasx5lUZmclhVxRsQadL7O/jOPXI0HqjtlvBbB8bfclnOrubt/QdAynco4YLpESrgNmhAMtJfAiwgBCEIAQhCAEIQgBCEIAQhCAEY9IHWPhAOdjNipUFmUHrAM5/wDgj0/M1aiD0d7eX8L3t2TQwgGf/SMWn2T+0jIe9SR7o4bbrjXDqelavyKTuFBGmiOaAcf9Yan/AE7f7iRv+P1zphwParfySdjwA5oooDmgHCbHYt9BSTpCs595A90Ydl1qvna1Rh6KncXuS3vM0QpCOtAONg+TyJooHUNes8Z06WEC8JPCAIBFhCAEIQgBCEIAQhCAf//Z"/>
          <p:cNvSpPr>
            <a:spLocks noChangeAspect="1" noChangeArrowheads="1"/>
          </p:cNvSpPr>
          <p:nvPr/>
        </p:nvSpPr>
        <p:spPr bwMode="auto">
          <a:xfrm>
            <a:off x="1658938" y="-98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6" descr="data:image/jpeg;base64,/9j/4AAQSkZJRgABAQAAAQABAAD/2wCEAAkGBhQQEBQUEBQUFBQQFBQVFBAQFBUUFBAQFhQVFRUUFRQXHCYeFxojGRYVHy8gIycpLS0tFx4xNTAqNSYrLCkBCQoKDgwNFA8PFykcHB0pKSkpLCkpKSkpKSwpLCwpKSkpKSwsKSkpKSkpLCkpLCkpKSkpKSkpLCkpKSkqKSkpKf/AABEIAMwAzAMBIgACEQEDEQH/xAAbAAABBQEBAAAAAAAAAAAAAAAAAQIDBAYFB//EAEYQAAIBAgMDBgoGCAUFAAAAAAECAAMRBCExBRJBBlFhcYGREyIyM1JicqGxwSNCU4KSohQWQ3Oy0eHwFSRjk9JUs8LD8f/EABkBAAMBAQEAAAAAAAAAAAAAAAABAgMEBf/EAB0RAQEBAQADAQEBAAAAAAAAAAABAhEDEiExUSL/2gAMAwEAAhEDEQA/APcYQhACEIQAhCEAISOviFpqWdgqjUsbAds4OM5U38wtx9pVuq9ar5Te7rgGhJlHFbco0zZqi39EHeb8K3MyeJxb1fOOz+rfcT8C69pMiQ7ostlHMoA+EDaOpyrX6lOq3SVCD85ErtyqfhSH3qoHwUzhwgTsnlTVv5unb96fjuSSnynqH9kp9msPmonCk+GGsC67icqh9elUXpAVx+Uky3h+UNFzYVFB9F/Ebua0yTHM9cGa4scxzMLjuME+zfLUBjpgcPVan5tmp9Cm6fgbLutOvhOUzr51d4faUrm3S1M5jsvA5qNPCVsHtBKq7yMGB4gyzBQhCEAIQhACEIQAhCEAIQgTACcfavKBaZKUxv1BqL2Wn0u3DqGZlLbG3yxKUDZQSHrDW/FafTztw65wxkLAWHN08STxPSY+KmepcRiGqNvVG32GlxZU9hNB1m5kZMSEauCEIsSSQhFvEmklihoZXvLCmyd8EVXhCETO0QvCETO05HKtvKSj+mvH2l0YdefTO9szlHchK1lY5Kw8ioegnQ+qffM/DgQRcHUHQw6J5blv1e8dMfsvbRo2DktT0DnNqXQ54r63DjNZSrBhcSnTnc3OxJCEIKEIQgBCEIATNbe2xvk0qZIVcqrqcyfs1PPznhprLvKDahpqKdM2qVAc/s0HlP8AIdPVMtYAADQaD5nnJ1vKk6vGejqyAyAGgHMIQigSmvCRbRbRbRJsNhaPtC0SLDLRbR9olxJRTbSdh4ndId4SeschEzqvaJaSWhaDHVR2haPtEtJYa0ZCPtEKxOfWu/IQG0vbI2p4AhSfoibLf9kx0U+qeB4aSjaJ1i4ORB0I5o438NuL8b6nUuI+Zjk/tMqfBOb2F0Y6smlj6y6HsM0ym8t6MvfpYQhAxIsViVpozubKgJJ6BJZnOU+Muy0hoPpH6QDZFPW2f3YHJ1xa9dnZnfyqhuR6C/VTsHvJjLRbRwE3jszJJw0COtHARQI+K9TbRbRwEDlJsRcm2jS3NAwtIsZWGwtHhY2pVVfKZR1kX7pNY0BZLiRpK9LHUt4eONen+UmesrN4rKegEX7pLn3Udo4NHFIlpLk3s4QtGiPU3ic11dX4baJaSWiWj42xhGRGkSUiNIjdOcI7HLdyZTvIeZubqIyPXNdsbaAq0ww4jMcQdCD0gzKES5sbFeDrW+rVzHRUXyu8WPYY3Tj42MI1GuI6NZGMw1av4RmqfasSP3Y8VPcL/emo5Q4gph3t5TDcX2nO6PjMtugZDQZDqGQlReP0gEcBFAjgJfW8pto4CKBHAS5WudGyIySpG2lNflNtIsVi1pC7anRBqf5R2MxQpJvHMnJV5zGYTBGmys48JiavkU/Qy1PAWHHhI1GPkkn1C2Hq1F3qrihT5vrEf3zkR+E2NTbzVGrW9dvFQ9pKg++afAbAUEPXIq1Nc/IQ+op+JznYBmNrjt6xycn3Gf6In+4l/jKWP2MBc1aFWl66+Oo6ypIE314l4mWsSvOUpVaY3qLiqno6n++qW8HjVqjLJhqh17OeaXaOwUqEvT+jqemoyboddGHvmWx2z2LnLweIp52GlQcGU8R/8Mix5/m8Os/Z9i3aAkOAxnhVzydcmX5yxaEg8fiOGcLREklpTrz40do0rJSI0iNtMoyJHVuFuNUIdetcyO1d4dsmIgMjBfGr2ZiQ6AjQgEdRl2ZzkvVspT7NmX7oPi/lImjgTg8qKnmV56hY9SIx+O7OIBOpyja9emPRp1D3tTX+c5wEqLyQCOtFAjrRr6QCLaOAgwyj6qaQWjlWKBGYmpuU3bmU26zkPfLlazanhmFSq9Z/N4cWXmLDj8T3TSbCwJVTVqD6Stmb/UTVUHxPTODs7CA08NS4VX8I/Sou9j2KomxvM93rDy77eH3igxgM5+0NpMG8HStvfWY5hb6ADiZDF1IhM5FPA1TmatS/tZd2knw+KdGCVsw2S1LW8bmYDK/TALxM5u2dn+FS65VKfjUz08UPQ2ndOgY0mAYPE1AjpiEFlqZOvMeIPTke1Z1mX++iRbWwnjYinwIFZegt5X5lPfG7Mqb1FDzDd7jYe60OFnEiW0lEaRJEGUfF8NIjbSQiJaB8RERpElIjSIxxNsV92u49JUbtsVP8ImtU5TG4M2xCdNNh3OD/AOU2FI5SU1mtvH/Mj9wf+6v9JTAl/b62xCetSqDuemfnKQEYgAj7QAjrQPpAIOMo8CDjKB9QgSrtcfQP93+IS5aRY2lvUag9W/aM/lH0eyTZq/TYfmGHYjupD5zRE6f3xMzGyq2WFf2qLHmJBVfzKnfNLfLqkpt6ehznM2VT3qjk677X/EROgrSnUQ0qhdQSj5sBmVbibcRzwJ2wJQ21THgmPEC49oG499o5NsUiL769pHwlerW8OQACKakEsRbwhGYAB+rfO/G0AsudOqMJgzXjCYBxtqD/ADHXh2v+PL4mc3YQ+g++3wEt4+tepiH4U6a0x7VizfxKJHsmju0E6bt3nL3AS5PjbOfie0fTGUQiSUxlHw+GkRLSQiNtEXEREaRJSI0iBcRUx9PR6qv/AK5sKPkiZCiL4in0I573UfKa+iMhJrO/ricpEs9FvWdPxIfmonPAnZ5TUr0Cw1pFag+4Qx915yLc2nDq4REAI8CIBHgRdT0ARd2KBHARdTdK9o5I90ziARWs7tysFQ3Xq4ZjYP41JuZhmCO4fhmkwGM8Im8wswO5VX0ag17Dkw6DOPtHAmooKZVKeakceNo/Z+ONQ79MAVlG7VotkKyj4EcDw00MU0nHl+8ruMLfz54B7SLCYtagO5c28qm2T0z6w+YyMl3QdD2GaOomWu6L89orPeJ4M/2RDc5yB7/hAEvK20MaKSE6nRVGrufJURcZtBKQzOZyVRm7nmVROTiK+59NiPLzFGhe+4DxPO3OewRydVnN1VTG0SFp0AbvVbfqsOcm5Pfn1KJ1NwCwGigAdQylbZuEYXq1fOVPyrzdH9BLhE2dnJPkRWkwXKIiXMkIk1nUZEaRJCI0iJKMiMIkpEbuxEiwC3xJ9REXtJZj8RNagymY5Opvs7+m7EeyPFX3LNQJDGmYimGUg5gixHODMlhFIXcOtEmmend8k9qlZsZm9rUPB1w31a43D0VVuUPaLr2CKpv4iAjwIgEeBJ6wtKBHAQAjgJNrK6IUvIt2WAINTvJZXtQCVcZs3whDodyqNGGQbr/nLu7FAiRI5TY/MDFoyOuS4ilcHsI+V+qdKhiHbzdWjWH+oNx+1k/4yQi4sQCOZhcSAbHom5ClT6p+Rly10Y3YnL1/safX4ZrfwXkFd6n7SrRoj1fHbsLZfllf9X6fp1Oq4j6ewqK5lWb22/lLldE3aqJjEVj+jI1aq2tapcn38O4SxhdmEN4Ssd+ofwpOgihRZQFHMotEtNs12eO/DDEtH7skSlaV1r0xUtAiSkRhERdRkRpEkIjSIFyIiJWx1XcpsRrbdX228VfjfslsiUqi+Erqg0peM37xhZR2Lc/ek34jXyO1sHCblNQOAA7hOvIcLS3VEmkMBKW1sCK1JlOVxkRqrDNWHSDYy7AiAZXC1iy+MLOpK1F5nGvYdR0GWAIu2sKaT+GUXFrVVHFBo4HOvwvBTcXBuDmCNCDxEz18cvknqcBHARAI8CQw/SgRwEAIleqERmOiKWPUBeOKkZTbFHFPWc0n3UvZQK9NcgAL23sr2vKVTZu0VF96ow9SqGPcGnHw9I1aqj61VwO1m/rPUqtVKSXYhVUWuxtkNJtr/PIUzK8vbbOIBsatUEagscjHjbeIH7apz+Wc5JtfECviHdBk7eKLZnQDLnPzl/b3J80KFBjqVKv0OWLgfmI7JpJPhSNjgsQKtNHGjqG7xnMjyk5TsX3MOxVUPjVFNi7cwPoj3ytT2yyYTwKkglmBYcKRzsOkkmX+SvJcPatWH0a5qp+vb6x9Ue+KZmftb5vfkUaVLHMoYVGAIuA1dFNulWa4kw2btG1wzkerWVr9QDZzk4tvC1WYa1HJHWxynp9KmtGkoYhVpqFu2QFhbjNbfXjfx/WBwnKfEUHtU8exsyVBZh0XAuO282+Axq16a1E0bgdQRqD0zBcpMctfEM6eTYKD6Vh5X98wmx5L4BqOGUOLMxLkHVd61gemwHfHuTkrXGr3jpERpElIjCJk26jIjCJIRGkQHVXF4gU0LHO2i+kxyVe0ybk/gCBvNmzEsx52OvZw7JQoL+k1Qw83TJCeu2hqfIdvPNVhqO6JFvWOtdSgRYQiSIQhAGVKdxM1Vo/or2PmXPitwoMT5J9QnTmM1EgxWFFRSGAIIsQdCIrOp1manK5QEeBKDK2FO69zR+rU1NHobnTp4cZ0Fz0zB0I0I5xM7OOTWLmnASrtfCNVoOlMqGcWuxIAFxfQHhl2y2BKO2NuJhQpcMxe+6q8ba3JyGsef34GZTkNXBuHpAjiGcEfkky8h6zH6SqnWN9z7wIlbl5UPkU0HtEsfkI2jylxVUPuMoZADuKguy3sSCea4y5uqdH+xPVo9kcmKWHIYXd/Tfh7I0En5RYDw2GdRqBvL7S5jvFx2zLLtbEtiBRGIzvulgi2DAXPDOxuL9Ehwm18Q61GOIdRSVSbKrE7zhNMuJEXpe96uWc5wcmOTv6Q2+/mlP8AuH0R0c83GNwxai6U7KShVb5KtxYaA5CYili8QlSnRWsQtTc3CoFtx7bp3bXGukWrtnFJUCLWYkkAbwp6k24FvjK1m2/p5siQcg640ell6z/8I/8AUeux+kqp13dz3ED4yX/G8QDUVawd6IZmVqQCkIfG3WvnbpAkFLl1WHlJTbsK/Ay57tM+rt7K5JUqBDG9Rxoz6KecLz9c7BE4uyOVqYhxTKMjtpnvKbC+uo7p3CJnrvfrozZz4jIjCJIRGESen3iMicnGVjWY0qfkg2quOP8ApqfieyOxOOasfB0DZdHrDjzrT+bd07GytlCmoAFrcIuot6l2bgQijKdCIBFiIQhCAEIQgBCEIBFWoBhYzg1dnvhzeiN6nqaBNrdNM/VPRp1TRxGW8Cs7+uLgsclW+6c18pGFnT2l+eknrYdag3XUMDwYAj3xNobDWoQ2YZfJdDusvUw+Eo+Hr0cnXwy+ktlqAdK+S3ZaTxlfH/Edbkfhm+oV9hiPcbyGnyJRGDU6tVGGhG6bXBB4cxnVwm16VQ2VwG+zfxH/AAtr2S+BKmqXpP4y1HkKUYMlcqw0O4CQfxR2H5EOl9zEW3hY/RA3ANxcFueatRHASvfSpiMl+o77+/8ApJ3wQd80yTcaG5eLU5Clzd69zzikq/BprrQtH76P0jNNyR3gQ+IqsDa9ggLAabxtdu0wpcicOuodvabLuE0ZEYRF73+qmYpYXZlKj5pFXpAzPWxzMmIkGN2rSpZVHAPoDxnP3RnObU2rVq5UU8Gp/aVRd/uoMh2nsitX3i/jcalFb1GtfQasx5lUZmclhVxRsQadL7O/jOPXI0HqjtlvBbB8bfclnOrubt/QdAynco4YLpESrgNmhAMtJfAiwgBCEIAQhCAEIQgBCEIAQhCAEY9IHWPhAOdjNipUFmUHrAM5/wDgj0/M1aiD0d7eX8L3t2TQwgGf/SMWn2T+0jIe9SR7o4bbrjXDqelavyKTuFBGmiOaAcf9Yan/AE7f7iRv+P1zphwParfySdjwA5oooDmgHCbHYt9BSTpCs595A90Ydl1qvna1Rh6KncXuS3vM0QpCOtAONg+TyJooHUNes8Z06WEC8JPCAIBFhCAEIQgBCEIAQhCAf//Z"/>
          <p:cNvSpPr>
            <a:spLocks noChangeAspect="1" noChangeArrowheads="1"/>
          </p:cNvSpPr>
          <p:nvPr/>
        </p:nvSpPr>
        <p:spPr bwMode="auto">
          <a:xfrm>
            <a:off x="1811338" y="539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22216" name="Picture 8" descr="https://iicme.com/wp-content/uploads/dvd-disk.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9968" y="4293097"/>
            <a:ext cx="2438400" cy="2438401"/>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495600" y="2392288"/>
            <a:ext cx="7772400" cy="1108720"/>
          </a:xfrm>
        </p:spPr>
        <p:txBody>
          <a:bodyPr/>
          <a:lstStyle/>
          <a:p>
            <a:r>
              <a:rPr lang="zh-CN" altLang="en-US" dirty="0"/>
              <a:t>如何使用计算机求解问题</a:t>
            </a:r>
            <a:endParaRPr lang="en-US" altLang="zh-CN"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zh-CN" altLang="en-US" dirty="0"/>
              <a:t>描述问题</a:t>
            </a:r>
            <a:endParaRPr lang="en-US" altLang="zh-CN" dirty="0"/>
          </a:p>
          <a:p>
            <a:r>
              <a:rPr lang="zh-CN" altLang="en-US" dirty="0"/>
              <a:t>分析问题 </a:t>
            </a:r>
            <a:r>
              <a:rPr lang="en-US" altLang="zh-CN" dirty="0"/>
              <a:t>—— </a:t>
            </a:r>
            <a:r>
              <a:rPr lang="zh-CN" altLang="en-US" dirty="0"/>
              <a:t>算法</a:t>
            </a:r>
            <a:endParaRPr lang="en-US" altLang="zh-CN" dirty="0"/>
          </a:p>
          <a:p>
            <a:r>
              <a:rPr lang="zh-CN" altLang="en-US" dirty="0"/>
              <a:t>语言实现算法</a:t>
            </a:r>
            <a:endParaRPr lang="en-US" altLang="zh-CN" dirty="0"/>
          </a:p>
          <a:p>
            <a:r>
              <a:rPr lang="zh-CN" altLang="en-US" dirty="0"/>
              <a:t>机器结构 </a:t>
            </a:r>
            <a:r>
              <a:rPr lang="en-US" altLang="zh-CN" dirty="0"/>
              <a:t>—— </a:t>
            </a:r>
            <a:r>
              <a:rPr lang="zh-CN" altLang="en-US" dirty="0"/>
              <a:t>指令集</a:t>
            </a:r>
            <a:endParaRPr lang="en-US" altLang="zh-CN" dirty="0"/>
          </a:p>
          <a:p>
            <a:r>
              <a:rPr lang="zh-CN" altLang="en-US" dirty="0"/>
              <a:t>微体系结构</a:t>
            </a:r>
            <a:endParaRPr lang="en-US" altLang="zh-CN" dirty="0"/>
          </a:p>
          <a:p>
            <a:r>
              <a:rPr lang="zh-CN" altLang="en-US" dirty="0"/>
              <a:t>电路</a:t>
            </a:r>
            <a:endParaRPr lang="en-US" altLang="zh-CN" dirty="0"/>
          </a:p>
          <a:p>
            <a:r>
              <a:rPr lang="zh-CN" altLang="en-US" dirty="0"/>
              <a:t>器件</a:t>
            </a:r>
            <a:endParaRPr lang="zh-CN" altLang="en-US" dirty="0"/>
          </a:p>
        </p:txBody>
      </p:sp>
      <p:sp>
        <p:nvSpPr>
          <p:cNvPr id="4" name="Title 3"/>
          <p:cNvSpPr>
            <a:spLocks noGrp="1"/>
          </p:cNvSpPr>
          <p:nvPr>
            <p:ph type="title"/>
          </p:nvPr>
        </p:nvSpPr>
        <p:spPr/>
        <p:txBody>
          <a:bodyPr/>
          <a:lstStyle/>
          <a:p>
            <a:r>
              <a:rPr lang="zh-CN" altLang="en-US" dirty="0"/>
              <a:t>计算机求解问题过程</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
          <p:cNvSpPr>
            <a:spLocks noGrp="1" noChangeArrowheads="1"/>
          </p:cNvSpPr>
          <p:nvPr>
            <p:ph type="sldNum" sz="quarter" idx="12"/>
          </p:nvPr>
        </p:nvSpPr>
        <p:spPr/>
        <p:txBody>
          <a:bodyPr/>
          <a:lstStyle/>
          <a:p>
            <a:pPr>
              <a:defRPr/>
            </a:pPr>
            <a:fld id="{B463E2E2-B025-4717-9C56-C5F620E5D962}" type="slidenum">
              <a:rPr lang="en-US"/>
            </a:fld>
            <a:endParaRPr lang="en-US"/>
          </a:p>
        </p:txBody>
      </p:sp>
      <p:sp>
        <p:nvSpPr>
          <p:cNvPr id="118788" name="Rectangle 2"/>
          <p:cNvSpPr>
            <a:spLocks noGrp="1" noChangeArrowheads="1"/>
          </p:cNvSpPr>
          <p:nvPr>
            <p:ph type="title" idx="4294967295"/>
          </p:nvPr>
        </p:nvSpPr>
        <p:spPr/>
        <p:txBody>
          <a:bodyPr/>
          <a:lstStyle/>
          <a:p>
            <a:r>
              <a:rPr lang="zh-CN" altLang="en-US" dirty="0">
                <a:ea typeface="宋体" panose="02010600030101010101" pitchFamily="2" charset="-122"/>
              </a:rPr>
              <a:t>每个层次的功能描述</a:t>
            </a:r>
            <a:endParaRPr lang="zh-CN" altLang="en-US" dirty="0">
              <a:ea typeface="宋体" panose="02010600030101010101" pitchFamily="2" charset="-122"/>
            </a:endParaRPr>
          </a:p>
        </p:txBody>
      </p:sp>
      <p:sp>
        <p:nvSpPr>
          <p:cNvPr id="118789" name="Rectangle 3"/>
          <p:cNvSpPr>
            <a:spLocks noGrp="1" noChangeArrowheads="1"/>
          </p:cNvSpPr>
          <p:nvPr>
            <p:ph type="body" idx="4294967295"/>
          </p:nvPr>
        </p:nvSpPr>
        <p:spPr/>
        <p:txBody>
          <a:bodyPr>
            <a:normAutofit fontScale="92500" lnSpcReduction="10000"/>
          </a:bodyPr>
          <a:lstStyle/>
          <a:p>
            <a:r>
              <a:rPr lang="en-US" altLang="zh-CN" dirty="0">
                <a:ea typeface="宋体" panose="02010600030101010101" pitchFamily="2" charset="-122"/>
              </a:rPr>
              <a:t>Problem Statement</a:t>
            </a:r>
            <a:endParaRPr lang="en-US" altLang="zh-CN" dirty="0">
              <a:ea typeface="宋体" panose="02010600030101010101" pitchFamily="2" charset="-122"/>
            </a:endParaRPr>
          </a:p>
          <a:p>
            <a:pPr lvl="1"/>
            <a:r>
              <a:rPr lang="en-US" altLang="zh-CN" dirty="0"/>
              <a:t>stated using "natural language"</a:t>
            </a:r>
            <a:endParaRPr lang="en-US" altLang="zh-CN" dirty="0"/>
          </a:p>
          <a:p>
            <a:pPr lvl="1"/>
            <a:r>
              <a:rPr lang="en-US" altLang="zh-CN" dirty="0"/>
              <a:t>may be ambiguous, imprecise</a:t>
            </a:r>
            <a:endParaRPr lang="en-US" altLang="zh-CN" dirty="0"/>
          </a:p>
          <a:p>
            <a:r>
              <a:rPr lang="en-US" altLang="zh-CN" dirty="0">
                <a:ea typeface="宋体" panose="02010600030101010101" pitchFamily="2" charset="-122"/>
              </a:rPr>
              <a:t>Algorithm</a:t>
            </a:r>
            <a:endParaRPr lang="en-US" altLang="zh-CN" dirty="0">
              <a:ea typeface="宋体" panose="02010600030101010101" pitchFamily="2" charset="-122"/>
            </a:endParaRPr>
          </a:p>
          <a:p>
            <a:pPr lvl="1"/>
            <a:r>
              <a:rPr lang="en-US" altLang="zh-CN" dirty="0"/>
              <a:t>step-by-step procedure, guaranteed to finish</a:t>
            </a:r>
            <a:endParaRPr lang="en-US" altLang="zh-CN" dirty="0"/>
          </a:p>
          <a:p>
            <a:pPr lvl="1"/>
            <a:r>
              <a:rPr lang="en-US" altLang="zh-CN" dirty="0"/>
              <a:t>definiteness, effective computability, finiteness</a:t>
            </a:r>
            <a:endParaRPr lang="en-US" altLang="zh-CN" dirty="0"/>
          </a:p>
          <a:p>
            <a:r>
              <a:rPr lang="en-US" altLang="zh-CN" dirty="0">
                <a:ea typeface="宋体" panose="02010600030101010101" pitchFamily="2" charset="-122"/>
              </a:rPr>
              <a:t>Program</a:t>
            </a:r>
            <a:endParaRPr lang="en-US" altLang="zh-CN" dirty="0">
              <a:ea typeface="宋体" panose="02010600030101010101" pitchFamily="2" charset="-122"/>
            </a:endParaRPr>
          </a:p>
          <a:p>
            <a:pPr lvl="1"/>
            <a:r>
              <a:rPr lang="en-US" altLang="zh-CN" dirty="0"/>
              <a:t>express the algorithm using a computer language</a:t>
            </a:r>
            <a:endParaRPr lang="en-US" altLang="zh-CN" dirty="0"/>
          </a:p>
          <a:p>
            <a:pPr lvl="1"/>
            <a:r>
              <a:rPr lang="en-US" altLang="zh-CN" dirty="0"/>
              <a:t>high-level language, low-level language</a:t>
            </a:r>
            <a:endParaRPr lang="en-US" altLang="zh-CN" dirty="0"/>
          </a:p>
          <a:p>
            <a:r>
              <a:rPr lang="en-US" altLang="zh-CN" dirty="0">
                <a:ea typeface="宋体" panose="02010600030101010101" pitchFamily="2" charset="-122"/>
              </a:rPr>
              <a:t>Instruction Set Architecture (ISA)</a:t>
            </a:r>
            <a:endParaRPr lang="en-US" altLang="zh-CN" dirty="0">
              <a:ea typeface="宋体" panose="02010600030101010101" pitchFamily="2" charset="-122"/>
            </a:endParaRPr>
          </a:p>
          <a:p>
            <a:pPr lvl="1"/>
            <a:r>
              <a:rPr lang="en-US" altLang="zh-CN" dirty="0"/>
              <a:t>specifies the set of instructions the computer can perform</a:t>
            </a:r>
            <a:endParaRPr lang="en-US" altLang="zh-CN" dirty="0"/>
          </a:p>
          <a:p>
            <a:pPr lvl="1"/>
            <a:r>
              <a:rPr lang="en-US" altLang="zh-CN" dirty="0"/>
              <a:t>data types, addressing mode</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2"/>
          <p:cNvSpPr>
            <a:spLocks noGrp="1" noChangeArrowheads="1"/>
          </p:cNvSpPr>
          <p:nvPr>
            <p:ph type="title" idx="4294967295"/>
          </p:nvPr>
        </p:nvSpPr>
        <p:spPr>
          <a:xfrm>
            <a:off x="1991544" y="0"/>
            <a:ext cx="8229600" cy="1143000"/>
          </a:xfrm>
        </p:spPr>
        <p:txBody>
          <a:bodyPr>
            <a:normAutofit/>
          </a:bodyPr>
          <a:lstStyle/>
          <a:p>
            <a:r>
              <a:rPr lang="zh-CN" altLang="en-US" dirty="0">
                <a:ea typeface="宋体" panose="02010600030101010101" pitchFamily="2" charset="-122"/>
              </a:rPr>
              <a:t>每个层次的功能描述</a:t>
            </a:r>
            <a:r>
              <a:rPr lang="en-US" altLang="zh-CN" dirty="0">
                <a:ea typeface="宋体" panose="02010600030101010101" pitchFamily="2" charset="-122"/>
              </a:rPr>
              <a:t>(cont.)</a:t>
            </a:r>
            <a:endParaRPr lang="en-US" altLang="zh-CN" dirty="0">
              <a:ea typeface="宋体" panose="02010600030101010101" pitchFamily="2" charset="-122"/>
            </a:endParaRPr>
          </a:p>
        </p:txBody>
      </p:sp>
      <p:sp>
        <p:nvSpPr>
          <p:cNvPr id="119813" name="Rectangle 3"/>
          <p:cNvSpPr>
            <a:spLocks noGrp="1" noChangeArrowheads="1"/>
          </p:cNvSpPr>
          <p:nvPr>
            <p:ph type="body" idx="4294967295"/>
          </p:nvPr>
        </p:nvSpPr>
        <p:spPr>
          <a:xfrm>
            <a:off x="1703388" y="981075"/>
            <a:ext cx="8761412" cy="5481638"/>
          </a:xfrm>
        </p:spPr>
        <p:txBody>
          <a:bodyPr/>
          <a:lstStyle/>
          <a:p>
            <a:pPr marL="0" indent="0"/>
            <a:r>
              <a:rPr lang="en-US" altLang="zh-CN" dirty="0" err="1">
                <a:ea typeface="宋体" panose="02010600030101010101" pitchFamily="2" charset="-122"/>
              </a:rPr>
              <a:t>Microarchitecture</a:t>
            </a:r>
            <a:endParaRPr lang="en-US" altLang="zh-CN" dirty="0">
              <a:ea typeface="宋体" panose="02010600030101010101" pitchFamily="2" charset="-122"/>
            </a:endParaRPr>
          </a:p>
          <a:p>
            <a:pPr marL="576580" lvl="1" indent="-234950"/>
            <a:r>
              <a:rPr lang="en-US" altLang="zh-CN" dirty="0"/>
              <a:t>detailed organization of a processor implementation</a:t>
            </a:r>
            <a:endParaRPr lang="en-US" altLang="zh-CN" dirty="0"/>
          </a:p>
          <a:p>
            <a:pPr marL="576580" lvl="1" indent="-234950"/>
            <a:r>
              <a:rPr lang="en-US" altLang="zh-CN" dirty="0"/>
              <a:t>different implementations of a single ISA</a:t>
            </a:r>
            <a:endParaRPr lang="en-US" altLang="zh-CN" dirty="0"/>
          </a:p>
          <a:p>
            <a:pPr marL="0" indent="0"/>
            <a:r>
              <a:rPr lang="en-US" altLang="zh-CN" dirty="0">
                <a:ea typeface="宋体" panose="02010600030101010101" pitchFamily="2" charset="-122"/>
              </a:rPr>
              <a:t>Logic Circuits</a:t>
            </a:r>
            <a:endParaRPr lang="en-US" altLang="zh-CN" dirty="0">
              <a:ea typeface="宋体" panose="02010600030101010101" pitchFamily="2" charset="-122"/>
            </a:endParaRPr>
          </a:p>
          <a:p>
            <a:pPr marL="576580" lvl="1" indent="-234950"/>
            <a:r>
              <a:rPr lang="en-US" altLang="zh-CN" dirty="0"/>
              <a:t>combine basic operations to realize </a:t>
            </a:r>
            <a:r>
              <a:rPr lang="en-US" altLang="zh-CN" dirty="0" err="1"/>
              <a:t>microarchitecture</a:t>
            </a:r>
            <a:endParaRPr lang="en-US" altLang="zh-CN" dirty="0"/>
          </a:p>
          <a:p>
            <a:pPr marL="576580" lvl="1" indent="-234950"/>
            <a:r>
              <a:rPr lang="en-US" altLang="zh-CN" dirty="0"/>
              <a:t>many different ways to implement a single function </a:t>
            </a:r>
            <a:br>
              <a:rPr lang="en-US" altLang="zh-CN" dirty="0"/>
            </a:br>
            <a:r>
              <a:rPr lang="en-US" altLang="zh-CN" dirty="0"/>
              <a:t>(e.g., addition)</a:t>
            </a:r>
            <a:endParaRPr lang="en-US" altLang="zh-CN" dirty="0"/>
          </a:p>
          <a:p>
            <a:pPr marL="0" indent="0"/>
            <a:r>
              <a:rPr lang="en-US" altLang="zh-CN" dirty="0">
                <a:ea typeface="宋体" panose="02010600030101010101" pitchFamily="2" charset="-122"/>
              </a:rPr>
              <a:t>Devices</a:t>
            </a:r>
            <a:endParaRPr lang="en-US" altLang="zh-CN" dirty="0">
              <a:ea typeface="宋体" panose="02010600030101010101" pitchFamily="2" charset="-122"/>
            </a:endParaRPr>
          </a:p>
          <a:p>
            <a:pPr marL="576580" lvl="1" indent="-234950"/>
            <a:r>
              <a:rPr lang="en-US" altLang="zh-CN" dirty="0"/>
              <a:t>properties of materials, manufacturability</a:t>
            </a:r>
            <a:endParaRPr lang="en-US" altLang="zh-CN" dirty="0"/>
          </a:p>
          <a:p>
            <a:pPr marL="576580" lvl="1" indent="-234950"/>
            <a:endParaRPr lang="en-US" altLang="zh-CN"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2"/>
          <p:cNvSpPr>
            <a:spLocks noGrp="1" noChangeArrowheads="1"/>
          </p:cNvSpPr>
          <p:nvPr>
            <p:ph type="title" idx="4294967295"/>
          </p:nvPr>
        </p:nvSpPr>
        <p:spPr>
          <a:xfrm>
            <a:off x="1524000" y="0"/>
            <a:ext cx="8686800" cy="1143000"/>
          </a:xfrm>
        </p:spPr>
        <p:txBody>
          <a:bodyPr>
            <a:normAutofit/>
          </a:bodyPr>
          <a:lstStyle/>
          <a:p>
            <a:r>
              <a:rPr lang="zh-CN" altLang="en-US" dirty="0">
                <a:ea typeface="宋体" panose="02010600030101010101" pitchFamily="2" charset="-122"/>
              </a:rPr>
              <a:t>自顶向下层次的转化</a:t>
            </a:r>
            <a:endParaRPr lang="en-US" altLang="zh-CN" dirty="0">
              <a:ea typeface="宋体" panose="02010600030101010101" pitchFamily="2" charset="-122"/>
            </a:endParaRPr>
          </a:p>
        </p:txBody>
      </p:sp>
      <p:sp>
        <p:nvSpPr>
          <p:cNvPr id="114693" name="Rectangle 3"/>
          <p:cNvSpPr>
            <a:spLocks noGrp="1" noChangeArrowheads="1"/>
          </p:cNvSpPr>
          <p:nvPr>
            <p:ph type="body" idx="4294967295"/>
          </p:nvPr>
        </p:nvSpPr>
        <p:spPr>
          <a:xfrm>
            <a:off x="1703389" y="981076"/>
            <a:ext cx="8683625" cy="1279525"/>
          </a:xfrm>
        </p:spPr>
        <p:txBody>
          <a:bodyPr/>
          <a:lstStyle/>
          <a:p>
            <a:pPr marL="0" indent="0">
              <a:buNone/>
            </a:pPr>
            <a:r>
              <a:rPr lang="zh-CN" altLang="en-US" dirty="0"/>
              <a:t>怎么利用计算机求解问题的系统过程</a:t>
            </a:r>
            <a:endParaRPr lang="en-US" altLang="zh-CN" sz="2000" dirty="0">
              <a:ea typeface="宋体" panose="02010600030101010101" pitchFamily="2" charset="-122"/>
            </a:endParaRPr>
          </a:p>
        </p:txBody>
      </p:sp>
      <p:sp>
        <p:nvSpPr>
          <p:cNvPr id="44036" name="Rectangle 4"/>
          <p:cNvSpPr>
            <a:spLocks noChangeArrowheads="1"/>
          </p:cNvSpPr>
          <p:nvPr/>
        </p:nvSpPr>
        <p:spPr bwMode="auto">
          <a:xfrm>
            <a:off x="2279576" y="1700808"/>
            <a:ext cx="1828800" cy="6858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lgn="ctr" eaLnBrk="0" hangingPunct="0">
              <a:defRPr/>
            </a:pPr>
            <a:r>
              <a:rPr lang="en-US" altLang="zh-CN" sz="2400" b="1" i="1" baseline="0" dirty="0">
                <a:latin typeface="Arial" panose="020B0604020202020204" pitchFamily="34" charset="0"/>
              </a:rPr>
              <a:t>Problem</a:t>
            </a:r>
            <a:endParaRPr lang="en-US" altLang="zh-CN" sz="2400" b="1" i="1" baseline="0" dirty="0">
              <a:latin typeface="Franklin Gothic Book" panose="020B0503020102020204" pitchFamily="34" charset="0"/>
            </a:endParaRPr>
          </a:p>
        </p:txBody>
      </p:sp>
      <p:sp>
        <p:nvSpPr>
          <p:cNvPr id="44037" name="Rectangle 5"/>
          <p:cNvSpPr>
            <a:spLocks noChangeArrowheads="1"/>
          </p:cNvSpPr>
          <p:nvPr/>
        </p:nvSpPr>
        <p:spPr bwMode="auto">
          <a:xfrm>
            <a:off x="2279576" y="2920008"/>
            <a:ext cx="1828800" cy="6858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lgn="ctr" eaLnBrk="0" hangingPunct="0">
              <a:defRPr/>
            </a:pPr>
            <a:r>
              <a:rPr lang="en-US" altLang="zh-CN" sz="2400" b="1" i="1" baseline="0">
                <a:latin typeface="Arial" panose="020B0604020202020204" pitchFamily="34" charset="0"/>
              </a:rPr>
              <a:t>Algorithm</a:t>
            </a:r>
            <a:endParaRPr lang="en-US" altLang="zh-CN" sz="2400" b="1" i="1" baseline="0">
              <a:latin typeface="Franklin Gothic Book" panose="020B0503020102020204" pitchFamily="34" charset="0"/>
            </a:endParaRPr>
          </a:p>
        </p:txBody>
      </p:sp>
      <p:sp>
        <p:nvSpPr>
          <p:cNvPr id="44038" name="Rectangle 6"/>
          <p:cNvSpPr>
            <a:spLocks noChangeArrowheads="1"/>
          </p:cNvSpPr>
          <p:nvPr/>
        </p:nvSpPr>
        <p:spPr bwMode="auto">
          <a:xfrm>
            <a:off x="2279576" y="4139208"/>
            <a:ext cx="1828800" cy="6858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lgn="ctr" eaLnBrk="0" hangingPunct="0">
              <a:defRPr/>
            </a:pPr>
            <a:r>
              <a:rPr lang="en-US" altLang="zh-CN" sz="2400" b="1" i="1" baseline="0">
                <a:latin typeface="Arial" panose="020B0604020202020204" pitchFamily="34" charset="0"/>
              </a:rPr>
              <a:t>Program</a:t>
            </a:r>
            <a:endParaRPr lang="en-US" altLang="zh-CN" sz="2400" b="1" i="1" baseline="0">
              <a:latin typeface="Franklin Gothic Book" panose="020B0503020102020204" pitchFamily="34" charset="0"/>
            </a:endParaRPr>
          </a:p>
        </p:txBody>
      </p:sp>
      <p:sp>
        <p:nvSpPr>
          <p:cNvPr id="114697" name="Text Box 10"/>
          <p:cNvSpPr txBox="1">
            <a:spLocks noChangeArrowheads="1"/>
          </p:cNvSpPr>
          <p:nvPr/>
        </p:nvSpPr>
        <p:spPr bwMode="auto">
          <a:xfrm>
            <a:off x="4794177" y="2310409"/>
            <a:ext cx="5405647" cy="830997"/>
          </a:xfrm>
          <a:prstGeom prst="rect">
            <a:avLst/>
          </a:prstGeom>
          <a:noFill/>
          <a:ln w="9525">
            <a:noFill/>
            <a:miter lim="800000"/>
          </a:ln>
        </p:spPr>
        <p:txBody>
          <a:bodyPr wrap="none">
            <a:spAutoFit/>
          </a:bodyPr>
          <a:lstStyle/>
          <a:p>
            <a:pPr eaLnBrk="0" hangingPunct="0"/>
            <a:r>
              <a:rPr lang="en-US" altLang="zh-CN" sz="2400" b="1" i="1" baseline="0"/>
              <a:t>Software Design:</a:t>
            </a:r>
            <a:endParaRPr lang="en-US" altLang="zh-CN" sz="2400" b="1" i="1" baseline="0"/>
          </a:p>
          <a:p>
            <a:pPr eaLnBrk="0" hangingPunct="0"/>
            <a:r>
              <a:rPr lang="en-US" altLang="zh-CN" sz="2400" baseline="0"/>
              <a:t>choose algorithms and data structures</a:t>
            </a:r>
            <a:endParaRPr lang="en-US" altLang="zh-CN" sz="2400" baseline="0">
              <a:latin typeface="Franklin Gothic Book" panose="020B0503020102020204" pitchFamily="34" charset="0"/>
            </a:endParaRPr>
          </a:p>
        </p:txBody>
      </p:sp>
      <p:sp>
        <p:nvSpPr>
          <p:cNvPr id="114698" name="Text Box 11"/>
          <p:cNvSpPr txBox="1">
            <a:spLocks noChangeArrowheads="1"/>
          </p:cNvSpPr>
          <p:nvPr/>
        </p:nvSpPr>
        <p:spPr bwMode="auto">
          <a:xfrm>
            <a:off x="4794176" y="3529609"/>
            <a:ext cx="4535216" cy="830997"/>
          </a:xfrm>
          <a:prstGeom prst="rect">
            <a:avLst/>
          </a:prstGeom>
          <a:noFill/>
          <a:ln w="9525">
            <a:noFill/>
            <a:miter lim="800000"/>
          </a:ln>
        </p:spPr>
        <p:txBody>
          <a:bodyPr wrap="none">
            <a:spAutoFit/>
          </a:bodyPr>
          <a:lstStyle/>
          <a:p>
            <a:pPr eaLnBrk="0" hangingPunct="0"/>
            <a:r>
              <a:rPr lang="en-US" altLang="zh-CN" sz="2400" b="1" i="1" baseline="0"/>
              <a:t>Programming:</a:t>
            </a:r>
            <a:endParaRPr lang="en-US" altLang="zh-CN" sz="2400" b="1" i="1" baseline="0"/>
          </a:p>
          <a:p>
            <a:pPr eaLnBrk="0" hangingPunct="0"/>
            <a:r>
              <a:rPr lang="en-US" altLang="zh-CN" sz="2400" baseline="0"/>
              <a:t>use language to express design</a:t>
            </a:r>
            <a:endParaRPr lang="en-US" altLang="zh-CN" sz="2400" baseline="0">
              <a:latin typeface="Franklin Gothic Book" panose="020B0503020102020204" pitchFamily="34" charset="0"/>
            </a:endParaRPr>
          </a:p>
        </p:txBody>
      </p:sp>
      <p:sp>
        <p:nvSpPr>
          <p:cNvPr id="44047" name="Rectangle 15"/>
          <p:cNvSpPr>
            <a:spLocks noChangeArrowheads="1"/>
          </p:cNvSpPr>
          <p:nvPr/>
        </p:nvSpPr>
        <p:spPr bwMode="auto">
          <a:xfrm>
            <a:off x="2279576" y="5358408"/>
            <a:ext cx="1828800" cy="6858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lgn="ctr" eaLnBrk="0" hangingPunct="0">
              <a:defRPr/>
            </a:pPr>
            <a:r>
              <a:rPr lang="en-US" altLang="zh-CN" sz="2400" b="1" i="1" baseline="0">
                <a:solidFill>
                  <a:srgbClr val="FF3300"/>
                </a:solidFill>
                <a:latin typeface="Franklin Gothic Book" panose="020B0503020102020204" pitchFamily="34" charset="0"/>
              </a:rPr>
              <a:t>Instr Set</a:t>
            </a:r>
            <a:endParaRPr lang="en-US" altLang="zh-CN" sz="2400" b="1" i="1" baseline="0">
              <a:solidFill>
                <a:srgbClr val="FF3300"/>
              </a:solidFill>
              <a:latin typeface="Franklin Gothic Book" panose="020B0503020102020204" pitchFamily="34" charset="0"/>
            </a:endParaRPr>
          </a:p>
          <a:p>
            <a:pPr algn="ctr" eaLnBrk="0" hangingPunct="0">
              <a:defRPr/>
            </a:pPr>
            <a:r>
              <a:rPr lang="en-US" altLang="zh-CN" sz="2400" b="1" i="1" baseline="0">
                <a:solidFill>
                  <a:srgbClr val="FF3300"/>
                </a:solidFill>
                <a:latin typeface="Franklin Gothic Book" panose="020B0503020102020204" pitchFamily="34" charset="0"/>
              </a:rPr>
              <a:t>Architecture</a:t>
            </a:r>
            <a:endParaRPr lang="en-US" altLang="zh-CN" sz="2400" b="1" i="1" baseline="0">
              <a:solidFill>
                <a:srgbClr val="FF3300"/>
              </a:solidFill>
              <a:latin typeface="Franklin Gothic Book" panose="020B0503020102020204" pitchFamily="34" charset="0"/>
            </a:endParaRPr>
          </a:p>
        </p:txBody>
      </p:sp>
      <p:sp>
        <p:nvSpPr>
          <p:cNvPr id="114700" name="AutoShape 14"/>
          <p:cNvSpPr>
            <a:spLocks noChangeArrowheads="1"/>
          </p:cNvSpPr>
          <p:nvPr/>
        </p:nvSpPr>
        <p:spPr bwMode="auto">
          <a:xfrm>
            <a:off x="4108376" y="4367808"/>
            <a:ext cx="685800" cy="1676400"/>
          </a:xfrm>
          <a:prstGeom prst="curvedLeftArrow">
            <a:avLst>
              <a:gd name="adj1" fmla="val 48889"/>
              <a:gd name="adj2" fmla="val 97778"/>
              <a:gd name="adj3" fmla="val 33333"/>
            </a:avLst>
          </a:prstGeom>
          <a:solidFill>
            <a:srgbClr val="FF7C80"/>
          </a:solidFill>
          <a:ln w="9525">
            <a:solidFill>
              <a:schemeClr val="tx1"/>
            </a:solidFill>
            <a:miter lim="800000"/>
          </a:ln>
        </p:spPr>
        <p:txBody>
          <a:bodyPr wrap="none" anchor="ctr"/>
          <a:lstStyle/>
          <a:p>
            <a:pPr algn="ctr" eaLnBrk="0" hangingPunct="0"/>
            <a:endParaRPr lang="zh-CN" altLang="en-US" sz="2400" baseline="0"/>
          </a:p>
        </p:txBody>
      </p:sp>
      <p:sp>
        <p:nvSpPr>
          <p:cNvPr id="114701" name="AutoShape 13"/>
          <p:cNvSpPr>
            <a:spLocks noChangeArrowheads="1"/>
          </p:cNvSpPr>
          <p:nvPr/>
        </p:nvSpPr>
        <p:spPr bwMode="auto">
          <a:xfrm>
            <a:off x="4108376" y="3148608"/>
            <a:ext cx="685800" cy="1676400"/>
          </a:xfrm>
          <a:prstGeom prst="curvedLeftArrow">
            <a:avLst>
              <a:gd name="adj1" fmla="val 48889"/>
              <a:gd name="adj2" fmla="val 97778"/>
              <a:gd name="adj3" fmla="val 33333"/>
            </a:avLst>
          </a:prstGeom>
          <a:solidFill>
            <a:srgbClr val="FF7C80"/>
          </a:solidFill>
          <a:ln w="9525">
            <a:solidFill>
              <a:schemeClr val="tx1"/>
            </a:solidFill>
            <a:miter lim="800000"/>
          </a:ln>
        </p:spPr>
        <p:txBody>
          <a:bodyPr wrap="none" anchor="ctr"/>
          <a:lstStyle/>
          <a:p>
            <a:pPr algn="ctr" eaLnBrk="0" hangingPunct="0"/>
            <a:endParaRPr lang="zh-CN" altLang="en-US" sz="2400" baseline="0"/>
          </a:p>
        </p:txBody>
      </p:sp>
      <p:sp>
        <p:nvSpPr>
          <p:cNvPr id="114702" name="AutoShape 8"/>
          <p:cNvSpPr>
            <a:spLocks noChangeArrowheads="1"/>
          </p:cNvSpPr>
          <p:nvPr/>
        </p:nvSpPr>
        <p:spPr bwMode="auto">
          <a:xfrm>
            <a:off x="4108376" y="1929408"/>
            <a:ext cx="685800" cy="1676400"/>
          </a:xfrm>
          <a:prstGeom prst="curvedLeftArrow">
            <a:avLst>
              <a:gd name="adj1" fmla="val 48889"/>
              <a:gd name="adj2" fmla="val 97778"/>
              <a:gd name="adj3" fmla="val 33333"/>
            </a:avLst>
          </a:prstGeom>
          <a:solidFill>
            <a:srgbClr val="FF7C80"/>
          </a:solidFill>
          <a:ln w="9525">
            <a:solidFill>
              <a:schemeClr val="tx1"/>
            </a:solidFill>
            <a:miter lim="800000"/>
          </a:ln>
        </p:spPr>
        <p:txBody>
          <a:bodyPr wrap="none" anchor="ctr"/>
          <a:lstStyle/>
          <a:p>
            <a:pPr algn="ctr" eaLnBrk="0" hangingPunct="0"/>
            <a:endParaRPr lang="zh-CN" altLang="en-US" sz="2400" baseline="0"/>
          </a:p>
        </p:txBody>
      </p:sp>
      <p:sp>
        <p:nvSpPr>
          <p:cNvPr id="114703" name="Text Box 16"/>
          <p:cNvSpPr txBox="1">
            <a:spLocks noChangeArrowheads="1"/>
          </p:cNvSpPr>
          <p:nvPr/>
        </p:nvSpPr>
        <p:spPr bwMode="auto">
          <a:xfrm>
            <a:off x="4794176" y="4672609"/>
            <a:ext cx="5410200" cy="1200329"/>
          </a:xfrm>
          <a:prstGeom prst="rect">
            <a:avLst/>
          </a:prstGeom>
          <a:noFill/>
          <a:ln w="9525">
            <a:noFill/>
            <a:miter lim="800000"/>
          </a:ln>
        </p:spPr>
        <p:txBody>
          <a:bodyPr>
            <a:spAutoFit/>
          </a:bodyPr>
          <a:lstStyle/>
          <a:p>
            <a:pPr eaLnBrk="0" hangingPunct="0"/>
            <a:r>
              <a:rPr lang="en-US" altLang="zh-CN" sz="2400" b="1" i="1" baseline="0"/>
              <a:t>Compiling/Interpreting:</a:t>
            </a:r>
            <a:endParaRPr lang="en-US" altLang="zh-CN" sz="2400" b="1" i="1" baseline="0"/>
          </a:p>
          <a:p>
            <a:pPr eaLnBrk="0" hangingPunct="0"/>
            <a:r>
              <a:rPr lang="en-US" altLang="zh-CN" sz="2400" baseline="0"/>
              <a:t>convert language to </a:t>
            </a:r>
            <a:br>
              <a:rPr lang="en-US" altLang="zh-CN" sz="2400" baseline="0"/>
            </a:br>
            <a:r>
              <a:rPr lang="en-US" altLang="zh-CN" sz="2400" baseline="0"/>
              <a:t>machine instructions</a:t>
            </a:r>
            <a:endParaRPr lang="en-US" altLang="zh-CN" sz="2400" baseline="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1027"/>
          <p:cNvSpPr>
            <a:spLocks noChangeArrowheads="1"/>
          </p:cNvSpPr>
          <p:nvPr/>
        </p:nvSpPr>
        <p:spPr bwMode="auto">
          <a:xfrm>
            <a:off x="2279576" y="1196752"/>
            <a:ext cx="1828800" cy="6858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lgn="ctr" eaLnBrk="0" hangingPunct="0">
              <a:defRPr/>
            </a:pPr>
            <a:r>
              <a:rPr lang="en-US" altLang="zh-CN" sz="2000" b="1" i="1" baseline="0">
                <a:solidFill>
                  <a:srgbClr val="FF3300"/>
                </a:solidFill>
                <a:latin typeface="Arial" panose="020B0604020202020204" pitchFamily="34" charset="0"/>
              </a:rPr>
              <a:t>Instr Set</a:t>
            </a:r>
            <a:endParaRPr lang="en-US" altLang="zh-CN" sz="2000" b="1" i="1" baseline="0">
              <a:solidFill>
                <a:srgbClr val="FF3300"/>
              </a:solidFill>
              <a:latin typeface="Arial" panose="020B0604020202020204" pitchFamily="34" charset="0"/>
            </a:endParaRPr>
          </a:p>
          <a:p>
            <a:pPr algn="ctr" eaLnBrk="0" hangingPunct="0">
              <a:defRPr/>
            </a:pPr>
            <a:r>
              <a:rPr lang="en-US" altLang="zh-CN" sz="2000" b="1" i="1" baseline="0">
                <a:solidFill>
                  <a:srgbClr val="FF3300"/>
                </a:solidFill>
                <a:latin typeface="Arial" panose="020B0604020202020204" pitchFamily="34" charset="0"/>
              </a:rPr>
              <a:t>Architecture</a:t>
            </a:r>
            <a:endParaRPr lang="en-US" altLang="zh-CN" sz="2000" b="1" i="1" baseline="0">
              <a:solidFill>
                <a:srgbClr val="FF3300"/>
              </a:solidFill>
              <a:latin typeface="Franklin Gothic Book" panose="020B0503020102020204" pitchFamily="34" charset="0"/>
            </a:endParaRPr>
          </a:p>
        </p:txBody>
      </p:sp>
      <p:sp>
        <p:nvSpPr>
          <p:cNvPr id="45060" name="Rectangle 1028"/>
          <p:cNvSpPr>
            <a:spLocks noChangeArrowheads="1"/>
          </p:cNvSpPr>
          <p:nvPr/>
        </p:nvSpPr>
        <p:spPr bwMode="auto">
          <a:xfrm>
            <a:off x="2279576" y="2415952"/>
            <a:ext cx="1828800" cy="6858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lgn="ctr" eaLnBrk="0" hangingPunct="0">
              <a:defRPr/>
            </a:pPr>
            <a:r>
              <a:rPr lang="en-US" altLang="zh-CN" sz="2400" b="1" i="1" baseline="0">
                <a:latin typeface="Arial" panose="020B0604020202020204" pitchFamily="34" charset="0"/>
              </a:rPr>
              <a:t>Microarch</a:t>
            </a:r>
            <a:endParaRPr lang="en-US" altLang="zh-CN" sz="2400" b="1" i="1" baseline="0">
              <a:latin typeface="Franklin Gothic Book" panose="020B0503020102020204" pitchFamily="34" charset="0"/>
            </a:endParaRPr>
          </a:p>
        </p:txBody>
      </p:sp>
      <p:sp>
        <p:nvSpPr>
          <p:cNvPr id="45061" name="Rectangle 1029"/>
          <p:cNvSpPr>
            <a:spLocks noChangeArrowheads="1"/>
          </p:cNvSpPr>
          <p:nvPr/>
        </p:nvSpPr>
        <p:spPr bwMode="auto">
          <a:xfrm>
            <a:off x="2279576" y="3635152"/>
            <a:ext cx="1828800" cy="6858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lgn="ctr" eaLnBrk="0" hangingPunct="0">
              <a:defRPr/>
            </a:pPr>
            <a:r>
              <a:rPr lang="en-US" altLang="zh-CN" sz="2400" b="1" i="1" baseline="0">
                <a:latin typeface="Arial" panose="020B0604020202020204" pitchFamily="34" charset="0"/>
              </a:rPr>
              <a:t>Circuits</a:t>
            </a:r>
            <a:endParaRPr lang="en-US" altLang="zh-CN" sz="2400" b="1" i="1" baseline="0">
              <a:latin typeface="Franklin Gothic Book" panose="020B0503020102020204" pitchFamily="34" charset="0"/>
            </a:endParaRPr>
          </a:p>
        </p:txBody>
      </p:sp>
      <p:sp>
        <p:nvSpPr>
          <p:cNvPr id="116744" name="Text Box 1030"/>
          <p:cNvSpPr txBox="1">
            <a:spLocks noChangeArrowheads="1"/>
          </p:cNvSpPr>
          <p:nvPr/>
        </p:nvSpPr>
        <p:spPr bwMode="auto">
          <a:xfrm>
            <a:off x="4794176" y="1806353"/>
            <a:ext cx="5043368" cy="830997"/>
          </a:xfrm>
          <a:prstGeom prst="rect">
            <a:avLst/>
          </a:prstGeom>
          <a:noFill/>
          <a:ln w="9525">
            <a:noFill/>
            <a:miter lim="800000"/>
          </a:ln>
        </p:spPr>
        <p:txBody>
          <a:bodyPr wrap="none">
            <a:spAutoFit/>
          </a:bodyPr>
          <a:lstStyle/>
          <a:p>
            <a:pPr eaLnBrk="0" hangingPunct="0"/>
            <a:r>
              <a:rPr lang="en-US" altLang="zh-CN" sz="2400" b="1" i="1" baseline="0"/>
              <a:t>Processor Design:</a:t>
            </a:r>
            <a:endParaRPr lang="en-US" altLang="zh-CN" sz="2400" b="1" i="1" baseline="0"/>
          </a:p>
          <a:p>
            <a:pPr eaLnBrk="0" hangingPunct="0"/>
            <a:r>
              <a:rPr lang="en-US" altLang="zh-CN" sz="2400" baseline="0"/>
              <a:t>choose structures to implement ISA</a:t>
            </a:r>
            <a:endParaRPr lang="en-US" altLang="zh-CN" sz="2400" baseline="0">
              <a:latin typeface="Franklin Gothic Book" panose="020B0503020102020204" pitchFamily="34" charset="0"/>
            </a:endParaRPr>
          </a:p>
        </p:txBody>
      </p:sp>
      <p:sp>
        <p:nvSpPr>
          <p:cNvPr id="116745" name="Text Box 1031"/>
          <p:cNvSpPr txBox="1">
            <a:spLocks noChangeArrowheads="1"/>
          </p:cNvSpPr>
          <p:nvPr/>
        </p:nvSpPr>
        <p:spPr bwMode="auto">
          <a:xfrm>
            <a:off x="4794176" y="2873153"/>
            <a:ext cx="4738798" cy="1200329"/>
          </a:xfrm>
          <a:prstGeom prst="rect">
            <a:avLst/>
          </a:prstGeom>
          <a:noFill/>
          <a:ln w="9525">
            <a:noFill/>
            <a:miter lim="800000"/>
          </a:ln>
        </p:spPr>
        <p:txBody>
          <a:bodyPr wrap="none">
            <a:spAutoFit/>
          </a:bodyPr>
          <a:lstStyle/>
          <a:p>
            <a:pPr eaLnBrk="0" hangingPunct="0"/>
            <a:r>
              <a:rPr lang="en-US" altLang="zh-CN" sz="2400" b="1" i="1" baseline="0"/>
              <a:t>Logic/Circuit Design:</a:t>
            </a:r>
            <a:endParaRPr lang="en-US" altLang="zh-CN" sz="2400" b="1" i="1" baseline="0"/>
          </a:p>
          <a:p>
            <a:pPr eaLnBrk="0" hangingPunct="0"/>
            <a:r>
              <a:rPr lang="en-US" altLang="zh-CN" sz="2400" baseline="0"/>
              <a:t>gates  and low-level circuits to</a:t>
            </a:r>
            <a:br>
              <a:rPr lang="en-US" altLang="zh-CN" sz="2400" baseline="0"/>
            </a:br>
            <a:r>
              <a:rPr lang="en-US" altLang="zh-CN" sz="2400" baseline="0"/>
              <a:t>implement computer components</a:t>
            </a:r>
            <a:endParaRPr lang="en-US" altLang="zh-CN" sz="2400" baseline="0"/>
          </a:p>
        </p:txBody>
      </p:sp>
      <p:sp>
        <p:nvSpPr>
          <p:cNvPr id="45064" name="Rectangle 1032"/>
          <p:cNvSpPr>
            <a:spLocks noChangeArrowheads="1"/>
          </p:cNvSpPr>
          <p:nvPr/>
        </p:nvSpPr>
        <p:spPr bwMode="auto">
          <a:xfrm>
            <a:off x="2279576" y="4854352"/>
            <a:ext cx="1828800" cy="685800"/>
          </a:xfrm>
          <a:prstGeom prst="rect">
            <a:avLst/>
          </a:prstGeom>
          <a:solidFill>
            <a:schemeClr val="bg1"/>
          </a:solidFill>
          <a:ln w="9525">
            <a:solidFill>
              <a:schemeClr val="tx1"/>
            </a:solidFill>
            <a:miter lim="800000"/>
          </a:ln>
          <a:effectLst>
            <a:outerShdw dist="107763" dir="2700000" algn="ctr" rotWithShape="0">
              <a:schemeClr val="bg2"/>
            </a:outerShdw>
          </a:effectLst>
        </p:spPr>
        <p:txBody>
          <a:bodyPr wrap="none" anchor="ctr"/>
          <a:lstStyle/>
          <a:p>
            <a:pPr algn="ctr" eaLnBrk="0" hangingPunct="0">
              <a:defRPr/>
            </a:pPr>
            <a:r>
              <a:rPr lang="en-US" sz="2400" b="1" i="1" baseline="0">
                <a:latin typeface="Arial" panose="020B0604020202020204" pitchFamily="34" charset="0"/>
                <a:ea typeface="+mn-ea"/>
              </a:rPr>
              <a:t>Devices</a:t>
            </a:r>
            <a:endParaRPr lang="en-US" sz="2400" b="1" i="1" baseline="0">
              <a:latin typeface="Arial" panose="020B0604020202020204" pitchFamily="34" charset="0"/>
              <a:ea typeface="+mn-ea"/>
            </a:endParaRPr>
          </a:p>
        </p:txBody>
      </p:sp>
      <p:sp>
        <p:nvSpPr>
          <p:cNvPr id="116747" name="AutoShape 1033"/>
          <p:cNvSpPr>
            <a:spLocks noChangeArrowheads="1"/>
          </p:cNvSpPr>
          <p:nvPr/>
        </p:nvSpPr>
        <p:spPr bwMode="auto">
          <a:xfrm>
            <a:off x="4108376" y="3863752"/>
            <a:ext cx="685800" cy="1676400"/>
          </a:xfrm>
          <a:prstGeom prst="curvedLeftArrow">
            <a:avLst>
              <a:gd name="adj1" fmla="val 48889"/>
              <a:gd name="adj2" fmla="val 97778"/>
              <a:gd name="adj3" fmla="val 33333"/>
            </a:avLst>
          </a:prstGeom>
          <a:solidFill>
            <a:srgbClr val="FF7C80"/>
          </a:solidFill>
          <a:ln w="9525">
            <a:solidFill>
              <a:schemeClr val="tx1"/>
            </a:solidFill>
            <a:miter lim="800000"/>
          </a:ln>
        </p:spPr>
        <p:txBody>
          <a:bodyPr wrap="none" anchor="ctr"/>
          <a:lstStyle/>
          <a:p>
            <a:pPr algn="ctr" eaLnBrk="0" hangingPunct="0"/>
            <a:endParaRPr lang="zh-CN" altLang="en-US" sz="2400" baseline="0"/>
          </a:p>
        </p:txBody>
      </p:sp>
      <p:sp>
        <p:nvSpPr>
          <p:cNvPr id="116748" name="AutoShape 1034"/>
          <p:cNvSpPr>
            <a:spLocks noChangeArrowheads="1"/>
          </p:cNvSpPr>
          <p:nvPr/>
        </p:nvSpPr>
        <p:spPr bwMode="auto">
          <a:xfrm>
            <a:off x="4108376" y="2644552"/>
            <a:ext cx="685800" cy="1676400"/>
          </a:xfrm>
          <a:prstGeom prst="curvedLeftArrow">
            <a:avLst>
              <a:gd name="adj1" fmla="val 48889"/>
              <a:gd name="adj2" fmla="val 97778"/>
              <a:gd name="adj3" fmla="val 33333"/>
            </a:avLst>
          </a:prstGeom>
          <a:solidFill>
            <a:srgbClr val="FF7C80"/>
          </a:solidFill>
          <a:ln w="9525">
            <a:solidFill>
              <a:schemeClr val="tx1"/>
            </a:solidFill>
            <a:miter lim="800000"/>
          </a:ln>
        </p:spPr>
        <p:txBody>
          <a:bodyPr wrap="none" anchor="ctr"/>
          <a:lstStyle/>
          <a:p>
            <a:pPr algn="ctr" eaLnBrk="0" hangingPunct="0"/>
            <a:endParaRPr lang="zh-CN" altLang="en-US" sz="2400" baseline="0"/>
          </a:p>
        </p:txBody>
      </p:sp>
      <p:sp>
        <p:nvSpPr>
          <p:cNvPr id="116749" name="AutoShape 1035"/>
          <p:cNvSpPr>
            <a:spLocks noChangeArrowheads="1"/>
          </p:cNvSpPr>
          <p:nvPr/>
        </p:nvSpPr>
        <p:spPr bwMode="auto">
          <a:xfrm>
            <a:off x="4108376" y="1425352"/>
            <a:ext cx="685800" cy="1676400"/>
          </a:xfrm>
          <a:prstGeom prst="curvedLeftArrow">
            <a:avLst>
              <a:gd name="adj1" fmla="val 48889"/>
              <a:gd name="adj2" fmla="val 97778"/>
              <a:gd name="adj3" fmla="val 33333"/>
            </a:avLst>
          </a:prstGeom>
          <a:solidFill>
            <a:srgbClr val="FF7C80"/>
          </a:solidFill>
          <a:ln w="9525">
            <a:solidFill>
              <a:schemeClr val="tx1"/>
            </a:solidFill>
            <a:miter lim="800000"/>
          </a:ln>
        </p:spPr>
        <p:txBody>
          <a:bodyPr wrap="none" anchor="ctr"/>
          <a:lstStyle/>
          <a:p>
            <a:pPr algn="ctr" eaLnBrk="0" hangingPunct="0"/>
            <a:endParaRPr lang="zh-CN" altLang="en-US" sz="2400" baseline="0"/>
          </a:p>
        </p:txBody>
      </p:sp>
      <p:sp>
        <p:nvSpPr>
          <p:cNvPr id="116750" name="Text Box 1036"/>
          <p:cNvSpPr txBox="1">
            <a:spLocks noChangeArrowheads="1"/>
          </p:cNvSpPr>
          <p:nvPr/>
        </p:nvSpPr>
        <p:spPr bwMode="auto">
          <a:xfrm>
            <a:off x="4794177" y="4244753"/>
            <a:ext cx="5397631" cy="1200329"/>
          </a:xfrm>
          <a:prstGeom prst="rect">
            <a:avLst/>
          </a:prstGeom>
          <a:noFill/>
          <a:ln w="9525">
            <a:noFill/>
            <a:miter lim="800000"/>
          </a:ln>
        </p:spPr>
        <p:txBody>
          <a:bodyPr wrap="none">
            <a:spAutoFit/>
          </a:bodyPr>
          <a:lstStyle/>
          <a:p>
            <a:pPr eaLnBrk="0" hangingPunct="0"/>
            <a:r>
              <a:rPr lang="en-US" altLang="zh-CN" sz="2400" b="1" i="1" baseline="0"/>
              <a:t>Process Engineering &amp; Fabrication:</a:t>
            </a:r>
            <a:endParaRPr lang="en-US" altLang="zh-CN" sz="2400" b="1" i="1" baseline="0"/>
          </a:p>
          <a:p>
            <a:pPr eaLnBrk="0" hangingPunct="0"/>
            <a:r>
              <a:rPr lang="en-US" altLang="zh-CN" sz="2400" baseline="0"/>
              <a:t>develop and manufacture</a:t>
            </a:r>
            <a:br>
              <a:rPr lang="en-US" altLang="zh-CN" sz="2400" baseline="0"/>
            </a:br>
            <a:r>
              <a:rPr lang="en-US" altLang="zh-CN" sz="2400" baseline="0"/>
              <a:t>lowest-level components</a:t>
            </a:r>
            <a:endParaRPr lang="en-US" altLang="zh-CN" sz="2400" baseline="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Rectangle 2"/>
          <p:cNvSpPr>
            <a:spLocks noGrp="1" noChangeArrowheads="1"/>
          </p:cNvSpPr>
          <p:nvPr>
            <p:ph type="title" idx="4294967295"/>
          </p:nvPr>
        </p:nvSpPr>
        <p:spPr>
          <a:xfrm>
            <a:off x="1991544" y="0"/>
            <a:ext cx="8229600" cy="1143000"/>
          </a:xfrm>
        </p:spPr>
        <p:txBody>
          <a:bodyPr/>
          <a:lstStyle/>
          <a:p>
            <a:r>
              <a:rPr lang="zh-CN" altLang="en-US" dirty="0">
                <a:ea typeface="宋体" panose="02010600030101010101" pitchFamily="2" charset="-122"/>
              </a:rPr>
              <a:t>每个层次的选择</a:t>
            </a:r>
            <a:endParaRPr lang="en-US" altLang="zh-CN" dirty="0">
              <a:ea typeface="宋体" panose="02010600030101010101" pitchFamily="2" charset="-122"/>
            </a:endParaRPr>
          </a:p>
        </p:txBody>
      </p:sp>
      <p:grpSp>
        <p:nvGrpSpPr>
          <p:cNvPr id="2" name="Group 49"/>
          <p:cNvGrpSpPr/>
          <p:nvPr/>
        </p:nvGrpSpPr>
        <p:grpSpPr bwMode="auto">
          <a:xfrm>
            <a:off x="2178050" y="1125539"/>
            <a:ext cx="6845300" cy="5330825"/>
            <a:chOff x="839" y="624"/>
            <a:chExt cx="4312" cy="3358"/>
          </a:xfrm>
        </p:grpSpPr>
        <p:sp>
          <p:nvSpPr>
            <p:cNvPr id="121862" name="Text Box 3"/>
            <p:cNvSpPr txBox="1">
              <a:spLocks noChangeArrowheads="1"/>
            </p:cNvSpPr>
            <p:nvPr/>
          </p:nvSpPr>
          <p:spPr bwMode="auto">
            <a:xfrm>
              <a:off x="1525" y="624"/>
              <a:ext cx="2697" cy="288"/>
            </a:xfrm>
            <a:prstGeom prst="rect">
              <a:avLst/>
            </a:prstGeom>
            <a:noFill/>
            <a:ln w="9525">
              <a:noFill/>
              <a:miter lim="800000"/>
            </a:ln>
          </p:spPr>
          <p:txBody>
            <a:bodyPr wrap="none">
              <a:spAutoFit/>
            </a:bodyPr>
            <a:lstStyle/>
            <a:p>
              <a:pPr algn="ctr" eaLnBrk="0" hangingPunct="0"/>
              <a:r>
                <a:rPr lang="en-US" altLang="zh-CN" sz="2400" b="1" baseline="0"/>
                <a:t>Solve a system of equations</a:t>
              </a:r>
              <a:endParaRPr lang="en-US" altLang="zh-CN" sz="2400" b="1" baseline="0"/>
            </a:p>
          </p:txBody>
        </p:sp>
        <p:grpSp>
          <p:nvGrpSpPr>
            <p:cNvPr id="3" name="Group 28"/>
            <p:cNvGrpSpPr/>
            <p:nvPr/>
          </p:nvGrpSpPr>
          <p:grpSpPr bwMode="auto">
            <a:xfrm>
              <a:off x="839" y="1150"/>
              <a:ext cx="4312" cy="405"/>
              <a:chOff x="839" y="1115"/>
              <a:chExt cx="4312" cy="405"/>
            </a:xfrm>
          </p:grpSpPr>
          <p:sp>
            <p:nvSpPr>
              <p:cNvPr id="121864" name="Text Box 4"/>
              <p:cNvSpPr txBox="1">
                <a:spLocks noChangeArrowheads="1"/>
              </p:cNvSpPr>
              <p:nvPr/>
            </p:nvSpPr>
            <p:spPr bwMode="auto">
              <a:xfrm>
                <a:off x="2258" y="1116"/>
                <a:ext cx="876" cy="404"/>
              </a:xfrm>
              <a:prstGeom prst="rect">
                <a:avLst/>
              </a:prstGeom>
              <a:noFill/>
              <a:ln w="9525">
                <a:noFill/>
                <a:miter lim="800000"/>
              </a:ln>
            </p:spPr>
            <p:txBody>
              <a:bodyPr wrap="none">
                <a:spAutoFit/>
              </a:bodyPr>
              <a:lstStyle/>
              <a:p>
                <a:pPr algn="ctr" eaLnBrk="0" hangingPunct="0"/>
                <a:r>
                  <a:rPr lang="en-US" altLang="zh-CN" b="1" baseline="0" dirty="0"/>
                  <a:t>Gaussian </a:t>
                </a:r>
                <a:endParaRPr lang="en-US" altLang="zh-CN" b="1" baseline="0" dirty="0"/>
              </a:p>
              <a:p>
                <a:pPr algn="ctr" eaLnBrk="0" hangingPunct="0"/>
                <a:r>
                  <a:rPr lang="en-US" altLang="zh-CN" b="1" baseline="0" dirty="0"/>
                  <a:t>elimination</a:t>
                </a:r>
                <a:endParaRPr lang="en-US" altLang="zh-CN" b="1" baseline="0" dirty="0"/>
              </a:p>
            </p:txBody>
          </p:sp>
          <p:sp>
            <p:nvSpPr>
              <p:cNvPr id="121865" name="Text Box 5"/>
              <p:cNvSpPr txBox="1">
                <a:spLocks noChangeArrowheads="1"/>
              </p:cNvSpPr>
              <p:nvPr/>
            </p:nvSpPr>
            <p:spPr bwMode="auto">
              <a:xfrm>
                <a:off x="3436" y="1115"/>
                <a:ext cx="684" cy="404"/>
              </a:xfrm>
              <a:prstGeom prst="rect">
                <a:avLst/>
              </a:prstGeom>
              <a:noFill/>
              <a:ln w="9525">
                <a:noFill/>
                <a:miter lim="800000"/>
              </a:ln>
            </p:spPr>
            <p:txBody>
              <a:bodyPr wrap="none">
                <a:spAutoFit/>
              </a:bodyPr>
              <a:lstStyle/>
              <a:p>
                <a:pPr algn="ctr" eaLnBrk="0" hangingPunct="0"/>
                <a:r>
                  <a:rPr lang="en-US" altLang="zh-CN" b="1" baseline="0" dirty="0"/>
                  <a:t>Jacobi</a:t>
                </a:r>
                <a:endParaRPr lang="en-US" altLang="zh-CN" b="1" baseline="0" dirty="0"/>
              </a:p>
              <a:p>
                <a:pPr algn="ctr" eaLnBrk="0" hangingPunct="0"/>
                <a:r>
                  <a:rPr lang="en-US" altLang="zh-CN" b="1" baseline="0" dirty="0"/>
                  <a:t>iteration</a:t>
                </a:r>
                <a:endParaRPr lang="en-US" altLang="zh-CN" b="1" baseline="0" dirty="0"/>
              </a:p>
            </p:txBody>
          </p:sp>
          <p:sp>
            <p:nvSpPr>
              <p:cNvPr id="121866" name="Text Box 6"/>
              <p:cNvSpPr txBox="1">
                <a:spLocks noChangeArrowheads="1"/>
              </p:cNvSpPr>
              <p:nvPr/>
            </p:nvSpPr>
            <p:spPr bwMode="auto">
              <a:xfrm>
                <a:off x="839" y="1202"/>
                <a:ext cx="1156" cy="231"/>
              </a:xfrm>
              <a:prstGeom prst="rect">
                <a:avLst/>
              </a:prstGeom>
              <a:noFill/>
              <a:ln w="9525">
                <a:noFill/>
                <a:miter lim="800000"/>
              </a:ln>
            </p:spPr>
            <p:txBody>
              <a:bodyPr wrap="none">
                <a:spAutoFit/>
              </a:bodyPr>
              <a:lstStyle/>
              <a:p>
                <a:pPr algn="ctr" eaLnBrk="0" hangingPunct="0"/>
                <a:r>
                  <a:rPr lang="en-US" altLang="zh-CN" b="1" baseline="0" dirty="0"/>
                  <a:t>Red-black SOR</a:t>
                </a:r>
                <a:endParaRPr lang="en-US" altLang="zh-CN" b="1" baseline="0" dirty="0"/>
              </a:p>
            </p:txBody>
          </p:sp>
          <p:sp>
            <p:nvSpPr>
              <p:cNvPr id="121867" name="Text Box 7"/>
              <p:cNvSpPr txBox="1">
                <a:spLocks noChangeArrowheads="1"/>
              </p:cNvSpPr>
              <p:nvPr/>
            </p:nvSpPr>
            <p:spPr bwMode="auto">
              <a:xfrm>
                <a:off x="4427" y="1202"/>
                <a:ext cx="724" cy="231"/>
              </a:xfrm>
              <a:prstGeom prst="rect">
                <a:avLst/>
              </a:prstGeom>
              <a:noFill/>
              <a:ln w="9525">
                <a:noFill/>
                <a:miter lim="800000"/>
              </a:ln>
            </p:spPr>
            <p:txBody>
              <a:bodyPr wrap="none">
                <a:spAutoFit/>
              </a:bodyPr>
              <a:lstStyle/>
              <a:p>
                <a:pPr algn="ctr" eaLnBrk="0" hangingPunct="0"/>
                <a:r>
                  <a:rPr lang="en-US" altLang="zh-CN" b="1" baseline="0" dirty="0" err="1"/>
                  <a:t>Multigrid</a:t>
                </a:r>
                <a:endParaRPr lang="en-US" altLang="zh-CN" b="1" baseline="0" dirty="0"/>
              </a:p>
            </p:txBody>
          </p:sp>
        </p:grpSp>
        <p:grpSp>
          <p:nvGrpSpPr>
            <p:cNvPr id="4" name="Group 23"/>
            <p:cNvGrpSpPr/>
            <p:nvPr/>
          </p:nvGrpSpPr>
          <p:grpSpPr bwMode="auto">
            <a:xfrm>
              <a:off x="1379" y="1794"/>
              <a:ext cx="2777" cy="231"/>
              <a:chOff x="1235" y="1848"/>
              <a:chExt cx="2777" cy="231"/>
            </a:xfrm>
          </p:grpSpPr>
          <p:sp>
            <p:nvSpPr>
              <p:cNvPr id="121869" name="Text Box 8"/>
              <p:cNvSpPr txBox="1">
                <a:spLocks noChangeArrowheads="1"/>
              </p:cNvSpPr>
              <p:nvPr/>
            </p:nvSpPr>
            <p:spPr bwMode="auto">
              <a:xfrm>
                <a:off x="1235" y="1848"/>
                <a:ext cx="820" cy="231"/>
              </a:xfrm>
              <a:prstGeom prst="rect">
                <a:avLst/>
              </a:prstGeom>
              <a:noFill/>
              <a:ln w="9525">
                <a:noFill/>
                <a:miter lim="800000"/>
              </a:ln>
            </p:spPr>
            <p:txBody>
              <a:bodyPr wrap="none">
                <a:spAutoFit/>
              </a:bodyPr>
              <a:lstStyle/>
              <a:p>
                <a:pPr algn="ctr" eaLnBrk="0" hangingPunct="0"/>
                <a:r>
                  <a:rPr lang="en-US" altLang="zh-CN" b="1" baseline="0"/>
                  <a:t>FORTRAN</a:t>
                </a:r>
                <a:endParaRPr lang="en-US" altLang="zh-CN" b="1" baseline="0"/>
              </a:p>
            </p:txBody>
          </p:sp>
          <p:sp>
            <p:nvSpPr>
              <p:cNvPr id="121870" name="Text Box 9"/>
              <p:cNvSpPr txBox="1">
                <a:spLocks noChangeArrowheads="1"/>
              </p:cNvSpPr>
              <p:nvPr/>
            </p:nvSpPr>
            <p:spPr bwMode="auto">
              <a:xfrm>
                <a:off x="2330" y="1848"/>
                <a:ext cx="220" cy="231"/>
              </a:xfrm>
              <a:prstGeom prst="rect">
                <a:avLst/>
              </a:prstGeom>
              <a:noFill/>
              <a:ln w="9525">
                <a:noFill/>
                <a:miter lim="800000"/>
              </a:ln>
            </p:spPr>
            <p:txBody>
              <a:bodyPr wrap="none">
                <a:spAutoFit/>
              </a:bodyPr>
              <a:lstStyle/>
              <a:p>
                <a:pPr algn="ctr" eaLnBrk="0" hangingPunct="0"/>
                <a:r>
                  <a:rPr lang="en-US" altLang="zh-CN" b="1" baseline="0"/>
                  <a:t>C</a:t>
                </a:r>
                <a:endParaRPr lang="en-US" altLang="zh-CN" b="1" baseline="0"/>
              </a:p>
            </p:txBody>
          </p:sp>
          <p:sp>
            <p:nvSpPr>
              <p:cNvPr id="121871" name="Text Box 10"/>
              <p:cNvSpPr txBox="1">
                <a:spLocks noChangeArrowheads="1"/>
              </p:cNvSpPr>
              <p:nvPr/>
            </p:nvSpPr>
            <p:spPr bwMode="auto">
              <a:xfrm>
                <a:off x="2876" y="1848"/>
                <a:ext cx="388" cy="231"/>
              </a:xfrm>
              <a:prstGeom prst="rect">
                <a:avLst/>
              </a:prstGeom>
              <a:noFill/>
              <a:ln w="9525">
                <a:noFill/>
                <a:miter lim="800000"/>
              </a:ln>
            </p:spPr>
            <p:txBody>
              <a:bodyPr wrap="none">
                <a:spAutoFit/>
              </a:bodyPr>
              <a:lstStyle/>
              <a:p>
                <a:pPr algn="ctr" eaLnBrk="0" hangingPunct="0"/>
                <a:r>
                  <a:rPr lang="en-US" altLang="zh-CN" b="1" baseline="0"/>
                  <a:t>C++</a:t>
                </a:r>
                <a:endParaRPr lang="en-US" altLang="zh-CN" b="1" baseline="0"/>
              </a:p>
            </p:txBody>
          </p:sp>
          <p:sp>
            <p:nvSpPr>
              <p:cNvPr id="121872" name="Text Box 11"/>
              <p:cNvSpPr txBox="1">
                <a:spLocks noChangeArrowheads="1"/>
              </p:cNvSpPr>
              <p:nvPr/>
            </p:nvSpPr>
            <p:spPr bwMode="auto">
              <a:xfrm>
                <a:off x="3576" y="1848"/>
                <a:ext cx="436" cy="231"/>
              </a:xfrm>
              <a:prstGeom prst="rect">
                <a:avLst/>
              </a:prstGeom>
              <a:noFill/>
              <a:ln w="9525">
                <a:noFill/>
                <a:miter lim="800000"/>
              </a:ln>
            </p:spPr>
            <p:txBody>
              <a:bodyPr wrap="none">
                <a:spAutoFit/>
              </a:bodyPr>
              <a:lstStyle/>
              <a:p>
                <a:pPr algn="ctr" eaLnBrk="0" hangingPunct="0"/>
                <a:r>
                  <a:rPr lang="en-US" altLang="zh-CN" b="1" baseline="0"/>
                  <a:t>Java</a:t>
                </a:r>
                <a:endParaRPr lang="en-US" altLang="zh-CN" b="1" baseline="0"/>
              </a:p>
            </p:txBody>
          </p:sp>
        </p:grpSp>
        <p:grpSp>
          <p:nvGrpSpPr>
            <p:cNvPr id="5" name="Group 24"/>
            <p:cNvGrpSpPr/>
            <p:nvPr/>
          </p:nvGrpSpPr>
          <p:grpSpPr bwMode="auto">
            <a:xfrm>
              <a:off x="1087" y="2263"/>
              <a:ext cx="3422" cy="231"/>
              <a:chOff x="799" y="2472"/>
              <a:chExt cx="3422" cy="231"/>
            </a:xfrm>
          </p:grpSpPr>
          <p:sp>
            <p:nvSpPr>
              <p:cNvPr id="121874" name="Text Box 12"/>
              <p:cNvSpPr txBox="1">
                <a:spLocks noChangeArrowheads="1"/>
              </p:cNvSpPr>
              <p:nvPr/>
            </p:nvSpPr>
            <p:spPr bwMode="auto">
              <a:xfrm>
                <a:off x="2095" y="2472"/>
                <a:ext cx="692" cy="231"/>
              </a:xfrm>
              <a:prstGeom prst="rect">
                <a:avLst/>
              </a:prstGeom>
              <a:noFill/>
              <a:ln w="9525">
                <a:noFill/>
                <a:miter lim="800000"/>
              </a:ln>
            </p:spPr>
            <p:txBody>
              <a:bodyPr wrap="none">
                <a:spAutoFit/>
              </a:bodyPr>
              <a:lstStyle/>
              <a:p>
                <a:pPr algn="ctr" eaLnBrk="0" hangingPunct="0"/>
                <a:r>
                  <a:rPr lang="en-US" altLang="zh-CN" b="1" baseline="0"/>
                  <a:t>Intel x86</a:t>
                </a:r>
                <a:endParaRPr lang="en-US" altLang="zh-CN" b="1" baseline="0"/>
              </a:p>
            </p:txBody>
          </p:sp>
          <p:sp>
            <p:nvSpPr>
              <p:cNvPr id="121875" name="Text Box 13"/>
              <p:cNvSpPr txBox="1">
                <a:spLocks noChangeArrowheads="1"/>
              </p:cNvSpPr>
              <p:nvPr/>
            </p:nvSpPr>
            <p:spPr bwMode="auto">
              <a:xfrm>
                <a:off x="799" y="2472"/>
                <a:ext cx="932" cy="231"/>
              </a:xfrm>
              <a:prstGeom prst="rect">
                <a:avLst/>
              </a:prstGeom>
              <a:noFill/>
              <a:ln w="9525">
                <a:noFill/>
                <a:miter lim="800000"/>
              </a:ln>
            </p:spPr>
            <p:txBody>
              <a:bodyPr wrap="none">
                <a:spAutoFit/>
              </a:bodyPr>
              <a:lstStyle/>
              <a:p>
                <a:pPr algn="ctr" eaLnBrk="0" hangingPunct="0"/>
                <a:r>
                  <a:rPr lang="en-US" altLang="zh-CN" b="1" baseline="0"/>
                  <a:t>Sun SPARC</a:t>
                </a:r>
                <a:endParaRPr lang="en-US" altLang="zh-CN" b="1" baseline="0"/>
              </a:p>
            </p:txBody>
          </p:sp>
          <p:sp>
            <p:nvSpPr>
              <p:cNvPr id="121876" name="Text Box 14"/>
              <p:cNvSpPr txBox="1">
                <a:spLocks noChangeArrowheads="1"/>
              </p:cNvSpPr>
              <p:nvPr/>
            </p:nvSpPr>
            <p:spPr bwMode="auto">
              <a:xfrm>
                <a:off x="3169" y="2472"/>
                <a:ext cx="1052" cy="231"/>
              </a:xfrm>
              <a:prstGeom prst="rect">
                <a:avLst/>
              </a:prstGeom>
              <a:noFill/>
              <a:ln w="9525">
                <a:noFill/>
                <a:miter lim="800000"/>
              </a:ln>
            </p:spPr>
            <p:txBody>
              <a:bodyPr wrap="none">
                <a:spAutoFit/>
              </a:bodyPr>
              <a:lstStyle/>
              <a:p>
                <a:pPr algn="ctr" eaLnBrk="0" hangingPunct="0"/>
                <a:r>
                  <a:rPr lang="en-US" altLang="zh-CN" b="1" baseline="0"/>
                  <a:t>IBM PowerPC</a:t>
                </a:r>
                <a:endParaRPr lang="en-US" altLang="zh-CN" b="1" baseline="0"/>
              </a:p>
            </p:txBody>
          </p:sp>
        </p:grpSp>
        <p:grpSp>
          <p:nvGrpSpPr>
            <p:cNvPr id="6" name="Group 25"/>
            <p:cNvGrpSpPr/>
            <p:nvPr/>
          </p:nvGrpSpPr>
          <p:grpSpPr bwMode="auto">
            <a:xfrm>
              <a:off x="1463" y="2733"/>
              <a:ext cx="2932" cy="289"/>
              <a:chOff x="1175" y="2928"/>
              <a:chExt cx="2932" cy="289"/>
            </a:xfrm>
          </p:grpSpPr>
          <p:sp>
            <p:nvSpPr>
              <p:cNvPr id="121878" name="Text Box 15"/>
              <p:cNvSpPr txBox="1">
                <a:spLocks noChangeArrowheads="1"/>
              </p:cNvSpPr>
              <p:nvPr/>
            </p:nvSpPr>
            <p:spPr bwMode="auto">
              <a:xfrm>
                <a:off x="1175" y="2986"/>
                <a:ext cx="804" cy="231"/>
              </a:xfrm>
              <a:prstGeom prst="rect">
                <a:avLst/>
              </a:prstGeom>
              <a:noFill/>
              <a:ln w="9525">
                <a:noFill/>
                <a:miter lim="800000"/>
              </a:ln>
            </p:spPr>
            <p:txBody>
              <a:bodyPr wrap="none">
                <a:spAutoFit/>
              </a:bodyPr>
              <a:lstStyle/>
              <a:p>
                <a:pPr algn="ctr" eaLnBrk="0" hangingPunct="0"/>
                <a:r>
                  <a:rPr lang="en-US" altLang="zh-CN" b="1" baseline="0"/>
                  <a:t>Pentium 4</a:t>
                </a:r>
                <a:endParaRPr lang="en-US" altLang="zh-CN" b="1" baseline="0"/>
              </a:p>
            </p:txBody>
          </p:sp>
          <p:sp>
            <p:nvSpPr>
              <p:cNvPr id="121879" name="Text Box 16"/>
              <p:cNvSpPr txBox="1">
                <a:spLocks noChangeArrowheads="1"/>
              </p:cNvSpPr>
              <p:nvPr/>
            </p:nvSpPr>
            <p:spPr bwMode="auto">
              <a:xfrm>
                <a:off x="1999" y="2928"/>
                <a:ext cx="884" cy="231"/>
              </a:xfrm>
              <a:prstGeom prst="rect">
                <a:avLst/>
              </a:prstGeom>
              <a:noFill/>
              <a:ln w="9525">
                <a:noFill/>
                <a:miter lim="800000"/>
              </a:ln>
            </p:spPr>
            <p:txBody>
              <a:bodyPr wrap="none">
                <a:spAutoFit/>
              </a:bodyPr>
              <a:lstStyle/>
              <a:p>
                <a:pPr algn="ctr" eaLnBrk="0" hangingPunct="0"/>
                <a:r>
                  <a:rPr lang="en-US" altLang="zh-CN" b="1" baseline="0"/>
                  <a:t>Core 2 Duo</a:t>
                </a:r>
                <a:endParaRPr lang="en-US" altLang="zh-CN" b="1" baseline="0"/>
              </a:p>
            </p:txBody>
          </p:sp>
          <p:sp>
            <p:nvSpPr>
              <p:cNvPr id="121880" name="Text Box 17"/>
              <p:cNvSpPr txBox="1">
                <a:spLocks noChangeArrowheads="1"/>
              </p:cNvSpPr>
              <p:nvPr/>
            </p:nvSpPr>
            <p:spPr bwMode="auto">
              <a:xfrm>
                <a:off x="2951" y="2986"/>
                <a:ext cx="1156" cy="231"/>
              </a:xfrm>
              <a:prstGeom prst="rect">
                <a:avLst/>
              </a:prstGeom>
              <a:noFill/>
              <a:ln w="9525">
                <a:noFill/>
                <a:miter lim="800000"/>
              </a:ln>
            </p:spPr>
            <p:txBody>
              <a:bodyPr wrap="none">
                <a:spAutoFit/>
              </a:bodyPr>
              <a:lstStyle/>
              <a:p>
                <a:pPr algn="ctr" eaLnBrk="0" hangingPunct="0"/>
                <a:r>
                  <a:rPr lang="en-US" altLang="zh-CN" b="1" baseline="0"/>
                  <a:t>AMD Athlon X2</a:t>
                </a:r>
                <a:endParaRPr lang="en-US" altLang="zh-CN" b="1" baseline="0"/>
              </a:p>
            </p:txBody>
          </p:sp>
        </p:grpSp>
        <p:grpSp>
          <p:nvGrpSpPr>
            <p:cNvPr id="7" name="Group 26"/>
            <p:cNvGrpSpPr/>
            <p:nvPr/>
          </p:nvGrpSpPr>
          <p:grpSpPr bwMode="auto">
            <a:xfrm>
              <a:off x="1405" y="3202"/>
              <a:ext cx="3160" cy="231"/>
              <a:chOff x="1165" y="3288"/>
              <a:chExt cx="3160" cy="231"/>
            </a:xfrm>
          </p:grpSpPr>
          <p:sp>
            <p:nvSpPr>
              <p:cNvPr id="121882" name="Text Box 18"/>
              <p:cNvSpPr txBox="1">
                <a:spLocks noChangeArrowheads="1"/>
              </p:cNvSpPr>
              <p:nvPr/>
            </p:nvSpPr>
            <p:spPr bwMode="auto">
              <a:xfrm>
                <a:off x="1165" y="3288"/>
                <a:ext cx="1388" cy="231"/>
              </a:xfrm>
              <a:prstGeom prst="rect">
                <a:avLst/>
              </a:prstGeom>
              <a:noFill/>
              <a:ln w="9525">
                <a:noFill/>
                <a:miter lim="800000"/>
              </a:ln>
            </p:spPr>
            <p:txBody>
              <a:bodyPr wrap="none">
                <a:spAutoFit/>
              </a:bodyPr>
              <a:lstStyle/>
              <a:p>
                <a:pPr algn="ctr" eaLnBrk="0" hangingPunct="0"/>
                <a:r>
                  <a:rPr lang="en-US" altLang="zh-CN" b="1" baseline="0"/>
                  <a:t>Ripple-carry adder</a:t>
                </a:r>
                <a:endParaRPr lang="en-US" altLang="zh-CN" b="1" baseline="0"/>
              </a:p>
            </p:txBody>
          </p:sp>
          <p:sp>
            <p:nvSpPr>
              <p:cNvPr id="121883" name="Text Box 19"/>
              <p:cNvSpPr txBox="1">
                <a:spLocks noChangeArrowheads="1"/>
              </p:cNvSpPr>
              <p:nvPr/>
            </p:nvSpPr>
            <p:spPr bwMode="auto">
              <a:xfrm>
                <a:off x="2641" y="3288"/>
                <a:ext cx="1684" cy="231"/>
              </a:xfrm>
              <a:prstGeom prst="rect">
                <a:avLst/>
              </a:prstGeom>
              <a:noFill/>
              <a:ln w="9525">
                <a:noFill/>
                <a:miter lim="800000"/>
              </a:ln>
            </p:spPr>
            <p:txBody>
              <a:bodyPr wrap="none">
                <a:spAutoFit/>
              </a:bodyPr>
              <a:lstStyle/>
              <a:p>
                <a:pPr algn="ctr" eaLnBrk="0" hangingPunct="0"/>
                <a:r>
                  <a:rPr lang="en-US" altLang="zh-CN" b="1" baseline="0"/>
                  <a:t>Carry-lookahead adder</a:t>
                </a:r>
                <a:endParaRPr lang="en-US" altLang="zh-CN" b="1" baseline="0"/>
              </a:p>
            </p:txBody>
          </p:sp>
        </p:grpSp>
        <p:grpSp>
          <p:nvGrpSpPr>
            <p:cNvPr id="8" name="Group 27"/>
            <p:cNvGrpSpPr/>
            <p:nvPr/>
          </p:nvGrpSpPr>
          <p:grpSpPr bwMode="auto">
            <a:xfrm>
              <a:off x="1375" y="3696"/>
              <a:ext cx="3354" cy="286"/>
              <a:chOff x="1375" y="3696"/>
              <a:chExt cx="3354" cy="286"/>
            </a:xfrm>
          </p:grpSpPr>
          <p:sp>
            <p:nvSpPr>
              <p:cNvPr id="121885" name="Text Box 20"/>
              <p:cNvSpPr txBox="1">
                <a:spLocks noChangeArrowheads="1"/>
              </p:cNvSpPr>
              <p:nvPr/>
            </p:nvSpPr>
            <p:spPr bwMode="auto">
              <a:xfrm>
                <a:off x="1375" y="3751"/>
                <a:ext cx="980" cy="231"/>
              </a:xfrm>
              <a:prstGeom prst="rect">
                <a:avLst/>
              </a:prstGeom>
              <a:noFill/>
              <a:ln w="9525">
                <a:noFill/>
                <a:miter lim="800000"/>
              </a:ln>
            </p:spPr>
            <p:txBody>
              <a:bodyPr wrap="none">
                <a:spAutoFit/>
              </a:bodyPr>
              <a:lstStyle/>
              <a:p>
                <a:pPr algn="ctr" eaLnBrk="0" hangingPunct="0"/>
                <a:r>
                  <a:rPr lang="en-US" altLang="zh-CN" b="1" baseline="0"/>
                  <a:t>Static CMOS</a:t>
                </a:r>
                <a:endParaRPr lang="en-US" altLang="zh-CN" b="1" baseline="0"/>
              </a:p>
            </p:txBody>
          </p:sp>
          <p:sp>
            <p:nvSpPr>
              <p:cNvPr id="121886" name="Text Box 21"/>
              <p:cNvSpPr txBox="1">
                <a:spLocks noChangeArrowheads="1"/>
              </p:cNvSpPr>
              <p:nvPr/>
            </p:nvSpPr>
            <p:spPr bwMode="auto">
              <a:xfrm>
                <a:off x="2332" y="3751"/>
                <a:ext cx="1188" cy="231"/>
              </a:xfrm>
              <a:prstGeom prst="rect">
                <a:avLst/>
              </a:prstGeom>
              <a:noFill/>
              <a:ln w="9525">
                <a:noFill/>
                <a:miter lim="800000"/>
              </a:ln>
            </p:spPr>
            <p:txBody>
              <a:bodyPr wrap="none">
                <a:spAutoFit/>
              </a:bodyPr>
              <a:lstStyle/>
              <a:p>
                <a:pPr algn="ctr" eaLnBrk="0" hangingPunct="0"/>
                <a:r>
                  <a:rPr lang="en-US" altLang="zh-CN" b="1" baseline="0"/>
                  <a:t>Dynamic CMOS</a:t>
                </a:r>
                <a:endParaRPr lang="en-US" altLang="zh-CN" b="1" baseline="0"/>
              </a:p>
            </p:txBody>
          </p:sp>
          <p:sp>
            <p:nvSpPr>
              <p:cNvPr id="121887" name="Text Box 22"/>
              <p:cNvSpPr txBox="1">
                <a:spLocks noChangeArrowheads="1"/>
              </p:cNvSpPr>
              <p:nvPr/>
            </p:nvSpPr>
            <p:spPr bwMode="auto">
              <a:xfrm>
                <a:off x="3469" y="3696"/>
                <a:ext cx="1260" cy="231"/>
              </a:xfrm>
              <a:prstGeom prst="rect">
                <a:avLst/>
              </a:prstGeom>
              <a:noFill/>
              <a:ln w="9525">
                <a:noFill/>
                <a:miter lim="800000"/>
              </a:ln>
            </p:spPr>
            <p:txBody>
              <a:bodyPr wrap="none">
                <a:spAutoFit/>
              </a:bodyPr>
              <a:lstStyle/>
              <a:p>
                <a:pPr algn="ctr" eaLnBrk="0" hangingPunct="0"/>
                <a:r>
                  <a:rPr lang="en-US" altLang="zh-CN" b="1" baseline="0"/>
                  <a:t>Nanomechanical</a:t>
                </a:r>
                <a:endParaRPr lang="en-US" altLang="zh-CN" b="1" baseline="0"/>
              </a:p>
            </p:txBody>
          </p:sp>
        </p:grpSp>
        <p:sp>
          <p:nvSpPr>
            <p:cNvPr id="121888" name="Line 29"/>
            <p:cNvSpPr>
              <a:spLocks noChangeShapeType="1"/>
            </p:cNvSpPr>
            <p:nvPr/>
          </p:nvSpPr>
          <p:spPr bwMode="auto">
            <a:xfrm flipH="1">
              <a:off x="1728" y="912"/>
              <a:ext cx="960" cy="336"/>
            </a:xfrm>
            <a:prstGeom prst="line">
              <a:avLst/>
            </a:prstGeom>
            <a:noFill/>
            <a:ln w="9525">
              <a:solidFill>
                <a:schemeClr val="tx1"/>
              </a:solidFill>
              <a:round/>
            </a:ln>
          </p:spPr>
          <p:txBody>
            <a:bodyPr/>
            <a:lstStyle/>
            <a:p>
              <a:endParaRPr lang="zh-CN" altLang="en-US"/>
            </a:p>
          </p:txBody>
        </p:sp>
        <p:sp>
          <p:nvSpPr>
            <p:cNvPr id="121889" name="Line 30"/>
            <p:cNvSpPr>
              <a:spLocks noChangeShapeType="1"/>
            </p:cNvSpPr>
            <p:nvPr/>
          </p:nvSpPr>
          <p:spPr bwMode="auto">
            <a:xfrm>
              <a:off x="2688" y="912"/>
              <a:ext cx="0" cy="288"/>
            </a:xfrm>
            <a:prstGeom prst="line">
              <a:avLst/>
            </a:prstGeom>
            <a:noFill/>
            <a:ln w="9525">
              <a:solidFill>
                <a:schemeClr val="tx1"/>
              </a:solidFill>
              <a:round/>
            </a:ln>
          </p:spPr>
          <p:txBody>
            <a:bodyPr/>
            <a:lstStyle/>
            <a:p>
              <a:endParaRPr lang="zh-CN" altLang="en-US"/>
            </a:p>
          </p:txBody>
        </p:sp>
        <p:sp>
          <p:nvSpPr>
            <p:cNvPr id="121890" name="Line 31"/>
            <p:cNvSpPr>
              <a:spLocks noChangeShapeType="1"/>
            </p:cNvSpPr>
            <p:nvPr/>
          </p:nvSpPr>
          <p:spPr bwMode="auto">
            <a:xfrm>
              <a:off x="2688" y="912"/>
              <a:ext cx="1008" cy="288"/>
            </a:xfrm>
            <a:prstGeom prst="line">
              <a:avLst/>
            </a:prstGeom>
            <a:noFill/>
            <a:ln w="9525">
              <a:solidFill>
                <a:schemeClr val="tx1"/>
              </a:solidFill>
              <a:round/>
            </a:ln>
          </p:spPr>
          <p:txBody>
            <a:bodyPr/>
            <a:lstStyle/>
            <a:p>
              <a:endParaRPr lang="zh-CN" altLang="en-US"/>
            </a:p>
          </p:txBody>
        </p:sp>
        <p:sp>
          <p:nvSpPr>
            <p:cNvPr id="121891" name="Line 32"/>
            <p:cNvSpPr>
              <a:spLocks noChangeShapeType="1"/>
            </p:cNvSpPr>
            <p:nvPr/>
          </p:nvSpPr>
          <p:spPr bwMode="auto">
            <a:xfrm>
              <a:off x="2688" y="912"/>
              <a:ext cx="1824" cy="336"/>
            </a:xfrm>
            <a:prstGeom prst="line">
              <a:avLst/>
            </a:prstGeom>
            <a:noFill/>
            <a:ln w="9525">
              <a:solidFill>
                <a:schemeClr val="tx1"/>
              </a:solidFill>
              <a:round/>
            </a:ln>
          </p:spPr>
          <p:txBody>
            <a:bodyPr/>
            <a:lstStyle/>
            <a:p>
              <a:endParaRPr lang="zh-CN" altLang="en-US"/>
            </a:p>
          </p:txBody>
        </p:sp>
        <p:sp>
          <p:nvSpPr>
            <p:cNvPr id="121892" name="Line 33"/>
            <p:cNvSpPr>
              <a:spLocks noChangeShapeType="1"/>
            </p:cNvSpPr>
            <p:nvPr/>
          </p:nvSpPr>
          <p:spPr bwMode="auto">
            <a:xfrm flipH="1">
              <a:off x="2112" y="1536"/>
              <a:ext cx="576" cy="288"/>
            </a:xfrm>
            <a:prstGeom prst="line">
              <a:avLst/>
            </a:prstGeom>
            <a:noFill/>
            <a:ln w="9525">
              <a:solidFill>
                <a:schemeClr val="tx1"/>
              </a:solidFill>
              <a:round/>
            </a:ln>
          </p:spPr>
          <p:txBody>
            <a:bodyPr/>
            <a:lstStyle/>
            <a:p>
              <a:endParaRPr lang="zh-CN" altLang="en-US"/>
            </a:p>
          </p:txBody>
        </p:sp>
        <p:sp>
          <p:nvSpPr>
            <p:cNvPr id="121893" name="Line 34"/>
            <p:cNvSpPr>
              <a:spLocks noChangeShapeType="1"/>
            </p:cNvSpPr>
            <p:nvPr/>
          </p:nvSpPr>
          <p:spPr bwMode="auto">
            <a:xfrm flipH="1">
              <a:off x="2592" y="1536"/>
              <a:ext cx="96" cy="288"/>
            </a:xfrm>
            <a:prstGeom prst="line">
              <a:avLst/>
            </a:prstGeom>
            <a:noFill/>
            <a:ln w="9525">
              <a:solidFill>
                <a:schemeClr val="tx1"/>
              </a:solidFill>
              <a:round/>
            </a:ln>
          </p:spPr>
          <p:txBody>
            <a:bodyPr/>
            <a:lstStyle/>
            <a:p>
              <a:endParaRPr lang="zh-CN" altLang="en-US"/>
            </a:p>
          </p:txBody>
        </p:sp>
        <p:sp>
          <p:nvSpPr>
            <p:cNvPr id="121894" name="Line 35"/>
            <p:cNvSpPr>
              <a:spLocks noChangeShapeType="1"/>
            </p:cNvSpPr>
            <p:nvPr/>
          </p:nvSpPr>
          <p:spPr bwMode="auto">
            <a:xfrm>
              <a:off x="2688" y="1536"/>
              <a:ext cx="384" cy="288"/>
            </a:xfrm>
            <a:prstGeom prst="line">
              <a:avLst/>
            </a:prstGeom>
            <a:noFill/>
            <a:ln w="9525">
              <a:solidFill>
                <a:schemeClr val="tx1"/>
              </a:solidFill>
              <a:round/>
            </a:ln>
          </p:spPr>
          <p:txBody>
            <a:bodyPr/>
            <a:lstStyle/>
            <a:p>
              <a:endParaRPr lang="zh-CN" altLang="en-US"/>
            </a:p>
          </p:txBody>
        </p:sp>
        <p:sp>
          <p:nvSpPr>
            <p:cNvPr id="121895" name="Line 36"/>
            <p:cNvSpPr>
              <a:spLocks noChangeShapeType="1"/>
            </p:cNvSpPr>
            <p:nvPr/>
          </p:nvSpPr>
          <p:spPr bwMode="auto">
            <a:xfrm>
              <a:off x="2688" y="1536"/>
              <a:ext cx="1056" cy="288"/>
            </a:xfrm>
            <a:prstGeom prst="line">
              <a:avLst/>
            </a:prstGeom>
            <a:noFill/>
            <a:ln w="9525">
              <a:solidFill>
                <a:schemeClr val="tx1"/>
              </a:solidFill>
              <a:round/>
            </a:ln>
          </p:spPr>
          <p:txBody>
            <a:bodyPr/>
            <a:lstStyle/>
            <a:p>
              <a:endParaRPr lang="zh-CN" altLang="en-US"/>
            </a:p>
          </p:txBody>
        </p:sp>
        <p:sp>
          <p:nvSpPr>
            <p:cNvPr id="121896" name="Line 37"/>
            <p:cNvSpPr>
              <a:spLocks noChangeShapeType="1"/>
            </p:cNvSpPr>
            <p:nvPr/>
          </p:nvSpPr>
          <p:spPr bwMode="auto">
            <a:xfrm flipH="1">
              <a:off x="1920" y="2016"/>
              <a:ext cx="624" cy="288"/>
            </a:xfrm>
            <a:prstGeom prst="line">
              <a:avLst/>
            </a:prstGeom>
            <a:noFill/>
            <a:ln w="9525">
              <a:solidFill>
                <a:schemeClr val="tx1"/>
              </a:solidFill>
              <a:round/>
            </a:ln>
          </p:spPr>
          <p:txBody>
            <a:bodyPr/>
            <a:lstStyle/>
            <a:p>
              <a:endParaRPr lang="zh-CN" altLang="en-US"/>
            </a:p>
          </p:txBody>
        </p:sp>
        <p:sp>
          <p:nvSpPr>
            <p:cNvPr id="121897" name="Line 38"/>
            <p:cNvSpPr>
              <a:spLocks noChangeShapeType="1"/>
            </p:cNvSpPr>
            <p:nvPr/>
          </p:nvSpPr>
          <p:spPr bwMode="auto">
            <a:xfrm>
              <a:off x="2544" y="2016"/>
              <a:ext cx="48" cy="288"/>
            </a:xfrm>
            <a:prstGeom prst="line">
              <a:avLst/>
            </a:prstGeom>
            <a:noFill/>
            <a:ln w="9525">
              <a:solidFill>
                <a:schemeClr val="tx1"/>
              </a:solidFill>
              <a:round/>
            </a:ln>
          </p:spPr>
          <p:txBody>
            <a:bodyPr/>
            <a:lstStyle/>
            <a:p>
              <a:endParaRPr lang="zh-CN" altLang="en-US"/>
            </a:p>
          </p:txBody>
        </p:sp>
        <p:sp>
          <p:nvSpPr>
            <p:cNvPr id="121898" name="Line 39"/>
            <p:cNvSpPr>
              <a:spLocks noChangeShapeType="1"/>
            </p:cNvSpPr>
            <p:nvPr/>
          </p:nvSpPr>
          <p:spPr bwMode="auto">
            <a:xfrm>
              <a:off x="2544" y="2016"/>
              <a:ext cx="960" cy="288"/>
            </a:xfrm>
            <a:prstGeom prst="line">
              <a:avLst/>
            </a:prstGeom>
            <a:noFill/>
            <a:ln w="9525">
              <a:solidFill>
                <a:schemeClr val="tx1"/>
              </a:solidFill>
              <a:round/>
            </a:ln>
          </p:spPr>
          <p:txBody>
            <a:bodyPr/>
            <a:lstStyle/>
            <a:p>
              <a:endParaRPr lang="zh-CN" altLang="en-US"/>
            </a:p>
          </p:txBody>
        </p:sp>
        <p:sp>
          <p:nvSpPr>
            <p:cNvPr id="121899" name="Line 40"/>
            <p:cNvSpPr>
              <a:spLocks noChangeShapeType="1"/>
            </p:cNvSpPr>
            <p:nvPr/>
          </p:nvSpPr>
          <p:spPr bwMode="auto">
            <a:xfrm flipH="1">
              <a:off x="2112" y="2448"/>
              <a:ext cx="576" cy="336"/>
            </a:xfrm>
            <a:prstGeom prst="line">
              <a:avLst/>
            </a:prstGeom>
            <a:noFill/>
            <a:ln w="9525">
              <a:solidFill>
                <a:schemeClr val="tx1"/>
              </a:solidFill>
              <a:round/>
            </a:ln>
          </p:spPr>
          <p:txBody>
            <a:bodyPr/>
            <a:lstStyle/>
            <a:p>
              <a:endParaRPr lang="zh-CN" altLang="en-US"/>
            </a:p>
          </p:txBody>
        </p:sp>
        <p:sp>
          <p:nvSpPr>
            <p:cNvPr id="121900" name="Line 41"/>
            <p:cNvSpPr>
              <a:spLocks noChangeShapeType="1"/>
            </p:cNvSpPr>
            <p:nvPr/>
          </p:nvSpPr>
          <p:spPr bwMode="auto">
            <a:xfrm>
              <a:off x="2688" y="2448"/>
              <a:ext cx="48" cy="288"/>
            </a:xfrm>
            <a:prstGeom prst="line">
              <a:avLst/>
            </a:prstGeom>
            <a:noFill/>
            <a:ln w="9525">
              <a:solidFill>
                <a:schemeClr val="tx1"/>
              </a:solidFill>
              <a:round/>
            </a:ln>
          </p:spPr>
          <p:txBody>
            <a:bodyPr/>
            <a:lstStyle/>
            <a:p>
              <a:endParaRPr lang="zh-CN" altLang="en-US"/>
            </a:p>
          </p:txBody>
        </p:sp>
        <p:sp>
          <p:nvSpPr>
            <p:cNvPr id="121901" name="Line 42"/>
            <p:cNvSpPr>
              <a:spLocks noChangeShapeType="1"/>
            </p:cNvSpPr>
            <p:nvPr/>
          </p:nvSpPr>
          <p:spPr bwMode="auto">
            <a:xfrm>
              <a:off x="2688" y="2448"/>
              <a:ext cx="816" cy="336"/>
            </a:xfrm>
            <a:prstGeom prst="line">
              <a:avLst/>
            </a:prstGeom>
            <a:noFill/>
            <a:ln w="9525">
              <a:solidFill>
                <a:schemeClr val="tx1"/>
              </a:solidFill>
              <a:round/>
            </a:ln>
          </p:spPr>
          <p:txBody>
            <a:bodyPr/>
            <a:lstStyle/>
            <a:p>
              <a:endParaRPr lang="zh-CN" altLang="en-US"/>
            </a:p>
          </p:txBody>
        </p:sp>
        <p:sp>
          <p:nvSpPr>
            <p:cNvPr id="121902" name="Line 43"/>
            <p:cNvSpPr>
              <a:spLocks noChangeShapeType="1"/>
            </p:cNvSpPr>
            <p:nvPr/>
          </p:nvSpPr>
          <p:spPr bwMode="auto">
            <a:xfrm flipH="1">
              <a:off x="2448" y="2976"/>
              <a:ext cx="288" cy="240"/>
            </a:xfrm>
            <a:prstGeom prst="line">
              <a:avLst/>
            </a:prstGeom>
            <a:noFill/>
            <a:ln w="9525">
              <a:solidFill>
                <a:schemeClr val="tx1"/>
              </a:solidFill>
              <a:round/>
            </a:ln>
          </p:spPr>
          <p:txBody>
            <a:bodyPr/>
            <a:lstStyle/>
            <a:p>
              <a:endParaRPr lang="zh-CN" altLang="en-US"/>
            </a:p>
          </p:txBody>
        </p:sp>
        <p:sp>
          <p:nvSpPr>
            <p:cNvPr id="121903" name="Line 44"/>
            <p:cNvSpPr>
              <a:spLocks noChangeShapeType="1"/>
            </p:cNvSpPr>
            <p:nvPr/>
          </p:nvSpPr>
          <p:spPr bwMode="auto">
            <a:xfrm>
              <a:off x="2736" y="2976"/>
              <a:ext cx="336" cy="240"/>
            </a:xfrm>
            <a:prstGeom prst="line">
              <a:avLst/>
            </a:prstGeom>
            <a:noFill/>
            <a:ln w="9525">
              <a:solidFill>
                <a:schemeClr val="tx1"/>
              </a:solidFill>
              <a:round/>
            </a:ln>
          </p:spPr>
          <p:txBody>
            <a:bodyPr/>
            <a:lstStyle/>
            <a:p>
              <a:endParaRPr lang="zh-CN" altLang="en-US"/>
            </a:p>
          </p:txBody>
        </p:sp>
        <p:sp>
          <p:nvSpPr>
            <p:cNvPr id="121904" name="Line 46"/>
            <p:cNvSpPr>
              <a:spLocks noChangeShapeType="1"/>
            </p:cNvSpPr>
            <p:nvPr/>
          </p:nvSpPr>
          <p:spPr bwMode="auto">
            <a:xfrm flipH="1">
              <a:off x="1920" y="3408"/>
              <a:ext cx="1488" cy="336"/>
            </a:xfrm>
            <a:prstGeom prst="line">
              <a:avLst/>
            </a:prstGeom>
            <a:noFill/>
            <a:ln w="9525">
              <a:solidFill>
                <a:schemeClr val="tx1"/>
              </a:solidFill>
              <a:round/>
            </a:ln>
          </p:spPr>
          <p:txBody>
            <a:bodyPr/>
            <a:lstStyle/>
            <a:p>
              <a:endParaRPr lang="zh-CN" altLang="en-US"/>
            </a:p>
          </p:txBody>
        </p:sp>
        <p:sp>
          <p:nvSpPr>
            <p:cNvPr id="121905" name="Line 47"/>
            <p:cNvSpPr>
              <a:spLocks noChangeShapeType="1"/>
            </p:cNvSpPr>
            <p:nvPr/>
          </p:nvSpPr>
          <p:spPr bwMode="auto">
            <a:xfrm flipH="1">
              <a:off x="2880" y="3408"/>
              <a:ext cx="528" cy="336"/>
            </a:xfrm>
            <a:prstGeom prst="line">
              <a:avLst/>
            </a:prstGeom>
            <a:noFill/>
            <a:ln w="9525">
              <a:solidFill>
                <a:schemeClr val="tx1"/>
              </a:solidFill>
              <a:round/>
            </a:ln>
          </p:spPr>
          <p:txBody>
            <a:bodyPr/>
            <a:lstStyle/>
            <a:p>
              <a:endParaRPr lang="zh-CN" altLang="en-US"/>
            </a:p>
          </p:txBody>
        </p:sp>
        <p:sp>
          <p:nvSpPr>
            <p:cNvPr id="121906" name="Line 48"/>
            <p:cNvSpPr>
              <a:spLocks noChangeShapeType="1"/>
            </p:cNvSpPr>
            <p:nvPr/>
          </p:nvSpPr>
          <p:spPr bwMode="auto">
            <a:xfrm>
              <a:off x="3408" y="3408"/>
              <a:ext cx="379" cy="288"/>
            </a:xfrm>
            <a:prstGeom prst="line">
              <a:avLst/>
            </a:prstGeom>
            <a:noFill/>
            <a:ln w="9525">
              <a:solidFill>
                <a:schemeClr val="tx1"/>
              </a:solidFill>
              <a:round/>
            </a:ln>
          </p:spPr>
          <p:txBody>
            <a:bodyPr/>
            <a:lstStyle/>
            <a:p>
              <a:endParaRPr lang="zh-CN" altLang="en-US"/>
            </a:p>
          </p:txBody>
        </p:sp>
      </p:grpSp>
      <p:sp>
        <p:nvSpPr>
          <p:cNvPr id="121907" name="Text Box 50"/>
          <p:cNvSpPr txBox="1">
            <a:spLocks noChangeArrowheads="1"/>
          </p:cNvSpPr>
          <p:nvPr/>
        </p:nvSpPr>
        <p:spPr bwMode="auto">
          <a:xfrm>
            <a:off x="8382000" y="2954339"/>
            <a:ext cx="1906588" cy="1927225"/>
          </a:xfrm>
          <a:prstGeom prst="rect">
            <a:avLst/>
          </a:prstGeom>
          <a:noFill/>
          <a:ln w="9525">
            <a:solidFill>
              <a:schemeClr val="tx1"/>
            </a:solidFill>
            <a:miter lim="800000"/>
          </a:ln>
        </p:spPr>
        <p:txBody>
          <a:bodyPr wrap="none">
            <a:spAutoFit/>
          </a:bodyPr>
          <a:lstStyle/>
          <a:p>
            <a:pPr eaLnBrk="0" hangingPunct="0"/>
            <a:r>
              <a:rPr lang="en-US" altLang="zh-CN" sz="2400" b="1" i="1" baseline="0"/>
              <a:t>Tradeoffs:</a:t>
            </a:r>
            <a:endParaRPr lang="en-US" altLang="zh-CN" sz="2400" b="1" i="1" baseline="0"/>
          </a:p>
          <a:p>
            <a:pPr eaLnBrk="0" hangingPunct="0"/>
            <a:r>
              <a:rPr lang="en-US" altLang="zh-CN" sz="2400" baseline="0"/>
              <a:t>cost</a:t>
            </a:r>
            <a:endParaRPr lang="en-US" altLang="zh-CN" sz="2400" baseline="0"/>
          </a:p>
          <a:p>
            <a:pPr eaLnBrk="0" hangingPunct="0"/>
            <a:r>
              <a:rPr lang="en-US" altLang="zh-CN" sz="2400" baseline="0"/>
              <a:t>performance</a:t>
            </a:r>
            <a:endParaRPr lang="en-US" altLang="zh-CN" sz="2400" baseline="0"/>
          </a:p>
          <a:p>
            <a:pPr eaLnBrk="0" hangingPunct="0"/>
            <a:r>
              <a:rPr lang="en-US" altLang="zh-CN" sz="2400" baseline="0"/>
              <a:t>power</a:t>
            </a:r>
            <a:endParaRPr lang="en-US" altLang="zh-CN" sz="2400" baseline="0"/>
          </a:p>
          <a:p>
            <a:pPr eaLnBrk="0" hangingPunct="0"/>
            <a:r>
              <a:rPr lang="en-US" altLang="zh-CN" sz="2400" baseline="0"/>
              <a:t>(etc.)</a:t>
            </a:r>
            <a:endParaRPr lang="en-US" altLang="zh-CN" sz="2400" baseline="0"/>
          </a:p>
        </p:txBody>
      </p:sp>
      <p:sp>
        <p:nvSpPr>
          <p:cNvPr id="9" name="灯片编号占位符 8"/>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495600" y="2392288"/>
            <a:ext cx="7772400" cy="1108720"/>
          </a:xfrm>
        </p:spPr>
        <p:txBody>
          <a:bodyPr>
            <a:normAutofit/>
          </a:bodyPr>
          <a:lstStyle/>
          <a:p>
            <a:r>
              <a:rPr lang="zh-CN" altLang="en-US" dirty="0"/>
              <a:t>计算机系统发展的重要思想</a:t>
            </a:r>
            <a:endParaRPr lang="en-US" altLang="zh-CN"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981200" y="1196752"/>
            <a:ext cx="8507288" cy="5472608"/>
          </a:xfrm>
        </p:spPr>
        <p:txBody>
          <a:bodyPr/>
          <a:lstStyle/>
          <a:p>
            <a:r>
              <a:rPr lang="zh-CN" altLang="en-US" dirty="0"/>
              <a:t>计算设备具有通用性。对一个计算设备而言，只要具备足够的资源（内存，时间</a:t>
            </a:r>
            <a:r>
              <a:rPr lang="en-US" altLang="zh-CN" dirty="0"/>
              <a:t>…</a:t>
            </a:r>
            <a:r>
              <a:rPr lang="zh-CN" altLang="en-US" dirty="0"/>
              <a:t>）</a:t>
            </a:r>
            <a:r>
              <a:rPr lang="en-US" altLang="zh-CN" dirty="0"/>
              <a:t>,</a:t>
            </a:r>
            <a:r>
              <a:rPr lang="zh-CN" altLang="en-US" dirty="0"/>
              <a:t>它可以解决任何问题。</a:t>
            </a:r>
            <a:endParaRPr lang="en-US" altLang="zh-CN" dirty="0"/>
          </a:p>
          <a:p>
            <a:endParaRPr lang="en-US" altLang="zh-CN" dirty="0"/>
          </a:p>
          <a:p>
            <a:endParaRPr lang="en-US" altLang="zh-CN" dirty="0"/>
          </a:p>
        </p:txBody>
      </p:sp>
      <p:sp>
        <p:nvSpPr>
          <p:cNvPr id="4" name="Title 3"/>
          <p:cNvSpPr>
            <a:spLocks noGrp="1"/>
          </p:cNvSpPr>
          <p:nvPr>
            <p:ph type="title"/>
          </p:nvPr>
        </p:nvSpPr>
        <p:spPr/>
        <p:txBody>
          <a:bodyPr/>
          <a:lstStyle/>
          <a:p>
            <a:r>
              <a:rPr lang="zh-CN" altLang="en-US" dirty="0"/>
              <a:t>第一个重要思想</a:t>
            </a:r>
            <a:endParaRPr lang="zh-CN" altLang="en-US" dirty="0"/>
          </a:p>
        </p:txBody>
      </p:sp>
      <p:sp>
        <p:nvSpPr>
          <p:cNvPr id="6" name="Text Box 9"/>
          <p:cNvSpPr txBox="1">
            <a:spLocks noChangeArrowheads="1"/>
          </p:cNvSpPr>
          <p:nvPr/>
        </p:nvSpPr>
        <p:spPr bwMode="auto">
          <a:xfrm>
            <a:off x="3287689" y="3645025"/>
            <a:ext cx="630237" cy="1006475"/>
          </a:xfrm>
          <a:prstGeom prst="rect">
            <a:avLst/>
          </a:prstGeom>
          <a:noFill/>
          <a:ln w="9525">
            <a:noFill/>
            <a:miter lim="800000"/>
          </a:ln>
        </p:spPr>
        <p:txBody>
          <a:bodyPr wrap="none">
            <a:spAutoFit/>
          </a:bodyPr>
          <a:lstStyle/>
          <a:p>
            <a:pPr algn="ctr" eaLnBrk="0" hangingPunct="0"/>
            <a:r>
              <a:rPr lang="en-US" altLang="zh-CN" sz="6000" baseline="0">
                <a:latin typeface="Franklin Gothic Book" panose="020B0503020102020204" pitchFamily="34" charset="0"/>
              </a:rPr>
              <a:t>=</a:t>
            </a:r>
            <a:endParaRPr lang="en-US" altLang="zh-CN" sz="6000" baseline="0">
              <a:latin typeface="Franklin Gothic Book" panose="020B0503020102020204" pitchFamily="34" charset="0"/>
            </a:endParaRPr>
          </a:p>
        </p:txBody>
      </p:sp>
      <p:sp>
        <p:nvSpPr>
          <p:cNvPr id="7" name="Text Box 16"/>
          <p:cNvSpPr txBox="1">
            <a:spLocks noChangeArrowheads="1"/>
          </p:cNvSpPr>
          <p:nvPr/>
        </p:nvSpPr>
        <p:spPr bwMode="auto">
          <a:xfrm>
            <a:off x="6142014" y="3645025"/>
            <a:ext cx="630237" cy="1006475"/>
          </a:xfrm>
          <a:prstGeom prst="rect">
            <a:avLst/>
          </a:prstGeom>
          <a:noFill/>
          <a:ln w="9525">
            <a:noFill/>
            <a:miter lim="800000"/>
          </a:ln>
        </p:spPr>
        <p:txBody>
          <a:bodyPr wrap="none">
            <a:spAutoFit/>
          </a:bodyPr>
          <a:lstStyle/>
          <a:p>
            <a:pPr algn="ctr" eaLnBrk="0" hangingPunct="0"/>
            <a:r>
              <a:rPr lang="en-US" altLang="zh-CN" sz="6000" baseline="0">
                <a:latin typeface="Franklin Gothic Book" panose="020B0503020102020204" pitchFamily="34" charset="0"/>
              </a:rPr>
              <a:t>=</a:t>
            </a:r>
            <a:endParaRPr lang="en-US" altLang="zh-CN" sz="6000" baseline="0">
              <a:latin typeface="Franklin Gothic Book" panose="020B0503020102020204" pitchFamily="34" charset="0"/>
            </a:endParaRPr>
          </a:p>
        </p:txBody>
      </p:sp>
      <p:grpSp>
        <p:nvGrpSpPr>
          <p:cNvPr id="8" name="Group 6"/>
          <p:cNvGrpSpPr/>
          <p:nvPr/>
        </p:nvGrpSpPr>
        <p:grpSpPr bwMode="auto">
          <a:xfrm>
            <a:off x="2036738" y="3191000"/>
            <a:ext cx="1198562" cy="2282825"/>
            <a:chOff x="204" y="2341"/>
            <a:chExt cx="755" cy="1438"/>
          </a:xfrm>
        </p:grpSpPr>
        <p:pic>
          <p:nvPicPr>
            <p:cNvPr id="9" name="Picture 27" descr="iphone_2"/>
            <p:cNvPicPr>
              <a:picLocks noChangeAspect="1" noChangeArrowheads="1"/>
            </p:cNvPicPr>
            <p:nvPr/>
          </p:nvPicPr>
          <p:blipFill>
            <a:blip r:embed="rId1" cstate="print"/>
            <a:srcRect/>
            <a:stretch>
              <a:fillRect/>
            </a:stretch>
          </p:blipFill>
          <p:spPr bwMode="auto">
            <a:xfrm>
              <a:off x="204" y="2341"/>
              <a:ext cx="755" cy="1438"/>
            </a:xfrm>
            <a:prstGeom prst="rect">
              <a:avLst/>
            </a:prstGeom>
            <a:noFill/>
            <a:ln w="9525">
              <a:noFill/>
              <a:miter lim="800000"/>
              <a:headEnd/>
              <a:tailEnd/>
            </a:ln>
          </p:spPr>
        </p:pic>
        <p:sp>
          <p:nvSpPr>
            <p:cNvPr id="10" name="Text Box 20"/>
            <p:cNvSpPr txBox="1">
              <a:spLocks noChangeArrowheads="1"/>
            </p:cNvSpPr>
            <p:nvPr/>
          </p:nvSpPr>
          <p:spPr bwMode="auto">
            <a:xfrm>
              <a:off x="216" y="3294"/>
              <a:ext cx="731" cy="404"/>
            </a:xfrm>
            <a:prstGeom prst="rect">
              <a:avLst/>
            </a:prstGeom>
            <a:noFill/>
            <a:ln w="12700">
              <a:noFill/>
              <a:miter lim="800000"/>
            </a:ln>
          </p:spPr>
          <p:txBody>
            <a:bodyPr lIns="91165" tIns="45583" rIns="91165" bIns="45583" anchor="ctr">
              <a:spAutoFit/>
            </a:bodyPr>
            <a:lstStyle/>
            <a:p>
              <a:pPr algn="ctr" defTabSz="821055" eaLnBrk="0" hangingPunct="0">
                <a:lnSpc>
                  <a:spcPct val="90000"/>
                </a:lnSpc>
                <a:spcBef>
                  <a:spcPct val="50000"/>
                </a:spcBef>
                <a:buClr>
                  <a:schemeClr val="tx1"/>
                </a:buClr>
              </a:pPr>
              <a:r>
                <a:rPr lang="en-US" altLang="zh-CN" sz="2000" b="1" baseline="0">
                  <a:solidFill>
                    <a:srgbClr val="FFFF00"/>
                  </a:solidFill>
                </a:rPr>
                <a:t>Smart Phones</a:t>
              </a:r>
              <a:endParaRPr lang="en-US" altLang="zh-CN" sz="2000" b="1" baseline="0">
                <a:solidFill>
                  <a:srgbClr val="FFFF00"/>
                </a:solidFill>
              </a:endParaRPr>
            </a:p>
          </p:txBody>
        </p:sp>
      </p:grpSp>
      <p:grpSp>
        <p:nvGrpSpPr>
          <p:cNvPr id="11" name="Group 9"/>
          <p:cNvGrpSpPr/>
          <p:nvPr/>
        </p:nvGrpSpPr>
        <p:grpSpPr bwMode="auto">
          <a:xfrm>
            <a:off x="3909988" y="3241799"/>
            <a:ext cx="2590800" cy="1655762"/>
            <a:chOff x="1474" y="1570"/>
            <a:chExt cx="1225" cy="667"/>
          </a:xfrm>
        </p:grpSpPr>
        <p:pic>
          <p:nvPicPr>
            <p:cNvPr id="12" name="Picture 32" descr="Untitled.png"/>
            <p:cNvPicPr>
              <a:picLocks noChangeAspect="1"/>
            </p:cNvPicPr>
            <p:nvPr/>
          </p:nvPicPr>
          <p:blipFill>
            <a:blip r:embed="rId2" cstate="print"/>
            <a:srcRect/>
            <a:stretch>
              <a:fillRect/>
            </a:stretch>
          </p:blipFill>
          <p:spPr bwMode="auto">
            <a:xfrm>
              <a:off x="1474" y="1570"/>
              <a:ext cx="1225" cy="667"/>
            </a:xfrm>
            <a:prstGeom prst="rect">
              <a:avLst/>
            </a:prstGeom>
            <a:noFill/>
            <a:ln w="9525">
              <a:noFill/>
              <a:miter lim="800000"/>
              <a:headEnd/>
              <a:tailEnd/>
            </a:ln>
          </p:spPr>
        </p:pic>
        <p:sp>
          <p:nvSpPr>
            <p:cNvPr id="13" name="Text Box 17"/>
            <p:cNvSpPr txBox="1">
              <a:spLocks noChangeArrowheads="1"/>
            </p:cNvSpPr>
            <p:nvPr/>
          </p:nvSpPr>
          <p:spPr bwMode="auto">
            <a:xfrm>
              <a:off x="1655" y="1883"/>
              <a:ext cx="862" cy="148"/>
            </a:xfrm>
            <a:prstGeom prst="rect">
              <a:avLst/>
            </a:prstGeom>
            <a:noFill/>
            <a:ln w="12700">
              <a:noFill/>
              <a:miter lim="800000"/>
            </a:ln>
          </p:spPr>
          <p:txBody>
            <a:bodyPr lIns="91165" tIns="45583" rIns="91165" bIns="45583" anchor="ctr">
              <a:spAutoFit/>
            </a:bodyPr>
            <a:lstStyle/>
            <a:p>
              <a:pPr algn="ctr" defTabSz="821055" eaLnBrk="0" hangingPunct="0">
                <a:lnSpc>
                  <a:spcPct val="90000"/>
                </a:lnSpc>
                <a:spcBef>
                  <a:spcPct val="50000"/>
                </a:spcBef>
                <a:buClr>
                  <a:schemeClr val="tx1"/>
                </a:buClr>
              </a:pPr>
              <a:r>
                <a:rPr lang="en-US" altLang="zh-CN" sz="2000" b="1" baseline="0">
                  <a:solidFill>
                    <a:srgbClr val="FFFF00"/>
                  </a:solidFill>
                </a:rPr>
                <a:t>Laptops</a:t>
              </a:r>
              <a:endParaRPr lang="en-US" altLang="zh-CN" sz="2000" b="1" baseline="0">
                <a:solidFill>
                  <a:srgbClr val="FFFF00"/>
                </a:solidFill>
              </a:endParaRPr>
            </a:p>
          </p:txBody>
        </p:sp>
      </p:grpSp>
      <p:grpSp>
        <p:nvGrpSpPr>
          <p:cNvPr id="14" name="Group 12"/>
          <p:cNvGrpSpPr/>
          <p:nvPr/>
        </p:nvGrpSpPr>
        <p:grpSpPr bwMode="auto">
          <a:xfrm>
            <a:off x="6924676" y="2393950"/>
            <a:ext cx="3743325" cy="4464050"/>
            <a:chOff x="3289" y="1117"/>
            <a:chExt cx="2358" cy="2812"/>
          </a:xfrm>
        </p:grpSpPr>
        <p:pic>
          <p:nvPicPr>
            <p:cNvPr id="15" name="Picture 4" descr="sim_mokei"/>
            <p:cNvPicPr>
              <a:picLocks noChangeAspect="1" noChangeArrowheads="1"/>
            </p:cNvPicPr>
            <p:nvPr/>
          </p:nvPicPr>
          <p:blipFill>
            <a:blip r:embed="rId3" cstate="print"/>
            <a:srcRect/>
            <a:stretch>
              <a:fillRect/>
            </a:stretch>
          </p:blipFill>
          <p:spPr bwMode="auto">
            <a:xfrm>
              <a:off x="3289" y="2226"/>
              <a:ext cx="2358" cy="1386"/>
            </a:xfrm>
            <a:prstGeom prst="rect">
              <a:avLst/>
            </a:prstGeom>
            <a:noFill/>
            <a:ln w="9525">
              <a:noFill/>
              <a:miter lim="800000"/>
              <a:headEnd/>
              <a:tailEnd/>
            </a:ln>
          </p:spPr>
        </p:pic>
        <p:sp>
          <p:nvSpPr>
            <p:cNvPr id="16" name="Text Box 15"/>
            <p:cNvSpPr txBox="1">
              <a:spLocks noChangeArrowheads="1"/>
            </p:cNvSpPr>
            <p:nvPr/>
          </p:nvSpPr>
          <p:spPr bwMode="auto">
            <a:xfrm>
              <a:off x="3553" y="3698"/>
              <a:ext cx="1822" cy="231"/>
            </a:xfrm>
            <a:prstGeom prst="rect">
              <a:avLst/>
            </a:prstGeom>
            <a:noFill/>
            <a:ln w="12700">
              <a:noFill/>
              <a:miter lim="800000"/>
            </a:ln>
          </p:spPr>
          <p:txBody>
            <a:bodyPr lIns="91165" tIns="45583" rIns="91165" bIns="45583" anchor="ctr">
              <a:spAutoFit/>
            </a:bodyPr>
            <a:lstStyle/>
            <a:p>
              <a:pPr algn="ctr" defTabSz="821055" eaLnBrk="0" hangingPunct="0">
                <a:lnSpc>
                  <a:spcPct val="90000"/>
                </a:lnSpc>
                <a:spcBef>
                  <a:spcPct val="50000"/>
                </a:spcBef>
                <a:buClr>
                  <a:schemeClr val="tx1"/>
                </a:buClr>
              </a:pPr>
              <a:r>
                <a:rPr lang="en-US" altLang="zh-CN" sz="2000" b="1" baseline="0">
                  <a:solidFill>
                    <a:srgbClr val="003399"/>
                  </a:solidFill>
                </a:rPr>
                <a:t>Supercomputers</a:t>
              </a:r>
              <a:endParaRPr lang="en-US" altLang="zh-CN" sz="2000" b="1" baseline="0">
                <a:solidFill>
                  <a:srgbClr val="003399"/>
                </a:solidFill>
              </a:endParaRPr>
            </a:p>
          </p:txBody>
        </p:sp>
        <p:pic>
          <p:nvPicPr>
            <p:cNvPr id="17" name="Picture 116" descr="cern-racks.jpg"/>
            <p:cNvPicPr>
              <a:picLocks noChangeAspect="1"/>
            </p:cNvPicPr>
            <p:nvPr/>
          </p:nvPicPr>
          <p:blipFill>
            <a:blip r:embed="rId4" cstate="print"/>
            <a:srcRect/>
            <a:stretch>
              <a:fillRect/>
            </a:stretch>
          </p:blipFill>
          <p:spPr bwMode="auto">
            <a:xfrm>
              <a:off x="3560" y="1117"/>
              <a:ext cx="1801" cy="1050"/>
            </a:xfrm>
            <a:prstGeom prst="rect">
              <a:avLst/>
            </a:prstGeom>
            <a:noFill/>
            <a:ln w="9525">
              <a:noFill/>
              <a:miter lim="800000"/>
              <a:headEnd/>
              <a:tailEnd/>
            </a:ln>
          </p:spPr>
        </p:pic>
      </p:gr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nSpc>
                <a:spcPct val="90000"/>
              </a:lnSpc>
            </a:pPr>
            <a:r>
              <a:rPr lang="en-US" altLang="zh-CN" dirty="0">
                <a:ea typeface="宋体" panose="02010600030101010101" pitchFamily="2" charset="-122"/>
              </a:rPr>
              <a:t> Alan Turing</a:t>
            </a:r>
            <a:r>
              <a:rPr lang="zh-CN" altLang="en-US" dirty="0">
                <a:ea typeface="宋体" panose="02010600030101010101" pitchFamily="2" charset="-122"/>
              </a:rPr>
              <a:t>：</a:t>
            </a:r>
            <a:r>
              <a:rPr lang="en-US" altLang="zh-CN" dirty="0">
                <a:ea typeface="宋体" panose="02010600030101010101" pitchFamily="2" charset="-122"/>
              </a:rPr>
              <a:t>1937</a:t>
            </a:r>
            <a:r>
              <a:rPr lang="zh-CN" altLang="en-US" dirty="0">
                <a:ea typeface="宋体" panose="02010600030101010101" pitchFamily="2" charset="-122"/>
              </a:rPr>
              <a:t>年提出</a:t>
            </a:r>
            <a:endParaRPr lang="en-US" altLang="zh-CN" dirty="0">
              <a:ea typeface="宋体" panose="02010600030101010101" pitchFamily="2" charset="-122"/>
            </a:endParaRPr>
          </a:p>
          <a:p>
            <a:pPr marL="576580" lvl="1" indent="-234950"/>
            <a:r>
              <a:rPr lang="zh-CN" altLang="en-US" dirty="0"/>
              <a:t>输入输出带</a:t>
            </a:r>
            <a:endParaRPr lang="en-US" altLang="zh-CN" dirty="0"/>
          </a:p>
          <a:p>
            <a:pPr marL="576580" lvl="1" indent="-234950"/>
            <a:r>
              <a:rPr lang="zh-CN" altLang="en-US" dirty="0"/>
              <a:t>有限状态机状态</a:t>
            </a:r>
            <a:endParaRPr lang="zh-CN" altLang="en-US" dirty="0"/>
          </a:p>
        </p:txBody>
      </p:sp>
      <p:sp>
        <p:nvSpPr>
          <p:cNvPr id="3" name="Title 2"/>
          <p:cNvSpPr>
            <a:spLocks noGrp="1"/>
          </p:cNvSpPr>
          <p:nvPr>
            <p:ph type="title"/>
          </p:nvPr>
        </p:nvSpPr>
        <p:spPr/>
        <p:txBody>
          <a:bodyPr/>
          <a:lstStyle/>
          <a:p>
            <a:r>
              <a:rPr lang="zh-CN" altLang="en-US" dirty="0"/>
              <a:t>计算机的数学模型 </a:t>
            </a:r>
            <a:r>
              <a:rPr lang="en-US" altLang="zh-CN" dirty="0"/>
              <a:t>—— </a:t>
            </a:r>
            <a:r>
              <a:rPr lang="zh-CN" altLang="en-US" dirty="0"/>
              <a:t>图灵机</a:t>
            </a:r>
            <a:endParaRPr lang="zh-CN" altLang="en-US" dirty="0"/>
          </a:p>
        </p:txBody>
      </p:sp>
      <p:pic>
        <p:nvPicPr>
          <p:cNvPr id="227330" name="Picture 2" descr="Universal Turing machine.sv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79576" y="2780928"/>
            <a:ext cx="7604294" cy="3528392"/>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任何计算可由某个图灵机实现。</a:t>
            </a:r>
            <a:endParaRPr lang="en-US" altLang="zh-CN" dirty="0"/>
          </a:p>
          <a:p>
            <a:r>
              <a:rPr lang="en-US" altLang="zh-CN" dirty="0">
                <a:hlinkClick r:id="rId1"/>
              </a:rPr>
              <a:t>http://www.turingarchive.org/browse.php/B/12</a:t>
            </a:r>
            <a:endParaRPr lang="en-US" altLang="zh-CN" dirty="0"/>
          </a:p>
          <a:p>
            <a:endParaRPr lang="zh-CN" altLang="en-US" dirty="0"/>
          </a:p>
        </p:txBody>
      </p:sp>
      <p:sp>
        <p:nvSpPr>
          <p:cNvPr id="3" name="Title 2"/>
          <p:cNvSpPr>
            <a:spLocks noGrp="1"/>
          </p:cNvSpPr>
          <p:nvPr>
            <p:ph type="title"/>
          </p:nvPr>
        </p:nvSpPr>
        <p:spPr/>
        <p:txBody>
          <a:bodyPr/>
          <a:lstStyle/>
          <a:p>
            <a:r>
              <a:rPr lang="en-US" altLang="zh-CN" dirty="0"/>
              <a:t>Turing</a:t>
            </a:r>
            <a:r>
              <a:rPr lang="zh-CN" altLang="en-US" dirty="0"/>
              <a:t>论文</a:t>
            </a:r>
            <a:endParaRPr lang="zh-CN" altLang="en-US" dirty="0"/>
          </a:p>
        </p:txBody>
      </p:sp>
      <p:grpSp>
        <p:nvGrpSpPr>
          <p:cNvPr id="5" name="Group 18"/>
          <p:cNvGrpSpPr/>
          <p:nvPr/>
        </p:nvGrpSpPr>
        <p:grpSpPr bwMode="auto">
          <a:xfrm>
            <a:off x="1941514" y="3435350"/>
            <a:ext cx="4021137" cy="1619250"/>
            <a:chOff x="614" y="2544"/>
            <a:chExt cx="2533" cy="1020"/>
          </a:xfrm>
        </p:grpSpPr>
        <p:sp>
          <p:nvSpPr>
            <p:cNvPr id="6" name="Rectangle 5"/>
            <p:cNvSpPr>
              <a:spLocks noChangeArrowheads="1"/>
            </p:cNvSpPr>
            <p:nvPr/>
          </p:nvSpPr>
          <p:spPr bwMode="auto">
            <a:xfrm>
              <a:off x="1344" y="2544"/>
              <a:ext cx="1008" cy="67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3200" baseline="0">
                  <a:latin typeface="Franklin Gothic Book" panose="020B0503020102020204" pitchFamily="34" charset="0"/>
                </a:rPr>
                <a:t>T</a:t>
              </a:r>
              <a:r>
                <a:rPr lang="en-US" altLang="zh-CN" sz="3200">
                  <a:latin typeface="Franklin Gothic Book" panose="020B0503020102020204" pitchFamily="34" charset="0"/>
                </a:rPr>
                <a:t>add</a:t>
              </a:r>
              <a:endParaRPr lang="en-US" altLang="zh-CN" sz="3200">
                <a:latin typeface="Franklin Gothic Book" panose="020B0503020102020204" pitchFamily="34" charset="0"/>
              </a:endParaRPr>
            </a:p>
          </p:txBody>
        </p:sp>
        <p:sp>
          <p:nvSpPr>
            <p:cNvPr id="7" name="Line 6"/>
            <p:cNvSpPr>
              <a:spLocks noChangeShapeType="1"/>
            </p:cNvSpPr>
            <p:nvPr/>
          </p:nvSpPr>
          <p:spPr bwMode="auto">
            <a:xfrm>
              <a:off x="1008" y="2880"/>
              <a:ext cx="336"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8" name="Line 8"/>
            <p:cNvSpPr>
              <a:spLocks noChangeShapeType="1"/>
            </p:cNvSpPr>
            <p:nvPr/>
          </p:nvSpPr>
          <p:spPr bwMode="auto">
            <a:xfrm>
              <a:off x="2352" y="2880"/>
              <a:ext cx="336"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9" name="Text Box 9"/>
                <p:cNvSpPr txBox="1">
                  <a:spLocks noChangeArrowheads="1"/>
                </p:cNvSpPr>
                <p:nvPr/>
              </p:nvSpPr>
              <p:spPr bwMode="auto">
                <a:xfrm>
                  <a:off x="614" y="2743"/>
                  <a:ext cx="4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14:m>
                    <m:oMathPara xmlns:m="http://schemas.openxmlformats.org/officeDocument/2006/math">
                      <m:oMathParaPr>
                        <m:jc m:val="centerGroup"/>
                      </m:oMathParaPr>
                      <m:oMath xmlns:m="http://schemas.openxmlformats.org/officeDocument/2006/math">
                        <m:r>
                          <a:rPr lang="en-US" altLang="zh-CN" sz="2000" i="1" baseline="0" dirty="0">
                            <a:latin typeface="Cambria Math" panose="02040503050406030204"/>
                          </a:rPr>
                          <m:t>𝑎</m:t>
                        </m:r>
                        <m:r>
                          <a:rPr lang="en-US" altLang="zh-CN" sz="2000" i="1" baseline="0" dirty="0">
                            <a:latin typeface="Cambria Math" panose="02040503050406030204"/>
                          </a:rPr>
                          <m:t>,</m:t>
                        </m:r>
                        <m:r>
                          <a:rPr lang="en-US" altLang="zh-CN" sz="2000" i="1" baseline="0" dirty="0">
                            <a:latin typeface="Cambria Math" panose="02040503050406030204"/>
                          </a:rPr>
                          <m:t>𝑏</m:t>
                        </m:r>
                      </m:oMath>
                    </m:oMathPara>
                  </a14:m>
                  <a:endParaRPr lang="en-US" altLang="zh-CN" sz="2000" baseline="0" dirty="0">
                    <a:latin typeface="Franklin Gothic Book" panose="020B0503020102020204" pitchFamily="34" charset="0"/>
                  </a:endParaRPr>
                </a:p>
              </p:txBody>
            </p:sp>
          </mc:Choice>
          <mc:Fallback>
            <p:sp>
              <p:nvSpPr>
                <p:cNvPr id="9" name="Text Box 9"/>
                <p:cNvSpPr txBox="1">
                  <a:spLocks noRot="1" noChangeAspect="1" noMove="1" noResize="1" noEditPoints="1" noAdjustHandles="1" noChangeArrowheads="1" noChangeShapeType="1" noTextEdit="1"/>
                </p:cNvSpPr>
                <p:nvPr/>
              </p:nvSpPr>
              <p:spPr bwMode="auto">
                <a:xfrm>
                  <a:off x="614" y="2743"/>
                  <a:ext cx="401" cy="252"/>
                </a:xfrm>
                <a:prstGeom prst="rect">
                  <a:avLst/>
                </a:prstGeom>
                <a:blipFill rotWithShape="1">
                  <a:blip r:embed="rId2"/>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 Box 10"/>
                <p:cNvSpPr txBox="1">
                  <a:spLocks noChangeArrowheads="1"/>
                </p:cNvSpPr>
                <p:nvPr/>
              </p:nvSpPr>
              <p:spPr bwMode="auto">
                <a:xfrm>
                  <a:off x="2613" y="2743"/>
                  <a:ext cx="53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14:m>
                    <m:oMathPara xmlns:m="http://schemas.openxmlformats.org/officeDocument/2006/math">
                      <m:oMathParaPr>
                        <m:jc m:val="centerGroup"/>
                      </m:oMathParaPr>
                      <m:oMath xmlns:m="http://schemas.openxmlformats.org/officeDocument/2006/math">
                        <m:r>
                          <a:rPr lang="en-US" altLang="zh-CN" sz="2000" i="1" baseline="0" dirty="0">
                            <a:latin typeface="Cambria Math" panose="02040503050406030204"/>
                          </a:rPr>
                          <m:t>𝑎</m:t>
                        </m:r>
                        <m:r>
                          <a:rPr lang="en-US" altLang="zh-CN" sz="2000" i="1" baseline="0" dirty="0">
                            <a:latin typeface="Cambria Math" panose="02040503050406030204"/>
                          </a:rPr>
                          <m:t>+</m:t>
                        </m:r>
                        <m:r>
                          <a:rPr lang="en-US" altLang="zh-CN" sz="2000" i="1" baseline="0" dirty="0">
                            <a:latin typeface="Cambria Math" panose="02040503050406030204"/>
                          </a:rPr>
                          <m:t>𝑏</m:t>
                        </m:r>
                      </m:oMath>
                    </m:oMathPara>
                  </a14:m>
                  <a:endParaRPr lang="en-US" altLang="zh-CN" sz="2000" baseline="0" dirty="0">
                    <a:latin typeface="Franklin Gothic Book" panose="020B0503020102020204" pitchFamily="34" charset="0"/>
                  </a:endParaRPr>
                </a:p>
              </p:txBody>
            </p:sp>
          </mc:Choice>
          <mc:Fallback>
            <p:sp>
              <p:nvSpPr>
                <p:cNvPr id="10" name="Text Box 10"/>
                <p:cNvSpPr txBox="1">
                  <a:spLocks noRot="1" noChangeAspect="1" noMove="1" noResize="1" noEditPoints="1" noAdjustHandles="1" noChangeArrowheads="1" noChangeShapeType="1" noTextEdit="1"/>
                </p:cNvSpPr>
                <p:nvPr/>
              </p:nvSpPr>
              <p:spPr bwMode="auto">
                <a:xfrm>
                  <a:off x="2613" y="2743"/>
                  <a:ext cx="534" cy="252"/>
                </a:xfrm>
                <a:prstGeom prst="rect">
                  <a:avLst/>
                </a:prstGeom>
                <a:blipFill rotWithShape="1">
                  <a:blip r:embed="rId3"/>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1" name="Text Box 11"/>
            <p:cNvSpPr txBox="1">
              <a:spLocks noChangeArrowheads="1"/>
            </p:cNvSpPr>
            <p:nvPr/>
          </p:nvSpPr>
          <p:spPr bwMode="auto">
            <a:xfrm>
              <a:off x="1423" y="3312"/>
              <a:ext cx="9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zh-CN" altLang="en-US" sz="2000" baseline="0" dirty="0">
                  <a:latin typeface="Franklin Gothic Book" panose="020B0503020102020204" pitchFamily="34" charset="0"/>
                </a:rPr>
                <a:t>加法图灵机</a:t>
              </a:r>
              <a:endParaRPr lang="en-US" altLang="zh-CN" sz="2000" baseline="0" dirty="0">
                <a:latin typeface="Franklin Gothic Book" panose="020B0503020102020204" pitchFamily="34" charset="0"/>
              </a:endParaRPr>
            </a:p>
          </p:txBody>
        </p:sp>
      </p:grpSp>
      <p:grpSp>
        <p:nvGrpSpPr>
          <p:cNvPr id="12" name="Group 26"/>
          <p:cNvGrpSpPr/>
          <p:nvPr/>
        </p:nvGrpSpPr>
        <p:grpSpPr bwMode="auto">
          <a:xfrm>
            <a:off x="6197603" y="3429000"/>
            <a:ext cx="3963989" cy="1619250"/>
            <a:chOff x="3035" y="2400"/>
            <a:chExt cx="2497" cy="1020"/>
          </a:xfrm>
        </p:grpSpPr>
        <p:sp>
          <p:nvSpPr>
            <p:cNvPr id="13" name="Rectangle 20"/>
            <p:cNvSpPr>
              <a:spLocks noChangeArrowheads="1"/>
            </p:cNvSpPr>
            <p:nvPr/>
          </p:nvSpPr>
          <p:spPr bwMode="auto">
            <a:xfrm>
              <a:off x="3765" y="2400"/>
              <a:ext cx="1008" cy="67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3200" baseline="0"/>
                <a:t>T</a:t>
              </a:r>
              <a:r>
                <a:rPr lang="en-US" altLang="zh-CN" sz="3200"/>
                <a:t>mul</a:t>
              </a:r>
              <a:endParaRPr lang="en-US" altLang="zh-CN" sz="3200"/>
            </a:p>
          </p:txBody>
        </p:sp>
        <p:sp>
          <p:nvSpPr>
            <p:cNvPr id="14" name="Line 21"/>
            <p:cNvSpPr>
              <a:spLocks noChangeShapeType="1"/>
            </p:cNvSpPr>
            <p:nvPr/>
          </p:nvSpPr>
          <p:spPr bwMode="auto">
            <a:xfrm>
              <a:off x="3429" y="2736"/>
              <a:ext cx="336"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5" name="Line 22"/>
            <p:cNvSpPr>
              <a:spLocks noChangeShapeType="1"/>
            </p:cNvSpPr>
            <p:nvPr/>
          </p:nvSpPr>
          <p:spPr bwMode="auto">
            <a:xfrm>
              <a:off x="4773" y="2736"/>
              <a:ext cx="336"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16" name="Text Box 23"/>
                <p:cNvSpPr txBox="1">
                  <a:spLocks noChangeArrowheads="1"/>
                </p:cNvSpPr>
                <p:nvPr/>
              </p:nvSpPr>
              <p:spPr bwMode="auto">
                <a:xfrm>
                  <a:off x="3035" y="2599"/>
                  <a:ext cx="4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14:m>
                    <m:oMathPara xmlns:m="http://schemas.openxmlformats.org/officeDocument/2006/math">
                      <m:oMathParaPr>
                        <m:jc m:val="centerGroup"/>
                      </m:oMathParaPr>
                      <m:oMath xmlns:m="http://schemas.openxmlformats.org/officeDocument/2006/math">
                        <m:r>
                          <a:rPr lang="en-US" altLang="zh-CN" sz="2000" i="1" baseline="0" dirty="0">
                            <a:latin typeface="Cambria Math" panose="02040503050406030204"/>
                          </a:rPr>
                          <m:t>𝑎</m:t>
                        </m:r>
                        <m:r>
                          <a:rPr lang="en-US" altLang="zh-CN" sz="2000" i="1" baseline="0" dirty="0">
                            <a:latin typeface="Cambria Math" panose="02040503050406030204"/>
                          </a:rPr>
                          <m:t>,</m:t>
                        </m:r>
                        <m:r>
                          <a:rPr lang="en-US" altLang="zh-CN" sz="2000" i="1" baseline="0" dirty="0">
                            <a:latin typeface="Cambria Math" panose="02040503050406030204"/>
                          </a:rPr>
                          <m:t>𝑏</m:t>
                        </m:r>
                      </m:oMath>
                    </m:oMathPara>
                  </a14:m>
                  <a:endParaRPr lang="en-US" altLang="zh-CN" sz="2000" baseline="0" dirty="0">
                    <a:latin typeface="Franklin Gothic Book" panose="020B0503020102020204" pitchFamily="34" charset="0"/>
                  </a:endParaRPr>
                </a:p>
              </p:txBody>
            </p:sp>
          </mc:Choice>
          <mc:Fallback>
            <p:sp>
              <p:nvSpPr>
                <p:cNvPr id="16" name="Text Box 23"/>
                <p:cNvSpPr txBox="1">
                  <a:spLocks noRot="1" noChangeAspect="1" noMove="1" noResize="1" noEditPoints="1" noAdjustHandles="1" noChangeArrowheads="1" noChangeShapeType="1" noTextEdit="1"/>
                </p:cNvSpPr>
                <p:nvPr/>
              </p:nvSpPr>
              <p:spPr bwMode="auto">
                <a:xfrm>
                  <a:off x="3035" y="2599"/>
                  <a:ext cx="401" cy="252"/>
                </a:xfrm>
                <a:prstGeom prst="rect">
                  <a:avLst/>
                </a:prstGeom>
                <a:blipFill rotWithShape="1">
                  <a:blip r:embed="rId2"/>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Text Box 24"/>
                <p:cNvSpPr txBox="1">
                  <a:spLocks noChangeArrowheads="1"/>
                </p:cNvSpPr>
                <p:nvPr/>
              </p:nvSpPr>
              <p:spPr bwMode="auto">
                <a:xfrm>
                  <a:off x="5074" y="2599"/>
                  <a:ext cx="4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14:m>
                    <m:oMathPara xmlns:m="http://schemas.openxmlformats.org/officeDocument/2006/math">
                      <m:oMathParaPr>
                        <m:jc m:val="centerGroup"/>
                      </m:oMathParaPr>
                      <m:oMath xmlns:m="http://schemas.openxmlformats.org/officeDocument/2006/math">
                        <m:r>
                          <a:rPr lang="en-US" altLang="zh-CN" sz="2000" i="1" baseline="0" dirty="0">
                            <a:latin typeface="Cambria Math" panose="02040503050406030204"/>
                          </a:rPr>
                          <m:t>𝑎</m:t>
                        </m:r>
                        <m:r>
                          <a:rPr lang="en-US" altLang="zh-CN" sz="2000" i="1" baseline="0" dirty="0">
                            <a:latin typeface="Cambria Math" panose="02040503050406030204"/>
                          </a:rPr>
                          <m:t>⋅</m:t>
                        </m:r>
                        <m:r>
                          <a:rPr lang="en-US" altLang="zh-CN" sz="2000" i="1" baseline="0" dirty="0">
                            <a:latin typeface="Cambria Math" panose="02040503050406030204"/>
                          </a:rPr>
                          <m:t>𝑏</m:t>
                        </m:r>
                      </m:oMath>
                    </m:oMathPara>
                  </a14:m>
                  <a:endParaRPr lang="en-US" altLang="zh-CN" sz="2000" baseline="0" dirty="0">
                    <a:latin typeface="Franklin Gothic Book" panose="020B0503020102020204" pitchFamily="34" charset="0"/>
                  </a:endParaRPr>
                </a:p>
              </p:txBody>
            </p:sp>
          </mc:Choice>
          <mc:Fallback>
            <p:sp>
              <p:nvSpPr>
                <p:cNvPr id="17" name="Text Box 24"/>
                <p:cNvSpPr txBox="1">
                  <a:spLocks noRot="1" noChangeAspect="1" noMove="1" noResize="1" noEditPoints="1" noAdjustHandles="1" noChangeArrowheads="1" noChangeShapeType="1" noTextEdit="1"/>
                </p:cNvSpPr>
                <p:nvPr/>
              </p:nvSpPr>
              <p:spPr bwMode="auto">
                <a:xfrm>
                  <a:off x="5074" y="2599"/>
                  <a:ext cx="458" cy="252"/>
                </a:xfrm>
                <a:prstGeom prst="rect">
                  <a:avLst/>
                </a:prstGeom>
                <a:blipFill rotWithShape="1">
                  <a:blip r:embed="rId4"/>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8" name="Text Box 25"/>
            <p:cNvSpPr txBox="1">
              <a:spLocks noChangeArrowheads="1"/>
            </p:cNvSpPr>
            <p:nvPr/>
          </p:nvSpPr>
          <p:spPr bwMode="auto">
            <a:xfrm>
              <a:off x="3847" y="3168"/>
              <a:ext cx="9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zh-CN" altLang="en-US" sz="2000" baseline="0" dirty="0">
                  <a:latin typeface="Franklin Gothic Book" panose="020B0503020102020204" pitchFamily="34" charset="0"/>
                </a:rPr>
                <a:t>乘法图灵机</a:t>
              </a:r>
              <a:endParaRPr lang="en-US" altLang="zh-CN" sz="2000" baseline="0" dirty="0">
                <a:latin typeface="Franklin Gothic Book" panose="020B0503020102020204" pitchFamily="34" charset="0"/>
              </a:endParaRPr>
            </a:p>
          </p:txBody>
        </p:sp>
      </p:gr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2"/>
          <p:cNvSpPr>
            <a:spLocks noGrp="1" noChangeArrowheads="1"/>
          </p:cNvSpPr>
          <p:nvPr>
            <p:ph type="title" idx="4294967295"/>
          </p:nvPr>
        </p:nvSpPr>
        <p:spPr>
          <a:xfrm>
            <a:off x="1847528" y="0"/>
            <a:ext cx="8229600" cy="1143000"/>
          </a:xfrm>
        </p:spPr>
        <p:txBody>
          <a:bodyPr/>
          <a:lstStyle/>
          <a:p>
            <a:r>
              <a:rPr lang="zh-CN" altLang="en-US" dirty="0">
                <a:ea typeface="宋体" panose="02010600030101010101" pitchFamily="2" charset="-122"/>
              </a:rPr>
              <a:t>通用的图灵机</a:t>
            </a:r>
            <a:endParaRPr lang="en-US" altLang="zh-CN" dirty="0">
              <a:ea typeface="宋体" panose="02010600030101010101" pitchFamily="2" charset="-122"/>
            </a:endParaRPr>
          </a:p>
        </p:txBody>
      </p:sp>
      <p:sp>
        <p:nvSpPr>
          <p:cNvPr id="111621" name="Rectangle 3"/>
          <p:cNvSpPr>
            <a:spLocks noGrp="1" noChangeArrowheads="1"/>
          </p:cNvSpPr>
          <p:nvPr>
            <p:ph type="body" idx="4294967295"/>
          </p:nvPr>
        </p:nvSpPr>
        <p:spPr>
          <a:xfrm>
            <a:off x="1703388" y="1071564"/>
            <a:ext cx="8839200" cy="3149525"/>
          </a:xfrm>
        </p:spPr>
        <p:txBody>
          <a:bodyPr>
            <a:normAutofit/>
          </a:bodyPr>
          <a:lstStyle/>
          <a:p>
            <a:pPr marL="0" indent="0">
              <a:lnSpc>
                <a:spcPct val="90000"/>
              </a:lnSpc>
            </a:pPr>
            <a:r>
              <a:rPr lang="zh-CN" altLang="en-US" dirty="0">
                <a:ea typeface="宋体" panose="02010600030101010101" pitchFamily="2" charset="-122"/>
              </a:rPr>
              <a:t>图灵描述一种能实现其它专用图灵机的通用图灵机模型。</a:t>
            </a:r>
            <a:endParaRPr lang="en-US" altLang="zh-CN" dirty="0">
              <a:ea typeface="宋体" panose="02010600030101010101" pitchFamily="2" charset="-122"/>
            </a:endParaRPr>
          </a:p>
          <a:p>
            <a:pPr marL="0" indent="0">
              <a:lnSpc>
                <a:spcPct val="90000"/>
              </a:lnSpc>
              <a:buNone/>
            </a:pPr>
            <a:r>
              <a:rPr lang="zh-CN" altLang="en-US" sz="2300" dirty="0"/>
              <a:t>  </a:t>
            </a:r>
            <a:endParaRPr lang="en-US" altLang="zh-CN" sz="2300" dirty="0"/>
          </a:p>
          <a:p>
            <a:pPr marL="576580" lvl="1" indent="-234950"/>
            <a:r>
              <a:rPr lang="en-US" altLang="zh-CN" dirty="0"/>
              <a:t>inputs:  data, plus a description of computation (Turing machine)</a:t>
            </a:r>
            <a:endParaRPr lang="en-US" altLang="zh-CN" dirty="0"/>
          </a:p>
        </p:txBody>
      </p:sp>
      <p:grpSp>
        <p:nvGrpSpPr>
          <p:cNvPr id="2" name="Group 17"/>
          <p:cNvGrpSpPr/>
          <p:nvPr/>
        </p:nvGrpSpPr>
        <p:grpSpPr bwMode="auto">
          <a:xfrm>
            <a:off x="3733801" y="2590801"/>
            <a:ext cx="4824413" cy="1616075"/>
            <a:chOff x="1075" y="1680"/>
            <a:chExt cx="3039" cy="1018"/>
          </a:xfrm>
        </p:grpSpPr>
        <p:sp>
          <p:nvSpPr>
            <p:cNvPr id="111623" name="Rectangle 5"/>
            <p:cNvSpPr>
              <a:spLocks noChangeArrowheads="1"/>
            </p:cNvSpPr>
            <p:nvPr/>
          </p:nvSpPr>
          <p:spPr bwMode="auto">
            <a:xfrm>
              <a:off x="2181" y="1680"/>
              <a:ext cx="1008" cy="672"/>
            </a:xfrm>
            <a:prstGeom prst="rect">
              <a:avLst/>
            </a:prstGeom>
            <a:noFill/>
            <a:ln w="9525">
              <a:solidFill>
                <a:schemeClr val="tx1"/>
              </a:solidFill>
              <a:miter lim="800000"/>
            </a:ln>
          </p:spPr>
          <p:txBody>
            <a:bodyPr wrap="none" anchor="ctr"/>
            <a:lstStyle/>
            <a:p>
              <a:pPr algn="ctr" eaLnBrk="0" hangingPunct="0"/>
              <a:r>
                <a:rPr lang="en-US" altLang="zh-CN" sz="3200" baseline="0"/>
                <a:t>U</a:t>
              </a:r>
              <a:endParaRPr lang="en-US" altLang="zh-CN" sz="3200"/>
            </a:p>
          </p:txBody>
        </p:sp>
        <p:sp>
          <p:nvSpPr>
            <p:cNvPr id="111624" name="Line 6"/>
            <p:cNvSpPr>
              <a:spLocks noChangeShapeType="1"/>
            </p:cNvSpPr>
            <p:nvPr/>
          </p:nvSpPr>
          <p:spPr bwMode="auto">
            <a:xfrm>
              <a:off x="1845" y="2239"/>
              <a:ext cx="336" cy="0"/>
            </a:xfrm>
            <a:prstGeom prst="line">
              <a:avLst/>
            </a:prstGeom>
            <a:noFill/>
            <a:ln w="9525">
              <a:solidFill>
                <a:schemeClr val="tx1"/>
              </a:solidFill>
              <a:round/>
              <a:tailEnd type="triangle" w="lg" len="lg"/>
            </a:ln>
          </p:spPr>
          <p:txBody>
            <a:bodyPr/>
            <a:lstStyle/>
            <a:p>
              <a:endParaRPr lang="zh-CN" altLang="en-US"/>
            </a:p>
          </p:txBody>
        </p:sp>
        <p:sp>
          <p:nvSpPr>
            <p:cNvPr id="111625" name="Line 7"/>
            <p:cNvSpPr>
              <a:spLocks noChangeShapeType="1"/>
            </p:cNvSpPr>
            <p:nvPr/>
          </p:nvSpPr>
          <p:spPr bwMode="auto">
            <a:xfrm>
              <a:off x="3189" y="2239"/>
              <a:ext cx="336" cy="0"/>
            </a:xfrm>
            <a:prstGeom prst="line">
              <a:avLst/>
            </a:prstGeom>
            <a:noFill/>
            <a:ln w="9525">
              <a:solidFill>
                <a:schemeClr val="tx1"/>
              </a:solidFill>
              <a:round/>
              <a:tailEnd type="triangle" w="lg" len="lg"/>
            </a:ln>
          </p:spPr>
          <p:txBody>
            <a:bodyPr/>
            <a:lstStyle/>
            <a:p>
              <a:endParaRPr lang="zh-CN" altLang="en-US"/>
            </a:p>
          </p:txBody>
        </p:sp>
        <p:sp>
          <p:nvSpPr>
            <p:cNvPr id="111626" name="Text Box 8"/>
            <p:cNvSpPr txBox="1">
              <a:spLocks noChangeArrowheads="1"/>
            </p:cNvSpPr>
            <p:nvPr/>
          </p:nvSpPr>
          <p:spPr bwMode="auto">
            <a:xfrm>
              <a:off x="1421" y="2102"/>
              <a:ext cx="462" cy="250"/>
            </a:xfrm>
            <a:prstGeom prst="rect">
              <a:avLst/>
            </a:prstGeom>
            <a:noFill/>
            <a:ln w="9525">
              <a:noFill/>
              <a:miter lim="800000"/>
            </a:ln>
          </p:spPr>
          <p:txBody>
            <a:bodyPr wrap="none">
              <a:spAutoFit/>
            </a:bodyPr>
            <a:lstStyle/>
            <a:p>
              <a:pPr algn="ctr" eaLnBrk="0" hangingPunct="0"/>
              <a:r>
                <a:rPr lang="en-US" altLang="zh-CN" sz="2000" baseline="0"/>
                <a:t>a,b,c</a:t>
              </a:r>
              <a:endParaRPr lang="en-US" altLang="zh-CN" sz="2000" baseline="0"/>
            </a:p>
          </p:txBody>
        </p:sp>
        <p:sp>
          <p:nvSpPr>
            <p:cNvPr id="111627" name="Text Box 9"/>
            <p:cNvSpPr txBox="1">
              <a:spLocks noChangeArrowheads="1"/>
            </p:cNvSpPr>
            <p:nvPr/>
          </p:nvSpPr>
          <p:spPr bwMode="auto">
            <a:xfrm>
              <a:off x="3541" y="2112"/>
              <a:ext cx="573" cy="250"/>
            </a:xfrm>
            <a:prstGeom prst="rect">
              <a:avLst/>
            </a:prstGeom>
            <a:noFill/>
            <a:ln w="9525">
              <a:noFill/>
              <a:miter lim="800000"/>
            </a:ln>
          </p:spPr>
          <p:txBody>
            <a:bodyPr wrap="none">
              <a:spAutoFit/>
            </a:bodyPr>
            <a:lstStyle/>
            <a:p>
              <a:pPr algn="ctr" eaLnBrk="0" hangingPunct="0"/>
              <a:r>
                <a:rPr lang="en-US" altLang="zh-CN" sz="2000" baseline="0">
                  <a:latin typeface="Franklin Gothic Book" panose="020B0503020102020204" pitchFamily="34" charset="0"/>
                </a:rPr>
                <a:t>c(a+b)</a:t>
              </a:r>
              <a:endParaRPr lang="en-US" altLang="zh-CN" sz="2000" baseline="0">
                <a:latin typeface="Franklin Gothic Book" panose="020B0503020102020204" pitchFamily="34" charset="0"/>
              </a:endParaRPr>
            </a:p>
          </p:txBody>
        </p:sp>
        <p:sp>
          <p:nvSpPr>
            <p:cNvPr id="111628" name="Text Box 10"/>
            <p:cNvSpPr txBox="1">
              <a:spLocks noChangeArrowheads="1"/>
            </p:cNvSpPr>
            <p:nvPr/>
          </p:nvSpPr>
          <p:spPr bwMode="auto">
            <a:xfrm>
              <a:off x="1763" y="2448"/>
              <a:ext cx="1931" cy="250"/>
            </a:xfrm>
            <a:prstGeom prst="rect">
              <a:avLst/>
            </a:prstGeom>
            <a:noFill/>
            <a:ln w="9525">
              <a:noFill/>
              <a:miter lim="800000"/>
            </a:ln>
          </p:spPr>
          <p:txBody>
            <a:bodyPr wrap="none">
              <a:spAutoFit/>
            </a:bodyPr>
            <a:lstStyle/>
            <a:p>
              <a:pPr algn="ctr" eaLnBrk="0" hangingPunct="0"/>
              <a:r>
                <a:rPr lang="en-US" altLang="zh-CN" sz="2000" i="1" baseline="0" dirty="0"/>
                <a:t>Universal Turing Machine</a:t>
              </a:r>
              <a:endParaRPr lang="en-US" altLang="zh-CN" sz="2000" i="1" baseline="0" dirty="0"/>
            </a:p>
          </p:txBody>
        </p:sp>
        <p:sp>
          <p:nvSpPr>
            <p:cNvPr id="111629" name="Line 11"/>
            <p:cNvSpPr>
              <a:spLocks noChangeShapeType="1"/>
            </p:cNvSpPr>
            <p:nvPr/>
          </p:nvSpPr>
          <p:spPr bwMode="auto">
            <a:xfrm>
              <a:off x="1845" y="1865"/>
              <a:ext cx="336" cy="0"/>
            </a:xfrm>
            <a:prstGeom prst="line">
              <a:avLst/>
            </a:prstGeom>
            <a:noFill/>
            <a:ln w="9525">
              <a:solidFill>
                <a:schemeClr val="tx1"/>
              </a:solidFill>
              <a:round/>
              <a:tailEnd type="triangle" w="lg" len="lg"/>
            </a:ln>
          </p:spPr>
          <p:txBody>
            <a:bodyPr/>
            <a:lstStyle/>
            <a:p>
              <a:endParaRPr lang="zh-CN" altLang="en-US"/>
            </a:p>
          </p:txBody>
        </p:sp>
        <p:sp>
          <p:nvSpPr>
            <p:cNvPr id="111630" name="Text Box 13"/>
            <p:cNvSpPr txBox="1">
              <a:spLocks noChangeArrowheads="1"/>
            </p:cNvSpPr>
            <p:nvPr/>
          </p:nvSpPr>
          <p:spPr bwMode="auto">
            <a:xfrm>
              <a:off x="1075" y="1728"/>
              <a:ext cx="742" cy="250"/>
            </a:xfrm>
            <a:prstGeom prst="rect">
              <a:avLst/>
            </a:prstGeom>
            <a:noFill/>
            <a:ln w="9525">
              <a:noFill/>
              <a:miter lim="800000"/>
            </a:ln>
          </p:spPr>
          <p:txBody>
            <a:bodyPr wrap="none">
              <a:spAutoFit/>
            </a:bodyPr>
            <a:lstStyle/>
            <a:p>
              <a:pPr algn="ctr" eaLnBrk="0" hangingPunct="0"/>
              <a:r>
                <a:rPr lang="en-US" altLang="zh-CN" sz="2000" baseline="0"/>
                <a:t>T</a:t>
              </a:r>
              <a:r>
                <a:rPr lang="en-US" altLang="zh-CN" sz="2000"/>
                <a:t>add</a:t>
              </a:r>
              <a:r>
                <a:rPr lang="en-US" altLang="zh-CN" sz="2000" baseline="0"/>
                <a:t>, T</a:t>
              </a:r>
              <a:r>
                <a:rPr lang="en-US" altLang="zh-CN" sz="2000"/>
                <a:t>mul</a:t>
              </a:r>
              <a:endParaRPr lang="en-US" altLang="zh-CN" sz="2000"/>
            </a:p>
          </p:txBody>
        </p:sp>
      </p:grpSp>
      <p:sp>
        <p:nvSpPr>
          <p:cNvPr id="111631" name="Rectangle 15"/>
          <p:cNvSpPr>
            <a:spLocks noChangeArrowheads="1"/>
          </p:cNvSpPr>
          <p:nvPr/>
        </p:nvSpPr>
        <p:spPr bwMode="auto">
          <a:xfrm>
            <a:off x="1752600" y="4495800"/>
            <a:ext cx="8591550" cy="1957388"/>
          </a:xfrm>
          <a:prstGeom prst="rect">
            <a:avLst/>
          </a:prstGeom>
          <a:noFill/>
          <a:ln w="9525">
            <a:noFill/>
            <a:miter lim="800000"/>
          </a:ln>
        </p:spPr>
        <p:txBody>
          <a:bodyPr/>
          <a:lstStyle/>
          <a:p>
            <a:pPr eaLnBrk="0" hangingPunct="0">
              <a:spcBef>
                <a:spcPct val="20000"/>
              </a:spcBef>
              <a:buFont typeface="Wingdings" panose="05000000000000000000" pitchFamily="2" charset="2"/>
              <a:buChar char="n"/>
            </a:pPr>
            <a:r>
              <a:rPr lang="en-US" altLang="zh-CN" sz="2400" b="1" baseline="0" dirty="0"/>
              <a:t>U </a:t>
            </a:r>
            <a:r>
              <a:rPr lang="zh-CN" altLang="en-US" sz="2400" b="1" baseline="0" dirty="0"/>
              <a:t>是可编程的</a:t>
            </a:r>
            <a:r>
              <a:rPr lang="en-US" altLang="zh-CN" sz="2400" b="1" baseline="0" dirty="0"/>
              <a:t>– so is a computer!</a:t>
            </a:r>
            <a:endParaRPr lang="en-US" altLang="zh-CN" sz="2400" b="1" baseline="0" dirty="0"/>
          </a:p>
          <a:p>
            <a:pPr marL="576580" lvl="1" indent="-234950" eaLnBrk="0" hangingPunct="0">
              <a:spcBef>
                <a:spcPct val="20000"/>
              </a:spcBef>
              <a:buFont typeface="Wingdings" panose="05000000000000000000" pitchFamily="2" charset="2"/>
              <a:buChar char="l"/>
            </a:pPr>
            <a:r>
              <a:rPr lang="zh-CN" altLang="en-US" sz="2000" b="1" baseline="0" dirty="0"/>
              <a:t>指令是输入数据的一部分</a:t>
            </a:r>
            <a:endParaRPr lang="en-US" altLang="zh-CN" sz="2000" b="1" baseline="0" dirty="0"/>
          </a:p>
          <a:p>
            <a:pPr marL="576580" lvl="1" indent="-234950" eaLnBrk="0" hangingPunct="0">
              <a:spcBef>
                <a:spcPct val="20000"/>
              </a:spcBef>
              <a:buFont typeface="Wingdings" panose="05000000000000000000" pitchFamily="2" charset="2"/>
              <a:buChar char="l"/>
            </a:pPr>
            <a:r>
              <a:rPr lang="zh-CN" altLang="en-US" sz="2000" b="1" baseline="0" dirty="0"/>
              <a:t>现在所有的计算机系统都是图灵机或其子集</a:t>
            </a:r>
            <a:endParaRPr lang="en-US" altLang="zh-CN" sz="2000" b="1" baseline="0" dirty="0"/>
          </a:p>
          <a:p>
            <a:pPr marL="576580" lvl="1" indent="-234950" eaLnBrk="0" hangingPunct="0">
              <a:spcBef>
                <a:spcPct val="20000"/>
              </a:spcBef>
              <a:buFont typeface="Wingdings" panose="05000000000000000000" pitchFamily="2" charset="2"/>
              <a:buChar char="l"/>
            </a:pPr>
            <a:r>
              <a:rPr lang="en-US" altLang="zh-CN" sz="2400" b="1" i="1" baseline="0" dirty="0">
                <a:solidFill>
                  <a:srgbClr val="FF3300"/>
                </a:solidFill>
              </a:rPr>
              <a:t>Therefore, a computer is a universal computing device!</a:t>
            </a:r>
            <a:endParaRPr lang="en-US" altLang="zh-CN" sz="2400" b="1" i="1" baseline="0" dirty="0">
              <a:solidFill>
                <a:srgbClr val="FF3300"/>
              </a:solidFill>
            </a:endParaRPr>
          </a:p>
        </p:txBody>
      </p:sp>
      <p:sp>
        <p:nvSpPr>
          <p:cNvPr id="3" name="灯片编号占位符 2"/>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altLang="zh-CN" dirty="0">
                <a:ea typeface="宋体" panose="02010600030101010101" pitchFamily="2" charset="-122"/>
              </a:rPr>
              <a:t>Abstraction helps us Manage Complexity</a:t>
            </a:r>
            <a:r>
              <a:rPr lang="zh-CN" altLang="en-US" dirty="0">
                <a:ea typeface="宋体" panose="02010600030101010101" pitchFamily="2" charset="-122"/>
              </a:rPr>
              <a:t> ：计算机体系结构的层次化结构</a:t>
            </a:r>
            <a:endParaRPr lang="en-US" altLang="zh-CN" dirty="0">
              <a:ea typeface="宋体" panose="02010600030101010101" pitchFamily="2" charset="-122"/>
            </a:endParaRPr>
          </a:p>
          <a:p>
            <a:endParaRPr lang="en-US" altLang="zh-CN" dirty="0"/>
          </a:p>
          <a:p>
            <a:r>
              <a:rPr lang="zh-CN" altLang="en-US" dirty="0"/>
              <a:t>使用计算机求解问题，问题虽然使用自然语言描述，到计算机使用一系列电子设备以高电压、低电压方式解决该问题，中间经过了一系列的变换，每一个变换抽象成一个层。</a:t>
            </a:r>
            <a:endParaRPr lang="en-US" altLang="zh-CN" dirty="0"/>
          </a:p>
          <a:p>
            <a:endParaRPr lang="en-US" altLang="zh-CN" dirty="0"/>
          </a:p>
          <a:p>
            <a:endParaRPr lang="en-US" altLang="zh-CN" dirty="0"/>
          </a:p>
        </p:txBody>
      </p:sp>
      <p:sp>
        <p:nvSpPr>
          <p:cNvPr id="4" name="Title 3"/>
          <p:cNvSpPr>
            <a:spLocks noGrp="1"/>
          </p:cNvSpPr>
          <p:nvPr>
            <p:ph type="title"/>
          </p:nvPr>
        </p:nvSpPr>
        <p:spPr/>
        <p:txBody>
          <a:bodyPr>
            <a:normAutofit/>
          </a:bodyPr>
          <a:lstStyle/>
          <a:p>
            <a:r>
              <a:rPr lang="zh-CN" altLang="en-US" dirty="0"/>
              <a:t>第二个重要思想：分层化</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AutoShape 3"/>
          <p:cNvSpPr>
            <a:spLocks noChangeArrowheads="1"/>
          </p:cNvSpPr>
          <p:nvPr/>
        </p:nvSpPr>
        <p:spPr bwMode="auto">
          <a:xfrm>
            <a:off x="1992314" y="1849439"/>
            <a:ext cx="4225925" cy="403225"/>
          </a:xfrm>
          <a:prstGeom prst="roundRect">
            <a:avLst>
              <a:gd name="adj" fmla="val 16667"/>
            </a:avLst>
          </a:prstGeom>
          <a:solidFill>
            <a:srgbClr val="FFFFFF"/>
          </a:solidFill>
          <a:ln w="38100">
            <a:solidFill>
              <a:schemeClr val="tx1"/>
            </a:solidFill>
            <a:round/>
          </a:ln>
        </p:spPr>
        <p:txBody>
          <a:bodyPr wrap="none" lIns="91429" tIns="45714" rIns="91429" bIns="45714" anchor="ctr"/>
          <a:lstStyle/>
          <a:p>
            <a:pPr algn="ctr" defTabSz="821055" eaLnBrk="0" hangingPunct="0"/>
            <a:r>
              <a:rPr lang="en-US" altLang="zh-CN" sz="2000" baseline="0">
                <a:latin typeface="Calibri" panose="020F0502020204030204" pitchFamily="34" charset="0"/>
              </a:rPr>
              <a:t>Algorithm and Data Structure</a:t>
            </a:r>
            <a:endParaRPr lang="zh-CN" altLang="en-US" sz="2000" baseline="0">
              <a:latin typeface="Calibri" panose="020F0502020204030204" pitchFamily="34" charset="0"/>
            </a:endParaRPr>
          </a:p>
        </p:txBody>
      </p:sp>
      <p:sp>
        <p:nvSpPr>
          <p:cNvPr id="69636" name="AutoShape 4"/>
          <p:cNvSpPr>
            <a:spLocks noChangeArrowheads="1"/>
          </p:cNvSpPr>
          <p:nvPr/>
        </p:nvSpPr>
        <p:spPr bwMode="auto">
          <a:xfrm>
            <a:off x="1992314" y="3933826"/>
            <a:ext cx="4225925" cy="392113"/>
          </a:xfrm>
          <a:prstGeom prst="roundRect">
            <a:avLst>
              <a:gd name="adj" fmla="val 16667"/>
            </a:avLst>
          </a:prstGeom>
          <a:solidFill>
            <a:schemeClr val="bg1"/>
          </a:solidFill>
          <a:ln w="38100">
            <a:solidFill>
              <a:schemeClr val="tx1"/>
            </a:solidFill>
            <a:round/>
          </a:ln>
        </p:spPr>
        <p:txBody>
          <a:bodyPr wrap="none" lIns="91429" tIns="45714" rIns="91429" bIns="45714" anchor="ctr"/>
          <a:lstStyle/>
          <a:p>
            <a:pPr algn="ctr" defTabSz="821055" eaLnBrk="0" hangingPunct="0"/>
            <a:r>
              <a:rPr lang="en-US" altLang="zh-CN" sz="2000" baseline="0">
                <a:latin typeface="Calibri" panose="020F0502020204030204" pitchFamily="34" charset="0"/>
              </a:rPr>
              <a:t>Gates/Register-Transfer Level (RTL)</a:t>
            </a:r>
            <a:endParaRPr lang="en-US" altLang="zh-CN" sz="2000" baseline="0">
              <a:latin typeface="Calibri" panose="020F0502020204030204" pitchFamily="34" charset="0"/>
            </a:endParaRPr>
          </a:p>
        </p:txBody>
      </p:sp>
      <p:sp>
        <p:nvSpPr>
          <p:cNvPr id="69637" name="AutoShape 5"/>
          <p:cNvSpPr>
            <a:spLocks noChangeArrowheads="1"/>
          </p:cNvSpPr>
          <p:nvPr/>
        </p:nvSpPr>
        <p:spPr bwMode="auto">
          <a:xfrm>
            <a:off x="1992314" y="1446214"/>
            <a:ext cx="4217987" cy="403225"/>
          </a:xfrm>
          <a:prstGeom prst="roundRect">
            <a:avLst>
              <a:gd name="adj" fmla="val 16667"/>
            </a:avLst>
          </a:prstGeom>
          <a:solidFill>
            <a:srgbClr val="FFFFFF"/>
          </a:solidFill>
          <a:ln w="38100">
            <a:solidFill>
              <a:schemeClr val="tx1"/>
            </a:solidFill>
            <a:round/>
          </a:ln>
        </p:spPr>
        <p:txBody>
          <a:bodyPr wrap="none" lIns="91429" tIns="45714" rIns="91429" bIns="45714" anchor="ctr"/>
          <a:lstStyle/>
          <a:p>
            <a:pPr algn="ctr" defTabSz="821055" eaLnBrk="0" hangingPunct="0"/>
            <a:r>
              <a:rPr lang="en-US" altLang="zh-CN" sz="2000" b="1" baseline="0">
                <a:solidFill>
                  <a:schemeClr val="accent1"/>
                </a:solidFill>
                <a:latin typeface="Calibri" panose="020F0502020204030204" pitchFamily="34" charset="0"/>
              </a:rPr>
              <a:t>Application</a:t>
            </a:r>
            <a:endParaRPr lang="en-US" altLang="zh-CN" sz="2000" b="1" baseline="0">
              <a:solidFill>
                <a:schemeClr val="accent1"/>
              </a:solidFill>
              <a:latin typeface="Calibri" panose="020F0502020204030204" pitchFamily="34" charset="0"/>
            </a:endParaRPr>
          </a:p>
        </p:txBody>
      </p:sp>
      <p:sp>
        <p:nvSpPr>
          <p:cNvPr id="69638" name="AutoShape 6"/>
          <p:cNvSpPr>
            <a:spLocks noChangeArrowheads="1"/>
          </p:cNvSpPr>
          <p:nvPr/>
        </p:nvSpPr>
        <p:spPr bwMode="auto">
          <a:xfrm>
            <a:off x="1992314" y="3059114"/>
            <a:ext cx="4225925" cy="471487"/>
          </a:xfrm>
          <a:prstGeom prst="roundRect">
            <a:avLst>
              <a:gd name="adj" fmla="val 16667"/>
            </a:avLst>
          </a:prstGeom>
          <a:solidFill>
            <a:schemeClr val="bg1"/>
          </a:solidFill>
          <a:ln w="38100">
            <a:solidFill>
              <a:schemeClr val="tx1"/>
            </a:solidFill>
            <a:round/>
          </a:ln>
        </p:spPr>
        <p:txBody>
          <a:bodyPr wrap="none" lIns="91429" tIns="45714" rIns="91429" bIns="45714" anchor="ctr"/>
          <a:lstStyle/>
          <a:p>
            <a:pPr algn="ctr" defTabSz="821055" eaLnBrk="0" hangingPunct="0"/>
            <a:r>
              <a:rPr lang="en-US" altLang="zh-CN" sz="2000" baseline="0">
                <a:latin typeface="Calibri" panose="020F0502020204030204" pitchFamily="34" charset="0"/>
              </a:rPr>
              <a:t>Instruction Set Architecture (ISA)</a:t>
            </a:r>
            <a:endParaRPr lang="en-US" altLang="zh-CN" sz="2000" baseline="0">
              <a:latin typeface="Calibri" panose="020F0502020204030204" pitchFamily="34" charset="0"/>
            </a:endParaRPr>
          </a:p>
        </p:txBody>
      </p:sp>
      <p:sp>
        <p:nvSpPr>
          <p:cNvPr id="69639" name="AutoShape 7"/>
          <p:cNvSpPr>
            <a:spLocks noChangeArrowheads="1"/>
          </p:cNvSpPr>
          <p:nvPr/>
        </p:nvSpPr>
        <p:spPr bwMode="auto">
          <a:xfrm>
            <a:off x="1992313" y="2655889"/>
            <a:ext cx="4214812" cy="403225"/>
          </a:xfrm>
          <a:prstGeom prst="roundRect">
            <a:avLst>
              <a:gd name="adj" fmla="val 16667"/>
            </a:avLst>
          </a:prstGeom>
          <a:solidFill>
            <a:schemeClr val="bg1"/>
          </a:solidFill>
          <a:ln w="38100">
            <a:solidFill>
              <a:schemeClr val="tx1"/>
            </a:solidFill>
            <a:round/>
          </a:ln>
        </p:spPr>
        <p:txBody>
          <a:bodyPr wrap="none" lIns="91429" tIns="45714" rIns="91429" bIns="45714" anchor="ctr"/>
          <a:lstStyle/>
          <a:p>
            <a:pPr algn="ctr" defTabSz="821055" eaLnBrk="0" hangingPunct="0"/>
            <a:r>
              <a:rPr lang="en-US" altLang="zh-CN" sz="2000" baseline="0">
                <a:latin typeface="Calibri" panose="020F0502020204030204" pitchFamily="34" charset="0"/>
              </a:rPr>
              <a:t>Operating System/Virtual Machines</a:t>
            </a:r>
            <a:endParaRPr lang="en-US" altLang="zh-CN" sz="2000" baseline="0">
              <a:latin typeface="Calibri" panose="020F0502020204030204" pitchFamily="34" charset="0"/>
            </a:endParaRPr>
          </a:p>
        </p:txBody>
      </p:sp>
      <p:sp>
        <p:nvSpPr>
          <p:cNvPr id="69640" name="AutoShape 8"/>
          <p:cNvSpPr>
            <a:spLocks noChangeArrowheads="1"/>
          </p:cNvSpPr>
          <p:nvPr/>
        </p:nvSpPr>
        <p:spPr bwMode="auto">
          <a:xfrm>
            <a:off x="1992314" y="3530601"/>
            <a:ext cx="4225925" cy="403225"/>
          </a:xfrm>
          <a:prstGeom prst="roundRect">
            <a:avLst>
              <a:gd name="adj" fmla="val 16667"/>
            </a:avLst>
          </a:prstGeom>
          <a:solidFill>
            <a:schemeClr val="bg1"/>
          </a:solidFill>
          <a:ln w="38100">
            <a:solidFill>
              <a:schemeClr val="tx1"/>
            </a:solidFill>
            <a:round/>
          </a:ln>
        </p:spPr>
        <p:txBody>
          <a:bodyPr wrap="none" lIns="91429" tIns="45714" rIns="91429" bIns="45714" anchor="ctr"/>
          <a:lstStyle/>
          <a:p>
            <a:pPr algn="ctr" defTabSz="821055" eaLnBrk="0" hangingPunct="0"/>
            <a:r>
              <a:rPr lang="en-US" altLang="zh-CN" sz="2000" baseline="0">
                <a:latin typeface="Calibri" panose="020F0502020204030204" pitchFamily="34" charset="0"/>
              </a:rPr>
              <a:t>Microarchitecture</a:t>
            </a:r>
            <a:endParaRPr lang="en-US" altLang="zh-CN" sz="2000" baseline="0">
              <a:latin typeface="Calibri" panose="020F0502020204030204" pitchFamily="34" charset="0"/>
            </a:endParaRPr>
          </a:p>
        </p:txBody>
      </p:sp>
      <p:sp>
        <p:nvSpPr>
          <p:cNvPr id="69641" name="AutoShape 9"/>
          <p:cNvSpPr>
            <a:spLocks noChangeArrowheads="1"/>
          </p:cNvSpPr>
          <p:nvPr/>
        </p:nvSpPr>
        <p:spPr bwMode="auto">
          <a:xfrm>
            <a:off x="1992314" y="4740275"/>
            <a:ext cx="4225925" cy="458788"/>
          </a:xfrm>
          <a:prstGeom prst="roundRect">
            <a:avLst>
              <a:gd name="adj" fmla="val 16667"/>
            </a:avLst>
          </a:prstGeom>
          <a:solidFill>
            <a:schemeClr val="bg1"/>
          </a:solidFill>
          <a:ln w="38100">
            <a:solidFill>
              <a:schemeClr val="tx1"/>
            </a:solidFill>
            <a:round/>
          </a:ln>
        </p:spPr>
        <p:txBody>
          <a:bodyPr wrap="none" lIns="91429" tIns="45714" rIns="91429" bIns="45714" anchor="ctr"/>
          <a:lstStyle/>
          <a:p>
            <a:pPr algn="ctr" defTabSz="821055" eaLnBrk="0" hangingPunct="0"/>
            <a:r>
              <a:rPr lang="en-US" altLang="zh-CN" sz="2000" baseline="0">
                <a:latin typeface="Calibri" panose="020F0502020204030204" pitchFamily="34" charset="0"/>
              </a:rPr>
              <a:t>Electronic Devices</a:t>
            </a:r>
            <a:endParaRPr lang="en-US" altLang="zh-CN" sz="2000" baseline="0">
              <a:latin typeface="Calibri" panose="020F0502020204030204" pitchFamily="34" charset="0"/>
            </a:endParaRPr>
          </a:p>
        </p:txBody>
      </p:sp>
      <p:sp>
        <p:nvSpPr>
          <p:cNvPr id="69642" name="AutoShape 10"/>
          <p:cNvSpPr>
            <a:spLocks noChangeArrowheads="1"/>
          </p:cNvSpPr>
          <p:nvPr/>
        </p:nvSpPr>
        <p:spPr bwMode="auto">
          <a:xfrm>
            <a:off x="1992314" y="2252664"/>
            <a:ext cx="4225925" cy="403225"/>
          </a:xfrm>
          <a:prstGeom prst="roundRect">
            <a:avLst>
              <a:gd name="adj" fmla="val 16667"/>
            </a:avLst>
          </a:prstGeom>
          <a:solidFill>
            <a:srgbClr val="FFFFFF"/>
          </a:solidFill>
          <a:ln w="38100">
            <a:solidFill>
              <a:schemeClr val="tx1"/>
            </a:solidFill>
            <a:round/>
          </a:ln>
        </p:spPr>
        <p:txBody>
          <a:bodyPr wrap="none" lIns="91429" tIns="45714" rIns="91429" bIns="45714" anchor="ctr"/>
          <a:lstStyle/>
          <a:p>
            <a:pPr algn="ctr" defTabSz="821055" eaLnBrk="0" hangingPunct="0"/>
            <a:r>
              <a:rPr lang="en-US" altLang="zh-CN" sz="2000" baseline="0">
                <a:latin typeface="Calibri" panose="020F0502020204030204" pitchFamily="34" charset="0"/>
              </a:rPr>
              <a:t>Programming Language/Compiler</a:t>
            </a:r>
            <a:endParaRPr lang="en-US" altLang="zh-CN" sz="2000" baseline="0">
              <a:latin typeface="Calibri" panose="020F0502020204030204" pitchFamily="34" charset="0"/>
            </a:endParaRPr>
          </a:p>
        </p:txBody>
      </p:sp>
      <p:sp>
        <p:nvSpPr>
          <p:cNvPr id="69643" name="AutoShape 11"/>
          <p:cNvSpPr>
            <a:spLocks noChangeArrowheads="1"/>
          </p:cNvSpPr>
          <p:nvPr/>
        </p:nvSpPr>
        <p:spPr bwMode="auto">
          <a:xfrm>
            <a:off x="1992314" y="4337051"/>
            <a:ext cx="4225925" cy="392113"/>
          </a:xfrm>
          <a:prstGeom prst="roundRect">
            <a:avLst>
              <a:gd name="adj" fmla="val 16667"/>
            </a:avLst>
          </a:prstGeom>
          <a:solidFill>
            <a:schemeClr val="bg1"/>
          </a:solidFill>
          <a:ln w="38100">
            <a:solidFill>
              <a:schemeClr val="tx1"/>
            </a:solidFill>
            <a:round/>
          </a:ln>
        </p:spPr>
        <p:txBody>
          <a:bodyPr wrap="none" lIns="91429" tIns="45714" rIns="91429" bIns="45714" anchor="ctr"/>
          <a:lstStyle/>
          <a:p>
            <a:pPr algn="ctr" defTabSz="821055" eaLnBrk="0" hangingPunct="0"/>
            <a:r>
              <a:rPr lang="en-US" altLang="zh-CN" sz="2000" baseline="0">
                <a:latin typeface="Calibri" panose="020F0502020204030204" pitchFamily="34" charset="0"/>
              </a:rPr>
              <a:t>Analog/Digital Circuits</a:t>
            </a:r>
            <a:endParaRPr lang="en-US" altLang="zh-CN" sz="2000" baseline="0">
              <a:latin typeface="Calibri" panose="020F0502020204030204" pitchFamily="34" charset="0"/>
            </a:endParaRPr>
          </a:p>
        </p:txBody>
      </p:sp>
      <p:sp>
        <p:nvSpPr>
          <p:cNvPr id="69644" name="AutoShape 12"/>
          <p:cNvSpPr>
            <a:spLocks noChangeArrowheads="1"/>
          </p:cNvSpPr>
          <p:nvPr/>
        </p:nvSpPr>
        <p:spPr bwMode="auto">
          <a:xfrm>
            <a:off x="1992314" y="5180014"/>
            <a:ext cx="4225925" cy="458787"/>
          </a:xfrm>
          <a:prstGeom prst="roundRect">
            <a:avLst>
              <a:gd name="adj" fmla="val 16667"/>
            </a:avLst>
          </a:prstGeom>
          <a:solidFill>
            <a:schemeClr val="bg1"/>
          </a:solidFill>
          <a:ln w="38100">
            <a:solidFill>
              <a:schemeClr val="tx1"/>
            </a:solidFill>
            <a:round/>
          </a:ln>
        </p:spPr>
        <p:txBody>
          <a:bodyPr wrap="none" lIns="91429" tIns="45714" rIns="91429" bIns="45714" anchor="ctr"/>
          <a:lstStyle/>
          <a:p>
            <a:pPr algn="ctr" defTabSz="821055" eaLnBrk="0" hangingPunct="0"/>
            <a:r>
              <a:rPr lang="en-US" altLang="zh-CN" sz="2000" b="1" baseline="0">
                <a:solidFill>
                  <a:schemeClr val="accent1"/>
                </a:solidFill>
                <a:latin typeface="Calibri" panose="020F0502020204030204" pitchFamily="34" charset="0"/>
              </a:rPr>
              <a:t>Physics</a:t>
            </a:r>
            <a:endParaRPr lang="en-US" altLang="zh-CN" sz="2000" b="1" baseline="0">
              <a:solidFill>
                <a:schemeClr val="accent1"/>
              </a:solidFill>
              <a:latin typeface="Calibri" panose="020F0502020204030204" pitchFamily="34" charset="0"/>
            </a:endParaRPr>
          </a:p>
        </p:txBody>
      </p:sp>
      <p:sp>
        <p:nvSpPr>
          <p:cNvPr id="69645" name="TextBox 30"/>
          <p:cNvSpPr txBox="1">
            <a:spLocks noChangeArrowheads="1"/>
          </p:cNvSpPr>
          <p:nvPr/>
        </p:nvSpPr>
        <p:spPr bwMode="auto">
          <a:xfrm>
            <a:off x="6746875" y="4340225"/>
            <a:ext cx="1403350" cy="457200"/>
          </a:xfrm>
          <a:prstGeom prst="rect">
            <a:avLst/>
          </a:prstGeom>
          <a:noFill/>
          <a:ln w="9525">
            <a:noFill/>
            <a:miter lim="800000"/>
          </a:ln>
        </p:spPr>
        <p:txBody>
          <a:bodyPr wrap="none">
            <a:spAutoFit/>
          </a:bodyPr>
          <a:lstStyle/>
          <a:p>
            <a:pPr eaLnBrk="0" hangingPunct="0">
              <a:spcBef>
                <a:spcPct val="50000"/>
              </a:spcBef>
            </a:pPr>
            <a:r>
              <a:rPr lang="zh-CN" altLang="en-US" sz="2400" baseline="0">
                <a:solidFill>
                  <a:srgbClr val="000000"/>
                </a:solidFill>
                <a:latin typeface="Calibri" panose="020F0502020204030204" pitchFamily="34" charset="0"/>
              </a:rPr>
              <a:t>集成电路</a:t>
            </a:r>
            <a:endParaRPr lang="zh-CN" altLang="en-US" sz="2400" baseline="0">
              <a:solidFill>
                <a:srgbClr val="000000"/>
              </a:solidFill>
              <a:latin typeface="Calibri" panose="020F0502020204030204" pitchFamily="34" charset="0"/>
            </a:endParaRPr>
          </a:p>
        </p:txBody>
      </p:sp>
      <p:sp>
        <p:nvSpPr>
          <p:cNvPr id="69646" name="TextBox 31"/>
          <p:cNvSpPr txBox="1">
            <a:spLocks noChangeArrowheads="1"/>
          </p:cNvSpPr>
          <p:nvPr/>
        </p:nvSpPr>
        <p:spPr bwMode="auto">
          <a:xfrm>
            <a:off x="6746875" y="3860800"/>
            <a:ext cx="1403350" cy="457200"/>
          </a:xfrm>
          <a:prstGeom prst="rect">
            <a:avLst/>
          </a:prstGeom>
          <a:noFill/>
          <a:ln w="9525">
            <a:noFill/>
            <a:miter lim="800000"/>
          </a:ln>
        </p:spPr>
        <p:txBody>
          <a:bodyPr wrap="none">
            <a:spAutoFit/>
          </a:bodyPr>
          <a:lstStyle/>
          <a:p>
            <a:pPr eaLnBrk="0" hangingPunct="0">
              <a:spcBef>
                <a:spcPct val="50000"/>
              </a:spcBef>
            </a:pPr>
            <a:r>
              <a:rPr lang="zh-CN" altLang="en-US" sz="2400" baseline="0">
                <a:solidFill>
                  <a:srgbClr val="000000"/>
                </a:solidFill>
                <a:latin typeface="Calibri" panose="020F0502020204030204" pitchFamily="34" charset="0"/>
              </a:rPr>
              <a:t>数字逻辑</a:t>
            </a:r>
            <a:endParaRPr lang="zh-CN" altLang="en-US" sz="2400" baseline="0">
              <a:solidFill>
                <a:srgbClr val="000000"/>
              </a:solidFill>
              <a:latin typeface="Calibri" panose="020F0502020204030204" pitchFamily="34" charset="0"/>
            </a:endParaRPr>
          </a:p>
        </p:txBody>
      </p:sp>
      <p:sp>
        <p:nvSpPr>
          <p:cNvPr id="69647" name="TextBox 32"/>
          <p:cNvSpPr txBox="1">
            <a:spLocks noChangeArrowheads="1"/>
          </p:cNvSpPr>
          <p:nvPr/>
        </p:nvSpPr>
        <p:spPr bwMode="auto">
          <a:xfrm>
            <a:off x="6746876" y="2636838"/>
            <a:ext cx="2435225" cy="457200"/>
          </a:xfrm>
          <a:prstGeom prst="rect">
            <a:avLst/>
          </a:prstGeom>
          <a:noFill/>
          <a:ln w="9525">
            <a:noFill/>
            <a:miter lim="800000"/>
          </a:ln>
        </p:spPr>
        <p:txBody>
          <a:bodyPr wrap="none">
            <a:spAutoFit/>
          </a:bodyPr>
          <a:lstStyle/>
          <a:p>
            <a:pPr eaLnBrk="0" hangingPunct="0">
              <a:spcBef>
                <a:spcPct val="50000"/>
              </a:spcBef>
            </a:pPr>
            <a:r>
              <a:rPr lang="zh-CN" altLang="en-US" sz="2400" baseline="0">
                <a:solidFill>
                  <a:srgbClr val="000000"/>
                </a:solidFill>
                <a:latin typeface="Calibri" panose="020F0502020204030204" pitchFamily="34" charset="0"/>
              </a:rPr>
              <a:t>操作系统</a:t>
            </a:r>
            <a:r>
              <a:rPr lang="en-US" altLang="zh-CN" sz="2400" baseline="0">
                <a:solidFill>
                  <a:srgbClr val="000000"/>
                </a:solidFill>
                <a:latin typeface="Calibri" panose="020F0502020204030204" pitchFamily="34" charset="0"/>
              </a:rPr>
              <a:t>/</a:t>
            </a:r>
            <a:r>
              <a:rPr lang="zh-CN" altLang="en-US" sz="2400" baseline="0">
                <a:solidFill>
                  <a:srgbClr val="000000"/>
                </a:solidFill>
                <a:latin typeface="Calibri" panose="020F0502020204030204" pitchFamily="34" charset="0"/>
              </a:rPr>
              <a:t>虚拟机</a:t>
            </a:r>
            <a:endParaRPr lang="zh-CN" altLang="en-US" sz="2400" baseline="0">
              <a:solidFill>
                <a:srgbClr val="000000"/>
              </a:solidFill>
              <a:latin typeface="Calibri" panose="020F0502020204030204" pitchFamily="34" charset="0"/>
            </a:endParaRPr>
          </a:p>
        </p:txBody>
      </p:sp>
      <p:sp>
        <p:nvSpPr>
          <p:cNvPr id="69648" name="TextBox 33"/>
          <p:cNvSpPr txBox="1">
            <a:spLocks noChangeArrowheads="1"/>
          </p:cNvSpPr>
          <p:nvPr/>
        </p:nvSpPr>
        <p:spPr bwMode="auto">
          <a:xfrm>
            <a:off x="6740526" y="1844675"/>
            <a:ext cx="2740025" cy="457200"/>
          </a:xfrm>
          <a:prstGeom prst="rect">
            <a:avLst/>
          </a:prstGeom>
          <a:noFill/>
          <a:ln w="9525">
            <a:noFill/>
            <a:miter lim="800000"/>
          </a:ln>
        </p:spPr>
        <p:txBody>
          <a:bodyPr wrap="none">
            <a:spAutoFit/>
          </a:bodyPr>
          <a:lstStyle/>
          <a:p>
            <a:pPr eaLnBrk="0" hangingPunct="0">
              <a:spcBef>
                <a:spcPct val="50000"/>
              </a:spcBef>
            </a:pPr>
            <a:r>
              <a:rPr lang="zh-CN" altLang="en-US" sz="2400" baseline="0">
                <a:solidFill>
                  <a:srgbClr val="000000"/>
                </a:solidFill>
                <a:latin typeface="Calibri" panose="020F0502020204030204" pitchFamily="34" charset="0"/>
              </a:rPr>
              <a:t>算法基础</a:t>
            </a:r>
            <a:r>
              <a:rPr lang="en-US" altLang="zh-CN" sz="2400" baseline="0">
                <a:solidFill>
                  <a:srgbClr val="000000"/>
                </a:solidFill>
                <a:latin typeface="Calibri" panose="020F0502020204030204" pitchFamily="34" charset="0"/>
              </a:rPr>
              <a:t>/</a:t>
            </a:r>
            <a:r>
              <a:rPr lang="zh-CN" altLang="en-US" sz="2400" baseline="0">
                <a:solidFill>
                  <a:srgbClr val="000000"/>
                </a:solidFill>
                <a:latin typeface="Calibri" panose="020F0502020204030204" pitchFamily="34" charset="0"/>
              </a:rPr>
              <a:t>数据结构</a:t>
            </a:r>
            <a:endParaRPr lang="zh-CN" altLang="en-US" sz="2400" baseline="0">
              <a:solidFill>
                <a:srgbClr val="000000"/>
              </a:solidFill>
              <a:latin typeface="Calibri" panose="020F0502020204030204" pitchFamily="34" charset="0"/>
            </a:endParaRPr>
          </a:p>
        </p:txBody>
      </p:sp>
      <p:sp>
        <p:nvSpPr>
          <p:cNvPr id="69649" name="TextBox 34"/>
          <p:cNvSpPr txBox="1">
            <a:spLocks noChangeArrowheads="1"/>
          </p:cNvSpPr>
          <p:nvPr/>
        </p:nvSpPr>
        <p:spPr bwMode="auto">
          <a:xfrm>
            <a:off x="6743701" y="2251075"/>
            <a:ext cx="2740025" cy="457200"/>
          </a:xfrm>
          <a:prstGeom prst="rect">
            <a:avLst/>
          </a:prstGeom>
          <a:noFill/>
          <a:ln w="9525">
            <a:noFill/>
            <a:miter lim="800000"/>
          </a:ln>
        </p:spPr>
        <p:txBody>
          <a:bodyPr wrap="none">
            <a:spAutoFit/>
          </a:bodyPr>
          <a:lstStyle/>
          <a:p>
            <a:pPr eaLnBrk="0" hangingPunct="0">
              <a:spcBef>
                <a:spcPct val="50000"/>
              </a:spcBef>
            </a:pPr>
            <a:r>
              <a:rPr lang="zh-CN" altLang="en-US" sz="2400" baseline="0">
                <a:solidFill>
                  <a:srgbClr val="000000"/>
                </a:solidFill>
                <a:latin typeface="Calibri" panose="020F0502020204030204" pitchFamily="34" charset="0"/>
              </a:rPr>
              <a:t>程序设计</a:t>
            </a:r>
            <a:r>
              <a:rPr lang="en-US" altLang="zh-CN" sz="2400" baseline="0">
                <a:solidFill>
                  <a:srgbClr val="000000"/>
                </a:solidFill>
                <a:latin typeface="Calibri" panose="020F0502020204030204" pitchFamily="34" charset="0"/>
              </a:rPr>
              <a:t>/</a:t>
            </a:r>
            <a:r>
              <a:rPr lang="zh-CN" altLang="en-US" sz="2400" baseline="0">
                <a:solidFill>
                  <a:srgbClr val="000000"/>
                </a:solidFill>
                <a:latin typeface="Calibri" panose="020F0502020204030204" pitchFamily="34" charset="0"/>
              </a:rPr>
              <a:t>编译技术</a:t>
            </a:r>
            <a:endParaRPr lang="zh-CN" altLang="en-US" sz="2400" baseline="0">
              <a:solidFill>
                <a:srgbClr val="000000"/>
              </a:solidFill>
              <a:latin typeface="Calibri" panose="020F0502020204030204" pitchFamily="34" charset="0"/>
            </a:endParaRPr>
          </a:p>
        </p:txBody>
      </p:sp>
      <p:sp>
        <p:nvSpPr>
          <p:cNvPr id="69650" name="TextBox 35"/>
          <p:cNvSpPr txBox="1">
            <a:spLocks noChangeArrowheads="1"/>
          </p:cNvSpPr>
          <p:nvPr/>
        </p:nvSpPr>
        <p:spPr bwMode="auto">
          <a:xfrm>
            <a:off x="6746875" y="4783138"/>
            <a:ext cx="1098550" cy="457200"/>
          </a:xfrm>
          <a:prstGeom prst="rect">
            <a:avLst/>
          </a:prstGeom>
          <a:noFill/>
          <a:ln w="9525">
            <a:noFill/>
            <a:miter lim="800000"/>
          </a:ln>
        </p:spPr>
        <p:txBody>
          <a:bodyPr wrap="none">
            <a:spAutoFit/>
          </a:bodyPr>
          <a:lstStyle/>
          <a:p>
            <a:pPr eaLnBrk="0" hangingPunct="0">
              <a:spcBef>
                <a:spcPct val="50000"/>
              </a:spcBef>
            </a:pPr>
            <a:r>
              <a:rPr lang="zh-CN" altLang="en-US" sz="2400" baseline="0">
                <a:solidFill>
                  <a:srgbClr val="000000"/>
                </a:solidFill>
                <a:latin typeface="Calibri" panose="020F0502020204030204" pitchFamily="34" charset="0"/>
              </a:rPr>
              <a:t>微电子</a:t>
            </a:r>
            <a:endParaRPr lang="zh-CN" altLang="en-US" sz="2400" baseline="0">
              <a:solidFill>
                <a:srgbClr val="000000"/>
              </a:solidFill>
              <a:latin typeface="Calibri" panose="020F0502020204030204" pitchFamily="34" charset="0"/>
            </a:endParaRPr>
          </a:p>
        </p:txBody>
      </p:sp>
      <p:sp>
        <p:nvSpPr>
          <p:cNvPr id="69651" name="TextBox 36"/>
          <p:cNvSpPr txBox="1">
            <a:spLocks noChangeArrowheads="1"/>
          </p:cNvSpPr>
          <p:nvPr/>
        </p:nvSpPr>
        <p:spPr bwMode="auto">
          <a:xfrm>
            <a:off x="6743700" y="3284538"/>
            <a:ext cx="1708150" cy="457200"/>
          </a:xfrm>
          <a:prstGeom prst="rect">
            <a:avLst/>
          </a:prstGeom>
          <a:noFill/>
          <a:ln w="9525">
            <a:noFill/>
            <a:miter lim="800000"/>
          </a:ln>
        </p:spPr>
        <p:txBody>
          <a:bodyPr wrap="none">
            <a:spAutoFit/>
          </a:bodyPr>
          <a:lstStyle/>
          <a:p>
            <a:pPr eaLnBrk="0" hangingPunct="0">
              <a:spcBef>
                <a:spcPct val="50000"/>
              </a:spcBef>
            </a:pPr>
            <a:r>
              <a:rPr lang="zh-CN" altLang="en-US" sz="2400" baseline="0">
                <a:solidFill>
                  <a:srgbClr val="000000"/>
                </a:solidFill>
                <a:latin typeface="Calibri" panose="020F0502020204030204" pitchFamily="34" charset="0"/>
              </a:rPr>
              <a:t>计算机组成</a:t>
            </a:r>
            <a:endParaRPr lang="en-US" altLang="zh-CN" sz="2400" baseline="0">
              <a:solidFill>
                <a:srgbClr val="000000"/>
              </a:solidFill>
              <a:latin typeface="Calibri" panose="020F0502020204030204" pitchFamily="34" charset="0"/>
            </a:endParaRPr>
          </a:p>
        </p:txBody>
      </p:sp>
      <p:sp>
        <p:nvSpPr>
          <p:cNvPr id="69652" name="TextBox 22"/>
          <p:cNvSpPr txBox="1">
            <a:spLocks noChangeArrowheads="1"/>
          </p:cNvSpPr>
          <p:nvPr/>
        </p:nvSpPr>
        <p:spPr bwMode="auto">
          <a:xfrm>
            <a:off x="6492876" y="1027113"/>
            <a:ext cx="2411413" cy="457200"/>
          </a:xfrm>
          <a:prstGeom prst="rect">
            <a:avLst/>
          </a:prstGeom>
          <a:noFill/>
          <a:ln w="9525">
            <a:noFill/>
            <a:miter lim="800000"/>
          </a:ln>
        </p:spPr>
        <p:txBody>
          <a:bodyPr>
            <a:spAutoFit/>
          </a:bodyPr>
          <a:lstStyle/>
          <a:p>
            <a:pPr algn="ctr" eaLnBrk="0" hangingPunct="0">
              <a:spcBef>
                <a:spcPct val="50000"/>
              </a:spcBef>
            </a:pPr>
            <a:r>
              <a:rPr lang="en-US" altLang="zh-CN" sz="2400" u="sng" baseline="0" dirty="0">
                <a:solidFill>
                  <a:srgbClr val="000000"/>
                </a:solidFill>
                <a:latin typeface="Calibri" panose="020F0502020204030204" pitchFamily="34" charset="0"/>
              </a:rPr>
              <a:t> Related Courses</a:t>
            </a:r>
            <a:endParaRPr lang="en-US" altLang="zh-CN" sz="2400" u="sng" baseline="0" dirty="0">
              <a:solidFill>
                <a:srgbClr val="000000"/>
              </a:solidFill>
              <a:latin typeface="Calibri" panose="020F0502020204030204" pitchFamily="34" charset="0"/>
            </a:endParaRPr>
          </a:p>
        </p:txBody>
      </p:sp>
      <p:sp>
        <p:nvSpPr>
          <p:cNvPr id="69653" name="Rectangle 21"/>
          <p:cNvSpPr>
            <a:spLocks noChangeArrowheads="1"/>
          </p:cNvSpPr>
          <p:nvPr/>
        </p:nvSpPr>
        <p:spPr bwMode="auto">
          <a:xfrm>
            <a:off x="1703388" y="71439"/>
            <a:ext cx="8839200" cy="765175"/>
          </a:xfrm>
          <a:prstGeom prst="rect">
            <a:avLst/>
          </a:prstGeom>
          <a:noFill/>
          <a:ln w="9525">
            <a:noFill/>
            <a:miter lim="800000"/>
          </a:ln>
          <a:effectLst/>
        </p:spPr>
        <p:txBody>
          <a:bodyPr anchor="ctr"/>
          <a:lstStyle/>
          <a:p>
            <a:pPr eaLnBrk="0" hangingPunct="0"/>
            <a:r>
              <a:rPr lang="en-US" altLang="zh-CN" sz="2800" b="1" baseline="0" dirty="0">
                <a:solidFill>
                  <a:schemeClr val="accent2"/>
                </a:solidFill>
                <a:ea typeface="黑体" panose="02010609060101010101" charset="-122"/>
              </a:rPr>
              <a:t>Abstraction Layers in Modern Systems</a:t>
            </a:r>
            <a:endParaRPr lang="zh-CN" altLang="en-US" sz="2800" b="1" baseline="0" dirty="0">
              <a:solidFill>
                <a:schemeClr val="accent2"/>
              </a:solidFill>
              <a:ea typeface="黑体" panose="02010609060101010101" charset="-122"/>
            </a:endParaRPr>
          </a:p>
        </p:txBody>
      </p:sp>
      <p:sp>
        <p:nvSpPr>
          <p:cNvPr id="69654" name="AutoShape 22"/>
          <p:cNvSpPr/>
          <p:nvPr/>
        </p:nvSpPr>
        <p:spPr bwMode="auto">
          <a:xfrm>
            <a:off x="6311900" y="3068639"/>
            <a:ext cx="431800" cy="865187"/>
          </a:xfrm>
          <a:prstGeom prst="rightBrace">
            <a:avLst>
              <a:gd name="adj1" fmla="val 16697"/>
              <a:gd name="adj2" fmla="val 50000"/>
            </a:avLst>
          </a:prstGeom>
          <a:noFill/>
          <a:ln w="38100">
            <a:solidFill>
              <a:schemeClr val="tx1"/>
            </a:solidFill>
            <a:round/>
          </a:ln>
          <a:effectLst/>
        </p:spPr>
        <p:txBody>
          <a:bodyPr wrap="none" anchor="ctr"/>
          <a:lstStyle/>
          <a:p>
            <a:endParaRPr lang="zh-CN" altLang="en-US"/>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3" name="Object 3"/>
          <p:cNvGraphicFramePr>
            <a:graphicFrameLocks noGrp="1" noChangeAspect="1"/>
          </p:cNvGraphicFramePr>
          <p:nvPr>
            <p:ph idx="1"/>
          </p:nvPr>
        </p:nvGraphicFramePr>
        <p:xfrm>
          <a:off x="7788076" y="4437113"/>
          <a:ext cx="2785504" cy="1914401"/>
        </p:xfrm>
        <a:graphic>
          <a:graphicData uri="http://schemas.openxmlformats.org/presentationml/2006/ole">
            <mc:AlternateContent xmlns:mc="http://schemas.openxmlformats.org/markup-compatibility/2006">
              <mc:Choice xmlns:v="urn:schemas-microsoft-com:vml" Requires="v">
                <p:oleObj spid="_x0000_s283666" name="Image" r:id="rId1" imgW="3492500" imgH="2400300" progId="">
                  <p:embed/>
                </p:oleObj>
              </mc:Choice>
              <mc:Fallback>
                <p:oleObj name="Image" r:id="rId1" imgW="3492500" imgH="2400300" progId="">
                  <p:embed/>
                  <p:pic>
                    <p:nvPicPr>
                      <p:cNvPr id="0" name="Picture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8076" y="4437113"/>
                        <a:ext cx="2785504" cy="1914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zh-CN" altLang="en-US" dirty="0"/>
              <a:t>计算机如何工作</a:t>
            </a:r>
            <a:r>
              <a:rPr lang="en-US" altLang="zh-CN" dirty="0"/>
              <a:t>——</a:t>
            </a:r>
            <a:r>
              <a:rPr lang="zh-CN" altLang="en-US" dirty="0"/>
              <a:t>启发式理解</a:t>
            </a:r>
            <a:endParaRPr lang="zh-CN" altLang="en-US" dirty="0"/>
          </a:p>
        </p:txBody>
      </p:sp>
      <p:sp>
        <p:nvSpPr>
          <p:cNvPr id="28676" name="Rectangle 18"/>
          <p:cNvSpPr>
            <a:spLocks noGrp="1" noChangeArrowheads="1"/>
          </p:cNvSpPr>
          <p:nvPr>
            <p:ph type="body" sz="half" idx="4294967295"/>
          </p:nvPr>
        </p:nvSpPr>
        <p:spPr>
          <a:xfrm>
            <a:off x="6066606" y="2362027"/>
            <a:ext cx="4133850" cy="874713"/>
          </a:xfrm>
        </p:spPr>
        <p:txBody>
          <a:bodyPr>
            <a:normAutofit lnSpcReduction="10000"/>
          </a:bodyPr>
          <a:lstStyle/>
          <a:p>
            <a:pPr defTabSz="457200">
              <a:lnSpc>
                <a:spcPct val="80000"/>
              </a:lnSpc>
              <a:spcBef>
                <a:spcPct val="0"/>
              </a:spcBef>
              <a:buNone/>
              <a:tabLst>
                <a:tab pos="1066800" algn="l"/>
              </a:tabLst>
            </a:pPr>
            <a:r>
              <a:rPr lang="en-US" altLang="zh-CN" sz="1600">
                <a:solidFill>
                  <a:srgbClr val="003399"/>
                </a:solidFill>
                <a:ea typeface="宋体" panose="02010600030101010101" pitchFamily="2" charset="-122"/>
              </a:rPr>
              <a:t>lw	  $t0, 0($2)</a:t>
            </a:r>
            <a:endParaRPr lang="en-US" altLang="zh-CN" sz="1600">
              <a:solidFill>
                <a:srgbClr val="003399"/>
              </a:solidFill>
              <a:ea typeface="宋体" panose="02010600030101010101" pitchFamily="2" charset="-122"/>
            </a:endParaRPr>
          </a:p>
          <a:p>
            <a:pPr defTabSz="457200">
              <a:lnSpc>
                <a:spcPct val="80000"/>
              </a:lnSpc>
              <a:spcBef>
                <a:spcPct val="0"/>
              </a:spcBef>
              <a:buNone/>
              <a:tabLst>
                <a:tab pos="1066800" algn="l"/>
              </a:tabLst>
            </a:pPr>
            <a:r>
              <a:rPr lang="en-US" altLang="zh-CN" sz="1600">
                <a:solidFill>
                  <a:srgbClr val="003399"/>
                </a:solidFill>
                <a:ea typeface="宋体" panose="02010600030101010101" pitchFamily="2" charset="-122"/>
              </a:rPr>
              <a:t>lw	  $t1, 4($2)</a:t>
            </a:r>
            <a:endParaRPr lang="en-US" altLang="zh-CN" sz="1600">
              <a:solidFill>
                <a:srgbClr val="003399"/>
              </a:solidFill>
              <a:ea typeface="宋体" panose="02010600030101010101" pitchFamily="2" charset="-122"/>
            </a:endParaRPr>
          </a:p>
          <a:p>
            <a:pPr defTabSz="457200">
              <a:lnSpc>
                <a:spcPct val="80000"/>
              </a:lnSpc>
              <a:spcBef>
                <a:spcPct val="0"/>
              </a:spcBef>
              <a:buNone/>
              <a:tabLst>
                <a:tab pos="1066800" algn="l"/>
              </a:tabLst>
            </a:pPr>
            <a:r>
              <a:rPr lang="en-US" altLang="zh-CN" sz="1600">
                <a:solidFill>
                  <a:srgbClr val="003399"/>
                </a:solidFill>
                <a:ea typeface="宋体" panose="02010600030101010101" pitchFamily="2" charset="-122"/>
              </a:rPr>
              <a:t>sw	  $t1, 0($2)</a:t>
            </a:r>
            <a:endParaRPr lang="en-US" altLang="zh-CN" sz="1600">
              <a:solidFill>
                <a:srgbClr val="003399"/>
              </a:solidFill>
              <a:ea typeface="宋体" panose="02010600030101010101" pitchFamily="2" charset="-122"/>
            </a:endParaRPr>
          </a:p>
          <a:p>
            <a:pPr defTabSz="457200">
              <a:lnSpc>
                <a:spcPct val="90000"/>
              </a:lnSpc>
              <a:spcBef>
                <a:spcPct val="0"/>
              </a:spcBef>
              <a:buNone/>
              <a:tabLst>
                <a:tab pos="1066800" algn="l"/>
              </a:tabLst>
            </a:pPr>
            <a:r>
              <a:rPr lang="en-US" altLang="zh-CN" sz="1600">
                <a:solidFill>
                  <a:srgbClr val="003399"/>
                </a:solidFill>
                <a:ea typeface="宋体" panose="02010600030101010101" pitchFamily="2" charset="-122"/>
              </a:rPr>
              <a:t>sw	  $t0, 4($2)</a:t>
            </a:r>
            <a:endParaRPr lang="en-US" altLang="zh-CN" sz="1600">
              <a:solidFill>
                <a:srgbClr val="003399"/>
              </a:solidFill>
              <a:ea typeface="宋体" panose="02010600030101010101" pitchFamily="2" charset="-122"/>
            </a:endParaRPr>
          </a:p>
        </p:txBody>
      </p:sp>
      <p:sp>
        <p:nvSpPr>
          <p:cNvPr id="71684" name="Rectangle 7"/>
          <p:cNvSpPr>
            <a:spLocks noChangeArrowheads="1"/>
          </p:cNvSpPr>
          <p:nvPr/>
        </p:nvSpPr>
        <p:spPr bwMode="auto">
          <a:xfrm>
            <a:off x="2552700" y="1468265"/>
            <a:ext cx="2590800" cy="288797"/>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p>
            <a:pPr algn="ctr" defTabSz="457200">
              <a:lnSpc>
                <a:spcPct val="85000"/>
              </a:lnSpc>
              <a:spcBef>
                <a:spcPct val="41000"/>
              </a:spcBef>
            </a:pPr>
            <a:r>
              <a:rPr lang="zh-CN" altLang="en-US" b="1" baseline="0" dirty="0">
                <a:latin typeface="Calibri" panose="020F0502020204030204" pitchFamily="34" charset="0"/>
              </a:rPr>
              <a:t>高层语言 </a:t>
            </a:r>
            <a:r>
              <a:rPr lang="en-US" altLang="zh-CN" b="1" baseline="0" dirty="0">
                <a:latin typeface="Calibri" panose="020F0502020204030204" pitchFamily="34" charset="0"/>
              </a:rPr>
              <a:t>(</a:t>
            </a:r>
            <a:r>
              <a:rPr lang="zh-CN" altLang="en-US" b="1" baseline="0" dirty="0">
                <a:latin typeface="Calibri" panose="020F0502020204030204" pitchFamily="34" charset="0"/>
              </a:rPr>
              <a:t>例如</a:t>
            </a:r>
            <a:r>
              <a:rPr lang="en-US" altLang="zh-CN" b="1" baseline="0" dirty="0">
                <a:latin typeface="Calibri" panose="020F0502020204030204" pitchFamily="34" charset="0"/>
              </a:rPr>
              <a:t> C)</a:t>
            </a:r>
            <a:endParaRPr lang="en-US" altLang="zh-CN" b="1" baseline="0" dirty="0">
              <a:latin typeface="Calibri" panose="020F0502020204030204" pitchFamily="34" charset="0"/>
            </a:endParaRPr>
          </a:p>
        </p:txBody>
      </p:sp>
      <p:sp>
        <p:nvSpPr>
          <p:cNvPr id="71685" name="Rectangle 8"/>
          <p:cNvSpPr>
            <a:spLocks noChangeArrowheads="1"/>
          </p:cNvSpPr>
          <p:nvPr/>
        </p:nvSpPr>
        <p:spPr bwMode="auto">
          <a:xfrm>
            <a:off x="2552700" y="2549352"/>
            <a:ext cx="2592388" cy="286745"/>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p>
            <a:pPr algn="ctr" defTabSz="457200">
              <a:lnSpc>
                <a:spcPct val="85000"/>
              </a:lnSpc>
              <a:spcBef>
                <a:spcPct val="41000"/>
              </a:spcBef>
            </a:pPr>
            <a:r>
              <a:rPr lang="zh-CN" altLang="en-US" b="1" baseline="0" dirty="0">
                <a:solidFill>
                  <a:srgbClr val="003399"/>
                </a:solidFill>
                <a:latin typeface="Calibri" panose="020F0502020204030204" pitchFamily="34" charset="0"/>
              </a:rPr>
              <a:t>汇编程序 </a:t>
            </a:r>
            <a:r>
              <a:rPr lang="en-US" altLang="zh-CN" b="1" baseline="0" dirty="0">
                <a:solidFill>
                  <a:srgbClr val="003399"/>
                </a:solidFill>
                <a:latin typeface="Calibri" panose="020F0502020204030204" pitchFamily="34" charset="0"/>
              </a:rPr>
              <a:t>(</a:t>
            </a:r>
            <a:r>
              <a:rPr lang="zh-CN" altLang="en-US" b="1" baseline="0" dirty="0">
                <a:solidFill>
                  <a:srgbClr val="003399"/>
                </a:solidFill>
                <a:latin typeface="Calibri" panose="020F0502020204030204" pitchFamily="34" charset="0"/>
              </a:rPr>
              <a:t>例如</a:t>
            </a:r>
            <a:r>
              <a:rPr lang="en-US" altLang="zh-CN" b="1" baseline="0" dirty="0">
                <a:solidFill>
                  <a:srgbClr val="003399"/>
                </a:solidFill>
                <a:latin typeface="Calibri" panose="020F0502020204030204" pitchFamily="34" charset="0"/>
              </a:rPr>
              <a:t>MIPS)</a:t>
            </a:r>
            <a:endParaRPr lang="en-US" altLang="zh-CN" b="1" baseline="0" dirty="0">
              <a:solidFill>
                <a:srgbClr val="003399"/>
              </a:solidFill>
              <a:latin typeface="Calibri" panose="020F0502020204030204" pitchFamily="34" charset="0"/>
            </a:endParaRPr>
          </a:p>
        </p:txBody>
      </p:sp>
      <p:sp>
        <p:nvSpPr>
          <p:cNvPr id="71686" name="Rectangle 9"/>
          <p:cNvSpPr>
            <a:spLocks noChangeArrowheads="1"/>
          </p:cNvSpPr>
          <p:nvPr/>
        </p:nvSpPr>
        <p:spPr bwMode="auto">
          <a:xfrm>
            <a:off x="2552700" y="3484390"/>
            <a:ext cx="2590800" cy="286745"/>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p>
            <a:pPr algn="ctr" defTabSz="457200">
              <a:lnSpc>
                <a:spcPct val="85000"/>
              </a:lnSpc>
              <a:spcBef>
                <a:spcPct val="41000"/>
              </a:spcBef>
            </a:pPr>
            <a:r>
              <a:rPr lang="zh-CN" altLang="en-US" b="1" baseline="0" dirty="0">
                <a:solidFill>
                  <a:schemeClr val="accent1"/>
                </a:solidFill>
                <a:latin typeface="Calibri" panose="020F0502020204030204" pitchFamily="34" charset="0"/>
              </a:rPr>
              <a:t>机器语言程序</a:t>
            </a:r>
            <a:r>
              <a:rPr lang="en-US" altLang="zh-CN" b="1" baseline="0" dirty="0">
                <a:solidFill>
                  <a:schemeClr val="accent1"/>
                </a:solidFill>
                <a:latin typeface="Calibri" panose="020F0502020204030204" pitchFamily="34" charset="0"/>
              </a:rPr>
              <a:t> </a:t>
            </a:r>
            <a:endParaRPr lang="en-US" altLang="zh-CN" b="1" baseline="0" dirty="0">
              <a:solidFill>
                <a:schemeClr val="accent1"/>
              </a:solidFill>
              <a:latin typeface="Calibri" panose="020F0502020204030204" pitchFamily="34" charset="0"/>
            </a:endParaRPr>
          </a:p>
        </p:txBody>
      </p:sp>
      <p:sp>
        <p:nvSpPr>
          <p:cNvPr id="71687" name="Rectangle 10"/>
          <p:cNvSpPr>
            <a:spLocks noChangeArrowheads="1"/>
          </p:cNvSpPr>
          <p:nvPr/>
        </p:nvSpPr>
        <p:spPr bwMode="auto">
          <a:xfrm>
            <a:off x="1828800" y="4848052"/>
            <a:ext cx="4038600" cy="538865"/>
          </a:xfrm>
          <a:prstGeom prst="rect">
            <a:avLst/>
          </a:prstGeom>
          <a:noFill/>
          <a:ln w="28575">
            <a:pattFill prst="pct70">
              <a:fgClr>
                <a:schemeClr val="tx1"/>
              </a:fgClr>
              <a:bgClr>
                <a:schemeClr val="bg1"/>
              </a:bgClr>
            </a:pattFill>
            <a:miter lim="800000"/>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p>
            <a:pPr algn="ctr" defTabSz="457200">
              <a:lnSpc>
                <a:spcPct val="88000"/>
              </a:lnSpc>
              <a:spcBef>
                <a:spcPct val="43000"/>
              </a:spcBef>
            </a:pPr>
            <a:r>
              <a:rPr lang="zh-CN" altLang="en-US" b="1" baseline="0" dirty="0">
                <a:solidFill>
                  <a:srgbClr val="3366FF"/>
                </a:solidFill>
                <a:latin typeface="Calibri" panose="020F0502020204030204" pitchFamily="34" charset="0"/>
              </a:rPr>
              <a:t>硬件架构描述 </a:t>
            </a:r>
            <a:r>
              <a:rPr lang="en-US" altLang="zh-CN" b="1" baseline="0" dirty="0">
                <a:solidFill>
                  <a:srgbClr val="3366FF"/>
                </a:solidFill>
                <a:latin typeface="Calibri" panose="020F0502020204030204" pitchFamily="34" charset="0"/>
              </a:rPr>
              <a:t>(</a:t>
            </a:r>
            <a:r>
              <a:rPr lang="zh-CN" altLang="en-US" b="1" baseline="0" dirty="0">
                <a:solidFill>
                  <a:srgbClr val="3366FF"/>
                </a:solidFill>
                <a:latin typeface="Calibri" panose="020F0502020204030204" pitchFamily="34" charset="0"/>
              </a:rPr>
              <a:t>例如</a:t>
            </a:r>
            <a:r>
              <a:rPr lang="en-US" altLang="zh-CN" b="1" baseline="0" dirty="0">
                <a:solidFill>
                  <a:srgbClr val="3366FF"/>
                </a:solidFill>
                <a:latin typeface="Calibri" panose="020F0502020204030204" pitchFamily="34" charset="0"/>
              </a:rPr>
              <a:t>CPU</a:t>
            </a:r>
            <a:r>
              <a:rPr lang="zh-CN" altLang="en-US" b="1" baseline="0" dirty="0">
                <a:solidFill>
                  <a:srgbClr val="3366FF"/>
                </a:solidFill>
                <a:latin typeface="Calibri" panose="020F0502020204030204" pitchFamily="34" charset="0"/>
              </a:rPr>
              <a:t>、存储内部与之间数据流图</a:t>
            </a:r>
            <a:r>
              <a:rPr lang="en-US" altLang="zh-CN" b="1" baseline="0" dirty="0">
                <a:solidFill>
                  <a:srgbClr val="3366FF"/>
                </a:solidFill>
                <a:latin typeface="Calibri" panose="020F0502020204030204" pitchFamily="34" charset="0"/>
              </a:rPr>
              <a:t>)</a:t>
            </a:r>
            <a:r>
              <a:rPr lang="en-US" altLang="zh-CN" baseline="0" dirty="0">
                <a:solidFill>
                  <a:srgbClr val="3366FF"/>
                </a:solidFill>
                <a:latin typeface="Calibri" panose="020F0502020204030204" pitchFamily="34" charset="0"/>
              </a:rPr>
              <a:t> </a:t>
            </a:r>
            <a:endParaRPr lang="en-US" altLang="zh-CN" baseline="0" dirty="0">
              <a:solidFill>
                <a:srgbClr val="3366FF"/>
              </a:solidFill>
              <a:latin typeface="Calibri" panose="020F0502020204030204" pitchFamily="34" charset="0"/>
            </a:endParaRPr>
          </a:p>
        </p:txBody>
      </p:sp>
      <p:sp>
        <p:nvSpPr>
          <p:cNvPr id="71689" name="Rectangle 13"/>
          <p:cNvSpPr>
            <a:spLocks noChangeArrowheads="1"/>
          </p:cNvSpPr>
          <p:nvPr/>
        </p:nvSpPr>
        <p:spPr bwMode="auto">
          <a:xfrm>
            <a:off x="2098675" y="2157240"/>
            <a:ext cx="1308100" cy="288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defTabSz="457200">
              <a:lnSpc>
                <a:spcPct val="85000"/>
              </a:lnSpc>
            </a:pPr>
            <a:r>
              <a:rPr lang="zh-CN" altLang="en-US" b="1" i="1" baseline="0" dirty="0">
                <a:latin typeface="Calibri" panose="020F0502020204030204" pitchFamily="34" charset="0"/>
              </a:rPr>
              <a:t>编译器</a:t>
            </a:r>
            <a:endParaRPr lang="en-US" altLang="zh-CN" b="1" i="1" baseline="0" dirty="0">
              <a:latin typeface="Calibri" panose="020F0502020204030204" pitchFamily="34" charset="0"/>
            </a:endParaRPr>
          </a:p>
        </p:txBody>
      </p:sp>
      <p:sp>
        <p:nvSpPr>
          <p:cNvPr id="71690" name="Rectangle 14"/>
          <p:cNvSpPr>
            <a:spLocks noChangeArrowheads="1"/>
          </p:cNvSpPr>
          <p:nvPr/>
        </p:nvSpPr>
        <p:spPr bwMode="auto">
          <a:xfrm>
            <a:off x="2098675" y="3171652"/>
            <a:ext cx="1435100" cy="288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defTabSz="457200">
              <a:lnSpc>
                <a:spcPct val="85000"/>
              </a:lnSpc>
            </a:pPr>
            <a:r>
              <a:rPr lang="zh-CN" altLang="en-US" b="1" i="1" baseline="0" dirty="0">
                <a:latin typeface="Calibri" panose="020F0502020204030204" pitchFamily="34" charset="0"/>
              </a:rPr>
              <a:t>编译</a:t>
            </a:r>
            <a:endParaRPr lang="en-US" altLang="zh-CN" b="1" i="1" baseline="0" dirty="0">
              <a:latin typeface="Calibri" panose="020F0502020204030204" pitchFamily="34" charset="0"/>
            </a:endParaRPr>
          </a:p>
        </p:txBody>
      </p:sp>
      <p:sp>
        <p:nvSpPr>
          <p:cNvPr id="71692" name="Rectangle 16"/>
          <p:cNvSpPr>
            <a:spLocks noChangeArrowheads="1"/>
          </p:cNvSpPr>
          <p:nvPr/>
        </p:nvSpPr>
        <p:spPr bwMode="auto">
          <a:xfrm>
            <a:off x="2135189" y="4364340"/>
            <a:ext cx="1584325" cy="288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defTabSz="457200">
              <a:lnSpc>
                <a:spcPct val="85000"/>
              </a:lnSpc>
            </a:pPr>
            <a:r>
              <a:rPr lang="zh-CN" altLang="en-US" b="1" i="1" baseline="0" dirty="0">
                <a:latin typeface="Calibri" panose="020F0502020204030204" pitchFamily="34" charset="0"/>
              </a:rPr>
              <a:t>机器解释</a:t>
            </a:r>
            <a:endParaRPr lang="en-US" altLang="zh-CN" b="1" i="1" baseline="0" dirty="0">
              <a:latin typeface="Calibri" panose="020F0502020204030204" pitchFamily="34" charset="0"/>
            </a:endParaRPr>
          </a:p>
        </p:txBody>
      </p:sp>
      <p:sp>
        <p:nvSpPr>
          <p:cNvPr id="71693" name="Rectangle 17"/>
          <p:cNvSpPr>
            <a:spLocks noChangeArrowheads="1"/>
          </p:cNvSpPr>
          <p:nvPr/>
        </p:nvSpPr>
        <p:spPr bwMode="auto">
          <a:xfrm>
            <a:off x="6178550" y="1365077"/>
            <a:ext cx="3086100" cy="7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marL="342900" indent="-342900" defTabSz="457200">
              <a:lnSpc>
                <a:spcPct val="78000"/>
              </a:lnSpc>
            </a:pPr>
            <a:r>
              <a:rPr lang="en-US" altLang="zh-CN" b="1" baseline="0">
                <a:latin typeface="Calibri" panose="020F0502020204030204" pitchFamily="34" charset="0"/>
              </a:rPr>
              <a:t>temp = v[k];</a:t>
            </a:r>
            <a:endParaRPr lang="en-US" altLang="zh-CN" b="1" baseline="0">
              <a:latin typeface="Calibri" panose="020F0502020204030204" pitchFamily="34" charset="0"/>
            </a:endParaRPr>
          </a:p>
          <a:p>
            <a:pPr marL="342900" indent="-342900" defTabSz="457200">
              <a:lnSpc>
                <a:spcPct val="78000"/>
              </a:lnSpc>
            </a:pPr>
            <a:r>
              <a:rPr lang="en-US" altLang="zh-CN" b="1" baseline="0">
                <a:latin typeface="Calibri" panose="020F0502020204030204" pitchFamily="34" charset="0"/>
              </a:rPr>
              <a:t>v[k] = v[k+1];</a:t>
            </a:r>
            <a:endParaRPr lang="en-US" altLang="zh-CN" b="1" baseline="0">
              <a:latin typeface="Calibri" panose="020F0502020204030204" pitchFamily="34" charset="0"/>
            </a:endParaRPr>
          </a:p>
          <a:p>
            <a:pPr marL="342900" indent="-342900" defTabSz="457200">
              <a:lnSpc>
                <a:spcPct val="78000"/>
              </a:lnSpc>
            </a:pPr>
            <a:r>
              <a:rPr lang="en-US" altLang="zh-CN" b="1" baseline="0">
                <a:latin typeface="Calibri" panose="020F0502020204030204" pitchFamily="34" charset="0"/>
              </a:rPr>
              <a:t>v[k+1] = temp;</a:t>
            </a:r>
            <a:endParaRPr lang="en-US" altLang="zh-CN" sz="1200" baseline="0">
              <a:latin typeface="Calibri" panose="020F0502020204030204" pitchFamily="34" charset="0"/>
            </a:endParaRPr>
          </a:p>
        </p:txBody>
      </p:sp>
      <p:sp>
        <p:nvSpPr>
          <p:cNvPr id="71694" name="Rectangle 19"/>
          <p:cNvSpPr>
            <a:spLocks noChangeArrowheads="1"/>
          </p:cNvSpPr>
          <p:nvPr/>
        </p:nvSpPr>
        <p:spPr bwMode="auto">
          <a:xfrm>
            <a:off x="6148388" y="4682951"/>
            <a:ext cx="29845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defTabSz="457200"/>
            <a:endParaRPr lang="en-US" altLang="zh-CN" baseline="0">
              <a:latin typeface="Calibri" panose="020F0502020204030204" pitchFamily="34" charset="0"/>
            </a:endParaRPr>
          </a:p>
        </p:txBody>
      </p:sp>
      <p:sp>
        <p:nvSpPr>
          <p:cNvPr id="71695" name="Rectangle 20"/>
          <p:cNvSpPr>
            <a:spLocks noChangeArrowheads="1"/>
          </p:cNvSpPr>
          <p:nvPr/>
        </p:nvSpPr>
        <p:spPr bwMode="auto">
          <a:xfrm>
            <a:off x="6148389" y="3373265"/>
            <a:ext cx="4478789" cy="951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7" tIns="44450" rIns="90487" bIns="44450">
            <a:spAutoFit/>
          </a:bodyPr>
          <a:lstStyle/>
          <a:p>
            <a:pPr defTabSz="457200"/>
            <a:r>
              <a:rPr lang="en-US" altLang="zh-CN" sz="1400" b="1" baseline="0" dirty="0">
                <a:solidFill>
                  <a:schemeClr val="accent1"/>
                </a:solidFill>
                <a:latin typeface="Courier New" panose="02070309020205020404" pitchFamily="49" charset="0"/>
              </a:rPr>
              <a:t>0000 1001 1100 0110 1010 1111 0101 1000</a:t>
            </a:r>
            <a:endParaRPr lang="en-US" altLang="zh-CN" sz="1400" b="1" baseline="0" dirty="0">
              <a:solidFill>
                <a:schemeClr val="accent1"/>
              </a:solidFill>
              <a:latin typeface="Courier New" panose="02070309020205020404" pitchFamily="49" charset="0"/>
            </a:endParaRPr>
          </a:p>
          <a:p>
            <a:pPr defTabSz="457200"/>
            <a:r>
              <a:rPr lang="en-US" altLang="zh-CN" sz="1400" b="1" baseline="0" dirty="0">
                <a:solidFill>
                  <a:schemeClr val="accent1"/>
                </a:solidFill>
                <a:latin typeface="Courier New" panose="02070309020205020404" pitchFamily="49" charset="0"/>
              </a:rPr>
              <a:t>1010 1111 0101 1000 0000 1001 1100 0110 </a:t>
            </a:r>
            <a:endParaRPr lang="en-US" altLang="zh-CN" sz="1400" b="1" baseline="0" dirty="0">
              <a:solidFill>
                <a:schemeClr val="accent1"/>
              </a:solidFill>
              <a:latin typeface="Courier New" panose="02070309020205020404" pitchFamily="49" charset="0"/>
            </a:endParaRPr>
          </a:p>
          <a:p>
            <a:pPr defTabSz="457200"/>
            <a:r>
              <a:rPr lang="en-US" altLang="zh-CN" sz="1400" b="1" baseline="0" dirty="0">
                <a:solidFill>
                  <a:schemeClr val="accent1"/>
                </a:solidFill>
                <a:latin typeface="Courier New" panose="02070309020205020404" pitchFamily="49" charset="0"/>
              </a:rPr>
              <a:t>1100 0110 1010 1111 0101 1000 0000 1001 </a:t>
            </a:r>
            <a:endParaRPr lang="en-US" altLang="zh-CN" sz="1400" b="1" baseline="0" dirty="0">
              <a:solidFill>
                <a:schemeClr val="accent1"/>
              </a:solidFill>
              <a:latin typeface="Courier New" panose="02070309020205020404" pitchFamily="49" charset="0"/>
            </a:endParaRPr>
          </a:p>
          <a:p>
            <a:pPr defTabSz="457200"/>
            <a:r>
              <a:rPr lang="en-US" altLang="zh-CN" sz="1400" b="1" baseline="0" dirty="0">
                <a:solidFill>
                  <a:schemeClr val="accent1"/>
                </a:solidFill>
                <a:latin typeface="Courier New" panose="02070309020205020404" pitchFamily="49" charset="0"/>
              </a:rPr>
              <a:t>0101 1000 0000 1001 1100 0110 1010 1111</a:t>
            </a:r>
            <a:r>
              <a:rPr lang="en-US" altLang="zh-CN" sz="1400" baseline="0" dirty="0">
                <a:solidFill>
                  <a:schemeClr val="accent1"/>
                </a:solidFill>
                <a:latin typeface="Courier"/>
              </a:rPr>
              <a:t> </a:t>
            </a:r>
            <a:endParaRPr lang="en-US" altLang="zh-CN" sz="1400" baseline="0" dirty="0">
              <a:solidFill>
                <a:schemeClr val="accent1"/>
              </a:solidFill>
              <a:latin typeface="Courier"/>
            </a:endParaRPr>
          </a:p>
        </p:txBody>
      </p:sp>
      <p:sp>
        <p:nvSpPr>
          <p:cNvPr id="71696" name="Rectangle 22"/>
          <p:cNvSpPr>
            <a:spLocks noChangeArrowheads="1"/>
          </p:cNvSpPr>
          <p:nvPr/>
        </p:nvSpPr>
        <p:spPr bwMode="auto">
          <a:xfrm>
            <a:off x="2482850" y="4028901"/>
            <a:ext cx="2730500" cy="139700"/>
          </a:xfrm>
          <a:prstGeom prst="rect">
            <a:avLst/>
          </a:prstGeom>
          <a:solidFill>
            <a:srgbClr val="FF3300"/>
          </a:solidFill>
          <a:ln w="12700">
            <a:solidFill>
              <a:schemeClr val="tx1"/>
            </a:solidFill>
            <a:miter lim="800000"/>
          </a:ln>
        </p:spPr>
        <p:txBody>
          <a:bodyPr wrap="none" anchor="ctr"/>
          <a:lstStyle/>
          <a:p>
            <a:pPr defTabSz="457200"/>
            <a:endParaRPr lang="en-US" altLang="zh-CN" baseline="0">
              <a:latin typeface="Calibri" panose="020F0502020204030204" pitchFamily="34" charset="0"/>
            </a:endParaRPr>
          </a:p>
        </p:txBody>
      </p:sp>
      <p:sp>
        <p:nvSpPr>
          <p:cNvPr id="71698" name="Rectangle 24"/>
          <p:cNvSpPr>
            <a:spLocks noChangeArrowheads="1"/>
          </p:cNvSpPr>
          <p:nvPr/>
        </p:nvSpPr>
        <p:spPr bwMode="auto">
          <a:xfrm>
            <a:off x="1993900" y="6251402"/>
            <a:ext cx="3708400" cy="295081"/>
          </a:xfrm>
          <a:prstGeom prst="rect">
            <a:avLst/>
          </a:prstGeom>
          <a:noFill/>
          <a:ln w="28575">
            <a:pattFill prst="pct70">
              <a:fgClr>
                <a:schemeClr val="tx1"/>
              </a:fgClr>
              <a:bgClr>
                <a:schemeClr val="bg1"/>
              </a:bgClr>
            </a:pattFill>
            <a:miter lim="800000"/>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p>
            <a:pPr algn="ctr" defTabSz="457200">
              <a:lnSpc>
                <a:spcPct val="88000"/>
              </a:lnSpc>
              <a:spcBef>
                <a:spcPct val="43000"/>
              </a:spcBef>
            </a:pPr>
            <a:r>
              <a:rPr lang="zh-CN" altLang="en-US" b="1" baseline="0" dirty="0">
                <a:solidFill>
                  <a:srgbClr val="005400"/>
                </a:solidFill>
                <a:latin typeface="Calibri" panose="020F0502020204030204" pitchFamily="34" charset="0"/>
              </a:rPr>
              <a:t>逻辑电路</a:t>
            </a:r>
            <a:endParaRPr lang="en-US" altLang="zh-CN" b="1" baseline="0" dirty="0">
              <a:solidFill>
                <a:srgbClr val="005400"/>
              </a:solidFill>
              <a:latin typeface="Calibri" panose="020F0502020204030204" pitchFamily="34" charset="0"/>
            </a:endParaRPr>
          </a:p>
        </p:txBody>
      </p:sp>
      <p:sp>
        <p:nvSpPr>
          <p:cNvPr id="71700" name="Rectangle 27"/>
          <p:cNvSpPr>
            <a:spLocks noChangeArrowheads="1"/>
          </p:cNvSpPr>
          <p:nvPr/>
        </p:nvSpPr>
        <p:spPr bwMode="auto">
          <a:xfrm>
            <a:off x="2098675" y="5549727"/>
            <a:ext cx="1981200" cy="288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p>
            <a:pPr defTabSz="457200">
              <a:lnSpc>
                <a:spcPct val="85000"/>
              </a:lnSpc>
            </a:pPr>
            <a:r>
              <a:rPr lang="zh-CN" altLang="en-US" b="1" i="1" baseline="0" dirty="0">
                <a:latin typeface="Calibri" panose="020F0502020204030204" pitchFamily="34" charset="0"/>
              </a:rPr>
              <a:t>电路实现</a:t>
            </a:r>
            <a:endParaRPr lang="en-US" altLang="zh-CN" b="1" i="1" baseline="0" dirty="0">
              <a:latin typeface="Calibri" panose="020F0502020204030204" pitchFamily="34" charset="0"/>
            </a:endParaRPr>
          </a:p>
        </p:txBody>
      </p:sp>
      <p:pic>
        <p:nvPicPr>
          <p:cNvPr id="71701" name="Picture 35" descr="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0463" y="4720108"/>
            <a:ext cx="16383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02" name="Rectangle 36"/>
          <p:cNvSpPr>
            <a:spLocks noChangeArrowheads="1"/>
          </p:cNvSpPr>
          <p:nvPr/>
        </p:nvSpPr>
        <p:spPr bwMode="auto">
          <a:xfrm>
            <a:off x="7532688" y="5540201"/>
            <a:ext cx="304800" cy="33655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defTabSz="457200"/>
            <a:endParaRPr lang="en-US" altLang="zh-CN" baseline="0">
              <a:latin typeface="Calibri" panose="020F0502020204030204" pitchFamily="34" charset="0"/>
            </a:endParaRPr>
          </a:p>
        </p:txBody>
      </p:sp>
      <p:sp>
        <p:nvSpPr>
          <p:cNvPr id="71703" name="TextBox 24"/>
          <p:cNvSpPr txBox="1">
            <a:spLocks noChangeArrowheads="1"/>
          </p:cNvSpPr>
          <p:nvPr/>
        </p:nvSpPr>
        <p:spPr bwMode="auto">
          <a:xfrm>
            <a:off x="8049642" y="2276872"/>
            <a:ext cx="25828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eaLnBrk="0" hangingPunct="0">
              <a:defRPr baseline="-25000">
                <a:solidFill>
                  <a:schemeClr val="tx1"/>
                </a:solidFill>
                <a:latin typeface="Arial" panose="020B0604020202020204" pitchFamily="34" charset="0"/>
                <a:ea typeface="宋体" panose="02010600030101010101" pitchFamily="2" charset="-122"/>
              </a:defRPr>
            </a:lvl1pPr>
            <a:lvl2pPr marL="742950" indent="-285750" defTabSz="457200" eaLnBrk="0" hangingPunct="0">
              <a:defRPr baseline="-25000">
                <a:solidFill>
                  <a:schemeClr val="tx1"/>
                </a:solidFill>
                <a:latin typeface="Arial" panose="020B0604020202020204" pitchFamily="34" charset="0"/>
                <a:ea typeface="宋体" panose="02010600030101010101" pitchFamily="2" charset="-122"/>
              </a:defRPr>
            </a:lvl2pPr>
            <a:lvl3pPr marL="1143000" indent="-228600" defTabSz="4572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defTabSz="4572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defTabSz="4572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defTabSz="4572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defTabSz="4572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defTabSz="4572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defTabSz="4572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r" eaLnBrk="1" hangingPunct="1"/>
            <a:r>
              <a:rPr lang="en-US" altLang="zh-CN" sz="1600" baseline="0" dirty="0">
                <a:latin typeface="Calibri" panose="020F0502020204030204" pitchFamily="34" charset="0"/>
              </a:rPr>
              <a:t>Anything can be represented</a:t>
            </a:r>
            <a:br>
              <a:rPr lang="en-US" altLang="zh-CN" sz="1600" baseline="0" dirty="0">
                <a:latin typeface="Calibri" panose="020F0502020204030204" pitchFamily="34" charset="0"/>
              </a:rPr>
            </a:br>
            <a:r>
              <a:rPr lang="en-US" altLang="zh-CN" sz="1600" baseline="0" dirty="0">
                <a:latin typeface="Calibri" panose="020F0502020204030204" pitchFamily="34" charset="0"/>
              </a:rPr>
              <a:t>as a </a:t>
            </a:r>
            <a:r>
              <a:rPr lang="en-US" altLang="zh-CN" sz="1600" i="1" baseline="0" dirty="0">
                <a:latin typeface="Calibri" panose="020F0502020204030204" pitchFamily="34" charset="0"/>
              </a:rPr>
              <a:t>number</a:t>
            </a:r>
            <a:r>
              <a:rPr lang="en-US" altLang="zh-CN" sz="1600" baseline="0" dirty="0">
                <a:latin typeface="Calibri" panose="020F0502020204030204" pitchFamily="34" charset="0"/>
              </a:rPr>
              <a:t>, </a:t>
            </a:r>
            <a:br>
              <a:rPr lang="en-US" altLang="zh-CN" sz="1600" baseline="0" dirty="0">
                <a:latin typeface="Calibri" panose="020F0502020204030204" pitchFamily="34" charset="0"/>
              </a:rPr>
            </a:br>
            <a:r>
              <a:rPr lang="en-US" altLang="zh-CN" sz="1600" baseline="0" dirty="0">
                <a:latin typeface="Calibri" panose="020F0502020204030204" pitchFamily="34" charset="0"/>
              </a:rPr>
              <a:t>i.e., data or instructions</a:t>
            </a:r>
            <a:endParaRPr lang="en-US" altLang="zh-CN" sz="1600" baseline="0" dirty="0">
              <a:latin typeface="Calibri" panose="020F0502020204030204" pitchFamily="34" charset="0"/>
            </a:endParaRPr>
          </a:p>
        </p:txBody>
      </p:sp>
      <p:cxnSp>
        <p:nvCxnSpPr>
          <p:cNvPr id="71705" name="AutoShape 25"/>
          <p:cNvCxnSpPr>
            <a:cxnSpLocks noChangeShapeType="1"/>
            <a:stCxn id="71684" idx="2"/>
            <a:endCxn id="71685" idx="0"/>
          </p:cNvCxnSpPr>
          <p:nvPr/>
        </p:nvCxnSpPr>
        <p:spPr bwMode="auto">
          <a:xfrm>
            <a:off x="3848100" y="1757061"/>
            <a:ext cx="794" cy="79229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07" name="AutoShape 27"/>
          <p:cNvCxnSpPr>
            <a:cxnSpLocks noChangeShapeType="1"/>
            <a:stCxn id="71685" idx="2"/>
            <a:endCxn id="71686" idx="0"/>
          </p:cNvCxnSpPr>
          <p:nvPr/>
        </p:nvCxnSpPr>
        <p:spPr bwMode="auto">
          <a:xfrm flipH="1">
            <a:off x="3848100" y="2836097"/>
            <a:ext cx="794" cy="648293"/>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08" name="AutoShape 28"/>
          <p:cNvCxnSpPr>
            <a:cxnSpLocks noChangeShapeType="1"/>
            <a:stCxn id="71696" idx="2"/>
            <a:endCxn id="71687" idx="0"/>
          </p:cNvCxnSpPr>
          <p:nvPr/>
        </p:nvCxnSpPr>
        <p:spPr bwMode="auto">
          <a:xfrm>
            <a:off x="3848100" y="4168601"/>
            <a:ext cx="0" cy="679450"/>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709" name="AutoShape 29"/>
          <p:cNvCxnSpPr>
            <a:cxnSpLocks noChangeShapeType="1"/>
            <a:stCxn id="71687" idx="2"/>
            <a:endCxn id="71698" idx="0"/>
          </p:cNvCxnSpPr>
          <p:nvPr/>
        </p:nvCxnSpPr>
        <p:spPr bwMode="auto">
          <a:xfrm>
            <a:off x="3848100" y="5386917"/>
            <a:ext cx="0" cy="864485"/>
          </a:xfrm>
          <a:prstGeom prst="straightConnector1">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灯片编号占位符 2"/>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关注外部功能，忽略内部细节</a:t>
            </a:r>
            <a:endParaRPr lang="en-US" altLang="zh-CN" dirty="0"/>
          </a:p>
          <a:p>
            <a:r>
              <a:rPr lang="zh-CN" altLang="en-US" dirty="0"/>
              <a:t>站在更高的层次看问题</a:t>
            </a:r>
            <a:endParaRPr lang="en-US" altLang="zh-CN" dirty="0"/>
          </a:p>
          <a:p>
            <a:endParaRPr lang="en-US" altLang="zh-CN" dirty="0"/>
          </a:p>
          <a:p>
            <a:r>
              <a:rPr lang="zh-CN" altLang="en-US" dirty="0"/>
              <a:t>晶体管 </a:t>
            </a:r>
            <a:r>
              <a:rPr lang="en-US" altLang="zh-CN" dirty="0"/>
              <a:t>-&gt; </a:t>
            </a:r>
            <a:r>
              <a:rPr lang="zh-CN" altLang="en-US" dirty="0"/>
              <a:t>逻辑门 </a:t>
            </a:r>
            <a:r>
              <a:rPr lang="en-US" altLang="zh-CN" dirty="0"/>
              <a:t>-&gt;</a:t>
            </a:r>
            <a:r>
              <a:rPr lang="zh-CN" altLang="en-US" dirty="0"/>
              <a:t>加法器、选择器 </a:t>
            </a:r>
            <a:r>
              <a:rPr lang="en-US" altLang="zh-CN" dirty="0"/>
              <a:t>-&gt; </a:t>
            </a:r>
            <a:r>
              <a:rPr lang="zh-CN" altLang="en-US" dirty="0"/>
              <a:t>内存、算术逻辑单元、控制器</a:t>
            </a:r>
            <a:r>
              <a:rPr lang="en-US" altLang="zh-CN" dirty="0"/>
              <a:t> -&gt; </a:t>
            </a:r>
            <a:r>
              <a:rPr lang="zh-CN" altLang="en-US" dirty="0"/>
              <a:t>计算机</a:t>
            </a:r>
            <a:r>
              <a:rPr lang="en-US" altLang="zh-CN" dirty="0"/>
              <a:t> </a:t>
            </a:r>
            <a:endParaRPr lang="en-US" altLang="zh-CN" dirty="0"/>
          </a:p>
          <a:p>
            <a:endParaRPr lang="en-US" altLang="zh-CN" dirty="0"/>
          </a:p>
          <a:p>
            <a:r>
              <a:rPr lang="zh-CN" altLang="en-US" dirty="0"/>
              <a:t>本课题将不断提高抽象层次</a:t>
            </a:r>
            <a:endParaRPr lang="zh-CN" altLang="en-US" dirty="0"/>
          </a:p>
        </p:txBody>
      </p:sp>
      <p:sp>
        <p:nvSpPr>
          <p:cNvPr id="3" name="Title 2"/>
          <p:cNvSpPr>
            <a:spLocks noGrp="1"/>
          </p:cNvSpPr>
          <p:nvPr>
            <p:ph type="title"/>
          </p:nvPr>
        </p:nvSpPr>
        <p:spPr/>
        <p:txBody>
          <a:bodyPr/>
          <a:lstStyle/>
          <a:p>
            <a:r>
              <a:rPr lang="zh-CN" altLang="en-US" dirty="0"/>
              <a:t>原则一：抽象</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大家的观点：</a:t>
            </a:r>
            <a:r>
              <a:rPr lang="en-US" altLang="zh-CN" dirty="0"/>
              <a:t>Donald Knuth</a:t>
            </a:r>
            <a:endParaRPr lang="en-US" altLang="zh-CN" dirty="0"/>
          </a:p>
          <a:p>
            <a:r>
              <a:rPr lang="zh-CN" altLang="en-US" dirty="0"/>
              <a:t>互相促进，深入了解系统细节有助于设计更好的软件，动态互相促进的过程</a:t>
            </a:r>
            <a:endParaRPr lang="en-US" altLang="zh-CN" dirty="0"/>
          </a:p>
          <a:p>
            <a:endParaRPr lang="en-US" altLang="zh-CN" dirty="0"/>
          </a:p>
          <a:p>
            <a:r>
              <a:rPr lang="zh-CN" altLang="en-US" dirty="0"/>
              <a:t>工业界实践</a:t>
            </a:r>
            <a:endParaRPr lang="en-US" altLang="zh-CN" dirty="0"/>
          </a:p>
          <a:p>
            <a:pPr lvl="1"/>
            <a:r>
              <a:rPr lang="zh-CN" altLang="en-US" dirty="0"/>
              <a:t>软件对于硬件的促进</a:t>
            </a:r>
            <a:r>
              <a:rPr lang="en-US" altLang="zh-CN" dirty="0"/>
              <a:t>——Intel</a:t>
            </a:r>
            <a:r>
              <a:rPr lang="zh-CN" altLang="en-US" dirty="0"/>
              <a:t>处理器多媒体指令</a:t>
            </a:r>
            <a:endParaRPr lang="en-US" altLang="zh-CN" dirty="0"/>
          </a:p>
          <a:p>
            <a:pPr lvl="1"/>
            <a:r>
              <a:rPr lang="zh-CN" altLang="en-US" dirty="0"/>
              <a:t>硬件对于软件的促进</a:t>
            </a:r>
            <a:r>
              <a:rPr lang="en-US" altLang="zh-CN" dirty="0"/>
              <a:t>——</a:t>
            </a:r>
            <a:r>
              <a:rPr lang="zh-CN" altLang="en-US" dirty="0"/>
              <a:t>各类排序算法在不同</a:t>
            </a:r>
            <a:r>
              <a:rPr lang="en-US" altLang="zh-CN" dirty="0"/>
              <a:t>CPU</a:t>
            </a:r>
            <a:r>
              <a:rPr lang="zh-CN" altLang="en-US" dirty="0"/>
              <a:t>、缓存、存储模型下性能各异，不存在最优的排序算法</a:t>
            </a:r>
            <a:endParaRPr lang="en-US" altLang="zh-CN" dirty="0"/>
          </a:p>
        </p:txBody>
      </p:sp>
      <p:sp>
        <p:nvSpPr>
          <p:cNvPr id="3" name="Title 2"/>
          <p:cNvSpPr>
            <a:spLocks noGrp="1"/>
          </p:cNvSpPr>
          <p:nvPr>
            <p:ph type="title"/>
          </p:nvPr>
        </p:nvSpPr>
        <p:spPr/>
        <p:txBody>
          <a:bodyPr/>
          <a:lstStyle/>
          <a:p>
            <a:r>
              <a:rPr lang="zh-CN" altLang="en-US" dirty="0"/>
              <a:t>原则二：不区分软硬件</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r>
              <a:rPr lang="zh-CN" altLang="en-US" dirty="0"/>
              <a:t>计算机系统简述：输入输出系统、运算器、控制器、存储</a:t>
            </a:r>
            <a:endParaRPr lang="en-US" altLang="zh-CN" dirty="0"/>
          </a:p>
          <a:p>
            <a:endParaRPr lang="en-US" altLang="zh-CN" dirty="0"/>
          </a:p>
          <a:p>
            <a:r>
              <a:rPr lang="zh-CN" altLang="en-US" dirty="0"/>
              <a:t>计算机如何求解问题：问题描述至电路执行，层层递进的系统性变换</a:t>
            </a:r>
            <a:endParaRPr lang="en-US" altLang="zh-CN" dirty="0"/>
          </a:p>
          <a:p>
            <a:endParaRPr lang="en-US" altLang="zh-CN" dirty="0"/>
          </a:p>
          <a:p>
            <a:r>
              <a:rPr lang="zh-CN" altLang="en-US" dirty="0"/>
              <a:t>重要思想：通用，层次化与软硬件结合</a:t>
            </a:r>
            <a:endParaRPr lang="zh-CN" altLang="en-US" dirty="0"/>
          </a:p>
          <a:p>
            <a:endParaRPr lang="zh-CN" altLang="en-US" dirty="0"/>
          </a:p>
        </p:txBody>
      </p:sp>
      <p:sp>
        <p:nvSpPr>
          <p:cNvPr id="7" name="Title 6"/>
          <p:cNvSpPr>
            <a:spLocks noGrp="1"/>
          </p:cNvSpPr>
          <p:nvPr>
            <p:ph type="title"/>
          </p:nvPr>
        </p:nvSpPr>
        <p:spPr/>
        <p:txBody>
          <a:bodyPr/>
          <a:lstStyle/>
          <a:p>
            <a:r>
              <a:rPr lang="zh-CN" altLang="en-US" dirty="0"/>
              <a:t>本章总结</a:t>
            </a:r>
            <a:endParaRPr lang="zh-CN" altLang="en-US" dirty="0"/>
          </a:p>
        </p:txBody>
      </p:sp>
      <p:sp>
        <p:nvSpPr>
          <p:cNvPr id="2" name="灯片编号占位符 1"/>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zh-CN" altLang="en-US" dirty="0"/>
              <a:t>一定仔细阅读教材</a:t>
            </a:r>
            <a:endParaRPr lang="en-US" altLang="zh-CN" dirty="0"/>
          </a:p>
          <a:p>
            <a:r>
              <a:rPr lang="zh-CN" altLang="en-US" dirty="0"/>
              <a:t>作业</a:t>
            </a:r>
            <a:endParaRPr lang="en-US" altLang="zh-CN" dirty="0"/>
          </a:p>
          <a:p>
            <a:r>
              <a:rPr lang="zh-CN" altLang="en-US" dirty="0"/>
              <a:t>程序</a:t>
            </a:r>
            <a:endParaRPr lang="en-US" altLang="zh-CN" dirty="0"/>
          </a:p>
          <a:p>
            <a:r>
              <a:rPr lang="zh-CN" altLang="en-US" dirty="0"/>
              <a:t>实验</a:t>
            </a:r>
            <a:endParaRPr lang="en-US" altLang="zh-CN" dirty="0"/>
          </a:p>
          <a:p>
            <a:endParaRPr lang="en-US" altLang="zh-CN" dirty="0"/>
          </a:p>
          <a:p>
            <a:r>
              <a:rPr lang="zh-CN" altLang="en-US" dirty="0"/>
              <a:t>实践、实践、实践！</a:t>
            </a:r>
            <a:endParaRPr lang="zh-CN" altLang="en-US" dirty="0"/>
          </a:p>
        </p:txBody>
      </p:sp>
      <p:sp>
        <p:nvSpPr>
          <p:cNvPr id="3" name="Title 2"/>
          <p:cNvSpPr>
            <a:spLocks noGrp="1"/>
          </p:cNvSpPr>
          <p:nvPr>
            <p:ph type="title"/>
          </p:nvPr>
        </p:nvSpPr>
        <p:spPr/>
        <p:txBody>
          <a:bodyPr/>
          <a:lstStyle/>
          <a:p>
            <a:r>
              <a:rPr lang="zh-CN" altLang="en-US" dirty="0"/>
              <a:t>如何学好此课程</a:t>
            </a:r>
            <a:endParaRPr lang="zh-CN" altLang="en-US" dirty="0"/>
          </a:p>
        </p:txBody>
      </p:sp>
      <p:sp>
        <p:nvSpPr>
          <p:cNvPr id="4" name="灯片编号占位符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pPr>
              <a:defRPr/>
            </a:pPr>
            <a:fld id="{7C93F2F6-B200-4836-9340-136DE7987878}" type="slidenum">
              <a:rPr lang="en-US" smtClean="0"/>
            </a:fld>
            <a:endParaRPr lang="en-US"/>
          </a:p>
        </p:txBody>
      </p:sp>
      <p:sp>
        <p:nvSpPr>
          <p:cNvPr id="3" name="文本框 2"/>
          <p:cNvSpPr txBox="1"/>
          <p:nvPr/>
        </p:nvSpPr>
        <p:spPr>
          <a:xfrm>
            <a:off x="1720215" y="1419860"/>
            <a:ext cx="4064000" cy="1291590"/>
          </a:xfrm>
          <a:prstGeom prst="rect">
            <a:avLst/>
          </a:prstGeom>
          <a:noFill/>
        </p:spPr>
        <p:txBody>
          <a:bodyPr wrap="square" rtlCol="0">
            <a:spAutoFit/>
          </a:bodyPr>
          <a:p>
            <a:r>
              <a:rPr lang="zh-CN" altLang="en-US" sz="4000"/>
              <a:t>作业：</a:t>
            </a:r>
            <a:endParaRPr lang="zh-CN" altLang="en-US" sz="4000"/>
          </a:p>
          <a:p>
            <a:r>
              <a:rPr lang="en-US" altLang="zh-CN" sz="4000"/>
              <a:t>1.5 </a:t>
            </a:r>
            <a:r>
              <a:rPr lang="zh-CN" altLang="en-US" sz="4000"/>
              <a:t>（画图）</a:t>
            </a:r>
            <a:endParaRPr lang="zh-CN" altLang="en-US" sz="4000"/>
          </a:p>
          <a:p>
            <a:r>
              <a:rPr lang="en-US" altLang="zh-CN" sz="4000"/>
              <a:t>1.23</a:t>
            </a:r>
            <a:endParaRPr lang="en-US" altLang="zh-CN" sz="4000"/>
          </a:p>
        </p:txBody>
      </p:sp>
    </p:spTree>
  </p:cSld>
  <p:clrMapOvr>
    <a:masterClrMapping/>
  </p:clrMapOvr>
</p:sld>
</file>

<file path=ppt/tags/tag1.xml><?xml version="1.0" encoding="utf-8"?>
<p:tagLst xmlns:p="http://schemas.openxmlformats.org/presentationml/2006/main">
  <p:tag name="KSO_WPP_MARK_KEY" val="f087c61c-92ba-4ada-8921-e0b9f86cbdfc"/>
  <p:tag name="COMMONDATA" val="eyJoZGlkIjoiMjMxMzY4ZGM5NTE1OTFkZjU0ODAyMTY4MmM1MmQxN2M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4353</Words>
  <Application>WPS 演示</Application>
  <PresentationFormat>宽屏</PresentationFormat>
  <Paragraphs>552</Paragraphs>
  <Slides>42</Slides>
  <Notes>9</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0</vt:i4>
      </vt:variant>
      <vt:variant>
        <vt:lpstr>幻灯片标题</vt:lpstr>
      </vt:variant>
      <vt:variant>
        <vt:i4>42</vt:i4>
      </vt:variant>
    </vt:vector>
  </HeadingPairs>
  <TitlesOfParts>
    <vt:vector size="59" baseType="lpstr">
      <vt:lpstr>Arial</vt:lpstr>
      <vt:lpstr>宋体</vt:lpstr>
      <vt:lpstr>Wingdings</vt:lpstr>
      <vt:lpstr>Wingdings 3</vt:lpstr>
      <vt:lpstr>Verdana</vt:lpstr>
      <vt:lpstr>Wingdings 2</vt:lpstr>
      <vt:lpstr>Calibri</vt:lpstr>
      <vt:lpstr>Lucida Sans Unicode</vt:lpstr>
      <vt:lpstr>黑体</vt:lpstr>
      <vt:lpstr>微软雅黑</vt:lpstr>
      <vt:lpstr>Arial Unicode MS</vt:lpstr>
      <vt:lpstr>Garamond</vt:lpstr>
      <vt:lpstr>Franklin Gothic Book</vt:lpstr>
      <vt:lpstr>Cambria Math</vt:lpstr>
      <vt:lpstr>Courier New</vt:lpstr>
      <vt:lpstr>Courier</vt:lpstr>
      <vt:lpstr>Concourse</vt:lpstr>
      <vt:lpstr>计算机系统 I </vt:lpstr>
      <vt:lpstr>大纲</vt:lpstr>
      <vt:lpstr>什么是计算机</vt:lpstr>
      <vt:lpstr>更严谨的定义：                   数字电子通用计算机</vt:lpstr>
      <vt:lpstr>PowerPoint 演示文稿</vt:lpstr>
      <vt:lpstr>PowerPoint 演示文稿</vt:lpstr>
      <vt:lpstr>PowerPoint 演示文稿</vt:lpstr>
      <vt:lpstr>最近的进展:仓储型计算机</vt:lpstr>
      <vt:lpstr>计算无处不在。。。 Computers are everywhere……</vt:lpstr>
      <vt:lpstr>我们的时代：信息技术时代</vt:lpstr>
      <vt:lpstr>PowerPoint 演示文稿</vt:lpstr>
      <vt:lpstr>本课程简介</vt:lpstr>
      <vt:lpstr>课程目标</vt:lpstr>
      <vt:lpstr>我们的安排</vt:lpstr>
      <vt:lpstr>我们的安排</vt:lpstr>
      <vt:lpstr>我们的安排</vt:lpstr>
      <vt:lpstr>我们的安排</vt:lpstr>
      <vt:lpstr>我们的安排</vt:lpstr>
      <vt:lpstr>计算机系统简述</vt:lpstr>
      <vt:lpstr>PowerPoint 演示文稿</vt:lpstr>
      <vt:lpstr>计算机系统</vt:lpstr>
      <vt:lpstr>存储</vt:lpstr>
      <vt:lpstr>如何使用计算机求解问题</vt:lpstr>
      <vt:lpstr>计算机求解问题过程</vt:lpstr>
      <vt:lpstr>每个层次的功能描述</vt:lpstr>
      <vt:lpstr>每个层次的功能描述(cont.)</vt:lpstr>
      <vt:lpstr>自顶向下层次的转化</vt:lpstr>
      <vt:lpstr>PowerPoint 演示文稿</vt:lpstr>
      <vt:lpstr>每个层次的选择</vt:lpstr>
      <vt:lpstr>计算机系统发展的重要思想</vt:lpstr>
      <vt:lpstr>第一个重要思想</vt:lpstr>
      <vt:lpstr>计算机的数学模型 —— 图灵机</vt:lpstr>
      <vt:lpstr>Turing论文</vt:lpstr>
      <vt:lpstr>通用的图灵机</vt:lpstr>
      <vt:lpstr>第二个重要思想：分层化</vt:lpstr>
      <vt:lpstr>PowerPoint 演示文稿</vt:lpstr>
      <vt:lpstr>计算机如何工作——启发式理解</vt:lpstr>
      <vt:lpstr>原则一：抽象</vt:lpstr>
      <vt:lpstr>原则二：不区分软硬件</vt:lpstr>
      <vt:lpstr>本章总结</vt:lpstr>
      <vt:lpstr>如何学好此课程</vt:lpstr>
      <vt:lpstr>PowerPoint 演示文稿</vt:lpstr>
    </vt:vector>
  </TitlesOfParts>
  <Company>USTC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Introduction   An Hong han@ustc.edu.cn</dc:title>
  <dc:creator>hanhwt</dc:creator>
  <cp:lastModifiedBy>Zhi</cp:lastModifiedBy>
  <cp:revision>408</cp:revision>
  <cp:lastPrinted>2113-01-01T00:00:00Z</cp:lastPrinted>
  <dcterms:created xsi:type="dcterms:W3CDTF">2012-09-03T16:09:00Z</dcterms:created>
  <dcterms:modified xsi:type="dcterms:W3CDTF">2024-03-03T06:02:26Z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2052-12.1.0.16250</vt:lpwstr>
  </property>
  <property fmtid="{D5CDD505-2E9C-101B-9397-08002B2CF9AE}" pid="4" name="ICV">
    <vt:lpwstr>464F67E2E99B48FE8032DC6715030100</vt:lpwstr>
  </property>
</Properties>
</file>