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70"/>
  </p:notesMasterIdLst>
  <p:handoutMasterIdLst>
    <p:handoutMasterId r:id="rId71"/>
  </p:handoutMasterIdLst>
  <p:sldIdLst>
    <p:sldId id="258" r:id="rId2"/>
    <p:sldId id="273" r:id="rId3"/>
    <p:sldId id="329" r:id="rId4"/>
    <p:sldId id="331" r:id="rId5"/>
    <p:sldId id="332" r:id="rId6"/>
    <p:sldId id="333" r:id="rId7"/>
    <p:sldId id="334" r:id="rId8"/>
    <p:sldId id="336" r:id="rId9"/>
    <p:sldId id="337" r:id="rId10"/>
    <p:sldId id="338" r:id="rId11"/>
    <p:sldId id="339" r:id="rId12"/>
    <p:sldId id="340" r:id="rId13"/>
    <p:sldId id="341" r:id="rId14"/>
    <p:sldId id="352" r:id="rId15"/>
    <p:sldId id="342" r:id="rId16"/>
    <p:sldId id="344" r:id="rId17"/>
    <p:sldId id="384" r:id="rId18"/>
    <p:sldId id="351" r:id="rId19"/>
    <p:sldId id="353" r:id="rId20"/>
    <p:sldId id="354" r:id="rId21"/>
    <p:sldId id="406" r:id="rId22"/>
    <p:sldId id="355" r:id="rId23"/>
    <p:sldId id="407" r:id="rId24"/>
    <p:sldId id="356" r:id="rId25"/>
    <p:sldId id="408" r:id="rId26"/>
    <p:sldId id="357" r:id="rId27"/>
    <p:sldId id="386" r:id="rId28"/>
    <p:sldId id="385" r:id="rId29"/>
    <p:sldId id="358" r:id="rId30"/>
    <p:sldId id="359" r:id="rId31"/>
    <p:sldId id="387" r:id="rId32"/>
    <p:sldId id="360" r:id="rId33"/>
    <p:sldId id="361" r:id="rId34"/>
    <p:sldId id="362" r:id="rId35"/>
    <p:sldId id="388" r:id="rId36"/>
    <p:sldId id="363" r:id="rId37"/>
    <p:sldId id="364" r:id="rId38"/>
    <p:sldId id="365" r:id="rId39"/>
    <p:sldId id="389" r:id="rId40"/>
    <p:sldId id="366" r:id="rId41"/>
    <p:sldId id="367" r:id="rId42"/>
    <p:sldId id="404" r:id="rId43"/>
    <p:sldId id="368" r:id="rId44"/>
    <p:sldId id="369" r:id="rId45"/>
    <p:sldId id="370" r:id="rId46"/>
    <p:sldId id="400" r:id="rId47"/>
    <p:sldId id="390" r:id="rId48"/>
    <p:sldId id="391" r:id="rId49"/>
    <p:sldId id="392" r:id="rId50"/>
    <p:sldId id="393" r:id="rId51"/>
    <p:sldId id="394" r:id="rId52"/>
    <p:sldId id="395" r:id="rId53"/>
    <p:sldId id="396" r:id="rId54"/>
    <p:sldId id="371" r:id="rId55"/>
    <p:sldId id="372" r:id="rId56"/>
    <p:sldId id="374" r:id="rId57"/>
    <p:sldId id="375" r:id="rId58"/>
    <p:sldId id="378" r:id="rId59"/>
    <p:sldId id="379" r:id="rId60"/>
    <p:sldId id="380" r:id="rId61"/>
    <p:sldId id="381" r:id="rId62"/>
    <p:sldId id="397" r:id="rId63"/>
    <p:sldId id="401" r:id="rId64"/>
    <p:sldId id="402" r:id="rId65"/>
    <p:sldId id="403" r:id="rId66"/>
    <p:sldId id="398" r:id="rId67"/>
    <p:sldId id="399" r:id="rId68"/>
    <p:sldId id="405" r:id="rId69"/>
  </p:sldIdLst>
  <p:sldSz cx="12192000" cy="6858000"/>
  <p:notesSz cx="6669088" cy="9926638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660066"/>
    <a:srgbClr val="CCFFFF"/>
    <a:srgbClr val="0000FF"/>
    <a:srgbClr val="333333"/>
    <a:srgbClr val="FF0000"/>
    <a:srgbClr val="FF9933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78" autoAdjust="0"/>
    <p:restoredTop sz="94660"/>
  </p:normalViewPr>
  <p:slideViewPr>
    <p:cSldViewPr>
      <p:cViewPr varScale="1">
        <p:scale>
          <a:sx n="80" d="100"/>
          <a:sy n="80" d="100"/>
        </p:scale>
        <p:origin x="758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>
      <p:cViewPr>
        <p:scale>
          <a:sx n="100" d="100"/>
          <a:sy n="100" d="100"/>
        </p:scale>
        <p:origin x="-1674" y="-60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3.xml"/><Relationship Id="rId1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54025" y="2984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</a:defRPr>
            </a:lvl1pPr>
          </a:lstStyle>
          <a:p>
            <a:r>
              <a:rPr lang="zh-CN" altLang="en-US"/>
              <a:t>《计算机系统(1)》</a:t>
            </a:r>
          </a:p>
        </p:txBody>
      </p:sp>
      <p:sp>
        <p:nvSpPr>
          <p:cNvPr id="143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333750" y="2984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r>
              <a:rPr lang="zh-CN" altLang="en-US"/>
              <a:t>第1章 计算机系统概述</a:t>
            </a:r>
            <a:endParaRPr lang="en-US" altLang="zh-CN"/>
          </a:p>
        </p:txBody>
      </p:sp>
      <p:sp>
        <p:nvSpPr>
          <p:cNvPr id="143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54025" y="913130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pitchFamily="34" charset="0"/>
              </a:defRPr>
            </a:lvl1pPr>
          </a:lstStyle>
          <a:p>
            <a:endParaRPr lang="en-US" altLang="zh-CN"/>
          </a:p>
        </p:txBody>
      </p:sp>
      <p:sp>
        <p:nvSpPr>
          <p:cNvPr id="143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333750" y="913130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07600F3F-3F77-402D-85D0-7C5449BFCE5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007262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zh-CN" altLang="en-US"/>
              <a:t>《计算机系统(1)》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r>
              <a:rPr lang="zh-CN" altLang="en-US"/>
              <a:t>第1章 计算机系统概述</a:t>
            </a:r>
            <a:endParaRPr lang="en-US" altLang="zh-CN"/>
          </a:p>
        </p:txBody>
      </p:sp>
      <p:sp>
        <p:nvSpPr>
          <p:cNvPr id="983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6988" y="744538"/>
            <a:ext cx="6615112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983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83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983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5EB02C8-73D1-4A6C-A407-2C450D588C1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1317029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zh-CN" altLang="en-US"/>
              <a:t>《计算机系统(1)》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r>
              <a:rPr lang="zh-CN" altLang="en-US"/>
              <a:t>第1章 计算机系统概述</a:t>
            </a:r>
            <a:endParaRPr lang="en-US" altLang="zh-CN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688" y="750888"/>
            <a:ext cx="6594475" cy="3709987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44500" y="4714875"/>
            <a:ext cx="5780088" cy="47974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998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7"/>
          <p:cNvSpPr txBox="1">
            <a:spLocks noGrp="1" noChangeArrowheads="1"/>
          </p:cNvSpPr>
          <p:nvPr/>
        </p:nvSpPr>
        <p:spPr bwMode="auto">
          <a:xfrm>
            <a:off x="3778423" y="9428243"/>
            <a:ext cx="2890665" cy="498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9" tIns="47835" rIns="95669" bIns="47835" anchor="b"/>
          <a:lstStyle/>
          <a:p>
            <a:pPr algn="r" defTabSz="954521" eaLnBrk="0" hangingPunct="0"/>
            <a:fld id="{E188A5A1-3DDB-4F9F-A4CD-B03C0FC18A23}" type="slidenum">
              <a:rPr lang="zh-CN" altLang="en-US" sz="1200">
                <a:latin typeface="Garamond" pitchFamily="18" charset="0"/>
              </a:rPr>
              <a:pPr algn="r" defTabSz="954521" eaLnBrk="0" hangingPunct="0"/>
              <a:t>4</a:t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335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" y="744538"/>
            <a:ext cx="6613525" cy="3721100"/>
          </a:xfrm>
        </p:spPr>
      </p:sp>
      <p:sp>
        <p:nvSpPr>
          <p:cNvPr id="335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316" y="4714122"/>
            <a:ext cx="4890457" cy="4468099"/>
          </a:xfrm>
        </p:spPr>
        <p:txBody>
          <a:bodyPr lIns="95669" tIns="47835" rIns="95669" bIns="47835" anchor="t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066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7"/>
          <p:cNvSpPr txBox="1">
            <a:spLocks noGrp="1" noChangeArrowheads="1"/>
          </p:cNvSpPr>
          <p:nvPr/>
        </p:nvSpPr>
        <p:spPr bwMode="auto">
          <a:xfrm>
            <a:off x="3778423" y="9428243"/>
            <a:ext cx="2890665" cy="498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9" tIns="47835" rIns="95669" bIns="47835" anchor="b"/>
          <a:lstStyle/>
          <a:p>
            <a:pPr algn="r" defTabSz="954521" eaLnBrk="0" hangingPunct="0"/>
            <a:fld id="{24C9859C-0115-43D1-85D4-35D4037881B8}" type="slidenum">
              <a:rPr lang="zh-CN" altLang="en-US" sz="1200">
                <a:latin typeface="Garamond" pitchFamily="18" charset="0"/>
              </a:rPr>
              <a:pPr algn="r" defTabSz="954521" eaLnBrk="0" hangingPunct="0"/>
              <a:t>5</a:t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337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" y="744538"/>
            <a:ext cx="6613525" cy="3721100"/>
          </a:xfrm>
        </p:spPr>
      </p:sp>
      <p:sp>
        <p:nvSpPr>
          <p:cNvPr id="337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316" y="4714122"/>
            <a:ext cx="4890457" cy="4468099"/>
          </a:xfrm>
        </p:spPr>
        <p:txBody>
          <a:bodyPr lIns="95669" tIns="47835" rIns="95669" bIns="47835" anchor="t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0630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7"/>
          <p:cNvSpPr txBox="1">
            <a:spLocks noGrp="1" noChangeArrowheads="1"/>
          </p:cNvSpPr>
          <p:nvPr/>
        </p:nvSpPr>
        <p:spPr bwMode="auto">
          <a:xfrm>
            <a:off x="3778423" y="9428243"/>
            <a:ext cx="2890665" cy="498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9" tIns="47835" rIns="95669" bIns="47835" anchor="b"/>
          <a:lstStyle/>
          <a:p>
            <a:pPr algn="r" defTabSz="954521" eaLnBrk="0" hangingPunct="0"/>
            <a:fld id="{46DA2038-7341-4405-802F-9E7D15C4BA8F}" type="slidenum">
              <a:rPr lang="zh-CN" altLang="en-US" sz="1200">
                <a:latin typeface="Garamond" pitchFamily="18" charset="0"/>
              </a:rPr>
              <a:pPr algn="r" defTabSz="954521" eaLnBrk="0" hangingPunct="0"/>
              <a:t>6</a:t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340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" y="744538"/>
            <a:ext cx="6613525" cy="3721100"/>
          </a:xfrm>
          <a:solidFill>
            <a:srgbClr val="FFFFFF"/>
          </a:solidFill>
        </p:spPr>
      </p:sp>
      <p:sp>
        <p:nvSpPr>
          <p:cNvPr id="340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316" y="4714122"/>
            <a:ext cx="4890457" cy="44680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669" tIns="47835" rIns="95669" bIns="47835" anchor="t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132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7"/>
          <p:cNvSpPr txBox="1">
            <a:spLocks noGrp="1" noChangeArrowheads="1"/>
          </p:cNvSpPr>
          <p:nvPr/>
        </p:nvSpPr>
        <p:spPr bwMode="auto">
          <a:xfrm>
            <a:off x="3778423" y="9428243"/>
            <a:ext cx="2890665" cy="498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9" tIns="47835" rIns="95669" bIns="47835" anchor="b"/>
          <a:lstStyle/>
          <a:p>
            <a:pPr algn="r" defTabSz="954521" eaLnBrk="0" hangingPunct="0"/>
            <a:fld id="{4CACAAAB-0FA7-40A9-A84D-AE7903A51658}" type="slidenum">
              <a:rPr lang="zh-CN" altLang="en-US" sz="1200">
                <a:latin typeface="Garamond" pitchFamily="18" charset="0"/>
              </a:rPr>
              <a:pPr algn="r" defTabSz="954521" eaLnBrk="0" hangingPunct="0"/>
              <a:t>8</a:t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345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" y="744538"/>
            <a:ext cx="6613525" cy="3721100"/>
          </a:xfrm>
        </p:spPr>
      </p:sp>
      <p:sp>
        <p:nvSpPr>
          <p:cNvPr id="345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316" y="4714122"/>
            <a:ext cx="4890457" cy="4468099"/>
          </a:xfrm>
        </p:spPr>
        <p:txBody>
          <a:bodyPr lIns="95669" tIns="47835" rIns="95669" bIns="47835" anchor="t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09727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7"/>
          <p:cNvSpPr txBox="1">
            <a:spLocks noGrp="1" noChangeArrowheads="1"/>
          </p:cNvSpPr>
          <p:nvPr/>
        </p:nvSpPr>
        <p:spPr bwMode="auto">
          <a:xfrm>
            <a:off x="3778423" y="9428243"/>
            <a:ext cx="2890665" cy="498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9" tIns="47835" rIns="95669" bIns="47835" anchor="b"/>
          <a:lstStyle/>
          <a:p>
            <a:pPr algn="r" defTabSz="954521" eaLnBrk="0" hangingPunct="0"/>
            <a:fld id="{90B9A669-7581-4298-B95E-BD22860AE668}" type="slidenum">
              <a:rPr lang="zh-CN" altLang="en-US" sz="1200">
                <a:latin typeface="Garamond" pitchFamily="18" charset="0"/>
              </a:rPr>
              <a:pPr algn="r" defTabSz="954521" eaLnBrk="0" hangingPunct="0"/>
              <a:t>9</a:t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347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" y="744538"/>
            <a:ext cx="6613525" cy="3721100"/>
          </a:xfrm>
        </p:spPr>
      </p:sp>
      <p:sp>
        <p:nvSpPr>
          <p:cNvPr id="3471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316" y="4714122"/>
            <a:ext cx="4890457" cy="4468099"/>
          </a:xfrm>
        </p:spPr>
        <p:txBody>
          <a:bodyPr lIns="95669" tIns="47835" rIns="95669" bIns="47835" anchor="t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6800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7"/>
          <p:cNvSpPr txBox="1">
            <a:spLocks noGrp="1" noChangeArrowheads="1"/>
          </p:cNvSpPr>
          <p:nvPr/>
        </p:nvSpPr>
        <p:spPr bwMode="auto">
          <a:xfrm>
            <a:off x="3778423" y="9428243"/>
            <a:ext cx="2890665" cy="498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9" tIns="47835" rIns="95669" bIns="47835" anchor="b"/>
          <a:lstStyle/>
          <a:p>
            <a:pPr algn="r" defTabSz="954521" eaLnBrk="0" hangingPunct="0"/>
            <a:fld id="{00D6E490-4FFD-4224-842A-C3B2AB28E9BF}" type="slidenum">
              <a:rPr lang="zh-CN" altLang="en-US" sz="1200">
                <a:latin typeface="Garamond" pitchFamily="18" charset="0"/>
              </a:rPr>
              <a:pPr algn="r" defTabSz="954521" eaLnBrk="0" hangingPunct="0"/>
              <a:t>11</a:t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350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" y="744538"/>
            <a:ext cx="6613525" cy="3721100"/>
          </a:xfrm>
        </p:spPr>
      </p:sp>
      <p:sp>
        <p:nvSpPr>
          <p:cNvPr id="3502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316" y="4714122"/>
            <a:ext cx="4890457" cy="4468099"/>
          </a:xfrm>
        </p:spPr>
        <p:txBody>
          <a:bodyPr lIns="95669" tIns="47835" rIns="95669" bIns="47835" anchor="t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38421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7"/>
          <p:cNvSpPr txBox="1">
            <a:spLocks noGrp="1" noChangeArrowheads="1"/>
          </p:cNvSpPr>
          <p:nvPr/>
        </p:nvSpPr>
        <p:spPr bwMode="auto">
          <a:xfrm>
            <a:off x="3778423" y="9428243"/>
            <a:ext cx="2890665" cy="498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9" tIns="47835" rIns="95669" bIns="47835" anchor="b"/>
          <a:lstStyle/>
          <a:p>
            <a:pPr algn="r" defTabSz="954521" eaLnBrk="0" hangingPunct="0"/>
            <a:fld id="{D6860C77-B366-4E37-8FA4-85614B7F997B}" type="slidenum">
              <a:rPr lang="zh-CN" altLang="en-US" sz="1200">
                <a:latin typeface="Garamond" pitchFamily="18" charset="0"/>
              </a:rPr>
              <a:pPr algn="r" defTabSz="954521" eaLnBrk="0" hangingPunct="0"/>
              <a:t>13</a:t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354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" y="744538"/>
            <a:ext cx="6613525" cy="3721100"/>
          </a:xfrm>
        </p:spPr>
      </p:sp>
      <p:sp>
        <p:nvSpPr>
          <p:cNvPr id="3543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316" y="4714122"/>
            <a:ext cx="4890457" cy="4468099"/>
          </a:xfrm>
        </p:spPr>
        <p:txBody>
          <a:bodyPr lIns="95669" tIns="47835" rIns="95669" bIns="47835" anchor="t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20519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7"/>
          <p:cNvSpPr txBox="1">
            <a:spLocks noGrp="1" noChangeArrowheads="1"/>
          </p:cNvSpPr>
          <p:nvPr/>
        </p:nvSpPr>
        <p:spPr bwMode="auto">
          <a:xfrm>
            <a:off x="3778423" y="9428243"/>
            <a:ext cx="2890665" cy="498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9" tIns="47835" rIns="95669" bIns="47835" anchor="b"/>
          <a:lstStyle/>
          <a:p>
            <a:pPr algn="r" defTabSz="954521" eaLnBrk="0" hangingPunct="0"/>
            <a:fld id="{07BFA3A3-34F1-4A79-931B-2798791519F2}" type="slidenum">
              <a:rPr lang="zh-CN" altLang="en-US" sz="1200">
                <a:latin typeface="Garamond" pitchFamily="18" charset="0"/>
              </a:rPr>
              <a:pPr algn="r" defTabSz="954521" eaLnBrk="0" hangingPunct="0"/>
              <a:t>14</a:t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363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" y="744538"/>
            <a:ext cx="6613525" cy="3721100"/>
          </a:xfrm>
        </p:spPr>
      </p:sp>
      <p:sp>
        <p:nvSpPr>
          <p:cNvPr id="3635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316" y="4714122"/>
            <a:ext cx="4890457" cy="4468099"/>
          </a:xfrm>
        </p:spPr>
        <p:txBody>
          <a:bodyPr lIns="95669" tIns="47835" rIns="95669" bIns="47835" anchor="t"/>
          <a:lstStyle/>
          <a:p>
            <a:r>
              <a:rPr lang="en-US" altLang="zh-CN"/>
              <a:t>If there's time, perhaps discuss how all gates can be implemented with NAND (or NOR).</a:t>
            </a:r>
          </a:p>
          <a:p>
            <a:r>
              <a:rPr lang="en-US" altLang="zh-CN"/>
              <a:t>Therefore, you can implement any truth table using only NAND (or NOR) gates.</a:t>
            </a:r>
          </a:p>
        </p:txBody>
      </p:sp>
    </p:spTree>
    <p:extLst>
      <p:ext uri="{BB962C8B-B14F-4D97-AF65-F5344CB8AC3E}">
        <p14:creationId xmlns:p14="http://schemas.microsoft.com/office/powerpoint/2010/main" val="26101636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7"/>
          <p:cNvSpPr txBox="1">
            <a:spLocks noGrp="1" noChangeArrowheads="1"/>
          </p:cNvSpPr>
          <p:nvPr/>
        </p:nvSpPr>
        <p:spPr bwMode="auto">
          <a:xfrm>
            <a:off x="3778423" y="9428243"/>
            <a:ext cx="2890665" cy="498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9" tIns="47835" rIns="95669" bIns="47835" anchor="b"/>
          <a:lstStyle/>
          <a:p>
            <a:pPr algn="r" defTabSz="954521" eaLnBrk="0" hangingPunct="0"/>
            <a:fld id="{3B13DD5D-9012-42CE-B342-3ACF949B60D5}" type="slidenum">
              <a:rPr lang="zh-CN" altLang="en-US" sz="1200">
                <a:latin typeface="Garamond" pitchFamily="18" charset="0"/>
              </a:rPr>
              <a:pPr algn="r" defTabSz="954521" eaLnBrk="0" hangingPunct="0"/>
              <a:t>16</a:t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359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" y="744538"/>
            <a:ext cx="6613525" cy="3721100"/>
          </a:xfrm>
        </p:spPr>
      </p:sp>
      <p:sp>
        <p:nvSpPr>
          <p:cNvPr id="3594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316" y="4714122"/>
            <a:ext cx="4890457" cy="4468099"/>
          </a:xfrm>
        </p:spPr>
        <p:txBody>
          <a:bodyPr lIns="95669" tIns="47835" rIns="95669" bIns="47835" anchor="t"/>
          <a:lstStyle/>
          <a:p>
            <a:r>
              <a:rPr lang="en-US" altLang="zh-CN"/>
              <a:t>Note the use of the bubbles (NOT) in the input.</a:t>
            </a:r>
          </a:p>
        </p:txBody>
      </p:sp>
    </p:spTree>
    <p:extLst>
      <p:ext uri="{BB962C8B-B14F-4D97-AF65-F5344CB8AC3E}">
        <p14:creationId xmlns:p14="http://schemas.microsoft.com/office/powerpoint/2010/main" val="11960054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7"/>
          <p:cNvSpPr txBox="1">
            <a:spLocks noGrp="1" noChangeArrowheads="1"/>
          </p:cNvSpPr>
          <p:nvPr/>
        </p:nvSpPr>
        <p:spPr bwMode="auto">
          <a:xfrm>
            <a:off x="3778423" y="9428243"/>
            <a:ext cx="2890665" cy="498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9" tIns="47835" rIns="95669" bIns="47835" anchor="b"/>
          <a:lstStyle/>
          <a:p>
            <a:pPr algn="r" defTabSz="954521" eaLnBrk="0" hangingPunct="0"/>
            <a:fld id="{C7088A8F-ED22-41C5-9976-3E8A89F9FAA0}" type="slidenum">
              <a:rPr lang="zh-CN" altLang="en-US" sz="1200">
                <a:latin typeface="Garamond" pitchFamily="18" charset="0"/>
              </a:rPr>
              <a:pPr algn="r" defTabSz="954521" eaLnBrk="0" hangingPunct="0"/>
              <a:t>20</a:t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367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" y="744538"/>
            <a:ext cx="6613525" cy="3721100"/>
          </a:xfrm>
          <a:solidFill>
            <a:srgbClr val="FFFFFF"/>
          </a:solidFill>
        </p:spPr>
      </p:sp>
      <p:sp>
        <p:nvSpPr>
          <p:cNvPr id="3676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316" y="4714122"/>
            <a:ext cx="4890457" cy="44680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0648" tIns="45325" rIns="90648" bIns="45325" anchor="t"/>
          <a:lstStyle/>
          <a:p>
            <a:r>
              <a:rPr lang="en-US" altLang="zh-CN"/>
              <a:t>Uses of decoder: </a:t>
            </a:r>
          </a:p>
          <a:p>
            <a:pPr>
              <a:buFontTx/>
              <a:buChar char="•"/>
            </a:pPr>
            <a:r>
              <a:rPr lang="en-US" altLang="zh-CN"/>
              <a:t>convert memory/register address to a control line that selects that location</a:t>
            </a:r>
          </a:p>
          <a:p>
            <a:pPr>
              <a:buFontTx/>
              <a:buChar char="•"/>
            </a:pPr>
            <a:r>
              <a:rPr lang="en-US" altLang="zh-CN"/>
              <a:t>convert an opcode to one of n control lines</a:t>
            </a:r>
          </a:p>
        </p:txBody>
      </p:sp>
    </p:spTree>
    <p:extLst>
      <p:ext uri="{BB962C8B-B14F-4D97-AF65-F5344CB8AC3E}">
        <p14:creationId xmlns:p14="http://schemas.microsoft.com/office/powerpoint/2010/main" val="37665235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7"/>
          <p:cNvSpPr txBox="1">
            <a:spLocks noGrp="1" noChangeArrowheads="1"/>
          </p:cNvSpPr>
          <p:nvPr/>
        </p:nvSpPr>
        <p:spPr bwMode="auto">
          <a:xfrm>
            <a:off x="3778423" y="9428243"/>
            <a:ext cx="2890665" cy="498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9" tIns="47835" rIns="95669" bIns="47835" anchor="b"/>
          <a:lstStyle/>
          <a:p>
            <a:pPr algn="r" defTabSz="954521" eaLnBrk="0" hangingPunct="0"/>
            <a:fld id="{06FD585D-8180-4B87-B40E-D69CA4D90761}" type="slidenum">
              <a:rPr lang="zh-CN" altLang="en-US" sz="1200">
                <a:latin typeface="Garamond" pitchFamily="18" charset="0"/>
              </a:rPr>
              <a:pPr algn="r" defTabSz="954521" eaLnBrk="0" hangingPunct="0"/>
              <a:t>22</a:t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369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" y="744538"/>
            <a:ext cx="6613525" cy="3721100"/>
          </a:xfrm>
          <a:solidFill>
            <a:srgbClr val="FFFFFF"/>
          </a:solidFill>
        </p:spPr>
      </p:sp>
      <p:sp>
        <p:nvSpPr>
          <p:cNvPr id="3696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316" y="4714122"/>
            <a:ext cx="4890457" cy="44680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0648" tIns="45325" rIns="90648" bIns="45325" anchor="t"/>
          <a:lstStyle/>
          <a:p>
            <a:r>
              <a:rPr lang="en-US" altLang="zh-CN"/>
              <a:t>Another view: decode S, and AND each output with one of the MUX inputs.</a:t>
            </a:r>
          </a:p>
          <a:p>
            <a:r>
              <a:rPr lang="en-US" altLang="zh-CN"/>
              <a:t>Also explain multi-bit inputs.</a:t>
            </a:r>
          </a:p>
          <a:p>
            <a:r>
              <a:rPr lang="en-US" altLang="zh-CN"/>
              <a:t>Uses of multiplexer:</a:t>
            </a:r>
          </a:p>
          <a:p>
            <a:pPr>
              <a:buFontTx/>
              <a:buChar char="•"/>
            </a:pPr>
            <a:r>
              <a:rPr lang="en-US" altLang="zh-CN"/>
              <a:t>select which input to use for function</a:t>
            </a:r>
          </a:p>
          <a:p>
            <a:pPr>
              <a:buFontTx/>
              <a:buChar char="•"/>
            </a:pPr>
            <a:r>
              <a:rPr lang="en-US" altLang="zh-CN"/>
              <a:t>select which computed value to pass to next stage (or to place on bus)</a:t>
            </a:r>
          </a:p>
        </p:txBody>
      </p:sp>
    </p:spTree>
    <p:extLst>
      <p:ext uri="{BB962C8B-B14F-4D97-AF65-F5344CB8AC3E}">
        <p14:creationId xmlns:p14="http://schemas.microsoft.com/office/powerpoint/2010/main" val="42116438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7"/>
          <p:cNvSpPr txBox="1">
            <a:spLocks noGrp="1" noChangeArrowheads="1"/>
          </p:cNvSpPr>
          <p:nvPr/>
        </p:nvSpPr>
        <p:spPr bwMode="auto">
          <a:xfrm>
            <a:off x="3778423" y="9428243"/>
            <a:ext cx="2890665" cy="498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9" tIns="47835" rIns="95669" bIns="47835" anchor="b"/>
          <a:lstStyle/>
          <a:p>
            <a:pPr algn="r" defTabSz="954521" eaLnBrk="0" hangingPunct="0"/>
            <a:fld id="{5F43EEE5-5BDE-4896-9766-B996D3456BA8}" type="slidenum">
              <a:rPr lang="zh-CN" altLang="en-US" sz="1200">
                <a:latin typeface="Garamond" pitchFamily="18" charset="0"/>
              </a:rPr>
              <a:pPr algn="r" defTabSz="954521" eaLnBrk="0" hangingPunct="0"/>
              <a:t>24</a:t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371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" y="744538"/>
            <a:ext cx="6613525" cy="3721100"/>
          </a:xfrm>
          <a:solidFill>
            <a:srgbClr val="FFFFFF"/>
          </a:solidFill>
        </p:spPr>
      </p:sp>
      <p:sp>
        <p:nvSpPr>
          <p:cNvPr id="3717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316" y="4714122"/>
            <a:ext cx="4890457" cy="44680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0648" tIns="45325" rIns="90648" bIns="45325" anchor="t"/>
          <a:lstStyle/>
          <a:p>
            <a:r>
              <a:rPr lang="en-US" altLang="zh-CN"/>
              <a:t>A half-adder is one that doesn't take a carry-in.</a:t>
            </a:r>
          </a:p>
          <a:p>
            <a:r>
              <a:rPr lang="en-US" altLang="zh-CN"/>
              <a:t>Sum is one when 1 or 3 inputs are one.  Carry-out is one when 2 or 3 inputs are one.</a:t>
            </a:r>
          </a:p>
        </p:txBody>
      </p:sp>
    </p:spTree>
    <p:extLst>
      <p:ext uri="{BB962C8B-B14F-4D97-AF65-F5344CB8AC3E}">
        <p14:creationId xmlns:p14="http://schemas.microsoft.com/office/powerpoint/2010/main" val="1784669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7"/>
          <p:cNvSpPr txBox="1">
            <a:spLocks noGrp="1" noChangeArrowheads="1"/>
          </p:cNvSpPr>
          <p:nvPr/>
        </p:nvSpPr>
        <p:spPr bwMode="auto">
          <a:xfrm>
            <a:off x="3778423" y="9428243"/>
            <a:ext cx="2890665" cy="498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9" tIns="47835" rIns="95669" bIns="47835" anchor="b"/>
          <a:lstStyle/>
          <a:p>
            <a:pPr algn="r" defTabSz="954521" eaLnBrk="0" hangingPunct="0"/>
            <a:fld id="{6A0480E8-5C4C-4A66-A814-B11D3BE00F3B}" type="slidenum">
              <a:rPr lang="zh-CN" altLang="en-US" sz="1200">
                <a:latin typeface="Garamond" pitchFamily="18" charset="0"/>
              </a:rPr>
              <a:pPr algn="r" defTabSz="954521" eaLnBrk="0" hangingPunct="0"/>
              <a:t>26</a:t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373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" y="744538"/>
            <a:ext cx="6613525" cy="3721100"/>
          </a:xfrm>
          <a:solidFill>
            <a:srgbClr val="FFFFFF"/>
          </a:solidFill>
        </p:spPr>
      </p:sp>
      <p:sp>
        <p:nvSpPr>
          <p:cNvPr id="3737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316" y="4714122"/>
            <a:ext cx="4890457" cy="44680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0648" tIns="45325" rIns="90648" bIns="45325" anchor="t"/>
          <a:lstStyle/>
          <a:p>
            <a:r>
              <a:rPr lang="en-US" altLang="zh-CN"/>
              <a:t>This is called a "ripple-carry" adder.  The sum becomes valid as the carry ripples its way from the low bit to the high bit.  How many gate delays until the output is settled?</a:t>
            </a:r>
          </a:p>
        </p:txBody>
      </p:sp>
    </p:spTree>
    <p:extLst>
      <p:ext uri="{BB962C8B-B14F-4D97-AF65-F5344CB8AC3E}">
        <p14:creationId xmlns:p14="http://schemas.microsoft.com/office/powerpoint/2010/main" val="27388406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7"/>
          <p:cNvSpPr txBox="1">
            <a:spLocks noGrp="1" noChangeArrowheads="1"/>
          </p:cNvSpPr>
          <p:nvPr/>
        </p:nvSpPr>
        <p:spPr bwMode="auto">
          <a:xfrm>
            <a:off x="3778423" y="9428243"/>
            <a:ext cx="2890665" cy="498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9" tIns="47835" rIns="95669" bIns="47835" anchor="b"/>
          <a:lstStyle/>
          <a:p>
            <a:pPr algn="r" defTabSz="954521" eaLnBrk="0" hangingPunct="0"/>
            <a:fld id="{934A8EFE-7398-42D7-AFDD-CD933AEE4F6B}" type="slidenum">
              <a:rPr lang="zh-CN" altLang="en-US" sz="1200">
                <a:latin typeface="Garamond" pitchFamily="18" charset="0"/>
              </a:rPr>
              <a:pPr algn="r" defTabSz="954521" eaLnBrk="0" hangingPunct="0"/>
              <a:t>32</a:t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379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" y="744538"/>
            <a:ext cx="6613525" cy="3721100"/>
          </a:xfrm>
          <a:solidFill>
            <a:srgbClr val="FFFFFF"/>
          </a:solidFill>
        </p:spPr>
      </p:sp>
      <p:sp>
        <p:nvSpPr>
          <p:cNvPr id="3799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316" y="4714122"/>
            <a:ext cx="4890457" cy="44680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0648" tIns="45325" rIns="90648" bIns="45325" anchor="t"/>
          <a:lstStyle/>
          <a:p>
            <a:r>
              <a:rPr lang="en-US" altLang="zh-CN"/>
              <a:t>Setting R to zero forces b (and B) to 1, which forces a (and A) to zero.</a:t>
            </a:r>
          </a:p>
          <a:p>
            <a:r>
              <a:rPr lang="en-US" altLang="zh-CN"/>
              <a:t>This is a stable state, because R=0 and A=0 means b=1.</a:t>
            </a:r>
          </a:p>
          <a:p>
            <a:r>
              <a:rPr lang="en-US" altLang="zh-CN"/>
              <a:t>Bring R back to one then keeps the output at zero.</a:t>
            </a:r>
          </a:p>
          <a:p>
            <a:r>
              <a:rPr lang="en-US" altLang="zh-CN"/>
              <a:t>What is the result if we start with a=0?</a:t>
            </a:r>
          </a:p>
        </p:txBody>
      </p:sp>
    </p:spTree>
    <p:extLst>
      <p:ext uri="{BB962C8B-B14F-4D97-AF65-F5344CB8AC3E}">
        <p14:creationId xmlns:p14="http://schemas.microsoft.com/office/powerpoint/2010/main" val="37077276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7"/>
          <p:cNvSpPr txBox="1">
            <a:spLocks noGrp="1" noChangeArrowheads="1"/>
          </p:cNvSpPr>
          <p:nvPr/>
        </p:nvSpPr>
        <p:spPr bwMode="auto">
          <a:xfrm>
            <a:off x="3778423" y="9428243"/>
            <a:ext cx="2890665" cy="498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9" tIns="47835" rIns="95669" bIns="47835" anchor="b"/>
          <a:lstStyle/>
          <a:p>
            <a:pPr algn="r" defTabSz="954521" eaLnBrk="0" hangingPunct="0"/>
            <a:fld id="{990D89FC-C382-4132-992B-EBAAFD7B40B4}" type="slidenum">
              <a:rPr lang="zh-CN" altLang="en-US" sz="1200">
                <a:latin typeface="Garamond" pitchFamily="18" charset="0"/>
              </a:rPr>
              <a:pPr algn="r" defTabSz="954521" eaLnBrk="0" hangingPunct="0"/>
              <a:t>33</a:t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381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" y="744538"/>
            <a:ext cx="6613525" cy="3721100"/>
          </a:xfrm>
          <a:solidFill>
            <a:srgbClr val="FFFFFF"/>
          </a:solidFill>
        </p:spPr>
      </p:sp>
      <p:sp>
        <p:nvSpPr>
          <p:cNvPr id="3819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316" y="4714122"/>
            <a:ext cx="4890457" cy="44680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0648" tIns="45325" rIns="90648" bIns="45325" anchor="t"/>
          <a:lstStyle/>
          <a:p>
            <a:r>
              <a:rPr lang="en-US" altLang="zh-CN"/>
              <a:t>Setting S to zero forces a (and A) to 1, which forces b (and B) to zero.</a:t>
            </a:r>
          </a:p>
          <a:p>
            <a:r>
              <a:rPr lang="en-US" altLang="zh-CN"/>
              <a:t>This is a stable state, because S=0 and B=0 means a=1.</a:t>
            </a:r>
          </a:p>
          <a:p>
            <a:r>
              <a:rPr lang="en-US" altLang="zh-CN"/>
              <a:t>Bring S back to one then keeps the output at one.</a:t>
            </a:r>
          </a:p>
          <a:p>
            <a:r>
              <a:rPr lang="en-US" altLang="zh-CN"/>
              <a:t>What is the result if we start with a=1?</a:t>
            </a:r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7157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7"/>
          <p:cNvSpPr txBox="1">
            <a:spLocks noGrp="1" noChangeArrowheads="1"/>
          </p:cNvSpPr>
          <p:nvPr/>
        </p:nvSpPr>
        <p:spPr bwMode="auto">
          <a:xfrm>
            <a:off x="3778423" y="9428243"/>
            <a:ext cx="2890665" cy="498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9" tIns="47835" rIns="95669" bIns="47835" anchor="b"/>
          <a:lstStyle/>
          <a:p>
            <a:pPr algn="r" defTabSz="954521" eaLnBrk="0" hangingPunct="0"/>
            <a:fld id="{D5F35D57-7D21-4638-8826-EAF62981FB43}" type="slidenum">
              <a:rPr lang="zh-CN" altLang="en-US" sz="1200">
                <a:latin typeface="Garamond" pitchFamily="18" charset="0"/>
              </a:rPr>
              <a:pPr algn="r" defTabSz="954521" eaLnBrk="0" hangingPunct="0"/>
              <a:t>36</a:t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385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" y="744538"/>
            <a:ext cx="6613525" cy="3721100"/>
          </a:xfrm>
          <a:solidFill>
            <a:srgbClr val="FFFFFF"/>
          </a:solidFill>
        </p:spPr>
      </p:sp>
      <p:sp>
        <p:nvSpPr>
          <p:cNvPr id="385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316" y="4714122"/>
            <a:ext cx="4890457" cy="44680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0648" tIns="45325" rIns="90648" bIns="45325" anchor="t"/>
          <a:lstStyle/>
          <a:p>
            <a:r>
              <a:rPr lang="en-US" altLang="zh-CN"/>
              <a:t>The D-latch is used to store a single data bit.  The latch is set to the value of D whenever WE=1; when WE=0, the current value is stored, no matter what D becomes.</a:t>
            </a:r>
          </a:p>
          <a:p>
            <a:r>
              <a:rPr lang="en-US" altLang="zh-CN"/>
              <a:t>Using D and not(D) to control S and R makes it easier to ensure that S and R are never zero at the same time.  </a:t>
            </a:r>
          </a:p>
          <a:p>
            <a:r>
              <a:rPr lang="en-US" altLang="zh-CN"/>
              <a:t>WE allows us to control when a new value is written to the latch.</a:t>
            </a:r>
          </a:p>
        </p:txBody>
      </p:sp>
    </p:spTree>
    <p:extLst>
      <p:ext uri="{BB962C8B-B14F-4D97-AF65-F5344CB8AC3E}">
        <p14:creationId xmlns:p14="http://schemas.microsoft.com/office/powerpoint/2010/main" val="9549042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7"/>
          <p:cNvSpPr txBox="1">
            <a:spLocks noGrp="1" noChangeArrowheads="1"/>
          </p:cNvSpPr>
          <p:nvPr/>
        </p:nvSpPr>
        <p:spPr bwMode="auto">
          <a:xfrm>
            <a:off x="3778423" y="9428243"/>
            <a:ext cx="2890665" cy="4983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9" tIns="47835" rIns="95669" bIns="47835" anchor="b"/>
          <a:lstStyle/>
          <a:p>
            <a:pPr algn="r" defTabSz="954521" eaLnBrk="0" hangingPunct="0"/>
            <a:fld id="{4D9C7792-34B5-4D04-B847-44F0EC231811}" type="slidenum">
              <a:rPr lang="zh-CN" altLang="en-US" sz="1200">
                <a:latin typeface="Garamond" pitchFamily="18" charset="0"/>
              </a:rPr>
              <a:pPr algn="r" defTabSz="954521" eaLnBrk="0" hangingPunct="0"/>
              <a:t>41</a:t>
            </a:fld>
            <a:endParaRPr lang="en-US" altLang="zh-CN" sz="1200" dirty="0">
              <a:latin typeface="Garamond" pitchFamily="18" charset="0"/>
            </a:endParaRPr>
          </a:p>
        </p:txBody>
      </p:sp>
      <p:sp>
        <p:nvSpPr>
          <p:cNvPr id="390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" y="744538"/>
            <a:ext cx="6613525" cy="3721100"/>
          </a:xfrm>
          <a:solidFill>
            <a:srgbClr val="FFFFFF"/>
          </a:solidFill>
        </p:spPr>
      </p:sp>
      <p:sp>
        <p:nvSpPr>
          <p:cNvPr id="390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89316" y="4714122"/>
            <a:ext cx="4890457" cy="4468099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0648" tIns="45325" rIns="90648" bIns="45325" anchor="t"/>
          <a:lstStyle/>
          <a:p>
            <a:r>
              <a:rPr lang="en-US" altLang="zh-CN"/>
              <a:t>Decoder asserts one of the word select lines, based on address.</a:t>
            </a:r>
          </a:p>
          <a:p>
            <a:r>
              <a:rPr lang="en-US" altLang="zh-CN"/>
              <a:t>Word select activates one of the output AND gates, which drives the selected data to the output OR gate.  (For a read, this is basically a MUX -- decoder ANDed with signals, results ORed together.)</a:t>
            </a:r>
          </a:p>
          <a:p>
            <a:r>
              <a:rPr lang="en-US" altLang="zh-CN"/>
              <a:t>When writing, the only WE bits for the proper word are asserted (based on decoder again).</a:t>
            </a:r>
          </a:p>
        </p:txBody>
      </p:sp>
    </p:spTree>
    <p:extLst>
      <p:ext uri="{BB962C8B-B14F-4D97-AF65-F5344CB8AC3E}">
        <p14:creationId xmlns:p14="http://schemas.microsoft.com/office/powerpoint/2010/main" val="2356346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538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1536"/>
            <a:chExt cx="5675" cy="663"/>
          </a:xfrm>
        </p:grpSpPr>
        <p:grpSp>
          <p:nvGrpSpPr>
            <p:cNvPr id="65539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65540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65541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</p:grpSp>
        <p:grpSp>
          <p:nvGrpSpPr>
            <p:cNvPr id="65542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65543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  <p:sp>
            <p:nvSpPr>
              <p:cNvPr id="65544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</p:grpSp>
        <p:sp>
          <p:nvSpPr>
            <p:cNvPr id="65545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65546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65547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828800"/>
            <a:ext cx="10363200" cy="11430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6555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20800" y="6248400"/>
            <a:ext cx="2540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solidFill>
                  <a:schemeClr val="bg2"/>
                </a:solidFill>
              </a:defRPr>
            </a:lvl1pPr>
          </a:lstStyle>
          <a:p>
            <a:fld id="{69E743CE-D3CF-48A3-8F08-9FC521E31092}" type="datetime3">
              <a:rPr lang="zh-CN" altLang="en-US"/>
              <a:pPr/>
              <a:t>2022年3月13日星期日</a:t>
            </a:fld>
            <a:endParaRPr lang="en-US" altLang="zh-CN" dirty="0"/>
          </a:p>
        </p:txBody>
      </p:sp>
      <p:sp>
        <p:nvSpPr>
          <p:cNvPr id="6555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2000" y="6248400"/>
            <a:ext cx="3860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65552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144000" y="6248400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8B364AD-741B-49FF-AFDA-364EDDF7188E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06400" y="990600"/>
            <a:ext cx="55880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90600"/>
            <a:ext cx="5588000" cy="5562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40800" y="76200"/>
            <a:ext cx="2844800" cy="6477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06400" y="76200"/>
            <a:ext cx="8331200" cy="6477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43618" y="76200"/>
            <a:ext cx="9821333" cy="762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06400" y="990600"/>
            <a:ext cx="5588000" cy="5562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990600"/>
            <a:ext cx="5588000" cy="27051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848100"/>
            <a:ext cx="5588000" cy="27051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28" name="Group 16"/>
          <p:cNvGrpSpPr>
            <a:grpSpLocks/>
          </p:cNvGrpSpPr>
          <p:nvPr userDrawn="1"/>
        </p:nvGrpSpPr>
        <p:grpSpPr bwMode="auto">
          <a:xfrm>
            <a:off x="192618" y="152401"/>
            <a:ext cx="11389783" cy="944563"/>
            <a:chOff x="91" y="173"/>
            <a:chExt cx="5381" cy="595"/>
          </a:xfrm>
        </p:grpSpPr>
        <p:sp>
          <p:nvSpPr>
            <p:cNvPr id="64514" name="Rectangle 2"/>
            <p:cNvSpPr>
              <a:spLocks noChangeArrowheads="1"/>
            </p:cNvSpPr>
            <p:nvPr userDrawn="1"/>
          </p:nvSpPr>
          <p:spPr bwMode="ltGray">
            <a:xfrm>
              <a:off x="274" y="173"/>
              <a:ext cx="276" cy="29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4515" name="Rectangle 3"/>
            <p:cNvSpPr>
              <a:spLocks noChangeArrowheads="1"/>
            </p:cNvSpPr>
            <p:nvPr userDrawn="1"/>
          </p:nvSpPr>
          <p:spPr bwMode="ltGray">
            <a:xfrm>
              <a:off x="515" y="173"/>
              <a:ext cx="207" cy="299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4516" name="Rectangle 4"/>
            <p:cNvSpPr>
              <a:spLocks noChangeArrowheads="1"/>
            </p:cNvSpPr>
            <p:nvPr userDrawn="1"/>
          </p:nvSpPr>
          <p:spPr bwMode="ltGray">
            <a:xfrm>
              <a:off x="352" y="439"/>
              <a:ext cx="266" cy="29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4517" name="Rectangle 5"/>
            <p:cNvSpPr>
              <a:spLocks noChangeArrowheads="1"/>
            </p:cNvSpPr>
            <p:nvPr userDrawn="1"/>
          </p:nvSpPr>
          <p:spPr bwMode="ltGray">
            <a:xfrm>
              <a:off x="585" y="439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4518" name="Rectangle 6"/>
            <p:cNvSpPr>
              <a:spLocks noChangeArrowheads="1"/>
            </p:cNvSpPr>
            <p:nvPr userDrawn="1"/>
          </p:nvSpPr>
          <p:spPr bwMode="ltGray">
            <a:xfrm>
              <a:off x="91" y="393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4519" name="Rectangle 7"/>
            <p:cNvSpPr>
              <a:spLocks noChangeArrowheads="1"/>
            </p:cNvSpPr>
            <p:nvPr userDrawn="1"/>
          </p:nvSpPr>
          <p:spPr bwMode="gray">
            <a:xfrm>
              <a:off x="491" y="174"/>
              <a:ext cx="20" cy="594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zh-CN" altLang="en-US" sz="2400"/>
            </a:p>
          </p:txBody>
        </p:sp>
        <p:sp>
          <p:nvSpPr>
            <p:cNvPr id="64520" name="Rectangle 8"/>
            <p:cNvSpPr>
              <a:spLocks noChangeArrowheads="1"/>
            </p:cNvSpPr>
            <p:nvPr userDrawn="1"/>
          </p:nvSpPr>
          <p:spPr bwMode="gray">
            <a:xfrm>
              <a:off x="290" y="603"/>
              <a:ext cx="5182" cy="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6452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843618" y="76200"/>
            <a:ext cx="9821333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452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990600"/>
            <a:ext cx="11379200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4527" name="Text Box 15"/>
          <p:cNvSpPr txBox="1">
            <a:spLocks noChangeArrowheads="1"/>
          </p:cNvSpPr>
          <p:nvPr userDrawn="1"/>
        </p:nvSpPr>
        <p:spPr bwMode="auto">
          <a:xfrm>
            <a:off x="304800" y="207964"/>
            <a:ext cx="1422400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彩云" pitchFamily="2" charset="-122"/>
              </a:rPr>
              <a:t>计算机</a:t>
            </a:r>
          </a:p>
          <a:p>
            <a:pPr algn="ctr">
              <a:spcBef>
                <a:spcPct val="20000"/>
              </a:spcBef>
            </a:pPr>
            <a:r>
              <a:rPr lang="zh-CN" altLang="en-US" sz="160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华文彩云" pitchFamily="2" charset="-122"/>
              </a:rPr>
              <a:t>系统概述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4000">
          <a:solidFill>
            <a:srgbClr val="FF9900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4000">
          <a:solidFill>
            <a:srgbClr val="FF9900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华文琥珀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kumimoji="1" sz="4000">
          <a:solidFill>
            <a:srgbClr val="FF9900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华文琥珀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kumimoji="1" sz="4000">
          <a:solidFill>
            <a:srgbClr val="FF9900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华文琥珀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kumimoji="1" sz="4000">
          <a:solidFill>
            <a:srgbClr val="FF9900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华文琥珀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>
          <a:solidFill>
            <a:srgbClr val="FF9900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华文琥珀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>
          <a:solidFill>
            <a:srgbClr val="FF9900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华文琥珀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>
          <a:solidFill>
            <a:srgbClr val="FF9900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华文琥珀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>
          <a:solidFill>
            <a:srgbClr val="FF9900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ea typeface="华文琥珀" pitchFamily="2" charset="-122"/>
        </a:defRPr>
      </a:lvl9pPr>
    </p:titleStyle>
    <p:bodyStyle>
      <a:lvl1pPr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defRPr kumimoji="1" sz="3200" b="1">
          <a:solidFill>
            <a:schemeClr val="tx1"/>
          </a:solidFill>
          <a:latin typeface="+mn-lt"/>
          <a:ea typeface="+mn-ea"/>
          <a:cs typeface="+mn-cs"/>
        </a:defRPr>
      </a:lvl1pPr>
      <a:lvl2pPr marL="860425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defRPr kumimoji="1" sz="2800">
          <a:solidFill>
            <a:schemeClr val="tx1"/>
          </a:solidFill>
          <a:latin typeface="+mn-lt"/>
          <a:ea typeface="宋体" pitchFamily="2" charset="-122"/>
        </a:defRPr>
      </a:lvl2pPr>
      <a:lvl3pPr marL="1279525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defRPr kumimoji="1" sz="2400">
          <a:solidFill>
            <a:schemeClr val="tx1"/>
          </a:solidFill>
          <a:latin typeface="+mn-lt"/>
          <a:ea typeface="宋体" pitchFamily="2" charset="-122"/>
        </a:defRPr>
      </a:lvl3pPr>
      <a:lvl4pPr marL="1698625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defRPr kumimoji="1" sz="2000">
          <a:solidFill>
            <a:schemeClr val="tx1"/>
          </a:solidFill>
          <a:latin typeface="+mn-lt"/>
          <a:ea typeface="宋体" pitchFamily="2" charset="-122"/>
        </a:defRPr>
      </a:lvl4pPr>
      <a:lvl5pPr marL="2117725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defRPr kumimoji="1" sz="2000">
          <a:solidFill>
            <a:schemeClr val="tx1"/>
          </a:solidFill>
          <a:latin typeface="+mn-lt"/>
          <a:ea typeface="宋体" pitchFamily="2" charset="-122"/>
        </a:defRPr>
      </a:lvl5pPr>
      <a:lvl6pPr marL="2574925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defRPr kumimoji="1" sz="2000">
          <a:solidFill>
            <a:schemeClr val="tx1"/>
          </a:solidFill>
          <a:latin typeface="+mn-lt"/>
          <a:ea typeface="宋体" pitchFamily="2" charset="-122"/>
        </a:defRPr>
      </a:lvl6pPr>
      <a:lvl7pPr marL="3032125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defRPr kumimoji="1" sz="2000">
          <a:solidFill>
            <a:schemeClr val="tx1"/>
          </a:solidFill>
          <a:latin typeface="+mn-lt"/>
          <a:ea typeface="宋体" pitchFamily="2" charset="-122"/>
        </a:defRPr>
      </a:lvl7pPr>
      <a:lvl8pPr marL="3489325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defRPr kumimoji="1" sz="2000">
          <a:solidFill>
            <a:schemeClr val="tx1"/>
          </a:solidFill>
          <a:latin typeface="+mn-lt"/>
          <a:ea typeface="宋体" pitchFamily="2" charset="-122"/>
        </a:defRPr>
      </a:lvl8pPr>
      <a:lvl9pPr marL="3946525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defRPr kumimoji="1" sz="2000">
          <a:solidFill>
            <a:schemeClr val="tx1"/>
          </a:solidFill>
          <a:latin typeface="+mn-lt"/>
          <a:ea typeface="宋体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oleObject" Target="../embeddings/oleObject5.bin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20.wmf"/><Relationship Id="rId12" Type="http://schemas.openxmlformats.org/officeDocument/2006/relationships/image" Target="../media/image24.jpe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22.wmf"/><Relationship Id="rId5" Type="http://schemas.openxmlformats.org/officeDocument/2006/relationships/image" Target="../media/image19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21.wmf"/><Relationship Id="rId14" Type="http://schemas.openxmlformats.org/officeDocument/2006/relationships/image" Target="../media/image23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7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9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40.w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41.wmf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 shadeToTitle="1">
        <a:gradFill rotWithShape="0">
          <a:gsLst>
            <a:gs pos="0">
              <a:srgbClr val="FFCC66"/>
            </a:gs>
            <a:gs pos="100000">
              <a:srgbClr val="FFCC66">
                <a:gamma/>
                <a:shade val="56078"/>
                <a:invGamma/>
              </a:srgbClr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WordArt 2"/>
          <p:cNvSpPr>
            <a:spLocks noChangeArrowheads="1" noChangeShapeType="1" noTextEdit="1"/>
          </p:cNvSpPr>
          <p:nvPr/>
        </p:nvSpPr>
        <p:spPr bwMode="auto">
          <a:xfrm>
            <a:off x="3863976" y="2492375"/>
            <a:ext cx="5328369" cy="2232769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PerspectiveBottom">
                <a:rot lat="1200000" lon="0" rev="0"/>
              </a:camera>
              <a:lightRig rig="legacyFlat2" dir="t"/>
            </a:scene3d>
            <a:sp3d extrusionH="608000" prstMaterial="legacyPlastic">
              <a:extrusionClr>
                <a:srgbClr val="FF0000"/>
              </a:extrusionClr>
            </a:sp3d>
          </a:bodyPr>
          <a:lstStyle/>
          <a:p>
            <a:pPr algn="ctr"/>
            <a:r>
              <a:rPr lang="zh-CN" altLang="en-US" sz="8000" b="1" kern="10" dirty="0">
                <a:ln w="9525">
                  <a:round/>
                  <a:headEnd/>
                  <a:tailEnd/>
                </a:ln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第三章</a:t>
            </a:r>
          </a:p>
          <a:p>
            <a:pPr algn="ctr"/>
            <a:r>
              <a:rPr lang="zh-CN" altLang="en-US" sz="8000" b="1" kern="10" dirty="0">
                <a:ln w="9525">
                  <a:round/>
                  <a:headEnd/>
                  <a:tailEnd/>
                </a:ln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数字逻辑</a:t>
            </a:r>
          </a:p>
        </p:txBody>
      </p:sp>
    </p:spTree>
  </p:cSld>
  <p:clrMapOvr>
    <a:masterClrMapping/>
  </p:clrMapOvr>
  <p:transition spd="slow"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927351" y="76200"/>
            <a:ext cx="6537325" cy="762000"/>
          </a:xfrm>
        </p:spPr>
        <p:txBody>
          <a:bodyPr/>
          <a:lstStyle/>
          <a:p>
            <a:pPr algn="ctr"/>
            <a:r>
              <a:rPr lang="zh-CN" altLang="en-US" dirty="0">
                <a:latin typeface="华文琥珀" pitchFamily="2" charset="-122"/>
              </a:rPr>
              <a:t>第二章复习</a:t>
            </a:r>
          </a:p>
        </p:txBody>
      </p:sp>
      <p:sp>
        <p:nvSpPr>
          <p:cNvPr id="133166" name="Text Box 46"/>
          <p:cNvSpPr txBox="1">
            <a:spLocks noChangeArrowheads="1"/>
          </p:cNvSpPr>
          <p:nvPr/>
        </p:nvSpPr>
        <p:spPr bwMode="auto">
          <a:xfrm>
            <a:off x="2207568" y="1196753"/>
            <a:ext cx="8064896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CN" altLang="en-US" sz="3200" b="1" dirty="0">
                <a:latin typeface="隶书" pitchFamily="49" charset="-122"/>
                <a:ea typeface="隶书" pitchFamily="49" charset="-122"/>
              </a:rPr>
              <a:t>计算机中数据的表示</a:t>
            </a:r>
            <a:endParaRPr lang="en-US" altLang="zh-CN" sz="3200" b="1" dirty="0">
              <a:latin typeface="隶书" pitchFamily="49" charset="-122"/>
              <a:ea typeface="隶书" pitchFamily="49" charset="-122"/>
            </a:endParaRPr>
          </a:p>
          <a:p>
            <a:pPr lvl="1"/>
            <a:r>
              <a:rPr lang="en-US" altLang="zh-CN" sz="3200" b="1" dirty="0">
                <a:latin typeface="隶书" pitchFamily="49" charset="-122"/>
                <a:ea typeface="隶书" pitchFamily="49" charset="-122"/>
              </a:rPr>
              <a:t>1</a:t>
            </a:r>
            <a:r>
              <a:rPr lang="zh-CN" altLang="en-US" sz="3200" b="1" dirty="0">
                <a:latin typeface="隶书" pitchFamily="49" charset="-122"/>
                <a:ea typeface="隶书" pitchFamily="49" charset="-122"/>
              </a:rPr>
              <a:t>、</a:t>
            </a:r>
            <a:r>
              <a:rPr lang="en-US" altLang="zh-CN" sz="3200" b="1" dirty="0">
                <a:latin typeface="隶书" pitchFamily="49" charset="-122"/>
                <a:ea typeface="隶书" pitchFamily="49" charset="-122"/>
              </a:rPr>
              <a:t> </a:t>
            </a:r>
            <a:r>
              <a:rPr lang="en-US" altLang="zh-CN" sz="3200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bits:</a:t>
            </a:r>
            <a:r>
              <a:rPr lang="en-US" altLang="zh-CN" sz="3200" b="1" dirty="0">
                <a:latin typeface="隶书" pitchFamily="49" charset="-122"/>
                <a:ea typeface="隶书" pitchFamily="49" charset="-122"/>
              </a:rPr>
              <a:t>0/1</a:t>
            </a:r>
            <a:endParaRPr lang="en-US" altLang="zh-CN" sz="3200" b="1" dirty="0">
              <a:solidFill>
                <a:srgbClr val="FF3300"/>
              </a:solidFill>
              <a:latin typeface="隶书" pitchFamily="49" charset="-122"/>
              <a:ea typeface="隶书" pitchFamily="49" charset="-122"/>
            </a:endParaRPr>
          </a:p>
          <a:p>
            <a:pPr lvl="1"/>
            <a:r>
              <a:rPr lang="en-US" altLang="zh-CN" sz="3200" b="1" dirty="0">
                <a:latin typeface="隶书" pitchFamily="49" charset="-122"/>
                <a:ea typeface="隶书" pitchFamily="49" charset="-122"/>
              </a:rPr>
              <a:t>2</a:t>
            </a:r>
            <a:r>
              <a:rPr lang="zh-CN" altLang="en-US" sz="3200" b="1" dirty="0">
                <a:latin typeface="隶书" pitchFamily="49" charset="-122"/>
                <a:ea typeface="隶书" pitchFamily="49" charset="-122"/>
              </a:rPr>
              <a:t>、 数据类型</a:t>
            </a:r>
            <a:endParaRPr lang="en-US" altLang="zh-CN" sz="3200" b="1" dirty="0">
              <a:latin typeface="隶书" pitchFamily="49" charset="-122"/>
              <a:ea typeface="隶书" pitchFamily="49" charset="-122"/>
            </a:endParaRPr>
          </a:p>
          <a:p>
            <a:pPr lvl="1"/>
            <a:r>
              <a:rPr lang="en-US" altLang="zh-CN" sz="3200" b="1" dirty="0">
                <a:latin typeface="隶书" pitchFamily="49" charset="-122"/>
                <a:ea typeface="隶书" pitchFamily="49" charset="-122"/>
              </a:rPr>
              <a:t>3</a:t>
            </a:r>
            <a:r>
              <a:rPr lang="zh-CN" altLang="en-US" sz="3200" b="1" dirty="0">
                <a:latin typeface="隶书" pitchFamily="49" charset="-122"/>
                <a:ea typeface="隶书" pitchFamily="49" charset="-122"/>
              </a:rPr>
              <a:t>、 算术、逻辑操作</a:t>
            </a:r>
            <a:endParaRPr lang="en-US" altLang="zh-CN" sz="3200" b="1" dirty="0">
              <a:latin typeface="隶书" pitchFamily="49" charset="-122"/>
              <a:ea typeface="隶书" pitchFamily="49" charset="-122"/>
            </a:endParaRPr>
          </a:p>
          <a:p>
            <a:pPr lvl="1"/>
            <a:r>
              <a:rPr lang="en-US" altLang="zh-CN" sz="3200" b="1" dirty="0">
                <a:latin typeface="隶书" pitchFamily="49" charset="-122"/>
                <a:ea typeface="隶书" pitchFamily="49" charset="-122"/>
              </a:rPr>
              <a:t>4</a:t>
            </a:r>
            <a:r>
              <a:rPr lang="zh-CN" altLang="en-US" sz="3200" b="1" dirty="0">
                <a:latin typeface="隶书" pitchFamily="49" charset="-122"/>
                <a:ea typeface="隶书" pitchFamily="49" charset="-122"/>
              </a:rPr>
              <a:t>、 进制转换</a:t>
            </a:r>
          </a:p>
        </p:txBody>
      </p:sp>
      <p:pic>
        <p:nvPicPr>
          <p:cNvPr id="7" name="Picture 4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64425" y="4437063"/>
            <a:ext cx="2520950" cy="193675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3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3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3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927351" y="76200"/>
            <a:ext cx="6537325" cy="762000"/>
          </a:xfrm>
        </p:spPr>
        <p:txBody>
          <a:bodyPr/>
          <a:lstStyle/>
          <a:p>
            <a:pPr algn="ctr"/>
            <a:r>
              <a:rPr lang="zh-CN" altLang="en-US" dirty="0">
                <a:latin typeface="华文琥珀" pitchFamily="2" charset="-122"/>
              </a:rPr>
              <a:t>第三章内容</a:t>
            </a:r>
          </a:p>
        </p:txBody>
      </p:sp>
      <p:sp>
        <p:nvSpPr>
          <p:cNvPr id="133166" name="Text Box 46"/>
          <p:cNvSpPr txBox="1">
            <a:spLocks noChangeArrowheads="1"/>
          </p:cNvSpPr>
          <p:nvPr/>
        </p:nvSpPr>
        <p:spPr bwMode="auto">
          <a:xfrm>
            <a:off x="1703512" y="1268760"/>
            <a:ext cx="8964488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altLang="zh-CN" sz="3200" b="1" dirty="0">
                <a:latin typeface="隶书" pitchFamily="49" charset="-122"/>
                <a:ea typeface="隶书" pitchFamily="49" charset="-122"/>
              </a:rPr>
              <a:t>3.1 </a:t>
            </a:r>
            <a:r>
              <a:rPr lang="en-US" altLang="zh-CN" sz="3200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MOS</a:t>
            </a:r>
            <a:r>
              <a:rPr lang="zh-CN" altLang="en-US" sz="3200" b="1" dirty="0">
                <a:latin typeface="隶书" pitchFamily="49" charset="-122"/>
                <a:ea typeface="隶书" pitchFamily="49" charset="-122"/>
              </a:rPr>
              <a:t>晶体管</a:t>
            </a:r>
            <a:endParaRPr lang="en-US" altLang="zh-CN" sz="3200" b="1" dirty="0">
              <a:latin typeface="隶书" pitchFamily="49" charset="-122"/>
              <a:ea typeface="隶书" pitchFamily="49" charset="-122"/>
            </a:endParaRPr>
          </a:p>
          <a:p>
            <a:r>
              <a:rPr lang="en-US" altLang="zh-CN" sz="3200" b="1" dirty="0">
                <a:latin typeface="隶书" pitchFamily="49" charset="-122"/>
                <a:ea typeface="隶书" pitchFamily="49" charset="-122"/>
              </a:rPr>
              <a:t>3.2 </a:t>
            </a:r>
            <a:r>
              <a:rPr lang="zh-CN" altLang="en-US" sz="3200" b="1" dirty="0">
                <a:latin typeface="隶书" pitchFamily="49" charset="-122"/>
                <a:ea typeface="隶书" pitchFamily="49" charset="-122"/>
              </a:rPr>
              <a:t>逻辑门</a:t>
            </a:r>
            <a:endParaRPr lang="en-US" altLang="zh-CN" sz="3200" b="1" dirty="0">
              <a:latin typeface="隶书" pitchFamily="49" charset="-122"/>
              <a:ea typeface="隶书" pitchFamily="49" charset="-122"/>
            </a:endParaRPr>
          </a:p>
          <a:p>
            <a:r>
              <a:rPr lang="en-US" altLang="zh-CN" sz="3200" b="1" dirty="0">
                <a:latin typeface="隶书" pitchFamily="49" charset="-122"/>
                <a:ea typeface="隶书" pitchFamily="49" charset="-122"/>
              </a:rPr>
              <a:t>3.3 </a:t>
            </a:r>
            <a:r>
              <a:rPr lang="zh-CN" altLang="en-US" sz="3200" b="1" dirty="0">
                <a:latin typeface="隶书" pitchFamily="49" charset="-122"/>
                <a:ea typeface="隶书" pitchFamily="49" charset="-122"/>
              </a:rPr>
              <a:t>组合逻辑</a:t>
            </a:r>
            <a:endParaRPr lang="en-US" altLang="zh-CN" sz="3200" b="1" dirty="0">
              <a:latin typeface="隶书" pitchFamily="49" charset="-122"/>
              <a:ea typeface="隶书" pitchFamily="49" charset="-122"/>
            </a:endParaRPr>
          </a:p>
          <a:p>
            <a:r>
              <a:rPr lang="en-US" altLang="zh-CN" sz="3200" b="1" dirty="0">
                <a:latin typeface="隶书" pitchFamily="49" charset="-122"/>
                <a:ea typeface="隶书" pitchFamily="49" charset="-122"/>
              </a:rPr>
              <a:t>3.4 </a:t>
            </a:r>
            <a:r>
              <a:rPr lang="zh-CN" altLang="en-US" sz="3200" b="1" dirty="0">
                <a:latin typeface="隶书" pitchFamily="49" charset="-122"/>
                <a:ea typeface="隶书" pitchFamily="49" charset="-122"/>
              </a:rPr>
              <a:t>存储单元</a:t>
            </a:r>
            <a:endParaRPr lang="en-US" altLang="zh-CN" sz="3200" b="1" dirty="0">
              <a:latin typeface="隶书" pitchFamily="49" charset="-122"/>
              <a:ea typeface="隶书" pitchFamily="49" charset="-122"/>
            </a:endParaRPr>
          </a:p>
          <a:p>
            <a:r>
              <a:rPr lang="en-US" altLang="zh-CN" sz="3200" b="1" dirty="0">
                <a:latin typeface="隶书" pitchFamily="49" charset="-122"/>
                <a:ea typeface="隶书" pitchFamily="49" charset="-122"/>
              </a:rPr>
              <a:t>3.5 </a:t>
            </a:r>
            <a:r>
              <a:rPr lang="zh-CN" altLang="en-US" sz="3200" b="1" dirty="0">
                <a:latin typeface="隶书" pitchFamily="49" charset="-122"/>
                <a:ea typeface="隶书" pitchFamily="49" charset="-122"/>
              </a:rPr>
              <a:t>内存的概念</a:t>
            </a:r>
            <a:endParaRPr lang="en-US" altLang="zh-CN" sz="3200" b="1" dirty="0">
              <a:latin typeface="隶书" pitchFamily="49" charset="-122"/>
              <a:ea typeface="隶书" pitchFamily="49" charset="-122"/>
            </a:endParaRPr>
          </a:p>
          <a:p>
            <a:r>
              <a:rPr lang="en-US" altLang="zh-CN" sz="3200" b="1" dirty="0">
                <a:latin typeface="隶书" pitchFamily="49" charset="-122"/>
                <a:ea typeface="隶书" pitchFamily="49" charset="-122"/>
              </a:rPr>
              <a:t>3.6 </a:t>
            </a:r>
            <a:r>
              <a:rPr lang="zh-CN" altLang="en-US" sz="3200" b="1" dirty="0">
                <a:latin typeface="隶书" pitchFamily="49" charset="-122"/>
                <a:ea typeface="隶书" pitchFamily="49" charset="-122"/>
              </a:rPr>
              <a:t>时序电路</a:t>
            </a:r>
            <a:endParaRPr lang="en-US" altLang="zh-CN" sz="3200" b="1" dirty="0">
              <a:latin typeface="隶书" pitchFamily="49" charset="-122"/>
              <a:ea typeface="隶书" pitchFamily="49" charset="-122"/>
            </a:endParaRPr>
          </a:p>
          <a:p>
            <a:r>
              <a:rPr lang="en-US" altLang="zh-CN" sz="3200" b="1" dirty="0">
                <a:latin typeface="隶书" pitchFamily="49" charset="-122"/>
                <a:ea typeface="隶书" pitchFamily="49" charset="-122"/>
              </a:rPr>
              <a:t>3.7 </a:t>
            </a:r>
            <a:r>
              <a:rPr lang="en-US" altLang="zh-CN" sz="3200" b="1" dirty="0"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LC</a:t>
            </a:r>
            <a:r>
              <a:rPr lang="en-US" altLang="zh-CN" sz="3200" b="1" dirty="0">
                <a:latin typeface="隶书" pitchFamily="49" charset="-122"/>
                <a:ea typeface="隶书" pitchFamily="49" charset="-122"/>
              </a:rPr>
              <a:t>-3</a:t>
            </a:r>
            <a:r>
              <a:rPr lang="zh-CN" altLang="en-US" sz="3200" b="1" dirty="0">
                <a:latin typeface="隶书" pitchFamily="49" charset="-122"/>
                <a:ea typeface="隶书" pitchFamily="49" charset="-122"/>
              </a:rPr>
              <a:t>计算机的数据通路</a:t>
            </a:r>
            <a:endParaRPr lang="en-US" altLang="zh-CN" sz="3200" b="1" dirty="0">
              <a:latin typeface="隶书" pitchFamily="49" charset="-122"/>
              <a:ea typeface="隶书" pitchFamily="49" charset="-122"/>
            </a:endParaRPr>
          </a:p>
          <a:p>
            <a:pPr lvl="1"/>
            <a:endParaRPr lang="en-US" altLang="zh-CN" dirty="0"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133167" name="Picture 4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64425" y="4437063"/>
            <a:ext cx="2520950" cy="1936750"/>
          </a:xfrm>
          <a:prstGeom prst="rect">
            <a:avLst/>
          </a:prstGeom>
          <a:noFill/>
        </p:spPr>
      </p:pic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3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3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3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31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31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33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33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6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1" name="Rectangle 9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3.1 </a:t>
            </a:r>
            <a:r>
              <a:rPr lang="en-US" altLang="zh-CN" dirty="0">
                <a:latin typeface="Times New Roman" pitchFamily="18" charset="0"/>
                <a:ea typeface="宋体" charset="-122"/>
                <a:cs typeface="Times New Roman" pitchFamily="18" charset="0"/>
              </a:rPr>
              <a:t>MOS</a:t>
            </a:r>
            <a:r>
              <a:rPr lang="zh-CN" altLang="en-US" dirty="0">
                <a:ea typeface="宋体" charset="-122"/>
              </a:rPr>
              <a:t>晶体管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334852" name="Rectangle 10"/>
          <p:cNvSpPr>
            <a:spLocks noGrp="1" noChangeArrowheads="1"/>
          </p:cNvSpPr>
          <p:nvPr>
            <p:ph type="body" idx="4294967295"/>
          </p:nvPr>
        </p:nvSpPr>
        <p:spPr>
          <a:xfrm>
            <a:off x="6384032" y="1412776"/>
            <a:ext cx="4110038" cy="4104456"/>
          </a:xfrm>
        </p:spPr>
        <p:txBody>
          <a:bodyPr/>
          <a:lstStyle/>
          <a:p>
            <a:r>
              <a:rPr lang="en-US" altLang="zh-CN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Switch </a:t>
            </a:r>
            <a:r>
              <a:rPr lang="en-US" altLang="zh-CN" sz="2800" dirty="0">
                <a:solidFill>
                  <a:srgbClr val="CE00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open</a:t>
            </a:r>
            <a:r>
              <a:rPr lang="en-US" altLang="zh-CN" sz="2800" dirty="0">
                <a:ea typeface="宋体" charset="-122"/>
              </a:rPr>
              <a:t>:</a:t>
            </a:r>
          </a:p>
          <a:p>
            <a:pPr marL="576263" lvl="1" indent="-234950"/>
            <a:r>
              <a:rPr lang="zh-CN" altLang="en-US" sz="2400" dirty="0"/>
              <a:t>断路</a:t>
            </a:r>
            <a:endParaRPr lang="en-US" altLang="zh-CN" sz="2400" dirty="0"/>
          </a:p>
          <a:p>
            <a:pPr marL="576263" lvl="1" indent="-234950"/>
            <a:r>
              <a:rPr lang="zh-CN" altLang="en-US" sz="2400" dirty="0"/>
              <a:t>灯泡： </a:t>
            </a:r>
            <a:r>
              <a:rPr lang="en-US" altLang="zh-CN" sz="2400" dirty="0">
                <a:solidFill>
                  <a:srgbClr val="CE0000"/>
                </a:solidFill>
                <a:latin typeface="Times New Roman" pitchFamily="18" charset="0"/>
                <a:cs typeface="Times New Roman" pitchFamily="18" charset="0"/>
              </a:rPr>
              <a:t>off</a:t>
            </a:r>
          </a:p>
          <a:p>
            <a:pPr marL="576263" lvl="1" indent="-234950"/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out</a:t>
            </a:r>
            <a:r>
              <a:rPr lang="en-US" altLang="zh-CN" sz="2400" dirty="0"/>
              <a:t> </a:t>
            </a:r>
            <a:r>
              <a:rPr lang="zh-CN" altLang="en-US" sz="2400" dirty="0"/>
              <a:t>：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CE0000"/>
                </a:solidFill>
              </a:rPr>
              <a:t>+2.9V</a:t>
            </a:r>
          </a:p>
          <a:p>
            <a:endParaRPr lang="en-US" altLang="zh-CN" sz="1200" dirty="0">
              <a:ea typeface="宋体" charset="-122"/>
            </a:endParaRPr>
          </a:p>
          <a:p>
            <a:r>
              <a:rPr lang="en-US" altLang="zh-CN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Switch </a:t>
            </a:r>
            <a:r>
              <a:rPr lang="en-US" altLang="zh-CN" sz="2800" dirty="0">
                <a:solidFill>
                  <a:srgbClr val="0099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closed</a:t>
            </a:r>
            <a:r>
              <a:rPr lang="en-US" altLang="zh-CN" sz="2800" dirty="0">
                <a:ea typeface="宋体" charset="-122"/>
              </a:rPr>
              <a:t>:</a:t>
            </a:r>
          </a:p>
          <a:p>
            <a:pPr marL="576263" lvl="1" indent="-234950"/>
            <a:r>
              <a:rPr lang="zh-CN" altLang="en-US" sz="2400" dirty="0"/>
              <a:t>通路</a:t>
            </a:r>
            <a:endParaRPr lang="en-US" altLang="zh-CN" sz="2400" dirty="0"/>
          </a:p>
          <a:p>
            <a:pPr marL="576263" lvl="1" indent="-234950"/>
            <a:r>
              <a:rPr lang="zh-CN" altLang="en-US" sz="2400" dirty="0"/>
              <a:t>灯泡：</a:t>
            </a:r>
            <a:r>
              <a:rPr lang="en-US" altLang="zh-CN" sz="2400" dirty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on</a:t>
            </a:r>
          </a:p>
          <a:p>
            <a:pPr marL="576263" lvl="1" indent="-234950"/>
            <a:r>
              <a:rPr lang="en-US" altLang="zh-CN" sz="2400" dirty="0" err="1"/>
              <a:t>V</a:t>
            </a:r>
            <a:r>
              <a:rPr lang="en-US" altLang="zh-CN" sz="2400" baseline="-25000" dirty="0" err="1"/>
              <a:t>out</a:t>
            </a:r>
            <a:r>
              <a:rPr lang="en-US" altLang="zh-CN" sz="2400" dirty="0"/>
              <a:t> </a:t>
            </a:r>
            <a:r>
              <a:rPr lang="zh-CN" altLang="en-US" sz="2400" dirty="0"/>
              <a:t>：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009900"/>
                </a:solidFill>
              </a:rPr>
              <a:t>0V</a:t>
            </a:r>
          </a:p>
        </p:txBody>
      </p:sp>
      <p:pic>
        <p:nvPicPr>
          <p:cNvPr id="334853" name="Picture 11" descr="ch03-ligh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52600" y="2116833"/>
            <a:ext cx="4343400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2729042" y="1412777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简单开关电路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latin typeface="Times New Roman" pitchFamily="18" charset="0"/>
                <a:ea typeface="宋体" charset="-122"/>
                <a:cs typeface="Times New Roman" pitchFamily="18" charset="0"/>
              </a:rPr>
              <a:t>N</a:t>
            </a:r>
            <a:r>
              <a:rPr lang="zh-CN" altLang="en-US" dirty="0">
                <a:ea typeface="宋体" charset="-122"/>
              </a:rPr>
              <a:t>型</a:t>
            </a:r>
            <a:r>
              <a:rPr lang="en-US" altLang="zh-CN" dirty="0">
                <a:latin typeface="Times New Roman" pitchFamily="18" charset="0"/>
                <a:ea typeface="宋体" charset="-122"/>
                <a:cs typeface="Times New Roman" pitchFamily="18" charset="0"/>
              </a:rPr>
              <a:t>MOS</a:t>
            </a:r>
            <a:r>
              <a:rPr lang="zh-CN" altLang="en-US" dirty="0">
                <a:ea typeface="宋体" charset="-122"/>
              </a:rPr>
              <a:t>晶体管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33690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z="2400" dirty="0">
                <a:latin typeface="Times New Roman" pitchFamily="18" charset="0"/>
                <a:ea typeface="宋体" charset="-122"/>
                <a:cs typeface="Times New Roman" pitchFamily="18" charset="0"/>
              </a:rPr>
              <a:t>MOS </a:t>
            </a:r>
            <a:r>
              <a:rPr lang="zh-CN" altLang="en-US" sz="2400" dirty="0">
                <a:latin typeface="Times New Roman" pitchFamily="18" charset="0"/>
                <a:ea typeface="宋体" charset="-122"/>
                <a:cs typeface="Times New Roman" pitchFamily="18" charset="0"/>
              </a:rPr>
              <a:t>：</a:t>
            </a:r>
            <a:r>
              <a:rPr lang="en-US" altLang="zh-CN" sz="2400" dirty="0">
                <a:latin typeface="Times New Roman" pitchFamily="18" charset="0"/>
                <a:ea typeface="宋体" charset="-122"/>
                <a:cs typeface="Times New Roman" pitchFamily="18" charset="0"/>
              </a:rPr>
              <a:t>Metal Oxide Semiconductor</a:t>
            </a:r>
            <a:endParaRPr lang="en-US" altLang="zh-CN" sz="2800" dirty="0"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pPr marL="576263" lvl="1" indent="-234950"/>
            <a:r>
              <a:rPr lang="zh-CN" altLang="en-US" sz="2400" dirty="0">
                <a:ea typeface="宋体" charset="-122"/>
              </a:rPr>
              <a:t>金属氧化物半导体，</a:t>
            </a:r>
            <a:r>
              <a:rPr lang="zh-CN" altLang="en-US" sz="2400" dirty="0"/>
              <a:t>分为</a:t>
            </a:r>
            <a:r>
              <a:rPr lang="en-US" altLang="zh-CN" sz="2400" dirty="0"/>
              <a:t>N</a:t>
            </a:r>
            <a:r>
              <a:rPr lang="zh-CN" altLang="en-US" sz="2400" dirty="0"/>
              <a:t>型和</a:t>
            </a:r>
            <a:r>
              <a:rPr lang="en-US" altLang="zh-CN" sz="2400" dirty="0"/>
              <a:t>P</a:t>
            </a:r>
            <a:r>
              <a:rPr lang="zh-CN" altLang="en-US" sz="2400" dirty="0"/>
              <a:t>型。</a:t>
            </a:r>
            <a:endParaRPr lang="en-US" altLang="zh-CN" sz="2400" dirty="0"/>
          </a:p>
          <a:p>
            <a:r>
              <a:rPr lang="en-US" altLang="zh-CN" sz="2800" dirty="0">
                <a:solidFill>
                  <a:srgbClr val="FF33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N</a:t>
            </a:r>
            <a:r>
              <a:rPr lang="zh-CN" altLang="en-US" sz="2800" dirty="0">
                <a:solidFill>
                  <a:srgbClr val="FF3300"/>
                </a:solidFill>
                <a:ea typeface="宋体" charset="-122"/>
              </a:rPr>
              <a:t>型</a:t>
            </a:r>
            <a:endParaRPr lang="en-US" altLang="zh-CN" sz="2800" dirty="0">
              <a:solidFill>
                <a:srgbClr val="FF3300"/>
              </a:solidFill>
              <a:ea typeface="宋体" charset="-122"/>
            </a:endParaRPr>
          </a:p>
          <a:p>
            <a:pPr marL="576263" lvl="1" indent="-234950"/>
            <a:r>
              <a:rPr lang="zh-CN" altLang="en-US" sz="2400" dirty="0"/>
              <a:t>栅极为</a:t>
            </a:r>
            <a:r>
              <a:rPr lang="zh-CN" altLang="en-US" sz="2400" u="sng" dirty="0">
                <a:solidFill>
                  <a:srgbClr val="009900"/>
                </a:solidFill>
              </a:rPr>
              <a:t>高电平</a:t>
            </a:r>
            <a:r>
              <a:rPr lang="en-US" altLang="zh-CN" sz="2400" dirty="0"/>
              <a:t>, #1-#2</a:t>
            </a:r>
            <a:r>
              <a:rPr lang="zh-CN" altLang="en-US" sz="2400" dirty="0"/>
              <a:t>通路，</a:t>
            </a:r>
            <a:br>
              <a:rPr lang="en-US" altLang="zh-CN" sz="2400" dirty="0"/>
            </a:b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(switch </a:t>
            </a:r>
            <a:r>
              <a:rPr lang="en-US" altLang="zh-CN" sz="2400" u="sng" dirty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closed</a:t>
            </a:r>
            <a:r>
              <a:rPr lang="en-US" altLang="zh-CN" sz="2400" dirty="0"/>
              <a:t>)</a:t>
            </a:r>
          </a:p>
          <a:p>
            <a:pPr marL="576263" lvl="1" indent="-234950"/>
            <a:r>
              <a:rPr lang="zh-CN" altLang="en-US" sz="2400" dirty="0"/>
              <a:t>栅极为</a:t>
            </a:r>
            <a:r>
              <a:rPr lang="zh-CN" altLang="en-US" sz="2400" u="sng" dirty="0">
                <a:solidFill>
                  <a:srgbClr val="009900"/>
                </a:solidFill>
              </a:rPr>
              <a:t>低电平</a:t>
            </a:r>
            <a:r>
              <a:rPr lang="en-US" altLang="zh-CN" sz="2400" dirty="0"/>
              <a:t>, #1-#2</a:t>
            </a:r>
            <a:r>
              <a:rPr lang="zh-CN" altLang="en-US" sz="2400" dirty="0"/>
              <a:t>断路，</a:t>
            </a:r>
            <a:br>
              <a:rPr lang="en-US" altLang="zh-CN" sz="2400" dirty="0"/>
            </a:br>
            <a:r>
              <a:rPr lang="en-US" altLang="zh-CN" sz="2400" dirty="0"/>
              <a:t>(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switch </a:t>
            </a:r>
            <a:r>
              <a:rPr lang="en-US" altLang="zh-CN" sz="2400" u="sng" dirty="0">
                <a:solidFill>
                  <a:srgbClr val="CE0000"/>
                </a:solidFill>
                <a:latin typeface="Times New Roman" pitchFamily="18" charset="0"/>
                <a:cs typeface="Times New Roman" pitchFamily="18" charset="0"/>
              </a:rPr>
              <a:t>open</a:t>
            </a:r>
            <a:r>
              <a:rPr lang="en-US" altLang="zh-CN" sz="2400" dirty="0"/>
              <a:t>)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4511824" y="1981200"/>
            <a:ext cx="5638800" cy="4267200"/>
            <a:chOff x="3253680" y="1981200"/>
            <a:chExt cx="5638800" cy="4267200"/>
          </a:xfrm>
        </p:grpSpPr>
        <p:sp>
          <p:nvSpPr>
            <p:cNvPr id="336901" name="Oval 9"/>
            <p:cNvSpPr>
              <a:spLocks noChangeArrowheads="1"/>
            </p:cNvSpPr>
            <p:nvPr/>
          </p:nvSpPr>
          <p:spPr bwMode="auto">
            <a:xfrm>
              <a:off x="7901880" y="1981200"/>
              <a:ext cx="990600" cy="17526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zh-CN" altLang="en-US"/>
            </a:p>
          </p:txBody>
        </p:sp>
        <p:sp>
          <p:nvSpPr>
            <p:cNvPr id="336902" name="Oval 11"/>
            <p:cNvSpPr>
              <a:spLocks noChangeArrowheads="1"/>
            </p:cNvSpPr>
            <p:nvPr/>
          </p:nvSpPr>
          <p:spPr bwMode="auto">
            <a:xfrm>
              <a:off x="7901880" y="4267200"/>
              <a:ext cx="990600" cy="17526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zh-CN" altLang="en-US"/>
            </a:p>
          </p:txBody>
        </p:sp>
        <p:sp>
          <p:nvSpPr>
            <p:cNvPr id="336903" name="Line 16"/>
            <p:cNvSpPr>
              <a:spLocks noChangeShapeType="1"/>
            </p:cNvSpPr>
            <p:nvPr/>
          </p:nvSpPr>
          <p:spPr bwMode="auto">
            <a:xfrm flipV="1">
              <a:off x="5844480" y="3200400"/>
              <a:ext cx="2057400" cy="137160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904" name="Text Box 14"/>
            <p:cNvSpPr txBox="1">
              <a:spLocks noChangeArrowheads="1"/>
            </p:cNvSpPr>
            <p:nvPr/>
          </p:nvSpPr>
          <p:spPr bwMode="auto">
            <a:xfrm>
              <a:off x="6066730" y="3733800"/>
              <a:ext cx="1319213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i="1" dirty="0">
                  <a:latin typeface="Franklin Gothic Book" pitchFamily="34" charset="0"/>
                </a:rPr>
                <a:t>Gate = 1</a:t>
              </a:r>
            </a:p>
          </p:txBody>
        </p:sp>
        <p:sp>
          <p:nvSpPr>
            <p:cNvPr id="336905" name="Line 17"/>
            <p:cNvSpPr>
              <a:spLocks noChangeShapeType="1"/>
            </p:cNvSpPr>
            <p:nvPr/>
          </p:nvSpPr>
          <p:spPr bwMode="auto">
            <a:xfrm>
              <a:off x="6149280" y="5029200"/>
              <a:ext cx="1752600" cy="15240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 type="stealth" w="med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6906" name="Text Box 18"/>
            <p:cNvSpPr txBox="1">
              <a:spLocks noChangeArrowheads="1"/>
            </p:cNvSpPr>
            <p:nvPr/>
          </p:nvSpPr>
          <p:spPr bwMode="auto">
            <a:xfrm>
              <a:off x="6377880" y="5334000"/>
              <a:ext cx="1319213" cy="4667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i="1">
                  <a:latin typeface="Franklin Gothic Book" pitchFamily="34" charset="0"/>
                </a:rPr>
                <a:t>Gate = 0</a:t>
              </a:r>
            </a:p>
          </p:txBody>
        </p:sp>
        <p:pic>
          <p:nvPicPr>
            <p:cNvPr id="336907" name="Picture 20" descr="ch03-nmos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558480" y="4495800"/>
              <a:ext cx="1987550" cy="15827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36908" name="Oval 8"/>
            <p:cNvSpPr>
              <a:spLocks noChangeArrowheads="1"/>
            </p:cNvSpPr>
            <p:nvPr/>
          </p:nvSpPr>
          <p:spPr bwMode="auto">
            <a:xfrm>
              <a:off x="3253680" y="4267200"/>
              <a:ext cx="2895600" cy="19812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zh-CN" altLang="en-US"/>
            </a:p>
          </p:txBody>
        </p:sp>
        <p:pic>
          <p:nvPicPr>
            <p:cNvPr id="336909" name="Picture 22" descr="ch03-open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8282880" y="4343400"/>
              <a:ext cx="338138" cy="15255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336910" name="Picture 23" descr="ch03-closed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8282880" y="2057400"/>
              <a:ext cx="219075" cy="15636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1" name="Rectangle 3074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latin typeface="Times New Roman" pitchFamily="18" charset="0"/>
                <a:ea typeface="宋体" charset="-122"/>
                <a:cs typeface="Times New Roman" pitchFamily="18" charset="0"/>
              </a:rPr>
              <a:t>P</a:t>
            </a:r>
            <a:r>
              <a:rPr lang="zh-CN" altLang="en-US" dirty="0">
                <a:ea typeface="宋体" charset="-122"/>
              </a:rPr>
              <a:t>型</a:t>
            </a:r>
            <a:r>
              <a:rPr lang="en-US" altLang="zh-CN" dirty="0">
                <a:latin typeface="Times New Roman" pitchFamily="18" charset="0"/>
                <a:ea typeface="宋体" charset="-122"/>
                <a:cs typeface="Times New Roman" pitchFamily="18" charset="0"/>
              </a:rPr>
              <a:t>MOS</a:t>
            </a:r>
            <a:r>
              <a:rPr lang="zh-CN" altLang="en-US" dirty="0">
                <a:ea typeface="宋体" charset="-122"/>
              </a:rPr>
              <a:t>晶体管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339972" name="Rectangle 3075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z="2800" dirty="0">
                <a:solidFill>
                  <a:srgbClr val="FF33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P</a:t>
            </a:r>
            <a:r>
              <a:rPr lang="zh-CN" altLang="en-US" sz="2800" dirty="0">
                <a:solidFill>
                  <a:srgbClr val="FF3300"/>
                </a:solidFill>
                <a:ea typeface="宋体" charset="-122"/>
              </a:rPr>
              <a:t>型</a:t>
            </a:r>
            <a:r>
              <a:rPr lang="zh-CN" altLang="en-US" sz="2800" dirty="0">
                <a:ea typeface="宋体" charset="-122"/>
              </a:rPr>
              <a:t>与</a:t>
            </a:r>
            <a:r>
              <a:rPr lang="en-US" altLang="zh-CN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N</a:t>
            </a:r>
            <a:r>
              <a:rPr lang="zh-CN" altLang="en-US" sz="2800" dirty="0">
                <a:ea typeface="宋体" charset="-122"/>
              </a:rPr>
              <a:t>型工作机制完全相反</a:t>
            </a:r>
            <a:endParaRPr lang="en-US" altLang="zh-CN" sz="2800" dirty="0">
              <a:ea typeface="宋体" charset="-122"/>
            </a:endParaRPr>
          </a:p>
          <a:p>
            <a:pPr marL="576263" lvl="1" indent="-234950"/>
            <a:endParaRPr lang="en-US" altLang="zh-CN" sz="2400" dirty="0"/>
          </a:p>
          <a:p>
            <a:pPr marL="576263" lvl="1" indent="-234950"/>
            <a:r>
              <a:rPr lang="zh-CN" altLang="en-US" sz="2400" dirty="0"/>
              <a:t>栅极为</a:t>
            </a:r>
            <a:r>
              <a:rPr lang="zh-CN" altLang="en-US" sz="2400" u="sng" dirty="0">
                <a:solidFill>
                  <a:srgbClr val="009900"/>
                </a:solidFill>
              </a:rPr>
              <a:t>高电平</a:t>
            </a:r>
            <a:r>
              <a:rPr lang="en-US" altLang="zh-CN" sz="2400" dirty="0"/>
              <a:t>, #1-#2</a:t>
            </a:r>
            <a:r>
              <a:rPr lang="zh-CN" altLang="en-US" sz="2400" dirty="0"/>
              <a:t>断路，</a:t>
            </a:r>
            <a:br>
              <a:rPr lang="en-US" altLang="zh-CN" sz="2400" dirty="0"/>
            </a:br>
            <a:r>
              <a:rPr lang="en-US" altLang="zh-CN" sz="2400" dirty="0"/>
              <a:t>(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switch </a:t>
            </a:r>
            <a:r>
              <a:rPr lang="en-US" altLang="zh-CN" sz="2400" u="sng" dirty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open</a:t>
            </a:r>
            <a:r>
              <a:rPr lang="en-US" altLang="zh-CN" sz="2400" dirty="0"/>
              <a:t>)</a:t>
            </a:r>
          </a:p>
          <a:p>
            <a:pPr marL="576263" lvl="1" indent="-234950"/>
            <a:r>
              <a:rPr lang="zh-CN" altLang="en-US" sz="2400" dirty="0"/>
              <a:t>栅极为</a:t>
            </a:r>
            <a:r>
              <a:rPr lang="zh-CN" altLang="en-US" sz="2400" u="sng" dirty="0">
                <a:solidFill>
                  <a:srgbClr val="009900"/>
                </a:solidFill>
              </a:rPr>
              <a:t>低电平</a:t>
            </a:r>
            <a:r>
              <a:rPr lang="en-US" altLang="zh-CN" sz="2400" dirty="0"/>
              <a:t>, #1-#2</a:t>
            </a:r>
            <a:r>
              <a:rPr lang="zh-CN" altLang="en-US" sz="2400" dirty="0"/>
              <a:t>通路，</a:t>
            </a:r>
            <a:br>
              <a:rPr lang="en-US" altLang="zh-CN" sz="2400" dirty="0"/>
            </a:br>
            <a:r>
              <a:rPr lang="en-US" altLang="zh-CN" sz="2400" dirty="0"/>
              <a:t>(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switch </a:t>
            </a:r>
            <a:r>
              <a:rPr lang="en-US" altLang="zh-CN" sz="2400" u="sng" dirty="0">
                <a:solidFill>
                  <a:srgbClr val="CE0000"/>
                </a:solidFill>
                <a:latin typeface="Times New Roman" pitchFamily="18" charset="0"/>
                <a:cs typeface="Times New Roman" pitchFamily="18" charset="0"/>
              </a:rPr>
              <a:t>closed</a:t>
            </a:r>
            <a:r>
              <a:rPr lang="en-US" altLang="zh-CN" sz="2400" dirty="0"/>
              <a:t>)</a:t>
            </a:r>
          </a:p>
        </p:txBody>
      </p:sp>
      <p:sp>
        <p:nvSpPr>
          <p:cNvPr id="339973" name="Oval 3076"/>
          <p:cNvSpPr>
            <a:spLocks noChangeArrowheads="1"/>
          </p:cNvSpPr>
          <p:nvPr/>
        </p:nvSpPr>
        <p:spPr bwMode="auto">
          <a:xfrm>
            <a:off x="8915400" y="1981200"/>
            <a:ext cx="990600" cy="1752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/>
          </a:p>
        </p:txBody>
      </p:sp>
      <p:sp>
        <p:nvSpPr>
          <p:cNvPr id="339974" name="Line 3078"/>
          <p:cNvSpPr>
            <a:spLocks noChangeShapeType="1"/>
          </p:cNvSpPr>
          <p:nvPr/>
        </p:nvSpPr>
        <p:spPr bwMode="auto">
          <a:xfrm flipV="1">
            <a:off x="6858000" y="3200400"/>
            <a:ext cx="2057400" cy="13716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9975" name="Text Box 3079"/>
          <p:cNvSpPr txBox="1">
            <a:spLocks noChangeArrowheads="1"/>
          </p:cNvSpPr>
          <p:nvPr/>
        </p:nvSpPr>
        <p:spPr bwMode="auto">
          <a:xfrm>
            <a:off x="7080251" y="3733801"/>
            <a:ext cx="1319213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i="1">
                <a:latin typeface="Franklin Gothic Book" pitchFamily="34" charset="0"/>
              </a:rPr>
              <a:t>Gate = 1</a:t>
            </a:r>
          </a:p>
        </p:txBody>
      </p:sp>
      <p:sp>
        <p:nvSpPr>
          <p:cNvPr id="339976" name="Line 3080"/>
          <p:cNvSpPr>
            <a:spLocks noChangeShapeType="1"/>
          </p:cNvSpPr>
          <p:nvPr/>
        </p:nvSpPr>
        <p:spPr bwMode="auto">
          <a:xfrm>
            <a:off x="7162800" y="5029200"/>
            <a:ext cx="1752600" cy="152400"/>
          </a:xfrm>
          <a:prstGeom prst="line">
            <a:avLst/>
          </a:prstGeom>
          <a:noFill/>
          <a:ln w="76200">
            <a:solidFill>
              <a:schemeClr val="folHlink"/>
            </a:solidFill>
            <a:round/>
            <a:headEnd/>
            <a:tailEnd type="stealth" w="med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9977" name="Text Box 3081"/>
          <p:cNvSpPr txBox="1">
            <a:spLocks noChangeArrowheads="1"/>
          </p:cNvSpPr>
          <p:nvPr/>
        </p:nvSpPr>
        <p:spPr bwMode="auto">
          <a:xfrm>
            <a:off x="7391401" y="5334001"/>
            <a:ext cx="1319213" cy="46672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i="1">
                <a:latin typeface="Franklin Gothic Book" pitchFamily="34" charset="0"/>
              </a:rPr>
              <a:t>Gate = 0</a:t>
            </a:r>
          </a:p>
        </p:txBody>
      </p:sp>
      <p:sp>
        <p:nvSpPr>
          <p:cNvPr id="339978" name="Oval 3077"/>
          <p:cNvSpPr>
            <a:spLocks noChangeArrowheads="1"/>
          </p:cNvSpPr>
          <p:nvPr/>
        </p:nvSpPr>
        <p:spPr bwMode="auto">
          <a:xfrm>
            <a:off x="8915400" y="4267200"/>
            <a:ext cx="990600" cy="1752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/>
          </a:p>
        </p:txBody>
      </p:sp>
      <p:pic>
        <p:nvPicPr>
          <p:cNvPr id="339979" name="Picture 3084" descr="ch03-open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296400" y="2057400"/>
            <a:ext cx="338138" cy="1525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9980" name="Picture 3085" descr="ch03-closed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296401" y="4343400"/>
            <a:ext cx="219075" cy="1563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39982" name="Picture 3088" descr="ch03-pmos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48201" y="4419601"/>
            <a:ext cx="1884363" cy="169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9983" name="Oval 3083"/>
          <p:cNvSpPr>
            <a:spLocks noChangeArrowheads="1"/>
          </p:cNvSpPr>
          <p:nvPr/>
        </p:nvSpPr>
        <p:spPr bwMode="auto">
          <a:xfrm>
            <a:off x="4267200" y="4267200"/>
            <a:ext cx="2895600" cy="1981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3.2</a:t>
            </a:r>
            <a:r>
              <a:rPr lang="zh-CN" altLang="en-US" dirty="0">
                <a:ea typeface="宋体" charset="-122"/>
              </a:rPr>
              <a:t>逻辑门</a:t>
            </a:r>
          </a:p>
        </p:txBody>
      </p:sp>
      <p:sp>
        <p:nvSpPr>
          <p:cNvPr id="410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solidFill>
                  <a:srgbClr val="FF33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Complementary</a:t>
            </a:r>
            <a:r>
              <a:rPr lang="en-US" altLang="zh-CN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 MOS(CMOS)</a:t>
            </a:r>
            <a:r>
              <a:rPr lang="zh-CN" altLang="en-US" sz="2800" dirty="0">
                <a:ea typeface="宋体" charset="-122"/>
              </a:rPr>
              <a:t>：</a:t>
            </a:r>
            <a:endParaRPr lang="en-US" altLang="zh-CN" sz="2800" dirty="0">
              <a:ea typeface="宋体" charset="-122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>
                <a:ea typeface="宋体" charset="-122"/>
              </a:rPr>
              <a:t>                     </a:t>
            </a:r>
            <a:r>
              <a:rPr lang="zh-CN" altLang="en-US" sz="2800" dirty="0">
                <a:ea typeface="宋体" charset="-122"/>
              </a:rPr>
              <a:t>同时使用</a:t>
            </a:r>
            <a:r>
              <a:rPr lang="en-US" altLang="zh-CN" sz="2800" dirty="0">
                <a:solidFill>
                  <a:srgbClr val="FF33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N</a:t>
            </a:r>
            <a:r>
              <a:rPr lang="zh-CN" altLang="en-US" sz="2800" dirty="0">
                <a:solidFill>
                  <a:srgbClr val="FF3300"/>
                </a:solidFill>
                <a:ea typeface="宋体" charset="-122"/>
              </a:rPr>
              <a:t>型</a:t>
            </a:r>
            <a:r>
              <a:rPr lang="zh-CN" altLang="en-US" sz="2800" dirty="0">
                <a:ea typeface="宋体" charset="-122"/>
              </a:rPr>
              <a:t>和</a:t>
            </a:r>
            <a:r>
              <a:rPr lang="en-US" altLang="zh-CN" sz="2800" dirty="0">
                <a:solidFill>
                  <a:srgbClr val="FF3300"/>
                </a:solidFill>
                <a:latin typeface="Times New Roman" pitchFamily="18" charset="0"/>
                <a:ea typeface="宋体" charset="-122"/>
                <a:cs typeface="Times New Roman" pitchFamily="18" charset="0"/>
              </a:rPr>
              <a:t>P</a:t>
            </a:r>
            <a:r>
              <a:rPr lang="zh-CN" altLang="en-US" sz="2800" dirty="0">
                <a:solidFill>
                  <a:srgbClr val="FF3300"/>
                </a:solidFill>
                <a:ea typeface="宋体" charset="-122"/>
              </a:rPr>
              <a:t>型</a:t>
            </a:r>
            <a:r>
              <a:rPr lang="en-US" altLang="zh-CN" sz="2800" dirty="0">
                <a:ea typeface="宋体" charset="-122"/>
              </a:rPr>
              <a:t> </a:t>
            </a:r>
            <a:r>
              <a:rPr lang="en-US" altLang="zh-CN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MOS</a:t>
            </a:r>
            <a:r>
              <a:rPr lang="zh-CN" altLang="en-US" sz="2800" dirty="0">
                <a:ea typeface="宋体" charset="-122"/>
              </a:rPr>
              <a:t>晶体管</a:t>
            </a:r>
            <a:endParaRPr lang="en-US" altLang="zh-CN" sz="2800" dirty="0">
              <a:ea typeface="宋体" charset="-122"/>
            </a:endParaRPr>
          </a:p>
          <a:p>
            <a:pPr>
              <a:lnSpc>
                <a:spcPct val="90000"/>
              </a:lnSpc>
            </a:pPr>
            <a:endParaRPr lang="en-US" altLang="zh-CN" sz="2800" dirty="0">
              <a:ea typeface="宋体" charset="-122"/>
            </a:endParaRPr>
          </a:p>
          <a:p>
            <a:pPr>
              <a:lnSpc>
                <a:spcPct val="90000"/>
              </a:lnSpc>
            </a:pPr>
            <a:r>
              <a:rPr lang="zh-CN" altLang="en-US" sz="2800" dirty="0">
                <a:ea typeface="宋体" charset="-122"/>
              </a:rPr>
              <a:t>使用</a:t>
            </a:r>
            <a:r>
              <a:rPr lang="en-US" altLang="zh-CN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CMOS</a:t>
            </a:r>
            <a:r>
              <a:rPr lang="zh-CN" altLang="en-US" sz="2800" dirty="0">
                <a:ea typeface="宋体" charset="-122"/>
              </a:rPr>
              <a:t>实现逻辑门电路</a:t>
            </a:r>
            <a:r>
              <a:rPr lang="en-US" altLang="zh-CN" sz="2800" dirty="0">
                <a:ea typeface="宋体" charset="-122"/>
              </a:rPr>
              <a:t>: </a:t>
            </a:r>
            <a:r>
              <a:rPr lang="en-US" altLang="zh-CN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AND, OR, NOT</a:t>
            </a:r>
            <a:r>
              <a:rPr lang="en-US" altLang="zh-CN" dirty="0">
                <a:latin typeface="Times New Roman" pitchFamily="18" charset="0"/>
                <a:ea typeface="宋体" charset="-122"/>
                <a:cs typeface="Times New Roman" pitchFamily="18" charset="0"/>
              </a:rPr>
              <a:t>.</a:t>
            </a:r>
          </a:p>
          <a:p>
            <a:pPr>
              <a:lnSpc>
                <a:spcPct val="90000"/>
              </a:lnSpc>
            </a:pPr>
            <a:endParaRPr lang="en-US" altLang="zh-CN" dirty="0">
              <a:ea typeface="宋体" charset="-122"/>
            </a:endParaRP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410628" name="Picture 5" descr="ch03-digital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75521" y="4005065"/>
            <a:ext cx="8662987" cy="97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919536" y="3284985"/>
            <a:ext cx="69669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模拟信号与数字信号的转换（以</a:t>
            </a:r>
            <a:r>
              <a:rPr lang="en-US" altLang="zh-CN" dirty="0">
                <a:latin typeface="Times New Roman" pitchFamily="18" charset="0"/>
                <a:cs typeface="Times New Roman" pitchFamily="18" charset="0"/>
              </a:rPr>
              <a:t>MOS</a:t>
            </a:r>
            <a:r>
              <a:rPr lang="zh-CN" altLang="en-US" dirty="0"/>
              <a:t>电路为例）：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非门</a:t>
            </a:r>
            <a:r>
              <a:rPr lang="en-US" altLang="zh-CN" dirty="0">
                <a:ea typeface="宋体" charset="-122"/>
              </a:rPr>
              <a:t>(</a:t>
            </a:r>
            <a:r>
              <a:rPr lang="en-US" altLang="zh-CN" dirty="0">
                <a:latin typeface="Times New Roman" pitchFamily="18" charset="0"/>
                <a:ea typeface="宋体" charset="-122"/>
                <a:cs typeface="Times New Roman" pitchFamily="18" charset="0"/>
              </a:rPr>
              <a:t>NOT Gate</a:t>
            </a:r>
            <a:r>
              <a:rPr lang="en-US" altLang="zh-CN" dirty="0">
                <a:ea typeface="宋体" charset="-122"/>
              </a:rPr>
              <a:t>)</a:t>
            </a:r>
          </a:p>
        </p:txBody>
      </p:sp>
      <p:graphicFrame>
        <p:nvGraphicFramePr>
          <p:cNvPr id="46129" name="Group 49"/>
          <p:cNvGraphicFramePr>
            <a:graphicFrameLocks noGrp="1"/>
          </p:cNvGraphicFramePr>
          <p:nvPr/>
        </p:nvGraphicFramePr>
        <p:xfrm>
          <a:off x="2057400" y="4724400"/>
          <a:ext cx="1676400" cy="1295400"/>
        </p:xfrm>
        <a:graphic>
          <a:graphicData uri="http://schemas.openxmlformats.org/drawingml/2006/table">
            <a:tbl>
              <a:tblPr/>
              <a:tblGrid>
                <a:gridCol w="83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In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Out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 V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2.9 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2.9 V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 V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6130" name="Group 50"/>
          <p:cNvGraphicFramePr>
            <a:graphicFrameLocks noGrp="1"/>
          </p:cNvGraphicFramePr>
          <p:nvPr/>
        </p:nvGraphicFramePr>
        <p:xfrm>
          <a:off x="4191000" y="4724400"/>
          <a:ext cx="1524000" cy="12954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In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Out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44086" name="Picture 70" descr="ch03-no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24114" y="1412875"/>
            <a:ext cx="2936875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4087" name="Picture 71" descr="ch03-not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81801" y="990601"/>
            <a:ext cx="2714625" cy="2405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4088" name="Picture 72" descr="ch03-not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781801" y="3962400"/>
            <a:ext cx="2714625" cy="2389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44089" name="Text Box 73"/>
          <p:cNvSpPr txBox="1">
            <a:spLocks noChangeArrowheads="1"/>
          </p:cNvSpPr>
          <p:nvPr/>
        </p:nvSpPr>
        <p:spPr bwMode="auto">
          <a:xfrm>
            <a:off x="5410200" y="3733801"/>
            <a:ext cx="16510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i="1" dirty="0"/>
              <a:t>Truth table</a:t>
            </a:r>
          </a:p>
        </p:txBody>
      </p:sp>
      <p:sp>
        <p:nvSpPr>
          <p:cNvPr id="344090" name="Line 74"/>
          <p:cNvSpPr>
            <a:spLocks noChangeShapeType="1"/>
          </p:cNvSpPr>
          <p:nvPr/>
        </p:nvSpPr>
        <p:spPr bwMode="auto">
          <a:xfrm flipH="1">
            <a:off x="5410200" y="41910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4091" name="Text Box 27"/>
          <p:cNvSpPr txBox="1">
            <a:spLocks noChangeArrowheads="1"/>
          </p:cNvSpPr>
          <p:nvPr/>
        </p:nvSpPr>
        <p:spPr bwMode="auto">
          <a:xfrm>
            <a:off x="4295776" y="1196976"/>
            <a:ext cx="88036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b="1"/>
              <a:t>2.9V</a:t>
            </a:r>
          </a:p>
        </p:txBody>
      </p:sp>
      <p:sp>
        <p:nvSpPr>
          <p:cNvPr id="344092" name="Text Box 28"/>
          <p:cNvSpPr txBox="1">
            <a:spLocks noChangeArrowheads="1"/>
          </p:cNvSpPr>
          <p:nvPr/>
        </p:nvSpPr>
        <p:spPr bwMode="auto">
          <a:xfrm>
            <a:off x="4367214" y="4076701"/>
            <a:ext cx="58862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b="1"/>
              <a:t>0V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或非门</a:t>
            </a:r>
            <a:r>
              <a:rPr lang="en-US" altLang="zh-CN" dirty="0">
                <a:ea typeface="宋体" charset="-122"/>
              </a:rPr>
              <a:t>(</a:t>
            </a:r>
            <a:r>
              <a:rPr lang="en-US" altLang="zh-CN" dirty="0">
                <a:latin typeface="Times New Roman" pitchFamily="18" charset="0"/>
                <a:ea typeface="宋体" charset="-122"/>
                <a:cs typeface="Times New Roman" pitchFamily="18" charset="0"/>
              </a:rPr>
              <a:t>NOR Gate</a:t>
            </a:r>
            <a:r>
              <a:rPr lang="en-US" altLang="zh-CN" dirty="0">
                <a:ea typeface="宋体" charset="-122"/>
              </a:rPr>
              <a:t>)</a:t>
            </a:r>
          </a:p>
        </p:txBody>
      </p:sp>
      <p:graphicFrame>
        <p:nvGraphicFramePr>
          <p:cNvPr id="48212" name="Group 84"/>
          <p:cNvGraphicFramePr>
            <a:graphicFrameLocks noGrp="1"/>
          </p:cNvGraphicFramePr>
          <p:nvPr/>
        </p:nvGraphicFramePr>
        <p:xfrm>
          <a:off x="7162800" y="4114800"/>
          <a:ext cx="1676400" cy="22098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A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B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46134" name="Picture 88" descr="ch03-nor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892870"/>
            <a:ext cx="3124200" cy="282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6135" name="Picture 89" descr="ch03-nor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33600" y="1524000"/>
            <a:ext cx="3887788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或门</a:t>
            </a:r>
            <a:r>
              <a:rPr lang="en-US" altLang="zh-CN" dirty="0">
                <a:ea typeface="宋体" charset="-122"/>
              </a:rPr>
              <a:t>(</a:t>
            </a:r>
            <a:r>
              <a:rPr lang="en-US" altLang="zh-CN" dirty="0">
                <a:latin typeface="Times New Roman" pitchFamily="18" charset="0"/>
                <a:ea typeface="宋体" charset="-122"/>
                <a:cs typeface="Times New Roman" pitchFamily="18" charset="0"/>
              </a:rPr>
              <a:t>OR Gate</a:t>
            </a:r>
            <a:r>
              <a:rPr lang="en-US" altLang="zh-CN" dirty="0">
                <a:ea typeface="宋体" charset="-122"/>
              </a:rPr>
              <a:t>)</a:t>
            </a:r>
          </a:p>
        </p:txBody>
      </p:sp>
      <p:pic>
        <p:nvPicPr>
          <p:cNvPr id="348165" name="Picture 8" descr="ch03-o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19289" y="1341438"/>
            <a:ext cx="5241925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0185" name="Group 9"/>
          <p:cNvGraphicFramePr>
            <a:graphicFrameLocks noGrp="1"/>
          </p:cNvGraphicFramePr>
          <p:nvPr/>
        </p:nvGraphicFramePr>
        <p:xfrm>
          <a:off x="8305800" y="1006475"/>
          <a:ext cx="1676400" cy="22098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A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B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与非门</a:t>
            </a:r>
            <a:r>
              <a:rPr lang="en-US" altLang="zh-CN" dirty="0">
                <a:ea typeface="宋体" charset="-122"/>
              </a:rPr>
              <a:t>(</a:t>
            </a:r>
            <a:r>
              <a:rPr lang="en-US" altLang="zh-CN" dirty="0">
                <a:latin typeface="Times New Roman" pitchFamily="18" charset="0"/>
                <a:ea typeface="宋体" charset="-122"/>
                <a:cs typeface="Times New Roman" pitchFamily="18" charset="0"/>
              </a:rPr>
              <a:t>NAND Gate</a:t>
            </a:r>
            <a:r>
              <a:rPr lang="en-US" altLang="zh-CN" dirty="0">
                <a:ea typeface="宋体" charset="-122"/>
              </a:rPr>
              <a:t>)</a:t>
            </a:r>
          </a:p>
        </p:txBody>
      </p:sp>
      <p:graphicFrame>
        <p:nvGraphicFramePr>
          <p:cNvPr id="51205" name="Group 5"/>
          <p:cNvGraphicFramePr>
            <a:graphicFrameLocks noGrp="1"/>
          </p:cNvGraphicFramePr>
          <p:nvPr/>
        </p:nvGraphicFramePr>
        <p:xfrm>
          <a:off x="7467600" y="4114800"/>
          <a:ext cx="1676400" cy="22098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A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B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49206" name="Picture 71" descr="ch03-nand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1447800"/>
            <a:ext cx="3810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9208" name="Picture 73" descr="ch03-nand-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53201" y="957064"/>
            <a:ext cx="3286125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与门</a:t>
            </a:r>
            <a:r>
              <a:rPr lang="en-US" altLang="zh-CN" dirty="0">
                <a:ea typeface="宋体" charset="-122"/>
              </a:rPr>
              <a:t>(</a:t>
            </a:r>
            <a:r>
              <a:rPr lang="en-US" altLang="zh-CN" dirty="0">
                <a:latin typeface="Times New Roman" pitchFamily="18" charset="0"/>
                <a:ea typeface="宋体" charset="-122"/>
                <a:cs typeface="Times New Roman" pitchFamily="18" charset="0"/>
              </a:rPr>
              <a:t>AND Gate</a:t>
            </a:r>
            <a:r>
              <a:rPr lang="en-US" altLang="zh-CN" dirty="0">
                <a:ea typeface="宋体" charset="-122"/>
              </a:rPr>
              <a:t>)</a:t>
            </a:r>
          </a:p>
        </p:txBody>
      </p:sp>
      <p:graphicFrame>
        <p:nvGraphicFramePr>
          <p:cNvPr id="104453" name="Group 5"/>
          <p:cNvGraphicFramePr>
            <a:graphicFrameLocks noGrp="1"/>
          </p:cNvGraphicFramePr>
          <p:nvPr/>
        </p:nvGraphicFramePr>
        <p:xfrm>
          <a:off x="8305800" y="1006475"/>
          <a:ext cx="1676400" cy="22098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A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B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C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51255" name="Picture 37" descr="ch03-an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1" y="1447800"/>
            <a:ext cx="5230813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基本逻辑门</a:t>
            </a:r>
            <a:endParaRPr lang="en-US" altLang="zh-CN" dirty="0">
              <a:ea typeface="宋体" charset="-122"/>
            </a:endParaRPr>
          </a:p>
        </p:txBody>
      </p:sp>
      <p:pic>
        <p:nvPicPr>
          <p:cNvPr id="353284" name="Picture 21" descr="ch03-gate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40014" y="1196975"/>
            <a:ext cx="6645275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摩根定律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36250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03388" y="981076"/>
            <a:ext cx="8839200" cy="863749"/>
          </a:xfrm>
        </p:spPr>
        <p:txBody>
          <a:bodyPr/>
          <a:lstStyle/>
          <a:p>
            <a:r>
              <a:rPr lang="zh-CN" altLang="en-US" sz="2800" dirty="0">
                <a:ea typeface="宋体" charset="-122"/>
              </a:rPr>
              <a:t>如何将与门转换成或门：</a:t>
            </a:r>
            <a:endParaRPr lang="en-US" altLang="zh-CN" sz="2800" dirty="0">
              <a:ea typeface="宋体" charset="-122"/>
            </a:endParaRPr>
          </a:p>
          <a:p>
            <a:endParaRPr lang="en-US" altLang="zh-CN" dirty="0">
              <a:ea typeface="宋体" charset="-122"/>
            </a:endParaRPr>
          </a:p>
        </p:txBody>
      </p:sp>
      <p:graphicFrame>
        <p:nvGraphicFramePr>
          <p:cNvPr id="64617" name="Group 105"/>
          <p:cNvGraphicFramePr>
            <a:graphicFrameLocks noGrp="1"/>
          </p:cNvGraphicFramePr>
          <p:nvPr/>
        </p:nvGraphicFramePr>
        <p:xfrm>
          <a:off x="2446784" y="3212976"/>
          <a:ext cx="3505200" cy="2209800"/>
        </p:xfrm>
        <a:graphic>
          <a:graphicData uri="http://schemas.openxmlformats.org/drawingml/2006/table">
            <a:tbl>
              <a:tblPr/>
              <a:tblGrid>
                <a:gridCol w="30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A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B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charset="-122"/>
                      </a:endParaRP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itchFamily="34" charset="0"/>
                        <a:ea typeface="宋体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62536" name="Object 0"/>
          <p:cNvGraphicFramePr>
            <a:graphicFrameLocks noChangeAspect="1"/>
          </p:cNvGraphicFramePr>
          <p:nvPr/>
        </p:nvGraphicFramePr>
        <p:xfrm>
          <a:off x="4419600" y="3262313"/>
          <a:ext cx="5588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Equation" r:id="rId4" imgW="558720" imgH="291960" progId="Equation.3">
                  <p:embed/>
                </p:oleObj>
              </mc:Choice>
              <mc:Fallback>
                <p:oleObj name="Equation" r:id="rId4" imgW="558720" imgH="291960" progId="Equation.3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3262313"/>
                        <a:ext cx="5588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2537" name="Object 1"/>
          <p:cNvGraphicFramePr>
            <a:graphicFrameLocks noChangeAspect="1"/>
          </p:cNvGraphicFramePr>
          <p:nvPr/>
        </p:nvGraphicFramePr>
        <p:xfrm>
          <a:off x="3886200" y="3262313"/>
          <a:ext cx="1905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2" name="Equation" r:id="rId6" imgW="190440" imgH="291960" progId="Equation.3">
                  <p:embed/>
                </p:oleObj>
              </mc:Choice>
              <mc:Fallback>
                <p:oleObj name="Equation" r:id="rId6" imgW="190440" imgH="29196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262313"/>
                        <a:ext cx="1905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2538" name="Object 2"/>
          <p:cNvGraphicFramePr>
            <a:graphicFrameLocks noChangeAspect="1"/>
          </p:cNvGraphicFramePr>
          <p:nvPr/>
        </p:nvGraphicFramePr>
        <p:xfrm>
          <a:off x="3429000" y="3262313"/>
          <a:ext cx="2286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Equation" r:id="rId8" imgW="228600" imgH="291960" progId="Equation.3">
                  <p:embed/>
                </p:oleObj>
              </mc:Choice>
              <mc:Fallback>
                <p:oleObj name="Equation" r:id="rId8" imgW="228600" imgH="29196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3262313"/>
                        <a:ext cx="228600" cy="292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2539" name="Object 3"/>
          <p:cNvGraphicFramePr>
            <a:graphicFrameLocks noChangeAspect="1"/>
          </p:cNvGraphicFramePr>
          <p:nvPr/>
        </p:nvGraphicFramePr>
        <p:xfrm>
          <a:off x="5257800" y="3232150"/>
          <a:ext cx="5588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Equation" r:id="rId10" imgW="558720" imgH="317160" progId="Equation.3">
                  <p:embed/>
                </p:oleObj>
              </mc:Choice>
              <mc:Fallback>
                <p:oleObj name="Equation" r:id="rId10" imgW="558720" imgH="31716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3232150"/>
                        <a:ext cx="558800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62542" name="Picture 115" descr="ch03-demorgan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783632" y="1844825"/>
            <a:ext cx="2895600" cy="752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5" name="Object 14"/>
          <p:cNvGraphicFramePr>
            <a:graphicFrameLocks noChangeAspect="1"/>
          </p:cNvGraphicFramePr>
          <p:nvPr/>
        </p:nvGraphicFramePr>
        <p:xfrm>
          <a:off x="7680177" y="3645024"/>
          <a:ext cx="2170013" cy="13240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5" name="Equation" r:id="rId13" imgW="749160" imgH="457200" progId="Equation.3">
                  <p:embed/>
                </p:oleObj>
              </mc:Choice>
              <mc:Fallback>
                <p:oleObj name="Equation" r:id="rId13" imgW="749160" imgH="4572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0177" y="3645024"/>
                        <a:ext cx="2170013" cy="132407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多输入门</a:t>
            </a:r>
          </a:p>
        </p:txBody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800" dirty="0">
                <a:ea typeface="宋体" charset="-122"/>
              </a:rPr>
              <a:t>可以设计具有多个输入的逻辑门，</a:t>
            </a:r>
            <a:endParaRPr lang="en-US" altLang="zh-CN" sz="2800" dirty="0">
              <a:ea typeface="宋体" charset="-122"/>
            </a:endParaRPr>
          </a:p>
          <a:p>
            <a:pPr lvl="1"/>
            <a:r>
              <a:rPr lang="zh-CN" altLang="en-US" sz="2400" dirty="0"/>
              <a:t>与门：所有输入为</a:t>
            </a:r>
            <a:r>
              <a:rPr lang="en-US" altLang="zh-CN" sz="2400" dirty="0"/>
              <a:t>1</a:t>
            </a:r>
            <a:r>
              <a:rPr lang="zh-CN" altLang="en-US" sz="2400" dirty="0"/>
              <a:t>时，输出为</a:t>
            </a:r>
            <a:r>
              <a:rPr lang="en-US" altLang="zh-CN" sz="2400" dirty="0"/>
              <a:t>1.</a:t>
            </a:r>
          </a:p>
          <a:p>
            <a:pPr lvl="1"/>
            <a:r>
              <a:rPr lang="zh-CN" altLang="en-US" sz="2400" dirty="0"/>
              <a:t>或门：任何一个输入为</a:t>
            </a:r>
            <a:r>
              <a:rPr lang="en-US" altLang="zh-CN" sz="2400" dirty="0"/>
              <a:t>1</a:t>
            </a:r>
            <a:r>
              <a:rPr lang="zh-CN" altLang="en-US" sz="2400" dirty="0"/>
              <a:t>时，输出为</a:t>
            </a:r>
            <a:r>
              <a:rPr lang="en-US" altLang="zh-CN" sz="2400" dirty="0"/>
              <a:t>1.</a:t>
            </a:r>
          </a:p>
          <a:p>
            <a:pPr lvl="1"/>
            <a:r>
              <a:rPr lang="zh-CN" altLang="en-US" sz="2400" dirty="0"/>
              <a:t>与非门、或非门：</a:t>
            </a:r>
            <a:endParaRPr lang="en-US" altLang="zh-CN" sz="2400" dirty="0"/>
          </a:p>
          <a:p>
            <a:r>
              <a:rPr lang="zh-CN" altLang="en-US" sz="2800" dirty="0">
                <a:ea typeface="宋体" charset="-122"/>
              </a:rPr>
              <a:t>也可使用多个</a:t>
            </a:r>
            <a:r>
              <a:rPr lang="en-US" altLang="zh-CN" sz="2800" dirty="0">
                <a:ea typeface="宋体" charset="-122"/>
              </a:rPr>
              <a:t>2</a:t>
            </a:r>
            <a:r>
              <a:rPr lang="zh-CN" altLang="en-US" sz="2800" dirty="0">
                <a:ea typeface="宋体" charset="-122"/>
              </a:rPr>
              <a:t>输入门电路</a:t>
            </a:r>
            <a:endParaRPr lang="en-US" altLang="zh-CN" dirty="0">
              <a:ea typeface="宋体" charset="-122"/>
            </a:endParaRPr>
          </a:p>
          <a:p>
            <a:endParaRPr lang="zh-CN" altLang="en-US" dirty="0"/>
          </a:p>
        </p:txBody>
      </p:sp>
      <p:pic>
        <p:nvPicPr>
          <p:cNvPr id="411652" name="Picture 1034" descr="ch03-3inpu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79576" y="3501009"/>
            <a:ext cx="7315200" cy="2395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逻辑完备性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35840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 sz="2800" dirty="0">
                <a:ea typeface="宋体" charset="-122"/>
              </a:rPr>
              <a:t>使用与门、或门、非门可实现</a:t>
            </a:r>
            <a:r>
              <a:rPr lang="zh-CN" altLang="en-US" sz="2800" u="sng" dirty="0">
                <a:solidFill>
                  <a:srgbClr val="FF0000"/>
                </a:solidFill>
                <a:ea typeface="宋体" charset="-122"/>
              </a:rPr>
              <a:t>任何</a:t>
            </a:r>
            <a:r>
              <a:rPr lang="zh-CN" altLang="en-US" sz="2800" dirty="0">
                <a:ea typeface="宋体" charset="-122"/>
              </a:rPr>
              <a:t>形式的逻辑</a:t>
            </a:r>
            <a:r>
              <a:rPr lang="en-US" altLang="zh-CN" sz="2800" dirty="0">
                <a:ea typeface="宋体" charset="-122"/>
              </a:rPr>
              <a:t>.</a:t>
            </a:r>
          </a:p>
        </p:txBody>
      </p:sp>
      <p:graphicFrame>
        <p:nvGraphicFramePr>
          <p:cNvPr id="58432" name="Group 64"/>
          <p:cNvGraphicFramePr>
            <a:graphicFrameLocks noGrp="1"/>
          </p:cNvGraphicFramePr>
          <p:nvPr/>
        </p:nvGraphicFramePr>
        <p:xfrm>
          <a:off x="2438400" y="1600200"/>
          <a:ext cx="1981200" cy="40386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A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B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C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358446" name="Picture 68" descr="ch03-complet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57801" y="1676400"/>
            <a:ext cx="2073275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3.4</a:t>
            </a:r>
          </a:p>
          <a:p>
            <a:r>
              <a:rPr lang="en-US" altLang="zh-CN" dirty="0"/>
              <a:t>3.5</a:t>
            </a:r>
          </a:p>
          <a:p>
            <a:r>
              <a:rPr lang="en-US" altLang="zh-CN" dirty="0"/>
              <a:t>3.6</a:t>
            </a:r>
          </a:p>
          <a:p>
            <a:r>
              <a:rPr lang="en-US" altLang="zh-CN" dirty="0"/>
              <a:t>3.7</a:t>
            </a:r>
          </a:p>
          <a:p>
            <a:r>
              <a:rPr lang="en-US" altLang="zh-CN" dirty="0"/>
              <a:t>3.8</a:t>
            </a:r>
          </a:p>
          <a:p>
            <a:r>
              <a:rPr lang="en-US" altLang="zh-CN" dirty="0"/>
              <a:t>3.11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226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3.3</a:t>
            </a:r>
            <a:r>
              <a:rPr lang="zh-CN" altLang="en-US" dirty="0"/>
              <a:t>组合逻辑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50000"/>
              </a:spcBef>
            </a:pP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两大类：组合逻辑电路和时序逻辑电路。</a:t>
            </a:r>
            <a:endParaRPr lang="en-US" altLang="zh-CN" sz="2400" dirty="0">
              <a:latin typeface="宋体" pitchFamily="2" charset="-122"/>
              <a:ea typeface="宋体" pitchFamily="2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组合逻辑电路的特点：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     </a:t>
            </a:r>
            <a:r>
              <a:rPr lang="en-US" altLang="zh-CN" sz="2400" dirty="0">
                <a:latin typeface="宋体" pitchFamily="2" charset="-122"/>
                <a:ea typeface="宋体" pitchFamily="2" charset="-122"/>
              </a:rPr>
              <a:t>a.</a:t>
            </a: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无反馈，无记忆元件</a:t>
            </a:r>
          </a:p>
          <a:p>
            <a:pPr>
              <a:spcBef>
                <a:spcPct val="50000"/>
              </a:spcBef>
            </a:pP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     </a:t>
            </a:r>
            <a:r>
              <a:rPr lang="en-US" altLang="zh-CN" sz="2400" dirty="0">
                <a:latin typeface="宋体" pitchFamily="2" charset="-122"/>
                <a:ea typeface="宋体" pitchFamily="2" charset="-122"/>
              </a:rPr>
              <a:t>b.</a:t>
            </a: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任何时刻的输出只与此时刻的输入有关</a:t>
            </a:r>
          </a:p>
          <a:p>
            <a:endParaRPr lang="zh-CN" altLang="en-US" dirty="0"/>
          </a:p>
        </p:txBody>
      </p:sp>
      <p:grpSp>
        <p:nvGrpSpPr>
          <p:cNvPr id="4" name="Group 28"/>
          <p:cNvGrpSpPr>
            <a:grpSpLocks/>
          </p:cNvGrpSpPr>
          <p:nvPr/>
        </p:nvGrpSpPr>
        <p:grpSpPr bwMode="auto">
          <a:xfrm>
            <a:off x="2855640" y="3140968"/>
            <a:ext cx="5400676" cy="1319212"/>
            <a:chOff x="1156" y="1071"/>
            <a:chExt cx="3402" cy="831"/>
          </a:xfrm>
        </p:grpSpPr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1610" y="1117"/>
              <a:ext cx="2284" cy="725"/>
              <a:chOff x="1957" y="1117"/>
              <a:chExt cx="1224" cy="375"/>
            </a:xfrm>
          </p:grpSpPr>
          <p:sp>
            <p:nvSpPr>
              <p:cNvPr id="14" name="Rectangle 4"/>
              <p:cNvSpPr>
                <a:spLocks noChangeArrowheads="1"/>
              </p:cNvSpPr>
              <p:nvPr/>
            </p:nvSpPr>
            <p:spPr bwMode="auto">
              <a:xfrm>
                <a:off x="2245" y="1117"/>
                <a:ext cx="648" cy="3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pPr algn="just"/>
                <a:endParaRPr lang="en-US" altLang="zh-CN" sz="1000" dirty="0">
                  <a:latin typeface="Times New Roman" pitchFamily="18" charset="0"/>
                </a:endParaRPr>
              </a:p>
              <a:p>
                <a:pPr algn="just"/>
                <a:endParaRPr lang="en-US" altLang="zh-CN" sz="2000" dirty="0">
                  <a:latin typeface="Times New Roman" pitchFamily="18" charset="0"/>
                </a:endParaRPr>
              </a:p>
              <a:p>
                <a:pPr algn="just"/>
                <a:r>
                  <a:rPr lang="en-US" altLang="zh-CN" sz="2000" dirty="0">
                    <a:latin typeface="Times New Roman" pitchFamily="18" charset="0"/>
                  </a:rPr>
                  <a:t>  </a:t>
                </a:r>
                <a:r>
                  <a:rPr lang="zh-CN" altLang="en-US" sz="2000" dirty="0">
                    <a:latin typeface="Times New Roman" pitchFamily="18" charset="0"/>
                  </a:rPr>
                  <a:t>组合逻辑电路</a:t>
                </a:r>
                <a:endParaRPr lang="zh-CN" altLang="en-US" sz="2000" dirty="0"/>
              </a:p>
            </p:txBody>
          </p:sp>
          <p:sp>
            <p:nvSpPr>
              <p:cNvPr id="15" name="Line 5"/>
              <p:cNvSpPr>
                <a:spLocks noChangeShapeType="1"/>
              </p:cNvSpPr>
              <p:nvPr/>
            </p:nvSpPr>
            <p:spPr bwMode="auto">
              <a:xfrm>
                <a:off x="1957" y="1179"/>
                <a:ext cx="288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Line 6"/>
              <p:cNvSpPr>
                <a:spLocks noChangeShapeType="1"/>
              </p:cNvSpPr>
              <p:nvPr/>
            </p:nvSpPr>
            <p:spPr bwMode="auto">
              <a:xfrm>
                <a:off x="1957" y="1242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Line 7"/>
              <p:cNvSpPr>
                <a:spLocks noChangeShapeType="1"/>
              </p:cNvSpPr>
              <p:nvPr/>
            </p:nvSpPr>
            <p:spPr bwMode="auto">
              <a:xfrm>
                <a:off x="1957" y="1429"/>
                <a:ext cx="288" cy="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8"/>
              <p:cNvSpPr>
                <a:spLocks noChangeShapeType="1"/>
              </p:cNvSpPr>
              <p:nvPr/>
            </p:nvSpPr>
            <p:spPr bwMode="auto">
              <a:xfrm>
                <a:off x="2893" y="1179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Line 9"/>
              <p:cNvSpPr>
                <a:spLocks noChangeShapeType="1"/>
              </p:cNvSpPr>
              <p:nvPr/>
            </p:nvSpPr>
            <p:spPr bwMode="auto">
              <a:xfrm>
                <a:off x="2893" y="1242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Line 10"/>
              <p:cNvSpPr>
                <a:spLocks noChangeShapeType="1"/>
              </p:cNvSpPr>
              <p:nvPr/>
            </p:nvSpPr>
            <p:spPr bwMode="auto">
              <a:xfrm>
                <a:off x="2893" y="1429"/>
                <a:ext cx="288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" name="Text Box 12"/>
            <p:cNvSpPr txBox="1">
              <a:spLocks noChangeArrowheads="1"/>
            </p:cNvSpPr>
            <p:nvPr/>
          </p:nvSpPr>
          <p:spPr bwMode="auto">
            <a:xfrm>
              <a:off x="1156" y="1071"/>
              <a:ext cx="36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x</a:t>
              </a:r>
              <a:r>
                <a:rPr lang="en-US" altLang="zh-CN" baseline="-25000" dirty="0"/>
                <a:t>1</a:t>
              </a:r>
            </a:p>
          </p:txBody>
        </p:sp>
        <p:sp>
          <p:nvSpPr>
            <p:cNvPr id="7" name="Text Box 20"/>
            <p:cNvSpPr txBox="1">
              <a:spLocks noChangeArrowheads="1"/>
            </p:cNvSpPr>
            <p:nvPr/>
          </p:nvSpPr>
          <p:spPr bwMode="auto">
            <a:xfrm>
              <a:off x="1156" y="1253"/>
              <a:ext cx="36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x</a:t>
              </a:r>
              <a:r>
                <a:rPr lang="en-US" altLang="zh-CN" baseline="-25000" dirty="0"/>
                <a:t>2</a:t>
              </a:r>
            </a:p>
          </p:txBody>
        </p:sp>
        <p:sp>
          <p:nvSpPr>
            <p:cNvPr id="8" name="Text Box 21"/>
            <p:cNvSpPr txBox="1">
              <a:spLocks noChangeArrowheads="1"/>
            </p:cNvSpPr>
            <p:nvPr/>
          </p:nvSpPr>
          <p:spPr bwMode="auto">
            <a:xfrm>
              <a:off x="1156" y="1611"/>
              <a:ext cx="36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dirty="0" err="1"/>
                <a:t>x</a:t>
              </a:r>
              <a:r>
                <a:rPr lang="en-US" altLang="zh-CN" baseline="-25000" dirty="0" err="1"/>
                <a:t>m</a:t>
              </a:r>
              <a:endParaRPr lang="en-US" altLang="zh-CN" baseline="-25000" dirty="0"/>
            </a:p>
          </p:txBody>
        </p:sp>
        <p:sp>
          <p:nvSpPr>
            <p:cNvPr id="9" name="Text Box 22"/>
            <p:cNvSpPr txBox="1">
              <a:spLocks noChangeArrowheads="1"/>
            </p:cNvSpPr>
            <p:nvPr/>
          </p:nvSpPr>
          <p:spPr bwMode="auto">
            <a:xfrm rot="16247215" flipV="1">
              <a:off x="1701" y="1404"/>
              <a:ext cx="31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latin typeface="宋体"/>
                </a:rPr>
                <a:t>…</a:t>
              </a:r>
              <a:endParaRPr lang="en-US" altLang="zh-CN" baseline="-25000"/>
            </a:p>
          </p:txBody>
        </p:sp>
        <p:sp>
          <p:nvSpPr>
            <p:cNvPr id="10" name="Text Box 23"/>
            <p:cNvSpPr txBox="1">
              <a:spLocks noChangeArrowheads="1"/>
            </p:cNvSpPr>
            <p:nvPr/>
          </p:nvSpPr>
          <p:spPr bwMode="auto">
            <a:xfrm rot="16247215" flipV="1">
              <a:off x="3500" y="1404"/>
              <a:ext cx="31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en-US" altLang="zh-CN">
                  <a:latin typeface="宋体"/>
                </a:rPr>
                <a:t>…</a:t>
              </a:r>
              <a:endParaRPr lang="en-US" altLang="zh-CN" baseline="-25000"/>
            </a:p>
          </p:txBody>
        </p:sp>
        <p:sp>
          <p:nvSpPr>
            <p:cNvPr id="11" name="Text Box 24"/>
            <p:cNvSpPr txBox="1">
              <a:spLocks noChangeArrowheads="1"/>
            </p:cNvSpPr>
            <p:nvPr/>
          </p:nvSpPr>
          <p:spPr bwMode="auto">
            <a:xfrm>
              <a:off x="4059" y="1071"/>
              <a:ext cx="36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y</a:t>
              </a:r>
              <a:r>
                <a:rPr lang="en-US" altLang="zh-CN" baseline="-25000" dirty="0"/>
                <a:t>1</a:t>
              </a:r>
            </a:p>
          </p:txBody>
        </p:sp>
        <p:sp>
          <p:nvSpPr>
            <p:cNvPr id="12" name="Text Box 26"/>
            <p:cNvSpPr txBox="1">
              <a:spLocks noChangeArrowheads="1"/>
            </p:cNvSpPr>
            <p:nvPr/>
          </p:nvSpPr>
          <p:spPr bwMode="auto">
            <a:xfrm>
              <a:off x="4059" y="1611"/>
              <a:ext cx="499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dirty="0" err="1"/>
                <a:t>y</a:t>
              </a:r>
              <a:r>
                <a:rPr lang="en-US" altLang="zh-CN" baseline="-25000" dirty="0" err="1"/>
                <a:t>n</a:t>
              </a:r>
              <a:endParaRPr lang="en-US" altLang="zh-CN" baseline="-25000" dirty="0"/>
            </a:p>
          </p:txBody>
        </p:sp>
        <p:sp>
          <p:nvSpPr>
            <p:cNvPr id="13" name="Text Box 27"/>
            <p:cNvSpPr txBox="1">
              <a:spLocks noChangeArrowheads="1"/>
            </p:cNvSpPr>
            <p:nvPr/>
          </p:nvSpPr>
          <p:spPr bwMode="auto">
            <a:xfrm>
              <a:off x="4059" y="1249"/>
              <a:ext cx="45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r>
                <a:rPr lang="en-US" altLang="zh-CN" dirty="0"/>
                <a:t>y</a:t>
              </a:r>
              <a:r>
                <a:rPr lang="en-US" altLang="zh-CN" baseline="-25000" dirty="0"/>
                <a:t>2</a:t>
              </a:r>
            </a:p>
          </p:txBody>
        </p:sp>
      </p:grpSp>
      <p:sp>
        <p:nvSpPr>
          <p:cNvPr id="21" name="Text Box 29"/>
          <p:cNvSpPr txBox="1">
            <a:spLocks noChangeArrowheads="1"/>
          </p:cNvSpPr>
          <p:nvPr/>
        </p:nvSpPr>
        <p:spPr bwMode="auto">
          <a:xfrm>
            <a:off x="4087714" y="4744293"/>
            <a:ext cx="2476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dirty="0"/>
              <a:t>Y</a:t>
            </a:r>
            <a:r>
              <a:rPr lang="en-US" altLang="zh-CN" baseline="-25000" dirty="0"/>
              <a:t>1</a:t>
            </a:r>
            <a:r>
              <a:rPr lang="en-US" altLang="zh-CN" dirty="0"/>
              <a:t>=F(x</a:t>
            </a:r>
            <a:r>
              <a:rPr lang="en-US" altLang="zh-CN" baseline="-25000" dirty="0"/>
              <a:t>1</a:t>
            </a:r>
            <a:r>
              <a:rPr lang="en-US" altLang="zh-CN" dirty="0"/>
              <a:t>,x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m</a:t>
            </a:r>
            <a:r>
              <a:rPr lang="en-US" altLang="zh-CN" dirty="0"/>
              <a:t>)</a:t>
            </a:r>
          </a:p>
        </p:txBody>
      </p:sp>
      <p:sp>
        <p:nvSpPr>
          <p:cNvPr id="22" name="Text Box 30"/>
          <p:cNvSpPr txBox="1">
            <a:spLocks noChangeArrowheads="1"/>
          </p:cNvSpPr>
          <p:nvPr/>
        </p:nvSpPr>
        <p:spPr bwMode="auto">
          <a:xfrm>
            <a:off x="4079776" y="5276105"/>
            <a:ext cx="2476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 dirty="0"/>
              <a:t>Y</a:t>
            </a:r>
            <a:r>
              <a:rPr lang="en-US" altLang="zh-CN" baseline="-25000" dirty="0"/>
              <a:t>2</a:t>
            </a:r>
            <a:r>
              <a:rPr lang="en-US" altLang="zh-CN" dirty="0"/>
              <a:t>=F(x</a:t>
            </a:r>
            <a:r>
              <a:rPr lang="en-US" altLang="zh-CN" baseline="-25000" dirty="0"/>
              <a:t>1</a:t>
            </a:r>
            <a:r>
              <a:rPr lang="en-US" altLang="zh-CN" dirty="0"/>
              <a:t>,x</a:t>
            </a:r>
            <a:r>
              <a:rPr lang="en-US" altLang="zh-CN" baseline="-25000" dirty="0"/>
              <a:t>2</a:t>
            </a:r>
            <a:r>
              <a:rPr lang="en-US" altLang="zh-CN" dirty="0"/>
              <a:t>,…,</a:t>
            </a:r>
            <a:r>
              <a:rPr lang="en-US" altLang="zh-CN" dirty="0" err="1"/>
              <a:t>x</a:t>
            </a:r>
            <a:r>
              <a:rPr lang="en-US" altLang="zh-CN" baseline="-25000" dirty="0" err="1"/>
              <a:t>m</a:t>
            </a:r>
            <a:r>
              <a:rPr lang="en-US" altLang="zh-CN" dirty="0"/>
              <a:t>)</a:t>
            </a:r>
          </a:p>
        </p:txBody>
      </p:sp>
      <p:sp>
        <p:nvSpPr>
          <p:cNvPr id="23" name="Text Box 31"/>
          <p:cNvSpPr txBox="1">
            <a:spLocks noChangeArrowheads="1"/>
          </p:cNvSpPr>
          <p:nvPr/>
        </p:nvSpPr>
        <p:spPr bwMode="auto">
          <a:xfrm>
            <a:off x="4108351" y="6284168"/>
            <a:ext cx="2476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altLang="zh-CN"/>
              <a:t>Y</a:t>
            </a:r>
            <a:r>
              <a:rPr lang="en-US" altLang="zh-CN" baseline="-25000"/>
              <a:t>n</a:t>
            </a:r>
            <a:r>
              <a:rPr lang="en-US" altLang="zh-CN"/>
              <a:t>=F(x</a:t>
            </a:r>
            <a:r>
              <a:rPr lang="en-US" altLang="zh-CN" baseline="-25000"/>
              <a:t>1</a:t>
            </a:r>
            <a:r>
              <a:rPr lang="en-US" altLang="zh-CN"/>
              <a:t>,x</a:t>
            </a:r>
            <a:r>
              <a:rPr lang="en-US" altLang="zh-CN" baseline="-25000"/>
              <a:t>2</a:t>
            </a:r>
            <a:r>
              <a:rPr lang="en-US" altLang="zh-CN"/>
              <a:t>,…,x</a:t>
            </a:r>
            <a:r>
              <a:rPr lang="en-US" altLang="zh-CN" baseline="-25000"/>
              <a:t>m</a:t>
            </a:r>
            <a:r>
              <a:rPr lang="en-US" altLang="zh-CN"/>
              <a:t>)</a:t>
            </a:r>
          </a:p>
        </p:txBody>
      </p:sp>
      <p:sp>
        <p:nvSpPr>
          <p:cNvPr id="24" name="Text Box 49"/>
          <p:cNvSpPr txBox="1">
            <a:spLocks noChangeArrowheads="1"/>
          </p:cNvSpPr>
          <p:nvPr/>
        </p:nvSpPr>
        <p:spPr bwMode="auto">
          <a:xfrm>
            <a:off x="5021203" y="5903169"/>
            <a:ext cx="553998" cy="3440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eaVert" wrap="none">
            <a:spAutoFit/>
          </a:bodyPr>
          <a:lstStyle/>
          <a:p>
            <a:r>
              <a:rPr lang="en-US" altLang="zh-CN"/>
              <a:t>…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时序逻辑电路</a:t>
            </a:r>
          </a:p>
        </p:txBody>
      </p:sp>
      <p:graphicFrame>
        <p:nvGraphicFramePr>
          <p:cNvPr id="41986" name="Object 2"/>
          <p:cNvGraphicFramePr>
            <a:graphicFrameLocks noChangeAspect="1"/>
          </p:cNvGraphicFramePr>
          <p:nvPr/>
        </p:nvGraphicFramePr>
        <p:xfrm>
          <a:off x="2423592" y="3717032"/>
          <a:ext cx="7488832" cy="2304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VISIO" r:id="rId3" imgW="2293620" imgH="1432560" progId="Visio.Drawing.11">
                  <p:embed/>
                </p:oleObj>
              </mc:Choice>
              <mc:Fallback>
                <p:oleObj name="VISIO" r:id="rId3" imgW="2293620" imgH="1432560" progId="Visio.Drawing.11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592" y="3717032"/>
                        <a:ext cx="7488832" cy="230425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/>
          <p:cNvSpPr/>
          <p:nvPr/>
        </p:nvSpPr>
        <p:spPr>
          <a:xfrm>
            <a:off x="1991544" y="980729"/>
            <a:ext cx="8352928" cy="20276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8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itchFamily="18" charset="0"/>
              </a:rPr>
              <a:t>时序逻辑电路特点： </a:t>
            </a:r>
          </a:p>
          <a:p>
            <a:pPr>
              <a:lnSpc>
                <a:spcPct val="158000"/>
              </a:lnSpc>
              <a:spcBef>
                <a:spcPct val="50000"/>
              </a:spcBef>
            </a:pPr>
            <a:r>
              <a:rPr lang="zh-CN" altLang="en-US" b="1" dirty="0">
                <a:latin typeface="Times New Roman" pitchFamily="18" charset="0"/>
              </a:rPr>
              <a:t>        ①  结构上存在输出到输入的反馈通道，且有存储器件；    ②  因为有存储器件， 所以电路具有记忆功能。 </a:t>
            </a:r>
            <a:endParaRPr lang="zh-CN" altLang="en-US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译码器</a:t>
            </a:r>
            <a:r>
              <a:rPr lang="en-US" altLang="zh-CN" dirty="0">
                <a:latin typeface="Times New Roman" pitchFamily="18" charset="0"/>
                <a:ea typeface="宋体" charset="-122"/>
                <a:cs typeface="Times New Roman" pitchFamily="18" charset="0"/>
              </a:rPr>
              <a:t>Decoder</a:t>
            </a:r>
          </a:p>
        </p:txBody>
      </p:sp>
      <p:sp>
        <p:nvSpPr>
          <p:cNvPr id="36659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z="2800" i="1" dirty="0">
                <a:latin typeface="Times New Roman" pitchFamily="18" charset="0"/>
                <a:ea typeface="宋体" charset="-122"/>
                <a:cs typeface="Times New Roman" pitchFamily="18" charset="0"/>
              </a:rPr>
              <a:t>    n</a:t>
            </a:r>
            <a:r>
              <a:rPr lang="en-US" altLang="zh-CN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zh-CN" altLang="en-US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个</a:t>
            </a:r>
            <a:r>
              <a:rPr lang="zh-CN" altLang="en-US" sz="2800" dirty="0">
                <a:ea typeface="宋体" charset="-122"/>
              </a:rPr>
              <a:t>输入</a:t>
            </a:r>
            <a:r>
              <a:rPr lang="en-US" altLang="zh-CN" sz="2800" dirty="0">
                <a:ea typeface="宋体" charset="-122"/>
              </a:rPr>
              <a:t>, </a:t>
            </a:r>
            <a:r>
              <a:rPr lang="en-US" altLang="zh-CN" sz="2800" i="1" dirty="0">
                <a:latin typeface="Times New Roman" pitchFamily="18" charset="0"/>
                <a:ea typeface="宋体" charset="-122"/>
                <a:cs typeface="Times New Roman" pitchFamily="18" charset="0"/>
              </a:rPr>
              <a:t>2</a:t>
            </a:r>
            <a:r>
              <a:rPr lang="en-US" altLang="zh-CN" sz="2800" i="1" baseline="30000" dirty="0">
                <a:latin typeface="Times New Roman" pitchFamily="18" charset="0"/>
                <a:ea typeface="宋体" charset="-122"/>
                <a:cs typeface="Times New Roman" pitchFamily="18" charset="0"/>
              </a:rPr>
              <a:t>n</a:t>
            </a:r>
            <a:r>
              <a:rPr lang="en-US" altLang="zh-CN" sz="2800" dirty="0">
                <a:ea typeface="宋体" charset="-122"/>
              </a:rPr>
              <a:t> </a:t>
            </a:r>
            <a:r>
              <a:rPr lang="zh-CN" altLang="en-US" sz="2800" dirty="0">
                <a:ea typeface="宋体" charset="-122"/>
              </a:rPr>
              <a:t>个输出</a:t>
            </a:r>
            <a:endParaRPr lang="en-US" altLang="zh-CN" sz="2800" dirty="0">
              <a:ea typeface="宋体" charset="-122"/>
            </a:endParaRPr>
          </a:p>
          <a:p>
            <a:pPr marL="576263" lvl="1" indent="-234950"/>
            <a:r>
              <a:rPr lang="zh-CN" altLang="en-US" b="1" dirty="0"/>
              <a:t>在所有输出中有且仅有一个为</a:t>
            </a:r>
            <a:r>
              <a:rPr lang="en-US" altLang="zh-CN" b="1" dirty="0"/>
              <a:t>1</a:t>
            </a:r>
            <a:r>
              <a:rPr lang="zh-CN" altLang="en-US" b="1" dirty="0"/>
              <a:t>，其余皆为</a:t>
            </a:r>
            <a:r>
              <a:rPr lang="en-US" altLang="zh-CN" b="1" dirty="0"/>
              <a:t>0.</a:t>
            </a:r>
          </a:p>
        </p:txBody>
      </p:sp>
      <p:pic>
        <p:nvPicPr>
          <p:cNvPr id="366597" name="Picture 6" descr="ch03-decod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55440" y="2051720"/>
            <a:ext cx="5394325" cy="3815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6598" name="Text Box 5"/>
          <p:cNvSpPr txBox="1">
            <a:spLocks noChangeArrowheads="1"/>
          </p:cNvSpPr>
          <p:nvPr/>
        </p:nvSpPr>
        <p:spPr bwMode="auto">
          <a:xfrm>
            <a:off x="2783632" y="6029980"/>
            <a:ext cx="217559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800" i="1" dirty="0"/>
              <a:t>2</a:t>
            </a:r>
            <a:r>
              <a:rPr lang="zh-CN" altLang="en-US" sz="2800" i="1" dirty="0"/>
              <a:t>输入译码器</a:t>
            </a:r>
            <a:endParaRPr lang="en-US" altLang="zh-CN" sz="2800" i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219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43" name="Picture 7" descr="ch03-mux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3392" y="2209800"/>
            <a:ext cx="7705725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64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latin typeface="Times New Roman" pitchFamily="18" charset="0"/>
                <a:ea typeface="宋体" charset="-122"/>
                <a:cs typeface="Times New Roman" pitchFamily="18" charset="0"/>
              </a:rPr>
              <a:t>多路复用器</a:t>
            </a:r>
            <a:r>
              <a:rPr lang="en-US" altLang="zh-CN" dirty="0">
                <a:latin typeface="Times New Roman" pitchFamily="18" charset="0"/>
                <a:ea typeface="宋体" charset="-122"/>
                <a:cs typeface="Times New Roman" pitchFamily="18" charset="0"/>
              </a:rPr>
              <a:t>Multiplexer (MUX)</a:t>
            </a:r>
          </a:p>
        </p:txBody>
      </p:sp>
      <p:sp>
        <p:nvSpPr>
          <p:cNvPr id="368645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i="1" dirty="0">
                <a:latin typeface="Times New Roman" pitchFamily="18" charset="0"/>
                <a:ea typeface="宋体" charset="-122"/>
                <a:cs typeface="Times New Roman" pitchFamily="18" charset="0"/>
              </a:rPr>
              <a:t>    </a:t>
            </a:r>
            <a:r>
              <a:rPr lang="en-US" altLang="zh-CN" sz="2800" i="1" dirty="0">
                <a:latin typeface="Times New Roman" pitchFamily="18" charset="0"/>
                <a:ea typeface="宋体" charset="-122"/>
                <a:cs typeface="Times New Roman" pitchFamily="18" charset="0"/>
              </a:rPr>
              <a:t>2</a:t>
            </a:r>
            <a:r>
              <a:rPr lang="en-US" altLang="zh-CN" sz="2800" i="1" baseline="30000" dirty="0">
                <a:latin typeface="Times New Roman" pitchFamily="18" charset="0"/>
                <a:ea typeface="宋体" charset="-122"/>
                <a:cs typeface="Times New Roman" pitchFamily="18" charset="0"/>
              </a:rPr>
              <a:t>n</a:t>
            </a:r>
            <a:r>
              <a:rPr lang="en-US" altLang="zh-CN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  <a:r>
              <a:rPr lang="zh-CN" altLang="en-US" sz="2800" dirty="0">
                <a:ea typeface="宋体" charset="-122"/>
              </a:rPr>
              <a:t>个输入</a:t>
            </a:r>
            <a:r>
              <a:rPr lang="en-US" altLang="zh-CN" sz="2800" dirty="0">
                <a:ea typeface="宋体" charset="-122"/>
              </a:rPr>
              <a:t>, </a:t>
            </a:r>
            <a:r>
              <a:rPr lang="en-US" altLang="zh-CN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n</a:t>
            </a:r>
            <a:r>
              <a:rPr lang="zh-CN" altLang="en-US" sz="2800" dirty="0">
                <a:ea typeface="宋体" charset="-122"/>
              </a:rPr>
              <a:t>个选择线</a:t>
            </a:r>
            <a:r>
              <a:rPr lang="en-US" altLang="zh-CN" sz="2800" dirty="0">
                <a:ea typeface="宋体" charset="-122"/>
              </a:rPr>
              <a:t> </a:t>
            </a:r>
            <a:r>
              <a:rPr lang="zh-CN" altLang="en-US" sz="2800" dirty="0">
                <a:ea typeface="宋体" charset="-122"/>
              </a:rPr>
              <a:t>，</a:t>
            </a:r>
            <a:r>
              <a:rPr lang="en-US" altLang="zh-CN" sz="2800" dirty="0">
                <a:ea typeface="宋体" charset="-122"/>
              </a:rPr>
              <a:t>1</a:t>
            </a:r>
            <a:r>
              <a:rPr lang="zh-CN" altLang="en-US" sz="2800" dirty="0">
                <a:ea typeface="宋体" charset="-122"/>
              </a:rPr>
              <a:t>个输出</a:t>
            </a:r>
            <a:endParaRPr lang="en-US" altLang="zh-CN" sz="2800" dirty="0">
              <a:ea typeface="宋体" charset="-122"/>
            </a:endParaRPr>
          </a:p>
          <a:p>
            <a:pPr marL="576263" lvl="1" indent="-234950"/>
            <a:r>
              <a:rPr lang="zh-CN" altLang="en-US" sz="2400" b="1" dirty="0"/>
              <a:t>从多个输入中选择一个，并将其与输出相连。</a:t>
            </a:r>
            <a:endParaRPr lang="en-US" altLang="zh-CN" sz="2400" b="1" dirty="0"/>
          </a:p>
        </p:txBody>
      </p:sp>
      <p:sp>
        <p:nvSpPr>
          <p:cNvPr id="368646" name="Text Box 6"/>
          <p:cNvSpPr txBox="1">
            <a:spLocks noChangeArrowheads="1"/>
          </p:cNvSpPr>
          <p:nvPr/>
        </p:nvSpPr>
        <p:spPr bwMode="auto">
          <a:xfrm>
            <a:off x="2855640" y="5877760"/>
            <a:ext cx="20050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800" i="1" dirty="0"/>
              <a:t>4-to-1 MUX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13634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全加器</a:t>
            </a:r>
            <a:r>
              <a:rPr lang="en-US" altLang="zh-CN" dirty="0">
                <a:latin typeface="Times New Roman" pitchFamily="18" charset="0"/>
                <a:ea typeface="宋体" charset="-122"/>
                <a:cs typeface="Times New Roman" pitchFamily="18" charset="0"/>
              </a:rPr>
              <a:t>Full Adder</a:t>
            </a:r>
          </a:p>
        </p:txBody>
      </p:sp>
      <p:sp>
        <p:nvSpPr>
          <p:cNvPr id="37069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 sz="2800" dirty="0">
                <a:ea typeface="宋体" charset="-122"/>
              </a:rPr>
              <a:t>包含进位的加法，</a:t>
            </a:r>
            <a:r>
              <a:rPr lang="en-US" altLang="zh-CN" sz="2800" dirty="0">
                <a:ea typeface="宋体" charset="-122"/>
              </a:rPr>
              <a:t>3</a:t>
            </a:r>
            <a:r>
              <a:rPr lang="zh-CN" altLang="en-US" sz="2800" dirty="0">
                <a:ea typeface="宋体" charset="-122"/>
              </a:rPr>
              <a:t>个输入，</a:t>
            </a:r>
            <a:r>
              <a:rPr lang="en-US" altLang="zh-CN" sz="2800" dirty="0">
                <a:ea typeface="宋体" charset="-122"/>
              </a:rPr>
              <a:t>2</a:t>
            </a:r>
            <a:r>
              <a:rPr lang="zh-CN" altLang="en-US" sz="2800" dirty="0">
                <a:ea typeface="宋体" charset="-122"/>
              </a:rPr>
              <a:t>个输出</a:t>
            </a:r>
            <a:r>
              <a:rPr lang="en-US" altLang="zh-CN" sz="2800" dirty="0">
                <a:ea typeface="宋体" charset="-122"/>
              </a:rPr>
              <a:t>.</a:t>
            </a:r>
          </a:p>
        </p:txBody>
      </p:sp>
      <p:graphicFrame>
        <p:nvGraphicFramePr>
          <p:cNvPr id="75780" name="Group 4"/>
          <p:cNvGraphicFramePr>
            <a:graphicFrameLocks noGrp="1"/>
          </p:cNvGraphicFramePr>
          <p:nvPr/>
        </p:nvGraphicFramePr>
        <p:xfrm>
          <a:off x="8534400" y="1709739"/>
          <a:ext cx="1981200" cy="3439161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A</a:t>
                      </a:r>
                    </a:p>
                  </a:txBody>
                  <a:tcPr marL="0" marR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B</a:t>
                      </a:r>
                    </a:p>
                  </a:txBody>
                  <a:tcPr marL="0" marR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C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in</a:t>
                      </a:r>
                    </a:p>
                  </a:txBody>
                  <a:tcPr marL="0" marR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S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C</a:t>
                      </a:r>
                      <a:r>
                        <a:rPr kumimoji="0" lang="en-US" altLang="zh-CN" sz="18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Verdana" pitchFamily="34" charset="0"/>
                          <a:ea typeface="宋体" charset="-122"/>
                        </a:rPr>
                        <a:t>out</a:t>
                      </a:r>
                    </a:p>
                  </a:txBody>
                  <a:tcPr marL="0" marR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marL="0" marR="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marL="0" marR="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marL="0" marR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marL="0" marR="0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marL="0" marR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marL="0" marR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marL="0" marR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marL="0" marR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marL="0" marR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marL="0" marR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marL="0" marR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marL="0" marR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marL="0" marR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marL="0" marR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marL="0" marR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23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marL="0" marR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8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marL="0" marR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370741" name="Picture 71" descr="ch03-fulladd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33601" y="2286000"/>
            <a:ext cx="6145213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26098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73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4-</a:t>
            </a:r>
            <a:r>
              <a:rPr lang="en-US" altLang="zh-CN" dirty="0">
                <a:latin typeface="Times New Roman" pitchFamily="18" charset="0"/>
                <a:ea typeface="宋体" charset="-122"/>
                <a:cs typeface="Times New Roman" pitchFamily="18" charset="0"/>
              </a:rPr>
              <a:t>bit</a:t>
            </a:r>
            <a:r>
              <a:rPr lang="zh-CN" altLang="en-US" dirty="0">
                <a:ea typeface="宋体" charset="-122"/>
              </a:rPr>
              <a:t>加法器</a:t>
            </a:r>
            <a:endParaRPr lang="en-US" altLang="zh-CN" dirty="0">
              <a:ea typeface="宋体" charset="-122"/>
            </a:endParaRPr>
          </a:p>
        </p:txBody>
      </p:sp>
      <p:pic>
        <p:nvPicPr>
          <p:cNvPr id="372740" name="Picture 6" descr="ch03-4bitadd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1905001"/>
            <a:ext cx="8534400" cy="297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可编程逻辑阵列</a:t>
            </a:r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423592" y="1268761"/>
            <a:ext cx="792088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ea typeface="宋体" charset="-122"/>
              </a:rPr>
              <a:t>包含一组与门以及一组或门，可实现任何逻辑函数的可构建模块。图</a:t>
            </a:r>
            <a:r>
              <a:rPr lang="en-US" altLang="zh-CN" sz="2800" dirty="0">
                <a:ea typeface="宋体" charset="-122"/>
              </a:rPr>
              <a:t>3-17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BFCB36-33DB-4BCE-A451-E913AA270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9616" y="2348880"/>
            <a:ext cx="5593114" cy="4083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7545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3.16</a:t>
            </a:r>
          </a:p>
          <a:p>
            <a:r>
              <a:rPr lang="zh-CN" altLang="zh-CN" dirty="0"/>
              <a:t>3</a:t>
            </a:r>
            <a:r>
              <a:rPr lang="en-US" altLang="zh-CN" dirty="0"/>
              <a:t>.17</a:t>
            </a:r>
          </a:p>
          <a:p>
            <a:r>
              <a:rPr lang="zh-CN" altLang="zh-CN" dirty="0"/>
              <a:t>3</a:t>
            </a:r>
            <a:r>
              <a:rPr lang="en-US" altLang="zh-CN" dirty="0"/>
              <a:t>.18</a:t>
            </a:r>
          </a:p>
          <a:p>
            <a:r>
              <a:rPr lang="zh-CN" altLang="zh-CN" dirty="0"/>
              <a:t>3</a:t>
            </a:r>
            <a:r>
              <a:rPr lang="en-US" altLang="zh-CN" dirty="0"/>
              <a:t>.23</a:t>
            </a:r>
          </a:p>
          <a:p>
            <a:r>
              <a:rPr lang="en-US" altLang="zh-CN" dirty="0"/>
              <a:t>3.24</a:t>
            </a:r>
          </a:p>
          <a:p>
            <a:r>
              <a:rPr lang="en-US" altLang="zh-CN" dirty="0"/>
              <a:t>3.26</a:t>
            </a:r>
          </a:p>
          <a:p>
            <a:r>
              <a:rPr lang="en-US" altLang="zh-CN" dirty="0"/>
              <a:t>3.28</a:t>
            </a:r>
          </a:p>
          <a:p>
            <a:r>
              <a:rPr lang="en-US" altLang="zh-CN" dirty="0"/>
              <a:t>3.30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28319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</a:t>
            </a:r>
            <a:r>
              <a:rPr lang="zh-CN" altLang="en-US" dirty="0"/>
              <a:t>存储单元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dirty="0"/>
              <a:t>R-S</a:t>
            </a:r>
            <a:r>
              <a:rPr lang="zh-CN" altLang="en-US" sz="2800" dirty="0"/>
              <a:t>锁存器</a:t>
            </a:r>
            <a:endParaRPr lang="en-US" altLang="zh-CN" sz="2800" dirty="0"/>
          </a:p>
          <a:p>
            <a:r>
              <a:rPr lang="zh-CN" altLang="en-US" sz="2800" dirty="0"/>
              <a:t>门控</a:t>
            </a:r>
            <a:r>
              <a:rPr lang="en-US" altLang="zh-CN" sz="2800" dirty="0"/>
              <a:t>D</a:t>
            </a:r>
            <a:r>
              <a:rPr lang="zh-CN" altLang="en-US" sz="2800" dirty="0"/>
              <a:t>锁存器</a:t>
            </a:r>
            <a:endParaRPr lang="en-US" altLang="zh-CN" sz="2800" dirty="0"/>
          </a:p>
          <a:p>
            <a:r>
              <a:rPr lang="zh-CN" altLang="en-US" sz="2800" dirty="0"/>
              <a:t>寄存器</a:t>
            </a:r>
            <a:endParaRPr lang="zh-HK" altLang="en-US" sz="2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itchFamily="18" charset="0"/>
                <a:ea typeface="宋体" charset="-122"/>
                <a:cs typeface="Times New Roman" pitchFamily="18" charset="0"/>
              </a:rPr>
              <a:t>R-S</a:t>
            </a:r>
            <a:r>
              <a:rPr lang="zh-CN" altLang="en-US" dirty="0">
                <a:latin typeface="Times New Roman" pitchFamily="18" charset="0"/>
                <a:ea typeface="宋体" charset="-122"/>
                <a:cs typeface="Times New Roman" pitchFamily="18" charset="0"/>
              </a:rPr>
              <a:t>锁存器</a:t>
            </a:r>
          </a:p>
        </p:txBody>
      </p:sp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en-US" sz="2800" dirty="0">
                <a:latin typeface="Times New Roman" pitchFamily="18" charset="0"/>
              </a:rPr>
              <a:t>由两个与非门交叉耦合构成，能够存储一个位的信息。</a:t>
            </a:r>
            <a:endParaRPr lang="en-US" altLang="zh-CN" sz="2800" dirty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altLang="zh-CN" sz="2800" dirty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altLang="zh-CN" sz="2800" dirty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altLang="zh-CN" sz="2800" dirty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altLang="zh-CN" sz="2800" dirty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altLang="zh-CN" sz="2800" dirty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US" altLang="zh-CN" sz="2800" dirty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zh-CN" altLang="en-US" sz="2800" dirty="0">
                <a:latin typeface="Times New Roman" pitchFamily="18" charset="0"/>
              </a:rPr>
              <a:t>从静态（</a:t>
            </a:r>
            <a:r>
              <a:rPr lang="en-US" altLang="zh-CN" sz="2800" dirty="0">
                <a:latin typeface="Times New Roman" pitchFamily="18" charset="0"/>
              </a:rPr>
              <a:t>R</a:t>
            </a:r>
            <a:r>
              <a:rPr lang="zh-CN" altLang="en-US" sz="2800" dirty="0">
                <a:latin typeface="Times New Roman" pitchFamily="18" charset="0"/>
              </a:rPr>
              <a:t>和</a:t>
            </a:r>
            <a:r>
              <a:rPr lang="en-US" altLang="zh-CN" sz="2800" dirty="0">
                <a:latin typeface="Times New Roman" pitchFamily="18" charset="0"/>
              </a:rPr>
              <a:t>S</a:t>
            </a:r>
            <a:r>
              <a:rPr lang="zh-CN" altLang="en-US" sz="2800" dirty="0">
                <a:latin typeface="Times New Roman" pitchFamily="18" charset="0"/>
              </a:rPr>
              <a:t>都为</a:t>
            </a:r>
            <a:r>
              <a:rPr lang="en-US" altLang="zh-CN" sz="2800" dirty="0">
                <a:latin typeface="Times New Roman" pitchFamily="18" charset="0"/>
              </a:rPr>
              <a:t>1</a:t>
            </a:r>
            <a:r>
              <a:rPr lang="zh-CN" altLang="en-US" sz="2800" dirty="0">
                <a:latin typeface="Times New Roman" pitchFamily="18" charset="0"/>
              </a:rPr>
              <a:t>）开始工作。</a:t>
            </a:r>
            <a:endParaRPr lang="en-US" altLang="zh-CN" sz="2800" dirty="0">
              <a:latin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itchFamily="18" charset="0"/>
              </a:rPr>
              <a:t>	R=1</a:t>
            </a:r>
            <a:r>
              <a:rPr lang="zh-CN" altLang="en-US" sz="2800" dirty="0">
                <a:latin typeface="Times New Roman" pitchFamily="18" charset="0"/>
              </a:rPr>
              <a:t>，</a:t>
            </a:r>
            <a:r>
              <a:rPr lang="en-US" altLang="zh-CN" sz="2800" dirty="0">
                <a:latin typeface="Times New Roman" pitchFamily="18" charset="0"/>
              </a:rPr>
              <a:t>S=1	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itchFamily="18" charset="0"/>
              </a:rPr>
              <a:t>	R=1</a:t>
            </a:r>
            <a:r>
              <a:rPr lang="zh-CN" altLang="en-US" sz="2800" dirty="0">
                <a:latin typeface="Times New Roman" pitchFamily="18" charset="0"/>
              </a:rPr>
              <a:t>，</a:t>
            </a:r>
            <a:r>
              <a:rPr lang="en-US" altLang="zh-CN" sz="2800" dirty="0">
                <a:latin typeface="Times New Roman" pitchFamily="18" charset="0"/>
              </a:rPr>
              <a:t>S=0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itchFamily="18" charset="0"/>
              </a:rPr>
              <a:t>	S=1</a:t>
            </a:r>
            <a:r>
              <a:rPr lang="zh-CN" altLang="en-US" sz="2800" dirty="0">
                <a:latin typeface="Times New Roman" pitchFamily="18" charset="0"/>
              </a:rPr>
              <a:t>，</a:t>
            </a:r>
            <a:r>
              <a:rPr lang="en-US" altLang="zh-CN" sz="2800" dirty="0">
                <a:latin typeface="Times New Roman" pitchFamily="18" charset="0"/>
              </a:rPr>
              <a:t>R=0</a:t>
            </a:r>
          </a:p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itchFamily="18" charset="0"/>
              </a:rPr>
              <a:t>	R=0</a:t>
            </a:r>
            <a:r>
              <a:rPr lang="zh-CN" altLang="en-US" sz="2800" dirty="0">
                <a:latin typeface="Times New Roman" pitchFamily="18" charset="0"/>
              </a:rPr>
              <a:t>，</a:t>
            </a:r>
            <a:r>
              <a:rPr lang="en-US" altLang="zh-CN" sz="2800" dirty="0">
                <a:latin typeface="Times New Roman" pitchFamily="18" charset="0"/>
              </a:rPr>
              <a:t>S=0</a:t>
            </a:r>
            <a:endParaRPr lang="zh-CN" altLang="en-US" sz="2800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215681" y="1916832"/>
            <a:ext cx="3565525" cy="1905000"/>
            <a:chOff x="432" y="1488"/>
            <a:chExt cx="2246" cy="1200"/>
          </a:xfrm>
        </p:grpSpPr>
        <p:sp>
          <p:nvSpPr>
            <p:cNvPr id="413701" name="Text Box 8"/>
            <p:cNvSpPr txBox="1">
              <a:spLocks noChangeArrowheads="1"/>
            </p:cNvSpPr>
            <p:nvPr/>
          </p:nvSpPr>
          <p:spPr bwMode="auto">
            <a:xfrm>
              <a:off x="2145" y="1776"/>
              <a:ext cx="23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>
                  <a:latin typeface="Franklin Gothic Book" pitchFamily="34" charset="0"/>
                </a:rPr>
                <a:t>1</a:t>
              </a:r>
            </a:p>
          </p:txBody>
        </p:sp>
        <p:sp>
          <p:nvSpPr>
            <p:cNvPr id="413702" name="Text Box 9"/>
            <p:cNvSpPr txBox="1">
              <a:spLocks noChangeArrowheads="1"/>
            </p:cNvSpPr>
            <p:nvPr/>
          </p:nvSpPr>
          <p:spPr bwMode="auto">
            <a:xfrm>
              <a:off x="2145" y="2352"/>
              <a:ext cx="23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>
                  <a:latin typeface="Franklin Gothic Book" pitchFamily="34" charset="0"/>
                </a:rPr>
                <a:t>0</a:t>
              </a:r>
            </a:p>
          </p:txBody>
        </p:sp>
        <p:pic>
          <p:nvPicPr>
            <p:cNvPr id="413703" name="Picture 18" descr="ch03-srlatch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32" y="1488"/>
              <a:ext cx="2246" cy="1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itchFamily="18" charset="0"/>
                <a:ea typeface="宋体" charset="-122"/>
                <a:cs typeface="Times New Roman" pitchFamily="18" charset="0"/>
              </a:rPr>
              <a:t>保持</a:t>
            </a:r>
          </a:p>
        </p:txBody>
      </p:sp>
      <p:sp>
        <p:nvSpPr>
          <p:cNvPr id="413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R</a:t>
            </a:r>
            <a:r>
              <a:rPr lang="zh-CN" altLang="en-US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、</a:t>
            </a:r>
            <a:r>
              <a:rPr lang="en-US" altLang="zh-CN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S</a:t>
            </a:r>
            <a:r>
              <a:rPr lang="zh-CN" altLang="en-US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同时为</a:t>
            </a:r>
            <a:r>
              <a:rPr lang="en-US" altLang="zh-CN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1</a:t>
            </a:r>
            <a:r>
              <a:rPr lang="zh-CN" altLang="en-US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，输出可能为</a:t>
            </a:r>
            <a:r>
              <a:rPr lang="en-US" altLang="zh-CN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1</a:t>
            </a:r>
            <a:r>
              <a:rPr lang="zh-CN" altLang="en-US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或者</a:t>
            </a:r>
            <a:r>
              <a:rPr lang="en-US" altLang="zh-CN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0.</a:t>
            </a:r>
          </a:p>
          <a:p>
            <a:pPr>
              <a:lnSpc>
                <a:spcPct val="90000"/>
              </a:lnSpc>
            </a:pPr>
            <a:endParaRPr lang="zh-CN" altLang="en-US" dirty="0"/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063553" y="2420888"/>
            <a:ext cx="7985125" cy="2290762"/>
            <a:chOff x="432" y="1392"/>
            <a:chExt cx="5030" cy="1443"/>
          </a:xfrm>
        </p:grpSpPr>
        <p:sp>
          <p:nvSpPr>
            <p:cNvPr id="413701" name="Text Box 8"/>
            <p:cNvSpPr txBox="1">
              <a:spLocks noChangeArrowheads="1"/>
            </p:cNvSpPr>
            <p:nvPr/>
          </p:nvSpPr>
          <p:spPr bwMode="auto">
            <a:xfrm>
              <a:off x="2145" y="1776"/>
              <a:ext cx="23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00"/>
                  </a:solidFill>
                  <a:latin typeface="Franklin Gothic Book" pitchFamily="34" charset="0"/>
                </a:rPr>
                <a:t>1</a:t>
              </a:r>
            </a:p>
          </p:txBody>
        </p:sp>
        <p:sp>
          <p:nvSpPr>
            <p:cNvPr id="413702" name="Text Box 9"/>
            <p:cNvSpPr txBox="1">
              <a:spLocks noChangeArrowheads="1"/>
            </p:cNvSpPr>
            <p:nvPr/>
          </p:nvSpPr>
          <p:spPr bwMode="auto">
            <a:xfrm>
              <a:off x="2145" y="2352"/>
              <a:ext cx="23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00"/>
                  </a:solidFill>
                  <a:latin typeface="Franklin Gothic Book" pitchFamily="34" charset="0"/>
                </a:rPr>
                <a:t>0</a:t>
              </a:r>
            </a:p>
          </p:txBody>
        </p:sp>
        <p:pic>
          <p:nvPicPr>
            <p:cNvPr id="413703" name="Picture 18" descr="ch03-srlatch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432" y="1488"/>
              <a:ext cx="2246" cy="1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413704" name="Picture 19" descr="ch03-srlatch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216" y="1488"/>
              <a:ext cx="2246" cy="1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3705" name="Text Box 20"/>
            <p:cNvSpPr txBox="1">
              <a:spLocks noChangeArrowheads="1"/>
            </p:cNvSpPr>
            <p:nvPr/>
          </p:nvSpPr>
          <p:spPr bwMode="auto">
            <a:xfrm>
              <a:off x="1043" y="1392"/>
              <a:ext cx="22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413706" name="Text Box 21"/>
            <p:cNvSpPr txBox="1">
              <a:spLocks noChangeArrowheads="1"/>
            </p:cNvSpPr>
            <p:nvPr/>
          </p:nvSpPr>
          <p:spPr bwMode="auto">
            <a:xfrm>
              <a:off x="1043" y="2544"/>
              <a:ext cx="22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413707" name="Text Box 22"/>
            <p:cNvSpPr txBox="1">
              <a:spLocks noChangeArrowheads="1"/>
            </p:cNvSpPr>
            <p:nvPr/>
          </p:nvSpPr>
          <p:spPr bwMode="auto">
            <a:xfrm>
              <a:off x="2051" y="1680"/>
              <a:ext cx="22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CE0000"/>
                  </a:solidFill>
                </a:rPr>
                <a:t>1</a:t>
              </a:r>
            </a:p>
          </p:txBody>
        </p:sp>
        <p:sp>
          <p:nvSpPr>
            <p:cNvPr id="413708" name="Text Box 23"/>
            <p:cNvSpPr txBox="1">
              <a:spLocks noChangeArrowheads="1"/>
            </p:cNvSpPr>
            <p:nvPr/>
          </p:nvSpPr>
          <p:spPr bwMode="auto">
            <a:xfrm>
              <a:off x="1043" y="2304"/>
              <a:ext cx="22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CE0000"/>
                  </a:solidFill>
                </a:rPr>
                <a:t>1</a:t>
              </a:r>
            </a:p>
          </p:txBody>
        </p:sp>
        <p:sp>
          <p:nvSpPr>
            <p:cNvPr id="413709" name="Text Box 24"/>
            <p:cNvSpPr txBox="1">
              <a:spLocks noChangeArrowheads="1"/>
            </p:cNvSpPr>
            <p:nvPr/>
          </p:nvSpPr>
          <p:spPr bwMode="auto">
            <a:xfrm>
              <a:off x="1043" y="1632"/>
              <a:ext cx="22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CE0000"/>
                  </a:solidFill>
                </a:rPr>
                <a:t>0</a:t>
              </a:r>
            </a:p>
          </p:txBody>
        </p:sp>
        <p:sp>
          <p:nvSpPr>
            <p:cNvPr id="413710" name="Text Box 25"/>
            <p:cNvSpPr txBox="1">
              <a:spLocks noChangeArrowheads="1"/>
            </p:cNvSpPr>
            <p:nvPr/>
          </p:nvSpPr>
          <p:spPr bwMode="auto">
            <a:xfrm>
              <a:off x="2051" y="2256"/>
              <a:ext cx="22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CE0000"/>
                  </a:solidFill>
                </a:rPr>
                <a:t>0</a:t>
              </a:r>
            </a:p>
          </p:txBody>
        </p:sp>
        <p:sp>
          <p:nvSpPr>
            <p:cNvPr id="413711" name="Text Box 28"/>
            <p:cNvSpPr txBox="1">
              <a:spLocks noChangeArrowheads="1"/>
            </p:cNvSpPr>
            <p:nvPr/>
          </p:nvSpPr>
          <p:spPr bwMode="auto">
            <a:xfrm>
              <a:off x="3827" y="1392"/>
              <a:ext cx="22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413712" name="Text Box 29"/>
            <p:cNvSpPr txBox="1">
              <a:spLocks noChangeArrowheads="1"/>
            </p:cNvSpPr>
            <p:nvPr/>
          </p:nvSpPr>
          <p:spPr bwMode="auto">
            <a:xfrm>
              <a:off x="3827" y="2544"/>
              <a:ext cx="22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0000FF"/>
                  </a:solidFill>
                </a:rPr>
                <a:t>1</a:t>
              </a:r>
            </a:p>
          </p:txBody>
        </p:sp>
        <p:sp>
          <p:nvSpPr>
            <p:cNvPr id="413713" name="Text Box 30"/>
            <p:cNvSpPr txBox="1">
              <a:spLocks noChangeArrowheads="1"/>
            </p:cNvSpPr>
            <p:nvPr/>
          </p:nvSpPr>
          <p:spPr bwMode="auto">
            <a:xfrm>
              <a:off x="4835" y="1680"/>
              <a:ext cx="22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CE0000"/>
                  </a:solidFill>
                </a:rPr>
                <a:t>0</a:t>
              </a:r>
            </a:p>
          </p:txBody>
        </p:sp>
        <p:sp>
          <p:nvSpPr>
            <p:cNvPr id="413714" name="Text Box 31"/>
            <p:cNvSpPr txBox="1">
              <a:spLocks noChangeArrowheads="1"/>
            </p:cNvSpPr>
            <p:nvPr/>
          </p:nvSpPr>
          <p:spPr bwMode="auto">
            <a:xfrm>
              <a:off x="3827" y="2304"/>
              <a:ext cx="22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CE0000"/>
                  </a:solidFill>
                </a:rPr>
                <a:t>0</a:t>
              </a:r>
            </a:p>
          </p:txBody>
        </p:sp>
        <p:sp>
          <p:nvSpPr>
            <p:cNvPr id="413715" name="Text Box 32"/>
            <p:cNvSpPr txBox="1">
              <a:spLocks noChangeArrowheads="1"/>
            </p:cNvSpPr>
            <p:nvPr/>
          </p:nvSpPr>
          <p:spPr bwMode="auto">
            <a:xfrm>
              <a:off x="3827" y="1632"/>
              <a:ext cx="22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CE0000"/>
                  </a:solidFill>
                </a:rPr>
                <a:t>1</a:t>
              </a:r>
            </a:p>
          </p:txBody>
        </p:sp>
        <p:sp>
          <p:nvSpPr>
            <p:cNvPr id="413716" name="Text Box 33"/>
            <p:cNvSpPr txBox="1">
              <a:spLocks noChangeArrowheads="1"/>
            </p:cNvSpPr>
            <p:nvPr/>
          </p:nvSpPr>
          <p:spPr bwMode="auto">
            <a:xfrm>
              <a:off x="4835" y="2256"/>
              <a:ext cx="22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>
                  <a:solidFill>
                    <a:srgbClr val="CE0000"/>
                  </a:solidFill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92368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清</a:t>
            </a:r>
            <a:r>
              <a:rPr lang="en-US" altLang="zh-CN" dirty="0">
                <a:ea typeface="宋体" charset="-122"/>
              </a:rPr>
              <a:t>0</a:t>
            </a:r>
          </a:p>
        </p:txBody>
      </p:sp>
      <p:sp>
        <p:nvSpPr>
          <p:cNvPr id="37888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R</a:t>
            </a:r>
            <a:r>
              <a:rPr lang="zh-CN" altLang="en-US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：清</a:t>
            </a:r>
            <a:r>
              <a:rPr lang="en-US" altLang="zh-CN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0</a:t>
            </a:r>
            <a:r>
              <a:rPr lang="zh-CN" altLang="en-US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端</a:t>
            </a:r>
            <a:endParaRPr lang="en-US" altLang="zh-CN" sz="2800" dirty="0">
              <a:ea typeface="宋体" charset="-122"/>
            </a:endParaRPr>
          </a:p>
          <a:p>
            <a:r>
              <a:rPr lang="zh-CN" altLang="en-US" sz="2800" dirty="0">
                <a:ea typeface="宋体" charset="-122"/>
              </a:rPr>
              <a:t>假设开始时输出为</a:t>
            </a:r>
            <a:r>
              <a:rPr lang="en-US" altLang="zh-CN" sz="2800" dirty="0">
                <a:ea typeface="宋体" charset="-122"/>
              </a:rPr>
              <a:t>1</a:t>
            </a:r>
            <a:r>
              <a:rPr lang="zh-CN" altLang="en-US" sz="2800" dirty="0">
                <a:ea typeface="宋体" charset="-122"/>
              </a:rPr>
              <a:t>，然后将</a:t>
            </a:r>
            <a:r>
              <a:rPr lang="en-US" altLang="zh-CN" sz="2800" dirty="0">
                <a:ea typeface="宋体" charset="-122"/>
              </a:rPr>
              <a:t>R</a:t>
            </a:r>
            <a:r>
              <a:rPr lang="zh-CN" altLang="en-US" sz="2800" dirty="0">
                <a:ea typeface="宋体" charset="-122"/>
              </a:rPr>
              <a:t>变为</a:t>
            </a:r>
            <a:r>
              <a:rPr lang="en-US" altLang="zh-CN" sz="2800" dirty="0">
                <a:ea typeface="宋体" charset="-122"/>
              </a:rPr>
              <a:t>0</a:t>
            </a:r>
            <a:r>
              <a:rPr lang="zh-CN" altLang="en-US" sz="2800" dirty="0">
                <a:ea typeface="宋体" charset="-122"/>
              </a:rPr>
              <a:t>。</a:t>
            </a:r>
            <a:endParaRPr lang="en-US" altLang="zh-CN" sz="2800" dirty="0">
              <a:ea typeface="宋体" charset="-122"/>
            </a:endParaRPr>
          </a:p>
          <a:p>
            <a:endParaRPr lang="en-US" altLang="zh-CN" dirty="0">
              <a:ea typeface="宋体" charset="-122"/>
            </a:endParaRPr>
          </a:p>
        </p:txBody>
      </p:sp>
      <p:sp>
        <p:nvSpPr>
          <p:cNvPr id="378885" name="Text Box 19"/>
          <p:cNvSpPr txBox="1">
            <a:spLocks noChangeArrowheads="1"/>
          </p:cNvSpPr>
          <p:nvPr/>
        </p:nvSpPr>
        <p:spPr bwMode="auto">
          <a:xfrm>
            <a:off x="7195391" y="3872632"/>
            <a:ext cx="192713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b="1" dirty="0"/>
              <a:t>输出变为</a:t>
            </a:r>
            <a:r>
              <a:rPr lang="en-US" altLang="zh-CN" b="1" dirty="0"/>
              <a:t>0</a:t>
            </a:r>
            <a:r>
              <a:rPr lang="zh-CN" altLang="en-US" b="1" dirty="0"/>
              <a:t>。</a:t>
            </a:r>
            <a:endParaRPr lang="en-US" altLang="zh-CN" b="1" dirty="0"/>
          </a:p>
          <a:p>
            <a:pPr algn="ctr" eaLnBrk="0" hangingPunct="0"/>
            <a:r>
              <a:rPr lang="en-US" altLang="zh-CN" b="1" dirty="0"/>
              <a:t>.</a:t>
            </a:r>
          </a:p>
        </p:txBody>
      </p:sp>
      <p:sp>
        <p:nvSpPr>
          <p:cNvPr id="378887" name="Text Box 22"/>
          <p:cNvSpPr txBox="1">
            <a:spLocks noChangeArrowheads="1"/>
          </p:cNvSpPr>
          <p:nvPr/>
        </p:nvSpPr>
        <p:spPr bwMode="auto">
          <a:xfrm>
            <a:off x="4624047" y="2805832"/>
            <a:ext cx="36580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latin typeface="Franklin Gothic Book" pitchFamily="34" charset="0"/>
              </a:rPr>
              <a:t>1</a:t>
            </a:r>
          </a:p>
        </p:txBody>
      </p:sp>
      <p:sp>
        <p:nvSpPr>
          <p:cNvPr id="378888" name="Text Box 23"/>
          <p:cNvSpPr txBox="1">
            <a:spLocks noChangeArrowheads="1"/>
          </p:cNvSpPr>
          <p:nvPr/>
        </p:nvSpPr>
        <p:spPr bwMode="auto">
          <a:xfrm>
            <a:off x="4624047" y="3720232"/>
            <a:ext cx="36580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latin typeface="Franklin Gothic Book" pitchFamily="34" charset="0"/>
              </a:rPr>
              <a:t>0</a:t>
            </a:r>
          </a:p>
        </p:txBody>
      </p:sp>
      <p:pic>
        <p:nvPicPr>
          <p:cNvPr id="378889" name="Picture 24" descr="ch03-srlatch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1" y="2348631"/>
            <a:ext cx="3565525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890" name="Text Box 25"/>
          <p:cNvSpPr txBox="1">
            <a:spLocks noChangeArrowheads="1"/>
          </p:cNvSpPr>
          <p:nvPr/>
        </p:nvSpPr>
        <p:spPr bwMode="auto">
          <a:xfrm>
            <a:off x="2874684" y="2196232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378891" name="Text Box 26"/>
          <p:cNvSpPr txBox="1">
            <a:spLocks noChangeArrowheads="1"/>
          </p:cNvSpPr>
          <p:nvPr/>
        </p:nvSpPr>
        <p:spPr bwMode="auto">
          <a:xfrm>
            <a:off x="2874684" y="4025032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378892" name="Text Box 27"/>
          <p:cNvSpPr txBox="1">
            <a:spLocks noChangeArrowheads="1"/>
          </p:cNvSpPr>
          <p:nvPr/>
        </p:nvSpPr>
        <p:spPr bwMode="auto">
          <a:xfrm>
            <a:off x="4474884" y="2653432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solidFill>
                  <a:srgbClr val="CE0000"/>
                </a:solidFill>
              </a:rPr>
              <a:t>1</a:t>
            </a:r>
          </a:p>
        </p:txBody>
      </p:sp>
      <p:sp>
        <p:nvSpPr>
          <p:cNvPr id="378893" name="Text Box 28"/>
          <p:cNvSpPr txBox="1">
            <a:spLocks noChangeArrowheads="1"/>
          </p:cNvSpPr>
          <p:nvPr/>
        </p:nvSpPr>
        <p:spPr bwMode="auto">
          <a:xfrm>
            <a:off x="2874684" y="3644032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solidFill>
                  <a:srgbClr val="CE0000"/>
                </a:solidFill>
              </a:rPr>
              <a:t>1</a:t>
            </a:r>
          </a:p>
        </p:txBody>
      </p:sp>
      <p:sp>
        <p:nvSpPr>
          <p:cNvPr id="378894" name="Text Box 29"/>
          <p:cNvSpPr txBox="1">
            <a:spLocks noChangeArrowheads="1"/>
          </p:cNvSpPr>
          <p:nvPr/>
        </p:nvSpPr>
        <p:spPr bwMode="auto">
          <a:xfrm>
            <a:off x="2874684" y="2577232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solidFill>
                  <a:srgbClr val="CE0000"/>
                </a:solidFill>
              </a:rPr>
              <a:t>0</a:t>
            </a:r>
          </a:p>
        </p:txBody>
      </p:sp>
      <p:sp>
        <p:nvSpPr>
          <p:cNvPr id="378895" name="Text Box 30"/>
          <p:cNvSpPr txBox="1">
            <a:spLocks noChangeArrowheads="1"/>
          </p:cNvSpPr>
          <p:nvPr/>
        </p:nvSpPr>
        <p:spPr bwMode="auto">
          <a:xfrm>
            <a:off x="4474884" y="3567832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solidFill>
                  <a:srgbClr val="CE0000"/>
                </a:solidFill>
              </a:rPr>
              <a:t>0</a:t>
            </a:r>
          </a:p>
        </p:txBody>
      </p:sp>
      <p:sp>
        <p:nvSpPr>
          <p:cNvPr id="378896" name="Text Box 31"/>
          <p:cNvSpPr txBox="1">
            <a:spLocks noChangeArrowheads="1"/>
          </p:cNvSpPr>
          <p:nvPr/>
        </p:nvSpPr>
        <p:spPr bwMode="auto">
          <a:xfrm>
            <a:off x="9348447" y="4939432"/>
            <a:ext cx="36580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latin typeface="Franklin Gothic Book" pitchFamily="34" charset="0"/>
              </a:rPr>
              <a:t>1</a:t>
            </a:r>
          </a:p>
        </p:txBody>
      </p:sp>
      <p:sp>
        <p:nvSpPr>
          <p:cNvPr id="378897" name="Text Box 32"/>
          <p:cNvSpPr txBox="1">
            <a:spLocks noChangeArrowheads="1"/>
          </p:cNvSpPr>
          <p:nvPr/>
        </p:nvSpPr>
        <p:spPr bwMode="auto">
          <a:xfrm>
            <a:off x="9348447" y="5853832"/>
            <a:ext cx="36580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latin typeface="Franklin Gothic Book" pitchFamily="34" charset="0"/>
              </a:rPr>
              <a:t>0</a:t>
            </a:r>
          </a:p>
        </p:txBody>
      </p:sp>
      <p:pic>
        <p:nvPicPr>
          <p:cNvPr id="378898" name="Picture 33" descr="ch03-srlatch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29401" y="4482231"/>
            <a:ext cx="3565525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899" name="Text Box 34"/>
          <p:cNvSpPr txBox="1">
            <a:spLocks noChangeArrowheads="1"/>
          </p:cNvSpPr>
          <p:nvPr/>
        </p:nvSpPr>
        <p:spPr bwMode="auto">
          <a:xfrm>
            <a:off x="7599084" y="4329832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378900" name="Text Box 35"/>
          <p:cNvSpPr txBox="1">
            <a:spLocks noChangeArrowheads="1"/>
          </p:cNvSpPr>
          <p:nvPr/>
        </p:nvSpPr>
        <p:spPr bwMode="auto">
          <a:xfrm>
            <a:off x="7599084" y="6158632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378901" name="Text Box 36"/>
          <p:cNvSpPr txBox="1">
            <a:spLocks noChangeArrowheads="1"/>
          </p:cNvSpPr>
          <p:nvPr/>
        </p:nvSpPr>
        <p:spPr bwMode="auto">
          <a:xfrm>
            <a:off x="9199284" y="4787032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378902" name="Text Box 37"/>
          <p:cNvSpPr txBox="1">
            <a:spLocks noChangeArrowheads="1"/>
          </p:cNvSpPr>
          <p:nvPr/>
        </p:nvSpPr>
        <p:spPr bwMode="auto">
          <a:xfrm>
            <a:off x="7599084" y="5777632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solidFill>
                  <a:srgbClr val="CE0000"/>
                </a:solidFill>
              </a:rPr>
              <a:t>0</a:t>
            </a:r>
          </a:p>
        </p:txBody>
      </p:sp>
      <p:sp>
        <p:nvSpPr>
          <p:cNvPr id="378903" name="Text Box 38"/>
          <p:cNvSpPr txBox="1">
            <a:spLocks noChangeArrowheads="1"/>
          </p:cNvSpPr>
          <p:nvPr/>
        </p:nvSpPr>
        <p:spPr bwMode="auto">
          <a:xfrm>
            <a:off x="7599084" y="4710832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solidFill>
                  <a:srgbClr val="CE0000"/>
                </a:solidFill>
              </a:rPr>
              <a:t>1</a:t>
            </a:r>
          </a:p>
        </p:txBody>
      </p:sp>
      <p:sp>
        <p:nvSpPr>
          <p:cNvPr id="378904" name="Text Box 39"/>
          <p:cNvSpPr txBox="1">
            <a:spLocks noChangeArrowheads="1"/>
          </p:cNvSpPr>
          <p:nvPr/>
        </p:nvSpPr>
        <p:spPr bwMode="auto">
          <a:xfrm>
            <a:off x="9199284" y="5701432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solidFill>
                  <a:srgbClr val="CE0000"/>
                </a:solidFill>
              </a:rPr>
              <a:t>1</a:t>
            </a:r>
          </a:p>
        </p:txBody>
      </p:sp>
      <p:sp>
        <p:nvSpPr>
          <p:cNvPr id="378905" name="Line 18"/>
          <p:cNvSpPr>
            <a:spLocks noChangeShapeType="1"/>
          </p:cNvSpPr>
          <p:nvPr/>
        </p:nvSpPr>
        <p:spPr bwMode="auto">
          <a:xfrm>
            <a:off x="5105400" y="4177431"/>
            <a:ext cx="1447800" cy="9906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Rectangle 1"/>
          <p:cNvSpPr/>
          <p:nvPr/>
        </p:nvSpPr>
        <p:spPr>
          <a:xfrm>
            <a:off x="1948262" y="1124744"/>
            <a:ext cx="261610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latin typeface="Times New Roman" pitchFamily="18" charset="0"/>
                <a:ea typeface="宋体" charset="-122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置</a:t>
            </a:r>
            <a:r>
              <a:rPr lang="en-US" altLang="zh-CN" dirty="0">
                <a:ea typeface="宋体" charset="-122"/>
              </a:rPr>
              <a:t>1</a:t>
            </a:r>
          </a:p>
        </p:txBody>
      </p:sp>
      <p:sp>
        <p:nvSpPr>
          <p:cNvPr id="380932" name="Rectangle 3"/>
          <p:cNvSpPr>
            <a:spLocks noGrp="1" noChangeArrowheads="1"/>
          </p:cNvSpPr>
          <p:nvPr>
            <p:ph type="body" idx="4294967295"/>
          </p:nvPr>
        </p:nvSpPr>
        <p:spPr>
          <a:noFill/>
        </p:spPr>
        <p:txBody>
          <a:bodyPr/>
          <a:lstStyle/>
          <a:p>
            <a:r>
              <a:rPr lang="en-US" altLang="zh-CN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S</a:t>
            </a:r>
            <a:r>
              <a:rPr lang="zh-CN" altLang="en-US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： 置</a:t>
            </a:r>
            <a:r>
              <a:rPr lang="en-US" altLang="zh-CN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1</a:t>
            </a:r>
            <a:r>
              <a:rPr lang="zh-CN" altLang="en-US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端。</a:t>
            </a:r>
            <a:endParaRPr lang="en-US" altLang="zh-CN" sz="2800" dirty="0">
              <a:latin typeface="Times New Roman" pitchFamily="18" charset="0"/>
              <a:ea typeface="宋体" charset="-122"/>
              <a:cs typeface="Times New Roman" pitchFamily="18" charset="0"/>
            </a:endParaRPr>
          </a:p>
          <a:p>
            <a:r>
              <a:rPr lang="zh-CN" altLang="en-US" sz="2800" dirty="0">
                <a:ea typeface="宋体" charset="-122"/>
              </a:rPr>
              <a:t>假设开始时输出为</a:t>
            </a:r>
            <a:r>
              <a:rPr lang="en-US" altLang="zh-CN" sz="2800" dirty="0">
                <a:ea typeface="宋体" charset="-122"/>
              </a:rPr>
              <a:t>0</a:t>
            </a:r>
            <a:r>
              <a:rPr lang="zh-CN" altLang="en-US" sz="2800" dirty="0">
                <a:ea typeface="宋体" charset="-122"/>
              </a:rPr>
              <a:t>，然后将</a:t>
            </a:r>
            <a:r>
              <a:rPr lang="en-US" altLang="zh-CN" sz="2800" dirty="0">
                <a:ea typeface="宋体" charset="-122"/>
              </a:rPr>
              <a:t>S</a:t>
            </a:r>
            <a:r>
              <a:rPr lang="zh-CN" altLang="en-US" sz="2800" dirty="0">
                <a:ea typeface="宋体" charset="-122"/>
              </a:rPr>
              <a:t>变为</a:t>
            </a:r>
            <a:r>
              <a:rPr lang="en-US" altLang="zh-CN" sz="2800" dirty="0">
                <a:ea typeface="宋体" charset="-122"/>
              </a:rPr>
              <a:t>0</a:t>
            </a:r>
            <a:r>
              <a:rPr lang="zh-CN" altLang="en-US" sz="2800" dirty="0">
                <a:ea typeface="宋体" charset="-122"/>
              </a:rPr>
              <a:t>。</a:t>
            </a:r>
            <a:endParaRPr lang="en-US" altLang="zh-CN" sz="2800" dirty="0">
              <a:ea typeface="宋体" charset="-122"/>
            </a:endParaRPr>
          </a:p>
        </p:txBody>
      </p:sp>
      <p:sp>
        <p:nvSpPr>
          <p:cNvPr id="380933" name="Text Box 19"/>
          <p:cNvSpPr txBox="1">
            <a:spLocks noChangeArrowheads="1"/>
          </p:cNvSpPr>
          <p:nvPr/>
        </p:nvSpPr>
        <p:spPr bwMode="auto">
          <a:xfrm>
            <a:off x="7303579" y="3800624"/>
            <a:ext cx="171393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en-US" b="1" dirty="0"/>
              <a:t>输出变为</a:t>
            </a:r>
            <a:r>
              <a:rPr lang="en-US" altLang="zh-CN" b="1" dirty="0"/>
              <a:t>1.</a:t>
            </a:r>
          </a:p>
        </p:txBody>
      </p:sp>
      <p:pic>
        <p:nvPicPr>
          <p:cNvPr id="380935" name="Picture 21" descr="ch03-srlatch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1" y="2276623"/>
            <a:ext cx="3565525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0936" name="Text Box 22"/>
          <p:cNvSpPr txBox="1">
            <a:spLocks noChangeArrowheads="1"/>
          </p:cNvSpPr>
          <p:nvPr/>
        </p:nvSpPr>
        <p:spPr bwMode="auto">
          <a:xfrm>
            <a:off x="2874684" y="2124224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380937" name="Text Box 23"/>
          <p:cNvSpPr txBox="1">
            <a:spLocks noChangeArrowheads="1"/>
          </p:cNvSpPr>
          <p:nvPr/>
        </p:nvSpPr>
        <p:spPr bwMode="auto">
          <a:xfrm>
            <a:off x="2874684" y="3953024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380938" name="Text Box 24"/>
          <p:cNvSpPr txBox="1">
            <a:spLocks noChangeArrowheads="1"/>
          </p:cNvSpPr>
          <p:nvPr/>
        </p:nvSpPr>
        <p:spPr bwMode="auto">
          <a:xfrm>
            <a:off x="4474884" y="2581424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solidFill>
                  <a:srgbClr val="CE0000"/>
                </a:solidFill>
              </a:rPr>
              <a:t>0</a:t>
            </a:r>
          </a:p>
        </p:txBody>
      </p:sp>
      <p:sp>
        <p:nvSpPr>
          <p:cNvPr id="380939" name="Text Box 25"/>
          <p:cNvSpPr txBox="1">
            <a:spLocks noChangeArrowheads="1"/>
          </p:cNvSpPr>
          <p:nvPr/>
        </p:nvSpPr>
        <p:spPr bwMode="auto">
          <a:xfrm>
            <a:off x="2874684" y="3572024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solidFill>
                  <a:srgbClr val="CE0000"/>
                </a:solidFill>
              </a:rPr>
              <a:t>0</a:t>
            </a:r>
          </a:p>
        </p:txBody>
      </p:sp>
      <p:sp>
        <p:nvSpPr>
          <p:cNvPr id="380940" name="Text Box 26"/>
          <p:cNvSpPr txBox="1">
            <a:spLocks noChangeArrowheads="1"/>
          </p:cNvSpPr>
          <p:nvPr/>
        </p:nvSpPr>
        <p:spPr bwMode="auto">
          <a:xfrm>
            <a:off x="2874684" y="2505224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solidFill>
                  <a:srgbClr val="CE0000"/>
                </a:solidFill>
              </a:rPr>
              <a:t>1</a:t>
            </a:r>
          </a:p>
        </p:txBody>
      </p:sp>
      <p:sp>
        <p:nvSpPr>
          <p:cNvPr id="380941" name="Text Box 27"/>
          <p:cNvSpPr txBox="1">
            <a:spLocks noChangeArrowheads="1"/>
          </p:cNvSpPr>
          <p:nvPr/>
        </p:nvSpPr>
        <p:spPr bwMode="auto">
          <a:xfrm>
            <a:off x="4474884" y="3495824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solidFill>
                  <a:srgbClr val="CE0000"/>
                </a:solidFill>
              </a:rPr>
              <a:t>1</a:t>
            </a:r>
          </a:p>
        </p:txBody>
      </p:sp>
      <p:pic>
        <p:nvPicPr>
          <p:cNvPr id="380942" name="Picture 28" descr="ch03-srlatch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29401" y="4410223"/>
            <a:ext cx="3565525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0943" name="Text Box 29"/>
          <p:cNvSpPr txBox="1">
            <a:spLocks noChangeArrowheads="1"/>
          </p:cNvSpPr>
          <p:nvPr/>
        </p:nvSpPr>
        <p:spPr bwMode="auto">
          <a:xfrm>
            <a:off x="7599084" y="4257824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solidFill>
                  <a:srgbClr val="009900"/>
                </a:solidFill>
              </a:rPr>
              <a:t>0</a:t>
            </a:r>
          </a:p>
        </p:txBody>
      </p:sp>
      <p:sp>
        <p:nvSpPr>
          <p:cNvPr id="380944" name="Text Box 30"/>
          <p:cNvSpPr txBox="1">
            <a:spLocks noChangeArrowheads="1"/>
          </p:cNvSpPr>
          <p:nvPr/>
        </p:nvSpPr>
        <p:spPr bwMode="auto">
          <a:xfrm>
            <a:off x="7599084" y="6086624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380945" name="Text Box 31"/>
          <p:cNvSpPr txBox="1">
            <a:spLocks noChangeArrowheads="1"/>
          </p:cNvSpPr>
          <p:nvPr/>
        </p:nvSpPr>
        <p:spPr bwMode="auto">
          <a:xfrm>
            <a:off x="9199284" y="4715024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solidFill>
                  <a:srgbClr val="009900"/>
                </a:solidFill>
              </a:rPr>
              <a:t>1</a:t>
            </a:r>
          </a:p>
        </p:txBody>
      </p:sp>
      <p:sp>
        <p:nvSpPr>
          <p:cNvPr id="380946" name="Text Box 32"/>
          <p:cNvSpPr txBox="1">
            <a:spLocks noChangeArrowheads="1"/>
          </p:cNvSpPr>
          <p:nvPr/>
        </p:nvSpPr>
        <p:spPr bwMode="auto">
          <a:xfrm>
            <a:off x="7599084" y="5705624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solidFill>
                  <a:srgbClr val="CE0000"/>
                </a:solidFill>
              </a:rPr>
              <a:t>1</a:t>
            </a:r>
          </a:p>
        </p:txBody>
      </p:sp>
      <p:sp>
        <p:nvSpPr>
          <p:cNvPr id="380947" name="Text Box 33"/>
          <p:cNvSpPr txBox="1">
            <a:spLocks noChangeArrowheads="1"/>
          </p:cNvSpPr>
          <p:nvPr/>
        </p:nvSpPr>
        <p:spPr bwMode="auto">
          <a:xfrm>
            <a:off x="7599084" y="4638824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solidFill>
                  <a:srgbClr val="CE0000"/>
                </a:solidFill>
              </a:rPr>
              <a:t>0</a:t>
            </a:r>
          </a:p>
        </p:txBody>
      </p:sp>
      <p:sp>
        <p:nvSpPr>
          <p:cNvPr id="380948" name="Text Box 34"/>
          <p:cNvSpPr txBox="1">
            <a:spLocks noChangeArrowheads="1"/>
          </p:cNvSpPr>
          <p:nvPr/>
        </p:nvSpPr>
        <p:spPr bwMode="auto">
          <a:xfrm>
            <a:off x="9199284" y="5629424"/>
            <a:ext cx="35298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>
                <a:solidFill>
                  <a:srgbClr val="CE0000"/>
                </a:solidFill>
              </a:rPr>
              <a:t>0</a:t>
            </a:r>
          </a:p>
        </p:txBody>
      </p:sp>
      <p:sp>
        <p:nvSpPr>
          <p:cNvPr id="380949" name="Line 18"/>
          <p:cNvSpPr>
            <a:spLocks noChangeShapeType="1"/>
          </p:cNvSpPr>
          <p:nvPr/>
        </p:nvSpPr>
        <p:spPr bwMode="auto">
          <a:xfrm>
            <a:off x="5105400" y="4105423"/>
            <a:ext cx="1447800" cy="990600"/>
          </a:xfrm>
          <a:prstGeom prst="line">
            <a:avLst/>
          </a:prstGeom>
          <a:noFill/>
          <a:ln w="7620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latin typeface="Times New Roman" pitchFamily="18" charset="0"/>
                <a:ea typeface="宋体" charset="-122"/>
                <a:cs typeface="Times New Roman" pitchFamily="18" charset="0"/>
              </a:rPr>
              <a:t>R-S</a:t>
            </a:r>
            <a:r>
              <a:rPr lang="zh-CN" altLang="en-US" dirty="0">
                <a:ea typeface="宋体" charset="-122"/>
              </a:rPr>
              <a:t>锁存器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38298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z="2400" b="0" dirty="0">
                <a:ea typeface="宋体" charset="-122"/>
              </a:rPr>
              <a:t>R = S = 1</a:t>
            </a:r>
          </a:p>
          <a:p>
            <a:r>
              <a:rPr lang="en-US" altLang="zh-CN" sz="2400" b="0" dirty="0">
                <a:ea typeface="宋体" charset="-122"/>
              </a:rPr>
              <a:t>    </a:t>
            </a:r>
            <a:r>
              <a:rPr lang="zh-CN" altLang="en-US" sz="2400" b="0" dirty="0">
                <a:ea typeface="宋体" charset="-122"/>
              </a:rPr>
              <a:t>保持</a:t>
            </a:r>
            <a:endParaRPr lang="en-US" altLang="zh-CN" sz="2400" b="0" dirty="0">
              <a:ea typeface="宋体" charset="-122"/>
            </a:endParaRPr>
          </a:p>
          <a:p>
            <a:r>
              <a:rPr lang="en-US" altLang="zh-CN" sz="2400" b="0" dirty="0">
                <a:ea typeface="宋体" charset="-122"/>
              </a:rPr>
              <a:t>S = 0, R=1</a:t>
            </a:r>
          </a:p>
          <a:p>
            <a:pPr marL="576263" lvl="1" indent="-234950"/>
            <a:r>
              <a:rPr lang="zh-CN" altLang="en-US" sz="2400" dirty="0"/>
              <a:t>置</a:t>
            </a:r>
            <a:r>
              <a:rPr lang="en-US" altLang="zh-CN" sz="2400" dirty="0"/>
              <a:t>1</a:t>
            </a:r>
          </a:p>
          <a:p>
            <a:r>
              <a:rPr lang="en-US" altLang="zh-CN" sz="2400" b="0" dirty="0">
                <a:ea typeface="宋体" charset="-122"/>
              </a:rPr>
              <a:t>R = 0, S = 1</a:t>
            </a:r>
          </a:p>
          <a:p>
            <a:pPr marL="576263" lvl="1" indent="-234950"/>
            <a:r>
              <a:rPr lang="zh-CN" altLang="en-US" sz="2400" dirty="0"/>
              <a:t>清</a:t>
            </a:r>
            <a:r>
              <a:rPr lang="en-US" altLang="zh-CN" sz="2400" dirty="0"/>
              <a:t>0</a:t>
            </a:r>
          </a:p>
          <a:p>
            <a:endParaRPr lang="en-US" altLang="zh-CN" sz="2400" dirty="0">
              <a:ea typeface="宋体" charset="-122"/>
            </a:endParaRPr>
          </a:p>
          <a:p>
            <a:r>
              <a:rPr lang="en-US" altLang="zh-CN" sz="2400" b="0" dirty="0">
                <a:ea typeface="宋体" charset="-122"/>
              </a:rPr>
              <a:t>R = S = 0</a:t>
            </a:r>
          </a:p>
          <a:p>
            <a:pPr marL="576263" lvl="1" indent="-234950"/>
            <a:r>
              <a:rPr lang="zh-CN" altLang="en-US" sz="2400" i="1" dirty="0">
                <a:solidFill>
                  <a:srgbClr val="FF0000"/>
                </a:solidFill>
              </a:rPr>
              <a:t>禁止使用</a:t>
            </a:r>
            <a:endParaRPr lang="en-US" altLang="zh-CN" sz="2400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itchFamily="18" charset="0"/>
                <a:ea typeface="宋体" charset="-122"/>
                <a:cs typeface="Times New Roman" pitchFamily="18" charset="0"/>
              </a:rPr>
              <a:t>R-S</a:t>
            </a:r>
            <a:r>
              <a:rPr lang="zh-CN" altLang="en-US" dirty="0">
                <a:ea typeface="宋体" charset="-122"/>
              </a:rPr>
              <a:t>锁存器</a:t>
            </a:r>
            <a:r>
              <a:rPr lang="zh-CN" altLang="en-US" dirty="0">
                <a:latin typeface="Times New Roman" pitchFamily="18" charset="0"/>
                <a:ea typeface="宋体" charset="-122"/>
                <a:cs typeface="Times New Roman" pitchFamily="18" charset="0"/>
              </a:rPr>
              <a:t>的特点</a:t>
            </a:r>
            <a:endParaRPr lang="zh-HK" altLang="en-US" dirty="0">
              <a:latin typeface="Times New Roman" pitchFamily="18" charset="0"/>
              <a:ea typeface="宋体" charset="-122"/>
              <a:cs typeface="Times New Roman" pitchFamily="18" charset="0"/>
            </a:endParaRPr>
          </a:p>
        </p:txBody>
      </p:sp>
      <p:sp>
        <p:nvSpPr>
          <p:cNvPr id="3" name="Text Box 4"/>
          <p:cNvSpPr txBox="1">
            <a:spLocks noChangeArrowheads="1"/>
          </p:cNvSpPr>
          <p:nvPr/>
        </p:nvSpPr>
        <p:spPr bwMode="auto">
          <a:xfrm>
            <a:off x="2711624" y="1340769"/>
            <a:ext cx="54874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zh-CN" altLang="en-US" sz="2800" dirty="0"/>
          </a:p>
          <a:p>
            <a:r>
              <a:rPr lang="en-US" altLang="zh-CN" sz="2800" dirty="0"/>
              <a:t>1</a:t>
            </a:r>
            <a:r>
              <a:rPr lang="zh-CN" altLang="en-US" sz="2800" dirty="0"/>
              <a:t>。无控制信号，由</a:t>
            </a:r>
            <a:r>
              <a:rPr lang="en-US" altLang="zh-CN" sz="2800" dirty="0">
                <a:latin typeface="Times New Roman" pitchFamily="18" charset="0"/>
              </a:rPr>
              <a:t>RS</a:t>
            </a:r>
            <a:r>
              <a:rPr lang="zh-CN" altLang="en-US" sz="2800" dirty="0"/>
              <a:t>端直接控制</a:t>
            </a:r>
          </a:p>
          <a:p>
            <a:endParaRPr lang="zh-CN" altLang="en-US" sz="2800" dirty="0"/>
          </a:p>
          <a:p>
            <a:r>
              <a:rPr lang="en-US" altLang="zh-CN" sz="2800" dirty="0"/>
              <a:t>2</a:t>
            </a:r>
            <a:r>
              <a:rPr lang="zh-CN" altLang="en-US" sz="2800" dirty="0"/>
              <a:t>。</a:t>
            </a:r>
            <a:r>
              <a:rPr lang="en-US" altLang="zh-CN" sz="2800" dirty="0">
                <a:latin typeface="Times New Roman" pitchFamily="18" charset="0"/>
              </a:rPr>
              <a:t>S</a:t>
            </a:r>
            <a:r>
              <a:rPr lang="zh-CN" altLang="en-US" sz="2800" dirty="0"/>
              <a:t>：直接置</a:t>
            </a:r>
            <a:r>
              <a:rPr lang="en-US" altLang="zh-CN" sz="2800" dirty="0"/>
              <a:t>1</a:t>
            </a:r>
            <a:r>
              <a:rPr lang="zh-CN" altLang="en-US" sz="2800" dirty="0"/>
              <a:t>端</a:t>
            </a:r>
          </a:p>
          <a:p>
            <a:r>
              <a:rPr lang="zh-CN" altLang="en-US" sz="2800" dirty="0"/>
              <a:t>     </a:t>
            </a:r>
            <a:r>
              <a:rPr lang="en-US" altLang="zh-CN" sz="2800" dirty="0">
                <a:latin typeface="Times New Roman" pitchFamily="18" charset="0"/>
              </a:rPr>
              <a:t>R</a:t>
            </a:r>
            <a:r>
              <a:rPr lang="zh-CN" altLang="en-US" sz="2800" dirty="0"/>
              <a:t>：直接清</a:t>
            </a:r>
            <a:r>
              <a:rPr lang="en-US" altLang="zh-CN" sz="2800"/>
              <a:t>0</a:t>
            </a:r>
            <a:r>
              <a:rPr lang="zh-CN" altLang="en-US" sz="2800"/>
              <a:t>端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652784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门控</a:t>
            </a:r>
            <a:r>
              <a:rPr lang="en-US" altLang="zh-CN" dirty="0">
                <a:latin typeface="Times New Roman" pitchFamily="18" charset="0"/>
                <a:ea typeface="宋体" charset="-122"/>
                <a:cs typeface="Times New Roman" pitchFamily="18" charset="0"/>
              </a:rPr>
              <a:t>D</a:t>
            </a:r>
            <a:r>
              <a:rPr lang="zh-CN" altLang="en-US" dirty="0">
                <a:ea typeface="宋体" charset="-122"/>
              </a:rPr>
              <a:t>锁存器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38400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en-US" altLang="zh-CN" sz="2800" dirty="0">
                <a:ea typeface="宋体" charset="-122"/>
              </a:rPr>
              <a:t>2</a:t>
            </a:r>
            <a:r>
              <a:rPr lang="zh-CN" altLang="en-US" sz="2800" dirty="0">
                <a:ea typeface="宋体" charset="-122"/>
              </a:rPr>
              <a:t>个输入：</a:t>
            </a:r>
            <a:r>
              <a:rPr lang="en-US" altLang="zh-CN" sz="2800" dirty="0">
                <a:ea typeface="宋体" charset="-122"/>
              </a:rPr>
              <a:t> </a:t>
            </a:r>
            <a:r>
              <a:rPr lang="en-US" altLang="zh-CN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D (data) </a:t>
            </a:r>
            <a:r>
              <a:rPr lang="zh-CN" altLang="en-US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，</a:t>
            </a:r>
            <a:r>
              <a:rPr lang="en-US" altLang="zh-CN" sz="2800" dirty="0">
                <a:latin typeface="Times New Roman" pitchFamily="18" charset="0"/>
                <a:ea typeface="宋体" charset="-122"/>
                <a:cs typeface="Times New Roman" pitchFamily="18" charset="0"/>
              </a:rPr>
              <a:t> WE (write enable</a:t>
            </a:r>
            <a:r>
              <a:rPr lang="en-US" altLang="zh-CN" dirty="0">
                <a:latin typeface="Times New Roman" pitchFamily="18" charset="0"/>
                <a:ea typeface="宋体" charset="-122"/>
                <a:cs typeface="Times New Roman" pitchFamily="18" charset="0"/>
              </a:rPr>
              <a:t>)</a:t>
            </a:r>
          </a:p>
          <a:p>
            <a:pPr marL="576263" lvl="1" indent="-234950"/>
            <a:r>
              <a:rPr lang="zh-CN" altLang="en-US" dirty="0"/>
              <a:t>当</a:t>
            </a:r>
            <a:r>
              <a:rPr lang="en-US" altLang="zh-CN" dirty="0">
                <a:solidFill>
                  <a:srgbClr val="CE0000"/>
                </a:solidFill>
              </a:rPr>
              <a:t>WE = 1</a:t>
            </a:r>
            <a:r>
              <a:rPr lang="en-US" altLang="zh-CN" dirty="0"/>
              <a:t>, </a:t>
            </a:r>
            <a:r>
              <a:rPr lang="zh-CN" altLang="en-US" dirty="0"/>
              <a:t>锁存器输出为</a:t>
            </a:r>
            <a:r>
              <a:rPr lang="en-US" altLang="zh-CN" dirty="0"/>
              <a:t>D</a:t>
            </a:r>
            <a:r>
              <a:rPr lang="zh-CN" altLang="en-US" dirty="0"/>
              <a:t>的值。</a:t>
            </a:r>
            <a:endParaRPr lang="en-US" altLang="zh-CN" dirty="0">
              <a:solidFill>
                <a:srgbClr val="009900"/>
              </a:solidFill>
            </a:endParaRPr>
          </a:p>
          <a:p>
            <a:pPr marL="1022350" lvl="2" indent="-222250"/>
            <a:r>
              <a:rPr lang="en-US" altLang="zh-CN" dirty="0"/>
              <a:t>S = NOT(D), R = D</a:t>
            </a:r>
          </a:p>
          <a:p>
            <a:pPr marL="576263" lvl="1" indent="-234950"/>
            <a:r>
              <a:rPr lang="zh-CN" altLang="en-US" dirty="0"/>
              <a:t>当</a:t>
            </a:r>
            <a:r>
              <a:rPr lang="en-US" altLang="zh-CN" dirty="0">
                <a:solidFill>
                  <a:srgbClr val="CE0000"/>
                </a:solidFill>
              </a:rPr>
              <a:t>WE = 0</a:t>
            </a:r>
            <a:r>
              <a:rPr lang="en-US" altLang="zh-CN" dirty="0"/>
              <a:t>,</a:t>
            </a:r>
            <a:r>
              <a:rPr lang="zh-CN" altLang="en-US" dirty="0"/>
              <a:t>锁存器保持。</a:t>
            </a:r>
            <a:endParaRPr lang="en-US" altLang="zh-CN" dirty="0">
              <a:solidFill>
                <a:srgbClr val="009900"/>
              </a:solidFill>
            </a:endParaRPr>
          </a:p>
          <a:p>
            <a:pPr marL="1022350" lvl="2" indent="-222250"/>
            <a:r>
              <a:rPr lang="en-US" altLang="zh-CN" dirty="0"/>
              <a:t>S = R = 1</a:t>
            </a:r>
          </a:p>
        </p:txBody>
      </p:sp>
      <p:pic>
        <p:nvPicPr>
          <p:cNvPr id="384005" name="Picture 5" descr="ch03-dlatch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4601" y="3429001"/>
            <a:ext cx="6983413" cy="2563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寄存器</a:t>
            </a:r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寄存器存放多位数据。</a:t>
            </a:r>
            <a:endParaRPr lang="en-US" altLang="zh-CN" dirty="0">
              <a:ea typeface="宋体" charset="-122"/>
            </a:endParaRPr>
          </a:p>
          <a:p>
            <a:pPr lvl="1"/>
            <a:endParaRPr lang="zh-CN" altLang="en-US" dirty="0"/>
          </a:p>
        </p:txBody>
      </p:sp>
      <p:pic>
        <p:nvPicPr>
          <p:cNvPr id="414724" name="Picture 5" descr="ch03-register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19536" y="1772817"/>
            <a:ext cx="8070850" cy="3662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4943873" y="5733257"/>
            <a:ext cx="1732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4-bit</a:t>
            </a:r>
            <a:r>
              <a:rPr lang="zh-CN" altLang="en-US" dirty="0"/>
              <a:t>寄存器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多位数据表示</a:t>
            </a:r>
          </a:p>
        </p:txBody>
      </p:sp>
      <p:sp>
        <p:nvSpPr>
          <p:cNvPr id="415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2800" dirty="0">
                <a:ea typeface="宋体" charset="-122"/>
              </a:rPr>
              <a:t>1. </a:t>
            </a:r>
            <a:r>
              <a:rPr lang="zh-CN" altLang="en-US" sz="2800" dirty="0">
                <a:ea typeface="宋体" charset="-122"/>
              </a:rPr>
              <a:t>从右到左表示数据位</a:t>
            </a:r>
            <a:r>
              <a:rPr lang="en-US" altLang="zh-CN" sz="2800" dirty="0">
                <a:ea typeface="宋体" charset="-122"/>
              </a:rPr>
              <a:t> </a:t>
            </a:r>
            <a:r>
              <a:rPr lang="zh-CN" altLang="en-US" sz="2800" dirty="0">
                <a:ea typeface="宋体" charset="-122"/>
              </a:rPr>
              <a:t>从</a:t>
            </a:r>
            <a:r>
              <a:rPr lang="en-US" altLang="zh-CN" sz="2800" dirty="0">
                <a:ea typeface="宋体" charset="-122"/>
              </a:rPr>
              <a:t>(0)</a:t>
            </a:r>
            <a:r>
              <a:rPr lang="zh-CN" altLang="en-US" sz="2800" dirty="0">
                <a:ea typeface="宋体" charset="-122"/>
              </a:rPr>
              <a:t>到</a:t>
            </a:r>
            <a:r>
              <a:rPr lang="en-US" altLang="zh-CN" sz="2800" dirty="0">
                <a:ea typeface="宋体" charset="-122"/>
              </a:rPr>
              <a:t>(n-1)</a:t>
            </a:r>
            <a:r>
              <a:rPr lang="zh-CN" altLang="en-US" sz="2800" dirty="0">
                <a:ea typeface="宋体" charset="-122"/>
              </a:rPr>
              <a:t>位</a:t>
            </a:r>
            <a:endParaRPr lang="en-US" altLang="zh-CN" sz="2800" dirty="0">
              <a:ea typeface="宋体" charset="-122"/>
            </a:endParaRPr>
          </a:p>
          <a:p>
            <a:r>
              <a:rPr lang="en-US" altLang="zh-CN" sz="2800" dirty="0">
                <a:ea typeface="宋体" charset="-122"/>
              </a:rPr>
              <a:t>2. </a:t>
            </a:r>
            <a:r>
              <a:rPr lang="zh-CN" altLang="en-US" sz="2800" dirty="0">
                <a:ea typeface="宋体" charset="-122"/>
              </a:rPr>
              <a:t>可使用位地址表示</a:t>
            </a:r>
            <a:endParaRPr lang="en-US" altLang="zh-CN" sz="2800" i="1" dirty="0">
              <a:ea typeface="宋体" charset="-122"/>
            </a:endParaRPr>
          </a:p>
          <a:p>
            <a:endParaRPr lang="en-US" altLang="zh-CN" i="1" dirty="0">
              <a:ea typeface="宋体" charset="-122"/>
            </a:endParaRPr>
          </a:p>
          <a:p>
            <a:endParaRPr lang="en-US" altLang="zh-CN" i="1" dirty="0">
              <a:ea typeface="宋体" charset="-122"/>
            </a:endParaRPr>
          </a:p>
          <a:p>
            <a:endParaRPr lang="en-US" altLang="zh-CN" i="1" dirty="0">
              <a:ea typeface="宋体" charset="-122"/>
            </a:endParaRPr>
          </a:p>
          <a:p>
            <a:endParaRPr lang="en-US" altLang="zh-CN" i="1" dirty="0">
              <a:ea typeface="宋体" charset="-122"/>
            </a:endParaRPr>
          </a:p>
          <a:p>
            <a:endParaRPr lang="en-US" altLang="zh-CN" i="1" dirty="0">
              <a:ea typeface="宋体" charset="-122"/>
            </a:endParaRPr>
          </a:p>
          <a:p>
            <a:endParaRPr lang="en-US" altLang="zh-CN" i="1" dirty="0">
              <a:ea typeface="宋体" charset="-12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655888" y="2982915"/>
            <a:ext cx="6905624" cy="1866901"/>
            <a:chOff x="713" y="1879"/>
            <a:chExt cx="4350" cy="1176"/>
          </a:xfrm>
        </p:grpSpPr>
        <p:sp>
          <p:nvSpPr>
            <p:cNvPr id="415749" name="Text Box 4"/>
            <p:cNvSpPr txBox="1">
              <a:spLocks noChangeArrowheads="1"/>
            </p:cNvSpPr>
            <p:nvPr/>
          </p:nvSpPr>
          <p:spPr bwMode="auto">
            <a:xfrm>
              <a:off x="1337" y="2016"/>
              <a:ext cx="3114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3200" dirty="0">
                  <a:solidFill>
                    <a:srgbClr val="FF0000"/>
                  </a:solidFill>
                  <a:latin typeface="Franklin Gothic Book" pitchFamily="34" charset="0"/>
                </a:rPr>
                <a:t>A =</a:t>
              </a:r>
              <a:r>
                <a:rPr lang="en-US" altLang="zh-CN" sz="3200" b="1" dirty="0">
                  <a:solidFill>
                    <a:srgbClr val="FF0000"/>
                  </a:solidFill>
                  <a:latin typeface="CourierPS" pitchFamily="49" charset="0"/>
                </a:rPr>
                <a:t> 0101001101010101</a:t>
              </a:r>
            </a:p>
          </p:txBody>
        </p:sp>
        <p:sp>
          <p:nvSpPr>
            <p:cNvPr id="415750" name="Line 5"/>
            <p:cNvSpPr>
              <a:spLocks noChangeShapeType="1"/>
            </p:cNvSpPr>
            <p:nvPr/>
          </p:nvSpPr>
          <p:spPr bwMode="auto">
            <a:xfrm>
              <a:off x="3560" y="2304"/>
              <a:ext cx="384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5751" name="Text Box 6"/>
            <p:cNvSpPr txBox="1">
              <a:spLocks noChangeArrowheads="1"/>
            </p:cNvSpPr>
            <p:nvPr/>
          </p:nvSpPr>
          <p:spPr bwMode="auto">
            <a:xfrm>
              <a:off x="3641" y="2695"/>
              <a:ext cx="1422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800" dirty="0">
                  <a:solidFill>
                    <a:srgbClr val="FF0000"/>
                  </a:solidFill>
                  <a:latin typeface="Franklin Gothic Book" pitchFamily="34" charset="0"/>
                </a:rPr>
                <a:t>A[2:0] =</a:t>
              </a:r>
              <a:r>
                <a:rPr lang="en-US" altLang="zh-CN" sz="2800" b="1" dirty="0">
                  <a:solidFill>
                    <a:srgbClr val="FF0000"/>
                  </a:solidFill>
                  <a:latin typeface="CourierPS" pitchFamily="49" charset="0"/>
                </a:rPr>
                <a:t> 101</a:t>
              </a:r>
            </a:p>
          </p:txBody>
        </p:sp>
        <p:sp>
          <p:nvSpPr>
            <p:cNvPr id="415752" name="Text Box 7"/>
            <p:cNvSpPr txBox="1">
              <a:spLocks noChangeArrowheads="1"/>
            </p:cNvSpPr>
            <p:nvPr/>
          </p:nvSpPr>
          <p:spPr bwMode="auto">
            <a:xfrm>
              <a:off x="713" y="2725"/>
              <a:ext cx="1953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altLang="zh-CN" sz="2800" dirty="0">
                  <a:solidFill>
                    <a:srgbClr val="FF0000"/>
                  </a:solidFill>
                  <a:latin typeface="Franklin Gothic Book" pitchFamily="34" charset="0"/>
                </a:rPr>
                <a:t>A[14:9] =</a:t>
              </a:r>
              <a:r>
                <a:rPr lang="en-US" altLang="zh-CN" sz="2800" b="1" dirty="0">
                  <a:solidFill>
                    <a:srgbClr val="FF0000"/>
                  </a:solidFill>
                  <a:latin typeface="CourierPS" pitchFamily="49" charset="0"/>
                </a:rPr>
                <a:t> 101001</a:t>
              </a:r>
            </a:p>
          </p:txBody>
        </p:sp>
        <p:sp>
          <p:nvSpPr>
            <p:cNvPr id="415753" name="Line 8"/>
            <p:cNvSpPr>
              <a:spLocks noChangeShapeType="1"/>
            </p:cNvSpPr>
            <p:nvPr/>
          </p:nvSpPr>
          <p:spPr bwMode="auto">
            <a:xfrm>
              <a:off x="2160" y="2304"/>
              <a:ext cx="816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5754" name="Line 9"/>
            <p:cNvSpPr>
              <a:spLocks noChangeShapeType="1"/>
            </p:cNvSpPr>
            <p:nvPr/>
          </p:nvSpPr>
          <p:spPr bwMode="auto">
            <a:xfrm>
              <a:off x="3833" y="2407"/>
              <a:ext cx="0" cy="28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5755" name="Line 10"/>
            <p:cNvSpPr>
              <a:spLocks noChangeShapeType="1"/>
            </p:cNvSpPr>
            <p:nvPr/>
          </p:nvSpPr>
          <p:spPr bwMode="auto">
            <a:xfrm flipH="1">
              <a:off x="1721" y="2359"/>
              <a:ext cx="720" cy="384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5756" name="Text Box 11"/>
            <p:cNvSpPr txBox="1">
              <a:spLocks noChangeArrowheads="1"/>
            </p:cNvSpPr>
            <p:nvPr/>
          </p:nvSpPr>
          <p:spPr bwMode="auto">
            <a:xfrm>
              <a:off x="3777" y="1933"/>
              <a:ext cx="192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dirty="0">
                  <a:solidFill>
                    <a:srgbClr val="FF0000"/>
                  </a:solidFill>
                  <a:latin typeface="Franklin Gothic Book" pitchFamily="34" charset="0"/>
                </a:rPr>
                <a:t>0</a:t>
              </a:r>
            </a:p>
          </p:txBody>
        </p:sp>
        <p:sp>
          <p:nvSpPr>
            <p:cNvPr id="415757" name="Text Box 12"/>
            <p:cNvSpPr txBox="1">
              <a:spLocks noChangeArrowheads="1"/>
            </p:cNvSpPr>
            <p:nvPr/>
          </p:nvSpPr>
          <p:spPr bwMode="auto">
            <a:xfrm>
              <a:off x="1828" y="1879"/>
              <a:ext cx="266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altLang="zh-CN" sz="1600" dirty="0">
                  <a:solidFill>
                    <a:srgbClr val="FF0000"/>
                  </a:solidFill>
                  <a:latin typeface="Franklin Gothic Book" pitchFamily="34" charset="0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主从锁存器</a:t>
            </a:r>
          </a:p>
        </p:txBody>
      </p:sp>
      <p:pic>
        <p:nvPicPr>
          <p:cNvPr id="3" name="Picture 5" descr="ch03-msflipflo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13" y="2171700"/>
            <a:ext cx="8693150" cy="231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14870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3.5</a:t>
            </a:r>
            <a:r>
              <a:rPr lang="zh-CN" altLang="en-US" dirty="0">
                <a:ea typeface="宋体" charset="-122"/>
              </a:rPr>
              <a:t>内存的概念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38810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 sz="2800" dirty="0">
                <a:ea typeface="宋体" charset="-122"/>
              </a:rPr>
              <a:t>内存由一定数目的位置组成，其中每个位置可以被单独识别并存放一个数据。</a:t>
            </a:r>
            <a:endParaRPr lang="en-US" altLang="zh-CN" dirty="0">
              <a:ea typeface="宋体" charset="-122"/>
            </a:endParaRP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7162800" y="2362200"/>
            <a:ext cx="1828800" cy="2743200"/>
            <a:chOff x="3552" y="1488"/>
            <a:chExt cx="1152" cy="1728"/>
          </a:xfrm>
        </p:grpSpPr>
        <p:sp>
          <p:nvSpPr>
            <p:cNvPr id="388102" name="Rectangle 5"/>
            <p:cNvSpPr>
              <a:spLocks noChangeArrowheads="1"/>
            </p:cNvSpPr>
            <p:nvPr/>
          </p:nvSpPr>
          <p:spPr bwMode="auto">
            <a:xfrm>
              <a:off x="3552" y="1488"/>
              <a:ext cx="1152" cy="1728"/>
            </a:xfrm>
            <a:prstGeom prst="rect">
              <a:avLst/>
            </a:prstGeom>
            <a:noFill/>
            <a:ln w="28575">
              <a:solidFill>
                <a:srgbClr val="CE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eaLnBrk="0" hangingPunct="0"/>
              <a:endParaRPr lang="zh-CN" altLang="en-US"/>
            </a:p>
          </p:txBody>
        </p:sp>
        <p:sp>
          <p:nvSpPr>
            <p:cNvPr id="388103" name="Line 6"/>
            <p:cNvSpPr>
              <a:spLocks noChangeShapeType="1"/>
            </p:cNvSpPr>
            <p:nvPr/>
          </p:nvSpPr>
          <p:spPr bwMode="auto">
            <a:xfrm>
              <a:off x="3552" y="1632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104" name="Line 7"/>
            <p:cNvSpPr>
              <a:spLocks noChangeShapeType="1"/>
            </p:cNvSpPr>
            <p:nvPr/>
          </p:nvSpPr>
          <p:spPr bwMode="auto">
            <a:xfrm>
              <a:off x="3552" y="1776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105" name="Line 8"/>
            <p:cNvSpPr>
              <a:spLocks noChangeShapeType="1"/>
            </p:cNvSpPr>
            <p:nvPr/>
          </p:nvSpPr>
          <p:spPr bwMode="auto">
            <a:xfrm>
              <a:off x="3552" y="1920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106" name="Line 9"/>
            <p:cNvSpPr>
              <a:spLocks noChangeShapeType="1"/>
            </p:cNvSpPr>
            <p:nvPr/>
          </p:nvSpPr>
          <p:spPr bwMode="auto">
            <a:xfrm>
              <a:off x="3552" y="2064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107" name="Line 10"/>
            <p:cNvSpPr>
              <a:spLocks noChangeShapeType="1"/>
            </p:cNvSpPr>
            <p:nvPr/>
          </p:nvSpPr>
          <p:spPr bwMode="auto">
            <a:xfrm>
              <a:off x="3552" y="2208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108" name="Line 11"/>
            <p:cNvSpPr>
              <a:spLocks noChangeShapeType="1"/>
            </p:cNvSpPr>
            <p:nvPr/>
          </p:nvSpPr>
          <p:spPr bwMode="auto">
            <a:xfrm>
              <a:off x="3552" y="2352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109" name="Line 12"/>
            <p:cNvSpPr>
              <a:spLocks noChangeShapeType="1"/>
            </p:cNvSpPr>
            <p:nvPr/>
          </p:nvSpPr>
          <p:spPr bwMode="auto">
            <a:xfrm>
              <a:off x="3552" y="2496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110" name="Line 13"/>
            <p:cNvSpPr>
              <a:spLocks noChangeShapeType="1"/>
            </p:cNvSpPr>
            <p:nvPr/>
          </p:nvSpPr>
          <p:spPr bwMode="auto">
            <a:xfrm>
              <a:off x="3552" y="2784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111" name="Line 14"/>
            <p:cNvSpPr>
              <a:spLocks noChangeShapeType="1"/>
            </p:cNvSpPr>
            <p:nvPr/>
          </p:nvSpPr>
          <p:spPr bwMode="auto">
            <a:xfrm>
              <a:off x="3552" y="2928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112" name="Line 15"/>
            <p:cNvSpPr>
              <a:spLocks noChangeShapeType="1"/>
            </p:cNvSpPr>
            <p:nvPr/>
          </p:nvSpPr>
          <p:spPr bwMode="auto">
            <a:xfrm>
              <a:off x="3552" y="3072"/>
              <a:ext cx="1152" cy="0"/>
            </a:xfrm>
            <a:prstGeom prst="line">
              <a:avLst/>
            </a:prstGeom>
            <a:noFill/>
            <a:ln w="28575">
              <a:solidFill>
                <a:srgbClr val="CE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8113" name="Text Box 16"/>
            <p:cNvSpPr txBox="1">
              <a:spLocks noChangeArrowheads="1"/>
            </p:cNvSpPr>
            <p:nvPr/>
          </p:nvSpPr>
          <p:spPr bwMode="auto">
            <a:xfrm>
              <a:off x="4015" y="2496"/>
              <a:ext cx="246" cy="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>
                <a:lnSpc>
                  <a:spcPct val="50000"/>
                </a:lnSpc>
              </a:pPr>
              <a:r>
                <a:rPr lang="en-US" altLang="zh-CN" b="1">
                  <a:solidFill>
                    <a:srgbClr val="CE0000"/>
                  </a:solidFill>
                  <a:latin typeface="Franklin Gothic Book" pitchFamily="34" charset="0"/>
                </a:rPr>
                <a:t>•</a:t>
              </a:r>
            </a:p>
            <a:p>
              <a:pPr algn="ctr" eaLnBrk="0" hangingPunct="0">
                <a:lnSpc>
                  <a:spcPct val="50000"/>
                </a:lnSpc>
              </a:pPr>
              <a:r>
                <a:rPr lang="en-US" altLang="zh-CN" b="1">
                  <a:solidFill>
                    <a:srgbClr val="CE0000"/>
                  </a:solidFill>
                  <a:latin typeface="Franklin Gothic Book" pitchFamily="34" charset="0"/>
                </a:rPr>
                <a:t>•</a:t>
              </a:r>
            </a:p>
            <a:p>
              <a:pPr algn="ctr" eaLnBrk="0" hangingPunct="0">
                <a:lnSpc>
                  <a:spcPct val="50000"/>
                </a:lnSpc>
              </a:pPr>
              <a:r>
                <a:rPr lang="en-US" altLang="zh-CN" b="1">
                  <a:solidFill>
                    <a:srgbClr val="CE0000"/>
                  </a:solidFill>
                  <a:latin typeface="Franklin Gothic Book" pitchFamily="34" charset="0"/>
                </a:rPr>
                <a:t>•</a:t>
              </a:r>
            </a:p>
          </p:txBody>
        </p:sp>
      </p:grpSp>
      <p:sp>
        <p:nvSpPr>
          <p:cNvPr id="388114" name="AutoShape 17"/>
          <p:cNvSpPr>
            <a:spLocks/>
          </p:cNvSpPr>
          <p:nvPr/>
        </p:nvSpPr>
        <p:spPr bwMode="auto">
          <a:xfrm>
            <a:off x="6629400" y="2362200"/>
            <a:ext cx="381000" cy="2743200"/>
          </a:xfrm>
          <a:prstGeom prst="leftBrace">
            <a:avLst>
              <a:gd name="adj1" fmla="val 6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/>
          </a:p>
        </p:txBody>
      </p:sp>
      <p:sp>
        <p:nvSpPr>
          <p:cNvPr id="388115" name="AutoShape 18"/>
          <p:cNvSpPr>
            <a:spLocks/>
          </p:cNvSpPr>
          <p:nvPr/>
        </p:nvSpPr>
        <p:spPr bwMode="auto">
          <a:xfrm rot="5400000">
            <a:off x="7924800" y="4495800"/>
            <a:ext cx="304800" cy="18288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/>
          </a:p>
        </p:txBody>
      </p:sp>
      <p:sp>
        <p:nvSpPr>
          <p:cNvPr id="388116" name="Text Box 19"/>
          <p:cNvSpPr txBox="1">
            <a:spLocks noChangeArrowheads="1"/>
          </p:cNvSpPr>
          <p:nvPr/>
        </p:nvSpPr>
        <p:spPr bwMode="auto">
          <a:xfrm>
            <a:off x="5299075" y="3505201"/>
            <a:ext cx="11874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 eaLnBrk="0" hangingPunct="0"/>
            <a:r>
              <a:rPr lang="en-US" altLang="zh-CN" sz="2000" i="1"/>
              <a:t>k</a:t>
            </a:r>
            <a:r>
              <a:rPr lang="en-US" altLang="zh-CN" sz="2000"/>
              <a:t> = 2</a:t>
            </a:r>
            <a:r>
              <a:rPr lang="en-US" altLang="zh-CN" sz="2000" i="1" baseline="30000"/>
              <a:t>n</a:t>
            </a:r>
          </a:p>
          <a:p>
            <a:pPr algn="r" eaLnBrk="0" hangingPunct="0"/>
            <a:r>
              <a:rPr lang="en-US" altLang="zh-CN" sz="2000"/>
              <a:t>locations</a:t>
            </a:r>
          </a:p>
        </p:txBody>
      </p:sp>
      <p:sp>
        <p:nvSpPr>
          <p:cNvPr id="388117" name="Text Box 20"/>
          <p:cNvSpPr txBox="1">
            <a:spLocks noChangeArrowheads="1"/>
          </p:cNvSpPr>
          <p:nvPr/>
        </p:nvSpPr>
        <p:spPr bwMode="auto">
          <a:xfrm>
            <a:off x="7601835" y="5638800"/>
            <a:ext cx="880882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sz="2000" i="1"/>
              <a:t>m</a:t>
            </a:r>
            <a:r>
              <a:rPr lang="en-US" altLang="zh-CN" sz="2000"/>
              <a:t> bits</a:t>
            </a:r>
          </a:p>
        </p:txBody>
      </p:sp>
      <p:sp>
        <p:nvSpPr>
          <p:cNvPr id="388118" name="Text Box 21"/>
          <p:cNvSpPr txBox="1">
            <a:spLocks noChangeArrowheads="1"/>
          </p:cNvSpPr>
          <p:nvPr/>
        </p:nvSpPr>
        <p:spPr bwMode="auto">
          <a:xfrm>
            <a:off x="2209801" y="3276601"/>
            <a:ext cx="343074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 dirty="0">
                <a:solidFill>
                  <a:srgbClr val="FF0000"/>
                </a:solidFill>
              </a:rPr>
              <a:t>寻址空间</a:t>
            </a:r>
            <a:r>
              <a:rPr lang="en-US" altLang="zh-CN" b="1" dirty="0">
                <a:solidFill>
                  <a:srgbClr val="FF0000"/>
                </a:solidFill>
              </a:rPr>
              <a:t>:</a:t>
            </a:r>
          </a:p>
          <a:p>
            <a:pPr eaLnBrk="0" hangingPunct="0"/>
            <a:r>
              <a:rPr lang="zh-CN" altLang="en-US" dirty="0">
                <a:solidFill>
                  <a:srgbClr val="FF0000"/>
                </a:solidFill>
              </a:rPr>
              <a:t>可独立识别的位置总数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0" hangingPunct="0"/>
            <a:r>
              <a:rPr lang="zh-CN" altLang="en-US" dirty="0">
                <a:solidFill>
                  <a:srgbClr val="FF0000"/>
                </a:solidFill>
              </a:rPr>
              <a:t>（通常为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的整数次幂）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388119" name="Text Box 22"/>
          <p:cNvSpPr txBox="1">
            <a:spLocks noChangeArrowheads="1"/>
          </p:cNvSpPr>
          <p:nvPr/>
        </p:nvSpPr>
        <p:spPr bwMode="auto">
          <a:xfrm>
            <a:off x="3657600" y="5105401"/>
            <a:ext cx="442300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altLang="en-US" b="1" dirty="0">
                <a:solidFill>
                  <a:srgbClr val="FF0000"/>
                </a:solidFill>
              </a:rPr>
              <a:t>寻址能力</a:t>
            </a:r>
            <a:r>
              <a:rPr lang="en-US" altLang="zh-CN" b="1" dirty="0">
                <a:solidFill>
                  <a:srgbClr val="FF0000"/>
                </a:solidFill>
              </a:rPr>
              <a:t>:</a:t>
            </a:r>
          </a:p>
          <a:p>
            <a:pPr eaLnBrk="0" hangingPunct="0"/>
            <a:r>
              <a:rPr lang="zh-CN" altLang="en-US" dirty="0">
                <a:solidFill>
                  <a:srgbClr val="FF0000"/>
                </a:solidFill>
              </a:rPr>
              <a:t>每个内存位置中包含的</a:t>
            </a:r>
            <a:r>
              <a:rPr lang="en-US" altLang="zh-CN" dirty="0">
                <a:solidFill>
                  <a:srgbClr val="FF0000"/>
                </a:solidFill>
              </a:rPr>
              <a:t>bit</a:t>
            </a:r>
            <a:r>
              <a:rPr lang="zh-CN" altLang="en-US" dirty="0">
                <a:solidFill>
                  <a:srgbClr val="FF0000"/>
                </a:solidFill>
              </a:rPr>
              <a:t>数目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0" hangingPunct="0"/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例如：每个位置存取一个字节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23" name="Picture 19" descr="ch03-memor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6600" y="1371601"/>
            <a:ext cx="5594350" cy="5180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24" name="Rectangle 3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2</a:t>
            </a:r>
            <a:r>
              <a:rPr lang="en-US" altLang="zh-CN" baseline="30000" dirty="0">
                <a:ea typeface="宋体" charset="-122"/>
              </a:rPr>
              <a:t>2</a:t>
            </a:r>
            <a:r>
              <a:rPr lang="en-US" altLang="zh-CN" dirty="0">
                <a:ea typeface="宋体" charset="-122"/>
              </a:rPr>
              <a:t> x 3-</a:t>
            </a:r>
            <a:r>
              <a:rPr lang="en-US" altLang="zh-CN" dirty="0">
                <a:latin typeface="Times New Roman" pitchFamily="18" charset="0"/>
                <a:ea typeface="宋体" charset="-122"/>
                <a:cs typeface="Times New Roman" pitchFamily="18" charset="0"/>
              </a:rPr>
              <a:t>bit</a:t>
            </a:r>
            <a:r>
              <a:rPr lang="zh-CN" altLang="en-US" dirty="0">
                <a:ea typeface="宋体" charset="-122"/>
              </a:rPr>
              <a:t>内存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389125" name="Rectangle 4"/>
          <p:cNvSpPr>
            <a:spLocks noChangeArrowheads="1"/>
          </p:cNvSpPr>
          <p:nvPr/>
        </p:nvSpPr>
        <p:spPr bwMode="auto">
          <a:xfrm>
            <a:off x="3462338" y="1676400"/>
            <a:ext cx="476250" cy="3886200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endParaRPr lang="zh-CN" altLang="en-US"/>
          </a:p>
        </p:txBody>
      </p:sp>
      <p:sp>
        <p:nvSpPr>
          <p:cNvPr id="389126" name="Text Box 5"/>
          <p:cNvSpPr txBox="1">
            <a:spLocks noChangeArrowheads="1"/>
          </p:cNvSpPr>
          <p:nvPr/>
        </p:nvSpPr>
        <p:spPr bwMode="auto">
          <a:xfrm>
            <a:off x="2640188" y="5791201"/>
            <a:ext cx="1244251" cy="830997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b="1">
                <a:solidFill>
                  <a:srgbClr val="CE0000"/>
                </a:solidFill>
                <a:latin typeface="Franklin Gothic Book" pitchFamily="34" charset="0"/>
              </a:rPr>
              <a:t>address</a:t>
            </a:r>
          </a:p>
          <a:p>
            <a:pPr algn="ctr" eaLnBrk="0" hangingPunct="0"/>
            <a:r>
              <a:rPr lang="en-US" altLang="zh-CN" b="1">
                <a:solidFill>
                  <a:srgbClr val="CE0000"/>
                </a:solidFill>
                <a:latin typeface="Franklin Gothic Book" pitchFamily="34" charset="0"/>
              </a:rPr>
              <a:t>decoder</a:t>
            </a:r>
          </a:p>
        </p:txBody>
      </p:sp>
      <p:sp>
        <p:nvSpPr>
          <p:cNvPr id="389127" name="Line 6"/>
          <p:cNvSpPr>
            <a:spLocks noChangeShapeType="1"/>
          </p:cNvSpPr>
          <p:nvPr/>
        </p:nvSpPr>
        <p:spPr bwMode="auto">
          <a:xfrm flipV="1">
            <a:off x="3309938" y="5562600"/>
            <a:ext cx="152400" cy="304800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128" name="Text Box 7"/>
          <p:cNvSpPr txBox="1">
            <a:spLocks noChangeArrowheads="1"/>
          </p:cNvSpPr>
          <p:nvPr/>
        </p:nvSpPr>
        <p:spPr bwMode="auto">
          <a:xfrm>
            <a:off x="4190314" y="1143001"/>
            <a:ext cx="1658724" cy="461665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b="1">
                <a:solidFill>
                  <a:srgbClr val="CE0000"/>
                </a:solidFill>
                <a:latin typeface="Franklin Gothic Book" pitchFamily="34" charset="0"/>
              </a:rPr>
              <a:t>word select</a:t>
            </a:r>
          </a:p>
        </p:txBody>
      </p:sp>
      <p:sp>
        <p:nvSpPr>
          <p:cNvPr id="389129" name="Line 8"/>
          <p:cNvSpPr>
            <a:spLocks noChangeShapeType="1"/>
          </p:cNvSpPr>
          <p:nvPr/>
        </p:nvSpPr>
        <p:spPr bwMode="auto">
          <a:xfrm flipH="1">
            <a:off x="6199188" y="1447801"/>
            <a:ext cx="252412" cy="557213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130" name="Text Box 9"/>
          <p:cNvSpPr txBox="1">
            <a:spLocks noChangeArrowheads="1"/>
          </p:cNvSpPr>
          <p:nvPr/>
        </p:nvSpPr>
        <p:spPr bwMode="auto">
          <a:xfrm>
            <a:off x="5892232" y="1066801"/>
            <a:ext cx="1306063" cy="461665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b="1">
                <a:solidFill>
                  <a:srgbClr val="CE0000"/>
                </a:solidFill>
                <a:latin typeface="Franklin Gothic Book" pitchFamily="34" charset="0"/>
              </a:rPr>
              <a:t>word WE</a:t>
            </a:r>
          </a:p>
        </p:txBody>
      </p:sp>
      <p:sp>
        <p:nvSpPr>
          <p:cNvPr id="389131" name="Line 10"/>
          <p:cNvSpPr>
            <a:spLocks noChangeShapeType="1"/>
          </p:cNvSpPr>
          <p:nvPr/>
        </p:nvSpPr>
        <p:spPr bwMode="auto">
          <a:xfrm flipH="1">
            <a:off x="4635500" y="1447800"/>
            <a:ext cx="198438" cy="407988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132" name="Text Box 11"/>
          <p:cNvSpPr txBox="1">
            <a:spLocks noChangeArrowheads="1"/>
          </p:cNvSpPr>
          <p:nvPr/>
        </p:nvSpPr>
        <p:spPr bwMode="auto">
          <a:xfrm>
            <a:off x="1881441" y="1295401"/>
            <a:ext cx="1228221" cy="461665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b="1">
                <a:solidFill>
                  <a:srgbClr val="CE0000"/>
                </a:solidFill>
                <a:latin typeface="Franklin Gothic Book" pitchFamily="34" charset="0"/>
              </a:rPr>
              <a:t>address</a:t>
            </a:r>
          </a:p>
        </p:txBody>
      </p:sp>
      <p:sp>
        <p:nvSpPr>
          <p:cNvPr id="389133" name="Text Box 12"/>
          <p:cNvSpPr txBox="1">
            <a:spLocks noChangeArrowheads="1"/>
          </p:cNvSpPr>
          <p:nvPr/>
        </p:nvSpPr>
        <p:spPr bwMode="auto">
          <a:xfrm>
            <a:off x="1823463" y="1905001"/>
            <a:ext cx="1071127" cy="830997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b="1">
                <a:solidFill>
                  <a:srgbClr val="CE0000"/>
                </a:solidFill>
                <a:latin typeface="Franklin Gothic Book" pitchFamily="34" charset="0"/>
              </a:rPr>
              <a:t>write</a:t>
            </a:r>
          </a:p>
          <a:p>
            <a:pPr algn="ctr" eaLnBrk="0" hangingPunct="0"/>
            <a:r>
              <a:rPr lang="en-US" altLang="zh-CN" b="1">
                <a:solidFill>
                  <a:srgbClr val="CE0000"/>
                </a:solidFill>
                <a:latin typeface="Franklin Gothic Book" pitchFamily="34" charset="0"/>
              </a:rPr>
              <a:t>enable</a:t>
            </a:r>
          </a:p>
        </p:txBody>
      </p:sp>
      <p:sp>
        <p:nvSpPr>
          <p:cNvPr id="389134" name="Text Box 13"/>
          <p:cNvSpPr txBox="1">
            <a:spLocks noChangeArrowheads="1"/>
          </p:cNvSpPr>
          <p:nvPr/>
        </p:nvSpPr>
        <p:spPr bwMode="auto">
          <a:xfrm>
            <a:off x="8110538" y="1181101"/>
            <a:ext cx="1084262" cy="830997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0" hangingPunct="0"/>
            <a:r>
              <a:rPr lang="en-US" altLang="zh-CN" b="1" dirty="0">
                <a:solidFill>
                  <a:srgbClr val="CE0000"/>
                </a:solidFill>
                <a:latin typeface="Franklin Gothic Book" pitchFamily="34" charset="0"/>
              </a:rPr>
              <a:t>input bits</a:t>
            </a:r>
          </a:p>
        </p:txBody>
      </p:sp>
      <p:sp>
        <p:nvSpPr>
          <p:cNvPr id="389135" name="Text Box 14"/>
          <p:cNvSpPr txBox="1">
            <a:spLocks noChangeArrowheads="1"/>
          </p:cNvSpPr>
          <p:nvPr/>
        </p:nvSpPr>
        <p:spPr bwMode="auto">
          <a:xfrm>
            <a:off x="3739483" y="6324601"/>
            <a:ext cx="1582486" cy="461665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en-US" altLang="zh-CN" b="1">
                <a:solidFill>
                  <a:srgbClr val="CE0000"/>
                </a:solidFill>
                <a:latin typeface="Franklin Gothic Book" pitchFamily="34" charset="0"/>
              </a:rPr>
              <a:t>output bits</a:t>
            </a:r>
          </a:p>
        </p:txBody>
      </p:sp>
      <p:sp>
        <p:nvSpPr>
          <p:cNvPr id="389136" name="Line 15"/>
          <p:cNvSpPr>
            <a:spLocks noChangeShapeType="1"/>
          </p:cNvSpPr>
          <p:nvPr/>
        </p:nvSpPr>
        <p:spPr bwMode="auto">
          <a:xfrm>
            <a:off x="3005138" y="1447800"/>
            <a:ext cx="381000" cy="0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137" name="Line 16"/>
          <p:cNvSpPr>
            <a:spLocks noChangeShapeType="1"/>
          </p:cNvSpPr>
          <p:nvPr/>
        </p:nvSpPr>
        <p:spPr bwMode="auto">
          <a:xfrm flipV="1">
            <a:off x="2700338" y="1803400"/>
            <a:ext cx="584200" cy="406400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138" name="Line 17"/>
          <p:cNvSpPr>
            <a:spLocks noChangeShapeType="1"/>
          </p:cNvSpPr>
          <p:nvPr/>
        </p:nvSpPr>
        <p:spPr bwMode="auto">
          <a:xfrm flipH="1">
            <a:off x="7577138" y="1447800"/>
            <a:ext cx="533400" cy="0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139" name="Line 18"/>
          <p:cNvSpPr>
            <a:spLocks noChangeShapeType="1"/>
          </p:cNvSpPr>
          <p:nvPr/>
        </p:nvSpPr>
        <p:spPr bwMode="auto">
          <a:xfrm flipV="1">
            <a:off x="5138738" y="6477000"/>
            <a:ext cx="457200" cy="0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8F970B6-E2EC-40DF-AF02-F8E5B629BA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163" t="22001" r="27951" b="16400"/>
          <a:stretch/>
        </p:blipFill>
        <p:spPr>
          <a:xfrm>
            <a:off x="2711624" y="1052737"/>
            <a:ext cx="7128792" cy="550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1894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3.6</a:t>
            </a:r>
            <a:r>
              <a:rPr lang="zh-CN" altLang="en-US" dirty="0"/>
              <a:t>时序电路</a:t>
            </a:r>
          </a:p>
        </p:txBody>
      </p:sp>
      <p:sp>
        <p:nvSpPr>
          <p:cNvPr id="3" name="Rectangle 5"/>
          <p:cNvSpPr>
            <a:spLocks noChangeArrowheads="1"/>
          </p:cNvSpPr>
          <p:nvPr/>
        </p:nvSpPr>
        <p:spPr bwMode="auto">
          <a:xfrm>
            <a:off x="4019550" y="1492723"/>
            <a:ext cx="3043238" cy="28209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endParaRPr lang="zh-CN" altLang="en-US" baseline="0"/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5063321" y="1588730"/>
            <a:ext cx="9541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2000" i="1" baseline="0" dirty="0"/>
              <a:t>状态机</a:t>
            </a:r>
            <a:endParaRPr lang="en-US" altLang="zh-CN" sz="2000" i="1" baseline="0" dirty="0"/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4697414" y="2184873"/>
            <a:ext cx="1685925" cy="782637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baseline="0" dirty="0"/>
              <a:t>组合逻辑</a:t>
            </a:r>
            <a:endParaRPr lang="en-US" altLang="zh-CN" baseline="0" dirty="0"/>
          </a:p>
          <a:p>
            <a:pPr algn="ctr"/>
            <a:r>
              <a:rPr lang="zh-CN" altLang="en-US" baseline="0" dirty="0"/>
              <a:t>电路</a:t>
            </a:r>
            <a:endParaRPr lang="en-US" altLang="zh-CN" baseline="0" dirty="0"/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4697414" y="3251673"/>
            <a:ext cx="1685925" cy="782637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baseline="0" dirty="0"/>
              <a:t>存储单元</a:t>
            </a:r>
            <a:endParaRPr lang="en-US" altLang="zh-CN" baseline="0" dirty="0"/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2289909" y="2118198"/>
            <a:ext cx="8002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baseline="0" dirty="0"/>
              <a:t>输入</a:t>
            </a:r>
            <a:endParaRPr lang="en-US" altLang="zh-CN" baseline="0" dirty="0"/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8127940" y="2118198"/>
            <a:ext cx="8002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baseline="0" dirty="0"/>
              <a:t>输出</a:t>
            </a:r>
            <a:endParaRPr lang="en-US" altLang="zh-CN" baseline="0" dirty="0"/>
          </a:p>
        </p:txBody>
      </p:sp>
      <p:sp>
        <p:nvSpPr>
          <p:cNvPr id="9" name="Line 11"/>
          <p:cNvSpPr>
            <a:spLocks noChangeShapeType="1"/>
          </p:cNvSpPr>
          <p:nvPr/>
        </p:nvSpPr>
        <p:spPr bwMode="auto">
          <a:xfrm>
            <a:off x="3273425" y="2346797"/>
            <a:ext cx="1436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0" name="Line 12"/>
          <p:cNvSpPr>
            <a:spLocks noChangeShapeType="1"/>
          </p:cNvSpPr>
          <p:nvPr/>
        </p:nvSpPr>
        <p:spPr bwMode="auto">
          <a:xfrm>
            <a:off x="6391275" y="2346797"/>
            <a:ext cx="1436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cxnSp>
        <p:nvCxnSpPr>
          <p:cNvPr id="11" name="AutoShape 15"/>
          <p:cNvCxnSpPr>
            <a:cxnSpLocks noChangeShapeType="1"/>
            <a:stCxn id="5" idx="3"/>
            <a:endCxn id="6" idx="3"/>
          </p:cNvCxnSpPr>
          <p:nvPr/>
        </p:nvCxnSpPr>
        <p:spPr bwMode="auto">
          <a:xfrm>
            <a:off x="6392864" y="2576984"/>
            <a:ext cx="1587" cy="1066800"/>
          </a:xfrm>
          <a:prstGeom prst="bentConnector3">
            <a:avLst>
              <a:gd name="adj1" fmla="val 1540000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AutoShape 16"/>
          <p:cNvCxnSpPr>
            <a:cxnSpLocks noChangeShapeType="1"/>
            <a:stCxn id="6" idx="1"/>
            <a:endCxn id="5" idx="1"/>
          </p:cNvCxnSpPr>
          <p:nvPr/>
        </p:nvCxnSpPr>
        <p:spPr bwMode="auto">
          <a:xfrm rot="10800000" flipH="1">
            <a:off x="4687889" y="2576984"/>
            <a:ext cx="1587" cy="1066800"/>
          </a:xfrm>
          <a:prstGeom prst="bentConnector3">
            <a:avLst>
              <a:gd name="adj1" fmla="val -1710000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时序与组合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39424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 sz="2800" dirty="0">
                <a:ea typeface="宋体" charset="-122"/>
              </a:rPr>
              <a:t>两类密码锁</a:t>
            </a:r>
            <a:endParaRPr lang="en-US" altLang="zh-CN" sz="2800" dirty="0">
              <a:ea typeface="宋体" charset="-122"/>
            </a:endParaRPr>
          </a:p>
        </p:txBody>
      </p:sp>
      <p:grpSp>
        <p:nvGrpSpPr>
          <p:cNvPr id="394245" name="Group 15"/>
          <p:cNvGrpSpPr>
            <a:grpSpLocks/>
          </p:cNvGrpSpPr>
          <p:nvPr/>
        </p:nvGrpSpPr>
        <p:grpSpPr bwMode="auto">
          <a:xfrm>
            <a:off x="2924176" y="2598739"/>
            <a:ext cx="2181225" cy="936625"/>
            <a:chOff x="386" y="1349"/>
            <a:chExt cx="1374" cy="590"/>
          </a:xfrm>
        </p:grpSpPr>
        <p:sp>
          <p:nvSpPr>
            <p:cNvPr id="394246" name="AutoShape 10"/>
            <p:cNvSpPr>
              <a:spLocks noChangeArrowheads="1"/>
            </p:cNvSpPr>
            <p:nvPr/>
          </p:nvSpPr>
          <p:spPr bwMode="auto">
            <a:xfrm>
              <a:off x="386" y="1349"/>
              <a:ext cx="1374" cy="387"/>
            </a:xfrm>
            <a:prstGeom prst="roundRect">
              <a:avLst>
                <a:gd name="adj" fmla="val 35389"/>
              </a:avLst>
            </a:prstGeom>
            <a:noFill/>
            <a:ln w="76200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endParaRPr lang="zh-CN" altLang="en-US" baseline="0"/>
            </a:p>
          </p:txBody>
        </p:sp>
        <p:sp>
          <p:nvSpPr>
            <p:cNvPr id="394247" name="Rectangle 4"/>
            <p:cNvSpPr>
              <a:spLocks noChangeArrowheads="1"/>
            </p:cNvSpPr>
            <p:nvPr/>
          </p:nvSpPr>
          <p:spPr bwMode="auto">
            <a:xfrm>
              <a:off x="551" y="1503"/>
              <a:ext cx="264" cy="4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baseline="0"/>
                <a:t>4</a:t>
              </a:r>
            </a:p>
          </p:txBody>
        </p:sp>
        <p:sp>
          <p:nvSpPr>
            <p:cNvPr id="394248" name="Rectangle 5"/>
            <p:cNvSpPr>
              <a:spLocks noChangeArrowheads="1"/>
            </p:cNvSpPr>
            <p:nvPr/>
          </p:nvSpPr>
          <p:spPr bwMode="auto">
            <a:xfrm>
              <a:off x="812" y="1503"/>
              <a:ext cx="264" cy="4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baseline="0"/>
                <a:t>1</a:t>
              </a:r>
            </a:p>
          </p:txBody>
        </p:sp>
        <p:sp>
          <p:nvSpPr>
            <p:cNvPr id="394249" name="Rectangle 6"/>
            <p:cNvSpPr>
              <a:spLocks noChangeArrowheads="1"/>
            </p:cNvSpPr>
            <p:nvPr/>
          </p:nvSpPr>
          <p:spPr bwMode="auto">
            <a:xfrm>
              <a:off x="1081" y="1503"/>
              <a:ext cx="264" cy="4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baseline="0"/>
                <a:t>8</a:t>
              </a:r>
            </a:p>
          </p:txBody>
        </p:sp>
        <p:sp>
          <p:nvSpPr>
            <p:cNvPr id="394250" name="Rectangle 7"/>
            <p:cNvSpPr>
              <a:spLocks noChangeArrowheads="1"/>
            </p:cNvSpPr>
            <p:nvPr/>
          </p:nvSpPr>
          <p:spPr bwMode="auto">
            <a:xfrm>
              <a:off x="1342" y="1503"/>
              <a:ext cx="264" cy="4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baseline="0"/>
                <a:t>4</a:t>
              </a:r>
            </a:p>
          </p:txBody>
        </p:sp>
      </p:grpSp>
      <p:grpSp>
        <p:nvGrpSpPr>
          <p:cNvPr id="394251" name="Group 23"/>
          <p:cNvGrpSpPr>
            <a:grpSpLocks/>
          </p:cNvGrpSpPr>
          <p:nvPr/>
        </p:nvGrpSpPr>
        <p:grpSpPr bwMode="auto">
          <a:xfrm>
            <a:off x="7658100" y="1817689"/>
            <a:ext cx="1136650" cy="1838325"/>
            <a:chOff x="3390" y="1078"/>
            <a:chExt cx="716" cy="1158"/>
          </a:xfrm>
        </p:grpSpPr>
        <p:sp>
          <p:nvSpPr>
            <p:cNvPr id="394252" name="AutoShape 14"/>
            <p:cNvSpPr>
              <a:spLocks noChangeArrowheads="1"/>
            </p:cNvSpPr>
            <p:nvPr/>
          </p:nvSpPr>
          <p:spPr bwMode="auto">
            <a:xfrm>
              <a:off x="3547" y="1078"/>
              <a:ext cx="403" cy="708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76200">
              <a:solidFill>
                <a:schemeClr val="bg2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endParaRPr lang="zh-CN" altLang="en-US" baseline="0"/>
            </a:p>
          </p:txBody>
        </p:sp>
        <p:grpSp>
          <p:nvGrpSpPr>
            <p:cNvPr id="394253" name="Group 13"/>
            <p:cNvGrpSpPr>
              <a:grpSpLocks/>
            </p:cNvGrpSpPr>
            <p:nvPr/>
          </p:nvGrpSpPr>
          <p:grpSpPr bwMode="auto">
            <a:xfrm>
              <a:off x="3390" y="1514"/>
              <a:ext cx="716" cy="716"/>
              <a:chOff x="3390" y="1514"/>
              <a:chExt cx="716" cy="716"/>
            </a:xfrm>
          </p:grpSpPr>
          <p:sp>
            <p:nvSpPr>
              <p:cNvPr id="394254" name="Oval 11"/>
              <p:cNvSpPr>
                <a:spLocks noChangeArrowheads="1"/>
              </p:cNvSpPr>
              <p:nvPr/>
            </p:nvSpPr>
            <p:spPr bwMode="auto">
              <a:xfrm>
                <a:off x="3390" y="1514"/>
                <a:ext cx="716" cy="716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/>
                <a:endParaRPr lang="zh-CN" altLang="en-US" baseline="0"/>
              </a:p>
            </p:txBody>
          </p:sp>
          <p:sp>
            <p:nvSpPr>
              <p:cNvPr id="394255" name="Oval 12"/>
              <p:cNvSpPr>
                <a:spLocks noChangeArrowheads="1"/>
              </p:cNvSpPr>
              <p:nvPr/>
            </p:nvSpPr>
            <p:spPr bwMode="auto">
              <a:xfrm>
                <a:off x="3612" y="1736"/>
                <a:ext cx="272" cy="272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/>
                <a:endParaRPr lang="zh-CN" altLang="en-US" baseline="0"/>
              </a:p>
            </p:txBody>
          </p:sp>
        </p:grpSp>
        <p:sp>
          <p:nvSpPr>
            <p:cNvPr id="394256" name="Text Box 16"/>
            <p:cNvSpPr txBox="1">
              <a:spLocks noChangeArrowheads="1"/>
            </p:cNvSpPr>
            <p:nvPr/>
          </p:nvSpPr>
          <p:spPr bwMode="auto">
            <a:xfrm>
              <a:off x="3619" y="1534"/>
              <a:ext cx="2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 baseline="0"/>
                <a:t>30</a:t>
              </a:r>
            </a:p>
          </p:txBody>
        </p:sp>
        <p:sp>
          <p:nvSpPr>
            <p:cNvPr id="394257" name="Text Box 17"/>
            <p:cNvSpPr txBox="1">
              <a:spLocks noChangeArrowheads="1"/>
            </p:cNvSpPr>
            <p:nvPr/>
          </p:nvSpPr>
          <p:spPr bwMode="auto">
            <a:xfrm>
              <a:off x="3619" y="2024"/>
              <a:ext cx="2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 baseline="0"/>
                <a:t>15</a:t>
              </a:r>
            </a:p>
          </p:txBody>
        </p:sp>
        <p:sp>
          <p:nvSpPr>
            <p:cNvPr id="394258" name="Text Box 18"/>
            <p:cNvSpPr txBox="1">
              <a:spLocks noChangeArrowheads="1"/>
            </p:cNvSpPr>
            <p:nvPr/>
          </p:nvSpPr>
          <p:spPr bwMode="auto">
            <a:xfrm>
              <a:off x="3884" y="1656"/>
              <a:ext cx="187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 baseline="0"/>
                <a:t>5</a:t>
              </a:r>
            </a:p>
          </p:txBody>
        </p:sp>
        <p:sp>
          <p:nvSpPr>
            <p:cNvPr id="394259" name="Text Box 19"/>
            <p:cNvSpPr txBox="1">
              <a:spLocks noChangeArrowheads="1"/>
            </p:cNvSpPr>
            <p:nvPr/>
          </p:nvSpPr>
          <p:spPr bwMode="auto">
            <a:xfrm>
              <a:off x="3830" y="1891"/>
              <a:ext cx="2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 baseline="0"/>
                <a:t>10</a:t>
              </a:r>
            </a:p>
          </p:txBody>
        </p:sp>
        <p:sp>
          <p:nvSpPr>
            <p:cNvPr id="394260" name="Text Box 20"/>
            <p:cNvSpPr txBox="1">
              <a:spLocks noChangeArrowheads="1"/>
            </p:cNvSpPr>
            <p:nvPr/>
          </p:nvSpPr>
          <p:spPr bwMode="auto">
            <a:xfrm>
              <a:off x="3399" y="1891"/>
              <a:ext cx="2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 baseline="0"/>
                <a:t>20</a:t>
              </a:r>
            </a:p>
          </p:txBody>
        </p:sp>
        <p:sp>
          <p:nvSpPr>
            <p:cNvPr id="394261" name="Text Box 21"/>
            <p:cNvSpPr txBox="1">
              <a:spLocks noChangeArrowheads="1"/>
            </p:cNvSpPr>
            <p:nvPr/>
          </p:nvSpPr>
          <p:spPr bwMode="auto">
            <a:xfrm>
              <a:off x="3396" y="1656"/>
              <a:ext cx="25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r>
                <a:rPr lang="en-US" altLang="zh-CN" sz="1600" baseline="0"/>
                <a:t>25</a:t>
              </a:r>
            </a:p>
          </p:txBody>
        </p:sp>
        <p:sp>
          <p:nvSpPr>
            <p:cNvPr id="394262" name="Line 22"/>
            <p:cNvSpPr>
              <a:spLocks noChangeShapeType="1"/>
            </p:cNvSpPr>
            <p:nvPr/>
          </p:nvSpPr>
          <p:spPr bwMode="auto">
            <a:xfrm flipV="1">
              <a:off x="3662" y="1794"/>
              <a:ext cx="173" cy="17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HK" altLang="en-US"/>
            </a:p>
          </p:txBody>
        </p:sp>
      </p:grpSp>
      <p:sp>
        <p:nvSpPr>
          <p:cNvPr id="394263" name="Text Box 24"/>
          <p:cNvSpPr txBox="1">
            <a:spLocks noChangeArrowheads="1"/>
          </p:cNvSpPr>
          <p:nvPr/>
        </p:nvSpPr>
        <p:spPr bwMode="auto">
          <a:xfrm>
            <a:off x="2071689" y="3925889"/>
            <a:ext cx="2816797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zh-CN" altLang="en-US" b="1" baseline="0" dirty="0">
                <a:solidFill>
                  <a:srgbClr val="CE0000"/>
                </a:solidFill>
              </a:rPr>
              <a:t>组合：</a:t>
            </a:r>
            <a:endParaRPr lang="en-US" altLang="zh-CN" b="1" baseline="0" dirty="0">
              <a:solidFill>
                <a:srgbClr val="CE0000"/>
              </a:solidFill>
            </a:endParaRPr>
          </a:p>
          <a:p>
            <a:r>
              <a:rPr lang="zh-CN" altLang="en-US" baseline="0" dirty="0"/>
              <a:t>数值正确即可开锁</a:t>
            </a:r>
            <a:r>
              <a:rPr lang="en-US" altLang="zh-CN" baseline="0" dirty="0"/>
              <a:t>.</a:t>
            </a:r>
          </a:p>
        </p:txBody>
      </p:sp>
      <p:sp>
        <p:nvSpPr>
          <p:cNvPr id="394264" name="Text Box 25"/>
          <p:cNvSpPr txBox="1">
            <a:spLocks noChangeArrowheads="1"/>
          </p:cNvSpPr>
          <p:nvPr/>
        </p:nvSpPr>
        <p:spPr bwMode="auto">
          <a:xfrm>
            <a:off x="6561139" y="3925889"/>
            <a:ext cx="4065537" cy="83099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zh-CN" altLang="en-US" b="1" baseline="0" dirty="0">
                <a:solidFill>
                  <a:srgbClr val="CE0000"/>
                </a:solidFill>
              </a:rPr>
              <a:t>时序：</a:t>
            </a:r>
            <a:endParaRPr lang="en-US" altLang="zh-CN" b="1" baseline="0" dirty="0">
              <a:solidFill>
                <a:srgbClr val="CE0000"/>
              </a:solidFill>
            </a:endParaRPr>
          </a:p>
          <a:p>
            <a:r>
              <a:rPr lang="zh-CN" altLang="en-US" baseline="0" dirty="0"/>
              <a:t>数值和顺序都正确才能开锁</a:t>
            </a:r>
            <a:r>
              <a:rPr lang="en-US" altLang="zh-CN" baseline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78416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状态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39526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 sz="2800" dirty="0">
                <a:ea typeface="宋体" charset="-122"/>
              </a:rPr>
              <a:t>系统在特定时刻和特定条件下的</a:t>
            </a:r>
            <a:r>
              <a:rPr lang="zh-CN" altLang="en-US" sz="2800" dirty="0">
                <a:solidFill>
                  <a:srgbClr val="FF0000"/>
                </a:solidFill>
                <a:ea typeface="宋体" charset="-122"/>
              </a:rPr>
              <a:t>快照</a:t>
            </a:r>
            <a:r>
              <a:rPr lang="zh-CN" altLang="en-US" sz="2800" dirty="0">
                <a:ea typeface="宋体" charset="-122"/>
              </a:rPr>
              <a:t>。</a:t>
            </a:r>
            <a:endParaRPr lang="en-US" altLang="zh-CN" sz="2800" dirty="0">
              <a:ea typeface="宋体" charset="-122"/>
            </a:endParaRPr>
          </a:p>
          <a:p>
            <a:endParaRPr lang="en-US" altLang="zh-CN" sz="2400" dirty="0">
              <a:ea typeface="宋体" charset="-122"/>
            </a:endParaRPr>
          </a:p>
          <a:p>
            <a:r>
              <a:rPr lang="zh-CN" altLang="en-US" sz="2800" dirty="0">
                <a:ea typeface="宋体" charset="-122"/>
              </a:rPr>
              <a:t>例如</a:t>
            </a:r>
            <a:r>
              <a:rPr lang="en-US" altLang="zh-CN" sz="2800" dirty="0">
                <a:ea typeface="宋体" charset="-122"/>
              </a:rPr>
              <a:t>:</a:t>
            </a:r>
          </a:p>
          <a:p>
            <a:pPr marL="576263" lvl="1" indent="-234950"/>
            <a:r>
              <a:rPr lang="en-US" altLang="zh-CN" dirty="0"/>
              <a:t>1.</a:t>
            </a:r>
            <a:r>
              <a:rPr lang="zh-CN" altLang="en-US" dirty="0"/>
              <a:t>记分牌可以代表篮球比赛的状态</a:t>
            </a:r>
            <a:endParaRPr lang="en-US" altLang="zh-CN" dirty="0"/>
          </a:p>
          <a:p>
            <a:pPr marL="1022350" lvl="2" indent="-222250"/>
            <a:r>
              <a:rPr lang="en-US" altLang="zh-CN" dirty="0"/>
              <a:t>	</a:t>
            </a:r>
            <a:r>
              <a:rPr lang="zh-CN" altLang="en-US" dirty="0"/>
              <a:t>比分，剩余时间，控球方等。</a:t>
            </a:r>
            <a:endParaRPr lang="en-US" altLang="zh-CN" dirty="0"/>
          </a:p>
          <a:p>
            <a:pPr marL="576263" lvl="1" indent="-234950">
              <a:spcBef>
                <a:spcPct val="50000"/>
              </a:spcBef>
            </a:pPr>
            <a:r>
              <a:rPr lang="en-US" altLang="zh-CN" dirty="0"/>
              <a:t>2. X</a:t>
            </a:r>
            <a:r>
              <a:rPr lang="zh-CN" altLang="en-US" dirty="0"/>
              <a:t>或者</a:t>
            </a:r>
            <a:r>
              <a:rPr lang="en-US" altLang="zh-CN" dirty="0"/>
              <a:t>O</a:t>
            </a:r>
            <a:r>
              <a:rPr lang="zh-CN" altLang="en-US" dirty="0"/>
              <a:t>的位置可以描述游戏“三子连珠”的状态</a:t>
            </a:r>
            <a:r>
              <a:rPr lang="zh-CN" altLang="en-US" sz="2400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3567581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有限状态机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39834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52600" y="1143001"/>
            <a:ext cx="8686800" cy="5280025"/>
          </a:xfrm>
        </p:spPr>
        <p:txBody>
          <a:bodyPr/>
          <a:lstStyle/>
          <a:p>
            <a:pPr marL="457200" indent="-457200"/>
            <a:r>
              <a:rPr lang="zh-CN" altLang="en-US" sz="2800" dirty="0">
                <a:ea typeface="宋体" charset="-122"/>
              </a:rPr>
              <a:t>有限状态机的</a:t>
            </a:r>
            <a:r>
              <a:rPr lang="en-US" altLang="zh-CN" sz="2800" dirty="0">
                <a:ea typeface="宋体" charset="-122"/>
              </a:rPr>
              <a:t>5</a:t>
            </a:r>
            <a:r>
              <a:rPr lang="zh-CN" altLang="en-US" sz="2800" dirty="0">
                <a:ea typeface="宋体" charset="-122"/>
              </a:rPr>
              <a:t>个组成部分</a:t>
            </a:r>
            <a:r>
              <a:rPr lang="en-US" altLang="zh-CN" sz="2800" dirty="0">
                <a:ea typeface="宋体" charset="-122"/>
              </a:rPr>
              <a:t>:</a:t>
            </a:r>
          </a:p>
          <a:p>
            <a:pPr marL="457200" indent="-457200">
              <a:buFontTx/>
              <a:buAutoNum type="arabicPeriod"/>
            </a:pPr>
            <a:r>
              <a:rPr lang="zh-CN" altLang="en-US" sz="2400" dirty="0">
                <a:ea typeface="宋体" charset="-122"/>
              </a:rPr>
              <a:t>有限</a:t>
            </a:r>
            <a:r>
              <a:rPr lang="zh-CN" altLang="en-US" sz="2400" dirty="0">
                <a:solidFill>
                  <a:srgbClr val="FF0000"/>
                </a:solidFill>
                <a:ea typeface="宋体" charset="-122"/>
              </a:rPr>
              <a:t>状态</a:t>
            </a:r>
            <a:endParaRPr lang="en-US" altLang="zh-CN" sz="2400" dirty="0">
              <a:solidFill>
                <a:srgbClr val="FF0000"/>
              </a:solidFill>
              <a:ea typeface="宋体" charset="-122"/>
            </a:endParaRPr>
          </a:p>
          <a:p>
            <a:pPr marL="457200" indent="-457200">
              <a:buFontTx/>
              <a:buAutoNum type="arabicPeriod"/>
            </a:pPr>
            <a:r>
              <a:rPr lang="zh-CN" altLang="en-US" sz="2400" dirty="0">
                <a:ea typeface="宋体" charset="-122"/>
              </a:rPr>
              <a:t>有限外部</a:t>
            </a:r>
            <a:r>
              <a:rPr lang="zh-CN" altLang="en-US" sz="2400" dirty="0">
                <a:solidFill>
                  <a:srgbClr val="FF0000"/>
                </a:solidFill>
                <a:ea typeface="宋体" charset="-122"/>
              </a:rPr>
              <a:t>输入</a:t>
            </a:r>
            <a:endParaRPr lang="en-US" altLang="zh-CN" sz="2400" dirty="0">
              <a:solidFill>
                <a:srgbClr val="CE0000"/>
              </a:solidFill>
              <a:ea typeface="宋体" charset="-122"/>
            </a:endParaRPr>
          </a:p>
          <a:p>
            <a:pPr marL="457200" indent="-457200">
              <a:buFontTx/>
              <a:buAutoNum type="arabicPeriod"/>
            </a:pPr>
            <a:r>
              <a:rPr lang="zh-CN" altLang="en-US" sz="2400" dirty="0">
                <a:ea typeface="宋体" charset="-122"/>
              </a:rPr>
              <a:t>有限对外</a:t>
            </a:r>
            <a:r>
              <a:rPr lang="zh-CN" altLang="en-US" sz="2400" dirty="0">
                <a:solidFill>
                  <a:srgbClr val="FF0000"/>
                </a:solidFill>
                <a:ea typeface="宋体" charset="-122"/>
              </a:rPr>
              <a:t>输出</a:t>
            </a:r>
            <a:endParaRPr lang="en-US" altLang="zh-CN" sz="2400" dirty="0">
              <a:solidFill>
                <a:srgbClr val="CE0000"/>
              </a:solidFill>
              <a:ea typeface="宋体" charset="-122"/>
            </a:endParaRPr>
          </a:p>
          <a:p>
            <a:pPr marL="457200" indent="-457200">
              <a:buFontTx/>
              <a:buAutoNum type="arabicPeriod"/>
            </a:pPr>
            <a:r>
              <a:rPr lang="zh-CN" altLang="en-US" sz="2400" dirty="0">
                <a:ea typeface="宋体" charset="-122"/>
              </a:rPr>
              <a:t>显式任意</a:t>
            </a:r>
            <a:r>
              <a:rPr lang="zh-CN" altLang="en-US" sz="2400" dirty="0">
                <a:solidFill>
                  <a:srgbClr val="FF0000"/>
                </a:solidFill>
                <a:ea typeface="宋体" charset="-122"/>
              </a:rPr>
              <a:t>状态间转移</a:t>
            </a:r>
            <a:endParaRPr lang="en-US" altLang="zh-CN" sz="2400" dirty="0">
              <a:solidFill>
                <a:srgbClr val="FF0000"/>
              </a:solidFill>
              <a:ea typeface="宋体" charset="-122"/>
            </a:endParaRPr>
          </a:p>
          <a:p>
            <a:pPr marL="457200" indent="-457200">
              <a:buFontTx/>
              <a:buAutoNum type="arabicPeriod"/>
            </a:pPr>
            <a:r>
              <a:rPr lang="zh-CN" altLang="en-US" sz="2400" dirty="0">
                <a:ea typeface="宋体" charset="-122"/>
              </a:rPr>
              <a:t>显式对外</a:t>
            </a:r>
            <a:r>
              <a:rPr lang="zh-CN" altLang="en-US" sz="2400" dirty="0">
                <a:solidFill>
                  <a:srgbClr val="FF0000"/>
                </a:solidFill>
                <a:ea typeface="宋体" charset="-122"/>
              </a:rPr>
              <a:t>输出操作</a:t>
            </a:r>
            <a:endParaRPr lang="en-US" altLang="zh-CN" dirty="0">
              <a:ea typeface="宋体" charset="-122"/>
            </a:endParaRPr>
          </a:p>
          <a:p>
            <a:pPr marL="457200" indent="-457200"/>
            <a:endParaRPr lang="en-US" altLang="zh-CN" dirty="0">
              <a:ea typeface="宋体" charset="-122"/>
            </a:endParaRPr>
          </a:p>
          <a:p>
            <a:pPr marL="722313" lvl="1" indent="-381000"/>
            <a:r>
              <a:rPr lang="zh-CN" altLang="en-US" sz="2400" dirty="0"/>
              <a:t>输入可产生状态转移</a:t>
            </a:r>
            <a:endParaRPr lang="en-US" altLang="zh-CN" sz="2400" dirty="0"/>
          </a:p>
          <a:p>
            <a:pPr marL="722313" lvl="1" indent="-381000"/>
            <a:r>
              <a:rPr lang="zh-CN" altLang="en-US" sz="2400" dirty="0"/>
              <a:t>输出同每个状态或每个转移有关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3891708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Times New Roman" pitchFamily="18" charset="0"/>
              </a:rPr>
              <a:t>状态图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2063552" y="1052736"/>
            <a:ext cx="7993136" cy="17858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50000"/>
              </a:spcBef>
            </a:pPr>
            <a:r>
              <a:rPr lang="zh-CN" altLang="en-US" dirty="0">
                <a:latin typeface="Times New Roman" pitchFamily="18" charset="0"/>
              </a:rPr>
              <a:t>状态图</a:t>
            </a:r>
            <a:r>
              <a:rPr lang="en-US" altLang="zh-CN" dirty="0">
                <a:latin typeface="Times New Roman" pitchFamily="18" charset="0"/>
              </a:rPr>
              <a:t>(State Diagram)</a:t>
            </a:r>
            <a:r>
              <a:rPr lang="zh-CN" altLang="en-US" dirty="0">
                <a:latin typeface="Times New Roman" pitchFamily="18" charset="0"/>
              </a:rPr>
              <a:t>是时序逻辑电路状态转换图的简称， 它能够直观地描述时序逻辑电路的状态转换关系和输入输出关系。</a:t>
            </a:r>
            <a:endParaRPr lang="en-US" altLang="zh-CN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4974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状态图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140137"/>
              </p:ext>
            </p:extLst>
          </p:nvPr>
        </p:nvGraphicFramePr>
        <p:xfrm>
          <a:off x="3503712" y="1340769"/>
          <a:ext cx="4800600" cy="145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VISIO" r:id="rId3" imgW="1181160" imgH="357480" progId="Visio.Drawing.4">
                  <p:embed/>
                </p:oleObj>
              </mc:Choice>
              <mc:Fallback>
                <p:oleObj name="VISIO" r:id="rId3" imgW="1181160" imgH="357480" progId="Visio.Drawing.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3712" y="1340769"/>
                        <a:ext cx="4800600" cy="1452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1938835" y="3140968"/>
            <a:ext cx="835292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50000"/>
              </a:spcBef>
            </a:pPr>
            <a:r>
              <a:rPr lang="zh-CN" altLang="en-US" dirty="0">
                <a:latin typeface="Times New Roman" pitchFamily="18" charset="0"/>
              </a:rPr>
              <a:t>在状态图中，电路的状态用状态名符号外加圆圈</a:t>
            </a:r>
            <a:r>
              <a:rPr lang="en-US" altLang="zh-CN" dirty="0">
                <a:latin typeface="Times New Roman" pitchFamily="18" charset="0"/>
              </a:rPr>
              <a:t>(</a:t>
            </a:r>
            <a:r>
              <a:rPr lang="zh-CN" altLang="en-US" dirty="0">
                <a:latin typeface="Times New Roman" pitchFamily="18" charset="0"/>
              </a:rPr>
              <a:t>称为状态圈</a:t>
            </a:r>
            <a:r>
              <a:rPr lang="en-US" altLang="zh-CN" dirty="0">
                <a:latin typeface="Times New Roman" pitchFamily="18" charset="0"/>
              </a:rPr>
              <a:t>)</a:t>
            </a:r>
            <a:r>
              <a:rPr lang="zh-CN" altLang="en-US" dirty="0">
                <a:latin typeface="Times New Roman" pitchFamily="18" charset="0"/>
              </a:rPr>
              <a:t>来表示，状态转换的方向用箭头来表示，箭头旁以</a:t>
            </a:r>
            <a:r>
              <a:rPr lang="en-US" altLang="zh-CN" dirty="0">
                <a:latin typeface="Times New Roman" pitchFamily="18" charset="0"/>
              </a:rPr>
              <a:t>X/Z</a:t>
            </a:r>
            <a:r>
              <a:rPr lang="zh-CN" altLang="en-US" dirty="0">
                <a:latin typeface="Times New Roman" pitchFamily="18" charset="0"/>
              </a:rPr>
              <a:t>的形式标出转换的输入条件</a:t>
            </a:r>
            <a:r>
              <a:rPr lang="en-US" altLang="zh-CN" dirty="0">
                <a:latin typeface="Times New Roman" pitchFamily="18" charset="0"/>
              </a:rPr>
              <a:t>X</a:t>
            </a:r>
            <a:r>
              <a:rPr lang="zh-CN" altLang="en-US" dirty="0">
                <a:latin typeface="Times New Roman" pitchFamily="18" charset="0"/>
              </a:rPr>
              <a:t>和相应的电路输出</a:t>
            </a:r>
            <a:r>
              <a:rPr lang="en-US" altLang="zh-CN" dirty="0">
                <a:latin typeface="Times New Roman" pitchFamily="18" charset="0"/>
              </a:rPr>
              <a:t>Z</a:t>
            </a:r>
            <a:r>
              <a:rPr lang="zh-CN" altLang="en-US" dirty="0">
                <a:latin typeface="Times New Roman" pitchFamily="18" charset="0"/>
              </a:rPr>
              <a:t>，如图所示。该图读法如下：当电路在时刻</a:t>
            </a:r>
            <a:r>
              <a:rPr lang="en-US" altLang="zh-CN" dirty="0" err="1">
                <a:latin typeface="Times New Roman" pitchFamily="18" charset="0"/>
              </a:rPr>
              <a:t>t</a:t>
            </a:r>
            <a:r>
              <a:rPr lang="en-US" altLang="zh-CN" baseline="30000" dirty="0" err="1">
                <a:latin typeface="Times New Roman" pitchFamily="18" charset="0"/>
              </a:rPr>
              <a:t>n</a:t>
            </a:r>
            <a:r>
              <a:rPr lang="zh-CN" altLang="en-US" dirty="0">
                <a:latin typeface="Times New Roman" pitchFamily="18" charset="0"/>
              </a:rPr>
              <a:t>处于现态</a:t>
            </a:r>
            <a:r>
              <a:rPr lang="en-US" altLang="zh-CN" dirty="0">
                <a:latin typeface="Times New Roman" pitchFamily="18" charset="0"/>
              </a:rPr>
              <a:t>S</a:t>
            </a:r>
            <a:r>
              <a:rPr lang="en-US" altLang="zh-CN" i="1" baseline="-25000" dirty="0">
                <a:latin typeface="Times New Roman" pitchFamily="18" charset="0"/>
              </a:rPr>
              <a:t>i</a:t>
            </a:r>
            <a:r>
              <a:rPr lang="zh-CN" altLang="en-US" dirty="0">
                <a:latin typeface="Times New Roman" pitchFamily="18" charset="0"/>
              </a:rPr>
              <a:t>而输入为</a:t>
            </a:r>
            <a:r>
              <a:rPr lang="en-US" altLang="zh-CN" dirty="0">
                <a:latin typeface="Times New Roman" pitchFamily="18" charset="0"/>
              </a:rPr>
              <a:t>X</a:t>
            </a:r>
            <a:r>
              <a:rPr lang="zh-CN" altLang="en-US" dirty="0">
                <a:latin typeface="Times New Roman" pitchFamily="18" charset="0"/>
              </a:rPr>
              <a:t>时，电路输出为</a:t>
            </a:r>
            <a:r>
              <a:rPr lang="en-US" altLang="zh-CN" dirty="0">
                <a:latin typeface="Times New Roman" pitchFamily="18" charset="0"/>
              </a:rPr>
              <a:t>Z</a:t>
            </a:r>
            <a:r>
              <a:rPr lang="zh-CN" altLang="en-US" dirty="0">
                <a:latin typeface="Times New Roman" pitchFamily="18" charset="0"/>
              </a:rPr>
              <a:t>；在时刻</a:t>
            </a:r>
            <a:r>
              <a:rPr lang="en-US" altLang="zh-CN" dirty="0">
                <a:latin typeface="Times New Roman" pitchFamily="18" charset="0"/>
              </a:rPr>
              <a:t>t</a:t>
            </a:r>
            <a:r>
              <a:rPr lang="en-US" altLang="zh-CN" baseline="30000" dirty="0">
                <a:latin typeface="Times New Roman" pitchFamily="18" charset="0"/>
              </a:rPr>
              <a:t>n+1</a:t>
            </a:r>
            <a:r>
              <a:rPr lang="zh-CN" altLang="en-US" dirty="0">
                <a:latin typeface="Times New Roman" pitchFamily="18" charset="0"/>
              </a:rPr>
              <a:t>，电路将转换到次态</a:t>
            </a:r>
            <a:r>
              <a:rPr lang="en-US" altLang="zh-CN" dirty="0" err="1">
                <a:latin typeface="Times New Roman" pitchFamily="18" charset="0"/>
              </a:rPr>
              <a:t>S</a:t>
            </a:r>
            <a:r>
              <a:rPr lang="en-US" altLang="zh-CN" i="1" baseline="-25000" dirty="0" err="1">
                <a:latin typeface="Times New Roman" pitchFamily="18" charset="0"/>
              </a:rPr>
              <a:t>j</a:t>
            </a:r>
            <a:r>
              <a:rPr lang="en-US" altLang="zh-CN" dirty="0">
                <a:latin typeface="Times New Roman" pitchFamily="18" charset="0"/>
              </a:rPr>
              <a:t></a:t>
            </a:r>
            <a:r>
              <a:rPr lang="zh-CN" altLang="en-US" dirty="0">
                <a:latin typeface="Times New Roman" pitchFamily="18" charset="0"/>
              </a:rPr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14534906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1549400" y="764705"/>
            <a:ext cx="9062020" cy="22713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spcBef>
                <a:spcPct val="50000"/>
              </a:spcBef>
            </a:pPr>
            <a:r>
              <a:rPr lang="en-US" altLang="zh-CN" dirty="0">
                <a:latin typeface="Times New Roman" pitchFamily="18" charset="0"/>
              </a:rPr>
              <a:t>        【</a:t>
            </a:r>
            <a:r>
              <a:rPr lang="zh-CN" altLang="en-US" dirty="0">
                <a:latin typeface="Times New Roman" pitchFamily="18" charset="0"/>
              </a:rPr>
              <a:t>例</a:t>
            </a:r>
            <a:r>
              <a:rPr lang="en-US" altLang="zh-CN" dirty="0">
                <a:latin typeface="Times New Roman" pitchFamily="18" charset="0"/>
              </a:rPr>
              <a:t>】 </a:t>
            </a:r>
            <a:r>
              <a:rPr lang="zh-CN" altLang="en-US" dirty="0">
                <a:latin typeface="Times New Roman" pitchFamily="18" charset="0"/>
              </a:rPr>
              <a:t>某时序逻辑电路的状态图如图所示。假定电路现在处于状态</a:t>
            </a:r>
            <a:r>
              <a:rPr lang="en-US" altLang="zh-CN" dirty="0">
                <a:latin typeface="Times New Roman" pitchFamily="18" charset="0"/>
              </a:rPr>
              <a:t>S</a:t>
            </a:r>
            <a:r>
              <a:rPr lang="en-US" altLang="zh-CN" baseline="-25000" dirty="0">
                <a:latin typeface="Times New Roman" pitchFamily="18" charset="0"/>
              </a:rPr>
              <a:t>0</a:t>
            </a:r>
            <a:r>
              <a:rPr lang="zh-CN" altLang="en-US" dirty="0">
                <a:latin typeface="Times New Roman" pitchFamily="18" charset="0"/>
              </a:rPr>
              <a:t>，试确定电路输入序列为</a:t>
            </a:r>
            <a:r>
              <a:rPr lang="en-US" altLang="zh-CN" dirty="0">
                <a:latin typeface="Times New Roman" pitchFamily="18" charset="0"/>
              </a:rPr>
              <a:t>X=1000010110</a:t>
            </a:r>
            <a:r>
              <a:rPr lang="zh-CN" altLang="en-US" dirty="0">
                <a:latin typeface="Times New Roman" pitchFamily="18" charset="0"/>
              </a:rPr>
              <a:t>时的状态序列和输出序列，并说明最后一位输入后电路所处的状态。</a:t>
            </a:r>
          </a:p>
          <a:p>
            <a:pPr>
              <a:lnSpc>
                <a:spcPct val="135000"/>
              </a:lnSpc>
              <a:spcBef>
                <a:spcPct val="50000"/>
              </a:spcBef>
            </a:pPr>
            <a:r>
              <a:rPr lang="zh-CN" altLang="en-US" dirty="0">
                <a:latin typeface="Times New Roman" pitchFamily="18" charset="0"/>
              </a:rPr>
              <a:t>        </a:t>
            </a:r>
            <a:r>
              <a:rPr lang="zh-CN" altLang="en-US" b="1" dirty="0">
                <a:latin typeface="Times New Roman" pitchFamily="18" charset="0"/>
              </a:rPr>
              <a:t>解</a:t>
            </a:r>
            <a:r>
              <a:rPr lang="zh-CN" altLang="en-US" dirty="0">
                <a:latin typeface="Times New Roman" pitchFamily="18" charset="0"/>
              </a:rPr>
              <a:t> 根据电路的状态图、初始状态及输入序列，可以推导如下：</a:t>
            </a:r>
          </a:p>
        </p:txBody>
      </p:sp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3143251" y="2924175"/>
          <a:ext cx="5618163" cy="342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VISIO" r:id="rId3" imgW="2084400" imgH="1380240" progId="Visio.Drawing.4">
                  <p:embed/>
                </p:oleObj>
              </mc:Choice>
              <mc:Fallback>
                <p:oleObj name="VISIO" r:id="rId3" imgW="2084400" imgH="1380240" progId="Visio.Drawing.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251" y="2924175"/>
                        <a:ext cx="5618163" cy="3424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5375275" y="6400800"/>
            <a:ext cx="10985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状态图</a:t>
            </a:r>
          </a:p>
        </p:txBody>
      </p:sp>
    </p:spTree>
    <p:extLst>
      <p:ext uri="{BB962C8B-B14F-4D97-AF65-F5344CB8AC3E}">
        <p14:creationId xmlns:p14="http://schemas.microsoft.com/office/powerpoint/2010/main" val="109800534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2711451" y="765175"/>
            <a:ext cx="6759575" cy="3195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70000"/>
              </a:lnSpc>
            </a:pPr>
            <a:r>
              <a:rPr lang="zh-CN" altLang="en-US">
                <a:latin typeface="Times New Roman" pitchFamily="18" charset="0"/>
              </a:rPr>
              <a:t>时刻         </a:t>
            </a:r>
            <a:r>
              <a:rPr lang="en-US" altLang="zh-CN">
                <a:latin typeface="Times New Roman" pitchFamily="18" charset="0"/>
              </a:rPr>
              <a:t>0     1     2     3     4    5     6     7     8     9</a:t>
            </a:r>
          </a:p>
          <a:p>
            <a:pPr>
              <a:lnSpc>
                <a:spcPct val="170000"/>
              </a:lnSpc>
            </a:pPr>
            <a:r>
              <a:rPr lang="zh-CN" altLang="en-US">
                <a:latin typeface="Times New Roman" pitchFamily="18" charset="0"/>
              </a:rPr>
              <a:t>输入</a:t>
            </a:r>
            <a:r>
              <a:rPr lang="en-US" altLang="zh-CN">
                <a:latin typeface="Times New Roman" pitchFamily="18" charset="0"/>
              </a:rPr>
              <a:t>X      1     0     0     0     0    1     0     1     1     0</a:t>
            </a:r>
          </a:p>
          <a:p>
            <a:pPr>
              <a:lnSpc>
                <a:spcPct val="170000"/>
              </a:lnSpc>
            </a:pPr>
            <a:r>
              <a:rPr lang="zh-CN" altLang="en-US">
                <a:latin typeface="Times New Roman" pitchFamily="18" charset="0"/>
              </a:rPr>
              <a:t>现态         </a:t>
            </a:r>
            <a:r>
              <a:rPr lang="en-US" altLang="zh-CN">
                <a:latin typeface="Times New Roman" pitchFamily="18" charset="0"/>
              </a:rPr>
              <a:t>S</a:t>
            </a:r>
            <a:r>
              <a:rPr lang="en-US" altLang="zh-CN" baseline="-25000">
                <a:latin typeface="Times New Roman" pitchFamily="18" charset="0"/>
              </a:rPr>
              <a:t>0 </a:t>
            </a:r>
            <a:r>
              <a:rPr lang="en-US" altLang="zh-CN">
                <a:latin typeface="Times New Roman" pitchFamily="18" charset="0"/>
              </a:rPr>
              <a:t>   S</a:t>
            </a:r>
            <a:r>
              <a:rPr lang="en-US" altLang="zh-CN" baseline="-25000">
                <a:latin typeface="Times New Roman" pitchFamily="18" charset="0"/>
              </a:rPr>
              <a:t>1</a:t>
            </a:r>
            <a:r>
              <a:rPr lang="en-US" altLang="zh-CN">
                <a:latin typeface="Times New Roman" pitchFamily="18" charset="0"/>
              </a:rPr>
              <a:t>   S</a:t>
            </a:r>
            <a:r>
              <a:rPr lang="en-US" altLang="zh-CN" baseline="-25000">
                <a:latin typeface="Times New Roman" pitchFamily="18" charset="0"/>
              </a:rPr>
              <a:t>2</a:t>
            </a:r>
            <a:r>
              <a:rPr lang="en-US" altLang="zh-CN">
                <a:latin typeface="Times New Roman" pitchFamily="18" charset="0"/>
              </a:rPr>
              <a:t>    S</a:t>
            </a:r>
            <a:r>
              <a:rPr lang="en-US" altLang="zh-CN" baseline="-25000">
                <a:latin typeface="Times New Roman" pitchFamily="18" charset="0"/>
              </a:rPr>
              <a:t>3</a:t>
            </a:r>
            <a:r>
              <a:rPr lang="en-US" altLang="zh-CN">
                <a:latin typeface="Times New Roman" pitchFamily="18" charset="0"/>
              </a:rPr>
              <a:t>   S</a:t>
            </a:r>
            <a:r>
              <a:rPr lang="en-US" altLang="zh-CN" baseline="-25000">
                <a:latin typeface="Times New Roman" pitchFamily="18" charset="0"/>
              </a:rPr>
              <a:t>0</a:t>
            </a:r>
            <a:r>
              <a:rPr lang="en-US" altLang="zh-CN">
                <a:latin typeface="Times New Roman" pitchFamily="18" charset="0"/>
              </a:rPr>
              <a:t>   S</a:t>
            </a:r>
            <a:r>
              <a:rPr lang="en-US" altLang="zh-CN" baseline="-25000">
                <a:latin typeface="Times New Roman" pitchFamily="18" charset="0"/>
              </a:rPr>
              <a:t>0</a:t>
            </a:r>
            <a:r>
              <a:rPr lang="en-US" altLang="zh-CN">
                <a:latin typeface="Times New Roman" pitchFamily="18" charset="0"/>
              </a:rPr>
              <a:t>   S</a:t>
            </a:r>
            <a:r>
              <a:rPr lang="en-US" altLang="zh-CN" baseline="-25000">
                <a:latin typeface="Times New Roman" pitchFamily="18" charset="0"/>
              </a:rPr>
              <a:t>1</a:t>
            </a:r>
            <a:r>
              <a:rPr lang="en-US" altLang="zh-CN">
                <a:latin typeface="Times New Roman" pitchFamily="18" charset="0"/>
              </a:rPr>
              <a:t>   S</a:t>
            </a:r>
            <a:r>
              <a:rPr lang="en-US" altLang="zh-CN" baseline="-25000">
                <a:latin typeface="Times New Roman" pitchFamily="18" charset="0"/>
              </a:rPr>
              <a:t>2</a:t>
            </a:r>
            <a:r>
              <a:rPr lang="en-US" altLang="zh-CN">
                <a:latin typeface="Times New Roman" pitchFamily="18" charset="0"/>
              </a:rPr>
              <a:t>    S</a:t>
            </a:r>
            <a:r>
              <a:rPr lang="en-US" altLang="zh-CN" baseline="-25000">
                <a:latin typeface="Times New Roman" pitchFamily="18" charset="0"/>
              </a:rPr>
              <a:t>0</a:t>
            </a:r>
            <a:r>
              <a:rPr lang="en-US" altLang="zh-CN">
                <a:latin typeface="Times New Roman" pitchFamily="18" charset="0"/>
              </a:rPr>
              <a:t>   S</a:t>
            </a:r>
            <a:r>
              <a:rPr lang="en-US" altLang="zh-CN" baseline="-25000">
                <a:latin typeface="Times New Roman" pitchFamily="18" charset="0"/>
              </a:rPr>
              <a:t>1</a:t>
            </a:r>
            <a:r>
              <a:rPr lang="en-US" altLang="zh-CN">
                <a:latin typeface="Times New Roman" pitchFamily="18" charset="0"/>
              </a:rPr>
              <a:t></a:t>
            </a:r>
          </a:p>
          <a:p>
            <a:pPr>
              <a:lnSpc>
                <a:spcPct val="170000"/>
              </a:lnSpc>
            </a:pPr>
            <a:r>
              <a:rPr lang="zh-CN" altLang="en-US">
                <a:latin typeface="Times New Roman" pitchFamily="18" charset="0"/>
              </a:rPr>
              <a:t>次态         </a:t>
            </a:r>
            <a:r>
              <a:rPr lang="en-US" altLang="zh-CN">
                <a:latin typeface="Times New Roman" pitchFamily="18" charset="0"/>
              </a:rPr>
              <a:t>S</a:t>
            </a:r>
            <a:r>
              <a:rPr lang="en-US" altLang="zh-CN" baseline="-25000">
                <a:latin typeface="Times New Roman" pitchFamily="18" charset="0"/>
              </a:rPr>
              <a:t>1    </a:t>
            </a:r>
            <a:r>
              <a:rPr lang="en-US" altLang="zh-CN">
                <a:latin typeface="Times New Roman" pitchFamily="18" charset="0"/>
              </a:rPr>
              <a:t> S</a:t>
            </a:r>
            <a:r>
              <a:rPr lang="en-US" altLang="zh-CN" baseline="-25000">
                <a:latin typeface="Times New Roman" pitchFamily="18" charset="0"/>
              </a:rPr>
              <a:t>2</a:t>
            </a:r>
            <a:r>
              <a:rPr lang="en-US" altLang="zh-CN">
                <a:latin typeface="Times New Roman" pitchFamily="18" charset="0"/>
              </a:rPr>
              <a:t>   S</a:t>
            </a:r>
            <a:r>
              <a:rPr lang="en-US" altLang="zh-CN" baseline="-25000">
                <a:latin typeface="Times New Roman" pitchFamily="18" charset="0"/>
              </a:rPr>
              <a:t>3</a:t>
            </a:r>
            <a:r>
              <a:rPr lang="en-US" altLang="zh-CN">
                <a:latin typeface="Times New Roman" pitchFamily="18" charset="0"/>
              </a:rPr>
              <a:t>    S</a:t>
            </a:r>
            <a:r>
              <a:rPr lang="en-US" altLang="zh-CN" baseline="-25000">
                <a:latin typeface="Times New Roman" pitchFamily="18" charset="0"/>
              </a:rPr>
              <a:t>0   </a:t>
            </a:r>
            <a:r>
              <a:rPr lang="en-US" altLang="zh-CN">
                <a:latin typeface="Times New Roman" pitchFamily="18" charset="0"/>
              </a:rPr>
              <a:t> S</a:t>
            </a:r>
            <a:r>
              <a:rPr lang="en-US" altLang="zh-CN" baseline="-25000">
                <a:latin typeface="Times New Roman" pitchFamily="18" charset="0"/>
              </a:rPr>
              <a:t>0</a:t>
            </a:r>
            <a:r>
              <a:rPr lang="en-US" altLang="zh-CN">
                <a:latin typeface="Times New Roman" pitchFamily="18" charset="0"/>
              </a:rPr>
              <a:t>   S</a:t>
            </a:r>
            <a:r>
              <a:rPr lang="en-US" altLang="zh-CN" baseline="-25000">
                <a:latin typeface="Times New Roman" pitchFamily="18" charset="0"/>
              </a:rPr>
              <a:t>1   </a:t>
            </a:r>
            <a:r>
              <a:rPr lang="en-US" altLang="zh-CN">
                <a:latin typeface="Times New Roman" pitchFamily="18" charset="0"/>
              </a:rPr>
              <a:t> S</a:t>
            </a:r>
            <a:r>
              <a:rPr lang="en-US" altLang="zh-CN" baseline="-25000">
                <a:latin typeface="Times New Roman" pitchFamily="18" charset="0"/>
              </a:rPr>
              <a:t>2</a:t>
            </a:r>
            <a:r>
              <a:rPr lang="en-US" altLang="zh-CN">
                <a:latin typeface="Times New Roman" pitchFamily="18" charset="0"/>
              </a:rPr>
              <a:t>   S</a:t>
            </a:r>
            <a:r>
              <a:rPr lang="en-US" altLang="zh-CN" baseline="-25000">
                <a:latin typeface="Times New Roman" pitchFamily="18" charset="0"/>
              </a:rPr>
              <a:t>0    </a:t>
            </a:r>
            <a:r>
              <a:rPr lang="en-US" altLang="zh-CN">
                <a:latin typeface="Times New Roman" pitchFamily="18" charset="0"/>
              </a:rPr>
              <a:t> S</a:t>
            </a:r>
            <a:r>
              <a:rPr lang="en-US" altLang="zh-CN" baseline="-25000">
                <a:latin typeface="Times New Roman" pitchFamily="18" charset="0"/>
              </a:rPr>
              <a:t>1</a:t>
            </a:r>
            <a:r>
              <a:rPr lang="en-US" altLang="zh-CN">
                <a:latin typeface="Times New Roman" pitchFamily="18" charset="0"/>
              </a:rPr>
              <a:t>   S</a:t>
            </a:r>
            <a:r>
              <a:rPr lang="en-US" altLang="zh-CN" baseline="-25000">
                <a:latin typeface="Times New Roman" pitchFamily="18" charset="0"/>
              </a:rPr>
              <a:t>2</a:t>
            </a:r>
            <a:r>
              <a:rPr lang="en-US" altLang="zh-CN">
                <a:latin typeface="Times New Roman" pitchFamily="18" charset="0"/>
              </a:rPr>
              <a:t></a:t>
            </a:r>
          </a:p>
          <a:p>
            <a:pPr>
              <a:lnSpc>
                <a:spcPct val="170000"/>
              </a:lnSpc>
            </a:pPr>
            <a:r>
              <a:rPr lang="zh-CN" altLang="en-US">
                <a:latin typeface="Times New Roman" pitchFamily="18" charset="0"/>
              </a:rPr>
              <a:t>输出</a:t>
            </a:r>
            <a:r>
              <a:rPr lang="en-US" altLang="zh-CN">
                <a:latin typeface="Times New Roman" pitchFamily="18" charset="0"/>
              </a:rPr>
              <a:t>Z      0      0     0     1     0    0     0    1      0    0</a:t>
            </a:r>
          </a:p>
        </p:txBody>
      </p:sp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1847850" y="4149725"/>
            <a:ext cx="8458200" cy="206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80000"/>
              </a:lnSpc>
              <a:spcBef>
                <a:spcPct val="50000"/>
              </a:spcBef>
            </a:pPr>
            <a:r>
              <a:rPr lang="en-US" altLang="zh-CN">
                <a:latin typeface="Times New Roman" pitchFamily="18" charset="0"/>
              </a:rPr>
              <a:t>        </a:t>
            </a:r>
            <a:r>
              <a:rPr lang="zh-CN" altLang="en-US">
                <a:latin typeface="Times New Roman" pitchFamily="18" charset="0"/>
              </a:rPr>
              <a:t>可见，当电路处于初始状态</a:t>
            </a:r>
            <a:r>
              <a:rPr lang="en-US" altLang="zh-CN">
                <a:latin typeface="Times New Roman" pitchFamily="18" charset="0"/>
              </a:rPr>
              <a:t>S</a:t>
            </a:r>
            <a:r>
              <a:rPr lang="en-US" altLang="zh-CN" baseline="-25000">
                <a:latin typeface="Times New Roman" pitchFamily="18" charset="0"/>
              </a:rPr>
              <a:t>0</a:t>
            </a:r>
            <a:r>
              <a:rPr lang="zh-CN" altLang="en-US">
                <a:latin typeface="Times New Roman" pitchFamily="18" charset="0"/>
              </a:rPr>
              <a:t>且输入序列</a:t>
            </a:r>
            <a:r>
              <a:rPr lang="en-US" altLang="zh-CN">
                <a:latin typeface="Times New Roman" pitchFamily="18" charset="0"/>
              </a:rPr>
              <a:t>X=1000010110</a:t>
            </a:r>
            <a:r>
              <a:rPr lang="zh-CN" altLang="en-US">
                <a:latin typeface="Times New Roman" pitchFamily="18" charset="0"/>
              </a:rPr>
              <a:t>时， 状态序列为</a:t>
            </a:r>
            <a:r>
              <a:rPr lang="en-US" altLang="zh-CN">
                <a:latin typeface="Times New Roman" pitchFamily="18" charset="0"/>
              </a:rPr>
              <a:t>S</a:t>
            </a:r>
            <a:r>
              <a:rPr lang="en-US" altLang="zh-CN" baseline="-25000">
                <a:latin typeface="Times New Roman" pitchFamily="18" charset="0"/>
              </a:rPr>
              <a:t>1</a:t>
            </a:r>
            <a:r>
              <a:rPr lang="en-US" altLang="zh-CN">
                <a:latin typeface="Times New Roman" pitchFamily="18" charset="0"/>
              </a:rPr>
              <a:t>S</a:t>
            </a:r>
            <a:r>
              <a:rPr lang="en-US" altLang="zh-CN" baseline="-25000">
                <a:latin typeface="Times New Roman" pitchFamily="18" charset="0"/>
              </a:rPr>
              <a:t>2</a:t>
            </a:r>
            <a:r>
              <a:rPr lang="en-US" altLang="zh-CN">
                <a:latin typeface="Times New Roman" pitchFamily="18" charset="0"/>
              </a:rPr>
              <a:t>S</a:t>
            </a:r>
            <a:r>
              <a:rPr lang="en-US" altLang="zh-CN" baseline="-25000">
                <a:latin typeface="Times New Roman" pitchFamily="18" charset="0"/>
              </a:rPr>
              <a:t>3</a:t>
            </a:r>
            <a:r>
              <a:rPr lang="en-US" altLang="zh-CN">
                <a:latin typeface="Times New Roman" pitchFamily="18" charset="0"/>
              </a:rPr>
              <a:t>S</a:t>
            </a:r>
            <a:r>
              <a:rPr lang="en-US" altLang="zh-CN" baseline="-25000">
                <a:latin typeface="Times New Roman" pitchFamily="18" charset="0"/>
              </a:rPr>
              <a:t>0</a:t>
            </a:r>
            <a:r>
              <a:rPr lang="en-US" altLang="zh-CN">
                <a:latin typeface="Times New Roman" pitchFamily="18" charset="0"/>
              </a:rPr>
              <a:t>S</a:t>
            </a:r>
            <a:r>
              <a:rPr lang="en-US" altLang="zh-CN" baseline="-25000">
                <a:latin typeface="Times New Roman" pitchFamily="18" charset="0"/>
              </a:rPr>
              <a:t>0</a:t>
            </a:r>
            <a:r>
              <a:rPr lang="en-US" altLang="zh-CN">
                <a:latin typeface="Times New Roman" pitchFamily="18" charset="0"/>
              </a:rPr>
              <a:t>S</a:t>
            </a:r>
            <a:r>
              <a:rPr lang="en-US" altLang="zh-CN" baseline="-25000">
                <a:latin typeface="Times New Roman" pitchFamily="18" charset="0"/>
              </a:rPr>
              <a:t>1</a:t>
            </a:r>
            <a:r>
              <a:rPr lang="en-US" altLang="zh-CN">
                <a:latin typeface="Times New Roman" pitchFamily="18" charset="0"/>
              </a:rPr>
              <a:t>S</a:t>
            </a:r>
            <a:r>
              <a:rPr lang="en-US" altLang="zh-CN" baseline="-25000">
                <a:latin typeface="Times New Roman" pitchFamily="18" charset="0"/>
              </a:rPr>
              <a:t>2</a:t>
            </a:r>
            <a:r>
              <a:rPr lang="en-US" altLang="zh-CN">
                <a:latin typeface="Times New Roman" pitchFamily="18" charset="0"/>
              </a:rPr>
              <a:t>S</a:t>
            </a:r>
            <a:r>
              <a:rPr lang="en-US" altLang="zh-CN" baseline="-25000">
                <a:latin typeface="Times New Roman" pitchFamily="18" charset="0"/>
              </a:rPr>
              <a:t>0</a:t>
            </a:r>
            <a:r>
              <a:rPr lang="en-US" altLang="zh-CN">
                <a:latin typeface="Times New Roman" pitchFamily="18" charset="0"/>
              </a:rPr>
              <a:t>S</a:t>
            </a:r>
            <a:r>
              <a:rPr lang="en-US" altLang="zh-CN" baseline="-25000">
                <a:latin typeface="Times New Roman" pitchFamily="18" charset="0"/>
              </a:rPr>
              <a:t>1</a:t>
            </a:r>
            <a:r>
              <a:rPr lang="en-US" altLang="zh-CN">
                <a:latin typeface="Times New Roman" pitchFamily="18" charset="0"/>
              </a:rPr>
              <a:t>S</a:t>
            </a:r>
            <a:r>
              <a:rPr lang="en-US" altLang="zh-CN" baseline="-25000">
                <a:latin typeface="Times New Roman" pitchFamily="18" charset="0"/>
              </a:rPr>
              <a:t>2</a:t>
            </a:r>
            <a:r>
              <a:rPr lang="zh-CN" altLang="en-US">
                <a:latin typeface="Times New Roman" pitchFamily="18" charset="0"/>
              </a:rPr>
              <a:t>，</a:t>
            </a:r>
            <a:r>
              <a:rPr lang="en-US" altLang="zh-CN">
                <a:latin typeface="Times New Roman" pitchFamily="18" charset="0"/>
              </a:rPr>
              <a:t>Z</a:t>
            </a:r>
            <a:r>
              <a:rPr lang="zh-CN" altLang="en-US">
                <a:latin typeface="Times New Roman" pitchFamily="18" charset="0"/>
              </a:rPr>
              <a:t>输出序列为</a:t>
            </a:r>
            <a:r>
              <a:rPr lang="en-US" altLang="zh-CN">
                <a:latin typeface="Times New Roman" pitchFamily="18" charset="0"/>
              </a:rPr>
              <a:t>0001000100</a:t>
            </a:r>
            <a:r>
              <a:rPr lang="zh-CN" altLang="en-US">
                <a:latin typeface="Times New Roman" pitchFamily="18" charset="0"/>
              </a:rPr>
              <a:t>， 最后一位输入后电路处于</a:t>
            </a:r>
            <a:r>
              <a:rPr lang="en-US" altLang="zh-CN">
                <a:latin typeface="Times New Roman" pitchFamily="18" charset="0"/>
              </a:rPr>
              <a:t>S</a:t>
            </a:r>
            <a:r>
              <a:rPr lang="en-US" altLang="zh-CN" baseline="-25000">
                <a:latin typeface="Times New Roman" pitchFamily="18" charset="0"/>
              </a:rPr>
              <a:t>2</a:t>
            </a:r>
            <a:r>
              <a:rPr lang="zh-CN" altLang="en-US">
                <a:latin typeface="Times New Roman" pitchFamily="18" charset="0"/>
              </a:rPr>
              <a:t>状态。 </a:t>
            </a:r>
          </a:p>
        </p:txBody>
      </p:sp>
    </p:spTree>
    <p:extLst>
      <p:ext uri="{BB962C8B-B14F-4D97-AF65-F5344CB8AC3E}">
        <p14:creationId xmlns:p14="http://schemas.microsoft.com/office/powerpoint/2010/main" val="1979658472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1631504" y="908721"/>
            <a:ext cx="8763000" cy="41033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48000"/>
              </a:lnSpc>
              <a:spcBef>
                <a:spcPct val="50000"/>
              </a:spcBef>
            </a:pPr>
            <a:r>
              <a:rPr lang="zh-CN" altLang="en-US" dirty="0">
                <a:latin typeface="Times New Roman" pitchFamily="18" charset="0"/>
              </a:rPr>
              <a:t>电路所有可能的输入组合列在表的顶部，所有的状态作为现态列在表的左边， 对应的次态和输出填入表中。该表读法如下：当电路在时刻</a:t>
            </a:r>
            <a:r>
              <a:rPr lang="en-US" altLang="zh-CN" dirty="0" err="1">
                <a:latin typeface="Times New Roman" pitchFamily="18" charset="0"/>
              </a:rPr>
              <a:t>t</a:t>
            </a:r>
            <a:r>
              <a:rPr lang="en-US" altLang="zh-CN" baseline="30000" dirty="0" err="1">
                <a:latin typeface="Times New Roman" pitchFamily="18" charset="0"/>
              </a:rPr>
              <a:t>n</a:t>
            </a:r>
            <a:r>
              <a:rPr lang="zh-CN" altLang="en-US" dirty="0">
                <a:latin typeface="Times New Roman" pitchFamily="18" charset="0"/>
              </a:rPr>
              <a:t>处于现态</a:t>
            </a:r>
            <a:r>
              <a:rPr lang="en-US" altLang="zh-CN" dirty="0">
                <a:latin typeface="Times New Roman" pitchFamily="18" charset="0"/>
              </a:rPr>
              <a:t>S</a:t>
            </a:r>
            <a:r>
              <a:rPr lang="en-US" altLang="zh-CN" baseline="-25000" dirty="0">
                <a:latin typeface="Times New Roman" pitchFamily="18" charset="0"/>
              </a:rPr>
              <a:t>i</a:t>
            </a:r>
            <a:r>
              <a:rPr lang="zh-CN" altLang="en-US" dirty="0">
                <a:latin typeface="Times New Roman" pitchFamily="18" charset="0"/>
              </a:rPr>
              <a:t>而输入为</a:t>
            </a:r>
            <a:r>
              <a:rPr lang="en-US" altLang="zh-CN" dirty="0">
                <a:latin typeface="Times New Roman" pitchFamily="18" charset="0"/>
              </a:rPr>
              <a:t>X</a:t>
            </a:r>
            <a:r>
              <a:rPr lang="zh-CN" altLang="en-US" dirty="0">
                <a:latin typeface="Times New Roman" pitchFamily="18" charset="0"/>
              </a:rPr>
              <a:t>时，电路输出为</a:t>
            </a:r>
            <a:r>
              <a:rPr lang="en-US" altLang="zh-CN" dirty="0">
                <a:latin typeface="Times New Roman" pitchFamily="18" charset="0"/>
              </a:rPr>
              <a:t>Z</a:t>
            </a:r>
            <a:r>
              <a:rPr lang="zh-CN" altLang="en-US" dirty="0">
                <a:latin typeface="Times New Roman" pitchFamily="18" charset="0"/>
              </a:rPr>
              <a:t>；在时刻</a:t>
            </a:r>
            <a:r>
              <a:rPr lang="en-US" altLang="zh-CN" dirty="0">
                <a:latin typeface="Times New Roman" pitchFamily="18" charset="0"/>
              </a:rPr>
              <a:t>t</a:t>
            </a:r>
            <a:r>
              <a:rPr lang="en-US" altLang="zh-CN" baseline="30000" dirty="0">
                <a:latin typeface="Times New Roman" pitchFamily="18" charset="0"/>
              </a:rPr>
              <a:t>n+1</a:t>
            </a:r>
            <a:r>
              <a:rPr lang="zh-CN" altLang="en-US" dirty="0">
                <a:latin typeface="Times New Roman" pitchFamily="18" charset="0"/>
              </a:rPr>
              <a:t>， 电路将转换到次态</a:t>
            </a:r>
            <a:r>
              <a:rPr lang="en-US" altLang="zh-CN" dirty="0" err="1">
                <a:latin typeface="Times New Roman" pitchFamily="18" charset="0"/>
              </a:rPr>
              <a:t>S</a:t>
            </a:r>
            <a:r>
              <a:rPr lang="en-US" altLang="zh-CN" i="1" baseline="-25000" dirty="0" err="1">
                <a:latin typeface="Times New Roman" pitchFamily="18" charset="0"/>
              </a:rPr>
              <a:t>j</a:t>
            </a:r>
            <a:r>
              <a:rPr lang="zh-CN" altLang="en-US" dirty="0">
                <a:latin typeface="Times New Roman" pitchFamily="18" charset="0"/>
              </a:rPr>
              <a:t>。 </a:t>
            </a:r>
          </a:p>
          <a:p>
            <a:pPr>
              <a:lnSpc>
                <a:spcPct val="148000"/>
              </a:lnSpc>
              <a:spcBef>
                <a:spcPct val="50000"/>
              </a:spcBef>
            </a:pPr>
            <a:r>
              <a:rPr lang="zh-CN" altLang="en-US" dirty="0">
                <a:latin typeface="Times New Roman" pitchFamily="18" charset="0"/>
              </a:rPr>
              <a:t>        状态图和状态表可以相互转换。例如，图所示状态图可转换为表所示的状态表，反过来也一样。表中</a:t>
            </a:r>
            <a:r>
              <a:rPr lang="en-US" altLang="zh-CN" dirty="0">
                <a:latin typeface="Times New Roman" pitchFamily="18" charset="0"/>
              </a:rPr>
              <a:t>S</a:t>
            </a:r>
            <a:r>
              <a:rPr lang="en-US" altLang="zh-CN" baseline="30000" dirty="0">
                <a:latin typeface="Times New Roman" pitchFamily="18" charset="0"/>
              </a:rPr>
              <a:t>n</a:t>
            </a:r>
            <a:r>
              <a:rPr lang="zh-CN" altLang="en-US" dirty="0">
                <a:latin typeface="Times New Roman" pitchFamily="18" charset="0"/>
              </a:rPr>
              <a:t>表示现态， </a:t>
            </a:r>
            <a:r>
              <a:rPr lang="en-US" altLang="zh-CN" dirty="0">
                <a:latin typeface="Times New Roman" pitchFamily="18" charset="0"/>
              </a:rPr>
              <a:t>S</a:t>
            </a:r>
            <a:r>
              <a:rPr lang="en-US" altLang="zh-CN" baseline="30000" dirty="0">
                <a:latin typeface="Times New Roman" pitchFamily="18" charset="0"/>
              </a:rPr>
              <a:t>n+1</a:t>
            </a:r>
            <a:r>
              <a:rPr lang="zh-CN" altLang="en-US" dirty="0">
                <a:latin typeface="Times New Roman" pitchFamily="18" charset="0"/>
              </a:rPr>
              <a:t>表示次态。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latin typeface="Times New Roman" pitchFamily="18" charset="0"/>
              </a:rPr>
              <a:t>状态表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0899418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5159375" y="5589588"/>
            <a:ext cx="2012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>
                <a:latin typeface="Times New Roman" pitchFamily="18" charset="0"/>
              </a:rPr>
              <a:t>状态表的结构</a:t>
            </a:r>
          </a:p>
        </p:txBody>
      </p:sp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2819400" y="1371600"/>
          <a:ext cx="5715000" cy="344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VISIO" r:id="rId3" imgW="1780560" imgH="1073160" progId="Visio.Drawing.4">
                  <p:embed/>
                </p:oleObj>
              </mc:Choice>
              <mc:Fallback>
                <p:oleObj name="VISIO" r:id="rId3" imgW="1780560" imgH="1073160" progId="Visio.Drawing.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1371600"/>
                        <a:ext cx="5715000" cy="344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67847400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4267201" y="1198564"/>
            <a:ext cx="204094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b="1">
                <a:latin typeface="Times New Roman" pitchFamily="18" charset="0"/>
              </a:rPr>
              <a:t>上例的状态表</a:t>
            </a:r>
          </a:p>
        </p:txBody>
      </p:sp>
      <p:pic>
        <p:nvPicPr>
          <p:cNvPr id="20483" name="Picture 3" descr="Img000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0" y="2209800"/>
            <a:ext cx="4495800" cy="33988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77363147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密码锁状态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396292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>
              <a:tabLst>
                <a:tab pos="457200" algn="l"/>
              </a:tabLst>
            </a:pPr>
            <a:r>
              <a:rPr lang="zh-CN" altLang="en-US" sz="2800" dirty="0">
                <a:ea typeface="宋体" charset="-122"/>
              </a:rPr>
              <a:t>密码锁的</a:t>
            </a:r>
            <a:r>
              <a:rPr lang="en-US" altLang="zh-CN" sz="2800" dirty="0">
                <a:ea typeface="宋体" charset="-122"/>
              </a:rPr>
              <a:t>4</a:t>
            </a:r>
            <a:r>
              <a:rPr lang="zh-CN" altLang="en-US" sz="2800" dirty="0">
                <a:ea typeface="宋体" charset="-122"/>
              </a:rPr>
              <a:t>种状态，以</a:t>
            </a:r>
            <a:r>
              <a:rPr lang="en-US" altLang="zh-CN" sz="2800" dirty="0">
                <a:latin typeface="Times New Roman" panose="02020603050405020304" pitchFamily="18" charset="0"/>
                <a:ea typeface="宋体" charset="-122"/>
                <a:cs typeface="Times New Roman" panose="02020603050405020304" pitchFamily="18" charset="0"/>
              </a:rPr>
              <a:t>A-D</a:t>
            </a:r>
            <a:r>
              <a:rPr lang="zh-CN" altLang="en-US" sz="2800" dirty="0">
                <a:ea typeface="宋体" charset="-122"/>
              </a:rPr>
              <a:t>表示：</a:t>
            </a:r>
            <a:br>
              <a:rPr lang="en-US" altLang="zh-CN" sz="2800" dirty="0">
                <a:ea typeface="宋体" charset="-122"/>
              </a:rPr>
            </a:br>
            <a:br>
              <a:rPr lang="en-US" altLang="zh-CN" dirty="0">
                <a:ea typeface="宋体" charset="-122"/>
              </a:rPr>
            </a:br>
            <a:r>
              <a:rPr lang="en-US" altLang="zh-CN" sz="2400" dirty="0">
                <a:solidFill>
                  <a:schemeClr val="accent2"/>
                </a:solidFill>
                <a:ea typeface="宋体" charset="-122"/>
              </a:rPr>
              <a:t>A:</a:t>
            </a:r>
            <a:r>
              <a:rPr lang="en-US" altLang="zh-CN" sz="2400" dirty="0">
                <a:ea typeface="宋体" charset="-122"/>
              </a:rPr>
              <a:t> 	</a:t>
            </a:r>
            <a:r>
              <a:rPr lang="zh-CN" altLang="en-US" sz="2400" dirty="0">
                <a:ea typeface="宋体" charset="-122"/>
              </a:rPr>
              <a:t>闭锁状态，且无外部操作。</a:t>
            </a:r>
            <a:endParaRPr lang="en-US" altLang="zh-CN" sz="2400" dirty="0">
              <a:ea typeface="宋体" charset="-122"/>
            </a:endParaRPr>
          </a:p>
          <a:p>
            <a:pPr>
              <a:tabLst>
                <a:tab pos="457200" algn="l"/>
              </a:tabLst>
            </a:pPr>
            <a:r>
              <a:rPr lang="en-US" altLang="zh-CN" sz="2400" dirty="0">
                <a:solidFill>
                  <a:schemeClr val="accent2"/>
                </a:solidFill>
                <a:ea typeface="宋体" charset="-122"/>
              </a:rPr>
              <a:t>B:</a:t>
            </a:r>
            <a:r>
              <a:rPr lang="en-US" altLang="zh-CN" sz="2400" dirty="0">
                <a:ea typeface="宋体" charset="-122"/>
              </a:rPr>
              <a:t>	</a:t>
            </a:r>
            <a:r>
              <a:rPr lang="zh-CN" altLang="en-US" sz="2400" dirty="0">
                <a:ea typeface="宋体" charset="-122"/>
              </a:rPr>
              <a:t>闭锁状态，刚完成</a:t>
            </a:r>
            <a:r>
              <a:rPr lang="en-US" altLang="zh-CN" sz="2400" dirty="0">
                <a:ea typeface="宋体" charset="-122"/>
              </a:rPr>
              <a:t>R13</a:t>
            </a:r>
            <a:r>
              <a:rPr lang="zh-CN" altLang="en-US" sz="2400" dirty="0">
                <a:ea typeface="宋体" charset="-122"/>
              </a:rPr>
              <a:t>操作。</a:t>
            </a:r>
            <a:endParaRPr lang="en-US" altLang="zh-CN" sz="2400" dirty="0">
              <a:ea typeface="宋体" charset="-122"/>
            </a:endParaRPr>
          </a:p>
          <a:p>
            <a:pPr>
              <a:tabLst>
                <a:tab pos="457200" algn="l"/>
              </a:tabLst>
            </a:pPr>
            <a:r>
              <a:rPr lang="en-US" altLang="zh-CN" sz="2400" dirty="0">
                <a:solidFill>
                  <a:schemeClr val="accent2"/>
                </a:solidFill>
                <a:ea typeface="宋体" charset="-122"/>
              </a:rPr>
              <a:t>C:</a:t>
            </a:r>
            <a:r>
              <a:rPr lang="en-US" altLang="zh-CN" sz="2400" dirty="0">
                <a:ea typeface="宋体" charset="-122"/>
              </a:rPr>
              <a:t>	</a:t>
            </a:r>
            <a:r>
              <a:rPr lang="zh-CN" altLang="en-US" sz="2400" dirty="0">
                <a:ea typeface="宋体" charset="-122"/>
              </a:rPr>
              <a:t>闭锁状态，已完成</a:t>
            </a:r>
            <a:r>
              <a:rPr lang="en-US" altLang="zh-CN" sz="2400" dirty="0">
                <a:ea typeface="宋体" charset="-122"/>
              </a:rPr>
              <a:t>R13-L22</a:t>
            </a:r>
            <a:r>
              <a:rPr lang="zh-CN" altLang="en-US" sz="2400" dirty="0">
                <a:ea typeface="宋体" charset="-122"/>
              </a:rPr>
              <a:t>操作序列。</a:t>
            </a:r>
            <a:endParaRPr lang="en-US" altLang="zh-CN" sz="2400" dirty="0">
              <a:ea typeface="宋体" charset="-122"/>
            </a:endParaRPr>
          </a:p>
          <a:p>
            <a:pPr>
              <a:tabLst>
                <a:tab pos="457200" algn="l"/>
              </a:tabLst>
            </a:pPr>
            <a:r>
              <a:rPr lang="en-US" altLang="zh-CN" sz="2400" dirty="0">
                <a:solidFill>
                  <a:schemeClr val="accent2"/>
                </a:solidFill>
                <a:ea typeface="宋体" charset="-122"/>
              </a:rPr>
              <a:t>D:</a:t>
            </a:r>
            <a:r>
              <a:rPr lang="en-US" altLang="zh-CN" sz="2400" dirty="0">
                <a:ea typeface="宋体" charset="-122"/>
              </a:rPr>
              <a:t>	</a:t>
            </a:r>
            <a:r>
              <a:rPr lang="zh-CN" altLang="en-US" sz="2400" dirty="0">
                <a:ea typeface="宋体" charset="-122"/>
              </a:rPr>
              <a:t>开锁状态。</a:t>
            </a:r>
            <a:endParaRPr lang="en-US" altLang="zh-CN" sz="2400" dirty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58222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5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状态图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397316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 sz="2800" dirty="0">
                <a:ea typeface="宋体" charset="-122"/>
              </a:rPr>
              <a:t>状态节点和节点间的连线组合。</a:t>
            </a:r>
            <a:endParaRPr lang="en-US" altLang="zh-CN" sz="2800" dirty="0">
              <a:ea typeface="宋体" charset="-122"/>
            </a:endParaRPr>
          </a:p>
        </p:txBody>
      </p:sp>
      <p:pic>
        <p:nvPicPr>
          <p:cNvPr id="397317" name="Picture 4" descr="ch03-lockst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5438" y="1700809"/>
            <a:ext cx="4872037" cy="430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65706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时钟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399364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r>
              <a:rPr lang="zh-CN" altLang="en-US" sz="2800" dirty="0">
                <a:ea typeface="宋体" charset="-122"/>
              </a:rPr>
              <a:t>通常，状态转移是通过</a:t>
            </a:r>
            <a:r>
              <a:rPr lang="zh-CN" altLang="en-US" sz="2800" dirty="0">
                <a:solidFill>
                  <a:srgbClr val="FF0000"/>
                </a:solidFill>
                <a:ea typeface="宋体" charset="-122"/>
              </a:rPr>
              <a:t>时钟来</a:t>
            </a:r>
            <a:r>
              <a:rPr lang="zh-CN" altLang="en-US" sz="2800" dirty="0">
                <a:ea typeface="宋体" charset="-122"/>
              </a:rPr>
              <a:t>触发的。</a:t>
            </a:r>
            <a:endParaRPr lang="en-US" altLang="zh-CN" sz="2800" dirty="0">
              <a:ea typeface="宋体" charset="-122"/>
            </a:endParaRPr>
          </a:p>
          <a:p>
            <a:endParaRPr lang="en-US" altLang="zh-CN" dirty="0">
              <a:ea typeface="宋体" charset="-122"/>
            </a:endParaRPr>
          </a:p>
          <a:p>
            <a:endParaRPr lang="en-US" altLang="zh-CN" dirty="0">
              <a:ea typeface="宋体" charset="-122"/>
            </a:endParaRPr>
          </a:p>
          <a:p>
            <a:endParaRPr lang="en-US" altLang="zh-CN" dirty="0">
              <a:ea typeface="宋体" charset="-122"/>
            </a:endParaRPr>
          </a:p>
          <a:p>
            <a:endParaRPr lang="en-US" altLang="zh-CN" dirty="0">
              <a:ea typeface="宋体" charset="-122"/>
            </a:endParaRPr>
          </a:p>
          <a:p>
            <a:r>
              <a:rPr lang="zh-CN" altLang="en-US" sz="2800" dirty="0">
                <a:ea typeface="宋体" charset="-122"/>
              </a:rPr>
              <a:t>在每个时钟周期的开始，基于当前状态和外部输入，状态机进行转换。</a:t>
            </a:r>
            <a:endParaRPr lang="en-US" altLang="zh-CN" sz="2800" dirty="0">
              <a:ea typeface="宋体" charset="-122"/>
            </a:endParaRPr>
          </a:p>
        </p:txBody>
      </p:sp>
      <p:sp>
        <p:nvSpPr>
          <p:cNvPr id="399365" name="Line 4"/>
          <p:cNvSpPr>
            <a:spLocks noChangeShapeType="1"/>
          </p:cNvSpPr>
          <p:nvPr/>
        </p:nvSpPr>
        <p:spPr bwMode="auto">
          <a:xfrm>
            <a:off x="2895600" y="2892425"/>
            <a:ext cx="4572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99366" name="Line 5"/>
          <p:cNvSpPr>
            <a:spLocks noChangeShapeType="1"/>
          </p:cNvSpPr>
          <p:nvPr/>
        </p:nvSpPr>
        <p:spPr bwMode="auto">
          <a:xfrm>
            <a:off x="4038600" y="2892425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99367" name="Line 6"/>
          <p:cNvSpPr>
            <a:spLocks noChangeShapeType="1"/>
          </p:cNvSpPr>
          <p:nvPr/>
        </p:nvSpPr>
        <p:spPr bwMode="auto">
          <a:xfrm>
            <a:off x="5410200" y="2892425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99368" name="Line 7"/>
          <p:cNvSpPr>
            <a:spLocks noChangeShapeType="1"/>
          </p:cNvSpPr>
          <p:nvPr/>
        </p:nvSpPr>
        <p:spPr bwMode="auto">
          <a:xfrm>
            <a:off x="6781800" y="2892425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99369" name="Line 8"/>
          <p:cNvSpPr>
            <a:spLocks noChangeShapeType="1"/>
          </p:cNvSpPr>
          <p:nvPr/>
        </p:nvSpPr>
        <p:spPr bwMode="auto">
          <a:xfrm>
            <a:off x="8153400" y="2892425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99370" name="Line 9"/>
          <p:cNvSpPr>
            <a:spLocks noChangeShapeType="1"/>
          </p:cNvSpPr>
          <p:nvPr/>
        </p:nvSpPr>
        <p:spPr bwMode="auto">
          <a:xfrm>
            <a:off x="3352800" y="2435225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99371" name="Line 10"/>
          <p:cNvSpPr>
            <a:spLocks noChangeShapeType="1"/>
          </p:cNvSpPr>
          <p:nvPr/>
        </p:nvSpPr>
        <p:spPr bwMode="auto">
          <a:xfrm>
            <a:off x="4724400" y="2435225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99372" name="Line 11"/>
          <p:cNvSpPr>
            <a:spLocks noChangeShapeType="1"/>
          </p:cNvSpPr>
          <p:nvPr/>
        </p:nvSpPr>
        <p:spPr bwMode="auto">
          <a:xfrm>
            <a:off x="6096000" y="2435225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99373" name="Line 12"/>
          <p:cNvSpPr>
            <a:spLocks noChangeShapeType="1"/>
          </p:cNvSpPr>
          <p:nvPr/>
        </p:nvSpPr>
        <p:spPr bwMode="auto">
          <a:xfrm>
            <a:off x="7467600" y="2435225"/>
            <a:ext cx="6858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99374" name="Line 13"/>
          <p:cNvSpPr>
            <a:spLocks noChangeShapeType="1"/>
          </p:cNvSpPr>
          <p:nvPr/>
        </p:nvSpPr>
        <p:spPr bwMode="auto">
          <a:xfrm>
            <a:off x="8839200" y="2435225"/>
            <a:ext cx="381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99375" name="Line 14"/>
          <p:cNvSpPr>
            <a:spLocks noChangeShapeType="1"/>
          </p:cNvSpPr>
          <p:nvPr/>
        </p:nvSpPr>
        <p:spPr bwMode="auto">
          <a:xfrm>
            <a:off x="3352800" y="24352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99376" name="Line 15"/>
          <p:cNvSpPr>
            <a:spLocks noChangeShapeType="1"/>
          </p:cNvSpPr>
          <p:nvPr/>
        </p:nvSpPr>
        <p:spPr bwMode="auto">
          <a:xfrm>
            <a:off x="4038600" y="24352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99377" name="Line 16"/>
          <p:cNvSpPr>
            <a:spLocks noChangeShapeType="1"/>
          </p:cNvSpPr>
          <p:nvPr/>
        </p:nvSpPr>
        <p:spPr bwMode="auto">
          <a:xfrm>
            <a:off x="4724400" y="24352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99378" name="Line 17"/>
          <p:cNvSpPr>
            <a:spLocks noChangeShapeType="1"/>
          </p:cNvSpPr>
          <p:nvPr/>
        </p:nvSpPr>
        <p:spPr bwMode="auto">
          <a:xfrm>
            <a:off x="5410200" y="24352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99379" name="Line 18"/>
          <p:cNvSpPr>
            <a:spLocks noChangeShapeType="1"/>
          </p:cNvSpPr>
          <p:nvPr/>
        </p:nvSpPr>
        <p:spPr bwMode="auto">
          <a:xfrm>
            <a:off x="6096000" y="24352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99380" name="Line 19"/>
          <p:cNvSpPr>
            <a:spLocks noChangeShapeType="1"/>
          </p:cNvSpPr>
          <p:nvPr/>
        </p:nvSpPr>
        <p:spPr bwMode="auto">
          <a:xfrm>
            <a:off x="6781800" y="24352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99381" name="Line 20"/>
          <p:cNvSpPr>
            <a:spLocks noChangeShapeType="1"/>
          </p:cNvSpPr>
          <p:nvPr/>
        </p:nvSpPr>
        <p:spPr bwMode="auto">
          <a:xfrm>
            <a:off x="7467600" y="24352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99382" name="Line 21"/>
          <p:cNvSpPr>
            <a:spLocks noChangeShapeType="1"/>
          </p:cNvSpPr>
          <p:nvPr/>
        </p:nvSpPr>
        <p:spPr bwMode="auto">
          <a:xfrm>
            <a:off x="8153400" y="24352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99383" name="Line 22"/>
          <p:cNvSpPr>
            <a:spLocks noChangeShapeType="1"/>
          </p:cNvSpPr>
          <p:nvPr/>
        </p:nvSpPr>
        <p:spPr bwMode="auto">
          <a:xfrm>
            <a:off x="8839200" y="2435225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99384" name="Text Box 23"/>
          <p:cNvSpPr txBox="1">
            <a:spLocks noChangeArrowheads="1"/>
          </p:cNvSpPr>
          <p:nvPr/>
        </p:nvSpPr>
        <p:spPr bwMode="auto">
          <a:xfrm>
            <a:off x="1985918" y="2251076"/>
            <a:ext cx="7970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baseline="0">
                <a:latin typeface="Franklin Gothic Book" pitchFamily="34" charset="0"/>
              </a:rPr>
              <a:t>“</a:t>
            </a:r>
            <a:r>
              <a:rPr lang="en-US" altLang="zh-CN" baseline="0">
                <a:latin typeface="Franklin Gothic Book" pitchFamily="34" charset="0"/>
              </a:rPr>
              <a:t>1”</a:t>
            </a:r>
          </a:p>
        </p:txBody>
      </p:sp>
      <p:sp>
        <p:nvSpPr>
          <p:cNvPr id="399385" name="Text Box 24"/>
          <p:cNvSpPr txBox="1">
            <a:spLocks noChangeArrowheads="1"/>
          </p:cNvSpPr>
          <p:nvPr/>
        </p:nvSpPr>
        <p:spPr bwMode="auto">
          <a:xfrm>
            <a:off x="1985918" y="2663826"/>
            <a:ext cx="79701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baseline="0">
                <a:latin typeface="Franklin Gothic Book" pitchFamily="34" charset="0"/>
              </a:rPr>
              <a:t>“</a:t>
            </a:r>
            <a:r>
              <a:rPr lang="en-US" altLang="zh-CN" baseline="0">
                <a:latin typeface="Franklin Gothic Book" pitchFamily="34" charset="0"/>
              </a:rPr>
              <a:t>0”</a:t>
            </a:r>
          </a:p>
        </p:txBody>
      </p:sp>
      <p:sp>
        <p:nvSpPr>
          <p:cNvPr id="399386" name="Text Box 25"/>
          <p:cNvSpPr txBox="1">
            <a:spLocks noChangeArrowheads="1"/>
          </p:cNvSpPr>
          <p:nvPr/>
        </p:nvSpPr>
        <p:spPr bwMode="auto">
          <a:xfrm>
            <a:off x="8344944" y="3044826"/>
            <a:ext cx="10647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en-US" altLang="zh-CN" i="1" baseline="0" dirty="0">
                <a:latin typeface="Franklin Gothic Book" pitchFamily="34" charset="0"/>
              </a:rPr>
              <a:t>time</a:t>
            </a:r>
            <a:r>
              <a:rPr lang="en-US" altLang="zh-CN" i="1" baseline="0" dirty="0">
                <a:latin typeface="Franklin Gothic Book" pitchFamily="34" charset="0"/>
                <a:sym typeface="Symbol" pitchFamily="18" charset="2"/>
              </a:rPr>
              <a:t></a:t>
            </a:r>
            <a:endParaRPr lang="en-US" altLang="zh-CN" i="1" baseline="0" dirty="0">
              <a:latin typeface="Franklin Gothic Book" pitchFamily="34" charset="0"/>
            </a:endParaRPr>
          </a:p>
        </p:txBody>
      </p:sp>
      <p:sp>
        <p:nvSpPr>
          <p:cNvPr id="399387" name="Line 26"/>
          <p:cNvSpPr>
            <a:spLocks noChangeShapeType="1"/>
          </p:cNvSpPr>
          <p:nvPr/>
        </p:nvSpPr>
        <p:spPr bwMode="auto">
          <a:xfrm>
            <a:off x="6096000" y="29241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99388" name="Line 27"/>
          <p:cNvSpPr>
            <a:spLocks noChangeShapeType="1"/>
          </p:cNvSpPr>
          <p:nvPr/>
        </p:nvSpPr>
        <p:spPr bwMode="auto">
          <a:xfrm>
            <a:off x="4724400" y="3044825"/>
            <a:ext cx="13716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99389" name="Line 28"/>
          <p:cNvSpPr>
            <a:spLocks noChangeShapeType="1"/>
          </p:cNvSpPr>
          <p:nvPr/>
        </p:nvSpPr>
        <p:spPr bwMode="auto">
          <a:xfrm>
            <a:off x="4724400" y="293052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399390" name="Text Box 29"/>
          <p:cNvSpPr txBox="1">
            <a:spLocks noChangeArrowheads="1"/>
          </p:cNvSpPr>
          <p:nvPr/>
        </p:nvSpPr>
        <p:spPr bwMode="auto">
          <a:xfrm>
            <a:off x="4547633" y="3044825"/>
            <a:ext cx="172354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2000" baseline="0" dirty="0">
                <a:solidFill>
                  <a:srgbClr val="FF0000"/>
                </a:solidFill>
                <a:latin typeface="Franklin Gothic Book" pitchFamily="34" charset="0"/>
              </a:rPr>
              <a:t>一个时钟周期</a:t>
            </a:r>
            <a:endParaRPr lang="en-US" altLang="zh-CN" sz="2000" baseline="0" dirty="0">
              <a:solidFill>
                <a:srgbClr val="FF0000"/>
              </a:solidFill>
              <a:latin typeface="Franklin Gothic Boo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1722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有限状态机的实现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400388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576263" lvl="1" indent="-234950"/>
            <a:r>
              <a:rPr lang="zh-CN" altLang="en-US" b="1" dirty="0">
                <a:solidFill>
                  <a:srgbClr val="CE0000"/>
                </a:solidFill>
                <a:ea typeface="宋体" charset="-122"/>
                <a:cs typeface="+mn-cs"/>
              </a:rPr>
              <a:t>组合逻辑电路：</a:t>
            </a:r>
            <a:endParaRPr lang="en-US" altLang="zh-CN" b="1" dirty="0">
              <a:solidFill>
                <a:srgbClr val="CE0000"/>
              </a:solidFill>
              <a:ea typeface="宋体" charset="-122"/>
              <a:cs typeface="+mn-cs"/>
            </a:endParaRPr>
          </a:p>
          <a:p>
            <a:pPr marL="576263" lvl="1" indent="-234950"/>
            <a:r>
              <a:rPr lang="en-US" altLang="zh-CN" dirty="0"/>
              <a:t>	</a:t>
            </a:r>
            <a:r>
              <a:rPr lang="zh-CN" altLang="en-US" sz="2400" dirty="0"/>
              <a:t>决定输出和下一个状态。</a:t>
            </a:r>
            <a:endParaRPr lang="en-US" altLang="zh-CN" sz="2400" dirty="0"/>
          </a:p>
          <a:p>
            <a:r>
              <a:rPr lang="zh-CN" altLang="en-US" dirty="0">
                <a:solidFill>
                  <a:srgbClr val="CE0000"/>
                </a:solidFill>
                <a:ea typeface="宋体" charset="-122"/>
              </a:rPr>
              <a:t>   </a:t>
            </a:r>
            <a:r>
              <a:rPr lang="zh-CN" altLang="en-US" sz="2800" dirty="0">
                <a:solidFill>
                  <a:srgbClr val="CE0000"/>
                </a:solidFill>
                <a:ea typeface="宋体" charset="-122"/>
              </a:rPr>
              <a:t>存储单元</a:t>
            </a:r>
            <a:endParaRPr lang="en-US" altLang="zh-CN" sz="2800" dirty="0">
              <a:solidFill>
                <a:srgbClr val="CE0000"/>
              </a:solidFill>
              <a:ea typeface="宋体" charset="-122"/>
            </a:endParaRPr>
          </a:p>
          <a:p>
            <a:r>
              <a:rPr lang="en-US" altLang="zh-CN" dirty="0">
                <a:solidFill>
                  <a:srgbClr val="CE0000"/>
                </a:solidFill>
                <a:ea typeface="宋体" charset="-122"/>
              </a:rPr>
              <a:t>     </a:t>
            </a:r>
            <a:r>
              <a:rPr lang="zh-CN" altLang="en-US" sz="2400" b="0" dirty="0">
                <a:ea typeface="宋体" charset="-122"/>
              </a:rPr>
              <a:t>存储各种状态。</a:t>
            </a:r>
            <a:endParaRPr lang="en-US" altLang="zh-CN" dirty="0"/>
          </a:p>
        </p:txBody>
      </p:sp>
      <p:sp>
        <p:nvSpPr>
          <p:cNvPr id="400399" name="Text Box 14"/>
          <p:cNvSpPr txBox="1">
            <a:spLocks noChangeArrowheads="1"/>
          </p:cNvSpPr>
          <p:nvPr/>
        </p:nvSpPr>
        <p:spPr bwMode="auto">
          <a:xfrm>
            <a:off x="2660964" y="5431644"/>
            <a:ext cx="8002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baseline="0" dirty="0"/>
              <a:t>时钟</a:t>
            </a:r>
            <a:endParaRPr lang="en-US" altLang="zh-CN" baseline="0" dirty="0"/>
          </a:p>
        </p:txBody>
      </p:sp>
      <p:sp>
        <p:nvSpPr>
          <p:cNvPr id="400400" name="Line 15"/>
          <p:cNvSpPr>
            <a:spLocks noChangeShapeType="1"/>
          </p:cNvSpPr>
          <p:nvPr/>
        </p:nvSpPr>
        <p:spPr bwMode="auto">
          <a:xfrm>
            <a:off x="3473030" y="5653893"/>
            <a:ext cx="96678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auto">
          <a:xfrm>
            <a:off x="4427750" y="3272310"/>
            <a:ext cx="3043238" cy="28209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endParaRPr lang="zh-CN" altLang="en-US" baseline="0"/>
          </a:p>
        </p:txBody>
      </p:sp>
      <p:sp>
        <p:nvSpPr>
          <p:cNvPr id="20" name="Text Box 6"/>
          <p:cNvSpPr txBox="1">
            <a:spLocks noChangeArrowheads="1"/>
          </p:cNvSpPr>
          <p:nvPr/>
        </p:nvSpPr>
        <p:spPr bwMode="auto">
          <a:xfrm>
            <a:off x="5471521" y="3368317"/>
            <a:ext cx="95410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sz="2000" i="1" baseline="0" dirty="0"/>
              <a:t>状态机</a:t>
            </a:r>
            <a:endParaRPr lang="en-US" altLang="zh-CN" sz="2000" i="1" baseline="0" dirty="0"/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5105614" y="3964460"/>
            <a:ext cx="1685925" cy="782637"/>
          </a:xfrm>
          <a:prstGeom prst="rect">
            <a:avLst/>
          </a:prstGeom>
          <a:solidFill>
            <a:srgbClr val="FFCC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baseline="0" dirty="0"/>
              <a:t>组合逻辑</a:t>
            </a:r>
            <a:endParaRPr lang="en-US" altLang="zh-CN" baseline="0" dirty="0"/>
          </a:p>
          <a:p>
            <a:pPr algn="ctr"/>
            <a:r>
              <a:rPr lang="zh-CN" altLang="en-US" baseline="0" dirty="0"/>
              <a:t>电路</a:t>
            </a:r>
            <a:endParaRPr lang="en-US" altLang="zh-CN" baseline="0" dirty="0"/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5105614" y="5031260"/>
            <a:ext cx="1685925" cy="782637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baseline="0" dirty="0"/>
              <a:t>存储单元</a:t>
            </a:r>
            <a:endParaRPr lang="en-US" altLang="zh-CN" baseline="0" dirty="0"/>
          </a:p>
        </p:txBody>
      </p:sp>
      <p:sp>
        <p:nvSpPr>
          <p:cNvPr id="23" name="Text Box 9"/>
          <p:cNvSpPr txBox="1">
            <a:spLocks noChangeArrowheads="1"/>
          </p:cNvSpPr>
          <p:nvPr/>
        </p:nvSpPr>
        <p:spPr bwMode="auto">
          <a:xfrm>
            <a:off x="2698109" y="3897785"/>
            <a:ext cx="8002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baseline="0" dirty="0"/>
              <a:t>输入</a:t>
            </a:r>
            <a:endParaRPr lang="en-US" altLang="zh-CN" baseline="0" dirty="0"/>
          </a:p>
        </p:txBody>
      </p:sp>
      <p:sp>
        <p:nvSpPr>
          <p:cNvPr id="24" name="Text Box 10"/>
          <p:cNvSpPr txBox="1">
            <a:spLocks noChangeArrowheads="1"/>
          </p:cNvSpPr>
          <p:nvPr/>
        </p:nvSpPr>
        <p:spPr bwMode="auto">
          <a:xfrm>
            <a:off x="8536140" y="3897785"/>
            <a:ext cx="80022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zh-CN" altLang="en-US" baseline="0" dirty="0"/>
              <a:t>输出</a:t>
            </a:r>
            <a:endParaRPr lang="en-US" altLang="zh-CN" baseline="0" dirty="0"/>
          </a:p>
        </p:txBody>
      </p:sp>
      <p:sp>
        <p:nvSpPr>
          <p:cNvPr id="25" name="Line 11"/>
          <p:cNvSpPr>
            <a:spLocks noChangeShapeType="1"/>
          </p:cNvSpPr>
          <p:nvPr/>
        </p:nvSpPr>
        <p:spPr bwMode="auto">
          <a:xfrm>
            <a:off x="3681625" y="4126384"/>
            <a:ext cx="1436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26" name="Line 12"/>
          <p:cNvSpPr>
            <a:spLocks noChangeShapeType="1"/>
          </p:cNvSpPr>
          <p:nvPr/>
        </p:nvSpPr>
        <p:spPr bwMode="auto">
          <a:xfrm>
            <a:off x="6799475" y="4126384"/>
            <a:ext cx="143668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cxnSp>
        <p:nvCxnSpPr>
          <p:cNvPr id="27" name="AutoShape 15"/>
          <p:cNvCxnSpPr>
            <a:cxnSpLocks noChangeShapeType="1"/>
            <a:stCxn id="21" idx="3"/>
            <a:endCxn id="22" idx="3"/>
          </p:cNvCxnSpPr>
          <p:nvPr/>
        </p:nvCxnSpPr>
        <p:spPr bwMode="auto">
          <a:xfrm>
            <a:off x="6801064" y="4356571"/>
            <a:ext cx="1587" cy="1066800"/>
          </a:xfrm>
          <a:prstGeom prst="bentConnector3">
            <a:avLst>
              <a:gd name="adj1" fmla="val 15400005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AutoShape 16"/>
          <p:cNvCxnSpPr>
            <a:cxnSpLocks noChangeShapeType="1"/>
            <a:stCxn id="22" idx="1"/>
            <a:endCxn id="21" idx="1"/>
          </p:cNvCxnSpPr>
          <p:nvPr/>
        </p:nvCxnSpPr>
        <p:spPr bwMode="auto">
          <a:xfrm rot="10800000" flipH="1">
            <a:off x="5096089" y="4356571"/>
            <a:ext cx="1587" cy="1066800"/>
          </a:xfrm>
          <a:prstGeom prst="bentConnector3">
            <a:avLst>
              <a:gd name="adj1" fmla="val -17100009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33026998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例子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403460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marL="576263" lvl="1" indent="-234950"/>
            <a:r>
              <a:rPr lang="zh-CN" altLang="en-US" dirty="0"/>
              <a:t>交通警告牌</a:t>
            </a:r>
            <a:endParaRPr lang="en-US" altLang="zh-CN" dirty="0"/>
          </a:p>
          <a:p>
            <a:pPr marL="576263" lvl="1" indent="-234950"/>
            <a:r>
              <a:rPr lang="en-US" altLang="zh-CN" dirty="0"/>
              <a:t>No lights on</a:t>
            </a:r>
          </a:p>
          <a:p>
            <a:pPr marL="576263" lvl="1" indent="-234950"/>
            <a:r>
              <a:rPr lang="en-US" altLang="zh-CN" dirty="0"/>
              <a:t>1 &amp; 2 on</a:t>
            </a:r>
          </a:p>
          <a:p>
            <a:pPr marL="576263" lvl="1" indent="-234950"/>
            <a:r>
              <a:rPr lang="en-US" altLang="zh-CN" dirty="0"/>
              <a:t>1, 2, 3, &amp; 4 on</a:t>
            </a:r>
          </a:p>
          <a:p>
            <a:pPr marL="576263" lvl="1" indent="-234950"/>
            <a:r>
              <a:rPr lang="en-US" altLang="zh-CN" dirty="0"/>
              <a:t>1, 2, 3, 4, &amp; 5 on</a:t>
            </a:r>
          </a:p>
          <a:p>
            <a:pPr marL="576263" lvl="1" indent="-234950"/>
            <a:r>
              <a:rPr lang="en-US" altLang="zh-CN" dirty="0"/>
              <a:t>(repeat as long as switch</a:t>
            </a:r>
            <a:br>
              <a:rPr lang="en-US" altLang="zh-CN" dirty="0"/>
            </a:br>
            <a:r>
              <a:rPr lang="en-US" altLang="zh-CN" dirty="0"/>
              <a:t>is turned on)</a:t>
            </a:r>
          </a:p>
        </p:txBody>
      </p:sp>
      <p:sp>
        <p:nvSpPr>
          <p:cNvPr id="403461" name="AutoShape 4"/>
          <p:cNvSpPr>
            <a:spLocks noChangeArrowheads="1"/>
          </p:cNvSpPr>
          <p:nvPr/>
        </p:nvSpPr>
        <p:spPr bwMode="auto">
          <a:xfrm>
            <a:off x="6070601" y="2128839"/>
            <a:ext cx="3775075" cy="3775075"/>
          </a:xfrm>
          <a:prstGeom prst="diamond">
            <a:avLst/>
          </a:prstGeom>
          <a:solidFill>
            <a:srgbClr val="FFCC66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endParaRPr lang="zh-CN" altLang="en-US" baseline="0"/>
          </a:p>
        </p:txBody>
      </p:sp>
      <p:sp>
        <p:nvSpPr>
          <p:cNvPr id="403462" name="Text Box 5"/>
          <p:cNvSpPr txBox="1">
            <a:spLocks noChangeArrowheads="1"/>
          </p:cNvSpPr>
          <p:nvPr/>
        </p:nvSpPr>
        <p:spPr bwMode="auto">
          <a:xfrm>
            <a:off x="6875463" y="3730625"/>
            <a:ext cx="21653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en-US" altLang="zh-CN" sz="3600" b="1" baseline="0"/>
              <a:t>DANGER</a:t>
            </a:r>
            <a:br>
              <a:rPr lang="en-US" altLang="zh-CN" baseline="0"/>
            </a:br>
            <a:r>
              <a:rPr lang="en-US" altLang="zh-CN" baseline="0"/>
              <a:t>MOVE</a:t>
            </a:r>
            <a:br>
              <a:rPr lang="en-US" altLang="zh-CN" baseline="0"/>
            </a:br>
            <a:r>
              <a:rPr lang="en-US" altLang="zh-CN" baseline="0"/>
              <a:t>RIGHT</a:t>
            </a:r>
          </a:p>
        </p:txBody>
      </p:sp>
      <p:grpSp>
        <p:nvGrpSpPr>
          <p:cNvPr id="403463" name="Group 16"/>
          <p:cNvGrpSpPr>
            <a:grpSpLocks/>
          </p:cNvGrpSpPr>
          <p:nvPr/>
        </p:nvGrpSpPr>
        <p:grpSpPr bwMode="auto">
          <a:xfrm>
            <a:off x="7413626" y="2917825"/>
            <a:ext cx="1089025" cy="806450"/>
            <a:chOff x="3632" y="1838"/>
            <a:chExt cx="686" cy="508"/>
          </a:xfrm>
        </p:grpSpPr>
        <p:grpSp>
          <p:nvGrpSpPr>
            <p:cNvPr id="403464" name="Group 8"/>
            <p:cNvGrpSpPr>
              <a:grpSpLocks/>
            </p:cNvGrpSpPr>
            <p:nvPr/>
          </p:nvGrpSpPr>
          <p:grpSpPr bwMode="auto">
            <a:xfrm>
              <a:off x="3632" y="1838"/>
              <a:ext cx="148" cy="508"/>
              <a:chOff x="3632" y="1844"/>
              <a:chExt cx="148" cy="508"/>
            </a:xfrm>
          </p:grpSpPr>
          <p:sp>
            <p:nvSpPr>
              <p:cNvPr id="403465" name="Oval 6"/>
              <p:cNvSpPr>
                <a:spLocks noChangeArrowheads="1"/>
              </p:cNvSpPr>
              <p:nvPr/>
            </p:nvSpPr>
            <p:spPr bwMode="auto">
              <a:xfrm>
                <a:off x="3632" y="1844"/>
                <a:ext cx="148" cy="148"/>
              </a:xfrm>
              <a:prstGeom prst="ellipse">
                <a:avLst/>
              </a:prstGeom>
              <a:solidFill>
                <a:srgbClr val="CE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/>
                <a:endParaRPr lang="zh-CN" altLang="en-US" baseline="0"/>
              </a:p>
            </p:txBody>
          </p:sp>
          <p:sp>
            <p:nvSpPr>
              <p:cNvPr id="403466" name="Oval 7"/>
              <p:cNvSpPr>
                <a:spLocks noChangeArrowheads="1"/>
              </p:cNvSpPr>
              <p:nvPr/>
            </p:nvSpPr>
            <p:spPr bwMode="auto">
              <a:xfrm>
                <a:off x="3632" y="2204"/>
                <a:ext cx="148" cy="148"/>
              </a:xfrm>
              <a:prstGeom prst="ellipse">
                <a:avLst/>
              </a:prstGeom>
              <a:solidFill>
                <a:srgbClr val="CE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/>
                <a:endParaRPr lang="zh-CN" altLang="en-US" baseline="0"/>
              </a:p>
            </p:txBody>
          </p:sp>
        </p:grpSp>
        <p:grpSp>
          <p:nvGrpSpPr>
            <p:cNvPr id="403467" name="Group 15"/>
            <p:cNvGrpSpPr>
              <a:grpSpLocks/>
            </p:cNvGrpSpPr>
            <p:nvPr/>
          </p:nvGrpSpPr>
          <p:grpSpPr bwMode="auto">
            <a:xfrm>
              <a:off x="3901" y="1908"/>
              <a:ext cx="148" cy="368"/>
              <a:chOff x="3901" y="1978"/>
              <a:chExt cx="148" cy="368"/>
            </a:xfrm>
          </p:grpSpPr>
          <p:sp>
            <p:nvSpPr>
              <p:cNvPr id="403468" name="Oval 10"/>
              <p:cNvSpPr>
                <a:spLocks noChangeArrowheads="1"/>
              </p:cNvSpPr>
              <p:nvPr/>
            </p:nvSpPr>
            <p:spPr bwMode="auto">
              <a:xfrm>
                <a:off x="3901" y="1978"/>
                <a:ext cx="148" cy="148"/>
              </a:xfrm>
              <a:prstGeom prst="ellipse">
                <a:avLst/>
              </a:prstGeom>
              <a:solidFill>
                <a:srgbClr val="CE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/>
                <a:endParaRPr lang="zh-CN" altLang="en-US" baseline="0"/>
              </a:p>
            </p:txBody>
          </p:sp>
          <p:sp>
            <p:nvSpPr>
              <p:cNvPr id="403469" name="Oval 11"/>
              <p:cNvSpPr>
                <a:spLocks noChangeArrowheads="1"/>
              </p:cNvSpPr>
              <p:nvPr/>
            </p:nvSpPr>
            <p:spPr bwMode="auto">
              <a:xfrm>
                <a:off x="3901" y="2198"/>
                <a:ext cx="148" cy="148"/>
              </a:xfrm>
              <a:prstGeom prst="ellipse">
                <a:avLst/>
              </a:prstGeom>
              <a:solidFill>
                <a:srgbClr val="CE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aseline="-25000"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algn="ctr"/>
                <a:endParaRPr lang="zh-CN" altLang="en-US" baseline="0"/>
              </a:p>
            </p:txBody>
          </p:sp>
        </p:grpSp>
        <p:sp>
          <p:nvSpPr>
            <p:cNvPr id="403470" name="Oval 13"/>
            <p:cNvSpPr>
              <a:spLocks noChangeArrowheads="1"/>
            </p:cNvSpPr>
            <p:nvPr/>
          </p:nvSpPr>
          <p:spPr bwMode="auto">
            <a:xfrm>
              <a:off x="4170" y="2018"/>
              <a:ext cx="148" cy="148"/>
            </a:xfrm>
            <a:prstGeom prst="ellipse">
              <a:avLst/>
            </a:prstGeom>
            <a:solidFill>
              <a:srgbClr val="CE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1pPr>
              <a:lvl2pPr marL="742950" indent="-28575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2pPr>
              <a:lvl3pPr marL="11430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3pPr>
              <a:lvl4pPr marL="16002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4pPr>
              <a:lvl5pPr marL="2057400" indent="-228600" eaLnBrk="0" hangingPunct="0"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aseline="-25000">
                  <a:solidFill>
                    <a:schemeClr val="tx1"/>
                  </a:solidFill>
                  <a:latin typeface="Arial" charset="0"/>
                  <a:ea typeface="宋体" charset="-122"/>
                </a:defRPr>
              </a:lvl9pPr>
            </a:lstStyle>
            <a:p>
              <a:pPr algn="ctr"/>
              <a:endParaRPr lang="zh-CN" altLang="en-US" baseline="0"/>
            </a:p>
          </p:txBody>
        </p:sp>
      </p:grpSp>
      <p:sp>
        <p:nvSpPr>
          <p:cNvPr id="403471" name="Text Box 17"/>
          <p:cNvSpPr txBox="1">
            <a:spLocks noChangeArrowheads="1"/>
          </p:cNvSpPr>
          <p:nvPr/>
        </p:nvSpPr>
        <p:spPr bwMode="auto">
          <a:xfrm>
            <a:off x="6854826" y="2576513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en-US" altLang="zh-CN" sz="1400" baseline="0"/>
              <a:t>1</a:t>
            </a:r>
          </a:p>
        </p:txBody>
      </p:sp>
      <p:sp>
        <p:nvSpPr>
          <p:cNvPr id="403472" name="Text Box 18"/>
          <p:cNvSpPr txBox="1">
            <a:spLocks noChangeArrowheads="1"/>
          </p:cNvSpPr>
          <p:nvPr/>
        </p:nvSpPr>
        <p:spPr bwMode="auto">
          <a:xfrm>
            <a:off x="6472239" y="3028950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en-US" altLang="zh-CN" sz="1400" baseline="0"/>
              <a:t>2</a:t>
            </a:r>
          </a:p>
        </p:txBody>
      </p:sp>
      <p:sp>
        <p:nvSpPr>
          <p:cNvPr id="403473" name="Text Box 19"/>
          <p:cNvSpPr txBox="1">
            <a:spLocks noChangeArrowheads="1"/>
          </p:cNvSpPr>
          <p:nvPr/>
        </p:nvSpPr>
        <p:spPr bwMode="auto">
          <a:xfrm>
            <a:off x="8270876" y="213677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en-US" altLang="zh-CN" sz="1400" baseline="0"/>
              <a:t>3</a:t>
            </a:r>
          </a:p>
        </p:txBody>
      </p:sp>
      <p:sp>
        <p:nvSpPr>
          <p:cNvPr id="403474" name="Text Box 20"/>
          <p:cNvSpPr txBox="1">
            <a:spLocks noChangeArrowheads="1"/>
          </p:cNvSpPr>
          <p:nvPr/>
        </p:nvSpPr>
        <p:spPr bwMode="auto">
          <a:xfrm>
            <a:off x="8591551" y="2405063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en-US" altLang="zh-CN" sz="1400" baseline="0"/>
              <a:t>4</a:t>
            </a:r>
          </a:p>
        </p:txBody>
      </p:sp>
      <p:sp>
        <p:nvSpPr>
          <p:cNvPr id="403475" name="Text Box 21"/>
          <p:cNvSpPr txBox="1">
            <a:spLocks noChangeArrowheads="1"/>
          </p:cNvSpPr>
          <p:nvPr/>
        </p:nvSpPr>
        <p:spPr bwMode="auto">
          <a:xfrm>
            <a:off x="8977314" y="2714625"/>
            <a:ext cx="2825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en-US" altLang="zh-CN" sz="1400" baseline="0"/>
              <a:t>5</a:t>
            </a:r>
          </a:p>
        </p:txBody>
      </p:sp>
      <p:sp>
        <p:nvSpPr>
          <p:cNvPr id="403476" name="Line 22"/>
          <p:cNvSpPr>
            <a:spLocks noChangeShapeType="1"/>
          </p:cNvSpPr>
          <p:nvPr/>
        </p:nvSpPr>
        <p:spPr bwMode="auto">
          <a:xfrm>
            <a:off x="7102475" y="2755901"/>
            <a:ext cx="287338" cy="1825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403477" name="Line 23"/>
          <p:cNvSpPr>
            <a:spLocks noChangeShapeType="1"/>
          </p:cNvSpPr>
          <p:nvPr/>
        </p:nvSpPr>
        <p:spPr bwMode="auto">
          <a:xfrm>
            <a:off x="6697663" y="3187701"/>
            <a:ext cx="677862" cy="339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403478" name="Line 24"/>
          <p:cNvSpPr>
            <a:spLocks noChangeShapeType="1"/>
          </p:cNvSpPr>
          <p:nvPr/>
        </p:nvSpPr>
        <p:spPr bwMode="auto">
          <a:xfrm flipH="1">
            <a:off x="8042275" y="2416176"/>
            <a:ext cx="287338" cy="5365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403479" name="Line 25"/>
          <p:cNvSpPr>
            <a:spLocks noChangeShapeType="1"/>
          </p:cNvSpPr>
          <p:nvPr/>
        </p:nvSpPr>
        <p:spPr bwMode="auto">
          <a:xfrm flipH="1">
            <a:off x="8081964" y="2678113"/>
            <a:ext cx="574675" cy="679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403480" name="Line 26"/>
          <p:cNvSpPr>
            <a:spLocks noChangeShapeType="1"/>
          </p:cNvSpPr>
          <p:nvPr/>
        </p:nvSpPr>
        <p:spPr bwMode="auto">
          <a:xfrm flipH="1">
            <a:off x="8551863" y="2951164"/>
            <a:ext cx="482600" cy="2746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010115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状态图</a:t>
            </a:r>
            <a:endParaRPr lang="en-US" altLang="zh-CN" dirty="0">
              <a:ea typeface="宋体" charset="-122"/>
            </a:endParaRPr>
          </a:p>
        </p:txBody>
      </p:sp>
      <p:pic>
        <p:nvPicPr>
          <p:cNvPr id="404484" name="Picture 4" descr="ch03-signsta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2588" y="1370013"/>
            <a:ext cx="5821362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4485" name="Text Box 5"/>
          <p:cNvSpPr txBox="1">
            <a:spLocks noChangeArrowheads="1"/>
          </p:cNvSpPr>
          <p:nvPr/>
        </p:nvSpPr>
        <p:spPr bwMode="auto">
          <a:xfrm>
            <a:off x="1905001" y="4543426"/>
            <a:ext cx="1711325" cy="466725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en-US" altLang="zh-CN" baseline="0">
                <a:solidFill>
                  <a:srgbClr val="CE0000"/>
                </a:solidFill>
              </a:rPr>
              <a:t>State bit S</a:t>
            </a:r>
            <a:r>
              <a:rPr lang="en-US" altLang="zh-CN">
                <a:solidFill>
                  <a:srgbClr val="CE0000"/>
                </a:solidFill>
              </a:rPr>
              <a:t>1</a:t>
            </a:r>
          </a:p>
        </p:txBody>
      </p:sp>
      <p:sp>
        <p:nvSpPr>
          <p:cNvPr id="404486" name="Text Box 6"/>
          <p:cNvSpPr txBox="1">
            <a:spLocks noChangeArrowheads="1"/>
          </p:cNvSpPr>
          <p:nvPr/>
        </p:nvSpPr>
        <p:spPr bwMode="auto">
          <a:xfrm>
            <a:off x="5224464" y="4706939"/>
            <a:ext cx="1711325" cy="466725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en-US" altLang="zh-CN" baseline="0">
                <a:solidFill>
                  <a:srgbClr val="CE0000"/>
                </a:solidFill>
              </a:rPr>
              <a:t>State bit S</a:t>
            </a:r>
            <a:r>
              <a:rPr lang="en-US" altLang="zh-CN">
                <a:solidFill>
                  <a:srgbClr val="CE0000"/>
                </a:solidFill>
              </a:rPr>
              <a:t>0</a:t>
            </a:r>
          </a:p>
        </p:txBody>
      </p:sp>
      <p:sp>
        <p:nvSpPr>
          <p:cNvPr id="404487" name="Line 7"/>
          <p:cNvSpPr>
            <a:spLocks noChangeShapeType="1"/>
          </p:cNvSpPr>
          <p:nvPr/>
        </p:nvSpPr>
        <p:spPr bwMode="auto">
          <a:xfrm>
            <a:off x="3340100" y="5029201"/>
            <a:ext cx="757238" cy="417513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404488" name="Line 8"/>
          <p:cNvSpPr>
            <a:spLocks noChangeShapeType="1"/>
          </p:cNvSpPr>
          <p:nvPr/>
        </p:nvSpPr>
        <p:spPr bwMode="auto">
          <a:xfrm flipH="1">
            <a:off x="4646614" y="5186363"/>
            <a:ext cx="782637" cy="260350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404489" name="Text Box 9"/>
          <p:cNvSpPr txBox="1">
            <a:spLocks noChangeArrowheads="1"/>
          </p:cNvSpPr>
          <p:nvPr/>
        </p:nvSpPr>
        <p:spPr bwMode="auto">
          <a:xfrm>
            <a:off x="8837613" y="2797176"/>
            <a:ext cx="1516062" cy="466725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en-US" altLang="zh-CN" baseline="0">
                <a:solidFill>
                  <a:srgbClr val="CE0000"/>
                </a:solidFill>
              </a:rPr>
              <a:t>Switch on</a:t>
            </a:r>
            <a:endParaRPr lang="en-US" altLang="zh-CN">
              <a:solidFill>
                <a:srgbClr val="CE0000"/>
              </a:solidFill>
            </a:endParaRPr>
          </a:p>
        </p:txBody>
      </p:sp>
      <p:sp>
        <p:nvSpPr>
          <p:cNvPr id="404490" name="Line 10"/>
          <p:cNvSpPr>
            <a:spLocks noChangeShapeType="1"/>
          </p:cNvSpPr>
          <p:nvPr/>
        </p:nvSpPr>
        <p:spPr bwMode="auto">
          <a:xfrm flipH="1" flipV="1">
            <a:off x="8442326" y="3063875"/>
            <a:ext cx="377825" cy="1588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404491" name="Text Box 11"/>
          <p:cNvSpPr txBox="1">
            <a:spLocks noChangeArrowheads="1"/>
          </p:cNvSpPr>
          <p:nvPr/>
        </p:nvSpPr>
        <p:spPr bwMode="auto">
          <a:xfrm>
            <a:off x="6405564" y="3198814"/>
            <a:ext cx="1514475" cy="466725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en-US" altLang="zh-CN" baseline="0">
                <a:solidFill>
                  <a:srgbClr val="CE0000"/>
                </a:solidFill>
              </a:rPr>
              <a:t>Switch off</a:t>
            </a:r>
            <a:endParaRPr lang="en-US" altLang="zh-CN">
              <a:solidFill>
                <a:srgbClr val="CE0000"/>
              </a:solidFill>
            </a:endParaRPr>
          </a:p>
        </p:txBody>
      </p:sp>
      <p:sp>
        <p:nvSpPr>
          <p:cNvPr id="404492" name="Line 12"/>
          <p:cNvSpPr>
            <a:spLocks noChangeShapeType="1"/>
          </p:cNvSpPr>
          <p:nvPr/>
        </p:nvSpPr>
        <p:spPr bwMode="auto">
          <a:xfrm flipV="1">
            <a:off x="7339014" y="2798764"/>
            <a:ext cx="1587" cy="420687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404493" name="Text Box 13"/>
          <p:cNvSpPr txBox="1">
            <a:spLocks noChangeArrowheads="1"/>
          </p:cNvSpPr>
          <p:nvPr/>
        </p:nvSpPr>
        <p:spPr bwMode="auto">
          <a:xfrm>
            <a:off x="9004301" y="5051426"/>
            <a:ext cx="1260475" cy="466725"/>
          </a:xfrm>
          <a:prstGeom prst="rect">
            <a:avLst/>
          </a:prstGeom>
          <a:noFill/>
          <a:ln w="9525">
            <a:solidFill>
              <a:srgbClr val="CE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en-US" altLang="zh-CN" baseline="0">
                <a:solidFill>
                  <a:srgbClr val="CE0000"/>
                </a:solidFill>
              </a:rPr>
              <a:t>Outputs</a:t>
            </a:r>
            <a:endParaRPr lang="en-US" altLang="zh-CN">
              <a:solidFill>
                <a:srgbClr val="CE0000"/>
              </a:solidFill>
            </a:endParaRPr>
          </a:p>
        </p:txBody>
      </p:sp>
      <p:sp>
        <p:nvSpPr>
          <p:cNvPr id="404494" name="Line 14"/>
          <p:cNvSpPr>
            <a:spLocks noChangeShapeType="1"/>
          </p:cNvSpPr>
          <p:nvPr/>
        </p:nvSpPr>
        <p:spPr bwMode="auto">
          <a:xfrm flipH="1">
            <a:off x="8555038" y="5399089"/>
            <a:ext cx="442912" cy="415925"/>
          </a:xfrm>
          <a:prstGeom prst="line">
            <a:avLst/>
          </a:prstGeom>
          <a:noFill/>
          <a:ln w="9525">
            <a:solidFill>
              <a:srgbClr val="CE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404495" name="Text Box 15"/>
          <p:cNvSpPr txBox="1">
            <a:spLocks noChangeArrowheads="1"/>
          </p:cNvSpPr>
          <p:nvPr/>
        </p:nvSpPr>
        <p:spPr bwMode="auto">
          <a:xfrm>
            <a:off x="2068513" y="6246813"/>
            <a:ext cx="4337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en-US" altLang="zh-CN" i="1" baseline="0" dirty="0"/>
              <a:t>Transition on each clock cycle.</a:t>
            </a:r>
          </a:p>
        </p:txBody>
      </p:sp>
    </p:spTree>
    <p:extLst>
      <p:ext uri="{BB962C8B-B14F-4D97-AF65-F5344CB8AC3E}">
        <p14:creationId xmlns:p14="http://schemas.microsoft.com/office/powerpoint/2010/main" val="4240291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真值表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405508" name="Text Box 115"/>
          <p:cNvSpPr txBox="1">
            <a:spLocks noChangeArrowheads="1"/>
          </p:cNvSpPr>
          <p:nvPr/>
        </p:nvSpPr>
        <p:spPr bwMode="auto">
          <a:xfrm>
            <a:off x="1786004" y="1370014"/>
            <a:ext cx="405752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en-US" altLang="zh-CN" baseline="0"/>
              <a:t>Outputs</a:t>
            </a:r>
          </a:p>
          <a:p>
            <a:pPr algn="ctr"/>
            <a:r>
              <a:rPr lang="en-US" altLang="zh-CN" baseline="0"/>
              <a:t>(depend only on state: S</a:t>
            </a:r>
            <a:r>
              <a:rPr lang="en-US" altLang="zh-CN"/>
              <a:t>1</a:t>
            </a:r>
            <a:r>
              <a:rPr lang="en-US" altLang="zh-CN" baseline="0"/>
              <a:t>S</a:t>
            </a:r>
            <a:r>
              <a:rPr lang="en-US" altLang="zh-CN"/>
              <a:t>0</a:t>
            </a:r>
            <a:r>
              <a:rPr lang="en-US" altLang="zh-CN" baseline="0"/>
              <a:t>)</a:t>
            </a:r>
          </a:p>
        </p:txBody>
      </p:sp>
      <p:graphicFrame>
        <p:nvGraphicFramePr>
          <p:cNvPr id="118004" name="Group 244"/>
          <p:cNvGraphicFramePr>
            <a:graphicFrameLocks noGrp="1"/>
          </p:cNvGraphicFramePr>
          <p:nvPr/>
        </p:nvGraphicFramePr>
        <p:xfrm>
          <a:off x="2317751" y="3497263"/>
          <a:ext cx="2644775" cy="2257426"/>
        </p:xfrm>
        <a:graphic>
          <a:graphicData uri="http://schemas.openxmlformats.org/drawingml/2006/table">
            <a:tbl>
              <a:tblPr/>
              <a:tblGrid>
                <a:gridCol w="528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8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0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Y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X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4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05537" name="Text Box 245"/>
          <p:cNvSpPr txBox="1">
            <a:spLocks noChangeArrowheads="1"/>
          </p:cNvSpPr>
          <p:nvPr/>
        </p:nvSpPr>
        <p:spPr bwMode="auto">
          <a:xfrm>
            <a:off x="4786314" y="2328863"/>
            <a:ext cx="12969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en-US" altLang="zh-CN" sz="1400" baseline="0">
                <a:solidFill>
                  <a:srgbClr val="FF3300"/>
                </a:solidFill>
              </a:rPr>
              <a:t>Lights 1 and 2</a:t>
            </a:r>
          </a:p>
        </p:txBody>
      </p:sp>
      <p:sp>
        <p:nvSpPr>
          <p:cNvPr id="405538" name="Text Box 246"/>
          <p:cNvSpPr txBox="1">
            <a:spLocks noChangeArrowheads="1"/>
          </p:cNvSpPr>
          <p:nvPr/>
        </p:nvSpPr>
        <p:spPr bwMode="auto">
          <a:xfrm>
            <a:off x="4786314" y="2624138"/>
            <a:ext cx="129698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en-US" altLang="zh-CN" sz="1400" baseline="0">
                <a:solidFill>
                  <a:srgbClr val="FF3300"/>
                </a:solidFill>
              </a:rPr>
              <a:t>Lights 3 and 4</a:t>
            </a:r>
          </a:p>
        </p:txBody>
      </p:sp>
      <p:sp>
        <p:nvSpPr>
          <p:cNvPr id="405539" name="Text Box 247"/>
          <p:cNvSpPr txBox="1">
            <a:spLocks noChangeArrowheads="1"/>
          </p:cNvSpPr>
          <p:nvPr/>
        </p:nvSpPr>
        <p:spPr bwMode="auto">
          <a:xfrm>
            <a:off x="4786313" y="2933700"/>
            <a:ext cx="7159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en-US" altLang="zh-CN" sz="1400" baseline="0">
                <a:solidFill>
                  <a:srgbClr val="FF3300"/>
                </a:solidFill>
              </a:rPr>
              <a:t>Light 5</a:t>
            </a:r>
          </a:p>
        </p:txBody>
      </p:sp>
      <p:sp>
        <p:nvSpPr>
          <p:cNvPr id="405540" name="Line 249"/>
          <p:cNvSpPr>
            <a:spLocks noChangeShapeType="1"/>
          </p:cNvSpPr>
          <p:nvPr/>
        </p:nvSpPr>
        <p:spPr bwMode="auto">
          <a:xfrm flipH="1">
            <a:off x="4672013" y="3070225"/>
            <a:ext cx="157162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>
              <a:solidFill>
                <a:srgbClr val="FF3300"/>
              </a:solidFill>
            </a:endParaRPr>
          </a:p>
        </p:txBody>
      </p:sp>
      <p:sp>
        <p:nvSpPr>
          <p:cNvPr id="405541" name="Line 250"/>
          <p:cNvSpPr>
            <a:spLocks noChangeShapeType="1"/>
          </p:cNvSpPr>
          <p:nvPr/>
        </p:nvSpPr>
        <p:spPr bwMode="auto">
          <a:xfrm flipH="1">
            <a:off x="4673600" y="3068639"/>
            <a:ext cx="0" cy="484187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>
              <a:solidFill>
                <a:srgbClr val="FF3300"/>
              </a:solidFill>
            </a:endParaRPr>
          </a:p>
        </p:txBody>
      </p:sp>
      <p:sp>
        <p:nvSpPr>
          <p:cNvPr id="405542" name="Line 251"/>
          <p:cNvSpPr>
            <a:spLocks noChangeShapeType="1"/>
          </p:cNvSpPr>
          <p:nvPr/>
        </p:nvSpPr>
        <p:spPr bwMode="auto">
          <a:xfrm flipH="1">
            <a:off x="4151313" y="2779713"/>
            <a:ext cx="677862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>
              <a:solidFill>
                <a:srgbClr val="FF3300"/>
              </a:solidFill>
            </a:endParaRPr>
          </a:p>
        </p:txBody>
      </p:sp>
      <p:sp>
        <p:nvSpPr>
          <p:cNvPr id="405543" name="Line 252"/>
          <p:cNvSpPr>
            <a:spLocks noChangeShapeType="1"/>
          </p:cNvSpPr>
          <p:nvPr/>
        </p:nvSpPr>
        <p:spPr bwMode="auto">
          <a:xfrm flipH="1">
            <a:off x="3616325" y="2489200"/>
            <a:ext cx="121285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>
              <a:solidFill>
                <a:srgbClr val="FF3300"/>
              </a:solidFill>
            </a:endParaRPr>
          </a:p>
        </p:txBody>
      </p:sp>
      <p:sp>
        <p:nvSpPr>
          <p:cNvPr id="405544" name="Line 253"/>
          <p:cNvSpPr>
            <a:spLocks noChangeShapeType="1"/>
          </p:cNvSpPr>
          <p:nvPr/>
        </p:nvSpPr>
        <p:spPr bwMode="auto">
          <a:xfrm>
            <a:off x="4151313" y="2782889"/>
            <a:ext cx="0" cy="769937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>
              <a:solidFill>
                <a:srgbClr val="FF3300"/>
              </a:solidFill>
            </a:endParaRPr>
          </a:p>
        </p:txBody>
      </p:sp>
      <p:sp>
        <p:nvSpPr>
          <p:cNvPr id="405545" name="Line 254"/>
          <p:cNvSpPr>
            <a:spLocks noChangeShapeType="1"/>
          </p:cNvSpPr>
          <p:nvPr/>
        </p:nvSpPr>
        <p:spPr bwMode="auto">
          <a:xfrm>
            <a:off x="3616325" y="2490789"/>
            <a:ext cx="0" cy="106997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>
              <a:solidFill>
                <a:srgbClr val="FF3300"/>
              </a:solidFill>
            </a:endParaRPr>
          </a:p>
        </p:txBody>
      </p:sp>
      <p:sp>
        <p:nvSpPr>
          <p:cNvPr id="405546" name="Text Box 255"/>
          <p:cNvSpPr txBox="1">
            <a:spLocks noChangeArrowheads="1"/>
          </p:cNvSpPr>
          <p:nvPr/>
        </p:nvSpPr>
        <p:spPr bwMode="auto">
          <a:xfrm>
            <a:off x="6474402" y="1370014"/>
            <a:ext cx="3951723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en-US" altLang="zh-CN" baseline="0"/>
              <a:t>Next State: S</a:t>
            </a:r>
            <a:r>
              <a:rPr lang="en-US" altLang="zh-CN"/>
              <a:t>1</a:t>
            </a:r>
            <a:r>
              <a:rPr lang="en-US" altLang="zh-CN" baseline="0"/>
              <a:t>’S</a:t>
            </a:r>
            <a:r>
              <a:rPr lang="en-US" altLang="zh-CN"/>
              <a:t>0</a:t>
            </a:r>
            <a:r>
              <a:rPr lang="en-US" altLang="zh-CN" baseline="0"/>
              <a:t>’</a:t>
            </a:r>
            <a:br>
              <a:rPr lang="en-US" altLang="zh-CN" baseline="0"/>
            </a:br>
            <a:r>
              <a:rPr lang="en-US" altLang="zh-CN" baseline="0"/>
              <a:t>(depend on state and input)</a:t>
            </a:r>
          </a:p>
        </p:txBody>
      </p:sp>
      <p:graphicFrame>
        <p:nvGraphicFramePr>
          <p:cNvPr id="118104" name="Group 3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681600"/>
              </p:ext>
            </p:extLst>
          </p:nvPr>
        </p:nvGraphicFramePr>
        <p:xfrm>
          <a:off x="6384033" y="2586039"/>
          <a:ext cx="2643187" cy="2671763"/>
        </p:xfrm>
        <a:graphic>
          <a:graphicData uri="http://schemas.openxmlformats.org/drawingml/2006/table">
            <a:tbl>
              <a:tblPr/>
              <a:tblGrid>
                <a:gridCol w="5286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8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8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8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59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In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’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S</a:t>
                      </a:r>
                      <a:r>
                        <a:rPr kumimoji="0" lang="en-US" altLang="zh-CN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’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X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X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Wingdings" pitchFamily="2" charset="2"/>
                        <a:defRPr sz="2000" b="1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Wingdings" pitchFamily="2" charset="2"/>
                        <a:defRPr b="1">
                          <a:solidFill>
                            <a:schemeClr val="tx1"/>
                          </a:solidFill>
                          <a:latin typeface="Arial" charset="0"/>
                          <a:ea typeface="楷体_GB2312" pitchFamily="49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Gungsuh" pitchFamily="18" charset="-127"/>
                        <a:defRPr sz="1600" b="1"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  <a:ea typeface="黑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charset="-122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宋体" charset="-122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05580" name="Text Box 338"/>
          <p:cNvSpPr txBox="1">
            <a:spLocks noChangeArrowheads="1"/>
          </p:cNvSpPr>
          <p:nvPr/>
        </p:nvSpPr>
        <p:spPr bwMode="auto">
          <a:xfrm>
            <a:off x="6351590" y="2243137"/>
            <a:ext cx="7080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en-US" altLang="zh-CN" sz="1400" baseline="0" dirty="0">
                <a:solidFill>
                  <a:srgbClr val="FF3300"/>
                </a:solidFill>
              </a:rPr>
              <a:t>Switch</a:t>
            </a:r>
          </a:p>
        </p:txBody>
      </p:sp>
      <p:sp>
        <p:nvSpPr>
          <p:cNvPr id="405581" name="Line 339"/>
          <p:cNvSpPr>
            <a:spLocks noChangeShapeType="1"/>
          </p:cNvSpPr>
          <p:nvPr/>
        </p:nvSpPr>
        <p:spPr bwMode="auto">
          <a:xfrm flipH="1">
            <a:off x="7215188" y="2398713"/>
            <a:ext cx="157162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405582" name="Line 340"/>
          <p:cNvSpPr>
            <a:spLocks noChangeShapeType="1"/>
          </p:cNvSpPr>
          <p:nvPr/>
        </p:nvSpPr>
        <p:spPr bwMode="auto">
          <a:xfrm flipH="1">
            <a:off x="7216775" y="2397126"/>
            <a:ext cx="0" cy="301625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405583" name="Text Box 345"/>
          <p:cNvSpPr txBox="1">
            <a:spLocks noChangeArrowheads="1"/>
          </p:cNvSpPr>
          <p:nvPr/>
        </p:nvSpPr>
        <p:spPr bwMode="auto">
          <a:xfrm>
            <a:off x="7372350" y="2204730"/>
            <a:ext cx="27305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en-US" altLang="zh-CN" sz="1400" baseline="0" dirty="0">
                <a:solidFill>
                  <a:srgbClr val="FF3300"/>
                </a:solidFill>
              </a:rPr>
              <a:t>Whenever In=0, next state is 00.</a:t>
            </a:r>
          </a:p>
        </p:txBody>
      </p:sp>
      <p:sp>
        <p:nvSpPr>
          <p:cNvPr id="405584" name="Line 346"/>
          <p:cNvSpPr>
            <a:spLocks noChangeShapeType="1"/>
          </p:cNvSpPr>
          <p:nvPr/>
        </p:nvSpPr>
        <p:spPr bwMode="auto">
          <a:xfrm>
            <a:off x="6697663" y="3240088"/>
            <a:ext cx="404812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405585" name="Line 347"/>
          <p:cNvSpPr>
            <a:spLocks noChangeShapeType="1"/>
          </p:cNvSpPr>
          <p:nvPr/>
        </p:nvSpPr>
        <p:spPr bwMode="auto">
          <a:xfrm>
            <a:off x="6697663" y="3240088"/>
            <a:ext cx="0" cy="23114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3398180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71664" y="-99392"/>
            <a:ext cx="7366000" cy="762000"/>
          </a:xfrm>
        </p:spPr>
        <p:txBody>
          <a:bodyPr/>
          <a:lstStyle/>
          <a:p>
            <a:r>
              <a:rPr lang="zh-CN" altLang="en-US" dirty="0">
                <a:ea typeface="宋体" charset="-122"/>
              </a:rPr>
              <a:t>逻辑实现</a:t>
            </a:r>
            <a:endParaRPr lang="en-US" altLang="zh-CN" dirty="0">
              <a:ea typeface="宋体" charset="-122"/>
            </a:endParaRPr>
          </a:p>
        </p:txBody>
      </p:sp>
      <p:pic>
        <p:nvPicPr>
          <p:cNvPr id="406532" name="Picture 5" descr="ch03-traffi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514" y="1425575"/>
            <a:ext cx="5426075" cy="487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6533" name="Text Box 6"/>
          <p:cNvSpPr txBox="1">
            <a:spLocks noChangeArrowheads="1"/>
          </p:cNvSpPr>
          <p:nvPr/>
        </p:nvSpPr>
        <p:spPr bwMode="auto">
          <a:xfrm>
            <a:off x="8000153" y="4995864"/>
            <a:ext cx="1947970" cy="830997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/>
            <a:r>
              <a:rPr lang="en-US" altLang="zh-CN" baseline="0">
                <a:solidFill>
                  <a:srgbClr val="FF3300"/>
                </a:solidFill>
              </a:rPr>
              <a:t>Master-slave</a:t>
            </a:r>
            <a:br>
              <a:rPr lang="en-US" altLang="zh-CN" baseline="0">
                <a:solidFill>
                  <a:srgbClr val="FF3300"/>
                </a:solidFill>
              </a:rPr>
            </a:br>
            <a:r>
              <a:rPr lang="en-US" altLang="zh-CN" baseline="0">
                <a:solidFill>
                  <a:srgbClr val="FF3300"/>
                </a:solidFill>
              </a:rPr>
              <a:t>flipflop</a:t>
            </a:r>
          </a:p>
        </p:txBody>
      </p:sp>
      <p:sp>
        <p:nvSpPr>
          <p:cNvPr id="406534" name="Line 8"/>
          <p:cNvSpPr>
            <a:spLocks noChangeShapeType="1"/>
          </p:cNvSpPr>
          <p:nvPr/>
        </p:nvSpPr>
        <p:spPr bwMode="auto">
          <a:xfrm flipH="1" flipV="1">
            <a:off x="7362826" y="5303839"/>
            <a:ext cx="862013" cy="65087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  <p:sp>
        <p:nvSpPr>
          <p:cNvPr id="406535" name="Line 9"/>
          <p:cNvSpPr>
            <a:spLocks noChangeShapeType="1"/>
          </p:cNvSpPr>
          <p:nvPr/>
        </p:nvSpPr>
        <p:spPr bwMode="auto">
          <a:xfrm flipH="1">
            <a:off x="7375526" y="5511801"/>
            <a:ext cx="836613" cy="392113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1109989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1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存储单元</a:t>
            </a:r>
            <a:r>
              <a:rPr lang="en-US" altLang="zh-CN" dirty="0">
                <a:ea typeface="宋体" charset="-122"/>
              </a:rPr>
              <a:t>: </a:t>
            </a:r>
            <a:r>
              <a:rPr lang="zh-CN" altLang="en-US" dirty="0">
                <a:ea typeface="宋体" charset="-122"/>
              </a:rPr>
              <a:t>主从锁存器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40141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1703388" y="981075"/>
            <a:ext cx="8839200" cy="1303338"/>
          </a:xfrm>
        </p:spPr>
        <p:txBody>
          <a:bodyPr/>
          <a:lstStyle/>
          <a:p>
            <a:r>
              <a:rPr lang="zh-CN" altLang="en-US" dirty="0">
                <a:ea typeface="宋体" charset="-122"/>
              </a:rPr>
              <a:t>一对</a:t>
            </a:r>
            <a:r>
              <a:rPr lang="en-US" altLang="zh-CN" dirty="0">
                <a:ea typeface="宋体" charset="-122"/>
              </a:rPr>
              <a:t>D</a:t>
            </a:r>
            <a:r>
              <a:rPr lang="zh-CN" altLang="en-US" dirty="0">
                <a:ea typeface="宋体" charset="-122"/>
              </a:rPr>
              <a:t>锁存器构成一个主从锁存器，将当前状态和下一状态分离。</a:t>
            </a:r>
            <a:endParaRPr lang="en-US" altLang="zh-CN" dirty="0">
              <a:ea typeface="宋体" charset="-122"/>
            </a:endParaRPr>
          </a:p>
        </p:txBody>
      </p:sp>
      <p:pic>
        <p:nvPicPr>
          <p:cNvPr id="401413" name="Picture 5" descr="ch03-msflipflo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13" y="2171700"/>
            <a:ext cx="8693150" cy="2319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1414" name="Text Box 6"/>
          <p:cNvSpPr txBox="1">
            <a:spLocks noChangeArrowheads="1"/>
          </p:cNvSpPr>
          <p:nvPr/>
        </p:nvSpPr>
        <p:spPr bwMode="auto">
          <a:xfrm>
            <a:off x="1905000" y="4765675"/>
            <a:ext cx="4108450" cy="1562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baseline="0"/>
              <a:t>During 1</a:t>
            </a:r>
            <a:r>
              <a:rPr lang="en-US" altLang="zh-CN" baseline="30000"/>
              <a:t>st</a:t>
            </a:r>
            <a:r>
              <a:rPr lang="en-US" altLang="zh-CN" baseline="0"/>
              <a:t> phase (clock=1),</a:t>
            </a:r>
            <a:br>
              <a:rPr lang="en-US" altLang="zh-CN" baseline="0"/>
            </a:br>
            <a:r>
              <a:rPr lang="en-US" altLang="zh-CN" baseline="0"/>
              <a:t>previously-computed state</a:t>
            </a:r>
            <a:br>
              <a:rPr lang="en-US" altLang="zh-CN" baseline="0"/>
            </a:br>
            <a:r>
              <a:rPr lang="en-US" altLang="zh-CN" baseline="0"/>
              <a:t>becomes </a:t>
            </a:r>
            <a:r>
              <a:rPr lang="en-US" altLang="zh-CN" i="1" baseline="0"/>
              <a:t>current</a:t>
            </a:r>
            <a:r>
              <a:rPr lang="en-US" altLang="zh-CN" baseline="0"/>
              <a:t> state and is</a:t>
            </a:r>
            <a:br>
              <a:rPr lang="en-US" altLang="zh-CN" baseline="0"/>
            </a:br>
            <a:r>
              <a:rPr lang="en-US" altLang="zh-CN" baseline="0"/>
              <a:t>sent to the logic circuit.</a:t>
            </a:r>
          </a:p>
        </p:txBody>
      </p:sp>
      <p:sp>
        <p:nvSpPr>
          <p:cNvPr id="401415" name="Text Box 7"/>
          <p:cNvSpPr txBox="1">
            <a:spLocks noChangeArrowheads="1"/>
          </p:cNvSpPr>
          <p:nvPr/>
        </p:nvSpPr>
        <p:spPr bwMode="auto">
          <a:xfrm>
            <a:off x="6184901" y="4765675"/>
            <a:ext cx="3903663" cy="15621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aseline="-25000"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r>
              <a:rPr lang="en-US" altLang="zh-CN" baseline="0"/>
              <a:t>During 2</a:t>
            </a:r>
            <a:r>
              <a:rPr lang="en-US" altLang="zh-CN" baseline="30000"/>
              <a:t>nd</a:t>
            </a:r>
            <a:r>
              <a:rPr lang="en-US" altLang="zh-CN" baseline="0"/>
              <a:t> phase (clock=0),</a:t>
            </a:r>
            <a:br>
              <a:rPr lang="en-US" altLang="zh-CN" baseline="0"/>
            </a:br>
            <a:r>
              <a:rPr lang="en-US" altLang="zh-CN" i="1" baseline="0"/>
              <a:t>next</a:t>
            </a:r>
            <a:r>
              <a:rPr lang="en-US" altLang="zh-CN" baseline="0"/>
              <a:t> state, computed by</a:t>
            </a:r>
            <a:br>
              <a:rPr lang="en-US" altLang="zh-CN" baseline="0"/>
            </a:br>
            <a:r>
              <a:rPr lang="en-US" altLang="zh-CN" baseline="0"/>
              <a:t>logic circuit, is stored in</a:t>
            </a:r>
            <a:br>
              <a:rPr lang="en-US" altLang="zh-CN" baseline="0"/>
            </a:br>
            <a:r>
              <a:rPr lang="en-US" altLang="zh-CN" baseline="0"/>
              <a:t>Latch A.</a:t>
            </a:r>
          </a:p>
        </p:txBody>
      </p:sp>
    </p:spTree>
    <p:extLst>
      <p:ext uri="{BB962C8B-B14F-4D97-AF65-F5344CB8AC3E}">
        <p14:creationId xmlns:p14="http://schemas.microsoft.com/office/powerpoint/2010/main" val="36476533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ea typeface="宋体" charset="-122"/>
              </a:rPr>
              <a:t>从逻辑电路到数据通路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ea typeface="宋体" charset="-122"/>
              </a:rPr>
              <a:t>数据通路：计算机用来处理信息所用到的所有逻辑电路 </a:t>
            </a:r>
            <a:endParaRPr lang="en-US" altLang="zh-CN" dirty="0">
              <a:ea typeface="宋体" charset="-122"/>
            </a:endParaRPr>
          </a:p>
          <a:p>
            <a:pPr>
              <a:buNone/>
            </a:pPr>
            <a:r>
              <a:rPr lang="zh-CN" altLang="en-US" dirty="0">
                <a:ea typeface="宋体" charset="-122"/>
              </a:rPr>
              <a:t>     </a:t>
            </a:r>
            <a:r>
              <a:rPr lang="en-US" altLang="zh-CN" dirty="0">
                <a:ea typeface="宋体" charset="-122"/>
              </a:rPr>
              <a:t>Example:  LC-3 </a:t>
            </a:r>
            <a:r>
              <a:rPr lang="zh-CN" altLang="en-US" dirty="0">
                <a:ea typeface="宋体" charset="-122"/>
              </a:rPr>
              <a:t>的数据通路（下一页）</a:t>
            </a:r>
            <a:r>
              <a:rPr lang="en-US" altLang="zh-CN" dirty="0">
                <a:ea typeface="宋体" charset="-122"/>
              </a:rPr>
              <a:t>.</a:t>
            </a:r>
          </a:p>
          <a:p>
            <a:endParaRPr lang="en-US" altLang="zh-CN" dirty="0">
              <a:ea typeface="宋体" charset="-122"/>
            </a:endParaRPr>
          </a:p>
          <a:p>
            <a:r>
              <a:rPr lang="zh-CN" altLang="en-US" dirty="0">
                <a:solidFill>
                  <a:srgbClr val="CE0000"/>
                </a:solidFill>
                <a:ea typeface="宋体" charset="-122"/>
              </a:rPr>
              <a:t>组合逻辑</a:t>
            </a:r>
            <a:endParaRPr lang="en-US" altLang="zh-CN" dirty="0">
              <a:solidFill>
                <a:srgbClr val="CE0000"/>
              </a:solidFill>
              <a:ea typeface="宋体" charset="-122"/>
            </a:endParaRPr>
          </a:p>
          <a:p>
            <a:pPr lvl="1"/>
            <a:r>
              <a:rPr lang="en-US" altLang="zh-CN" dirty="0">
                <a:ea typeface="宋体" charset="-122"/>
              </a:rPr>
              <a:t>Decoders</a:t>
            </a:r>
            <a:r>
              <a:rPr lang="zh-CN" altLang="en-US" dirty="0">
                <a:ea typeface="宋体" charset="-122"/>
              </a:rPr>
              <a:t>（译码器）</a:t>
            </a:r>
            <a:r>
              <a:rPr lang="en-US" altLang="zh-CN" dirty="0">
                <a:ea typeface="宋体" charset="-122"/>
              </a:rPr>
              <a:t> -- </a:t>
            </a:r>
            <a:r>
              <a:rPr lang="zh-CN" altLang="en-US" dirty="0">
                <a:ea typeface="宋体" charset="-122"/>
              </a:rPr>
              <a:t>把指令转换成控制信号</a:t>
            </a:r>
            <a:endParaRPr lang="en-US" altLang="zh-CN" dirty="0">
              <a:ea typeface="宋体" charset="-122"/>
            </a:endParaRPr>
          </a:p>
          <a:p>
            <a:pPr lvl="1"/>
            <a:r>
              <a:rPr lang="en-US" altLang="zh-CN" dirty="0">
                <a:ea typeface="宋体" charset="-122"/>
              </a:rPr>
              <a:t>Multiplexers</a:t>
            </a:r>
            <a:r>
              <a:rPr lang="zh-CN" altLang="en-US" dirty="0">
                <a:ea typeface="宋体" charset="-122"/>
              </a:rPr>
              <a:t>（选择器）</a:t>
            </a:r>
            <a:r>
              <a:rPr lang="en-US" altLang="zh-CN" dirty="0">
                <a:ea typeface="宋体" charset="-122"/>
              </a:rPr>
              <a:t> -- </a:t>
            </a:r>
            <a:r>
              <a:rPr lang="zh-CN" altLang="en-US" dirty="0">
                <a:ea typeface="宋体" charset="-122"/>
              </a:rPr>
              <a:t>选择输入和输出</a:t>
            </a:r>
            <a:endParaRPr lang="en-US" altLang="zh-CN" dirty="0">
              <a:ea typeface="宋体" charset="-122"/>
            </a:endParaRPr>
          </a:p>
          <a:p>
            <a:pPr lvl="1"/>
            <a:r>
              <a:rPr lang="en-US" altLang="zh-CN" dirty="0">
                <a:ea typeface="宋体" charset="-122"/>
              </a:rPr>
              <a:t>ALU (</a:t>
            </a:r>
            <a:r>
              <a:rPr lang="zh-CN" altLang="en-US" dirty="0">
                <a:ea typeface="宋体" charset="-122"/>
              </a:rPr>
              <a:t>算术和逻辑运算单元</a:t>
            </a:r>
            <a:r>
              <a:rPr lang="en-US" altLang="zh-CN" dirty="0">
                <a:ea typeface="宋体" charset="-122"/>
              </a:rPr>
              <a:t>) – </a:t>
            </a:r>
            <a:r>
              <a:rPr lang="zh-CN" altLang="en-US" dirty="0">
                <a:ea typeface="宋体" charset="-122"/>
              </a:rPr>
              <a:t>对数据进行运算操作</a:t>
            </a:r>
            <a:endParaRPr lang="en-US" altLang="zh-CN" dirty="0">
              <a:ea typeface="宋体" charset="-122"/>
            </a:endParaRPr>
          </a:p>
          <a:p>
            <a:r>
              <a:rPr lang="zh-CN" altLang="en-US" dirty="0">
                <a:solidFill>
                  <a:srgbClr val="CE0000"/>
                </a:solidFill>
                <a:ea typeface="宋体" charset="-122"/>
              </a:rPr>
              <a:t>时序逻辑</a:t>
            </a:r>
            <a:endParaRPr lang="en-US" altLang="zh-CN" dirty="0">
              <a:solidFill>
                <a:srgbClr val="CE0000"/>
              </a:solidFill>
              <a:ea typeface="宋体" charset="-122"/>
            </a:endParaRPr>
          </a:p>
          <a:p>
            <a:pPr lvl="1"/>
            <a:r>
              <a:rPr lang="zh-CN" altLang="en-US" dirty="0">
                <a:ea typeface="宋体" charset="-122"/>
              </a:rPr>
              <a:t>状态机</a:t>
            </a:r>
            <a:r>
              <a:rPr lang="en-US" altLang="zh-CN" dirty="0">
                <a:ea typeface="宋体" charset="-122"/>
              </a:rPr>
              <a:t> -- </a:t>
            </a:r>
            <a:r>
              <a:rPr lang="zh-CN" altLang="en-US" dirty="0">
                <a:ea typeface="宋体" charset="-122"/>
              </a:rPr>
              <a:t>产生控制信号，负责数据移动</a:t>
            </a:r>
            <a:endParaRPr lang="en-US" altLang="zh-CN" dirty="0">
              <a:ea typeface="宋体" charset="-122"/>
            </a:endParaRPr>
          </a:p>
          <a:p>
            <a:pPr lvl="1"/>
            <a:r>
              <a:rPr lang="zh-CN" altLang="en-US" dirty="0">
                <a:ea typeface="宋体" charset="-122"/>
              </a:rPr>
              <a:t>寄存器和锁存器</a:t>
            </a:r>
            <a:r>
              <a:rPr lang="en-US" altLang="zh-CN" dirty="0">
                <a:ea typeface="宋体" charset="-122"/>
              </a:rPr>
              <a:t> – </a:t>
            </a:r>
            <a:r>
              <a:rPr lang="zh-CN" altLang="en-US" dirty="0">
                <a:ea typeface="宋体" charset="-122"/>
              </a:rPr>
              <a:t>存储部件</a:t>
            </a:r>
            <a:endParaRPr lang="en-US" altLang="zh-CN" dirty="0"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0120135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0" y="-315416"/>
            <a:ext cx="8229600" cy="1143000"/>
          </a:xfrm>
        </p:spPr>
        <p:txBody>
          <a:bodyPr/>
          <a:lstStyle/>
          <a:p>
            <a:r>
              <a:rPr lang="en-US" altLang="zh-CN" dirty="0">
                <a:ea typeface="宋体" charset="-122"/>
              </a:rPr>
              <a:t>LC-3 </a:t>
            </a:r>
            <a:r>
              <a:rPr lang="zh-CN" altLang="en-US" dirty="0">
                <a:ea typeface="宋体" charset="-122"/>
              </a:rPr>
              <a:t>数据通路</a:t>
            </a:r>
            <a:endParaRPr lang="en-US" altLang="zh-CN" dirty="0">
              <a:ea typeface="宋体" charset="-122"/>
            </a:endParaRPr>
          </a:p>
        </p:txBody>
      </p:sp>
      <p:pic>
        <p:nvPicPr>
          <p:cNvPr id="119814" name="Picture 6" descr="C:\common\PattPatel slides\e2\pat67509_033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87913" y="579439"/>
            <a:ext cx="4362450" cy="6149975"/>
          </a:xfrm>
          <a:prstGeom prst="rect">
            <a:avLst/>
          </a:prstGeom>
          <a:noFill/>
        </p:spPr>
      </p:pic>
      <p:sp>
        <p:nvSpPr>
          <p:cNvPr id="119815" name="Text Box 7"/>
          <p:cNvSpPr txBox="1">
            <a:spLocks noChangeArrowheads="1"/>
          </p:cNvSpPr>
          <p:nvPr/>
        </p:nvSpPr>
        <p:spPr bwMode="auto">
          <a:xfrm>
            <a:off x="1952625" y="1504951"/>
            <a:ext cx="180975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009900"/>
                </a:solidFill>
                <a:ea typeface="宋体" charset="-122"/>
              </a:rPr>
              <a:t>Combinational</a:t>
            </a:r>
          </a:p>
          <a:p>
            <a:r>
              <a:rPr lang="en-US" altLang="zh-CN" sz="2000">
                <a:solidFill>
                  <a:srgbClr val="009900"/>
                </a:solidFill>
                <a:ea typeface="宋体" charset="-122"/>
              </a:rPr>
              <a:t>Logic</a:t>
            </a:r>
          </a:p>
        </p:txBody>
      </p:sp>
      <p:sp>
        <p:nvSpPr>
          <p:cNvPr id="119816" name="Line 8"/>
          <p:cNvSpPr>
            <a:spLocks noChangeShapeType="1"/>
          </p:cNvSpPr>
          <p:nvPr/>
        </p:nvSpPr>
        <p:spPr bwMode="auto">
          <a:xfrm>
            <a:off x="3743326" y="1849438"/>
            <a:ext cx="2373313" cy="461962"/>
          </a:xfrm>
          <a:prstGeom prst="line">
            <a:avLst/>
          </a:prstGeom>
          <a:noFill/>
          <a:ln w="38100">
            <a:solidFill>
              <a:srgbClr val="009900">
                <a:alpha val="50000"/>
              </a:srgb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19817" name="Line 9"/>
          <p:cNvSpPr>
            <a:spLocks noChangeShapeType="1"/>
          </p:cNvSpPr>
          <p:nvPr/>
        </p:nvSpPr>
        <p:spPr bwMode="auto">
          <a:xfrm>
            <a:off x="3689350" y="1971675"/>
            <a:ext cx="4254500" cy="1746250"/>
          </a:xfrm>
          <a:prstGeom prst="line">
            <a:avLst/>
          </a:prstGeom>
          <a:noFill/>
          <a:ln w="38100">
            <a:solidFill>
              <a:srgbClr val="009900">
                <a:alpha val="50000"/>
              </a:srgb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19818" name="Line 10"/>
          <p:cNvSpPr>
            <a:spLocks noChangeShapeType="1"/>
          </p:cNvSpPr>
          <p:nvPr/>
        </p:nvSpPr>
        <p:spPr bwMode="auto">
          <a:xfrm flipV="1">
            <a:off x="3740150" y="1630364"/>
            <a:ext cx="2763838" cy="73025"/>
          </a:xfrm>
          <a:prstGeom prst="line">
            <a:avLst/>
          </a:prstGeom>
          <a:noFill/>
          <a:ln w="38100">
            <a:solidFill>
              <a:srgbClr val="009900">
                <a:alpha val="50000"/>
              </a:srgb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19819" name="Text Box 11"/>
          <p:cNvSpPr txBox="1">
            <a:spLocks noChangeArrowheads="1"/>
          </p:cNvSpPr>
          <p:nvPr/>
        </p:nvSpPr>
        <p:spPr bwMode="auto">
          <a:xfrm>
            <a:off x="2162176" y="5151439"/>
            <a:ext cx="180657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0000FF"/>
                </a:solidFill>
                <a:ea typeface="宋体" charset="-122"/>
              </a:rPr>
              <a:t>State Machine</a:t>
            </a:r>
          </a:p>
        </p:txBody>
      </p:sp>
      <p:sp>
        <p:nvSpPr>
          <p:cNvPr id="119820" name="Line 12"/>
          <p:cNvSpPr>
            <a:spLocks noChangeShapeType="1"/>
          </p:cNvSpPr>
          <p:nvPr/>
        </p:nvSpPr>
        <p:spPr bwMode="auto">
          <a:xfrm flipV="1">
            <a:off x="3963989" y="4171950"/>
            <a:ext cx="3216275" cy="1055688"/>
          </a:xfrm>
          <a:prstGeom prst="line">
            <a:avLst/>
          </a:prstGeom>
          <a:noFill/>
          <a:ln w="38100">
            <a:solidFill>
              <a:srgbClr val="0000FF">
                <a:alpha val="50000"/>
              </a:srgb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19821" name="Text Box 13"/>
          <p:cNvSpPr txBox="1">
            <a:spLocks noChangeArrowheads="1"/>
          </p:cNvSpPr>
          <p:nvPr/>
        </p:nvSpPr>
        <p:spPr bwMode="auto">
          <a:xfrm>
            <a:off x="2662238" y="3157539"/>
            <a:ext cx="10731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CN" sz="2000">
                <a:solidFill>
                  <a:srgbClr val="CE0000"/>
                </a:solidFill>
                <a:ea typeface="宋体" charset="-122"/>
              </a:rPr>
              <a:t>Storage</a:t>
            </a:r>
          </a:p>
        </p:txBody>
      </p:sp>
      <p:sp>
        <p:nvSpPr>
          <p:cNvPr id="119822" name="Line 14"/>
          <p:cNvSpPr>
            <a:spLocks noChangeShapeType="1"/>
          </p:cNvSpPr>
          <p:nvPr/>
        </p:nvSpPr>
        <p:spPr bwMode="auto">
          <a:xfrm flipV="1">
            <a:off x="3729038" y="2020889"/>
            <a:ext cx="4233862" cy="1284287"/>
          </a:xfrm>
          <a:prstGeom prst="line">
            <a:avLst/>
          </a:prstGeom>
          <a:noFill/>
          <a:ln w="38100">
            <a:solidFill>
              <a:srgbClr val="CE0000">
                <a:alpha val="50000"/>
              </a:srgb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19823" name="Line 15"/>
          <p:cNvSpPr>
            <a:spLocks noChangeShapeType="1"/>
          </p:cNvSpPr>
          <p:nvPr/>
        </p:nvSpPr>
        <p:spPr bwMode="auto">
          <a:xfrm>
            <a:off x="3736975" y="3427414"/>
            <a:ext cx="1779588" cy="873125"/>
          </a:xfrm>
          <a:prstGeom prst="line">
            <a:avLst/>
          </a:prstGeom>
          <a:noFill/>
          <a:ln w="38100">
            <a:solidFill>
              <a:srgbClr val="CE0000">
                <a:alpha val="50000"/>
              </a:srgbClr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4559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3.7 LC-3</a:t>
            </a:r>
            <a:r>
              <a:rPr lang="zh-CN" altLang="en-US" dirty="0">
                <a:ea typeface="宋体" charset="-122"/>
              </a:rPr>
              <a:t>计算机的数据通路</a:t>
            </a:r>
            <a:endParaRPr lang="en-US" altLang="zh-CN" dirty="0">
              <a:ea typeface="宋体" charset="-122"/>
            </a:endParaRPr>
          </a:p>
        </p:txBody>
      </p:sp>
      <p:pic>
        <p:nvPicPr>
          <p:cNvPr id="408580" name="Picture 4" descr="pat76902_032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0775" y="1273175"/>
            <a:ext cx="4287838" cy="527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98251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习题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3.31</a:t>
            </a:r>
          </a:p>
          <a:p>
            <a:r>
              <a:rPr lang="zh-CN" altLang="zh-CN" dirty="0"/>
              <a:t>3</a:t>
            </a:r>
            <a:r>
              <a:rPr lang="en-US" altLang="zh-CN" dirty="0"/>
              <a:t>.33</a:t>
            </a:r>
          </a:p>
          <a:p>
            <a:r>
              <a:rPr lang="zh-CN" altLang="zh-CN" dirty="0"/>
              <a:t>3</a:t>
            </a:r>
            <a:r>
              <a:rPr lang="en-US" altLang="zh-CN" dirty="0"/>
              <a:t>.34</a:t>
            </a:r>
          </a:p>
          <a:p>
            <a:r>
              <a:rPr lang="en-US" altLang="zh-CN" dirty="0"/>
              <a:t>3.41</a:t>
            </a:r>
          </a:p>
          <a:p>
            <a:r>
              <a:rPr lang="en-US" altLang="zh-CN" dirty="0"/>
              <a:t>3.43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4432407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  <a:endParaRPr lang="zh-HK" alt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altLang="zh-CN" dirty="0"/>
              <a:t>MOS</a:t>
            </a:r>
            <a:r>
              <a:rPr lang="zh-CN" altLang="en-US" dirty="0"/>
              <a:t>管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组合逻辑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内存</a:t>
            </a:r>
            <a:endParaRPr lang="en-US" altLang="zh-CN" dirty="0"/>
          </a:p>
          <a:p>
            <a:pPr marL="514350" indent="-514350">
              <a:buAutoNum type="arabicPeriod"/>
            </a:pPr>
            <a:r>
              <a:rPr lang="zh-CN" altLang="en-US" dirty="0"/>
              <a:t>时序电路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19369004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0178AD4-A252-42F9-8A1F-53931DE47866}"/>
              </a:ext>
            </a:extLst>
          </p:cNvPr>
          <p:cNvSpPr txBox="1"/>
          <p:nvPr/>
        </p:nvSpPr>
        <p:spPr>
          <a:xfrm>
            <a:off x="1127448" y="1628800"/>
            <a:ext cx="88719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3.4</a:t>
            </a:r>
          </a:p>
          <a:p>
            <a:r>
              <a:rPr lang="en-US" altLang="zh-CN" dirty="0"/>
              <a:t>3.5</a:t>
            </a:r>
          </a:p>
          <a:p>
            <a:r>
              <a:rPr lang="en-US" altLang="zh-CN" dirty="0"/>
              <a:t>3.6</a:t>
            </a:r>
          </a:p>
          <a:p>
            <a:r>
              <a:rPr lang="en-US" altLang="zh-CN" dirty="0"/>
              <a:t>3.7</a:t>
            </a:r>
          </a:p>
          <a:p>
            <a:r>
              <a:rPr lang="en-US" altLang="zh-CN" dirty="0"/>
              <a:t>3.8</a:t>
            </a:r>
          </a:p>
          <a:p>
            <a:r>
              <a:rPr lang="en-US" altLang="zh-CN" dirty="0"/>
              <a:t>3.11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2F3A2C5-2E96-42DB-835E-E672420E5AEC}"/>
              </a:ext>
            </a:extLst>
          </p:cNvPr>
          <p:cNvSpPr txBox="1"/>
          <p:nvPr/>
        </p:nvSpPr>
        <p:spPr>
          <a:xfrm>
            <a:off x="2207568" y="1624352"/>
            <a:ext cx="10801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3.16</a:t>
            </a:r>
          </a:p>
          <a:p>
            <a:r>
              <a:rPr lang="zh-CN" altLang="zh-CN" dirty="0"/>
              <a:t>3</a:t>
            </a:r>
            <a:r>
              <a:rPr lang="en-US" altLang="zh-CN" dirty="0"/>
              <a:t>.17</a:t>
            </a:r>
          </a:p>
          <a:p>
            <a:r>
              <a:rPr lang="zh-CN" altLang="zh-CN" dirty="0"/>
              <a:t>3</a:t>
            </a:r>
            <a:r>
              <a:rPr lang="en-US" altLang="zh-CN" dirty="0"/>
              <a:t>.18</a:t>
            </a:r>
          </a:p>
          <a:p>
            <a:r>
              <a:rPr lang="zh-CN" altLang="zh-CN" dirty="0"/>
              <a:t>3</a:t>
            </a:r>
            <a:r>
              <a:rPr lang="en-US" altLang="zh-CN" dirty="0"/>
              <a:t>.23</a:t>
            </a:r>
          </a:p>
          <a:p>
            <a:r>
              <a:rPr lang="en-US" altLang="zh-CN" dirty="0"/>
              <a:t>3.24</a:t>
            </a:r>
          </a:p>
          <a:p>
            <a:r>
              <a:rPr lang="en-US" altLang="zh-CN" dirty="0"/>
              <a:t>3.26</a:t>
            </a:r>
          </a:p>
          <a:p>
            <a:r>
              <a:rPr lang="en-US" altLang="zh-CN" dirty="0"/>
              <a:t>3.28</a:t>
            </a:r>
          </a:p>
          <a:p>
            <a:r>
              <a:rPr lang="en-US" altLang="zh-CN" dirty="0"/>
              <a:t>3.30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863E39-6695-41D9-85F8-B67C0D1498D3}"/>
              </a:ext>
            </a:extLst>
          </p:cNvPr>
          <p:cNvSpPr txBox="1"/>
          <p:nvPr/>
        </p:nvSpPr>
        <p:spPr>
          <a:xfrm>
            <a:off x="3647728" y="1624352"/>
            <a:ext cx="9591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3.31</a:t>
            </a:r>
          </a:p>
          <a:p>
            <a:r>
              <a:rPr lang="zh-CN" altLang="zh-CN" dirty="0"/>
              <a:t>3</a:t>
            </a:r>
            <a:r>
              <a:rPr lang="en-US" altLang="zh-CN" dirty="0"/>
              <a:t>.33</a:t>
            </a:r>
          </a:p>
          <a:p>
            <a:r>
              <a:rPr lang="zh-CN" altLang="zh-CN" dirty="0"/>
              <a:t>3</a:t>
            </a:r>
            <a:r>
              <a:rPr lang="en-US" altLang="zh-CN" dirty="0"/>
              <a:t>.34</a:t>
            </a:r>
          </a:p>
          <a:p>
            <a:r>
              <a:rPr lang="en-US" altLang="zh-CN" dirty="0"/>
              <a:t>3.41</a:t>
            </a:r>
          </a:p>
          <a:p>
            <a:r>
              <a:rPr lang="en-US" altLang="zh-CN" dirty="0"/>
              <a:t>3.43</a:t>
            </a:r>
          </a:p>
        </p:txBody>
      </p:sp>
    </p:spTree>
    <p:extLst>
      <p:ext uri="{BB962C8B-B14F-4D97-AF65-F5344CB8AC3E}">
        <p14:creationId xmlns:p14="http://schemas.microsoft.com/office/powerpoint/2010/main" val="1779030655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华文琥珀"/>
        <a:cs typeface=""/>
      </a:majorFont>
      <a:minorFont>
        <a:latin typeface="Tahoma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7071</TotalTime>
  <Words>2774</Words>
  <Application>Microsoft Office PowerPoint</Application>
  <PresentationFormat>宽屏</PresentationFormat>
  <Paragraphs>709</Paragraphs>
  <Slides>68</Slides>
  <Notes>18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68</vt:i4>
      </vt:variant>
    </vt:vector>
  </HeadingPairs>
  <TitlesOfParts>
    <vt:vector size="82" baseType="lpstr">
      <vt:lpstr>CourierPS</vt:lpstr>
      <vt:lpstr>华文琥珀</vt:lpstr>
      <vt:lpstr>隶书</vt:lpstr>
      <vt:lpstr>宋体</vt:lpstr>
      <vt:lpstr>Arial</vt:lpstr>
      <vt:lpstr>Franklin Gothic Book</vt:lpstr>
      <vt:lpstr>Garamond</vt:lpstr>
      <vt:lpstr>Tahoma</vt:lpstr>
      <vt:lpstr>Times New Roman</vt:lpstr>
      <vt:lpstr>Verdana</vt:lpstr>
      <vt:lpstr>Wingdings</vt:lpstr>
      <vt:lpstr>Blends</vt:lpstr>
      <vt:lpstr>Equation</vt:lpstr>
      <vt:lpstr>VISIO</vt:lpstr>
      <vt:lpstr>PowerPoint 演示文稿</vt:lpstr>
      <vt:lpstr>第二章复习</vt:lpstr>
      <vt:lpstr>第三章内容</vt:lpstr>
      <vt:lpstr>3.1 MOS晶体管</vt:lpstr>
      <vt:lpstr>N型MOS晶体管</vt:lpstr>
      <vt:lpstr>P型MOS晶体管</vt:lpstr>
      <vt:lpstr>3.2逻辑门</vt:lpstr>
      <vt:lpstr>非门(NOT Gate)</vt:lpstr>
      <vt:lpstr>或非门(NOR Gate)</vt:lpstr>
      <vt:lpstr>或门(OR Gate)</vt:lpstr>
      <vt:lpstr>与非门(NAND Gate)</vt:lpstr>
      <vt:lpstr>与门(AND Gate)</vt:lpstr>
      <vt:lpstr>基本逻辑门</vt:lpstr>
      <vt:lpstr>摩根定律</vt:lpstr>
      <vt:lpstr>多输入门</vt:lpstr>
      <vt:lpstr>逻辑完备性</vt:lpstr>
      <vt:lpstr>习题</vt:lpstr>
      <vt:lpstr>3.3组合逻辑</vt:lpstr>
      <vt:lpstr>时序逻辑电路</vt:lpstr>
      <vt:lpstr>译码器Decoder</vt:lpstr>
      <vt:lpstr>PowerPoint 演示文稿</vt:lpstr>
      <vt:lpstr>多路复用器Multiplexer (MUX)</vt:lpstr>
      <vt:lpstr>PowerPoint 演示文稿</vt:lpstr>
      <vt:lpstr>全加器Full Adder</vt:lpstr>
      <vt:lpstr>PowerPoint 演示文稿</vt:lpstr>
      <vt:lpstr>4-bit加法器</vt:lpstr>
      <vt:lpstr>可编程逻辑阵列</vt:lpstr>
      <vt:lpstr>习题</vt:lpstr>
      <vt:lpstr>3.4存储单元</vt:lpstr>
      <vt:lpstr>R-S锁存器</vt:lpstr>
      <vt:lpstr>保持</vt:lpstr>
      <vt:lpstr>清0</vt:lpstr>
      <vt:lpstr>置1</vt:lpstr>
      <vt:lpstr>R-S锁存器</vt:lpstr>
      <vt:lpstr>R-S锁存器的特点</vt:lpstr>
      <vt:lpstr>门控D锁存器</vt:lpstr>
      <vt:lpstr>寄存器</vt:lpstr>
      <vt:lpstr>多位数据表示</vt:lpstr>
      <vt:lpstr>主从锁存器</vt:lpstr>
      <vt:lpstr>3.5内存的概念</vt:lpstr>
      <vt:lpstr>22 x 3-bit内存</vt:lpstr>
      <vt:lpstr>PowerPoint 演示文稿</vt:lpstr>
      <vt:lpstr>3.6时序电路</vt:lpstr>
      <vt:lpstr>时序与组合</vt:lpstr>
      <vt:lpstr>状态</vt:lpstr>
      <vt:lpstr>有限状态机</vt:lpstr>
      <vt:lpstr>状态图</vt:lpstr>
      <vt:lpstr>状态图</vt:lpstr>
      <vt:lpstr>PowerPoint 演示文稿</vt:lpstr>
      <vt:lpstr>PowerPoint 演示文稿</vt:lpstr>
      <vt:lpstr>状态表</vt:lpstr>
      <vt:lpstr>PowerPoint 演示文稿</vt:lpstr>
      <vt:lpstr>PowerPoint 演示文稿</vt:lpstr>
      <vt:lpstr>密码锁状态</vt:lpstr>
      <vt:lpstr>状态图</vt:lpstr>
      <vt:lpstr>时钟</vt:lpstr>
      <vt:lpstr>有限状态机的实现</vt:lpstr>
      <vt:lpstr>例子</vt:lpstr>
      <vt:lpstr>状态图</vt:lpstr>
      <vt:lpstr>真值表</vt:lpstr>
      <vt:lpstr>逻辑实现</vt:lpstr>
      <vt:lpstr>存储单元: 主从锁存器</vt:lpstr>
      <vt:lpstr>从逻辑电路到数据通路</vt:lpstr>
      <vt:lpstr>LC-3 数据通路</vt:lpstr>
      <vt:lpstr>3.7 LC-3计算机的数据通路</vt:lpstr>
      <vt:lpstr>习题</vt:lpstr>
      <vt:lpstr>小结</vt:lpstr>
      <vt:lpstr>PowerPoint 演示文稿</vt:lpstr>
    </vt:vector>
  </TitlesOfParts>
  <Company>深圳大学信息工程学院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计算机系统(1)</dc:title>
  <dc:subject>第1章 计算机系统概述</dc:subject>
  <dc:creator>王志强</dc:creator>
  <cp:lastModifiedBy>Li Zhi</cp:lastModifiedBy>
  <cp:revision>427</cp:revision>
  <cp:lastPrinted>1601-01-01T00:00:00Z</cp:lastPrinted>
  <dcterms:created xsi:type="dcterms:W3CDTF">2003-05-17T02:00:08Z</dcterms:created>
  <dcterms:modified xsi:type="dcterms:W3CDTF">2022-03-13T12:54:21Z</dcterms:modified>
</cp:coreProperties>
</file>