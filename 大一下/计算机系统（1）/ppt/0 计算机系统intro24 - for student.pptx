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374" r:id="rId5"/>
    <p:sldId id="313" r:id="rId6"/>
    <p:sldId id="380" r:id="rId7"/>
    <p:sldId id="355" r:id="rId8"/>
    <p:sldId id="314" r:id="rId9"/>
    <p:sldId id="258" r:id="rId10"/>
    <p:sldId id="336" r:id="rId11"/>
    <p:sldId id="281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607" y="62"/>
      </p:cViewPr>
      <p:guideLst>
        <p:guide orient="horz" pos="21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000" y="3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29055-8922-4ECD-B04E-6C77A50E2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E1249-8978-4ED5-A65B-8C8F6E1918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A873-BBD4-4E22-B7BB-A6CD4DD9414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1F45-10A3-470E-9F36-65C2F1A16A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367D9-C871-4E9B-A94C-56135C8643E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C01A-7CB0-49CD-B0C9-362724711D0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88E6B-FA50-40FE-B7C1-490849CB09E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DE0-35BD-49D3-A260-D9E2A11726D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0F8AD-F108-4C56-8446-7DB2D5D8C49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63938-82E1-4A84-8BBB-41EF73310B0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0DCA1-C1EB-4865-8882-648698304EE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085C-8111-434C-90DA-855DE97C51C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2D1C-C19B-415D-8C7B-557BEAB58CD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F67F-97E6-472C-8A7B-F8D7DE5692B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D713-AA48-4C7D-8734-9895E3DF0C9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1AAA-F23A-4DA9-8CE5-66B4F19B1A1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D1169-731C-44A9-BBD1-06E32884AC4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3AD8A-74AB-4F95-9A32-1ED53C29D76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184" y="71438"/>
            <a:ext cx="117856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201F7-3FDF-4466-AC03-8BB8E78B2861}" type="datetime1">
              <a:rPr lang="zh-CN" altLang="en-US" smtClean="0"/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50A1C-12C6-4A7C-AE2F-02F7D9C5AA7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4B949-E4EB-4049-803F-25A417D7586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lizhi@szu.edu.c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mhhe.com/patt2" TargetMode="Externa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users.ece.utexas.edu/~patt/19f.306/" TargetMode="External"/><Relationship Id="rId2" Type="http://schemas.openxmlformats.org/officeDocument/2006/relationships/hyperlink" Target="http://blog.sina.com.cn/s/blog_8045484c0100t9ld.html" TargetMode="External"/><Relationship Id="rId1" Type="http://schemas.openxmlformats.org/officeDocument/2006/relationships/hyperlink" Target="http://acsa.ustc.edu.cn/ics/index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计算机系统概论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2024.3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教师简介</a:t>
            </a:r>
            <a:endParaRPr lang="zh-CN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李志</a:t>
            </a:r>
            <a:endParaRPr lang="en-US" altLang="zh-CN" dirty="0"/>
          </a:p>
          <a:p>
            <a:r>
              <a:rPr lang="en-US" altLang="zh-CN" dirty="0">
                <a:hlinkClick r:id="rId1"/>
              </a:rPr>
              <a:t>lizhi@szu.edu.cn</a:t>
            </a:r>
            <a:endParaRPr lang="en-US" altLang="zh-CN" dirty="0"/>
          </a:p>
          <a:p>
            <a:r>
              <a:rPr lang="zh-CN" altLang="en-US" dirty="0"/>
              <a:t>计算机楼</a:t>
            </a:r>
            <a:r>
              <a:rPr lang="en-US" altLang="zh-CN" dirty="0"/>
              <a:t>1029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加入课程群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入群</a:t>
            </a:r>
            <a:endParaRPr lang="zh-CN" altLang="en-US"/>
          </a:p>
          <a:p>
            <a:pPr lvl="1"/>
            <a:r>
              <a:rPr lang="en-US" altLang="zh-CN"/>
              <a:t>BLACKBOARD</a:t>
            </a:r>
            <a:r>
              <a:rPr lang="zh-CN" altLang="en-US"/>
              <a:t>通告中有群</a:t>
            </a:r>
            <a:r>
              <a:rPr lang="zh-CN" altLang="en-US"/>
              <a:t>二维码</a:t>
            </a:r>
            <a:endParaRPr lang="zh-CN" altLang="en-US"/>
          </a:p>
          <a:p>
            <a:pPr lvl="1"/>
            <a:r>
              <a:rPr lang="zh-CN" altLang="en-US"/>
              <a:t>修改群昵称：</a:t>
            </a:r>
            <a:r>
              <a:rPr lang="en-US" altLang="zh-CN"/>
              <a:t>2023xxxxxx+</a:t>
            </a:r>
            <a:r>
              <a:rPr lang="zh-CN" altLang="en-US"/>
              <a:t>姓名</a:t>
            </a:r>
            <a:endParaRPr lang="zh-CN" altLang="en-US"/>
          </a:p>
          <a:p>
            <a:pPr lvl="1"/>
            <a:endParaRPr lang="zh-CN" altLang="en-US"/>
          </a:p>
          <a:p>
            <a:pPr marL="342900" lvl="0" indent="-342900">
              <a:buFont typeface="Wingdings 3" panose="05040102010807070707" charset="0"/>
              <a:buChar char="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QQ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群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buFont typeface="Wingdings 3" panose="05040102010807070707" charset="0"/>
              <a:buChar char=""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联系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buFont typeface="Wingdings 3" panose="05040102010807070707" charset="0"/>
              <a:buChar char=""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答疑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8895" y="1330325"/>
            <a:ext cx="8915400" cy="5403850"/>
          </a:xfrm>
        </p:spPr>
        <p:txBody>
          <a:bodyPr>
            <a:normAutofit/>
          </a:bodyPr>
          <a:lstStyle/>
          <a:p>
            <a:r>
              <a:rPr lang="en-US" altLang="zh-CN" dirty="0"/>
              <a:t>Blackboard 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课件，实验要求，提交</a:t>
            </a:r>
            <a:r>
              <a:rPr lang="zh-CN" altLang="en-US" dirty="0"/>
              <a:t>实验报告等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QQ</a:t>
            </a:r>
            <a:r>
              <a:rPr lang="zh-CN" altLang="en-US" dirty="0"/>
              <a:t>群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联系，答疑等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助教</a:t>
            </a:r>
            <a:endParaRPr lang="zh-CN" altLang="en-US" dirty="0"/>
          </a:p>
          <a:p>
            <a:pPr marL="914400" lvl="2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答案与</a:t>
            </a:r>
            <a:r>
              <a:rPr lang="zh-CN" altLang="en-US"/>
              <a:t>勘误表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89810" y="1967865"/>
            <a:ext cx="8911590" cy="292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dirty="0"/>
              <a:t>相关资料：附录</a:t>
            </a:r>
            <a:r>
              <a:rPr lang="en-US" altLang="zh-CN" sz="2400" dirty="0"/>
              <a:t>F</a:t>
            </a:r>
            <a:r>
              <a:rPr lang="zh-CN" altLang="en-US" sz="2400" dirty="0"/>
              <a:t>（课本</a:t>
            </a:r>
            <a:r>
              <a:rPr lang="en-US" altLang="zh-CN" sz="2400" dirty="0"/>
              <a:t>XXV</a:t>
            </a:r>
            <a:r>
              <a:rPr lang="zh-CN" altLang="en-US" sz="2400" dirty="0"/>
              <a:t>最后一行）</a:t>
            </a:r>
            <a:endParaRPr lang="en-US" altLang="zh-CN" sz="2400" dirty="0"/>
          </a:p>
          <a:p>
            <a:pPr algn="l"/>
            <a:r>
              <a:rPr lang="en-US" altLang="zh-CN" sz="2400" dirty="0">
                <a:hlinkClick r:id="rId2"/>
              </a:rPr>
              <a:t>http://www.mhhe.com/patt2</a:t>
            </a:r>
            <a:endParaRPr lang="en-US" altLang="zh-CN" sz="2400" dirty="0"/>
          </a:p>
          <a:p>
            <a:pPr algn="l"/>
            <a:r>
              <a:rPr lang="en-US" altLang="zh-CN" sz="2400" dirty="0"/>
              <a:t>(https://highered.mheducation.com/sites/0072467509/index.html)</a:t>
            </a:r>
            <a:endParaRPr lang="en-US" altLang="zh-CN" sz="2400" dirty="0"/>
          </a:p>
          <a:p>
            <a:pPr indent="457200" algn="l"/>
            <a:r>
              <a:rPr lang="en-US" altLang="zh-CN" sz="2400" dirty="0">
                <a:sym typeface="+mn-ea"/>
              </a:rPr>
              <a:t>Selected solution</a:t>
            </a:r>
            <a:endParaRPr lang="zh-CN" altLang="en-US" sz="2400" dirty="0">
              <a:sym typeface="+mn-ea"/>
            </a:endParaRPr>
          </a:p>
          <a:p>
            <a:pPr indent="457200" algn="l"/>
            <a:r>
              <a:rPr lang="zh-CN" altLang="en-US" sz="2400" dirty="0">
                <a:sym typeface="+mn-ea"/>
              </a:rPr>
              <a:t>勘误表</a:t>
            </a:r>
            <a:r>
              <a:rPr lang="en-US" altLang="zh-CN" sz="2400" dirty="0">
                <a:sym typeface="+mn-ea"/>
              </a:rPr>
              <a:t> Errata Page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课程考核</a:t>
            </a:r>
            <a:endParaRPr lang="zh-CN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81200" y="1481329"/>
            <a:ext cx="8579296" cy="4525963"/>
          </a:xfrm>
        </p:spPr>
        <p:txBody>
          <a:bodyPr/>
          <a:lstStyle/>
          <a:p>
            <a:r>
              <a:rPr lang="zh-CN" altLang="en-US" dirty="0"/>
              <a:t>作业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总成绩＝作业×</a:t>
            </a:r>
            <a:r>
              <a:rPr lang="en-US" altLang="zh-CN" dirty="0"/>
              <a:t>20%</a:t>
            </a:r>
            <a:r>
              <a:rPr lang="zh-CN" altLang="zh-CN" dirty="0"/>
              <a:t>＋实验×</a:t>
            </a:r>
            <a:r>
              <a:rPr lang="en-US" altLang="zh-CN" dirty="0"/>
              <a:t>20%</a:t>
            </a:r>
            <a:r>
              <a:rPr lang="zh-CN" altLang="zh-CN" dirty="0"/>
              <a:t>＋期末</a:t>
            </a:r>
            <a:r>
              <a:rPr lang="zh-CN" altLang="en-US" dirty="0"/>
              <a:t>考试</a:t>
            </a:r>
            <a:r>
              <a:rPr lang="zh-CN" altLang="zh-CN" dirty="0"/>
              <a:t>×</a:t>
            </a:r>
            <a:r>
              <a:rPr lang="en-US" altLang="zh-CN" dirty="0"/>
              <a:t>60%</a:t>
            </a:r>
            <a:endParaRPr lang="en-US" altLang="zh-CN" dirty="0"/>
          </a:p>
          <a:p>
            <a:pPr lvl="1"/>
            <a:r>
              <a:rPr lang="zh-CN" altLang="en-US" dirty="0"/>
              <a:t>作业包括每一章的作业以及课上随机联系作业</a:t>
            </a:r>
            <a:endParaRPr lang="zh-CN" altLang="en-US" dirty="0"/>
          </a:p>
          <a:p>
            <a:pPr lvl="1"/>
            <a:r>
              <a:rPr lang="zh-CN" altLang="en-US" dirty="0"/>
              <a:t>实验包括演示和实验报告。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本课程特点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帮助本科生建立软件与硬件联系的课程</a:t>
            </a:r>
            <a:endParaRPr lang="en-US" altLang="zh-CN" dirty="0"/>
          </a:p>
          <a:p>
            <a:pPr lvl="1"/>
            <a:r>
              <a:rPr lang="zh-CN" altLang="en-US" dirty="0"/>
              <a:t>学生们无法清楚地解释指针变量的硬件实现；</a:t>
            </a:r>
            <a:endParaRPr lang="en-US" altLang="zh-CN" dirty="0"/>
          </a:p>
          <a:p>
            <a:pPr lvl="1"/>
            <a:r>
              <a:rPr lang="zh-CN" altLang="en-US" dirty="0"/>
              <a:t>而栈、递归概念更像是在“变魔术”</a:t>
            </a:r>
            <a:endParaRPr lang="en-US" altLang="zh-CN" dirty="0"/>
          </a:p>
          <a:p>
            <a:pPr lvl="1"/>
            <a:endParaRPr lang="en-US" altLang="zh-CN" dirty="0"/>
          </a:p>
          <a:p>
            <a:pPr indent="-285750"/>
            <a:r>
              <a:rPr lang="zh-CN" altLang="en-US" dirty="0"/>
              <a:t>入门基础课程</a:t>
            </a:r>
            <a:endParaRPr lang="en-US" altLang="zh-CN" dirty="0"/>
          </a:p>
          <a:p>
            <a:pPr lvl="1"/>
            <a:r>
              <a:rPr lang="zh-CN" altLang="en-US" dirty="0"/>
              <a:t>基础知识广</a:t>
            </a:r>
            <a:endParaRPr lang="en-US" altLang="zh-CN" dirty="0"/>
          </a:p>
          <a:p>
            <a:pPr lvl="1"/>
            <a:r>
              <a:rPr lang="zh-CN" altLang="en-US" dirty="0"/>
              <a:t>难度低</a:t>
            </a:r>
            <a:endParaRPr lang="en-US" altLang="zh-CN" dirty="0"/>
          </a:p>
          <a:p>
            <a:pPr indent="-285750"/>
            <a:endParaRPr lang="en-US" altLang="zh-CN" dirty="0"/>
          </a:p>
          <a:p>
            <a:pPr indent="-285750"/>
            <a:r>
              <a:rPr lang="zh-CN" altLang="en-US" dirty="0"/>
              <a:t>理论与实验 </a:t>
            </a:r>
            <a:endParaRPr lang="en-US" altLang="zh-CN" dirty="0"/>
          </a:p>
          <a:p>
            <a:pPr lvl="1"/>
            <a:r>
              <a:rPr lang="en-US" altLang="zh-CN" dirty="0"/>
              <a:t>3-1</a:t>
            </a:r>
            <a:endParaRPr lang="en-US" altLang="zh-CN" dirty="0"/>
          </a:p>
          <a:p>
            <a:pPr lvl="1"/>
            <a:r>
              <a:rPr lang="en-US" altLang="zh-CN" dirty="0"/>
              <a:t>LC-3</a:t>
            </a:r>
            <a:r>
              <a:rPr lang="zh-CN" altLang="en-US" dirty="0"/>
              <a:t>软件模拟器</a:t>
            </a:r>
            <a:r>
              <a:rPr lang="en-US" altLang="zh-CN" dirty="0"/>
              <a:t>/</a:t>
            </a:r>
            <a:r>
              <a:rPr lang="zh-CN" altLang="en-US" dirty="0"/>
              <a:t>汇编器</a:t>
            </a:r>
            <a:endParaRPr lang="en-US" altLang="zh-CN" dirty="0"/>
          </a:p>
          <a:p>
            <a:pPr indent="-285750"/>
            <a:endParaRPr lang="en-US" altLang="zh-CN" dirty="0"/>
          </a:p>
          <a:p>
            <a:pPr marL="5715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类似课程</a:t>
            </a:r>
            <a:endParaRPr lang="zh-CN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中国科学技术大学，计算机系统概论，</a:t>
            </a:r>
            <a:r>
              <a:rPr lang="en-US" altLang="zh-CN" dirty="0">
                <a:hlinkClick r:id="rId1"/>
              </a:rPr>
              <a:t>http://acsa.ustc.edu.cn/ics/index.html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上海交通大学大学，计算机系统概论，</a:t>
            </a:r>
            <a:r>
              <a:rPr lang="en-US" altLang="zh-CN" dirty="0">
                <a:hlinkClick r:id="rId2"/>
              </a:rPr>
              <a:t>http://blog.sina.com.cn/s/blog_8045484c0100t9ld.html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The University of Texas at Austin</a:t>
            </a:r>
            <a:r>
              <a:rPr lang="zh-CN" altLang="en-US" b="1" dirty="0"/>
              <a:t>，</a:t>
            </a:r>
            <a:r>
              <a:rPr lang="en-US" altLang="zh-CN" b="1" dirty="0" err="1"/>
              <a:t>Introcution</a:t>
            </a:r>
            <a:r>
              <a:rPr lang="en-US" altLang="zh-CN" b="1" dirty="0"/>
              <a:t> to Computing Systems</a:t>
            </a:r>
            <a:r>
              <a:rPr lang="zh-CN" altLang="en-US" b="1" dirty="0"/>
              <a:t>，</a:t>
            </a:r>
            <a:r>
              <a:rPr lang="en-US" altLang="zh-CN" b="1" dirty="0">
                <a:hlinkClick r:id="rId3"/>
              </a:rPr>
              <a:t>http://users.ece.utexas.edu/~patt/19f.306/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endParaRPr lang="en-US" altLang="zh-CN" b="1" dirty="0"/>
          </a:p>
          <a:p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相关课程</a:t>
            </a:r>
            <a:r>
              <a:rPr lang="zh-CN" altLang="en-US" dirty="0"/>
              <a:t>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999B0-9D43-4CFD-A9ED-D79311275AB6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Patt</a:t>
            </a:r>
            <a:r>
              <a:rPr lang="zh-CN" altLang="en-US" dirty="0"/>
              <a:t>教授讲课视频</a:t>
            </a:r>
            <a:endParaRPr lang="en-US" altLang="zh-CN" dirty="0"/>
          </a:p>
          <a:p>
            <a:pPr lvl="1"/>
            <a:r>
              <a:rPr lang="en-US" altLang="zh-CN" dirty="0"/>
              <a:t>http://i.youku.com/i/UMzYyMjg2NjQ4?spm=a2hzp.8253876.0.0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marL="342900" lvl="0" indent="-342900">
              <a:buFont typeface="Wingdings 3" panose="05040102010807070707" charset="0"/>
              <a:buChar char="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英文教材（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仅供参考）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buFont typeface="Wingdings 3" panose="05040102010807070707" charset="0"/>
              <a:buChar char="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https://icourse.club/uploads/files/96a2b94d4be48285f2605d843a1e6db37da9a944.pdf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45" name="Rectangle 41"/>
          <p:cNvSpPr>
            <a:spLocks noGrp="1" noChangeArrowheads="1"/>
          </p:cNvSpPr>
          <p:nvPr>
            <p:ph type="title"/>
          </p:nvPr>
        </p:nvSpPr>
        <p:spPr>
          <a:xfrm>
            <a:off x="294217" y="1"/>
            <a:ext cx="11582400" cy="720725"/>
          </a:xfrm>
          <a:noFill/>
        </p:spPr>
        <p:txBody>
          <a:bodyPr anchor="b"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《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计算机系统概论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》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教材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26454" name="Group 150"/>
          <p:cNvGrpSpPr/>
          <p:nvPr/>
        </p:nvGrpSpPr>
        <p:grpSpPr bwMode="auto">
          <a:xfrm>
            <a:off x="5892800" y="1295401"/>
            <a:ext cx="4809067" cy="3281363"/>
            <a:chOff x="2920" y="864"/>
            <a:chExt cx="2272" cy="2067"/>
          </a:xfrm>
        </p:grpSpPr>
        <p:sp>
          <p:nvSpPr>
            <p:cNvPr id="226451" name="Text Box 147"/>
            <p:cNvSpPr txBox="1">
              <a:spLocks noChangeArrowheads="1"/>
            </p:cNvSpPr>
            <p:nvPr/>
          </p:nvSpPr>
          <p:spPr bwMode="auto">
            <a:xfrm>
              <a:off x="2920" y="2175"/>
              <a:ext cx="2272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Yale N.Patt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  <a:p>
              <a:r>
                <a:rPr lang="zh-CN" altLang="en-US" b="1">
                  <a:latin typeface="Times New Roman" panose="02020603050405020304" pitchFamily="18" charset="0"/>
                </a:rPr>
                <a:t>得克萨斯大学奥斯汀分校</a:t>
              </a:r>
              <a:endParaRPr lang="zh-CN" altLang="en-US" b="1">
                <a:latin typeface="Times New Roman" panose="02020603050405020304" pitchFamily="18" charset="0"/>
              </a:endParaRPr>
            </a:p>
            <a:p>
              <a:r>
                <a:rPr lang="zh-CN" altLang="en-US" b="1">
                  <a:latin typeface="Times New Roman" panose="02020603050405020304" pitchFamily="18" charset="0"/>
                </a:rPr>
                <a:t>计算机体系结构实验室</a:t>
              </a:r>
              <a:endParaRPr lang="zh-CN" altLang="en-US" b="1">
                <a:latin typeface="Times New Roman" panose="02020603050405020304" pitchFamily="18" charset="0"/>
              </a:endParaRPr>
            </a:p>
            <a:p>
              <a:r>
                <a:rPr lang="en-US" altLang="zh-CN" b="1">
                  <a:latin typeface="Times New Roman" panose="02020603050405020304" pitchFamily="18" charset="0"/>
                </a:rPr>
                <a:t>IEEE→</a:t>
              </a:r>
              <a:r>
                <a:rPr lang="zh-CN" altLang="en-US" b="1">
                  <a:latin typeface="Times New Roman" panose="02020603050405020304" pitchFamily="18" charset="0"/>
                </a:rPr>
                <a:t>美国计算机界的卓越泰斗</a:t>
              </a:r>
              <a:r>
                <a:rPr lang="en-US" altLang="zh-CN" b="1">
                  <a:latin typeface="Times New Roman" panose="02020603050405020304" pitchFamily="18" charset="0"/>
                </a:rPr>
                <a:t>(luminary)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pic>
          <p:nvPicPr>
            <p:cNvPr id="226452" name="Picture 14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1" y="864"/>
              <a:ext cx="1451" cy="1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6455" name="Group 151"/>
          <p:cNvGrpSpPr/>
          <p:nvPr/>
        </p:nvGrpSpPr>
        <p:grpSpPr bwMode="auto">
          <a:xfrm>
            <a:off x="1767418" y="1301750"/>
            <a:ext cx="4157133" cy="4629150"/>
            <a:chOff x="915" y="868"/>
            <a:chExt cx="1964" cy="2916"/>
          </a:xfrm>
        </p:grpSpPr>
        <p:pic>
          <p:nvPicPr>
            <p:cNvPr id="226450" name="Picture 14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" y="868"/>
              <a:ext cx="1349" cy="19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6453" name="Text Box 149"/>
            <p:cNvSpPr txBox="1">
              <a:spLocks noChangeArrowheads="1"/>
            </p:cNvSpPr>
            <p:nvPr/>
          </p:nvSpPr>
          <p:spPr bwMode="auto">
            <a:xfrm>
              <a:off x="915" y="2853"/>
              <a:ext cx="1964" cy="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/>
                <a:t>密歇根大学</a:t>
              </a:r>
              <a:endParaRPr lang="zh-CN" altLang="en-US" b="1"/>
            </a:p>
            <a:p>
              <a:r>
                <a:rPr lang="zh-CN" altLang="en-US" b="1"/>
                <a:t>得克萨斯大学</a:t>
              </a:r>
              <a:endParaRPr lang="zh-CN" altLang="en-US" b="1"/>
            </a:p>
            <a:p>
              <a:r>
                <a:rPr lang="zh-CN" altLang="en-US" b="1"/>
                <a:t>明尼苏达大学</a:t>
              </a:r>
              <a:endParaRPr lang="zh-CN" altLang="en-US" b="1"/>
            </a:p>
            <a:p>
              <a:r>
                <a:rPr lang="zh-CN" altLang="en-US" b="1"/>
                <a:t>伊利诺伊大学</a:t>
              </a:r>
              <a:endParaRPr lang="zh-CN" altLang="en-US" b="1"/>
            </a:p>
            <a:p>
              <a:r>
                <a:rPr lang="zh-CN" altLang="en-US" b="1"/>
                <a:t>佐治亚理工学院</a:t>
              </a:r>
              <a:r>
                <a:rPr lang="en-US" altLang="zh-CN" b="1"/>
                <a:t>…</a:t>
              </a:r>
              <a:endParaRPr lang="en-US" altLang="zh-CN" b="1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E50A1C-12C6-4A7C-AE2F-02F7D9C5AA7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6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6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6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26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428723a7-137f-46ed-a8fd-029d42ec07cc"/>
  <p:tag name="COMMONDATA" val="eyJoZGlkIjoiMjMxMzY4ZGM5NTE1OTFkZjU0ODAyMTY4MmM1MmQxN2MifQ==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949</Words>
  <Application>WPS 演示</Application>
  <PresentationFormat>宽屏</PresentationFormat>
  <Paragraphs>124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Wingdings 3</vt:lpstr>
      <vt:lpstr>Arial</vt:lpstr>
      <vt:lpstr>Wingdings 3</vt:lpstr>
      <vt:lpstr>幼圆</vt:lpstr>
      <vt:lpstr>Century Gothic</vt:lpstr>
      <vt:lpstr>微软雅黑</vt:lpstr>
      <vt:lpstr>Arial Unicode MS</vt:lpstr>
      <vt:lpstr>Calibri</vt:lpstr>
      <vt:lpstr>Times New Roman</vt:lpstr>
      <vt:lpstr>黑体</vt:lpstr>
      <vt:lpstr>Monotype Sorts</vt:lpstr>
      <vt:lpstr>Wingdings</vt:lpstr>
      <vt:lpstr>Courier New</vt:lpstr>
      <vt:lpstr>Courier</vt:lpstr>
      <vt:lpstr>丝状</vt:lpstr>
      <vt:lpstr>计算机系统概论</vt:lpstr>
      <vt:lpstr>教师简介</vt:lpstr>
      <vt:lpstr>加入课程群</vt:lpstr>
      <vt:lpstr>相关事项</vt:lpstr>
      <vt:lpstr>答案与勘误表</vt:lpstr>
      <vt:lpstr>课程考核</vt:lpstr>
      <vt:lpstr>本课程特点</vt:lpstr>
      <vt:lpstr>类似课程</vt:lpstr>
      <vt:lpstr>相关课程信息</vt:lpstr>
      <vt:lpstr>《计算机系统概论》教材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计算机系统概论</dc:title>
  <dc:creator>Windows User</dc:creator>
  <cp:lastModifiedBy>Zhi</cp:lastModifiedBy>
  <cp:revision>76</cp:revision>
  <dcterms:created xsi:type="dcterms:W3CDTF">2016-02-28T12:18:00Z</dcterms:created>
  <dcterms:modified xsi:type="dcterms:W3CDTF">2024-03-07T14:44:34Z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FCC9D96F60A1412D910F00E5B81B9DDC</vt:lpwstr>
  </property>
  <property fmtid="{D5CDD505-2E9C-101B-9397-08002B2CF9AE}" pid="3" name="KSOProductBuildVer">
    <vt:lpwstr>2052-12.1.0.16399</vt:lpwstr>
  </property>
</Properties>
</file>