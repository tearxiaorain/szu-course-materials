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0"/>
  </p:handoutMasterIdLst>
  <p:sldIdLst>
    <p:sldId id="258" r:id="rId3"/>
    <p:sldId id="273" r:id="rId5"/>
    <p:sldId id="329" r:id="rId6"/>
    <p:sldId id="296" r:id="rId7"/>
    <p:sldId id="343" r:id="rId8"/>
    <p:sldId id="344" r:id="rId9"/>
    <p:sldId id="355" r:id="rId10"/>
    <p:sldId id="346" r:id="rId11"/>
    <p:sldId id="356" r:id="rId12"/>
    <p:sldId id="371" r:id="rId13"/>
    <p:sldId id="372" r:id="rId14"/>
    <p:sldId id="373" r:id="rId15"/>
    <p:sldId id="374" r:id="rId16"/>
    <p:sldId id="347" r:id="rId17"/>
    <p:sldId id="357" r:id="rId18"/>
    <p:sldId id="358" r:id="rId19"/>
    <p:sldId id="359" r:id="rId20"/>
    <p:sldId id="348" r:id="rId21"/>
    <p:sldId id="349" r:id="rId22"/>
    <p:sldId id="350" r:id="rId23"/>
    <p:sldId id="351" r:id="rId24"/>
    <p:sldId id="352" r:id="rId25"/>
    <p:sldId id="353" r:id="rId26"/>
    <p:sldId id="354" r:id="rId27"/>
    <p:sldId id="342" r:id="rId28"/>
    <p:sldId id="304" r:id="rId29"/>
  </p:sldIdLst>
  <p:sldSz cx="12192000" cy="6858000"/>
  <p:notesSz cx="6668770" cy="9926320"/>
  <p:defaultTextStyle>
    <a:defPPr>
      <a:defRPr lang="en-US"/>
    </a:defPPr>
    <a:lvl1pPr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CCFFFF"/>
    <a:srgbClr val="0000FF"/>
    <a:srgbClr val="333333"/>
    <a:srgbClr val="FF0000"/>
    <a:srgbClr val="FF9933"/>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78" autoAdjust="0"/>
    <p:restoredTop sz="96636" autoAdjust="0"/>
  </p:normalViewPr>
  <p:slideViewPr>
    <p:cSldViewPr>
      <p:cViewPr varScale="1">
        <p:scale>
          <a:sx n="76" d="100"/>
          <a:sy n="76" d="100"/>
        </p:scale>
        <p:origin x="1642" y="58"/>
      </p:cViewPr>
      <p:guideLst>
        <p:guide orient="horz" pos="2160"/>
        <p:guide pos="384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varScale="1">
      <p:scale>
        <a:sx n="1" d="1"/>
        <a:sy n="1" d="1"/>
      </p:scale>
      <p:origin x="0" y="0"/>
    </p:cViewPr>
  </p:sorterViewPr>
  <p:notesViewPr>
    <p:cSldViewPr>
      <p:cViewPr>
        <p:scale>
          <a:sx n="100" d="100"/>
          <a:sy n="100" d="100"/>
        </p:scale>
        <p:origin x="-1674" y="-60"/>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454025" y="298450"/>
            <a:ext cx="2889250" cy="496888"/>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r>
              <a:rPr lang="zh-CN" altLang="en-US"/>
              <a:t>《计算机系统(1)》</a:t>
            </a:r>
            <a:endParaRPr lang="zh-CN" altLang="en-US"/>
          </a:p>
        </p:txBody>
      </p:sp>
      <p:sp>
        <p:nvSpPr>
          <p:cNvPr id="143363" name="Rectangle 3"/>
          <p:cNvSpPr>
            <a:spLocks noGrp="1" noChangeArrowheads="1"/>
          </p:cNvSpPr>
          <p:nvPr>
            <p:ph type="dt" sz="quarter" idx="1"/>
          </p:nvPr>
        </p:nvSpPr>
        <p:spPr bwMode="auto">
          <a:xfrm>
            <a:off x="3333750" y="298450"/>
            <a:ext cx="2889250" cy="496888"/>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r>
              <a:rPr lang="zh-CN" altLang="en-US"/>
              <a:t>第1章 计算机系统概述</a:t>
            </a:r>
            <a:endParaRPr lang="en-US" altLang="zh-CN"/>
          </a:p>
        </p:txBody>
      </p:sp>
      <p:sp>
        <p:nvSpPr>
          <p:cNvPr id="143364" name="Rectangle 4"/>
          <p:cNvSpPr>
            <a:spLocks noGrp="1" noChangeArrowheads="1"/>
          </p:cNvSpPr>
          <p:nvPr>
            <p:ph type="ftr" sz="quarter" idx="2"/>
          </p:nvPr>
        </p:nvSpPr>
        <p:spPr bwMode="auto">
          <a:xfrm>
            <a:off x="454025" y="9131300"/>
            <a:ext cx="2889250" cy="496888"/>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endParaRPr lang="en-US" altLang="zh-CN"/>
          </a:p>
        </p:txBody>
      </p:sp>
      <p:sp>
        <p:nvSpPr>
          <p:cNvPr id="143365" name="Rectangle 5"/>
          <p:cNvSpPr>
            <a:spLocks noGrp="1" noChangeArrowheads="1"/>
          </p:cNvSpPr>
          <p:nvPr>
            <p:ph type="sldNum" sz="quarter" idx="3"/>
          </p:nvPr>
        </p:nvSpPr>
        <p:spPr bwMode="auto">
          <a:xfrm>
            <a:off x="3333750" y="9131300"/>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fld id="{07600F3F-3F77-402D-85D0-7C5449BFCE56}"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r>
              <a:rPr lang="zh-CN" altLang="en-US"/>
              <a:t>《计算机系统(1)》</a:t>
            </a:r>
            <a:endParaRPr lang="zh-CN" altLang="en-US"/>
          </a:p>
        </p:txBody>
      </p:sp>
      <p:sp>
        <p:nvSpPr>
          <p:cNvPr id="98307" name="Rectangle 3"/>
          <p:cNvSpPr>
            <a:spLocks noGrp="1" noChangeArrowheads="1"/>
          </p:cNvSpPr>
          <p:nvPr>
            <p:ph type="dt" idx="1"/>
          </p:nvPr>
        </p:nvSpPr>
        <p:spPr bwMode="auto">
          <a:xfrm>
            <a:off x="3779838" y="0"/>
            <a:ext cx="2889250" cy="496888"/>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r>
              <a:rPr lang="zh-CN" altLang="en-US"/>
              <a:t>第1章 计算机系统概述</a:t>
            </a:r>
            <a:endParaRPr lang="en-US" altLang="zh-CN"/>
          </a:p>
        </p:txBody>
      </p:sp>
      <p:sp>
        <p:nvSpPr>
          <p:cNvPr id="98308" name="Rectangle 4"/>
          <p:cNvSpPr>
            <a:spLocks noGrp="1" noRot="1" noChangeAspect="1" noChangeArrowheads="1" noTextEdit="1"/>
          </p:cNvSpPr>
          <p:nvPr>
            <p:ph type="sldImg" idx="2"/>
          </p:nvPr>
        </p:nvSpPr>
        <p:spPr bwMode="auto">
          <a:xfrm>
            <a:off x="25489" y="744538"/>
            <a:ext cx="6618110" cy="3722687"/>
          </a:xfrm>
          <a:prstGeom prst="rect">
            <a:avLst/>
          </a:prstGeom>
          <a:noFill/>
          <a:ln w="9525">
            <a:solidFill>
              <a:srgbClr val="000000"/>
            </a:solidFill>
            <a:miter lim="800000"/>
          </a:ln>
          <a:effectLst/>
        </p:spPr>
      </p:sp>
      <p:sp>
        <p:nvSpPr>
          <p:cNvPr id="98309" name="Rectangle 5"/>
          <p:cNvSpPr>
            <a:spLocks noGrp="1" noChangeArrowheads="1"/>
          </p:cNvSpPr>
          <p:nvPr>
            <p:ph type="body" sz="quarter" idx="3"/>
          </p:nvPr>
        </p:nvSpPr>
        <p:spPr bwMode="auto">
          <a:xfrm>
            <a:off x="889000" y="4714875"/>
            <a:ext cx="48910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8310" name="Rectangle 6"/>
          <p:cNvSpPr>
            <a:spLocks noGrp="1" noChangeArrowheads="1"/>
          </p:cNvSpPr>
          <p:nvPr>
            <p:ph type="ftr" sz="quarter" idx="4"/>
          </p:nvPr>
        </p:nvSpPr>
        <p:spPr bwMode="auto">
          <a:xfrm>
            <a:off x="0" y="9429750"/>
            <a:ext cx="2889250" cy="496888"/>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endParaRPr lang="en-US" altLang="zh-CN"/>
          </a:p>
        </p:txBody>
      </p:sp>
      <p:sp>
        <p:nvSpPr>
          <p:cNvPr id="98311" name="Rectangle 7"/>
          <p:cNvSpPr>
            <a:spLocks noGrp="1" noChangeArrowheads="1"/>
          </p:cNvSpPr>
          <p:nvPr>
            <p:ph type="sldNum" sz="quarter" idx="5"/>
          </p:nvPr>
        </p:nvSpPr>
        <p:spPr bwMode="auto">
          <a:xfrm>
            <a:off x="3779838" y="9429750"/>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A5EB02C8-73D1-4A6C-A407-2C450D588C1A}" type="slidenum">
              <a:rPr lang="zh-CN" altLang="en-US"/>
            </a:fld>
            <a:endParaRPr lang="en-US" altLang="zh-CN"/>
          </a:p>
        </p:txBody>
      </p:sp>
    </p:spTree>
  </p:cSld>
  <p:clrMap bg1="lt1" tx1="dk1" bg2="lt2" tx2="dk2" accent1="accent1" accent2="accent2" accent3="accent3" accent4="accent4" accent5="accent5" accent6="accent6" hlink="hlink" folHlink="folHlink"/>
  <p:hf ftr="0"/>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zh-CN" altLang="en-US"/>
              <a:t>《计算机系统(1)》</a:t>
            </a:r>
            <a:endParaRPr lang="zh-CN" altLang="en-US"/>
          </a:p>
        </p:txBody>
      </p:sp>
      <p:sp>
        <p:nvSpPr>
          <p:cNvPr id="5" name="Rectangle 3"/>
          <p:cNvSpPr>
            <a:spLocks noGrp="1" noChangeArrowheads="1"/>
          </p:cNvSpPr>
          <p:nvPr>
            <p:ph type="dt" idx="1"/>
          </p:nvPr>
        </p:nvSpPr>
        <p:spPr/>
        <p:txBody>
          <a:bodyPr/>
          <a:lstStyle/>
          <a:p>
            <a:r>
              <a:rPr lang="zh-CN" altLang="en-US"/>
              <a:t>第1章 计算机系统概述</a:t>
            </a:r>
            <a:endParaRPr lang="en-US" altLang="zh-CN"/>
          </a:p>
        </p:txBody>
      </p:sp>
      <p:sp>
        <p:nvSpPr>
          <p:cNvPr id="99330" name="Rectangle 2"/>
          <p:cNvSpPr>
            <a:spLocks noGrp="1" noRot="1" noChangeAspect="1" noChangeArrowheads="1" noTextEdit="1"/>
          </p:cNvSpPr>
          <p:nvPr>
            <p:ph type="sldImg"/>
          </p:nvPr>
        </p:nvSpPr>
        <p:spPr bwMode="auto">
          <a:xfrm>
            <a:off x="39159" y="750888"/>
            <a:ext cx="6595532" cy="3709987"/>
          </a:xfrm>
          <a:prstGeom prst="rect">
            <a:avLst/>
          </a:prstGeom>
          <a:solidFill>
            <a:srgbClr val="FFFFFF"/>
          </a:solidFill>
          <a:ln>
            <a:solidFill>
              <a:srgbClr val="000000"/>
            </a:solidFill>
            <a:miter lim="800000"/>
          </a:ln>
        </p:spPr>
      </p:sp>
      <p:sp>
        <p:nvSpPr>
          <p:cNvPr id="99331" name="Rectangle 3"/>
          <p:cNvSpPr>
            <a:spLocks noGrp="1" noChangeArrowheads="1"/>
          </p:cNvSpPr>
          <p:nvPr>
            <p:ph type="body" idx="1"/>
          </p:nvPr>
        </p:nvSpPr>
        <p:spPr bwMode="auto">
          <a:xfrm>
            <a:off x="444500" y="4714875"/>
            <a:ext cx="5780088" cy="4797425"/>
          </a:xfrm>
          <a:prstGeom prst="rect">
            <a:avLst/>
          </a:prstGeom>
          <a:solidFill>
            <a:srgbClr val="FFFFFF"/>
          </a:solidFill>
          <a:ln>
            <a:solidFill>
              <a:srgbClr val="000000"/>
            </a:solidFill>
            <a:miter lim="800000"/>
          </a:ln>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65538" name="Group 2"/>
          <p:cNvGrpSpPr/>
          <p:nvPr/>
        </p:nvGrpSpPr>
        <p:grpSpPr bwMode="auto">
          <a:xfrm>
            <a:off x="0" y="2438400"/>
            <a:ext cx="12012084" cy="1052513"/>
            <a:chOff x="0" y="1536"/>
            <a:chExt cx="5675" cy="663"/>
          </a:xfrm>
        </p:grpSpPr>
        <p:grpSp>
          <p:nvGrpSpPr>
            <p:cNvPr id="65539" name="Group 3"/>
            <p:cNvGrpSpPr/>
            <p:nvPr/>
          </p:nvGrpSpPr>
          <p:grpSpPr bwMode="auto">
            <a:xfrm>
              <a:off x="183" y="1604"/>
              <a:ext cx="448" cy="299"/>
              <a:chOff x="720" y="336"/>
              <a:chExt cx="624" cy="432"/>
            </a:xfrm>
          </p:grpSpPr>
          <p:sp>
            <p:nvSpPr>
              <p:cNvPr id="65540"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endParaRPr lang="zh-CN" altLang="en-US"/>
              </a:p>
            </p:txBody>
          </p:sp>
          <p:sp>
            <p:nvSpPr>
              <p:cNvPr id="6554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endParaRPr lang="zh-CN" altLang="en-US"/>
              </a:p>
            </p:txBody>
          </p:sp>
        </p:grpSp>
        <p:grpSp>
          <p:nvGrpSpPr>
            <p:cNvPr id="65542" name="Group 6"/>
            <p:cNvGrpSpPr/>
            <p:nvPr/>
          </p:nvGrpSpPr>
          <p:grpSpPr bwMode="auto">
            <a:xfrm>
              <a:off x="261" y="1870"/>
              <a:ext cx="465" cy="299"/>
              <a:chOff x="912" y="2640"/>
              <a:chExt cx="672" cy="432"/>
            </a:xfrm>
          </p:grpSpPr>
          <p:sp>
            <p:nvSpPr>
              <p:cNvPr id="65543"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endParaRPr lang="zh-CN" altLang="en-US"/>
              </a:p>
            </p:txBody>
          </p:sp>
          <p:sp>
            <p:nvSpPr>
              <p:cNvPr id="65544"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en-US"/>
              </a:p>
            </p:txBody>
          </p:sp>
        </p:grpSp>
        <p:sp>
          <p:nvSpPr>
            <p:cNvPr id="6554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endParaRPr lang="zh-CN" altLang="en-US"/>
            </a:p>
          </p:txBody>
        </p:sp>
        <p:sp>
          <p:nvSpPr>
            <p:cNvPr id="65546"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endParaRPr lang="zh-CN" altLang="en-US"/>
            </a:p>
          </p:txBody>
        </p:sp>
        <p:sp>
          <p:nvSpPr>
            <p:cNvPr id="6554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endParaRPr lang="zh-CN" altLang="en-US"/>
            </a:p>
          </p:txBody>
        </p:sp>
      </p:grpSp>
      <p:sp>
        <p:nvSpPr>
          <p:cNvPr id="65548" name="Rectangle 12"/>
          <p:cNvSpPr>
            <a:spLocks noGrp="1" noChangeArrowheads="1"/>
          </p:cNvSpPr>
          <p:nvPr>
            <p:ph type="ctrTitle"/>
          </p:nvPr>
        </p:nvSpPr>
        <p:spPr>
          <a:xfrm>
            <a:off x="1320800" y="1828800"/>
            <a:ext cx="10363200" cy="1143000"/>
          </a:xfrm>
        </p:spPr>
        <p:txBody>
          <a:bodyPr/>
          <a:lstStyle>
            <a:lvl1pPr>
              <a:defRPr>
                <a:effectLst>
                  <a:outerShdw blurRad="38100" dist="38100" dir="2700000" algn="tl">
                    <a:srgbClr val="C0C0C0"/>
                  </a:outerShdw>
                </a:effectLst>
              </a:defRPr>
            </a:lvl1pPr>
          </a:lstStyle>
          <a:p>
            <a:r>
              <a:rPr lang="zh-CN" altLang="en-US"/>
              <a:t>单击此处编辑母版标题样式</a:t>
            </a:r>
            <a:endParaRPr lang="zh-CN" altLang="en-US"/>
          </a:p>
        </p:txBody>
      </p:sp>
      <p:sp>
        <p:nvSpPr>
          <p:cNvPr id="65549" name="Rectangle 13"/>
          <p:cNvSpPr>
            <a:spLocks noGrp="1" noChangeArrowheads="1"/>
          </p:cNvSpPr>
          <p:nvPr>
            <p:ph type="subTitle" idx="1"/>
          </p:nvPr>
        </p:nvSpPr>
        <p:spPr>
          <a:xfrm>
            <a:off x="1828800" y="3886200"/>
            <a:ext cx="8534400" cy="1752600"/>
          </a:xfrm>
        </p:spPr>
        <p:txBody>
          <a:bodyPr/>
          <a:lstStyle>
            <a:lvl1pPr algn="ctr">
              <a:defRPr/>
            </a:lvl1pPr>
          </a:lstStyle>
          <a:p>
            <a:r>
              <a:rPr lang="zh-CN" altLang="en-US"/>
              <a:t>单击此处编辑母版副标题样式</a:t>
            </a:r>
            <a:endParaRPr lang="zh-CN" altLang="en-US"/>
          </a:p>
        </p:txBody>
      </p:sp>
      <p:sp>
        <p:nvSpPr>
          <p:cNvPr id="65550" name="Rectangle 14"/>
          <p:cNvSpPr>
            <a:spLocks noGrp="1" noChangeArrowheads="1"/>
          </p:cNvSpPr>
          <p:nvPr>
            <p:ph type="dt" sz="half" idx="2"/>
          </p:nvPr>
        </p:nvSpPr>
        <p:spPr bwMode="auto">
          <a:xfrm>
            <a:off x="1320800" y="6248400"/>
            <a:ext cx="2540000" cy="457200"/>
          </a:xfrm>
          <a:prstGeom prst="rect">
            <a:avLst/>
          </a:prstGeom>
          <a:noFill/>
          <a:ln>
            <a:miter lim="800000"/>
          </a:ln>
        </p:spPr>
        <p:txBody>
          <a:bodyPr vert="horz" wrap="square" lIns="91440" tIns="45720" rIns="91440" bIns="45720" numCol="1" anchor="b" anchorCtr="0" compatLnSpc="1"/>
          <a:lstStyle>
            <a:lvl1pPr>
              <a:defRPr kumimoji="0" sz="1400">
                <a:solidFill>
                  <a:schemeClr val="bg2"/>
                </a:solidFill>
              </a:defRPr>
            </a:lvl1pPr>
          </a:lstStyle>
          <a:p>
            <a:fld id="{69E743CE-D3CF-48A3-8F08-9FC521E31092}" type="datetime3">
              <a:rPr lang="zh-CN" altLang="en-US"/>
            </a:fld>
            <a:endParaRPr lang="en-US" altLang="zh-CN"/>
          </a:p>
        </p:txBody>
      </p:sp>
      <p:sp>
        <p:nvSpPr>
          <p:cNvPr id="65551" name="Rectangle 15"/>
          <p:cNvSpPr>
            <a:spLocks noGrp="1" noChangeArrowheads="1"/>
          </p:cNvSpPr>
          <p:nvPr>
            <p:ph type="ftr" sz="quarter" idx="3"/>
          </p:nvPr>
        </p:nvSpPr>
        <p:spPr bwMode="auto">
          <a:xfrm>
            <a:off x="4572000" y="6248400"/>
            <a:ext cx="3860800" cy="457200"/>
          </a:xfrm>
          <a:prstGeom prst="rect">
            <a:avLst/>
          </a:prstGeom>
          <a:noFill/>
          <a:ln>
            <a:miter lim="800000"/>
          </a:ln>
        </p:spPr>
        <p:txBody>
          <a:bodyPr vert="horz" wrap="square" lIns="91440" tIns="45720" rIns="91440" bIns="45720" numCol="1" anchor="b" anchorCtr="0" compatLnSpc="1"/>
          <a:lstStyle>
            <a:lvl1pPr algn="ctr">
              <a:defRPr kumimoji="0" sz="1400">
                <a:solidFill>
                  <a:schemeClr val="bg2"/>
                </a:solidFill>
              </a:defRPr>
            </a:lvl1pPr>
          </a:lstStyle>
          <a:p>
            <a:endParaRPr lang="en-US" altLang="zh-CN"/>
          </a:p>
        </p:txBody>
      </p:sp>
      <p:sp>
        <p:nvSpPr>
          <p:cNvPr id="65552" name="Rectangle 16"/>
          <p:cNvSpPr>
            <a:spLocks noGrp="1" noChangeArrowheads="1"/>
          </p:cNvSpPr>
          <p:nvPr>
            <p:ph type="sldNum" sz="quarter" idx="4"/>
          </p:nvPr>
        </p:nvSpPr>
        <p:spPr>
          <a:xfrm>
            <a:off x="9144000" y="6248400"/>
            <a:ext cx="2540000" cy="457200"/>
          </a:xfrm>
        </p:spPr>
        <p:txBody>
          <a:bodyPr/>
          <a:lstStyle>
            <a:lvl1pPr>
              <a:defRPr>
                <a:solidFill>
                  <a:schemeClr val="bg2"/>
                </a:solidFill>
              </a:defRPr>
            </a:lvl1pPr>
          </a:lstStyle>
          <a:p>
            <a:fld id="{58B364AD-741B-49FF-AFDA-364EDDF7188E}"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C775CBDA-F210-474C-990E-C55DEC7D1594}" type="slidenum">
              <a:rPr lang="zh-CN" altLang="en-US"/>
            </a:fld>
            <a:r>
              <a:rPr lang="en-US" altLang="zh-CN"/>
              <a:t>/30</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lstStyle>
            <a:lvl1pPr>
              <a:defRPr/>
            </a:lvl1pPr>
          </a:lstStyle>
          <a:p>
            <a:fld id="{55811CCC-FE30-44EA-AC69-B9F0D3E2BDCB}" type="slidenum">
              <a:rPr lang="zh-CN" altLang="en-US"/>
            </a:fld>
            <a:r>
              <a:rPr lang="en-US" altLang="zh-CN"/>
              <a:t>/30</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6400" y="990600"/>
            <a:ext cx="55880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990600"/>
            <a:ext cx="55880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p:txBody>
          <a:bodyPr/>
          <a:lstStyle>
            <a:lvl1pPr>
              <a:defRPr/>
            </a:lvl1pPr>
          </a:lstStyle>
          <a:p>
            <a:fld id="{6DF386F9-C3FF-4D73-80E2-D3ACB65979CC}" type="slidenum">
              <a:rPr lang="zh-CN" altLang="en-US"/>
            </a:fld>
            <a:r>
              <a:rPr lang="en-US" altLang="zh-CN"/>
              <a:t>/30</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p:txBody>
          <a:bodyPr/>
          <a:lstStyle>
            <a:lvl1pPr>
              <a:defRPr/>
            </a:lvl1pPr>
          </a:lstStyle>
          <a:p>
            <a:fld id="{F770B3F2-F0DF-4574-949F-5A9D06141B17}" type="slidenum">
              <a:rPr lang="zh-CN" altLang="en-US"/>
            </a:fld>
            <a:r>
              <a:rPr lang="en-US" altLang="zh-CN"/>
              <a:t>/30</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EE229CA0-5B67-4808-9720-B4E2F201D24C}" type="slidenum">
              <a:rPr lang="zh-CN" altLang="en-US"/>
            </a:fld>
            <a:r>
              <a:rPr lang="en-US" altLang="zh-CN"/>
              <a:t>/30</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E710427F-6C96-4FB9-BACC-AE4A7A624A67}" type="slidenum">
              <a:rPr lang="zh-CN" altLang="en-US"/>
            </a:fld>
            <a:r>
              <a:rPr lang="en-US" altLang="zh-CN"/>
              <a:t>/30</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D9B120F0-A300-49E0-AB1D-3BD11367F4BF}" type="slidenum">
              <a:rPr lang="zh-CN" altLang="en-US"/>
            </a:fld>
            <a:r>
              <a:rPr lang="en-US" altLang="zh-CN"/>
              <a:t>/30</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1741512B-56C4-4C5A-A33B-795807B835D4}" type="slidenum">
              <a:rPr lang="zh-CN" altLang="en-US"/>
            </a:fld>
            <a:r>
              <a:rPr lang="en-US" altLang="zh-CN"/>
              <a:t>/30</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4D9834B2-4E36-43AF-97CB-8C2A7808ED7F}" type="slidenum">
              <a:rPr lang="zh-CN" altLang="en-US"/>
            </a:fld>
            <a:r>
              <a:rPr lang="en-US" altLang="zh-CN"/>
              <a:t>/30</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0800" y="76200"/>
            <a:ext cx="2844800" cy="6477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6400" y="76200"/>
            <a:ext cx="8331200" cy="6477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218CDCB0-C568-4523-8282-888EE5D51740}" type="slidenum">
              <a:rPr lang="zh-CN" altLang="en-US"/>
            </a:fld>
            <a:r>
              <a:rPr lang="en-US" altLang="zh-CN"/>
              <a:t>/30</a:t>
            </a: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843617" y="76200"/>
            <a:ext cx="9821333"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6400" y="990600"/>
            <a:ext cx="5588000" cy="556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990600"/>
            <a:ext cx="5588000" cy="2705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3848100"/>
            <a:ext cx="5588000" cy="2705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10"/>
          </p:nvPr>
        </p:nvSpPr>
        <p:spPr>
          <a:xfrm>
            <a:off x="10608733" y="6477000"/>
            <a:ext cx="1481667" cy="304800"/>
          </a:xfrm>
        </p:spPr>
        <p:txBody>
          <a:bodyPr/>
          <a:lstStyle>
            <a:lvl1pPr>
              <a:defRPr/>
            </a:lvl1pPr>
          </a:lstStyle>
          <a:p>
            <a:fld id="{8E64836A-7A6D-4C35-A804-B56EFF52DF4B}" type="slidenum">
              <a:rPr lang="zh-CN" altLang="en-US"/>
            </a:fld>
            <a:r>
              <a:rPr lang="en-US" altLang="zh-CN"/>
              <a:t>/30</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tile tx="0" ty="0" sx="100000" sy="100000" flip="none" algn="tl"/>
        </a:blipFill>
        <a:effectLst/>
      </p:bgPr>
    </p:bg>
    <p:spTree>
      <p:nvGrpSpPr>
        <p:cNvPr id="1" name=""/>
        <p:cNvGrpSpPr/>
        <p:nvPr/>
      </p:nvGrpSpPr>
      <p:grpSpPr>
        <a:xfrm>
          <a:off x="0" y="0"/>
          <a:ext cx="0" cy="0"/>
          <a:chOff x="0" y="0"/>
          <a:chExt cx="0" cy="0"/>
        </a:xfrm>
      </p:grpSpPr>
      <p:grpSp>
        <p:nvGrpSpPr>
          <p:cNvPr id="64528" name="Group 16"/>
          <p:cNvGrpSpPr/>
          <p:nvPr userDrawn="1"/>
        </p:nvGrpSpPr>
        <p:grpSpPr bwMode="auto">
          <a:xfrm>
            <a:off x="192617" y="152400"/>
            <a:ext cx="11389783" cy="944563"/>
            <a:chOff x="91" y="173"/>
            <a:chExt cx="5381" cy="595"/>
          </a:xfrm>
        </p:grpSpPr>
        <p:sp>
          <p:nvSpPr>
            <p:cNvPr id="64514" name="Rectangle 2"/>
            <p:cNvSpPr>
              <a:spLocks noChangeArrowheads="1"/>
            </p:cNvSpPr>
            <p:nvPr userDrawn="1"/>
          </p:nvSpPr>
          <p:spPr bwMode="ltGray">
            <a:xfrm>
              <a:off x="274" y="173"/>
              <a:ext cx="276" cy="299"/>
            </a:xfrm>
            <a:prstGeom prst="rect">
              <a:avLst/>
            </a:prstGeom>
            <a:solidFill>
              <a:schemeClr val="accent2"/>
            </a:solidFill>
            <a:ln w="9525">
              <a:noFill/>
              <a:miter lim="800000"/>
            </a:ln>
            <a:effectLst/>
          </p:spPr>
          <p:txBody>
            <a:bodyPr wrap="none" anchor="ctr"/>
            <a:lstStyle/>
            <a:p>
              <a:pPr algn="ctr"/>
              <a:endParaRPr lang="zh-CN" altLang="en-US"/>
            </a:p>
          </p:txBody>
        </p:sp>
        <p:sp>
          <p:nvSpPr>
            <p:cNvPr id="64515" name="Rectangle 3"/>
            <p:cNvSpPr>
              <a:spLocks noChangeArrowheads="1"/>
            </p:cNvSpPr>
            <p:nvPr userDrawn="1"/>
          </p:nvSpPr>
          <p:spPr bwMode="ltGray">
            <a:xfrm>
              <a:off x="515" y="173"/>
              <a:ext cx="207" cy="299"/>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endParaRPr lang="zh-CN" altLang="en-US"/>
            </a:p>
          </p:txBody>
        </p:sp>
        <p:sp>
          <p:nvSpPr>
            <p:cNvPr id="64516" name="Rectangle 4"/>
            <p:cNvSpPr>
              <a:spLocks noChangeArrowheads="1"/>
            </p:cNvSpPr>
            <p:nvPr userDrawn="1"/>
          </p:nvSpPr>
          <p:spPr bwMode="ltGray">
            <a:xfrm>
              <a:off x="352" y="439"/>
              <a:ext cx="266" cy="299"/>
            </a:xfrm>
            <a:prstGeom prst="rect">
              <a:avLst/>
            </a:prstGeom>
            <a:solidFill>
              <a:schemeClr val="folHlink"/>
            </a:solidFill>
            <a:ln w="9525">
              <a:noFill/>
              <a:miter lim="800000"/>
            </a:ln>
            <a:effectLst/>
          </p:spPr>
          <p:txBody>
            <a:bodyPr wrap="none" anchor="ctr"/>
            <a:lstStyle/>
            <a:p>
              <a:pPr algn="ctr"/>
              <a:endParaRPr lang="zh-CN" altLang="en-US"/>
            </a:p>
          </p:txBody>
        </p:sp>
        <p:sp>
          <p:nvSpPr>
            <p:cNvPr id="64517" name="Rectangle 5"/>
            <p:cNvSpPr>
              <a:spLocks noChangeArrowheads="1"/>
            </p:cNvSpPr>
            <p:nvPr userDrawn="1"/>
          </p:nvSpPr>
          <p:spPr bwMode="ltGray">
            <a:xfrm>
              <a:off x="585" y="439"/>
              <a:ext cx="232" cy="299"/>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endParaRPr lang="zh-CN" altLang="en-US"/>
            </a:p>
          </p:txBody>
        </p:sp>
        <p:sp>
          <p:nvSpPr>
            <p:cNvPr id="64518" name="Rectangle 6"/>
            <p:cNvSpPr>
              <a:spLocks noChangeArrowheads="1"/>
            </p:cNvSpPr>
            <p:nvPr userDrawn="1"/>
          </p:nvSpPr>
          <p:spPr bwMode="ltGray">
            <a:xfrm>
              <a:off x="91" y="393"/>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endParaRPr lang="zh-CN" altLang="en-US"/>
            </a:p>
          </p:txBody>
        </p:sp>
        <p:sp>
          <p:nvSpPr>
            <p:cNvPr id="64519" name="Rectangle 7"/>
            <p:cNvSpPr>
              <a:spLocks noChangeArrowheads="1"/>
            </p:cNvSpPr>
            <p:nvPr userDrawn="1"/>
          </p:nvSpPr>
          <p:spPr bwMode="gray">
            <a:xfrm>
              <a:off x="491" y="174"/>
              <a:ext cx="20" cy="594"/>
            </a:xfrm>
            <a:prstGeom prst="rect">
              <a:avLst/>
            </a:prstGeom>
            <a:solidFill>
              <a:schemeClr val="bg2"/>
            </a:solidFill>
            <a:ln w="9525">
              <a:noFill/>
              <a:miter lim="800000"/>
            </a:ln>
            <a:effectLst/>
          </p:spPr>
          <p:txBody>
            <a:bodyPr wrap="none" anchor="ctr"/>
            <a:lstStyle/>
            <a:p>
              <a:pPr algn="ctr"/>
              <a:endParaRPr lang="zh-CN" altLang="en-US"/>
            </a:p>
          </p:txBody>
        </p:sp>
        <p:sp>
          <p:nvSpPr>
            <p:cNvPr id="64520" name="Rectangle 8"/>
            <p:cNvSpPr>
              <a:spLocks noChangeArrowheads="1"/>
            </p:cNvSpPr>
            <p:nvPr userDrawn="1"/>
          </p:nvSpPr>
          <p:spPr bwMode="gray">
            <a:xfrm>
              <a:off x="290" y="603"/>
              <a:ext cx="5182" cy="2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endParaRPr lang="zh-CN" altLang="en-US"/>
            </a:p>
          </p:txBody>
        </p:sp>
      </p:grpSp>
      <p:sp>
        <p:nvSpPr>
          <p:cNvPr id="64521" name="Rectangle 9"/>
          <p:cNvSpPr>
            <a:spLocks noGrp="1" noChangeArrowheads="1"/>
          </p:cNvSpPr>
          <p:nvPr>
            <p:ph type="title"/>
          </p:nvPr>
        </p:nvSpPr>
        <p:spPr bwMode="auto">
          <a:xfrm>
            <a:off x="1843617" y="76200"/>
            <a:ext cx="9821333" cy="762000"/>
          </a:xfrm>
          <a:prstGeom prst="rect">
            <a:avLst/>
          </a:prstGeom>
          <a:noFill/>
          <a:ln w="9525">
            <a:noFill/>
            <a:miter lim="800000"/>
          </a:ln>
          <a:effec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64522" name="Rectangle 10"/>
          <p:cNvSpPr>
            <a:spLocks noGrp="1" noChangeArrowheads="1"/>
          </p:cNvSpPr>
          <p:nvPr>
            <p:ph type="body" idx="1"/>
          </p:nvPr>
        </p:nvSpPr>
        <p:spPr bwMode="auto">
          <a:xfrm>
            <a:off x="406400" y="990600"/>
            <a:ext cx="11379200" cy="55626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p:txBody>
      </p:sp>
      <p:sp>
        <p:nvSpPr>
          <p:cNvPr id="64527" name="Text Box 15"/>
          <p:cNvSpPr txBox="1">
            <a:spLocks noChangeArrowheads="1"/>
          </p:cNvSpPr>
          <p:nvPr userDrawn="1"/>
        </p:nvSpPr>
        <p:spPr bwMode="auto">
          <a:xfrm>
            <a:off x="304800" y="207963"/>
            <a:ext cx="1422400" cy="632460"/>
          </a:xfrm>
          <a:prstGeom prst="rect">
            <a:avLst/>
          </a:prstGeom>
          <a:noFill/>
          <a:ln w="9525">
            <a:noFill/>
            <a:miter lim="800000"/>
          </a:ln>
          <a:effectLst/>
        </p:spPr>
        <p:txBody>
          <a:bodyPr>
            <a:spAutoFit/>
          </a:bodyPr>
          <a:lstStyle/>
          <a:p>
            <a:pPr algn="ctr">
              <a:spcBef>
                <a:spcPct val="20000"/>
              </a:spcBef>
            </a:pPr>
            <a:r>
              <a:rPr lang="zh-CN" altLang="en-US" sz="1600">
                <a:solidFill>
                  <a:schemeClr val="bg1"/>
                </a:solidFill>
                <a:effectLst>
                  <a:outerShdw blurRad="38100" dist="38100" dir="2700000" algn="tl">
                    <a:srgbClr val="000000"/>
                  </a:outerShdw>
                </a:effectLst>
                <a:ea typeface="华文彩云" panose="02010800040101010101" pitchFamily="2" charset="-122"/>
              </a:rPr>
              <a:t>计算机</a:t>
            </a:r>
            <a:endParaRPr lang="zh-CN" altLang="en-US" sz="1600">
              <a:solidFill>
                <a:schemeClr val="bg1"/>
              </a:solidFill>
              <a:effectLst>
                <a:outerShdw blurRad="38100" dist="38100" dir="2700000" algn="tl">
                  <a:srgbClr val="000000"/>
                </a:outerShdw>
              </a:effectLst>
              <a:ea typeface="华文彩云" panose="02010800040101010101" pitchFamily="2" charset="-122"/>
            </a:endParaRPr>
          </a:p>
          <a:p>
            <a:pPr algn="ctr">
              <a:spcBef>
                <a:spcPct val="20000"/>
              </a:spcBef>
            </a:pPr>
            <a:r>
              <a:rPr lang="zh-CN" altLang="en-US" sz="1600">
                <a:solidFill>
                  <a:schemeClr val="bg1"/>
                </a:solidFill>
                <a:effectLst>
                  <a:outerShdw blurRad="38100" dist="38100" dir="2700000" algn="tl">
                    <a:srgbClr val="000000"/>
                  </a:outerShdw>
                </a:effectLst>
                <a:ea typeface="华文彩云" panose="02010800040101010101" pitchFamily="2" charset="-122"/>
              </a:rPr>
              <a:t>系统概述</a:t>
            </a:r>
            <a:endParaRPr lang="zh-CN" altLang="en-US" sz="1600">
              <a:solidFill>
                <a:schemeClr val="bg1"/>
              </a:solidFill>
              <a:effectLst>
                <a:outerShdw blurRad="38100" dist="38100" dir="2700000" algn="tl">
                  <a:srgbClr val="000000"/>
                </a:outerShdw>
              </a:effectLst>
              <a:ea typeface="华文彩云" panose="02010800040101010101" pitchFamily="2" charset="-122"/>
            </a:endParaRPr>
          </a:p>
        </p:txBody>
      </p:sp>
      <p:sp>
        <p:nvSpPr>
          <p:cNvPr id="64525" name="Rectangle 13"/>
          <p:cNvSpPr>
            <a:spLocks noGrp="1" noChangeArrowheads="1"/>
          </p:cNvSpPr>
          <p:nvPr>
            <p:ph type="sldNum" sz="quarter" idx="4"/>
          </p:nvPr>
        </p:nvSpPr>
        <p:spPr bwMode="auto">
          <a:xfrm>
            <a:off x="10608733" y="6477000"/>
            <a:ext cx="1481667" cy="304800"/>
          </a:xfrm>
          <a:prstGeom prst="rect">
            <a:avLst/>
          </a:prstGeom>
          <a:noFill/>
          <a:ln w="9525">
            <a:noFill/>
            <a:miter lim="800000"/>
          </a:ln>
          <a:effectLst/>
        </p:spPr>
        <p:txBody>
          <a:bodyPr vert="horz" wrap="square" lIns="91440" tIns="45720" rIns="91440" bIns="45720" numCol="1" anchor="b" anchorCtr="0" compatLnSpc="1"/>
          <a:lstStyle>
            <a:lvl1pPr algn="r">
              <a:defRPr kumimoji="0" sz="1400"/>
            </a:lvl1pPr>
          </a:lstStyle>
          <a:p>
            <a:fld id="{78E3E192-C565-45B3-AF38-2BF28D35FF80}" type="slidenum">
              <a:rPr lang="zh-CN" altLang="en-US"/>
            </a:fld>
            <a:r>
              <a:rPr lang="en-US" altLang="zh-CN"/>
              <a:t>/30</a:t>
            </a: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spcBef>
          <a:spcPct val="0"/>
        </a:spcBef>
        <a:spcAft>
          <a:spcPct val="0"/>
        </a:spcAft>
        <a:defRPr kumimoji="1" sz="4000">
          <a:solidFill>
            <a:srgbClr val="FF9900"/>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2pPr>
      <a:lvl3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3pPr>
      <a:lvl4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4pPr>
      <a:lvl5pPr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5pPr>
      <a:lvl6pPr marL="4572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6pPr>
      <a:lvl7pPr marL="9144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7pPr>
      <a:lvl8pPr marL="13716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8pPr>
      <a:lvl9pPr marL="1828800" algn="l" rtl="0" fontAlgn="base">
        <a:spcBef>
          <a:spcPct val="0"/>
        </a:spcBef>
        <a:spcAft>
          <a:spcPct val="0"/>
        </a:spcAft>
        <a:defRPr kumimoji="1" sz="4000">
          <a:solidFill>
            <a:srgbClr val="FF9900"/>
          </a:solidFill>
          <a:effectLst>
            <a:outerShdw blurRad="38100" dist="38100" dir="2700000" algn="tl">
              <a:srgbClr val="000000"/>
            </a:outerShdw>
          </a:effectLst>
          <a:latin typeface="Tahoma" panose="020B0604030504040204" pitchFamily="34" charset="0"/>
          <a:ea typeface="华文琥珀" panose="02010800040101010101" pitchFamily="2" charset="-122"/>
        </a:defRPr>
      </a:lvl9pPr>
    </p:titleStyle>
    <p:bodyStyle>
      <a:lvl1pPr algn="l" rtl="0" fontAlgn="base">
        <a:spcBef>
          <a:spcPct val="20000"/>
        </a:spcBef>
        <a:spcAft>
          <a:spcPct val="0"/>
        </a:spcAft>
        <a:buClr>
          <a:schemeClr val="folHlink"/>
        </a:buClr>
        <a:buSzPct val="60000"/>
        <a:buFont typeface="Wingdings" panose="05000000000000000000" pitchFamily="2" charset="2"/>
        <a:defRPr kumimoji="1" sz="3200" b="1">
          <a:solidFill>
            <a:schemeClr val="tx1"/>
          </a:solidFill>
          <a:latin typeface="+mn-lt"/>
          <a:ea typeface="+mn-ea"/>
          <a:cs typeface="+mn-cs"/>
        </a:defRPr>
      </a:lvl1pPr>
      <a:lvl2pPr marL="860425" indent="-285750" algn="l" rtl="0" fontAlgn="base">
        <a:spcBef>
          <a:spcPct val="20000"/>
        </a:spcBef>
        <a:spcAft>
          <a:spcPct val="0"/>
        </a:spcAft>
        <a:buClr>
          <a:schemeClr val="hlink"/>
        </a:buClr>
        <a:buSzPct val="55000"/>
        <a:buFont typeface="Wingdings" panose="05000000000000000000" pitchFamily="2" charset="2"/>
        <a:defRPr kumimoji="1" sz="2800">
          <a:solidFill>
            <a:schemeClr val="tx1"/>
          </a:solidFill>
          <a:latin typeface="+mn-lt"/>
          <a:ea typeface="宋体" panose="02010600030101010101" pitchFamily="2" charset="-122"/>
        </a:defRPr>
      </a:lvl2pPr>
      <a:lvl3pPr marL="1279525" indent="-228600" algn="l" rtl="0" fontAlgn="base">
        <a:spcBef>
          <a:spcPct val="20000"/>
        </a:spcBef>
        <a:spcAft>
          <a:spcPct val="0"/>
        </a:spcAft>
        <a:buClr>
          <a:schemeClr val="folHlink"/>
        </a:buClr>
        <a:buSzPct val="50000"/>
        <a:buFont typeface="Wingdings" panose="05000000000000000000" pitchFamily="2" charset="2"/>
        <a:defRPr kumimoji="1" sz="2400">
          <a:solidFill>
            <a:schemeClr val="tx1"/>
          </a:solidFill>
          <a:latin typeface="+mn-lt"/>
          <a:ea typeface="宋体" panose="02010600030101010101" pitchFamily="2" charset="-122"/>
        </a:defRPr>
      </a:lvl3pPr>
      <a:lvl4pPr marL="1698625" indent="-228600" algn="l" rtl="0" fontAlgn="base">
        <a:spcBef>
          <a:spcPct val="20000"/>
        </a:spcBef>
        <a:spcAft>
          <a:spcPct val="0"/>
        </a:spcAft>
        <a:buClr>
          <a:schemeClr val="accent2"/>
        </a:buClr>
        <a:buSzPct val="55000"/>
        <a:buFont typeface="Wingdings" panose="05000000000000000000" pitchFamily="2" charset="2"/>
        <a:defRPr kumimoji="1" sz="2000">
          <a:solidFill>
            <a:schemeClr val="tx1"/>
          </a:solidFill>
          <a:latin typeface="+mn-lt"/>
          <a:ea typeface="宋体" panose="02010600030101010101" pitchFamily="2" charset="-122"/>
        </a:defRPr>
      </a:lvl4pPr>
      <a:lvl5pPr marL="2117725" indent="-228600" algn="l" rtl="0" fontAlgn="base">
        <a:spcBef>
          <a:spcPct val="20000"/>
        </a:spcBef>
        <a:spcAft>
          <a:spcPct val="0"/>
        </a:spcAft>
        <a:buClr>
          <a:schemeClr val="accent1"/>
        </a:buClr>
        <a:buSzPct val="50000"/>
        <a:buFont typeface="Wingdings" panose="05000000000000000000" pitchFamily="2" charset="2"/>
        <a:defRPr kumimoji="1" sz="2000">
          <a:solidFill>
            <a:schemeClr val="tx1"/>
          </a:solidFill>
          <a:latin typeface="+mn-lt"/>
          <a:ea typeface="宋体" panose="02010600030101010101" pitchFamily="2" charset="-122"/>
        </a:defRPr>
      </a:lvl5pPr>
      <a:lvl6pPr marL="2574925" indent="-228600" algn="l" rtl="0" fontAlgn="base">
        <a:spcBef>
          <a:spcPct val="20000"/>
        </a:spcBef>
        <a:spcAft>
          <a:spcPct val="0"/>
        </a:spcAft>
        <a:buClr>
          <a:schemeClr val="accent1"/>
        </a:buClr>
        <a:buSzPct val="50000"/>
        <a:buFont typeface="Wingdings" panose="05000000000000000000" pitchFamily="2" charset="2"/>
        <a:defRPr kumimoji="1" sz="2000">
          <a:solidFill>
            <a:schemeClr val="tx1"/>
          </a:solidFill>
          <a:latin typeface="+mn-lt"/>
          <a:ea typeface="宋体" panose="02010600030101010101" pitchFamily="2" charset="-122"/>
        </a:defRPr>
      </a:lvl6pPr>
      <a:lvl7pPr marL="3032125" indent="-228600" algn="l" rtl="0" fontAlgn="base">
        <a:spcBef>
          <a:spcPct val="20000"/>
        </a:spcBef>
        <a:spcAft>
          <a:spcPct val="0"/>
        </a:spcAft>
        <a:buClr>
          <a:schemeClr val="accent1"/>
        </a:buClr>
        <a:buSzPct val="50000"/>
        <a:buFont typeface="Wingdings" panose="05000000000000000000" pitchFamily="2" charset="2"/>
        <a:defRPr kumimoji="1" sz="2000">
          <a:solidFill>
            <a:schemeClr val="tx1"/>
          </a:solidFill>
          <a:latin typeface="+mn-lt"/>
          <a:ea typeface="宋体" panose="02010600030101010101" pitchFamily="2" charset="-122"/>
        </a:defRPr>
      </a:lvl7pPr>
      <a:lvl8pPr marL="3489325" indent="-228600" algn="l" rtl="0" fontAlgn="base">
        <a:spcBef>
          <a:spcPct val="20000"/>
        </a:spcBef>
        <a:spcAft>
          <a:spcPct val="0"/>
        </a:spcAft>
        <a:buClr>
          <a:schemeClr val="accent1"/>
        </a:buClr>
        <a:buSzPct val="50000"/>
        <a:buFont typeface="Wingdings" panose="05000000000000000000" pitchFamily="2" charset="2"/>
        <a:defRPr kumimoji="1" sz="2000">
          <a:solidFill>
            <a:schemeClr val="tx1"/>
          </a:solidFill>
          <a:latin typeface="+mn-lt"/>
          <a:ea typeface="宋体" panose="02010600030101010101" pitchFamily="2" charset="-122"/>
        </a:defRPr>
      </a:lvl8pPr>
      <a:lvl9pPr marL="3946525" indent="-228600" algn="l" rtl="0" fontAlgn="base">
        <a:spcBef>
          <a:spcPct val="20000"/>
        </a:spcBef>
        <a:spcAft>
          <a:spcPct val="0"/>
        </a:spcAft>
        <a:buClr>
          <a:schemeClr val="accent1"/>
        </a:buClr>
        <a:buSzPct val="50000"/>
        <a:buFont typeface="Wingdings" panose="05000000000000000000" pitchFamily="2" charset="2"/>
        <a:defRPr kumimoji="1"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shadeToTitle="1">
        <a:gradFill rotWithShape="0">
          <a:gsLst>
            <a:gs pos="0">
              <a:srgbClr val="FFCC66"/>
            </a:gs>
            <a:gs pos="100000">
              <a:srgbClr val="FFCC66">
                <a:gamma/>
                <a:shade val="56078"/>
                <a:invGamma/>
              </a:srgbClr>
            </a:gs>
          </a:gsLst>
          <a:path path="shape">
            <a:fillToRect l="50000" t="50000" r="50000" b="50000"/>
          </a:path>
        </a:gradFill>
        <a:effectLst/>
      </p:bgPr>
    </p:bg>
    <p:spTree>
      <p:nvGrpSpPr>
        <p:cNvPr id="1" name=""/>
        <p:cNvGrpSpPr/>
        <p:nvPr/>
      </p:nvGrpSpPr>
      <p:grpSpPr>
        <a:xfrm>
          <a:off x="0" y="0"/>
          <a:ext cx="0" cy="0"/>
          <a:chOff x="0" y="0"/>
          <a:chExt cx="0" cy="0"/>
        </a:xfrm>
      </p:grpSpPr>
      <p:sp>
        <p:nvSpPr>
          <p:cNvPr id="97282" name="WordArt 2"/>
          <p:cNvSpPr>
            <a:spLocks noChangeArrowheads="1" noChangeShapeType="1" noTextEdit="1"/>
          </p:cNvSpPr>
          <p:nvPr/>
        </p:nvSpPr>
        <p:spPr bwMode="auto">
          <a:xfrm>
            <a:off x="3863975" y="2492374"/>
            <a:ext cx="5328369" cy="2232769"/>
          </a:xfrm>
          <a:prstGeom prst="rect">
            <a:avLst/>
          </a:prstGeom>
        </p:spPr>
        <p:txBody>
          <a:bodyPr wrap="none" fromWordArt="1">
            <a:prstTxWarp prst="textPlain">
              <a:avLst>
                <a:gd name="adj" fmla="val 50000"/>
              </a:avLst>
            </a:prstTxWarp>
            <a:scene3d>
              <a:camera prst="legacyPerspectiveBottom">
                <a:rot lat="1200000" lon="0" rev="0"/>
              </a:camera>
              <a:lightRig rig="legacyFlat2" dir="t"/>
            </a:scene3d>
            <a:sp3d extrusionH="608000" prstMaterial="legacyPlastic">
              <a:extrusionClr>
                <a:srgbClr val="FF0000"/>
              </a:extrusionClr>
            </a:sp3d>
          </a:bodyPr>
          <a:lstStyle/>
          <a:p>
            <a:pPr algn="ctr"/>
            <a:r>
              <a:rPr lang="zh-CN" altLang="en-US" sz="8000" b="1" kern="10" dirty="0">
                <a:ln w="9525">
                  <a:round/>
                </a:ln>
                <a:solidFill>
                  <a:srgbClr val="FF0000"/>
                </a:solidFill>
                <a:latin typeface="隶书" panose="02010509060101010101" pitchFamily="49" charset="-122"/>
                <a:ea typeface="隶书" panose="02010509060101010101" pitchFamily="49" charset="-122"/>
              </a:rPr>
              <a:t>第</a:t>
            </a:r>
            <a:r>
              <a:rPr lang="en-US" altLang="zh-CN" sz="8000" b="1" kern="10" dirty="0">
                <a:ln w="9525">
                  <a:round/>
                </a:ln>
                <a:solidFill>
                  <a:srgbClr val="FF0000"/>
                </a:solidFill>
                <a:latin typeface="隶书" panose="02010509060101010101" pitchFamily="49" charset="-122"/>
                <a:ea typeface="隶书" panose="02010509060101010101" pitchFamily="49" charset="-122"/>
              </a:rPr>
              <a:t>6</a:t>
            </a:r>
            <a:r>
              <a:rPr lang="zh-CN" altLang="en-US" sz="8000" b="1" kern="10" dirty="0">
                <a:ln w="9525">
                  <a:round/>
                </a:ln>
                <a:solidFill>
                  <a:srgbClr val="FF0000"/>
                </a:solidFill>
                <a:latin typeface="隶书" panose="02010509060101010101" pitchFamily="49" charset="-122"/>
                <a:ea typeface="隶书" panose="02010509060101010101" pitchFamily="49" charset="-122"/>
              </a:rPr>
              <a:t>章</a:t>
            </a:r>
            <a:endParaRPr lang="zh-CN" altLang="en-US" sz="8000" b="1" kern="10" dirty="0">
              <a:ln w="9525">
                <a:round/>
              </a:ln>
              <a:solidFill>
                <a:srgbClr val="FF0000"/>
              </a:solidFill>
              <a:latin typeface="隶书" panose="02010509060101010101" pitchFamily="49" charset="-122"/>
              <a:ea typeface="隶书" panose="02010509060101010101" pitchFamily="49" charset="-122"/>
            </a:endParaRPr>
          </a:p>
          <a:p>
            <a:pPr algn="ctr"/>
            <a:r>
              <a:rPr lang="zh-CN" altLang="en-US" sz="8000" b="1" kern="10" dirty="0">
                <a:ln w="9525">
                  <a:round/>
                </a:ln>
                <a:solidFill>
                  <a:srgbClr val="FF0000"/>
                </a:solidFill>
                <a:latin typeface="隶书" panose="02010509060101010101" pitchFamily="49" charset="-122"/>
                <a:ea typeface="隶书" panose="02010509060101010101" pitchFamily="49" charset="-122"/>
              </a:rPr>
              <a:t>编程</a:t>
            </a:r>
            <a:endParaRPr lang="zh-CN" altLang="en-US" sz="8000" b="1" kern="10" dirty="0">
              <a:ln w="9525">
                <a:round/>
              </a:ln>
              <a:solidFill>
                <a:srgbClr val="FF0000"/>
              </a:solidFill>
              <a:latin typeface="隶书" panose="02010509060101010101" pitchFamily="49" charset="-122"/>
              <a:ea typeface="隶书" panose="020105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97282"/>
                                        </p:tgtEl>
                                        <p:attrNameLst>
                                          <p:attrName>style.visibility</p:attrName>
                                        </p:attrNameLst>
                                      </p:cBhvr>
                                      <p:to>
                                        <p:strVal val="visible"/>
                                      </p:to>
                                    </p:set>
                                    <p:anim calcmode="lin" valueType="num">
                                      <p:cBhvr>
                                        <p:cTn id="7" dur="3000" fill="hold"/>
                                        <p:tgtEl>
                                          <p:spTgt spid="97282"/>
                                        </p:tgtEl>
                                        <p:attrNameLst>
                                          <p:attrName>ppt_w</p:attrName>
                                        </p:attrNameLst>
                                      </p:cBhvr>
                                      <p:tavLst>
                                        <p:tav tm="0">
                                          <p:val>
                                            <p:fltVal val="0"/>
                                          </p:val>
                                        </p:tav>
                                        <p:tav tm="100000">
                                          <p:val>
                                            <p:strVal val="#ppt_w"/>
                                          </p:val>
                                        </p:tav>
                                      </p:tavLst>
                                    </p:anim>
                                    <p:anim calcmode="lin" valueType="num">
                                      <p:cBhvr>
                                        <p:cTn id="8" dur="3000" fill="hold"/>
                                        <p:tgtEl>
                                          <p:spTgt spid="97282"/>
                                        </p:tgtEl>
                                        <p:attrNameLst>
                                          <p:attrName>ppt_h</p:attrName>
                                        </p:attrNameLst>
                                      </p:cBhvr>
                                      <p:tavLst>
                                        <p:tav tm="0">
                                          <p:val>
                                            <p:fltVal val="0"/>
                                          </p:val>
                                        </p:tav>
                                        <p:tav tm="100000">
                                          <p:val>
                                            <p:strVal val="#ppt_h"/>
                                          </p:val>
                                        </p:tav>
                                      </p:tavLst>
                                    </p:anim>
                                    <p:anim calcmode="lin" valueType="num">
                                      <p:cBhvr>
                                        <p:cTn id="9" dur="3000" fill="hold"/>
                                        <p:tgtEl>
                                          <p:spTgt spid="97282"/>
                                        </p:tgtEl>
                                        <p:attrNameLst>
                                          <p:attrName>ppt_x</p:attrName>
                                        </p:attrNameLst>
                                      </p:cBhvr>
                                      <p:tavLst>
                                        <p:tav tm="0">
                                          <p:val>
                                            <p:fltVal val="0.5"/>
                                          </p:val>
                                        </p:tav>
                                        <p:tav tm="100000">
                                          <p:val>
                                            <p:strVal val="#ppt_x"/>
                                          </p:val>
                                        </p:tav>
                                      </p:tavLst>
                                    </p:anim>
                                    <p:anim calcmode="lin" valueType="num">
                                      <p:cBhvr>
                                        <p:cTn id="10" dur="3000" fill="hold"/>
                                        <p:tgtEl>
                                          <p:spTgt spid="9728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lstStyle/>
          <a:p>
            <a:fld id="{9E485BF5-A9BC-4D58-9D65-8570F0944152}" type="slidenum">
              <a:rPr lang="zh-CN" altLang="en-US" smtClean="0"/>
            </a:fld>
            <a:r>
              <a:rPr lang="en-US" altLang="zh-CN" dirty="0"/>
              <a:t>/30</a:t>
            </a:r>
            <a:endParaRPr lang="en-US" altLang="zh-CN" dirty="0"/>
          </a:p>
        </p:txBody>
      </p:sp>
      <p:sp>
        <p:nvSpPr>
          <p:cNvPr id="133122" name="Rectangle 2"/>
          <p:cNvSpPr>
            <a:spLocks noGrp="1" noChangeArrowheads="1"/>
          </p:cNvSpPr>
          <p:nvPr>
            <p:ph type="title"/>
          </p:nvPr>
        </p:nvSpPr>
        <p:spPr>
          <a:xfrm>
            <a:off x="2927350" y="76200"/>
            <a:ext cx="6537325" cy="762000"/>
          </a:xfrm>
        </p:spPr>
        <p:txBody>
          <a:bodyPr/>
          <a:lstStyle/>
          <a:p>
            <a:pPr algn="ctr"/>
            <a:r>
              <a:rPr lang="zh-CN" altLang="en-US" dirty="0">
                <a:latin typeface="华文琥珀" panose="02010800040101010101" pitchFamily="2" charset="-122"/>
              </a:rPr>
              <a:t>第五章复习</a:t>
            </a:r>
            <a:endParaRPr lang="zh-CN" altLang="en-US" dirty="0">
              <a:latin typeface="华文琥珀" panose="02010800040101010101" pitchFamily="2" charset="-122"/>
            </a:endParaRPr>
          </a:p>
        </p:txBody>
      </p:sp>
      <p:sp>
        <p:nvSpPr>
          <p:cNvPr id="133166" name="Text Box 46"/>
          <p:cNvSpPr txBox="1">
            <a:spLocks noChangeArrowheads="1"/>
          </p:cNvSpPr>
          <p:nvPr/>
        </p:nvSpPr>
        <p:spPr bwMode="auto">
          <a:xfrm>
            <a:off x="1703512" y="1844675"/>
            <a:ext cx="8964488" cy="3538220"/>
          </a:xfrm>
          <a:prstGeom prst="rect">
            <a:avLst/>
          </a:prstGeom>
          <a:noFill/>
          <a:ln w="9525">
            <a:noFill/>
            <a:miter lim="800000"/>
          </a:ln>
          <a:effectLst/>
        </p:spPr>
        <p:txBody>
          <a:bodyPr wrap="square">
            <a:spAutoFit/>
          </a:bodyPr>
          <a:lstStyle/>
          <a:p>
            <a:r>
              <a:rPr lang="en-US" altLang="zh-CN" sz="3200" dirty="0"/>
              <a:t>LC-3 </a:t>
            </a:r>
            <a:r>
              <a:rPr lang="zh-CN" altLang="en-US" sz="3200" dirty="0"/>
              <a:t>指令集架构（</a:t>
            </a:r>
            <a:r>
              <a:rPr lang="en-US" altLang="zh-CN" sz="3200" dirty="0"/>
              <a:t>ISA</a:t>
            </a:r>
            <a:r>
              <a:rPr lang="zh-CN" altLang="en-US" sz="3200" dirty="0"/>
              <a:t>）</a:t>
            </a:r>
            <a:endParaRPr lang="en-US" altLang="zh-CN" sz="3200" dirty="0"/>
          </a:p>
          <a:p>
            <a:endParaRPr lang="en-US" altLang="zh-CN" sz="3200" dirty="0"/>
          </a:p>
          <a:p>
            <a:r>
              <a:rPr lang="zh-CN" altLang="en-US" sz="3200" dirty="0"/>
              <a:t>操作指令、数据搬移指令、控制指令详解</a:t>
            </a:r>
            <a:endParaRPr lang="en-US" altLang="zh-CN" sz="3200" dirty="0"/>
          </a:p>
          <a:p>
            <a:endParaRPr lang="en-US" altLang="zh-CN" sz="3200" dirty="0"/>
          </a:p>
          <a:p>
            <a:pPr algn="just"/>
            <a:r>
              <a:rPr lang="en-US" altLang="zh-CN" sz="3200" dirty="0"/>
              <a:t>ISA </a:t>
            </a:r>
            <a:r>
              <a:rPr lang="zh-CN" altLang="en-US" sz="3200" dirty="0"/>
              <a:t>机器编程（</a:t>
            </a:r>
            <a:r>
              <a:rPr lang="en-US" altLang="zh-CN" sz="3200" dirty="0"/>
              <a:t>0/1</a:t>
            </a:r>
            <a:r>
              <a:rPr lang="zh-CN" altLang="en-US" sz="3200" dirty="0"/>
              <a:t>编程）</a:t>
            </a:r>
            <a:endParaRPr lang="en-US" altLang="zh-CN" sz="3200" dirty="0"/>
          </a:p>
          <a:p>
            <a:endParaRPr lang="en-US" altLang="zh-CN" sz="3200" dirty="0"/>
          </a:p>
          <a:p>
            <a:r>
              <a:rPr lang="en-US" altLang="zh-CN" sz="3200" dirty="0"/>
              <a:t>LC-3</a:t>
            </a:r>
            <a:r>
              <a:rPr lang="zh-CN" altLang="en-US" sz="3200" dirty="0"/>
              <a:t>数据通路架构</a:t>
            </a:r>
            <a:endParaRPr lang="en-US" altLang="zh-CN" sz="3200" dirty="0">
              <a:latin typeface="隶书" panose="02010509060101010101" pitchFamily="49" charset="-122"/>
              <a:ea typeface="隶书" panose="02010509060101010101" pitchFamily="49" charset="-122"/>
            </a:endParaRPr>
          </a:p>
        </p:txBody>
      </p:sp>
      <p:pic>
        <p:nvPicPr>
          <p:cNvPr id="133167" name="Picture 47"/>
          <p:cNvPicPr>
            <a:picLocks noChangeAspect="1" noChangeArrowheads="1"/>
          </p:cNvPicPr>
          <p:nvPr/>
        </p:nvPicPr>
        <p:blipFill>
          <a:blip r:embed="rId1" cstate="print"/>
          <a:srcRect/>
          <a:stretch>
            <a:fillRect/>
          </a:stretch>
        </p:blipFill>
        <p:spPr bwMode="auto">
          <a:xfrm>
            <a:off x="7464425" y="4437063"/>
            <a:ext cx="2520950" cy="1936750"/>
          </a:xfrm>
          <a:prstGeom prst="rect">
            <a:avLst/>
          </a:prstGeom>
          <a:noFill/>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66"/>
                                        </p:tgtEl>
                                        <p:attrNameLst>
                                          <p:attrName>style.visibility</p:attrName>
                                        </p:attrNameLst>
                                      </p:cBhvr>
                                      <p:to>
                                        <p:strVal val="visible"/>
                                      </p:to>
                                    </p:set>
                                    <p:animEffect transition="in" filter="fade">
                                      <p:cBhvr>
                                        <p:cTn id="7" dur="1000"/>
                                        <p:tgtEl>
                                          <p:spTgt spid="133166"/>
                                        </p:tgtEl>
                                      </p:cBhvr>
                                    </p:animEffect>
                                    <p:anim calcmode="lin" valueType="num">
                                      <p:cBhvr>
                                        <p:cTn id="8" dur="1000" fill="hold"/>
                                        <p:tgtEl>
                                          <p:spTgt spid="133166"/>
                                        </p:tgtEl>
                                        <p:attrNameLst>
                                          <p:attrName>ppt_x</p:attrName>
                                        </p:attrNameLst>
                                      </p:cBhvr>
                                      <p:tavLst>
                                        <p:tav tm="0">
                                          <p:val>
                                            <p:strVal val="#ppt_x"/>
                                          </p:val>
                                        </p:tav>
                                        <p:tav tm="100000">
                                          <p:val>
                                            <p:strVal val="#ppt_x"/>
                                          </p:val>
                                        </p:tav>
                                      </p:tavLst>
                                    </p:anim>
                                    <p:anim calcmode="lin" valueType="num">
                                      <p:cBhvr>
                                        <p:cTn id="9" dur="1000" fill="hold"/>
                                        <p:tgtEl>
                                          <p:spTgt spid="1331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nodeType="clickEffect">
                                  <p:stCondLst>
                                    <p:cond delay="0"/>
                                  </p:stCondLst>
                                  <p:childTnLst>
                                    <p:set>
                                      <p:cBhvr>
                                        <p:cTn id="13" dur="1" fill="hold">
                                          <p:stCondLst>
                                            <p:cond delay="0"/>
                                          </p:stCondLst>
                                        </p:cTn>
                                        <p:tgtEl>
                                          <p:spTgt spid="133167"/>
                                        </p:tgtEl>
                                        <p:attrNameLst>
                                          <p:attrName>style.visibility</p:attrName>
                                        </p:attrNameLst>
                                      </p:cBhvr>
                                      <p:to>
                                        <p:strVal val="visible"/>
                                      </p:to>
                                    </p:set>
                                    <p:anim calcmode="lin" valueType="num">
                                      <p:cBhvr>
                                        <p:cTn id="14" dur="1000" fill="hold"/>
                                        <p:tgtEl>
                                          <p:spTgt spid="133167"/>
                                        </p:tgtEl>
                                        <p:attrNameLst>
                                          <p:attrName>ppt_w</p:attrName>
                                        </p:attrNameLst>
                                      </p:cBhvr>
                                      <p:tavLst>
                                        <p:tav tm="0">
                                          <p:val>
                                            <p:fltVal val="0"/>
                                          </p:val>
                                        </p:tav>
                                        <p:tav tm="100000">
                                          <p:val>
                                            <p:strVal val="#ppt_w"/>
                                          </p:val>
                                        </p:tav>
                                      </p:tavLst>
                                    </p:anim>
                                    <p:anim calcmode="lin" valueType="num">
                                      <p:cBhvr>
                                        <p:cTn id="15" dur="1000" fill="hold"/>
                                        <p:tgtEl>
                                          <p:spTgt spid="133167"/>
                                        </p:tgtEl>
                                        <p:attrNameLst>
                                          <p:attrName>ppt_h</p:attrName>
                                        </p:attrNameLst>
                                      </p:cBhvr>
                                      <p:tavLst>
                                        <p:tav tm="0">
                                          <p:val>
                                            <p:fltVal val="0"/>
                                          </p:val>
                                        </p:tav>
                                        <p:tav tm="100000">
                                          <p:val>
                                            <p:strVal val="#ppt_h"/>
                                          </p:val>
                                        </p:tav>
                                      </p:tavLst>
                                    </p:anim>
                                    <p:anim calcmode="lin" valueType="num">
                                      <p:cBhvr>
                                        <p:cTn id="16" dur="1000" fill="hold"/>
                                        <p:tgtEl>
                                          <p:spTgt spid="133167"/>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13316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lstStyle/>
          <a:p>
            <a:fld id="{9E485BF5-A9BC-4D58-9D65-8570F0944152}" type="slidenum">
              <a:rPr lang="zh-CN" altLang="en-US"/>
            </a:fld>
            <a:r>
              <a:rPr lang="en-US" altLang="zh-CN" dirty="0"/>
              <a:t>/30</a:t>
            </a:r>
            <a:endParaRPr lang="en-US" altLang="zh-CN" dirty="0"/>
          </a:p>
        </p:txBody>
      </p:sp>
      <p:sp>
        <p:nvSpPr>
          <p:cNvPr id="133122" name="Rectangle 2"/>
          <p:cNvSpPr>
            <a:spLocks noGrp="1" noChangeArrowheads="1"/>
          </p:cNvSpPr>
          <p:nvPr>
            <p:ph type="title"/>
          </p:nvPr>
        </p:nvSpPr>
        <p:spPr>
          <a:xfrm>
            <a:off x="2927350" y="76200"/>
            <a:ext cx="6537325" cy="762000"/>
          </a:xfrm>
        </p:spPr>
        <p:txBody>
          <a:bodyPr/>
          <a:lstStyle/>
          <a:p>
            <a:pPr algn="ctr"/>
            <a:r>
              <a:rPr lang="zh-CN" altLang="en-US" dirty="0">
                <a:latin typeface="华文琥珀" panose="02010800040101010101" pitchFamily="2" charset="-122"/>
              </a:rPr>
              <a:t>第六章内容</a:t>
            </a:r>
            <a:endParaRPr lang="zh-CN" altLang="en-US" dirty="0">
              <a:latin typeface="华文琥珀" panose="02010800040101010101" pitchFamily="2" charset="-122"/>
            </a:endParaRPr>
          </a:p>
        </p:txBody>
      </p:sp>
      <p:sp>
        <p:nvSpPr>
          <p:cNvPr id="133166" name="Text Box 46"/>
          <p:cNvSpPr txBox="1">
            <a:spLocks noChangeArrowheads="1"/>
          </p:cNvSpPr>
          <p:nvPr/>
        </p:nvSpPr>
        <p:spPr bwMode="auto">
          <a:xfrm>
            <a:off x="1703512" y="1268760"/>
            <a:ext cx="8964488" cy="1445260"/>
          </a:xfrm>
          <a:prstGeom prst="rect">
            <a:avLst/>
          </a:prstGeom>
          <a:noFill/>
          <a:ln w="9525">
            <a:noFill/>
            <a:miter lim="800000"/>
          </a:ln>
          <a:effectLst/>
        </p:spPr>
        <p:txBody>
          <a:bodyPr wrap="square">
            <a:spAutoFit/>
          </a:bodyPr>
          <a:lstStyle/>
          <a:p>
            <a:r>
              <a:rPr lang="en-US" altLang="zh-CN" sz="3200" b="1" dirty="0">
                <a:latin typeface="隶书" panose="02010509060101010101" pitchFamily="49" charset="-122"/>
                <a:ea typeface="隶书" panose="02010509060101010101" pitchFamily="49" charset="-122"/>
              </a:rPr>
              <a:t>6.1 </a:t>
            </a:r>
            <a:r>
              <a:rPr lang="zh-CN" altLang="en-US" sz="3200" b="1" dirty="0">
                <a:latin typeface="隶书" panose="02010509060101010101" pitchFamily="49" charset="-122"/>
                <a:ea typeface="隶书" panose="02010509060101010101" pitchFamily="49" charset="-122"/>
              </a:rPr>
              <a:t>问题求解</a:t>
            </a:r>
            <a:endParaRPr lang="en-US" altLang="zh-CN" sz="3200" b="1" dirty="0">
              <a:latin typeface="隶书" panose="02010509060101010101" pitchFamily="49" charset="-122"/>
              <a:ea typeface="隶书" panose="02010509060101010101" pitchFamily="49" charset="-122"/>
            </a:endParaRPr>
          </a:p>
          <a:p>
            <a:r>
              <a:rPr lang="en-US" altLang="zh-CN" sz="3200" b="1" dirty="0">
                <a:latin typeface="隶书" panose="02010509060101010101" pitchFamily="49" charset="-122"/>
                <a:ea typeface="隶书" panose="02010509060101010101" pitchFamily="49" charset="-122"/>
              </a:rPr>
              <a:t>6.2 </a:t>
            </a:r>
            <a:r>
              <a:rPr lang="zh-CN" altLang="en-US" sz="3200" b="1" dirty="0">
                <a:latin typeface="隶书" panose="02010509060101010101" pitchFamily="49" charset="-122"/>
                <a:ea typeface="隶书" panose="02010509060101010101" pitchFamily="49" charset="-122"/>
              </a:rPr>
              <a:t>调试</a:t>
            </a:r>
            <a:endParaRPr lang="en-US" altLang="zh-CN" sz="3200" b="1" dirty="0">
              <a:latin typeface="隶书" panose="02010509060101010101" pitchFamily="49" charset="-122"/>
              <a:ea typeface="隶书" panose="02010509060101010101" pitchFamily="49" charset="-122"/>
            </a:endParaRPr>
          </a:p>
          <a:p>
            <a:pPr lvl="1"/>
            <a:endParaRPr lang="en-US" altLang="zh-CN" dirty="0">
              <a:latin typeface="隶书" panose="02010509060101010101" pitchFamily="49" charset="-122"/>
              <a:ea typeface="隶书" panose="02010509060101010101" pitchFamily="49" charset="-122"/>
            </a:endParaRPr>
          </a:p>
        </p:txBody>
      </p:sp>
      <p:pic>
        <p:nvPicPr>
          <p:cNvPr id="133167" name="Picture 47"/>
          <p:cNvPicPr>
            <a:picLocks noChangeAspect="1" noChangeArrowheads="1"/>
          </p:cNvPicPr>
          <p:nvPr/>
        </p:nvPicPr>
        <p:blipFill>
          <a:blip r:embed="rId1" cstate="print"/>
          <a:srcRect/>
          <a:stretch>
            <a:fillRect/>
          </a:stretch>
        </p:blipFill>
        <p:spPr bwMode="auto">
          <a:xfrm>
            <a:off x="7464425" y="4437063"/>
            <a:ext cx="2520950" cy="1936750"/>
          </a:xfrm>
          <a:prstGeom prst="rect">
            <a:avLst/>
          </a:prstGeom>
          <a:noFill/>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66"/>
                                        </p:tgtEl>
                                        <p:attrNameLst>
                                          <p:attrName>style.visibility</p:attrName>
                                        </p:attrNameLst>
                                      </p:cBhvr>
                                      <p:to>
                                        <p:strVal val="visible"/>
                                      </p:to>
                                    </p:set>
                                    <p:animEffect transition="in" filter="fade">
                                      <p:cBhvr>
                                        <p:cTn id="7" dur="1000"/>
                                        <p:tgtEl>
                                          <p:spTgt spid="133166"/>
                                        </p:tgtEl>
                                      </p:cBhvr>
                                    </p:animEffect>
                                    <p:anim calcmode="lin" valueType="num">
                                      <p:cBhvr>
                                        <p:cTn id="8" dur="1000" fill="hold"/>
                                        <p:tgtEl>
                                          <p:spTgt spid="133166"/>
                                        </p:tgtEl>
                                        <p:attrNameLst>
                                          <p:attrName>ppt_x</p:attrName>
                                        </p:attrNameLst>
                                      </p:cBhvr>
                                      <p:tavLst>
                                        <p:tav tm="0">
                                          <p:val>
                                            <p:strVal val="#ppt_x"/>
                                          </p:val>
                                        </p:tav>
                                        <p:tav tm="100000">
                                          <p:val>
                                            <p:strVal val="#ppt_x"/>
                                          </p:val>
                                        </p:tav>
                                      </p:tavLst>
                                    </p:anim>
                                    <p:anim calcmode="lin" valueType="num">
                                      <p:cBhvr>
                                        <p:cTn id="9" dur="1000" fill="hold"/>
                                        <p:tgtEl>
                                          <p:spTgt spid="1331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nodeType="clickEffect">
                                  <p:stCondLst>
                                    <p:cond delay="0"/>
                                  </p:stCondLst>
                                  <p:childTnLst>
                                    <p:set>
                                      <p:cBhvr>
                                        <p:cTn id="13" dur="1" fill="hold">
                                          <p:stCondLst>
                                            <p:cond delay="0"/>
                                          </p:stCondLst>
                                        </p:cTn>
                                        <p:tgtEl>
                                          <p:spTgt spid="133167"/>
                                        </p:tgtEl>
                                        <p:attrNameLst>
                                          <p:attrName>style.visibility</p:attrName>
                                        </p:attrNameLst>
                                      </p:cBhvr>
                                      <p:to>
                                        <p:strVal val="visible"/>
                                      </p:to>
                                    </p:set>
                                    <p:anim calcmode="lin" valueType="num">
                                      <p:cBhvr>
                                        <p:cTn id="14" dur="1000" fill="hold"/>
                                        <p:tgtEl>
                                          <p:spTgt spid="133167"/>
                                        </p:tgtEl>
                                        <p:attrNameLst>
                                          <p:attrName>ppt_w</p:attrName>
                                        </p:attrNameLst>
                                      </p:cBhvr>
                                      <p:tavLst>
                                        <p:tav tm="0">
                                          <p:val>
                                            <p:fltVal val="0"/>
                                          </p:val>
                                        </p:tav>
                                        <p:tav tm="100000">
                                          <p:val>
                                            <p:strVal val="#ppt_w"/>
                                          </p:val>
                                        </p:tav>
                                      </p:tavLst>
                                    </p:anim>
                                    <p:anim calcmode="lin" valueType="num">
                                      <p:cBhvr>
                                        <p:cTn id="15" dur="1000" fill="hold"/>
                                        <p:tgtEl>
                                          <p:spTgt spid="133167"/>
                                        </p:tgtEl>
                                        <p:attrNameLst>
                                          <p:attrName>ppt_h</p:attrName>
                                        </p:attrNameLst>
                                      </p:cBhvr>
                                      <p:tavLst>
                                        <p:tav tm="0">
                                          <p:val>
                                            <p:fltVal val="0"/>
                                          </p:val>
                                        </p:tav>
                                        <p:tav tm="100000">
                                          <p:val>
                                            <p:strVal val="#ppt_h"/>
                                          </p:val>
                                        </p:tav>
                                      </p:tavLst>
                                    </p:anim>
                                    <p:anim calcmode="lin" valueType="num">
                                      <p:cBhvr>
                                        <p:cTn id="16" dur="1000" fill="hold"/>
                                        <p:tgtEl>
                                          <p:spTgt spid="133167"/>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13316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r>
              <a:rPr lang="en-US" altLang="zh-CN" sz="2800" dirty="0">
                <a:latin typeface="隶书" panose="02010509060101010101" pitchFamily="49" charset="-122"/>
                <a:ea typeface="隶书" panose="02010509060101010101" pitchFamily="49" charset="-122"/>
              </a:rPr>
              <a:t>6.1.1 </a:t>
            </a:r>
            <a:r>
              <a:rPr lang="zh-CN" altLang="en-US" sz="2800" dirty="0">
                <a:latin typeface="隶书" panose="02010509060101010101" pitchFamily="49" charset="-122"/>
                <a:ea typeface="隶书" panose="02010509060101010101" pitchFamily="49" charset="-122"/>
              </a:rPr>
              <a:t>系统分解</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、算法的特性</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 有限性</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确定性</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可计算性</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.1 问题求解</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r>
              <a:rPr lang="en-US" altLang="zh-CN" sz="2800" dirty="0">
                <a:latin typeface="隶书" panose="02010509060101010101" pitchFamily="49" charset="-122"/>
                <a:ea typeface="隶书" panose="02010509060101010101" pitchFamily="49" charset="-122"/>
              </a:rPr>
              <a:t>6.1.1 </a:t>
            </a:r>
            <a:r>
              <a:rPr lang="zh-CN" altLang="en-US" sz="2800" dirty="0">
                <a:latin typeface="隶书" panose="02010509060101010101" pitchFamily="49" charset="-122"/>
                <a:ea typeface="隶书" panose="02010509060101010101" pitchFamily="49" charset="-122"/>
              </a:rPr>
              <a:t>系统分解</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、结构化编程</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目的：使得多个程序员共同承担一个复杂问题的求解任务。</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方法：将问题系统地分解成多个独立的足够小的模块，同时要求这些小单元具备可被每个程序员独立编程实现和运行的特性。</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该机制又称系统分解，即一个大任务被分解成了多个子任务的集合。</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.1 问题求解</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r>
              <a:rPr lang="en-US" altLang="zh-CN" sz="2800" dirty="0">
                <a:latin typeface="隶书" panose="02010509060101010101" pitchFamily="49" charset="-122"/>
                <a:ea typeface="隶书" panose="02010509060101010101" pitchFamily="49" charset="-122"/>
              </a:rPr>
              <a:t>6.1.2 </a:t>
            </a:r>
            <a:r>
              <a:rPr lang="zh-CN" altLang="en-US" sz="2800" dirty="0">
                <a:latin typeface="隶书" panose="02010509060101010101" pitchFamily="49" charset="-122"/>
                <a:ea typeface="隶书" panose="02010509060101010101" pitchFamily="49" charset="-122"/>
              </a:rPr>
              <a:t>三种结构：顺序、条件、循环</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、系统分解</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r>
              <a:rPr lang="zh-CN" altLang="en-US" sz="2800" dirty="0">
                <a:latin typeface="隶书" panose="02010509060101010101" pitchFamily="49" charset="-122"/>
                <a:ea typeface="隶书" panose="02010509060101010101" pitchFamily="49" charset="-122"/>
              </a:rPr>
              <a:t> 逐步细化</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、三种结构</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顺序结构</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条件结构</a:t>
            </a:r>
            <a:endParaRPr lang="en-US" altLang="zh-CN" sz="2800" dirty="0">
              <a:latin typeface="隶书" panose="02010509060101010101" pitchFamily="49" charset="-122"/>
              <a:ea typeface="隶书" panose="02010509060101010101" pitchFamily="49" charset="-122"/>
            </a:endParaRPr>
          </a:p>
          <a:p>
            <a:pPr marL="514350" indent="-514350">
              <a:buFont typeface="+mj-ea"/>
              <a:buAutoNum type="circleNumDbPlain"/>
            </a:pPr>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循环结构</a:t>
            </a:r>
            <a:endParaRPr lang="en-US" altLang="zh-CN" sz="2800" dirty="0">
              <a:latin typeface="隶书" panose="02010509060101010101" pitchFamily="49" charset="-122"/>
              <a:ea typeface="隶书" panose="02010509060101010101" pitchFamily="49" charset="-122"/>
            </a:endParaRPr>
          </a:p>
          <a:p>
            <a:pPr marL="514350" indent="-514350"/>
            <a:r>
              <a:rPr lang="en-US" altLang="zh-CN" sz="2800" dirty="0">
                <a:latin typeface="隶书" panose="02010509060101010101" pitchFamily="49" charset="-122"/>
                <a:ea typeface="隶书" panose="02010509060101010101" pitchFamily="49" charset="-122"/>
              </a:rPr>
              <a:t> </a:t>
            </a:r>
            <a:endParaRPr lang="en-US" altLang="zh-CN" sz="2800" dirty="0">
              <a:latin typeface="隶书" panose="02010509060101010101" pitchFamily="49" charset="-122"/>
              <a:ea typeface="隶书" panose="02010509060101010101" pitchFamily="49" charset="-122"/>
            </a:endParaRPr>
          </a:p>
          <a:p>
            <a:pPr marL="514350" indent="-514350"/>
            <a:r>
              <a:rPr lang="zh-CN" altLang="en-US" sz="2800" dirty="0">
                <a:latin typeface="隶书" panose="02010509060101010101" pitchFamily="49" charset="-122"/>
                <a:ea typeface="隶书" panose="02010509060101010101" pitchFamily="49" charset="-122"/>
              </a:rPr>
              <a:t>重要特征：单入口，单出口</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.1 问题求解</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E710427F-6C96-4FB9-BACC-AE4A7A624A67}" type="slidenum">
              <a:rPr lang="zh-CN" altLang="en-US" smtClean="0"/>
            </a:fld>
            <a:r>
              <a:rPr lang="en-US" altLang="zh-CN"/>
              <a:t>/30</a:t>
            </a:r>
            <a:endParaRPr lang="en-US" altLang="zh-CN"/>
          </a:p>
        </p:txBody>
      </p:sp>
      <p:pic>
        <p:nvPicPr>
          <p:cNvPr id="3" name="图片 2"/>
          <p:cNvPicPr>
            <a:picLocks noChangeAspect="1"/>
          </p:cNvPicPr>
          <p:nvPr/>
        </p:nvPicPr>
        <p:blipFill rotWithShape="1">
          <a:blip r:embed="rId1"/>
          <a:srcRect l="34269" t="23400" r="33481" b="34600"/>
          <a:stretch>
            <a:fillRect/>
          </a:stretch>
        </p:blipFill>
        <p:spPr>
          <a:xfrm>
            <a:off x="2639616" y="899040"/>
            <a:ext cx="7614359" cy="5577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r>
              <a:rPr lang="en-US" altLang="zh-CN" sz="2800" dirty="0">
                <a:latin typeface="隶书" panose="02010509060101010101" pitchFamily="49" charset="-122"/>
                <a:ea typeface="隶书" panose="02010509060101010101" pitchFamily="49" charset="-122"/>
              </a:rPr>
              <a:t>6.1.4 </a:t>
            </a:r>
            <a:r>
              <a:rPr lang="zh-CN" altLang="en-US" sz="2800" dirty="0">
                <a:latin typeface="隶书" panose="02010509060101010101" pitchFamily="49" charset="-122"/>
                <a:ea typeface="隶书" panose="02010509060101010101" pitchFamily="49" charset="-122"/>
              </a:rPr>
              <a:t>实现三种结构的</a:t>
            </a:r>
            <a:r>
              <a:rPr lang="en-US" altLang="zh-CN" sz="2800" dirty="0">
                <a:latin typeface="隶书" panose="02010509060101010101" pitchFamily="49" charset="-122"/>
                <a:ea typeface="隶书" panose="02010509060101010101" pitchFamily="49" charset="-122"/>
              </a:rPr>
              <a:t>LC-3</a:t>
            </a:r>
            <a:r>
              <a:rPr lang="zh-CN" altLang="en-US" sz="2800" dirty="0">
                <a:latin typeface="隶书" panose="02010509060101010101" pitchFamily="49" charset="-122"/>
                <a:ea typeface="隶书" panose="02010509060101010101" pitchFamily="49" charset="-122"/>
              </a:rPr>
              <a:t>指令</a:t>
            </a:r>
            <a:endParaRPr lang="en-US" altLang="zh-CN" sz="2800" dirty="0">
              <a:latin typeface="隶书" panose="02010509060101010101" pitchFamily="49" charset="-122"/>
              <a:ea typeface="隶书" panose="02010509060101010101" pitchFamily="49" charset="-122"/>
            </a:endParaRPr>
          </a:p>
          <a:p>
            <a:pPr marL="514350" indent="-514350"/>
            <a:r>
              <a:rPr lang="en-US" altLang="zh-CN" sz="2800" dirty="0">
                <a:latin typeface="隶书" panose="02010509060101010101" pitchFamily="49" charset="-122"/>
                <a:ea typeface="隶书" panose="02010509060101010101" pitchFamily="49" charset="-122"/>
              </a:rPr>
              <a:t> </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BR 0000 </a:t>
            </a:r>
            <a:r>
              <a:rPr lang="en-US" altLang="zh-CN" sz="2800" dirty="0" err="1">
                <a:latin typeface="隶书" panose="02010509060101010101" pitchFamily="49" charset="-122"/>
                <a:ea typeface="隶书" panose="02010509060101010101" pitchFamily="49" charset="-122"/>
              </a:rPr>
              <a:t>nzp</a:t>
            </a:r>
            <a:r>
              <a:rPr lang="en-US" altLang="zh-CN" sz="2800" dirty="0">
                <a:latin typeface="隶书" panose="02010509060101010101" pitchFamily="49" charset="-122"/>
                <a:ea typeface="隶书" panose="02010509060101010101" pitchFamily="49" charset="-122"/>
              </a:rPr>
              <a:t> 9</a:t>
            </a:r>
            <a:r>
              <a:rPr lang="zh-CN" altLang="en-US" sz="2800" dirty="0">
                <a:latin typeface="隶书" panose="02010509060101010101" pitchFamily="49" charset="-122"/>
                <a:ea typeface="隶书" panose="02010509060101010101" pitchFamily="49" charset="-122"/>
              </a:rPr>
              <a:t>位</a:t>
            </a:r>
            <a:r>
              <a:rPr lang="en-US" altLang="zh-CN" sz="2800" dirty="0">
                <a:latin typeface="隶书" panose="02010509060101010101" pitchFamily="49" charset="-122"/>
                <a:ea typeface="隶书" panose="02010509060101010101" pitchFamily="49" charset="-122"/>
              </a:rPr>
              <a:t>pc</a:t>
            </a:r>
            <a:r>
              <a:rPr lang="zh-CN" altLang="en-US" sz="2800" dirty="0">
                <a:latin typeface="隶书" panose="02010509060101010101" pitchFamily="49" charset="-122"/>
                <a:ea typeface="隶书" panose="02010509060101010101" pitchFamily="49" charset="-122"/>
              </a:rPr>
              <a:t>偏移</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0000 111 9</a:t>
            </a:r>
            <a:r>
              <a:rPr lang="zh-CN" altLang="en-US" sz="2800" dirty="0">
                <a:latin typeface="隶书" panose="02010509060101010101" pitchFamily="49" charset="-122"/>
                <a:ea typeface="隶书" panose="02010509060101010101" pitchFamily="49" charset="-122"/>
              </a:rPr>
              <a:t>位</a:t>
            </a:r>
            <a:r>
              <a:rPr lang="en-US" altLang="zh-CN" sz="2800" dirty="0">
                <a:latin typeface="隶书" panose="02010509060101010101" pitchFamily="49" charset="-122"/>
                <a:ea typeface="隶书" panose="02010509060101010101" pitchFamily="49" charset="-122"/>
              </a:rPr>
              <a:t>pc</a:t>
            </a:r>
            <a:r>
              <a:rPr lang="zh-CN" altLang="en-US" sz="2800" dirty="0">
                <a:latin typeface="隶书" panose="02010509060101010101" pitchFamily="49" charset="-122"/>
                <a:ea typeface="隶书" panose="02010509060101010101" pitchFamily="49" charset="-122"/>
              </a:rPr>
              <a:t>偏移 无条件跳转</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pp106 </a:t>
            </a:r>
            <a:r>
              <a:rPr lang="zh-CN" altLang="en-US" sz="2800" dirty="0">
                <a:latin typeface="隶书" panose="02010509060101010101" pitchFamily="49" charset="-122"/>
                <a:ea typeface="隶书" panose="02010509060101010101" pitchFamily="49" charset="-122"/>
              </a:rPr>
              <a:t>图</a:t>
            </a:r>
            <a:r>
              <a:rPr lang="en-US" altLang="zh-CN" sz="2800" dirty="0">
                <a:latin typeface="隶书" panose="02010509060101010101" pitchFamily="49" charset="-122"/>
                <a:ea typeface="隶书" panose="02010509060101010101" pitchFamily="49" charset="-122"/>
              </a:rPr>
              <a:t>6-2</a:t>
            </a:r>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.1 问题求解</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E710427F-6C96-4FB9-BACC-AE4A7A624A67}" type="slidenum">
              <a:rPr lang="zh-CN" altLang="en-US" smtClean="0"/>
            </a:fld>
            <a:r>
              <a:rPr lang="en-US" altLang="zh-CN"/>
              <a:t>/30</a:t>
            </a:r>
            <a:endParaRPr lang="en-US" altLang="zh-CN"/>
          </a:p>
        </p:txBody>
      </p:sp>
      <p:pic>
        <p:nvPicPr>
          <p:cNvPr id="3" name="图片 2"/>
          <p:cNvPicPr>
            <a:picLocks noChangeAspect="1"/>
          </p:cNvPicPr>
          <p:nvPr/>
        </p:nvPicPr>
        <p:blipFill rotWithShape="1">
          <a:blip r:embed="rId1"/>
          <a:srcRect l="35038" t="25344" r="32675" b="29685"/>
          <a:stretch>
            <a:fillRect/>
          </a:stretch>
        </p:blipFill>
        <p:spPr>
          <a:xfrm>
            <a:off x="2639616" y="980728"/>
            <a:ext cx="7404507" cy="58010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3"/>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1443" name="Rectangle 1026"/>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例子：字符数统计</a:t>
            </a:r>
            <a:endParaRPr lang="en-US" altLang="zh-CN" dirty="0">
              <a:ea typeface="宋体" panose="02010600030101010101" pitchFamily="2" charset="-122"/>
            </a:endParaRPr>
          </a:p>
        </p:txBody>
      </p:sp>
      <p:sp>
        <p:nvSpPr>
          <p:cNvPr id="61444" name="Rectangle 1027"/>
          <p:cNvSpPr>
            <a:spLocks noGrp="1"/>
          </p:cNvSpPr>
          <p:nvPr>
            <p:ph idx="1"/>
          </p:nvPr>
        </p:nvSpPr>
        <p:spPr>
          <a:xfrm>
            <a:off x="1752600" y="1143000"/>
            <a:ext cx="8686800" cy="5334000"/>
          </a:xfrm>
        </p:spPr>
        <p:txBody>
          <a:bodyPr vert="horz" wrap="square" lIns="91440" tIns="45720" rIns="91440" bIns="45720" anchor="t" anchorCtr="0"/>
          <a:p>
            <a:pPr>
              <a:lnSpc>
                <a:spcPct val="90000"/>
              </a:lnSpc>
            </a:pPr>
            <a:r>
              <a:rPr lang="zh-CN" altLang="en-US" dirty="0">
                <a:solidFill>
                  <a:srgbClr val="CE0000"/>
                </a:solidFill>
                <a:ea typeface="宋体" panose="02010600030101010101" pitchFamily="2" charset="-122"/>
              </a:rPr>
              <a:t>计算一个文件中特定字符出现的次数</a:t>
            </a:r>
            <a:endParaRPr lang="en-US" altLang="zh-CN" dirty="0">
              <a:solidFill>
                <a:srgbClr val="CE0000"/>
              </a:solidFill>
              <a:ea typeface="宋体" panose="02010600030101010101" pitchFamily="2" charset="-122"/>
            </a:endParaRPr>
          </a:p>
          <a:p>
            <a:pPr lvl="1">
              <a:lnSpc>
                <a:spcPct val="90000"/>
              </a:lnSpc>
            </a:pPr>
            <a:r>
              <a:rPr lang="zh-CN" altLang="en-US" dirty="0">
                <a:ea typeface="宋体" panose="02010600030101010101" pitchFamily="2" charset="-122"/>
              </a:rPr>
              <a:t>程序开始地址</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x3000</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从键盘读入要统计次数的字符</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从文件</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“file”)</a:t>
            </a:r>
            <a:r>
              <a:rPr lang="zh-CN" altLang="en-US" dirty="0">
                <a:ea typeface="宋体" panose="02010600030101010101" pitchFamily="2" charset="-122"/>
              </a:rPr>
              <a:t>中读取字符</a:t>
            </a:r>
            <a:endParaRPr lang="en-US" altLang="zh-CN" dirty="0">
              <a:ea typeface="宋体" panose="02010600030101010101" pitchFamily="2" charset="-122"/>
            </a:endParaRPr>
          </a:p>
          <a:p>
            <a:pPr lvl="2">
              <a:lnSpc>
                <a:spcPct val="90000"/>
              </a:lnSpc>
            </a:pPr>
            <a:r>
              <a:rPr lang="zh-CN" altLang="en-US" sz="1800" b="0" dirty="0">
                <a:ea typeface="宋体" panose="02010600030101010101" pitchFamily="2" charset="-122"/>
              </a:rPr>
              <a:t>程序中的</a:t>
            </a:r>
            <a:r>
              <a:rPr lang="en-US" altLang="zh-CN" sz="1800" b="0" dirty="0">
                <a:ea typeface="宋体" panose="02010600030101010101" pitchFamily="2" charset="-122"/>
              </a:rPr>
              <a:t>”</a:t>
            </a:r>
            <a:r>
              <a:rPr lang="zh-CN" altLang="en-US" sz="1800" b="0" dirty="0">
                <a:ea typeface="宋体" panose="02010600030101010101" pitchFamily="2" charset="-122"/>
              </a:rPr>
              <a:t>文件</a:t>
            </a:r>
            <a:r>
              <a:rPr lang="en-US" altLang="zh-CN" sz="1800" b="0" dirty="0">
                <a:ea typeface="宋体" panose="02010600030101010101" pitchFamily="2" charset="-122"/>
              </a:rPr>
              <a:t>”</a:t>
            </a:r>
            <a:r>
              <a:rPr lang="zh-CN" altLang="en-US" sz="1800" b="0" dirty="0">
                <a:ea typeface="宋体" panose="02010600030101010101" pitchFamily="2" charset="-122"/>
              </a:rPr>
              <a:t>概念是指一个连续的内存存储区域</a:t>
            </a:r>
            <a:endParaRPr lang="en-US" altLang="zh-CN" sz="1800" b="0" dirty="0">
              <a:ea typeface="宋体" panose="02010600030101010101" pitchFamily="2" charset="-122"/>
            </a:endParaRPr>
          </a:p>
          <a:p>
            <a:pPr lvl="2">
              <a:lnSpc>
                <a:spcPct val="90000"/>
              </a:lnSpc>
            </a:pPr>
            <a:r>
              <a:rPr lang="zh-CN" altLang="en-US" sz="1800" b="0" dirty="0">
                <a:ea typeface="宋体" panose="02010600030101010101" pitchFamily="2" charset="-122"/>
              </a:rPr>
              <a:t>文件的开始地址紧邻在程序代码的存储区域之后</a:t>
            </a:r>
            <a:endParaRPr lang="en-US" altLang="zh-CN" sz="1800" b="0" dirty="0">
              <a:ea typeface="宋体" panose="02010600030101010101" pitchFamily="2" charset="-122"/>
            </a:endParaRPr>
          </a:p>
          <a:p>
            <a:pPr lvl="1">
              <a:lnSpc>
                <a:spcPct val="90000"/>
              </a:lnSpc>
            </a:pPr>
            <a:r>
              <a:rPr lang="zh-CN" altLang="en-US" dirty="0">
                <a:ea typeface="宋体" panose="02010600030101010101" pitchFamily="2" charset="-122"/>
              </a:rPr>
              <a:t>文件中存在和输入字符相同的字符则计数器</a:t>
            </a:r>
            <a:r>
              <a:rPr lang="en-US" altLang="zh-CN" dirty="0">
                <a:ea typeface="宋体" panose="02010600030101010101" pitchFamily="2" charset="-122"/>
              </a:rPr>
              <a:t>+1</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文件采用哨兵机制</a:t>
            </a:r>
            <a:r>
              <a:rPr lang="en-US" altLang="zh-CN" dirty="0">
                <a:ea typeface="宋体" panose="02010600030101010101" pitchFamily="2" charset="-122"/>
              </a:rPr>
              <a:t>.</a:t>
            </a:r>
            <a:r>
              <a:rPr lang="zh-CN" altLang="en-US" dirty="0">
                <a:ea typeface="宋体" panose="02010600030101010101" pitchFamily="2" charset="-122"/>
              </a:rPr>
              <a:t>结束标志为 一个特殊的</a:t>
            </a:r>
            <a:r>
              <a:rPr lang="en-US" altLang="zh-CN" dirty="0">
                <a:ea typeface="宋体" panose="02010600030101010101" pitchFamily="2" charset="-122"/>
              </a:rPr>
              <a:t>ASCII</a:t>
            </a:r>
            <a:r>
              <a:rPr lang="zh-CN" altLang="en-US" dirty="0">
                <a:ea typeface="宋体" panose="02010600030101010101" pitchFamily="2" charset="-122"/>
              </a:rPr>
              <a:t>码</a:t>
            </a:r>
            <a:r>
              <a:rPr lang="en-US" altLang="zh-CN" dirty="0">
                <a:ea typeface="宋体" panose="02010600030101010101" pitchFamily="2" charset="-122"/>
              </a:rPr>
              <a:t>: </a:t>
            </a:r>
            <a:r>
              <a:rPr lang="en-US" altLang="zh-CN" dirty="0">
                <a:solidFill>
                  <a:srgbClr val="009900"/>
                </a:solidFill>
                <a:ea typeface="宋体" panose="02010600030101010101" pitchFamily="2" charset="-122"/>
              </a:rPr>
              <a:t>EOT (x04)</a:t>
            </a:r>
            <a:endParaRPr lang="en-US" altLang="zh-CN" dirty="0">
              <a:solidFill>
                <a:srgbClr val="009900"/>
              </a:solidFill>
              <a:ea typeface="宋体" panose="02010600030101010101" pitchFamily="2" charset="-122"/>
            </a:endParaRPr>
          </a:p>
          <a:p>
            <a:pPr lvl="1">
              <a:lnSpc>
                <a:spcPct val="90000"/>
              </a:lnSpc>
            </a:pPr>
            <a:r>
              <a:rPr lang="zh-CN" altLang="en-US" dirty="0">
                <a:ea typeface="宋体" panose="02010600030101010101" pitchFamily="2" charset="-122"/>
              </a:rPr>
              <a:t>程序结束输出统计结果</a:t>
            </a:r>
            <a:br>
              <a:rPr lang="en-US" altLang="zh-CN" dirty="0">
                <a:ea typeface="宋体" panose="02010600030101010101" pitchFamily="2" charset="-122"/>
              </a:rPr>
            </a:br>
            <a:r>
              <a:rPr lang="en-US" altLang="zh-CN" sz="1800" b="0" dirty="0">
                <a:ea typeface="宋体" panose="02010600030101010101" pitchFamily="2" charset="-122"/>
              </a:rPr>
              <a:t>(</a:t>
            </a:r>
            <a:r>
              <a:rPr lang="zh-CN" altLang="en-US" sz="1800" b="0" dirty="0">
                <a:ea typeface="宋体" panose="02010600030101010101" pitchFamily="2" charset="-122"/>
              </a:rPr>
              <a:t>假定字符出现次数不超过</a:t>
            </a:r>
            <a:r>
              <a:rPr lang="en-US" altLang="zh-CN" sz="1800" b="0" dirty="0">
                <a:ea typeface="宋体" panose="02010600030101010101" pitchFamily="2" charset="-122"/>
              </a:rPr>
              <a:t>10</a:t>
            </a:r>
            <a:r>
              <a:rPr lang="zh-CN" altLang="en-US" sz="1800" b="0" dirty="0">
                <a:ea typeface="宋体" panose="02010600030101010101" pitchFamily="2" charset="-122"/>
              </a:rPr>
              <a:t>个</a:t>
            </a:r>
            <a:r>
              <a:rPr lang="en-US" altLang="zh-CN" sz="1800" b="0" dirty="0">
                <a:ea typeface="宋体" panose="02010600030101010101" pitchFamily="2" charset="-122"/>
              </a:rPr>
              <a:t>,</a:t>
            </a:r>
            <a:r>
              <a:rPr lang="zh-CN" altLang="en-US" sz="1800" b="0" dirty="0">
                <a:ea typeface="宋体" panose="02010600030101010101" pitchFamily="2" charset="-122"/>
              </a:rPr>
              <a:t> 方便输出</a:t>
            </a:r>
            <a:r>
              <a:rPr lang="en-US" altLang="zh-CN" sz="1800" b="0" dirty="0">
                <a:ea typeface="宋体" panose="02010600030101010101" pitchFamily="2" charset="-122"/>
              </a:rPr>
              <a:t>)</a:t>
            </a:r>
            <a:endParaRPr lang="en-US" altLang="zh-CN" dirty="0">
              <a:ea typeface="宋体" panose="02010600030101010101" pitchFamily="2" charset="-122"/>
            </a:endParaRPr>
          </a:p>
          <a:p>
            <a:pPr>
              <a:lnSpc>
                <a:spcPct val="90000"/>
              </a:lnSpc>
            </a:pPr>
            <a:endParaRPr lang="en-US" altLang="zh-CN" dirty="0">
              <a:solidFill>
                <a:srgbClr val="009900"/>
              </a:solidFill>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2467"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Flow Chart</a:t>
            </a:r>
            <a:endParaRPr lang="en-US" altLang="zh-CN" dirty="0">
              <a:ea typeface="宋体" panose="02010600030101010101" pitchFamily="2" charset="-122"/>
            </a:endParaRPr>
          </a:p>
        </p:txBody>
      </p:sp>
      <p:graphicFrame>
        <p:nvGraphicFramePr>
          <p:cNvPr id="62468" name="Object 0"/>
          <p:cNvGraphicFramePr>
            <a:graphicFrameLocks noChangeAspect="1"/>
          </p:cNvGraphicFramePr>
          <p:nvPr/>
        </p:nvGraphicFramePr>
        <p:xfrm>
          <a:off x="1735138" y="1295400"/>
          <a:ext cx="8720137" cy="5040313"/>
        </p:xfrm>
        <a:graphic>
          <a:graphicData uri="http://schemas.openxmlformats.org/presentationml/2006/ole">
            <mc:AlternateContent xmlns:mc="http://schemas.openxmlformats.org/markup-compatibility/2006">
              <mc:Choice xmlns:v="urn:schemas-microsoft-com:vml" Requires="v">
                <p:oleObj spid="_x0000_s3079" name="" r:id="rId1" imgW="6548755" imgH="3791585" progId="Visio.Drawing.6">
                  <p:embed/>
                </p:oleObj>
              </mc:Choice>
              <mc:Fallback>
                <p:oleObj name="" r:id="rId1" imgW="6548755" imgH="3791585" progId="Visio.Drawing.6">
                  <p:embed/>
                  <p:pic>
                    <p:nvPicPr>
                      <p:cNvPr id="0" name="图片 3078"/>
                      <p:cNvPicPr/>
                      <p:nvPr/>
                    </p:nvPicPr>
                    <p:blipFill>
                      <a:blip r:embed="rId2"/>
                      <a:stretch>
                        <a:fillRect/>
                      </a:stretch>
                    </p:blipFill>
                    <p:spPr>
                      <a:xfrm>
                        <a:off x="1735138" y="1295400"/>
                        <a:ext cx="8720137" cy="5040313"/>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3491" name="Rectangle 67"/>
          <p:cNvSpPr/>
          <p:nvPr/>
        </p:nvSpPr>
        <p:spPr>
          <a:xfrm>
            <a:off x="3009900" y="1524000"/>
            <a:ext cx="1143000" cy="45720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3492"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Program (1 of 2)</a:t>
            </a:r>
            <a:endParaRPr lang="en-US" altLang="zh-CN" dirty="0">
              <a:ea typeface="宋体" panose="02010600030101010101" pitchFamily="2" charset="-122"/>
            </a:endParaRPr>
          </a:p>
        </p:txBody>
      </p:sp>
      <p:graphicFrame>
        <p:nvGraphicFramePr>
          <p:cNvPr id="112643" name="Group 3"/>
          <p:cNvGraphicFramePr>
            <a:graphicFrameLocks noGrp="1"/>
          </p:cNvGraphicFramePr>
          <p:nvPr>
            <p:custDataLst>
              <p:tags r:id="rId1"/>
            </p:custDataLst>
          </p:nvPr>
        </p:nvGraphicFramePr>
        <p:xfrm>
          <a:off x="1790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0 1 0 1 0 1 0 0 1 0 1 0 0 0 0 0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0 (counter)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0 0 1 0 0 1 1 0 0 0 0 1 0 0 0 0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M[x3012] (ptr)</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1 1 1 1 0 0 0 0 0 0 1 0 0 0 1 1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Input to R0 (TRAP x23)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x3004</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0 0 0 1 1 0 0 0 0 1 1 1 1 1 0 0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R4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4 (EOT)</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x3005</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0 0 0 0 0 1 0 0 0 0 0 0 1 0 0 0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If Z, goto x300E</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x3006</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1 0 0 1 0 0 1 0 0 1 1 1 1 1 1 1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NOT R1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x3007</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0 0 0 1 0 0 1 0 0 1 1 0 0 0 0 1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X3008</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0 0 0 1 0 0 1 0 0 1 0 0 0 0 0 0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R1 + R0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x3009</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0 0 0 0 1 0 1 0 0 0 0 0 0 0 0 1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If N or P, goto x300B</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3538" name="Line 66"/>
          <p:cNvSpPr/>
          <p:nvPr/>
        </p:nvSpPr>
        <p:spPr>
          <a:xfrm>
            <a:off x="4267200" y="5934075"/>
            <a:ext cx="762000" cy="0"/>
          </a:xfrm>
          <a:prstGeom prst="line">
            <a:avLst/>
          </a:prstGeom>
          <a:ln w="9525" cap="flat" cmpd="sng">
            <a:solidFill>
              <a:schemeClr val="accent2"/>
            </a:solidFill>
            <a:prstDash val="solid"/>
            <a:headEnd type="none" w="med" len="med"/>
            <a:tailEnd type="none" w="med" len="med"/>
          </a:ln>
        </p:spPr>
      </p:sp>
      <p:sp>
        <p:nvSpPr>
          <p:cNvPr id="63539" name="Line 68"/>
          <p:cNvSpPr/>
          <p:nvPr/>
        </p:nvSpPr>
        <p:spPr>
          <a:xfrm>
            <a:off x="4267200" y="1914525"/>
            <a:ext cx="762000" cy="0"/>
          </a:xfrm>
          <a:prstGeom prst="line">
            <a:avLst/>
          </a:prstGeom>
          <a:ln w="9525" cap="flat" cmpd="sng">
            <a:solidFill>
              <a:schemeClr val="accent2"/>
            </a:solidFill>
            <a:prstDash val="solid"/>
            <a:headEnd type="none" w="med" len="med"/>
            <a:tailEnd type="none" w="med" len="med"/>
          </a:ln>
        </p:spPr>
      </p:sp>
      <p:sp>
        <p:nvSpPr>
          <p:cNvPr id="63540" name="Line 69"/>
          <p:cNvSpPr/>
          <p:nvPr/>
        </p:nvSpPr>
        <p:spPr>
          <a:xfrm>
            <a:off x="4267200" y="2362200"/>
            <a:ext cx="762000" cy="0"/>
          </a:xfrm>
          <a:prstGeom prst="line">
            <a:avLst/>
          </a:prstGeom>
          <a:ln w="9525" cap="flat" cmpd="sng">
            <a:solidFill>
              <a:schemeClr val="accent2"/>
            </a:solidFill>
            <a:prstDash val="solid"/>
            <a:headEnd type="none" w="med" len="med"/>
            <a:tailEnd type="none" w="med" len="med"/>
          </a:ln>
        </p:spPr>
      </p:sp>
      <p:sp>
        <p:nvSpPr>
          <p:cNvPr id="63541" name="Line 70"/>
          <p:cNvSpPr/>
          <p:nvPr/>
        </p:nvSpPr>
        <p:spPr>
          <a:xfrm>
            <a:off x="5486400" y="2819400"/>
            <a:ext cx="2286000" cy="0"/>
          </a:xfrm>
          <a:prstGeom prst="line">
            <a:avLst/>
          </a:prstGeom>
          <a:ln w="9525" cap="flat" cmpd="sng">
            <a:solidFill>
              <a:schemeClr val="accent2"/>
            </a:solidFill>
            <a:prstDash val="solid"/>
            <a:headEnd type="none" w="med" len="med"/>
            <a:tailEnd type="none" w="med" len="med"/>
          </a:ln>
        </p:spPr>
      </p:sp>
      <p:sp>
        <p:nvSpPr>
          <p:cNvPr id="63542" name="Line 71"/>
          <p:cNvSpPr/>
          <p:nvPr/>
        </p:nvSpPr>
        <p:spPr>
          <a:xfrm>
            <a:off x="4267200" y="3257550"/>
            <a:ext cx="762000" cy="0"/>
          </a:xfrm>
          <a:prstGeom prst="line">
            <a:avLst/>
          </a:prstGeom>
          <a:ln w="9525" cap="flat" cmpd="sng">
            <a:solidFill>
              <a:schemeClr val="accent2"/>
            </a:solidFill>
            <a:prstDash val="solid"/>
            <a:headEnd type="none" w="med" len="med"/>
            <a:tailEnd type="none" w="med" len="med"/>
          </a:ln>
        </p:spPr>
      </p:sp>
      <p:sp>
        <p:nvSpPr>
          <p:cNvPr id="63543" name="Line 72"/>
          <p:cNvSpPr/>
          <p:nvPr/>
        </p:nvSpPr>
        <p:spPr>
          <a:xfrm>
            <a:off x="4267200" y="3714750"/>
            <a:ext cx="762000" cy="0"/>
          </a:xfrm>
          <a:prstGeom prst="line">
            <a:avLst/>
          </a:prstGeom>
          <a:ln w="9525" cap="flat" cmpd="sng">
            <a:solidFill>
              <a:schemeClr val="accent2"/>
            </a:solidFill>
            <a:prstDash val="solid"/>
            <a:headEnd type="none" w="med" len="med"/>
            <a:tailEnd type="none" w="med" len="med"/>
          </a:ln>
        </p:spPr>
      </p:sp>
      <p:sp>
        <p:nvSpPr>
          <p:cNvPr id="63544" name="Line 73"/>
          <p:cNvSpPr/>
          <p:nvPr/>
        </p:nvSpPr>
        <p:spPr>
          <a:xfrm>
            <a:off x="4267200" y="4162425"/>
            <a:ext cx="762000" cy="0"/>
          </a:xfrm>
          <a:prstGeom prst="line">
            <a:avLst/>
          </a:prstGeom>
          <a:ln w="9525" cap="flat" cmpd="sng">
            <a:solidFill>
              <a:schemeClr val="accent2"/>
            </a:solidFill>
            <a:prstDash val="solid"/>
            <a:headEnd type="none" w="med" len="med"/>
            <a:tailEnd type="none" w="med" len="med"/>
          </a:ln>
        </p:spPr>
      </p:sp>
      <p:sp>
        <p:nvSpPr>
          <p:cNvPr id="63545" name="Line 74"/>
          <p:cNvSpPr/>
          <p:nvPr/>
        </p:nvSpPr>
        <p:spPr>
          <a:xfrm>
            <a:off x="4267200" y="4591050"/>
            <a:ext cx="762000" cy="0"/>
          </a:xfrm>
          <a:prstGeom prst="line">
            <a:avLst/>
          </a:prstGeom>
          <a:ln w="9525" cap="flat" cmpd="sng">
            <a:solidFill>
              <a:schemeClr val="accent2"/>
            </a:solidFill>
            <a:prstDash val="solid"/>
            <a:headEnd type="none" w="med" len="med"/>
            <a:tailEnd type="none" w="med" len="med"/>
          </a:ln>
        </p:spPr>
      </p:sp>
      <p:sp>
        <p:nvSpPr>
          <p:cNvPr id="63546" name="Line 75"/>
          <p:cNvSpPr/>
          <p:nvPr/>
        </p:nvSpPr>
        <p:spPr>
          <a:xfrm>
            <a:off x="4267200" y="5038725"/>
            <a:ext cx="762000" cy="0"/>
          </a:xfrm>
          <a:prstGeom prst="line">
            <a:avLst/>
          </a:prstGeom>
          <a:ln w="9525" cap="flat" cmpd="sng">
            <a:solidFill>
              <a:schemeClr val="accent2"/>
            </a:solidFill>
            <a:prstDash val="solid"/>
            <a:headEnd type="none" w="med" len="med"/>
            <a:tailEnd type="none" w="med" len="med"/>
          </a:ln>
        </p:spPr>
      </p:sp>
      <p:sp>
        <p:nvSpPr>
          <p:cNvPr id="63547" name="Line 76"/>
          <p:cNvSpPr/>
          <p:nvPr/>
        </p:nvSpPr>
        <p:spPr>
          <a:xfrm>
            <a:off x="4267200" y="5486400"/>
            <a:ext cx="762000" cy="0"/>
          </a:xfrm>
          <a:prstGeom prst="line">
            <a:avLst/>
          </a:prstGeom>
          <a:ln w="9525" cap="flat" cmpd="sng">
            <a:solidFill>
              <a:schemeClr val="accent2"/>
            </a:solidFill>
            <a:prstDash val="solid"/>
            <a:headEnd type="none" w="med" len="med"/>
            <a:tailEnd type="none" w="med" len="med"/>
          </a:ln>
        </p:spPr>
      </p:sp>
      <p:sp>
        <p:nvSpPr>
          <p:cNvPr id="63548" name="Line 77"/>
          <p:cNvSpPr/>
          <p:nvPr/>
        </p:nvSpPr>
        <p:spPr>
          <a:xfrm>
            <a:off x="5181600" y="1914525"/>
            <a:ext cx="762000" cy="0"/>
          </a:xfrm>
          <a:prstGeom prst="line">
            <a:avLst/>
          </a:prstGeom>
          <a:ln w="9525" cap="flat" cmpd="sng">
            <a:solidFill>
              <a:schemeClr val="accent2"/>
            </a:solidFill>
            <a:prstDash val="solid"/>
            <a:headEnd type="none" w="med" len="med"/>
            <a:tailEnd type="none" w="med" len="med"/>
          </a:ln>
        </p:spPr>
      </p:sp>
      <p:sp>
        <p:nvSpPr>
          <p:cNvPr id="63549" name="Line 78"/>
          <p:cNvSpPr/>
          <p:nvPr/>
        </p:nvSpPr>
        <p:spPr>
          <a:xfrm>
            <a:off x="6400800" y="1914525"/>
            <a:ext cx="1371600" cy="0"/>
          </a:xfrm>
          <a:prstGeom prst="line">
            <a:avLst/>
          </a:prstGeom>
          <a:ln w="9525" cap="flat" cmpd="sng">
            <a:solidFill>
              <a:schemeClr val="accent2"/>
            </a:solidFill>
            <a:prstDash val="solid"/>
            <a:headEnd type="none" w="med" len="med"/>
            <a:tailEnd type="none" w="med" len="med"/>
          </a:ln>
        </p:spPr>
      </p:sp>
      <p:sp>
        <p:nvSpPr>
          <p:cNvPr id="63550" name="Line 79"/>
          <p:cNvSpPr/>
          <p:nvPr/>
        </p:nvSpPr>
        <p:spPr>
          <a:xfrm>
            <a:off x="5181600" y="2362200"/>
            <a:ext cx="2590800" cy="0"/>
          </a:xfrm>
          <a:prstGeom prst="line">
            <a:avLst/>
          </a:prstGeom>
          <a:ln w="9525" cap="flat" cmpd="sng">
            <a:solidFill>
              <a:schemeClr val="accent2"/>
            </a:solidFill>
            <a:prstDash val="solid"/>
            <a:headEnd type="none" w="med" len="med"/>
            <a:tailEnd type="none" w="med" len="med"/>
          </a:ln>
        </p:spPr>
      </p:sp>
      <p:sp>
        <p:nvSpPr>
          <p:cNvPr id="63551" name="Line 80"/>
          <p:cNvSpPr/>
          <p:nvPr/>
        </p:nvSpPr>
        <p:spPr>
          <a:xfrm>
            <a:off x="5181600" y="3257550"/>
            <a:ext cx="762000" cy="0"/>
          </a:xfrm>
          <a:prstGeom prst="line">
            <a:avLst/>
          </a:prstGeom>
          <a:ln w="9525" cap="flat" cmpd="sng">
            <a:solidFill>
              <a:schemeClr val="accent2"/>
            </a:solidFill>
            <a:prstDash val="solid"/>
            <a:headEnd type="none" w="med" len="med"/>
            <a:tailEnd type="none" w="med" len="med"/>
          </a:ln>
        </p:spPr>
      </p:sp>
      <p:sp>
        <p:nvSpPr>
          <p:cNvPr id="63552" name="Line 81"/>
          <p:cNvSpPr/>
          <p:nvPr/>
        </p:nvSpPr>
        <p:spPr>
          <a:xfrm>
            <a:off x="6096000" y="3257550"/>
            <a:ext cx="1676400" cy="0"/>
          </a:xfrm>
          <a:prstGeom prst="line">
            <a:avLst/>
          </a:prstGeom>
          <a:ln w="9525" cap="flat" cmpd="sng">
            <a:solidFill>
              <a:schemeClr val="accent2"/>
            </a:solidFill>
            <a:prstDash val="solid"/>
            <a:headEnd type="none" w="med" len="med"/>
            <a:tailEnd type="none" w="med" len="med"/>
          </a:ln>
        </p:spPr>
      </p:sp>
      <p:sp>
        <p:nvSpPr>
          <p:cNvPr id="63553" name="Line 82"/>
          <p:cNvSpPr/>
          <p:nvPr/>
        </p:nvSpPr>
        <p:spPr>
          <a:xfrm>
            <a:off x="5181600" y="3714750"/>
            <a:ext cx="762000" cy="0"/>
          </a:xfrm>
          <a:prstGeom prst="line">
            <a:avLst/>
          </a:prstGeom>
          <a:ln w="9525" cap="flat" cmpd="sng">
            <a:solidFill>
              <a:schemeClr val="accent2"/>
            </a:solidFill>
            <a:prstDash val="solid"/>
            <a:headEnd type="none" w="med" len="med"/>
            <a:tailEnd type="none" w="med" len="med"/>
          </a:ln>
        </p:spPr>
      </p:sp>
      <p:sp>
        <p:nvSpPr>
          <p:cNvPr id="63554" name="Line 83"/>
          <p:cNvSpPr/>
          <p:nvPr/>
        </p:nvSpPr>
        <p:spPr>
          <a:xfrm>
            <a:off x="6096000" y="3714750"/>
            <a:ext cx="1676400" cy="0"/>
          </a:xfrm>
          <a:prstGeom prst="line">
            <a:avLst/>
          </a:prstGeom>
          <a:ln w="9525" cap="flat" cmpd="sng">
            <a:solidFill>
              <a:schemeClr val="accent2"/>
            </a:solidFill>
            <a:prstDash val="solid"/>
            <a:headEnd type="none" w="med" len="med"/>
            <a:tailEnd type="none" w="med" len="med"/>
          </a:ln>
        </p:spPr>
      </p:sp>
      <p:sp>
        <p:nvSpPr>
          <p:cNvPr id="63555" name="Line 84"/>
          <p:cNvSpPr/>
          <p:nvPr/>
        </p:nvSpPr>
        <p:spPr>
          <a:xfrm>
            <a:off x="5181600" y="4162425"/>
            <a:ext cx="2590800" cy="0"/>
          </a:xfrm>
          <a:prstGeom prst="line">
            <a:avLst/>
          </a:prstGeom>
          <a:ln w="9525" cap="flat" cmpd="sng">
            <a:solidFill>
              <a:schemeClr val="accent2"/>
            </a:solidFill>
            <a:prstDash val="solid"/>
            <a:headEnd type="none" w="med" len="med"/>
            <a:tailEnd type="none" w="med" len="med"/>
          </a:ln>
        </p:spPr>
      </p:sp>
      <p:sp>
        <p:nvSpPr>
          <p:cNvPr id="63556" name="Line 85"/>
          <p:cNvSpPr/>
          <p:nvPr/>
        </p:nvSpPr>
        <p:spPr>
          <a:xfrm>
            <a:off x="5181600" y="4591050"/>
            <a:ext cx="762000" cy="0"/>
          </a:xfrm>
          <a:prstGeom prst="line">
            <a:avLst/>
          </a:prstGeom>
          <a:ln w="9525" cap="flat" cmpd="sng">
            <a:solidFill>
              <a:schemeClr val="accent2"/>
            </a:solidFill>
            <a:prstDash val="solid"/>
            <a:headEnd type="none" w="med" len="med"/>
            <a:tailEnd type="none" w="med" len="med"/>
          </a:ln>
        </p:spPr>
      </p:sp>
      <p:sp>
        <p:nvSpPr>
          <p:cNvPr id="63557" name="Line 86"/>
          <p:cNvSpPr/>
          <p:nvPr/>
        </p:nvSpPr>
        <p:spPr>
          <a:xfrm>
            <a:off x="5181600" y="5038725"/>
            <a:ext cx="762000" cy="0"/>
          </a:xfrm>
          <a:prstGeom prst="line">
            <a:avLst/>
          </a:prstGeom>
          <a:ln w="9525" cap="flat" cmpd="sng">
            <a:solidFill>
              <a:schemeClr val="accent2"/>
            </a:solidFill>
            <a:prstDash val="solid"/>
            <a:headEnd type="none" w="med" len="med"/>
            <a:tailEnd type="none" w="med" len="med"/>
          </a:ln>
        </p:spPr>
      </p:sp>
      <p:sp>
        <p:nvSpPr>
          <p:cNvPr id="63558" name="Line 87"/>
          <p:cNvSpPr/>
          <p:nvPr/>
        </p:nvSpPr>
        <p:spPr>
          <a:xfrm>
            <a:off x="6400800" y="5038725"/>
            <a:ext cx="1371600" cy="0"/>
          </a:xfrm>
          <a:prstGeom prst="line">
            <a:avLst/>
          </a:prstGeom>
          <a:ln w="9525" cap="flat" cmpd="sng">
            <a:solidFill>
              <a:schemeClr val="accent2"/>
            </a:solidFill>
            <a:prstDash val="solid"/>
            <a:headEnd type="none" w="med" len="med"/>
            <a:tailEnd type="none" w="med" len="med"/>
          </a:ln>
        </p:spPr>
      </p:sp>
      <p:sp>
        <p:nvSpPr>
          <p:cNvPr id="63559" name="Line 88"/>
          <p:cNvSpPr/>
          <p:nvPr/>
        </p:nvSpPr>
        <p:spPr>
          <a:xfrm>
            <a:off x="5181600" y="5486400"/>
            <a:ext cx="762000" cy="0"/>
          </a:xfrm>
          <a:prstGeom prst="line">
            <a:avLst/>
          </a:prstGeom>
          <a:ln w="9525" cap="flat" cmpd="sng">
            <a:solidFill>
              <a:schemeClr val="accent2"/>
            </a:solidFill>
            <a:prstDash val="solid"/>
            <a:headEnd type="none" w="med" len="med"/>
            <a:tailEnd type="none" w="med" len="med"/>
          </a:ln>
        </p:spPr>
      </p:sp>
      <p:sp>
        <p:nvSpPr>
          <p:cNvPr id="63560" name="Line 89"/>
          <p:cNvSpPr/>
          <p:nvPr/>
        </p:nvSpPr>
        <p:spPr>
          <a:xfrm>
            <a:off x="7010400" y="5486400"/>
            <a:ext cx="762000" cy="0"/>
          </a:xfrm>
          <a:prstGeom prst="line">
            <a:avLst/>
          </a:prstGeom>
          <a:ln w="9525" cap="flat" cmpd="sng">
            <a:solidFill>
              <a:schemeClr val="accent2"/>
            </a:solidFill>
            <a:prstDash val="solid"/>
            <a:headEnd type="none" w="med" len="med"/>
            <a:tailEnd type="none" w="med" len="med"/>
          </a:ln>
        </p:spPr>
      </p:sp>
      <p:sp>
        <p:nvSpPr>
          <p:cNvPr id="63561" name="Line 90"/>
          <p:cNvSpPr/>
          <p:nvPr/>
        </p:nvSpPr>
        <p:spPr>
          <a:xfrm>
            <a:off x="5181600" y="5934075"/>
            <a:ext cx="25908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2"/>
          <p:cNvSpPr txBox="1">
            <a:spLocks noGrp="1"/>
          </p:cNvSpPr>
          <p:nvPr>
            <p:ph type="sldNum" sz="quarter" idx="10"/>
          </p:nvPr>
        </p:nvSpPr>
        <p:spPr/>
        <p:txBody>
          <a:bodyPr/>
          <a:lstStyle>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64515" name="Rectangle 1093"/>
          <p:cNvSpPr/>
          <p:nvPr/>
        </p:nvSpPr>
        <p:spPr>
          <a:xfrm>
            <a:off x="3009900" y="1524000"/>
            <a:ext cx="1143000" cy="3657600"/>
          </a:xfrm>
          <a:prstGeom prst="rect">
            <a:avLst/>
          </a:prstGeom>
          <a:solidFill>
            <a:srgbClr val="6699FF">
              <a:alpha val="50195"/>
            </a:srgbClr>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64516" name="Rectangle 1026"/>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Program (2 of 2)</a:t>
            </a:r>
            <a:endParaRPr lang="en-US" altLang="zh-CN" dirty="0">
              <a:ea typeface="宋体" panose="02010600030101010101" pitchFamily="2" charset="-122"/>
            </a:endParaRPr>
          </a:p>
        </p:txBody>
      </p:sp>
      <p:graphicFrame>
        <p:nvGraphicFramePr>
          <p:cNvPr id="113731" name="Group 1091"/>
          <p:cNvGraphicFramePr>
            <a:graphicFrameLocks noGrp="1"/>
          </p:cNvGraphicFramePr>
          <p:nvPr/>
        </p:nvGraphicFramePr>
        <p:xfrm>
          <a:off x="1790700" y="1143000"/>
          <a:ext cx="8610600" cy="4902200"/>
        </p:xfrm>
        <a:graphic>
          <a:graphicData uri="http://schemas.openxmlformats.org/drawingml/2006/table">
            <a:tbl>
              <a:tblPr/>
              <a:tblGrid>
                <a:gridCol w="1133475"/>
                <a:gridCol w="4886325"/>
                <a:gridCol w="2590800"/>
              </a:tblGrid>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Address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Instruction</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rPr>
                        <a:t>Comments</a:t>
                      </a:r>
                      <a:endParaRPr kumimoji="0" lang="en-US" altLang="zh-CN" sz="18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R="0" marT="91440" marB="9144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x300A</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0 0 0 1 0 1 0 0 1 0 1 0 0 0 0 1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R2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R2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x300B</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0 0 0 1 0 1 1 0 1 1 1 0 0 0 0 1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R3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R3 + 1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x300C</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0 1 1 0 0 0 1 0 1 1 0 0 0 0 0 0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R1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M[R3]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x300D</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0 0 0 0 1 1 1 1 1 1 1 1 0 1 1 0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Goto x3004</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x300E</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0 0 1 0 0 0 0 0 0 0 0 0 0 1 0 0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M[x3013]</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x300F</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0 0 0 1 0 0 0 0 0 0 0 0 0 0 1 0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R0 </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 R0 + R2</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1 1 1 1 0 0 0 0 0 0 1 0 0 0 0 1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Print R0 (TRAP x21)</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1 1 1 1 0 0 0 0 0 0 1 0 0 1 0 1</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HALT (TRAP x25)</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X3012</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Starting Address of File</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x3013</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rPr>
                        <a:t>0 0 0 0 0 0 0 0 0 0 1 1 0 0 0 0</a:t>
                      </a:r>
                      <a:endParaRPr kumimoji="0" lang="en-US" altLang="zh-CN" sz="2000" b="1" i="0" u="none" strike="noStrike" cap="none" normalizeH="0" baseline="0">
                        <a:ln>
                          <a:noFill/>
                        </a:ln>
                        <a:solidFill>
                          <a:schemeClr val="tx1"/>
                        </a:solidFill>
                        <a:effectLst/>
                        <a:latin typeface="CourierPS" pitchFamily="49"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rPr>
                        <a:t>ASCII x30 (‘0’)</a:t>
                      </a:r>
                      <a:endParaRPr kumimoji="0" lang="en-US" altLang="zh-CN" sz="1600" b="0" i="1" u="none" strike="noStrike" cap="none" normalizeH="0" baseline="0">
                        <a:ln>
                          <a:noFill/>
                        </a:ln>
                        <a:solidFill>
                          <a:srgbClr val="CE0000"/>
                        </a:solidFill>
                        <a:effectLst/>
                        <a:latin typeface="Arial" panose="020B0604020202020204" pitchFamily="34" charset="0"/>
                        <a:ea typeface="宋体" panose="02010600030101010101" pitchFamily="2" charset="-122"/>
                      </a:endParaRPr>
                    </a:p>
                  </a:txBody>
                  <a:tcPr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4562" name="Line 1092"/>
          <p:cNvSpPr/>
          <p:nvPr/>
        </p:nvSpPr>
        <p:spPr>
          <a:xfrm>
            <a:off x="4267200" y="1924050"/>
            <a:ext cx="762000" cy="0"/>
          </a:xfrm>
          <a:prstGeom prst="line">
            <a:avLst/>
          </a:prstGeom>
          <a:ln w="9525" cap="flat" cmpd="sng">
            <a:solidFill>
              <a:schemeClr val="accent2"/>
            </a:solidFill>
            <a:prstDash val="solid"/>
            <a:headEnd type="none" w="med" len="med"/>
            <a:tailEnd type="none" w="med" len="med"/>
          </a:ln>
        </p:spPr>
      </p:sp>
      <p:sp>
        <p:nvSpPr>
          <p:cNvPr id="64563" name="Line 1094"/>
          <p:cNvSpPr/>
          <p:nvPr/>
        </p:nvSpPr>
        <p:spPr>
          <a:xfrm>
            <a:off x="4267200" y="2362200"/>
            <a:ext cx="762000" cy="0"/>
          </a:xfrm>
          <a:prstGeom prst="line">
            <a:avLst/>
          </a:prstGeom>
          <a:ln w="9525" cap="flat" cmpd="sng">
            <a:solidFill>
              <a:schemeClr val="accent2"/>
            </a:solidFill>
            <a:prstDash val="solid"/>
            <a:headEnd type="none" w="med" len="med"/>
            <a:tailEnd type="none" w="med" len="med"/>
          </a:ln>
        </p:spPr>
      </p:sp>
      <p:sp>
        <p:nvSpPr>
          <p:cNvPr id="64564" name="Line 1095"/>
          <p:cNvSpPr/>
          <p:nvPr/>
        </p:nvSpPr>
        <p:spPr>
          <a:xfrm>
            <a:off x="4267200" y="2819400"/>
            <a:ext cx="762000" cy="0"/>
          </a:xfrm>
          <a:prstGeom prst="line">
            <a:avLst/>
          </a:prstGeom>
          <a:ln w="9525" cap="flat" cmpd="sng">
            <a:solidFill>
              <a:schemeClr val="accent2"/>
            </a:solidFill>
            <a:prstDash val="solid"/>
            <a:headEnd type="none" w="med" len="med"/>
            <a:tailEnd type="none" w="med" len="med"/>
          </a:ln>
        </p:spPr>
      </p:sp>
      <p:sp>
        <p:nvSpPr>
          <p:cNvPr id="64565" name="Line 1096"/>
          <p:cNvSpPr/>
          <p:nvPr/>
        </p:nvSpPr>
        <p:spPr>
          <a:xfrm>
            <a:off x="4267200" y="3257550"/>
            <a:ext cx="762000" cy="0"/>
          </a:xfrm>
          <a:prstGeom prst="line">
            <a:avLst/>
          </a:prstGeom>
          <a:ln w="9525" cap="flat" cmpd="sng">
            <a:solidFill>
              <a:schemeClr val="accent2"/>
            </a:solidFill>
            <a:prstDash val="solid"/>
            <a:headEnd type="none" w="med" len="med"/>
            <a:tailEnd type="none" w="med" len="med"/>
          </a:ln>
        </p:spPr>
      </p:sp>
      <p:sp>
        <p:nvSpPr>
          <p:cNvPr id="64566" name="Line 1097"/>
          <p:cNvSpPr/>
          <p:nvPr/>
        </p:nvSpPr>
        <p:spPr>
          <a:xfrm>
            <a:off x="4267200" y="3705225"/>
            <a:ext cx="762000" cy="0"/>
          </a:xfrm>
          <a:prstGeom prst="line">
            <a:avLst/>
          </a:prstGeom>
          <a:ln w="9525" cap="flat" cmpd="sng">
            <a:solidFill>
              <a:schemeClr val="accent2"/>
            </a:solidFill>
            <a:prstDash val="solid"/>
            <a:headEnd type="none" w="med" len="med"/>
            <a:tailEnd type="none" w="med" len="med"/>
          </a:ln>
        </p:spPr>
      </p:sp>
      <p:sp>
        <p:nvSpPr>
          <p:cNvPr id="64567" name="Line 1098"/>
          <p:cNvSpPr/>
          <p:nvPr/>
        </p:nvSpPr>
        <p:spPr>
          <a:xfrm>
            <a:off x="4267200" y="4152900"/>
            <a:ext cx="762000" cy="0"/>
          </a:xfrm>
          <a:prstGeom prst="line">
            <a:avLst/>
          </a:prstGeom>
          <a:ln w="9525" cap="flat" cmpd="sng">
            <a:solidFill>
              <a:schemeClr val="accent2"/>
            </a:solidFill>
            <a:prstDash val="solid"/>
            <a:headEnd type="none" w="med" len="med"/>
            <a:tailEnd type="none" w="med" len="med"/>
          </a:ln>
        </p:spPr>
      </p:sp>
      <p:sp>
        <p:nvSpPr>
          <p:cNvPr id="64568" name="Line 1099"/>
          <p:cNvSpPr/>
          <p:nvPr/>
        </p:nvSpPr>
        <p:spPr>
          <a:xfrm>
            <a:off x="5486400" y="4591050"/>
            <a:ext cx="2286000" cy="0"/>
          </a:xfrm>
          <a:prstGeom prst="line">
            <a:avLst/>
          </a:prstGeom>
          <a:ln w="9525" cap="flat" cmpd="sng">
            <a:solidFill>
              <a:schemeClr val="accent2"/>
            </a:solidFill>
            <a:prstDash val="solid"/>
            <a:headEnd type="none" w="med" len="med"/>
            <a:tailEnd type="none" w="med" len="med"/>
          </a:ln>
        </p:spPr>
      </p:sp>
      <p:sp>
        <p:nvSpPr>
          <p:cNvPr id="64569" name="Line 1100"/>
          <p:cNvSpPr/>
          <p:nvPr/>
        </p:nvSpPr>
        <p:spPr>
          <a:xfrm>
            <a:off x="5486400" y="5048250"/>
            <a:ext cx="2286000" cy="0"/>
          </a:xfrm>
          <a:prstGeom prst="line">
            <a:avLst/>
          </a:prstGeom>
          <a:ln w="9525" cap="flat" cmpd="sng">
            <a:solidFill>
              <a:schemeClr val="accent2"/>
            </a:solidFill>
            <a:prstDash val="solid"/>
            <a:headEnd type="none" w="med" len="med"/>
            <a:tailEnd type="none" w="med" len="med"/>
          </a:ln>
        </p:spPr>
      </p:sp>
      <p:sp>
        <p:nvSpPr>
          <p:cNvPr id="64570" name="Line 1102"/>
          <p:cNvSpPr/>
          <p:nvPr/>
        </p:nvSpPr>
        <p:spPr>
          <a:xfrm>
            <a:off x="5181600" y="1924050"/>
            <a:ext cx="762000" cy="0"/>
          </a:xfrm>
          <a:prstGeom prst="line">
            <a:avLst/>
          </a:prstGeom>
          <a:ln w="9525" cap="flat" cmpd="sng">
            <a:solidFill>
              <a:schemeClr val="accent2"/>
            </a:solidFill>
            <a:prstDash val="solid"/>
            <a:headEnd type="none" w="med" len="med"/>
            <a:tailEnd type="none" w="med" len="med"/>
          </a:ln>
        </p:spPr>
      </p:sp>
      <p:sp>
        <p:nvSpPr>
          <p:cNvPr id="64571" name="Line 1103"/>
          <p:cNvSpPr/>
          <p:nvPr/>
        </p:nvSpPr>
        <p:spPr>
          <a:xfrm>
            <a:off x="6400800" y="1924050"/>
            <a:ext cx="1371600" cy="0"/>
          </a:xfrm>
          <a:prstGeom prst="line">
            <a:avLst/>
          </a:prstGeom>
          <a:ln w="9525" cap="flat" cmpd="sng">
            <a:solidFill>
              <a:schemeClr val="accent2"/>
            </a:solidFill>
            <a:prstDash val="solid"/>
            <a:headEnd type="none" w="med" len="med"/>
            <a:tailEnd type="none" w="med" len="med"/>
          </a:ln>
        </p:spPr>
      </p:sp>
      <p:sp>
        <p:nvSpPr>
          <p:cNvPr id="64572" name="Line 1104"/>
          <p:cNvSpPr/>
          <p:nvPr/>
        </p:nvSpPr>
        <p:spPr>
          <a:xfrm>
            <a:off x="5181600" y="2362200"/>
            <a:ext cx="762000" cy="0"/>
          </a:xfrm>
          <a:prstGeom prst="line">
            <a:avLst/>
          </a:prstGeom>
          <a:ln w="9525" cap="flat" cmpd="sng">
            <a:solidFill>
              <a:schemeClr val="accent2"/>
            </a:solidFill>
            <a:prstDash val="solid"/>
            <a:headEnd type="none" w="med" len="med"/>
            <a:tailEnd type="none" w="med" len="med"/>
          </a:ln>
        </p:spPr>
      </p:sp>
      <p:sp>
        <p:nvSpPr>
          <p:cNvPr id="64573" name="Line 1105"/>
          <p:cNvSpPr/>
          <p:nvPr/>
        </p:nvSpPr>
        <p:spPr>
          <a:xfrm>
            <a:off x="6400800" y="2362200"/>
            <a:ext cx="1371600" cy="0"/>
          </a:xfrm>
          <a:prstGeom prst="line">
            <a:avLst/>
          </a:prstGeom>
          <a:ln w="9525" cap="flat" cmpd="sng">
            <a:solidFill>
              <a:schemeClr val="accent2"/>
            </a:solidFill>
            <a:prstDash val="solid"/>
            <a:headEnd type="none" w="med" len="med"/>
            <a:tailEnd type="none" w="med" len="med"/>
          </a:ln>
        </p:spPr>
      </p:sp>
      <p:sp>
        <p:nvSpPr>
          <p:cNvPr id="64574" name="Line 1106"/>
          <p:cNvSpPr/>
          <p:nvPr/>
        </p:nvSpPr>
        <p:spPr>
          <a:xfrm>
            <a:off x="5181600" y="2819400"/>
            <a:ext cx="762000" cy="0"/>
          </a:xfrm>
          <a:prstGeom prst="line">
            <a:avLst/>
          </a:prstGeom>
          <a:ln w="9525" cap="flat" cmpd="sng">
            <a:solidFill>
              <a:schemeClr val="accent2"/>
            </a:solidFill>
            <a:prstDash val="solid"/>
            <a:headEnd type="none" w="med" len="med"/>
            <a:tailEnd type="none" w="med" len="med"/>
          </a:ln>
        </p:spPr>
      </p:sp>
      <p:sp>
        <p:nvSpPr>
          <p:cNvPr id="64575" name="Line 1107"/>
          <p:cNvSpPr/>
          <p:nvPr/>
        </p:nvSpPr>
        <p:spPr>
          <a:xfrm flipV="1">
            <a:off x="6096000" y="2819400"/>
            <a:ext cx="1676400" cy="0"/>
          </a:xfrm>
          <a:prstGeom prst="line">
            <a:avLst/>
          </a:prstGeom>
          <a:ln w="9525" cap="flat" cmpd="sng">
            <a:solidFill>
              <a:schemeClr val="accent2"/>
            </a:solidFill>
            <a:prstDash val="solid"/>
            <a:headEnd type="none" w="med" len="med"/>
            <a:tailEnd type="none" w="med" len="med"/>
          </a:ln>
        </p:spPr>
      </p:sp>
      <p:sp>
        <p:nvSpPr>
          <p:cNvPr id="64576" name="Line 1108"/>
          <p:cNvSpPr/>
          <p:nvPr/>
        </p:nvSpPr>
        <p:spPr>
          <a:xfrm>
            <a:off x="5181600" y="3257550"/>
            <a:ext cx="2590800" cy="0"/>
          </a:xfrm>
          <a:prstGeom prst="line">
            <a:avLst/>
          </a:prstGeom>
          <a:ln w="9525" cap="flat" cmpd="sng">
            <a:solidFill>
              <a:schemeClr val="accent2"/>
            </a:solidFill>
            <a:prstDash val="solid"/>
            <a:headEnd type="none" w="med" len="med"/>
            <a:tailEnd type="none" w="med" len="med"/>
          </a:ln>
        </p:spPr>
      </p:sp>
      <p:sp>
        <p:nvSpPr>
          <p:cNvPr id="64577" name="Line 1109"/>
          <p:cNvSpPr/>
          <p:nvPr/>
        </p:nvSpPr>
        <p:spPr>
          <a:xfrm>
            <a:off x="5181600" y="3705225"/>
            <a:ext cx="2590800" cy="0"/>
          </a:xfrm>
          <a:prstGeom prst="line">
            <a:avLst/>
          </a:prstGeom>
          <a:ln w="9525" cap="flat" cmpd="sng">
            <a:solidFill>
              <a:schemeClr val="accent2"/>
            </a:solidFill>
            <a:prstDash val="solid"/>
            <a:headEnd type="none" w="med" len="med"/>
            <a:tailEnd type="none" w="med" len="med"/>
          </a:ln>
        </p:spPr>
      </p:sp>
      <p:sp>
        <p:nvSpPr>
          <p:cNvPr id="64578" name="Line 1110"/>
          <p:cNvSpPr/>
          <p:nvPr/>
        </p:nvSpPr>
        <p:spPr>
          <a:xfrm>
            <a:off x="5181600" y="4152900"/>
            <a:ext cx="762000" cy="0"/>
          </a:xfrm>
          <a:prstGeom prst="line">
            <a:avLst/>
          </a:prstGeom>
          <a:ln w="9525" cap="flat" cmpd="sng">
            <a:solidFill>
              <a:schemeClr val="accent2"/>
            </a:solidFill>
            <a:prstDash val="solid"/>
            <a:headEnd type="none" w="med" len="med"/>
            <a:tailEnd type="none" w="med" len="med"/>
          </a:ln>
        </p:spPr>
      </p:sp>
      <p:sp>
        <p:nvSpPr>
          <p:cNvPr id="64579" name="Line 1111"/>
          <p:cNvSpPr/>
          <p:nvPr/>
        </p:nvSpPr>
        <p:spPr>
          <a:xfrm>
            <a:off x="7010400" y="4152900"/>
            <a:ext cx="762000" cy="0"/>
          </a:xfrm>
          <a:prstGeom prst="line">
            <a:avLst/>
          </a:prstGeom>
          <a:ln w="9525" cap="flat" cmpd="sng">
            <a:solidFill>
              <a:schemeClr val="accent2"/>
            </a:solidFill>
            <a:prstDash val="solid"/>
            <a:headEnd type="none" w="med" len="med"/>
            <a:tailEnd type="none" w="med"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r>
              <a:rPr lang="en-US" altLang="zh-CN" sz="2800" dirty="0">
                <a:latin typeface="隶书" panose="02010509060101010101" pitchFamily="49" charset="-122"/>
                <a:ea typeface="隶书" panose="02010509060101010101" pitchFamily="49" charset="-122"/>
              </a:rPr>
              <a:t>6.1.4 </a:t>
            </a:r>
            <a:r>
              <a:rPr lang="zh-CN" altLang="en-US" sz="2800" dirty="0">
                <a:latin typeface="隶书" panose="02010509060101010101" pitchFamily="49" charset="-122"/>
                <a:ea typeface="隶书" panose="02010509060101010101" pitchFamily="49" charset="-122"/>
              </a:rPr>
              <a:t>回顾字符数统计的例子</a:t>
            </a:r>
            <a:endParaRPr lang="en-US" altLang="zh-CN" sz="2800" dirty="0">
              <a:latin typeface="隶书" panose="02010509060101010101" pitchFamily="49" charset="-122"/>
              <a:ea typeface="隶书" panose="02010509060101010101" pitchFamily="49" charset="-122"/>
            </a:endParaRPr>
          </a:p>
          <a:p>
            <a:pPr marL="514350" indent="-514350"/>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问题：在一个文件中统计特定字符出现的次数。该特定字符是由键盘输入确定；统计数结果将回显在屏幕上。</a:t>
            </a:r>
            <a:endParaRPr lang="en-US" altLang="zh-CN" sz="2800" dirty="0">
              <a:latin typeface="隶书" panose="02010509060101010101" pitchFamily="49" charset="-122"/>
              <a:ea typeface="隶书" panose="02010509060101010101" pitchFamily="49" charset="-122"/>
            </a:endParaRPr>
          </a:p>
          <a:p>
            <a:pPr marL="514350" indent="-514350"/>
            <a:r>
              <a:rPr lang="zh-CN" altLang="en-US" sz="2800" dirty="0">
                <a:latin typeface="隶书" panose="02010509060101010101" pitchFamily="49" charset="-122"/>
                <a:ea typeface="隶书" panose="02010509060101010101" pitchFamily="49" charset="-122"/>
              </a:rPr>
              <a:t>开始 任务 结束</a:t>
            </a:r>
            <a:endParaRPr lang="en-US" altLang="zh-CN" sz="2800" dirty="0">
              <a:latin typeface="隶书" panose="02010509060101010101" pitchFamily="49" charset="-122"/>
              <a:ea typeface="隶书" panose="02010509060101010101" pitchFamily="49" charset="-122"/>
            </a:endParaRPr>
          </a:p>
          <a:p>
            <a:pPr marL="514350" indent="-514350"/>
            <a:r>
              <a:rPr lang="zh-CN" altLang="en-US" sz="2800" dirty="0">
                <a:latin typeface="隶书" panose="02010509060101010101" pitchFamily="49" charset="-122"/>
                <a:ea typeface="隶书" panose="02010509060101010101" pitchFamily="49" charset="-122"/>
              </a:rPr>
              <a:t>开始 初始化 扫描文件 显示计数值 结束</a:t>
            </a:r>
            <a:endParaRPr lang="en-US" altLang="zh-CN" sz="2800" dirty="0">
              <a:latin typeface="隶书" panose="02010509060101010101" pitchFamily="49" charset="-122"/>
              <a:ea typeface="隶书" panose="02010509060101010101" pitchFamily="49" charset="-122"/>
            </a:endParaRPr>
          </a:p>
          <a:p>
            <a:pPr marL="514350" indent="-514350"/>
            <a:r>
              <a:rPr lang="zh-CN" altLang="en-US" sz="2800" dirty="0">
                <a:latin typeface="隶书" panose="02010509060101010101" pitchFamily="49" charset="-122"/>
                <a:ea typeface="隶书" panose="02010509060101010101" pitchFamily="49" charset="-122"/>
              </a:rPr>
              <a:t>将程序分割成多个模块，并在每个模块执行结束时检查计算结果。</a:t>
            </a:r>
            <a:endParaRPr lang="en-US" altLang="zh-CN" sz="2800" dirty="0">
              <a:latin typeface="隶书" panose="02010509060101010101" pitchFamily="49" charset="-122"/>
              <a:ea typeface="隶书" panose="02010509060101010101" pitchFamily="49" charset="-122"/>
            </a:endParaRPr>
          </a:p>
          <a:p>
            <a:pPr marL="514350" indent="-514350"/>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pPr>
              <a:buFont typeface="Arial" panose="020B0604020202020204" pitchFamily="34" charset="0"/>
              <a:buChar char="•"/>
            </a:pPr>
            <a:endParaRPr lang="zh-CN" altLang="en-US"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.1 问题求解</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E710427F-6C96-4FB9-BACC-AE4A7A624A67}" type="slidenum">
              <a:rPr lang="zh-CN" altLang="en-US" smtClean="0"/>
            </a:fld>
            <a:r>
              <a:rPr lang="en-US" altLang="zh-CN"/>
              <a:t>/30</a:t>
            </a:r>
            <a:endParaRPr lang="en-US" altLang="zh-CN"/>
          </a:p>
        </p:txBody>
      </p:sp>
      <p:pic>
        <p:nvPicPr>
          <p:cNvPr id="3" name="图片 2"/>
          <p:cNvPicPr>
            <a:picLocks noChangeAspect="1"/>
          </p:cNvPicPr>
          <p:nvPr/>
        </p:nvPicPr>
        <p:blipFill rotWithShape="1">
          <a:blip r:embed="rId1"/>
          <a:srcRect l="33463" t="18280" r="32675" b="9400"/>
          <a:stretch>
            <a:fillRect/>
          </a:stretch>
        </p:blipFill>
        <p:spPr>
          <a:xfrm>
            <a:off x="3315279" y="44624"/>
            <a:ext cx="5608026" cy="67371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E710427F-6C96-4FB9-BACC-AE4A7A624A67}" type="slidenum">
              <a:rPr lang="zh-CN" altLang="en-US" smtClean="0"/>
            </a:fld>
            <a:r>
              <a:rPr lang="en-US" altLang="zh-CN"/>
              <a:t>/30</a:t>
            </a:r>
            <a:endParaRPr lang="en-US" altLang="zh-CN"/>
          </a:p>
        </p:txBody>
      </p:sp>
      <p:pic>
        <p:nvPicPr>
          <p:cNvPr id="3" name="图片 2"/>
          <p:cNvPicPr>
            <a:picLocks noChangeAspect="1"/>
          </p:cNvPicPr>
          <p:nvPr/>
        </p:nvPicPr>
        <p:blipFill rotWithShape="1">
          <a:blip r:embed="rId1"/>
          <a:srcRect l="33463" t="24800" r="31100" b="13601"/>
          <a:stretch>
            <a:fillRect/>
          </a:stretch>
        </p:blipFill>
        <p:spPr>
          <a:xfrm>
            <a:off x="2783632" y="48394"/>
            <a:ext cx="6958765" cy="68041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E710427F-6C96-4FB9-BACC-AE4A7A624A67}" type="slidenum">
              <a:rPr lang="zh-CN" altLang="en-US" smtClean="0"/>
            </a:fld>
            <a:r>
              <a:rPr lang="en-US" altLang="zh-CN"/>
              <a:t>/30</a:t>
            </a:r>
            <a:endParaRPr lang="en-US" altLang="zh-CN"/>
          </a:p>
        </p:txBody>
      </p:sp>
      <p:pic>
        <p:nvPicPr>
          <p:cNvPr id="3" name="图片 2"/>
          <p:cNvPicPr>
            <a:picLocks noChangeAspect="1"/>
          </p:cNvPicPr>
          <p:nvPr/>
        </p:nvPicPr>
        <p:blipFill rotWithShape="1">
          <a:blip r:embed="rId1"/>
          <a:srcRect l="42912" t="29942" r="42913" b="8001"/>
          <a:stretch>
            <a:fillRect/>
          </a:stretch>
        </p:blipFill>
        <p:spPr>
          <a:xfrm>
            <a:off x="4439816" y="-25074"/>
            <a:ext cx="3312368" cy="69081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4967758"/>
          </a:xfrm>
        </p:spPr>
        <p:txBody>
          <a:bodyPr/>
          <a:lstStyle/>
          <a:p>
            <a:pPr marL="514350" indent="-514350"/>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6.2.1 </a:t>
            </a:r>
            <a:r>
              <a:rPr lang="zh-CN" altLang="en-US" sz="2800" dirty="0">
                <a:latin typeface="隶书" panose="02010509060101010101" pitchFamily="49" charset="-122"/>
                <a:ea typeface="隶书" panose="02010509060101010101" pitchFamily="49" charset="-122"/>
              </a:rPr>
              <a:t>调试的基本操作</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赋值</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2.</a:t>
            </a:r>
            <a:r>
              <a:rPr lang="zh-CN" altLang="en-US" sz="2800" dirty="0">
                <a:latin typeface="隶书" panose="02010509060101010101" pitchFamily="49" charset="-122"/>
                <a:ea typeface="隶书" panose="02010509060101010101" pitchFamily="49" charset="-122"/>
              </a:rPr>
              <a:t>控制指令序列的执行</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zh-CN" altLang="en-US" sz="2800" dirty="0">
                <a:latin typeface="隶书" panose="02010509060101010101" pitchFamily="49" charset="-122"/>
                <a:ea typeface="隶书" panose="02010509060101010101" pitchFamily="49" charset="-122"/>
              </a:rPr>
              <a:t>直接运行，单步或多步跳步执行，设置断点</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3.</a:t>
            </a:r>
            <a:r>
              <a:rPr lang="zh-CN" altLang="en-US" sz="2800" dirty="0">
                <a:latin typeface="隶书" panose="02010509060101010101" pitchFamily="49" charset="-122"/>
                <a:ea typeface="隶书" panose="02010509060101010101" pitchFamily="49" charset="-122"/>
              </a:rPr>
              <a:t>内容查看</a:t>
            </a:r>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5399806"/>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a:t>
            </a:r>
            <a:r>
              <a:rPr lang="en-US" altLang="zh-CN" sz="2800" dirty="0">
                <a:latin typeface="隶书" panose="02010509060101010101" pitchFamily="49" charset="-122"/>
                <a:ea typeface="隶书" panose="02010509060101010101" pitchFamily="49" charset="-122"/>
              </a:rPr>
              <a:t>6-1 </a:t>
            </a:r>
            <a:r>
              <a:rPr lang="zh-CN" altLang="en-US" sz="2800" dirty="0">
                <a:latin typeface="隶书" panose="02010509060101010101" pitchFamily="49" charset="-122"/>
                <a:ea typeface="隶书" panose="02010509060101010101" pitchFamily="49" charset="-122"/>
              </a:rPr>
              <a:t>没有乘法指令的乘法</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将</a:t>
            </a:r>
            <a:r>
              <a:rPr lang="en-US" altLang="zh-CN" sz="2800" dirty="0">
                <a:latin typeface="隶书" panose="02010509060101010101" pitchFamily="49" charset="-122"/>
                <a:ea typeface="隶书" panose="02010509060101010101" pitchFamily="49" charset="-122"/>
              </a:rPr>
              <a:t>R4</a:t>
            </a:r>
            <a:r>
              <a:rPr lang="zh-CN" altLang="en-US" sz="2800" dirty="0">
                <a:latin typeface="隶书" panose="02010509060101010101" pitchFamily="49" charset="-122"/>
                <a:ea typeface="隶书" panose="02010509060101010101" pitchFamily="49" charset="-122"/>
              </a:rPr>
              <a:t>和</a:t>
            </a:r>
            <a:r>
              <a:rPr lang="en-US" altLang="zh-CN" sz="2800" dirty="0">
                <a:latin typeface="隶书" panose="02010509060101010101" pitchFamily="49" charset="-122"/>
                <a:ea typeface="隶书" panose="02010509060101010101" pitchFamily="49" charset="-122"/>
              </a:rPr>
              <a:t>R5</a:t>
            </a:r>
            <a:r>
              <a:rPr lang="zh-CN" altLang="en-US" sz="2800" dirty="0">
                <a:latin typeface="隶书" panose="02010509060101010101" pitchFamily="49" charset="-122"/>
                <a:ea typeface="隶书" panose="02010509060101010101" pitchFamily="49" charset="-122"/>
              </a:rPr>
              <a:t>中包含的两个正整数相乘。</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R2 ← 0</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R2 ← R2+R4</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R5 ← R5-1</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a:t>
            </a:r>
            <a:r>
              <a:rPr lang="en-US" altLang="zh-CN" sz="2800" dirty="0" err="1">
                <a:latin typeface="隶书" panose="02010509060101010101" pitchFamily="49" charset="-122"/>
                <a:ea typeface="隶书" panose="02010509060101010101" pitchFamily="49" charset="-122"/>
              </a:rPr>
              <a:t>BRzp</a:t>
            </a:r>
            <a:r>
              <a:rPr lang="en-US" altLang="zh-CN" sz="2800" dirty="0">
                <a:latin typeface="隶书" panose="02010509060101010101" pitchFamily="49" charset="-122"/>
                <a:ea typeface="隶书" panose="02010509060101010101" pitchFamily="49" charset="-122"/>
              </a:rPr>
              <a:t> x3201</a:t>
            </a:r>
            <a:endParaRPr lang="en-US" altLang="zh-CN" sz="2800" dirty="0">
              <a:latin typeface="隶书" panose="02010509060101010101" pitchFamily="49" charset="-122"/>
              <a:ea typeface="隶书" panose="02010509060101010101" pitchFamily="49" charset="-122"/>
            </a:endParaRPr>
          </a:p>
          <a:p>
            <a:r>
              <a:rPr lang="en-US" altLang="zh-CN" sz="2800" dirty="0">
                <a:latin typeface="隶书" panose="02010509060101010101" pitchFamily="49" charset="-122"/>
                <a:ea typeface="隶书" panose="02010509060101010101" pitchFamily="49" charset="-122"/>
              </a:rPr>
              <a:t> HALT</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错误： 不正确的循环控制</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5732462"/>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a:t>
            </a:r>
            <a:r>
              <a:rPr lang="en-US" altLang="zh-CN" sz="2800" dirty="0">
                <a:latin typeface="隶书" panose="02010509060101010101" pitchFamily="49" charset="-122"/>
                <a:ea typeface="隶书" panose="02010509060101010101" pitchFamily="49" charset="-122"/>
              </a:rPr>
              <a:t>6-2 </a:t>
            </a:r>
            <a:r>
              <a:rPr lang="zh-CN" altLang="en-US" sz="2800" dirty="0">
                <a:latin typeface="隶书" panose="02010509060101010101" pitchFamily="49" charset="-122"/>
                <a:ea typeface="隶书" panose="02010509060101010101" pitchFamily="49" charset="-122"/>
              </a:rPr>
              <a:t>一列数的求和</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将存储在从</a:t>
            </a:r>
            <a:r>
              <a:rPr lang="en-US" altLang="zh-CN" sz="2800" dirty="0">
                <a:latin typeface="隶书" panose="02010509060101010101" pitchFamily="49" charset="-122"/>
                <a:ea typeface="隶书" panose="02010509060101010101" pitchFamily="49" charset="-122"/>
              </a:rPr>
              <a:t>x3100</a:t>
            </a:r>
            <a:r>
              <a:rPr lang="zh-CN" altLang="en-US" sz="2800" dirty="0">
                <a:latin typeface="隶书" panose="02010509060101010101" pitchFamily="49" charset="-122"/>
                <a:ea typeface="隶书" panose="02010509060101010101" pitchFamily="49" charset="-122"/>
              </a:rPr>
              <a:t>开始的</a:t>
            </a:r>
            <a:r>
              <a:rPr lang="en-US" altLang="zh-CN" sz="2800" dirty="0">
                <a:latin typeface="隶书" panose="02010509060101010101" pitchFamily="49" charset="-122"/>
                <a:ea typeface="隶书" panose="02010509060101010101" pitchFamily="49" charset="-122"/>
              </a:rPr>
              <a:t>10</a:t>
            </a:r>
            <a:r>
              <a:rPr lang="zh-CN" altLang="en-US" sz="2800" dirty="0">
                <a:latin typeface="隶书" panose="02010509060101010101" pitchFamily="49" charset="-122"/>
                <a:ea typeface="隶书" panose="02010509060101010101" pitchFamily="49" charset="-122"/>
              </a:rPr>
              <a:t>个内存单元的数值加在一起，并将结果存放在</a:t>
            </a:r>
            <a:r>
              <a:rPr lang="en-US" altLang="zh-CN" sz="2800" dirty="0">
                <a:latin typeface="隶书" panose="02010509060101010101" pitchFamily="49" charset="-122"/>
                <a:ea typeface="隶书" panose="02010509060101010101" pitchFamily="49" charset="-122"/>
              </a:rPr>
              <a:t>R1</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R1 ← 0</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R4 ← 0</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R4 ← R4+10</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R2 ← M[x3100]</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R3 ← M[R2]</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R2 ← R2+1</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R1 ← R1+ R3</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R4 ← R4-1</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a:t>
            </a:r>
            <a:r>
              <a:rPr lang="en-US" altLang="zh-CN" sz="2000" dirty="0" err="1">
                <a:latin typeface="隶书" panose="02010509060101010101" pitchFamily="49" charset="-122"/>
                <a:ea typeface="隶书" panose="02010509060101010101" pitchFamily="49" charset="-122"/>
              </a:rPr>
              <a:t>BRp</a:t>
            </a:r>
            <a:r>
              <a:rPr lang="en-US" altLang="zh-CN" sz="2000" dirty="0">
                <a:latin typeface="隶书" panose="02010509060101010101" pitchFamily="49" charset="-122"/>
                <a:ea typeface="隶书" panose="02010509060101010101" pitchFamily="49" charset="-122"/>
              </a:rPr>
              <a:t> x3004</a:t>
            </a:r>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HALT</a:t>
            </a:r>
            <a:endParaRPr lang="en-US" altLang="zh-CN" sz="20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5732462"/>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错误： 不正确的</a:t>
            </a:r>
            <a:r>
              <a:rPr lang="en-US" altLang="zh-CN" sz="2800" dirty="0">
                <a:latin typeface="隶书" panose="02010509060101010101" pitchFamily="49" charset="-122"/>
                <a:ea typeface="隶书" panose="02010509060101010101" pitchFamily="49" charset="-122"/>
              </a:rPr>
              <a:t>load </a:t>
            </a:r>
            <a:r>
              <a:rPr lang="zh-CN" altLang="en-US" sz="2800" dirty="0">
                <a:latin typeface="隶书" panose="02010509060101010101" pitchFamily="49" charset="-122"/>
                <a:ea typeface="隶书" panose="02010509060101010101" pitchFamily="49" charset="-122"/>
              </a:rPr>
              <a:t>命令使用。</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a:t>
            </a:r>
            <a:r>
              <a:rPr lang="en-US" altLang="zh-CN" sz="2800" dirty="0">
                <a:latin typeface="隶书" panose="02010509060101010101" pitchFamily="49" charset="-122"/>
                <a:ea typeface="隶书" panose="02010509060101010101" pitchFamily="49" charset="-122"/>
              </a:rPr>
              <a:t>6-3 </a:t>
            </a:r>
            <a:r>
              <a:rPr lang="zh-CN" altLang="en-US" sz="2800" dirty="0">
                <a:latin typeface="隶书" panose="02010509060101010101" pitchFamily="49" charset="-122"/>
                <a:ea typeface="隶书" panose="02010509060101010101" pitchFamily="49" charset="-122"/>
              </a:rPr>
              <a:t>查看内存区域是否包含数字</a:t>
            </a:r>
            <a:r>
              <a:rPr lang="en-US" altLang="zh-CN" sz="2800" dirty="0">
                <a:latin typeface="隶书" panose="02010509060101010101" pitchFamily="49" charset="-122"/>
                <a:ea typeface="隶书" panose="02010509060101010101" pitchFamily="49" charset="-122"/>
              </a:rPr>
              <a:t>5</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将检查从</a:t>
            </a:r>
            <a:r>
              <a:rPr lang="en-US" altLang="zh-CN" sz="2800" dirty="0">
                <a:latin typeface="隶书" panose="02010509060101010101" pitchFamily="49" charset="-122"/>
                <a:ea typeface="隶书" panose="02010509060101010101" pitchFamily="49" charset="-122"/>
              </a:rPr>
              <a:t>x3100</a:t>
            </a:r>
            <a:r>
              <a:rPr lang="zh-CN" altLang="en-US" sz="2800" dirty="0">
                <a:latin typeface="隶书" panose="02010509060101010101" pitchFamily="49" charset="-122"/>
                <a:ea typeface="隶书" panose="02010509060101010101" pitchFamily="49" charset="-122"/>
              </a:rPr>
              <a:t>开始的</a:t>
            </a:r>
            <a:r>
              <a:rPr lang="en-US" altLang="zh-CN" sz="2800" dirty="0">
                <a:latin typeface="隶书" panose="02010509060101010101" pitchFamily="49" charset="-122"/>
                <a:ea typeface="隶书" panose="02010509060101010101" pitchFamily="49" charset="-122"/>
              </a:rPr>
              <a:t>10</a:t>
            </a:r>
            <a:r>
              <a:rPr lang="zh-CN" altLang="en-US" sz="2800" dirty="0">
                <a:latin typeface="隶书" panose="02010509060101010101" pitchFamily="49" charset="-122"/>
                <a:ea typeface="隶书" panose="02010509060101010101" pitchFamily="49" charset="-122"/>
              </a:rPr>
              <a:t>个内存单元中是否包含数值</a:t>
            </a:r>
            <a:r>
              <a:rPr lang="en-US" altLang="zh-CN" sz="2800" dirty="0">
                <a:latin typeface="隶书" panose="02010509060101010101" pitchFamily="49" charset="-122"/>
                <a:ea typeface="隶书" panose="02010509060101010101" pitchFamily="49" charset="-122"/>
              </a:rPr>
              <a:t>5</a:t>
            </a:r>
            <a:r>
              <a:rPr lang="zh-CN" altLang="en-US" sz="2800" dirty="0">
                <a:latin typeface="隶书" panose="02010509060101010101" pitchFamily="49" charset="-122"/>
                <a:ea typeface="隶书" panose="02010509060101010101" pitchFamily="49" charset="-122"/>
              </a:rPr>
              <a:t>，如果有则设置</a:t>
            </a:r>
            <a:r>
              <a:rPr lang="en-US" altLang="zh-CN" sz="2800" dirty="0">
                <a:latin typeface="隶书" panose="02010509060101010101" pitchFamily="49" charset="-122"/>
                <a:ea typeface="隶书" panose="02010509060101010101" pitchFamily="49" charset="-122"/>
              </a:rPr>
              <a:t>R0=1</a:t>
            </a:r>
            <a:r>
              <a:rPr lang="zh-CN" altLang="en-US" sz="2800" dirty="0">
                <a:latin typeface="隶书" panose="02010509060101010101" pitchFamily="49" charset="-122"/>
                <a:ea typeface="隶书" panose="02010509060101010101" pitchFamily="49" charset="-122"/>
              </a:rPr>
              <a:t>，如果没有则设置</a:t>
            </a:r>
            <a:r>
              <a:rPr lang="en-US" altLang="zh-CN" sz="2800" dirty="0">
                <a:latin typeface="隶书" panose="02010509060101010101" pitchFamily="49" charset="-122"/>
                <a:ea typeface="隶书" panose="02010509060101010101" pitchFamily="49" charset="-122"/>
              </a:rPr>
              <a:t>R0=0</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552" y="1125538"/>
            <a:ext cx="8064500" cy="5732462"/>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a:t>
            </a:r>
            <a:r>
              <a:rPr lang="en-US" altLang="zh-CN" sz="1800" dirty="0">
                <a:latin typeface="隶书" panose="02010509060101010101" pitchFamily="49" charset="-122"/>
                <a:ea typeface="隶书" panose="02010509060101010101" pitchFamily="49" charset="-122"/>
              </a:rPr>
              <a:t>R0 ← 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R0 ← R0+1</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R1 ← 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R1 ← R1-5</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R3 ← 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R3 ← R3+10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R4 ← M[x3100]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M[R4]</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R2+R1</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a:t>
            </a:r>
            <a:r>
              <a:rPr lang="en-US" altLang="zh-CN" sz="1800" dirty="0" err="1">
                <a:latin typeface="隶书" panose="02010509060101010101" pitchFamily="49" charset="-122"/>
                <a:ea typeface="隶书" panose="02010509060101010101" pitchFamily="49" charset="-122"/>
              </a:rPr>
              <a:t>BRz</a:t>
            </a:r>
            <a:r>
              <a:rPr lang="en-US" altLang="zh-CN" sz="1800" dirty="0">
                <a:latin typeface="隶书" panose="02010509060101010101" pitchFamily="49" charset="-122"/>
                <a:ea typeface="隶书" panose="02010509060101010101" pitchFamily="49" charset="-122"/>
              </a:rPr>
              <a:t> X300F</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R4 ← R4+1</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R3 ← R3-1</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M[R4]</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a:t>
            </a:r>
            <a:r>
              <a:rPr lang="en-US" altLang="zh-CN" sz="1800" dirty="0" err="1">
                <a:latin typeface="隶书" panose="02010509060101010101" pitchFamily="49" charset="-122"/>
                <a:ea typeface="隶书" panose="02010509060101010101" pitchFamily="49" charset="-122"/>
              </a:rPr>
              <a:t>BRp</a:t>
            </a:r>
            <a:r>
              <a:rPr lang="en-US" altLang="zh-CN" sz="1800" dirty="0">
                <a:latin typeface="隶书" panose="02010509060101010101" pitchFamily="49" charset="-122"/>
                <a:ea typeface="隶书" panose="02010509060101010101" pitchFamily="49" charset="-122"/>
              </a:rPr>
              <a:t> X3008</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R0 ← 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HALT</a:t>
            </a:r>
            <a:endParaRPr lang="en-US" altLang="zh-CN" sz="1800" dirty="0">
              <a:latin typeface="隶书" panose="02010509060101010101" pitchFamily="49" charset="-122"/>
              <a:ea typeface="隶书" panose="02010509060101010101" pitchFamily="49" charset="-122"/>
            </a:endParaRPr>
          </a:p>
          <a:p>
            <a:endParaRPr lang="en-US" altLang="zh-CN" sz="2000" dirty="0">
              <a:latin typeface="隶书" panose="02010509060101010101" pitchFamily="49" charset="-122"/>
              <a:ea typeface="隶书" panose="02010509060101010101" pitchFamily="49" charset="-122"/>
            </a:endParaRPr>
          </a:p>
          <a:p>
            <a:endParaRPr lang="en-US" altLang="zh-CN" sz="20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a:t>
            </a:r>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750" y="1125538"/>
            <a:ext cx="8064500" cy="5732462"/>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错误： 忽略了设置条件代码指令的存在，导致条件跳转指令的条件判断失误。</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例</a:t>
            </a:r>
            <a:r>
              <a:rPr lang="en-US" altLang="zh-CN" sz="2800" dirty="0">
                <a:latin typeface="隶书" panose="02010509060101010101" pitchFamily="49" charset="-122"/>
                <a:ea typeface="隶书" panose="02010509060101010101" pitchFamily="49" charset="-122"/>
              </a:rPr>
              <a:t>6-4  </a:t>
            </a:r>
            <a:r>
              <a:rPr lang="zh-CN" altLang="en-US" sz="2800" dirty="0">
                <a:latin typeface="隶书" panose="02010509060101010101" pitchFamily="49" charset="-122"/>
                <a:ea typeface="隶书" panose="02010509060101010101" pitchFamily="49" charset="-122"/>
              </a:rPr>
              <a:t>查找字中的第一个</a:t>
            </a:r>
            <a:r>
              <a:rPr lang="en-US" altLang="zh-CN" sz="2800" dirty="0">
                <a:latin typeface="隶书" panose="02010509060101010101" pitchFamily="49" charset="-122"/>
                <a:ea typeface="隶书" panose="02010509060101010101" pitchFamily="49" charset="-122"/>
              </a:rPr>
              <a:t>1.</a:t>
            </a:r>
            <a:endParaRPr lang="en-US" altLang="zh-CN" sz="28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检查一个内存单元第一个出现</a:t>
            </a:r>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的位置，并将位置保存在</a:t>
            </a:r>
            <a:r>
              <a:rPr lang="en-US" altLang="zh-CN" sz="2800" dirty="0">
                <a:latin typeface="隶书" panose="02010509060101010101" pitchFamily="49" charset="-122"/>
                <a:ea typeface="隶书" panose="02010509060101010101" pitchFamily="49" charset="-122"/>
              </a:rPr>
              <a:t>R1</a:t>
            </a:r>
            <a:r>
              <a:rPr lang="zh-CN" altLang="en-US" sz="2800" dirty="0">
                <a:latin typeface="隶书" panose="02010509060101010101" pitchFamily="49" charset="-122"/>
                <a:ea typeface="隶书" panose="02010509060101010101" pitchFamily="49" charset="-122"/>
              </a:rPr>
              <a:t>中，若没发现为</a:t>
            </a:r>
            <a:r>
              <a:rPr lang="en-US" altLang="zh-CN" sz="2800" dirty="0">
                <a:latin typeface="隶书" panose="02010509060101010101" pitchFamily="49" charset="-122"/>
                <a:ea typeface="隶书" panose="02010509060101010101" pitchFamily="49" charset="-122"/>
              </a:rPr>
              <a:t>1</a:t>
            </a:r>
            <a:r>
              <a:rPr lang="zh-CN" altLang="en-US" sz="2800" dirty="0">
                <a:latin typeface="隶书" panose="02010509060101010101" pitchFamily="49" charset="-122"/>
                <a:ea typeface="隶书" panose="02010509060101010101" pitchFamily="49" charset="-122"/>
              </a:rPr>
              <a:t>的位，则设置</a:t>
            </a:r>
            <a:r>
              <a:rPr lang="en-US" altLang="zh-CN" sz="2800" dirty="0">
                <a:latin typeface="隶书" panose="02010509060101010101" pitchFamily="49" charset="-122"/>
                <a:ea typeface="隶书" panose="02010509060101010101" pitchFamily="49" charset="-122"/>
              </a:rPr>
              <a:t>R1=-1</a:t>
            </a:r>
            <a:r>
              <a:rPr lang="zh-CN" altLang="en-US" sz="2800" dirty="0">
                <a:latin typeface="隶书" panose="02010509060101010101" pitchFamily="49" charset="-122"/>
                <a:ea typeface="隶书" panose="02010509060101010101" pitchFamily="49" charset="-122"/>
              </a:rPr>
              <a:t>。</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3A005A31-33D9-49FB-B803-E032F5E3FEC0}" type="slidenum">
              <a:rPr lang="zh-CN" altLang="en-US"/>
            </a:fld>
            <a:r>
              <a:rPr lang="en-US" altLang="zh-CN"/>
              <a:t>/30</a:t>
            </a:r>
            <a:endParaRPr lang="en-US" altLang="zh-CN"/>
          </a:p>
        </p:txBody>
      </p:sp>
      <p:sp>
        <p:nvSpPr>
          <p:cNvPr id="223235" name="Rectangle 3"/>
          <p:cNvSpPr>
            <a:spLocks noGrp="1" noChangeArrowheads="1"/>
          </p:cNvSpPr>
          <p:nvPr>
            <p:ph type="body" idx="1"/>
          </p:nvPr>
        </p:nvSpPr>
        <p:spPr>
          <a:xfrm>
            <a:off x="2063552" y="1125538"/>
            <a:ext cx="8064500" cy="5732462"/>
          </a:xfrm>
        </p:spPr>
        <p:txBody>
          <a:bodyPr/>
          <a:lstStyle/>
          <a:p>
            <a:r>
              <a:rPr lang="en-US" altLang="zh-CN" sz="2800" dirty="0">
                <a:latin typeface="隶书" panose="02010509060101010101" pitchFamily="49" charset="-122"/>
                <a:ea typeface="隶书" panose="02010509060101010101" pitchFamily="49" charset="-122"/>
              </a:rPr>
              <a:t>6.2.2 </a:t>
            </a:r>
            <a:r>
              <a:rPr lang="zh-CN" altLang="en-US" sz="2800" dirty="0">
                <a:latin typeface="隶书" panose="02010509060101010101" pitchFamily="49" charset="-122"/>
                <a:ea typeface="隶书" panose="02010509060101010101" pitchFamily="49" charset="-122"/>
              </a:rPr>
              <a:t>交互式调试器的使用</a:t>
            </a:r>
            <a:endParaRPr lang="en-US" altLang="zh-CN" sz="28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a:t>
            </a:r>
            <a:r>
              <a:rPr lang="en-US" altLang="zh-CN" sz="1800" dirty="0">
                <a:latin typeface="隶书" panose="02010509060101010101" pitchFamily="49" charset="-122"/>
                <a:ea typeface="隶书" panose="02010509060101010101" pitchFamily="49" charset="-122"/>
              </a:rPr>
              <a:t>R1 ← 0</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R1 ← R1+15</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M[M[x3009]]</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a:t>
            </a:r>
            <a:r>
              <a:rPr lang="en-US" altLang="zh-CN" sz="1800" dirty="0" err="1">
                <a:latin typeface="隶书" panose="02010509060101010101" pitchFamily="49" charset="-122"/>
                <a:ea typeface="隶书" panose="02010509060101010101" pitchFamily="49" charset="-122"/>
              </a:rPr>
              <a:t>BRn</a:t>
            </a:r>
            <a:r>
              <a:rPr lang="en-US" altLang="zh-CN" sz="1800" dirty="0">
                <a:latin typeface="隶书" panose="02010509060101010101" pitchFamily="49" charset="-122"/>
                <a:ea typeface="隶书" panose="02010509060101010101" pitchFamily="49" charset="-122"/>
              </a:rPr>
              <a:t> X3008</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R1 ← R1-1</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R2+R2</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R2 ← M[R4]</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a:t>
            </a:r>
            <a:r>
              <a:rPr lang="en-US" altLang="zh-CN" sz="1800" dirty="0" err="1">
                <a:latin typeface="隶书" panose="02010509060101010101" pitchFamily="49" charset="-122"/>
                <a:ea typeface="隶书" panose="02010509060101010101" pitchFamily="49" charset="-122"/>
              </a:rPr>
              <a:t>BRn</a:t>
            </a:r>
            <a:r>
              <a:rPr lang="en-US" altLang="zh-CN" sz="1800" dirty="0">
                <a:latin typeface="隶书" panose="02010509060101010101" pitchFamily="49" charset="-122"/>
                <a:ea typeface="隶书" panose="02010509060101010101" pitchFamily="49" charset="-122"/>
              </a:rPr>
              <a:t> X3008</a:t>
            </a:r>
            <a:endParaRPr lang="en-US" altLang="zh-CN" sz="1800" dirty="0">
              <a:latin typeface="隶书" panose="02010509060101010101" pitchFamily="49" charset="-122"/>
              <a:ea typeface="隶书" panose="02010509060101010101" pitchFamily="49" charset="-122"/>
            </a:endParaRPr>
          </a:p>
          <a:p>
            <a:r>
              <a:rPr lang="en-US" altLang="zh-CN" sz="1800" dirty="0">
                <a:latin typeface="隶书" panose="02010509060101010101" pitchFamily="49" charset="-122"/>
                <a:ea typeface="隶书" panose="02010509060101010101" pitchFamily="49" charset="-122"/>
              </a:rPr>
              <a:t> </a:t>
            </a:r>
            <a:r>
              <a:rPr lang="en-US" altLang="zh-CN" sz="1800" dirty="0" err="1">
                <a:latin typeface="隶书" panose="02010509060101010101" pitchFamily="49" charset="-122"/>
                <a:ea typeface="隶书" panose="02010509060101010101" pitchFamily="49" charset="-122"/>
              </a:rPr>
              <a:t>BRnzp</a:t>
            </a:r>
            <a:r>
              <a:rPr lang="en-US" altLang="zh-CN" sz="1800" dirty="0">
                <a:latin typeface="隶书" panose="02010509060101010101" pitchFamily="49" charset="-122"/>
                <a:ea typeface="隶书" panose="02010509060101010101" pitchFamily="49" charset="-122"/>
              </a:rPr>
              <a:t> X3004</a:t>
            </a:r>
            <a:endParaRPr lang="en-US" altLang="zh-CN" sz="1800" dirty="0">
              <a:latin typeface="隶书" panose="02010509060101010101" pitchFamily="49" charset="-122"/>
              <a:ea typeface="隶书" panose="02010509060101010101" pitchFamily="49" charset="-122"/>
            </a:endParaRPr>
          </a:p>
          <a:p>
            <a:r>
              <a:rPr lang="en-US" altLang="zh-CN" sz="2000" dirty="0">
                <a:latin typeface="隶书" panose="02010509060101010101" pitchFamily="49" charset="-122"/>
                <a:ea typeface="隶书" panose="02010509060101010101" pitchFamily="49" charset="-122"/>
              </a:rPr>
              <a:t> HALT</a:t>
            </a:r>
            <a:endParaRPr lang="en-US" altLang="zh-CN" sz="2000" dirty="0">
              <a:latin typeface="隶书" panose="02010509060101010101" pitchFamily="49" charset="-122"/>
              <a:ea typeface="隶书" panose="02010509060101010101" pitchFamily="49" charset="-122"/>
            </a:endParaRPr>
          </a:p>
          <a:p>
            <a:endParaRPr lang="en-US" altLang="zh-CN" sz="2000" dirty="0">
              <a:latin typeface="隶书" panose="02010509060101010101" pitchFamily="49" charset="-122"/>
              <a:ea typeface="隶书" panose="02010509060101010101" pitchFamily="49" charset="-122"/>
            </a:endParaRPr>
          </a:p>
          <a:p>
            <a:r>
              <a:rPr lang="zh-CN" altLang="en-US" sz="2800" dirty="0">
                <a:latin typeface="隶书" panose="02010509060101010101" pitchFamily="49" charset="-122"/>
                <a:ea typeface="隶书" panose="02010509060101010101" pitchFamily="49" charset="-122"/>
              </a:rPr>
              <a:t>错误： 忽略了输入值的所有可能性。</a:t>
            </a:r>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a:p>
            <a:endParaRPr lang="en-US" altLang="zh-CN" sz="2800" dirty="0">
              <a:latin typeface="隶书" panose="02010509060101010101" pitchFamily="49" charset="-122"/>
              <a:ea typeface="隶书" panose="02010509060101010101" pitchFamily="49" charset="-122"/>
            </a:endParaRPr>
          </a:p>
        </p:txBody>
      </p:sp>
      <p:sp>
        <p:nvSpPr>
          <p:cNvPr id="223246" name="Rectangle 14"/>
          <p:cNvSpPr>
            <a:spLocks noGrp="1" noChangeArrowheads="1"/>
          </p:cNvSpPr>
          <p:nvPr>
            <p:ph type="title"/>
          </p:nvPr>
        </p:nvSpPr>
        <p:spPr>
          <a:xfrm>
            <a:off x="2927350" y="76200"/>
            <a:ext cx="6537325" cy="762000"/>
          </a:xfrm>
          <a:noFill/>
        </p:spPr>
        <p:txBody>
          <a:bodyPr/>
          <a:lstStyle/>
          <a:p>
            <a:pPr algn="ctr"/>
            <a:r>
              <a:rPr lang="en-US" altLang="zh-CN" dirty="0">
                <a:latin typeface="华文琥珀" panose="02010800040101010101" pitchFamily="2" charset="-122"/>
              </a:rPr>
              <a:t>6</a:t>
            </a:r>
            <a:r>
              <a:rPr lang="zh-CN" altLang="en-US" dirty="0">
                <a:latin typeface="华文琥珀" panose="02010800040101010101" pitchFamily="2" charset="-122"/>
              </a:rPr>
              <a:t>.</a:t>
            </a:r>
            <a:r>
              <a:rPr lang="en-US" altLang="zh-CN" dirty="0">
                <a:latin typeface="华文琥珀" panose="02010800040101010101" pitchFamily="2" charset="-122"/>
              </a:rPr>
              <a:t>2</a:t>
            </a:r>
            <a:r>
              <a:rPr lang="zh-CN" altLang="en-US" dirty="0">
                <a:latin typeface="华文琥珀" panose="02010800040101010101" pitchFamily="2" charset="-122"/>
              </a:rPr>
              <a:t> 调试</a:t>
            </a:r>
            <a:endParaRPr lang="zh-CN" altLang="en-US" dirty="0">
              <a:latin typeface="华文琥珀" panose="02010800040101010101" pitchFamily="2" charset="-122"/>
            </a:endParaRPr>
          </a:p>
        </p:txBody>
      </p:sp>
    </p:spTree>
  </p:cSld>
  <p:clrMapOvr>
    <a:masterClrMapping/>
  </p:clrMapOvr>
  <p:transition spd="med">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5C277DF7-1836-4900-8EEF-5FC6FE963B0D}" type="slidenum">
              <a:rPr lang="zh-CN" altLang="en-US"/>
            </a:fld>
            <a:r>
              <a:rPr lang="en-US" altLang="zh-CN"/>
              <a:t>/30</a:t>
            </a:r>
            <a:endParaRPr lang="en-US" altLang="zh-CN"/>
          </a:p>
        </p:txBody>
      </p:sp>
      <p:sp>
        <p:nvSpPr>
          <p:cNvPr id="254978" name="Rectangle 2"/>
          <p:cNvSpPr>
            <a:spLocks noGrp="1" noChangeArrowheads="1"/>
          </p:cNvSpPr>
          <p:nvPr>
            <p:ph type="title"/>
          </p:nvPr>
        </p:nvSpPr>
        <p:spPr>
          <a:xfrm>
            <a:off x="2965450" y="76200"/>
            <a:ext cx="6365875" cy="762000"/>
          </a:xfrm>
        </p:spPr>
        <p:txBody>
          <a:bodyPr/>
          <a:lstStyle/>
          <a:p>
            <a:pPr algn="ctr"/>
            <a:r>
              <a:rPr lang="zh-CN" altLang="en-US" dirty="0"/>
              <a:t>作 业</a:t>
            </a:r>
            <a:endParaRPr lang="zh-CN" altLang="en-US" dirty="0"/>
          </a:p>
        </p:txBody>
      </p:sp>
      <p:sp>
        <p:nvSpPr>
          <p:cNvPr id="254979" name="Rectangle 3"/>
          <p:cNvSpPr>
            <a:spLocks noGrp="1" noChangeArrowheads="1"/>
          </p:cNvSpPr>
          <p:nvPr>
            <p:ph type="body" idx="1"/>
          </p:nvPr>
        </p:nvSpPr>
        <p:spPr>
          <a:xfrm>
            <a:off x="2063750" y="1196975"/>
            <a:ext cx="8083550" cy="4464050"/>
          </a:xfrm>
        </p:spPr>
        <p:txBody>
          <a:bodyPr/>
          <a:lstStyle/>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6-4</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6-7</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6-9</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a:latin typeface="微软雅黑" panose="020B0503020204020204" charset="-122"/>
                <a:ea typeface="微软雅黑" panose="020B0503020204020204" charset="-122"/>
              </a:rPr>
              <a:t>6-15</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6-19</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endParaRPr lang="zh-CN" altLang="en-US" sz="2400" dirty="0">
              <a:latin typeface="微软雅黑" panose="020B0503020204020204" charset="-122"/>
              <a:ea typeface="微软雅黑" panose="020B0503020204020204" charset="-122"/>
            </a:endParaRP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4979">
                                            <p:txEl>
                                              <p:pRg st="4294967295" end="4294967295"/>
                                            </p:txEl>
                                          </p:spTgt>
                                        </p:tgtEl>
                                        <p:attrNameLst>
                                          <p:attrName>style.visibility</p:attrName>
                                        </p:attrNameLst>
                                      </p:cBhvr>
                                      <p:to>
                                        <p:strVal val="visible"/>
                                      </p:to>
                                    </p:set>
                                    <p:animEffect transition="in" filter="fade">
                                      <p:cBhvr>
                                        <p:cTn id="7" dur="1000"/>
                                        <p:tgtEl>
                                          <p:spTgt spid="254979">
                                            <p:txEl>
                                              <p:pRg st="4294967295" end="4294967295"/>
                                            </p:txEl>
                                          </p:spTgt>
                                        </p:tgtEl>
                                      </p:cBhvr>
                                    </p:animEffect>
                                    <p:anim calcmode="lin" valueType="num">
                                      <p:cBhvr>
                                        <p:cTn id="8" dur="1000" fill="hold"/>
                                        <p:tgtEl>
                                          <p:spTgt spid="254979">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254979">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4979">
                                            <p:txEl>
                                              <p:pRg st="0" end="0"/>
                                            </p:txEl>
                                          </p:spTgt>
                                        </p:tgtEl>
                                        <p:attrNameLst>
                                          <p:attrName>style.visibility</p:attrName>
                                        </p:attrNameLst>
                                      </p:cBhvr>
                                      <p:to>
                                        <p:strVal val="visible"/>
                                      </p:to>
                                    </p:set>
                                    <p:animEffect transition="in" filter="fade">
                                      <p:cBhvr>
                                        <p:cTn id="14" dur="1000"/>
                                        <p:tgtEl>
                                          <p:spTgt spid="254979">
                                            <p:txEl>
                                              <p:pRg st="0" end="0"/>
                                            </p:txEl>
                                          </p:spTgt>
                                        </p:tgtEl>
                                      </p:cBhvr>
                                    </p:animEffect>
                                    <p:anim calcmode="lin" valueType="num">
                                      <p:cBhvr>
                                        <p:cTn id="15" dur="1000" fill="hold"/>
                                        <p:tgtEl>
                                          <p:spTgt spid="25497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549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4979">
                                            <p:txEl>
                                              <p:pRg st="1" end="1"/>
                                            </p:txEl>
                                          </p:spTgt>
                                        </p:tgtEl>
                                        <p:attrNameLst>
                                          <p:attrName>style.visibility</p:attrName>
                                        </p:attrNameLst>
                                      </p:cBhvr>
                                      <p:to>
                                        <p:strVal val="visible"/>
                                      </p:to>
                                    </p:set>
                                    <p:animEffect transition="in" filter="fade">
                                      <p:cBhvr>
                                        <p:cTn id="21" dur="1000"/>
                                        <p:tgtEl>
                                          <p:spTgt spid="254979">
                                            <p:txEl>
                                              <p:pRg st="1" end="1"/>
                                            </p:txEl>
                                          </p:spTgt>
                                        </p:tgtEl>
                                      </p:cBhvr>
                                    </p:animEffect>
                                    <p:anim calcmode="lin" valueType="num">
                                      <p:cBhvr>
                                        <p:cTn id="22" dur="1000" fill="hold"/>
                                        <p:tgtEl>
                                          <p:spTgt spid="25497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549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54979">
                                            <p:txEl>
                                              <p:pRg st="2" end="2"/>
                                            </p:txEl>
                                          </p:spTgt>
                                        </p:tgtEl>
                                        <p:attrNameLst>
                                          <p:attrName>style.visibility</p:attrName>
                                        </p:attrNameLst>
                                      </p:cBhvr>
                                      <p:to>
                                        <p:strVal val="visible"/>
                                      </p:to>
                                    </p:set>
                                    <p:animEffect transition="in" filter="fade">
                                      <p:cBhvr>
                                        <p:cTn id="28" dur="1000"/>
                                        <p:tgtEl>
                                          <p:spTgt spid="254979">
                                            <p:txEl>
                                              <p:pRg st="2" end="2"/>
                                            </p:txEl>
                                          </p:spTgt>
                                        </p:tgtEl>
                                      </p:cBhvr>
                                    </p:animEffect>
                                    <p:anim calcmode="lin" valueType="num">
                                      <p:cBhvr>
                                        <p:cTn id="29" dur="1000" fill="hold"/>
                                        <p:tgtEl>
                                          <p:spTgt spid="25497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549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54979">
                                            <p:txEl>
                                              <p:pRg st="3" end="3"/>
                                            </p:txEl>
                                          </p:spTgt>
                                        </p:tgtEl>
                                        <p:attrNameLst>
                                          <p:attrName>style.visibility</p:attrName>
                                        </p:attrNameLst>
                                      </p:cBhvr>
                                      <p:to>
                                        <p:strVal val="visible"/>
                                      </p:to>
                                    </p:set>
                                    <p:animEffect transition="in" filter="fade">
                                      <p:cBhvr>
                                        <p:cTn id="35" dur="1000"/>
                                        <p:tgtEl>
                                          <p:spTgt spid="254979">
                                            <p:txEl>
                                              <p:pRg st="3" end="3"/>
                                            </p:txEl>
                                          </p:spTgt>
                                        </p:tgtEl>
                                      </p:cBhvr>
                                    </p:animEffect>
                                    <p:anim calcmode="lin" valueType="num">
                                      <p:cBhvr>
                                        <p:cTn id="36" dur="1000" fill="hold"/>
                                        <p:tgtEl>
                                          <p:spTgt spid="25497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5497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54979">
                                            <p:txEl>
                                              <p:pRg st="4" end="4"/>
                                            </p:txEl>
                                          </p:spTgt>
                                        </p:tgtEl>
                                        <p:attrNameLst>
                                          <p:attrName>style.visibility</p:attrName>
                                        </p:attrNameLst>
                                      </p:cBhvr>
                                      <p:to>
                                        <p:strVal val="visible"/>
                                      </p:to>
                                    </p:set>
                                    <p:animEffect transition="in" filter="fade">
                                      <p:cBhvr>
                                        <p:cTn id="42" dur="1000"/>
                                        <p:tgtEl>
                                          <p:spTgt spid="254979">
                                            <p:txEl>
                                              <p:pRg st="4" end="4"/>
                                            </p:txEl>
                                          </p:spTgt>
                                        </p:tgtEl>
                                      </p:cBhvr>
                                    </p:animEffect>
                                    <p:anim calcmode="lin" valueType="num">
                                      <p:cBhvr>
                                        <p:cTn id="43" dur="1000" fill="hold"/>
                                        <p:tgtEl>
                                          <p:spTgt spid="25497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5497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5C277DF7-1836-4900-8EEF-5FC6FE963B0D}" type="slidenum">
              <a:rPr lang="zh-CN" altLang="en-US"/>
            </a:fld>
            <a:r>
              <a:rPr lang="en-US" altLang="zh-CN"/>
              <a:t>/30</a:t>
            </a:r>
            <a:endParaRPr lang="en-US" altLang="zh-CN"/>
          </a:p>
        </p:txBody>
      </p:sp>
      <p:sp>
        <p:nvSpPr>
          <p:cNvPr id="254978" name="Rectangle 2"/>
          <p:cNvSpPr>
            <a:spLocks noGrp="1" noChangeArrowheads="1"/>
          </p:cNvSpPr>
          <p:nvPr>
            <p:ph type="title"/>
          </p:nvPr>
        </p:nvSpPr>
        <p:spPr>
          <a:xfrm>
            <a:off x="2965450" y="76200"/>
            <a:ext cx="6365875" cy="762000"/>
          </a:xfrm>
        </p:spPr>
        <p:txBody>
          <a:bodyPr/>
          <a:lstStyle/>
          <a:p>
            <a:pPr algn="ctr"/>
            <a:r>
              <a:rPr lang="zh-CN" altLang="en-US"/>
              <a:t>本章小结</a:t>
            </a:r>
            <a:endParaRPr lang="zh-CN" altLang="en-US"/>
          </a:p>
        </p:txBody>
      </p:sp>
      <p:sp>
        <p:nvSpPr>
          <p:cNvPr id="254979" name="Rectangle 3"/>
          <p:cNvSpPr>
            <a:spLocks noGrp="1" noChangeArrowheads="1"/>
          </p:cNvSpPr>
          <p:nvPr>
            <p:ph type="body" idx="1"/>
          </p:nvPr>
        </p:nvSpPr>
        <p:spPr>
          <a:xfrm>
            <a:off x="2063750" y="1196975"/>
            <a:ext cx="8083550" cy="4464050"/>
          </a:xfrm>
        </p:spPr>
        <p:txBody>
          <a:bodyPr/>
          <a:lstStyle/>
          <a:p>
            <a:pPr marL="457200" indent="-457200">
              <a:spcBef>
                <a:spcPct val="50000"/>
              </a:spcBef>
              <a:buClr>
                <a:schemeClr val="tx1"/>
              </a:buClr>
              <a:buSzPct val="80000"/>
              <a:buFont typeface="Wingdings" panose="05000000000000000000" pitchFamily="2" charset="2"/>
              <a:buChar char="Ø"/>
            </a:pPr>
            <a:r>
              <a:rPr lang="zh-CN" altLang="en-US" sz="2400" dirty="0">
                <a:latin typeface="微软雅黑" panose="020B0503020204020204" charset="-122"/>
                <a:ea typeface="微软雅黑" panose="020B0503020204020204" charset="-122"/>
              </a:rPr>
              <a:t>编程：逐步细化</a:t>
            </a:r>
            <a:endParaRPr lang="en-US" altLang="zh-CN" sz="2400" dirty="0">
              <a:latin typeface="微软雅黑" panose="020B0503020204020204" charset="-122"/>
              <a:ea typeface="微软雅黑" panose="020B0503020204020204" charset="-122"/>
            </a:endParaRPr>
          </a:p>
          <a:p>
            <a:pPr marL="457200" indent="-457200">
              <a:spcBef>
                <a:spcPct val="50000"/>
              </a:spcBef>
              <a:buClr>
                <a:schemeClr val="tx1"/>
              </a:buClr>
              <a:buSzPct val="80000"/>
              <a:buFont typeface="Wingdings" panose="05000000000000000000" pitchFamily="2" charset="2"/>
              <a:buChar char="Ø"/>
            </a:pP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调试： 赋值、控制指令执行、内容查看</a:t>
            </a:r>
            <a:endParaRPr lang="zh-CN" altLang="en-US" sz="2400" dirty="0">
              <a:latin typeface="微软雅黑" panose="020B0503020204020204" charset="-122"/>
              <a:ea typeface="微软雅黑" panose="020B0503020204020204" charset="-122"/>
            </a:endParaRP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4979">
                                            <p:txEl>
                                              <p:pRg st="4294967295" end="4294967295"/>
                                            </p:txEl>
                                          </p:spTgt>
                                        </p:tgtEl>
                                        <p:attrNameLst>
                                          <p:attrName>style.visibility</p:attrName>
                                        </p:attrNameLst>
                                      </p:cBhvr>
                                      <p:to>
                                        <p:strVal val="visible"/>
                                      </p:to>
                                    </p:set>
                                    <p:animEffect transition="in" filter="fade">
                                      <p:cBhvr>
                                        <p:cTn id="7" dur="1000"/>
                                        <p:tgtEl>
                                          <p:spTgt spid="254979">
                                            <p:txEl>
                                              <p:pRg st="4294967295" end="4294967295"/>
                                            </p:txEl>
                                          </p:spTgt>
                                        </p:tgtEl>
                                      </p:cBhvr>
                                    </p:animEffect>
                                    <p:anim calcmode="lin" valueType="num">
                                      <p:cBhvr>
                                        <p:cTn id="8" dur="1000" fill="hold"/>
                                        <p:tgtEl>
                                          <p:spTgt spid="254979">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254979">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4979">
                                            <p:txEl>
                                              <p:pRg st="0" end="0"/>
                                            </p:txEl>
                                          </p:spTgt>
                                        </p:tgtEl>
                                        <p:attrNameLst>
                                          <p:attrName>style.visibility</p:attrName>
                                        </p:attrNameLst>
                                      </p:cBhvr>
                                      <p:to>
                                        <p:strVal val="visible"/>
                                      </p:to>
                                    </p:set>
                                    <p:animEffect transition="in" filter="fade">
                                      <p:cBhvr>
                                        <p:cTn id="14" dur="1000"/>
                                        <p:tgtEl>
                                          <p:spTgt spid="254979">
                                            <p:txEl>
                                              <p:pRg st="0" end="0"/>
                                            </p:txEl>
                                          </p:spTgt>
                                        </p:tgtEl>
                                      </p:cBhvr>
                                    </p:animEffect>
                                    <p:anim calcmode="lin" valueType="num">
                                      <p:cBhvr>
                                        <p:cTn id="15" dur="1000" fill="hold"/>
                                        <p:tgtEl>
                                          <p:spTgt spid="25497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549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4979">
                                            <p:txEl>
                                              <p:pRg st="1" end="1"/>
                                            </p:txEl>
                                          </p:spTgt>
                                        </p:tgtEl>
                                        <p:attrNameLst>
                                          <p:attrName>style.visibility</p:attrName>
                                        </p:attrNameLst>
                                      </p:cBhvr>
                                      <p:to>
                                        <p:strVal val="visible"/>
                                      </p:to>
                                    </p:set>
                                    <p:animEffect transition="in" filter="fade">
                                      <p:cBhvr>
                                        <p:cTn id="21" dur="1000"/>
                                        <p:tgtEl>
                                          <p:spTgt spid="254979">
                                            <p:txEl>
                                              <p:pRg st="1" end="1"/>
                                            </p:txEl>
                                          </p:spTgt>
                                        </p:tgtEl>
                                      </p:cBhvr>
                                    </p:animEffect>
                                    <p:anim calcmode="lin" valueType="num">
                                      <p:cBhvr>
                                        <p:cTn id="22" dur="1000" fill="hold"/>
                                        <p:tgtEl>
                                          <p:spTgt spid="25497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5497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uiExpand="1" build="p"/>
    </p:bldLst>
  </p:timing>
</p:sld>
</file>

<file path=ppt/tags/tag1.xml><?xml version="1.0" encoding="utf-8"?>
<p:tagLst xmlns:p="http://schemas.openxmlformats.org/presentationml/2006/main">
  <p:tag name="KSO_WM_UNIT_TABLE_BEAUTIFY" val="smartTable{9231714d-cbf4-4cd2-b277-c94d887bc17c}"/>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琥珀"/>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2844</Words>
  <Application>WPS 演示</Application>
  <PresentationFormat>全屏显示(4:3)</PresentationFormat>
  <Paragraphs>399</Paragraphs>
  <Slides>26</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42" baseType="lpstr">
      <vt:lpstr>Arial</vt:lpstr>
      <vt:lpstr>宋体</vt:lpstr>
      <vt:lpstr>Wingdings</vt:lpstr>
      <vt:lpstr>Tahoma</vt:lpstr>
      <vt:lpstr>华文彩云</vt:lpstr>
      <vt:lpstr>华文琥珀</vt:lpstr>
      <vt:lpstr>隶书</vt:lpstr>
      <vt:lpstr>微软雅黑</vt:lpstr>
      <vt:lpstr>Arial Unicode MS</vt:lpstr>
      <vt:lpstr>楷体_GB2312</vt:lpstr>
      <vt:lpstr>新宋体</vt:lpstr>
      <vt:lpstr>CourierPS</vt:lpstr>
      <vt:lpstr>Segoe Print</vt:lpstr>
      <vt:lpstr>Symbol</vt:lpstr>
      <vt:lpstr>Blends</vt:lpstr>
      <vt:lpstr>Visio.Drawing.6</vt:lpstr>
      <vt:lpstr>PowerPoint 演示文稿</vt:lpstr>
      <vt:lpstr>第五章复习</vt:lpstr>
      <vt:lpstr>第六章内容</vt:lpstr>
      <vt:lpstr>6.1 问题求解</vt:lpstr>
      <vt:lpstr>6.1 问题求解</vt:lpstr>
      <vt:lpstr>6.1 问题求解</vt:lpstr>
      <vt:lpstr>PowerPoint 演示文稿</vt:lpstr>
      <vt:lpstr>6.1 问题求解</vt:lpstr>
      <vt:lpstr>PowerPoint 演示文稿</vt:lpstr>
      <vt:lpstr>例子：字符数统计</vt:lpstr>
      <vt:lpstr>Flow Chart</vt:lpstr>
      <vt:lpstr>Program (1 of 2)</vt:lpstr>
      <vt:lpstr>Program (2 of 2)</vt:lpstr>
      <vt:lpstr>6.1 问题求解</vt:lpstr>
      <vt:lpstr>PowerPoint 演示文稿</vt:lpstr>
      <vt:lpstr>PowerPoint 演示文稿</vt:lpstr>
      <vt:lpstr>PowerPoint 演示文稿</vt:lpstr>
      <vt:lpstr>6.2 调试</vt:lpstr>
      <vt:lpstr>6.2 调试</vt:lpstr>
      <vt:lpstr>6.2 调试</vt:lpstr>
      <vt:lpstr>6.2 调试</vt:lpstr>
      <vt:lpstr>6.2 调试</vt:lpstr>
      <vt:lpstr>6.2 调试</vt:lpstr>
      <vt:lpstr>6.2 调试</vt:lpstr>
      <vt:lpstr>作 业</vt:lpstr>
      <vt:lpstr>本章小结</vt:lpstr>
    </vt:vector>
  </TitlesOfParts>
  <Company>深圳大学信息工程学院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计算机系统(1)</dc:title>
  <dc:creator>王志强</dc:creator>
  <dc:subject>第1章 计算机系统概述</dc:subject>
  <cp:lastModifiedBy>Zhi</cp:lastModifiedBy>
  <cp:revision>344</cp:revision>
  <cp:lastPrinted>2113-01-01T00:00:00Z</cp:lastPrinted>
  <dcterms:created xsi:type="dcterms:W3CDTF">2003-05-17T02:00:00Z</dcterms:created>
  <dcterms:modified xsi:type="dcterms:W3CDTF">2022-04-24T10:30:30Z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2DD94627507B410C8F862DD6BDFA8913</vt:lpwstr>
  </property>
  <property fmtid="{D5CDD505-2E9C-101B-9397-08002B2CF9AE}" pid="3" name="KSOProductBuildVer">
    <vt:lpwstr>2052-11.1.0.11636</vt:lpwstr>
  </property>
  <property fmtid="{D5CDD505-2E9C-101B-9397-08002B2CF9AE}" pid="4" name="commondata">
    <vt:lpwstr>eyJoZGlkIjoiMjMxMzY4ZGM5NTE1OTFkZjU0ODAyMTY4MmM1MmQxN2MifQ==</vt:lpwstr>
  </property>
</Properties>
</file>