
<file path=[Content_Types].xml><?xml version="1.0" encoding="utf-8"?>
<Types xmlns="http://schemas.openxmlformats.org/package/2006/content-types">
  <Default Extension="jpeg" ContentType="image/jpeg"/>
  <Default Extension="JPG" ContentType="image/.jpg"/>
  <Default Extension="vml" ContentType="application/vnd.openxmlformats-officedocument.vmlDrawing"/>
  <Default Extension="bin" ContentType="application/vnd.openxmlformats-officedocument.oleObject"/>
  <Default Extension="wmf" ContentType="image/x-wmf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1"/>
  </p:sldMasterIdLst>
  <p:notesMasterIdLst>
    <p:notesMasterId r:id="rId6"/>
  </p:notesMasterIdLst>
  <p:sldIdLst>
    <p:sldId id="492" r:id="rId3"/>
    <p:sldId id="590" r:id="rId4"/>
    <p:sldId id="494" r:id="rId5"/>
    <p:sldId id="591" r:id="rId7"/>
    <p:sldId id="592" r:id="rId8"/>
    <p:sldId id="614" r:id="rId9"/>
    <p:sldId id="593" r:id="rId10"/>
    <p:sldId id="594" r:id="rId11"/>
    <p:sldId id="595" r:id="rId12"/>
    <p:sldId id="596" r:id="rId13"/>
    <p:sldId id="597" r:id="rId14"/>
    <p:sldId id="598" r:id="rId15"/>
    <p:sldId id="623" r:id="rId16"/>
    <p:sldId id="619" r:id="rId17"/>
    <p:sldId id="620" r:id="rId18"/>
    <p:sldId id="618" r:id="rId19"/>
    <p:sldId id="615" r:id="rId20"/>
    <p:sldId id="616" r:id="rId21"/>
    <p:sldId id="617" r:id="rId22"/>
    <p:sldId id="599" r:id="rId23"/>
    <p:sldId id="603" r:id="rId24"/>
    <p:sldId id="637" r:id="rId25"/>
    <p:sldId id="638" r:id="rId26"/>
    <p:sldId id="639" r:id="rId27"/>
    <p:sldId id="604" r:id="rId28"/>
    <p:sldId id="605" r:id="rId29"/>
    <p:sldId id="606" r:id="rId30"/>
    <p:sldId id="607" r:id="rId31"/>
    <p:sldId id="608" r:id="rId32"/>
    <p:sldId id="636" r:id="rId33"/>
    <p:sldId id="609" r:id="rId34"/>
    <p:sldId id="610" r:id="rId35"/>
    <p:sldId id="611" r:id="rId36"/>
    <p:sldId id="612" r:id="rId37"/>
    <p:sldId id="613" r:id="rId38"/>
    <p:sldId id="622" r:id="rId39"/>
    <p:sldId id="624" r:id="rId40"/>
    <p:sldId id="625" r:id="rId41"/>
    <p:sldId id="626" r:id="rId42"/>
    <p:sldId id="627" r:id="rId43"/>
    <p:sldId id="628" r:id="rId44"/>
    <p:sldId id="629" r:id="rId45"/>
    <p:sldId id="630" r:id="rId46"/>
    <p:sldId id="631" r:id="rId47"/>
    <p:sldId id="632" r:id="rId48"/>
    <p:sldId id="633" r:id="rId49"/>
    <p:sldId id="634" r:id="rId50"/>
    <p:sldId id="635" r:id="rId51"/>
    <p:sldId id="589" r:id="rId52"/>
  </p:sldIdLst>
  <p:sldSz cx="12192000" cy="6858000"/>
  <p:notesSz cx="6858000" cy="9144000"/>
  <p:defaultTextStyle>
    <a:defPPr>
      <a:defRPr lang="zh-CN"/>
    </a:defPPr>
    <a:lvl1pPr algn="l" rtl="0" fontAlgn="base">
      <a:spcBef>
        <a:spcPct val="0"/>
      </a:spcBef>
      <a:spcAft>
        <a:spcPct val="0"/>
      </a:spcAft>
      <a:defRPr kern="1200" baseline="-250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 baseline="-250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 baseline="-250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 baseline="-250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 baseline="-250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ern="1200" baseline="-250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ern="1200" baseline="-250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ern="1200" baseline="-250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ern="1200" baseline="-250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33CC33"/>
    <a:srgbClr val="0066FF"/>
    <a:srgbClr val="00FFFF"/>
    <a:srgbClr val="FF99FF"/>
    <a:srgbClr val="003399"/>
    <a:srgbClr val="66FF33"/>
    <a:srgbClr val="FFFF00"/>
    <a:srgbClr val="FF33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74" autoAdjust="0"/>
    <p:restoredTop sz="94660"/>
  </p:normalViewPr>
  <p:slideViewPr>
    <p:cSldViewPr>
      <p:cViewPr varScale="1">
        <p:scale>
          <a:sx n="80" d="100"/>
          <a:sy n="80" d="100"/>
        </p:scale>
        <p:origin x="1371" y="62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55" Type="http://schemas.openxmlformats.org/officeDocument/2006/relationships/tableStyles" Target="tableStyles.xml"/><Relationship Id="rId54" Type="http://schemas.openxmlformats.org/officeDocument/2006/relationships/viewProps" Target="viewProps.xml"/><Relationship Id="rId53" Type="http://schemas.openxmlformats.org/officeDocument/2006/relationships/presProps" Target="presProps.xml"/><Relationship Id="rId52" Type="http://schemas.openxmlformats.org/officeDocument/2006/relationships/slide" Target="slides/slide49.xml"/><Relationship Id="rId51" Type="http://schemas.openxmlformats.org/officeDocument/2006/relationships/slide" Target="slides/slide48.xml"/><Relationship Id="rId50" Type="http://schemas.openxmlformats.org/officeDocument/2006/relationships/slide" Target="slides/slide47.xml"/><Relationship Id="rId5" Type="http://schemas.openxmlformats.org/officeDocument/2006/relationships/slide" Target="slides/slide3.xml"/><Relationship Id="rId49" Type="http://schemas.openxmlformats.org/officeDocument/2006/relationships/slide" Target="slides/slide46.xml"/><Relationship Id="rId48" Type="http://schemas.openxmlformats.org/officeDocument/2006/relationships/slide" Target="slides/slide45.xml"/><Relationship Id="rId47" Type="http://schemas.openxmlformats.org/officeDocument/2006/relationships/slide" Target="slides/slide44.xml"/><Relationship Id="rId46" Type="http://schemas.openxmlformats.org/officeDocument/2006/relationships/slide" Target="slides/slide43.xml"/><Relationship Id="rId45" Type="http://schemas.openxmlformats.org/officeDocument/2006/relationships/slide" Target="slides/slide42.xml"/><Relationship Id="rId44" Type="http://schemas.openxmlformats.org/officeDocument/2006/relationships/slide" Target="slides/slide41.xml"/><Relationship Id="rId43" Type="http://schemas.openxmlformats.org/officeDocument/2006/relationships/slide" Target="slides/slide40.xml"/><Relationship Id="rId42" Type="http://schemas.openxmlformats.org/officeDocument/2006/relationships/slide" Target="slides/slide39.xml"/><Relationship Id="rId41" Type="http://schemas.openxmlformats.org/officeDocument/2006/relationships/slide" Target="slides/slide38.xml"/><Relationship Id="rId40" Type="http://schemas.openxmlformats.org/officeDocument/2006/relationships/slide" Target="slides/slide37.xml"/><Relationship Id="rId4" Type="http://schemas.openxmlformats.org/officeDocument/2006/relationships/slide" Target="slides/slide2.xml"/><Relationship Id="rId39" Type="http://schemas.openxmlformats.org/officeDocument/2006/relationships/slide" Target="slides/slide36.xml"/><Relationship Id="rId38" Type="http://schemas.openxmlformats.org/officeDocument/2006/relationships/slide" Target="slides/slide35.xml"/><Relationship Id="rId37" Type="http://schemas.openxmlformats.org/officeDocument/2006/relationships/slide" Target="slides/slide34.xml"/><Relationship Id="rId36" Type="http://schemas.openxmlformats.org/officeDocument/2006/relationships/slide" Target="slides/slide33.xml"/><Relationship Id="rId35" Type="http://schemas.openxmlformats.org/officeDocument/2006/relationships/slide" Target="slides/slide32.xml"/><Relationship Id="rId34" Type="http://schemas.openxmlformats.org/officeDocument/2006/relationships/slide" Target="slides/slide3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png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6.w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7.w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8.wmf"/></Relationships>
</file>

<file path=ppt/drawings/_rels/vmlDrawing5.vml.rels><?xml version="1.0" encoding="UTF-8" standalone="yes"?>
<Relationships xmlns="http://schemas.openxmlformats.org/package/2006/relationships"><Relationship Id="rId2" Type="http://schemas.openxmlformats.org/officeDocument/2006/relationships/image" Target="../media/image10.wmf"/><Relationship Id="rId1" Type="http://schemas.openxmlformats.org/officeDocument/2006/relationships/image" Target="../media/image9.wmf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11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页眉占位符 1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0213" cy="4572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>
              <a:defRPr sz="1200" smtClean="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2051" name="日期占位符 2"/>
          <p:cNvSpPr>
            <a:spLocks noGrp="1" noChangeArrowheads="1"/>
          </p:cNvSpPr>
          <p:nvPr>
            <p:ph type="dt" idx="1"/>
          </p:nvPr>
        </p:nvSpPr>
        <p:spPr bwMode="auto">
          <a:xfrm>
            <a:off x="3883025" y="0"/>
            <a:ext cx="2973388" cy="4572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 algn="r">
              <a:defRPr sz="1200" smtClean="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250697F6-173F-4907-8E1F-6A4A7DCD3E53}" type="datetimeFigureOut">
              <a:rPr lang="zh-CN" altLang="en-US"/>
            </a:fld>
            <a:endParaRPr lang="en-US" altLang="zh-CN"/>
          </a:p>
        </p:txBody>
      </p:sp>
      <p:sp>
        <p:nvSpPr>
          <p:cNvPr id="45060" name="幻灯片图像占位符 3"/>
          <p:cNvSpPr>
            <a:spLocks noGrp="1" noRot="1" noChangeAspect="1" noChangeArrowheads="1"/>
          </p:cNvSpPr>
          <p:nvPr>
            <p:ph type="sldImg" idx="2"/>
          </p:nvPr>
        </p:nvSpPr>
        <p:spPr bwMode="auto">
          <a:xfrm>
            <a:off x="381000" y="685800"/>
            <a:ext cx="6096000" cy="3429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sp>
      <p:sp>
        <p:nvSpPr>
          <p:cNvPr id="2053" name="备注占位符 4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CN" altLang="en-US" noProof="0"/>
              <a:t>单击此处编辑母版文本样式</a:t>
            </a:r>
            <a:endParaRPr lang="zh-CN" altLang="en-US" noProof="0"/>
          </a:p>
          <a:p>
            <a:pPr lvl="1"/>
            <a:r>
              <a:rPr lang="zh-CN" altLang="en-US" noProof="0"/>
              <a:t>第二级</a:t>
            </a:r>
            <a:endParaRPr lang="zh-CN" altLang="en-US" noProof="0"/>
          </a:p>
          <a:p>
            <a:pPr lvl="2"/>
            <a:r>
              <a:rPr lang="zh-CN" altLang="en-US" noProof="0"/>
              <a:t>第三级</a:t>
            </a:r>
            <a:endParaRPr lang="zh-CN" altLang="en-US" noProof="0"/>
          </a:p>
          <a:p>
            <a:pPr lvl="3"/>
            <a:r>
              <a:rPr lang="zh-CN" altLang="en-US" noProof="0"/>
              <a:t>第四级</a:t>
            </a:r>
            <a:endParaRPr lang="zh-CN" altLang="en-US" noProof="0"/>
          </a:p>
          <a:p>
            <a:pPr lvl="4"/>
            <a:r>
              <a:rPr lang="zh-CN" altLang="en-US" noProof="0"/>
              <a:t>第五级</a:t>
            </a:r>
            <a:endParaRPr lang="zh-CN" altLang="en-US" noProof="0"/>
          </a:p>
        </p:txBody>
      </p:sp>
      <p:sp>
        <p:nvSpPr>
          <p:cNvPr id="2054" name="页脚占位符 5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0213" cy="4572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 sz="1200" smtClean="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2055" name="灯片编号占位符 6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3025" y="8685213"/>
            <a:ext cx="2973388" cy="4572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 algn="r">
              <a:defRPr sz="1200" smtClean="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027A0B3A-CBE6-4851-A53D-4B4CBF114D67}" type="slidenum">
              <a:rPr lang="zh-CN" altLang="en-US"/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fld id="{1D31DE9D-FD6D-4D7C-B9DB-D3CDC84FBB9E}" type="slidenum">
              <a:rPr lang="en-US" altLang="zh-CN"/>
            </a:fld>
            <a:endParaRPr lang="en-US" altLang="zh-CN"/>
          </a:p>
        </p:txBody>
      </p:sp>
      <p:sp>
        <p:nvSpPr>
          <p:cNvPr id="120834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2083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Intel and Pentium are trademarks of Intel Corporation. IBM and PowerPC are trademarks of International Business Machines Corporation.  Apple is a trademark of Apple Computer, Inc.</a:t>
            </a:r>
            <a:endParaRPr lang="en-US" altLang="zh-CN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23A2016A-E76D-463E-8ECA-C51E92002762}" type="slidenum">
              <a:rPr lang="en-US" altLang="zh-CN"/>
            </a:fld>
            <a:endParaRPr lang="en-US" altLang="zh-CN"/>
          </a:p>
        </p:txBody>
      </p:sp>
      <p:sp>
        <p:nvSpPr>
          <p:cNvPr id="29699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29700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99F6615A-C675-4198-AF9B-132A2D71BC32}" type="slidenum">
              <a:rPr lang="en-US" altLang="zh-CN"/>
            </a:fld>
            <a:endParaRPr lang="en-US" altLang="zh-CN"/>
          </a:p>
        </p:txBody>
      </p:sp>
      <p:sp>
        <p:nvSpPr>
          <p:cNvPr id="30723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30724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DBF759CD-8A89-4CC2-A014-0EFE1649D531}" type="slidenum">
              <a:rPr lang="en-US" altLang="zh-CN"/>
            </a:fld>
            <a:endParaRPr lang="en-US" altLang="zh-CN"/>
          </a:p>
        </p:txBody>
      </p:sp>
      <p:sp>
        <p:nvSpPr>
          <p:cNvPr id="317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31748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ight Triangle 9"/>
          <p:cNvSpPr/>
          <p:nvPr/>
        </p:nvSpPr>
        <p:spPr>
          <a:xfrm>
            <a:off x="-3" y="4664147"/>
            <a:ext cx="12201452" cy="0"/>
          </a:xfrm>
          <a:prstGeom prst="rtTriangle">
            <a:avLst/>
          </a:prstGeom>
          <a:gradFill flip="none" rotWithShape="1">
            <a:gsLst>
              <a:gs pos="0">
                <a:schemeClr val="accent1">
                  <a:shade val="35000"/>
                  <a:satMod val="170000"/>
                  <a:alpha val="100000"/>
                </a:schemeClr>
              </a:gs>
              <a:gs pos="55000">
                <a:schemeClr val="accent1">
                  <a:tint val="90000"/>
                  <a:satMod val="150000"/>
                  <a:alpha val="100000"/>
                </a:schemeClr>
              </a:gs>
              <a:gs pos="100000">
                <a:schemeClr val="accent1">
                  <a:shade val="35000"/>
                  <a:satMod val="170000"/>
                  <a:alpha val="100000"/>
                </a:schemeClr>
              </a:gs>
            </a:gsLst>
            <a:lin ang="3000000" scaled="1"/>
            <a:tileRect/>
          </a:gradFill>
          <a:ln w="127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Title 8"/>
          <p:cNvSpPr>
            <a:spLocks noGrp="1"/>
          </p:cNvSpPr>
          <p:nvPr>
            <p:ph type="ctrTitle"/>
          </p:nvPr>
        </p:nvSpPr>
        <p:spPr>
          <a:xfrm>
            <a:off x="914400" y="1752601"/>
            <a:ext cx="10363200" cy="1829761"/>
          </a:xfrm>
        </p:spPr>
        <p:txBody>
          <a:bodyPr vert="horz" anchor="b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lvl1pPr algn="r">
              <a:defRPr sz="4800" b="1">
                <a:solidFill>
                  <a:schemeClr val="tx2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r>
              <a:rPr kumimoji="0" lang="en-US" altLang="zh-CN"/>
              <a:t>Click to edit Master title style</a:t>
            </a:r>
            <a:endParaRPr kumimoji="0" lang="en-US"/>
          </a:p>
        </p:txBody>
      </p:sp>
      <p:sp>
        <p:nvSpPr>
          <p:cNvPr id="17" name="Subtitle 16"/>
          <p:cNvSpPr>
            <a:spLocks noGrp="1"/>
          </p:cNvSpPr>
          <p:nvPr>
            <p:ph type="subTitle" idx="1"/>
          </p:nvPr>
        </p:nvSpPr>
        <p:spPr>
          <a:xfrm>
            <a:off x="914400" y="3611607"/>
            <a:ext cx="10363200" cy="1199704"/>
          </a:xfrm>
        </p:spPr>
        <p:txBody>
          <a:bodyPr lIns="45720" rIns="45720"/>
          <a:lstStyle>
            <a:lvl1pPr marL="0" marR="64135" indent="0" algn="r">
              <a:buNone/>
              <a:defRPr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 altLang="zh-CN"/>
              <a:t>Click to edit Master subtitle style</a:t>
            </a:r>
            <a:endParaRPr kumimoji="0" lang="en-US"/>
          </a:p>
        </p:txBody>
      </p:sp>
      <p:grpSp>
        <p:nvGrpSpPr>
          <p:cNvPr id="2" name="Group 1"/>
          <p:cNvGrpSpPr/>
          <p:nvPr/>
        </p:nvGrpSpPr>
        <p:grpSpPr>
          <a:xfrm>
            <a:off x="-5020" y="4953000"/>
            <a:ext cx="12197020" cy="1912088"/>
            <a:chOff x="-3765" y="4832896"/>
            <a:chExt cx="9147765" cy="2032192"/>
          </a:xfrm>
        </p:grpSpPr>
        <p:sp>
          <p:nvSpPr>
            <p:cNvPr id="7" name="Freeform 6"/>
            <p:cNvSpPr/>
            <p:nvPr/>
          </p:nvSpPr>
          <p:spPr bwMode="auto">
            <a:xfrm>
              <a:off x="1687513" y="4832896"/>
              <a:ext cx="7456487" cy="518816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4697" y="0"/>
                </a:cxn>
                <a:cxn ang="0">
                  <a:pos x="4697" y="367"/>
                </a:cxn>
                <a:cxn ang="0">
                  <a:pos x="0" y="218"/>
                </a:cxn>
                <a:cxn ang="0">
                  <a:pos x="4697" y="0"/>
                </a:cxn>
              </a:cxnLst>
              <a:rect l="0" t="0" r="0" b="0"/>
              <a:pathLst>
                <a:path w="4697" h="367">
                  <a:moveTo>
                    <a:pt x="4697" y="0"/>
                  </a:moveTo>
                  <a:lnTo>
                    <a:pt x="4697" y="367"/>
                  </a:lnTo>
                  <a:lnTo>
                    <a:pt x="0" y="218"/>
                  </a:lnTo>
                  <a:lnTo>
                    <a:pt x="4697" y="0"/>
                  </a:lnTo>
                  <a:close/>
                </a:path>
              </a:pathLst>
            </a:custGeom>
            <a:solidFill>
              <a:schemeClr val="accent1">
                <a:tint val="65000"/>
                <a:satMod val="115000"/>
                <a:alpha val="40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  <p:sp>
          <p:nvSpPr>
            <p:cNvPr id="8" name="Freeform 7"/>
            <p:cNvSpPr/>
            <p:nvPr/>
          </p:nvSpPr>
          <p:spPr bwMode="auto">
            <a:xfrm>
              <a:off x="35443" y="5135526"/>
              <a:ext cx="9108557" cy="838200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0"/>
                </a:cxn>
                <a:cxn ang="0">
                  <a:pos x="5760" y="0"/>
                </a:cxn>
                <a:cxn ang="0">
                  <a:pos x="5760" y="528"/>
                </a:cxn>
                <a:cxn ang="0">
                  <a:pos x="48" y="0"/>
                </a:cxn>
              </a:cxnLst>
              <a:rect l="0" t="0" r="0" b="0"/>
              <a:pathLst>
                <a:path w="5760" h="528">
                  <a:moveTo>
                    <a:pt x="0" y="0"/>
                  </a:moveTo>
                  <a:lnTo>
                    <a:pt x="5760" y="0"/>
                  </a:lnTo>
                  <a:lnTo>
                    <a:pt x="5760" y="528"/>
                  </a:lnTo>
                  <a:lnTo>
                    <a:pt x="48" y="0"/>
                  </a:lnTo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  <p:sp>
          <p:nvSpPr>
            <p:cNvPr id="11" name="Freeform 10"/>
            <p:cNvSpPr/>
            <p:nvPr/>
          </p:nvSpPr>
          <p:spPr bwMode="auto">
            <a:xfrm>
              <a:off x="0" y="4883888"/>
              <a:ext cx="9144000" cy="1981200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0"/>
                </a:cxn>
                <a:cxn ang="0">
                  <a:pos x="0" y="1248"/>
                </a:cxn>
                <a:cxn ang="0">
                  <a:pos x="5760" y="1248"/>
                </a:cxn>
                <a:cxn ang="0">
                  <a:pos x="5760" y="528"/>
                </a:cxn>
                <a:cxn ang="0">
                  <a:pos x="0" y="0"/>
                </a:cxn>
              </a:cxnLst>
              <a:rect l="0" t="0" r="0" b="0"/>
              <a:pathLst>
                <a:path w="5760" h="1248">
                  <a:moveTo>
                    <a:pt x="0" y="0"/>
                  </a:moveTo>
                  <a:lnTo>
                    <a:pt x="0" y="1248"/>
                  </a:lnTo>
                  <a:lnTo>
                    <a:pt x="5760" y="1248"/>
                  </a:lnTo>
                  <a:lnTo>
                    <a:pt x="5760" y="5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 cstate="print">
                <a:alphaModFix amt="50000"/>
              </a:blip>
              <a:tile tx="0" ty="0" sx="50000" sy="50000" flip="none" algn="t"/>
            </a:blipFill>
            <a:ln w="12700" cap="rnd" cmpd="thickThin" algn="ctr">
              <a:noFill/>
              <a:prstDash val="solid"/>
            </a:ln>
            <a:effectLst>
              <a:fillOverlay blend="mult">
                <a:gradFill flip="none" rotWithShape="1">
                  <a:gsLst>
                    <a:gs pos="0">
                      <a:schemeClr val="accent1">
                        <a:shade val="20000"/>
                        <a:satMod val="176000"/>
                        <a:alpha val="100000"/>
                      </a:schemeClr>
                    </a:gs>
                    <a:gs pos="18000">
                      <a:schemeClr val="accent1">
                        <a:shade val="48000"/>
                        <a:satMod val="153000"/>
                        <a:alpha val="100000"/>
                      </a:schemeClr>
                    </a:gs>
                    <a:gs pos="43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45000">
                      <a:schemeClr val="accent1">
                        <a:tint val="85000"/>
                        <a:satMod val="150000"/>
                        <a:alpha val="100000"/>
                      </a:schemeClr>
                    </a:gs>
                    <a:gs pos="50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79000">
                      <a:schemeClr val="accent1">
                        <a:shade val="53000"/>
                        <a:satMod val="150000"/>
                        <a:alpha val="100000"/>
                      </a:schemeClr>
                    </a:gs>
                    <a:gs pos="100000">
                      <a:schemeClr val="accent1">
                        <a:shade val="25000"/>
                        <a:satMod val="170000"/>
                        <a:alpha val="100000"/>
                      </a:schemeClr>
                    </a:gs>
                  </a:gsLst>
                  <a:lin ang="450000" scaled="1"/>
                  <a:tileRect/>
                </a:gradFill>
              </a:fillOverlay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anchor="ctr" compatLnSpc="1"/>
            <a:lstStyle/>
            <a:p>
              <a:pPr algn="ctr" eaLnBrk="1" latinLnBrk="0" hangingPunct="1"/>
              <a:endParaRPr kumimoji="0" lang="en-US"/>
            </a:p>
          </p:txBody>
        </p:sp>
        <p:cxnSp>
          <p:nvCxnSpPr>
            <p:cNvPr id="12" name="Straight Connector 11"/>
            <p:cNvCxnSpPr/>
            <p:nvPr/>
          </p:nvCxnSpPr>
          <p:spPr>
            <a:xfrm>
              <a:off x="-3765" y="4880373"/>
              <a:ext cx="9147765" cy="839943"/>
            </a:xfrm>
            <a:prstGeom prst="line">
              <a:avLst/>
            </a:prstGeom>
            <a:noFill/>
            <a:ln w="12065" cap="flat" cmpd="sng" algn="ctr">
              <a:gradFill>
                <a:gsLst>
                  <a:gs pos="45000">
                    <a:schemeClr val="accent1">
                      <a:tint val="70000"/>
                      <a:satMod val="110000"/>
                    </a:schemeClr>
                  </a:gs>
                  <a:gs pos="15000">
                    <a:schemeClr val="accent1">
                      <a:shade val="40000"/>
                      <a:satMod val="110000"/>
                    </a:schemeClr>
                  </a:gs>
                </a:gsLst>
                <a:lin ang="5400000" scaled="1"/>
              </a:gradFill>
              <a:prstDash val="solid"/>
              <a:miter lim="800000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0" name="Date Placeholder 2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fld id="{1501A26F-E9E9-42C6-9C8E-36205DDA9A33}" type="datetime1">
              <a:rPr lang="zh-CN" altLang="en-US" smtClean="0"/>
            </a:fld>
            <a:endParaRPr lang="en-US"/>
          </a:p>
        </p:txBody>
      </p:sp>
      <p:sp>
        <p:nvSpPr>
          <p:cNvPr id="19" name="Footer Placeholder 18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tint val="20000"/>
                  </a:schemeClr>
                </a:solidFill>
              </a:defRPr>
            </a:lvl1pPr>
          </a:lstStyle>
          <a:p>
            <a:r>
              <a:rPr lang="en-US" altLang="zh-CN"/>
              <a:t>Lecture 1</a:t>
            </a:r>
            <a:endParaRPr lang="en-US" altLang="zh-CN"/>
          </a:p>
        </p:txBody>
      </p:sp>
      <p:sp>
        <p:nvSpPr>
          <p:cNvPr id="27" name="Slide Number Placeholder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fld id="{7C93F2F6-B200-4836-9340-136DE7987878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en-US" altLang="zh-CN"/>
              <a:t>Click to edit Master text styles</a:t>
            </a:r>
            <a:endParaRPr lang="en-US" altLang="zh-CN"/>
          </a:p>
          <a:p>
            <a:pPr lvl="1" eaLnBrk="1" latinLnBrk="0" hangingPunct="1"/>
            <a:r>
              <a:rPr lang="en-US" altLang="zh-CN"/>
              <a:t>Second level</a:t>
            </a:r>
            <a:endParaRPr lang="en-US" altLang="zh-CN"/>
          </a:p>
          <a:p>
            <a:pPr lvl="2" eaLnBrk="1" latinLnBrk="0" hangingPunct="1"/>
            <a:r>
              <a:rPr lang="en-US" altLang="zh-CN"/>
              <a:t>Third level</a:t>
            </a:r>
            <a:endParaRPr lang="en-US" altLang="zh-CN"/>
          </a:p>
          <a:p>
            <a:pPr lvl="3" eaLnBrk="1" latinLnBrk="0" hangingPunct="1"/>
            <a:r>
              <a:rPr lang="en-US" altLang="zh-CN"/>
              <a:t>Fourth level</a:t>
            </a:r>
            <a:endParaRPr lang="en-US" altLang="zh-CN"/>
          </a:p>
          <a:p>
            <a:pPr lvl="4" eaLnBrk="1" latinLnBrk="0" hangingPunct="1"/>
            <a:r>
              <a:rPr lang="en-US" altLang="zh-CN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DEEE2FF0-5169-45E6-A93D-D1F642771312}" type="datetime1">
              <a:rPr lang="zh-CN" alt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Lecture 1</a:t>
            </a:r>
            <a:endParaRPr lang="en-US" altLang="zh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C93F2F6-B200-4836-9340-136DE7987878}" type="slidenum">
              <a:rPr lang="en-US" smtClean="0"/>
            </a:fld>
            <a:endParaRPr lang="en-US"/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kumimoji="0" lang="en-US" altLang="zh-CN"/>
              <a:t>Click to edit Master title style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168" y="1059712"/>
            <a:ext cx="10363200" cy="1828800"/>
          </a:xfrm>
        </p:spPr>
        <p:txBody>
          <a:bodyPr vert="horz" anchor="b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lvl1pPr algn="r">
              <a:buNone/>
              <a:defRPr sz="4800" b="1" cap="none" baseline="0"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r>
              <a:rPr kumimoji="0" lang="en-US" altLang="zh-CN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230284" y="2931712"/>
            <a:ext cx="6096000" cy="1454888"/>
          </a:xfrm>
        </p:spPr>
        <p:txBody>
          <a:bodyPr lIns="91440" rIns="91440" anchor="t"/>
          <a:lstStyle>
            <a:lvl1pPr marL="0" indent="0" algn="l">
              <a:buNone/>
              <a:defRPr sz="23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 altLang="zh-CN"/>
              <a:t>Click to edit Master text styles</a:t>
            </a:r>
            <a:endParaRPr kumimoji="0" lang="en-US" altLang="zh-C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939043CD-98A1-4109-9E08-03CB892C1BFE}" type="datetime1">
              <a:rPr lang="zh-CN" alt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Lecture 1</a:t>
            </a:r>
            <a:endParaRPr lang="en-US" altLang="zh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C93F2F6-B200-4836-9340-136DE7987878}" type="slidenum">
              <a:rPr lang="en-US" smtClean="0"/>
            </a:fld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481328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altLang="zh-CN"/>
              <a:t>Click to edit Master text styles</a:t>
            </a:r>
            <a:endParaRPr lang="en-US" altLang="zh-CN"/>
          </a:p>
          <a:p>
            <a:pPr lvl="1" eaLnBrk="1" latinLnBrk="0" hangingPunct="1"/>
            <a:r>
              <a:rPr lang="en-US" altLang="zh-CN"/>
              <a:t>Second level</a:t>
            </a:r>
            <a:endParaRPr lang="en-US" altLang="zh-CN"/>
          </a:p>
          <a:p>
            <a:pPr lvl="2" eaLnBrk="1" latinLnBrk="0" hangingPunct="1"/>
            <a:r>
              <a:rPr lang="en-US" altLang="zh-CN"/>
              <a:t>Third level</a:t>
            </a:r>
            <a:endParaRPr lang="en-US" altLang="zh-CN"/>
          </a:p>
          <a:p>
            <a:pPr lvl="3" eaLnBrk="1" latinLnBrk="0" hangingPunct="1"/>
            <a:r>
              <a:rPr lang="en-US" altLang="zh-CN"/>
              <a:t>Fourth level</a:t>
            </a:r>
            <a:endParaRPr lang="en-US" altLang="zh-CN"/>
          </a:p>
          <a:p>
            <a:pPr lvl="4" eaLnBrk="1" latinLnBrk="0" hangingPunct="1"/>
            <a:r>
              <a:rPr lang="en-US" altLang="zh-CN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481328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altLang="zh-CN"/>
              <a:t>Click to edit Master text styles</a:t>
            </a:r>
            <a:endParaRPr lang="en-US" altLang="zh-CN"/>
          </a:p>
          <a:p>
            <a:pPr lvl="1" eaLnBrk="1" latinLnBrk="0" hangingPunct="1"/>
            <a:r>
              <a:rPr lang="en-US" altLang="zh-CN"/>
              <a:t>Second level</a:t>
            </a:r>
            <a:endParaRPr lang="en-US" altLang="zh-CN"/>
          </a:p>
          <a:p>
            <a:pPr lvl="2" eaLnBrk="1" latinLnBrk="0" hangingPunct="1"/>
            <a:r>
              <a:rPr lang="en-US" altLang="zh-CN"/>
              <a:t>Third level</a:t>
            </a:r>
            <a:endParaRPr lang="en-US" altLang="zh-CN"/>
          </a:p>
          <a:p>
            <a:pPr lvl="3" eaLnBrk="1" latinLnBrk="0" hangingPunct="1"/>
            <a:r>
              <a:rPr lang="en-US" altLang="zh-CN"/>
              <a:t>Fourth level</a:t>
            </a:r>
            <a:endParaRPr lang="en-US" altLang="zh-CN"/>
          </a:p>
          <a:p>
            <a:pPr lvl="4" eaLnBrk="1" latinLnBrk="0" hangingPunct="1"/>
            <a:r>
              <a:rPr lang="en-US" altLang="zh-CN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7B5138F1-6AB5-427F-885D-A4F14B8010D7}" type="datetime1">
              <a:rPr lang="zh-CN" alt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Lecture 1</a:t>
            </a:r>
            <a:endParaRPr lang="en-US" altLang="zh-C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C93F2F6-B200-4836-9340-136DE7987878}" type="slidenum">
              <a:rPr lang="en-US" smtClean="0"/>
            </a:fld>
            <a:endParaRPr lang="en-US"/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kumimoji="0" lang="en-US" altLang="zh-CN"/>
              <a:t>Click to edit Master title style</a:t>
            </a:r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 showMasterSp="0">
  <p:cSld name="Comparison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10972800" cy="1143000"/>
          </a:xfrm>
        </p:spPr>
        <p:txBody>
          <a:bodyPr anchor="ctr"/>
          <a:lstStyle>
            <a:lvl1pPr>
              <a:defRPr/>
            </a:lvl1pPr>
          </a:lstStyle>
          <a:p>
            <a:r>
              <a:rPr kumimoji="0" lang="en-US" altLang="zh-CN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5410200"/>
            <a:ext cx="5386917" cy="762000"/>
          </a:xfrm>
          <a:solidFill>
            <a:schemeClr val="accent1"/>
          </a:solidFill>
          <a:ln w="9652">
            <a:solidFill>
              <a:schemeClr val="accent1"/>
            </a:solidFill>
            <a:miter lim="800000"/>
          </a:ln>
        </p:spPr>
        <p:txBody>
          <a:bodyPr lIns="182880" anchor="ctr"/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altLang="zh-CN"/>
              <a:t>Click to edit Master text styles</a:t>
            </a:r>
            <a:endParaRPr kumimoji="0" lang="en-US" altLang="zh-C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6193368" y="5410200"/>
            <a:ext cx="5389033" cy="762000"/>
          </a:xfrm>
          <a:solidFill>
            <a:schemeClr val="accent1"/>
          </a:solidFill>
          <a:ln w="9652">
            <a:solidFill>
              <a:schemeClr val="accent1"/>
            </a:solidFill>
            <a:miter lim="800000"/>
          </a:ln>
        </p:spPr>
        <p:txBody>
          <a:bodyPr lIns="182880" anchor="ctr"/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altLang="zh-CN"/>
              <a:t>Click to edit Master text styles</a:t>
            </a:r>
            <a:endParaRPr kumimoji="0" lang="en-US" altLang="zh-CN"/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609600" y="1444294"/>
            <a:ext cx="5386917" cy="3941763"/>
          </a:xfrm>
          <a:ln>
            <a:noFill/>
            <a:prstDash val="sysDash"/>
            <a:miter lim="800000"/>
          </a:ln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 altLang="zh-CN"/>
              <a:t>Click to edit Master text styles</a:t>
            </a:r>
            <a:endParaRPr lang="en-US" altLang="zh-CN"/>
          </a:p>
          <a:p>
            <a:pPr lvl="1" eaLnBrk="1" latinLnBrk="0" hangingPunct="1"/>
            <a:r>
              <a:rPr lang="en-US" altLang="zh-CN"/>
              <a:t>Second level</a:t>
            </a:r>
            <a:endParaRPr lang="en-US" altLang="zh-CN"/>
          </a:p>
          <a:p>
            <a:pPr lvl="2" eaLnBrk="1" latinLnBrk="0" hangingPunct="1"/>
            <a:r>
              <a:rPr lang="en-US" altLang="zh-CN"/>
              <a:t>Third level</a:t>
            </a:r>
            <a:endParaRPr lang="en-US" altLang="zh-CN"/>
          </a:p>
          <a:p>
            <a:pPr lvl="3" eaLnBrk="1" latinLnBrk="0" hangingPunct="1"/>
            <a:r>
              <a:rPr lang="en-US" altLang="zh-CN"/>
              <a:t>Fourth level</a:t>
            </a:r>
            <a:endParaRPr lang="en-US" altLang="zh-CN"/>
          </a:p>
          <a:p>
            <a:pPr lvl="4" eaLnBrk="1" latinLnBrk="0" hangingPunct="1"/>
            <a:r>
              <a:rPr lang="en-US" altLang="zh-CN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7" y="1444294"/>
            <a:ext cx="5389033" cy="3941763"/>
          </a:xfrm>
          <a:ln>
            <a:noFill/>
            <a:prstDash val="sysDash"/>
            <a:miter lim="800000"/>
          </a:ln>
        </p:spPr>
        <p:txBody>
          <a:bodyPr/>
          <a:lstStyle>
            <a:lvl1pPr>
              <a:spcBef>
                <a:spcPts val="0"/>
              </a:spcBef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 altLang="zh-CN"/>
              <a:t>Click to edit Master text styles</a:t>
            </a:r>
            <a:endParaRPr lang="en-US" altLang="zh-CN"/>
          </a:p>
          <a:p>
            <a:pPr lvl="1" eaLnBrk="1" latinLnBrk="0" hangingPunct="1"/>
            <a:r>
              <a:rPr lang="en-US" altLang="zh-CN"/>
              <a:t>Second level</a:t>
            </a:r>
            <a:endParaRPr lang="en-US" altLang="zh-CN"/>
          </a:p>
          <a:p>
            <a:pPr lvl="2" eaLnBrk="1" latinLnBrk="0" hangingPunct="1"/>
            <a:r>
              <a:rPr lang="en-US" altLang="zh-CN"/>
              <a:t>Third level</a:t>
            </a:r>
            <a:endParaRPr lang="en-US" altLang="zh-CN"/>
          </a:p>
          <a:p>
            <a:pPr lvl="3" eaLnBrk="1" latinLnBrk="0" hangingPunct="1"/>
            <a:r>
              <a:rPr lang="en-US" altLang="zh-CN"/>
              <a:t>Fourth level</a:t>
            </a:r>
            <a:endParaRPr lang="en-US" altLang="zh-CN"/>
          </a:p>
          <a:p>
            <a:pPr lvl="4" eaLnBrk="1" latinLnBrk="0" hangingPunct="1"/>
            <a:r>
              <a:rPr lang="en-US" altLang="zh-CN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276AC82F-B171-4D22-8428-FEE00C5995A2}" type="datetime1">
              <a:rPr lang="zh-CN" alt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Lecture 1</a:t>
            </a:r>
            <a:endParaRPr lang="en-US" altLang="zh-C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C93F2F6-B200-4836-9340-136DE7987878}" type="slidenum">
              <a:rPr lang="en-US" smtClean="0"/>
            </a:fld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F26F37BA-D1C0-4DB6-9E6F-9E5B46421548}" type="datetime1">
              <a:rPr lang="zh-CN" alt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Lecture 1</a:t>
            </a:r>
            <a:endParaRPr lang="en-US" altLang="zh-C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C93F2F6-B200-4836-9340-136DE7987878}" type="slidenum">
              <a:rPr lang="en-US" smtClean="0"/>
            </a:fld>
            <a:endParaRPr lang="en-US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kumimoji="0" lang="en-US" altLang="zh-CN"/>
              <a:t>Click to edit Master title style</a:t>
            </a:r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A0EE5B48-4CB1-4DBD-AD80-F180514AA93D}" type="datetime1">
              <a:rPr lang="zh-CN" alt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Lecture 1</a:t>
            </a:r>
            <a:endParaRPr lang="en-US" altLang="zh-C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C93F2F6-B200-4836-9340-136DE7987878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 showMasterSp="0">
  <p:cSld name="Content with Caption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19200" y="4876800"/>
            <a:ext cx="9975701" cy="457200"/>
          </a:xfrm>
        </p:spPr>
        <p:txBody>
          <a:bodyPr vert="horz" anchor="t">
            <a:noAutofit/>
            <a:sp3d prstMaterial="softEdge">
              <a:bevelT w="0" h="0"/>
            </a:sp3d>
          </a:bodyPr>
          <a:lstStyle>
            <a:lvl1pPr algn="r">
              <a:buNone/>
              <a:defRPr sz="2500" b="0">
                <a:solidFill>
                  <a:schemeClr val="accent1"/>
                </a:solidFill>
                <a:effectLst/>
              </a:defRPr>
            </a:lvl1pPr>
          </a:lstStyle>
          <a:p>
            <a:r>
              <a:rPr kumimoji="0" lang="en-US" altLang="zh-CN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5892800" y="5355102"/>
            <a:ext cx="5299456" cy="914400"/>
          </a:xfrm>
        </p:spPr>
        <p:txBody>
          <a:bodyPr/>
          <a:lstStyle>
            <a:lvl1pPr marL="0" indent="0" algn="r">
              <a:buNone/>
              <a:defRPr sz="16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 altLang="zh-CN"/>
              <a:t>Click to edit Master text styles</a:t>
            </a:r>
            <a:endParaRPr kumimoji="0" lang="en-US" altLang="zh-CN"/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1219200" y="274320"/>
            <a:ext cx="9973056" cy="45720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</a:lstStyle>
          <a:p>
            <a:pPr lvl="0" eaLnBrk="1" latinLnBrk="0" hangingPunct="1"/>
            <a:r>
              <a:rPr lang="en-US" altLang="zh-CN"/>
              <a:t>Click to edit Master text styles</a:t>
            </a:r>
            <a:endParaRPr lang="en-US" altLang="zh-CN"/>
          </a:p>
          <a:p>
            <a:pPr lvl="1" eaLnBrk="1" latinLnBrk="0" hangingPunct="1"/>
            <a:r>
              <a:rPr lang="en-US" altLang="zh-CN"/>
              <a:t>Second level</a:t>
            </a:r>
            <a:endParaRPr lang="en-US" altLang="zh-CN"/>
          </a:p>
          <a:p>
            <a:pPr lvl="2" eaLnBrk="1" latinLnBrk="0" hangingPunct="1"/>
            <a:r>
              <a:rPr lang="en-US" altLang="zh-CN"/>
              <a:t>Third level</a:t>
            </a:r>
            <a:endParaRPr lang="en-US" altLang="zh-CN"/>
          </a:p>
          <a:p>
            <a:pPr lvl="3" eaLnBrk="1" latinLnBrk="0" hangingPunct="1"/>
            <a:r>
              <a:rPr lang="en-US" altLang="zh-CN"/>
              <a:t>Fourth level</a:t>
            </a:r>
            <a:endParaRPr lang="en-US" altLang="zh-CN"/>
          </a:p>
          <a:p>
            <a:pPr lvl="4" eaLnBrk="1" latinLnBrk="0" hangingPunct="1"/>
            <a:r>
              <a:rPr lang="en-US" altLang="zh-CN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969376" y="6407944"/>
            <a:ext cx="2560320" cy="365760"/>
          </a:xfrm>
        </p:spPr>
        <p:txBody>
          <a:bodyPr/>
          <a:lstStyle/>
          <a:p>
            <a:pPr>
              <a:defRPr/>
            </a:pPr>
            <a:fld id="{E49F76EA-3656-402B-AFFC-D88CAED976E4}" type="datetime1">
              <a:rPr lang="zh-CN" alt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Lecture 1</a:t>
            </a:r>
            <a:endParaRPr lang="en-US" altLang="zh-C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C93F2F6-B200-4836-9340-136DE7987878}" type="slidenum">
              <a:rPr lang="en-US" smtClean="0"/>
            </a:fld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 showMasterSp="0">
  <p:cSld name="Picture with Caption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521643" y="5443402"/>
            <a:ext cx="9550400" cy="648232"/>
          </a:xfrm>
          <a:noFill/>
        </p:spPr>
        <p:txBody>
          <a:bodyPr lIns="91440" tIns="0" rIns="91440" anchor="t"/>
          <a:lstStyle>
            <a:lvl1pPr marL="0" marR="18415" indent="0" algn="r"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 altLang="zh-CN"/>
              <a:t>Click to edit Master text styles</a:t>
            </a:r>
            <a:endParaRPr kumimoji="0" lang="en-US" altLang="zh-C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04800" y="189968"/>
            <a:ext cx="11582400" cy="4389120"/>
          </a:xfrm>
          <a:prstGeom prst="rect">
            <a:avLst/>
          </a:prstGeom>
          <a:solidFill>
            <a:schemeClr val="bg2"/>
          </a:solidFill>
          <a:ln>
            <a:solidFill>
              <a:schemeClr val="bg1"/>
            </a:solidFill>
          </a:ln>
          <a:effectLst>
            <a:innerShdw blurRad="95250">
              <a:srgbClr val="000000"/>
            </a:innerShdw>
          </a:effectLst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n-US" altLang="zh-CN"/>
              <a:t>Click icon to add picture</a:t>
            </a:r>
            <a:endParaRPr kumimoji="0"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>
              <a:defRPr/>
            </a:pPr>
            <a:fld id="{C230EBF4-244A-4141-BA3F-BC7388FDD6CD}" type="datetime1">
              <a:rPr lang="zh-CN" alt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840096" y="6407944"/>
            <a:ext cx="3134241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altLang="zh-CN"/>
              <a:t>Lecture 1</a:t>
            </a:r>
            <a:endParaRPr lang="en-US" altLang="zh-C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>
              <a:defRPr/>
            </a:pPr>
            <a:fld id="{7C93F2F6-B200-4836-9340-136DE7987878}" type="slidenum">
              <a:rPr lang="en-US" smtClean="0"/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4865122"/>
            <a:ext cx="10767243" cy="562672"/>
          </a:xfrm>
          <a:noFill/>
        </p:spPr>
        <p:txBody>
          <a:bodyPr anchor="t">
            <a:sp3d prstMaterial="softEdge"/>
          </a:bodyPr>
          <a:lstStyle>
            <a:lvl1pPr marR="0" algn="r">
              <a:buNone/>
              <a:defRPr sz="3000" b="0">
                <a:solidFill>
                  <a:schemeClr val="accent1"/>
                </a:solidFill>
                <a:effectLst>
                  <a:outerShdw blurRad="50800" dist="25000" dir="5400000" algn="t" rotWithShape="0">
                    <a:prstClr val="black">
                      <a:alpha val="45000"/>
                    </a:prstClr>
                  </a:outerShdw>
                </a:effectLst>
              </a:defRPr>
            </a:lvl1pPr>
          </a:lstStyle>
          <a:p>
            <a:r>
              <a:rPr kumimoji="0" lang="en-US" altLang="zh-CN"/>
              <a:t>Click to edit Master title style</a:t>
            </a:r>
            <a:endParaRPr kumimoji="0" lang="en-US"/>
          </a:p>
        </p:txBody>
      </p:sp>
      <p:sp>
        <p:nvSpPr>
          <p:cNvPr id="8" name="Freeform 7"/>
          <p:cNvSpPr/>
          <p:nvPr/>
        </p:nvSpPr>
        <p:spPr bwMode="auto">
          <a:xfrm>
            <a:off x="665697" y="5944936"/>
            <a:ext cx="6587499" cy="921076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7485" h="337">
                <a:moveTo>
                  <a:pt x="0" y="2"/>
                </a:moveTo>
                <a:lnTo>
                  <a:pt x="7485" y="337"/>
                </a:lnTo>
                <a:lnTo>
                  <a:pt x="5558" y="337"/>
                </a:lnTo>
                <a:lnTo>
                  <a:pt x="1" y="0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9" name="Freeform 8"/>
          <p:cNvSpPr/>
          <p:nvPr/>
        </p:nvSpPr>
        <p:spPr bwMode="auto">
          <a:xfrm>
            <a:off x="647623" y="5939011"/>
            <a:ext cx="4920601" cy="93345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591" h="588">
                <a:moveTo>
                  <a:pt x="0" y="0"/>
                </a:moveTo>
                <a:lnTo>
                  <a:pt x="5591" y="585"/>
                </a:lnTo>
                <a:lnTo>
                  <a:pt x="4415" y="588"/>
                </a:lnTo>
                <a:lnTo>
                  <a:pt x="12" y="4"/>
                </a:lnTo>
              </a:path>
            </a:pathLst>
          </a:custGeom>
          <a:solidFill>
            <a:srgbClr val="000000">
              <a:alpha val="10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0" name="Right Triangle 9"/>
          <p:cNvSpPr/>
          <p:nvPr/>
        </p:nvSpPr>
        <p:spPr bwMode="auto">
          <a:xfrm>
            <a:off x="-8056" y="5791253"/>
            <a:ext cx="4536419" cy="1080868"/>
          </a:xfrm>
          <a:prstGeom prst="rtTriangle">
            <a:avLst/>
          </a:prstGeom>
          <a:blipFill>
            <a:blip r:embed="rId2" cstate="print">
              <a:alphaModFix amt="50000"/>
            </a:blip>
            <a:tile tx="0" ty="0" sx="50000" sy="50000" flip="none" algn="t"/>
          </a:blipFill>
          <a:ln w="12700" cap="rnd" cmpd="thickThin" algn="ctr">
            <a:noFill/>
            <a:prstDash val="solid"/>
          </a:ln>
          <a:effectLst>
            <a:fillOverlay blend="mult">
              <a:gradFill flip="none" rotWithShape="1">
                <a:gsLst>
                  <a:gs pos="0">
                    <a:schemeClr val="accent1">
                      <a:shade val="20000"/>
                      <a:satMod val="176000"/>
                      <a:alpha val="100000"/>
                    </a:schemeClr>
                  </a:gs>
                  <a:gs pos="18000">
                    <a:schemeClr val="accent1">
                      <a:shade val="48000"/>
                      <a:satMod val="153000"/>
                      <a:alpha val="100000"/>
                    </a:schemeClr>
                  </a:gs>
                  <a:gs pos="43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45000">
                    <a:schemeClr val="accent1">
                      <a:tint val="85000"/>
                      <a:satMod val="150000"/>
                      <a:alpha val="100000"/>
                    </a:schemeClr>
                  </a:gs>
                  <a:gs pos="50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79000">
                    <a:schemeClr val="accent1">
                      <a:shade val="53000"/>
                      <a:satMod val="150000"/>
                      <a:alpha val="100000"/>
                    </a:schemeClr>
                  </a:gs>
                  <a:gs pos="100000">
                    <a:schemeClr val="accent1">
                      <a:shade val="25000"/>
                      <a:satMod val="170000"/>
                      <a:alpha val="100000"/>
                    </a:schemeClr>
                  </a:gs>
                </a:gsLst>
                <a:lin ang="450000" scaled="1"/>
                <a:tileRect/>
              </a:gradFill>
            </a:fillOverlay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 compatLnSpc="1"/>
          <a:lstStyle/>
          <a:p>
            <a:pPr algn="ctr" eaLnBrk="1" latinLnBrk="0" hangingPunct="1"/>
            <a:endParaRPr kumimoji="0" lang="en-US"/>
          </a:p>
        </p:txBody>
      </p:sp>
      <p:cxnSp>
        <p:nvCxnSpPr>
          <p:cNvPr id="11" name="Straight Connector 10"/>
          <p:cNvCxnSpPr/>
          <p:nvPr/>
        </p:nvCxnSpPr>
        <p:spPr>
          <a:xfrm>
            <a:off x="-12316" y="5787738"/>
            <a:ext cx="4540679" cy="1084383"/>
          </a:xfrm>
          <a:prstGeom prst="line">
            <a:avLst/>
          </a:prstGeom>
          <a:noFill/>
          <a:ln w="12065" cap="flat" cmpd="sng" algn="ctr">
            <a:gradFill>
              <a:gsLst>
                <a:gs pos="45000">
                  <a:schemeClr val="accent1">
                    <a:tint val="70000"/>
                    <a:satMod val="110000"/>
                  </a:schemeClr>
                </a:gs>
                <a:gs pos="15000">
                  <a:schemeClr val="accent1">
                    <a:shade val="40000"/>
                    <a:satMod val="11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Chevron 11"/>
          <p:cNvSpPr/>
          <p:nvPr/>
        </p:nvSpPr>
        <p:spPr>
          <a:xfrm>
            <a:off x="11552149" y="4988440"/>
            <a:ext cx="24384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l" eaLnBrk="1" latinLnBrk="0" hangingPunct="1"/>
            <a:endParaRPr kumimoji="0" lang="en-US"/>
          </a:p>
        </p:txBody>
      </p:sp>
      <p:sp>
        <p:nvSpPr>
          <p:cNvPr id="13" name="Chevron 12"/>
          <p:cNvSpPr/>
          <p:nvPr/>
        </p:nvSpPr>
        <p:spPr>
          <a:xfrm>
            <a:off x="11303595" y="4988440"/>
            <a:ext cx="24384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l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altLang="zh-CN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1481329"/>
            <a:ext cx="10972800" cy="4386071"/>
          </a:xfrm>
        </p:spPr>
        <p:txBody>
          <a:bodyPr vert="eaVert"/>
          <a:lstStyle/>
          <a:p>
            <a:pPr lvl="0" eaLnBrk="1" latinLnBrk="0" hangingPunct="1"/>
            <a:r>
              <a:rPr lang="en-US" altLang="zh-CN"/>
              <a:t>Click to edit Master text styles</a:t>
            </a:r>
            <a:endParaRPr lang="en-US" altLang="zh-CN"/>
          </a:p>
          <a:p>
            <a:pPr lvl="1" eaLnBrk="1" latinLnBrk="0" hangingPunct="1"/>
            <a:r>
              <a:rPr lang="en-US" altLang="zh-CN"/>
              <a:t>Second level</a:t>
            </a:r>
            <a:endParaRPr lang="en-US" altLang="zh-CN"/>
          </a:p>
          <a:p>
            <a:pPr lvl="2" eaLnBrk="1" latinLnBrk="0" hangingPunct="1"/>
            <a:r>
              <a:rPr lang="en-US" altLang="zh-CN"/>
              <a:t>Third level</a:t>
            </a:r>
            <a:endParaRPr lang="en-US" altLang="zh-CN"/>
          </a:p>
          <a:p>
            <a:pPr lvl="3" eaLnBrk="1" latinLnBrk="0" hangingPunct="1"/>
            <a:r>
              <a:rPr lang="en-US" altLang="zh-CN"/>
              <a:t>Fourth level</a:t>
            </a:r>
            <a:endParaRPr lang="en-US" altLang="zh-CN"/>
          </a:p>
          <a:p>
            <a:pPr lvl="4" eaLnBrk="1" latinLnBrk="0" hangingPunct="1"/>
            <a:r>
              <a:rPr lang="en-US" altLang="zh-CN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B8931191-54D3-47FC-8940-F63228B1FA89}" type="datetime1">
              <a:rPr lang="zh-CN" alt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Lecture 1</a:t>
            </a:r>
            <a:endParaRPr lang="en-US" altLang="zh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C93F2F6-B200-4836-9340-136DE7987878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125351" y="274640"/>
            <a:ext cx="2369960" cy="5592761"/>
          </a:xfrm>
        </p:spPr>
        <p:txBody>
          <a:bodyPr vert="eaVert"/>
          <a:lstStyle/>
          <a:p>
            <a:r>
              <a:rPr kumimoji="0" lang="en-US" altLang="zh-CN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432800" cy="5592760"/>
          </a:xfrm>
        </p:spPr>
        <p:txBody>
          <a:bodyPr vert="eaVert"/>
          <a:lstStyle/>
          <a:p>
            <a:pPr lvl="0" eaLnBrk="1" latinLnBrk="0" hangingPunct="1"/>
            <a:r>
              <a:rPr lang="en-US" altLang="zh-CN"/>
              <a:t>Click to edit Master text styles</a:t>
            </a:r>
            <a:endParaRPr lang="en-US" altLang="zh-CN"/>
          </a:p>
          <a:p>
            <a:pPr lvl="1" eaLnBrk="1" latinLnBrk="0" hangingPunct="1"/>
            <a:r>
              <a:rPr lang="en-US" altLang="zh-CN"/>
              <a:t>Second level</a:t>
            </a:r>
            <a:endParaRPr lang="en-US" altLang="zh-CN"/>
          </a:p>
          <a:p>
            <a:pPr lvl="2" eaLnBrk="1" latinLnBrk="0" hangingPunct="1"/>
            <a:r>
              <a:rPr lang="en-US" altLang="zh-CN"/>
              <a:t>Third level</a:t>
            </a:r>
            <a:endParaRPr lang="en-US" altLang="zh-CN"/>
          </a:p>
          <a:p>
            <a:pPr lvl="3" eaLnBrk="1" latinLnBrk="0" hangingPunct="1"/>
            <a:r>
              <a:rPr lang="en-US" altLang="zh-CN"/>
              <a:t>Fourth level</a:t>
            </a:r>
            <a:endParaRPr lang="en-US" altLang="zh-CN"/>
          </a:p>
          <a:p>
            <a:pPr lvl="4" eaLnBrk="1" latinLnBrk="0" hangingPunct="1"/>
            <a:r>
              <a:rPr lang="en-US" altLang="zh-CN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95EBC060-C77D-4BC4-8D0C-107EFB448A79}" type="datetime1">
              <a:rPr lang="zh-CN" alt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Lecture 1</a:t>
            </a:r>
            <a:endParaRPr lang="en-US" altLang="zh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C93F2F6-B200-4836-9340-136DE7987878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14400" y="609600"/>
            <a:ext cx="10363200" cy="11430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914400" y="1981200"/>
            <a:ext cx="5080000" cy="41148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7600" y="1981200"/>
            <a:ext cx="5080000" cy="41148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F5789D0-95B6-418C-861A-93BBDB19BBEB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4" Type="http://schemas.openxmlformats.org/officeDocument/2006/relationships/theme" Target="../theme/theme1.xml"/><Relationship Id="rId13" Type="http://schemas.openxmlformats.org/officeDocument/2006/relationships/image" Target="../media/image1.jpeg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reeform 12"/>
          <p:cNvSpPr/>
          <p:nvPr/>
        </p:nvSpPr>
        <p:spPr bwMode="auto">
          <a:xfrm>
            <a:off x="665697" y="5944936"/>
            <a:ext cx="6587499" cy="921076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7485" h="337">
                <a:moveTo>
                  <a:pt x="0" y="2"/>
                </a:moveTo>
                <a:lnTo>
                  <a:pt x="7485" y="337"/>
                </a:lnTo>
                <a:lnTo>
                  <a:pt x="5558" y="337"/>
                </a:lnTo>
                <a:lnTo>
                  <a:pt x="1" y="0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2" name="Freeform 11"/>
          <p:cNvSpPr/>
          <p:nvPr/>
        </p:nvSpPr>
        <p:spPr bwMode="auto">
          <a:xfrm>
            <a:off x="647623" y="5939011"/>
            <a:ext cx="4920601" cy="93345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591" h="588">
                <a:moveTo>
                  <a:pt x="0" y="0"/>
                </a:moveTo>
                <a:lnTo>
                  <a:pt x="5591" y="585"/>
                </a:lnTo>
                <a:lnTo>
                  <a:pt x="4415" y="588"/>
                </a:lnTo>
                <a:lnTo>
                  <a:pt x="12" y="4"/>
                </a:lnTo>
              </a:path>
            </a:pathLst>
          </a:custGeom>
          <a:solidFill>
            <a:srgbClr val="000000">
              <a:alpha val="10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4" name="Right Triangle 13"/>
          <p:cNvSpPr/>
          <p:nvPr/>
        </p:nvSpPr>
        <p:spPr bwMode="auto">
          <a:xfrm>
            <a:off x="-8056" y="5791253"/>
            <a:ext cx="4536419" cy="1080868"/>
          </a:xfrm>
          <a:prstGeom prst="rtTriangle">
            <a:avLst/>
          </a:prstGeom>
          <a:blipFill>
            <a:blip r:embed="rId13" cstate="print">
              <a:alphaModFix amt="50000"/>
            </a:blip>
            <a:tile tx="0" ty="0" sx="50000" sy="50000" flip="none" algn="t"/>
          </a:blipFill>
          <a:ln w="12700" cap="rnd" cmpd="thickThin" algn="ctr">
            <a:noFill/>
            <a:prstDash val="solid"/>
          </a:ln>
          <a:effectLst>
            <a:fillOverlay blend="mult">
              <a:gradFill flip="none" rotWithShape="1">
                <a:gsLst>
                  <a:gs pos="0">
                    <a:schemeClr val="accent1">
                      <a:shade val="20000"/>
                      <a:satMod val="176000"/>
                      <a:alpha val="100000"/>
                    </a:schemeClr>
                  </a:gs>
                  <a:gs pos="18000">
                    <a:schemeClr val="accent1">
                      <a:shade val="48000"/>
                      <a:satMod val="153000"/>
                      <a:alpha val="100000"/>
                    </a:schemeClr>
                  </a:gs>
                  <a:gs pos="43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45000">
                    <a:schemeClr val="accent1">
                      <a:tint val="85000"/>
                      <a:satMod val="150000"/>
                      <a:alpha val="100000"/>
                    </a:schemeClr>
                  </a:gs>
                  <a:gs pos="50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79000">
                    <a:schemeClr val="accent1">
                      <a:shade val="53000"/>
                      <a:satMod val="150000"/>
                      <a:alpha val="100000"/>
                    </a:schemeClr>
                  </a:gs>
                  <a:gs pos="100000">
                    <a:schemeClr val="accent1">
                      <a:shade val="25000"/>
                      <a:satMod val="170000"/>
                      <a:alpha val="100000"/>
                    </a:schemeClr>
                  </a:gs>
                </a:gsLst>
                <a:lin ang="450000" scaled="1"/>
                <a:tileRect/>
              </a:gradFill>
            </a:fillOverlay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 compatLnSpc="1"/>
          <a:lstStyle/>
          <a:p>
            <a:pPr algn="ctr" eaLnBrk="1" latinLnBrk="0" hangingPunct="1"/>
            <a:endParaRPr kumimoji="0"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-12316" y="5787738"/>
            <a:ext cx="4540679" cy="1084383"/>
          </a:xfrm>
          <a:prstGeom prst="line">
            <a:avLst/>
          </a:prstGeom>
          <a:noFill/>
          <a:ln w="12065" cap="flat" cmpd="sng" algn="ctr">
            <a:gradFill>
              <a:gsLst>
                <a:gs pos="45000">
                  <a:schemeClr val="accent1">
                    <a:tint val="70000"/>
                    <a:satMod val="110000"/>
                  </a:schemeClr>
                </a:gs>
                <a:gs pos="15000">
                  <a:schemeClr val="accent1">
                    <a:shade val="40000"/>
                    <a:satMod val="11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itle Placeholder 8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anchor="ctr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/>
          <a:p>
            <a:r>
              <a:rPr kumimoji="0" lang="en-US" altLang="zh-CN"/>
              <a:t>Click to edit Master title style</a:t>
            </a:r>
            <a:endParaRPr kumimoji="0" lang="en-US"/>
          </a:p>
        </p:txBody>
      </p:sp>
      <p:sp>
        <p:nvSpPr>
          <p:cNvPr id="30" name="Text Placeholder 29"/>
          <p:cNvSpPr>
            <a:spLocks noGrp="1"/>
          </p:cNvSpPr>
          <p:nvPr>
            <p:ph type="body" idx="1"/>
          </p:nvPr>
        </p:nvSpPr>
        <p:spPr>
          <a:xfrm>
            <a:off x="609600" y="1481328"/>
            <a:ext cx="10972800" cy="4525963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 altLang="zh-CN"/>
              <a:t>Click to edit Master text styles</a:t>
            </a:r>
            <a:endParaRPr kumimoji="0" lang="en-US" altLang="zh-CN"/>
          </a:p>
          <a:p>
            <a:pPr lvl="1" eaLnBrk="1" latinLnBrk="0" hangingPunct="1"/>
            <a:r>
              <a:rPr kumimoji="0" lang="en-US" altLang="zh-CN"/>
              <a:t>Second level</a:t>
            </a:r>
            <a:endParaRPr kumimoji="0" lang="en-US" altLang="zh-CN"/>
          </a:p>
          <a:p>
            <a:pPr lvl="2" eaLnBrk="1" latinLnBrk="0" hangingPunct="1"/>
            <a:r>
              <a:rPr kumimoji="0" lang="en-US" altLang="zh-CN"/>
              <a:t>Third level</a:t>
            </a:r>
            <a:endParaRPr kumimoji="0" lang="en-US" altLang="zh-CN"/>
          </a:p>
          <a:p>
            <a:pPr lvl="3" eaLnBrk="1" latinLnBrk="0" hangingPunct="1"/>
            <a:r>
              <a:rPr kumimoji="0" lang="en-US" altLang="zh-CN"/>
              <a:t>Fourth level</a:t>
            </a:r>
            <a:endParaRPr kumimoji="0" lang="en-US" altLang="zh-CN"/>
          </a:p>
          <a:p>
            <a:pPr lvl="4" eaLnBrk="1" latinLnBrk="0" hangingPunct="1"/>
            <a:r>
              <a:rPr kumimoji="0" lang="en-US" altLang="zh-CN"/>
              <a:t>Fifth level</a:t>
            </a:r>
            <a:endParaRPr kumimoji="0" lang="en-US"/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2"/>
          </p:nvPr>
        </p:nvSpPr>
        <p:spPr>
          <a:xfrm>
            <a:off x="8969376" y="6407944"/>
            <a:ext cx="2560320" cy="365760"/>
          </a:xfrm>
          <a:prstGeom prst="rect">
            <a:avLst/>
          </a:prstGeom>
        </p:spPr>
        <p:txBody>
          <a:bodyPr vert="horz" anchor="b"/>
          <a:lstStyle>
            <a:lvl1pPr algn="l" eaLnBrk="1" latinLnBrk="0" hangingPunct="1">
              <a:defRPr kumimoji="0" sz="1000">
                <a:solidFill>
                  <a:schemeClr val="tx1"/>
                </a:solidFill>
              </a:defRPr>
            </a:lvl1pPr>
          </a:lstStyle>
          <a:p>
            <a:pPr>
              <a:defRPr/>
            </a:pPr>
            <a:fld id="{9A57F911-7B1D-4109-89E2-FD9880E73F71}" type="datetime1">
              <a:rPr lang="zh-CN" altLang="en-US" smtClean="0"/>
            </a:fld>
            <a:endParaRPr lang="en-US"/>
          </a:p>
        </p:txBody>
      </p:sp>
      <p:sp>
        <p:nvSpPr>
          <p:cNvPr id="22" name="Footer Placeholder 21"/>
          <p:cNvSpPr>
            <a:spLocks noGrp="1"/>
          </p:cNvSpPr>
          <p:nvPr>
            <p:ph type="ftr" sz="quarter" idx="3"/>
          </p:nvPr>
        </p:nvSpPr>
        <p:spPr>
          <a:xfrm>
            <a:off x="5840096" y="6407944"/>
            <a:ext cx="3134241" cy="365125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000">
                <a:solidFill>
                  <a:schemeClr val="tx1"/>
                </a:solidFill>
              </a:defRPr>
            </a:lvl1pPr>
          </a:lstStyle>
          <a:p>
            <a:r>
              <a:rPr lang="en-US" altLang="zh-CN"/>
              <a:t>Lecture 1</a:t>
            </a:r>
            <a:endParaRPr lang="en-US" altLang="zh-CN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4"/>
          </p:nvPr>
        </p:nvSpPr>
        <p:spPr>
          <a:xfrm>
            <a:off x="11529696" y="6407944"/>
            <a:ext cx="487680" cy="365125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000" b="0">
                <a:solidFill>
                  <a:schemeClr val="tx1"/>
                </a:solidFill>
              </a:defRPr>
            </a:lvl1pPr>
          </a:lstStyle>
          <a:p>
            <a:pPr>
              <a:defRPr/>
            </a:pPr>
            <a:fld id="{7C93F2F6-B200-4836-9340-136DE7987878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ftr="0" dt="0"/>
  <p:txStyles>
    <p:titleStyle>
      <a:lvl1pPr algn="l" rtl="0" eaLnBrk="1" latinLnBrk="0" hangingPunct="1">
        <a:spcBef>
          <a:spcPct val="0"/>
        </a:spcBef>
        <a:buNone/>
        <a:defRPr kumimoji="0" sz="4100" b="1" kern="1200">
          <a:solidFill>
            <a:schemeClr val="tx2"/>
          </a:solidFill>
          <a:effectLst>
            <a:outerShdw blurRad="31750" dist="25400" dir="5400000" algn="tl" rotWithShape="0">
              <a:srgbClr val="000000">
                <a:alpha val="25000"/>
              </a:srgbClr>
            </a:outerShdw>
          </a:effectLst>
          <a:latin typeface="+mj-lt"/>
          <a:ea typeface="+mj-ea"/>
          <a:cs typeface="+mj-cs"/>
        </a:defRPr>
      </a:lvl1pPr>
    </p:titleStyle>
    <p:bodyStyle>
      <a:lvl1pPr marL="365760" indent="-255905" algn="l" rtl="0" eaLnBrk="1" latinLnBrk="0" hangingPunct="1">
        <a:spcBef>
          <a:spcPts val="400"/>
        </a:spcBef>
        <a:spcAft>
          <a:spcPts val="0"/>
        </a:spcAft>
        <a:buClr>
          <a:schemeClr val="accent1"/>
        </a:buClr>
        <a:buSzPct val="68000"/>
        <a:buFont typeface="Wingdings 3" panose="05040102010807070707"/>
        <a:buChar char=""/>
        <a:defRPr kumimoji="0"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621665" indent="-228600" algn="l" rtl="0" eaLnBrk="1" latinLnBrk="0" hangingPunct="1">
        <a:spcBef>
          <a:spcPts val="325"/>
        </a:spcBef>
        <a:buClr>
          <a:schemeClr val="accent1"/>
        </a:buClr>
        <a:buFont typeface="Verdana" panose="020B0604030504040204"/>
        <a:buChar char="◦"/>
        <a:defRPr kumimoji="0" sz="2300" kern="1200">
          <a:solidFill>
            <a:schemeClr val="tx1"/>
          </a:solidFill>
          <a:latin typeface="+mn-lt"/>
          <a:ea typeface="+mn-ea"/>
          <a:cs typeface="+mn-cs"/>
        </a:defRPr>
      </a:lvl2pPr>
      <a:lvl3pPr marL="859790" indent="-228600" algn="l" rtl="0" eaLnBrk="1" latinLnBrk="0" hangingPunct="1">
        <a:spcBef>
          <a:spcPts val="350"/>
        </a:spcBef>
        <a:buClr>
          <a:schemeClr val="accent2"/>
        </a:buClr>
        <a:buSzPct val="100000"/>
        <a:buFont typeface="Wingdings 2" panose="05020102010507070707"/>
        <a:buChar char="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143000" indent="-228600" algn="l" rtl="0" eaLnBrk="1" latinLnBrk="0" hangingPunct="1">
        <a:spcBef>
          <a:spcPts val="350"/>
        </a:spcBef>
        <a:buClr>
          <a:schemeClr val="accent2"/>
        </a:buClr>
        <a:buFont typeface="Wingdings 2" panose="05020102010507070707"/>
        <a:buChar char=""/>
        <a:defRPr kumimoji="0"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ts val="350"/>
        </a:spcBef>
        <a:buClr>
          <a:schemeClr val="accent2"/>
        </a:buClr>
        <a:buFont typeface="Wingdings 2" panose="05020102010507070707"/>
        <a:buChar char="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200" indent="-228600" algn="l" rtl="0" eaLnBrk="1" latinLnBrk="0" hangingPunct="1">
        <a:spcBef>
          <a:spcPts val="350"/>
        </a:spcBef>
        <a:buClr>
          <a:schemeClr val="accent3"/>
        </a:buClr>
        <a:buFont typeface="Wingdings 2" panose="05020102010507070707"/>
        <a:buChar char="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828800" indent="-228600" algn="l" rtl="0" eaLnBrk="1" latinLnBrk="0" hangingPunct="1">
        <a:spcBef>
          <a:spcPts val="350"/>
        </a:spcBef>
        <a:buClr>
          <a:schemeClr val="accent3"/>
        </a:buClr>
        <a:buFont typeface="Wingdings 2" panose="05020102010507070707"/>
        <a:buChar char="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057400" indent="-228600" algn="l" rtl="0" eaLnBrk="1" latinLnBrk="0" hangingPunct="1">
        <a:spcBef>
          <a:spcPts val="350"/>
        </a:spcBef>
        <a:buClr>
          <a:schemeClr val="accent3"/>
        </a:buClr>
        <a:buFont typeface="Wingdings 2" panose="05020102010507070707"/>
        <a:buChar char="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286000" indent="-228600" algn="l" rtl="0" eaLnBrk="1" latinLnBrk="0" hangingPunct="1">
        <a:spcBef>
          <a:spcPts val="350"/>
        </a:spcBef>
        <a:buClr>
          <a:schemeClr val="accent3"/>
        </a:buClr>
        <a:buFont typeface="Wingdings 2" panose="05020102010507070707"/>
        <a:buChar char="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1.vml"/><Relationship Id="rId3" Type="http://schemas.openxmlformats.org/officeDocument/2006/relationships/slideLayout" Target="../slideLayouts/slideLayout12.xml"/><Relationship Id="rId2" Type="http://schemas.openxmlformats.org/officeDocument/2006/relationships/image" Target="../media/image2.png"/><Relationship Id="rId1" Type="http://schemas.openxmlformats.org/officeDocument/2006/relationships/oleObject" Target="../embeddings/oleObject1.bin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5.png"/><Relationship Id="rId2" Type="http://schemas.openxmlformats.org/officeDocument/2006/relationships/image" Target="../media/image4.jpeg"/><Relationship Id="rId1" Type="http://schemas.openxmlformats.org/officeDocument/2006/relationships/image" Target="../media/image3.jpe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2.vml"/><Relationship Id="rId3" Type="http://schemas.openxmlformats.org/officeDocument/2006/relationships/slideLayout" Target="../slideLayouts/slideLayout6.xml"/><Relationship Id="rId2" Type="http://schemas.openxmlformats.org/officeDocument/2006/relationships/image" Target="../media/image6.wmf"/><Relationship Id="rId1" Type="http://schemas.openxmlformats.org/officeDocument/2006/relationships/oleObject" Target="../embeddings/oleObject2.bin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3.v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7.wmf"/><Relationship Id="rId1" Type="http://schemas.openxmlformats.org/officeDocument/2006/relationships/oleObject" Target="../embeddings/oleObject3.bin"/></Relationships>
</file>

<file path=ppt/slides/_rels/slide10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4.v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8.wmf"/><Relationship Id="rId1" Type="http://schemas.openxmlformats.org/officeDocument/2006/relationships/oleObject" Target="../embeddings/oleObject4.bin"/></Relationships>
</file>

<file path=ppt/slides/_rels/slide11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2.xml"/><Relationship Id="rId6" Type="http://schemas.openxmlformats.org/officeDocument/2006/relationships/vmlDrawing" Target="../drawings/vmlDrawing5.vml"/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10.wmf"/><Relationship Id="rId3" Type="http://schemas.openxmlformats.org/officeDocument/2006/relationships/oleObject" Target="../embeddings/oleObject6.bin"/><Relationship Id="rId2" Type="http://schemas.openxmlformats.org/officeDocument/2006/relationships/image" Target="../media/image9.wmf"/><Relationship Id="rId1" Type="http://schemas.openxmlformats.org/officeDocument/2006/relationships/oleObject" Target="../embeddings/oleObject5.bin"/></Relationships>
</file>

<file path=ppt/slides/_rels/slide12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6.v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1.wmf"/><Relationship Id="rId1" Type="http://schemas.openxmlformats.org/officeDocument/2006/relationships/oleObject" Target="../embeddings/oleObject7.bin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2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3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4.jpe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5.jpe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6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7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8.png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9.png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0.jpeg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1.jpeg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2.jpeg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6.png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7.png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8.png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3.png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4.png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5.png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6.png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7.png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8.png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9.png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0.png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ctrTitle"/>
          </p:nvPr>
        </p:nvSpPr>
        <p:spPr>
          <a:xfrm>
            <a:off x="2209800" y="1752601"/>
            <a:ext cx="8062664" cy="1829761"/>
          </a:xfrm>
        </p:spPr>
        <p:txBody>
          <a:bodyPr/>
          <a:lstStyle/>
          <a:p>
            <a:r>
              <a:rPr lang="zh-CN" altLang="en-US" dirty="0"/>
              <a:t>计算机系统 </a:t>
            </a:r>
            <a:r>
              <a:rPr lang="en-US" altLang="zh-CN" dirty="0"/>
              <a:t>I </a:t>
            </a:r>
            <a:endParaRPr lang="zh-CN" altLang="en-US" dirty="0"/>
          </a:p>
        </p:txBody>
      </p:sp>
      <p:sp>
        <p:nvSpPr>
          <p:cNvPr id="8" name="Subtitle 7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第四章</a:t>
            </a:r>
            <a:endParaRPr lang="en-US" altLang="zh-CN" dirty="0"/>
          </a:p>
          <a:p>
            <a:r>
              <a:rPr lang="zh-CN" altLang="en-US" dirty="0"/>
              <a:t>冯</a:t>
            </a:r>
            <a:r>
              <a:rPr lang="en-US" altLang="zh-CN" dirty="0"/>
              <a:t>.</a:t>
            </a:r>
            <a:r>
              <a:rPr lang="zh-CN" altLang="en-US" dirty="0"/>
              <a:t>诺伊曼模型</a:t>
            </a:r>
            <a:endParaRPr lang="zh-CN" alt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3" name="灯片编号占位符 2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fld id="{87BE2E75-62AC-43E4-86B3-43049D5CB37D}" type="slidenum">
              <a:rPr lang="en-US" altLang="zh-CN">
                <a:latin typeface="Times New Roman" panose="02020603050405020304" pitchFamily="18" charset="0"/>
              </a:rPr>
            </a:fld>
            <a:endParaRPr lang="en-US" altLang="zh-CN">
              <a:latin typeface="Times New Roman" panose="02020603050405020304" pitchFamily="18" charset="0"/>
            </a:endParaRPr>
          </a:p>
        </p:txBody>
      </p:sp>
      <p:sp>
        <p:nvSpPr>
          <p:cNvPr id="10244" name="Rectangle 2"/>
          <p:cNvSpPr>
            <a:spLocks noChangeArrowheads="1"/>
          </p:cNvSpPr>
          <p:nvPr/>
        </p:nvSpPr>
        <p:spPr bwMode="auto">
          <a:xfrm>
            <a:off x="2209800" y="1136650"/>
            <a:ext cx="8001000" cy="635000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</a:ln>
        </p:spPr>
        <p:txBody>
          <a:bodyPr wrap="none" anchor="ctr"/>
          <a:lstStyle/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10245" name="Text Box 3"/>
          <p:cNvSpPr txBox="1">
            <a:spLocks noChangeArrowheads="1"/>
          </p:cNvSpPr>
          <p:nvPr/>
        </p:nvSpPr>
        <p:spPr bwMode="auto">
          <a:xfrm>
            <a:off x="2567608" y="1052736"/>
            <a:ext cx="2101215" cy="33083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pPr eaLnBrk="0" hangingPunct="0"/>
            <a:r>
              <a:rPr lang="en-US" altLang="zh-CN" sz="2400" dirty="0">
                <a:solidFill>
                  <a:srgbClr val="CC0000"/>
                </a:solidFill>
                <a:ea typeface="宋体" panose="02010600030101010101" pitchFamily="2" charset="-122"/>
              </a:rPr>
              <a:t>Problem Specification</a:t>
            </a:r>
            <a:endParaRPr lang="en-US" altLang="zh-CN" sz="2400" dirty="0">
              <a:solidFill>
                <a:srgbClr val="CC0000"/>
              </a:solidFill>
              <a:ea typeface="宋体" panose="02010600030101010101" pitchFamily="2" charset="-122"/>
            </a:endParaRPr>
          </a:p>
        </p:txBody>
      </p:sp>
      <p:sp>
        <p:nvSpPr>
          <p:cNvPr id="10246" name="Text Box 4"/>
          <p:cNvSpPr txBox="1">
            <a:spLocks noChangeArrowheads="1"/>
          </p:cNvSpPr>
          <p:nvPr/>
        </p:nvSpPr>
        <p:spPr bwMode="auto">
          <a:xfrm>
            <a:off x="2711624" y="1628800"/>
            <a:ext cx="1836420" cy="33083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pPr eaLnBrk="0" hangingPunct="0"/>
            <a:r>
              <a:rPr lang="en-US" altLang="zh-CN" sz="2400" dirty="0">
                <a:solidFill>
                  <a:srgbClr val="CC0000"/>
                </a:solidFill>
                <a:ea typeface="宋体" panose="02010600030101010101" pitchFamily="2" charset="-122"/>
              </a:rPr>
              <a:t>Algorithm Program</a:t>
            </a:r>
            <a:endParaRPr lang="en-US" altLang="zh-CN" sz="2400" dirty="0">
              <a:solidFill>
                <a:srgbClr val="CC0000"/>
              </a:solidFill>
              <a:ea typeface="宋体" panose="02010600030101010101" pitchFamily="2" charset="-122"/>
            </a:endParaRPr>
          </a:p>
        </p:txBody>
      </p:sp>
      <p:sp>
        <p:nvSpPr>
          <p:cNvPr id="10247" name="Text Box 5"/>
          <p:cNvSpPr txBox="1">
            <a:spLocks noChangeArrowheads="1"/>
          </p:cNvSpPr>
          <p:nvPr/>
        </p:nvSpPr>
        <p:spPr bwMode="auto">
          <a:xfrm>
            <a:off x="2063552" y="2348880"/>
            <a:ext cx="3037840" cy="33083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pPr eaLnBrk="0" hangingPunct="0"/>
            <a:r>
              <a:rPr lang="en-US" altLang="zh-CN" sz="2400" dirty="0">
                <a:solidFill>
                  <a:srgbClr val="CC0000"/>
                </a:solidFill>
                <a:ea typeface="宋体" panose="02010600030101010101" pitchFamily="2" charset="-122"/>
              </a:rPr>
              <a:t>ISA (Instruction Set Architecture)</a:t>
            </a:r>
            <a:endParaRPr lang="en-US" altLang="zh-CN" sz="2400" dirty="0">
              <a:solidFill>
                <a:srgbClr val="CC0000"/>
              </a:solidFill>
              <a:ea typeface="宋体" panose="02010600030101010101" pitchFamily="2" charset="-122"/>
            </a:endParaRPr>
          </a:p>
        </p:txBody>
      </p:sp>
      <p:sp>
        <p:nvSpPr>
          <p:cNvPr id="10248" name="Text Box 6"/>
          <p:cNvSpPr txBox="1">
            <a:spLocks noChangeArrowheads="1"/>
          </p:cNvSpPr>
          <p:nvPr/>
        </p:nvSpPr>
        <p:spPr bwMode="auto">
          <a:xfrm>
            <a:off x="2592388" y="3213100"/>
            <a:ext cx="1725930" cy="33083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pPr eaLnBrk="0" hangingPunct="0"/>
            <a:r>
              <a:rPr lang="en-US" altLang="zh-CN" sz="2400" dirty="0" err="1">
                <a:solidFill>
                  <a:srgbClr val="33CC33"/>
                </a:solidFill>
                <a:ea typeface="宋体" panose="02010600030101010101" pitchFamily="2" charset="-122"/>
              </a:rPr>
              <a:t>microArchitecture</a:t>
            </a:r>
            <a:endParaRPr lang="en-US" altLang="zh-CN" sz="2400" dirty="0">
              <a:solidFill>
                <a:srgbClr val="33CC33"/>
              </a:solidFill>
              <a:ea typeface="宋体" panose="02010600030101010101" pitchFamily="2" charset="-122"/>
            </a:endParaRPr>
          </a:p>
        </p:txBody>
      </p:sp>
      <p:sp>
        <p:nvSpPr>
          <p:cNvPr id="10249" name="Text Box 7"/>
          <p:cNvSpPr txBox="1">
            <a:spLocks noChangeArrowheads="1"/>
          </p:cNvSpPr>
          <p:nvPr/>
        </p:nvSpPr>
        <p:spPr bwMode="auto">
          <a:xfrm>
            <a:off x="3352800" y="4559300"/>
            <a:ext cx="657225" cy="33083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pPr eaLnBrk="0" hangingPunct="0"/>
            <a:r>
              <a:rPr lang="en-US" altLang="zh-CN" sz="2400" dirty="0">
                <a:solidFill>
                  <a:srgbClr val="CC0000"/>
                </a:solidFill>
                <a:ea typeface="宋体" panose="02010600030101010101" pitchFamily="2" charset="-122"/>
              </a:rPr>
              <a:t>Logic</a:t>
            </a:r>
            <a:endParaRPr lang="en-US" altLang="zh-CN" sz="2400" dirty="0">
              <a:solidFill>
                <a:srgbClr val="CC0000"/>
              </a:solidFill>
              <a:ea typeface="宋体" panose="02010600030101010101" pitchFamily="2" charset="-122"/>
            </a:endParaRPr>
          </a:p>
        </p:txBody>
      </p:sp>
      <p:sp>
        <p:nvSpPr>
          <p:cNvPr id="10250" name="Text Box 8"/>
          <p:cNvSpPr txBox="1">
            <a:spLocks noChangeArrowheads="1"/>
          </p:cNvSpPr>
          <p:nvPr/>
        </p:nvSpPr>
        <p:spPr bwMode="auto">
          <a:xfrm>
            <a:off x="3030538" y="5435600"/>
            <a:ext cx="1152525" cy="33083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pPr eaLnBrk="0" hangingPunct="0"/>
            <a:r>
              <a:rPr lang="en-US" altLang="zh-CN" sz="2400" dirty="0">
                <a:solidFill>
                  <a:srgbClr val="CC0000"/>
                </a:solidFill>
                <a:ea typeface="宋体" panose="02010600030101010101" pitchFamily="2" charset="-122"/>
              </a:rPr>
              <a:t>Transistors</a:t>
            </a:r>
            <a:endParaRPr lang="en-US" altLang="zh-CN" sz="2400" dirty="0">
              <a:solidFill>
                <a:srgbClr val="CC0000"/>
              </a:solidFill>
              <a:ea typeface="宋体" panose="02010600030101010101" pitchFamily="2" charset="-122"/>
            </a:endParaRPr>
          </a:p>
        </p:txBody>
      </p:sp>
      <p:sp>
        <p:nvSpPr>
          <p:cNvPr id="10251" name="Text Box 9"/>
          <p:cNvSpPr txBox="1">
            <a:spLocks noChangeArrowheads="1"/>
          </p:cNvSpPr>
          <p:nvPr/>
        </p:nvSpPr>
        <p:spPr bwMode="auto">
          <a:xfrm>
            <a:off x="2565400" y="5981700"/>
            <a:ext cx="1812925" cy="33083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pPr eaLnBrk="0" hangingPunct="0"/>
            <a:r>
              <a:rPr lang="en-US" altLang="zh-CN" sz="2400" dirty="0">
                <a:solidFill>
                  <a:srgbClr val="CC0000"/>
                </a:solidFill>
                <a:ea typeface="宋体" panose="02010600030101010101" pitchFamily="2" charset="-122"/>
              </a:rPr>
              <a:t>Physics/Chemistry</a:t>
            </a:r>
            <a:endParaRPr lang="en-US" altLang="zh-CN" sz="2400" dirty="0">
              <a:solidFill>
                <a:srgbClr val="CC0000"/>
              </a:solidFill>
              <a:ea typeface="宋体" panose="02010600030101010101" pitchFamily="2" charset="-122"/>
            </a:endParaRPr>
          </a:p>
        </p:txBody>
      </p:sp>
      <p:sp>
        <p:nvSpPr>
          <p:cNvPr id="381962" name="Text Box 10"/>
          <p:cNvSpPr txBox="1">
            <a:spLocks noChangeArrowheads="1"/>
          </p:cNvSpPr>
          <p:nvPr/>
        </p:nvSpPr>
        <p:spPr bwMode="auto">
          <a:xfrm>
            <a:off x="5447928" y="1124744"/>
            <a:ext cx="2312670" cy="27051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pPr eaLnBrk="0" hangingPunct="0"/>
            <a:r>
              <a:rPr lang="en-US" altLang="zh-CN" sz="1800" dirty="0">
                <a:ea typeface="宋体" panose="02010600030101010101" pitchFamily="2" charset="-122"/>
              </a:rPr>
              <a:t>compute the </a:t>
            </a:r>
            <a:r>
              <a:rPr lang="en-US" altLang="zh-CN" sz="1800" dirty="0" err="1">
                <a:ea typeface="宋体" panose="02010600030101010101" pitchFamily="2" charset="-122"/>
              </a:rPr>
              <a:t>fibonacci</a:t>
            </a:r>
            <a:r>
              <a:rPr lang="en-US" altLang="zh-CN" sz="1800" dirty="0">
                <a:ea typeface="宋体" panose="02010600030101010101" pitchFamily="2" charset="-122"/>
              </a:rPr>
              <a:t> sequence</a:t>
            </a:r>
            <a:endParaRPr lang="en-US" altLang="zh-CN" dirty="0">
              <a:ea typeface="宋体" panose="02010600030101010101" pitchFamily="2" charset="-122"/>
            </a:endParaRPr>
          </a:p>
        </p:txBody>
      </p:sp>
      <p:sp>
        <p:nvSpPr>
          <p:cNvPr id="381963" name="Text Box 11"/>
          <p:cNvSpPr txBox="1">
            <a:spLocks noChangeArrowheads="1"/>
          </p:cNvSpPr>
          <p:nvPr/>
        </p:nvSpPr>
        <p:spPr bwMode="auto">
          <a:xfrm>
            <a:off x="5422900" y="1612900"/>
            <a:ext cx="2316480" cy="45021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pPr eaLnBrk="0" hangingPunct="0"/>
            <a:r>
              <a:rPr lang="en-US" altLang="zh-CN" sz="1800" b="1" dirty="0">
                <a:latin typeface="Courier" pitchFamily="1" charset="0"/>
                <a:ea typeface="宋体" panose="02010600030101010101" pitchFamily="2" charset="-122"/>
              </a:rPr>
              <a:t>for(</a:t>
            </a:r>
            <a:r>
              <a:rPr lang="en-US" altLang="zh-CN" sz="1800" b="1" dirty="0" err="1">
                <a:latin typeface="Courier" pitchFamily="1" charset="0"/>
                <a:ea typeface="宋体" panose="02010600030101010101" pitchFamily="2" charset="-122"/>
              </a:rPr>
              <a:t>i</a:t>
            </a:r>
            <a:r>
              <a:rPr lang="en-US" altLang="zh-CN" sz="1800" b="1" dirty="0">
                <a:latin typeface="Courier" pitchFamily="1" charset="0"/>
                <a:ea typeface="宋体" panose="02010600030101010101" pitchFamily="2" charset="-122"/>
              </a:rPr>
              <a:t>=2; </a:t>
            </a:r>
            <a:r>
              <a:rPr lang="en-US" altLang="zh-CN" sz="1800" b="1" dirty="0" err="1">
                <a:latin typeface="Courier" pitchFamily="1" charset="0"/>
                <a:ea typeface="宋体" panose="02010600030101010101" pitchFamily="2" charset="-122"/>
              </a:rPr>
              <a:t>i</a:t>
            </a:r>
            <a:r>
              <a:rPr lang="en-US" altLang="zh-CN" sz="1800" b="1" dirty="0">
                <a:latin typeface="Courier" pitchFamily="1" charset="0"/>
                <a:ea typeface="宋体" panose="02010600030101010101" pitchFamily="2" charset="-122"/>
              </a:rPr>
              <a:t>&lt;100; </a:t>
            </a:r>
            <a:r>
              <a:rPr lang="en-US" altLang="zh-CN" sz="1800" b="1" dirty="0" err="1">
                <a:latin typeface="Courier" pitchFamily="1" charset="0"/>
                <a:ea typeface="宋体" panose="02010600030101010101" pitchFamily="2" charset="-122"/>
              </a:rPr>
              <a:t>i</a:t>
            </a:r>
            <a:r>
              <a:rPr lang="en-US" altLang="zh-CN" sz="1800" b="1" dirty="0">
                <a:latin typeface="Courier" pitchFamily="1" charset="0"/>
                <a:ea typeface="宋体" panose="02010600030101010101" pitchFamily="2" charset="-122"/>
              </a:rPr>
              <a:t>++) {</a:t>
            </a:r>
            <a:endParaRPr lang="en-US" altLang="zh-CN" sz="1800" b="1" dirty="0">
              <a:latin typeface="Courier" pitchFamily="1" charset="0"/>
              <a:ea typeface="宋体" panose="02010600030101010101" pitchFamily="2" charset="-122"/>
            </a:endParaRPr>
          </a:p>
          <a:p>
            <a:pPr eaLnBrk="0" hangingPunct="0"/>
            <a:r>
              <a:rPr lang="en-US" altLang="zh-CN" sz="1800" b="1" dirty="0">
                <a:latin typeface="Courier" pitchFamily="1" charset="0"/>
                <a:ea typeface="宋体" panose="02010600030101010101" pitchFamily="2" charset="-122"/>
              </a:rPr>
              <a:t>  a[</a:t>
            </a:r>
            <a:r>
              <a:rPr lang="en-US" altLang="zh-CN" sz="1800" b="1" dirty="0" err="1">
                <a:latin typeface="Courier" pitchFamily="1" charset="0"/>
                <a:ea typeface="宋体" panose="02010600030101010101" pitchFamily="2" charset="-122"/>
              </a:rPr>
              <a:t>i</a:t>
            </a:r>
            <a:r>
              <a:rPr lang="en-US" altLang="zh-CN" sz="1800" b="1" dirty="0">
                <a:latin typeface="Courier" pitchFamily="1" charset="0"/>
                <a:ea typeface="宋体" panose="02010600030101010101" pitchFamily="2" charset="-122"/>
              </a:rPr>
              <a:t>] = a[i-1]+a[i-2];}</a:t>
            </a:r>
            <a:endParaRPr lang="en-US" altLang="zh-CN" sz="1800" b="1" dirty="0">
              <a:latin typeface="Courier" pitchFamily="1" charset="0"/>
              <a:ea typeface="宋体" panose="02010600030101010101" pitchFamily="2" charset="-122"/>
            </a:endParaRPr>
          </a:p>
        </p:txBody>
      </p:sp>
      <p:sp>
        <p:nvSpPr>
          <p:cNvPr id="381964" name="Text Box 12"/>
          <p:cNvSpPr txBox="1">
            <a:spLocks noChangeArrowheads="1"/>
          </p:cNvSpPr>
          <p:nvPr/>
        </p:nvSpPr>
        <p:spPr bwMode="auto">
          <a:xfrm>
            <a:off x="5519936" y="2132856"/>
            <a:ext cx="1605280" cy="45021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pPr eaLnBrk="0" hangingPunct="0"/>
            <a:r>
              <a:rPr lang="en-US" altLang="zh-CN" sz="1800" b="1" dirty="0">
                <a:latin typeface="Courier" pitchFamily="1" charset="0"/>
                <a:ea typeface="宋体" panose="02010600030101010101" pitchFamily="2" charset="-122"/>
              </a:rPr>
              <a:t>load r1, a[</a:t>
            </a:r>
            <a:r>
              <a:rPr lang="en-US" altLang="zh-CN" sz="1800" b="1" dirty="0" err="1">
                <a:latin typeface="Courier" pitchFamily="1" charset="0"/>
                <a:ea typeface="宋体" panose="02010600030101010101" pitchFamily="2" charset="-122"/>
              </a:rPr>
              <a:t>i</a:t>
            </a:r>
            <a:r>
              <a:rPr lang="en-US" altLang="zh-CN" sz="1800" b="1" dirty="0">
                <a:latin typeface="Courier" pitchFamily="1" charset="0"/>
                <a:ea typeface="宋体" panose="02010600030101010101" pitchFamily="2" charset="-122"/>
              </a:rPr>
              <a:t>];</a:t>
            </a:r>
            <a:endParaRPr lang="en-US" altLang="zh-CN" sz="1800" b="1" dirty="0">
              <a:latin typeface="Courier" pitchFamily="1" charset="0"/>
              <a:ea typeface="宋体" panose="02010600030101010101" pitchFamily="2" charset="-122"/>
            </a:endParaRPr>
          </a:p>
          <a:p>
            <a:pPr eaLnBrk="0" hangingPunct="0"/>
            <a:r>
              <a:rPr lang="en-US" altLang="zh-CN" sz="1800" b="1" dirty="0">
                <a:latin typeface="Courier" pitchFamily="1" charset="0"/>
                <a:ea typeface="宋体" panose="02010600030101010101" pitchFamily="2" charset="-122"/>
              </a:rPr>
              <a:t>add  r2, r2, r1;</a:t>
            </a:r>
            <a:endParaRPr lang="en-US" altLang="zh-CN" sz="1800" b="1" dirty="0">
              <a:latin typeface="Courier" pitchFamily="1" charset="0"/>
              <a:ea typeface="宋体" panose="02010600030101010101" pitchFamily="2" charset="-122"/>
            </a:endParaRPr>
          </a:p>
        </p:txBody>
      </p:sp>
      <p:grpSp>
        <p:nvGrpSpPr>
          <p:cNvPr id="2" name="Group 13"/>
          <p:cNvGrpSpPr/>
          <p:nvPr/>
        </p:nvGrpSpPr>
        <p:grpSpPr bwMode="auto">
          <a:xfrm>
            <a:off x="5526088" y="2853214"/>
            <a:ext cx="2465387" cy="1363186"/>
            <a:chOff x="3168" y="1739"/>
            <a:chExt cx="1680" cy="997"/>
          </a:xfrm>
        </p:grpSpPr>
        <p:sp>
          <p:nvSpPr>
            <p:cNvPr id="10319" name="Freeform 14"/>
            <p:cNvSpPr/>
            <p:nvPr/>
          </p:nvSpPr>
          <p:spPr bwMode="auto">
            <a:xfrm>
              <a:off x="4425" y="1818"/>
              <a:ext cx="274" cy="819"/>
            </a:xfrm>
            <a:custGeom>
              <a:avLst/>
              <a:gdLst>
                <a:gd name="T0" fmla="*/ 0 w 193"/>
                <a:gd name="T1" fmla="*/ 0 h 577"/>
                <a:gd name="T2" fmla="*/ 0 w 193"/>
                <a:gd name="T3" fmla="*/ 192 h 577"/>
                <a:gd name="T4" fmla="*/ 96 w 193"/>
                <a:gd name="T5" fmla="*/ 288 h 577"/>
                <a:gd name="T6" fmla="*/ 0 w 193"/>
                <a:gd name="T7" fmla="*/ 384 h 577"/>
                <a:gd name="T8" fmla="*/ 0 w 193"/>
                <a:gd name="T9" fmla="*/ 576 h 577"/>
                <a:gd name="T10" fmla="*/ 192 w 193"/>
                <a:gd name="T11" fmla="*/ 384 h 577"/>
                <a:gd name="T12" fmla="*/ 192 w 193"/>
                <a:gd name="T13" fmla="*/ 192 h 577"/>
                <a:gd name="T14" fmla="*/ 0 w 193"/>
                <a:gd name="T15" fmla="*/ 0 h 577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193"/>
                <a:gd name="T25" fmla="*/ 0 h 577"/>
                <a:gd name="T26" fmla="*/ 193 w 193"/>
                <a:gd name="T27" fmla="*/ 577 h 577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193" h="577">
                  <a:moveTo>
                    <a:pt x="0" y="0"/>
                  </a:moveTo>
                  <a:lnTo>
                    <a:pt x="0" y="192"/>
                  </a:lnTo>
                  <a:lnTo>
                    <a:pt x="96" y="288"/>
                  </a:lnTo>
                  <a:lnTo>
                    <a:pt x="0" y="384"/>
                  </a:lnTo>
                  <a:lnTo>
                    <a:pt x="0" y="576"/>
                  </a:lnTo>
                  <a:lnTo>
                    <a:pt x="192" y="384"/>
                  </a:lnTo>
                  <a:lnTo>
                    <a:pt x="192" y="192"/>
                  </a:lnTo>
                  <a:lnTo>
                    <a:pt x="0" y="0"/>
                  </a:lnTo>
                </a:path>
              </a:pathLst>
            </a:custGeom>
            <a:solidFill>
              <a:srgbClr val="CCFFFF"/>
            </a:solidFill>
            <a:ln w="50800" cap="rnd" cmpd="sng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3" name="Group 15"/>
            <p:cNvGrpSpPr/>
            <p:nvPr/>
          </p:nvGrpSpPr>
          <p:grpSpPr bwMode="auto">
            <a:xfrm>
              <a:off x="3360" y="1739"/>
              <a:ext cx="528" cy="853"/>
              <a:chOff x="2768" y="2545"/>
              <a:chExt cx="528" cy="853"/>
            </a:xfrm>
          </p:grpSpPr>
          <p:sp>
            <p:nvSpPr>
              <p:cNvPr id="10328" name="Rectangle 16"/>
              <p:cNvSpPr>
                <a:spLocks noChangeArrowheads="1"/>
              </p:cNvSpPr>
              <p:nvPr/>
            </p:nvSpPr>
            <p:spPr bwMode="auto">
              <a:xfrm>
                <a:off x="2768" y="2582"/>
                <a:ext cx="528" cy="816"/>
              </a:xfrm>
              <a:prstGeom prst="rect">
                <a:avLst/>
              </a:prstGeom>
              <a:solidFill>
                <a:srgbClr val="FFFF99"/>
              </a:solidFill>
              <a:ln w="381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</p:spPr>
            <p:txBody>
              <a:bodyPr wrap="none" anchorCtr="1"/>
              <a:lstStyle/>
              <a:p>
                <a:pPr algn="ctr" eaLnBrk="0" hangingPunct="0"/>
                <a:endParaRPr lang="zh-CN" altLang="zh-CN" sz="1600"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0329" name="Text Box 17"/>
              <p:cNvSpPr txBox="1">
                <a:spLocks noChangeArrowheads="1"/>
              </p:cNvSpPr>
              <p:nvPr/>
            </p:nvSpPr>
            <p:spPr bwMode="auto">
              <a:xfrm rot="-5417139">
                <a:off x="2692" y="2804"/>
                <a:ext cx="689" cy="171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>
                <a:spAutoFit/>
              </a:bodyPr>
              <a:lstStyle/>
              <a:p>
                <a:pPr eaLnBrk="0" hangingPunct="0"/>
                <a:r>
                  <a:rPr lang="en-US" altLang="zh-CN" sz="1600" b="1" dirty="0">
                    <a:ea typeface="宋体" panose="02010600030101010101" pitchFamily="2" charset="-122"/>
                  </a:rPr>
                  <a:t>registers</a:t>
                </a:r>
                <a:endParaRPr lang="en-US" altLang="zh-CN" b="1" dirty="0">
                  <a:ea typeface="宋体" panose="02010600030101010101" pitchFamily="2" charset="-122"/>
                </a:endParaRPr>
              </a:p>
            </p:txBody>
          </p:sp>
        </p:grpSp>
        <p:sp>
          <p:nvSpPr>
            <p:cNvPr id="10321" name="Line 18"/>
            <p:cNvSpPr>
              <a:spLocks noChangeShapeType="1"/>
            </p:cNvSpPr>
            <p:nvPr/>
          </p:nvSpPr>
          <p:spPr bwMode="auto">
            <a:xfrm>
              <a:off x="3888" y="1968"/>
              <a:ext cx="528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tailEnd type="triangle" w="med" len="med"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322" name="Line 19"/>
            <p:cNvSpPr>
              <a:spLocks noChangeShapeType="1"/>
            </p:cNvSpPr>
            <p:nvPr/>
          </p:nvSpPr>
          <p:spPr bwMode="auto">
            <a:xfrm>
              <a:off x="3888" y="2448"/>
              <a:ext cx="528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tailEnd type="triangle" w="med" len="med"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323" name="Line 20"/>
            <p:cNvSpPr>
              <a:spLocks noChangeShapeType="1"/>
            </p:cNvSpPr>
            <p:nvPr/>
          </p:nvSpPr>
          <p:spPr bwMode="auto">
            <a:xfrm>
              <a:off x="4704" y="2208"/>
              <a:ext cx="144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324" name="Line 21"/>
            <p:cNvSpPr>
              <a:spLocks noChangeShapeType="1"/>
            </p:cNvSpPr>
            <p:nvPr/>
          </p:nvSpPr>
          <p:spPr bwMode="auto">
            <a:xfrm>
              <a:off x="4848" y="2208"/>
              <a:ext cx="0" cy="52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325" name="Line 22"/>
            <p:cNvSpPr>
              <a:spLocks noChangeShapeType="1"/>
            </p:cNvSpPr>
            <p:nvPr/>
          </p:nvSpPr>
          <p:spPr bwMode="auto">
            <a:xfrm flipH="1">
              <a:off x="3168" y="2736"/>
              <a:ext cx="168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326" name="Line 23"/>
            <p:cNvSpPr>
              <a:spLocks noChangeShapeType="1"/>
            </p:cNvSpPr>
            <p:nvPr/>
          </p:nvSpPr>
          <p:spPr bwMode="auto">
            <a:xfrm flipV="1">
              <a:off x="3168" y="2160"/>
              <a:ext cx="0" cy="576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327" name="Line 24"/>
            <p:cNvSpPr>
              <a:spLocks noChangeShapeType="1"/>
            </p:cNvSpPr>
            <p:nvPr/>
          </p:nvSpPr>
          <p:spPr bwMode="auto">
            <a:xfrm>
              <a:off x="3168" y="2160"/>
              <a:ext cx="192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tailEnd type="triangle" w="med" len="med"/>
            </a:ln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4" name="Group 25"/>
          <p:cNvGrpSpPr/>
          <p:nvPr/>
        </p:nvGrpSpPr>
        <p:grpSpPr bwMode="auto">
          <a:xfrm>
            <a:off x="4902200" y="4300538"/>
            <a:ext cx="1682029" cy="1212362"/>
            <a:chOff x="1292" y="3005"/>
            <a:chExt cx="1819" cy="1241"/>
          </a:xfrm>
        </p:grpSpPr>
        <p:grpSp>
          <p:nvGrpSpPr>
            <p:cNvPr id="5" name="Group 26"/>
            <p:cNvGrpSpPr/>
            <p:nvPr/>
          </p:nvGrpSpPr>
          <p:grpSpPr bwMode="auto">
            <a:xfrm>
              <a:off x="1704" y="3572"/>
              <a:ext cx="462" cy="297"/>
              <a:chOff x="855" y="2868"/>
              <a:chExt cx="462" cy="297"/>
            </a:xfrm>
          </p:grpSpPr>
          <p:sp>
            <p:nvSpPr>
              <p:cNvPr id="10315" name="AutoShape 27"/>
              <p:cNvSpPr>
                <a:spLocks noChangeArrowheads="1"/>
              </p:cNvSpPr>
              <p:nvPr/>
            </p:nvSpPr>
            <p:spPr bwMode="auto">
              <a:xfrm>
                <a:off x="933" y="2868"/>
                <a:ext cx="276" cy="297"/>
              </a:xfrm>
              <a:prstGeom prst="flowChartDelay">
                <a:avLst/>
              </a:prstGeom>
              <a:noFill/>
              <a:ln w="28575">
                <a:solidFill>
                  <a:schemeClr val="tx1"/>
                </a:solidFill>
                <a:miter lim="800000"/>
              </a:ln>
            </p:spPr>
            <p:txBody>
              <a:bodyPr wrap="none" anchor="ctr"/>
              <a:lstStyle/>
              <a:p>
                <a:endParaRPr lang="zh-CN" altLang="en-US">
                  <a:ea typeface="宋体" panose="02010600030101010101" pitchFamily="2" charset="-122"/>
                </a:endParaRPr>
              </a:p>
            </p:txBody>
          </p:sp>
          <p:sp>
            <p:nvSpPr>
              <p:cNvPr id="10316" name="Line 28"/>
              <p:cNvSpPr>
                <a:spLocks noChangeShapeType="1"/>
              </p:cNvSpPr>
              <p:nvPr/>
            </p:nvSpPr>
            <p:spPr bwMode="auto">
              <a:xfrm>
                <a:off x="1209" y="3017"/>
                <a:ext cx="108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0317" name="Line 29"/>
              <p:cNvSpPr>
                <a:spLocks noChangeShapeType="1"/>
              </p:cNvSpPr>
              <p:nvPr/>
            </p:nvSpPr>
            <p:spPr bwMode="auto">
              <a:xfrm flipH="1">
                <a:off x="855" y="3084"/>
                <a:ext cx="78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0318" name="Line 30"/>
              <p:cNvSpPr>
                <a:spLocks noChangeShapeType="1"/>
              </p:cNvSpPr>
              <p:nvPr/>
            </p:nvSpPr>
            <p:spPr bwMode="auto">
              <a:xfrm flipH="1">
                <a:off x="855" y="2940"/>
                <a:ext cx="81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pSp>
          <p:nvGrpSpPr>
            <p:cNvPr id="6" name="Group 31"/>
            <p:cNvGrpSpPr/>
            <p:nvPr/>
          </p:nvGrpSpPr>
          <p:grpSpPr bwMode="auto">
            <a:xfrm>
              <a:off x="1642" y="3084"/>
              <a:ext cx="531" cy="297"/>
              <a:chOff x="2602" y="3764"/>
              <a:chExt cx="531" cy="297"/>
            </a:xfrm>
          </p:grpSpPr>
          <p:sp>
            <p:nvSpPr>
              <p:cNvPr id="10310" name="AutoShape 32"/>
              <p:cNvSpPr>
                <a:spLocks noChangeArrowheads="1"/>
              </p:cNvSpPr>
              <p:nvPr/>
            </p:nvSpPr>
            <p:spPr bwMode="auto">
              <a:xfrm>
                <a:off x="2749" y="3764"/>
                <a:ext cx="276" cy="297"/>
              </a:xfrm>
              <a:prstGeom prst="flowChartDelay">
                <a:avLst/>
              </a:prstGeom>
              <a:noFill/>
              <a:ln w="28575">
                <a:solidFill>
                  <a:schemeClr val="tx1"/>
                </a:solidFill>
                <a:miter lim="800000"/>
              </a:ln>
            </p:spPr>
            <p:txBody>
              <a:bodyPr wrap="none" anchor="ctr"/>
              <a:lstStyle/>
              <a:p>
                <a:endParaRPr lang="zh-CN" altLang="en-US">
                  <a:ea typeface="宋体" panose="02010600030101010101" pitchFamily="2" charset="-122"/>
                </a:endParaRPr>
              </a:p>
            </p:txBody>
          </p:sp>
          <p:sp>
            <p:nvSpPr>
              <p:cNvPr id="10311" name="Line 33"/>
              <p:cNvSpPr>
                <a:spLocks noChangeShapeType="1"/>
              </p:cNvSpPr>
              <p:nvPr/>
            </p:nvSpPr>
            <p:spPr bwMode="auto">
              <a:xfrm>
                <a:off x="3025" y="3913"/>
                <a:ext cx="108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0312" name="Line 34"/>
              <p:cNvSpPr>
                <a:spLocks noChangeShapeType="1"/>
              </p:cNvSpPr>
              <p:nvPr/>
            </p:nvSpPr>
            <p:spPr bwMode="auto">
              <a:xfrm flipH="1">
                <a:off x="2605" y="3980"/>
                <a:ext cx="144" cy="3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0313" name="Line 35"/>
              <p:cNvSpPr>
                <a:spLocks noChangeShapeType="1"/>
              </p:cNvSpPr>
              <p:nvPr/>
            </p:nvSpPr>
            <p:spPr bwMode="auto">
              <a:xfrm flipH="1" flipV="1">
                <a:off x="2602" y="3833"/>
                <a:ext cx="150" cy="3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0314" name="Oval 36"/>
              <p:cNvSpPr>
                <a:spLocks noChangeArrowheads="1"/>
              </p:cNvSpPr>
              <p:nvPr/>
            </p:nvSpPr>
            <p:spPr bwMode="auto">
              <a:xfrm>
                <a:off x="2676" y="3945"/>
                <a:ext cx="72" cy="72"/>
              </a:xfrm>
              <a:prstGeom prst="ellipse">
                <a:avLst/>
              </a:prstGeom>
              <a:solidFill>
                <a:schemeClr val="bg1"/>
              </a:solidFill>
              <a:ln w="28575">
                <a:solidFill>
                  <a:schemeClr val="tx1"/>
                </a:solidFill>
                <a:round/>
              </a:ln>
            </p:spPr>
            <p:txBody>
              <a:bodyPr wrap="none" anchor="ctr"/>
              <a:lstStyle/>
              <a:p>
                <a:endParaRPr lang="zh-CN" altLang="en-US">
                  <a:ea typeface="宋体" panose="02010600030101010101" pitchFamily="2" charset="-122"/>
                </a:endParaRPr>
              </a:p>
            </p:txBody>
          </p:sp>
        </p:grpSp>
        <p:grpSp>
          <p:nvGrpSpPr>
            <p:cNvPr id="7" name="Group 37"/>
            <p:cNvGrpSpPr/>
            <p:nvPr/>
          </p:nvGrpSpPr>
          <p:grpSpPr bwMode="auto">
            <a:xfrm>
              <a:off x="2352" y="3301"/>
              <a:ext cx="441" cy="310"/>
              <a:chOff x="864" y="3171"/>
              <a:chExt cx="441" cy="294"/>
            </a:xfrm>
          </p:grpSpPr>
          <p:sp>
            <p:nvSpPr>
              <p:cNvPr id="10306" name="AutoShape 38"/>
              <p:cNvSpPr>
                <a:spLocks noChangeArrowheads="1"/>
              </p:cNvSpPr>
              <p:nvPr/>
            </p:nvSpPr>
            <p:spPr bwMode="auto">
              <a:xfrm flipH="1" flipV="1">
                <a:off x="927" y="3171"/>
                <a:ext cx="267" cy="294"/>
              </a:xfrm>
              <a:prstGeom prst="moon">
                <a:avLst>
                  <a:gd name="adj" fmla="val 80208"/>
                </a:avLst>
              </a:prstGeom>
              <a:noFill/>
              <a:ln w="28575">
                <a:solidFill>
                  <a:schemeClr val="tx1"/>
                </a:solidFill>
                <a:miter lim="800000"/>
              </a:ln>
            </p:spPr>
            <p:txBody>
              <a:bodyPr wrap="none" anchor="ctr"/>
              <a:lstStyle/>
              <a:p>
                <a:endParaRPr lang="zh-CN" altLang="en-US">
                  <a:ea typeface="宋体" panose="02010600030101010101" pitchFamily="2" charset="-122"/>
                </a:endParaRPr>
              </a:p>
            </p:txBody>
          </p:sp>
          <p:sp>
            <p:nvSpPr>
              <p:cNvPr id="10307" name="Line 39"/>
              <p:cNvSpPr>
                <a:spLocks noChangeShapeType="1"/>
              </p:cNvSpPr>
              <p:nvPr/>
            </p:nvSpPr>
            <p:spPr bwMode="auto">
              <a:xfrm>
                <a:off x="1194" y="3321"/>
                <a:ext cx="111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0308" name="Line 40"/>
              <p:cNvSpPr>
                <a:spLocks noChangeShapeType="1"/>
              </p:cNvSpPr>
              <p:nvPr/>
            </p:nvSpPr>
            <p:spPr bwMode="auto">
              <a:xfrm flipH="1">
                <a:off x="864" y="3405"/>
                <a:ext cx="96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0309" name="Line 41"/>
              <p:cNvSpPr>
                <a:spLocks noChangeShapeType="1"/>
              </p:cNvSpPr>
              <p:nvPr/>
            </p:nvSpPr>
            <p:spPr bwMode="auto">
              <a:xfrm flipH="1">
                <a:off x="870" y="3240"/>
                <a:ext cx="96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sp>
          <p:nvSpPr>
            <p:cNvPr id="10291" name="Text Box 42"/>
            <p:cNvSpPr txBox="1">
              <a:spLocks noChangeArrowheads="1"/>
            </p:cNvSpPr>
            <p:nvPr/>
          </p:nvSpPr>
          <p:spPr bwMode="auto">
            <a:xfrm>
              <a:off x="1292" y="3005"/>
              <a:ext cx="314" cy="277"/>
            </a:xfrm>
            <a:prstGeom prst="rect">
              <a:avLst/>
            </a:prstGeom>
            <a:noFill/>
            <a:ln w="12700">
              <a:noFill/>
              <a:miter lim="800000"/>
            </a:ln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zh-CN" sz="1800" b="1">
                  <a:latin typeface="Times" pitchFamily="1" charset="0"/>
                  <a:ea typeface="宋体" panose="02010600030101010101" pitchFamily="2" charset="-122"/>
                </a:rPr>
                <a:t>A</a:t>
              </a:r>
              <a:endParaRPr lang="en-US" altLang="zh-CN" sz="1800" b="1">
                <a:latin typeface="Times" pitchFamily="1" charset="0"/>
                <a:ea typeface="宋体" panose="02010600030101010101" pitchFamily="2" charset="-122"/>
              </a:endParaRPr>
            </a:p>
          </p:txBody>
        </p:sp>
        <p:sp>
          <p:nvSpPr>
            <p:cNvPr id="10292" name="Text Box 43"/>
            <p:cNvSpPr txBox="1">
              <a:spLocks noChangeArrowheads="1"/>
            </p:cNvSpPr>
            <p:nvPr/>
          </p:nvSpPr>
          <p:spPr bwMode="auto">
            <a:xfrm>
              <a:off x="1309" y="3519"/>
              <a:ext cx="305" cy="277"/>
            </a:xfrm>
            <a:prstGeom prst="rect">
              <a:avLst/>
            </a:prstGeom>
            <a:noFill/>
            <a:ln w="12700">
              <a:noFill/>
              <a:miter lim="800000"/>
            </a:ln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zh-CN" sz="1800" b="1">
                  <a:latin typeface="Times" pitchFamily="1" charset="0"/>
                  <a:ea typeface="宋体" panose="02010600030101010101" pitchFamily="2" charset="-122"/>
                </a:rPr>
                <a:t>B</a:t>
              </a:r>
              <a:endParaRPr lang="en-US" altLang="zh-CN" sz="1800" b="1">
                <a:latin typeface="Times" pitchFamily="1" charset="0"/>
                <a:ea typeface="宋体" panose="02010600030101010101" pitchFamily="2" charset="-122"/>
              </a:endParaRPr>
            </a:p>
          </p:txBody>
        </p:sp>
        <p:sp>
          <p:nvSpPr>
            <p:cNvPr id="10293" name="Text Box 44"/>
            <p:cNvSpPr txBox="1">
              <a:spLocks noChangeArrowheads="1"/>
            </p:cNvSpPr>
            <p:nvPr/>
          </p:nvSpPr>
          <p:spPr bwMode="auto">
            <a:xfrm>
              <a:off x="1544" y="3969"/>
              <a:ext cx="287" cy="277"/>
            </a:xfrm>
            <a:prstGeom prst="rect">
              <a:avLst/>
            </a:prstGeom>
            <a:noFill/>
            <a:ln w="12700">
              <a:noFill/>
              <a:miter lim="800000"/>
            </a:ln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zh-CN" sz="1800" b="1">
                  <a:latin typeface="Times" pitchFamily="1" charset="0"/>
                  <a:ea typeface="宋体" panose="02010600030101010101" pitchFamily="2" charset="-122"/>
                </a:rPr>
                <a:t>S</a:t>
              </a:r>
              <a:endParaRPr lang="en-US" altLang="zh-CN" sz="1800" b="1">
                <a:latin typeface="Times" pitchFamily="1" charset="0"/>
                <a:ea typeface="宋体" panose="02010600030101010101" pitchFamily="2" charset="-122"/>
              </a:endParaRPr>
            </a:p>
          </p:txBody>
        </p:sp>
        <p:sp>
          <p:nvSpPr>
            <p:cNvPr id="10294" name="Text Box 45"/>
            <p:cNvSpPr txBox="1">
              <a:spLocks noChangeArrowheads="1"/>
            </p:cNvSpPr>
            <p:nvPr/>
          </p:nvSpPr>
          <p:spPr bwMode="auto">
            <a:xfrm>
              <a:off x="2815" y="3350"/>
              <a:ext cx="296" cy="277"/>
            </a:xfrm>
            <a:prstGeom prst="rect">
              <a:avLst/>
            </a:prstGeom>
            <a:noFill/>
            <a:ln w="12700">
              <a:noFill/>
              <a:miter lim="800000"/>
            </a:ln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zh-CN" sz="1800" b="1">
                  <a:latin typeface="Times" pitchFamily="1" charset="0"/>
                  <a:ea typeface="宋体" panose="02010600030101010101" pitchFamily="2" charset="-122"/>
                </a:rPr>
                <a:t>F</a:t>
              </a:r>
              <a:endParaRPr lang="en-US" altLang="zh-CN" sz="1800" b="1">
                <a:latin typeface="Times" pitchFamily="1" charset="0"/>
                <a:ea typeface="宋体" panose="02010600030101010101" pitchFamily="2" charset="-122"/>
              </a:endParaRPr>
            </a:p>
          </p:txBody>
        </p:sp>
        <p:sp>
          <p:nvSpPr>
            <p:cNvPr id="10295" name="Line 46"/>
            <p:cNvSpPr>
              <a:spLocks noChangeShapeType="1"/>
            </p:cNvSpPr>
            <p:nvPr/>
          </p:nvSpPr>
          <p:spPr bwMode="auto">
            <a:xfrm>
              <a:off x="1644" y="3303"/>
              <a:ext cx="0" cy="687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296" name="Line 47"/>
            <p:cNvSpPr>
              <a:spLocks noChangeShapeType="1"/>
            </p:cNvSpPr>
            <p:nvPr/>
          </p:nvSpPr>
          <p:spPr bwMode="auto">
            <a:xfrm flipH="1">
              <a:off x="1644" y="3786"/>
              <a:ext cx="69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297" name="Oval 48"/>
            <p:cNvSpPr>
              <a:spLocks noChangeArrowheads="1"/>
            </p:cNvSpPr>
            <p:nvPr/>
          </p:nvSpPr>
          <p:spPr bwMode="auto">
            <a:xfrm>
              <a:off x="1620" y="3757"/>
              <a:ext cx="47" cy="47"/>
            </a:xfrm>
            <a:prstGeom prst="ellipse">
              <a:avLst/>
            </a:prstGeom>
            <a:solidFill>
              <a:schemeClr val="tx1"/>
            </a:solidFill>
            <a:ln w="28575">
              <a:solidFill>
                <a:schemeClr val="tx1"/>
              </a:solidFill>
              <a:round/>
            </a:ln>
          </p:spPr>
          <p:txBody>
            <a:bodyPr wrap="none" anchor="ctr"/>
            <a:lstStyle/>
            <a:p>
              <a:endParaRPr lang="zh-CN" altLang="en-US">
                <a:ea typeface="宋体" panose="02010600030101010101" pitchFamily="2" charset="-122"/>
              </a:endParaRPr>
            </a:p>
          </p:txBody>
        </p:sp>
        <p:sp>
          <p:nvSpPr>
            <p:cNvPr id="10298" name="Line 49"/>
            <p:cNvSpPr>
              <a:spLocks noChangeShapeType="1"/>
            </p:cNvSpPr>
            <p:nvPr/>
          </p:nvSpPr>
          <p:spPr bwMode="auto">
            <a:xfrm flipH="1">
              <a:off x="1488" y="3645"/>
              <a:ext cx="219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299" name="Line 50"/>
            <p:cNvSpPr>
              <a:spLocks noChangeShapeType="1"/>
            </p:cNvSpPr>
            <p:nvPr/>
          </p:nvSpPr>
          <p:spPr bwMode="auto">
            <a:xfrm flipH="1">
              <a:off x="1473" y="3156"/>
              <a:ext cx="168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300" name="Line 51"/>
            <p:cNvSpPr>
              <a:spLocks noChangeShapeType="1"/>
            </p:cNvSpPr>
            <p:nvPr/>
          </p:nvSpPr>
          <p:spPr bwMode="auto">
            <a:xfrm>
              <a:off x="2148" y="3720"/>
              <a:ext cx="129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301" name="Line 52"/>
            <p:cNvSpPr>
              <a:spLocks noChangeShapeType="1"/>
            </p:cNvSpPr>
            <p:nvPr/>
          </p:nvSpPr>
          <p:spPr bwMode="auto">
            <a:xfrm flipV="1">
              <a:off x="2277" y="3549"/>
              <a:ext cx="0" cy="171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302" name="Line 53"/>
            <p:cNvSpPr>
              <a:spLocks noChangeShapeType="1"/>
            </p:cNvSpPr>
            <p:nvPr/>
          </p:nvSpPr>
          <p:spPr bwMode="auto">
            <a:xfrm>
              <a:off x="2277" y="3549"/>
              <a:ext cx="87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303" name="Line 54"/>
            <p:cNvSpPr>
              <a:spLocks noChangeShapeType="1"/>
            </p:cNvSpPr>
            <p:nvPr/>
          </p:nvSpPr>
          <p:spPr bwMode="auto">
            <a:xfrm>
              <a:off x="2163" y="3231"/>
              <a:ext cx="108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304" name="Line 55"/>
            <p:cNvSpPr>
              <a:spLocks noChangeShapeType="1"/>
            </p:cNvSpPr>
            <p:nvPr/>
          </p:nvSpPr>
          <p:spPr bwMode="auto">
            <a:xfrm>
              <a:off x="2271" y="3231"/>
              <a:ext cx="0" cy="144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305" name="Line 56"/>
            <p:cNvSpPr>
              <a:spLocks noChangeShapeType="1"/>
            </p:cNvSpPr>
            <p:nvPr/>
          </p:nvSpPr>
          <p:spPr bwMode="auto">
            <a:xfrm>
              <a:off x="2271" y="3375"/>
              <a:ext cx="93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8" name="Group 57"/>
          <p:cNvGrpSpPr/>
          <p:nvPr/>
        </p:nvGrpSpPr>
        <p:grpSpPr bwMode="auto">
          <a:xfrm>
            <a:off x="6121400" y="4838700"/>
            <a:ext cx="2819997" cy="1468889"/>
            <a:chOff x="2690" y="1148"/>
            <a:chExt cx="2277" cy="1056"/>
          </a:xfrm>
        </p:grpSpPr>
        <p:grpSp>
          <p:nvGrpSpPr>
            <p:cNvPr id="9" name="Group 58"/>
            <p:cNvGrpSpPr/>
            <p:nvPr/>
          </p:nvGrpSpPr>
          <p:grpSpPr bwMode="auto">
            <a:xfrm>
              <a:off x="2690" y="1148"/>
              <a:ext cx="730" cy="1056"/>
              <a:chOff x="2378" y="1132"/>
              <a:chExt cx="730" cy="1056"/>
            </a:xfrm>
          </p:grpSpPr>
          <p:grpSp>
            <p:nvGrpSpPr>
              <p:cNvPr id="10" name="Group 59"/>
              <p:cNvGrpSpPr/>
              <p:nvPr/>
            </p:nvGrpSpPr>
            <p:grpSpPr bwMode="auto">
              <a:xfrm>
                <a:off x="2787" y="1359"/>
                <a:ext cx="207" cy="591"/>
                <a:chOff x="2787" y="1359"/>
                <a:chExt cx="207" cy="591"/>
              </a:xfrm>
            </p:grpSpPr>
            <p:sp>
              <p:nvSpPr>
                <p:cNvPr id="10282" name="Line 60"/>
                <p:cNvSpPr>
                  <a:spLocks noChangeShapeType="1"/>
                </p:cNvSpPr>
                <p:nvPr/>
              </p:nvSpPr>
              <p:spPr bwMode="auto">
                <a:xfrm>
                  <a:off x="2787" y="1500"/>
                  <a:ext cx="0" cy="303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</a:ln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0283" name="Line 61"/>
                <p:cNvSpPr>
                  <a:spLocks noChangeShapeType="1"/>
                </p:cNvSpPr>
                <p:nvPr/>
              </p:nvSpPr>
              <p:spPr bwMode="auto">
                <a:xfrm>
                  <a:off x="2865" y="1500"/>
                  <a:ext cx="0" cy="303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</a:ln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0284" name="Line 62"/>
                <p:cNvSpPr>
                  <a:spLocks noChangeShapeType="1"/>
                </p:cNvSpPr>
                <p:nvPr/>
              </p:nvSpPr>
              <p:spPr bwMode="auto">
                <a:xfrm>
                  <a:off x="2865" y="1794"/>
                  <a:ext cx="129" cy="0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</a:ln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0285" name="Line 63"/>
                <p:cNvSpPr>
                  <a:spLocks noChangeShapeType="1"/>
                </p:cNvSpPr>
                <p:nvPr/>
              </p:nvSpPr>
              <p:spPr bwMode="auto">
                <a:xfrm>
                  <a:off x="2865" y="1509"/>
                  <a:ext cx="129" cy="0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</a:ln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0286" name="Line 64"/>
                <p:cNvSpPr>
                  <a:spLocks noChangeShapeType="1"/>
                </p:cNvSpPr>
                <p:nvPr/>
              </p:nvSpPr>
              <p:spPr bwMode="auto">
                <a:xfrm>
                  <a:off x="2985" y="1791"/>
                  <a:ext cx="0" cy="159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</a:ln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0287" name="Line 65"/>
                <p:cNvSpPr>
                  <a:spLocks noChangeShapeType="1"/>
                </p:cNvSpPr>
                <p:nvPr/>
              </p:nvSpPr>
              <p:spPr bwMode="auto">
                <a:xfrm>
                  <a:off x="2985" y="1359"/>
                  <a:ext cx="0" cy="159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</a:ln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  <p:sp>
            <p:nvSpPr>
              <p:cNvPr id="10278" name="Line 66"/>
              <p:cNvSpPr>
                <a:spLocks noChangeShapeType="1"/>
              </p:cNvSpPr>
              <p:nvPr/>
            </p:nvSpPr>
            <p:spPr bwMode="auto">
              <a:xfrm flipH="1">
                <a:off x="2598" y="1656"/>
                <a:ext cx="189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0279" name="Text Box 67"/>
              <p:cNvSpPr txBox="1">
                <a:spLocks noChangeArrowheads="1"/>
              </p:cNvSpPr>
              <p:nvPr/>
            </p:nvSpPr>
            <p:spPr bwMode="auto">
              <a:xfrm>
                <a:off x="2378" y="1528"/>
                <a:ext cx="244" cy="210"/>
              </a:xfrm>
              <a:prstGeom prst="rect">
                <a:avLst/>
              </a:prstGeom>
              <a:noFill/>
              <a:ln w="12700">
                <a:noFill/>
                <a:miter lim="800000"/>
              </a:ln>
            </p:spPr>
            <p:txBody>
              <a:bodyPr wrap="none">
                <a:spAutoFit/>
              </a:bodyPr>
              <a:lstStyle/>
              <a:p>
                <a:pPr eaLnBrk="0" hangingPunct="0"/>
                <a:r>
                  <a:rPr lang="en-US" altLang="zh-CN" sz="2000">
                    <a:latin typeface="Times" pitchFamily="1" charset="0"/>
                    <a:ea typeface="宋体" panose="02010600030101010101" pitchFamily="2" charset="-122"/>
                  </a:rPr>
                  <a:t>G</a:t>
                </a:r>
                <a:endParaRPr lang="en-US" altLang="zh-CN" sz="1800">
                  <a:latin typeface="Times" pitchFamily="1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0280" name="Text Box 68"/>
              <p:cNvSpPr txBox="1">
                <a:spLocks noChangeArrowheads="1"/>
              </p:cNvSpPr>
              <p:nvPr/>
            </p:nvSpPr>
            <p:spPr bwMode="auto">
              <a:xfrm>
                <a:off x="2864" y="1132"/>
                <a:ext cx="244" cy="210"/>
              </a:xfrm>
              <a:prstGeom prst="rect">
                <a:avLst/>
              </a:prstGeom>
              <a:noFill/>
              <a:ln w="12700">
                <a:noFill/>
                <a:miter lim="800000"/>
              </a:ln>
            </p:spPr>
            <p:txBody>
              <a:bodyPr wrap="none">
                <a:spAutoFit/>
              </a:bodyPr>
              <a:lstStyle/>
              <a:p>
                <a:pPr eaLnBrk="0" hangingPunct="0"/>
                <a:r>
                  <a:rPr lang="en-US" altLang="zh-CN" sz="2000">
                    <a:latin typeface="Times" pitchFamily="1" charset="0"/>
                    <a:ea typeface="宋体" panose="02010600030101010101" pitchFamily="2" charset="-122"/>
                  </a:rPr>
                  <a:t>D</a:t>
                </a:r>
                <a:endParaRPr lang="en-US" altLang="zh-CN" sz="1800">
                  <a:latin typeface="Times" pitchFamily="1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0281" name="Text Box 69"/>
              <p:cNvSpPr txBox="1">
                <a:spLocks noChangeArrowheads="1"/>
              </p:cNvSpPr>
              <p:nvPr/>
            </p:nvSpPr>
            <p:spPr bwMode="auto">
              <a:xfrm>
                <a:off x="2866" y="1978"/>
                <a:ext cx="213" cy="210"/>
              </a:xfrm>
              <a:prstGeom prst="rect">
                <a:avLst/>
              </a:prstGeom>
              <a:noFill/>
              <a:ln w="12700">
                <a:noFill/>
                <a:miter lim="800000"/>
              </a:ln>
            </p:spPr>
            <p:txBody>
              <a:bodyPr wrap="none">
                <a:spAutoFit/>
              </a:bodyPr>
              <a:lstStyle/>
              <a:p>
                <a:pPr eaLnBrk="0" hangingPunct="0"/>
                <a:r>
                  <a:rPr lang="en-US" altLang="zh-CN" sz="2000">
                    <a:latin typeface="Times" pitchFamily="1" charset="0"/>
                    <a:ea typeface="宋体" panose="02010600030101010101" pitchFamily="2" charset="-122"/>
                  </a:rPr>
                  <a:t>S</a:t>
                </a:r>
                <a:endParaRPr lang="en-US" altLang="zh-CN" sz="1800">
                  <a:latin typeface="Times" pitchFamily="1" charset="0"/>
                  <a:ea typeface="宋体" panose="02010600030101010101" pitchFamily="2" charset="-122"/>
                </a:endParaRPr>
              </a:p>
            </p:txBody>
          </p:sp>
        </p:grpSp>
        <p:grpSp>
          <p:nvGrpSpPr>
            <p:cNvPr id="11" name="Group 70"/>
            <p:cNvGrpSpPr/>
            <p:nvPr/>
          </p:nvGrpSpPr>
          <p:grpSpPr bwMode="auto">
            <a:xfrm>
              <a:off x="4238" y="1625"/>
              <a:ext cx="339" cy="252"/>
              <a:chOff x="3198" y="1647"/>
              <a:chExt cx="339" cy="252"/>
            </a:xfrm>
          </p:grpSpPr>
          <p:sp>
            <p:nvSpPr>
              <p:cNvPr id="10271" name="Line 71"/>
              <p:cNvSpPr>
                <a:spLocks noChangeShapeType="1"/>
              </p:cNvSpPr>
              <p:nvPr/>
            </p:nvSpPr>
            <p:spPr bwMode="auto">
              <a:xfrm>
                <a:off x="3198" y="1656"/>
                <a:ext cx="291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0272" name="Line 72"/>
              <p:cNvSpPr>
                <a:spLocks noChangeShapeType="1"/>
              </p:cNvSpPr>
              <p:nvPr/>
            </p:nvSpPr>
            <p:spPr bwMode="auto">
              <a:xfrm>
                <a:off x="3426" y="1731"/>
                <a:ext cx="111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0273" name="Line 73"/>
              <p:cNvSpPr>
                <a:spLocks noChangeShapeType="1"/>
              </p:cNvSpPr>
              <p:nvPr/>
            </p:nvSpPr>
            <p:spPr bwMode="auto">
              <a:xfrm>
                <a:off x="3426" y="1770"/>
                <a:ext cx="111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0274" name="AutoShape 74"/>
              <p:cNvSpPr>
                <a:spLocks noChangeArrowheads="1"/>
              </p:cNvSpPr>
              <p:nvPr/>
            </p:nvSpPr>
            <p:spPr bwMode="auto">
              <a:xfrm flipV="1">
                <a:off x="3456" y="1851"/>
                <a:ext cx="48" cy="48"/>
              </a:xfrm>
              <a:prstGeom prst="triangle">
                <a:avLst>
                  <a:gd name="adj" fmla="val 50000"/>
                </a:avLst>
              </a:prstGeom>
              <a:solidFill>
                <a:schemeClr val="bg1"/>
              </a:solidFill>
              <a:ln w="28575">
                <a:solidFill>
                  <a:schemeClr val="tx1"/>
                </a:solidFill>
                <a:miter lim="800000"/>
              </a:ln>
            </p:spPr>
            <p:txBody>
              <a:bodyPr wrap="none" anchor="ctr"/>
              <a:lstStyle/>
              <a:p>
                <a:endParaRPr lang="zh-CN" altLang="en-US">
                  <a:ea typeface="宋体" panose="02010600030101010101" pitchFamily="2" charset="-122"/>
                </a:endParaRPr>
              </a:p>
            </p:txBody>
          </p:sp>
          <p:sp>
            <p:nvSpPr>
              <p:cNvPr id="10275" name="Line 75"/>
              <p:cNvSpPr>
                <a:spLocks noChangeShapeType="1"/>
              </p:cNvSpPr>
              <p:nvPr/>
            </p:nvSpPr>
            <p:spPr bwMode="auto">
              <a:xfrm>
                <a:off x="3480" y="1647"/>
                <a:ext cx="0" cy="81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0276" name="Line 76"/>
              <p:cNvSpPr>
                <a:spLocks noChangeShapeType="1"/>
              </p:cNvSpPr>
              <p:nvPr/>
            </p:nvSpPr>
            <p:spPr bwMode="auto">
              <a:xfrm>
                <a:off x="3480" y="1773"/>
                <a:ext cx="0" cy="81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pSp>
          <p:nvGrpSpPr>
            <p:cNvPr id="12" name="Group 77"/>
            <p:cNvGrpSpPr/>
            <p:nvPr/>
          </p:nvGrpSpPr>
          <p:grpSpPr bwMode="auto">
            <a:xfrm>
              <a:off x="4805" y="1412"/>
              <a:ext cx="162" cy="548"/>
              <a:chOff x="4245" y="1539"/>
              <a:chExt cx="162" cy="548"/>
            </a:xfrm>
          </p:grpSpPr>
          <p:sp>
            <p:nvSpPr>
              <p:cNvPr id="10266" name="Line 78"/>
              <p:cNvSpPr>
                <a:spLocks noChangeShapeType="1"/>
              </p:cNvSpPr>
              <p:nvPr/>
            </p:nvSpPr>
            <p:spPr bwMode="auto">
              <a:xfrm>
                <a:off x="4266" y="1539"/>
                <a:ext cx="3" cy="141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0267" name="Oval 79"/>
              <p:cNvSpPr>
                <a:spLocks noChangeArrowheads="1"/>
              </p:cNvSpPr>
              <p:nvPr/>
            </p:nvSpPr>
            <p:spPr bwMode="auto">
              <a:xfrm>
                <a:off x="4245" y="1671"/>
                <a:ext cx="47" cy="47"/>
              </a:xfrm>
              <a:prstGeom prst="ellipse">
                <a:avLst/>
              </a:prstGeom>
              <a:solidFill>
                <a:schemeClr val="tx1"/>
              </a:solidFill>
              <a:ln w="12700">
                <a:solidFill>
                  <a:schemeClr val="tx1"/>
                </a:solidFill>
                <a:round/>
              </a:ln>
            </p:spPr>
            <p:txBody>
              <a:bodyPr wrap="none" anchor="ctr"/>
              <a:lstStyle/>
              <a:p>
                <a:endParaRPr lang="zh-CN" altLang="en-US">
                  <a:ea typeface="宋体" panose="02010600030101010101" pitchFamily="2" charset="-122"/>
                </a:endParaRPr>
              </a:p>
            </p:txBody>
          </p:sp>
          <p:sp>
            <p:nvSpPr>
              <p:cNvPr id="10268" name="Line 80"/>
              <p:cNvSpPr>
                <a:spLocks noChangeShapeType="1"/>
              </p:cNvSpPr>
              <p:nvPr/>
            </p:nvSpPr>
            <p:spPr bwMode="auto">
              <a:xfrm flipV="1">
                <a:off x="4269" y="1958"/>
                <a:ext cx="0" cy="129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0269" name="Oval 81"/>
              <p:cNvSpPr>
                <a:spLocks noChangeArrowheads="1"/>
              </p:cNvSpPr>
              <p:nvPr/>
            </p:nvSpPr>
            <p:spPr bwMode="auto">
              <a:xfrm flipV="1">
                <a:off x="4245" y="1920"/>
                <a:ext cx="47" cy="47"/>
              </a:xfrm>
              <a:prstGeom prst="ellipse">
                <a:avLst/>
              </a:prstGeom>
              <a:solidFill>
                <a:schemeClr val="tx1"/>
              </a:solidFill>
              <a:ln w="12700">
                <a:solidFill>
                  <a:schemeClr val="tx1"/>
                </a:solidFill>
                <a:round/>
              </a:ln>
            </p:spPr>
            <p:txBody>
              <a:bodyPr wrap="none" anchor="ctr"/>
              <a:lstStyle/>
              <a:p>
                <a:endParaRPr lang="zh-CN" altLang="en-US">
                  <a:ea typeface="宋体" panose="02010600030101010101" pitchFamily="2" charset="-122"/>
                </a:endParaRPr>
              </a:p>
            </p:txBody>
          </p:sp>
          <p:sp>
            <p:nvSpPr>
              <p:cNvPr id="10270" name="Line 82"/>
              <p:cNvSpPr>
                <a:spLocks noChangeShapeType="1"/>
              </p:cNvSpPr>
              <p:nvPr/>
            </p:nvSpPr>
            <p:spPr bwMode="auto">
              <a:xfrm flipV="1">
                <a:off x="4269" y="1725"/>
                <a:ext cx="138" cy="219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tailEnd type="triangle" w="med" len="med"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sp>
          <p:nvSpPr>
            <p:cNvPr id="10262" name="Text Box 83"/>
            <p:cNvSpPr txBox="1">
              <a:spLocks noChangeArrowheads="1"/>
            </p:cNvSpPr>
            <p:nvPr/>
          </p:nvSpPr>
          <p:spPr bwMode="auto">
            <a:xfrm>
              <a:off x="4023" y="1497"/>
              <a:ext cx="244" cy="210"/>
            </a:xfrm>
            <a:prstGeom prst="rect">
              <a:avLst/>
            </a:prstGeom>
            <a:noFill/>
            <a:ln w="12700">
              <a:noFill/>
              <a:miter lim="800000"/>
            </a:ln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zh-CN" sz="2000">
                  <a:latin typeface="Times" pitchFamily="1" charset="0"/>
                  <a:ea typeface="宋体" panose="02010600030101010101" pitchFamily="2" charset="-122"/>
                </a:rPr>
                <a:t>G</a:t>
              </a:r>
              <a:endParaRPr lang="en-US" altLang="zh-CN" sz="1800">
                <a:latin typeface="Times" pitchFamily="1" charset="0"/>
                <a:ea typeface="宋体" panose="02010600030101010101" pitchFamily="2" charset="-122"/>
              </a:endParaRPr>
            </a:p>
          </p:txBody>
        </p:sp>
        <p:sp>
          <p:nvSpPr>
            <p:cNvPr id="10263" name="Text Box 84"/>
            <p:cNvSpPr txBox="1">
              <a:spLocks noChangeArrowheads="1"/>
            </p:cNvSpPr>
            <p:nvPr/>
          </p:nvSpPr>
          <p:spPr bwMode="auto">
            <a:xfrm>
              <a:off x="4723" y="1925"/>
              <a:ext cx="222" cy="210"/>
            </a:xfrm>
            <a:prstGeom prst="rect">
              <a:avLst/>
            </a:prstGeom>
            <a:noFill/>
            <a:ln w="12700">
              <a:noFill/>
              <a:miter lim="800000"/>
            </a:ln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zh-CN" sz="2000">
                  <a:latin typeface="Times" pitchFamily="1" charset="0"/>
                  <a:ea typeface="宋体" panose="02010600030101010101" pitchFamily="2" charset="-122"/>
                </a:rPr>
                <a:t>S</a:t>
              </a:r>
              <a:endParaRPr lang="en-US" altLang="zh-CN" sz="1800">
                <a:latin typeface="Times" pitchFamily="1" charset="0"/>
                <a:ea typeface="宋体" panose="02010600030101010101" pitchFamily="2" charset="-122"/>
              </a:endParaRPr>
            </a:p>
          </p:txBody>
        </p:sp>
        <p:sp>
          <p:nvSpPr>
            <p:cNvPr id="10264" name="Text Box 85"/>
            <p:cNvSpPr txBox="1">
              <a:spLocks noChangeArrowheads="1"/>
            </p:cNvSpPr>
            <p:nvPr/>
          </p:nvSpPr>
          <p:spPr bwMode="auto">
            <a:xfrm>
              <a:off x="4699" y="1194"/>
              <a:ext cx="244" cy="210"/>
            </a:xfrm>
            <a:prstGeom prst="rect">
              <a:avLst/>
            </a:prstGeom>
            <a:noFill/>
            <a:ln w="12700">
              <a:noFill/>
              <a:miter lim="800000"/>
            </a:ln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zh-CN" sz="2000">
                  <a:latin typeface="Times" pitchFamily="1" charset="0"/>
                  <a:ea typeface="宋体" panose="02010600030101010101" pitchFamily="2" charset="-122"/>
                </a:rPr>
                <a:t>D</a:t>
              </a:r>
              <a:endParaRPr lang="en-US" altLang="zh-CN" sz="1800">
                <a:latin typeface="Times" pitchFamily="1" charset="0"/>
                <a:ea typeface="宋体" panose="02010600030101010101" pitchFamily="2" charset="-122"/>
              </a:endParaRPr>
            </a:p>
          </p:txBody>
        </p:sp>
        <p:sp>
          <p:nvSpPr>
            <p:cNvPr id="10265" name="AutoShape 86"/>
            <p:cNvSpPr>
              <a:spLocks noChangeArrowheads="1"/>
            </p:cNvSpPr>
            <p:nvPr/>
          </p:nvSpPr>
          <p:spPr bwMode="auto">
            <a:xfrm>
              <a:off x="3552" y="1520"/>
              <a:ext cx="359" cy="218"/>
            </a:xfrm>
            <a:prstGeom prst="rightArrow">
              <a:avLst>
                <a:gd name="adj1" fmla="val 50000"/>
                <a:gd name="adj2" fmla="val 41170"/>
              </a:avLst>
            </a:prstGeom>
            <a:solidFill>
              <a:schemeClr val="accent1"/>
            </a:solidFill>
            <a:ln w="12700">
              <a:solidFill>
                <a:schemeClr val="tx1"/>
              </a:solidFill>
              <a:miter lim="800000"/>
            </a:ln>
          </p:spPr>
          <p:txBody>
            <a:bodyPr wrap="none" anchor="ctr"/>
            <a:lstStyle/>
            <a:p>
              <a:endParaRPr lang="zh-CN" altLang="en-US">
                <a:ea typeface="宋体" panose="02010600030101010101" pitchFamily="2" charset="-122"/>
              </a:endParaRPr>
            </a:p>
          </p:txBody>
        </p:sp>
      </p:grpSp>
      <p:sp>
        <p:nvSpPr>
          <p:cNvPr id="10258" name="Text Box 88"/>
          <p:cNvSpPr txBox="1">
            <a:spLocks noChangeArrowheads="1"/>
          </p:cNvSpPr>
          <p:nvPr/>
        </p:nvSpPr>
        <p:spPr bwMode="auto">
          <a:xfrm>
            <a:off x="1919536" y="188640"/>
            <a:ext cx="7632848" cy="49149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r>
              <a:rPr lang="zh-CN" altLang="en-US" sz="4000" dirty="0">
                <a:ea typeface="宋体" panose="02010600030101010101" pitchFamily="2" charset="-122"/>
              </a:rPr>
              <a:t>计算机系统的抽象层次</a:t>
            </a:r>
            <a:endParaRPr lang="en-US" altLang="zh-CN" sz="4000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819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819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819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1962" grpId="0" autoUpdateAnimBg="0"/>
      <p:bldP spid="381963" grpId="0" autoUpdateAnimBg="0"/>
      <p:bldP spid="381964" grpId="0" autoUpdateAnimBg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 altLang="zh-CN"/>
              <a:t>3-</a:t>
            </a:r>
            <a:fld id="{4B5FCE74-2606-4F0B-89C2-1337A09D7ACE}" type="slidenum">
              <a:rPr lang="en-US" altLang="zh-CN"/>
            </a:fld>
            <a:endParaRPr lang="en-US" altLang="zh-CN"/>
          </a:p>
        </p:txBody>
      </p:sp>
      <p:sp>
        <p:nvSpPr>
          <p:cNvPr id="35842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>
                <a:ea typeface="宋体" panose="02010600030101010101" pitchFamily="2" charset="-122"/>
              </a:rPr>
              <a:t>计算机系统微结构</a:t>
            </a:r>
            <a:endParaRPr lang="en-US" altLang="zh-CN" dirty="0">
              <a:ea typeface="宋体" panose="02010600030101010101" pitchFamily="2" charset="-122"/>
            </a:endParaRPr>
          </a:p>
        </p:txBody>
      </p:sp>
      <p:sp>
        <p:nvSpPr>
          <p:cNvPr id="3584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991544" y="1484784"/>
            <a:ext cx="8229600" cy="4738531"/>
          </a:xfrm>
        </p:spPr>
        <p:txBody>
          <a:bodyPr>
            <a:normAutofit fontScale="92500" lnSpcReduction="10000"/>
          </a:bodyPr>
          <a:lstStyle/>
          <a:p>
            <a:r>
              <a:rPr lang="zh-CN" altLang="en-US" dirty="0">
                <a:ea typeface="宋体" panose="02010600030101010101" pitchFamily="2" charset="-122"/>
              </a:rPr>
              <a:t>计算机执行任务应该分成几个部件，每个部件如何协调工作。每个部件如何采用逻辑电路设计。</a:t>
            </a:r>
            <a:endParaRPr lang="en-US" altLang="zh-CN" dirty="0">
              <a:ea typeface="宋体" panose="02010600030101010101" pitchFamily="2" charset="-122"/>
            </a:endParaRPr>
          </a:p>
          <a:p>
            <a:r>
              <a:rPr lang="zh-CN" altLang="en-US" dirty="0">
                <a:ea typeface="宋体" panose="02010600030101010101" pitchFamily="2" charset="-122"/>
              </a:rPr>
              <a:t>抽象层次：电路级</a:t>
            </a:r>
            <a:r>
              <a:rPr lang="en-US" altLang="zh-CN" dirty="0">
                <a:ea typeface="宋体" panose="02010600030101010101" pitchFamily="2" charset="-122"/>
              </a:rPr>
              <a:t>--》</a:t>
            </a:r>
            <a:r>
              <a:rPr lang="zh-CN" altLang="en-US" dirty="0">
                <a:ea typeface="宋体" panose="02010600030101010101" pitchFamily="2" charset="-122"/>
              </a:rPr>
              <a:t>部件级</a:t>
            </a:r>
            <a:endParaRPr lang="en-US" altLang="zh-CN" dirty="0">
              <a:ea typeface="宋体" panose="02010600030101010101" pitchFamily="2" charset="-122"/>
            </a:endParaRPr>
          </a:p>
          <a:p>
            <a:r>
              <a:rPr lang="zh-CN" altLang="en-US" dirty="0"/>
              <a:t>冯</a:t>
            </a:r>
            <a:r>
              <a:rPr lang="en-US" altLang="zh-CN" dirty="0"/>
              <a:t>.</a:t>
            </a:r>
            <a:r>
              <a:rPr lang="zh-CN" altLang="en-US" dirty="0"/>
              <a:t>诺伊曼最早将二进制引入计算机应用，并定义了计算机的五大组成部件</a:t>
            </a:r>
            <a:endParaRPr lang="en-US" altLang="zh-CN" dirty="0"/>
          </a:p>
          <a:p>
            <a:r>
              <a:rPr lang="zh-CN" altLang="en-US" dirty="0"/>
              <a:t>冯</a:t>
            </a:r>
            <a:r>
              <a:rPr lang="en-US" altLang="zh-CN" dirty="0"/>
              <a:t>.</a:t>
            </a:r>
            <a:r>
              <a:rPr lang="zh-CN" altLang="en-US" dirty="0"/>
              <a:t>诺伊曼模型：计算机处理和程序执行的基础模型</a:t>
            </a:r>
            <a:endParaRPr lang="en-US" altLang="zh-CN" dirty="0"/>
          </a:p>
          <a:p>
            <a:pPr marL="0" indent="0">
              <a:buNone/>
            </a:pPr>
            <a:r>
              <a:rPr lang="zh-CN" altLang="en-US" dirty="0">
                <a:latin typeface="楷体_GB2312" pitchFamily="49" charset="-122"/>
              </a:rPr>
              <a:t>    </a:t>
            </a:r>
            <a:r>
              <a:rPr lang="zh-CN" altLang="en-US" dirty="0">
                <a:solidFill>
                  <a:srgbClr val="9900FF"/>
                </a:solidFill>
                <a:latin typeface="楷体_GB2312" pitchFamily="49" charset="-122"/>
              </a:rPr>
              <a:t>冯</a:t>
            </a:r>
            <a:r>
              <a:rPr lang="en-US" altLang="zh-CN" dirty="0">
                <a:solidFill>
                  <a:srgbClr val="9900FF"/>
                </a:solidFill>
                <a:latin typeface="Times New Roman" panose="02020603050405020304" pitchFamily="18" charset="0"/>
              </a:rPr>
              <a:t>·</a:t>
            </a:r>
            <a:r>
              <a:rPr lang="zh-CN" altLang="en-US" dirty="0">
                <a:solidFill>
                  <a:srgbClr val="9900FF"/>
                </a:solidFill>
                <a:latin typeface="楷体_GB2312" pitchFamily="49" charset="-122"/>
              </a:rPr>
              <a:t>诺依曼机的特征</a:t>
            </a:r>
            <a:endParaRPr lang="zh-CN" altLang="en-US" dirty="0">
              <a:solidFill>
                <a:srgbClr val="9900FF"/>
              </a:solidFill>
              <a:latin typeface="楷体_GB2312" pitchFamily="49" charset="-122"/>
            </a:endParaRPr>
          </a:p>
          <a:p>
            <a:pPr marL="0" indent="0">
              <a:buNone/>
            </a:pPr>
            <a:r>
              <a:rPr lang="zh-CN" altLang="en-US" dirty="0">
                <a:latin typeface="楷体_GB2312" pitchFamily="49" charset="-122"/>
              </a:rPr>
              <a:t>    ⑴计算机应由运算器、控制器、存储器、输入设备和输出设备五大部件组成；</a:t>
            </a:r>
            <a:endParaRPr lang="zh-CN" altLang="en-US" dirty="0">
              <a:latin typeface="楷体_GB2312" pitchFamily="49" charset="-122"/>
            </a:endParaRPr>
          </a:p>
          <a:p>
            <a:pPr marL="0" indent="0">
              <a:buNone/>
            </a:pPr>
            <a:r>
              <a:rPr lang="zh-CN" altLang="en-US" dirty="0">
                <a:latin typeface="楷体_GB2312" pitchFamily="49" charset="-122"/>
              </a:rPr>
              <a:t>    ⑵计算机中采用二进制来表示指令和数据；</a:t>
            </a:r>
            <a:endParaRPr lang="zh-CN" altLang="en-US" dirty="0">
              <a:latin typeface="楷体_GB2312" pitchFamily="49" charset="-122"/>
            </a:endParaRPr>
          </a:p>
          <a:p>
            <a:pPr marL="0" indent="0">
              <a:buNone/>
            </a:pPr>
            <a:r>
              <a:rPr lang="zh-CN" altLang="en-US" dirty="0">
                <a:latin typeface="楷体_GB2312" pitchFamily="49" charset="-122"/>
              </a:rPr>
              <a:t>    ⑶采用存储程序方式，计算机能自动逐条取出指令并执行程序。</a:t>
            </a:r>
            <a:endParaRPr lang="en-US" altLang="zh-CN" dirty="0"/>
          </a:p>
          <a:p>
            <a:endParaRPr lang="en-US" altLang="zh-CN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5" name="灯片编号占位符 6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D88ADD23-71AF-4B9F-A8B1-B0CE22650095}" type="slidenum">
              <a:rPr lang="en-US" altLang="zh-CN" smtClean="0">
                <a:ea typeface="宋体" panose="02010600030101010101" pitchFamily="2" charset="-122"/>
              </a:rPr>
            </a:fld>
            <a:endParaRPr lang="en-US" altLang="zh-CN">
              <a:ea typeface="宋体" panose="02010600030101010101" pitchFamily="2" charset="-122"/>
            </a:endParaRPr>
          </a:p>
        </p:txBody>
      </p:sp>
      <p:sp>
        <p:nvSpPr>
          <p:cNvPr id="307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(3</a:t>
            </a:r>
            <a:r>
              <a:rPr lang="en-US" altLang="zh-CN">
                <a:cs typeface="Times New Roman" panose="02020603050405020304" pitchFamily="18" charset="0"/>
              </a:rPr>
              <a:t>×4) + (5×7)?</a:t>
            </a:r>
            <a:endParaRPr lang="en-US" altLang="zh-CN">
              <a:cs typeface="Times New Roman" panose="02020603050405020304" pitchFamily="18" charset="0"/>
            </a:endParaRPr>
          </a:p>
        </p:txBody>
      </p:sp>
      <p:sp>
        <p:nvSpPr>
          <p:cNvPr id="278531" name="Rectangle 3"/>
          <p:cNvSpPr>
            <a:spLocks noGrp="1" noChangeArrowheads="1"/>
          </p:cNvSpPr>
          <p:nvPr>
            <p:ph type="body" sz="half" idx="1"/>
          </p:nvPr>
        </p:nvSpPr>
        <p:spPr/>
        <p:txBody>
          <a:bodyPr/>
          <a:lstStyle/>
          <a:p>
            <a:pPr eaLnBrk="1" hangingPunct="1"/>
            <a:r>
              <a:rPr lang="en-US" altLang="zh-CN" sz="2400"/>
              <a:t>3 </a:t>
            </a:r>
            <a:r>
              <a:rPr lang="en-US" altLang="zh-CN" sz="2400">
                <a:cs typeface="Times New Roman" panose="02020603050405020304" pitchFamily="18" charset="0"/>
              </a:rPr>
              <a:t>×4 =12</a:t>
            </a:r>
            <a:endParaRPr lang="en-US" altLang="zh-CN" sz="2400">
              <a:cs typeface="Times New Roman" panose="02020603050405020304" pitchFamily="18" charset="0"/>
            </a:endParaRPr>
          </a:p>
          <a:p>
            <a:pPr eaLnBrk="1" hangingPunct="1"/>
            <a:r>
              <a:rPr lang="en-US" altLang="zh-CN" sz="2400">
                <a:cs typeface="Times New Roman" panose="02020603050405020304" pitchFamily="18" charset="0"/>
              </a:rPr>
              <a:t>5 ×7=35</a:t>
            </a:r>
            <a:endParaRPr lang="en-US" altLang="zh-CN" sz="2400">
              <a:cs typeface="Times New Roman" panose="02020603050405020304" pitchFamily="18" charset="0"/>
            </a:endParaRPr>
          </a:p>
          <a:p>
            <a:pPr eaLnBrk="1" hangingPunct="1"/>
            <a:r>
              <a:rPr lang="en-US" altLang="zh-CN" sz="2400">
                <a:cs typeface="Times New Roman" panose="02020603050405020304" pitchFamily="18" charset="0"/>
              </a:rPr>
              <a:t>12+35 = 47</a:t>
            </a:r>
            <a:endParaRPr lang="en-US" altLang="zh-CN" sz="2400"/>
          </a:p>
        </p:txBody>
      </p:sp>
      <p:graphicFrame>
        <p:nvGraphicFramePr>
          <p:cNvPr id="278532" name="Object 4"/>
          <p:cNvGraphicFramePr>
            <a:graphicFrameLocks noGrp="1" noChangeAspect="1"/>
          </p:cNvGraphicFramePr>
          <p:nvPr>
            <p:ph sz="half" idx="2"/>
          </p:nvPr>
        </p:nvGraphicFramePr>
        <p:xfrm>
          <a:off x="4876800" y="1900238"/>
          <a:ext cx="5105400" cy="34115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84357" name="位图图像" r:id="rId1" imgW="3790950" imgH="2533650" progId="PBrush">
                  <p:embed/>
                </p:oleObj>
              </mc:Choice>
              <mc:Fallback>
                <p:oleObj name="位图图像" r:id="rId1" imgW="3790950" imgH="2533650" progId="PBrush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76800" y="1900238"/>
                        <a:ext cx="5105400" cy="341153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5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785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785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9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5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0" fill="hold"/>
                                        <p:tgtEl>
                                          <p:spTgt spid="2785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0" fill="hold"/>
                                        <p:tgtEl>
                                          <p:spTgt spid="2785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9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5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0" fill="hold"/>
                                        <p:tgtEl>
                                          <p:spTgt spid="2785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0" fill="hold"/>
                                        <p:tgtEl>
                                          <p:spTgt spid="2785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9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5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0" fill="hold"/>
                                        <p:tgtEl>
                                          <p:spTgt spid="2785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0" fill="hold"/>
                                        <p:tgtEl>
                                          <p:spTgt spid="2785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8531" grpId="0" autoUpdateAnimBg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灯片编号占位符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E2D45A8A-FD1C-4A66-8B24-FC4931843D3C}" type="slidenum">
              <a:rPr lang="en-US" altLang="zh-CN" smtClean="0">
                <a:ea typeface="宋体" panose="02010600030101010101" pitchFamily="2" charset="-122"/>
              </a:rPr>
            </a:fld>
            <a:endParaRPr lang="en-US" altLang="zh-CN">
              <a:ea typeface="宋体" panose="02010600030101010101" pitchFamily="2" charset="-122"/>
            </a:endParaRPr>
          </a:p>
        </p:txBody>
      </p:sp>
      <p:pic>
        <p:nvPicPr>
          <p:cNvPr id="18435" name="Picture 2" descr="sdram_dimms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 bwMode="auto">
          <a:xfrm>
            <a:off x="7216775" y="2286000"/>
            <a:ext cx="1758950" cy="2971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79555" name="Rectangle 3"/>
          <p:cNvSpPr>
            <a:spLocks noChangeArrowheads="1"/>
          </p:cNvSpPr>
          <p:nvPr/>
        </p:nvSpPr>
        <p:spPr bwMode="auto">
          <a:xfrm>
            <a:off x="7104112" y="1412776"/>
            <a:ext cx="1905000" cy="4114800"/>
          </a:xfrm>
          <a:prstGeom prst="rect">
            <a:avLst/>
          </a:prstGeom>
          <a:solidFill>
            <a:srgbClr val="C0C0C0"/>
          </a:solidFill>
          <a:ln w="9525">
            <a:noFill/>
            <a:miter lim="800000"/>
          </a:ln>
        </p:spPr>
        <p:txBody>
          <a:bodyPr wrap="none" anchor="ctr"/>
          <a:lstStyle/>
          <a:p>
            <a:pPr marL="457200" indent="-457200">
              <a:spcBef>
                <a:spcPct val="20000"/>
              </a:spcBef>
              <a:buFontTx/>
              <a:buAutoNum type="arabicPlain" startAt="3"/>
            </a:pPr>
            <a:r>
              <a:rPr lang="en-US" altLang="zh-CN" sz="1400" b="0" dirty="0"/>
              <a:t> 4     5     7</a:t>
            </a:r>
            <a:endParaRPr lang="en-US" altLang="zh-CN" sz="1400" b="0" dirty="0"/>
          </a:p>
          <a:p>
            <a:pPr marL="457200" indent="-457200">
              <a:spcBef>
                <a:spcPct val="20000"/>
              </a:spcBef>
            </a:pPr>
            <a:endParaRPr lang="en-US" altLang="zh-CN" sz="1400" b="0" dirty="0"/>
          </a:p>
          <a:p>
            <a:pPr marL="457200" indent="-457200">
              <a:spcBef>
                <a:spcPct val="20000"/>
              </a:spcBef>
            </a:pPr>
            <a:endParaRPr lang="en-US" altLang="zh-CN" sz="1400" b="0" dirty="0"/>
          </a:p>
          <a:p>
            <a:pPr marL="457200" indent="-457200">
              <a:spcBef>
                <a:spcPct val="20000"/>
              </a:spcBef>
            </a:pPr>
            <a:r>
              <a:rPr lang="zh-CN" altLang="en-US" sz="2000" b="0" dirty="0"/>
              <a:t>读取 </a:t>
            </a:r>
            <a:r>
              <a:rPr lang="en-US" altLang="zh-CN" sz="2000" b="0" dirty="0"/>
              <a:t>3</a:t>
            </a:r>
            <a:endParaRPr lang="en-US" altLang="zh-CN" sz="2000" b="0" dirty="0"/>
          </a:p>
          <a:p>
            <a:pPr marL="457200" indent="-457200">
              <a:spcBef>
                <a:spcPct val="20000"/>
              </a:spcBef>
            </a:pPr>
            <a:r>
              <a:rPr lang="zh-CN" altLang="en-US" sz="2000" b="0" dirty="0"/>
              <a:t>读取 </a:t>
            </a:r>
            <a:r>
              <a:rPr lang="en-US" altLang="zh-CN" sz="2000" b="0" dirty="0"/>
              <a:t>4</a:t>
            </a:r>
            <a:endParaRPr lang="en-US" altLang="zh-CN" sz="2000" b="0" dirty="0"/>
          </a:p>
          <a:p>
            <a:pPr marL="457200" indent="-457200">
              <a:spcBef>
                <a:spcPct val="20000"/>
              </a:spcBef>
            </a:pPr>
            <a:r>
              <a:rPr lang="zh-CN" altLang="en-US" sz="2000" b="0" dirty="0"/>
              <a:t>两数相乘</a:t>
            </a:r>
            <a:endParaRPr lang="zh-CN" altLang="en-US" sz="2000" b="0" dirty="0"/>
          </a:p>
          <a:p>
            <a:pPr marL="457200" indent="-457200">
              <a:spcBef>
                <a:spcPct val="20000"/>
              </a:spcBef>
            </a:pPr>
            <a:r>
              <a:rPr lang="zh-CN" altLang="en-US" sz="2000" b="0" dirty="0"/>
              <a:t>存入结果</a:t>
            </a:r>
            <a:r>
              <a:rPr lang="en-US" altLang="zh-CN" sz="2000" b="0" dirty="0"/>
              <a:t>1</a:t>
            </a:r>
            <a:endParaRPr lang="en-US" altLang="zh-CN" sz="2000" b="0" dirty="0"/>
          </a:p>
          <a:p>
            <a:pPr marL="457200" indent="-457200">
              <a:spcBef>
                <a:spcPct val="20000"/>
              </a:spcBef>
            </a:pPr>
            <a:r>
              <a:rPr lang="zh-CN" altLang="en-US" sz="2000" b="0" dirty="0"/>
              <a:t>读取 </a:t>
            </a:r>
            <a:r>
              <a:rPr lang="en-US" altLang="zh-CN" sz="2000" b="0" dirty="0"/>
              <a:t>5</a:t>
            </a:r>
            <a:endParaRPr lang="en-US" altLang="zh-CN" sz="2000" b="0" dirty="0"/>
          </a:p>
          <a:p>
            <a:pPr marL="457200" indent="-457200">
              <a:spcBef>
                <a:spcPct val="20000"/>
              </a:spcBef>
            </a:pPr>
            <a:r>
              <a:rPr lang="zh-CN" altLang="en-US" sz="2000" b="0" dirty="0"/>
              <a:t>读取 </a:t>
            </a:r>
            <a:r>
              <a:rPr lang="en-US" altLang="zh-CN" sz="2000" b="0" dirty="0"/>
              <a:t>7</a:t>
            </a:r>
            <a:endParaRPr lang="en-US" altLang="zh-CN" sz="2000" b="0" dirty="0"/>
          </a:p>
          <a:p>
            <a:pPr marL="457200" indent="-457200">
              <a:spcBef>
                <a:spcPct val="20000"/>
              </a:spcBef>
            </a:pPr>
            <a:r>
              <a:rPr lang="zh-CN" altLang="en-US" sz="2000" b="0" dirty="0"/>
              <a:t>两数相乘</a:t>
            </a:r>
            <a:endParaRPr lang="zh-CN" altLang="en-US" sz="2000" b="0" dirty="0"/>
          </a:p>
          <a:p>
            <a:pPr marL="457200" indent="-457200">
              <a:spcBef>
                <a:spcPct val="20000"/>
              </a:spcBef>
            </a:pPr>
            <a:r>
              <a:rPr lang="zh-CN" altLang="en-US" sz="2000" b="0" dirty="0"/>
              <a:t>存入结果</a:t>
            </a:r>
            <a:r>
              <a:rPr lang="en-US" altLang="zh-CN" sz="2000" b="0" dirty="0"/>
              <a:t>2</a:t>
            </a:r>
            <a:endParaRPr lang="en-US" altLang="zh-CN" sz="2000" b="0" dirty="0"/>
          </a:p>
          <a:p>
            <a:pPr marL="457200" indent="-457200">
              <a:spcBef>
                <a:spcPct val="20000"/>
              </a:spcBef>
            </a:pPr>
            <a:r>
              <a:rPr lang="zh-CN" altLang="en-US" sz="2000" b="0" dirty="0"/>
              <a:t>读取结果</a:t>
            </a:r>
            <a:r>
              <a:rPr lang="en-US" altLang="zh-CN" sz="2000" b="0" dirty="0"/>
              <a:t>1</a:t>
            </a:r>
            <a:endParaRPr lang="en-US" altLang="zh-CN" sz="2000" b="0" dirty="0"/>
          </a:p>
          <a:p>
            <a:pPr marL="457200" indent="-457200">
              <a:spcBef>
                <a:spcPct val="20000"/>
              </a:spcBef>
            </a:pPr>
            <a:r>
              <a:rPr lang="zh-CN" altLang="en-US" sz="2000" b="0" dirty="0"/>
              <a:t>读取结果</a:t>
            </a:r>
            <a:r>
              <a:rPr lang="en-US" altLang="zh-CN" sz="2000" b="0" dirty="0"/>
              <a:t>2</a:t>
            </a:r>
            <a:endParaRPr lang="en-US" altLang="zh-CN" sz="2000" b="0" dirty="0"/>
          </a:p>
          <a:p>
            <a:pPr marL="457200" indent="-457200">
              <a:spcBef>
                <a:spcPct val="20000"/>
              </a:spcBef>
            </a:pPr>
            <a:r>
              <a:rPr lang="zh-CN" altLang="en-US" sz="2000" b="0" dirty="0"/>
              <a:t>两数相加</a:t>
            </a:r>
            <a:endParaRPr lang="zh-CN" altLang="en-US" sz="2000" b="0" dirty="0"/>
          </a:p>
          <a:p>
            <a:pPr marL="457200" indent="-457200">
              <a:spcBef>
                <a:spcPct val="20000"/>
              </a:spcBef>
            </a:pPr>
            <a:r>
              <a:rPr lang="zh-CN" altLang="en-US" sz="2000" b="0" dirty="0"/>
              <a:t>存入结果</a:t>
            </a:r>
            <a:endParaRPr lang="zh-CN" altLang="en-US" sz="2000" b="0" dirty="0"/>
          </a:p>
        </p:txBody>
      </p:sp>
      <p:pic>
        <p:nvPicPr>
          <p:cNvPr id="18437" name="Picture 4" descr="cpu_card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144838" y="2876550"/>
            <a:ext cx="1595437" cy="2235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79557" name="Oval 5"/>
          <p:cNvSpPr>
            <a:spLocks noChangeArrowheads="1"/>
          </p:cNvSpPr>
          <p:nvPr/>
        </p:nvSpPr>
        <p:spPr bwMode="auto">
          <a:xfrm>
            <a:off x="2606675" y="2514600"/>
            <a:ext cx="2667000" cy="28956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</a:ln>
        </p:spPr>
        <p:txBody>
          <a:bodyPr wrap="none" anchor="ctr"/>
          <a:lstStyle/>
          <a:p>
            <a:pPr>
              <a:spcBef>
                <a:spcPct val="20000"/>
              </a:spcBef>
              <a:buFontTx/>
              <a:buChar char="•"/>
            </a:pPr>
            <a:endParaRPr lang="zh-CN" altLang="zh-CN" sz="3200" b="0"/>
          </a:p>
        </p:txBody>
      </p:sp>
      <p:sp>
        <p:nvSpPr>
          <p:cNvPr id="279558" name="Rectangle 6"/>
          <p:cNvSpPr>
            <a:spLocks noChangeArrowheads="1"/>
          </p:cNvSpPr>
          <p:nvPr/>
        </p:nvSpPr>
        <p:spPr bwMode="auto">
          <a:xfrm>
            <a:off x="3902075" y="4343400"/>
            <a:ext cx="762000" cy="6858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 anchor="ctr"/>
          <a:lstStyle/>
          <a:p>
            <a:r>
              <a:rPr lang="en-US" altLang="zh-CN" b="0"/>
              <a:t> = 12</a:t>
            </a:r>
            <a:endParaRPr lang="en-US" altLang="zh-CN" b="0"/>
          </a:p>
        </p:txBody>
      </p:sp>
      <p:sp>
        <p:nvSpPr>
          <p:cNvPr id="279559" name="Rectangle 7"/>
          <p:cNvSpPr>
            <a:spLocks noChangeArrowheads="1"/>
          </p:cNvSpPr>
          <p:nvPr/>
        </p:nvSpPr>
        <p:spPr bwMode="auto">
          <a:xfrm>
            <a:off x="2943225" y="3116263"/>
            <a:ext cx="1981200" cy="685800"/>
          </a:xfrm>
          <a:prstGeom prst="rect">
            <a:avLst/>
          </a:prstGeom>
          <a:solidFill>
            <a:schemeClr val="accent1"/>
          </a:solidFill>
          <a:ln w="9525">
            <a:noFill/>
            <a:miter lim="800000"/>
          </a:ln>
        </p:spPr>
        <p:txBody>
          <a:bodyPr wrap="none" anchor="ctr"/>
          <a:lstStyle/>
          <a:p>
            <a:r>
              <a:rPr lang="zh-CN" altLang="en-US" b="0"/>
              <a:t>读取 </a:t>
            </a:r>
            <a:r>
              <a:rPr lang="en-US" altLang="zh-CN" b="0"/>
              <a:t>3</a:t>
            </a:r>
            <a:endParaRPr lang="en-US" altLang="zh-CN" b="0"/>
          </a:p>
        </p:txBody>
      </p:sp>
      <p:sp>
        <p:nvSpPr>
          <p:cNvPr id="279560" name="Rectangle 8"/>
          <p:cNvSpPr>
            <a:spLocks noChangeArrowheads="1"/>
          </p:cNvSpPr>
          <p:nvPr/>
        </p:nvSpPr>
        <p:spPr bwMode="auto">
          <a:xfrm>
            <a:off x="2943225" y="3116263"/>
            <a:ext cx="1981200" cy="685800"/>
          </a:xfrm>
          <a:prstGeom prst="rect">
            <a:avLst/>
          </a:prstGeom>
          <a:solidFill>
            <a:schemeClr val="accent1"/>
          </a:solidFill>
          <a:ln w="9525">
            <a:noFill/>
            <a:miter lim="800000"/>
          </a:ln>
        </p:spPr>
        <p:txBody>
          <a:bodyPr wrap="none" anchor="ctr"/>
          <a:lstStyle/>
          <a:p>
            <a:r>
              <a:rPr lang="zh-CN" altLang="en-US" b="0"/>
              <a:t>读取 </a:t>
            </a:r>
            <a:r>
              <a:rPr lang="en-US" altLang="zh-CN" b="0"/>
              <a:t>4</a:t>
            </a:r>
            <a:endParaRPr lang="en-US" altLang="zh-CN" b="0"/>
          </a:p>
        </p:txBody>
      </p:sp>
      <p:sp>
        <p:nvSpPr>
          <p:cNvPr id="279561" name="Rectangle 9"/>
          <p:cNvSpPr>
            <a:spLocks noChangeArrowheads="1"/>
          </p:cNvSpPr>
          <p:nvPr/>
        </p:nvSpPr>
        <p:spPr bwMode="auto">
          <a:xfrm>
            <a:off x="2943225" y="3116263"/>
            <a:ext cx="1981200" cy="685800"/>
          </a:xfrm>
          <a:prstGeom prst="rect">
            <a:avLst/>
          </a:prstGeom>
          <a:solidFill>
            <a:schemeClr val="accent1"/>
          </a:solidFill>
          <a:ln w="9525">
            <a:noFill/>
            <a:miter lim="800000"/>
          </a:ln>
        </p:spPr>
        <p:txBody>
          <a:bodyPr wrap="none" anchor="ctr"/>
          <a:lstStyle/>
          <a:p>
            <a:r>
              <a:rPr lang="zh-CN" altLang="en-US" b="0"/>
              <a:t>两数相乘</a:t>
            </a:r>
            <a:endParaRPr lang="zh-CN" altLang="en-US" b="0"/>
          </a:p>
        </p:txBody>
      </p:sp>
      <p:sp>
        <p:nvSpPr>
          <p:cNvPr id="279562" name="Rectangle 10"/>
          <p:cNvSpPr>
            <a:spLocks noChangeArrowheads="1"/>
          </p:cNvSpPr>
          <p:nvPr/>
        </p:nvSpPr>
        <p:spPr bwMode="auto">
          <a:xfrm>
            <a:off x="2943225" y="3116263"/>
            <a:ext cx="1981200" cy="685800"/>
          </a:xfrm>
          <a:prstGeom prst="rect">
            <a:avLst/>
          </a:prstGeom>
          <a:solidFill>
            <a:schemeClr val="accent1"/>
          </a:solidFill>
          <a:ln w="9525">
            <a:noFill/>
            <a:miter lim="800000"/>
          </a:ln>
        </p:spPr>
        <p:txBody>
          <a:bodyPr wrap="none" anchor="ctr"/>
          <a:lstStyle/>
          <a:p>
            <a:r>
              <a:rPr lang="zh-CN" altLang="en-US" b="0"/>
              <a:t>存入结果</a:t>
            </a:r>
            <a:r>
              <a:rPr lang="en-US" altLang="zh-CN" b="0"/>
              <a:t>1</a:t>
            </a:r>
            <a:endParaRPr lang="en-US" altLang="zh-CN" b="0"/>
          </a:p>
        </p:txBody>
      </p:sp>
      <p:sp>
        <p:nvSpPr>
          <p:cNvPr id="279563" name="Rectangle 11"/>
          <p:cNvSpPr>
            <a:spLocks noChangeArrowheads="1"/>
          </p:cNvSpPr>
          <p:nvPr/>
        </p:nvSpPr>
        <p:spPr bwMode="auto">
          <a:xfrm>
            <a:off x="2943225" y="3116263"/>
            <a:ext cx="1981200" cy="685800"/>
          </a:xfrm>
          <a:prstGeom prst="rect">
            <a:avLst/>
          </a:prstGeom>
          <a:solidFill>
            <a:schemeClr val="accent1"/>
          </a:solidFill>
          <a:ln w="9525">
            <a:noFill/>
            <a:miter lim="800000"/>
          </a:ln>
        </p:spPr>
        <p:txBody>
          <a:bodyPr wrap="none" anchor="ctr"/>
          <a:lstStyle/>
          <a:p>
            <a:r>
              <a:rPr lang="zh-CN" altLang="en-US" b="0"/>
              <a:t>读取 </a:t>
            </a:r>
            <a:r>
              <a:rPr lang="en-US" altLang="zh-CN" b="0"/>
              <a:t>5</a:t>
            </a:r>
            <a:endParaRPr lang="en-US" altLang="zh-CN" b="0"/>
          </a:p>
        </p:txBody>
      </p:sp>
      <p:sp>
        <p:nvSpPr>
          <p:cNvPr id="279564" name="Rectangle 12"/>
          <p:cNvSpPr>
            <a:spLocks noChangeArrowheads="1"/>
          </p:cNvSpPr>
          <p:nvPr/>
        </p:nvSpPr>
        <p:spPr bwMode="auto">
          <a:xfrm>
            <a:off x="2943225" y="3116263"/>
            <a:ext cx="1981200" cy="685800"/>
          </a:xfrm>
          <a:prstGeom prst="rect">
            <a:avLst/>
          </a:prstGeom>
          <a:solidFill>
            <a:schemeClr val="accent1"/>
          </a:solidFill>
          <a:ln w="9525">
            <a:noFill/>
            <a:miter lim="800000"/>
          </a:ln>
        </p:spPr>
        <p:txBody>
          <a:bodyPr wrap="none" anchor="ctr"/>
          <a:lstStyle/>
          <a:p>
            <a:r>
              <a:rPr lang="zh-CN" altLang="en-US" b="0"/>
              <a:t>读取 </a:t>
            </a:r>
            <a:r>
              <a:rPr lang="en-US" altLang="zh-CN" b="0"/>
              <a:t>7</a:t>
            </a:r>
            <a:endParaRPr lang="en-US" altLang="zh-CN" b="0"/>
          </a:p>
        </p:txBody>
      </p:sp>
      <p:sp>
        <p:nvSpPr>
          <p:cNvPr id="279565" name="Rectangle 13"/>
          <p:cNvSpPr>
            <a:spLocks noChangeArrowheads="1"/>
          </p:cNvSpPr>
          <p:nvPr/>
        </p:nvSpPr>
        <p:spPr bwMode="auto">
          <a:xfrm>
            <a:off x="2943225" y="3116263"/>
            <a:ext cx="1981200" cy="685800"/>
          </a:xfrm>
          <a:prstGeom prst="rect">
            <a:avLst/>
          </a:prstGeom>
          <a:solidFill>
            <a:schemeClr val="accent1"/>
          </a:solidFill>
          <a:ln w="9525">
            <a:noFill/>
            <a:miter lim="800000"/>
          </a:ln>
        </p:spPr>
        <p:txBody>
          <a:bodyPr wrap="none" anchor="ctr"/>
          <a:lstStyle/>
          <a:p>
            <a:r>
              <a:rPr lang="zh-CN" altLang="en-US" b="0"/>
              <a:t>两数相乘</a:t>
            </a:r>
            <a:endParaRPr lang="zh-CN" altLang="en-US" b="0"/>
          </a:p>
        </p:txBody>
      </p:sp>
      <p:sp>
        <p:nvSpPr>
          <p:cNvPr id="279566" name="Rectangle 14"/>
          <p:cNvSpPr>
            <a:spLocks noChangeArrowheads="1"/>
          </p:cNvSpPr>
          <p:nvPr/>
        </p:nvSpPr>
        <p:spPr bwMode="auto">
          <a:xfrm>
            <a:off x="2943225" y="3116263"/>
            <a:ext cx="1981200" cy="685800"/>
          </a:xfrm>
          <a:prstGeom prst="rect">
            <a:avLst/>
          </a:prstGeom>
          <a:solidFill>
            <a:schemeClr val="accent1"/>
          </a:solidFill>
          <a:ln w="9525">
            <a:noFill/>
            <a:miter lim="800000"/>
          </a:ln>
        </p:spPr>
        <p:txBody>
          <a:bodyPr wrap="none" anchor="ctr"/>
          <a:lstStyle/>
          <a:p>
            <a:r>
              <a:rPr lang="zh-CN" altLang="en-US" b="0"/>
              <a:t>存入结果</a:t>
            </a:r>
            <a:r>
              <a:rPr lang="en-US" altLang="zh-CN" b="0"/>
              <a:t>2</a:t>
            </a:r>
            <a:endParaRPr lang="en-US" altLang="zh-CN" b="0"/>
          </a:p>
        </p:txBody>
      </p:sp>
      <p:sp>
        <p:nvSpPr>
          <p:cNvPr id="279567" name="Rectangle 15"/>
          <p:cNvSpPr>
            <a:spLocks noChangeArrowheads="1"/>
          </p:cNvSpPr>
          <p:nvPr/>
        </p:nvSpPr>
        <p:spPr bwMode="auto">
          <a:xfrm>
            <a:off x="2943225" y="3116263"/>
            <a:ext cx="1981200" cy="685800"/>
          </a:xfrm>
          <a:prstGeom prst="rect">
            <a:avLst/>
          </a:prstGeom>
          <a:solidFill>
            <a:schemeClr val="accent1"/>
          </a:solidFill>
          <a:ln w="9525">
            <a:noFill/>
            <a:miter lim="800000"/>
          </a:ln>
        </p:spPr>
        <p:txBody>
          <a:bodyPr wrap="none" anchor="ctr"/>
          <a:lstStyle/>
          <a:p>
            <a:r>
              <a:rPr lang="zh-CN" altLang="en-US" b="0"/>
              <a:t>读取结果</a:t>
            </a:r>
            <a:r>
              <a:rPr lang="en-US" altLang="zh-CN" b="0"/>
              <a:t>1</a:t>
            </a:r>
            <a:endParaRPr lang="en-US" altLang="zh-CN" b="0"/>
          </a:p>
        </p:txBody>
      </p:sp>
      <p:sp>
        <p:nvSpPr>
          <p:cNvPr id="279568" name="Rectangle 16"/>
          <p:cNvSpPr>
            <a:spLocks noChangeArrowheads="1"/>
          </p:cNvSpPr>
          <p:nvPr/>
        </p:nvSpPr>
        <p:spPr bwMode="auto">
          <a:xfrm>
            <a:off x="2943225" y="3116263"/>
            <a:ext cx="1981200" cy="685800"/>
          </a:xfrm>
          <a:prstGeom prst="rect">
            <a:avLst/>
          </a:prstGeom>
          <a:solidFill>
            <a:schemeClr val="accent1"/>
          </a:solidFill>
          <a:ln w="9525">
            <a:noFill/>
            <a:miter lim="800000"/>
          </a:ln>
        </p:spPr>
        <p:txBody>
          <a:bodyPr wrap="none" anchor="ctr"/>
          <a:lstStyle/>
          <a:p>
            <a:r>
              <a:rPr lang="zh-CN" altLang="en-US" b="0"/>
              <a:t>读取结果</a:t>
            </a:r>
            <a:r>
              <a:rPr lang="en-US" altLang="zh-CN" b="0"/>
              <a:t>2</a:t>
            </a:r>
            <a:endParaRPr lang="en-US" altLang="zh-CN" b="0"/>
          </a:p>
        </p:txBody>
      </p:sp>
      <p:sp>
        <p:nvSpPr>
          <p:cNvPr id="279569" name="Rectangle 17"/>
          <p:cNvSpPr>
            <a:spLocks noChangeArrowheads="1"/>
          </p:cNvSpPr>
          <p:nvPr/>
        </p:nvSpPr>
        <p:spPr bwMode="auto">
          <a:xfrm>
            <a:off x="2943225" y="3116263"/>
            <a:ext cx="1981200" cy="685800"/>
          </a:xfrm>
          <a:prstGeom prst="rect">
            <a:avLst/>
          </a:prstGeom>
          <a:solidFill>
            <a:schemeClr val="accent1"/>
          </a:solidFill>
          <a:ln w="9525">
            <a:noFill/>
            <a:miter lim="800000"/>
          </a:ln>
        </p:spPr>
        <p:txBody>
          <a:bodyPr wrap="none" anchor="ctr"/>
          <a:lstStyle/>
          <a:p>
            <a:r>
              <a:rPr lang="zh-CN" altLang="en-US" b="0"/>
              <a:t>两数相加</a:t>
            </a:r>
            <a:endParaRPr lang="zh-CN" altLang="en-US" b="0"/>
          </a:p>
        </p:txBody>
      </p:sp>
      <p:sp>
        <p:nvSpPr>
          <p:cNvPr id="279570" name="Rectangle 18"/>
          <p:cNvSpPr>
            <a:spLocks noChangeArrowheads="1"/>
          </p:cNvSpPr>
          <p:nvPr/>
        </p:nvSpPr>
        <p:spPr bwMode="auto">
          <a:xfrm>
            <a:off x="2943225" y="3116263"/>
            <a:ext cx="1981200" cy="685800"/>
          </a:xfrm>
          <a:prstGeom prst="rect">
            <a:avLst/>
          </a:prstGeom>
          <a:solidFill>
            <a:schemeClr val="accent1"/>
          </a:solidFill>
          <a:ln w="9525">
            <a:noFill/>
            <a:miter lim="800000"/>
          </a:ln>
        </p:spPr>
        <p:txBody>
          <a:bodyPr wrap="none" anchor="ctr"/>
          <a:lstStyle/>
          <a:p>
            <a:r>
              <a:rPr lang="zh-CN" altLang="en-US" b="0"/>
              <a:t>存入结果</a:t>
            </a:r>
            <a:endParaRPr lang="zh-CN" altLang="en-US" b="0"/>
          </a:p>
        </p:txBody>
      </p:sp>
      <p:sp>
        <p:nvSpPr>
          <p:cNvPr id="279571" name="Rectangle 19"/>
          <p:cNvSpPr>
            <a:spLocks noChangeArrowheads="1"/>
          </p:cNvSpPr>
          <p:nvPr/>
        </p:nvSpPr>
        <p:spPr bwMode="auto">
          <a:xfrm>
            <a:off x="3263900" y="4343400"/>
            <a:ext cx="609600" cy="6858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 anchor="ctr"/>
          <a:lstStyle/>
          <a:p>
            <a:r>
              <a:rPr lang="en-US" altLang="zh-CN" b="0">
                <a:cs typeface="Times New Roman" panose="02020603050405020304" pitchFamily="18" charset="0"/>
              </a:rPr>
              <a:t>×</a:t>
            </a:r>
            <a:endParaRPr lang="en-US" altLang="zh-CN" b="0"/>
          </a:p>
        </p:txBody>
      </p:sp>
      <p:sp>
        <p:nvSpPr>
          <p:cNvPr id="279572" name="Rectangle 20"/>
          <p:cNvSpPr>
            <a:spLocks noChangeArrowheads="1"/>
          </p:cNvSpPr>
          <p:nvPr/>
        </p:nvSpPr>
        <p:spPr bwMode="auto">
          <a:xfrm>
            <a:off x="3582988" y="4343400"/>
            <a:ext cx="533400" cy="6858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 anchor="ctr"/>
          <a:lstStyle/>
          <a:p>
            <a:r>
              <a:rPr lang="en-US" altLang="zh-CN" b="0"/>
              <a:t>4</a:t>
            </a:r>
            <a:endParaRPr lang="en-US" altLang="zh-CN" b="0"/>
          </a:p>
        </p:txBody>
      </p:sp>
      <p:sp>
        <p:nvSpPr>
          <p:cNvPr id="279573" name="Rectangle 21"/>
          <p:cNvSpPr>
            <a:spLocks noChangeArrowheads="1"/>
          </p:cNvSpPr>
          <p:nvPr/>
        </p:nvSpPr>
        <p:spPr bwMode="auto">
          <a:xfrm>
            <a:off x="3063875" y="4343400"/>
            <a:ext cx="457200" cy="6858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 anchor="ctr"/>
          <a:lstStyle/>
          <a:p>
            <a:r>
              <a:rPr lang="en-US" altLang="zh-CN" b="0"/>
              <a:t>3</a:t>
            </a:r>
            <a:endParaRPr lang="en-US" altLang="zh-CN" b="0"/>
          </a:p>
        </p:txBody>
      </p:sp>
      <p:sp>
        <p:nvSpPr>
          <p:cNvPr id="279574" name="Rectangle 22"/>
          <p:cNvSpPr>
            <a:spLocks noChangeArrowheads="1"/>
          </p:cNvSpPr>
          <p:nvPr/>
        </p:nvSpPr>
        <p:spPr bwMode="auto">
          <a:xfrm>
            <a:off x="2943225" y="4114800"/>
            <a:ext cx="1981200" cy="685800"/>
          </a:xfrm>
          <a:prstGeom prst="rect">
            <a:avLst/>
          </a:prstGeom>
          <a:solidFill>
            <a:schemeClr val="accent1"/>
          </a:solidFill>
          <a:ln w="9525">
            <a:noFill/>
            <a:miter lim="800000"/>
          </a:ln>
        </p:spPr>
        <p:txBody>
          <a:bodyPr wrap="none" anchor="ctr"/>
          <a:lstStyle/>
          <a:p>
            <a:endParaRPr lang="zh-CN" altLang="zh-CN" b="0"/>
          </a:p>
        </p:txBody>
      </p:sp>
      <p:sp>
        <p:nvSpPr>
          <p:cNvPr id="279575" name="Rectangle 23"/>
          <p:cNvSpPr>
            <a:spLocks noChangeArrowheads="1"/>
          </p:cNvSpPr>
          <p:nvPr/>
        </p:nvSpPr>
        <p:spPr bwMode="auto">
          <a:xfrm>
            <a:off x="7392144" y="1772816"/>
            <a:ext cx="371896" cy="525636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 anchor="ctr"/>
          <a:lstStyle/>
          <a:p>
            <a:pPr>
              <a:spcBef>
                <a:spcPct val="20000"/>
              </a:spcBef>
            </a:pPr>
            <a:r>
              <a:rPr lang="en-US" altLang="zh-CN" sz="1400" b="0" dirty="0">
                <a:solidFill>
                  <a:srgbClr val="FF0000"/>
                </a:solidFill>
              </a:rPr>
              <a:t>12</a:t>
            </a:r>
            <a:endParaRPr lang="en-US" altLang="zh-CN" sz="1400" b="0" dirty="0">
              <a:solidFill>
                <a:srgbClr val="FF0000"/>
              </a:solidFill>
            </a:endParaRPr>
          </a:p>
        </p:txBody>
      </p:sp>
      <p:sp>
        <p:nvSpPr>
          <p:cNvPr id="279576" name="Rectangle 24"/>
          <p:cNvSpPr>
            <a:spLocks noChangeArrowheads="1"/>
          </p:cNvSpPr>
          <p:nvPr/>
        </p:nvSpPr>
        <p:spPr bwMode="auto">
          <a:xfrm>
            <a:off x="2911475" y="4343400"/>
            <a:ext cx="457200" cy="4572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 anchor="ctr"/>
          <a:lstStyle/>
          <a:p>
            <a:pPr>
              <a:spcBef>
                <a:spcPct val="20000"/>
              </a:spcBef>
            </a:pPr>
            <a:r>
              <a:rPr lang="en-US" altLang="zh-CN" b="0"/>
              <a:t>5</a:t>
            </a:r>
            <a:endParaRPr lang="en-US" altLang="zh-CN" b="0"/>
          </a:p>
        </p:txBody>
      </p:sp>
      <p:sp>
        <p:nvSpPr>
          <p:cNvPr id="279577" name="Rectangle 25"/>
          <p:cNvSpPr>
            <a:spLocks noChangeArrowheads="1"/>
          </p:cNvSpPr>
          <p:nvPr/>
        </p:nvSpPr>
        <p:spPr bwMode="auto">
          <a:xfrm>
            <a:off x="3597275" y="4343400"/>
            <a:ext cx="457200" cy="4572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 anchor="ctr"/>
          <a:lstStyle/>
          <a:p>
            <a:pPr>
              <a:spcBef>
                <a:spcPct val="20000"/>
              </a:spcBef>
            </a:pPr>
            <a:r>
              <a:rPr lang="en-US" altLang="zh-CN" b="0"/>
              <a:t>7</a:t>
            </a:r>
            <a:endParaRPr lang="en-US" altLang="zh-CN" b="0"/>
          </a:p>
        </p:txBody>
      </p:sp>
      <p:sp>
        <p:nvSpPr>
          <p:cNvPr id="279578" name="Rectangle 26"/>
          <p:cNvSpPr>
            <a:spLocks noChangeArrowheads="1"/>
          </p:cNvSpPr>
          <p:nvPr/>
        </p:nvSpPr>
        <p:spPr bwMode="auto">
          <a:xfrm>
            <a:off x="3240088" y="4343400"/>
            <a:ext cx="457200" cy="4572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 anchor="ctr"/>
          <a:lstStyle/>
          <a:p>
            <a:pPr>
              <a:spcBef>
                <a:spcPct val="20000"/>
              </a:spcBef>
            </a:pPr>
            <a:r>
              <a:rPr lang="en-US" altLang="zh-CN" b="0">
                <a:cs typeface="Times New Roman" panose="02020603050405020304" pitchFamily="18" charset="0"/>
              </a:rPr>
              <a:t>×</a:t>
            </a:r>
            <a:endParaRPr lang="en-US" altLang="zh-CN" b="0"/>
          </a:p>
        </p:txBody>
      </p:sp>
      <p:sp>
        <p:nvSpPr>
          <p:cNvPr id="279579" name="Rectangle 27"/>
          <p:cNvSpPr>
            <a:spLocks noChangeArrowheads="1"/>
          </p:cNvSpPr>
          <p:nvPr/>
        </p:nvSpPr>
        <p:spPr bwMode="auto">
          <a:xfrm>
            <a:off x="3978275" y="4343400"/>
            <a:ext cx="838200" cy="4572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 anchor="ctr"/>
          <a:lstStyle/>
          <a:p>
            <a:pPr>
              <a:spcBef>
                <a:spcPct val="20000"/>
              </a:spcBef>
            </a:pPr>
            <a:r>
              <a:rPr lang="en-US" altLang="zh-CN" b="0"/>
              <a:t>=  35</a:t>
            </a:r>
            <a:endParaRPr lang="en-US" altLang="zh-CN" b="0"/>
          </a:p>
        </p:txBody>
      </p:sp>
      <p:sp>
        <p:nvSpPr>
          <p:cNvPr id="279580" name="Rectangle 28"/>
          <p:cNvSpPr>
            <a:spLocks noChangeArrowheads="1"/>
          </p:cNvSpPr>
          <p:nvPr/>
        </p:nvSpPr>
        <p:spPr bwMode="auto">
          <a:xfrm>
            <a:off x="2971800" y="4114800"/>
            <a:ext cx="1981200" cy="685800"/>
          </a:xfrm>
          <a:prstGeom prst="rect">
            <a:avLst/>
          </a:prstGeom>
          <a:solidFill>
            <a:schemeClr val="accent1"/>
          </a:solidFill>
          <a:ln w="9525">
            <a:noFill/>
            <a:miter lim="800000"/>
          </a:ln>
        </p:spPr>
        <p:txBody>
          <a:bodyPr wrap="none" anchor="ctr"/>
          <a:lstStyle/>
          <a:p>
            <a:endParaRPr lang="zh-CN" altLang="zh-CN" b="0"/>
          </a:p>
        </p:txBody>
      </p:sp>
      <p:sp>
        <p:nvSpPr>
          <p:cNvPr id="279581" name="Rectangle 29"/>
          <p:cNvSpPr>
            <a:spLocks noChangeArrowheads="1"/>
          </p:cNvSpPr>
          <p:nvPr/>
        </p:nvSpPr>
        <p:spPr bwMode="auto">
          <a:xfrm>
            <a:off x="7896200" y="1819672"/>
            <a:ext cx="457200" cy="4572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 anchor="ctr"/>
          <a:lstStyle/>
          <a:p>
            <a:pPr>
              <a:spcBef>
                <a:spcPct val="20000"/>
              </a:spcBef>
            </a:pPr>
            <a:r>
              <a:rPr lang="en-US" altLang="zh-CN" sz="1400" b="0" dirty="0">
                <a:solidFill>
                  <a:srgbClr val="FF0000"/>
                </a:solidFill>
              </a:rPr>
              <a:t>35</a:t>
            </a:r>
            <a:endParaRPr lang="en-US" altLang="zh-CN" sz="1400" b="0" dirty="0">
              <a:solidFill>
                <a:srgbClr val="FF0000"/>
              </a:solidFill>
            </a:endParaRPr>
          </a:p>
        </p:txBody>
      </p:sp>
      <p:sp>
        <p:nvSpPr>
          <p:cNvPr id="279582" name="Rectangle 30"/>
          <p:cNvSpPr>
            <a:spLocks noChangeArrowheads="1"/>
          </p:cNvSpPr>
          <p:nvPr/>
        </p:nvSpPr>
        <p:spPr bwMode="auto">
          <a:xfrm>
            <a:off x="2987675" y="4419600"/>
            <a:ext cx="457200" cy="4572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 anchor="ctr"/>
          <a:lstStyle/>
          <a:p>
            <a:pPr>
              <a:spcBef>
                <a:spcPct val="20000"/>
              </a:spcBef>
            </a:pPr>
            <a:r>
              <a:rPr lang="en-US" altLang="zh-CN" b="0"/>
              <a:t>12</a:t>
            </a:r>
            <a:endParaRPr lang="en-US" altLang="zh-CN" b="0"/>
          </a:p>
        </p:txBody>
      </p:sp>
      <p:sp>
        <p:nvSpPr>
          <p:cNvPr id="279583" name="Rectangle 31"/>
          <p:cNvSpPr>
            <a:spLocks noChangeArrowheads="1"/>
          </p:cNvSpPr>
          <p:nvPr/>
        </p:nvSpPr>
        <p:spPr bwMode="auto">
          <a:xfrm>
            <a:off x="3749675" y="4411663"/>
            <a:ext cx="457200" cy="4572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 anchor="ctr"/>
          <a:lstStyle/>
          <a:p>
            <a:pPr>
              <a:spcBef>
                <a:spcPct val="20000"/>
              </a:spcBef>
            </a:pPr>
            <a:r>
              <a:rPr lang="en-US" altLang="zh-CN" b="0"/>
              <a:t>35</a:t>
            </a:r>
            <a:endParaRPr lang="en-US" altLang="zh-CN" b="0"/>
          </a:p>
        </p:txBody>
      </p:sp>
      <p:sp>
        <p:nvSpPr>
          <p:cNvPr id="279584" name="Rectangle 32"/>
          <p:cNvSpPr>
            <a:spLocks noChangeArrowheads="1"/>
          </p:cNvSpPr>
          <p:nvPr/>
        </p:nvSpPr>
        <p:spPr bwMode="auto">
          <a:xfrm>
            <a:off x="3368675" y="4419600"/>
            <a:ext cx="457200" cy="4572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 anchor="ctr"/>
          <a:lstStyle/>
          <a:p>
            <a:pPr>
              <a:spcBef>
                <a:spcPct val="20000"/>
              </a:spcBef>
            </a:pPr>
            <a:r>
              <a:rPr lang="en-US" altLang="zh-CN" b="0"/>
              <a:t>+</a:t>
            </a:r>
            <a:endParaRPr lang="en-US" altLang="zh-CN" b="0"/>
          </a:p>
        </p:txBody>
      </p:sp>
      <p:sp>
        <p:nvSpPr>
          <p:cNvPr id="279585" name="Rectangle 33"/>
          <p:cNvSpPr>
            <a:spLocks noChangeArrowheads="1"/>
          </p:cNvSpPr>
          <p:nvPr/>
        </p:nvSpPr>
        <p:spPr bwMode="auto">
          <a:xfrm>
            <a:off x="4235450" y="4411663"/>
            <a:ext cx="701675" cy="4572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 anchor="ctr"/>
          <a:lstStyle/>
          <a:p>
            <a:pPr>
              <a:spcBef>
                <a:spcPct val="20000"/>
              </a:spcBef>
            </a:pPr>
            <a:r>
              <a:rPr lang="en-US" altLang="zh-CN" b="0"/>
              <a:t>=  47</a:t>
            </a:r>
            <a:endParaRPr lang="en-US" altLang="zh-CN" b="0"/>
          </a:p>
        </p:txBody>
      </p:sp>
      <p:sp>
        <p:nvSpPr>
          <p:cNvPr id="279586" name="Rectangle 34"/>
          <p:cNvSpPr>
            <a:spLocks noChangeArrowheads="1"/>
          </p:cNvSpPr>
          <p:nvPr/>
        </p:nvSpPr>
        <p:spPr bwMode="auto">
          <a:xfrm>
            <a:off x="8472264" y="1819672"/>
            <a:ext cx="457200" cy="4572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 anchor="ctr"/>
          <a:lstStyle/>
          <a:p>
            <a:pPr>
              <a:spcBef>
                <a:spcPct val="20000"/>
              </a:spcBef>
            </a:pPr>
            <a:r>
              <a:rPr lang="en-US" altLang="zh-CN" sz="1400" b="0" dirty="0">
                <a:solidFill>
                  <a:srgbClr val="FF0000"/>
                </a:solidFill>
              </a:rPr>
              <a:t>47</a:t>
            </a:r>
            <a:endParaRPr lang="en-US" altLang="zh-CN" sz="1400" b="0" dirty="0">
              <a:solidFill>
                <a:srgbClr val="FF0000"/>
              </a:solidFill>
            </a:endParaRPr>
          </a:p>
        </p:txBody>
      </p:sp>
      <p:sp>
        <p:nvSpPr>
          <p:cNvPr id="18468" name="Text Box 35"/>
          <p:cNvSpPr txBox="1">
            <a:spLocks noChangeArrowheads="1"/>
          </p:cNvSpPr>
          <p:nvPr/>
        </p:nvSpPr>
        <p:spPr bwMode="auto">
          <a:xfrm>
            <a:off x="3444875" y="1346200"/>
            <a:ext cx="1143000" cy="41084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 algn="l">
              <a:spcBef>
                <a:spcPct val="50000"/>
              </a:spcBef>
            </a:pPr>
            <a:r>
              <a:rPr lang="en-US" altLang="zh-CN" sz="3200" b="0"/>
              <a:t>CPU</a:t>
            </a:r>
            <a:endParaRPr lang="en-US" altLang="zh-CN" sz="3200" b="0"/>
          </a:p>
        </p:txBody>
      </p:sp>
      <p:sp>
        <p:nvSpPr>
          <p:cNvPr id="18469" name="Text Box 36"/>
          <p:cNvSpPr txBox="1">
            <a:spLocks noChangeArrowheads="1"/>
          </p:cNvSpPr>
          <p:nvPr/>
        </p:nvSpPr>
        <p:spPr bwMode="auto">
          <a:xfrm>
            <a:off x="7456488" y="777875"/>
            <a:ext cx="1219200" cy="41084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 algn="l">
              <a:spcBef>
                <a:spcPct val="50000"/>
              </a:spcBef>
            </a:pPr>
            <a:r>
              <a:rPr lang="zh-CN" altLang="en-US" sz="3200" b="0"/>
              <a:t>内 存</a:t>
            </a:r>
            <a:endParaRPr lang="zh-CN" altLang="en-US" sz="3200" b="0"/>
          </a:p>
        </p:txBody>
      </p:sp>
      <p:pic>
        <p:nvPicPr>
          <p:cNvPr id="279589" name="Picture 37" descr="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528048" y="2326300"/>
            <a:ext cx="523875" cy="285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79590" name="Picture 38" descr="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529635" y="2578713"/>
            <a:ext cx="523875" cy="285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79591" name="Picture 39" descr="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532810" y="2824775"/>
            <a:ext cx="523875" cy="285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79592" name="Picture 40" descr="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528048" y="3069250"/>
            <a:ext cx="523875" cy="285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79593" name="Picture 41" descr="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529635" y="3321663"/>
            <a:ext cx="523875" cy="285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79594" name="Picture 42" descr="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532810" y="3567725"/>
            <a:ext cx="523875" cy="285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79595" name="Picture 43" descr="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528048" y="3831250"/>
            <a:ext cx="523875" cy="285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79596" name="Picture 44" descr="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529635" y="4091600"/>
            <a:ext cx="523875" cy="285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79597" name="Picture 45" descr="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532810" y="4337663"/>
            <a:ext cx="523875" cy="285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79598" name="Picture 46" descr="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528048" y="4590075"/>
            <a:ext cx="523875" cy="285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79599" name="Picture 47" descr="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529635" y="4858363"/>
            <a:ext cx="523875" cy="285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79600" name="Picture 48" descr="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532810" y="5120300"/>
            <a:ext cx="523875" cy="285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79601" name="Text Box 49"/>
          <p:cNvSpPr txBox="1">
            <a:spLocks noChangeArrowheads="1"/>
          </p:cNvSpPr>
          <p:nvPr/>
        </p:nvSpPr>
        <p:spPr bwMode="auto">
          <a:xfrm>
            <a:off x="1722438" y="5873750"/>
            <a:ext cx="5045075" cy="49149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 algn="l"/>
            <a:r>
              <a:rPr lang="zh-CN" altLang="en-US" sz="2000">
                <a:solidFill>
                  <a:srgbClr val="FF0000"/>
                </a:solidFill>
                <a:ea typeface="方正舒体" panose="02010601030101010101" pitchFamily="2" charset="-122"/>
              </a:rPr>
              <a:t>冯诺亿曼结构：数据和程序都在存储器中，</a:t>
            </a:r>
            <a:r>
              <a:rPr lang="en-US" altLang="zh-CN" sz="2000">
                <a:solidFill>
                  <a:srgbClr val="FF0000"/>
                </a:solidFill>
                <a:ea typeface="方正舒体" panose="02010601030101010101" pitchFamily="2" charset="-122"/>
              </a:rPr>
              <a:t>CPU</a:t>
            </a:r>
            <a:r>
              <a:rPr lang="zh-CN" altLang="en-US" sz="2000">
                <a:solidFill>
                  <a:srgbClr val="FF0000"/>
                </a:solidFill>
                <a:ea typeface="方正舒体" panose="02010601030101010101" pitchFamily="2" charset="-122"/>
              </a:rPr>
              <a:t>从内存中取指令和数据进行运算并把结果也放到内存中</a:t>
            </a:r>
            <a:endParaRPr lang="zh-CN" altLang="en-US" sz="2000">
              <a:solidFill>
                <a:srgbClr val="FF0000"/>
              </a:solidFill>
              <a:ea typeface="方正舒体" panose="02010601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95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95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95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27958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27958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795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3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95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2795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2795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95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95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7959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7959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795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3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95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2795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2795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95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95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27959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27959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795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" presetClass="entr" presetSubtype="3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95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2795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2795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95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95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95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27959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27959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795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" presetClass="entr" presetSubtype="3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95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2795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2795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95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95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95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500" fill="hold"/>
                                        <p:tgtEl>
                                          <p:spTgt spid="27959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8" dur="500" fill="hold"/>
                                        <p:tgtEl>
                                          <p:spTgt spid="27959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795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2" presetClass="entr" presetSubtype="3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95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3" dur="500" fill="hold"/>
                                        <p:tgtEl>
                                          <p:spTgt spid="2795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4" dur="500" fill="hold"/>
                                        <p:tgtEl>
                                          <p:spTgt spid="2795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95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95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3" dur="500" fill="hold"/>
                                        <p:tgtEl>
                                          <p:spTgt spid="27959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4" dur="500" fill="hold"/>
                                        <p:tgtEl>
                                          <p:spTgt spid="27959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795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2" presetClass="entr" presetSubtype="3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95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9" dur="500" fill="hold"/>
                                        <p:tgtEl>
                                          <p:spTgt spid="27956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0" dur="500" fill="hold"/>
                                        <p:tgtEl>
                                          <p:spTgt spid="2795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95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>
                      <p:stCondLst>
                        <p:cond delay="indefinite"/>
                      </p:stCondLst>
                      <p:childTnLst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1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95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9" dur="500" fill="hold"/>
                                        <p:tgtEl>
                                          <p:spTgt spid="27959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0" dur="500" fill="hold"/>
                                        <p:tgtEl>
                                          <p:spTgt spid="27959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795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1" fill="hold">
                      <p:stCondLst>
                        <p:cond delay="indefinite"/>
                      </p:stCondLst>
                      <p:childTnLst>
                        <p:par>
                          <p:cTn id="122" fill="hold">
                            <p:stCondLst>
                              <p:cond delay="0"/>
                            </p:stCondLst>
                            <p:childTnLst>
                              <p:par>
                                <p:cTn id="123" presetID="2" presetClass="entr" presetSubtype="3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95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5" dur="500" fill="hold"/>
                                        <p:tgtEl>
                                          <p:spTgt spid="2795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6" dur="500" fill="hold"/>
                                        <p:tgtEl>
                                          <p:spTgt spid="2795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7" fill="hold">
                      <p:stCondLst>
                        <p:cond delay="indefinite"/>
                      </p:stCondLst>
                      <p:childTnLst>
                        <p:par>
                          <p:cTn id="128" fill="hold">
                            <p:stCondLst>
                              <p:cond delay="0"/>
                            </p:stCondLst>
                            <p:childTnLst>
                              <p:par>
                                <p:cTn id="1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95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1" fill="hold">
                      <p:stCondLst>
                        <p:cond delay="indefinite"/>
                      </p:stCondLst>
                      <p:childTnLst>
                        <p:par>
                          <p:cTn id="132" fill="hold">
                            <p:stCondLst>
                              <p:cond delay="0"/>
                            </p:stCondLst>
                            <p:childTnLst>
                              <p:par>
                                <p:cTn id="1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95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5" fill="hold">
                      <p:stCondLst>
                        <p:cond delay="indefinite"/>
                      </p:stCondLst>
                      <p:childTnLst>
                        <p:par>
                          <p:cTn id="136" fill="hold">
                            <p:stCondLst>
                              <p:cond delay="0"/>
                            </p:stCondLst>
                            <p:childTnLst>
                              <p:par>
                                <p:cTn id="13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95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9" dur="500" fill="hold"/>
                                        <p:tgtEl>
                                          <p:spTgt spid="27959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0" dur="500" fill="hold"/>
                                        <p:tgtEl>
                                          <p:spTgt spid="27959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795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1" fill="hold">
                      <p:stCondLst>
                        <p:cond delay="indefinite"/>
                      </p:stCondLst>
                      <p:childTnLst>
                        <p:par>
                          <p:cTn id="142" fill="hold">
                            <p:stCondLst>
                              <p:cond delay="0"/>
                            </p:stCondLst>
                            <p:childTnLst>
                              <p:par>
                                <p:cTn id="143" presetID="2" presetClass="entr" presetSubtype="3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95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5" dur="500" fill="hold"/>
                                        <p:tgtEl>
                                          <p:spTgt spid="2795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6" dur="500" fill="hold"/>
                                        <p:tgtEl>
                                          <p:spTgt spid="2795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7" fill="hold">
                      <p:stCondLst>
                        <p:cond delay="indefinite"/>
                      </p:stCondLst>
                      <p:childTnLst>
                        <p:par>
                          <p:cTn id="148" fill="hold">
                            <p:stCondLst>
                              <p:cond delay="0"/>
                            </p:stCondLst>
                            <p:childTnLst>
                              <p:par>
                                <p:cTn id="1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95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1" fill="hold">
                      <p:stCondLst>
                        <p:cond delay="indefinite"/>
                      </p:stCondLst>
                      <p:childTnLst>
                        <p:par>
                          <p:cTn id="152" fill="hold">
                            <p:stCondLst>
                              <p:cond delay="0"/>
                            </p:stCondLst>
                            <p:childTnLst>
                              <p:par>
                                <p:cTn id="1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95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5" fill="hold">
                      <p:stCondLst>
                        <p:cond delay="indefinite"/>
                      </p:stCondLst>
                      <p:childTnLst>
                        <p:par>
                          <p:cTn id="156" fill="hold">
                            <p:stCondLst>
                              <p:cond delay="0"/>
                            </p:stCondLst>
                            <p:childTnLst>
                              <p:par>
                                <p:cTn id="15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95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9" dur="500" fill="hold"/>
                                        <p:tgtEl>
                                          <p:spTgt spid="27959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0" dur="500" fill="hold"/>
                                        <p:tgtEl>
                                          <p:spTgt spid="27959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795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1" fill="hold">
                      <p:stCondLst>
                        <p:cond delay="indefinite"/>
                      </p:stCondLst>
                      <p:childTnLst>
                        <p:par>
                          <p:cTn id="162" fill="hold">
                            <p:stCondLst>
                              <p:cond delay="0"/>
                            </p:stCondLst>
                            <p:childTnLst>
                              <p:par>
                                <p:cTn id="163" presetID="2" presetClass="entr" presetSubtype="3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95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5" dur="500" fill="hold"/>
                                        <p:tgtEl>
                                          <p:spTgt spid="2795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6" dur="500" fill="hold"/>
                                        <p:tgtEl>
                                          <p:spTgt spid="2795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7" fill="hold">
                      <p:stCondLst>
                        <p:cond delay="indefinite"/>
                      </p:stCondLst>
                      <p:childTnLst>
                        <p:par>
                          <p:cTn id="168" fill="hold">
                            <p:stCondLst>
                              <p:cond delay="0"/>
                            </p:stCondLst>
                            <p:childTnLst>
                              <p:par>
                                <p:cTn id="1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95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1" fill="hold">
                      <p:stCondLst>
                        <p:cond delay="indefinite"/>
                      </p:stCondLst>
                      <p:childTnLst>
                        <p:par>
                          <p:cTn id="172" fill="hold">
                            <p:stCondLst>
                              <p:cond delay="0"/>
                            </p:stCondLst>
                            <p:childTnLst>
                              <p:par>
                                <p:cTn id="17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95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5" dur="500" fill="hold"/>
                                        <p:tgtEl>
                                          <p:spTgt spid="27959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6" dur="500" fill="hold"/>
                                        <p:tgtEl>
                                          <p:spTgt spid="27959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795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7" fill="hold">
                      <p:stCondLst>
                        <p:cond delay="indefinite"/>
                      </p:stCondLst>
                      <p:childTnLst>
                        <p:par>
                          <p:cTn id="178" fill="hold">
                            <p:stCondLst>
                              <p:cond delay="0"/>
                            </p:stCondLst>
                            <p:childTnLst>
                              <p:par>
                                <p:cTn id="179" presetID="2" presetClass="entr" presetSubtype="3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95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1" dur="500" fill="hold"/>
                                        <p:tgtEl>
                                          <p:spTgt spid="2795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2" dur="500" fill="hold"/>
                                        <p:tgtEl>
                                          <p:spTgt spid="2795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3" fill="hold">
                      <p:stCondLst>
                        <p:cond delay="indefinite"/>
                      </p:stCondLst>
                      <p:childTnLst>
                        <p:par>
                          <p:cTn id="184" fill="hold">
                            <p:stCondLst>
                              <p:cond delay="0"/>
                            </p:stCondLst>
                            <p:childTnLst>
                              <p:par>
                                <p:cTn id="18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95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7" fill="hold">
                      <p:stCondLst>
                        <p:cond delay="indefinite"/>
                      </p:stCondLst>
                      <p:childTnLst>
                        <p:par>
                          <p:cTn id="188" fill="hold">
                            <p:stCondLst>
                              <p:cond delay="0"/>
                            </p:stCondLst>
                            <p:childTnLst>
                              <p:par>
                                <p:cTn id="18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95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1" dur="500" fill="hold"/>
                                        <p:tgtEl>
                                          <p:spTgt spid="27959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2" dur="500" fill="hold"/>
                                        <p:tgtEl>
                                          <p:spTgt spid="27959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795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3" fill="hold">
                      <p:stCondLst>
                        <p:cond delay="indefinite"/>
                      </p:stCondLst>
                      <p:childTnLst>
                        <p:par>
                          <p:cTn id="194" fill="hold">
                            <p:stCondLst>
                              <p:cond delay="0"/>
                            </p:stCondLst>
                            <p:childTnLst>
                              <p:par>
                                <p:cTn id="195" presetID="2" presetClass="entr" presetSubtype="3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95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7" dur="500" fill="hold"/>
                                        <p:tgtEl>
                                          <p:spTgt spid="27956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8" dur="500" fill="hold"/>
                                        <p:tgtEl>
                                          <p:spTgt spid="2795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9" fill="hold">
                      <p:stCondLst>
                        <p:cond delay="indefinite"/>
                      </p:stCondLst>
                      <p:childTnLst>
                        <p:par>
                          <p:cTn id="200" fill="hold">
                            <p:stCondLst>
                              <p:cond delay="0"/>
                            </p:stCondLst>
                            <p:childTnLst>
                              <p:par>
                                <p:cTn id="20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95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3" fill="hold">
                      <p:stCondLst>
                        <p:cond delay="indefinite"/>
                      </p:stCondLst>
                      <p:childTnLst>
                        <p:par>
                          <p:cTn id="204" fill="hold">
                            <p:stCondLst>
                              <p:cond delay="0"/>
                            </p:stCondLst>
                            <p:childTnLst>
                              <p:par>
                                <p:cTn id="20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95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7" fill="hold">
                      <p:stCondLst>
                        <p:cond delay="indefinite"/>
                      </p:stCondLst>
                      <p:childTnLst>
                        <p:par>
                          <p:cTn id="208" fill="hold">
                            <p:stCondLst>
                              <p:cond delay="0"/>
                            </p:stCondLst>
                            <p:childTnLst>
                              <p:par>
                                <p:cTn id="20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96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1" dur="500" fill="hold"/>
                                        <p:tgtEl>
                                          <p:spTgt spid="27960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2" dur="500" fill="hold"/>
                                        <p:tgtEl>
                                          <p:spTgt spid="27960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796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3" fill="hold">
                      <p:stCondLst>
                        <p:cond delay="indefinite"/>
                      </p:stCondLst>
                      <p:childTnLst>
                        <p:par>
                          <p:cTn id="214" fill="hold">
                            <p:stCondLst>
                              <p:cond delay="0"/>
                            </p:stCondLst>
                            <p:childTnLst>
                              <p:par>
                                <p:cTn id="215" presetID="2" presetClass="entr" presetSubtype="3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95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7" dur="500" fill="hold"/>
                                        <p:tgtEl>
                                          <p:spTgt spid="2795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8" dur="500" fill="hold"/>
                                        <p:tgtEl>
                                          <p:spTgt spid="2795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9" fill="hold">
                      <p:stCondLst>
                        <p:cond delay="indefinite"/>
                      </p:stCondLst>
                      <p:childTnLst>
                        <p:par>
                          <p:cTn id="220" fill="hold">
                            <p:stCondLst>
                              <p:cond delay="0"/>
                            </p:stCondLst>
                            <p:childTnLst>
                              <p:par>
                                <p:cTn id="2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95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3" fill="hold">
                      <p:stCondLst>
                        <p:cond delay="indefinite"/>
                      </p:stCondLst>
                      <p:childTnLst>
                        <p:par>
                          <p:cTn id="224" fill="hold">
                            <p:stCondLst>
                              <p:cond delay="0"/>
                            </p:stCondLst>
                            <p:childTnLst>
                              <p:par>
                                <p:cTn id="22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96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7" dur="500" fill="hold"/>
                                        <p:tgtEl>
                                          <p:spTgt spid="27960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8" dur="500" fill="hold"/>
                                        <p:tgtEl>
                                          <p:spTgt spid="27960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9555" grpId="0" bldLvl="0" animBg="1" autoUpdateAnimBg="0"/>
      <p:bldP spid="279557" grpId="0" bldLvl="0" animBg="1" autoUpdateAnimBg="0"/>
      <p:bldP spid="279558" grpId="0" autoUpdateAnimBg="0"/>
      <p:bldP spid="279559" grpId="0" bldLvl="0" animBg="1" autoUpdateAnimBg="0"/>
      <p:bldP spid="279560" grpId="0" bldLvl="0" animBg="1" autoUpdateAnimBg="0"/>
      <p:bldP spid="279561" grpId="0" bldLvl="0" animBg="1" autoUpdateAnimBg="0"/>
      <p:bldP spid="279562" grpId="0" bldLvl="0" animBg="1" autoUpdateAnimBg="0"/>
      <p:bldP spid="279563" grpId="0" bldLvl="0" animBg="1" autoUpdateAnimBg="0"/>
      <p:bldP spid="279564" grpId="0" bldLvl="0" animBg="1" autoUpdateAnimBg="0"/>
      <p:bldP spid="279565" grpId="0" bldLvl="0" animBg="1" autoUpdateAnimBg="0"/>
      <p:bldP spid="279566" grpId="0" bldLvl="0" animBg="1" autoUpdateAnimBg="0"/>
      <p:bldP spid="279567" grpId="0" bldLvl="0" animBg="1" autoUpdateAnimBg="0"/>
      <p:bldP spid="279568" grpId="0" bldLvl="0" animBg="1" autoUpdateAnimBg="0"/>
      <p:bldP spid="279569" grpId="0" bldLvl="0" animBg="1" autoUpdateAnimBg="0"/>
      <p:bldP spid="279570" grpId="0" bldLvl="0" animBg="1" autoUpdateAnimBg="0"/>
      <p:bldP spid="279571" grpId="0" autoUpdateAnimBg="0"/>
      <p:bldP spid="279572" grpId="0" autoUpdateAnimBg="0"/>
      <p:bldP spid="279573" grpId="0" autoUpdateAnimBg="0"/>
      <p:bldP spid="279574" grpId="0" bldLvl="0" animBg="1" autoUpdateAnimBg="0"/>
      <p:bldP spid="279575" grpId="0" autoUpdateAnimBg="0"/>
      <p:bldP spid="279576" grpId="0" autoUpdateAnimBg="0"/>
      <p:bldP spid="279577" grpId="0" autoUpdateAnimBg="0"/>
      <p:bldP spid="279578" grpId="0" autoUpdateAnimBg="0"/>
      <p:bldP spid="279579" grpId="0" autoUpdateAnimBg="0"/>
      <p:bldP spid="279580" grpId="0" bldLvl="0" animBg="1" autoUpdateAnimBg="0"/>
      <p:bldP spid="279581" grpId="0" autoUpdateAnimBg="0"/>
      <p:bldP spid="279582" grpId="0" autoUpdateAnimBg="0"/>
      <p:bldP spid="279583" grpId="0" autoUpdateAnimBg="0"/>
      <p:bldP spid="279584" grpId="0" autoUpdateAnimBg="0"/>
      <p:bldP spid="279585" grpId="0" autoUpdateAnimBg="0"/>
      <p:bldP spid="279586" grpId="0" autoUpdateAnimBg="0"/>
      <p:bldP spid="279601" grpId="0" autoUpdateAnimBg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1</a:t>
            </a:r>
            <a:r>
              <a:rPr lang="zh-CN" altLang="en-US" dirty="0"/>
              <a:t>  运算中间结果</a:t>
            </a:r>
            <a:r>
              <a:rPr lang="en-US" altLang="zh-CN" dirty="0"/>
              <a:t>(12,35)</a:t>
            </a:r>
            <a:r>
              <a:rPr lang="zh-CN" altLang="en-US" dirty="0"/>
              <a:t>能不能在运算器里面存储</a:t>
            </a:r>
            <a:r>
              <a:rPr lang="en-US" altLang="zh-CN" dirty="0"/>
              <a:t>?</a:t>
            </a:r>
            <a:endParaRPr lang="en-US" altLang="zh-CN" dirty="0"/>
          </a:p>
          <a:p>
            <a:endParaRPr lang="en-US" altLang="zh-CN" dirty="0"/>
          </a:p>
          <a:p>
            <a:r>
              <a:rPr lang="en-US" altLang="zh-CN" dirty="0"/>
              <a:t>2</a:t>
            </a:r>
            <a:r>
              <a:rPr lang="zh-CN" altLang="en-US" dirty="0"/>
              <a:t> 运算器能不能做成支持</a:t>
            </a:r>
            <a:r>
              <a:rPr lang="en-US" altLang="zh-CN" dirty="0"/>
              <a:t>3</a:t>
            </a:r>
            <a:r>
              <a:rPr lang="zh-CN" altLang="en-US" dirty="0"/>
              <a:t>个操作数同时运算</a:t>
            </a:r>
            <a:r>
              <a:rPr lang="en-US" altLang="zh-CN" dirty="0"/>
              <a:t>?</a:t>
            </a:r>
            <a:endParaRPr lang="en-US" altLang="zh-CN" dirty="0"/>
          </a:p>
          <a:p>
            <a:endParaRPr lang="en-US" altLang="zh-CN" dirty="0"/>
          </a:p>
          <a:p>
            <a:r>
              <a:rPr lang="en-US" altLang="zh-CN" dirty="0"/>
              <a:t>3</a:t>
            </a:r>
            <a:r>
              <a:rPr lang="zh-CN" altLang="en-US" dirty="0"/>
              <a:t> 内存掉电数据就丢失了？内存的运算数据怎么来的？</a:t>
            </a:r>
            <a:endParaRPr lang="en-US" altLang="zh-CN" dirty="0"/>
          </a:p>
          <a:p>
            <a:endParaRPr lang="en-US" altLang="zh-CN" dirty="0"/>
          </a:p>
          <a:p>
            <a:endParaRPr lang="zh-CN" altLang="en-US" dirty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思考</a:t>
            </a:r>
            <a:endParaRPr lang="zh-CN" altLang="en-US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7" name="灯片编号占位符 2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/>
          <a:p>
            <a:r>
              <a:rPr lang="en-US" altLang="zh-CN"/>
              <a:t>4-</a:t>
            </a:r>
            <a:fld id="{C4C7A179-7026-4BD9-BA95-0068CDEB5B57}" type="slidenum">
              <a:rPr lang="en-US" altLang="zh-CN"/>
            </a:fld>
            <a:endParaRPr lang="en-US" altLang="zh-CN"/>
          </a:p>
        </p:txBody>
      </p:sp>
      <p:sp>
        <p:nvSpPr>
          <p:cNvPr id="1028" name="Rectangle 2"/>
          <p:cNvSpPr>
            <a:spLocks noGrp="1" noChangeArrowheads="1"/>
          </p:cNvSpPr>
          <p:nvPr>
            <p:ph type="title"/>
          </p:nvPr>
        </p:nvSpPr>
        <p:spPr>
          <a:xfrm>
            <a:off x="2063552" y="188640"/>
            <a:ext cx="8229600" cy="1143000"/>
          </a:xfrm>
        </p:spPr>
        <p:txBody>
          <a:bodyPr/>
          <a:lstStyle/>
          <a:p>
            <a:r>
              <a:rPr lang="zh-CN" altLang="en-US" dirty="0">
                <a:solidFill>
                  <a:schemeClr val="bg1"/>
                </a:solidFill>
              </a:rPr>
              <a:t>冯</a:t>
            </a:r>
            <a:r>
              <a:rPr lang="en-US" altLang="zh-CN" dirty="0">
                <a:solidFill>
                  <a:schemeClr val="bg1"/>
                </a:solidFill>
              </a:rPr>
              <a:t>.</a:t>
            </a:r>
            <a:r>
              <a:rPr lang="zh-CN" altLang="en-US" dirty="0">
                <a:solidFill>
                  <a:schemeClr val="bg1"/>
                </a:solidFill>
              </a:rPr>
              <a:t>诺伊曼模型</a:t>
            </a:r>
            <a:endParaRPr lang="zh-CN" altLang="en-US" dirty="0">
              <a:solidFill>
                <a:schemeClr val="bg1"/>
              </a:solidFill>
            </a:endParaRPr>
          </a:p>
        </p:txBody>
      </p:sp>
      <p:graphicFrame>
        <p:nvGraphicFramePr>
          <p:cNvPr id="1026" name="Object 14"/>
          <p:cNvGraphicFramePr>
            <a:graphicFrameLocks noChangeAspect="1"/>
          </p:cNvGraphicFramePr>
          <p:nvPr/>
        </p:nvGraphicFramePr>
        <p:xfrm>
          <a:off x="2716213" y="1219200"/>
          <a:ext cx="6759575" cy="47418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85381" name="CorelDRAW" r:id="rId1" imgW="5748655" imgH="4032250" progId="">
                  <p:embed/>
                </p:oleObj>
              </mc:Choice>
              <mc:Fallback>
                <p:oleObj name="CorelDRAW" r:id="rId1" imgW="5748655" imgH="4032250" progId="">
                  <p:embed/>
                  <p:pic>
                    <p:nvPicPr>
                      <p:cNvPr id="0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16213" y="1219200"/>
                        <a:ext cx="6759575" cy="47418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灯片编号占位符 3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/>
          <a:p>
            <a:r>
              <a:rPr lang="en-US" altLang="zh-CN"/>
              <a:t>4-</a:t>
            </a:r>
            <a:fld id="{A5582EE8-63EC-4402-A2EC-7EA636E0E170}" type="slidenum">
              <a:rPr lang="en-US" altLang="zh-CN"/>
            </a:fld>
            <a:endParaRPr lang="en-US" altLang="zh-CN"/>
          </a:p>
        </p:txBody>
      </p:sp>
      <p:sp>
        <p:nvSpPr>
          <p:cNvPr id="1024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ea typeface="宋体" panose="02010600030101010101" pitchFamily="2" charset="-122"/>
              </a:rPr>
              <a:t>内存</a:t>
            </a:r>
            <a:endParaRPr lang="en-US" altLang="zh-CN" dirty="0">
              <a:ea typeface="宋体" panose="02010600030101010101" pitchFamily="2" charset="-122"/>
            </a:endParaRPr>
          </a:p>
        </p:txBody>
      </p:sp>
      <p:sp>
        <p:nvSpPr>
          <p:cNvPr id="10244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 fontScale="62500"/>
          </a:bodyPr>
          <a:lstStyle/>
          <a:p>
            <a:r>
              <a:rPr lang="zh-CN" altLang="en-US" i="1" dirty="0">
                <a:ea typeface="宋体" panose="02010600030101010101" pitchFamily="2" charset="-122"/>
              </a:rPr>
              <a:t>基于门电路和锁存器</a:t>
            </a:r>
            <a:r>
              <a:rPr lang="en-US" altLang="zh-CN" i="1" dirty="0">
                <a:ea typeface="宋体" panose="02010600030101010101" pitchFamily="2" charset="-122"/>
              </a:rPr>
              <a:t>2</a:t>
            </a:r>
            <a:r>
              <a:rPr lang="en-US" altLang="zh-CN" i="1" baseline="30000" dirty="0">
                <a:ea typeface="宋体" panose="02010600030101010101" pitchFamily="2" charset="-122"/>
              </a:rPr>
              <a:t>k</a:t>
            </a:r>
            <a:r>
              <a:rPr lang="en-US" altLang="zh-CN" dirty="0">
                <a:ea typeface="宋体" panose="02010600030101010101" pitchFamily="2" charset="-122"/>
              </a:rPr>
              <a:t> x </a:t>
            </a:r>
            <a:r>
              <a:rPr lang="en-US" altLang="zh-CN" i="1" dirty="0">
                <a:ea typeface="宋体" panose="02010600030101010101" pitchFamily="2" charset="-122"/>
              </a:rPr>
              <a:t>m</a:t>
            </a:r>
            <a:r>
              <a:rPr lang="zh-CN" altLang="en-US" dirty="0">
                <a:ea typeface="宋体" panose="02010600030101010101" pitchFamily="2" charset="-122"/>
              </a:rPr>
              <a:t>的位存储阵列。</a:t>
            </a:r>
            <a:endParaRPr lang="en-US" altLang="zh-CN" dirty="0">
              <a:ea typeface="宋体" panose="02010600030101010101" pitchFamily="2" charset="-122"/>
            </a:endParaRPr>
          </a:p>
          <a:p>
            <a:pPr>
              <a:buNone/>
            </a:pPr>
            <a:r>
              <a:rPr lang="en-US" altLang="zh-CN" i="1" dirty="0">
                <a:ea typeface="宋体" panose="02010600030101010101" pitchFamily="2" charset="-122"/>
              </a:rPr>
              <a:t>   </a:t>
            </a:r>
            <a:r>
              <a:rPr lang="zh-CN" altLang="en-US" i="1" dirty="0">
                <a:ea typeface="宋体" panose="02010600030101010101" pitchFamily="2" charset="-122"/>
              </a:rPr>
              <a:t>寻址空间：</a:t>
            </a:r>
            <a:r>
              <a:rPr lang="en-US" altLang="zh-CN" i="1" dirty="0">
                <a:ea typeface="宋体" panose="02010600030101010101" pitchFamily="2" charset="-122"/>
              </a:rPr>
              <a:t>2</a:t>
            </a:r>
            <a:r>
              <a:rPr lang="en-US" altLang="zh-CN" i="1" baseline="30000" dirty="0">
                <a:ea typeface="宋体" panose="02010600030101010101" pitchFamily="2" charset="-122"/>
              </a:rPr>
              <a:t>k</a:t>
            </a:r>
            <a:r>
              <a:rPr lang="zh-CN" altLang="en-US" i="1" baseline="30000" dirty="0">
                <a:ea typeface="宋体" panose="02010600030101010101" pitchFamily="2" charset="-122"/>
              </a:rPr>
              <a:t> </a:t>
            </a:r>
            <a:r>
              <a:rPr lang="zh-CN" altLang="en-US" i="1" dirty="0">
                <a:ea typeface="宋体" panose="02010600030101010101" pitchFamily="2" charset="-122"/>
              </a:rPr>
              <a:t> ，寻址能力：</a:t>
            </a:r>
            <a:r>
              <a:rPr lang="en-US" altLang="zh-CN" i="1" dirty="0" err="1">
                <a:ea typeface="宋体" panose="02010600030101010101" pitchFamily="2" charset="-122"/>
              </a:rPr>
              <a:t>mbit</a:t>
            </a:r>
            <a:endParaRPr lang="en-US" altLang="zh-CN" i="1" dirty="0">
              <a:ea typeface="宋体" panose="02010600030101010101" pitchFamily="2" charset="-122"/>
            </a:endParaRPr>
          </a:p>
          <a:p>
            <a:pPr>
              <a:buNone/>
            </a:pPr>
            <a:r>
              <a:rPr lang="en-US" altLang="zh-CN" i="1" dirty="0">
                <a:ea typeface="宋体" panose="02010600030101010101" pitchFamily="2" charset="-122"/>
              </a:rPr>
              <a:t>    1GB</a:t>
            </a:r>
            <a:r>
              <a:rPr lang="zh-CN" altLang="en-US" i="1" dirty="0">
                <a:ea typeface="宋体" panose="02010600030101010101" pitchFamily="2" charset="-122"/>
              </a:rPr>
              <a:t>内存 ： </a:t>
            </a:r>
            <a:r>
              <a:rPr lang="en-US" altLang="zh-CN" i="1" dirty="0">
                <a:ea typeface="宋体" panose="02010600030101010101" pitchFamily="2" charset="-122"/>
              </a:rPr>
              <a:t>2</a:t>
            </a:r>
            <a:r>
              <a:rPr lang="en-US" altLang="zh-CN" i="1" baseline="30000" dirty="0">
                <a:ea typeface="宋体" panose="02010600030101010101" pitchFamily="2" charset="-122"/>
              </a:rPr>
              <a:t>30 </a:t>
            </a:r>
            <a:r>
              <a:rPr lang="en-US" altLang="zh-CN" i="1" dirty="0">
                <a:ea typeface="宋体" panose="02010600030101010101" pitchFamily="2" charset="-122"/>
              </a:rPr>
              <a:t>x8bit</a:t>
            </a:r>
            <a:endParaRPr lang="en-US" altLang="zh-CN" i="1" dirty="0">
              <a:ea typeface="宋体" panose="02010600030101010101" pitchFamily="2" charset="-122"/>
            </a:endParaRPr>
          </a:p>
          <a:p>
            <a:pPr>
              <a:buNone/>
            </a:pPr>
            <a:endParaRPr lang="en-US" altLang="zh-CN" dirty="0">
              <a:ea typeface="宋体" panose="02010600030101010101" pitchFamily="2" charset="-122"/>
            </a:endParaRPr>
          </a:p>
          <a:p>
            <a:r>
              <a:rPr lang="zh-CN" altLang="en-US" dirty="0">
                <a:ea typeface="宋体" panose="02010600030101010101" pitchFamily="2" charset="-122"/>
              </a:rPr>
              <a:t>内存地址：访问需要的数据</a:t>
            </a:r>
            <a:endParaRPr lang="en-US" altLang="zh-CN" dirty="0">
              <a:ea typeface="宋体" panose="02010600030101010101" pitchFamily="2" charset="-122"/>
            </a:endParaRPr>
          </a:p>
          <a:p>
            <a:pPr>
              <a:buNone/>
            </a:pPr>
            <a:r>
              <a:rPr lang="zh-CN" altLang="en-US" dirty="0">
                <a:ea typeface="宋体" panose="02010600030101010101" pitchFamily="2" charset="-122"/>
              </a:rPr>
              <a:t>     每个内存单元有唯一的地址（</a:t>
            </a:r>
            <a:r>
              <a:rPr lang="en-US" altLang="zh-CN" i="1" dirty="0">
                <a:ea typeface="宋体" panose="02010600030101010101" pitchFamily="2" charset="-122"/>
              </a:rPr>
              <a:t>2</a:t>
            </a:r>
            <a:r>
              <a:rPr lang="en-US" altLang="zh-CN" i="1" baseline="30000" dirty="0">
                <a:ea typeface="宋体" panose="02010600030101010101" pitchFamily="2" charset="-122"/>
              </a:rPr>
              <a:t>k</a:t>
            </a:r>
            <a:r>
              <a:rPr lang="zh-CN" altLang="en-US" dirty="0">
                <a:ea typeface="宋体" panose="02010600030101010101" pitchFamily="2" charset="-122"/>
              </a:rPr>
              <a:t>个）</a:t>
            </a:r>
            <a:endParaRPr lang="en-US" altLang="zh-CN" dirty="0">
              <a:ea typeface="宋体" panose="02010600030101010101" pitchFamily="2" charset="-122"/>
            </a:endParaRPr>
          </a:p>
          <a:p>
            <a:pPr lvl="1">
              <a:buNone/>
            </a:pPr>
            <a:r>
              <a:rPr lang="zh-CN" altLang="en-US" dirty="0">
                <a:ea typeface="宋体" panose="02010600030101010101" pitchFamily="2" charset="-122"/>
              </a:rPr>
              <a:t>   每个单元存储</a:t>
            </a:r>
            <a:r>
              <a:rPr lang="en-US" altLang="zh-CN" dirty="0">
                <a:ea typeface="宋体" panose="02010600030101010101" pitchFamily="2" charset="-122"/>
              </a:rPr>
              <a:t>m </a:t>
            </a:r>
            <a:r>
              <a:rPr lang="zh-CN" altLang="en-US" dirty="0">
                <a:ea typeface="宋体" panose="02010600030101010101" pitchFamily="2" charset="-122"/>
              </a:rPr>
              <a:t>位个数据</a:t>
            </a:r>
            <a:endParaRPr lang="en-US" altLang="zh-CN" dirty="0">
              <a:ea typeface="宋体" panose="02010600030101010101" pitchFamily="2" charset="-122"/>
            </a:endParaRPr>
          </a:p>
          <a:p>
            <a:endParaRPr lang="en-US" altLang="zh-CN" dirty="0">
              <a:ea typeface="宋体" panose="02010600030101010101" pitchFamily="2" charset="-122"/>
            </a:endParaRPr>
          </a:p>
          <a:p>
            <a:r>
              <a:rPr lang="zh-CN" altLang="en-US" dirty="0">
                <a:ea typeface="宋体" panose="02010600030101010101" pitchFamily="2" charset="-122"/>
              </a:rPr>
              <a:t>内存的基本操作</a:t>
            </a:r>
            <a:endParaRPr lang="en-US" altLang="zh-CN" dirty="0">
              <a:ea typeface="宋体" panose="02010600030101010101" pitchFamily="2" charset="-122"/>
            </a:endParaRPr>
          </a:p>
          <a:p>
            <a:pPr>
              <a:buNone/>
            </a:pPr>
            <a:r>
              <a:rPr lang="zh-CN" altLang="en-US" b="0" dirty="0">
                <a:ea typeface="宋体" panose="02010600030101010101" pitchFamily="2" charset="-122"/>
              </a:rPr>
              <a:t>   </a:t>
            </a:r>
            <a:r>
              <a:rPr lang="en-US" altLang="zh-CN" b="0" dirty="0">
                <a:ea typeface="宋体" panose="02010600030101010101" pitchFamily="2" charset="-122"/>
              </a:rPr>
              <a:t>LOAD</a:t>
            </a:r>
            <a:endParaRPr lang="en-US" altLang="zh-CN" b="0" dirty="0">
              <a:ea typeface="宋体" panose="02010600030101010101" pitchFamily="2" charset="-122"/>
            </a:endParaRPr>
          </a:p>
          <a:p>
            <a:pPr lvl="1"/>
            <a:r>
              <a:rPr lang="en-US" altLang="zh-CN" dirty="0">
                <a:ea typeface="宋体" panose="02010600030101010101" pitchFamily="2" charset="-122"/>
              </a:rPr>
              <a:t>read a value from a memory location</a:t>
            </a:r>
            <a:endParaRPr lang="en-US" altLang="zh-CN" dirty="0">
              <a:ea typeface="宋体" panose="02010600030101010101" pitchFamily="2" charset="-122"/>
            </a:endParaRPr>
          </a:p>
          <a:p>
            <a:pPr>
              <a:buNone/>
            </a:pPr>
            <a:r>
              <a:rPr lang="zh-CN" altLang="en-US" b="0" dirty="0">
                <a:ea typeface="宋体" panose="02010600030101010101" pitchFamily="2" charset="-122"/>
              </a:rPr>
              <a:t>   </a:t>
            </a:r>
            <a:r>
              <a:rPr lang="en-US" altLang="zh-CN" b="0" dirty="0">
                <a:ea typeface="宋体" panose="02010600030101010101" pitchFamily="2" charset="-122"/>
              </a:rPr>
              <a:t>STORE</a:t>
            </a:r>
            <a:endParaRPr lang="en-US" altLang="zh-CN" b="0" dirty="0">
              <a:ea typeface="宋体" panose="02010600030101010101" pitchFamily="2" charset="-122"/>
            </a:endParaRPr>
          </a:p>
          <a:p>
            <a:pPr lvl="1"/>
            <a:r>
              <a:rPr lang="en-US" altLang="zh-CN" dirty="0">
                <a:ea typeface="宋体" panose="02010600030101010101" pitchFamily="2" charset="-122"/>
              </a:rPr>
              <a:t>write a value to a memory location</a:t>
            </a:r>
            <a:endParaRPr lang="en-US" altLang="zh-CN" dirty="0">
              <a:ea typeface="宋体" panose="02010600030101010101" pitchFamily="2" charset="-122"/>
            </a:endParaRPr>
          </a:p>
        </p:txBody>
      </p:sp>
      <p:grpSp>
        <p:nvGrpSpPr>
          <p:cNvPr id="2" name="Group 4"/>
          <p:cNvGrpSpPr/>
          <p:nvPr/>
        </p:nvGrpSpPr>
        <p:grpSpPr bwMode="auto">
          <a:xfrm>
            <a:off x="8400256" y="2780928"/>
            <a:ext cx="1828800" cy="2743200"/>
            <a:chOff x="3552" y="1488"/>
            <a:chExt cx="1152" cy="1728"/>
          </a:xfrm>
        </p:grpSpPr>
        <p:sp>
          <p:nvSpPr>
            <p:cNvPr id="10249" name="Rectangle 5"/>
            <p:cNvSpPr>
              <a:spLocks noChangeArrowheads="1"/>
            </p:cNvSpPr>
            <p:nvPr/>
          </p:nvSpPr>
          <p:spPr bwMode="auto">
            <a:xfrm>
              <a:off x="3552" y="1488"/>
              <a:ext cx="1152" cy="1728"/>
            </a:xfrm>
            <a:prstGeom prst="rect">
              <a:avLst/>
            </a:prstGeom>
            <a:noFill/>
            <a:ln w="28575">
              <a:solidFill>
                <a:srgbClr val="CE0000"/>
              </a:solidFill>
              <a:miter lim="800000"/>
            </a:ln>
          </p:spPr>
          <p:txBody>
            <a:bodyPr wrap="none" anchor="ctr"/>
            <a:lstStyle/>
            <a:p>
              <a:endParaRPr lang="zh-CN" altLang="en-US">
                <a:ea typeface="宋体" panose="02010600030101010101" pitchFamily="2" charset="-122"/>
              </a:endParaRPr>
            </a:p>
          </p:txBody>
        </p:sp>
        <p:sp>
          <p:nvSpPr>
            <p:cNvPr id="10250" name="Line 6"/>
            <p:cNvSpPr>
              <a:spLocks noChangeShapeType="1"/>
            </p:cNvSpPr>
            <p:nvPr/>
          </p:nvSpPr>
          <p:spPr bwMode="auto">
            <a:xfrm>
              <a:off x="3552" y="1632"/>
              <a:ext cx="1152" cy="0"/>
            </a:xfrm>
            <a:prstGeom prst="line">
              <a:avLst/>
            </a:prstGeom>
            <a:noFill/>
            <a:ln w="28575">
              <a:solidFill>
                <a:srgbClr val="CE0000"/>
              </a:solidFill>
              <a:rou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251" name="Line 7"/>
            <p:cNvSpPr>
              <a:spLocks noChangeShapeType="1"/>
            </p:cNvSpPr>
            <p:nvPr/>
          </p:nvSpPr>
          <p:spPr bwMode="auto">
            <a:xfrm>
              <a:off x="3552" y="1776"/>
              <a:ext cx="1152" cy="0"/>
            </a:xfrm>
            <a:prstGeom prst="line">
              <a:avLst/>
            </a:prstGeom>
            <a:noFill/>
            <a:ln w="28575">
              <a:solidFill>
                <a:srgbClr val="CE0000"/>
              </a:solidFill>
              <a:rou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252" name="Line 8"/>
            <p:cNvSpPr>
              <a:spLocks noChangeShapeType="1"/>
            </p:cNvSpPr>
            <p:nvPr/>
          </p:nvSpPr>
          <p:spPr bwMode="auto">
            <a:xfrm>
              <a:off x="3552" y="1920"/>
              <a:ext cx="1152" cy="0"/>
            </a:xfrm>
            <a:prstGeom prst="line">
              <a:avLst/>
            </a:prstGeom>
            <a:noFill/>
            <a:ln w="28575">
              <a:solidFill>
                <a:srgbClr val="CE0000"/>
              </a:solidFill>
              <a:rou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253" name="Line 9"/>
            <p:cNvSpPr>
              <a:spLocks noChangeShapeType="1"/>
            </p:cNvSpPr>
            <p:nvPr/>
          </p:nvSpPr>
          <p:spPr bwMode="auto">
            <a:xfrm>
              <a:off x="3552" y="2064"/>
              <a:ext cx="1152" cy="0"/>
            </a:xfrm>
            <a:prstGeom prst="line">
              <a:avLst/>
            </a:prstGeom>
            <a:noFill/>
            <a:ln w="28575">
              <a:solidFill>
                <a:srgbClr val="CE0000"/>
              </a:solidFill>
              <a:rou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254" name="Line 10"/>
            <p:cNvSpPr>
              <a:spLocks noChangeShapeType="1"/>
            </p:cNvSpPr>
            <p:nvPr/>
          </p:nvSpPr>
          <p:spPr bwMode="auto">
            <a:xfrm>
              <a:off x="3552" y="2208"/>
              <a:ext cx="1152" cy="0"/>
            </a:xfrm>
            <a:prstGeom prst="line">
              <a:avLst/>
            </a:prstGeom>
            <a:noFill/>
            <a:ln w="28575">
              <a:solidFill>
                <a:srgbClr val="CE0000"/>
              </a:solidFill>
              <a:rou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255" name="Line 11"/>
            <p:cNvSpPr>
              <a:spLocks noChangeShapeType="1"/>
            </p:cNvSpPr>
            <p:nvPr/>
          </p:nvSpPr>
          <p:spPr bwMode="auto">
            <a:xfrm>
              <a:off x="3552" y="2352"/>
              <a:ext cx="1152" cy="0"/>
            </a:xfrm>
            <a:prstGeom prst="line">
              <a:avLst/>
            </a:prstGeom>
            <a:noFill/>
            <a:ln w="28575">
              <a:solidFill>
                <a:srgbClr val="CE0000"/>
              </a:solidFill>
              <a:rou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256" name="Line 12"/>
            <p:cNvSpPr>
              <a:spLocks noChangeShapeType="1"/>
            </p:cNvSpPr>
            <p:nvPr/>
          </p:nvSpPr>
          <p:spPr bwMode="auto">
            <a:xfrm>
              <a:off x="3552" y="2496"/>
              <a:ext cx="1152" cy="0"/>
            </a:xfrm>
            <a:prstGeom prst="line">
              <a:avLst/>
            </a:prstGeom>
            <a:noFill/>
            <a:ln w="28575">
              <a:solidFill>
                <a:srgbClr val="CE0000"/>
              </a:solidFill>
              <a:rou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257" name="Line 13"/>
            <p:cNvSpPr>
              <a:spLocks noChangeShapeType="1"/>
            </p:cNvSpPr>
            <p:nvPr/>
          </p:nvSpPr>
          <p:spPr bwMode="auto">
            <a:xfrm>
              <a:off x="3552" y="2784"/>
              <a:ext cx="1152" cy="0"/>
            </a:xfrm>
            <a:prstGeom prst="line">
              <a:avLst/>
            </a:prstGeom>
            <a:noFill/>
            <a:ln w="28575">
              <a:solidFill>
                <a:srgbClr val="CE0000"/>
              </a:solidFill>
              <a:rou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258" name="Line 14"/>
            <p:cNvSpPr>
              <a:spLocks noChangeShapeType="1"/>
            </p:cNvSpPr>
            <p:nvPr/>
          </p:nvSpPr>
          <p:spPr bwMode="auto">
            <a:xfrm>
              <a:off x="3552" y="2928"/>
              <a:ext cx="1152" cy="0"/>
            </a:xfrm>
            <a:prstGeom prst="line">
              <a:avLst/>
            </a:prstGeom>
            <a:noFill/>
            <a:ln w="28575">
              <a:solidFill>
                <a:srgbClr val="CE0000"/>
              </a:solidFill>
              <a:rou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259" name="Line 15"/>
            <p:cNvSpPr>
              <a:spLocks noChangeShapeType="1"/>
            </p:cNvSpPr>
            <p:nvPr/>
          </p:nvSpPr>
          <p:spPr bwMode="auto">
            <a:xfrm>
              <a:off x="3552" y="3072"/>
              <a:ext cx="1152" cy="0"/>
            </a:xfrm>
            <a:prstGeom prst="line">
              <a:avLst/>
            </a:prstGeom>
            <a:noFill/>
            <a:ln w="28575">
              <a:solidFill>
                <a:srgbClr val="CE0000"/>
              </a:solidFill>
              <a:rou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260" name="Text Box 16"/>
            <p:cNvSpPr txBox="1">
              <a:spLocks noChangeArrowheads="1"/>
            </p:cNvSpPr>
            <p:nvPr/>
          </p:nvSpPr>
          <p:spPr bwMode="auto">
            <a:xfrm>
              <a:off x="4032" y="2496"/>
              <a:ext cx="178" cy="227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none">
              <a:spAutoFit/>
            </a:bodyPr>
            <a:lstStyle/>
            <a:p>
              <a:pPr>
                <a:lnSpc>
                  <a:spcPct val="50000"/>
                </a:lnSpc>
              </a:pPr>
              <a:r>
                <a:rPr lang="en-US" altLang="zh-CN" sz="1800" b="1">
                  <a:solidFill>
                    <a:srgbClr val="CE0000"/>
                  </a:solidFill>
                  <a:latin typeface="Franklin Gothic Book" panose="020B0503020102020204" pitchFamily="34" charset="0"/>
                  <a:ea typeface="宋体" panose="02010600030101010101" pitchFamily="2" charset="-122"/>
                </a:rPr>
                <a:t>•</a:t>
              </a:r>
              <a:endParaRPr lang="en-US" altLang="zh-CN" sz="1800" b="1">
                <a:solidFill>
                  <a:srgbClr val="CE0000"/>
                </a:solidFill>
                <a:latin typeface="Franklin Gothic Book" panose="020B0503020102020204" pitchFamily="34" charset="0"/>
                <a:ea typeface="宋体" panose="02010600030101010101" pitchFamily="2" charset="-122"/>
              </a:endParaRPr>
            </a:p>
            <a:p>
              <a:pPr>
                <a:lnSpc>
                  <a:spcPct val="50000"/>
                </a:lnSpc>
              </a:pPr>
              <a:r>
                <a:rPr lang="en-US" altLang="zh-CN" sz="1800" b="1">
                  <a:solidFill>
                    <a:srgbClr val="CE0000"/>
                  </a:solidFill>
                  <a:latin typeface="Franklin Gothic Book" panose="020B0503020102020204" pitchFamily="34" charset="0"/>
                  <a:ea typeface="宋体" panose="02010600030101010101" pitchFamily="2" charset="-122"/>
                </a:rPr>
                <a:t>•</a:t>
              </a:r>
              <a:endParaRPr lang="en-US" altLang="zh-CN" sz="1800" b="1">
                <a:solidFill>
                  <a:srgbClr val="CE0000"/>
                </a:solidFill>
                <a:latin typeface="Franklin Gothic Book" panose="020B0503020102020204" pitchFamily="34" charset="0"/>
                <a:ea typeface="宋体" panose="02010600030101010101" pitchFamily="2" charset="-122"/>
              </a:endParaRPr>
            </a:p>
            <a:p>
              <a:pPr>
                <a:lnSpc>
                  <a:spcPct val="50000"/>
                </a:lnSpc>
              </a:pPr>
              <a:r>
                <a:rPr lang="en-US" altLang="zh-CN" sz="1800" b="1">
                  <a:solidFill>
                    <a:srgbClr val="CE0000"/>
                  </a:solidFill>
                  <a:latin typeface="Franklin Gothic Book" panose="020B0503020102020204" pitchFamily="34" charset="0"/>
                  <a:ea typeface="宋体" panose="02010600030101010101" pitchFamily="2" charset="-122"/>
                </a:rPr>
                <a:t>•</a:t>
              </a:r>
              <a:endParaRPr lang="en-US" altLang="zh-CN" sz="1800" b="1">
                <a:solidFill>
                  <a:srgbClr val="CE0000"/>
                </a:solidFill>
                <a:latin typeface="Franklin Gothic Book" panose="020B0503020102020204" pitchFamily="34" charset="0"/>
                <a:ea typeface="宋体" panose="02010600030101010101" pitchFamily="2" charset="-122"/>
              </a:endParaRPr>
            </a:p>
          </p:txBody>
        </p:sp>
      </p:grpSp>
      <p:sp>
        <p:nvSpPr>
          <p:cNvPr id="10246" name="Text Box 17"/>
          <p:cNvSpPr txBox="1">
            <a:spLocks noChangeArrowheads="1"/>
          </p:cNvSpPr>
          <p:nvPr/>
        </p:nvSpPr>
        <p:spPr bwMode="auto">
          <a:xfrm>
            <a:off x="7560787" y="2712368"/>
            <a:ext cx="807720" cy="264604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pPr algn="r">
              <a:lnSpc>
                <a:spcPct val="82000"/>
              </a:lnSpc>
            </a:pPr>
            <a:r>
              <a:rPr lang="en-US" altLang="zh-CN" sz="2600" b="1" dirty="0">
                <a:latin typeface="CourierPS" pitchFamily="49" charset="0"/>
                <a:ea typeface="宋体" panose="02010600030101010101" pitchFamily="2" charset="-122"/>
              </a:rPr>
              <a:t>0000</a:t>
            </a:r>
            <a:endParaRPr lang="en-US" altLang="zh-CN" sz="2600" b="1" dirty="0">
              <a:latin typeface="CourierPS" pitchFamily="49" charset="0"/>
              <a:ea typeface="宋体" panose="02010600030101010101" pitchFamily="2" charset="-122"/>
            </a:endParaRPr>
          </a:p>
          <a:p>
            <a:pPr algn="r">
              <a:lnSpc>
                <a:spcPct val="82000"/>
              </a:lnSpc>
            </a:pPr>
            <a:r>
              <a:rPr lang="en-US" altLang="zh-CN" sz="2600" b="1" dirty="0">
                <a:latin typeface="CourierPS" pitchFamily="49" charset="0"/>
                <a:ea typeface="宋体" panose="02010600030101010101" pitchFamily="2" charset="-122"/>
              </a:rPr>
              <a:t>0001</a:t>
            </a:r>
            <a:endParaRPr lang="en-US" altLang="zh-CN" sz="2600" b="1" dirty="0">
              <a:latin typeface="CourierPS" pitchFamily="49" charset="0"/>
              <a:ea typeface="宋体" panose="02010600030101010101" pitchFamily="2" charset="-122"/>
            </a:endParaRPr>
          </a:p>
          <a:p>
            <a:pPr algn="r">
              <a:lnSpc>
                <a:spcPct val="82000"/>
              </a:lnSpc>
            </a:pPr>
            <a:r>
              <a:rPr lang="en-US" altLang="zh-CN" sz="2600" b="1" dirty="0">
                <a:latin typeface="CourierPS" pitchFamily="49" charset="0"/>
                <a:ea typeface="宋体" panose="02010600030101010101" pitchFamily="2" charset="-122"/>
              </a:rPr>
              <a:t>0010</a:t>
            </a:r>
            <a:endParaRPr lang="en-US" altLang="zh-CN" sz="2600" b="1" dirty="0">
              <a:latin typeface="CourierPS" pitchFamily="49" charset="0"/>
              <a:ea typeface="宋体" panose="02010600030101010101" pitchFamily="2" charset="-122"/>
            </a:endParaRPr>
          </a:p>
          <a:p>
            <a:pPr algn="r">
              <a:lnSpc>
                <a:spcPct val="82000"/>
              </a:lnSpc>
            </a:pPr>
            <a:r>
              <a:rPr lang="en-US" altLang="zh-CN" sz="2600" b="1" dirty="0">
                <a:latin typeface="CourierPS" pitchFamily="49" charset="0"/>
                <a:ea typeface="宋体" panose="02010600030101010101" pitchFamily="2" charset="-122"/>
              </a:rPr>
              <a:t>0011</a:t>
            </a:r>
            <a:endParaRPr lang="en-US" altLang="zh-CN" sz="2600" b="1" dirty="0">
              <a:latin typeface="CourierPS" pitchFamily="49" charset="0"/>
              <a:ea typeface="宋体" panose="02010600030101010101" pitchFamily="2" charset="-122"/>
            </a:endParaRPr>
          </a:p>
          <a:p>
            <a:pPr algn="r">
              <a:lnSpc>
                <a:spcPct val="82000"/>
              </a:lnSpc>
            </a:pPr>
            <a:r>
              <a:rPr lang="en-US" altLang="zh-CN" sz="2600" b="1" dirty="0">
                <a:latin typeface="CourierPS" pitchFamily="49" charset="0"/>
                <a:ea typeface="宋体" panose="02010600030101010101" pitchFamily="2" charset="-122"/>
              </a:rPr>
              <a:t>0100</a:t>
            </a:r>
            <a:endParaRPr lang="en-US" altLang="zh-CN" sz="2600" b="1" dirty="0">
              <a:latin typeface="CourierPS" pitchFamily="49" charset="0"/>
              <a:ea typeface="宋体" panose="02010600030101010101" pitchFamily="2" charset="-122"/>
            </a:endParaRPr>
          </a:p>
          <a:p>
            <a:pPr algn="r">
              <a:lnSpc>
                <a:spcPct val="82000"/>
              </a:lnSpc>
            </a:pPr>
            <a:r>
              <a:rPr lang="en-US" altLang="zh-CN" sz="2600" b="1" dirty="0">
                <a:latin typeface="CourierPS" pitchFamily="49" charset="0"/>
                <a:ea typeface="宋体" panose="02010600030101010101" pitchFamily="2" charset="-122"/>
              </a:rPr>
              <a:t>0101</a:t>
            </a:r>
            <a:endParaRPr lang="en-US" altLang="zh-CN" sz="2600" b="1" dirty="0">
              <a:latin typeface="CourierPS" pitchFamily="49" charset="0"/>
              <a:ea typeface="宋体" panose="02010600030101010101" pitchFamily="2" charset="-122"/>
            </a:endParaRPr>
          </a:p>
          <a:p>
            <a:pPr algn="r">
              <a:lnSpc>
                <a:spcPct val="82000"/>
              </a:lnSpc>
            </a:pPr>
            <a:r>
              <a:rPr lang="en-US" altLang="zh-CN" sz="2600" b="1" dirty="0">
                <a:latin typeface="CourierPS" pitchFamily="49" charset="0"/>
                <a:ea typeface="宋体" panose="02010600030101010101" pitchFamily="2" charset="-122"/>
              </a:rPr>
              <a:t>0110</a:t>
            </a:r>
            <a:endParaRPr lang="en-US" altLang="zh-CN" sz="2600" b="1" dirty="0">
              <a:latin typeface="CourierPS" pitchFamily="49" charset="0"/>
              <a:ea typeface="宋体" panose="02010600030101010101" pitchFamily="2" charset="-122"/>
            </a:endParaRPr>
          </a:p>
          <a:p>
            <a:pPr algn="r">
              <a:lnSpc>
                <a:spcPct val="82000"/>
              </a:lnSpc>
            </a:pPr>
            <a:endParaRPr lang="en-US" altLang="zh-CN" sz="2600" b="1" dirty="0">
              <a:latin typeface="CourierPS" pitchFamily="49" charset="0"/>
              <a:ea typeface="宋体" panose="02010600030101010101" pitchFamily="2" charset="-122"/>
            </a:endParaRPr>
          </a:p>
          <a:p>
            <a:pPr algn="r">
              <a:lnSpc>
                <a:spcPct val="82000"/>
              </a:lnSpc>
            </a:pPr>
            <a:endParaRPr lang="en-US" altLang="zh-CN" sz="2600" b="1" dirty="0">
              <a:latin typeface="CourierPS" pitchFamily="49" charset="0"/>
              <a:ea typeface="宋体" panose="02010600030101010101" pitchFamily="2" charset="-122"/>
            </a:endParaRPr>
          </a:p>
          <a:p>
            <a:pPr algn="r">
              <a:lnSpc>
                <a:spcPct val="82000"/>
              </a:lnSpc>
            </a:pPr>
            <a:r>
              <a:rPr lang="en-US" altLang="zh-CN" sz="2600" b="1" dirty="0">
                <a:latin typeface="CourierPS" pitchFamily="49" charset="0"/>
                <a:ea typeface="宋体" panose="02010600030101010101" pitchFamily="2" charset="-122"/>
              </a:rPr>
              <a:t>1101</a:t>
            </a:r>
            <a:endParaRPr lang="en-US" altLang="zh-CN" sz="2600" b="1" dirty="0">
              <a:latin typeface="CourierPS" pitchFamily="49" charset="0"/>
              <a:ea typeface="宋体" panose="02010600030101010101" pitchFamily="2" charset="-122"/>
            </a:endParaRPr>
          </a:p>
          <a:p>
            <a:pPr algn="r">
              <a:lnSpc>
                <a:spcPct val="82000"/>
              </a:lnSpc>
            </a:pPr>
            <a:r>
              <a:rPr lang="en-US" altLang="zh-CN" sz="2600" b="1" dirty="0">
                <a:latin typeface="CourierPS" pitchFamily="49" charset="0"/>
                <a:ea typeface="宋体" panose="02010600030101010101" pitchFamily="2" charset="-122"/>
              </a:rPr>
              <a:t>1110</a:t>
            </a:r>
            <a:endParaRPr lang="en-US" altLang="zh-CN" sz="2600" b="1" dirty="0">
              <a:latin typeface="CourierPS" pitchFamily="49" charset="0"/>
              <a:ea typeface="宋体" panose="02010600030101010101" pitchFamily="2" charset="-122"/>
            </a:endParaRPr>
          </a:p>
          <a:p>
            <a:pPr algn="r">
              <a:lnSpc>
                <a:spcPct val="82000"/>
              </a:lnSpc>
            </a:pPr>
            <a:r>
              <a:rPr lang="en-US" altLang="zh-CN" sz="2600" b="1" dirty="0">
                <a:latin typeface="CourierPS" pitchFamily="49" charset="0"/>
                <a:ea typeface="宋体" panose="02010600030101010101" pitchFamily="2" charset="-122"/>
              </a:rPr>
              <a:t>1111</a:t>
            </a:r>
            <a:endParaRPr lang="en-US" altLang="zh-CN" sz="2600" b="1" dirty="0">
              <a:latin typeface="CourierPS" pitchFamily="49" charset="0"/>
              <a:ea typeface="宋体" panose="02010600030101010101" pitchFamily="2" charset="-122"/>
            </a:endParaRPr>
          </a:p>
        </p:txBody>
      </p:sp>
      <p:sp>
        <p:nvSpPr>
          <p:cNvPr id="10247" name="Text Box 18"/>
          <p:cNvSpPr txBox="1">
            <a:spLocks noChangeArrowheads="1"/>
          </p:cNvSpPr>
          <p:nvPr/>
        </p:nvSpPr>
        <p:spPr bwMode="auto">
          <a:xfrm>
            <a:off x="8715375" y="2695575"/>
            <a:ext cx="955040" cy="25082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r>
              <a:rPr lang="en-US" altLang="zh-CN" sz="1600" b="1" dirty="0">
                <a:latin typeface="CourierPS" pitchFamily="49" charset="0"/>
                <a:ea typeface="宋体" panose="02010600030101010101" pitchFamily="2" charset="-122"/>
              </a:rPr>
              <a:t>00101101</a:t>
            </a:r>
            <a:endParaRPr lang="en-US" altLang="zh-CN" sz="1600" b="1" dirty="0">
              <a:latin typeface="CourierPS" pitchFamily="49" charset="0"/>
              <a:ea typeface="宋体" panose="02010600030101010101" pitchFamily="2" charset="-122"/>
            </a:endParaRPr>
          </a:p>
        </p:txBody>
      </p:sp>
      <p:sp>
        <p:nvSpPr>
          <p:cNvPr id="10248" name="Text Box 19"/>
          <p:cNvSpPr txBox="1">
            <a:spLocks noChangeArrowheads="1"/>
          </p:cNvSpPr>
          <p:nvPr/>
        </p:nvSpPr>
        <p:spPr bwMode="auto">
          <a:xfrm>
            <a:off x="8691563" y="4067175"/>
            <a:ext cx="955040" cy="25082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r>
              <a:rPr lang="en-US" altLang="zh-CN" sz="1600" b="1" dirty="0">
                <a:latin typeface="CourierPS" pitchFamily="49" charset="0"/>
                <a:ea typeface="宋体" panose="02010600030101010101" pitchFamily="2" charset="-122"/>
              </a:rPr>
              <a:t>10100010</a:t>
            </a:r>
            <a:endParaRPr lang="en-US" altLang="zh-CN" sz="1600" b="1" dirty="0">
              <a:latin typeface="CourierPS" pitchFamily="49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灯片编号占位符 3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/>
          <a:p>
            <a:r>
              <a:rPr lang="en-US" altLang="zh-CN"/>
              <a:t>4-</a:t>
            </a:r>
            <a:fld id="{7E4168C8-3AF3-49C9-9948-7012CD03D643}" type="slidenum">
              <a:rPr lang="en-US" altLang="zh-CN"/>
            </a:fld>
            <a:endParaRPr lang="en-US" altLang="zh-CN"/>
          </a:p>
        </p:txBody>
      </p:sp>
      <p:sp>
        <p:nvSpPr>
          <p:cNvPr id="205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ea typeface="宋体" panose="02010600030101010101" pitchFamily="2" charset="-122"/>
              </a:rPr>
              <a:t>内存访问接口</a:t>
            </a:r>
            <a:endParaRPr lang="en-US" altLang="zh-CN" dirty="0">
              <a:ea typeface="宋体" panose="02010600030101010101" pitchFamily="2" charset="-122"/>
            </a:endParaRPr>
          </a:p>
        </p:txBody>
      </p:sp>
      <p:sp>
        <p:nvSpPr>
          <p:cNvPr id="205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981200" y="1481328"/>
            <a:ext cx="8435280" cy="5376672"/>
          </a:xfrm>
        </p:spPr>
        <p:txBody>
          <a:bodyPr>
            <a:normAutofit fontScale="85000" lnSpcReduction="20000"/>
          </a:bodyPr>
          <a:lstStyle/>
          <a:p>
            <a:pPr marL="457200" indent="-457200">
              <a:buNone/>
            </a:pPr>
            <a:r>
              <a:rPr lang="zh-CN" altLang="en-US" dirty="0">
                <a:ea typeface="宋体" panose="02010600030101010101" pitchFamily="2" charset="-122"/>
              </a:rPr>
              <a:t>运算部件通过两个专用寄存器来访问（读写）内存的数据</a:t>
            </a:r>
            <a:endParaRPr lang="en-US" altLang="zh-CN" dirty="0">
              <a:ea typeface="宋体" panose="02010600030101010101" pitchFamily="2" charset="-122"/>
            </a:endParaRPr>
          </a:p>
          <a:p>
            <a:pPr marL="457200" indent="-457200">
              <a:buNone/>
            </a:pPr>
            <a:r>
              <a:rPr lang="zh-CN" altLang="en-US" dirty="0">
                <a:solidFill>
                  <a:srgbClr val="CE0000"/>
                </a:solidFill>
                <a:ea typeface="宋体" panose="02010600030101010101" pitchFamily="2" charset="-122"/>
              </a:rPr>
              <a:t>内存地址寄存器</a:t>
            </a:r>
            <a:r>
              <a:rPr lang="en-US" altLang="zh-CN" dirty="0">
                <a:solidFill>
                  <a:srgbClr val="CE0000"/>
                </a:solidFill>
                <a:ea typeface="宋体" panose="02010600030101010101" pitchFamily="2" charset="-122"/>
              </a:rPr>
              <a:t>MAR</a:t>
            </a:r>
            <a:endParaRPr lang="en-US" altLang="zh-CN" dirty="0">
              <a:solidFill>
                <a:srgbClr val="CE0000"/>
              </a:solidFill>
              <a:ea typeface="宋体" panose="02010600030101010101" pitchFamily="2" charset="-122"/>
            </a:endParaRPr>
          </a:p>
          <a:p>
            <a:pPr marL="457200" indent="-457200">
              <a:buNone/>
            </a:pPr>
            <a:r>
              <a:rPr lang="en-US" altLang="zh-CN" dirty="0">
                <a:solidFill>
                  <a:srgbClr val="CE0000"/>
                </a:solidFill>
                <a:ea typeface="宋体" panose="02010600030101010101" pitchFamily="2" charset="-122"/>
              </a:rPr>
              <a:t>MAR</a:t>
            </a:r>
            <a:r>
              <a:rPr lang="en-US" altLang="zh-CN" dirty="0">
                <a:ea typeface="宋体" panose="02010600030101010101" pitchFamily="2" charset="-122"/>
              </a:rPr>
              <a:t>: Memory Address Register</a:t>
            </a:r>
            <a:endParaRPr lang="en-US" altLang="zh-CN" dirty="0">
              <a:ea typeface="宋体" panose="02010600030101010101" pitchFamily="2" charset="-122"/>
            </a:endParaRPr>
          </a:p>
          <a:p>
            <a:pPr marL="457200" indent="-457200">
              <a:buNone/>
            </a:pPr>
            <a:r>
              <a:rPr lang="zh-CN" altLang="en-US" dirty="0">
                <a:ea typeface="宋体" panose="02010600030101010101" pitchFamily="2" charset="-122"/>
              </a:rPr>
              <a:t>内存数据寄存器</a:t>
            </a:r>
            <a:endParaRPr lang="en-US" altLang="zh-CN" dirty="0">
              <a:ea typeface="宋体" panose="02010600030101010101" pitchFamily="2" charset="-122"/>
            </a:endParaRPr>
          </a:p>
          <a:p>
            <a:pPr marL="457200" indent="-457200">
              <a:buNone/>
            </a:pPr>
            <a:r>
              <a:rPr lang="en-US" altLang="zh-CN" dirty="0">
                <a:solidFill>
                  <a:srgbClr val="CE0000"/>
                </a:solidFill>
                <a:ea typeface="宋体" panose="02010600030101010101" pitchFamily="2" charset="-122"/>
              </a:rPr>
              <a:t>MDR</a:t>
            </a:r>
            <a:r>
              <a:rPr lang="en-US" altLang="zh-CN" dirty="0">
                <a:ea typeface="宋体" panose="02010600030101010101" pitchFamily="2" charset="-122"/>
              </a:rPr>
              <a:t>: Memory Data Register</a:t>
            </a:r>
            <a:endParaRPr lang="en-US" altLang="zh-CN" dirty="0">
              <a:ea typeface="宋体" panose="02010600030101010101" pitchFamily="2" charset="-122"/>
            </a:endParaRPr>
          </a:p>
          <a:p>
            <a:pPr marL="457200" indent="-457200">
              <a:buNone/>
            </a:pPr>
            <a:endParaRPr lang="en-US" altLang="zh-CN" dirty="0">
              <a:ea typeface="宋体" panose="02010600030101010101" pitchFamily="2" charset="-122"/>
            </a:endParaRPr>
          </a:p>
          <a:p>
            <a:pPr marL="457200" indent="-457200">
              <a:buNone/>
            </a:pPr>
            <a:r>
              <a:rPr lang="zh-CN" altLang="en-US" dirty="0">
                <a:ea typeface="宋体" panose="02010600030101010101" pitchFamily="2" charset="-122"/>
              </a:rPr>
              <a:t>读内存某个单元（</a:t>
            </a:r>
            <a:r>
              <a:rPr lang="en-US" altLang="zh-CN" dirty="0">
                <a:ea typeface="宋体" panose="02010600030101010101" pitchFamily="2" charset="-122"/>
              </a:rPr>
              <a:t> </a:t>
            </a:r>
            <a:r>
              <a:rPr lang="en-US" altLang="zh-CN" dirty="0">
                <a:solidFill>
                  <a:schemeClr val="accent1"/>
                </a:solidFill>
                <a:ea typeface="宋体" panose="02010600030101010101" pitchFamily="2" charset="-122"/>
              </a:rPr>
              <a:t>LOAD</a:t>
            </a:r>
            <a:r>
              <a:rPr lang="en-US" altLang="zh-CN" dirty="0">
                <a:ea typeface="宋体" panose="02010600030101010101" pitchFamily="2" charset="-122"/>
              </a:rPr>
              <a:t> </a:t>
            </a:r>
            <a:r>
              <a:rPr lang="zh-CN" altLang="en-US" dirty="0">
                <a:ea typeface="宋体" panose="02010600030101010101" pitchFamily="2" charset="-122"/>
              </a:rPr>
              <a:t>操作</a:t>
            </a:r>
            <a:r>
              <a:rPr lang="zh-CN" altLang="en-US" dirty="0">
                <a:ea typeface="宋体" panose="02010600030101010101" pitchFamily="2" charset="-122"/>
                <a:sym typeface="Wingdings" panose="05000000000000000000" pitchFamily="2" charset="2"/>
              </a:rPr>
              <a:t>）</a:t>
            </a:r>
            <a:endParaRPr lang="en-US" altLang="zh-CN" dirty="0">
              <a:ea typeface="宋体" panose="02010600030101010101" pitchFamily="2" charset="-122"/>
            </a:endParaRPr>
          </a:p>
          <a:p>
            <a:pPr marL="722630" lvl="1" indent="-381000">
              <a:buNone/>
            </a:pPr>
            <a:r>
              <a:rPr lang="en-US" altLang="zh-CN" dirty="0">
                <a:ea typeface="宋体" panose="02010600030101010101" pitchFamily="2" charset="-122"/>
              </a:rPr>
              <a:t>1</a:t>
            </a:r>
            <a:r>
              <a:rPr lang="zh-CN" altLang="en-US" dirty="0">
                <a:ea typeface="宋体" panose="02010600030101010101" pitchFamily="2" charset="-122"/>
              </a:rPr>
              <a:t>）写内存单元地址</a:t>
            </a:r>
            <a:r>
              <a:rPr lang="en-US" altLang="zh-CN" dirty="0">
                <a:ea typeface="宋体" panose="02010600030101010101" pitchFamily="2" charset="-122"/>
              </a:rPr>
              <a:t>(A)</a:t>
            </a:r>
            <a:r>
              <a:rPr lang="zh-CN" altLang="en-US" dirty="0">
                <a:ea typeface="宋体" panose="02010600030101010101" pitchFamily="2" charset="-122"/>
              </a:rPr>
              <a:t>到</a:t>
            </a:r>
            <a:r>
              <a:rPr lang="en-US" altLang="zh-CN" dirty="0">
                <a:ea typeface="宋体" panose="02010600030101010101" pitchFamily="2" charset="-122"/>
              </a:rPr>
              <a:t>MAR</a:t>
            </a:r>
            <a:r>
              <a:rPr lang="zh-CN" altLang="en-US" dirty="0">
                <a:ea typeface="宋体" panose="02010600030101010101" pitchFamily="2" charset="-122"/>
              </a:rPr>
              <a:t>中</a:t>
            </a:r>
            <a:r>
              <a:rPr lang="en-US" altLang="zh-CN" dirty="0">
                <a:ea typeface="宋体" panose="02010600030101010101" pitchFamily="2" charset="-122"/>
              </a:rPr>
              <a:t>.</a:t>
            </a:r>
            <a:endParaRPr lang="en-US" altLang="zh-CN" dirty="0">
              <a:ea typeface="宋体" panose="02010600030101010101" pitchFamily="2" charset="-122"/>
            </a:endParaRPr>
          </a:p>
          <a:p>
            <a:pPr marL="722630" lvl="1" indent="-381000">
              <a:buNone/>
            </a:pPr>
            <a:r>
              <a:rPr lang="en-US" altLang="zh-CN" dirty="0">
                <a:ea typeface="宋体" panose="02010600030101010101" pitchFamily="2" charset="-122"/>
              </a:rPr>
              <a:t>2</a:t>
            </a:r>
            <a:r>
              <a:rPr lang="zh-CN" altLang="en-US" dirty="0">
                <a:ea typeface="宋体" panose="02010600030101010101" pitchFamily="2" charset="-122"/>
              </a:rPr>
              <a:t>）发</a:t>
            </a:r>
            <a:r>
              <a:rPr lang="en-US" altLang="zh-CN" dirty="0">
                <a:ea typeface="宋体" panose="02010600030101010101" pitchFamily="2" charset="-122"/>
              </a:rPr>
              <a:t> “read”</a:t>
            </a:r>
            <a:r>
              <a:rPr lang="zh-CN" altLang="en-US" dirty="0">
                <a:ea typeface="宋体" panose="02010600030101010101" pitchFamily="2" charset="-122"/>
              </a:rPr>
              <a:t>信号给内存</a:t>
            </a:r>
            <a:r>
              <a:rPr lang="en-US" altLang="zh-CN" dirty="0">
                <a:ea typeface="宋体" panose="02010600030101010101" pitchFamily="2" charset="-122"/>
              </a:rPr>
              <a:t>.</a:t>
            </a:r>
            <a:r>
              <a:rPr lang="zh-CN" altLang="en-US" dirty="0">
                <a:ea typeface="宋体" panose="02010600030101010101" pitchFamily="2" charset="-122"/>
              </a:rPr>
              <a:t> 内存将</a:t>
            </a:r>
            <a:r>
              <a:rPr lang="en-US" altLang="zh-CN" dirty="0">
                <a:ea typeface="宋体" panose="02010600030101010101" pitchFamily="2" charset="-122"/>
              </a:rPr>
              <a:t>MAR</a:t>
            </a:r>
            <a:r>
              <a:rPr lang="zh-CN" altLang="en-US" dirty="0">
                <a:ea typeface="宋体" panose="02010600030101010101" pitchFamily="2" charset="-122"/>
              </a:rPr>
              <a:t>中地址对应的数据送到</a:t>
            </a:r>
            <a:r>
              <a:rPr lang="en-US" altLang="zh-CN" dirty="0">
                <a:ea typeface="宋体" panose="02010600030101010101" pitchFamily="2" charset="-122"/>
              </a:rPr>
              <a:t>MDR</a:t>
            </a:r>
            <a:r>
              <a:rPr lang="zh-CN" altLang="en-US" dirty="0">
                <a:ea typeface="宋体" panose="02010600030101010101" pitchFamily="2" charset="-122"/>
              </a:rPr>
              <a:t>中准备好。</a:t>
            </a:r>
            <a:endParaRPr lang="en-US" altLang="zh-CN" dirty="0">
              <a:ea typeface="宋体" panose="02010600030101010101" pitchFamily="2" charset="-122"/>
            </a:endParaRPr>
          </a:p>
          <a:p>
            <a:pPr marL="722630" lvl="1" indent="-381000">
              <a:buNone/>
            </a:pPr>
            <a:r>
              <a:rPr lang="en-US" altLang="zh-CN" dirty="0">
                <a:ea typeface="宋体" panose="02010600030101010101" pitchFamily="2" charset="-122"/>
              </a:rPr>
              <a:t>3</a:t>
            </a:r>
            <a:r>
              <a:rPr lang="zh-CN" altLang="en-US" dirty="0">
                <a:ea typeface="宋体" panose="02010600030101010101" pitchFamily="2" charset="-122"/>
              </a:rPr>
              <a:t>）运算器从</a:t>
            </a:r>
            <a:r>
              <a:rPr lang="en-US" altLang="zh-CN" dirty="0">
                <a:ea typeface="宋体" panose="02010600030101010101" pitchFamily="2" charset="-122"/>
              </a:rPr>
              <a:t>MDR</a:t>
            </a:r>
            <a:r>
              <a:rPr lang="zh-CN" altLang="en-US" dirty="0">
                <a:ea typeface="宋体" panose="02010600030101010101" pitchFamily="2" charset="-122"/>
              </a:rPr>
              <a:t>中读取数据</a:t>
            </a:r>
            <a:r>
              <a:rPr lang="en-US" altLang="zh-CN" dirty="0">
                <a:ea typeface="宋体" panose="02010600030101010101" pitchFamily="2" charset="-122"/>
              </a:rPr>
              <a:t>(X)</a:t>
            </a:r>
            <a:r>
              <a:rPr lang="zh-CN" altLang="en-US" dirty="0">
                <a:ea typeface="宋体" panose="02010600030101010101" pitchFamily="2" charset="-122"/>
              </a:rPr>
              <a:t>。</a:t>
            </a:r>
            <a:endParaRPr lang="en-US" altLang="zh-CN" dirty="0">
              <a:ea typeface="宋体" panose="02010600030101010101" pitchFamily="2" charset="-122"/>
            </a:endParaRPr>
          </a:p>
          <a:p>
            <a:pPr marL="457200" indent="-457200">
              <a:buNone/>
            </a:pPr>
            <a:r>
              <a:rPr lang="zh-CN" altLang="en-US" dirty="0">
                <a:solidFill>
                  <a:schemeClr val="accent1"/>
                </a:solidFill>
                <a:ea typeface="宋体" panose="02010600030101010101" pitchFamily="2" charset="-122"/>
              </a:rPr>
              <a:t>写内存某个单元（</a:t>
            </a:r>
            <a:r>
              <a:rPr lang="en-US" altLang="zh-CN" dirty="0">
                <a:solidFill>
                  <a:schemeClr val="accent1"/>
                </a:solidFill>
                <a:ea typeface="宋体" panose="02010600030101010101" pitchFamily="2" charset="-122"/>
              </a:rPr>
              <a:t>STORE</a:t>
            </a:r>
            <a:r>
              <a:rPr lang="en-US" altLang="zh-CN" dirty="0">
                <a:ea typeface="宋体" panose="02010600030101010101" pitchFamily="2" charset="-122"/>
              </a:rPr>
              <a:t> </a:t>
            </a:r>
            <a:r>
              <a:rPr lang="zh-CN" altLang="en-US" dirty="0">
                <a:ea typeface="宋体" panose="02010600030101010101" pitchFamily="2" charset="-122"/>
              </a:rPr>
              <a:t>操作）</a:t>
            </a:r>
            <a:endParaRPr lang="en-US" altLang="zh-CN" dirty="0">
              <a:ea typeface="宋体" panose="02010600030101010101" pitchFamily="2" charset="-122"/>
            </a:endParaRPr>
          </a:p>
          <a:p>
            <a:pPr marL="722630" lvl="1" indent="-381000">
              <a:buNone/>
            </a:pPr>
            <a:r>
              <a:rPr lang="en-US" altLang="zh-CN" dirty="0">
                <a:ea typeface="宋体" panose="02010600030101010101" pitchFamily="2" charset="-122"/>
              </a:rPr>
              <a:t>1</a:t>
            </a:r>
            <a:r>
              <a:rPr lang="zh-CN" altLang="en-US" dirty="0">
                <a:ea typeface="宋体" panose="02010600030101010101" pitchFamily="2" charset="-122"/>
              </a:rPr>
              <a:t>）将数据</a:t>
            </a:r>
            <a:r>
              <a:rPr lang="en-US" altLang="zh-CN" dirty="0">
                <a:ea typeface="宋体" panose="02010600030101010101" pitchFamily="2" charset="-122"/>
              </a:rPr>
              <a:t> (X) </a:t>
            </a:r>
            <a:r>
              <a:rPr lang="zh-CN" altLang="en-US" dirty="0">
                <a:ea typeface="宋体" panose="02010600030101010101" pitchFamily="2" charset="-122"/>
              </a:rPr>
              <a:t>写入</a:t>
            </a:r>
            <a:r>
              <a:rPr lang="en-US" altLang="zh-CN" dirty="0">
                <a:ea typeface="宋体" panose="02010600030101010101" pitchFamily="2" charset="-122"/>
              </a:rPr>
              <a:t> MDR.</a:t>
            </a:r>
            <a:endParaRPr lang="en-US" altLang="zh-CN" dirty="0">
              <a:ea typeface="宋体" panose="02010600030101010101" pitchFamily="2" charset="-122"/>
            </a:endParaRPr>
          </a:p>
          <a:p>
            <a:pPr marL="722630" lvl="1" indent="-381000">
              <a:buNone/>
            </a:pPr>
            <a:r>
              <a:rPr lang="en-US" altLang="zh-CN" dirty="0">
                <a:ea typeface="宋体" panose="02010600030101010101" pitchFamily="2" charset="-122"/>
              </a:rPr>
              <a:t>2</a:t>
            </a:r>
            <a:r>
              <a:rPr lang="zh-CN" altLang="en-US" dirty="0">
                <a:ea typeface="宋体" panose="02010600030101010101" pitchFamily="2" charset="-122"/>
              </a:rPr>
              <a:t>）将地址</a:t>
            </a:r>
            <a:r>
              <a:rPr lang="en-US" altLang="zh-CN" dirty="0">
                <a:ea typeface="宋体" panose="02010600030101010101" pitchFamily="2" charset="-122"/>
              </a:rPr>
              <a:t> (A) </a:t>
            </a:r>
            <a:r>
              <a:rPr lang="zh-CN" altLang="en-US" dirty="0">
                <a:ea typeface="宋体" panose="02010600030101010101" pitchFamily="2" charset="-122"/>
              </a:rPr>
              <a:t>写入 </a:t>
            </a:r>
            <a:r>
              <a:rPr lang="en-US" altLang="zh-CN" dirty="0">
                <a:ea typeface="宋体" panose="02010600030101010101" pitchFamily="2" charset="-122"/>
              </a:rPr>
              <a:t>MAR.</a:t>
            </a:r>
            <a:endParaRPr lang="en-US" altLang="zh-CN" dirty="0">
              <a:ea typeface="宋体" panose="02010600030101010101" pitchFamily="2" charset="-122"/>
            </a:endParaRPr>
          </a:p>
          <a:p>
            <a:pPr marL="722630" lvl="1" indent="-381000">
              <a:buNone/>
            </a:pPr>
            <a:r>
              <a:rPr lang="en-US" altLang="zh-CN" dirty="0">
                <a:ea typeface="宋体" panose="02010600030101010101" pitchFamily="2" charset="-122"/>
              </a:rPr>
              <a:t>3</a:t>
            </a:r>
            <a:r>
              <a:rPr lang="zh-CN" altLang="en-US" dirty="0">
                <a:ea typeface="宋体" panose="02010600030101010101" pitchFamily="2" charset="-122"/>
              </a:rPr>
              <a:t>）发</a:t>
            </a:r>
            <a:r>
              <a:rPr lang="en-US" altLang="zh-CN" dirty="0">
                <a:ea typeface="宋体" panose="02010600030101010101" pitchFamily="2" charset="-122"/>
              </a:rPr>
              <a:t> “write”</a:t>
            </a:r>
            <a:r>
              <a:rPr lang="zh-CN" altLang="en-US" dirty="0">
                <a:ea typeface="宋体" panose="02010600030101010101" pitchFamily="2" charset="-122"/>
              </a:rPr>
              <a:t>信号给内存</a:t>
            </a:r>
            <a:endParaRPr lang="en-US" altLang="zh-CN" dirty="0">
              <a:ea typeface="宋体" panose="02010600030101010101" pitchFamily="2" charset="-122"/>
            </a:endParaRPr>
          </a:p>
          <a:p>
            <a:pPr marL="722630" lvl="1" indent="-381000">
              <a:buNone/>
            </a:pPr>
            <a:endParaRPr lang="en-US" altLang="zh-CN" dirty="0">
              <a:ea typeface="宋体" panose="02010600030101010101" pitchFamily="2" charset="-122"/>
            </a:endParaRPr>
          </a:p>
          <a:p>
            <a:pPr marL="722630" lvl="1" indent="-381000">
              <a:buNone/>
            </a:pPr>
            <a:r>
              <a:rPr lang="en-US" altLang="zh-CN" dirty="0">
                <a:ea typeface="宋体" panose="02010600030101010101" pitchFamily="2" charset="-122"/>
              </a:rPr>
              <a:t>Advantages?</a:t>
            </a:r>
            <a:endParaRPr lang="en-US" altLang="zh-CN" dirty="0">
              <a:ea typeface="宋体" panose="02010600030101010101" pitchFamily="2" charset="-122"/>
            </a:endParaRPr>
          </a:p>
        </p:txBody>
      </p:sp>
      <p:graphicFrame>
        <p:nvGraphicFramePr>
          <p:cNvPr id="2050" name="Object 0"/>
          <p:cNvGraphicFramePr>
            <a:graphicFrameLocks noChangeAspect="1"/>
          </p:cNvGraphicFramePr>
          <p:nvPr/>
        </p:nvGraphicFramePr>
        <p:xfrm>
          <a:off x="7392145" y="1844825"/>
          <a:ext cx="2664295" cy="10867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86405" name="CorelDRAW" r:id="rId1" imgW="2316480" imgH="944880" progId="">
                  <p:embed/>
                </p:oleObj>
              </mc:Choice>
              <mc:Fallback>
                <p:oleObj name="CorelDRAW" r:id="rId1" imgW="2316480" imgH="944880" progId="">
                  <p:embed/>
                  <p:pic>
                    <p:nvPicPr>
                      <p:cNvPr id="0" name="Object 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92145" y="1844825"/>
                        <a:ext cx="2664295" cy="108672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5" name="灯片编号占位符 3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/>
          <a:p>
            <a:r>
              <a:rPr lang="en-US" altLang="zh-CN"/>
              <a:t>4-</a:t>
            </a:r>
            <a:fld id="{9E7D579D-E67C-4C58-8D4A-57D0CCE6C47C}" type="slidenum">
              <a:rPr lang="en-US" altLang="zh-CN"/>
            </a:fld>
            <a:endParaRPr lang="en-US" altLang="zh-CN"/>
          </a:p>
        </p:txBody>
      </p:sp>
      <p:sp>
        <p:nvSpPr>
          <p:cNvPr id="3076" name="Rectangle 2"/>
          <p:cNvSpPr>
            <a:spLocks noGrp="1" noChangeArrowheads="1"/>
          </p:cNvSpPr>
          <p:nvPr>
            <p:ph type="title"/>
          </p:nvPr>
        </p:nvSpPr>
        <p:spPr>
          <a:xfrm>
            <a:off x="1919536" y="0"/>
            <a:ext cx="8229600" cy="1143000"/>
          </a:xfrm>
        </p:spPr>
        <p:txBody>
          <a:bodyPr/>
          <a:lstStyle/>
          <a:p>
            <a:r>
              <a:rPr lang="zh-CN" altLang="en-US" dirty="0">
                <a:ea typeface="宋体" panose="02010600030101010101" pitchFamily="2" charset="-122"/>
              </a:rPr>
              <a:t>运算单元</a:t>
            </a:r>
            <a:endParaRPr lang="en-US" altLang="zh-CN" dirty="0">
              <a:ea typeface="宋体" panose="02010600030101010101" pitchFamily="2" charset="-122"/>
            </a:endParaRPr>
          </a:p>
        </p:txBody>
      </p:sp>
      <p:sp>
        <p:nvSpPr>
          <p:cNvPr id="307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775520" y="1052736"/>
            <a:ext cx="8534400" cy="548640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zh-CN" altLang="en-US" dirty="0">
                <a:solidFill>
                  <a:srgbClr val="CE0000"/>
                </a:solidFill>
                <a:ea typeface="宋体" panose="02010600030101010101" pitchFamily="2" charset="-122"/>
              </a:rPr>
              <a:t>功能单元</a:t>
            </a:r>
            <a:r>
              <a:rPr lang="en-US" altLang="zh-CN" dirty="0">
                <a:solidFill>
                  <a:srgbClr val="CE0000"/>
                </a:solidFill>
                <a:ea typeface="宋体" panose="02010600030101010101" pitchFamily="2" charset="-122"/>
              </a:rPr>
              <a:t>(Functional Units)</a:t>
            </a:r>
            <a:endParaRPr lang="en-US" altLang="zh-CN" dirty="0">
              <a:solidFill>
                <a:srgbClr val="CE0000"/>
              </a:solidFill>
              <a:ea typeface="宋体" panose="02010600030101010101" pitchFamily="2" charset="-122"/>
            </a:endParaRPr>
          </a:p>
          <a:p>
            <a:pPr lvl="1">
              <a:buNone/>
            </a:pPr>
            <a:r>
              <a:rPr lang="en-US" altLang="zh-CN" dirty="0">
                <a:ea typeface="宋体" panose="02010600030101010101" pitchFamily="2" charset="-122"/>
              </a:rPr>
              <a:t>ALU = Arithmetic and Logic Unit,</a:t>
            </a:r>
            <a:r>
              <a:rPr lang="zh-CN" altLang="en-US" dirty="0">
                <a:ea typeface="宋体" panose="02010600030101010101" pitchFamily="2" charset="-122"/>
              </a:rPr>
              <a:t>算术逻辑运算单元</a:t>
            </a:r>
            <a:endParaRPr lang="en-US" altLang="zh-CN" dirty="0">
              <a:ea typeface="宋体" panose="02010600030101010101" pitchFamily="2" charset="-122"/>
            </a:endParaRPr>
          </a:p>
          <a:p>
            <a:pPr lvl="1">
              <a:buNone/>
            </a:pPr>
            <a:r>
              <a:rPr lang="zh-CN" altLang="en-US" dirty="0">
                <a:ea typeface="宋体" panose="02010600030101010101" pitchFamily="2" charset="-122"/>
              </a:rPr>
              <a:t> 对操作数进行算术和逻辑运算。</a:t>
            </a:r>
            <a:endParaRPr lang="en-US" altLang="zh-CN" dirty="0">
              <a:ea typeface="宋体" panose="02010600030101010101" pitchFamily="2" charset="-122"/>
            </a:endParaRPr>
          </a:p>
          <a:p>
            <a:pPr lvl="1">
              <a:buNone/>
            </a:pPr>
            <a:r>
              <a:rPr lang="en-US" altLang="zh-CN" dirty="0">
                <a:ea typeface="宋体" panose="02010600030101010101" pitchFamily="2" charset="-122"/>
              </a:rPr>
              <a:t>(</a:t>
            </a:r>
            <a:r>
              <a:rPr lang="zh-CN" altLang="en-US" dirty="0">
                <a:ea typeface="宋体" panose="02010600030101010101" pitchFamily="2" charset="-122"/>
              </a:rPr>
              <a:t>常规：</a:t>
            </a:r>
            <a:r>
              <a:rPr lang="en-US" altLang="zh-CN" dirty="0">
                <a:ea typeface="宋体" panose="02010600030101010101" pitchFamily="2" charset="-122"/>
              </a:rPr>
              <a:t>+</a:t>
            </a:r>
            <a:r>
              <a:rPr lang="zh-CN" altLang="en-US" dirty="0">
                <a:ea typeface="宋体" panose="02010600030101010101" pitchFamily="2" charset="-122"/>
              </a:rPr>
              <a:t>，</a:t>
            </a:r>
            <a:r>
              <a:rPr lang="en-US" altLang="zh-CN" dirty="0">
                <a:ea typeface="宋体" panose="02010600030101010101" pitchFamily="2" charset="-122"/>
              </a:rPr>
              <a:t>-</a:t>
            </a:r>
            <a:r>
              <a:rPr lang="zh-CN" altLang="en-US" dirty="0">
                <a:ea typeface="宋体" panose="02010600030101010101" pitchFamily="2" charset="-122"/>
              </a:rPr>
              <a:t>，</a:t>
            </a:r>
            <a:r>
              <a:rPr lang="en-US" altLang="zh-CN" dirty="0" err="1">
                <a:ea typeface="宋体" panose="02010600030101010101" pitchFamily="2" charset="-122"/>
              </a:rPr>
              <a:t>and,or,not</a:t>
            </a:r>
            <a:endParaRPr lang="en-US" altLang="zh-CN" dirty="0">
              <a:ea typeface="宋体" panose="02010600030101010101" pitchFamily="2" charset="-122"/>
            </a:endParaRPr>
          </a:p>
          <a:p>
            <a:pPr lvl="1">
              <a:buNone/>
            </a:pPr>
            <a:r>
              <a:rPr lang="en-US" altLang="zh-CN" dirty="0">
                <a:ea typeface="宋体" panose="02010600030101010101" pitchFamily="2" charset="-122"/>
              </a:rPr>
              <a:t>  </a:t>
            </a:r>
            <a:r>
              <a:rPr lang="zh-CN" altLang="en-US" dirty="0">
                <a:ea typeface="宋体" panose="02010600030101010101" pitchFamily="2" charset="-122"/>
              </a:rPr>
              <a:t>或者特殊的</a:t>
            </a:r>
            <a:r>
              <a:rPr lang="en-US" altLang="zh-CN" dirty="0" err="1">
                <a:ea typeface="宋体" panose="02010600030101010101" pitchFamily="2" charset="-122"/>
              </a:rPr>
              <a:t>multiply,Division</a:t>
            </a:r>
            <a:r>
              <a:rPr lang="en-US" altLang="zh-CN" dirty="0">
                <a:ea typeface="宋体" panose="02010600030101010101" pitchFamily="2" charset="-122"/>
              </a:rPr>
              <a:t>,</a:t>
            </a:r>
            <a:endParaRPr lang="en-US" altLang="zh-CN" dirty="0">
              <a:ea typeface="宋体" panose="02010600030101010101" pitchFamily="2" charset="-122"/>
            </a:endParaRPr>
          </a:p>
          <a:p>
            <a:pPr lvl="1">
              <a:buNone/>
            </a:pPr>
            <a:r>
              <a:rPr lang="en-US" altLang="zh-CN" dirty="0">
                <a:ea typeface="宋体" panose="02010600030101010101" pitchFamily="2" charset="-122"/>
              </a:rPr>
              <a:t> square root, …)</a:t>
            </a:r>
            <a:endParaRPr lang="en-US" altLang="zh-CN" dirty="0">
              <a:ea typeface="宋体" panose="02010600030101010101" pitchFamily="2" charset="-122"/>
            </a:endParaRPr>
          </a:p>
          <a:p>
            <a:pPr lvl="1">
              <a:buNone/>
            </a:pPr>
            <a:r>
              <a:rPr lang="en-US" altLang="zh-CN" dirty="0">
                <a:ea typeface="宋体" panose="02010600030101010101" pitchFamily="2" charset="-122"/>
              </a:rPr>
              <a:t>LC-3 performs only ADD, AND, NOT</a:t>
            </a:r>
            <a:endParaRPr lang="en-US" altLang="zh-CN" dirty="0">
              <a:ea typeface="宋体" panose="02010600030101010101" pitchFamily="2" charset="-122"/>
            </a:endParaRPr>
          </a:p>
          <a:p>
            <a:pPr>
              <a:buNone/>
            </a:pPr>
            <a:r>
              <a:rPr lang="zh-CN" altLang="en-US" dirty="0">
                <a:solidFill>
                  <a:srgbClr val="CE0000"/>
                </a:solidFill>
                <a:ea typeface="宋体" panose="02010600030101010101" pitchFamily="2" charset="-122"/>
              </a:rPr>
              <a:t>寄存器（临时存储单元）</a:t>
            </a:r>
            <a:endParaRPr lang="en-US" altLang="zh-CN" dirty="0">
              <a:solidFill>
                <a:srgbClr val="CE0000"/>
              </a:solidFill>
              <a:ea typeface="宋体" panose="02010600030101010101" pitchFamily="2" charset="-122"/>
            </a:endParaRPr>
          </a:p>
          <a:p>
            <a:pPr lvl="1">
              <a:buNone/>
            </a:pPr>
            <a:r>
              <a:rPr lang="zh-CN" altLang="en-US" dirty="0">
                <a:ea typeface="宋体" panose="02010600030101010101" pitchFamily="2" charset="-122"/>
              </a:rPr>
              <a:t>用于存放操作数、运算中间结果的小容量的临时存储单元</a:t>
            </a:r>
            <a:endParaRPr lang="en-US" altLang="zh-CN" dirty="0">
              <a:ea typeface="宋体" panose="02010600030101010101" pitchFamily="2" charset="-122"/>
            </a:endParaRPr>
          </a:p>
          <a:p>
            <a:pPr lvl="1">
              <a:buNone/>
            </a:pPr>
            <a:r>
              <a:rPr lang="en-US" altLang="zh-CN" dirty="0">
                <a:ea typeface="宋体" panose="02010600030101010101" pitchFamily="2" charset="-122"/>
              </a:rPr>
              <a:t>LC-3 </a:t>
            </a:r>
            <a:r>
              <a:rPr lang="zh-CN" altLang="en-US" dirty="0">
                <a:ea typeface="宋体" panose="02010600030101010101" pitchFamily="2" charset="-122"/>
              </a:rPr>
              <a:t>有</a:t>
            </a:r>
            <a:r>
              <a:rPr lang="en-US" altLang="zh-CN" dirty="0">
                <a:ea typeface="宋体" panose="02010600030101010101" pitchFamily="2" charset="-122"/>
              </a:rPr>
              <a:t>8</a:t>
            </a:r>
            <a:r>
              <a:rPr lang="zh-CN" altLang="en-US" dirty="0">
                <a:ea typeface="宋体" panose="02010600030101010101" pitchFamily="2" charset="-122"/>
              </a:rPr>
              <a:t>个</a:t>
            </a:r>
            <a:r>
              <a:rPr lang="en-US" altLang="zh-CN" dirty="0">
                <a:ea typeface="宋体" panose="02010600030101010101" pitchFamily="2" charset="-122"/>
              </a:rPr>
              <a:t>16</a:t>
            </a:r>
            <a:r>
              <a:rPr lang="zh-CN" altLang="en-US" dirty="0">
                <a:ea typeface="宋体" panose="02010600030101010101" pitchFamily="2" charset="-122"/>
              </a:rPr>
              <a:t>位</a:t>
            </a:r>
            <a:r>
              <a:rPr lang="en-US" altLang="zh-CN" dirty="0">
                <a:ea typeface="宋体" panose="02010600030101010101" pitchFamily="2" charset="-122"/>
              </a:rPr>
              <a:t>(R0, …, R7)</a:t>
            </a:r>
            <a:r>
              <a:rPr lang="zh-CN" altLang="en-US" dirty="0">
                <a:ea typeface="宋体" panose="02010600030101010101" pitchFamily="2" charset="-122"/>
              </a:rPr>
              <a:t>的寄存器</a:t>
            </a:r>
            <a:endParaRPr lang="en-US" altLang="zh-CN" dirty="0">
              <a:ea typeface="宋体" panose="02010600030101010101" pitchFamily="2" charset="-122"/>
            </a:endParaRPr>
          </a:p>
          <a:p>
            <a:pPr>
              <a:buNone/>
            </a:pPr>
            <a:r>
              <a:rPr lang="zh-CN" altLang="en-US" dirty="0">
                <a:solidFill>
                  <a:srgbClr val="CE0000"/>
                </a:solidFill>
                <a:ea typeface="宋体" panose="02010600030101010101" pitchFamily="2" charset="-122"/>
              </a:rPr>
              <a:t>字长</a:t>
            </a:r>
            <a:endParaRPr lang="en-US" altLang="zh-CN" dirty="0">
              <a:solidFill>
                <a:srgbClr val="CE0000"/>
              </a:solidFill>
              <a:ea typeface="宋体" panose="02010600030101010101" pitchFamily="2" charset="-122"/>
            </a:endParaRPr>
          </a:p>
          <a:p>
            <a:pPr lvl="1">
              <a:buNone/>
            </a:pPr>
            <a:r>
              <a:rPr lang="zh-CN" altLang="en-US" dirty="0">
                <a:ea typeface="宋体" panose="02010600030101010101" pitchFamily="2" charset="-122"/>
              </a:rPr>
              <a:t>运算器支持的操作数的最大宽度</a:t>
            </a:r>
            <a:r>
              <a:rPr lang="en-US" altLang="zh-CN" dirty="0">
                <a:ea typeface="宋体" panose="02010600030101010101" pitchFamily="2" charset="-122"/>
              </a:rPr>
              <a:t>/</a:t>
            </a:r>
            <a:r>
              <a:rPr lang="zh-CN" altLang="en-US" dirty="0">
                <a:ea typeface="宋体" panose="02010600030101010101" pitchFamily="2" charset="-122"/>
              </a:rPr>
              <a:t>寄存器的宽度</a:t>
            </a:r>
            <a:endParaRPr lang="en-US" altLang="zh-CN" dirty="0">
              <a:ea typeface="宋体" panose="02010600030101010101" pitchFamily="2" charset="-122"/>
            </a:endParaRPr>
          </a:p>
          <a:p>
            <a:pPr lvl="1">
              <a:buNone/>
            </a:pPr>
            <a:r>
              <a:rPr lang="en-US" altLang="zh-CN" dirty="0">
                <a:ea typeface="宋体" panose="02010600030101010101" pitchFamily="2" charset="-122"/>
              </a:rPr>
              <a:t>LC-3 </a:t>
            </a:r>
            <a:r>
              <a:rPr lang="zh-CN" altLang="en-US" dirty="0">
                <a:ea typeface="宋体" panose="02010600030101010101" pitchFamily="2" charset="-122"/>
              </a:rPr>
              <a:t>是</a:t>
            </a:r>
            <a:r>
              <a:rPr lang="en-US" altLang="zh-CN" dirty="0">
                <a:ea typeface="宋体" panose="02010600030101010101" pitchFamily="2" charset="-122"/>
              </a:rPr>
              <a:t>16</a:t>
            </a:r>
            <a:r>
              <a:rPr lang="zh-CN" altLang="en-US" dirty="0">
                <a:ea typeface="宋体" panose="02010600030101010101" pitchFamily="2" charset="-122"/>
              </a:rPr>
              <a:t>位的</a:t>
            </a:r>
            <a:endParaRPr lang="en-US" altLang="zh-CN" dirty="0">
              <a:ea typeface="宋体" panose="02010600030101010101" pitchFamily="2" charset="-122"/>
            </a:endParaRPr>
          </a:p>
        </p:txBody>
      </p:sp>
      <p:graphicFrame>
        <p:nvGraphicFramePr>
          <p:cNvPr id="3074" name="Object 4"/>
          <p:cNvGraphicFramePr>
            <a:graphicFrameLocks noChangeAspect="1"/>
          </p:cNvGraphicFramePr>
          <p:nvPr/>
        </p:nvGraphicFramePr>
        <p:xfrm>
          <a:off x="7032104" y="1844824"/>
          <a:ext cx="3473450" cy="15890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87429" name="CorelDRAW" r:id="rId1" imgW="2316480" imgH="1057910" progId="">
                  <p:embed/>
                </p:oleObj>
              </mc:Choice>
              <mc:Fallback>
                <p:oleObj name="CorelDRAW" r:id="rId1" imgW="2316480" imgH="1057910" progId="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32104" y="1844824"/>
                        <a:ext cx="3473450" cy="15890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0" name="灯片编号占位符 3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/>
          <a:p>
            <a:r>
              <a:rPr lang="en-US" altLang="zh-CN"/>
              <a:t>4-</a:t>
            </a:r>
            <a:fld id="{8DF3EB70-50F4-4B40-B208-75CC67DCE6D8}" type="slidenum">
              <a:rPr lang="en-US" altLang="zh-CN"/>
            </a:fld>
            <a:endParaRPr lang="en-US" altLang="zh-CN"/>
          </a:p>
        </p:txBody>
      </p:sp>
      <p:sp>
        <p:nvSpPr>
          <p:cNvPr id="4101" name="Rectangle 2"/>
          <p:cNvSpPr>
            <a:spLocks noGrp="1" noChangeArrowheads="1"/>
          </p:cNvSpPr>
          <p:nvPr>
            <p:ph type="title"/>
          </p:nvPr>
        </p:nvSpPr>
        <p:spPr>
          <a:xfrm>
            <a:off x="1991544" y="0"/>
            <a:ext cx="8229600" cy="1143000"/>
          </a:xfrm>
        </p:spPr>
        <p:txBody>
          <a:bodyPr/>
          <a:lstStyle/>
          <a:p>
            <a:r>
              <a:rPr lang="zh-CN" altLang="en-US" dirty="0">
                <a:ea typeface="宋体" panose="02010600030101010101" pitchFamily="2" charset="-122"/>
              </a:rPr>
              <a:t>输入和输出设备</a:t>
            </a:r>
            <a:endParaRPr lang="en-US" altLang="zh-CN" dirty="0">
              <a:ea typeface="宋体" panose="02010600030101010101" pitchFamily="2" charset="-122"/>
            </a:endParaRPr>
          </a:p>
        </p:txBody>
      </p:sp>
      <p:sp>
        <p:nvSpPr>
          <p:cNvPr id="410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752600" y="1143000"/>
            <a:ext cx="8735888" cy="5715000"/>
          </a:xfrm>
        </p:spPr>
        <p:txBody>
          <a:bodyPr>
            <a:normAutofit lnSpcReduction="10000"/>
          </a:bodyPr>
          <a:lstStyle/>
          <a:p>
            <a:pPr>
              <a:lnSpc>
                <a:spcPct val="90000"/>
              </a:lnSpc>
            </a:pPr>
            <a:r>
              <a:rPr lang="zh-CN" altLang="en-US" dirty="0">
                <a:ea typeface="宋体" panose="02010600030101010101" pitchFamily="2" charset="-122"/>
              </a:rPr>
              <a:t>输入设备：提供数据给内存</a:t>
            </a:r>
            <a:endParaRPr lang="en-US" altLang="zh-CN" dirty="0">
              <a:ea typeface="宋体" panose="02010600030101010101" pitchFamily="2" charset="-122"/>
            </a:endParaRPr>
          </a:p>
          <a:p>
            <a:pPr>
              <a:lnSpc>
                <a:spcPct val="90000"/>
              </a:lnSpc>
              <a:buNone/>
            </a:pPr>
            <a:r>
              <a:rPr lang="zh-CN" altLang="en-US" dirty="0">
                <a:ea typeface="宋体" panose="02010600030101010101" pitchFamily="2" charset="-122"/>
              </a:rPr>
              <a:t>   输出设备：负责从内存转换数据给用户</a:t>
            </a:r>
            <a:endParaRPr lang="en-US" altLang="zh-CN" dirty="0">
              <a:ea typeface="宋体" panose="02010600030101010101" pitchFamily="2" charset="-122"/>
            </a:endParaRPr>
          </a:p>
          <a:p>
            <a:pPr>
              <a:lnSpc>
                <a:spcPct val="90000"/>
              </a:lnSpc>
            </a:pPr>
            <a:endParaRPr lang="en-US" altLang="zh-CN" dirty="0">
              <a:ea typeface="宋体" panose="02010600030101010101" pitchFamily="2" charset="-122"/>
            </a:endParaRPr>
          </a:p>
          <a:p>
            <a:pPr>
              <a:lnSpc>
                <a:spcPct val="90000"/>
              </a:lnSpc>
            </a:pPr>
            <a:r>
              <a:rPr lang="zh-CN" altLang="en-US" dirty="0">
                <a:ea typeface="宋体" panose="02010600030101010101" pitchFamily="2" charset="-122"/>
              </a:rPr>
              <a:t>每个输入输出设备具有自己的访问接口，一般是一组专用寄存器。类似内存接口的</a:t>
            </a:r>
            <a:r>
              <a:rPr lang="en-US" altLang="zh-CN" dirty="0">
                <a:ea typeface="宋体" panose="02010600030101010101" pitchFamily="2" charset="-122"/>
              </a:rPr>
              <a:t>MDR/MAR</a:t>
            </a:r>
            <a:r>
              <a:rPr lang="zh-CN" altLang="en-US" dirty="0">
                <a:ea typeface="宋体" panose="02010600030101010101" pitchFamily="2" charset="-122"/>
              </a:rPr>
              <a:t>寄存器。</a:t>
            </a:r>
            <a:endParaRPr lang="en-US" altLang="zh-CN" dirty="0">
              <a:ea typeface="宋体" panose="02010600030101010101" pitchFamily="2" charset="-122"/>
            </a:endParaRPr>
          </a:p>
          <a:p>
            <a:pPr>
              <a:lnSpc>
                <a:spcPct val="90000"/>
              </a:lnSpc>
            </a:pPr>
            <a:endParaRPr lang="en-US" altLang="zh-CN" dirty="0">
              <a:ea typeface="宋体" panose="02010600030101010101" pitchFamily="2" charset="-122"/>
            </a:endParaRPr>
          </a:p>
          <a:p>
            <a:pPr>
              <a:lnSpc>
                <a:spcPct val="90000"/>
              </a:lnSpc>
            </a:pPr>
            <a:r>
              <a:rPr lang="en-US" altLang="zh-CN" dirty="0">
                <a:ea typeface="宋体" panose="02010600030101010101" pitchFamily="2" charset="-122"/>
              </a:rPr>
              <a:t>LC-3 </a:t>
            </a:r>
            <a:r>
              <a:rPr lang="zh-CN" altLang="en-US" dirty="0">
                <a:ea typeface="宋体" panose="02010600030101010101" pitchFamily="2" charset="-122"/>
              </a:rPr>
              <a:t>支持键盘输入：</a:t>
            </a:r>
            <a:r>
              <a:rPr lang="en-US" altLang="zh-CN" dirty="0">
                <a:ea typeface="宋体" panose="02010600030101010101" pitchFamily="2" charset="-122"/>
              </a:rPr>
              <a:t>keyboard (input)</a:t>
            </a:r>
            <a:r>
              <a:rPr lang="zh-CN" altLang="en-US" dirty="0">
                <a:ea typeface="宋体" panose="02010600030101010101" pitchFamily="2" charset="-122"/>
              </a:rPr>
              <a:t>和显示输出：</a:t>
            </a:r>
            <a:r>
              <a:rPr lang="en-US" altLang="zh-CN" dirty="0">
                <a:ea typeface="宋体" panose="02010600030101010101" pitchFamily="2" charset="-122"/>
              </a:rPr>
              <a:t> monitor (output)</a:t>
            </a:r>
            <a:endParaRPr lang="en-US" altLang="zh-CN" dirty="0">
              <a:ea typeface="宋体" panose="02010600030101010101" pitchFamily="2" charset="-122"/>
            </a:endParaRPr>
          </a:p>
          <a:p>
            <a:pPr lvl="1">
              <a:lnSpc>
                <a:spcPct val="90000"/>
              </a:lnSpc>
            </a:pPr>
            <a:r>
              <a:rPr lang="en-US" altLang="zh-CN" dirty="0">
                <a:ea typeface="宋体" panose="02010600030101010101" pitchFamily="2" charset="-122"/>
              </a:rPr>
              <a:t>keyboard: </a:t>
            </a:r>
            <a:r>
              <a:rPr lang="zh-CN" altLang="en-US" dirty="0">
                <a:ea typeface="宋体" panose="02010600030101010101" pitchFamily="2" charset="-122"/>
              </a:rPr>
              <a:t>两个寄存器 </a:t>
            </a:r>
            <a:r>
              <a:rPr lang="en-US" altLang="zh-CN" dirty="0">
                <a:ea typeface="宋体" panose="02010600030101010101" pitchFamily="2" charset="-122"/>
              </a:rPr>
              <a:t>data register (KBDR) / status register (KBSR)</a:t>
            </a:r>
            <a:endParaRPr lang="en-US" altLang="zh-CN" dirty="0">
              <a:ea typeface="宋体" panose="02010600030101010101" pitchFamily="2" charset="-122"/>
            </a:endParaRPr>
          </a:p>
          <a:p>
            <a:pPr lvl="1">
              <a:lnSpc>
                <a:spcPct val="90000"/>
              </a:lnSpc>
            </a:pPr>
            <a:r>
              <a:rPr lang="en-US" altLang="zh-CN" dirty="0">
                <a:ea typeface="宋体" panose="02010600030101010101" pitchFamily="2" charset="-122"/>
              </a:rPr>
              <a:t>monitor:</a:t>
            </a:r>
            <a:r>
              <a:rPr lang="zh-CN" altLang="en-US" dirty="0">
                <a:ea typeface="宋体" panose="02010600030101010101" pitchFamily="2" charset="-122"/>
              </a:rPr>
              <a:t>  </a:t>
            </a:r>
            <a:r>
              <a:rPr lang="en-US" altLang="zh-CN" dirty="0">
                <a:ea typeface="宋体" panose="02010600030101010101" pitchFamily="2" charset="-122"/>
              </a:rPr>
              <a:t> </a:t>
            </a:r>
            <a:r>
              <a:rPr lang="zh-CN" altLang="en-US" dirty="0">
                <a:ea typeface="宋体" panose="02010600030101010101" pitchFamily="2" charset="-122"/>
              </a:rPr>
              <a:t>两个寄存器   </a:t>
            </a:r>
            <a:r>
              <a:rPr lang="en-US" altLang="zh-CN" dirty="0">
                <a:ea typeface="宋体" panose="02010600030101010101" pitchFamily="2" charset="-122"/>
              </a:rPr>
              <a:t>data register (DDR) /status register (DSR)</a:t>
            </a:r>
            <a:endParaRPr lang="en-US" altLang="zh-CN" dirty="0">
              <a:ea typeface="宋体" panose="02010600030101010101" pitchFamily="2" charset="-122"/>
            </a:endParaRPr>
          </a:p>
          <a:p>
            <a:pPr>
              <a:lnSpc>
                <a:spcPct val="90000"/>
              </a:lnSpc>
            </a:pPr>
            <a:r>
              <a:rPr lang="zh-CN" altLang="en-US" dirty="0">
                <a:ea typeface="宋体" panose="02010600030101010101" pitchFamily="2" charset="-122"/>
              </a:rPr>
              <a:t>设备可同时支持输出和输入功能</a:t>
            </a:r>
            <a:endParaRPr lang="en-US" altLang="zh-CN" dirty="0">
              <a:ea typeface="宋体" panose="02010600030101010101" pitchFamily="2" charset="-122"/>
            </a:endParaRPr>
          </a:p>
          <a:p>
            <a:pPr lvl="1">
              <a:lnSpc>
                <a:spcPct val="90000"/>
              </a:lnSpc>
            </a:pPr>
            <a:r>
              <a:rPr lang="en-US" altLang="zh-CN" dirty="0">
                <a:ea typeface="宋体" panose="02010600030101010101" pitchFamily="2" charset="-122"/>
              </a:rPr>
              <a:t>disk, network</a:t>
            </a:r>
            <a:endParaRPr lang="en-US" altLang="zh-CN" dirty="0">
              <a:ea typeface="宋体" panose="02010600030101010101" pitchFamily="2" charset="-122"/>
            </a:endParaRPr>
          </a:p>
          <a:p>
            <a:pPr>
              <a:lnSpc>
                <a:spcPct val="90000"/>
              </a:lnSpc>
            </a:pPr>
            <a:r>
              <a:rPr lang="zh-CN" altLang="en-US" dirty="0">
                <a:ea typeface="宋体" panose="02010600030101010101" pitchFamily="2" charset="-122"/>
              </a:rPr>
              <a:t>控制设备访问的程序通常称为设备驱动程序（</a:t>
            </a:r>
            <a:r>
              <a:rPr lang="en-US" altLang="zh-CN" i="1" dirty="0">
                <a:ea typeface="宋体" panose="02010600030101010101" pitchFamily="2" charset="-122"/>
              </a:rPr>
              <a:t>driver</a:t>
            </a:r>
            <a:r>
              <a:rPr lang="zh-CN" altLang="en-US" i="1" dirty="0">
                <a:ea typeface="宋体" panose="02010600030101010101" pitchFamily="2" charset="-122"/>
              </a:rPr>
              <a:t>）</a:t>
            </a:r>
            <a:r>
              <a:rPr lang="en-US" altLang="zh-CN" dirty="0">
                <a:ea typeface="宋体" panose="02010600030101010101" pitchFamily="2" charset="-122"/>
              </a:rPr>
              <a:t>.</a:t>
            </a:r>
            <a:endParaRPr lang="en-US" altLang="zh-CN" dirty="0">
              <a:ea typeface="宋体" panose="02010600030101010101" pitchFamily="2" charset="-122"/>
            </a:endParaRPr>
          </a:p>
        </p:txBody>
      </p:sp>
      <p:graphicFrame>
        <p:nvGraphicFramePr>
          <p:cNvPr id="4098" name="Object 4"/>
          <p:cNvGraphicFramePr>
            <a:graphicFrameLocks noChangeAspect="1"/>
          </p:cNvGraphicFramePr>
          <p:nvPr/>
        </p:nvGraphicFramePr>
        <p:xfrm>
          <a:off x="8112224" y="692696"/>
          <a:ext cx="1287463" cy="15160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88456" name="CorelDRAW" r:id="rId1" imgW="1286510" imgH="1515110" progId="">
                  <p:embed/>
                </p:oleObj>
              </mc:Choice>
              <mc:Fallback>
                <p:oleObj name="CorelDRAW" r:id="rId1" imgW="1286510" imgH="1515110" progId="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112224" y="692696"/>
                        <a:ext cx="1287463" cy="15160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99" name="Object 5"/>
          <p:cNvGraphicFramePr>
            <a:graphicFrameLocks noChangeAspect="1"/>
          </p:cNvGraphicFramePr>
          <p:nvPr/>
        </p:nvGraphicFramePr>
        <p:xfrm>
          <a:off x="9380537" y="692696"/>
          <a:ext cx="1287463" cy="15160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88457" name="CorelDRAW" r:id="rId3" imgW="1286510" imgH="1515110" progId="">
                  <p:embed/>
                </p:oleObj>
              </mc:Choice>
              <mc:Fallback>
                <p:oleObj name="CorelDRAW" r:id="rId3" imgW="1286510" imgH="1515110" progId="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380537" y="692696"/>
                        <a:ext cx="1287463" cy="15160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3" name="灯片编号占位符 3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/>
          <a:p>
            <a:r>
              <a:rPr lang="en-US" altLang="zh-CN"/>
              <a:t>4-</a:t>
            </a:r>
            <a:fld id="{C314407A-3D1B-4C0B-8B3C-EF0EF539D5A5}" type="slidenum">
              <a:rPr lang="en-US" altLang="zh-CN"/>
            </a:fld>
            <a:endParaRPr lang="en-US" altLang="zh-CN"/>
          </a:p>
        </p:txBody>
      </p:sp>
      <p:sp>
        <p:nvSpPr>
          <p:cNvPr id="5124" name="Rectangle 2"/>
          <p:cNvSpPr>
            <a:spLocks noGrp="1" noChangeArrowheads="1"/>
          </p:cNvSpPr>
          <p:nvPr>
            <p:ph type="title"/>
          </p:nvPr>
        </p:nvSpPr>
        <p:spPr>
          <a:xfrm>
            <a:off x="1919536" y="116632"/>
            <a:ext cx="8229600" cy="936104"/>
          </a:xfrm>
        </p:spPr>
        <p:txBody>
          <a:bodyPr/>
          <a:lstStyle/>
          <a:p>
            <a:r>
              <a:rPr lang="zh-CN" altLang="en-US" dirty="0">
                <a:ea typeface="宋体" panose="02010600030101010101" pitchFamily="2" charset="-122"/>
              </a:rPr>
              <a:t>控制单元</a:t>
            </a:r>
            <a:endParaRPr lang="en-US" altLang="zh-CN" dirty="0">
              <a:ea typeface="宋体" panose="02010600030101010101" pitchFamily="2" charset="-122"/>
            </a:endParaRPr>
          </a:p>
        </p:txBody>
      </p:sp>
      <p:sp>
        <p:nvSpPr>
          <p:cNvPr id="512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752600" y="1066800"/>
            <a:ext cx="8534400" cy="5486400"/>
          </a:xfrm>
        </p:spPr>
        <p:txBody>
          <a:bodyPr>
            <a:normAutofit fontScale="92500" lnSpcReduction="10000"/>
          </a:bodyPr>
          <a:lstStyle/>
          <a:p>
            <a:pPr>
              <a:buNone/>
            </a:pPr>
            <a:r>
              <a:rPr lang="zh-CN" altLang="en-US" dirty="0">
                <a:ea typeface="宋体" panose="02010600030101010101" pitchFamily="2" charset="-122"/>
              </a:rPr>
              <a:t>协同其他所有单元之间的工作。</a:t>
            </a:r>
            <a:endParaRPr lang="en-US" altLang="zh-CN" dirty="0">
              <a:ea typeface="宋体" panose="02010600030101010101" pitchFamily="2" charset="-122"/>
            </a:endParaRPr>
          </a:p>
          <a:p>
            <a:pPr>
              <a:buNone/>
            </a:pPr>
            <a:endParaRPr lang="en-US" altLang="zh-CN" sz="2000" dirty="0">
              <a:ea typeface="宋体" panose="02010600030101010101" pitchFamily="2" charset="-122"/>
            </a:endParaRPr>
          </a:p>
          <a:p>
            <a:pPr>
              <a:buNone/>
            </a:pPr>
            <a:endParaRPr lang="en-US" altLang="zh-CN" sz="2000" dirty="0">
              <a:ea typeface="宋体" panose="02010600030101010101" pitchFamily="2" charset="-122"/>
            </a:endParaRPr>
          </a:p>
          <a:p>
            <a:pPr>
              <a:buNone/>
            </a:pPr>
            <a:endParaRPr lang="en-US" altLang="zh-CN" dirty="0">
              <a:solidFill>
                <a:srgbClr val="CE0000"/>
              </a:solidFill>
              <a:ea typeface="宋体" panose="02010600030101010101" pitchFamily="2" charset="-122"/>
            </a:endParaRPr>
          </a:p>
          <a:p>
            <a:pPr>
              <a:buNone/>
            </a:pPr>
            <a:endParaRPr lang="en-US" altLang="zh-CN" dirty="0">
              <a:solidFill>
                <a:srgbClr val="CE0000"/>
              </a:solidFill>
              <a:ea typeface="宋体" panose="02010600030101010101" pitchFamily="2" charset="-122"/>
            </a:endParaRPr>
          </a:p>
          <a:p>
            <a:pPr>
              <a:buNone/>
            </a:pPr>
            <a:endParaRPr lang="en-US" altLang="zh-CN" dirty="0">
              <a:solidFill>
                <a:srgbClr val="CE0000"/>
              </a:solidFill>
              <a:ea typeface="宋体" panose="02010600030101010101" pitchFamily="2" charset="-122"/>
            </a:endParaRPr>
          </a:p>
          <a:p>
            <a:pPr>
              <a:buNone/>
            </a:pPr>
            <a:r>
              <a:rPr lang="zh-CN" altLang="en-US" dirty="0">
                <a:solidFill>
                  <a:srgbClr val="CE0000"/>
                </a:solidFill>
                <a:ea typeface="宋体" panose="02010600030101010101" pitchFamily="2" charset="-122"/>
              </a:rPr>
              <a:t>两个重要的寄存器：</a:t>
            </a:r>
            <a:endParaRPr lang="en-US" altLang="zh-CN" dirty="0">
              <a:solidFill>
                <a:srgbClr val="CE0000"/>
              </a:solidFill>
              <a:ea typeface="宋体" panose="02010600030101010101" pitchFamily="2" charset="-122"/>
            </a:endParaRPr>
          </a:p>
          <a:p>
            <a:pPr>
              <a:buNone/>
            </a:pPr>
            <a:r>
              <a:rPr lang="en-US" altLang="zh-CN" dirty="0">
                <a:solidFill>
                  <a:srgbClr val="CE0000"/>
                </a:solidFill>
                <a:ea typeface="宋体" panose="02010600030101010101" pitchFamily="2" charset="-122"/>
              </a:rPr>
              <a:t>1</a:t>
            </a:r>
            <a:r>
              <a:rPr lang="zh-CN" altLang="en-US" dirty="0">
                <a:solidFill>
                  <a:srgbClr val="CE0000"/>
                </a:solidFill>
                <a:ea typeface="宋体" panose="02010600030101010101" pitchFamily="2" charset="-122"/>
              </a:rPr>
              <a:t> 指令寄存器：</a:t>
            </a:r>
            <a:r>
              <a:rPr lang="en-US" altLang="zh-CN" dirty="0">
                <a:solidFill>
                  <a:srgbClr val="CE0000"/>
                </a:solidFill>
                <a:ea typeface="宋体" panose="02010600030101010101" pitchFamily="2" charset="-122"/>
              </a:rPr>
              <a:t>Instruction Register</a:t>
            </a:r>
            <a:r>
              <a:rPr lang="en-US" altLang="zh-CN" dirty="0">
                <a:ea typeface="宋体" panose="02010600030101010101" pitchFamily="2" charset="-122"/>
              </a:rPr>
              <a:t> (IR) </a:t>
            </a:r>
            <a:r>
              <a:rPr lang="zh-CN" altLang="en-US" dirty="0">
                <a:ea typeface="宋体" panose="02010600030101010101" pitchFamily="2" charset="-122"/>
              </a:rPr>
              <a:t>存放当前执行指令的内容。</a:t>
            </a:r>
            <a:endParaRPr lang="en-US" altLang="zh-CN" dirty="0">
              <a:ea typeface="宋体" panose="02010600030101010101" pitchFamily="2" charset="-122"/>
            </a:endParaRPr>
          </a:p>
          <a:p>
            <a:pPr>
              <a:buNone/>
            </a:pPr>
            <a:r>
              <a:rPr lang="en-US" altLang="zh-CN" dirty="0">
                <a:solidFill>
                  <a:srgbClr val="CE0000"/>
                </a:solidFill>
                <a:ea typeface="宋体" panose="02010600030101010101" pitchFamily="2" charset="-122"/>
              </a:rPr>
              <a:t>2</a:t>
            </a:r>
            <a:r>
              <a:rPr lang="zh-CN" altLang="en-US" dirty="0">
                <a:solidFill>
                  <a:srgbClr val="CE0000"/>
                </a:solidFill>
                <a:ea typeface="宋体" panose="02010600030101010101" pitchFamily="2" charset="-122"/>
              </a:rPr>
              <a:t> 程序寄存器：</a:t>
            </a:r>
            <a:r>
              <a:rPr lang="en-US" altLang="zh-CN" dirty="0">
                <a:solidFill>
                  <a:srgbClr val="CE0000"/>
                </a:solidFill>
                <a:ea typeface="宋体" panose="02010600030101010101" pitchFamily="2" charset="-122"/>
              </a:rPr>
              <a:t>Program Counter</a:t>
            </a:r>
            <a:r>
              <a:rPr lang="en-US" altLang="zh-CN" dirty="0">
                <a:ea typeface="宋体" panose="02010600030101010101" pitchFamily="2" charset="-122"/>
              </a:rPr>
              <a:t> (PC) </a:t>
            </a:r>
            <a:r>
              <a:rPr lang="zh-CN" altLang="en-US" dirty="0">
                <a:ea typeface="宋体" panose="02010600030101010101" pitchFamily="2" charset="-122"/>
              </a:rPr>
              <a:t>存放下一条要执行指令的地址</a:t>
            </a:r>
            <a:r>
              <a:rPr lang="en-US" altLang="zh-CN" dirty="0">
                <a:ea typeface="宋体" panose="02010600030101010101" pitchFamily="2" charset="-122"/>
              </a:rPr>
              <a:t>.</a:t>
            </a:r>
            <a:endParaRPr lang="en-US" altLang="zh-CN" dirty="0">
              <a:ea typeface="宋体" panose="02010600030101010101" pitchFamily="2" charset="-122"/>
            </a:endParaRPr>
          </a:p>
          <a:p>
            <a:pPr marL="713105" lvl="1" indent="-259080"/>
            <a:r>
              <a:rPr lang="zh-CN" altLang="en-US" sz="1800" b="1" dirty="0">
                <a:solidFill>
                  <a:schemeClr val="tx2"/>
                </a:solidFill>
              </a:rPr>
              <a:t>自加</a:t>
            </a:r>
            <a:r>
              <a:rPr lang="en-US" altLang="zh-CN" sz="1800" b="1" dirty="0">
                <a:solidFill>
                  <a:schemeClr val="tx2"/>
                </a:solidFill>
              </a:rPr>
              <a:t>:</a:t>
            </a:r>
            <a:r>
              <a:rPr lang="zh-CN" altLang="en-US" sz="1800" b="1" dirty="0">
                <a:solidFill>
                  <a:schemeClr val="tx2"/>
                </a:solidFill>
              </a:rPr>
              <a:t>   当指令顺序执行时，由</a:t>
            </a:r>
            <a:r>
              <a:rPr lang="en-US" altLang="zh-CN" sz="1800" b="1" dirty="0">
                <a:solidFill>
                  <a:schemeClr val="tx2"/>
                </a:solidFill>
              </a:rPr>
              <a:t>PC+1</a:t>
            </a:r>
            <a:r>
              <a:rPr lang="zh-CN" altLang="en-US" sz="1800" b="1" dirty="0">
                <a:solidFill>
                  <a:schemeClr val="tx2"/>
                </a:solidFill>
              </a:rPr>
              <a:t>产生下一条指令的地址；</a:t>
            </a:r>
            <a:endParaRPr lang="zh-CN" altLang="en-US" sz="1800" b="1" dirty="0">
              <a:solidFill>
                <a:schemeClr val="tx2"/>
              </a:solidFill>
            </a:endParaRPr>
          </a:p>
          <a:p>
            <a:pPr marL="713105" lvl="1" indent="-259080"/>
            <a:r>
              <a:rPr lang="zh-CN" altLang="en-US" sz="1800" b="1" dirty="0">
                <a:solidFill>
                  <a:schemeClr val="tx2"/>
                </a:solidFill>
              </a:rPr>
              <a:t>可改写</a:t>
            </a:r>
            <a:r>
              <a:rPr lang="en-US" altLang="zh-CN" sz="1800" b="1" dirty="0">
                <a:solidFill>
                  <a:schemeClr val="tx2"/>
                </a:solidFill>
              </a:rPr>
              <a:t>:</a:t>
            </a:r>
            <a:r>
              <a:rPr lang="zh-CN" altLang="en-US" sz="1800" b="1" dirty="0">
                <a:solidFill>
                  <a:schemeClr val="tx2"/>
                </a:solidFill>
              </a:rPr>
              <a:t>当遇到转移指令时，</a:t>
            </a:r>
            <a:r>
              <a:rPr lang="zh-CN" altLang="en-US" sz="1800" b="1" dirty="0">
                <a:solidFill>
                  <a:srgbClr val="006600"/>
                </a:solidFill>
              </a:rPr>
              <a:t>转移地址</a:t>
            </a:r>
            <a:r>
              <a:rPr lang="zh-CN" altLang="en-US" sz="1800" b="1" dirty="0">
                <a:solidFill>
                  <a:schemeClr val="tx2"/>
                </a:solidFill>
                <a:sym typeface="Wingdings" panose="05000000000000000000" pitchFamily="2" charset="2"/>
              </a:rPr>
              <a:t></a:t>
            </a:r>
            <a:r>
              <a:rPr lang="en-US" altLang="zh-CN" sz="1800" b="1" dirty="0">
                <a:solidFill>
                  <a:schemeClr val="tx2"/>
                </a:solidFill>
              </a:rPr>
              <a:t>PC</a:t>
            </a:r>
            <a:r>
              <a:rPr lang="zh-CN" altLang="en-US" sz="1800" b="1" dirty="0">
                <a:solidFill>
                  <a:schemeClr val="tx2"/>
                </a:solidFill>
              </a:rPr>
              <a:t>作为下一条指令的地址。</a:t>
            </a:r>
            <a:endParaRPr lang="zh-CN" altLang="en-US" sz="1800" b="1" dirty="0">
              <a:solidFill>
                <a:schemeClr val="tx2"/>
              </a:solidFill>
            </a:endParaRPr>
          </a:p>
          <a:p>
            <a:pPr>
              <a:buNone/>
            </a:pPr>
            <a:endParaRPr lang="en-US" altLang="zh-CN" dirty="0">
              <a:ea typeface="宋体" panose="02010600030101010101" pitchFamily="2" charset="-122"/>
            </a:endParaRPr>
          </a:p>
          <a:p>
            <a:pPr marL="0" indent="0">
              <a:lnSpc>
                <a:spcPct val="90000"/>
              </a:lnSpc>
              <a:buNone/>
            </a:pPr>
            <a:r>
              <a:rPr lang="zh-CN" altLang="en-US" sz="2800" b="1" dirty="0">
                <a:solidFill>
                  <a:schemeClr val="tx2"/>
                </a:solidFill>
              </a:rPr>
              <a:t>控制器的功能就是控制指令的执行过程</a:t>
            </a:r>
            <a:r>
              <a:rPr lang="zh-CN" altLang="en-US" sz="2800" b="1" dirty="0">
                <a:solidFill>
                  <a:srgbClr val="FF6600"/>
                </a:solidFill>
              </a:rPr>
              <a:t> </a:t>
            </a:r>
            <a:endParaRPr lang="zh-CN" altLang="en-US" sz="2800" b="1" dirty="0">
              <a:solidFill>
                <a:srgbClr val="FF6600"/>
              </a:solidFill>
            </a:endParaRPr>
          </a:p>
        </p:txBody>
      </p:sp>
      <p:graphicFrame>
        <p:nvGraphicFramePr>
          <p:cNvPr id="5122" name="Object 5"/>
          <p:cNvGraphicFramePr>
            <a:graphicFrameLocks noChangeAspect="1"/>
          </p:cNvGraphicFramePr>
          <p:nvPr/>
        </p:nvGraphicFramePr>
        <p:xfrm>
          <a:off x="3215680" y="1772816"/>
          <a:ext cx="4689475" cy="11922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89477" name="CorelDRAW" r:id="rId1" imgW="3916680" imgH="1057910" progId="">
                  <p:embed/>
                </p:oleObj>
              </mc:Choice>
              <mc:Fallback>
                <p:oleObj name="CorelDRAW" r:id="rId1" imgW="3916680" imgH="1057910" progId="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15680" y="1772816"/>
                        <a:ext cx="4689475" cy="11922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1981200" y="274638"/>
            <a:ext cx="8229600" cy="706090"/>
          </a:xfrm>
        </p:spPr>
        <p:txBody>
          <a:bodyPr>
            <a:normAutofit fontScale="90000"/>
          </a:bodyPr>
          <a:lstStyle/>
          <a:p>
            <a:r>
              <a:rPr lang="en-US" altLang="zh-CN" dirty="0"/>
              <a:t>LC-3</a:t>
            </a:r>
            <a:r>
              <a:rPr lang="zh-CN" altLang="en-US" dirty="0"/>
              <a:t>体系结构</a:t>
            </a:r>
            <a:endParaRPr lang="zh-CN" altLang="en-US" dirty="0"/>
          </a:p>
        </p:txBody>
      </p:sp>
      <p:pic>
        <p:nvPicPr>
          <p:cNvPr id="515074" name="Picture 2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 bwMode="auto">
          <a:xfrm>
            <a:off x="2855640" y="836712"/>
            <a:ext cx="6429375" cy="5457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zh-CN" altLang="en-US" dirty="0"/>
              <a:t>内存：包括存储单元，以及</a:t>
            </a:r>
            <a:r>
              <a:rPr lang="en-US" altLang="zh-CN" dirty="0"/>
              <a:t>16</a:t>
            </a:r>
            <a:r>
              <a:rPr lang="zh-CN" altLang="en-US" dirty="0"/>
              <a:t>位的</a:t>
            </a:r>
            <a:r>
              <a:rPr lang="en-US" altLang="zh-CN" dirty="0"/>
              <a:t>MAR</a:t>
            </a:r>
            <a:r>
              <a:rPr lang="zh-CN" altLang="en-US" dirty="0"/>
              <a:t>和</a:t>
            </a:r>
            <a:r>
              <a:rPr lang="en-US" altLang="zh-CN" dirty="0"/>
              <a:t>16</a:t>
            </a:r>
            <a:r>
              <a:rPr lang="zh-CN" altLang="en-US" dirty="0"/>
              <a:t>位的</a:t>
            </a:r>
            <a:r>
              <a:rPr lang="en-US" altLang="zh-CN" dirty="0"/>
              <a:t>MDR</a:t>
            </a:r>
            <a:r>
              <a:rPr lang="zh-CN" altLang="en-US" dirty="0"/>
              <a:t>寄存器。</a:t>
            </a:r>
            <a:r>
              <a:rPr lang="en-US" altLang="zh-CN" dirty="0"/>
              <a:t>2</a:t>
            </a:r>
            <a:r>
              <a:rPr lang="en-US" altLang="zh-CN" baseline="30000" dirty="0"/>
              <a:t>16</a:t>
            </a:r>
            <a:r>
              <a:rPr lang="en-US" altLang="zh-CN" dirty="0"/>
              <a:t>x16bit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处理单元</a:t>
            </a:r>
            <a:r>
              <a:rPr lang="en-US" altLang="zh-CN" dirty="0"/>
              <a:t>: </a:t>
            </a:r>
            <a:r>
              <a:rPr lang="zh-CN" altLang="en-US" dirty="0"/>
              <a:t>包括</a:t>
            </a:r>
            <a:r>
              <a:rPr lang="en-US" altLang="zh-CN" dirty="0"/>
              <a:t>ALU</a:t>
            </a:r>
            <a:r>
              <a:rPr lang="zh-CN" altLang="en-US" dirty="0"/>
              <a:t>和</a:t>
            </a:r>
            <a:r>
              <a:rPr lang="en-US" altLang="zh-CN" dirty="0"/>
              <a:t>8</a:t>
            </a:r>
            <a:r>
              <a:rPr lang="zh-CN" altLang="en-US" dirty="0"/>
              <a:t>个</a:t>
            </a:r>
            <a:r>
              <a:rPr lang="en-US" altLang="zh-CN" dirty="0"/>
              <a:t>16</a:t>
            </a:r>
            <a:r>
              <a:rPr lang="zh-CN" altLang="en-US" dirty="0"/>
              <a:t>位的寄存器</a:t>
            </a:r>
            <a:r>
              <a:rPr lang="en-US" altLang="zh-CN" dirty="0"/>
              <a:t>(R0-R7)</a:t>
            </a:r>
            <a:r>
              <a:rPr lang="zh-CN" altLang="en-US" dirty="0"/>
              <a:t>。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控制单元：</a:t>
            </a:r>
            <a:r>
              <a:rPr lang="en-US" altLang="zh-CN" dirty="0"/>
              <a:t>PC,IR</a:t>
            </a:r>
            <a:r>
              <a:rPr lang="zh-CN" altLang="en-US" dirty="0"/>
              <a:t>寄存器和控制逻辑有限状态机</a:t>
            </a:r>
            <a:r>
              <a:rPr lang="en-US" altLang="zh-CN" dirty="0"/>
              <a:t>FSM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输入和输出单元：键盘和显示器。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部件的连接</a:t>
            </a:r>
            <a:r>
              <a:rPr lang="en-US" altLang="zh-CN" dirty="0"/>
              <a:t>:</a:t>
            </a:r>
            <a:r>
              <a:rPr lang="zh-CN" altLang="en-US" dirty="0"/>
              <a:t> 总线 </a:t>
            </a:r>
            <a:r>
              <a:rPr lang="en-US" altLang="zh-CN" dirty="0"/>
              <a:t>,</a:t>
            </a:r>
            <a:r>
              <a:rPr lang="zh-CN" altLang="en-US" dirty="0"/>
              <a:t>同一时间只允许一个主设备使用</a:t>
            </a:r>
            <a:endParaRPr lang="zh-CN" altLang="en-US" dirty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LC-3</a:t>
            </a:r>
            <a:r>
              <a:rPr lang="zh-CN" altLang="en-US" dirty="0"/>
              <a:t>的</a:t>
            </a:r>
            <a:r>
              <a:rPr lang="en-US" altLang="zh-CN" dirty="0"/>
              <a:t>5</a:t>
            </a:r>
            <a:r>
              <a:rPr lang="zh-CN" altLang="en-US" dirty="0"/>
              <a:t>大部件</a:t>
            </a:r>
            <a:endParaRPr lang="zh-CN" altLang="en-US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513026" name="Picture 2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 bwMode="auto">
          <a:xfrm>
            <a:off x="2567608" y="0"/>
            <a:ext cx="6423049" cy="63891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冯</a:t>
            </a:r>
            <a:r>
              <a:rPr lang="en-US" altLang="zh-CN" dirty="0"/>
              <a:t>.</a:t>
            </a:r>
            <a:r>
              <a:rPr lang="zh-CN" altLang="en-US" dirty="0"/>
              <a:t>诺伊曼模型的核心思想：程序和数据都是以</a:t>
            </a:r>
            <a:r>
              <a:rPr lang="en-US" altLang="zh-CN" dirty="0"/>
              <a:t>bit</a:t>
            </a:r>
            <a:r>
              <a:rPr lang="zh-CN" altLang="en-US" dirty="0"/>
              <a:t>流的方式存放在计算机内存中，程序在控制单元的控制下，依次完成指令的读取和执行。</a:t>
            </a:r>
            <a:endParaRPr lang="zh-CN" altLang="en-US" dirty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指令处理</a:t>
            </a:r>
            <a:endParaRPr lang="zh-CN" altLang="en-US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灯片编号占位符 3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/>
          <a:p>
            <a:r>
              <a:rPr lang="en-US" altLang="zh-CN"/>
              <a:t>4-</a:t>
            </a:r>
            <a:fld id="{236C6CF9-5F52-4B9D-9FE1-5F31841018B7}" type="slidenum">
              <a:rPr lang="en-US" altLang="zh-CN"/>
            </a:fld>
            <a:endParaRPr lang="en-US" altLang="zh-CN"/>
          </a:p>
        </p:txBody>
      </p:sp>
      <p:sp>
        <p:nvSpPr>
          <p:cNvPr id="12291" name="Rectangle 2"/>
          <p:cNvSpPr>
            <a:spLocks noGrp="1" noChangeArrowheads="1"/>
          </p:cNvSpPr>
          <p:nvPr>
            <p:ph type="title"/>
          </p:nvPr>
        </p:nvSpPr>
        <p:spPr>
          <a:xfrm>
            <a:off x="1919536" y="0"/>
            <a:ext cx="8229600" cy="1143000"/>
          </a:xfrm>
        </p:spPr>
        <p:txBody>
          <a:bodyPr/>
          <a:lstStyle/>
          <a:p>
            <a:r>
              <a:rPr lang="zh-CN" altLang="en-US" dirty="0">
                <a:ea typeface="宋体" panose="02010600030101010101" pitchFamily="2" charset="-122"/>
              </a:rPr>
              <a:t>指令：</a:t>
            </a:r>
            <a:endParaRPr lang="en-US" altLang="zh-CN" dirty="0">
              <a:ea typeface="宋体" panose="02010600030101010101" pitchFamily="2" charset="-122"/>
            </a:endParaRPr>
          </a:p>
        </p:txBody>
      </p:sp>
      <p:sp>
        <p:nvSpPr>
          <p:cNvPr id="1229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775520" y="980728"/>
            <a:ext cx="8305800" cy="5544616"/>
          </a:xfrm>
        </p:spPr>
        <p:txBody>
          <a:bodyPr>
            <a:noAutofit/>
          </a:bodyPr>
          <a:lstStyle/>
          <a:p>
            <a:r>
              <a:rPr lang="zh-CN" altLang="en-US" sz="2000" dirty="0">
                <a:ea typeface="宋体" panose="02010600030101010101" pitchFamily="2" charset="-122"/>
              </a:rPr>
              <a:t>指令是由硬件电路直接完成的计算机执行的最小单位。</a:t>
            </a:r>
            <a:endParaRPr lang="en-US" altLang="zh-CN" sz="2000" dirty="0">
              <a:ea typeface="宋体" panose="02010600030101010101" pitchFamily="2" charset="-122"/>
            </a:endParaRPr>
          </a:p>
          <a:p>
            <a:r>
              <a:rPr lang="zh-CN" altLang="en-US" sz="2000" dirty="0">
                <a:ea typeface="宋体" panose="02010600030101010101" pitchFamily="2" charset="-122"/>
              </a:rPr>
              <a:t>指令由两部分组成</a:t>
            </a:r>
            <a:r>
              <a:rPr lang="en-US" altLang="zh-CN" sz="2000" dirty="0">
                <a:ea typeface="宋体" panose="02010600030101010101" pitchFamily="2" charset="-122"/>
              </a:rPr>
              <a:t>:</a:t>
            </a:r>
            <a:endParaRPr lang="en-US" altLang="zh-CN" sz="2000" dirty="0">
              <a:ea typeface="宋体" panose="02010600030101010101" pitchFamily="2" charset="-122"/>
            </a:endParaRPr>
          </a:p>
          <a:p>
            <a:pPr lvl="1"/>
            <a:r>
              <a:rPr lang="zh-CN" altLang="en-US" sz="2000" i="1" u="sng" dirty="0">
                <a:ea typeface="宋体" panose="02010600030101010101" pitchFamily="2" charset="-122"/>
              </a:rPr>
              <a:t>操作码 </a:t>
            </a:r>
            <a:r>
              <a:rPr lang="en-US" altLang="zh-CN" sz="2000" i="1" u="sng" dirty="0" err="1">
                <a:ea typeface="宋体" panose="02010600030101010101" pitchFamily="2" charset="-122"/>
              </a:rPr>
              <a:t>opcode</a:t>
            </a:r>
            <a:r>
              <a:rPr lang="en-US" altLang="zh-CN" sz="2000" dirty="0">
                <a:ea typeface="宋体" panose="02010600030101010101" pitchFamily="2" charset="-122"/>
              </a:rPr>
              <a:t>: </a:t>
            </a:r>
            <a:r>
              <a:rPr lang="zh-CN" altLang="en-US" sz="2000" dirty="0">
                <a:ea typeface="宋体" panose="02010600030101010101" pitchFamily="2" charset="-122"/>
              </a:rPr>
              <a:t>   指示指令具体做什么操作</a:t>
            </a:r>
            <a:endParaRPr lang="en-US" altLang="zh-CN" sz="2000" dirty="0">
              <a:ea typeface="宋体" panose="02010600030101010101" pitchFamily="2" charset="-122"/>
            </a:endParaRPr>
          </a:p>
          <a:p>
            <a:pPr lvl="1"/>
            <a:r>
              <a:rPr lang="zh-CN" altLang="en-US" sz="2000" i="1" u="sng" dirty="0">
                <a:ea typeface="宋体" panose="02010600030101010101" pitchFamily="2" charset="-122"/>
              </a:rPr>
              <a:t>操作数 </a:t>
            </a:r>
            <a:r>
              <a:rPr lang="en-US" altLang="zh-CN" sz="2000" i="1" u="sng" dirty="0">
                <a:ea typeface="宋体" panose="02010600030101010101" pitchFamily="2" charset="-122"/>
              </a:rPr>
              <a:t>operands</a:t>
            </a:r>
            <a:r>
              <a:rPr lang="en-US" altLang="zh-CN" sz="2000" dirty="0">
                <a:ea typeface="宋体" panose="02010600030101010101" pitchFamily="2" charset="-122"/>
              </a:rPr>
              <a:t>: </a:t>
            </a:r>
            <a:r>
              <a:rPr lang="zh-CN" altLang="en-US" sz="2000" dirty="0">
                <a:ea typeface="宋体" panose="02010600030101010101" pitchFamily="2" charset="-122"/>
              </a:rPr>
              <a:t>指示操作的对象，一般存放操作数的地址（寄存器和内存地址），也可以在指令中直接存放较小的操作数。</a:t>
            </a:r>
            <a:endParaRPr lang="en-US" altLang="zh-CN" sz="2000" dirty="0">
              <a:ea typeface="宋体" panose="02010600030101010101" pitchFamily="2" charset="-122"/>
            </a:endParaRPr>
          </a:p>
          <a:p>
            <a:pPr lvl="1"/>
            <a:r>
              <a:rPr lang="zh-CN" altLang="en-US" sz="2000" dirty="0">
                <a:ea typeface="宋体" panose="02010600030101010101" pitchFamily="2" charset="-122"/>
              </a:rPr>
              <a:t>指令实质是一串二进制代码</a:t>
            </a:r>
            <a:endParaRPr lang="en-US" altLang="zh-CN" sz="2000" dirty="0">
              <a:ea typeface="宋体" panose="02010600030101010101" pitchFamily="2" charset="-122"/>
            </a:endParaRPr>
          </a:p>
          <a:p>
            <a:pPr lvl="1"/>
            <a:r>
              <a:rPr lang="zh-CN" altLang="en-US" sz="2000" dirty="0">
                <a:ea typeface="宋体" panose="02010600030101010101" pitchFamily="2" charset="-122"/>
              </a:rPr>
              <a:t>指令的助记形式</a:t>
            </a:r>
            <a:r>
              <a:rPr lang="en-US" altLang="zh-CN" sz="2000" dirty="0">
                <a:ea typeface="宋体" panose="02010600030101010101" pitchFamily="2" charset="-122"/>
              </a:rPr>
              <a:t>:</a:t>
            </a:r>
            <a:r>
              <a:rPr lang="zh-CN" altLang="en-US" sz="2000" dirty="0">
                <a:ea typeface="宋体" panose="02010600030101010101" pitchFamily="2" charset="-122"/>
              </a:rPr>
              <a:t> </a:t>
            </a:r>
            <a:r>
              <a:rPr lang="en-US" altLang="zh-CN" sz="2000" dirty="0">
                <a:ea typeface="宋体" panose="02010600030101010101" pitchFamily="2" charset="-122"/>
              </a:rPr>
              <a:t>ADD R1,R2,R3     ADD R1,R2,1</a:t>
            </a:r>
            <a:endParaRPr lang="en-US" altLang="zh-CN" sz="2000" dirty="0">
              <a:ea typeface="宋体" panose="02010600030101010101" pitchFamily="2" charset="-122"/>
            </a:endParaRPr>
          </a:p>
          <a:p>
            <a:r>
              <a:rPr lang="zh-CN" altLang="en-US" sz="2000" dirty="0">
                <a:ea typeface="宋体" panose="02010600030101010101" pitchFamily="2" charset="-122"/>
              </a:rPr>
              <a:t>和数据信息一样，指令信息也必需用二进制编码。</a:t>
            </a:r>
            <a:endParaRPr lang="en-US" altLang="zh-CN" sz="2000" i="1" dirty="0">
              <a:ea typeface="宋体" panose="02010600030101010101" pitchFamily="2" charset="-122"/>
            </a:endParaRPr>
          </a:p>
          <a:p>
            <a:pPr lvl="1"/>
            <a:r>
              <a:rPr lang="zh-CN" altLang="en-US" sz="2000" b="0" dirty="0">
                <a:ea typeface="宋体" panose="02010600030101010101" pitchFamily="2" charset="-122"/>
              </a:rPr>
              <a:t>简单的计算机系统里面指令一般具有固定的二进制编码长度比如说</a:t>
            </a:r>
            <a:r>
              <a:rPr lang="en-US" altLang="zh-CN" sz="2000" b="0" dirty="0">
                <a:ea typeface="宋体" panose="02010600030101010101" pitchFamily="2" charset="-122"/>
              </a:rPr>
              <a:t>16 </a:t>
            </a:r>
            <a:r>
              <a:rPr lang="zh-CN" altLang="en-US" sz="2000" b="0" dirty="0">
                <a:ea typeface="宋体" panose="02010600030101010101" pitchFamily="2" charset="-122"/>
              </a:rPr>
              <a:t>或者</a:t>
            </a:r>
            <a:r>
              <a:rPr lang="en-US" altLang="zh-CN" sz="2000" b="0" dirty="0">
                <a:ea typeface="宋体" panose="02010600030101010101" pitchFamily="2" charset="-122"/>
              </a:rPr>
              <a:t> 32 </a:t>
            </a:r>
            <a:r>
              <a:rPr lang="zh-CN" altLang="en-US" sz="2000" b="0" dirty="0">
                <a:ea typeface="宋体" panose="02010600030101010101" pitchFamily="2" charset="-122"/>
              </a:rPr>
              <a:t>位（指令字长）</a:t>
            </a:r>
            <a:r>
              <a:rPr lang="en-US" altLang="zh-CN" sz="2000" b="0" dirty="0">
                <a:ea typeface="宋体" panose="02010600030101010101" pitchFamily="2" charset="-122"/>
              </a:rPr>
              <a:t>.</a:t>
            </a:r>
            <a:endParaRPr lang="en-US" altLang="zh-CN" sz="2000" b="0" dirty="0">
              <a:ea typeface="宋体" panose="02010600030101010101" pitchFamily="2" charset="-122"/>
            </a:endParaRPr>
          </a:p>
          <a:p>
            <a:pPr lvl="1"/>
            <a:r>
              <a:rPr lang="zh-CN" altLang="en-US" sz="2000" b="0" dirty="0">
                <a:ea typeface="宋体" panose="02010600030101010101" pitchFamily="2" charset="-122"/>
              </a:rPr>
              <a:t>控制单元负责具体解释每条指令并</a:t>
            </a:r>
            <a:r>
              <a:rPr lang="zh-CN" altLang="en-US" sz="2000" dirty="0">
                <a:ea typeface="宋体" panose="02010600030101010101" pitchFamily="2" charset="-122"/>
              </a:rPr>
              <a:t>产生控制信号协调其它部件来完成指令执行。</a:t>
            </a:r>
            <a:endParaRPr lang="en-US" altLang="zh-CN" sz="2000" b="0" dirty="0">
              <a:ea typeface="宋体" panose="02010600030101010101" pitchFamily="2" charset="-122"/>
            </a:endParaRPr>
          </a:p>
          <a:p>
            <a:pPr lvl="1"/>
            <a:r>
              <a:rPr lang="zh-CN" altLang="en-US" sz="2000" b="0" dirty="0">
                <a:ea typeface="宋体" panose="02010600030101010101" pitchFamily="2" charset="-122"/>
              </a:rPr>
              <a:t>指令的执行具有原子</a:t>
            </a:r>
            <a:r>
              <a:rPr lang="zh-CN" altLang="en-US" sz="2000" dirty="0">
                <a:ea typeface="宋体" panose="02010600030101010101" pitchFamily="2" charset="-122"/>
              </a:rPr>
              <a:t>性：要么全部完成，要么全部</a:t>
            </a:r>
            <a:r>
              <a:rPr lang="zh-CN" altLang="en-US" sz="2000">
                <a:ea typeface="宋体" panose="02010600030101010101" pitchFamily="2" charset="-122"/>
              </a:rPr>
              <a:t>不完成。</a:t>
            </a:r>
            <a:endParaRPr lang="en-US" altLang="zh-CN" sz="2000" dirty="0">
              <a:ea typeface="宋体" panose="02010600030101010101" pitchFamily="2" charset="-122"/>
            </a:endParaRPr>
          </a:p>
          <a:p>
            <a:endParaRPr lang="en-US" altLang="zh-CN" sz="2000" b="0" dirty="0">
              <a:ea typeface="宋体" panose="02010600030101010101" pitchFamily="2" charset="-122"/>
            </a:endParaRPr>
          </a:p>
          <a:p>
            <a:r>
              <a:rPr lang="zh-CN" altLang="en-US" sz="2000" dirty="0">
                <a:ea typeface="宋体" panose="02010600030101010101" pitchFamily="2" charset="-122"/>
              </a:rPr>
              <a:t>一个计算机系统的所有指令和格式称为指令集。</a:t>
            </a:r>
            <a:r>
              <a:rPr lang="en-US" altLang="zh-CN" sz="2000" b="0" i="1" dirty="0">
                <a:solidFill>
                  <a:srgbClr val="CE0000"/>
                </a:solidFill>
                <a:ea typeface="宋体" panose="02010600030101010101" pitchFamily="2" charset="-122"/>
              </a:rPr>
              <a:t>Instruction Set Architecture</a:t>
            </a:r>
            <a:r>
              <a:rPr lang="en-US" altLang="zh-CN" sz="2000" b="0" i="1" dirty="0">
                <a:ea typeface="宋体" panose="02010600030101010101" pitchFamily="2" charset="-122"/>
              </a:rPr>
              <a:t> (ISA)</a:t>
            </a:r>
            <a:r>
              <a:rPr lang="en-US" altLang="zh-CN" sz="2000" dirty="0">
                <a:ea typeface="宋体" panose="02010600030101010101" pitchFamily="2" charset="-122"/>
              </a:rPr>
              <a:t>.</a:t>
            </a:r>
            <a:endParaRPr lang="en-US" altLang="zh-CN" sz="2000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灯片编号占位符 3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/>
          <a:p>
            <a:r>
              <a:rPr lang="en-US" altLang="zh-CN"/>
              <a:t>4-</a:t>
            </a:r>
            <a:fld id="{62DFE0D7-64A6-4962-84B2-F59DF65C0620}" type="slidenum">
              <a:rPr lang="en-US" altLang="zh-CN"/>
            </a:fld>
            <a:endParaRPr lang="en-US" altLang="zh-CN"/>
          </a:p>
        </p:txBody>
      </p:sp>
      <p:sp>
        <p:nvSpPr>
          <p:cNvPr id="1331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ea typeface="宋体" panose="02010600030101010101" pitchFamily="2" charset="-122"/>
              </a:rPr>
              <a:t>指令编码 例</a:t>
            </a:r>
            <a:r>
              <a:rPr lang="en-US" altLang="zh-CN" dirty="0">
                <a:ea typeface="宋体" panose="02010600030101010101" pitchFamily="2" charset="-122"/>
              </a:rPr>
              <a:t>: LC-3</a:t>
            </a:r>
            <a:r>
              <a:rPr lang="zh-CN" altLang="en-US" dirty="0">
                <a:ea typeface="宋体" panose="02010600030101010101" pitchFamily="2" charset="-122"/>
              </a:rPr>
              <a:t>的</a:t>
            </a:r>
            <a:r>
              <a:rPr lang="en-US" altLang="zh-CN" dirty="0">
                <a:ea typeface="宋体" panose="02010600030101010101" pitchFamily="2" charset="-122"/>
              </a:rPr>
              <a:t>ADD</a:t>
            </a:r>
            <a:r>
              <a:rPr lang="zh-CN" altLang="en-US" dirty="0">
                <a:ea typeface="宋体" panose="02010600030101010101" pitchFamily="2" charset="-122"/>
              </a:rPr>
              <a:t>指令</a:t>
            </a:r>
            <a:endParaRPr lang="en-US" altLang="zh-CN" dirty="0">
              <a:ea typeface="宋体" panose="02010600030101010101" pitchFamily="2" charset="-122"/>
            </a:endParaRPr>
          </a:p>
        </p:txBody>
      </p:sp>
      <p:sp>
        <p:nvSpPr>
          <p:cNvPr id="13316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>
                <a:ea typeface="宋体" panose="02010600030101010101" pitchFamily="2" charset="-122"/>
              </a:rPr>
              <a:t>LC-3</a:t>
            </a:r>
            <a:r>
              <a:rPr lang="zh-CN" altLang="en-US" sz="2800" dirty="0">
                <a:ea typeface="宋体" panose="02010600030101010101" pitchFamily="2" charset="-122"/>
              </a:rPr>
              <a:t>指令字长 ：</a:t>
            </a:r>
            <a:r>
              <a:rPr lang="en-US" altLang="zh-CN" sz="2800" dirty="0">
                <a:ea typeface="宋体" panose="02010600030101010101" pitchFamily="2" charset="-122"/>
              </a:rPr>
              <a:t>16bit</a:t>
            </a:r>
            <a:r>
              <a:rPr lang="en-US" altLang="zh-CN" dirty="0">
                <a:ea typeface="宋体" panose="02010600030101010101" pitchFamily="2" charset="-122"/>
              </a:rPr>
              <a:t>.</a:t>
            </a:r>
            <a:endParaRPr lang="en-US" altLang="zh-CN" dirty="0">
              <a:ea typeface="宋体" panose="02010600030101010101" pitchFamily="2" charset="-122"/>
            </a:endParaRPr>
          </a:p>
          <a:p>
            <a:pPr lvl="1"/>
            <a:r>
              <a:rPr lang="zh-CN" altLang="en-US" dirty="0">
                <a:ea typeface="宋体" panose="02010600030101010101" pitchFamily="2" charset="-122"/>
              </a:rPr>
              <a:t>高四位</a:t>
            </a:r>
            <a:r>
              <a:rPr lang="en-US" altLang="zh-CN" dirty="0">
                <a:ea typeface="宋体" panose="02010600030101010101" pitchFamily="2" charset="-122"/>
              </a:rPr>
              <a:t>bits [15:12]</a:t>
            </a:r>
            <a:r>
              <a:rPr lang="zh-CN" altLang="en-US" dirty="0">
                <a:ea typeface="宋体" panose="02010600030101010101" pitchFamily="2" charset="-122"/>
              </a:rPr>
              <a:t>编码指令的操作码，最多</a:t>
            </a:r>
            <a:r>
              <a:rPr lang="en-US" altLang="zh-CN" dirty="0">
                <a:ea typeface="宋体" panose="02010600030101010101" pitchFamily="2" charset="-122"/>
              </a:rPr>
              <a:t>16</a:t>
            </a:r>
            <a:r>
              <a:rPr lang="zh-CN" altLang="en-US" dirty="0">
                <a:ea typeface="宋体" panose="02010600030101010101" pitchFamily="2" charset="-122"/>
              </a:rPr>
              <a:t>条指令。</a:t>
            </a:r>
            <a:endParaRPr lang="en-US" altLang="zh-CN" dirty="0">
              <a:ea typeface="宋体" panose="02010600030101010101" pitchFamily="2" charset="-122"/>
            </a:endParaRPr>
          </a:p>
          <a:p>
            <a:r>
              <a:rPr lang="en-US" altLang="zh-CN" dirty="0">
                <a:ea typeface="宋体" panose="02010600030101010101" pitchFamily="2" charset="-122"/>
              </a:rPr>
              <a:t>LC-3 </a:t>
            </a:r>
            <a:r>
              <a:rPr lang="zh-CN" altLang="en-US" dirty="0">
                <a:ea typeface="宋体" panose="02010600030101010101" pitchFamily="2" charset="-122"/>
              </a:rPr>
              <a:t>运算单元具有</a:t>
            </a:r>
            <a:r>
              <a:rPr lang="en-US" altLang="zh-CN" dirty="0">
                <a:ea typeface="宋体" panose="02010600030101010101" pitchFamily="2" charset="-122"/>
              </a:rPr>
              <a:t>8</a:t>
            </a:r>
            <a:r>
              <a:rPr lang="zh-CN" altLang="en-US" dirty="0">
                <a:ea typeface="宋体" panose="02010600030101010101" pitchFamily="2" charset="-122"/>
              </a:rPr>
              <a:t>个</a:t>
            </a:r>
            <a:r>
              <a:rPr lang="en-US" altLang="zh-CN" dirty="0">
                <a:ea typeface="宋体" panose="02010600030101010101" pitchFamily="2" charset="-122"/>
              </a:rPr>
              <a:t>16</a:t>
            </a:r>
            <a:r>
              <a:rPr lang="zh-CN" altLang="en-US" dirty="0">
                <a:ea typeface="宋体" panose="02010600030101010101" pitchFamily="2" charset="-122"/>
              </a:rPr>
              <a:t>位的寄存器</a:t>
            </a:r>
            <a:r>
              <a:rPr lang="en-US" altLang="zh-CN" dirty="0">
                <a:ea typeface="宋体" panose="02010600030101010101" pitchFamily="2" charset="-122"/>
              </a:rPr>
              <a:t> (R0-R7) </a:t>
            </a:r>
            <a:r>
              <a:rPr lang="zh-CN" altLang="en-US" dirty="0">
                <a:ea typeface="宋体" panose="02010600030101010101" pitchFamily="2" charset="-122"/>
              </a:rPr>
              <a:t>用来暂存操作数和计算中间结果</a:t>
            </a:r>
            <a:r>
              <a:rPr lang="en-US" altLang="zh-CN" dirty="0">
                <a:ea typeface="宋体" panose="02010600030101010101" pitchFamily="2" charset="-122"/>
              </a:rPr>
              <a:t>.</a:t>
            </a:r>
            <a:r>
              <a:rPr lang="zh-CN" altLang="en-US" dirty="0">
                <a:ea typeface="宋体" panose="02010600030101010101" pitchFamily="2" charset="-122"/>
              </a:rPr>
              <a:t>可用三位二进制数编码每个寄存器。</a:t>
            </a:r>
            <a:endParaRPr lang="en-US" altLang="zh-CN" dirty="0">
              <a:ea typeface="宋体" panose="02010600030101010101" pitchFamily="2" charset="-122"/>
            </a:endParaRPr>
          </a:p>
          <a:p>
            <a:pPr lvl="1"/>
            <a:r>
              <a:rPr lang="en-US" altLang="zh-CN" dirty="0">
                <a:ea typeface="宋体" panose="02010600030101010101" pitchFamily="2" charset="-122"/>
              </a:rPr>
              <a:t>ADD</a:t>
            </a:r>
            <a:r>
              <a:rPr lang="zh-CN" altLang="en-US" dirty="0">
                <a:ea typeface="宋体" panose="02010600030101010101" pitchFamily="2" charset="-122"/>
              </a:rPr>
              <a:t>指令编码：目的操作数和源操作数都在寄存器中。</a:t>
            </a:r>
            <a:endParaRPr lang="en-US" altLang="zh-CN" dirty="0">
              <a:ea typeface="宋体" panose="02010600030101010101" pitchFamily="2" charset="-122"/>
            </a:endParaRPr>
          </a:p>
        </p:txBody>
      </p:sp>
      <p:sp>
        <p:nvSpPr>
          <p:cNvPr id="13317" name="Text Box 16"/>
          <p:cNvSpPr txBox="1">
            <a:spLocks noChangeArrowheads="1"/>
          </p:cNvSpPr>
          <p:nvPr/>
        </p:nvSpPr>
        <p:spPr bwMode="auto">
          <a:xfrm>
            <a:off x="2423592" y="5877272"/>
            <a:ext cx="3195955" cy="45021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pPr algn="l"/>
            <a:r>
              <a:rPr lang="en-US" altLang="zh-CN" i="1" dirty="0">
                <a:ea typeface="宋体" panose="02010600030101010101" pitchFamily="2" charset="-122"/>
              </a:rPr>
              <a:t>“Add the contents of R2 to the contents of R6,</a:t>
            </a:r>
            <a:br>
              <a:rPr lang="en-US" altLang="zh-CN" i="1" dirty="0">
                <a:ea typeface="宋体" panose="02010600030101010101" pitchFamily="2" charset="-122"/>
              </a:rPr>
            </a:br>
            <a:r>
              <a:rPr lang="en-US" altLang="zh-CN" i="1" dirty="0">
                <a:ea typeface="宋体" panose="02010600030101010101" pitchFamily="2" charset="-122"/>
              </a:rPr>
              <a:t>and store the result in R6.”</a:t>
            </a:r>
            <a:endParaRPr lang="en-US" altLang="zh-CN" i="1" dirty="0">
              <a:ea typeface="宋体" panose="02010600030101010101" pitchFamily="2" charset="-122"/>
            </a:endParaRPr>
          </a:p>
        </p:txBody>
      </p:sp>
      <p:pic>
        <p:nvPicPr>
          <p:cNvPr id="13318" name="Picture 20" descr="C:\Documents and Settings\Greg Byrd\My Documents\ece206\mh-slides\ch04\ch04-11.jpg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 bwMode="auto">
          <a:xfrm>
            <a:off x="2423592" y="4077072"/>
            <a:ext cx="7315200" cy="1822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灯片编号占位符 3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/>
          <a:p>
            <a:r>
              <a:rPr lang="en-US" altLang="zh-CN"/>
              <a:t>4-</a:t>
            </a:r>
            <a:fld id="{38A3CC8F-CA89-4D10-957E-6C99AE38E209}" type="slidenum">
              <a:rPr lang="en-US" altLang="zh-CN"/>
            </a:fld>
            <a:endParaRPr lang="en-US" altLang="zh-CN"/>
          </a:p>
        </p:txBody>
      </p:sp>
      <p:sp>
        <p:nvSpPr>
          <p:cNvPr id="1433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ea typeface="宋体" panose="02010600030101010101" pitchFamily="2" charset="-122"/>
              </a:rPr>
              <a:t>指令编码 例</a:t>
            </a:r>
            <a:r>
              <a:rPr lang="en-US" altLang="zh-CN" dirty="0">
                <a:ea typeface="宋体" panose="02010600030101010101" pitchFamily="2" charset="-122"/>
              </a:rPr>
              <a:t>: LC-3</a:t>
            </a:r>
            <a:r>
              <a:rPr lang="zh-CN" altLang="en-US" dirty="0">
                <a:ea typeface="宋体" panose="02010600030101010101" pitchFamily="2" charset="-122"/>
              </a:rPr>
              <a:t>的</a:t>
            </a:r>
            <a:r>
              <a:rPr lang="en-US" altLang="zh-CN" dirty="0">
                <a:ea typeface="宋体" panose="02010600030101010101" pitchFamily="2" charset="-122"/>
              </a:rPr>
              <a:t>LDR</a:t>
            </a:r>
            <a:r>
              <a:rPr lang="zh-CN" altLang="en-US" dirty="0">
                <a:ea typeface="宋体" panose="02010600030101010101" pitchFamily="2" charset="-122"/>
              </a:rPr>
              <a:t>指令</a:t>
            </a:r>
            <a:endParaRPr lang="en-US" altLang="zh-CN" dirty="0">
              <a:ea typeface="宋体" panose="02010600030101010101" pitchFamily="2" charset="-122"/>
            </a:endParaRPr>
          </a:p>
        </p:txBody>
      </p:sp>
      <p:sp>
        <p:nvSpPr>
          <p:cNvPr id="1434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752600" y="1143000"/>
            <a:ext cx="8686800" cy="1700213"/>
          </a:xfrm>
        </p:spPr>
        <p:txBody>
          <a:bodyPr>
            <a:normAutofit fontScale="92500"/>
          </a:bodyPr>
          <a:lstStyle/>
          <a:p>
            <a:r>
              <a:rPr lang="en-US" altLang="zh-CN" dirty="0">
                <a:ea typeface="宋体" panose="02010600030101010101" pitchFamily="2" charset="-122"/>
              </a:rPr>
              <a:t>Load </a:t>
            </a:r>
            <a:r>
              <a:rPr lang="zh-CN" altLang="en-US" dirty="0">
                <a:ea typeface="宋体" panose="02010600030101010101" pitchFamily="2" charset="-122"/>
              </a:rPr>
              <a:t>指令</a:t>
            </a:r>
            <a:r>
              <a:rPr lang="en-US" altLang="zh-CN" dirty="0">
                <a:ea typeface="宋体" panose="02010600030101010101" pitchFamily="2" charset="-122"/>
              </a:rPr>
              <a:t>– </a:t>
            </a:r>
            <a:r>
              <a:rPr lang="zh-CN" altLang="en-US" dirty="0">
                <a:ea typeface="宋体" panose="02010600030101010101" pitchFamily="2" charset="-122"/>
              </a:rPr>
              <a:t>从内存读数据到寄存器中</a:t>
            </a:r>
            <a:endParaRPr lang="en-US" altLang="zh-CN" dirty="0">
              <a:ea typeface="宋体" panose="02010600030101010101" pitchFamily="2" charset="-122"/>
            </a:endParaRPr>
          </a:p>
          <a:p>
            <a:r>
              <a:rPr lang="zh-CN" altLang="en-US" dirty="0">
                <a:ea typeface="宋体" panose="02010600030101010101" pitchFamily="2" charset="-122"/>
              </a:rPr>
              <a:t>指令中访问</a:t>
            </a:r>
            <a:r>
              <a:rPr lang="en-US" altLang="zh-CN" dirty="0">
                <a:ea typeface="宋体" panose="02010600030101010101" pitchFamily="2" charset="-122"/>
              </a:rPr>
              <a:t>16</a:t>
            </a:r>
            <a:r>
              <a:rPr lang="zh-CN" altLang="en-US" dirty="0">
                <a:ea typeface="宋体" panose="02010600030101010101" pitchFamily="2" charset="-122"/>
              </a:rPr>
              <a:t>位地址的方法：使用基址</a:t>
            </a:r>
            <a:r>
              <a:rPr lang="en-US" altLang="zh-CN" dirty="0">
                <a:ea typeface="宋体" panose="02010600030101010101" pitchFamily="2" charset="-122"/>
              </a:rPr>
              <a:t>+</a:t>
            </a:r>
            <a:r>
              <a:rPr lang="zh-CN" altLang="en-US" dirty="0">
                <a:ea typeface="宋体" panose="02010600030101010101" pitchFamily="2" charset="-122"/>
              </a:rPr>
              <a:t>偏移的模式</a:t>
            </a:r>
            <a:r>
              <a:rPr lang="en-US" altLang="zh-CN" dirty="0">
                <a:ea typeface="宋体" panose="02010600030101010101" pitchFamily="2" charset="-122"/>
              </a:rPr>
              <a:t>:</a:t>
            </a:r>
            <a:endParaRPr lang="en-US" altLang="zh-CN" dirty="0">
              <a:ea typeface="宋体" panose="02010600030101010101" pitchFamily="2" charset="-122"/>
            </a:endParaRPr>
          </a:p>
          <a:p>
            <a:pPr lvl="1"/>
            <a:r>
              <a:rPr lang="zh-CN" altLang="en-US" dirty="0">
                <a:ea typeface="宋体" panose="02010600030101010101" pitchFamily="2" charset="-122"/>
              </a:rPr>
              <a:t>基地</a:t>
            </a:r>
            <a:r>
              <a:rPr lang="en-US" altLang="zh-CN" dirty="0">
                <a:ea typeface="宋体" panose="02010600030101010101" pitchFamily="2" charset="-122"/>
              </a:rPr>
              <a:t>add offset to base register -- result is memory address</a:t>
            </a:r>
            <a:endParaRPr lang="en-US" altLang="zh-CN" dirty="0">
              <a:ea typeface="宋体" panose="02010600030101010101" pitchFamily="2" charset="-122"/>
            </a:endParaRPr>
          </a:p>
          <a:p>
            <a:pPr lvl="1"/>
            <a:r>
              <a:rPr lang="en-US" altLang="zh-CN" dirty="0">
                <a:ea typeface="宋体" panose="02010600030101010101" pitchFamily="2" charset="-122"/>
              </a:rPr>
              <a:t>load from memory address into destination register</a:t>
            </a:r>
            <a:endParaRPr lang="en-US" altLang="zh-CN" dirty="0">
              <a:ea typeface="宋体" panose="02010600030101010101" pitchFamily="2" charset="-122"/>
            </a:endParaRPr>
          </a:p>
        </p:txBody>
      </p:sp>
      <p:sp>
        <p:nvSpPr>
          <p:cNvPr id="14341" name="Text Box 6"/>
          <p:cNvSpPr txBox="1">
            <a:spLocks noChangeArrowheads="1"/>
          </p:cNvSpPr>
          <p:nvPr/>
        </p:nvSpPr>
        <p:spPr bwMode="auto">
          <a:xfrm>
            <a:off x="2438400" y="5029200"/>
            <a:ext cx="3303270" cy="62992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pPr algn="l"/>
            <a:r>
              <a:rPr lang="en-US" altLang="zh-CN" i="1">
                <a:ea typeface="宋体" panose="02010600030101010101" pitchFamily="2" charset="-122"/>
              </a:rPr>
              <a:t>“Add the value 6 to the contents of R3 to form a</a:t>
            </a:r>
            <a:br>
              <a:rPr lang="en-US" altLang="zh-CN" i="1">
                <a:ea typeface="宋体" panose="02010600030101010101" pitchFamily="2" charset="-122"/>
              </a:rPr>
            </a:br>
            <a:r>
              <a:rPr lang="en-US" altLang="zh-CN" i="1">
                <a:ea typeface="宋体" panose="02010600030101010101" pitchFamily="2" charset="-122"/>
              </a:rPr>
              <a:t>memory address.  Load the contents of that </a:t>
            </a:r>
            <a:endParaRPr lang="en-US" altLang="zh-CN" i="1">
              <a:ea typeface="宋体" panose="02010600030101010101" pitchFamily="2" charset="-122"/>
            </a:endParaRPr>
          </a:p>
          <a:p>
            <a:pPr algn="l"/>
            <a:r>
              <a:rPr lang="en-US" altLang="zh-CN" i="1">
                <a:ea typeface="宋体" panose="02010600030101010101" pitchFamily="2" charset="-122"/>
              </a:rPr>
              <a:t>memory location to R2.”</a:t>
            </a:r>
            <a:endParaRPr lang="en-US" altLang="zh-CN" i="1">
              <a:ea typeface="宋体" panose="02010600030101010101" pitchFamily="2" charset="-122"/>
            </a:endParaRPr>
          </a:p>
        </p:txBody>
      </p:sp>
      <p:pic>
        <p:nvPicPr>
          <p:cNvPr id="14342" name="Picture 8" descr="C:\Documents and Settings\Greg Byrd\My Documents\ece206\mh-slides\ch04\ch04-12.jpg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 bwMode="auto">
          <a:xfrm>
            <a:off x="2362200" y="2971800"/>
            <a:ext cx="7315200" cy="1822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灯片编号占位符 3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/>
          <a:p>
            <a:r>
              <a:rPr lang="en-US" altLang="zh-CN"/>
              <a:t>4-</a:t>
            </a:r>
            <a:fld id="{56A1287F-0FE8-4E11-AACF-78997D30EBCA}" type="slidenum">
              <a:rPr lang="en-US" altLang="zh-CN"/>
            </a:fld>
            <a:endParaRPr lang="en-US" altLang="zh-CN"/>
          </a:p>
        </p:txBody>
      </p:sp>
      <p:sp>
        <p:nvSpPr>
          <p:cNvPr id="1126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ea typeface="宋体" panose="02010600030101010101" pitchFamily="2" charset="-122"/>
              </a:rPr>
              <a:t>指令周期的六个步骤</a:t>
            </a:r>
            <a:endParaRPr lang="en-US" altLang="zh-CN" dirty="0">
              <a:ea typeface="宋体" panose="02010600030101010101" pitchFamily="2" charset="-122"/>
            </a:endParaRPr>
          </a:p>
        </p:txBody>
      </p:sp>
      <p:sp>
        <p:nvSpPr>
          <p:cNvPr id="47109" name="Text Box 5"/>
          <p:cNvSpPr txBox="1">
            <a:spLocks noChangeArrowheads="1"/>
          </p:cNvSpPr>
          <p:nvPr/>
        </p:nvSpPr>
        <p:spPr bwMode="auto">
          <a:xfrm>
            <a:off x="3238500" y="2438400"/>
            <a:ext cx="4343400" cy="370840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2"/>
            </a:solidFill>
            <a:miter lim="800000"/>
          </a:ln>
          <a:effectLst>
            <a:outerShdw dist="35921" dir="2700000" algn="ctr" rotWithShape="0">
              <a:srgbClr val="336699"/>
            </a:outerShdw>
          </a:effectLst>
        </p:spPr>
        <p:txBody>
          <a:bodyPr>
            <a:spAutoFit/>
          </a:bodyPr>
          <a:lstStyle/>
          <a:p>
            <a:pPr algn="l">
              <a:defRPr/>
            </a:pPr>
            <a:r>
              <a:rPr lang="en-US" altLang="zh-CN" sz="2800" dirty="0">
                <a:solidFill>
                  <a:schemeClr val="accent2"/>
                </a:solidFill>
                <a:ea typeface="宋体" panose="02010600030101010101" pitchFamily="2" charset="-122"/>
              </a:rPr>
              <a:t>Decode</a:t>
            </a:r>
            <a:r>
              <a:rPr lang="zh-CN" altLang="en-US" sz="2800" dirty="0">
                <a:solidFill>
                  <a:schemeClr val="accent2"/>
                </a:solidFill>
                <a:ea typeface="宋体" panose="02010600030101010101" pitchFamily="2" charset="-122"/>
              </a:rPr>
              <a:t>：译码</a:t>
            </a:r>
            <a:endParaRPr lang="en-US" altLang="zh-CN" sz="2800" dirty="0">
              <a:solidFill>
                <a:schemeClr val="accent2"/>
              </a:solidFill>
              <a:ea typeface="宋体" panose="02010600030101010101" pitchFamily="2" charset="-122"/>
            </a:endParaRPr>
          </a:p>
        </p:txBody>
      </p:sp>
      <p:sp>
        <p:nvSpPr>
          <p:cNvPr id="11269" name="Line 18"/>
          <p:cNvSpPr>
            <a:spLocks noChangeShapeType="1"/>
          </p:cNvSpPr>
          <p:nvPr/>
        </p:nvSpPr>
        <p:spPr bwMode="auto">
          <a:xfrm>
            <a:off x="3848100" y="2057400"/>
            <a:ext cx="0" cy="38100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tailEnd type="triangl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270" name="Line 19"/>
          <p:cNvSpPr>
            <a:spLocks noChangeShapeType="1"/>
          </p:cNvSpPr>
          <p:nvPr/>
        </p:nvSpPr>
        <p:spPr bwMode="auto">
          <a:xfrm>
            <a:off x="3848100" y="2895600"/>
            <a:ext cx="0" cy="38100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tailEnd type="triangl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271" name="Line 20"/>
          <p:cNvSpPr>
            <a:spLocks noChangeShapeType="1"/>
          </p:cNvSpPr>
          <p:nvPr/>
        </p:nvSpPr>
        <p:spPr bwMode="auto">
          <a:xfrm>
            <a:off x="3848100" y="3733800"/>
            <a:ext cx="0" cy="38100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tailEnd type="triangl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272" name="Line 21"/>
          <p:cNvSpPr>
            <a:spLocks noChangeShapeType="1"/>
          </p:cNvSpPr>
          <p:nvPr/>
        </p:nvSpPr>
        <p:spPr bwMode="auto">
          <a:xfrm>
            <a:off x="3848100" y="4572000"/>
            <a:ext cx="0" cy="38100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tailEnd type="triangl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273" name="Line 22"/>
          <p:cNvSpPr>
            <a:spLocks noChangeShapeType="1"/>
          </p:cNvSpPr>
          <p:nvPr/>
        </p:nvSpPr>
        <p:spPr bwMode="auto">
          <a:xfrm>
            <a:off x="3848100" y="5410200"/>
            <a:ext cx="0" cy="38100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tailEnd type="triangl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7110" name="Text Box 6"/>
          <p:cNvSpPr txBox="1">
            <a:spLocks noChangeArrowheads="1"/>
          </p:cNvSpPr>
          <p:nvPr/>
        </p:nvSpPr>
        <p:spPr bwMode="auto">
          <a:xfrm>
            <a:off x="3238500" y="3276600"/>
            <a:ext cx="4343400" cy="370840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2"/>
            </a:solidFill>
            <a:miter lim="800000"/>
          </a:ln>
          <a:effectLst>
            <a:outerShdw dist="35921" dir="2700000" algn="ctr" rotWithShape="0">
              <a:srgbClr val="336699"/>
            </a:outerShdw>
          </a:effectLst>
        </p:spPr>
        <p:txBody>
          <a:bodyPr>
            <a:spAutoFit/>
          </a:bodyPr>
          <a:lstStyle/>
          <a:p>
            <a:pPr algn="l">
              <a:defRPr/>
            </a:pPr>
            <a:r>
              <a:rPr lang="en-US" altLang="zh-CN" sz="2800" dirty="0">
                <a:solidFill>
                  <a:schemeClr val="accent2"/>
                </a:solidFill>
                <a:ea typeface="宋体" panose="02010600030101010101" pitchFamily="2" charset="-122"/>
              </a:rPr>
              <a:t>Evaluate address</a:t>
            </a:r>
            <a:r>
              <a:rPr lang="zh-CN" altLang="en-US" sz="2800" dirty="0">
                <a:solidFill>
                  <a:schemeClr val="accent2"/>
                </a:solidFill>
                <a:ea typeface="宋体" panose="02010600030101010101" pitchFamily="2" charset="-122"/>
              </a:rPr>
              <a:t>：地址计算</a:t>
            </a:r>
            <a:endParaRPr lang="en-US" altLang="zh-CN" sz="2800" dirty="0">
              <a:solidFill>
                <a:schemeClr val="accent2"/>
              </a:solidFill>
              <a:ea typeface="宋体" panose="02010600030101010101" pitchFamily="2" charset="-122"/>
            </a:endParaRPr>
          </a:p>
        </p:txBody>
      </p:sp>
      <p:sp>
        <p:nvSpPr>
          <p:cNvPr id="47111" name="Text Box 7"/>
          <p:cNvSpPr txBox="1">
            <a:spLocks noChangeArrowheads="1"/>
          </p:cNvSpPr>
          <p:nvPr/>
        </p:nvSpPr>
        <p:spPr bwMode="auto">
          <a:xfrm>
            <a:off x="3238500" y="4114800"/>
            <a:ext cx="4343400" cy="370840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2"/>
            </a:solidFill>
            <a:miter lim="800000"/>
          </a:ln>
          <a:effectLst>
            <a:outerShdw dist="35921" dir="2700000" algn="ctr" rotWithShape="0">
              <a:srgbClr val="336699"/>
            </a:outerShdw>
          </a:effectLst>
        </p:spPr>
        <p:txBody>
          <a:bodyPr>
            <a:spAutoFit/>
          </a:bodyPr>
          <a:lstStyle/>
          <a:p>
            <a:pPr algn="l">
              <a:defRPr/>
            </a:pPr>
            <a:r>
              <a:rPr lang="en-US" altLang="zh-CN" sz="2800" dirty="0">
                <a:solidFill>
                  <a:schemeClr val="accent2"/>
                </a:solidFill>
                <a:ea typeface="宋体" panose="02010600030101010101" pitchFamily="2" charset="-122"/>
              </a:rPr>
              <a:t>Fetch operands </a:t>
            </a:r>
            <a:r>
              <a:rPr lang="zh-CN" altLang="en-US" sz="2800" dirty="0">
                <a:solidFill>
                  <a:schemeClr val="accent2"/>
                </a:solidFill>
                <a:ea typeface="宋体" panose="02010600030101010101" pitchFamily="2" charset="-122"/>
              </a:rPr>
              <a:t>：取操作数</a:t>
            </a:r>
            <a:endParaRPr lang="en-US" altLang="zh-CN" sz="2800" dirty="0">
              <a:solidFill>
                <a:schemeClr val="accent2"/>
              </a:solidFill>
              <a:ea typeface="宋体" panose="02010600030101010101" pitchFamily="2" charset="-122"/>
            </a:endParaRPr>
          </a:p>
        </p:txBody>
      </p:sp>
      <p:sp>
        <p:nvSpPr>
          <p:cNvPr id="47112" name="Text Box 8"/>
          <p:cNvSpPr txBox="1">
            <a:spLocks noChangeArrowheads="1"/>
          </p:cNvSpPr>
          <p:nvPr/>
        </p:nvSpPr>
        <p:spPr bwMode="auto">
          <a:xfrm>
            <a:off x="3238500" y="4953000"/>
            <a:ext cx="4343400" cy="370840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2"/>
            </a:solidFill>
            <a:miter lim="800000"/>
          </a:ln>
          <a:effectLst>
            <a:outerShdw dist="35921" dir="2700000" algn="ctr" rotWithShape="0">
              <a:srgbClr val="336699"/>
            </a:outerShdw>
          </a:effectLst>
        </p:spPr>
        <p:txBody>
          <a:bodyPr>
            <a:spAutoFit/>
          </a:bodyPr>
          <a:lstStyle/>
          <a:p>
            <a:pPr algn="l">
              <a:defRPr/>
            </a:pPr>
            <a:r>
              <a:rPr lang="en-US" altLang="zh-CN" sz="2800" dirty="0">
                <a:solidFill>
                  <a:schemeClr val="accent2"/>
                </a:solidFill>
                <a:ea typeface="宋体" panose="02010600030101010101" pitchFamily="2" charset="-122"/>
              </a:rPr>
              <a:t>Execute</a:t>
            </a:r>
            <a:r>
              <a:rPr lang="zh-CN" altLang="en-US" sz="2800" dirty="0">
                <a:solidFill>
                  <a:schemeClr val="accent2"/>
                </a:solidFill>
                <a:ea typeface="宋体" panose="02010600030101010101" pitchFamily="2" charset="-122"/>
              </a:rPr>
              <a:t>：执行</a:t>
            </a:r>
            <a:endParaRPr lang="en-US" altLang="zh-CN" sz="2800" dirty="0">
              <a:solidFill>
                <a:schemeClr val="accent2"/>
              </a:solidFill>
              <a:ea typeface="宋体" panose="02010600030101010101" pitchFamily="2" charset="-122"/>
            </a:endParaRPr>
          </a:p>
        </p:txBody>
      </p:sp>
      <p:sp>
        <p:nvSpPr>
          <p:cNvPr id="11277" name="Line 25"/>
          <p:cNvSpPr>
            <a:spLocks noChangeShapeType="1"/>
          </p:cNvSpPr>
          <p:nvPr/>
        </p:nvSpPr>
        <p:spPr bwMode="auto">
          <a:xfrm>
            <a:off x="3848100" y="6248400"/>
            <a:ext cx="0" cy="30480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278" name="Line 26"/>
          <p:cNvSpPr>
            <a:spLocks noChangeShapeType="1"/>
          </p:cNvSpPr>
          <p:nvPr/>
        </p:nvSpPr>
        <p:spPr bwMode="auto">
          <a:xfrm flipH="1">
            <a:off x="3009900" y="6553200"/>
            <a:ext cx="838200" cy="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279" name="Line 27"/>
          <p:cNvSpPr>
            <a:spLocks noChangeShapeType="1"/>
          </p:cNvSpPr>
          <p:nvPr/>
        </p:nvSpPr>
        <p:spPr bwMode="auto">
          <a:xfrm flipV="1">
            <a:off x="3009900" y="1295400"/>
            <a:ext cx="0" cy="525780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280" name="Line 28"/>
          <p:cNvSpPr>
            <a:spLocks noChangeShapeType="1"/>
          </p:cNvSpPr>
          <p:nvPr/>
        </p:nvSpPr>
        <p:spPr bwMode="auto">
          <a:xfrm>
            <a:off x="3009900" y="1295400"/>
            <a:ext cx="838200" cy="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281" name="Line 29"/>
          <p:cNvSpPr>
            <a:spLocks noChangeShapeType="1"/>
          </p:cNvSpPr>
          <p:nvPr/>
        </p:nvSpPr>
        <p:spPr bwMode="auto">
          <a:xfrm>
            <a:off x="3848100" y="1295400"/>
            <a:ext cx="0" cy="30480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tailEnd type="triangl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7113" name="Text Box 9"/>
          <p:cNvSpPr txBox="1">
            <a:spLocks noChangeArrowheads="1"/>
          </p:cNvSpPr>
          <p:nvPr/>
        </p:nvSpPr>
        <p:spPr bwMode="auto">
          <a:xfrm>
            <a:off x="3238500" y="5791200"/>
            <a:ext cx="4343400" cy="370840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2"/>
            </a:solidFill>
            <a:miter lim="800000"/>
          </a:ln>
          <a:effectLst>
            <a:outerShdw dist="35921" dir="2700000" algn="ctr" rotWithShape="0">
              <a:srgbClr val="336699"/>
            </a:outerShdw>
          </a:effectLst>
        </p:spPr>
        <p:txBody>
          <a:bodyPr>
            <a:spAutoFit/>
          </a:bodyPr>
          <a:lstStyle/>
          <a:p>
            <a:pPr algn="l">
              <a:defRPr/>
            </a:pPr>
            <a:r>
              <a:rPr lang="en-US" altLang="zh-CN" sz="2800" dirty="0">
                <a:solidFill>
                  <a:schemeClr val="accent2"/>
                </a:solidFill>
                <a:ea typeface="宋体" panose="02010600030101010101" pitchFamily="2" charset="-122"/>
              </a:rPr>
              <a:t>Store result</a:t>
            </a:r>
            <a:r>
              <a:rPr lang="zh-CN" altLang="en-US" sz="2800" dirty="0">
                <a:solidFill>
                  <a:schemeClr val="accent2"/>
                </a:solidFill>
                <a:ea typeface="宋体" panose="02010600030101010101" pitchFamily="2" charset="-122"/>
              </a:rPr>
              <a:t>：存放结果</a:t>
            </a:r>
            <a:endParaRPr lang="en-US" altLang="zh-CN" sz="2800" dirty="0">
              <a:solidFill>
                <a:schemeClr val="accent2"/>
              </a:solidFill>
              <a:ea typeface="宋体" panose="02010600030101010101" pitchFamily="2" charset="-122"/>
            </a:endParaRPr>
          </a:p>
        </p:txBody>
      </p:sp>
      <p:sp>
        <p:nvSpPr>
          <p:cNvPr id="47108" name="Text Box 4"/>
          <p:cNvSpPr txBox="1">
            <a:spLocks noChangeArrowheads="1"/>
          </p:cNvSpPr>
          <p:nvPr/>
        </p:nvSpPr>
        <p:spPr bwMode="auto">
          <a:xfrm>
            <a:off x="3238500" y="1600200"/>
            <a:ext cx="4297660" cy="370840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2"/>
            </a:solidFill>
            <a:miter lim="800000"/>
          </a:ln>
          <a:effectLst>
            <a:outerShdw dist="35921" dir="2700000" algn="ctr" rotWithShape="0">
              <a:srgbClr val="336699"/>
            </a:outerShdw>
          </a:effectLst>
        </p:spPr>
        <p:txBody>
          <a:bodyPr wrap="square">
            <a:spAutoFit/>
          </a:bodyPr>
          <a:lstStyle/>
          <a:p>
            <a:pPr algn="l">
              <a:defRPr/>
            </a:pPr>
            <a:r>
              <a:rPr lang="en-US" altLang="zh-CN" sz="2800" dirty="0">
                <a:solidFill>
                  <a:schemeClr val="accent2"/>
                </a:solidFill>
                <a:ea typeface="宋体" panose="02010600030101010101" pitchFamily="2" charset="-122"/>
              </a:rPr>
              <a:t>Fetch </a:t>
            </a:r>
            <a:r>
              <a:rPr lang="zh-CN" altLang="en-US" sz="2800" dirty="0">
                <a:solidFill>
                  <a:schemeClr val="accent2"/>
                </a:solidFill>
                <a:ea typeface="宋体" panose="02010600030101010101" pitchFamily="2" charset="-122"/>
              </a:rPr>
              <a:t>：取指令</a:t>
            </a:r>
            <a:endParaRPr lang="en-US" altLang="zh-CN" sz="2800" dirty="0">
              <a:solidFill>
                <a:schemeClr val="accent2"/>
              </a:solidFill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灯片编号占位符 3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/>
          <a:p>
            <a:r>
              <a:rPr lang="en-US" altLang="zh-CN"/>
              <a:t>4-</a:t>
            </a:r>
            <a:fld id="{63C44FA2-09DE-419A-B0E9-57E5E4987BAB}" type="slidenum">
              <a:rPr lang="en-US" altLang="zh-CN"/>
            </a:fld>
            <a:endParaRPr lang="en-US" altLang="zh-CN"/>
          </a:p>
        </p:txBody>
      </p:sp>
      <p:sp>
        <p:nvSpPr>
          <p:cNvPr id="1536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ea typeface="宋体" panose="02010600030101010101" pitchFamily="2" charset="-122"/>
              </a:rPr>
              <a:t>指令周期</a:t>
            </a:r>
            <a:r>
              <a:rPr lang="en-US" altLang="zh-CN" dirty="0">
                <a:ea typeface="宋体" panose="02010600030101010101" pitchFamily="2" charset="-122"/>
              </a:rPr>
              <a:t>: FETCH</a:t>
            </a:r>
            <a:r>
              <a:rPr lang="zh-CN" altLang="en-US" dirty="0">
                <a:ea typeface="宋体" panose="02010600030101010101" pitchFamily="2" charset="-122"/>
              </a:rPr>
              <a:t>取指令</a:t>
            </a:r>
            <a:endParaRPr lang="en-US" altLang="zh-CN" dirty="0">
              <a:ea typeface="宋体" panose="02010600030101010101" pitchFamily="2" charset="-122"/>
            </a:endParaRPr>
          </a:p>
        </p:txBody>
      </p:sp>
      <p:sp>
        <p:nvSpPr>
          <p:cNvPr id="1536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981200" y="1481328"/>
            <a:ext cx="6923112" cy="4525963"/>
          </a:xfrm>
        </p:spPr>
        <p:txBody>
          <a:bodyPr>
            <a:normAutofit/>
          </a:bodyPr>
          <a:lstStyle/>
          <a:p>
            <a:r>
              <a:rPr lang="zh-CN" altLang="en-US" sz="3200" dirty="0">
                <a:ea typeface="宋体" panose="02010600030101010101" pitchFamily="2" charset="-122"/>
              </a:rPr>
              <a:t>从内存中取下一条指令</a:t>
            </a:r>
            <a:r>
              <a:rPr lang="en-US" altLang="zh-CN" sz="3200" dirty="0">
                <a:ea typeface="宋体" panose="02010600030101010101" pitchFamily="2" charset="-122"/>
              </a:rPr>
              <a:t>(</a:t>
            </a:r>
            <a:r>
              <a:rPr lang="zh-CN" altLang="en-US" sz="3200" dirty="0">
                <a:ea typeface="宋体" panose="02010600030101010101" pitchFamily="2" charset="-122"/>
              </a:rPr>
              <a:t>地址存放在</a:t>
            </a:r>
            <a:r>
              <a:rPr lang="en-US" altLang="zh-CN" sz="3200" dirty="0">
                <a:ea typeface="宋体" panose="02010600030101010101" pitchFamily="2" charset="-122"/>
              </a:rPr>
              <a:t> PC</a:t>
            </a:r>
            <a:r>
              <a:rPr lang="zh-CN" altLang="en-US" sz="3200" dirty="0">
                <a:ea typeface="宋体" panose="02010600030101010101" pitchFamily="2" charset="-122"/>
              </a:rPr>
              <a:t>寄存器</a:t>
            </a:r>
            <a:r>
              <a:rPr lang="en-US" altLang="zh-CN" sz="3200" dirty="0">
                <a:ea typeface="宋体" panose="02010600030101010101" pitchFamily="2" charset="-122"/>
              </a:rPr>
              <a:t>) </a:t>
            </a:r>
            <a:r>
              <a:rPr lang="zh-CN" altLang="en-US" sz="3200" dirty="0">
                <a:ea typeface="宋体" panose="02010600030101010101" pitchFamily="2" charset="-122"/>
              </a:rPr>
              <a:t>到指令寄存器</a:t>
            </a:r>
            <a:r>
              <a:rPr lang="en-US" altLang="zh-CN" sz="3200" dirty="0">
                <a:ea typeface="宋体" panose="02010600030101010101" pitchFamily="2" charset="-122"/>
              </a:rPr>
              <a:t> (IR)</a:t>
            </a:r>
            <a:r>
              <a:rPr lang="zh-CN" altLang="en-US" sz="3200" dirty="0">
                <a:ea typeface="宋体" panose="02010600030101010101" pitchFamily="2" charset="-122"/>
              </a:rPr>
              <a:t>。</a:t>
            </a:r>
            <a:endParaRPr lang="en-US" altLang="zh-CN" sz="3200" dirty="0">
              <a:ea typeface="宋体" panose="02010600030101010101" pitchFamily="2" charset="-122"/>
            </a:endParaRPr>
          </a:p>
          <a:p>
            <a:pPr lvl="1"/>
            <a:r>
              <a:rPr lang="zh-CN" altLang="en-US" sz="3200" dirty="0">
                <a:ea typeface="宋体" panose="02010600030101010101" pitchFamily="2" charset="-122"/>
              </a:rPr>
              <a:t>把</a:t>
            </a:r>
            <a:r>
              <a:rPr lang="en-US" altLang="zh-CN" sz="3200" dirty="0">
                <a:ea typeface="宋体" panose="02010600030101010101" pitchFamily="2" charset="-122"/>
              </a:rPr>
              <a:t>PC</a:t>
            </a:r>
            <a:r>
              <a:rPr lang="zh-CN" altLang="en-US" sz="3200" dirty="0">
                <a:ea typeface="宋体" panose="02010600030101010101" pitchFamily="2" charset="-122"/>
              </a:rPr>
              <a:t>中存放的内容拷贝到</a:t>
            </a:r>
            <a:r>
              <a:rPr lang="en-US" altLang="zh-CN" sz="3200" dirty="0">
                <a:ea typeface="宋体" panose="02010600030101010101" pitchFamily="2" charset="-122"/>
              </a:rPr>
              <a:t> </a:t>
            </a:r>
            <a:r>
              <a:rPr lang="zh-CN" altLang="en-US" sz="3200" dirty="0">
                <a:ea typeface="宋体" panose="02010600030101010101" pitchFamily="2" charset="-122"/>
              </a:rPr>
              <a:t>内存的</a:t>
            </a:r>
            <a:r>
              <a:rPr lang="en-US" altLang="zh-CN" sz="3200" dirty="0">
                <a:ea typeface="宋体" panose="02010600030101010101" pitchFamily="2" charset="-122"/>
              </a:rPr>
              <a:t>MAR</a:t>
            </a:r>
            <a:r>
              <a:rPr lang="zh-CN" altLang="en-US" sz="3200" dirty="0">
                <a:ea typeface="宋体" panose="02010600030101010101" pitchFamily="2" charset="-122"/>
              </a:rPr>
              <a:t>寄存器中</a:t>
            </a:r>
            <a:r>
              <a:rPr lang="en-US" altLang="zh-CN" sz="3200" dirty="0">
                <a:ea typeface="宋体" panose="02010600030101010101" pitchFamily="2" charset="-122"/>
              </a:rPr>
              <a:t>.</a:t>
            </a:r>
            <a:endParaRPr lang="en-US" altLang="zh-CN" sz="3200" dirty="0">
              <a:ea typeface="宋体" panose="02010600030101010101" pitchFamily="2" charset="-122"/>
            </a:endParaRPr>
          </a:p>
          <a:p>
            <a:pPr lvl="1"/>
            <a:r>
              <a:rPr lang="zh-CN" altLang="en-US" sz="3200" dirty="0">
                <a:ea typeface="宋体" panose="02010600030101010101" pitchFamily="2" charset="-122"/>
              </a:rPr>
              <a:t>给内存发读信号。</a:t>
            </a:r>
            <a:endParaRPr lang="en-US" altLang="zh-CN" sz="3200" dirty="0">
              <a:ea typeface="宋体" panose="02010600030101010101" pitchFamily="2" charset="-122"/>
            </a:endParaRPr>
          </a:p>
          <a:p>
            <a:pPr lvl="1"/>
            <a:r>
              <a:rPr lang="zh-CN" altLang="en-US" sz="3200" dirty="0">
                <a:ea typeface="宋体" panose="02010600030101010101" pitchFamily="2" charset="-122"/>
              </a:rPr>
              <a:t>拷贝</a:t>
            </a:r>
            <a:r>
              <a:rPr lang="en-US" altLang="zh-CN" sz="3200" dirty="0">
                <a:ea typeface="宋体" panose="02010600030101010101" pitchFamily="2" charset="-122"/>
              </a:rPr>
              <a:t>MDR</a:t>
            </a:r>
            <a:r>
              <a:rPr lang="zh-CN" altLang="en-US" sz="3200" dirty="0">
                <a:ea typeface="宋体" panose="02010600030101010101" pitchFamily="2" charset="-122"/>
              </a:rPr>
              <a:t>的内容到</a:t>
            </a:r>
            <a:r>
              <a:rPr lang="en-US" altLang="zh-CN" sz="3200" dirty="0">
                <a:ea typeface="宋体" panose="02010600030101010101" pitchFamily="2" charset="-122"/>
              </a:rPr>
              <a:t>IR</a:t>
            </a:r>
            <a:r>
              <a:rPr lang="zh-CN" altLang="en-US" sz="3200" dirty="0">
                <a:ea typeface="宋体" panose="02010600030101010101" pitchFamily="2" charset="-122"/>
              </a:rPr>
              <a:t>寄存器中。</a:t>
            </a:r>
            <a:endParaRPr lang="en-US" altLang="zh-CN" sz="3200" dirty="0">
              <a:ea typeface="宋体" panose="02010600030101010101" pitchFamily="2" charset="-122"/>
            </a:endParaRPr>
          </a:p>
          <a:p>
            <a:pPr lvl="1"/>
            <a:r>
              <a:rPr lang="en-US" altLang="zh-CN" sz="3200" dirty="0">
                <a:ea typeface="宋体" panose="02010600030101010101" pitchFamily="2" charset="-122"/>
              </a:rPr>
              <a:t>PC=PC+1,PC</a:t>
            </a:r>
            <a:r>
              <a:rPr lang="zh-CN" altLang="en-US" sz="3200" dirty="0">
                <a:ea typeface="宋体" panose="02010600030101010101" pitchFamily="2" charset="-122"/>
              </a:rPr>
              <a:t>指向下一条待执行的指令</a:t>
            </a:r>
            <a:endParaRPr lang="en-US" altLang="zh-CN" sz="3200" dirty="0">
              <a:ea typeface="宋体" panose="02010600030101010101" pitchFamily="2" charset="-122"/>
            </a:endParaRPr>
          </a:p>
          <a:p>
            <a:endParaRPr lang="en-US" altLang="zh-CN" dirty="0">
              <a:ea typeface="宋体" panose="02010600030101010101" pitchFamily="2" charset="-122"/>
            </a:endParaRPr>
          </a:p>
        </p:txBody>
      </p:sp>
      <p:sp>
        <p:nvSpPr>
          <p:cNvPr id="15365" name="Line 5"/>
          <p:cNvSpPr>
            <a:spLocks noChangeShapeType="1"/>
          </p:cNvSpPr>
          <p:nvPr/>
        </p:nvSpPr>
        <p:spPr bwMode="auto">
          <a:xfrm>
            <a:off x="9601200" y="1905000"/>
            <a:ext cx="0" cy="38100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tailEnd type="triangl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366" name="Line 6"/>
          <p:cNvSpPr>
            <a:spLocks noChangeShapeType="1"/>
          </p:cNvSpPr>
          <p:nvPr/>
        </p:nvSpPr>
        <p:spPr bwMode="auto">
          <a:xfrm>
            <a:off x="9625013" y="2743200"/>
            <a:ext cx="0" cy="38100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tailEnd type="triangl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367" name="Line 7"/>
          <p:cNvSpPr>
            <a:spLocks noChangeShapeType="1"/>
          </p:cNvSpPr>
          <p:nvPr/>
        </p:nvSpPr>
        <p:spPr bwMode="auto">
          <a:xfrm>
            <a:off x="9601200" y="3581400"/>
            <a:ext cx="0" cy="38100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tailEnd type="triangl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368" name="Line 8"/>
          <p:cNvSpPr>
            <a:spLocks noChangeShapeType="1"/>
          </p:cNvSpPr>
          <p:nvPr/>
        </p:nvSpPr>
        <p:spPr bwMode="auto">
          <a:xfrm>
            <a:off x="9580563" y="4419600"/>
            <a:ext cx="0" cy="38100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tailEnd type="triangl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369" name="Line 9"/>
          <p:cNvSpPr>
            <a:spLocks noChangeShapeType="1"/>
          </p:cNvSpPr>
          <p:nvPr/>
        </p:nvSpPr>
        <p:spPr bwMode="auto">
          <a:xfrm>
            <a:off x="9594850" y="5257800"/>
            <a:ext cx="0" cy="38100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tailEnd type="triangl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2234" name="Text Box 10"/>
          <p:cNvSpPr txBox="1">
            <a:spLocks noChangeArrowheads="1"/>
          </p:cNvSpPr>
          <p:nvPr/>
        </p:nvSpPr>
        <p:spPr bwMode="auto">
          <a:xfrm>
            <a:off x="9296400" y="3124200"/>
            <a:ext cx="685800" cy="270510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2"/>
            </a:solidFill>
            <a:miter lim="800000"/>
          </a:ln>
          <a:effectLst>
            <a:outerShdw dist="35921" dir="2700000" algn="ctr" rotWithShape="0">
              <a:srgbClr val="336699"/>
            </a:outerShdw>
          </a:effectLst>
        </p:spPr>
        <p:txBody>
          <a:bodyPr>
            <a:spAutoFit/>
          </a:bodyPr>
          <a:lstStyle/>
          <a:p>
            <a:pPr>
              <a:defRPr/>
            </a:pPr>
            <a:r>
              <a:rPr lang="en-US" altLang="zh-CN">
                <a:solidFill>
                  <a:schemeClr val="accent2"/>
                </a:solidFill>
                <a:ea typeface="宋体" panose="02010600030101010101" pitchFamily="2" charset="-122"/>
              </a:rPr>
              <a:t>EA</a:t>
            </a:r>
            <a:endParaRPr lang="en-US" altLang="zh-CN">
              <a:solidFill>
                <a:schemeClr val="accent2"/>
              </a:solidFill>
              <a:ea typeface="宋体" panose="02010600030101010101" pitchFamily="2" charset="-122"/>
            </a:endParaRPr>
          </a:p>
        </p:txBody>
      </p:sp>
      <p:sp>
        <p:nvSpPr>
          <p:cNvPr id="52235" name="Text Box 11"/>
          <p:cNvSpPr txBox="1">
            <a:spLocks noChangeArrowheads="1"/>
          </p:cNvSpPr>
          <p:nvPr/>
        </p:nvSpPr>
        <p:spPr bwMode="auto">
          <a:xfrm>
            <a:off x="9296400" y="3962400"/>
            <a:ext cx="685800" cy="270510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2"/>
            </a:solidFill>
            <a:miter lim="800000"/>
          </a:ln>
          <a:effectLst>
            <a:outerShdw dist="35921" dir="2700000" algn="ctr" rotWithShape="0">
              <a:srgbClr val="336699"/>
            </a:outerShdw>
          </a:effectLst>
        </p:spPr>
        <p:txBody>
          <a:bodyPr>
            <a:spAutoFit/>
          </a:bodyPr>
          <a:lstStyle/>
          <a:p>
            <a:pPr>
              <a:defRPr/>
            </a:pPr>
            <a:r>
              <a:rPr lang="en-US" altLang="zh-CN">
                <a:solidFill>
                  <a:schemeClr val="accent2"/>
                </a:solidFill>
                <a:ea typeface="宋体" panose="02010600030101010101" pitchFamily="2" charset="-122"/>
              </a:rPr>
              <a:t>OP</a:t>
            </a:r>
            <a:endParaRPr lang="en-US" altLang="zh-CN">
              <a:solidFill>
                <a:schemeClr val="accent2"/>
              </a:solidFill>
              <a:ea typeface="宋体" panose="02010600030101010101" pitchFamily="2" charset="-122"/>
            </a:endParaRPr>
          </a:p>
        </p:txBody>
      </p:sp>
      <p:sp>
        <p:nvSpPr>
          <p:cNvPr id="52236" name="Text Box 12"/>
          <p:cNvSpPr txBox="1">
            <a:spLocks noChangeArrowheads="1"/>
          </p:cNvSpPr>
          <p:nvPr/>
        </p:nvSpPr>
        <p:spPr bwMode="auto">
          <a:xfrm>
            <a:off x="9296400" y="4800600"/>
            <a:ext cx="685800" cy="270510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2"/>
            </a:solidFill>
            <a:miter lim="800000"/>
          </a:ln>
          <a:effectLst>
            <a:outerShdw dist="35921" dir="2700000" algn="ctr" rotWithShape="0">
              <a:srgbClr val="336699"/>
            </a:outerShdw>
          </a:effectLst>
        </p:spPr>
        <p:txBody>
          <a:bodyPr>
            <a:spAutoFit/>
          </a:bodyPr>
          <a:lstStyle/>
          <a:p>
            <a:pPr>
              <a:defRPr/>
            </a:pPr>
            <a:r>
              <a:rPr lang="en-US" altLang="zh-CN">
                <a:solidFill>
                  <a:schemeClr val="accent2"/>
                </a:solidFill>
                <a:ea typeface="宋体" panose="02010600030101010101" pitchFamily="2" charset="-122"/>
              </a:rPr>
              <a:t>EX</a:t>
            </a:r>
            <a:endParaRPr lang="en-US" altLang="zh-CN">
              <a:solidFill>
                <a:schemeClr val="accent2"/>
              </a:solidFill>
              <a:ea typeface="宋体" panose="02010600030101010101" pitchFamily="2" charset="-122"/>
            </a:endParaRPr>
          </a:p>
        </p:txBody>
      </p:sp>
      <p:sp>
        <p:nvSpPr>
          <p:cNvPr id="15373" name="Line 13"/>
          <p:cNvSpPr>
            <a:spLocks noChangeShapeType="1"/>
          </p:cNvSpPr>
          <p:nvPr/>
        </p:nvSpPr>
        <p:spPr bwMode="auto">
          <a:xfrm>
            <a:off x="9601200" y="6096000"/>
            <a:ext cx="0" cy="30480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374" name="Line 14"/>
          <p:cNvSpPr>
            <a:spLocks noChangeShapeType="1"/>
          </p:cNvSpPr>
          <p:nvPr/>
        </p:nvSpPr>
        <p:spPr bwMode="auto">
          <a:xfrm flipH="1">
            <a:off x="9067800" y="6400800"/>
            <a:ext cx="533400" cy="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375" name="Line 15"/>
          <p:cNvSpPr>
            <a:spLocks noChangeShapeType="1"/>
          </p:cNvSpPr>
          <p:nvPr/>
        </p:nvSpPr>
        <p:spPr bwMode="auto">
          <a:xfrm flipV="1">
            <a:off x="9067800" y="1143000"/>
            <a:ext cx="0" cy="525780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376" name="Line 16"/>
          <p:cNvSpPr>
            <a:spLocks noChangeShapeType="1"/>
          </p:cNvSpPr>
          <p:nvPr/>
        </p:nvSpPr>
        <p:spPr bwMode="auto">
          <a:xfrm>
            <a:off x="9067800" y="1143000"/>
            <a:ext cx="533400" cy="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377" name="Line 17"/>
          <p:cNvSpPr>
            <a:spLocks noChangeShapeType="1"/>
          </p:cNvSpPr>
          <p:nvPr/>
        </p:nvSpPr>
        <p:spPr bwMode="auto">
          <a:xfrm>
            <a:off x="9601200" y="1143000"/>
            <a:ext cx="0" cy="30480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tailEnd type="triangl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2242" name="Text Box 18"/>
          <p:cNvSpPr txBox="1">
            <a:spLocks noChangeArrowheads="1"/>
          </p:cNvSpPr>
          <p:nvPr/>
        </p:nvSpPr>
        <p:spPr bwMode="auto">
          <a:xfrm>
            <a:off x="9296400" y="5638800"/>
            <a:ext cx="685800" cy="270510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2"/>
            </a:solidFill>
            <a:miter lim="800000"/>
          </a:ln>
          <a:effectLst>
            <a:outerShdw dist="35921" dir="2700000" algn="ctr" rotWithShape="0">
              <a:srgbClr val="336699"/>
            </a:outerShdw>
          </a:effectLst>
        </p:spPr>
        <p:txBody>
          <a:bodyPr>
            <a:spAutoFit/>
          </a:bodyPr>
          <a:lstStyle/>
          <a:p>
            <a:pPr>
              <a:defRPr/>
            </a:pPr>
            <a:r>
              <a:rPr lang="en-US" altLang="zh-CN">
                <a:solidFill>
                  <a:schemeClr val="accent2"/>
                </a:solidFill>
                <a:ea typeface="宋体" panose="02010600030101010101" pitchFamily="2" charset="-122"/>
              </a:rPr>
              <a:t>S</a:t>
            </a:r>
            <a:endParaRPr lang="en-US" altLang="zh-CN">
              <a:solidFill>
                <a:schemeClr val="accent2"/>
              </a:solidFill>
              <a:ea typeface="宋体" panose="02010600030101010101" pitchFamily="2" charset="-122"/>
            </a:endParaRPr>
          </a:p>
        </p:txBody>
      </p:sp>
      <p:sp>
        <p:nvSpPr>
          <p:cNvPr id="52243" name="Text Box 19"/>
          <p:cNvSpPr txBox="1">
            <a:spLocks noChangeArrowheads="1"/>
          </p:cNvSpPr>
          <p:nvPr/>
        </p:nvSpPr>
        <p:spPr bwMode="auto">
          <a:xfrm>
            <a:off x="9296400" y="1447800"/>
            <a:ext cx="685800" cy="270510"/>
          </a:xfrm>
          <a:prstGeom prst="rect">
            <a:avLst/>
          </a:prstGeom>
          <a:solidFill>
            <a:schemeClr val="accent2"/>
          </a:solidFill>
          <a:ln w="9525">
            <a:solidFill>
              <a:schemeClr val="accent2"/>
            </a:solidFill>
            <a:miter lim="800000"/>
          </a:ln>
          <a:effectLst>
            <a:outerShdw dist="35921" dir="2700000" algn="ctr" rotWithShape="0">
              <a:srgbClr val="336699"/>
            </a:outerShdw>
          </a:effectLst>
        </p:spPr>
        <p:txBody>
          <a:bodyPr>
            <a:spAutoFit/>
          </a:bodyPr>
          <a:lstStyle/>
          <a:p>
            <a:pPr>
              <a:defRPr/>
            </a:pPr>
            <a:r>
              <a:rPr lang="en-US" altLang="zh-CN" b="1">
                <a:solidFill>
                  <a:schemeClr val="bg1"/>
                </a:solidFill>
                <a:ea typeface="宋体" panose="02010600030101010101" pitchFamily="2" charset="-122"/>
              </a:rPr>
              <a:t>F</a:t>
            </a:r>
            <a:endParaRPr lang="en-US" altLang="zh-CN" b="1">
              <a:solidFill>
                <a:schemeClr val="bg1"/>
              </a:solidFill>
              <a:ea typeface="宋体" panose="02010600030101010101" pitchFamily="2" charset="-122"/>
            </a:endParaRPr>
          </a:p>
        </p:txBody>
      </p:sp>
      <p:sp>
        <p:nvSpPr>
          <p:cNvPr id="52228" name="Text Box 4"/>
          <p:cNvSpPr txBox="1">
            <a:spLocks noChangeArrowheads="1"/>
          </p:cNvSpPr>
          <p:nvPr/>
        </p:nvSpPr>
        <p:spPr bwMode="auto">
          <a:xfrm>
            <a:off x="9296400" y="2286000"/>
            <a:ext cx="685800" cy="270510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2"/>
            </a:solidFill>
            <a:miter lim="800000"/>
          </a:ln>
          <a:effectLst>
            <a:outerShdw dist="35921" dir="2700000" algn="ctr" rotWithShape="0">
              <a:srgbClr val="336699"/>
            </a:outerShdw>
          </a:effectLst>
        </p:spPr>
        <p:txBody>
          <a:bodyPr>
            <a:spAutoFit/>
          </a:bodyPr>
          <a:lstStyle/>
          <a:p>
            <a:pPr>
              <a:defRPr/>
            </a:pPr>
            <a:r>
              <a:rPr lang="en-US" altLang="zh-CN">
                <a:solidFill>
                  <a:schemeClr val="accent2"/>
                </a:solidFill>
                <a:ea typeface="宋体" panose="02010600030101010101" pitchFamily="2" charset="-122"/>
              </a:rPr>
              <a:t>D</a:t>
            </a:r>
            <a:endParaRPr lang="en-US" altLang="zh-CN">
              <a:solidFill>
                <a:schemeClr val="accent2"/>
              </a:solidFill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6098" name="Picture 2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 bwMode="auto">
          <a:xfrm>
            <a:off x="2063552" y="0"/>
            <a:ext cx="8053908" cy="66182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 dirty="0"/>
          </a:p>
        </p:txBody>
      </p:sp>
      <p:pic>
        <p:nvPicPr>
          <p:cNvPr id="517122" name="Picture 2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 bwMode="auto">
          <a:xfrm>
            <a:off x="2063552" y="0"/>
            <a:ext cx="7924750" cy="673778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518146" name="Picture 2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 bwMode="auto">
          <a:xfrm>
            <a:off x="2063552" y="0"/>
            <a:ext cx="8178874" cy="6750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灯片编号占位符 3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/>
          <a:p>
            <a:r>
              <a:rPr lang="en-US" altLang="zh-CN"/>
              <a:t>4-</a:t>
            </a:r>
            <a:fld id="{C59DC12C-C1BC-44E6-BA39-CC03C3E0D8C2}" type="slidenum">
              <a:rPr lang="en-US" altLang="zh-CN"/>
            </a:fld>
            <a:endParaRPr lang="en-US" altLang="zh-CN"/>
          </a:p>
        </p:txBody>
      </p:sp>
      <p:sp>
        <p:nvSpPr>
          <p:cNvPr id="1638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ea typeface="宋体" panose="02010600030101010101" pitchFamily="2" charset="-122"/>
              </a:rPr>
              <a:t>指令周期</a:t>
            </a:r>
            <a:r>
              <a:rPr lang="en-US" altLang="zh-CN" dirty="0">
                <a:ea typeface="宋体" panose="02010600030101010101" pitchFamily="2" charset="-122"/>
              </a:rPr>
              <a:t>:  DECODE</a:t>
            </a:r>
            <a:r>
              <a:rPr lang="zh-CN" altLang="en-US" dirty="0">
                <a:ea typeface="宋体" panose="02010600030101010101" pitchFamily="2" charset="-122"/>
              </a:rPr>
              <a:t>译码</a:t>
            </a:r>
            <a:endParaRPr lang="en-US" altLang="zh-CN" dirty="0">
              <a:ea typeface="宋体" panose="02010600030101010101" pitchFamily="2" charset="-122"/>
            </a:endParaRPr>
          </a:p>
        </p:txBody>
      </p:sp>
      <p:sp>
        <p:nvSpPr>
          <p:cNvPr id="1638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981200" y="1481328"/>
            <a:ext cx="6851104" cy="4525963"/>
          </a:xfrm>
        </p:spPr>
        <p:txBody>
          <a:bodyPr>
            <a:normAutofit/>
          </a:bodyPr>
          <a:lstStyle/>
          <a:p>
            <a:r>
              <a:rPr lang="zh-CN" altLang="en-US" dirty="0">
                <a:ea typeface="宋体" panose="02010600030101010101" pitchFamily="2" charset="-122"/>
              </a:rPr>
              <a:t>首先从指令中识别操作码（</a:t>
            </a:r>
            <a:r>
              <a:rPr lang="en-US" altLang="zh-CN" dirty="0" err="1">
                <a:ea typeface="宋体" panose="02010600030101010101" pitchFamily="2" charset="-122"/>
              </a:rPr>
              <a:t>opcode</a:t>
            </a:r>
            <a:r>
              <a:rPr lang="zh-CN" altLang="en-US" dirty="0">
                <a:ea typeface="宋体" panose="02010600030101010101" pitchFamily="2" charset="-122"/>
              </a:rPr>
              <a:t>）</a:t>
            </a:r>
            <a:endParaRPr lang="en-US" altLang="zh-CN" dirty="0">
              <a:ea typeface="宋体" panose="02010600030101010101" pitchFamily="2" charset="-122"/>
            </a:endParaRPr>
          </a:p>
          <a:p>
            <a:pPr lvl="1"/>
            <a:r>
              <a:rPr lang="en-US" altLang="zh-CN" dirty="0">
                <a:ea typeface="宋体" panose="02010600030101010101" pitchFamily="2" charset="-122"/>
              </a:rPr>
              <a:t>LC-3</a:t>
            </a:r>
            <a:r>
              <a:rPr lang="zh-CN" altLang="en-US" dirty="0">
                <a:ea typeface="宋体" panose="02010600030101010101" pitchFamily="2" charset="-122"/>
              </a:rPr>
              <a:t>：指令的高</a:t>
            </a:r>
            <a:r>
              <a:rPr lang="en-US" altLang="zh-CN" dirty="0">
                <a:ea typeface="宋体" panose="02010600030101010101" pitchFamily="2" charset="-122"/>
              </a:rPr>
              <a:t>4</a:t>
            </a:r>
            <a:r>
              <a:rPr lang="zh-CN" altLang="en-US" dirty="0">
                <a:ea typeface="宋体" panose="02010600030101010101" pitchFamily="2" charset="-122"/>
              </a:rPr>
              <a:t>位总是操作码。利用一个</a:t>
            </a:r>
            <a:r>
              <a:rPr lang="en-US" altLang="zh-CN" dirty="0">
                <a:ea typeface="宋体" panose="02010600030101010101" pitchFamily="2" charset="-122"/>
              </a:rPr>
              <a:t> 4-to-16 </a:t>
            </a:r>
            <a:r>
              <a:rPr lang="zh-CN" altLang="en-US" dirty="0">
                <a:ea typeface="宋体" panose="02010600030101010101" pitchFamily="2" charset="-122"/>
              </a:rPr>
              <a:t>译码器对操作码译码，有效对应的控制线</a:t>
            </a:r>
            <a:r>
              <a:rPr lang="en-US" altLang="zh-CN" dirty="0">
                <a:ea typeface="宋体" panose="02010600030101010101" pitchFamily="2" charset="-122"/>
              </a:rPr>
              <a:t>.</a:t>
            </a:r>
            <a:endParaRPr lang="en-US" altLang="zh-CN" dirty="0">
              <a:ea typeface="宋体" panose="02010600030101010101" pitchFamily="2" charset="-122"/>
            </a:endParaRPr>
          </a:p>
          <a:p>
            <a:r>
              <a:rPr lang="zh-CN" altLang="en-US" dirty="0">
                <a:ea typeface="宋体" panose="02010600030101010101" pitchFamily="2" charset="-122"/>
              </a:rPr>
              <a:t>根据操作码，确定对应的操作数。操作码不同，需要的操作数和定义不同。</a:t>
            </a:r>
            <a:br>
              <a:rPr lang="en-US" altLang="zh-CN" dirty="0">
                <a:ea typeface="宋体" panose="02010600030101010101" pitchFamily="2" charset="-122"/>
              </a:rPr>
            </a:br>
            <a:r>
              <a:rPr lang="zh-CN" altLang="en-US" dirty="0">
                <a:ea typeface="宋体" panose="02010600030101010101" pitchFamily="2" charset="-122"/>
              </a:rPr>
              <a:t>例</a:t>
            </a:r>
            <a:r>
              <a:rPr lang="en-US" altLang="zh-CN" dirty="0">
                <a:ea typeface="宋体" panose="02010600030101010101" pitchFamily="2" charset="-122"/>
              </a:rPr>
              <a:t>:</a:t>
            </a:r>
            <a:endParaRPr lang="en-US" altLang="zh-CN" dirty="0">
              <a:ea typeface="宋体" panose="02010600030101010101" pitchFamily="2" charset="-122"/>
            </a:endParaRPr>
          </a:p>
          <a:p>
            <a:pPr lvl="2"/>
            <a:r>
              <a:rPr lang="zh-CN" altLang="en-US" dirty="0">
                <a:ea typeface="宋体" panose="02010600030101010101" pitchFamily="2" charset="-122"/>
              </a:rPr>
              <a:t>指令</a:t>
            </a:r>
            <a:r>
              <a:rPr lang="en-US" altLang="zh-CN" dirty="0">
                <a:ea typeface="宋体" panose="02010600030101010101" pitchFamily="2" charset="-122"/>
              </a:rPr>
              <a:t>LDR, </a:t>
            </a:r>
            <a:r>
              <a:rPr lang="zh-CN" altLang="en-US" dirty="0">
                <a:ea typeface="宋体" panose="02010600030101010101" pitchFamily="2" charset="-122"/>
              </a:rPr>
              <a:t>最后六位是地址偏移 （</a:t>
            </a:r>
            <a:r>
              <a:rPr lang="en-US" altLang="zh-CN" dirty="0">
                <a:ea typeface="宋体" panose="02010600030101010101" pitchFamily="2" charset="-122"/>
              </a:rPr>
              <a:t>offset)</a:t>
            </a:r>
            <a:endParaRPr lang="en-US" altLang="zh-CN" dirty="0">
              <a:ea typeface="宋体" panose="02010600030101010101" pitchFamily="2" charset="-122"/>
            </a:endParaRPr>
          </a:p>
          <a:p>
            <a:pPr lvl="2"/>
            <a:r>
              <a:rPr lang="zh-CN" altLang="en-US" dirty="0">
                <a:ea typeface="宋体" panose="02010600030101010101" pitchFamily="2" charset="-122"/>
              </a:rPr>
              <a:t>指令</a:t>
            </a:r>
            <a:r>
              <a:rPr lang="en-US" altLang="zh-CN" dirty="0">
                <a:ea typeface="宋体" panose="02010600030101010101" pitchFamily="2" charset="-122"/>
              </a:rPr>
              <a:t>ADD, </a:t>
            </a:r>
            <a:r>
              <a:rPr lang="zh-CN" altLang="en-US" dirty="0">
                <a:ea typeface="宋体" panose="02010600030101010101" pitchFamily="2" charset="-122"/>
              </a:rPr>
              <a:t>最后三位定义了参与运算的第二个源操作数</a:t>
            </a:r>
            <a:endParaRPr lang="en-US" altLang="zh-CN" dirty="0">
              <a:ea typeface="宋体" panose="02010600030101010101" pitchFamily="2" charset="-122"/>
            </a:endParaRPr>
          </a:p>
        </p:txBody>
      </p:sp>
      <p:sp>
        <p:nvSpPr>
          <p:cNvPr id="16389" name="Line 5"/>
          <p:cNvSpPr>
            <a:spLocks noChangeShapeType="1"/>
          </p:cNvSpPr>
          <p:nvPr/>
        </p:nvSpPr>
        <p:spPr bwMode="auto">
          <a:xfrm>
            <a:off x="9601200" y="1905000"/>
            <a:ext cx="0" cy="38100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tailEnd type="triangl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390" name="Line 6"/>
          <p:cNvSpPr>
            <a:spLocks noChangeShapeType="1"/>
          </p:cNvSpPr>
          <p:nvPr/>
        </p:nvSpPr>
        <p:spPr bwMode="auto">
          <a:xfrm>
            <a:off x="9625013" y="2743200"/>
            <a:ext cx="0" cy="38100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tailEnd type="triangl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391" name="Line 7"/>
          <p:cNvSpPr>
            <a:spLocks noChangeShapeType="1"/>
          </p:cNvSpPr>
          <p:nvPr/>
        </p:nvSpPr>
        <p:spPr bwMode="auto">
          <a:xfrm>
            <a:off x="9601200" y="3581400"/>
            <a:ext cx="0" cy="38100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tailEnd type="triangl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392" name="Line 8"/>
          <p:cNvSpPr>
            <a:spLocks noChangeShapeType="1"/>
          </p:cNvSpPr>
          <p:nvPr/>
        </p:nvSpPr>
        <p:spPr bwMode="auto">
          <a:xfrm>
            <a:off x="9580563" y="4419600"/>
            <a:ext cx="0" cy="38100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tailEnd type="triangl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393" name="Line 9"/>
          <p:cNvSpPr>
            <a:spLocks noChangeShapeType="1"/>
          </p:cNvSpPr>
          <p:nvPr/>
        </p:nvSpPr>
        <p:spPr bwMode="auto">
          <a:xfrm>
            <a:off x="9594850" y="5257800"/>
            <a:ext cx="0" cy="38100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tailEnd type="triangl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3258" name="Text Box 10"/>
          <p:cNvSpPr txBox="1">
            <a:spLocks noChangeArrowheads="1"/>
          </p:cNvSpPr>
          <p:nvPr/>
        </p:nvSpPr>
        <p:spPr bwMode="auto">
          <a:xfrm>
            <a:off x="9296400" y="3124200"/>
            <a:ext cx="685800" cy="270510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2"/>
            </a:solidFill>
            <a:miter lim="800000"/>
          </a:ln>
          <a:effectLst>
            <a:outerShdw dist="35921" dir="2700000" algn="ctr" rotWithShape="0">
              <a:srgbClr val="336699"/>
            </a:outerShdw>
          </a:effectLst>
        </p:spPr>
        <p:txBody>
          <a:bodyPr>
            <a:spAutoFit/>
          </a:bodyPr>
          <a:lstStyle/>
          <a:p>
            <a:pPr>
              <a:defRPr/>
            </a:pPr>
            <a:r>
              <a:rPr lang="en-US" altLang="zh-CN">
                <a:solidFill>
                  <a:schemeClr val="accent2"/>
                </a:solidFill>
                <a:ea typeface="宋体" panose="02010600030101010101" pitchFamily="2" charset="-122"/>
              </a:rPr>
              <a:t>EA</a:t>
            </a:r>
            <a:endParaRPr lang="en-US" altLang="zh-CN">
              <a:solidFill>
                <a:schemeClr val="accent2"/>
              </a:solidFill>
              <a:ea typeface="宋体" panose="02010600030101010101" pitchFamily="2" charset="-122"/>
            </a:endParaRPr>
          </a:p>
        </p:txBody>
      </p:sp>
      <p:sp>
        <p:nvSpPr>
          <p:cNvPr id="53259" name="Text Box 11"/>
          <p:cNvSpPr txBox="1">
            <a:spLocks noChangeArrowheads="1"/>
          </p:cNvSpPr>
          <p:nvPr/>
        </p:nvSpPr>
        <p:spPr bwMode="auto">
          <a:xfrm>
            <a:off x="9296400" y="3962400"/>
            <a:ext cx="685800" cy="270510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2"/>
            </a:solidFill>
            <a:miter lim="800000"/>
          </a:ln>
          <a:effectLst>
            <a:outerShdw dist="35921" dir="2700000" algn="ctr" rotWithShape="0">
              <a:srgbClr val="336699"/>
            </a:outerShdw>
          </a:effectLst>
        </p:spPr>
        <p:txBody>
          <a:bodyPr>
            <a:spAutoFit/>
          </a:bodyPr>
          <a:lstStyle/>
          <a:p>
            <a:pPr>
              <a:defRPr/>
            </a:pPr>
            <a:r>
              <a:rPr lang="en-US" altLang="zh-CN">
                <a:solidFill>
                  <a:schemeClr val="accent2"/>
                </a:solidFill>
                <a:ea typeface="宋体" panose="02010600030101010101" pitchFamily="2" charset="-122"/>
              </a:rPr>
              <a:t>OP</a:t>
            </a:r>
            <a:endParaRPr lang="en-US" altLang="zh-CN">
              <a:solidFill>
                <a:schemeClr val="accent2"/>
              </a:solidFill>
              <a:ea typeface="宋体" panose="02010600030101010101" pitchFamily="2" charset="-122"/>
            </a:endParaRPr>
          </a:p>
        </p:txBody>
      </p:sp>
      <p:sp>
        <p:nvSpPr>
          <p:cNvPr id="53260" name="Text Box 12"/>
          <p:cNvSpPr txBox="1">
            <a:spLocks noChangeArrowheads="1"/>
          </p:cNvSpPr>
          <p:nvPr/>
        </p:nvSpPr>
        <p:spPr bwMode="auto">
          <a:xfrm>
            <a:off x="9296400" y="4800600"/>
            <a:ext cx="685800" cy="270510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2"/>
            </a:solidFill>
            <a:miter lim="800000"/>
          </a:ln>
          <a:effectLst>
            <a:outerShdw dist="35921" dir="2700000" algn="ctr" rotWithShape="0">
              <a:srgbClr val="336699"/>
            </a:outerShdw>
          </a:effectLst>
        </p:spPr>
        <p:txBody>
          <a:bodyPr>
            <a:spAutoFit/>
          </a:bodyPr>
          <a:lstStyle/>
          <a:p>
            <a:pPr>
              <a:defRPr/>
            </a:pPr>
            <a:r>
              <a:rPr lang="en-US" altLang="zh-CN">
                <a:solidFill>
                  <a:schemeClr val="accent2"/>
                </a:solidFill>
                <a:ea typeface="宋体" panose="02010600030101010101" pitchFamily="2" charset="-122"/>
              </a:rPr>
              <a:t>EX</a:t>
            </a:r>
            <a:endParaRPr lang="en-US" altLang="zh-CN">
              <a:solidFill>
                <a:schemeClr val="accent2"/>
              </a:solidFill>
              <a:ea typeface="宋体" panose="02010600030101010101" pitchFamily="2" charset="-122"/>
            </a:endParaRPr>
          </a:p>
        </p:txBody>
      </p:sp>
      <p:sp>
        <p:nvSpPr>
          <p:cNvPr id="16397" name="Line 13"/>
          <p:cNvSpPr>
            <a:spLocks noChangeShapeType="1"/>
          </p:cNvSpPr>
          <p:nvPr/>
        </p:nvSpPr>
        <p:spPr bwMode="auto">
          <a:xfrm>
            <a:off x="9601200" y="6096000"/>
            <a:ext cx="0" cy="30480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398" name="Line 14"/>
          <p:cNvSpPr>
            <a:spLocks noChangeShapeType="1"/>
          </p:cNvSpPr>
          <p:nvPr/>
        </p:nvSpPr>
        <p:spPr bwMode="auto">
          <a:xfrm flipH="1">
            <a:off x="9067800" y="6400800"/>
            <a:ext cx="533400" cy="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399" name="Line 15"/>
          <p:cNvSpPr>
            <a:spLocks noChangeShapeType="1"/>
          </p:cNvSpPr>
          <p:nvPr/>
        </p:nvSpPr>
        <p:spPr bwMode="auto">
          <a:xfrm flipV="1">
            <a:off x="9067800" y="1143000"/>
            <a:ext cx="0" cy="525780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400" name="Line 16"/>
          <p:cNvSpPr>
            <a:spLocks noChangeShapeType="1"/>
          </p:cNvSpPr>
          <p:nvPr/>
        </p:nvSpPr>
        <p:spPr bwMode="auto">
          <a:xfrm>
            <a:off x="9067800" y="1143000"/>
            <a:ext cx="533400" cy="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401" name="Line 17"/>
          <p:cNvSpPr>
            <a:spLocks noChangeShapeType="1"/>
          </p:cNvSpPr>
          <p:nvPr/>
        </p:nvSpPr>
        <p:spPr bwMode="auto">
          <a:xfrm>
            <a:off x="9601200" y="1143000"/>
            <a:ext cx="0" cy="30480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tailEnd type="triangl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3266" name="Text Box 18"/>
          <p:cNvSpPr txBox="1">
            <a:spLocks noChangeArrowheads="1"/>
          </p:cNvSpPr>
          <p:nvPr/>
        </p:nvSpPr>
        <p:spPr bwMode="auto">
          <a:xfrm>
            <a:off x="9296400" y="5638800"/>
            <a:ext cx="685800" cy="270510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2"/>
            </a:solidFill>
            <a:miter lim="800000"/>
          </a:ln>
          <a:effectLst>
            <a:outerShdw dist="35921" dir="2700000" algn="ctr" rotWithShape="0">
              <a:srgbClr val="336699"/>
            </a:outerShdw>
          </a:effectLst>
        </p:spPr>
        <p:txBody>
          <a:bodyPr>
            <a:spAutoFit/>
          </a:bodyPr>
          <a:lstStyle/>
          <a:p>
            <a:pPr>
              <a:defRPr/>
            </a:pPr>
            <a:r>
              <a:rPr lang="en-US" altLang="zh-CN">
                <a:solidFill>
                  <a:schemeClr val="accent2"/>
                </a:solidFill>
                <a:ea typeface="宋体" panose="02010600030101010101" pitchFamily="2" charset="-122"/>
              </a:rPr>
              <a:t>S</a:t>
            </a:r>
            <a:endParaRPr lang="en-US" altLang="zh-CN">
              <a:solidFill>
                <a:schemeClr val="accent2"/>
              </a:solidFill>
              <a:ea typeface="宋体" panose="02010600030101010101" pitchFamily="2" charset="-122"/>
            </a:endParaRPr>
          </a:p>
        </p:txBody>
      </p:sp>
      <p:sp>
        <p:nvSpPr>
          <p:cNvPr id="53267" name="Text Box 19"/>
          <p:cNvSpPr txBox="1">
            <a:spLocks noChangeArrowheads="1"/>
          </p:cNvSpPr>
          <p:nvPr/>
        </p:nvSpPr>
        <p:spPr bwMode="auto">
          <a:xfrm>
            <a:off x="9296400" y="1447800"/>
            <a:ext cx="685800" cy="270510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2"/>
            </a:solidFill>
            <a:miter lim="800000"/>
          </a:ln>
          <a:effectLst>
            <a:outerShdw dist="35921" dir="2700000" algn="ctr" rotWithShape="0">
              <a:srgbClr val="336699"/>
            </a:outerShdw>
          </a:effectLst>
        </p:spPr>
        <p:txBody>
          <a:bodyPr>
            <a:spAutoFit/>
          </a:bodyPr>
          <a:lstStyle/>
          <a:p>
            <a:pPr>
              <a:defRPr/>
            </a:pPr>
            <a:r>
              <a:rPr lang="en-US" altLang="zh-CN">
                <a:solidFill>
                  <a:schemeClr val="accent2"/>
                </a:solidFill>
                <a:ea typeface="宋体" panose="02010600030101010101" pitchFamily="2" charset="-122"/>
              </a:rPr>
              <a:t>F</a:t>
            </a:r>
            <a:endParaRPr lang="en-US" altLang="zh-CN">
              <a:solidFill>
                <a:schemeClr val="accent2"/>
              </a:solidFill>
              <a:ea typeface="宋体" panose="02010600030101010101" pitchFamily="2" charset="-122"/>
            </a:endParaRPr>
          </a:p>
        </p:txBody>
      </p:sp>
      <p:sp>
        <p:nvSpPr>
          <p:cNvPr id="53268" name="Text Box 20"/>
          <p:cNvSpPr txBox="1">
            <a:spLocks noChangeArrowheads="1"/>
          </p:cNvSpPr>
          <p:nvPr/>
        </p:nvSpPr>
        <p:spPr bwMode="auto">
          <a:xfrm>
            <a:off x="9296400" y="2286000"/>
            <a:ext cx="685800" cy="270510"/>
          </a:xfrm>
          <a:prstGeom prst="rect">
            <a:avLst/>
          </a:prstGeom>
          <a:solidFill>
            <a:schemeClr val="accent2"/>
          </a:solidFill>
          <a:ln w="9525">
            <a:solidFill>
              <a:schemeClr val="accent2"/>
            </a:solidFill>
            <a:miter lim="800000"/>
          </a:ln>
          <a:effectLst>
            <a:outerShdw dist="35921" dir="2700000" algn="ctr" rotWithShape="0">
              <a:srgbClr val="336699"/>
            </a:outerShdw>
          </a:effectLst>
        </p:spPr>
        <p:txBody>
          <a:bodyPr>
            <a:spAutoFit/>
          </a:bodyPr>
          <a:lstStyle/>
          <a:p>
            <a:pPr>
              <a:defRPr/>
            </a:pPr>
            <a:r>
              <a:rPr lang="en-US" altLang="zh-CN" b="1">
                <a:solidFill>
                  <a:schemeClr val="bg1"/>
                </a:solidFill>
                <a:ea typeface="宋体" panose="02010600030101010101" pitchFamily="2" charset="-122"/>
              </a:rPr>
              <a:t>D</a:t>
            </a:r>
            <a:endParaRPr lang="en-US" altLang="zh-CN" b="1">
              <a:solidFill>
                <a:schemeClr val="bg1"/>
              </a:solidFill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灯片编号占位符 3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/>
          <a:p>
            <a:r>
              <a:rPr lang="en-US" altLang="zh-CN"/>
              <a:t>4-</a:t>
            </a:r>
            <a:fld id="{EDA8EBE4-CD10-444E-A27A-4117B8BBC1B6}" type="slidenum">
              <a:rPr lang="en-US" altLang="zh-CN"/>
            </a:fld>
            <a:endParaRPr lang="en-US" altLang="zh-CN"/>
          </a:p>
        </p:txBody>
      </p:sp>
      <p:sp>
        <p:nvSpPr>
          <p:cNvPr id="17411" name="Rectangle 2"/>
          <p:cNvSpPr>
            <a:spLocks noGrp="1" noChangeArrowheads="1"/>
          </p:cNvSpPr>
          <p:nvPr>
            <p:ph type="title"/>
          </p:nvPr>
        </p:nvSpPr>
        <p:spPr>
          <a:xfrm>
            <a:off x="1703512" y="274638"/>
            <a:ext cx="9361040" cy="1143000"/>
          </a:xfrm>
        </p:spPr>
        <p:txBody>
          <a:bodyPr>
            <a:normAutofit fontScale="90000"/>
          </a:bodyPr>
          <a:lstStyle/>
          <a:p>
            <a:r>
              <a:rPr lang="zh-CN" altLang="en-US" dirty="0">
                <a:ea typeface="宋体" panose="02010600030101010101" pitchFamily="2" charset="-122"/>
              </a:rPr>
              <a:t>指令周期</a:t>
            </a:r>
            <a:r>
              <a:rPr lang="en-US" altLang="zh-CN" dirty="0">
                <a:ea typeface="宋体" panose="02010600030101010101" pitchFamily="2" charset="-122"/>
              </a:rPr>
              <a:t>:  EVALUATE ADDRESS</a:t>
            </a:r>
            <a:r>
              <a:rPr lang="zh-CN" altLang="en-US" dirty="0">
                <a:ea typeface="宋体" panose="02010600030101010101" pitchFamily="2" charset="-122"/>
              </a:rPr>
              <a:t>地址计算</a:t>
            </a:r>
            <a:endParaRPr lang="en-US" altLang="zh-CN" dirty="0">
              <a:ea typeface="宋体" panose="02010600030101010101" pitchFamily="2" charset="-122"/>
            </a:endParaRPr>
          </a:p>
        </p:txBody>
      </p:sp>
      <p:sp>
        <p:nvSpPr>
          <p:cNvPr id="1741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981200" y="1481328"/>
            <a:ext cx="6923112" cy="4525963"/>
          </a:xfrm>
        </p:spPr>
        <p:txBody>
          <a:bodyPr/>
          <a:lstStyle/>
          <a:p>
            <a:r>
              <a:rPr lang="zh-CN" altLang="en-US" dirty="0">
                <a:ea typeface="宋体" panose="02010600030101010101" pitchFamily="2" charset="-122"/>
              </a:rPr>
              <a:t>在指令中通常无法直接给出</a:t>
            </a:r>
            <a:r>
              <a:rPr lang="en-US" altLang="zh-CN" dirty="0">
                <a:ea typeface="宋体" panose="02010600030101010101" pitchFamily="2" charset="-122"/>
              </a:rPr>
              <a:t>16</a:t>
            </a:r>
            <a:r>
              <a:rPr lang="zh-CN" altLang="en-US" dirty="0">
                <a:ea typeface="宋体" panose="02010600030101010101" pitchFamily="2" charset="-122"/>
              </a:rPr>
              <a:t>位的有效地址，需要根据指令实际定义的寻址方式进行计算。</a:t>
            </a:r>
            <a:endParaRPr lang="en-US" altLang="zh-CN" dirty="0">
              <a:ea typeface="宋体" panose="02010600030101010101" pitchFamily="2" charset="-122"/>
            </a:endParaRPr>
          </a:p>
          <a:p>
            <a:endParaRPr lang="en-US" altLang="zh-CN" dirty="0">
              <a:ea typeface="宋体" panose="02010600030101010101" pitchFamily="2" charset="-122"/>
            </a:endParaRPr>
          </a:p>
          <a:p>
            <a:r>
              <a:rPr lang="en-US" altLang="zh-CN" dirty="0">
                <a:ea typeface="宋体" panose="02010600030101010101" pitchFamily="2" charset="-122"/>
              </a:rPr>
              <a:t>Examples:</a:t>
            </a:r>
            <a:endParaRPr lang="en-US" altLang="zh-CN" dirty="0">
              <a:ea typeface="宋体" panose="02010600030101010101" pitchFamily="2" charset="-122"/>
            </a:endParaRPr>
          </a:p>
          <a:p>
            <a:pPr lvl="1"/>
            <a:r>
              <a:rPr lang="zh-CN" altLang="en-US" dirty="0">
                <a:ea typeface="宋体" panose="02010600030101010101" pitchFamily="2" charset="-122"/>
              </a:rPr>
              <a:t>间接寻址：基址存放在寄存器中，通过基址</a:t>
            </a:r>
            <a:r>
              <a:rPr lang="en-US" altLang="zh-CN" dirty="0">
                <a:ea typeface="宋体" panose="02010600030101010101" pitchFamily="2" charset="-122"/>
              </a:rPr>
              <a:t>+</a:t>
            </a:r>
            <a:r>
              <a:rPr lang="zh-CN" altLang="en-US" dirty="0">
                <a:ea typeface="宋体" panose="02010600030101010101" pitchFamily="2" charset="-122"/>
              </a:rPr>
              <a:t>偏移来计算数据的实际地址</a:t>
            </a:r>
            <a:r>
              <a:rPr lang="en-US" altLang="zh-CN" dirty="0">
                <a:ea typeface="宋体" panose="02010600030101010101" pitchFamily="2" charset="-122"/>
              </a:rPr>
              <a:t>(as in LDR)</a:t>
            </a:r>
            <a:endParaRPr lang="en-US" altLang="zh-CN" dirty="0">
              <a:ea typeface="宋体" panose="02010600030101010101" pitchFamily="2" charset="-122"/>
            </a:endParaRPr>
          </a:p>
          <a:p>
            <a:pPr lvl="1"/>
            <a:r>
              <a:rPr lang="zh-CN" altLang="en-US" dirty="0">
                <a:ea typeface="宋体" panose="02010600030101010101" pitchFamily="2" charset="-122"/>
              </a:rPr>
              <a:t>相对寻址：在指令地址的基础上加偏移。通过</a:t>
            </a:r>
            <a:r>
              <a:rPr lang="en-US" altLang="zh-CN" dirty="0">
                <a:ea typeface="宋体" panose="02010600030101010101" pitchFamily="2" charset="-122"/>
              </a:rPr>
              <a:t>PC+</a:t>
            </a:r>
            <a:r>
              <a:rPr lang="zh-CN" altLang="en-US" dirty="0">
                <a:ea typeface="宋体" panose="02010600030101010101" pitchFamily="2" charset="-122"/>
              </a:rPr>
              <a:t>偏移来计算数据的实际地址</a:t>
            </a:r>
            <a:endParaRPr lang="en-US" altLang="zh-CN" dirty="0">
              <a:ea typeface="宋体" panose="02010600030101010101" pitchFamily="2" charset="-122"/>
            </a:endParaRPr>
          </a:p>
          <a:p>
            <a:pPr lvl="1"/>
            <a:r>
              <a:rPr lang="zh-CN" altLang="en-US" dirty="0">
                <a:ea typeface="宋体" panose="02010600030101010101" pitchFamily="2" charset="-122"/>
              </a:rPr>
              <a:t>立即地址：偏移</a:t>
            </a:r>
            <a:r>
              <a:rPr lang="en-US" altLang="zh-CN" dirty="0">
                <a:ea typeface="宋体" panose="02010600030101010101" pitchFamily="2" charset="-122"/>
              </a:rPr>
              <a:t>+0</a:t>
            </a:r>
            <a:endParaRPr lang="en-US" altLang="zh-CN" dirty="0">
              <a:ea typeface="宋体" panose="02010600030101010101" pitchFamily="2" charset="-122"/>
            </a:endParaRPr>
          </a:p>
        </p:txBody>
      </p:sp>
      <p:sp>
        <p:nvSpPr>
          <p:cNvPr id="17413" name="Line 5"/>
          <p:cNvSpPr>
            <a:spLocks noChangeShapeType="1"/>
          </p:cNvSpPr>
          <p:nvPr/>
        </p:nvSpPr>
        <p:spPr bwMode="auto">
          <a:xfrm>
            <a:off x="9601200" y="1905000"/>
            <a:ext cx="0" cy="38100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tailEnd type="triangl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414" name="Line 6"/>
          <p:cNvSpPr>
            <a:spLocks noChangeShapeType="1"/>
          </p:cNvSpPr>
          <p:nvPr/>
        </p:nvSpPr>
        <p:spPr bwMode="auto">
          <a:xfrm>
            <a:off x="9625013" y="2743200"/>
            <a:ext cx="0" cy="38100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tailEnd type="triangl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415" name="Line 7"/>
          <p:cNvSpPr>
            <a:spLocks noChangeShapeType="1"/>
          </p:cNvSpPr>
          <p:nvPr/>
        </p:nvSpPr>
        <p:spPr bwMode="auto">
          <a:xfrm>
            <a:off x="9601200" y="3581400"/>
            <a:ext cx="0" cy="38100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tailEnd type="triangl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416" name="Line 8"/>
          <p:cNvSpPr>
            <a:spLocks noChangeShapeType="1"/>
          </p:cNvSpPr>
          <p:nvPr/>
        </p:nvSpPr>
        <p:spPr bwMode="auto">
          <a:xfrm>
            <a:off x="9580563" y="4419600"/>
            <a:ext cx="0" cy="38100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tailEnd type="triangl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417" name="Line 9"/>
          <p:cNvSpPr>
            <a:spLocks noChangeShapeType="1"/>
          </p:cNvSpPr>
          <p:nvPr/>
        </p:nvSpPr>
        <p:spPr bwMode="auto">
          <a:xfrm>
            <a:off x="9594850" y="5257800"/>
            <a:ext cx="0" cy="38100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tailEnd type="triangl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4282" name="Text Box 10"/>
          <p:cNvSpPr txBox="1">
            <a:spLocks noChangeArrowheads="1"/>
          </p:cNvSpPr>
          <p:nvPr/>
        </p:nvSpPr>
        <p:spPr bwMode="auto">
          <a:xfrm>
            <a:off x="9296400" y="3124200"/>
            <a:ext cx="685800" cy="270510"/>
          </a:xfrm>
          <a:prstGeom prst="rect">
            <a:avLst/>
          </a:prstGeom>
          <a:solidFill>
            <a:schemeClr val="accent2"/>
          </a:solidFill>
          <a:ln w="9525">
            <a:solidFill>
              <a:schemeClr val="accent2"/>
            </a:solidFill>
            <a:miter lim="800000"/>
          </a:ln>
          <a:effectLst>
            <a:outerShdw dist="35921" dir="2700000" algn="ctr" rotWithShape="0">
              <a:srgbClr val="336699"/>
            </a:outerShdw>
          </a:effectLst>
        </p:spPr>
        <p:txBody>
          <a:bodyPr>
            <a:spAutoFit/>
          </a:bodyPr>
          <a:lstStyle/>
          <a:p>
            <a:pPr>
              <a:defRPr/>
            </a:pPr>
            <a:r>
              <a:rPr lang="en-US" altLang="zh-CN" b="1">
                <a:solidFill>
                  <a:schemeClr val="bg1"/>
                </a:solidFill>
                <a:ea typeface="宋体" panose="02010600030101010101" pitchFamily="2" charset="-122"/>
              </a:rPr>
              <a:t>EA</a:t>
            </a:r>
            <a:endParaRPr lang="en-US" altLang="zh-CN" b="1">
              <a:solidFill>
                <a:schemeClr val="bg1"/>
              </a:solidFill>
              <a:ea typeface="宋体" panose="02010600030101010101" pitchFamily="2" charset="-122"/>
            </a:endParaRPr>
          </a:p>
        </p:txBody>
      </p:sp>
      <p:sp>
        <p:nvSpPr>
          <p:cNvPr id="54283" name="Text Box 11"/>
          <p:cNvSpPr txBox="1">
            <a:spLocks noChangeArrowheads="1"/>
          </p:cNvSpPr>
          <p:nvPr/>
        </p:nvSpPr>
        <p:spPr bwMode="auto">
          <a:xfrm>
            <a:off x="9296400" y="3962400"/>
            <a:ext cx="685800" cy="270510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2"/>
            </a:solidFill>
            <a:miter lim="800000"/>
          </a:ln>
          <a:effectLst>
            <a:outerShdw dist="35921" dir="2700000" algn="ctr" rotWithShape="0">
              <a:srgbClr val="336699"/>
            </a:outerShdw>
          </a:effectLst>
        </p:spPr>
        <p:txBody>
          <a:bodyPr>
            <a:spAutoFit/>
          </a:bodyPr>
          <a:lstStyle/>
          <a:p>
            <a:pPr>
              <a:defRPr/>
            </a:pPr>
            <a:r>
              <a:rPr lang="en-US" altLang="zh-CN">
                <a:solidFill>
                  <a:schemeClr val="accent2"/>
                </a:solidFill>
                <a:ea typeface="宋体" panose="02010600030101010101" pitchFamily="2" charset="-122"/>
              </a:rPr>
              <a:t>OP</a:t>
            </a:r>
            <a:endParaRPr lang="en-US" altLang="zh-CN">
              <a:solidFill>
                <a:schemeClr val="accent2"/>
              </a:solidFill>
              <a:ea typeface="宋体" panose="02010600030101010101" pitchFamily="2" charset="-122"/>
            </a:endParaRPr>
          </a:p>
        </p:txBody>
      </p:sp>
      <p:sp>
        <p:nvSpPr>
          <p:cNvPr id="54284" name="Text Box 12"/>
          <p:cNvSpPr txBox="1">
            <a:spLocks noChangeArrowheads="1"/>
          </p:cNvSpPr>
          <p:nvPr/>
        </p:nvSpPr>
        <p:spPr bwMode="auto">
          <a:xfrm>
            <a:off x="9296400" y="4800600"/>
            <a:ext cx="685800" cy="270510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2"/>
            </a:solidFill>
            <a:miter lim="800000"/>
          </a:ln>
          <a:effectLst>
            <a:outerShdw dist="35921" dir="2700000" algn="ctr" rotWithShape="0">
              <a:srgbClr val="336699"/>
            </a:outerShdw>
          </a:effectLst>
        </p:spPr>
        <p:txBody>
          <a:bodyPr>
            <a:spAutoFit/>
          </a:bodyPr>
          <a:lstStyle/>
          <a:p>
            <a:pPr>
              <a:defRPr/>
            </a:pPr>
            <a:r>
              <a:rPr lang="en-US" altLang="zh-CN">
                <a:solidFill>
                  <a:schemeClr val="accent2"/>
                </a:solidFill>
                <a:ea typeface="宋体" panose="02010600030101010101" pitchFamily="2" charset="-122"/>
              </a:rPr>
              <a:t>EX</a:t>
            </a:r>
            <a:endParaRPr lang="en-US" altLang="zh-CN">
              <a:solidFill>
                <a:schemeClr val="accent2"/>
              </a:solidFill>
              <a:ea typeface="宋体" panose="02010600030101010101" pitchFamily="2" charset="-122"/>
            </a:endParaRPr>
          </a:p>
        </p:txBody>
      </p:sp>
      <p:sp>
        <p:nvSpPr>
          <p:cNvPr id="17421" name="Line 13"/>
          <p:cNvSpPr>
            <a:spLocks noChangeShapeType="1"/>
          </p:cNvSpPr>
          <p:nvPr/>
        </p:nvSpPr>
        <p:spPr bwMode="auto">
          <a:xfrm>
            <a:off x="9601200" y="6096000"/>
            <a:ext cx="0" cy="30480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422" name="Line 14"/>
          <p:cNvSpPr>
            <a:spLocks noChangeShapeType="1"/>
          </p:cNvSpPr>
          <p:nvPr/>
        </p:nvSpPr>
        <p:spPr bwMode="auto">
          <a:xfrm flipH="1">
            <a:off x="9067800" y="6400800"/>
            <a:ext cx="533400" cy="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423" name="Line 15"/>
          <p:cNvSpPr>
            <a:spLocks noChangeShapeType="1"/>
          </p:cNvSpPr>
          <p:nvPr/>
        </p:nvSpPr>
        <p:spPr bwMode="auto">
          <a:xfrm flipV="1">
            <a:off x="9067800" y="1143000"/>
            <a:ext cx="0" cy="525780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424" name="Line 16"/>
          <p:cNvSpPr>
            <a:spLocks noChangeShapeType="1"/>
          </p:cNvSpPr>
          <p:nvPr/>
        </p:nvSpPr>
        <p:spPr bwMode="auto">
          <a:xfrm>
            <a:off x="9067800" y="1143000"/>
            <a:ext cx="533400" cy="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425" name="Line 17"/>
          <p:cNvSpPr>
            <a:spLocks noChangeShapeType="1"/>
          </p:cNvSpPr>
          <p:nvPr/>
        </p:nvSpPr>
        <p:spPr bwMode="auto">
          <a:xfrm>
            <a:off x="9601200" y="1143000"/>
            <a:ext cx="0" cy="30480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tailEnd type="triangl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4290" name="Text Box 18"/>
          <p:cNvSpPr txBox="1">
            <a:spLocks noChangeArrowheads="1"/>
          </p:cNvSpPr>
          <p:nvPr/>
        </p:nvSpPr>
        <p:spPr bwMode="auto">
          <a:xfrm>
            <a:off x="9296400" y="5638800"/>
            <a:ext cx="685800" cy="270510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2"/>
            </a:solidFill>
            <a:miter lim="800000"/>
          </a:ln>
          <a:effectLst>
            <a:outerShdw dist="35921" dir="2700000" algn="ctr" rotWithShape="0">
              <a:srgbClr val="336699"/>
            </a:outerShdw>
          </a:effectLst>
        </p:spPr>
        <p:txBody>
          <a:bodyPr>
            <a:spAutoFit/>
          </a:bodyPr>
          <a:lstStyle/>
          <a:p>
            <a:pPr>
              <a:defRPr/>
            </a:pPr>
            <a:r>
              <a:rPr lang="en-US" altLang="zh-CN">
                <a:solidFill>
                  <a:schemeClr val="accent2"/>
                </a:solidFill>
                <a:ea typeface="宋体" panose="02010600030101010101" pitchFamily="2" charset="-122"/>
              </a:rPr>
              <a:t>S</a:t>
            </a:r>
            <a:endParaRPr lang="en-US" altLang="zh-CN">
              <a:solidFill>
                <a:schemeClr val="accent2"/>
              </a:solidFill>
              <a:ea typeface="宋体" panose="02010600030101010101" pitchFamily="2" charset="-122"/>
            </a:endParaRPr>
          </a:p>
        </p:txBody>
      </p:sp>
      <p:sp>
        <p:nvSpPr>
          <p:cNvPr id="54291" name="Text Box 19"/>
          <p:cNvSpPr txBox="1">
            <a:spLocks noChangeArrowheads="1"/>
          </p:cNvSpPr>
          <p:nvPr/>
        </p:nvSpPr>
        <p:spPr bwMode="auto">
          <a:xfrm>
            <a:off x="9296400" y="1447800"/>
            <a:ext cx="685800" cy="270510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2"/>
            </a:solidFill>
            <a:miter lim="800000"/>
          </a:ln>
          <a:effectLst>
            <a:outerShdw dist="35921" dir="2700000" algn="ctr" rotWithShape="0">
              <a:srgbClr val="336699"/>
            </a:outerShdw>
          </a:effectLst>
        </p:spPr>
        <p:txBody>
          <a:bodyPr>
            <a:spAutoFit/>
          </a:bodyPr>
          <a:lstStyle/>
          <a:p>
            <a:pPr>
              <a:defRPr/>
            </a:pPr>
            <a:r>
              <a:rPr lang="en-US" altLang="zh-CN">
                <a:solidFill>
                  <a:schemeClr val="accent2"/>
                </a:solidFill>
                <a:ea typeface="宋体" panose="02010600030101010101" pitchFamily="2" charset="-122"/>
              </a:rPr>
              <a:t>F</a:t>
            </a:r>
            <a:endParaRPr lang="en-US" altLang="zh-CN">
              <a:solidFill>
                <a:schemeClr val="accent2"/>
              </a:solidFill>
              <a:ea typeface="宋体" panose="02010600030101010101" pitchFamily="2" charset="-122"/>
            </a:endParaRPr>
          </a:p>
        </p:txBody>
      </p:sp>
      <p:sp>
        <p:nvSpPr>
          <p:cNvPr id="54292" name="Text Box 20"/>
          <p:cNvSpPr txBox="1">
            <a:spLocks noChangeArrowheads="1"/>
          </p:cNvSpPr>
          <p:nvPr/>
        </p:nvSpPr>
        <p:spPr bwMode="auto">
          <a:xfrm>
            <a:off x="9296400" y="2286000"/>
            <a:ext cx="685800" cy="270510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2"/>
            </a:solidFill>
            <a:miter lim="800000"/>
          </a:ln>
          <a:effectLst>
            <a:outerShdw dist="35921" dir="2700000" algn="ctr" rotWithShape="0">
              <a:srgbClr val="336699"/>
            </a:outerShdw>
          </a:effectLst>
        </p:spPr>
        <p:txBody>
          <a:bodyPr>
            <a:spAutoFit/>
          </a:bodyPr>
          <a:lstStyle/>
          <a:p>
            <a:pPr>
              <a:defRPr/>
            </a:pPr>
            <a:r>
              <a:rPr lang="en-US" altLang="zh-CN">
                <a:solidFill>
                  <a:schemeClr val="accent2"/>
                </a:solidFill>
                <a:ea typeface="宋体" panose="02010600030101010101" pitchFamily="2" charset="-122"/>
              </a:rPr>
              <a:t>D</a:t>
            </a:r>
            <a:endParaRPr lang="en-US" altLang="zh-CN">
              <a:solidFill>
                <a:schemeClr val="accent2"/>
              </a:solidFill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灯片编号占位符 3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/>
          <a:p>
            <a:r>
              <a:rPr lang="en-US" altLang="zh-CN"/>
              <a:t>4-</a:t>
            </a:r>
            <a:fld id="{39F49383-2CDC-4F0E-A396-B0D5923D1B2B}" type="slidenum">
              <a:rPr lang="en-US" altLang="zh-CN"/>
            </a:fld>
            <a:endParaRPr lang="en-US" altLang="zh-CN"/>
          </a:p>
        </p:txBody>
      </p:sp>
      <p:sp>
        <p:nvSpPr>
          <p:cNvPr id="18435" name="Rectangle 2"/>
          <p:cNvSpPr>
            <a:spLocks noGrp="1" noChangeArrowheads="1"/>
          </p:cNvSpPr>
          <p:nvPr>
            <p:ph type="title"/>
          </p:nvPr>
        </p:nvSpPr>
        <p:spPr>
          <a:xfrm>
            <a:off x="1981200" y="274638"/>
            <a:ext cx="8867328" cy="1143000"/>
          </a:xfrm>
        </p:spPr>
        <p:txBody>
          <a:bodyPr>
            <a:normAutofit fontScale="90000"/>
          </a:bodyPr>
          <a:lstStyle/>
          <a:p>
            <a:r>
              <a:rPr lang="zh-CN" altLang="en-US" dirty="0">
                <a:ea typeface="宋体" panose="02010600030101010101" pitchFamily="2" charset="-122"/>
              </a:rPr>
              <a:t>指令周期</a:t>
            </a:r>
            <a:r>
              <a:rPr lang="en-US" altLang="zh-CN" dirty="0">
                <a:ea typeface="宋体" panose="02010600030101010101" pitchFamily="2" charset="-122"/>
              </a:rPr>
              <a:t>: FETCH OPERANDS</a:t>
            </a:r>
            <a:r>
              <a:rPr lang="zh-CN" altLang="en-US" dirty="0">
                <a:ea typeface="宋体" panose="02010600030101010101" pitchFamily="2" charset="-122"/>
              </a:rPr>
              <a:t>取操作数</a:t>
            </a:r>
            <a:endParaRPr lang="en-US" altLang="zh-CN" dirty="0">
              <a:ea typeface="宋体" panose="02010600030101010101" pitchFamily="2" charset="-122"/>
            </a:endParaRPr>
          </a:p>
        </p:txBody>
      </p:sp>
      <p:sp>
        <p:nvSpPr>
          <p:cNvPr id="1843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981200" y="1481328"/>
            <a:ext cx="6995120" cy="4525963"/>
          </a:xfrm>
        </p:spPr>
        <p:txBody>
          <a:bodyPr/>
          <a:lstStyle/>
          <a:p>
            <a:r>
              <a:rPr lang="zh-CN" altLang="en-US" dirty="0">
                <a:ea typeface="宋体" panose="02010600030101010101" pitchFamily="2" charset="-122"/>
              </a:rPr>
              <a:t>数据存放地点：寄存器，内存</a:t>
            </a:r>
            <a:endParaRPr lang="en-US" altLang="zh-CN" dirty="0">
              <a:ea typeface="宋体" panose="02010600030101010101" pitchFamily="2" charset="-122"/>
            </a:endParaRPr>
          </a:p>
          <a:p>
            <a:r>
              <a:rPr lang="zh-CN" altLang="en-US" dirty="0">
                <a:ea typeface="宋体" panose="02010600030101010101" pitchFamily="2" charset="-122"/>
              </a:rPr>
              <a:t>根据寄存器地址或计算得到的内存地址读取操作数。</a:t>
            </a:r>
            <a:endParaRPr lang="en-US" altLang="zh-CN" dirty="0">
              <a:ea typeface="宋体" panose="02010600030101010101" pitchFamily="2" charset="-122"/>
            </a:endParaRPr>
          </a:p>
          <a:p>
            <a:endParaRPr lang="en-US" altLang="zh-CN" dirty="0">
              <a:ea typeface="宋体" panose="02010600030101010101" pitchFamily="2" charset="-122"/>
            </a:endParaRPr>
          </a:p>
          <a:p>
            <a:r>
              <a:rPr lang="en-US" altLang="zh-CN" dirty="0">
                <a:ea typeface="宋体" panose="02010600030101010101" pitchFamily="2" charset="-122"/>
              </a:rPr>
              <a:t>Examples:</a:t>
            </a:r>
            <a:endParaRPr lang="en-US" altLang="zh-CN" dirty="0">
              <a:ea typeface="宋体" panose="02010600030101010101" pitchFamily="2" charset="-122"/>
            </a:endParaRPr>
          </a:p>
          <a:p>
            <a:pPr lvl="1"/>
            <a:r>
              <a:rPr lang="en-US" altLang="zh-CN" dirty="0">
                <a:ea typeface="宋体" panose="02010600030101010101" pitchFamily="2" charset="-122"/>
              </a:rPr>
              <a:t>load data from memory (LDR)</a:t>
            </a:r>
            <a:endParaRPr lang="en-US" altLang="zh-CN" dirty="0">
              <a:ea typeface="宋体" panose="02010600030101010101" pitchFamily="2" charset="-122"/>
            </a:endParaRPr>
          </a:p>
          <a:p>
            <a:pPr lvl="1"/>
            <a:r>
              <a:rPr lang="en-US" altLang="zh-CN" dirty="0">
                <a:ea typeface="宋体" panose="02010600030101010101" pitchFamily="2" charset="-122"/>
              </a:rPr>
              <a:t>read data from register file (ADD)</a:t>
            </a:r>
            <a:endParaRPr lang="en-US" altLang="zh-CN" dirty="0">
              <a:ea typeface="宋体" panose="02010600030101010101" pitchFamily="2" charset="-122"/>
            </a:endParaRPr>
          </a:p>
        </p:txBody>
      </p:sp>
      <p:sp>
        <p:nvSpPr>
          <p:cNvPr id="18437" name="Line 5"/>
          <p:cNvSpPr>
            <a:spLocks noChangeShapeType="1"/>
          </p:cNvSpPr>
          <p:nvPr/>
        </p:nvSpPr>
        <p:spPr bwMode="auto">
          <a:xfrm>
            <a:off x="9601200" y="1905000"/>
            <a:ext cx="0" cy="38100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tailEnd type="triangl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438" name="Line 6"/>
          <p:cNvSpPr>
            <a:spLocks noChangeShapeType="1"/>
          </p:cNvSpPr>
          <p:nvPr/>
        </p:nvSpPr>
        <p:spPr bwMode="auto">
          <a:xfrm>
            <a:off x="9625013" y="2743200"/>
            <a:ext cx="0" cy="38100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tailEnd type="triangl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439" name="Line 7"/>
          <p:cNvSpPr>
            <a:spLocks noChangeShapeType="1"/>
          </p:cNvSpPr>
          <p:nvPr/>
        </p:nvSpPr>
        <p:spPr bwMode="auto">
          <a:xfrm>
            <a:off x="9601200" y="3581400"/>
            <a:ext cx="0" cy="38100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tailEnd type="triangl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440" name="Line 8"/>
          <p:cNvSpPr>
            <a:spLocks noChangeShapeType="1"/>
          </p:cNvSpPr>
          <p:nvPr/>
        </p:nvSpPr>
        <p:spPr bwMode="auto">
          <a:xfrm>
            <a:off x="9580563" y="4419600"/>
            <a:ext cx="0" cy="38100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tailEnd type="triangl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441" name="Line 9"/>
          <p:cNvSpPr>
            <a:spLocks noChangeShapeType="1"/>
          </p:cNvSpPr>
          <p:nvPr/>
        </p:nvSpPr>
        <p:spPr bwMode="auto">
          <a:xfrm>
            <a:off x="9594850" y="5257800"/>
            <a:ext cx="0" cy="38100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tailEnd type="triangl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5306" name="Text Box 10"/>
          <p:cNvSpPr txBox="1">
            <a:spLocks noChangeArrowheads="1"/>
          </p:cNvSpPr>
          <p:nvPr/>
        </p:nvSpPr>
        <p:spPr bwMode="auto">
          <a:xfrm>
            <a:off x="9296400" y="3124200"/>
            <a:ext cx="685800" cy="270510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2"/>
            </a:solidFill>
            <a:miter lim="800000"/>
          </a:ln>
          <a:effectLst>
            <a:outerShdw dist="35921" dir="2700000" algn="ctr" rotWithShape="0">
              <a:srgbClr val="336699"/>
            </a:outerShdw>
          </a:effectLst>
        </p:spPr>
        <p:txBody>
          <a:bodyPr>
            <a:spAutoFit/>
          </a:bodyPr>
          <a:lstStyle/>
          <a:p>
            <a:pPr>
              <a:defRPr/>
            </a:pPr>
            <a:r>
              <a:rPr lang="en-US" altLang="zh-CN">
                <a:solidFill>
                  <a:schemeClr val="accent2"/>
                </a:solidFill>
                <a:ea typeface="宋体" panose="02010600030101010101" pitchFamily="2" charset="-122"/>
              </a:rPr>
              <a:t>EA</a:t>
            </a:r>
            <a:endParaRPr lang="en-US" altLang="zh-CN">
              <a:solidFill>
                <a:schemeClr val="accent2"/>
              </a:solidFill>
              <a:ea typeface="宋体" panose="02010600030101010101" pitchFamily="2" charset="-122"/>
            </a:endParaRPr>
          </a:p>
        </p:txBody>
      </p:sp>
      <p:sp>
        <p:nvSpPr>
          <p:cNvPr id="55307" name="Text Box 11"/>
          <p:cNvSpPr txBox="1">
            <a:spLocks noChangeArrowheads="1"/>
          </p:cNvSpPr>
          <p:nvPr/>
        </p:nvSpPr>
        <p:spPr bwMode="auto">
          <a:xfrm>
            <a:off x="9296400" y="3962400"/>
            <a:ext cx="685800" cy="270510"/>
          </a:xfrm>
          <a:prstGeom prst="rect">
            <a:avLst/>
          </a:prstGeom>
          <a:solidFill>
            <a:schemeClr val="accent2"/>
          </a:solidFill>
          <a:ln w="9525">
            <a:solidFill>
              <a:schemeClr val="accent2"/>
            </a:solidFill>
            <a:miter lim="800000"/>
          </a:ln>
          <a:effectLst>
            <a:outerShdw dist="35921" dir="2700000" algn="ctr" rotWithShape="0">
              <a:srgbClr val="336699"/>
            </a:outerShdw>
          </a:effectLst>
        </p:spPr>
        <p:txBody>
          <a:bodyPr>
            <a:spAutoFit/>
          </a:bodyPr>
          <a:lstStyle/>
          <a:p>
            <a:pPr>
              <a:defRPr/>
            </a:pPr>
            <a:r>
              <a:rPr lang="en-US" altLang="zh-CN" b="1">
                <a:solidFill>
                  <a:schemeClr val="bg1"/>
                </a:solidFill>
                <a:ea typeface="宋体" panose="02010600030101010101" pitchFamily="2" charset="-122"/>
              </a:rPr>
              <a:t>OP</a:t>
            </a:r>
            <a:endParaRPr lang="en-US" altLang="zh-CN" b="1">
              <a:solidFill>
                <a:schemeClr val="bg1"/>
              </a:solidFill>
              <a:ea typeface="宋体" panose="02010600030101010101" pitchFamily="2" charset="-122"/>
            </a:endParaRPr>
          </a:p>
        </p:txBody>
      </p:sp>
      <p:sp>
        <p:nvSpPr>
          <p:cNvPr id="55308" name="Text Box 12"/>
          <p:cNvSpPr txBox="1">
            <a:spLocks noChangeArrowheads="1"/>
          </p:cNvSpPr>
          <p:nvPr/>
        </p:nvSpPr>
        <p:spPr bwMode="auto">
          <a:xfrm>
            <a:off x="9296400" y="4800600"/>
            <a:ext cx="685800" cy="270510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2"/>
            </a:solidFill>
            <a:miter lim="800000"/>
          </a:ln>
          <a:effectLst>
            <a:outerShdw dist="35921" dir="2700000" algn="ctr" rotWithShape="0">
              <a:srgbClr val="336699"/>
            </a:outerShdw>
          </a:effectLst>
        </p:spPr>
        <p:txBody>
          <a:bodyPr>
            <a:spAutoFit/>
          </a:bodyPr>
          <a:lstStyle/>
          <a:p>
            <a:pPr>
              <a:defRPr/>
            </a:pPr>
            <a:r>
              <a:rPr lang="en-US" altLang="zh-CN">
                <a:solidFill>
                  <a:schemeClr val="accent2"/>
                </a:solidFill>
                <a:ea typeface="宋体" panose="02010600030101010101" pitchFamily="2" charset="-122"/>
              </a:rPr>
              <a:t>EX</a:t>
            </a:r>
            <a:endParaRPr lang="en-US" altLang="zh-CN">
              <a:solidFill>
                <a:schemeClr val="accent2"/>
              </a:solidFill>
              <a:ea typeface="宋体" panose="02010600030101010101" pitchFamily="2" charset="-122"/>
            </a:endParaRPr>
          </a:p>
        </p:txBody>
      </p:sp>
      <p:sp>
        <p:nvSpPr>
          <p:cNvPr id="18445" name="Line 13"/>
          <p:cNvSpPr>
            <a:spLocks noChangeShapeType="1"/>
          </p:cNvSpPr>
          <p:nvPr/>
        </p:nvSpPr>
        <p:spPr bwMode="auto">
          <a:xfrm>
            <a:off x="9601200" y="6096000"/>
            <a:ext cx="0" cy="30480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446" name="Line 14"/>
          <p:cNvSpPr>
            <a:spLocks noChangeShapeType="1"/>
          </p:cNvSpPr>
          <p:nvPr/>
        </p:nvSpPr>
        <p:spPr bwMode="auto">
          <a:xfrm flipH="1">
            <a:off x="9067800" y="6400800"/>
            <a:ext cx="533400" cy="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447" name="Line 15"/>
          <p:cNvSpPr>
            <a:spLocks noChangeShapeType="1"/>
          </p:cNvSpPr>
          <p:nvPr/>
        </p:nvSpPr>
        <p:spPr bwMode="auto">
          <a:xfrm flipV="1">
            <a:off x="9067800" y="1143000"/>
            <a:ext cx="0" cy="525780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448" name="Line 16"/>
          <p:cNvSpPr>
            <a:spLocks noChangeShapeType="1"/>
          </p:cNvSpPr>
          <p:nvPr/>
        </p:nvSpPr>
        <p:spPr bwMode="auto">
          <a:xfrm>
            <a:off x="9067800" y="1143000"/>
            <a:ext cx="533400" cy="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449" name="Line 17"/>
          <p:cNvSpPr>
            <a:spLocks noChangeShapeType="1"/>
          </p:cNvSpPr>
          <p:nvPr/>
        </p:nvSpPr>
        <p:spPr bwMode="auto">
          <a:xfrm>
            <a:off x="9601200" y="1143000"/>
            <a:ext cx="0" cy="30480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tailEnd type="triangl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5314" name="Text Box 18"/>
          <p:cNvSpPr txBox="1">
            <a:spLocks noChangeArrowheads="1"/>
          </p:cNvSpPr>
          <p:nvPr/>
        </p:nvSpPr>
        <p:spPr bwMode="auto">
          <a:xfrm>
            <a:off x="9296400" y="5638800"/>
            <a:ext cx="685800" cy="270510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2"/>
            </a:solidFill>
            <a:miter lim="800000"/>
          </a:ln>
          <a:effectLst>
            <a:outerShdw dist="35921" dir="2700000" algn="ctr" rotWithShape="0">
              <a:srgbClr val="336699"/>
            </a:outerShdw>
          </a:effectLst>
        </p:spPr>
        <p:txBody>
          <a:bodyPr>
            <a:spAutoFit/>
          </a:bodyPr>
          <a:lstStyle/>
          <a:p>
            <a:pPr>
              <a:defRPr/>
            </a:pPr>
            <a:r>
              <a:rPr lang="en-US" altLang="zh-CN">
                <a:solidFill>
                  <a:schemeClr val="accent2"/>
                </a:solidFill>
                <a:ea typeface="宋体" panose="02010600030101010101" pitchFamily="2" charset="-122"/>
              </a:rPr>
              <a:t>S</a:t>
            </a:r>
            <a:endParaRPr lang="en-US" altLang="zh-CN">
              <a:solidFill>
                <a:schemeClr val="accent2"/>
              </a:solidFill>
              <a:ea typeface="宋体" panose="02010600030101010101" pitchFamily="2" charset="-122"/>
            </a:endParaRPr>
          </a:p>
        </p:txBody>
      </p:sp>
      <p:sp>
        <p:nvSpPr>
          <p:cNvPr id="55315" name="Text Box 19"/>
          <p:cNvSpPr txBox="1">
            <a:spLocks noChangeArrowheads="1"/>
          </p:cNvSpPr>
          <p:nvPr/>
        </p:nvSpPr>
        <p:spPr bwMode="auto">
          <a:xfrm>
            <a:off x="9296400" y="1447800"/>
            <a:ext cx="685800" cy="270510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2"/>
            </a:solidFill>
            <a:miter lim="800000"/>
          </a:ln>
          <a:effectLst>
            <a:outerShdw dist="35921" dir="2700000" algn="ctr" rotWithShape="0">
              <a:srgbClr val="336699"/>
            </a:outerShdw>
          </a:effectLst>
        </p:spPr>
        <p:txBody>
          <a:bodyPr>
            <a:spAutoFit/>
          </a:bodyPr>
          <a:lstStyle/>
          <a:p>
            <a:pPr>
              <a:defRPr/>
            </a:pPr>
            <a:r>
              <a:rPr lang="en-US" altLang="zh-CN">
                <a:solidFill>
                  <a:schemeClr val="accent2"/>
                </a:solidFill>
                <a:ea typeface="宋体" panose="02010600030101010101" pitchFamily="2" charset="-122"/>
              </a:rPr>
              <a:t>F</a:t>
            </a:r>
            <a:endParaRPr lang="en-US" altLang="zh-CN">
              <a:solidFill>
                <a:schemeClr val="accent2"/>
              </a:solidFill>
              <a:ea typeface="宋体" panose="02010600030101010101" pitchFamily="2" charset="-122"/>
            </a:endParaRPr>
          </a:p>
        </p:txBody>
      </p:sp>
      <p:sp>
        <p:nvSpPr>
          <p:cNvPr id="55316" name="Text Box 20"/>
          <p:cNvSpPr txBox="1">
            <a:spLocks noChangeArrowheads="1"/>
          </p:cNvSpPr>
          <p:nvPr/>
        </p:nvSpPr>
        <p:spPr bwMode="auto">
          <a:xfrm>
            <a:off x="9296400" y="2286000"/>
            <a:ext cx="685800" cy="270510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2"/>
            </a:solidFill>
            <a:miter lim="800000"/>
          </a:ln>
          <a:effectLst>
            <a:outerShdw dist="35921" dir="2700000" algn="ctr" rotWithShape="0">
              <a:srgbClr val="336699"/>
            </a:outerShdw>
          </a:effectLst>
        </p:spPr>
        <p:txBody>
          <a:bodyPr>
            <a:spAutoFit/>
          </a:bodyPr>
          <a:lstStyle/>
          <a:p>
            <a:pPr>
              <a:defRPr/>
            </a:pPr>
            <a:r>
              <a:rPr lang="en-US" altLang="zh-CN">
                <a:solidFill>
                  <a:schemeClr val="accent2"/>
                </a:solidFill>
                <a:ea typeface="宋体" panose="02010600030101010101" pitchFamily="2" charset="-122"/>
              </a:rPr>
              <a:t>D</a:t>
            </a:r>
            <a:endParaRPr lang="en-US" altLang="zh-CN">
              <a:solidFill>
                <a:schemeClr val="accent2"/>
              </a:solidFill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灯片编号占位符 3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/>
          <a:p>
            <a:r>
              <a:rPr lang="en-US" altLang="zh-CN"/>
              <a:t>4-</a:t>
            </a:r>
            <a:fld id="{013A6370-2CD7-49D8-9EBB-BFDC1A743C62}" type="slidenum">
              <a:rPr lang="en-US" altLang="zh-CN"/>
            </a:fld>
            <a:endParaRPr lang="en-US" altLang="zh-CN"/>
          </a:p>
        </p:txBody>
      </p:sp>
      <p:sp>
        <p:nvSpPr>
          <p:cNvPr id="19459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>
                <a:ea typeface="宋体" panose="02010600030101010101" pitchFamily="2" charset="-122"/>
              </a:rPr>
              <a:t>指令周期</a:t>
            </a:r>
            <a:r>
              <a:rPr lang="en-US" altLang="zh-CN" dirty="0">
                <a:ea typeface="宋体" panose="02010600030101010101" pitchFamily="2" charset="-122"/>
              </a:rPr>
              <a:t>: EXECUTE</a:t>
            </a:r>
            <a:r>
              <a:rPr lang="zh-CN" altLang="en-US" dirty="0">
                <a:ea typeface="宋体" panose="02010600030101010101" pitchFamily="2" charset="-122"/>
              </a:rPr>
              <a:t>执行</a:t>
            </a:r>
            <a:endParaRPr lang="en-US" altLang="zh-CN" dirty="0">
              <a:ea typeface="宋体" panose="02010600030101010101" pitchFamily="2" charset="-122"/>
            </a:endParaRPr>
          </a:p>
        </p:txBody>
      </p:sp>
      <p:sp>
        <p:nvSpPr>
          <p:cNvPr id="1946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981200" y="1481328"/>
            <a:ext cx="6923112" cy="4525963"/>
          </a:xfrm>
        </p:spPr>
        <p:txBody>
          <a:bodyPr/>
          <a:lstStyle/>
          <a:p>
            <a:r>
              <a:rPr lang="zh-CN" altLang="en-US" dirty="0">
                <a:ea typeface="宋体" panose="02010600030101010101" pitchFamily="2" charset="-122"/>
              </a:rPr>
              <a:t>基于得到的操作数完成操作码制定的操作。</a:t>
            </a:r>
            <a:endParaRPr lang="en-US" altLang="zh-CN" dirty="0">
              <a:ea typeface="宋体" panose="02010600030101010101" pitchFamily="2" charset="-122"/>
            </a:endParaRPr>
          </a:p>
          <a:p>
            <a:endParaRPr lang="en-US" altLang="zh-CN" dirty="0">
              <a:ea typeface="宋体" panose="02010600030101010101" pitchFamily="2" charset="-122"/>
            </a:endParaRPr>
          </a:p>
          <a:p>
            <a:r>
              <a:rPr lang="en-US" altLang="zh-CN" dirty="0">
                <a:ea typeface="宋体" panose="02010600030101010101" pitchFamily="2" charset="-122"/>
              </a:rPr>
              <a:t>Examples:</a:t>
            </a:r>
            <a:endParaRPr lang="en-US" altLang="zh-CN" dirty="0">
              <a:ea typeface="宋体" panose="02010600030101010101" pitchFamily="2" charset="-122"/>
            </a:endParaRPr>
          </a:p>
          <a:p>
            <a:pPr lvl="1"/>
            <a:r>
              <a:rPr lang="zh-CN" altLang="en-US" dirty="0">
                <a:ea typeface="宋体" panose="02010600030101010101" pitchFamily="2" charset="-122"/>
              </a:rPr>
              <a:t>把操作数送到</a:t>
            </a:r>
            <a:r>
              <a:rPr lang="en-US" altLang="zh-CN" dirty="0">
                <a:ea typeface="宋体" panose="02010600030101010101" pitchFamily="2" charset="-122"/>
              </a:rPr>
              <a:t> ALU</a:t>
            </a:r>
            <a:r>
              <a:rPr lang="zh-CN" altLang="en-US" dirty="0">
                <a:ea typeface="宋体" panose="02010600030101010101" pitchFamily="2" charset="-122"/>
              </a:rPr>
              <a:t>，发加操作信号（</a:t>
            </a:r>
            <a:r>
              <a:rPr lang="en-US" altLang="zh-CN" dirty="0">
                <a:ea typeface="宋体" panose="02010600030101010101" pitchFamily="2" charset="-122"/>
              </a:rPr>
              <a:t>ADD</a:t>
            </a:r>
            <a:r>
              <a:rPr lang="zh-CN" altLang="en-US" dirty="0">
                <a:ea typeface="宋体" panose="02010600030101010101" pitchFamily="2" charset="-122"/>
              </a:rPr>
              <a:t>指令）</a:t>
            </a:r>
            <a:endParaRPr lang="en-US" altLang="zh-CN" dirty="0">
              <a:ea typeface="宋体" panose="02010600030101010101" pitchFamily="2" charset="-122"/>
            </a:endParaRPr>
          </a:p>
          <a:p>
            <a:pPr lvl="1"/>
            <a:r>
              <a:rPr lang="zh-CN" altLang="en-US" dirty="0">
                <a:ea typeface="宋体" panose="02010600030101010101" pitchFamily="2" charset="-122"/>
              </a:rPr>
              <a:t>什么也不做：数据转移类指令</a:t>
            </a:r>
            <a:r>
              <a:rPr lang="en-US" altLang="zh-CN" dirty="0">
                <a:ea typeface="宋体" panose="02010600030101010101" pitchFamily="2" charset="-122"/>
              </a:rPr>
              <a:t>(e.g., for loads and stores)</a:t>
            </a:r>
            <a:endParaRPr lang="en-US" altLang="zh-CN" dirty="0">
              <a:ea typeface="宋体" panose="02010600030101010101" pitchFamily="2" charset="-122"/>
            </a:endParaRPr>
          </a:p>
        </p:txBody>
      </p:sp>
      <p:sp>
        <p:nvSpPr>
          <p:cNvPr id="19461" name="Line 5"/>
          <p:cNvSpPr>
            <a:spLocks noChangeShapeType="1"/>
          </p:cNvSpPr>
          <p:nvPr/>
        </p:nvSpPr>
        <p:spPr bwMode="auto">
          <a:xfrm>
            <a:off x="9601200" y="1905000"/>
            <a:ext cx="0" cy="38100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tailEnd type="triangl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462" name="Line 6"/>
          <p:cNvSpPr>
            <a:spLocks noChangeShapeType="1"/>
          </p:cNvSpPr>
          <p:nvPr/>
        </p:nvSpPr>
        <p:spPr bwMode="auto">
          <a:xfrm>
            <a:off x="9625013" y="2743200"/>
            <a:ext cx="0" cy="38100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tailEnd type="triangl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463" name="Line 7"/>
          <p:cNvSpPr>
            <a:spLocks noChangeShapeType="1"/>
          </p:cNvSpPr>
          <p:nvPr/>
        </p:nvSpPr>
        <p:spPr bwMode="auto">
          <a:xfrm>
            <a:off x="9601200" y="3581400"/>
            <a:ext cx="0" cy="38100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tailEnd type="triangl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464" name="Line 8"/>
          <p:cNvSpPr>
            <a:spLocks noChangeShapeType="1"/>
          </p:cNvSpPr>
          <p:nvPr/>
        </p:nvSpPr>
        <p:spPr bwMode="auto">
          <a:xfrm>
            <a:off x="9580563" y="4419600"/>
            <a:ext cx="0" cy="38100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tailEnd type="triangl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465" name="Line 9"/>
          <p:cNvSpPr>
            <a:spLocks noChangeShapeType="1"/>
          </p:cNvSpPr>
          <p:nvPr/>
        </p:nvSpPr>
        <p:spPr bwMode="auto">
          <a:xfrm>
            <a:off x="9594850" y="5257800"/>
            <a:ext cx="0" cy="38100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tailEnd type="triangl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6330" name="Text Box 10"/>
          <p:cNvSpPr txBox="1">
            <a:spLocks noChangeArrowheads="1"/>
          </p:cNvSpPr>
          <p:nvPr/>
        </p:nvSpPr>
        <p:spPr bwMode="auto">
          <a:xfrm>
            <a:off x="9296400" y="3124200"/>
            <a:ext cx="685800" cy="270510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2"/>
            </a:solidFill>
            <a:miter lim="800000"/>
          </a:ln>
          <a:effectLst>
            <a:outerShdw dist="35921" dir="2700000" algn="ctr" rotWithShape="0">
              <a:srgbClr val="336699"/>
            </a:outerShdw>
          </a:effectLst>
        </p:spPr>
        <p:txBody>
          <a:bodyPr>
            <a:spAutoFit/>
          </a:bodyPr>
          <a:lstStyle/>
          <a:p>
            <a:pPr>
              <a:defRPr/>
            </a:pPr>
            <a:r>
              <a:rPr lang="en-US" altLang="zh-CN">
                <a:solidFill>
                  <a:schemeClr val="accent2"/>
                </a:solidFill>
                <a:ea typeface="宋体" panose="02010600030101010101" pitchFamily="2" charset="-122"/>
              </a:rPr>
              <a:t>EA</a:t>
            </a:r>
            <a:endParaRPr lang="en-US" altLang="zh-CN">
              <a:solidFill>
                <a:schemeClr val="accent2"/>
              </a:solidFill>
              <a:ea typeface="宋体" panose="02010600030101010101" pitchFamily="2" charset="-122"/>
            </a:endParaRPr>
          </a:p>
        </p:txBody>
      </p:sp>
      <p:sp>
        <p:nvSpPr>
          <p:cNvPr id="56331" name="Text Box 11"/>
          <p:cNvSpPr txBox="1">
            <a:spLocks noChangeArrowheads="1"/>
          </p:cNvSpPr>
          <p:nvPr/>
        </p:nvSpPr>
        <p:spPr bwMode="auto">
          <a:xfrm>
            <a:off x="9296400" y="3962400"/>
            <a:ext cx="685800" cy="270510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2"/>
            </a:solidFill>
            <a:miter lim="800000"/>
          </a:ln>
          <a:effectLst>
            <a:outerShdw dist="35921" dir="2700000" algn="ctr" rotWithShape="0">
              <a:srgbClr val="336699"/>
            </a:outerShdw>
          </a:effectLst>
        </p:spPr>
        <p:txBody>
          <a:bodyPr>
            <a:spAutoFit/>
          </a:bodyPr>
          <a:lstStyle/>
          <a:p>
            <a:pPr>
              <a:defRPr/>
            </a:pPr>
            <a:r>
              <a:rPr lang="en-US" altLang="zh-CN">
                <a:solidFill>
                  <a:schemeClr val="accent2"/>
                </a:solidFill>
                <a:ea typeface="宋体" panose="02010600030101010101" pitchFamily="2" charset="-122"/>
              </a:rPr>
              <a:t>OP</a:t>
            </a:r>
            <a:endParaRPr lang="en-US" altLang="zh-CN">
              <a:solidFill>
                <a:schemeClr val="accent2"/>
              </a:solidFill>
              <a:ea typeface="宋体" panose="02010600030101010101" pitchFamily="2" charset="-122"/>
            </a:endParaRPr>
          </a:p>
        </p:txBody>
      </p:sp>
      <p:sp>
        <p:nvSpPr>
          <p:cNvPr id="56332" name="Text Box 12"/>
          <p:cNvSpPr txBox="1">
            <a:spLocks noChangeArrowheads="1"/>
          </p:cNvSpPr>
          <p:nvPr/>
        </p:nvSpPr>
        <p:spPr bwMode="auto">
          <a:xfrm>
            <a:off x="9296400" y="4800600"/>
            <a:ext cx="685800" cy="270510"/>
          </a:xfrm>
          <a:prstGeom prst="rect">
            <a:avLst/>
          </a:prstGeom>
          <a:solidFill>
            <a:schemeClr val="accent2"/>
          </a:solidFill>
          <a:ln w="9525">
            <a:solidFill>
              <a:schemeClr val="accent2"/>
            </a:solidFill>
            <a:miter lim="800000"/>
          </a:ln>
          <a:effectLst>
            <a:outerShdw dist="35921" dir="2700000" algn="ctr" rotWithShape="0">
              <a:srgbClr val="336699"/>
            </a:outerShdw>
          </a:effectLst>
        </p:spPr>
        <p:txBody>
          <a:bodyPr>
            <a:spAutoFit/>
          </a:bodyPr>
          <a:lstStyle/>
          <a:p>
            <a:pPr>
              <a:defRPr/>
            </a:pPr>
            <a:r>
              <a:rPr lang="en-US" altLang="zh-CN" b="1">
                <a:solidFill>
                  <a:schemeClr val="bg1"/>
                </a:solidFill>
                <a:ea typeface="宋体" panose="02010600030101010101" pitchFamily="2" charset="-122"/>
              </a:rPr>
              <a:t>EX</a:t>
            </a:r>
            <a:endParaRPr lang="en-US" altLang="zh-CN" b="1">
              <a:solidFill>
                <a:schemeClr val="bg1"/>
              </a:solidFill>
              <a:ea typeface="宋体" panose="02010600030101010101" pitchFamily="2" charset="-122"/>
            </a:endParaRPr>
          </a:p>
        </p:txBody>
      </p:sp>
      <p:sp>
        <p:nvSpPr>
          <p:cNvPr id="19469" name="Line 13"/>
          <p:cNvSpPr>
            <a:spLocks noChangeShapeType="1"/>
          </p:cNvSpPr>
          <p:nvPr/>
        </p:nvSpPr>
        <p:spPr bwMode="auto">
          <a:xfrm>
            <a:off x="9601200" y="6096000"/>
            <a:ext cx="0" cy="30480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470" name="Line 14"/>
          <p:cNvSpPr>
            <a:spLocks noChangeShapeType="1"/>
          </p:cNvSpPr>
          <p:nvPr/>
        </p:nvSpPr>
        <p:spPr bwMode="auto">
          <a:xfrm flipH="1">
            <a:off x="9067800" y="6400800"/>
            <a:ext cx="533400" cy="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471" name="Line 15"/>
          <p:cNvSpPr>
            <a:spLocks noChangeShapeType="1"/>
          </p:cNvSpPr>
          <p:nvPr/>
        </p:nvSpPr>
        <p:spPr bwMode="auto">
          <a:xfrm flipV="1">
            <a:off x="9067800" y="1143000"/>
            <a:ext cx="0" cy="525780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472" name="Line 16"/>
          <p:cNvSpPr>
            <a:spLocks noChangeShapeType="1"/>
          </p:cNvSpPr>
          <p:nvPr/>
        </p:nvSpPr>
        <p:spPr bwMode="auto">
          <a:xfrm>
            <a:off x="9067800" y="1143000"/>
            <a:ext cx="533400" cy="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473" name="Line 17"/>
          <p:cNvSpPr>
            <a:spLocks noChangeShapeType="1"/>
          </p:cNvSpPr>
          <p:nvPr/>
        </p:nvSpPr>
        <p:spPr bwMode="auto">
          <a:xfrm>
            <a:off x="9601200" y="1143000"/>
            <a:ext cx="0" cy="30480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tailEnd type="triangl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6338" name="Text Box 18"/>
          <p:cNvSpPr txBox="1">
            <a:spLocks noChangeArrowheads="1"/>
          </p:cNvSpPr>
          <p:nvPr/>
        </p:nvSpPr>
        <p:spPr bwMode="auto">
          <a:xfrm>
            <a:off x="9296400" y="5638800"/>
            <a:ext cx="685800" cy="270510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2"/>
            </a:solidFill>
            <a:miter lim="800000"/>
          </a:ln>
          <a:effectLst>
            <a:outerShdw dist="35921" dir="2700000" algn="ctr" rotWithShape="0">
              <a:srgbClr val="336699"/>
            </a:outerShdw>
          </a:effectLst>
        </p:spPr>
        <p:txBody>
          <a:bodyPr>
            <a:spAutoFit/>
          </a:bodyPr>
          <a:lstStyle/>
          <a:p>
            <a:pPr>
              <a:defRPr/>
            </a:pPr>
            <a:r>
              <a:rPr lang="en-US" altLang="zh-CN">
                <a:solidFill>
                  <a:schemeClr val="accent2"/>
                </a:solidFill>
                <a:ea typeface="宋体" panose="02010600030101010101" pitchFamily="2" charset="-122"/>
              </a:rPr>
              <a:t>S</a:t>
            </a:r>
            <a:endParaRPr lang="en-US" altLang="zh-CN">
              <a:solidFill>
                <a:schemeClr val="accent2"/>
              </a:solidFill>
              <a:ea typeface="宋体" panose="02010600030101010101" pitchFamily="2" charset="-122"/>
            </a:endParaRPr>
          </a:p>
        </p:txBody>
      </p:sp>
      <p:sp>
        <p:nvSpPr>
          <p:cNvPr id="56339" name="Text Box 19"/>
          <p:cNvSpPr txBox="1">
            <a:spLocks noChangeArrowheads="1"/>
          </p:cNvSpPr>
          <p:nvPr/>
        </p:nvSpPr>
        <p:spPr bwMode="auto">
          <a:xfrm>
            <a:off x="9296400" y="1447800"/>
            <a:ext cx="685800" cy="270510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2"/>
            </a:solidFill>
            <a:miter lim="800000"/>
          </a:ln>
          <a:effectLst>
            <a:outerShdw dist="35921" dir="2700000" algn="ctr" rotWithShape="0">
              <a:srgbClr val="336699"/>
            </a:outerShdw>
          </a:effectLst>
        </p:spPr>
        <p:txBody>
          <a:bodyPr>
            <a:spAutoFit/>
          </a:bodyPr>
          <a:lstStyle/>
          <a:p>
            <a:pPr>
              <a:defRPr/>
            </a:pPr>
            <a:r>
              <a:rPr lang="en-US" altLang="zh-CN">
                <a:solidFill>
                  <a:schemeClr val="accent2"/>
                </a:solidFill>
                <a:ea typeface="宋体" panose="02010600030101010101" pitchFamily="2" charset="-122"/>
              </a:rPr>
              <a:t>F</a:t>
            </a:r>
            <a:endParaRPr lang="en-US" altLang="zh-CN">
              <a:solidFill>
                <a:schemeClr val="accent2"/>
              </a:solidFill>
              <a:ea typeface="宋体" panose="02010600030101010101" pitchFamily="2" charset="-122"/>
            </a:endParaRPr>
          </a:p>
        </p:txBody>
      </p:sp>
      <p:sp>
        <p:nvSpPr>
          <p:cNvPr id="56340" name="Text Box 20"/>
          <p:cNvSpPr txBox="1">
            <a:spLocks noChangeArrowheads="1"/>
          </p:cNvSpPr>
          <p:nvPr/>
        </p:nvSpPr>
        <p:spPr bwMode="auto">
          <a:xfrm>
            <a:off x="9296400" y="2286000"/>
            <a:ext cx="685800" cy="270510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2"/>
            </a:solidFill>
            <a:miter lim="800000"/>
          </a:ln>
          <a:effectLst>
            <a:outerShdw dist="35921" dir="2700000" algn="ctr" rotWithShape="0">
              <a:srgbClr val="336699"/>
            </a:outerShdw>
          </a:effectLst>
        </p:spPr>
        <p:txBody>
          <a:bodyPr>
            <a:spAutoFit/>
          </a:bodyPr>
          <a:lstStyle/>
          <a:p>
            <a:pPr>
              <a:defRPr/>
            </a:pPr>
            <a:r>
              <a:rPr lang="en-US" altLang="zh-CN">
                <a:solidFill>
                  <a:schemeClr val="accent2"/>
                </a:solidFill>
                <a:ea typeface="宋体" panose="02010600030101010101" pitchFamily="2" charset="-122"/>
              </a:rPr>
              <a:t>D</a:t>
            </a:r>
            <a:endParaRPr lang="en-US" altLang="zh-CN">
              <a:solidFill>
                <a:schemeClr val="accent2"/>
              </a:solidFill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灯片编号占位符 3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/>
          <a:p>
            <a:r>
              <a:rPr lang="en-US" altLang="zh-CN"/>
              <a:t>4-</a:t>
            </a:r>
            <a:fld id="{0C6CABEB-63A5-4A4A-BAFD-B903ED0200A6}" type="slidenum">
              <a:rPr lang="en-US" altLang="zh-CN"/>
            </a:fld>
            <a:endParaRPr lang="en-US" altLang="zh-CN"/>
          </a:p>
        </p:txBody>
      </p:sp>
      <p:sp>
        <p:nvSpPr>
          <p:cNvPr id="20483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 dirty="0">
                <a:ea typeface="宋体" panose="02010600030101010101" pitchFamily="2" charset="-122"/>
              </a:rPr>
              <a:t>指令周期</a:t>
            </a:r>
            <a:r>
              <a:rPr lang="en-US" altLang="zh-CN" dirty="0">
                <a:ea typeface="宋体" panose="02010600030101010101" pitchFamily="2" charset="-122"/>
              </a:rPr>
              <a:t>: STORE RESULT</a:t>
            </a:r>
            <a:r>
              <a:rPr lang="zh-CN" altLang="en-US" dirty="0">
                <a:ea typeface="宋体" panose="02010600030101010101" pitchFamily="2" charset="-122"/>
              </a:rPr>
              <a:t>存放结果</a:t>
            </a:r>
            <a:endParaRPr lang="en-US" altLang="zh-CN" dirty="0">
              <a:ea typeface="宋体" panose="02010600030101010101" pitchFamily="2" charset="-122"/>
            </a:endParaRPr>
          </a:p>
        </p:txBody>
      </p:sp>
      <p:sp>
        <p:nvSpPr>
          <p:cNvPr id="2048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981200" y="1481328"/>
            <a:ext cx="6851104" cy="4525963"/>
          </a:xfrm>
        </p:spPr>
        <p:txBody>
          <a:bodyPr>
            <a:normAutofit/>
          </a:bodyPr>
          <a:lstStyle/>
          <a:p>
            <a:r>
              <a:rPr lang="zh-CN" altLang="en-US" dirty="0">
                <a:ea typeface="宋体" panose="02010600030101010101" pitchFamily="2" charset="-122"/>
              </a:rPr>
              <a:t>把运算结果存放到目标地点</a:t>
            </a:r>
            <a:br>
              <a:rPr lang="en-US" altLang="zh-CN" dirty="0">
                <a:ea typeface="宋体" panose="02010600030101010101" pitchFamily="2" charset="-122"/>
              </a:rPr>
            </a:br>
            <a:r>
              <a:rPr lang="en-US" altLang="zh-CN" dirty="0">
                <a:ea typeface="宋体" panose="02010600030101010101" pitchFamily="2" charset="-122"/>
              </a:rPr>
              <a:t>(</a:t>
            </a:r>
            <a:r>
              <a:rPr lang="zh-CN" altLang="en-US" dirty="0">
                <a:ea typeface="宋体" panose="02010600030101010101" pitchFamily="2" charset="-122"/>
              </a:rPr>
              <a:t>寄存器</a:t>
            </a:r>
            <a:r>
              <a:rPr lang="en-US" altLang="zh-CN" dirty="0">
                <a:ea typeface="宋体" panose="02010600030101010101" pitchFamily="2" charset="-122"/>
              </a:rPr>
              <a:t> or </a:t>
            </a:r>
            <a:r>
              <a:rPr lang="zh-CN" altLang="en-US" dirty="0">
                <a:ea typeface="宋体" panose="02010600030101010101" pitchFamily="2" charset="-122"/>
              </a:rPr>
              <a:t>存储器</a:t>
            </a:r>
            <a:r>
              <a:rPr lang="en-US" altLang="zh-CN" dirty="0">
                <a:ea typeface="宋体" panose="02010600030101010101" pitchFamily="2" charset="-122"/>
              </a:rPr>
              <a:t>)</a:t>
            </a:r>
            <a:endParaRPr lang="en-US" altLang="zh-CN" dirty="0">
              <a:ea typeface="宋体" panose="02010600030101010101" pitchFamily="2" charset="-122"/>
            </a:endParaRPr>
          </a:p>
          <a:p>
            <a:endParaRPr lang="en-US" altLang="zh-CN" dirty="0">
              <a:ea typeface="宋体" panose="02010600030101010101" pitchFamily="2" charset="-122"/>
            </a:endParaRPr>
          </a:p>
          <a:p>
            <a:r>
              <a:rPr lang="en-US" altLang="zh-CN" dirty="0">
                <a:ea typeface="宋体" panose="02010600030101010101" pitchFamily="2" charset="-122"/>
              </a:rPr>
              <a:t>Examples:</a:t>
            </a:r>
            <a:endParaRPr lang="en-US" altLang="zh-CN" dirty="0">
              <a:ea typeface="宋体" panose="02010600030101010101" pitchFamily="2" charset="-122"/>
            </a:endParaRPr>
          </a:p>
          <a:p>
            <a:pPr lvl="1"/>
            <a:r>
              <a:rPr lang="en-US" altLang="zh-CN" dirty="0">
                <a:ea typeface="宋体" panose="02010600030101010101" pitchFamily="2" charset="-122"/>
              </a:rPr>
              <a:t>ADD</a:t>
            </a:r>
            <a:r>
              <a:rPr lang="zh-CN" altLang="en-US" dirty="0">
                <a:ea typeface="宋体" panose="02010600030101010101" pitchFamily="2" charset="-122"/>
              </a:rPr>
              <a:t>指令的执行结果存放在目标寄存器中</a:t>
            </a:r>
            <a:endParaRPr lang="en-US" altLang="zh-CN" dirty="0">
              <a:ea typeface="宋体" panose="02010600030101010101" pitchFamily="2" charset="-122"/>
            </a:endParaRPr>
          </a:p>
          <a:p>
            <a:pPr lvl="1"/>
            <a:r>
              <a:rPr lang="en-US" altLang="zh-CN" dirty="0">
                <a:ea typeface="宋体" panose="02010600030101010101" pitchFamily="2" charset="-122"/>
              </a:rPr>
              <a:t>LOAD</a:t>
            </a:r>
            <a:r>
              <a:rPr lang="zh-CN" altLang="en-US" dirty="0">
                <a:ea typeface="宋体" panose="02010600030101010101" pitchFamily="2" charset="-122"/>
              </a:rPr>
              <a:t>类指令的执行结果存放在目标寄存器中</a:t>
            </a:r>
            <a:endParaRPr lang="en-US" altLang="zh-CN" dirty="0">
              <a:ea typeface="宋体" panose="02010600030101010101" pitchFamily="2" charset="-122"/>
            </a:endParaRPr>
          </a:p>
          <a:p>
            <a:pPr lvl="1"/>
            <a:r>
              <a:rPr lang="en-US" altLang="zh-CN" dirty="0">
                <a:ea typeface="宋体" panose="02010600030101010101" pitchFamily="2" charset="-122"/>
              </a:rPr>
              <a:t>STORE</a:t>
            </a:r>
            <a:r>
              <a:rPr lang="zh-CN" altLang="en-US" dirty="0">
                <a:ea typeface="宋体" panose="02010600030101010101" pitchFamily="2" charset="-122"/>
              </a:rPr>
              <a:t>类指令的执行结果是存放在存储器中</a:t>
            </a:r>
            <a:endParaRPr lang="en-US" altLang="zh-CN" dirty="0">
              <a:ea typeface="宋体" panose="02010600030101010101" pitchFamily="2" charset="-122"/>
            </a:endParaRPr>
          </a:p>
          <a:p>
            <a:pPr lvl="2"/>
            <a:r>
              <a:rPr lang="zh-CN" altLang="en-US" dirty="0">
                <a:ea typeface="宋体" panose="02010600030101010101" pitchFamily="2" charset="-122"/>
              </a:rPr>
              <a:t>写地址到</a:t>
            </a:r>
            <a:r>
              <a:rPr lang="en-US" altLang="zh-CN" dirty="0">
                <a:ea typeface="宋体" panose="02010600030101010101" pitchFamily="2" charset="-122"/>
              </a:rPr>
              <a:t> MAR</a:t>
            </a:r>
            <a:r>
              <a:rPr lang="zh-CN" altLang="en-US" dirty="0">
                <a:ea typeface="宋体" panose="02010600030101010101" pitchFamily="2" charset="-122"/>
              </a:rPr>
              <a:t>寄存器中</a:t>
            </a:r>
            <a:r>
              <a:rPr lang="en-US" altLang="zh-CN" dirty="0">
                <a:ea typeface="宋体" panose="02010600030101010101" pitchFamily="2" charset="-122"/>
              </a:rPr>
              <a:t>, </a:t>
            </a:r>
            <a:r>
              <a:rPr lang="zh-CN" altLang="en-US" dirty="0">
                <a:ea typeface="宋体" panose="02010600030101010101" pitchFamily="2" charset="-122"/>
              </a:rPr>
              <a:t>要写的数据送到</a:t>
            </a:r>
            <a:r>
              <a:rPr lang="en-US" altLang="zh-CN" dirty="0">
                <a:ea typeface="宋体" panose="02010600030101010101" pitchFamily="2" charset="-122"/>
              </a:rPr>
              <a:t> MDR</a:t>
            </a:r>
            <a:endParaRPr lang="en-US" altLang="zh-CN" dirty="0">
              <a:ea typeface="宋体" panose="02010600030101010101" pitchFamily="2" charset="-122"/>
            </a:endParaRPr>
          </a:p>
          <a:p>
            <a:pPr lvl="2"/>
            <a:r>
              <a:rPr lang="zh-CN" altLang="en-US" dirty="0">
                <a:ea typeface="宋体" panose="02010600030101010101" pitchFamily="2" charset="-122"/>
              </a:rPr>
              <a:t>发写信号给内存</a:t>
            </a:r>
            <a:endParaRPr lang="en-US" altLang="zh-CN" dirty="0">
              <a:ea typeface="宋体" panose="02010600030101010101" pitchFamily="2" charset="-122"/>
            </a:endParaRPr>
          </a:p>
        </p:txBody>
      </p:sp>
      <p:sp>
        <p:nvSpPr>
          <p:cNvPr id="20485" name="Line 5"/>
          <p:cNvSpPr>
            <a:spLocks noChangeShapeType="1"/>
          </p:cNvSpPr>
          <p:nvPr/>
        </p:nvSpPr>
        <p:spPr bwMode="auto">
          <a:xfrm>
            <a:off x="9601200" y="1905000"/>
            <a:ext cx="0" cy="38100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tailEnd type="triangl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0486" name="Line 6"/>
          <p:cNvSpPr>
            <a:spLocks noChangeShapeType="1"/>
          </p:cNvSpPr>
          <p:nvPr/>
        </p:nvSpPr>
        <p:spPr bwMode="auto">
          <a:xfrm>
            <a:off x="9625013" y="2743200"/>
            <a:ext cx="0" cy="38100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tailEnd type="triangl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0487" name="Line 7"/>
          <p:cNvSpPr>
            <a:spLocks noChangeShapeType="1"/>
          </p:cNvSpPr>
          <p:nvPr/>
        </p:nvSpPr>
        <p:spPr bwMode="auto">
          <a:xfrm>
            <a:off x="9601200" y="3581400"/>
            <a:ext cx="0" cy="38100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tailEnd type="triangl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0488" name="Line 8"/>
          <p:cNvSpPr>
            <a:spLocks noChangeShapeType="1"/>
          </p:cNvSpPr>
          <p:nvPr/>
        </p:nvSpPr>
        <p:spPr bwMode="auto">
          <a:xfrm>
            <a:off x="9580563" y="4419600"/>
            <a:ext cx="0" cy="38100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tailEnd type="triangl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0489" name="Line 9"/>
          <p:cNvSpPr>
            <a:spLocks noChangeShapeType="1"/>
          </p:cNvSpPr>
          <p:nvPr/>
        </p:nvSpPr>
        <p:spPr bwMode="auto">
          <a:xfrm>
            <a:off x="9594850" y="5257800"/>
            <a:ext cx="0" cy="38100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tailEnd type="triangl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7354" name="Text Box 10"/>
          <p:cNvSpPr txBox="1">
            <a:spLocks noChangeArrowheads="1"/>
          </p:cNvSpPr>
          <p:nvPr/>
        </p:nvSpPr>
        <p:spPr bwMode="auto">
          <a:xfrm>
            <a:off x="9296400" y="3124200"/>
            <a:ext cx="685800" cy="270510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2"/>
            </a:solidFill>
            <a:miter lim="800000"/>
          </a:ln>
          <a:effectLst>
            <a:outerShdw dist="35921" dir="2700000" algn="ctr" rotWithShape="0">
              <a:srgbClr val="336699"/>
            </a:outerShdw>
          </a:effectLst>
        </p:spPr>
        <p:txBody>
          <a:bodyPr>
            <a:spAutoFit/>
          </a:bodyPr>
          <a:lstStyle/>
          <a:p>
            <a:pPr>
              <a:defRPr/>
            </a:pPr>
            <a:r>
              <a:rPr lang="en-US" altLang="zh-CN">
                <a:solidFill>
                  <a:schemeClr val="accent2"/>
                </a:solidFill>
                <a:ea typeface="宋体" panose="02010600030101010101" pitchFamily="2" charset="-122"/>
              </a:rPr>
              <a:t>EA</a:t>
            </a:r>
            <a:endParaRPr lang="en-US" altLang="zh-CN">
              <a:solidFill>
                <a:schemeClr val="accent2"/>
              </a:solidFill>
              <a:ea typeface="宋体" panose="02010600030101010101" pitchFamily="2" charset="-122"/>
            </a:endParaRPr>
          </a:p>
        </p:txBody>
      </p:sp>
      <p:sp>
        <p:nvSpPr>
          <p:cNvPr id="57355" name="Text Box 11"/>
          <p:cNvSpPr txBox="1">
            <a:spLocks noChangeArrowheads="1"/>
          </p:cNvSpPr>
          <p:nvPr/>
        </p:nvSpPr>
        <p:spPr bwMode="auto">
          <a:xfrm>
            <a:off x="9296400" y="3962400"/>
            <a:ext cx="685800" cy="270510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2"/>
            </a:solidFill>
            <a:miter lim="800000"/>
          </a:ln>
          <a:effectLst>
            <a:outerShdw dist="35921" dir="2700000" algn="ctr" rotWithShape="0">
              <a:srgbClr val="336699"/>
            </a:outerShdw>
          </a:effectLst>
        </p:spPr>
        <p:txBody>
          <a:bodyPr>
            <a:spAutoFit/>
          </a:bodyPr>
          <a:lstStyle/>
          <a:p>
            <a:pPr>
              <a:defRPr/>
            </a:pPr>
            <a:r>
              <a:rPr lang="en-US" altLang="zh-CN">
                <a:solidFill>
                  <a:schemeClr val="accent2"/>
                </a:solidFill>
                <a:ea typeface="宋体" panose="02010600030101010101" pitchFamily="2" charset="-122"/>
              </a:rPr>
              <a:t>OP</a:t>
            </a:r>
            <a:endParaRPr lang="en-US" altLang="zh-CN">
              <a:solidFill>
                <a:schemeClr val="accent2"/>
              </a:solidFill>
              <a:ea typeface="宋体" panose="02010600030101010101" pitchFamily="2" charset="-122"/>
            </a:endParaRPr>
          </a:p>
        </p:txBody>
      </p:sp>
      <p:sp>
        <p:nvSpPr>
          <p:cNvPr id="57356" name="Text Box 12"/>
          <p:cNvSpPr txBox="1">
            <a:spLocks noChangeArrowheads="1"/>
          </p:cNvSpPr>
          <p:nvPr/>
        </p:nvSpPr>
        <p:spPr bwMode="auto">
          <a:xfrm>
            <a:off x="9296400" y="4800600"/>
            <a:ext cx="685800" cy="270510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2"/>
            </a:solidFill>
            <a:miter lim="800000"/>
          </a:ln>
          <a:effectLst>
            <a:outerShdw dist="35921" dir="2700000" algn="ctr" rotWithShape="0">
              <a:srgbClr val="336699"/>
            </a:outerShdw>
          </a:effectLst>
        </p:spPr>
        <p:txBody>
          <a:bodyPr>
            <a:spAutoFit/>
          </a:bodyPr>
          <a:lstStyle/>
          <a:p>
            <a:pPr>
              <a:defRPr/>
            </a:pPr>
            <a:r>
              <a:rPr lang="en-US" altLang="zh-CN">
                <a:solidFill>
                  <a:schemeClr val="accent2"/>
                </a:solidFill>
                <a:ea typeface="宋体" panose="02010600030101010101" pitchFamily="2" charset="-122"/>
              </a:rPr>
              <a:t>EX</a:t>
            </a:r>
            <a:endParaRPr lang="en-US" altLang="zh-CN">
              <a:solidFill>
                <a:schemeClr val="accent2"/>
              </a:solidFill>
              <a:ea typeface="宋体" panose="02010600030101010101" pitchFamily="2" charset="-122"/>
            </a:endParaRPr>
          </a:p>
        </p:txBody>
      </p:sp>
      <p:sp>
        <p:nvSpPr>
          <p:cNvPr id="20493" name="Line 13"/>
          <p:cNvSpPr>
            <a:spLocks noChangeShapeType="1"/>
          </p:cNvSpPr>
          <p:nvPr/>
        </p:nvSpPr>
        <p:spPr bwMode="auto">
          <a:xfrm>
            <a:off x="9601200" y="6096000"/>
            <a:ext cx="0" cy="30480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0494" name="Line 14"/>
          <p:cNvSpPr>
            <a:spLocks noChangeShapeType="1"/>
          </p:cNvSpPr>
          <p:nvPr/>
        </p:nvSpPr>
        <p:spPr bwMode="auto">
          <a:xfrm flipH="1">
            <a:off x="9067800" y="6400800"/>
            <a:ext cx="533400" cy="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0495" name="Line 15"/>
          <p:cNvSpPr>
            <a:spLocks noChangeShapeType="1"/>
          </p:cNvSpPr>
          <p:nvPr/>
        </p:nvSpPr>
        <p:spPr bwMode="auto">
          <a:xfrm flipV="1">
            <a:off x="9067800" y="1143000"/>
            <a:ext cx="0" cy="525780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0496" name="Line 16"/>
          <p:cNvSpPr>
            <a:spLocks noChangeShapeType="1"/>
          </p:cNvSpPr>
          <p:nvPr/>
        </p:nvSpPr>
        <p:spPr bwMode="auto">
          <a:xfrm>
            <a:off x="9067800" y="1143000"/>
            <a:ext cx="533400" cy="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0497" name="Line 17"/>
          <p:cNvSpPr>
            <a:spLocks noChangeShapeType="1"/>
          </p:cNvSpPr>
          <p:nvPr/>
        </p:nvSpPr>
        <p:spPr bwMode="auto">
          <a:xfrm>
            <a:off x="9601200" y="1143000"/>
            <a:ext cx="0" cy="30480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tailEnd type="triangl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7362" name="Text Box 18"/>
          <p:cNvSpPr txBox="1">
            <a:spLocks noChangeArrowheads="1"/>
          </p:cNvSpPr>
          <p:nvPr/>
        </p:nvSpPr>
        <p:spPr bwMode="auto">
          <a:xfrm>
            <a:off x="9296400" y="5638800"/>
            <a:ext cx="685800" cy="270510"/>
          </a:xfrm>
          <a:prstGeom prst="rect">
            <a:avLst/>
          </a:prstGeom>
          <a:solidFill>
            <a:schemeClr val="accent2"/>
          </a:solidFill>
          <a:ln w="9525">
            <a:solidFill>
              <a:schemeClr val="accent2"/>
            </a:solidFill>
            <a:miter lim="800000"/>
          </a:ln>
          <a:effectLst>
            <a:outerShdw dist="35921" dir="2700000" algn="ctr" rotWithShape="0">
              <a:srgbClr val="336699"/>
            </a:outerShdw>
          </a:effectLst>
        </p:spPr>
        <p:txBody>
          <a:bodyPr>
            <a:spAutoFit/>
          </a:bodyPr>
          <a:lstStyle/>
          <a:p>
            <a:pPr>
              <a:defRPr/>
            </a:pPr>
            <a:r>
              <a:rPr lang="en-US" altLang="zh-CN" b="1">
                <a:solidFill>
                  <a:schemeClr val="bg1"/>
                </a:solidFill>
                <a:ea typeface="宋体" panose="02010600030101010101" pitchFamily="2" charset="-122"/>
              </a:rPr>
              <a:t>S</a:t>
            </a:r>
            <a:endParaRPr lang="en-US" altLang="zh-CN" b="1">
              <a:solidFill>
                <a:schemeClr val="bg1"/>
              </a:solidFill>
              <a:ea typeface="宋体" panose="02010600030101010101" pitchFamily="2" charset="-122"/>
            </a:endParaRPr>
          </a:p>
        </p:txBody>
      </p:sp>
      <p:sp>
        <p:nvSpPr>
          <p:cNvPr id="57363" name="Text Box 19"/>
          <p:cNvSpPr txBox="1">
            <a:spLocks noChangeArrowheads="1"/>
          </p:cNvSpPr>
          <p:nvPr/>
        </p:nvSpPr>
        <p:spPr bwMode="auto">
          <a:xfrm>
            <a:off x="9296400" y="1447800"/>
            <a:ext cx="685800" cy="270510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2"/>
            </a:solidFill>
            <a:miter lim="800000"/>
          </a:ln>
          <a:effectLst>
            <a:outerShdw dist="35921" dir="2700000" algn="ctr" rotWithShape="0">
              <a:srgbClr val="336699"/>
            </a:outerShdw>
          </a:effectLst>
        </p:spPr>
        <p:txBody>
          <a:bodyPr>
            <a:spAutoFit/>
          </a:bodyPr>
          <a:lstStyle/>
          <a:p>
            <a:pPr>
              <a:defRPr/>
            </a:pPr>
            <a:r>
              <a:rPr lang="en-US" altLang="zh-CN">
                <a:solidFill>
                  <a:schemeClr val="accent2"/>
                </a:solidFill>
                <a:ea typeface="宋体" panose="02010600030101010101" pitchFamily="2" charset="-122"/>
              </a:rPr>
              <a:t>F</a:t>
            </a:r>
            <a:endParaRPr lang="en-US" altLang="zh-CN">
              <a:solidFill>
                <a:schemeClr val="accent2"/>
              </a:solidFill>
              <a:ea typeface="宋体" panose="02010600030101010101" pitchFamily="2" charset="-122"/>
            </a:endParaRPr>
          </a:p>
        </p:txBody>
      </p:sp>
      <p:sp>
        <p:nvSpPr>
          <p:cNvPr id="57364" name="Text Box 20"/>
          <p:cNvSpPr txBox="1">
            <a:spLocks noChangeArrowheads="1"/>
          </p:cNvSpPr>
          <p:nvPr/>
        </p:nvSpPr>
        <p:spPr bwMode="auto">
          <a:xfrm>
            <a:off x="9296400" y="2286000"/>
            <a:ext cx="685800" cy="270510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2"/>
            </a:solidFill>
            <a:miter lim="800000"/>
          </a:ln>
          <a:effectLst>
            <a:outerShdw dist="35921" dir="2700000" algn="ctr" rotWithShape="0">
              <a:srgbClr val="336699"/>
            </a:outerShdw>
          </a:effectLst>
        </p:spPr>
        <p:txBody>
          <a:bodyPr>
            <a:spAutoFit/>
          </a:bodyPr>
          <a:lstStyle/>
          <a:p>
            <a:pPr>
              <a:defRPr/>
            </a:pPr>
            <a:r>
              <a:rPr lang="en-US" altLang="zh-CN">
                <a:solidFill>
                  <a:schemeClr val="accent2"/>
                </a:solidFill>
                <a:ea typeface="宋体" panose="02010600030101010101" pitchFamily="2" charset="-122"/>
              </a:rPr>
              <a:t>D</a:t>
            </a:r>
            <a:endParaRPr lang="en-US" altLang="zh-CN">
              <a:solidFill>
                <a:schemeClr val="accent2"/>
              </a:solidFill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513027" name="Picture 3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 bwMode="auto">
          <a:xfrm>
            <a:off x="2999656" y="0"/>
            <a:ext cx="6181725" cy="6372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灯片编号占位符 3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/>
          <a:p>
            <a:r>
              <a:rPr lang="en-US" altLang="zh-CN"/>
              <a:t>4-</a:t>
            </a:r>
            <a:fld id="{9CA6DF7A-09E7-4EA5-8624-12918BB04862}" type="slidenum">
              <a:rPr lang="en-US" altLang="zh-CN"/>
            </a:fld>
            <a:endParaRPr lang="en-US" altLang="zh-CN"/>
          </a:p>
        </p:txBody>
      </p:sp>
      <p:sp>
        <p:nvSpPr>
          <p:cNvPr id="21507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>
                <a:ea typeface="宋体" panose="02010600030101010101" pitchFamily="2" charset="-122"/>
              </a:rPr>
              <a:t>改变指令执行顺序</a:t>
            </a:r>
            <a:r>
              <a:rPr lang="en-US" altLang="zh-CN" dirty="0">
                <a:ea typeface="宋体" panose="02010600030101010101" pitchFamily="2" charset="-122"/>
              </a:rPr>
              <a:t>-</a:t>
            </a:r>
            <a:r>
              <a:rPr lang="zh-CN" altLang="en-US" dirty="0">
                <a:ea typeface="宋体" panose="02010600030101010101" pitchFamily="2" charset="-122"/>
              </a:rPr>
              <a:t>控制指令</a:t>
            </a:r>
            <a:endParaRPr lang="en-US" altLang="zh-CN" dirty="0">
              <a:ea typeface="宋体" panose="02010600030101010101" pitchFamily="2" charset="-122"/>
            </a:endParaRPr>
          </a:p>
        </p:txBody>
      </p:sp>
      <p:sp>
        <p:nvSpPr>
          <p:cNvPr id="2150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752600" y="1412776"/>
            <a:ext cx="8534400" cy="4835624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zh-CN" altLang="en-US" dirty="0">
                <a:ea typeface="宋体" panose="02010600030101010101" pitchFamily="2" charset="-122"/>
              </a:rPr>
              <a:t>指令的顺序执行：在</a:t>
            </a:r>
            <a:r>
              <a:rPr lang="en-US" altLang="zh-CN" dirty="0">
                <a:ea typeface="宋体" panose="02010600030101010101" pitchFamily="2" charset="-122"/>
              </a:rPr>
              <a:t>FETCH </a:t>
            </a:r>
            <a:r>
              <a:rPr lang="zh-CN" altLang="en-US" dirty="0">
                <a:ea typeface="宋体" panose="02010600030101010101" pitchFamily="2" charset="-122"/>
              </a:rPr>
              <a:t>阶段的最后</a:t>
            </a:r>
            <a:r>
              <a:rPr lang="en-US" altLang="zh-CN" dirty="0">
                <a:ea typeface="宋体" panose="02010600030101010101" pitchFamily="2" charset="-122"/>
              </a:rPr>
              <a:t>,</a:t>
            </a:r>
            <a:r>
              <a:rPr lang="zh-CN" altLang="en-US" dirty="0">
                <a:ea typeface="宋体" panose="02010600030101010101" pitchFamily="2" charset="-122"/>
              </a:rPr>
              <a:t> </a:t>
            </a:r>
            <a:r>
              <a:rPr lang="en-US" altLang="zh-CN" dirty="0">
                <a:ea typeface="宋体" panose="02010600030101010101" pitchFamily="2" charset="-122"/>
              </a:rPr>
              <a:t>PC=PC+1</a:t>
            </a:r>
            <a:endParaRPr lang="en-US" altLang="zh-CN" dirty="0">
              <a:ea typeface="宋体" panose="02010600030101010101" pitchFamily="2" charset="-122"/>
            </a:endParaRPr>
          </a:p>
          <a:p>
            <a:pPr>
              <a:lnSpc>
                <a:spcPct val="90000"/>
              </a:lnSpc>
            </a:pPr>
            <a:endParaRPr lang="en-US" altLang="zh-CN" dirty="0">
              <a:ea typeface="宋体" panose="02010600030101010101" pitchFamily="2" charset="-122"/>
            </a:endParaRPr>
          </a:p>
          <a:p>
            <a:pPr>
              <a:lnSpc>
                <a:spcPct val="90000"/>
              </a:lnSpc>
            </a:pPr>
            <a:r>
              <a:rPr lang="zh-CN" altLang="en-US" dirty="0">
                <a:ea typeface="宋体" panose="02010600030101010101" pitchFamily="2" charset="-122"/>
              </a:rPr>
              <a:t>但实际程序中的分支指令，循环指令，子程序调用等会改变程序的执行顺序。</a:t>
            </a:r>
            <a:endParaRPr lang="en-US" altLang="zh-CN" dirty="0">
              <a:ea typeface="宋体" panose="02010600030101010101" pitchFamily="2" charset="-122"/>
            </a:endParaRPr>
          </a:p>
          <a:p>
            <a:pPr>
              <a:lnSpc>
                <a:spcPct val="90000"/>
              </a:lnSpc>
            </a:pPr>
            <a:endParaRPr lang="en-US" altLang="zh-CN" dirty="0">
              <a:ea typeface="宋体" panose="02010600030101010101" pitchFamily="2" charset="-122"/>
            </a:endParaRPr>
          </a:p>
          <a:p>
            <a:pPr>
              <a:lnSpc>
                <a:spcPct val="90000"/>
              </a:lnSpc>
            </a:pPr>
            <a:r>
              <a:rPr lang="zh-CN" altLang="en-US" dirty="0">
                <a:ea typeface="宋体" panose="02010600030101010101" pitchFamily="2" charset="-122"/>
              </a:rPr>
              <a:t>控制指令：可以改写</a:t>
            </a:r>
            <a:r>
              <a:rPr lang="en-US" altLang="zh-CN" dirty="0">
                <a:ea typeface="宋体" panose="02010600030101010101" pitchFamily="2" charset="-122"/>
              </a:rPr>
              <a:t>PC</a:t>
            </a:r>
            <a:r>
              <a:rPr lang="zh-CN" altLang="en-US" dirty="0">
                <a:ea typeface="宋体" panose="02010600030101010101" pitchFamily="2" charset="-122"/>
              </a:rPr>
              <a:t>寄存器的内容。</a:t>
            </a:r>
            <a:endParaRPr lang="en-US" altLang="zh-CN" dirty="0">
              <a:ea typeface="宋体" panose="02010600030101010101" pitchFamily="2" charset="-122"/>
            </a:endParaRPr>
          </a:p>
          <a:p>
            <a:pPr lvl="1">
              <a:lnSpc>
                <a:spcPct val="90000"/>
              </a:lnSpc>
            </a:pPr>
            <a:r>
              <a:rPr lang="zh-CN" altLang="en-US" dirty="0">
                <a:ea typeface="宋体" panose="02010600030101010101" pitchFamily="2" charset="-122"/>
              </a:rPr>
              <a:t>无条件跳转</a:t>
            </a:r>
            <a:r>
              <a:rPr lang="en-US" altLang="zh-CN" dirty="0">
                <a:ea typeface="宋体" panose="02010600030101010101" pitchFamily="2" charset="-122"/>
              </a:rPr>
              <a:t> – </a:t>
            </a:r>
            <a:r>
              <a:rPr lang="zh-CN" altLang="en-US" dirty="0">
                <a:ea typeface="宋体" panose="02010600030101010101" pitchFamily="2" charset="-122"/>
              </a:rPr>
              <a:t>改变</a:t>
            </a:r>
            <a:r>
              <a:rPr lang="en-US" altLang="zh-CN" dirty="0">
                <a:ea typeface="宋体" panose="02010600030101010101" pitchFamily="2" charset="-122"/>
              </a:rPr>
              <a:t>PC</a:t>
            </a:r>
            <a:r>
              <a:rPr lang="zh-CN" altLang="en-US" dirty="0">
                <a:ea typeface="宋体" panose="02010600030101010101" pitchFamily="2" charset="-122"/>
              </a:rPr>
              <a:t>值到目标地址。</a:t>
            </a:r>
            <a:endParaRPr lang="en-US" altLang="zh-CN" dirty="0">
              <a:ea typeface="宋体" panose="02010600030101010101" pitchFamily="2" charset="-122"/>
            </a:endParaRPr>
          </a:p>
          <a:p>
            <a:pPr lvl="1">
              <a:lnSpc>
                <a:spcPct val="90000"/>
              </a:lnSpc>
            </a:pPr>
            <a:r>
              <a:rPr lang="zh-CN" altLang="en-US" dirty="0">
                <a:ea typeface="宋体" panose="02010600030101010101" pitchFamily="2" charset="-122"/>
              </a:rPr>
              <a:t>条件跳转：分支指令等</a:t>
            </a:r>
            <a:r>
              <a:rPr lang="en-US" altLang="zh-CN" dirty="0">
                <a:ea typeface="宋体" panose="02010600030101010101" pitchFamily="2" charset="-122"/>
              </a:rPr>
              <a:t> – </a:t>
            </a:r>
            <a:r>
              <a:rPr lang="zh-CN" altLang="en-US" dirty="0">
                <a:ea typeface="宋体" panose="02010600030101010101" pitchFamily="2" charset="-122"/>
              </a:rPr>
              <a:t>改变</a:t>
            </a:r>
            <a:r>
              <a:rPr lang="en-US" altLang="zh-CN" dirty="0">
                <a:ea typeface="宋体" panose="02010600030101010101" pitchFamily="2" charset="-122"/>
              </a:rPr>
              <a:t>PC</a:t>
            </a:r>
            <a:r>
              <a:rPr lang="zh-CN" altLang="en-US" dirty="0">
                <a:ea typeface="宋体" panose="02010600030101010101" pitchFamily="2" charset="-122"/>
              </a:rPr>
              <a:t>值取决于跳转条件是否成立</a:t>
            </a:r>
            <a:endParaRPr lang="en-US" altLang="zh-CN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灯片编号占位符 3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/>
          <a:p>
            <a:r>
              <a:rPr lang="en-US" altLang="zh-CN"/>
              <a:t>4-</a:t>
            </a:r>
            <a:fld id="{7FE09D84-EA6F-48E2-8D47-4B9C3C3410F9}" type="slidenum">
              <a:rPr lang="en-US" altLang="zh-CN"/>
            </a:fld>
            <a:endParaRPr lang="en-US" altLang="zh-CN"/>
          </a:p>
        </p:txBody>
      </p:sp>
      <p:sp>
        <p:nvSpPr>
          <p:cNvPr id="2253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ea typeface="宋体" panose="02010600030101010101" pitchFamily="2" charset="-122"/>
              </a:rPr>
              <a:t>例</a:t>
            </a:r>
            <a:r>
              <a:rPr lang="en-US" altLang="zh-CN" dirty="0">
                <a:ea typeface="宋体" panose="02010600030101010101" pitchFamily="2" charset="-122"/>
              </a:rPr>
              <a:t>: LC-3 JMP </a:t>
            </a:r>
            <a:r>
              <a:rPr lang="zh-CN" altLang="en-US" dirty="0">
                <a:ea typeface="宋体" panose="02010600030101010101" pitchFamily="2" charset="-122"/>
              </a:rPr>
              <a:t>指令</a:t>
            </a:r>
            <a:endParaRPr lang="en-US" altLang="zh-CN" dirty="0">
              <a:ea typeface="宋体" panose="02010600030101010101" pitchFamily="2" charset="-122"/>
            </a:endParaRPr>
          </a:p>
        </p:txBody>
      </p:sp>
      <p:sp>
        <p:nvSpPr>
          <p:cNvPr id="22532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>
                <a:ea typeface="宋体" panose="02010600030101010101" pitchFamily="2" charset="-122"/>
              </a:rPr>
              <a:t>把</a:t>
            </a:r>
            <a:r>
              <a:rPr lang="en-US" altLang="zh-CN" dirty="0">
                <a:ea typeface="宋体" panose="02010600030101010101" pitchFamily="2" charset="-122"/>
              </a:rPr>
              <a:t> PC </a:t>
            </a:r>
            <a:r>
              <a:rPr lang="zh-CN" altLang="en-US" dirty="0">
                <a:ea typeface="宋体" panose="02010600030101010101" pitchFamily="2" charset="-122"/>
              </a:rPr>
              <a:t>值改写为某个寄存器的内容。改变下一条要执行的指令地址为寄存器里面存放的地址值</a:t>
            </a:r>
            <a:endParaRPr lang="en-US" altLang="zh-CN" dirty="0">
              <a:ea typeface="宋体" panose="02010600030101010101" pitchFamily="2" charset="-122"/>
            </a:endParaRPr>
          </a:p>
        </p:txBody>
      </p:sp>
      <p:sp>
        <p:nvSpPr>
          <p:cNvPr id="22533" name="Text Box 6"/>
          <p:cNvSpPr txBox="1">
            <a:spLocks noChangeArrowheads="1"/>
          </p:cNvSpPr>
          <p:nvPr/>
        </p:nvSpPr>
        <p:spPr bwMode="auto">
          <a:xfrm>
            <a:off x="2423592" y="5373216"/>
            <a:ext cx="2675890" cy="27051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pPr algn="l"/>
            <a:r>
              <a:rPr lang="en-US" altLang="zh-CN" i="1" dirty="0">
                <a:ea typeface="宋体" panose="02010600030101010101" pitchFamily="2" charset="-122"/>
              </a:rPr>
              <a:t>“Load the contents of R3 into the PC.”</a:t>
            </a:r>
            <a:endParaRPr lang="en-US" altLang="zh-CN" i="1" dirty="0">
              <a:ea typeface="宋体" panose="02010600030101010101" pitchFamily="2" charset="-122"/>
            </a:endParaRPr>
          </a:p>
        </p:txBody>
      </p:sp>
      <p:pic>
        <p:nvPicPr>
          <p:cNvPr id="22534" name="Picture 9" descr="C:\Documents and Settings\gbyrd\My Documents\ece206\mh-slides\ch04\ch04-20-lc3.jpg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 bwMode="auto">
          <a:xfrm>
            <a:off x="2351584" y="2996952"/>
            <a:ext cx="7313613" cy="1828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灯片编号占位符 3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/>
          <a:p>
            <a:r>
              <a:rPr lang="en-US" altLang="zh-CN"/>
              <a:t>4-</a:t>
            </a:r>
            <a:fld id="{9AF0CDA8-D7C8-4B08-8144-096977308704}" type="slidenum">
              <a:rPr lang="en-US" altLang="zh-CN"/>
            </a:fld>
            <a:endParaRPr lang="en-US" altLang="zh-CN"/>
          </a:p>
        </p:txBody>
      </p:sp>
      <p:sp>
        <p:nvSpPr>
          <p:cNvPr id="23555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>
                <a:ea typeface="宋体" panose="02010600030101010101" pitchFamily="2" charset="-122"/>
              </a:rPr>
              <a:t>小结</a:t>
            </a:r>
            <a:endParaRPr lang="en-US" altLang="zh-CN" dirty="0">
              <a:ea typeface="宋体" panose="02010600030101010101" pitchFamily="2" charset="-122"/>
            </a:endParaRPr>
          </a:p>
        </p:txBody>
      </p:sp>
      <p:sp>
        <p:nvSpPr>
          <p:cNvPr id="23556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zh-CN" altLang="en-US" dirty="0">
                <a:ea typeface="宋体" panose="02010600030101010101" pitchFamily="2" charset="-122"/>
              </a:rPr>
              <a:t>指令和数据一样，要按固定的格式进行二进制编码</a:t>
            </a:r>
            <a:endParaRPr lang="en-US" altLang="zh-CN" dirty="0">
              <a:ea typeface="宋体" panose="02010600030101010101" pitchFamily="2" charset="-122"/>
            </a:endParaRPr>
          </a:p>
          <a:p>
            <a:endParaRPr lang="en-US" altLang="zh-CN" dirty="0">
              <a:ea typeface="宋体" panose="02010600030101010101" pitchFamily="2" charset="-122"/>
            </a:endParaRPr>
          </a:p>
          <a:p>
            <a:r>
              <a:rPr lang="zh-CN" altLang="en-US" dirty="0">
                <a:ea typeface="宋体" panose="02010600030101010101" pitchFamily="2" charset="-122"/>
              </a:rPr>
              <a:t>三种类型的指令</a:t>
            </a:r>
            <a:endParaRPr lang="en-US" altLang="zh-CN" dirty="0">
              <a:ea typeface="宋体" panose="02010600030101010101" pitchFamily="2" charset="-122"/>
            </a:endParaRPr>
          </a:p>
          <a:p>
            <a:pPr lvl="1"/>
            <a:r>
              <a:rPr lang="zh-CN" altLang="en-US" dirty="0">
                <a:ea typeface="宋体" panose="02010600030101010101" pitchFamily="2" charset="-122"/>
              </a:rPr>
              <a:t>计算型指令</a:t>
            </a:r>
            <a:r>
              <a:rPr lang="en-US" altLang="zh-CN" dirty="0">
                <a:ea typeface="宋体" panose="02010600030101010101" pitchFamily="2" charset="-122"/>
              </a:rPr>
              <a:t>(ADD, AND, …)</a:t>
            </a:r>
            <a:r>
              <a:rPr lang="zh-CN" altLang="en-US" dirty="0">
                <a:ea typeface="宋体" panose="02010600030101010101" pitchFamily="2" charset="-122"/>
              </a:rPr>
              <a:t> ，操作数一般都在寄存器中。</a:t>
            </a:r>
            <a:endParaRPr lang="en-US" altLang="zh-CN" dirty="0">
              <a:ea typeface="宋体" panose="02010600030101010101" pitchFamily="2" charset="-122"/>
            </a:endParaRPr>
          </a:p>
          <a:p>
            <a:pPr lvl="1"/>
            <a:r>
              <a:rPr lang="zh-CN" altLang="en-US" dirty="0">
                <a:ea typeface="宋体" panose="02010600030101010101" pitchFamily="2" charset="-122"/>
              </a:rPr>
              <a:t>数据移动指令</a:t>
            </a:r>
            <a:r>
              <a:rPr lang="en-US" altLang="zh-CN" dirty="0">
                <a:ea typeface="宋体" panose="02010600030101010101" pitchFamily="2" charset="-122"/>
              </a:rPr>
              <a:t>(LD, ST, …)</a:t>
            </a:r>
            <a:r>
              <a:rPr lang="zh-CN" altLang="en-US" dirty="0">
                <a:ea typeface="宋体" panose="02010600030101010101" pitchFamily="2" charset="-122"/>
              </a:rPr>
              <a:t>，负责从寄存器和内存之间的数据转移。</a:t>
            </a:r>
            <a:endParaRPr lang="en-US" altLang="zh-CN" dirty="0">
              <a:ea typeface="宋体" panose="02010600030101010101" pitchFamily="2" charset="-122"/>
            </a:endParaRPr>
          </a:p>
          <a:p>
            <a:pPr lvl="1"/>
            <a:r>
              <a:rPr lang="zh-CN" altLang="en-US" dirty="0">
                <a:ea typeface="宋体" panose="02010600030101010101" pitchFamily="2" charset="-122"/>
              </a:rPr>
              <a:t>控制指令</a:t>
            </a:r>
            <a:r>
              <a:rPr lang="en-US" altLang="zh-CN" dirty="0">
                <a:ea typeface="宋体" panose="02010600030101010101" pitchFamily="2" charset="-122"/>
              </a:rPr>
              <a:t>(JMP, </a:t>
            </a:r>
            <a:r>
              <a:rPr lang="en-US" altLang="zh-CN" dirty="0" err="1">
                <a:ea typeface="宋体" panose="02010600030101010101" pitchFamily="2" charset="-122"/>
              </a:rPr>
              <a:t>BRnz</a:t>
            </a:r>
            <a:r>
              <a:rPr lang="en-US" altLang="zh-CN" dirty="0">
                <a:ea typeface="宋体" panose="02010600030101010101" pitchFamily="2" charset="-122"/>
              </a:rPr>
              <a:t>, …)</a:t>
            </a:r>
            <a:r>
              <a:rPr lang="zh-CN" altLang="en-US" dirty="0">
                <a:ea typeface="宋体" panose="02010600030101010101" pitchFamily="2" charset="-122"/>
              </a:rPr>
              <a:t> ，根据条件改变指令执行顺序。</a:t>
            </a:r>
            <a:endParaRPr lang="en-US" altLang="zh-CN" dirty="0">
              <a:ea typeface="宋体" panose="02010600030101010101" pitchFamily="2" charset="-122"/>
            </a:endParaRPr>
          </a:p>
          <a:p>
            <a:endParaRPr lang="en-US" altLang="zh-CN" dirty="0">
              <a:ea typeface="宋体" panose="02010600030101010101" pitchFamily="2" charset="-122"/>
            </a:endParaRPr>
          </a:p>
          <a:p>
            <a:r>
              <a:rPr lang="zh-CN" altLang="en-US" dirty="0">
                <a:ea typeface="宋体" panose="02010600030101010101" pitchFamily="2" charset="-122"/>
              </a:rPr>
              <a:t>指令执行的六个基本步骤</a:t>
            </a:r>
            <a:endParaRPr lang="en-US" altLang="zh-CN" dirty="0">
              <a:ea typeface="宋体" panose="02010600030101010101" pitchFamily="2" charset="-122"/>
            </a:endParaRPr>
          </a:p>
          <a:p>
            <a:pPr>
              <a:buNone/>
            </a:pPr>
            <a:r>
              <a:rPr lang="zh-CN" altLang="en-US" dirty="0">
                <a:ea typeface="宋体" panose="02010600030101010101" pitchFamily="2" charset="-122"/>
              </a:rPr>
              <a:t>     </a:t>
            </a:r>
            <a:r>
              <a:rPr lang="en-US" altLang="zh-CN" sz="3200" b="0" dirty="0">
                <a:solidFill>
                  <a:schemeClr val="accent2"/>
                </a:solidFill>
                <a:ea typeface="宋体" panose="02010600030101010101" pitchFamily="2" charset="-122"/>
              </a:rPr>
              <a:t>F </a:t>
            </a:r>
            <a:r>
              <a:rPr lang="en-US" altLang="zh-CN" sz="3200" b="0" dirty="0">
                <a:solidFill>
                  <a:schemeClr val="accent2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 D  EA  OP  EX  S</a:t>
            </a:r>
            <a:endParaRPr lang="en-US" altLang="zh-CN" sz="3200" b="0" dirty="0">
              <a:solidFill>
                <a:schemeClr val="accent2"/>
              </a:solidFill>
              <a:ea typeface="宋体" panose="02010600030101010101" pitchFamily="2" charset="-122"/>
              <a:sym typeface="Symbol" panose="05050102010706020507" pitchFamily="18" charset="2"/>
            </a:endParaRPr>
          </a:p>
          <a:p>
            <a:pPr lvl="1">
              <a:lnSpc>
                <a:spcPct val="150000"/>
              </a:lnSpc>
            </a:pPr>
            <a:r>
              <a:rPr lang="zh-CN" altLang="en-US" dirty="0">
                <a:ea typeface="宋体" panose="02010600030101010101" pitchFamily="2" charset="-122"/>
                <a:sym typeface="Symbol" panose="05050102010706020507" pitchFamily="18" charset="2"/>
              </a:rPr>
              <a:t>并不是所有的指令执行都需要六个步骤完成。每一个步骤的执行时间也可能不同。</a:t>
            </a:r>
            <a:endParaRPr lang="en-US" altLang="zh-CN" dirty="0">
              <a:ea typeface="宋体" panose="02010600030101010101" pitchFamily="2" charset="-122"/>
              <a:sym typeface="Symbol" panose="05050102010706020507" pitchFamily="18" charset="2"/>
            </a:endParaRPr>
          </a:p>
          <a:p>
            <a:pPr lvl="1">
              <a:lnSpc>
                <a:spcPct val="150000"/>
              </a:lnSpc>
            </a:pPr>
            <a:endParaRPr lang="en-US" altLang="zh-CN" dirty="0">
              <a:ea typeface="宋体" panose="02010600030101010101" pitchFamily="2" charset="-122"/>
              <a:sym typeface="Symbol" panose="05050102010706020507" pitchFamily="18" charset="2"/>
            </a:endParaRPr>
          </a:p>
          <a:p>
            <a:pPr lvl="1">
              <a:lnSpc>
                <a:spcPct val="150000"/>
              </a:lnSpc>
            </a:pPr>
            <a:endParaRPr lang="en-US" altLang="zh-CN" dirty="0">
              <a:ea typeface="宋体" panose="02010600030101010101" pitchFamily="2" charset="-122"/>
              <a:sym typeface="Symbol" panose="05050102010706020507" pitchFamily="18" charset="2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灯片编号占位符 3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/>
          <a:p>
            <a:r>
              <a:rPr lang="en-US" altLang="zh-CN"/>
              <a:t>4-</a:t>
            </a:r>
            <a:fld id="{8191A7CF-2158-4254-8824-D3C77D6D9E2F}" type="slidenum">
              <a:rPr lang="en-US" altLang="zh-CN"/>
            </a:fld>
            <a:endParaRPr lang="en-US" altLang="zh-CN"/>
          </a:p>
        </p:txBody>
      </p:sp>
      <p:sp>
        <p:nvSpPr>
          <p:cNvPr id="2457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ea typeface="宋体" panose="02010600030101010101" pitchFamily="2" charset="-122"/>
              </a:rPr>
              <a:t>控制单元的控制状态机</a:t>
            </a:r>
            <a:endParaRPr lang="en-US" altLang="zh-CN" dirty="0">
              <a:ea typeface="宋体" panose="02010600030101010101" pitchFamily="2" charset="-122"/>
            </a:endParaRPr>
          </a:p>
        </p:txBody>
      </p:sp>
      <p:sp>
        <p:nvSpPr>
          <p:cNvPr id="2458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752600" y="1143000"/>
            <a:ext cx="8686800" cy="914400"/>
          </a:xfrm>
        </p:spPr>
        <p:txBody>
          <a:bodyPr>
            <a:normAutofit lnSpcReduction="20000"/>
          </a:bodyPr>
          <a:lstStyle/>
          <a:p>
            <a:r>
              <a:rPr lang="zh-CN" altLang="en-US" dirty="0">
                <a:ea typeface="宋体" panose="02010600030101010101" pitchFamily="2" charset="-122"/>
              </a:rPr>
              <a:t>控制单元是一个时序电路状态机</a:t>
            </a:r>
            <a:r>
              <a:rPr lang="en-US" altLang="zh-CN" dirty="0">
                <a:ea typeface="宋体" panose="02010600030101010101" pitchFamily="2" charset="-122"/>
              </a:rPr>
              <a:t>. </a:t>
            </a:r>
            <a:r>
              <a:rPr lang="zh-CN" altLang="en-US" dirty="0">
                <a:ea typeface="宋体" panose="02010600030101010101" pitchFamily="2" charset="-122"/>
              </a:rPr>
              <a:t>以下是</a:t>
            </a:r>
            <a:r>
              <a:rPr lang="en-US" altLang="zh-CN" dirty="0">
                <a:ea typeface="宋体" panose="02010600030101010101" pitchFamily="2" charset="-122"/>
              </a:rPr>
              <a:t>LC-3</a:t>
            </a:r>
            <a:r>
              <a:rPr lang="zh-CN" altLang="en-US" dirty="0">
                <a:ea typeface="宋体" panose="02010600030101010101" pitchFamily="2" charset="-122"/>
              </a:rPr>
              <a:t>状态机的示意图。</a:t>
            </a:r>
            <a:endParaRPr lang="en-US" altLang="zh-CN" dirty="0">
              <a:ea typeface="宋体" panose="02010600030101010101" pitchFamily="2" charset="-122"/>
            </a:endParaRPr>
          </a:p>
        </p:txBody>
      </p:sp>
      <p:pic>
        <p:nvPicPr>
          <p:cNvPr id="24581" name="Picture 4" descr="C:\Documents and Settings\gbyrd\My Documents\ece206\mh-slides\ch04\ch04-22-lc3.jpg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 bwMode="auto">
          <a:xfrm>
            <a:off x="2362200" y="2133600"/>
            <a:ext cx="6958013" cy="43100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4582" name="Text Box 5"/>
          <p:cNvSpPr txBox="1">
            <a:spLocks noChangeArrowheads="1"/>
          </p:cNvSpPr>
          <p:nvPr/>
        </p:nvSpPr>
        <p:spPr bwMode="auto">
          <a:xfrm>
            <a:off x="4800600" y="5943600"/>
            <a:ext cx="3027045" cy="41021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r>
              <a:rPr lang="en-US" altLang="zh-CN" sz="1600">
                <a:ea typeface="宋体" panose="02010600030101010101" pitchFamily="2" charset="-122"/>
              </a:rPr>
              <a:t>A more complete state diagram is in Appendix C.</a:t>
            </a:r>
            <a:endParaRPr lang="en-US" altLang="zh-CN" sz="1600">
              <a:ea typeface="宋体" panose="02010600030101010101" pitchFamily="2" charset="-122"/>
            </a:endParaRPr>
          </a:p>
          <a:p>
            <a:r>
              <a:rPr lang="en-US" altLang="zh-CN" sz="1600">
                <a:ea typeface="宋体" panose="02010600030101010101" pitchFamily="2" charset="-122"/>
              </a:rPr>
              <a:t>It will be more understandable after Chapter 5.</a:t>
            </a:r>
            <a:endParaRPr lang="en-US" altLang="zh-CN" sz="1600"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灯片编号占位符 3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/>
          <a:p>
            <a:r>
              <a:rPr lang="en-US" altLang="zh-CN"/>
              <a:t>4-</a:t>
            </a:r>
            <a:fld id="{7E4771AB-0D03-47D6-B27E-B6E618951E19}" type="slidenum">
              <a:rPr lang="en-US" altLang="zh-CN"/>
            </a:fld>
            <a:endParaRPr lang="en-US" altLang="zh-CN"/>
          </a:p>
        </p:txBody>
      </p:sp>
      <p:sp>
        <p:nvSpPr>
          <p:cNvPr id="25603" name="Rectangle 2050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ea typeface="宋体" panose="02010600030101010101" pitchFamily="2" charset="-122"/>
              </a:rPr>
              <a:t>停机操作</a:t>
            </a:r>
            <a:endParaRPr lang="en-US" altLang="zh-CN" dirty="0">
              <a:ea typeface="宋体" panose="02010600030101010101" pitchFamily="2" charset="-122"/>
            </a:endParaRPr>
          </a:p>
        </p:txBody>
      </p:sp>
      <p:sp>
        <p:nvSpPr>
          <p:cNvPr id="25604" name="Rectangle 2051"/>
          <p:cNvSpPr>
            <a:spLocks noGrp="1" noChangeArrowheads="1"/>
          </p:cNvSpPr>
          <p:nvPr>
            <p:ph type="body" idx="1"/>
          </p:nvPr>
        </p:nvSpPr>
        <p:spPr>
          <a:xfrm>
            <a:off x="1752600" y="1143000"/>
            <a:ext cx="8915400" cy="5105400"/>
          </a:xfrm>
        </p:spPr>
        <p:txBody>
          <a:bodyPr/>
          <a:lstStyle/>
          <a:p>
            <a:r>
              <a:rPr lang="zh-CN" altLang="en-US" dirty="0">
                <a:ea typeface="宋体" panose="02010600030101010101" pitchFamily="2" charset="-122"/>
              </a:rPr>
              <a:t>系统时钟如果不停止，控制单元会不断重复地进行指令处理。</a:t>
            </a:r>
            <a:endParaRPr lang="en-US" altLang="zh-CN" dirty="0">
              <a:ea typeface="宋体" panose="02010600030101010101" pitchFamily="2" charset="-122"/>
            </a:endParaRPr>
          </a:p>
          <a:p>
            <a:pPr lvl="1"/>
            <a:r>
              <a:rPr lang="zh-CN" altLang="en-US" b="0" dirty="0">
                <a:ea typeface="宋体" panose="02010600030101010101" pitchFamily="2" charset="-122"/>
              </a:rPr>
              <a:t>不是执行程序的指令，就是执行操作系统的指令。</a:t>
            </a:r>
            <a:endParaRPr lang="en-US" altLang="zh-CN" dirty="0">
              <a:ea typeface="宋体" panose="02010600030101010101" pitchFamily="2" charset="-122"/>
            </a:endParaRPr>
          </a:p>
          <a:p>
            <a:pPr lvl="1"/>
            <a:endParaRPr lang="en-US" altLang="zh-CN" sz="2700" dirty="0">
              <a:ea typeface="宋体" panose="02010600030101010101" pitchFamily="2" charset="-122"/>
            </a:endParaRPr>
          </a:p>
          <a:p>
            <a:pPr marL="365760" lvl="1" indent="-255905">
              <a:spcBef>
                <a:spcPts val="400"/>
              </a:spcBef>
              <a:buSzPct val="68000"/>
              <a:buFont typeface="Wingdings 3" panose="05040102010807070707"/>
              <a:buChar char=""/>
            </a:pPr>
            <a:r>
              <a:rPr lang="zh-CN" altLang="en-US" sz="2700" dirty="0">
                <a:ea typeface="宋体" panose="02010600030101010101" pitchFamily="2" charset="-122"/>
              </a:rPr>
              <a:t>系统停机的方法：停止时钟（</a:t>
            </a:r>
            <a:r>
              <a:rPr lang="en-US" altLang="zh-CN" sz="2700" dirty="0">
                <a:ea typeface="宋体" panose="02010600030101010101" pitchFamily="2" charset="-122"/>
              </a:rPr>
              <a:t>S=1,R=0</a:t>
            </a:r>
            <a:r>
              <a:rPr lang="zh-CN" altLang="en-US" sz="2700" dirty="0">
                <a:ea typeface="宋体" panose="02010600030101010101" pitchFamily="2" charset="-122"/>
              </a:rPr>
              <a:t>）。控制单元状态机是在时钟变化控制下进行状态切换，时钟停止，状态机停止工作，终止的指令的执行。</a:t>
            </a:r>
            <a:endParaRPr lang="en-US" altLang="zh-CN" sz="2700" dirty="0">
              <a:ea typeface="宋体" panose="02010600030101010101" pitchFamily="2" charset="-122"/>
            </a:endParaRPr>
          </a:p>
        </p:txBody>
      </p:sp>
      <p:pic>
        <p:nvPicPr>
          <p:cNvPr id="25605" name="Picture 2056" descr="C:\Documents and Settings\Greg Byrd\My Documents\ece206\mh-slides\ch04\ch04-24.jpg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 bwMode="auto">
          <a:xfrm>
            <a:off x="4367808" y="4365104"/>
            <a:ext cx="4876800" cy="1914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1991544" y="2420888"/>
            <a:ext cx="8229600" cy="1143000"/>
          </a:xfrm>
        </p:spPr>
        <p:txBody>
          <a:bodyPr/>
          <a:lstStyle/>
          <a:p>
            <a:r>
              <a:rPr lang="en-US" altLang="zh-CN" dirty="0"/>
              <a:t>ADD</a:t>
            </a:r>
            <a:r>
              <a:rPr lang="zh-CN" altLang="en-US" dirty="0"/>
              <a:t>指令执行过程</a:t>
            </a:r>
            <a:endParaRPr lang="zh-CN" altLang="en-US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6098" name="Picture 2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 bwMode="auto">
          <a:xfrm>
            <a:off x="2063552" y="0"/>
            <a:ext cx="8053908" cy="66182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 dirty="0"/>
          </a:p>
        </p:txBody>
      </p:sp>
      <p:pic>
        <p:nvPicPr>
          <p:cNvPr id="517122" name="Picture 2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 bwMode="auto">
          <a:xfrm>
            <a:off x="2063552" y="0"/>
            <a:ext cx="7924750" cy="673778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518146" name="Picture 2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 bwMode="auto">
          <a:xfrm>
            <a:off x="2063552" y="0"/>
            <a:ext cx="8178874" cy="6750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519170" name="Picture 2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 bwMode="auto">
          <a:xfrm>
            <a:off x="2063552" y="0"/>
            <a:ext cx="8030095" cy="65995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520194" name="Picture 2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 bwMode="auto">
          <a:xfrm>
            <a:off x="1991544" y="0"/>
            <a:ext cx="7843217" cy="6518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2063552" y="2996952"/>
            <a:ext cx="8229600" cy="1143000"/>
          </a:xfrm>
        </p:spPr>
        <p:txBody>
          <a:bodyPr>
            <a:normAutofit/>
          </a:bodyPr>
          <a:lstStyle/>
          <a:p>
            <a:r>
              <a:rPr lang="en-US" altLang="zh-CN" dirty="0"/>
              <a:t>LDR</a:t>
            </a:r>
            <a:r>
              <a:rPr lang="zh-CN" altLang="en-US" dirty="0"/>
              <a:t>指令执行过程</a:t>
            </a:r>
            <a:endParaRPr lang="zh-CN" altLang="en-US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522242" name="Picture 2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 bwMode="auto">
          <a:xfrm>
            <a:off x="1733550" y="0"/>
            <a:ext cx="8178874" cy="676810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523266" name="Picture 2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 bwMode="auto">
          <a:xfrm>
            <a:off x="2135560" y="0"/>
            <a:ext cx="7665863" cy="65829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524290" name="Picture 2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 bwMode="auto">
          <a:xfrm>
            <a:off x="2063552" y="0"/>
            <a:ext cx="8102674" cy="67972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525314" name="Picture 2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 bwMode="auto">
          <a:xfrm>
            <a:off x="1919536" y="0"/>
            <a:ext cx="8183636" cy="675573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526339" name="Picture 3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 bwMode="auto">
          <a:xfrm>
            <a:off x="2063552" y="0"/>
            <a:ext cx="7699201" cy="656046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527362" name="Picture 2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 bwMode="auto">
          <a:xfrm>
            <a:off x="1991544" y="0"/>
            <a:ext cx="8145536" cy="68551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4.5</a:t>
            </a:r>
            <a:endParaRPr lang="en-US" altLang="zh-CN" dirty="0"/>
          </a:p>
          <a:p>
            <a:r>
              <a:rPr lang="en-US" altLang="zh-CN" dirty="0"/>
              <a:t>4.7</a:t>
            </a:r>
            <a:endParaRPr lang="en-US" altLang="zh-CN" dirty="0"/>
          </a:p>
          <a:p>
            <a:r>
              <a:rPr lang="en-US" altLang="zh-CN" dirty="0"/>
              <a:t>4.8</a:t>
            </a:r>
            <a:endParaRPr lang="en-US" altLang="zh-CN" dirty="0"/>
          </a:p>
          <a:p>
            <a:r>
              <a:rPr lang="en-US" altLang="zh-CN" dirty="0"/>
              <a:t>4.10</a:t>
            </a:r>
            <a:endParaRPr lang="en-US" altLang="zh-CN" dirty="0"/>
          </a:p>
          <a:p>
            <a:r>
              <a:rPr lang="en-US" altLang="zh-CN" dirty="0"/>
              <a:t>4.13</a:t>
            </a:r>
            <a:endParaRPr lang="en-US" altLang="zh-CN" dirty="0"/>
          </a:p>
          <a:p>
            <a:r>
              <a:rPr lang="en-US" altLang="zh-CN" dirty="0"/>
              <a:t>4.16</a:t>
            </a:r>
            <a:endParaRPr lang="zh-CN" altLang="en-US" dirty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作业</a:t>
            </a:r>
            <a:endParaRPr lang="zh-CN" altLang="en-US" dirty="0"/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oncourse">
  <a:themeElements>
    <a:clrScheme name="Concourse">
      <a:dk1>
        <a:sysClr val="windowText" lastClr="000000"/>
      </a:dk1>
      <a:lt1>
        <a:sysClr val="window" lastClr="FFFFFF"/>
      </a:lt1>
      <a:dk2>
        <a:srgbClr val="464646"/>
      </a:dk2>
      <a:lt2>
        <a:srgbClr val="DEF5FA"/>
      </a:lt2>
      <a:accent1>
        <a:srgbClr val="2DA2BF"/>
      </a:accent1>
      <a:accent2>
        <a:srgbClr val="DA1F28"/>
      </a:accent2>
      <a:accent3>
        <a:srgbClr val="EB641B"/>
      </a:accent3>
      <a:accent4>
        <a:srgbClr val="39639D"/>
      </a:accent4>
      <a:accent5>
        <a:srgbClr val="474B78"/>
      </a:accent5>
      <a:accent6>
        <a:srgbClr val="7D3C4A"/>
      </a:accent6>
      <a:hlink>
        <a:srgbClr val="FF8119"/>
      </a:hlink>
      <a:folHlink>
        <a:srgbClr val="44B9E8"/>
      </a:folHlink>
    </a:clrScheme>
    <a:fontScheme name="Concourse">
      <a:majorFont>
        <a:latin typeface="Lucida Sans Unicode"/>
        <a:ea typeface=""/>
        <a:cs typeface=""/>
        <a:font script="Jpan" typeface="ＭＳ Ｐゴシック"/>
        <a:font script="Hang" typeface="맑은 고딕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Uigh" typeface="Microsoft Uighur"/>
        <a:font script="Geor" typeface="Sylfaen"/>
      </a:majorFont>
      <a:minorFont>
        <a:latin typeface="Lucida Sans Unicode"/>
        <a:ea typeface=""/>
        <a:cs typeface=""/>
        <a:font script="Jpan" typeface="ＭＳ Ｐゴシック"/>
        <a:font script="Hang" typeface="맑은 고딕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Uigh" typeface="Microsoft Uighur"/>
        <a:font script="Geor" typeface="Sylfaen"/>
      </a:minorFont>
    </a:fontScheme>
    <a:fmtScheme name="Concourse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satMod val="180000"/>
              </a:schemeClr>
            </a:gs>
            <a:gs pos="65000">
              <a:schemeClr val="phClr">
                <a:tint val="32000"/>
                <a:satMod val="250000"/>
              </a:schemeClr>
            </a:gs>
            <a:gs pos="100000">
              <a:schemeClr val="phClr">
                <a:tint val="23000"/>
                <a:satMod val="300000"/>
              </a:schemeClr>
            </a:gs>
          </a:gsLst>
          <a:lin ang="16200000" scaled="0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955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55000" cap="flat" cmpd="thickThin" algn="ctr">
          <a:solidFill>
            <a:schemeClr val="phClr"/>
          </a:solidFill>
          <a:prstDash val="solid"/>
        </a:ln>
        <a:ln w="63500" cap="flat" cmpd="thickThin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glow" dir="t">
              <a:rot lat="0" lon="0" rev="6360000"/>
            </a:lightRig>
          </a:scene3d>
          <a:sp3d contourW="1000" prstMaterial="flat">
            <a:bevelT w="95250" h="1016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55000"/>
                <a:satMod val="300000"/>
              </a:schemeClr>
            </a:gs>
            <a:gs pos="40000">
              <a:schemeClr val="phClr">
                <a:tint val="65000"/>
                <a:satMod val="300000"/>
              </a:schemeClr>
            </a:gs>
            <a:gs pos="100000">
              <a:schemeClr val="phClr">
                <a:shade val="65000"/>
                <a:satMod val="300000"/>
              </a:schemeClr>
            </a:gs>
          </a:gsLst>
          <a:path path="circle">
            <a:fillToRect l="65000" b="98000"/>
          </a:path>
        </a:gradFill>
        <a:blipFill>
          <a:blip xmlns:r="http://schemas.openxmlformats.org/officeDocument/2006/relationships" r:embed="rId1">
            <a:duotone>
              <a:schemeClr val="phClr">
                <a:shade val="60000"/>
                <a:satMod val="110000"/>
              </a:schemeClr>
              <a:schemeClr val="phClr">
                <a:tint val="95000"/>
              </a:schemeClr>
            </a:duotone>
          </a:blip>
          <a:tile tx="0" ty="0" sx="50000" sy="50000" flip="none" algn="tl"/>
        </a:blip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FFFFFF"/>
      </a:accent3>
      <a:accent4>
        <a:srgbClr val="000000"/>
      </a:accent4>
      <a:accent5>
        <a:srgbClr val="B2C1DB"/>
      </a:accent5>
      <a:accent6>
        <a:srgbClr val="AE4845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Concourse</Template>
  <TotalTime>0</TotalTime>
  <Words>5028</Words>
  <Application>WPS 演示</Application>
  <PresentationFormat>全屏显示(4:3)</PresentationFormat>
  <Paragraphs>559</Paragraphs>
  <Slides>49</Slides>
  <Notes>4</Notes>
  <HiddenSlides>0</HiddenSlides>
  <MMClips>0</MMClips>
  <ScaleCrop>false</ScaleCrop>
  <HeadingPairs>
    <vt:vector size="8" baseType="variant">
      <vt:variant>
        <vt:lpstr>已用的字体</vt:lpstr>
      </vt:variant>
      <vt:variant>
        <vt:i4>22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49</vt:i4>
      </vt:variant>
    </vt:vector>
  </HeadingPairs>
  <TitlesOfParts>
    <vt:vector size="73" baseType="lpstr">
      <vt:lpstr>Arial</vt:lpstr>
      <vt:lpstr>宋体</vt:lpstr>
      <vt:lpstr>Wingdings</vt:lpstr>
      <vt:lpstr>Wingdings 3</vt:lpstr>
      <vt:lpstr>Verdana</vt:lpstr>
      <vt:lpstr>Wingdings 2</vt:lpstr>
      <vt:lpstr>Calibri</vt:lpstr>
      <vt:lpstr>Times New Roman</vt:lpstr>
      <vt:lpstr>Courier</vt:lpstr>
      <vt:lpstr>Courier New</vt:lpstr>
      <vt:lpstr>Times</vt:lpstr>
      <vt:lpstr>楷体_GB2312</vt:lpstr>
      <vt:lpstr>新宋体</vt:lpstr>
      <vt:lpstr>方正舒体</vt:lpstr>
      <vt:lpstr>Franklin Gothic Book</vt:lpstr>
      <vt:lpstr>CourierPS</vt:lpstr>
      <vt:lpstr>Segoe Print</vt:lpstr>
      <vt:lpstr>Lucida Sans Unicode</vt:lpstr>
      <vt:lpstr>黑体</vt:lpstr>
      <vt:lpstr>微软雅黑</vt:lpstr>
      <vt:lpstr>Arial Unicode MS</vt:lpstr>
      <vt:lpstr>Symbol</vt:lpstr>
      <vt:lpstr>Concourse</vt:lpstr>
      <vt:lpstr>PBrush</vt:lpstr>
      <vt:lpstr>计算机系统 I </vt:lpstr>
      <vt:lpstr>PowerPoint 演示文稿</vt:lpstr>
      <vt:lpstr>计算机系统微结构</vt:lpstr>
      <vt:lpstr>(3×4) + (5×7)?</vt:lpstr>
      <vt:lpstr>PowerPoint 演示文稿</vt:lpstr>
      <vt:lpstr>思考</vt:lpstr>
      <vt:lpstr>冯.诺伊曼模型</vt:lpstr>
      <vt:lpstr>内存</vt:lpstr>
      <vt:lpstr>内存访问接口</vt:lpstr>
      <vt:lpstr>运算单元</vt:lpstr>
      <vt:lpstr>输入和输出设备</vt:lpstr>
      <vt:lpstr>控制单元</vt:lpstr>
      <vt:lpstr>LC-3体系结构</vt:lpstr>
      <vt:lpstr>LC-3的5大部件</vt:lpstr>
      <vt:lpstr>PowerPoint 演示文稿</vt:lpstr>
      <vt:lpstr>指令处理</vt:lpstr>
      <vt:lpstr>指令：</vt:lpstr>
      <vt:lpstr>指令编码 例: LC-3的ADD指令</vt:lpstr>
      <vt:lpstr>指令编码 例: LC-3的LDR指令</vt:lpstr>
      <vt:lpstr>指令周期的六个步骤</vt:lpstr>
      <vt:lpstr>指令周期: FETCH取指令</vt:lpstr>
      <vt:lpstr>PowerPoint 演示文稿</vt:lpstr>
      <vt:lpstr>PowerPoint 演示文稿</vt:lpstr>
      <vt:lpstr>PowerPoint 演示文稿</vt:lpstr>
      <vt:lpstr>指令周期:  DECODE译码</vt:lpstr>
      <vt:lpstr>指令周期:  EVALUATE ADDRESS地址计算</vt:lpstr>
      <vt:lpstr>指令周期: FETCH OPERANDS取操作数</vt:lpstr>
      <vt:lpstr>指令周期: EXECUTE执行</vt:lpstr>
      <vt:lpstr>指令周期: STORE RESULT存放结果</vt:lpstr>
      <vt:lpstr>PowerPoint 演示文稿</vt:lpstr>
      <vt:lpstr>改变指令执行顺序-控制指令</vt:lpstr>
      <vt:lpstr>例: LC-3 JMP 指令</vt:lpstr>
      <vt:lpstr>小结</vt:lpstr>
      <vt:lpstr>控制单元的控制状态机</vt:lpstr>
      <vt:lpstr>停机操作</vt:lpstr>
      <vt:lpstr>ADD指令执行过程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LDR指令执行过程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作业</vt:lpstr>
    </vt:vector>
  </TitlesOfParts>
  <Company>USTC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Course Introduction   An Hong han@ustc.edu.cn</dc:title>
  <dc:creator>hanhwt</dc:creator>
  <cp:lastModifiedBy>Zhi</cp:lastModifiedBy>
  <cp:revision>507</cp:revision>
  <cp:lastPrinted>2113-01-01T00:00:00Z</cp:lastPrinted>
  <dcterms:created xsi:type="dcterms:W3CDTF">2012-09-03T16:09:00Z</dcterms:created>
  <dcterms:modified xsi:type="dcterms:W3CDTF">2022-03-22T02:22:20Z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r8>1</vt:r8>
  </property>
  <property fmtid="{D5CDD505-2E9C-101B-9397-08002B2CF9AE}" pid="3" name="KSOProductBuildVer">
    <vt:lpwstr>2052-11.1.0.11365</vt:lpwstr>
  </property>
  <property fmtid="{D5CDD505-2E9C-101B-9397-08002B2CF9AE}" pid="4" name="ICV">
    <vt:lpwstr>A86831162DB94A6585826F2902A351B7</vt:lpwstr>
  </property>
</Properties>
</file>