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3" r:id="rId1"/>
  </p:sldMasterIdLst>
  <p:notesMasterIdLst>
    <p:notesMasterId r:id="rId13"/>
  </p:notesMasterIdLst>
  <p:sldIdLst>
    <p:sldId id="492" r:id="rId2"/>
    <p:sldId id="501" r:id="rId3"/>
    <p:sldId id="493" r:id="rId4"/>
    <p:sldId id="494" r:id="rId5"/>
    <p:sldId id="495" r:id="rId6"/>
    <p:sldId id="496" r:id="rId7"/>
    <p:sldId id="497" r:id="rId8"/>
    <p:sldId id="498" r:id="rId9"/>
    <p:sldId id="499" r:id="rId10"/>
    <p:sldId id="502" r:id="rId11"/>
    <p:sldId id="500" r:id="rId12"/>
  </p:sldIdLst>
  <p:sldSz cx="9144000" cy="6858000" type="screen4x3"/>
  <p:notesSz cx="6858000" cy="9144000"/>
  <p:defaultTextStyle>
    <a:defPPr>
      <a:defRPr lang="zh-CN"/>
    </a:defPPr>
    <a:lvl1pPr algn="l" rtl="0" fontAlgn="base">
      <a:spcBef>
        <a:spcPct val="0"/>
      </a:spcBef>
      <a:spcAft>
        <a:spcPct val="0"/>
      </a:spcAft>
      <a:defRPr kern="1200" baseline="-250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baseline="-250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baseline="-250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baseline="-250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baseline="-25000">
        <a:solidFill>
          <a:schemeClr val="tx1"/>
        </a:solidFill>
        <a:latin typeface="Arial" pitchFamily="34" charset="0"/>
        <a:ea typeface="宋体" pitchFamily="2" charset="-122"/>
        <a:cs typeface="+mn-cs"/>
      </a:defRPr>
    </a:lvl5pPr>
    <a:lvl6pPr marL="2286000" algn="l" defTabSz="914400" rtl="0" eaLnBrk="1" latinLnBrk="0" hangingPunct="1">
      <a:defRPr kern="1200" baseline="-25000">
        <a:solidFill>
          <a:schemeClr val="tx1"/>
        </a:solidFill>
        <a:latin typeface="Arial" pitchFamily="34" charset="0"/>
        <a:ea typeface="宋体" pitchFamily="2" charset="-122"/>
        <a:cs typeface="+mn-cs"/>
      </a:defRPr>
    </a:lvl6pPr>
    <a:lvl7pPr marL="2743200" algn="l" defTabSz="914400" rtl="0" eaLnBrk="1" latinLnBrk="0" hangingPunct="1">
      <a:defRPr kern="1200" baseline="-25000">
        <a:solidFill>
          <a:schemeClr val="tx1"/>
        </a:solidFill>
        <a:latin typeface="Arial" pitchFamily="34" charset="0"/>
        <a:ea typeface="宋体" pitchFamily="2" charset="-122"/>
        <a:cs typeface="+mn-cs"/>
      </a:defRPr>
    </a:lvl7pPr>
    <a:lvl8pPr marL="3200400" algn="l" defTabSz="914400" rtl="0" eaLnBrk="1" latinLnBrk="0" hangingPunct="1">
      <a:defRPr kern="1200" baseline="-25000">
        <a:solidFill>
          <a:schemeClr val="tx1"/>
        </a:solidFill>
        <a:latin typeface="Arial" pitchFamily="34" charset="0"/>
        <a:ea typeface="宋体" pitchFamily="2" charset="-122"/>
        <a:cs typeface="+mn-cs"/>
      </a:defRPr>
    </a:lvl8pPr>
    <a:lvl9pPr marL="3657600" algn="l" defTabSz="914400" rtl="0" eaLnBrk="1" latinLnBrk="0" hangingPunct="1">
      <a:defRPr kern="1200" baseline="-250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33CC33"/>
    <a:srgbClr val="00FFFF"/>
    <a:srgbClr val="FF99FF"/>
    <a:srgbClr val="003399"/>
    <a:srgbClr val="66FF33"/>
    <a:srgbClr val="FFFF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4660"/>
  </p:normalViewPr>
  <p:slideViewPr>
    <p:cSldViewPr>
      <p:cViewPr varScale="1">
        <p:scale>
          <a:sx n="80" d="100"/>
          <a:sy n="80" d="100"/>
        </p:scale>
        <p:origin x="1371"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0213"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zh-CN" altLang="en-US"/>
          </a:p>
        </p:txBody>
      </p:sp>
      <p:sp>
        <p:nvSpPr>
          <p:cNvPr id="2051" name="日期占位符 2"/>
          <p:cNvSpPr>
            <a:spLocks noGrp="1" noChangeArrowheads="1"/>
          </p:cNvSpPr>
          <p:nvPr>
            <p:ph type="dt" idx="1"/>
          </p:nvPr>
        </p:nvSpPr>
        <p:spPr bwMode="auto">
          <a:xfrm>
            <a:off x="3883025" y="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fld id="{250697F6-173F-4907-8E1F-6A4A7DCD3E53}" type="datetimeFigureOut">
              <a:rPr lang="zh-CN" altLang="en-US"/>
              <a:pPr>
                <a:defRPr/>
              </a:pPr>
              <a:t>2021/5/4</a:t>
            </a:fld>
            <a:endParaRPr lang="en-US" altLang="zh-CN"/>
          </a:p>
        </p:txBody>
      </p:sp>
      <p:sp>
        <p:nvSpPr>
          <p:cNvPr id="45060"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8685213"/>
            <a:ext cx="2970213"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3025" y="8685213"/>
            <a:ext cx="2973388"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smtClean="0">
                <a:latin typeface="Arial" charset="0"/>
              </a:defRPr>
            </a:lvl1pPr>
          </a:lstStyle>
          <a:p>
            <a:pPr>
              <a:defRPr/>
            </a:pPr>
            <a:fld id="{027A0B3A-CBE6-4851-A53D-4B4CBF114D67}" type="slidenum">
              <a:rPr lang="zh-CN" altLang="en-US"/>
              <a:pPr>
                <a:defRPr/>
              </a:pPr>
              <a:t>‹#›</a:t>
            </a:fld>
            <a:endParaRPr lang="en-US" altLang="zh-CN"/>
          </a:p>
        </p:txBody>
      </p:sp>
    </p:spTree>
    <p:extLst>
      <p:ext uri="{BB962C8B-B14F-4D97-AF65-F5344CB8AC3E}">
        <p14:creationId xmlns:p14="http://schemas.microsoft.com/office/powerpoint/2010/main" val="2406341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ltLang="zh-CN"/>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ltLang="zh-CN"/>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fld id="{1501A26F-E9E9-42C6-9C8E-36205DDA9A33}" type="datetime1">
              <a:rPr lang="zh-CN" altLang="en-US" smtClean="0"/>
              <a:pPr>
                <a:defRPr/>
              </a:pPr>
              <a:t>2021/5/4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r>
              <a:rPr lang="en-US" altLang="zh-CN"/>
              <a:t>Lecture 1</a:t>
            </a:r>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7C93F2F6-B200-4836-9340-136DE7987878}"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DEEE2FF0-5169-45E6-A93D-D1F642771312}" type="datetime1">
              <a:rPr lang="zh-CN" altLang="en-US" smtClean="0"/>
              <a:pPr>
                <a:defRPr/>
              </a:pPr>
              <a:t>2021/5/4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7" name="Title 6"/>
          <p:cNvSpPr>
            <a:spLocks noGrp="1"/>
          </p:cNvSpPr>
          <p:nvPr>
            <p:ph type="title"/>
          </p:nvPr>
        </p:nvSpPr>
        <p:spPr/>
        <p:txBody>
          <a:bodyPr rtlCol="0"/>
          <a:lstStyle/>
          <a:p>
            <a:r>
              <a:rPr kumimoji="0" lang="en-US" altLang="zh-CN"/>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pPr>
              <a:defRPr/>
            </a:pPr>
            <a:fld id="{939043CD-98A1-4109-9E08-03CB892C1BFE}" type="datetime1">
              <a:rPr lang="zh-CN" altLang="en-US" smtClean="0"/>
              <a:pPr>
                <a:defRPr/>
              </a:pPr>
              <a:t>2021/5/4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pPr>
              <a:defRPr/>
            </a:pPr>
            <a:fld id="{7B5138F1-6AB5-427F-885D-A4F14B8010D7}" type="datetime1">
              <a:rPr lang="zh-CN" altLang="en-US" smtClean="0"/>
              <a:pPr>
                <a:defRPr/>
              </a:pPr>
              <a:t>2021/5/4</a:t>
            </a:fld>
            <a:endParaRPr lang="en-US"/>
          </a:p>
        </p:txBody>
      </p:sp>
      <p:sp>
        <p:nvSpPr>
          <p:cNvPr id="6" name="Footer Placeholder 5"/>
          <p:cNvSpPr>
            <a:spLocks noGrp="1"/>
          </p:cNvSpPr>
          <p:nvPr>
            <p:ph type="ftr" sz="quarter" idx="11"/>
          </p:nvPr>
        </p:nvSpPr>
        <p:spPr/>
        <p:txBody>
          <a:bodyPr/>
          <a:lstStyle/>
          <a:p>
            <a:r>
              <a:rPr lang="en-US" altLang="zh-CN"/>
              <a:t>Lecture 1</a:t>
            </a:r>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8" name="Title 7"/>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ltLang="zh-CN"/>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pPr>
              <a:defRPr/>
            </a:pPr>
            <a:fld id="{276AC82F-B171-4D22-8428-FEE00C5995A2}" type="datetime1">
              <a:rPr lang="zh-CN" altLang="en-US" smtClean="0"/>
              <a:pPr>
                <a:defRPr/>
              </a:pPr>
              <a:t>2021/5/4</a:t>
            </a:fld>
            <a:endParaRPr lang="en-US"/>
          </a:p>
        </p:txBody>
      </p:sp>
      <p:sp>
        <p:nvSpPr>
          <p:cNvPr id="8" name="Footer Placeholder 7"/>
          <p:cNvSpPr>
            <a:spLocks noGrp="1"/>
          </p:cNvSpPr>
          <p:nvPr>
            <p:ph type="ftr" sz="quarter" idx="11"/>
          </p:nvPr>
        </p:nvSpPr>
        <p:spPr/>
        <p:txBody>
          <a:bodyPr/>
          <a:lstStyle/>
          <a:p>
            <a:r>
              <a:rPr lang="en-US" altLang="zh-CN"/>
              <a:t>Lecture 1</a:t>
            </a:r>
          </a:p>
        </p:txBody>
      </p:sp>
      <p:sp>
        <p:nvSpPr>
          <p:cNvPr id="9" name="Slide Number Placeholder 8"/>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F26F37BA-D1C0-4DB6-9E6F-9E5B46421548}" type="datetime1">
              <a:rPr lang="zh-CN" altLang="en-US" smtClean="0"/>
              <a:pPr>
                <a:defRPr/>
              </a:pPr>
              <a:t>2021/5/4</a:t>
            </a:fld>
            <a:endParaRPr lang="en-US"/>
          </a:p>
        </p:txBody>
      </p:sp>
      <p:sp>
        <p:nvSpPr>
          <p:cNvPr id="4" name="Footer Placeholder 3"/>
          <p:cNvSpPr>
            <a:spLocks noGrp="1"/>
          </p:cNvSpPr>
          <p:nvPr>
            <p:ph type="ftr" sz="quarter" idx="11"/>
          </p:nvPr>
        </p:nvSpPr>
        <p:spPr/>
        <p:txBody>
          <a:bodyPr/>
          <a:lstStyle/>
          <a:p>
            <a:r>
              <a:rPr lang="en-US" altLang="zh-CN"/>
              <a:t>Lecture 1</a:t>
            </a:r>
          </a:p>
        </p:txBody>
      </p:sp>
      <p:sp>
        <p:nvSpPr>
          <p:cNvPr id="5" name="Slide Number Placeholder 4"/>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
        <p:nvSpPr>
          <p:cNvPr id="6" name="Title 5"/>
          <p:cNvSpPr>
            <a:spLocks noGrp="1"/>
          </p:cNvSpPr>
          <p:nvPr>
            <p:ph type="title"/>
          </p:nvPr>
        </p:nvSpPr>
        <p:spPr/>
        <p:txBody>
          <a:bodyPr rtlCol="0"/>
          <a:lstStyle/>
          <a:p>
            <a:r>
              <a:rPr kumimoji="0" lang="en-US" altLang="zh-CN"/>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0EE5B48-4CB1-4DBD-AD80-F180514AA93D}" type="datetime1">
              <a:rPr lang="zh-CN" altLang="en-US" smtClean="0"/>
              <a:pPr>
                <a:defRPr/>
              </a:pPr>
              <a:t>2021/5/4</a:t>
            </a:fld>
            <a:endParaRPr lang="en-US"/>
          </a:p>
        </p:txBody>
      </p:sp>
      <p:sp>
        <p:nvSpPr>
          <p:cNvPr id="3" name="Footer Placeholder 2"/>
          <p:cNvSpPr>
            <a:spLocks noGrp="1"/>
          </p:cNvSpPr>
          <p:nvPr>
            <p:ph type="ftr" sz="quarter" idx="11"/>
          </p:nvPr>
        </p:nvSpPr>
        <p:spPr/>
        <p:txBody>
          <a:bodyPr/>
          <a:lstStyle/>
          <a:p>
            <a:r>
              <a:rPr lang="en-US" altLang="zh-CN"/>
              <a:t>Lecture 1</a:t>
            </a:r>
          </a:p>
        </p:txBody>
      </p:sp>
      <p:sp>
        <p:nvSpPr>
          <p:cNvPr id="4" name="Slide Number Placeholder 3"/>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ltLang="zh-CN"/>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ltLang="zh-CN"/>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E49F76EA-3656-402B-AFFC-D88CAED976E4}" type="datetime1">
              <a:rPr lang="zh-CN" altLang="en-US" smtClean="0"/>
              <a:pPr>
                <a:defRPr/>
              </a:pPr>
              <a:t>2021/5/4</a:t>
            </a:fld>
            <a:endParaRPr lang="en-US"/>
          </a:p>
        </p:txBody>
      </p:sp>
      <p:sp>
        <p:nvSpPr>
          <p:cNvPr id="6" name="Footer Placeholder 5"/>
          <p:cNvSpPr>
            <a:spLocks noGrp="1"/>
          </p:cNvSpPr>
          <p:nvPr>
            <p:ph type="ftr" sz="quarter" idx="11"/>
          </p:nvPr>
        </p:nvSpPr>
        <p:spPr/>
        <p:txBody>
          <a:bodyPr/>
          <a:lstStyle/>
          <a:p>
            <a:r>
              <a:rPr lang="en-US" altLang="zh-CN"/>
              <a:t>Lecture 1</a:t>
            </a:r>
          </a:p>
        </p:txBody>
      </p:sp>
      <p:sp>
        <p:nvSpPr>
          <p:cNvPr id="7" name="Slide Number Placeholder 6"/>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ltLang="zh-CN"/>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ltLang="zh-CN"/>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fld id="{C230EBF4-244A-4141-BA3F-BC7388FDD6CD}" type="datetime1">
              <a:rPr lang="zh-CN" altLang="en-US" smtClean="0"/>
              <a:pPr>
                <a:defRPr/>
              </a:pPr>
              <a:t>2021/5/4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r>
              <a:rPr lang="en-US" altLang="zh-CN"/>
              <a:t>Lecture 1</a:t>
            </a:r>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7C93F2F6-B200-4836-9340-136DE7987878}"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ltLang="zh-CN"/>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B8931191-54D3-47FC-8940-F63228B1FA89}" type="datetime1">
              <a:rPr lang="zh-CN" altLang="en-US" smtClean="0"/>
              <a:pPr>
                <a:defRPr/>
              </a:pPr>
              <a:t>2021/5/4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pPr>
              <a:defRPr/>
            </a:pPr>
            <a:fld id="{95EBC060-C77D-4BC4-8D0C-107EFB448A79}" type="datetime1">
              <a:rPr lang="zh-CN" altLang="en-US" smtClean="0"/>
              <a:pPr>
                <a:defRPr/>
              </a:pPr>
              <a:t>2021/5/4</a:t>
            </a:fld>
            <a:endParaRPr lang="en-US"/>
          </a:p>
        </p:txBody>
      </p:sp>
      <p:sp>
        <p:nvSpPr>
          <p:cNvPr id="5" name="Footer Placeholder 4"/>
          <p:cNvSpPr>
            <a:spLocks noGrp="1"/>
          </p:cNvSpPr>
          <p:nvPr>
            <p:ph type="ftr" sz="quarter" idx="11"/>
          </p:nvPr>
        </p:nvSpPr>
        <p:spPr/>
        <p:txBody>
          <a:bodyPr/>
          <a:lstStyle/>
          <a:p>
            <a:r>
              <a:rPr lang="en-US" altLang="zh-CN"/>
              <a:t>Lecture 1</a:t>
            </a:r>
          </a:p>
        </p:txBody>
      </p:sp>
      <p:sp>
        <p:nvSpPr>
          <p:cNvPr id="6" name="Slide Number Placeholder 5"/>
          <p:cNvSpPr>
            <a:spLocks noGrp="1"/>
          </p:cNvSpPr>
          <p:nvPr>
            <p:ph type="sldNum" sz="quarter" idx="12"/>
          </p:nvPr>
        </p:nvSpPr>
        <p:spPr/>
        <p:txBody>
          <a:bodyPr/>
          <a:lstStyle/>
          <a:p>
            <a:pPr>
              <a:defRPr/>
            </a:pPr>
            <a:fld id="{7C93F2F6-B200-4836-9340-136DE7987878}"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fld id="{9A57F911-7B1D-4109-89E2-FD9880E73F71}" type="datetime1">
              <a:rPr lang="zh-CN" altLang="en-US" smtClean="0"/>
              <a:pPr>
                <a:defRPr/>
              </a:pPr>
              <a:t>2021/5/4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r>
              <a:rPr lang="en-US" altLang="zh-CN"/>
              <a:t>Lecture 1</a:t>
            </a:r>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7C93F2F6-B200-4836-9340-136DE7987878}"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394420" y="1767515"/>
            <a:ext cx="8062664" cy="1829761"/>
          </a:xfrm>
        </p:spPr>
        <p:txBody>
          <a:bodyPr/>
          <a:lstStyle/>
          <a:p>
            <a:r>
              <a:rPr lang="zh-CN" altLang="en-US" dirty="0"/>
              <a:t>计算机系统 </a:t>
            </a:r>
            <a:r>
              <a:rPr lang="en-US" altLang="zh-CN" dirty="0"/>
              <a:t>I </a:t>
            </a:r>
            <a:endParaRPr lang="zh-CN" altLang="en-US" dirty="0"/>
          </a:p>
        </p:txBody>
      </p:sp>
      <p:sp>
        <p:nvSpPr>
          <p:cNvPr id="8" name="Subtitle 7"/>
          <p:cNvSpPr>
            <a:spLocks noGrp="1"/>
          </p:cNvSpPr>
          <p:nvPr>
            <p:ph type="subTitle" idx="1"/>
          </p:nvPr>
        </p:nvSpPr>
        <p:spPr>
          <a:xfrm>
            <a:off x="539552" y="3597276"/>
            <a:ext cx="7772400" cy="1199704"/>
          </a:xfrm>
        </p:spPr>
        <p:txBody>
          <a:bodyPr>
            <a:normAutofit/>
          </a:bodyPr>
          <a:lstStyle/>
          <a:p>
            <a:r>
              <a:rPr lang="zh-CN" altLang="en-US" dirty="0"/>
              <a:t> 实验三 </a:t>
            </a:r>
            <a:r>
              <a:rPr lang="en-US" altLang="zh-CN" dirty="0"/>
              <a:t>LC-3</a:t>
            </a:r>
            <a:r>
              <a:rPr lang="zh-CN" altLang="en-US" dirty="0"/>
              <a:t>汇编语言实验</a:t>
            </a:r>
            <a:r>
              <a:rPr lang="en-US" altLang="zh-CN" dirty="0"/>
              <a:t>1</a:t>
            </a:r>
          </a:p>
          <a:p>
            <a:r>
              <a:rPr lang="zh-CN" altLang="en-US" dirty="0"/>
              <a:t>深圳大学计算机与软件学院</a:t>
            </a:r>
          </a:p>
        </p:txBody>
      </p:sp>
    </p:spTree>
    <p:extLst>
      <p:ext uri="{BB962C8B-B14F-4D97-AF65-F5344CB8AC3E}">
        <p14:creationId xmlns:p14="http://schemas.microsoft.com/office/powerpoint/2010/main" val="4286155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1FBF394-745C-4D8B-B82F-7A070A1E07FB}"/>
              </a:ext>
            </a:extLst>
          </p:cNvPr>
          <p:cNvSpPr>
            <a:spLocks noGrp="1"/>
          </p:cNvSpPr>
          <p:nvPr>
            <p:ph idx="1"/>
          </p:nvPr>
        </p:nvSpPr>
        <p:spPr/>
        <p:txBody>
          <a:bodyPr/>
          <a:lstStyle/>
          <a:p>
            <a:r>
              <a:rPr lang="zh-CN" altLang="zh-CN" dirty="0"/>
              <a:t>分析和理解指定的需解决问题。</a:t>
            </a:r>
            <a:endParaRPr lang="en-US" altLang="zh-CN" dirty="0"/>
          </a:p>
          <a:p>
            <a:endParaRPr lang="zh-CN" altLang="zh-CN" dirty="0"/>
          </a:p>
          <a:p>
            <a:r>
              <a:rPr lang="zh-CN" altLang="zh-CN" dirty="0"/>
              <a:t>利用</a:t>
            </a:r>
            <a:r>
              <a:rPr lang="en-US" altLang="zh-CN" dirty="0"/>
              <a:t>LC-3</a:t>
            </a:r>
            <a:r>
              <a:rPr lang="zh-CN" altLang="en-US" dirty="0"/>
              <a:t>的汇编</a:t>
            </a:r>
            <a:r>
              <a:rPr lang="zh-CN" altLang="zh-CN" dirty="0"/>
              <a:t>代码设计实现相关程序。</a:t>
            </a:r>
            <a:endParaRPr lang="en-US" altLang="zh-CN" dirty="0"/>
          </a:p>
          <a:p>
            <a:endParaRPr lang="zh-CN" altLang="zh-CN" dirty="0"/>
          </a:p>
          <a:p>
            <a:r>
              <a:rPr lang="zh-CN" altLang="zh-CN" dirty="0"/>
              <a:t>通过</a:t>
            </a:r>
            <a:r>
              <a:rPr lang="en-US" altLang="zh-CN" dirty="0"/>
              <a:t>LC-3</a:t>
            </a:r>
            <a:r>
              <a:rPr lang="zh-CN" altLang="zh-CN" dirty="0"/>
              <a:t>仿真器调试和运行相关程序并得到正确的结果。</a:t>
            </a:r>
            <a:r>
              <a:rPr lang="en-US" altLang="zh-CN" dirty="0"/>
              <a:t> </a:t>
            </a:r>
            <a:endParaRPr lang="zh-CN" altLang="zh-CN" dirty="0"/>
          </a:p>
          <a:p>
            <a:endParaRPr lang="zh-CN" altLang="en-US" dirty="0"/>
          </a:p>
        </p:txBody>
      </p:sp>
      <p:sp>
        <p:nvSpPr>
          <p:cNvPr id="3" name="标题 2">
            <a:extLst>
              <a:ext uri="{FF2B5EF4-FFF2-40B4-BE49-F238E27FC236}">
                <a16:creationId xmlns:a16="http://schemas.microsoft.com/office/drawing/2014/main" id="{78374788-2E70-461D-9821-D203545D7B4B}"/>
              </a:ext>
            </a:extLst>
          </p:cNvPr>
          <p:cNvSpPr>
            <a:spLocks noGrp="1"/>
          </p:cNvSpPr>
          <p:nvPr>
            <p:ph type="title"/>
          </p:nvPr>
        </p:nvSpPr>
        <p:spPr/>
        <p:txBody>
          <a:bodyPr/>
          <a:lstStyle/>
          <a:p>
            <a:r>
              <a:rPr lang="zh-CN" altLang="en-US" dirty="0"/>
              <a:t>实验目的</a:t>
            </a:r>
          </a:p>
        </p:txBody>
      </p:sp>
    </p:spTree>
    <p:extLst>
      <p:ext uri="{BB962C8B-B14F-4D97-AF65-F5344CB8AC3E}">
        <p14:creationId xmlns:p14="http://schemas.microsoft.com/office/powerpoint/2010/main" val="1423611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556792"/>
            <a:ext cx="8229600" cy="3384376"/>
          </a:xfrm>
        </p:spPr>
        <p:txBody>
          <a:bodyPr>
            <a:noAutofit/>
          </a:bodyPr>
          <a:lstStyle/>
          <a:p>
            <a:pPr>
              <a:buNone/>
            </a:pPr>
            <a:r>
              <a:rPr lang="zh-CN" altLang="en-US" sz="2800" dirty="0">
                <a:latin typeface="华文仿宋" panose="02010600040101010101" pitchFamily="2" charset="-122"/>
                <a:ea typeface="华文仿宋" panose="02010600040101010101" pitchFamily="2" charset="-122"/>
              </a:rPr>
              <a:t>对学生的成绩使用数组进行排序</a:t>
            </a:r>
            <a:endParaRPr lang="en-US" altLang="zh-CN" sz="2800" dirty="0">
              <a:latin typeface="华文仿宋" panose="02010600040101010101" pitchFamily="2" charset="-122"/>
              <a:ea typeface="华文仿宋" panose="02010600040101010101" pitchFamily="2" charset="-122"/>
            </a:endParaRPr>
          </a:p>
          <a:p>
            <a:pPr>
              <a:buNone/>
            </a:pPr>
            <a:r>
              <a:rPr lang="en-US" altLang="zh-CN" sz="2800" dirty="0">
                <a:latin typeface="华文仿宋" panose="02010600040101010101" pitchFamily="2" charset="-122"/>
                <a:ea typeface="华文仿宋" panose="02010600040101010101" pitchFamily="2" charset="-122"/>
              </a:rPr>
              <a:t>         </a:t>
            </a:r>
          </a:p>
          <a:p>
            <a:pPr>
              <a:lnSpc>
                <a:spcPct val="150000"/>
              </a:lnSpc>
              <a:buNone/>
            </a:pPr>
            <a:r>
              <a:rPr lang="en-US" altLang="zh-CN" sz="2800" dirty="0">
                <a:latin typeface="华文仿宋" panose="02010600040101010101" pitchFamily="2" charset="-122"/>
                <a:ea typeface="华文仿宋" panose="02010600040101010101" pitchFamily="2" charset="-122"/>
              </a:rPr>
              <a:t>       </a:t>
            </a:r>
            <a:r>
              <a:rPr lang="zh-CN" altLang="en-US" sz="2800" dirty="0">
                <a:latin typeface="华文仿宋" panose="02010600040101010101" pitchFamily="2" charset="-122"/>
                <a:ea typeface="华文仿宋" panose="02010600040101010101" pitchFamily="2" charset="-122"/>
              </a:rPr>
              <a:t>背景：一位老师需要你帮忙决定学生的成绩，她想要根据学生分数在班上的排名和考试分数一起决定学生最后的成绩等级。</a:t>
            </a:r>
          </a:p>
        </p:txBody>
      </p:sp>
      <p:sp>
        <p:nvSpPr>
          <p:cNvPr id="3" name="标题 2"/>
          <p:cNvSpPr>
            <a:spLocks noGrp="1"/>
          </p:cNvSpPr>
          <p:nvPr>
            <p:ph type="title"/>
          </p:nvPr>
        </p:nvSpPr>
        <p:spPr/>
        <p:txBody>
          <a:bodyPr/>
          <a:lstStyle/>
          <a:p>
            <a:r>
              <a:rPr lang="zh-CN" altLang="en-US" dirty="0"/>
              <a:t>实验描述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417638"/>
            <a:ext cx="8686800" cy="4525963"/>
          </a:xfrm>
        </p:spPr>
        <p:txBody>
          <a:bodyPr/>
          <a:lstStyle/>
          <a:p>
            <a:r>
              <a:rPr lang="zh-CN" altLang="en-US" dirty="0">
                <a:latin typeface="华文仿宋" panose="02010600040101010101" pitchFamily="2" charset="-122"/>
                <a:ea typeface="华文仿宋" panose="02010600040101010101" pitchFamily="2" charset="-122"/>
              </a:rPr>
              <a:t>具体要求如下：</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如果学生的分数排名在全班的</a:t>
            </a:r>
            <a:r>
              <a:rPr lang="en-US" altLang="zh-CN" dirty="0">
                <a:latin typeface="华文仿宋" panose="02010600040101010101" pitchFamily="2" charset="-122"/>
                <a:ea typeface="华文仿宋" panose="02010600040101010101" pitchFamily="2" charset="-122"/>
              </a:rPr>
              <a:t>25%</a:t>
            </a:r>
            <a:r>
              <a:rPr lang="zh-CN" altLang="en-US" dirty="0">
                <a:latin typeface="华文仿宋" panose="02010600040101010101" pitchFamily="2" charset="-122"/>
                <a:ea typeface="华文仿宋" panose="02010600040101010101" pitchFamily="2" charset="-122"/>
              </a:rPr>
              <a:t>之前，且考试分数达到</a:t>
            </a:r>
            <a:r>
              <a:rPr lang="en-US" altLang="zh-CN" dirty="0">
                <a:latin typeface="华文仿宋" panose="02010600040101010101" pitchFamily="2" charset="-122"/>
                <a:ea typeface="华文仿宋" panose="02010600040101010101" pitchFamily="2" charset="-122"/>
              </a:rPr>
              <a:t>85</a:t>
            </a:r>
            <a:r>
              <a:rPr lang="zh-CN" altLang="en-US" dirty="0">
                <a:latin typeface="华文仿宋" panose="02010600040101010101" pitchFamily="2" charset="-122"/>
                <a:ea typeface="华文仿宋" panose="02010600040101010101" pitchFamily="2" charset="-122"/>
              </a:rPr>
              <a:t>分及以上，则学生可以获得</a:t>
            </a:r>
            <a:r>
              <a:rPr lang="en-US" altLang="zh-CN" dirty="0">
                <a:latin typeface="华文仿宋" panose="02010600040101010101" pitchFamily="2" charset="-122"/>
                <a:ea typeface="华文仿宋" panose="02010600040101010101" pitchFamily="2" charset="-122"/>
              </a:rPr>
              <a:t>A</a:t>
            </a: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如果学生不能拿</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，但是分数排名在全班的</a:t>
            </a:r>
            <a:r>
              <a:rPr lang="en-US" altLang="zh-CN" dirty="0">
                <a:latin typeface="华文仿宋" panose="02010600040101010101" pitchFamily="2" charset="-122"/>
                <a:ea typeface="华文仿宋" panose="02010600040101010101" pitchFamily="2" charset="-122"/>
              </a:rPr>
              <a:t>50%</a:t>
            </a:r>
            <a:r>
              <a:rPr lang="zh-CN" altLang="en-US" dirty="0">
                <a:latin typeface="华文仿宋" panose="02010600040101010101" pitchFamily="2" charset="-122"/>
                <a:ea typeface="华文仿宋" panose="02010600040101010101" pitchFamily="2" charset="-122"/>
              </a:rPr>
              <a:t>之前，且考试分数达到</a:t>
            </a:r>
            <a:r>
              <a:rPr lang="en-US" altLang="zh-CN" dirty="0">
                <a:latin typeface="华文仿宋" panose="02010600040101010101" pitchFamily="2" charset="-122"/>
                <a:ea typeface="华文仿宋" panose="02010600040101010101" pitchFamily="2" charset="-122"/>
              </a:rPr>
              <a:t>75</a:t>
            </a:r>
            <a:r>
              <a:rPr lang="zh-CN" altLang="en-US" dirty="0">
                <a:latin typeface="华文仿宋" panose="02010600040101010101" pitchFamily="2" charset="-122"/>
                <a:ea typeface="华文仿宋" panose="02010600040101010101" pitchFamily="2" charset="-122"/>
              </a:rPr>
              <a:t>及以上，则学生可以获得</a:t>
            </a:r>
            <a:r>
              <a:rPr lang="en-US" altLang="zh-CN" dirty="0">
                <a:latin typeface="华文仿宋" panose="02010600040101010101" pitchFamily="2" charset="-122"/>
                <a:ea typeface="华文仿宋" panose="02010600040101010101" pitchFamily="2" charset="-122"/>
              </a:rPr>
              <a:t>B</a:t>
            </a: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剩下的学生都是</a:t>
            </a:r>
            <a:r>
              <a:rPr lang="en-US" altLang="zh-CN" dirty="0">
                <a:latin typeface="华文仿宋" panose="02010600040101010101" pitchFamily="2" charset="-122"/>
                <a:ea typeface="华文仿宋" panose="02010600040101010101" pitchFamily="2" charset="-122"/>
              </a:rPr>
              <a:t>C</a:t>
            </a:r>
          </a:p>
        </p:txBody>
      </p:sp>
      <p:sp>
        <p:nvSpPr>
          <p:cNvPr id="3" name="标题 2"/>
          <p:cNvSpPr>
            <a:spLocks noGrp="1"/>
          </p:cNvSpPr>
          <p:nvPr>
            <p:ph type="title"/>
          </p:nvPr>
        </p:nvSpPr>
        <p:spPr/>
        <p:txBody>
          <a:bodyPr/>
          <a:lstStyle/>
          <a:p>
            <a:r>
              <a:rPr lang="zh-CN" altLang="en-US" dirty="0"/>
              <a:t>实验描述</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实验描述</a:t>
            </a:r>
          </a:p>
        </p:txBody>
      </p:sp>
      <p:sp>
        <p:nvSpPr>
          <p:cNvPr id="5" name="内容占位符 4"/>
          <p:cNvSpPr>
            <a:spLocks noGrp="1"/>
          </p:cNvSpPr>
          <p:nvPr>
            <p:ph idx="1"/>
          </p:nvPr>
        </p:nvSpPr>
        <p:spPr>
          <a:xfrm>
            <a:off x="457200" y="1196752"/>
            <a:ext cx="7931224" cy="3751474"/>
          </a:xfrm>
        </p:spPr>
        <p:txBody>
          <a:bodyPr>
            <a:normAutofit/>
          </a:bodyPr>
          <a:lstStyle/>
          <a:p>
            <a:endParaRPr lang="en-US" altLang="zh-CN" dirty="0">
              <a:latin typeface="华文仿宋" panose="02010600040101010101" pitchFamily="2" charset="-122"/>
              <a:ea typeface="华文仿宋" panose="02010600040101010101" pitchFamily="2" charset="-122"/>
            </a:endParaRPr>
          </a:p>
          <a:p>
            <a:pPr>
              <a:lnSpc>
                <a:spcPct val="150000"/>
              </a:lnSpc>
            </a:pPr>
            <a:r>
              <a:rPr lang="zh-CN" altLang="en-US" dirty="0">
                <a:latin typeface="华文仿宋" panose="02010600040101010101" pitchFamily="2" charset="-122"/>
                <a:ea typeface="华文仿宋" panose="02010600040101010101" pitchFamily="2" charset="-122"/>
              </a:rPr>
              <a:t>具体的情况：</a:t>
            </a:r>
            <a:endParaRPr lang="en-US" altLang="zh-CN" dirty="0">
              <a:latin typeface="华文仿宋" panose="02010600040101010101" pitchFamily="2" charset="-122"/>
              <a:ea typeface="华文仿宋" panose="02010600040101010101" pitchFamily="2" charset="-122"/>
            </a:endParaRPr>
          </a:p>
          <a:p>
            <a:pPr marL="109728" indent="0">
              <a:lnSpc>
                <a:spcPct val="150000"/>
              </a:lnSpc>
              <a:buNone/>
            </a:pPr>
            <a:r>
              <a:rPr lang="zh-CN" altLang="en-US" dirty="0">
                <a:latin typeface="华文仿宋" panose="02010600040101010101" pitchFamily="2" charset="-122"/>
                <a:ea typeface="华文仿宋" panose="02010600040101010101" pitchFamily="2" charset="-122"/>
              </a:rPr>
              <a:t>   一共有</a:t>
            </a:r>
            <a:r>
              <a:rPr lang="en-US" altLang="zh-CN" dirty="0">
                <a:latin typeface="华文仿宋" panose="02010600040101010101" pitchFamily="2" charset="-122"/>
                <a:ea typeface="华文仿宋" panose="02010600040101010101" pitchFamily="2" charset="-122"/>
              </a:rPr>
              <a:t>16</a:t>
            </a:r>
            <a:r>
              <a:rPr lang="zh-CN" altLang="en-US" dirty="0">
                <a:latin typeface="华文仿宋" panose="02010600040101010101" pitchFamily="2" charset="-122"/>
                <a:ea typeface="华文仿宋" panose="02010600040101010101" pitchFamily="2" charset="-122"/>
              </a:rPr>
              <a:t>名学生，每名学生只有一个成绩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9"/>
            <a:ext cx="8435280" cy="2451728"/>
          </a:xfrm>
        </p:spPr>
        <p:txBody>
          <a:bodyPr/>
          <a:lstStyle/>
          <a:p>
            <a:pPr>
              <a:lnSpc>
                <a:spcPct val="150000"/>
              </a:lnSpc>
            </a:pPr>
            <a:r>
              <a:rPr lang="zh-CN" altLang="en-US" dirty="0">
                <a:latin typeface="华文仿宋" panose="02010600040101010101" pitchFamily="2" charset="-122"/>
                <a:ea typeface="华文仿宋" panose="02010600040101010101" pitchFamily="2" charset="-122"/>
              </a:rPr>
              <a:t>用汇编语言给这个班写一个成绩排序的程序。</a:t>
            </a:r>
            <a:endParaRPr lang="en-US" altLang="zh-CN" dirty="0">
              <a:latin typeface="华文仿宋" panose="02010600040101010101" pitchFamily="2" charset="-122"/>
              <a:ea typeface="华文仿宋" panose="02010600040101010101" pitchFamily="2" charset="-122"/>
            </a:endParaRPr>
          </a:p>
          <a:p>
            <a:pPr>
              <a:lnSpc>
                <a:spcPct val="150000"/>
              </a:lnSpc>
            </a:pPr>
            <a:r>
              <a:rPr lang="zh-CN" altLang="en-US" dirty="0">
                <a:latin typeface="华文仿宋" panose="02010600040101010101" pitchFamily="2" charset="-122"/>
                <a:ea typeface="华文仿宋" panose="02010600040101010101" pitchFamily="2" charset="-122"/>
              </a:rPr>
              <a:t>你的程序必须给学生的分数排序，然后计算出获得</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和</a:t>
            </a:r>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的学生人数。程序从</a:t>
            </a:r>
            <a:r>
              <a:rPr lang="en-US" altLang="zh-CN" dirty="0">
                <a:latin typeface="华文仿宋" panose="02010600040101010101" pitchFamily="2" charset="-122"/>
                <a:ea typeface="华文仿宋" panose="02010600040101010101" pitchFamily="2" charset="-122"/>
              </a:rPr>
              <a:t>x3000</a:t>
            </a:r>
            <a:r>
              <a:rPr lang="zh-CN" altLang="en-US" dirty="0">
                <a:latin typeface="华文仿宋" panose="02010600040101010101" pitchFamily="2" charset="-122"/>
                <a:ea typeface="华文仿宋" panose="02010600040101010101" pitchFamily="2" charset="-122"/>
              </a:rPr>
              <a:t>开始</a:t>
            </a:r>
            <a:endParaRPr lang="en-US" altLang="zh-CN" dirty="0">
              <a:latin typeface="华文仿宋" panose="02010600040101010101" pitchFamily="2" charset="-122"/>
              <a:ea typeface="华文仿宋" panose="0201060004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 实验要求</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16617" y="1417638"/>
            <a:ext cx="8710766" cy="4315618"/>
          </a:xfrm>
        </p:spPr>
        <p:txBody>
          <a:bodyPr>
            <a:normAutofit fontScale="92500" lnSpcReduction="20000"/>
          </a:bodyPr>
          <a:lstStyle/>
          <a:p>
            <a:pPr>
              <a:lnSpc>
                <a:spcPct val="150000"/>
              </a:lnSpc>
            </a:pPr>
            <a:r>
              <a:rPr lang="zh-CN" altLang="en-US" dirty="0">
                <a:latin typeface="华文仿宋" panose="02010600040101010101" pitchFamily="2" charset="-122"/>
                <a:ea typeface="华文仿宋" panose="02010600040101010101" pitchFamily="2" charset="-122"/>
              </a:rPr>
              <a:t>程序的输入：</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班上</a:t>
            </a:r>
            <a:r>
              <a:rPr lang="en-US" altLang="zh-CN" dirty="0">
                <a:latin typeface="华文仿宋" panose="02010600040101010101" pitchFamily="2" charset="-122"/>
                <a:ea typeface="华文仿宋" panose="02010600040101010101" pitchFamily="2" charset="-122"/>
              </a:rPr>
              <a:t>16</a:t>
            </a:r>
            <a:r>
              <a:rPr lang="zh-CN" altLang="en-US" dirty="0">
                <a:latin typeface="华文仿宋" panose="02010600040101010101" pitchFamily="2" charset="-122"/>
                <a:ea typeface="华文仿宋" panose="02010600040101010101" pitchFamily="2" charset="-122"/>
              </a:rPr>
              <a:t>个学生的没有排序的成绩；</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每个分数是用</a:t>
            </a:r>
            <a:r>
              <a:rPr lang="en-US" altLang="zh-CN" dirty="0">
                <a:latin typeface="华文仿宋" panose="02010600040101010101" pitchFamily="2" charset="-122"/>
                <a:ea typeface="华文仿宋" panose="02010600040101010101" pitchFamily="2" charset="-122"/>
              </a:rPr>
              <a:t>16</a:t>
            </a:r>
            <a:r>
              <a:rPr lang="zh-CN" altLang="en-US" dirty="0">
                <a:latin typeface="华文仿宋" panose="02010600040101010101" pitchFamily="2" charset="-122"/>
                <a:ea typeface="华文仿宋" panose="02010600040101010101" pitchFamily="2" charset="-122"/>
              </a:rPr>
              <a:t>位无符号数表示的</a:t>
            </a:r>
            <a:r>
              <a:rPr lang="en-US" altLang="zh-CN" dirty="0">
                <a:latin typeface="华文仿宋" panose="02010600040101010101" pitchFamily="2" charset="-122"/>
                <a:ea typeface="华文仿宋" panose="02010600040101010101" pitchFamily="2" charset="-122"/>
              </a:rPr>
              <a:t>0~100</a:t>
            </a:r>
            <a:r>
              <a:rPr lang="zh-CN" altLang="en-US" dirty="0">
                <a:latin typeface="华文仿宋" panose="02010600040101010101" pitchFamily="2" charset="-122"/>
                <a:ea typeface="华文仿宋" panose="02010600040101010101" pitchFamily="2" charset="-122"/>
              </a:rPr>
              <a:t>的整数</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分数存储在</a:t>
            </a:r>
            <a:r>
              <a:rPr lang="en-US" altLang="zh-CN" dirty="0">
                <a:latin typeface="华文仿宋" panose="02010600040101010101" pitchFamily="2" charset="-122"/>
                <a:ea typeface="华文仿宋" panose="02010600040101010101" pitchFamily="2" charset="-122"/>
              </a:rPr>
              <a:t>16</a:t>
            </a:r>
            <a:r>
              <a:rPr lang="zh-CN" altLang="en-US" dirty="0">
                <a:latin typeface="华文仿宋" panose="02010600040101010101" pitchFamily="2" charset="-122"/>
                <a:ea typeface="华文仿宋" panose="02010600040101010101" pitchFamily="2" charset="-122"/>
              </a:rPr>
              <a:t>个连续的内存位置</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每一个位置一个分数；从</a:t>
            </a:r>
            <a:r>
              <a:rPr lang="en-US" altLang="zh-CN" dirty="0">
                <a:latin typeface="华文仿宋" panose="02010600040101010101" pitchFamily="2" charset="-122"/>
                <a:ea typeface="华文仿宋" panose="02010600040101010101" pitchFamily="2" charset="-122"/>
              </a:rPr>
              <a:t>x3200</a:t>
            </a:r>
            <a:r>
              <a:rPr lang="zh-CN" altLang="en-US" dirty="0">
                <a:latin typeface="华文仿宋" panose="02010600040101010101" pitchFamily="2" charset="-122"/>
                <a:ea typeface="华文仿宋" panose="02010600040101010101" pitchFamily="2" charset="-122"/>
              </a:rPr>
              <a:t>开始；</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最后一个分数的存储位置为</a:t>
            </a:r>
            <a:r>
              <a:rPr lang="en-US" altLang="zh-CN" dirty="0">
                <a:latin typeface="华文仿宋" panose="02010600040101010101" pitchFamily="2" charset="-122"/>
                <a:ea typeface="华文仿宋" panose="02010600040101010101" pitchFamily="2" charset="-122"/>
              </a:rPr>
              <a:t>x320F</a:t>
            </a: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你可以假设所有的分数相互之间</a:t>
            </a:r>
            <a:r>
              <a:rPr lang="zh-CN" altLang="en-US">
                <a:latin typeface="华文仿宋" panose="02010600040101010101" pitchFamily="2" charset="-122"/>
                <a:ea typeface="华文仿宋" panose="02010600040101010101" pitchFamily="2" charset="-122"/>
              </a:rPr>
              <a:t>不相同（每个分数是唯一的）</a:t>
            </a:r>
            <a:endParaRPr lang="en-US" altLang="zh-CN" dirty="0">
              <a:latin typeface="华文仿宋" panose="02010600040101010101" pitchFamily="2" charset="-122"/>
              <a:ea typeface="华文仿宋" panose="02010600040101010101" pitchFamily="2" charset="-122"/>
            </a:endParaRPr>
          </a:p>
        </p:txBody>
      </p:sp>
      <p:sp>
        <p:nvSpPr>
          <p:cNvPr id="3" name="标题 2"/>
          <p:cNvSpPr>
            <a:spLocks noGrp="1"/>
          </p:cNvSpPr>
          <p:nvPr>
            <p:ph type="title"/>
          </p:nvPr>
        </p:nvSpPr>
        <p:spPr/>
        <p:txBody>
          <a:bodyPr/>
          <a:lstStyle/>
          <a:p>
            <a:r>
              <a:rPr lang="zh-CN" altLang="en-US" dirty="0"/>
              <a:t> 实验要求</a:t>
            </a:r>
          </a:p>
        </p:txBody>
      </p:sp>
    </p:spTree>
    <p:extLst>
      <p:ext uri="{BB962C8B-B14F-4D97-AF65-F5344CB8AC3E}">
        <p14:creationId xmlns:p14="http://schemas.microsoft.com/office/powerpoint/2010/main" val="2659482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8"/>
            <a:ext cx="8435280" cy="4395944"/>
          </a:xfrm>
        </p:spPr>
        <p:txBody>
          <a:bodyPr>
            <a:normAutofit/>
          </a:bodyPr>
          <a:lstStyle/>
          <a:p>
            <a:pPr>
              <a:lnSpc>
                <a:spcPct val="150000"/>
              </a:lnSpc>
            </a:pPr>
            <a:r>
              <a:rPr lang="zh-CN" altLang="en-US" dirty="0">
                <a:latin typeface="华文仿宋" panose="02010600040101010101" pitchFamily="2" charset="-122"/>
                <a:ea typeface="华文仿宋" panose="02010600040101010101" pitchFamily="2" charset="-122"/>
              </a:rPr>
              <a:t>程序的输出</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你的程序必须有两个输出</a:t>
            </a:r>
            <a:r>
              <a:rPr lang="en-US" altLang="zh-CN" dirty="0">
                <a:latin typeface="华文仿宋" panose="02010600040101010101" pitchFamily="2" charset="-122"/>
                <a:ea typeface="华文仿宋" panose="02010600040101010101" pitchFamily="2" charset="-122"/>
              </a:rPr>
              <a:t>)</a:t>
            </a:r>
          </a:p>
          <a:p>
            <a:pPr marL="624078" indent="-514350">
              <a:lnSpc>
                <a:spcPct val="150000"/>
              </a:lnSpc>
              <a:buFont typeface="+mj-lt"/>
              <a:buAutoNum type="alphaLcPeriod"/>
            </a:pPr>
            <a:r>
              <a:rPr lang="en-US" altLang="zh-CN" dirty="0">
                <a:latin typeface="华文仿宋" panose="02010600040101010101" pitchFamily="2" charset="-122"/>
                <a:ea typeface="华文仿宋" panose="02010600040101010101" pitchFamily="2" charset="-122"/>
              </a:rPr>
              <a:t>16</a:t>
            </a:r>
            <a:r>
              <a:rPr lang="zh-CN" altLang="en-US" dirty="0">
                <a:latin typeface="华文仿宋" panose="02010600040101010101" pitchFamily="2" charset="-122"/>
                <a:ea typeface="华文仿宋" panose="02010600040101010101" pitchFamily="2" charset="-122"/>
              </a:rPr>
              <a:t>位学生的分数排序。分数必须按</a:t>
            </a:r>
            <a:r>
              <a:rPr lang="zh-CN" altLang="en-US" dirty="0">
                <a:solidFill>
                  <a:srgbClr val="FF0000"/>
                </a:solidFill>
                <a:latin typeface="华文仿宋" panose="02010600040101010101" pitchFamily="2" charset="-122"/>
                <a:ea typeface="华文仿宋" panose="02010600040101010101" pitchFamily="2" charset="-122"/>
              </a:rPr>
              <a:t>降序</a:t>
            </a:r>
            <a:r>
              <a:rPr lang="zh-CN" altLang="en-US" dirty="0">
                <a:latin typeface="华文仿宋" panose="02010600040101010101" pitchFamily="2" charset="-122"/>
                <a:ea typeface="华文仿宋" panose="02010600040101010101" pitchFamily="2" charset="-122"/>
              </a:rPr>
              <a:t>排序在连续的内存位置</a:t>
            </a:r>
            <a:r>
              <a:rPr lang="en-US" altLang="zh-CN" dirty="0">
                <a:latin typeface="华文仿宋" panose="02010600040101010101" pitchFamily="2" charset="-122"/>
                <a:ea typeface="华文仿宋" panose="02010600040101010101" pitchFamily="2" charset="-122"/>
              </a:rPr>
              <a:t>-</a:t>
            </a:r>
            <a:r>
              <a:rPr lang="zh-CN" altLang="en-US" dirty="0">
                <a:latin typeface="华文仿宋" panose="02010600040101010101" pitchFamily="2" charset="-122"/>
                <a:ea typeface="华文仿宋" panose="02010600040101010101" pitchFamily="2" charset="-122"/>
              </a:rPr>
              <a:t>每个内存地址一个分数，从</a:t>
            </a:r>
            <a:r>
              <a:rPr lang="en-US" altLang="zh-CN" dirty="0">
                <a:latin typeface="华文仿宋" panose="02010600040101010101" pitchFamily="2" charset="-122"/>
                <a:ea typeface="华文仿宋" panose="02010600040101010101" pitchFamily="2" charset="-122"/>
              </a:rPr>
              <a:t>x4000</a:t>
            </a:r>
            <a:r>
              <a:rPr lang="zh-CN" altLang="en-US" dirty="0">
                <a:latin typeface="华文仿宋" panose="02010600040101010101" pitchFamily="2" charset="-122"/>
                <a:ea typeface="华文仿宋" panose="02010600040101010101" pitchFamily="2" charset="-122"/>
              </a:rPr>
              <a:t>开始存储；即</a:t>
            </a:r>
            <a:r>
              <a:rPr lang="en-US" altLang="zh-CN" dirty="0">
                <a:latin typeface="华文仿宋" panose="02010600040101010101" pitchFamily="2" charset="-122"/>
                <a:ea typeface="华文仿宋" panose="02010600040101010101" pitchFamily="2" charset="-122"/>
              </a:rPr>
              <a:t>x4000</a:t>
            </a:r>
            <a:r>
              <a:rPr lang="zh-CN" altLang="en-US" dirty="0">
                <a:latin typeface="华文仿宋" panose="02010600040101010101" pitchFamily="2" charset="-122"/>
                <a:ea typeface="华文仿宋" panose="02010600040101010101" pitchFamily="2" charset="-122"/>
              </a:rPr>
              <a:t>存储的分数是最高的</a:t>
            </a:r>
            <a:endParaRPr lang="en-US" altLang="zh-CN" dirty="0">
              <a:latin typeface="华文仿宋" panose="02010600040101010101" pitchFamily="2" charset="-122"/>
              <a:ea typeface="华文仿宋" panose="02010600040101010101" pitchFamily="2" charset="-122"/>
            </a:endParaRPr>
          </a:p>
          <a:p>
            <a:pPr marL="624078" indent="-514350">
              <a:lnSpc>
                <a:spcPct val="150000"/>
              </a:lnSpc>
              <a:buFont typeface="+mj-lt"/>
              <a:buAutoNum type="alphaLcPeriod"/>
            </a:pPr>
            <a:r>
              <a:rPr lang="zh-CN" altLang="en-US" dirty="0">
                <a:latin typeface="华文仿宋" panose="02010600040101010101" pitchFamily="2" charset="-122"/>
                <a:ea typeface="华文仿宋" panose="02010600040101010101" pitchFamily="2" charset="-122"/>
              </a:rPr>
              <a:t>获得</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和</a:t>
            </a:r>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的学生的人数。获得</a:t>
            </a:r>
            <a:r>
              <a:rPr lang="en-US" altLang="zh-CN" dirty="0">
                <a:latin typeface="华文仿宋" panose="02010600040101010101" pitchFamily="2" charset="-122"/>
                <a:ea typeface="华文仿宋" panose="02010600040101010101" pitchFamily="2" charset="-122"/>
              </a:rPr>
              <a:t>A</a:t>
            </a:r>
            <a:r>
              <a:rPr lang="zh-CN" altLang="en-US" dirty="0">
                <a:latin typeface="华文仿宋" panose="02010600040101010101" pitchFamily="2" charset="-122"/>
                <a:ea typeface="华文仿宋" panose="02010600040101010101" pitchFamily="2" charset="-122"/>
              </a:rPr>
              <a:t>的学生人数必须存储在</a:t>
            </a:r>
            <a:r>
              <a:rPr lang="en-US" altLang="zh-CN" dirty="0">
                <a:latin typeface="华文仿宋" panose="02010600040101010101" pitchFamily="2" charset="-122"/>
                <a:ea typeface="华文仿宋" panose="02010600040101010101" pitchFamily="2" charset="-122"/>
              </a:rPr>
              <a:t>x4100</a:t>
            </a:r>
            <a:r>
              <a:rPr lang="zh-CN" altLang="en-US" dirty="0">
                <a:latin typeface="华文仿宋" panose="02010600040101010101" pitchFamily="2" charset="-122"/>
                <a:ea typeface="华文仿宋" panose="02010600040101010101" pitchFamily="2" charset="-122"/>
              </a:rPr>
              <a:t>，获得</a:t>
            </a:r>
            <a:r>
              <a:rPr lang="en-US" altLang="zh-CN" dirty="0">
                <a:latin typeface="华文仿宋" panose="02010600040101010101" pitchFamily="2" charset="-122"/>
                <a:ea typeface="华文仿宋" panose="02010600040101010101" pitchFamily="2" charset="-122"/>
              </a:rPr>
              <a:t>B</a:t>
            </a:r>
            <a:r>
              <a:rPr lang="zh-CN" altLang="en-US" dirty="0">
                <a:latin typeface="华文仿宋" panose="02010600040101010101" pitchFamily="2" charset="-122"/>
                <a:ea typeface="华文仿宋" panose="02010600040101010101" pitchFamily="2" charset="-122"/>
              </a:rPr>
              <a:t>的人数必须存储在</a:t>
            </a:r>
            <a:r>
              <a:rPr lang="en-US" altLang="zh-CN" dirty="0">
                <a:latin typeface="华文仿宋" panose="02010600040101010101" pitchFamily="2" charset="-122"/>
                <a:ea typeface="华文仿宋" panose="02010600040101010101" pitchFamily="2" charset="-122"/>
              </a:rPr>
              <a:t>x4101</a:t>
            </a:r>
          </a:p>
          <a:p>
            <a:pPr marL="109728" indent="0">
              <a:buNone/>
            </a:pPr>
            <a:r>
              <a:rPr lang="en-US" altLang="zh-CN" dirty="0"/>
              <a:t>   </a:t>
            </a:r>
            <a:endParaRPr lang="zh-CN" altLang="en-US" dirty="0"/>
          </a:p>
        </p:txBody>
      </p:sp>
      <p:sp>
        <p:nvSpPr>
          <p:cNvPr id="3" name="标题 2"/>
          <p:cNvSpPr>
            <a:spLocks noGrp="1"/>
          </p:cNvSpPr>
          <p:nvPr>
            <p:ph type="title"/>
          </p:nvPr>
        </p:nvSpPr>
        <p:spPr/>
        <p:txBody>
          <a:bodyPr/>
          <a:lstStyle/>
          <a:p>
            <a:r>
              <a:rPr lang="zh-CN" altLang="en-US" dirty="0"/>
              <a:t> 实验要求</a:t>
            </a:r>
          </a:p>
        </p:txBody>
      </p:sp>
    </p:spTree>
    <p:extLst>
      <p:ext uri="{BB962C8B-B14F-4D97-AF65-F5344CB8AC3E}">
        <p14:creationId xmlns:p14="http://schemas.microsoft.com/office/powerpoint/2010/main" val="437229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97768" y="1628800"/>
            <a:ext cx="8748464" cy="3315823"/>
          </a:xfrm>
        </p:spPr>
        <p:txBody>
          <a:bodyPr>
            <a:normAutofit/>
          </a:bodyPr>
          <a:lstStyle/>
          <a:p>
            <a:pPr>
              <a:lnSpc>
                <a:spcPct val="150000"/>
              </a:lnSpc>
            </a:pPr>
            <a:r>
              <a:rPr lang="zh-CN" altLang="en-US" dirty="0">
                <a:latin typeface="华文仿宋" panose="02010600040101010101" pitchFamily="2" charset="-122"/>
                <a:ea typeface="华文仿宋" panose="02010600040101010101" pitchFamily="2" charset="-122"/>
              </a:rPr>
              <a:t>注意：在提交程序之前测试你的程序，确保没有错误；且实验中没有相同的分数</a:t>
            </a:r>
            <a:endParaRPr lang="en-US" altLang="zh-CN" dirty="0">
              <a:latin typeface="华文仿宋" panose="02010600040101010101" pitchFamily="2" charset="-122"/>
              <a:ea typeface="华文仿宋" panose="02010600040101010101" pitchFamily="2" charset="-122"/>
            </a:endParaRPr>
          </a:p>
          <a:p>
            <a:endParaRPr lang="en-US" altLang="zh-CN" dirty="0">
              <a:latin typeface="华文仿宋" panose="02010600040101010101" pitchFamily="2" charset="-122"/>
              <a:ea typeface="华文仿宋" panose="02010600040101010101" pitchFamily="2" charset="-122"/>
            </a:endParaRPr>
          </a:p>
          <a:p>
            <a:r>
              <a:rPr lang="zh-CN" altLang="en-US" dirty="0">
                <a:latin typeface="华文仿宋" panose="02010600040101010101" pitchFamily="2" charset="-122"/>
                <a:ea typeface="华文仿宋" panose="02010600040101010101" pitchFamily="2" charset="-122"/>
              </a:rPr>
              <a:t>提交程序：你需要提交</a:t>
            </a:r>
            <a:r>
              <a:rPr lang="en-US" altLang="zh-CN" dirty="0">
                <a:latin typeface="华文仿宋" panose="02010600040101010101" pitchFamily="2" charset="-122"/>
                <a:ea typeface="华文仿宋" panose="02010600040101010101" pitchFamily="2" charset="-122"/>
              </a:rPr>
              <a:t>.</a:t>
            </a:r>
            <a:r>
              <a:rPr lang="en-US" altLang="zh-CN" dirty="0" err="1">
                <a:latin typeface="华文仿宋" panose="02010600040101010101" pitchFamily="2" charset="-122"/>
                <a:ea typeface="华文仿宋" panose="02010600040101010101" pitchFamily="2" charset="-122"/>
              </a:rPr>
              <a:t>asm</a:t>
            </a:r>
            <a:r>
              <a:rPr lang="zh-CN" altLang="en-US" dirty="0">
                <a:latin typeface="华文仿宋" panose="02010600040101010101" pitchFamily="2" charset="-122"/>
                <a:ea typeface="华文仿宋" panose="02010600040101010101" pitchFamily="2" charset="-122"/>
              </a:rPr>
              <a:t>文件和实验报告。</a:t>
            </a:r>
            <a:endParaRPr lang="en-US" altLang="zh-CN" dirty="0">
              <a:latin typeface="华文仿宋" panose="02010600040101010101" pitchFamily="2" charset="-122"/>
              <a:ea typeface="华文仿宋" panose="02010600040101010101" pitchFamily="2" charset="-122"/>
            </a:endParaRPr>
          </a:p>
          <a:p>
            <a:pPr marL="109728" indent="0">
              <a:buNone/>
            </a:pP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命名</a:t>
            </a:r>
            <a:r>
              <a:rPr lang="en-US" altLang="zh-CN" dirty="0">
                <a:latin typeface="华文仿宋" panose="02010600040101010101" pitchFamily="2" charset="-122"/>
                <a:ea typeface="华文仿宋" panose="02010600040101010101" pitchFamily="2" charset="-122"/>
              </a:rPr>
              <a:t>.</a:t>
            </a:r>
            <a:r>
              <a:rPr lang="en-US" altLang="zh-CN" dirty="0" err="1">
                <a:latin typeface="华文仿宋" panose="02010600040101010101" pitchFamily="2" charset="-122"/>
                <a:ea typeface="华文仿宋" panose="02010600040101010101" pitchFamily="2" charset="-122"/>
              </a:rPr>
              <a:t>asm</a:t>
            </a:r>
            <a:r>
              <a:rPr lang="zh-CN" altLang="en-US" dirty="0">
                <a:latin typeface="华文仿宋" panose="02010600040101010101" pitchFamily="2" charset="-122"/>
                <a:ea typeface="华文仿宋" panose="02010600040101010101" pitchFamily="2" charset="-122"/>
              </a:rPr>
              <a:t>文件为  </a:t>
            </a:r>
            <a:r>
              <a:rPr lang="en-US" altLang="zh-CN" dirty="0" err="1">
                <a:latin typeface="华文仿宋" panose="02010600040101010101" pitchFamily="2" charset="-122"/>
                <a:ea typeface="华文仿宋" panose="02010600040101010101" pitchFamily="2" charset="-122"/>
              </a:rPr>
              <a:t>LABn</a:t>
            </a:r>
            <a:r>
              <a:rPr lang="en-US" altLang="zh-CN" dirty="0">
                <a:latin typeface="华文仿宋" panose="02010600040101010101" pitchFamily="2" charset="-122"/>
                <a:ea typeface="华文仿宋" panose="02010600040101010101" pitchFamily="2" charset="-122"/>
              </a:rPr>
              <a:t>_</a:t>
            </a:r>
            <a:r>
              <a:rPr lang="zh-CN" altLang="en-US" dirty="0">
                <a:latin typeface="华文仿宋" panose="02010600040101010101" pitchFamily="2" charset="-122"/>
                <a:ea typeface="华文仿宋" panose="02010600040101010101" pitchFamily="2" charset="-122"/>
              </a:rPr>
              <a:t>学号</a:t>
            </a:r>
            <a:r>
              <a:rPr lang="en-US" altLang="zh-CN" dirty="0">
                <a:latin typeface="华文仿宋" panose="02010600040101010101" pitchFamily="2" charset="-122"/>
                <a:ea typeface="华文仿宋" panose="02010600040101010101" pitchFamily="2" charset="-122"/>
              </a:rPr>
              <a:t>.</a:t>
            </a:r>
            <a:r>
              <a:rPr lang="en-US" altLang="zh-CN" dirty="0" err="1">
                <a:latin typeface="华文仿宋" panose="02010600040101010101" pitchFamily="2" charset="-122"/>
                <a:ea typeface="华文仿宋" panose="02010600040101010101" pitchFamily="2" charset="-122"/>
              </a:rPr>
              <a:t>asm</a:t>
            </a: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a:t>
            </a:r>
            <a:endParaRPr lang="en-US" altLang="zh-CN" dirty="0">
              <a:latin typeface="华文仿宋" panose="02010600040101010101" pitchFamily="2" charset="-122"/>
              <a:ea typeface="华文仿宋" panose="02010600040101010101" pitchFamily="2" charset="-122"/>
            </a:endParaRPr>
          </a:p>
          <a:p>
            <a:pPr marL="109728" indent="0">
              <a:buNone/>
            </a:pPr>
            <a:r>
              <a:rPr lang="en-US" altLang="zh-CN" dirty="0">
                <a:latin typeface="华文仿宋" panose="02010600040101010101" pitchFamily="2" charset="-122"/>
                <a:ea typeface="华文仿宋" panose="02010600040101010101" pitchFamily="2" charset="-122"/>
              </a:rPr>
              <a:t>  </a:t>
            </a:r>
            <a:r>
              <a:rPr lang="zh-CN" altLang="en-US" dirty="0">
                <a:latin typeface="华文仿宋" panose="02010600040101010101" pitchFamily="2" charset="-122"/>
                <a:ea typeface="华文仿宋" panose="02010600040101010101" pitchFamily="2" charset="-122"/>
              </a:rPr>
              <a:t>实验报告命名为 学号</a:t>
            </a:r>
            <a:r>
              <a:rPr lang="en-US" altLang="zh-CN" dirty="0">
                <a:latin typeface="华文仿宋" panose="02010600040101010101" pitchFamily="2" charset="-122"/>
                <a:ea typeface="华文仿宋" panose="02010600040101010101" pitchFamily="2" charset="-122"/>
              </a:rPr>
              <a:t>_</a:t>
            </a:r>
            <a:r>
              <a:rPr lang="zh-CN" altLang="en-US" dirty="0">
                <a:latin typeface="华文仿宋" panose="02010600040101010101" pitchFamily="2" charset="-122"/>
                <a:ea typeface="华文仿宋" panose="02010600040101010101" pitchFamily="2" charset="-122"/>
              </a:rPr>
              <a:t>姓名</a:t>
            </a:r>
            <a:r>
              <a:rPr lang="en-US" altLang="zh-CN" dirty="0">
                <a:latin typeface="华文仿宋" panose="02010600040101010101" pitchFamily="2" charset="-122"/>
                <a:ea typeface="华文仿宋" panose="02010600040101010101" pitchFamily="2" charset="-122"/>
              </a:rPr>
              <a:t>_LABn.doc</a:t>
            </a:r>
            <a:endParaRPr lang="zh-CN" altLang="en-US" dirty="0">
              <a:latin typeface="华文仿宋" panose="02010600040101010101" pitchFamily="2" charset="-122"/>
              <a:ea typeface="华文仿宋" panose="02010600040101010101" pitchFamily="2" charset="-122"/>
            </a:endParaRPr>
          </a:p>
        </p:txBody>
      </p:sp>
      <p:sp>
        <p:nvSpPr>
          <p:cNvPr id="3" name="标题 2"/>
          <p:cNvSpPr>
            <a:spLocks noGrp="1"/>
          </p:cNvSpPr>
          <p:nvPr>
            <p:ph type="title"/>
          </p:nvPr>
        </p:nvSpPr>
        <p:spPr/>
        <p:txBody>
          <a:bodyPr/>
          <a:lstStyle/>
          <a:p>
            <a:r>
              <a:rPr lang="zh-CN" altLang="en-US" dirty="0"/>
              <a:t> 实验要求</a:t>
            </a:r>
          </a:p>
        </p:txBody>
      </p:sp>
    </p:spTree>
    <p:extLst>
      <p:ext uri="{BB962C8B-B14F-4D97-AF65-F5344CB8AC3E}">
        <p14:creationId xmlns:p14="http://schemas.microsoft.com/office/powerpoint/2010/main" val="3507071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05D55EB-48DC-4CDB-B9B8-DA3C853AFFBF}"/>
              </a:ext>
            </a:extLst>
          </p:cNvPr>
          <p:cNvSpPr>
            <a:spLocks noGrp="1"/>
          </p:cNvSpPr>
          <p:nvPr>
            <p:ph idx="1"/>
          </p:nvPr>
        </p:nvSpPr>
        <p:spPr/>
        <p:txBody>
          <a:bodyPr/>
          <a:lstStyle/>
          <a:p>
            <a:r>
              <a:rPr lang="zh-CN" altLang="zh-CN" dirty="0"/>
              <a:t>成绩需要手工输入</a:t>
            </a:r>
            <a:r>
              <a:rPr lang="zh-CN" altLang="en-US" dirty="0"/>
              <a:t>到内存</a:t>
            </a:r>
            <a:r>
              <a:rPr lang="zh-CN" altLang="zh-CN" dirty="0"/>
              <a:t>，不需要键盘输入。</a:t>
            </a:r>
            <a:endParaRPr lang="en-US" altLang="zh-CN" dirty="0"/>
          </a:p>
          <a:p>
            <a:pPr lvl="1"/>
            <a:r>
              <a:rPr lang="zh-CN" altLang="zh-CN" dirty="0"/>
              <a:t>简单输入方法，用十六进制编写一个</a:t>
            </a:r>
            <a:r>
              <a:rPr lang="en-US" altLang="zh-CN" dirty="0"/>
              <a:t>16</a:t>
            </a:r>
            <a:r>
              <a:rPr lang="zh-CN" altLang="zh-CN" dirty="0"/>
              <a:t>个成绩的文件，从</a:t>
            </a:r>
            <a:r>
              <a:rPr lang="en-US" altLang="zh-CN" dirty="0"/>
              <a:t>x3200</a:t>
            </a:r>
            <a:r>
              <a:rPr lang="zh-CN" altLang="zh-CN" dirty="0"/>
              <a:t>开始，然后编译导入即可。</a:t>
            </a:r>
            <a:endParaRPr lang="en-US" altLang="zh-CN" dirty="0"/>
          </a:p>
          <a:p>
            <a:r>
              <a:rPr lang="zh-CN" altLang="en-US" dirty="0"/>
              <a:t>用到的常数：</a:t>
            </a:r>
            <a:endParaRPr lang="en-US" altLang="zh-CN" dirty="0"/>
          </a:p>
          <a:p>
            <a:pPr lvl="1"/>
            <a:r>
              <a:rPr lang="en-US" altLang="zh-CN" dirty="0"/>
              <a:t>#100=X64</a:t>
            </a:r>
            <a:r>
              <a:rPr lang="zh-CN" altLang="en-US" dirty="0"/>
              <a:t>，</a:t>
            </a:r>
            <a:r>
              <a:rPr lang="en-US" altLang="zh-CN" dirty="0"/>
              <a:t>#85=X55</a:t>
            </a:r>
            <a:r>
              <a:rPr lang="zh-CN" altLang="en-US" dirty="0"/>
              <a:t>，</a:t>
            </a:r>
            <a:r>
              <a:rPr lang="en-US" altLang="zh-CN" dirty="0"/>
              <a:t>#75=X4B</a:t>
            </a:r>
          </a:p>
          <a:p>
            <a:pPr lvl="1"/>
            <a:r>
              <a:rPr lang="zh-CN" altLang="en-US" dirty="0"/>
              <a:t>初始化时最好使用负数</a:t>
            </a:r>
            <a:endParaRPr lang="en-US" altLang="zh-CN" dirty="0"/>
          </a:p>
          <a:p>
            <a:r>
              <a:rPr lang="zh-CN" altLang="en-US" dirty="0"/>
              <a:t>排序可使用任何排序算法</a:t>
            </a:r>
            <a:endParaRPr lang="en-US" altLang="zh-CN" dirty="0"/>
          </a:p>
          <a:p>
            <a:r>
              <a:rPr lang="zh-CN" altLang="en-US" dirty="0"/>
              <a:t>计算等级人数时，要满足所有条件</a:t>
            </a:r>
            <a:endParaRPr lang="en-US" altLang="zh-CN" dirty="0"/>
          </a:p>
          <a:p>
            <a:r>
              <a:rPr lang="zh-CN" altLang="en-US" dirty="0"/>
              <a:t>实验演示的时候，提供</a:t>
            </a:r>
            <a:r>
              <a:rPr lang="en-US" altLang="zh-CN" dirty="0"/>
              <a:t>3</a:t>
            </a:r>
            <a:r>
              <a:rPr lang="zh-CN" altLang="en-US" dirty="0"/>
              <a:t>种成绩（</a:t>
            </a:r>
            <a:r>
              <a:rPr lang="en-US" altLang="zh-CN" dirty="0"/>
              <a:t>3</a:t>
            </a:r>
            <a:r>
              <a:rPr lang="zh-CN" altLang="en-US" dirty="0"/>
              <a:t>个文件）方便检查。</a:t>
            </a:r>
            <a:endParaRPr lang="zh-CN" altLang="zh-CN" dirty="0"/>
          </a:p>
          <a:p>
            <a:endParaRPr lang="en-US" altLang="zh-CN" dirty="0"/>
          </a:p>
        </p:txBody>
      </p:sp>
      <p:sp>
        <p:nvSpPr>
          <p:cNvPr id="3" name="标题 2">
            <a:extLst>
              <a:ext uri="{FF2B5EF4-FFF2-40B4-BE49-F238E27FC236}">
                <a16:creationId xmlns:a16="http://schemas.microsoft.com/office/drawing/2014/main" id="{0E0E6C19-6A09-4577-971D-33E781DA8E7B}"/>
              </a:ext>
            </a:extLst>
          </p:cNvPr>
          <p:cNvSpPr>
            <a:spLocks noGrp="1"/>
          </p:cNvSpPr>
          <p:nvPr>
            <p:ph type="title"/>
          </p:nvPr>
        </p:nvSpPr>
        <p:spPr/>
        <p:txBody>
          <a:bodyPr/>
          <a:lstStyle/>
          <a:p>
            <a:r>
              <a:rPr lang="zh-CN" altLang="en-US" dirty="0"/>
              <a:t>注意事项</a:t>
            </a:r>
          </a:p>
        </p:txBody>
      </p:sp>
    </p:spTree>
    <p:extLst>
      <p:ext uri="{BB962C8B-B14F-4D97-AF65-F5344CB8AC3E}">
        <p14:creationId xmlns:p14="http://schemas.microsoft.com/office/powerpoint/2010/main" val="2925985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683568" y="2564904"/>
            <a:ext cx="8229600" cy="1143000"/>
          </a:xfrm>
        </p:spPr>
        <p:txBody>
          <a:bodyPr/>
          <a:lstStyle/>
          <a:p>
            <a:pPr algn="ctr"/>
            <a:r>
              <a:rPr lang="zh-CN" altLang="en-US" dirty="0"/>
              <a:t>谢谢！</a:t>
            </a:r>
          </a:p>
        </p:txBody>
      </p:sp>
    </p:spTree>
    <p:extLst>
      <p:ext uri="{BB962C8B-B14F-4D97-AF65-F5344CB8AC3E}">
        <p14:creationId xmlns:p14="http://schemas.microsoft.com/office/powerpoint/2010/main" val="6435496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1440</TotalTime>
  <Pages>0</Pages>
  <Words>543</Words>
  <Characters>0</Characters>
  <Application>Microsoft Office PowerPoint</Application>
  <DocSecurity>0</DocSecurity>
  <PresentationFormat>全屏显示(4:3)</PresentationFormat>
  <Lines>0</Lines>
  <Paragraphs>53</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华文仿宋</vt:lpstr>
      <vt:lpstr>Arial</vt:lpstr>
      <vt:lpstr>Calibri</vt:lpstr>
      <vt:lpstr>Lucida Sans Unicode</vt:lpstr>
      <vt:lpstr>Verdana</vt:lpstr>
      <vt:lpstr>Wingdings 2</vt:lpstr>
      <vt:lpstr>Wingdings 3</vt:lpstr>
      <vt:lpstr>Concourse</vt:lpstr>
      <vt:lpstr>计算机系统 I </vt:lpstr>
      <vt:lpstr>实验目的</vt:lpstr>
      <vt:lpstr>实验描述</vt:lpstr>
      <vt:lpstr>实验描述</vt:lpstr>
      <vt:lpstr>实验描述</vt:lpstr>
      <vt:lpstr> 实验要求</vt:lpstr>
      <vt:lpstr> 实验要求</vt:lpstr>
      <vt:lpstr> 实验要求</vt:lpstr>
      <vt:lpstr> 实验要求</vt:lpstr>
      <vt:lpstr>注意事项</vt:lpstr>
      <vt:lpstr>谢谢！</vt:lpstr>
    </vt:vector>
  </TitlesOfParts>
  <Company>USTC</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Introduction   An Hong han@ustc.edu.cn</dc:title>
  <dc:creator>hanhwt</dc:creator>
  <cp:lastModifiedBy>Li Zhi</cp:lastModifiedBy>
  <cp:revision>423</cp:revision>
  <cp:lastPrinted>1601-01-01T00:00:00Z</cp:lastPrinted>
  <dcterms:created xsi:type="dcterms:W3CDTF">2012-09-03T16:09:03Z</dcterms:created>
  <dcterms:modified xsi:type="dcterms:W3CDTF">2021-05-04T09:54:04Z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2052-8.1.0.2998</vt:lpwstr>
  </property>
</Properties>
</file>