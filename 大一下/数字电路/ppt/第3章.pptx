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tmp" ContentType="image/png"/>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536" r:id="rId92"/>
    <p:sldId id="348" r:id="rId93"/>
    <p:sldId id="349" r:id="rId94"/>
    <p:sldId id="350" r:id="rId95"/>
    <p:sldId id="351" r:id="rId96"/>
    <p:sldId id="352" r:id="rId97"/>
    <p:sldId id="353" r:id="rId98"/>
    <p:sldId id="354" r:id="rId99"/>
    <p:sldId id="355" r:id="rId100"/>
    <p:sldId id="356" r:id="rId101"/>
    <p:sldId id="357" r:id="rId102"/>
    <p:sldId id="358" r:id="rId103"/>
    <p:sldId id="359" r:id="rId104"/>
    <p:sldId id="360" r:id="rId105"/>
    <p:sldId id="361" r:id="rId106"/>
    <p:sldId id="362" r:id="rId107"/>
    <p:sldId id="363" r:id="rId108"/>
    <p:sldId id="364" r:id="rId109"/>
    <p:sldId id="365" r:id="rId110"/>
    <p:sldId id="366" r:id="rId111"/>
    <p:sldId id="367" r:id="rId112"/>
    <p:sldId id="368" r:id="rId113"/>
    <p:sldId id="369" r:id="rId114"/>
    <p:sldId id="370" r:id="rId115"/>
    <p:sldId id="371" r:id="rId116"/>
    <p:sldId id="372" r:id="rId117"/>
    <p:sldId id="373" r:id="rId118"/>
    <p:sldId id="374" r:id="rId119"/>
    <p:sldId id="375" r:id="rId120"/>
    <p:sldId id="538" r:id="rId121"/>
    <p:sldId id="539" r:id="rId122"/>
    <p:sldId id="540" r:id="rId123"/>
    <p:sldId id="541" r:id="rId124"/>
    <p:sldId id="376" r:id="rId125"/>
    <p:sldId id="379" r:id="rId126"/>
    <p:sldId id="378" r:id="rId127"/>
    <p:sldId id="377" r:id="rId128"/>
    <p:sldId id="381" r:id="rId129"/>
    <p:sldId id="380" r:id="rId130"/>
    <p:sldId id="544" r:id="rId131"/>
    <p:sldId id="545" r:id="rId132"/>
    <p:sldId id="546" r:id="rId133"/>
    <p:sldId id="547" r:id="rId134"/>
    <p:sldId id="382" r:id="rId135"/>
    <p:sldId id="383" r:id="rId136"/>
    <p:sldId id="347" r:id="rId137"/>
    <p:sldId id="384" r:id="rId138"/>
    <p:sldId id="385" r:id="rId139"/>
    <p:sldId id="386" r:id="rId140"/>
    <p:sldId id="387" r:id="rId141"/>
    <p:sldId id="388" r:id="rId142"/>
    <p:sldId id="389" r:id="rId143"/>
    <p:sldId id="390" r:id="rId144"/>
    <p:sldId id="391" r:id="rId145"/>
    <p:sldId id="392" r:id="rId146"/>
    <p:sldId id="393" r:id="rId147"/>
    <p:sldId id="394" r:id="rId148"/>
    <p:sldId id="395" r:id="rId149"/>
    <p:sldId id="396" r:id="rId150"/>
    <p:sldId id="397" r:id="rId151"/>
    <p:sldId id="398" r:id="rId152"/>
    <p:sldId id="399" r:id="rId153"/>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charset="-122"/>
        <a:cs typeface="+mn-cs"/>
      </a:defRPr>
    </a:lvl5pPr>
    <a:lvl6pPr marL="2286000" algn="l" defTabSz="914400" rtl="0" eaLnBrk="1" latinLnBrk="0" hangingPunct="1">
      <a:defRPr kumimoji="1" sz="2400" kern="1200">
        <a:solidFill>
          <a:schemeClr val="tx1"/>
        </a:solidFill>
        <a:latin typeface="Times New Roman" pitchFamily="18" charset="0"/>
        <a:ea typeface="宋体" charset="-122"/>
        <a:cs typeface="+mn-cs"/>
      </a:defRPr>
    </a:lvl6pPr>
    <a:lvl7pPr marL="2743200" algn="l" defTabSz="914400" rtl="0" eaLnBrk="1" latinLnBrk="0" hangingPunct="1">
      <a:defRPr kumimoji="1" sz="2400" kern="1200">
        <a:solidFill>
          <a:schemeClr val="tx1"/>
        </a:solidFill>
        <a:latin typeface="Times New Roman" pitchFamily="18" charset="0"/>
        <a:ea typeface="宋体" charset="-122"/>
        <a:cs typeface="+mn-cs"/>
      </a:defRPr>
    </a:lvl7pPr>
    <a:lvl8pPr marL="3200400" algn="l" defTabSz="914400" rtl="0" eaLnBrk="1" latinLnBrk="0" hangingPunct="1">
      <a:defRPr kumimoji="1" sz="2400" kern="1200">
        <a:solidFill>
          <a:schemeClr val="tx1"/>
        </a:solidFill>
        <a:latin typeface="Times New Roman" pitchFamily="18" charset="0"/>
        <a:ea typeface="宋体" charset="-122"/>
        <a:cs typeface="+mn-cs"/>
      </a:defRPr>
    </a:lvl8pPr>
    <a:lvl9pPr marL="3657600" algn="l" defTabSz="914400" rtl="0" eaLnBrk="1" latinLnBrk="0" hangingPunct="1">
      <a:defRPr kumimoji="1" sz="2400" kern="1200">
        <a:solidFill>
          <a:schemeClr val="tx1"/>
        </a:solidFill>
        <a:latin typeface="Times New Roman" pitchFamily="18"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818" autoAdjust="0"/>
    <p:restoredTop sz="94660"/>
  </p:normalViewPr>
  <p:slideViewPr>
    <p:cSldViewPr>
      <p:cViewPr varScale="1">
        <p:scale>
          <a:sx n="94" d="100"/>
          <a:sy n="94" d="100"/>
        </p:scale>
        <p:origin x="1132"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presProps" Target="pres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8.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55558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3" name="页脚占位符 2"/>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extLst>
      <p:ext uri="{BB962C8B-B14F-4D97-AF65-F5344CB8AC3E}">
        <p14:creationId xmlns:p14="http://schemas.microsoft.com/office/powerpoint/2010/main" val="15772318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7" Type="http://schemas.openxmlformats.org/officeDocument/2006/relationships/image" Target="../media/image4.gi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gif"/><Relationship Id="rId5" Type="http://schemas.openxmlformats.org/officeDocument/2006/relationships/image" Target="../media/image2.jpeg"/><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71500" y="533400"/>
            <a:ext cx="8115300"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单击此处编辑母版标题样式</a:t>
            </a:r>
          </a:p>
        </p:txBody>
      </p:sp>
      <p:sp>
        <p:nvSpPr>
          <p:cNvPr id="1027" name="Rectangle 3"/>
          <p:cNvSpPr>
            <a:spLocks noGrp="1" noChangeArrowheads="1"/>
          </p:cNvSpPr>
          <p:nvPr>
            <p:ph type="body" idx="1"/>
          </p:nvPr>
        </p:nvSpPr>
        <p:spPr bwMode="auto">
          <a:xfrm>
            <a:off x="0" y="5733256"/>
            <a:ext cx="9144000" cy="438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endParaRPr lang="zh-CN" altLang="zh-CN" dirty="0"/>
          </a:p>
        </p:txBody>
      </p:sp>
      <p:pic>
        <p:nvPicPr>
          <p:cNvPr id="1031" name="Picture 7" descr="BJ2048"/>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5867400"/>
            <a:ext cx="9144000" cy="9906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J2095"/>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8229600" y="0"/>
            <a:ext cx="914400" cy="685800"/>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GIF-396"/>
          <p:cNvPicPr>
            <a:picLocks noChangeAspect="1" noChangeArrowheads="1" noCrop="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2438" y="479425"/>
            <a:ext cx="3759200" cy="6985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GIF-450"/>
          <p:cNvPicPr>
            <a:picLocks noChangeAspect="1" noChangeArrowheads="1" noCrop="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0" y="0"/>
            <a:ext cx="609600" cy="454025"/>
          </a:xfrm>
          <a:prstGeom prst="rect">
            <a:avLst/>
          </a:prstGeom>
          <a:noFill/>
          <a:extLst>
            <a:ext uri="{909E8E84-426E-40DD-AFC4-6F175D3DCCD1}">
              <a14:hiddenFill xmlns:a14="http://schemas.microsoft.com/office/drawing/2010/main">
                <a:solidFill>
                  <a:srgbClr val="FFFFFF"/>
                </a:solidFill>
              </a14:hiddenFill>
            </a:ext>
          </a:extLst>
        </p:spPr>
      </p:pic>
      <p:sp>
        <p:nvSpPr>
          <p:cNvPr id="1035" name="Text Box 11"/>
          <p:cNvSpPr txBox="1">
            <a:spLocks noChangeArrowheads="1"/>
          </p:cNvSpPr>
          <p:nvPr userDrawn="1"/>
        </p:nvSpPr>
        <p:spPr bwMode="auto">
          <a:xfrm>
            <a:off x="910100" y="52685"/>
            <a:ext cx="73661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dirty="0">
                <a:latin typeface="华文行楷" pitchFamily="2" charset="-122"/>
                <a:ea typeface="华文行楷" pitchFamily="2" charset="-122"/>
              </a:rPr>
              <a:t>第</a:t>
            </a:r>
            <a:r>
              <a:rPr lang="en-US" altLang="zh-CN" dirty="0">
                <a:latin typeface="华文行楷" pitchFamily="2" charset="-122"/>
                <a:ea typeface="华文行楷" pitchFamily="2" charset="-122"/>
              </a:rPr>
              <a:t>3</a:t>
            </a:r>
            <a:r>
              <a:rPr lang="zh-CN" altLang="en-US" dirty="0">
                <a:latin typeface="华文行楷" pitchFamily="2" charset="-122"/>
                <a:ea typeface="华文行楷" pitchFamily="2" charset="-122"/>
              </a:rPr>
              <a:t>章  常用组合逻辑电路及 </a:t>
            </a:r>
            <a:r>
              <a:rPr lang="en-US" altLang="zh-CN" dirty="0">
                <a:latin typeface="华文行楷" pitchFamily="2" charset="-122"/>
                <a:ea typeface="华文行楷" pitchFamily="2" charset="-122"/>
              </a:rPr>
              <a:t>MSI </a:t>
            </a:r>
            <a:r>
              <a:rPr lang="zh-CN" altLang="en-US" dirty="0">
                <a:latin typeface="华文行楷" pitchFamily="2" charset="-122"/>
                <a:ea typeface="华文行楷" pitchFamily="2" charset="-122"/>
              </a:rPr>
              <a:t>组合电路模块的应用</a:t>
            </a: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Lst>
  <p:txStyles>
    <p:titleStyle>
      <a:lvl1pPr algn="l" rtl="0" fontAlgn="base">
        <a:lnSpc>
          <a:spcPct val="130000"/>
        </a:lnSpc>
        <a:spcBef>
          <a:spcPct val="0"/>
        </a:spcBef>
        <a:spcAft>
          <a:spcPct val="0"/>
        </a:spcAft>
        <a:defRPr kumimoji="1" sz="2400">
          <a:solidFill>
            <a:schemeClr val="tx2"/>
          </a:solidFill>
          <a:latin typeface="+mj-lt"/>
          <a:ea typeface="+mj-ea"/>
          <a:cs typeface="+mj-cs"/>
        </a:defRPr>
      </a:lvl1pPr>
      <a:lvl2pPr algn="l" rtl="0" fontAlgn="base">
        <a:lnSpc>
          <a:spcPct val="130000"/>
        </a:lnSpc>
        <a:spcBef>
          <a:spcPct val="0"/>
        </a:spcBef>
        <a:spcAft>
          <a:spcPct val="0"/>
        </a:spcAft>
        <a:defRPr kumimoji="1" sz="2400">
          <a:solidFill>
            <a:schemeClr val="tx2"/>
          </a:solidFill>
          <a:latin typeface="Times New Roman" pitchFamily="18" charset="0"/>
          <a:ea typeface="宋体" charset="-122"/>
        </a:defRPr>
      </a:lvl2pPr>
      <a:lvl3pPr algn="l" rtl="0" fontAlgn="base">
        <a:lnSpc>
          <a:spcPct val="130000"/>
        </a:lnSpc>
        <a:spcBef>
          <a:spcPct val="0"/>
        </a:spcBef>
        <a:spcAft>
          <a:spcPct val="0"/>
        </a:spcAft>
        <a:defRPr kumimoji="1" sz="2400">
          <a:solidFill>
            <a:schemeClr val="tx2"/>
          </a:solidFill>
          <a:latin typeface="Times New Roman" pitchFamily="18" charset="0"/>
          <a:ea typeface="宋体" charset="-122"/>
        </a:defRPr>
      </a:lvl3pPr>
      <a:lvl4pPr algn="l" rtl="0" fontAlgn="base">
        <a:lnSpc>
          <a:spcPct val="130000"/>
        </a:lnSpc>
        <a:spcBef>
          <a:spcPct val="0"/>
        </a:spcBef>
        <a:spcAft>
          <a:spcPct val="0"/>
        </a:spcAft>
        <a:defRPr kumimoji="1" sz="2400">
          <a:solidFill>
            <a:schemeClr val="tx2"/>
          </a:solidFill>
          <a:latin typeface="Times New Roman" pitchFamily="18" charset="0"/>
          <a:ea typeface="宋体" charset="-122"/>
        </a:defRPr>
      </a:lvl4pPr>
      <a:lvl5pPr algn="l" rtl="0" fontAlgn="base">
        <a:lnSpc>
          <a:spcPct val="130000"/>
        </a:lnSpc>
        <a:spcBef>
          <a:spcPct val="0"/>
        </a:spcBef>
        <a:spcAft>
          <a:spcPct val="0"/>
        </a:spcAft>
        <a:defRPr kumimoji="1" sz="2400">
          <a:solidFill>
            <a:schemeClr val="tx2"/>
          </a:solidFill>
          <a:latin typeface="Times New Roman" pitchFamily="18" charset="0"/>
          <a:ea typeface="宋体" charset="-122"/>
        </a:defRPr>
      </a:lvl5pPr>
      <a:lvl6pPr marL="457200" algn="l" rtl="0" fontAlgn="base">
        <a:lnSpc>
          <a:spcPct val="130000"/>
        </a:lnSpc>
        <a:spcBef>
          <a:spcPct val="0"/>
        </a:spcBef>
        <a:spcAft>
          <a:spcPct val="0"/>
        </a:spcAft>
        <a:defRPr kumimoji="1" sz="2400">
          <a:solidFill>
            <a:schemeClr val="tx2"/>
          </a:solidFill>
          <a:latin typeface="Times New Roman" pitchFamily="18" charset="0"/>
          <a:ea typeface="宋体" charset="-122"/>
        </a:defRPr>
      </a:lvl6pPr>
      <a:lvl7pPr marL="914400" algn="l" rtl="0" fontAlgn="base">
        <a:lnSpc>
          <a:spcPct val="130000"/>
        </a:lnSpc>
        <a:spcBef>
          <a:spcPct val="0"/>
        </a:spcBef>
        <a:spcAft>
          <a:spcPct val="0"/>
        </a:spcAft>
        <a:defRPr kumimoji="1" sz="2400">
          <a:solidFill>
            <a:schemeClr val="tx2"/>
          </a:solidFill>
          <a:latin typeface="Times New Roman" pitchFamily="18" charset="0"/>
          <a:ea typeface="宋体" charset="-122"/>
        </a:defRPr>
      </a:lvl7pPr>
      <a:lvl8pPr marL="1371600" algn="l" rtl="0" fontAlgn="base">
        <a:lnSpc>
          <a:spcPct val="130000"/>
        </a:lnSpc>
        <a:spcBef>
          <a:spcPct val="0"/>
        </a:spcBef>
        <a:spcAft>
          <a:spcPct val="0"/>
        </a:spcAft>
        <a:defRPr kumimoji="1" sz="2400">
          <a:solidFill>
            <a:schemeClr val="tx2"/>
          </a:solidFill>
          <a:latin typeface="Times New Roman" pitchFamily="18" charset="0"/>
          <a:ea typeface="宋体" charset="-122"/>
        </a:defRPr>
      </a:lvl8pPr>
      <a:lvl9pPr marL="1828800" algn="l" rtl="0" fontAlgn="base">
        <a:lnSpc>
          <a:spcPct val="130000"/>
        </a:lnSpc>
        <a:spcBef>
          <a:spcPct val="0"/>
        </a:spcBef>
        <a:spcAft>
          <a:spcPct val="0"/>
        </a:spcAft>
        <a:defRPr kumimoji="1" sz="2400">
          <a:solidFill>
            <a:schemeClr val="tx2"/>
          </a:solidFill>
          <a:latin typeface="Times New Roman" pitchFamily="18" charset="0"/>
          <a:ea typeface="宋体" charset="-122"/>
        </a:defRPr>
      </a:lvl9pPr>
    </p:titleStyle>
    <p:bodyStyle>
      <a:lvl1pPr marL="342900" indent="-342900" algn="ctr" rtl="0" fontAlgn="base">
        <a:lnSpc>
          <a:spcPct val="130000"/>
        </a:lnSpc>
        <a:spcBef>
          <a:spcPct val="20000"/>
        </a:spcBef>
        <a:spcAft>
          <a:spcPct val="0"/>
        </a:spcAft>
        <a:defRPr kumimoji="1" sz="2000">
          <a:solidFill>
            <a:schemeClr val="tx1"/>
          </a:solidFill>
          <a:latin typeface="+mn-lt"/>
          <a:ea typeface="+mn-ea"/>
          <a:cs typeface="+mn-cs"/>
        </a:defRPr>
      </a:lvl1pPr>
      <a:lvl2pPr marL="742950" indent="-285750" algn="l" rtl="0" fontAlgn="base">
        <a:lnSpc>
          <a:spcPct val="130000"/>
        </a:lnSpc>
        <a:spcBef>
          <a:spcPct val="20000"/>
        </a:spcBef>
        <a:spcAft>
          <a:spcPct val="0"/>
        </a:spcAft>
        <a:defRPr kumimoji="1" sz="2400">
          <a:solidFill>
            <a:schemeClr val="tx1"/>
          </a:solidFill>
          <a:latin typeface="+mn-lt"/>
          <a:ea typeface="+mn-ea"/>
        </a:defRPr>
      </a:lvl2pPr>
      <a:lvl3pPr marL="1143000" indent="-228600" algn="l" rtl="0" fontAlgn="base">
        <a:lnSpc>
          <a:spcPct val="130000"/>
        </a:lnSpc>
        <a:spcBef>
          <a:spcPct val="20000"/>
        </a:spcBef>
        <a:spcAft>
          <a:spcPct val="0"/>
        </a:spcAft>
        <a:defRPr kumimoji="1" sz="2400">
          <a:solidFill>
            <a:schemeClr val="tx1"/>
          </a:solidFill>
          <a:latin typeface="+mn-lt"/>
          <a:ea typeface="+mn-ea"/>
        </a:defRPr>
      </a:lvl3pPr>
      <a:lvl4pPr marL="1600200" indent="-228600" algn="l" rtl="0" fontAlgn="base">
        <a:lnSpc>
          <a:spcPct val="130000"/>
        </a:lnSpc>
        <a:spcBef>
          <a:spcPct val="20000"/>
        </a:spcBef>
        <a:spcAft>
          <a:spcPct val="0"/>
        </a:spcAft>
        <a:defRPr kumimoji="1" sz="2400">
          <a:solidFill>
            <a:schemeClr val="tx1"/>
          </a:solidFill>
          <a:latin typeface="+mn-lt"/>
          <a:ea typeface="+mn-ea"/>
        </a:defRPr>
      </a:lvl4pPr>
      <a:lvl5pPr marL="2057400" indent="-228600" algn="l" rtl="0" fontAlgn="base">
        <a:lnSpc>
          <a:spcPct val="130000"/>
        </a:lnSpc>
        <a:spcBef>
          <a:spcPct val="20000"/>
        </a:spcBef>
        <a:spcAft>
          <a:spcPct val="0"/>
        </a:spcAft>
        <a:defRPr kumimoji="1" sz="2400">
          <a:solidFill>
            <a:schemeClr val="tx1"/>
          </a:solidFill>
          <a:latin typeface="+mn-lt"/>
          <a:ea typeface="+mn-ea"/>
        </a:defRPr>
      </a:lvl5pPr>
      <a:lvl6pPr marL="2514600" indent="-228600" algn="l" rtl="0" fontAlgn="base">
        <a:lnSpc>
          <a:spcPct val="130000"/>
        </a:lnSpc>
        <a:spcBef>
          <a:spcPct val="20000"/>
        </a:spcBef>
        <a:spcAft>
          <a:spcPct val="0"/>
        </a:spcAft>
        <a:defRPr kumimoji="1" sz="2400">
          <a:solidFill>
            <a:schemeClr val="tx1"/>
          </a:solidFill>
          <a:latin typeface="+mn-lt"/>
          <a:ea typeface="+mn-ea"/>
        </a:defRPr>
      </a:lvl6pPr>
      <a:lvl7pPr marL="2971800" indent="-228600" algn="l" rtl="0" fontAlgn="base">
        <a:lnSpc>
          <a:spcPct val="130000"/>
        </a:lnSpc>
        <a:spcBef>
          <a:spcPct val="20000"/>
        </a:spcBef>
        <a:spcAft>
          <a:spcPct val="0"/>
        </a:spcAft>
        <a:defRPr kumimoji="1" sz="2400">
          <a:solidFill>
            <a:schemeClr val="tx1"/>
          </a:solidFill>
          <a:latin typeface="+mn-lt"/>
          <a:ea typeface="+mn-ea"/>
        </a:defRPr>
      </a:lvl7pPr>
      <a:lvl8pPr marL="3429000" indent="-228600" algn="l" rtl="0" fontAlgn="base">
        <a:lnSpc>
          <a:spcPct val="130000"/>
        </a:lnSpc>
        <a:spcBef>
          <a:spcPct val="20000"/>
        </a:spcBef>
        <a:spcAft>
          <a:spcPct val="0"/>
        </a:spcAft>
        <a:defRPr kumimoji="1" sz="2400">
          <a:solidFill>
            <a:schemeClr val="tx1"/>
          </a:solidFill>
          <a:latin typeface="+mn-lt"/>
          <a:ea typeface="+mn-ea"/>
        </a:defRPr>
      </a:lvl8pPr>
      <a:lvl9pPr marL="3886200" indent="-228600" algn="l" rtl="0" fontAlgn="base">
        <a:lnSpc>
          <a:spcPct val="130000"/>
        </a:lnSpc>
        <a:spcBef>
          <a:spcPct val="20000"/>
        </a:spcBef>
        <a:spcAft>
          <a:spcPct val="0"/>
        </a:spcAft>
        <a:defRPr kumimoji="1" sz="2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59.xml"/><Relationship Id="rId7" Type="http://schemas.openxmlformats.org/officeDocument/2006/relationships/image" Target="../media/image5.gif"/><Relationship Id="rId2" Type="http://schemas.openxmlformats.org/officeDocument/2006/relationships/slide" Target="slide3.xml"/><Relationship Id="rId1" Type="http://schemas.openxmlformats.org/officeDocument/2006/relationships/slideLayout" Target="../slideLayouts/slideLayout1.xml"/><Relationship Id="rId6" Type="http://schemas.openxmlformats.org/officeDocument/2006/relationships/hyperlink" Target="&#23553;&#38754;&#21450;&#30446;&#24405;.pptx#-1,2,PowerPoint &#28436;&#31034;&#25991;&#31295;" TargetMode="External"/><Relationship Id="rId5" Type="http://schemas.openxmlformats.org/officeDocument/2006/relationships/slide" Target="slide137.xml"/><Relationship Id="rId4" Type="http://schemas.openxmlformats.org/officeDocument/2006/relationships/slide" Target="slide9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7.tmp"/><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8.tmp"/><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2.tmp"/><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3.tmp"/><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4.tmp"/><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5.tmp"/><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6.tmp"/><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7.tmp"/><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8.tmp"/><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9.tmp"/><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1.tmp"/><Relationship Id="rId2" Type="http://schemas.openxmlformats.org/officeDocument/2006/relationships/image" Target="../media/image30.tmp"/><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2.tmp"/><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33.tmp"/><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4.tmp"/><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6.tmp"/><Relationship Id="rId2" Type="http://schemas.openxmlformats.org/officeDocument/2006/relationships/image" Target="../media/image35.tmp"/><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37.tmp"/><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38.tmp"/><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39.tmp"/><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40.tmp"/><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41.tmp"/><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42.tmp"/><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43.tmp"/><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44.tmp"/><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45.tmp"/><Relationship Id="rId2" Type="http://schemas.openxmlformats.org/officeDocument/2006/relationships/image" Target="../media/image50.png"/><Relationship Id="rId1" Type="http://schemas.openxmlformats.org/officeDocument/2006/relationships/slideLayout" Target="../slideLayouts/slideLayout1.xml"/><Relationship Id="rId4" Type="http://schemas.openxmlformats.org/officeDocument/2006/relationships/image" Target="../media/image46.tmp"/></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47.tmp"/><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48.tmp"/><Relationship Id="rId1" Type="http://schemas.openxmlformats.org/officeDocument/2006/relationships/slideLayout" Target="../slideLayouts/slideLayout1.xml"/><Relationship Id="rId4" Type="http://schemas.openxmlformats.org/officeDocument/2006/relationships/image" Target="../media/image49.gi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50.tmp"/><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51.tmp"/><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52.tmp"/><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53.tmp"/><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54.tmp"/><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55.tmp"/><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56.tmp"/><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57.tmp"/><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58.tmp"/><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60.tmp"/><Relationship Id="rId2" Type="http://schemas.openxmlformats.org/officeDocument/2006/relationships/image" Target="../media/image59.tmp"/><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61.tmp"/><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62.tmp"/><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63.tmp"/><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64.tmp"/><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65.tmp"/><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66.tmp"/><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67.tmp"/><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68.tmp"/><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69.tmp"/><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70.tmp"/><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71.tmp"/><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72.tmp"/><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73.tmp"/><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74.tmp"/><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75.tmp"/><Relationship Id="rId1" Type="http://schemas.openxmlformats.org/officeDocument/2006/relationships/slideLayout" Target="../slideLayouts/slideLayout1.xml"/><Relationship Id="rId4" Type="http://schemas.openxmlformats.org/officeDocument/2006/relationships/image" Target="../media/image49.gif"/></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image" Target="../media/image76.tmp"/><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78.tmp"/><Relationship Id="rId2" Type="http://schemas.openxmlformats.org/officeDocument/2006/relationships/image" Target="../media/image77.tmp"/><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image" Target="../media/image79.tmp"/><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image" Target="../media/image80.tmp"/><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81.tmp"/><Relationship Id="rId2" Type="http://schemas.openxmlformats.org/officeDocument/2006/relationships/image" Target="../media/image88.pn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image" Target="../media/image82.tmp"/><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image" Target="../media/image83.tmp"/><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image" Target="../media/image84.tmp"/><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3" Type="http://schemas.openxmlformats.org/officeDocument/2006/relationships/image" Target="../media/image86.tmp"/><Relationship Id="rId2" Type="http://schemas.openxmlformats.org/officeDocument/2006/relationships/image" Target="../media/image85.tmp"/><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image" Target="../media/image87.tmp"/><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image" Target="../media/image88.tmp"/><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image" Target="../media/image89.tmp"/><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3" Type="http://schemas.openxmlformats.org/officeDocument/2006/relationships/image" Target="../media/image91.tmp"/><Relationship Id="rId2" Type="http://schemas.openxmlformats.org/officeDocument/2006/relationships/image" Target="../media/image90.tmp"/><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3" Type="http://schemas.openxmlformats.org/officeDocument/2006/relationships/image" Target="../media/image93.tmp"/><Relationship Id="rId2" Type="http://schemas.openxmlformats.org/officeDocument/2006/relationships/image" Target="../media/image92.tmp"/><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3" Type="http://schemas.openxmlformats.org/officeDocument/2006/relationships/image" Target="../media/image92.tmp"/><Relationship Id="rId2" Type="http://schemas.openxmlformats.org/officeDocument/2006/relationships/image" Target="../media/image94.tmp"/><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3" Type="http://schemas.openxmlformats.org/officeDocument/2006/relationships/image" Target="../media/image96.tmp"/><Relationship Id="rId2" Type="http://schemas.openxmlformats.org/officeDocument/2006/relationships/image" Target="../media/image95.tmp"/><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97.wmf"/></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98.wmf"/></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image" Target="../media/image99.tmp"/><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3" Type="http://schemas.openxmlformats.org/officeDocument/2006/relationships/image" Target="../media/image101.tmp"/><Relationship Id="rId2" Type="http://schemas.openxmlformats.org/officeDocument/2006/relationships/image" Target="../media/image100.tmp"/><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image" Target="../media/image102.tmp"/><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image" Target="../media/image103.tmp"/><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image" Target="../media/image43.tmp"/><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image" Target="../media/image44.tmp"/><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3" Type="http://schemas.openxmlformats.org/officeDocument/2006/relationships/image" Target="../media/image45.tmp"/><Relationship Id="rId2" Type="http://schemas.openxmlformats.org/officeDocument/2006/relationships/image" Target="../media/image50.png"/><Relationship Id="rId1" Type="http://schemas.openxmlformats.org/officeDocument/2006/relationships/slideLayout" Target="../slideLayouts/slideLayout1.xml"/><Relationship Id="rId4" Type="http://schemas.openxmlformats.org/officeDocument/2006/relationships/image" Target="../media/image46.tmp"/></Relationships>
</file>

<file path=ppt/slides/_rels/slide134.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104.tmp"/><Relationship Id="rId1" Type="http://schemas.openxmlformats.org/officeDocument/2006/relationships/slideLayout" Target="../slideLayouts/slideLayout1.xml"/><Relationship Id="rId4" Type="http://schemas.openxmlformats.org/officeDocument/2006/relationships/image" Target="../media/image49.gif"/></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06.tmp"/><Relationship Id="rId2" Type="http://schemas.openxmlformats.org/officeDocument/2006/relationships/image" Target="../media/image105.tmp"/><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image" Target="../media/image107.tmp"/><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image" Target="../media/image108.tmp"/><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image" Target="../media/image109.tmp"/><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image" Target="../media/image110.tmp"/><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image" Target="../media/image111.tmp"/><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image" Target="../media/image112.tmp"/><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image" Target="../media/image113.tmp"/><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image" Target="../media/image114.tmp"/><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image" Target="../media/image115.tmp"/><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image" Target="../media/image116.tmp"/><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image" Target="../media/image117.tmp"/><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118.tmp"/><Relationship Id="rId1" Type="http://schemas.openxmlformats.org/officeDocument/2006/relationships/slideLayout" Target="../slideLayouts/slideLayout1.xml"/><Relationship Id="rId4" Type="http://schemas.openxmlformats.org/officeDocument/2006/relationships/image" Target="../media/image49.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p:cNvSpPr>
            <a:spLocks noGrp="1" noChangeArrowheads="1"/>
          </p:cNvSpPr>
          <p:nvPr>
            <p:ph type="title"/>
          </p:nvPr>
        </p:nvSpPr>
        <p:spPr>
          <a:xfrm>
            <a:off x="539552" y="1124744"/>
            <a:ext cx="8115300" cy="1239416"/>
          </a:xfrm>
        </p:spPr>
        <p:txBody>
          <a:bodyPr/>
          <a:lstStyle/>
          <a:p>
            <a:pPr algn="ctr"/>
            <a:r>
              <a:rPr lang="zh-CN" altLang="en-US" sz="4600" dirty="0">
                <a:latin typeface="华文行楷" pitchFamily="2" charset="-122"/>
                <a:ea typeface="华文行楷" pitchFamily="2" charset="-122"/>
              </a:rPr>
              <a:t>第 </a:t>
            </a:r>
            <a:r>
              <a:rPr lang="en-US" altLang="zh-CN" sz="4600" dirty="0">
                <a:latin typeface="华文行楷" pitchFamily="2" charset="-122"/>
                <a:ea typeface="华文行楷" pitchFamily="2" charset="-122"/>
              </a:rPr>
              <a:t>3 </a:t>
            </a:r>
            <a:r>
              <a:rPr lang="zh-CN" altLang="en-US" sz="4600" dirty="0">
                <a:latin typeface="华文行楷" pitchFamily="2" charset="-122"/>
                <a:ea typeface="华文行楷" pitchFamily="2" charset="-122"/>
              </a:rPr>
              <a:t>章 常用组合逻辑电路及 </a:t>
            </a:r>
            <a:r>
              <a:rPr lang="en-US" altLang="zh-CN" sz="4600" dirty="0">
                <a:latin typeface="华文行楷" pitchFamily="2" charset="-122"/>
                <a:ea typeface="华文行楷" pitchFamily="2" charset="-122"/>
              </a:rPr>
              <a:t>MSI </a:t>
            </a:r>
            <a:r>
              <a:rPr lang="zh-CN" altLang="en-US" sz="4600" dirty="0">
                <a:latin typeface="华文行楷" pitchFamily="2" charset="-122"/>
                <a:ea typeface="华文行楷" pitchFamily="2" charset="-122"/>
              </a:rPr>
              <a:t>组合电路模块的应用</a:t>
            </a:r>
            <a:endParaRPr lang="zh-CN" altLang="zh-CN" sz="4600" dirty="0">
              <a:latin typeface="华文行楷" pitchFamily="2" charset="-122"/>
              <a:ea typeface="华文行楷" pitchFamily="2" charset="-122"/>
            </a:endParaRPr>
          </a:p>
        </p:txBody>
      </p:sp>
      <p:sp>
        <p:nvSpPr>
          <p:cNvPr id="360451" name="Rectangle 3"/>
          <p:cNvSpPr>
            <a:spLocks noGrp="1" noChangeArrowheads="1"/>
          </p:cNvSpPr>
          <p:nvPr>
            <p:ph type="body" idx="1"/>
          </p:nvPr>
        </p:nvSpPr>
        <p:spPr/>
        <p:txBody>
          <a:bodyPr/>
          <a:lstStyle/>
          <a:p>
            <a:endParaRPr lang="zh-CN" altLang="zh-CN" dirty="0"/>
          </a:p>
        </p:txBody>
      </p:sp>
      <p:sp>
        <p:nvSpPr>
          <p:cNvPr id="4" name="矩形 3"/>
          <p:cNvSpPr/>
          <p:nvPr/>
        </p:nvSpPr>
        <p:spPr>
          <a:xfrm>
            <a:off x="2195736" y="3284984"/>
            <a:ext cx="4752528" cy="2172903"/>
          </a:xfrm>
          <a:prstGeom prst="rect">
            <a:avLst/>
          </a:prstGeom>
        </p:spPr>
        <p:txBody>
          <a:bodyPr wrap="square">
            <a:spAutoFit/>
          </a:bodyPr>
          <a:lstStyle/>
          <a:p>
            <a:pPr>
              <a:lnSpc>
                <a:spcPct val="130000"/>
              </a:lnSpc>
            </a:pPr>
            <a:r>
              <a:rPr lang="en-US" altLang="zh-CN" sz="2600" b="1" dirty="0">
                <a:hlinkClick r:id="rId2" action="ppaction://hlinksldjump"/>
              </a:rPr>
              <a:t>3. 1  </a:t>
            </a:r>
            <a:r>
              <a:rPr lang="zh-CN" altLang="en-US" sz="2600" b="1" dirty="0">
                <a:hlinkClick r:id="rId2" action="ppaction://hlinksldjump"/>
              </a:rPr>
              <a:t>编码器和译码器</a:t>
            </a:r>
            <a:endParaRPr lang="en-US" altLang="zh-CN" sz="2600" b="1" dirty="0"/>
          </a:p>
          <a:p>
            <a:pPr>
              <a:lnSpc>
                <a:spcPct val="130000"/>
              </a:lnSpc>
            </a:pPr>
            <a:r>
              <a:rPr lang="en-US" altLang="zh-CN" sz="2600" b="1" dirty="0">
                <a:hlinkClick r:id="rId3" action="ppaction://hlinksldjump"/>
              </a:rPr>
              <a:t>3. 2  </a:t>
            </a:r>
            <a:r>
              <a:rPr lang="zh-CN" altLang="en-US" sz="2600" b="1" dirty="0">
                <a:hlinkClick r:id="rId3" action="ppaction://hlinksldjump"/>
              </a:rPr>
              <a:t>加法器和比较器</a:t>
            </a:r>
            <a:endParaRPr lang="en-US" altLang="zh-CN" sz="2600" b="1" dirty="0"/>
          </a:p>
          <a:p>
            <a:pPr>
              <a:lnSpc>
                <a:spcPct val="130000"/>
              </a:lnSpc>
            </a:pPr>
            <a:r>
              <a:rPr lang="en-US" altLang="zh-CN" sz="2600" b="1" dirty="0">
                <a:hlinkClick r:id="rId4" action="ppaction://hlinksldjump"/>
              </a:rPr>
              <a:t>3. 3  </a:t>
            </a:r>
            <a:r>
              <a:rPr lang="zh-CN" altLang="en-US" sz="2600" b="1" dirty="0">
                <a:hlinkClick r:id="rId4" action="ppaction://hlinksldjump"/>
              </a:rPr>
              <a:t>数据选择器和数据分配器</a:t>
            </a:r>
            <a:endParaRPr lang="en-US" altLang="zh-CN" sz="2600" b="1" dirty="0"/>
          </a:p>
          <a:p>
            <a:pPr>
              <a:lnSpc>
                <a:spcPct val="130000"/>
              </a:lnSpc>
            </a:pPr>
            <a:r>
              <a:rPr lang="zh-CN" altLang="en-US" sz="2600" b="1" dirty="0">
                <a:hlinkClick r:id="rId5" action="ppaction://hlinksldjump"/>
              </a:rPr>
              <a:t>习题</a:t>
            </a:r>
            <a:endParaRPr lang="en-US" altLang="zh-CN" sz="2600" b="1" dirty="0"/>
          </a:p>
        </p:txBody>
      </p:sp>
      <p:pic>
        <p:nvPicPr>
          <p:cNvPr id="6" name="Picture 8" descr="GIF014">
            <a:hlinkClick r:id="rId6" action="ppaction://hlinkpres?slideindex=2&amp;slidetitle=PowerPoint 演示文稿"/>
          </p:cNvPr>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8058150" y="6286500"/>
            <a:ext cx="1085850" cy="571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2"/>
          <p:cNvSpPr>
            <a:spLocks noGrp="1" noChangeArrowheads="1"/>
          </p:cNvSpPr>
          <p:nvPr>
            <p:ph type="title"/>
          </p:nvPr>
        </p:nvSpPr>
        <p:spPr/>
        <p:txBody>
          <a:bodyPr/>
          <a:lstStyle/>
          <a:p>
            <a:br>
              <a:rPr lang="en-US" altLang="zh-CN" dirty="0"/>
            </a:br>
            <a:r>
              <a:rPr lang="zh-CN" altLang="en-US" dirty="0"/>
              <a:t>　　本章介绍常用组合逻辑电路及 </a:t>
            </a:r>
            <a:r>
              <a:rPr lang="en-US" altLang="zh-CN" dirty="0"/>
              <a:t>MSI </a:t>
            </a:r>
            <a:r>
              <a:rPr lang="zh-CN" altLang="en-US" dirty="0"/>
              <a:t>组合电路模块的功能及应用，包括编码器、译码器、加法器、比较器、数据选择器和数据分配器等。</a:t>
            </a:r>
            <a:endParaRPr lang="zh-CN" altLang="zh-CN" dirty="0"/>
          </a:p>
        </p:txBody>
      </p:sp>
      <p:sp>
        <p:nvSpPr>
          <p:cNvPr id="36147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Grp="1" noChangeArrowheads="1"/>
          </p:cNvSpPr>
          <p:nvPr>
            <p:ph type="title"/>
          </p:nvPr>
        </p:nvSpPr>
        <p:spPr>
          <a:xfrm>
            <a:off x="571500" y="533400"/>
            <a:ext cx="8115300" cy="1239416"/>
          </a:xfrm>
        </p:spPr>
        <p:txBody>
          <a:bodyPr/>
          <a:lstStyle/>
          <a:p>
            <a:pPr algn="ctr"/>
            <a:br>
              <a:rPr lang="en-US" altLang="zh-CN" sz="2600" b="1" dirty="0"/>
            </a:br>
            <a:r>
              <a:rPr lang="en-US" altLang="zh-CN" sz="2600" b="1" dirty="0"/>
              <a:t>3. 1  </a:t>
            </a:r>
            <a:r>
              <a:rPr lang="zh-CN" altLang="en-US" sz="2600" b="1" dirty="0"/>
              <a:t>编码器和译码器</a:t>
            </a:r>
            <a:endParaRPr lang="zh-CN" altLang="zh-CN" sz="2600" b="1" dirty="0"/>
          </a:p>
        </p:txBody>
      </p:sp>
      <p:sp>
        <p:nvSpPr>
          <p:cNvPr id="362499" name="Rectangle 3"/>
          <p:cNvSpPr>
            <a:spLocks noGrp="1" noChangeArrowheads="1"/>
          </p:cNvSpPr>
          <p:nvPr>
            <p:ph type="body" idx="1"/>
          </p:nvPr>
        </p:nvSpPr>
        <p:spPr/>
        <p:txBody>
          <a:bodyPr/>
          <a:lstStyle/>
          <a:p>
            <a:endParaRPr lang="zh-CN" altLang="zh-CN"/>
          </a:p>
        </p:txBody>
      </p:sp>
      <p:sp>
        <p:nvSpPr>
          <p:cNvPr id="4" name="Rectangle 2"/>
          <p:cNvSpPr txBox="1">
            <a:spLocks noChangeArrowheads="1"/>
          </p:cNvSpPr>
          <p:nvPr/>
        </p:nvSpPr>
        <p:spPr bwMode="auto">
          <a:xfrm>
            <a:off x="689853" y="1892365"/>
            <a:ext cx="8115300" cy="3880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fontAlgn="base">
              <a:lnSpc>
                <a:spcPct val="130000"/>
              </a:lnSpc>
              <a:spcBef>
                <a:spcPct val="0"/>
              </a:spcBef>
              <a:spcAft>
                <a:spcPct val="0"/>
              </a:spcAft>
              <a:defRPr kumimoji="1" sz="2400">
                <a:solidFill>
                  <a:schemeClr val="tx2"/>
                </a:solidFill>
                <a:latin typeface="+mj-lt"/>
                <a:ea typeface="+mj-ea"/>
                <a:cs typeface="+mj-cs"/>
              </a:defRPr>
            </a:lvl1pPr>
            <a:lvl2pPr algn="l" rtl="0" fontAlgn="base">
              <a:lnSpc>
                <a:spcPct val="130000"/>
              </a:lnSpc>
              <a:spcBef>
                <a:spcPct val="0"/>
              </a:spcBef>
              <a:spcAft>
                <a:spcPct val="0"/>
              </a:spcAft>
              <a:defRPr kumimoji="1" sz="2400">
                <a:solidFill>
                  <a:schemeClr val="tx2"/>
                </a:solidFill>
                <a:latin typeface="Times New Roman" pitchFamily="18" charset="0"/>
                <a:ea typeface="宋体" charset="-122"/>
              </a:defRPr>
            </a:lvl2pPr>
            <a:lvl3pPr algn="l" rtl="0" fontAlgn="base">
              <a:lnSpc>
                <a:spcPct val="130000"/>
              </a:lnSpc>
              <a:spcBef>
                <a:spcPct val="0"/>
              </a:spcBef>
              <a:spcAft>
                <a:spcPct val="0"/>
              </a:spcAft>
              <a:defRPr kumimoji="1" sz="2400">
                <a:solidFill>
                  <a:schemeClr val="tx2"/>
                </a:solidFill>
                <a:latin typeface="Times New Roman" pitchFamily="18" charset="0"/>
                <a:ea typeface="宋体" charset="-122"/>
              </a:defRPr>
            </a:lvl3pPr>
            <a:lvl4pPr algn="l" rtl="0" fontAlgn="base">
              <a:lnSpc>
                <a:spcPct val="130000"/>
              </a:lnSpc>
              <a:spcBef>
                <a:spcPct val="0"/>
              </a:spcBef>
              <a:spcAft>
                <a:spcPct val="0"/>
              </a:spcAft>
              <a:defRPr kumimoji="1" sz="2400">
                <a:solidFill>
                  <a:schemeClr val="tx2"/>
                </a:solidFill>
                <a:latin typeface="Times New Roman" pitchFamily="18" charset="0"/>
                <a:ea typeface="宋体" charset="-122"/>
              </a:defRPr>
            </a:lvl4pPr>
            <a:lvl5pPr algn="l" rtl="0" fontAlgn="base">
              <a:lnSpc>
                <a:spcPct val="130000"/>
              </a:lnSpc>
              <a:spcBef>
                <a:spcPct val="0"/>
              </a:spcBef>
              <a:spcAft>
                <a:spcPct val="0"/>
              </a:spcAft>
              <a:defRPr kumimoji="1" sz="2400">
                <a:solidFill>
                  <a:schemeClr val="tx2"/>
                </a:solidFill>
                <a:latin typeface="Times New Roman" pitchFamily="18" charset="0"/>
                <a:ea typeface="宋体" charset="-122"/>
              </a:defRPr>
            </a:lvl5pPr>
            <a:lvl6pPr marL="457200" algn="l" rtl="0" fontAlgn="base">
              <a:lnSpc>
                <a:spcPct val="130000"/>
              </a:lnSpc>
              <a:spcBef>
                <a:spcPct val="0"/>
              </a:spcBef>
              <a:spcAft>
                <a:spcPct val="0"/>
              </a:spcAft>
              <a:defRPr kumimoji="1" sz="2400">
                <a:solidFill>
                  <a:schemeClr val="tx2"/>
                </a:solidFill>
                <a:latin typeface="Times New Roman" pitchFamily="18" charset="0"/>
                <a:ea typeface="宋体" charset="-122"/>
              </a:defRPr>
            </a:lvl6pPr>
            <a:lvl7pPr marL="914400" algn="l" rtl="0" fontAlgn="base">
              <a:lnSpc>
                <a:spcPct val="130000"/>
              </a:lnSpc>
              <a:spcBef>
                <a:spcPct val="0"/>
              </a:spcBef>
              <a:spcAft>
                <a:spcPct val="0"/>
              </a:spcAft>
              <a:defRPr kumimoji="1" sz="2400">
                <a:solidFill>
                  <a:schemeClr val="tx2"/>
                </a:solidFill>
                <a:latin typeface="Times New Roman" pitchFamily="18" charset="0"/>
                <a:ea typeface="宋体" charset="-122"/>
              </a:defRPr>
            </a:lvl7pPr>
            <a:lvl8pPr marL="1371600" algn="l" rtl="0" fontAlgn="base">
              <a:lnSpc>
                <a:spcPct val="130000"/>
              </a:lnSpc>
              <a:spcBef>
                <a:spcPct val="0"/>
              </a:spcBef>
              <a:spcAft>
                <a:spcPct val="0"/>
              </a:spcAft>
              <a:defRPr kumimoji="1" sz="2400">
                <a:solidFill>
                  <a:schemeClr val="tx2"/>
                </a:solidFill>
                <a:latin typeface="Times New Roman" pitchFamily="18" charset="0"/>
                <a:ea typeface="宋体" charset="-122"/>
              </a:defRPr>
            </a:lvl8pPr>
            <a:lvl9pPr marL="1828800" algn="l" rtl="0" fontAlgn="base">
              <a:lnSpc>
                <a:spcPct val="130000"/>
              </a:lnSpc>
              <a:spcBef>
                <a:spcPct val="0"/>
              </a:spcBef>
              <a:spcAft>
                <a:spcPct val="0"/>
              </a:spcAft>
              <a:defRPr kumimoji="1" sz="2400">
                <a:solidFill>
                  <a:schemeClr val="tx2"/>
                </a:solidFill>
                <a:latin typeface="Times New Roman" pitchFamily="18" charset="0"/>
                <a:ea typeface="宋体" charset="-122"/>
              </a:defRPr>
            </a:lvl9pPr>
          </a:lstStyle>
          <a:p>
            <a:br>
              <a:rPr lang="en-US" altLang="zh-CN" dirty="0"/>
            </a:br>
            <a:r>
              <a:rPr lang="en-US" altLang="zh-CN" b="1" dirty="0"/>
              <a:t>3. 1. 1  </a:t>
            </a:r>
            <a:r>
              <a:rPr lang="zh-CN" altLang="en-US" b="1" dirty="0"/>
              <a:t>编码器</a:t>
            </a:r>
          </a:p>
          <a:p>
            <a:r>
              <a:rPr lang="zh-CN" altLang="en-US" dirty="0"/>
              <a:t>　　用由 </a:t>
            </a:r>
            <a:r>
              <a:rPr lang="en-US" altLang="zh-CN" dirty="0"/>
              <a:t>0 </a:t>
            </a:r>
            <a:r>
              <a:rPr lang="zh-CN" altLang="en-US" dirty="0"/>
              <a:t>和 </a:t>
            </a:r>
            <a:r>
              <a:rPr lang="en-US" altLang="zh-CN" dirty="0"/>
              <a:t>1 </a:t>
            </a:r>
            <a:r>
              <a:rPr lang="zh-CN" altLang="en-US" dirty="0"/>
              <a:t>组成的二值代码表示不同的事物称为编码，实现编码功能的电路称为编码器。常见的编码器有普通编码器、优先编码器、二进制编码器、二</a:t>
            </a:r>
            <a:r>
              <a:rPr lang="en-US" altLang="zh-CN" dirty="0"/>
              <a:t>—</a:t>
            </a:r>
            <a:r>
              <a:rPr lang="zh-CN" altLang="en-US" dirty="0"/>
              <a:t>十进制编码器等。在普通编码器中，输入信号是相互排斥的，任一时刻都有而且只有一个输入信号出现。</a:t>
            </a:r>
            <a:endParaRPr lang="zh-CN" altLang="zh-C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2"/>
          <p:cNvSpPr>
            <a:spLocks noGrp="1" noChangeArrowheads="1"/>
          </p:cNvSpPr>
          <p:nvPr>
            <p:ph type="title"/>
          </p:nvPr>
        </p:nvSpPr>
        <p:spPr/>
        <p:txBody>
          <a:bodyPr/>
          <a:lstStyle/>
          <a:p>
            <a:br>
              <a:rPr lang="en-US" altLang="zh-CN" dirty="0"/>
            </a:br>
            <a:r>
              <a:rPr lang="zh-CN" altLang="en-US" dirty="0"/>
              <a:t>在优先编码器中，允许两个或两个以上的信号同时出现，所有输入信号按优先顺序排队，当有多于一个信号同时出现时，只对其中优先级最高的一个信号进行编码。用 </a:t>
            </a:r>
            <a:r>
              <a:rPr lang="en-US" altLang="zh-CN" dirty="0"/>
              <a:t>n </a:t>
            </a:r>
            <a:r>
              <a:rPr lang="zh-CN" altLang="en-US" dirty="0"/>
              <a:t>位 </a:t>
            </a:r>
            <a:r>
              <a:rPr lang="en-US" altLang="zh-CN" dirty="0"/>
              <a:t>0 </a:t>
            </a:r>
            <a:r>
              <a:rPr lang="zh-CN" altLang="en-US" dirty="0"/>
              <a:t>、 </a:t>
            </a:r>
            <a:r>
              <a:rPr lang="en-US" altLang="zh-CN" dirty="0"/>
              <a:t>1 </a:t>
            </a:r>
            <a:r>
              <a:rPr lang="zh-CN" altLang="en-US" dirty="0"/>
              <a:t>代码对 </a:t>
            </a:r>
            <a:r>
              <a:rPr lang="en-US" altLang="zh-CN" dirty="0"/>
              <a:t>2</a:t>
            </a:r>
            <a:r>
              <a:rPr lang="en-US" altLang="zh-CN" baseline="30000" dirty="0"/>
              <a:t>n</a:t>
            </a:r>
            <a:r>
              <a:rPr lang="zh-CN" altLang="en-US" dirty="0"/>
              <a:t>个信号进行编码的电路称为二进制编码器。用二进制代码对 </a:t>
            </a:r>
            <a:r>
              <a:rPr lang="en-US" altLang="zh-CN" dirty="0"/>
              <a:t>0~9 </a:t>
            </a:r>
            <a:r>
              <a:rPr lang="zh-CN" altLang="en-US" dirty="0"/>
              <a:t>十个十进制符号进行编码的电路称为二</a:t>
            </a:r>
            <a:r>
              <a:rPr lang="en-US" altLang="zh-CN" dirty="0"/>
              <a:t>—</a:t>
            </a:r>
            <a:r>
              <a:rPr lang="zh-CN" altLang="en-US" dirty="0"/>
              <a:t>十进制编码器。</a:t>
            </a:r>
            <a:br>
              <a:rPr lang="zh-CN" altLang="zh-CN" dirty="0"/>
            </a:br>
            <a:endParaRPr lang="zh-CN" altLang="zh-CN" dirty="0"/>
          </a:p>
        </p:txBody>
      </p:sp>
      <p:sp>
        <p:nvSpPr>
          <p:cNvPr id="36352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Rectangle 2"/>
          <p:cNvSpPr>
            <a:spLocks noGrp="1" noChangeArrowheads="1"/>
          </p:cNvSpPr>
          <p:nvPr>
            <p:ph type="title"/>
          </p:nvPr>
        </p:nvSpPr>
        <p:spPr/>
        <p:txBody>
          <a:bodyPr/>
          <a:lstStyle/>
          <a:p>
            <a:br>
              <a:rPr lang="en-US" altLang="zh-CN" dirty="0"/>
            </a:br>
            <a:r>
              <a:rPr lang="zh-CN" altLang="en-US" dirty="0"/>
              <a:t>　　</a:t>
            </a:r>
            <a:r>
              <a:rPr lang="en-US" altLang="zh-CN" b="1" dirty="0"/>
              <a:t>1. </a:t>
            </a:r>
            <a:r>
              <a:rPr lang="zh-CN" altLang="en-US" b="1" dirty="0"/>
              <a:t>二进制普通编码器</a:t>
            </a:r>
            <a:br>
              <a:rPr lang="zh-CN" altLang="en-US" b="1" dirty="0"/>
            </a:br>
            <a:r>
              <a:rPr lang="zh-CN" altLang="en-US" b="1" dirty="0"/>
              <a:t>　　</a:t>
            </a:r>
            <a:r>
              <a:rPr lang="zh-CN" altLang="en-US" dirty="0"/>
              <a:t>用 </a:t>
            </a:r>
            <a:r>
              <a:rPr lang="en-US" altLang="zh-CN" dirty="0"/>
              <a:t>n </a:t>
            </a:r>
            <a:r>
              <a:rPr lang="zh-CN" altLang="en-US" dirty="0"/>
              <a:t>位二进制代码对 </a:t>
            </a:r>
            <a:r>
              <a:rPr lang="en-US" altLang="zh-CN" dirty="0"/>
              <a:t>2</a:t>
            </a:r>
            <a:r>
              <a:rPr lang="en-US" altLang="zh-CN" baseline="30000" dirty="0"/>
              <a:t>n</a:t>
            </a:r>
            <a:r>
              <a:rPr lang="zh-CN" altLang="en-US" dirty="0"/>
              <a:t>个相互排斥的信号进行</a:t>
            </a:r>
            <a:br>
              <a:rPr lang="zh-CN" altLang="en-US" dirty="0"/>
            </a:br>
            <a:r>
              <a:rPr lang="zh-CN" altLang="en-US" dirty="0"/>
              <a:t>编码的电路，称为二进制普通编码器。</a:t>
            </a:r>
            <a:br>
              <a:rPr lang="zh-CN" altLang="en-US" dirty="0"/>
            </a:br>
            <a:r>
              <a:rPr lang="zh-CN" altLang="en-US" dirty="0"/>
              <a:t>　　三位二进制普通编码器的功能是对八个相互排斥的输入信号进行编码，它有八个输入、三个输出，因此也称为 </a:t>
            </a:r>
            <a:r>
              <a:rPr lang="en-US" altLang="zh-CN" dirty="0"/>
              <a:t>8 </a:t>
            </a:r>
            <a:r>
              <a:rPr lang="zh-CN" altLang="en-US" dirty="0"/>
              <a:t>线 </a:t>
            </a:r>
            <a:r>
              <a:rPr lang="en-US" altLang="zh-CN" dirty="0"/>
              <a:t>-3 </a:t>
            </a:r>
            <a:r>
              <a:rPr lang="zh-CN" altLang="en-US" dirty="0"/>
              <a:t>线二进制普通编码器。图</a:t>
            </a:r>
            <a:r>
              <a:rPr lang="en-US" altLang="zh-CN" dirty="0"/>
              <a:t>3-1</a:t>
            </a:r>
            <a:r>
              <a:rPr lang="zh-CN" altLang="en-US" dirty="0"/>
              <a:t>是 </a:t>
            </a:r>
            <a:r>
              <a:rPr lang="en-US" altLang="zh-CN" dirty="0"/>
              <a:t>8 </a:t>
            </a:r>
            <a:r>
              <a:rPr lang="zh-CN" altLang="en-US" dirty="0"/>
              <a:t>线 </a:t>
            </a:r>
            <a:r>
              <a:rPr lang="en-US" altLang="zh-CN" dirty="0"/>
              <a:t>-3 </a:t>
            </a:r>
            <a:r>
              <a:rPr lang="zh-CN" altLang="en-US" dirty="0"/>
              <a:t>线二进制普通编码器的框图，表 </a:t>
            </a:r>
            <a:r>
              <a:rPr lang="en-US" altLang="zh-CN" dirty="0"/>
              <a:t>3-1 </a:t>
            </a:r>
            <a:r>
              <a:rPr lang="zh-CN" altLang="en-US" dirty="0"/>
              <a:t>是它的真值表。表中只列出了输入 </a:t>
            </a:r>
            <a:r>
              <a:rPr lang="en-US" altLang="zh-CN" dirty="0"/>
              <a:t>I0 ~I 7</a:t>
            </a:r>
            <a:br>
              <a:rPr lang="en-US" altLang="zh-CN" dirty="0"/>
            </a:br>
            <a:r>
              <a:rPr lang="zh-CN" altLang="en-US" dirty="0"/>
              <a:t>可能出现的组合，其他组合都是不可能发生的，也就是约束。约束可以表示为</a:t>
            </a:r>
            <a:br>
              <a:rPr lang="zh-CN" altLang="en-US" dirty="0"/>
            </a:br>
            <a:r>
              <a:rPr lang="zh-CN" altLang="en-US" dirty="0"/>
              <a:t>　　　　　</a:t>
            </a:r>
            <a:r>
              <a:rPr lang="en-US" altLang="zh-CN" dirty="0"/>
              <a:t>I</a:t>
            </a:r>
            <a:r>
              <a:rPr lang="en-US" altLang="zh-CN" baseline="-25000" dirty="0"/>
              <a:t>i</a:t>
            </a:r>
            <a:r>
              <a:rPr lang="en-US" altLang="zh-CN" dirty="0"/>
              <a:t> I </a:t>
            </a:r>
            <a:r>
              <a:rPr lang="en-US" altLang="zh-CN" baseline="-25000" dirty="0"/>
              <a:t>j</a:t>
            </a:r>
            <a:r>
              <a:rPr lang="en-US" altLang="zh-CN" dirty="0"/>
              <a:t> =0 (i ≠ j </a:t>
            </a:r>
            <a:r>
              <a:rPr lang="zh-CN" altLang="en-US" dirty="0"/>
              <a:t>，</a:t>
            </a:r>
            <a:r>
              <a:rPr lang="en-US" altLang="zh-CN" dirty="0"/>
              <a:t> i </a:t>
            </a:r>
            <a:r>
              <a:rPr lang="zh-CN" altLang="en-US" dirty="0"/>
              <a:t>，</a:t>
            </a:r>
            <a:r>
              <a:rPr lang="en-US" altLang="zh-CN" dirty="0"/>
              <a:t> j =0 </a:t>
            </a:r>
            <a:r>
              <a:rPr lang="zh-CN" altLang="en-US" dirty="0"/>
              <a:t>，</a:t>
            </a:r>
            <a:r>
              <a:rPr lang="en-US" altLang="zh-CN" dirty="0"/>
              <a:t> 1 </a:t>
            </a:r>
            <a:r>
              <a:rPr lang="zh-CN" altLang="en-US" dirty="0"/>
              <a:t>，</a:t>
            </a:r>
            <a:r>
              <a:rPr lang="en-US" altLang="zh-CN" dirty="0"/>
              <a:t>…</a:t>
            </a:r>
            <a:r>
              <a:rPr lang="zh-CN" altLang="en-US" dirty="0"/>
              <a:t>，</a:t>
            </a:r>
            <a:r>
              <a:rPr lang="en-US" altLang="zh-CN" dirty="0"/>
              <a:t> 7 )</a:t>
            </a:r>
            <a:endParaRPr lang="zh-CN" altLang="zh-CN" dirty="0"/>
          </a:p>
        </p:txBody>
      </p:sp>
      <p:sp>
        <p:nvSpPr>
          <p:cNvPr id="36454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2"/>
          <p:cNvSpPr>
            <a:spLocks noGrp="1" noChangeArrowheads="1"/>
          </p:cNvSpPr>
          <p:nvPr>
            <p:ph type="title"/>
          </p:nvPr>
        </p:nvSpPr>
        <p:spPr/>
        <p:txBody>
          <a:bodyPr/>
          <a:lstStyle/>
          <a:p>
            <a:endParaRPr lang="zh-CN" altLang="zh-CN"/>
          </a:p>
        </p:txBody>
      </p:sp>
      <p:sp>
        <p:nvSpPr>
          <p:cNvPr id="365571" name="Rectangle 3"/>
          <p:cNvSpPr>
            <a:spLocks noGrp="1" noChangeArrowheads="1"/>
          </p:cNvSpPr>
          <p:nvPr>
            <p:ph type="body" idx="1"/>
          </p:nvPr>
        </p:nvSpPr>
        <p:spPr/>
        <p:txBody>
          <a:bodyPr/>
          <a:lstStyle/>
          <a:p>
            <a:r>
              <a:rPr lang="zh-CN" altLang="en-US" dirty="0"/>
              <a:t>图 </a:t>
            </a:r>
            <a:r>
              <a:rPr lang="en-US" altLang="zh-CN" dirty="0"/>
              <a:t>3-1  </a:t>
            </a:r>
            <a:r>
              <a:rPr lang="zh-CN" altLang="en-US" dirty="0"/>
              <a:t>三位二进制普通编码器的框图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3768" y="1124744"/>
            <a:ext cx="3996085" cy="392231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2"/>
          <p:cNvSpPr>
            <a:spLocks noGrp="1" noChangeArrowheads="1"/>
          </p:cNvSpPr>
          <p:nvPr>
            <p:ph type="title"/>
          </p:nvPr>
        </p:nvSpPr>
        <p:spPr/>
        <p:txBody>
          <a:bodyPr/>
          <a:lstStyle/>
          <a:p>
            <a:br>
              <a:rPr lang="en-US" altLang="zh-CN" dirty="0"/>
            </a:br>
            <a:r>
              <a:rPr lang="zh-CN" altLang="en-US" dirty="0"/>
              <a:t>　　由表 </a:t>
            </a:r>
            <a:r>
              <a:rPr lang="en-US" altLang="zh-CN" dirty="0"/>
              <a:t>3-1 </a:t>
            </a:r>
            <a:r>
              <a:rPr lang="zh-CN" altLang="en-US" dirty="0"/>
              <a:t>所示的真值表可以写出如下逻辑表达式</a:t>
            </a:r>
            <a:r>
              <a:rPr lang="en-US" altLang="zh-CN" dirty="0"/>
              <a:t>:</a:t>
            </a:r>
            <a:endParaRPr lang="zh-CN" altLang="zh-CN" dirty="0"/>
          </a:p>
        </p:txBody>
      </p:sp>
      <p:sp>
        <p:nvSpPr>
          <p:cNvPr id="366595"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310" y="2348880"/>
            <a:ext cx="8105775" cy="18383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p:cNvSpPr>
            <a:spLocks noGrp="1" noChangeArrowheads="1"/>
          </p:cNvSpPr>
          <p:nvPr>
            <p:ph type="title"/>
          </p:nvPr>
        </p:nvSpPr>
        <p:spPr/>
        <p:txBody>
          <a:bodyPr/>
          <a:lstStyle/>
          <a:p>
            <a:endParaRPr lang="zh-CN" altLang="zh-CN"/>
          </a:p>
        </p:txBody>
      </p:sp>
      <p:sp>
        <p:nvSpPr>
          <p:cNvPr id="367619"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600" y="1412776"/>
            <a:ext cx="7229292" cy="363071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68642" name="Rectangle 2"/>
              <p:cNvSpPr>
                <a:spLocks noGrp="1" noChangeArrowheads="1"/>
              </p:cNvSpPr>
              <p:nvPr>
                <p:ph type="title"/>
              </p:nvPr>
            </p:nvSpPr>
            <p:spPr/>
            <p:txBody>
              <a:bodyPr/>
              <a:lstStyle/>
              <a:p>
                <a:br>
                  <a:rPr lang="en-US" altLang="zh-CN" dirty="0"/>
                </a:br>
                <a:r>
                  <a:rPr lang="zh-CN" altLang="en-US" dirty="0"/>
                  <a:t>　　利用约束条件 </a:t>
                </a:r>
                <a:r>
                  <a:rPr lang="en-US" altLang="zh-CN" dirty="0"/>
                  <a:t>I</a:t>
                </a:r>
                <a:r>
                  <a:rPr lang="en-US" altLang="zh-CN" baseline="-25000" dirty="0"/>
                  <a:t>i</a:t>
                </a:r>
                <a:r>
                  <a:rPr lang="en-US" altLang="zh-CN" dirty="0"/>
                  <a:t> I </a:t>
                </a:r>
                <a:r>
                  <a:rPr lang="en-US" altLang="zh-CN" baseline="-25000" dirty="0"/>
                  <a:t>j</a:t>
                </a:r>
                <a:r>
                  <a:rPr lang="en-US" altLang="zh-CN" dirty="0"/>
                  <a:t> =0 (i ≠ j </a:t>
                </a:r>
                <a:r>
                  <a:rPr lang="zh-CN" altLang="en-US" dirty="0"/>
                  <a:t>，</a:t>
                </a:r>
                <a:r>
                  <a:rPr lang="en-US" altLang="zh-CN" dirty="0"/>
                  <a:t> i </a:t>
                </a:r>
                <a:r>
                  <a:rPr lang="zh-CN" altLang="en-US" dirty="0"/>
                  <a:t>，</a:t>
                </a:r>
                <a:r>
                  <a:rPr lang="en-US" altLang="zh-CN" dirty="0"/>
                  <a:t> j =0 </a:t>
                </a:r>
                <a:r>
                  <a:rPr lang="zh-CN" altLang="en-US" dirty="0"/>
                  <a:t>，</a:t>
                </a:r>
                <a:r>
                  <a:rPr lang="en-US" altLang="zh-CN" dirty="0"/>
                  <a:t> 1 </a:t>
                </a:r>
                <a:r>
                  <a:rPr lang="zh-CN" altLang="en-US" dirty="0"/>
                  <a:t>，</a:t>
                </a:r>
                <a:r>
                  <a:rPr lang="en-US" altLang="zh-CN" dirty="0"/>
                  <a:t>…</a:t>
                </a:r>
                <a:r>
                  <a:rPr lang="zh-CN" altLang="en-US" dirty="0"/>
                  <a:t>，</a:t>
                </a:r>
                <a:r>
                  <a:rPr lang="en-US" altLang="zh-CN" dirty="0"/>
                  <a:t> 7 )</a:t>
                </a:r>
                <a:r>
                  <a:rPr lang="zh-CN" altLang="en-US" dirty="0"/>
                  <a:t>和公式</a:t>
                </a:r>
                <a:br>
                  <a:rPr lang="en-US" altLang="zh-CN" dirty="0"/>
                </a:br>
                <a:r>
                  <a:rPr lang="zh-CN" altLang="en-US" dirty="0"/>
                  <a:t> </a:t>
                </a:r>
                <a:r>
                  <a:rPr lang="en-US" altLang="zh-CN" dirty="0"/>
                  <a:t>A+</a:t>
                </a:r>
                <a14:m>
                  <m:oMath xmlns:m="http://schemas.openxmlformats.org/officeDocument/2006/math">
                    <m:acc>
                      <m:accPr>
                        <m:chr m:val="̅"/>
                        <m:ctrlPr>
                          <a:rPr lang="en-US" altLang="zh-CN" i="1" smtClean="0">
                            <a:latin typeface="Cambria Math" panose="02040503050406030204" pitchFamily="18" charset="0"/>
                          </a:rPr>
                        </m:ctrlPr>
                      </m:accPr>
                      <m:e>
                        <m:r>
                          <m:rPr>
                            <m:nor/>
                          </m:rPr>
                          <a:rPr lang="en-US" altLang="zh-CN" dirty="0"/>
                          <m:t>A</m:t>
                        </m:r>
                      </m:e>
                    </m:acc>
                  </m:oMath>
                </a14:m>
                <a:r>
                  <a:rPr lang="en-US" altLang="zh-CN" dirty="0"/>
                  <a:t>B=A+B </a:t>
                </a:r>
                <a:r>
                  <a:rPr lang="zh-CN" altLang="en-US" dirty="0"/>
                  <a:t>对上述表达式进行化简，可以得到</a:t>
                </a:r>
                <a:r>
                  <a:rPr lang="en-US" altLang="zh-CN" dirty="0"/>
                  <a:t>:</a:t>
                </a:r>
                <a:endParaRPr lang="zh-CN" altLang="zh-CN" dirty="0"/>
              </a:p>
            </p:txBody>
          </p:sp>
        </mc:Choice>
        <mc:Fallback xmlns="">
          <p:sp>
            <p:nvSpPr>
              <p:cNvPr id="368642" name="Rectangle 2"/>
              <p:cNvSpPr>
                <a:spLocks noGrp="1" noRot="1" noChangeAspect="1" noMove="1" noResize="1" noEditPoints="1" noAdjustHandles="1" noChangeArrowheads="1" noChangeShapeType="1" noTextEdit="1"/>
              </p:cNvSpPr>
              <p:nvPr>
                <p:ph type="title"/>
              </p:nvPr>
            </p:nvSpPr>
            <p:spPr>
              <a:blipFill rotWithShape="1">
                <a:blip r:embed="rId2"/>
                <a:stretch>
                  <a:fillRect l="-1202" r="-75"/>
                </a:stretch>
              </a:blipFill>
            </p:spPr>
            <p:txBody>
              <a:bodyPr/>
              <a:lstStyle/>
              <a:p>
                <a:r>
                  <a:rPr lang="zh-CN" altLang="en-US">
                    <a:noFill/>
                  </a:rPr>
                  <a:t> </a:t>
                </a:r>
              </a:p>
            </p:txBody>
          </p:sp>
        </mc:Fallback>
      </mc:AlternateContent>
      <p:sp>
        <p:nvSpPr>
          <p:cNvPr id="368643"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33687" y="2505075"/>
            <a:ext cx="3476625" cy="1847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p:cNvSpPr>
            <a:spLocks noGrp="1" noChangeArrowheads="1"/>
          </p:cNvSpPr>
          <p:nvPr>
            <p:ph type="title"/>
          </p:nvPr>
        </p:nvSpPr>
        <p:spPr/>
        <p:txBody>
          <a:bodyPr/>
          <a:lstStyle/>
          <a:p>
            <a:br>
              <a:rPr lang="en-US" altLang="zh-CN" dirty="0"/>
            </a:br>
            <a:r>
              <a:rPr lang="zh-CN" altLang="en-US" dirty="0"/>
              <a:t>　　图 </a:t>
            </a:r>
            <a:r>
              <a:rPr lang="en-US" altLang="zh-CN" dirty="0"/>
              <a:t>3-2 </a:t>
            </a:r>
            <a:r>
              <a:rPr lang="zh-CN" altLang="en-US" dirty="0"/>
              <a:t>是用与非门实现的三位二进制普通编码器的逻辑图。</a:t>
            </a:r>
            <a:endParaRPr lang="zh-CN" altLang="zh-CN" dirty="0"/>
          </a:p>
        </p:txBody>
      </p:sp>
      <p:sp>
        <p:nvSpPr>
          <p:cNvPr id="369667" name="Rectangle 3"/>
          <p:cNvSpPr>
            <a:spLocks noGrp="1" noChangeArrowheads="1"/>
          </p:cNvSpPr>
          <p:nvPr>
            <p:ph type="body" idx="1"/>
          </p:nvPr>
        </p:nvSpPr>
        <p:spPr/>
        <p:txBody>
          <a:bodyPr/>
          <a:lstStyle/>
          <a:p>
            <a:r>
              <a:rPr lang="zh-CN" altLang="en-US" dirty="0"/>
              <a:t>图 </a:t>
            </a:r>
            <a:r>
              <a:rPr lang="en-US" altLang="zh-CN" dirty="0"/>
              <a:t>3-2  </a:t>
            </a:r>
            <a:r>
              <a:rPr lang="zh-CN" altLang="en-US" dirty="0"/>
              <a:t>三位二进制普通编码器的逻辑图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1661" y="1772816"/>
            <a:ext cx="5400675" cy="3886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2"/>
          <p:cNvSpPr>
            <a:spLocks noGrp="1" noChangeArrowheads="1"/>
          </p:cNvSpPr>
          <p:nvPr>
            <p:ph type="title"/>
          </p:nvPr>
        </p:nvSpPr>
        <p:spPr/>
        <p:txBody>
          <a:bodyPr/>
          <a:lstStyle/>
          <a:p>
            <a:br>
              <a:rPr lang="en-US" altLang="zh-CN" dirty="0"/>
            </a:br>
            <a:r>
              <a:rPr lang="zh-CN" altLang="en-US" dirty="0"/>
              <a:t>　　</a:t>
            </a:r>
            <a:r>
              <a:rPr lang="en-US" altLang="zh-CN" b="1" dirty="0"/>
              <a:t>2. </a:t>
            </a:r>
            <a:r>
              <a:rPr lang="zh-CN" altLang="en-US" b="1" dirty="0"/>
              <a:t>二进制优先编码器</a:t>
            </a:r>
            <a:br>
              <a:rPr lang="zh-CN" altLang="en-US" dirty="0"/>
            </a:br>
            <a:r>
              <a:rPr lang="zh-CN" altLang="en-US" dirty="0"/>
              <a:t>　　用 </a:t>
            </a:r>
            <a:r>
              <a:rPr lang="en-US" altLang="zh-CN" dirty="0"/>
              <a:t>n </a:t>
            </a:r>
            <a:r>
              <a:rPr lang="zh-CN" altLang="en-US" dirty="0"/>
              <a:t>位二进制代码对 </a:t>
            </a:r>
            <a:r>
              <a:rPr lang="en-US" altLang="zh-CN" dirty="0"/>
              <a:t>2</a:t>
            </a:r>
            <a:r>
              <a:rPr lang="en-US" altLang="zh-CN" baseline="30000" dirty="0"/>
              <a:t>n</a:t>
            </a:r>
            <a:r>
              <a:rPr lang="zh-CN" altLang="en-US" dirty="0"/>
              <a:t>个允许同时出现的信号进行编码，这些信号具有不同的优先级，多于一个信号同时出现时，只对其中优先级最高的信号进行编码，这样的编码器称为二进制优先编码器。 </a:t>
            </a:r>
            <a:r>
              <a:rPr lang="en-US" altLang="zh-CN" dirty="0"/>
              <a:t>8 </a:t>
            </a:r>
            <a:r>
              <a:rPr lang="zh-CN" altLang="en-US" dirty="0"/>
              <a:t>线 </a:t>
            </a:r>
            <a:r>
              <a:rPr lang="en-US" altLang="zh-CN" dirty="0"/>
              <a:t>-3</a:t>
            </a:r>
            <a:r>
              <a:rPr lang="zh-CN" altLang="en-US" dirty="0"/>
              <a:t>线二进制优先编码器的框图如图 </a:t>
            </a:r>
            <a:r>
              <a:rPr lang="en-US" altLang="zh-CN" dirty="0"/>
              <a:t>3-3 </a:t>
            </a:r>
            <a:r>
              <a:rPr lang="zh-CN" altLang="en-US" dirty="0"/>
              <a:t>所示，表 </a:t>
            </a:r>
            <a:r>
              <a:rPr lang="en-US" altLang="zh-CN" dirty="0"/>
              <a:t>3-2</a:t>
            </a:r>
            <a:r>
              <a:rPr lang="zh-CN" altLang="en-US" dirty="0"/>
              <a:t>是它的真值表。在真值表中，给 </a:t>
            </a:r>
            <a:r>
              <a:rPr lang="en-US" altLang="zh-CN" dirty="0"/>
              <a:t>I</a:t>
            </a:r>
            <a:r>
              <a:rPr lang="en-US" altLang="zh-CN" baseline="-25000" dirty="0"/>
              <a:t>0</a:t>
            </a:r>
            <a:r>
              <a:rPr lang="en-US" altLang="zh-CN" dirty="0"/>
              <a:t> ~I </a:t>
            </a:r>
            <a:r>
              <a:rPr lang="en-US" altLang="zh-CN" baseline="-25000" dirty="0"/>
              <a:t>7</a:t>
            </a:r>
            <a:r>
              <a:rPr lang="en-US" altLang="zh-CN" dirty="0"/>
              <a:t> </a:t>
            </a:r>
            <a:r>
              <a:rPr lang="zh-CN" altLang="en-US" dirty="0"/>
              <a:t>假定了不同的优先级，</a:t>
            </a:r>
            <a:r>
              <a:rPr lang="en-US" altLang="zh-CN" dirty="0"/>
              <a:t> I</a:t>
            </a:r>
            <a:r>
              <a:rPr lang="en-US" altLang="zh-CN" baseline="-25000" dirty="0"/>
              <a:t>7</a:t>
            </a:r>
            <a:r>
              <a:rPr lang="zh-CN" altLang="en-US" dirty="0"/>
              <a:t>的优先级最高，</a:t>
            </a:r>
            <a:r>
              <a:rPr lang="en-US" altLang="zh-CN" dirty="0"/>
              <a:t> I</a:t>
            </a:r>
            <a:r>
              <a:rPr lang="en-US" altLang="zh-CN" baseline="-25000" dirty="0"/>
              <a:t>6</a:t>
            </a:r>
            <a:r>
              <a:rPr lang="zh-CN" altLang="en-US" dirty="0"/>
              <a:t>次之，</a:t>
            </a:r>
            <a:r>
              <a:rPr lang="en-US" altLang="zh-CN" dirty="0"/>
              <a:t> I</a:t>
            </a:r>
            <a:r>
              <a:rPr lang="en-US" altLang="zh-CN" baseline="-25000" dirty="0"/>
              <a:t>0</a:t>
            </a:r>
            <a:r>
              <a:rPr lang="zh-CN" altLang="en-US" dirty="0"/>
              <a:t>的优先级最低。真值表中的“ </a:t>
            </a:r>
            <a:r>
              <a:rPr lang="en-US" altLang="zh-CN" dirty="0"/>
              <a:t>× ”</a:t>
            </a:r>
            <a:r>
              <a:rPr lang="zh-CN" altLang="en-US" dirty="0"/>
              <a:t>表示该输入信号取值无论是 </a:t>
            </a:r>
            <a:r>
              <a:rPr lang="en-US" altLang="zh-CN" dirty="0"/>
              <a:t>0</a:t>
            </a:r>
            <a:r>
              <a:rPr lang="zh-CN" altLang="en-US" dirty="0"/>
              <a:t>还是 </a:t>
            </a:r>
            <a:r>
              <a:rPr lang="en-US" altLang="zh-CN" dirty="0"/>
              <a:t>1 </a:t>
            </a:r>
            <a:r>
              <a:rPr lang="zh-CN" altLang="en-US" dirty="0"/>
              <a:t>都无所谓，不影响电路的输出。</a:t>
            </a:r>
            <a:br>
              <a:rPr lang="zh-CN" altLang="zh-CN" dirty="0"/>
            </a:br>
            <a:br>
              <a:rPr lang="en-US" altLang="zh-CN" dirty="0"/>
            </a:br>
            <a:br>
              <a:rPr lang="zh-CN" altLang="en-US" dirty="0"/>
            </a:br>
            <a:endParaRPr lang="zh-CN" altLang="zh-CN" dirty="0"/>
          </a:p>
        </p:txBody>
      </p:sp>
      <p:sp>
        <p:nvSpPr>
          <p:cNvPr id="37069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p:cNvSpPr>
            <a:spLocks noGrp="1" noChangeArrowheads="1"/>
          </p:cNvSpPr>
          <p:nvPr>
            <p:ph type="title"/>
          </p:nvPr>
        </p:nvSpPr>
        <p:spPr/>
        <p:txBody>
          <a:bodyPr/>
          <a:lstStyle/>
          <a:p>
            <a:endParaRPr lang="zh-CN" altLang="zh-CN" dirty="0"/>
          </a:p>
        </p:txBody>
      </p:sp>
      <p:sp>
        <p:nvSpPr>
          <p:cNvPr id="371715" name="Rectangle 3"/>
          <p:cNvSpPr>
            <a:spLocks noGrp="1" noChangeArrowheads="1"/>
          </p:cNvSpPr>
          <p:nvPr>
            <p:ph type="body" idx="1"/>
          </p:nvPr>
        </p:nvSpPr>
        <p:spPr/>
        <p:txBody>
          <a:bodyPr/>
          <a:lstStyle/>
          <a:p>
            <a:r>
              <a:rPr lang="zh-CN" altLang="en-US" dirty="0"/>
              <a:t>图 </a:t>
            </a:r>
            <a:r>
              <a:rPr lang="en-US" altLang="zh-CN" dirty="0"/>
              <a:t>3-3  </a:t>
            </a:r>
            <a:r>
              <a:rPr lang="zh-CN" altLang="en-US" dirty="0"/>
              <a:t>三位二进制优先编码器的框图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9752" y="1052736"/>
            <a:ext cx="4680520" cy="436202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Rectangle 2"/>
          <p:cNvSpPr>
            <a:spLocks noGrp="1" noChangeArrowheads="1"/>
          </p:cNvSpPr>
          <p:nvPr>
            <p:ph type="title"/>
          </p:nvPr>
        </p:nvSpPr>
        <p:spPr/>
        <p:txBody>
          <a:bodyPr/>
          <a:lstStyle/>
          <a:p>
            <a:endParaRPr lang="zh-CN" altLang="zh-CN"/>
          </a:p>
        </p:txBody>
      </p:sp>
      <p:sp>
        <p:nvSpPr>
          <p:cNvPr id="372739"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584" y="1395949"/>
            <a:ext cx="7667285" cy="360746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p:cNvSpPr>
            <a:spLocks noGrp="1" noChangeArrowheads="1"/>
          </p:cNvSpPr>
          <p:nvPr>
            <p:ph type="title"/>
          </p:nvPr>
        </p:nvSpPr>
        <p:spPr/>
        <p:txBody>
          <a:bodyPr/>
          <a:lstStyle/>
          <a:p>
            <a:br>
              <a:rPr lang="en-US" altLang="zh-CN" dirty="0"/>
            </a:br>
            <a:r>
              <a:rPr lang="zh-CN" altLang="en-US" dirty="0"/>
              <a:t>　　由表 </a:t>
            </a:r>
            <a:r>
              <a:rPr lang="en-US" altLang="zh-CN" dirty="0"/>
              <a:t>3-2 </a:t>
            </a:r>
            <a:r>
              <a:rPr lang="zh-CN" altLang="en-US" dirty="0"/>
              <a:t>真值表可以写出如下逻辑表达式</a:t>
            </a:r>
            <a:r>
              <a:rPr lang="en-US" altLang="zh-CN" dirty="0"/>
              <a:t>:</a:t>
            </a:r>
            <a:endParaRPr lang="zh-CN" altLang="zh-CN" dirty="0"/>
          </a:p>
        </p:txBody>
      </p:sp>
      <p:sp>
        <p:nvSpPr>
          <p:cNvPr id="373763"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2987" y="2357437"/>
            <a:ext cx="7058025" cy="21431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74786" name="Rectangle 2"/>
              <p:cNvSpPr>
                <a:spLocks noGrp="1" noChangeArrowheads="1"/>
              </p:cNvSpPr>
              <p:nvPr>
                <p:ph type="title"/>
              </p:nvPr>
            </p:nvSpPr>
            <p:spPr/>
            <p:txBody>
              <a:bodyPr/>
              <a:lstStyle/>
              <a:p>
                <a:br>
                  <a:rPr lang="en-US" altLang="zh-CN" dirty="0"/>
                </a:br>
                <a:r>
                  <a:rPr lang="zh-CN" altLang="en-US" dirty="0"/>
                  <a:t>利用公式 </a:t>
                </a:r>
                <a:r>
                  <a:rPr lang="en-US" altLang="zh-CN" dirty="0"/>
                  <a:t>A+ </a:t>
                </a:r>
                <a14:m>
                  <m:oMath xmlns:m="http://schemas.openxmlformats.org/officeDocument/2006/math">
                    <m:acc>
                      <m:accPr>
                        <m:chr m:val="̅"/>
                        <m:ctrlPr>
                          <a:rPr lang="en-US" altLang="zh-CN" i="1" smtClean="0">
                            <a:latin typeface="Cambria Math" panose="02040503050406030204" pitchFamily="18" charset="0"/>
                          </a:rPr>
                        </m:ctrlPr>
                      </m:accPr>
                      <m:e>
                        <m:r>
                          <m:rPr>
                            <m:nor/>
                          </m:rPr>
                          <a:rPr lang="en-US" altLang="zh-CN" dirty="0"/>
                          <m:t>A</m:t>
                        </m:r>
                      </m:e>
                    </m:acc>
                  </m:oMath>
                </a14:m>
                <a:r>
                  <a:rPr lang="en-US" altLang="zh-CN" dirty="0"/>
                  <a:t>B=A+B </a:t>
                </a:r>
                <a:r>
                  <a:rPr lang="zh-CN" altLang="en-US" dirty="0"/>
                  <a:t>对表达式进行化简，可以得到</a:t>
                </a:r>
                <a:r>
                  <a:rPr lang="en-US" altLang="zh-CN" dirty="0"/>
                  <a:t>:</a:t>
                </a:r>
                <a:endParaRPr lang="zh-CN" altLang="zh-CN" dirty="0"/>
              </a:p>
            </p:txBody>
          </p:sp>
        </mc:Choice>
        <mc:Fallback xmlns="">
          <p:sp>
            <p:nvSpPr>
              <p:cNvPr id="374786" name="Rectangle 2"/>
              <p:cNvSpPr>
                <a:spLocks noGrp="1" noRot="1" noChangeAspect="1" noMove="1" noResize="1" noEditPoints="1" noAdjustHandles="1" noChangeArrowheads="1" noChangeShapeType="1" noTextEdit="1"/>
              </p:cNvSpPr>
              <p:nvPr>
                <p:ph type="title"/>
              </p:nvPr>
            </p:nvSpPr>
            <p:spPr>
              <a:blipFill rotWithShape="1">
                <a:blip r:embed="rId2"/>
                <a:stretch>
                  <a:fillRect l="-1202"/>
                </a:stretch>
              </a:blipFill>
            </p:spPr>
            <p:txBody>
              <a:bodyPr/>
              <a:lstStyle/>
              <a:p>
                <a:r>
                  <a:rPr lang="zh-CN" altLang="en-US">
                    <a:noFill/>
                  </a:rPr>
                  <a:t> </a:t>
                </a:r>
              </a:p>
            </p:txBody>
          </p:sp>
        </mc:Fallback>
      </mc:AlternateContent>
      <p:sp>
        <p:nvSpPr>
          <p:cNvPr id="374787"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1640" y="2060848"/>
            <a:ext cx="6984441" cy="225340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2"/>
          <p:cNvSpPr>
            <a:spLocks noGrp="1" noChangeArrowheads="1"/>
          </p:cNvSpPr>
          <p:nvPr>
            <p:ph type="title"/>
          </p:nvPr>
        </p:nvSpPr>
        <p:spPr>
          <a:xfrm>
            <a:off x="539552" y="404664"/>
            <a:ext cx="8115300" cy="5638800"/>
          </a:xfrm>
        </p:spPr>
        <p:txBody>
          <a:bodyPr/>
          <a:lstStyle/>
          <a:p>
            <a:br>
              <a:rPr lang="en-US" altLang="zh-CN" dirty="0"/>
            </a:br>
            <a:r>
              <a:rPr lang="zh-CN" altLang="en-US" dirty="0"/>
              <a:t>图 </a:t>
            </a:r>
            <a:r>
              <a:rPr lang="en-US" altLang="zh-CN" dirty="0"/>
              <a:t>3-4 </a:t>
            </a:r>
            <a:r>
              <a:rPr lang="zh-CN" altLang="en-US" dirty="0"/>
              <a:t>是用与非门实现的三位二进制优先编码器的逻辑图。</a:t>
            </a:r>
            <a:endParaRPr lang="zh-CN" altLang="zh-CN" dirty="0"/>
          </a:p>
        </p:txBody>
      </p:sp>
      <p:sp>
        <p:nvSpPr>
          <p:cNvPr id="375811" name="Rectangle 3"/>
          <p:cNvSpPr>
            <a:spLocks noGrp="1" noChangeArrowheads="1"/>
          </p:cNvSpPr>
          <p:nvPr>
            <p:ph type="body" idx="1"/>
          </p:nvPr>
        </p:nvSpPr>
        <p:spPr/>
        <p:txBody>
          <a:bodyPr/>
          <a:lstStyle/>
          <a:p>
            <a:r>
              <a:rPr lang="zh-CN" altLang="en-US" dirty="0"/>
              <a:t>图 </a:t>
            </a:r>
            <a:r>
              <a:rPr lang="en-US" altLang="zh-CN" dirty="0"/>
              <a:t>3-4  </a:t>
            </a:r>
            <a:r>
              <a:rPr lang="zh-CN" altLang="en-US" dirty="0"/>
              <a:t>三位二进制优先编码器的逻辑图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3648" y="1340768"/>
            <a:ext cx="6295033" cy="434594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p:cNvSpPr>
            <a:spLocks noGrp="1" noChangeArrowheads="1"/>
          </p:cNvSpPr>
          <p:nvPr>
            <p:ph type="title"/>
          </p:nvPr>
        </p:nvSpPr>
        <p:spPr/>
        <p:txBody>
          <a:bodyPr/>
          <a:lstStyle/>
          <a:p>
            <a:br>
              <a:rPr lang="en-US" altLang="zh-CN" dirty="0"/>
            </a:br>
            <a:r>
              <a:rPr lang="zh-CN" altLang="en-US" dirty="0"/>
              <a:t>　　</a:t>
            </a:r>
            <a:r>
              <a:rPr lang="en-US" altLang="zh-CN" b="1" dirty="0"/>
              <a:t>3.8421BCD </a:t>
            </a:r>
            <a:r>
              <a:rPr lang="zh-CN" altLang="en-US" b="1" dirty="0"/>
              <a:t>普通编码器</a:t>
            </a:r>
            <a:br>
              <a:rPr lang="zh-CN" altLang="en-US" dirty="0"/>
            </a:br>
            <a:r>
              <a:rPr lang="zh-CN" altLang="en-US" dirty="0"/>
              <a:t>　　用四位 </a:t>
            </a:r>
            <a:r>
              <a:rPr lang="en-US" altLang="zh-CN" dirty="0"/>
              <a:t>8421 </a:t>
            </a:r>
            <a:r>
              <a:rPr lang="zh-CN" altLang="en-US" dirty="0"/>
              <a:t>二进制代码对 </a:t>
            </a:r>
            <a:r>
              <a:rPr lang="en-US" altLang="zh-CN" dirty="0"/>
              <a:t>0~9 </a:t>
            </a:r>
            <a:r>
              <a:rPr lang="zh-CN" altLang="en-US" dirty="0"/>
              <a:t>十个相互排斥的十进制数进行编码的电路称为</a:t>
            </a:r>
            <a:r>
              <a:rPr lang="en-US" altLang="zh-CN" dirty="0"/>
              <a:t>8421BCD </a:t>
            </a:r>
            <a:r>
              <a:rPr lang="zh-CN" altLang="en-US" dirty="0"/>
              <a:t>普通编码器。它有十个输入、四个输出。图 </a:t>
            </a:r>
            <a:r>
              <a:rPr lang="en-US" altLang="zh-CN" dirty="0"/>
              <a:t>3-5 </a:t>
            </a:r>
            <a:r>
              <a:rPr lang="zh-CN" altLang="en-US" dirty="0"/>
              <a:t>是 </a:t>
            </a:r>
            <a:r>
              <a:rPr lang="en-US" altLang="zh-CN" dirty="0"/>
              <a:t>8421BCD </a:t>
            </a:r>
            <a:r>
              <a:rPr lang="zh-CN" altLang="en-US" dirty="0"/>
              <a:t>普通编码器的框图，</a:t>
            </a:r>
            <a:br>
              <a:rPr lang="en-US" altLang="zh-CN" dirty="0"/>
            </a:br>
            <a:r>
              <a:rPr lang="zh-CN" altLang="en-US" dirty="0"/>
              <a:t>表 </a:t>
            </a:r>
            <a:r>
              <a:rPr lang="en-US" altLang="zh-CN" dirty="0"/>
              <a:t>3-3 </a:t>
            </a:r>
            <a:r>
              <a:rPr lang="zh-CN" altLang="en-US" dirty="0"/>
              <a:t>是它的真值表。表 </a:t>
            </a:r>
            <a:r>
              <a:rPr lang="en-US" altLang="zh-CN" dirty="0"/>
              <a:t>3-3 </a:t>
            </a:r>
            <a:r>
              <a:rPr lang="zh-CN" altLang="en-US" dirty="0"/>
              <a:t>中只列出了输入 </a:t>
            </a:r>
            <a:r>
              <a:rPr lang="en-US" altLang="zh-CN" dirty="0"/>
              <a:t>I</a:t>
            </a:r>
            <a:r>
              <a:rPr lang="en-US" altLang="zh-CN" baseline="-25000" dirty="0"/>
              <a:t>0</a:t>
            </a:r>
            <a:r>
              <a:rPr lang="en-US" altLang="zh-CN" dirty="0"/>
              <a:t> ~I </a:t>
            </a:r>
            <a:r>
              <a:rPr lang="en-US" altLang="zh-CN" baseline="-25000" dirty="0"/>
              <a:t>9</a:t>
            </a:r>
            <a:r>
              <a:rPr lang="en-US" altLang="zh-CN" dirty="0"/>
              <a:t> </a:t>
            </a:r>
            <a:r>
              <a:rPr lang="zh-CN" altLang="en-US" dirty="0"/>
              <a:t>可能出现的组合，其他组合都是不可能发生的，也就是约束，约束可以表示为</a:t>
            </a:r>
            <a:br>
              <a:rPr lang="en-US" altLang="zh-CN" dirty="0"/>
            </a:br>
            <a:r>
              <a:rPr lang="zh-CN" altLang="en-US" dirty="0"/>
              <a:t>　　　　　</a:t>
            </a:r>
            <a:r>
              <a:rPr lang="en-US" altLang="zh-CN" dirty="0"/>
              <a:t>I</a:t>
            </a:r>
            <a:r>
              <a:rPr lang="en-US" altLang="zh-CN" baseline="-25000" dirty="0"/>
              <a:t>i</a:t>
            </a:r>
            <a:r>
              <a:rPr lang="en-US" altLang="zh-CN" dirty="0"/>
              <a:t> I </a:t>
            </a:r>
            <a:r>
              <a:rPr lang="en-US" altLang="zh-CN" baseline="-25000" dirty="0"/>
              <a:t>j</a:t>
            </a:r>
            <a:r>
              <a:rPr lang="en-US" altLang="zh-CN" dirty="0"/>
              <a:t> =0 (i ≠ j </a:t>
            </a:r>
            <a:r>
              <a:rPr lang="zh-CN" altLang="en-US" dirty="0"/>
              <a:t>，</a:t>
            </a:r>
            <a:r>
              <a:rPr lang="en-US" altLang="zh-CN" dirty="0"/>
              <a:t> i </a:t>
            </a:r>
            <a:r>
              <a:rPr lang="zh-CN" altLang="en-US" dirty="0"/>
              <a:t>，</a:t>
            </a:r>
            <a:r>
              <a:rPr lang="en-US" altLang="zh-CN" dirty="0"/>
              <a:t> j =0 </a:t>
            </a:r>
            <a:r>
              <a:rPr lang="zh-CN" altLang="en-US" dirty="0"/>
              <a:t>，</a:t>
            </a:r>
            <a:r>
              <a:rPr lang="en-US" altLang="zh-CN" dirty="0"/>
              <a:t> 1 </a:t>
            </a:r>
            <a:r>
              <a:rPr lang="zh-CN" altLang="en-US" dirty="0"/>
              <a:t>，</a:t>
            </a:r>
            <a:r>
              <a:rPr lang="en-US" altLang="zh-CN" dirty="0"/>
              <a:t>…</a:t>
            </a:r>
            <a:r>
              <a:rPr lang="zh-CN" altLang="en-US" dirty="0"/>
              <a:t>，</a:t>
            </a:r>
            <a:r>
              <a:rPr lang="en-US" altLang="zh-CN" dirty="0"/>
              <a:t> 9 )</a:t>
            </a:r>
            <a:endParaRPr lang="zh-CN" altLang="zh-CN" dirty="0"/>
          </a:p>
        </p:txBody>
      </p:sp>
      <p:sp>
        <p:nvSpPr>
          <p:cNvPr id="37683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2"/>
          <p:cNvSpPr>
            <a:spLocks noGrp="1" noChangeArrowheads="1"/>
          </p:cNvSpPr>
          <p:nvPr>
            <p:ph type="title"/>
          </p:nvPr>
        </p:nvSpPr>
        <p:spPr/>
        <p:txBody>
          <a:bodyPr/>
          <a:lstStyle/>
          <a:p>
            <a:br>
              <a:rPr lang="en-US" altLang="zh-CN" dirty="0"/>
            </a:br>
            <a:r>
              <a:rPr lang="zh-CN" altLang="en-US" dirty="0"/>
              <a:t>　　由表 </a:t>
            </a:r>
            <a:r>
              <a:rPr lang="en-US" altLang="zh-CN" dirty="0"/>
              <a:t>3-3 </a:t>
            </a:r>
            <a:r>
              <a:rPr lang="zh-CN" altLang="en-US" dirty="0"/>
              <a:t>真值表可以写出如下逻辑表达式</a:t>
            </a:r>
            <a:r>
              <a:rPr lang="en-US" altLang="zh-CN" dirty="0"/>
              <a:t>:</a:t>
            </a:r>
            <a:endParaRPr lang="zh-CN" altLang="zh-CN" dirty="0"/>
          </a:p>
        </p:txBody>
      </p:sp>
      <p:sp>
        <p:nvSpPr>
          <p:cNvPr id="377859"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3688" y="1628800"/>
            <a:ext cx="5785145" cy="39604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Rectangle 2"/>
          <p:cNvSpPr>
            <a:spLocks noGrp="1" noChangeArrowheads="1"/>
          </p:cNvSpPr>
          <p:nvPr>
            <p:ph type="title"/>
          </p:nvPr>
        </p:nvSpPr>
        <p:spPr/>
        <p:txBody>
          <a:bodyPr/>
          <a:lstStyle/>
          <a:p>
            <a:endParaRPr lang="zh-CN" altLang="zh-CN"/>
          </a:p>
        </p:txBody>
      </p:sp>
      <p:sp>
        <p:nvSpPr>
          <p:cNvPr id="378883" name="Rectangle 3"/>
          <p:cNvSpPr>
            <a:spLocks noGrp="1" noChangeArrowheads="1"/>
          </p:cNvSpPr>
          <p:nvPr>
            <p:ph type="body" idx="1"/>
          </p:nvPr>
        </p:nvSpPr>
        <p:spPr/>
        <p:txBody>
          <a:bodyPr/>
          <a:lstStyle/>
          <a:p>
            <a:r>
              <a:rPr lang="zh-CN" altLang="en-US" dirty="0"/>
              <a:t>图 </a:t>
            </a:r>
            <a:r>
              <a:rPr lang="en-US" altLang="zh-CN" dirty="0"/>
              <a:t>3-5 8421BCD </a:t>
            </a:r>
            <a:r>
              <a:rPr lang="zh-CN" altLang="en-US" dirty="0"/>
              <a:t>普通编码器的框图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7744" y="980728"/>
            <a:ext cx="4882852" cy="434031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p:txBody>
          <a:bodyPr/>
          <a:lstStyle/>
          <a:p>
            <a:endParaRPr lang="zh-CN" altLang="zh-CN"/>
          </a:p>
        </p:txBody>
      </p:sp>
      <p:sp>
        <p:nvSpPr>
          <p:cNvPr id="379907"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600" y="1268761"/>
            <a:ext cx="7533671" cy="395570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2"/>
          <p:cNvSpPr>
            <a:spLocks noGrp="1" noChangeArrowheads="1"/>
          </p:cNvSpPr>
          <p:nvPr>
            <p:ph type="title"/>
          </p:nvPr>
        </p:nvSpPr>
        <p:spPr/>
        <p:txBody>
          <a:bodyPr/>
          <a:lstStyle/>
          <a:p>
            <a:br>
              <a:rPr lang="en-US" altLang="zh-CN" dirty="0"/>
            </a:br>
            <a:r>
              <a:rPr lang="zh-CN" altLang="en-US" dirty="0"/>
              <a:t>　　利用约束条件 </a:t>
            </a:r>
            <a:r>
              <a:rPr lang="en-US" altLang="zh-CN" dirty="0"/>
              <a:t>I</a:t>
            </a:r>
            <a:r>
              <a:rPr lang="en-US" altLang="zh-CN" baseline="-25000" dirty="0"/>
              <a:t>i </a:t>
            </a:r>
            <a:r>
              <a:rPr lang="en-US" altLang="zh-CN" dirty="0"/>
              <a:t>I </a:t>
            </a:r>
            <a:r>
              <a:rPr lang="en-US" altLang="zh-CN" baseline="-25000" dirty="0"/>
              <a:t>j</a:t>
            </a:r>
            <a:r>
              <a:rPr lang="en-US" altLang="zh-CN" dirty="0"/>
              <a:t> =0 (i ≠ j </a:t>
            </a:r>
            <a:r>
              <a:rPr lang="zh-CN" altLang="en-US" dirty="0"/>
              <a:t>，</a:t>
            </a:r>
            <a:r>
              <a:rPr lang="en-US" altLang="zh-CN" dirty="0"/>
              <a:t> i </a:t>
            </a:r>
            <a:r>
              <a:rPr lang="zh-CN" altLang="en-US" dirty="0"/>
              <a:t>，</a:t>
            </a:r>
            <a:r>
              <a:rPr lang="en-US" altLang="zh-CN" dirty="0"/>
              <a:t> j =0 </a:t>
            </a:r>
            <a:r>
              <a:rPr lang="zh-CN" altLang="en-US" dirty="0"/>
              <a:t>，</a:t>
            </a:r>
            <a:r>
              <a:rPr lang="en-US" altLang="zh-CN" dirty="0"/>
              <a:t> 1 </a:t>
            </a:r>
            <a:r>
              <a:rPr lang="zh-CN" altLang="en-US" dirty="0"/>
              <a:t>，</a:t>
            </a:r>
            <a:r>
              <a:rPr lang="en-US" altLang="zh-CN" dirty="0"/>
              <a:t>…</a:t>
            </a:r>
            <a:r>
              <a:rPr lang="zh-CN" altLang="en-US" dirty="0"/>
              <a:t>，</a:t>
            </a:r>
            <a:r>
              <a:rPr lang="en-US" altLang="zh-CN" dirty="0"/>
              <a:t> 9 )</a:t>
            </a:r>
            <a:r>
              <a:rPr lang="zh-CN" altLang="en-US" dirty="0"/>
              <a:t>和公式 </a:t>
            </a:r>
            <a:r>
              <a:rPr lang="en-US" altLang="zh-CN" dirty="0"/>
              <a:t>A+ </a:t>
            </a:r>
            <a:r>
              <a:rPr lang="zh-CN" altLang="en-US" dirty="0"/>
              <a:t>􀮀 </a:t>
            </a:r>
            <a:r>
              <a:rPr lang="en-US" altLang="zh-CN" dirty="0"/>
              <a:t>AB=A+B </a:t>
            </a:r>
            <a:r>
              <a:rPr lang="zh-CN" altLang="en-US" dirty="0"/>
              <a:t>对上面的表达</a:t>
            </a:r>
            <a:br>
              <a:rPr lang="zh-CN" altLang="en-US" dirty="0"/>
            </a:br>
            <a:r>
              <a:rPr lang="zh-CN" altLang="en-US" dirty="0"/>
              <a:t>式进行化简，可以得到</a:t>
            </a:r>
            <a:r>
              <a:rPr lang="en-US" altLang="zh-CN" dirty="0"/>
              <a:t>:</a:t>
            </a:r>
            <a:endParaRPr lang="zh-CN" altLang="zh-CN" dirty="0"/>
          </a:p>
        </p:txBody>
      </p:sp>
      <p:sp>
        <p:nvSpPr>
          <p:cNvPr id="380931"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3808" y="2586037"/>
            <a:ext cx="4306440" cy="249914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p:txBody>
          <a:bodyPr/>
          <a:lstStyle/>
          <a:p>
            <a:br>
              <a:rPr lang="en-US" altLang="zh-CN" dirty="0"/>
            </a:br>
            <a:r>
              <a:rPr lang="zh-CN" altLang="en-US" dirty="0"/>
              <a:t>　　图 </a:t>
            </a:r>
            <a:r>
              <a:rPr lang="en-US" altLang="zh-CN" dirty="0"/>
              <a:t>3-6 </a:t>
            </a:r>
            <a:r>
              <a:rPr lang="zh-CN" altLang="en-US" dirty="0"/>
              <a:t>是用与非门实现的 </a:t>
            </a:r>
            <a:r>
              <a:rPr lang="en-US" altLang="zh-CN" dirty="0"/>
              <a:t>8421BCD </a:t>
            </a:r>
            <a:r>
              <a:rPr lang="zh-CN" altLang="en-US" dirty="0"/>
              <a:t>普通编码器的逻辑图。</a:t>
            </a:r>
            <a:endParaRPr lang="zh-CN" altLang="zh-CN" dirty="0"/>
          </a:p>
        </p:txBody>
      </p:sp>
      <p:sp>
        <p:nvSpPr>
          <p:cNvPr id="381955" name="Rectangle 3"/>
          <p:cNvSpPr>
            <a:spLocks noGrp="1" noChangeArrowheads="1"/>
          </p:cNvSpPr>
          <p:nvPr>
            <p:ph type="body" idx="1"/>
          </p:nvPr>
        </p:nvSpPr>
        <p:spPr/>
        <p:txBody>
          <a:bodyPr/>
          <a:lstStyle/>
          <a:p>
            <a:r>
              <a:rPr lang="zh-CN" altLang="en-US" dirty="0"/>
              <a:t>图 </a:t>
            </a:r>
            <a:r>
              <a:rPr lang="en-US" altLang="zh-CN" dirty="0"/>
              <a:t>3-6 8421BCD </a:t>
            </a:r>
            <a:r>
              <a:rPr lang="zh-CN" altLang="en-US" dirty="0"/>
              <a:t>普通编码器的逻辑图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2587" y="1881187"/>
            <a:ext cx="5838825" cy="309562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p:cNvSpPr>
            <a:spLocks noGrp="1" noChangeArrowheads="1"/>
          </p:cNvSpPr>
          <p:nvPr>
            <p:ph type="title"/>
          </p:nvPr>
        </p:nvSpPr>
        <p:spPr/>
        <p:txBody>
          <a:bodyPr/>
          <a:lstStyle/>
          <a:p>
            <a:br>
              <a:rPr lang="en-US" altLang="zh-CN" dirty="0"/>
            </a:br>
            <a:r>
              <a:rPr lang="zh-CN" altLang="en-US" dirty="0"/>
              <a:t>　　</a:t>
            </a:r>
            <a:r>
              <a:rPr lang="en-US" altLang="zh-CN" dirty="0"/>
              <a:t>4.8421BCD </a:t>
            </a:r>
            <a:r>
              <a:rPr lang="zh-CN" altLang="en-US" dirty="0"/>
              <a:t>优先编码器</a:t>
            </a:r>
            <a:br>
              <a:rPr lang="zh-CN" altLang="en-US" dirty="0"/>
            </a:br>
            <a:r>
              <a:rPr lang="zh-CN" altLang="en-US" dirty="0"/>
              <a:t>　　用四位 </a:t>
            </a:r>
            <a:r>
              <a:rPr lang="en-US" altLang="zh-CN" dirty="0"/>
              <a:t>8421 </a:t>
            </a:r>
            <a:r>
              <a:rPr lang="zh-CN" altLang="en-US" dirty="0"/>
              <a:t>二进制代码对 </a:t>
            </a:r>
            <a:r>
              <a:rPr lang="en-US" altLang="zh-CN" dirty="0"/>
              <a:t>0~9 </a:t>
            </a:r>
            <a:r>
              <a:rPr lang="zh-CN" altLang="en-US" dirty="0"/>
              <a:t>这十个允许同时出现的十进制数按一定优先顺序进行编码，当有一个以上信号同时出现时，只对其中优先级别最高的一个进行编码，这样的电路称为</a:t>
            </a:r>
            <a:r>
              <a:rPr lang="en-US" altLang="zh-CN" dirty="0"/>
              <a:t>8421BCD </a:t>
            </a:r>
            <a:r>
              <a:rPr lang="zh-CN" altLang="en-US" dirty="0"/>
              <a:t>优先编码器。 </a:t>
            </a:r>
            <a:r>
              <a:rPr lang="en-US" altLang="zh-CN" dirty="0"/>
              <a:t>8421BCD </a:t>
            </a:r>
            <a:r>
              <a:rPr lang="zh-CN" altLang="en-US" dirty="0"/>
              <a:t>优先编码器的框图如图 </a:t>
            </a:r>
            <a:r>
              <a:rPr lang="en-US" altLang="zh-CN" dirty="0"/>
              <a:t>3</a:t>
            </a:r>
            <a:r>
              <a:rPr lang="zh-CN" altLang="en-US" dirty="0"/>
              <a:t>－</a:t>
            </a:r>
            <a:r>
              <a:rPr lang="en-US" altLang="zh-CN" dirty="0"/>
              <a:t>7 </a:t>
            </a:r>
            <a:r>
              <a:rPr lang="zh-CN" altLang="en-US" dirty="0"/>
              <a:t>所示，表 </a:t>
            </a:r>
            <a:r>
              <a:rPr lang="en-US" altLang="zh-CN" dirty="0"/>
              <a:t>3</a:t>
            </a:r>
            <a:r>
              <a:rPr lang="zh-CN" altLang="en-US" dirty="0"/>
              <a:t>－</a:t>
            </a:r>
            <a:r>
              <a:rPr lang="en-US" altLang="zh-CN" dirty="0"/>
              <a:t>4 </a:t>
            </a:r>
            <a:r>
              <a:rPr lang="zh-CN" altLang="en-US" dirty="0"/>
              <a:t>是它的真值表。在真值表中，给 </a:t>
            </a:r>
            <a:r>
              <a:rPr lang="en-US" altLang="zh-CN" dirty="0"/>
              <a:t>I</a:t>
            </a:r>
            <a:r>
              <a:rPr lang="en-US" altLang="zh-CN" baseline="-25000" dirty="0"/>
              <a:t>0</a:t>
            </a:r>
            <a:r>
              <a:rPr lang="en-US" altLang="zh-CN" dirty="0"/>
              <a:t> ~I </a:t>
            </a:r>
            <a:r>
              <a:rPr lang="en-US" altLang="zh-CN" baseline="-25000" dirty="0"/>
              <a:t>9</a:t>
            </a:r>
            <a:r>
              <a:rPr lang="en-US" altLang="zh-CN" dirty="0"/>
              <a:t> </a:t>
            </a:r>
            <a:r>
              <a:rPr lang="zh-CN" altLang="en-US" dirty="0"/>
              <a:t>假定了不同的优先级，</a:t>
            </a:r>
            <a:r>
              <a:rPr lang="en-US" altLang="zh-CN" dirty="0"/>
              <a:t> I</a:t>
            </a:r>
            <a:r>
              <a:rPr lang="en-US" altLang="zh-CN" baseline="-25000" dirty="0"/>
              <a:t> 9</a:t>
            </a:r>
            <a:r>
              <a:rPr lang="zh-CN" altLang="en-US" dirty="0"/>
              <a:t>的优先级最高，</a:t>
            </a:r>
            <a:r>
              <a:rPr lang="en-US" altLang="zh-CN" dirty="0"/>
              <a:t> I</a:t>
            </a:r>
            <a:r>
              <a:rPr lang="en-US" altLang="zh-CN" baseline="-25000" dirty="0"/>
              <a:t>8 </a:t>
            </a:r>
            <a:r>
              <a:rPr lang="zh-CN" altLang="en-US" dirty="0"/>
              <a:t>次之，</a:t>
            </a:r>
            <a:r>
              <a:rPr lang="en-US" altLang="zh-CN" dirty="0"/>
              <a:t> I </a:t>
            </a:r>
            <a:r>
              <a:rPr lang="en-US" altLang="zh-CN" baseline="-25000" dirty="0"/>
              <a:t>0 </a:t>
            </a:r>
            <a:r>
              <a:rPr lang="zh-CN" altLang="en-US" dirty="0"/>
              <a:t>的优先级最低。真值表中的“ </a:t>
            </a:r>
            <a:r>
              <a:rPr lang="en-US" altLang="zh-CN" dirty="0"/>
              <a:t>× ”</a:t>
            </a:r>
            <a:r>
              <a:rPr lang="zh-CN" altLang="en-US" dirty="0"/>
              <a:t>表示该输入信号取值无论是 </a:t>
            </a:r>
            <a:r>
              <a:rPr lang="en-US" altLang="zh-CN" dirty="0"/>
              <a:t>0 </a:t>
            </a:r>
            <a:r>
              <a:rPr lang="zh-CN" altLang="en-US" dirty="0"/>
              <a:t>还是 </a:t>
            </a:r>
            <a:r>
              <a:rPr lang="en-US" altLang="zh-CN" dirty="0"/>
              <a:t>1 </a:t>
            </a:r>
            <a:r>
              <a:rPr lang="zh-CN" altLang="en-US" dirty="0"/>
              <a:t>都无所谓，不影响电路的输出。</a:t>
            </a:r>
          </a:p>
        </p:txBody>
      </p:sp>
      <p:sp>
        <p:nvSpPr>
          <p:cNvPr id="38297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p:txBody>
          <a:bodyPr/>
          <a:lstStyle/>
          <a:p>
            <a:endParaRPr lang="zh-CN" altLang="zh-CN"/>
          </a:p>
        </p:txBody>
      </p:sp>
      <p:sp>
        <p:nvSpPr>
          <p:cNvPr id="384003" name="Rectangle 3"/>
          <p:cNvSpPr>
            <a:spLocks noGrp="1" noChangeArrowheads="1"/>
          </p:cNvSpPr>
          <p:nvPr>
            <p:ph type="body" idx="1"/>
          </p:nvPr>
        </p:nvSpPr>
        <p:spPr/>
        <p:txBody>
          <a:bodyPr/>
          <a:lstStyle/>
          <a:p>
            <a:r>
              <a:rPr lang="zh-CN" altLang="en-US" dirty="0"/>
              <a:t>图 </a:t>
            </a:r>
            <a:r>
              <a:rPr lang="en-US" altLang="zh-CN" dirty="0"/>
              <a:t>3</a:t>
            </a:r>
            <a:r>
              <a:rPr lang="zh-CN" altLang="en-US" dirty="0"/>
              <a:t>－</a:t>
            </a:r>
            <a:r>
              <a:rPr lang="en-US" altLang="zh-CN" dirty="0"/>
              <a:t>7 8421BCD </a:t>
            </a:r>
            <a:r>
              <a:rPr lang="zh-CN" altLang="en-US" dirty="0"/>
              <a:t>优先编码器的框图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3728" y="1196752"/>
            <a:ext cx="4917555" cy="417335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p:cNvSpPr>
            <a:spLocks noGrp="1" noChangeArrowheads="1"/>
          </p:cNvSpPr>
          <p:nvPr>
            <p:ph type="title"/>
          </p:nvPr>
        </p:nvSpPr>
        <p:spPr/>
        <p:txBody>
          <a:bodyPr/>
          <a:lstStyle/>
          <a:p>
            <a:endParaRPr lang="zh-CN" altLang="zh-CN"/>
          </a:p>
        </p:txBody>
      </p:sp>
      <p:sp>
        <p:nvSpPr>
          <p:cNvPr id="385027"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336" y="1390365"/>
            <a:ext cx="7897328" cy="407726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p:txBody>
          <a:bodyPr/>
          <a:lstStyle/>
          <a:p>
            <a:br>
              <a:rPr lang="en-US" altLang="zh-CN" dirty="0"/>
            </a:br>
            <a:r>
              <a:rPr lang="zh-CN" altLang="en-US" dirty="0"/>
              <a:t>　　由表 </a:t>
            </a:r>
            <a:r>
              <a:rPr lang="en-US" altLang="zh-CN" dirty="0"/>
              <a:t>3</a:t>
            </a:r>
            <a:r>
              <a:rPr lang="zh-CN" altLang="en-US" dirty="0"/>
              <a:t>－</a:t>
            </a:r>
            <a:r>
              <a:rPr lang="en-US" altLang="zh-CN" dirty="0"/>
              <a:t>4 </a:t>
            </a:r>
            <a:r>
              <a:rPr lang="zh-CN" altLang="en-US" dirty="0"/>
              <a:t>的真值表可以写出如下逻辑表达式</a:t>
            </a:r>
            <a:r>
              <a:rPr lang="en-US" altLang="zh-CN" dirty="0"/>
              <a:t>:</a:t>
            </a:r>
            <a:endParaRPr lang="zh-CN" altLang="zh-CN" dirty="0"/>
          </a:p>
        </p:txBody>
      </p:sp>
      <p:sp>
        <p:nvSpPr>
          <p:cNvPr id="386051"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572" y="2060848"/>
            <a:ext cx="7901136" cy="221487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87074" name="Rectangle 2"/>
              <p:cNvSpPr>
                <a:spLocks noGrp="1" noChangeArrowheads="1"/>
              </p:cNvSpPr>
              <p:nvPr>
                <p:ph type="title"/>
              </p:nvPr>
            </p:nvSpPr>
            <p:spPr/>
            <p:txBody>
              <a:bodyPr/>
              <a:lstStyle/>
              <a:p>
                <a:br>
                  <a:rPr lang="en-US" altLang="zh-CN" dirty="0"/>
                </a:br>
                <a:r>
                  <a:rPr lang="zh-CN" altLang="en-US" dirty="0"/>
                  <a:t>　　利用公式 </a:t>
                </a:r>
                <a:r>
                  <a:rPr lang="en-US" altLang="zh-CN" dirty="0"/>
                  <a:t>A+</a:t>
                </a:r>
                <a14:m>
                  <m:oMath xmlns:m="http://schemas.openxmlformats.org/officeDocument/2006/math">
                    <m:acc>
                      <m:accPr>
                        <m:chr m:val="̅"/>
                        <m:ctrlPr>
                          <a:rPr lang="zh-CN" altLang="en-US" i="1" smtClean="0">
                            <a:latin typeface="Cambria Math" panose="02040503050406030204" pitchFamily="18" charset="0"/>
                          </a:rPr>
                        </m:ctrlPr>
                      </m:accPr>
                      <m:e>
                        <m:r>
                          <m:rPr>
                            <m:nor/>
                          </m:rPr>
                          <a:rPr lang="en-US" altLang="zh-CN" dirty="0"/>
                          <m:t>A</m:t>
                        </m:r>
                      </m:e>
                    </m:acc>
                  </m:oMath>
                </a14:m>
                <a:r>
                  <a:rPr lang="en-US" altLang="zh-CN" dirty="0"/>
                  <a:t>B=A+B </a:t>
                </a:r>
                <a:r>
                  <a:rPr lang="zh-CN" altLang="en-US" dirty="0"/>
                  <a:t>对表达式进行化简，可以得到</a:t>
                </a:r>
                <a:r>
                  <a:rPr lang="en-US" altLang="zh-CN" dirty="0"/>
                  <a:t>:</a:t>
                </a:r>
                <a:endParaRPr lang="zh-CN" altLang="zh-CN" dirty="0"/>
              </a:p>
            </p:txBody>
          </p:sp>
        </mc:Choice>
        <mc:Fallback xmlns="">
          <p:sp>
            <p:nvSpPr>
              <p:cNvPr id="387074" name="Rectangle 2"/>
              <p:cNvSpPr>
                <a:spLocks noGrp="1" noRot="1" noChangeAspect="1" noMove="1" noResize="1" noEditPoints="1" noAdjustHandles="1" noChangeArrowheads="1" noChangeShapeType="1" noTextEdit="1"/>
              </p:cNvSpPr>
              <p:nvPr>
                <p:ph type="title"/>
              </p:nvPr>
            </p:nvSpPr>
            <p:spPr>
              <a:blipFill rotWithShape="1">
                <a:blip r:embed="rId2"/>
                <a:stretch>
                  <a:fillRect/>
                </a:stretch>
              </a:blipFill>
            </p:spPr>
            <p:txBody>
              <a:bodyPr/>
              <a:lstStyle/>
              <a:p>
                <a:r>
                  <a:rPr lang="zh-CN" altLang="en-US">
                    <a:noFill/>
                  </a:rPr>
                  <a:t> </a:t>
                </a:r>
              </a:p>
            </p:txBody>
          </p:sp>
        </mc:Fallback>
      </mc:AlternateContent>
      <p:sp>
        <p:nvSpPr>
          <p:cNvPr id="387075"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5656" y="1844824"/>
            <a:ext cx="6296487" cy="2374301"/>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2"/>
          <p:cNvSpPr>
            <a:spLocks noGrp="1" noChangeArrowheads="1"/>
          </p:cNvSpPr>
          <p:nvPr>
            <p:ph type="title"/>
          </p:nvPr>
        </p:nvSpPr>
        <p:spPr>
          <a:xfrm>
            <a:off x="539552" y="332656"/>
            <a:ext cx="8115300" cy="5638800"/>
          </a:xfrm>
        </p:spPr>
        <p:txBody>
          <a:bodyPr/>
          <a:lstStyle/>
          <a:p>
            <a:br>
              <a:rPr lang="en-US" altLang="zh-CN" dirty="0"/>
            </a:br>
            <a:r>
              <a:rPr lang="zh-CN" altLang="en-US" dirty="0"/>
              <a:t>　　图 </a:t>
            </a:r>
            <a:r>
              <a:rPr lang="en-US" altLang="zh-CN" dirty="0"/>
              <a:t>3</a:t>
            </a:r>
            <a:r>
              <a:rPr lang="zh-CN" altLang="en-US" dirty="0"/>
              <a:t>－</a:t>
            </a:r>
            <a:r>
              <a:rPr lang="en-US" altLang="zh-CN" dirty="0"/>
              <a:t>8 </a:t>
            </a:r>
            <a:r>
              <a:rPr lang="zh-CN" altLang="en-US" dirty="0"/>
              <a:t>是用与非门实现的 </a:t>
            </a:r>
            <a:r>
              <a:rPr lang="en-US" altLang="zh-CN" dirty="0"/>
              <a:t>8421BCD </a:t>
            </a:r>
            <a:r>
              <a:rPr lang="zh-CN" altLang="en-US" dirty="0"/>
              <a:t>优先编码器的逻辑图。</a:t>
            </a:r>
            <a:endParaRPr lang="zh-CN" altLang="zh-CN" dirty="0"/>
          </a:p>
        </p:txBody>
      </p:sp>
      <p:sp>
        <p:nvSpPr>
          <p:cNvPr id="388099" name="Rectangle 3"/>
          <p:cNvSpPr>
            <a:spLocks noGrp="1" noChangeArrowheads="1"/>
          </p:cNvSpPr>
          <p:nvPr>
            <p:ph type="body" idx="1"/>
          </p:nvPr>
        </p:nvSpPr>
        <p:spPr/>
        <p:txBody>
          <a:bodyPr/>
          <a:lstStyle/>
          <a:p>
            <a:r>
              <a:rPr lang="zh-CN" altLang="en-US" dirty="0"/>
              <a:t>图 </a:t>
            </a:r>
            <a:r>
              <a:rPr lang="en-US" altLang="zh-CN" dirty="0"/>
              <a:t>3</a:t>
            </a:r>
            <a:r>
              <a:rPr lang="zh-CN" altLang="en-US" dirty="0"/>
              <a:t>－</a:t>
            </a:r>
            <a:r>
              <a:rPr lang="en-US" altLang="zh-CN" dirty="0"/>
              <a:t>8 8421BCD </a:t>
            </a:r>
            <a:r>
              <a:rPr lang="zh-CN" altLang="en-US" dirty="0"/>
              <a:t>优先编码器的逻辑图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576" y="1803915"/>
            <a:ext cx="7344816" cy="388215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89122" name="Rectangle 2"/>
              <p:cNvSpPr>
                <a:spLocks noGrp="1" noChangeArrowheads="1"/>
              </p:cNvSpPr>
              <p:nvPr>
                <p:ph type="title"/>
              </p:nvPr>
            </p:nvSpPr>
            <p:spPr/>
            <p:txBody>
              <a:bodyPr/>
              <a:lstStyle/>
              <a:p>
                <a:br>
                  <a:rPr lang="en-US" altLang="zh-CN" dirty="0"/>
                </a:br>
                <a:r>
                  <a:rPr lang="zh-CN" altLang="en-US" dirty="0"/>
                  <a:t>　　 </a:t>
                </a:r>
                <a:r>
                  <a:rPr lang="en-US" altLang="zh-CN" b="1" dirty="0"/>
                  <a:t>5.MSI74148 </a:t>
                </a:r>
                <a:r>
                  <a:rPr lang="zh-CN" altLang="en-US" b="1" dirty="0"/>
                  <a:t>优先编码器及应用</a:t>
                </a:r>
                <a:br>
                  <a:rPr lang="zh-CN" altLang="en-US" dirty="0"/>
                </a:br>
                <a:r>
                  <a:rPr lang="zh-CN" altLang="en-US" dirty="0"/>
                  <a:t>　　</a:t>
                </a:r>
                <a:r>
                  <a:rPr lang="en-US" altLang="zh-CN" dirty="0"/>
                  <a:t>74148 </a:t>
                </a:r>
                <a:r>
                  <a:rPr lang="zh-CN" altLang="en-US" dirty="0"/>
                  <a:t>是 </a:t>
                </a:r>
                <a:r>
                  <a:rPr lang="en-US" altLang="zh-CN" dirty="0"/>
                  <a:t>8 </a:t>
                </a:r>
                <a:r>
                  <a:rPr lang="zh-CN" altLang="en-US" dirty="0"/>
                  <a:t>线 </a:t>
                </a:r>
                <a:r>
                  <a:rPr lang="en-US" altLang="zh-CN" dirty="0"/>
                  <a:t>-3 </a:t>
                </a:r>
                <a:r>
                  <a:rPr lang="zh-CN" altLang="en-US" dirty="0"/>
                  <a:t>线优先编码器，其中，</a:t>
                </a:r>
                <a14:m>
                  <m:oMath xmlns:m="http://schemas.openxmlformats.org/officeDocument/2006/math">
                    <m:acc>
                      <m:accPr>
                        <m:chr m:val="̅"/>
                        <m:ctrlPr>
                          <a:rPr lang="zh-CN" altLang="en-US" i="1" smtClean="0">
                            <a:latin typeface="Cambria Math" panose="02040503050406030204" pitchFamily="18" charset="0"/>
                          </a:rPr>
                        </m:ctrlPr>
                      </m:accPr>
                      <m:e>
                        <m:r>
                          <m:rPr>
                            <m:nor/>
                          </m:rPr>
                          <a:rPr lang="en-US" altLang="zh-CN" dirty="0"/>
                          <m:t>I</m:t>
                        </m:r>
                        <m:r>
                          <m:rPr>
                            <m:nor/>
                          </m:rPr>
                          <a:rPr lang="en-US" altLang="zh-CN" baseline="-25000" dirty="0"/>
                          <m:t>7</m:t>
                        </m:r>
                      </m:e>
                    </m:acc>
                  </m:oMath>
                </a14:m>
                <a:r>
                  <a:rPr lang="en-US" altLang="zh-CN" dirty="0"/>
                  <a:t> </a:t>
                </a:r>
                <a:r>
                  <a:rPr lang="zh-CN" altLang="en-US" dirty="0"/>
                  <a:t>的优先级最高，</a:t>
                </a:r>
                <a:r>
                  <a:rPr lang="en-US" altLang="zh-CN" dirty="0"/>
                  <a:t> </a:t>
                </a:r>
                <a14:m>
                  <m:oMath xmlns:m="http://schemas.openxmlformats.org/officeDocument/2006/math">
                    <m:acc>
                      <m:accPr>
                        <m:chr m:val="̅"/>
                        <m:ctrlPr>
                          <a:rPr lang="zh-CN" altLang="en-US" i="1">
                            <a:latin typeface="Cambria Math" panose="02040503050406030204" pitchFamily="18" charset="0"/>
                          </a:rPr>
                        </m:ctrlPr>
                      </m:accPr>
                      <m:e>
                        <m:r>
                          <m:rPr>
                            <m:nor/>
                          </m:rPr>
                          <a:rPr lang="en-US" altLang="zh-CN"/>
                          <m:t>I</m:t>
                        </m:r>
                        <m:r>
                          <m:rPr>
                            <m:nor/>
                          </m:rPr>
                          <a:rPr lang="en-US" altLang="zh-CN" dirty="0"/>
                          <m:t> </m:t>
                        </m:r>
                        <m:r>
                          <m:rPr>
                            <m:nor/>
                          </m:rPr>
                          <a:rPr lang="en-US" altLang="zh-CN" baseline="-25000" dirty="0"/>
                          <m:t>6</m:t>
                        </m:r>
                      </m:e>
                    </m:acc>
                  </m:oMath>
                </a14:m>
                <a:r>
                  <a:rPr lang="en-US" altLang="zh-CN" dirty="0"/>
                  <a:t> </a:t>
                </a:r>
                <a:r>
                  <a:rPr lang="zh-CN" altLang="en-US" dirty="0"/>
                  <a:t>次之，</a:t>
                </a:r>
                <a14:m>
                  <m:oMath xmlns:m="http://schemas.openxmlformats.org/officeDocument/2006/math">
                    <m:acc>
                      <m:accPr>
                        <m:chr m:val="̅"/>
                        <m:ctrlPr>
                          <a:rPr lang="zh-CN" altLang="en-US" i="1">
                            <a:latin typeface="Cambria Math" panose="02040503050406030204" pitchFamily="18" charset="0"/>
                          </a:rPr>
                        </m:ctrlPr>
                      </m:accPr>
                      <m:e>
                        <m:r>
                          <m:rPr>
                            <m:nor/>
                          </m:rPr>
                          <a:rPr lang="en-US" altLang="zh-CN"/>
                          <m:t>I</m:t>
                        </m:r>
                        <m:r>
                          <m:rPr>
                            <m:nor/>
                          </m:rPr>
                          <a:rPr lang="en-US" altLang="zh-CN" dirty="0"/>
                          <m:t> </m:t>
                        </m:r>
                        <m:r>
                          <m:rPr>
                            <m:nor/>
                          </m:rPr>
                          <a:rPr lang="en-US" altLang="zh-CN" baseline="-25000" dirty="0"/>
                          <m:t>0</m:t>
                        </m:r>
                      </m:e>
                    </m:acc>
                  </m:oMath>
                </a14:m>
                <a:r>
                  <a:rPr lang="en-US" altLang="zh-CN" dirty="0"/>
                  <a:t> </a:t>
                </a:r>
                <a:r>
                  <a:rPr lang="zh-CN" altLang="en-US" dirty="0"/>
                  <a:t>最低。 </a:t>
                </a:r>
                <a:r>
                  <a:rPr lang="en-US" altLang="zh-CN" dirty="0"/>
                  <a:t>74148 </a:t>
                </a:r>
                <a:r>
                  <a:rPr lang="zh-CN" altLang="en-US" dirty="0"/>
                  <a:t>的输入和输出均为低电平有效，其引脚图和逻辑符号如图 </a:t>
                </a:r>
                <a:r>
                  <a:rPr lang="en-US" altLang="zh-CN" dirty="0"/>
                  <a:t>3</a:t>
                </a:r>
                <a:r>
                  <a:rPr lang="zh-CN" altLang="en-US" dirty="0"/>
                  <a:t>－</a:t>
                </a:r>
                <a:r>
                  <a:rPr lang="en-US" altLang="zh-CN" dirty="0"/>
                  <a:t>9 </a:t>
                </a:r>
                <a:r>
                  <a:rPr lang="zh-CN" altLang="en-US" dirty="0"/>
                  <a:t>所示，真值表如表 </a:t>
                </a:r>
                <a:r>
                  <a:rPr lang="en-US" altLang="zh-CN" dirty="0"/>
                  <a:t>3</a:t>
                </a:r>
                <a:r>
                  <a:rPr lang="zh-CN" altLang="en-US" dirty="0"/>
                  <a:t>－</a:t>
                </a:r>
                <a:r>
                  <a:rPr lang="en-US" altLang="zh-CN" dirty="0"/>
                  <a:t>5 </a:t>
                </a:r>
                <a:r>
                  <a:rPr lang="zh-CN" altLang="en-US" dirty="0"/>
                  <a:t>所示。其中，</a:t>
                </a:r>
                <a:r>
                  <a:rPr lang="en-US" altLang="zh-CN" dirty="0"/>
                  <a:t> </a:t>
                </a:r>
                <a14:m>
                  <m:oMath xmlns:m="http://schemas.openxmlformats.org/officeDocument/2006/math">
                    <m:acc>
                      <m:accPr>
                        <m:chr m:val="̅"/>
                        <m:ctrlPr>
                          <a:rPr lang="zh-CN" altLang="en-US" i="1">
                            <a:latin typeface="Cambria Math" panose="02040503050406030204" pitchFamily="18" charset="0"/>
                          </a:rPr>
                        </m:ctrlPr>
                      </m:accPr>
                      <m:e>
                        <m:r>
                          <m:rPr>
                            <m:nor/>
                          </m:rPr>
                          <a:rPr lang="en-US" altLang="zh-CN" dirty="0"/>
                          <m:t>ST</m:t>
                        </m:r>
                      </m:e>
                    </m:acc>
                  </m:oMath>
                </a14:m>
                <a:r>
                  <a:rPr lang="en-US" altLang="zh-CN" dirty="0"/>
                  <a:t> </a:t>
                </a:r>
                <a:r>
                  <a:rPr lang="zh-CN" altLang="en-US" dirty="0"/>
                  <a:t>为选通输入端，当 </a:t>
                </a:r>
                <a14:m>
                  <m:oMath xmlns:m="http://schemas.openxmlformats.org/officeDocument/2006/math">
                    <m:acc>
                      <m:accPr>
                        <m:chr m:val="̅"/>
                        <m:ctrlPr>
                          <a:rPr lang="zh-CN" altLang="en-US" i="1">
                            <a:latin typeface="Cambria Math" panose="02040503050406030204" pitchFamily="18" charset="0"/>
                          </a:rPr>
                        </m:ctrlPr>
                      </m:accPr>
                      <m:e>
                        <m:r>
                          <m:rPr>
                            <m:nor/>
                          </m:rPr>
                          <a:rPr lang="en-US" altLang="zh-CN" dirty="0"/>
                          <m:t>ST</m:t>
                        </m:r>
                      </m:e>
                    </m:acc>
                  </m:oMath>
                </a14:m>
                <a:r>
                  <a:rPr lang="en-US" altLang="zh-CN" dirty="0"/>
                  <a:t> =0 </a:t>
                </a:r>
                <a:r>
                  <a:rPr lang="zh-CN" altLang="en-US" dirty="0"/>
                  <a:t>时，编码器工作</a:t>
                </a:r>
                <a:r>
                  <a:rPr lang="en-US" altLang="zh-CN" dirty="0"/>
                  <a:t>;</a:t>
                </a:r>
                <a:r>
                  <a:rPr lang="zh-CN" altLang="en-US" dirty="0"/>
                  <a:t>当 </a:t>
                </a:r>
                <a14:m>
                  <m:oMath xmlns:m="http://schemas.openxmlformats.org/officeDocument/2006/math">
                    <m:acc>
                      <m:accPr>
                        <m:chr m:val="̅"/>
                        <m:ctrlPr>
                          <a:rPr lang="zh-CN" altLang="en-US" i="1">
                            <a:latin typeface="Cambria Math" panose="02040503050406030204" pitchFamily="18" charset="0"/>
                          </a:rPr>
                        </m:ctrlPr>
                      </m:accPr>
                      <m:e>
                        <m:r>
                          <m:rPr>
                            <m:nor/>
                          </m:rPr>
                          <a:rPr lang="en-US" altLang="zh-CN" dirty="0"/>
                          <m:t>ST</m:t>
                        </m:r>
                      </m:e>
                    </m:acc>
                  </m:oMath>
                </a14:m>
                <a:r>
                  <a:rPr lang="en-US" altLang="zh-CN" dirty="0"/>
                  <a:t> =1 </a:t>
                </a:r>
                <a:r>
                  <a:rPr lang="zh-CN" altLang="en-US" dirty="0"/>
                  <a:t>时，编码功能被禁止。 </a:t>
                </a:r>
                <a14:m>
                  <m:oMath xmlns:m="http://schemas.openxmlformats.org/officeDocument/2006/math">
                    <m:acc>
                      <m:accPr>
                        <m:chr m:val="̅"/>
                        <m:ctrlPr>
                          <a:rPr lang="zh-CN" altLang="en-US" i="1">
                            <a:latin typeface="Cambria Math" panose="02040503050406030204" pitchFamily="18" charset="0"/>
                          </a:rPr>
                        </m:ctrlPr>
                      </m:accPr>
                      <m:e>
                        <m:r>
                          <m:rPr>
                            <m:nor/>
                          </m:rPr>
                          <a:rPr lang="en-US" altLang="zh-CN" dirty="0"/>
                          <m:t>Y</m:t>
                        </m:r>
                      </m:e>
                    </m:acc>
                  </m:oMath>
                </a14:m>
                <a:r>
                  <a:rPr lang="en-US" altLang="zh-CN" baseline="-25000" dirty="0"/>
                  <a:t>EX</a:t>
                </a:r>
                <a:r>
                  <a:rPr lang="en-US" altLang="zh-CN" dirty="0"/>
                  <a:t> </a:t>
                </a:r>
                <a:r>
                  <a:rPr lang="zh-CN" altLang="en-US" dirty="0"/>
                  <a:t>为扩展输出端，</a:t>
                </a:r>
                <a:r>
                  <a:rPr lang="en-US" altLang="zh-CN" dirty="0"/>
                  <a:t>Y</a:t>
                </a:r>
                <a:r>
                  <a:rPr lang="en-US" altLang="zh-CN" baseline="-25000" dirty="0"/>
                  <a:t>S</a:t>
                </a:r>
                <a:r>
                  <a:rPr lang="en-US" altLang="zh-CN" dirty="0"/>
                  <a:t> </a:t>
                </a:r>
                <a:r>
                  <a:rPr lang="zh-CN" altLang="en-US" dirty="0"/>
                  <a:t>为选通输出端，利用 </a:t>
                </a:r>
                <a:r>
                  <a:rPr lang="en-US" altLang="zh-CN" dirty="0"/>
                  <a:t>ST </a:t>
                </a:r>
                <a:r>
                  <a:rPr lang="zh-CN" altLang="en-US" dirty="0"/>
                  <a:t>、</a:t>
                </a:r>
                <a14:m>
                  <m:oMath xmlns:m="http://schemas.openxmlformats.org/officeDocument/2006/math">
                    <m:acc>
                      <m:accPr>
                        <m:chr m:val="̅"/>
                        <m:ctrlPr>
                          <a:rPr lang="zh-CN" altLang="en-US" i="1">
                            <a:latin typeface="Cambria Math" panose="02040503050406030204" pitchFamily="18" charset="0"/>
                          </a:rPr>
                        </m:ctrlPr>
                      </m:accPr>
                      <m:e>
                        <m:r>
                          <m:rPr>
                            <m:nor/>
                          </m:rPr>
                          <a:rPr lang="en-US" altLang="zh-CN" dirty="0"/>
                          <m:t>Y</m:t>
                        </m:r>
                      </m:e>
                    </m:acc>
                  </m:oMath>
                </a14:m>
                <a:r>
                  <a:rPr lang="en-US" altLang="zh-CN" dirty="0"/>
                  <a:t> </a:t>
                </a:r>
                <a:r>
                  <a:rPr lang="en-US" altLang="zh-CN" baseline="-25000" dirty="0"/>
                  <a:t>EX</a:t>
                </a:r>
                <a:r>
                  <a:rPr lang="en-US" altLang="zh-CN" dirty="0"/>
                  <a:t> </a:t>
                </a:r>
                <a:r>
                  <a:rPr lang="zh-CN" altLang="en-US" dirty="0"/>
                  <a:t>和 </a:t>
                </a:r>
                <a:r>
                  <a:rPr lang="en-US" altLang="zh-CN" dirty="0"/>
                  <a:t>Y </a:t>
                </a:r>
                <a:r>
                  <a:rPr lang="en-US" altLang="zh-CN" baseline="-25000" dirty="0"/>
                  <a:t>S</a:t>
                </a:r>
                <a:r>
                  <a:rPr lang="en-US" altLang="zh-CN" dirty="0"/>
                  <a:t> </a:t>
                </a:r>
                <a:r>
                  <a:rPr lang="zh-CN" altLang="en-US" dirty="0"/>
                  <a:t>可以对编码器进行扩展。图 </a:t>
                </a:r>
                <a:r>
                  <a:rPr lang="en-US" altLang="zh-CN" dirty="0"/>
                  <a:t>3</a:t>
                </a:r>
                <a:r>
                  <a:rPr lang="zh-CN" altLang="en-US" dirty="0"/>
                  <a:t>－</a:t>
                </a:r>
                <a:r>
                  <a:rPr lang="en-US" altLang="zh-CN" dirty="0"/>
                  <a:t>10 </a:t>
                </a:r>
                <a:r>
                  <a:rPr lang="zh-CN" altLang="en-US" dirty="0"/>
                  <a:t>为用两片 </a:t>
                </a:r>
                <a:r>
                  <a:rPr lang="en-US" altLang="zh-CN" dirty="0"/>
                  <a:t>74148 </a:t>
                </a:r>
                <a:r>
                  <a:rPr lang="zh-CN" altLang="en-US" dirty="0"/>
                  <a:t>优先编码器扩展构成的 </a:t>
                </a:r>
                <a:r>
                  <a:rPr lang="en-US" altLang="zh-CN" dirty="0"/>
                  <a:t>16 </a:t>
                </a:r>
                <a:r>
                  <a:rPr lang="zh-CN" altLang="en-US" dirty="0"/>
                  <a:t>线 </a:t>
                </a:r>
                <a:r>
                  <a:rPr lang="en-US" altLang="zh-CN" dirty="0"/>
                  <a:t>-4 </a:t>
                </a:r>
                <a:r>
                  <a:rPr lang="zh-CN" altLang="en-US" dirty="0"/>
                  <a:t>线优先编码器。</a:t>
                </a:r>
                <a:endParaRPr lang="zh-CN" altLang="zh-CN" dirty="0"/>
              </a:p>
            </p:txBody>
          </p:sp>
        </mc:Choice>
        <mc:Fallback xmlns="">
          <p:sp>
            <p:nvSpPr>
              <p:cNvPr id="389122" name="Rectangle 2"/>
              <p:cNvSpPr>
                <a:spLocks noGrp="1" noRot="1" noChangeAspect="1" noMove="1" noResize="1" noEditPoints="1" noAdjustHandles="1" noChangeArrowheads="1" noChangeShapeType="1" noTextEdit="1"/>
              </p:cNvSpPr>
              <p:nvPr>
                <p:ph type="title"/>
              </p:nvPr>
            </p:nvSpPr>
            <p:spPr>
              <a:blipFill rotWithShape="1">
                <a:blip r:embed="rId2"/>
                <a:stretch>
                  <a:fillRect l="-1202" r="-4884"/>
                </a:stretch>
              </a:blipFill>
            </p:spPr>
            <p:txBody>
              <a:bodyPr/>
              <a:lstStyle/>
              <a:p>
                <a:r>
                  <a:rPr lang="zh-CN" altLang="en-US">
                    <a:noFill/>
                  </a:rPr>
                  <a:t> </a:t>
                </a:r>
              </a:p>
            </p:txBody>
          </p:sp>
        </mc:Fallback>
      </mc:AlternateContent>
      <p:sp>
        <p:nvSpPr>
          <p:cNvPr id="38912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p:txBody>
          <a:bodyPr/>
          <a:lstStyle/>
          <a:p>
            <a:endParaRPr lang="zh-CN" altLang="zh-CN"/>
          </a:p>
        </p:txBody>
      </p:sp>
      <p:sp>
        <p:nvSpPr>
          <p:cNvPr id="390147"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5704" y="1328444"/>
            <a:ext cx="7992591" cy="420111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type="title"/>
          </p:nvPr>
        </p:nvSpPr>
        <p:spPr/>
        <p:txBody>
          <a:bodyPr/>
          <a:lstStyle/>
          <a:p>
            <a:endParaRPr lang="zh-CN" altLang="zh-CN"/>
          </a:p>
        </p:txBody>
      </p:sp>
      <p:sp>
        <p:nvSpPr>
          <p:cNvPr id="391171" name="Rectangle 3"/>
          <p:cNvSpPr>
            <a:spLocks noGrp="1" noChangeArrowheads="1"/>
          </p:cNvSpPr>
          <p:nvPr>
            <p:ph type="body" idx="1"/>
          </p:nvPr>
        </p:nvSpPr>
        <p:spPr>
          <a:xfrm>
            <a:off x="0" y="5301208"/>
            <a:ext cx="9144000" cy="438944"/>
          </a:xfrm>
        </p:spPr>
        <p:txBody>
          <a:bodyPr/>
          <a:lstStyle/>
          <a:p>
            <a:r>
              <a:rPr lang="zh-CN" altLang="en-US" dirty="0"/>
              <a:t>图 </a:t>
            </a:r>
            <a:r>
              <a:rPr lang="en-US" altLang="zh-CN" dirty="0"/>
              <a:t>3</a:t>
            </a:r>
            <a:r>
              <a:rPr lang="zh-CN" altLang="en-US" dirty="0"/>
              <a:t>－</a:t>
            </a:r>
            <a:r>
              <a:rPr lang="en-US" altLang="zh-CN" dirty="0"/>
              <a:t>9 74148 </a:t>
            </a:r>
            <a:r>
              <a:rPr lang="zh-CN" altLang="en-US" dirty="0"/>
              <a:t>优先编码器的引脚图和逻辑符号</a:t>
            </a:r>
          </a:p>
          <a:p>
            <a:r>
              <a:rPr lang="en-US" altLang="zh-CN" dirty="0"/>
              <a:t>(a )</a:t>
            </a:r>
            <a:r>
              <a:rPr lang="zh-CN" altLang="en-US" dirty="0"/>
              <a:t>引脚图</a:t>
            </a:r>
            <a:r>
              <a:rPr lang="en-US" altLang="zh-CN" dirty="0"/>
              <a:t>;( b )</a:t>
            </a:r>
            <a:r>
              <a:rPr lang="zh-CN" altLang="en-US" dirty="0"/>
              <a:t>逻辑符号</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632" y="908720"/>
            <a:ext cx="6882092" cy="424847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noChangeArrowheads="1"/>
          </p:cNvSpPr>
          <p:nvPr>
            <p:ph type="title"/>
          </p:nvPr>
        </p:nvSpPr>
        <p:spPr/>
        <p:txBody>
          <a:bodyPr/>
          <a:lstStyle/>
          <a:p>
            <a:endParaRPr lang="zh-CN" altLang="zh-CN"/>
          </a:p>
        </p:txBody>
      </p:sp>
      <p:sp>
        <p:nvSpPr>
          <p:cNvPr id="392195" name="Rectangle 3"/>
          <p:cNvSpPr>
            <a:spLocks noGrp="1" noChangeArrowheads="1"/>
          </p:cNvSpPr>
          <p:nvPr>
            <p:ph type="body" idx="1"/>
          </p:nvPr>
        </p:nvSpPr>
        <p:spPr/>
        <p:txBody>
          <a:bodyPr/>
          <a:lstStyle/>
          <a:p>
            <a:r>
              <a:rPr lang="zh-CN" altLang="en-US" dirty="0"/>
              <a:t>图 </a:t>
            </a:r>
            <a:r>
              <a:rPr lang="en-US" altLang="zh-CN" dirty="0"/>
              <a:t>3</a:t>
            </a:r>
            <a:r>
              <a:rPr lang="zh-CN" altLang="en-US" dirty="0"/>
              <a:t>－</a:t>
            </a:r>
            <a:r>
              <a:rPr lang="en-US" altLang="zh-CN" dirty="0"/>
              <a:t>10  </a:t>
            </a:r>
            <a:r>
              <a:rPr lang="zh-CN" altLang="en-US" dirty="0"/>
              <a:t>用两片 </a:t>
            </a:r>
            <a:r>
              <a:rPr lang="en-US" altLang="zh-CN" dirty="0"/>
              <a:t>74148 </a:t>
            </a:r>
            <a:r>
              <a:rPr lang="zh-CN" altLang="en-US" dirty="0"/>
              <a:t>扩展构成的 </a:t>
            </a:r>
            <a:r>
              <a:rPr lang="en-US" altLang="zh-CN" dirty="0"/>
              <a:t>16 </a:t>
            </a:r>
            <a:r>
              <a:rPr lang="zh-CN" altLang="en-US" dirty="0"/>
              <a:t>线 </a:t>
            </a:r>
            <a:r>
              <a:rPr lang="en-US" altLang="zh-CN" dirty="0"/>
              <a:t>-4 </a:t>
            </a:r>
            <a:r>
              <a:rPr lang="zh-CN" altLang="en-US" dirty="0"/>
              <a:t>线优先编码器</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624" y="1412776"/>
            <a:ext cx="7045022" cy="399518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p:cNvSpPr>
            <a:spLocks noGrp="1" noChangeArrowheads="1"/>
          </p:cNvSpPr>
          <p:nvPr>
            <p:ph type="title"/>
          </p:nvPr>
        </p:nvSpPr>
        <p:spPr/>
        <p:txBody>
          <a:bodyPr/>
          <a:lstStyle/>
          <a:p>
            <a:br>
              <a:rPr lang="en-US" altLang="zh-CN" dirty="0"/>
            </a:br>
            <a:r>
              <a:rPr lang="en-US" altLang="zh-CN" b="1" dirty="0"/>
              <a:t>3. 1. 2  </a:t>
            </a:r>
            <a:r>
              <a:rPr lang="zh-CN" altLang="en-US" b="1" dirty="0"/>
              <a:t>译码器</a:t>
            </a:r>
            <a:br>
              <a:rPr lang="en-US" altLang="zh-CN" b="1" dirty="0"/>
            </a:br>
            <a:r>
              <a:rPr lang="zh-CN" altLang="en-US" b="1" dirty="0"/>
              <a:t>　　</a:t>
            </a:r>
            <a:r>
              <a:rPr lang="zh-CN" altLang="en-US" dirty="0"/>
              <a:t>译码是编码的逆过程，是将二进制代码所表示的相应信号或对象“翻译”出来。具有译码功能的电路称为译码器。常见的译码器有二进制译码器、二</a:t>
            </a:r>
            <a:r>
              <a:rPr lang="en-US" altLang="zh-CN" dirty="0"/>
              <a:t>—</a:t>
            </a:r>
            <a:r>
              <a:rPr lang="zh-CN" altLang="en-US" dirty="0"/>
              <a:t>十进制译码器和显示译码器等。</a:t>
            </a:r>
            <a:endParaRPr lang="zh-CN" altLang="zh-CN" dirty="0"/>
          </a:p>
        </p:txBody>
      </p:sp>
      <p:sp>
        <p:nvSpPr>
          <p:cNvPr id="39321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p:txBody>
          <a:bodyPr/>
          <a:lstStyle/>
          <a:p>
            <a:br>
              <a:rPr lang="en-US" altLang="zh-CN" dirty="0"/>
            </a:br>
            <a:r>
              <a:rPr lang="zh-CN" altLang="en-US" dirty="0"/>
              <a:t>　　</a:t>
            </a:r>
            <a:r>
              <a:rPr lang="zh-CN" altLang="en-US" b="1" dirty="0"/>
              <a:t> </a:t>
            </a:r>
            <a:r>
              <a:rPr lang="en-US" altLang="zh-CN" b="1" dirty="0"/>
              <a:t>1. </a:t>
            </a:r>
            <a:r>
              <a:rPr lang="zh-CN" altLang="en-US" b="1" dirty="0"/>
              <a:t>二进制译码器</a:t>
            </a:r>
            <a:br>
              <a:rPr lang="zh-CN" altLang="en-US" b="1" dirty="0"/>
            </a:br>
            <a:r>
              <a:rPr lang="zh-CN" altLang="en-US" b="1" dirty="0"/>
              <a:t>　　</a:t>
            </a:r>
            <a:r>
              <a:rPr lang="zh-CN" altLang="en-US" dirty="0"/>
              <a:t>具有 </a:t>
            </a:r>
            <a:r>
              <a:rPr lang="en-US" altLang="zh-CN" dirty="0"/>
              <a:t>n </a:t>
            </a:r>
            <a:r>
              <a:rPr lang="zh-CN" altLang="en-US" dirty="0"/>
              <a:t>个输入，</a:t>
            </a:r>
            <a:r>
              <a:rPr lang="en-US" altLang="zh-CN" dirty="0"/>
              <a:t> 2</a:t>
            </a:r>
            <a:r>
              <a:rPr lang="en-US" altLang="zh-CN" baseline="30000" dirty="0"/>
              <a:t>n</a:t>
            </a:r>
            <a:r>
              <a:rPr lang="zh-CN" altLang="en-US" dirty="0"/>
              <a:t>个输出，能将输入的所有二进制代码全部翻译出来的译码器称为二进制译码器。</a:t>
            </a:r>
            <a:br>
              <a:rPr lang="zh-CN" altLang="en-US" dirty="0"/>
            </a:br>
            <a:r>
              <a:rPr lang="zh-CN" altLang="en-US" dirty="0"/>
              <a:t>　　图 </a:t>
            </a:r>
            <a:r>
              <a:rPr lang="en-US" altLang="zh-CN" dirty="0"/>
              <a:t>3</a:t>
            </a:r>
            <a:r>
              <a:rPr lang="zh-CN" altLang="en-US" dirty="0"/>
              <a:t>－</a:t>
            </a:r>
            <a:r>
              <a:rPr lang="en-US" altLang="zh-CN" dirty="0"/>
              <a:t>11 </a:t>
            </a:r>
            <a:r>
              <a:rPr lang="zh-CN" altLang="en-US" dirty="0"/>
              <a:t>是三位二进制译码器的框图。它有三个输入、八个输出，因此也称为 </a:t>
            </a:r>
            <a:r>
              <a:rPr lang="en-US" altLang="zh-CN" dirty="0"/>
              <a:t>3 </a:t>
            </a:r>
            <a:r>
              <a:rPr lang="zh-CN" altLang="en-US" dirty="0"/>
              <a:t>线 </a:t>
            </a:r>
            <a:r>
              <a:rPr lang="en-US" altLang="zh-CN" dirty="0"/>
              <a:t>-8 </a:t>
            </a:r>
            <a:r>
              <a:rPr lang="zh-CN" altLang="en-US" dirty="0"/>
              <a:t>线译码器。二进制译码器假定输入的任何组合都可能出现，且每一个输出对应一个输入组合。表 </a:t>
            </a:r>
            <a:r>
              <a:rPr lang="en-US" altLang="zh-CN" dirty="0"/>
              <a:t>3</a:t>
            </a:r>
            <a:r>
              <a:rPr lang="zh-CN" altLang="en-US" dirty="0"/>
              <a:t>－</a:t>
            </a:r>
            <a:r>
              <a:rPr lang="en-US" altLang="zh-CN" dirty="0"/>
              <a:t>6 </a:t>
            </a:r>
            <a:r>
              <a:rPr lang="zh-CN" altLang="en-US" dirty="0"/>
              <a:t>所示为一个三位二进制译码器的真值表。</a:t>
            </a:r>
            <a:endParaRPr lang="zh-CN" altLang="zh-CN" dirty="0"/>
          </a:p>
        </p:txBody>
      </p:sp>
      <p:sp>
        <p:nvSpPr>
          <p:cNvPr id="39424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endParaRPr lang="zh-CN" altLang="zh-CN"/>
          </a:p>
        </p:txBody>
      </p:sp>
      <p:sp>
        <p:nvSpPr>
          <p:cNvPr id="395267" name="Rectangle 3"/>
          <p:cNvSpPr>
            <a:spLocks noGrp="1" noChangeArrowheads="1"/>
          </p:cNvSpPr>
          <p:nvPr>
            <p:ph type="body" idx="1"/>
          </p:nvPr>
        </p:nvSpPr>
        <p:spPr/>
        <p:txBody>
          <a:bodyPr/>
          <a:lstStyle/>
          <a:p>
            <a:r>
              <a:rPr lang="zh-CN" altLang="en-US" dirty="0"/>
              <a:t>图 </a:t>
            </a:r>
            <a:r>
              <a:rPr lang="en-US" altLang="zh-CN" dirty="0"/>
              <a:t>3</a:t>
            </a:r>
            <a:r>
              <a:rPr lang="zh-CN" altLang="en-US" dirty="0"/>
              <a:t>－</a:t>
            </a:r>
            <a:r>
              <a:rPr lang="en-US" altLang="zh-CN" dirty="0"/>
              <a:t>11  </a:t>
            </a:r>
            <a:r>
              <a:rPr lang="zh-CN" altLang="en-US" dirty="0"/>
              <a:t>三位二进制译码器的框图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2173" y="1052736"/>
            <a:ext cx="5200824" cy="4488807"/>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p:txBody>
          <a:bodyPr/>
          <a:lstStyle/>
          <a:p>
            <a:endParaRPr lang="zh-CN" altLang="zh-CN"/>
          </a:p>
        </p:txBody>
      </p:sp>
      <p:sp>
        <p:nvSpPr>
          <p:cNvPr id="396291"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3728" y="1268760"/>
            <a:ext cx="4382112" cy="476317"/>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6257" y="1861918"/>
            <a:ext cx="7411485" cy="3134163"/>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Rectangle 2"/>
          <p:cNvSpPr>
            <a:spLocks noGrp="1" noChangeArrowheads="1"/>
          </p:cNvSpPr>
          <p:nvPr>
            <p:ph type="title"/>
          </p:nvPr>
        </p:nvSpPr>
        <p:spPr/>
        <p:txBody>
          <a:bodyPr/>
          <a:lstStyle/>
          <a:p>
            <a:br>
              <a:rPr lang="en-US" altLang="zh-CN" dirty="0"/>
            </a:br>
            <a:r>
              <a:rPr lang="zh-CN" altLang="en-US" dirty="0"/>
              <a:t>　　由表 </a:t>
            </a:r>
            <a:r>
              <a:rPr lang="en-US" altLang="zh-CN" dirty="0"/>
              <a:t>3</a:t>
            </a:r>
            <a:r>
              <a:rPr lang="zh-CN" altLang="en-US" dirty="0"/>
              <a:t>－</a:t>
            </a:r>
            <a:r>
              <a:rPr lang="en-US" altLang="zh-CN" dirty="0"/>
              <a:t>6 </a:t>
            </a:r>
            <a:r>
              <a:rPr lang="zh-CN" altLang="en-US" dirty="0"/>
              <a:t>真值表可以写出如下逻辑表达式</a:t>
            </a:r>
            <a:r>
              <a:rPr lang="en-US" altLang="zh-CN" dirty="0"/>
              <a:t>:</a:t>
            </a:r>
            <a:endParaRPr lang="zh-CN" altLang="zh-CN" dirty="0"/>
          </a:p>
        </p:txBody>
      </p:sp>
      <p:sp>
        <p:nvSpPr>
          <p:cNvPr id="397315"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608" y="2204864"/>
            <a:ext cx="7351893" cy="1588658"/>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ChangeArrowheads="1"/>
          </p:cNvSpPr>
          <p:nvPr>
            <p:ph type="title"/>
          </p:nvPr>
        </p:nvSpPr>
        <p:spPr/>
        <p:txBody>
          <a:bodyPr/>
          <a:lstStyle/>
          <a:p>
            <a:br>
              <a:rPr lang="en-US" altLang="zh-CN" dirty="0"/>
            </a:br>
            <a:r>
              <a:rPr lang="zh-CN" altLang="en-US" dirty="0"/>
              <a:t>　　图 </a:t>
            </a:r>
            <a:r>
              <a:rPr lang="en-US" altLang="zh-CN" dirty="0"/>
              <a:t>3</a:t>
            </a:r>
            <a:r>
              <a:rPr lang="zh-CN" altLang="en-US" dirty="0"/>
              <a:t>－</a:t>
            </a:r>
            <a:r>
              <a:rPr lang="en-US" altLang="zh-CN" dirty="0"/>
              <a:t>12 </a:t>
            </a:r>
            <a:r>
              <a:rPr lang="zh-CN" altLang="en-US" dirty="0"/>
              <a:t>是三位二进制译码器的逻辑图。</a:t>
            </a:r>
            <a:endParaRPr lang="zh-CN" altLang="zh-CN" dirty="0"/>
          </a:p>
        </p:txBody>
      </p:sp>
      <p:sp>
        <p:nvSpPr>
          <p:cNvPr id="398339" name="Rectangle 3"/>
          <p:cNvSpPr>
            <a:spLocks noGrp="1" noChangeArrowheads="1"/>
          </p:cNvSpPr>
          <p:nvPr>
            <p:ph type="body" idx="1"/>
          </p:nvPr>
        </p:nvSpPr>
        <p:spPr/>
        <p:txBody>
          <a:bodyPr/>
          <a:lstStyle/>
          <a:p>
            <a:r>
              <a:rPr lang="zh-CN" altLang="en-US" dirty="0"/>
              <a:t>图 </a:t>
            </a:r>
            <a:r>
              <a:rPr lang="en-US" altLang="zh-CN" dirty="0"/>
              <a:t>3</a:t>
            </a:r>
            <a:r>
              <a:rPr lang="zh-CN" altLang="en-US" dirty="0"/>
              <a:t>－</a:t>
            </a:r>
            <a:r>
              <a:rPr lang="en-US" altLang="zh-CN" dirty="0"/>
              <a:t>12  </a:t>
            </a:r>
            <a:r>
              <a:rPr lang="zh-CN" altLang="en-US" dirty="0"/>
              <a:t>三位二进制译码器的逻辑图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3653" y="1799997"/>
            <a:ext cx="5496693" cy="325800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 2"/>
          <p:cNvSpPr>
            <a:spLocks noGrp="1" noChangeArrowheads="1"/>
          </p:cNvSpPr>
          <p:nvPr>
            <p:ph type="title"/>
          </p:nvPr>
        </p:nvSpPr>
        <p:spPr/>
        <p:txBody>
          <a:bodyPr/>
          <a:lstStyle/>
          <a:p>
            <a:br>
              <a:rPr lang="en-US" altLang="zh-CN" dirty="0"/>
            </a:br>
            <a:r>
              <a:rPr lang="zh-CN" altLang="en-US" dirty="0"/>
              <a:t>　　 </a:t>
            </a:r>
            <a:r>
              <a:rPr lang="en-US" altLang="zh-CN" b="1" dirty="0"/>
              <a:t>2. </a:t>
            </a:r>
            <a:r>
              <a:rPr lang="zh-CN" altLang="en-US" b="1" dirty="0"/>
              <a:t>二</a:t>
            </a:r>
            <a:r>
              <a:rPr lang="en-US" altLang="zh-CN" b="1" dirty="0"/>
              <a:t>—</a:t>
            </a:r>
            <a:r>
              <a:rPr lang="zh-CN" altLang="en-US" b="1" dirty="0"/>
              <a:t>十进制译码器</a:t>
            </a:r>
            <a:br>
              <a:rPr lang="zh-CN" altLang="en-US" b="1" dirty="0"/>
            </a:br>
            <a:r>
              <a:rPr lang="zh-CN" altLang="en-US" b="1" dirty="0"/>
              <a:t>　　</a:t>
            </a:r>
            <a:r>
              <a:rPr lang="zh-CN" altLang="en-US" dirty="0"/>
              <a:t>将十个表示十进制数 </a:t>
            </a:r>
            <a:r>
              <a:rPr lang="en-US" altLang="zh-CN" dirty="0"/>
              <a:t>0~9 </a:t>
            </a:r>
            <a:r>
              <a:rPr lang="zh-CN" altLang="en-US" dirty="0"/>
              <a:t>的二进制代码翻译成相应的输出信号的电路称为二</a:t>
            </a:r>
            <a:r>
              <a:rPr lang="en-US" altLang="zh-CN" dirty="0"/>
              <a:t>—</a:t>
            </a:r>
            <a:r>
              <a:rPr lang="zh-CN" altLang="en-US" dirty="0"/>
              <a:t>十进制译码器。</a:t>
            </a:r>
            <a:br>
              <a:rPr lang="zh-CN" altLang="en-US" dirty="0"/>
            </a:br>
            <a:r>
              <a:rPr lang="zh-CN" altLang="en-US" dirty="0"/>
              <a:t>　　图 </a:t>
            </a:r>
            <a:r>
              <a:rPr lang="en-US" altLang="zh-CN" dirty="0"/>
              <a:t>3</a:t>
            </a:r>
            <a:r>
              <a:rPr lang="zh-CN" altLang="en-US" dirty="0"/>
              <a:t>－</a:t>
            </a:r>
            <a:r>
              <a:rPr lang="en-US" altLang="zh-CN" dirty="0"/>
              <a:t>13 </a:t>
            </a:r>
            <a:r>
              <a:rPr lang="zh-CN" altLang="en-US" dirty="0"/>
              <a:t>是二</a:t>
            </a:r>
            <a:r>
              <a:rPr lang="en-US" altLang="zh-CN" dirty="0"/>
              <a:t>—</a:t>
            </a:r>
            <a:r>
              <a:rPr lang="zh-CN" altLang="en-US" dirty="0"/>
              <a:t>十进制译码器的框图，它有四个输入、十个输出，因此也称为</a:t>
            </a:r>
            <a:r>
              <a:rPr lang="en-US" altLang="zh-CN" dirty="0"/>
              <a:t>4 </a:t>
            </a:r>
            <a:r>
              <a:rPr lang="zh-CN" altLang="en-US" dirty="0"/>
              <a:t>线 </a:t>
            </a:r>
            <a:r>
              <a:rPr lang="en-US" altLang="zh-CN" dirty="0"/>
              <a:t>-10 </a:t>
            </a:r>
            <a:r>
              <a:rPr lang="zh-CN" altLang="en-US" dirty="0"/>
              <a:t>线译码器。假定 </a:t>
            </a:r>
            <a:r>
              <a:rPr lang="en-US" altLang="zh-CN" dirty="0"/>
              <a:t>1010~1111 </a:t>
            </a:r>
            <a:r>
              <a:rPr lang="zh-CN" altLang="en-US" dirty="0"/>
              <a:t>共六个输入组合不会出现，每一个输出对应一个可能出现的输入组合，则二</a:t>
            </a:r>
            <a:r>
              <a:rPr lang="en-US" altLang="zh-CN" dirty="0"/>
              <a:t>—</a:t>
            </a:r>
            <a:r>
              <a:rPr lang="zh-CN" altLang="en-US" dirty="0"/>
              <a:t>十进制译码器的真值表如表 </a:t>
            </a:r>
            <a:r>
              <a:rPr lang="en-US" altLang="zh-CN" dirty="0"/>
              <a:t>3</a:t>
            </a:r>
            <a:r>
              <a:rPr lang="zh-CN" altLang="en-US" dirty="0"/>
              <a:t>－</a:t>
            </a:r>
            <a:r>
              <a:rPr lang="en-US" altLang="zh-CN" dirty="0"/>
              <a:t>7 </a:t>
            </a:r>
            <a:r>
              <a:rPr lang="zh-CN" altLang="en-US" dirty="0"/>
              <a:t>所示。</a:t>
            </a:r>
            <a:endParaRPr lang="zh-CN" altLang="zh-CN" dirty="0"/>
          </a:p>
        </p:txBody>
      </p:sp>
      <p:sp>
        <p:nvSpPr>
          <p:cNvPr id="39936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endParaRPr lang="zh-CN" altLang="zh-CN"/>
          </a:p>
        </p:txBody>
      </p:sp>
      <p:sp>
        <p:nvSpPr>
          <p:cNvPr id="400387" name="Rectangle 3"/>
          <p:cNvSpPr>
            <a:spLocks noGrp="1" noChangeArrowheads="1"/>
          </p:cNvSpPr>
          <p:nvPr>
            <p:ph type="body" idx="1"/>
          </p:nvPr>
        </p:nvSpPr>
        <p:spPr/>
        <p:txBody>
          <a:bodyPr/>
          <a:lstStyle/>
          <a:p>
            <a:r>
              <a:rPr lang="zh-CN" altLang="en-US" dirty="0"/>
              <a:t>图 </a:t>
            </a:r>
            <a:r>
              <a:rPr lang="en-US" altLang="zh-CN" dirty="0"/>
              <a:t>3</a:t>
            </a:r>
            <a:r>
              <a:rPr lang="zh-CN" altLang="en-US" dirty="0"/>
              <a:t>－</a:t>
            </a:r>
            <a:r>
              <a:rPr lang="en-US" altLang="zh-CN" dirty="0"/>
              <a:t>13  </a:t>
            </a:r>
            <a:r>
              <a:rPr lang="zh-CN" altLang="en-US" dirty="0"/>
              <a:t>二</a:t>
            </a:r>
            <a:r>
              <a:rPr lang="en-US" altLang="zh-CN" dirty="0"/>
              <a:t>—</a:t>
            </a:r>
            <a:r>
              <a:rPr lang="zh-CN" altLang="en-US" dirty="0"/>
              <a:t>十进制译码器的框图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7744" y="1412776"/>
            <a:ext cx="4433112" cy="3889171"/>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p:cNvSpPr>
            <a:spLocks noGrp="1" noChangeArrowheads="1"/>
          </p:cNvSpPr>
          <p:nvPr>
            <p:ph type="title"/>
          </p:nvPr>
        </p:nvSpPr>
        <p:spPr/>
        <p:txBody>
          <a:bodyPr/>
          <a:lstStyle/>
          <a:p>
            <a:endParaRPr lang="zh-CN" altLang="zh-CN" dirty="0"/>
          </a:p>
        </p:txBody>
      </p:sp>
      <p:sp>
        <p:nvSpPr>
          <p:cNvPr id="401411"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616" y="800520"/>
            <a:ext cx="6979833" cy="949050"/>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2991" y="1556792"/>
            <a:ext cx="7072458" cy="4928241"/>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p:cNvSpPr>
            <a:spLocks noGrp="1" noChangeArrowheads="1"/>
          </p:cNvSpPr>
          <p:nvPr>
            <p:ph type="title"/>
          </p:nvPr>
        </p:nvSpPr>
        <p:spPr/>
        <p:txBody>
          <a:bodyPr/>
          <a:lstStyle/>
          <a:p>
            <a:br>
              <a:rPr lang="en-US" altLang="zh-CN" dirty="0"/>
            </a:br>
            <a:r>
              <a:rPr lang="zh-CN" altLang="en-US" dirty="0"/>
              <a:t>　　利用约束项，通过化简，得到如下表达式</a:t>
            </a:r>
            <a:r>
              <a:rPr lang="en-US" altLang="zh-CN" dirty="0"/>
              <a:t>:</a:t>
            </a:r>
            <a:endParaRPr lang="zh-CN" altLang="zh-CN" dirty="0"/>
          </a:p>
        </p:txBody>
      </p:sp>
      <p:sp>
        <p:nvSpPr>
          <p:cNvPr id="402435"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3648" y="1844824"/>
            <a:ext cx="6534417" cy="3169471"/>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p:cNvSpPr>
            <a:spLocks noGrp="1" noChangeArrowheads="1"/>
          </p:cNvSpPr>
          <p:nvPr>
            <p:ph type="title"/>
          </p:nvPr>
        </p:nvSpPr>
        <p:spPr/>
        <p:txBody>
          <a:bodyPr/>
          <a:lstStyle/>
          <a:p>
            <a:br>
              <a:rPr lang="en-US" altLang="zh-CN" dirty="0"/>
            </a:br>
            <a:r>
              <a:rPr lang="zh-CN" altLang="en-US" dirty="0"/>
              <a:t>　　图 </a:t>
            </a:r>
            <a:r>
              <a:rPr lang="en-US" altLang="zh-CN" dirty="0"/>
              <a:t>3</a:t>
            </a:r>
            <a:r>
              <a:rPr lang="zh-CN" altLang="en-US" dirty="0"/>
              <a:t>－</a:t>
            </a:r>
            <a:r>
              <a:rPr lang="en-US" altLang="zh-CN" dirty="0"/>
              <a:t>14 </a:t>
            </a:r>
            <a:r>
              <a:rPr lang="zh-CN" altLang="en-US" dirty="0"/>
              <a:t>为二</a:t>
            </a:r>
            <a:r>
              <a:rPr lang="en-US" altLang="zh-CN" dirty="0"/>
              <a:t>—</a:t>
            </a:r>
            <a:r>
              <a:rPr lang="zh-CN" altLang="en-US" dirty="0"/>
              <a:t>十进制译码器的逻辑图。</a:t>
            </a:r>
            <a:endParaRPr lang="zh-CN" altLang="zh-CN" dirty="0"/>
          </a:p>
        </p:txBody>
      </p:sp>
      <p:sp>
        <p:nvSpPr>
          <p:cNvPr id="403459" name="Rectangle 3"/>
          <p:cNvSpPr>
            <a:spLocks noGrp="1" noChangeArrowheads="1"/>
          </p:cNvSpPr>
          <p:nvPr>
            <p:ph type="body" idx="1"/>
          </p:nvPr>
        </p:nvSpPr>
        <p:spPr/>
        <p:txBody>
          <a:bodyPr/>
          <a:lstStyle/>
          <a:p>
            <a:r>
              <a:rPr lang="zh-CN" altLang="en-US" dirty="0"/>
              <a:t>图 </a:t>
            </a:r>
            <a:r>
              <a:rPr lang="en-US" altLang="zh-CN" dirty="0"/>
              <a:t>3</a:t>
            </a:r>
            <a:r>
              <a:rPr lang="zh-CN" altLang="en-US" dirty="0"/>
              <a:t>－</a:t>
            </a:r>
            <a:r>
              <a:rPr lang="en-US" altLang="zh-CN" dirty="0"/>
              <a:t>14  </a:t>
            </a:r>
            <a:r>
              <a:rPr lang="zh-CN" altLang="en-US" dirty="0"/>
              <a:t>二</a:t>
            </a:r>
            <a:r>
              <a:rPr lang="en-US" altLang="zh-CN" dirty="0"/>
              <a:t>—</a:t>
            </a:r>
            <a:r>
              <a:rPr lang="zh-CN" altLang="en-US" dirty="0"/>
              <a:t>十进制译码器的逻辑图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2574" y="1609471"/>
            <a:ext cx="6458852" cy="3639058"/>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p:cNvSpPr>
            <a:spLocks noGrp="1" noChangeArrowheads="1"/>
          </p:cNvSpPr>
          <p:nvPr>
            <p:ph type="title"/>
          </p:nvPr>
        </p:nvSpPr>
        <p:spPr/>
        <p:txBody>
          <a:bodyPr/>
          <a:lstStyle/>
          <a:p>
            <a:br>
              <a:rPr lang="en-US" altLang="zh-CN" dirty="0"/>
            </a:br>
            <a:r>
              <a:rPr lang="zh-CN" altLang="en-US" dirty="0"/>
              <a:t>　　</a:t>
            </a:r>
            <a:r>
              <a:rPr lang="zh-CN" altLang="en-US" b="1" dirty="0"/>
              <a:t> </a:t>
            </a:r>
            <a:r>
              <a:rPr lang="en-US" altLang="zh-CN" b="1" dirty="0"/>
              <a:t>3. </a:t>
            </a:r>
            <a:r>
              <a:rPr lang="zh-CN" altLang="en-US" b="1" dirty="0"/>
              <a:t>显示译码器</a:t>
            </a:r>
            <a:br>
              <a:rPr lang="zh-CN" altLang="en-US" b="1" dirty="0"/>
            </a:br>
            <a:r>
              <a:rPr lang="zh-CN" altLang="en-US" b="1" dirty="0"/>
              <a:t>　　</a:t>
            </a:r>
            <a:r>
              <a:rPr lang="zh-CN" altLang="en-US" dirty="0"/>
              <a:t>在数字系统中，经常需要将数字、文字、符号的二进制代码翻译成人们习惯的形式，直观地显示出来，以便掌握和监控系统的运行情况。把二进制代码翻译出来以供显示器件</a:t>
            </a:r>
            <a:br>
              <a:rPr lang="zh-CN" altLang="en-US" dirty="0"/>
            </a:br>
            <a:r>
              <a:rPr lang="zh-CN" altLang="en-US" dirty="0"/>
              <a:t>显示的电路称为显示译码器。设计显示译码器时，首先要了解显示器件的特性。常用的显示器件有半导体显示器件和液晶显示器件，它们都可以用 </a:t>
            </a:r>
            <a:r>
              <a:rPr lang="en-US" altLang="zh-CN" dirty="0"/>
              <a:t>TTL </a:t>
            </a:r>
            <a:r>
              <a:rPr lang="zh-CN" altLang="en-US" dirty="0"/>
              <a:t>和 </a:t>
            </a:r>
            <a:r>
              <a:rPr lang="en-US" altLang="zh-CN" dirty="0"/>
              <a:t>CMOS </a:t>
            </a:r>
            <a:r>
              <a:rPr lang="zh-CN" altLang="en-US" dirty="0"/>
              <a:t>电路直接驱动。</a:t>
            </a:r>
            <a:br>
              <a:rPr lang="zh-CN" altLang="en-US" dirty="0"/>
            </a:br>
            <a:r>
              <a:rPr lang="zh-CN" altLang="en-US" dirty="0"/>
              <a:t>显示译码器有很多种类，</a:t>
            </a:r>
            <a:r>
              <a:rPr lang="en-US" altLang="zh-CN" dirty="0"/>
              <a:t> BCD </a:t>
            </a:r>
            <a:r>
              <a:rPr lang="zh-CN" altLang="en-US" dirty="0"/>
              <a:t>七段显示译码器是其中一种常用的显示译码器。</a:t>
            </a:r>
            <a:endParaRPr lang="zh-CN" altLang="zh-CN" dirty="0"/>
          </a:p>
        </p:txBody>
      </p:sp>
      <p:sp>
        <p:nvSpPr>
          <p:cNvPr id="40448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p:txBody>
          <a:bodyPr/>
          <a:lstStyle/>
          <a:p>
            <a:br>
              <a:rPr lang="en-US" altLang="zh-CN" dirty="0"/>
            </a:br>
            <a:r>
              <a:rPr lang="zh-CN" altLang="en-US" dirty="0"/>
              <a:t>　　 </a:t>
            </a:r>
            <a:r>
              <a:rPr lang="en-US" altLang="zh-CN" dirty="0"/>
              <a:t>BCD </a:t>
            </a:r>
            <a:r>
              <a:rPr lang="zh-CN" altLang="en-US" dirty="0"/>
              <a:t>七段显示译码器如图 </a:t>
            </a:r>
            <a:r>
              <a:rPr lang="en-US" altLang="zh-CN" dirty="0"/>
              <a:t>3</a:t>
            </a:r>
            <a:r>
              <a:rPr lang="zh-CN" altLang="en-US" dirty="0"/>
              <a:t>－</a:t>
            </a:r>
            <a:r>
              <a:rPr lang="en-US" altLang="zh-CN" dirty="0"/>
              <a:t>15 </a:t>
            </a:r>
            <a:r>
              <a:rPr lang="zh-CN" altLang="en-US" dirty="0"/>
              <a:t>所示。该显示译码器有四个输入，七个输出。输入为</a:t>
            </a:r>
            <a:r>
              <a:rPr lang="en-US" altLang="zh-CN" dirty="0"/>
              <a:t>0~9 </a:t>
            </a:r>
            <a:r>
              <a:rPr lang="zh-CN" altLang="en-US" dirty="0"/>
              <a:t>这十个数字的 </a:t>
            </a:r>
            <a:r>
              <a:rPr lang="en-US" altLang="zh-CN" dirty="0"/>
              <a:t>BCD </a:t>
            </a:r>
            <a:r>
              <a:rPr lang="zh-CN" altLang="en-US" dirty="0"/>
              <a:t>码</a:t>
            </a:r>
            <a:r>
              <a:rPr lang="en-US" altLang="zh-CN" dirty="0"/>
              <a:t>;</a:t>
            </a:r>
            <a:r>
              <a:rPr lang="zh-CN" altLang="en-US" dirty="0"/>
              <a:t>输出用来驱动七段发光二极管</a:t>
            </a:r>
            <a:r>
              <a:rPr lang="en-US" altLang="zh-CN" dirty="0"/>
              <a:t>( LED )</a:t>
            </a:r>
            <a:r>
              <a:rPr lang="zh-CN" altLang="en-US" dirty="0"/>
              <a:t>，使它发光从而显示出相应的数字。假定驱动信号为 </a:t>
            </a:r>
            <a:r>
              <a:rPr lang="en-US" altLang="zh-CN" dirty="0"/>
              <a:t>0 </a:t>
            </a:r>
            <a:r>
              <a:rPr lang="zh-CN" altLang="en-US" dirty="0"/>
              <a:t>时，发光二极管发光，也就是说，如要 </a:t>
            </a:r>
            <a:r>
              <a:rPr lang="en-US" altLang="zh-CN" dirty="0"/>
              <a:t>a </a:t>
            </a:r>
            <a:r>
              <a:rPr lang="zh-CN" altLang="en-US" dirty="0"/>
              <a:t>段发光，需要 </a:t>
            </a:r>
            <a:r>
              <a:rPr lang="en-US" altLang="zh-CN" dirty="0"/>
              <a:t>Y</a:t>
            </a:r>
            <a:r>
              <a:rPr lang="en-US" altLang="zh-CN" baseline="-25000" dirty="0"/>
              <a:t>a </a:t>
            </a:r>
            <a:r>
              <a:rPr lang="zh-CN" altLang="en-US" dirty="0"/>
              <a:t>为 </a:t>
            </a:r>
            <a:r>
              <a:rPr lang="en-US" altLang="zh-CN" dirty="0"/>
              <a:t>0 </a:t>
            </a:r>
            <a:r>
              <a:rPr lang="zh-CN" altLang="en-US" dirty="0"/>
              <a:t>。</a:t>
            </a:r>
            <a:endParaRPr lang="zh-CN" altLang="zh-CN" dirty="0"/>
          </a:p>
        </p:txBody>
      </p:sp>
      <p:sp>
        <p:nvSpPr>
          <p:cNvPr id="40550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p:txBody>
          <a:bodyPr/>
          <a:lstStyle/>
          <a:p>
            <a:endParaRPr lang="zh-CN" altLang="zh-CN"/>
          </a:p>
        </p:txBody>
      </p:sp>
      <p:sp>
        <p:nvSpPr>
          <p:cNvPr id="406531" name="Rectangle 3"/>
          <p:cNvSpPr>
            <a:spLocks noGrp="1" noChangeArrowheads="1"/>
          </p:cNvSpPr>
          <p:nvPr>
            <p:ph type="body" idx="1"/>
          </p:nvPr>
        </p:nvSpPr>
        <p:spPr/>
        <p:txBody>
          <a:bodyPr/>
          <a:lstStyle/>
          <a:p>
            <a:r>
              <a:rPr lang="zh-CN" altLang="en-US" dirty="0"/>
              <a:t>图 </a:t>
            </a:r>
            <a:r>
              <a:rPr lang="en-US" altLang="zh-CN" dirty="0"/>
              <a:t>3</a:t>
            </a:r>
            <a:r>
              <a:rPr lang="zh-CN" altLang="en-US" dirty="0"/>
              <a:t>－</a:t>
            </a:r>
            <a:r>
              <a:rPr lang="en-US" altLang="zh-CN" dirty="0"/>
              <a:t>15 BCD </a:t>
            </a:r>
            <a:r>
              <a:rPr lang="zh-CN" altLang="en-US" dirty="0"/>
              <a:t>七段显示译码器</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624" y="1628800"/>
            <a:ext cx="6876099" cy="3336182"/>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Rectangle 2"/>
          <p:cNvSpPr>
            <a:spLocks noGrp="1" noChangeArrowheads="1"/>
          </p:cNvSpPr>
          <p:nvPr>
            <p:ph type="title"/>
          </p:nvPr>
        </p:nvSpPr>
        <p:spPr/>
        <p:txBody>
          <a:bodyPr/>
          <a:lstStyle/>
          <a:p>
            <a:br>
              <a:rPr lang="en-US" altLang="zh-CN" dirty="0"/>
            </a:br>
            <a:r>
              <a:rPr lang="zh-CN" altLang="en-US" dirty="0"/>
              <a:t>　　根据显示器件的驱动特性，可以列出如表 </a:t>
            </a:r>
            <a:r>
              <a:rPr lang="en-US" altLang="zh-CN" dirty="0"/>
              <a:t>3</a:t>
            </a:r>
            <a:r>
              <a:rPr lang="zh-CN" altLang="en-US" dirty="0"/>
              <a:t>－</a:t>
            </a:r>
            <a:r>
              <a:rPr lang="en-US" altLang="zh-CN" dirty="0"/>
              <a:t>8 </a:t>
            </a:r>
            <a:r>
              <a:rPr lang="zh-CN" altLang="en-US" dirty="0"/>
              <a:t>所示的真值表，表中假定 </a:t>
            </a:r>
            <a:r>
              <a:rPr lang="en-US" altLang="zh-CN" dirty="0"/>
              <a:t>1010~1111</a:t>
            </a:r>
            <a:r>
              <a:rPr lang="zh-CN" altLang="en-US" dirty="0"/>
              <a:t>共六个输入组合不会出现。</a:t>
            </a:r>
            <a:endParaRPr lang="zh-CN" altLang="zh-CN" dirty="0"/>
          </a:p>
        </p:txBody>
      </p:sp>
      <p:sp>
        <p:nvSpPr>
          <p:cNvPr id="40755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2"/>
          <p:cNvSpPr>
            <a:spLocks noGrp="1" noChangeArrowheads="1"/>
          </p:cNvSpPr>
          <p:nvPr>
            <p:ph type="title"/>
          </p:nvPr>
        </p:nvSpPr>
        <p:spPr/>
        <p:txBody>
          <a:bodyPr/>
          <a:lstStyle/>
          <a:p>
            <a:endParaRPr lang="zh-CN" altLang="zh-CN"/>
          </a:p>
        </p:txBody>
      </p:sp>
      <p:sp>
        <p:nvSpPr>
          <p:cNvPr id="408579"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5656" y="836712"/>
            <a:ext cx="6399178" cy="5142642"/>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noChangeArrowheads="1"/>
          </p:cNvSpPr>
          <p:nvPr>
            <p:ph type="title"/>
          </p:nvPr>
        </p:nvSpPr>
        <p:spPr/>
        <p:txBody>
          <a:bodyPr/>
          <a:lstStyle/>
          <a:p>
            <a:br>
              <a:rPr lang="en-US" altLang="zh-CN" dirty="0"/>
            </a:br>
            <a:r>
              <a:rPr lang="zh-CN" altLang="en-US" dirty="0"/>
              <a:t>　　利用约束项，通过化简，得到如下表达式</a:t>
            </a:r>
            <a:r>
              <a:rPr lang="en-US" altLang="zh-CN" dirty="0"/>
              <a:t>:</a:t>
            </a:r>
            <a:endParaRPr lang="zh-CN" altLang="zh-CN" dirty="0"/>
          </a:p>
        </p:txBody>
      </p:sp>
      <p:sp>
        <p:nvSpPr>
          <p:cNvPr id="409603"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7704" y="1628800"/>
            <a:ext cx="5307574" cy="3815583"/>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Rectangle 2"/>
          <p:cNvSpPr>
            <a:spLocks noGrp="1" noChangeArrowheads="1"/>
          </p:cNvSpPr>
          <p:nvPr>
            <p:ph type="title"/>
          </p:nvPr>
        </p:nvSpPr>
        <p:spPr/>
        <p:txBody>
          <a:bodyPr/>
          <a:lstStyle/>
          <a:p>
            <a:br>
              <a:rPr lang="en-US" altLang="zh-CN" dirty="0"/>
            </a:br>
            <a:r>
              <a:rPr lang="zh-CN" altLang="en-US" dirty="0"/>
              <a:t>　　图 </a:t>
            </a:r>
            <a:r>
              <a:rPr lang="en-US" altLang="zh-CN" dirty="0"/>
              <a:t>3</a:t>
            </a:r>
            <a:r>
              <a:rPr lang="zh-CN" altLang="en-US" dirty="0"/>
              <a:t>－</a:t>
            </a:r>
            <a:r>
              <a:rPr lang="en-US" altLang="zh-CN" dirty="0"/>
              <a:t>16 </a:t>
            </a:r>
            <a:r>
              <a:rPr lang="zh-CN" altLang="en-US" dirty="0"/>
              <a:t>为 </a:t>
            </a:r>
            <a:r>
              <a:rPr lang="en-US" altLang="zh-CN" dirty="0"/>
              <a:t>BCD </a:t>
            </a:r>
            <a:r>
              <a:rPr lang="zh-CN" altLang="en-US" dirty="0"/>
              <a:t>七段显示译码器的逻辑图。</a:t>
            </a:r>
            <a:endParaRPr lang="zh-CN" altLang="zh-CN" dirty="0"/>
          </a:p>
        </p:txBody>
      </p:sp>
      <p:sp>
        <p:nvSpPr>
          <p:cNvPr id="410627" name="Rectangle 3"/>
          <p:cNvSpPr>
            <a:spLocks noGrp="1" noChangeArrowheads="1"/>
          </p:cNvSpPr>
          <p:nvPr>
            <p:ph type="body" idx="1"/>
          </p:nvPr>
        </p:nvSpPr>
        <p:spPr/>
        <p:txBody>
          <a:bodyPr/>
          <a:lstStyle/>
          <a:p>
            <a:r>
              <a:rPr lang="zh-CN" altLang="en-US" dirty="0"/>
              <a:t>图 </a:t>
            </a:r>
            <a:r>
              <a:rPr lang="en-US" altLang="zh-CN" dirty="0"/>
              <a:t>3</a:t>
            </a:r>
            <a:r>
              <a:rPr lang="zh-CN" altLang="en-US" dirty="0"/>
              <a:t>－</a:t>
            </a:r>
            <a:r>
              <a:rPr lang="en-US" altLang="zh-CN" dirty="0"/>
              <a:t>16 BCD </a:t>
            </a:r>
            <a:r>
              <a:rPr lang="zh-CN" altLang="en-US" dirty="0"/>
              <a:t>七段显示译码器的逻辑图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4730" y="1661865"/>
            <a:ext cx="8154539" cy="3534269"/>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11650" name="Rectangle 2"/>
              <p:cNvSpPr>
                <a:spLocks noGrp="1" noChangeArrowheads="1"/>
              </p:cNvSpPr>
              <p:nvPr>
                <p:ph type="title"/>
              </p:nvPr>
            </p:nvSpPr>
            <p:spPr/>
            <p:txBody>
              <a:bodyPr/>
              <a:lstStyle/>
              <a:p>
                <a:br>
                  <a:rPr lang="en-US" altLang="zh-CN" dirty="0"/>
                </a:br>
                <a:r>
                  <a:rPr lang="zh-CN" altLang="en-US" dirty="0"/>
                  <a:t>　　</a:t>
                </a:r>
                <a:r>
                  <a:rPr lang="zh-CN" altLang="en-US" b="1" dirty="0"/>
                  <a:t> </a:t>
                </a:r>
                <a:r>
                  <a:rPr lang="en-US" altLang="zh-CN" b="1" dirty="0"/>
                  <a:t>4.MSI74138 </a:t>
                </a:r>
                <a:r>
                  <a:rPr lang="zh-CN" altLang="en-US" b="1" dirty="0"/>
                  <a:t>译码器</a:t>
                </a:r>
                <a:br>
                  <a:rPr lang="zh-CN" altLang="en-US" b="1" dirty="0"/>
                </a:br>
                <a:r>
                  <a:rPr lang="zh-CN" altLang="en-US" b="1" dirty="0"/>
                  <a:t>　　</a:t>
                </a:r>
                <a:r>
                  <a:rPr lang="en-US" altLang="zh-CN" dirty="0"/>
                  <a:t>74138 </a:t>
                </a:r>
                <a:r>
                  <a:rPr lang="zh-CN" altLang="en-US" dirty="0"/>
                  <a:t>是 </a:t>
                </a:r>
                <a:r>
                  <a:rPr lang="en-US" altLang="zh-CN" dirty="0"/>
                  <a:t>3 </a:t>
                </a:r>
                <a:r>
                  <a:rPr lang="zh-CN" altLang="en-US" dirty="0"/>
                  <a:t>线 </a:t>
                </a:r>
                <a:r>
                  <a:rPr lang="en-US" altLang="zh-CN" dirty="0"/>
                  <a:t>-8 </a:t>
                </a:r>
                <a:r>
                  <a:rPr lang="zh-CN" altLang="en-US" dirty="0"/>
                  <a:t>线二进制译码器，它有三个输入和八个输出，输入高电平有效，输出低电平有效。 </a:t>
                </a:r>
                <a:r>
                  <a:rPr lang="en-US" altLang="zh-CN" dirty="0"/>
                  <a:t>74138 </a:t>
                </a:r>
                <a:r>
                  <a:rPr lang="zh-CN" altLang="en-US" dirty="0"/>
                  <a:t>有三个使能输入端 </a:t>
                </a:r>
                <a:r>
                  <a:rPr lang="en-US" altLang="zh-CN" dirty="0"/>
                  <a:t>S</a:t>
                </a:r>
                <a:r>
                  <a:rPr lang="en-US" altLang="zh-CN" baseline="-25000" dirty="0"/>
                  <a:t>1</a:t>
                </a:r>
                <a:r>
                  <a:rPr lang="en-US" altLang="zh-CN" dirty="0"/>
                  <a:t> </a:t>
                </a:r>
                <a:r>
                  <a:rPr lang="zh-CN" altLang="en-US" dirty="0"/>
                  <a:t>、</a:t>
                </a:r>
                <a14:m>
                  <m:oMath xmlns:m="http://schemas.openxmlformats.org/officeDocument/2006/math">
                    <m:acc>
                      <m:accPr>
                        <m:chr m:val="̅"/>
                        <m:ctrlPr>
                          <a:rPr lang="zh-CN" altLang="en-US" i="1" smtClean="0">
                            <a:latin typeface="Cambria Math" panose="02040503050406030204" pitchFamily="18" charset="0"/>
                          </a:rPr>
                        </m:ctrlPr>
                      </m:accPr>
                      <m:e>
                        <m:r>
                          <m:rPr>
                            <m:nor/>
                          </m:rPr>
                          <a:rPr lang="en-US" altLang="zh-CN" dirty="0"/>
                          <m:t>S</m:t>
                        </m:r>
                      </m:e>
                    </m:acc>
                  </m:oMath>
                </a14:m>
                <a:r>
                  <a:rPr lang="en-US" altLang="zh-CN" dirty="0"/>
                  <a:t> </a:t>
                </a:r>
                <a:r>
                  <a:rPr lang="en-US" altLang="zh-CN" baseline="-25000" dirty="0"/>
                  <a:t>2</a:t>
                </a:r>
                <a:r>
                  <a:rPr lang="en-US" altLang="zh-CN" dirty="0"/>
                  <a:t> </a:t>
                </a:r>
                <a:r>
                  <a:rPr lang="zh-CN" altLang="en-US" dirty="0"/>
                  <a:t>和</a:t>
                </a:r>
                <a14:m>
                  <m:oMath xmlns:m="http://schemas.openxmlformats.org/officeDocument/2006/math">
                    <m:acc>
                      <m:accPr>
                        <m:chr m:val="̅"/>
                        <m:ctrlPr>
                          <a:rPr lang="zh-CN" altLang="en-US" i="1">
                            <a:latin typeface="Cambria Math" panose="02040503050406030204" pitchFamily="18" charset="0"/>
                          </a:rPr>
                        </m:ctrlPr>
                      </m:accPr>
                      <m:e>
                        <m:r>
                          <m:rPr>
                            <m:nor/>
                          </m:rPr>
                          <a:rPr lang="en-US" altLang="zh-CN" dirty="0"/>
                          <m:t>S</m:t>
                        </m:r>
                      </m:e>
                    </m:acc>
                  </m:oMath>
                </a14:m>
                <a:r>
                  <a:rPr lang="en-US" altLang="zh-CN" baseline="-25000" dirty="0"/>
                  <a:t>3</a:t>
                </a:r>
                <a:r>
                  <a:rPr lang="en-US" altLang="zh-CN" dirty="0"/>
                  <a:t> </a:t>
                </a:r>
                <a:r>
                  <a:rPr lang="zh-CN" altLang="en-US" dirty="0"/>
                  <a:t>，只有当 </a:t>
                </a:r>
                <a:r>
                  <a:rPr lang="en-US" altLang="zh-CN" dirty="0"/>
                  <a:t>S </a:t>
                </a:r>
                <a:r>
                  <a:rPr lang="en-US" altLang="zh-CN" baseline="-25000" dirty="0"/>
                  <a:t>1</a:t>
                </a:r>
                <a:r>
                  <a:rPr lang="en-US" altLang="zh-CN" dirty="0"/>
                  <a:t> =1 </a:t>
                </a:r>
                <a:r>
                  <a:rPr lang="zh-CN" altLang="en-US" dirty="0"/>
                  <a:t>且</a:t>
                </a:r>
                <a14:m>
                  <m:oMath xmlns:m="http://schemas.openxmlformats.org/officeDocument/2006/math">
                    <m:acc>
                      <m:accPr>
                        <m:chr m:val="̅"/>
                        <m:ctrlPr>
                          <a:rPr lang="zh-CN" altLang="en-US" i="1">
                            <a:latin typeface="Cambria Math" panose="02040503050406030204" pitchFamily="18" charset="0"/>
                          </a:rPr>
                        </m:ctrlPr>
                      </m:accPr>
                      <m:e>
                        <m:r>
                          <m:rPr>
                            <m:nor/>
                          </m:rPr>
                          <a:rPr lang="en-US" altLang="zh-CN" dirty="0"/>
                          <m:t>S</m:t>
                        </m:r>
                      </m:e>
                    </m:acc>
                  </m:oMath>
                </a14:m>
                <a:r>
                  <a:rPr lang="zh-CN" altLang="en-US" dirty="0"/>
                  <a:t> </a:t>
                </a:r>
                <a:r>
                  <a:rPr lang="en-US" altLang="zh-CN" baseline="-25000" dirty="0"/>
                  <a:t>2</a:t>
                </a:r>
                <a:r>
                  <a:rPr lang="en-US" altLang="zh-CN" dirty="0"/>
                  <a:t> + </a:t>
                </a:r>
                <a14:m>
                  <m:oMath xmlns:m="http://schemas.openxmlformats.org/officeDocument/2006/math">
                    <m:acc>
                      <m:accPr>
                        <m:chr m:val="̅"/>
                        <m:ctrlPr>
                          <a:rPr lang="zh-CN" altLang="en-US" i="1">
                            <a:latin typeface="Cambria Math" panose="02040503050406030204" pitchFamily="18" charset="0"/>
                          </a:rPr>
                        </m:ctrlPr>
                      </m:accPr>
                      <m:e>
                        <m:r>
                          <m:rPr>
                            <m:nor/>
                          </m:rPr>
                          <a:rPr lang="en-US" altLang="zh-CN" dirty="0"/>
                          <m:t>S</m:t>
                        </m:r>
                      </m:e>
                    </m:acc>
                  </m:oMath>
                </a14:m>
                <a:r>
                  <a:rPr lang="en-US" altLang="zh-CN" baseline="-25000" dirty="0"/>
                  <a:t>3</a:t>
                </a:r>
                <a:r>
                  <a:rPr lang="en-US" altLang="zh-CN" dirty="0"/>
                  <a:t> =0 </a:t>
                </a:r>
                <a:r>
                  <a:rPr lang="zh-CN" altLang="en-US" dirty="0"/>
                  <a:t>时，译码器工作，否则，译码功能被禁止。 </a:t>
                </a:r>
                <a:r>
                  <a:rPr lang="en-US" altLang="zh-CN" dirty="0"/>
                  <a:t>74138 </a:t>
                </a:r>
                <a:r>
                  <a:rPr lang="zh-CN" altLang="en-US" dirty="0"/>
                  <a:t>译码器的引脚图和逻辑符号如图 </a:t>
                </a:r>
                <a:r>
                  <a:rPr lang="en-US" altLang="zh-CN" dirty="0"/>
                  <a:t>3</a:t>
                </a:r>
                <a:r>
                  <a:rPr lang="zh-CN" altLang="en-US" dirty="0"/>
                  <a:t>－</a:t>
                </a:r>
                <a:r>
                  <a:rPr lang="en-US" altLang="zh-CN" dirty="0"/>
                  <a:t>17 </a:t>
                </a:r>
                <a:r>
                  <a:rPr lang="zh-CN" altLang="en-US" dirty="0"/>
                  <a:t>所示，真值表如表 </a:t>
                </a:r>
                <a:r>
                  <a:rPr lang="en-US" altLang="zh-CN" dirty="0"/>
                  <a:t>3</a:t>
                </a:r>
                <a:r>
                  <a:rPr lang="zh-CN" altLang="en-US" dirty="0"/>
                  <a:t>－</a:t>
                </a:r>
                <a:r>
                  <a:rPr lang="en-US" altLang="zh-CN" dirty="0"/>
                  <a:t>9 </a:t>
                </a:r>
                <a:r>
                  <a:rPr lang="zh-CN" altLang="en-US" dirty="0"/>
                  <a:t>所示。</a:t>
                </a:r>
                <a:endParaRPr lang="zh-CN" altLang="zh-CN" dirty="0"/>
              </a:p>
            </p:txBody>
          </p:sp>
        </mc:Choice>
        <mc:Fallback xmlns="">
          <p:sp>
            <p:nvSpPr>
              <p:cNvPr id="411650" name="Rectangle 2"/>
              <p:cNvSpPr>
                <a:spLocks noGrp="1" noRot="1" noChangeAspect="1" noMove="1" noResize="1" noEditPoints="1" noAdjustHandles="1" noChangeArrowheads="1" noChangeShapeType="1" noTextEdit="1"/>
              </p:cNvSpPr>
              <p:nvPr>
                <p:ph type="title"/>
              </p:nvPr>
            </p:nvSpPr>
            <p:spPr>
              <a:blipFill rotWithShape="1">
                <a:blip r:embed="rId2"/>
                <a:stretch>
                  <a:fillRect l="-1202" r="-1052"/>
                </a:stretch>
              </a:blipFill>
            </p:spPr>
            <p:txBody>
              <a:bodyPr/>
              <a:lstStyle/>
              <a:p>
                <a:r>
                  <a:rPr lang="zh-CN" altLang="en-US">
                    <a:noFill/>
                  </a:rPr>
                  <a:t> </a:t>
                </a:r>
              </a:p>
            </p:txBody>
          </p:sp>
        </mc:Fallback>
      </mc:AlternateContent>
      <p:sp>
        <p:nvSpPr>
          <p:cNvPr id="41165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2"/>
          <p:cNvSpPr>
            <a:spLocks noGrp="1" noChangeArrowheads="1"/>
          </p:cNvSpPr>
          <p:nvPr>
            <p:ph type="title"/>
          </p:nvPr>
        </p:nvSpPr>
        <p:spPr/>
        <p:txBody>
          <a:bodyPr/>
          <a:lstStyle/>
          <a:p>
            <a:endParaRPr lang="zh-CN" altLang="zh-CN"/>
          </a:p>
        </p:txBody>
      </p:sp>
      <p:sp>
        <p:nvSpPr>
          <p:cNvPr id="412675" name="Rectangle 3"/>
          <p:cNvSpPr>
            <a:spLocks noGrp="1" noChangeArrowheads="1"/>
          </p:cNvSpPr>
          <p:nvPr>
            <p:ph type="body" idx="1"/>
          </p:nvPr>
        </p:nvSpPr>
        <p:spPr>
          <a:xfrm>
            <a:off x="0" y="5445224"/>
            <a:ext cx="9144000" cy="438944"/>
          </a:xfrm>
        </p:spPr>
        <p:txBody>
          <a:bodyPr/>
          <a:lstStyle/>
          <a:p>
            <a:r>
              <a:rPr lang="zh-CN" altLang="en-US" dirty="0"/>
              <a:t>图 </a:t>
            </a:r>
            <a:r>
              <a:rPr lang="en-US" altLang="zh-CN" dirty="0"/>
              <a:t>3</a:t>
            </a:r>
            <a:r>
              <a:rPr lang="zh-CN" altLang="en-US" dirty="0"/>
              <a:t>－</a:t>
            </a:r>
            <a:r>
              <a:rPr lang="en-US" altLang="zh-CN" dirty="0"/>
              <a:t>17 74138 </a:t>
            </a:r>
            <a:r>
              <a:rPr lang="zh-CN" altLang="en-US" dirty="0"/>
              <a:t>译码器的引脚图和逻辑符号</a:t>
            </a:r>
          </a:p>
          <a:p>
            <a:r>
              <a:rPr lang="en-US" altLang="zh-CN" dirty="0"/>
              <a:t>(a )</a:t>
            </a:r>
            <a:r>
              <a:rPr lang="zh-CN" altLang="en-US" dirty="0"/>
              <a:t>引脚图</a:t>
            </a:r>
            <a:r>
              <a:rPr lang="en-US" altLang="zh-CN" dirty="0"/>
              <a:t>;( b )</a:t>
            </a:r>
            <a:r>
              <a:rPr lang="zh-CN" altLang="en-US" dirty="0"/>
              <a:t>逻辑符号</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616" y="1052736"/>
            <a:ext cx="6994919" cy="4104456"/>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Grp="1" noChangeArrowheads="1"/>
          </p:cNvSpPr>
          <p:nvPr>
            <p:ph type="title"/>
          </p:nvPr>
        </p:nvSpPr>
        <p:spPr/>
        <p:txBody>
          <a:bodyPr/>
          <a:lstStyle/>
          <a:p>
            <a:endParaRPr lang="zh-CN" altLang="zh-CN"/>
          </a:p>
        </p:txBody>
      </p:sp>
      <p:sp>
        <p:nvSpPr>
          <p:cNvPr id="413699"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5283" y="1295102"/>
            <a:ext cx="7573433" cy="4267796"/>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14722" name="Rectangle 2"/>
              <p:cNvSpPr>
                <a:spLocks noGrp="1" noChangeArrowheads="1"/>
              </p:cNvSpPr>
              <p:nvPr>
                <p:ph type="title"/>
              </p:nvPr>
            </p:nvSpPr>
            <p:spPr/>
            <p:txBody>
              <a:bodyPr/>
              <a:lstStyle/>
              <a:p>
                <a:br>
                  <a:rPr lang="en-US" altLang="zh-CN" dirty="0"/>
                </a:br>
                <a:r>
                  <a:rPr lang="zh-CN" altLang="en-US" dirty="0"/>
                  <a:t>　　当 </a:t>
                </a:r>
                <a:r>
                  <a:rPr lang="en-US" altLang="zh-CN" dirty="0"/>
                  <a:t>S</a:t>
                </a:r>
                <a:r>
                  <a:rPr lang="en-US" altLang="zh-CN" baseline="-25000" dirty="0"/>
                  <a:t>1</a:t>
                </a:r>
                <a:r>
                  <a:rPr lang="en-US" altLang="zh-CN" dirty="0"/>
                  <a:t> =1 </a:t>
                </a:r>
                <a:r>
                  <a:rPr lang="zh-CN" altLang="en-US" dirty="0"/>
                  <a:t>，</a:t>
                </a:r>
                <a14:m>
                  <m:oMath xmlns:m="http://schemas.openxmlformats.org/officeDocument/2006/math">
                    <m:acc>
                      <m:accPr>
                        <m:chr m:val="̅"/>
                        <m:ctrlPr>
                          <a:rPr lang="zh-CN" altLang="en-US" i="1">
                            <a:latin typeface="Cambria Math" panose="02040503050406030204" pitchFamily="18" charset="0"/>
                          </a:rPr>
                        </m:ctrlPr>
                      </m:accPr>
                      <m:e>
                        <m:r>
                          <m:rPr>
                            <m:nor/>
                          </m:rPr>
                          <a:rPr lang="en-US" altLang="zh-CN" dirty="0"/>
                          <m:t>S</m:t>
                        </m:r>
                      </m:e>
                    </m:acc>
                  </m:oMath>
                </a14:m>
                <a:r>
                  <a:rPr lang="zh-CN" altLang="en-US" dirty="0"/>
                  <a:t> </a:t>
                </a:r>
                <a:r>
                  <a:rPr lang="en-US" altLang="zh-CN" baseline="-25000" dirty="0"/>
                  <a:t>2</a:t>
                </a:r>
                <a:r>
                  <a:rPr lang="en-US" altLang="zh-CN" dirty="0"/>
                  <a:t> + </a:t>
                </a:r>
                <a14:m>
                  <m:oMath xmlns:m="http://schemas.openxmlformats.org/officeDocument/2006/math">
                    <m:acc>
                      <m:accPr>
                        <m:chr m:val="̅"/>
                        <m:ctrlPr>
                          <a:rPr lang="zh-CN" altLang="en-US" i="1">
                            <a:latin typeface="Cambria Math" panose="02040503050406030204" pitchFamily="18" charset="0"/>
                          </a:rPr>
                        </m:ctrlPr>
                      </m:accPr>
                      <m:e>
                        <m:r>
                          <m:rPr>
                            <m:nor/>
                          </m:rPr>
                          <a:rPr lang="en-US" altLang="zh-CN" dirty="0"/>
                          <m:t>S</m:t>
                        </m:r>
                      </m:e>
                    </m:acc>
                  </m:oMath>
                </a14:m>
                <a:r>
                  <a:rPr lang="en-US" altLang="zh-CN" baseline="-25000" dirty="0"/>
                  <a:t>3</a:t>
                </a:r>
                <a:r>
                  <a:rPr lang="en-US" altLang="zh-CN" dirty="0"/>
                  <a:t> =0</a:t>
                </a:r>
                <a:r>
                  <a:rPr lang="zh-CN" altLang="en-US" dirty="0"/>
                  <a:t>时，由 </a:t>
                </a:r>
                <a:r>
                  <a:rPr lang="en-US" altLang="zh-CN" dirty="0"/>
                  <a:t>74138 </a:t>
                </a:r>
                <a:r>
                  <a:rPr lang="zh-CN" altLang="en-US" dirty="0"/>
                  <a:t>译码器的真值表可以得到如下输出逻辑表达式</a:t>
                </a:r>
                <a:r>
                  <a:rPr lang="en-US" altLang="zh-CN" dirty="0"/>
                  <a:t>:</a:t>
                </a:r>
                <a:endParaRPr lang="zh-CN" altLang="zh-CN" dirty="0"/>
              </a:p>
            </p:txBody>
          </p:sp>
        </mc:Choice>
        <mc:Fallback xmlns="">
          <p:sp>
            <p:nvSpPr>
              <p:cNvPr id="414722" name="Rectangle 2"/>
              <p:cNvSpPr>
                <a:spLocks noGrp="1" noRot="1" noChangeAspect="1" noMove="1" noResize="1" noEditPoints="1" noAdjustHandles="1" noChangeArrowheads="1" noChangeShapeType="1" noTextEdit="1"/>
              </p:cNvSpPr>
              <p:nvPr>
                <p:ph type="title"/>
              </p:nvPr>
            </p:nvSpPr>
            <p:spPr>
              <a:blipFill rotWithShape="1">
                <a:blip r:embed="rId2"/>
                <a:stretch>
                  <a:fillRect l="-1202"/>
                </a:stretch>
              </a:blipFill>
            </p:spPr>
            <p:txBody>
              <a:bodyPr/>
              <a:lstStyle/>
              <a:p>
                <a:r>
                  <a:rPr lang="zh-CN" altLang="en-US">
                    <a:noFill/>
                  </a:rPr>
                  <a:t> </a:t>
                </a:r>
              </a:p>
            </p:txBody>
          </p:sp>
        </mc:Fallback>
      </mc:AlternateContent>
      <p:sp>
        <p:nvSpPr>
          <p:cNvPr id="414723"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9752" y="1998388"/>
            <a:ext cx="4176464" cy="3349872"/>
          </a:xfrm>
          <a:prstGeom prst="rect">
            <a:avLst/>
          </a:prstGeom>
        </p:spPr>
      </p:pic>
      <p:pic>
        <p:nvPicPr>
          <p:cNvPr id="3" name="图片 2"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39752" y="5348260"/>
            <a:ext cx="4032448" cy="454056"/>
          </a:xfrm>
          <a:prstGeom prst="rect">
            <a:avLst/>
          </a:prstGeom>
        </p:spPr>
      </p:pic>
    </p:spTree>
    <p:extLst>
      <p:ext uri="{BB962C8B-B14F-4D97-AF65-F5344CB8AC3E}">
        <p14:creationId xmlns:p14="http://schemas.microsoft.com/office/powerpoint/2010/main" val="29299032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2"/>
          <p:cNvSpPr>
            <a:spLocks noGrp="1" noChangeArrowheads="1"/>
          </p:cNvSpPr>
          <p:nvPr>
            <p:ph type="title"/>
          </p:nvPr>
        </p:nvSpPr>
        <p:spPr/>
        <p:txBody>
          <a:bodyPr/>
          <a:lstStyle/>
          <a:p>
            <a:br>
              <a:rPr lang="en-US" altLang="zh-CN" dirty="0"/>
            </a:br>
            <a:r>
              <a:rPr lang="zh-CN" altLang="en-US" dirty="0"/>
              <a:t>　　 </a:t>
            </a:r>
            <a:r>
              <a:rPr lang="en-US" altLang="zh-CN" b="1" dirty="0"/>
              <a:t>5. </a:t>
            </a:r>
            <a:r>
              <a:rPr lang="zh-CN" altLang="en-US" b="1" dirty="0"/>
              <a:t>用 </a:t>
            </a:r>
            <a:r>
              <a:rPr lang="en-US" altLang="zh-CN" b="1" dirty="0"/>
              <a:t>MSI </a:t>
            </a:r>
            <a:r>
              <a:rPr lang="zh-CN" altLang="en-US" b="1" dirty="0"/>
              <a:t>译码器实现组合逻辑函数</a:t>
            </a:r>
            <a:br>
              <a:rPr lang="zh-CN" altLang="en-US" b="1" dirty="0"/>
            </a:br>
            <a:r>
              <a:rPr lang="zh-CN" altLang="en-US" b="1" dirty="0"/>
              <a:t>　　</a:t>
            </a:r>
            <a:r>
              <a:rPr lang="zh-CN" altLang="en-US" dirty="0"/>
              <a:t>我们知道，任一组合逻辑函数均可以写成最小项之和的形式</a:t>
            </a:r>
            <a:r>
              <a:rPr lang="en-US" altLang="zh-CN" dirty="0"/>
              <a:t>(</a:t>
            </a:r>
            <a:r>
              <a:rPr lang="zh-CN" altLang="en-US" dirty="0"/>
              <a:t>标准与或表达式</a:t>
            </a:r>
            <a:r>
              <a:rPr lang="en-US" altLang="zh-CN" dirty="0"/>
              <a:t>)</a:t>
            </a:r>
            <a:r>
              <a:rPr lang="zh-CN" altLang="en-US" dirty="0"/>
              <a:t>，也可以写成最大项之积的形式</a:t>
            </a:r>
            <a:r>
              <a:rPr lang="en-US" altLang="zh-CN" dirty="0"/>
              <a:t>(</a:t>
            </a:r>
            <a:r>
              <a:rPr lang="zh-CN" altLang="en-US" dirty="0"/>
              <a:t>标准或与表达式</a:t>
            </a:r>
            <a:r>
              <a:rPr lang="en-US" altLang="zh-CN" dirty="0"/>
              <a:t>)</a:t>
            </a:r>
            <a:r>
              <a:rPr lang="zh-CN" altLang="en-US" dirty="0"/>
              <a:t>，而二进制译码器的输出提供了其输入变量所</a:t>
            </a:r>
            <a:br>
              <a:rPr lang="zh-CN" altLang="en-US" dirty="0"/>
            </a:br>
            <a:r>
              <a:rPr lang="zh-CN" altLang="en-US" dirty="0"/>
              <a:t>有不同的最小项</a:t>
            </a:r>
            <a:r>
              <a:rPr lang="en-US" altLang="zh-CN" dirty="0"/>
              <a:t>(</a:t>
            </a:r>
            <a:r>
              <a:rPr lang="zh-CN" altLang="en-US" dirty="0"/>
              <a:t>或最小项的反</a:t>
            </a:r>
            <a:r>
              <a:rPr lang="en-US" altLang="zh-CN" dirty="0"/>
              <a:t>———</a:t>
            </a:r>
            <a:r>
              <a:rPr lang="zh-CN" altLang="en-US" dirty="0"/>
              <a:t>最大项</a:t>
            </a:r>
            <a:r>
              <a:rPr lang="en-US" altLang="zh-CN" dirty="0"/>
              <a:t>)</a:t>
            </a:r>
            <a:r>
              <a:rPr lang="zh-CN" altLang="en-US" dirty="0"/>
              <a:t>，因此，可以利用译码器来实现组合逻辑函数。</a:t>
            </a:r>
            <a:endParaRPr lang="zh-CN" altLang="zh-CN" dirty="0"/>
          </a:p>
        </p:txBody>
      </p:sp>
      <p:sp>
        <p:nvSpPr>
          <p:cNvPr id="41574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2"/>
          <p:cNvSpPr>
            <a:spLocks noGrp="1" noChangeArrowheads="1"/>
          </p:cNvSpPr>
          <p:nvPr>
            <p:ph type="title"/>
          </p:nvPr>
        </p:nvSpPr>
        <p:spPr/>
        <p:txBody>
          <a:bodyPr/>
          <a:lstStyle/>
          <a:p>
            <a:br>
              <a:rPr lang="en-US" altLang="zh-CN" dirty="0"/>
            </a:br>
            <a:r>
              <a:rPr lang="zh-CN" altLang="en-US" dirty="0"/>
              <a:t>　　用普通二进制译码器实现组合逻辑函数的一般步骤如下</a:t>
            </a:r>
            <a:r>
              <a:rPr lang="en-US" altLang="zh-CN" dirty="0"/>
              <a:t>:</a:t>
            </a:r>
            <a:br>
              <a:rPr lang="en-US" altLang="zh-CN" dirty="0"/>
            </a:br>
            <a:r>
              <a:rPr lang="zh-CN" altLang="en-US" dirty="0"/>
              <a:t>　　</a:t>
            </a:r>
            <a:r>
              <a:rPr lang="en-US" altLang="zh-CN" dirty="0"/>
              <a:t>(1)</a:t>
            </a:r>
            <a:r>
              <a:rPr lang="zh-CN" altLang="en-US" dirty="0"/>
              <a:t>根据译码器输出的特点</a:t>
            </a:r>
            <a:r>
              <a:rPr lang="en-US" altLang="zh-CN" dirty="0"/>
              <a:t>(</a:t>
            </a:r>
            <a:r>
              <a:rPr lang="zh-CN" altLang="en-US" dirty="0"/>
              <a:t>最小项或最大项</a:t>
            </a:r>
            <a:r>
              <a:rPr lang="en-US" altLang="zh-CN" dirty="0"/>
              <a:t>)</a:t>
            </a:r>
            <a:r>
              <a:rPr lang="zh-CN" altLang="en-US" dirty="0"/>
              <a:t>，将要实现的逻辑函数转换成相应的形式。</a:t>
            </a:r>
            <a:br>
              <a:rPr lang="zh-CN" altLang="en-US" dirty="0"/>
            </a:br>
            <a:r>
              <a:rPr lang="zh-CN" altLang="en-US" dirty="0"/>
              <a:t>　　</a:t>
            </a:r>
            <a:r>
              <a:rPr lang="en-US" altLang="zh-CN" dirty="0"/>
              <a:t>(2)</a:t>
            </a:r>
            <a:r>
              <a:rPr lang="zh-CN" altLang="en-US" dirty="0"/>
              <a:t>将相应的输出端信号进行相或或相与。</a:t>
            </a:r>
            <a:endParaRPr lang="zh-CN" altLang="zh-CN" dirty="0"/>
          </a:p>
        </p:txBody>
      </p:sp>
      <p:sp>
        <p:nvSpPr>
          <p:cNvPr id="41677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17794" name="Rectangle 2"/>
              <p:cNvSpPr>
                <a:spLocks noGrp="1" noChangeArrowheads="1"/>
              </p:cNvSpPr>
              <p:nvPr>
                <p:ph type="title"/>
              </p:nvPr>
            </p:nvSpPr>
            <p:spPr/>
            <p:txBody>
              <a:bodyPr/>
              <a:lstStyle/>
              <a:p>
                <a:br>
                  <a:rPr lang="en-US" altLang="zh-CN" dirty="0"/>
                </a:br>
                <a:r>
                  <a:rPr lang="zh-CN" altLang="en-US" dirty="0"/>
                  <a:t>　　 </a:t>
                </a:r>
                <a:r>
                  <a:rPr lang="en-US" altLang="zh-CN" b="1" dirty="0"/>
                  <a:t>【</a:t>
                </a:r>
                <a:r>
                  <a:rPr lang="zh-CN" altLang="en-US" b="1" dirty="0"/>
                  <a:t>例 </a:t>
                </a:r>
                <a:r>
                  <a:rPr lang="en-US" altLang="zh-CN" b="1" dirty="0"/>
                  <a:t>3.1 】</a:t>
                </a:r>
                <a:r>
                  <a:rPr lang="en-US" altLang="zh-CN" dirty="0"/>
                  <a:t> </a:t>
                </a:r>
                <a:r>
                  <a:rPr lang="zh-CN" altLang="en-US" dirty="0"/>
                  <a:t>用 </a:t>
                </a:r>
                <a:r>
                  <a:rPr lang="en-US" altLang="zh-CN" dirty="0"/>
                  <a:t>74138 </a:t>
                </a:r>
                <a:r>
                  <a:rPr lang="zh-CN" altLang="en-US" dirty="0"/>
                  <a:t>实现逻辑函数 </a:t>
                </a:r>
                <a:r>
                  <a:rPr lang="en-US" altLang="zh-CN" dirty="0"/>
                  <a:t>F= </a:t>
                </a:r>
                <a14:m>
                  <m:oMath xmlns:m="http://schemas.openxmlformats.org/officeDocument/2006/math">
                    <m:acc>
                      <m:accPr>
                        <m:chr m:val="̅"/>
                        <m:ctrlPr>
                          <a:rPr lang="zh-CN" altLang="en-US" i="1" smtClean="0">
                            <a:latin typeface="Cambria Math" panose="02040503050406030204" pitchFamily="18" charset="0"/>
                          </a:rPr>
                        </m:ctrlPr>
                      </m:accPr>
                      <m:e>
                        <m:r>
                          <m:rPr>
                            <m:nor/>
                          </m:rPr>
                          <a:rPr lang="en-US" altLang="zh-CN" dirty="0"/>
                          <m:t>A</m:t>
                        </m:r>
                      </m:e>
                    </m:acc>
                  </m:oMath>
                </a14:m>
                <a:r>
                  <a:rPr lang="zh-CN" altLang="en-US" dirty="0"/>
                  <a:t> </a:t>
                </a:r>
                <a14:m>
                  <m:oMath xmlns:m="http://schemas.openxmlformats.org/officeDocument/2006/math">
                    <m:acc>
                      <m:accPr>
                        <m:chr m:val="̅"/>
                        <m:ctrlPr>
                          <a:rPr lang="zh-CN" altLang="en-US" i="1">
                            <a:latin typeface="Cambria Math" panose="02040503050406030204" pitchFamily="18" charset="0"/>
                          </a:rPr>
                        </m:ctrlPr>
                      </m:accPr>
                      <m:e>
                        <m:r>
                          <m:rPr>
                            <m:nor/>
                          </m:rPr>
                          <a:rPr lang="en-US" altLang="zh-CN" dirty="0"/>
                          <m:t>C</m:t>
                        </m:r>
                      </m:e>
                    </m:acc>
                  </m:oMath>
                </a14:m>
                <a:r>
                  <a:rPr lang="zh-CN" altLang="en-US" dirty="0"/>
                  <a:t> </a:t>
                </a:r>
                <a:r>
                  <a:rPr lang="en-US" altLang="zh-CN" dirty="0"/>
                  <a:t>+BC </a:t>
                </a:r>
                <a:r>
                  <a:rPr lang="zh-CN" altLang="en-US" dirty="0"/>
                  <a:t>。</a:t>
                </a:r>
                <a:br>
                  <a:rPr lang="zh-CN" altLang="en-US" dirty="0"/>
                </a:br>
                <a:r>
                  <a:rPr lang="zh-CN" altLang="en-US" dirty="0"/>
                  <a:t>　　</a:t>
                </a:r>
                <a:r>
                  <a:rPr lang="zh-CN" altLang="en-US" b="1" dirty="0"/>
                  <a:t>解</a:t>
                </a:r>
                <a:r>
                  <a:rPr lang="zh-CN" altLang="en-US" dirty="0"/>
                  <a:t> </a:t>
                </a:r>
                <a:r>
                  <a:rPr lang="en-US" altLang="zh-CN" dirty="0"/>
                  <a:t>74138 </a:t>
                </a:r>
                <a:r>
                  <a:rPr lang="zh-CN" altLang="en-US" dirty="0"/>
                  <a:t>的输出为输入的各个不同的最大项</a:t>
                </a:r>
                <a:r>
                  <a:rPr lang="en-US" altLang="zh-CN" dirty="0"/>
                  <a:t>(</a:t>
                </a:r>
                <a:r>
                  <a:rPr lang="zh-CN" altLang="en-US" dirty="0"/>
                  <a:t>最小项的反</a:t>
                </a:r>
                <a:r>
                  <a:rPr lang="en-US" altLang="zh-CN" dirty="0"/>
                  <a:t>)</a:t>
                </a:r>
                <a:r>
                  <a:rPr lang="zh-CN" altLang="en-US" dirty="0"/>
                  <a:t>，因此，可将 </a:t>
                </a:r>
                <a:r>
                  <a:rPr lang="en-US" altLang="zh-CN" dirty="0"/>
                  <a:t>F </a:t>
                </a:r>
                <a:r>
                  <a:rPr lang="zh-CN" altLang="en-US" dirty="0"/>
                  <a:t>写成最大项</a:t>
                </a:r>
                <a:r>
                  <a:rPr lang="en-US" altLang="zh-CN" dirty="0"/>
                  <a:t>(</a:t>
                </a:r>
                <a:r>
                  <a:rPr lang="zh-CN" altLang="en-US" dirty="0"/>
                  <a:t>或最小项的反</a:t>
                </a:r>
                <a:r>
                  <a:rPr lang="en-US" altLang="zh-CN" dirty="0"/>
                  <a:t>)</a:t>
                </a:r>
                <a:r>
                  <a:rPr lang="zh-CN" altLang="en-US" dirty="0"/>
                  <a:t>的形式</a:t>
                </a:r>
                <a:r>
                  <a:rPr lang="en-US" altLang="zh-CN" dirty="0"/>
                  <a:t>:</a:t>
                </a:r>
                <a:endParaRPr lang="zh-CN" altLang="zh-CN" dirty="0"/>
              </a:p>
            </p:txBody>
          </p:sp>
        </mc:Choice>
        <mc:Fallback xmlns="">
          <p:sp>
            <p:nvSpPr>
              <p:cNvPr id="417794" name="Rectangle 2"/>
              <p:cNvSpPr>
                <a:spLocks noGrp="1" noRot="1" noChangeAspect="1" noMove="1" noResize="1" noEditPoints="1" noAdjustHandles="1" noChangeArrowheads="1" noChangeShapeType="1" noTextEdit="1"/>
              </p:cNvSpPr>
              <p:nvPr>
                <p:ph type="title"/>
              </p:nvPr>
            </p:nvSpPr>
            <p:spPr>
              <a:blipFill rotWithShape="1">
                <a:blip r:embed="rId2"/>
                <a:stretch>
                  <a:fillRect l="-1202"/>
                </a:stretch>
              </a:blipFill>
            </p:spPr>
            <p:txBody>
              <a:bodyPr/>
              <a:lstStyle/>
              <a:p>
                <a:r>
                  <a:rPr lang="zh-CN" altLang="en-US">
                    <a:noFill/>
                  </a:rPr>
                  <a:t> </a:t>
                </a:r>
              </a:p>
            </p:txBody>
          </p:sp>
        </mc:Fallback>
      </mc:AlternateContent>
      <p:sp>
        <p:nvSpPr>
          <p:cNvPr id="417795"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9712" y="2708920"/>
            <a:ext cx="5650616" cy="2521959"/>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2"/>
          <p:cNvSpPr>
            <a:spLocks noGrp="1" noChangeArrowheads="1"/>
          </p:cNvSpPr>
          <p:nvPr>
            <p:ph type="title"/>
          </p:nvPr>
        </p:nvSpPr>
        <p:spPr/>
        <p:txBody>
          <a:bodyPr/>
          <a:lstStyle/>
          <a:p>
            <a:br>
              <a:rPr lang="en-US" altLang="zh-CN" dirty="0"/>
            </a:br>
            <a:r>
              <a:rPr lang="zh-CN" altLang="en-US" dirty="0"/>
              <a:t>　　实现电路如图 </a:t>
            </a:r>
            <a:r>
              <a:rPr lang="en-US" altLang="zh-CN" dirty="0"/>
              <a:t>3</a:t>
            </a:r>
            <a:r>
              <a:rPr lang="zh-CN" altLang="en-US" dirty="0"/>
              <a:t>－</a:t>
            </a:r>
            <a:r>
              <a:rPr lang="en-US" altLang="zh-CN" dirty="0"/>
              <a:t>18 </a:t>
            </a:r>
            <a:r>
              <a:rPr lang="zh-CN" altLang="en-US" dirty="0"/>
              <a:t>所示。</a:t>
            </a:r>
            <a:endParaRPr lang="zh-CN" altLang="zh-CN" dirty="0"/>
          </a:p>
        </p:txBody>
      </p:sp>
      <p:sp>
        <p:nvSpPr>
          <p:cNvPr id="418819" name="Rectangle 3"/>
          <p:cNvSpPr>
            <a:spLocks noGrp="1" noChangeArrowheads="1"/>
          </p:cNvSpPr>
          <p:nvPr>
            <p:ph type="body" idx="1"/>
          </p:nvPr>
        </p:nvSpPr>
        <p:spPr>
          <a:xfrm>
            <a:off x="0" y="5373216"/>
            <a:ext cx="9144000" cy="438944"/>
          </a:xfrm>
        </p:spPr>
        <p:txBody>
          <a:bodyPr/>
          <a:lstStyle/>
          <a:p>
            <a:r>
              <a:rPr lang="zh-CN" altLang="en-US" dirty="0"/>
              <a:t>图 </a:t>
            </a:r>
            <a:r>
              <a:rPr lang="en-US" altLang="zh-CN" dirty="0"/>
              <a:t>3</a:t>
            </a:r>
            <a:r>
              <a:rPr lang="zh-CN" altLang="en-US" dirty="0"/>
              <a:t>－</a:t>
            </a:r>
            <a:r>
              <a:rPr lang="en-US" altLang="zh-CN" dirty="0"/>
              <a:t>18  </a:t>
            </a:r>
            <a:r>
              <a:rPr lang="zh-CN" altLang="en-US" dirty="0"/>
              <a:t>例 </a:t>
            </a:r>
            <a:r>
              <a:rPr lang="en-US" altLang="zh-CN" dirty="0"/>
              <a:t>3.1 </a:t>
            </a:r>
            <a:r>
              <a:rPr lang="zh-CN" altLang="en-US" dirty="0"/>
              <a:t>的逻辑电路</a:t>
            </a:r>
          </a:p>
          <a:p>
            <a:r>
              <a:rPr lang="en-US" altLang="zh-CN" dirty="0"/>
              <a:t>(a )</a:t>
            </a:r>
            <a:r>
              <a:rPr lang="zh-CN" altLang="en-US" dirty="0"/>
              <a:t>方案一</a:t>
            </a:r>
            <a:r>
              <a:rPr lang="en-US" altLang="zh-CN" dirty="0"/>
              <a:t>;( b )</a:t>
            </a:r>
            <a:r>
              <a:rPr lang="zh-CN" altLang="en-US" dirty="0"/>
              <a:t>方案二</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441" y="1752366"/>
            <a:ext cx="8183118" cy="3353268"/>
          </a:xfrm>
          <a:prstGeom prst="rect">
            <a:avLst/>
          </a:prstGeom>
        </p:spPr>
      </p:pic>
      <p:pic>
        <p:nvPicPr>
          <p:cNvPr id="5" name="Picture 2" descr="H:\出版社\模板\课件素材\GIF动画插件1\GIF020.GIF">
            <a:hlinkClick r:id="rId3" action="ppaction://hlinksldjump"/>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8394096" y="6268790"/>
            <a:ext cx="749904" cy="5892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a:xfrm>
            <a:off x="571500" y="533400"/>
            <a:ext cx="8115300" cy="1095400"/>
          </a:xfrm>
        </p:spPr>
        <p:txBody>
          <a:bodyPr/>
          <a:lstStyle/>
          <a:p>
            <a:pPr algn="ctr"/>
            <a:br>
              <a:rPr lang="en-US" altLang="zh-CN" sz="2600" b="1" dirty="0"/>
            </a:br>
            <a:r>
              <a:rPr lang="en-US" altLang="zh-CN" sz="2600" b="1" dirty="0"/>
              <a:t>3. 2  </a:t>
            </a:r>
            <a:r>
              <a:rPr lang="zh-CN" altLang="en-US" sz="2600" b="1" dirty="0"/>
              <a:t>加法器和比较器</a:t>
            </a:r>
            <a:endParaRPr lang="zh-CN" altLang="zh-CN" sz="2600" b="1" dirty="0"/>
          </a:p>
        </p:txBody>
      </p:sp>
      <p:sp>
        <p:nvSpPr>
          <p:cNvPr id="419843" name="Rectangle 3"/>
          <p:cNvSpPr>
            <a:spLocks noGrp="1" noChangeArrowheads="1"/>
          </p:cNvSpPr>
          <p:nvPr>
            <p:ph type="body" idx="1"/>
          </p:nvPr>
        </p:nvSpPr>
        <p:spPr/>
        <p:txBody>
          <a:bodyPr/>
          <a:lstStyle/>
          <a:p>
            <a:endParaRPr lang="zh-CN" altLang="zh-CN"/>
          </a:p>
        </p:txBody>
      </p:sp>
      <p:sp>
        <p:nvSpPr>
          <p:cNvPr id="4" name="Rectangle 2"/>
          <p:cNvSpPr txBox="1">
            <a:spLocks noChangeArrowheads="1"/>
          </p:cNvSpPr>
          <p:nvPr/>
        </p:nvSpPr>
        <p:spPr bwMode="auto">
          <a:xfrm>
            <a:off x="723900" y="1760418"/>
            <a:ext cx="8115300" cy="4188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fontAlgn="base">
              <a:lnSpc>
                <a:spcPct val="130000"/>
              </a:lnSpc>
              <a:spcBef>
                <a:spcPct val="0"/>
              </a:spcBef>
              <a:spcAft>
                <a:spcPct val="0"/>
              </a:spcAft>
              <a:defRPr kumimoji="1" sz="2400">
                <a:solidFill>
                  <a:schemeClr val="tx2"/>
                </a:solidFill>
                <a:latin typeface="+mj-lt"/>
                <a:ea typeface="+mj-ea"/>
                <a:cs typeface="+mj-cs"/>
              </a:defRPr>
            </a:lvl1pPr>
            <a:lvl2pPr algn="l" rtl="0" fontAlgn="base">
              <a:lnSpc>
                <a:spcPct val="130000"/>
              </a:lnSpc>
              <a:spcBef>
                <a:spcPct val="0"/>
              </a:spcBef>
              <a:spcAft>
                <a:spcPct val="0"/>
              </a:spcAft>
              <a:defRPr kumimoji="1" sz="2400">
                <a:solidFill>
                  <a:schemeClr val="tx2"/>
                </a:solidFill>
                <a:latin typeface="Times New Roman" pitchFamily="18" charset="0"/>
                <a:ea typeface="宋体" charset="-122"/>
              </a:defRPr>
            </a:lvl2pPr>
            <a:lvl3pPr algn="l" rtl="0" fontAlgn="base">
              <a:lnSpc>
                <a:spcPct val="130000"/>
              </a:lnSpc>
              <a:spcBef>
                <a:spcPct val="0"/>
              </a:spcBef>
              <a:spcAft>
                <a:spcPct val="0"/>
              </a:spcAft>
              <a:defRPr kumimoji="1" sz="2400">
                <a:solidFill>
                  <a:schemeClr val="tx2"/>
                </a:solidFill>
                <a:latin typeface="Times New Roman" pitchFamily="18" charset="0"/>
                <a:ea typeface="宋体" charset="-122"/>
              </a:defRPr>
            </a:lvl3pPr>
            <a:lvl4pPr algn="l" rtl="0" fontAlgn="base">
              <a:lnSpc>
                <a:spcPct val="130000"/>
              </a:lnSpc>
              <a:spcBef>
                <a:spcPct val="0"/>
              </a:spcBef>
              <a:spcAft>
                <a:spcPct val="0"/>
              </a:spcAft>
              <a:defRPr kumimoji="1" sz="2400">
                <a:solidFill>
                  <a:schemeClr val="tx2"/>
                </a:solidFill>
                <a:latin typeface="Times New Roman" pitchFamily="18" charset="0"/>
                <a:ea typeface="宋体" charset="-122"/>
              </a:defRPr>
            </a:lvl4pPr>
            <a:lvl5pPr algn="l" rtl="0" fontAlgn="base">
              <a:lnSpc>
                <a:spcPct val="130000"/>
              </a:lnSpc>
              <a:spcBef>
                <a:spcPct val="0"/>
              </a:spcBef>
              <a:spcAft>
                <a:spcPct val="0"/>
              </a:spcAft>
              <a:defRPr kumimoji="1" sz="2400">
                <a:solidFill>
                  <a:schemeClr val="tx2"/>
                </a:solidFill>
                <a:latin typeface="Times New Roman" pitchFamily="18" charset="0"/>
                <a:ea typeface="宋体" charset="-122"/>
              </a:defRPr>
            </a:lvl5pPr>
            <a:lvl6pPr marL="457200" algn="l" rtl="0" fontAlgn="base">
              <a:lnSpc>
                <a:spcPct val="130000"/>
              </a:lnSpc>
              <a:spcBef>
                <a:spcPct val="0"/>
              </a:spcBef>
              <a:spcAft>
                <a:spcPct val="0"/>
              </a:spcAft>
              <a:defRPr kumimoji="1" sz="2400">
                <a:solidFill>
                  <a:schemeClr val="tx2"/>
                </a:solidFill>
                <a:latin typeface="Times New Roman" pitchFamily="18" charset="0"/>
                <a:ea typeface="宋体" charset="-122"/>
              </a:defRPr>
            </a:lvl6pPr>
            <a:lvl7pPr marL="914400" algn="l" rtl="0" fontAlgn="base">
              <a:lnSpc>
                <a:spcPct val="130000"/>
              </a:lnSpc>
              <a:spcBef>
                <a:spcPct val="0"/>
              </a:spcBef>
              <a:spcAft>
                <a:spcPct val="0"/>
              </a:spcAft>
              <a:defRPr kumimoji="1" sz="2400">
                <a:solidFill>
                  <a:schemeClr val="tx2"/>
                </a:solidFill>
                <a:latin typeface="Times New Roman" pitchFamily="18" charset="0"/>
                <a:ea typeface="宋体" charset="-122"/>
              </a:defRPr>
            </a:lvl7pPr>
            <a:lvl8pPr marL="1371600" algn="l" rtl="0" fontAlgn="base">
              <a:lnSpc>
                <a:spcPct val="130000"/>
              </a:lnSpc>
              <a:spcBef>
                <a:spcPct val="0"/>
              </a:spcBef>
              <a:spcAft>
                <a:spcPct val="0"/>
              </a:spcAft>
              <a:defRPr kumimoji="1" sz="2400">
                <a:solidFill>
                  <a:schemeClr val="tx2"/>
                </a:solidFill>
                <a:latin typeface="Times New Roman" pitchFamily="18" charset="0"/>
                <a:ea typeface="宋体" charset="-122"/>
              </a:defRPr>
            </a:lvl8pPr>
            <a:lvl9pPr marL="1828800" algn="l" rtl="0" fontAlgn="base">
              <a:lnSpc>
                <a:spcPct val="130000"/>
              </a:lnSpc>
              <a:spcBef>
                <a:spcPct val="0"/>
              </a:spcBef>
              <a:spcAft>
                <a:spcPct val="0"/>
              </a:spcAft>
              <a:defRPr kumimoji="1" sz="2400">
                <a:solidFill>
                  <a:schemeClr val="tx2"/>
                </a:solidFill>
                <a:latin typeface="Times New Roman" pitchFamily="18" charset="0"/>
                <a:ea typeface="宋体" charset="-122"/>
              </a:defRPr>
            </a:lvl9pPr>
          </a:lstStyle>
          <a:p>
            <a:br>
              <a:rPr lang="en-US" altLang="zh-CN" dirty="0"/>
            </a:br>
            <a:r>
              <a:rPr lang="en-US" altLang="zh-CN" b="1" dirty="0"/>
              <a:t>3. 2. 1  </a:t>
            </a:r>
            <a:r>
              <a:rPr lang="zh-CN" altLang="en-US" b="1" dirty="0"/>
              <a:t>加法器</a:t>
            </a:r>
          </a:p>
          <a:p>
            <a:r>
              <a:rPr lang="zh-CN" altLang="en-US" dirty="0"/>
              <a:t>　　实现两个二进制数相加功能的电路称为加法器。加法器有一位加法器和多位加法器之分。</a:t>
            </a:r>
            <a:endParaRPr lang="en-US" altLang="zh-CN" dirty="0"/>
          </a:p>
          <a:p>
            <a:r>
              <a:rPr lang="zh-CN" altLang="en-US" dirty="0"/>
              <a:t>　　</a:t>
            </a:r>
            <a:r>
              <a:rPr lang="en-US" altLang="zh-CN" b="1" dirty="0"/>
              <a:t>1. </a:t>
            </a:r>
            <a:r>
              <a:rPr lang="zh-CN" altLang="en-US" b="1" dirty="0"/>
              <a:t>一位加法器</a:t>
            </a:r>
          </a:p>
          <a:p>
            <a:r>
              <a:rPr lang="zh-CN" altLang="en-US" dirty="0"/>
              <a:t>　　实现两个一位二进制数相加的电路称为一位加法器。一位加法器又分为半加器和全加器。</a:t>
            </a:r>
            <a:endParaRPr lang="zh-CN" altLang="zh-CN"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p:txBody>
          <a:bodyPr/>
          <a:lstStyle/>
          <a:p>
            <a:br>
              <a:rPr lang="en-US" altLang="zh-CN" dirty="0"/>
            </a:br>
            <a:r>
              <a:rPr lang="zh-CN" altLang="en-US" dirty="0"/>
              <a:t>　　</a:t>
            </a:r>
            <a:r>
              <a:rPr lang="en-US" altLang="zh-CN" dirty="0"/>
              <a:t>1 )</a:t>
            </a:r>
            <a:r>
              <a:rPr lang="zh-CN" altLang="en-US" dirty="0"/>
              <a:t>半加器</a:t>
            </a:r>
            <a:br>
              <a:rPr lang="zh-CN" altLang="en-US" dirty="0"/>
            </a:br>
            <a:r>
              <a:rPr lang="zh-CN" altLang="en-US" dirty="0"/>
              <a:t>　　只考虑本位两个一位二进制数 </a:t>
            </a:r>
            <a:r>
              <a:rPr lang="en-US" altLang="zh-CN" dirty="0"/>
              <a:t>A </a:t>
            </a:r>
            <a:r>
              <a:rPr lang="zh-CN" altLang="en-US" dirty="0"/>
              <a:t>和 </a:t>
            </a:r>
            <a:r>
              <a:rPr lang="en-US" altLang="zh-CN" dirty="0"/>
              <a:t>B </a:t>
            </a:r>
            <a:r>
              <a:rPr lang="zh-CN" altLang="en-US" dirty="0"/>
              <a:t>相加，而不考虑低位进位的加法，称为半加，实现半加功能的电路称为半加器。</a:t>
            </a:r>
            <a:br>
              <a:rPr lang="zh-CN" altLang="en-US" dirty="0"/>
            </a:br>
            <a:r>
              <a:rPr lang="zh-CN" altLang="en-US" dirty="0"/>
              <a:t>　　半加器的真值表如表 </a:t>
            </a:r>
            <a:r>
              <a:rPr lang="en-US" altLang="zh-CN" dirty="0"/>
              <a:t>3</a:t>
            </a:r>
            <a:r>
              <a:rPr lang="zh-CN" altLang="en-US" dirty="0"/>
              <a:t>－</a:t>
            </a:r>
            <a:r>
              <a:rPr lang="en-US" altLang="zh-CN" dirty="0"/>
              <a:t>10 </a:t>
            </a:r>
            <a:r>
              <a:rPr lang="zh-CN" altLang="en-US" dirty="0"/>
              <a:t>所示。表中的 </a:t>
            </a:r>
            <a:r>
              <a:rPr lang="en-US" altLang="zh-CN" dirty="0"/>
              <a:t>A </a:t>
            </a:r>
            <a:r>
              <a:rPr lang="zh-CN" altLang="en-US" dirty="0"/>
              <a:t>和 </a:t>
            </a:r>
            <a:r>
              <a:rPr lang="en-US" altLang="zh-CN" dirty="0"/>
              <a:t>B</a:t>
            </a:r>
            <a:r>
              <a:rPr lang="zh-CN" altLang="en-US" dirty="0"/>
              <a:t>分别表示两个相加的一位二进制数，</a:t>
            </a:r>
            <a:r>
              <a:rPr lang="en-US" altLang="zh-CN" dirty="0"/>
              <a:t> S </a:t>
            </a:r>
            <a:r>
              <a:rPr lang="zh-CN" altLang="en-US" dirty="0"/>
              <a:t>是本位和，</a:t>
            </a:r>
            <a:r>
              <a:rPr lang="en-US" altLang="zh-CN" dirty="0"/>
              <a:t> C</a:t>
            </a:r>
            <a:r>
              <a:rPr lang="en-US" altLang="zh-CN" baseline="-25000" dirty="0"/>
              <a:t>out </a:t>
            </a:r>
            <a:r>
              <a:rPr lang="zh-CN" altLang="en-US" dirty="0"/>
              <a:t>是本位向高位的进位。</a:t>
            </a:r>
            <a:br>
              <a:rPr lang="en-US" altLang="zh-CN" dirty="0"/>
            </a:br>
            <a:r>
              <a:rPr lang="zh-CN" altLang="en-US" dirty="0"/>
              <a:t>　　由真值表可以直接写出如下函数表达式</a:t>
            </a:r>
            <a:r>
              <a:rPr lang="en-US" altLang="zh-CN" dirty="0"/>
              <a:t>:</a:t>
            </a:r>
            <a:endParaRPr lang="zh-CN" altLang="zh-CN" dirty="0"/>
          </a:p>
        </p:txBody>
      </p:sp>
      <p:sp>
        <p:nvSpPr>
          <p:cNvPr id="420867"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7784" y="4869160"/>
            <a:ext cx="3450970" cy="914249"/>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Rectangle 2"/>
          <p:cNvSpPr>
            <a:spLocks noGrp="1" noChangeArrowheads="1"/>
          </p:cNvSpPr>
          <p:nvPr>
            <p:ph type="title"/>
          </p:nvPr>
        </p:nvSpPr>
        <p:spPr/>
        <p:txBody>
          <a:bodyPr/>
          <a:lstStyle/>
          <a:p>
            <a:endParaRPr lang="zh-CN" altLang="zh-CN"/>
          </a:p>
        </p:txBody>
      </p:sp>
      <p:sp>
        <p:nvSpPr>
          <p:cNvPr id="421891"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5736" y="1556792"/>
            <a:ext cx="4937915" cy="3465908"/>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2"/>
          <p:cNvSpPr>
            <a:spLocks noGrp="1" noChangeArrowheads="1"/>
          </p:cNvSpPr>
          <p:nvPr>
            <p:ph type="title"/>
          </p:nvPr>
        </p:nvSpPr>
        <p:spPr/>
        <p:txBody>
          <a:bodyPr/>
          <a:lstStyle/>
          <a:p>
            <a:br>
              <a:rPr lang="en-US" altLang="zh-CN" dirty="0"/>
            </a:br>
            <a:r>
              <a:rPr lang="zh-CN" altLang="en-US" dirty="0"/>
              <a:t>　　半加器的逻辑图和逻辑符号如图 </a:t>
            </a:r>
            <a:r>
              <a:rPr lang="en-US" altLang="zh-CN" dirty="0"/>
              <a:t>3</a:t>
            </a:r>
            <a:r>
              <a:rPr lang="zh-CN" altLang="en-US" dirty="0"/>
              <a:t>－</a:t>
            </a:r>
            <a:r>
              <a:rPr lang="en-US" altLang="zh-CN" dirty="0"/>
              <a:t>19 </a:t>
            </a:r>
            <a:r>
              <a:rPr lang="zh-CN" altLang="en-US" dirty="0"/>
              <a:t>所示。</a:t>
            </a:r>
            <a:endParaRPr lang="zh-CN" altLang="zh-CN" dirty="0"/>
          </a:p>
        </p:txBody>
      </p:sp>
      <p:sp>
        <p:nvSpPr>
          <p:cNvPr id="422915" name="Rectangle 3"/>
          <p:cNvSpPr>
            <a:spLocks noGrp="1" noChangeArrowheads="1"/>
          </p:cNvSpPr>
          <p:nvPr>
            <p:ph type="body" idx="1"/>
          </p:nvPr>
        </p:nvSpPr>
        <p:spPr>
          <a:xfrm>
            <a:off x="0" y="5301208"/>
            <a:ext cx="9144000" cy="438944"/>
          </a:xfrm>
        </p:spPr>
        <p:txBody>
          <a:bodyPr/>
          <a:lstStyle/>
          <a:p>
            <a:r>
              <a:rPr lang="zh-CN" altLang="en-US" dirty="0"/>
              <a:t>图 </a:t>
            </a:r>
            <a:r>
              <a:rPr lang="en-US" altLang="zh-CN" dirty="0"/>
              <a:t>3</a:t>
            </a:r>
            <a:r>
              <a:rPr lang="zh-CN" altLang="en-US" dirty="0"/>
              <a:t>－</a:t>
            </a:r>
            <a:r>
              <a:rPr lang="en-US" altLang="zh-CN" dirty="0"/>
              <a:t>19  </a:t>
            </a:r>
            <a:r>
              <a:rPr lang="zh-CN" altLang="en-US" dirty="0"/>
              <a:t>半加器的逻辑图和逻辑符号</a:t>
            </a:r>
          </a:p>
          <a:p>
            <a:r>
              <a:rPr lang="en-US" altLang="zh-CN" dirty="0"/>
              <a:t>(a )</a:t>
            </a:r>
            <a:r>
              <a:rPr lang="zh-CN" altLang="en-US" dirty="0"/>
              <a:t>逻辑图</a:t>
            </a:r>
            <a:r>
              <a:rPr lang="en-US" altLang="zh-CN" dirty="0"/>
              <a:t>;( b )</a:t>
            </a:r>
            <a:r>
              <a:rPr lang="zh-CN" altLang="en-US" dirty="0"/>
              <a:t>逻辑符号</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607" y="1904826"/>
            <a:ext cx="7332057" cy="2680825"/>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Rectangle 2"/>
          <p:cNvSpPr>
            <a:spLocks noGrp="1" noChangeArrowheads="1"/>
          </p:cNvSpPr>
          <p:nvPr>
            <p:ph type="title"/>
          </p:nvPr>
        </p:nvSpPr>
        <p:spPr/>
        <p:txBody>
          <a:bodyPr/>
          <a:lstStyle/>
          <a:p>
            <a:br>
              <a:rPr lang="en-US" altLang="zh-CN" dirty="0"/>
            </a:br>
            <a:r>
              <a:rPr lang="zh-CN" altLang="en-US" dirty="0"/>
              <a:t>　　</a:t>
            </a:r>
            <a:r>
              <a:rPr lang="en-US" altLang="zh-CN" dirty="0"/>
              <a:t>2 )</a:t>
            </a:r>
            <a:r>
              <a:rPr lang="zh-CN" altLang="en-US" dirty="0"/>
              <a:t>全加器</a:t>
            </a:r>
            <a:br>
              <a:rPr lang="zh-CN" altLang="en-US" dirty="0"/>
            </a:br>
            <a:r>
              <a:rPr lang="zh-CN" altLang="en-US" dirty="0"/>
              <a:t>　　将本位两个一位二进制数和来自低位的进位相加，叫做全加，具有全加功能的电路称为全加器。</a:t>
            </a:r>
            <a:br>
              <a:rPr lang="zh-CN" altLang="en-US" dirty="0"/>
            </a:br>
            <a:r>
              <a:rPr lang="zh-CN" altLang="en-US" dirty="0"/>
              <a:t>　　全加器的真值表如表 </a:t>
            </a:r>
            <a:r>
              <a:rPr lang="en-US" altLang="zh-CN" dirty="0"/>
              <a:t>3</a:t>
            </a:r>
            <a:r>
              <a:rPr lang="zh-CN" altLang="en-US" dirty="0"/>
              <a:t>－</a:t>
            </a:r>
            <a:r>
              <a:rPr lang="en-US" altLang="zh-CN" dirty="0"/>
              <a:t>11 </a:t>
            </a:r>
            <a:r>
              <a:rPr lang="zh-CN" altLang="en-US" dirty="0"/>
              <a:t>所示。表中的 </a:t>
            </a:r>
            <a:r>
              <a:rPr lang="en-US" altLang="zh-CN" dirty="0"/>
              <a:t>A </a:t>
            </a:r>
            <a:r>
              <a:rPr lang="zh-CN" altLang="en-US" dirty="0"/>
              <a:t>和 </a:t>
            </a:r>
            <a:r>
              <a:rPr lang="en-US" altLang="zh-CN" dirty="0"/>
              <a:t>B </a:t>
            </a:r>
            <a:r>
              <a:rPr lang="zh-CN" altLang="en-US" dirty="0"/>
              <a:t>分别表示两个相加的一位二进制数，</a:t>
            </a:r>
            <a:r>
              <a:rPr lang="en-US" altLang="zh-CN" dirty="0"/>
              <a:t>C </a:t>
            </a:r>
            <a:r>
              <a:rPr lang="en-US" altLang="zh-CN" baseline="-25000" dirty="0"/>
              <a:t>in</a:t>
            </a:r>
            <a:r>
              <a:rPr lang="en-US" altLang="zh-CN" dirty="0"/>
              <a:t> </a:t>
            </a:r>
            <a:r>
              <a:rPr lang="zh-CN" altLang="en-US" dirty="0"/>
              <a:t>是来自低一位向本位的进位</a:t>
            </a:r>
            <a:r>
              <a:rPr lang="en-US" altLang="zh-CN" dirty="0"/>
              <a:t>; S </a:t>
            </a:r>
            <a:r>
              <a:rPr lang="zh-CN" altLang="en-US" dirty="0"/>
              <a:t>是本位和</a:t>
            </a:r>
            <a:r>
              <a:rPr lang="en-US" altLang="zh-CN" dirty="0"/>
              <a:t>; C</a:t>
            </a:r>
            <a:r>
              <a:rPr lang="en-US" altLang="zh-CN" baseline="-25000" dirty="0"/>
              <a:t> out </a:t>
            </a:r>
            <a:r>
              <a:rPr lang="zh-CN" altLang="en-US" dirty="0"/>
              <a:t>是本位向高一位的进位。图 </a:t>
            </a:r>
            <a:r>
              <a:rPr lang="en-US" altLang="zh-CN" dirty="0"/>
              <a:t>3</a:t>
            </a:r>
            <a:r>
              <a:rPr lang="zh-CN" altLang="en-US" dirty="0"/>
              <a:t>－</a:t>
            </a:r>
            <a:r>
              <a:rPr lang="en-US" altLang="zh-CN" dirty="0"/>
              <a:t>20 </a:t>
            </a:r>
            <a:r>
              <a:rPr lang="zh-CN" altLang="en-US" dirty="0"/>
              <a:t>为 </a:t>
            </a:r>
            <a:r>
              <a:rPr lang="en-US" altLang="zh-CN" dirty="0"/>
              <a:t>S </a:t>
            </a:r>
            <a:r>
              <a:rPr lang="zh-CN" altLang="en-US" dirty="0"/>
              <a:t>和</a:t>
            </a:r>
            <a:r>
              <a:rPr lang="en-US" altLang="zh-CN" dirty="0"/>
              <a:t>C</a:t>
            </a:r>
            <a:r>
              <a:rPr lang="en-US" altLang="zh-CN" baseline="-25000" dirty="0"/>
              <a:t> out </a:t>
            </a:r>
            <a:r>
              <a:rPr lang="zh-CN" altLang="en-US" dirty="0"/>
              <a:t>的卡诺图。</a:t>
            </a:r>
            <a:endParaRPr lang="zh-CN" altLang="zh-CN" dirty="0"/>
          </a:p>
        </p:txBody>
      </p:sp>
      <p:sp>
        <p:nvSpPr>
          <p:cNvPr id="42393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2"/>
          <p:cNvSpPr>
            <a:spLocks noGrp="1" noChangeArrowheads="1"/>
          </p:cNvSpPr>
          <p:nvPr>
            <p:ph type="title"/>
          </p:nvPr>
        </p:nvSpPr>
        <p:spPr/>
        <p:txBody>
          <a:bodyPr/>
          <a:lstStyle/>
          <a:p>
            <a:endParaRPr lang="zh-CN" altLang="zh-CN"/>
          </a:p>
        </p:txBody>
      </p:sp>
      <p:sp>
        <p:nvSpPr>
          <p:cNvPr id="424963"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1760" y="1124744"/>
            <a:ext cx="4569002" cy="432679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2"/>
          <p:cNvSpPr>
            <a:spLocks noGrp="1" noChangeArrowheads="1"/>
          </p:cNvSpPr>
          <p:nvPr>
            <p:ph type="title"/>
          </p:nvPr>
        </p:nvSpPr>
        <p:spPr/>
        <p:txBody>
          <a:bodyPr/>
          <a:lstStyle/>
          <a:p>
            <a:endParaRPr lang="zh-CN" altLang="zh-CN" dirty="0"/>
          </a:p>
        </p:txBody>
      </p:sp>
      <p:sp>
        <p:nvSpPr>
          <p:cNvPr id="425987" name="Rectangle 3"/>
          <p:cNvSpPr>
            <a:spLocks noGrp="1" noChangeArrowheads="1"/>
          </p:cNvSpPr>
          <p:nvPr>
            <p:ph type="body" idx="1"/>
          </p:nvPr>
        </p:nvSpPr>
        <p:spPr>
          <a:xfrm>
            <a:off x="-6276" y="5301208"/>
            <a:ext cx="9144000" cy="438944"/>
          </a:xfrm>
        </p:spPr>
        <p:txBody>
          <a:bodyPr/>
          <a:lstStyle/>
          <a:p>
            <a:r>
              <a:rPr lang="zh-CN" altLang="en-US" dirty="0"/>
              <a:t>图 </a:t>
            </a:r>
            <a:r>
              <a:rPr lang="en-US" altLang="zh-CN" dirty="0"/>
              <a:t>3</a:t>
            </a:r>
            <a:r>
              <a:rPr lang="zh-CN" altLang="en-US" dirty="0"/>
              <a:t>－</a:t>
            </a:r>
            <a:r>
              <a:rPr lang="en-US" altLang="zh-CN" dirty="0"/>
              <a:t>20 S </a:t>
            </a:r>
            <a:r>
              <a:rPr lang="zh-CN" altLang="en-US" dirty="0"/>
              <a:t>和 </a:t>
            </a:r>
            <a:r>
              <a:rPr lang="en-US" altLang="zh-CN" dirty="0"/>
              <a:t>C</a:t>
            </a:r>
            <a:r>
              <a:rPr lang="en-US" altLang="zh-CN" baseline="-25000" dirty="0"/>
              <a:t>out </a:t>
            </a:r>
            <a:r>
              <a:rPr lang="zh-CN" altLang="en-US" dirty="0"/>
              <a:t>的卡诺图</a:t>
            </a:r>
          </a:p>
          <a:p>
            <a:r>
              <a:rPr lang="en-US" altLang="zh-CN" dirty="0"/>
              <a:t>(a ) S </a:t>
            </a:r>
            <a:r>
              <a:rPr lang="zh-CN" altLang="en-US" dirty="0"/>
              <a:t>的卡诺图</a:t>
            </a:r>
            <a:r>
              <a:rPr lang="en-US" altLang="zh-CN" dirty="0"/>
              <a:t>;( b ) C </a:t>
            </a:r>
            <a:r>
              <a:rPr lang="en-US" altLang="zh-CN" baseline="-25000" dirty="0"/>
              <a:t>out</a:t>
            </a:r>
            <a:r>
              <a:rPr lang="en-US" altLang="zh-CN" dirty="0"/>
              <a:t> </a:t>
            </a:r>
            <a:r>
              <a:rPr lang="zh-CN" altLang="en-US" dirty="0"/>
              <a:t>的卡诺图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624" y="1628799"/>
            <a:ext cx="7325473" cy="2819517"/>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p:cNvSpPr>
            <a:spLocks noGrp="1" noChangeArrowheads="1"/>
          </p:cNvSpPr>
          <p:nvPr>
            <p:ph type="title"/>
          </p:nvPr>
        </p:nvSpPr>
        <p:spPr/>
        <p:txBody>
          <a:bodyPr/>
          <a:lstStyle/>
          <a:p>
            <a:br>
              <a:rPr lang="en-US" altLang="zh-CN" dirty="0"/>
            </a:br>
            <a:r>
              <a:rPr lang="zh-CN" altLang="en-US" dirty="0"/>
              <a:t>　　由卡诺图可以写出如下函数表达式</a:t>
            </a:r>
            <a:r>
              <a:rPr lang="en-US" altLang="zh-CN" dirty="0"/>
              <a:t>:</a:t>
            </a:r>
            <a:endParaRPr lang="zh-CN" altLang="zh-CN" dirty="0"/>
          </a:p>
        </p:txBody>
      </p:sp>
      <p:sp>
        <p:nvSpPr>
          <p:cNvPr id="427011"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632" y="2060848"/>
            <a:ext cx="6324148" cy="1144002"/>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4" name="Rectangle 2"/>
          <p:cNvSpPr>
            <a:spLocks noGrp="1" noChangeArrowheads="1"/>
          </p:cNvSpPr>
          <p:nvPr>
            <p:ph type="title"/>
          </p:nvPr>
        </p:nvSpPr>
        <p:spPr/>
        <p:txBody>
          <a:bodyPr/>
          <a:lstStyle/>
          <a:p>
            <a:br>
              <a:rPr lang="en-US" altLang="zh-CN" dirty="0"/>
            </a:br>
            <a:r>
              <a:rPr lang="zh-CN" altLang="en-US" dirty="0"/>
              <a:t>　　全加器的逻辑图和逻辑符号如图 </a:t>
            </a:r>
            <a:r>
              <a:rPr lang="en-US" altLang="zh-CN" dirty="0"/>
              <a:t>3</a:t>
            </a:r>
            <a:r>
              <a:rPr lang="zh-CN" altLang="en-US" dirty="0"/>
              <a:t>－</a:t>
            </a:r>
            <a:r>
              <a:rPr lang="en-US" altLang="zh-CN" dirty="0"/>
              <a:t>21 </a:t>
            </a:r>
            <a:r>
              <a:rPr lang="zh-CN" altLang="en-US" dirty="0"/>
              <a:t>所示。</a:t>
            </a:r>
            <a:endParaRPr lang="zh-CN" altLang="zh-CN" dirty="0"/>
          </a:p>
        </p:txBody>
      </p:sp>
      <p:sp>
        <p:nvSpPr>
          <p:cNvPr id="428035" name="Rectangle 3"/>
          <p:cNvSpPr>
            <a:spLocks noGrp="1" noChangeArrowheads="1"/>
          </p:cNvSpPr>
          <p:nvPr>
            <p:ph type="body" idx="1"/>
          </p:nvPr>
        </p:nvSpPr>
        <p:spPr>
          <a:xfrm>
            <a:off x="-7443" y="5517232"/>
            <a:ext cx="9144000" cy="438944"/>
          </a:xfrm>
        </p:spPr>
        <p:txBody>
          <a:bodyPr/>
          <a:lstStyle/>
          <a:p>
            <a:r>
              <a:rPr lang="zh-CN" altLang="en-US" dirty="0"/>
              <a:t>图 </a:t>
            </a:r>
            <a:r>
              <a:rPr lang="en-US" altLang="zh-CN" dirty="0"/>
              <a:t>3</a:t>
            </a:r>
            <a:r>
              <a:rPr lang="zh-CN" altLang="en-US" dirty="0"/>
              <a:t>－</a:t>
            </a:r>
            <a:r>
              <a:rPr lang="en-US" altLang="zh-CN" dirty="0"/>
              <a:t>21  </a:t>
            </a:r>
            <a:r>
              <a:rPr lang="zh-CN" altLang="en-US" dirty="0"/>
              <a:t>全加器的逻辑图和逻辑符号</a:t>
            </a:r>
          </a:p>
          <a:p>
            <a:r>
              <a:rPr lang="en-US" altLang="zh-CN" dirty="0"/>
              <a:t>(a )</a:t>
            </a:r>
            <a:r>
              <a:rPr lang="zh-CN" altLang="en-US" dirty="0"/>
              <a:t>逻辑图</a:t>
            </a:r>
            <a:r>
              <a:rPr lang="en-US" altLang="zh-CN" dirty="0"/>
              <a:t>;( b )</a:t>
            </a:r>
            <a:r>
              <a:rPr lang="zh-CN" altLang="en-US" dirty="0"/>
              <a:t>逻辑符号</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920" y="692696"/>
            <a:ext cx="8059275" cy="4658375"/>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2"/>
          <p:cNvSpPr>
            <a:spLocks noGrp="1" noChangeArrowheads="1"/>
          </p:cNvSpPr>
          <p:nvPr>
            <p:ph type="title"/>
          </p:nvPr>
        </p:nvSpPr>
        <p:spPr>
          <a:xfrm>
            <a:off x="539552" y="260648"/>
            <a:ext cx="8115300" cy="5638800"/>
          </a:xfrm>
        </p:spPr>
        <p:txBody>
          <a:bodyPr/>
          <a:lstStyle/>
          <a:p>
            <a:br>
              <a:rPr lang="en-US" altLang="zh-CN" dirty="0"/>
            </a:br>
            <a:r>
              <a:rPr lang="zh-CN" altLang="en-US" dirty="0"/>
              <a:t>　　</a:t>
            </a:r>
            <a:r>
              <a:rPr lang="en-US" altLang="zh-CN" b="1" dirty="0"/>
              <a:t>2. </a:t>
            </a:r>
            <a:r>
              <a:rPr lang="zh-CN" altLang="en-US" b="1" dirty="0"/>
              <a:t>多位加法器</a:t>
            </a:r>
            <a:br>
              <a:rPr lang="zh-CN" altLang="en-US" b="1" dirty="0"/>
            </a:br>
            <a:r>
              <a:rPr lang="zh-CN" altLang="en-US" b="1" dirty="0"/>
              <a:t>　　</a:t>
            </a:r>
            <a:r>
              <a:rPr lang="zh-CN" altLang="en-US" dirty="0"/>
              <a:t>实现两个多位二进制数相加的电路称为多位加法器。根据电路结构的不同，常见的多位加法器分为串行进位加法器和超前进位加法器。</a:t>
            </a:r>
            <a:br>
              <a:rPr lang="zh-CN" altLang="en-US" dirty="0"/>
            </a:br>
            <a:r>
              <a:rPr lang="zh-CN" altLang="en-US" dirty="0"/>
              <a:t>　　</a:t>
            </a:r>
            <a:r>
              <a:rPr lang="en-US" altLang="zh-CN" dirty="0"/>
              <a:t>1 )</a:t>
            </a:r>
            <a:r>
              <a:rPr lang="zh-CN" altLang="en-US" dirty="0"/>
              <a:t>串行进位加法器</a:t>
            </a:r>
            <a:r>
              <a:rPr lang="en-US" altLang="zh-CN" dirty="0"/>
              <a:t>(</a:t>
            </a:r>
            <a:r>
              <a:rPr lang="zh-CN" altLang="en-US" dirty="0"/>
              <a:t>行波进位加法器</a:t>
            </a:r>
            <a:r>
              <a:rPr lang="en-US" altLang="zh-CN" dirty="0"/>
              <a:t>)</a:t>
            </a:r>
            <a:br>
              <a:rPr lang="en-US" altLang="zh-CN" dirty="0"/>
            </a:br>
            <a:r>
              <a:rPr lang="zh-CN" altLang="en-US" dirty="0"/>
              <a:t>　　</a:t>
            </a:r>
            <a:r>
              <a:rPr lang="en-US" altLang="zh-CN" dirty="0"/>
              <a:t>n </a:t>
            </a:r>
            <a:r>
              <a:rPr lang="zh-CN" altLang="en-US" dirty="0"/>
              <a:t>位串行进位加法器由 </a:t>
            </a:r>
            <a:r>
              <a:rPr lang="en-US" altLang="zh-CN" dirty="0"/>
              <a:t>n </a:t>
            </a:r>
            <a:r>
              <a:rPr lang="zh-CN" altLang="en-US" dirty="0"/>
              <a:t>个一位加法器串联构成。图 </a:t>
            </a:r>
            <a:r>
              <a:rPr lang="en-US" altLang="zh-CN" dirty="0"/>
              <a:t>3</a:t>
            </a:r>
            <a:r>
              <a:rPr lang="zh-CN" altLang="en-US" dirty="0"/>
              <a:t>－</a:t>
            </a:r>
            <a:r>
              <a:rPr lang="en-US" altLang="zh-CN" dirty="0"/>
              <a:t>22 </a:t>
            </a:r>
            <a:r>
              <a:rPr lang="zh-CN" altLang="en-US" dirty="0"/>
              <a:t>所示是一个四位串行进位加法器。在串行进位加法器中，采用串行运算方式，由低位至高位，每一位的相加都必须等待下一位的进位。这种电路结构简单，但运算速度慢</a:t>
            </a:r>
            <a:r>
              <a:rPr lang="en-US" altLang="zh-CN" dirty="0"/>
              <a:t>:</a:t>
            </a:r>
            <a:r>
              <a:rPr lang="zh-CN" altLang="en-US" dirty="0"/>
              <a:t>一个 </a:t>
            </a:r>
            <a:r>
              <a:rPr lang="en-US" altLang="zh-CN" dirty="0"/>
              <a:t>n </a:t>
            </a:r>
            <a:r>
              <a:rPr lang="zh-CN" altLang="en-US" dirty="0"/>
              <a:t>位串行进位加法器至少需要经过 </a:t>
            </a:r>
            <a:r>
              <a:rPr lang="en-US" altLang="zh-CN" dirty="0"/>
              <a:t>n </a:t>
            </a:r>
            <a:r>
              <a:rPr lang="zh-CN" altLang="en-US" dirty="0"/>
              <a:t>个全加器的传输延迟时间后才能得到可靠的运算结果。</a:t>
            </a:r>
            <a:endParaRPr lang="zh-CN" altLang="zh-CN" dirty="0"/>
          </a:p>
        </p:txBody>
      </p:sp>
      <p:sp>
        <p:nvSpPr>
          <p:cNvPr id="42905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2"/>
          <p:cNvSpPr>
            <a:spLocks noGrp="1" noChangeArrowheads="1"/>
          </p:cNvSpPr>
          <p:nvPr>
            <p:ph type="title"/>
          </p:nvPr>
        </p:nvSpPr>
        <p:spPr/>
        <p:txBody>
          <a:bodyPr/>
          <a:lstStyle/>
          <a:p>
            <a:endParaRPr lang="zh-CN" altLang="zh-CN"/>
          </a:p>
        </p:txBody>
      </p:sp>
      <p:sp>
        <p:nvSpPr>
          <p:cNvPr id="430083" name="Rectangle 3"/>
          <p:cNvSpPr>
            <a:spLocks noGrp="1" noChangeArrowheads="1"/>
          </p:cNvSpPr>
          <p:nvPr>
            <p:ph type="body" idx="1"/>
          </p:nvPr>
        </p:nvSpPr>
        <p:spPr/>
        <p:txBody>
          <a:bodyPr/>
          <a:lstStyle/>
          <a:p>
            <a:r>
              <a:rPr lang="zh-CN" altLang="en-US" dirty="0"/>
              <a:t>图 </a:t>
            </a:r>
            <a:r>
              <a:rPr lang="en-US" altLang="zh-CN" dirty="0"/>
              <a:t>3</a:t>
            </a:r>
            <a:r>
              <a:rPr lang="zh-CN" altLang="en-US" dirty="0"/>
              <a:t>－</a:t>
            </a:r>
            <a:r>
              <a:rPr lang="en-US" altLang="zh-CN" dirty="0"/>
              <a:t>22  </a:t>
            </a:r>
            <a:r>
              <a:rPr lang="zh-CN" altLang="en-US" dirty="0"/>
              <a:t>四位串行进位加法器</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592" y="1844824"/>
            <a:ext cx="7353804" cy="3176755"/>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2"/>
          <p:cNvSpPr>
            <a:spLocks noGrp="1" noChangeArrowheads="1"/>
          </p:cNvSpPr>
          <p:nvPr>
            <p:ph type="title"/>
          </p:nvPr>
        </p:nvSpPr>
        <p:spPr/>
        <p:txBody>
          <a:bodyPr/>
          <a:lstStyle/>
          <a:p>
            <a:br>
              <a:rPr lang="en-US" altLang="zh-CN" dirty="0"/>
            </a:br>
            <a:r>
              <a:rPr lang="zh-CN" altLang="en-US" dirty="0"/>
              <a:t>　　</a:t>
            </a:r>
            <a:r>
              <a:rPr lang="en-US" altLang="zh-CN" dirty="0"/>
              <a:t>2 )</a:t>
            </a:r>
            <a:r>
              <a:rPr lang="zh-CN" altLang="en-US" dirty="0"/>
              <a:t>超前进位加法器</a:t>
            </a:r>
            <a:br>
              <a:rPr lang="zh-CN" altLang="en-US" dirty="0"/>
            </a:br>
            <a:r>
              <a:rPr lang="zh-CN" altLang="en-US" dirty="0"/>
              <a:t>　　为了提高运算速度，将各进位提前并同时送到各个全加器的进位输入端的加法器称为超前进位加法器。其特点是运算速度快，但电路结构较复杂。</a:t>
            </a:r>
            <a:br>
              <a:rPr lang="zh-CN" altLang="en-US" dirty="0"/>
            </a:br>
            <a:r>
              <a:rPr lang="zh-CN" altLang="en-US" dirty="0"/>
              <a:t>　　两个 </a:t>
            </a:r>
            <a:r>
              <a:rPr lang="en-US" altLang="zh-CN" dirty="0"/>
              <a:t>n </a:t>
            </a:r>
            <a:r>
              <a:rPr lang="zh-CN" altLang="en-US" dirty="0"/>
              <a:t>位二进制数 </a:t>
            </a:r>
            <a:r>
              <a:rPr lang="en-US" altLang="zh-CN" dirty="0"/>
              <a:t>A</a:t>
            </a:r>
            <a:r>
              <a:rPr lang="en-US" altLang="zh-CN" baseline="-25000" dirty="0"/>
              <a:t>n -1 </a:t>
            </a:r>
            <a:r>
              <a:rPr lang="en-US" altLang="zh-CN" dirty="0"/>
              <a:t>A </a:t>
            </a:r>
            <a:r>
              <a:rPr lang="en-US" altLang="zh-CN" baseline="-25000" dirty="0"/>
              <a:t>n -2 </a:t>
            </a:r>
            <a:r>
              <a:rPr lang="en-US" altLang="zh-CN" dirty="0"/>
              <a:t>… A </a:t>
            </a:r>
            <a:r>
              <a:rPr lang="en-US" altLang="zh-CN" baseline="-25000" dirty="0"/>
              <a:t>i</a:t>
            </a:r>
            <a:r>
              <a:rPr lang="en-US" altLang="zh-CN" dirty="0"/>
              <a:t> … A </a:t>
            </a:r>
            <a:r>
              <a:rPr lang="en-US" altLang="zh-CN" baseline="-25000" dirty="0"/>
              <a:t>1</a:t>
            </a:r>
            <a:r>
              <a:rPr lang="en-US" altLang="zh-CN" dirty="0"/>
              <a:t> A </a:t>
            </a:r>
            <a:r>
              <a:rPr lang="en-US" altLang="zh-CN" baseline="-25000" dirty="0"/>
              <a:t>0</a:t>
            </a:r>
            <a:br>
              <a:rPr lang="en-US" altLang="zh-CN" dirty="0"/>
            </a:br>
            <a:r>
              <a:rPr lang="zh-CN" altLang="en-US" dirty="0"/>
              <a:t>和 </a:t>
            </a:r>
            <a:r>
              <a:rPr lang="en-US" altLang="zh-CN" dirty="0" err="1"/>
              <a:t>B</a:t>
            </a:r>
            <a:r>
              <a:rPr lang="en-US" altLang="zh-CN" baseline="-25000" dirty="0" err="1"/>
              <a:t>n</a:t>
            </a:r>
            <a:r>
              <a:rPr lang="en-US" altLang="zh-CN" baseline="-25000" dirty="0"/>
              <a:t> -1 </a:t>
            </a:r>
            <a:r>
              <a:rPr lang="en-US" altLang="zh-CN" dirty="0"/>
              <a:t>B </a:t>
            </a:r>
            <a:r>
              <a:rPr lang="en-US" altLang="zh-CN" baseline="-25000" dirty="0"/>
              <a:t>n -2 </a:t>
            </a:r>
            <a:r>
              <a:rPr lang="en-US" altLang="zh-CN" dirty="0"/>
              <a:t>… B </a:t>
            </a:r>
            <a:r>
              <a:rPr lang="en-US" altLang="zh-CN" baseline="-25000" dirty="0"/>
              <a:t>i </a:t>
            </a:r>
            <a:r>
              <a:rPr lang="en-US" altLang="zh-CN" dirty="0"/>
              <a:t>… B </a:t>
            </a:r>
            <a:r>
              <a:rPr lang="en-US" altLang="zh-CN" baseline="-25000" dirty="0"/>
              <a:t>1</a:t>
            </a:r>
            <a:r>
              <a:rPr lang="en-US" altLang="zh-CN" dirty="0"/>
              <a:t> B </a:t>
            </a:r>
            <a:r>
              <a:rPr lang="en-US" altLang="zh-CN" baseline="-25000" dirty="0"/>
              <a:t>0</a:t>
            </a:r>
            <a:r>
              <a:rPr lang="zh-CN" altLang="en-US" dirty="0"/>
              <a:t>进行相加的算式如下</a:t>
            </a:r>
            <a:r>
              <a:rPr lang="en-US" altLang="zh-CN" dirty="0"/>
              <a:t>:</a:t>
            </a:r>
            <a:endParaRPr lang="zh-CN" altLang="zh-CN" dirty="0"/>
          </a:p>
        </p:txBody>
      </p:sp>
      <p:sp>
        <p:nvSpPr>
          <p:cNvPr id="431107"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6246" y="3933056"/>
            <a:ext cx="5420482" cy="1733792"/>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Rectangle 2"/>
          <p:cNvSpPr>
            <a:spLocks noGrp="1" noChangeArrowheads="1"/>
          </p:cNvSpPr>
          <p:nvPr>
            <p:ph type="title"/>
          </p:nvPr>
        </p:nvSpPr>
        <p:spPr/>
        <p:txBody>
          <a:bodyPr/>
          <a:lstStyle/>
          <a:p>
            <a:br>
              <a:rPr lang="en-US" altLang="zh-CN" dirty="0"/>
            </a:br>
            <a:r>
              <a:rPr lang="zh-CN" altLang="en-US" dirty="0"/>
              <a:t>　　利用半加器和全加器的结果，可以写出各进位的逻辑表达式</a:t>
            </a:r>
            <a:r>
              <a:rPr lang="en-US" altLang="zh-CN" dirty="0"/>
              <a:t>:</a:t>
            </a:r>
            <a:br>
              <a:rPr lang="en-US" altLang="zh-CN" dirty="0"/>
            </a:br>
            <a:br>
              <a:rPr lang="en-US" altLang="zh-CN" dirty="0"/>
            </a:br>
            <a:br>
              <a:rPr lang="en-US" altLang="zh-CN" dirty="0"/>
            </a:br>
            <a:r>
              <a:rPr lang="zh-CN" altLang="en-US" dirty="0"/>
              <a:t>令 </a:t>
            </a:r>
            <a:r>
              <a:rPr lang="en-US" altLang="zh-CN" i="1" dirty="0"/>
              <a:t>G</a:t>
            </a:r>
            <a:r>
              <a:rPr lang="en-US" altLang="zh-CN" i="1" baseline="-25000" dirty="0"/>
              <a:t>i</a:t>
            </a:r>
            <a:r>
              <a:rPr lang="en-US" altLang="zh-CN" i="1" dirty="0"/>
              <a:t> =A </a:t>
            </a:r>
            <a:r>
              <a:rPr lang="en-US" altLang="zh-CN" i="1" baseline="-25000" dirty="0"/>
              <a:t>i</a:t>
            </a:r>
            <a:r>
              <a:rPr lang="en-US" altLang="zh-CN" i="1" dirty="0"/>
              <a:t> B </a:t>
            </a:r>
            <a:r>
              <a:rPr lang="en-US" altLang="zh-CN" i="1" baseline="-25000" dirty="0"/>
              <a:t>i</a:t>
            </a:r>
            <a:r>
              <a:rPr lang="en-US" altLang="zh-CN" i="1" dirty="0"/>
              <a:t> </a:t>
            </a:r>
            <a:r>
              <a:rPr lang="zh-CN" altLang="en-US" i="1" dirty="0"/>
              <a:t>，</a:t>
            </a:r>
            <a:r>
              <a:rPr lang="en-US" altLang="zh-CN" i="1" dirty="0"/>
              <a:t> P</a:t>
            </a:r>
            <a:r>
              <a:rPr lang="en-US" altLang="zh-CN" i="1" baseline="-25000" dirty="0"/>
              <a:t>i</a:t>
            </a:r>
            <a:r>
              <a:rPr lang="en-US" altLang="zh-CN" i="1" dirty="0"/>
              <a:t>=A </a:t>
            </a:r>
            <a:r>
              <a:rPr lang="en-US" altLang="zh-CN" i="1" baseline="-25000" dirty="0"/>
              <a:t>i</a:t>
            </a:r>
            <a:r>
              <a:rPr lang="en-US" altLang="zh-CN" i="1" dirty="0"/>
              <a:t> +B</a:t>
            </a:r>
            <a:r>
              <a:rPr lang="en-US" altLang="zh-CN" i="1" baseline="-25000" dirty="0"/>
              <a:t>i</a:t>
            </a:r>
            <a:r>
              <a:rPr lang="zh-CN" altLang="en-US" dirty="0"/>
              <a:t>，利用递归关系可以得到</a:t>
            </a:r>
            <a:r>
              <a:rPr lang="en-US" altLang="zh-CN" dirty="0"/>
              <a:t>:</a:t>
            </a:r>
            <a:endParaRPr lang="zh-CN" altLang="zh-CN" dirty="0"/>
          </a:p>
        </p:txBody>
      </p:sp>
      <p:sp>
        <p:nvSpPr>
          <p:cNvPr id="432131"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3728" y="1916832"/>
            <a:ext cx="3696216" cy="695422"/>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600" y="3645024"/>
            <a:ext cx="7602011" cy="1514687"/>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Rectangle 2"/>
          <p:cNvSpPr>
            <a:spLocks noGrp="1" noChangeArrowheads="1"/>
          </p:cNvSpPr>
          <p:nvPr>
            <p:ph type="title"/>
          </p:nvPr>
        </p:nvSpPr>
        <p:spPr/>
        <p:txBody>
          <a:bodyPr/>
          <a:lstStyle/>
          <a:p>
            <a:br>
              <a:rPr lang="en-US" altLang="zh-CN" dirty="0"/>
            </a:br>
            <a:r>
              <a:rPr lang="zh-CN" altLang="en-US" dirty="0"/>
              <a:t>　　超前进位加法器就是利用上面表达式同时计算出各位的进位，并同时加到各个全加器的进位输入端，从而大大提高加法器的运算速度。图 </a:t>
            </a:r>
            <a:r>
              <a:rPr lang="en-US" altLang="zh-CN" dirty="0"/>
              <a:t>3</a:t>
            </a:r>
            <a:r>
              <a:rPr lang="zh-CN" altLang="en-US" dirty="0"/>
              <a:t>－</a:t>
            </a:r>
            <a:r>
              <a:rPr lang="en-US" altLang="zh-CN" dirty="0"/>
              <a:t>23 </a:t>
            </a:r>
            <a:r>
              <a:rPr lang="zh-CN" altLang="en-US" dirty="0"/>
              <a:t>是一个四位超前进位加法器的</a:t>
            </a:r>
            <a:br>
              <a:rPr lang="zh-CN" altLang="en-US" dirty="0"/>
            </a:br>
            <a:r>
              <a:rPr lang="zh-CN" altLang="en-US" dirty="0"/>
              <a:t>结构图。</a:t>
            </a:r>
            <a:endParaRPr lang="zh-CN" altLang="zh-CN" dirty="0"/>
          </a:p>
        </p:txBody>
      </p:sp>
      <p:sp>
        <p:nvSpPr>
          <p:cNvPr id="43315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p:cNvSpPr>
            <a:spLocks noGrp="1" noChangeArrowheads="1"/>
          </p:cNvSpPr>
          <p:nvPr>
            <p:ph type="title"/>
          </p:nvPr>
        </p:nvSpPr>
        <p:spPr/>
        <p:txBody>
          <a:bodyPr/>
          <a:lstStyle/>
          <a:p>
            <a:endParaRPr lang="zh-CN" altLang="zh-CN"/>
          </a:p>
        </p:txBody>
      </p:sp>
      <p:sp>
        <p:nvSpPr>
          <p:cNvPr id="434179" name="Rectangle 3"/>
          <p:cNvSpPr>
            <a:spLocks noGrp="1" noChangeArrowheads="1"/>
          </p:cNvSpPr>
          <p:nvPr>
            <p:ph type="body" idx="1"/>
          </p:nvPr>
        </p:nvSpPr>
        <p:spPr/>
        <p:txBody>
          <a:bodyPr/>
          <a:lstStyle/>
          <a:p>
            <a:r>
              <a:rPr lang="zh-CN" altLang="en-US" dirty="0"/>
              <a:t>图 </a:t>
            </a:r>
            <a:r>
              <a:rPr lang="en-US" altLang="zh-CN" dirty="0"/>
              <a:t>3</a:t>
            </a:r>
            <a:r>
              <a:rPr lang="zh-CN" altLang="en-US" dirty="0"/>
              <a:t>－</a:t>
            </a:r>
            <a:r>
              <a:rPr lang="en-US" altLang="zh-CN" dirty="0"/>
              <a:t>23  </a:t>
            </a:r>
            <a:r>
              <a:rPr lang="zh-CN" altLang="en-US" dirty="0"/>
              <a:t>四位超前进位加法器的结构图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592" y="1073324"/>
            <a:ext cx="7504247" cy="4067187"/>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2"/>
          <p:cNvSpPr>
            <a:spLocks noGrp="1" noChangeArrowheads="1"/>
          </p:cNvSpPr>
          <p:nvPr>
            <p:ph type="title"/>
          </p:nvPr>
        </p:nvSpPr>
        <p:spPr/>
        <p:txBody>
          <a:bodyPr/>
          <a:lstStyle/>
          <a:p>
            <a:br>
              <a:rPr lang="en-US" altLang="zh-CN" dirty="0"/>
            </a:br>
            <a:r>
              <a:rPr lang="zh-CN" altLang="en-US" dirty="0"/>
              <a:t>　　</a:t>
            </a:r>
            <a:r>
              <a:rPr lang="en-US" altLang="zh-CN" b="1" dirty="0"/>
              <a:t>3.MSI74283 </a:t>
            </a:r>
            <a:r>
              <a:rPr lang="zh-CN" altLang="en-US" b="1" dirty="0"/>
              <a:t>加法器及应用</a:t>
            </a:r>
            <a:br>
              <a:rPr lang="zh-CN" altLang="en-US" dirty="0"/>
            </a:br>
            <a:r>
              <a:rPr lang="zh-CN" altLang="en-US" dirty="0"/>
              <a:t>　　</a:t>
            </a:r>
            <a:r>
              <a:rPr lang="en-US" altLang="zh-CN" dirty="0"/>
              <a:t>MSI74283 </a:t>
            </a:r>
            <a:r>
              <a:rPr lang="zh-CN" altLang="en-US" dirty="0"/>
              <a:t>是四位二进制超前进位加法器，其引脚图和逻辑符号如图 </a:t>
            </a:r>
            <a:r>
              <a:rPr lang="en-US" altLang="zh-CN" dirty="0"/>
              <a:t>3</a:t>
            </a:r>
            <a:r>
              <a:rPr lang="zh-CN" altLang="en-US" dirty="0"/>
              <a:t>－</a:t>
            </a:r>
            <a:r>
              <a:rPr lang="en-US" altLang="zh-CN" dirty="0"/>
              <a:t>24 </a:t>
            </a:r>
            <a:r>
              <a:rPr lang="zh-CN" altLang="en-US" dirty="0"/>
              <a:t>所示。</a:t>
            </a:r>
            <a:endParaRPr lang="zh-CN" altLang="zh-CN" dirty="0"/>
          </a:p>
        </p:txBody>
      </p:sp>
      <p:sp>
        <p:nvSpPr>
          <p:cNvPr id="43520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2"/>
          <p:cNvSpPr>
            <a:spLocks noGrp="1" noChangeArrowheads="1"/>
          </p:cNvSpPr>
          <p:nvPr>
            <p:ph type="title"/>
          </p:nvPr>
        </p:nvSpPr>
        <p:spPr/>
        <p:txBody>
          <a:bodyPr/>
          <a:lstStyle/>
          <a:p>
            <a:endParaRPr lang="zh-CN" altLang="zh-CN"/>
          </a:p>
        </p:txBody>
      </p:sp>
      <p:sp>
        <p:nvSpPr>
          <p:cNvPr id="436227" name="Rectangle 3"/>
          <p:cNvSpPr>
            <a:spLocks noGrp="1" noChangeArrowheads="1"/>
          </p:cNvSpPr>
          <p:nvPr>
            <p:ph type="body" idx="1"/>
          </p:nvPr>
        </p:nvSpPr>
        <p:spPr>
          <a:xfrm>
            <a:off x="0" y="5517232"/>
            <a:ext cx="9144000" cy="438944"/>
          </a:xfrm>
        </p:spPr>
        <p:txBody>
          <a:bodyPr/>
          <a:lstStyle/>
          <a:p>
            <a:r>
              <a:rPr lang="zh-CN" altLang="en-US" dirty="0"/>
              <a:t>图 </a:t>
            </a:r>
            <a:r>
              <a:rPr lang="en-US" altLang="zh-CN" dirty="0"/>
              <a:t>3</a:t>
            </a:r>
            <a:r>
              <a:rPr lang="zh-CN" altLang="en-US" dirty="0"/>
              <a:t>－</a:t>
            </a:r>
            <a:r>
              <a:rPr lang="en-US" altLang="zh-CN" dirty="0"/>
              <a:t>24 74283 </a:t>
            </a:r>
            <a:r>
              <a:rPr lang="zh-CN" altLang="en-US" dirty="0"/>
              <a:t>加法器的引脚图和逻辑符号</a:t>
            </a:r>
          </a:p>
          <a:p>
            <a:r>
              <a:rPr lang="en-US" altLang="zh-CN" dirty="0"/>
              <a:t>(a )</a:t>
            </a:r>
            <a:r>
              <a:rPr lang="zh-CN" altLang="en-US" dirty="0"/>
              <a:t>引脚图</a:t>
            </a:r>
            <a:r>
              <a:rPr lang="en-US" altLang="zh-CN" dirty="0"/>
              <a:t>;( b )</a:t>
            </a:r>
            <a:r>
              <a:rPr lang="zh-CN" altLang="en-US" dirty="0"/>
              <a:t>逻辑符号</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632" y="1052737"/>
            <a:ext cx="6758015" cy="4038608"/>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600" y="2852936"/>
            <a:ext cx="7380181" cy="2935953"/>
          </a:xfrm>
          <a:prstGeom prst="rect">
            <a:avLst/>
          </a:prstGeom>
        </p:spPr>
      </p:pic>
      <p:sp>
        <p:nvSpPr>
          <p:cNvPr id="437250" name="Rectangle 2"/>
          <p:cNvSpPr>
            <a:spLocks noGrp="1" noChangeArrowheads="1"/>
          </p:cNvSpPr>
          <p:nvPr>
            <p:ph type="title"/>
          </p:nvPr>
        </p:nvSpPr>
        <p:spPr/>
        <p:txBody>
          <a:bodyPr/>
          <a:lstStyle/>
          <a:p>
            <a:br>
              <a:rPr lang="en-US" altLang="zh-CN" dirty="0"/>
            </a:br>
            <a:r>
              <a:rPr lang="zh-CN" altLang="en-US" dirty="0"/>
              <a:t>　　将 </a:t>
            </a:r>
            <a:r>
              <a:rPr lang="en-US" altLang="zh-CN" dirty="0"/>
              <a:t>74283 </a:t>
            </a:r>
            <a:r>
              <a:rPr lang="zh-CN" altLang="en-US" dirty="0"/>
              <a:t>进行简单级联，可以构造出多位加法器，图 </a:t>
            </a:r>
            <a:r>
              <a:rPr lang="en-US" altLang="zh-CN" dirty="0"/>
              <a:t>3</a:t>
            </a:r>
            <a:r>
              <a:rPr lang="zh-CN" altLang="en-US" dirty="0"/>
              <a:t>－</a:t>
            </a:r>
            <a:r>
              <a:rPr lang="en-US" altLang="zh-CN" dirty="0"/>
              <a:t>25 </a:t>
            </a:r>
            <a:r>
              <a:rPr lang="zh-CN" altLang="en-US" dirty="0"/>
              <a:t>所示为用两个 </a:t>
            </a:r>
            <a:r>
              <a:rPr lang="en-US" altLang="zh-CN" dirty="0"/>
              <a:t>74283 </a:t>
            </a:r>
            <a:r>
              <a:rPr lang="zh-CN" altLang="en-US" dirty="0"/>
              <a:t>构造的一个八位二进制加法器。</a:t>
            </a:r>
            <a:br>
              <a:rPr lang="en-US" altLang="zh-CN" dirty="0"/>
            </a:br>
            <a:r>
              <a:rPr lang="zh-CN" altLang="en-US" dirty="0"/>
              <a:t>　　加法器的逻辑功能是实现两个数相加，根据这一特点，在某些情况下利用加法器可以使电路实现更加简单。</a:t>
            </a:r>
            <a:endParaRPr lang="zh-CN" altLang="zh-CN" dirty="0"/>
          </a:p>
        </p:txBody>
      </p:sp>
      <p:sp>
        <p:nvSpPr>
          <p:cNvPr id="437251" name="Rectangle 3"/>
          <p:cNvSpPr>
            <a:spLocks noGrp="1" noChangeArrowheads="1"/>
          </p:cNvSpPr>
          <p:nvPr>
            <p:ph type="body" idx="1"/>
          </p:nvPr>
        </p:nvSpPr>
        <p:spPr/>
        <p:txBody>
          <a:bodyPr/>
          <a:lstStyle/>
          <a:p>
            <a:r>
              <a:rPr lang="zh-CN" altLang="en-US" dirty="0"/>
              <a:t>图 </a:t>
            </a:r>
            <a:r>
              <a:rPr lang="en-US" altLang="zh-CN" dirty="0"/>
              <a:t>3</a:t>
            </a:r>
            <a:r>
              <a:rPr lang="zh-CN" altLang="en-US" dirty="0"/>
              <a:t>－</a:t>
            </a:r>
            <a:r>
              <a:rPr lang="en-US" altLang="zh-CN" dirty="0"/>
              <a:t>25  </a:t>
            </a:r>
            <a:r>
              <a:rPr lang="zh-CN" altLang="en-US" dirty="0"/>
              <a:t>用两个 </a:t>
            </a:r>
            <a:r>
              <a:rPr lang="en-US" altLang="zh-CN" dirty="0"/>
              <a:t>74283 </a:t>
            </a:r>
            <a:r>
              <a:rPr lang="zh-CN" altLang="en-US" dirty="0"/>
              <a:t>构造的一个八位二进制加法器</a:t>
            </a:r>
            <a:endParaRPr lang="zh-CN" altLang="zh-CN"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Rectangle 2"/>
          <p:cNvSpPr>
            <a:spLocks noGrp="1" noChangeArrowheads="1"/>
          </p:cNvSpPr>
          <p:nvPr>
            <p:ph type="title"/>
          </p:nvPr>
        </p:nvSpPr>
        <p:spPr/>
        <p:txBody>
          <a:bodyPr/>
          <a:lstStyle/>
          <a:p>
            <a:br>
              <a:rPr lang="en-US" altLang="zh-CN" dirty="0"/>
            </a:br>
            <a:r>
              <a:rPr lang="zh-CN" altLang="en-US" dirty="0"/>
              <a:t>　　</a:t>
            </a:r>
            <a:r>
              <a:rPr lang="en-US" altLang="zh-CN" b="1" dirty="0"/>
              <a:t>【</a:t>
            </a:r>
            <a:r>
              <a:rPr lang="zh-CN" altLang="en-US" b="1" dirty="0"/>
              <a:t>例 </a:t>
            </a:r>
            <a:r>
              <a:rPr lang="en-US" altLang="zh-CN" b="1" dirty="0"/>
              <a:t>3.2 】</a:t>
            </a:r>
            <a:r>
              <a:rPr lang="en-US" altLang="zh-CN" dirty="0"/>
              <a:t> </a:t>
            </a:r>
            <a:r>
              <a:rPr lang="zh-CN" altLang="en-US" dirty="0"/>
              <a:t>将 </a:t>
            </a:r>
            <a:r>
              <a:rPr lang="en-US" altLang="zh-CN" dirty="0"/>
              <a:t>8421BCD </a:t>
            </a:r>
            <a:r>
              <a:rPr lang="zh-CN" altLang="en-US" dirty="0"/>
              <a:t>码转换为余 </a:t>
            </a:r>
            <a:r>
              <a:rPr lang="en-US" altLang="zh-CN" dirty="0"/>
              <a:t>3 </a:t>
            </a:r>
            <a:r>
              <a:rPr lang="zh-CN" altLang="en-US" dirty="0"/>
              <a:t>码。</a:t>
            </a:r>
            <a:br>
              <a:rPr lang="zh-CN" altLang="en-US" dirty="0"/>
            </a:br>
            <a:r>
              <a:rPr lang="zh-CN" altLang="en-US" dirty="0"/>
              <a:t>　　</a:t>
            </a:r>
            <a:r>
              <a:rPr lang="zh-CN" altLang="en-US" b="1" dirty="0"/>
              <a:t>解</a:t>
            </a:r>
            <a:r>
              <a:rPr lang="zh-CN" altLang="en-US" dirty="0"/>
              <a:t> </a:t>
            </a:r>
            <a:r>
              <a:rPr lang="en-US" altLang="zh-CN" dirty="0"/>
              <a:t>8421BCD </a:t>
            </a:r>
            <a:r>
              <a:rPr lang="zh-CN" altLang="en-US" dirty="0"/>
              <a:t>码和余 </a:t>
            </a:r>
            <a:r>
              <a:rPr lang="en-US" altLang="zh-CN" dirty="0"/>
              <a:t>3 </a:t>
            </a:r>
            <a:r>
              <a:rPr lang="zh-CN" altLang="en-US" dirty="0"/>
              <a:t>码的对应关系如表 </a:t>
            </a:r>
            <a:r>
              <a:rPr lang="en-US" altLang="zh-CN" dirty="0"/>
              <a:t>3</a:t>
            </a:r>
            <a:r>
              <a:rPr lang="zh-CN" altLang="en-US" dirty="0"/>
              <a:t>－</a:t>
            </a:r>
            <a:r>
              <a:rPr lang="en-US" altLang="zh-CN" dirty="0"/>
              <a:t>12 </a:t>
            </a:r>
            <a:r>
              <a:rPr lang="zh-CN" altLang="en-US" dirty="0"/>
              <a:t>所示。从表中可以看出，将四位的</a:t>
            </a:r>
            <a:r>
              <a:rPr lang="en-US" altLang="zh-CN" dirty="0"/>
              <a:t>8421BCD </a:t>
            </a:r>
            <a:r>
              <a:rPr lang="zh-CN" altLang="en-US" dirty="0"/>
              <a:t>码加上 </a:t>
            </a:r>
            <a:r>
              <a:rPr lang="en-US" altLang="zh-CN" dirty="0"/>
              <a:t>0011 </a:t>
            </a:r>
            <a:r>
              <a:rPr lang="zh-CN" altLang="en-US" dirty="0"/>
              <a:t>就是对应的余 </a:t>
            </a:r>
            <a:r>
              <a:rPr lang="en-US" altLang="zh-CN" dirty="0"/>
              <a:t>3 </a:t>
            </a:r>
            <a:r>
              <a:rPr lang="zh-CN" altLang="en-US" dirty="0"/>
              <a:t>码。因此，使用 </a:t>
            </a:r>
            <a:r>
              <a:rPr lang="en-US" altLang="zh-CN" dirty="0"/>
              <a:t>74283 </a:t>
            </a:r>
            <a:r>
              <a:rPr lang="zh-CN" altLang="en-US" dirty="0"/>
              <a:t>加法器可以很方便地将</a:t>
            </a:r>
            <a:r>
              <a:rPr lang="en-US" altLang="zh-CN" dirty="0"/>
              <a:t>8421BCD </a:t>
            </a:r>
            <a:r>
              <a:rPr lang="zh-CN" altLang="en-US" dirty="0"/>
              <a:t>码转换为余 </a:t>
            </a:r>
            <a:r>
              <a:rPr lang="en-US" altLang="zh-CN" dirty="0"/>
              <a:t>3 </a:t>
            </a:r>
            <a:r>
              <a:rPr lang="zh-CN" altLang="en-US" dirty="0"/>
              <a:t>码，如图 </a:t>
            </a:r>
            <a:r>
              <a:rPr lang="en-US" altLang="zh-CN" dirty="0"/>
              <a:t>3</a:t>
            </a:r>
            <a:r>
              <a:rPr lang="zh-CN" altLang="en-US" dirty="0"/>
              <a:t>－</a:t>
            </a:r>
            <a:r>
              <a:rPr lang="en-US" altLang="zh-CN" dirty="0"/>
              <a:t>26 </a:t>
            </a:r>
            <a:r>
              <a:rPr lang="zh-CN" altLang="en-US" dirty="0"/>
              <a:t>所示。</a:t>
            </a:r>
            <a:endParaRPr lang="zh-CN" altLang="zh-CN" dirty="0"/>
          </a:p>
        </p:txBody>
      </p:sp>
      <p:sp>
        <p:nvSpPr>
          <p:cNvPr id="43827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Rectangle 2"/>
          <p:cNvSpPr>
            <a:spLocks noGrp="1" noChangeArrowheads="1"/>
          </p:cNvSpPr>
          <p:nvPr>
            <p:ph type="title"/>
          </p:nvPr>
        </p:nvSpPr>
        <p:spPr/>
        <p:txBody>
          <a:bodyPr/>
          <a:lstStyle/>
          <a:p>
            <a:endParaRPr lang="zh-CN" altLang="zh-CN"/>
          </a:p>
        </p:txBody>
      </p:sp>
      <p:sp>
        <p:nvSpPr>
          <p:cNvPr id="439299"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6496" y="1352260"/>
            <a:ext cx="5611008" cy="4153480"/>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Rectangle 2"/>
          <p:cNvSpPr>
            <a:spLocks noGrp="1" noChangeArrowheads="1"/>
          </p:cNvSpPr>
          <p:nvPr>
            <p:ph type="title"/>
          </p:nvPr>
        </p:nvSpPr>
        <p:spPr/>
        <p:txBody>
          <a:bodyPr/>
          <a:lstStyle/>
          <a:p>
            <a:endParaRPr lang="zh-CN" altLang="zh-CN"/>
          </a:p>
        </p:txBody>
      </p:sp>
      <p:sp>
        <p:nvSpPr>
          <p:cNvPr id="440323" name="Rectangle 3"/>
          <p:cNvSpPr>
            <a:spLocks noGrp="1" noChangeArrowheads="1"/>
          </p:cNvSpPr>
          <p:nvPr>
            <p:ph type="body" idx="1"/>
          </p:nvPr>
        </p:nvSpPr>
        <p:spPr/>
        <p:txBody>
          <a:bodyPr/>
          <a:lstStyle/>
          <a:p>
            <a:r>
              <a:rPr lang="zh-CN" altLang="en-US" dirty="0"/>
              <a:t>图 </a:t>
            </a:r>
            <a:r>
              <a:rPr lang="en-US" altLang="zh-CN" dirty="0"/>
              <a:t>3</a:t>
            </a:r>
            <a:r>
              <a:rPr lang="zh-CN" altLang="en-US" dirty="0"/>
              <a:t>－</a:t>
            </a:r>
            <a:r>
              <a:rPr lang="en-US" altLang="zh-CN" dirty="0"/>
              <a:t>26  </a:t>
            </a:r>
            <a:r>
              <a:rPr lang="zh-CN" altLang="en-US" dirty="0"/>
              <a:t>用 </a:t>
            </a:r>
            <a:r>
              <a:rPr lang="en-US" altLang="zh-CN" dirty="0"/>
              <a:t>74283 </a:t>
            </a:r>
            <a:r>
              <a:rPr lang="zh-CN" altLang="en-US" dirty="0"/>
              <a:t>加法器将 </a:t>
            </a:r>
            <a:r>
              <a:rPr lang="en-US" altLang="zh-CN" dirty="0"/>
              <a:t>8421BCD</a:t>
            </a:r>
            <a:r>
              <a:rPr lang="zh-CN" altLang="en-US" dirty="0"/>
              <a:t>码转换为余 </a:t>
            </a:r>
            <a:r>
              <a:rPr lang="en-US" altLang="zh-CN" dirty="0"/>
              <a:t>3 </a:t>
            </a:r>
            <a:r>
              <a:rPr lang="zh-CN" altLang="en-US" dirty="0"/>
              <a:t>码</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9752" y="1412776"/>
            <a:ext cx="4388679" cy="3886748"/>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Rectangle 2"/>
          <p:cNvSpPr>
            <a:spLocks noGrp="1" noChangeArrowheads="1"/>
          </p:cNvSpPr>
          <p:nvPr>
            <p:ph type="title"/>
          </p:nvPr>
        </p:nvSpPr>
        <p:spPr/>
        <p:txBody>
          <a:bodyPr/>
          <a:lstStyle/>
          <a:p>
            <a:br>
              <a:rPr lang="en-US" altLang="zh-CN" dirty="0"/>
            </a:br>
            <a:r>
              <a:rPr lang="en-US" altLang="zh-CN" b="1" dirty="0"/>
              <a:t>3. 2. 2  </a:t>
            </a:r>
            <a:r>
              <a:rPr lang="zh-CN" altLang="en-US" b="1" dirty="0"/>
              <a:t>比较器</a:t>
            </a:r>
            <a:br>
              <a:rPr lang="zh-CN" altLang="en-US" b="1" dirty="0"/>
            </a:br>
            <a:r>
              <a:rPr lang="zh-CN" altLang="en-US" b="1" dirty="0"/>
              <a:t>　　</a:t>
            </a:r>
            <a:r>
              <a:rPr lang="zh-CN" altLang="en-US" dirty="0"/>
              <a:t>用来比较两个二进制数大小的逻辑电路，称为比较器。</a:t>
            </a:r>
            <a:br>
              <a:rPr lang="zh-CN" altLang="en-US" dirty="0"/>
            </a:br>
            <a:r>
              <a:rPr lang="zh-CN" altLang="en-US" dirty="0"/>
              <a:t>　　</a:t>
            </a:r>
            <a:r>
              <a:rPr lang="en-US" altLang="zh-CN" b="1" dirty="0"/>
              <a:t>1. </a:t>
            </a:r>
            <a:r>
              <a:rPr lang="zh-CN" altLang="en-US" b="1" dirty="0"/>
              <a:t>一位比较器</a:t>
            </a:r>
            <a:br>
              <a:rPr lang="zh-CN" altLang="en-US" b="1" dirty="0"/>
            </a:br>
            <a:r>
              <a:rPr lang="zh-CN" altLang="en-US" b="1" dirty="0"/>
              <a:t>　　</a:t>
            </a:r>
            <a:r>
              <a:rPr lang="zh-CN" altLang="en-US" dirty="0"/>
              <a:t>一位比较器用来比较两个一位二进制数 </a:t>
            </a:r>
            <a:r>
              <a:rPr lang="en-US" altLang="zh-CN" i="1" dirty="0"/>
              <a:t>A</a:t>
            </a:r>
            <a:r>
              <a:rPr lang="en-US" altLang="zh-CN" i="1" baseline="-25000" dirty="0"/>
              <a:t>i</a:t>
            </a:r>
            <a:r>
              <a:rPr lang="zh-CN" altLang="en-US" dirty="0"/>
              <a:t>和 </a:t>
            </a:r>
            <a:r>
              <a:rPr lang="en-US" altLang="zh-CN" i="1" dirty="0"/>
              <a:t>B</a:t>
            </a:r>
            <a:r>
              <a:rPr lang="en-US" altLang="zh-CN" i="1" baseline="-25000" dirty="0"/>
              <a:t>i</a:t>
            </a:r>
            <a:r>
              <a:rPr lang="en-US" altLang="zh-CN" i="1" dirty="0"/>
              <a:t> </a:t>
            </a:r>
            <a:r>
              <a:rPr lang="zh-CN" altLang="en-US" dirty="0"/>
              <a:t>的大小。比较结果有三种</a:t>
            </a:r>
            <a:r>
              <a:rPr lang="en-US" altLang="zh-CN" dirty="0"/>
              <a:t>: </a:t>
            </a:r>
            <a:r>
              <a:rPr lang="en-US" altLang="zh-CN" i="1" dirty="0"/>
              <a:t>A </a:t>
            </a:r>
            <a:r>
              <a:rPr lang="en-US" altLang="zh-CN" i="1" baseline="-25000" dirty="0"/>
              <a:t>i </a:t>
            </a:r>
            <a:r>
              <a:rPr lang="en-US" altLang="zh-CN" i="1" dirty="0"/>
              <a:t>&gt;B </a:t>
            </a:r>
            <a:r>
              <a:rPr lang="en-US" altLang="zh-CN" i="1" baseline="-25000" dirty="0"/>
              <a:t>i</a:t>
            </a:r>
            <a:r>
              <a:rPr lang="en-US" altLang="zh-CN" i="1" dirty="0"/>
              <a:t> </a:t>
            </a:r>
            <a:r>
              <a:rPr lang="zh-CN" altLang="en-US" i="1" dirty="0"/>
              <a:t>、</a:t>
            </a:r>
            <a:r>
              <a:rPr lang="en-US" altLang="zh-CN" i="1" dirty="0"/>
              <a:t>A </a:t>
            </a:r>
            <a:r>
              <a:rPr lang="en-US" altLang="zh-CN" i="1" baseline="-25000" dirty="0"/>
              <a:t>i</a:t>
            </a:r>
            <a:r>
              <a:rPr lang="en-US" altLang="zh-CN" i="1" dirty="0"/>
              <a:t> =B</a:t>
            </a:r>
            <a:r>
              <a:rPr lang="en-US" altLang="zh-CN" i="1" baseline="-25000" dirty="0"/>
              <a:t>i</a:t>
            </a:r>
            <a:r>
              <a:rPr lang="en-US" altLang="zh-CN" i="1" dirty="0"/>
              <a:t> </a:t>
            </a:r>
            <a:r>
              <a:rPr lang="zh-CN" altLang="en-US" i="1" dirty="0"/>
              <a:t>、 </a:t>
            </a:r>
            <a:r>
              <a:rPr lang="en-US" altLang="zh-CN" i="1" dirty="0"/>
              <a:t>A </a:t>
            </a:r>
            <a:r>
              <a:rPr lang="en-US" altLang="zh-CN" i="1" baseline="-25000" dirty="0"/>
              <a:t>i </a:t>
            </a:r>
            <a:r>
              <a:rPr lang="en-US" altLang="zh-CN" i="1" dirty="0"/>
              <a:t>&lt;B </a:t>
            </a:r>
            <a:r>
              <a:rPr lang="en-US" altLang="zh-CN" i="1" baseline="-25000" dirty="0"/>
              <a:t>i</a:t>
            </a:r>
            <a:r>
              <a:rPr lang="en-US" altLang="zh-CN" i="1" dirty="0"/>
              <a:t> </a:t>
            </a:r>
            <a:r>
              <a:rPr lang="zh-CN" altLang="en-US" dirty="0"/>
              <a:t>，现分别用 </a:t>
            </a:r>
            <a:r>
              <a:rPr lang="en-US" altLang="zh-CN" dirty="0"/>
              <a:t>L </a:t>
            </a:r>
            <a:r>
              <a:rPr lang="en-US" altLang="zh-CN" baseline="-25000" dirty="0"/>
              <a:t>i</a:t>
            </a:r>
            <a:r>
              <a:rPr lang="en-US" altLang="zh-CN" dirty="0"/>
              <a:t> </a:t>
            </a:r>
            <a:r>
              <a:rPr lang="zh-CN" altLang="en-US" dirty="0"/>
              <a:t>、 </a:t>
            </a:r>
            <a:r>
              <a:rPr lang="en-US" altLang="zh-CN" i="1" dirty="0"/>
              <a:t>G </a:t>
            </a:r>
            <a:r>
              <a:rPr lang="en-US" altLang="zh-CN" i="1" baseline="-25000" dirty="0"/>
              <a:t>i</a:t>
            </a:r>
            <a:r>
              <a:rPr lang="en-US" altLang="zh-CN" i="1" dirty="0"/>
              <a:t> </a:t>
            </a:r>
            <a:r>
              <a:rPr lang="zh-CN" altLang="en-US" i="1" dirty="0"/>
              <a:t>、 </a:t>
            </a:r>
            <a:r>
              <a:rPr lang="en-US" altLang="zh-CN" i="1" dirty="0"/>
              <a:t>M </a:t>
            </a:r>
            <a:r>
              <a:rPr lang="en-US" altLang="zh-CN" i="1" baseline="-25000" dirty="0"/>
              <a:t>i</a:t>
            </a:r>
            <a:r>
              <a:rPr lang="zh-CN" altLang="en-US" dirty="0"/>
              <a:t>表示，其真值表如表 </a:t>
            </a:r>
            <a:r>
              <a:rPr lang="en-US" altLang="zh-CN" dirty="0"/>
              <a:t>3</a:t>
            </a:r>
            <a:r>
              <a:rPr lang="zh-CN" altLang="en-US" dirty="0"/>
              <a:t>－</a:t>
            </a:r>
            <a:r>
              <a:rPr lang="en-US" altLang="zh-CN" dirty="0"/>
              <a:t>13 </a:t>
            </a:r>
            <a:r>
              <a:rPr lang="zh-CN" altLang="en-US" dirty="0"/>
              <a:t>所示。</a:t>
            </a:r>
            <a:endParaRPr lang="zh-CN" altLang="zh-CN" dirty="0"/>
          </a:p>
        </p:txBody>
      </p:sp>
      <p:sp>
        <p:nvSpPr>
          <p:cNvPr id="44134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0" name="Rectangle 2"/>
          <p:cNvSpPr>
            <a:spLocks noGrp="1" noChangeArrowheads="1"/>
          </p:cNvSpPr>
          <p:nvPr>
            <p:ph type="title"/>
          </p:nvPr>
        </p:nvSpPr>
        <p:spPr/>
        <p:txBody>
          <a:bodyPr/>
          <a:lstStyle/>
          <a:p>
            <a:endParaRPr lang="zh-CN" altLang="zh-CN"/>
          </a:p>
        </p:txBody>
      </p:sp>
      <p:sp>
        <p:nvSpPr>
          <p:cNvPr id="442371"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7704" y="1412776"/>
            <a:ext cx="5695527" cy="3087936"/>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4" name="Rectangle 2"/>
          <p:cNvSpPr>
            <a:spLocks noGrp="1" noChangeArrowheads="1"/>
          </p:cNvSpPr>
          <p:nvPr>
            <p:ph type="title"/>
          </p:nvPr>
        </p:nvSpPr>
        <p:spPr/>
        <p:txBody>
          <a:bodyPr/>
          <a:lstStyle/>
          <a:p>
            <a:br>
              <a:rPr lang="en-US" altLang="zh-CN" dirty="0"/>
            </a:br>
            <a:r>
              <a:rPr lang="zh-CN" altLang="en-US" dirty="0"/>
              <a:t>　　由真值表可以得到下列逻辑表达式</a:t>
            </a:r>
            <a:r>
              <a:rPr lang="en-US" altLang="zh-CN" dirty="0"/>
              <a:t>:</a:t>
            </a:r>
            <a:endParaRPr lang="zh-CN" altLang="zh-CN" dirty="0"/>
          </a:p>
        </p:txBody>
      </p:sp>
      <p:sp>
        <p:nvSpPr>
          <p:cNvPr id="443395"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5696" y="1844824"/>
            <a:ext cx="5520253" cy="2054048"/>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Rectangle 2"/>
          <p:cNvSpPr>
            <a:spLocks noGrp="1" noChangeArrowheads="1"/>
          </p:cNvSpPr>
          <p:nvPr>
            <p:ph type="title"/>
          </p:nvPr>
        </p:nvSpPr>
        <p:spPr/>
        <p:txBody>
          <a:bodyPr/>
          <a:lstStyle/>
          <a:p>
            <a:br>
              <a:rPr lang="en-US" altLang="zh-CN" dirty="0"/>
            </a:br>
            <a:r>
              <a:rPr lang="zh-CN" altLang="en-US" dirty="0"/>
              <a:t>　　根据上面的表达式可画出如图 </a:t>
            </a:r>
            <a:r>
              <a:rPr lang="en-US" altLang="zh-CN" dirty="0"/>
              <a:t>3</a:t>
            </a:r>
            <a:r>
              <a:rPr lang="zh-CN" altLang="en-US" dirty="0"/>
              <a:t>－</a:t>
            </a:r>
            <a:r>
              <a:rPr lang="en-US" altLang="zh-CN" dirty="0"/>
              <a:t>27 </a:t>
            </a:r>
            <a:r>
              <a:rPr lang="zh-CN" altLang="en-US" dirty="0"/>
              <a:t>所示的逻辑图。</a:t>
            </a:r>
            <a:endParaRPr lang="zh-CN" altLang="zh-CN" dirty="0"/>
          </a:p>
        </p:txBody>
      </p:sp>
      <p:sp>
        <p:nvSpPr>
          <p:cNvPr id="444419" name="Rectangle 3"/>
          <p:cNvSpPr>
            <a:spLocks noGrp="1" noChangeArrowheads="1"/>
          </p:cNvSpPr>
          <p:nvPr>
            <p:ph type="body" idx="1"/>
          </p:nvPr>
        </p:nvSpPr>
        <p:spPr/>
        <p:txBody>
          <a:bodyPr/>
          <a:lstStyle/>
          <a:p>
            <a:r>
              <a:rPr lang="zh-CN" altLang="en-US" dirty="0"/>
              <a:t>图 </a:t>
            </a:r>
            <a:r>
              <a:rPr lang="en-US" altLang="zh-CN" dirty="0"/>
              <a:t>3</a:t>
            </a:r>
            <a:r>
              <a:rPr lang="zh-CN" altLang="en-US" dirty="0"/>
              <a:t>－</a:t>
            </a:r>
            <a:r>
              <a:rPr lang="en-US" altLang="zh-CN" dirty="0"/>
              <a:t>27  </a:t>
            </a:r>
            <a:r>
              <a:rPr lang="zh-CN" altLang="en-US" dirty="0"/>
              <a:t>一位比较器的逻辑图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2182" y="1747602"/>
            <a:ext cx="2219635" cy="3362795"/>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ChangeArrowheads="1"/>
          </p:cNvSpPr>
          <p:nvPr>
            <p:ph type="title"/>
          </p:nvPr>
        </p:nvSpPr>
        <p:spPr/>
        <p:txBody>
          <a:bodyPr/>
          <a:lstStyle/>
          <a:p>
            <a:br>
              <a:rPr lang="en-US" altLang="zh-CN" dirty="0"/>
            </a:br>
            <a:r>
              <a:rPr lang="zh-CN" altLang="en-US" dirty="0"/>
              <a:t>　　</a:t>
            </a:r>
            <a:r>
              <a:rPr lang="zh-CN" altLang="en-US" b="1" dirty="0"/>
              <a:t> </a:t>
            </a:r>
            <a:r>
              <a:rPr lang="en-US" altLang="zh-CN" b="1" dirty="0"/>
              <a:t>2. </a:t>
            </a:r>
            <a:r>
              <a:rPr lang="zh-CN" altLang="en-US" b="1" dirty="0"/>
              <a:t>多位比较器</a:t>
            </a:r>
            <a:br>
              <a:rPr lang="zh-CN" altLang="en-US" b="1" dirty="0"/>
            </a:br>
            <a:r>
              <a:rPr lang="zh-CN" altLang="en-US" b="1" dirty="0"/>
              <a:t>　　</a:t>
            </a:r>
            <a:r>
              <a:rPr lang="zh-CN" altLang="en-US" dirty="0"/>
              <a:t>多位比较器用来比较两个多位二进制数 </a:t>
            </a:r>
            <a:r>
              <a:rPr lang="en-US" altLang="zh-CN" dirty="0"/>
              <a:t>A=A </a:t>
            </a:r>
            <a:r>
              <a:rPr lang="en-US" altLang="zh-CN" i="1" baseline="-25000" dirty="0"/>
              <a:t>n -1 </a:t>
            </a:r>
            <a:r>
              <a:rPr lang="en-US" altLang="zh-CN" dirty="0"/>
              <a:t>… A </a:t>
            </a:r>
            <a:r>
              <a:rPr lang="en-US" altLang="zh-CN" i="1" baseline="-25000" dirty="0"/>
              <a:t>i</a:t>
            </a:r>
            <a:r>
              <a:rPr lang="en-US" altLang="zh-CN" dirty="0"/>
              <a:t> … A </a:t>
            </a:r>
            <a:r>
              <a:rPr lang="en-US" altLang="zh-CN" i="1" baseline="-25000" dirty="0"/>
              <a:t>0</a:t>
            </a:r>
            <a:r>
              <a:rPr lang="en-US" altLang="zh-CN" dirty="0"/>
              <a:t> </a:t>
            </a:r>
            <a:r>
              <a:rPr lang="zh-CN" altLang="en-US" dirty="0"/>
              <a:t>和 </a:t>
            </a:r>
            <a:r>
              <a:rPr lang="en-US" altLang="zh-CN" dirty="0"/>
              <a:t>B=B </a:t>
            </a:r>
            <a:r>
              <a:rPr lang="en-US" altLang="zh-CN" i="1" baseline="-25000" dirty="0"/>
              <a:t>n -1 </a:t>
            </a:r>
            <a:r>
              <a:rPr lang="en-US" altLang="zh-CN" dirty="0"/>
              <a:t>… B</a:t>
            </a:r>
            <a:r>
              <a:rPr lang="en-US" altLang="zh-CN" i="1" baseline="-25000" dirty="0"/>
              <a:t>i</a:t>
            </a:r>
            <a:r>
              <a:rPr lang="en-US" altLang="zh-CN" dirty="0"/>
              <a:t> … B </a:t>
            </a:r>
            <a:r>
              <a:rPr lang="en-US" altLang="zh-CN" i="1" baseline="-25000" dirty="0"/>
              <a:t>0</a:t>
            </a:r>
            <a:r>
              <a:rPr lang="en-US" altLang="zh-CN" dirty="0"/>
              <a:t> </a:t>
            </a:r>
            <a:r>
              <a:rPr lang="zh-CN" altLang="en-US" dirty="0"/>
              <a:t>的大小，比较时从高位往低位逐位进行，当高位相等时才比较低位。</a:t>
            </a:r>
            <a:endParaRPr lang="zh-CN" altLang="zh-CN" dirty="0"/>
          </a:p>
        </p:txBody>
      </p:sp>
      <p:sp>
        <p:nvSpPr>
          <p:cNvPr id="44544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Rectangle 2"/>
          <p:cNvSpPr>
            <a:spLocks noGrp="1" noChangeArrowheads="1"/>
          </p:cNvSpPr>
          <p:nvPr>
            <p:ph type="title"/>
          </p:nvPr>
        </p:nvSpPr>
        <p:spPr/>
        <p:txBody>
          <a:bodyPr/>
          <a:lstStyle/>
          <a:p>
            <a:br>
              <a:rPr lang="en-US" altLang="zh-CN" dirty="0"/>
            </a:br>
            <a:r>
              <a:rPr lang="zh-CN" altLang="en-US" dirty="0"/>
              <a:t>　　例 如，</a:t>
            </a:r>
            <a:r>
              <a:rPr lang="en-US" altLang="zh-CN" dirty="0"/>
              <a:t> </a:t>
            </a:r>
            <a:r>
              <a:rPr lang="zh-CN" altLang="en-US" dirty="0"/>
              <a:t>要 比 较 两 个 四 位 二 进 制 数 </a:t>
            </a:r>
            <a:r>
              <a:rPr lang="en-US" altLang="zh-CN" dirty="0"/>
              <a:t>A =</a:t>
            </a:r>
            <a:br>
              <a:rPr lang="en-US" altLang="zh-CN" dirty="0"/>
            </a:br>
            <a:r>
              <a:rPr lang="en-US" altLang="zh-CN" dirty="0"/>
              <a:t>A </a:t>
            </a:r>
            <a:r>
              <a:rPr lang="en-US" altLang="zh-CN" baseline="-25000" dirty="0"/>
              <a:t>3</a:t>
            </a:r>
            <a:r>
              <a:rPr lang="en-US" altLang="zh-CN" dirty="0"/>
              <a:t> A </a:t>
            </a:r>
            <a:r>
              <a:rPr lang="en-US" altLang="zh-CN" baseline="-25000" dirty="0"/>
              <a:t>2</a:t>
            </a:r>
            <a:r>
              <a:rPr lang="en-US" altLang="zh-CN" dirty="0"/>
              <a:t> A </a:t>
            </a:r>
            <a:r>
              <a:rPr lang="en-US" altLang="zh-CN" baseline="-25000" dirty="0"/>
              <a:t>1</a:t>
            </a:r>
            <a:r>
              <a:rPr lang="en-US" altLang="zh-CN" dirty="0"/>
              <a:t> A </a:t>
            </a:r>
            <a:r>
              <a:rPr lang="en-US" altLang="zh-CN" baseline="-25000" dirty="0"/>
              <a:t>0</a:t>
            </a:r>
            <a:r>
              <a:rPr lang="en-US" altLang="zh-CN" dirty="0"/>
              <a:t> </a:t>
            </a:r>
            <a:r>
              <a:rPr lang="zh-CN" altLang="en-US" dirty="0"/>
              <a:t>和 </a:t>
            </a:r>
            <a:r>
              <a:rPr lang="en-US" altLang="zh-CN" dirty="0"/>
              <a:t>B=B </a:t>
            </a:r>
            <a:r>
              <a:rPr lang="en-US" altLang="zh-CN" baseline="-25000" dirty="0"/>
              <a:t>3</a:t>
            </a:r>
            <a:r>
              <a:rPr lang="en-US" altLang="zh-CN" dirty="0"/>
              <a:t> B </a:t>
            </a:r>
            <a:r>
              <a:rPr lang="en-US" altLang="zh-CN" baseline="-25000" dirty="0"/>
              <a:t>2</a:t>
            </a:r>
            <a:r>
              <a:rPr lang="en-US" altLang="zh-CN" dirty="0"/>
              <a:t> B </a:t>
            </a:r>
            <a:r>
              <a:rPr lang="en-US" altLang="zh-CN" baseline="-25000" dirty="0"/>
              <a:t>1</a:t>
            </a:r>
            <a:r>
              <a:rPr lang="en-US" altLang="zh-CN" dirty="0"/>
              <a:t> B </a:t>
            </a:r>
            <a:r>
              <a:rPr lang="en-US" altLang="zh-CN" baseline="-25000" dirty="0"/>
              <a:t>0</a:t>
            </a:r>
            <a:r>
              <a:rPr lang="en-US" altLang="zh-CN" dirty="0"/>
              <a:t> </a:t>
            </a:r>
            <a:r>
              <a:rPr lang="zh-CN" altLang="en-US" dirty="0"/>
              <a:t>，则先比较最高位 </a:t>
            </a:r>
            <a:r>
              <a:rPr lang="en-US" altLang="zh-CN" dirty="0"/>
              <a:t>A </a:t>
            </a:r>
            <a:r>
              <a:rPr lang="en-US" altLang="zh-CN" baseline="-25000" dirty="0"/>
              <a:t>3</a:t>
            </a:r>
            <a:r>
              <a:rPr lang="en-US" altLang="zh-CN" dirty="0"/>
              <a:t> </a:t>
            </a:r>
            <a:r>
              <a:rPr lang="zh-CN" altLang="en-US" dirty="0"/>
              <a:t>和 </a:t>
            </a:r>
            <a:r>
              <a:rPr lang="en-US" altLang="zh-CN" dirty="0"/>
              <a:t>B </a:t>
            </a:r>
            <a:r>
              <a:rPr lang="en-US" altLang="zh-CN" baseline="-25000" dirty="0"/>
              <a:t>3</a:t>
            </a:r>
            <a:r>
              <a:rPr lang="en-US" altLang="zh-CN" dirty="0"/>
              <a:t> </a:t>
            </a:r>
            <a:r>
              <a:rPr lang="zh-CN" altLang="en-US" dirty="0"/>
              <a:t>。如果 </a:t>
            </a:r>
            <a:r>
              <a:rPr lang="en-US" altLang="zh-CN" dirty="0"/>
              <a:t>A</a:t>
            </a:r>
            <a:r>
              <a:rPr lang="en-US" altLang="zh-CN" baseline="-25000" dirty="0"/>
              <a:t> 3 </a:t>
            </a:r>
            <a:r>
              <a:rPr lang="en-US" altLang="zh-CN" dirty="0"/>
              <a:t>&gt;B </a:t>
            </a:r>
            <a:r>
              <a:rPr lang="en-US" altLang="zh-CN" baseline="-25000" dirty="0"/>
              <a:t>3</a:t>
            </a:r>
            <a:r>
              <a:rPr lang="en-US" altLang="zh-CN" dirty="0"/>
              <a:t> </a:t>
            </a:r>
            <a:r>
              <a:rPr lang="zh-CN" altLang="en-US" dirty="0"/>
              <a:t>，则 </a:t>
            </a:r>
            <a:r>
              <a:rPr lang="en-US" altLang="zh-CN" dirty="0"/>
              <a:t>A&gt;B ;</a:t>
            </a:r>
            <a:r>
              <a:rPr lang="zh-CN" altLang="en-US" dirty="0"/>
              <a:t>若 </a:t>
            </a:r>
            <a:r>
              <a:rPr lang="en-US" altLang="zh-CN" dirty="0"/>
              <a:t>A </a:t>
            </a:r>
            <a:r>
              <a:rPr lang="en-US" altLang="zh-CN" baseline="-25000" dirty="0"/>
              <a:t>3</a:t>
            </a:r>
            <a:r>
              <a:rPr lang="en-US" altLang="zh-CN" dirty="0"/>
              <a:t> &lt;B </a:t>
            </a:r>
            <a:r>
              <a:rPr lang="en-US" altLang="zh-CN" baseline="-25000" dirty="0"/>
              <a:t>3</a:t>
            </a:r>
            <a:r>
              <a:rPr lang="en-US" altLang="zh-CN" dirty="0"/>
              <a:t> </a:t>
            </a:r>
            <a:r>
              <a:rPr lang="zh-CN" altLang="en-US" dirty="0"/>
              <a:t>，则 </a:t>
            </a:r>
            <a:r>
              <a:rPr lang="en-US" altLang="zh-CN" dirty="0"/>
              <a:t>A&lt;B ;</a:t>
            </a:r>
            <a:r>
              <a:rPr lang="zh-CN" altLang="en-US" dirty="0"/>
              <a:t>当 </a:t>
            </a:r>
            <a:r>
              <a:rPr lang="en-US" altLang="zh-CN" dirty="0"/>
              <a:t>A </a:t>
            </a:r>
            <a:r>
              <a:rPr lang="en-US" altLang="zh-CN" baseline="-25000" dirty="0"/>
              <a:t>3</a:t>
            </a:r>
            <a:r>
              <a:rPr lang="en-US" altLang="zh-CN" dirty="0"/>
              <a:t> =B </a:t>
            </a:r>
            <a:r>
              <a:rPr lang="en-US" altLang="zh-CN" baseline="-25000" dirty="0"/>
              <a:t>3</a:t>
            </a:r>
            <a:r>
              <a:rPr lang="en-US" altLang="zh-CN" dirty="0"/>
              <a:t> </a:t>
            </a:r>
            <a:r>
              <a:rPr lang="zh-CN" altLang="en-US" dirty="0"/>
              <a:t>时，必须比较 </a:t>
            </a:r>
            <a:r>
              <a:rPr lang="en-US" altLang="zh-CN" dirty="0"/>
              <a:t>A </a:t>
            </a:r>
            <a:r>
              <a:rPr lang="en-US" altLang="zh-CN" baseline="-25000" dirty="0"/>
              <a:t>2</a:t>
            </a:r>
            <a:r>
              <a:rPr lang="en-US" altLang="zh-CN" dirty="0"/>
              <a:t> </a:t>
            </a:r>
            <a:r>
              <a:rPr lang="zh-CN" altLang="en-US" dirty="0"/>
              <a:t>和 </a:t>
            </a:r>
            <a:r>
              <a:rPr lang="en-US" altLang="zh-CN" dirty="0"/>
              <a:t>B </a:t>
            </a:r>
            <a:r>
              <a:rPr lang="en-US" altLang="zh-CN" baseline="-25000" dirty="0"/>
              <a:t>2</a:t>
            </a:r>
            <a:r>
              <a:rPr lang="en-US" altLang="zh-CN" dirty="0"/>
              <a:t> </a:t>
            </a:r>
            <a:r>
              <a:rPr lang="zh-CN" altLang="en-US" dirty="0"/>
              <a:t>。依此类推，直至得出结果为止。假定各位比较的结果分别用 </a:t>
            </a:r>
            <a:r>
              <a:rPr lang="en-US" altLang="zh-CN" dirty="0"/>
              <a:t>L</a:t>
            </a:r>
            <a:r>
              <a:rPr lang="en-US" altLang="zh-CN" baseline="-25000" dirty="0"/>
              <a:t>3</a:t>
            </a:r>
            <a:r>
              <a:rPr lang="en-US" altLang="zh-CN" dirty="0"/>
              <a:t> </a:t>
            </a:r>
            <a:r>
              <a:rPr lang="zh-CN" altLang="en-US" dirty="0"/>
              <a:t>、 </a:t>
            </a:r>
            <a:r>
              <a:rPr lang="en-US" altLang="zh-CN" dirty="0"/>
              <a:t>G </a:t>
            </a:r>
            <a:r>
              <a:rPr lang="en-US" altLang="zh-CN" baseline="-25000" dirty="0"/>
              <a:t>3</a:t>
            </a:r>
            <a:r>
              <a:rPr lang="en-US" altLang="zh-CN" dirty="0"/>
              <a:t> </a:t>
            </a:r>
            <a:r>
              <a:rPr lang="zh-CN" altLang="en-US" dirty="0"/>
              <a:t>、 </a:t>
            </a:r>
            <a:r>
              <a:rPr lang="en-US" altLang="zh-CN" dirty="0"/>
              <a:t>M </a:t>
            </a:r>
            <a:r>
              <a:rPr lang="en-US" altLang="zh-CN" baseline="-25000" dirty="0"/>
              <a:t>3</a:t>
            </a:r>
            <a:r>
              <a:rPr lang="en-US" altLang="zh-CN" dirty="0"/>
              <a:t> </a:t>
            </a:r>
            <a:r>
              <a:rPr lang="zh-CN" altLang="en-US" dirty="0"/>
              <a:t>，</a:t>
            </a:r>
            <a:r>
              <a:rPr lang="en-US" altLang="zh-CN" dirty="0"/>
              <a:t> L </a:t>
            </a:r>
            <a:r>
              <a:rPr lang="en-US" altLang="zh-CN" baseline="-25000" dirty="0"/>
              <a:t>2</a:t>
            </a:r>
            <a:r>
              <a:rPr lang="en-US" altLang="zh-CN" dirty="0"/>
              <a:t> </a:t>
            </a:r>
            <a:r>
              <a:rPr lang="zh-CN" altLang="en-US" dirty="0"/>
              <a:t>、 </a:t>
            </a:r>
            <a:r>
              <a:rPr lang="en-US" altLang="zh-CN" dirty="0"/>
              <a:t>G </a:t>
            </a:r>
            <a:r>
              <a:rPr lang="en-US" altLang="zh-CN" baseline="-25000" dirty="0"/>
              <a:t>2</a:t>
            </a:r>
            <a:r>
              <a:rPr lang="en-US" altLang="zh-CN" dirty="0"/>
              <a:t> </a:t>
            </a:r>
            <a:r>
              <a:rPr lang="zh-CN" altLang="en-US" dirty="0"/>
              <a:t>、 </a:t>
            </a:r>
            <a:r>
              <a:rPr lang="en-US" altLang="zh-CN" dirty="0"/>
              <a:t>M </a:t>
            </a:r>
            <a:r>
              <a:rPr lang="en-US" altLang="zh-CN" baseline="-25000" dirty="0"/>
              <a:t>2</a:t>
            </a:r>
            <a:r>
              <a:rPr lang="en-US" altLang="zh-CN" dirty="0"/>
              <a:t> </a:t>
            </a:r>
            <a:r>
              <a:rPr lang="zh-CN" altLang="en-US" dirty="0"/>
              <a:t>，</a:t>
            </a:r>
            <a:r>
              <a:rPr lang="en-US" altLang="zh-CN" dirty="0"/>
              <a:t> L </a:t>
            </a:r>
            <a:r>
              <a:rPr lang="en-US" altLang="zh-CN" baseline="-25000" dirty="0"/>
              <a:t>1</a:t>
            </a:r>
            <a:r>
              <a:rPr lang="en-US" altLang="zh-CN" dirty="0"/>
              <a:t> </a:t>
            </a:r>
            <a:r>
              <a:rPr lang="zh-CN" altLang="en-US" dirty="0"/>
              <a:t>、 </a:t>
            </a:r>
            <a:r>
              <a:rPr lang="en-US" altLang="zh-CN" dirty="0"/>
              <a:t>G </a:t>
            </a:r>
            <a:r>
              <a:rPr lang="en-US" altLang="zh-CN" baseline="-25000" dirty="0"/>
              <a:t>1</a:t>
            </a:r>
            <a:r>
              <a:rPr lang="en-US" altLang="zh-CN" dirty="0"/>
              <a:t> </a:t>
            </a:r>
            <a:r>
              <a:rPr lang="zh-CN" altLang="en-US" dirty="0"/>
              <a:t>、 </a:t>
            </a:r>
            <a:r>
              <a:rPr lang="en-US" altLang="zh-CN" dirty="0"/>
              <a:t>M </a:t>
            </a:r>
            <a:r>
              <a:rPr lang="en-US" altLang="zh-CN" baseline="-25000" dirty="0"/>
              <a:t>1</a:t>
            </a:r>
            <a:r>
              <a:rPr lang="en-US" altLang="zh-CN" dirty="0"/>
              <a:t> </a:t>
            </a:r>
            <a:r>
              <a:rPr lang="zh-CN" altLang="en-US" dirty="0"/>
              <a:t>，</a:t>
            </a:r>
            <a:r>
              <a:rPr lang="en-US" altLang="zh-CN" dirty="0"/>
              <a:t> L </a:t>
            </a:r>
            <a:r>
              <a:rPr lang="en-US" altLang="zh-CN" baseline="-25000" dirty="0"/>
              <a:t>0</a:t>
            </a:r>
            <a:r>
              <a:rPr lang="en-US" altLang="zh-CN" dirty="0"/>
              <a:t> </a:t>
            </a:r>
            <a:r>
              <a:rPr lang="zh-CN" altLang="en-US" dirty="0"/>
              <a:t>、 </a:t>
            </a:r>
            <a:r>
              <a:rPr lang="en-US" altLang="zh-CN" dirty="0"/>
              <a:t>G </a:t>
            </a:r>
            <a:r>
              <a:rPr lang="en-US" altLang="zh-CN" baseline="-25000" dirty="0"/>
              <a:t>0</a:t>
            </a:r>
            <a:r>
              <a:rPr lang="en-US" altLang="zh-CN" dirty="0"/>
              <a:t> </a:t>
            </a:r>
            <a:r>
              <a:rPr lang="zh-CN" altLang="en-US" dirty="0"/>
              <a:t>、 </a:t>
            </a:r>
            <a:r>
              <a:rPr lang="en-US" altLang="zh-CN" dirty="0"/>
              <a:t>M </a:t>
            </a:r>
            <a:r>
              <a:rPr lang="en-US" altLang="zh-CN" baseline="-25000" dirty="0"/>
              <a:t>0</a:t>
            </a:r>
            <a:r>
              <a:rPr lang="en-US" altLang="zh-CN" dirty="0"/>
              <a:t> </a:t>
            </a:r>
            <a:r>
              <a:rPr lang="zh-CN" altLang="en-US" dirty="0"/>
              <a:t>表示，总的比较结果用 </a:t>
            </a:r>
            <a:r>
              <a:rPr lang="en-US" altLang="zh-CN" dirty="0"/>
              <a:t>L </a:t>
            </a:r>
            <a:r>
              <a:rPr lang="zh-CN" altLang="en-US" dirty="0"/>
              <a:t>、 </a:t>
            </a:r>
            <a:r>
              <a:rPr lang="en-US" altLang="zh-CN" dirty="0"/>
              <a:t>G </a:t>
            </a:r>
            <a:r>
              <a:rPr lang="zh-CN" altLang="en-US" dirty="0"/>
              <a:t>、 </a:t>
            </a:r>
            <a:r>
              <a:rPr lang="en-US" altLang="zh-CN" dirty="0"/>
              <a:t>M </a:t>
            </a:r>
            <a:r>
              <a:rPr lang="zh-CN" altLang="en-US" dirty="0"/>
              <a:t>表示，则可得如表 </a:t>
            </a:r>
            <a:r>
              <a:rPr lang="en-US" altLang="zh-CN" dirty="0"/>
              <a:t>3</a:t>
            </a:r>
            <a:r>
              <a:rPr lang="zh-CN" altLang="en-US" dirty="0"/>
              <a:t>－</a:t>
            </a:r>
            <a:r>
              <a:rPr lang="en-US" altLang="zh-CN" dirty="0"/>
              <a:t>14 </a:t>
            </a:r>
            <a:r>
              <a:rPr lang="zh-CN" altLang="en-US" dirty="0"/>
              <a:t>所示的真值表。表中的“ </a:t>
            </a:r>
            <a:r>
              <a:rPr lang="en-US" altLang="zh-CN" dirty="0"/>
              <a:t>× ”</a:t>
            </a:r>
            <a:r>
              <a:rPr lang="zh-CN" altLang="en-US" dirty="0"/>
              <a:t>表示可 </a:t>
            </a:r>
            <a:r>
              <a:rPr lang="en-US" altLang="zh-CN" dirty="0"/>
              <a:t>0 </a:t>
            </a:r>
            <a:r>
              <a:rPr lang="zh-CN" altLang="en-US" dirty="0"/>
              <a:t>可 </a:t>
            </a:r>
            <a:r>
              <a:rPr lang="en-US" altLang="zh-CN" dirty="0"/>
              <a:t>1 </a:t>
            </a:r>
            <a:r>
              <a:rPr lang="zh-CN" altLang="en-US" dirty="0"/>
              <a:t>，对比较结果无影响。每位比较的结果是相互排斥的，即只能有一个是 </a:t>
            </a:r>
            <a:r>
              <a:rPr lang="en-US" altLang="zh-CN" dirty="0"/>
              <a:t>1 </a:t>
            </a:r>
            <a:r>
              <a:rPr lang="zh-CN" altLang="en-US" dirty="0"/>
              <a:t>，不可能两个或三个同时为 </a:t>
            </a:r>
            <a:r>
              <a:rPr lang="en-US" altLang="zh-CN" dirty="0"/>
              <a:t>1</a:t>
            </a:r>
            <a:endParaRPr lang="zh-CN" altLang="zh-CN" dirty="0"/>
          </a:p>
        </p:txBody>
      </p:sp>
      <p:sp>
        <p:nvSpPr>
          <p:cNvPr id="44646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2"/>
          <p:cNvSpPr>
            <a:spLocks noGrp="1" noChangeArrowheads="1"/>
          </p:cNvSpPr>
          <p:nvPr>
            <p:ph type="title"/>
          </p:nvPr>
        </p:nvSpPr>
        <p:spPr/>
        <p:txBody>
          <a:bodyPr/>
          <a:lstStyle/>
          <a:p>
            <a:endParaRPr lang="zh-CN" altLang="zh-CN"/>
          </a:p>
        </p:txBody>
      </p:sp>
      <p:sp>
        <p:nvSpPr>
          <p:cNvPr id="447491"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178" y="1209365"/>
            <a:ext cx="8373644" cy="4439270"/>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Rectangle 2"/>
          <p:cNvSpPr>
            <a:spLocks noGrp="1" noChangeArrowheads="1"/>
          </p:cNvSpPr>
          <p:nvPr>
            <p:ph type="title"/>
          </p:nvPr>
        </p:nvSpPr>
        <p:spPr/>
        <p:txBody>
          <a:bodyPr/>
          <a:lstStyle/>
          <a:p>
            <a:r>
              <a:rPr lang="zh-CN" altLang="en-US" dirty="0"/>
              <a:t>　　</a:t>
            </a:r>
            <a:br>
              <a:rPr lang="en-US" altLang="zh-CN" dirty="0"/>
            </a:br>
            <a:r>
              <a:rPr lang="zh-CN" altLang="en-US" dirty="0"/>
              <a:t>　　由真值表可以得到如下逻辑表达式</a:t>
            </a:r>
            <a:r>
              <a:rPr lang="en-US" altLang="zh-CN" dirty="0"/>
              <a:t>:</a:t>
            </a:r>
            <a:endParaRPr lang="zh-CN" altLang="zh-CN" dirty="0"/>
          </a:p>
        </p:txBody>
      </p:sp>
      <p:sp>
        <p:nvSpPr>
          <p:cNvPr id="448515"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616" y="1988840"/>
            <a:ext cx="7058203" cy="1805242"/>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Rectangle 2"/>
          <p:cNvSpPr>
            <a:spLocks noGrp="1" noChangeArrowheads="1"/>
          </p:cNvSpPr>
          <p:nvPr>
            <p:ph type="title"/>
          </p:nvPr>
        </p:nvSpPr>
        <p:spPr>
          <a:xfrm>
            <a:off x="539552" y="260648"/>
            <a:ext cx="8115300" cy="5638800"/>
          </a:xfrm>
        </p:spPr>
        <p:txBody>
          <a:bodyPr/>
          <a:lstStyle/>
          <a:p>
            <a:br>
              <a:rPr lang="en-US" altLang="zh-CN" dirty="0"/>
            </a:br>
            <a:r>
              <a:rPr lang="zh-CN" altLang="en-US" dirty="0"/>
              <a:t>　　图 </a:t>
            </a:r>
            <a:r>
              <a:rPr lang="en-US" altLang="zh-CN" dirty="0"/>
              <a:t>3</a:t>
            </a:r>
            <a:r>
              <a:rPr lang="zh-CN" altLang="en-US" dirty="0"/>
              <a:t>－</a:t>
            </a:r>
            <a:r>
              <a:rPr lang="en-US" altLang="zh-CN" dirty="0"/>
              <a:t>28 </a:t>
            </a:r>
            <a:r>
              <a:rPr lang="zh-CN" altLang="en-US" dirty="0"/>
              <a:t>所示是四位比较器的逻辑图。</a:t>
            </a:r>
            <a:endParaRPr lang="zh-CN" altLang="zh-CN" dirty="0"/>
          </a:p>
        </p:txBody>
      </p:sp>
      <p:sp>
        <p:nvSpPr>
          <p:cNvPr id="449539" name="Rectangle 3"/>
          <p:cNvSpPr>
            <a:spLocks noGrp="1" noChangeArrowheads="1"/>
          </p:cNvSpPr>
          <p:nvPr>
            <p:ph type="body" idx="1"/>
          </p:nvPr>
        </p:nvSpPr>
        <p:spPr/>
        <p:txBody>
          <a:bodyPr/>
          <a:lstStyle/>
          <a:p>
            <a:r>
              <a:rPr lang="zh-CN" altLang="en-US" dirty="0"/>
              <a:t>图 </a:t>
            </a:r>
            <a:r>
              <a:rPr lang="en-US" altLang="zh-CN" dirty="0"/>
              <a:t>3</a:t>
            </a:r>
            <a:r>
              <a:rPr lang="zh-CN" altLang="en-US" dirty="0"/>
              <a:t>－</a:t>
            </a:r>
            <a:r>
              <a:rPr lang="en-US" altLang="zh-CN" dirty="0"/>
              <a:t>28  </a:t>
            </a:r>
            <a:r>
              <a:rPr lang="zh-CN" altLang="en-US" dirty="0"/>
              <a:t>四位比较器的逻辑图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600" y="1244774"/>
            <a:ext cx="7430824" cy="4589147"/>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2" name="Rectangle 2"/>
          <p:cNvSpPr>
            <a:spLocks noGrp="1" noChangeArrowheads="1"/>
          </p:cNvSpPr>
          <p:nvPr>
            <p:ph type="title"/>
          </p:nvPr>
        </p:nvSpPr>
        <p:spPr/>
        <p:txBody>
          <a:bodyPr/>
          <a:lstStyle/>
          <a:p>
            <a:br>
              <a:rPr lang="en-US" altLang="zh-CN" dirty="0"/>
            </a:br>
            <a:r>
              <a:rPr lang="zh-CN" altLang="en-US" dirty="0"/>
              <a:t>　　从四位比较器的结果可以推广出 </a:t>
            </a:r>
            <a:r>
              <a:rPr lang="en-US" altLang="zh-CN" i="1" dirty="0"/>
              <a:t>n</a:t>
            </a:r>
            <a:r>
              <a:rPr lang="en-US" altLang="zh-CN" dirty="0"/>
              <a:t> </a:t>
            </a:r>
            <a:r>
              <a:rPr lang="zh-CN" altLang="en-US" dirty="0"/>
              <a:t>位比较器的逻辑表达式如下</a:t>
            </a:r>
            <a:r>
              <a:rPr lang="en-US" altLang="zh-CN" dirty="0"/>
              <a:t>:</a:t>
            </a:r>
            <a:endParaRPr lang="zh-CN" altLang="zh-CN" dirty="0"/>
          </a:p>
        </p:txBody>
      </p:sp>
      <p:sp>
        <p:nvSpPr>
          <p:cNvPr id="450563"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536" y="2492896"/>
            <a:ext cx="8418202" cy="1203865"/>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屏幕剪辑">
            <a:extLst>
              <a:ext uri="{FF2B5EF4-FFF2-40B4-BE49-F238E27FC236}">
                <a16:creationId xmlns:a16="http://schemas.microsoft.com/office/drawing/2014/main" id="{EE1E71FE-7B31-465C-93B8-B709009809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5696" y="2838073"/>
            <a:ext cx="5904656" cy="3550151"/>
          </a:xfrm>
          <a:prstGeom prst="rect">
            <a:avLst/>
          </a:prstGeom>
        </p:spPr>
      </p:pic>
      <p:sp>
        <p:nvSpPr>
          <p:cNvPr id="451586" name="Rectangle 2"/>
          <p:cNvSpPr>
            <a:spLocks noGrp="1" noChangeArrowheads="1"/>
          </p:cNvSpPr>
          <p:nvPr>
            <p:ph type="title"/>
          </p:nvPr>
        </p:nvSpPr>
        <p:spPr>
          <a:xfrm>
            <a:off x="539552" y="404664"/>
            <a:ext cx="8115300" cy="5638800"/>
          </a:xfrm>
        </p:spPr>
        <p:txBody>
          <a:bodyPr/>
          <a:lstStyle/>
          <a:p>
            <a:br>
              <a:rPr lang="en-US" altLang="zh-CN" dirty="0"/>
            </a:br>
            <a:r>
              <a:rPr lang="zh-CN" altLang="en-US" dirty="0"/>
              <a:t>　　</a:t>
            </a:r>
            <a:r>
              <a:rPr lang="zh-CN" altLang="en-US" b="1" dirty="0"/>
              <a:t> </a:t>
            </a:r>
            <a:r>
              <a:rPr lang="en-US" altLang="zh-CN" b="1" dirty="0"/>
              <a:t>3.MSI7485 </a:t>
            </a:r>
            <a:r>
              <a:rPr lang="zh-CN" altLang="en-US" b="1" dirty="0"/>
              <a:t>比较器及应用</a:t>
            </a:r>
            <a:br>
              <a:rPr lang="zh-CN" altLang="en-US" b="1" dirty="0"/>
            </a:br>
            <a:r>
              <a:rPr lang="zh-CN" altLang="en-US" b="1" dirty="0"/>
              <a:t>　　</a:t>
            </a:r>
            <a:r>
              <a:rPr lang="en-US" altLang="zh-CN" dirty="0"/>
              <a:t>MSI7485 </a:t>
            </a:r>
            <a:r>
              <a:rPr lang="zh-CN" altLang="en-US" dirty="0"/>
              <a:t>是四位比较器，其引脚图和逻辑符号如图</a:t>
            </a:r>
            <a:r>
              <a:rPr lang="en-US" altLang="zh-CN" dirty="0"/>
              <a:t>3</a:t>
            </a:r>
            <a:r>
              <a:rPr lang="zh-CN" altLang="en-US" dirty="0"/>
              <a:t>－</a:t>
            </a:r>
            <a:r>
              <a:rPr lang="en-US" altLang="zh-CN" dirty="0"/>
              <a:t>29 </a:t>
            </a:r>
            <a:r>
              <a:rPr lang="zh-CN" altLang="en-US" dirty="0"/>
              <a:t>所示，真值表如表 </a:t>
            </a:r>
            <a:r>
              <a:rPr lang="en-US" altLang="zh-CN" dirty="0"/>
              <a:t>3</a:t>
            </a:r>
            <a:r>
              <a:rPr lang="zh-CN" altLang="en-US" dirty="0"/>
              <a:t>－</a:t>
            </a:r>
            <a:r>
              <a:rPr lang="en-US" altLang="zh-CN" dirty="0"/>
              <a:t>15</a:t>
            </a:r>
            <a:r>
              <a:rPr lang="zh-CN" altLang="en-US" dirty="0"/>
              <a:t>所示。 </a:t>
            </a:r>
            <a:r>
              <a:rPr lang="en-US" altLang="zh-CN" dirty="0"/>
              <a:t>a&gt;b </a:t>
            </a:r>
            <a:r>
              <a:rPr lang="zh-CN" altLang="en-US" dirty="0"/>
              <a:t>、 </a:t>
            </a:r>
            <a:r>
              <a:rPr lang="en-US" altLang="zh-CN" dirty="0"/>
              <a:t>a=b </a:t>
            </a:r>
            <a:r>
              <a:rPr lang="zh-CN" altLang="en-US" dirty="0"/>
              <a:t>、 </a:t>
            </a:r>
            <a:r>
              <a:rPr lang="en-US" altLang="zh-CN" dirty="0"/>
              <a:t>a&lt;b </a:t>
            </a:r>
            <a:r>
              <a:rPr lang="zh-CN" altLang="en-US" dirty="0"/>
              <a:t>是为了在用 </a:t>
            </a:r>
            <a:r>
              <a:rPr lang="en-US" altLang="zh-CN" dirty="0"/>
              <a:t>7485 </a:t>
            </a:r>
            <a:r>
              <a:rPr lang="zh-CN" altLang="en-US" dirty="0"/>
              <a:t>扩展构造四位以上的比较器时，输入低位的比较</a:t>
            </a:r>
            <a:br>
              <a:rPr lang="zh-CN" altLang="en-US" dirty="0"/>
            </a:br>
            <a:r>
              <a:rPr lang="zh-CN" altLang="en-US" dirty="0"/>
              <a:t>结果而设的三个级联输入端。</a:t>
            </a:r>
            <a:endParaRPr lang="zh-CN" altLang="zh-CN" dirty="0"/>
          </a:p>
        </p:txBody>
      </p:sp>
      <p:sp>
        <p:nvSpPr>
          <p:cNvPr id="4" name="Rectangle 3">
            <a:extLst>
              <a:ext uri="{FF2B5EF4-FFF2-40B4-BE49-F238E27FC236}">
                <a16:creationId xmlns:a16="http://schemas.microsoft.com/office/drawing/2014/main" id="{8D1B84BB-8A7F-41FA-839F-2CD8DD4C8774}"/>
              </a:ext>
            </a:extLst>
          </p:cNvPr>
          <p:cNvSpPr txBox="1">
            <a:spLocks noChangeArrowheads="1"/>
          </p:cNvSpPr>
          <p:nvPr/>
        </p:nvSpPr>
        <p:spPr bwMode="auto">
          <a:xfrm>
            <a:off x="0" y="5949280"/>
            <a:ext cx="9144000" cy="438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ctr" rtl="0" fontAlgn="base">
              <a:lnSpc>
                <a:spcPct val="130000"/>
              </a:lnSpc>
              <a:spcBef>
                <a:spcPct val="20000"/>
              </a:spcBef>
              <a:spcAft>
                <a:spcPct val="0"/>
              </a:spcAft>
              <a:defRPr kumimoji="1" sz="2000">
                <a:solidFill>
                  <a:schemeClr val="tx1"/>
                </a:solidFill>
                <a:latin typeface="+mn-lt"/>
                <a:ea typeface="+mn-ea"/>
                <a:cs typeface="+mn-cs"/>
              </a:defRPr>
            </a:lvl1pPr>
            <a:lvl2pPr marL="742950" indent="-285750" algn="l" rtl="0" fontAlgn="base">
              <a:lnSpc>
                <a:spcPct val="130000"/>
              </a:lnSpc>
              <a:spcBef>
                <a:spcPct val="20000"/>
              </a:spcBef>
              <a:spcAft>
                <a:spcPct val="0"/>
              </a:spcAft>
              <a:defRPr kumimoji="1" sz="2400">
                <a:solidFill>
                  <a:schemeClr val="tx1"/>
                </a:solidFill>
                <a:latin typeface="+mn-lt"/>
                <a:ea typeface="+mn-ea"/>
              </a:defRPr>
            </a:lvl2pPr>
            <a:lvl3pPr marL="1143000" indent="-228600" algn="l" rtl="0" fontAlgn="base">
              <a:lnSpc>
                <a:spcPct val="130000"/>
              </a:lnSpc>
              <a:spcBef>
                <a:spcPct val="20000"/>
              </a:spcBef>
              <a:spcAft>
                <a:spcPct val="0"/>
              </a:spcAft>
              <a:defRPr kumimoji="1" sz="2400">
                <a:solidFill>
                  <a:schemeClr val="tx1"/>
                </a:solidFill>
                <a:latin typeface="+mn-lt"/>
                <a:ea typeface="+mn-ea"/>
              </a:defRPr>
            </a:lvl3pPr>
            <a:lvl4pPr marL="1600200" indent="-228600" algn="l" rtl="0" fontAlgn="base">
              <a:lnSpc>
                <a:spcPct val="130000"/>
              </a:lnSpc>
              <a:spcBef>
                <a:spcPct val="20000"/>
              </a:spcBef>
              <a:spcAft>
                <a:spcPct val="0"/>
              </a:spcAft>
              <a:defRPr kumimoji="1" sz="2400">
                <a:solidFill>
                  <a:schemeClr val="tx1"/>
                </a:solidFill>
                <a:latin typeface="+mn-lt"/>
                <a:ea typeface="+mn-ea"/>
              </a:defRPr>
            </a:lvl4pPr>
            <a:lvl5pPr marL="2057400" indent="-228600" algn="l" rtl="0" fontAlgn="base">
              <a:lnSpc>
                <a:spcPct val="130000"/>
              </a:lnSpc>
              <a:spcBef>
                <a:spcPct val="20000"/>
              </a:spcBef>
              <a:spcAft>
                <a:spcPct val="0"/>
              </a:spcAft>
              <a:defRPr kumimoji="1" sz="2400">
                <a:solidFill>
                  <a:schemeClr val="tx1"/>
                </a:solidFill>
                <a:latin typeface="+mn-lt"/>
                <a:ea typeface="+mn-ea"/>
              </a:defRPr>
            </a:lvl5pPr>
            <a:lvl6pPr marL="2514600" indent="-228600" algn="l" rtl="0" fontAlgn="base">
              <a:lnSpc>
                <a:spcPct val="130000"/>
              </a:lnSpc>
              <a:spcBef>
                <a:spcPct val="20000"/>
              </a:spcBef>
              <a:spcAft>
                <a:spcPct val="0"/>
              </a:spcAft>
              <a:defRPr kumimoji="1" sz="2400">
                <a:solidFill>
                  <a:schemeClr val="tx1"/>
                </a:solidFill>
                <a:latin typeface="+mn-lt"/>
                <a:ea typeface="+mn-ea"/>
              </a:defRPr>
            </a:lvl6pPr>
            <a:lvl7pPr marL="2971800" indent="-228600" algn="l" rtl="0" fontAlgn="base">
              <a:lnSpc>
                <a:spcPct val="130000"/>
              </a:lnSpc>
              <a:spcBef>
                <a:spcPct val="20000"/>
              </a:spcBef>
              <a:spcAft>
                <a:spcPct val="0"/>
              </a:spcAft>
              <a:defRPr kumimoji="1" sz="2400">
                <a:solidFill>
                  <a:schemeClr val="tx1"/>
                </a:solidFill>
                <a:latin typeface="+mn-lt"/>
                <a:ea typeface="+mn-ea"/>
              </a:defRPr>
            </a:lvl7pPr>
            <a:lvl8pPr marL="3429000" indent="-228600" algn="l" rtl="0" fontAlgn="base">
              <a:lnSpc>
                <a:spcPct val="130000"/>
              </a:lnSpc>
              <a:spcBef>
                <a:spcPct val="20000"/>
              </a:spcBef>
              <a:spcAft>
                <a:spcPct val="0"/>
              </a:spcAft>
              <a:defRPr kumimoji="1" sz="2400">
                <a:solidFill>
                  <a:schemeClr val="tx1"/>
                </a:solidFill>
                <a:latin typeface="+mn-lt"/>
                <a:ea typeface="+mn-ea"/>
              </a:defRPr>
            </a:lvl8pPr>
            <a:lvl9pPr marL="3886200" indent="-228600" algn="l" rtl="0" fontAlgn="base">
              <a:lnSpc>
                <a:spcPct val="130000"/>
              </a:lnSpc>
              <a:spcBef>
                <a:spcPct val="20000"/>
              </a:spcBef>
              <a:spcAft>
                <a:spcPct val="0"/>
              </a:spcAft>
              <a:defRPr kumimoji="1" sz="2400">
                <a:solidFill>
                  <a:schemeClr val="tx1"/>
                </a:solidFill>
                <a:latin typeface="+mn-lt"/>
                <a:ea typeface="+mn-ea"/>
              </a:defRPr>
            </a:lvl9pPr>
          </a:lstStyle>
          <a:p>
            <a:r>
              <a:rPr lang="zh-CN" altLang="en-US" kern="0" dirty="0"/>
              <a:t>图 </a:t>
            </a:r>
            <a:r>
              <a:rPr lang="en-US" altLang="zh-CN" kern="0" dirty="0"/>
              <a:t>3</a:t>
            </a:r>
            <a:r>
              <a:rPr lang="zh-CN" altLang="en-US" kern="0" dirty="0"/>
              <a:t>－</a:t>
            </a:r>
            <a:r>
              <a:rPr lang="en-US" altLang="zh-CN" kern="0" dirty="0"/>
              <a:t>29 7485 </a:t>
            </a:r>
            <a:r>
              <a:rPr lang="zh-CN" altLang="en-US" kern="0" dirty="0"/>
              <a:t>比较器的引脚图和逻辑符号</a:t>
            </a:r>
          </a:p>
          <a:p>
            <a:r>
              <a:rPr lang="en-US" altLang="zh-CN" kern="0" dirty="0"/>
              <a:t>(a )</a:t>
            </a:r>
            <a:r>
              <a:rPr lang="zh-CN" altLang="en-US" kern="0" dirty="0"/>
              <a:t>引脚图</a:t>
            </a:r>
            <a:r>
              <a:rPr lang="en-US" altLang="zh-CN" kern="0" dirty="0"/>
              <a:t>;( b )</a:t>
            </a:r>
            <a:r>
              <a:rPr lang="zh-CN" altLang="en-US" kern="0" dirty="0"/>
              <a:t>逻辑符号</a:t>
            </a:r>
            <a:endParaRPr lang="zh-CN" altLang="zh-CN" kern="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p:cNvSpPr>
            <a:spLocks noGrp="1" noChangeArrowheads="1"/>
          </p:cNvSpPr>
          <p:nvPr>
            <p:ph type="title"/>
          </p:nvPr>
        </p:nvSpPr>
        <p:spPr>
          <a:xfrm>
            <a:off x="539552" y="404664"/>
            <a:ext cx="8115300" cy="5638800"/>
          </a:xfrm>
        </p:spPr>
        <p:txBody>
          <a:bodyPr/>
          <a:lstStyle/>
          <a:p>
            <a:br>
              <a:rPr lang="en-US" altLang="zh-CN" dirty="0"/>
            </a:br>
            <a:r>
              <a:rPr lang="zh-CN" altLang="en-US" dirty="0"/>
              <a:t>　　</a:t>
            </a:r>
            <a:r>
              <a:rPr lang="zh-CN" altLang="en-US" b="1" dirty="0"/>
              <a:t> </a:t>
            </a:r>
            <a:r>
              <a:rPr lang="en-US" altLang="zh-CN" b="1" dirty="0"/>
              <a:t>3.MSI7485 </a:t>
            </a:r>
            <a:r>
              <a:rPr lang="zh-CN" altLang="en-US" b="1" dirty="0"/>
              <a:t>比较器及应用</a:t>
            </a:r>
            <a:br>
              <a:rPr lang="zh-CN" altLang="en-US" b="1" dirty="0"/>
            </a:br>
            <a:r>
              <a:rPr lang="zh-CN" altLang="en-US" b="1" dirty="0"/>
              <a:t>　   </a:t>
            </a:r>
            <a:r>
              <a:rPr lang="zh-CN" altLang="en-US" dirty="0"/>
              <a:t>由真值表可以看出，只要两数高位不等，就可以确定两数的大小，以下各位</a:t>
            </a:r>
            <a:r>
              <a:rPr lang="en-US" altLang="zh-CN" dirty="0"/>
              <a:t>(</a:t>
            </a:r>
            <a:r>
              <a:rPr lang="zh-CN" altLang="en-US" dirty="0"/>
              <a:t>包括级联输入</a:t>
            </a:r>
            <a:r>
              <a:rPr lang="en-US" altLang="zh-CN" dirty="0"/>
              <a:t>)</a:t>
            </a:r>
            <a:r>
              <a:rPr lang="zh-CN" altLang="en-US" dirty="0"/>
              <a:t>可以为任意值</a:t>
            </a:r>
            <a:r>
              <a:rPr lang="en-US" altLang="zh-CN" dirty="0"/>
              <a:t>;</a:t>
            </a:r>
            <a:r>
              <a:rPr lang="zh-CN" altLang="en-US" dirty="0"/>
              <a:t>高位相等时，需要比较低位。本级两个四位数相等时，需要比较低级位，此时要将低级的比较输出端接到高级的级联输入端上。最低一级比较器的 </a:t>
            </a:r>
            <a:r>
              <a:rPr lang="en-US" altLang="zh-CN" dirty="0"/>
              <a:t>a&gt;b </a:t>
            </a:r>
            <a:r>
              <a:rPr lang="zh-CN" altLang="en-US" dirty="0"/>
              <a:t>、 </a:t>
            </a:r>
            <a:r>
              <a:rPr lang="en-US" altLang="zh-CN" dirty="0"/>
              <a:t>a=b </a:t>
            </a:r>
            <a:r>
              <a:rPr lang="zh-CN" altLang="en-US" dirty="0"/>
              <a:t>、 </a:t>
            </a:r>
            <a:r>
              <a:rPr lang="en-US" altLang="zh-CN" dirty="0"/>
              <a:t>a&lt;b </a:t>
            </a:r>
            <a:r>
              <a:rPr lang="zh-CN" altLang="en-US" dirty="0"/>
              <a:t>级联输入端必须分别接 </a:t>
            </a:r>
            <a:r>
              <a:rPr lang="en-US" altLang="zh-CN" dirty="0"/>
              <a:t>0 </a:t>
            </a:r>
            <a:r>
              <a:rPr lang="zh-CN" altLang="en-US" dirty="0"/>
              <a:t>、 </a:t>
            </a:r>
            <a:r>
              <a:rPr lang="en-US" altLang="zh-CN" dirty="0"/>
              <a:t>1 </a:t>
            </a:r>
            <a:r>
              <a:rPr lang="zh-CN" altLang="en-US" dirty="0"/>
              <a:t>、 </a:t>
            </a:r>
            <a:r>
              <a:rPr lang="en-US" altLang="zh-CN" dirty="0"/>
              <a:t>0 </a:t>
            </a:r>
            <a:r>
              <a:rPr lang="zh-CN" altLang="en-US" dirty="0"/>
              <a:t>。图 </a:t>
            </a:r>
            <a:r>
              <a:rPr lang="en-US" altLang="zh-CN" dirty="0"/>
              <a:t>3</a:t>
            </a:r>
            <a:r>
              <a:rPr lang="zh-CN" altLang="en-US" dirty="0"/>
              <a:t>－</a:t>
            </a:r>
            <a:r>
              <a:rPr lang="en-US" altLang="zh-CN" dirty="0"/>
              <a:t>30 </a:t>
            </a:r>
            <a:r>
              <a:rPr lang="zh-CN" altLang="en-US" dirty="0"/>
              <a:t>所示是用两片 </a:t>
            </a:r>
            <a:r>
              <a:rPr lang="en-US" altLang="zh-CN" dirty="0"/>
              <a:t>7485 </a:t>
            </a:r>
            <a:r>
              <a:rPr lang="zh-CN" altLang="en-US" dirty="0"/>
              <a:t>构成八位比较器的连接图。</a:t>
            </a:r>
            <a:endParaRPr lang="zh-CN" altLang="zh-CN" dirty="0"/>
          </a:p>
        </p:txBody>
      </p:sp>
    </p:spTree>
    <p:extLst>
      <p:ext uri="{BB962C8B-B14F-4D97-AF65-F5344CB8AC3E}">
        <p14:creationId xmlns:p14="http://schemas.microsoft.com/office/powerpoint/2010/main" val="349088378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Rectangle 2"/>
          <p:cNvSpPr>
            <a:spLocks noGrp="1" noChangeArrowheads="1"/>
          </p:cNvSpPr>
          <p:nvPr>
            <p:ph type="title"/>
          </p:nvPr>
        </p:nvSpPr>
        <p:spPr/>
        <p:txBody>
          <a:bodyPr/>
          <a:lstStyle/>
          <a:p>
            <a:endParaRPr lang="zh-CN" altLang="zh-CN"/>
          </a:p>
        </p:txBody>
      </p:sp>
      <p:sp>
        <p:nvSpPr>
          <p:cNvPr id="453635"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783" y="623496"/>
            <a:ext cx="8840434" cy="5611008"/>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p:cNvSpPr>
            <a:spLocks noGrp="1" noChangeArrowheads="1"/>
          </p:cNvSpPr>
          <p:nvPr>
            <p:ph type="title"/>
          </p:nvPr>
        </p:nvSpPr>
        <p:spPr/>
        <p:txBody>
          <a:bodyPr/>
          <a:lstStyle/>
          <a:p>
            <a:endParaRPr lang="zh-CN" altLang="zh-CN"/>
          </a:p>
        </p:txBody>
      </p:sp>
      <p:sp>
        <p:nvSpPr>
          <p:cNvPr id="454659" name="Rectangle 3"/>
          <p:cNvSpPr>
            <a:spLocks noGrp="1" noChangeArrowheads="1"/>
          </p:cNvSpPr>
          <p:nvPr>
            <p:ph type="body" idx="1"/>
          </p:nvPr>
        </p:nvSpPr>
        <p:spPr/>
        <p:txBody>
          <a:bodyPr/>
          <a:lstStyle/>
          <a:p>
            <a:r>
              <a:rPr lang="zh-CN" altLang="en-US" dirty="0"/>
              <a:t>图 </a:t>
            </a:r>
            <a:r>
              <a:rPr lang="en-US" altLang="zh-CN" dirty="0"/>
              <a:t>3</a:t>
            </a:r>
            <a:r>
              <a:rPr lang="zh-CN" altLang="en-US" dirty="0"/>
              <a:t>－</a:t>
            </a:r>
            <a:r>
              <a:rPr lang="en-US" altLang="zh-CN" dirty="0"/>
              <a:t>30  </a:t>
            </a:r>
            <a:r>
              <a:rPr lang="zh-CN" altLang="en-US" dirty="0"/>
              <a:t>由两片 </a:t>
            </a:r>
            <a:r>
              <a:rPr lang="en-US" altLang="zh-CN" dirty="0"/>
              <a:t>7485 </a:t>
            </a:r>
            <a:r>
              <a:rPr lang="zh-CN" altLang="en-US" dirty="0"/>
              <a:t>构成的八位二进制比较器</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7664" y="1124744"/>
            <a:ext cx="6894158" cy="4096887"/>
          </a:xfrm>
          <a:prstGeom prst="rect">
            <a:avLst/>
          </a:prstGeom>
        </p:spPr>
      </p:pic>
      <p:pic>
        <p:nvPicPr>
          <p:cNvPr id="5" name="Picture 2" descr="H:\出版社\模板\课件素材\GIF动画插件1\GIF020.GIF">
            <a:hlinkClick r:id="rId3" action="ppaction://hlinksldjump"/>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8394096" y="6268790"/>
            <a:ext cx="749904" cy="5892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p:cNvSpPr>
            <a:spLocks noGrp="1" noChangeArrowheads="1"/>
          </p:cNvSpPr>
          <p:nvPr>
            <p:ph type="title"/>
          </p:nvPr>
        </p:nvSpPr>
        <p:spPr>
          <a:xfrm>
            <a:off x="571500" y="533400"/>
            <a:ext cx="8115300" cy="1023392"/>
          </a:xfrm>
        </p:spPr>
        <p:txBody>
          <a:bodyPr/>
          <a:lstStyle/>
          <a:p>
            <a:pPr algn="ctr"/>
            <a:br>
              <a:rPr lang="en-US" altLang="zh-CN" sz="2600" b="1" dirty="0"/>
            </a:br>
            <a:r>
              <a:rPr lang="en-US" altLang="zh-CN" sz="2600" b="1" dirty="0"/>
              <a:t>3. 3  </a:t>
            </a:r>
            <a:r>
              <a:rPr lang="zh-CN" altLang="en-US" sz="2600" b="1" dirty="0"/>
              <a:t>数据选择器和数据分配器</a:t>
            </a:r>
            <a:endParaRPr lang="zh-CN" altLang="zh-CN" sz="2600" b="1" dirty="0"/>
          </a:p>
        </p:txBody>
      </p:sp>
      <p:sp>
        <p:nvSpPr>
          <p:cNvPr id="455683" name="Rectangle 3"/>
          <p:cNvSpPr>
            <a:spLocks noGrp="1" noChangeArrowheads="1"/>
          </p:cNvSpPr>
          <p:nvPr>
            <p:ph type="body" idx="1"/>
          </p:nvPr>
        </p:nvSpPr>
        <p:spPr/>
        <p:txBody>
          <a:bodyPr/>
          <a:lstStyle/>
          <a:p>
            <a:endParaRPr lang="zh-CN" altLang="zh-CN"/>
          </a:p>
        </p:txBody>
      </p:sp>
      <p:sp>
        <p:nvSpPr>
          <p:cNvPr id="4" name="Rectangle 2"/>
          <p:cNvSpPr txBox="1">
            <a:spLocks noChangeArrowheads="1"/>
          </p:cNvSpPr>
          <p:nvPr/>
        </p:nvSpPr>
        <p:spPr bwMode="auto">
          <a:xfrm>
            <a:off x="720477" y="1709192"/>
            <a:ext cx="8115300" cy="4312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fontAlgn="base">
              <a:lnSpc>
                <a:spcPct val="130000"/>
              </a:lnSpc>
              <a:spcBef>
                <a:spcPct val="0"/>
              </a:spcBef>
              <a:spcAft>
                <a:spcPct val="0"/>
              </a:spcAft>
              <a:defRPr kumimoji="1" sz="2400">
                <a:solidFill>
                  <a:schemeClr val="tx2"/>
                </a:solidFill>
                <a:latin typeface="+mj-lt"/>
                <a:ea typeface="+mj-ea"/>
                <a:cs typeface="+mj-cs"/>
              </a:defRPr>
            </a:lvl1pPr>
            <a:lvl2pPr algn="l" rtl="0" fontAlgn="base">
              <a:lnSpc>
                <a:spcPct val="130000"/>
              </a:lnSpc>
              <a:spcBef>
                <a:spcPct val="0"/>
              </a:spcBef>
              <a:spcAft>
                <a:spcPct val="0"/>
              </a:spcAft>
              <a:defRPr kumimoji="1" sz="2400">
                <a:solidFill>
                  <a:schemeClr val="tx2"/>
                </a:solidFill>
                <a:latin typeface="Times New Roman" pitchFamily="18" charset="0"/>
                <a:ea typeface="宋体" charset="-122"/>
              </a:defRPr>
            </a:lvl2pPr>
            <a:lvl3pPr algn="l" rtl="0" fontAlgn="base">
              <a:lnSpc>
                <a:spcPct val="130000"/>
              </a:lnSpc>
              <a:spcBef>
                <a:spcPct val="0"/>
              </a:spcBef>
              <a:spcAft>
                <a:spcPct val="0"/>
              </a:spcAft>
              <a:defRPr kumimoji="1" sz="2400">
                <a:solidFill>
                  <a:schemeClr val="tx2"/>
                </a:solidFill>
                <a:latin typeface="Times New Roman" pitchFamily="18" charset="0"/>
                <a:ea typeface="宋体" charset="-122"/>
              </a:defRPr>
            </a:lvl3pPr>
            <a:lvl4pPr algn="l" rtl="0" fontAlgn="base">
              <a:lnSpc>
                <a:spcPct val="130000"/>
              </a:lnSpc>
              <a:spcBef>
                <a:spcPct val="0"/>
              </a:spcBef>
              <a:spcAft>
                <a:spcPct val="0"/>
              </a:spcAft>
              <a:defRPr kumimoji="1" sz="2400">
                <a:solidFill>
                  <a:schemeClr val="tx2"/>
                </a:solidFill>
                <a:latin typeface="Times New Roman" pitchFamily="18" charset="0"/>
                <a:ea typeface="宋体" charset="-122"/>
              </a:defRPr>
            </a:lvl4pPr>
            <a:lvl5pPr algn="l" rtl="0" fontAlgn="base">
              <a:lnSpc>
                <a:spcPct val="130000"/>
              </a:lnSpc>
              <a:spcBef>
                <a:spcPct val="0"/>
              </a:spcBef>
              <a:spcAft>
                <a:spcPct val="0"/>
              </a:spcAft>
              <a:defRPr kumimoji="1" sz="2400">
                <a:solidFill>
                  <a:schemeClr val="tx2"/>
                </a:solidFill>
                <a:latin typeface="Times New Roman" pitchFamily="18" charset="0"/>
                <a:ea typeface="宋体" charset="-122"/>
              </a:defRPr>
            </a:lvl5pPr>
            <a:lvl6pPr marL="457200" algn="l" rtl="0" fontAlgn="base">
              <a:lnSpc>
                <a:spcPct val="130000"/>
              </a:lnSpc>
              <a:spcBef>
                <a:spcPct val="0"/>
              </a:spcBef>
              <a:spcAft>
                <a:spcPct val="0"/>
              </a:spcAft>
              <a:defRPr kumimoji="1" sz="2400">
                <a:solidFill>
                  <a:schemeClr val="tx2"/>
                </a:solidFill>
                <a:latin typeface="Times New Roman" pitchFamily="18" charset="0"/>
                <a:ea typeface="宋体" charset="-122"/>
              </a:defRPr>
            </a:lvl6pPr>
            <a:lvl7pPr marL="914400" algn="l" rtl="0" fontAlgn="base">
              <a:lnSpc>
                <a:spcPct val="130000"/>
              </a:lnSpc>
              <a:spcBef>
                <a:spcPct val="0"/>
              </a:spcBef>
              <a:spcAft>
                <a:spcPct val="0"/>
              </a:spcAft>
              <a:defRPr kumimoji="1" sz="2400">
                <a:solidFill>
                  <a:schemeClr val="tx2"/>
                </a:solidFill>
                <a:latin typeface="Times New Roman" pitchFamily="18" charset="0"/>
                <a:ea typeface="宋体" charset="-122"/>
              </a:defRPr>
            </a:lvl7pPr>
            <a:lvl8pPr marL="1371600" algn="l" rtl="0" fontAlgn="base">
              <a:lnSpc>
                <a:spcPct val="130000"/>
              </a:lnSpc>
              <a:spcBef>
                <a:spcPct val="0"/>
              </a:spcBef>
              <a:spcAft>
                <a:spcPct val="0"/>
              </a:spcAft>
              <a:defRPr kumimoji="1" sz="2400">
                <a:solidFill>
                  <a:schemeClr val="tx2"/>
                </a:solidFill>
                <a:latin typeface="Times New Roman" pitchFamily="18" charset="0"/>
                <a:ea typeface="宋体" charset="-122"/>
              </a:defRPr>
            </a:lvl8pPr>
            <a:lvl9pPr marL="1828800" algn="l" rtl="0" fontAlgn="base">
              <a:lnSpc>
                <a:spcPct val="130000"/>
              </a:lnSpc>
              <a:spcBef>
                <a:spcPct val="0"/>
              </a:spcBef>
              <a:spcAft>
                <a:spcPct val="0"/>
              </a:spcAft>
              <a:defRPr kumimoji="1" sz="2400">
                <a:solidFill>
                  <a:schemeClr val="tx2"/>
                </a:solidFill>
                <a:latin typeface="Times New Roman" pitchFamily="18" charset="0"/>
                <a:ea typeface="宋体" charset="-122"/>
              </a:defRPr>
            </a:lvl9pPr>
          </a:lstStyle>
          <a:p>
            <a:br>
              <a:rPr lang="en-US" altLang="zh-CN" dirty="0"/>
            </a:br>
            <a:r>
              <a:rPr lang="en-US" altLang="zh-CN" b="1" dirty="0"/>
              <a:t>3. 3. 1  </a:t>
            </a:r>
            <a:r>
              <a:rPr lang="zh-CN" altLang="en-US" b="1" dirty="0"/>
              <a:t>数据选择器</a:t>
            </a:r>
          </a:p>
          <a:p>
            <a:r>
              <a:rPr lang="zh-CN" altLang="en-US" b="1" dirty="0"/>
              <a:t>　　</a:t>
            </a:r>
            <a:r>
              <a:rPr lang="en-US" altLang="zh-CN" b="1" dirty="0"/>
              <a:t>1. </a:t>
            </a:r>
            <a:r>
              <a:rPr lang="zh-CN" altLang="en-US" b="1" dirty="0"/>
              <a:t>数据选择器</a:t>
            </a:r>
          </a:p>
          <a:p>
            <a:r>
              <a:rPr lang="zh-CN" altLang="en-US" dirty="0"/>
              <a:t>　　能从多个数据输入中选择出其中一个进行传输的电路称为数据选择器，也称为多路选择器或多路开关。</a:t>
            </a:r>
            <a:endParaRPr lang="zh-CN" altLang="zh-CN"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Rectangle 2"/>
          <p:cNvSpPr>
            <a:spLocks noGrp="1" noChangeArrowheads="1"/>
          </p:cNvSpPr>
          <p:nvPr>
            <p:ph type="title"/>
          </p:nvPr>
        </p:nvSpPr>
        <p:spPr/>
        <p:txBody>
          <a:bodyPr/>
          <a:lstStyle/>
          <a:p>
            <a:br>
              <a:rPr lang="en-US" altLang="zh-CN" dirty="0"/>
            </a:br>
            <a:r>
              <a:rPr lang="zh-CN" altLang="en-US" dirty="0"/>
              <a:t>　　一个数据选择器具有 </a:t>
            </a:r>
            <a:r>
              <a:rPr lang="en-US" altLang="zh-CN" dirty="0"/>
              <a:t>n </a:t>
            </a:r>
            <a:r>
              <a:rPr lang="zh-CN" altLang="en-US" dirty="0"/>
              <a:t>个数据选择端，</a:t>
            </a:r>
            <a:r>
              <a:rPr lang="en-US" altLang="zh-CN" dirty="0"/>
              <a:t> 2</a:t>
            </a:r>
            <a:r>
              <a:rPr lang="en-US" altLang="zh-CN" baseline="30000" dirty="0"/>
              <a:t>n</a:t>
            </a:r>
            <a:r>
              <a:rPr lang="zh-CN" altLang="en-US" dirty="0"/>
              <a:t>个数据输入端，一个数据输出端。图 </a:t>
            </a:r>
            <a:r>
              <a:rPr lang="en-US" altLang="zh-CN" dirty="0"/>
              <a:t>3</a:t>
            </a:r>
            <a:r>
              <a:rPr lang="zh-CN" altLang="en-US" dirty="0"/>
              <a:t>－</a:t>
            </a:r>
            <a:r>
              <a:rPr lang="en-US" altLang="zh-CN" dirty="0"/>
              <a:t>31 </a:t>
            </a:r>
            <a:r>
              <a:rPr lang="zh-CN" altLang="en-US" dirty="0"/>
              <a:t>为四选一数据选择器框图，其真值表如表 </a:t>
            </a:r>
            <a:r>
              <a:rPr lang="en-US" altLang="zh-CN" dirty="0"/>
              <a:t>3</a:t>
            </a:r>
            <a:r>
              <a:rPr lang="zh-CN" altLang="en-US" dirty="0"/>
              <a:t>－</a:t>
            </a:r>
            <a:r>
              <a:rPr lang="en-US" altLang="zh-CN" dirty="0"/>
              <a:t>16 </a:t>
            </a:r>
            <a:r>
              <a:rPr lang="zh-CN" altLang="en-US" dirty="0"/>
              <a:t>所示。</a:t>
            </a:r>
            <a:br>
              <a:rPr lang="en-US" altLang="zh-CN" dirty="0"/>
            </a:br>
            <a:endParaRPr lang="zh-CN" altLang="zh-CN" dirty="0"/>
          </a:p>
        </p:txBody>
      </p:sp>
      <p:sp>
        <p:nvSpPr>
          <p:cNvPr id="45670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p:cNvSpPr>
            <a:spLocks noGrp="1" noChangeArrowheads="1"/>
          </p:cNvSpPr>
          <p:nvPr>
            <p:ph type="title"/>
          </p:nvPr>
        </p:nvSpPr>
        <p:spPr/>
        <p:txBody>
          <a:bodyPr/>
          <a:lstStyle/>
          <a:p>
            <a:endParaRPr lang="zh-CN" altLang="zh-CN"/>
          </a:p>
        </p:txBody>
      </p:sp>
      <p:sp>
        <p:nvSpPr>
          <p:cNvPr id="457731" name="Rectangle 3"/>
          <p:cNvSpPr>
            <a:spLocks noGrp="1" noChangeArrowheads="1"/>
          </p:cNvSpPr>
          <p:nvPr>
            <p:ph type="body" idx="1"/>
          </p:nvPr>
        </p:nvSpPr>
        <p:spPr/>
        <p:txBody>
          <a:bodyPr/>
          <a:lstStyle/>
          <a:p>
            <a:r>
              <a:rPr lang="zh-CN" altLang="en-US" dirty="0"/>
              <a:t>图 </a:t>
            </a:r>
            <a:r>
              <a:rPr lang="en-US" altLang="zh-CN" dirty="0"/>
              <a:t>3</a:t>
            </a:r>
            <a:r>
              <a:rPr lang="zh-CN" altLang="en-US" dirty="0"/>
              <a:t>－</a:t>
            </a:r>
            <a:r>
              <a:rPr lang="en-US" altLang="zh-CN" dirty="0"/>
              <a:t>31  </a:t>
            </a:r>
            <a:r>
              <a:rPr lang="zh-CN" altLang="en-US" dirty="0"/>
              <a:t>四选一数据选择器的框图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1760" y="1196752"/>
            <a:ext cx="4417702" cy="4217465"/>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2"/>
          <p:cNvSpPr>
            <a:spLocks noGrp="1" noChangeArrowheads="1"/>
          </p:cNvSpPr>
          <p:nvPr>
            <p:ph type="title"/>
          </p:nvPr>
        </p:nvSpPr>
        <p:spPr/>
        <p:txBody>
          <a:bodyPr/>
          <a:lstStyle/>
          <a:p>
            <a:br>
              <a:rPr lang="en-US" altLang="zh-CN" dirty="0"/>
            </a:br>
            <a:r>
              <a:rPr lang="zh-CN" altLang="en-US" dirty="0"/>
              <a:t>　　由真值表可以得到输出的逻辑表达式为</a:t>
            </a:r>
            <a:endParaRPr lang="zh-CN" altLang="zh-CN" dirty="0"/>
          </a:p>
        </p:txBody>
      </p:sp>
      <p:sp>
        <p:nvSpPr>
          <p:cNvPr id="458755"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3648" y="1791692"/>
            <a:ext cx="6226388" cy="576064"/>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4019" y="2384325"/>
            <a:ext cx="4115375" cy="3267531"/>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p:cNvSpPr>
            <a:spLocks noGrp="1" noChangeArrowheads="1"/>
          </p:cNvSpPr>
          <p:nvPr>
            <p:ph type="title"/>
          </p:nvPr>
        </p:nvSpPr>
        <p:spPr>
          <a:xfrm>
            <a:off x="514350" y="188640"/>
            <a:ext cx="8115300" cy="5638800"/>
          </a:xfrm>
        </p:spPr>
        <p:txBody>
          <a:bodyPr/>
          <a:lstStyle/>
          <a:p>
            <a:br>
              <a:rPr lang="en-US" altLang="zh-CN" dirty="0"/>
            </a:br>
            <a:r>
              <a:rPr lang="zh-CN" altLang="en-US" dirty="0"/>
              <a:t>　　根据表达式可以画出用与非门实现的逻辑图，如图 </a:t>
            </a:r>
            <a:r>
              <a:rPr lang="en-US" altLang="zh-CN" dirty="0"/>
              <a:t>3</a:t>
            </a:r>
            <a:r>
              <a:rPr lang="zh-CN" altLang="en-US" dirty="0"/>
              <a:t>－</a:t>
            </a:r>
            <a:r>
              <a:rPr lang="en-US" altLang="zh-CN" dirty="0"/>
              <a:t>32 </a:t>
            </a:r>
            <a:r>
              <a:rPr lang="zh-CN" altLang="en-US" dirty="0"/>
              <a:t>所示。</a:t>
            </a:r>
            <a:endParaRPr lang="zh-CN" altLang="zh-CN" dirty="0"/>
          </a:p>
        </p:txBody>
      </p:sp>
      <p:sp>
        <p:nvSpPr>
          <p:cNvPr id="459779" name="Rectangle 3"/>
          <p:cNvSpPr>
            <a:spLocks noGrp="1" noChangeArrowheads="1"/>
          </p:cNvSpPr>
          <p:nvPr>
            <p:ph type="body" idx="1"/>
          </p:nvPr>
        </p:nvSpPr>
        <p:spPr/>
        <p:txBody>
          <a:bodyPr/>
          <a:lstStyle/>
          <a:p>
            <a:r>
              <a:rPr lang="zh-CN" altLang="en-US" dirty="0"/>
              <a:t>图 </a:t>
            </a:r>
            <a:r>
              <a:rPr lang="en-US" altLang="zh-CN" dirty="0"/>
              <a:t>3</a:t>
            </a:r>
            <a:r>
              <a:rPr lang="zh-CN" altLang="en-US" dirty="0"/>
              <a:t>－</a:t>
            </a:r>
            <a:r>
              <a:rPr lang="en-US" altLang="zh-CN" dirty="0"/>
              <a:t>32  </a:t>
            </a:r>
            <a:r>
              <a:rPr lang="zh-CN" altLang="en-US" dirty="0"/>
              <a:t>四选一数据选择器的逻辑图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5736" y="1585655"/>
            <a:ext cx="4687520" cy="3986968"/>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Rectangle 2"/>
          <p:cNvSpPr>
            <a:spLocks noGrp="1" noChangeArrowheads="1"/>
          </p:cNvSpPr>
          <p:nvPr>
            <p:ph type="title"/>
          </p:nvPr>
        </p:nvSpPr>
        <p:spPr/>
        <p:txBody>
          <a:bodyPr/>
          <a:lstStyle/>
          <a:p>
            <a:br>
              <a:rPr lang="en-US" altLang="zh-CN" dirty="0"/>
            </a:br>
            <a:r>
              <a:rPr lang="zh-CN" altLang="en-US" dirty="0"/>
              <a:t>　　</a:t>
            </a:r>
            <a:r>
              <a:rPr lang="en-US" altLang="zh-CN" b="1" dirty="0"/>
              <a:t>2.MSI </a:t>
            </a:r>
            <a:r>
              <a:rPr lang="zh-CN" altLang="en-US" b="1" dirty="0"/>
              <a:t>八选一数据选择器 </a:t>
            </a:r>
            <a:r>
              <a:rPr lang="en-US" altLang="zh-CN" b="1" dirty="0"/>
              <a:t>74151</a:t>
            </a:r>
            <a:br>
              <a:rPr lang="en-US" altLang="zh-CN" b="1" dirty="0"/>
            </a:br>
            <a:r>
              <a:rPr lang="zh-CN" altLang="en-US" b="1" dirty="0"/>
              <a:t>　　</a:t>
            </a:r>
            <a:r>
              <a:rPr lang="en-US" altLang="zh-CN" dirty="0"/>
              <a:t>MSI74151 </a:t>
            </a:r>
            <a:r>
              <a:rPr lang="zh-CN" altLang="en-US" dirty="0"/>
              <a:t>是一个具有互补输出的八选一数据选择器，它有三个数据选择端，八个数据输入端，两个互补数据输出端，一个低电平有效的选通使能端。 </a:t>
            </a:r>
            <a:r>
              <a:rPr lang="en-US" altLang="zh-CN" dirty="0"/>
              <a:t>74151 </a:t>
            </a:r>
            <a:r>
              <a:rPr lang="zh-CN" altLang="en-US" dirty="0"/>
              <a:t>的引脚图和逻辑</a:t>
            </a:r>
            <a:br>
              <a:rPr lang="zh-CN" altLang="en-US" dirty="0"/>
            </a:br>
            <a:r>
              <a:rPr lang="zh-CN" altLang="en-US" dirty="0"/>
              <a:t>符号如图 </a:t>
            </a:r>
            <a:r>
              <a:rPr lang="en-US" altLang="zh-CN" dirty="0"/>
              <a:t>3</a:t>
            </a:r>
            <a:r>
              <a:rPr lang="zh-CN" altLang="en-US" dirty="0"/>
              <a:t>－</a:t>
            </a:r>
            <a:r>
              <a:rPr lang="en-US" altLang="zh-CN" dirty="0"/>
              <a:t>33 </a:t>
            </a:r>
            <a:r>
              <a:rPr lang="zh-CN" altLang="en-US" dirty="0"/>
              <a:t>所示。</a:t>
            </a:r>
            <a:endParaRPr lang="zh-CN" altLang="zh-CN" dirty="0"/>
          </a:p>
        </p:txBody>
      </p:sp>
      <p:sp>
        <p:nvSpPr>
          <p:cNvPr id="46080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p:txBody>
          <a:bodyPr/>
          <a:lstStyle/>
          <a:p>
            <a:endParaRPr lang="zh-CN" altLang="zh-CN"/>
          </a:p>
        </p:txBody>
      </p:sp>
      <p:sp>
        <p:nvSpPr>
          <p:cNvPr id="461827" name="Rectangle 3"/>
          <p:cNvSpPr>
            <a:spLocks noGrp="1" noChangeArrowheads="1"/>
          </p:cNvSpPr>
          <p:nvPr>
            <p:ph type="body" idx="1"/>
          </p:nvPr>
        </p:nvSpPr>
        <p:spPr>
          <a:xfrm>
            <a:off x="-31428" y="5445224"/>
            <a:ext cx="9144000" cy="438944"/>
          </a:xfrm>
        </p:spPr>
        <p:txBody>
          <a:bodyPr/>
          <a:lstStyle/>
          <a:p>
            <a:r>
              <a:rPr lang="zh-CN" altLang="en-US" dirty="0"/>
              <a:t>图 </a:t>
            </a:r>
            <a:r>
              <a:rPr lang="en-US" altLang="zh-CN" dirty="0"/>
              <a:t>3</a:t>
            </a:r>
            <a:r>
              <a:rPr lang="zh-CN" altLang="en-US" dirty="0"/>
              <a:t>－</a:t>
            </a:r>
            <a:r>
              <a:rPr lang="en-US" altLang="zh-CN" dirty="0"/>
              <a:t>33 74151 </a:t>
            </a:r>
            <a:r>
              <a:rPr lang="zh-CN" altLang="en-US" dirty="0"/>
              <a:t>的引脚图和逻辑符号</a:t>
            </a:r>
          </a:p>
          <a:p>
            <a:r>
              <a:rPr lang="en-US" altLang="zh-CN" dirty="0"/>
              <a:t>(a )</a:t>
            </a:r>
            <a:r>
              <a:rPr lang="zh-CN" altLang="en-US" dirty="0"/>
              <a:t>引脚图</a:t>
            </a:r>
            <a:r>
              <a:rPr lang="en-US" altLang="zh-CN" dirty="0"/>
              <a:t>;( b )</a:t>
            </a:r>
            <a:r>
              <a:rPr lang="zh-CN" altLang="en-US" dirty="0"/>
              <a:t>逻辑符号</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632" y="1052736"/>
            <a:ext cx="6893313" cy="4230256"/>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62850" name="Rectangle 2"/>
              <p:cNvSpPr>
                <a:spLocks noGrp="1" noChangeArrowheads="1"/>
              </p:cNvSpPr>
              <p:nvPr>
                <p:ph type="title"/>
              </p:nvPr>
            </p:nvSpPr>
            <p:spPr/>
            <p:txBody>
              <a:bodyPr/>
              <a:lstStyle/>
              <a:p>
                <a:br>
                  <a:rPr lang="en-US" altLang="zh-CN" dirty="0"/>
                </a:br>
                <a:r>
                  <a:rPr lang="zh-CN" altLang="en-US" dirty="0"/>
                  <a:t>　　</a:t>
                </a:r>
                <a:r>
                  <a:rPr lang="en-US" altLang="zh-CN" dirty="0"/>
                  <a:t>74151 </a:t>
                </a:r>
                <a:r>
                  <a:rPr lang="zh-CN" altLang="en-US" dirty="0"/>
                  <a:t>八选一数据选择器的真值表如表 </a:t>
                </a:r>
                <a:r>
                  <a:rPr lang="en-US" altLang="zh-CN" dirty="0"/>
                  <a:t>3</a:t>
                </a:r>
                <a:r>
                  <a:rPr lang="zh-CN" altLang="en-US" dirty="0"/>
                  <a:t>－</a:t>
                </a:r>
                <a:r>
                  <a:rPr lang="en-US" altLang="zh-CN" dirty="0"/>
                  <a:t>17 </a:t>
                </a:r>
                <a:r>
                  <a:rPr lang="zh-CN" altLang="en-US" dirty="0"/>
                  <a:t>所示。由真值表可以看出</a:t>
                </a:r>
                <a:r>
                  <a:rPr lang="en-US" altLang="zh-CN" dirty="0"/>
                  <a:t>:</a:t>
                </a:r>
                <a:br>
                  <a:rPr lang="en-US" altLang="zh-CN" dirty="0"/>
                </a:br>
                <a:r>
                  <a:rPr lang="zh-CN" altLang="en-US" dirty="0"/>
                  <a:t>　　</a:t>
                </a:r>
                <a:r>
                  <a:rPr lang="en-US" altLang="zh-CN" dirty="0"/>
                  <a:t>(1)</a:t>
                </a:r>
                <a:r>
                  <a:rPr lang="zh-CN" altLang="en-US" dirty="0"/>
                  <a:t>当 </a:t>
                </a:r>
                <a14:m>
                  <m:oMath xmlns:m="http://schemas.openxmlformats.org/officeDocument/2006/math">
                    <m:acc>
                      <m:accPr>
                        <m:chr m:val="̅"/>
                        <m:ctrlPr>
                          <a:rPr lang="zh-CN" altLang="en-US" i="1" smtClean="0">
                            <a:latin typeface="Cambria Math" panose="02040503050406030204" pitchFamily="18" charset="0"/>
                          </a:rPr>
                        </m:ctrlPr>
                      </m:accPr>
                      <m:e>
                        <m:r>
                          <m:rPr>
                            <m:nor/>
                          </m:rPr>
                          <a:rPr lang="en-US" altLang="zh-CN" dirty="0"/>
                          <m:t>S</m:t>
                        </m:r>
                      </m:e>
                    </m:acc>
                  </m:oMath>
                </a14:m>
                <a:r>
                  <a:rPr lang="zh-CN" altLang="en-US" dirty="0"/>
                  <a:t> </a:t>
                </a:r>
                <a:r>
                  <a:rPr lang="en-US" altLang="zh-CN" dirty="0"/>
                  <a:t>=1 </a:t>
                </a:r>
                <a:r>
                  <a:rPr lang="zh-CN" altLang="en-US" dirty="0"/>
                  <a:t>时，数据选择器被禁止，输出与输入信号及选择信号无关，此时，</a:t>
                </a:r>
                <a:r>
                  <a:rPr lang="en-US" altLang="zh-CN" dirty="0"/>
                  <a:t> Y=0 </a:t>
                </a:r>
                <a:r>
                  <a:rPr lang="zh-CN" altLang="en-US" dirty="0"/>
                  <a:t>、 </a:t>
                </a:r>
                <a14:m>
                  <m:oMath xmlns:m="http://schemas.openxmlformats.org/officeDocument/2006/math">
                    <m:acc>
                      <m:accPr>
                        <m:chr m:val="̅"/>
                        <m:ctrlPr>
                          <a:rPr lang="zh-CN" altLang="en-US" i="1">
                            <a:latin typeface="Cambria Math" panose="02040503050406030204" pitchFamily="18" charset="0"/>
                          </a:rPr>
                        </m:ctrlPr>
                      </m:accPr>
                      <m:e>
                        <m:r>
                          <m:rPr>
                            <m:nor/>
                          </m:rPr>
                          <a:rPr lang="en-US" altLang="zh-CN" dirty="0"/>
                          <m:t>Y</m:t>
                        </m:r>
                      </m:e>
                    </m:acc>
                    <m:r>
                      <a:rPr lang="zh-CN" altLang="en-US" i="1">
                        <a:latin typeface="Cambria Math"/>
                      </a:rPr>
                      <m:t> </m:t>
                    </m:r>
                  </m:oMath>
                </a14:m>
                <a:r>
                  <a:rPr lang="en-US" altLang="zh-CN" dirty="0"/>
                  <a:t>=1 </a:t>
                </a:r>
                <a:r>
                  <a:rPr lang="zh-CN" altLang="en-US" dirty="0"/>
                  <a:t>。</a:t>
                </a:r>
                <a:br>
                  <a:rPr lang="zh-CN" altLang="en-US" dirty="0"/>
                </a:br>
                <a:r>
                  <a:rPr lang="zh-CN" altLang="en-US" dirty="0"/>
                  <a:t>　　</a:t>
                </a:r>
                <a:r>
                  <a:rPr lang="en-US" altLang="zh-CN" dirty="0"/>
                  <a:t>(2)</a:t>
                </a:r>
                <a:r>
                  <a:rPr lang="zh-CN" altLang="en-US" dirty="0"/>
                  <a:t>当</a:t>
                </a:r>
                <a14:m>
                  <m:oMath xmlns:m="http://schemas.openxmlformats.org/officeDocument/2006/math">
                    <m:acc>
                      <m:accPr>
                        <m:chr m:val="̅"/>
                        <m:ctrlPr>
                          <a:rPr lang="zh-CN" altLang="en-US" i="1">
                            <a:latin typeface="Cambria Math" panose="02040503050406030204" pitchFamily="18" charset="0"/>
                          </a:rPr>
                        </m:ctrlPr>
                      </m:accPr>
                      <m:e>
                        <m:r>
                          <m:rPr>
                            <m:nor/>
                          </m:rPr>
                          <a:rPr lang="en-US" altLang="zh-CN" dirty="0"/>
                          <m:t>S</m:t>
                        </m:r>
                      </m:e>
                    </m:acc>
                  </m:oMath>
                </a14:m>
                <a:r>
                  <a:rPr lang="zh-CN" altLang="en-US" dirty="0"/>
                  <a:t>  </a:t>
                </a:r>
                <a:r>
                  <a:rPr lang="en-US" altLang="zh-CN" dirty="0"/>
                  <a:t>=0 </a:t>
                </a:r>
                <a:r>
                  <a:rPr lang="zh-CN" altLang="en-US" dirty="0"/>
                  <a:t>时，数据选择器工作，输出 </a:t>
                </a:r>
                <a:r>
                  <a:rPr lang="en-US" altLang="zh-CN" dirty="0"/>
                  <a:t>Y </a:t>
                </a:r>
                <a:r>
                  <a:rPr lang="zh-CN" altLang="en-US" dirty="0"/>
                  <a:t>的表达式为</a:t>
                </a:r>
                <a:endParaRPr lang="zh-CN" altLang="zh-CN" dirty="0"/>
              </a:p>
            </p:txBody>
          </p:sp>
        </mc:Choice>
        <mc:Fallback xmlns="">
          <p:sp>
            <p:nvSpPr>
              <p:cNvPr id="462850" name="Rectangle 2"/>
              <p:cNvSpPr>
                <a:spLocks noGrp="1" noRot="1" noChangeAspect="1" noMove="1" noResize="1" noEditPoints="1" noAdjustHandles="1" noChangeArrowheads="1" noChangeShapeType="1" noTextEdit="1"/>
              </p:cNvSpPr>
              <p:nvPr>
                <p:ph type="title"/>
              </p:nvPr>
            </p:nvSpPr>
            <p:spPr>
              <a:blipFill rotWithShape="1">
                <a:blip r:embed="rId2"/>
                <a:stretch>
                  <a:fillRect l="-1202" r="-150"/>
                </a:stretch>
              </a:blipFill>
            </p:spPr>
            <p:txBody>
              <a:bodyPr/>
              <a:lstStyle/>
              <a:p>
                <a:r>
                  <a:rPr lang="zh-CN" altLang="en-US">
                    <a:noFill/>
                  </a:rPr>
                  <a:t> </a:t>
                </a:r>
              </a:p>
            </p:txBody>
          </p:sp>
        </mc:Fallback>
      </mc:AlternateContent>
      <p:sp>
        <p:nvSpPr>
          <p:cNvPr id="462851"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600" y="3725588"/>
            <a:ext cx="6839393" cy="1010365"/>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Rectangle 2"/>
          <p:cNvSpPr>
            <a:spLocks noGrp="1" noChangeArrowheads="1"/>
          </p:cNvSpPr>
          <p:nvPr>
            <p:ph type="title"/>
          </p:nvPr>
        </p:nvSpPr>
        <p:spPr/>
        <p:txBody>
          <a:bodyPr/>
          <a:lstStyle/>
          <a:p>
            <a:endParaRPr lang="zh-CN" altLang="zh-CN"/>
          </a:p>
        </p:txBody>
      </p:sp>
      <p:sp>
        <p:nvSpPr>
          <p:cNvPr id="463875"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5890" y="1080759"/>
            <a:ext cx="6592220" cy="4696481"/>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Rectangle 2"/>
          <p:cNvSpPr>
            <a:spLocks noGrp="1" noChangeArrowheads="1"/>
          </p:cNvSpPr>
          <p:nvPr>
            <p:ph type="title"/>
          </p:nvPr>
        </p:nvSpPr>
        <p:spPr/>
        <p:txBody>
          <a:bodyPr/>
          <a:lstStyle/>
          <a:p>
            <a:br>
              <a:rPr lang="en-US" altLang="zh-CN" dirty="0"/>
            </a:br>
            <a:r>
              <a:rPr lang="zh-CN" altLang="en-US" dirty="0"/>
              <a:t>　　 </a:t>
            </a:r>
            <a:r>
              <a:rPr lang="en-US" altLang="zh-CN" b="1" dirty="0"/>
              <a:t>3. </a:t>
            </a:r>
            <a:r>
              <a:rPr lang="zh-CN" altLang="en-US" b="1" dirty="0"/>
              <a:t>用 </a:t>
            </a:r>
            <a:r>
              <a:rPr lang="en-US" altLang="zh-CN" b="1" dirty="0"/>
              <a:t>MSI </a:t>
            </a:r>
            <a:r>
              <a:rPr lang="zh-CN" altLang="en-US" b="1" dirty="0"/>
              <a:t>数据选择器实现逻辑函数</a:t>
            </a:r>
            <a:br>
              <a:rPr lang="zh-CN" altLang="en-US" b="1" dirty="0"/>
            </a:br>
            <a:r>
              <a:rPr lang="zh-CN" altLang="en-US" b="1" dirty="0"/>
              <a:t>　　</a:t>
            </a:r>
            <a:r>
              <a:rPr lang="zh-CN" altLang="en-US" dirty="0"/>
              <a:t>我们知道，逻辑函数可以写成变量最小项相或的形式，而从数据选择器的逻辑表达式可以看出，它包含了数据选择信号的所有不同的最小项，这一特点使我们可以利用数据选择器去实现逻辑函数。用数据选择器实现逻辑函数的方法有两种</a:t>
            </a:r>
            <a:r>
              <a:rPr lang="en-US" altLang="zh-CN" dirty="0"/>
              <a:t>:</a:t>
            </a:r>
            <a:r>
              <a:rPr lang="zh-CN" altLang="en-US" dirty="0"/>
              <a:t>比较法和图表法</a:t>
            </a:r>
            <a:r>
              <a:rPr lang="en-US" altLang="zh-CN" dirty="0"/>
              <a:t>(</a:t>
            </a:r>
            <a:r>
              <a:rPr lang="zh-CN" altLang="en-US" dirty="0"/>
              <a:t>真值表或卡诺图</a:t>
            </a:r>
            <a:r>
              <a:rPr lang="en-US" altLang="zh-CN" dirty="0"/>
              <a:t>)</a:t>
            </a:r>
            <a:r>
              <a:rPr lang="zh-CN" altLang="en-US" dirty="0"/>
              <a:t>。</a:t>
            </a:r>
            <a:endParaRPr lang="zh-CN" altLang="zh-CN" dirty="0"/>
          </a:p>
        </p:txBody>
      </p:sp>
      <p:sp>
        <p:nvSpPr>
          <p:cNvPr id="46489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2"/>
          <p:cNvSpPr>
            <a:spLocks noGrp="1" noChangeArrowheads="1"/>
          </p:cNvSpPr>
          <p:nvPr>
            <p:ph type="title"/>
          </p:nvPr>
        </p:nvSpPr>
        <p:spPr/>
        <p:txBody>
          <a:bodyPr/>
          <a:lstStyle/>
          <a:p>
            <a:br>
              <a:rPr lang="en-US" altLang="zh-CN" dirty="0"/>
            </a:br>
            <a:r>
              <a:rPr lang="zh-CN" altLang="en-US" dirty="0"/>
              <a:t>　　比较法的一般步骤如下</a:t>
            </a:r>
            <a:r>
              <a:rPr lang="en-US" altLang="zh-CN" dirty="0"/>
              <a:t>:</a:t>
            </a:r>
            <a:br>
              <a:rPr lang="en-US" altLang="zh-CN" dirty="0"/>
            </a:br>
            <a:r>
              <a:rPr lang="zh-CN" altLang="en-US" dirty="0"/>
              <a:t>　　</a:t>
            </a:r>
            <a:r>
              <a:rPr lang="en-US" altLang="zh-CN" dirty="0"/>
              <a:t>(1)</a:t>
            </a:r>
            <a:r>
              <a:rPr lang="zh-CN" altLang="en-US" dirty="0"/>
              <a:t>选择接到数据选择端的函数变量。</a:t>
            </a:r>
            <a:br>
              <a:rPr lang="zh-CN" altLang="en-US" dirty="0"/>
            </a:br>
            <a:r>
              <a:rPr lang="zh-CN" altLang="en-US" dirty="0"/>
              <a:t>　　</a:t>
            </a:r>
            <a:r>
              <a:rPr lang="en-US" altLang="zh-CN" dirty="0"/>
              <a:t>(2)</a:t>
            </a:r>
            <a:r>
              <a:rPr lang="zh-CN" altLang="en-US" dirty="0"/>
              <a:t>写出数据选择器输出的逻辑表达式。</a:t>
            </a:r>
            <a:br>
              <a:rPr lang="zh-CN" altLang="en-US" dirty="0"/>
            </a:br>
            <a:r>
              <a:rPr lang="zh-CN" altLang="en-US" dirty="0"/>
              <a:t>　　</a:t>
            </a:r>
            <a:r>
              <a:rPr lang="en-US" altLang="zh-CN" dirty="0"/>
              <a:t>(3)</a:t>
            </a:r>
            <a:r>
              <a:rPr lang="zh-CN" altLang="en-US" dirty="0"/>
              <a:t>将要实现的逻辑函数转换为标准与或表达式。</a:t>
            </a:r>
            <a:br>
              <a:rPr lang="zh-CN" altLang="en-US" dirty="0"/>
            </a:br>
            <a:r>
              <a:rPr lang="zh-CN" altLang="en-US" dirty="0"/>
              <a:t>　　</a:t>
            </a:r>
            <a:r>
              <a:rPr lang="en-US" altLang="zh-CN" dirty="0"/>
              <a:t>(4)</a:t>
            </a:r>
            <a:r>
              <a:rPr lang="zh-CN" altLang="en-US" dirty="0"/>
              <a:t>对照数据选择器输出表达式和待实现函数的表达式，确定数据输入端的值。</a:t>
            </a:r>
            <a:br>
              <a:rPr lang="zh-CN" altLang="en-US" dirty="0"/>
            </a:br>
            <a:r>
              <a:rPr lang="zh-CN" altLang="en-US" dirty="0"/>
              <a:t>　　</a:t>
            </a:r>
            <a:r>
              <a:rPr lang="en-US" altLang="zh-CN" dirty="0"/>
              <a:t>(5)</a:t>
            </a:r>
            <a:r>
              <a:rPr lang="zh-CN" altLang="en-US" dirty="0"/>
              <a:t>连接电路。</a:t>
            </a:r>
            <a:endParaRPr lang="zh-CN" altLang="zh-CN" dirty="0"/>
          </a:p>
        </p:txBody>
      </p:sp>
      <p:sp>
        <p:nvSpPr>
          <p:cNvPr id="46592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Rectangle 2"/>
          <p:cNvSpPr>
            <a:spLocks noGrp="1" noChangeArrowheads="1"/>
          </p:cNvSpPr>
          <p:nvPr>
            <p:ph type="title"/>
          </p:nvPr>
        </p:nvSpPr>
        <p:spPr>
          <a:xfrm>
            <a:off x="539552" y="332656"/>
            <a:ext cx="8115300" cy="5638800"/>
          </a:xfrm>
        </p:spPr>
        <p:txBody>
          <a:bodyPr/>
          <a:lstStyle/>
          <a:p>
            <a:br>
              <a:rPr lang="en-US" altLang="zh-CN" dirty="0"/>
            </a:br>
            <a:r>
              <a:rPr lang="zh-CN" altLang="en-US" dirty="0"/>
              <a:t>　　图表法的一般步骤如下</a:t>
            </a:r>
            <a:r>
              <a:rPr lang="en-US" altLang="zh-CN" dirty="0"/>
              <a:t>:</a:t>
            </a:r>
            <a:br>
              <a:rPr lang="en-US" altLang="zh-CN" dirty="0"/>
            </a:br>
            <a:r>
              <a:rPr lang="zh-CN" altLang="en-US" dirty="0"/>
              <a:t>　　</a:t>
            </a:r>
            <a:r>
              <a:rPr lang="en-US" altLang="zh-CN" dirty="0"/>
              <a:t>(1)</a:t>
            </a:r>
            <a:r>
              <a:rPr lang="zh-CN" altLang="en-US" dirty="0"/>
              <a:t>选择接到数据选择端的函数变量。</a:t>
            </a:r>
            <a:br>
              <a:rPr lang="zh-CN" altLang="en-US" dirty="0"/>
            </a:br>
            <a:r>
              <a:rPr lang="zh-CN" altLang="en-US" dirty="0"/>
              <a:t>　　</a:t>
            </a:r>
            <a:r>
              <a:rPr lang="en-US" altLang="zh-CN" dirty="0"/>
              <a:t>(2)</a:t>
            </a:r>
            <a:r>
              <a:rPr lang="zh-CN" altLang="en-US" dirty="0"/>
              <a:t>画出逻辑函数和数据选择器的真值表。</a:t>
            </a:r>
            <a:br>
              <a:rPr lang="zh-CN" altLang="en-US" dirty="0"/>
            </a:br>
            <a:r>
              <a:rPr lang="zh-CN" altLang="en-US" dirty="0"/>
              <a:t>　　</a:t>
            </a:r>
            <a:r>
              <a:rPr lang="en-US" altLang="zh-CN" dirty="0"/>
              <a:t>(3)</a:t>
            </a:r>
            <a:r>
              <a:rPr lang="zh-CN" altLang="en-US" dirty="0"/>
              <a:t>确定各个数据输入端的值。</a:t>
            </a:r>
            <a:br>
              <a:rPr lang="zh-CN" altLang="en-US" dirty="0"/>
            </a:br>
            <a:r>
              <a:rPr lang="zh-CN" altLang="en-US" dirty="0"/>
              <a:t>　　</a:t>
            </a:r>
            <a:r>
              <a:rPr lang="en-US" altLang="zh-CN" dirty="0"/>
              <a:t>(4)</a:t>
            </a:r>
            <a:r>
              <a:rPr lang="zh-CN" altLang="en-US" dirty="0"/>
              <a:t>连接电路。</a:t>
            </a:r>
            <a:br>
              <a:rPr lang="en-US" altLang="zh-CN" dirty="0"/>
            </a:br>
            <a:r>
              <a:rPr lang="zh-CN" altLang="en-US" dirty="0"/>
              <a:t>　　下面分三种情况进行讨论。</a:t>
            </a:r>
            <a:br>
              <a:rPr lang="zh-CN" altLang="en-US" dirty="0"/>
            </a:br>
            <a:r>
              <a:rPr lang="zh-CN" altLang="en-US" dirty="0"/>
              <a:t>　　</a:t>
            </a:r>
            <a:r>
              <a:rPr lang="en-US" altLang="zh-CN" dirty="0"/>
              <a:t>1 )</a:t>
            </a:r>
            <a:r>
              <a:rPr lang="zh-CN" altLang="en-US" dirty="0"/>
              <a:t>函数变量的数目 </a:t>
            </a:r>
            <a:r>
              <a:rPr lang="en-US" altLang="zh-CN" dirty="0"/>
              <a:t>m </a:t>
            </a:r>
            <a:r>
              <a:rPr lang="zh-CN" altLang="en-US" dirty="0"/>
              <a:t>等于数据选择器中数据选择端的数目 </a:t>
            </a:r>
            <a:r>
              <a:rPr lang="en-US" altLang="zh-CN" dirty="0"/>
              <a:t>n</a:t>
            </a:r>
            <a:r>
              <a:rPr lang="zh-CN" altLang="en-US" dirty="0"/>
              <a:t>在这种情况下，把变量一对一接到数据选择端，各个数据输入端依据具体函数接“</a:t>
            </a:r>
            <a:r>
              <a:rPr lang="en-US" altLang="zh-CN" dirty="0"/>
              <a:t>0 ”</a:t>
            </a:r>
            <a:r>
              <a:rPr lang="zh-CN" altLang="en-US" dirty="0"/>
              <a:t>或“</a:t>
            </a:r>
            <a:r>
              <a:rPr lang="en-US" altLang="zh-CN" dirty="0"/>
              <a:t>1 ”</a:t>
            </a:r>
            <a:r>
              <a:rPr lang="zh-CN" altLang="en-US" dirty="0"/>
              <a:t>，不需要反变量输入，也不需要任何其他器件，就可以用数据选择器实现任何一个组合逻辑函数。</a:t>
            </a:r>
            <a:endParaRPr lang="zh-CN" altLang="zh-CN"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2"/>
          <p:cNvSpPr>
            <a:spLocks noGrp="1" noChangeArrowheads="1"/>
          </p:cNvSpPr>
          <p:nvPr>
            <p:ph type="title"/>
          </p:nvPr>
        </p:nvSpPr>
        <p:spPr/>
        <p:txBody>
          <a:bodyPr/>
          <a:lstStyle/>
          <a:p>
            <a:br>
              <a:rPr lang="en-US" altLang="zh-CN" dirty="0"/>
            </a:br>
            <a:r>
              <a:rPr lang="zh-CN" altLang="en-US" dirty="0"/>
              <a:t>　　</a:t>
            </a:r>
            <a:r>
              <a:rPr lang="zh-CN" altLang="en-US" b="1" dirty="0"/>
              <a:t> </a:t>
            </a:r>
            <a:r>
              <a:rPr lang="en-US" altLang="zh-CN" b="1" dirty="0"/>
              <a:t>【</a:t>
            </a:r>
            <a:r>
              <a:rPr lang="zh-CN" altLang="en-US" b="1" dirty="0"/>
              <a:t>例 </a:t>
            </a:r>
            <a:r>
              <a:rPr lang="en-US" altLang="zh-CN" b="1" dirty="0"/>
              <a:t>3.3 】 </a:t>
            </a:r>
            <a:r>
              <a:rPr lang="zh-CN" altLang="en-US" dirty="0"/>
              <a:t>用 </a:t>
            </a:r>
            <a:r>
              <a:rPr lang="en-US" altLang="zh-CN" dirty="0"/>
              <a:t>MSI74151 </a:t>
            </a:r>
            <a:r>
              <a:rPr lang="zh-CN" altLang="en-US" dirty="0"/>
              <a:t>八选一数据选择器实现逻辑函数</a:t>
            </a:r>
            <a:r>
              <a:rPr lang="en-US" altLang="zh-CN" dirty="0"/>
              <a:t>:</a:t>
            </a:r>
            <a:br>
              <a:rPr lang="en-US" altLang="zh-CN" dirty="0"/>
            </a:br>
            <a:br>
              <a:rPr lang="en-US" altLang="zh-CN" dirty="0"/>
            </a:br>
            <a:r>
              <a:rPr lang="zh-CN" altLang="en-US" dirty="0"/>
              <a:t>　　</a:t>
            </a:r>
            <a:r>
              <a:rPr lang="zh-CN" altLang="en-US" b="1" dirty="0"/>
              <a:t>解</a:t>
            </a:r>
            <a:r>
              <a:rPr lang="zh-CN" altLang="en-US" dirty="0"/>
              <a:t> 首先选择接到数据选择端的函数变量。 </a:t>
            </a:r>
            <a:r>
              <a:rPr lang="en-US" altLang="zh-CN" dirty="0"/>
              <a:t>MSI74151 </a:t>
            </a:r>
            <a:r>
              <a:rPr lang="zh-CN" altLang="en-US" dirty="0"/>
              <a:t>八选一数据选择器有 </a:t>
            </a:r>
            <a:r>
              <a:rPr lang="en-US" altLang="zh-CN" dirty="0"/>
              <a:t>A</a:t>
            </a:r>
            <a:r>
              <a:rPr lang="en-US" altLang="zh-CN" baseline="-25000" dirty="0"/>
              <a:t>2</a:t>
            </a:r>
            <a:r>
              <a:rPr lang="en-US" altLang="zh-CN" dirty="0"/>
              <a:t> </a:t>
            </a:r>
            <a:r>
              <a:rPr lang="zh-CN" altLang="en-US" dirty="0"/>
              <a:t>、 </a:t>
            </a:r>
            <a:r>
              <a:rPr lang="en-US" altLang="zh-CN" dirty="0"/>
              <a:t>A </a:t>
            </a:r>
            <a:r>
              <a:rPr lang="en-US" altLang="zh-CN" baseline="-25000" dirty="0"/>
              <a:t>1</a:t>
            </a:r>
            <a:r>
              <a:rPr lang="en-US" altLang="zh-CN" dirty="0"/>
              <a:t> </a:t>
            </a:r>
            <a:r>
              <a:rPr lang="zh-CN" altLang="en-US" dirty="0"/>
              <a:t>、</a:t>
            </a:r>
            <a:r>
              <a:rPr lang="en-US" altLang="zh-CN" dirty="0"/>
              <a:t>A </a:t>
            </a:r>
            <a:r>
              <a:rPr lang="en-US" altLang="zh-CN" baseline="-25000" dirty="0"/>
              <a:t>0</a:t>
            </a:r>
            <a:r>
              <a:rPr lang="en-US" altLang="zh-CN" dirty="0"/>
              <a:t> </a:t>
            </a:r>
            <a:r>
              <a:rPr lang="zh-CN" altLang="en-US" dirty="0"/>
              <a:t>三个数据选择端，函数 </a:t>
            </a:r>
            <a:r>
              <a:rPr lang="en-US" altLang="zh-CN" dirty="0"/>
              <a:t>F </a:t>
            </a:r>
            <a:r>
              <a:rPr lang="zh-CN" altLang="en-US" dirty="0"/>
              <a:t>有 </a:t>
            </a:r>
            <a:r>
              <a:rPr lang="en-US" altLang="zh-CN" dirty="0"/>
              <a:t>A </a:t>
            </a:r>
            <a:r>
              <a:rPr lang="zh-CN" altLang="en-US" dirty="0"/>
              <a:t>、 </a:t>
            </a:r>
            <a:r>
              <a:rPr lang="en-US" altLang="zh-CN" dirty="0"/>
              <a:t>B </a:t>
            </a:r>
            <a:r>
              <a:rPr lang="zh-CN" altLang="en-US" dirty="0"/>
              <a:t>、 </a:t>
            </a:r>
            <a:r>
              <a:rPr lang="en-US" altLang="zh-CN" dirty="0"/>
              <a:t>C </a:t>
            </a:r>
            <a:r>
              <a:rPr lang="zh-CN" altLang="en-US" dirty="0"/>
              <a:t>三个变量，它们可以一对一连接。连接方法有多种，现让 </a:t>
            </a:r>
            <a:r>
              <a:rPr lang="en-US" altLang="zh-CN" dirty="0"/>
              <a:t>A</a:t>
            </a:r>
            <a:r>
              <a:rPr lang="en-US" altLang="zh-CN" baseline="-25000" dirty="0"/>
              <a:t>2</a:t>
            </a:r>
            <a:r>
              <a:rPr lang="en-US" altLang="zh-CN" dirty="0"/>
              <a:t> </a:t>
            </a:r>
            <a:r>
              <a:rPr lang="zh-CN" altLang="en-US" dirty="0"/>
              <a:t>接变量 </a:t>
            </a:r>
            <a:r>
              <a:rPr lang="en-US" altLang="zh-CN" dirty="0"/>
              <a:t>A </a:t>
            </a:r>
            <a:r>
              <a:rPr lang="zh-CN" altLang="en-US" dirty="0"/>
              <a:t>，</a:t>
            </a:r>
            <a:r>
              <a:rPr lang="en-US" altLang="zh-CN" dirty="0"/>
              <a:t> A </a:t>
            </a:r>
            <a:r>
              <a:rPr lang="en-US" altLang="zh-CN" baseline="-25000" dirty="0"/>
              <a:t>1</a:t>
            </a:r>
            <a:r>
              <a:rPr lang="en-US" altLang="zh-CN" dirty="0"/>
              <a:t> </a:t>
            </a:r>
            <a:r>
              <a:rPr lang="zh-CN" altLang="en-US" dirty="0"/>
              <a:t>接变量 </a:t>
            </a:r>
            <a:r>
              <a:rPr lang="en-US" altLang="zh-CN" dirty="0"/>
              <a:t>B </a:t>
            </a:r>
            <a:r>
              <a:rPr lang="zh-CN" altLang="en-US" dirty="0"/>
              <a:t>，</a:t>
            </a:r>
            <a:r>
              <a:rPr lang="en-US" altLang="zh-CN" dirty="0"/>
              <a:t> A </a:t>
            </a:r>
            <a:r>
              <a:rPr lang="en-US" altLang="zh-CN" baseline="-25000" dirty="0"/>
              <a:t>0</a:t>
            </a:r>
            <a:r>
              <a:rPr lang="en-US" altLang="zh-CN" dirty="0"/>
              <a:t> </a:t>
            </a:r>
            <a:r>
              <a:rPr lang="zh-CN" altLang="en-US" dirty="0"/>
              <a:t>接变量 </a:t>
            </a:r>
            <a:r>
              <a:rPr lang="en-US" altLang="zh-CN" dirty="0"/>
              <a:t>C </a:t>
            </a:r>
            <a:r>
              <a:rPr lang="zh-CN" altLang="en-US" dirty="0"/>
              <a:t>。</a:t>
            </a:r>
            <a:endParaRPr lang="zh-CN" altLang="zh-CN" dirty="0"/>
          </a:p>
        </p:txBody>
      </p:sp>
      <p:sp>
        <p:nvSpPr>
          <p:cNvPr id="467971"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7789" y="1700808"/>
            <a:ext cx="2952328" cy="620876"/>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4" name="Rectangle 2"/>
          <p:cNvSpPr>
            <a:spLocks noGrp="1" noChangeArrowheads="1"/>
          </p:cNvSpPr>
          <p:nvPr>
            <p:ph type="title"/>
          </p:nvPr>
        </p:nvSpPr>
        <p:spPr/>
        <p:txBody>
          <a:bodyPr/>
          <a:lstStyle/>
          <a:p>
            <a:endParaRPr lang="zh-CN" altLang="zh-CN"/>
          </a:p>
        </p:txBody>
      </p:sp>
      <p:sp>
        <p:nvSpPr>
          <p:cNvPr id="468995"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576" y="1124744"/>
            <a:ext cx="7594394" cy="3705477"/>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2"/>
          <p:cNvSpPr>
            <a:spLocks noGrp="1" noChangeArrowheads="1"/>
          </p:cNvSpPr>
          <p:nvPr>
            <p:ph type="title"/>
          </p:nvPr>
        </p:nvSpPr>
        <p:spPr>
          <a:xfrm>
            <a:off x="539552" y="332656"/>
            <a:ext cx="8115300" cy="5638800"/>
          </a:xfrm>
        </p:spPr>
        <p:txBody>
          <a:bodyPr/>
          <a:lstStyle/>
          <a:p>
            <a:br>
              <a:rPr lang="en-US" altLang="zh-CN" dirty="0"/>
            </a:br>
            <a:r>
              <a:rPr lang="zh-CN" altLang="en-US" dirty="0"/>
              <a:t>　　比较 </a:t>
            </a:r>
            <a:r>
              <a:rPr lang="en-US" altLang="zh-CN" dirty="0"/>
              <a:t>Y </a:t>
            </a:r>
            <a:r>
              <a:rPr lang="zh-CN" altLang="en-US" dirty="0"/>
              <a:t>和 </a:t>
            </a:r>
            <a:r>
              <a:rPr lang="en-US" altLang="zh-CN" dirty="0"/>
              <a:t>F </a:t>
            </a:r>
            <a:r>
              <a:rPr lang="zh-CN" altLang="en-US" dirty="0"/>
              <a:t>的表达式可以看出，当 </a:t>
            </a:r>
            <a:r>
              <a:rPr lang="en-US" altLang="zh-CN" dirty="0"/>
              <a:t>D</a:t>
            </a:r>
            <a:r>
              <a:rPr lang="en-US" altLang="zh-CN" baseline="-25000" dirty="0"/>
              <a:t>0</a:t>
            </a:r>
            <a:r>
              <a:rPr lang="en-US" altLang="zh-CN" dirty="0"/>
              <a:t> =0 </a:t>
            </a:r>
            <a:r>
              <a:rPr lang="zh-CN" altLang="en-US" dirty="0"/>
              <a:t>，</a:t>
            </a:r>
            <a:r>
              <a:rPr lang="en-US" altLang="zh-CN" dirty="0"/>
              <a:t> D </a:t>
            </a:r>
            <a:r>
              <a:rPr lang="en-US" altLang="zh-CN" baseline="-25000" dirty="0"/>
              <a:t>1</a:t>
            </a:r>
            <a:r>
              <a:rPr lang="en-US" altLang="zh-CN" dirty="0"/>
              <a:t> =D </a:t>
            </a:r>
            <a:r>
              <a:rPr lang="en-US" altLang="zh-CN" baseline="-25000" dirty="0"/>
              <a:t>2</a:t>
            </a:r>
            <a:r>
              <a:rPr lang="en-US" altLang="zh-CN" dirty="0"/>
              <a:t> =D </a:t>
            </a:r>
            <a:r>
              <a:rPr lang="en-US" altLang="zh-CN" baseline="-25000" dirty="0"/>
              <a:t>3 </a:t>
            </a:r>
            <a:r>
              <a:rPr lang="en-US" altLang="zh-CN" dirty="0"/>
              <a:t>=D </a:t>
            </a:r>
            <a:r>
              <a:rPr lang="en-US" altLang="zh-CN" baseline="-25000" dirty="0"/>
              <a:t>4</a:t>
            </a:r>
            <a:r>
              <a:rPr lang="en-US" altLang="zh-CN" dirty="0"/>
              <a:t> =D </a:t>
            </a:r>
            <a:r>
              <a:rPr lang="en-US" altLang="zh-CN" baseline="-25000" dirty="0"/>
              <a:t>5 </a:t>
            </a:r>
            <a:r>
              <a:rPr lang="en-US" altLang="zh-CN" dirty="0"/>
              <a:t>=D </a:t>
            </a:r>
            <a:r>
              <a:rPr lang="en-US" altLang="zh-CN" baseline="-25000" dirty="0"/>
              <a:t>6 </a:t>
            </a:r>
            <a:r>
              <a:rPr lang="en-US" altLang="zh-CN" dirty="0"/>
              <a:t>=1 </a:t>
            </a:r>
            <a:r>
              <a:rPr lang="zh-CN" altLang="en-US" dirty="0"/>
              <a:t>，</a:t>
            </a:r>
            <a:r>
              <a:rPr lang="en-US" altLang="zh-CN" dirty="0"/>
              <a:t> D </a:t>
            </a:r>
            <a:r>
              <a:rPr lang="en-US" altLang="zh-CN" baseline="-25000" dirty="0"/>
              <a:t>7</a:t>
            </a:r>
            <a:r>
              <a:rPr lang="en-US" altLang="zh-CN" dirty="0"/>
              <a:t> =0 </a:t>
            </a:r>
            <a:r>
              <a:rPr lang="zh-CN" altLang="en-US" dirty="0"/>
              <a:t>时，</a:t>
            </a:r>
            <a:r>
              <a:rPr lang="en-US" altLang="zh-CN" dirty="0"/>
              <a:t>Y=F </a:t>
            </a:r>
            <a:r>
              <a:rPr lang="zh-CN" altLang="en-US" dirty="0"/>
              <a:t>。逻辑图如图 </a:t>
            </a:r>
            <a:r>
              <a:rPr lang="en-US" altLang="zh-CN" dirty="0"/>
              <a:t>3</a:t>
            </a:r>
            <a:r>
              <a:rPr lang="zh-CN" altLang="en-US" dirty="0"/>
              <a:t>－</a:t>
            </a:r>
            <a:r>
              <a:rPr lang="en-US" altLang="zh-CN" dirty="0"/>
              <a:t>34 </a:t>
            </a:r>
            <a:r>
              <a:rPr lang="zh-CN" altLang="en-US" dirty="0"/>
              <a:t>所示。</a:t>
            </a:r>
            <a:endParaRPr lang="zh-CN" altLang="zh-CN" dirty="0"/>
          </a:p>
        </p:txBody>
      </p:sp>
      <p:sp>
        <p:nvSpPr>
          <p:cNvPr id="470019" name="Rectangle 3"/>
          <p:cNvSpPr>
            <a:spLocks noGrp="1" noChangeArrowheads="1"/>
          </p:cNvSpPr>
          <p:nvPr>
            <p:ph type="body" idx="1"/>
          </p:nvPr>
        </p:nvSpPr>
        <p:spPr/>
        <p:txBody>
          <a:bodyPr/>
          <a:lstStyle/>
          <a:p>
            <a:r>
              <a:rPr lang="zh-CN" altLang="en-US" dirty="0"/>
              <a:t>图 </a:t>
            </a:r>
            <a:r>
              <a:rPr lang="en-US" altLang="zh-CN" dirty="0"/>
              <a:t>3</a:t>
            </a:r>
            <a:r>
              <a:rPr lang="zh-CN" altLang="en-US" dirty="0"/>
              <a:t>－</a:t>
            </a:r>
            <a:r>
              <a:rPr lang="en-US" altLang="zh-CN" dirty="0"/>
              <a:t>34  </a:t>
            </a:r>
            <a:r>
              <a:rPr lang="zh-CN" altLang="en-US" dirty="0"/>
              <a:t>用 </a:t>
            </a:r>
            <a:r>
              <a:rPr lang="en-US" altLang="zh-CN" dirty="0"/>
              <a:t>MSI74151 </a:t>
            </a:r>
            <a:r>
              <a:rPr lang="zh-CN" altLang="en-US" dirty="0"/>
              <a:t>实现函数 　　　　　　　逻辑图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5696" y="2204864"/>
            <a:ext cx="5191850" cy="3162742"/>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76056" y="5877272"/>
            <a:ext cx="1705213" cy="295316"/>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2"/>
          <p:cNvSpPr>
            <a:spLocks noGrp="1" noChangeArrowheads="1"/>
          </p:cNvSpPr>
          <p:nvPr>
            <p:ph type="title"/>
          </p:nvPr>
        </p:nvSpPr>
        <p:spPr/>
        <p:txBody>
          <a:bodyPr/>
          <a:lstStyle/>
          <a:p>
            <a:br>
              <a:rPr lang="en-US" altLang="zh-CN" dirty="0"/>
            </a:br>
            <a:r>
              <a:rPr lang="zh-CN" altLang="en-US" dirty="0"/>
              <a:t>　　 </a:t>
            </a:r>
            <a:r>
              <a:rPr lang="en-US" altLang="zh-CN" dirty="0"/>
              <a:t>2 )</a:t>
            </a:r>
            <a:r>
              <a:rPr lang="zh-CN" altLang="en-US" dirty="0"/>
              <a:t>函数变量的数目 </a:t>
            </a:r>
            <a:r>
              <a:rPr lang="en-US" altLang="zh-CN" dirty="0"/>
              <a:t>m </a:t>
            </a:r>
            <a:r>
              <a:rPr lang="zh-CN" altLang="en-US" dirty="0"/>
              <a:t>多于数据选择器中数据选择端的数目 </a:t>
            </a:r>
            <a:r>
              <a:rPr lang="en-US" altLang="zh-CN" dirty="0"/>
              <a:t>n</a:t>
            </a:r>
            <a:r>
              <a:rPr lang="zh-CN" altLang="en-US" dirty="0"/>
              <a:t>在这种情况下，不可能将函数的全部变量都接到数据选择器的数据选择端，有的变量要接到数据选择器的数据输入端。要实现逻辑函数，可能还必须要有反变量输入或其他门电路。</a:t>
            </a:r>
            <a:endParaRPr lang="zh-CN" altLang="zh-CN" dirty="0"/>
          </a:p>
        </p:txBody>
      </p:sp>
      <p:sp>
        <p:nvSpPr>
          <p:cNvPr id="47104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Rectangle 2"/>
          <p:cNvSpPr>
            <a:spLocks noGrp="1" noChangeArrowheads="1"/>
          </p:cNvSpPr>
          <p:nvPr>
            <p:ph type="title"/>
          </p:nvPr>
        </p:nvSpPr>
        <p:spPr/>
        <p:txBody>
          <a:bodyPr/>
          <a:lstStyle/>
          <a:p>
            <a:br>
              <a:rPr lang="en-US" altLang="zh-CN" dirty="0"/>
            </a:br>
            <a:r>
              <a:rPr lang="zh-CN" altLang="en-US" dirty="0"/>
              <a:t>　　 </a:t>
            </a:r>
            <a:r>
              <a:rPr lang="en-US" altLang="zh-CN" b="1" dirty="0"/>
              <a:t>【</a:t>
            </a:r>
            <a:r>
              <a:rPr lang="zh-CN" altLang="en-US" b="1" dirty="0"/>
              <a:t>例 </a:t>
            </a:r>
            <a:r>
              <a:rPr lang="en-US" altLang="zh-CN" b="1" dirty="0"/>
              <a:t>3.4 】</a:t>
            </a:r>
            <a:r>
              <a:rPr lang="en-US" altLang="zh-CN" dirty="0"/>
              <a:t> </a:t>
            </a:r>
            <a:r>
              <a:rPr lang="zh-CN" altLang="en-US" dirty="0"/>
              <a:t>用 </a:t>
            </a:r>
            <a:r>
              <a:rPr lang="en-US" altLang="zh-CN" dirty="0"/>
              <a:t>MSI74151 </a:t>
            </a:r>
            <a:r>
              <a:rPr lang="zh-CN" altLang="en-US" dirty="0"/>
              <a:t>八选一数据选择器实现逻辑函数</a:t>
            </a:r>
            <a:r>
              <a:rPr lang="en-US" altLang="zh-CN" dirty="0"/>
              <a:t>:</a:t>
            </a:r>
            <a:br>
              <a:rPr lang="en-US" altLang="zh-CN" dirty="0"/>
            </a:br>
            <a:r>
              <a:rPr lang="zh-CN" altLang="en-US" dirty="0"/>
              <a:t>　　</a:t>
            </a:r>
            <a:br>
              <a:rPr lang="en-US" altLang="zh-CN" dirty="0"/>
            </a:br>
            <a:r>
              <a:rPr lang="zh-CN" altLang="en-US" dirty="0"/>
              <a:t>　　</a:t>
            </a:r>
            <a:r>
              <a:rPr lang="zh-CN" altLang="en-US" b="1" dirty="0"/>
              <a:t>解</a:t>
            </a:r>
            <a:r>
              <a:rPr lang="zh-CN" altLang="en-US" dirty="0"/>
              <a:t> </a:t>
            </a:r>
            <a:r>
              <a:rPr lang="en-US" altLang="zh-CN" dirty="0"/>
              <a:t>MSI74151 </a:t>
            </a:r>
            <a:r>
              <a:rPr lang="zh-CN" altLang="en-US" dirty="0"/>
              <a:t>八选一数据选择器有 </a:t>
            </a:r>
            <a:r>
              <a:rPr lang="en-US" altLang="zh-CN" dirty="0"/>
              <a:t>A</a:t>
            </a:r>
            <a:r>
              <a:rPr lang="en-US" altLang="zh-CN" baseline="-25000" dirty="0"/>
              <a:t>2</a:t>
            </a:r>
            <a:r>
              <a:rPr lang="en-US" altLang="zh-CN" dirty="0"/>
              <a:t> </a:t>
            </a:r>
            <a:r>
              <a:rPr lang="zh-CN" altLang="en-US" dirty="0"/>
              <a:t>、 </a:t>
            </a:r>
            <a:r>
              <a:rPr lang="en-US" altLang="zh-CN" dirty="0"/>
              <a:t>A</a:t>
            </a:r>
            <a:r>
              <a:rPr lang="en-US" altLang="zh-CN" baseline="-25000" dirty="0"/>
              <a:t> 1 </a:t>
            </a:r>
            <a:r>
              <a:rPr lang="zh-CN" altLang="en-US" dirty="0"/>
              <a:t>、 </a:t>
            </a:r>
            <a:r>
              <a:rPr lang="en-US" altLang="zh-CN" dirty="0"/>
              <a:t>A </a:t>
            </a:r>
            <a:r>
              <a:rPr lang="en-US" altLang="zh-CN" baseline="-25000" dirty="0"/>
              <a:t>0</a:t>
            </a:r>
            <a:br>
              <a:rPr lang="en-US" altLang="zh-CN" dirty="0"/>
            </a:br>
            <a:r>
              <a:rPr lang="zh-CN" altLang="en-US" dirty="0"/>
              <a:t>三个数据选择端，而函数 </a:t>
            </a:r>
            <a:r>
              <a:rPr lang="en-US" altLang="zh-CN" dirty="0"/>
              <a:t>F </a:t>
            </a:r>
            <a:r>
              <a:rPr lang="zh-CN" altLang="en-US" dirty="0"/>
              <a:t>有 </a:t>
            </a:r>
            <a:r>
              <a:rPr lang="en-US" altLang="zh-CN" dirty="0"/>
              <a:t>A </a:t>
            </a:r>
            <a:r>
              <a:rPr lang="zh-CN" altLang="en-US" dirty="0"/>
              <a:t>、</a:t>
            </a:r>
            <a:r>
              <a:rPr lang="en-US" altLang="zh-CN" dirty="0"/>
              <a:t>B </a:t>
            </a:r>
            <a:r>
              <a:rPr lang="zh-CN" altLang="en-US" dirty="0"/>
              <a:t>、 </a:t>
            </a:r>
            <a:r>
              <a:rPr lang="en-US" altLang="zh-CN" dirty="0"/>
              <a:t>C </a:t>
            </a:r>
            <a:r>
              <a:rPr lang="zh-CN" altLang="en-US" dirty="0"/>
              <a:t>、 </a:t>
            </a:r>
            <a:r>
              <a:rPr lang="en-US" altLang="zh-CN" dirty="0"/>
              <a:t>D </a:t>
            </a:r>
            <a:r>
              <a:rPr lang="zh-CN" altLang="en-US" dirty="0"/>
              <a:t>四个变量，只能将其中的三个接到数据选择器的数据选择端上。下面设计两种不同的方案。</a:t>
            </a:r>
            <a:br>
              <a:rPr lang="zh-CN" altLang="en-US" dirty="0"/>
            </a:br>
            <a:r>
              <a:rPr lang="zh-CN" altLang="en-US" dirty="0"/>
              <a:t>　　方案一</a:t>
            </a:r>
            <a:r>
              <a:rPr lang="en-US" altLang="zh-CN" dirty="0"/>
              <a:t>:</a:t>
            </a:r>
            <a:r>
              <a:rPr lang="zh-CN" altLang="en-US" dirty="0"/>
              <a:t>让 </a:t>
            </a:r>
            <a:r>
              <a:rPr lang="en-US" altLang="zh-CN" dirty="0"/>
              <a:t>A</a:t>
            </a:r>
            <a:r>
              <a:rPr lang="en-US" altLang="zh-CN" baseline="-25000" dirty="0"/>
              <a:t>2</a:t>
            </a:r>
            <a:r>
              <a:rPr lang="en-US" altLang="zh-CN" dirty="0"/>
              <a:t> </a:t>
            </a:r>
            <a:r>
              <a:rPr lang="zh-CN" altLang="en-US" dirty="0"/>
              <a:t>接变量 </a:t>
            </a:r>
            <a:r>
              <a:rPr lang="en-US" altLang="zh-CN" dirty="0"/>
              <a:t>A </a:t>
            </a:r>
            <a:r>
              <a:rPr lang="zh-CN" altLang="en-US" dirty="0"/>
              <a:t>，</a:t>
            </a:r>
            <a:r>
              <a:rPr lang="en-US" altLang="zh-CN" dirty="0"/>
              <a:t> A </a:t>
            </a:r>
            <a:r>
              <a:rPr lang="en-US" altLang="zh-CN" baseline="-25000" dirty="0"/>
              <a:t>1 </a:t>
            </a:r>
            <a:r>
              <a:rPr lang="zh-CN" altLang="en-US" dirty="0"/>
              <a:t>接变量 </a:t>
            </a:r>
            <a:r>
              <a:rPr lang="en-US" altLang="zh-CN" dirty="0"/>
              <a:t>B </a:t>
            </a:r>
            <a:r>
              <a:rPr lang="zh-CN" altLang="en-US" dirty="0"/>
              <a:t>，</a:t>
            </a:r>
            <a:r>
              <a:rPr lang="en-US" altLang="zh-CN" dirty="0"/>
              <a:t> A </a:t>
            </a:r>
            <a:r>
              <a:rPr lang="en-US" altLang="zh-CN" baseline="-25000" dirty="0"/>
              <a:t>0</a:t>
            </a:r>
            <a:r>
              <a:rPr lang="en-US" altLang="zh-CN" dirty="0"/>
              <a:t> </a:t>
            </a:r>
            <a:r>
              <a:rPr lang="zh-CN" altLang="en-US" dirty="0"/>
              <a:t>接变量 </a:t>
            </a:r>
            <a:r>
              <a:rPr lang="en-US" altLang="zh-CN" dirty="0"/>
              <a:t>C </a:t>
            </a:r>
            <a:r>
              <a:rPr lang="zh-CN" altLang="en-US" dirty="0"/>
              <a:t>，依此画出如表 </a:t>
            </a:r>
            <a:r>
              <a:rPr lang="en-US" altLang="zh-CN" dirty="0"/>
              <a:t>3</a:t>
            </a:r>
            <a:r>
              <a:rPr lang="zh-CN" altLang="en-US" dirty="0"/>
              <a:t>－</a:t>
            </a:r>
            <a:r>
              <a:rPr lang="en-US" altLang="zh-CN" dirty="0"/>
              <a:t>18 </a:t>
            </a:r>
            <a:r>
              <a:rPr lang="zh-CN" altLang="en-US" dirty="0"/>
              <a:t>所示的真值表。</a:t>
            </a:r>
            <a:endParaRPr lang="zh-CN" altLang="zh-CN" dirty="0"/>
          </a:p>
        </p:txBody>
      </p:sp>
      <p:sp>
        <p:nvSpPr>
          <p:cNvPr id="472067"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5736" y="1772816"/>
            <a:ext cx="4937690" cy="576064"/>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73090" name="Rectangle 2"/>
              <p:cNvSpPr>
                <a:spLocks noGrp="1" noChangeArrowheads="1"/>
              </p:cNvSpPr>
              <p:nvPr>
                <p:ph type="title"/>
              </p:nvPr>
            </p:nvSpPr>
            <p:spPr/>
            <p:txBody>
              <a:bodyPr/>
              <a:lstStyle/>
              <a:p>
                <a:br>
                  <a:rPr lang="en-US" altLang="zh-CN" dirty="0"/>
                </a:br>
                <a:r>
                  <a:rPr lang="zh-CN" altLang="en-US" dirty="0"/>
                  <a:t>　　从表中可以看出，当 </a:t>
                </a:r>
                <a:r>
                  <a:rPr lang="en-US" altLang="zh-CN" dirty="0"/>
                  <a:t>D</a:t>
                </a:r>
                <a:r>
                  <a:rPr lang="en-US" altLang="zh-CN" baseline="-25000" dirty="0"/>
                  <a:t>0</a:t>
                </a:r>
                <a:r>
                  <a:rPr lang="en-US" altLang="zh-CN" dirty="0"/>
                  <a:t> =0 </a:t>
                </a:r>
                <a:r>
                  <a:rPr lang="zh-CN" altLang="en-US" dirty="0"/>
                  <a:t>、 </a:t>
                </a:r>
                <a:r>
                  <a:rPr lang="en-US" altLang="zh-CN" dirty="0"/>
                  <a:t>D</a:t>
                </a:r>
                <a:r>
                  <a:rPr lang="en-US" altLang="zh-CN" baseline="-25000" dirty="0"/>
                  <a:t> 1</a:t>
                </a:r>
                <a:r>
                  <a:rPr lang="en-US" altLang="zh-CN" dirty="0"/>
                  <a:t> = </a:t>
                </a:r>
                <a14:m>
                  <m:oMath xmlns:m="http://schemas.openxmlformats.org/officeDocument/2006/math">
                    <m:acc>
                      <m:accPr>
                        <m:chr m:val="̅"/>
                        <m:ctrlPr>
                          <a:rPr lang="en-US" altLang="zh-CN" i="1" smtClean="0">
                            <a:latin typeface="Cambria Math" panose="02040503050406030204" pitchFamily="18" charset="0"/>
                          </a:rPr>
                        </m:ctrlPr>
                      </m:accPr>
                      <m:e>
                        <m:r>
                          <m:rPr>
                            <m:nor/>
                          </m:rPr>
                          <a:rPr lang="en-US" altLang="zh-CN" dirty="0"/>
                          <m:t>D</m:t>
                        </m:r>
                      </m:e>
                    </m:acc>
                  </m:oMath>
                </a14:m>
                <a:r>
                  <a:rPr lang="en-US" altLang="zh-CN" dirty="0"/>
                  <a:t> </a:t>
                </a:r>
                <a:r>
                  <a:rPr lang="zh-CN" altLang="en-US" dirty="0"/>
                  <a:t>、 </a:t>
                </a:r>
                <a:r>
                  <a:rPr lang="en-US" altLang="zh-CN" dirty="0"/>
                  <a:t>D </a:t>
                </a:r>
                <a:r>
                  <a:rPr lang="en-US" altLang="zh-CN" baseline="-25000" dirty="0"/>
                  <a:t>2 </a:t>
                </a:r>
                <a:r>
                  <a:rPr lang="en-US" altLang="zh-CN" dirty="0"/>
                  <a:t>=D </a:t>
                </a:r>
                <a:r>
                  <a:rPr lang="zh-CN" altLang="en-US" dirty="0"/>
                  <a:t>、 </a:t>
                </a:r>
                <a:r>
                  <a:rPr lang="en-US" altLang="zh-CN" dirty="0"/>
                  <a:t>D </a:t>
                </a:r>
                <a:r>
                  <a:rPr lang="en-US" altLang="zh-CN" baseline="-25000" dirty="0"/>
                  <a:t>3</a:t>
                </a:r>
                <a:r>
                  <a:rPr lang="en-US" altLang="zh-CN" dirty="0"/>
                  <a:t> =1 </a:t>
                </a:r>
                <a:r>
                  <a:rPr lang="zh-CN" altLang="en-US" dirty="0"/>
                  <a:t>、 </a:t>
                </a:r>
                <a:r>
                  <a:rPr lang="en-US" altLang="zh-CN" dirty="0"/>
                  <a:t>D</a:t>
                </a:r>
                <a:r>
                  <a:rPr lang="en-US" altLang="zh-CN" baseline="-25000" dirty="0"/>
                  <a:t> 4 </a:t>
                </a:r>
                <a:r>
                  <a:rPr lang="en-US" altLang="zh-CN" dirty="0"/>
                  <a:t>=D </a:t>
                </a:r>
                <a:r>
                  <a:rPr lang="zh-CN" altLang="en-US" dirty="0"/>
                  <a:t>、 </a:t>
                </a:r>
                <a:r>
                  <a:rPr lang="en-US" altLang="zh-CN" dirty="0"/>
                  <a:t>D </a:t>
                </a:r>
                <a:r>
                  <a:rPr lang="en-US" altLang="zh-CN" baseline="-25000" dirty="0"/>
                  <a:t>5</a:t>
                </a:r>
                <a:r>
                  <a:rPr lang="en-US" altLang="zh-CN" dirty="0"/>
                  <a:t> =1 </a:t>
                </a:r>
                <a:r>
                  <a:rPr lang="zh-CN" altLang="en-US" dirty="0"/>
                  <a:t>、 </a:t>
                </a:r>
                <a:r>
                  <a:rPr lang="en-US" altLang="zh-CN" dirty="0"/>
                  <a:t>D</a:t>
                </a:r>
                <a:r>
                  <a:rPr lang="en-US" altLang="zh-CN" baseline="-25000" dirty="0"/>
                  <a:t> 6 </a:t>
                </a:r>
                <a:r>
                  <a:rPr lang="en-US" altLang="zh-CN" dirty="0"/>
                  <a:t>=0 </a:t>
                </a:r>
                <a:r>
                  <a:rPr lang="zh-CN" altLang="en-US" dirty="0"/>
                  <a:t>、 </a:t>
                </a:r>
                <a:r>
                  <a:rPr lang="en-US" altLang="zh-CN" dirty="0"/>
                  <a:t>D </a:t>
                </a:r>
                <a:r>
                  <a:rPr lang="en-US" altLang="zh-CN" baseline="-25000" dirty="0"/>
                  <a:t>7</a:t>
                </a:r>
                <a:r>
                  <a:rPr lang="en-US" altLang="zh-CN" dirty="0"/>
                  <a:t> =1</a:t>
                </a:r>
                <a:br>
                  <a:rPr lang="en-US" altLang="zh-CN" dirty="0"/>
                </a:br>
                <a:r>
                  <a:rPr lang="zh-CN" altLang="en-US" dirty="0"/>
                  <a:t>时，</a:t>
                </a:r>
                <a:r>
                  <a:rPr lang="en-US" altLang="zh-CN" dirty="0"/>
                  <a:t> Y=F </a:t>
                </a:r>
                <a:r>
                  <a:rPr lang="zh-CN" altLang="en-US" dirty="0"/>
                  <a:t>。逻辑图如图 </a:t>
                </a:r>
                <a:r>
                  <a:rPr lang="en-US" altLang="zh-CN" dirty="0"/>
                  <a:t>3</a:t>
                </a:r>
                <a:r>
                  <a:rPr lang="zh-CN" altLang="en-US" dirty="0"/>
                  <a:t>－</a:t>
                </a:r>
                <a:r>
                  <a:rPr lang="en-US" altLang="zh-CN" dirty="0"/>
                  <a:t>35 (a )</a:t>
                </a:r>
                <a:r>
                  <a:rPr lang="zh-CN" altLang="en-US" dirty="0"/>
                  <a:t>所示。</a:t>
                </a:r>
                <a:br>
                  <a:rPr lang="zh-CN" altLang="en-US" dirty="0"/>
                </a:br>
                <a:r>
                  <a:rPr lang="zh-CN" altLang="en-US" dirty="0"/>
                  <a:t>　　方案二</a:t>
                </a:r>
                <a:r>
                  <a:rPr lang="en-US" altLang="zh-CN" dirty="0"/>
                  <a:t>:</a:t>
                </a:r>
                <a:r>
                  <a:rPr lang="zh-CN" altLang="en-US" dirty="0"/>
                  <a:t>让 </a:t>
                </a:r>
                <a:r>
                  <a:rPr lang="en-US" altLang="zh-CN" dirty="0"/>
                  <a:t>A</a:t>
                </a:r>
                <a:r>
                  <a:rPr lang="en-US" altLang="zh-CN" baseline="-25000" dirty="0"/>
                  <a:t>2</a:t>
                </a:r>
                <a:r>
                  <a:rPr lang="en-US" altLang="zh-CN" dirty="0"/>
                  <a:t> </a:t>
                </a:r>
                <a:r>
                  <a:rPr lang="zh-CN" altLang="en-US" dirty="0"/>
                  <a:t>接变量 </a:t>
                </a:r>
                <a:r>
                  <a:rPr lang="en-US" altLang="zh-CN" dirty="0"/>
                  <a:t>A </a:t>
                </a:r>
                <a:r>
                  <a:rPr lang="zh-CN" altLang="en-US" dirty="0"/>
                  <a:t>，</a:t>
                </a:r>
                <a:r>
                  <a:rPr lang="en-US" altLang="zh-CN" dirty="0"/>
                  <a:t> A </a:t>
                </a:r>
                <a:r>
                  <a:rPr lang="en-US" altLang="zh-CN" baseline="-25000" dirty="0"/>
                  <a:t>1</a:t>
                </a:r>
                <a:r>
                  <a:rPr lang="en-US" altLang="zh-CN" dirty="0"/>
                  <a:t> </a:t>
                </a:r>
                <a:r>
                  <a:rPr lang="zh-CN" altLang="en-US" dirty="0"/>
                  <a:t>接变量 </a:t>
                </a:r>
                <a:r>
                  <a:rPr lang="en-US" altLang="zh-CN" dirty="0"/>
                  <a:t>B </a:t>
                </a:r>
                <a:r>
                  <a:rPr lang="zh-CN" altLang="en-US" dirty="0"/>
                  <a:t>，</a:t>
                </a:r>
                <a:r>
                  <a:rPr lang="en-US" altLang="zh-CN" dirty="0"/>
                  <a:t> A </a:t>
                </a:r>
                <a:r>
                  <a:rPr lang="en-US" altLang="zh-CN" baseline="-25000" dirty="0"/>
                  <a:t>0</a:t>
                </a:r>
                <a:r>
                  <a:rPr lang="en-US" altLang="zh-CN" dirty="0"/>
                  <a:t> </a:t>
                </a:r>
                <a:r>
                  <a:rPr lang="zh-CN" altLang="en-US" dirty="0"/>
                  <a:t>接变量 </a:t>
                </a:r>
                <a:r>
                  <a:rPr lang="en-US" altLang="zh-CN" dirty="0"/>
                  <a:t>D </a:t>
                </a:r>
                <a:r>
                  <a:rPr lang="zh-CN" altLang="en-US" dirty="0"/>
                  <a:t>，依此画出如表 </a:t>
                </a:r>
                <a:r>
                  <a:rPr lang="en-US" altLang="zh-CN" dirty="0"/>
                  <a:t>3</a:t>
                </a:r>
                <a:r>
                  <a:rPr lang="zh-CN" altLang="en-US" dirty="0"/>
                  <a:t>－</a:t>
                </a:r>
                <a:r>
                  <a:rPr lang="en-US" altLang="zh-CN" dirty="0"/>
                  <a:t>19 </a:t>
                </a:r>
                <a:r>
                  <a:rPr lang="zh-CN" altLang="en-US" dirty="0"/>
                  <a:t>所示的真值表。</a:t>
                </a:r>
                <a:endParaRPr lang="zh-CN" altLang="zh-CN" dirty="0"/>
              </a:p>
            </p:txBody>
          </p:sp>
        </mc:Choice>
        <mc:Fallback xmlns="">
          <p:sp>
            <p:nvSpPr>
              <p:cNvPr id="473090" name="Rectangle 2"/>
              <p:cNvSpPr>
                <a:spLocks noGrp="1" noRot="1" noChangeAspect="1" noMove="1" noResize="1" noEditPoints="1" noAdjustHandles="1" noChangeArrowheads="1" noChangeShapeType="1" noTextEdit="1"/>
              </p:cNvSpPr>
              <p:nvPr>
                <p:ph type="title"/>
              </p:nvPr>
            </p:nvSpPr>
            <p:spPr>
              <a:blipFill rotWithShape="1">
                <a:blip r:embed="rId2"/>
                <a:stretch>
                  <a:fillRect l="-1202"/>
                </a:stretch>
              </a:blipFill>
            </p:spPr>
            <p:txBody>
              <a:bodyPr/>
              <a:lstStyle/>
              <a:p>
                <a:r>
                  <a:rPr lang="zh-CN" altLang="en-US">
                    <a:noFill/>
                  </a:rPr>
                  <a:t> </a:t>
                </a:r>
              </a:p>
            </p:txBody>
          </p:sp>
        </mc:Fallback>
      </mc:AlternateContent>
      <p:sp>
        <p:nvSpPr>
          <p:cNvPr id="47309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2"/>
          <p:cNvSpPr>
            <a:spLocks noGrp="1" noChangeArrowheads="1"/>
          </p:cNvSpPr>
          <p:nvPr>
            <p:ph type="title"/>
          </p:nvPr>
        </p:nvSpPr>
        <p:spPr/>
        <p:txBody>
          <a:bodyPr/>
          <a:lstStyle/>
          <a:p>
            <a:endParaRPr lang="zh-CN" altLang="zh-CN"/>
          </a:p>
        </p:txBody>
      </p:sp>
      <p:sp>
        <p:nvSpPr>
          <p:cNvPr id="474115"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9523" y="637785"/>
            <a:ext cx="4324954" cy="5582429"/>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8" name="Rectangle 2"/>
          <p:cNvSpPr>
            <a:spLocks noGrp="1" noChangeArrowheads="1"/>
          </p:cNvSpPr>
          <p:nvPr>
            <p:ph type="title"/>
          </p:nvPr>
        </p:nvSpPr>
        <p:spPr/>
        <p:txBody>
          <a:bodyPr/>
          <a:lstStyle/>
          <a:p>
            <a:endParaRPr lang="zh-CN" altLang="zh-CN"/>
          </a:p>
        </p:txBody>
      </p:sp>
      <p:sp>
        <p:nvSpPr>
          <p:cNvPr id="475139"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4760" y="656838"/>
            <a:ext cx="4334480" cy="5544324"/>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76162" name="Rectangle 2"/>
              <p:cNvSpPr>
                <a:spLocks noGrp="1" noChangeArrowheads="1"/>
              </p:cNvSpPr>
              <p:nvPr>
                <p:ph type="title"/>
              </p:nvPr>
            </p:nvSpPr>
            <p:spPr/>
            <p:txBody>
              <a:bodyPr/>
              <a:lstStyle/>
              <a:p>
                <a:br>
                  <a:rPr lang="en-US" altLang="zh-CN" dirty="0"/>
                </a:br>
                <a:r>
                  <a:rPr lang="zh-CN" altLang="en-US" dirty="0"/>
                  <a:t>　　从表中可以看出，当 </a:t>
                </a:r>
                <a:r>
                  <a:rPr lang="en-US" altLang="zh-CN" dirty="0"/>
                  <a:t>D</a:t>
                </a:r>
                <a:r>
                  <a:rPr lang="en-US" altLang="zh-CN" baseline="-25000" dirty="0"/>
                  <a:t>0</a:t>
                </a:r>
                <a:r>
                  <a:rPr lang="en-US" altLang="zh-CN" dirty="0"/>
                  <a:t> =C </a:t>
                </a:r>
                <a:r>
                  <a:rPr lang="zh-CN" altLang="en-US" dirty="0"/>
                  <a:t>、 </a:t>
                </a:r>
                <a:r>
                  <a:rPr lang="en-US" altLang="zh-CN" dirty="0"/>
                  <a:t>D </a:t>
                </a:r>
                <a:r>
                  <a:rPr lang="en-US" altLang="zh-CN" baseline="-25000" dirty="0"/>
                  <a:t>1</a:t>
                </a:r>
                <a:r>
                  <a:rPr lang="en-US" altLang="zh-CN" dirty="0"/>
                  <a:t> =0 </a:t>
                </a:r>
                <a:r>
                  <a:rPr lang="zh-CN" altLang="en-US" dirty="0"/>
                  <a:t>、 </a:t>
                </a:r>
                <a:r>
                  <a:rPr lang="en-US" altLang="zh-CN" dirty="0"/>
                  <a:t>D </a:t>
                </a:r>
                <a:r>
                  <a:rPr lang="en-US" altLang="zh-CN" baseline="-25000" dirty="0"/>
                  <a:t>2</a:t>
                </a:r>
                <a:r>
                  <a:rPr lang="en-US" altLang="zh-CN" dirty="0"/>
                  <a:t> =C </a:t>
                </a:r>
                <a:r>
                  <a:rPr lang="zh-CN" altLang="en-US" dirty="0"/>
                  <a:t>、 </a:t>
                </a:r>
                <a:r>
                  <a:rPr lang="en-US" altLang="zh-CN" dirty="0"/>
                  <a:t>D </a:t>
                </a:r>
                <a:r>
                  <a:rPr lang="en-US" altLang="zh-CN" baseline="-25000" dirty="0"/>
                  <a:t>3</a:t>
                </a:r>
                <a:r>
                  <a:rPr lang="en-US" altLang="zh-CN" dirty="0"/>
                  <a:t> =1 </a:t>
                </a:r>
                <a:r>
                  <a:rPr lang="zh-CN" altLang="en-US" dirty="0"/>
                  <a:t>、 </a:t>
                </a:r>
                <a:r>
                  <a:rPr lang="en-US" altLang="zh-CN" dirty="0"/>
                  <a:t>D </a:t>
                </a:r>
                <a:r>
                  <a:rPr lang="en-US" altLang="zh-CN" baseline="-25000" dirty="0"/>
                  <a:t>4</a:t>
                </a:r>
                <a:r>
                  <a:rPr lang="en-US" altLang="zh-CN" dirty="0"/>
                  <a:t> =C </a:t>
                </a:r>
                <a:r>
                  <a:rPr lang="zh-CN" altLang="en-US" dirty="0"/>
                  <a:t>、 </a:t>
                </a:r>
                <a:r>
                  <a:rPr lang="en-US" altLang="zh-CN" dirty="0"/>
                  <a:t>D </a:t>
                </a:r>
                <a:r>
                  <a:rPr lang="en-US" altLang="zh-CN" baseline="-25000" dirty="0"/>
                  <a:t>5</a:t>
                </a:r>
                <a:r>
                  <a:rPr lang="en-US" altLang="zh-CN" dirty="0"/>
                  <a:t> =1 </a:t>
                </a:r>
                <a:r>
                  <a:rPr lang="zh-CN" altLang="en-US" dirty="0"/>
                  <a:t>、 </a:t>
                </a:r>
                <a:r>
                  <a:rPr lang="en-US" altLang="zh-CN" dirty="0"/>
                  <a:t>D </a:t>
                </a:r>
                <a:r>
                  <a:rPr lang="en-US" altLang="zh-CN" baseline="-25000" dirty="0"/>
                  <a:t>6</a:t>
                </a:r>
                <a:r>
                  <a:rPr lang="en-US" altLang="zh-CN" dirty="0"/>
                  <a:t> =C </a:t>
                </a:r>
                <a:r>
                  <a:rPr lang="zh-CN" altLang="en-US" dirty="0"/>
                  <a:t>、 </a:t>
                </a:r>
                <a:r>
                  <a:rPr lang="en-US" altLang="zh-CN" dirty="0"/>
                  <a:t>D </a:t>
                </a:r>
                <a:r>
                  <a:rPr lang="en-US" altLang="zh-CN" baseline="-25000" dirty="0"/>
                  <a:t>7</a:t>
                </a:r>
                <a:r>
                  <a:rPr lang="en-US" altLang="zh-CN" dirty="0"/>
                  <a:t> =C</a:t>
                </a:r>
                <a:r>
                  <a:rPr lang="zh-CN" altLang="en-US" dirty="0"/>
                  <a:t>时，</a:t>
                </a:r>
                <a:r>
                  <a:rPr lang="en-US" altLang="zh-CN" dirty="0"/>
                  <a:t> Y=F </a:t>
                </a:r>
                <a:r>
                  <a:rPr lang="zh-CN" altLang="en-US" dirty="0"/>
                  <a:t>。逻辑图如图 </a:t>
                </a:r>
                <a:r>
                  <a:rPr lang="en-US" altLang="zh-CN" dirty="0"/>
                  <a:t>3</a:t>
                </a:r>
                <a:r>
                  <a:rPr lang="zh-CN" altLang="en-US" dirty="0"/>
                  <a:t>－</a:t>
                </a:r>
                <a:r>
                  <a:rPr lang="en-US" altLang="zh-CN" dirty="0"/>
                  <a:t>35 (b )</a:t>
                </a:r>
                <a:r>
                  <a:rPr lang="zh-CN" altLang="en-US" dirty="0"/>
                  <a:t>所示。</a:t>
                </a:r>
                <a:br>
                  <a:rPr lang="zh-CN" altLang="en-US" dirty="0"/>
                </a:br>
                <a:r>
                  <a:rPr lang="zh-CN" altLang="en-US" dirty="0"/>
                  <a:t>　　由图 </a:t>
                </a:r>
                <a:r>
                  <a:rPr lang="en-US" altLang="zh-CN" dirty="0"/>
                  <a:t>3</a:t>
                </a:r>
                <a:r>
                  <a:rPr lang="zh-CN" altLang="en-US" dirty="0"/>
                  <a:t>－</a:t>
                </a:r>
                <a:r>
                  <a:rPr lang="en-US" altLang="zh-CN" dirty="0"/>
                  <a:t>35 </a:t>
                </a:r>
                <a:r>
                  <a:rPr lang="zh-CN" altLang="en-US" dirty="0"/>
                  <a:t>可以看出，方案一需要反变量</a:t>
                </a:r>
                <a14:m>
                  <m:oMath xmlns:m="http://schemas.openxmlformats.org/officeDocument/2006/math">
                    <m:acc>
                      <m:accPr>
                        <m:chr m:val="̅"/>
                        <m:ctrlPr>
                          <a:rPr lang="zh-CN" altLang="en-US" i="1" smtClean="0">
                            <a:latin typeface="Cambria Math" panose="02040503050406030204" pitchFamily="18" charset="0"/>
                          </a:rPr>
                        </m:ctrlPr>
                      </m:accPr>
                      <m:e>
                        <m:r>
                          <m:rPr>
                            <m:nor/>
                          </m:rPr>
                          <a:rPr lang="en-US" altLang="zh-CN" dirty="0"/>
                          <m:t>D</m:t>
                        </m:r>
                      </m:e>
                    </m:acc>
                  </m:oMath>
                </a14:m>
                <a:r>
                  <a:rPr lang="zh-CN" altLang="en-US" dirty="0"/>
                  <a:t> 输入</a:t>
                </a:r>
                <a:r>
                  <a:rPr lang="en-US" altLang="zh-CN" dirty="0"/>
                  <a:t>(</a:t>
                </a:r>
                <a:r>
                  <a:rPr lang="zh-CN" altLang="en-US" dirty="0"/>
                  <a:t>也可以用一个非门产生</a:t>
                </a:r>
                <a:r>
                  <a:rPr lang="en-US" altLang="zh-CN" dirty="0"/>
                  <a:t>)</a:t>
                </a:r>
                <a:r>
                  <a:rPr lang="zh-CN" altLang="en-US" dirty="0"/>
                  <a:t>，而方案二则不需要。设计实现方案时，应尽可能不用或少用反变量输入及其他门电路。</a:t>
                </a:r>
                <a:endParaRPr lang="zh-CN" altLang="zh-CN" dirty="0"/>
              </a:p>
            </p:txBody>
          </p:sp>
        </mc:Choice>
        <mc:Fallback xmlns="">
          <p:sp>
            <p:nvSpPr>
              <p:cNvPr id="476162" name="Rectangle 2"/>
              <p:cNvSpPr>
                <a:spLocks noGrp="1" noRot="1" noChangeAspect="1" noMove="1" noResize="1" noEditPoints="1" noAdjustHandles="1" noChangeArrowheads="1" noChangeShapeType="1" noTextEdit="1"/>
              </p:cNvSpPr>
              <p:nvPr>
                <p:ph type="title"/>
              </p:nvPr>
            </p:nvSpPr>
            <p:spPr>
              <a:blipFill rotWithShape="1">
                <a:blip r:embed="rId2"/>
                <a:stretch>
                  <a:fillRect l="-1202" r="-2329"/>
                </a:stretch>
              </a:blipFill>
            </p:spPr>
            <p:txBody>
              <a:bodyPr/>
              <a:lstStyle/>
              <a:p>
                <a:r>
                  <a:rPr lang="zh-CN" altLang="en-US">
                    <a:noFill/>
                  </a:rPr>
                  <a:t> </a:t>
                </a:r>
              </a:p>
            </p:txBody>
          </p:sp>
        </mc:Fallback>
      </mc:AlternateContent>
      <p:sp>
        <p:nvSpPr>
          <p:cNvPr id="47616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2"/>
          <p:cNvSpPr>
            <a:spLocks noGrp="1" noChangeArrowheads="1"/>
          </p:cNvSpPr>
          <p:nvPr>
            <p:ph type="title"/>
          </p:nvPr>
        </p:nvSpPr>
        <p:spPr/>
        <p:txBody>
          <a:bodyPr/>
          <a:lstStyle/>
          <a:p>
            <a:endParaRPr lang="zh-CN" altLang="zh-CN" dirty="0"/>
          </a:p>
        </p:txBody>
      </p:sp>
      <p:sp>
        <p:nvSpPr>
          <p:cNvPr id="477187" name="Rectangle 3"/>
          <p:cNvSpPr>
            <a:spLocks noGrp="1" noChangeArrowheads="1"/>
          </p:cNvSpPr>
          <p:nvPr>
            <p:ph type="body" idx="1"/>
          </p:nvPr>
        </p:nvSpPr>
        <p:spPr>
          <a:xfrm>
            <a:off x="0" y="5229200"/>
            <a:ext cx="9144000" cy="438944"/>
          </a:xfrm>
        </p:spPr>
        <p:txBody>
          <a:bodyPr/>
          <a:lstStyle/>
          <a:p>
            <a:r>
              <a:rPr lang="zh-CN" altLang="en-US" dirty="0"/>
              <a:t>图 </a:t>
            </a:r>
            <a:r>
              <a:rPr lang="en-US" altLang="zh-CN" dirty="0"/>
              <a:t>3</a:t>
            </a:r>
            <a:r>
              <a:rPr lang="zh-CN" altLang="en-US" dirty="0"/>
              <a:t>－</a:t>
            </a:r>
            <a:r>
              <a:rPr lang="en-US" altLang="zh-CN" dirty="0"/>
              <a:t>35  </a:t>
            </a:r>
            <a:r>
              <a:rPr lang="zh-CN" altLang="en-US" dirty="0"/>
              <a:t>用 </a:t>
            </a:r>
            <a:r>
              <a:rPr lang="en-US" altLang="zh-CN" dirty="0"/>
              <a:t>MSI74151 </a:t>
            </a:r>
            <a:r>
              <a:rPr lang="zh-CN" altLang="en-US" dirty="0"/>
              <a:t>实现函数　　　 　　　　　　　　的逻辑图</a:t>
            </a:r>
          </a:p>
          <a:p>
            <a:r>
              <a:rPr lang="en-US" altLang="zh-CN" dirty="0"/>
              <a:t>(a )</a:t>
            </a:r>
            <a:r>
              <a:rPr lang="zh-CN" altLang="en-US" dirty="0"/>
              <a:t>方案一</a:t>
            </a:r>
            <a:r>
              <a:rPr lang="en-US" altLang="zh-CN" dirty="0"/>
              <a:t>;( b )</a:t>
            </a:r>
            <a:r>
              <a:rPr lang="zh-CN" altLang="en-US" dirty="0"/>
              <a:t>方案二</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9992" y="5340985"/>
            <a:ext cx="2762636" cy="295316"/>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584" y="1387104"/>
            <a:ext cx="7676694" cy="3702384"/>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2"/>
          <p:cNvSpPr>
            <a:spLocks noGrp="1" noChangeArrowheads="1"/>
          </p:cNvSpPr>
          <p:nvPr>
            <p:ph type="title"/>
          </p:nvPr>
        </p:nvSpPr>
        <p:spPr/>
        <p:txBody>
          <a:bodyPr/>
          <a:lstStyle/>
          <a:p>
            <a:br>
              <a:rPr lang="en-US" altLang="zh-CN" dirty="0"/>
            </a:br>
            <a:r>
              <a:rPr lang="zh-CN" altLang="en-US" dirty="0"/>
              <a:t>　　 </a:t>
            </a:r>
            <a:r>
              <a:rPr lang="en-US" altLang="zh-CN" dirty="0"/>
              <a:t>3 )</a:t>
            </a:r>
            <a:r>
              <a:rPr lang="zh-CN" altLang="en-US" dirty="0"/>
              <a:t>函数变量的数目 </a:t>
            </a:r>
            <a:r>
              <a:rPr lang="en-US" altLang="zh-CN" dirty="0"/>
              <a:t>m </a:t>
            </a:r>
            <a:r>
              <a:rPr lang="zh-CN" altLang="en-US" dirty="0"/>
              <a:t>少于数据选择器中数据选择端的数目 </a:t>
            </a:r>
            <a:r>
              <a:rPr lang="en-US" altLang="zh-CN" dirty="0"/>
              <a:t>n</a:t>
            </a:r>
            <a:r>
              <a:rPr lang="zh-CN" altLang="en-US" dirty="0"/>
              <a:t>当函数变量的数目 </a:t>
            </a:r>
            <a:r>
              <a:rPr lang="en-US" altLang="zh-CN" dirty="0"/>
              <a:t>m </a:t>
            </a:r>
            <a:r>
              <a:rPr lang="zh-CN" altLang="en-US" dirty="0"/>
              <a:t>少于数据选择器中数据选择端的数目 </a:t>
            </a:r>
            <a:r>
              <a:rPr lang="en-US" altLang="zh-CN" dirty="0"/>
              <a:t>n </a:t>
            </a:r>
            <a:r>
              <a:rPr lang="zh-CN" altLang="en-US" dirty="0"/>
              <a:t>时，可以将变量接到数据选择器中的 </a:t>
            </a:r>
            <a:r>
              <a:rPr lang="en-US" altLang="zh-CN" dirty="0"/>
              <a:t>m </a:t>
            </a:r>
            <a:r>
              <a:rPr lang="zh-CN" altLang="en-US" dirty="0"/>
              <a:t>个数据选择端，再依据具体函数来确定数据输入端和剩余数据选择端的值。在这种情况下，无需反变量输入，亦无需其他器件，即可以实现任何一个组合逻辑函数，而且有多种实现方案。</a:t>
            </a:r>
            <a:endParaRPr lang="zh-CN" altLang="zh-CN" dirty="0"/>
          </a:p>
        </p:txBody>
      </p:sp>
      <p:sp>
        <p:nvSpPr>
          <p:cNvPr id="47821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Rectangle 2"/>
          <p:cNvSpPr>
            <a:spLocks noGrp="1" noChangeArrowheads="1"/>
          </p:cNvSpPr>
          <p:nvPr>
            <p:ph type="title"/>
          </p:nvPr>
        </p:nvSpPr>
        <p:spPr/>
        <p:txBody>
          <a:bodyPr/>
          <a:lstStyle/>
          <a:p>
            <a:r>
              <a:rPr lang="zh-CN" altLang="en-US" dirty="0"/>
              <a:t>　　 </a:t>
            </a:r>
            <a:br>
              <a:rPr lang="en-US" altLang="zh-CN" dirty="0"/>
            </a:br>
            <a:r>
              <a:rPr lang="zh-CN" altLang="en-US" dirty="0"/>
              <a:t>　　</a:t>
            </a:r>
            <a:r>
              <a:rPr lang="en-US" altLang="zh-CN" b="1" dirty="0"/>
              <a:t>【</a:t>
            </a:r>
            <a:r>
              <a:rPr lang="zh-CN" altLang="en-US" b="1" dirty="0"/>
              <a:t>例 </a:t>
            </a:r>
            <a:r>
              <a:rPr lang="en-US" altLang="zh-CN" b="1" dirty="0"/>
              <a:t>3.5 】</a:t>
            </a:r>
            <a:r>
              <a:rPr lang="en-US" altLang="zh-CN" dirty="0"/>
              <a:t> </a:t>
            </a:r>
            <a:r>
              <a:rPr lang="zh-CN" altLang="en-US" dirty="0"/>
              <a:t>用 </a:t>
            </a:r>
            <a:r>
              <a:rPr lang="en-US" altLang="zh-CN" dirty="0"/>
              <a:t>MSI74151 </a:t>
            </a:r>
            <a:r>
              <a:rPr lang="zh-CN" altLang="en-US" dirty="0"/>
              <a:t>八选一数据选择器实现逻辑函数</a:t>
            </a:r>
            <a:r>
              <a:rPr lang="en-US" altLang="zh-CN" dirty="0"/>
              <a:t>:</a:t>
            </a:r>
            <a:br>
              <a:rPr lang="en-US" altLang="zh-CN" dirty="0"/>
            </a:br>
            <a:r>
              <a:rPr lang="zh-CN" altLang="en-US" dirty="0"/>
              <a:t>　　</a:t>
            </a:r>
            <a:br>
              <a:rPr lang="en-US" altLang="zh-CN" dirty="0"/>
            </a:br>
            <a:r>
              <a:rPr lang="zh-CN" altLang="en-US" dirty="0"/>
              <a:t>　　</a:t>
            </a:r>
            <a:r>
              <a:rPr lang="zh-CN" altLang="en-US" b="1" dirty="0"/>
              <a:t>解</a:t>
            </a:r>
            <a:r>
              <a:rPr lang="zh-CN" altLang="en-US" dirty="0"/>
              <a:t> 函数 </a:t>
            </a:r>
            <a:r>
              <a:rPr lang="en-US" altLang="zh-CN" dirty="0"/>
              <a:t>F </a:t>
            </a:r>
            <a:r>
              <a:rPr lang="zh-CN" altLang="en-US" dirty="0"/>
              <a:t>只有 </a:t>
            </a:r>
            <a:r>
              <a:rPr lang="en-US" altLang="zh-CN" dirty="0"/>
              <a:t>A </a:t>
            </a:r>
            <a:r>
              <a:rPr lang="zh-CN" altLang="en-US" dirty="0"/>
              <a:t>、 </a:t>
            </a:r>
            <a:r>
              <a:rPr lang="en-US" altLang="zh-CN" dirty="0"/>
              <a:t>B </a:t>
            </a:r>
            <a:r>
              <a:rPr lang="zh-CN" altLang="en-US" dirty="0"/>
              <a:t>两个变量，将它们接到 </a:t>
            </a:r>
            <a:r>
              <a:rPr lang="en-US" altLang="zh-CN" dirty="0"/>
              <a:t>MSI74151 </a:t>
            </a:r>
            <a:r>
              <a:rPr lang="zh-CN" altLang="en-US" dirty="0"/>
              <a:t>数据选择器其中的两个数据选择端，接法有多种。现让 </a:t>
            </a:r>
            <a:r>
              <a:rPr lang="en-US" altLang="zh-CN" dirty="0"/>
              <a:t>A1 </a:t>
            </a:r>
            <a:r>
              <a:rPr lang="zh-CN" altLang="en-US" dirty="0"/>
              <a:t>接变量 </a:t>
            </a:r>
            <a:r>
              <a:rPr lang="en-US" altLang="zh-CN" dirty="0"/>
              <a:t>A </a:t>
            </a:r>
            <a:r>
              <a:rPr lang="zh-CN" altLang="en-US" dirty="0"/>
              <a:t>，</a:t>
            </a:r>
            <a:r>
              <a:rPr lang="en-US" altLang="zh-CN" dirty="0"/>
              <a:t> A </a:t>
            </a:r>
            <a:r>
              <a:rPr lang="en-US" altLang="zh-CN" baseline="-25000" dirty="0"/>
              <a:t>0</a:t>
            </a:r>
            <a:r>
              <a:rPr lang="en-US" altLang="zh-CN" dirty="0"/>
              <a:t> </a:t>
            </a:r>
            <a:r>
              <a:rPr lang="zh-CN" altLang="en-US" dirty="0"/>
              <a:t>接变量 </a:t>
            </a:r>
            <a:r>
              <a:rPr lang="en-US" altLang="zh-CN" dirty="0"/>
              <a:t>B </a:t>
            </a:r>
            <a:r>
              <a:rPr lang="zh-CN" altLang="en-US" dirty="0"/>
              <a:t>，则数据选择器输出的逻辑表达式为</a:t>
            </a:r>
            <a:endParaRPr lang="zh-CN" altLang="zh-CN" dirty="0"/>
          </a:p>
        </p:txBody>
      </p:sp>
      <p:sp>
        <p:nvSpPr>
          <p:cNvPr id="479235"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3848" y="1601391"/>
            <a:ext cx="1562318" cy="400106"/>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1680" y="3933056"/>
            <a:ext cx="5325219" cy="1810003"/>
          </a:xfrm>
          <a:prstGeom prst="rect">
            <a:avLst/>
          </a:prstGeo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2"/>
          <p:cNvSpPr>
            <a:spLocks noGrp="1" noChangeArrowheads="1"/>
          </p:cNvSpPr>
          <p:nvPr>
            <p:ph type="title"/>
          </p:nvPr>
        </p:nvSpPr>
        <p:spPr/>
        <p:txBody>
          <a:bodyPr/>
          <a:lstStyle/>
          <a:p>
            <a:br>
              <a:rPr lang="en-US" altLang="zh-CN" dirty="0"/>
            </a:br>
            <a:br>
              <a:rPr lang="en-US" altLang="zh-CN" dirty="0"/>
            </a:br>
            <a:br>
              <a:rPr lang="en-US" altLang="zh-CN" dirty="0"/>
            </a:br>
            <a:br>
              <a:rPr lang="en-US" altLang="zh-CN" dirty="0"/>
            </a:br>
            <a:br>
              <a:rPr lang="en-US" altLang="zh-CN" dirty="0"/>
            </a:br>
            <a:br>
              <a:rPr lang="en-US" altLang="zh-CN" dirty="0"/>
            </a:br>
            <a:br>
              <a:rPr lang="en-US" altLang="zh-CN" dirty="0"/>
            </a:br>
            <a:r>
              <a:rPr lang="zh-CN" altLang="en-US" dirty="0"/>
              <a:t>时，即得 　　　　。因此得到</a:t>
            </a:r>
            <a:r>
              <a:rPr lang="en-US" altLang="zh-CN" dirty="0"/>
              <a:t>:</a:t>
            </a:r>
            <a:r>
              <a:rPr lang="zh-CN" altLang="en-US" dirty="0"/>
              <a:t>若 </a:t>
            </a:r>
            <a:r>
              <a:rPr lang="en-US" altLang="zh-CN" dirty="0"/>
              <a:t>A </a:t>
            </a:r>
            <a:r>
              <a:rPr lang="en-US" altLang="zh-CN" baseline="-25000" dirty="0"/>
              <a:t>2</a:t>
            </a:r>
            <a:r>
              <a:rPr lang="en-US" altLang="zh-CN" dirty="0"/>
              <a:t> =0 </a:t>
            </a:r>
            <a:r>
              <a:rPr lang="zh-CN" altLang="en-US" dirty="0"/>
              <a:t>，则 </a:t>
            </a:r>
            <a:r>
              <a:rPr lang="en-US" altLang="zh-CN" dirty="0"/>
              <a:t>D </a:t>
            </a:r>
            <a:r>
              <a:rPr lang="en-US" altLang="zh-CN" baseline="-25000" dirty="0"/>
              <a:t>0</a:t>
            </a:r>
            <a:r>
              <a:rPr lang="en-US" altLang="zh-CN" dirty="0"/>
              <a:t> =0 </a:t>
            </a:r>
            <a:r>
              <a:rPr lang="zh-CN" altLang="en-US" dirty="0"/>
              <a:t>，</a:t>
            </a:r>
            <a:r>
              <a:rPr lang="en-US" altLang="zh-CN" dirty="0"/>
              <a:t> D </a:t>
            </a:r>
            <a:r>
              <a:rPr lang="en-US" altLang="zh-CN" baseline="-25000" dirty="0"/>
              <a:t>1</a:t>
            </a:r>
            <a:r>
              <a:rPr lang="en-US" altLang="zh-CN" dirty="0"/>
              <a:t> =1 </a:t>
            </a:r>
            <a:r>
              <a:rPr lang="zh-CN" altLang="en-US" dirty="0"/>
              <a:t>，</a:t>
            </a:r>
            <a:r>
              <a:rPr lang="en-US" altLang="zh-CN" dirty="0"/>
              <a:t> D </a:t>
            </a:r>
            <a:r>
              <a:rPr lang="en-US" altLang="zh-CN" baseline="-25000" dirty="0"/>
              <a:t>2</a:t>
            </a:r>
            <a:r>
              <a:rPr lang="en-US" altLang="zh-CN" dirty="0"/>
              <a:t> =1 </a:t>
            </a:r>
            <a:r>
              <a:rPr lang="zh-CN" altLang="en-US" dirty="0"/>
              <a:t>，</a:t>
            </a:r>
            <a:r>
              <a:rPr lang="en-US" altLang="zh-CN" dirty="0"/>
              <a:t> D </a:t>
            </a:r>
            <a:r>
              <a:rPr lang="en-US" altLang="zh-CN" baseline="-25000" dirty="0"/>
              <a:t>3</a:t>
            </a:r>
            <a:r>
              <a:rPr lang="en-US" altLang="zh-CN" dirty="0"/>
              <a:t> =0 </a:t>
            </a:r>
            <a:r>
              <a:rPr lang="zh-CN" altLang="en-US" dirty="0"/>
              <a:t>，其他数据输入端可以不接，对输出无影响</a:t>
            </a:r>
            <a:r>
              <a:rPr lang="en-US" altLang="zh-CN" dirty="0"/>
              <a:t>;</a:t>
            </a:r>
            <a:r>
              <a:rPr lang="zh-CN" altLang="en-US" dirty="0"/>
              <a:t>若 </a:t>
            </a:r>
            <a:r>
              <a:rPr lang="en-US" altLang="zh-CN" dirty="0"/>
              <a:t>A</a:t>
            </a:r>
            <a:r>
              <a:rPr lang="en-US" altLang="zh-CN" baseline="-25000" dirty="0"/>
              <a:t>2</a:t>
            </a:r>
            <a:r>
              <a:rPr lang="en-US" altLang="zh-CN" dirty="0"/>
              <a:t> =1 </a:t>
            </a:r>
            <a:r>
              <a:rPr lang="zh-CN" altLang="en-US" dirty="0"/>
              <a:t>，则 </a:t>
            </a:r>
            <a:r>
              <a:rPr lang="en-US" altLang="zh-CN" dirty="0"/>
              <a:t>D </a:t>
            </a:r>
            <a:r>
              <a:rPr lang="en-US" altLang="zh-CN" baseline="-25000" dirty="0"/>
              <a:t>4</a:t>
            </a:r>
            <a:r>
              <a:rPr lang="en-US" altLang="zh-CN" dirty="0"/>
              <a:t> =0 </a:t>
            </a:r>
            <a:r>
              <a:rPr lang="zh-CN" altLang="en-US" dirty="0"/>
              <a:t>，</a:t>
            </a:r>
            <a:r>
              <a:rPr lang="en-US" altLang="zh-CN" dirty="0"/>
              <a:t> D </a:t>
            </a:r>
            <a:r>
              <a:rPr lang="en-US" altLang="zh-CN" baseline="-25000" dirty="0"/>
              <a:t>5</a:t>
            </a:r>
            <a:r>
              <a:rPr lang="en-US" altLang="zh-CN" dirty="0"/>
              <a:t> =1 </a:t>
            </a:r>
            <a:r>
              <a:rPr lang="zh-CN" altLang="en-US" dirty="0"/>
              <a:t>，</a:t>
            </a:r>
            <a:r>
              <a:rPr lang="en-US" altLang="zh-CN" dirty="0"/>
              <a:t> D </a:t>
            </a:r>
            <a:r>
              <a:rPr lang="en-US" altLang="zh-CN" baseline="-25000" dirty="0"/>
              <a:t>6</a:t>
            </a:r>
            <a:r>
              <a:rPr lang="en-US" altLang="zh-CN" dirty="0"/>
              <a:t> =1 </a:t>
            </a:r>
            <a:r>
              <a:rPr lang="zh-CN" altLang="en-US" dirty="0"/>
              <a:t>，</a:t>
            </a:r>
            <a:r>
              <a:rPr lang="en-US" altLang="zh-CN" dirty="0"/>
              <a:t> D </a:t>
            </a:r>
            <a:r>
              <a:rPr lang="en-US" altLang="zh-CN" baseline="-25000" dirty="0"/>
              <a:t>7</a:t>
            </a:r>
            <a:r>
              <a:rPr lang="en-US" altLang="zh-CN" dirty="0"/>
              <a:t> =0 </a:t>
            </a:r>
            <a:r>
              <a:rPr lang="zh-CN" altLang="en-US" dirty="0"/>
              <a:t>。</a:t>
            </a:r>
            <a:br>
              <a:rPr lang="zh-CN" altLang="en-US" dirty="0"/>
            </a:br>
            <a:r>
              <a:rPr lang="zh-CN" altLang="en-US" dirty="0"/>
              <a:t>　　逻辑图如图 </a:t>
            </a:r>
            <a:r>
              <a:rPr lang="en-US" altLang="zh-CN" dirty="0"/>
              <a:t>3</a:t>
            </a:r>
            <a:r>
              <a:rPr lang="zh-CN" altLang="en-US" dirty="0"/>
              <a:t>－</a:t>
            </a:r>
            <a:r>
              <a:rPr lang="en-US" altLang="zh-CN" dirty="0"/>
              <a:t>36 </a:t>
            </a:r>
            <a:r>
              <a:rPr lang="zh-CN" altLang="en-US" dirty="0"/>
              <a:t>所示。</a:t>
            </a:r>
            <a:endParaRPr lang="zh-CN" altLang="zh-CN" dirty="0"/>
          </a:p>
        </p:txBody>
      </p:sp>
      <p:sp>
        <p:nvSpPr>
          <p:cNvPr id="480259"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616" y="1052736"/>
            <a:ext cx="3888432" cy="2730712"/>
          </a:xfrm>
          <a:prstGeom prst="rect">
            <a:avLst/>
          </a:prstGeom>
        </p:spPr>
      </p:pic>
      <p:pic>
        <p:nvPicPr>
          <p:cNvPr id="5" name="图片 4"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9672" y="3933056"/>
            <a:ext cx="1562318" cy="400106"/>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Rectangle 2"/>
          <p:cNvSpPr>
            <a:spLocks noGrp="1" noChangeArrowheads="1"/>
          </p:cNvSpPr>
          <p:nvPr>
            <p:ph type="title"/>
          </p:nvPr>
        </p:nvSpPr>
        <p:spPr/>
        <p:txBody>
          <a:bodyPr/>
          <a:lstStyle/>
          <a:p>
            <a:endParaRPr lang="zh-CN" altLang="zh-CN"/>
          </a:p>
        </p:txBody>
      </p:sp>
      <p:sp>
        <p:nvSpPr>
          <p:cNvPr id="481283" name="Rectangle 3"/>
          <p:cNvSpPr>
            <a:spLocks noGrp="1" noChangeArrowheads="1"/>
          </p:cNvSpPr>
          <p:nvPr>
            <p:ph type="body" idx="1"/>
          </p:nvPr>
        </p:nvSpPr>
        <p:spPr/>
        <p:txBody>
          <a:bodyPr/>
          <a:lstStyle/>
          <a:p>
            <a:r>
              <a:rPr lang="zh-CN" altLang="en-US" dirty="0"/>
              <a:t>图 </a:t>
            </a:r>
            <a:r>
              <a:rPr lang="en-US" altLang="zh-CN" dirty="0"/>
              <a:t>3</a:t>
            </a:r>
            <a:r>
              <a:rPr lang="zh-CN" altLang="en-US" dirty="0"/>
              <a:t>－</a:t>
            </a:r>
            <a:r>
              <a:rPr lang="en-US" altLang="zh-CN" dirty="0"/>
              <a:t>36  </a:t>
            </a:r>
            <a:r>
              <a:rPr lang="zh-CN" altLang="en-US" dirty="0"/>
              <a:t>用 </a:t>
            </a:r>
            <a:r>
              <a:rPr lang="en-US" altLang="zh-CN" dirty="0"/>
              <a:t>MSI74151 </a:t>
            </a:r>
            <a:r>
              <a:rPr lang="zh-CN" altLang="en-US" dirty="0"/>
              <a:t>实现函数 　　　　　的逻辑图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4048" y="5877272"/>
            <a:ext cx="1162212" cy="238158"/>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5784" y="1733313"/>
            <a:ext cx="7392432" cy="3391374"/>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文本框 53249"/>
          <p:cNvSpPr txBox="1"/>
          <p:nvPr/>
        </p:nvSpPr>
        <p:spPr>
          <a:xfrm>
            <a:off x="228600" y="685800"/>
            <a:ext cx="8686800" cy="3560763"/>
          </a:xfrm>
          <a:prstGeom prst="rect">
            <a:avLst/>
          </a:prstGeom>
          <a:noFill/>
          <a:ln w="9525">
            <a:noFill/>
          </a:ln>
        </p:spPr>
        <p:txBody>
          <a:bodyPr>
            <a:spAutoFit/>
          </a:bodyPr>
          <a:lstStyle/>
          <a:p>
            <a:pPr>
              <a:lnSpc>
                <a:spcPct val="180000"/>
              </a:lnSpc>
              <a:spcBef>
                <a:spcPct val="50000"/>
              </a:spcBef>
            </a:pPr>
            <a:r>
              <a:rPr lang="en-US" altLang="zh-CN" sz="2400" dirty="0">
                <a:latin typeface="Times New Roman" panose="02020603050405020304" pitchFamily="18" charset="0"/>
              </a:rPr>
              <a:t>       </a:t>
            </a:r>
            <a:r>
              <a:rPr lang="zh-CN" altLang="en-US" sz="2400" dirty="0">
                <a:latin typeface="Times New Roman" panose="02020603050405020304" pitchFamily="18" charset="0"/>
              </a:rPr>
              <a:t>【例】用</a:t>
            </a:r>
            <a:r>
              <a:rPr lang="en-US" altLang="zh-CN" sz="2400" dirty="0">
                <a:latin typeface="Times New Roman" panose="02020603050405020304" pitchFamily="18" charset="0"/>
              </a:rPr>
              <a:t>7485</a:t>
            </a:r>
            <a:r>
              <a:rPr lang="zh-CN" altLang="en-US" sz="2400" dirty="0">
                <a:latin typeface="Times New Roman" panose="02020603050405020304" pitchFamily="18" charset="0"/>
              </a:rPr>
              <a:t>构成</a:t>
            </a:r>
            <a:r>
              <a:rPr lang="en-US" altLang="zh-CN" sz="2400" dirty="0">
                <a:latin typeface="Times New Roman" panose="02020603050405020304" pitchFamily="18" charset="0"/>
              </a:rPr>
              <a:t>7</a:t>
            </a:r>
            <a:r>
              <a:rPr lang="zh-CN" altLang="en-US" sz="2400" dirty="0">
                <a:latin typeface="Times New Roman" panose="02020603050405020304" pitchFamily="18" charset="0"/>
              </a:rPr>
              <a:t>位二进制数并行比较器。 </a:t>
            </a:r>
          </a:p>
          <a:p>
            <a:pPr>
              <a:lnSpc>
                <a:spcPct val="180000"/>
              </a:lnSpc>
              <a:spcBef>
                <a:spcPct val="50000"/>
              </a:spcBef>
            </a:pPr>
            <a:r>
              <a:rPr lang="zh-CN" altLang="en-US" sz="2400" b="1" dirty="0">
                <a:latin typeface="Times New Roman" panose="02020603050405020304" pitchFamily="18" charset="0"/>
              </a:rPr>
              <a:t>        解</a:t>
            </a:r>
            <a:r>
              <a:rPr lang="zh-CN" altLang="en-US" sz="2400" dirty="0">
                <a:latin typeface="Times New Roman" panose="02020603050405020304" pitchFamily="18" charset="0"/>
              </a:rPr>
              <a:t> 用</a:t>
            </a:r>
            <a:r>
              <a:rPr lang="en-US" altLang="zh-CN" sz="2400" dirty="0">
                <a:latin typeface="Times New Roman" panose="02020603050405020304" pitchFamily="18" charset="0"/>
              </a:rPr>
              <a:t>7485</a:t>
            </a:r>
            <a:r>
              <a:rPr lang="zh-CN" altLang="en-US" sz="2400" dirty="0">
                <a:latin typeface="Times New Roman" panose="02020603050405020304" pitchFamily="18" charset="0"/>
              </a:rPr>
              <a:t>构成的</a:t>
            </a:r>
            <a:r>
              <a:rPr lang="en-US" altLang="zh-CN" sz="2400" dirty="0">
                <a:latin typeface="Times New Roman" panose="02020603050405020304" pitchFamily="18" charset="0"/>
              </a:rPr>
              <a:t>7</a:t>
            </a:r>
            <a:r>
              <a:rPr lang="zh-CN" altLang="en-US" sz="2400" dirty="0">
                <a:latin typeface="Times New Roman" panose="02020603050405020304" pitchFamily="18" charset="0"/>
              </a:rPr>
              <a:t>位二进制数并行比较器如图所示。注意低位模块的级联输入接“</a:t>
            </a:r>
            <a:r>
              <a:rPr lang="en-US" altLang="zh-CN" sz="2400" dirty="0">
                <a:latin typeface="Times New Roman" panose="02020603050405020304" pitchFamily="18" charset="0"/>
              </a:rPr>
              <a:t>010”</a:t>
            </a:r>
            <a:r>
              <a:rPr lang="zh-CN" altLang="en-US" sz="2400" dirty="0">
                <a:latin typeface="Times New Roman" panose="02020603050405020304" pitchFamily="18" charset="0"/>
              </a:rPr>
              <a:t>。此外，与加法器高位多余输入端的处理方法不同，比较器高位多余输入端只要连接相同即可， 本电路中仍然接</a:t>
            </a:r>
            <a:r>
              <a:rPr lang="en-US" altLang="zh-CN" sz="2400" dirty="0">
                <a:latin typeface="Times New Roman" panose="02020603050405020304" pitchFamily="18" charset="0"/>
              </a:rPr>
              <a:t>0</a:t>
            </a:r>
            <a:r>
              <a:rPr lang="zh-CN" altLang="en-US" sz="2400" dirty="0">
                <a:latin typeface="Times New Roman" panose="02020603050405020304" pitchFamily="18" charset="0"/>
              </a:rPr>
              <a:t>。 </a:t>
            </a:r>
          </a:p>
        </p:txBody>
      </p:sp>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文本框 54273"/>
          <p:cNvSpPr txBox="1"/>
          <p:nvPr/>
        </p:nvSpPr>
        <p:spPr>
          <a:xfrm>
            <a:off x="2438400" y="5791200"/>
            <a:ext cx="2851150" cy="457200"/>
          </a:xfrm>
          <a:prstGeom prst="rect">
            <a:avLst/>
          </a:prstGeom>
          <a:noFill/>
          <a:ln w="9525">
            <a:noFill/>
          </a:ln>
        </p:spPr>
        <p:txBody>
          <a:bodyPr wrap="none" anchor="t" anchorCtr="0">
            <a:spAutoFit/>
          </a:bodyPr>
          <a:lstStyle/>
          <a:p>
            <a:r>
              <a:rPr lang="zh-CN" altLang="en-US" sz="2400" dirty="0">
                <a:latin typeface="Times New Roman" panose="02020603050405020304" pitchFamily="18" charset="0"/>
              </a:rPr>
              <a:t>图 </a:t>
            </a:r>
            <a:r>
              <a:rPr lang="en-US" altLang="zh-CN" sz="2400">
                <a:latin typeface="Times New Roman" panose="02020603050405020304" pitchFamily="18" charset="0"/>
              </a:rPr>
              <a:t>7</a:t>
            </a:r>
            <a:r>
              <a:rPr lang="zh-CN" altLang="en-US" sz="2400" dirty="0">
                <a:latin typeface="Times New Roman" panose="02020603050405020304" pitchFamily="18" charset="0"/>
              </a:rPr>
              <a:t>位二进制比较器</a:t>
            </a:r>
            <a:endParaRPr lang="zh-CN" altLang="en-US" sz="2400">
              <a:latin typeface="Times New Roman" panose="02020603050405020304" pitchFamily="18" charset="0"/>
            </a:endParaRPr>
          </a:p>
        </p:txBody>
      </p:sp>
      <p:graphicFrame>
        <p:nvGraphicFramePr>
          <p:cNvPr id="54275" name="对象 54274"/>
          <p:cNvGraphicFramePr/>
          <p:nvPr/>
        </p:nvGraphicFramePr>
        <p:xfrm>
          <a:off x="838200" y="838200"/>
          <a:ext cx="7467600" cy="4748213"/>
        </p:xfrm>
        <a:graphic>
          <a:graphicData uri="http://schemas.openxmlformats.org/presentationml/2006/ole">
            <mc:AlternateContent xmlns:mc="http://schemas.openxmlformats.org/markup-compatibility/2006">
              <mc:Choice xmlns:v="urn:schemas-microsoft-com:vml" Requires="v">
                <p:oleObj spid="_x0000_s1038" r:id="rId3" imgW="2819400" imgH="1790700" progId="Visio.Drawing.4">
                  <p:embed/>
                </p:oleObj>
              </mc:Choice>
              <mc:Fallback>
                <p:oleObj r:id="rId3" imgW="2819400" imgH="1790700" progId="Visio.Drawing.4">
                  <p:embed/>
                  <p:pic>
                    <p:nvPicPr>
                      <p:cNvPr id="54275" name="对象 54274"/>
                      <p:cNvPicPr/>
                      <p:nvPr/>
                    </p:nvPicPr>
                    <p:blipFill>
                      <a:blip r:embed="rId4"/>
                      <a:stretch>
                        <a:fillRect/>
                      </a:stretch>
                    </p:blipFill>
                    <p:spPr>
                      <a:xfrm>
                        <a:off x="838200" y="838200"/>
                        <a:ext cx="7467600" cy="4748213"/>
                      </a:xfrm>
                      <a:prstGeom prst="rect">
                        <a:avLst/>
                      </a:prstGeom>
                      <a:noFill/>
                      <a:ln w="38100">
                        <a:noFill/>
                        <a:miter/>
                      </a:ln>
                    </p:spPr>
                  </p:pic>
                </p:oleObj>
              </mc:Fallback>
            </mc:AlternateContent>
          </a:graphicData>
        </a:graphic>
      </p:graphicFrame>
    </p:spTree>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文本框 55297"/>
          <p:cNvSpPr txBox="1"/>
          <p:nvPr/>
        </p:nvSpPr>
        <p:spPr>
          <a:xfrm>
            <a:off x="228600" y="533400"/>
            <a:ext cx="8686800" cy="5495925"/>
          </a:xfrm>
          <a:prstGeom prst="rect">
            <a:avLst/>
          </a:prstGeom>
          <a:noFill/>
          <a:ln w="9525">
            <a:noFill/>
          </a:ln>
        </p:spPr>
        <p:txBody>
          <a:bodyPr>
            <a:spAutoFit/>
          </a:bodyPr>
          <a:lstStyle/>
          <a:p>
            <a:pPr>
              <a:lnSpc>
                <a:spcPct val="160000"/>
              </a:lnSpc>
              <a:spcBef>
                <a:spcPct val="50000"/>
              </a:spcBef>
            </a:pPr>
            <a:r>
              <a:rPr lang="en-US" altLang="zh-CN" sz="2400" dirty="0">
                <a:latin typeface="Times New Roman" panose="02020603050405020304" pitchFamily="18" charset="0"/>
              </a:rPr>
              <a:t>        2)  </a:t>
            </a:r>
            <a:r>
              <a:rPr lang="zh-CN" altLang="en-US" sz="2400" dirty="0">
                <a:latin typeface="Times New Roman" panose="02020603050405020304" pitchFamily="18" charset="0"/>
              </a:rPr>
              <a:t>比较器的应用</a:t>
            </a:r>
          </a:p>
          <a:p>
            <a:pPr>
              <a:lnSpc>
                <a:spcPct val="160000"/>
              </a:lnSpc>
              <a:spcBef>
                <a:spcPct val="50000"/>
              </a:spcBef>
            </a:pPr>
            <a:r>
              <a:rPr lang="zh-CN" altLang="en-US" sz="2400" dirty="0">
                <a:latin typeface="Times New Roman" panose="02020603050405020304" pitchFamily="18" charset="0"/>
              </a:rPr>
              <a:t>       利用比较器的“比较”功能，可以实现一些特殊的数字电路。 </a:t>
            </a:r>
          </a:p>
          <a:p>
            <a:pPr>
              <a:lnSpc>
                <a:spcPct val="160000"/>
              </a:lnSpc>
              <a:spcBef>
                <a:spcPct val="50000"/>
              </a:spcBef>
            </a:pPr>
            <a:r>
              <a:rPr lang="zh-CN" altLang="en-US" sz="2400" b="1" dirty="0">
                <a:latin typeface="Times New Roman" panose="02020603050405020304" pitchFamily="18" charset="0"/>
              </a:rPr>
              <a:t>      【例】</a:t>
            </a:r>
            <a:r>
              <a:rPr lang="zh-CN" altLang="en-US" sz="2400" dirty="0">
                <a:latin typeface="Times New Roman" panose="02020603050405020304" pitchFamily="18" charset="0"/>
              </a:rPr>
              <a:t>用</a:t>
            </a:r>
            <a:r>
              <a:rPr lang="en-US" altLang="zh-CN" sz="2400" dirty="0">
                <a:latin typeface="Times New Roman" panose="02020603050405020304" pitchFamily="18" charset="0"/>
              </a:rPr>
              <a:t>7485</a:t>
            </a:r>
            <a:r>
              <a:rPr lang="zh-CN" altLang="en-US" sz="2400" dirty="0">
                <a:latin typeface="Times New Roman" panose="02020603050405020304" pitchFamily="18" charset="0"/>
              </a:rPr>
              <a:t>构成</a:t>
            </a:r>
            <a:r>
              <a:rPr lang="en-US" altLang="zh-CN" sz="2400" dirty="0">
                <a:latin typeface="Times New Roman" panose="02020603050405020304" pitchFamily="18" charset="0"/>
              </a:rPr>
              <a:t>4</a:t>
            </a:r>
            <a:r>
              <a:rPr lang="zh-CN" altLang="en-US" sz="2400" dirty="0">
                <a:latin typeface="Times New Roman" panose="02020603050405020304" pitchFamily="18" charset="0"/>
              </a:rPr>
              <a:t>位二进制数的判别电路，当输入二进制数</a:t>
            </a:r>
            <a:r>
              <a:rPr lang="en-US" altLang="zh-CN" sz="2400" dirty="0">
                <a:latin typeface="Times New Roman" panose="02020603050405020304" pitchFamily="18" charset="0"/>
              </a:rPr>
              <a:t>B</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B</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B</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B</a:t>
            </a:r>
            <a:r>
              <a:rPr lang="en-US" altLang="zh-CN" sz="2400" baseline="-25000" dirty="0">
                <a:latin typeface="Times New Roman" panose="02020603050405020304" pitchFamily="18" charset="0"/>
              </a:rPr>
              <a:t>0</a:t>
            </a:r>
            <a:r>
              <a:rPr lang="en-US" altLang="zh-CN" sz="2400" dirty="0">
                <a:latin typeface="Times New Roman" panose="02020603050405020304" pitchFamily="18" charset="0"/>
              </a:rPr>
              <a:t>≥(1010)</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时，判别电路输出 </a:t>
            </a:r>
            <a:r>
              <a:rPr lang="en-US" altLang="zh-CN" sz="2400" dirty="0">
                <a:latin typeface="Times New Roman" panose="02020603050405020304" pitchFamily="18" charset="0"/>
              </a:rPr>
              <a:t>F</a:t>
            </a:r>
            <a:r>
              <a:rPr lang="zh-CN" altLang="en-US" sz="2400" dirty="0">
                <a:latin typeface="Times New Roman" panose="02020603050405020304" pitchFamily="18" charset="0"/>
              </a:rPr>
              <a:t>为</a:t>
            </a:r>
            <a:r>
              <a:rPr lang="en-US" altLang="zh-CN" sz="2400" dirty="0">
                <a:latin typeface="Times New Roman" panose="02020603050405020304" pitchFamily="18" charset="0"/>
              </a:rPr>
              <a:t>1</a:t>
            </a:r>
            <a:r>
              <a:rPr lang="zh-CN" altLang="en-US" sz="2400" dirty="0">
                <a:latin typeface="Times New Roman" panose="02020603050405020304" pitchFamily="18" charset="0"/>
              </a:rPr>
              <a:t>，否则输出</a:t>
            </a:r>
            <a:r>
              <a:rPr lang="en-US" altLang="zh-CN" sz="2400" dirty="0">
                <a:latin typeface="Times New Roman" panose="02020603050405020304" pitchFamily="18" charset="0"/>
              </a:rPr>
              <a:t>F</a:t>
            </a:r>
            <a:r>
              <a:rPr lang="zh-CN" altLang="en-US" sz="2400" dirty="0">
                <a:latin typeface="Times New Roman" panose="02020603050405020304" pitchFamily="18" charset="0"/>
              </a:rPr>
              <a:t>为</a:t>
            </a:r>
            <a:r>
              <a:rPr lang="en-US" altLang="zh-CN" sz="2400" dirty="0">
                <a:latin typeface="Times New Roman" panose="02020603050405020304" pitchFamily="18" charset="0"/>
              </a:rPr>
              <a:t>0</a:t>
            </a:r>
            <a:r>
              <a:rPr lang="zh-CN" altLang="en-US" sz="2400" dirty="0">
                <a:latin typeface="Times New Roman" panose="02020603050405020304" pitchFamily="18" charset="0"/>
              </a:rPr>
              <a:t>。 </a:t>
            </a:r>
          </a:p>
          <a:p>
            <a:pPr>
              <a:lnSpc>
                <a:spcPct val="160000"/>
              </a:lnSpc>
              <a:spcBef>
                <a:spcPct val="50000"/>
              </a:spcBef>
            </a:pPr>
            <a:r>
              <a:rPr lang="zh-CN" altLang="en-US" sz="2400" dirty="0">
                <a:latin typeface="Times New Roman" panose="02020603050405020304" pitchFamily="18" charset="0"/>
              </a:rPr>
              <a:t>      </a:t>
            </a:r>
            <a:r>
              <a:rPr lang="zh-CN" altLang="en-US" sz="2400" b="1" dirty="0">
                <a:latin typeface="Times New Roman" panose="02020603050405020304" pitchFamily="18" charset="0"/>
              </a:rPr>
              <a:t>解</a:t>
            </a:r>
            <a:r>
              <a:rPr lang="zh-CN" altLang="en-US" sz="2400" dirty="0">
                <a:latin typeface="Times New Roman" panose="02020603050405020304" pitchFamily="18" charset="0"/>
              </a:rPr>
              <a:t>  将输入二进制数</a:t>
            </a:r>
            <a:r>
              <a:rPr lang="en-US" altLang="zh-CN" sz="2400" dirty="0">
                <a:latin typeface="Times New Roman" panose="02020603050405020304" pitchFamily="18" charset="0"/>
              </a:rPr>
              <a:t>B</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B</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B</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B</a:t>
            </a:r>
            <a:r>
              <a:rPr lang="en-US" altLang="zh-CN" sz="2400" baseline="-25000" dirty="0">
                <a:latin typeface="Times New Roman" panose="02020603050405020304" pitchFamily="18" charset="0"/>
              </a:rPr>
              <a:t>0</a:t>
            </a:r>
            <a:r>
              <a:rPr lang="zh-CN" altLang="en-US" sz="2400" dirty="0">
                <a:latin typeface="Times New Roman" panose="02020603050405020304" pitchFamily="18" charset="0"/>
              </a:rPr>
              <a:t>与</a:t>
            </a:r>
            <a:r>
              <a:rPr lang="en-US" altLang="zh-CN" sz="2400" dirty="0">
                <a:latin typeface="Times New Roman" panose="02020603050405020304" pitchFamily="18" charset="0"/>
              </a:rPr>
              <a:t>(1001)</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进行比较，即将</a:t>
            </a:r>
            <a:r>
              <a:rPr lang="en-US" altLang="zh-CN" sz="2400" dirty="0">
                <a:latin typeface="Times New Roman" panose="02020603050405020304" pitchFamily="18" charset="0"/>
              </a:rPr>
              <a:t>7485</a:t>
            </a:r>
          </a:p>
          <a:p>
            <a:pPr>
              <a:lnSpc>
                <a:spcPct val="160000"/>
              </a:lnSpc>
              <a:spcBef>
                <a:spcPct val="50000"/>
              </a:spcBef>
            </a:pPr>
            <a:r>
              <a:rPr lang="zh-CN" altLang="en-US" sz="2400" dirty="0">
                <a:latin typeface="Times New Roman" panose="02020603050405020304" pitchFamily="18" charset="0"/>
              </a:rPr>
              <a:t>的</a:t>
            </a:r>
            <a:r>
              <a:rPr lang="en-US" altLang="zh-CN" sz="2400" dirty="0">
                <a:latin typeface="Times New Roman" panose="02020603050405020304" pitchFamily="18" charset="0"/>
              </a:rPr>
              <a:t>A</a:t>
            </a:r>
            <a:r>
              <a:rPr lang="zh-CN" altLang="en-US" sz="2400" dirty="0">
                <a:latin typeface="Times New Roman" panose="02020603050405020304" pitchFamily="18" charset="0"/>
              </a:rPr>
              <a:t>输入端接</a:t>
            </a:r>
            <a:r>
              <a:rPr lang="en-US" altLang="zh-CN" sz="2400" dirty="0">
                <a:latin typeface="Times New Roman" panose="02020603050405020304" pitchFamily="18" charset="0"/>
              </a:rPr>
              <a:t>B</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B</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B</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B</a:t>
            </a:r>
            <a:r>
              <a:rPr lang="en-US" altLang="zh-CN" sz="2400" baseline="-25000" dirty="0">
                <a:latin typeface="Times New Roman" panose="02020603050405020304" pitchFamily="18" charset="0"/>
              </a:rPr>
              <a:t>0</a:t>
            </a:r>
            <a:r>
              <a:rPr lang="zh-CN" altLang="en-US" sz="2400" dirty="0">
                <a:latin typeface="Times New Roman" panose="02020603050405020304" pitchFamily="18" charset="0"/>
              </a:rPr>
              <a:t>，</a:t>
            </a:r>
            <a:r>
              <a:rPr lang="en-US" altLang="zh-CN" sz="2400" dirty="0">
                <a:latin typeface="Times New Roman" panose="02020603050405020304" pitchFamily="18" charset="0"/>
              </a:rPr>
              <a:t>B</a:t>
            </a:r>
            <a:r>
              <a:rPr lang="zh-CN" altLang="en-US" sz="2400" dirty="0">
                <a:latin typeface="Times New Roman" panose="02020603050405020304" pitchFamily="18" charset="0"/>
              </a:rPr>
              <a:t>输入端接</a:t>
            </a:r>
            <a:r>
              <a:rPr lang="en-US" altLang="zh-CN" sz="2400" dirty="0">
                <a:latin typeface="Times New Roman" panose="02020603050405020304" pitchFamily="18" charset="0"/>
              </a:rPr>
              <a:t>(1001)</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，则当输入二进制数</a:t>
            </a:r>
            <a:r>
              <a:rPr lang="en-US" altLang="zh-CN" sz="2400" dirty="0">
                <a:latin typeface="Times New Roman" panose="02020603050405020304" pitchFamily="18" charset="0"/>
              </a:rPr>
              <a:t>B</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B</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B</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B</a:t>
            </a:r>
            <a:r>
              <a:rPr lang="en-US" altLang="zh-CN" sz="2400" baseline="-25000" dirty="0">
                <a:latin typeface="Times New Roman" panose="02020603050405020304" pitchFamily="18" charset="0"/>
              </a:rPr>
              <a:t>0</a:t>
            </a:r>
            <a:r>
              <a:rPr lang="en-US" altLang="zh-CN" sz="2400" dirty="0">
                <a:latin typeface="Times New Roman" panose="02020603050405020304" pitchFamily="18" charset="0"/>
              </a:rPr>
              <a:t>≥(1010)</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 </a:t>
            </a:r>
            <a:r>
              <a:rPr lang="zh-CN" altLang="en-US" sz="2400" dirty="0">
                <a:latin typeface="Times New Roman" panose="02020603050405020304" pitchFamily="18" charset="0"/>
              </a:rPr>
              <a:t>时，比较器</a:t>
            </a:r>
            <a:r>
              <a:rPr lang="en-US" altLang="zh-CN" sz="2400" dirty="0">
                <a:latin typeface="Times New Roman" panose="02020603050405020304" pitchFamily="18" charset="0"/>
              </a:rPr>
              <a:t>A</a:t>
            </a:r>
            <a:r>
              <a:rPr lang="zh-CN" altLang="en-US" sz="2400" dirty="0">
                <a:latin typeface="Times New Roman" panose="02020603050405020304" pitchFamily="18" charset="0"/>
              </a:rPr>
              <a:t>＞</a:t>
            </a:r>
            <a:r>
              <a:rPr lang="en-US" altLang="zh-CN" sz="2400" dirty="0">
                <a:latin typeface="Times New Roman" panose="02020603050405020304" pitchFamily="18" charset="0"/>
              </a:rPr>
              <a:t>B</a:t>
            </a:r>
            <a:r>
              <a:rPr lang="zh-CN" altLang="en-US" sz="2400" dirty="0">
                <a:latin typeface="Times New Roman" panose="02020603050405020304" pitchFamily="18" charset="0"/>
              </a:rPr>
              <a:t>端输出为</a:t>
            </a:r>
            <a:r>
              <a:rPr lang="en-US" altLang="zh-CN" sz="2400" dirty="0">
                <a:latin typeface="Times New Roman" panose="02020603050405020304" pitchFamily="18" charset="0"/>
              </a:rPr>
              <a:t>1</a:t>
            </a:r>
            <a:r>
              <a:rPr lang="zh-CN" altLang="en-US" sz="2400" dirty="0">
                <a:latin typeface="Times New Roman" panose="02020603050405020304" pitchFamily="18" charset="0"/>
              </a:rPr>
              <a:t>。因此，可用</a:t>
            </a:r>
            <a:r>
              <a:rPr lang="en-US" altLang="zh-CN" sz="2400" dirty="0">
                <a:latin typeface="Times New Roman" panose="02020603050405020304" pitchFamily="18" charset="0"/>
              </a:rPr>
              <a:t>A</a:t>
            </a:r>
            <a:r>
              <a:rPr lang="zh-CN" altLang="en-US" sz="2400" dirty="0">
                <a:latin typeface="Times New Roman" panose="02020603050405020304" pitchFamily="18" charset="0"/>
              </a:rPr>
              <a:t>＞</a:t>
            </a:r>
            <a:r>
              <a:rPr lang="en-US" altLang="zh-CN" sz="2400" dirty="0">
                <a:latin typeface="Times New Roman" panose="02020603050405020304" pitchFamily="18" charset="0"/>
              </a:rPr>
              <a:t>B</a:t>
            </a:r>
            <a:r>
              <a:rPr lang="zh-CN" altLang="en-US" sz="2400" dirty="0">
                <a:latin typeface="Times New Roman" panose="02020603050405020304" pitchFamily="18" charset="0"/>
              </a:rPr>
              <a:t>端作为判别电路的输出</a:t>
            </a:r>
            <a:r>
              <a:rPr lang="en-US" altLang="zh-CN" sz="2400" dirty="0">
                <a:latin typeface="Times New Roman" panose="02020603050405020304" pitchFamily="18" charset="0"/>
              </a:rPr>
              <a:t>F</a:t>
            </a:r>
            <a:r>
              <a:rPr lang="zh-CN" altLang="en-US" sz="2400" dirty="0">
                <a:latin typeface="Times New Roman" panose="02020603050405020304" pitchFamily="18" charset="0"/>
              </a:rPr>
              <a:t>，电路连接如图所示。</a:t>
            </a:r>
          </a:p>
        </p:txBody>
      </p:sp>
    </p:spTree>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文本框 56321"/>
          <p:cNvSpPr txBox="1"/>
          <p:nvPr/>
        </p:nvSpPr>
        <p:spPr>
          <a:xfrm>
            <a:off x="3635375" y="5805488"/>
            <a:ext cx="1784350" cy="457200"/>
          </a:xfrm>
          <a:prstGeom prst="rect">
            <a:avLst/>
          </a:prstGeom>
          <a:noFill/>
          <a:ln w="9525">
            <a:noFill/>
          </a:ln>
        </p:spPr>
        <p:txBody>
          <a:bodyPr wrap="none" anchor="t" anchorCtr="0">
            <a:spAutoFit/>
          </a:bodyPr>
          <a:lstStyle/>
          <a:p>
            <a:r>
              <a:rPr lang="zh-CN" altLang="en-US" sz="2400" dirty="0">
                <a:latin typeface="Times New Roman" panose="02020603050405020304" pitchFamily="18" charset="0"/>
              </a:rPr>
              <a:t>图 判别电路</a:t>
            </a:r>
            <a:endParaRPr lang="zh-CN" altLang="en-US" sz="2400">
              <a:latin typeface="Times New Roman" panose="02020603050405020304" pitchFamily="18" charset="0"/>
            </a:endParaRPr>
          </a:p>
        </p:txBody>
      </p:sp>
      <p:graphicFrame>
        <p:nvGraphicFramePr>
          <p:cNvPr id="56323" name="对象 56322"/>
          <p:cNvGraphicFramePr/>
          <p:nvPr/>
        </p:nvGraphicFramePr>
        <p:xfrm>
          <a:off x="2743200" y="609600"/>
          <a:ext cx="4133850" cy="5105400"/>
        </p:xfrm>
        <a:graphic>
          <a:graphicData uri="http://schemas.openxmlformats.org/presentationml/2006/ole">
            <mc:AlternateContent xmlns:mc="http://schemas.openxmlformats.org/markup-compatibility/2006">
              <mc:Choice xmlns:v="urn:schemas-microsoft-com:vml" Requires="v">
                <p:oleObj spid="_x0000_s2062" r:id="rId3" imgW="1455420" imgH="1790700" progId="Visio.Drawing.4">
                  <p:embed/>
                </p:oleObj>
              </mc:Choice>
              <mc:Fallback>
                <p:oleObj r:id="rId3" imgW="1455420" imgH="1790700" progId="Visio.Drawing.4">
                  <p:embed/>
                  <p:pic>
                    <p:nvPicPr>
                      <p:cNvPr id="56323" name="对象 56322"/>
                      <p:cNvPicPr/>
                      <p:nvPr/>
                    </p:nvPicPr>
                    <p:blipFill>
                      <a:blip r:embed="rId4"/>
                      <a:stretch>
                        <a:fillRect/>
                      </a:stretch>
                    </p:blipFill>
                    <p:spPr>
                      <a:xfrm>
                        <a:off x="2743200" y="609600"/>
                        <a:ext cx="4133850" cy="5105400"/>
                      </a:xfrm>
                      <a:prstGeom prst="rect">
                        <a:avLst/>
                      </a:prstGeom>
                      <a:noFill/>
                      <a:ln w="38100">
                        <a:noFill/>
                        <a:miter/>
                      </a:ln>
                    </p:spPr>
                  </p:pic>
                </p:oleObj>
              </mc:Fallback>
            </mc:AlternateContent>
          </a:graphicData>
        </a:graphic>
      </p:graphicFrame>
    </p:spTree>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Rectangle 2"/>
          <p:cNvSpPr>
            <a:spLocks noGrp="1" noChangeArrowheads="1"/>
          </p:cNvSpPr>
          <p:nvPr>
            <p:ph type="title"/>
          </p:nvPr>
        </p:nvSpPr>
        <p:spPr/>
        <p:txBody>
          <a:bodyPr/>
          <a:lstStyle/>
          <a:p>
            <a:br>
              <a:rPr lang="en-US" altLang="zh-CN" dirty="0"/>
            </a:br>
            <a:r>
              <a:rPr lang="en-US" altLang="zh-CN" b="1" dirty="0"/>
              <a:t>3. 3. 2  </a:t>
            </a:r>
            <a:r>
              <a:rPr lang="zh-CN" altLang="en-US" b="1" dirty="0"/>
              <a:t>数据分配器</a:t>
            </a:r>
            <a:br>
              <a:rPr lang="zh-CN" altLang="en-US" b="1" dirty="0"/>
            </a:br>
            <a:r>
              <a:rPr lang="zh-CN" altLang="en-US" b="1" dirty="0"/>
              <a:t>　　</a:t>
            </a:r>
            <a:r>
              <a:rPr lang="zh-CN" altLang="en-US" dirty="0"/>
              <a:t>数据分配器的逻辑功能是将一个输入信号根据选择信号的不同取值，传送至多个输出数据通道中的某一个。数据分配器又称为多路分配器。一个数据分配器有一个数据输入</a:t>
            </a:r>
            <a:br>
              <a:rPr lang="zh-CN" altLang="en-US" dirty="0"/>
            </a:br>
            <a:r>
              <a:rPr lang="zh-CN" altLang="en-US" dirty="0"/>
              <a:t>端，</a:t>
            </a:r>
            <a:r>
              <a:rPr lang="en-US" altLang="zh-CN" dirty="0"/>
              <a:t> n </a:t>
            </a:r>
            <a:r>
              <a:rPr lang="zh-CN" altLang="en-US" dirty="0"/>
              <a:t>个选择输入端，</a:t>
            </a:r>
            <a:r>
              <a:rPr lang="en-US" altLang="zh-CN" dirty="0"/>
              <a:t>2</a:t>
            </a:r>
            <a:r>
              <a:rPr lang="en-US" altLang="zh-CN" baseline="30000" dirty="0"/>
              <a:t>n</a:t>
            </a:r>
            <a:r>
              <a:rPr lang="zh-CN" altLang="en-US" dirty="0"/>
              <a:t>个数据输出端。</a:t>
            </a:r>
            <a:br>
              <a:rPr lang="zh-CN" altLang="en-US" dirty="0"/>
            </a:br>
            <a:r>
              <a:rPr lang="zh-CN" altLang="en-US" dirty="0"/>
              <a:t>　　图 </a:t>
            </a:r>
            <a:r>
              <a:rPr lang="en-US" altLang="zh-CN" dirty="0"/>
              <a:t>3</a:t>
            </a:r>
            <a:r>
              <a:rPr lang="zh-CN" altLang="en-US" dirty="0"/>
              <a:t>－</a:t>
            </a:r>
            <a:r>
              <a:rPr lang="en-US" altLang="zh-CN" dirty="0"/>
              <a:t>37 </a:t>
            </a:r>
            <a:r>
              <a:rPr lang="zh-CN" altLang="en-US" dirty="0"/>
              <a:t>是一个一路 </a:t>
            </a:r>
            <a:r>
              <a:rPr lang="en-US" altLang="zh-CN" dirty="0"/>
              <a:t>- </a:t>
            </a:r>
            <a:r>
              <a:rPr lang="zh-CN" altLang="en-US" dirty="0"/>
              <a:t>四路数据分配器的框图，真值表如表 </a:t>
            </a:r>
            <a:r>
              <a:rPr lang="en-US" altLang="zh-CN" dirty="0"/>
              <a:t>3</a:t>
            </a:r>
            <a:r>
              <a:rPr lang="zh-CN" altLang="en-US" dirty="0"/>
              <a:t>－</a:t>
            </a:r>
            <a:r>
              <a:rPr lang="en-US" altLang="zh-CN" dirty="0"/>
              <a:t>20 </a:t>
            </a:r>
            <a:r>
              <a:rPr lang="zh-CN" altLang="en-US" dirty="0"/>
              <a:t>所示。</a:t>
            </a:r>
            <a:endParaRPr lang="zh-CN" altLang="zh-CN" dirty="0"/>
          </a:p>
        </p:txBody>
      </p:sp>
      <p:sp>
        <p:nvSpPr>
          <p:cNvPr id="48230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Rectangle 2"/>
          <p:cNvSpPr>
            <a:spLocks noGrp="1" noChangeArrowheads="1"/>
          </p:cNvSpPr>
          <p:nvPr>
            <p:ph type="title"/>
          </p:nvPr>
        </p:nvSpPr>
        <p:spPr/>
        <p:txBody>
          <a:bodyPr/>
          <a:lstStyle/>
          <a:p>
            <a:endParaRPr lang="zh-CN" altLang="zh-CN" dirty="0"/>
          </a:p>
        </p:txBody>
      </p:sp>
      <p:sp>
        <p:nvSpPr>
          <p:cNvPr id="485379" name="Rectangle 3"/>
          <p:cNvSpPr>
            <a:spLocks noGrp="1" noChangeArrowheads="1"/>
          </p:cNvSpPr>
          <p:nvPr>
            <p:ph type="body" idx="1"/>
          </p:nvPr>
        </p:nvSpPr>
        <p:spPr/>
        <p:txBody>
          <a:bodyPr/>
          <a:lstStyle/>
          <a:p>
            <a:r>
              <a:rPr lang="zh-CN" altLang="en-US" dirty="0"/>
              <a:t>图 </a:t>
            </a:r>
            <a:r>
              <a:rPr lang="en-US" altLang="zh-CN" dirty="0"/>
              <a:t>3</a:t>
            </a:r>
            <a:r>
              <a:rPr lang="zh-CN" altLang="en-US" dirty="0"/>
              <a:t>－</a:t>
            </a:r>
            <a:r>
              <a:rPr lang="en-US" altLang="zh-CN" dirty="0"/>
              <a:t>37  </a:t>
            </a:r>
            <a:r>
              <a:rPr lang="zh-CN" altLang="en-US" dirty="0"/>
              <a:t>一路 </a:t>
            </a:r>
            <a:r>
              <a:rPr lang="en-US" altLang="zh-CN" dirty="0"/>
              <a:t>- </a:t>
            </a:r>
            <a:r>
              <a:rPr lang="zh-CN" altLang="en-US" dirty="0"/>
              <a:t>四路数据分配器框图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3206" y="1109338"/>
            <a:ext cx="5277587" cy="4639323"/>
          </a:xfrm>
          <a:prstGeom prst="rect">
            <a:avLst/>
          </a:prstGeom>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2"/>
          <p:cNvSpPr>
            <a:spLocks noGrp="1" noChangeArrowheads="1"/>
          </p:cNvSpPr>
          <p:nvPr>
            <p:ph type="title"/>
          </p:nvPr>
        </p:nvSpPr>
        <p:spPr/>
        <p:txBody>
          <a:bodyPr/>
          <a:lstStyle/>
          <a:p>
            <a:endParaRPr lang="zh-CN" altLang="zh-CN" dirty="0"/>
          </a:p>
        </p:txBody>
      </p:sp>
      <p:sp>
        <p:nvSpPr>
          <p:cNvPr id="484355"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9443" y="1844824"/>
            <a:ext cx="4925113" cy="381053"/>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5180" y="2452551"/>
            <a:ext cx="4753639" cy="1952898"/>
          </a:xfrm>
          <a:prstGeom prst="rect">
            <a:avLst/>
          </a:prstGeom>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Rectangle 2"/>
          <p:cNvSpPr>
            <a:spLocks noGrp="1" noChangeArrowheads="1"/>
          </p:cNvSpPr>
          <p:nvPr>
            <p:ph type="title"/>
          </p:nvPr>
        </p:nvSpPr>
        <p:spPr/>
        <p:txBody>
          <a:bodyPr/>
          <a:lstStyle/>
          <a:p>
            <a:br>
              <a:rPr lang="en-US" altLang="zh-CN" dirty="0"/>
            </a:br>
            <a:r>
              <a:rPr lang="zh-CN" altLang="en-US" dirty="0"/>
              <a:t>　　由真值表可以得到输出的逻辑表达式为</a:t>
            </a:r>
            <a:endParaRPr lang="zh-CN" altLang="zh-CN" dirty="0"/>
          </a:p>
        </p:txBody>
      </p:sp>
      <p:sp>
        <p:nvSpPr>
          <p:cNvPr id="483331"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9752" y="1844824"/>
            <a:ext cx="2088232" cy="2306022"/>
          </a:xfrm>
          <a:prstGeom prst="rect">
            <a:avLst/>
          </a:prstGeom>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6" name="Rectangle 2"/>
          <p:cNvSpPr>
            <a:spLocks noGrp="1" noChangeArrowheads="1"/>
          </p:cNvSpPr>
          <p:nvPr>
            <p:ph type="title"/>
          </p:nvPr>
        </p:nvSpPr>
        <p:spPr/>
        <p:txBody>
          <a:bodyPr/>
          <a:lstStyle/>
          <a:p>
            <a:endParaRPr lang="zh-CN" altLang="zh-CN"/>
          </a:p>
        </p:txBody>
      </p:sp>
      <p:sp>
        <p:nvSpPr>
          <p:cNvPr id="487427" name="Rectangle 3"/>
          <p:cNvSpPr>
            <a:spLocks noGrp="1" noChangeArrowheads="1"/>
          </p:cNvSpPr>
          <p:nvPr>
            <p:ph type="body" idx="1"/>
          </p:nvPr>
        </p:nvSpPr>
        <p:spPr/>
        <p:txBody>
          <a:bodyPr/>
          <a:lstStyle/>
          <a:p>
            <a:r>
              <a:rPr lang="zh-CN" altLang="en-US" dirty="0"/>
              <a:t>图 </a:t>
            </a:r>
            <a:r>
              <a:rPr lang="en-US" altLang="zh-CN" dirty="0"/>
              <a:t>3</a:t>
            </a:r>
            <a:r>
              <a:rPr lang="zh-CN" altLang="en-US" dirty="0"/>
              <a:t>－</a:t>
            </a:r>
            <a:r>
              <a:rPr lang="en-US" altLang="zh-CN" dirty="0"/>
              <a:t>38  </a:t>
            </a:r>
            <a:r>
              <a:rPr lang="zh-CN" altLang="en-US" dirty="0"/>
              <a:t>由与门、非门构成的一路 </a:t>
            </a:r>
            <a:r>
              <a:rPr lang="en-US" altLang="zh-CN" dirty="0"/>
              <a:t>- </a:t>
            </a:r>
            <a:r>
              <a:rPr lang="zh-CN" altLang="en-US" dirty="0"/>
              <a:t>四路数据分配器逻辑图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5776" y="1052736"/>
            <a:ext cx="4249309" cy="4565373"/>
          </a:xfrm>
          <a:prstGeom prst="rect">
            <a:avLst/>
          </a:prstGeom>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2"/>
          <p:cNvSpPr>
            <a:spLocks noGrp="1" noChangeArrowheads="1"/>
          </p:cNvSpPr>
          <p:nvPr>
            <p:ph type="title"/>
          </p:nvPr>
        </p:nvSpPr>
        <p:spPr/>
        <p:txBody>
          <a:bodyPr/>
          <a:lstStyle/>
          <a:p>
            <a:br>
              <a:rPr lang="en-US" altLang="zh-CN" dirty="0"/>
            </a:br>
            <a:r>
              <a:rPr lang="zh-CN" altLang="en-US" dirty="0"/>
              <a:t>　　根据表达式可以画出用与门、非门实现的逻辑图，如图 </a:t>
            </a:r>
            <a:r>
              <a:rPr lang="en-US" altLang="zh-CN" dirty="0"/>
              <a:t>3</a:t>
            </a:r>
            <a:r>
              <a:rPr lang="zh-CN" altLang="en-US" dirty="0"/>
              <a:t>－</a:t>
            </a:r>
            <a:r>
              <a:rPr lang="en-US" altLang="zh-CN" dirty="0"/>
              <a:t>38 </a:t>
            </a:r>
            <a:r>
              <a:rPr lang="zh-CN" altLang="en-US" dirty="0"/>
              <a:t>所示。</a:t>
            </a:r>
            <a:br>
              <a:rPr lang="zh-CN" altLang="en-US" dirty="0"/>
            </a:br>
            <a:r>
              <a:rPr lang="zh-CN" altLang="en-US" dirty="0"/>
              <a:t>　　由数据分配器的逻辑表达式中可以看出以下特点</a:t>
            </a:r>
            <a:r>
              <a:rPr lang="en-US" altLang="zh-CN" dirty="0"/>
              <a:t>:</a:t>
            </a:r>
            <a:r>
              <a:rPr lang="zh-CN" altLang="en-US" dirty="0"/>
              <a:t>选择输入端的各个不同最小项作为因子会出现在各个输出的表达式中。这与译码器电路的输出为地址输入的各个不同的最小项</a:t>
            </a:r>
            <a:r>
              <a:rPr lang="en-US" altLang="zh-CN" dirty="0"/>
              <a:t>(</a:t>
            </a:r>
            <a:r>
              <a:rPr lang="zh-CN" altLang="en-US" dirty="0"/>
              <a:t>或其反</a:t>
            </a:r>
            <a:r>
              <a:rPr lang="en-US" altLang="zh-CN" dirty="0"/>
              <a:t>)</a:t>
            </a:r>
            <a:r>
              <a:rPr lang="zh-CN" altLang="en-US" dirty="0"/>
              <a:t>这一特点相同。实际上，我们可以利用译码器来实现数据分配器的功能。</a:t>
            </a:r>
            <a:endParaRPr lang="zh-CN" altLang="zh-CN" dirty="0"/>
          </a:p>
        </p:txBody>
      </p:sp>
      <p:sp>
        <p:nvSpPr>
          <p:cNvPr id="48640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11650" name="Rectangle 2"/>
              <p:cNvSpPr>
                <a:spLocks noGrp="1" noChangeArrowheads="1"/>
              </p:cNvSpPr>
              <p:nvPr>
                <p:ph type="title"/>
              </p:nvPr>
            </p:nvSpPr>
            <p:spPr/>
            <p:txBody>
              <a:bodyPr/>
              <a:lstStyle/>
              <a:p>
                <a:br>
                  <a:rPr lang="en-US" altLang="zh-CN" dirty="0"/>
                </a:br>
                <a:r>
                  <a:rPr lang="zh-CN" altLang="en-US" dirty="0"/>
                  <a:t>　　</a:t>
                </a:r>
                <a:r>
                  <a:rPr lang="zh-CN" altLang="en-US" b="1" dirty="0"/>
                  <a:t> </a:t>
                </a:r>
                <a:r>
                  <a:rPr lang="en-US" altLang="zh-CN" b="1" dirty="0"/>
                  <a:t>4.MSI74138 </a:t>
                </a:r>
                <a:r>
                  <a:rPr lang="zh-CN" altLang="en-US" b="1" dirty="0"/>
                  <a:t>译码器</a:t>
                </a:r>
                <a:br>
                  <a:rPr lang="zh-CN" altLang="en-US" b="1" dirty="0"/>
                </a:br>
                <a:r>
                  <a:rPr lang="zh-CN" altLang="en-US" b="1" dirty="0"/>
                  <a:t>　　</a:t>
                </a:r>
                <a:r>
                  <a:rPr lang="en-US" altLang="zh-CN" dirty="0"/>
                  <a:t>74138 </a:t>
                </a:r>
                <a:r>
                  <a:rPr lang="zh-CN" altLang="en-US" dirty="0"/>
                  <a:t>是 </a:t>
                </a:r>
                <a:r>
                  <a:rPr lang="en-US" altLang="zh-CN" dirty="0"/>
                  <a:t>3 </a:t>
                </a:r>
                <a:r>
                  <a:rPr lang="zh-CN" altLang="en-US" dirty="0"/>
                  <a:t>线 </a:t>
                </a:r>
                <a:r>
                  <a:rPr lang="en-US" altLang="zh-CN" dirty="0"/>
                  <a:t>-8 </a:t>
                </a:r>
                <a:r>
                  <a:rPr lang="zh-CN" altLang="en-US" dirty="0"/>
                  <a:t>线二进制译码器，它有三个输入和八个输出，输入高电平有效，输出低电平有效。 </a:t>
                </a:r>
                <a:r>
                  <a:rPr lang="en-US" altLang="zh-CN" dirty="0"/>
                  <a:t>74138 </a:t>
                </a:r>
                <a:r>
                  <a:rPr lang="zh-CN" altLang="en-US" dirty="0"/>
                  <a:t>有三个使能输入端 </a:t>
                </a:r>
                <a:r>
                  <a:rPr lang="en-US" altLang="zh-CN" dirty="0"/>
                  <a:t>S</a:t>
                </a:r>
                <a:r>
                  <a:rPr lang="en-US" altLang="zh-CN" baseline="-25000" dirty="0"/>
                  <a:t>1</a:t>
                </a:r>
                <a:r>
                  <a:rPr lang="en-US" altLang="zh-CN" dirty="0"/>
                  <a:t> </a:t>
                </a:r>
                <a:r>
                  <a:rPr lang="zh-CN" altLang="en-US" dirty="0"/>
                  <a:t>、</a:t>
                </a:r>
                <a14:m>
                  <m:oMath xmlns:m="http://schemas.openxmlformats.org/officeDocument/2006/math">
                    <m:acc>
                      <m:accPr>
                        <m:chr m:val="̅"/>
                        <m:ctrlPr>
                          <a:rPr lang="zh-CN" altLang="en-US" i="1" smtClean="0">
                            <a:latin typeface="Cambria Math" panose="02040503050406030204" pitchFamily="18" charset="0"/>
                          </a:rPr>
                        </m:ctrlPr>
                      </m:accPr>
                      <m:e>
                        <m:r>
                          <m:rPr>
                            <m:nor/>
                          </m:rPr>
                          <a:rPr lang="en-US" altLang="zh-CN" dirty="0"/>
                          <m:t>S</m:t>
                        </m:r>
                      </m:e>
                    </m:acc>
                  </m:oMath>
                </a14:m>
                <a:r>
                  <a:rPr lang="en-US" altLang="zh-CN" dirty="0"/>
                  <a:t> </a:t>
                </a:r>
                <a:r>
                  <a:rPr lang="en-US" altLang="zh-CN" baseline="-25000" dirty="0"/>
                  <a:t>2</a:t>
                </a:r>
                <a:r>
                  <a:rPr lang="en-US" altLang="zh-CN" dirty="0"/>
                  <a:t> </a:t>
                </a:r>
                <a:r>
                  <a:rPr lang="zh-CN" altLang="en-US" dirty="0"/>
                  <a:t>和</a:t>
                </a:r>
                <a14:m>
                  <m:oMath xmlns:m="http://schemas.openxmlformats.org/officeDocument/2006/math">
                    <m:acc>
                      <m:accPr>
                        <m:chr m:val="̅"/>
                        <m:ctrlPr>
                          <a:rPr lang="zh-CN" altLang="en-US" i="1">
                            <a:latin typeface="Cambria Math" panose="02040503050406030204" pitchFamily="18" charset="0"/>
                          </a:rPr>
                        </m:ctrlPr>
                      </m:accPr>
                      <m:e>
                        <m:r>
                          <m:rPr>
                            <m:nor/>
                          </m:rPr>
                          <a:rPr lang="en-US" altLang="zh-CN" dirty="0"/>
                          <m:t>S</m:t>
                        </m:r>
                      </m:e>
                    </m:acc>
                  </m:oMath>
                </a14:m>
                <a:r>
                  <a:rPr lang="en-US" altLang="zh-CN" baseline="-25000" dirty="0"/>
                  <a:t>3</a:t>
                </a:r>
                <a:r>
                  <a:rPr lang="en-US" altLang="zh-CN" dirty="0"/>
                  <a:t> </a:t>
                </a:r>
                <a:r>
                  <a:rPr lang="zh-CN" altLang="en-US" dirty="0"/>
                  <a:t>，只有当 </a:t>
                </a:r>
                <a:r>
                  <a:rPr lang="en-US" altLang="zh-CN" dirty="0"/>
                  <a:t>S </a:t>
                </a:r>
                <a:r>
                  <a:rPr lang="en-US" altLang="zh-CN" baseline="-25000" dirty="0"/>
                  <a:t>1</a:t>
                </a:r>
                <a:r>
                  <a:rPr lang="en-US" altLang="zh-CN" dirty="0"/>
                  <a:t> =1 </a:t>
                </a:r>
                <a:r>
                  <a:rPr lang="zh-CN" altLang="en-US" dirty="0"/>
                  <a:t>且</a:t>
                </a:r>
                <a14:m>
                  <m:oMath xmlns:m="http://schemas.openxmlformats.org/officeDocument/2006/math">
                    <m:acc>
                      <m:accPr>
                        <m:chr m:val="̅"/>
                        <m:ctrlPr>
                          <a:rPr lang="zh-CN" altLang="en-US" i="1">
                            <a:latin typeface="Cambria Math" panose="02040503050406030204" pitchFamily="18" charset="0"/>
                          </a:rPr>
                        </m:ctrlPr>
                      </m:accPr>
                      <m:e>
                        <m:r>
                          <m:rPr>
                            <m:nor/>
                          </m:rPr>
                          <a:rPr lang="en-US" altLang="zh-CN" dirty="0"/>
                          <m:t>S</m:t>
                        </m:r>
                      </m:e>
                    </m:acc>
                  </m:oMath>
                </a14:m>
                <a:r>
                  <a:rPr lang="zh-CN" altLang="en-US" dirty="0"/>
                  <a:t> </a:t>
                </a:r>
                <a:r>
                  <a:rPr lang="en-US" altLang="zh-CN" baseline="-25000" dirty="0"/>
                  <a:t>2</a:t>
                </a:r>
                <a:r>
                  <a:rPr lang="en-US" altLang="zh-CN" dirty="0"/>
                  <a:t> + </a:t>
                </a:r>
                <a14:m>
                  <m:oMath xmlns:m="http://schemas.openxmlformats.org/officeDocument/2006/math">
                    <m:acc>
                      <m:accPr>
                        <m:chr m:val="̅"/>
                        <m:ctrlPr>
                          <a:rPr lang="zh-CN" altLang="en-US" i="1">
                            <a:latin typeface="Cambria Math" panose="02040503050406030204" pitchFamily="18" charset="0"/>
                          </a:rPr>
                        </m:ctrlPr>
                      </m:accPr>
                      <m:e>
                        <m:r>
                          <m:rPr>
                            <m:nor/>
                          </m:rPr>
                          <a:rPr lang="en-US" altLang="zh-CN" dirty="0"/>
                          <m:t>S</m:t>
                        </m:r>
                      </m:e>
                    </m:acc>
                  </m:oMath>
                </a14:m>
                <a:r>
                  <a:rPr lang="en-US" altLang="zh-CN" baseline="-25000" dirty="0"/>
                  <a:t>3</a:t>
                </a:r>
                <a:r>
                  <a:rPr lang="en-US" altLang="zh-CN" dirty="0"/>
                  <a:t> =0 </a:t>
                </a:r>
                <a:r>
                  <a:rPr lang="zh-CN" altLang="en-US" dirty="0"/>
                  <a:t>时，译码器工作，否则，译码功能被禁止。 </a:t>
                </a:r>
                <a:r>
                  <a:rPr lang="en-US" altLang="zh-CN" dirty="0"/>
                  <a:t>74138 </a:t>
                </a:r>
                <a:r>
                  <a:rPr lang="zh-CN" altLang="en-US" dirty="0"/>
                  <a:t>译码器的引脚图和逻辑符号如图 </a:t>
                </a:r>
                <a:r>
                  <a:rPr lang="en-US" altLang="zh-CN" dirty="0"/>
                  <a:t>3</a:t>
                </a:r>
                <a:r>
                  <a:rPr lang="zh-CN" altLang="en-US" dirty="0"/>
                  <a:t>－</a:t>
                </a:r>
                <a:r>
                  <a:rPr lang="en-US" altLang="zh-CN" dirty="0"/>
                  <a:t>17 </a:t>
                </a:r>
                <a:r>
                  <a:rPr lang="zh-CN" altLang="en-US" dirty="0"/>
                  <a:t>所示，真值表如表 </a:t>
                </a:r>
                <a:r>
                  <a:rPr lang="en-US" altLang="zh-CN" dirty="0"/>
                  <a:t>3</a:t>
                </a:r>
                <a:r>
                  <a:rPr lang="zh-CN" altLang="en-US" dirty="0"/>
                  <a:t>－</a:t>
                </a:r>
                <a:r>
                  <a:rPr lang="en-US" altLang="zh-CN" dirty="0"/>
                  <a:t>9 </a:t>
                </a:r>
                <a:r>
                  <a:rPr lang="zh-CN" altLang="en-US" dirty="0"/>
                  <a:t>所示。</a:t>
                </a:r>
                <a:endParaRPr lang="zh-CN" altLang="zh-CN" dirty="0"/>
              </a:p>
            </p:txBody>
          </p:sp>
        </mc:Choice>
        <mc:Fallback xmlns="">
          <p:sp>
            <p:nvSpPr>
              <p:cNvPr id="411650" name="Rectangle 2"/>
              <p:cNvSpPr>
                <a:spLocks noGrp="1" noRot="1" noChangeAspect="1" noMove="1" noResize="1" noEditPoints="1" noAdjustHandles="1" noChangeArrowheads="1" noChangeShapeType="1" noTextEdit="1"/>
              </p:cNvSpPr>
              <p:nvPr>
                <p:ph type="title"/>
              </p:nvPr>
            </p:nvSpPr>
            <p:spPr>
              <a:blipFill rotWithShape="1">
                <a:blip r:embed="rId2"/>
                <a:stretch>
                  <a:fillRect l="-1202" r="-1052"/>
                </a:stretch>
              </a:blipFill>
            </p:spPr>
            <p:txBody>
              <a:bodyPr/>
              <a:lstStyle/>
              <a:p>
                <a:r>
                  <a:rPr lang="zh-CN" altLang="en-US">
                    <a:noFill/>
                  </a:rPr>
                  <a:t> </a:t>
                </a:r>
              </a:p>
            </p:txBody>
          </p:sp>
        </mc:Fallback>
      </mc:AlternateContent>
      <p:sp>
        <p:nvSpPr>
          <p:cNvPr id="41165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13381378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2"/>
          <p:cNvSpPr>
            <a:spLocks noGrp="1" noChangeArrowheads="1"/>
          </p:cNvSpPr>
          <p:nvPr>
            <p:ph type="title"/>
          </p:nvPr>
        </p:nvSpPr>
        <p:spPr/>
        <p:txBody>
          <a:bodyPr/>
          <a:lstStyle/>
          <a:p>
            <a:endParaRPr lang="zh-CN" altLang="zh-CN"/>
          </a:p>
        </p:txBody>
      </p:sp>
      <p:sp>
        <p:nvSpPr>
          <p:cNvPr id="412675" name="Rectangle 3"/>
          <p:cNvSpPr>
            <a:spLocks noGrp="1" noChangeArrowheads="1"/>
          </p:cNvSpPr>
          <p:nvPr>
            <p:ph type="body" idx="1"/>
          </p:nvPr>
        </p:nvSpPr>
        <p:spPr>
          <a:xfrm>
            <a:off x="0" y="5445224"/>
            <a:ext cx="9144000" cy="438944"/>
          </a:xfrm>
        </p:spPr>
        <p:txBody>
          <a:bodyPr/>
          <a:lstStyle/>
          <a:p>
            <a:r>
              <a:rPr lang="zh-CN" altLang="en-US" dirty="0"/>
              <a:t>图 </a:t>
            </a:r>
            <a:r>
              <a:rPr lang="en-US" altLang="zh-CN" dirty="0"/>
              <a:t>3</a:t>
            </a:r>
            <a:r>
              <a:rPr lang="zh-CN" altLang="en-US" dirty="0"/>
              <a:t>－</a:t>
            </a:r>
            <a:r>
              <a:rPr lang="en-US" altLang="zh-CN" dirty="0"/>
              <a:t>17 74138 </a:t>
            </a:r>
            <a:r>
              <a:rPr lang="zh-CN" altLang="en-US" dirty="0"/>
              <a:t>译码器的引脚图和逻辑符号</a:t>
            </a:r>
          </a:p>
          <a:p>
            <a:r>
              <a:rPr lang="en-US" altLang="zh-CN" dirty="0"/>
              <a:t>(a )</a:t>
            </a:r>
            <a:r>
              <a:rPr lang="zh-CN" altLang="en-US" dirty="0"/>
              <a:t>引脚图</a:t>
            </a:r>
            <a:r>
              <a:rPr lang="en-US" altLang="zh-CN" dirty="0"/>
              <a:t>;( b )</a:t>
            </a:r>
            <a:r>
              <a:rPr lang="zh-CN" altLang="en-US" dirty="0"/>
              <a:t>逻辑符号</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616" y="1052736"/>
            <a:ext cx="6994919" cy="4104456"/>
          </a:xfrm>
          <a:prstGeom prst="rect">
            <a:avLst/>
          </a:prstGeom>
        </p:spPr>
      </p:pic>
    </p:spTree>
    <p:extLst>
      <p:ext uri="{BB962C8B-B14F-4D97-AF65-F5344CB8AC3E}">
        <p14:creationId xmlns:p14="http://schemas.microsoft.com/office/powerpoint/2010/main" val="333994899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Grp="1" noChangeArrowheads="1"/>
          </p:cNvSpPr>
          <p:nvPr>
            <p:ph type="title"/>
          </p:nvPr>
        </p:nvSpPr>
        <p:spPr/>
        <p:txBody>
          <a:bodyPr/>
          <a:lstStyle/>
          <a:p>
            <a:endParaRPr lang="zh-CN" altLang="zh-CN"/>
          </a:p>
        </p:txBody>
      </p:sp>
      <p:sp>
        <p:nvSpPr>
          <p:cNvPr id="413699"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5283" y="1295102"/>
            <a:ext cx="7573433" cy="4267796"/>
          </a:xfrm>
          <a:prstGeom prst="rect">
            <a:avLst/>
          </a:prstGeom>
        </p:spPr>
      </p:pic>
    </p:spTree>
    <p:extLst>
      <p:ext uri="{BB962C8B-B14F-4D97-AF65-F5344CB8AC3E}">
        <p14:creationId xmlns:p14="http://schemas.microsoft.com/office/powerpoint/2010/main" val="365549192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14722" name="Rectangle 2"/>
              <p:cNvSpPr>
                <a:spLocks noGrp="1" noChangeArrowheads="1"/>
              </p:cNvSpPr>
              <p:nvPr>
                <p:ph type="title"/>
              </p:nvPr>
            </p:nvSpPr>
            <p:spPr/>
            <p:txBody>
              <a:bodyPr/>
              <a:lstStyle/>
              <a:p>
                <a:br>
                  <a:rPr lang="en-US" altLang="zh-CN" dirty="0"/>
                </a:br>
                <a:r>
                  <a:rPr lang="zh-CN" altLang="en-US" dirty="0"/>
                  <a:t>　　当 </a:t>
                </a:r>
                <a:r>
                  <a:rPr lang="en-US" altLang="zh-CN" dirty="0"/>
                  <a:t>S</a:t>
                </a:r>
                <a:r>
                  <a:rPr lang="en-US" altLang="zh-CN" baseline="-25000" dirty="0"/>
                  <a:t>1</a:t>
                </a:r>
                <a:r>
                  <a:rPr lang="en-US" altLang="zh-CN" dirty="0"/>
                  <a:t> =1 </a:t>
                </a:r>
                <a:r>
                  <a:rPr lang="zh-CN" altLang="en-US" dirty="0"/>
                  <a:t>，</a:t>
                </a:r>
                <a14:m>
                  <m:oMath xmlns:m="http://schemas.openxmlformats.org/officeDocument/2006/math">
                    <m:acc>
                      <m:accPr>
                        <m:chr m:val="̅"/>
                        <m:ctrlPr>
                          <a:rPr lang="zh-CN" altLang="en-US" i="1">
                            <a:latin typeface="Cambria Math" panose="02040503050406030204" pitchFamily="18" charset="0"/>
                          </a:rPr>
                        </m:ctrlPr>
                      </m:accPr>
                      <m:e>
                        <m:r>
                          <m:rPr>
                            <m:nor/>
                          </m:rPr>
                          <a:rPr lang="en-US" altLang="zh-CN" dirty="0"/>
                          <m:t>S</m:t>
                        </m:r>
                      </m:e>
                    </m:acc>
                  </m:oMath>
                </a14:m>
                <a:r>
                  <a:rPr lang="zh-CN" altLang="en-US" dirty="0"/>
                  <a:t> </a:t>
                </a:r>
                <a:r>
                  <a:rPr lang="en-US" altLang="zh-CN" baseline="-25000" dirty="0"/>
                  <a:t>2</a:t>
                </a:r>
                <a:r>
                  <a:rPr lang="en-US" altLang="zh-CN" dirty="0"/>
                  <a:t> + </a:t>
                </a:r>
                <a14:m>
                  <m:oMath xmlns:m="http://schemas.openxmlformats.org/officeDocument/2006/math">
                    <m:acc>
                      <m:accPr>
                        <m:chr m:val="̅"/>
                        <m:ctrlPr>
                          <a:rPr lang="zh-CN" altLang="en-US" i="1">
                            <a:latin typeface="Cambria Math" panose="02040503050406030204" pitchFamily="18" charset="0"/>
                          </a:rPr>
                        </m:ctrlPr>
                      </m:accPr>
                      <m:e>
                        <m:r>
                          <m:rPr>
                            <m:nor/>
                          </m:rPr>
                          <a:rPr lang="en-US" altLang="zh-CN" dirty="0"/>
                          <m:t>S</m:t>
                        </m:r>
                      </m:e>
                    </m:acc>
                  </m:oMath>
                </a14:m>
                <a:r>
                  <a:rPr lang="en-US" altLang="zh-CN" baseline="-25000" dirty="0"/>
                  <a:t>3</a:t>
                </a:r>
                <a:r>
                  <a:rPr lang="en-US" altLang="zh-CN" dirty="0"/>
                  <a:t> =0</a:t>
                </a:r>
                <a:r>
                  <a:rPr lang="zh-CN" altLang="en-US" dirty="0"/>
                  <a:t>时，由 </a:t>
                </a:r>
                <a:r>
                  <a:rPr lang="en-US" altLang="zh-CN" dirty="0"/>
                  <a:t>74138 </a:t>
                </a:r>
                <a:r>
                  <a:rPr lang="zh-CN" altLang="en-US" dirty="0"/>
                  <a:t>译码器的真值表可以得到如下输出逻辑表达式</a:t>
                </a:r>
                <a:r>
                  <a:rPr lang="en-US" altLang="zh-CN" dirty="0"/>
                  <a:t>:</a:t>
                </a:r>
                <a:endParaRPr lang="zh-CN" altLang="zh-CN" dirty="0"/>
              </a:p>
            </p:txBody>
          </p:sp>
        </mc:Choice>
        <mc:Fallback xmlns="">
          <p:sp>
            <p:nvSpPr>
              <p:cNvPr id="414722" name="Rectangle 2"/>
              <p:cNvSpPr>
                <a:spLocks noGrp="1" noRot="1" noChangeAspect="1" noMove="1" noResize="1" noEditPoints="1" noAdjustHandles="1" noChangeArrowheads="1" noChangeShapeType="1" noTextEdit="1"/>
              </p:cNvSpPr>
              <p:nvPr>
                <p:ph type="title"/>
              </p:nvPr>
            </p:nvSpPr>
            <p:spPr>
              <a:blipFill rotWithShape="1">
                <a:blip r:embed="rId2"/>
                <a:stretch>
                  <a:fillRect l="-1202"/>
                </a:stretch>
              </a:blipFill>
            </p:spPr>
            <p:txBody>
              <a:bodyPr/>
              <a:lstStyle/>
              <a:p>
                <a:r>
                  <a:rPr lang="zh-CN" altLang="en-US">
                    <a:noFill/>
                  </a:rPr>
                  <a:t> </a:t>
                </a:r>
              </a:p>
            </p:txBody>
          </p:sp>
        </mc:Fallback>
      </mc:AlternateContent>
      <p:sp>
        <p:nvSpPr>
          <p:cNvPr id="414723"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9752" y="1998388"/>
            <a:ext cx="4176464" cy="3349872"/>
          </a:xfrm>
          <a:prstGeom prst="rect">
            <a:avLst/>
          </a:prstGeom>
        </p:spPr>
      </p:pic>
      <p:pic>
        <p:nvPicPr>
          <p:cNvPr id="3" name="图片 2"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39752" y="5348260"/>
            <a:ext cx="4032448" cy="454056"/>
          </a:xfrm>
          <a:prstGeom prst="rect">
            <a:avLst/>
          </a:prstGeom>
        </p:spPr>
      </p:pic>
    </p:spTree>
    <p:extLst>
      <p:ext uri="{BB962C8B-B14F-4D97-AF65-F5344CB8AC3E}">
        <p14:creationId xmlns:p14="http://schemas.microsoft.com/office/powerpoint/2010/main" val="227356046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88450" name="Rectangle 2"/>
              <p:cNvSpPr>
                <a:spLocks noGrp="1" noChangeArrowheads="1"/>
              </p:cNvSpPr>
              <p:nvPr>
                <p:ph type="title"/>
              </p:nvPr>
            </p:nvSpPr>
            <p:spPr/>
            <p:txBody>
              <a:bodyPr/>
              <a:lstStyle/>
              <a:p>
                <a:br>
                  <a:rPr lang="en-US" altLang="zh-CN" dirty="0"/>
                </a:br>
                <a:r>
                  <a:rPr lang="zh-CN" altLang="en-US" dirty="0"/>
                  <a:t>　　在译码器一节中，我们介绍了 </a:t>
                </a:r>
                <a:r>
                  <a:rPr lang="en-US" altLang="zh-CN" dirty="0"/>
                  <a:t>MSI 3 </a:t>
                </a:r>
                <a:r>
                  <a:rPr lang="zh-CN" altLang="en-US" dirty="0"/>
                  <a:t>线 </a:t>
                </a:r>
                <a:r>
                  <a:rPr lang="en-US" altLang="zh-CN" dirty="0"/>
                  <a:t>-8 </a:t>
                </a:r>
                <a:r>
                  <a:rPr lang="zh-CN" altLang="en-US" dirty="0"/>
                  <a:t>线译码器 </a:t>
                </a:r>
                <a:r>
                  <a:rPr lang="en-US" altLang="zh-CN" dirty="0"/>
                  <a:t>74138 </a:t>
                </a:r>
                <a:r>
                  <a:rPr lang="zh-CN" altLang="en-US" dirty="0"/>
                  <a:t>。当 </a:t>
                </a:r>
                <a:r>
                  <a:rPr lang="en-US" altLang="zh-CN" dirty="0"/>
                  <a:t>S</a:t>
                </a:r>
                <a:r>
                  <a:rPr lang="en-US" altLang="zh-CN" i="1" baseline="-25000" dirty="0"/>
                  <a:t>1</a:t>
                </a:r>
                <a:r>
                  <a:rPr lang="en-US" altLang="zh-CN" dirty="0"/>
                  <a:t> =1 </a:t>
                </a:r>
                <a:r>
                  <a:rPr lang="zh-CN" altLang="en-US" dirty="0"/>
                  <a:t>、</a:t>
                </a:r>
                <a14:m>
                  <m:oMath xmlns:m="http://schemas.openxmlformats.org/officeDocument/2006/math">
                    <m:acc>
                      <m:accPr>
                        <m:chr m:val="̅"/>
                        <m:ctrlPr>
                          <a:rPr lang="zh-CN" altLang="en-US" i="1" smtClean="0">
                            <a:latin typeface="Cambria Math" panose="02040503050406030204" pitchFamily="18" charset="0"/>
                          </a:rPr>
                        </m:ctrlPr>
                      </m:accPr>
                      <m:e>
                        <m:r>
                          <m:rPr>
                            <m:nor/>
                          </m:rPr>
                          <a:rPr lang="en-US" altLang="zh-CN" dirty="0"/>
                          <m:t>S</m:t>
                        </m:r>
                      </m:e>
                    </m:acc>
                  </m:oMath>
                </a14:m>
                <a:r>
                  <a:rPr lang="en-US" altLang="zh-CN" i="1" baseline="-25000" dirty="0"/>
                  <a:t>2</a:t>
                </a:r>
                <a:r>
                  <a:rPr lang="en-US" altLang="zh-CN" dirty="0"/>
                  <a:t> =D </a:t>
                </a:r>
                <a:r>
                  <a:rPr lang="zh-CN" altLang="en-US" dirty="0"/>
                  <a:t>、</a:t>
                </a:r>
                <a14:m>
                  <m:oMath xmlns:m="http://schemas.openxmlformats.org/officeDocument/2006/math">
                    <m:acc>
                      <m:accPr>
                        <m:chr m:val="̅"/>
                        <m:ctrlPr>
                          <a:rPr lang="zh-CN" altLang="en-US" i="1">
                            <a:latin typeface="Cambria Math" panose="02040503050406030204" pitchFamily="18" charset="0"/>
                          </a:rPr>
                        </m:ctrlPr>
                      </m:accPr>
                      <m:e>
                        <m:r>
                          <m:rPr>
                            <m:nor/>
                          </m:rPr>
                          <a:rPr lang="en-US" altLang="zh-CN" dirty="0"/>
                          <m:t>S</m:t>
                        </m:r>
                      </m:e>
                    </m:acc>
                  </m:oMath>
                </a14:m>
                <a:r>
                  <a:rPr lang="en-US" altLang="zh-CN" i="1" baseline="-25000" dirty="0"/>
                  <a:t>3</a:t>
                </a:r>
                <a:r>
                  <a:rPr lang="en-US" altLang="zh-CN" dirty="0"/>
                  <a:t> =0</a:t>
                </a:r>
                <a:r>
                  <a:rPr lang="zh-CN" altLang="en-US" dirty="0"/>
                  <a:t>时，由 </a:t>
                </a:r>
                <a:r>
                  <a:rPr lang="en-US" altLang="zh-CN" dirty="0"/>
                  <a:t>74138 </a:t>
                </a:r>
                <a:r>
                  <a:rPr lang="zh-CN" altLang="en-US" dirty="0"/>
                  <a:t>的真值表可以得到</a:t>
                </a:r>
                <a:r>
                  <a:rPr lang="en-US" altLang="zh-CN" dirty="0"/>
                  <a:t>: D=</a:t>
                </a:r>
                <a:r>
                  <a:rPr lang="en-US" altLang="zh-CN" i="1" baseline="-25000" dirty="0"/>
                  <a:t>1</a:t>
                </a:r>
                <a:r>
                  <a:rPr lang="en-US" altLang="zh-CN" dirty="0"/>
                  <a:t> </a:t>
                </a:r>
                <a:r>
                  <a:rPr lang="zh-CN" altLang="en-US" dirty="0"/>
                  <a:t>时，译码器的译码功能被禁止，所有输出都为 </a:t>
                </a:r>
                <a:r>
                  <a:rPr lang="en-US" altLang="zh-CN" dirty="0"/>
                  <a:t>1 ;D=0 </a:t>
                </a:r>
                <a:r>
                  <a:rPr lang="zh-CN" altLang="en-US" dirty="0"/>
                  <a:t>时，只有与 </a:t>
                </a:r>
                <a:r>
                  <a:rPr lang="en-US" altLang="zh-CN" dirty="0"/>
                  <a:t>A </a:t>
                </a:r>
                <a:r>
                  <a:rPr lang="en-US" altLang="zh-CN" i="1" baseline="-25000" dirty="0"/>
                  <a:t>2</a:t>
                </a:r>
                <a:r>
                  <a:rPr lang="en-US" altLang="zh-CN" dirty="0"/>
                  <a:t> </a:t>
                </a:r>
                <a:r>
                  <a:rPr lang="zh-CN" altLang="en-US" dirty="0"/>
                  <a:t>、 </a:t>
                </a:r>
                <a:r>
                  <a:rPr lang="en-US" altLang="zh-CN" dirty="0"/>
                  <a:t>A </a:t>
                </a:r>
                <a:r>
                  <a:rPr lang="en-US" altLang="zh-CN" i="1" baseline="-25000" dirty="0"/>
                  <a:t>1</a:t>
                </a:r>
                <a:r>
                  <a:rPr lang="en-US" altLang="zh-CN" dirty="0"/>
                  <a:t> </a:t>
                </a:r>
                <a:r>
                  <a:rPr lang="zh-CN" altLang="en-US" dirty="0"/>
                  <a:t>、 </a:t>
                </a:r>
                <a:r>
                  <a:rPr lang="en-US" altLang="zh-CN" dirty="0"/>
                  <a:t>A </a:t>
                </a:r>
                <a:r>
                  <a:rPr lang="en-US" altLang="zh-CN" i="1" baseline="-25000" dirty="0"/>
                  <a:t>0</a:t>
                </a:r>
                <a:r>
                  <a:rPr lang="en-US" altLang="zh-CN" dirty="0"/>
                  <a:t> </a:t>
                </a:r>
                <a:r>
                  <a:rPr lang="zh-CN" altLang="en-US" dirty="0"/>
                  <a:t>组合对应的一个输出为 </a:t>
                </a:r>
                <a:r>
                  <a:rPr lang="en-US" altLang="zh-CN" dirty="0"/>
                  <a:t>0 </a:t>
                </a:r>
                <a:r>
                  <a:rPr lang="zh-CN" altLang="en-US" dirty="0"/>
                  <a:t>，其他输出都为 </a:t>
                </a:r>
                <a:r>
                  <a:rPr lang="en-US" altLang="zh-CN" dirty="0"/>
                  <a:t>1 </a:t>
                </a:r>
                <a:r>
                  <a:rPr lang="zh-CN" altLang="en-US" dirty="0"/>
                  <a:t>。由此可见，</a:t>
                </a:r>
                <a:r>
                  <a:rPr lang="en-US" altLang="zh-CN" dirty="0"/>
                  <a:t> D </a:t>
                </a:r>
                <a:r>
                  <a:rPr lang="zh-CN" altLang="en-US" dirty="0"/>
                  <a:t>对应数据分配器的数据输入端，</a:t>
                </a:r>
                <a:r>
                  <a:rPr lang="en-US" altLang="zh-CN" dirty="0"/>
                  <a:t> A</a:t>
                </a:r>
                <a:r>
                  <a:rPr lang="en-US" altLang="zh-CN" i="1" baseline="-25000" dirty="0"/>
                  <a:t>2</a:t>
                </a:r>
                <a:r>
                  <a:rPr lang="en-US" altLang="zh-CN" dirty="0"/>
                  <a:t> </a:t>
                </a:r>
                <a:r>
                  <a:rPr lang="zh-CN" altLang="en-US" dirty="0"/>
                  <a:t>、 </a:t>
                </a:r>
                <a:r>
                  <a:rPr lang="en-US" altLang="zh-CN" dirty="0"/>
                  <a:t>A </a:t>
                </a:r>
                <a:r>
                  <a:rPr lang="en-US" altLang="zh-CN" i="1" baseline="-25000" dirty="0"/>
                  <a:t>1</a:t>
                </a:r>
                <a:r>
                  <a:rPr lang="en-US" altLang="zh-CN" dirty="0"/>
                  <a:t> </a:t>
                </a:r>
                <a:r>
                  <a:rPr lang="zh-CN" altLang="en-US" dirty="0"/>
                  <a:t>、 </a:t>
                </a:r>
                <a:r>
                  <a:rPr lang="en-US" altLang="zh-CN" dirty="0"/>
                  <a:t>A </a:t>
                </a:r>
                <a:r>
                  <a:rPr lang="en-US" altLang="zh-CN" i="1" baseline="-25000" dirty="0"/>
                  <a:t>0</a:t>
                </a:r>
                <a:r>
                  <a:rPr lang="en-US" altLang="zh-CN" dirty="0"/>
                  <a:t> </a:t>
                </a:r>
                <a:r>
                  <a:rPr lang="zh-CN" altLang="en-US" dirty="0"/>
                  <a:t>对应数据分配器的选择输入端，而􀮀</a:t>
                </a:r>
                <a:r>
                  <a:rPr lang="en-US" altLang="zh-CN" dirty="0"/>
                  <a:t>Y </a:t>
                </a:r>
                <a:r>
                  <a:rPr lang="en-US" altLang="zh-CN" i="1" baseline="-25000" dirty="0"/>
                  <a:t>i</a:t>
                </a:r>
                <a:r>
                  <a:rPr lang="en-US" altLang="zh-CN" dirty="0"/>
                  <a:t> ( i =0 </a:t>
                </a:r>
                <a:r>
                  <a:rPr lang="zh-CN" altLang="en-US" dirty="0"/>
                  <a:t>，</a:t>
                </a:r>
                <a:r>
                  <a:rPr lang="en-US" altLang="zh-CN" dirty="0"/>
                  <a:t>…</a:t>
                </a:r>
                <a:r>
                  <a:rPr lang="zh-CN" altLang="en-US" dirty="0"/>
                  <a:t>，</a:t>
                </a:r>
                <a:r>
                  <a:rPr lang="en-US" altLang="zh-CN" dirty="0"/>
                  <a:t>7 )</a:t>
                </a:r>
                <a:r>
                  <a:rPr lang="zh-CN" altLang="en-US" dirty="0"/>
                  <a:t>对应数据分配器的数据输出端。</a:t>
                </a:r>
                <a:br>
                  <a:rPr lang="en-US" altLang="zh-CN" dirty="0"/>
                </a:br>
                <a:r>
                  <a:rPr lang="zh-CN" altLang="en-US" dirty="0"/>
                  <a:t>　　图 </a:t>
                </a:r>
                <a:r>
                  <a:rPr lang="en-US" altLang="zh-CN" dirty="0"/>
                  <a:t>3</a:t>
                </a:r>
                <a:r>
                  <a:rPr lang="zh-CN" altLang="en-US" dirty="0"/>
                  <a:t>－</a:t>
                </a:r>
                <a:r>
                  <a:rPr lang="en-US" altLang="zh-CN" dirty="0"/>
                  <a:t>39 </a:t>
                </a:r>
                <a:r>
                  <a:rPr lang="zh-CN" altLang="en-US" dirty="0"/>
                  <a:t>为 </a:t>
                </a:r>
                <a:r>
                  <a:rPr lang="en-US" altLang="zh-CN" dirty="0"/>
                  <a:t>74138 </a:t>
                </a:r>
                <a:r>
                  <a:rPr lang="zh-CN" altLang="en-US" dirty="0"/>
                  <a:t>作为数据分配器时的引脚图和逻辑符号。</a:t>
                </a:r>
                <a:endParaRPr lang="zh-CN" altLang="zh-CN" dirty="0"/>
              </a:p>
            </p:txBody>
          </p:sp>
        </mc:Choice>
        <mc:Fallback xmlns="">
          <p:sp>
            <p:nvSpPr>
              <p:cNvPr id="488450" name="Rectangle 2"/>
              <p:cNvSpPr>
                <a:spLocks noGrp="1" noRot="1" noChangeAspect="1" noMove="1" noResize="1" noEditPoints="1" noAdjustHandles="1" noChangeArrowheads="1" noChangeShapeType="1" noTextEdit="1"/>
              </p:cNvSpPr>
              <p:nvPr>
                <p:ph type="title"/>
              </p:nvPr>
            </p:nvSpPr>
            <p:spPr>
              <a:blipFill>
                <a:blip r:embed="rId2"/>
                <a:stretch>
                  <a:fillRect l="-1202" r="-1052"/>
                </a:stretch>
              </a:blipFill>
            </p:spPr>
            <p:txBody>
              <a:bodyPr/>
              <a:lstStyle/>
              <a:p>
                <a:r>
                  <a:rPr lang="zh-CN" altLang="en-US">
                    <a:noFill/>
                  </a:rPr>
                  <a:t> </a:t>
                </a:r>
              </a:p>
            </p:txBody>
          </p:sp>
        </mc:Fallback>
      </mc:AlternateContent>
      <p:sp>
        <p:nvSpPr>
          <p:cNvPr id="48845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2"/>
          <p:cNvSpPr>
            <a:spLocks noGrp="1" noChangeArrowheads="1"/>
          </p:cNvSpPr>
          <p:nvPr>
            <p:ph type="title"/>
          </p:nvPr>
        </p:nvSpPr>
        <p:spPr/>
        <p:txBody>
          <a:bodyPr/>
          <a:lstStyle/>
          <a:p>
            <a:endParaRPr lang="zh-CN" altLang="zh-CN"/>
          </a:p>
        </p:txBody>
      </p:sp>
      <p:sp>
        <p:nvSpPr>
          <p:cNvPr id="489475"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3648" y="1158479"/>
            <a:ext cx="6653125" cy="3818942"/>
          </a:xfrm>
          <a:prstGeom prst="rect">
            <a:avLst/>
          </a:prstGeom>
        </p:spPr>
      </p:pic>
      <p:pic>
        <p:nvPicPr>
          <p:cNvPr id="5" name="Picture 2" descr="H:\出版社\模板\课件素材\GIF动画插件1\GIF020.GIF">
            <a:hlinkClick r:id="rId3" action="ppaction://hlinksldjump"/>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8394096" y="6268790"/>
            <a:ext cx="749904" cy="5892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2" name="文本框 104451"/>
          <p:cNvSpPr txBox="1"/>
          <p:nvPr/>
        </p:nvSpPr>
        <p:spPr>
          <a:xfrm>
            <a:off x="1692275" y="1939925"/>
            <a:ext cx="6840334" cy="3046988"/>
          </a:xfrm>
          <a:prstGeom prst="rect">
            <a:avLst/>
          </a:prstGeom>
          <a:noFill/>
          <a:ln w="9525">
            <a:noFill/>
          </a:ln>
        </p:spPr>
        <p:txBody>
          <a:bodyPr wrap="none" anchor="t" anchorCtr="0">
            <a:spAutoFit/>
          </a:bodyPr>
          <a:lstStyle/>
          <a:p>
            <a:r>
              <a:rPr lang="zh-CN" altLang="en-US" sz="3200" dirty="0">
                <a:latin typeface="Arial" panose="020B0604020202020204" pitchFamily="34" charset="0"/>
              </a:rPr>
              <a:t>第三章习题：</a:t>
            </a:r>
          </a:p>
          <a:p>
            <a:r>
              <a:rPr lang="en-US" altLang="zh-CN" sz="3200" dirty="0">
                <a:latin typeface="Arial" panose="020B0604020202020204" pitchFamily="34" charset="0"/>
              </a:rPr>
              <a:t>3-4(1)(3)(5)</a:t>
            </a:r>
            <a:r>
              <a:rPr lang="zh-CN" altLang="en-US" sz="3200" dirty="0">
                <a:latin typeface="Arial" panose="020B0604020202020204" pitchFamily="34" charset="0"/>
              </a:rPr>
              <a:t>，</a:t>
            </a:r>
          </a:p>
          <a:p>
            <a:r>
              <a:rPr lang="en-US" altLang="zh-CN" sz="3200" dirty="0">
                <a:latin typeface="Arial" panose="020B0604020202020204" pitchFamily="34" charset="0"/>
              </a:rPr>
              <a:t>3-6</a:t>
            </a:r>
            <a:r>
              <a:rPr lang="zh-CN" altLang="en-US" sz="3200" dirty="0">
                <a:latin typeface="Arial" panose="020B0604020202020204" pitchFamily="34" charset="0"/>
              </a:rPr>
              <a:t>，</a:t>
            </a:r>
            <a:r>
              <a:rPr lang="en-US" altLang="zh-CN" sz="3200" dirty="0">
                <a:latin typeface="Arial" panose="020B0604020202020204" pitchFamily="34" charset="0"/>
              </a:rPr>
              <a:t>3-8</a:t>
            </a:r>
            <a:r>
              <a:rPr lang="zh-CN" altLang="en-US" sz="3200" dirty="0">
                <a:latin typeface="Arial" panose="020B0604020202020204" pitchFamily="34" charset="0"/>
              </a:rPr>
              <a:t>，</a:t>
            </a:r>
            <a:r>
              <a:rPr lang="en-US" altLang="zh-CN" sz="3200" dirty="0">
                <a:latin typeface="Arial" panose="020B0604020202020204" pitchFamily="34" charset="0"/>
              </a:rPr>
              <a:t>3-10</a:t>
            </a:r>
            <a:r>
              <a:rPr lang="zh-CN" altLang="en-US" sz="3200" dirty="0">
                <a:latin typeface="Arial" panose="020B0604020202020204" pitchFamily="34" charset="0"/>
              </a:rPr>
              <a:t>，</a:t>
            </a:r>
            <a:r>
              <a:rPr lang="en-US" altLang="zh-CN" sz="3200" dirty="0">
                <a:latin typeface="Arial" panose="020B0604020202020204" pitchFamily="34" charset="0"/>
              </a:rPr>
              <a:t>3-12(1)(2)(5)]</a:t>
            </a:r>
          </a:p>
          <a:p>
            <a:endParaRPr lang="en-US" altLang="zh-CN" sz="3200" dirty="0">
              <a:latin typeface="Arial" panose="020B0604020202020204" pitchFamily="34" charset="0"/>
            </a:endParaRPr>
          </a:p>
          <a:p>
            <a:r>
              <a:rPr lang="zh-CN" altLang="en-US" sz="3200" dirty="0">
                <a:latin typeface="Arial" panose="020B0604020202020204" pitchFamily="34" charset="0"/>
              </a:rPr>
              <a:t>我会发到</a:t>
            </a:r>
            <a:r>
              <a:rPr lang="en-US" altLang="zh-CN" sz="3200" dirty="0">
                <a:latin typeface="Arial" panose="020B0604020202020204" pitchFamily="34" charset="0"/>
              </a:rPr>
              <a:t>bb</a:t>
            </a:r>
            <a:r>
              <a:rPr lang="zh-CN" altLang="en-US" sz="3200" dirty="0">
                <a:latin typeface="Arial" panose="020B0604020202020204" pitchFamily="34" charset="0"/>
              </a:rPr>
              <a:t>上，通过</a:t>
            </a:r>
            <a:r>
              <a:rPr lang="en-US" altLang="zh-CN" sz="3200" dirty="0">
                <a:latin typeface="Arial" panose="020B0604020202020204" pitchFamily="34" charset="0"/>
              </a:rPr>
              <a:t>bb</a:t>
            </a:r>
            <a:r>
              <a:rPr lang="zh-CN" altLang="en-US" sz="3200" dirty="0">
                <a:latin typeface="Arial" panose="020B0604020202020204" pitchFamily="34" charset="0"/>
              </a:rPr>
              <a:t>提交。可以交</a:t>
            </a:r>
            <a:endParaRPr lang="en-US" altLang="zh-CN" sz="3200" dirty="0">
              <a:latin typeface="Arial" panose="020B0604020202020204" pitchFamily="34" charset="0"/>
            </a:endParaRPr>
          </a:p>
          <a:p>
            <a:r>
              <a:rPr lang="zh-CN" altLang="en-US" sz="3200" dirty="0">
                <a:latin typeface="Arial" panose="020B0604020202020204" pitchFamily="34" charset="0"/>
              </a:rPr>
              <a:t>电子版或手写后拍照提交</a:t>
            </a:r>
            <a:endParaRPr lang="en-US" altLang="zh-CN" sz="3200" dirty="0">
              <a:latin typeface="Arial" panose="020B0604020202020204" pitchFamily="34" charset="0"/>
            </a:endParaRPr>
          </a:p>
        </p:txBody>
      </p:sp>
      <p:sp>
        <p:nvSpPr>
          <p:cNvPr id="4" name="文本框 3">
            <a:extLst>
              <a:ext uri="{FF2B5EF4-FFF2-40B4-BE49-F238E27FC236}">
                <a16:creationId xmlns:a16="http://schemas.microsoft.com/office/drawing/2014/main" id="{BFBA5D7B-872E-452D-A591-7A72EAD0892B}"/>
              </a:ext>
            </a:extLst>
          </p:cNvPr>
          <p:cNvSpPr txBox="1"/>
          <p:nvPr/>
        </p:nvSpPr>
        <p:spPr>
          <a:xfrm>
            <a:off x="1763688" y="1124744"/>
            <a:ext cx="4572000" cy="646331"/>
          </a:xfrm>
          <a:prstGeom prst="rect">
            <a:avLst/>
          </a:prstGeom>
          <a:noFill/>
        </p:spPr>
        <p:txBody>
          <a:bodyPr wrap="square">
            <a:spAutoFit/>
          </a:bodyPr>
          <a:lstStyle/>
          <a:p>
            <a:r>
              <a:rPr lang="zh-CN" altLang="en-US" sz="3600" b="1" dirty="0">
                <a:latin typeface="Arial" panose="020B0604020202020204" pitchFamily="34" charset="0"/>
              </a:rPr>
              <a:t>作业</a:t>
            </a:r>
            <a:endParaRPr lang="zh-CN" altLang="en-US" sz="3600" b="1"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p:cNvSpPr>
            <a:spLocks noGrp="1" noChangeArrowheads="1"/>
          </p:cNvSpPr>
          <p:nvPr>
            <p:ph type="title"/>
          </p:nvPr>
        </p:nvSpPr>
        <p:spPr>
          <a:xfrm>
            <a:off x="571500" y="533400"/>
            <a:ext cx="8115300" cy="1167408"/>
          </a:xfrm>
        </p:spPr>
        <p:txBody>
          <a:bodyPr/>
          <a:lstStyle/>
          <a:p>
            <a:pPr algn="ctr"/>
            <a:br>
              <a:rPr lang="en-US" altLang="zh-CN" sz="2600" b="1" dirty="0"/>
            </a:br>
            <a:r>
              <a:rPr lang="zh-CN" altLang="en-US" sz="2600" b="1" dirty="0"/>
              <a:t>习 题</a:t>
            </a:r>
            <a:endParaRPr lang="zh-CN" altLang="zh-CN" sz="2600" b="1" dirty="0"/>
          </a:p>
        </p:txBody>
      </p:sp>
      <p:sp>
        <p:nvSpPr>
          <p:cNvPr id="490499" name="Rectangle 3"/>
          <p:cNvSpPr>
            <a:spLocks noGrp="1" noChangeArrowheads="1"/>
          </p:cNvSpPr>
          <p:nvPr>
            <p:ph type="body" idx="1"/>
          </p:nvPr>
        </p:nvSpPr>
        <p:spPr/>
        <p:txBody>
          <a:bodyPr/>
          <a:lstStyle/>
          <a:p>
            <a:r>
              <a:rPr lang="zh-CN" altLang="en-US" dirty="0"/>
              <a:t>图 </a:t>
            </a:r>
            <a:r>
              <a:rPr lang="en-US" altLang="zh-CN" dirty="0"/>
              <a:t>3</a:t>
            </a:r>
            <a:r>
              <a:rPr lang="zh-CN" altLang="en-US" dirty="0"/>
              <a:t>－</a:t>
            </a:r>
            <a:r>
              <a:rPr lang="en-US" altLang="zh-CN" dirty="0"/>
              <a:t>40  </a:t>
            </a:r>
            <a:r>
              <a:rPr lang="zh-CN" altLang="en-US" dirty="0"/>
              <a:t>习题 </a:t>
            </a:r>
            <a:r>
              <a:rPr lang="en-US" altLang="zh-CN" dirty="0"/>
              <a:t>3</a:t>
            </a:r>
            <a:r>
              <a:rPr lang="zh-CN" altLang="en-US" dirty="0"/>
              <a:t>－</a:t>
            </a:r>
            <a:r>
              <a:rPr lang="en-US" altLang="zh-CN" dirty="0"/>
              <a:t>1 </a:t>
            </a:r>
            <a:r>
              <a:rPr lang="zh-CN" altLang="en-US" dirty="0"/>
              <a:t>图</a:t>
            </a:r>
            <a:endParaRPr lang="zh-CN" altLang="zh-CN" dirty="0"/>
          </a:p>
        </p:txBody>
      </p:sp>
      <p:sp>
        <p:nvSpPr>
          <p:cNvPr id="4" name="Rectangle 2"/>
          <p:cNvSpPr txBox="1">
            <a:spLocks noChangeArrowheads="1"/>
          </p:cNvSpPr>
          <p:nvPr/>
        </p:nvSpPr>
        <p:spPr bwMode="auto">
          <a:xfrm>
            <a:off x="742206" y="1462066"/>
            <a:ext cx="8115300" cy="42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fontAlgn="base">
              <a:lnSpc>
                <a:spcPct val="130000"/>
              </a:lnSpc>
              <a:spcBef>
                <a:spcPct val="0"/>
              </a:spcBef>
              <a:spcAft>
                <a:spcPct val="0"/>
              </a:spcAft>
              <a:defRPr kumimoji="1" sz="2400">
                <a:solidFill>
                  <a:schemeClr val="tx2"/>
                </a:solidFill>
                <a:latin typeface="+mj-lt"/>
                <a:ea typeface="+mj-ea"/>
                <a:cs typeface="+mj-cs"/>
              </a:defRPr>
            </a:lvl1pPr>
            <a:lvl2pPr algn="l" rtl="0" fontAlgn="base">
              <a:lnSpc>
                <a:spcPct val="130000"/>
              </a:lnSpc>
              <a:spcBef>
                <a:spcPct val="0"/>
              </a:spcBef>
              <a:spcAft>
                <a:spcPct val="0"/>
              </a:spcAft>
              <a:defRPr kumimoji="1" sz="2400">
                <a:solidFill>
                  <a:schemeClr val="tx2"/>
                </a:solidFill>
                <a:latin typeface="Times New Roman" pitchFamily="18" charset="0"/>
                <a:ea typeface="宋体" charset="-122"/>
              </a:defRPr>
            </a:lvl2pPr>
            <a:lvl3pPr algn="l" rtl="0" fontAlgn="base">
              <a:lnSpc>
                <a:spcPct val="130000"/>
              </a:lnSpc>
              <a:spcBef>
                <a:spcPct val="0"/>
              </a:spcBef>
              <a:spcAft>
                <a:spcPct val="0"/>
              </a:spcAft>
              <a:defRPr kumimoji="1" sz="2400">
                <a:solidFill>
                  <a:schemeClr val="tx2"/>
                </a:solidFill>
                <a:latin typeface="Times New Roman" pitchFamily="18" charset="0"/>
                <a:ea typeface="宋体" charset="-122"/>
              </a:defRPr>
            </a:lvl3pPr>
            <a:lvl4pPr algn="l" rtl="0" fontAlgn="base">
              <a:lnSpc>
                <a:spcPct val="130000"/>
              </a:lnSpc>
              <a:spcBef>
                <a:spcPct val="0"/>
              </a:spcBef>
              <a:spcAft>
                <a:spcPct val="0"/>
              </a:spcAft>
              <a:defRPr kumimoji="1" sz="2400">
                <a:solidFill>
                  <a:schemeClr val="tx2"/>
                </a:solidFill>
                <a:latin typeface="Times New Roman" pitchFamily="18" charset="0"/>
                <a:ea typeface="宋体" charset="-122"/>
              </a:defRPr>
            </a:lvl4pPr>
            <a:lvl5pPr algn="l" rtl="0" fontAlgn="base">
              <a:lnSpc>
                <a:spcPct val="130000"/>
              </a:lnSpc>
              <a:spcBef>
                <a:spcPct val="0"/>
              </a:spcBef>
              <a:spcAft>
                <a:spcPct val="0"/>
              </a:spcAft>
              <a:defRPr kumimoji="1" sz="2400">
                <a:solidFill>
                  <a:schemeClr val="tx2"/>
                </a:solidFill>
                <a:latin typeface="Times New Roman" pitchFamily="18" charset="0"/>
                <a:ea typeface="宋体" charset="-122"/>
              </a:defRPr>
            </a:lvl5pPr>
            <a:lvl6pPr marL="457200" algn="l" rtl="0" fontAlgn="base">
              <a:lnSpc>
                <a:spcPct val="130000"/>
              </a:lnSpc>
              <a:spcBef>
                <a:spcPct val="0"/>
              </a:spcBef>
              <a:spcAft>
                <a:spcPct val="0"/>
              </a:spcAft>
              <a:defRPr kumimoji="1" sz="2400">
                <a:solidFill>
                  <a:schemeClr val="tx2"/>
                </a:solidFill>
                <a:latin typeface="Times New Roman" pitchFamily="18" charset="0"/>
                <a:ea typeface="宋体" charset="-122"/>
              </a:defRPr>
            </a:lvl6pPr>
            <a:lvl7pPr marL="914400" algn="l" rtl="0" fontAlgn="base">
              <a:lnSpc>
                <a:spcPct val="130000"/>
              </a:lnSpc>
              <a:spcBef>
                <a:spcPct val="0"/>
              </a:spcBef>
              <a:spcAft>
                <a:spcPct val="0"/>
              </a:spcAft>
              <a:defRPr kumimoji="1" sz="2400">
                <a:solidFill>
                  <a:schemeClr val="tx2"/>
                </a:solidFill>
                <a:latin typeface="Times New Roman" pitchFamily="18" charset="0"/>
                <a:ea typeface="宋体" charset="-122"/>
              </a:defRPr>
            </a:lvl7pPr>
            <a:lvl8pPr marL="1371600" algn="l" rtl="0" fontAlgn="base">
              <a:lnSpc>
                <a:spcPct val="130000"/>
              </a:lnSpc>
              <a:spcBef>
                <a:spcPct val="0"/>
              </a:spcBef>
              <a:spcAft>
                <a:spcPct val="0"/>
              </a:spcAft>
              <a:defRPr kumimoji="1" sz="2400">
                <a:solidFill>
                  <a:schemeClr val="tx2"/>
                </a:solidFill>
                <a:latin typeface="Times New Roman" pitchFamily="18" charset="0"/>
                <a:ea typeface="宋体" charset="-122"/>
              </a:defRPr>
            </a:lvl8pPr>
            <a:lvl9pPr marL="1828800" algn="l" rtl="0" fontAlgn="base">
              <a:lnSpc>
                <a:spcPct val="130000"/>
              </a:lnSpc>
              <a:spcBef>
                <a:spcPct val="0"/>
              </a:spcBef>
              <a:spcAft>
                <a:spcPct val="0"/>
              </a:spcAft>
              <a:defRPr kumimoji="1" sz="2400">
                <a:solidFill>
                  <a:schemeClr val="tx2"/>
                </a:solidFill>
                <a:latin typeface="Times New Roman" pitchFamily="18" charset="0"/>
                <a:ea typeface="宋体" charset="-122"/>
              </a:defRPr>
            </a:lvl9pPr>
          </a:lstStyle>
          <a:p>
            <a:br>
              <a:rPr lang="en-US" altLang="zh-CN" dirty="0"/>
            </a:br>
            <a:r>
              <a:rPr lang="zh-CN" altLang="en-US" dirty="0"/>
              <a:t>　　</a:t>
            </a:r>
            <a:r>
              <a:rPr lang="en-US" altLang="zh-CN" dirty="0"/>
              <a:t>3</a:t>
            </a:r>
            <a:r>
              <a:rPr lang="zh-CN" altLang="en-US" dirty="0"/>
              <a:t>－</a:t>
            </a:r>
            <a:r>
              <a:rPr lang="en-US" altLang="zh-CN" dirty="0"/>
              <a:t>1 74148 </a:t>
            </a:r>
            <a:r>
              <a:rPr lang="zh-CN" altLang="en-US" dirty="0"/>
              <a:t>是 </a:t>
            </a:r>
            <a:r>
              <a:rPr lang="en-US" altLang="zh-CN" dirty="0"/>
              <a:t>8 </a:t>
            </a:r>
            <a:r>
              <a:rPr lang="zh-CN" altLang="en-US" dirty="0"/>
              <a:t>线 </a:t>
            </a:r>
            <a:r>
              <a:rPr lang="en-US" altLang="zh-CN" dirty="0"/>
              <a:t>-3 </a:t>
            </a:r>
            <a:r>
              <a:rPr lang="zh-CN" altLang="en-US" dirty="0"/>
              <a:t>线优先编码器，其真值表如表 </a:t>
            </a:r>
            <a:r>
              <a:rPr lang="en-US" altLang="zh-CN" dirty="0"/>
              <a:t>3 5 </a:t>
            </a:r>
            <a:r>
              <a:rPr lang="zh-CN" altLang="en-US" dirty="0"/>
              <a:t>所示。在图 </a:t>
            </a:r>
            <a:r>
              <a:rPr lang="en-US" altLang="zh-CN" dirty="0"/>
              <a:t>3</a:t>
            </a:r>
            <a:r>
              <a:rPr lang="zh-CN" altLang="en-US" dirty="0"/>
              <a:t>－</a:t>
            </a:r>
            <a:r>
              <a:rPr lang="en-US" altLang="zh-CN" dirty="0"/>
              <a:t>40 </a:t>
            </a:r>
            <a:r>
              <a:rPr lang="zh-CN" altLang="en-US" dirty="0"/>
              <a:t>所示各电路中，确定输出 􀮀</a:t>
            </a:r>
          </a:p>
          <a:p>
            <a:r>
              <a:rPr lang="zh-CN" altLang="en-US" dirty="0"/>
              <a:t>的值。</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2828" y="2585932"/>
            <a:ext cx="2486372" cy="371527"/>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9650" y="3358677"/>
            <a:ext cx="7163800" cy="2343477"/>
          </a:xfrm>
          <a:prstGeom prst="rect">
            <a:avLst/>
          </a:prstGeom>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91522" name="Rectangle 2"/>
              <p:cNvSpPr>
                <a:spLocks noGrp="1" noChangeArrowheads="1"/>
              </p:cNvSpPr>
              <p:nvPr>
                <p:ph type="title"/>
              </p:nvPr>
            </p:nvSpPr>
            <p:spPr/>
            <p:txBody>
              <a:bodyPr/>
              <a:lstStyle/>
              <a:p>
                <a:br>
                  <a:rPr lang="en-US" altLang="zh-CN" dirty="0"/>
                </a:br>
                <a:r>
                  <a:rPr lang="zh-CN" altLang="en-US" dirty="0"/>
                  <a:t>　　</a:t>
                </a:r>
                <a:r>
                  <a:rPr lang="en-US" altLang="zh-CN" dirty="0"/>
                  <a:t>3</a:t>
                </a:r>
                <a:r>
                  <a:rPr lang="zh-CN" altLang="en-US" dirty="0"/>
                  <a:t>－</a:t>
                </a:r>
                <a:r>
                  <a:rPr lang="en-US" altLang="zh-CN" dirty="0"/>
                  <a:t>2  </a:t>
                </a:r>
                <a:r>
                  <a:rPr lang="zh-CN" altLang="en-US" dirty="0"/>
                  <a:t>用 </a:t>
                </a:r>
                <a:r>
                  <a:rPr lang="en-US" altLang="zh-CN" dirty="0"/>
                  <a:t>74148 </a:t>
                </a:r>
                <a:r>
                  <a:rPr lang="zh-CN" altLang="en-US" dirty="0"/>
                  <a:t>优先编码器和其他门电路构成一个</a:t>
                </a:r>
                <a:r>
                  <a:rPr lang="en-US" altLang="zh-CN" dirty="0"/>
                  <a:t>10 </a:t>
                </a:r>
                <a:r>
                  <a:rPr lang="zh-CN" altLang="en-US" dirty="0"/>
                  <a:t>线 </a:t>
                </a:r>
                <a:r>
                  <a:rPr lang="en-US" altLang="zh-CN" dirty="0"/>
                  <a:t>-4 </a:t>
                </a:r>
                <a:r>
                  <a:rPr lang="zh-CN" altLang="en-US" dirty="0"/>
                  <a:t>线 </a:t>
                </a:r>
                <a:r>
                  <a:rPr lang="en-US" altLang="zh-CN" dirty="0"/>
                  <a:t>8421BCD </a:t>
                </a:r>
                <a:r>
                  <a:rPr lang="zh-CN" altLang="en-US" dirty="0"/>
                  <a:t>编码器。提示</a:t>
                </a:r>
                <a:r>
                  <a:rPr lang="en-US" altLang="zh-CN" dirty="0"/>
                  <a:t>:</a:t>
                </a:r>
                <a:r>
                  <a:rPr lang="zh-CN" altLang="en-US" dirty="0"/>
                  <a:t>利用选通输入端 </a:t>
                </a:r>
                <a14:m>
                  <m:oMath xmlns:m="http://schemas.openxmlformats.org/officeDocument/2006/math">
                    <m:acc>
                      <m:accPr>
                        <m:chr m:val="̅"/>
                        <m:ctrlPr>
                          <a:rPr lang="zh-CN" altLang="en-US" i="1" smtClean="0">
                            <a:latin typeface="Cambria Math" panose="02040503050406030204" pitchFamily="18" charset="0"/>
                          </a:rPr>
                        </m:ctrlPr>
                      </m:accPr>
                      <m:e>
                        <m:r>
                          <m:rPr>
                            <m:nor/>
                          </m:rPr>
                          <a:rPr lang="en-US" altLang="zh-CN" dirty="0"/>
                          <m:t>ST</m:t>
                        </m:r>
                      </m:e>
                    </m:acc>
                  </m:oMath>
                </a14:m>
                <a:r>
                  <a:rPr lang="en-US" altLang="zh-CN" dirty="0"/>
                  <a:t> </a:t>
                </a:r>
                <a:r>
                  <a:rPr lang="zh-CN" altLang="en-US" dirty="0"/>
                  <a:t>。</a:t>
                </a:r>
                <a:br>
                  <a:rPr lang="en-US" altLang="zh-CN" dirty="0"/>
                </a:br>
                <a:r>
                  <a:rPr lang="zh-CN" altLang="en-US" dirty="0"/>
                  <a:t>　　</a:t>
                </a:r>
                <a:r>
                  <a:rPr lang="en-US" altLang="zh-CN" dirty="0"/>
                  <a:t>3</a:t>
                </a:r>
                <a:r>
                  <a:rPr lang="zh-CN" altLang="en-US" dirty="0"/>
                  <a:t>－</a:t>
                </a:r>
                <a:r>
                  <a:rPr lang="en-US" altLang="zh-CN" dirty="0"/>
                  <a:t>3  </a:t>
                </a:r>
                <a:r>
                  <a:rPr lang="zh-CN" altLang="en-US" dirty="0"/>
                  <a:t>图 </a:t>
                </a:r>
                <a:r>
                  <a:rPr lang="en-US" altLang="zh-CN" dirty="0"/>
                  <a:t>3</a:t>
                </a:r>
                <a:r>
                  <a:rPr lang="zh-CN" altLang="en-US" dirty="0"/>
                  <a:t>－</a:t>
                </a:r>
                <a:r>
                  <a:rPr lang="en-US" altLang="zh-CN" dirty="0"/>
                  <a:t>41 </a:t>
                </a:r>
                <a:r>
                  <a:rPr lang="zh-CN" altLang="en-US" dirty="0"/>
                  <a:t>所示为 </a:t>
                </a:r>
                <a:r>
                  <a:rPr lang="en-US" altLang="zh-CN" dirty="0"/>
                  <a:t>10 </a:t>
                </a:r>
                <a:r>
                  <a:rPr lang="zh-CN" altLang="en-US" dirty="0"/>
                  <a:t>线 </a:t>
                </a:r>
                <a:r>
                  <a:rPr lang="en-US" altLang="zh-CN" dirty="0"/>
                  <a:t>-4 </a:t>
                </a:r>
                <a:r>
                  <a:rPr lang="zh-CN" altLang="en-US" dirty="0"/>
                  <a:t>线 </a:t>
                </a:r>
                <a:r>
                  <a:rPr lang="en-US" altLang="zh-CN" dirty="0"/>
                  <a:t>8421BCD </a:t>
                </a:r>
                <a:r>
                  <a:rPr lang="zh-CN" altLang="en-US" dirty="0"/>
                  <a:t>优先编码器 </a:t>
                </a:r>
                <a:r>
                  <a:rPr lang="en-US" altLang="zh-CN" dirty="0"/>
                  <a:t>74147 </a:t>
                </a:r>
                <a:r>
                  <a:rPr lang="zh-CN" altLang="en-US" dirty="0"/>
                  <a:t>的引脚图，其真值表如表 </a:t>
                </a:r>
                <a:r>
                  <a:rPr lang="en-US" altLang="zh-CN" dirty="0"/>
                  <a:t>3</a:t>
                </a:r>
                <a:r>
                  <a:rPr lang="zh-CN" altLang="en-US" dirty="0"/>
                  <a:t>－</a:t>
                </a:r>
                <a:r>
                  <a:rPr lang="en-US" altLang="zh-CN" dirty="0"/>
                  <a:t>21 </a:t>
                </a:r>
                <a:r>
                  <a:rPr lang="zh-CN" altLang="en-US" dirty="0"/>
                  <a:t>所示。试确定下列情况下输出的 </a:t>
                </a:r>
                <a:r>
                  <a:rPr lang="en-US" altLang="zh-CN" dirty="0"/>
                  <a:t>BCD </a:t>
                </a:r>
                <a:r>
                  <a:rPr lang="zh-CN" altLang="en-US" dirty="0"/>
                  <a:t>码</a:t>
                </a:r>
                <a:r>
                  <a:rPr lang="en-US" altLang="zh-CN" dirty="0"/>
                  <a:t>:</a:t>
                </a:r>
                <a:br>
                  <a:rPr lang="en-US" altLang="zh-CN" dirty="0"/>
                </a:br>
                <a:r>
                  <a:rPr lang="zh-CN" altLang="en-US" dirty="0"/>
                  <a:t>　　</a:t>
                </a:r>
                <a:r>
                  <a:rPr lang="en-US" altLang="zh-CN" dirty="0"/>
                  <a:t>(1)</a:t>
                </a:r>
                <a:r>
                  <a:rPr lang="zh-CN" altLang="en-US" dirty="0"/>
                  <a:t>输入引脚 </a:t>
                </a:r>
                <a:r>
                  <a:rPr lang="en-US" altLang="zh-CN" dirty="0"/>
                  <a:t>1 </a:t>
                </a:r>
                <a:r>
                  <a:rPr lang="zh-CN" altLang="en-US" dirty="0"/>
                  <a:t>、 </a:t>
                </a:r>
                <a:r>
                  <a:rPr lang="en-US" altLang="zh-CN" dirty="0"/>
                  <a:t>3 </a:t>
                </a:r>
                <a:r>
                  <a:rPr lang="zh-CN" altLang="en-US" dirty="0"/>
                  <a:t>、 </a:t>
                </a:r>
                <a:r>
                  <a:rPr lang="en-US" altLang="zh-CN" dirty="0"/>
                  <a:t>5 </a:t>
                </a:r>
                <a:r>
                  <a:rPr lang="zh-CN" altLang="en-US" dirty="0"/>
                  <a:t>为 </a:t>
                </a:r>
                <a:r>
                  <a:rPr lang="en-US" altLang="zh-CN" dirty="0"/>
                  <a:t>0 </a:t>
                </a:r>
                <a:r>
                  <a:rPr lang="zh-CN" altLang="en-US" dirty="0"/>
                  <a:t>，其他输入引脚为 </a:t>
                </a:r>
                <a:r>
                  <a:rPr lang="en-US" altLang="zh-CN" dirty="0"/>
                  <a:t>1 </a:t>
                </a:r>
                <a:r>
                  <a:rPr lang="zh-CN" altLang="en-US" dirty="0"/>
                  <a:t>。</a:t>
                </a:r>
                <a:br>
                  <a:rPr lang="zh-CN" altLang="en-US" dirty="0"/>
                </a:br>
                <a:r>
                  <a:rPr lang="zh-CN" altLang="en-US" dirty="0"/>
                  <a:t>　　</a:t>
                </a:r>
                <a:r>
                  <a:rPr lang="en-US" altLang="zh-CN" dirty="0"/>
                  <a:t>(2)</a:t>
                </a:r>
                <a:r>
                  <a:rPr lang="zh-CN" altLang="en-US" dirty="0"/>
                  <a:t>输入引脚 </a:t>
                </a:r>
                <a:r>
                  <a:rPr lang="en-US" altLang="zh-CN" dirty="0"/>
                  <a:t>2 </a:t>
                </a:r>
                <a:r>
                  <a:rPr lang="zh-CN" altLang="en-US" dirty="0"/>
                  <a:t>、 </a:t>
                </a:r>
                <a:r>
                  <a:rPr lang="en-US" altLang="zh-CN" dirty="0"/>
                  <a:t>4 </a:t>
                </a:r>
                <a:r>
                  <a:rPr lang="zh-CN" altLang="en-US" dirty="0"/>
                  <a:t>、 </a:t>
                </a:r>
                <a:r>
                  <a:rPr lang="en-US" altLang="zh-CN" dirty="0"/>
                  <a:t>10 </a:t>
                </a:r>
                <a:r>
                  <a:rPr lang="zh-CN" altLang="en-US" dirty="0"/>
                  <a:t>为 </a:t>
                </a:r>
                <a:r>
                  <a:rPr lang="en-US" altLang="zh-CN" dirty="0"/>
                  <a:t>0 </a:t>
                </a:r>
                <a:r>
                  <a:rPr lang="zh-CN" altLang="en-US" dirty="0"/>
                  <a:t>，其他输入引脚为 </a:t>
                </a:r>
                <a:r>
                  <a:rPr lang="en-US" altLang="zh-CN" dirty="0"/>
                  <a:t>1 </a:t>
                </a:r>
                <a:r>
                  <a:rPr lang="zh-CN" altLang="en-US" dirty="0"/>
                  <a:t>。</a:t>
                </a:r>
                <a:br>
                  <a:rPr lang="zh-CN" altLang="en-US" dirty="0"/>
                </a:br>
                <a:r>
                  <a:rPr lang="zh-CN" altLang="en-US" dirty="0"/>
                  <a:t>　　</a:t>
                </a:r>
                <a:r>
                  <a:rPr lang="en-US" altLang="zh-CN" dirty="0"/>
                  <a:t>(3)</a:t>
                </a:r>
                <a:r>
                  <a:rPr lang="zh-CN" altLang="en-US" dirty="0"/>
                  <a:t>输入引脚 </a:t>
                </a:r>
                <a:r>
                  <a:rPr lang="en-US" altLang="zh-CN" dirty="0"/>
                  <a:t>3 </a:t>
                </a:r>
                <a:r>
                  <a:rPr lang="zh-CN" altLang="en-US" dirty="0"/>
                  <a:t>、 </a:t>
                </a:r>
                <a:r>
                  <a:rPr lang="en-US" altLang="zh-CN" dirty="0"/>
                  <a:t>5 </a:t>
                </a:r>
                <a:r>
                  <a:rPr lang="zh-CN" altLang="en-US" dirty="0"/>
                  <a:t>、 </a:t>
                </a:r>
                <a:r>
                  <a:rPr lang="en-US" altLang="zh-CN" dirty="0"/>
                  <a:t>11 </a:t>
                </a:r>
                <a:r>
                  <a:rPr lang="zh-CN" altLang="en-US" dirty="0"/>
                  <a:t>为 </a:t>
                </a:r>
                <a:r>
                  <a:rPr lang="en-US" altLang="zh-CN" dirty="0"/>
                  <a:t>0 </a:t>
                </a:r>
                <a:r>
                  <a:rPr lang="zh-CN" altLang="en-US" dirty="0"/>
                  <a:t>，其他输入引脚为 </a:t>
                </a:r>
                <a:r>
                  <a:rPr lang="en-US" altLang="zh-CN" dirty="0"/>
                  <a:t>1 </a:t>
                </a:r>
                <a:r>
                  <a:rPr lang="zh-CN" altLang="en-US" dirty="0"/>
                  <a:t>。</a:t>
                </a:r>
                <a:br>
                  <a:rPr lang="zh-CN" altLang="en-US" dirty="0"/>
                </a:br>
                <a:r>
                  <a:rPr lang="zh-CN" altLang="en-US" dirty="0"/>
                  <a:t>　　</a:t>
                </a:r>
                <a:r>
                  <a:rPr lang="en-US" altLang="zh-CN" dirty="0"/>
                  <a:t>(4)</a:t>
                </a:r>
                <a:r>
                  <a:rPr lang="zh-CN" altLang="en-US" dirty="0"/>
                  <a:t>输入引脚 </a:t>
                </a:r>
                <a:r>
                  <a:rPr lang="en-US" altLang="zh-CN" dirty="0"/>
                  <a:t>4 </a:t>
                </a:r>
                <a:r>
                  <a:rPr lang="zh-CN" altLang="en-US" dirty="0"/>
                  <a:t>、 </a:t>
                </a:r>
                <a:r>
                  <a:rPr lang="en-US" altLang="zh-CN" dirty="0"/>
                  <a:t>10 </a:t>
                </a:r>
                <a:r>
                  <a:rPr lang="zh-CN" altLang="en-US" dirty="0"/>
                  <a:t>、 </a:t>
                </a:r>
                <a:r>
                  <a:rPr lang="en-US" altLang="zh-CN" dirty="0"/>
                  <a:t>12 </a:t>
                </a:r>
                <a:r>
                  <a:rPr lang="zh-CN" altLang="en-US" dirty="0"/>
                  <a:t>为 </a:t>
                </a:r>
                <a:r>
                  <a:rPr lang="en-US" altLang="zh-CN" dirty="0"/>
                  <a:t>0 </a:t>
                </a:r>
                <a:r>
                  <a:rPr lang="zh-CN" altLang="en-US" dirty="0"/>
                  <a:t>，其他输入引脚为 </a:t>
                </a:r>
                <a:r>
                  <a:rPr lang="en-US" altLang="zh-CN" dirty="0"/>
                  <a:t>1 </a:t>
                </a:r>
                <a:r>
                  <a:rPr lang="zh-CN" altLang="en-US" dirty="0"/>
                  <a:t>。</a:t>
                </a:r>
                <a:br>
                  <a:rPr lang="zh-CN" altLang="en-US" dirty="0"/>
                </a:br>
                <a:r>
                  <a:rPr lang="zh-CN" altLang="en-US" dirty="0"/>
                  <a:t>　　</a:t>
                </a:r>
                <a:r>
                  <a:rPr lang="en-US" altLang="zh-CN" dirty="0"/>
                  <a:t>(5)</a:t>
                </a:r>
                <a:r>
                  <a:rPr lang="zh-CN" altLang="en-US" dirty="0"/>
                  <a:t>输入引脚 </a:t>
                </a:r>
                <a:r>
                  <a:rPr lang="en-US" altLang="zh-CN" dirty="0"/>
                  <a:t>5 </a:t>
                </a:r>
                <a:r>
                  <a:rPr lang="zh-CN" altLang="en-US" dirty="0"/>
                  <a:t>、 </a:t>
                </a:r>
                <a:r>
                  <a:rPr lang="en-US" altLang="zh-CN" dirty="0"/>
                  <a:t>10 </a:t>
                </a:r>
                <a:r>
                  <a:rPr lang="zh-CN" altLang="en-US" dirty="0"/>
                  <a:t>、 </a:t>
                </a:r>
                <a:r>
                  <a:rPr lang="en-US" altLang="zh-CN" dirty="0"/>
                  <a:t>13 </a:t>
                </a:r>
                <a:r>
                  <a:rPr lang="zh-CN" altLang="en-US" dirty="0"/>
                  <a:t>为 </a:t>
                </a:r>
                <a:r>
                  <a:rPr lang="en-US" altLang="zh-CN" dirty="0"/>
                  <a:t>0 </a:t>
                </a:r>
                <a:r>
                  <a:rPr lang="zh-CN" altLang="en-US" dirty="0"/>
                  <a:t>，其他输入引脚为 </a:t>
                </a:r>
                <a:r>
                  <a:rPr lang="en-US" altLang="zh-CN" dirty="0"/>
                  <a:t>1 </a:t>
                </a:r>
                <a:r>
                  <a:rPr lang="zh-CN" altLang="en-US" dirty="0"/>
                  <a:t>。</a:t>
                </a:r>
                <a:br>
                  <a:rPr lang="zh-CN" altLang="en-US" dirty="0"/>
                </a:br>
                <a:r>
                  <a:rPr lang="zh-CN" altLang="en-US" dirty="0"/>
                  <a:t>　　</a:t>
                </a:r>
                <a:r>
                  <a:rPr lang="en-US" altLang="zh-CN" dirty="0"/>
                  <a:t>(6)</a:t>
                </a:r>
                <a:r>
                  <a:rPr lang="zh-CN" altLang="en-US" dirty="0"/>
                  <a:t>输入引脚 </a:t>
                </a:r>
                <a:r>
                  <a:rPr lang="en-US" altLang="zh-CN" dirty="0"/>
                  <a:t>10 </a:t>
                </a:r>
                <a:r>
                  <a:rPr lang="zh-CN" altLang="en-US" dirty="0"/>
                  <a:t>、 </a:t>
                </a:r>
                <a:r>
                  <a:rPr lang="en-US" altLang="zh-CN" dirty="0"/>
                  <a:t>11 </a:t>
                </a:r>
                <a:r>
                  <a:rPr lang="zh-CN" altLang="en-US" dirty="0"/>
                  <a:t>、 </a:t>
                </a:r>
                <a:r>
                  <a:rPr lang="en-US" altLang="zh-CN" dirty="0"/>
                  <a:t>13 </a:t>
                </a:r>
                <a:r>
                  <a:rPr lang="zh-CN" altLang="en-US" dirty="0"/>
                  <a:t>为 </a:t>
                </a:r>
                <a:r>
                  <a:rPr lang="en-US" altLang="zh-CN" dirty="0"/>
                  <a:t>0 </a:t>
                </a:r>
                <a:r>
                  <a:rPr lang="zh-CN" altLang="en-US" dirty="0"/>
                  <a:t>，其他输入引脚为 </a:t>
                </a:r>
                <a:r>
                  <a:rPr lang="en-US" altLang="zh-CN" dirty="0"/>
                  <a:t>1 </a:t>
                </a:r>
                <a:r>
                  <a:rPr lang="zh-CN" altLang="en-US" dirty="0"/>
                  <a:t>。</a:t>
                </a:r>
                <a:endParaRPr lang="zh-CN" altLang="zh-CN" dirty="0"/>
              </a:p>
            </p:txBody>
          </p:sp>
        </mc:Choice>
        <mc:Fallback xmlns="">
          <p:sp>
            <p:nvSpPr>
              <p:cNvPr id="491522" name="Rectangle 2"/>
              <p:cNvSpPr>
                <a:spLocks noGrp="1" noRot="1" noChangeAspect="1" noMove="1" noResize="1" noEditPoints="1" noAdjustHandles="1" noChangeArrowheads="1" noChangeShapeType="1" noTextEdit="1"/>
              </p:cNvSpPr>
              <p:nvPr>
                <p:ph type="title"/>
              </p:nvPr>
            </p:nvSpPr>
            <p:spPr>
              <a:blipFill rotWithShape="1">
                <a:blip r:embed="rId2"/>
                <a:stretch>
                  <a:fillRect l="-1202" r="-676" b="-4432"/>
                </a:stretch>
              </a:blipFill>
            </p:spPr>
            <p:txBody>
              <a:bodyPr/>
              <a:lstStyle/>
              <a:p>
                <a:r>
                  <a:rPr lang="zh-CN" altLang="en-US">
                    <a:noFill/>
                  </a:rPr>
                  <a:t> </a:t>
                </a:r>
              </a:p>
            </p:txBody>
          </p:sp>
        </mc:Fallback>
      </mc:AlternateContent>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Rectangle 2"/>
          <p:cNvSpPr>
            <a:spLocks noGrp="1" noChangeArrowheads="1"/>
          </p:cNvSpPr>
          <p:nvPr>
            <p:ph type="title"/>
          </p:nvPr>
        </p:nvSpPr>
        <p:spPr/>
        <p:txBody>
          <a:bodyPr/>
          <a:lstStyle/>
          <a:p>
            <a:endParaRPr lang="zh-CN" altLang="zh-CN"/>
          </a:p>
        </p:txBody>
      </p:sp>
      <p:sp>
        <p:nvSpPr>
          <p:cNvPr id="492547" name="Rectangle 3"/>
          <p:cNvSpPr>
            <a:spLocks noGrp="1" noChangeArrowheads="1"/>
          </p:cNvSpPr>
          <p:nvPr>
            <p:ph type="body" idx="1"/>
          </p:nvPr>
        </p:nvSpPr>
        <p:spPr/>
        <p:txBody>
          <a:bodyPr/>
          <a:lstStyle/>
          <a:p>
            <a:r>
              <a:rPr lang="zh-CN" altLang="en-US" dirty="0"/>
              <a:t>图 </a:t>
            </a:r>
            <a:r>
              <a:rPr lang="en-US" altLang="zh-CN" dirty="0"/>
              <a:t>3</a:t>
            </a:r>
            <a:r>
              <a:rPr lang="zh-CN" altLang="en-US" dirty="0"/>
              <a:t>－</a:t>
            </a:r>
            <a:r>
              <a:rPr lang="en-US" altLang="zh-CN" dirty="0"/>
              <a:t>41 74147 </a:t>
            </a:r>
            <a:r>
              <a:rPr lang="zh-CN" altLang="en-US" dirty="0"/>
              <a:t>的引脚图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3808" y="1340768"/>
            <a:ext cx="3393900" cy="3708391"/>
          </a:xfrm>
          <a:prstGeom prst="rect">
            <a:avLst/>
          </a:prstGeom>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0" name="Rectangle 2"/>
          <p:cNvSpPr>
            <a:spLocks noGrp="1" noChangeArrowheads="1"/>
          </p:cNvSpPr>
          <p:nvPr>
            <p:ph type="title"/>
          </p:nvPr>
        </p:nvSpPr>
        <p:spPr/>
        <p:txBody>
          <a:bodyPr/>
          <a:lstStyle/>
          <a:p>
            <a:endParaRPr lang="zh-CN" altLang="zh-CN"/>
          </a:p>
        </p:txBody>
      </p:sp>
      <p:sp>
        <p:nvSpPr>
          <p:cNvPr id="493571"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100" y="1042654"/>
            <a:ext cx="7163800" cy="4772691"/>
          </a:xfrm>
          <a:prstGeom prst="rect">
            <a:avLst/>
          </a:prstGeom>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Rectangle 2"/>
          <p:cNvSpPr>
            <a:spLocks noGrp="1" noChangeArrowheads="1"/>
          </p:cNvSpPr>
          <p:nvPr>
            <p:ph type="title"/>
          </p:nvPr>
        </p:nvSpPr>
        <p:spPr/>
        <p:txBody>
          <a:bodyPr/>
          <a:lstStyle/>
          <a:p>
            <a:br>
              <a:rPr lang="en-US" altLang="zh-CN" dirty="0"/>
            </a:br>
            <a:r>
              <a:rPr lang="zh-CN" altLang="en-US" dirty="0"/>
              <a:t>　　</a:t>
            </a:r>
            <a:r>
              <a:rPr lang="en-US" altLang="zh-CN" dirty="0"/>
              <a:t>3</a:t>
            </a:r>
            <a:r>
              <a:rPr lang="zh-CN" altLang="en-US" dirty="0"/>
              <a:t>－</a:t>
            </a:r>
            <a:r>
              <a:rPr lang="en-US" altLang="zh-CN" dirty="0"/>
              <a:t>4  </a:t>
            </a:r>
            <a:r>
              <a:rPr lang="zh-CN" altLang="en-US" dirty="0"/>
              <a:t>用 </a:t>
            </a:r>
            <a:r>
              <a:rPr lang="en-US" altLang="zh-CN" dirty="0"/>
              <a:t>3 </a:t>
            </a:r>
            <a:r>
              <a:rPr lang="zh-CN" altLang="en-US" dirty="0"/>
              <a:t>线 </a:t>
            </a:r>
            <a:r>
              <a:rPr lang="en-US" altLang="zh-CN" dirty="0"/>
              <a:t>-8 </a:t>
            </a:r>
            <a:r>
              <a:rPr lang="zh-CN" altLang="en-US" dirty="0"/>
              <a:t>线译码器 </a:t>
            </a:r>
            <a:r>
              <a:rPr lang="en-US" altLang="zh-CN" dirty="0"/>
              <a:t>74138 </a:t>
            </a:r>
            <a:r>
              <a:rPr lang="zh-CN" altLang="en-US" dirty="0"/>
              <a:t>和与非门实现下列函数</a:t>
            </a:r>
            <a:r>
              <a:rPr lang="en-US" altLang="zh-CN" dirty="0"/>
              <a:t>:</a:t>
            </a:r>
            <a:endParaRPr lang="zh-CN" altLang="zh-CN" dirty="0"/>
          </a:p>
        </p:txBody>
      </p:sp>
      <p:sp>
        <p:nvSpPr>
          <p:cNvPr id="494595"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7664" y="1772816"/>
            <a:ext cx="5184576" cy="3970938"/>
          </a:xfrm>
          <a:prstGeom prst="rect">
            <a:avLst/>
          </a:prstGeom>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Rectangle 2"/>
          <p:cNvSpPr>
            <a:spLocks noGrp="1" noChangeArrowheads="1"/>
          </p:cNvSpPr>
          <p:nvPr>
            <p:ph type="title"/>
          </p:nvPr>
        </p:nvSpPr>
        <p:spPr/>
        <p:txBody>
          <a:bodyPr/>
          <a:lstStyle/>
          <a:p>
            <a:br>
              <a:rPr lang="en-US" altLang="zh-CN" dirty="0"/>
            </a:br>
            <a:r>
              <a:rPr lang="zh-CN" altLang="en-US" dirty="0"/>
              <a:t>　　</a:t>
            </a:r>
            <a:r>
              <a:rPr lang="en-US" altLang="zh-CN" dirty="0"/>
              <a:t>3</a:t>
            </a:r>
            <a:r>
              <a:rPr lang="zh-CN" altLang="en-US" dirty="0"/>
              <a:t>－</a:t>
            </a:r>
            <a:r>
              <a:rPr lang="en-US" altLang="zh-CN" dirty="0"/>
              <a:t>5  </a:t>
            </a:r>
            <a:r>
              <a:rPr lang="zh-CN" altLang="en-US" dirty="0"/>
              <a:t>用两个 </a:t>
            </a:r>
            <a:r>
              <a:rPr lang="en-US" altLang="zh-CN" dirty="0"/>
              <a:t>3 </a:t>
            </a:r>
            <a:r>
              <a:rPr lang="zh-CN" altLang="en-US" dirty="0"/>
              <a:t>线 </a:t>
            </a:r>
            <a:r>
              <a:rPr lang="en-US" altLang="zh-CN" dirty="0"/>
              <a:t>-8 </a:t>
            </a:r>
            <a:r>
              <a:rPr lang="zh-CN" altLang="en-US" dirty="0"/>
              <a:t>线译码器 </a:t>
            </a:r>
            <a:r>
              <a:rPr lang="en-US" altLang="zh-CN" dirty="0"/>
              <a:t>74138 </a:t>
            </a:r>
            <a:r>
              <a:rPr lang="zh-CN" altLang="en-US" dirty="0"/>
              <a:t>和与非门实现下列函数</a:t>
            </a:r>
            <a:r>
              <a:rPr lang="en-US" altLang="zh-CN" dirty="0"/>
              <a:t>:</a:t>
            </a:r>
            <a:endParaRPr lang="zh-CN" altLang="zh-CN" dirty="0"/>
          </a:p>
        </p:txBody>
      </p:sp>
      <p:sp>
        <p:nvSpPr>
          <p:cNvPr id="495619"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600" y="2204864"/>
            <a:ext cx="7628607" cy="2985107"/>
          </a:xfrm>
          <a:prstGeom prst="rect">
            <a:avLst/>
          </a:prstGeom>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2"/>
          <p:cNvSpPr>
            <a:spLocks noGrp="1" noChangeArrowheads="1"/>
          </p:cNvSpPr>
          <p:nvPr>
            <p:ph type="title"/>
          </p:nvPr>
        </p:nvSpPr>
        <p:spPr>
          <a:xfrm>
            <a:off x="583132" y="188640"/>
            <a:ext cx="8115300" cy="5638800"/>
          </a:xfrm>
        </p:spPr>
        <p:txBody>
          <a:bodyPr/>
          <a:lstStyle/>
          <a:p>
            <a:br>
              <a:rPr lang="en-US" altLang="zh-CN" dirty="0"/>
            </a:br>
            <a:r>
              <a:rPr lang="zh-CN" altLang="en-US" dirty="0"/>
              <a:t>　　</a:t>
            </a:r>
            <a:r>
              <a:rPr lang="en-US" altLang="zh-CN" dirty="0"/>
              <a:t>3</a:t>
            </a:r>
            <a:r>
              <a:rPr lang="zh-CN" altLang="en-US" dirty="0"/>
              <a:t>－</a:t>
            </a:r>
            <a:r>
              <a:rPr lang="en-US" altLang="zh-CN" dirty="0"/>
              <a:t>6  </a:t>
            </a:r>
            <a:r>
              <a:rPr lang="zh-CN" altLang="en-US" dirty="0"/>
              <a:t>二</a:t>
            </a:r>
            <a:r>
              <a:rPr lang="en-US" altLang="zh-CN" dirty="0"/>
              <a:t>—</a:t>
            </a:r>
            <a:r>
              <a:rPr lang="zh-CN" altLang="en-US" dirty="0"/>
              <a:t>十进制译码器 </a:t>
            </a:r>
            <a:r>
              <a:rPr lang="en-US" altLang="zh-CN" dirty="0"/>
              <a:t>74LS42 </a:t>
            </a:r>
            <a:r>
              <a:rPr lang="zh-CN" altLang="en-US" dirty="0"/>
              <a:t>的真值表如表 </a:t>
            </a:r>
            <a:r>
              <a:rPr lang="en-US" altLang="zh-CN" dirty="0"/>
              <a:t>3 22 </a:t>
            </a:r>
            <a:r>
              <a:rPr lang="zh-CN" altLang="en-US" dirty="0"/>
              <a:t>所示，写出各个输出的逻辑表达式。</a:t>
            </a:r>
            <a:endParaRPr lang="zh-CN" altLang="zh-CN" dirty="0"/>
          </a:p>
        </p:txBody>
      </p:sp>
      <p:sp>
        <p:nvSpPr>
          <p:cNvPr id="496643"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7664" y="1716346"/>
            <a:ext cx="5976664" cy="4839998"/>
          </a:xfrm>
          <a:prstGeom prst="rect">
            <a:avLst/>
          </a:prstGeom>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 2"/>
          <p:cNvSpPr>
            <a:spLocks noGrp="1" noChangeArrowheads="1"/>
          </p:cNvSpPr>
          <p:nvPr>
            <p:ph type="title"/>
          </p:nvPr>
        </p:nvSpPr>
        <p:spPr/>
        <p:txBody>
          <a:bodyPr/>
          <a:lstStyle/>
          <a:p>
            <a:br>
              <a:rPr lang="en-US" altLang="zh-CN" dirty="0"/>
            </a:br>
            <a:r>
              <a:rPr lang="zh-CN" altLang="en-US" dirty="0"/>
              <a:t>　　</a:t>
            </a:r>
            <a:r>
              <a:rPr lang="en-US" altLang="zh-CN" dirty="0"/>
              <a:t>3</a:t>
            </a:r>
            <a:r>
              <a:rPr lang="zh-CN" altLang="en-US" dirty="0"/>
              <a:t>－</a:t>
            </a:r>
            <a:r>
              <a:rPr lang="en-US" altLang="zh-CN" dirty="0"/>
              <a:t>7  </a:t>
            </a:r>
            <a:r>
              <a:rPr lang="zh-CN" altLang="en-US" dirty="0"/>
              <a:t>写出如图 </a:t>
            </a:r>
            <a:r>
              <a:rPr lang="en-US" altLang="zh-CN" dirty="0"/>
              <a:t>3</a:t>
            </a:r>
            <a:r>
              <a:rPr lang="zh-CN" altLang="en-US" dirty="0"/>
              <a:t>－</a:t>
            </a:r>
            <a:r>
              <a:rPr lang="en-US" altLang="zh-CN" dirty="0"/>
              <a:t>42 ( a )</a:t>
            </a:r>
            <a:r>
              <a:rPr lang="zh-CN" altLang="en-US" dirty="0"/>
              <a:t>所示电路中 </a:t>
            </a:r>
            <a:r>
              <a:rPr lang="en-US" altLang="zh-CN" dirty="0"/>
              <a:t>F </a:t>
            </a:r>
            <a:r>
              <a:rPr lang="en-US" altLang="zh-CN" baseline="-25000" dirty="0"/>
              <a:t>1 </a:t>
            </a:r>
            <a:r>
              <a:rPr lang="zh-CN" altLang="en-US" dirty="0"/>
              <a:t>、 </a:t>
            </a:r>
            <a:r>
              <a:rPr lang="en-US" altLang="zh-CN" dirty="0"/>
              <a:t>F </a:t>
            </a:r>
            <a:r>
              <a:rPr lang="en-US" altLang="zh-CN" baseline="-25000" dirty="0"/>
              <a:t>2 </a:t>
            </a:r>
            <a:r>
              <a:rPr lang="zh-CN" altLang="en-US" dirty="0"/>
              <a:t>、 </a:t>
            </a:r>
            <a:r>
              <a:rPr lang="en-US" altLang="zh-CN" dirty="0"/>
              <a:t>F </a:t>
            </a:r>
            <a:r>
              <a:rPr lang="en-US" altLang="zh-CN" baseline="-25000" dirty="0"/>
              <a:t>3</a:t>
            </a:r>
            <a:r>
              <a:rPr lang="en-US" altLang="zh-CN" dirty="0"/>
              <a:t> </a:t>
            </a:r>
            <a:r>
              <a:rPr lang="zh-CN" altLang="en-US" dirty="0"/>
              <a:t>的逻辑表达式并画出它们的波形图，其中，</a:t>
            </a:r>
            <a:r>
              <a:rPr lang="en-US" altLang="zh-CN" dirty="0"/>
              <a:t> A </a:t>
            </a:r>
            <a:r>
              <a:rPr lang="zh-CN" altLang="en-US" dirty="0"/>
              <a:t>、 </a:t>
            </a:r>
            <a:r>
              <a:rPr lang="en-US" altLang="zh-CN" dirty="0"/>
              <a:t>B </a:t>
            </a:r>
            <a:r>
              <a:rPr lang="zh-CN" altLang="en-US" dirty="0"/>
              <a:t>、 </a:t>
            </a:r>
            <a:r>
              <a:rPr lang="en-US" altLang="zh-CN" dirty="0"/>
              <a:t>C </a:t>
            </a:r>
            <a:r>
              <a:rPr lang="zh-CN" altLang="en-US" dirty="0"/>
              <a:t>、 </a:t>
            </a:r>
            <a:r>
              <a:rPr lang="en-US" altLang="zh-CN" dirty="0"/>
              <a:t>D </a:t>
            </a:r>
            <a:r>
              <a:rPr lang="zh-CN" altLang="en-US" dirty="0"/>
              <a:t>的波形如图 </a:t>
            </a:r>
            <a:r>
              <a:rPr lang="en-US" altLang="zh-CN" dirty="0"/>
              <a:t>3</a:t>
            </a:r>
            <a:r>
              <a:rPr lang="zh-CN" altLang="en-US" dirty="0"/>
              <a:t>－</a:t>
            </a:r>
            <a:r>
              <a:rPr lang="en-US" altLang="zh-CN" dirty="0"/>
              <a:t>42 (b )</a:t>
            </a:r>
            <a:r>
              <a:rPr lang="zh-CN" altLang="en-US" dirty="0"/>
              <a:t>所示。</a:t>
            </a:r>
            <a:endParaRPr lang="zh-CN" altLang="zh-CN" dirty="0"/>
          </a:p>
        </p:txBody>
      </p:sp>
      <p:sp>
        <p:nvSpPr>
          <p:cNvPr id="497667" name="Rectangle 3"/>
          <p:cNvSpPr>
            <a:spLocks noGrp="1" noChangeArrowheads="1"/>
          </p:cNvSpPr>
          <p:nvPr>
            <p:ph type="body" idx="1"/>
          </p:nvPr>
        </p:nvSpPr>
        <p:spPr/>
        <p:txBody>
          <a:bodyPr/>
          <a:lstStyle/>
          <a:p>
            <a:r>
              <a:rPr lang="zh-CN" altLang="en-US" dirty="0"/>
              <a:t>图 </a:t>
            </a:r>
            <a:r>
              <a:rPr lang="en-US" altLang="zh-CN" dirty="0"/>
              <a:t>3</a:t>
            </a:r>
            <a:r>
              <a:rPr lang="zh-CN" altLang="en-US" dirty="0"/>
              <a:t>－</a:t>
            </a:r>
            <a:r>
              <a:rPr lang="en-US" altLang="zh-CN" dirty="0"/>
              <a:t>42  </a:t>
            </a:r>
            <a:r>
              <a:rPr lang="zh-CN" altLang="en-US" dirty="0"/>
              <a:t>习题 </a:t>
            </a:r>
            <a:r>
              <a:rPr lang="en-US" altLang="zh-CN" dirty="0"/>
              <a:t>3</a:t>
            </a:r>
            <a:r>
              <a:rPr lang="zh-CN" altLang="en-US" dirty="0"/>
              <a:t>－</a:t>
            </a:r>
            <a:r>
              <a:rPr lang="en-US" altLang="zh-CN" dirty="0"/>
              <a:t>7 </a:t>
            </a:r>
            <a:r>
              <a:rPr lang="zh-CN" altLang="en-US" dirty="0"/>
              <a:t>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488" y="2708920"/>
            <a:ext cx="8811855" cy="2991268"/>
          </a:xfrm>
          <a:prstGeom prst="rect">
            <a:avLst/>
          </a:prstGeom>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Rectangle 2"/>
          <p:cNvSpPr>
            <a:spLocks noGrp="1" noChangeArrowheads="1"/>
          </p:cNvSpPr>
          <p:nvPr>
            <p:ph type="title"/>
          </p:nvPr>
        </p:nvSpPr>
        <p:spPr>
          <a:xfrm>
            <a:off x="541734" y="332656"/>
            <a:ext cx="8115300" cy="5638800"/>
          </a:xfrm>
        </p:spPr>
        <p:txBody>
          <a:bodyPr/>
          <a:lstStyle/>
          <a:p>
            <a:br>
              <a:rPr lang="en-US" altLang="zh-CN" dirty="0"/>
            </a:br>
            <a:r>
              <a:rPr lang="zh-CN" altLang="en-US" dirty="0"/>
              <a:t>　　</a:t>
            </a:r>
            <a:r>
              <a:rPr lang="en-US" altLang="zh-CN" dirty="0"/>
              <a:t>3</a:t>
            </a:r>
            <a:r>
              <a:rPr lang="zh-CN" altLang="en-US" dirty="0"/>
              <a:t>－</a:t>
            </a:r>
            <a:r>
              <a:rPr lang="en-US" altLang="zh-CN" dirty="0"/>
              <a:t>8  </a:t>
            </a:r>
            <a:r>
              <a:rPr lang="zh-CN" altLang="en-US" dirty="0"/>
              <a:t>画出如图 </a:t>
            </a:r>
            <a:r>
              <a:rPr lang="en-US" altLang="zh-CN" dirty="0"/>
              <a:t>3</a:t>
            </a:r>
            <a:r>
              <a:rPr lang="zh-CN" altLang="en-US" dirty="0"/>
              <a:t>－</a:t>
            </a:r>
            <a:r>
              <a:rPr lang="en-US" altLang="zh-CN" dirty="0"/>
              <a:t>43 ( a )</a:t>
            </a:r>
            <a:r>
              <a:rPr lang="zh-CN" altLang="en-US" dirty="0"/>
              <a:t>所示电路中 </a:t>
            </a:r>
            <a:r>
              <a:rPr lang="en-US" altLang="zh-CN" dirty="0"/>
              <a:t>S </a:t>
            </a:r>
            <a:r>
              <a:rPr lang="en-US" altLang="zh-CN" baseline="-25000" dirty="0"/>
              <a:t>1 </a:t>
            </a:r>
            <a:r>
              <a:rPr lang="zh-CN" altLang="en-US" dirty="0"/>
              <a:t>、 </a:t>
            </a:r>
            <a:r>
              <a:rPr lang="en-US" altLang="zh-CN" dirty="0"/>
              <a:t>S </a:t>
            </a:r>
            <a:r>
              <a:rPr lang="en-US" altLang="zh-CN" baseline="-25000" dirty="0"/>
              <a:t>0</a:t>
            </a:r>
            <a:r>
              <a:rPr lang="en-US" altLang="zh-CN" dirty="0"/>
              <a:t> </a:t>
            </a:r>
            <a:r>
              <a:rPr lang="zh-CN" altLang="en-US" dirty="0"/>
              <a:t>、 </a:t>
            </a:r>
            <a:r>
              <a:rPr lang="en-US" altLang="zh-CN" dirty="0"/>
              <a:t>C </a:t>
            </a:r>
            <a:r>
              <a:rPr lang="en-US" altLang="zh-CN" baseline="-25000" dirty="0"/>
              <a:t>1</a:t>
            </a:r>
            <a:r>
              <a:rPr lang="en-US" altLang="zh-CN" dirty="0"/>
              <a:t> </a:t>
            </a:r>
            <a:r>
              <a:rPr lang="zh-CN" altLang="en-US" dirty="0"/>
              <a:t>的波形图，其中，</a:t>
            </a:r>
            <a:r>
              <a:rPr lang="en-US" altLang="zh-CN" dirty="0"/>
              <a:t> A </a:t>
            </a:r>
            <a:r>
              <a:rPr lang="en-US" altLang="zh-CN" baseline="-25000" dirty="0"/>
              <a:t>1 </a:t>
            </a:r>
            <a:r>
              <a:rPr lang="zh-CN" altLang="en-US" dirty="0"/>
              <a:t>、 </a:t>
            </a:r>
            <a:r>
              <a:rPr lang="en-US" altLang="zh-CN" dirty="0"/>
              <a:t>A </a:t>
            </a:r>
            <a:r>
              <a:rPr lang="en-US" altLang="zh-CN" baseline="-25000" dirty="0"/>
              <a:t>0</a:t>
            </a:r>
            <a:r>
              <a:rPr lang="en-US" altLang="zh-CN" dirty="0"/>
              <a:t> </a:t>
            </a:r>
            <a:r>
              <a:rPr lang="zh-CN" altLang="en-US" dirty="0"/>
              <a:t>、 </a:t>
            </a:r>
            <a:r>
              <a:rPr lang="en-US" altLang="zh-CN" dirty="0"/>
              <a:t>B </a:t>
            </a:r>
            <a:r>
              <a:rPr lang="en-US" altLang="zh-CN" baseline="-25000" dirty="0"/>
              <a:t>1</a:t>
            </a:r>
            <a:r>
              <a:rPr lang="en-US" altLang="zh-CN" dirty="0"/>
              <a:t> </a:t>
            </a:r>
            <a:r>
              <a:rPr lang="zh-CN" altLang="en-US" dirty="0"/>
              <a:t>、 </a:t>
            </a:r>
            <a:r>
              <a:rPr lang="en-US" altLang="zh-CN" dirty="0"/>
              <a:t>B </a:t>
            </a:r>
            <a:r>
              <a:rPr lang="en-US" altLang="zh-CN" baseline="-25000" dirty="0"/>
              <a:t>0 </a:t>
            </a:r>
            <a:r>
              <a:rPr lang="zh-CN" altLang="en-US" dirty="0"/>
              <a:t>、</a:t>
            </a:r>
            <a:r>
              <a:rPr lang="en-US" altLang="zh-CN" dirty="0"/>
              <a:t>C 0 </a:t>
            </a:r>
            <a:r>
              <a:rPr lang="zh-CN" altLang="en-US" dirty="0"/>
              <a:t>的波形如图 </a:t>
            </a:r>
            <a:r>
              <a:rPr lang="en-US" altLang="zh-CN" dirty="0"/>
              <a:t>3</a:t>
            </a:r>
            <a:r>
              <a:rPr lang="zh-CN" altLang="en-US" dirty="0"/>
              <a:t>－</a:t>
            </a:r>
            <a:r>
              <a:rPr lang="en-US" altLang="zh-CN" dirty="0"/>
              <a:t>43 ( b )</a:t>
            </a:r>
            <a:r>
              <a:rPr lang="zh-CN" altLang="en-US" dirty="0"/>
              <a:t>所示。</a:t>
            </a:r>
            <a:endParaRPr lang="zh-CN" altLang="zh-CN" dirty="0"/>
          </a:p>
        </p:txBody>
      </p:sp>
      <p:sp>
        <p:nvSpPr>
          <p:cNvPr id="498691" name="Rectangle 3"/>
          <p:cNvSpPr>
            <a:spLocks noGrp="1" noChangeArrowheads="1"/>
          </p:cNvSpPr>
          <p:nvPr>
            <p:ph type="body" idx="1"/>
          </p:nvPr>
        </p:nvSpPr>
        <p:spPr/>
        <p:txBody>
          <a:bodyPr/>
          <a:lstStyle/>
          <a:p>
            <a:r>
              <a:rPr lang="zh-CN" altLang="en-US" dirty="0"/>
              <a:t>图 </a:t>
            </a:r>
            <a:r>
              <a:rPr lang="en-US" altLang="zh-CN" dirty="0"/>
              <a:t>3</a:t>
            </a:r>
            <a:r>
              <a:rPr lang="zh-CN" altLang="en-US" dirty="0"/>
              <a:t>－</a:t>
            </a:r>
            <a:r>
              <a:rPr lang="en-US" altLang="zh-CN" dirty="0"/>
              <a:t>43  </a:t>
            </a:r>
            <a:r>
              <a:rPr lang="zh-CN" altLang="en-US" dirty="0"/>
              <a:t>习题 </a:t>
            </a:r>
            <a:r>
              <a:rPr lang="en-US" altLang="zh-CN" dirty="0"/>
              <a:t>3</a:t>
            </a:r>
            <a:r>
              <a:rPr lang="zh-CN" altLang="en-US" dirty="0"/>
              <a:t>－</a:t>
            </a:r>
            <a:r>
              <a:rPr lang="en-US" altLang="zh-CN" dirty="0"/>
              <a:t>8 </a:t>
            </a:r>
            <a:r>
              <a:rPr lang="zh-CN" altLang="en-US" dirty="0"/>
              <a:t>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052" y="2204864"/>
            <a:ext cx="8611802" cy="3505690"/>
          </a:xfrm>
          <a:prstGeom prst="rect">
            <a:avLst/>
          </a:prstGeom>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2"/>
          <p:cNvSpPr>
            <a:spLocks noGrp="1" noChangeArrowheads="1"/>
          </p:cNvSpPr>
          <p:nvPr>
            <p:ph type="title"/>
          </p:nvPr>
        </p:nvSpPr>
        <p:spPr/>
        <p:txBody>
          <a:bodyPr/>
          <a:lstStyle/>
          <a:p>
            <a:br>
              <a:rPr lang="en-US" altLang="zh-CN" dirty="0"/>
            </a:br>
            <a:r>
              <a:rPr lang="zh-CN" altLang="en-US" dirty="0"/>
              <a:t>　　</a:t>
            </a:r>
            <a:r>
              <a:rPr lang="en-US" altLang="zh-CN" dirty="0"/>
              <a:t>3</a:t>
            </a:r>
            <a:r>
              <a:rPr lang="zh-CN" altLang="en-US" dirty="0"/>
              <a:t>－</a:t>
            </a:r>
            <a:r>
              <a:rPr lang="en-US" altLang="zh-CN" dirty="0"/>
              <a:t>9  </a:t>
            </a:r>
            <a:r>
              <a:rPr lang="zh-CN" altLang="en-US" dirty="0"/>
              <a:t>分析图 </a:t>
            </a:r>
            <a:r>
              <a:rPr lang="en-US" altLang="zh-CN" dirty="0"/>
              <a:t>3</a:t>
            </a:r>
            <a:r>
              <a:rPr lang="zh-CN" altLang="en-US" dirty="0"/>
              <a:t>－</a:t>
            </a:r>
            <a:r>
              <a:rPr lang="en-US" altLang="zh-CN" dirty="0"/>
              <a:t>44 </a:t>
            </a:r>
            <a:r>
              <a:rPr lang="zh-CN" altLang="en-US" dirty="0"/>
              <a:t>所示电路，写出 </a:t>
            </a:r>
            <a:r>
              <a:rPr lang="en-US" altLang="zh-CN" dirty="0"/>
              <a:t>F </a:t>
            </a:r>
            <a:r>
              <a:rPr lang="en-US" altLang="zh-CN" baseline="-25000" dirty="0"/>
              <a:t>1</a:t>
            </a:r>
            <a:r>
              <a:rPr lang="en-US" altLang="zh-CN" dirty="0"/>
              <a:t> </a:t>
            </a:r>
            <a:r>
              <a:rPr lang="zh-CN" altLang="en-US" dirty="0"/>
              <a:t>和 </a:t>
            </a:r>
            <a:r>
              <a:rPr lang="en-US" altLang="zh-CN" dirty="0"/>
              <a:t>F </a:t>
            </a:r>
            <a:r>
              <a:rPr lang="en-US" altLang="zh-CN" baseline="-25000" dirty="0"/>
              <a:t>2</a:t>
            </a:r>
            <a:r>
              <a:rPr lang="en-US" altLang="zh-CN" dirty="0"/>
              <a:t> </a:t>
            </a:r>
            <a:r>
              <a:rPr lang="zh-CN" altLang="en-US" dirty="0"/>
              <a:t>的逻辑表达式。</a:t>
            </a:r>
            <a:endParaRPr lang="zh-CN" altLang="zh-CN" dirty="0"/>
          </a:p>
        </p:txBody>
      </p:sp>
      <p:sp>
        <p:nvSpPr>
          <p:cNvPr id="499715" name="Rectangle 3"/>
          <p:cNvSpPr>
            <a:spLocks noGrp="1" noChangeArrowheads="1"/>
          </p:cNvSpPr>
          <p:nvPr>
            <p:ph type="body" idx="1"/>
          </p:nvPr>
        </p:nvSpPr>
        <p:spPr/>
        <p:txBody>
          <a:bodyPr/>
          <a:lstStyle/>
          <a:p>
            <a:r>
              <a:rPr lang="zh-CN" altLang="en-US" dirty="0"/>
              <a:t>图 </a:t>
            </a:r>
            <a:r>
              <a:rPr lang="en-US" altLang="zh-CN" dirty="0"/>
              <a:t>3</a:t>
            </a:r>
            <a:r>
              <a:rPr lang="zh-CN" altLang="en-US" dirty="0"/>
              <a:t>－</a:t>
            </a:r>
            <a:r>
              <a:rPr lang="en-US" altLang="zh-CN" dirty="0"/>
              <a:t>44  </a:t>
            </a:r>
            <a:r>
              <a:rPr lang="zh-CN" altLang="en-US" dirty="0"/>
              <a:t>习题 </a:t>
            </a:r>
            <a:r>
              <a:rPr lang="en-US" altLang="zh-CN" dirty="0"/>
              <a:t>3</a:t>
            </a:r>
            <a:r>
              <a:rPr lang="zh-CN" altLang="en-US" dirty="0"/>
              <a:t>－</a:t>
            </a:r>
            <a:r>
              <a:rPr lang="en-US" altLang="zh-CN" dirty="0"/>
              <a:t>9 </a:t>
            </a:r>
            <a:r>
              <a:rPr lang="zh-CN" altLang="en-US" dirty="0"/>
              <a:t>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7784" y="1963826"/>
            <a:ext cx="3689216" cy="3597272"/>
          </a:xfrm>
          <a:prstGeom prst="rect">
            <a:avLst/>
          </a:prstGeom>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p:nvPr>
        </p:nvSpPr>
        <p:spPr/>
        <p:txBody>
          <a:bodyPr/>
          <a:lstStyle/>
          <a:p>
            <a:br>
              <a:rPr lang="en-US" altLang="zh-CN" dirty="0"/>
            </a:br>
            <a:r>
              <a:rPr lang="zh-CN" altLang="en-US" dirty="0"/>
              <a:t>　　</a:t>
            </a:r>
            <a:r>
              <a:rPr lang="en-US" altLang="zh-CN" dirty="0"/>
              <a:t>3</a:t>
            </a:r>
            <a:r>
              <a:rPr lang="zh-CN" altLang="en-US" dirty="0"/>
              <a:t>－</a:t>
            </a:r>
            <a:r>
              <a:rPr lang="en-US" altLang="zh-CN" dirty="0"/>
              <a:t>10  </a:t>
            </a:r>
            <a:r>
              <a:rPr lang="zh-CN" altLang="en-US" dirty="0"/>
              <a:t>用 </a:t>
            </a:r>
            <a:r>
              <a:rPr lang="en-US" altLang="zh-CN" dirty="0"/>
              <a:t>74283 </a:t>
            </a:r>
            <a:r>
              <a:rPr lang="zh-CN" altLang="en-US" dirty="0"/>
              <a:t>四位加法器和门电路设计一个四位二进制减法电路。</a:t>
            </a:r>
            <a:br>
              <a:rPr lang="zh-CN" altLang="en-US" dirty="0"/>
            </a:br>
            <a:r>
              <a:rPr lang="zh-CN" altLang="en-US" dirty="0"/>
              <a:t>　　</a:t>
            </a:r>
            <a:r>
              <a:rPr lang="en-US" altLang="zh-CN" dirty="0"/>
              <a:t>3</a:t>
            </a:r>
            <a:r>
              <a:rPr lang="zh-CN" altLang="en-US" dirty="0"/>
              <a:t>－</a:t>
            </a:r>
            <a:r>
              <a:rPr lang="en-US" altLang="zh-CN" dirty="0"/>
              <a:t>11  </a:t>
            </a:r>
            <a:r>
              <a:rPr lang="zh-CN" altLang="en-US" dirty="0"/>
              <a:t>画出如图 </a:t>
            </a:r>
            <a:r>
              <a:rPr lang="en-US" altLang="zh-CN" dirty="0"/>
              <a:t>3</a:t>
            </a:r>
            <a:r>
              <a:rPr lang="zh-CN" altLang="en-US" dirty="0"/>
              <a:t>－</a:t>
            </a:r>
            <a:r>
              <a:rPr lang="en-US" altLang="zh-CN" dirty="0"/>
              <a:t>45 </a:t>
            </a:r>
            <a:r>
              <a:rPr lang="zh-CN" altLang="en-US" dirty="0"/>
              <a:t>所示电路中四位比较器 </a:t>
            </a:r>
            <a:r>
              <a:rPr lang="en-US" altLang="zh-CN" dirty="0"/>
              <a:t>7485 </a:t>
            </a:r>
            <a:r>
              <a:rPr lang="zh-CN" altLang="en-US" dirty="0"/>
              <a:t>输出端的波形图。</a:t>
            </a:r>
            <a:endParaRPr lang="zh-CN" altLang="zh-CN" dirty="0"/>
          </a:p>
        </p:txBody>
      </p:sp>
      <p:sp>
        <p:nvSpPr>
          <p:cNvPr id="500739" name="Rectangle 3"/>
          <p:cNvSpPr>
            <a:spLocks noGrp="1" noChangeArrowheads="1"/>
          </p:cNvSpPr>
          <p:nvPr>
            <p:ph type="body" idx="1"/>
          </p:nvPr>
        </p:nvSpPr>
        <p:spPr/>
        <p:txBody>
          <a:bodyPr/>
          <a:lstStyle/>
          <a:p>
            <a:endParaRPr lang="zh-CN" altLang="zh-CN"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2"/>
          <p:cNvSpPr>
            <a:spLocks noGrp="1" noChangeArrowheads="1"/>
          </p:cNvSpPr>
          <p:nvPr>
            <p:ph type="title"/>
          </p:nvPr>
        </p:nvSpPr>
        <p:spPr/>
        <p:txBody>
          <a:bodyPr/>
          <a:lstStyle/>
          <a:p>
            <a:endParaRPr lang="zh-CN" altLang="zh-CN"/>
          </a:p>
        </p:txBody>
      </p:sp>
      <p:sp>
        <p:nvSpPr>
          <p:cNvPr id="501763" name="Rectangle 3"/>
          <p:cNvSpPr>
            <a:spLocks noGrp="1" noChangeArrowheads="1"/>
          </p:cNvSpPr>
          <p:nvPr>
            <p:ph type="body" idx="1"/>
          </p:nvPr>
        </p:nvSpPr>
        <p:spPr/>
        <p:txBody>
          <a:bodyPr/>
          <a:lstStyle/>
          <a:p>
            <a:r>
              <a:rPr lang="zh-CN" altLang="en-US" dirty="0"/>
              <a:t>图 </a:t>
            </a:r>
            <a:r>
              <a:rPr lang="en-US" altLang="zh-CN" dirty="0"/>
              <a:t>3</a:t>
            </a:r>
            <a:r>
              <a:rPr lang="zh-CN" altLang="en-US" dirty="0"/>
              <a:t>－</a:t>
            </a:r>
            <a:r>
              <a:rPr lang="en-US" altLang="zh-CN" dirty="0"/>
              <a:t>45  </a:t>
            </a:r>
            <a:r>
              <a:rPr lang="zh-CN" altLang="en-US" dirty="0"/>
              <a:t>习题 </a:t>
            </a:r>
            <a:r>
              <a:rPr lang="en-US" altLang="zh-CN" dirty="0"/>
              <a:t>3</a:t>
            </a:r>
            <a:r>
              <a:rPr lang="zh-CN" altLang="en-US" dirty="0"/>
              <a:t>－</a:t>
            </a:r>
            <a:r>
              <a:rPr lang="en-US" altLang="zh-CN" dirty="0"/>
              <a:t>11 </a:t>
            </a:r>
            <a:r>
              <a:rPr lang="zh-CN" altLang="en-US" dirty="0"/>
              <a:t>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889" y="1714260"/>
            <a:ext cx="6954221" cy="3429479"/>
          </a:xfrm>
          <a:prstGeom prst="rect">
            <a:avLst/>
          </a:prstGeom>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Rectangle 2"/>
          <p:cNvSpPr>
            <a:spLocks noGrp="1" noChangeArrowheads="1"/>
          </p:cNvSpPr>
          <p:nvPr>
            <p:ph type="title"/>
          </p:nvPr>
        </p:nvSpPr>
        <p:spPr/>
        <p:txBody>
          <a:bodyPr/>
          <a:lstStyle/>
          <a:p>
            <a:br>
              <a:rPr lang="en-US" altLang="zh-CN" dirty="0"/>
            </a:br>
            <a:r>
              <a:rPr lang="zh-CN" altLang="en-US" dirty="0"/>
              <a:t>　　</a:t>
            </a:r>
            <a:r>
              <a:rPr lang="en-US" altLang="zh-CN" dirty="0"/>
              <a:t>3</a:t>
            </a:r>
            <a:r>
              <a:rPr lang="zh-CN" altLang="en-US" dirty="0"/>
              <a:t>－</a:t>
            </a:r>
            <a:r>
              <a:rPr lang="en-US" altLang="zh-CN" dirty="0"/>
              <a:t>12  </a:t>
            </a:r>
            <a:r>
              <a:rPr lang="zh-CN" altLang="en-US" dirty="0"/>
              <a:t>用八选一数据选择器 </a:t>
            </a:r>
            <a:r>
              <a:rPr lang="en-US" altLang="zh-CN" dirty="0"/>
              <a:t>74151 </a:t>
            </a:r>
            <a:r>
              <a:rPr lang="zh-CN" altLang="en-US" dirty="0"/>
              <a:t>实现下列逻辑函数</a:t>
            </a:r>
            <a:r>
              <a:rPr lang="en-US" altLang="zh-CN" dirty="0"/>
              <a:t>:</a:t>
            </a:r>
            <a:endParaRPr lang="zh-CN" altLang="zh-CN" dirty="0"/>
          </a:p>
        </p:txBody>
      </p:sp>
      <p:sp>
        <p:nvSpPr>
          <p:cNvPr id="502787"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624" y="1733311"/>
            <a:ext cx="6462423" cy="3783919"/>
          </a:xfrm>
          <a:prstGeom prst="rect">
            <a:avLst/>
          </a:prstGeom>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p:cNvSpPr>
            <a:spLocks noGrp="1" noChangeArrowheads="1"/>
          </p:cNvSpPr>
          <p:nvPr>
            <p:ph type="title"/>
          </p:nvPr>
        </p:nvSpPr>
        <p:spPr/>
        <p:txBody>
          <a:bodyPr/>
          <a:lstStyle/>
          <a:p>
            <a:br>
              <a:rPr lang="en-US" altLang="zh-CN" dirty="0"/>
            </a:br>
            <a:r>
              <a:rPr lang="zh-CN" altLang="en-US" dirty="0"/>
              <a:t>　　</a:t>
            </a:r>
            <a:r>
              <a:rPr lang="en-US" altLang="zh-CN" dirty="0"/>
              <a:t>3</a:t>
            </a:r>
            <a:r>
              <a:rPr lang="zh-CN" altLang="en-US" dirty="0"/>
              <a:t>－</a:t>
            </a:r>
            <a:r>
              <a:rPr lang="en-US" altLang="zh-CN" dirty="0"/>
              <a:t>13  </a:t>
            </a:r>
            <a:r>
              <a:rPr lang="zh-CN" altLang="en-US" dirty="0"/>
              <a:t>用八选一数据选择器 </a:t>
            </a:r>
            <a:r>
              <a:rPr lang="en-US" altLang="zh-CN" dirty="0"/>
              <a:t>74151 </a:t>
            </a:r>
            <a:r>
              <a:rPr lang="zh-CN" altLang="en-US" dirty="0"/>
              <a:t>设计实现一个一</a:t>
            </a:r>
            <a:br>
              <a:rPr lang="zh-CN" altLang="en-US" dirty="0"/>
            </a:br>
            <a:r>
              <a:rPr lang="zh-CN" altLang="en-US" dirty="0"/>
              <a:t>位全加器。</a:t>
            </a:r>
            <a:br>
              <a:rPr lang="zh-CN" altLang="en-US" dirty="0"/>
            </a:br>
            <a:r>
              <a:rPr lang="zh-CN" altLang="en-US" dirty="0"/>
              <a:t>　　</a:t>
            </a:r>
            <a:r>
              <a:rPr lang="en-US" altLang="zh-CN" dirty="0"/>
              <a:t>3</a:t>
            </a:r>
            <a:r>
              <a:rPr lang="zh-CN" altLang="en-US" dirty="0"/>
              <a:t>－</a:t>
            </a:r>
            <a:r>
              <a:rPr lang="en-US" altLang="zh-CN" dirty="0"/>
              <a:t>14  </a:t>
            </a:r>
            <a:r>
              <a:rPr lang="zh-CN" altLang="en-US" dirty="0"/>
              <a:t>写出如图 </a:t>
            </a:r>
            <a:r>
              <a:rPr lang="en-US" altLang="zh-CN" dirty="0"/>
              <a:t>3</a:t>
            </a:r>
            <a:r>
              <a:rPr lang="zh-CN" altLang="en-US" dirty="0"/>
              <a:t>－</a:t>
            </a:r>
            <a:r>
              <a:rPr lang="en-US" altLang="zh-CN" dirty="0"/>
              <a:t>46 </a:t>
            </a:r>
            <a:r>
              <a:rPr lang="zh-CN" altLang="en-US" dirty="0"/>
              <a:t>所示电路输出的逻辑表达式。</a:t>
            </a:r>
            <a:br>
              <a:rPr lang="zh-CN" altLang="en-US" dirty="0"/>
            </a:br>
            <a:r>
              <a:rPr lang="zh-CN" altLang="en-US" dirty="0"/>
              <a:t>　　</a:t>
            </a:r>
            <a:r>
              <a:rPr lang="en-US" altLang="zh-CN" dirty="0"/>
              <a:t>3</a:t>
            </a:r>
            <a:r>
              <a:rPr lang="zh-CN" altLang="en-US" dirty="0"/>
              <a:t>－</a:t>
            </a:r>
            <a:r>
              <a:rPr lang="en-US" altLang="zh-CN" dirty="0"/>
              <a:t>15  </a:t>
            </a:r>
            <a:r>
              <a:rPr lang="zh-CN" altLang="en-US" dirty="0"/>
              <a:t>画出如图 </a:t>
            </a:r>
            <a:r>
              <a:rPr lang="en-US" altLang="zh-CN" dirty="0"/>
              <a:t>3</a:t>
            </a:r>
            <a:r>
              <a:rPr lang="zh-CN" altLang="en-US" dirty="0"/>
              <a:t>－</a:t>
            </a:r>
            <a:r>
              <a:rPr lang="en-US" altLang="zh-CN" dirty="0"/>
              <a:t>47 </a:t>
            </a:r>
            <a:r>
              <a:rPr lang="zh-CN" altLang="en-US" dirty="0"/>
              <a:t>所 示 八 选 一 数 据 选 择 器</a:t>
            </a:r>
            <a:br>
              <a:rPr lang="zh-CN" altLang="en-US" dirty="0"/>
            </a:br>
            <a:r>
              <a:rPr lang="en-US" altLang="zh-CN" dirty="0"/>
              <a:t>74151 </a:t>
            </a:r>
            <a:r>
              <a:rPr lang="zh-CN" altLang="en-US" dirty="0"/>
              <a:t>输出端的波形图。</a:t>
            </a:r>
            <a:endParaRPr lang="zh-CN" altLang="zh-CN" dirty="0"/>
          </a:p>
        </p:txBody>
      </p:sp>
      <p:sp>
        <p:nvSpPr>
          <p:cNvPr id="50381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2"/>
          <p:cNvSpPr>
            <a:spLocks noGrp="1" noChangeArrowheads="1"/>
          </p:cNvSpPr>
          <p:nvPr>
            <p:ph type="title"/>
          </p:nvPr>
        </p:nvSpPr>
        <p:spPr/>
        <p:txBody>
          <a:bodyPr/>
          <a:lstStyle/>
          <a:p>
            <a:endParaRPr lang="zh-CN" altLang="zh-CN"/>
          </a:p>
        </p:txBody>
      </p:sp>
      <p:sp>
        <p:nvSpPr>
          <p:cNvPr id="504835" name="Rectangle 3"/>
          <p:cNvSpPr>
            <a:spLocks noGrp="1" noChangeArrowheads="1"/>
          </p:cNvSpPr>
          <p:nvPr>
            <p:ph type="body" idx="1"/>
          </p:nvPr>
        </p:nvSpPr>
        <p:spPr>
          <a:xfrm>
            <a:off x="18851" y="5733256"/>
            <a:ext cx="9144000" cy="438944"/>
          </a:xfrm>
        </p:spPr>
        <p:txBody>
          <a:bodyPr/>
          <a:lstStyle/>
          <a:p>
            <a:r>
              <a:rPr lang="zh-CN" altLang="en-US" dirty="0"/>
              <a:t>图 </a:t>
            </a:r>
            <a:r>
              <a:rPr lang="en-US" altLang="zh-CN" dirty="0"/>
              <a:t>3</a:t>
            </a:r>
            <a:r>
              <a:rPr lang="zh-CN" altLang="en-US" dirty="0"/>
              <a:t>－</a:t>
            </a:r>
            <a:r>
              <a:rPr lang="en-US" altLang="zh-CN" dirty="0"/>
              <a:t>46  </a:t>
            </a:r>
            <a:r>
              <a:rPr lang="zh-CN" altLang="en-US" dirty="0"/>
              <a:t>习题 </a:t>
            </a:r>
            <a:r>
              <a:rPr lang="en-US" altLang="zh-CN" dirty="0"/>
              <a:t>3</a:t>
            </a:r>
            <a:r>
              <a:rPr lang="zh-CN" altLang="en-US" dirty="0"/>
              <a:t>－</a:t>
            </a:r>
            <a:r>
              <a:rPr lang="en-US" altLang="zh-CN" dirty="0"/>
              <a:t>14 </a:t>
            </a:r>
            <a:r>
              <a:rPr lang="zh-CN" altLang="en-US" dirty="0"/>
              <a:t>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3768" y="1556792"/>
            <a:ext cx="4814725" cy="3456381"/>
          </a:xfrm>
          <a:prstGeom prst="rect">
            <a:avLst/>
          </a:prstGeom>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 2"/>
          <p:cNvSpPr>
            <a:spLocks noGrp="1" noChangeArrowheads="1"/>
          </p:cNvSpPr>
          <p:nvPr>
            <p:ph type="title"/>
          </p:nvPr>
        </p:nvSpPr>
        <p:spPr/>
        <p:txBody>
          <a:bodyPr/>
          <a:lstStyle/>
          <a:p>
            <a:endParaRPr lang="zh-CN" altLang="zh-CN"/>
          </a:p>
        </p:txBody>
      </p:sp>
      <p:sp>
        <p:nvSpPr>
          <p:cNvPr id="505859" name="Rectangle 3"/>
          <p:cNvSpPr>
            <a:spLocks noGrp="1" noChangeArrowheads="1"/>
          </p:cNvSpPr>
          <p:nvPr>
            <p:ph type="body" idx="1"/>
          </p:nvPr>
        </p:nvSpPr>
        <p:spPr/>
        <p:txBody>
          <a:bodyPr/>
          <a:lstStyle/>
          <a:p>
            <a:r>
              <a:rPr lang="zh-CN" altLang="en-US" dirty="0"/>
              <a:t>图 </a:t>
            </a:r>
            <a:r>
              <a:rPr lang="en-US" altLang="zh-CN" dirty="0"/>
              <a:t>3</a:t>
            </a:r>
            <a:r>
              <a:rPr lang="zh-CN" altLang="en-US" dirty="0"/>
              <a:t>－</a:t>
            </a:r>
            <a:r>
              <a:rPr lang="en-US" altLang="zh-CN" dirty="0"/>
              <a:t>47  </a:t>
            </a:r>
            <a:r>
              <a:rPr lang="zh-CN" altLang="en-US" dirty="0"/>
              <a:t>习题 </a:t>
            </a:r>
            <a:r>
              <a:rPr lang="en-US" altLang="zh-CN" dirty="0"/>
              <a:t>3</a:t>
            </a:r>
            <a:r>
              <a:rPr lang="zh-CN" altLang="en-US" dirty="0"/>
              <a:t>－</a:t>
            </a:r>
            <a:r>
              <a:rPr lang="en-US" altLang="zh-CN" dirty="0"/>
              <a:t>15 </a:t>
            </a:r>
            <a:r>
              <a:rPr lang="zh-CN" altLang="en-US" dirty="0"/>
              <a:t>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6784" y="1385602"/>
            <a:ext cx="7030432" cy="4086796"/>
          </a:xfrm>
          <a:prstGeom prst="rect">
            <a:avLst/>
          </a:prstGeom>
        </p:spPr>
      </p:pic>
      <p:pic>
        <p:nvPicPr>
          <p:cNvPr id="5" name="Picture 2" descr="H:\出版社\模板\课件素材\GIF动画插件1\GIF020.GIF">
            <a:hlinkClick r:id="rId3" action="ppaction://hlinksldjump"/>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8394096" y="6268790"/>
            <a:ext cx="749904" cy="5892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660066"/>
      </a:hlink>
      <a:folHlink>
        <a:srgbClr val="990099"/>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582</TotalTime>
  <Words>7028</Words>
  <Application>Microsoft Office PowerPoint</Application>
  <PresentationFormat>全屏显示(4:3)</PresentationFormat>
  <Paragraphs>186</Paragraphs>
  <Slides>152</Slides>
  <Notes>0</Notes>
  <HiddenSlides>0</HiddenSlides>
  <MMClips>0</MMClips>
  <ScaleCrop>false</ScaleCrop>
  <HeadingPairs>
    <vt:vector size="8" baseType="variant">
      <vt:variant>
        <vt:lpstr>已用的字体</vt:lpstr>
      </vt:variant>
      <vt:variant>
        <vt:i4>4</vt:i4>
      </vt:variant>
      <vt:variant>
        <vt:lpstr>主题</vt:lpstr>
      </vt:variant>
      <vt:variant>
        <vt:i4>1</vt:i4>
      </vt:variant>
      <vt:variant>
        <vt:lpstr>嵌入 OLE 服务器</vt:lpstr>
      </vt:variant>
      <vt:variant>
        <vt:i4>1</vt:i4>
      </vt:variant>
      <vt:variant>
        <vt:lpstr>幻灯片标题</vt:lpstr>
      </vt:variant>
      <vt:variant>
        <vt:i4>152</vt:i4>
      </vt:variant>
    </vt:vector>
  </HeadingPairs>
  <TitlesOfParts>
    <vt:vector size="158" baseType="lpstr">
      <vt:lpstr>华文行楷</vt:lpstr>
      <vt:lpstr>Arial</vt:lpstr>
      <vt:lpstr>Cambria Math</vt:lpstr>
      <vt:lpstr>Times New Roman</vt:lpstr>
      <vt:lpstr>默认设计模板</vt:lpstr>
      <vt:lpstr>Visio.Drawing.4</vt:lpstr>
      <vt:lpstr>第 3 章 常用组合逻辑电路及 MSI 组合电路模块的应用</vt:lpstr>
      <vt:lpstr> 　　本章介绍常用组合逻辑电路及 MSI 组合电路模块的功能及应用，包括编码器、译码器、加法器、比较器、数据选择器和数据分配器等。</vt:lpstr>
      <vt:lpstr> 3. 1  编码器和译码器</vt:lpstr>
      <vt:lpstr> 在优先编码器中，允许两个或两个以上的信号同时出现，所有输入信号按优先顺序排队，当有多于一个信号同时出现时，只对其中优先级最高的一个信号进行编码。用 n 位 0 、 1 代码对 2n个信号进行编码的电路称为二进制编码器。用二进制代码对 0~9 十个十进制符号进行编码的电路称为二—十进制编码器。 </vt:lpstr>
      <vt:lpstr> 　　1. 二进制普通编码器 　　用 n 位二进制代码对 2n个相互排斥的信号进行 编码的电路，称为二进制普通编码器。 　　三位二进制普通编码器的功能是对八个相互排斥的输入信号进行编码，它有八个输入、三个输出，因此也称为 8 线 -3 线二进制普通编码器。图3-1是 8 线 -3 线二进制普通编码器的框图，表 3-1 是它的真值表。表中只列出了输入 I0 ~I 7 可能出现的组合，其他组合都是不可能发生的，也就是约束。约束可以表示为 　　　　　Ii I j =0 (i ≠ j ， i ， j =0 ， 1 ，…， 7 )</vt:lpstr>
      <vt:lpstr>PowerPoint 演示文稿</vt:lpstr>
      <vt:lpstr> 　　由表 3-1 所示的真值表可以写出如下逻辑表达式:</vt:lpstr>
      <vt:lpstr>PowerPoint 演示文稿</vt:lpstr>
      <vt:lpstr> 　　利用约束条件 Ii I j =0 (i ≠ j ， i ， j =0 ， 1 ，…， 7 )和公式  A+"A"  ̅B=A+B 对上述表达式进行化简，可以得到:</vt:lpstr>
      <vt:lpstr> 　　图 3-2 是用与非门实现的三位二进制普通编码器的逻辑图。</vt:lpstr>
      <vt:lpstr> 　　2. 二进制优先编码器 　　用 n 位二进制代码对 2n个允许同时出现的信号进行编码，这些信号具有不同的优先级，多于一个信号同时出现时，只对其中优先级最高的信号进行编码，这样的编码器称为二进制优先编码器。 8 线 -3线二进制优先编码器的框图如图 3-3 所示，表 3-2是它的真值表。在真值表中，给 I0 ~I 7 假定了不同的优先级， I7的优先级最高， I6次之， I0的优先级最低。真值表中的“ × ”表示该输入信号取值无论是 0还是 1 都无所谓，不影响电路的输出。   </vt:lpstr>
      <vt:lpstr>PowerPoint 演示文稿</vt:lpstr>
      <vt:lpstr>PowerPoint 演示文稿</vt:lpstr>
      <vt:lpstr> 　　由表 3-2 真值表可以写出如下逻辑表达式:</vt:lpstr>
      <vt:lpstr> 利用公式 A+ "A"  ̅B=A+B 对表达式进行化简，可以得到:</vt:lpstr>
      <vt:lpstr> 图 3-4 是用与非门实现的三位二进制优先编码器的逻辑图。</vt:lpstr>
      <vt:lpstr> 　　3.8421BCD 普通编码器 　　用四位 8421 二进制代码对 0~9 十个相互排斥的十进制数进行编码的电路称为8421BCD 普通编码器。它有十个输入、四个输出。图 3-5 是 8421BCD 普通编码器的框图， 表 3-3 是它的真值表。表 3-3 中只列出了输入 I0 ~I 9 可能出现的组合，其他组合都是不可能发生的，也就是约束，约束可以表示为 　　　　　Ii I j =0 (i ≠ j ， i ， j =0 ， 1 ，…， 9 )</vt:lpstr>
      <vt:lpstr> 　　由表 3-3 真值表可以写出如下逻辑表达式:</vt:lpstr>
      <vt:lpstr>PowerPoint 演示文稿</vt:lpstr>
      <vt:lpstr>PowerPoint 演示文稿</vt:lpstr>
      <vt:lpstr> 　　利用约束条件 Ii I j =0 (i ≠ j ， i ， j =0 ， 1 ，…， 9 )和公式 A+ 􀮀 AB=A+B 对上面的表达 式进行化简，可以得到:</vt:lpstr>
      <vt:lpstr> 　　图 3-6 是用与非门实现的 8421BCD 普通编码器的逻辑图。</vt:lpstr>
      <vt:lpstr> 　　4.8421BCD 优先编码器 　　用四位 8421 二进制代码对 0~9 这十个允许同时出现的十进制数按一定优先顺序进行编码，当有一个以上信号同时出现时，只对其中优先级别最高的一个进行编码，这样的电路称为8421BCD 优先编码器。 8421BCD 优先编码器的框图如图 3－7 所示，表 3－4 是它的真值表。在真值表中，给 I0 ~I 9 假定了不同的优先级， I 9的优先级最高， I8 次之， I 0 的优先级最低。真值表中的“ × ”表示该输入信号取值无论是 0 还是 1 都无所谓，不影响电路的输出。</vt:lpstr>
      <vt:lpstr>PowerPoint 演示文稿</vt:lpstr>
      <vt:lpstr>PowerPoint 演示文稿</vt:lpstr>
      <vt:lpstr> 　　由表 3－4 的真值表可以写出如下逻辑表达式:</vt:lpstr>
      <vt:lpstr> 　　利用公式 A+"A"  ̅B=A+B 对表达式进行化简，可以得到:</vt:lpstr>
      <vt:lpstr> 　　图 3－8 是用与非门实现的 8421BCD 优先编码器的逻辑图。</vt:lpstr>
      <vt:lpstr> 　　 5.MSI74148 优先编码器及应用 　　74148 是 8 线 -3 线优先编码器，其中，("I7" ) ̅ 的优先级最高， ("I 6" ) ̅ 次之，("I 0" ) ̅ 最低。 74148 的输入和输出均为低电平有效，其引脚图和逻辑符号如图 3－9 所示，真值表如表 3－5 所示。其中， ("ST" ) ̅ 为选通输入端，当 ("ST" ) ̅ =0 时，编码器工作;当 ("ST" ) ̅ =1 时，编码功能被禁止。 "Y"  ̅EX 为扩展输出端，YS 为选通输出端，利用 ST 、"Y"  ̅ EX 和 Y S 可以对编码器进行扩展。图 3－10 为用两片 74148 优先编码器扩展构成的 16 线 -4 线优先编码器。</vt:lpstr>
      <vt:lpstr>PowerPoint 演示文稿</vt:lpstr>
      <vt:lpstr>PowerPoint 演示文稿</vt:lpstr>
      <vt:lpstr>PowerPoint 演示文稿</vt:lpstr>
      <vt:lpstr> 3. 1. 2  译码器 　　译码是编码的逆过程，是将二进制代码所表示的相应信号或对象“翻译”出来。具有译码功能的电路称为译码器。常见的译码器有二进制译码器、二—十进制译码器和显示译码器等。</vt:lpstr>
      <vt:lpstr> 　　 1. 二进制译码器 　　具有 n 个输入， 2n个输出，能将输入的所有二进制代码全部翻译出来的译码器称为二进制译码器。 　　图 3－11 是三位二进制译码器的框图。它有三个输入、八个输出，因此也称为 3 线 -8 线译码器。二进制译码器假定输入的任何组合都可能出现，且每一个输出对应一个输入组合。表 3－6 所示为一个三位二进制译码器的真值表。</vt:lpstr>
      <vt:lpstr>PowerPoint 演示文稿</vt:lpstr>
      <vt:lpstr>PowerPoint 演示文稿</vt:lpstr>
      <vt:lpstr> 　　由表 3－6 真值表可以写出如下逻辑表达式:</vt:lpstr>
      <vt:lpstr> 　　图 3－12 是三位二进制译码器的逻辑图。</vt:lpstr>
      <vt:lpstr> 　　 2. 二—十进制译码器 　　将十个表示十进制数 0~9 的二进制代码翻译成相应的输出信号的电路称为二—十进制译码器。 　　图 3－13 是二—十进制译码器的框图，它有四个输入、十个输出，因此也称为4 线 -10 线译码器。假定 1010~1111 共六个输入组合不会出现，每一个输出对应一个可能出现的输入组合，则二—十进制译码器的真值表如表 3－7 所示。</vt:lpstr>
      <vt:lpstr>PowerPoint 演示文稿</vt:lpstr>
      <vt:lpstr>PowerPoint 演示文稿</vt:lpstr>
      <vt:lpstr> 　　利用约束项，通过化简，得到如下表达式:</vt:lpstr>
      <vt:lpstr> 　　图 3－14 为二—十进制译码器的逻辑图。</vt:lpstr>
      <vt:lpstr> 　　 3. 显示译码器 　　在数字系统中，经常需要将数字、文字、符号的二进制代码翻译成人们习惯的形式，直观地显示出来，以便掌握和监控系统的运行情况。把二进制代码翻译出来以供显示器件 显示的电路称为显示译码器。设计显示译码器时，首先要了解显示器件的特性。常用的显示器件有半导体显示器件和液晶显示器件，它们都可以用 TTL 和 CMOS 电路直接驱动。 显示译码器有很多种类， BCD 七段显示译码器是其中一种常用的显示译码器。</vt:lpstr>
      <vt:lpstr> 　　 BCD 七段显示译码器如图 3－15 所示。该显示译码器有四个输入，七个输出。输入为0~9 这十个数字的 BCD 码;输出用来驱动七段发光二极管( LED )，使它发光从而显示出相应的数字。假定驱动信号为 0 时，发光二极管发光，也就是说，如要 a 段发光，需要 Ya 为 0 。</vt:lpstr>
      <vt:lpstr>PowerPoint 演示文稿</vt:lpstr>
      <vt:lpstr> 　　根据显示器件的驱动特性，可以列出如表 3－8 所示的真值表，表中假定 1010~1111共六个输入组合不会出现。</vt:lpstr>
      <vt:lpstr>PowerPoint 演示文稿</vt:lpstr>
      <vt:lpstr> 　　利用约束项，通过化简，得到如下表达式:</vt:lpstr>
      <vt:lpstr> 　　图 3－16 为 BCD 七段显示译码器的逻辑图。</vt:lpstr>
      <vt:lpstr> 　　 4.MSI74138 译码器 　　74138 是 3 线 -8 线二进制译码器，它有三个输入和八个输出，输入高电平有效，输出低电平有效。 74138 有三个使能输入端 S1 、"S"  ̅ 2 和"S"  ̅3 ，只有当 S 1 =1 且"S"  ̅ 2 + "S"  ̅3 =0 时，译码器工作，否则，译码功能被禁止。 74138 译码器的引脚图和逻辑符号如图 3－17 所示，真值表如表 3－9 所示。</vt:lpstr>
      <vt:lpstr>PowerPoint 演示文稿</vt:lpstr>
      <vt:lpstr>PowerPoint 演示文稿</vt:lpstr>
      <vt:lpstr> 　　当 S1 =1 ，"S"  ̅ 2 + "S"  ̅3 =0时，由 74138 译码器的真值表可以得到如下输出逻辑表达式:</vt:lpstr>
      <vt:lpstr> 　　 5. 用 MSI 译码器实现组合逻辑函数 　　我们知道，任一组合逻辑函数均可以写成最小项之和的形式(标准与或表达式)，也可以写成最大项之积的形式(标准或与表达式)，而二进制译码器的输出提供了其输入变量所 有不同的最小项(或最小项的反———最大项)，因此，可以利用译码器来实现组合逻辑函数。</vt:lpstr>
      <vt:lpstr> 　　用普通二进制译码器实现组合逻辑函数的一般步骤如下: 　　(1)根据译码器输出的特点(最小项或最大项)，将要实现的逻辑函数转换成相应的形式。 　　(2)将相应的输出端信号进行相或或相与。</vt:lpstr>
      <vt:lpstr> 　　 【例 3.1 】 用 74138 实现逻辑函数 F= "A"  ̅ "C"  ̅ +BC 。 　　解 74138 的输出为输入的各个不同的最大项(最小项的反)，因此，可将 F 写成最大项(或最小项的反)的形式:</vt:lpstr>
      <vt:lpstr> 　　实现电路如图 3－18 所示。</vt:lpstr>
      <vt:lpstr> 3. 2  加法器和比较器</vt:lpstr>
      <vt:lpstr> 　　1 )半加器 　　只考虑本位两个一位二进制数 A 和 B 相加，而不考虑低位进位的加法，称为半加，实现半加功能的电路称为半加器。 　　半加器的真值表如表 3－10 所示。表中的 A 和 B分别表示两个相加的一位二进制数， S 是本位和， Cout 是本位向高位的进位。 　　由真值表可以直接写出如下函数表达式:</vt:lpstr>
      <vt:lpstr>PowerPoint 演示文稿</vt:lpstr>
      <vt:lpstr> 　　半加器的逻辑图和逻辑符号如图 3－19 所示。</vt:lpstr>
      <vt:lpstr> 　　2 )全加器 　　将本位两个一位二进制数和来自低位的进位相加，叫做全加，具有全加功能的电路称为全加器。 　　全加器的真值表如表 3－11 所示。表中的 A 和 B 分别表示两个相加的一位二进制数，C in 是来自低一位向本位的进位; S 是本位和; C out 是本位向高一位的进位。图 3－20 为 S 和C out 的卡诺图。</vt:lpstr>
      <vt:lpstr>PowerPoint 演示文稿</vt:lpstr>
      <vt:lpstr>PowerPoint 演示文稿</vt:lpstr>
      <vt:lpstr> 　　由卡诺图可以写出如下函数表达式:</vt:lpstr>
      <vt:lpstr> 　　全加器的逻辑图和逻辑符号如图 3－21 所示。</vt:lpstr>
      <vt:lpstr> 　　2. 多位加法器 　　实现两个多位二进制数相加的电路称为多位加法器。根据电路结构的不同，常见的多位加法器分为串行进位加法器和超前进位加法器。 　　1 )串行进位加法器(行波进位加法器) 　　n 位串行进位加法器由 n 个一位加法器串联构成。图 3－22 所示是一个四位串行进位加法器。在串行进位加法器中，采用串行运算方式，由低位至高位，每一位的相加都必须等待下一位的进位。这种电路结构简单，但运算速度慢:一个 n 位串行进位加法器至少需要经过 n 个全加器的传输延迟时间后才能得到可靠的运算结果。</vt:lpstr>
      <vt:lpstr>PowerPoint 演示文稿</vt:lpstr>
      <vt:lpstr> 　　2 )超前进位加法器 　　为了提高运算速度，将各进位提前并同时送到各个全加器的进位输入端的加法器称为超前进位加法器。其特点是运算速度快，但电路结构较复杂。 　　两个 n 位二进制数 An -1 A n -2 … A i … A 1 A 0 和 Bn -1 B n -2 … B i … B 1 B 0进行相加的算式如下:</vt:lpstr>
      <vt:lpstr> 　　利用半加器和全加器的结果，可以写出各进位的逻辑表达式:   令 Gi =A i B i ， Pi=A i +Bi，利用递归关系可以得到:</vt:lpstr>
      <vt:lpstr> 　　超前进位加法器就是利用上面表达式同时计算出各位的进位，并同时加到各个全加器的进位输入端，从而大大提高加法器的运算速度。图 3－23 是一个四位超前进位加法器的 结构图。</vt:lpstr>
      <vt:lpstr>PowerPoint 演示文稿</vt:lpstr>
      <vt:lpstr> 　　3.MSI74283 加法器及应用 　　MSI74283 是四位二进制超前进位加法器，其引脚图和逻辑符号如图 3－24 所示。</vt:lpstr>
      <vt:lpstr>PowerPoint 演示文稿</vt:lpstr>
      <vt:lpstr> 　　将 74283 进行简单级联，可以构造出多位加法器，图 3－25 所示为用两个 74283 构造的一个八位二进制加法器。 　　加法器的逻辑功能是实现两个数相加，根据这一特点，在某些情况下利用加法器可以使电路实现更加简单。</vt:lpstr>
      <vt:lpstr> 　　【例 3.2 】 将 8421BCD 码转换为余 3 码。 　　解 8421BCD 码和余 3 码的对应关系如表 3－12 所示。从表中可以看出，将四位的8421BCD 码加上 0011 就是对应的余 3 码。因此，使用 74283 加法器可以很方便地将8421BCD 码转换为余 3 码，如图 3－26 所示。</vt:lpstr>
      <vt:lpstr>PowerPoint 演示文稿</vt:lpstr>
      <vt:lpstr>PowerPoint 演示文稿</vt:lpstr>
      <vt:lpstr> 3. 2. 2  比较器 　　用来比较两个二进制数大小的逻辑电路，称为比较器。 　　1. 一位比较器 　　一位比较器用来比较两个一位二进制数 Ai和 Bi 的大小。比较结果有三种: A i &gt;B i 、A i =Bi 、 A i &lt;B i ，现分别用 L i 、 G i 、 M i表示，其真值表如表 3－13 所示。</vt:lpstr>
      <vt:lpstr>PowerPoint 演示文稿</vt:lpstr>
      <vt:lpstr> 　　由真值表可以得到下列逻辑表达式:</vt:lpstr>
      <vt:lpstr> 　　根据上面的表达式可画出如图 3－27 所示的逻辑图。</vt:lpstr>
      <vt:lpstr> 　　 2. 多位比较器 　　多位比较器用来比较两个多位二进制数 A=A n -1 … A i … A 0 和 B=B n -1 … Bi … B 0 的大小，比较时从高位往低位逐位进行，当高位相等时才比较低位。</vt:lpstr>
      <vt:lpstr> 　　例 如， 要 比 较 两 个 四 位 二 进 制 数 A = A 3 A 2 A 1 A 0 和 B=B 3 B 2 B 1 B 0 ，则先比较最高位 A 3 和 B 3 。如果 A 3 &gt;B 3 ，则 A&gt;B ;若 A 3 &lt;B 3 ，则 A&lt;B ;当 A 3 =B 3 时，必须比较 A 2 和 B 2 。依此类推，直至得出结果为止。假定各位比较的结果分别用 L3 、 G 3 、 M 3 ， L 2 、 G 2 、 M 2 ， L 1 、 G 1 、 M 1 ， L 0 、 G 0 、 M 0 表示，总的比较结果用 L 、 G 、 M 表示，则可得如表 3－14 所示的真值表。表中的“ × ”表示可 0 可 1 ，对比较结果无影响。每位比较的结果是相互排斥的，即只能有一个是 1 ，不可能两个或三个同时为 1</vt:lpstr>
      <vt:lpstr>PowerPoint 演示文稿</vt:lpstr>
      <vt:lpstr>　　 　　由真值表可以得到如下逻辑表达式:</vt:lpstr>
      <vt:lpstr> 　　图 3－28 所示是四位比较器的逻辑图。</vt:lpstr>
      <vt:lpstr> 　　从四位比较器的结果可以推广出 n 位比较器的逻辑表达式如下:</vt:lpstr>
      <vt:lpstr> 　　 3.MSI7485 比较器及应用 　　MSI7485 是四位比较器，其引脚图和逻辑符号如图3－29 所示，真值表如表 3－15所示。 a&gt;b 、 a=b 、 a&lt;b 是为了在用 7485 扩展构造四位以上的比较器时，输入低位的比较 结果而设的三个级联输入端。</vt:lpstr>
      <vt:lpstr> 　　 3.MSI7485 比较器及应用 　   由真值表可以看出，只要两数高位不等，就可以确定两数的大小，以下各位(包括级联输入)可以为任意值;高位相等时，需要比较低位。本级两个四位数相等时，需要比较低级位，此时要将低级的比较输出端接到高级的级联输入端上。最低一级比较器的 a&gt;b 、 a=b 、 a&lt;b 级联输入端必须分别接 0 、 1 、 0 。图 3－30 所示是用两片 7485 构成八位比较器的连接图。</vt:lpstr>
      <vt:lpstr>PowerPoint 演示文稿</vt:lpstr>
      <vt:lpstr>PowerPoint 演示文稿</vt:lpstr>
      <vt:lpstr> 3. 3  数据选择器和数据分配器</vt:lpstr>
      <vt:lpstr> 　　一个数据选择器具有 n 个数据选择端， 2n个数据输入端，一个数据输出端。图 3－31 为四选一数据选择器框图，其真值表如表 3－16 所示。 </vt:lpstr>
      <vt:lpstr>PowerPoint 演示文稿</vt:lpstr>
      <vt:lpstr> 　　由真值表可以得到输出的逻辑表达式为</vt:lpstr>
      <vt:lpstr> 　　根据表达式可以画出用与非门实现的逻辑图，如图 3－32 所示。</vt:lpstr>
      <vt:lpstr> 　　2.MSI 八选一数据选择器 74151 　　MSI74151 是一个具有互补输出的八选一数据选择器，它有三个数据选择端，八个数据输入端，两个互补数据输出端，一个低电平有效的选通使能端。 74151 的引脚图和逻辑 符号如图 3－33 所示。</vt:lpstr>
      <vt:lpstr>PowerPoint 演示文稿</vt:lpstr>
      <vt:lpstr> 　　74151 八选一数据选择器的真值表如表 3－17 所示。由真值表可以看出: 　　(1)当 "S"  ̅ =1 时，数据选择器被禁止，输出与输入信号及选择信号无关，此时， Y=0 、 "Y"  ̅  =1 。 　　(2)当"S"  ̅  =0 时，数据选择器工作，输出 Y 的表达式为</vt:lpstr>
      <vt:lpstr>PowerPoint 演示文稿</vt:lpstr>
      <vt:lpstr> 　　 3. 用 MSI 数据选择器实现逻辑函数 　　我们知道，逻辑函数可以写成变量最小项相或的形式，而从数据选择器的逻辑表达式可以看出，它包含了数据选择信号的所有不同的最小项，这一特点使我们可以利用数据选择器去实现逻辑函数。用数据选择器实现逻辑函数的方法有两种:比较法和图表法(真值表或卡诺图)。</vt:lpstr>
      <vt:lpstr> 　　比较法的一般步骤如下: 　　(1)选择接到数据选择端的函数变量。 　　(2)写出数据选择器输出的逻辑表达式。 　　(3)将要实现的逻辑函数转换为标准与或表达式。 　　(4)对照数据选择器输出表达式和待实现函数的表达式，确定数据输入端的值。 　　(5)连接电路。</vt:lpstr>
      <vt:lpstr> 　　图表法的一般步骤如下: 　　(1)选择接到数据选择端的函数变量。 　　(2)画出逻辑函数和数据选择器的真值表。 　　(3)确定各个数据输入端的值。 　　(4)连接电路。 　　下面分三种情况进行讨论。 　　1 )函数变量的数目 m 等于数据选择器中数据选择端的数目 n在这种情况下，把变量一对一接到数据选择端，各个数据输入端依据具体函数接“0 ”或“1 ”，不需要反变量输入，也不需要任何其他器件，就可以用数据选择器实现任何一个组合逻辑函数。</vt:lpstr>
      <vt:lpstr> 　　 【例 3.3 】 用 MSI74151 八选一数据选择器实现逻辑函数:  　　解 首先选择接到数据选择端的函数变量。 MSI74151 八选一数据选择器有 A2 、 A 1 、A 0 三个数据选择端，函数 F 有 A 、 B 、 C 三个变量，它们可以一对一连接。连接方法有多种，现让 A2 接变量 A ， A 1 接变量 B ， A 0 接变量 C 。</vt:lpstr>
      <vt:lpstr>PowerPoint 演示文稿</vt:lpstr>
      <vt:lpstr> 　　比较 Y 和 F 的表达式可以看出，当 D0 =0 ， D 1 =D 2 =D 3 =D 4 =D 5 =D 6 =1 ， D 7 =0 时，Y=F 。逻辑图如图 3－34 所示。</vt:lpstr>
      <vt:lpstr> 　　 2 )函数变量的数目 m 多于数据选择器中数据选择端的数目 n在这种情况下，不可能将函数的全部变量都接到数据选择器的数据选择端，有的变量要接到数据选择器的数据输入端。要实现逻辑函数，可能还必须要有反变量输入或其他门电路。</vt:lpstr>
      <vt:lpstr> 　　 【例 3.4 】 用 MSI74151 八选一数据选择器实现逻辑函数: 　　 　　解 MSI74151 八选一数据选择器有 A2 、 A 1 、 A 0 三个数据选择端，而函数 F 有 A 、B 、 C 、 D 四个变量，只能将其中的三个接到数据选择器的数据选择端上。下面设计两种不同的方案。 　　方案一:让 A2 接变量 A ， A 1 接变量 B ， A 0 接变量 C ，依此画出如表 3－18 所示的真值表。</vt:lpstr>
      <vt:lpstr> 　　从表中可以看出，当 D0 =0 、 D 1 = "D"  ̅ 、 D 2 =D 、 D 3 =1 、 D 4 =D 、 D 5 =1 、 D 6 =0 、 D 7 =1 时， Y=F 。逻辑图如图 3－35 (a )所示。 　　方案二:让 A2 接变量 A ， A 1 接变量 B ， A 0 接变量 D ，依此画出如表 3－19 所示的真值表。</vt:lpstr>
      <vt:lpstr>PowerPoint 演示文稿</vt:lpstr>
      <vt:lpstr>PowerPoint 演示文稿</vt:lpstr>
      <vt:lpstr> 　　从表中可以看出，当 D0 =C 、 D 1 =0 、 D 2 =C 、 D 3 =1 、 D 4 =C 、 D 5 =1 、 D 6 =C 、 D 7 =C时， Y=F 。逻辑图如图 3－35 (b )所示。 　　由图 3－35 可以看出，方案一需要反变量"D"  ̅ 输入(也可以用一个非门产生)，而方案二则不需要。设计实现方案时，应尽可能不用或少用反变量输入及其他门电路。</vt:lpstr>
      <vt:lpstr>PowerPoint 演示文稿</vt:lpstr>
      <vt:lpstr> 　　 3 )函数变量的数目 m 少于数据选择器中数据选择端的数目 n当函数变量的数目 m 少于数据选择器中数据选择端的数目 n 时，可以将变量接到数据选择器中的 m 个数据选择端，再依据具体函数来确定数据输入端和剩余数据选择端的值。在这种情况下，无需反变量输入，亦无需其他器件，即可以实现任何一个组合逻辑函数，而且有多种实现方案。</vt:lpstr>
      <vt:lpstr>　　  　　【例 3.5 】 用 MSI74151 八选一数据选择器实现逻辑函数: 　　 　　解 函数 F 只有 A 、 B 两个变量，将它们接到 MSI74151 数据选择器其中的两个数据选择端，接法有多种。现让 A1 接变量 A ， A 0 接变量 B ，则数据选择器输出的逻辑表达式为</vt:lpstr>
      <vt:lpstr>       时，即得 　　　　。因此得到:若 A 2 =0 ，则 D 0 =0 ， D 1 =1 ， D 2 =1 ， D 3 =0 ，其他数据输入端可以不接，对输出无影响;若 A2 =1 ，则 D 4 =0 ， D 5 =1 ， D 6 =1 ， D 7 =0 。 　　逻辑图如图 3－36 所示。</vt:lpstr>
      <vt:lpstr>PowerPoint 演示文稿</vt:lpstr>
      <vt:lpstr>PowerPoint 演示文稿</vt:lpstr>
      <vt:lpstr>PowerPoint 演示文稿</vt:lpstr>
      <vt:lpstr>PowerPoint 演示文稿</vt:lpstr>
      <vt:lpstr>PowerPoint 演示文稿</vt:lpstr>
      <vt:lpstr> 3. 3. 2  数据分配器 　　数据分配器的逻辑功能是将一个输入信号根据选择信号的不同取值，传送至多个输出数据通道中的某一个。数据分配器又称为多路分配器。一个数据分配器有一个数据输入 端， n 个选择输入端，2n个数据输出端。 　　图 3－37 是一个一路 - 四路数据分配器的框图，真值表如表 3－20 所示。</vt:lpstr>
      <vt:lpstr>PowerPoint 演示文稿</vt:lpstr>
      <vt:lpstr>PowerPoint 演示文稿</vt:lpstr>
      <vt:lpstr> 　　由真值表可以得到输出的逻辑表达式为</vt:lpstr>
      <vt:lpstr>PowerPoint 演示文稿</vt:lpstr>
      <vt:lpstr> 　　根据表达式可以画出用与门、非门实现的逻辑图，如图 3－38 所示。 　　由数据分配器的逻辑表达式中可以看出以下特点:选择输入端的各个不同最小项作为因子会出现在各个输出的表达式中。这与译码器电路的输出为地址输入的各个不同的最小项(或其反)这一特点相同。实际上，我们可以利用译码器来实现数据分配器的功能。</vt:lpstr>
      <vt:lpstr> 　　 4.MSI74138 译码器 　　74138 是 3 线 -8 线二进制译码器，它有三个输入和八个输出，输入高电平有效，输出低电平有效。 74138 有三个使能输入端 S1 、"S"  ̅ 2 和"S"  ̅3 ，只有当 S 1 =1 且"S"  ̅ 2 + "S"  ̅3 =0 时，译码器工作，否则，译码功能被禁止。 74138 译码器的引脚图和逻辑符号如图 3－17 所示，真值表如表 3－9 所示。</vt:lpstr>
      <vt:lpstr>PowerPoint 演示文稿</vt:lpstr>
      <vt:lpstr>PowerPoint 演示文稿</vt:lpstr>
      <vt:lpstr> 　　当 S1 =1 ，"S"  ̅ 2 + "S"  ̅3 =0时，由 74138 译码器的真值表可以得到如下输出逻辑表达式:</vt:lpstr>
      <vt:lpstr> 　　在译码器一节中，我们介绍了 MSI 3 线 -8 线译码器 74138 。当 S1 =1 、"S"  ̅2 =D 、"S"  ̅3 =0时，由 74138 的真值表可以得到: D=1 时，译码器的译码功能被禁止，所有输出都为 1 ;D=0 时，只有与 A 2 、 A 1 、 A 0 组合对应的一个输出为 0 ，其他输出都为 1 。由此可见， D 对应数据分配器的数据输入端， A2 、 A 1 、 A 0 对应数据分配器的选择输入端，而􀮀Y i ( i =0 ，…，7 )对应数据分配器的数据输出端。 　　图 3－39 为 74138 作为数据分配器时的引脚图和逻辑符号。</vt:lpstr>
      <vt:lpstr>PowerPoint 演示文稿</vt:lpstr>
      <vt:lpstr>PowerPoint 演示文稿</vt:lpstr>
      <vt:lpstr> 习 题</vt:lpstr>
      <vt:lpstr> 　　3－2  用 74148 优先编码器和其他门电路构成一个10 线 -4 线 8421BCD 编码器。提示:利用选通输入端 ("ST" ) ̅ 。 　　3－3  图 3－41 所示为 10 线 -4 线 8421BCD 优先编码器 74147 的引脚图，其真值表如表 3－21 所示。试确定下列情况下输出的 BCD 码: 　　(1)输入引脚 1 、 3 、 5 为 0 ，其他输入引脚为 1 。 　　(2)输入引脚 2 、 4 、 10 为 0 ，其他输入引脚为 1 。 　　(3)输入引脚 3 、 5 、 11 为 0 ，其他输入引脚为 1 。 　　(4)输入引脚 4 、 10 、 12 为 0 ，其他输入引脚为 1 。 　　(5)输入引脚 5 、 10 、 13 为 0 ，其他输入引脚为 1 。 　　(6)输入引脚 10 、 11 、 13 为 0 ，其他输入引脚为 1 。</vt:lpstr>
      <vt:lpstr>PowerPoint 演示文稿</vt:lpstr>
      <vt:lpstr>PowerPoint 演示文稿</vt:lpstr>
      <vt:lpstr> 　　3－4  用 3 线 -8 线译码器 74138 和与非门实现下列函数:</vt:lpstr>
      <vt:lpstr> 　　3－5  用两个 3 线 -8 线译码器 74138 和与非门实现下列函数:</vt:lpstr>
      <vt:lpstr> 　　3－6  二—十进制译码器 74LS42 的真值表如表 3 22 所示，写出各个输出的逻辑表达式。</vt:lpstr>
      <vt:lpstr> 　　3－7  写出如图 3－42 ( a )所示电路中 F 1 、 F 2 、 F 3 的逻辑表达式并画出它们的波形图，其中， A 、 B 、 C 、 D 的波形如图 3－42 (b )所示。</vt:lpstr>
      <vt:lpstr> 　　3－8  画出如图 3－43 ( a )所示电路中 S 1 、 S 0 、 C 1 的波形图，其中， A 1 、 A 0 、 B 1 、 B 0 、C 0 的波形如图 3－43 ( b )所示。</vt:lpstr>
      <vt:lpstr> 　　3－9  分析图 3－44 所示电路，写出 F 1 和 F 2 的逻辑表达式。</vt:lpstr>
      <vt:lpstr> 　　3－10  用 74283 四位加法器和门电路设计一个四位二进制减法电路。 　　3－11  画出如图 3－45 所示电路中四位比较器 7485 输出端的波形图。</vt:lpstr>
      <vt:lpstr>PowerPoint 演示文稿</vt:lpstr>
      <vt:lpstr> 　　3－12  用八选一数据选择器 74151 实现下列逻辑函数:</vt:lpstr>
      <vt:lpstr> 　　3－13  用八选一数据选择器 74151 设计实现一个一 位全加器。 　　3－14  写出如图 3－46 所示电路输出的逻辑表达式。 　　3－15  画出如图 3－47 所 示 八 选 一 数 据 选 择 器 74151 输出端的波形图。</vt:lpstr>
      <vt:lpstr>PowerPoint 演示文稿</vt:lpstr>
      <vt:lpstr>PowerPoint 演示文稿</vt:lpstr>
    </vt:vector>
  </TitlesOfParts>
  <Company>wp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wp</dc:creator>
  <cp:lastModifiedBy>xiyou Fu</cp:lastModifiedBy>
  <cp:revision>73</cp:revision>
  <dcterms:created xsi:type="dcterms:W3CDTF">2008-03-13T07:21:39Z</dcterms:created>
  <dcterms:modified xsi:type="dcterms:W3CDTF">2024-04-18T02:16:09Z</dcterms:modified>
</cp:coreProperties>
</file>