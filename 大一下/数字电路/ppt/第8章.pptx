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5" r:id="rId119"/>
    <p:sldId id="376" r:id="rId120"/>
    <p:sldId id="377" r:id="rId121"/>
    <p:sldId id="378" r:id="rId122"/>
    <p:sldId id="379" r:id="rId123"/>
    <p:sldId id="380" r:id="rId124"/>
    <p:sldId id="381" r:id="rId125"/>
    <p:sldId id="382" r:id="rId126"/>
    <p:sldId id="383" r:id="rId127"/>
    <p:sldId id="384" r:id="rId128"/>
    <p:sldId id="385" r:id="rId129"/>
    <p:sldId id="386" r:id="rId130"/>
    <p:sldId id="387" r:id="rId131"/>
    <p:sldId id="388" r:id="rId132"/>
    <p:sldId id="389" r:id="rId133"/>
    <p:sldId id="390" r:id="rId134"/>
    <p:sldId id="391" r:id="rId135"/>
    <p:sldId id="392" r:id="rId136"/>
    <p:sldId id="393" r:id="rId137"/>
    <p:sldId id="394" r:id="rId138"/>
    <p:sldId id="395" r:id="rId139"/>
    <p:sldId id="396" r:id="rId140"/>
    <p:sldId id="397" r:id="rId141"/>
    <p:sldId id="398" r:id="rId142"/>
    <p:sldId id="399" r:id="rId143"/>
    <p:sldId id="400" r:id="rId144"/>
    <p:sldId id="401" r:id="rId145"/>
    <p:sldId id="402" r:id="rId146"/>
    <p:sldId id="403" r:id="rId147"/>
    <p:sldId id="404" r:id="rId148"/>
    <p:sldId id="405" r:id="rId149"/>
    <p:sldId id="406" r:id="rId150"/>
    <p:sldId id="407" r:id="rId151"/>
    <p:sldId id="408" r:id="rId152"/>
    <p:sldId id="409" r:id="rId153"/>
    <p:sldId id="410" r:id="rId154"/>
    <p:sldId id="411" r:id="rId155"/>
    <p:sldId id="412" r:id="rId156"/>
    <p:sldId id="413" r:id="rId157"/>
    <p:sldId id="414" r:id="rId158"/>
    <p:sldId id="415" r:id="rId159"/>
    <p:sldId id="416" r:id="rId160"/>
    <p:sldId id="417" r:id="rId161"/>
    <p:sldId id="418" r:id="rId162"/>
    <p:sldId id="419" r:id="rId163"/>
    <p:sldId id="420" r:id="rId164"/>
    <p:sldId id="421" r:id="rId165"/>
    <p:sldId id="422" r:id="rId166"/>
    <p:sldId id="423" r:id="rId167"/>
    <p:sldId id="424" r:id="rId168"/>
    <p:sldId id="425" r:id="rId169"/>
    <p:sldId id="426" r:id="rId170"/>
    <p:sldId id="427" r:id="rId171"/>
    <p:sldId id="428" r:id="rId172"/>
    <p:sldId id="429" r:id="rId173"/>
    <p:sldId id="430" r:id="rId174"/>
    <p:sldId id="431" r:id="rId175"/>
    <p:sldId id="432" r:id="rId176"/>
    <p:sldId id="433" r:id="rId177"/>
    <p:sldId id="434" r:id="rId178"/>
    <p:sldId id="435" r:id="rId179"/>
    <p:sldId id="436" r:id="rId180"/>
    <p:sldId id="437" r:id="rId181"/>
    <p:sldId id="438" r:id="rId182"/>
    <p:sldId id="439" r:id="rId183"/>
    <p:sldId id="440" r:id="rId184"/>
    <p:sldId id="441" r:id="rId185"/>
    <p:sldId id="442" r:id="rId186"/>
    <p:sldId id="443" r:id="rId187"/>
    <p:sldId id="444" r:id="rId188"/>
    <p:sldId id="445" r:id="rId189"/>
    <p:sldId id="446" r:id="rId190"/>
    <p:sldId id="447" r:id="rId191"/>
    <p:sldId id="448" r:id="rId192"/>
    <p:sldId id="449" r:id="rId193"/>
    <p:sldId id="450" r:id="rId194"/>
    <p:sldId id="451" r:id="rId195"/>
    <p:sldId id="452" r:id="rId196"/>
    <p:sldId id="453" r:id="rId197"/>
    <p:sldId id="454" r:id="rId198"/>
    <p:sldId id="455" r:id="rId199"/>
    <p:sldId id="456" r:id="rId200"/>
    <p:sldId id="457" r:id="rId201"/>
    <p:sldId id="458" r:id="rId202"/>
    <p:sldId id="459" r:id="rId203"/>
    <p:sldId id="460" r:id="rId204"/>
    <p:sldId id="461" r:id="rId205"/>
    <p:sldId id="462" r:id="rId206"/>
    <p:sldId id="463" r:id="rId207"/>
    <p:sldId id="464" r:id="rId208"/>
    <p:sldId id="465" r:id="rId209"/>
    <p:sldId id="466" r:id="rId210"/>
    <p:sldId id="467" r:id="rId211"/>
    <p:sldId id="468" r:id="rId212"/>
    <p:sldId id="469" r:id="rId213"/>
    <p:sldId id="470" r:id="rId214"/>
    <p:sldId id="471" r:id="rId215"/>
    <p:sldId id="472" r:id="rId216"/>
    <p:sldId id="473" r:id="rId217"/>
    <p:sldId id="474" r:id="rId218"/>
    <p:sldId id="475" r:id="rId219"/>
    <p:sldId id="476" r:id="rId220"/>
    <p:sldId id="477" r:id="rId221"/>
    <p:sldId id="478" r:id="rId222"/>
    <p:sldId id="479" r:id="rId223"/>
    <p:sldId id="480" r:id="rId224"/>
    <p:sldId id="481" r:id="rId225"/>
    <p:sldId id="482" r:id="rId226"/>
    <p:sldId id="483" r:id="rId227"/>
    <p:sldId id="484" r:id="rId228"/>
    <p:sldId id="485" r:id="rId229"/>
    <p:sldId id="486" r:id="rId230"/>
    <p:sldId id="487" r:id="rId231"/>
    <p:sldId id="488" r:id="rId232"/>
    <p:sldId id="489" r:id="rId233"/>
    <p:sldId id="490" r:id="rId234"/>
    <p:sldId id="491" r:id="rId235"/>
    <p:sldId id="492" r:id="rId236"/>
    <p:sldId id="493" r:id="rId237"/>
    <p:sldId id="494" r:id="rId238"/>
    <p:sldId id="495" r:id="rId239"/>
    <p:sldId id="496" r:id="rId240"/>
    <p:sldId id="497" r:id="rId241"/>
    <p:sldId id="498" r:id="rId242"/>
    <p:sldId id="499" r:id="rId243"/>
    <p:sldId id="500" r:id="rId244"/>
    <p:sldId id="501" r:id="rId245"/>
    <p:sldId id="502" r:id="rId246"/>
    <p:sldId id="503" r:id="rId247"/>
    <p:sldId id="504" r:id="rId248"/>
    <p:sldId id="505" r:id="rId249"/>
    <p:sldId id="506" r:id="rId250"/>
    <p:sldId id="507" r:id="rId251"/>
    <p:sldId id="508" r:id="rId252"/>
    <p:sldId id="509" r:id="rId253"/>
    <p:sldId id="510" r:id="rId254"/>
    <p:sldId id="511" r:id="rId255"/>
    <p:sldId id="512" r:id="rId256"/>
    <p:sldId id="513" r:id="rId257"/>
    <p:sldId id="514" r:id="rId258"/>
    <p:sldId id="515" r:id="rId259"/>
    <p:sldId id="516" r:id="rId260"/>
    <p:sldId id="517" r:id="rId261"/>
    <p:sldId id="518" r:id="rId262"/>
    <p:sldId id="519" r:id="rId263"/>
    <p:sldId id="520" r:id="rId264"/>
    <p:sldId id="521" r:id="rId265"/>
    <p:sldId id="522" r:id="rId266"/>
    <p:sldId id="523" r:id="rId267"/>
    <p:sldId id="524" r:id="rId268"/>
    <p:sldId id="525" r:id="rId269"/>
    <p:sldId id="526" r:id="rId270"/>
    <p:sldId id="527" r:id="rId271"/>
    <p:sldId id="528" r:id="rId272"/>
    <p:sldId id="529" r:id="rId273"/>
    <p:sldId id="530" r:id="rId274"/>
    <p:sldId id="531" r:id="rId275"/>
    <p:sldId id="532" r:id="rId276"/>
    <p:sldId id="533" r:id="rId277"/>
    <p:sldId id="534" r:id="rId278"/>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charset="-122"/>
        <a:cs typeface="+mn-cs"/>
      </a:defRPr>
    </a:lvl5pPr>
    <a:lvl6pPr marL="2286000" algn="l" defTabSz="914400" rtl="0" eaLnBrk="1" latinLnBrk="0" hangingPunct="1">
      <a:defRPr kumimoji="1" sz="2400" kern="1200">
        <a:solidFill>
          <a:schemeClr val="tx1"/>
        </a:solidFill>
        <a:latin typeface="Times New Roman" pitchFamily="18" charset="0"/>
        <a:ea typeface="宋体" charset="-122"/>
        <a:cs typeface="+mn-cs"/>
      </a:defRPr>
    </a:lvl6pPr>
    <a:lvl7pPr marL="2743200" algn="l" defTabSz="914400" rtl="0" eaLnBrk="1" latinLnBrk="0" hangingPunct="1">
      <a:defRPr kumimoji="1" sz="2400" kern="1200">
        <a:solidFill>
          <a:schemeClr val="tx1"/>
        </a:solidFill>
        <a:latin typeface="Times New Roman" pitchFamily="18" charset="0"/>
        <a:ea typeface="宋体" charset="-122"/>
        <a:cs typeface="+mn-cs"/>
      </a:defRPr>
    </a:lvl7pPr>
    <a:lvl8pPr marL="3200400" algn="l" defTabSz="914400" rtl="0" eaLnBrk="1" latinLnBrk="0" hangingPunct="1">
      <a:defRPr kumimoji="1" sz="2400" kern="1200">
        <a:solidFill>
          <a:schemeClr val="tx1"/>
        </a:solidFill>
        <a:latin typeface="Times New Roman" pitchFamily="18" charset="0"/>
        <a:ea typeface="宋体" charset="-122"/>
        <a:cs typeface="+mn-cs"/>
      </a:defRPr>
    </a:lvl8pPr>
    <a:lvl9pPr marL="3657600" algn="l" defTabSz="914400" rtl="0" eaLnBrk="1" latinLnBrk="0" hangingPunct="1">
      <a:defRPr kumimoji="1" sz="24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36" autoAdjust="0"/>
    <p:restoredTop sz="94660"/>
  </p:normalViewPr>
  <p:slideViewPr>
    <p:cSldViewPr>
      <p:cViewPr varScale="1">
        <p:scale>
          <a:sx n="72" d="100"/>
          <a:sy n="72" d="100"/>
        </p:scale>
        <p:origin x="-108" y="-6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viewProps" Target="viewProps.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281"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slide" Target="slides/slide270.xml"/><Relationship Id="rId276" Type="http://schemas.openxmlformats.org/officeDocument/2006/relationships/slide" Target="slides/slide275.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5555832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1500" y="533400"/>
            <a:ext cx="81153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单击此处编辑母版标题样式</a:t>
            </a:r>
          </a:p>
        </p:txBody>
      </p:sp>
      <p:sp>
        <p:nvSpPr>
          <p:cNvPr id="1027" name="Rectangle 3"/>
          <p:cNvSpPr>
            <a:spLocks noGrp="1" noChangeArrowheads="1"/>
          </p:cNvSpPr>
          <p:nvPr>
            <p:ph type="body" idx="1"/>
          </p:nvPr>
        </p:nvSpPr>
        <p:spPr bwMode="auto">
          <a:xfrm>
            <a:off x="0" y="5733256"/>
            <a:ext cx="9144000" cy="43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dirty="0" smtClean="0"/>
          </a:p>
        </p:txBody>
      </p:sp>
      <p:pic>
        <p:nvPicPr>
          <p:cNvPr id="1031" name="Picture 7" descr="BJ204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5867400"/>
            <a:ext cx="91440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J209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229600" y="0"/>
            <a:ext cx="914400" cy="6858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GIF-396"/>
          <p:cNvPicPr>
            <a:picLocks noChangeAspect="1" noChangeArrowheads="1" noCrop="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2438" y="479425"/>
            <a:ext cx="3759200" cy="69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IF-450"/>
          <p:cNvPicPr>
            <a:picLocks noChangeAspect="1" noChangeArrowheads="1" noCrop="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609600" cy="454025"/>
          </a:xfrm>
          <a:prstGeom prst="rect">
            <a:avLst/>
          </a:prstGeom>
          <a:noFill/>
          <a:extLst>
            <a:ext uri="{909E8E84-426E-40DD-AFC4-6F175D3DCCD1}">
              <a14:hiddenFill xmlns:a14="http://schemas.microsoft.com/office/drawing/2010/main">
                <a:solidFill>
                  <a:srgbClr val="FFFFFF"/>
                </a:solidFill>
              </a14:hiddenFill>
            </a:ext>
          </a:extLst>
        </p:spPr>
      </p:pic>
      <p:sp>
        <p:nvSpPr>
          <p:cNvPr id="1035" name="Text Box 11"/>
          <p:cNvSpPr txBox="1">
            <a:spLocks noChangeArrowheads="1"/>
          </p:cNvSpPr>
          <p:nvPr userDrawn="1"/>
        </p:nvSpPr>
        <p:spPr bwMode="auto">
          <a:xfrm>
            <a:off x="910100" y="52685"/>
            <a:ext cx="33409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smtClean="0">
                <a:latin typeface="华文行楷" pitchFamily="2" charset="-122"/>
                <a:ea typeface="华文行楷" pitchFamily="2" charset="-122"/>
              </a:rPr>
              <a:t>第</a:t>
            </a:r>
            <a:r>
              <a:rPr lang="en-US" altLang="zh-CN" dirty="0" smtClean="0">
                <a:latin typeface="华文行楷" pitchFamily="2" charset="-122"/>
                <a:ea typeface="华文行楷" pitchFamily="2" charset="-122"/>
              </a:rPr>
              <a:t>8</a:t>
            </a:r>
            <a:r>
              <a:rPr lang="zh-CN" altLang="en-US" dirty="0" smtClean="0">
                <a:latin typeface="华文行楷" pitchFamily="2" charset="-122"/>
                <a:ea typeface="华文行楷" pitchFamily="2" charset="-122"/>
              </a:rPr>
              <a:t>章 数</a:t>
            </a:r>
            <a:r>
              <a:rPr lang="en-US" altLang="zh-CN" dirty="0" smtClean="0">
                <a:latin typeface="华文行楷" pitchFamily="2" charset="-122"/>
                <a:ea typeface="华文行楷" pitchFamily="2" charset="-122"/>
              </a:rPr>
              <a:t>/</a:t>
            </a:r>
            <a:r>
              <a:rPr lang="zh-CN" altLang="en-US" dirty="0" smtClean="0">
                <a:latin typeface="华文行楷" pitchFamily="2" charset="-122"/>
                <a:ea typeface="华文行楷" pitchFamily="2" charset="-122"/>
              </a:rPr>
              <a:t>模和模</a:t>
            </a:r>
            <a:r>
              <a:rPr lang="en-US" altLang="zh-CN" dirty="0" smtClean="0">
                <a:latin typeface="华文行楷" pitchFamily="2" charset="-122"/>
                <a:ea typeface="华文行楷" pitchFamily="2" charset="-122"/>
              </a:rPr>
              <a:t>/</a:t>
            </a:r>
            <a:r>
              <a:rPr lang="zh-CN" altLang="en-US" dirty="0" smtClean="0">
                <a:latin typeface="华文行楷" pitchFamily="2" charset="-122"/>
                <a:ea typeface="华文行楷" pitchFamily="2" charset="-122"/>
              </a:rPr>
              <a:t>数转换</a:t>
            </a:r>
            <a:endParaRPr lang="zh-CN" altLang="en-US" dirty="0">
              <a:latin typeface="华文行楷" pitchFamily="2" charset="-122"/>
              <a:ea typeface="华文行楷" pitchFamily="2" charset="-122"/>
            </a:endParaRPr>
          </a:p>
        </p:txBody>
      </p:sp>
    </p:spTree>
  </p:cSld>
  <p:clrMap bg1="lt1" tx1="dk1" bg2="lt2" tx2="dk2" accent1="accent1" accent2="accent2" accent3="accent3" accent4="accent4" accent5="accent5" accent6="accent6" hlink="hlink" folHlink="folHlink"/>
  <p:sldLayoutIdLst>
    <p:sldLayoutId id="2147483650" r:id="rId1"/>
  </p:sldLayoutIdLst>
  <p:timing>
    <p:tnLst>
      <p:par>
        <p:cTn id="1" dur="indefinite" restart="never" nodeType="tmRoot"/>
      </p:par>
    </p:tnLst>
  </p:timing>
  <p:txStyles>
    <p:title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p:titleStyle>
    <p:bodyStyle>
      <a:lvl1pPr marL="342900" indent="-342900" algn="ctr" rtl="0" fontAlgn="base">
        <a:lnSpc>
          <a:spcPct val="130000"/>
        </a:lnSpc>
        <a:spcBef>
          <a:spcPct val="20000"/>
        </a:spcBef>
        <a:spcAft>
          <a:spcPct val="0"/>
        </a:spcAft>
        <a:defRPr kumimoji="1" sz="2000">
          <a:solidFill>
            <a:schemeClr val="tx1"/>
          </a:solidFill>
          <a:latin typeface="+mn-lt"/>
          <a:ea typeface="+mn-ea"/>
          <a:cs typeface="+mn-cs"/>
        </a:defRPr>
      </a:lvl1pPr>
      <a:lvl2pPr marL="742950" indent="-285750" algn="l" rtl="0" fontAlgn="base">
        <a:lnSpc>
          <a:spcPct val="130000"/>
        </a:lnSpc>
        <a:spcBef>
          <a:spcPct val="20000"/>
        </a:spcBef>
        <a:spcAft>
          <a:spcPct val="0"/>
        </a:spcAft>
        <a:defRPr kumimoji="1" sz="2400">
          <a:solidFill>
            <a:schemeClr val="tx1"/>
          </a:solidFill>
          <a:latin typeface="+mn-lt"/>
          <a:ea typeface="+mn-ea"/>
        </a:defRPr>
      </a:lvl2pPr>
      <a:lvl3pPr marL="1143000" indent="-228600" algn="l" rtl="0" fontAlgn="base">
        <a:lnSpc>
          <a:spcPct val="130000"/>
        </a:lnSpc>
        <a:spcBef>
          <a:spcPct val="20000"/>
        </a:spcBef>
        <a:spcAft>
          <a:spcPct val="0"/>
        </a:spcAft>
        <a:defRPr kumimoji="1" sz="2400">
          <a:solidFill>
            <a:schemeClr val="tx1"/>
          </a:solidFill>
          <a:latin typeface="+mn-lt"/>
          <a:ea typeface="+mn-ea"/>
        </a:defRPr>
      </a:lvl3pPr>
      <a:lvl4pPr marL="1600200" indent="-228600" algn="l" rtl="0" fontAlgn="base">
        <a:lnSpc>
          <a:spcPct val="130000"/>
        </a:lnSpc>
        <a:spcBef>
          <a:spcPct val="20000"/>
        </a:spcBef>
        <a:spcAft>
          <a:spcPct val="0"/>
        </a:spcAft>
        <a:defRPr kumimoji="1" sz="2400">
          <a:solidFill>
            <a:schemeClr val="tx1"/>
          </a:solidFill>
          <a:latin typeface="+mn-lt"/>
          <a:ea typeface="+mn-ea"/>
        </a:defRPr>
      </a:lvl4pPr>
      <a:lvl5pPr marL="2057400" indent="-228600" algn="l" rtl="0" fontAlgn="base">
        <a:lnSpc>
          <a:spcPct val="130000"/>
        </a:lnSpc>
        <a:spcBef>
          <a:spcPct val="20000"/>
        </a:spcBef>
        <a:spcAft>
          <a:spcPct val="0"/>
        </a:spcAft>
        <a:defRPr kumimoji="1" sz="2400">
          <a:solidFill>
            <a:schemeClr val="tx1"/>
          </a:solidFill>
          <a:latin typeface="+mn-lt"/>
          <a:ea typeface="+mn-ea"/>
        </a:defRPr>
      </a:lvl5pPr>
      <a:lvl6pPr marL="2514600" indent="-228600" algn="l" rtl="0" fontAlgn="base">
        <a:lnSpc>
          <a:spcPct val="130000"/>
        </a:lnSpc>
        <a:spcBef>
          <a:spcPct val="20000"/>
        </a:spcBef>
        <a:spcAft>
          <a:spcPct val="0"/>
        </a:spcAft>
        <a:defRPr kumimoji="1" sz="2400">
          <a:solidFill>
            <a:schemeClr val="tx1"/>
          </a:solidFill>
          <a:latin typeface="+mn-lt"/>
          <a:ea typeface="+mn-ea"/>
        </a:defRPr>
      </a:lvl6pPr>
      <a:lvl7pPr marL="2971800" indent="-228600" algn="l" rtl="0" fontAlgn="base">
        <a:lnSpc>
          <a:spcPct val="130000"/>
        </a:lnSpc>
        <a:spcBef>
          <a:spcPct val="20000"/>
        </a:spcBef>
        <a:spcAft>
          <a:spcPct val="0"/>
        </a:spcAft>
        <a:defRPr kumimoji="1" sz="2400">
          <a:solidFill>
            <a:schemeClr val="tx1"/>
          </a:solidFill>
          <a:latin typeface="+mn-lt"/>
          <a:ea typeface="+mn-ea"/>
        </a:defRPr>
      </a:lvl7pPr>
      <a:lvl8pPr marL="3429000" indent="-228600" algn="l" rtl="0" fontAlgn="base">
        <a:lnSpc>
          <a:spcPct val="130000"/>
        </a:lnSpc>
        <a:spcBef>
          <a:spcPct val="20000"/>
        </a:spcBef>
        <a:spcAft>
          <a:spcPct val="0"/>
        </a:spcAft>
        <a:defRPr kumimoji="1" sz="2400">
          <a:solidFill>
            <a:schemeClr val="tx1"/>
          </a:solidFill>
          <a:latin typeface="+mn-lt"/>
          <a:ea typeface="+mn-ea"/>
        </a:defRPr>
      </a:lvl8pPr>
      <a:lvl9pPr marL="3886200" indent="-228600" algn="l" rtl="0" fontAlgn="base">
        <a:lnSpc>
          <a:spcPct val="130000"/>
        </a:lnSpc>
        <a:spcBef>
          <a:spcPct val="20000"/>
        </a:spcBef>
        <a:spcAft>
          <a:spcPct val="0"/>
        </a:spcAft>
        <a:defRPr kumimoji="1"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image" Target="../media/image5.gif"/><Relationship Id="rId2" Type="http://schemas.openxmlformats.org/officeDocument/2006/relationships/slide" Target="slide3.xml"/><Relationship Id="rId1" Type="http://schemas.openxmlformats.org/officeDocument/2006/relationships/slideLayout" Target="../slideLayouts/slideLayout1.xml"/><Relationship Id="rId6" Type="http://schemas.openxmlformats.org/officeDocument/2006/relationships/hyperlink" Target="&#23553;&#38754;&#21450;&#30446;&#24405;.pptx" TargetMode="External"/><Relationship Id="rId5" Type="http://schemas.openxmlformats.org/officeDocument/2006/relationships/slide" Target="slide82.xml"/><Relationship Id="rId4" Type="http://schemas.openxmlformats.org/officeDocument/2006/relationships/slide" Target="slide3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slide" Target="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1.xml"/><Relationship Id="rId5" Type="http://schemas.openxmlformats.org/officeDocument/2006/relationships/image" Target="../media/image13.tmp"/><Relationship Id="rId4" Type="http://schemas.openxmlformats.org/officeDocument/2006/relationships/image" Target="../media/image12.tm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1.xml"/><Relationship Id="rId4" Type="http://schemas.openxmlformats.org/officeDocument/2006/relationships/image" Target="../media/image16.tm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tmp"/><Relationship Id="rId7" Type="http://schemas.openxmlformats.org/officeDocument/2006/relationships/image" Target="../media/image22.tmp"/><Relationship Id="rId2" Type="http://schemas.openxmlformats.org/officeDocument/2006/relationships/image" Target="../media/image17.tmp"/><Relationship Id="rId1" Type="http://schemas.openxmlformats.org/officeDocument/2006/relationships/slideLayout" Target="../slideLayouts/slideLayout1.xml"/><Relationship Id="rId6" Type="http://schemas.openxmlformats.org/officeDocument/2006/relationships/image" Target="../media/image21.tmp"/><Relationship Id="rId5" Type="http://schemas.openxmlformats.org/officeDocument/2006/relationships/image" Target="../media/image20.tmp"/><Relationship Id="rId4" Type="http://schemas.openxmlformats.org/officeDocument/2006/relationships/image" Target="../media/image19.tmp"/></Relationships>
</file>

<file path=ppt/slides/_rels/slide17.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image" Target="../media/image28.tmp"/><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image" Target="../media/image30.tmp"/><Relationship Id="rId1" Type="http://schemas.openxmlformats.org/officeDocument/2006/relationships/slideLayout" Target="../slideLayouts/slideLayout1.xml"/><Relationship Id="rId4" Type="http://schemas.openxmlformats.org/officeDocument/2006/relationships/image" Target="../media/image32.tmp"/></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image" Target="../media/image34.tmp"/><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7.tmp"/><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image" Target="../media/image39.tmp"/><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slide" Target="slide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image" Target="../media/image43.tmp"/><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image" Target="../media/image47.tmp"/><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9.tmp"/><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4.tmp"/><Relationship Id="rId2" Type="http://schemas.openxmlformats.org/officeDocument/2006/relationships/image" Target="../media/image53.tmp"/><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5.tmp"/><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7.tmp"/><Relationship Id="rId2" Type="http://schemas.openxmlformats.org/officeDocument/2006/relationships/image" Target="../media/image56.tmp"/><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59.tmp"/><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0.tmp"/><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61.tmp"/><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2.tmp"/><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63.tmp"/><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5.tmp"/><Relationship Id="rId2" Type="http://schemas.openxmlformats.org/officeDocument/2006/relationships/image" Target="../media/image64.tmp"/><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66.tmp"/><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68.tmp"/><Relationship Id="rId2" Type="http://schemas.openxmlformats.org/officeDocument/2006/relationships/image" Target="../media/image67.tmp"/><Relationship Id="rId1" Type="http://schemas.openxmlformats.org/officeDocument/2006/relationships/slideLayout" Target="../slideLayouts/slideLayout1.xml"/><Relationship Id="rId4" Type="http://schemas.openxmlformats.org/officeDocument/2006/relationships/image" Target="../media/image69.tmp"/></Relationships>
</file>

<file path=ppt/slides/_rels/slide76.xml.rels><?xml version="1.0" encoding="UTF-8" standalone="yes"?>
<Relationships xmlns="http://schemas.openxmlformats.org/package/2006/relationships"><Relationship Id="rId3" Type="http://schemas.openxmlformats.org/officeDocument/2006/relationships/image" Target="../media/image71.tmp"/><Relationship Id="rId2" Type="http://schemas.openxmlformats.org/officeDocument/2006/relationships/image" Target="../media/image70.tmp"/><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73.tmp"/><Relationship Id="rId2" Type="http://schemas.openxmlformats.org/officeDocument/2006/relationships/image" Target="../media/image72.tmp"/><Relationship Id="rId1" Type="http://schemas.openxmlformats.org/officeDocument/2006/relationships/slideLayout" Target="../slideLayouts/slideLayout1.xml"/><Relationship Id="rId5" Type="http://schemas.openxmlformats.org/officeDocument/2006/relationships/image" Target="../media/image75.tmp"/><Relationship Id="rId4" Type="http://schemas.openxmlformats.org/officeDocument/2006/relationships/image" Target="../media/image74.tmp"/></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77.tmp"/><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slide" Target="slide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78.tmp"/><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slide" Target="slide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539552" y="1124744"/>
            <a:ext cx="8115300" cy="1239416"/>
          </a:xfrm>
        </p:spPr>
        <p:txBody>
          <a:bodyPr/>
          <a:lstStyle/>
          <a:p>
            <a:pPr algn="ctr"/>
            <a:r>
              <a:rPr lang="zh-CN" altLang="en-US" sz="4600" dirty="0">
                <a:latin typeface="华文行楷" pitchFamily="2" charset="-122"/>
                <a:ea typeface="华文行楷" pitchFamily="2" charset="-122"/>
              </a:rPr>
              <a:t>第 </a:t>
            </a:r>
            <a:r>
              <a:rPr lang="en-US" altLang="zh-CN" sz="4600" dirty="0">
                <a:latin typeface="华文行楷" pitchFamily="2" charset="-122"/>
                <a:ea typeface="华文行楷" pitchFamily="2" charset="-122"/>
              </a:rPr>
              <a:t>8 </a:t>
            </a:r>
            <a:r>
              <a:rPr lang="zh-CN" altLang="en-US" sz="4600" dirty="0">
                <a:latin typeface="华文行楷" pitchFamily="2" charset="-122"/>
                <a:ea typeface="华文行楷" pitchFamily="2" charset="-122"/>
              </a:rPr>
              <a:t>章 数</a:t>
            </a:r>
            <a:r>
              <a:rPr lang="en-US" altLang="zh-CN" sz="4600" dirty="0">
                <a:latin typeface="华文行楷" pitchFamily="2" charset="-122"/>
                <a:ea typeface="华文行楷" pitchFamily="2" charset="-122"/>
              </a:rPr>
              <a:t>/</a:t>
            </a:r>
            <a:r>
              <a:rPr lang="zh-CN" altLang="en-US" sz="4600" dirty="0">
                <a:latin typeface="华文行楷" pitchFamily="2" charset="-122"/>
                <a:ea typeface="华文行楷" pitchFamily="2" charset="-122"/>
              </a:rPr>
              <a:t>模和模</a:t>
            </a:r>
            <a:r>
              <a:rPr lang="en-US" altLang="zh-CN" sz="4600" dirty="0">
                <a:latin typeface="华文行楷" pitchFamily="2" charset="-122"/>
                <a:ea typeface="华文行楷" pitchFamily="2" charset="-122"/>
              </a:rPr>
              <a:t>/</a:t>
            </a:r>
            <a:r>
              <a:rPr lang="zh-CN" altLang="en-US" sz="4600" dirty="0">
                <a:latin typeface="华文行楷" pitchFamily="2" charset="-122"/>
                <a:ea typeface="华文行楷" pitchFamily="2" charset="-122"/>
              </a:rPr>
              <a:t>数转换</a:t>
            </a:r>
            <a:endParaRPr lang="zh-CN" altLang="zh-CN" sz="4600" dirty="0">
              <a:latin typeface="华文行楷" pitchFamily="2" charset="-122"/>
              <a:ea typeface="华文行楷" pitchFamily="2" charset="-122"/>
            </a:endParaRPr>
          </a:p>
        </p:txBody>
      </p:sp>
      <p:sp>
        <p:nvSpPr>
          <p:cNvPr id="4" name="矩形 3"/>
          <p:cNvSpPr/>
          <p:nvPr/>
        </p:nvSpPr>
        <p:spPr>
          <a:xfrm>
            <a:off x="2618521" y="2910985"/>
            <a:ext cx="3528392" cy="2092881"/>
          </a:xfrm>
          <a:prstGeom prst="rect">
            <a:avLst/>
          </a:prstGeom>
        </p:spPr>
        <p:txBody>
          <a:bodyPr wrap="square">
            <a:spAutoFit/>
          </a:bodyPr>
          <a:lstStyle/>
          <a:p>
            <a:pPr>
              <a:lnSpc>
                <a:spcPct val="130000"/>
              </a:lnSpc>
            </a:pPr>
            <a:r>
              <a:rPr lang="en-US" altLang="zh-CN" sz="2500" b="1" dirty="0">
                <a:hlinkClick r:id="rId2" action="ppaction://hlinksldjump"/>
              </a:rPr>
              <a:t>8. 1  </a:t>
            </a:r>
            <a:r>
              <a:rPr lang="zh-CN" altLang="en-US" sz="2500" b="1" dirty="0">
                <a:hlinkClick r:id="rId2" action="ppaction://hlinksldjump"/>
              </a:rPr>
              <a:t>概</a:t>
            </a:r>
            <a:r>
              <a:rPr lang="zh-CN" altLang="en-US" sz="2500" b="1" dirty="0" smtClean="0">
                <a:hlinkClick r:id="rId2" action="ppaction://hlinksldjump"/>
              </a:rPr>
              <a:t>述</a:t>
            </a:r>
            <a:endParaRPr lang="en-US" altLang="zh-CN" sz="2500" b="1" dirty="0" smtClean="0"/>
          </a:p>
          <a:p>
            <a:pPr>
              <a:lnSpc>
                <a:spcPct val="130000"/>
              </a:lnSpc>
            </a:pPr>
            <a:r>
              <a:rPr lang="en-US" altLang="zh-CN" sz="2500" b="1" dirty="0">
                <a:hlinkClick r:id="rId3" action="ppaction://hlinksldjump"/>
              </a:rPr>
              <a:t>8. 2 </a:t>
            </a:r>
            <a:r>
              <a:rPr lang="en-US" altLang="zh-CN" sz="2500" b="1" dirty="0" smtClean="0">
                <a:hlinkClick r:id="rId3" action="ppaction://hlinksldjump"/>
              </a:rPr>
              <a:t> D </a:t>
            </a:r>
            <a:r>
              <a:rPr lang="en-US" altLang="zh-CN" sz="2500" b="1" dirty="0">
                <a:hlinkClick r:id="rId3" action="ppaction://hlinksldjump"/>
              </a:rPr>
              <a:t>/ A </a:t>
            </a:r>
            <a:r>
              <a:rPr lang="zh-CN" altLang="en-US" sz="2500" b="1" dirty="0">
                <a:hlinkClick r:id="rId3" action="ppaction://hlinksldjump"/>
              </a:rPr>
              <a:t>转换</a:t>
            </a:r>
            <a:r>
              <a:rPr lang="zh-CN" altLang="en-US" sz="2500" b="1" dirty="0" smtClean="0">
                <a:hlinkClick r:id="rId3" action="ppaction://hlinksldjump"/>
              </a:rPr>
              <a:t>器</a:t>
            </a:r>
            <a:endParaRPr lang="en-US" altLang="zh-CN" sz="2500" b="1" dirty="0" smtClean="0"/>
          </a:p>
          <a:p>
            <a:pPr>
              <a:lnSpc>
                <a:spcPct val="130000"/>
              </a:lnSpc>
            </a:pPr>
            <a:r>
              <a:rPr lang="en-US" altLang="zh-CN" sz="2500" b="1" dirty="0">
                <a:hlinkClick r:id="rId4" action="ppaction://hlinksldjump"/>
              </a:rPr>
              <a:t>8. </a:t>
            </a:r>
            <a:r>
              <a:rPr lang="en-US" altLang="zh-CN" sz="2500" b="1" dirty="0" smtClean="0">
                <a:hlinkClick r:id="rId4" action="ppaction://hlinksldjump"/>
              </a:rPr>
              <a:t>3  </a:t>
            </a:r>
            <a:r>
              <a:rPr lang="en-US" altLang="zh-CN" sz="2500" b="1" dirty="0">
                <a:hlinkClick r:id="rId4" action="ppaction://hlinksldjump"/>
              </a:rPr>
              <a:t>A / D </a:t>
            </a:r>
            <a:r>
              <a:rPr lang="zh-CN" altLang="en-US" sz="2500" b="1" dirty="0">
                <a:hlinkClick r:id="rId4" action="ppaction://hlinksldjump"/>
              </a:rPr>
              <a:t>转换</a:t>
            </a:r>
            <a:r>
              <a:rPr lang="zh-CN" altLang="en-US" sz="2500" b="1" dirty="0" smtClean="0">
                <a:hlinkClick r:id="rId4" action="ppaction://hlinksldjump"/>
              </a:rPr>
              <a:t>器</a:t>
            </a:r>
            <a:endParaRPr lang="en-US" altLang="zh-CN" sz="2500" b="1" dirty="0" smtClean="0"/>
          </a:p>
          <a:p>
            <a:pPr>
              <a:lnSpc>
                <a:spcPct val="130000"/>
              </a:lnSpc>
            </a:pPr>
            <a:r>
              <a:rPr lang="zh-CN" altLang="en-US" sz="2500" b="1" dirty="0" smtClean="0">
                <a:hlinkClick r:id="rId5" action="ppaction://hlinksldjump"/>
              </a:rPr>
              <a:t>习题</a:t>
            </a:r>
            <a:endParaRPr lang="en-US" altLang="zh-CN" sz="2500" b="1" dirty="0" smtClean="0"/>
          </a:p>
        </p:txBody>
      </p:sp>
      <p:pic>
        <p:nvPicPr>
          <p:cNvPr id="6" name="Picture 8" descr="GIF014">
            <a:hlinkClick r:id="rId6" action="ppaction://hlinkpres?slideindex=2&amp;slidetitle=PowerPoint 演示文稿"/>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8058150" y="6286500"/>
            <a:ext cx="1085850" cy="571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r>
              <a:rPr lang="en-US" altLang="zh-CN" dirty="0"/>
              <a:t/>
            </a:r>
            <a:br>
              <a:rPr lang="en-US" altLang="zh-CN" dirty="0"/>
            </a:br>
            <a:r>
              <a:rPr lang="zh-CN" altLang="en-US" dirty="0" smtClean="0"/>
              <a:t>　</a:t>
            </a:r>
            <a:r>
              <a:rPr lang="zh-CN" altLang="en-US" dirty="0"/>
              <a:t>　本章系统讲述数</a:t>
            </a:r>
            <a:r>
              <a:rPr lang="en-US" altLang="zh-CN" dirty="0"/>
              <a:t>/</a:t>
            </a:r>
            <a:r>
              <a:rPr lang="zh-CN" altLang="en-US" dirty="0"/>
              <a:t>模转换</a:t>
            </a:r>
            <a:r>
              <a:rPr lang="en-US" altLang="zh-CN" dirty="0"/>
              <a:t>(</a:t>
            </a:r>
            <a:r>
              <a:rPr lang="zh-CN" altLang="en-US" dirty="0"/>
              <a:t>把数字量转换成相应的模拟量</a:t>
            </a:r>
            <a:r>
              <a:rPr lang="en-US" altLang="zh-CN" dirty="0"/>
              <a:t>)</a:t>
            </a:r>
            <a:r>
              <a:rPr lang="zh-CN" altLang="en-US" dirty="0"/>
              <a:t>和模</a:t>
            </a:r>
            <a:r>
              <a:rPr lang="en-US" altLang="zh-CN" dirty="0"/>
              <a:t>/</a:t>
            </a:r>
            <a:r>
              <a:rPr lang="zh-CN" altLang="en-US" dirty="0"/>
              <a:t>数转换</a:t>
            </a:r>
            <a:r>
              <a:rPr lang="en-US" altLang="zh-CN" dirty="0"/>
              <a:t>(</a:t>
            </a:r>
            <a:r>
              <a:rPr lang="zh-CN" altLang="en-US" dirty="0"/>
              <a:t>把模拟量转</a:t>
            </a:r>
            <a:r>
              <a:rPr lang="zh-CN" altLang="en-US" dirty="0" smtClean="0"/>
              <a:t>换成</a:t>
            </a:r>
            <a:r>
              <a:rPr lang="zh-CN" altLang="en-US" dirty="0"/>
              <a:t>相应的数字量</a:t>
            </a:r>
            <a:r>
              <a:rPr lang="en-US" altLang="zh-CN" dirty="0"/>
              <a:t>)</a:t>
            </a:r>
            <a:r>
              <a:rPr lang="zh-CN" altLang="en-US" dirty="0"/>
              <a:t>的基本原理和常见的典型电路。</a:t>
            </a:r>
            <a:br>
              <a:rPr lang="zh-CN" altLang="en-US" dirty="0"/>
            </a:br>
            <a:r>
              <a:rPr lang="zh-CN" altLang="en-US" dirty="0" smtClean="0"/>
              <a:t>　　在</a:t>
            </a:r>
            <a:r>
              <a:rPr lang="zh-CN" altLang="en-US" dirty="0"/>
              <a:t>数</a:t>
            </a:r>
            <a:r>
              <a:rPr lang="en-US" altLang="zh-CN" dirty="0"/>
              <a:t>/</a:t>
            </a:r>
            <a:r>
              <a:rPr lang="zh-CN" altLang="en-US" dirty="0"/>
              <a:t>模转换电路</a:t>
            </a:r>
            <a:r>
              <a:rPr lang="zh-CN" altLang="en-US" dirty="0" smtClean="0"/>
              <a:t>中，分</a:t>
            </a:r>
            <a:r>
              <a:rPr lang="zh-CN" altLang="en-US" dirty="0"/>
              <a:t>别介绍了权电阻网络数</a:t>
            </a:r>
            <a:r>
              <a:rPr lang="en-US" altLang="zh-CN" dirty="0"/>
              <a:t>/</a:t>
            </a:r>
            <a:r>
              <a:rPr lang="zh-CN" altLang="en-US" dirty="0"/>
              <a:t>模转换器、倒 </a:t>
            </a:r>
            <a:r>
              <a:rPr lang="en-US" altLang="zh-CN" dirty="0"/>
              <a:t>T </a:t>
            </a:r>
            <a:r>
              <a:rPr lang="zh-CN" altLang="en-US" dirty="0"/>
              <a:t>型电阻网络数</a:t>
            </a:r>
            <a:r>
              <a:rPr lang="en-US" altLang="zh-CN" dirty="0"/>
              <a:t>/</a:t>
            </a:r>
            <a:r>
              <a:rPr lang="zh-CN" altLang="en-US" dirty="0"/>
              <a:t>模</a:t>
            </a:r>
            <a:r>
              <a:rPr lang="zh-CN" altLang="en-US" dirty="0" smtClean="0"/>
              <a:t>转换</a:t>
            </a:r>
            <a:r>
              <a:rPr lang="zh-CN" altLang="en-US" dirty="0"/>
              <a:t>器以及权电流型数</a:t>
            </a:r>
            <a:r>
              <a:rPr lang="en-US" altLang="zh-CN" dirty="0"/>
              <a:t>/</a:t>
            </a:r>
            <a:r>
              <a:rPr lang="zh-CN" altLang="en-US" dirty="0"/>
              <a:t>模转换器。</a:t>
            </a:r>
            <a:br>
              <a:rPr lang="zh-CN" altLang="en-US" dirty="0"/>
            </a:br>
            <a:r>
              <a:rPr lang="zh-CN" altLang="en-US" dirty="0" smtClean="0"/>
              <a:t>　　在</a:t>
            </a:r>
            <a:r>
              <a:rPr lang="zh-CN" altLang="en-US" dirty="0"/>
              <a:t>模</a:t>
            </a:r>
            <a:r>
              <a:rPr lang="en-US" altLang="zh-CN" dirty="0"/>
              <a:t>/</a:t>
            </a:r>
            <a:r>
              <a:rPr lang="zh-CN" altLang="en-US" dirty="0"/>
              <a:t>数转换电路</a:t>
            </a:r>
            <a:r>
              <a:rPr lang="zh-CN" altLang="en-US" dirty="0" smtClean="0"/>
              <a:t>中，首</a:t>
            </a:r>
            <a:r>
              <a:rPr lang="zh-CN" altLang="en-US" dirty="0"/>
              <a:t>先介绍了模</a:t>
            </a:r>
            <a:r>
              <a:rPr lang="en-US" altLang="zh-CN" dirty="0"/>
              <a:t>/</a:t>
            </a:r>
            <a:r>
              <a:rPr lang="zh-CN" altLang="en-US" dirty="0"/>
              <a:t>数转换的一般原理和步</a:t>
            </a:r>
            <a:r>
              <a:rPr lang="zh-CN" altLang="en-US" dirty="0" smtClean="0"/>
              <a:t>骤，然</a:t>
            </a:r>
            <a:r>
              <a:rPr lang="zh-CN" altLang="en-US" dirty="0"/>
              <a:t>后分别讲述采样</a:t>
            </a:r>
            <a:r>
              <a:rPr lang="en-US" altLang="zh-CN" dirty="0" smtClean="0"/>
              <a:t>/</a:t>
            </a:r>
            <a:r>
              <a:rPr lang="zh-CN" altLang="en-US" dirty="0" smtClean="0"/>
              <a:t>保</a:t>
            </a:r>
            <a:r>
              <a:rPr lang="zh-CN" altLang="en-US" dirty="0"/>
              <a:t>持电路和模</a:t>
            </a:r>
            <a:r>
              <a:rPr lang="en-US" altLang="zh-CN" dirty="0"/>
              <a:t>/</a:t>
            </a:r>
            <a:r>
              <a:rPr lang="zh-CN" altLang="en-US" dirty="0"/>
              <a:t>数转换的几种主要类型。</a:t>
            </a:r>
            <a:br>
              <a:rPr lang="zh-CN" altLang="en-US" dirty="0"/>
            </a:br>
            <a:r>
              <a:rPr lang="zh-CN" altLang="en-US" dirty="0" smtClean="0"/>
              <a:t>　　另外，在</a:t>
            </a:r>
            <a:r>
              <a:rPr lang="zh-CN" altLang="en-US" dirty="0"/>
              <a:t>讲述各种转换电路工作原理的基础</a:t>
            </a:r>
            <a:r>
              <a:rPr lang="zh-CN" altLang="en-US" dirty="0" smtClean="0"/>
              <a:t>上，着</a:t>
            </a:r>
            <a:r>
              <a:rPr lang="zh-CN" altLang="en-US" dirty="0"/>
              <a:t>重讨论了转换精度和转换速</a:t>
            </a:r>
            <a:r>
              <a:rPr lang="zh-CN" altLang="en-US" dirty="0" smtClean="0"/>
              <a:t>度问</a:t>
            </a:r>
            <a:r>
              <a:rPr lang="zh-CN" altLang="en-US" dirty="0"/>
              <a:t>题。</a:t>
            </a:r>
            <a:endParaRPr lang="en-US" altLang="zh-CN" dirty="0" smtClean="0"/>
          </a:p>
        </p:txBody>
      </p:sp>
      <p:sp>
        <p:nvSpPr>
          <p:cNvPr id="361475" name="Rectangle 3"/>
          <p:cNvSpPr>
            <a:spLocks noGrp="1" noChangeArrowheads="1"/>
          </p:cNvSpPr>
          <p:nvPr>
            <p:ph type="body"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a:xfrm>
            <a:off x="571500" y="533400"/>
            <a:ext cx="8115300" cy="1095400"/>
          </a:xfrm>
        </p:spPr>
        <p:txBody>
          <a:bodyPr/>
          <a:lstStyle/>
          <a:p>
            <a:pPr algn="ctr"/>
            <a:r>
              <a:rPr lang="en-US" altLang="zh-CN" sz="2600" b="1" dirty="0"/>
              <a:t/>
            </a:r>
            <a:br>
              <a:rPr lang="en-US" altLang="zh-CN" sz="2600" b="1" dirty="0"/>
            </a:br>
            <a:r>
              <a:rPr lang="en-US" altLang="zh-CN" sz="2600" b="1" dirty="0"/>
              <a:t>8. 1  </a:t>
            </a:r>
            <a:r>
              <a:rPr lang="zh-CN" altLang="en-US" sz="2600" b="1" dirty="0"/>
              <a:t>概 述</a:t>
            </a:r>
            <a:endParaRPr lang="zh-CN" altLang="zh-CN" sz="2600" b="1" dirty="0"/>
          </a:p>
        </p:txBody>
      </p:sp>
      <p:sp>
        <p:nvSpPr>
          <p:cNvPr id="362499"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711459" y="1781200"/>
            <a:ext cx="8115300" cy="4096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r>
              <a:rPr lang="en-US" altLang="zh-CN" dirty="0" smtClean="0"/>
              <a:t/>
            </a:r>
            <a:br>
              <a:rPr lang="en-US" altLang="zh-CN" dirty="0" smtClean="0"/>
            </a:br>
            <a:r>
              <a:rPr lang="zh-CN" altLang="en-US" dirty="0"/>
              <a:t>　　随着数字计算机的迅速发</a:t>
            </a:r>
            <a:r>
              <a:rPr lang="zh-CN" altLang="en-US" dirty="0" smtClean="0"/>
              <a:t>展，其</a:t>
            </a:r>
            <a:r>
              <a:rPr lang="zh-CN" altLang="en-US" dirty="0"/>
              <a:t>应用越来越</a:t>
            </a:r>
            <a:r>
              <a:rPr lang="zh-CN" altLang="en-US" dirty="0" smtClean="0"/>
              <a:t>广，特</a:t>
            </a:r>
            <a:r>
              <a:rPr lang="zh-CN" altLang="en-US" dirty="0"/>
              <a:t>别是计算机在自动控制、自动检测</a:t>
            </a:r>
            <a:r>
              <a:rPr lang="zh-CN" altLang="en-US" dirty="0" smtClean="0"/>
              <a:t>、通</a:t>
            </a:r>
            <a:r>
              <a:rPr lang="zh-CN" altLang="en-US" dirty="0"/>
              <a:t>信、生物工程、医疗等其他领域中应用广泛。由于数字计算机只能处理数字信</a:t>
            </a:r>
            <a:r>
              <a:rPr lang="zh-CN" altLang="en-US" dirty="0" smtClean="0"/>
              <a:t>号，因此需</a:t>
            </a:r>
            <a:r>
              <a:rPr lang="zh-CN" altLang="en-US" dirty="0"/>
              <a:t>要将模拟信号转换成数字信号后才能送给数字系统进行处理。同</a:t>
            </a:r>
            <a:r>
              <a:rPr lang="zh-CN" altLang="en-US" dirty="0" smtClean="0"/>
              <a:t>时，往</a:t>
            </a:r>
            <a:r>
              <a:rPr lang="zh-CN" altLang="en-US" dirty="0"/>
              <a:t>往还需要把处</a:t>
            </a:r>
            <a:r>
              <a:rPr lang="zh-CN" altLang="en-US" dirty="0" smtClean="0"/>
              <a:t>理后</a:t>
            </a:r>
            <a:r>
              <a:rPr lang="zh-CN" altLang="en-US" dirty="0"/>
              <a:t>得到的数字信号再转换成相应的模拟信</a:t>
            </a:r>
            <a:r>
              <a:rPr lang="zh-CN" altLang="en-US" dirty="0" smtClean="0"/>
              <a:t>号，作</a:t>
            </a:r>
            <a:r>
              <a:rPr lang="zh-CN" altLang="en-US" dirty="0"/>
              <a:t>为最后的输出。</a:t>
            </a:r>
            <a:endParaRPr lang="zh-CN" altLang="zh-C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我们把将数字信号转换成模拟信号的电路或器件称为数字 </a:t>
            </a:r>
            <a:r>
              <a:rPr lang="en-US" altLang="zh-CN" dirty="0"/>
              <a:t>- </a:t>
            </a:r>
            <a:r>
              <a:rPr lang="zh-CN" altLang="en-US" dirty="0"/>
              <a:t>模拟转换</a:t>
            </a:r>
            <a:r>
              <a:rPr lang="zh-CN" altLang="en-US" dirty="0" smtClean="0"/>
              <a:t>器，又</a:t>
            </a:r>
            <a:r>
              <a:rPr lang="zh-CN" altLang="en-US" dirty="0"/>
              <a:t>称 </a:t>
            </a:r>
            <a:r>
              <a:rPr lang="en-US" altLang="zh-CN" dirty="0"/>
              <a:t>D / </a:t>
            </a:r>
            <a:r>
              <a:rPr lang="en-US" altLang="zh-CN" dirty="0" smtClean="0"/>
              <a:t>A</a:t>
            </a:r>
            <a:r>
              <a:rPr lang="zh-CN" altLang="en-US" dirty="0" smtClean="0"/>
              <a:t>转</a:t>
            </a:r>
            <a:r>
              <a:rPr lang="zh-CN" altLang="en-US" dirty="0"/>
              <a:t>换器或 </a:t>
            </a:r>
            <a:r>
              <a:rPr lang="en-US" altLang="zh-CN" dirty="0"/>
              <a:t>DAC ;</a:t>
            </a:r>
            <a:r>
              <a:rPr lang="zh-CN" altLang="en-US" dirty="0"/>
              <a:t>将模拟信号转换为数字信号的电路或器件称为模拟 </a:t>
            </a:r>
            <a:r>
              <a:rPr lang="en-US" altLang="zh-CN" dirty="0"/>
              <a:t>- </a:t>
            </a:r>
            <a:r>
              <a:rPr lang="zh-CN" altLang="en-US" dirty="0"/>
              <a:t>数字转换</a:t>
            </a:r>
            <a:r>
              <a:rPr lang="zh-CN" altLang="en-US" dirty="0" smtClean="0"/>
              <a:t>器，又</a:t>
            </a:r>
            <a:r>
              <a:rPr lang="zh-CN" altLang="en-US" dirty="0"/>
              <a:t>称</a:t>
            </a:r>
            <a:br>
              <a:rPr lang="zh-CN" altLang="en-US" dirty="0"/>
            </a:br>
            <a:r>
              <a:rPr lang="en-US" altLang="zh-CN" dirty="0"/>
              <a:t>A / D </a:t>
            </a:r>
            <a:r>
              <a:rPr lang="zh-CN" altLang="en-US" dirty="0"/>
              <a:t>转换器或 </a:t>
            </a:r>
            <a:r>
              <a:rPr lang="en-US" altLang="zh-CN" dirty="0"/>
              <a:t>ADC </a:t>
            </a:r>
            <a:r>
              <a:rPr lang="zh-CN" altLang="en-US" dirty="0"/>
              <a:t>。</a:t>
            </a:r>
            <a:br>
              <a:rPr lang="zh-CN" altLang="en-US" dirty="0"/>
            </a:br>
            <a:r>
              <a:rPr lang="zh-CN" altLang="en-US" dirty="0" smtClean="0"/>
              <a:t>　　为</a:t>
            </a:r>
            <a:r>
              <a:rPr lang="zh-CN" altLang="en-US" dirty="0"/>
              <a:t>了保证数据处理的准确</a:t>
            </a:r>
            <a:r>
              <a:rPr lang="zh-CN" altLang="en-US" dirty="0" smtClean="0"/>
              <a:t>性，</a:t>
            </a:r>
            <a:r>
              <a:rPr lang="en-US" altLang="zh-CN" dirty="0" smtClean="0"/>
              <a:t> </a:t>
            </a:r>
            <a:r>
              <a:rPr lang="en-US" altLang="zh-CN" dirty="0"/>
              <a:t>D / A </a:t>
            </a:r>
            <a:r>
              <a:rPr lang="zh-CN" altLang="en-US" dirty="0"/>
              <a:t>转换器和 </a:t>
            </a:r>
            <a:r>
              <a:rPr lang="en-US" altLang="zh-CN" dirty="0"/>
              <a:t>A / D </a:t>
            </a:r>
            <a:r>
              <a:rPr lang="zh-CN" altLang="en-US" dirty="0"/>
              <a:t>转换器必须有足够的精</a:t>
            </a:r>
            <a:r>
              <a:rPr lang="zh-CN" altLang="en-US" dirty="0" smtClean="0"/>
              <a:t>度，同时，为了</a:t>
            </a:r>
            <a:r>
              <a:rPr lang="zh-CN" altLang="en-US" dirty="0"/>
              <a:t>适应快速过程的控制和检测的需</a:t>
            </a:r>
            <a:r>
              <a:rPr lang="zh-CN" altLang="en-US" dirty="0" smtClean="0"/>
              <a:t>要，</a:t>
            </a:r>
            <a:r>
              <a:rPr lang="en-US" altLang="zh-CN" dirty="0" smtClean="0"/>
              <a:t> </a:t>
            </a:r>
            <a:r>
              <a:rPr lang="en-US" altLang="zh-CN" dirty="0"/>
              <a:t>D / A </a:t>
            </a:r>
            <a:r>
              <a:rPr lang="zh-CN" altLang="en-US" dirty="0"/>
              <a:t>转换器和 </a:t>
            </a:r>
            <a:r>
              <a:rPr lang="en-US" altLang="zh-CN" dirty="0"/>
              <a:t>A / D </a:t>
            </a:r>
            <a:r>
              <a:rPr lang="zh-CN" altLang="en-US" dirty="0"/>
              <a:t>转换器还必须有足够快的转</a:t>
            </a:r>
            <a:r>
              <a:rPr lang="zh-CN" altLang="en-US" dirty="0" smtClean="0"/>
              <a:t>换速</a:t>
            </a:r>
            <a:r>
              <a:rPr lang="zh-CN" altLang="en-US" dirty="0"/>
              <a:t>度。因</a:t>
            </a:r>
            <a:r>
              <a:rPr lang="zh-CN" altLang="en-US" dirty="0" smtClean="0"/>
              <a:t>此，转</a:t>
            </a:r>
            <a:r>
              <a:rPr lang="zh-CN" altLang="en-US" dirty="0"/>
              <a:t>换精度和转换速度成为衡量 </a:t>
            </a:r>
            <a:r>
              <a:rPr lang="en-US" altLang="zh-CN" dirty="0"/>
              <a:t>D / A </a:t>
            </a:r>
            <a:r>
              <a:rPr lang="zh-CN" altLang="en-US" dirty="0"/>
              <a:t>转换器和 </a:t>
            </a:r>
            <a:r>
              <a:rPr lang="en-US" altLang="zh-CN" dirty="0"/>
              <a:t>A / D </a:t>
            </a:r>
            <a:r>
              <a:rPr lang="zh-CN" altLang="en-US" dirty="0"/>
              <a:t>转换器性能优劣的主</a:t>
            </a:r>
            <a:r>
              <a:rPr lang="zh-CN" altLang="en-US" dirty="0" smtClean="0"/>
              <a:t>要标</a:t>
            </a:r>
            <a:r>
              <a:rPr lang="zh-CN" altLang="en-US" dirty="0"/>
              <a:t>志。</a:t>
            </a:r>
            <a:endParaRPr lang="zh-CN" altLang="zh-CN" dirty="0"/>
          </a:p>
        </p:txBody>
      </p:sp>
      <p:sp>
        <p:nvSpPr>
          <p:cNvPr id="363523" name="Rectangle 3"/>
          <p:cNvSpPr>
            <a:spLocks noGrp="1" noChangeArrowheads="1"/>
          </p:cNvSpPr>
          <p:nvPr>
            <p:ph type="body"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a:xfrm>
            <a:off x="539552" y="260648"/>
            <a:ext cx="8115300" cy="5638800"/>
          </a:xfrm>
        </p:spPr>
        <p:txBody>
          <a:bodyPr/>
          <a:lstStyle/>
          <a:p>
            <a:r>
              <a:rPr lang="en-US" altLang="zh-CN" dirty="0" smtClean="0"/>
              <a:t/>
            </a:r>
            <a:br>
              <a:rPr lang="en-US" altLang="zh-CN" dirty="0" smtClean="0"/>
            </a:br>
            <a:r>
              <a:rPr lang="zh-CN" altLang="en-US" dirty="0"/>
              <a:t>　　本章主要介绍 </a:t>
            </a:r>
            <a:r>
              <a:rPr lang="en-US" altLang="zh-CN" dirty="0"/>
              <a:t>D / A </a:t>
            </a:r>
            <a:r>
              <a:rPr lang="zh-CN" altLang="en-US" dirty="0"/>
              <a:t>转换器和 </a:t>
            </a:r>
            <a:r>
              <a:rPr lang="en-US" altLang="zh-CN" dirty="0"/>
              <a:t>A / D </a:t>
            </a:r>
            <a:r>
              <a:rPr lang="zh-CN" altLang="en-US" dirty="0"/>
              <a:t>转换器的基本原理和常见的典型电路。</a:t>
            </a:r>
            <a:br>
              <a:rPr lang="zh-CN" altLang="en-US" dirty="0"/>
            </a:br>
            <a:r>
              <a:rPr lang="zh-CN" altLang="en-US" dirty="0" smtClean="0"/>
              <a:t>　　目</a:t>
            </a:r>
            <a:r>
              <a:rPr lang="zh-CN" altLang="en-US" dirty="0"/>
              <a:t>前常见的 </a:t>
            </a:r>
            <a:r>
              <a:rPr lang="en-US" altLang="zh-CN" dirty="0"/>
              <a:t>D / A </a:t>
            </a:r>
            <a:r>
              <a:rPr lang="zh-CN" altLang="en-US" dirty="0"/>
              <a:t>转换器中有权电阻网络 </a:t>
            </a:r>
            <a:r>
              <a:rPr lang="en-US" altLang="zh-CN" dirty="0"/>
              <a:t>D / A </a:t>
            </a:r>
            <a:r>
              <a:rPr lang="zh-CN" altLang="en-US" dirty="0"/>
              <a:t>转换器、倒 </a:t>
            </a:r>
            <a:r>
              <a:rPr lang="en-US" altLang="zh-CN" dirty="0"/>
              <a:t>T </a:t>
            </a:r>
            <a:r>
              <a:rPr lang="zh-CN" altLang="en-US" dirty="0"/>
              <a:t>型电阻网络 </a:t>
            </a:r>
            <a:r>
              <a:rPr lang="en-US" altLang="zh-CN" dirty="0"/>
              <a:t>D / A </a:t>
            </a:r>
            <a:r>
              <a:rPr lang="zh-CN" altLang="en-US" dirty="0"/>
              <a:t>转换器</a:t>
            </a:r>
            <a:r>
              <a:rPr lang="zh-CN" altLang="en-US" dirty="0" smtClean="0"/>
              <a:t>、权</a:t>
            </a:r>
            <a:r>
              <a:rPr lang="zh-CN" altLang="en-US" dirty="0"/>
              <a:t>电流型 </a:t>
            </a:r>
            <a:r>
              <a:rPr lang="en-US" altLang="zh-CN" dirty="0"/>
              <a:t>D / A </a:t>
            </a:r>
            <a:r>
              <a:rPr lang="zh-CN" altLang="en-US" dirty="0"/>
              <a:t>转换器等几种类型。</a:t>
            </a:r>
            <a:br>
              <a:rPr lang="zh-CN" altLang="en-US" dirty="0"/>
            </a:br>
            <a:r>
              <a:rPr lang="zh-CN" altLang="en-US" dirty="0" smtClean="0"/>
              <a:t>　　</a:t>
            </a:r>
            <a:r>
              <a:rPr lang="en-US" altLang="zh-CN" dirty="0" smtClean="0"/>
              <a:t>A </a:t>
            </a:r>
            <a:r>
              <a:rPr lang="en-US" altLang="zh-CN" dirty="0"/>
              <a:t>/ D </a:t>
            </a:r>
            <a:r>
              <a:rPr lang="zh-CN" altLang="en-US" dirty="0"/>
              <a:t>转换器的类型也有多</a:t>
            </a:r>
            <a:r>
              <a:rPr lang="zh-CN" altLang="en-US" dirty="0" smtClean="0"/>
              <a:t>种，可</a:t>
            </a:r>
            <a:r>
              <a:rPr lang="zh-CN" altLang="en-US" dirty="0"/>
              <a:t>分为直接 </a:t>
            </a:r>
            <a:r>
              <a:rPr lang="en-US" altLang="zh-CN" dirty="0"/>
              <a:t>A / D </a:t>
            </a:r>
            <a:r>
              <a:rPr lang="zh-CN" altLang="en-US" dirty="0"/>
              <a:t>转换器和间接 </a:t>
            </a:r>
            <a:r>
              <a:rPr lang="en-US" altLang="zh-CN" dirty="0"/>
              <a:t>A / D </a:t>
            </a:r>
            <a:r>
              <a:rPr lang="zh-CN" altLang="en-US" dirty="0"/>
              <a:t>转换器两大类。</a:t>
            </a:r>
            <a:r>
              <a:rPr lang="zh-CN" altLang="en-US" dirty="0" smtClean="0"/>
              <a:t>在常</a:t>
            </a:r>
            <a:r>
              <a:rPr lang="zh-CN" altLang="en-US" dirty="0"/>
              <a:t>见的直接 </a:t>
            </a:r>
            <a:r>
              <a:rPr lang="en-US" altLang="zh-CN" dirty="0"/>
              <a:t>A / D </a:t>
            </a:r>
            <a:r>
              <a:rPr lang="zh-CN" altLang="en-US" dirty="0"/>
              <a:t>转换器</a:t>
            </a:r>
            <a:r>
              <a:rPr lang="zh-CN" altLang="en-US" dirty="0" smtClean="0"/>
              <a:t>中，又</a:t>
            </a:r>
            <a:r>
              <a:rPr lang="zh-CN" altLang="en-US" dirty="0"/>
              <a:t>有并联比较型 </a:t>
            </a:r>
            <a:r>
              <a:rPr lang="en-US" altLang="zh-CN" dirty="0"/>
              <a:t>A / D </a:t>
            </a:r>
            <a:r>
              <a:rPr lang="zh-CN" altLang="en-US" dirty="0"/>
              <a:t>转换器和反馈比较型 </a:t>
            </a:r>
            <a:r>
              <a:rPr lang="en-US" altLang="zh-CN" dirty="0"/>
              <a:t>A / D </a:t>
            </a:r>
            <a:r>
              <a:rPr lang="zh-CN" altLang="en-US" dirty="0"/>
              <a:t>转换器两类</a:t>
            </a:r>
            <a:r>
              <a:rPr lang="zh-CN" altLang="en-US" dirty="0" smtClean="0"/>
              <a:t>。目</a:t>
            </a:r>
            <a:r>
              <a:rPr lang="zh-CN" altLang="en-US" dirty="0"/>
              <a:t>前使用的间接 </a:t>
            </a:r>
            <a:r>
              <a:rPr lang="en-US" altLang="zh-CN" dirty="0"/>
              <a:t>A / D </a:t>
            </a:r>
            <a:r>
              <a:rPr lang="zh-CN" altLang="en-US" dirty="0"/>
              <a:t>转换器大多都属于电压 </a:t>
            </a:r>
            <a:r>
              <a:rPr lang="en-US" altLang="zh-CN" dirty="0"/>
              <a:t>- </a:t>
            </a:r>
            <a:r>
              <a:rPr lang="zh-CN" altLang="en-US" dirty="0"/>
              <a:t>时间变换</a:t>
            </a:r>
            <a:r>
              <a:rPr lang="zh-CN" altLang="en-US" dirty="0" smtClean="0"/>
              <a:t>型，如</a:t>
            </a:r>
            <a:r>
              <a:rPr lang="zh-CN" altLang="en-US" dirty="0"/>
              <a:t>双积分型 </a:t>
            </a:r>
            <a:r>
              <a:rPr lang="en-US" altLang="zh-CN" dirty="0"/>
              <a:t>A / D </a:t>
            </a:r>
            <a:r>
              <a:rPr lang="zh-CN" altLang="en-US" dirty="0"/>
              <a:t>转换器和</a:t>
            </a:r>
            <a:r>
              <a:rPr lang="zh-CN" altLang="en-US" dirty="0" smtClean="0"/>
              <a:t>电压 </a:t>
            </a:r>
            <a:r>
              <a:rPr lang="en-US" altLang="zh-CN" dirty="0"/>
              <a:t>- </a:t>
            </a:r>
            <a:r>
              <a:rPr lang="zh-CN" altLang="en-US" dirty="0"/>
              <a:t>频率变换型转换器。</a:t>
            </a:r>
            <a:endParaRPr lang="zh-CN" altLang="zh-CN" dirty="0"/>
          </a:p>
        </p:txBody>
      </p:sp>
      <p:sp>
        <p:nvSpPr>
          <p:cNvPr id="364547" name="Rectangle 3"/>
          <p:cNvSpPr>
            <a:spLocks noGrp="1" noChangeArrowheads="1"/>
          </p:cNvSpPr>
          <p:nvPr>
            <p:ph type="body" idx="1"/>
          </p:nvPr>
        </p:nvSpPr>
        <p:spPr/>
        <p:txBody>
          <a:bodyPr/>
          <a:lstStyle/>
          <a:p>
            <a:endParaRPr lang="zh-CN" altLang="zh-CN"/>
          </a:p>
        </p:txBody>
      </p:sp>
      <p:pic>
        <p:nvPicPr>
          <p:cNvPr id="4" name="Picture 2" descr="H:\出版社\模板\课件素材\GIF动画插件1\GIF020.GIF">
            <a:hlinkClick r:id="rId2" action="ppaction://hlinksldjump"/>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394096"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a:xfrm>
            <a:off x="571500" y="533400"/>
            <a:ext cx="8115300" cy="1023392"/>
          </a:xfrm>
        </p:spPr>
        <p:txBody>
          <a:bodyPr/>
          <a:lstStyle/>
          <a:p>
            <a:pPr algn="ctr"/>
            <a:r>
              <a:rPr lang="en-US" altLang="zh-CN" sz="2600" b="1" dirty="0"/>
              <a:t/>
            </a:r>
            <a:br>
              <a:rPr lang="en-US" altLang="zh-CN" sz="2600" b="1" dirty="0"/>
            </a:br>
            <a:r>
              <a:rPr lang="en-US" altLang="zh-CN" sz="2600" b="1" dirty="0"/>
              <a:t>8. 2 D / A </a:t>
            </a:r>
            <a:r>
              <a:rPr lang="zh-CN" altLang="en-US" sz="2600" b="1" dirty="0"/>
              <a:t>转换器</a:t>
            </a:r>
            <a:endParaRPr lang="zh-CN" altLang="zh-CN" sz="2600" b="1" dirty="0"/>
          </a:p>
        </p:txBody>
      </p:sp>
      <p:sp>
        <p:nvSpPr>
          <p:cNvPr id="365571"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709701" y="1679374"/>
            <a:ext cx="8115300" cy="441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r>
              <a:rPr lang="en-US" altLang="zh-CN" dirty="0"/>
              <a:t/>
            </a:r>
            <a:br>
              <a:rPr lang="en-US" altLang="zh-CN" dirty="0"/>
            </a:br>
            <a:r>
              <a:rPr lang="en-US" altLang="zh-CN" b="1" dirty="0"/>
              <a:t>8. 2. 1  </a:t>
            </a:r>
            <a:r>
              <a:rPr lang="zh-CN" altLang="en-US" b="1" dirty="0"/>
              <a:t>权电阻网络 </a:t>
            </a:r>
            <a:r>
              <a:rPr lang="en-US" altLang="zh-CN" b="1" dirty="0"/>
              <a:t>D / A </a:t>
            </a:r>
            <a:r>
              <a:rPr lang="zh-CN" altLang="en-US" b="1" dirty="0"/>
              <a:t>转换器</a:t>
            </a:r>
          </a:p>
          <a:p>
            <a:r>
              <a:rPr lang="zh-CN" altLang="en-US" b="1" dirty="0" smtClean="0"/>
              <a:t>　　</a:t>
            </a:r>
            <a:r>
              <a:rPr lang="en-US" altLang="zh-CN" b="1" dirty="0" smtClean="0"/>
              <a:t>1</a:t>
            </a:r>
            <a:r>
              <a:rPr lang="en-US" altLang="zh-CN" b="1" dirty="0"/>
              <a:t>. </a:t>
            </a:r>
            <a:r>
              <a:rPr lang="zh-CN" altLang="en-US" b="1" dirty="0"/>
              <a:t>电路组成</a:t>
            </a:r>
          </a:p>
          <a:p>
            <a:r>
              <a:rPr lang="zh-CN" altLang="en-US" dirty="0" smtClean="0"/>
              <a:t>　　图 </a:t>
            </a:r>
            <a:r>
              <a:rPr lang="en-US" altLang="zh-CN" dirty="0" smtClean="0"/>
              <a:t>8</a:t>
            </a:r>
            <a:r>
              <a:rPr lang="zh-CN" altLang="en-US" dirty="0" smtClean="0"/>
              <a:t>－</a:t>
            </a:r>
            <a:r>
              <a:rPr lang="en-US" altLang="zh-CN" dirty="0" smtClean="0"/>
              <a:t>1 </a:t>
            </a:r>
            <a:r>
              <a:rPr lang="zh-CN" altLang="en-US" dirty="0"/>
              <a:t>所示为四位权电阻网络 </a:t>
            </a:r>
            <a:r>
              <a:rPr lang="en-US" altLang="zh-CN" dirty="0"/>
              <a:t>D / A </a:t>
            </a:r>
            <a:r>
              <a:rPr lang="zh-CN" altLang="en-US" dirty="0"/>
              <a:t>转换器的原理图。它由权电阻网络 </a:t>
            </a:r>
            <a:r>
              <a:rPr lang="en-US" altLang="zh-CN" dirty="0" smtClean="0"/>
              <a:t>2</a:t>
            </a:r>
            <a:r>
              <a:rPr lang="en-US" altLang="zh-CN" baseline="30000" dirty="0" smtClean="0"/>
              <a:t>0</a:t>
            </a:r>
            <a:r>
              <a:rPr lang="en-US" altLang="zh-CN" dirty="0" smtClean="0"/>
              <a:t>R </a:t>
            </a:r>
            <a:r>
              <a:rPr lang="zh-CN" altLang="en-US" dirty="0"/>
              <a:t>、 </a:t>
            </a:r>
            <a:r>
              <a:rPr lang="en-US" altLang="zh-CN" dirty="0" smtClean="0"/>
              <a:t>2</a:t>
            </a:r>
            <a:r>
              <a:rPr lang="en-US" altLang="zh-CN" baseline="30000" dirty="0" smtClean="0"/>
              <a:t>1</a:t>
            </a:r>
            <a:r>
              <a:rPr lang="en-US" altLang="zh-CN" dirty="0" smtClean="0"/>
              <a:t>R </a:t>
            </a:r>
            <a:r>
              <a:rPr lang="zh-CN" altLang="en-US" dirty="0" smtClean="0"/>
              <a:t>、</a:t>
            </a:r>
            <a:r>
              <a:rPr lang="en-US" altLang="zh-CN" dirty="0" smtClean="0"/>
              <a:t>2</a:t>
            </a:r>
            <a:r>
              <a:rPr lang="en-US" altLang="zh-CN" baseline="30000" dirty="0" smtClean="0"/>
              <a:t>2</a:t>
            </a:r>
            <a:r>
              <a:rPr lang="en-US" altLang="zh-CN" dirty="0" smtClean="0"/>
              <a:t>R </a:t>
            </a:r>
            <a:r>
              <a:rPr lang="zh-CN" altLang="en-US" dirty="0"/>
              <a:t>、</a:t>
            </a:r>
            <a:r>
              <a:rPr lang="zh-CN" altLang="en-US" baseline="30000" dirty="0"/>
              <a:t> </a:t>
            </a:r>
            <a:r>
              <a:rPr lang="en-US" altLang="zh-CN" dirty="0" smtClean="0"/>
              <a:t>2</a:t>
            </a:r>
            <a:r>
              <a:rPr lang="en-US" altLang="zh-CN" baseline="30000" dirty="0" smtClean="0"/>
              <a:t>3</a:t>
            </a:r>
            <a:r>
              <a:rPr lang="en-US" altLang="zh-CN" dirty="0" smtClean="0"/>
              <a:t>R </a:t>
            </a:r>
            <a:r>
              <a:rPr lang="zh-CN" altLang="en-US" dirty="0" smtClean="0"/>
              <a:t>，电</a:t>
            </a:r>
            <a:r>
              <a:rPr lang="zh-CN" altLang="en-US" dirty="0"/>
              <a:t>子模拟开关 </a:t>
            </a:r>
            <a:r>
              <a:rPr lang="en-US" altLang="zh-CN" dirty="0"/>
              <a:t>S </a:t>
            </a:r>
            <a:r>
              <a:rPr lang="en-US" altLang="zh-CN" baseline="-25000" dirty="0"/>
              <a:t>0</a:t>
            </a:r>
            <a:r>
              <a:rPr lang="en-US" altLang="zh-CN" dirty="0"/>
              <a:t> </a:t>
            </a:r>
            <a:r>
              <a:rPr lang="zh-CN" altLang="en-US" dirty="0"/>
              <a:t>、 </a:t>
            </a:r>
            <a:r>
              <a:rPr lang="en-US" altLang="zh-CN" dirty="0"/>
              <a:t>S </a:t>
            </a:r>
            <a:r>
              <a:rPr lang="en-US" altLang="zh-CN" baseline="-25000" dirty="0"/>
              <a:t>1</a:t>
            </a:r>
            <a:r>
              <a:rPr lang="en-US" altLang="zh-CN" dirty="0"/>
              <a:t> </a:t>
            </a:r>
            <a:r>
              <a:rPr lang="zh-CN" altLang="en-US" dirty="0"/>
              <a:t>、 </a:t>
            </a:r>
            <a:r>
              <a:rPr lang="en-US" altLang="zh-CN" dirty="0"/>
              <a:t>S </a:t>
            </a:r>
            <a:r>
              <a:rPr lang="en-US" altLang="zh-CN" baseline="-25000" dirty="0"/>
              <a:t>2</a:t>
            </a:r>
            <a:r>
              <a:rPr lang="en-US" altLang="zh-CN" dirty="0"/>
              <a:t> </a:t>
            </a:r>
            <a:r>
              <a:rPr lang="zh-CN" altLang="en-US" dirty="0"/>
              <a:t>、 </a:t>
            </a:r>
            <a:r>
              <a:rPr lang="en-US" altLang="zh-CN" dirty="0"/>
              <a:t>S </a:t>
            </a:r>
            <a:r>
              <a:rPr lang="en-US" altLang="zh-CN" baseline="-25000" dirty="0"/>
              <a:t>3</a:t>
            </a:r>
            <a:r>
              <a:rPr lang="en-US" altLang="zh-CN" dirty="0"/>
              <a:t> </a:t>
            </a:r>
            <a:r>
              <a:rPr lang="zh-CN" altLang="en-US" dirty="0" smtClean="0"/>
              <a:t>，基</a:t>
            </a:r>
            <a:r>
              <a:rPr lang="zh-CN" altLang="en-US" dirty="0"/>
              <a:t>准电压 </a:t>
            </a:r>
            <a:r>
              <a:rPr lang="en-US" altLang="zh-CN" dirty="0"/>
              <a:t>U REF </a:t>
            </a:r>
            <a:r>
              <a:rPr lang="zh-CN" altLang="en-US" dirty="0"/>
              <a:t>及求和运算放大器组成。</a:t>
            </a:r>
            <a:endParaRPr lang="zh-CN" altLang="zh-C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endParaRPr lang="zh-CN" altLang="zh-CN"/>
          </a:p>
        </p:txBody>
      </p:sp>
      <p:sp>
        <p:nvSpPr>
          <p:cNvPr id="366595"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1  </a:t>
            </a:r>
            <a:r>
              <a:rPr lang="zh-CN" altLang="en-US" dirty="0"/>
              <a:t>权电阻网络 </a:t>
            </a:r>
            <a:r>
              <a:rPr lang="en-US" altLang="zh-CN" dirty="0"/>
              <a:t>D / A </a:t>
            </a:r>
            <a:r>
              <a:rPr lang="zh-CN" altLang="en-US" dirty="0"/>
              <a:t>转换器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920890"/>
            <a:ext cx="7316222" cy="471553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电子模拟开关 </a:t>
            </a:r>
            <a:r>
              <a:rPr lang="en-US" altLang="zh-CN" i="1" dirty="0" smtClean="0"/>
              <a:t>S</a:t>
            </a:r>
            <a:r>
              <a:rPr lang="en-US" altLang="zh-CN" i="1" baseline="-25000" dirty="0" smtClean="0"/>
              <a:t>0</a:t>
            </a:r>
            <a:r>
              <a:rPr lang="en-US" altLang="zh-CN" i="1" dirty="0" smtClean="0"/>
              <a:t> </a:t>
            </a:r>
            <a:r>
              <a:rPr lang="en-US" altLang="zh-CN" i="1" dirty="0"/>
              <a:t>~S </a:t>
            </a:r>
            <a:r>
              <a:rPr lang="en-US" altLang="zh-CN" i="1" baseline="-25000" dirty="0"/>
              <a:t>3</a:t>
            </a:r>
            <a:r>
              <a:rPr lang="en-US" altLang="zh-CN" i="1" dirty="0"/>
              <a:t> </a:t>
            </a:r>
            <a:r>
              <a:rPr lang="zh-CN" altLang="en-US" dirty="0"/>
              <a:t>受输入数字信号 </a:t>
            </a:r>
            <a:r>
              <a:rPr lang="en-US" altLang="zh-CN" i="1" dirty="0"/>
              <a:t>d </a:t>
            </a:r>
            <a:r>
              <a:rPr lang="en-US" altLang="zh-CN" i="1" baseline="-25000" dirty="0"/>
              <a:t>0</a:t>
            </a:r>
            <a:r>
              <a:rPr lang="en-US" altLang="zh-CN" i="1" dirty="0"/>
              <a:t> ~ d </a:t>
            </a:r>
            <a:r>
              <a:rPr lang="en-US" altLang="zh-CN" i="1" baseline="-25000" dirty="0"/>
              <a:t>3</a:t>
            </a:r>
            <a:r>
              <a:rPr lang="en-US" altLang="zh-CN" i="1" dirty="0"/>
              <a:t> </a:t>
            </a:r>
            <a:r>
              <a:rPr lang="zh-CN" altLang="en-US" dirty="0"/>
              <a:t>控</a:t>
            </a:r>
            <a:r>
              <a:rPr lang="zh-CN" altLang="en-US" dirty="0" smtClean="0"/>
              <a:t>制，如</a:t>
            </a:r>
            <a:r>
              <a:rPr lang="zh-CN" altLang="en-US" dirty="0"/>
              <a:t>果第 </a:t>
            </a:r>
            <a:r>
              <a:rPr lang="en-US" altLang="zh-CN" dirty="0"/>
              <a:t>i </a:t>
            </a:r>
            <a:r>
              <a:rPr lang="zh-CN" altLang="en-US" dirty="0"/>
              <a:t>位数字信号 </a:t>
            </a:r>
            <a:r>
              <a:rPr lang="en-US" altLang="zh-CN" i="1" dirty="0"/>
              <a:t>d </a:t>
            </a:r>
            <a:r>
              <a:rPr lang="en-US" altLang="zh-CN" i="1" baseline="-25000" dirty="0"/>
              <a:t>i</a:t>
            </a:r>
            <a:r>
              <a:rPr lang="en-US" altLang="zh-CN" i="1" dirty="0"/>
              <a:t> </a:t>
            </a:r>
            <a:r>
              <a:rPr lang="en-US" altLang="zh-CN" dirty="0"/>
              <a:t>=1 </a:t>
            </a:r>
            <a:r>
              <a:rPr lang="zh-CN" altLang="en-US" dirty="0" smtClean="0"/>
              <a:t>，则</a:t>
            </a:r>
            <a:r>
              <a:rPr lang="en-US" altLang="zh-CN" i="1" dirty="0" smtClean="0"/>
              <a:t>S</a:t>
            </a:r>
            <a:r>
              <a:rPr lang="en-US" altLang="zh-CN" i="1" baseline="-25000" dirty="0" smtClean="0"/>
              <a:t>i</a:t>
            </a:r>
            <a:r>
              <a:rPr lang="en-US" altLang="zh-CN" i="1" dirty="0" smtClean="0"/>
              <a:t> </a:t>
            </a:r>
            <a:r>
              <a:rPr lang="zh-CN" altLang="en-US" dirty="0"/>
              <a:t>接位置 </a:t>
            </a:r>
            <a:r>
              <a:rPr lang="en-US" altLang="zh-CN" dirty="0"/>
              <a:t>1 </a:t>
            </a:r>
            <a:r>
              <a:rPr lang="zh-CN" altLang="en-US" dirty="0" smtClean="0"/>
              <a:t>，相</a:t>
            </a:r>
            <a:r>
              <a:rPr lang="zh-CN" altLang="en-US" dirty="0"/>
              <a:t>应的电阻 </a:t>
            </a:r>
            <a:r>
              <a:rPr lang="en-US" altLang="zh-CN" i="1" dirty="0"/>
              <a:t>R </a:t>
            </a:r>
            <a:r>
              <a:rPr lang="en-US" altLang="zh-CN" i="1" baseline="-25000" dirty="0"/>
              <a:t>i</a:t>
            </a:r>
            <a:r>
              <a:rPr lang="en-US" altLang="zh-CN" i="1" dirty="0"/>
              <a:t> </a:t>
            </a:r>
            <a:r>
              <a:rPr lang="zh-CN" altLang="en-US" dirty="0"/>
              <a:t>和基准电压 </a:t>
            </a:r>
            <a:r>
              <a:rPr lang="en-US" altLang="zh-CN" i="1" dirty="0"/>
              <a:t>U </a:t>
            </a:r>
            <a:r>
              <a:rPr lang="en-US" altLang="zh-CN" i="1" baseline="-25000" dirty="0"/>
              <a:t>REF</a:t>
            </a:r>
            <a:r>
              <a:rPr lang="en-US" altLang="zh-CN" i="1" dirty="0"/>
              <a:t> </a:t>
            </a:r>
            <a:r>
              <a:rPr lang="zh-CN" altLang="en-US" dirty="0"/>
              <a:t>接通</a:t>
            </a:r>
            <a:r>
              <a:rPr lang="en-US" altLang="zh-CN" dirty="0"/>
              <a:t>;</a:t>
            </a:r>
            <a:r>
              <a:rPr lang="zh-CN" altLang="en-US" dirty="0"/>
              <a:t>若 </a:t>
            </a:r>
            <a:r>
              <a:rPr lang="en-US" altLang="zh-CN" i="1" dirty="0"/>
              <a:t>d </a:t>
            </a:r>
            <a:r>
              <a:rPr lang="en-US" altLang="zh-CN" i="1" baseline="-25000" dirty="0"/>
              <a:t>i</a:t>
            </a:r>
            <a:r>
              <a:rPr lang="en-US" altLang="zh-CN" i="1" dirty="0" smtClean="0"/>
              <a:t> </a:t>
            </a:r>
            <a:r>
              <a:rPr lang="en-US" altLang="zh-CN" i="1" dirty="0"/>
              <a:t>=0 </a:t>
            </a:r>
            <a:r>
              <a:rPr lang="zh-CN" altLang="en-US" dirty="0" smtClean="0"/>
              <a:t>，则 </a:t>
            </a:r>
            <a:r>
              <a:rPr lang="en-US" altLang="zh-CN" i="1" dirty="0"/>
              <a:t>S</a:t>
            </a:r>
            <a:r>
              <a:rPr lang="en-US" altLang="zh-CN" i="1" baseline="-25000" dirty="0"/>
              <a:t> i </a:t>
            </a:r>
            <a:r>
              <a:rPr lang="zh-CN" altLang="en-US" dirty="0"/>
              <a:t>接位置 </a:t>
            </a:r>
            <a:r>
              <a:rPr lang="en-US" altLang="zh-CN" dirty="0"/>
              <a:t>0 </a:t>
            </a:r>
            <a:r>
              <a:rPr lang="zh-CN" altLang="en-US" dirty="0" smtClean="0"/>
              <a:t>，</a:t>
            </a:r>
            <a:r>
              <a:rPr lang="en-US" altLang="zh-CN" dirty="0" smtClean="0"/>
              <a:t> </a:t>
            </a:r>
            <a:r>
              <a:rPr lang="en-US" altLang="zh-CN" i="1" dirty="0"/>
              <a:t>R </a:t>
            </a:r>
            <a:r>
              <a:rPr lang="en-US" altLang="zh-CN" i="1" baseline="-25000" dirty="0"/>
              <a:t>i</a:t>
            </a:r>
            <a:r>
              <a:rPr lang="en-US" altLang="zh-CN" i="1" dirty="0"/>
              <a:t> </a:t>
            </a:r>
            <a:r>
              <a:rPr lang="zh-CN" altLang="en-US" dirty="0"/>
              <a:t>接地。</a:t>
            </a:r>
            <a:br>
              <a:rPr lang="zh-CN" altLang="en-US" dirty="0"/>
            </a:br>
            <a:r>
              <a:rPr lang="zh-CN" altLang="en-US" dirty="0"/>
              <a:t>求和运算放大器用于将权电阻网络流入 </a:t>
            </a:r>
            <a:r>
              <a:rPr lang="en-US" altLang="zh-CN" i="1" dirty="0"/>
              <a:t>A</a:t>
            </a:r>
            <a:r>
              <a:rPr lang="en-US" altLang="zh-CN" dirty="0"/>
              <a:t> </a:t>
            </a:r>
            <a:r>
              <a:rPr lang="zh-CN" altLang="en-US" dirty="0"/>
              <a:t>的电流</a:t>
            </a:r>
            <a:r>
              <a:rPr lang="zh-CN" altLang="en-US" i="1" dirty="0"/>
              <a:t> </a:t>
            </a:r>
            <a:r>
              <a:rPr lang="en-US" altLang="zh-CN" i="1" dirty="0" err="1" smtClean="0"/>
              <a:t>i</a:t>
            </a:r>
            <a:r>
              <a:rPr lang="en-US" altLang="zh-CN" i="1" baseline="-25000" dirty="0" err="1" smtClean="0"/>
              <a:t>Σ</a:t>
            </a:r>
            <a:r>
              <a:rPr lang="zh-CN" altLang="en-US" dirty="0" smtClean="0"/>
              <a:t>转</a:t>
            </a:r>
            <a:r>
              <a:rPr lang="zh-CN" altLang="en-US" dirty="0"/>
              <a:t>换为相应的模拟电压 </a:t>
            </a:r>
            <a:r>
              <a:rPr lang="en-US" altLang="zh-CN" i="1" dirty="0"/>
              <a:t>u </a:t>
            </a:r>
            <a:r>
              <a:rPr lang="en-US" altLang="zh-CN" i="1" baseline="-25000" dirty="0"/>
              <a:t>0</a:t>
            </a:r>
            <a:r>
              <a:rPr lang="en-US" altLang="zh-CN" i="1" dirty="0"/>
              <a:t> </a:t>
            </a:r>
            <a:r>
              <a:rPr lang="zh-CN" altLang="en-US" dirty="0"/>
              <a:t>输出</a:t>
            </a:r>
            <a:r>
              <a:rPr lang="zh-CN" altLang="en-US" dirty="0" smtClean="0"/>
              <a:t>。调</a:t>
            </a:r>
            <a:r>
              <a:rPr lang="zh-CN" altLang="en-US" dirty="0"/>
              <a:t>节反馈电阻 </a:t>
            </a:r>
            <a:r>
              <a:rPr lang="en-US" altLang="zh-CN" i="1" dirty="0"/>
              <a:t>R </a:t>
            </a:r>
            <a:r>
              <a:rPr lang="en-US" altLang="zh-CN" i="1" baseline="-25000" dirty="0"/>
              <a:t>F</a:t>
            </a:r>
            <a:r>
              <a:rPr lang="en-US" altLang="zh-CN" i="1" dirty="0"/>
              <a:t> </a:t>
            </a:r>
            <a:r>
              <a:rPr lang="zh-CN" altLang="en-US" dirty="0"/>
              <a:t>的大</a:t>
            </a:r>
            <a:r>
              <a:rPr lang="zh-CN" altLang="en-US" dirty="0" smtClean="0"/>
              <a:t>小，可</a:t>
            </a:r>
            <a:r>
              <a:rPr lang="zh-CN" altLang="en-US" dirty="0"/>
              <a:t>使输出的模拟电压 </a:t>
            </a:r>
            <a:r>
              <a:rPr lang="en-US" altLang="zh-CN" i="1" dirty="0"/>
              <a:t>u </a:t>
            </a:r>
            <a:r>
              <a:rPr lang="en-US" altLang="zh-CN" i="1" baseline="-25000" dirty="0"/>
              <a:t>0</a:t>
            </a:r>
            <a:r>
              <a:rPr lang="en-US" altLang="zh-CN" i="1" dirty="0"/>
              <a:t> </a:t>
            </a:r>
            <a:r>
              <a:rPr lang="zh-CN" altLang="en-US" dirty="0"/>
              <a:t>符合要求。同</a:t>
            </a:r>
            <a:r>
              <a:rPr lang="zh-CN" altLang="en-US" dirty="0" smtClean="0"/>
              <a:t>时，求</a:t>
            </a:r>
            <a:r>
              <a:rPr lang="zh-CN" altLang="en-US" dirty="0"/>
              <a:t>和运算放大器又是</a:t>
            </a:r>
            <a:br>
              <a:rPr lang="zh-CN" altLang="en-US" dirty="0"/>
            </a:br>
            <a:r>
              <a:rPr lang="zh-CN" altLang="en-US" dirty="0"/>
              <a:t>权电阻网络和输出负载的缓冲器。</a:t>
            </a:r>
            <a:endParaRPr lang="zh-CN" altLang="zh-CN" dirty="0"/>
          </a:p>
        </p:txBody>
      </p:sp>
      <p:sp>
        <p:nvSpPr>
          <p:cNvPr id="368643" name="Rectangle 3"/>
          <p:cNvSpPr>
            <a:spLocks noGrp="1" noChangeArrowheads="1"/>
          </p:cNvSpPr>
          <p:nvPr>
            <p:ph type="body"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en-US" altLang="zh-CN" b="1" dirty="0"/>
              <a:t>2. </a:t>
            </a:r>
            <a:r>
              <a:rPr lang="zh-CN" altLang="en-US" b="1" dirty="0"/>
              <a:t>工作原理</a:t>
            </a:r>
            <a:br>
              <a:rPr lang="zh-CN" altLang="en-US" b="1" dirty="0"/>
            </a:br>
            <a:r>
              <a:rPr lang="zh-CN" altLang="en-US" b="1" dirty="0" smtClean="0"/>
              <a:t>　　</a:t>
            </a:r>
            <a:r>
              <a:rPr lang="zh-CN" altLang="en-US" dirty="0" smtClean="0"/>
              <a:t>下</a:t>
            </a:r>
            <a:r>
              <a:rPr lang="zh-CN" altLang="en-US" dirty="0"/>
              <a:t>面分析图 </a:t>
            </a:r>
            <a:r>
              <a:rPr lang="en-US" altLang="zh-CN" dirty="0" smtClean="0"/>
              <a:t>8</a:t>
            </a:r>
            <a:r>
              <a:rPr lang="zh-CN" altLang="en-US" dirty="0" smtClean="0"/>
              <a:t>－</a:t>
            </a:r>
            <a:r>
              <a:rPr lang="en-US" altLang="zh-CN" dirty="0" smtClean="0"/>
              <a:t>1 </a:t>
            </a:r>
            <a:r>
              <a:rPr lang="zh-CN" altLang="en-US" dirty="0"/>
              <a:t>所示权电阻 </a:t>
            </a:r>
            <a:r>
              <a:rPr lang="en-US" altLang="zh-CN" dirty="0"/>
              <a:t>D / A </a:t>
            </a:r>
            <a:r>
              <a:rPr lang="zh-CN" altLang="en-US" dirty="0"/>
              <a:t>转换器输出的模拟电压和输入数字信号之间的</a:t>
            </a:r>
            <a:r>
              <a:rPr lang="zh-CN" altLang="en-US" dirty="0" smtClean="0"/>
              <a:t>关系</a:t>
            </a:r>
            <a:r>
              <a:rPr lang="zh-CN" altLang="en-US" dirty="0"/>
              <a:t>。在假设运算放大器输入电流为零的条件下可以得到</a:t>
            </a:r>
            <a:r>
              <a:rPr lang="en-US" altLang="zh-CN" dirty="0"/>
              <a:t>:</a:t>
            </a:r>
            <a:endParaRPr lang="zh-CN" altLang="zh-CN" dirty="0"/>
          </a:p>
        </p:txBody>
      </p:sp>
      <p:sp>
        <p:nvSpPr>
          <p:cNvPr id="36966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3068960"/>
            <a:ext cx="5792009" cy="1295581"/>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0312" y="3359424"/>
            <a:ext cx="971686" cy="4191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lstStyle/>
          <a:p>
            <a:r>
              <a:rPr lang="en-US" altLang="zh-CN" dirty="0" smtClean="0"/>
              <a:t/>
            </a:r>
            <a:br>
              <a:rPr lang="en-US" altLang="zh-CN" dirty="0" smtClean="0"/>
            </a:br>
            <a:r>
              <a:rPr lang="zh-CN" altLang="en-US" dirty="0" smtClean="0"/>
              <a:t>取 </a:t>
            </a:r>
            <a:r>
              <a:rPr lang="en-US" altLang="zh-CN" i="1" dirty="0"/>
              <a:t>R </a:t>
            </a:r>
            <a:r>
              <a:rPr lang="en-US" altLang="zh-CN" i="1" baseline="-25000" dirty="0"/>
              <a:t>F</a:t>
            </a:r>
            <a:r>
              <a:rPr lang="en-US" altLang="zh-CN" i="1" dirty="0"/>
              <a:t> = R / 2 </a:t>
            </a:r>
            <a:r>
              <a:rPr lang="zh-CN" altLang="en-US" dirty="0" smtClean="0"/>
              <a:t>，则得</a:t>
            </a:r>
            <a:r>
              <a:rPr lang="zh-CN" altLang="en-US" dirty="0"/>
              <a:t>到</a:t>
            </a:r>
            <a:r>
              <a:rPr lang="en-US" altLang="zh-CN" dirty="0" smtClean="0"/>
              <a:t>:</a:t>
            </a:r>
            <a:br>
              <a:rPr lang="en-US" altLang="zh-CN" dirty="0" smtClean="0"/>
            </a:br>
            <a:r>
              <a:rPr lang="en-US" altLang="zh-CN" dirty="0"/>
              <a:t/>
            </a:r>
            <a:br>
              <a:rPr lang="en-US" altLang="zh-CN" dirty="0"/>
            </a:br>
            <a:r>
              <a:rPr lang="en-US" altLang="zh-CN" dirty="0" smtClean="0"/>
              <a:t/>
            </a:r>
            <a:br>
              <a:rPr lang="en-US" altLang="zh-CN" dirty="0" smtClean="0"/>
            </a:br>
            <a:r>
              <a:rPr lang="zh-CN" altLang="en-US" dirty="0" smtClean="0"/>
              <a:t>　　对</a:t>
            </a:r>
            <a:r>
              <a:rPr lang="zh-CN" altLang="en-US" dirty="0"/>
              <a:t>于 </a:t>
            </a:r>
            <a:r>
              <a:rPr lang="en-US" altLang="zh-CN" i="1" dirty="0"/>
              <a:t>n</a:t>
            </a:r>
            <a:r>
              <a:rPr lang="en-US" altLang="zh-CN" dirty="0"/>
              <a:t> </a:t>
            </a:r>
            <a:r>
              <a:rPr lang="zh-CN" altLang="en-US" dirty="0"/>
              <a:t>位的权电阻网络 </a:t>
            </a:r>
            <a:r>
              <a:rPr lang="en-US" altLang="zh-CN" dirty="0"/>
              <a:t>D / A </a:t>
            </a:r>
            <a:r>
              <a:rPr lang="zh-CN" altLang="en-US" dirty="0"/>
              <a:t>转换</a:t>
            </a:r>
            <a:r>
              <a:rPr lang="zh-CN" altLang="en-US" dirty="0" smtClean="0"/>
              <a:t>器，当</a:t>
            </a:r>
            <a:r>
              <a:rPr lang="zh-CN" altLang="en-US" dirty="0"/>
              <a:t>反馈电阻取为 </a:t>
            </a:r>
            <a:r>
              <a:rPr lang="en-US" altLang="zh-CN" dirty="0"/>
              <a:t>R / 2 </a:t>
            </a:r>
            <a:r>
              <a:rPr lang="zh-CN" altLang="en-US" dirty="0" smtClean="0"/>
              <a:t>时，输</a:t>
            </a:r>
            <a:r>
              <a:rPr lang="zh-CN" altLang="en-US" dirty="0"/>
              <a:t>出电压的计算公</a:t>
            </a:r>
            <a:r>
              <a:rPr lang="zh-CN" altLang="en-US" dirty="0" smtClean="0"/>
              <a:t>式可</a:t>
            </a:r>
            <a:r>
              <a:rPr lang="zh-CN" altLang="en-US" dirty="0"/>
              <a:t>写成</a:t>
            </a:r>
            <a:r>
              <a:rPr lang="en-US" altLang="zh-CN" dirty="0" smtClean="0"/>
              <a:t>:</a:t>
            </a:r>
            <a:br>
              <a:rPr lang="en-US" altLang="zh-CN" dirty="0" smtClean="0"/>
            </a:br>
            <a:r>
              <a:rPr lang="en-US" altLang="zh-CN" dirty="0"/>
              <a:t/>
            </a:r>
            <a:br>
              <a:rPr lang="en-US" altLang="zh-CN" dirty="0"/>
            </a:br>
            <a:r>
              <a:rPr lang="en-US" altLang="zh-CN" dirty="0" smtClean="0"/>
              <a:t/>
            </a:r>
            <a:br>
              <a:rPr lang="en-US" altLang="zh-CN" dirty="0" smtClean="0"/>
            </a:br>
            <a:r>
              <a:rPr lang="zh-CN" altLang="en-US" dirty="0" smtClean="0"/>
              <a:t>　　</a:t>
            </a:r>
            <a:r>
              <a:rPr lang="en-US" altLang="zh-CN" dirty="0" smtClean="0"/>
              <a:t/>
            </a:r>
            <a:br>
              <a:rPr lang="en-US" altLang="zh-CN" dirty="0" smtClean="0"/>
            </a:br>
            <a:r>
              <a:rPr lang="zh-CN" altLang="en-US" dirty="0"/>
              <a:t>　</a:t>
            </a:r>
            <a:r>
              <a:rPr lang="zh-CN" altLang="en-US" dirty="0" smtClean="0"/>
              <a:t>　上</a:t>
            </a:r>
            <a:r>
              <a:rPr lang="zh-CN" altLang="en-US" dirty="0"/>
              <a:t>式表</a:t>
            </a:r>
            <a:r>
              <a:rPr lang="zh-CN" altLang="en-US" dirty="0" smtClean="0"/>
              <a:t>明，输</a:t>
            </a:r>
            <a:r>
              <a:rPr lang="zh-CN" altLang="en-US" dirty="0"/>
              <a:t>出的电压正比于输入的数字</a:t>
            </a:r>
            <a:r>
              <a:rPr lang="zh-CN" altLang="en-US" dirty="0" smtClean="0"/>
              <a:t>量，从</a:t>
            </a:r>
            <a:r>
              <a:rPr lang="zh-CN" altLang="en-US" dirty="0"/>
              <a:t>而实现了从数字量到模拟量的转换。</a:t>
            </a:r>
            <a:endParaRPr lang="zh-CN" altLang="zh-CN" dirty="0"/>
          </a:p>
        </p:txBody>
      </p:sp>
      <p:sp>
        <p:nvSpPr>
          <p:cNvPr id="37069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1628800"/>
            <a:ext cx="4963218" cy="819264"/>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2320" y="1828852"/>
            <a:ext cx="885949" cy="419159"/>
          </a:xfrm>
          <a:prstGeom prst="rect">
            <a:avLst/>
          </a:prstGeom>
        </p:spPr>
      </p:pic>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1899" y="3448493"/>
            <a:ext cx="5525277" cy="1436914"/>
          </a:xfrm>
          <a:prstGeom prst="rect">
            <a:avLst/>
          </a:prstGeom>
        </p:spPr>
      </p:pic>
      <p:pic>
        <p:nvPicPr>
          <p:cNvPr id="5" name="图片 4"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2320" y="3867093"/>
            <a:ext cx="857370" cy="3810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en-US" altLang="zh-CN" b="1" dirty="0"/>
              <a:t>【</a:t>
            </a:r>
            <a:r>
              <a:rPr lang="zh-CN" altLang="en-US" b="1" dirty="0"/>
              <a:t>例 </a:t>
            </a:r>
            <a:r>
              <a:rPr lang="en-US" altLang="zh-CN" b="1" dirty="0" smtClean="0"/>
              <a:t>8.1 </a:t>
            </a:r>
            <a:r>
              <a:rPr lang="en-US" altLang="zh-CN" b="1" dirty="0"/>
              <a:t>】</a:t>
            </a:r>
            <a:r>
              <a:rPr lang="en-US" altLang="zh-CN" dirty="0"/>
              <a:t> </a:t>
            </a:r>
            <a:r>
              <a:rPr lang="zh-CN" altLang="en-US" dirty="0"/>
              <a:t>在图 </a:t>
            </a:r>
            <a:r>
              <a:rPr lang="en-US" altLang="zh-CN" dirty="0" smtClean="0"/>
              <a:t>8</a:t>
            </a:r>
            <a:r>
              <a:rPr lang="zh-CN" altLang="en-US" dirty="0" smtClean="0"/>
              <a:t>－</a:t>
            </a:r>
            <a:r>
              <a:rPr lang="en-US" altLang="zh-CN" dirty="0" smtClean="0"/>
              <a:t>1 </a:t>
            </a:r>
            <a:r>
              <a:rPr lang="zh-CN" altLang="en-US" dirty="0"/>
              <a:t>所示权电阻网络 </a:t>
            </a:r>
            <a:r>
              <a:rPr lang="en-US" altLang="zh-CN" dirty="0"/>
              <a:t>D / A </a:t>
            </a:r>
            <a:r>
              <a:rPr lang="zh-CN" altLang="en-US" dirty="0"/>
              <a:t>转换器</a:t>
            </a:r>
            <a:r>
              <a:rPr lang="zh-CN" altLang="en-US" dirty="0" smtClean="0"/>
              <a:t>中，设 </a:t>
            </a:r>
            <a:r>
              <a:rPr lang="en-US" altLang="zh-CN" dirty="0"/>
              <a:t>U </a:t>
            </a:r>
            <a:r>
              <a:rPr lang="en-US" altLang="zh-CN" baseline="-25000" dirty="0"/>
              <a:t>REF</a:t>
            </a:r>
            <a:r>
              <a:rPr lang="en-US" altLang="zh-CN" dirty="0"/>
              <a:t> =-8V </a:t>
            </a:r>
            <a:r>
              <a:rPr lang="zh-CN" altLang="en-US" dirty="0" smtClean="0"/>
              <a:t>，</a:t>
            </a:r>
            <a:r>
              <a:rPr lang="en-US" altLang="zh-CN" dirty="0" smtClean="0"/>
              <a:t> </a:t>
            </a:r>
            <a:r>
              <a:rPr lang="en-US" altLang="zh-CN" dirty="0"/>
              <a:t>R </a:t>
            </a:r>
            <a:r>
              <a:rPr lang="en-US" altLang="zh-CN" baseline="-25000" dirty="0"/>
              <a:t>F </a:t>
            </a:r>
            <a:r>
              <a:rPr lang="en-US" altLang="zh-CN" dirty="0"/>
              <a:t>= R / 2 </a:t>
            </a:r>
            <a:r>
              <a:rPr lang="zh-CN" altLang="en-US" dirty="0" smtClean="0"/>
              <a:t>，试</a:t>
            </a:r>
            <a:r>
              <a:rPr lang="zh-CN" altLang="en-US" dirty="0"/>
              <a:t>求</a:t>
            </a:r>
            <a:r>
              <a:rPr lang="en-US" altLang="zh-CN" dirty="0" smtClean="0"/>
              <a:t>:</a:t>
            </a:r>
            <a:br>
              <a:rPr lang="en-US" altLang="zh-CN" dirty="0" smtClean="0"/>
            </a:br>
            <a:r>
              <a:rPr lang="zh-CN" altLang="en-US" dirty="0"/>
              <a:t>　　 </a:t>
            </a:r>
            <a:r>
              <a:rPr lang="en-US" altLang="zh-CN" dirty="0" smtClean="0"/>
              <a:t>(1)</a:t>
            </a:r>
            <a:r>
              <a:rPr lang="zh-CN" altLang="en-US" dirty="0"/>
              <a:t>当输入数字量 </a:t>
            </a:r>
            <a:r>
              <a:rPr lang="en-US" altLang="zh-CN" i="1" dirty="0"/>
              <a:t>d </a:t>
            </a:r>
            <a:r>
              <a:rPr lang="en-US" altLang="zh-CN" i="1" baseline="-25000" dirty="0"/>
              <a:t>3</a:t>
            </a:r>
            <a:r>
              <a:rPr lang="en-US" altLang="zh-CN" i="1" dirty="0"/>
              <a:t> d </a:t>
            </a:r>
            <a:r>
              <a:rPr lang="en-US" altLang="zh-CN" i="1" baseline="-25000" dirty="0"/>
              <a:t>2</a:t>
            </a:r>
            <a:r>
              <a:rPr lang="en-US" altLang="zh-CN" i="1" dirty="0"/>
              <a:t> d </a:t>
            </a:r>
            <a:r>
              <a:rPr lang="en-US" altLang="zh-CN" i="1" baseline="-25000" dirty="0"/>
              <a:t>1</a:t>
            </a:r>
            <a:r>
              <a:rPr lang="en-US" altLang="zh-CN" i="1" dirty="0"/>
              <a:t> d </a:t>
            </a:r>
            <a:r>
              <a:rPr lang="en-US" altLang="zh-CN" i="1" baseline="-25000" dirty="0"/>
              <a:t>0</a:t>
            </a:r>
            <a:r>
              <a:rPr lang="en-US" altLang="zh-CN" i="1" dirty="0"/>
              <a:t> </a:t>
            </a:r>
            <a:r>
              <a:rPr lang="en-US" altLang="zh-CN" dirty="0" smtClean="0"/>
              <a:t>=</a:t>
            </a:r>
            <a:r>
              <a:rPr lang="en-US" altLang="zh-CN" dirty="0"/>
              <a:t>0001 </a:t>
            </a:r>
            <a:r>
              <a:rPr lang="zh-CN" altLang="en-US" dirty="0"/>
              <a:t>时的输出电压值。</a:t>
            </a:r>
            <a:br>
              <a:rPr lang="zh-CN" altLang="en-US" dirty="0"/>
            </a:br>
            <a:r>
              <a:rPr lang="zh-CN" altLang="en-US" dirty="0" smtClean="0"/>
              <a:t>　　</a:t>
            </a:r>
            <a:r>
              <a:rPr lang="en-US" altLang="zh-CN" dirty="0" smtClean="0"/>
              <a:t>(2)</a:t>
            </a:r>
            <a:r>
              <a:rPr lang="zh-CN" altLang="en-US" dirty="0"/>
              <a:t>当输入数字量 </a:t>
            </a:r>
            <a:r>
              <a:rPr lang="en-US" altLang="zh-CN" dirty="0"/>
              <a:t>d</a:t>
            </a:r>
            <a:r>
              <a:rPr lang="en-US" altLang="zh-CN" i="1" dirty="0"/>
              <a:t> </a:t>
            </a:r>
            <a:r>
              <a:rPr lang="en-US" altLang="zh-CN" i="1" baseline="-25000" dirty="0"/>
              <a:t>3</a:t>
            </a:r>
            <a:r>
              <a:rPr lang="en-US" altLang="zh-CN" i="1" dirty="0"/>
              <a:t> d </a:t>
            </a:r>
            <a:r>
              <a:rPr lang="en-US" altLang="zh-CN" i="1" baseline="-25000" dirty="0"/>
              <a:t>2</a:t>
            </a:r>
            <a:r>
              <a:rPr lang="en-US" altLang="zh-CN" i="1" dirty="0"/>
              <a:t> d </a:t>
            </a:r>
            <a:r>
              <a:rPr lang="en-US" altLang="zh-CN" i="1" baseline="-25000" dirty="0"/>
              <a:t>1</a:t>
            </a:r>
            <a:r>
              <a:rPr lang="en-US" altLang="zh-CN" i="1" dirty="0"/>
              <a:t> d </a:t>
            </a:r>
            <a:r>
              <a:rPr lang="en-US" altLang="zh-CN" i="1" baseline="-25000" dirty="0"/>
              <a:t>0</a:t>
            </a:r>
            <a:r>
              <a:rPr lang="en-US" altLang="zh-CN" i="1" dirty="0"/>
              <a:t> </a:t>
            </a:r>
            <a:r>
              <a:rPr lang="en-US" altLang="zh-CN" dirty="0"/>
              <a:t>=0101 </a:t>
            </a:r>
            <a:r>
              <a:rPr lang="zh-CN" altLang="en-US" dirty="0"/>
              <a:t>时的输出电压值。</a:t>
            </a:r>
            <a:br>
              <a:rPr lang="zh-CN" altLang="en-US" dirty="0"/>
            </a:br>
            <a:r>
              <a:rPr lang="zh-CN" altLang="en-US" dirty="0" smtClean="0"/>
              <a:t>　　</a:t>
            </a:r>
            <a:r>
              <a:rPr lang="en-US" altLang="zh-CN" dirty="0" smtClean="0"/>
              <a:t>(3)</a:t>
            </a:r>
            <a:r>
              <a:rPr lang="zh-CN" altLang="en-US" dirty="0"/>
              <a:t>当输入最大数字量时的输出电压值。</a:t>
            </a:r>
            <a:endParaRPr lang="zh-CN" altLang="zh-CN" dirty="0"/>
          </a:p>
        </p:txBody>
      </p:sp>
      <p:sp>
        <p:nvSpPr>
          <p:cNvPr id="3717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a:xfrm>
            <a:off x="571500" y="387626"/>
            <a:ext cx="8115300" cy="5638800"/>
          </a:xfrm>
        </p:spPr>
        <p:txBody>
          <a:bodyPr/>
          <a:lstStyle/>
          <a:p>
            <a:pPr>
              <a:lnSpc>
                <a:spcPct val="120000"/>
              </a:lnSpc>
            </a:pPr>
            <a:r>
              <a:rPr lang="en-US" altLang="zh-CN" dirty="0" smtClean="0"/>
              <a:t/>
            </a:r>
            <a:br>
              <a:rPr lang="en-US" altLang="zh-CN" dirty="0" smtClean="0"/>
            </a:br>
            <a:r>
              <a:rPr lang="zh-CN" altLang="en-US" dirty="0"/>
              <a:t>　　</a:t>
            </a:r>
            <a:r>
              <a:rPr lang="zh-CN" altLang="en-US" b="1" dirty="0"/>
              <a:t>解</a:t>
            </a:r>
            <a:r>
              <a:rPr lang="zh-CN" altLang="en-US" dirty="0"/>
              <a:t> </a:t>
            </a:r>
            <a:r>
              <a:rPr lang="en-US" altLang="zh-CN" dirty="0"/>
              <a:t>( 1 )</a:t>
            </a:r>
            <a:r>
              <a:rPr lang="zh-CN" altLang="en-US" dirty="0"/>
              <a:t>根据式</a:t>
            </a:r>
            <a:r>
              <a:rPr lang="en-US" altLang="zh-CN" dirty="0"/>
              <a:t>( </a:t>
            </a:r>
            <a:r>
              <a:rPr lang="en-US" altLang="zh-CN" dirty="0" smtClean="0"/>
              <a:t>8.2</a:t>
            </a:r>
            <a:r>
              <a:rPr lang="en-US" altLang="zh-CN" dirty="0"/>
              <a:t>. 2 </a:t>
            </a:r>
            <a:r>
              <a:rPr lang="en-US" altLang="zh-CN" dirty="0" smtClean="0"/>
              <a:t>)</a:t>
            </a:r>
            <a:r>
              <a:rPr lang="zh-CN" altLang="en-US" dirty="0" smtClean="0"/>
              <a:t>，可</a:t>
            </a:r>
            <a:r>
              <a:rPr lang="zh-CN" altLang="en-US" dirty="0"/>
              <a:t>求得输入数字量 </a:t>
            </a:r>
            <a:r>
              <a:rPr lang="en-US" altLang="zh-CN" i="1" dirty="0"/>
              <a:t>d </a:t>
            </a:r>
            <a:r>
              <a:rPr lang="en-US" altLang="zh-CN" i="1" baseline="-25000" dirty="0"/>
              <a:t>3</a:t>
            </a:r>
            <a:r>
              <a:rPr lang="en-US" altLang="zh-CN" i="1" dirty="0"/>
              <a:t> d </a:t>
            </a:r>
            <a:r>
              <a:rPr lang="en-US" altLang="zh-CN" i="1" baseline="-25000" dirty="0"/>
              <a:t>2</a:t>
            </a:r>
            <a:r>
              <a:rPr lang="en-US" altLang="zh-CN" i="1" dirty="0"/>
              <a:t> d </a:t>
            </a:r>
            <a:r>
              <a:rPr lang="en-US" altLang="zh-CN" i="1" baseline="-25000" dirty="0"/>
              <a:t>1</a:t>
            </a:r>
            <a:r>
              <a:rPr lang="en-US" altLang="zh-CN" i="1" dirty="0"/>
              <a:t> d </a:t>
            </a:r>
            <a:r>
              <a:rPr lang="en-US" altLang="zh-CN" i="1" baseline="-25000" dirty="0"/>
              <a:t>0</a:t>
            </a:r>
            <a:r>
              <a:rPr lang="en-US" altLang="zh-CN" i="1" dirty="0"/>
              <a:t> </a:t>
            </a:r>
            <a:r>
              <a:rPr lang="en-US" altLang="zh-CN" dirty="0" smtClean="0"/>
              <a:t>=</a:t>
            </a:r>
            <a:r>
              <a:rPr lang="en-US" altLang="zh-CN" dirty="0"/>
              <a:t>0001 </a:t>
            </a:r>
            <a:r>
              <a:rPr lang="zh-CN" altLang="en-US" dirty="0"/>
              <a:t>时的输出电压</a:t>
            </a:r>
            <a:r>
              <a:rPr lang="zh-CN" altLang="en-US" dirty="0" smtClean="0"/>
              <a:t>为</a:t>
            </a:r>
            <a:r>
              <a:rPr lang="en-US" altLang="zh-CN" dirty="0" smtClean="0"/>
              <a:t/>
            </a:r>
            <a:br>
              <a:rPr lang="en-US" altLang="zh-CN" dirty="0" smtClean="0"/>
            </a:br>
            <a:r>
              <a:rPr lang="en-US" altLang="zh-CN" dirty="0"/>
              <a:t/>
            </a:r>
            <a:br>
              <a:rPr lang="en-US" altLang="zh-CN" dirty="0"/>
            </a:br>
            <a:r>
              <a:rPr lang="zh-CN" altLang="en-US" dirty="0" smtClean="0"/>
              <a:t>　　</a:t>
            </a:r>
            <a:r>
              <a:rPr lang="en-US" altLang="zh-CN" dirty="0" smtClean="0"/>
              <a:t/>
            </a:r>
            <a:br>
              <a:rPr lang="en-US" altLang="zh-CN" dirty="0" smtClean="0"/>
            </a:br>
            <a:r>
              <a:rPr lang="zh-CN" altLang="en-US" dirty="0"/>
              <a:t>　</a:t>
            </a:r>
            <a:r>
              <a:rPr lang="zh-CN" altLang="en-US" dirty="0" smtClean="0"/>
              <a:t>　</a:t>
            </a:r>
            <a:r>
              <a:rPr lang="en-US" altLang="zh-CN" dirty="0" smtClean="0"/>
              <a:t>(2)</a:t>
            </a:r>
            <a:r>
              <a:rPr lang="zh-CN" altLang="en-US" dirty="0"/>
              <a:t>根据式</a:t>
            </a:r>
            <a:r>
              <a:rPr lang="en-US" altLang="zh-CN" dirty="0"/>
              <a:t>( 8. 2. 2 </a:t>
            </a:r>
            <a:r>
              <a:rPr lang="en-US" altLang="zh-CN" dirty="0" smtClean="0"/>
              <a:t>)</a:t>
            </a:r>
            <a:r>
              <a:rPr lang="zh-CN" altLang="en-US" dirty="0" smtClean="0"/>
              <a:t>，可</a:t>
            </a:r>
            <a:r>
              <a:rPr lang="zh-CN" altLang="en-US" dirty="0"/>
              <a:t>求得输入数</a:t>
            </a:r>
            <a:r>
              <a:rPr lang="zh-CN" altLang="en-US" dirty="0" smtClean="0"/>
              <a:t>字</a:t>
            </a:r>
            <a:r>
              <a:rPr lang="en-US" altLang="zh-CN" i="1" dirty="0"/>
              <a:t>d </a:t>
            </a:r>
            <a:r>
              <a:rPr lang="en-US" altLang="zh-CN" i="1" baseline="-25000" dirty="0"/>
              <a:t>3</a:t>
            </a:r>
            <a:r>
              <a:rPr lang="en-US" altLang="zh-CN" i="1" dirty="0"/>
              <a:t> d </a:t>
            </a:r>
            <a:r>
              <a:rPr lang="en-US" altLang="zh-CN" i="1" baseline="-25000" dirty="0"/>
              <a:t>2</a:t>
            </a:r>
            <a:r>
              <a:rPr lang="en-US" altLang="zh-CN" i="1" dirty="0"/>
              <a:t> d </a:t>
            </a:r>
            <a:r>
              <a:rPr lang="en-US" altLang="zh-CN" i="1" baseline="-25000" dirty="0"/>
              <a:t>1</a:t>
            </a:r>
            <a:r>
              <a:rPr lang="en-US" altLang="zh-CN" i="1" dirty="0"/>
              <a:t> d </a:t>
            </a:r>
            <a:r>
              <a:rPr lang="en-US" altLang="zh-CN" i="1" baseline="-25000" dirty="0"/>
              <a:t>0</a:t>
            </a:r>
            <a:r>
              <a:rPr lang="en-US" altLang="zh-CN" i="1" dirty="0"/>
              <a:t> </a:t>
            </a:r>
            <a:r>
              <a:rPr lang="en-US" altLang="zh-CN" dirty="0" smtClean="0"/>
              <a:t>=</a:t>
            </a:r>
            <a:r>
              <a:rPr lang="en-US" altLang="zh-CN" dirty="0"/>
              <a:t>0101 </a:t>
            </a:r>
            <a:r>
              <a:rPr lang="zh-CN" altLang="en-US" dirty="0"/>
              <a:t>时的输出电压</a:t>
            </a:r>
            <a:r>
              <a:rPr lang="zh-CN" altLang="en-US" dirty="0" smtClean="0"/>
              <a:t>为</a:t>
            </a:r>
            <a:r>
              <a:rPr lang="en-US" altLang="zh-CN" dirty="0" smtClean="0"/>
              <a:t/>
            </a:r>
            <a:br>
              <a:rPr lang="en-US" altLang="zh-CN" dirty="0" smtClean="0"/>
            </a:br>
            <a:r>
              <a:rPr lang="en-US" altLang="zh-CN" dirty="0"/>
              <a:t/>
            </a:r>
            <a:br>
              <a:rPr lang="en-US" altLang="zh-CN" dirty="0"/>
            </a:br>
            <a:r>
              <a:rPr lang="zh-CN" altLang="en-US" dirty="0" smtClean="0"/>
              <a:t>　　</a:t>
            </a:r>
            <a:r>
              <a:rPr lang="en-US" altLang="zh-CN" dirty="0" smtClean="0"/>
              <a:t/>
            </a:r>
            <a:br>
              <a:rPr lang="en-US" altLang="zh-CN" dirty="0" smtClean="0"/>
            </a:br>
            <a:r>
              <a:rPr lang="zh-CN" altLang="en-US" dirty="0"/>
              <a:t>　</a:t>
            </a:r>
            <a:r>
              <a:rPr lang="zh-CN" altLang="en-US" dirty="0" smtClean="0"/>
              <a:t>　</a:t>
            </a:r>
            <a:r>
              <a:rPr lang="en-US" altLang="zh-CN" dirty="0" smtClean="0"/>
              <a:t>(3)</a:t>
            </a:r>
            <a:r>
              <a:rPr lang="zh-CN" altLang="en-US" dirty="0"/>
              <a:t>根据式</a:t>
            </a:r>
            <a:r>
              <a:rPr lang="en-US" altLang="zh-CN" dirty="0"/>
              <a:t>( 8. 2. 2 </a:t>
            </a:r>
            <a:r>
              <a:rPr lang="en-US" altLang="zh-CN" dirty="0" smtClean="0"/>
              <a:t>)</a:t>
            </a:r>
            <a:r>
              <a:rPr lang="zh-CN" altLang="en-US" dirty="0" smtClean="0"/>
              <a:t>，可</a:t>
            </a:r>
            <a:r>
              <a:rPr lang="zh-CN" altLang="en-US" dirty="0"/>
              <a:t>求得输入最大数字量 </a:t>
            </a:r>
            <a:r>
              <a:rPr lang="en-US" altLang="zh-CN" i="1" dirty="0"/>
              <a:t>d </a:t>
            </a:r>
            <a:r>
              <a:rPr lang="en-US" altLang="zh-CN" i="1" baseline="-25000" dirty="0"/>
              <a:t>3</a:t>
            </a:r>
            <a:r>
              <a:rPr lang="en-US" altLang="zh-CN" i="1" dirty="0"/>
              <a:t> d </a:t>
            </a:r>
            <a:r>
              <a:rPr lang="en-US" altLang="zh-CN" i="1" baseline="-25000" dirty="0"/>
              <a:t>2</a:t>
            </a:r>
            <a:r>
              <a:rPr lang="en-US" altLang="zh-CN" i="1" dirty="0"/>
              <a:t> d </a:t>
            </a:r>
            <a:r>
              <a:rPr lang="en-US" altLang="zh-CN" i="1" baseline="-25000" dirty="0"/>
              <a:t>1</a:t>
            </a:r>
            <a:r>
              <a:rPr lang="en-US" altLang="zh-CN" i="1" dirty="0"/>
              <a:t> d </a:t>
            </a:r>
            <a:r>
              <a:rPr lang="en-US" altLang="zh-CN" i="1" baseline="-25000" dirty="0"/>
              <a:t>0</a:t>
            </a:r>
            <a:r>
              <a:rPr lang="en-US" altLang="zh-CN" i="1" dirty="0"/>
              <a:t> </a:t>
            </a:r>
            <a:r>
              <a:rPr lang="en-US" altLang="zh-CN" dirty="0" smtClean="0"/>
              <a:t>=</a:t>
            </a:r>
            <a:r>
              <a:rPr lang="en-US" altLang="zh-CN" dirty="0"/>
              <a:t>1111 </a:t>
            </a:r>
            <a:r>
              <a:rPr lang="zh-CN" altLang="en-US" dirty="0"/>
              <a:t>时的输出电压为</a:t>
            </a:r>
            <a:endParaRPr lang="zh-CN" altLang="zh-CN" dirty="0"/>
          </a:p>
        </p:txBody>
      </p:sp>
      <p:sp>
        <p:nvSpPr>
          <p:cNvPr id="37273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214" y="1844824"/>
            <a:ext cx="5473073" cy="771613"/>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214" y="3573016"/>
            <a:ext cx="5982535" cy="714475"/>
          </a:xfrm>
          <a:prstGeom prst="rect">
            <a:avLst/>
          </a:prstGeom>
        </p:spPr>
      </p:pic>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6476" y="5229200"/>
            <a:ext cx="5792009" cy="7335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权电阻网络 </a:t>
            </a:r>
            <a:r>
              <a:rPr lang="en-US" altLang="zh-CN" dirty="0"/>
              <a:t>D / A </a:t>
            </a:r>
            <a:r>
              <a:rPr lang="zh-CN" altLang="en-US" dirty="0"/>
              <a:t>转换器的优点是电路结构比较简</a:t>
            </a:r>
            <a:r>
              <a:rPr lang="zh-CN" altLang="en-US" dirty="0" smtClean="0"/>
              <a:t>单，所</a:t>
            </a:r>
            <a:r>
              <a:rPr lang="zh-CN" altLang="en-US" dirty="0"/>
              <a:t>用的电阻元件数较少。它的</a:t>
            </a:r>
            <a:r>
              <a:rPr lang="zh-CN" altLang="en-US" dirty="0" smtClean="0"/>
              <a:t>缺点</a:t>
            </a:r>
            <a:r>
              <a:rPr lang="zh-CN" altLang="en-US" dirty="0"/>
              <a:t>是各个电阻的阻值相差比较</a:t>
            </a:r>
            <a:r>
              <a:rPr lang="zh-CN" altLang="en-US" dirty="0" smtClean="0"/>
              <a:t>大，尤</a:t>
            </a:r>
            <a:r>
              <a:rPr lang="zh-CN" altLang="en-US" dirty="0"/>
              <a:t>其是在输入信号的位数较多</a:t>
            </a:r>
            <a:r>
              <a:rPr lang="zh-CN" altLang="en-US" dirty="0" smtClean="0"/>
              <a:t>时，这</a:t>
            </a:r>
            <a:r>
              <a:rPr lang="zh-CN" altLang="en-US" dirty="0"/>
              <a:t>个问题更突出。</a:t>
            </a:r>
            <a:r>
              <a:rPr lang="zh-CN" altLang="en-US" dirty="0" smtClean="0"/>
              <a:t>例如</a:t>
            </a:r>
            <a:r>
              <a:rPr lang="zh-CN" altLang="en-US" dirty="0"/>
              <a:t>当输入信号增加到八位</a:t>
            </a:r>
            <a:r>
              <a:rPr lang="zh-CN" altLang="en-US" dirty="0" smtClean="0"/>
              <a:t>时，如</a:t>
            </a:r>
            <a:r>
              <a:rPr lang="zh-CN" altLang="en-US" dirty="0"/>
              <a:t>果取权电阻网络中最小的电阻为 </a:t>
            </a:r>
            <a:r>
              <a:rPr lang="en-US" altLang="zh-CN" dirty="0"/>
              <a:t>R =10kΩ </a:t>
            </a:r>
            <a:r>
              <a:rPr lang="zh-CN" altLang="en-US" dirty="0" smtClean="0"/>
              <a:t>，那</a:t>
            </a:r>
            <a:r>
              <a:rPr lang="zh-CN" altLang="en-US" dirty="0"/>
              <a:t>么最大</a:t>
            </a:r>
            <a:r>
              <a:rPr lang="zh-CN" altLang="en-US" dirty="0" smtClean="0"/>
              <a:t>的电</a:t>
            </a:r>
            <a:r>
              <a:rPr lang="zh-CN" altLang="en-US" dirty="0"/>
              <a:t>阻阻值将达到 </a:t>
            </a:r>
            <a:r>
              <a:rPr lang="en-US" altLang="zh-CN" dirty="0" smtClean="0"/>
              <a:t>2</a:t>
            </a:r>
            <a:r>
              <a:rPr lang="en-US" altLang="zh-CN" baseline="30000" dirty="0" smtClean="0"/>
              <a:t>7</a:t>
            </a:r>
            <a:r>
              <a:rPr lang="en-US" altLang="zh-CN" dirty="0" smtClean="0"/>
              <a:t>R </a:t>
            </a:r>
            <a:r>
              <a:rPr lang="en-US" altLang="zh-CN" dirty="0"/>
              <a:t>( =1. 28MΩ </a:t>
            </a:r>
            <a:r>
              <a:rPr lang="en-US" altLang="zh-CN" dirty="0" smtClean="0"/>
              <a:t>)</a:t>
            </a:r>
            <a:r>
              <a:rPr lang="zh-CN" altLang="en-US" dirty="0" smtClean="0"/>
              <a:t>，两</a:t>
            </a:r>
            <a:r>
              <a:rPr lang="zh-CN" altLang="en-US" dirty="0"/>
              <a:t>者相差 </a:t>
            </a:r>
            <a:r>
              <a:rPr lang="en-US" altLang="zh-CN" dirty="0"/>
              <a:t>128 </a:t>
            </a:r>
            <a:r>
              <a:rPr lang="zh-CN" altLang="en-US" dirty="0"/>
              <a:t>倍之多。要想在极为宽广的阻值范围</a:t>
            </a:r>
            <a:r>
              <a:rPr lang="zh-CN" altLang="en-US" dirty="0" smtClean="0"/>
              <a:t>内保</a:t>
            </a:r>
            <a:r>
              <a:rPr lang="zh-CN" altLang="en-US" dirty="0"/>
              <a:t>证每个电阻都有很高的精度是十分困难</a:t>
            </a:r>
            <a:r>
              <a:rPr lang="zh-CN" altLang="en-US" dirty="0" smtClean="0"/>
              <a:t>的，尤</a:t>
            </a:r>
            <a:r>
              <a:rPr lang="zh-CN" altLang="en-US" dirty="0"/>
              <a:t>其对制作集成电路更加不利。为了克服</a:t>
            </a:r>
            <a:r>
              <a:rPr lang="zh-CN" altLang="en-US" dirty="0" smtClean="0"/>
              <a:t>权电</a:t>
            </a:r>
            <a:r>
              <a:rPr lang="zh-CN" altLang="en-US" dirty="0"/>
              <a:t>阻网络 </a:t>
            </a:r>
            <a:r>
              <a:rPr lang="en-US" altLang="zh-CN" dirty="0"/>
              <a:t>D / A </a:t>
            </a:r>
            <a:r>
              <a:rPr lang="zh-CN" altLang="en-US" dirty="0"/>
              <a:t>转换器中电阻阻值相差太大的缺</a:t>
            </a:r>
            <a:r>
              <a:rPr lang="zh-CN" altLang="en-US" dirty="0" smtClean="0"/>
              <a:t>点，常</a:t>
            </a:r>
            <a:r>
              <a:rPr lang="zh-CN" altLang="en-US" dirty="0"/>
              <a:t>采用倒 </a:t>
            </a:r>
            <a:r>
              <a:rPr lang="en-US" altLang="zh-CN" dirty="0"/>
              <a:t>T </a:t>
            </a:r>
            <a:r>
              <a:rPr lang="zh-CN" altLang="en-US" dirty="0"/>
              <a:t>型电阻网络 </a:t>
            </a:r>
            <a:r>
              <a:rPr lang="en-US" altLang="zh-CN" dirty="0"/>
              <a:t>D / A </a:t>
            </a:r>
            <a:r>
              <a:rPr lang="zh-CN" altLang="en-US" dirty="0"/>
              <a:t>转换器。</a:t>
            </a:r>
            <a:endParaRPr lang="zh-CN" altLang="zh-CN" dirty="0"/>
          </a:p>
        </p:txBody>
      </p:sp>
      <p:sp>
        <p:nvSpPr>
          <p:cNvPr id="3737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p:txBody>
          <a:bodyPr/>
          <a:lstStyle/>
          <a:p>
            <a:r>
              <a:rPr lang="en-US" altLang="zh-CN" dirty="0"/>
              <a:t/>
            </a:r>
            <a:br>
              <a:rPr lang="en-US" altLang="zh-CN" dirty="0"/>
            </a:br>
            <a:r>
              <a:rPr lang="en-US" altLang="zh-CN" b="1" dirty="0"/>
              <a:t>8. 2. 2  </a:t>
            </a:r>
            <a:r>
              <a:rPr lang="zh-CN" altLang="en-US" b="1" dirty="0"/>
              <a:t>倒 </a:t>
            </a:r>
            <a:r>
              <a:rPr lang="en-US" altLang="zh-CN" b="1" dirty="0"/>
              <a:t>T </a:t>
            </a:r>
            <a:r>
              <a:rPr lang="zh-CN" altLang="en-US" b="1" dirty="0"/>
              <a:t>型电阻网络 </a:t>
            </a:r>
            <a:r>
              <a:rPr lang="en-US" altLang="zh-CN" b="1" dirty="0"/>
              <a:t>D / A </a:t>
            </a:r>
            <a:r>
              <a:rPr lang="zh-CN" altLang="en-US" b="1" dirty="0"/>
              <a:t>转换器</a:t>
            </a:r>
            <a:br>
              <a:rPr lang="zh-CN" altLang="en-US" b="1" dirty="0"/>
            </a:br>
            <a:r>
              <a:rPr lang="zh-CN" altLang="en-US" b="1" dirty="0" smtClean="0"/>
              <a:t>　　</a:t>
            </a:r>
            <a:r>
              <a:rPr lang="en-US" altLang="zh-CN" b="1" dirty="0" smtClean="0"/>
              <a:t>1</a:t>
            </a:r>
            <a:r>
              <a:rPr lang="en-US" altLang="zh-CN" b="1" dirty="0"/>
              <a:t>. </a:t>
            </a:r>
            <a:r>
              <a:rPr lang="zh-CN" altLang="en-US" b="1" dirty="0"/>
              <a:t>电路组成</a:t>
            </a:r>
            <a:br>
              <a:rPr lang="zh-CN" altLang="en-US" b="1" dirty="0"/>
            </a:br>
            <a:r>
              <a:rPr lang="zh-CN" altLang="en-US" b="1" dirty="0" smtClean="0"/>
              <a:t>　　</a:t>
            </a:r>
            <a:r>
              <a:rPr lang="zh-CN" altLang="en-US" dirty="0" smtClean="0"/>
              <a:t>图 </a:t>
            </a:r>
            <a:r>
              <a:rPr lang="en-US" altLang="zh-CN" dirty="0" smtClean="0"/>
              <a:t>8</a:t>
            </a:r>
            <a:r>
              <a:rPr lang="zh-CN" altLang="en-US" dirty="0" smtClean="0"/>
              <a:t>－</a:t>
            </a:r>
            <a:r>
              <a:rPr lang="en-US" altLang="zh-CN" dirty="0" smtClean="0"/>
              <a:t>2 </a:t>
            </a:r>
            <a:r>
              <a:rPr lang="zh-CN" altLang="en-US" dirty="0"/>
              <a:t>所示为四位 </a:t>
            </a:r>
            <a:r>
              <a:rPr lang="en-US" altLang="zh-CN" dirty="0"/>
              <a:t>R -2 R </a:t>
            </a:r>
            <a:r>
              <a:rPr lang="zh-CN" altLang="en-US" dirty="0"/>
              <a:t>倒 </a:t>
            </a:r>
            <a:r>
              <a:rPr lang="en-US" altLang="zh-CN" dirty="0"/>
              <a:t>T </a:t>
            </a:r>
            <a:r>
              <a:rPr lang="zh-CN" altLang="en-US" dirty="0"/>
              <a:t>型电阻网络 </a:t>
            </a:r>
            <a:r>
              <a:rPr lang="en-US" altLang="zh-CN" dirty="0"/>
              <a:t>D / A </a:t>
            </a:r>
            <a:r>
              <a:rPr lang="zh-CN" altLang="en-US" dirty="0"/>
              <a:t>转换器的原理图。和权电阻网</a:t>
            </a:r>
            <a:r>
              <a:rPr lang="zh-CN" altLang="en-US" dirty="0" smtClean="0"/>
              <a:t>络</a:t>
            </a:r>
            <a:r>
              <a:rPr lang="en-US" altLang="zh-CN" dirty="0" smtClean="0"/>
              <a:t>D </a:t>
            </a:r>
            <a:r>
              <a:rPr lang="en-US" altLang="zh-CN" dirty="0"/>
              <a:t>/ A </a:t>
            </a:r>
            <a:r>
              <a:rPr lang="zh-CN" altLang="en-US" dirty="0"/>
              <a:t>转换器相</a:t>
            </a:r>
            <a:r>
              <a:rPr lang="zh-CN" altLang="en-US" dirty="0" smtClean="0"/>
              <a:t>比，除</a:t>
            </a:r>
            <a:r>
              <a:rPr lang="zh-CN" altLang="en-US" dirty="0"/>
              <a:t>电阻网络结构呈倒 </a:t>
            </a:r>
            <a:r>
              <a:rPr lang="en-US" altLang="zh-CN" dirty="0"/>
              <a:t>T </a:t>
            </a:r>
            <a:r>
              <a:rPr lang="zh-CN" altLang="en-US" dirty="0"/>
              <a:t>型</a:t>
            </a:r>
            <a:r>
              <a:rPr lang="zh-CN" altLang="en-US" dirty="0" smtClean="0"/>
              <a:t>外，电</a:t>
            </a:r>
            <a:r>
              <a:rPr lang="zh-CN" altLang="en-US" dirty="0"/>
              <a:t>阻网络中只有 </a:t>
            </a:r>
            <a:r>
              <a:rPr lang="en-US" altLang="zh-CN" i="1" dirty="0"/>
              <a:t>R </a:t>
            </a:r>
            <a:r>
              <a:rPr lang="zh-CN" altLang="en-US" i="1" dirty="0" smtClean="0"/>
              <a:t>，</a:t>
            </a:r>
            <a:r>
              <a:rPr lang="en-US" altLang="zh-CN" i="1" dirty="0" smtClean="0"/>
              <a:t> </a:t>
            </a:r>
            <a:r>
              <a:rPr lang="en-US" altLang="zh-CN" i="1" dirty="0"/>
              <a:t>2 R </a:t>
            </a:r>
            <a:r>
              <a:rPr lang="zh-CN" altLang="en-US" dirty="0"/>
              <a:t>两种阻值的电</a:t>
            </a:r>
            <a:r>
              <a:rPr lang="zh-CN" altLang="en-US" dirty="0" smtClean="0"/>
              <a:t>阻，</a:t>
            </a:r>
            <a:r>
              <a:rPr lang="en-US" altLang="zh-CN" dirty="0"/>
              <a:t/>
            </a:r>
            <a:br>
              <a:rPr lang="en-US" altLang="zh-CN" dirty="0"/>
            </a:br>
            <a:r>
              <a:rPr lang="zh-CN" altLang="en-US" dirty="0"/>
              <a:t>这就给集成电路的设计和制作带来了很大的方便。</a:t>
            </a:r>
            <a:endParaRPr lang="zh-CN" altLang="zh-CN" dirty="0"/>
          </a:p>
        </p:txBody>
      </p:sp>
      <p:sp>
        <p:nvSpPr>
          <p:cNvPr id="3747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b="1" dirty="0"/>
              <a:t> </a:t>
            </a:r>
            <a:r>
              <a:rPr lang="en-US" altLang="zh-CN" b="1" dirty="0"/>
              <a:t>2. </a:t>
            </a:r>
            <a:r>
              <a:rPr lang="zh-CN" altLang="en-US" b="1" dirty="0"/>
              <a:t>工作原理</a:t>
            </a:r>
            <a:br>
              <a:rPr lang="zh-CN" altLang="en-US" b="1" dirty="0"/>
            </a:br>
            <a:r>
              <a:rPr lang="zh-CN" altLang="en-US" dirty="0"/>
              <a:t>电子模拟开关 </a:t>
            </a:r>
            <a:r>
              <a:rPr lang="en-US" altLang="zh-CN" i="1" dirty="0" smtClean="0"/>
              <a:t>S</a:t>
            </a:r>
            <a:r>
              <a:rPr lang="en-US" altLang="zh-CN" i="1" baseline="-25000" dirty="0" smtClean="0"/>
              <a:t>0</a:t>
            </a:r>
            <a:r>
              <a:rPr lang="en-US" altLang="zh-CN" i="1" dirty="0" smtClean="0"/>
              <a:t> </a:t>
            </a:r>
            <a:r>
              <a:rPr lang="en-US" altLang="zh-CN" i="1" dirty="0"/>
              <a:t>~S </a:t>
            </a:r>
            <a:r>
              <a:rPr lang="en-US" altLang="zh-CN" i="1" baseline="-25000" dirty="0"/>
              <a:t>3</a:t>
            </a:r>
            <a:r>
              <a:rPr lang="en-US" altLang="zh-CN" i="1" dirty="0"/>
              <a:t> </a:t>
            </a:r>
            <a:r>
              <a:rPr lang="zh-CN" altLang="en-US" dirty="0"/>
              <a:t>受输入数字信号 </a:t>
            </a:r>
            <a:r>
              <a:rPr lang="en-US" altLang="zh-CN" i="1" dirty="0"/>
              <a:t>d </a:t>
            </a:r>
            <a:r>
              <a:rPr lang="en-US" altLang="zh-CN" i="1" baseline="-25000" dirty="0"/>
              <a:t>0</a:t>
            </a:r>
            <a:r>
              <a:rPr lang="en-US" altLang="zh-CN" i="1" dirty="0"/>
              <a:t> ~ d </a:t>
            </a:r>
            <a:r>
              <a:rPr lang="en-US" altLang="zh-CN" i="1" baseline="-25000" dirty="0"/>
              <a:t>3</a:t>
            </a:r>
            <a:r>
              <a:rPr lang="en-US" altLang="zh-CN" i="1" dirty="0"/>
              <a:t> </a:t>
            </a:r>
            <a:r>
              <a:rPr lang="zh-CN" altLang="en-US" dirty="0"/>
              <a:t>控制。如果第 </a:t>
            </a:r>
            <a:r>
              <a:rPr lang="en-US" altLang="zh-CN" dirty="0"/>
              <a:t>i </a:t>
            </a:r>
            <a:r>
              <a:rPr lang="zh-CN" altLang="en-US" dirty="0"/>
              <a:t>位数字信号 </a:t>
            </a:r>
            <a:r>
              <a:rPr lang="en-US" altLang="zh-CN" i="1" dirty="0"/>
              <a:t>d </a:t>
            </a:r>
            <a:r>
              <a:rPr lang="en-US" altLang="zh-CN" i="1" baseline="-25000" dirty="0"/>
              <a:t>i</a:t>
            </a:r>
            <a:r>
              <a:rPr lang="en-US" altLang="zh-CN" i="1" dirty="0" smtClean="0"/>
              <a:t> </a:t>
            </a:r>
            <a:r>
              <a:rPr lang="en-US" altLang="zh-CN" i="1" dirty="0"/>
              <a:t>=1 </a:t>
            </a:r>
            <a:r>
              <a:rPr lang="zh-CN" altLang="en-US" i="1" dirty="0" smtClean="0"/>
              <a:t>，</a:t>
            </a:r>
            <a:r>
              <a:rPr lang="en-US" altLang="zh-CN" i="1" dirty="0" smtClean="0"/>
              <a:t> </a:t>
            </a:r>
            <a:r>
              <a:rPr lang="en-US" altLang="zh-CN" i="1" dirty="0"/>
              <a:t>S </a:t>
            </a:r>
            <a:r>
              <a:rPr lang="en-US" altLang="zh-CN" i="1" baseline="-25000" dirty="0"/>
              <a:t>i</a:t>
            </a:r>
            <a:r>
              <a:rPr lang="en-US" altLang="zh-CN" i="1" dirty="0"/>
              <a:t> </a:t>
            </a:r>
            <a:r>
              <a:rPr lang="zh-CN" altLang="en-US" dirty="0" smtClean="0"/>
              <a:t>接</a:t>
            </a:r>
            <a:r>
              <a:rPr lang="zh-CN" altLang="en-US" dirty="0"/>
              <a:t>求和运算放大器的虚地端</a:t>
            </a:r>
            <a:r>
              <a:rPr lang="en-US" altLang="zh-CN" dirty="0"/>
              <a:t>;</a:t>
            </a:r>
            <a:r>
              <a:rPr lang="zh-CN" altLang="en-US" dirty="0"/>
              <a:t>当</a:t>
            </a:r>
            <a:r>
              <a:rPr lang="zh-CN" altLang="en-US" i="1" dirty="0"/>
              <a:t> </a:t>
            </a:r>
            <a:r>
              <a:rPr lang="en-US" altLang="zh-CN" i="1" dirty="0" smtClean="0"/>
              <a:t>d</a:t>
            </a:r>
            <a:r>
              <a:rPr lang="en-US" altLang="zh-CN" i="1" baseline="-25000" dirty="0" smtClean="0"/>
              <a:t>i</a:t>
            </a:r>
            <a:r>
              <a:rPr lang="en-US" altLang="zh-CN" i="1" dirty="0" smtClean="0"/>
              <a:t> </a:t>
            </a:r>
            <a:r>
              <a:rPr lang="en-US" altLang="zh-CN" i="1" dirty="0"/>
              <a:t>=0 </a:t>
            </a:r>
            <a:r>
              <a:rPr lang="zh-CN" altLang="en-US" i="1" dirty="0" smtClean="0"/>
              <a:t>时，</a:t>
            </a:r>
            <a:r>
              <a:rPr lang="en-US" altLang="zh-CN" i="1" dirty="0" smtClean="0"/>
              <a:t> </a:t>
            </a:r>
            <a:r>
              <a:rPr lang="en-US" altLang="zh-CN" i="1" dirty="0"/>
              <a:t>S </a:t>
            </a:r>
            <a:r>
              <a:rPr lang="en-US" altLang="zh-CN" i="1" baseline="-25000" dirty="0"/>
              <a:t>i</a:t>
            </a:r>
            <a:r>
              <a:rPr lang="en-US" altLang="zh-CN" i="1" dirty="0" smtClean="0"/>
              <a:t> </a:t>
            </a:r>
            <a:r>
              <a:rPr lang="zh-CN" altLang="en-US" dirty="0"/>
              <a:t>接地。可</a:t>
            </a:r>
            <a:r>
              <a:rPr lang="zh-CN" altLang="en-US" dirty="0" smtClean="0"/>
              <a:t>见，无</a:t>
            </a:r>
            <a:r>
              <a:rPr lang="zh-CN" altLang="en-US" dirty="0"/>
              <a:t>论输入数字信号为 </a:t>
            </a:r>
            <a:r>
              <a:rPr lang="en-US" altLang="zh-CN" dirty="0"/>
              <a:t>0 </a:t>
            </a:r>
            <a:r>
              <a:rPr lang="zh-CN" altLang="en-US" dirty="0"/>
              <a:t>还是</a:t>
            </a:r>
            <a:r>
              <a:rPr lang="zh-CN" altLang="en-US" dirty="0" smtClean="0"/>
              <a:t>为</a:t>
            </a:r>
            <a:r>
              <a:rPr lang="en-US" altLang="zh-CN" i="1" dirty="0" smtClean="0"/>
              <a:t>1 </a:t>
            </a:r>
            <a:r>
              <a:rPr lang="zh-CN" altLang="en-US" dirty="0" smtClean="0"/>
              <a:t>，即</a:t>
            </a:r>
            <a:r>
              <a:rPr lang="zh-CN" altLang="en-US" dirty="0"/>
              <a:t>无论各电子模拟开关接“ </a:t>
            </a:r>
            <a:r>
              <a:rPr lang="en-US" altLang="zh-CN" dirty="0"/>
              <a:t>0 ”</a:t>
            </a:r>
            <a:r>
              <a:rPr lang="zh-CN" altLang="en-US" dirty="0"/>
              <a:t>端还是接“ </a:t>
            </a:r>
            <a:r>
              <a:rPr lang="en-US" altLang="zh-CN" dirty="0"/>
              <a:t>1 ”</a:t>
            </a:r>
            <a:r>
              <a:rPr lang="zh-CN" altLang="en-US" dirty="0" smtClean="0"/>
              <a:t>端，各</a:t>
            </a:r>
            <a:r>
              <a:rPr lang="zh-CN" altLang="en-US" dirty="0"/>
              <a:t>支路的电流都直接流入地或流入求</a:t>
            </a:r>
            <a:r>
              <a:rPr lang="zh-CN" altLang="en-US" dirty="0" smtClean="0"/>
              <a:t>和运</a:t>
            </a:r>
            <a:r>
              <a:rPr lang="zh-CN" altLang="en-US" dirty="0"/>
              <a:t>算放大器的虚地</a:t>
            </a:r>
            <a:r>
              <a:rPr lang="zh-CN" altLang="en-US" dirty="0" smtClean="0"/>
              <a:t>端，所</a:t>
            </a:r>
            <a:r>
              <a:rPr lang="zh-CN" altLang="en-US" dirty="0"/>
              <a:t>以对于倒 </a:t>
            </a:r>
            <a:r>
              <a:rPr lang="en-US" altLang="zh-CN" dirty="0"/>
              <a:t>T </a:t>
            </a:r>
            <a:r>
              <a:rPr lang="zh-CN" altLang="en-US" dirty="0"/>
              <a:t>型电阻网络来</a:t>
            </a:r>
            <a:r>
              <a:rPr lang="zh-CN" altLang="en-US" dirty="0" smtClean="0"/>
              <a:t>说，各 </a:t>
            </a:r>
            <a:r>
              <a:rPr lang="en-US" altLang="zh-CN" i="1" dirty="0"/>
              <a:t>2 R</a:t>
            </a:r>
            <a:r>
              <a:rPr lang="en-US" altLang="zh-CN" dirty="0"/>
              <a:t> </a:t>
            </a:r>
            <a:r>
              <a:rPr lang="zh-CN" altLang="en-US" dirty="0"/>
              <a:t>电阻的上端相当于接地。</a:t>
            </a:r>
            <a:r>
              <a:rPr lang="zh-CN" altLang="en-US" dirty="0" smtClean="0"/>
              <a:t>由图 </a:t>
            </a:r>
            <a:r>
              <a:rPr lang="en-US" altLang="zh-CN" dirty="0"/>
              <a:t>8 2 </a:t>
            </a:r>
            <a:r>
              <a:rPr lang="zh-CN" altLang="en-US" dirty="0"/>
              <a:t>可</a:t>
            </a:r>
            <a:r>
              <a:rPr lang="zh-CN" altLang="en-US" dirty="0" smtClean="0"/>
              <a:t>知，基</a:t>
            </a:r>
            <a:r>
              <a:rPr lang="zh-CN" altLang="en-US" dirty="0"/>
              <a:t>准电压 </a:t>
            </a:r>
            <a:r>
              <a:rPr lang="en-US" altLang="zh-CN" dirty="0"/>
              <a:t>U </a:t>
            </a:r>
            <a:r>
              <a:rPr lang="en-US" altLang="zh-CN" i="1" baseline="-25000" dirty="0"/>
              <a:t>REF</a:t>
            </a:r>
            <a:r>
              <a:rPr lang="en-US" altLang="zh-CN" dirty="0"/>
              <a:t> </a:t>
            </a:r>
            <a:r>
              <a:rPr lang="zh-CN" altLang="en-US" dirty="0"/>
              <a:t>对地电阻为 </a:t>
            </a:r>
            <a:r>
              <a:rPr lang="en-US" altLang="zh-CN" dirty="0"/>
              <a:t>R </a:t>
            </a:r>
            <a:r>
              <a:rPr lang="zh-CN" altLang="en-US" dirty="0" smtClean="0"/>
              <a:t>，其</a:t>
            </a:r>
            <a:r>
              <a:rPr lang="zh-CN" altLang="en-US" dirty="0"/>
              <a:t>流出的电流 </a:t>
            </a:r>
            <a:r>
              <a:rPr lang="en-US" altLang="zh-CN" dirty="0"/>
              <a:t>i = U </a:t>
            </a:r>
            <a:r>
              <a:rPr lang="en-US" altLang="zh-CN" i="1" baseline="-25000" dirty="0"/>
              <a:t>REF</a:t>
            </a:r>
            <a:r>
              <a:rPr lang="en-US" altLang="zh-CN" dirty="0"/>
              <a:t> / R </a:t>
            </a:r>
            <a:r>
              <a:rPr lang="zh-CN" altLang="en-US" dirty="0"/>
              <a:t>是固定不变</a:t>
            </a:r>
            <a:r>
              <a:rPr lang="zh-CN" altLang="en-US" dirty="0" smtClean="0"/>
              <a:t>的，而每</a:t>
            </a:r>
            <a:r>
              <a:rPr lang="zh-CN" altLang="en-US" dirty="0"/>
              <a:t>个支路的电流依次为 </a:t>
            </a:r>
            <a:r>
              <a:rPr lang="en-US" altLang="zh-CN" dirty="0"/>
              <a:t>I / 2 </a:t>
            </a:r>
            <a:r>
              <a:rPr lang="zh-CN" altLang="en-US" dirty="0"/>
              <a:t>、 </a:t>
            </a:r>
            <a:r>
              <a:rPr lang="en-US" altLang="zh-CN" dirty="0"/>
              <a:t>I / 4 </a:t>
            </a:r>
            <a:r>
              <a:rPr lang="zh-CN" altLang="en-US" dirty="0"/>
              <a:t>、 </a:t>
            </a:r>
            <a:r>
              <a:rPr lang="en-US" altLang="zh-CN" dirty="0"/>
              <a:t>I / 8 </a:t>
            </a:r>
            <a:r>
              <a:rPr lang="zh-CN" altLang="en-US" dirty="0"/>
              <a:t>、 </a:t>
            </a:r>
            <a:r>
              <a:rPr lang="en-US" altLang="zh-CN" dirty="0"/>
              <a:t>I / 16 </a:t>
            </a:r>
            <a:r>
              <a:rPr lang="zh-CN" altLang="en-US" dirty="0" smtClean="0"/>
              <a:t>，因此，流</a:t>
            </a:r>
            <a:r>
              <a:rPr lang="zh-CN" altLang="en-US" dirty="0"/>
              <a:t>入求和运算放大器的电流 </a:t>
            </a:r>
            <a:r>
              <a:rPr lang="en-US" altLang="zh-CN" dirty="0"/>
              <a:t>I </a:t>
            </a:r>
            <a:r>
              <a:rPr lang="en-US" altLang="zh-CN" baseline="-25000" dirty="0"/>
              <a:t>Σ</a:t>
            </a:r>
            <a:r>
              <a:rPr lang="en-US" altLang="zh-CN" dirty="0"/>
              <a:t> </a:t>
            </a:r>
            <a:r>
              <a:rPr lang="zh-CN" altLang="en-US" dirty="0"/>
              <a:t>为</a:t>
            </a:r>
            <a:endParaRPr lang="zh-CN"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smtClean="0"/>
              <a:t>　　在</a:t>
            </a:r>
            <a:r>
              <a:rPr lang="zh-CN" altLang="en-US" dirty="0"/>
              <a:t>求和放大器的反馈电阻阻值等于 </a:t>
            </a:r>
            <a:r>
              <a:rPr lang="en-US" altLang="zh-CN" dirty="0"/>
              <a:t>R </a:t>
            </a:r>
            <a:r>
              <a:rPr lang="zh-CN" altLang="en-US" dirty="0"/>
              <a:t>的条件下输出电压</a:t>
            </a:r>
            <a:r>
              <a:rPr lang="zh-CN" altLang="en-US" dirty="0" smtClean="0"/>
              <a:t>为　</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smtClean="0"/>
              <a:t>　　对</a:t>
            </a:r>
            <a:r>
              <a:rPr lang="zh-CN" altLang="en-US" dirty="0"/>
              <a:t>于 </a:t>
            </a:r>
            <a:r>
              <a:rPr lang="en-US" altLang="zh-CN" dirty="0"/>
              <a:t>n </a:t>
            </a:r>
            <a:r>
              <a:rPr lang="zh-CN" altLang="en-US" dirty="0"/>
              <a:t>位输入的倒 </a:t>
            </a:r>
            <a:r>
              <a:rPr lang="en-US" altLang="zh-CN" dirty="0"/>
              <a:t>T </a:t>
            </a:r>
            <a:r>
              <a:rPr lang="zh-CN" altLang="en-US" dirty="0"/>
              <a:t>型电阻网络 </a:t>
            </a:r>
            <a:r>
              <a:rPr lang="en-US" altLang="zh-CN" dirty="0"/>
              <a:t>D / A </a:t>
            </a:r>
            <a:r>
              <a:rPr lang="zh-CN" altLang="en-US" dirty="0"/>
              <a:t>转换</a:t>
            </a:r>
            <a:r>
              <a:rPr lang="zh-CN" altLang="en-US" dirty="0" smtClean="0"/>
              <a:t>器，在</a:t>
            </a:r>
            <a:r>
              <a:rPr lang="zh-CN" altLang="en-US" dirty="0"/>
              <a:t>求和放大器的反馈电阻阻值为 </a:t>
            </a:r>
            <a:r>
              <a:rPr lang="en-US" altLang="zh-CN" dirty="0"/>
              <a:t>R </a:t>
            </a:r>
            <a:r>
              <a:rPr lang="zh-CN" altLang="en-US" dirty="0" smtClean="0"/>
              <a:t>的条</a:t>
            </a:r>
            <a:r>
              <a:rPr lang="zh-CN" altLang="en-US" dirty="0"/>
              <a:t>件</a:t>
            </a:r>
            <a:r>
              <a:rPr lang="zh-CN" altLang="en-US" dirty="0" smtClean="0"/>
              <a:t>下，输</a:t>
            </a:r>
            <a:r>
              <a:rPr lang="zh-CN" altLang="en-US" dirty="0"/>
              <a:t>出的模拟电压的计算公式为</a:t>
            </a:r>
            <a:r>
              <a:rPr lang="zh-CN" altLang="en-US" dirty="0" smtClean="0"/>
              <a:t>　</a:t>
            </a:r>
            <a:endParaRPr lang="zh-CN" altLang="zh-CN" dirty="0"/>
          </a:p>
        </p:txBody>
      </p:sp>
      <p:sp>
        <p:nvSpPr>
          <p:cNvPr id="37683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1052736"/>
            <a:ext cx="4029638" cy="800212"/>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8264" y="1262315"/>
            <a:ext cx="905001" cy="381053"/>
          </a:xfrm>
          <a:prstGeom prst="rect">
            <a:avLst/>
          </a:prstGeom>
        </p:spPr>
      </p:pic>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2180" y="3052710"/>
            <a:ext cx="5839640" cy="752580"/>
          </a:xfrm>
          <a:prstGeom prst="rect">
            <a:avLst/>
          </a:prstGeom>
        </p:spPr>
      </p:pic>
      <p:pic>
        <p:nvPicPr>
          <p:cNvPr id="5" name="图片 4"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96336" y="3214657"/>
            <a:ext cx="914528" cy="428685"/>
          </a:xfrm>
          <a:prstGeom prst="rect">
            <a:avLst/>
          </a:prstGeom>
        </p:spPr>
      </p:pic>
      <p:pic>
        <p:nvPicPr>
          <p:cNvPr id="6" name="图片 5" descr="屏幕剪辑"/>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063" y="5229200"/>
            <a:ext cx="7249537" cy="790685"/>
          </a:xfrm>
          <a:prstGeom prst="rect">
            <a:avLst/>
          </a:prstGeom>
        </p:spPr>
      </p:pic>
      <p:pic>
        <p:nvPicPr>
          <p:cNvPr id="7" name="图片 6" descr="屏幕剪辑"/>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57010" y="5434015"/>
            <a:ext cx="876422" cy="38105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endParaRPr lang="zh-CN" altLang="zh-CN" dirty="0"/>
          </a:p>
        </p:txBody>
      </p:sp>
      <p:sp>
        <p:nvSpPr>
          <p:cNvPr id="377859"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2  </a:t>
            </a:r>
            <a:r>
              <a:rPr lang="zh-CN" altLang="en-US" dirty="0"/>
              <a:t>倒 </a:t>
            </a:r>
            <a:r>
              <a:rPr lang="en-US" altLang="zh-CN" dirty="0"/>
              <a:t>T </a:t>
            </a:r>
            <a:r>
              <a:rPr lang="zh-CN" altLang="en-US" dirty="0"/>
              <a:t>型电阻网络 </a:t>
            </a:r>
            <a:r>
              <a:rPr lang="en-US" altLang="zh-CN" dirty="0"/>
              <a:t>D / A </a:t>
            </a:r>
            <a:r>
              <a:rPr lang="zh-CN" altLang="en-US" dirty="0"/>
              <a:t>转换器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126" y="1471339"/>
            <a:ext cx="7687748" cy="39153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由上式可看</a:t>
            </a:r>
            <a:r>
              <a:rPr lang="zh-CN" altLang="en-US" dirty="0" smtClean="0"/>
              <a:t>出，输</a:t>
            </a:r>
            <a:r>
              <a:rPr lang="zh-CN" altLang="en-US" dirty="0"/>
              <a:t>出电压和输入数字量成正比。由于不论电子模拟开关接“ </a:t>
            </a:r>
            <a:r>
              <a:rPr lang="en-US" altLang="zh-CN" dirty="0"/>
              <a:t>0 ”</a:t>
            </a:r>
            <a:r>
              <a:rPr lang="zh-CN" altLang="en-US" dirty="0"/>
              <a:t>端还</a:t>
            </a:r>
            <a:r>
              <a:rPr lang="zh-CN" altLang="en-US" dirty="0" smtClean="0"/>
              <a:t>是接“</a:t>
            </a:r>
            <a:r>
              <a:rPr lang="en-US" altLang="zh-CN" dirty="0" smtClean="0"/>
              <a:t>1 </a:t>
            </a:r>
            <a:r>
              <a:rPr lang="en-US" altLang="zh-CN" dirty="0"/>
              <a:t>”</a:t>
            </a:r>
            <a:r>
              <a:rPr lang="zh-CN" altLang="en-US" dirty="0" smtClean="0"/>
              <a:t>端，电</a:t>
            </a:r>
            <a:r>
              <a:rPr lang="zh-CN" altLang="en-US" dirty="0"/>
              <a:t>阻 </a:t>
            </a:r>
            <a:r>
              <a:rPr lang="en-US" altLang="zh-CN" dirty="0"/>
              <a:t>2 R </a:t>
            </a:r>
            <a:r>
              <a:rPr lang="zh-CN" altLang="en-US" dirty="0"/>
              <a:t>的上端总是接地或接求和运算放大器的虚地</a:t>
            </a:r>
            <a:r>
              <a:rPr lang="zh-CN" altLang="en-US" dirty="0" smtClean="0"/>
              <a:t>端，因</a:t>
            </a:r>
            <a:r>
              <a:rPr lang="zh-CN" altLang="en-US" dirty="0"/>
              <a:t>此流经 </a:t>
            </a:r>
            <a:r>
              <a:rPr lang="en-US" altLang="zh-CN" dirty="0"/>
              <a:t>2 R </a:t>
            </a:r>
            <a:r>
              <a:rPr lang="zh-CN" altLang="en-US" dirty="0"/>
              <a:t>支路上</a:t>
            </a:r>
            <a:r>
              <a:rPr lang="zh-CN" altLang="en-US" dirty="0" smtClean="0"/>
              <a:t>的电</a:t>
            </a:r>
            <a:r>
              <a:rPr lang="zh-CN" altLang="en-US" dirty="0"/>
              <a:t>流不会随开关状态的变化而改</a:t>
            </a:r>
            <a:r>
              <a:rPr lang="zh-CN" altLang="en-US" dirty="0" smtClean="0"/>
              <a:t>变，它</a:t>
            </a:r>
            <a:r>
              <a:rPr lang="zh-CN" altLang="en-US" dirty="0"/>
              <a:t>不需要建立时</a:t>
            </a:r>
            <a:r>
              <a:rPr lang="zh-CN" altLang="en-US" dirty="0" smtClean="0"/>
              <a:t>间，所</a:t>
            </a:r>
            <a:r>
              <a:rPr lang="zh-CN" altLang="en-US" dirty="0"/>
              <a:t>以电路的转换速度提高了。</a:t>
            </a:r>
            <a:r>
              <a:rPr lang="zh-CN" altLang="en-US" dirty="0" smtClean="0"/>
              <a:t>倒</a:t>
            </a:r>
            <a:r>
              <a:rPr lang="en-US" altLang="zh-CN" dirty="0" smtClean="0"/>
              <a:t>T </a:t>
            </a:r>
            <a:r>
              <a:rPr lang="zh-CN" altLang="en-US" dirty="0"/>
              <a:t>型电阻网络 </a:t>
            </a:r>
            <a:r>
              <a:rPr lang="en-US" altLang="zh-CN" dirty="0"/>
              <a:t>D / A </a:t>
            </a:r>
            <a:r>
              <a:rPr lang="zh-CN" altLang="en-US" dirty="0"/>
              <a:t>转换器的电阻数量虽比权电阻网络</a:t>
            </a:r>
            <a:r>
              <a:rPr lang="zh-CN" altLang="en-US" dirty="0" smtClean="0"/>
              <a:t>多，但</a:t>
            </a:r>
            <a:r>
              <a:rPr lang="zh-CN" altLang="en-US" dirty="0"/>
              <a:t>它只有 </a:t>
            </a:r>
            <a:r>
              <a:rPr lang="en-US" altLang="zh-CN" dirty="0"/>
              <a:t>R </a:t>
            </a:r>
            <a:r>
              <a:rPr lang="zh-CN" altLang="en-US" dirty="0"/>
              <a:t>和 </a:t>
            </a:r>
            <a:r>
              <a:rPr lang="en-US" altLang="zh-CN" dirty="0"/>
              <a:t>2 R </a:t>
            </a:r>
            <a:r>
              <a:rPr lang="zh-CN" altLang="en-US" dirty="0"/>
              <a:t>两种阻</a:t>
            </a:r>
            <a:r>
              <a:rPr lang="zh-CN" altLang="en-US" dirty="0" smtClean="0"/>
              <a:t>值，因而</a:t>
            </a:r>
            <a:r>
              <a:rPr lang="zh-CN" altLang="en-US" dirty="0"/>
              <a:t>克服了权电阻网络电阻阻值</a:t>
            </a:r>
            <a:r>
              <a:rPr lang="zh-CN" altLang="en-US" dirty="0" smtClean="0"/>
              <a:t>多，差</a:t>
            </a:r>
            <a:r>
              <a:rPr lang="zh-CN" altLang="en-US" dirty="0"/>
              <a:t>别大的缺</a:t>
            </a:r>
            <a:r>
              <a:rPr lang="zh-CN" altLang="en-US" dirty="0" smtClean="0"/>
              <a:t>点，便</a:t>
            </a:r>
            <a:r>
              <a:rPr lang="zh-CN" altLang="en-US" dirty="0"/>
              <a:t>于集成化。因</a:t>
            </a:r>
            <a:r>
              <a:rPr lang="zh-CN" altLang="en-US" dirty="0" smtClean="0"/>
              <a:t>此，</a:t>
            </a:r>
            <a:r>
              <a:rPr lang="en-US" altLang="zh-CN" dirty="0" smtClean="0"/>
              <a:t> </a:t>
            </a:r>
            <a:r>
              <a:rPr lang="en-US" altLang="zh-CN" dirty="0"/>
              <a:t>R -2 R </a:t>
            </a:r>
            <a:r>
              <a:rPr lang="zh-CN" altLang="en-US" dirty="0"/>
              <a:t>倒 </a:t>
            </a:r>
            <a:r>
              <a:rPr lang="en-US" altLang="zh-CN" dirty="0"/>
              <a:t>T </a:t>
            </a:r>
            <a:r>
              <a:rPr lang="zh-CN" altLang="en-US" dirty="0"/>
              <a:t>型电</a:t>
            </a:r>
            <a:r>
              <a:rPr lang="zh-CN" altLang="en-US" dirty="0" smtClean="0"/>
              <a:t>阻网</a:t>
            </a:r>
            <a:r>
              <a:rPr lang="zh-CN" altLang="en-US" dirty="0"/>
              <a:t>络 </a:t>
            </a:r>
            <a:r>
              <a:rPr lang="en-US" altLang="zh-CN" dirty="0"/>
              <a:t>D / A </a:t>
            </a:r>
            <a:r>
              <a:rPr lang="zh-CN" altLang="en-US" dirty="0"/>
              <a:t>转换器得到了广泛的应用。</a:t>
            </a:r>
            <a:endParaRPr lang="zh-CN" altLang="zh-CN" dirty="0"/>
          </a:p>
        </p:txBody>
      </p:sp>
      <p:sp>
        <p:nvSpPr>
          <p:cNvPr id="3788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但无论是权电阻网络 </a:t>
            </a:r>
            <a:r>
              <a:rPr lang="en-US" altLang="zh-CN" dirty="0"/>
              <a:t>D / A </a:t>
            </a:r>
            <a:r>
              <a:rPr lang="zh-CN" altLang="en-US" dirty="0"/>
              <a:t>转换器还是倒 </a:t>
            </a:r>
            <a:r>
              <a:rPr lang="en-US" altLang="zh-CN" dirty="0"/>
              <a:t>T </a:t>
            </a:r>
            <a:r>
              <a:rPr lang="zh-CN" altLang="en-US" dirty="0"/>
              <a:t>型电阻网络 </a:t>
            </a:r>
            <a:r>
              <a:rPr lang="en-US" altLang="zh-CN" dirty="0"/>
              <a:t>D / A </a:t>
            </a:r>
            <a:r>
              <a:rPr lang="zh-CN" altLang="en-US" dirty="0"/>
              <a:t>转换</a:t>
            </a:r>
            <a:r>
              <a:rPr lang="zh-CN" altLang="en-US" dirty="0" smtClean="0"/>
              <a:t>器，在</a:t>
            </a:r>
            <a:r>
              <a:rPr lang="zh-CN" altLang="en-US" dirty="0"/>
              <a:t>分析的过</a:t>
            </a:r>
            <a:r>
              <a:rPr lang="zh-CN" altLang="en-US" dirty="0" smtClean="0"/>
              <a:t>程中，都</a:t>
            </a:r>
            <a:r>
              <a:rPr lang="zh-CN" altLang="en-US" dirty="0"/>
              <a:t>把电子模拟开关当作理想开关处</a:t>
            </a:r>
            <a:r>
              <a:rPr lang="zh-CN" altLang="en-US" dirty="0" smtClean="0"/>
              <a:t>理，没</a:t>
            </a:r>
            <a:r>
              <a:rPr lang="zh-CN" altLang="en-US" dirty="0"/>
              <a:t>有考虑它们的导通电阻和导通电压降。而</a:t>
            </a:r>
            <a:r>
              <a:rPr lang="zh-CN" altLang="en-US" dirty="0" smtClean="0"/>
              <a:t>实际</a:t>
            </a:r>
            <a:r>
              <a:rPr lang="zh-CN" altLang="en-US" dirty="0"/>
              <a:t>上这些开关总有一定的导通电阻和导通电压</a:t>
            </a:r>
            <a:r>
              <a:rPr lang="zh-CN" altLang="en-US" dirty="0" smtClean="0"/>
              <a:t>降，而</a:t>
            </a:r>
            <a:r>
              <a:rPr lang="zh-CN" altLang="en-US" dirty="0"/>
              <a:t>且每个开关的情况不完全相同。它</a:t>
            </a:r>
            <a:r>
              <a:rPr lang="zh-CN" altLang="en-US" dirty="0" smtClean="0"/>
              <a:t>们的</a:t>
            </a:r>
            <a:r>
              <a:rPr lang="zh-CN" altLang="en-US" dirty="0"/>
              <a:t>存在无疑将引起转换误</a:t>
            </a:r>
            <a:r>
              <a:rPr lang="zh-CN" altLang="en-US" dirty="0" smtClean="0"/>
              <a:t>差，影</a:t>
            </a:r>
            <a:r>
              <a:rPr lang="zh-CN" altLang="en-US" dirty="0"/>
              <a:t>响转换精度。为了解决这一问</a:t>
            </a:r>
            <a:r>
              <a:rPr lang="zh-CN" altLang="en-US" dirty="0" smtClean="0"/>
              <a:t>题，常</a:t>
            </a:r>
            <a:r>
              <a:rPr lang="zh-CN" altLang="en-US" dirty="0"/>
              <a:t>采用权电流型 </a:t>
            </a:r>
            <a:r>
              <a:rPr lang="en-US" altLang="zh-CN" dirty="0"/>
              <a:t>D / A </a:t>
            </a:r>
            <a:r>
              <a:rPr lang="zh-CN" altLang="en-US" dirty="0" smtClean="0"/>
              <a:t>转换</a:t>
            </a:r>
            <a:r>
              <a:rPr lang="zh-CN" altLang="en-US" dirty="0"/>
              <a:t>器。</a:t>
            </a:r>
            <a:endParaRPr lang="zh-CN" altLang="zh-CN" dirty="0"/>
          </a:p>
        </p:txBody>
      </p:sp>
      <p:sp>
        <p:nvSpPr>
          <p:cNvPr id="3799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r>
              <a:rPr lang="en-US" altLang="zh-CN" dirty="0"/>
              <a:t/>
            </a:r>
            <a:br>
              <a:rPr lang="en-US" altLang="zh-CN" dirty="0"/>
            </a:br>
            <a:r>
              <a:rPr lang="zh-CN" altLang="en-US" dirty="0"/>
              <a:t>　</a:t>
            </a:r>
            <a:r>
              <a:rPr lang="zh-CN" altLang="en-US" dirty="0"/>
              <a:t>　</a:t>
            </a:r>
            <a:r>
              <a:rPr lang="zh-CN" altLang="en-US" b="1" dirty="0"/>
              <a:t> </a:t>
            </a:r>
            <a:r>
              <a:rPr lang="en-US" altLang="zh-CN" b="1" dirty="0"/>
              <a:t>8. 2. 3  </a:t>
            </a:r>
            <a:r>
              <a:rPr lang="zh-CN" altLang="en-US" b="1" dirty="0"/>
              <a:t>权电流型 </a:t>
            </a:r>
            <a:r>
              <a:rPr lang="en-US" altLang="zh-CN" b="1" dirty="0"/>
              <a:t>D / A </a:t>
            </a:r>
            <a:r>
              <a:rPr lang="zh-CN" altLang="en-US" b="1" dirty="0"/>
              <a:t>转换器</a:t>
            </a:r>
            <a:br>
              <a:rPr lang="zh-CN" altLang="en-US" b="1" dirty="0"/>
            </a:br>
            <a:r>
              <a:rPr lang="zh-CN" altLang="en-US" b="1" dirty="0" smtClean="0"/>
              <a:t>　　</a:t>
            </a:r>
            <a:r>
              <a:rPr lang="en-US" altLang="zh-CN" b="1" dirty="0" smtClean="0"/>
              <a:t>1</a:t>
            </a:r>
            <a:r>
              <a:rPr lang="en-US" altLang="zh-CN" b="1" dirty="0"/>
              <a:t>. </a:t>
            </a:r>
            <a:r>
              <a:rPr lang="zh-CN" altLang="en-US" b="1" dirty="0"/>
              <a:t>电路组成</a:t>
            </a:r>
            <a:br>
              <a:rPr lang="zh-CN" altLang="en-US" b="1" dirty="0"/>
            </a:br>
            <a:r>
              <a:rPr lang="zh-CN" altLang="en-US" b="1" dirty="0" smtClean="0"/>
              <a:t>　　</a:t>
            </a:r>
            <a:r>
              <a:rPr lang="zh-CN" altLang="en-US" dirty="0" smtClean="0"/>
              <a:t>图 </a:t>
            </a:r>
            <a:r>
              <a:rPr lang="en-US" altLang="zh-CN" dirty="0" smtClean="0"/>
              <a:t>8</a:t>
            </a:r>
            <a:r>
              <a:rPr lang="zh-CN" altLang="en-US" dirty="0" smtClean="0"/>
              <a:t>－</a:t>
            </a:r>
            <a:r>
              <a:rPr lang="en-US" altLang="zh-CN" dirty="0" smtClean="0"/>
              <a:t>3 </a:t>
            </a:r>
            <a:r>
              <a:rPr lang="zh-CN" altLang="en-US" dirty="0"/>
              <a:t>所示为四位权电流型 </a:t>
            </a:r>
            <a:r>
              <a:rPr lang="en-US" altLang="zh-CN" i="1" dirty="0"/>
              <a:t>D / A </a:t>
            </a:r>
            <a:r>
              <a:rPr lang="zh-CN" altLang="en-US" dirty="0"/>
              <a:t>转换器的原理图。它由权电流 </a:t>
            </a:r>
            <a:r>
              <a:rPr lang="en-US" altLang="zh-CN" i="1" dirty="0"/>
              <a:t>I / 16 </a:t>
            </a:r>
            <a:r>
              <a:rPr lang="zh-CN" altLang="en-US" i="1" dirty="0"/>
              <a:t>、 </a:t>
            </a:r>
            <a:r>
              <a:rPr lang="en-US" altLang="zh-CN" i="1" dirty="0"/>
              <a:t>I / 8 </a:t>
            </a:r>
            <a:r>
              <a:rPr lang="zh-CN" altLang="en-US" i="1" dirty="0"/>
              <a:t>、 </a:t>
            </a:r>
            <a:r>
              <a:rPr lang="en-US" altLang="zh-CN" i="1" dirty="0"/>
              <a:t>I / 4 </a:t>
            </a:r>
            <a:r>
              <a:rPr lang="zh-CN" altLang="en-US" i="1" dirty="0" smtClean="0"/>
              <a:t>、</a:t>
            </a:r>
            <a:r>
              <a:rPr lang="en-US" altLang="zh-CN" i="1" dirty="0" smtClean="0"/>
              <a:t>I </a:t>
            </a:r>
            <a:r>
              <a:rPr lang="en-US" altLang="zh-CN" i="1" dirty="0"/>
              <a:t>/ 2 </a:t>
            </a:r>
            <a:r>
              <a:rPr lang="zh-CN" altLang="en-US" dirty="0" smtClean="0"/>
              <a:t>，电</a:t>
            </a:r>
            <a:r>
              <a:rPr lang="zh-CN" altLang="en-US" dirty="0"/>
              <a:t>子模拟开关 </a:t>
            </a:r>
            <a:r>
              <a:rPr lang="en-US" altLang="zh-CN" i="1" dirty="0"/>
              <a:t>S </a:t>
            </a:r>
            <a:r>
              <a:rPr lang="en-US" altLang="zh-CN" i="1" baseline="-25000" dirty="0"/>
              <a:t>0</a:t>
            </a:r>
            <a:r>
              <a:rPr lang="en-US" altLang="zh-CN" i="1" dirty="0"/>
              <a:t> </a:t>
            </a:r>
            <a:r>
              <a:rPr lang="zh-CN" altLang="en-US" dirty="0"/>
              <a:t>、 </a:t>
            </a:r>
            <a:r>
              <a:rPr lang="en-US" altLang="zh-CN" i="1" dirty="0"/>
              <a:t>S </a:t>
            </a:r>
            <a:r>
              <a:rPr lang="en-US" altLang="zh-CN" i="1" baseline="-25000" dirty="0"/>
              <a:t>1</a:t>
            </a:r>
            <a:r>
              <a:rPr lang="en-US" altLang="zh-CN" i="1" dirty="0"/>
              <a:t> </a:t>
            </a:r>
            <a:r>
              <a:rPr lang="zh-CN" altLang="en-US" i="1" dirty="0"/>
              <a:t>、 </a:t>
            </a:r>
            <a:r>
              <a:rPr lang="en-US" altLang="zh-CN" i="1" dirty="0"/>
              <a:t>S </a:t>
            </a:r>
            <a:r>
              <a:rPr lang="en-US" altLang="zh-CN" i="1" baseline="-25000" dirty="0"/>
              <a:t>2</a:t>
            </a:r>
            <a:r>
              <a:rPr lang="en-US" altLang="zh-CN" i="1" dirty="0"/>
              <a:t> </a:t>
            </a:r>
            <a:r>
              <a:rPr lang="zh-CN" altLang="en-US" i="1" dirty="0"/>
              <a:t>、 </a:t>
            </a:r>
            <a:r>
              <a:rPr lang="en-US" altLang="zh-CN" i="1" dirty="0"/>
              <a:t>S </a:t>
            </a:r>
            <a:r>
              <a:rPr lang="en-US" altLang="zh-CN" i="1" baseline="-25000" dirty="0"/>
              <a:t>3</a:t>
            </a:r>
            <a:r>
              <a:rPr lang="en-US" altLang="zh-CN" i="1" dirty="0"/>
              <a:t> </a:t>
            </a:r>
            <a:r>
              <a:rPr lang="zh-CN" altLang="en-US" dirty="0" smtClean="0"/>
              <a:t>，基</a:t>
            </a:r>
            <a:r>
              <a:rPr lang="zh-CN" altLang="en-US" dirty="0"/>
              <a:t>准电压 </a:t>
            </a:r>
            <a:r>
              <a:rPr lang="en-US" altLang="zh-CN" i="1" dirty="0" smtClean="0"/>
              <a:t>U</a:t>
            </a:r>
            <a:r>
              <a:rPr lang="en-US" altLang="zh-CN" i="1" baseline="-25000" dirty="0" smtClean="0"/>
              <a:t>REF</a:t>
            </a:r>
            <a:r>
              <a:rPr lang="en-US" altLang="zh-CN" i="1" dirty="0" smtClean="0"/>
              <a:t> </a:t>
            </a:r>
            <a:r>
              <a:rPr lang="zh-CN" altLang="en-US" dirty="0"/>
              <a:t>及求和运算放大器组成。</a:t>
            </a:r>
            <a:br>
              <a:rPr lang="zh-CN" altLang="en-US" dirty="0"/>
            </a:br>
            <a:r>
              <a:rPr lang="zh-CN" altLang="en-US" dirty="0"/>
              <a:t>电子模拟开关 </a:t>
            </a:r>
            <a:r>
              <a:rPr lang="en-US" altLang="zh-CN" i="1" dirty="0" smtClean="0"/>
              <a:t>S</a:t>
            </a:r>
            <a:r>
              <a:rPr lang="en-US" altLang="zh-CN" i="1" baseline="-25000" dirty="0" smtClean="0"/>
              <a:t>0</a:t>
            </a:r>
            <a:r>
              <a:rPr lang="en-US" altLang="zh-CN" i="1" dirty="0" smtClean="0"/>
              <a:t> </a:t>
            </a:r>
            <a:r>
              <a:rPr lang="en-US" altLang="zh-CN" i="1" dirty="0"/>
              <a:t>~S </a:t>
            </a:r>
            <a:r>
              <a:rPr lang="en-US" altLang="zh-CN" i="1" baseline="-25000" dirty="0"/>
              <a:t>3</a:t>
            </a:r>
            <a:r>
              <a:rPr lang="en-US" altLang="zh-CN" i="1" dirty="0"/>
              <a:t> </a:t>
            </a:r>
            <a:r>
              <a:rPr lang="zh-CN" altLang="en-US" dirty="0"/>
              <a:t>受输入数字信号 </a:t>
            </a:r>
            <a:r>
              <a:rPr lang="en-US" altLang="zh-CN" i="1" dirty="0"/>
              <a:t>d </a:t>
            </a:r>
            <a:r>
              <a:rPr lang="en-US" altLang="zh-CN" i="1" baseline="-25000" dirty="0"/>
              <a:t>0</a:t>
            </a:r>
            <a:r>
              <a:rPr lang="en-US" altLang="zh-CN" i="1" dirty="0"/>
              <a:t> ~ d </a:t>
            </a:r>
            <a:r>
              <a:rPr lang="en-US" altLang="zh-CN" i="1" baseline="-25000" dirty="0"/>
              <a:t>3</a:t>
            </a:r>
            <a:r>
              <a:rPr lang="en-US" altLang="zh-CN" i="1" dirty="0"/>
              <a:t> </a:t>
            </a:r>
            <a:r>
              <a:rPr lang="zh-CN" altLang="en-US" dirty="0"/>
              <a:t>控</a:t>
            </a:r>
            <a:r>
              <a:rPr lang="zh-CN" altLang="en-US" dirty="0" smtClean="0"/>
              <a:t>制，如</a:t>
            </a:r>
            <a:r>
              <a:rPr lang="zh-CN" altLang="en-US" dirty="0"/>
              <a:t>果第 </a:t>
            </a:r>
            <a:r>
              <a:rPr lang="en-US" altLang="zh-CN" dirty="0"/>
              <a:t>i </a:t>
            </a:r>
            <a:r>
              <a:rPr lang="zh-CN" altLang="en-US" dirty="0"/>
              <a:t>位数字信号 </a:t>
            </a:r>
            <a:r>
              <a:rPr lang="en-US" altLang="zh-CN" i="1" dirty="0"/>
              <a:t>d </a:t>
            </a:r>
            <a:r>
              <a:rPr lang="en-US" altLang="zh-CN" i="1" baseline="-25000" dirty="0"/>
              <a:t>i</a:t>
            </a:r>
            <a:r>
              <a:rPr lang="en-US" altLang="zh-CN" i="1" dirty="0"/>
              <a:t> =1 </a:t>
            </a:r>
            <a:r>
              <a:rPr lang="zh-CN" altLang="en-US" dirty="0" smtClean="0"/>
              <a:t>，则相</a:t>
            </a:r>
            <a:r>
              <a:rPr lang="zh-CN" altLang="en-US" dirty="0"/>
              <a:t>应的开关 </a:t>
            </a:r>
            <a:r>
              <a:rPr lang="en-US" altLang="zh-CN" i="1" dirty="0" smtClean="0"/>
              <a:t>S</a:t>
            </a:r>
            <a:r>
              <a:rPr lang="en-US" altLang="zh-CN" i="1" baseline="-25000" dirty="0" smtClean="0"/>
              <a:t>i</a:t>
            </a:r>
            <a:r>
              <a:rPr lang="en-US" altLang="zh-CN" i="1" dirty="0" smtClean="0"/>
              <a:t> </a:t>
            </a:r>
            <a:r>
              <a:rPr lang="zh-CN" altLang="en-US" dirty="0"/>
              <a:t>将权电流源接至运算放大器的反相输入端</a:t>
            </a:r>
            <a:r>
              <a:rPr lang="en-US" altLang="zh-CN" dirty="0"/>
              <a:t>;</a:t>
            </a:r>
            <a:r>
              <a:rPr lang="zh-CN" altLang="en-US" dirty="0"/>
              <a:t>若 </a:t>
            </a:r>
            <a:r>
              <a:rPr lang="en-US" altLang="zh-CN" i="1" dirty="0"/>
              <a:t>d </a:t>
            </a:r>
            <a:r>
              <a:rPr lang="en-US" altLang="zh-CN" i="1" baseline="-25000" dirty="0"/>
              <a:t>i</a:t>
            </a:r>
            <a:r>
              <a:rPr lang="en-US" altLang="zh-CN" i="1" dirty="0"/>
              <a:t> </a:t>
            </a:r>
            <a:r>
              <a:rPr lang="en-US" altLang="zh-CN" dirty="0"/>
              <a:t>=0 </a:t>
            </a:r>
            <a:r>
              <a:rPr lang="zh-CN" altLang="en-US" dirty="0" smtClean="0"/>
              <a:t>，其</a:t>
            </a:r>
            <a:r>
              <a:rPr lang="zh-CN" altLang="en-US" dirty="0"/>
              <a:t>相应的开关将电流源接地。</a:t>
            </a:r>
            <a:endParaRPr lang="zh-CN"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endParaRPr lang="zh-CN" altLang="zh-CN"/>
          </a:p>
        </p:txBody>
      </p:sp>
      <p:sp>
        <p:nvSpPr>
          <p:cNvPr id="381955"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3  </a:t>
            </a:r>
            <a:r>
              <a:rPr lang="zh-CN" altLang="en-US" dirty="0"/>
              <a:t>权电流型 </a:t>
            </a:r>
            <a:r>
              <a:rPr lang="en-US" altLang="zh-CN" dirty="0"/>
              <a:t>D / A </a:t>
            </a:r>
            <a:r>
              <a:rPr lang="zh-CN" altLang="en-US" dirty="0"/>
              <a:t>转换器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363" y="1528497"/>
            <a:ext cx="6973274" cy="380100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恒电流源电路经常使用图 </a:t>
            </a:r>
            <a:r>
              <a:rPr lang="en-US" altLang="zh-CN" dirty="0" smtClean="0"/>
              <a:t>8</a:t>
            </a:r>
            <a:r>
              <a:rPr lang="zh-CN" altLang="en-US" dirty="0" smtClean="0"/>
              <a:t>－</a:t>
            </a:r>
            <a:r>
              <a:rPr lang="en-US" altLang="zh-CN" dirty="0" smtClean="0"/>
              <a:t>4 </a:t>
            </a:r>
            <a:r>
              <a:rPr lang="zh-CN" altLang="en-US" dirty="0"/>
              <a:t>所示的电路结构形式。只要在电路工作时 </a:t>
            </a:r>
            <a:r>
              <a:rPr lang="en-US" altLang="zh-CN" i="1" dirty="0"/>
              <a:t>U </a:t>
            </a:r>
            <a:r>
              <a:rPr lang="en-US" altLang="zh-CN" i="1" baseline="-25000" dirty="0"/>
              <a:t>B</a:t>
            </a:r>
            <a:r>
              <a:rPr lang="en-US" altLang="zh-CN" i="1" dirty="0"/>
              <a:t> </a:t>
            </a:r>
            <a:r>
              <a:rPr lang="zh-CN" altLang="en-US" dirty="0"/>
              <a:t>和 </a:t>
            </a:r>
            <a:r>
              <a:rPr lang="en-US" altLang="zh-CN" i="1" dirty="0"/>
              <a:t>U </a:t>
            </a:r>
            <a:r>
              <a:rPr lang="en-US" altLang="zh-CN" i="1" baseline="-25000" dirty="0"/>
              <a:t>EE</a:t>
            </a:r>
            <a:r>
              <a:rPr lang="en-US" altLang="zh-CN" i="1" dirty="0"/>
              <a:t> </a:t>
            </a:r>
            <a:r>
              <a:rPr lang="zh-CN" altLang="en-US" dirty="0" smtClean="0"/>
              <a:t>稳定</a:t>
            </a:r>
            <a:r>
              <a:rPr lang="zh-CN" altLang="en-US" dirty="0"/>
              <a:t>不</a:t>
            </a:r>
            <a:r>
              <a:rPr lang="zh-CN" altLang="en-US" dirty="0" smtClean="0"/>
              <a:t>变，则</a:t>
            </a:r>
            <a:r>
              <a:rPr lang="zh-CN" altLang="en-US" dirty="0"/>
              <a:t>三极管的集电极电流可保持恒</a:t>
            </a:r>
            <a:r>
              <a:rPr lang="zh-CN" altLang="en-US" dirty="0" smtClean="0"/>
              <a:t>定，不</a:t>
            </a:r>
            <a:r>
              <a:rPr lang="zh-CN" altLang="en-US" dirty="0"/>
              <a:t>受开关内阻的影响。电流的大小近似为</a:t>
            </a:r>
            <a:endParaRPr lang="zh-CN" altLang="zh-CN" dirty="0"/>
          </a:p>
        </p:txBody>
      </p:sp>
      <p:sp>
        <p:nvSpPr>
          <p:cNvPr id="382979" name="Rectangle 3"/>
          <p:cNvSpPr>
            <a:spLocks noGrp="1" noChangeArrowheads="1"/>
          </p:cNvSpPr>
          <p:nvPr>
            <p:ph type="body" idx="1"/>
          </p:nvPr>
        </p:nvSpPr>
        <p:spPr/>
        <p:txBody>
          <a:bodyPr/>
          <a:lstStyle/>
          <a:p>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784" y="3212975"/>
            <a:ext cx="3168352" cy="1089823"/>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0272" y="3529254"/>
            <a:ext cx="990738" cy="4572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endParaRPr lang="zh-CN" altLang="zh-CN"/>
          </a:p>
        </p:txBody>
      </p:sp>
      <p:sp>
        <p:nvSpPr>
          <p:cNvPr id="384003" name="Rectangle 3"/>
          <p:cNvSpPr>
            <a:spLocks noGrp="1" noChangeArrowheads="1"/>
          </p:cNvSpPr>
          <p:nvPr>
            <p:ph type="body" idx="1"/>
          </p:nvPr>
        </p:nvSpPr>
        <p:spPr/>
        <p:txBody>
          <a:bodyPr/>
          <a:lstStyle/>
          <a:p>
            <a:r>
              <a:rPr lang="zh-CN" altLang="en-US" dirty="0"/>
              <a:t>图 </a:t>
            </a:r>
            <a:r>
              <a:rPr lang="en-US" altLang="zh-CN" dirty="0"/>
              <a:t>8</a:t>
            </a:r>
            <a:r>
              <a:rPr lang="zh-CN" altLang="en-US" dirty="0"/>
              <a:t>－</a:t>
            </a:r>
            <a:r>
              <a:rPr lang="en-US" altLang="zh-CN" dirty="0"/>
              <a:t>4  </a:t>
            </a:r>
            <a:r>
              <a:rPr lang="zh-CN" altLang="en-US" dirty="0"/>
              <a:t>权电流 </a:t>
            </a:r>
            <a:r>
              <a:rPr lang="en-US" altLang="zh-CN" dirty="0"/>
              <a:t>D / A </a:t>
            </a:r>
            <a:r>
              <a:rPr lang="zh-CN" altLang="en-US" dirty="0"/>
              <a:t>转换器中的电流源</a:t>
            </a:r>
            <a:endParaRPr lang="zh-CN" altLang="zh-CN" dirty="0"/>
          </a:p>
          <a:p>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704" y="1792491"/>
            <a:ext cx="5252451" cy="32218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dirty="0" smtClean="0"/>
              <a:t>　</a:t>
            </a:r>
            <a:r>
              <a:rPr lang="en-US" altLang="zh-CN" b="1" dirty="0"/>
              <a:t>2. </a:t>
            </a:r>
            <a:r>
              <a:rPr lang="zh-CN" altLang="en-US" b="1" dirty="0"/>
              <a:t>工作原理</a:t>
            </a:r>
            <a:br>
              <a:rPr lang="zh-CN" altLang="en-US" b="1" dirty="0"/>
            </a:br>
            <a:r>
              <a:rPr lang="zh-CN" altLang="en-US" b="1" dirty="0" smtClean="0"/>
              <a:t>　　</a:t>
            </a:r>
            <a:r>
              <a:rPr lang="zh-CN" altLang="en-US" dirty="0" smtClean="0"/>
              <a:t>在</a:t>
            </a:r>
            <a:r>
              <a:rPr lang="zh-CN" altLang="en-US" dirty="0"/>
              <a:t>权电流型 </a:t>
            </a:r>
            <a:r>
              <a:rPr lang="en-US" altLang="zh-CN" dirty="0"/>
              <a:t>D / A </a:t>
            </a:r>
            <a:r>
              <a:rPr lang="zh-CN" altLang="en-US" dirty="0"/>
              <a:t>转换器</a:t>
            </a:r>
            <a:r>
              <a:rPr lang="zh-CN" altLang="en-US" dirty="0" smtClean="0"/>
              <a:t>中，有</a:t>
            </a:r>
            <a:r>
              <a:rPr lang="zh-CN" altLang="en-US" dirty="0"/>
              <a:t>一组恒电流</a:t>
            </a:r>
            <a:r>
              <a:rPr lang="zh-CN" altLang="en-US" dirty="0" smtClean="0"/>
              <a:t>源，每</a:t>
            </a:r>
            <a:r>
              <a:rPr lang="zh-CN" altLang="en-US" dirty="0"/>
              <a:t>个恒电流源的大小依次为前一个</a:t>
            </a:r>
            <a:r>
              <a:rPr lang="zh-CN" altLang="en-US" dirty="0" smtClean="0"/>
              <a:t>的</a:t>
            </a:r>
            <a:r>
              <a:rPr lang="en-US" altLang="zh-CN" dirty="0" smtClean="0"/>
              <a:t>1 </a:t>
            </a:r>
            <a:r>
              <a:rPr lang="en-US" altLang="zh-CN" dirty="0"/>
              <a:t>/ 2 </a:t>
            </a:r>
            <a:r>
              <a:rPr lang="zh-CN" altLang="en-US" dirty="0" smtClean="0"/>
              <a:t>，和</a:t>
            </a:r>
            <a:r>
              <a:rPr lang="zh-CN" altLang="en-US" dirty="0"/>
              <a:t>二进制输入代码对应的权成正比</a:t>
            </a:r>
            <a:r>
              <a:rPr lang="zh-CN" altLang="en-US" dirty="0" smtClean="0"/>
              <a:t>。</a:t>
            </a:r>
            <a:r>
              <a:rPr lang="en-US" altLang="zh-CN" dirty="0" smtClean="0"/>
              <a:t/>
            </a:r>
            <a:br>
              <a:rPr lang="en-US" altLang="zh-CN" dirty="0" smtClean="0"/>
            </a:br>
            <a:r>
              <a:rPr lang="zh-CN" altLang="en-US" dirty="0"/>
              <a:t>　</a:t>
            </a:r>
            <a:r>
              <a:rPr lang="zh-CN" altLang="en-US" dirty="0" smtClean="0"/>
              <a:t>　输</a:t>
            </a:r>
            <a:r>
              <a:rPr lang="zh-CN" altLang="en-US" dirty="0"/>
              <a:t>出电压为</a:t>
            </a:r>
            <a:endParaRPr lang="zh-CN" altLang="zh-CN" dirty="0"/>
          </a:p>
        </p:txBody>
      </p:sp>
      <p:sp>
        <p:nvSpPr>
          <p:cNvPr id="38502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3501007"/>
            <a:ext cx="5984163" cy="2263627"/>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1827" y="4442293"/>
            <a:ext cx="905001" cy="38105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可</a:t>
            </a:r>
            <a:r>
              <a:rPr lang="zh-CN" altLang="en-US" dirty="0" smtClean="0"/>
              <a:t>见，输</a:t>
            </a:r>
            <a:r>
              <a:rPr lang="zh-CN" altLang="en-US" dirty="0"/>
              <a:t>出电压 </a:t>
            </a:r>
            <a:r>
              <a:rPr lang="en-US" altLang="zh-CN" dirty="0"/>
              <a:t>u </a:t>
            </a:r>
            <a:r>
              <a:rPr lang="en-US" altLang="zh-CN" baseline="-25000" dirty="0"/>
              <a:t>0</a:t>
            </a:r>
            <a:r>
              <a:rPr lang="en-US" altLang="zh-CN" dirty="0"/>
              <a:t> </a:t>
            </a:r>
            <a:r>
              <a:rPr lang="zh-CN" altLang="en-US" dirty="0"/>
              <a:t>正比于输入的数字</a:t>
            </a:r>
            <a:r>
              <a:rPr lang="zh-CN" altLang="en-US" dirty="0" smtClean="0"/>
              <a:t>量，实</a:t>
            </a:r>
            <a:r>
              <a:rPr lang="zh-CN" altLang="en-US" dirty="0"/>
              <a:t>现了数字量到模拟量的转换。权电流 </a:t>
            </a:r>
            <a:r>
              <a:rPr lang="en-US" altLang="zh-CN" dirty="0"/>
              <a:t>D / A </a:t>
            </a:r>
            <a:r>
              <a:rPr lang="zh-CN" altLang="en-US" dirty="0" smtClean="0"/>
              <a:t>转换</a:t>
            </a:r>
            <a:r>
              <a:rPr lang="zh-CN" altLang="en-US" dirty="0"/>
              <a:t>器各支路电流的叠加方法与传输方式和 </a:t>
            </a:r>
            <a:r>
              <a:rPr lang="en-US" altLang="zh-CN" dirty="0"/>
              <a:t>R -2 R </a:t>
            </a:r>
            <a:r>
              <a:rPr lang="zh-CN" altLang="en-US" dirty="0"/>
              <a:t>倒 </a:t>
            </a:r>
            <a:r>
              <a:rPr lang="en-US" altLang="zh-CN" dirty="0"/>
              <a:t>T </a:t>
            </a:r>
            <a:r>
              <a:rPr lang="zh-CN" altLang="en-US" dirty="0"/>
              <a:t>型电阻网络 </a:t>
            </a:r>
            <a:r>
              <a:rPr lang="en-US" altLang="zh-CN" dirty="0"/>
              <a:t>D / A </a:t>
            </a:r>
            <a:r>
              <a:rPr lang="zh-CN" altLang="en-US" dirty="0"/>
              <a:t>转换器相</a:t>
            </a:r>
            <a:r>
              <a:rPr lang="zh-CN" altLang="en-US" dirty="0" smtClean="0"/>
              <a:t>同，因而也</a:t>
            </a:r>
            <a:r>
              <a:rPr lang="zh-CN" altLang="en-US" dirty="0"/>
              <a:t>具有转换速度快的特点。此</a:t>
            </a:r>
            <a:r>
              <a:rPr lang="zh-CN" altLang="en-US" dirty="0" smtClean="0"/>
              <a:t>外，由</a:t>
            </a:r>
            <a:r>
              <a:rPr lang="zh-CN" altLang="en-US" dirty="0"/>
              <a:t>于采用了恒流</a:t>
            </a:r>
            <a:r>
              <a:rPr lang="zh-CN" altLang="en-US" dirty="0" smtClean="0"/>
              <a:t>源，每</a:t>
            </a:r>
            <a:r>
              <a:rPr lang="zh-CN" altLang="en-US" dirty="0"/>
              <a:t>个支路电流的大小不再受开关</a:t>
            </a:r>
            <a:r>
              <a:rPr lang="zh-CN" altLang="en-US" dirty="0" smtClean="0"/>
              <a:t>内阻</a:t>
            </a:r>
            <a:r>
              <a:rPr lang="zh-CN" altLang="en-US" dirty="0"/>
              <a:t>和压降的影</a:t>
            </a:r>
            <a:r>
              <a:rPr lang="zh-CN" altLang="en-US" dirty="0" smtClean="0"/>
              <a:t>响，从</a:t>
            </a:r>
            <a:r>
              <a:rPr lang="zh-CN" altLang="en-US" dirty="0"/>
              <a:t>而降低了对开关电路的要求。</a:t>
            </a:r>
            <a:endParaRPr lang="zh-CN" altLang="zh-CN" dirty="0"/>
          </a:p>
        </p:txBody>
      </p:sp>
      <p:sp>
        <p:nvSpPr>
          <p:cNvPr id="3860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r>
              <a:rPr lang="en-US" altLang="zh-CN" dirty="0"/>
              <a:t/>
            </a:r>
            <a:br>
              <a:rPr lang="en-US" altLang="zh-CN" dirty="0"/>
            </a:br>
            <a:r>
              <a:rPr lang="en-US" altLang="zh-CN" b="1" dirty="0"/>
              <a:t>8. 2. 4 D / A </a:t>
            </a:r>
            <a:r>
              <a:rPr lang="zh-CN" altLang="en-US" b="1" dirty="0"/>
              <a:t>转换器的主要技术指</a:t>
            </a:r>
            <a:r>
              <a:rPr lang="zh-CN" altLang="en-US" b="1" dirty="0" smtClean="0"/>
              <a:t>标</a:t>
            </a:r>
            <a:r>
              <a:rPr lang="en-US" altLang="zh-CN" b="1" dirty="0"/>
              <a:t/>
            </a:r>
            <a:br>
              <a:rPr lang="en-US" altLang="zh-CN" b="1" dirty="0"/>
            </a:br>
            <a:r>
              <a:rPr lang="zh-CN" altLang="en-US" b="1" dirty="0" smtClean="0"/>
              <a:t>　　</a:t>
            </a:r>
            <a:r>
              <a:rPr lang="en-US" altLang="zh-CN" b="1" dirty="0" smtClean="0"/>
              <a:t>1</a:t>
            </a:r>
            <a:r>
              <a:rPr lang="en-US" altLang="zh-CN" b="1" dirty="0"/>
              <a:t>. </a:t>
            </a:r>
            <a:r>
              <a:rPr lang="zh-CN" altLang="en-US" b="1" dirty="0"/>
              <a:t>分辨率</a:t>
            </a:r>
            <a:br>
              <a:rPr lang="zh-CN" altLang="en-US" b="1" dirty="0"/>
            </a:br>
            <a:r>
              <a:rPr lang="zh-CN" altLang="en-US" b="1" dirty="0" smtClean="0"/>
              <a:t>　　</a:t>
            </a:r>
            <a:r>
              <a:rPr lang="zh-CN" altLang="en-US" dirty="0" smtClean="0"/>
              <a:t>分</a:t>
            </a:r>
            <a:r>
              <a:rPr lang="zh-CN" altLang="en-US" dirty="0"/>
              <a:t>辨率是指输入数字量的最低有效位为 </a:t>
            </a:r>
            <a:r>
              <a:rPr lang="en-US" altLang="zh-CN" dirty="0"/>
              <a:t>1 </a:t>
            </a:r>
            <a:r>
              <a:rPr lang="zh-CN" altLang="en-US" dirty="0" smtClean="0"/>
              <a:t>时，对</a:t>
            </a:r>
            <a:r>
              <a:rPr lang="zh-CN" altLang="en-US" dirty="0"/>
              <a:t>应输出可分辨的电压变化量 </a:t>
            </a:r>
            <a:r>
              <a:rPr lang="en-US" altLang="zh-CN" dirty="0"/>
              <a:t>Δ U </a:t>
            </a:r>
            <a:r>
              <a:rPr lang="zh-CN" altLang="en-US" dirty="0"/>
              <a:t>与</a:t>
            </a:r>
            <a:r>
              <a:rPr lang="zh-CN" altLang="en-US" dirty="0" smtClean="0"/>
              <a:t>最大</a:t>
            </a:r>
            <a:r>
              <a:rPr lang="zh-CN" altLang="en-US" dirty="0"/>
              <a:t>输出电压之</a:t>
            </a:r>
            <a:r>
              <a:rPr lang="zh-CN" altLang="en-US" dirty="0" smtClean="0"/>
              <a:t>比，即</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a:t>例</a:t>
            </a:r>
            <a:r>
              <a:rPr lang="zh-CN" altLang="en-US" dirty="0" smtClean="0"/>
              <a:t>如，</a:t>
            </a:r>
            <a:r>
              <a:rPr lang="en-US" altLang="zh-CN" dirty="0" smtClean="0"/>
              <a:t> </a:t>
            </a:r>
            <a:r>
              <a:rPr lang="en-US" altLang="zh-CN" dirty="0"/>
              <a:t>10 </a:t>
            </a:r>
            <a:r>
              <a:rPr lang="zh-CN" altLang="en-US" dirty="0"/>
              <a:t>位 </a:t>
            </a:r>
            <a:r>
              <a:rPr lang="en-US" altLang="zh-CN" dirty="0"/>
              <a:t>D / A </a:t>
            </a:r>
            <a:r>
              <a:rPr lang="zh-CN" altLang="en-US" dirty="0"/>
              <a:t>转换器的分辨率可以表示</a:t>
            </a:r>
            <a:r>
              <a:rPr lang="zh-CN" altLang="en-US" dirty="0" smtClean="0"/>
              <a:t>为</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smtClean="0"/>
              <a:t>　　分</a:t>
            </a:r>
            <a:r>
              <a:rPr lang="zh-CN" altLang="en-US" dirty="0"/>
              <a:t>辨率越</a:t>
            </a:r>
            <a:r>
              <a:rPr lang="zh-CN" altLang="en-US" dirty="0" smtClean="0"/>
              <a:t>高，转</a:t>
            </a:r>
            <a:r>
              <a:rPr lang="zh-CN" altLang="en-US" dirty="0"/>
              <a:t>换时对输入量的微小变化的反应就越灵敏。</a:t>
            </a:r>
            <a:endParaRPr lang="zh-CN" altLang="zh-CN" dirty="0"/>
          </a:p>
        </p:txBody>
      </p:sp>
      <p:sp>
        <p:nvSpPr>
          <p:cNvPr id="38707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92" y="3030661"/>
            <a:ext cx="2667372" cy="733527"/>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0272" y="3228947"/>
            <a:ext cx="876422" cy="400106"/>
          </a:xfrm>
          <a:prstGeom prst="rect">
            <a:avLst/>
          </a:prstGeom>
        </p:spPr>
      </p:pic>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5012" y="4365104"/>
            <a:ext cx="3413439" cy="91101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88098"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如果输出模 拟电压满量 程为 </a:t>
                </a:r>
                <a:r>
                  <a:rPr lang="en-US" altLang="zh-CN" dirty="0"/>
                  <a:t>10V </a:t>
                </a:r>
                <a:r>
                  <a:rPr lang="zh-CN" altLang="en-US" dirty="0" smtClean="0"/>
                  <a:t>，那</a:t>
                </a:r>
                <a:r>
                  <a:rPr lang="zh-CN" altLang="en-US" dirty="0"/>
                  <a:t>么 </a:t>
                </a:r>
                <a:r>
                  <a:rPr lang="en-US" altLang="zh-CN" dirty="0"/>
                  <a:t>10 </a:t>
                </a:r>
                <a:r>
                  <a:rPr lang="zh-CN" altLang="en-US" dirty="0"/>
                  <a:t>位 </a:t>
                </a:r>
                <a:r>
                  <a:rPr lang="en-US" altLang="zh-CN" dirty="0"/>
                  <a:t>D / A </a:t>
                </a:r>
                <a:r>
                  <a:rPr lang="zh-CN" altLang="en-US" dirty="0"/>
                  <a:t>转换器能 够分辨的最 小电</a:t>
                </a:r>
                <a:r>
                  <a:rPr lang="zh-CN" altLang="en-US" dirty="0" smtClean="0"/>
                  <a:t>压是</a:t>
                </a:r>
                <a14:m>
                  <m:oMath xmlns:m="http://schemas.openxmlformats.org/officeDocument/2006/math">
                    <m:f>
                      <m:fPr>
                        <m:ctrlPr>
                          <a:rPr lang="en-US" altLang="zh-CN" i="1" smtClean="0">
                            <a:latin typeface="Cambria Math"/>
                          </a:rPr>
                        </m:ctrlPr>
                      </m:fPr>
                      <m:num>
                        <m:r>
                          <m:rPr>
                            <m:nor/>
                          </m:rPr>
                          <a:rPr lang="en-US" altLang="zh-CN" dirty="0"/>
                          <m:t>10</m:t>
                        </m:r>
                      </m:num>
                      <m:den>
                        <m:r>
                          <m:rPr>
                            <m:nor/>
                          </m:rPr>
                          <a:rPr lang="en-US" altLang="zh-CN" dirty="0"/>
                          <m:t>1023</m:t>
                        </m:r>
                      </m:den>
                    </m:f>
                  </m:oMath>
                </a14:m>
                <a:r>
                  <a:rPr lang="en-US" altLang="zh-CN" dirty="0"/>
                  <a:t>( ≈</a:t>
                </a:r>
                <a:r>
                  <a:rPr lang="en-US" altLang="zh-CN" dirty="0" smtClean="0"/>
                  <a:t>0.009775 </a:t>
                </a:r>
                <a:r>
                  <a:rPr lang="en-US" altLang="zh-CN" dirty="0"/>
                  <a:t>) V </a:t>
                </a:r>
                <a:r>
                  <a:rPr lang="zh-CN" altLang="en-US" dirty="0" smtClean="0"/>
                  <a:t>，而</a:t>
                </a:r>
                <a:r>
                  <a:rPr lang="zh-CN" altLang="en-US" dirty="0"/>
                  <a:t>八位 </a:t>
                </a:r>
                <a:r>
                  <a:rPr lang="en-US" altLang="zh-CN" dirty="0"/>
                  <a:t>D / A </a:t>
                </a:r>
                <a:r>
                  <a:rPr lang="zh-CN" altLang="en-US" dirty="0"/>
                  <a:t>转换器能够分辨的最小电压是 </a:t>
                </a:r>
                <a14:m>
                  <m:oMath xmlns:m="http://schemas.openxmlformats.org/officeDocument/2006/math">
                    <m:f>
                      <m:fPr>
                        <m:ctrlPr>
                          <a:rPr lang="en-US" altLang="zh-CN" i="1">
                            <a:latin typeface="Cambria Math"/>
                          </a:rPr>
                        </m:ctrlPr>
                      </m:fPr>
                      <m:num>
                        <m:r>
                          <m:rPr>
                            <m:nor/>
                          </m:rPr>
                          <a:rPr lang="en-US" altLang="zh-CN" dirty="0"/>
                          <m:t>10</m:t>
                        </m:r>
                      </m:num>
                      <m:den>
                        <m:r>
                          <m:rPr>
                            <m:nor/>
                          </m:rPr>
                          <a:rPr lang="en-US" altLang="zh-CN" dirty="0"/>
                          <m:t>255</m:t>
                        </m:r>
                      </m:den>
                    </m:f>
                  </m:oMath>
                </a14:m>
                <a:r>
                  <a:rPr lang="en-US" altLang="zh-CN" dirty="0"/>
                  <a:t>( ≈</a:t>
                </a:r>
                <a:r>
                  <a:rPr lang="en-US" altLang="zh-CN" dirty="0" smtClean="0"/>
                  <a:t>0.039125 </a:t>
                </a:r>
                <a:r>
                  <a:rPr lang="en-US" altLang="zh-CN" dirty="0"/>
                  <a:t>) V </a:t>
                </a:r>
                <a:r>
                  <a:rPr lang="zh-CN" altLang="en-US" dirty="0" smtClean="0"/>
                  <a:t>，可</a:t>
                </a:r>
                <a:r>
                  <a:rPr lang="zh-CN" altLang="en-US" dirty="0"/>
                  <a:t/>
                </a:r>
                <a:br>
                  <a:rPr lang="zh-CN" altLang="en-US" dirty="0"/>
                </a:br>
                <a:r>
                  <a:rPr lang="zh-CN" altLang="en-US" dirty="0" smtClean="0"/>
                  <a:t>见，</a:t>
                </a:r>
                <a:r>
                  <a:rPr lang="en-US" altLang="zh-CN" dirty="0" smtClean="0"/>
                  <a:t> </a:t>
                </a:r>
                <a:r>
                  <a:rPr lang="en-US" altLang="zh-CN" dirty="0"/>
                  <a:t>D / A </a:t>
                </a:r>
                <a:r>
                  <a:rPr lang="zh-CN" altLang="en-US" dirty="0"/>
                  <a:t>转换器的位数越</a:t>
                </a:r>
                <a:r>
                  <a:rPr lang="zh-CN" altLang="en-US" dirty="0" smtClean="0"/>
                  <a:t>高，分</a:t>
                </a:r>
                <a:r>
                  <a:rPr lang="zh-CN" altLang="en-US" dirty="0"/>
                  <a:t>辨输出电压的能力就越强。</a:t>
                </a:r>
                <a:endParaRPr lang="zh-CN" altLang="zh-CN" dirty="0"/>
              </a:p>
            </p:txBody>
          </p:sp>
        </mc:Choice>
        <mc:Fallback>
          <p:sp>
            <p:nvSpPr>
              <p:cNvPr id="388098"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3757"/>
                </a:stretch>
              </a:blipFill>
            </p:spPr>
            <p:txBody>
              <a:bodyPr/>
              <a:lstStyle/>
              <a:p>
                <a:r>
                  <a:rPr lang="zh-CN" altLang="en-US">
                    <a:noFill/>
                  </a:rPr>
                  <a:t> </a:t>
                </a:r>
              </a:p>
            </p:txBody>
          </p:sp>
        </mc:Fallback>
      </mc:AlternateContent>
      <p:sp>
        <p:nvSpPr>
          <p:cNvPr id="3880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en-US" altLang="zh-CN" b="1" dirty="0"/>
              <a:t>2. </a:t>
            </a:r>
            <a:r>
              <a:rPr lang="zh-CN" altLang="en-US" b="1" dirty="0"/>
              <a:t>转换精度</a:t>
            </a:r>
            <a:br>
              <a:rPr lang="zh-CN" altLang="en-US" b="1" dirty="0"/>
            </a:br>
            <a:r>
              <a:rPr lang="zh-CN" altLang="en-US" b="1" dirty="0" smtClean="0"/>
              <a:t>　　</a:t>
            </a:r>
            <a:r>
              <a:rPr lang="zh-CN" altLang="en-US" dirty="0" smtClean="0"/>
              <a:t>转</a:t>
            </a:r>
            <a:r>
              <a:rPr lang="zh-CN" altLang="en-US" dirty="0"/>
              <a:t>换精度是实际输出值与理论计算值之差。这种差值由转换过程的各种误差引</a:t>
            </a:r>
            <a:r>
              <a:rPr lang="zh-CN" altLang="en-US" dirty="0" smtClean="0"/>
              <a:t>起，主要</a:t>
            </a:r>
            <a:r>
              <a:rPr lang="zh-CN" altLang="en-US" dirty="0"/>
              <a:t>是静态误差。它包括</a:t>
            </a:r>
            <a:r>
              <a:rPr lang="en-US" altLang="zh-CN" dirty="0"/>
              <a:t>:</a:t>
            </a:r>
            <a:br>
              <a:rPr lang="en-US" altLang="zh-CN" dirty="0"/>
            </a:br>
            <a:r>
              <a:rPr lang="zh-CN" altLang="en-US" dirty="0" smtClean="0"/>
              <a:t>　　</a:t>
            </a:r>
            <a:r>
              <a:rPr lang="en-US" altLang="zh-CN" dirty="0" smtClean="0"/>
              <a:t>(1)</a:t>
            </a:r>
            <a:r>
              <a:rPr lang="zh-CN" altLang="en-US" dirty="0"/>
              <a:t>非线性误差。它是由电子开关导通的电压降和电阻网络电阻值偏差产生</a:t>
            </a:r>
            <a:r>
              <a:rPr lang="zh-CN" altLang="en-US" dirty="0" smtClean="0"/>
              <a:t>的，常用满</a:t>
            </a:r>
            <a:r>
              <a:rPr lang="zh-CN" altLang="en-US" dirty="0"/>
              <a:t>刻度的百分数来表示</a:t>
            </a:r>
            <a:r>
              <a:rPr lang="zh-CN" altLang="en-US" dirty="0" smtClean="0"/>
              <a:t>。</a:t>
            </a:r>
            <a:r>
              <a:rPr lang="en-US" altLang="zh-CN" dirty="0"/>
              <a:t/>
            </a:r>
            <a:br>
              <a:rPr lang="en-US" altLang="zh-CN" dirty="0"/>
            </a:br>
            <a:r>
              <a:rPr lang="zh-CN" altLang="en-US" dirty="0"/>
              <a:t>　　 </a:t>
            </a:r>
            <a:r>
              <a:rPr lang="en-US" altLang="zh-CN" dirty="0" smtClean="0"/>
              <a:t>(2)</a:t>
            </a:r>
            <a:r>
              <a:rPr lang="zh-CN" altLang="en-US" dirty="0"/>
              <a:t>比例系数误差。它是参考电压 </a:t>
            </a:r>
            <a:r>
              <a:rPr lang="en-US" altLang="zh-CN" i="1" dirty="0"/>
              <a:t>U </a:t>
            </a:r>
            <a:r>
              <a:rPr lang="en-US" altLang="zh-CN" i="1" baseline="-25000" dirty="0"/>
              <a:t>REF</a:t>
            </a:r>
            <a:r>
              <a:rPr lang="en-US" altLang="zh-CN" i="1" dirty="0"/>
              <a:t> </a:t>
            </a:r>
            <a:r>
              <a:rPr lang="zh-CN" altLang="en-US" dirty="0"/>
              <a:t>的偏离引起的误差。以图 </a:t>
            </a:r>
            <a:r>
              <a:rPr lang="en-US" altLang="zh-CN" dirty="0" smtClean="0"/>
              <a:t>8</a:t>
            </a:r>
            <a:r>
              <a:rPr lang="zh-CN" altLang="en-US" dirty="0" smtClean="0"/>
              <a:t>－</a:t>
            </a:r>
            <a:r>
              <a:rPr lang="en-US" altLang="zh-CN" dirty="0" smtClean="0"/>
              <a:t>2 </a:t>
            </a:r>
            <a:r>
              <a:rPr lang="zh-CN" altLang="en-US" dirty="0"/>
              <a:t>的倒 </a:t>
            </a:r>
            <a:r>
              <a:rPr lang="en-US" altLang="zh-CN" dirty="0"/>
              <a:t>T </a:t>
            </a:r>
            <a:r>
              <a:rPr lang="zh-CN" altLang="en-US" dirty="0"/>
              <a:t>型电</a:t>
            </a:r>
            <a:r>
              <a:rPr lang="zh-CN" altLang="en-US" dirty="0" smtClean="0"/>
              <a:t>阻网</a:t>
            </a:r>
            <a:r>
              <a:rPr lang="zh-CN" altLang="en-US" dirty="0"/>
              <a:t>络 </a:t>
            </a:r>
            <a:r>
              <a:rPr lang="en-US" altLang="zh-CN" dirty="0"/>
              <a:t>D / A </a:t>
            </a:r>
            <a:r>
              <a:rPr lang="zh-CN" altLang="en-US" dirty="0"/>
              <a:t>转换器为</a:t>
            </a:r>
            <a:r>
              <a:rPr lang="zh-CN" altLang="en-US" dirty="0" smtClean="0"/>
              <a:t>例，如</a:t>
            </a:r>
            <a:r>
              <a:rPr lang="zh-CN" altLang="en-US" dirty="0"/>
              <a:t>果 </a:t>
            </a:r>
            <a:r>
              <a:rPr lang="en-US" altLang="zh-CN" i="1" dirty="0"/>
              <a:t>U </a:t>
            </a:r>
            <a:r>
              <a:rPr lang="en-US" altLang="zh-CN" i="1" baseline="-25000" dirty="0"/>
              <a:t>REF</a:t>
            </a:r>
            <a:r>
              <a:rPr lang="en-US" altLang="zh-CN" i="1" dirty="0"/>
              <a:t> </a:t>
            </a:r>
            <a:r>
              <a:rPr lang="zh-CN" altLang="en-US" dirty="0"/>
              <a:t>偏离标准值 </a:t>
            </a:r>
            <a:r>
              <a:rPr lang="en-US" altLang="zh-CN" i="1" dirty="0"/>
              <a:t>Δ U </a:t>
            </a:r>
            <a:r>
              <a:rPr lang="en-US" altLang="zh-CN" i="1" baseline="-25000" dirty="0"/>
              <a:t>REF</a:t>
            </a:r>
            <a:r>
              <a:rPr lang="en-US" altLang="zh-CN" i="1" dirty="0"/>
              <a:t> </a:t>
            </a:r>
            <a:r>
              <a:rPr lang="zh-CN" altLang="en-US" dirty="0" smtClean="0"/>
              <a:t>，则</a:t>
            </a:r>
            <a:r>
              <a:rPr lang="zh-CN" altLang="en-US" dirty="0"/>
              <a:t>输出将产生误差电压</a:t>
            </a:r>
            <a:r>
              <a:rPr lang="en-US" altLang="zh-CN" dirty="0"/>
              <a:t>:</a:t>
            </a:r>
            <a:endParaRPr lang="zh-CN" altLang="zh-CN" dirty="0"/>
          </a:p>
        </p:txBody>
      </p:sp>
      <p:sp>
        <p:nvSpPr>
          <p:cNvPr id="38912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4869160"/>
            <a:ext cx="5334745" cy="800212"/>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4328" y="5078739"/>
            <a:ext cx="1019317" cy="38105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这个结果说</a:t>
            </a:r>
            <a:r>
              <a:rPr lang="zh-CN" altLang="en-US" dirty="0" smtClean="0"/>
              <a:t>明，由 </a:t>
            </a:r>
            <a:r>
              <a:rPr lang="en-US" altLang="zh-CN" i="1" dirty="0"/>
              <a:t>U </a:t>
            </a:r>
            <a:r>
              <a:rPr lang="en-US" altLang="zh-CN" i="1" baseline="-25000" dirty="0"/>
              <a:t>REF</a:t>
            </a:r>
            <a:r>
              <a:rPr lang="en-US" altLang="zh-CN" i="1" dirty="0"/>
              <a:t> </a:t>
            </a:r>
            <a:r>
              <a:rPr lang="zh-CN" altLang="en-US" dirty="0"/>
              <a:t>的变化所引起的误差和输入数字量的大小是成正比的。因此</a:t>
            </a:r>
            <a:r>
              <a:rPr lang="zh-CN" altLang="en-US" dirty="0" smtClean="0"/>
              <a:t>把由 </a:t>
            </a:r>
            <a:r>
              <a:rPr lang="en-US" altLang="zh-CN" dirty="0"/>
              <a:t>Δ</a:t>
            </a:r>
            <a:r>
              <a:rPr lang="en-US" altLang="zh-CN" i="1" dirty="0"/>
              <a:t> U </a:t>
            </a:r>
            <a:r>
              <a:rPr lang="en-US" altLang="zh-CN" i="1" baseline="-25000" dirty="0"/>
              <a:t>REF</a:t>
            </a:r>
            <a:r>
              <a:rPr lang="en-US" altLang="zh-CN" i="1" dirty="0" smtClean="0"/>
              <a:t> </a:t>
            </a:r>
            <a:r>
              <a:rPr lang="zh-CN" altLang="en-US" dirty="0"/>
              <a:t>引起的转换误差叫做比例系数误差。图 </a:t>
            </a:r>
            <a:r>
              <a:rPr lang="en-US" altLang="zh-CN" dirty="0" smtClean="0"/>
              <a:t>8</a:t>
            </a:r>
            <a:r>
              <a:rPr lang="zh-CN" altLang="en-US" dirty="0" smtClean="0"/>
              <a:t>－</a:t>
            </a:r>
            <a:r>
              <a:rPr lang="en-US" altLang="zh-CN" dirty="0" smtClean="0"/>
              <a:t>5 </a:t>
            </a:r>
            <a:r>
              <a:rPr lang="zh-CN" altLang="en-US" dirty="0"/>
              <a:t>中以虚线表示出了当 </a:t>
            </a:r>
            <a:r>
              <a:rPr lang="en-US" altLang="zh-CN" i="1" dirty="0"/>
              <a:t>Δ U </a:t>
            </a:r>
            <a:r>
              <a:rPr lang="en-US" altLang="zh-CN" i="1" baseline="-25000" dirty="0"/>
              <a:t>REF</a:t>
            </a:r>
            <a:r>
              <a:rPr lang="en-US" altLang="zh-CN" i="1" dirty="0" smtClean="0"/>
              <a:t> </a:t>
            </a:r>
            <a:r>
              <a:rPr lang="zh-CN" altLang="en-US" dirty="0"/>
              <a:t>一定</a:t>
            </a:r>
            <a:r>
              <a:rPr lang="zh-CN" altLang="en-US" dirty="0" smtClean="0"/>
              <a:t>时，输</a:t>
            </a:r>
            <a:r>
              <a:rPr lang="zh-CN" altLang="en-US" dirty="0"/>
              <a:t>出的电压值偏离理论值的情况</a:t>
            </a:r>
            <a:r>
              <a:rPr lang="zh-CN" altLang="en-US" dirty="0" smtClean="0"/>
              <a:t>。</a:t>
            </a:r>
            <a:r>
              <a:rPr lang="en-US" altLang="zh-CN" dirty="0" smtClean="0"/>
              <a:t/>
            </a:r>
            <a:br>
              <a:rPr lang="en-US" altLang="zh-CN" dirty="0" smtClean="0"/>
            </a:br>
            <a:endParaRPr lang="zh-CN" altLang="zh-CN" dirty="0"/>
          </a:p>
        </p:txBody>
      </p:sp>
      <p:sp>
        <p:nvSpPr>
          <p:cNvPr id="3901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endParaRPr lang="zh-CN" altLang="zh-CN" dirty="0"/>
          </a:p>
        </p:txBody>
      </p:sp>
      <p:sp>
        <p:nvSpPr>
          <p:cNvPr id="391171"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5  </a:t>
            </a:r>
            <a:r>
              <a:rPr lang="zh-CN" altLang="en-US" dirty="0"/>
              <a:t>比例系数误差</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1009194"/>
            <a:ext cx="5659518" cy="44535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en-US" altLang="zh-CN" dirty="0" smtClean="0"/>
              <a:t>(3)</a:t>
            </a:r>
            <a:r>
              <a:rPr lang="zh-CN" altLang="en-US" dirty="0"/>
              <a:t>漂移误差。它是由运算放大器零点漂移产生的误差。当输入数字量为 </a:t>
            </a:r>
            <a:r>
              <a:rPr lang="en-US" altLang="zh-CN" dirty="0"/>
              <a:t>0 </a:t>
            </a:r>
            <a:r>
              <a:rPr lang="zh-CN" altLang="en-US" dirty="0" smtClean="0"/>
              <a:t>时，由于运</a:t>
            </a:r>
            <a:r>
              <a:rPr lang="zh-CN" altLang="en-US" dirty="0"/>
              <a:t>算放大器的零点漂</a:t>
            </a:r>
            <a:r>
              <a:rPr lang="zh-CN" altLang="en-US" dirty="0" smtClean="0"/>
              <a:t>移，输</a:t>
            </a:r>
            <a:r>
              <a:rPr lang="zh-CN" altLang="en-US" dirty="0"/>
              <a:t>出的模拟电压并不为 </a:t>
            </a:r>
            <a:r>
              <a:rPr lang="en-US" altLang="zh-CN" dirty="0"/>
              <a:t>0 </a:t>
            </a:r>
            <a:r>
              <a:rPr lang="zh-CN" altLang="en-US" dirty="0"/>
              <a:t>。这使实际输出电压值与理想电压值产生一个相对位</a:t>
            </a:r>
            <a:r>
              <a:rPr lang="zh-CN" altLang="en-US" dirty="0" smtClean="0"/>
              <a:t>移，如</a:t>
            </a:r>
            <a:r>
              <a:rPr lang="zh-CN" altLang="en-US" dirty="0"/>
              <a:t>图 </a:t>
            </a:r>
            <a:r>
              <a:rPr lang="en-US" altLang="zh-CN" dirty="0" smtClean="0"/>
              <a:t>8</a:t>
            </a:r>
            <a:r>
              <a:rPr lang="zh-CN" altLang="en-US" dirty="0" smtClean="0"/>
              <a:t>－</a:t>
            </a:r>
            <a:r>
              <a:rPr lang="en-US" altLang="zh-CN" dirty="0" smtClean="0"/>
              <a:t>6 </a:t>
            </a:r>
            <a:r>
              <a:rPr lang="zh-CN" altLang="en-US" dirty="0"/>
              <a:t>中虚线所示。</a:t>
            </a:r>
            <a:endParaRPr lang="zh-CN" altLang="zh-CN" dirty="0"/>
          </a:p>
        </p:txBody>
      </p:sp>
      <p:sp>
        <p:nvSpPr>
          <p:cNvPr id="3921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endParaRPr lang="zh-CN" altLang="zh-CN"/>
          </a:p>
        </p:txBody>
      </p:sp>
      <p:sp>
        <p:nvSpPr>
          <p:cNvPr id="393219"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6  </a:t>
            </a:r>
            <a:r>
              <a:rPr lang="zh-CN" altLang="en-US" dirty="0"/>
              <a:t>漂移误差</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7996" y="1001572"/>
            <a:ext cx="5558340" cy="446129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en-US" altLang="zh-CN" b="1" dirty="0"/>
              <a:t>【</a:t>
            </a:r>
            <a:r>
              <a:rPr lang="zh-CN" altLang="en-US" b="1" dirty="0"/>
              <a:t>例 </a:t>
            </a:r>
            <a:r>
              <a:rPr lang="en-US" altLang="zh-CN" b="1" dirty="0"/>
              <a:t>8. 2 】 </a:t>
            </a:r>
            <a:r>
              <a:rPr lang="zh-CN" altLang="en-US" dirty="0"/>
              <a:t>在图 </a:t>
            </a:r>
            <a:r>
              <a:rPr lang="en-US" altLang="zh-CN" dirty="0" smtClean="0"/>
              <a:t>8</a:t>
            </a:r>
            <a:r>
              <a:rPr lang="zh-CN" altLang="en-US" dirty="0" smtClean="0"/>
              <a:t>－</a:t>
            </a:r>
            <a:r>
              <a:rPr lang="en-US" altLang="zh-CN" dirty="0" smtClean="0"/>
              <a:t>2 </a:t>
            </a:r>
            <a:r>
              <a:rPr lang="zh-CN" altLang="en-US" dirty="0"/>
              <a:t>的倒 </a:t>
            </a:r>
            <a:r>
              <a:rPr lang="en-US" altLang="zh-CN" dirty="0"/>
              <a:t>T </a:t>
            </a:r>
            <a:r>
              <a:rPr lang="zh-CN" altLang="en-US" dirty="0"/>
              <a:t>型电阻网络 </a:t>
            </a:r>
            <a:r>
              <a:rPr lang="en-US" altLang="zh-CN" dirty="0"/>
              <a:t>D / A </a:t>
            </a:r>
            <a:r>
              <a:rPr lang="zh-CN" altLang="en-US" dirty="0"/>
              <a:t>转换器</a:t>
            </a:r>
            <a:r>
              <a:rPr lang="zh-CN" altLang="en-US" dirty="0" smtClean="0"/>
              <a:t>中，外</a:t>
            </a:r>
            <a:r>
              <a:rPr lang="zh-CN" altLang="en-US" dirty="0"/>
              <a:t>接参考电压 </a:t>
            </a:r>
            <a:r>
              <a:rPr lang="en-US" altLang="zh-CN" i="1" dirty="0"/>
              <a:t>U </a:t>
            </a:r>
            <a:r>
              <a:rPr lang="en-US" altLang="zh-CN" i="1" baseline="-25000" dirty="0"/>
              <a:t>REF</a:t>
            </a:r>
            <a:r>
              <a:rPr lang="en-US" altLang="zh-CN" i="1" dirty="0"/>
              <a:t> </a:t>
            </a:r>
            <a:r>
              <a:rPr lang="en-US" altLang="zh-CN" dirty="0"/>
              <a:t>=-10V </a:t>
            </a:r>
            <a:r>
              <a:rPr lang="zh-CN" altLang="en-US" dirty="0" smtClean="0"/>
              <a:t>。为</a:t>
            </a:r>
            <a:r>
              <a:rPr lang="zh-CN" altLang="en-US" dirty="0"/>
              <a:t>保证 </a:t>
            </a:r>
            <a:r>
              <a:rPr lang="en-US" altLang="zh-CN" i="1" dirty="0"/>
              <a:t>U </a:t>
            </a:r>
            <a:r>
              <a:rPr lang="en-US" altLang="zh-CN" i="1" baseline="-25000" dirty="0"/>
              <a:t>REF</a:t>
            </a:r>
            <a:r>
              <a:rPr lang="zh-CN" altLang="en-US" dirty="0" smtClean="0"/>
              <a:t>偏</a:t>
            </a:r>
            <a:r>
              <a:rPr lang="zh-CN" altLang="en-US" dirty="0"/>
              <a:t>离标准值所引起的误差小于 </a:t>
            </a:r>
            <a:r>
              <a:rPr lang="en-US" altLang="zh-CN" dirty="0"/>
              <a:t>1 / 2LSB (</a:t>
            </a:r>
            <a:r>
              <a:rPr lang="zh-CN" altLang="en-US" dirty="0"/>
              <a:t>最低有效位</a:t>
            </a:r>
            <a:r>
              <a:rPr lang="en-US" altLang="zh-CN" dirty="0" smtClean="0"/>
              <a:t>)</a:t>
            </a:r>
            <a:r>
              <a:rPr lang="zh-CN" altLang="en-US" dirty="0" smtClean="0"/>
              <a:t>，试</a:t>
            </a:r>
            <a:r>
              <a:rPr lang="zh-CN" altLang="en-US" dirty="0"/>
              <a:t>计算 </a:t>
            </a:r>
            <a:r>
              <a:rPr lang="en-US" altLang="zh-CN" i="1" dirty="0"/>
              <a:t>U </a:t>
            </a:r>
            <a:r>
              <a:rPr lang="en-US" altLang="zh-CN" i="1" baseline="-25000" dirty="0"/>
              <a:t>REF</a:t>
            </a:r>
            <a:r>
              <a:rPr lang="zh-CN" altLang="en-US" dirty="0" smtClean="0"/>
              <a:t>的</a:t>
            </a:r>
            <a:r>
              <a:rPr lang="zh-CN" altLang="en-US" dirty="0"/>
              <a:t>相对稳</a:t>
            </a:r>
            <a:r>
              <a:rPr lang="zh-CN" altLang="en-US" dirty="0" smtClean="0"/>
              <a:t>定度</a:t>
            </a:r>
            <a:r>
              <a:rPr lang="zh-CN" altLang="en-US" dirty="0"/>
              <a:t>应取多少</a:t>
            </a:r>
            <a:r>
              <a:rPr lang="en-US" altLang="zh-CN" dirty="0"/>
              <a:t>?</a:t>
            </a:r>
            <a:br>
              <a:rPr lang="en-US" altLang="zh-CN" dirty="0"/>
            </a:br>
            <a:r>
              <a:rPr lang="zh-CN" altLang="en-US" dirty="0" smtClean="0"/>
              <a:t>　　</a:t>
            </a:r>
            <a:r>
              <a:rPr lang="zh-CN" altLang="en-US" b="1" dirty="0" smtClean="0"/>
              <a:t>解</a:t>
            </a:r>
            <a:r>
              <a:rPr lang="zh-CN" altLang="en-US" dirty="0" smtClean="0"/>
              <a:t> </a:t>
            </a:r>
            <a:r>
              <a:rPr lang="zh-CN" altLang="en-US" dirty="0"/>
              <a:t>先计算对应于 </a:t>
            </a:r>
            <a:r>
              <a:rPr lang="en-US" altLang="zh-CN" dirty="0"/>
              <a:t>1 / 2LSB </a:t>
            </a:r>
            <a:r>
              <a:rPr lang="zh-CN" altLang="en-US" dirty="0"/>
              <a:t>输入的输出电压。由</a:t>
            </a:r>
            <a:r>
              <a:rPr lang="zh-CN" altLang="en-US" dirty="0" smtClean="0"/>
              <a:t>式</a:t>
            </a:r>
            <a:r>
              <a:rPr lang="en-US" altLang="zh-CN" dirty="0" smtClean="0"/>
              <a:t>( </a:t>
            </a:r>
            <a:r>
              <a:rPr lang="en-US" altLang="zh-CN" dirty="0"/>
              <a:t>8.2.6 )</a:t>
            </a:r>
            <a:r>
              <a:rPr lang="zh-CN" altLang="en-US" dirty="0"/>
              <a:t>可</a:t>
            </a:r>
            <a:r>
              <a:rPr lang="zh-CN" altLang="en-US" dirty="0" smtClean="0"/>
              <a:t>知，当</a:t>
            </a:r>
            <a:r>
              <a:rPr lang="zh-CN" altLang="en-US" dirty="0"/>
              <a:t>输入代码只</a:t>
            </a:r>
            <a:r>
              <a:rPr lang="zh-CN" altLang="en-US" dirty="0" smtClean="0"/>
              <a:t>有</a:t>
            </a:r>
            <a:r>
              <a:rPr lang="en-US" altLang="zh-CN" i="1" dirty="0" smtClean="0"/>
              <a:t>LSB</a:t>
            </a:r>
            <a:r>
              <a:rPr lang="en-US" altLang="zh-CN" dirty="0" smtClean="0"/>
              <a:t>=1 </a:t>
            </a:r>
            <a:r>
              <a:rPr lang="zh-CN" altLang="en-US" dirty="0"/>
              <a:t>而其余各位均为 </a:t>
            </a:r>
            <a:r>
              <a:rPr lang="en-US" altLang="zh-CN" dirty="0"/>
              <a:t>0 </a:t>
            </a:r>
            <a:r>
              <a:rPr lang="zh-CN" altLang="en-US" dirty="0"/>
              <a:t>时的输出电压为</a:t>
            </a:r>
            <a:endParaRPr lang="zh-CN" altLang="zh-CN" dirty="0"/>
          </a:p>
        </p:txBody>
      </p:sp>
      <p:sp>
        <p:nvSpPr>
          <p:cNvPr id="39424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089" y="4437112"/>
            <a:ext cx="8249802" cy="79068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smtClean="0"/>
              <a:t>故</a:t>
            </a:r>
            <a:r>
              <a:rPr lang="zh-CN" altLang="en-US" dirty="0"/>
              <a:t>与 </a:t>
            </a:r>
            <a:r>
              <a:rPr lang="en-US" altLang="zh-CN" dirty="0"/>
              <a:t>1 / 2LSB </a:t>
            </a:r>
            <a:r>
              <a:rPr lang="zh-CN" altLang="en-US" dirty="0"/>
              <a:t>相对应的输出电压绝对值</a:t>
            </a:r>
            <a:r>
              <a:rPr lang="zh-CN" altLang="en-US" dirty="0" smtClean="0"/>
              <a:t>为</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smtClean="0"/>
              <a:t>　　其次，计</a:t>
            </a:r>
            <a:r>
              <a:rPr lang="zh-CN" altLang="en-US" dirty="0"/>
              <a:t>算由于参考电压 </a:t>
            </a:r>
            <a:r>
              <a:rPr lang="en-US" altLang="zh-CN" i="1" dirty="0"/>
              <a:t>U </a:t>
            </a:r>
            <a:r>
              <a:rPr lang="en-US" altLang="zh-CN" i="1" baseline="-25000" dirty="0"/>
              <a:t>REF</a:t>
            </a:r>
            <a:r>
              <a:rPr lang="zh-CN" altLang="en-US" dirty="0" smtClean="0"/>
              <a:t>变</a:t>
            </a:r>
            <a:r>
              <a:rPr lang="zh-CN" altLang="en-US" dirty="0"/>
              <a:t>化 </a:t>
            </a:r>
            <a:r>
              <a:rPr lang="el-GR" altLang="zh-CN" dirty="0"/>
              <a:t>Δ </a:t>
            </a:r>
            <a:r>
              <a:rPr lang="en-US" altLang="zh-CN" i="1" dirty="0"/>
              <a:t>U </a:t>
            </a:r>
            <a:r>
              <a:rPr lang="en-US" altLang="zh-CN" i="1" baseline="-25000" dirty="0"/>
              <a:t>REF</a:t>
            </a:r>
            <a:r>
              <a:rPr lang="zh-CN" altLang="en-US" dirty="0" smtClean="0"/>
              <a:t>所</a:t>
            </a:r>
            <a:r>
              <a:rPr lang="zh-CN" altLang="en-US" dirty="0"/>
              <a:t>引起的输出电压变化 </a:t>
            </a:r>
            <a:r>
              <a:rPr lang="el-GR" altLang="zh-CN" i="1" dirty="0"/>
              <a:t>Δ </a:t>
            </a:r>
            <a:r>
              <a:rPr lang="en-US" altLang="zh-CN" i="1" dirty="0"/>
              <a:t>u </a:t>
            </a:r>
            <a:r>
              <a:rPr lang="en-US" altLang="zh-CN" i="1" baseline="-25000" dirty="0"/>
              <a:t>0</a:t>
            </a:r>
            <a:r>
              <a:rPr lang="en-US" altLang="zh-CN" i="1" dirty="0"/>
              <a:t> </a:t>
            </a:r>
            <a:r>
              <a:rPr lang="zh-CN" altLang="en-US" dirty="0" smtClean="0"/>
              <a:t>，由</a:t>
            </a:r>
            <a:r>
              <a:rPr lang="zh-CN" altLang="en-US" dirty="0"/>
              <a:t>式</a:t>
            </a:r>
            <a:r>
              <a:rPr lang="en-US" altLang="zh-CN" dirty="0"/>
              <a:t>( 8. 2. 6 )</a:t>
            </a:r>
            <a:r>
              <a:rPr lang="zh-CN" altLang="en-US" dirty="0" smtClean="0"/>
              <a:t>可知，在 </a:t>
            </a:r>
            <a:r>
              <a:rPr lang="en-US" altLang="zh-CN" dirty="0"/>
              <a:t>n </a:t>
            </a:r>
            <a:r>
              <a:rPr lang="zh-CN" altLang="en-US" dirty="0"/>
              <a:t>位输入的 </a:t>
            </a:r>
            <a:r>
              <a:rPr lang="en-US" altLang="zh-CN" dirty="0"/>
              <a:t>D / A </a:t>
            </a:r>
            <a:r>
              <a:rPr lang="zh-CN" altLang="en-US" dirty="0"/>
              <a:t>转换器</a:t>
            </a:r>
            <a:r>
              <a:rPr lang="zh-CN" altLang="en-US" dirty="0" smtClean="0"/>
              <a:t>中，由 </a:t>
            </a:r>
            <a:r>
              <a:rPr lang="el-GR" altLang="zh-CN" dirty="0"/>
              <a:t>Δ </a:t>
            </a:r>
            <a:r>
              <a:rPr lang="en-US" altLang="zh-CN" i="1" dirty="0"/>
              <a:t>U </a:t>
            </a:r>
            <a:r>
              <a:rPr lang="en-US" altLang="zh-CN" i="1" baseline="-25000" dirty="0"/>
              <a:t>REF</a:t>
            </a:r>
            <a:r>
              <a:rPr lang="zh-CN" altLang="en-US" dirty="0" smtClean="0"/>
              <a:t>引</a:t>
            </a:r>
            <a:r>
              <a:rPr lang="zh-CN" altLang="en-US" dirty="0"/>
              <a:t>起的输出电压变化应为</a:t>
            </a:r>
            <a:endParaRPr lang="zh-CN" altLang="zh-CN" dirty="0"/>
          </a:p>
        </p:txBody>
      </p:sp>
      <p:sp>
        <p:nvSpPr>
          <p:cNvPr id="39526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784" y="1700808"/>
            <a:ext cx="3000794" cy="781159"/>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731" y="4149080"/>
            <a:ext cx="7430538" cy="73352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endParaRPr lang="zh-CN" altLang="zh-CN"/>
          </a:p>
        </p:txBody>
      </p:sp>
      <p:sp>
        <p:nvSpPr>
          <p:cNvPr id="39629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303" y="1124744"/>
            <a:ext cx="8392697" cy="4353533"/>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b="1" dirty="0"/>
              <a:t> </a:t>
            </a:r>
            <a:r>
              <a:rPr lang="en-US" altLang="zh-CN" b="1" dirty="0"/>
              <a:t>3. </a:t>
            </a:r>
            <a:r>
              <a:rPr lang="zh-CN" altLang="en-US" b="1" dirty="0"/>
              <a:t>建立时间</a:t>
            </a:r>
            <a:br>
              <a:rPr lang="zh-CN" altLang="en-US" b="1" dirty="0"/>
            </a:br>
            <a:r>
              <a:rPr lang="zh-CN" altLang="en-US" b="1" dirty="0" smtClean="0"/>
              <a:t>　　</a:t>
            </a:r>
            <a:r>
              <a:rPr lang="zh-CN" altLang="en-US" dirty="0" smtClean="0"/>
              <a:t>从</a:t>
            </a:r>
            <a:r>
              <a:rPr lang="zh-CN" altLang="en-US" dirty="0"/>
              <a:t>数字信号输入 </a:t>
            </a:r>
            <a:r>
              <a:rPr lang="en-US" altLang="zh-CN" dirty="0"/>
              <a:t>DAC </a:t>
            </a:r>
            <a:r>
              <a:rPr lang="zh-CN" altLang="en-US" dirty="0"/>
              <a:t>到输出电流</a:t>
            </a:r>
            <a:r>
              <a:rPr lang="en-US" altLang="zh-CN" dirty="0"/>
              <a:t>(</a:t>
            </a:r>
            <a:r>
              <a:rPr lang="zh-CN" altLang="en-US" dirty="0"/>
              <a:t>或电压</a:t>
            </a:r>
            <a:r>
              <a:rPr lang="en-US" altLang="zh-CN" dirty="0"/>
              <a:t>)</a:t>
            </a:r>
            <a:r>
              <a:rPr lang="zh-CN" altLang="en-US" dirty="0"/>
              <a:t>达到稳态值所需的时间为建立时间。建</a:t>
            </a:r>
            <a:r>
              <a:rPr lang="zh-CN" altLang="en-US" dirty="0" smtClean="0"/>
              <a:t>立时</a:t>
            </a:r>
            <a:r>
              <a:rPr lang="zh-CN" altLang="en-US" dirty="0"/>
              <a:t>间的大小决定了转换速度。目</a:t>
            </a:r>
            <a:r>
              <a:rPr lang="zh-CN" altLang="en-US" dirty="0" smtClean="0"/>
              <a:t>前，</a:t>
            </a:r>
            <a:r>
              <a:rPr lang="en-US" altLang="zh-CN" dirty="0" smtClean="0"/>
              <a:t> </a:t>
            </a:r>
            <a:r>
              <a:rPr lang="en-US" altLang="zh-CN" dirty="0"/>
              <a:t>10~12 </a:t>
            </a:r>
            <a:r>
              <a:rPr lang="zh-CN" altLang="en-US" dirty="0"/>
              <a:t>位单片集成 </a:t>
            </a:r>
            <a:r>
              <a:rPr lang="en-US" altLang="zh-CN" dirty="0"/>
              <a:t>D / A </a:t>
            </a:r>
            <a:r>
              <a:rPr lang="zh-CN" altLang="en-US" dirty="0"/>
              <a:t>转换器</a:t>
            </a:r>
            <a:r>
              <a:rPr lang="en-US" altLang="zh-CN" dirty="0"/>
              <a:t>(</a:t>
            </a:r>
            <a:r>
              <a:rPr lang="zh-CN" altLang="en-US" dirty="0"/>
              <a:t>不包括运算放大器</a:t>
            </a:r>
            <a:r>
              <a:rPr lang="en-US" altLang="zh-CN" dirty="0"/>
              <a:t>)</a:t>
            </a:r>
            <a:br>
              <a:rPr lang="en-US" altLang="zh-CN" dirty="0"/>
            </a:br>
            <a:r>
              <a:rPr lang="zh-CN" altLang="en-US" dirty="0"/>
              <a:t>的建立时间可以在 </a:t>
            </a:r>
            <a:r>
              <a:rPr lang="en-US" altLang="zh-CN" dirty="0"/>
              <a:t>1 </a:t>
            </a:r>
            <a:r>
              <a:rPr lang="en-US" altLang="zh-CN" i="1" dirty="0"/>
              <a:t>μ s </a:t>
            </a:r>
            <a:r>
              <a:rPr lang="zh-CN" altLang="en-US" dirty="0"/>
              <a:t>以内。</a:t>
            </a:r>
            <a:endParaRPr lang="zh-CN" altLang="zh-CN" dirty="0"/>
          </a:p>
        </p:txBody>
      </p:sp>
      <p:sp>
        <p:nvSpPr>
          <p:cNvPr id="397315" name="Rectangle 3"/>
          <p:cNvSpPr>
            <a:spLocks noGrp="1" noChangeArrowheads="1"/>
          </p:cNvSpPr>
          <p:nvPr>
            <p:ph type="body" idx="1"/>
          </p:nvPr>
        </p:nvSpPr>
        <p:spPr/>
        <p:txBody>
          <a:bodyPr/>
          <a:lstStyle/>
          <a:p>
            <a:endParaRPr lang="zh-CN" altLang="zh-CN"/>
          </a:p>
        </p:txBody>
      </p:sp>
      <p:pic>
        <p:nvPicPr>
          <p:cNvPr id="4" name="Picture 2" descr="H:\出版社\模板\课件素材\GIF动画插件1\GIF020.GIF">
            <a:hlinkClick r:id="rId2" action="ppaction://hlinksldjump"/>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394096"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a:xfrm>
            <a:off x="571500" y="533400"/>
            <a:ext cx="8115300" cy="1095400"/>
          </a:xfrm>
        </p:spPr>
        <p:txBody>
          <a:bodyPr/>
          <a:lstStyle/>
          <a:p>
            <a:pPr algn="ctr"/>
            <a:r>
              <a:rPr lang="en-US" altLang="zh-CN" sz="2600" b="1" dirty="0"/>
              <a:t/>
            </a:r>
            <a:br>
              <a:rPr lang="en-US" altLang="zh-CN" sz="2600" b="1" dirty="0"/>
            </a:br>
            <a:r>
              <a:rPr lang="en-US" altLang="zh-CN" sz="2600" b="1" dirty="0"/>
              <a:t>8. 3 A / D </a:t>
            </a:r>
            <a:r>
              <a:rPr lang="zh-CN" altLang="en-US" sz="2600" b="1" dirty="0"/>
              <a:t>转换器</a:t>
            </a:r>
            <a:endParaRPr lang="zh-CN" altLang="zh-CN" sz="2600" b="1" dirty="0"/>
          </a:p>
        </p:txBody>
      </p:sp>
      <p:sp>
        <p:nvSpPr>
          <p:cNvPr id="4" name="Rectangle 2"/>
          <p:cNvSpPr txBox="1">
            <a:spLocks noChangeArrowheads="1"/>
          </p:cNvSpPr>
          <p:nvPr/>
        </p:nvSpPr>
        <p:spPr bwMode="auto">
          <a:xfrm>
            <a:off x="723900" y="1777886"/>
            <a:ext cx="8115300" cy="4243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r>
              <a:rPr lang="en-US" altLang="zh-CN" dirty="0"/>
              <a:t/>
            </a:r>
            <a:br>
              <a:rPr lang="en-US" altLang="zh-CN" dirty="0"/>
            </a:br>
            <a:r>
              <a:rPr lang="en-US" altLang="zh-CN" b="1" dirty="0"/>
              <a:t>8. 3. 1 A / D </a:t>
            </a:r>
            <a:r>
              <a:rPr lang="zh-CN" altLang="en-US" b="1" dirty="0"/>
              <a:t>转换器的基本工作原理</a:t>
            </a:r>
          </a:p>
          <a:p>
            <a:r>
              <a:rPr lang="zh-CN" altLang="en-US" dirty="0" smtClean="0"/>
              <a:t>　　在 </a:t>
            </a:r>
            <a:r>
              <a:rPr lang="en-US" altLang="zh-CN" dirty="0"/>
              <a:t>A / D </a:t>
            </a:r>
            <a:r>
              <a:rPr lang="zh-CN" altLang="en-US" dirty="0"/>
              <a:t>转换器</a:t>
            </a:r>
            <a:r>
              <a:rPr lang="zh-CN" altLang="en-US" dirty="0" smtClean="0"/>
              <a:t>中，因</a:t>
            </a:r>
            <a:r>
              <a:rPr lang="zh-CN" altLang="en-US" dirty="0"/>
              <a:t>为输入的模拟信号在时间上是连续</a:t>
            </a:r>
            <a:r>
              <a:rPr lang="zh-CN" altLang="en-US" dirty="0" smtClean="0"/>
              <a:t>的，而</a:t>
            </a:r>
            <a:r>
              <a:rPr lang="zh-CN" altLang="en-US" dirty="0"/>
              <a:t>输出的数字信号是离</a:t>
            </a:r>
            <a:r>
              <a:rPr lang="zh-CN" altLang="en-US" dirty="0" smtClean="0"/>
              <a:t>散的，所</a:t>
            </a:r>
            <a:r>
              <a:rPr lang="zh-CN" altLang="en-US" dirty="0"/>
              <a:t>以转换只能在一系列选定的瞬间对输入的模拟信号取</a:t>
            </a:r>
            <a:r>
              <a:rPr lang="zh-CN" altLang="en-US" dirty="0" smtClean="0"/>
              <a:t>样，然</a:t>
            </a:r>
            <a:r>
              <a:rPr lang="zh-CN" altLang="en-US" dirty="0"/>
              <a:t>后再把这些取样值转</a:t>
            </a:r>
            <a:r>
              <a:rPr lang="zh-CN" altLang="en-US" dirty="0" smtClean="0"/>
              <a:t>换成</a:t>
            </a:r>
            <a:r>
              <a:rPr lang="zh-CN" altLang="en-US" dirty="0"/>
              <a:t>输出的数字量。因</a:t>
            </a:r>
            <a:r>
              <a:rPr lang="zh-CN" altLang="en-US" dirty="0" smtClean="0"/>
              <a:t>此，</a:t>
            </a:r>
            <a:r>
              <a:rPr lang="en-US" altLang="zh-CN" dirty="0" smtClean="0"/>
              <a:t> </a:t>
            </a:r>
            <a:r>
              <a:rPr lang="en-US" altLang="zh-CN" dirty="0"/>
              <a:t>A / D </a:t>
            </a:r>
            <a:r>
              <a:rPr lang="zh-CN" altLang="en-US" dirty="0"/>
              <a:t>转换的过程是首先对输入的模拟电压信号取</a:t>
            </a:r>
            <a:r>
              <a:rPr lang="zh-CN" altLang="en-US" dirty="0" smtClean="0"/>
              <a:t>样，取</a:t>
            </a:r>
            <a:r>
              <a:rPr lang="zh-CN" altLang="en-US" dirty="0"/>
              <a:t>样结束</a:t>
            </a:r>
            <a:r>
              <a:rPr lang="zh-CN" altLang="en-US" dirty="0" smtClean="0"/>
              <a:t>后进</a:t>
            </a:r>
            <a:r>
              <a:rPr lang="zh-CN" altLang="en-US" dirty="0"/>
              <a:t>入保持时</a:t>
            </a:r>
            <a:r>
              <a:rPr lang="zh-CN" altLang="en-US" dirty="0" smtClean="0"/>
              <a:t>间，在</a:t>
            </a:r>
            <a:r>
              <a:rPr lang="zh-CN" altLang="en-US" dirty="0"/>
              <a:t>这段时间内将取样的电压量化为数字</a:t>
            </a:r>
            <a:r>
              <a:rPr lang="zh-CN" altLang="en-US" dirty="0" smtClean="0"/>
              <a:t>量，并</a:t>
            </a:r>
            <a:r>
              <a:rPr lang="zh-CN" altLang="en-US" dirty="0"/>
              <a:t>按一定的编码形式给出转</a:t>
            </a:r>
            <a:r>
              <a:rPr lang="zh-CN" altLang="en-US" dirty="0" smtClean="0"/>
              <a:t>换结</a:t>
            </a:r>
            <a:r>
              <a:rPr lang="zh-CN" altLang="en-US" dirty="0"/>
              <a:t>果。然</a:t>
            </a:r>
            <a:r>
              <a:rPr lang="zh-CN" altLang="en-US" dirty="0" smtClean="0"/>
              <a:t>后，再</a:t>
            </a:r>
            <a:r>
              <a:rPr lang="zh-CN" altLang="en-US" dirty="0"/>
              <a:t>开始下一次取样。</a:t>
            </a:r>
            <a:endParaRPr lang="zh-CN" altLang="zh-CN"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dirty="0" smtClean="0"/>
              <a:t>　</a:t>
            </a:r>
            <a:r>
              <a:rPr lang="en-US" altLang="zh-CN" b="1" dirty="0"/>
              <a:t>1. </a:t>
            </a:r>
            <a:r>
              <a:rPr lang="zh-CN" altLang="en-US" b="1" dirty="0"/>
              <a:t>取样与保持</a:t>
            </a:r>
            <a:br>
              <a:rPr lang="zh-CN" altLang="en-US" b="1" dirty="0"/>
            </a:br>
            <a:r>
              <a:rPr lang="zh-CN" altLang="en-US" b="1" dirty="0" smtClean="0"/>
              <a:t>　　</a:t>
            </a:r>
            <a:r>
              <a:rPr lang="zh-CN" altLang="en-US" dirty="0" smtClean="0"/>
              <a:t>取</a:t>
            </a:r>
            <a:r>
              <a:rPr lang="zh-CN" altLang="en-US" dirty="0"/>
              <a:t>样是将时间上连续变化的信号转换为时间上离散的信</a:t>
            </a:r>
            <a:r>
              <a:rPr lang="zh-CN" altLang="en-US" dirty="0" smtClean="0"/>
              <a:t>号，即</a:t>
            </a:r>
            <a:r>
              <a:rPr lang="zh-CN" altLang="en-US" dirty="0"/>
              <a:t>将时间上连续变化的</a:t>
            </a:r>
            <a:r>
              <a:rPr lang="zh-CN" altLang="en-US" dirty="0" smtClean="0"/>
              <a:t>模拟</a:t>
            </a:r>
            <a:r>
              <a:rPr lang="zh-CN" altLang="en-US" dirty="0"/>
              <a:t>量转换为一系列等间隔的脉</a:t>
            </a:r>
            <a:r>
              <a:rPr lang="zh-CN" altLang="en-US" dirty="0" smtClean="0"/>
              <a:t>冲，脉</a:t>
            </a:r>
            <a:r>
              <a:rPr lang="zh-CN" altLang="en-US" dirty="0"/>
              <a:t>冲的幅度取决于输入模拟</a:t>
            </a:r>
            <a:r>
              <a:rPr lang="zh-CN" altLang="en-US" dirty="0" smtClean="0"/>
              <a:t>量，其</a:t>
            </a:r>
            <a:r>
              <a:rPr lang="zh-CN" altLang="en-US" dirty="0"/>
              <a:t>过程如图 </a:t>
            </a:r>
            <a:r>
              <a:rPr lang="en-US" altLang="zh-CN" dirty="0" smtClean="0"/>
              <a:t>8</a:t>
            </a:r>
            <a:r>
              <a:rPr lang="zh-CN" altLang="en-US" dirty="0" smtClean="0"/>
              <a:t>－</a:t>
            </a:r>
            <a:r>
              <a:rPr lang="en-US" altLang="zh-CN" dirty="0" smtClean="0"/>
              <a:t>7 </a:t>
            </a:r>
            <a:r>
              <a:rPr lang="zh-CN" altLang="en-US" dirty="0"/>
              <a:t>所示。</a:t>
            </a:r>
            <a:br>
              <a:rPr lang="zh-CN" altLang="en-US" dirty="0"/>
            </a:br>
            <a:r>
              <a:rPr lang="zh-CN" altLang="en-US" dirty="0"/>
              <a:t>图</a:t>
            </a:r>
            <a:r>
              <a:rPr lang="zh-CN" altLang="en-US" dirty="0" smtClean="0"/>
              <a:t>中，</a:t>
            </a:r>
            <a:r>
              <a:rPr lang="en-US" altLang="zh-CN" dirty="0" smtClean="0"/>
              <a:t> </a:t>
            </a:r>
            <a:r>
              <a:rPr lang="en-US" altLang="zh-CN" i="1" dirty="0" smtClean="0"/>
              <a:t>u</a:t>
            </a:r>
            <a:r>
              <a:rPr lang="en-US" altLang="zh-CN" i="1" baseline="-25000" dirty="0" smtClean="0"/>
              <a:t>i</a:t>
            </a:r>
            <a:r>
              <a:rPr lang="en-US" altLang="zh-CN" baseline="-25000" dirty="0" smtClean="0"/>
              <a:t> </a:t>
            </a:r>
            <a:r>
              <a:rPr lang="en-US" altLang="zh-CN" dirty="0" smtClean="0"/>
              <a:t>(</a:t>
            </a:r>
            <a:r>
              <a:rPr lang="en-US" altLang="zh-CN" i="1" dirty="0" smtClean="0"/>
              <a:t>t</a:t>
            </a:r>
            <a:r>
              <a:rPr lang="en-US" altLang="zh-CN" dirty="0" smtClean="0"/>
              <a:t> </a:t>
            </a:r>
            <a:r>
              <a:rPr lang="en-US" altLang="zh-CN" dirty="0"/>
              <a:t>)</a:t>
            </a:r>
            <a:r>
              <a:rPr lang="zh-CN" altLang="en-US" dirty="0"/>
              <a:t>是输入模拟信</a:t>
            </a:r>
            <a:r>
              <a:rPr lang="zh-CN" altLang="en-US" dirty="0" smtClean="0"/>
              <a:t>号，</a:t>
            </a:r>
            <a:r>
              <a:rPr lang="en-US" altLang="zh-CN" dirty="0" smtClean="0"/>
              <a:t> </a:t>
            </a:r>
            <a:r>
              <a:rPr lang="en-US" altLang="zh-CN" i="1" dirty="0"/>
              <a:t>s </a:t>
            </a:r>
            <a:r>
              <a:rPr lang="en-US" altLang="zh-CN" dirty="0"/>
              <a:t>( </a:t>
            </a:r>
            <a:r>
              <a:rPr lang="en-US" altLang="zh-CN" i="1" dirty="0"/>
              <a:t>t</a:t>
            </a:r>
            <a:r>
              <a:rPr lang="en-US" altLang="zh-CN" dirty="0"/>
              <a:t> )</a:t>
            </a:r>
            <a:r>
              <a:rPr lang="zh-CN" altLang="en-US" dirty="0"/>
              <a:t>为取样脉</a:t>
            </a:r>
            <a:r>
              <a:rPr lang="zh-CN" altLang="en-US" dirty="0" smtClean="0"/>
              <a:t>冲，</a:t>
            </a:r>
            <a:r>
              <a:rPr lang="en-US" altLang="zh-CN" dirty="0" smtClean="0"/>
              <a:t> </a:t>
            </a:r>
            <a:r>
              <a:rPr lang="en-US" altLang="zh-CN" i="1" dirty="0"/>
              <a:t>u </a:t>
            </a:r>
            <a:r>
              <a:rPr lang="en-US" altLang="zh-CN" i="1" baseline="-25000" dirty="0"/>
              <a:t>o</a:t>
            </a:r>
            <a:r>
              <a:rPr lang="en-US" altLang="zh-CN" i="1" dirty="0"/>
              <a:t> </a:t>
            </a:r>
            <a:r>
              <a:rPr lang="en-US" altLang="zh-CN" dirty="0"/>
              <a:t>( </a:t>
            </a:r>
            <a:r>
              <a:rPr lang="en-US" altLang="zh-CN" i="1" dirty="0"/>
              <a:t>t</a:t>
            </a:r>
            <a:r>
              <a:rPr lang="en-US" altLang="zh-CN" dirty="0"/>
              <a:t> )</a:t>
            </a:r>
            <a:r>
              <a:rPr lang="zh-CN" altLang="en-US" dirty="0"/>
              <a:t>为取样后的输出信号。</a:t>
            </a:r>
            <a:endParaRPr lang="zh-CN" altLang="zh-CN" dirty="0"/>
          </a:p>
        </p:txBody>
      </p:sp>
      <p:sp>
        <p:nvSpPr>
          <p:cNvPr id="399363" name="Rectangle 3"/>
          <p:cNvSpPr>
            <a:spLocks noGrp="1" noChangeArrowheads="1"/>
          </p:cNvSpPr>
          <p:nvPr>
            <p:ph type="body"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endParaRPr lang="zh-CN" altLang="zh-CN"/>
          </a:p>
        </p:txBody>
      </p:sp>
      <p:sp>
        <p:nvSpPr>
          <p:cNvPr id="400387"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7  </a:t>
            </a:r>
            <a:r>
              <a:rPr lang="zh-CN" altLang="en-US" dirty="0"/>
              <a:t>取样过程</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849694"/>
            <a:ext cx="7545140" cy="487122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在取样脉冲作用的周期 </a:t>
            </a:r>
            <a:r>
              <a:rPr lang="en-US" altLang="zh-CN" dirty="0"/>
              <a:t>τ </a:t>
            </a:r>
            <a:r>
              <a:rPr lang="zh-CN" altLang="en-US" dirty="0" smtClean="0"/>
              <a:t>内，取</a:t>
            </a:r>
            <a:r>
              <a:rPr lang="zh-CN" altLang="en-US" dirty="0"/>
              <a:t>样开关接</a:t>
            </a:r>
            <a:r>
              <a:rPr lang="zh-CN" altLang="en-US" dirty="0" smtClean="0"/>
              <a:t>通，使 </a:t>
            </a:r>
            <a:r>
              <a:rPr lang="en-US" altLang="zh-CN" i="1" dirty="0"/>
              <a:t>u </a:t>
            </a:r>
            <a:r>
              <a:rPr lang="en-US" altLang="zh-CN" i="1" baseline="-25000" dirty="0"/>
              <a:t>o</a:t>
            </a:r>
            <a:r>
              <a:rPr lang="en-US" altLang="zh-CN" i="1" dirty="0"/>
              <a:t> (</a:t>
            </a:r>
            <a:br>
              <a:rPr lang="en-US" altLang="zh-CN" i="1" dirty="0"/>
            </a:br>
            <a:r>
              <a:rPr lang="en-US" altLang="zh-CN" i="1" dirty="0"/>
              <a:t>t ) = u </a:t>
            </a:r>
            <a:r>
              <a:rPr lang="en-US" altLang="zh-CN" i="1" baseline="-25000" dirty="0"/>
              <a:t>i</a:t>
            </a:r>
            <a:r>
              <a:rPr lang="en-US" altLang="zh-CN" i="1" dirty="0"/>
              <a:t> ( t </a:t>
            </a:r>
            <a:r>
              <a:rPr lang="en-US" altLang="zh-CN" i="1" dirty="0" smtClean="0"/>
              <a:t>)</a:t>
            </a:r>
            <a:r>
              <a:rPr lang="zh-CN" altLang="en-US" dirty="0" smtClean="0"/>
              <a:t>，在</a:t>
            </a:r>
            <a:r>
              <a:rPr lang="zh-CN" altLang="en-US" dirty="0"/>
              <a:t>其他时间</a:t>
            </a:r>
            <a:r>
              <a:rPr lang="en-US" altLang="zh-CN" dirty="0"/>
              <a:t>( </a:t>
            </a:r>
            <a:r>
              <a:rPr lang="en-US" altLang="zh-CN" i="1" dirty="0"/>
              <a:t>T s - τ </a:t>
            </a:r>
            <a:r>
              <a:rPr lang="en-US" altLang="zh-CN" dirty="0" smtClean="0"/>
              <a:t>)</a:t>
            </a:r>
            <a:r>
              <a:rPr lang="zh-CN" altLang="en-US" dirty="0" smtClean="0"/>
              <a:t>内，输</a:t>
            </a:r>
            <a:r>
              <a:rPr lang="zh-CN" altLang="en-US" dirty="0"/>
              <a:t>出等于 </a:t>
            </a:r>
            <a:r>
              <a:rPr lang="en-US" altLang="zh-CN" dirty="0"/>
              <a:t>0 </a:t>
            </a:r>
            <a:r>
              <a:rPr lang="zh-CN" altLang="en-US" dirty="0"/>
              <a:t>。因</a:t>
            </a:r>
            <a:r>
              <a:rPr lang="zh-CN" altLang="en-US" dirty="0" smtClean="0"/>
              <a:t>此，每</a:t>
            </a:r>
            <a:r>
              <a:rPr lang="zh-CN" altLang="en-US" dirty="0"/>
              <a:t>经过一个取样周</a:t>
            </a:r>
            <a:r>
              <a:rPr lang="zh-CN" altLang="en-US" dirty="0" smtClean="0"/>
              <a:t>期，对</a:t>
            </a:r>
            <a:r>
              <a:rPr lang="zh-CN" altLang="en-US" dirty="0"/>
              <a:t>输入信号取样一</a:t>
            </a:r>
            <a:r>
              <a:rPr lang="zh-CN" altLang="en-US" dirty="0" smtClean="0"/>
              <a:t>次，在</a:t>
            </a:r>
            <a:r>
              <a:rPr lang="zh-CN" altLang="en-US" dirty="0"/>
              <a:t>输出端便得到输</a:t>
            </a:r>
            <a:r>
              <a:rPr lang="zh-CN" altLang="en-US" dirty="0" smtClean="0"/>
              <a:t>入信</a:t>
            </a:r>
            <a:r>
              <a:rPr lang="zh-CN" altLang="en-US" dirty="0"/>
              <a:t>号的一个取样值。为了不失真地恢复原来的输入信</a:t>
            </a:r>
            <a:r>
              <a:rPr lang="zh-CN" altLang="en-US" dirty="0" smtClean="0"/>
              <a:t>号，根</a:t>
            </a:r>
            <a:r>
              <a:rPr lang="zh-CN" altLang="en-US" dirty="0"/>
              <a:t>据取样定</a:t>
            </a:r>
            <a:r>
              <a:rPr lang="zh-CN" altLang="en-US" dirty="0" smtClean="0"/>
              <a:t>理，一</a:t>
            </a:r>
            <a:r>
              <a:rPr lang="zh-CN" altLang="en-US" dirty="0"/>
              <a:t>个频率有限</a:t>
            </a:r>
            <a:r>
              <a:rPr lang="zh-CN" altLang="en-US" dirty="0" smtClean="0"/>
              <a:t>的模</a:t>
            </a:r>
            <a:r>
              <a:rPr lang="zh-CN" altLang="en-US" dirty="0"/>
              <a:t>拟信</a:t>
            </a:r>
            <a:r>
              <a:rPr lang="zh-CN" altLang="en-US" dirty="0" smtClean="0"/>
              <a:t>号，其</a:t>
            </a:r>
            <a:r>
              <a:rPr lang="zh-CN" altLang="en-US" dirty="0"/>
              <a:t>取样频率 </a:t>
            </a:r>
            <a:r>
              <a:rPr lang="en-US" altLang="zh-CN" i="1" dirty="0"/>
              <a:t>f </a:t>
            </a:r>
            <a:r>
              <a:rPr lang="en-US" altLang="zh-CN" i="1" baseline="-25000" dirty="0"/>
              <a:t>s</a:t>
            </a:r>
            <a:r>
              <a:rPr lang="en-US" altLang="zh-CN" i="1" dirty="0"/>
              <a:t> </a:t>
            </a:r>
            <a:r>
              <a:rPr lang="zh-CN" altLang="en-US" dirty="0"/>
              <a:t>必须大于等于输入模拟信号包含的最高频率 </a:t>
            </a:r>
            <a:r>
              <a:rPr lang="en-US" altLang="zh-CN" i="1" dirty="0"/>
              <a:t>f </a:t>
            </a:r>
            <a:r>
              <a:rPr lang="en-US" altLang="zh-CN" i="1" baseline="-25000" dirty="0"/>
              <a:t>max</a:t>
            </a:r>
            <a:r>
              <a:rPr lang="en-US" altLang="zh-CN" i="1" dirty="0"/>
              <a:t> </a:t>
            </a:r>
            <a:r>
              <a:rPr lang="zh-CN" altLang="en-US" dirty="0"/>
              <a:t>的两</a:t>
            </a:r>
            <a:r>
              <a:rPr lang="zh-CN" altLang="en-US" dirty="0" smtClean="0"/>
              <a:t>倍，即取样</a:t>
            </a:r>
            <a:r>
              <a:rPr lang="zh-CN" altLang="en-US" dirty="0"/>
              <a:t>频率必须满足</a:t>
            </a:r>
            <a:r>
              <a:rPr lang="en-US" altLang="zh-CN" dirty="0"/>
              <a:t>:</a:t>
            </a:r>
            <a:endParaRPr lang="zh-CN" altLang="zh-CN" dirty="0"/>
          </a:p>
        </p:txBody>
      </p:sp>
      <p:sp>
        <p:nvSpPr>
          <p:cNvPr id="40141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3848" y="4509119"/>
            <a:ext cx="2304256" cy="813267"/>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296" y="4753804"/>
            <a:ext cx="857370" cy="32389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模拟信号经取样</a:t>
            </a:r>
            <a:r>
              <a:rPr lang="zh-CN" altLang="en-US" dirty="0" smtClean="0"/>
              <a:t>后，得</a:t>
            </a:r>
            <a:r>
              <a:rPr lang="zh-CN" altLang="en-US" dirty="0"/>
              <a:t>到一系列样值脉冲。取样脉冲宽度 </a:t>
            </a:r>
            <a:r>
              <a:rPr lang="en-US" altLang="zh-CN" i="1" dirty="0"/>
              <a:t>τ </a:t>
            </a:r>
            <a:r>
              <a:rPr lang="zh-CN" altLang="en-US" dirty="0"/>
              <a:t>一般是很短暂</a:t>
            </a:r>
            <a:r>
              <a:rPr lang="zh-CN" altLang="en-US" dirty="0" smtClean="0"/>
              <a:t>的，在</a:t>
            </a:r>
            <a:r>
              <a:rPr lang="zh-CN" altLang="en-US" dirty="0"/>
              <a:t>下</a:t>
            </a:r>
            <a:r>
              <a:rPr lang="zh-CN" altLang="en-US" dirty="0" smtClean="0"/>
              <a:t>一个</a:t>
            </a:r>
            <a:r>
              <a:rPr lang="zh-CN" altLang="en-US" dirty="0"/>
              <a:t>取样脉冲到来之</a:t>
            </a:r>
            <a:r>
              <a:rPr lang="zh-CN" altLang="en-US" dirty="0" smtClean="0"/>
              <a:t>前，应</a:t>
            </a:r>
            <a:r>
              <a:rPr lang="zh-CN" altLang="en-US" dirty="0"/>
              <a:t>暂时保持所取得的样值脉冲幅</a:t>
            </a:r>
            <a:r>
              <a:rPr lang="zh-CN" altLang="en-US" dirty="0" smtClean="0"/>
              <a:t>度，以</a:t>
            </a:r>
            <a:r>
              <a:rPr lang="zh-CN" altLang="en-US" dirty="0"/>
              <a:t>便进行转换。因此在取样电</a:t>
            </a:r>
            <a:br>
              <a:rPr lang="zh-CN" altLang="en-US" dirty="0"/>
            </a:br>
            <a:r>
              <a:rPr lang="zh-CN" altLang="en-US" dirty="0"/>
              <a:t>路之后须加保持电路。图 </a:t>
            </a:r>
            <a:r>
              <a:rPr lang="en-US" altLang="zh-CN" dirty="0" smtClean="0"/>
              <a:t>8</a:t>
            </a:r>
            <a:r>
              <a:rPr lang="zh-CN" altLang="en-US" dirty="0" smtClean="0"/>
              <a:t>－</a:t>
            </a:r>
            <a:r>
              <a:rPr lang="en-US" altLang="zh-CN" dirty="0" smtClean="0"/>
              <a:t>8 </a:t>
            </a:r>
            <a:r>
              <a:rPr lang="en-US" altLang="zh-CN" dirty="0"/>
              <a:t>( a )</a:t>
            </a:r>
            <a:r>
              <a:rPr lang="zh-CN" altLang="en-US" dirty="0"/>
              <a:t>是一种常见的取样保持电</a:t>
            </a:r>
            <a:r>
              <a:rPr lang="zh-CN" altLang="en-US" dirty="0" smtClean="0"/>
              <a:t>路，场</a:t>
            </a:r>
            <a:r>
              <a:rPr lang="zh-CN" altLang="en-US" dirty="0"/>
              <a:t>效应管 </a:t>
            </a:r>
            <a:r>
              <a:rPr lang="en-US" altLang="zh-CN" dirty="0"/>
              <a:t>V </a:t>
            </a:r>
            <a:r>
              <a:rPr lang="zh-CN" altLang="en-US" dirty="0"/>
              <a:t>为取样</a:t>
            </a:r>
            <a:r>
              <a:rPr lang="zh-CN" altLang="en-US" dirty="0" smtClean="0"/>
              <a:t>门，电容 </a:t>
            </a:r>
            <a:r>
              <a:rPr lang="en-US" altLang="zh-CN" dirty="0"/>
              <a:t>C </a:t>
            </a:r>
            <a:r>
              <a:rPr lang="zh-CN" altLang="en-US" dirty="0"/>
              <a:t>为保持电</a:t>
            </a:r>
            <a:r>
              <a:rPr lang="zh-CN" altLang="en-US" dirty="0" smtClean="0"/>
              <a:t>容，运</a:t>
            </a:r>
            <a:r>
              <a:rPr lang="zh-CN" altLang="en-US" dirty="0"/>
              <a:t>算放大器为跟随</a:t>
            </a:r>
            <a:r>
              <a:rPr lang="zh-CN" altLang="en-US" dirty="0" smtClean="0"/>
              <a:t>器，起</a:t>
            </a:r>
            <a:r>
              <a:rPr lang="zh-CN" altLang="en-US" dirty="0"/>
              <a:t>缓冲隔离作用。在取样脉冲 </a:t>
            </a:r>
            <a:r>
              <a:rPr lang="en-US" altLang="zh-CN" i="1" dirty="0"/>
              <a:t>s </a:t>
            </a:r>
            <a:r>
              <a:rPr lang="en-US" altLang="zh-CN" i="1" dirty="0" smtClean="0"/>
              <a:t>(t </a:t>
            </a:r>
            <a:r>
              <a:rPr lang="en-US" altLang="zh-CN" dirty="0"/>
              <a:t>)</a:t>
            </a:r>
            <a:r>
              <a:rPr lang="zh-CN" altLang="en-US" dirty="0"/>
              <a:t>到来的时间 </a:t>
            </a:r>
            <a:r>
              <a:rPr lang="en-US" altLang="zh-CN" i="1" dirty="0" smtClean="0"/>
              <a:t>τ</a:t>
            </a:r>
            <a:r>
              <a:rPr lang="zh-CN" altLang="en-US" dirty="0" smtClean="0"/>
              <a:t>内，场</a:t>
            </a:r>
            <a:r>
              <a:rPr lang="zh-CN" altLang="en-US" dirty="0"/>
              <a:t>效应管 </a:t>
            </a:r>
            <a:r>
              <a:rPr lang="en-US" altLang="zh-CN" dirty="0"/>
              <a:t>V </a:t>
            </a:r>
            <a:r>
              <a:rPr lang="zh-CN" altLang="en-US" dirty="0"/>
              <a:t>导</a:t>
            </a:r>
            <a:r>
              <a:rPr lang="zh-CN" altLang="en-US" dirty="0" smtClean="0"/>
              <a:t>通，输</a:t>
            </a:r>
            <a:r>
              <a:rPr lang="zh-CN" altLang="en-US" dirty="0"/>
              <a:t>入模拟量 </a:t>
            </a:r>
            <a:r>
              <a:rPr lang="en-US" altLang="zh-CN" i="1" dirty="0"/>
              <a:t>u </a:t>
            </a:r>
            <a:r>
              <a:rPr lang="en-US" altLang="zh-CN" i="1" baseline="-25000" dirty="0"/>
              <a:t>i</a:t>
            </a:r>
            <a:r>
              <a:rPr lang="en-US" altLang="zh-CN" i="1" dirty="0"/>
              <a:t> ( t )</a:t>
            </a:r>
            <a:r>
              <a:rPr lang="zh-CN" altLang="en-US" dirty="0" smtClean="0"/>
              <a:t>向</a:t>
            </a:r>
            <a:r>
              <a:rPr lang="zh-CN" altLang="en-US" dirty="0"/>
              <a:t>电容充电。假定充电时间常数远小于 </a:t>
            </a:r>
            <a:r>
              <a:rPr lang="en-US" altLang="zh-CN" i="1" dirty="0"/>
              <a:t>τ</a:t>
            </a:r>
            <a:r>
              <a:rPr lang="en-US" altLang="zh-CN" dirty="0"/>
              <a:t> </a:t>
            </a:r>
            <a:r>
              <a:rPr lang="zh-CN" altLang="en-US" dirty="0" smtClean="0"/>
              <a:t>，那</a:t>
            </a:r>
            <a:r>
              <a:rPr lang="zh-CN" altLang="en-US" dirty="0"/>
              <a:t>么</a:t>
            </a:r>
            <a:r>
              <a:rPr lang="zh-CN" altLang="en-US" dirty="0" smtClean="0"/>
              <a:t>电容 </a:t>
            </a:r>
            <a:r>
              <a:rPr lang="en-US" altLang="zh-CN" dirty="0"/>
              <a:t>C </a:t>
            </a:r>
            <a:r>
              <a:rPr lang="zh-CN" altLang="en-US" dirty="0"/>
              <a:t>上的充电电压就能及时跟上 </a:t>
            </a:r>
            <a:r>
              <a:rPr lang="en-US" altLang="zh-CN" i="1" dirty="0"/>
              <a:t>u </a:t>
            </a:r>
            <a:r>
              <a:rPr lang="en-US" altLang="zh-CN" i="1" baseline="-25000" dirty="0"/>
              <a:t>i</a:t>
            </a:r>
            <a:r>
              <a:rPr lang="en-US" altLang="zh-CN" i="1" dirty="0"/>
              <a:t> ( t )</a:t>
            </a:r>
            <a:r>
              <a:rPr lang="zh-CN" altLang="en-US" dirty="0" smtClean="0"/>
              <a:t>的</a:t>
            </a:r>
            <a:r>
              <a:rPr lang="zh-CN" altLang="en-US" dirty="0"/>
              <a:t>采样值</a:t>
            </a:r>
            <a:r>
              <a:rPr lang="zh-CN" altLang="en-US" dirty="0" smtClean="0"/>
              <a:t>。</a:t>
            </a:r>
            <a:endParaRPr lang="zh-CN"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采样结</a:t>
            </a:r>
            <a:r>
              <a:rPr lang="zh-CN" altLang="en-US" dirty="0" smtClean="0"/>
              <a:t>束，</a:t>
            </a:r>
            <a:r>
              <a:rPr lang="en-US" altLang="zh-CN" dirty="0" smtClean="0"/>
              <a:t> </a:t>
            </a:r>
            <a:r>
              <a:rPr lang="en-US" altLang="zh-CN" dirty="0"/>
              <a:t>V </a:t>
            </a:r>
            <a:r>
              <a:rPr lang="zh-CN" altLang="en-US" dirty="0"/>
              <a:t>迅速截</a:t>
            </a:r>
            <a:r>
              <a:rPr lang="zh-CN" altLang="en-US" dirty="0" smtClean="0"/>
              <a:t>止，电</a:t>
            </a:r>
            <a:r>
              <a:rPr lang="zh-CN" altLang="en-US" dirty="0"/>
              <a:t>容 </a:t>
            </a:r>
            <a:r>
              <a:rPr lang="en-US" altLang="zh-CN" dirty="0"/>
              <a:t>C </a:t>
            </a:r>
            <a:r>
              <a:rPr lang="zh-CN" altLang="en-US" dirty="0"/>
              <a:t>上的充电电压就保持了前一次取样时间 </a:t>
            </a:r>
            <a:r>
              <a:rPr lang="en-US" altLang="zh-CN" dirty="0"/>
              <a:t>τ </a:t>
            </a:r>
            <a:r>
              <a:rPr lang="zh-CN" altLang="en-US" dirty="0"/>
              <a:t>的输入 </a:t>
            </a:r>
            <a:r>
              <a:rPr lang="en-US" altLang="zh-CN" i="1" dirty="0"/>
              <a:t>u </a:t>
            </a:r>
            <a:r>
              <a:rPr lang="en-US" altLang="zh-CN" i="1" baseline="-25000" dirty="0"/>
              <a:t>i</a:t>
            </a:r>
            <a:r>
              <a:rPr lang="en-US" altLang="zh-CN" i="1" dirty="0"/>
              <a:t> ( t )</a:t>
            </a:r>
            <a:r>
              <a:rPr lang="zh-CN" altLang="en-US" dirty="0" smtClean="0"/>
              <a:t>的值，一</a:t>
            </a:r>
            <a:r>
              <a:rPr lang="zh-CN" altLang="en-US" dirty="0"/>
              <a:t>直保持到下一个取样脉冲到来</a:t>
            </a:r>
            <a:r>
              <a:rPr lang="zh-CN" altLang="en-US" dirty="0" smtClean="0"/>
              <a:t>为止</a:t>
            </a:r>
            <a:r>
              <a:rPr lang="zh-CN" altLang="en-US" dirty="0"/>
              <a:t>。当下一个取样脉冲到来</a:t>
            </a:r>
            <a:r>
              <a:rPr lang="zh-CN" altLang="en-US" dirty="0" smtClean="0"/>
              <a:t>时，电</a:t>
            </a:r>
            <a:r>
              <a:rPr lang="zh-CN" altLang="en-US" dirty="0"/>
              <a:t>容 </a:t>
            </a:r>
            <a:r>
              <a:rPr lang="en-US" altLang="zh-CN" dirty="0"/>
              <a:t>C </a:t>
            </a:r>
            <a:r>
              <a:rPr lang="zh-CN" altLang="en-US" dirty="0"/>
              <a:t>上的电压 </a:t>
            </a:r>
            <a:r>
              <a:rPr lang="en-US" altLang="zh-CN" i="1" dirty="0"/>
              <a:t>u </a:t>
            </a:r>
            <a:r>
              <a:rPr lang="en-US" altLang="zh-CN" i="1" baseline="-25000" dirty="0"/>
              <a:t>o</a:t>
            </a:r>
            <a:r>
              <a:rPr lang="en-US" altLang="zh-CN" i="1" dirty="0"/>
              <a:t> </a:t>
            </a:r>
            <a:r>
              <a:rPr lang="en-US" altLang="zh-CN" i="1" dirty="0" smtClean="0"/>
              <a:t>(t </a:t>
            </a:r>
            <a:r>
              <a:rPr lang="en-US" altLang="zh-CN" i="1" dirty="0"/>
              <a:t>)</a:t>
            </a:r>
            <a:r>
              <a:rPr lang="zh-CN" altLang="en-US" dirty="0" smtClean="0"/>
              <a:t>再</a:t>
            </a:r>
            <a:r>
              <a:rPr lang="zh-CN" altLang="en-US" dirty="0"/>
              <a:t>按输入 </a:t>
            </a:r>
            <a:r>
              <a:rPr lang="en-US" altLang="zh-CN" i="1" dirty="0"/>
              <a:t>u </a:t>
            </a:r>
            <a:r>
              <a:rPr lang="en-US" altLang="zh-CN" i="1" baseline="-25000" dirty="0"/>
              <a:t>i</a:t>
            </a:r>
            <a:r>
              <a:rPr lang="en-US" altLang="zh-CN" i="1" dirty="0"/>
              <a:t> ( t )</a:t>
            </a:r>
            <a:r>
              <a:rPr lang="zh-CN" altLang="en-US" dirty="0" smtClean="0"/>
              <a:t>变</a:t>
            </a:r>
            <a:r>
              <a:rPr lang="zh-CN" altLang="en-US" dirty="0"/>
              <a:t>化。在输入一连</a:t>
            </a:r>
            <a:r>
              <a:rPr lang="zh-CN" altLang="en-US" dirty="0" smtClean="0"/>
              <a:t>串取</a:t>
            </a:r>
            <a:r>
              <a:rPr lang="zh-CN" altLang="en-US" dirty="0"/>
              <a:t>样脉冲序列</a:t>
            </a:r>
            <a:r>
              <a:rPr lang="zh-CN" altLang="en-US" dirty="0" smtClean="0"/>
              <a:t>后，取</a:t>
            </a:r>
            <a:r>
              <a:rPr lang="zh-CN" altLang="en-US" dirty="0"/>
              <a:t>样保持电路的缓冲放大器输出电压 </a:t>
            </a:r>
            <a:r>
              <a:rPr lang="en-US" altLang="zh-CN" i="1" dirty="0" smtClean="0"/>
              <a:t>u</a:t>
            </a:r>
            <a:r>
              <a:rPr lang="en-US" altLang="zh-CN" dirty="0"/>
              <a:t>′</a:t>
            </a:r>
            <a:r>
              <a:rPr lang="en-US" altLang="zh-CN" i="1" dirty="0" smtClean="0"/>
              <a:t> </a:t>
            </a:r>
            <a:r>
              <a:rPr lang="en-US" altLang="zh-CN" i="1" baseline="-25000" dirty="0"/>
              <a:t>o</a:t>
            </a:r>
            <a:r>
              <a:rPr lang="en-US" altLang="zh-CN" i="1" dirty="0"/>
              <a:t> </a:t>
            </a:r>
            <a:r>
              <a:rPr lang="en-US" altLang="zh-CN" i="1" dirty="0" smtClean="0"/>
              <a:t>(t </a:t>
            </a:r>
            <a:r>
              <a:rPr lang="en-US" altLang="zh-CN" i="1" dirty="0"/>
              <a:t>) </a:t>
            </a:r>
            <a:r>
              <a:rPr lang="zh-CN" altLang="en-US" dirty="0" smtClean="0"/>
              <a:t>便</a:t>
            </a:r>
            <a:r>
              <a:rPr lang="zh-CN" altLang="en-US" dirty="0"/>
              <a:t>得到如图 </a:t>
            </a:r>
            <a:r>
              <a:rPr lang="en-US" altLang="zh-CN" dirty="0" smtClean="0"/>
              <a:t>8</a:t>
            </a:r>
            <a:r>
              <a:rPr lang="zh-CN" altLang="en-US" dirty="0" smtClean="0"/>
              <a:t>－</a:t>
            </a:r>
            <a:r>
              <a:rPr lang="en-US" altLang="zh-CN" dirty="0" smtClean="0"/>
              <a:t>8 </a:t>
            </a:r>
            <a:r>
              <a:rPr lang="en-US" altLang="zh-CN" dirty="0"/>
              <a:t>( b )</a:t>
            </a:r>
            <a:r>
              <a:rPr lang="zh-CN" altLang="en-US" dirty="0"/>
              <a:t>所示</a:t>
            </a:r>
            <a:r>
              <a:rPr lang="zh-CN" altLang="en-US" dirty="0" smtClean="0"/>
              <a:t>的波</a:t>
            </a:r>
            <a:r>
              <a:rPr lang="zh-CN" altLang="en-US" dirty="0"/>
              <a:t>形。</a:t>
            </a:r>
            <a:endParaRPr lang="zh-CN" altLang="zh-CN" dirty="0"/>
          </a:p>
        </p:txBody>
      </p:sp>
      <p:sp>
        <p:nvSpPr>
          <p:cNvPr id="4034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endParaRPr lang="zh-CN" altLang="zh-CN"/>
          </a:p>
        </p:txBody>
      </p:sp>
      <p:sp>
        <p:nvSpPr>
          <p:cNvPr id="404483" name="Rectangle 3"/>
          <p:cNvSpPr>
            <a:spLocks noGrp="1" noChangeArrowheads="1"/>
          </p:cNvSpPr>
          <p:nvPr>
            <p:ph type="body" idx="1"/>
          </p:nvPr>
        </p:nvSpPr>
        <p:spPr>
          <a:xfrm>
            <a:off x="0" y="5445224"/>
            <a:ext cx="9144000" cy="438944"/>
          </a:xfrm>
        </p:spPr>
        <p:txBody>
          <a:bodyPr/>
          <a:lstStyle/>
          <a:p>
            <a:r>
              <a:rPr lang="zh-CN" altLang="en-US" dirty="0"/>
              <a:t>图 </a:t>
            </a:r>
            <a:r>
              <a:rPr lang="en-US" altLang="zh-CN" dirty="0" smtClean="0"/>
              <a:t>8</a:t>
            </a:r>
            <a:r>
              <a:rPr lang="zh-CN" altLang="en-US" dirty="0" smtClean="0"/>
              <a:t>－</a:t>
            </a:r>
            <a:r>
              <a:rPr lang="en-US" altLang="zh-CN" dirty="0" smtClean="0"/>
              <a:t>8  </a:t>
            </a:r>
            <a:r>
              <a:rPr lang="zh-CN" altLang="en-US" dirty="0"/>
              <a:t>取样保持电路及输出波形</a:t>
            </a:r>
          </a:p>
          <a:p>
            <a:r>
              <a:rPr lang="en-US" altLang="zh-CN" dirty="0" smtClean="0"/>
              <a:t>(a </a:t>
            </a:r>
            <a:r>
              <a:rPr lang="en-US" altLang="zh-CN" dirty="0"/>
              <a:t>)</a:t>
            </a:r>
            <a:r>
              <a:rPr lang="zh-CN" altLang="en-US" dirty="0"/>
              <a:t>取样保持电路原理图</a:t>
            </a:r>
            <a:r>
              <a:rPr lang="en-US" altLang="zh-CN" dirty="0"/>
              <a:t>;( b )</a:t>
            </a:r>
            <a:r>
              <a:rPr lang="zh-CN" altLang="en-US" dirty="0"/>
              <a:t>输出波形图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441" y="1919076"/>
            <a:ext cx="8183118" cy="3019847"/>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en-US" altLang="zh-CN" b="1" dirty="0"/>
              <a:t>2. </a:t>
            </a:r>
            <a:r>
              <a:rPr lang="zh-CN" altLang="en-US" b="1" dirty="0"/>
              <a:t>量化与编码</a:t>
            </a:r>
            <a:br>
              <a:rPr lang="zh-CN" altLang="en-US" b="1" dirty="0"/>
            </a:br>
            <a:r>
              <a:rPr lang="zh-CN" altLang="en-US" b="1" dirty="0" smtClean="0"/>
              <a:t>　　</a:t>
            </a:r>
            <a:r>
              <a:rPr lang="zh-CN" altLang="en-US" dirty="0" smtClean="0"/>
              <a:t>正</a:t>
            </a:r>
            <a:r>
              <a:rPr lang="zh-CN" altLang="en-US" dirty="0"/>
              <a:t>如前面所</a:t>
            </a:r>
            <a:r>
              <a:rPr lang="zh-CN" altLang="en-US" dirty="0" smtClean="0"/>
              <a:t>讲，数</a:t>
            </a:r>
            <a:r>
              <a:rPr lang="zh-CN" altLang="en-US" dirty="0"/>
              <a:t>字信号不仅在时间上是不连续</a:t>
            </a:r>
            <a:r>
              <a:rPr lang="zh-CN" altLang="en-US" dirty="0" smtClean="0"/>
              <a:t>的，而</a:t>
            </a:r>
            <a:r>
              <a:rPr lang="zh-CN" altLang="en-US" dirty="0"/>
              <a:t>且在幅度上也是不连续的。</a:t>
            </a:r>
            <a:r>
              <a:rPr lang="zh-CN" altLang="en-US" dirty="0" smtClean="0"/>
              <a:t>因此，任</a:t>
            </a:r>
            <a:r>
              <a:rPr lang="zh-CN" altLang="en-US" dirty="0"/>
              <a:t>何一个数字量的大小都可用某个最小量单位的整数倍来表示。而采样 </a:t>
            </a:r>
            <a:r>
              <a:rPr lang="en-US" altLang="zh-CN" dirty="0"/>
              <a:t>- </a:t>
            </a:r>
            <a:r>
              <a:rPr lang="zh-CN" altLang="en-US" dirty="0"/>
              <a:t>保持后的电</a:t>
            </a:r>
            <a:br>
              <a:rPr lang="zh-CN" altLang="en-US" dirty="0"/>
            </a:br>
            <a:r>
              <a:rPr lang="zh-CN" altLang="en-US" dirty="0"/>
              <a:t>压仍是连续可变</a:t>
            </a:r>
            <a:r>
              <a:rPr lang="zh-CN" altLang="en-US" dirty="0" smtClean="0"/>
              <a:t>的，在</a:t>
            </a:r>
            <a:r>
              <a:rPr lang="zh-CN" altLang="en-US" dirty="0"/>
              <a:t>将其转换成数字量</a:t>
            </a:r>
            <a:r>
              <a:rPr lang="zh-CN" altLang="en-US" dirty="0" smtClean="0"/>
              <a:t>时，就</a:t>
            </a:r>
            <a:r>
              <a:rPr lang="zh-CN" altLang="en-US" dirty="0"/>
              <a:t>必须把它与一些规定个数的离散电平进</a:t>
            </a:r>
            <a:r>
              <a:rPr lang="zh-CN" altLang="en-US" dirty="0" smtClean="0"/>
              <a:t>行比较，凡</a:t>
            </a:r>
            <a:r>
              <a:rPr lang="zh-CN" altLang="en-US" dirty="0"/>
              <a:t>介于两个离散电平之间的取样</a:t>
            </a:r>
            <a:r>
              <a:rPr lang="zh-CN" altLang="en-US" dirty="0" smtClean="0"/>
              <a:t>值，可</a:t>
            </a:r>
            <a:r>
              <a:rPr lang="zh-CN" altLang="en-US" dirty="0"/>
              <a:t>按某种方式近似地用这两个离散电平中的一</a:t>
            </a:r>
            <a:br>
              <a:rPr lang="zh-CN" altLang="en-US" dirty="0"/>
            </a:br>
            <a:r>
              <a:rPr lang="zh-CN" altLang="en-US" dirty="0"/>
              <a:t>个表示。这种取整并归的方式和过程称为数值量</a:t>
            </a:r>
            <a:r>
              <a:rPr lang="zh-CN" altLang="en-US" dirty="0" smtClean="0"/>
              <a:t>化，简</a:t>
            </a:r>
            <a:r>
              <a:rPr lang="zh-CN" altLang="en-US" dirty="0"/>
              <a:t>称量化。所取的最小数量单位叫</a:t>
            </a:r>
            <a:r>
              <a:rPr lang="zh-CN" altLang="en-US" dirty="0" smtClean="0"/>
              <a:t>做量</a:t>
            </a:r>
            <a:r>
              <a:rPr lang="zh-CN" altLang="en-US" dirty="0"/>
              <a:t>化单</a:t>
            </a:r>
            <a:r>
              <a:rPr lang="zh-CN" altLang="en-US" dirty="0" smtClean="0"/>
              <a:t>位，用 </a:t>
            </a:r>
            <a:r>
              <a:rPr lang="en-US" altLang="zh-CN" dirty="0"/>
              <a:t>Δ </a:t>
            </a:r>
            <a:r>
              <a:rPr lang="zh-CN" altLang="en-US" dirty="0"/>
              <a:t>表示。显</a:t>
            </a:r>
            <a:r>
              <a:rPr lang="zh-CN" altLang="en-US" dirty="0" smtClean="0"/>
              <a:t>然，数</a:t>
            </a:r>
            <a:r>
              <a:rPr lang="zh-CN" altLang="en-US" dirty="0"/>
              <a:t>字信号最低有效位</a:t>
            </a:r>
            <a:r>
              <a:rPr lang="en-US" altLang="zh-CN" dirty="0"/>
              <a:t>( LSB )</a:t>
            </a:r>
            <a:r>
              <a:rPr lang="zh-CN" altLang="en-US" dirty="0"/>
              <a:t>的 </a:t>
            </a:r>
            <a:r>
              <a:rPr lang="en-US" altLang="zh-CN" dirty="0"/>
              <a:t>1 </a:t>
            </a:r>
            <a:r>
              <a:rPr lang="zh-CN" altLang="en-US" dirty="0"/>
              <a:t>所代表的数量大小就等于 </a:t>
            </a:r>
            <a:r>
              <a:rPr lang="en-US" altLang="zh-CN" dirty="0" smtClean="0"/>
              <a:t>Δ</a:t>
            </a:r>
            <a:r>
              <a:rPr lang="zh-CN" altLang="en-US" dirty="0" smtClean="0"/>
              <a:t>。</a:t>
            </a:r>
            <a:endParaRPr lang="zh-CN" altLang="zh-CN" dirty="0"/>
          </a:p>
        </p:txBody>
      </p:sp>
      <p:sp>
        <p:nvSpPr>
          <p:cNvPr id="4055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r>
              <a:rPr lang="en-US" altLang="zh-CN" dirty="0"/>
              <a:t/>
            </a:r>
            <a:br>
              <a:rPr lang="en-US" altLang="zh-CN" dirty="0"/>
            </a:br>
            <a:r>
              <a:rPr lang="zh-CN" altLang="en-US" dirty="0"/>
              <a:t>　</a:t>
            </a:r>
            <a:r>
              <a:rPr lang="zh-CN" altLang="en-US" dirty="0"/>
              <a:t>　把量化的结果用代码</a:t>
            </a:r>
            <a:r>
              <a:rPr lang="en-US" altLang="zh-CN" dirty="0"/>
              <a:t>(</a:t>
            </a:r>
            <a:r>
              <a:rPr lang="zh-CN" altLang="en-US" dirty="0"/>
              <a:t>可以是二进</a:t>
            </a:r>
            <a:r>
              <a:rPr lang="zh-CN" altLang="en-US" dirty="0" smtClean="0"/>
              <a:t>制，也</a:t>
            </a:r>
            <a:r>
              <a:rPr lang="zh-CN" altLang="en-US" dirty="0"/>
              <a:t>可是其他进制</a:t>
            </a:r>
            <a:r>
              <a:rPr lang="en-US" altLang="zh-CN" dirty="0"/>
              <a:t>)</a:t>
            </a:r>
            <a:r>
              <a:rPr lang="zh-CN" altLang="en-US" dirty="0"/>
              <a:t>表示出</a:t>
            </a:r>
            <a:r>
              <a:rPr lang="zh-CN" altLang="en-US" dirty="0" smtClean="0"/>
              <a:t>来，称</a:t>
            </a:r>
            <a:r>
              <a:rPr lang="zh-CN" altLang="en-US" dirty="0"/>
              <a:t>为编码。这些</a:t>
            </a:r>
            <a:r>
              <a:rPr lang="zh-CN" altLang="en-US" dirty="0" smtClean="0"/>
              <a:t>代码</a:t>
            </a:r>
            <a:r>
              <a:rPr lang="zh-CN" altLang="en-US" dirty="0"/>
              <a:t>就是 </a:t>
            </a:r>
            <a:r>
              <a:rPr lang="en-US" altLang="zh-CN" dirty="0"/>
              <a:t>A / D </a:t>
            </a:r>
            <a:r>
              <a:rPr lang="zh-CN" altLang="en-US" dirty="0"/>
              <a:t>转换的输出结果。</a:t>
            </a:r>
            <a:br>
              <a:rPr lang="zh-CN" altLang="en-US" dirty="0"/>
            </a:br>
            <a:r>
              <a:rPr lang="zh-CN" altLang="en-US" dirty="0" smtClean="0"/>
              <a:t>　　量</a:t>
            </a:r>
            <a:r>
              <a:rPr lang="zh-CN" altLang="en-US" dirty="0"/>
              <a:t>化的方法有两种</a:t>
            </a:r>
            <a:r>
              <a:rPr lang="en-US" altLang="zh-CN" dirty="0"/>
              <a:t>:</a:t>
            </a:r>
            <a:r>
              <a:rPr lang="zh-CN" altLang="en-US" dirty="0"/>
              <a:t>一种是只舍不</a:t>
            </a:r>
            <a:r>
              <a:rPr lang="zh-CN" altLang="en-US" dirty="0" smtClean="0"/>
              <a:t>入，另</a:t>
            </a:r>
            <a:r>
              <a:rPr lang="zh-CN" altLang="en-US" dirty="0"/>
              <a:t>一种是有舍有入。</a:t>
            </a:r>
            <a:endParaRPr lang="zh-CN" altLang="zh-CN" dirty="0"/>
          </a:p>
        </p:txBody>
      </p:sp>
      <p:sp>
        <p:nvSpPr>
          <p:cNvPr id="4065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endParaRPr lang="zh-CN" altLang="zh-CN"/>
          </a:p>
        </p:txBody>
      </p:sp>
      <p:sp>
        <p:nvSpPr>
          <p:cNvPr id="40755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1484784"/>
            <a:ext cx="8676456" cy="294746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endParaRPr lang="zh-CN" altLang="zh-CN"/>
          </a:p>
        </p:txBody>
      </p:sp>
      <p:sp>
        <p:nvSpPr>
          <p:cNvPr id="40857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338" y="1196752"/>
            <a:ext cx="8388424" cy="2857426"/>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139" y="4112243"/>
            <a:ext cx="8388424" cy="116313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endParaRPr lang="zh-CN" altLang="zh-CN"/>
          </a:p>
        </p:txBody>
      </p:sp>
      <p:sp>
        <p:nvSpPr>
          <p:cNvPr id="409603"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9  </a:t>
            </a:r>
            <a:r>
              <a:rPr lang="zh-CN" altLang="en-US" dirty="0"/>
              <a:t>划分量化的两种方法及其编码</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196751"/>
            <a:ext cx="8316416" cy="451608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a:lnSpc>
                <a:spcPct val="120000"/>
              </a:lnSpc>
            </a:pPr>
            <a:r>
              <a:rPr lang="en-US" altLang="zh-CN" dirty="0"/>
              <a:t/>
            </a:r>
            <a:br>
              <a:rPr lang="en-US" altLang="zh-CN" dirty="0"/>
            </a:br>
            <a:r>
              <a:rPr lang="en-US" altLang="zh-CN" b="1" dirty="0"/>
              <a:t>8. 3. 2 A / D </a:t>
            </a:r>
            <a:r>
              <a:rPr lang="zh-CN" altLang="en-US" b="1" dirty="0"/>
              <a:t>转换器的主要电路形式</a:t>
            </a:r>
            <a:br>
              <a:rPr lang="zh-CN" altLang="en-US" b="1" dirty="0"/>
            </a:br>
            <a:r>
              <a:rPr lang="zh-CN" altLang="en-US" b="1" dirty="0" smtClean="0"/>
              <a:t>　　</a:t>
            </a:r>
            <a:r>
              <a:rPr lang="en-US" altLang="zh-CN" dirty="0" smtClean="0"/>
              <a:t>ADC </a:t>
            </a:r>
            <a:r>
              <a:rPr lang="zh-CN" altLang="en-US" dirty="0"/>
              <a:t>电路分为直接法和间接法两大类。</a:t>
            </a:r>
            <a:br>
              <a:rPr lang="zh-CN" altLang="en-US" dirty="0"/>
            </a:br>
            <a:r>
              <a:rPr lang="zh-CN" altLang="en-US" dirty="0" smtClean="0"/>
              <a:t>　　直</a:t>
            </a:r>
            <a:r>
              <a:rPr lang="zh-CN" altLang="en-US" dirty="0"/>
              <a:t>接法是通过一套基准电压与取样保持电压进行比</a:t>
            </a:r>
            <a:r>
              <a:rPr lang="zh-CN" altLang="en-US" dirty="0" smtClean="0"/>
              <a:t>较，从</a:t>
            </a:r>
            <a:r>
              <a:rPr lang="zh-CN" altLang="en-US" dirty="0"/>
              <a:t>而将模拟量直接转换成数</a:t>
            </a:r>
            <a:r>
              <a:rPr lang="zh-CN" altLang="en-US" dirty="0" smtClean="0"/>
              <a:t>字量</a:t>
            </a:r>
            <a:r>
              <a:rPr lang="zh-CN" altLang="en-US" dirty="0"/>
              <a:t>。其特点是工作速度</a:t>
            </a:r>
            <a:r>
              <a:rPr lang="zh-CN" altLang="en-US" dirty="0" smtClean="0"/>
              <a:t>高，转</a:t>
            </a:r>
            <a:r>
              <a:rPr lang="zh-CN" altLang="en-US" dirty="0"/>
              <a:t>换精度容易保</a:t>
            </a:r>
            <a:r>
              <a:rPr lang="zh-CN" altLang="en-US" dirty="0" smtClean="0"/>
              <a:t>证，调</a:t>
            </a:r>
            <a:r>
              <a:rPr lang="zh-CN" altLang="en-US" dirty="0"/>
              <a:t>准也比较方便。</a:t>
            </a:r>
            <a:br>
              <a:rPr lang="zh-CN" altLang="en-US" dirty="0"/>
            </a:br>
            <a:r>
              <a:rPr lang="zh-CN" altLang="en-US" dirty="0" smtClean="0"/>
              <a:t>　　间</a:t>
            </a:r>
            <a:r>
              <a:rPr lang="zh-CN" altLang="en-US" dirty="0"/>
              <a:t>接法是将取样后的模拟电压信号先转换成一个中间变量</a:t>
            </a:r>
            <a:r>
              <a:rPr lang="en-US" altLang="zh-CN" dirty="0"/>
              <a:t>(</a:t>
            </a:r>
            <a:r>
              <a:rPr lang="zh-CN" altLang="en-US" dirty="0"/>
              <a:t>时间 </a:t>
            </a:r>
            <a:r>
              <a:rPr lang="en-US" altLang="zh-CN" i="1" dirty="0"/>
              <a:t>t </a:t>
            </a:r>
            <a:r>
              <a:rPr lang="zh-CN" altLang="en-US" dirty="0"/>
              <a:t>或频率 </a:t>
            </a:r>
            <a:r>
              <a:rPr lang="en-US" altLang="zh-CN" i="1" dirty="0"/>
              <a:t>f </a:t>
            </a:r>
            <a:r>
              <a:rPr lang="en-US" altLang="zh-CN" dirty="0" smtClean="0"/>
              <a:t>)</a:t>
            </a:r>
            <a:r>
              <a:rPr lang="zh-CN" altLang="en-US" dirty="0" smtClean="0"/>
              <a:t>，然</a:t>
            </a:r>
            <a:r>
              <a:rPr lang="zh-CN" altLang="en-US" dirty="0"/>
              <a:t>后</a:t>
            </a:r>
            <a:r>
              <a:rPr lang="zh-CN" altLang="en-US" dirty="0" smtClean="0"/>
              <a:t>再将</a:t>
            </a:r>
            <a:r>
              <a:rPr lang="zh-CN" altLang="en-US" dirty="0"/>
              <a:t>中间变量转换成数字量。其特点是工作速度较</a:t>
            </a:r>
            <a:r>
              <a:rPr lang="zh-CN" altLang="en-US" dirty="0" smtClean="0"/>
              <a:t>低，但</a:t>
            </a:r>
            <a:r>
              <a:rPr lang="zh-CN" altLang="en-US" dirty="0"/>
              <a:t>转换精度可提</a:t>
            </a:r>
            <a:r>
              <a:rPr lang="zh-CN" altLang="en-US" dirty="0" smtClean="0"/>
              <a:t>高，且</a:t>
            </a:r>
            <a:r>
              <a:rPr lang="zh-CN" altLang="en-US" dirty="0"/>
              <a:t>抗干扰性强。</a:t>
            </a:r>
            <a:br>
              <a:rPr lang="zh-CN" altLang="en-US" dirty="0"/>
            </a:br>
            <a:r>
              <a:rPr lang="zh-CN" altLang="en-US" dirty="0" smtClean="0"/>
              <a:t>　　常</a:t>
            </a:r>
            <a:r>
              <a:rPr lang="zh-CN" altLang="en-US" dirty="0"/>
              <a:t>用的直接 </a:t>
            </a:r>
            <a:r>
              <a:rPr lang="en-US" altLang="zh-CN" dirty="0"/>
              <a:t>A / D </a:t>
            </a:r>
            <a:r>
              <a:rPr lang="zh-CN" altLang="en-US" dirty="0"/>
              <a:t>转换器有并联比较型和反馈比较型两类。目前使用的间接 </a:t>
            </a:r>
            <a:r>
              <a:rPr lang="en-US" altLang="zh-CN" dirty="0"/>
              <a:t>A / D </a:t>
            </a:r>
            <a:r>
              <a:rPr lang="zh-CN" altLang="en-US" dirty="0"/>
              <a:t>转</a:t>
            </a:r>
            <a:r>
              <a:rPr lang="zh-CN" altLang="en-US" dirty="0" smtClean="0"/>
              <a:t>换器</a:t>
            </a:r>
            <a:r>
              <a:rPr lang="zh-CN" altLang="en-US" dirty="0"/>
              <a:t>多半都属于电压 </a:t>
            </a:r>
            <a:r>
              <a:rPr lang="en-US" altLang="zh-CN" dirty="0"/>
              <a:t>- </a:t>
            </a:r>
            <a:r>
              <a:rPr lang="zh-CN" altLang="en-US" dirty="0"/>
              <a:t>时间变换型</a:t>
            </a:r>
            <a:r>
              <a:rPr lang="en-US" altLang="zh-CN" dirty="0"/>
              <a:t>(</a:t>
            </a:r>
            <a:r>
              <a:rPr lang="zh-CN" altLang="en-US" dirty="0"/>
              <a:t>简称 </a:t>
            </a:r>
            <a:r>
              <a:rPr lang="en-US" altLang="zh-CN" dirty="0" smtClean="0"/>
              <a:t>UT </a:t>
            </a:r>
            <a:r>
              <a:rPr lang="zh-CN" altLang="en-US" dirty="0"/>
              <a:t>变换型</a:t>
            </a:r>
            <a:r>
              <a:rPr lang="en-US" altLang="zh-CN" dirty="0"/>
              <a:t>)</a:t>
            </a:r>
            <a:r>
              <a:rPr lang="zh-CN" altLang="en-US" dirty="0"/>
              <a:t>和电压 </a:t>
            </a:r>
            <a:r>
              <a:rPr lang="en-US" altLang="zh-CN" dirty="0"/>
              <a:t>- </a:t>
            </a:r>
            <a:r>
              <a:rPr lang="zh-CN" altLang="en-US" dirty="0"/>
              <a:t>频率变换型</a:t>
            </a:r>
            <a:r>
              <a:rPr lang="en-US" altLang="zh-CN" dirty="0"/>
              <a:t>(</a:t>
            </a:r>
            <a:r>
              <a:rPr lang="zh-CN" altLang="en-US" dirty="0"/>
              <a:t>简称 </a:t>
            </a:r>
            <a:r>
              <a:rPr lang="en-US" altLang="zh-CN" dirty="0"/>
              <a:t>U F </a:t>
            </a:r>
            <a:r>
              <a:rPr lang="zh-CN" altLang="en-US" dirty="0" smtClean="0"/>
              <a:t>变换</a:t>
            </a:r>
            <a:r>
              <a:rPr lang="zh-CN" altLang="en-US" dirty="0"/>
              <a:t>型</a:t>
            </a:r>
            <a:r>
              <a:rPr lang="en-US" altLang="zh-CN" dirty="0"/>
              <a:t>)</a:t>
            </a:r>
            <a:r>
              <a:rPr lang="zh-CN" altLang="en-US" dirty="0"/>
              <a:t>。下面介绍常用的电路。</a:t>
            </a:r>
            <a:endParaRPr lang="zh-CN"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b="1" dirty="0"/>
              <a:t> </a:t>
            </a:r>
            <a:r>
              <a:rPr lang="en-US" altLang="zh-CN" b="1" dirty="0"/>
              <a:t>1. </a:t>
            </a:r>
            <a:r>
              <a:rPr lang="zh-CN" altLang="en-US" b="1" dirty="0"/>
              <a:t>并联比较型 </a:t>
            </a:r>
            <a:r>
              <a:rPr lang="en-US" altLang="zh-CN" b="1" dirty="0"/>
              <a:t>A / D </a:t>
            </a:r>
            <a:r>
              <a:rPr lang="zh-CN" altLang="en-US" b="1" dirty="0"/>
              <a:t>转换器</a:t>
            </a:r>
            <a:br>
              <a:rPr lang="zh-CN" altLang="en-US" b="1" dirty="0"/>
            </a:br>
            <a:r>
              <a:rPr lang="zh-CN" altLang="en-US" b="1" dirty="0" smtClean="0"/>
              <a:t>　　</a:t>
            </a:r>
            <a:r>
              <a:rPr lang="zh-CN" altLang="en-US" dirty="0" smtClean="0"/>
              <a:t>并</a:t>
            </a:r>
            <a:r>
              <a:rPr lang="zh-CN" altLang="en-US" dirty="0"/>
              <a:t>联比较型 </a:t>
            </a:r>
            <a:r>
              <a:rPr lang="en-US" altLang="zh-CN" dirty="0"/>
              <a:t>A / D </a:t>
            </a:r>
            <a:r>
              <a:rPr lang="zh-CN" altLang="en-US" dirty="0"/>
              <a:t>转换器的电路结构如图 </a:t>
            </a:r>
            <a:r>
              <a:rPr lang="en-US" altLang="zh-CN" dirty="0" smtClean="0"/>
              <a:t>8</a:t>
            </a:r>
            <a:r>
              <a:rPr lang="zh-CN" altLang="en-US" dirty="0" smtClean="0"/>
              <a:t>－</a:t>
            </a:r>
            <a:r>
              <a:rPr lang="en-US" altLang="zh-CN" dirty="0" smtClean="0"/>
              <a:t>10 </a:t>
            </a:r>
            <a:r>
              <a:rPr lang="zh-CN" altLang="en-US" dirty="0"/>
              <a:t>所</a:t>
            </a:r>
            <a:r>
              <a:rPr lang="zh-CN" altLang="en-US" dirty="0" smtClean="0"/>
              <a:t>示，它</a:t>
            </a:r>
            <a:r>
              <a:rPr lang="zh-CN" altLang="en-US" dirty="0"/>
              <a:t>由电压比较器、寄存器和</a:t>
            </a:r>
            <a:r>
              <a:rPr lang="zh-CN" altLang="en-US" dirty="0" smtClean="0"/>
              <a:t>代码</a:t>
            </a:r>
            <a:r>
              <a:rPr lang="zh-CN" altLang="en-US" dirty="0"/>
              <a:t>转换电路三 部分组成。其输入为 </a:t>
            </a:r>
            <a:r>
              <a:rPr lang="en-US" altLang="zh-CN" i="1" dirty="0"/>
              <a:t>0~ U REF </a:t>
            </a:r>
            <a:r>
              <a:rPr lang="zh-CN" altLang="en-US" dirty="0"/>
              <a:t>间的 模拟电 </a:t>
            </a:r>
            <a:r>
              <a:rPr lang="zh-CN" altLang="en-US" dirty="0" smtClean="0"/>
              <a:t>压，输 </a:t>
            </a:r>
            <a:r>
              <a:rPr lang="zh-CN" altLang="en-US" dirty="0"/>
              <a:t>出 为 三 位 二 进 制 数 </a:t>
            </a:r>
            <a:r>
              <a:rPr lang="zh-CN" altLang="en-US" dirty="0" smtClean="0"/>
              <a:t>码</a:t>
            </a:r>
            <a:r>
              <a:rPr lang="en-US" altLang="zh-CN" i="1" dirty="0" smtClean="0"/>
              <a:t>d </a:t>
            </a:r>
            <a:r>
              <a:rPr lang="en-US" altLang="zh-CN" i="1" baseline="-25000" dirty="0"/>
              <a:t>2</a:t>
            </a:r>
            <a:r>
              <a:rPr lang="en-US" altLang="zh-CN" i="1" dirty="0"/>
              <a:t> d </a:t>
            </a:r>
            <a:r>
              <a:rPr lang="en-US" altLang="zh-CN" i="1" baseline="-25000" dirty="0"/>
              <a:t>1</a:t>
            </a:r>
            <a:r>
              <a:rPr lang="en-US" altLang="zh-CN" i="1" dirty="0"/>
              <a:t> d </a:t>
            </a:r>
            <a:r>
              <a:rPr lang="en-US" altLang="zh-CN" i="1" baseline="-25000" dirty="0"/>
              <a:t>0</a:t>
            </a:r>
            <a:r>
              <a:rPr lang="en-US" altLang="zh-CN" i="1" dirty="0"/>
              <a:t> </a:t>
            </a:r>
            <a:r>
              <a:rPr lang="zh-CN" altLang="en-US" dirty="0"/>
              <a:t>。</a:t>
            </a:r>
            <a:endParaRPr lang="zh-CN" altLang="zh-CN" dirty="0"/>
          </a:p>
        </p:txBody>
      </p:sp>
      <p:sp>
        <p:nvSpPr>
          <p:cNvPr id="4116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12674" name="Rectangle 2"/>
              <p:cNvSpPr>
                <a:spLocks noGrp="1" noChangeArrowheads="1"/>
              </p:cNvSpPr>
              <p:nvPr>
                <p:ph type="title"/>
              </p:nvPr>
            </p:nvSpPr>
            <p:spPr/>
            <p:txBody>
              <a:bodyPr/>
              <a:lstStyle/>
              <a:p>
                <a:r>
                  <a:rPr lang="en-US" altLang="zh-CN" dirty="0"/>
                  <a:t/>
                </a:r>
                <a:br>
                  <a:rPr lang="en-US" altLang="zh-CN" dirty="0"/>
                </a:br>
                <a:r>
                  <a:rPr lang="zh-CN" altLang="en-US" dirty="0"/>
                  <a:t>　</a:t>
                </a:r>
                <a:r>
                  <a:rPr lang="zh-CN" altLang="en-US" dirty="0"/>
                  <a:t>　电压比较器由电阻分压器和七个比较器构成。在电阻分压器</a:t>
                </a:r>
                <a:r>
                  <a:rPr lang="zh-CN" altLang="en-US" dirty="0" smtClean="0"/>
                  <a:t>中，量</a:t>
                </a:r>
                <a:r>
                  <a:rPr lang="zh-CN" altLang="en-US" dirty="0"/>
                  <a:t>化电平的划分采</a:t>
                </a:r>
                <a:r>
                  <a:rPr lang="zh-CN" altLang="en-US" dirty="0" smtClean="0"/>
                  <a:t>用图 </a:t>
                </a:r>
                <a:r>
                  <a:rPr lang="en-US" altLang="zh-CN" dirty="0" smtClean="0"/>
                  <a:t>8</a:t>
                </a:r>
                <a:r>
                  <a:rPr lang="zh-CN" altLang="en-US" dirty="0" smtClean="0"/>
                  <a:t>－</a:t>
                </a:r>
                <a:r>
                  <a:rPr lang="en-US" altLang="zh-CN" dirty="0" smtClean="0"/>
                  <a:t>9 </a:t>
                </a:r>
                <a:r>
                  <a:rPr lang="en-US" altLang="zh-CN" dirty="0"/>
                  <a:t>( b )</a:t>
                </a:r>
                <a:r>
                  <a:rPr lang="zh-CN" altLang="en-US" dirty="0"/>
                  <a:t>所示的方</a:t>
                </a:r>
                <a:r>
                  <a:rPr lang="zh-CN" altLang="en-US" dirty="0" smtClean="0"/>
                  <a:t>式，即</a:t>
                </a:r>
                <a:r>
                  <a:rPr lang="zh-CN" altLang="en-US" dirty="0"/>
                  <a:t>以有舍有入方式进行分压。用电阻链把参考电压 </a:t>
                </a:r>
                <a:r>
                  <a:rPr lang="en-US" altLang="zh-CN" i="1" dirty="0"/>
                  <a:t>U </a:t>
                </a:r>
                <a:r>
                  <a:rPr lang="en-US" altLang="zh-CN" i="1" baseline="-25000" dirty="0"/>
                  <a:t>REF</a:t>
                </a:r>
                <a:r>
                  <a:rPr lang="en-US" altLang="zh-CN" i="1" dirty="0"/>
                  <a:t> </a:t>
                </a:r>
                <a:r>
                  <a:rPr lang="zh-CN" altLang="en-US" dirty="0"/>
                  <a:t>分</a:t>
                </a:r>
                <a:r>
                  <a:rPr lang="zh-CN" altLang="en-US" dirty="0" smtClean="0"/>
                  <a:t>压，得到</a:t>
                </a:r>
                <a:r>
                  <a:rPr lang="zh-CN" altLang="en-US" dirty="0"/>
                  <a:t>从 </a:t>
                </a:r>
                <a14:m>
                  <m:oMath xmlns:m="http://schemas.openxmlformats.org/officeDocument/2006/math">
                    <m:f>
                      <m:fPr>
                        <m:ctrlPr>
                          <a:rPr lang="en-US" altLang="zh-CN" i="1" smtClean="0">
                            <a:latin typeface="Cambria Math"/>
                          </a:rPr>
                        </m:ctrlPr>
                      </m:fPr>
                      <m:num>
                        <m:r>
                          <m:rPr>
                            <m:nor/>
                          </m:rPr>
                          <a:rPr lang="en-US" altLang="zh-CN" dirty="0"/>
                          <m:t>1</m:t>
                        </m:r>
                      </m:num>
                      <m:den>
                        <m:r>
                          <m:rPr>
                            <m:nor/>
                          </m:rPr>
                          <a:rPr lang="en-US" altLang="zh-CN" dirty="0"/>
                          <m:t>15</m:t>
                        </m:r>
                      </m:den>
                    </m:f>
                  </m:oMath>
                </a14:m>
                <a:r>
                  <a:rPr lang="en-US" altLang="zh-CN" i="1" dirty="0"/>
                  <a:t>U </a:t>
                </a:r>
                <a:r>
                  <a:rPr lang="en-US" altLang="zh-CN" i="1" baseline="-25000" dirty="0"/>
                  <a:t>REF</a:t>
                </a:r>
                <a:r>
                  <a:rPr lang="zh-CN" altLang="en-US" dirty="0" smtClean="0"/>
                  <a:t>到</a:t>
                </a:r>
                <a:r>
                  <a:rPr lang="en-US" altLang="zh-CN" dirty="0" smtClean="0"/>
                  <a:t> </a:t>
                </a:r>
                <a14:m>
                  <m:oMath xmlns:m="http://schemas.openxmlformats.org/officeDocument/2006/math">
                    <m:f>
                      <m:fPr>
                        <m:ctrlPr>
                          <a:rPr lang="en-US" altLang="zh-CN" i="1">
                            <a:latin typeface="Cambria Math"/>
                          </a:rPr>
                        </m:ctrlPr>
                      </m:fPr>
                      <m:num>
                        <m:r>
                          <m:rPr>
                            <m:nor/>
                          </m:rPr>
                          <a:rPr lang="en-US" altLang="zh-CN" dirty="0"/>
                          <m:t>13</m:t>
                        </m:r>
                      </m:num>
                      <m:den>
                        <m:r>
                          <m:rPr>
                            <m:nor/>
                          </m:rPr>
                          <a:rPr lang="en-US" altLang="zh-CN" dirty="0"/>
                          <m:t>15</m:t>
                        </m:r>
                      </m:den>
                    </m:f>
                  </m:oMath>
                </a14:m>
                <a:r>
                  <a:rPr lang="en-US" altLang="zh-CN" i="1" dirty="0"/>
                  <a:t> U </a:t>
                </a:r>
                <a:r>
                  <a:rPr lang="en-US" altLang="zh-CN" i="1" baseline="-25000" dirty="0"/>
                  <a:t>REF</a:t>
                </a:r>
                <a:r>
                  <a:rPr lang="en-US" altLang="zh-CN" i="1" dirty="0"/>
                  <a:t> </a:t>
                </a:r>
                <a:r>
                  <a:rPr lang="zh-CN" altLang="en-US" dirty="0" smtClean="0"/>
                  <a:t>之</a:t>
                </a:r>
                <a:r>
                  <a:rPr lang="zh-CN" altLang="en-US" dirty="0"/>
                  <a:t>间的七个量化电</a:t>
                </a:r>
                <a:r>
                  <a:rPr lang="zh-CN" altLang="en-US" dirty="0" smtClean="0"/>
                  <a:t>平，量</a:t>
                </a:r>
                <a:r>
                  <a:rPr lang="zh-CN" altLang="en-US" dirty="0"/>
                  <a:t>化单位为 </a:t>
                </a:r>
                <a:r>
                  <a:rPr lang="en-US" altLang="zh-CN" dirty="0"/>
                  <a:t>Δ </a:t>
                </a:r>
                <a:r>
                  <a:rPr lang="en-US" altLang="zh-CN" dirty="0" smtClean="0"/>
                  <a:t>=</a:t>
                </a:r>
                <a14:m>
                  <m:oMath xmlns:m="http://schemas.openxmlformats.org/officeDocument/2006/math">
                    <m:f>
                      <m:fPr>
                        <m:ctrlPr>
                          <a:rPr lang="en-US" altLang="zh-CN" i="1">
                            <a:latin typeface="Cambria Math"/>
                          </a:rPr>
                        </m:ctrlPr>
                      </m:fPr>
                      <m:num>
                        <m:r>
                          <m:rPr>
                            <m:nor/>
                          </m:rPr>
                          <a:rPr lang="en-US" altLang="zh-CN" dirty="0"/>
                          <m:t>2</m:t>
                        </m:r>
                      </m:num>
                      <m:den>
                        <m:r>
                          <m:rPr>
                            <m:nor/>
                          </m:rPr>
                          <a:rPr lang="en-US" altLang="zh-CN" dirty="0"/>
                          <m:t>15</m:t>
                        </m:r>
                      </m:den>
                    </m:f>
                  </m:oMath>
                </a14:m>
                <a:r>
                  <a:rPr lang="en-US" altLang="zh-CN" i="1" dirty="0"/>
                  <a:t> U </a:t>
                </a:r>
                <a:r>
                  <a:rPr lang="en-US" altLang="zh-CN" i="1" baseline="-25000" dirty="0"/>
                  <a:t>REF</a:t>
                </a:r>
                <a:r>
                  <a:rPr lang="en-US" altLang="zh-CN" i="1" dirty="0"/>
                  <a:t> </a:t>
                </a:r>
                <a:r>
                  <a:rPr lang="zh-CN" altLang="en-US" dirty="0" smtClean="0"/>
                  <a:t>。</a:t>
                </a:r>
                <a:r>
                  <a:rPr lang="zh-CN" altLang="en-US" dirty="0"/>
                  <a:t>然</a:t>
                </a:r>
                <a:r>
                  <a:rPr lang="zh-CN" altLang="en-US" dirty="0" smtClean="0"/>
                  <a:t>后，把</a:t>
                </a:r>
                <a:r>
                  <a:rPr lang="zh-CN" altLang="en-US" dirty="0"/>
                  <a:t>这七个量</a:t>
                </a:r>
                <a:r>
                  <a:rPr lang="zh-CN" altLang="en-US" dirty="0" smtClean="0"/>
                  <a:t>化电</a:t>
                </a:r>
                <a:r>
                  <a:rPr lang="zh-CN" altLang="en-US" dirty="0"/>
                  <a:t>平分别接到七个电压比较器 </a:t>
                </a:r>
                <a:r>
                  <a:rPr lang="en-US" altLang="zh-CN" dirty="0" smtClean="0"/>
                  <a:t>C</a:t>
                </a:r>
                <a:r>
                  <a:rPr lang="en-US" altLang="zh-CN" baseline="-25000" dirty="0" smtClean="0"/>
                  <a:t>1</a:t>
                </a:r>
                <a:r>
                  <a:rPr lang="en-US" altLang="zh-CN" dirty="0" smtClean="0"/>
                  <a:t> </a:t>
                </a:r>
                <a:r>
                  <a:rPr lang="en-US" altLang="zh-CN" dirty="0"/>
                  <a:t>~C </a:t>
                </a:r>
                <a:r>
                  <a:rPr lang="en-US" altLang="zh-CN" baseline="-25000" dirty="0"/>
                  <a:t>7 </a:t>
                </a:r>
                <a:r>
                  <a:rPr lang="zh-CN" altLang="en-US" dirty="0"/>
                  <a:t>的负输入</a:t>
                </a:r>
                <a:r>
                  <a:rPr lang="zh-CN" altLang="en-US" dirty="0" smtClean="0"/>
                  <a:t>端，作</a:t>
                </a:r>
                <a:r>
                  <a:rPr lang="zh-CN" altLang="en-US" dirty="0"/>
                  <a:t>为比较基准。同</a:t>
                </a:r>
                <a:r>
                  <a:rPr lang="zh-CN" altLang="en-US" dirty="0" smtClean="0"/>
                  <a:t>时，将</a:t>
                </a:r>
                <a:r>
                  <a:rPr lang="zh-CN" altLang="en-US" dirty="0"/>
                  <a:t>输入的模拟</a:t>
                </a:r>
                <a:r>
                  <a:rPr lang="zh-CN" altLang="en-US" dirty="0" smtClean="0"/>
                  <a:t>电压</a:t>
                </a:r>
                <a:r>
                  <a:rPr lang="zh-CN" altLang="en-US" dirty="0"/>
                  <a:t>接到每个电压比较器的正输入</a:t>
                </a:r>
                <a:r>
                  <a:rPr lang="zh-CN" altLang="en-US" dirty="0" smtClean="0"/>
                  <a:t>端，与</a:t>
                </a:r>
                <a:r>
                  <a:rPr lang="zh-CN" altLang="en-US" dirty="0"/>
                  <a:t>这七个量化电平进行比较。</a:t>
                </a:r>
                <a:endParaRPr lang="zh-CN" altLang="zh-CN" dirty="0"/>
              </a:p>
            </p:txBody>
          </p:sp>
        </mc:Choice>
        <mc:Fallback>
          <p:sp>
            <p:nvSpPr>
              <p:cNvPr id="412674"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3681"/>
                </a:stretch>
              </a:blipFill>
            </p:spPr>
            <p:txBody>
              <a:bodyPr/>
              <a:lstStyle/>
              <a:p>
                <a:r>
                  <a:rPr lang="zh-CN" altLang="en-US">
                    <a:noFill/>
                  </a:rPr>
                  <a:t> </a:t>
                </a:r>
              </a:p>
            </p:txBody>
          </p:sp>
        </mc:Fallback>
      </mc:AlternateContent>
      <p:sp>
        <p:nvSpPr>
          <p:cNvPr id="4126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endParaRPr lang="zh-CN" altLang="zh-CN" dirty="0"/>
          </a:p>
        </p:txBody>
      </p:sp>
      <p:sp>
        <p:nvSpPr>
          <p:cNvPr id="413699" name="Rectangle 3"/>
          <p:cNvSpPr>
            <a:spLocks noGrp="1" noChangeArrowheads="1"/>
          </p:cNvSpPr>
          <p:nvPr>
            <p:ph type="body" idx="1"/>
          </p:nvPr>
        </p:nvSpPr>
        <p:spPr>
          <a:xfrm>
            <a:off x="-15619" y="6165304"/>
            <a:ext cx="9144000" cy="438944"/>
          </a:xfrm>
        </p:spPr>
        <p:txBody>
          <a:bodyPr/>
          <a:lstStyle/>
          <a:p>
            <a:r>
              <a:rPr lang="zh-CN" altLang="en-US" dirty="0"/>
              <a:t>图 </a:t>
            </a:r>
            <a:r>
              <a:rPr lang="en-US" altLang="zh-CN" dirty="0" smtClean="0"/>
              <a:t>8</a:t>
            </a:r>
            <a:r>
              <a:rPr lang="zh-CN" altLang="en-US" dirty="0" smtClean="0"/>
              <a:t>－</a:t>
            </a:r>
            <a:r>
              <a:rPr lang="en-US" altLang="zh-CN" dirty="0" smtClean="0"/>
              <a:t>10  </a:t>
            </a:r>
            <a:r>
              <a:rPr lang="zh-CN" altLang="en-US" dirty="0"/>
              <a:t>并联比较型 </a:t>
            </a:r>
            <a:r>
              <a:rPr lang="en-US" altLang="zh-CN" dirty="0"/>
              <a:t>A / D </a:t>
            </a:r>
            <a:r>
              <a:rPr lang="zh-CN" altLang="en-US" dirty="0"/>
              <a:t>转换器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692696"/>
            <a:ext cx="4828734" cy="531160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1472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若 </a:t>
                </a:r>
                <a:r>
                  <a:rPr lang="en-US" altLang="zh-CN" i="1" dirty="0" smtClean="0"/>
                  <a:t>u</a:t>
                </a:r>
                <a:r>
                  <a:rPr lang="en-US" altLang="zh-CN" i="1" baseline="-25000" dirty="0" smtClean="0"/>
                  <a:t>i</a:t>
                </a:r>
                <a:r>
                  <a:rPr lang="en-US" altLang="zh-CN" i="1" dirty="0" smtClean="0"/>
                  <a:t> </a:t>
                </a:r>
                <a:r>
                  <a:rPr lang="en-US" altLang="zh-CN" i="1" dirty="0"/>
                  <a:t>&lt;</a:t>
                </a:r>
                <a:r>
                  <a:rPr lang="en-US" altLang="zh-CN" dirty="0"/>
                  <a:t> </a:t>
                </a:r>
                <a14:m>
                  <m:oMath xmlns:m="http://schemas.openxmlformats.org/officeDocument/2006/math">
                    <m:f>
                      <m:fPr>
                        <m:ctrlPr>
                          <a:rPr lang="en-US" altLang="zh-CN" i="1">
                            <a:latin typeface="Cambria Math"/>
                          </a:rPr>
                        </m:ctrlPr>
                      </m:fPr>
                      <m:num>
                        <m:r>
                          <m:rPr>
                            <m:nor/>
                          </m:rPr>
                          <a:rPr lang="en-US" altLang="zh-CN" dirty="0"/>
                          <m:t>1</m:t>
                        </m:r>
                      </m:num>
                      <m:den>
                        <m:r>
                          <m:rPr>
                            <m:nor/>
                          </m:rPr>
                          <a:rPr lang="en-US" altLang="zh-CN" dirty="0"/>
                          <m:t>15</m:t>
                        </m:r>
                      </m:den>
                    </m:f>
                  </m:oMath>
                </a14:m>
                <a:r>
                  <a:rPr lang="en-US" altLang="zh-CN" i="1" dirty="0"/>
                  <a:t>U </a:t>
                </a:r>
                <a:r>
                  <a:rPr lang="en-US" altLang="zh-CN" i="1" baseline="-25000" dirty="0" smtClean="0"/>
                  <a:t>REF</a:t>
                </a:r>
                <a:r>
                  <a:rPr lang="zh-CN" altLang="en-US" dirty="0" smtClean="0"/>
                  <a:t>，则</a:t>
                </a:r>
                <a:r>
                  <a:rPr lang="zh-CN" altLang="en-US" dirty="0"/>
                  <a:t>所有电压比较器的输出全是低电</a:t>
                </a:r>
                <a:r>
                  <a:rPr lang="zh-CN" altLang="en-US" dirty="0" smtClean="0"/>
                  <a:t>平，</a:t>
                </a:r>
                <a:r>
                  <a:rPr lang="en-US" altLang="zh-CN" dirty="0" smtClean="0"/>
                  <a:t> </a:t>
                </a:r>
                <a:r>
                  <a:rPr lang="en-US" altLang="zh-CN" dirty="0"/>
                  <a:t>CP </a:t>
                </a:r>
                <a:r>
                  <a:rPr lang="zh-CN" altLang="en-US" dirty="0"/>
                  <a:t>上升沿到来后寄存器中</a:t>
                </a:r>
                <a:r>
                  <a:rPr lang="zh-CN" altLang="en-US" dirty="0" smtClean="0"/>
                  <a:t>所有</a:t>
                </a:r>
                <a:r>
                  <a:rPr lang="zh-CN" altLang="en-US" dirty="0"/>
                  <a:t>的触发器都被置成 </a:t>
                </a:r>
                <a:r>
                  <a:rPr lang="en-US" altLang="zh-CN" dirty="0"/>
                  <a:t>0 </a:t>
                </a:r>
                <a:r>
                  <a:rPr lang="zh-CN" altLang="en-US" dirty="0"/>
                  <a:t>状态。</a:t>
                </a:r>
                <a:br>
                  <a:rPr lang="zh-CN" altLang="en-US" dirty="0"/>
                </a:br>
                <a:r>
                  <a:rPr lang="zh-CN" altLang="en-US" dirty="0" smtClean="0"/>
                  <a:t>　　若 </a:t>
                </a:r>
                <a:r>
                  <a:rPr lang="en-US" altLang="zh-CN" dirty="0" smtClean="0"/>
                  <a:t> </a:t>
                </a:r>
                <a14:m>
                  <m:oMath xmlns:m="http://schemas.openxmlformats.org/officeDocument/2006/math">
                    <m:f>
                      <m:fPr>
                        <m:ctrlPr>
                          <a:rPr lang="en-US" altLang="zh-CN" i="1">
                            <a:latin typeface="Cambria Math"/>
                          </a:rPr>
                        </m:ctrlPr>
                      </m:fPr>
                      <m:num>
                        <m:r>
                          <m:rPr>
                            <m:nor/>
                          </m:rPr>
                          <a:rPr lang="en-US" altLang="zh-CN" dirty="0"/>
                          <m:t>1</m:t>
                        </m:r>
                      </m:num>
                      <m:den>
                        <m:r>
                          <m:rPr>
                            <m:nor/>
                          </m:rPr>
                          <a:rPr lang="en-US" altLang="zh-CN" dirty="0"/>
                          <m:t>15</m:t>
                        </m:r>
                      </m:den>
                    </m:f>
                  </m:oMath>
                </a14:m>
                <a:r>
                  <a:rPr lang="en-US" altLang="zh-CN" i="1" dirty="0"/>
                  <a:t>U </a:t>
                </a:r>
                <a:r>
                  <a:rPr lang="en-US" altLang="zh-CN" i="1" baseline="-25000" dirty="0" smtClean="0"/>
                  <a:t>REF</a:t>
                </a:r>
                <a:r>
                  <a:rPr lang="en-US" altLang="zh-CN" dirty="0" smtClean="0"/>
                  <a:t> </a:t>
                </a:r>
                <a:r>
                  <a:rPr lang="en-US" altLang="zh-CN" dirty="0"/>
                  <a:t>≤ </a:t>
                </a:r>
                <a:r>
                  <a:rPr lang="en-US" altLang="zh-CN" i="1" dirty="0"/>
                  <a:t>u </a:t>
                </a:r>
                <a:r>
                  <a:rPr lang="en-US" altLang="zh-CN" i="1" baseline="-25000" dirty="0"/>
                  <a:t>i</a:t>
                </a:r>
                <a:r>
                  <a:rPr lang="en-US" altLang="zh-CN" i="1" dirty="0"/>
                  <a:t> </a:t>
                </a:r>
                <a:r>
                  <a:rPr lang="en-US" altLang="zh-CN" dirty="0"/>
                  <a:t>&lt; </a:t>
                </a:r>
                <a14:m>
                  <m:oMath xmlns:m="http://schemas.openxmlformats.org/officeDocument/2006/math">
                    <m:f>
                      <m:fPr>
                        <m:ctrlPr>
                          <a:rPr lang="en-US" altLang="zh-CN" i="1">
                            <a:latin typeface="Cambria Math"/>
                          </a:rPr>
                        </m:ctrlPr>
                      </m:fPr>
                      <m:num>
                        <m:r>
                          <m:rPr>
                            <m:nor/>
                          </m:rPr>
                          <a:rPr lang="en-US" altLang="zh-CN" dirty="0"/>
                          <m:t>13</m:t>
                        </m:r>
                      </m:num>
                      <m:den>
                        <m:r>
                          <m:rPr>
                            <m:nor/>
                          </m:rPr>
                          <a:rPr lang="en-US" altLang="zh-CN" dirty="0"/>
                          <m:t>15</m:t>
                        </m:r>
                      </m:den>
                    </m:f>
                  </m:oMath>
                </a14:m>
                <a:r>
                  <a:rPr lang="en-US" altLang="zh-CN" i="1" dirty="0"/>
                  <a:t> U </a:t>
                </a:r>
                <a:r>
                  <a:rPr lang="en-US" altLang="zh-CN" i="1" baseline="-25000" dirty="0"/>
                  <a:t>REF</a:t>
                </a:r>
                <a:r>
                  <a:rPr lang="en-US" altLang="zh-CN" dirty="0"/>
                  <a:t> </a:t>
                </a:r>
                <a:r>
                  <a:rPr lang="zh-CN" altLang="en-US" dirty="0" smtClean="0"/>
                  <a:t>，则</a:t>
                </a:r>
                <a:r>
                  <a:rPr lang="zh-CN" altLang="en-US" dirty="0"/>
                  <a:t>只有 </a:t>
                </a:r>
                <a:r>
                  <a:rPr lang="en-US" altLang="zh-CN" dirty="0"/>
                  <a:t>C 1 </a:t>
                </a:r>
                <a:r>
                  <a:rPr lang="zh-CN" altLang="en-US" dirty="0"/>
                  <a:t>输出为高电</a:t>
                </a:r>
                <a:r>
                  <a:rPr lang="zh-CN" altLang="en-US" dirty="0" smtClean="0"/>
                  <a:t>平，</a:t>
                </a:r>
                <a:r>
                  <a:rPr lang="en-US" altLang="zh-CN" dirty="0" smtClean="0"/>
                  <a:t> </a:t>
                </a:r>
                <a:r>
                  <a:rPr lang="en-US" altLang="zh-CN" dirty="0"/>
                  <a:t>CP </a:t>
                </a:r>
                <a:r>
                  <a:rPr lang="zh-CN" altLang="en-US" dirty="0"/>
                  <a:t>上升沿到来后触发器 </a:t>
                </a:r>
                <a:r>
                  <a:rPr lang="en-US" altLang="zh-CN" dirty="0"/>
                  <a:t>FF </a:t>
                </a:r>
                <a:r>
                  <a:rPr lang="en-US" altLang="zh-CN" baseline="-25000" dirty="0"/>
                  <a:t>1</a:t>
                </a:r>
                <a:r>
                  <a:rPr lang="en-US" altLang="zh-CN" dirty="0"/>
                  <a:t> </a:t>
                </a:r>
                <a:r>
                  <a:rPr lang="zh-CN" altLang="en-US" dirty="0"/>
                  <a:t>被</a:t>
                </a:r>
                <a:r>
                  <a:rPr lang="zh-CN" altLang="en-US" dirty="0" smtClean="0"/>
                  <a:t>置成 </a:t>
                </a:r>
                <a:r>
                  <a:rPr lang="en-US" altLang="zh-CN" dirty="0"/>
                  <a:t>1 </a:t>
                </a:r>
                <a:r>
                  <a:rPr lang="zh-CN" altLang="en-US" dirty="0"/>
                  <a:t>状</a:t>
                </a:r>
                <a:r>
                  <a:rPr lang="zh-CN" altLang="en-US" dirty="0" smtClean="0"/>
                  <a:t>态，其</a:t>
                </a:r>
                <a:r>
                  <a:rPr lang="zh-CN" altLang="en-US" dirty="0"/>
                  <a:t>余触发器被置成 </a:t>
                </a:r>
                <a:r>
                  <a:rPr lang="en-US" altLang="zh-CN" dirty="0"/>
                  <a:t>0 </a:t>
                </a:r>
                <a:r>
                  <a:rPr lang="zh-CN" altLang="en-US" dirty="0"/>
                  <a:t>状态。</a:t>
                </a:r>
                <a:br>
                  <a:rPr lang="zh-CN" altLang="en-US" dirty="0"/>
                </a:br>
                <a:r>
                  <a:rPr lang="zh-CN" altLang="en-US" dirty="0" smtClean="0"/>
                  <a:t>　　依</a:t>
                </a:r>
                <a:r>
                  <a:rPr lang="zh-CN" altLang="en-US" dirty="0"/>
                  <a:t>次类</a:t>
                </a:r>
                <a:r>
                  <a:rPr lang="zh-CN" altLang="en-US" dirty="0" smtClean="0"/>
                  <a:t>推，易</a:t>
                </a:r>
                <a:r>
                  <a:rPr lang="zh-CN" altLang="en-US" dirty="0"/>
                  <a:t>算出 </a:t>
                </a:r>
                <a:r>
                  <a:rPr lang="en-US" altLang="zh-CN" i="1" dirty="0"/>
                  <a:t>u </a:t>
                </a:r>
                <a:r>
                  <a:rPr lang="en-US" altLang="zh-CN" i="1" baseline="-25000" dirty="0"/>
                  <a:t>i</a:t>
                </a:r>
                <a:r>
                  <a:rPr lang="en-US" altLang="zh-CN" dirty="0" smtClean="0"/>
                  <a:t> </a:t>
                </a:r>
                <a:r>
                  <a:rPr lang="zh-CN" altLang="en-US" dirty="0"/>
                  <a:t>为不同电压时寄存器的状</a:t>
                </a:r>
                <a:r>
                  <a:rPr lang="zh-CN" altLang="en-US" dirty="0" smtClean="0"/>
                  <a:t>态，如</a:t>
                </a:r>
                <a:r>
                  <a:rPr lang="zh-CN" altLang="en-US" dirty="0"/>
                  <a:t>表 </a:t>
                </a:r>
                <a:r>
                  <a:rPr lang="en-US" altLang="zh-CN" dirty="0" smtClean="0"/>
                  <a:t>8</a:t>
                </a:r>
                <a:r>
                  <a:rPr lang="zh-CN" altLang="en-US" dirty="0" smtClean="0"/>
                  <a:t>－</a:t>
                </a:r>
                <a:r>
                  <a:rPr lang="en-US" altLang="zh-CN" dirty="0" smtClean="0"/>
                  <a:t>1 </a:t>
                </a:r>
                <a:r>
                  <a:rPr lang="zh-CN" altLang="en-US" dirty="0"/>
                  <a:t>所示。但由于寄存器</a:t>
                </a:r>
                <a:r>
                  <a:rPr lang="zh-CN" altLang="en-US" dirty="0" smtClean="0"/>
                  <a:t>输出</a:t>
                </a:r>
                <a:r>
                  <a:rPr lang="zh-CN" altLang="en-US" dirty="0"/>
                  <a:t>的是一组七位的二进制代</a:t>
                </a:r>
                <a:r>
                  <a:rPr lang="zh-CN" altLang="en-US" dirty="0" smtClean="0"/>
                  <a:t>码，仍</a:t>
                </a:r>
                <a:r>
                  <a:rPr lang="zh-CN" altLang="en-US" dirty="0"/>
                  <a:t>不是所要求的二进制</a:t>
                </a:r>
                <a:r>
                  <a:rPr lang="zh-CN" altLang="en-US" dirty="0" smtClean="0"/>
                  <a:t>数，因</a:t>
                </a:r>
                <a:r>
                  <a:rPr lang="zh-CN" altLang="en-US" dirty="0"/>
                  <a:t>此必须进行代码转换。</a:t>
                </a:r>
                <a:endParaRPr lang="zh-CN" altLang="zh-CN" dirty="0"/>
              </a:p>
            </p:txBody>
          </p:sp>
        </mc:Choice>
        <mc:Fallback>
          <p:sp>
            <p:nvSpPr>
              <p:cNvPr id="414722"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4884"/>
                </a:stretch>
              </a:blipFill>
            </p:spPr>
            <p:txBody>
              <a:bodyPr/>
              <a:lstStyle/>
              <a:p>
                <a:r>
                  <a:rPr lang="zh-CN" altLang="en-US">
                    <a:noFill/>
                  </a:rPr>
                  <a:t> </a:t>
                </a:r>
              </a:p>
            </p:txBody>
          </p:sp>
        </mc:Fallback>
      </mc:AlternateContent>
      <p:sp>
        <p:nvSpPr>
          <p:cNvPr id="4147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endParaRPr lang="zh-CN" altLang="zh-CN"/>
          </a:p>
        </p:txBody>
      </p:sp>
      <p:sp>
        <p:nvSpPr>
          <p:cNvPr id="41574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379" y="908720"/>
            <a:ext cx="8240276" cy="1162212"/>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432" y="2070932"/>
            <a:ext cx="8221223" cy="390579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endParaRPr lang="zh-CN" altLang="zh-CN"/>
          </a:p>
        </p:txBody>
      </p:sp>
      <p:sp>
        <p:nvSpPr>
          <p:cNvPr id="41677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572" y="1695208"/>
            <a:ext cx="8268855" cy="346758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代码转换器是一个组合逻辑电</a:t>
            </a:r>
            <a:r>
              <a:rPr lang="zh-CN" altLang="en-US" dirty="0" smtClean="0"/>
              <a:t>路，根</a:t>
            </a:r>
            <a:r>
              <a:rPr lang="zh-CN" altLang="en-US" dirty="0"/>
              <a:t>据表 </a:t>
            </a:r>
            <a:r>
              <a:rPr lang="en-US" altLang="zh-CN" dirty="0" smtClean="0"/>
              <a:t>8</a:t>
            </a:r>
            <a:r>
              <a:rPr lang="zh-CN" altLang="en-US" dirty="0" smtClean="0"/>
              <a:t>－</a:t>
            </a:r>
            <a:r>
              <a:rPr lang="en-US" altLang="zh-CN" dirty="0" smtClean="0"/>
              <a:t>1 </a:t>
            </a:r>
            <a:r>
              <a:rPr lang="zh-CN" altLang="en-US" dirty="0"/>
              <a:t>可以写出代码转换电路输出与输入</a:t>
            </a:r>
            <a:r>
              <a:rPr lang="zh-CN" altLang="en-US" dirty="0" smtClean="0"/>
              <a:t>间的</a:t>
            </a:r>
            <a:r>
              <a:rPr lang="zh-CN" altLang="en-US" dirty="0"/>
              <a:t>逻辑函数式</a:t>
            </a:r>
            <a:r>
              <a:rPr lang="en-US" altLang="zh-CN" dirty="0" smtClean="0"/>
              <a:t>:</a:t>
            </a:r>
            <a:br>
              <a:rPr lang="en-US" altLang="zh-CN" dirty="0" smtClean="0"/>
            </a:br>
            <a:r>
              <a:rPr lang="en-US" altLang="zh-CN" dirty="0"/>
              <a:t/>
            </a:r>
            <a:br>
              <a:rPr lang="en-US" altLang="zh-CN" dirty="0"/>
            </a:b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en-US" altLang="zh-CN" dirty="0"/>
              <a:t/>
            </a:r>
            <a:br>
              <a:rPr lang="en-US" altLang="zh-CN" dirty="0"/>
            </a:br>
            <a:r>
              <a:rPr lang="zh-CN" altLang="en-US" dirty="0"/>
              <a:t>　　按照上式即可得到图 </a:t>
            </a:r>
            <a:r>
              <a:rPr lang="en-US" altLang="zh-CN" dirty="0" smtClean="0"/>
              <a:t>8</a:t>
            </a:r>
            <a:r>
              <a:rPr lang="zh-CN" altLang="en-US" dirty="0" smtClean="0"/>
              <a:t>－</a:t>
            </a:r>
            <a:r>
              <a:rPr lang="en-US" altLang="zh-CN" dirty="0" smtClean="0"/>
              <a:t>10 </a:t>
            </a:r>
            <a:r>
              <a:rPr lang="zh-CN" altLang="en-US" dirty="0"/>
              <a:t>所示的代码转换电路。</a:t>
            </a:r>
            <a:endParaRPr lang="zh-CN" altLang="zh-CN" dirty="0"/>
          </a:p>
        </p:txBody>
      </p:sp>
      <p:sp>
        <p:nvSpPr>
          <p:cNvPr id="41779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2276872"/>
            <a:ext cx="5547554" cy="1800200"/>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8304" y="3047946"/>
            <a:ext cx="905001" cy="38105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例</a:t>
            </a:r>
            <a:r>
              <a:rPr lang="zh-CN" altLang="en-US" dirty="0" smtClean="0"/>
              <a:t>如，假</a:t>
            </a:r>
            <a:r>
              <a:rPr lang="zh-CN" altLang="en-US" dirty="0"/>
              <a:t>设模拟输入电压 </a:t>
            </a:r>
            <a:r>
              <a:rPr lang="en-US" altLang="zh-CN" i="1" dirty="0" smtClean="0"/>
              <a:t>u</a:t>
            </a:r>
            <a:r>
              <a:rPr lang="en-US" altLang="zh-CN" i="1" baseline="-25000" dirty="0" smtClean="0"/>
              <a:t>i</a:t>
            </a:r>
            <a:r>
              <a:rPr lang="en-US" altLang="zh-CN" i="1" dirty="0" smtClean="0"/>
              <a:t> </a:t>
            </a:r>
            <a:r>
              <a:rPr lang="en-US" altLang="zh-CN" dirty="0"/>
              <a:t>=</a:t>
            </a:r>
            <a:r>
              <a:rPr lang="en-US" altLang="zh-CN" dirty="0" smtClean="0"/>
              <a:t>3.8 </a:t>
            </a:r>
            <a:r>
              <a:rPr lang="en-US" altLang="zh-CN" dirty="0"/>
              <a:t>V </a:t>
            </a:r>
            <a:r>
              <a:rPr lang="zh-CN" altLang="en-US" dirty="0" smtClean="0"/>
              <a:t>，</a:t>
            </a:r>
            <a:r>
              <a:rPr lang="en-US" altLang="zh-CN" dirty="0" smtClean="0"/>
              <a:t> </a:t>
            </a:r>
            <a:r>
              <a:rPr lang="en-US" altLang="zh-CN" i="1" dirty="0"/>
              <a:t>U </a:t>
            </a:r>
            <a:r>
              <a:rPr lang="en-US" altLang="zh-CN" i="1" baseline="-25000" dirty="0"/>
              <a:t>REF</a:t>
            </a:r>
            <a:r>
              <a:rPr lang="en-US" altLang="zh-CN" i="1" dirty="0"/>
              <a:t> </a:t>
            </a:r>
            <a:r>
              <a:rPr lang="en-US" altLang="zh-CN" dirty="0"/>
              <a:t>=8 V </a:t>
            </a:r>
            <a:r>
              <a:rPr lang="zh-CN" altLang="en-US" dirty="0"/>
              <a:t>。当模拟输入电压 </a:t>
            </a:r>
            <a:r>
              <a:rPr lang="en-US" altLang="zh-CN" i="1" dirty="0"/>
              <a:t>u</a:t>
            </a:r>
            <a:r>
              <a:rPr lang="en-US" altLang="zh-CN" i="1" baseline="-25000" dirty="0"/>
              <a:t>i</a:t>
            </a:r>
            <a:r>
              <a:rPr lang="en-US" altLang="zh-CN" dirty="0" smtClean="0"/>
              <a:t> </a:t>
            </a:r>
            <a:r>
              <a:rPr lang="zh-CN" altLang="en-US" dirty="0"/>
              <a:t>加到各级比较</a:t>
            </a:r>
            <a:r>
              <a:rPr lang="zh-CN" altLang="en-US" dirty="0" smtClean="0"/>
              <a:t>器时，由于</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en-US" altLang="zh-CN" dirty="0"/>
              <a:t/>
            </a:r>
            <a:br>
              <a:rPr lang="en-US" altLang="zh-CN" dirty="0"/>
            </a:br>
            <a:r>
              <a:rPr lang="zh-CN" altLang="en-US" dirty="0" smtClean="0"/>
              <a:t>　　因</a:t>
            </a:r>
            <a:r>
              <a:rPr lang="zh-CN" altLang="en-US" dirty="0"/>
              <a:t>此比较器的输出 </a:t>
            </a:r>
            <a:r>
              <a:rPr lang="en-US" altLang="zh-CN" dirty="0"/>
              <a:t>C 7 ~ C 1 </a:t>
            </a:r>
            <a:r>
              <a:rPr lang="zh-CN" altLang="en-US" dirty="0"/>
              <a:t>为 </a:t>
            </a:r>
            <a:r>
              <a:rPr lang="en-US" altLang="zh-CN" dirty="0"/>
              <a:t>0001111 </a:t>
            </a:r>
            <a:r>
              <a:rPr lang="zh-CN" altLang="en-US" dirty="0"/>
              <a:t>。在时钟脉冲作用</a:t>
            </a:r>
            <a:r>
              <a:rPr lang="zh-CN" altLang="en-US" dirty="0" smtClean="0"/>
              <a:t>下，比</a:t>
            </a:r>
            <a:r>
              <a:rPr lang="zh-CN" altLang="en-US" dirty="0"/>
              <a:t>较器的输出存入寄存</a:t>
            </a:r>
            <a:r>
              <a:rPr lang="zh-CN" altLang="en-US" dirty="0" smtClean="0"/>
              <a:t>器，经代</a:t>
            </a:r>
            <a:r>
              <a:rPr lang="zh-CN" altLang="en-US" dirty="0"/>
              <a:t>码转换电路输出 </a:t>
            </a:r>
            <a:r>
              <a:rPr lang="en-US" altLang="zh-CN" dirty="0"/>
              <a:t>A / D </a:t>
            </a:r>
            <a:r>
              <a:rPr lang="zh-CN" altLang="en-US" dirty="0"/>
              <a:t>转换结果</a:t>
            </a:r>
            <a:r>
              <a:rPr lang="en-US" altLang="zh-CN" dirty="0"/>
              <a:t>: </a:t>
            </a:r>
            <a:r>
              <a:rPr lang="en-US" altLang="zh-CN" i="1" dirty="0" smtClean="0"/>
              <a:t>d</a:t>
            </a:r>
            <a:r>
              <a:rPr lang="en-US" altLang="zh-CN" i="1" baseline="-25000" dirty="0" smtClean="0"/>
              <a:t>2</a:t>
            </a:r>
            <a:r>
              <a:rPr lang="en-US" altLang="zh-CN" i="1" dirty="0" smtClean="0"/>
              <a:t> </a:t>
            </a:r>
            <a:r>
              <a:rPr lang="en-US" altLang="zh-CN" i="1" dirty="0"/>
              <a:t>d </a:t>
            </a:r>
            <a:r>
              <a:rPr lang="en-US" altLang="zh-CN" i="1" baseline="-25000" dirty="0"/>
              <a:t>1</a:t>
            </a:r>
            <a:r>
              <a:rPr lang="en-US" altLang="zh-CN" i="1" dirty="0"/>
              <a:t> d </a:t>
            </a:r>
            <a:r>
              <a:rPr lang="en-US" altLang="zh-CN" i="1" baseline="-25000" dirty="0"/>
              <a:t>0</a:t>
            </a:r>
            <a:r>
              <a:rPr lang="en-US" altLang="zh-CN" i="1" dirty="0"/>
              <a:t> </a:t>
            </a:r>
            <a:r>
              <a:rPr lang="en-US" altLang="zh-CN" dirty="0"/>
              <a:t>=100 </a:t>
            </a:r>
            <a:r>
              <a:rPr lang="zh-CN" altLang="en-US" dirty="0"/>
              <a:t>。这也就是并联比较型 </a:t>
            </a:r>
            <a:r>
              <a:rPr lang="en-US" altLang="zh-CN" dirty="0"/>
              <a:t>A / D</a:t>
            </a:r>
            <a:br>
              <a:rPr lang="en-US" altLang="zh-CN" dirty="0"/>
            </a:br>
            <a:r>
              <a:rPr lang="zh-CN" altLang="en-US" dirty="0"/>
              <a:t>转换器的</a:t>
            </a:r>
            <a:r>
              <a:rPr lang="zh-CN" altLang="en-US" dirty="0" smtClean="0"/>
              <a:t>工作</a:t>
            </a:r>
            <a:r>
              <a:rPr lang="zh-CN" altLang="en-US" dirty="0"/>
              <a:t>过程。</a:t>
            </a:r>
            <a:endParaRPr lang="zh-CN" altLang="zh-CN" dirty="0"/>
          </a:p>
        </p:txBody>
      </p:sp>
      <p:sp>
        <p:nvSpPr>
          <p:cNvPr id="41881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2420888"/>
            <a:ext cx="4677428" cy="85737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dirty="0" smtClean="0"/>
              <a:t>并</a:t>
            </a:r>
            <a:r>
              <a:rPr lang="zh-CN" altLang="en-US" dirty="0"/>
              <a:t>联比较型 </a:t>
            </a:r>
            <a:r>
              <a:rPr lang="en-US" altLang="zh-CN" dirty="0"/>
              <a:t>A / D </a:t>
            </a:r>
            <a:r>
              <a:rPr lang="zh-CN" altLang="en-US" dirty="0"/>
              <a:t>转换器的转换速度很</a:t>
            </a:r>
            <a:r>
              <a:rPr lang="zh-CN" altLang="en-US" dirty="0" smtClean="0"/>
              <a:t>快，其</a:t>
            </a:r>
            <a:r>
              <a:rPr lang="zh-CN" altLang="en-US" dirty="0"/>
              <a:t>转换速度实际上取决于器件的速度和</a:t>
            </a:r>
            <a:r>
              <a:rPr lang="zh-CN" altLang="en-US" dirty="0" smtClean="0"/>
              <a:t>时钟</a:t>
            </a:r>
            <a:r>
              <a:rPr lang="zh-CN" altLang="en-US" dirty="0"/>
              <a:t>脉冲的宽度。其缺点是电路复</a:t>
            </a:r>
            <a:r>
              <a:rPr lang="zh-CN" altLang="en-US" dirty="0" smtClean="0"/>
              <a:t>杂，对</a:t>
            </a:r>
            <a:r>
              <a:rPr lang="zh-CN" altLang="en-US" dirty="0"/>
              <a:t>于一个 </a:t>
            </a:r>
            <a:r>
              <a:rPr lang="en-US" altLang="zh-CN" dirty="0"/>
              <a:t>n </a:t>
            </a:r>
            <a:r>
              <a:rPr lang="zh-CN" altLang="en-US" dirty="0"/>
              <a:t>位二进制输出的并联比较型 </a:t>
            </a:r>
            <a:r>
              <a:rPr lang="en-US" altLang="zh-CN" dirty="0"/>
              <a:t>A / D </a:t>
            </a:r>
            <a:r>
              <a:rPr lang="zh-CN" altLang="en-US" dirty="0"/>
              <a:t>转换</a:t>
            </a:r>
            <a:r>
              <a:rPr lang="zh-CN" altLang="en-US" dirty="0" smtClean="0"/>
              <a:t>器，</a:t>
            </a:r>
            <a:r>
              <a:rPr lang="en-US" altLang="zh-CN" dirty="0"/>
              <a:t/>
            </a:r>
            <a:br>
              <a:rPr lang="en-US" altLang="zh-CN" dirty="0"/>
            </a:br>
            <a:r>
              <a:rPr lang="zh-CN" altLang="en-US" dirty="0"/>
              <a:t>需 </a:t>
            </a:r>
            <a:r>
              <a:rPr lang="en-US" altLang="zh-CN" dirty="0" smtClean="0"/>
              <a:t>2</a:t>
            </a:r>
            <a:r>
              <a:rPr lang="en-US" altLang="zh-CN" baseline="30000" dirty="0" smtClean="0"/>
              <a:t>n</a:t>
            </a:r>
            <a:r>
              <a:rPr lang="en-US" altLang="zh-CN" dirty="0" smtClean="0"/>
              <a:t> </a:t>
            </a:r>
            <a:r>
              <a:rPr lang="en-US" altLang="zh-CN" dirty="0"/>
              <a:t>-1 </a:t>
            </a:r>
            <a:r>
              <a:rPr lang="zh-CN" altLang="en-US" dirty="0"/>
              <a:t>个电压比较器和 </a:t>
            </a:r>
            <a:r>
              <a:rPr lang="en-US" altLang="zh-CN" dirty="0"/>
              <a:t>2 </a:t>
            </a:r>
            <a:r>
              <a:rPr lang="en-US" altLang="zh-CN" baseline="30000" dirty="0"/>
              <a:t>n</a:t>
            </a:r>
            <a:r>
              <a:rPr lang="en-US" altLang="zh-CN" dirty="0" smtClean="0"/>
              <a:t> </a:t>
            </a:r>
            <a:r>
              <a:rPr lang="en-US" altLang="zh-CN" dirty="0"/>
              <a:t>-1 </a:t>
            </a:r>
            <a:r>
              <a:rPr lang="zh-CN" altLang="en-US" dirty="0"/>
              <a:t>个触发</a:t>
            </a:r>
            <a:r>
              <a:rPr lang="zh-CN" altLang="en-US" dirty="0" smtClean="0"/>
              <a:t>器，代</a:t>
            </a:r>
            <a:r>
              <a:rPr lang="zh-CN" altLang="en-US" dirty="0"/>
              <a:t>码转换电路随 </a:t>
            </a:r>
            <a:r>
              <a:rPr lang="en-US" altLang="zh-CN" dirty="0"/>
              <a:t>n </a:t>
            </a:r>
            <a:r>
              <a:rPr lang="zh-CN" altLang="en-US" dirty="0"/>
              <a:t>的增大变得相当复杂。</a:t>
            </a:r>
            <a:br>
              <a:rPr lang="zh-CN" altLang="en-US" dirty="0"/>
            </a:br>
            <a:r>
              <a:rPr lang="zh-CN" altLang="en-US" dirty="0" smtClean="0"/>
              <a:t>　　并</a:t>
            </a:r>
            <a:r>
              <a:rPr lang="zh-CN" altLang="en-US" dirty="0"/>
              <a:t>联比较型 </a:t>
            </a:r>
            <a:r>
              <a:rPr lang="en-US" altLang="zh-CN" dirty="0"/>
              <a:t>A / D </a:t>
            </a:r>
            <a:r>
              <a:rPr lang="zh-CN" altLang="en-US" dirty="0"/>
              <a:t>转换器的转换精度主要取决于量化电平的划</a:t>
            </a:r>
            <a:r>
              <a:rPr lang="zh-CN" altLang="en-US" dirty="0" smtClean="0"/>
              <a:t>分，分</a:t>
            </a:r>
            <a:r>
              <a:rPr lang="zh-CN" altLang="en-US" dirty="0"/>
              <a:t>得越</a:t>
            </a:r>
            <a:r>
              <a:rPr lang="zh-CN" altLang="en-US" dirty="0" smtClean="0"/>
              <a:t>细，精</a:t>
            </a:r>
            <a:r>
              <a:rPr lang="zh-CN" altLang="en-US" dirty="0"/>
              <a:t>度</a:t>
            </a:r>
            <a:r>
              <a:rPr lang="zh-CN" altLang="en-US" dirty="0" smtClean="0"/>
              <a:t>越高</a:t>
            </a:r>
            <a:r>
              <a:rPr lang="zh-CN" altLang="en-US" dirty="0"/>
              <a:t>。但分得过</a:t>
            </a:r>
            <a:r>
              <a:rPr lang="zh-CN" altLang="en-US" dirty="0" smtClean="0"/>
              <a:t>细，使</a:t>
            </a:r>
            <a:r>
              <a:rPr lang="zh-CN" altLang="en-US" dirty="0"/>
              <a:t>用的比较器和触发器数目就越</a:t>
            </a:r>
            <a:r>
              <a:rPr lang="zh-CN" altLang="en-US" dirty="0" smtClean="0"/>
              <a:t>大，电</a:t>
            </a:r>
            <a:r>
              <a:rPr lang="zh-CN" altLang="en-US" dirty="0"/>
              <a:t>路就更加复杂。此</a:t>
            </a:r>
            <a:r>
              <a:rPr lang="zh-CN" altLang="en-US" dirty="0" smtClean="0"/>
              <a:t>外，转</a:t>
            </a:r>
            <a:r>
              <a:rPr lang="zh-CN" altLang="en-US" dirty="0"/>
              <a:t>换精度还受参考电压的稳定度和分压电阻相对精度以及电压比较器灵敏度的影响。</a:t>
            </a:r>
            <a:endParaRPr lang="zh-CN" altLang="zh-CN" dirty="0"/>
          </a:p>
        </p:txBody>
      </p:sp>
      <p:sp>
        <p:nvSpPr>
          <p:cNvPr id="4198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b="1" dirty="0"/>
              <a:t> </a:t>
            </a:r>
            <a:r>
              <a:rPr lang="en-US" altLang="zh-CN" b="1" dirty="0"/>
              <a:t>2. </a:t>
            </a:r>
            <a:r>
              <a:rPr lang="zh-CN" altLang="en-US" b="1" dirty="0"/>
              <a:t>反馈比较型 </a:t>
            </a:r>
            <a:r>
              <a:rPr lang="en-US" altLang="zh-CN" b="1" dirty="0"/>
              <a:t>A / D </a:t>
            </a:r>
            <a:r>
              <a:rPr lang="zh-CN" altLang="en-US" b="1" dirty="0"/>
              <a:t>转换器</a:t>
            </a:r>
            <a:br>
              <a:rPr lang="zh-CN" altLang="en-US" b="1" dirty="0"/>
            </a:br>
            <a:r>
              <a:rPr lang="zh-CN" altLang="en-US" b="1" dirty="0" smtClean="0"/>
              <a:t>　　</a:t>
            </a:r>
            <a:r>
              <a:rPr lang="zh-CN" altLang="en-US" dirty="0" smtClean="0"/>
              <a:t>在</a:t>
            </a:r>
            <a:r>
              <a:rPr lang="zh-CN" altLang="en-US" dirty="0"/>
              <a:t>反馈比较型 </a:t>
            </a:r>
            <a:r>
              <a:rPr lang="en-US" altLang="zh-CN" dirty="0"/>
              <a:t>A / D </a:t>
            </a:r>
            <a:r>
              <a:rPr lang="zh-CN" altLang="en-US" dirty="0"/>
              <a:t>转换器中经常采用的有计数型和逐次渐近型两种方案。</a:t>
            </a:r>
            <a:br>
              <a:rPr lang="zh-CN" altLang="en-US" dirty="0"/>
            </a:br>
            <a:r>
              <a:rPr lang="zh-CN" altLang="en-US" dirty="0" smtClean="0"/>
              <a:t>　　计</a:t>
            </a:r>
            <a:r>
              <a:rPr lang="zh-CN" altLang="en-US" dirty="0"/>
              <a:t>数型 </a:t>
            </a:r>
            <a:r>
              <a:rPr lang="en-US" altLang="zh-CN" dirty="0"/>
              <a:t>A / D </a:t>
            </a:r>
            <a:r>
              <a:rPr lang="zh-CN" altLang="en-US" dirty="0"/>
              <a:t>转换器的原理框图如图 </a:t>
            </a:r>
            <a:r>
              <a:rPr lang="en-US" altLang="zh-CN" dirty="0" smtClean="0"/>
              <a:t>8</a:t>
            </a:r>
            <a:r>
              <a:rPr lang="zh-CN" altLang="en-US" dirty="0" smtClean="0"/>
              <a:t>－</a:t>
            </a:r>
            <a:r>
              <a:rPr lang="en-US" altLang="zh-CN" dirty="0" smtClean="0"/>
              <a:t>11 </a:t>
            </a:r>
            <a:r>
              <a:rPr lang="zh-CN" altLang="en-US" dirty="0"/>
              <a:t>所示。它由电压比较器、 </a:t>
            </a:r>
            <a:r>
              <a:rPr lang="en-US" altLang="zh-CN" dirty="0"/>
              <a:t>D / A </a:t>
            </a:r>
            <a:r>
              <a:rPr lang="zh-CN" altLang="en-US" dirty="0"/>
              <a:t>转换器、计</a:t>
            </a:r>
            <a:r>
              <a:rPr lang="zh-CN" altLang="en-US" dirty="0" smtClean="0"/>
              <a:t>数器</a:t>
            </a:r>
            <a:r>
              <a:rPr lang="zh-CN" altLang="en-US" dirty="0"/>
              <a:t>以及输出寄存器等几部分组成。</a:t>
            </a:r>
            <a:endParaRPr lang="zh-CN" altLang="zh-CN" dirty="0"/>
          </a:p>
        </p:txBody>
      </p:sp>
      <p:sp>
        <p:nvSpPr>
          <p:cNvPr id="4208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endParaRPr lang="zh-CN" altLang="zh-CN"/>
          </a:p>
        </p:txBody>
      </p:sp>
      <p:sp>
        <p:nvSpPr>
          <p:cNvPr id="421891"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11  </a:t>
            </a:r>
            <a:r>
              <a:rPr lang="zh-CN" altLang="en-US" dirty="0"/>
              <a:t>计数型 </a:t>
            </a:r>
            <a:r>
              <a:rPr lang="en-US" altLang="zh-CN" dirty="0"/>
              <a:t>A / D </a:t>
            </a:r>
            <a:r>
              <a:rPr lang="zh-CN" altLang="en-US" dirty="0"/>
              <a:t>转换器原理图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942" y="1847629"/>
            <a:ext cx="7278116" cy="316274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a:xfrm>
            <a:off x="571500" y="467139"/>
            <a:ext cx="8115300" cy="5638800"/>
          </a:xfrm>
        </p:spPr>
        <p:txBody>
          <a:bodyPr/>
          <a:lstStyle/>
          <a:p>
            <a:r>
              <a:rPr lang="en-US" altLang="zh-CN" dirty="0" smtClean="0"/>
              <a:t/>
            </a:r>
            <a:br>
              <a:rPr lang="en-US" altLang="zh-CN" dirty="0" smtClean="0"/>
            </a:br>
            <a:r>
              <a:rPr lang="zh-CN" altLang="en-US" dirty="0"/>
              <a:t>　　转换开始前先用复位信号将计数器置</a:t>
            </a:r>
            <a:r>
              <a:rPr lang="zh-CN" altLang="en-US" dirty="0" smtClean="0"/>
              <a:t>零，而</a:t>
            </a:r>
            <a:r>
              <a:rPr lang="zh-CN" altLang="en-US" dirty="0"/>
              <a:t>且转换控制信号应停留在 </a:t>
            </a:r>
            <a:r>
              <a:rPr lang="en-US" altLang="zh-CN" i="1" dirty="0"/>
              <a:t>u </a:t>
            </a:r>
            <a:r>
              <a:rPr lang="en-US" altLang="zh-CN" i="1" baseline="-25000" dirty="0"/>
              <a:t>L</a:t>
            </a:r>
            <a:r>
              <a:rPr lang="en-US" altLang="zh-CN" dirty="0"/>
              <a:t> =0 </a:t>
            </a:r>
            <a:r>
              <a:rPr lang="zh-CN" altLang="en-US" dirty="0"/>
              <a:t>的状态</a:t>
            </a:r>
            <a:r>
              <a:rPr lang="zh-CN" altLang="en-US" dirty="0" smtClean="0"/>
              <a:t>。这</a:t>
            </a:r>
            <a:r>
              <a:rPr lang="zh-CN" altLang="en-US" dirty="0"/>
              <a:t>时逻辑门被封</a:t>
            </a:r>
            <a:r>
              <a:rPr lang="zh-CN" altLang="en-US" dirty="0" smtClean="0"/>
              <a:t>锁，计</a:t>
            </a:r>
            <a:r>
              <a:rPr lang="zh-CN" altLang="en-US" dirty="0"/>
              <a:t>数器不工作。计数器加给 </a:t>
            </a:r>
            <a:r>
              <a:rPr lang="en-US" altLang="zh-CN" dirty="0"/>
              <a:t>D / A </a:t>
            </a:r>
            <a:r>
              <a:rPr lang="zh-CN" altLang="en-US" dirty="0"/>
              <a:t>转换器的是全 </a:t>
            </a:r>
            <a:r>
              <a:rPr lang="en-US" altLang="zh-CN" dirty="0"/>
              <a:t>0 </a:t>
            </a:r>
            <a:r>
              <a:rPr lang="zh-CN" altLang="en-US" dirty="0"/>
              <a:t>信</a:t>
            </a:r>
            <a:r>
              <a:rPr lang="zh-CN" altLang="en-US" dirty="0" smtClean="0"/>
              <a:t>号，因</a:t>
            </a:r>
            <a:r>
              <a:rPr lang="zh-CN" altLang="en-US" dirty="0"/>
              <a:t>此 </a:t>
            </a:r>
            <a:r>
              <a:rPr lang="en-US" altLang="zh-CN" dirty="0"/>
              <a:t>D / A </a:t>
            </a:r>
            <a:r>
              <a:rPr lang="zh-CN" altLang="en-US" dirty="0" smtClean="0"/>
              <a:t>转换</a:t>
            </a:r>
            <a:r>
              <a:rPr lang="zh-CN" altLang="en-US" dirty="0"/>
              <a:t>器输出的模拟电压 </a:t>
            </a:r>
            <a:r>
              <a:rPr lang="en-US" altLang="zh-CN" i="1" dirty="0"/>
              <a:t>u </a:t>
            </a:r>
            <a:r>
              <a:rPr lang="en-US" altLang="zh-CN" i="1" baseline="-25000" dirty="0"/>
              <a:t>o</a:t>
            </a:r>
            <a:r>
              <a:rPr lang="en-US" altLang="zh-CN" i="1" dirty="0"/>
              <a:t> </a:t>
            </a:r>
            <a:r>
              <a:rPr lang="en-US" altLang="zh-CN" dirty="0"/>
              <a:t>=0 </a:t>
            </a:r>
            <a:r>
              <a:rPr lang="zh-CN" altLang="en-US" dirty="0"/>
              <a:t>。如果 </a:t>
            </a:r>
            <a:r>
              <a:rPr lang="en-US" altLang="zh-CN" i="1" dirty="0" smtClean="0"/>
              <a:t>u</a:t>
            </a:r>
            <a:r>
              <a:rPr lang="en-US" altLang="zh-CN" i="1" baseline="-25000" dirty="0" smtClean="0"/>
              <a:t>i </a:t>
            </a:r>
            <a:r>
              <a:rPr lang="zh-CN" altLang="en-US" dirty="0"/>
              <a:t>为正电压信</a:t>
            </a:r>
            <a:r>
              <a:rPr lang="zh-CN" altLang="en-US" dirty="0" smtClean="0"/>
              <a:t>号，则 </a:t>
            </a:r>
            <a:r>
              <a:rPr lang="en-US" altLang="zh-CN" i="1" dirty="0"/>
              <a:t>u </a:t>
            </a:r>
            <a:r>
              <a:rPr lang="en-US" altLang="zh-CN" i="1" baseline="-25000" dirty="0"/>
              <a:t>i</a:t>
            </a:r>
            <a:r>
              <a:rPr lang="en-US" altLang="zh-CN" i="1" dirty="0"/>
              <a:t> &gt; u o </a:t>
            </a:r>
            <a:r>
              <a:rPr lang="zh-CN" altLang="en-US" dirty="0" smtClean="0"/>
              <a:t>，比</a:t>
            </a:r>
            <a:r>
              <a:rPr lang="zh-CN" altLang="en-US" dirty="0"/>
              <a:t>较器的输出电压 </a:t>
            </a:r>
            <a:r>
              <a:rPr lang="en-US" altLang="zh-CN" i="1" dirty="0"/>
              <a:t>u </a:t>
            </a:r>
            <a:r>
              <a:rPr lang="en-US" altLang="zh-CN" i="1" baseline="-25000" dirty="0"/>
              <a:t>B</a:t>
            </a:r>
            <a:r>
              <a:rPr lang="en-US" altLang="zh-CN" i="1" dirty="0"/>
              <a:t> </a:t>
            </a:r>
            <a:r>
              <a:rPr lang="en-US" altLang="zh-CN" dirty="0"/>
              <a:t>=1 </a:t>
            </a:r>
            <a:r>
              <a:rPr lang="zh-CN" altLang="en-US" dirty="0"/>
              <a:t>。</a:t>
            </a:r>
            <a:br>
              <a:rPr lang="zh-CN" altLang="en-US" dirty="0"/>
            </a:br>
            <a:r>
              <a:rPr lang="zh-CN" altLang="en-US" dirty="0" smtClean="0"/>
              <a:t>　　当 </a:t>
            </a:r>
            <a:r>
              <a:rPr lang="en-US" altLang="zh-CN" i="1" dirty="0"/>
              <a:t>u </a:t>
            </a:r>
            <a:r>
              <a:rPr lang="en-US" altLang="zh-CN" i="1" baseline="-25000" dirty="0"/>
              <a:t>L</a:t>
            </a:r>
            <a:r>
              <a:rPr lang="zh-CN" altLang="en-US" dirty="0" smtClean="0"/>
              <a:t>变</a:t>
            </a:r>
            <a:r>
              <a:rPr lang="zh-CN" altLang="en-US" dirty="0"/>
              <a:t>成高电平时开始转</a:t>
            </a:r>
            <a:r>
              <a:rPr lang="zh-CN" altLang="en-US" dirty="0" smtClean="0"/>
              <a:t>换，脉</a:t>
            </a:r>
            <a:r>
              <a:rPr lang="zh-CN" altLang="en-US" dirty="0"/>
              <a:t>冲源发出的脉冲经过逻辑门 </a:t>
            </a:r>
            <a:r>
              <a:rPr lang="en-US" altLang="zh-CN" dirty="0"/>
              <a:t>G </a:t>
            </a:r>
            <a:r>
              <a:rPr lang="zh-CN" altLang="en-US" dirty="0"/>
              <a:t>加到计数器的时钟</a:t>
            </a:r>
            <a:r>
              <a:rPr lang="zh-CN" altLang="en-US" dirty="0" smtClean="0"/>
              <a:t>信号</a:t>
            </a:r>
            <a:r>
              <a:rPr lang="zh-CN" altLang="en-US" dirty="0"/>
              <a:t>输入端 </a:t>
            </a:r>
            <a:r>
              <a:rPr lang="en-US" altLang="zh-CN" dirty="0"/>
              <a:t>CP </a:t>
            </a:r>
            <a:r>
              <a:rPr lang="zh-CN" altLang="en-US" dirty="0" smtClean="0"/>
              <a:t>，计</a:t>
            </a:r>
            <a:r>
              <a:rPr lang="zh-CN" altLang="en-US" dirty="0"/>
              <a:t>数器开始作加法计数。随着计数的进</a:t>
            </a:r>
            <a:r>
              <a:rPr lang="zh-CN" altLang="en-US" dirty="0" smtClean="0"/>
              <a:t>行，</a:t>
            </a:r>
            <a:r>
              <a:rPr lang="en-US" altLang="zh-CN" dirty="0" smtClean="0"/>
              <a:t> </a:t>
            </a:r>
            <a:r>
              <a:rPr lang="en-US" altLang="zh-CN" dirty="0"/>
              <a:t>D / A </a:t>
            </a:r>
            <a:r>
              <a:rPr lang="zh-CN" altLang="en-US" dirty="0"/>
              <a:t>转换器输出的模拟电压 </a:t>
            </a:r>
            <a:r>
              <a:rPr lang="en-US" altLang="zh-CN" i="1" dirty="0"/>
              <a:t>u </a:t>
            </a:r>
            <a:r>
              <a:rPr lang="en-US" altLang="zh-CN" i="1" baseline="-25000" dirty="0"/>
              <a:t>o</a:t>
            </a:r>
            <a:r>
              <a:rPr lang="zh-CN" altLang="en-US" dirty="0" smtClean="0"/>
              <a:t>也</a:t>
            </a:r>
            <a:r>
              <a:rPr lang="zh-CN" altLang="en-US" dirty="0"/>
              <a:t>不断增加。当 </a:t>
            </a:r>
            <a:r>
              <a:rPr lang="en-US" altLang="zh-CN" i="1" dirty="0" smtClean="0"/>
              <a:t>u </a:t>
            </a:r>
            <a:r>
              <a:rPr lang="en-US" altLang="zh-CN" i="1" baseline="-25000" dirty="0"/>
              <a:t>o</a:t>
            </a:r>
            <a:r>
              <a:rPr lang="zh-CN" altLang="en-US" dirty="0" smtClean="0"/>
              <a:t>增</a:t>
            </a:r>
            <a:r>
              <a:rPr lang="zh-CN" altLang="en-US" dirty="0"/>
              <a:t>至 </a:t>
            </a:r>
            <a:r>
              <a:rPr lang="en-US" altLang="zh-CN" i="1" dirty="0"/>
              <a:t>u </a:t>
            </a:r>
            <a:r>
              <a:rPr lang="en-US" altLang="zh-CN" i="1" baseline="-25000" dirty="0"/>
              <a:t>o</a:t>
            </a:r>
            <a:r>
              <a:rPr lang="en-US" altLang="zh-CN" i="1" dirty="0"/>
              <a:t> </a:t>
            </a:r>
            <a:r>
              <a:rPr lang="en-US" altLang="zh-CN" dirty="0" smtClean="0"/>
              <a:t> </a:t>
            </a:r>
            <a:r>
              <a:rPr lang="en-US" altLang="zh-CN" dirty="0"/>
              <a:t>= </a:t>
            </a:r>
            <a:r>
              <a:rPr lang="en-US" altLang="zh-CN" i="1" dirty="0"/>
              <a:t>u </a:t>
            </a:r>
            <a:r>
              <a:rPr lang="en-US" altLang="zh-CN" i="1" baseline="-25000" dirty="0"/>
              <a:t>o</a:t>
            </a:r>
            <a:r>
              <a:rPr lang="en-US" altLang="zh-CN" dirty="0" smtClean="0"/>
              <a:t> </a:t>
            </a:r>
            <a:r>
              <a:rPr lang="zh-CN" altLang="en-US" dirty="0" smtClean="0"/>
              <a:t>时，比</a:t>
            </a:r>
            <a:r>
              <a:rPr lang="zh-CN" altLang="en-US" dirty="0"/>
              <a:t>较器的输出电压变成 </a:t>
            </a:r>
            <a:r>
              <a:rPr lang="en-US" altLang="zh-CN" i="1" dirty="0"/>
              <a:t>u </a:t>
            </a:r>
            <a:r>
              <a:rPr lang="en-US" altLang="zh-CN" i="1" baseline="-25000" dirty="0"/>
              <a:t>B</a:t>
            </a:r>
            <a:r>
              <a:rPr lang="en-US" altLang="zh-CN" i="1" dirty="0"/>
              <a:t> </a:t>
            </a:r>
            <a:r>
              <a:rPr lang="en-US" altLang="zh-CN" dirty="0" smtClean="0"/>
              <a:t>=</a:t>
            </a:r>
            <a:r>
              <a:rPr lang="en-US" altLang="zh-CN" dirty="0"/>
              <a:t>0 </a:t>
            </a:r>
            <a:r>
              <a:rPr lang="zh-CN" altLang="en-US" dirty="0" smtClean="0"/>
              <a:t>，将</a:t>
            </a:r>
            <a:r>
              <a:rPr lang="zh-CN" altLang="en-US" dirty="0"/>
              <a:t>逻辑门 </a:t>
            </a:r>
            <a:r>
              <a:rPr lang="en-US" altLang="zh-CN" dirty="0"/>
              <a:t>G </a:t>
            </a:r>
            <a:r>
              <a:rPr lang="zh-CN" altLang="en-US" dirty="0"/>
              <a:t>封</a:t>
            </a:r>
            <a:r>
              <a:rPr lang="zh-CN" altLang="en-US" dirty="0" smtClean="0"/>
              <a:t>锁，计数器</a:t>
            </a:r>
            <a:r>
              <a:rPr lang="zh-CN" altLang="en-US" dirty="0"/>
              <a:t>停止计数。这</a:t>
            </a:r>
            <a:r>
              <a:rPr lang="zh-CN" altLang="en-US" dirty="0" smtClean="0"/>
              <a:t>时，计</a:t>
            </a:r>
            <a:r>
              <a:rPr lang="zh-CN" altLang="en-US" dirty="0"/>
              <a:t>数器中所存的数字就是所求的输出信号。</a:t>
            </a:r>
            <a:endParaRPr lang="zh-CN" altLang="zh-C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由于在转换过程</a:t>
            </a:r>
            <a:r>
              <a:rPr lang="zh-CN" altLang="en-US" dirty="0" smtClean="0"/>
              <a:t>中，计</a:t>
            </a:r>
            <a:r>
              <a:rPr lang="zh-CN" altLang="en-US" dirty="0"/>
              <a:t>数器中的数字不停地变</a:t>
            </a:r>
            <a:r>
              <a:rPr lang="zh-CN" altLang="en-US" dirty="0" smtClean="0"/>
              <a:t>化，因</a:t>
            </a:r>
            <a:r>
              <a:rPr lang="zh-CN" altLang="en-US" dirty="0"/>
              <a:t>此不宜将计数器的状态直接作</a:t>
            </a:r>
            <a:r>
              <a:rPr lang="zh-CN" altLang="en-US" dirty="0" smtClean="0"/>
              <a:t>为输</a:t>
            </a:r>
            <a:r>
              <a:rPr lang="zh-CN" altLang="en-US" dirty="0"/>
              <a:t>出信号。为</a:t>
            </a:r>
            <a:r>
              <a:rPr lang="zh-CN" altLang="en-US" dirty="0" smtClean="0"/>
              <a:t>此，在</a:t>
            </a:r>
            <a:r>
              <a:rPr lang="zh-CN" altLang="en-US" dirty="0"/>
              <a:t>输出端设置了输出寄存器。在每次转换完成以</a:t>
            </a:r>
            <a:r>
              <a:rPr lang="zh-CN" altLang="en-US" dirty="0" smtClean="0"/>
              <a:t>后，用</a:t>
            </a:r>
            <a:r>
              <a:rPr lang="zh-CN" altLang="en-US" dirty="0"/>
              <a:t>转换控制信号 </a:t>
            </a:r>
            <a:r>
              <a:rPr lang="en-US" altLang="zh-CN" dirty="0"/>
              <a:t>u </a:t>
            </a:r>
            <a:r>
              <a:rPr lang="en-US" altLang="zh-CN" baseline="-25000" dirty="0"/>
              <a:t>L</a:t>
            </a:r>
            <a:r>
              <a:rPr lang="en-US" altLang="zh-CN" dirty="0"/>
              <a:t> </a:t>
            </a:r>
            <a:r>
              <a:rPr lang="zh-CN" altLang="en-US" dirty="0" smtClean="0"/>
              <a:t>的下</a:t>
            </a:r>
            <a:r>
              <a:rPr lang="zh-CN" altLang="en-US" dirty="0"/>
              <a:t>降沿将计数器输出的数字置入输出寄存器</a:t>
            </a:r>
            <a:r>
              <a:rPr lang="zh-CN" altLang="en-US" dirty="0" smtClean="0"/>
              <a:t>中，而</a:t>
            </a:r>
            <a:r>
              <a:rPr lang="zh-CN" altLang="en-US" dirty="0"/>
              <a:t>以寄存器的状态作为最终的输出信号。</a:t>
            </a:r>
            <a:br>
              <a:rPr lang="zh-CN" altLang="en-US" dirty="0"/>
            </a:br>
            <a:r>
              <a:rPr lang="zh-CN" altLang="en-US" dirty="0" smtClean="0"/>
              <a:t>　　计</a:t>
            </a:r>
            <a:r>
              <a:rPr lang="zh-CN" altLang="en-US" dirty="0"/>
              <a:t>数型 </a:t>
            </a:r>
            <a:r>
              <a:rPr lang="en-US" altLang="zh-CN" dirty="0"/>
              <a:t>A / D </a:t>
            </a:r>
            <a:r>
              <a:rPr lang="zh-CN" altLang="en-US" dirty="0"/>
              <a:t>转换器电路简</a:t>
            </a:r>
            <a:r>
              <a:rPr lang="zh-CN" altLang="en-US" dirty="0" smtClean="0"/>
              <a:t>单，但</a:t>
            </a:r>
            <a:r>
              <a:rPr lang="zh-CN" altLang="en-US" dirty="0"/>
              <a:t>速度很</a:t>
            </a:r>
            <a:r>
              <a:rPr lang="zh-CN" altLang="en-US" dirty="0" smtClean="0"/>
              <a:t>慢，当</a:t>
            </a:r>
            <a:r>
              <a:rPr lang="zh-CN" altLang="en-US" dirty="0"/>
              <a:t>输出为 </a:t>
            </a:r>
            <a:r>
              <a:rPr lang="en-US" altLang="zh-CN" dirty="0"/>
              <a:t>n </a:t>
            </a:r>
            <a:r>
              <a:rPr lang="zh-CN" altLang="en-US" dirty="0"/>
              <a:t>位二进制数码</a:t>
            </a:r>
            <a:r>
              <a:rPr lang="zh-CN" altLang="en-US" dirty="0" smtClean="0"/>
              <a:t>时，最</a:t>
            </a:r>
            <a:r>
              <a:rPr lang="zh-CN" altLang="en-US" dirty="0"/>
              <a:t>大转换</a:t>
            </a:r>
            <a:r>
              <a:rPr lang="zh-CN" altLang="en-US" dirty="0" smtClean="0"/>
              <a:t>时间</a:t>
            </a:r>
            <a:r>
              <a:rPr lang="zh-CN" altLang="en-US" dirty="0"/>
              <a:t>为</a:t>
            </a:r>
            <a:r>
              <a:rPr lang="en-US" altLang="zh-CN" dirty="0" smtClean="0"/>
              <a:t>(</a:t>
            </a:r>
            <a:r>
              <a:rPr lang="en-US" altLang="zh-CN" baseline="30000" dirty="0" smtClean="0"/>
              <a:t>2n</a:t>
            </a:r>
            <a:r>
              <a:rPr lang="en-US" altLang="zh-CN" dirty="0" smtClean="0"/>
              <a:t> </a:t>
            </a:r>
            <a:r>
              <a:rPr lang="en-US" altLang="zh-CN" dirty="0"/>
              <a:t>-1 </a:t>
            </a:r>
            <a:r>
              <a:rPr lang="en-US" altLang="zh-CN" dirty="0" smtClean="0"/>
              <a:t>)× </a:t>
            </a:r>
            <a:r>
              <a:rPr lang="en-US" altLang="zh-CN" i="1" dirty="0"/>
              <a:t>T </a:t>
            </a:r>
            <a:r>
              <a:rPr lang="en-US" altLang="zh-CN" i="1" baseline="-25000" dirty="0" smtClean="0"/>
              <a:t>CP </a:t>
            </a:r>
            <a:r>
              <a:rPr lang="en-US" altLang="zh-CN" i="1" dirty="0" smtClean="0"/>
              <a:t>( </a:t>
            </a:r>
            <a:r>
              <a:rPr lang="en-US" altLang="zh-CN" i="1" dirty="0"/>
              <a:t>T </a:t>
            </a:r>
            <a:r>
              <a:rPr lang="en-US" altLang="zh-CN" i="1" baseline="-25000" dirty="0"/>
              <a:t>CP </a:t>
            </a:r>
            <a:r>
              <a:rPr lang="en-US" altLang="zh-CN" i="1" dirty="0" err="1" smtClean="0"/>
              <a:t>CP</a:t>
            </a:r>
            <a:r>
              <a:rPr lang="en-US" altLang="zh-CN" i="1" dirty="0" smtClean="0"/>
              <a:t> </a:t>
            </a:r>
            <a:r>
              <a:rPr lang="zh-CN" altLang="en-US" dirty="0"/>
              <a:t>为计数器时钟脉冲周期</a:t>
            </a:r>
            <a:r>
              <a:rPr lang="en-US" altLang="zh-CN" dirty="0"/>
              <a:t>)</a:t>
            </a:r>
            <a:r>
              <a:rPr lang="zh-CN" altLang="en-US" dirty="0"/>
              <a:t>。</a:t>
            </a:r>
            <a:endParaRPr lang="zh-CN" altLang="zh-CN" dirty="0"/>
          </a:p>
        </p:txBody>
      </p:sp>
      <p:sp>
        <p:nvSpPr>
          <p:cNvPr id="4239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为了提高转换速</a:t>
            </a:r>
            <a:r>
              <a:rPr lang="zh-CN" altLang="en-US" dirty="0" smtClean="0"/>
              <a:t>度，在</a:t>
            </a:r>
            <a:r>
              <a:rPr lang="zh-CN" altLang="en-US" dirty="0"/>
              <a:t>计数型 </a:t>
            </a:r>
            <a:r>
              <a:rPr lang="en-US" altLang="zh-CN" dirty="0"/>
              <a:t>A / D </a:t>
            </a:r>
            <a:r>
              <a:rPr lang="zh-CN" altLang="en-US" dirty="0"/>
              <a:t>转换器的基础上又产生了逐次渐近型 </a:t>
            </a:r>
            <a:r>
              <a:rPr lang="en-US" altLang="zh-CN" dirty="0"/>
              <a:t>A / D </a:t>
            </a:r>
            <a:r>
              <a:rPr lang="zh-CN" altLang="en-US" dirty="0"/>
              <a:t>转换器</a:t>
            </a:r>
            <a:r>
              <a:rPr lang="zh-CN" altLang="en-US" dirty="0" smtClean="0"/>
              <a:t>。逐</a:t>
            </a:r>
            <a:r>
              <a:rPr lang="zh-CN" altLang="en-US" dirty="0"/>
              <a:t>次渐近型 </a:t>
            </a:r>
            <a:r>
              <a:rPr lang="en-US" altLang="zh-CN" dirty="0"/>
              <a:t>A / D </a:t>
            </a:r>
            <a:r>
              <a:rPr lang="zh-CN" altLang="en-US" dirty="0"/>
              <a:t>转换器的原理框图如图 </a:t>
            </a:r>
            <a:r>
              <a:rPr lang="en-US" altLang="zh-CN" dirty="0" smtClean="0"/>
              <a:t>8</a:t>
            </a:r>
            <a:r>
              <a:rPr lang="zh-CN" altLang="en-US" dirty="0" smtClean="0"/>
              <a:t>－</a:t>
            </a:r>
            <a:r>
              <a:rPr lang="en-US" altLang="zh-CN" dirty="0" smtClean="0"/>
              <a:t>12 </a:t>
            </a:r>
            <a:r>
              <a:rPr lang="zh-CN" altLang="en-US" dirty="0"/>
              <a:t>所示。它由电压比较器、 </a:t>
            </a:r>
            <a:r>
              <a:rPr lang="en-US" altLang="zh-CN" dirty="0"/>
              <a:t>D / A </a:t>
            </a:r>
            <a:r>
              <a:rPr lang="zh-CN" altLang="en-US" dirty="0"/>
              <a:t>转换器</a:t>
            </a:r>
            <a:r>
              <a:rPr lang="zh-CN" altLang="en-US" dirty="0" smtClean="0"/>
              <a:t>、寄</a:t>
            </a:r>
            <a:r>
              <a:rPr lang="zh-CN" altLang="en-US" dirty="0"/>
              <a:t>存器、时钟脉冲源和控制逻辑等几部分组成。</a:t>
            </a:r>
            <a:endParaRPr lang="zh-CN" altLang="zh-CN" dirty="0"/>
          </a:p>
        </p:txBody>
      </p:sp>
      <p:sp>
        <p:nvSpPr>
          <p:cNvPr id="4249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endParaRPr lang="zh-CN" altLang="zh-CN" dirty="0"/>
          </a:p>
        </p:txBody>
      </p:sp>
      <p:sp>
        <p:nvSpPr>
          <p:cNvPr id="425987"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12  </a:t>
            </a:r>
            <a:r>
              <a:rPr lang="zh-CN" altLang="en-US" dirty="0"/>
              <a:t>逐次渐近型 </a:t>
            </a:r>
            <a:r>
              <a:rPr lang="en-US" altLang="zh-CN" dirty="0"/>
              <a:t>A / D </a:t>
            </a:r>
            <a:r>
              <a:rPr lang="zh-CN" altLang="en-US" dirty="0"/>
              <a:t>转换器的电路结构框图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9705" y="1247470"/>
            <a:ext cx="6544589" cy="436305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这种转换是将转换的模拟电压 </a:t>
            </a:r>
            <a:r>
              <a:rPr lang="en-US" altLang="zh-CN" i="1" dirty="0"/>
              <a:t>u </a:t>
            </a:r>
            <a:r>
              <a:rPr lang="en-US" altLang="zh-CN" i="1" baseline="-25000" dirty="0"/>
              <a:t>o</a:t>
            </a:r>
            <a:r>
              <a:rPr lang="zh-CN" altLang="en-US" dirty="0" smtClean="0"/>
              <a:t>与</a:t>
            </a:r>
            <a:r>
              <a:rPr lang="zh-CN" altLang="en-US" dirty="0"/>
              <a:t>一系列基准电压比较。比较是从高位到低位逐</a:t>
            </a:r>
            <a:r>
              <a:rPr lang="zh-CN" altLang="en-US" dirty="0" smtClean="0"/>
              <a:t>位进</a:t>
            </a:r>
            <a:r>
              <a:rPr lang="zh-CN" altLang="en-US" dirty="0"/>
              <a:t>行</a:t>
            </a:r>
            <a:r>
              <a:rPr lang="zh-CN" altLang="en-US" dirty="0" smtClean="0"/>
              <a:t>的，并</a:t>
            </a:r>
            <a:r>
              <a:rPr lang="zh-CN" altLang="en-US" dirty="0"/>
              <a:t>依次确定各位数码是 </a:t>
            </a:r>
            <a:r>
              <a:rPr lang="en-US" altLang="zh-CN" dirty="0"/>
              <a:t>1 </a:t>
            </a:r>
            <a:r>
              <a:rPr lang="zh-CN" altLang="en-US" dirty="0"/>
              <a:t>还是 </a:t>
            </a:r>
            <a:r>
              <a:rPr lang="en-US" altLang="zh-CN" dirty="0"/>
              <a:t>0 </a:t>
            </a:r>
            <a:r>
              <a:rPr lang="zh-CN" altLang="en-US" dirty="0"/>
              <a:t>。转换开始</a:t>
            </a:r>
            <a:r>
              <a:rPr lang="zh-CN" altLang="en-US" dirty="0" smtClean="0"/>
              <a:t>前，先</a:t>
            </a:r>
            <a:r>
              <a:rPr lang="zh-CN" altLang="en-US" dirty="0"/>
              <a:t>将寄存器清零。转换控制信号</a:t>
            </a:r>
            <a:br>
              <a:rPr lang="zh-CN" altLang="en-US" dirty="0"/>
            </a:br>
            <a:r>
              <a:rPr lang="en-US" altLang="zh-CN" i="1" dirty="0"/>
              <a:t>u </a:t>
            </a:r>
            <a:r>
              <a:rPr lang="en-US" altLang="zh-CN" i="1" baseline="-25000" dirty="0"/>
              <a:t>L</a:t>
            </a:r>
            <a:r>
              <a:rPr lang="en-US" altLang="zh-CN" i="1" dirty="0"/>
              <a:t> </a:t>
            </a:r>
            <a:r>
              <a:rPr lang="zh-CN" altLang="en-US" dirty="0"/>
              <a:t>变为高电平时开始转</a:t>
            </a:r>
            <a:r>
              <a:rPr lang="zh-CN" altLang="en-US" dirty="0" smtClean="0"/>
              <a:t>换，时</a:t>
            </a:r>
            <a:r>
              <a:rPr lang="zh-CN" altLang="en-US" dirty="0"/>
              <a:t>钟信号首先将寄存器的最高位置 </a:t>
            </a:r>
            <a:r>
              <a:rPr lang="en-US" altLang="zh-CN" dirty="0"/>
              <a:t>1 </a:t>
            </a:r>
            <a:r>
              <a:rPr lang="zh-CN" altLang="en-US" dirty="0" smtClean="0"/>
              <a:t>，使</a:t>
            </a:r>
            <a:r>
              <a:rPr lang="zh-CN" altLang="en-US" dirty="0"/>
              <a:t>其输出为 </a:t>
            </a:r>
            <a:r>
              <a:rPr lang="en-US" altLang="zh-CN" dirty="0"/>
              <a:t>100 … 00 </a:t>
            </a:r>
            <a:r>
              <a:rPr lang="zh-CN" altLang="en-US" dirty="0" smtClean="0"/>
              <a:t>，这</a:t>
            </a:r>
            <a:r>
              <a:rPr lang="zh-CN" altLang="en-US" dirty="0"/>
              <a:t>个数字量被 </a:t>
            </a:r>
            <a:r>
              <a:rPr lang="en-US" altLang="zh-CN" dirty="0"/>
              <a:t>D / A </a:t>
            </a:r>
            <a:r>
              <a:rPr lang="zh-CN" altLang="en-US" dirty="0"/>
              <a:t>转换器转换成相应的模拟电压 </a:t>
            </a:r>
            <a:r>
              <a:rPr lang="en-US" altLang="zh-CN" i="1" dirty="0"/>
              <a:t>u </a:t>
            </a:r>
            <a:r>
              <a:rPr lang="en-US" altLang="zh-CN" i="1" baseline="-25000" dirty="0"/>
              <a:t>o</a:t>
            </a:r>
            <a:r>
              <a:rPr lang="en-US" altLang="zh-CN" i="1" dirty="0"/>
              <a:t> </a:t>
            </a:r>
            <a:r>
              <a:rPr lang="zh-CN" altLang="en-US" dirty="0" smtClean="0"/>
              <a:t>，送</a:t>
            </a:r>
            <a:r>
              <a:rPr lang="zh-CN" altLang="en-US" dirty="0"/>
              <a:t>至比较器与输入信</a:t>
            </a:r>
            <a:r>
              <a:rPr lang="zh-CN" altLang="en-US" dirty="0" smtClean="0"/>
              <a:t>号</a:t>
            </a:r>
            <a:r>
              <a:rPr lang="en-US" altLang="zh-CN" i="1" dirty="0"/>
              <a:t>u</a:t>
            </a:r>
            <a:r>
              <a:rPr lang="en-US" altLang="zh-CN" i="1" baseline="-25000" dirty="0"/>
              <a:t>i</a:t>
            </a:r>
            <a:r>
              <a:rPr lang="zh-CN" altLang="en-US" dirty="0" smtClean="0"/>
              <a:t>比</a:t>
            </a:r>
            <a:r>
              <a:rPr lang="zh-CN" altLang="en-US" dirty="0"/>
              <a:t>较。</a:t>
            </a:r>
            <a:r>
              <a:rPr lang="zh-CN" altLang="en-US" dirty="0" smtClean="0"/>
              <a:t>若</a:t>
            </a:r>
            <a:r>
              <a:rPr lang="en-US" altLang="zh-CN" i="1" dirty="0"/>
              <a:t>u </a:t>
            </a:r>
            <a:r>
              <a:rPr lang="en-US" altLang="zh-CN" i="1" baseline="-25000" dirty="0"/>
              <a:t>o</a:t>
            </a:r>
            <a:r>
              <a:rPr lang="en-US" altLang="zh-CN" i="1" dirty="0"/>
              <a:t> </a:t>
            </a:r>
            <a:r>
              <a:rPr lang="en-US" altLang="zh-CN" dirty="0" smtClean="0"/>
              <a:t>&gt; </a:t>
            </a:r>
            <a:r>
              <a:rPr lang="en-US" altLang="zh-CN" i="1" dirty="0"/>
              <a:t>u</a:t>
            </a:r>
            <a:r>
              <a:rPr lang="en-US" altLang="zh-CN" i="1" baseline="-25000" dirty="0"/>
              <a:t>i </a:t>
            </a:r>
            <a:r>
              <a:rPr lang="zh-CN" altLang="en-US" dirty="0" smtClean="0"/>
              <a:t>，说</a:t>
            </a:r>
            <a:r>
              <a:rPr lang="zh-CN" altLang="en-US" dirty="0"/>
              <a:t>明寄存器输出的数码过</a:t>
            </a:r>
            <a:r>
              <a:rPr lang="zh-CN" altLang="en-US" dirty="0" smtClean="0"/>
              <a:t>大，应</a:t>
            </a:r>
            <a:r>
              <a:rPr lang="zh-CN" altLang="en-US" dirty="0"/>
              <a:t>将最高位改为 </a:t>
            </a:r>
            <a:r>
              <a:rPr lang="en-US" altLang="zh-CN" dirty="0"/>
              <a:t>0 </a:t>
            </a:r>
            <a:r>
              <a:rPr lang="zh-CN" altLang="en-US" dirty="0" smtClean="0"/>
              <a:t>，同</a:t>
            </a:r>
            <a:r>
              <a:rPr lang="zh-CN" altLang="en-US" dirty="0"/>
              <a:t>时设次高位为 </a:t>
            </a:r>
            <a:r>
              <a:rPr lang="en-US" altLang="zh-CN" dirty="0"/>
              <a:t>1 ;</a:t>
            </a:r>
            <a:r>
              <a:rPr lang="zh-CN" altLang="en-US" dirty="0"/>
              <a:t>若 </a:t>
            </a:r>
            <a:r>
              <a:rPr lang="en-US" altLang="zh-CN" i="1" dirty="0"/>
              <a:t>u </a:t>
            </a:r>
            <a:r>
              <a:rPr lang="en-US" altLang="zh-CN" i="1" baseline="-25000" dirty="0"/>
              <a:t>o</a:t>
            </a:r>
            <a:r>
              <a:rPr lang="en-US" altLang="zh-CN" i="1" dirty="0"/>
              <a:t> </a:t>
            </a:r>
            <a:r>
              <a:rPr lang="en-US" altLang="zh-CN" dirty="0" smtClean="0"/>
              <a:t>≤ </a:t>
            </a:r>
            <a:r>
              <a:rPr lang="en-US" altLang="zh-CN" i="1" dirty="0"/>
              <a:t>u</a:t>
            </a:r>
            <a:r>
              <a:rPr lang="en-US" altLang="zh-CN" i="1" baseline="-25000" dirty="0"/>
              <a:t>i </a:t>
            </a:r>
            <a:r>
              <a:rPr lang="zh-CN" altLang="en-US" dirty="0" smtClean="0"/>
              <a:t>，说</a:t>
            </a:r>
            <a:r>
              <a:rPr lang="zh-CN" altLang="en-US" dirty="0"/>
              <a:t>明寄存器输出的数码不够</a:t>
            </a:r>
            <a:r>
              <a:rPr lang="zh-CN" altLang="en-US" dirty="0" smtClean="0"/>
              <a:t>大，应</a:t>
            </a:r>
            <a:r>
              <a:rPr lang="zh-CN" altLang="en-US" dirty="0"/>
              <a:t>将最高位设置的 </a:t>
            </a:r>
            <a:r>
              <a:rPr lang="en-US" altLang="zh-CN" dirty="0"/>
              <a:t>1 </a:t>
            </a:r>
            <a:r>
              <a:rPr lang="zh-CN" altLang="en-US" dirty="0"/>
              <a:t>保</a:t>
            </a:r>
            <a:r>
              <a:rPr lang="zh-CN" altLang="en-US" dirty="0" smtClean="0"/>
              <a:t>留，同</a:t>
            </a:r>
            <a:r>
              <a:rPr lang="zh-CN" altLang="en-US" dirty="0"/>
              <a:t>时也设次高位为 </a:t>
            </a:r>
            <a:r>
              <a:rPr lang="en-US" altLang="zh-CN" dirty="0"/>
              <a:t>1 </a:t>
            </a:r>
            <a:r>
              <a:rPr lang="zh-CN" altLang="en-US" dirty="0" smtClean="0"/>
              <a:t>。</a:t>
            </a:r>
            <a:endParaRPr lang="zh-CN" altLang="zh-CN" dirty="0"/>
          </a:p>
        </p:txBody>
      </p:sp>
      <p:sp>
        <p:nvSpPr>
          <p:cNvPr id="4270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然后再按同样的方法进行比</a:t>
            </a:r>
            <a:r>
              <a:rPr lang="zh-CN" altLang="en-US" dirty="0" smtClean="0"/>
              <a:t>较，确</a:t>
            </a:r>
            <a:r>
              <a:rPr lang="zh-CN" altLang="en-US" dirty="0"/>
              <a:t>定次高位的 </a:t>
            </a:r>
            <a:r>
              <a:rPr lang="en-US" altLang="zh-CN" dirty="0"/>
              <a:t>1 </a:t>
            </a:r>
            <a:r>
              <a:rPr lang="zh-CN" altLang="en-US" dirty="0"/>
              <a:t>是去掉还是保留。这样逐位比较下</a:t>
            </a:r>
            <a:r>
              <a:rPr lang="zh-CN" altLang="en-US" dirty="0" smtClean="0"/>
              <a:t>去，一</a:t>
            </a:r>
            <a:r>
              <a:rPr lang="zh-CN" altLang="en-US" dirty="0"/>
              <a:t>直到最</a:t>
            </a:r>
            <a:r>
              <a:rPr lang="zh-CN" altLang="en-US" dirty="0" smtClean="0"/>
              <a:t>低位</a:t>
            </a:r>
            <a:r>
              <a:rPr lang="zh-CN" altLang="en-US" dirty="0"/>
              <a:t>为止。比较完毕</a:t>
            </a:r>
            <a:r>
              <a:rPr lang="zh-CN" altLang="en-US" dirty="0" smtClean="0"/>
              <a:t>后，寄</a:t>
            </a:r>
            <a:r>
              <a:rPr lang="zh-CN" altLang="en-US" dirty="0"/>
              <a:t>存器的状态就是转化后的数字输出。例</a:t>
            </a:r>
            <a:r>
              <a:rPr lang="zh-CN" altLang="en-US" dirty="0" smtClean="0"/>
              <a:t>如，一</a:t>
            </a:r>
            <a:r>
              <a:rPr lang="zh-CN" altLang="en-US" dirty="0"/>
              <a:t>个待转换的模拟电压 </a:t>
            </a:r>
            <a:r>
              <a:rPr lang="en-US" altLang="zh-CN" dirty="0" smtClean="0"/>
              <a:t>ui </a:t>
            </a:r>
            <a:r>
              <a:rPr lang="en-US" altLang="zh-CN" dirty="0"/>
              <a:t>=163mV </a:t>
            </a:r>
            <a:r>
              <a:rPr lang="zh-CN" altLang="en-US" dirty="0" smtClean="0"/>
              <a:t>，逐</a:t>
            </a:r>
            <a:r>
              <a:rPr lang="zh-CN" altLang="en-US" dirty="0"/>
              <a:t>次渐近寄存器的数字量为八</a:t>
            </a:r>
            <a:r>
              <a:rPr lang="zh-CN" altLang="en-US" dirty="0" smtClean="0"/>
              <a:t>位，则</a:t>
            </a:r>
            <a:r>
              <a:rPr lang="zh-CN" altLang="en-US" dirty="0"/>
              <a:t>整个比较过程如表 </a:t>
            </a:r>
            <a:r>
              <a:rPr lang="en-US" altLang="zh-CN" dirty="0" smtClean="0"/>
              <a:t>8</a:t>
            </a:r>
            <a:r>
              <a:rPr lang="zh-CN" altLang="en-US" dirty="0" smtClean="0"/>
              <a:t>－</a:t>
            </a:r>
            <a:r>
              <a:rPr lang="en-US" altLang="zh-CN" dirty="0" smtClean="0"/>
              <a:t>2 </a:t>
            </a:r>
            <a:r>
              <a:rPr lang="zh-CN" altLang="en-US" dirty="0"/>
              <a:t>所</a:t>
            </a:r>
            <a:r>
              <a:rPr lang="zh-CN" altLang="en-US" dirty="0" smtClean="0"/>
              <a:t>示，</a:t>
            </a:r>
            <a:r>
              <a:rPr lang="en-US" altLang="zh-CN" dirty="0" smtClean="0"/>
              <a:t> </a:t>
            </a:r>
            <a:r>
              <a:rPr lang="en-US" altLang="zh-CN" dirty="0"/>
              <a:t>D / </a:t>
            </a:r>
            <a:r>
              <a:rPr lang="en-US" altLang="zh-CN" dirty="0" smtClean="0"/>
              <a:t>A</a:t>
            </a:r>
            <a:r>
              <a:rPr lang="zh-CN" altLang="en-US" dirty="0" smtClean="0"/>
              <a:t>转</a:t>
            </a:r>
            <a:r>
              <a:rPr lang="zh-CN" altLang="en-US" dirty="0"/>
              <a:t>换器输出的 </a:t>
            </a:r>
            <a:r>
              <a:rPr lang="en-US" altLang="zh-CN" i="1" dirty="0"/>
              <a:t>u </a:t>
            </a:r>
            <a:r>
              <a:rPr lang="en-US" altLang="zh-CN" i="1" baseline="-25000" dirty="0"/>
              <a:t>o</a:t>
            </a:r>
            <a:r>
              <a:rPr lang="zh-CN" altLang="en-US" dirty="0" smtClean="0"/>
              <a:t>反</a:t>
            </a:r>
            <a:r>
              <a:rPr lang="zh-CN" altLang="en-US" dirty="0"/>
              <a:t>馈电压变化波形如图 </a:t>
            </a:r>
            <a:r>
              <a:rPr lang="en-US" altLang="zh-CN" dirty="0" smtClean="0"/>
              <a:t>8</a:t>
            </a:r>
            <a:r>
              <a:rPr lang="zh-CN" altLang="en-US" dirty="0" smtClean="0"/>
              <a:t>－</a:t>
            </a:r>
            <a:r>
              <a:rPr lang="en-US" altLang="zh-CN" dirty="0" smtClean="0"/>
              <a:t>13 </a:t>
            </a:r>
            <a:r>
              <a:rPr lang="zh-CN" altLang="en-US" dirty="0"/>
              <a:t>所示。</a:t>
            </a:r>
            <a:endParaRPr lang="zh-CN" altLang="zh-CN" dirty="0"/>
          </a:p>
        </p:txBody>
      </p:sp>
      <p:sp>
        <p:nvSpPr>
          <p:cNvPr id="4280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endParaRPr lang="zh-CN" altLang="zh-CN"/>
          </a:p>
        </p:txBody>
      </p:sp>
      <p:sp>
        <p:nvSpPr>
          <p:cNvPr id="42905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714467"/>
            <a:ext cx="7582685" cy="554637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endParaRPr lang="zh-CN" altLang="zh-CN" dirty="0"/>
          </a:p>
        </p:txBody>
      </p:sp>
      <p:sp>
        <p:nvSpPr>
          <p:cNvPr id="430083"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13  ui </a:t>
            </a:r>
            <a:r>
              <a:rPr lang="en-US" altLang="zh-CN" dirty="0"/>
              <a:t>=163mV </a:t>
            </a:r>
            <a:r>
              <a:rPr lang="zh-CN" altLang="en-US" dirty="0"/>
              <a:t>逐次比较 </a:t>
            </a:r>
            <a:r>
              <a:rPr lang="en-US" altLang="zh-CN" dirty="0"/>
              <a:t>u o </a:t>
            </a:r>
            <a:r>
              <a:rPr lang="zh-CN" altLang="en-US" dirty="0"/>
              <a:t>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468" y="1561839"/>
            <a:ext cx="6897063" cy="3734321"/>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逐次渐近型 </a:t>
            </a:r>
            <a:r>
              <a:rPr lang="en-US" altLang="zh-CN" dirty="0"/>
              <a:t>A / D </a:t>
            </a:r>
            <a:r>
              <a:rPr lang="zh-CN" altLang="en-US" dirty="0"/>
              <a:t>转换器具有较高的转换速度。对于一个 </a:t>
            </a:r>
            <a:r>
              <a:rPr lang="en-US" altLang="zh-CN" dirty="0"/>
              <a:t>n </a:t>
            </a:r>
            <a:r>
              <a:rPr lang="zh-CN" altLang="en-US" dirty="0"/>
              <a:t>位逐次渐近型 </a:t>
            </a:r>
            <a:r>
              <a:rPr lang="en-US" altLang="zh-CN" dirty="0"/>
              <a:t>A / D </a:t>
            </a:r>
            <a:r>
              <a:rPr lang="zh-CN" altLang="en-US" dirty="0"/>
              <a:t>转</a:t>
            </a:r>
            <a:r>
              <a:rPr lang="zh-CN" altLang="en-US" dirty="0" smtClean="0"/>
              <a:t>换器，转</a:t>
            </a:r>
            <a:r>
              <a:rPr lang="zh-CN" altLang="en-US" dirty="0"/>
              <a:t>换一次需要的时间为</a:t>
            </a:r>
            <a:r>
              <a:rPr lang="en-US" altLang="zh-CN" dirty="0"/>
              <a:t>(</a:t>
            </a:r>
            <a:br>
              <a:rPr lang="en-US" altLang="zh-CN" dirty="0"/>
            </a:br>
            <a:r>
              <a:rPr lang="en-US" altLang="zh-CN" dirty="0"/>
              <a:t>n +2 ) </a:t>
            </a:r>
            <a:r>
              <a:rPr lang="en-US" altLang="zh-CN" i="1" dirty="0"/>
              <a:t>T </a:t>
            </a:r>
            <a:r>
              <a:rPr lang="en-US" altLang="zh-CN" i="1" baseline="-25000" dirty="0"/>
              <a:t>CP</a:t>
            </a:r>
            <a:r>
              <a:rPr lang="en-US" altLang="zh-CN" i="1" dirty="0"/>
              <a:t> </a:t>
            </a:r>
            <a:r>
              <a:rPr lang="zh-CN" altLang="en-US" dirty="0" smtClean="0"/>
              <a:t>，位</a:t>
            </a:r>
            <a:r>
              <a:rPr lang="zh-CN" altLang="en-US" dirty="0"/>
              <a:t>数越</a:t>
            </a:r>
            <a:r>
              <a:rPr lang="zh-CN" altLang="en-US" dirty="0" smtClean="0"/>
              <a:t>多，转</a:t>
            </a:r>
            <a:r>
              <a:rPr lang="zh-CN" altLang="en-US" dirty="0"/>
              <a:t>换时间就相应越长。与并联比较型</a:t>
            </a:r>
            <a:r>
              <a:rPr lang="zh-CN" altLang="en-US" dirty="0" smtClean="0"/>
              <a:t>相比，它</a:t>
            </a:r>
            <a:r>
              <a:rPr lang="zh-CN" altLang="en-US" dirty="0"/>
              <a:t>的速度要低一</a:t>
            </a:r>
            <a:r>
              <a:rPr lang="zh-CN" altLang="en-US" dirty="0" smtClean="0"/>
              <a:t>些，但</a:t>
            </a:r>
            <a:r>
              <a:rPr lang="zh-CN" altLang="en-US" dirty="0"/>
              <a:t>所需硬件较</a:t>
            </a:r>
            <a:r>
              <a:rPr lang="zh-CN" altLang="en-US" dirty="0" smtClean="0"/>
              <a:t>少，因</a:t>
            </a:r>
            <a:r>
              <a:rPr lang="zh-CN" altLang="en-US" dirty="0"/>
              <a:t>而对在速度要求不是特别高的场</a:t>
            </a:r>
            <a:r>
              <a:rPr lang="zh-CN" altLang="en-US" dirty="0" smtClean="0"/>
              <a:t>合，逐</a:t>
            </a:r>
            <a:r>
              <a:rPr lang="zh-CN" altLang="en-US" dirty="0"/>
              <a:t>次</a:t>
            </a:r>
            <a:r>
              <a:rPr lang="zh-CN" altLang="en-US" dirty="0" smtClean="0"/>
              <a:t>渐近</a:t>
            </a:r>
            <a:r>
              <a:rPr lang="zh-CN" altLang="en-US" dirty="0"/>
              <a:t>型 </a:t>
            </a:r>
            <a:r>
              <a:rPr lang="en-US" altLang="zh-CN" dirty="0"/>
              <a:t>A / D </a:t>
            </a:r>
            <a:r>
              <a:rPr lang="zh-CN" altLang="en-US" dirty="0"/>
              <a:t>转换器的应用最为广泛。</a:t>
            </a:r>
            <a:br>
              <a:rPr lang="zh-CN" altLang="en-US" dirty="0"/>
            </a:br>
            <a:r>
              <a:rPr lang="zh-CN" altLang="en-US" dirty="0" smtClean="0"/>
              <a:t>　　逐</a:t>
            </a:r>
            <a:r>
              <a:rPr lang="zh-CN" altLang="en-US" dirty="0"/>
              <a:t>次渐近型 </a:t>
            </a:r>
            <a:r>
              <a:rPr lang="en-US" altLang="zh-CN" dirty="0"/>
              <a:t>A / D </a:t>
            </a:r>
            <a:r>
              <a:rPr lang="zh-CN" altLang="en-US" dirty="0"/>
              <a:t>转换器的精度主要取决于其中 </a:t>
            </a:r>
            <a:r>
              <a:rPr lang="en-US" altLang="zh-CN" dirty="0"/>
              <a:t>D / A </a:t>
            </a:r>
            <a:r>
              <a:rPr lang="zh-CN" altLang="en-US" dirty="0"/>
              <a:t>转换器的位数和线性度、参考</a:t>
            </a:r>
            <a:r>
              <a:rPr lang="zh-CN" altLang="en-US" dirty="0" smtClean="0"/>
              <a:t>电压</a:t>
            </a:r>
            <a:r>
              <a:rPr lang="zh-CN" altLang="en-US" dirty="0"/>
              <a:t>的稳定性和电压比较器的灵敏度。由于高精度的 </a:t>
            </a:r>
            <a:r>
              <a:rPr lang="en-US" altLang="zh-CN" dirty="0"/>
              <a:t>D / A </a:t>
            </a:r>
            <a:r>
              <a:rPr lang="zh-CN" altLang="en-US" dirty="0"/>
              <a:t>转换器已能实</a:t>
            </a:r>
            <a:r>
              <a:rPr lang="zh-CN" altLang="en-US" dirty="0" smtClean="0"/>
              <a:t>现，因</a:t>
            </a:r>
            <a:r>
              <a:rPr lang="zh-CN" altLang="en-US" dirty="0"/>
              <a:t>此逐次渐近</a:t>
            </a:r>
            <a:r>
              <a:rPr lang="zh-CN" altLang="en-US" dirty="0" smtClean="0"/>
              <a:t>型</a:t>
            </a:r>
            <a:r>
              <a:rPr lang="en-US" altLang="zh-CN" dirty="0" smtClean="0"/>
              <a:t>A </a:t>
            </a:r>
            <a:r>
              <a:rPr lang="en-US" altLang="zh-CN" dirty="0"/>
              <a:t>/ D </a:t>
            </a:r>
            <a:r>
              <a:rPr lang="zh-CN" altLang="en-US" dirty="0"/>
              <a:t>转换器可达到很高的精度。</a:t>
            </a:r>
            <a:endParaRPr lang="zh-CN" altLang="zh-CN" dirty="0"/>
          </a:p>
        </p:txBody>
      </p:sp>
      <p:sp>
        <p:nvSpPr>
          <p:cNvPr id="4311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r>
              <a:rPr lang="en-US" altLang="zh-CN" dirty="0"/>
              <a:t/>
            </a:r>
            <a:br>
              <a:rPr lang="en-US" altLang="zh-CN" dirty="0"/>
            </a:br>
            <a:r>
              <a:rPr lang="zh-CN" altLang="en-US" dirty="0"/>
              <a:t>　</a:t>
            </a:r>
            <a:r>
              <a:rPr lang="zh-CN" altLang="en-US" dirty="0"/>
              <a:t>　</a:t>
            </a:r>
            <a:r>
              <a:rPr lang="zh-CN" altLang="en-US" b="1" dirty="0"/>
              <a:t> </a:t>
            </a:r>
            <a:r>
              <a:rPr lang="en-US" altLang="zh-CN" b="1" dirty="0"/>
              <a:t>3. </a:t>
            </a:r>
            <a:r>
              <a:rPr lang="zh-CN" altLang="en-US" b="1" dirty="0"/>
              <a:t>双积分型 </a:t>
            </a:r>
            <a:r>
              <a:rPr lang="en-US" altLang="zh-CN" b="1" dirty="0"/>
              <a:t>A / D </a:t>
            </a:r>
            <a:r>
              <a:rPr lang="zh-CN" altLang="en-US" b="1" dirty="0"/>
              <a:t>转换器</a:t>
            </a:r>
            <a:br>
              <a:rPr lang="zh-CN" altLang="en-US" b="1" dirty="0"/>
            </a:br>
            <a:r>
              <a:rPr lang="zh-CN" altLang="en-US" b="1" dirty="0" smtClean="0"/>
              <a:t>　　</a:t>
            </a:r>
            <a:r>
              <a:rPr lang="zh-CN" altLang="en-US" dirty="0" smtClean="0"/>
              <a:t>双</a:t>
            </a:r>
            <a:r>
              <a:rPr lang="zh-CN" altLang="en-US" dirty="0"/>
              <a:t>积分型 </a:t>
            </a:r>
            <a:r>
              <a:rPr lang="en-US" altLang="zh-CN" dirty="0"/>
              <a:t>A / D </a:t>
            </a:r>
            <a:r>
              <a:rPr lang="zh-CN" altLang="en-US" dirty="0"/>
              <a:t>转换器的转换原理是将模拟电压 </a:t>
            </a:r>
            <a:r>
              <a:rPr lang="en-US" altLang="zh-CN" i="1" dirty="0" smtClean="0"/>
              <a:t>u</a:t>
            </a:r>
            <a:r>
              <a:rPr lang="en-US" altLang="zh-CN" i="1" baseline="-25000" dirty="0" smtClean="0"/>
              <a:t>i </a:t>
            </a:r>
            <a:r>
              <a:rPr lang="zh-CN" altLang="en-US" dirty="0"/>
              <a:t>转换成与其大小成正比的时间 </a:t>
            </a:r>
            <a:r>
              <a:rPr lang="en-US" altLang="zh-CN" dirty="0"/>
              <a:t>T </a:t>
            </a:r>
            <a:r>
              <a:rPr lang="zh-CN" altLang="en-US" dirty="0" smtClean="0"/>
              <a:t>，再</a:t>
            </a:r>
            <a:r>
              <a:rPr lang="zh-CN" altLang="en-US" dirty="0"/>
              <a:t>利用基准时钟脉冲通过计数器将 </a:t>
            </a:r>
            <a:r>
              <a:rPr lang="en-US" altLang="zh-CN" dirty="0"/>
              <a:t>T </a:t>
            </a:r>
            <a:r>
              <a:rPr lang="zh-CN" altLang="en-US" dirty="0"/>
              <a:t>变换成数字量。图 </a:t>
            </a:r>
            <a:r>
              <a:rPr lang="en-US" altLang="zh-CN" dirty="0" smtClean="0"/>
              <a:t>8</a:t>
            </a:r>
            <a:r>
              <a:rPr lang="zh-CN" altLang="en-US" dirty="0" smtClean="0"/>
              <a:t>－</a:t>
            </a:r>
            <a:r>
              <a:rPr lang="en-US" altLang="zh-CN" dirty="0" smtClean="0"/>
              <a:t>14 </a:t>
            </a:r>
            <a:r>
              <a:rPr lang="zh-CN" altLang="en-US" dirty="0"/>
              <a:t>所示是双积分型 </a:t>
            </a:r>
            <a:r>
              <a:rPr lang="en-US" altLang="zh-CN" dirty="0"/>
              <a:t>A / D </a:t>
            </a:r>
            <a:r>
              <a:rPr lang="zh-CN" altLang="en-US" dirty="0"/>
              <a:t>转</a:t>
            </a:r>
            <a:r>
              <a:rPr lang="zh-CN" altLang="en-US" dirty="0" smtClean="0"/>
              <a:t>换器</a:t>
            </a:r>
            <a:r>
              <a:rPr lang="zh-CN" altLang="en-US" dirty="0"/>
              <a:t>的原理框图。它包含积分器、比较器、计数器、控制逻辑和时钟信号源几部分。图 </a:t>
            </a:r>
            <a:r>
              <a:rPr lang="en-US" altLang="zh-CN" dirty="0" smtClean="0"/>
              <a:t>8</a:t>
            </a:r>
            <a:r>
              <a:rPr lang="zh-CN" altLang="en-US" dirty="0" smtClean="0"/>
              <a:t>－</a:t>
            </a:r>
            <a:r>
              <a:rPr lang="en-US" altLang="zh-CN" dirty="0" smtClean="0"/>
              <a:t>15</a:t>
            </a:r>
            <a:r>
              <a:rPr lang="zh-CN" altLang="en-US" dirty="0" smtClean="0"/>
              <a:t>所</a:t>
            </a:r>
            <a:r>
              <a:rPr lang="zh-CN" altLang="en-US" dirty="0"/>
              <a:t>示是这个电路的工作波形图。</a:t>
            </a:r>
            <a:endParaRPr lang="zh-CN" altLang="zh-CN" dirty="0"/>
          </a:p>
        </p:txBody>
      </p:sp>
      <p:sp>
        <p:nvSpPr>
          <p:cNvPr id="4321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endParaRPr lang="zh-CN" altLang="zh-CN"/>
          </a:p>
        </p:txBody>
      </p:sp>
      <p:sp>
        <p:nvSpPr>
          <p:cNvPr id="433155"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14  </a:t>
            </a:r>
            <a:r>
              <a:rPr lang="zh-CN" altLang="en-US" dirty="0"/>
              <a:t>双积分型 </a:t>
            </a:r>
            <a:r>
              <a:rPr lang="en-US" altLang="zh-CN" dirty="0"/>
              <a:t>A / D </a:t>
            </a:r>
            <a:r>
              <a:rPr lang="zh-CN" altLang="en-US" dirty="0"/>
              <a:t>转换器的原理框图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836712"/>
            <a:ext cx="7740352" cy="491712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下面讨论它的工作过程和这种 </a:t>
            </a:r>
            <a:r>
              <a:rPr lang="en-US" altLang="zh-CN" dirty="0"/>
              <a:t>A / D </a:t>
            </a:r>
            <a:r>
              <a:rPr lang="zh-CN" altLang="en-US" dirty="0"/>
              <a:t>转换器的特点。</a:t>
            </a:r>
            <a:br>
              <a:rPr lang="zh-CN" altLang="en-US" dirty="0"/>
            </a:br>
            <a:r>
              <a:rPr lang="zh-CN" altLang="en-US" dirty="0" smtClean="0"/>
              <a:t>　　转</a:t>
            </a:r>
            <a:r>
              <a:rPr lang="zh-CN" altLang="en-US" dirty="0"/>
              <a:t>换开始前</a:t>
            </a:r>
            <a:r>
              <a:rPr lang="en-US" altLang="zh-CN" dirty="0"/>
              <a:t>(</a:t>
            </a:r>
            <a:r>
              <a:rPr lang="zh-CN" altLang="en-US" dirty="0"/>
              <a:t>转换控制信号 </a:t>
            </a:r>
            <a:r>
              <a:rPr lang="en-US" altLang="zh-CN" i="1" dirty="0"/>
              <a:t>u </a:t>
            </a:r>
            <a:r>
              <a:rPr lang="en-US" altLang="zh-CN" i="1" baseline="-25000" dirty="0"/>
              <a:t>L</a:t>
            </a:r>
            <a:r>
              <a:rPr lang="en-US" altLang="zh-CN" i="1" dirty="0"/>
              <a:t> </a:t>
            </a:r>
            <a:r>
              <a:rPr lang="en-US" altLang="zh-CN" dirty="0"/>
              <a:t>=0 </a:t>
            </a:r>
            <a:r>
              <a:rPr lang="en-US" altLang="zh-CN" dirty="0" smtClean="0"/>
              <a:t>)</a:t>
            </a:r>
            <a:r>
              <a:rPr lang="zh-CN" altLang="en-US" dirty="0" smtClean="0"/>
              <a:t>，先</a:t>
            </a:r>
            <a:r>
              <a:rPr lang="zh-CN" altLang="en-US" dirty="0"/>
              <a:t>将计数器清</a:t>
            </a:r>
            <a:r>
              <a:rPr lang="zh-CN" altLang="en-US" dirty="0" smtClean="0"/>
              <a:t>零，并</a:t>
            </a:r>
            <a:r>
              <a:rPr lang="zh-CN" altLang="en-US" dirty="0"/>
              <a:t>将开关 </a:t>
            </a:r>
            <a:r>
              <a:rPr lang="en-US" altLang="zh-CN" i="1" dirty="0" smtClean="0"/>
              <a:t>S</a:t>
            </a:r>
            <a:r>
              <a:rPr lang="en-US" altLang="zh-CN" i="1" baseline="-25000" dirty="0" smtClean="0"/>
              <a:t>2</a:t>
            </a:r>
            <a:r>
              <a:rPr lang="en-US" altLang="zh-CN" i="1" dirty="0" smtClean="0"/>
              <a:t> </a:t>
            </a:r>
            <a:r>
              <a:rPr lang="zh-CN" altLang="en-US" dirty="0"/>
              <a:t>合</a:t>
            </a:r>
            <a:r>
              <a:rPr lang="zh-CN" altLang="en-US" dirty="0" smtClean="0"/>
              <a:t>上，使</a:t>
            </a:r>
            <a:r>
              <a:rPr lang="zh-CN" altLang="en-US" dirty="0"/>
              <a:t>积分电</a:t>
            </a:r>
            <a:r>
              <a:rPr lang="zh-CN" altLang="en-US" dirty="0" smtClean="0"/>
              <a:t>容器</a:t>
            </a:r>
            <a:r>
              <a:rPr lang="zh-CN" altLang="en-US" dirty="0"/>
              <a:t>完全放电。当 </a:t>
            </a:r>
            <a:r>
              <a:rPr lang="en-US" altLang="zh-CN" i="1" dirty="0"/>
              <a:t>u </a:t>
            </a:r>
            <a:r>
              <a:rPr lang="en-US" altLang="zh-CN" i="1" baseline="-25000" dirty="0"/>
              <a:t>L</a:t>
            </a:r>
            <a:r>
              <a:rPr lang="en-US" altLang="zh-CN" i="1" dirty="0"/>
              <a:t> </a:t>
            </a:r>
            <a:r>
              <a:rPr lang="en-US" altLang="zh-CN" dirty="0"/>
              <a:t>=1 </a:t>
            </a:r>
            <a:r>
              <a:rPr lang="zh-CN" altLang="en-US" dirty="0"/>
              <a:t>时开始转换。其转换过程分两个阶段进行</a:t>
            </a:r>
            <a:r>
              <a:rPr lang="en-US" altLang="zh-CN" dirty="0"/>
              <a:t>:</a:t>
            </a:r>
            <a:br>
              <a:rPr lang="en-US" altLang="zh-CN" dirty="0"/>
            </a:br>
            <a:r>
              <a:rPr lang="zh-CN" altLang="en-US" dirty="0" smtClean="0"/>
              <a:t>　　</a:t>
            </a:r>
            <a:r>
              <a:rPr lang="en-US" altLang="zh-CN" dirty="0" smtClean="0"/>
              <a:t>(1)</a:t>
            </a:r>
            <a:r>
              <a:rPr lang="zh-CN" altLang="en-US" dirty="0"/>
              <a:t>取样阶段。将开关 </a:t>
            </a:r>
            <a:r>
              <a:rPr lang="en-US" altLang="zh-CN" i="1" dirty="0"/>
              <a:t>S </a:t>
            </a:r>
            <a:r>
              <a:rPr lang="en-US" altLang="zh-CN" i="1" baseline="-25000" dirty="0"/>
              <a:t>1</a:t>
            </a:r>
            <a:r>
              <a:rPr lang="en-US" altLang="zh-CN" i="1" dirty="0"/>
              <a:t> </a:t>
            </a:r>
            <a:r>
              <a:rPr lang="zh-CN" altLang="en-US" dirty="0"/>
              <a:t>接至输入信号电压 </a:t>
            </a:r>
            <a:r>
              <a:rPr lang="en-US" altLang="zh-CN" i="1" dirty="0"/>
              <a:t>u </a:t>
            </a:r>
            <a:r>
              <a:rPr lang="en-US" altLang="zh-CN" i="1" baseline="-25000" dirty="0"/>
              <a:t>i</a:t>
            </a:r>
            <a:r>
              <a:rPr lang="en-US" altLang="zh-CN" i="1" dirty="0"/>
              <a:t> </a:t>
            </a:r>
            <a:r>
              <a:rPr lang="zh-CN" altLang="en-US" dirty="0"/>
              <a:t>一</a:t>
            </a:r>
            <a:r>
              <a:rPr lang="zh-CN" altLang="en-US" dirty="0" smtClean="0"/>
              <a:t>侧，则</a:t>
            </a:r>
            <a:r>
              <a:rPr lang="zh-CN" altLang="en-US" dirty="0"/>
              <a:t>积分器的输出电压 </a:t>
            </a:r>
            <a:r>
              <a:rPr lang="en-US" altLang="zh-CN" i="1" dirty="0"/>
              <a:t>u </a:t>
            </a:r>
            <a:r>
              <a:rPr lang="en-US" altLang="zh-CN" i="1" baseline="-25000" dirty="0"/>
              <a:t>o</a:t>
            </a:r>
            <a:r>
              <a:rPr lang="en-US" altLang="zh-CN" i="1" dirty="0"/>
              <a:t> </a:t>
            </a:r>
            <a:r>
              <a:rPr lang="zh-CN" altLang="en-US" dirty="0"/>
              <a:t>为</a:t>
            </a:r>
            <a:endParaRPr lang="zh-CN" altLang="zh-CN" dirty="0"/>
          </a:p>
        </p:txBody>
      </p:sp>
      <p:sp>
        <p:nvSpPr>
          <p:cNvPr id="43417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744" y="4077071"/>
            <a:ext cx="4032448" cy="842601"/>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296" y="4293555"/>
            <a:ext cx="914528" cy="409632"/>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endParaRPr lang="zh-CN" altLang="zh-CN"/>
          </a:p>
        </p:txBody>
      </p:sp>
      <p:sp>
        <p:nvSpPr>
          <p:cNvPr id="435203" name="Rectangle 3"/>
          <p:cNvSpPr>
            <a:spLocks noGrp="1" noChangeArrowheads="1"/>
          </p:cNvSpPr>
          <p:nvPr>
            <p:ph type="body" idx="1"/>
          </p:nvPr>
        </p:nvSpPr>
        <p:spPr/>
        <p:txBody>
          <a:bodyPr/>
          <a:lstStyle/>
          <a:p>
            <a:r>
              <a:rPr lang="zh-CN" altLang="en-US" dirty="0"/>
              <a:t>图 </a:t>
            </a:r>
            <a:r>
              <a:rPr lang="en-US" altLang="zh-CN" dirty="0" smtClean="0"/>
              <a:t>8</a:t>
            </a:r>
            <a:r>
              <a:rPr lang="zh-CN" altLang="en-US" dirty="0" smtClean="0"/>
              <a:t>－</a:t>
            </a:r>
            <a:r>
              <a:rPr lang="en-US" altLang="zh-CN" dirty="0" smtClean="0"/>
              <a:t>15  </a:t>
            </a:r>
            <a:r>
              <a:rPr lang="zh-CN" altLang="en-US" dirty="0"/>
              <a:t>双积分型 </a:t>
            </a:r>
            <a:r>
              <a:rPr lang="en-US" altLang="zh-CN" dirty="0"/>
              <a:t>A / D </a:t>
            </a:r>
            <a:r>
              <a:rPr lang="zh-CN" altLang="en-US" dirty="0"/>
              <a:t>转换器的工作波形</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2799" y="692696"/>
            <a:ext cx="5668166" cy="510611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由上式可</a:t>
            </a:r>
            <a:r>
              <a:rPr lang="zh-CN" altLang="en-US" dirty="0" smtClean="0"/>
              <a:t>知，当</a:t>
            </a:r>
            <a:r>
              <a:rPr lang="zh-CN" altLang="en-US" dirty="0"/>
              <a:t>输入模拟电压 </a:t>
            </a:r>
            <a:r>
              <a:rPr lang="en-US" altLang="zh-CN" dirty="0" smtClean="0"/>
              <a:t>ui </a:t>
            </a:r>
            <a:r>
              <a:rPr lang="zh-CN" altLang="en-US" dirty="0"/>
              <a:t>为正</a:t>
            </a:r>
            <a:r>
              <a:rPr lang="zh-CN" altLang="en-US" dirty="0" smtClean="0"/>
              <a:t>时，</a:t>
            </a:r>
            <a:r>
              <a:rPr lang="en-US" altLang="zh-CN" dirty="0" smtClean="0"/>
              <a:t> </a:t>
            </a:r>
            <a:r>
              <a:rPr lang="en-US" altLang="zh-CN" i="1" dirty="0"/>
              <a:t>u o </a:t>
            </a:r>
            <a:r>
              <a:rPr lang="en-US" altLang="zh-CN" i="1" dirty="0" smtClean="0"/>
              <a:t>(t </a:t>
            </a:r>
            <a:r>
              <a:rPr lang="en-US" altLang="zh-CN" i="1" dirty="0"/>
              <a:t>)</a:t>
            </a:r>
            <a:r>
              <a:rPr lang="en-US" altLang="zh-CN" dirty="0"/>
              <a:t> &lt;0 </a:t>
            </a:r>
            <a:r>
              <a:rPr lang="zh-CN" altLang="en-US" dirty="0" smtClean="0"/>
              <a:t>，所</a:t>
            </a:r>
            <a:r>
              <a:rPr lang="zh-CN" altLang="en-US" dirty="0"/>
              <a:t>以比较器的输出 </a:t>
            </a:r>
            <a:r>
              <a:rPr lang="en-US" altLang="zh-CN" i="1" dirty="0"/>
              <a:t>C </a:t>
            </a:r>
            <a:r>
              <a:rPr lang="en-US" altLang="zh-CN" i="1" baseline="-25000" dirty="0"/>
              <a:t>0</a:t>
            </a:r>
            <a:r>
              <a:rPr lang="en-US" altLang="zh-CN" i="1" dirty="0"/>
              <a:t> </a:t>
            </a:r>
            <a:r>
              <a:rPr lang="en-US" altLang="zh-CN" dirty="0"/>
              <a:t>=1 </a:t>
            </a:r>
            <a:r>
              <a:rPr lang="zh-CN" altLang="en-US" dirty="0" smtClean="0"/>
              <a:t>，与</a:t>
            </a:r>
            <a:r>
              <a:rPr lang="zh-CN" altLang="en-US" dirty="0"/>
              <a:t>门 </a:t>
            </a:r>
            <a:r>
              <a:rPr lang="en-US" altLang="zh-CN" dirty="0"/>
              <a:t>G </a:t>
            </a:r>
            <a:r>
              <a:rPr lang="zh-CN" altLang="en-US" dirty="0" smtClean="0"/>
              <a:t>打开，周</a:t>
            </a:r>
            <a:r>
              <a:rPr lang="zh-CN" altLang="en-US" dirty="0"/>
              <a:t>期为 </a:t>
            </a:r>
            <a:r>
              <a:rPr lang="en-US" altLang="zh-CN" i="1" dirty="0"/>
              <a:t>T </a:t>
            </a:r>
            <a:r>
              <a:rPr lang="en-US" altLang="zh-CN" i="1" baseline="-25000" dirty="0"/>
              <a:t>CP</a:t>
            </a:r>
            <a:r>
              <a:rPr lang="en-US" altLang="zh-CN" i="1" dirty="0"/>
              <a:t> </a:t>
            </a:r>
            <a:r>
              <a:rPr lang="zh-CN" altLang="en-US" dirty="0"/>
              <a:t>的时钟脉冲经与门 </a:t>
            </a:r>
            <a:r>
              <a:rPr lang="en-US" altLang="zh-CN" dirty="0"/>
              <a:t>G </a:t>
            </a:r>
            <a:r>
              <a:rPr lang="zh-CN" altLang="en-US" dirty="0"/>
              <a:t>使 </a:t>
            </a:r>
            <a:r>
              <a:rPr lang="en-US" altLang="zh-CN" dirty="0"/>
              <a:t>n </a:t>
            </a:r>
            <a:r>
              <a:rPr lang="zh-CN" altLang="en-US" dirty="0"/>
              <a:t>位加法计数器从零开始计数。当计满 </a:t>
            </a:r>
            <a:r>
              <a:rPr lang="en-US" altLang="zh-CN" dirty="0" smtClean="0"/>
              <a:t>2</a:t>
            </a:r>
            <a:r>
              <a:rPr lang="en-US" altLang="zh-CN" baseline="30000" dirty="0" smtClean="0"/>
              <a:t>n</a:t>
            </a:r>
            <a:r>
              <a:rPr lang="zh-CN" altLang="en-US" dirty="0" smtClean="0"/>
              <a:t>个</a:t>
            </a:r>
            <a:r>
              <a:rPr lang="zh-CN" altLang="en-US" dirty="0"/>
              <a:t>时钟</a:t>
            </a:r>
            <a:r>
              <a:rPr lang="zh-CN" altLang="en-US" dirty="0" smtClean="0"/>
              <a:t>脉冲时，计</a:t>
            </a:r>
            <a:r>
              <a:rPr lang="zh-CN" altLang="en-US" dirty="0"/>
              <a:t>数器回到全零状</a:t>
            </a:r>
            <a:r>
              <a:rPr lang="zh-CN" altLang="en-US" dirty="0" smtClean="0"/>
              <a:t>态，而</a:t>
            </a:r>
            <a:r>
              <a:rPr lang="zh-CN" altLang="en-US" dirty="0"/>
              <a:t>触发器 </a:t>
            </a:r>
            <a:r>
              <a:rPr lang="en-US" altLang="zh-CN" i="1" dirty="0"/>
              <a:t>F </a:t>
            </a:r>
            <a:r>
              <a:rPr lang="en-US" altLang="zh-CN" i="1" baseline="-25000" dirty="0"/>
              <a:t>n </a:t>
            </a:r>
            <a:r>
              <a:rPr lang="zh-CN" altLang="en-US" dirty="0"/>
              <a:t>的输出 </a:t>
            </a:r>
            <a:r>
              <a:rPr lang="en-US" altLang="zh-CN" dirty="0"/>
              <a:t>Q </a:t>
            </a:r>
            <a:r>
              <a:rPr lang="zh-CN" altLang="en-US" dirty="0"/>
              <a:t>则由 </a:t>
            </a:r>
            <a:r>
              <a:rPr lang="en-US" altLang="zh-CN" dirty="0"/>
              <a:t>0 </a:t>
            </a:r>
            <a:r>
              <a:rPr lang="zh-CN" altLang="en-US" dirty="0"/>
              <a:t>变为 </a:t>
            </a:r>
            <a:r>
              <a:rPr lang="en-US" altLang="zh-CN" dirty="0"/>
              <a:t>1 </a:t>
            </a:r>
            <a:r>
              <a:rPr lang="zh-CN" altLang="en-US" dirty="0" smtClean="0"/>
              <a:t>，从</a:t>
            </a:r>
            <a:r>
              <a:rPr lang="zh-CN" altLang="en-US" dirty="0"/>
              <a:t>而使逻辑控制电路</a:t>
            </a:r>
            <a:r>
              <a:rPr lang="zh-CN" altLang="en-US" dirty="0" smtClean="0"/>
              <a:t>将开</a:t>
            </a:r>
            <a:r>
              <a:rPr lang="zh-CN" altLang="en-US" dirty="0"/>
              <a:t>关 </a:t>
            </a:r>
            <a:r>
              <a:rPr lang="en-US" altLang="zh-CN" dirty="0" smtClean="0"/>
              <a:t>S</a:t>
            </a:r>
            <a:r>
              <a:rPr lang="en-US" altLang="zh-CN" baseline="-25000" dirty="0" smtClean="0"/>
              <a:t>1</a:t>
            </a:r>
            <a:r>
              <a:rPr lang="en-US" altLang="zh-CN" dirty="0" smtClean="0"/>
              <a:t> </a:t>
            </a:r>
            <a:r>
              <a:rPr lang="zh-CN" altLang="en-US" dirty="0"/>
              <a:t>由 </a:t>
            </a:r>
            <a:r>
              <a:rPr lang="en-US" altLang="zh-CN" dirty="0"/>
              <a:t>u </a:t>
            </a:r>
            <a:r>
              <a:rPr lang="en-US" altLang="zh-CN" baseline="-25000" dirty="0"/>
              <a:t>i</a:t>
            </a:r>
            <a:r>
              <a:rPr lang="en-US" altLang="zh-CN" dirty="0"/>
              <a:t> </a:t>
            </a:r>
            <a:r>
              <a:rPr lang="zh-CN" altLang="en-US" dirty="0"/>
              <a:t>一侧改接到 </a:t>
            </a:r>
            <a:r>
              <a:rPr lang="en-US" altLang="zh-CN" dirty="0"/>
              <a:t>- </a:t>
            </a:r>
            <a:r>
              <a:rPr lang="en-US" altLang="zh-CN" i="1" dirty="0"/>
              <a:t>U </a:t>
            </a:r>
            <a:r>
              <a:rPr lang="en-US" altLang="zh-CN" i="1" baseline="-25000" dirty="0"/>
              <a:t>REF</a:t>
            </a:r>
            <a:r>
              <a:rPr lang="en-US" altLang="zh-CN" i="1" dirty="0"/>
              <a:t> </a:t>
            </a:r>
            <a:r>
              <a:rPr lang="zh-CN" altLang="en-US" dirty="0"/>
              <a:t>一侧。至</a:t>
            </a:r>
            <a:r>
              <a:rPr lang="zh-CN" altLang="en-US" dirty="0" smtClean="0"/>
              <a:t>此，取</a:t>
            </a:r>
            <a:r>
              <a:rPr lang="zh-CN" altLang="en-US" dirty="0"/>
              <a:t>样阶段结</a:t>
            </a:r>
            <a:r>
              <a:rPr lang="zh-CN" altLang="en-US" dirty="0" smtClean="0"/>
              <a:t>束，并</a:t>
            </a:r>
            <a:r>
              <a:rPr lang="zh-CN" altLang="en-US" dirty="0"/>
              <a:t>开始对基准电压 </a:t>
            </a:r>
            <a:r>
              <a:rPr lang="en-US" altLang="zh-CN" dirty="0"/>
              <a:t>- </a:t>
            </a:r>
            <a:r>
              <a:rPr lang="en-US" altLang="zh-CN" i="1" dirty="0"/>
              <a:t>U </a:t>
            </a:r>
            <a:r>
              <a:rPr lang="en-US" altLang="zh-CN" i="1" baseline="-25000" dirty="0"/>
              <a:t>REF</a:t>
            </a:r>
            <a:r>
              <a:rPr lang="en-US" altLang="zh-CN" i="1" dirty="0" smtClean="0"/>
              <a:t> </a:t>
            </a:r>
            <a:r>
              <a:rPr lang="zh-CN" altLang="en-US" dirty="0"/>
              <a:t>进</a:t>
            </a:r>
            <a:r>
              <a:rPr lang="zh-CN" altLang="en-US" dirty="0" smtClean="0"/>
              <a:t>行反</a:t>
            </a:r>
            <a:r>
              <a:rPr lang="zh-CN" altLang="en-US" dirty="0"/>
              <a:t>向积分。</a:t>
            </a:r>
            <a:endParaRPr lang="zh-CN" altLang="zh-CN" dirty="0"/>
          </a:p>
        </p:txBody>
      </p:sp>
      <p:sp>
        <p:nvSpPr>
          <p:cNvPr id="4362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r>
              <a:rPr lang="en-US" altLang="zh-CN" dirty="0"/>
              <a:t/>
            </a:r>
            <a:br>
              <a:rPr lang="en-US" altLang="zh-CN" dirty="0"/>
            </a:br>
            <a:r>
              <a:rPr lang="zh-CN" altLang="en-US" dirty="0"/>
              <a:t>　</a:t>
            </a:r>
            <a:r>
              <a:rPr lang="zh-CN" altLang="en-US" dirty="0"/>
              <a:t>　由上面的分析可</a:t>
            </a:r>
            <a:r>
              <a:rPr lang="zh-CN" altLang="en-US" dirty="0" smtClean="0"/>
              <a:t>知，取</a:t>
            </a:r>
            <a:r>
              <a:rPr lang="zh-CN" altLang="en-US" dirty="0"/>
              <a:t>样阶段的积分时间为一常</a:t>
            </a:r>
            <a:r>
              <a:rPr lang="zh-CN" altLang="en-US" dirty="0" smtClean="0"/>
              <a:t>数，用 </a:t>
            </a:r>
            <a:r>
              <a:rPr lang="en-US" altLang="zh-CN" dirty="0"/>
              <a:t>T </a:t>
            </a:r>
            <a:r>
              <a:rPr lang="en-US" altLang="zh-CN" baseline="-25000" dirty="0"/>
              <a:t>1</a:t>
            </a:r>
            <a:r>
              <a:rPr lang="en-US" altLang="zh-CN" dirty="0"/>
              <a:t> </a:t>
            </a:r>
            <a:r>
              <a:rPr lang="zh-CN" altLang="en-US" dirty="0"/>
              <a:t>表</a:t>
            </a:r>
            <a:r>
              <a:rPr lang="zh-CN" altLang="en-US" dirty="0" smtClean="0"/>
              <a:t>示，则</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a:t>因而积分器的输出电压 </a:t>
            </a:r>
            <a:r>
              <a:rPr lang="en-US" altLang="zh-CN" i="1" dirty="0"/>
              <a:t>u </a:t>
            </a:r>
            <a:r>
              <a:rPr lang="en-US" altLang="zh-CN" i="1" baseline="-25000" dirty="0"/>
              <a:t>o</a:t>
            </a:r>
            <a:r>
              <a:rPr lang="en-US" altLang="zh-CN" i="1" dirty="0"/>
              <a:t> </a:t>
            </a:r>
            <a:r>
              <a:rPr lang="en-US" altLang="zh-CN" dirty="0" smtClean="0"/>
              <a:t>(t </a:t>
            </a:r>
            <a:r>
              <a:rPr lang="en-US" altLang="zh-CN" dirty="0"/>
              <a:t>)</a:t>
            </a:r>
            <a:r>
              <a:rPr lang="zh-CN" altLang="en-US" dirty="0" smtClean="0"/>
              <a:t>为</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a:t>因为 </a:t>
            </a:r>
            <a:r>
              <a:rPr lang="en-US" altLang="zh-CN" i="1" dirty="0" smtClean="0"/>
              <a:t>2</a:t>
            </a:r>
            <a:r>
              <a:rPr lang="en-US" altLang="zh-CN" i="1" baseline="30000" dirty="0" smtClean="0"/>
              <a:t>n</a:t>
            </a:r>
            <a:r>
              <a:rPr lang="en-US" altLang="zh-CN" i="1" dirty="0" smtClean="0"/>
              <a:t>T </a:t>
            </a:r>
            <a:r>
              <a:rPr lang="en-US" altLang="zh-CN" i="1" baseline="-25000" dirty="0"/>
              <a:t>CP</a:t>
            </a:r>
            <a:r>
              <a:rPr lang="en-US" altLang="zh-CN" i="1" dirty="0"/>
              <a:t> </a:t>
            </a:r>
            <a:r>
              <a:rPr lang="zh-CN" altLang="en-US" dirty="0"/>
              <a:t>不</a:t>
            </a:r>
            <a:r>
              <a:rPr lang="zh-CN" altLang="en-US" dirty="0" smtClean="0"/>
              <a:t>变，即 </a:t>
            </a:r>
            <a:r>
              <a:rPr lang="en-US" altLang="zh-CN" dirty="0"/>
              <a:t>T </a:t>
            </a:r>
            <a:r>
              <a:rPr lang="en-US" altLang="zh-CN" baseline="-25000" dirty="0"/>
              <a:t>1</a:t>
            </a:r>
            <a:r>
              <a:rPr lang="en-US" altLang="zh-CN" dirty="0"/>
              <a:t> </a:t>
            </a:r>
            <a:r>
              <a:rPr lang="zh-CN" altLang="en-US" dirty="0"/>
              <a:t>固</a:t>
            </a:r>
            <a:r>
              <a:rPr lang="zh-CN" altLang="en-US" dirty="0" smtClean="0"/>
              <a:t>定，所</a:t>
            </a:r>
            <a:r>
              <a:rPr lang="zh-CN" altLang="en-US" dirty="0"/>
              <a:t>以积分器的输出电压 </a:t>
            </a:r>
            <a:r>
              <a:rPr lang="en-US" altLang="zh-CN" i="1" dirty="0"/>
              <a:t>u </a:t>
            </a:r>
            <a:r>
              <a:rPr lang="en-US" altLang="zh-CN" i="1" baseline="-25000" dirty="0"/>
              <a:t>o</a:t>
            </a:r>
            <a:r>
              <a:rPr lang="en-US" altLang="zh-CN" i="1" dirty="0"/>
              <a:t> </a:t>
            </a:r>
            <a:r>
              <a:rPr lang="en-US" altLang="zh-CN" dirty="0" smtClean="0"/>
              <a:t>( </a:t>
            </a:r>
            <a:r>
              <a:rPr lang="en-US" altLang="zh-CN" dirty="0"/>
              <a:t>t )</a:t>
            </a:r>
            <a:r>
              <a:rPr lang="zh-CN" altLang="en-US" dirty="0"/>
              <a:t>与输入模拟电压 </a:t>
            </a:r>
            <a:r>
              <a:rPr lang="en-US" altLang="zh-CN" i="1" dirty="0"/>
              <a:t>u </a:t>
            </a:r>
            <a:r>
              <a:rPr lang="en-US" altLang="zh-CN" i="1" baseline="-25000" dirty="0"/>
              <a:t>i</a:t>
            </a:r>
            <a:r>
              <a:rPr lang="en-US" altLang="zh-CN" i="1" dirty="0"/>
              <a:t> </a:t>
            </a:r>
            <a:r>
              <a:rPr lang="zh-CN" altLang="en-US" dirty="0"/>
              <a:t>成正比。</a:t>
            </a:r>
            <a:endParaRPr lang="zh-CN" altLang="zh-CN" dirty="0"/>
          </a:p>
        </p:txBody>
      </p:sp>
      <p:sp>
        <p:nvSpPr>
          <p:cNvPr id="43725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92" y="2060848"/>
            <a:ext cx="2088232" cy="757136"/>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0272" y="2248889"/>
            <a:ext cx="962159" cy="381053"/>
          </a:xfrm>
          <a:prstGeom prst="rect">
            <a:avLst/>
          </a:prstGeom>
        </p:spPr>
      </p:pic>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1760" y="3573016"/>
            <a:ext cx="4258270" cy="76210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en-US" altLang="zh-CN" dirty="0" smtClean="0"/>
              <a:t>(2)</a:t>
            </a:r>
            <a:r>
              <a:rPr lang="zh-CN" altLang="en-US" dirty="0"/>
              <a:t>比较阶段。开关 </a:t>
            </a:r>
            <a:r>
              <a:rPr lang="en-US" altLang="zh-CN" i="1" dirty="0"/>
              <a:t>S</a:t>
            </a:r>
            <a:r>
              <a:rPr lang="en-US" altLang="zh-CN" dirty="0"/>
              <a:t> </a:t>
            </a:r>
            <a:r>
              <a:rPr lang="en-US" altLang="zh-CN" baseline="-25000" dirty="0"/>
              <a:t>1</a:t>
            </a:r>
            <a:r>
              <a:rPr lang="en-US" altLang="zh-CN" dirty="0"/>
              <a:t> </a:t>
            </a:r>
            <a:r>
              <a:rPr lang="zh-CN" altLang="en-US" dirty="0"/>
              <a:t>接至基准电压 </a:t>
            </a:r>
            <a:r>
              <a:rPr lang="en-US" altLang="zh-CN" dirty="0"/>
              <a:t>- </a:t>
            </a:r>
            <a:r>
              <a:rPr lang="en-US" altLang="zh-CN" i="1" dirty="0"/>
              <a:t>U </a:t>
            </a:r>
            <a:r>
              <a:rPr lang="en-US" altLang="zh-CN" i="1" baseline="-25000" dirty="0"/>
              <a:t>REF</a:t>
            </a:r>
            <a:r>
              <a:rPr lang="en-US" altLang="zh-CN" i="1" dirty="0"/>
              <a:t> </a:t>
            </a:r>
            <a:r>
              <a:rPr lang="zh-CN" altLang="en-US" dirty="0"/>
              <a:t>一侧</a:t>
            </a:r>
            <a:r>
              <a:rPr lang="zh-CN" altLang="en-US" dirty="0" smtClean="0"/>
              <a:t>后，积</a:t>
            </a:r>
            <a:r>
              <a:rPr lang="zh-CN" altLang="en-US" dirty="0"/>
              <a:t>分器向相反方向积</a:t>
            </a:r>
            <a:r>
              <a:rPr lang="zh-CN" altLang="en-US" dirty="0" smtClean="0"/>
              <a:t>分，计</a:t>
            </a:r>
            <a:r>
              <a:rPr lang="zh-CN" altLang="en-US" dirty="0"/>
              <a:t>数</a:t>
            </a:r>
            <a:r>
              <a:rPr lang="zh-CN" altLang="en-US" dirty="0" smtClean="0"/>
              <a:t>器又</a:t>
            </a:r>
            <a:r>
              <a:rPr lang="zh-CN" altLang="en-US" dirty="0"/>
              <a:t>开始从 </a:t>
            </a:r>
            <a:r>
              <a:rPr lang="en-US" altLang="zh-CN" dirty="0"/>
              <a:t>0 </a:t>
            </a:r>
            <a:r>
              <a:rPr lang="zh-CN" altLang="en-US" dirty="0"/>
              <a:t>计</a:t>
            </a:r>
            <a:r>
              <a:rPr lang="zh-CN" altLang="en-US" dirty="0" smtClean="0"/>
              <a:t>数，经</a:t>
            </a:r>
            <a:r>
              <a:rPr lang="zh-CN" altLang="en-US" dirty="0"/>
              <a:t>过时间 </a:t>
            </a:r>
            <a:r>
              <a:rPr lang="en-US" altLang="zh-CN" i="1" dirty="0"/>
              <a:t>T</a:t>
            </a:r>
            <a:r>
              <a:rPr lang="en-US" altLang="zh-CN" dirty="0"/>
              <a:t> </a:t>
            </a:r>
            <a:r>
              <a:rPr lang="en-US" altLang="zh-CN" baseline="-25000" dirty="0"/>
              <a:t>2</a:t>
            </a:r>
            <a:r>
              <a:rPr lang="en-US" altLang="zh-CN" dirty="0"/>
              <a:t> </a:t>
            </a:r>
            <a:r>
              <a:rPr lang="zh-CN" altLang="en-US" dirty="0" smtClean="0"/>
              <a:t>后，积</a:t>
            </a:r>
            <a:r>
              <a:rPr lang="zh-CN" altLang="en-US" dirty="0"/>
              <a:t>分器的输出电压上升到</a:t>
            </a:r>
            <a:r>
              <a:rPr lang="zh-CN" altLang="en-US" dirty="0" smtClean="0"/>
              <a:t>零，比</a:t>
            </a:r>
            <a:r>
              <a:rPr lang="zh-CN" altLang="en-US" dirty="0"/>
              <a:t>较器的输出为低电</a:t>
            </a:r>
            <a:r>
              <a:rPr lang="zh-CN" altLang="en-US" dirty="0" smtClean="0"/>
              <a:t>平，将</a:t>
            </a:r>
            <a:r>
              <a:rPr lang="zh-CN" altLang="en-US" dirty="0"/>
              <a:t>与门 </a:t>
            </a:r>
            <a:r>
              <a:rPr lang="en-US" altLang="zh-CN" dirty="0"/>
              <a:t>G </a:t>
            </a:r>
            <a:r>
              <a:rPr lang="zh-CN" altLang="en-US" dirty="0"/>
              <a:t>封</a:t>
            </a:r>
            <a:r>
              <a:rPr lang="zh-CN" altLang="en-US" dirty="0" smtClean="0"/>
              <a:t>锁，停</a:t>
            </a:r>
            <a:r>
              <a:rPr lang="zh-CN" altLang="en-US" dirty="0"/>
              <a:t>止计</a:t>
            </a:r>
            <a:r>
              <a:rPr lang="zh-CN" altLang="en-US" dirty="0" smtClean="0"/>
              <a:t>数，转</a:t>
            </a:r>
            <a:r>
              <a:rPr lang="zh-CN" altLang="en-US" dirty="0"/>
              <a:t>换结束。积分器的输出电压为</a:t>
            </a:r>
            <a:endParaRPr lang="zh-CN" altLang="zh-CN" dirty="0"/>
          </a:p>
        </p:txBody>
      </p:sp>
      <p:sp>
        <p:nvSpPr>
          <p:cNvPr id="43827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3284984"/>
            <a:ext cx="4324954" cy="2429214"/>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8304" y="4128064"/>
            <a:ext cx="895475" cy="371527"/>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r>
              <a:rPr lang="en-US" altLang="zh-CN" dirty="0" smtClean="0"/>
              <a:t/>
            </a:r>
            <a:br>
              <a:rPr lang="en-US" altLang="zh-CN" dirty="0" smtClean="0"/>
            </a:br>
            <a:r>
              <a:rPr lang="zh-CN" altLang="en-US" dirty="0" smtClean="0"/>
              <a:t>即</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a:t>可</a:t>
            </a:r>
            <a:r>
              <a:rPr lang="zh-CN" altLang="en-US" dirty="0" smtClean="0"/>
              <a:t>见，反</a:t>
            </a:r>
            <a:r>
              <a:rPr lang="zh-CN" altLang="en-US" dirty="0"/>
              <a:t>向积分到 </a:t>
            </a:r>
            <a:r>
              <a:rPr lang="en-US" altLang="zh-CN" i="1" dirty="0"/>
              <a:t>u </a:t>
            </a:r>
            <a:r>
              <a:rPr lang="en-US" altLang="zh-CN" i="1" baseline="-25000" dirty="0"/>
              <a:t>o</a:t>
            </a:r>
            <a:r>
              <a:rPr lang="en-US" altLang="zh-CN" i="1" dirty="0"/>
              <a:t> </a:t>
            </a:r>
            <a:r>
              <a:rPr lang="en-US" altLang="zh-CN" dirty="0" smtClean="0"/>
              <a:t>=</a:t>
            </a:r>
            <a:r>
              <a:rPr lang="en-US" altLang="zh-CN" dirty="0"/>
              <a:t>0 </a:t>
            </a:r>
            <a:r>
              <a:rPr lang="zh-CN" altLang="en-US" dirty="0"/>
              <a:t>的时间 </a:t>
            </a:r>
            <a:r>
              <a:rPr lang="en-US" altLang="zh-CN" dirty="0"/>
              <a:t>T 2 </a:t>
            </a:r>
            <a:r>
              <a:rPr lang="zh-CN" altLang="en-US" dirty="0"/>
              <a:t>与输入信号 </a:t>
            </a:r>
            <a:r>
              <a:rPr lang="en-US" altLang="zh-CN" i="1" dirty="0"/>
              <a:t>u </a:t>
            </a:r>
            <a:r>
              <a:rPr lang="en-US" altLang="zh-CN" i="1" baseline="-25000" dirty="0"/>
              <a:t>i</a:t>
            </a:r>
            <a:r>
              <a:rPr lang="zh-CN" altLang="en-US" dirty="0" smtClean="0"/>
              <a:t>成</a:t>
            </a:r>
            <a:r>
              <a:rPr lang="zh-CN" altLang="en-US" dirty="0"/>
              <a:t>正比。在 </a:t>
            </a:r>
            <a:r>
              <a:rPr lang="en-US" altLang="zh-CN" i="1" dirty="0"/>
              <a:t>T </a:t>
            </a:r>
            <a:r>
              <a:rPr lang="en-US" altLang="zh-CN" i="1" baseline="-25000" dirty="0"/>
              <a:t>2</a:t>
            </a:r>
            <a:r>
              <a:rPr lang="en-US" altLang="zh-CN" i="1" dirty="0"/>
              <a:t> </a:t>
            </a:r>
            <a:r>
              <a:rPr lang="zh-CN" altLang="en-US" dirty="0"/>
              <a:t>时间间隔</a:t>
            </a:r>
            <a:r>
              <a:rPr lang="zh-CN" altLang="en-US" dirty="0" smtClean="0"/>
              <a:t>内，计</a:t>
            </a:r>
            <a:r>
              <a:rPr lang="zh-CN" altLang="en-US" dirty="0"/>
              <a:t>数器所</a:t>
            </a:r>
            <a:r>
              <a:rPr lang="zh-CN" altLang="en-US" dirty="0" smtClean="0"/>
              <a:t>计的</a:t>
            </a:r>
            <a:r>
              <a:rPr lang="zh-CN" altLang="en-US" dirty="0"/>
              <a:t>脉冲数 </a:t>
            </a:r>
            <a:r>
              <a:rPr lang="en-US" altLang="zh-CN" dirty="0"/>
              <a:t>D </a:t>
            </a:r>
            <a:r>
              <a:rPr lang="zh-CN" altLang="en-US" dirty="0" smtClean="0"/>
              <a:t>为</a:t>
            </a:r>
            <a:r>
              <a:rPr lang="en-US" altLang="zh-CN" dirty="0" smtClean="0"/>
              <a:t/>
            </a:r>
            <a:br>
              <a:rPr lang="en-US" altLang="zh-CN" dirty="0" smtClean="0"/>
            </a:br>
            <a:r>
              <a:rPr lang="en-US" altLang="zh-CN" dirty="0"/>
              <a:t/>
            </a:r>
            <a:br>
              <a:rPr lang="en-US" altLang="zh-CN" dirty="0"/>
            </a:br>
            <a:r>
              <a:rPr lang="en-US" altLang="zh-CN" dirty="0" smtClean="0"/>
              <a:t/>
            </a:r>
            <a:br>
              <a:rPr lang="en-US" altLang="zh-CN" dirty="0" smtClean="0"/>
            </a:br>
            <a:r>
              <a:rPr lang="zh-CN" altLang="en-US" dirty="0"/>
              <a:t>　　由上式可</a:t>
            </a:r>
            <a:r>
              <a:rPr lang="zh-CN" altLang="en-US" dirty="0" smtClean="0"/>
              <a:t>见，计</a:t>
            </a:r>
            <a:r>
              <a:rPr lang="zh-CN" altLang="en-US" dirty="0"/>
              <a:t>数器记录的脉冲数 </a:t>
            </a:r>
            <a:r>
              <a:rPr lang="en-US" altLang="zh-CN" dirty="0"/>
              <a:t>D </a:t>
            </a:r>
            <a:r>
              <a:rPr lang="zh-CN" altLang="en-US" dirty="0"/>
              <a:t>与输入电压 </a:t>
            </a:r>
            <a:r>
              <a:rPr lang="en-US" altLang="zh-CN" i="1" dirty="0"/>
              <a:t>u </a:t>
            </a:r>
            <a:r>
              <a:rPr lang="en-US" altLang="zh-CN" i="1" baseline="-25000" dirty="0"/>
              <a:t>i</a:t>
            </a:r>
            <a:r>
              <a:rPr lang="en-US" altLang="zh-CN" dirty="0" smtClean="0"/>
              <a:t> </a:t>
            </a:r>
            <a:r>
              <a:rPr lang="zh-CN" altLang="en-US" dirty="0"/>
              <a:t>成正</a:t>
            </a:r>
            <a:r>
              <a:rPr lang="zh-CN" altLang="en-US" dirty="0" smtClean="0"/>
              <a:t>比，计</a:t>
            </a:r>
            <a:r>
              <a:rPr lang="zh-CN" altLang="en-US" dirty="0"/>
              <a:t>数器记录 </a:t>
            </a:r>
            <a:r>
              <a:rPr lang="en-US" altLang="zh-CN" dirty="0" smtClean="0"/>
              <a:t>D</a:t>
            </a:r>
            <a:r>
              <a:rPr lang="zh-CN" altLang="en-US" dirty="0" smtClean="0"/>
              <a:t>个</a:t>
            </a:r>
            <a:r>
              <a:rPr lang="zh-CN" altLang="en-US" dirty="0"/>
              <a:t>脉冲后的</a:t>
            </a:r>
            <a:r>
              <a:rPr lang="zh-CN" altLang="en-US" dirty="0" smtClean="0"/>
              <a:t>状态</a:t>
            </a:r>
            <a:r>
              <a:rPr lang="zh-CN" altLang="en-US" dirty="0"/>
              <a:t>就表示了 </a:t>
            </a:r>
            <a:r>
              <a:rPr lang="en-US" altLang="zh-CN" i="1" dirty="0"/>
              <a:t>u </a:t>
            </a:r>
            <a:r>
              <a:rPr lang="en-US" altLang="zh-CN" i="1" baseline="-25000" dirty="0"/>
              <a:t>i</a:t>
            </a:r>
            <a:r>
              <a:rPr lang="en-US" altLang="zh-CN" dirty="0" smtClean="0"/>
              <a:t> </a:t>
            </a:r>
            <a:r>
              <a:rPr lang="zh-CN" altLang="en-US" dirty="0"/>
              <a:t>的数字量的二进制代</a:t>
            </a:r>
            <a:r>
              <a:rPr lang="zh-CN" altLang="en-US" dirty="0" smtClean="0"/>
              <a:t>码，实</a:t>
            </a:r>
            <a:r>
              <a:rPr lang="zh-CN" altLang="en-US" dirty="0"/>
              <a:t>现了 </a:t>
            </a:r>
            <a:r>
              <a:rPr lang="en-US" altLang="zh-CN" dirty="0" smtClean="0"/>
              <a:t>A/ </a:t>
            </a:r>
            <a:r>
              <a:rPr lang="en-US" altLang="zh-CN" dirty="0"/>
              <a:t>D </a:t>
            </a:r>
            <a:r>
              <a:rPr lang="zh-CN" altLang="en-US" dirty="0"/>
              <a:t>转换。</a:t>
            </a:r>
            <a:endParaRPr lang="zh-CN" altLang="zh-CN" dirty="0"/>
          </a:p>
        </p:txBody>
      </p:sp>
      <p:sp>
        <p:nvSpPr>
          <p:cNvPr id="439299" name="Rectangle 3"/>
          <p:cNvSpPr>
            <a:spLocks noGrp="1" noChangeArrowheads="1"/>
          </p:cNvSpPr>
          <p:nvPr>
            <p:ph type="body" idx="1"/>
          </p:nvPr>
        </p:nvSpPr>
        <p:spPr/>
        <p:txBody>
          <a:bodyPr/>
          <a:lstStyle/>
          <a:p>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1340767"/>
            <a:ext cx="2232248" cy="1008113"/>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7678" y="3394903"/>
            <a:ext cx="2505425" cy="866896"/>
          </a:xfrm>
          <a:prstGeom prst="rect">
            <a:avLst/>
          </a:prstGeom>
        </p:spPr>
      </p:pic>
      <p:pic>
        <p:nvPicPr>
          <p:cNvPr id="5" name="图片 4"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6216" y="1663822"/>
            <a:ext cx="885949" cy="362001"/>
          </a:xfrm>
          <a:prstGeom prst="rect">
            <a:avLst/>
          </a:prstGeom>
        </p:spPr>
      </p:pic>
      <p:pic>
        <p:nvPicPr>
          <p:cNvPr id="6" name="图片 5"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04248" y="3628298"/>
            <a:ext cx="943107" cy="40010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双积分型 </a:t>
            </a:r>
            <a:r>
              <a:rPr lang="en-US" altLang="zh-CN" dirty="0"/>
              <a:t>A / D </a:t>
            </a:r>
            <a:r>
              <a:rPr lang="zh-CN" altLang="en-US" dirty="0"/>
              <a:t>转换器最突出的优点是工作性能比较稳定。由于每次转换用同一积</a:t>
            </a:r>
            <a:r>
              <a:rPr lang="zh-CN" altLang="en-US" dirty="0" smtClean="0"/>
              <a:t>分器</a:t>
            </a:r>
            <a:r>
              <a:rPr lang="zh-CN" altLang="en-US" dirty="0"/>
              <a:t>进行两次积</a:t>
            </a:r>
            <a:r>
              <a:rPr lang="zh-CN" altLang="en-US" dirty="0" smtClean="0"/>
              <a:t>分，转</a:t>
            </a:r>
            <a:r>
              <a:rPr lang="zh-CN" altLang="en-US" dirty="0"/>
              <a:t>换结果与 </a:t>
            </a:r>
            <a:r>
              <a:rPr lang="en-US" altLang="zh-CN" dirty="0"/>
              <a:t>R </a:t>
            </a:r>
            <a:r>
              <a:rPr lang="zh-CN" altLang="en-US" dirty="0"/>
              <a:t>、 </a:t>
            </a:r>
            <a:r>
              <a:rPr lang="en-US" altLang="zh-CN" dirty="0"/>
              <a:t>C </a:t>
            </a:r>
            <a:r>
              <a:rPr lang="zh-CN" altLang="en-US" dirty="0"/>
              <a:t>的参数无</a:t>
            </a:r>
            <a:r>
              <a:rPr lang="zh-CN" altLang="en-US" dirty="0" smtClean="0"/>
              <a:t>关，因此，</a:t>
            </a:r>
            <a:r>
              <a:rPr lang="en-US" altLang="zh-CN" dirty="0" smtClean="0"/>
              <a:t> </a:t>
            </a:r>
            <a:r>
              <a:rPr lang="en-US" altLang="zh-CN" dirty="0"/>
              <a:t>R </a:t>
            </a:r>
            <a:r>
              <a:rPr lang="zh-CN" altLang="en-US" dirty="0"/>
              <a:t>、 </a:t>
            </a:r>
            <a:r>
              <a:rPr lang="en-US" altLang="zh-CN" dirty="0"/>
              <a:t>C </a:t>
            </a:r>
            <a:r>
              <a:rPr lang="zh-CN" altLang="en-US" dirty="0"/>
              <a:t>参数的缓慢变化不影响电</a:t>
            </a:r>
            <a:r>
              <a:rPr lang="zh-CN" altLang="en-US" dirty="0" smtClean="0"/>
              <a:t>路的</a:t>
            </a:r>
            <a:r>
              <a:rPr lang="zh-CN" altLang="en-US" dirty="0"/>
              <a:t>转换精</a:t>
            </a:r>
            <a:r>
              <a:rPr lang="zh-CN" altLang="en-US" dirty="0" smtClean="0"/>
              <a:t>度，而</a:t>
            </a:r>
            <a:r>
              <a:rPr lang="zh-CN" altLang="en-US" dirty="0"/>
              <a:t>且也不要求 </a:t>
            </a:r>
            <a:r>
              <a:rPr lang="en-US" altLang="zh-CN" dirty="0"/>
              <a:t>R </a:t>
            </a:r>
            <a:r>
              <a:rPr lang="zh-CN" altLang="en-US" dirty="0"/>
              <a:t>、 </a:t>
            </a:r>
            <a:r>
              <a:rPr lang="en-US" altLang="zh-CN" dirty="0"/>
              <a:t>C </a:t>
            </a:r>
            <a:r>
              <a:rPr lang="zh-CN" altLang="en-US" dirty="0"/>
              <a:t>的数值十分准确。式</a:t>
            </a:r>
            <a:r>
              <a:rPr lang="en-US" altLang="zh-CN" dirty="0"/>
              <a:t>( </a:t>
            </a:r>
            <a:r>
              <a:rPr lang="en-US" altLang="zh-CN" dirty="0" smtClean="0"/>
              <a:t>8.3</a:t>
            </a:r>
            <a:r>
              <a:rPr lang="en-US" altLang="zh-CN" dirty="0"/>
              <a:t>. 6 )</a:t>
            </a:r>
            <a:r>
              <a:rPr lang="zh-CN" altLang="en-US" dirty="0"/>
              <a:t>和式</a:t>
            </a:r>
            <a:r>
              <a:rPr lang="en-US" altLang="zh-CN" dirty="0"/>
              <a:t>( 8. 3. 8 )</a:t>
            </a:r>
            <a:r>
              <a:rPr lang="zh-CN" altLang="en-US" dirty="0"/>
              <a:t>还说</a:t>
            </a:r>
            <a:r>
              <a:rPr lang="zh-CN" altLang="en-US" dirty="0" smtClean="0"/>
              <a:t>明，在</a:t>
            </a:r>
            <a:r>
              <a:rPr lang="zh-CN" altLang="en-US" dirty="0"/>
              <a:t>取 </a:t>
            </a:r>
            <a:r>
              <a:rPr lang="en-US" altLang="zh-CN" i="1" dirty="0"/>
              <a:t>T </a:t>
            </a:r>
            <a:r>
              <a:rPr lang="en-US" altLang="zh-CN" i="1" baseline="-25000" dirty="0" smtClean="0"/>
              <a:t>1</a:t>
            </a:r>
            <a:r>
              <a:rPr lang="en-US" altLang="zh-CN" dirty="0" smtClean="0"/>
              <a:t>= </a:t>
            </a:r>
            <a:r>
              <a:rPr lang="en-US" altLang="zh-CN" i="1" dirty="0"/>
              <a:t>NT </a:t>
            </a:r>
            <a:r>
              <a:rPr lang="en-US" altLang="zh-CN" i="1" baseline="-25000" dirty="0"/>
              <a:t>CP</a:t>
            </a:r>
            <a:r>
              <a:rPr lang="en-US" altLang="zh-CN" i="1" dirty="0"/>
              <a:t> </a:t>
            </a:r>
            <a:r>
              <a:rPr lang="zh-CN" altLang="en-US" dirty="0"/>
              <a:t>的情况</a:t>
            </a:r>
            <a:r>
              <a:rPr lang="zh-CN" altLang="en-US" dirty="0" smtClean="0"/>
              <a:t>下，转</a:t>
            </a:r>
            <a:r>
              <a:rPr lang="zh-CN" altLang="en-US" dirty="0"/>
              <a:t>换结果与时钟信号周期无关。只要每次转换过程中 </a:t>
            </a:r>
            <a:r>
              <a:rPr lang="en-US" altLang="zh-CN" i="1" dirty="0"/>
              <a:t>T </a:t>
            </a:r>
            <a:r>
              <a:rPr lang="en-US" altLang="zh-CN" i="1" baseline="-25000" dirty="0"/>
              <a:t>CP</a:t>
            </a:r>
            <a:r>
              <a:rPr lang="en-US" altLang="zh-CN" i="1" dirty="0"/>
              <a:t> </a:t>
            </a:r>
            <a:r>
              <a:rPr lang="zh-CN" altLang="en-US" dirty="0"/>
              <a:t>不</a:t>
            </a:r>
            <a:r>
              <a:rPr lang="zh-CN" altLang="en-US" dirty="0" smtClean="0"/>
              <a:t>变，那</a:t>
            </a:r>
            <a:r>
              <a:rPr lang="zh-CN" altLang="en-US" dirty="0"/>
              <a:t>么</a:t>
            </a:r>
            <a:r>
              <a:rPr lang="zh-CN" altLang="en-US" dirty="0" smtClean="0"/>
              <a:t>时钟</a:t>
            </a:r>
            <a:r>
              <a:rPr lang="zh-CN" altLang="en-US" dirty="0"/>
              <a:t>周期在长时间内发生缓慢变化不会带来转换误差。</a:t>
            </a:r>
            <a:endParaRPr lang="zh-CN" altLang="zh-CN" dirty="0"/>
          </a:p>
        </p:txBody>
      </p:sp>
      <p:sp>
        <p:nvSpPr>
          <p:cNvPr id="4403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双积分型 </a:t>
            </a:r>
            <a:r>
              <a:rPr lang="en-US" altLang="zh-CN" dirty="0"/>
              <a:t>A / D </a:t>
            </a:r>
            <a:r>
              <a:rPr lang="zh-CN" altLang="en-US" dirty="0"/>
              <a:t>转换器的另一个优点是抗干扰能力比较强。因为转换器的输入端使</a:t>
            </a:r>
            <a:r>
              <a:rPr lang="zh-CN" altLang="en-US" dirty="0" smtClean="0"/>
              <a:t>用了</a:t>
            </a:r>
            <a:r>
              <a:rPr lang="zh-CN" altLang="en-US" dirty="0"/>
              <a:t>积分</a:t>
            </a:r>
            <a:r>
              <a:rPr lang="zh-CN" altLang="en-US" dirty="0" smtClean="0"/>
              <a:t>器，所</a:t>
            </a:r>
            <a:r>
              <a:rPr lang="zh-CN" altLang="en-US" dirty="0"/>
              <a:t>以对平均值为零的各种噪声有很强的抑制能力。</a:t>
            </a:r>
            <a:br>
              <a:rPr lang="zh-CN" altLang="en-US" dirty="0"/>
            </a:br>
            <a:r>
              <a:rPr lang="zh-CN" altLang="en-US" dirty="0" smtClean="0"/>
              <a:t>　　双</a:t>
            </a:r>
            <a:r>
              <a:rPr lang="zh-CN" altLang="en-US" dirty="0"/>
              <a:t>积分型 </a:t>
            </a:r>
            <a:r>
              <a:rPr lang="en-US" altLang="zh-CN" dirty="0"/>
              <a:t>A / D </a:t>
            </a:r>
            <a:r>
              <a:rPr lang="zh-CN" altLang="en-US" dirty="0"/>
              <a:t>转换器的主要缺点是工作速度</a:t>
            </a:r>
            <a:r>
              <a:rPr lang="zh-CN" altLang="en-US" dirty="0" smtClean="0"/>
              <a:t>低，其</a:t>
            </a:r>
            <a:r>
              <a:rPr lang="zh-CN" altLang="en-US" dirty="0"/>
              <a:t>转换速度一般为几十毫秒左右。</a:t>
            </a:r>
            <a:r>
              <a:rPr lang="zh-CN" altLang="en-US" dirty="0" smtClean="0"/>
              <a:t>尽管</a:t>
            </a:r>
            <a:r>
              <a:rPr lang="zh-CN" altLang="en-US" dirty="0"/>
              <a:t>如</a:t>
            </a:r>
            <a:r>
              <a:rPr lang="zh-CN" altLang="en-US" dirty="0" smtClean="0"/>
              <a:t>此，在</a:t>
            </a:r>
            <a:r>
              <a:rPr lang="zh-CN" altLang="en-US" dirty="0"/>
              <a:t>速度要求不高的场</a:t>
            </a:r>
            <a:r>
              <a:rPr lang="zh-CN" altLang="en-US" dirty="0" smtClean="0"/>
              <a:t>合，双</a:t>
            </a:r>
            <a:r>
              <a:rPr lang="zh-CN" altLang="en-US" dirty="0"/>
              <a:t>积分型 </a:t>
            </a:r>
            <a:r>
              <a:rPr lang="en-US" altLang="zh-CN" dirty="0"/>
              <a:t>A / D </a:t>
            </a:r>
            <a:r>
              <a:rPr lang="zh-CN" altLang="en-US" dirty="0"/>
              <a:t>转换器的应用仍然十分广泛。</a:t>
            </a:r>
            <a:endParaRPr lang="zh-CN" altLang="zh-CN" dirty="0"/>
          </a:p>
        </p:txBody>
      </p:sp>
      <p:sp>
        <p:nvSpPr>
          <p:cNvPr id="4413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42370" name="Rectangle 2"/>
              <p:cNvSpPr>
                <a:spLocks noGrp="1" noChangeArrowheads="1"/>
              </p:cNvSpPr>
              <p:nvPr>
                <p:ph type="title"/>
              </p:nvPr>
            </p:nvSpPr>
            <p:spPr/>
            <p:txBody>
              <a:bodyPr/>
              <a:lstStyle/>
              <a:p>
                <a:r>
                  <a:rPr lang="en-US" altLang="zh-CN" dirty="0"/>
                  <a:t/>
                </a:r>
                <a:br>
                  <a:rPr lang="en-US" altLang="zh-CN" dirty="0"/>
                </a:br>
                <a:r>
                  <a:rPr lang="en-US" altLang="zh-CN" b="1" dirty="0"/>
                  <a:t>8. 3. 3 A / D </a:t>
                </a:r>
                <a:r>
                  <a:rPr lang="zh-CN" altLang="en-US" b="1" dirty="0"/>
                  <a:t>转换器的主要技术指标</a:t>
                </a:r>
                <a:br>
                  <a:rPr lang="zh-CN" altLang="en-US" b="1" dirty="0"/>
                </a:br>
                <a:r>
                  <a:rPr lang="zh-CN" altLang="en-US" b="1" dirty="0" smtClean="0"/>
                  <a:t>　</a:t>
                </a:r>
                <a:r>
                  <a:rPr lang="en-US" altLang="zh-CN" b="1" dirty="0" smtClean="0"/>
                  <a:t>1</a:t>
                </a:r>
                <a:r>
                  <a:rPr lang="en-US" altLang="zh-CN" b="1" dirty="0"/>
                  <a:t>. </a:t>
                </a:r>
                <a:r>
                  <a:rPr lang="zh-CN" altLang="en-US" b="1" dirty="0"/>
                  <a:t>分辨率</a:t>
                </a:r>
                <a:br>
                  <a:rPr lang="zh-CN" altLang="en-US" b="1" dirty="0"/>
                </a:br>
                <a:r>
                  <a:rPr lang="zh-CN" altLang="en-US" b="1" dirty="0" smtClean="0"/>
                  <a:t>　　</a:t>
                </a:r>
                <a:r>
                  <a:rPr lang="zh-CN" altLang="en-US" dirty="0" smtClean="0"/>
                  <a:t>分</a:t>
                </a:r>
                <a:r>
                  <a:rPr lang="zh-CN" altLang="en-US" dirty="0"/>
                  <a:t>辨率指 </a:t>
                </a:r>
                <a:r>
                  <a:rPr lang="en-US" altLang="zh-CN" dirty="0"/>
                  <a:t>A / D </a:t>
                </a:r>
                <a:r>
                  <a:rPr lang="zh-CN" altLang="en-US" dirty="0"/>
                  <a:t>转换器对输入模拟信号的分辨能力。从理论上</a:t>
                </a:r>
                <a:r>
                  <a:rPr lang="zh-CN" altLang="en-US" dirty="0" smtClean="0"/>
                  <a:t>讲，一</a:t>
                </a:r>
                <a:r>
                  <a:rPr lang="zh-CN" altLang="en-US" dirty="0"/>
                  <a:t>个 </a:t>
                </a:r>
                <a:r>
                  <a:rPr lang="en-US" altLang="zh-CN" dirty="0"/>
                  <a:t>n </a:t>
                </a:r>
                <a:r>
                  <a:rPr lang="zh-CN" altLang="en-US" dirty="0"/>
                  <a:t>位二进制</a:t>
                </a:r>
                <a:r>
                  <a:rPr lang="zh-CN" altLang="en-US" dirty="0" smtClean="0"/>
                  <a:t>数输</a:t>
                </a:r>
                <a:r>
                  <a:rPr lang="zh-CN" altLang="en-US" dirty="0"/>
                  <a:t>出的 </a:t>
                </a:r>
                <a:r>
                  <a:rPr lang="en-US" altLang="zh-CN" dirty="0"/>
                  <a:t>A / D </a:t>
                </a:r>
                <a:r>
                  <a:rPr lang="zh-CN" altLang="en-US" dirty="0"/>
                  <a:t>转换器应能区分输入模拟电压的 </a:t>
                </a:r>
                <a:r>
                  <a:rPr lang="en-US" altLang="zh-CN" dirty="0" smtClean="0"/>
                  <a:t>2</a:t>
                </a:r>
                <a:r>
                  <a:rPr lang="en-US" altLang="zh-CN" baseline="30000" dirty="0"/>
                  <a:t>n</a:t>
                </a:r>
                <a:r>
                  <a:rPr lang="zh-CN" altLang="en-US" dirty="0" smtClean="0"/>
                  <a:t>个</a:t>
                </a:r>
                <a:r>
                  <a:rPr lang="zh-CN" altLang="en-US" dirty="0"/>
                  <a:t>不同量</a:t>
                </a:r>
                <a:r>
                  <a:rPr lang="zh-CN" altLang="en-US" dirty="0" smtClean="0"/>
                  <a:t>级，能</a:t>
                </a:r>
                <a:r>
                  <a:rPr lang="zh-CN" altLang="en-US" dirty="0"/>
                  <a:t>区分输入模拟电压的最</a:t>
                </a:r>
                <a:r>
                  <a:rPr lang="zh-CN" altLang="en-US" dirty="0" smtClean="0"/>
                  <a:t>小差</a:t>
                </a:r>
                <a:r>
                  <a:rPr lang="zh-CN" altLang="en-US" dirty="0"/>
                  <a:t>异 </a:t>
                </a:r>
                <a14:m>
                  <m:oMath xmlns:m="http://schemas.openxmlformats.org/officeDocument/2006/math">
                    <m:f>
                      <m:fPr>
                        <m:ctrlPr>
                          <a:rPr lang="en-US" altLang="zh-CN" i="1" smtClean="0">
                            <a:latin typeface="Cambria Math"/>
                          </a:rPr>
                        </m:ctrlPr>
                      </m:fPr>
                      <m:num>
                        <m:r>
                          <m:rPr>
                            <m:nor/>
                          </m:rPr>
                          <a:rPr lang="en-US" altLang="zh-CN" dirty="0"/>
                          <m:t>1</m:t>
                        </m:r>
                      </m:num>
                      <m:den>
                        <m:r>
                          <m:rPr>
                            <m:nor/>
                          </m:rPr>
                          <a:rPr lang="en-US" altLang="zh-CN" dirty="0"/>
                          <m:t>2</m:t>
                        </m:r>
                        <m:r>
                          <m:rPr>
                            <m:nor/>
                          </m:rPr>
                          <a:rPr lang="en-US" altLang="zh-CN" baseline="30000" dirty="0"/>
                          <m:t>n</m:t>
                        </m:r>
                      </m:den>
                    </m:f>
                  </m:oMath>
                </a14:m>
                <a:r>
                  <a:rPr lang="en-US" altLang="zh-CN" dirty="0" smtClean="0"/>
                  <a:t> </a:t>
                </a:r>
                <a:r>
                  <a:rPr lang="en-US" altLang="zh-CN" dirty="0"/>
                  <a:t>FSR (</a:t>
                </a:r>
                <a:r>
                  <a:rPr lang="zh-CN" altLang="en-US" dirty="0"/>
                  <a:t>满量程输入的 </a:t>
                </a:r>
                <a:r>
                  <a:rPr lang="en-US" altLang="zh-CN" dirty="0" smtClean="0"/>
                  <a:t>1/ 2</a:t>
                </a:r>
                <a:r>
                  <a:rPr lang="en-US" altLang="zh-CN" baseline="30000" dirty="0"/>
                  <a:t>n</a:t>
                </a:r>
                <a:r>
                  <a:rPr lang="en-US" altLang="zh-CN" dirty="0" smtClean="0"/>
                  <a:t> </a:t>
                </a:r>
                <a:r>
                  <a:rPr lang="en-US" altLang="zh-CN" dirty="0"/>
                  <a:t>)</a:t>
                </a:r>
                <a:r>
                  <a:rPr lang="zh-CN" altLang="en-US" dirty="0"/>
                  <a:t>。例</a:t>
                </a:r>
                <a:r>
                  <a:rPr lang="zh-CN" altLang="en-US" dirty="0" smtClean="0"/>
                  <a:t>如，</a:t>
                </a:r>
                <a:r>
                  <a:rPr lang="en-US" altLang="zh-CN" dirty="0" smtClean="0"/>
                  <a:t>A </a:t>
                </a:r>
                <a:r>
                  <a:rPr lang="en-US" altLang="zh-CN" dirty="0"/>
                  <a:t>/ D </a:t>
                </a:r>
                <a:r>
                  <a:rPr lang="zh-CN" altLang="en-US" dirty="0"/>
                  <a:t>转换器的输出为 </a:t>
                </a:r>
                <a:r>
                  <a:rPr lang="en-US" altLang="zh-CN" dirty="0"/>
                  <a:t>10 </a:t>
                </a:r>
                <a:r>
                  <a:rPr lang="zh-CN" altLang="en-US" dirty="0"/>
                  <a:t>位二进制</a:t>
                </a:r>
                <a:r>
                  <a:rPr lang="zh-CN" altLang="en-US" dirty="0" smtClean="0"/>
                  <a:t>数，最</a:t>
                </a:r>
                <a:r>
                  <a:rPr lang="zh-CN" altLang="en-US" dirty="0"/>
                  <a:t>大输</a:t>
                </a:r>
                <a:r>
                  <a:rPr lang="zh-CN" altLang="en-US" dirty="0" smtClean="0"/>
                  <a:t>入信</a:t>
                </a:r>
                <a:r>
                  <a:rPr lang="zh-CN" altLang="en-US" dirty="0"/>
                  <a:t>号为 </a:t>
                </a:r>
                <a:r>
                  <a:rPr lang="en-US" altLang="zh-CN" dirty="0"/>
                  <a:t>5V </a:t>
                </a:r>
                <a:r>
                  <a:rPr lang="zh-CN" altLang="en-US" dirty="0" smtClean="0"/>
                  <a:t>，则</a:t>
                </a:r>
                <a:r>
                  <a:rPr lang="zh-CN" altLang="en-US" dirty="0"/>
                  <a:t>其分辨率为</a:t>
                </a:r>
                <a:endParaRPr lang="zh-CN" altLang="zh-CN" dirty="0"/>
              </a:p>
            </p:txBody>
          </p:sp>
        </mc:Choice>
        <mc:Fallback>
          <p:sp>
            <p:nvSpPr>
              <p:cNvPr id="442370"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601"/>
                </a:stretch>
              </a:blipFill>
            </p:spPr>
            <p:txBody>
              <a:bodyPr/>
              <a:lstStyle/>
              <a:p>
                <a:r>
                  <a:rPr lang="zh-CN" altLang="en-US">
                    <a:noFill/>
                  </a:rPr>
                  <a:t> </a:t>
                </a:r>
              </a:p>
            </p:txBody>
          </p:sp>
        </mc:Fallback>
      </mc:AlternateContent>
      <p:sp>
        <p:nvSpPr>
          <p:cNvPr id="44237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776" y="4797152"/>
            <a:ext cx="4032448" cy="865604"/>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dirty="0" smtClean="0"/>
              <a:t>　</a:t>
            </a:r>
            <a:r>
              <a:rPr lang="en-US" altLang="zh-CN" b="1" dirty="0"/>
              <a:t>2. </a:t>
            </a:r>
            <a:r>
              <a:rPr lang="zh-CN" altLang="en-US" b="1" dirty="0"/>
              <a:t>转换速度</a:t>
            </a:r>
            <a:br>
              <a:rPr lang="zh-CN" altLang="en-US" b="1" dirty="0"/>
            </a:br>
            <a:r>
              <a:rPr lang="zh-CN" altLang="en-US" b="1" dirty="0" smtClean="0"/>
              <a:t>　　</a:t>
            </a:r>
            <a:r>
              <a:rPr lang="zh-CN" altLang="en-US" dirty="0" smtClean="0"/>
              <a:t>转</a:t>
            </a:r>
            <a:r>
              <a:rPr lang="zh-CN" altLang="en-US" dirty="0"/>
              <a:t>换速度是指完成一次转换所需的时间。 </a:t>
            </a:r>
            <a:r>
              <a:rPr lang="en-US" altLang="zh-CN" dirty="0"/>
              <a:t>A / D </a:t>
            </a:r>
            <a:r>
              <a:rPr lang="zh-CN" altLang="en-US" dirty="0"/>
              <a:t>转换器的转换速度主要取决于转换电</a:t>
            </a:r>
            <a:r>
              <a:rPr lang="zh-CN" altLang="en-US" dirty="0" smtClean="0"/>
              <a:t>路的</a:t>
            </a:r>
            <a:r>
              <a:rPr lang="zh-CN" altLang="en-US" dirty="0"/>
              <a:t>类</a:t>
            </a:r>
            <a:r>
              <a:rPr lang="zh-CN" altLang="en-US" dirty="0" smtClean="0"/>
              <a:t>型，不</a:t>
            </a:r>
            <a:r>
              <a:rPr lang="zh-CN" altLang="en-US" dirty="0"/>
              <a:t>同类型 </a:t>
            </a:r>
            <a:r>
              <a:rPr lang="en-US" altLang="zh-CN" dirty="0"/>
              <a:t>A / D </a:t>
            </a:r>
            <a:r>
              <a:rPr lang="zh-CN" altLang="en-US" dirty="0"/>
              <a:t>转换器的转换速度相差很大。双积分型 </a:t>
            </a:r>
            <a:r>
              <a:rPr lang="en-US" altLang="zh-CN" dirty="0"/>
              <a:t>A / D </a:t>
            </a:r>
            <a:r>
              <a:rPr lang="zh-CN" altLang="en-US" dirty="0"/>
              <a:t>转换器的转换速度</a:t>
            </a:r>
            <a:r>
              <a:rPr lang="zh-CN" altLang="en-US" dirty="0" smtClean="0"/>
              <a:t>最慢，需</a:t>
            </a:r>
            <a:r>
              <a:rPr lang="zh-CN" altLang="en-US" dirty="0"/>
              <a:t>几十毫秒左右</a:t>
            </a:r>
            <a:r>
              <a:rPr lang="en-US" altLang="zh-CN" dirty="0"/>
              <a:t>;</a:t>
            </a:r>
            <a:r>
              <a:rPr lang="zh-CN" altLang="en-US" dirty="0"/>
              <a:t>逐次渐近型 </a:t>
            </a:r>
            <a:r>
              <a:rPr lang="en-US" altLang="zh-CN" dirty="0"/>
              <a:t>A / D </a:t>
            </a:r>
            <a:r>
              <a:rPr lang="zh-CN" altLang="en-US" dirty="0"/>
              <a:t>转换器的转换速度较</a:t>
            </a:r>
            <a:r>
              <a:rPr lang="zh-CN" altLang="en-US" dirty="0" smtClean="0"/>
              <a:t>快，转</a:t>
            </a:r>
            <a:r>
              <a:rPr lang="zh-CN" altLang="en-US" dirty="0"/>
              <a:t>换速度为几十微秒</a:t>
            </a:r>
            <a:r>
              <a:rPr lang="en-US" altLang="zh-CN" dirty="0"/>
              <a:t>;</a:t>
            </a:r>
            <a:r>
              <a:rPr lang="zh-CN" altLang="en-US" dirty="0" smtClean="0"/>
              <a:t>并联</a:t>
            </a:r>
            <a:r>
              <a:rPr lang="zh-CN" altLang="en-US" dirty="0"/>
              <a:t>型 </a:t>
            </a:r>
            <a:r>
              <a:rPr lang="en-US" altLang="zh-CN" dirty="0"/>
              <a:t>A / D </a:t>
            </a:r>
            <a:r>
              <a:rPr lang="zh-CN" altLang="en-US" dirty="0"/>
              <a:t>转换器的转换速度最</a:t>
            </a:r>
            <a:r>
              <a:rPr lang="zh-CN" altLang="en-US" dirty="0" smtClean="0"/>
              <a:t>快，仅</a:t>
            </a:r>
            <a:r>
              <a:rPr lang="zh-CN" altLang="en-US" dirty="0"/>
              <a:t>需几十纳秒。</a:t>
            </a:r>
            <a:endParaRPr lang="zh-CN" altLang="zh-CN" dirty="0"/>
          </a:p>
        </p:txBody>
      </p:sp>
      <p:sp>
        <p:nvSpPr>
          <p:cNvPr id="443395" name="Rectangle 3"/>
          <p:cNvSpPr>
            <a:spLocks noGrp="1" noChangeArrowheads="1"/>
          </p:cNvSpPr>
          <p:nvPr>
            <p:ph type="body" idx="1"/>
          </p:nvPr>
        </p:nvSpPr>
        <p:spPr/>
        <p:txBody>
          <a:bodyPr/>
          <a:lstStyle/>
          <a:p>
            <a:endParaRPr lang="zh-CN" altLang="zh-CN"/>
          </a:p>
        </p:txBody>
      </p:sp>
      <p:pic>
        <p:nvPicPr>
          <p:cNvPr id="4" name="Picture 2" descr="H:\出版社\模板\课件素材\GIF动画插件1\GIF020.GIF">
            <a:hlinkClick r:id="rId2" action="ppaction://hlinksldjump"/>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394096" y="6294822"/>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a:xfrm>
            <a:off x="571500" y="533400"/>
            <a:ext cx="8115300" cy="1167408"/>
          </a:xfrm>
        </p:spPr>
        <p:txBody>
          <a:bodyPr/>
          <a:lstStyle/>
          <a:p>
            <a:pPr algn="ctr"/>
            <a:r>
              <a:rPr lang="en-US" altLang="zh-CN" sz="2600" b="1" dirty="0" smtClean="0"/>
              <a:t/>
            </a:r>
            <a:br>
              <a:rPr lang="en-US" altLang="zh-CN" sz="2600" b="1" dirty="0" smtClean="0"/>
            </a:br>
            <a:r>
              <a:rPr lang="zh-CN" altLang="en-US" sz="2600" b="1" dirty="0"/>
              <a:t>习 题</a:t>
            </a:r>
            <a:endParaRPr lang="zh-CN" altLang="zh-CN" sz="2600" b="1" dirty="0"/>
          </a:p>
        </p:txBody>
      </p:sp>
      <p:sp>
        <p:nvSpPr>
          <p:cNvPr id="444419"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723900" y="1853208"/>
            <a:ext cx="8115300" cy="438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r>
              <a:rPr lang="en-US" altLang="zh-CN" dirty="0"/>
              <a:t/>
            </a:r>
            <a:br>
              <a:rPr lang="en-US" altLang="zh-CN" dirty="0"/>
            </a:br>
            <a:r>
              <a:rPr lang="zh-CN" altLang="en-US" dirty="0" smtClean="0"/>
              <a:t>　　</a:t>
            </a:r>
            <a:r>
              <a:rPr lang="en-US" altLang="zh-CN" dirty="0" smtClean="0"/>
              <a:t>8</a:t>
            </a:r>
            <a:r>
              <a:rPr lang="zh-CN" altLang="en-US" dirty="0" smtClean="0"/>
              <a:t>－</a:t>
            </a:r>
            <a:r>
              <a:rPr lang="en-US" altLang="zh-CN" dirty="0" smtClean="0"/>
              <a:t>1  </a:t>
            </a:r>
            <a:r>
              <a:rPr lang="zh-CN" altLang="en-US" dirty="0"/>
              <a:t>在权电阻网络 </a:t>
            </a:r>
            <a:r>
              <a:rPr lang="en-US" altLang="zh-CN" dirty="0"/>
              <a:t>DAC </a:t>
            </a:r>
            <a:r>
              <a:rPr lang="zh-CN" altLang="en-US" dirty="0" smtClean="0"/>
              <a:t>中，如果</a:t>
            </a:r>
            <a:endParaRPr lang="en-US" altLang="zh-CN" dirty="0" smtClean="0"/>
          </a:p>
          <a:p>
            <a:endParaRPr lang="en-US" altLang="zh-CN" dirty="0"/>
          </a:p>
          <a:p>
            <a:endParaRPr lang="en-US" altLang="zh-CN" dirty="0" smtClean="0"/>
          </a:p>
          <a:p>
            <a:r>
              <a:rPr lang="zh-CN" altLang="en-US" dirty="0" smtClean="0"/>
              <a:t>　　</a:t>
            </a:r>
            <a:r>
              <a:rPr lang="en-US" altLang="zh-CN" dirty="0" smtClean="0"/>
              <a:t>(1)</a:t>
            </a:r>
            <a:r>
              <a:rPr lang="zh-CN" altLang="en-US" dirty="0"/>
              <a:t>当 </a:t>
            </a:r>
            <a:r>
              <a:rPr lang="en-US" altLang="zh-CN" dirty="0"/>
              <a:t>LSB </a:t>
            </a:r>
            <a:r>
              <a:rPr lang="zh-CN" altLang="en-US" dirty="0"/>
              <a:t>由 </a:t>
            </a:r>
            <a:r>
              <a:rPr lang="en-US" altLang="zh-CN" dirty="0"/>
              <a:t>0 </a:t>
            </a:r>
            <a:r>
              <a:rPr lang="zh-CN" altLang="en-US" dirty="0"/>
              <a:t>变为 </a:t>
            </a:r>
            <a:r>
              <a:rPr lang="en-US" altLang="zh-CN" dirty="0"/>
              <a:t>1 </a:t>
            </a:r>
            <a:r>
              <a:rPr lang="zh-CN" altLang="en-US" dirty="0" smtClean="0"/>
              <a:t>时，输</a:t>
            </a:r>
            <a:r>
              <a:rPr lang="zh-CN" altLang="en-US" dirty="0"/>
              <a:t>出电压的变化值。</a:t>
            </a:r>
          </a:p>
          <a:p>
            <a:r>
              <a:rPr lang="zh-CN" altLang="en-US" dirty="0" smtClean="0"/>
              <a:t>　　</a:t>
            </a:r>
            <a:r>
              <a:rPr lang="en-US" altLang="zh-CN" dirty="0" smtClean="0"/>
              <a:t>(2)</a:t>
            </a:r>
            <a:r>
              <a:rPr lang="zh-CN" altLang="en-US" dirty="0"/>
              <a:t>当 </a:t>
            </a:r>
            <a:r>
              <a:rPr lang="en-US" altLang="zh-CN" dirty="0"/>
              <a:t>D=110101 </a:t>
            </a:r>
            <a:r>
              <a:rPr lang="zh-CN" altLang="en-US" dirty="0" smtClean="0"/>
              <a:t>时，输</a:t>
            </a:r>
            <a:r>
              <a:rPr lang="zh-CN" altLang="en-US" dirty="0"/>
              <a:t>出电压的值。</a:t>
            </a:r>
          </a:p>
          <a:p>
            <a:r>
              <a:rPr lang="zh-CN" altLang="en-US" dirty="0" smtClean="0"/>
              <a:t>　　</a:t>
            </a:r>
            <a:r>
              <a:rPr lang="en-US" altLang="zh-CN" dirty="0" smtClean="0"/>
              <a:t>(3)</a:t>
            </a:r>
            <a:r>
              <a:rPr lang="zh-CN" altLang="en-US" dirty="0"/>
              <a:t>最大输入数字量的输出电压。</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6745" y="2852936"/>
            <a:ext cx="4706007" cy="695422"/>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zh-CN" altLang="en-US" dirty="0" smtClean="0"/>
              <a:t>　</a:t>
            </a:r>
            <a:r>
              <a:rPr lang="en-US" altLang="zh-CN" dirty="0" smtClean="0"/>
              <a:t>8</a:t>
            </a:r>
            <a:r>
              <a:rPr lang="zh-CN" altLang="en-US" dirty="0" smtClean="0"/>
              <a:t>－</a:t>
            </a:r>
            <a:r>
              <a:rPr lang="en-US" altLang="zh-CN" dirty="0" smtClean="0"/>
              <a:t>2  </a:t>
            </a:r>
            <a:r>
              <a:rPr lang="zh-CN" altLang="en-US" dirty="0"/>
              <a:t>已知某 </a:t>
            </a:r>
            <a:r>
              <a:rPr lang="en-US" altLang="zh-CN" dirty="0"/>
              <a:t>DAC </a:t>
            </a:r>
            <a:r>
              <a:rPr lang="zh-CN" altLang="en-US" dirty="0"/>
              <a:t>电路最小分辨电压 </a:t>
            </a:r>
            <a:r>
              <a:rPr lang="en-US" altLang="zh-CN" i="1" dirty="0"/>
              <a:t>U </a:t>
            </a:r>
            <a:r>
              <a:rPr lang="en-US" altLang="zh-CN" i="1" baseline="-25000" dirty="0"/>
              <a:t>LSB</a:t>
            </a:r>
            <a:r>
              <a:rPr lang="en-US" altLang="zh-CN" i="1" dirty="0"/>
              <a:t> </a:t>
            </a:r>
            <a:r>
              <a:rPr lang="en-US" altLang="zh-CN" dirty="0"/>
              <a:t>=5mV </a:t>
            </a:r>
            <a:r>
              <a:rPr lang="zh-CN" altLang="en-US" dirty="0" smtClean="0"/>
              <a:t>，最</a:t>
            </a:r>
            <a:r>
              <a:rPr lang="zh-CN" altLang="en-US" dirty="0"/>
              <a:t>大满刻度电压 </a:t>
            </a:r>
            <a:r>
              <a:rPr lang="en-US" altLang="zh-CN" i="1" dirty="0"/>
              <a:t>U </a:t>
            </a:r>
            <a:r>
              <a:rPr lang="en-US" altLang="zh-CN" i="1" baseline="-25000" dirty="0"/>
              <a:t>m</a:t>
            </a:r>
            <a:r>
              <a:rPr lang="en-US" altLang="zh-CN" i="1" dirty="0"/>
              <a:t> </a:t>
            </a:r>
            <a:r>
              <a:rPr lang="en-US" altLang="zh-CN" dirty="0"/>
              <a:t>=10V </a:t>
            </a:r>
            <a:r>
              <a:rPr lang="zh-CN" altLang="en-US" dirty="0" smtClean="0"/>
              <a:t>，试求</a:t>
            </a:r>
            <a:r>
              <a:rPr lang="zh-CN" altLang="en-US" dirty="0"/>
              <a:t>该电路输入数字量的位数和基准电压 </a:t>
            </a:r>
            <a:r>
              <a:rPr lang="en-US" altLang="zh-CN" i="1" dirty="0"/>
              <a:t>U </a:t>
            </a:r>
            <a:r>
              <a:rPr lang="en-US" altLang="zh-CN" i="1" baseline="-25000" dirty="0"/>
              <a:t>REF</a:t>
            </a:r>
            <a:r>
              <a:rPr lang="en-US" altLang="zh-CN" i="1" dirty="0"/>
              <a:t> </a:t>
            </a:r>
            <a:r>
              <a:rPr lang="zh-CN" altLang="en-US" dirty="0"/>
              <a:t>。</a:t>
            </a:r>
            <a:br>
              <a:rPr lang="zh-CN" altLang="en-US" dirty="0"/>
            </a:br>
            <a:r>
              <a:rPr lang="zh-CN" altLang="en-US" dirty="0" smtClean="0"/>
              <a:t>　　</a:t>
            </a:r>
            <a:r>
              <a:rPr lang="en-US" altLang="zh-CN" dirty="0" smtClean="0"/>
              <a:t>8</a:t>
            </a:r>
            <a:r>
              <a:rPr lang="zh-CN" altLang="en-US" dirty="0" smtClean="0"/>
              <a:t>－</a:t>
            </a:r>
            <a:r>
              <a:rPr lang="en-US" altLang="zh-CN" dirty="0" smtClean="0"/>
              <a:t>3  </a:t>
            </a:r>
            <a:r>
              <a:rPr lang="zh-CN" altLang="en-US" dirty="0"/>
              <a:t>某一控制系统中有一个 </a:t>
            </a:r>
            <a:r>
              <a:rPr lang="en-US" altLang="zh-CN" dirty="0"/>
              <a:t>D / A </a:t>
            </a:r>
            <a:r>
              <a:rPr lang="zh-CN" altLang="en-US" dirty="0"/>
              <a:t>转换</a:t>
            </a:r>
            <a:r>
              <a:rPr lang="zh-CN" altLang="en-US" dirty="0" smtClean="0"/>
              <a:t>器，若</a:t>
            </a:r>
            <a:r>
              <a:rPr lang="zh-CN" altLang="en-US" dirty="0"/>
              <a:t>系统要求 </a:t>
            </a:r>
            <a:r>
              <a:rPr lang="en-US" altLang="zh-CN" dirty="0"/>
              <a:t>D / A </a:t>
            </a:r>
            <a:r>
              <a:rPr lang="zh-CN" altLang="en-US" dirty="0"/>
              <a:t>转换精度小于 </a:t>
            </a:r>
            <a:r>
              <a:rPr lang="en-US" altLang="zh-CN" dirty="0"/>
              <a:t>0. 25% </a:t>
            </a:r>
            <a:r>
              <a:rPr lang="zh-CN" altLang="en-US" dirty="0" smtClean="0"/>
              <a:t>，试</a:t>
            </a:r>
            <a:r>
              <a:rPr lang="zh-CN" altLang="en-US" dirty="0"/>
              <a:t>问应选多少位的 </a:t>
            </a:r>
            <a:r>
              <a:rPr lang="en-US" altLang="zh-CN" dirty="0"/>
              <a:t>D / A </a:t>
            </a:r>
            <a:r>
              <a:rPr lang="zh-CN" altLang="en-US" dirty="0"/>
              <a:t>转换器</a:t>
            </a:r>
            <a:r>
              <a:rPr lang="en-US" altLang="zh-CN" dirty="0"/>
              <a:t>?</a:t>
            </a:r>
            <a:br>
              <a:rPr lang="en-US" altLang="zh-CN" dirty="0"/>
            </a:br>
            <a:r>
              <a:rPr lang="zh-CN" altLang="en-US" dirty="0" smtClean="0"/>
              <a:t>　　</a:t>
            </a:r>
            <a:r>
              <a:rPr lang="en-US" altLang="zh-CN" dirty="0" smtClean="0"/>
              <a:t>8</a:t>
            </a:r>
            <a:r>
              <a:rPr lang="zh-CN" altLang="en-US" dirty="0" smtClean="0"/>
              <a:t>－</a:t>
            </a:r>
            <a:r>
              <a:rPr lang="en-US" altLang="zh-CN" dirty="0" smtClean="0"/>
              <a:t>4  </a:t>
            </a:r>
            <a:r>
              <a:rPr lang="zh-CN" altLang="en-US" dirty="0"/>
              <a:t>在倒 </a:t>
            </a:r>
            <a:r>
              <a:rPr lang="en-US" altLang="zh-CN" dirty="0"/>
              <a:t>T </a:t>
            </a:r>
            <a:r>
              <a:rPr lang="zh-CN" altLang="en-US" dirty="0"/>
              <a:t>型电阻 </a:t>
            </a:r>
            <a:r>
              <a:rPr lang="en-US" altLang="zh-CN" dirty="0"/>
              <a:t>D / A </a:t>
            </a:r>
            <a:r>
              <a:rPr lang="zh-CN" altLang="en-US" dirty="0"/>
              <a:t>转换器</a:t>
            </a:r>
            <a:r>
              <a:rPr lang="zh-CN" altLang="en-US" dirty="0" smtClean="0"/>
              <a:t>中，如</a:t>
            </a:r>
            <a:r>
              <a:rPr lang="zh-CN" altLang="en-US" dirty="0"/>
              <a:t>果 </a:t>
            </a:r>
            <a:r>
              <a:rPr lang="en-US" altLang="zh-CN" i="1" dirty="0"/>
              <a:t>U </a:t>
            </a:r>
            <a:r>
              <a:rPr lang="en-US" altLang="zh-CN" i="1" baseline="-25000" dirty="0"/>
              <a:t>REF</a:t>
            </a:r>
            <a:r>
              <a:rPr lang="en-US" altLang="zh-CN" i="1" dirty="0"/>
              <a:t> </a:t>
            </a:r>
            <a:r>
              <a:rPr lang="en-US" altLang="zh-CN" dirty="0" smtClean="0"/>
              <a:t>=-</a:t>
            </a:r>
            <a:r>
              <a:rPr lang="en-US" altLang="zh-CN" dirty="0"/>
              <a:t>10V </a:t>
            </a:r>
            <a:r>
              <a:rPr lang="zh-CN" altLang="en-US" dirty="0" smtClean="0"/>
              <a:t>，</a:t>
            </a:r>
            <a:r>
              <a:rPr lang="en-US" altLang="zh-CN" dirty="0" smtClean="0"/>
              <a:t> </a:t>
            </a:r>
            <a:r>
              <a:rPr lang="en-US" altLang="zh-CN" i="1" dirty="0"/>
              <a:t>R </a:t>
            </a:r>
            <a:r>
              <a:rPr lang="en-US" altLang="zh-CN" i="1" baseline="-25000" dirty="0"/>
              <a:t>f </a:t>
            </a:r>
            <a:r>
              <a:rPr lang="en-US" altLang="zh-CN" dirty="0"/>
              <a:t>= </a:t>
            </a:r>
            <a:r>
              <a:rPr lang="en-US" altLang="zh-CN" i="1" dirty="0"/>
              <a:t>R</a:t>
            </a:r>
            <a:r>
              <a:rPr lang="en-US" altLang="zh-CN" dirty="0"/>
              <a:t> </a:t>
            </a:r>
            <a:r>
              <a:rPr lang="zh-CN" altLang="en-US" dirty="0" smtClean="0"/>
              <a:t>，</a:t>
            </a:r>
            <a:r>
              <a:rPr lang="en-US" altLang="zh-CN" dirty="0" smtClean="0"/>
              <a:t> </a:t>
            </a:r>
            <a:r>
              <a:rPr lang="en-US" altLang="zh-CN" dirty="0"/>
              <a:t>n =10 </a:t>
            </a:r>
            <a:r>
              <a:rPr lang="zh-CN" altLang="en-US" dirty="0" smtClean="0"/>
              <a:t>，输</a:t>
            </a:r>
            <a:r>
              <a:rPr lang="zh-CN" altLang="en-US" dirty="0"/>
              <a:t>入数</a:t>
            </a:r>
            <a:r>
              <a:rPr lang="zh-CN" altLang="en-US" dirty="0" smtClean="0"/>
              <a:t>字量 </a:t>
            </a:r>
            <a:r>
              <a:rPr lang="en-US" altLang="zh-CN" dirty="0"/>
              <a:t>D=0110111011 </a:t>
            </a:r>
            <a:r>
              <a:rPr lang="zh-CN" altLang="en-US" dirty="0" smtClean="0"/>
              <a:t>，求</a:t>
            </a:r>
            <a:r>
              <a:rPr lang="zh-CN" altLang="en-US" dirty="0"/>
              <a:t>输出电压的值。</a:t>
            </a:r>
            <a:endParaRPr lang="zh-CN" altLang="zh-CN" dirty="0"/>
          </a:p>
        </p:txBody>
      </p:sp>
      <p:sp>
        <p:nvSpPr>
          <p:cNvPr id="445443" name="Rectangle 3"/>
          <p:cNvSpPr>
            <a:spLocks noGrp="1" noChangeArrowheads="1"/>
          </p:cNvSpPr>
          <p:nvPr>
            <p:ph type="body"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en-US" altLang="zh-CN" dirty="0" smtClean="0"/>
              <a:t/>
            </a:r>
            <a:br>
              <a:rPr lang="en-US" altLang="zh-CN" dirty="0" smtClean="0"/>
            </a:br>
            <a:r>
              <a:rPr lang="zh-CN" altLang="en-US" dirty="0"/>
              <a:t>　　 </a:t>
            </a:r>
            <a:r>
              <a:rPr lang="en-US" altLang="zh-CN" dirty="0" smtClean="0"/>
              <a:t>8</a:t>
            </a:r>
            <a:r>
              <a:rPr lang="zh-CN" altLang="en-US" dirty="0" smtClean="0"/>
              <a:t>－</a:t>
            </a:r>
            <a:r>
              <a:rPr lang="en-US" altLang="zh-CN" dirty="0" smtClean="0"/>
              <a:t>5  </a:t>
            </a:r>
            <a:r>
              <a:rPr lang="zh-CN" altLang="en-US" dirty="0"/>
              <a:t>某八位 </a:t>
            </a:r>
            <a:r>
              <a:rPr lang="en-US" altLang="zh-CN" dirty="0"/>
              <a:t>ADC </a:t>
            </a:r>
            <a:r>
              <a:rPr lang="zh-CN" altLang="en-US" dirty="0"/>
              <a:t>电路输入模拟电压满量程为 </a:t>
            </a:r>
            <a:r>
              <a:rPr lang="en-US" altLang="zh-CN" dirty="0"/>
              <a:t>10V </a:t>
            </a:r>
            <a:r>
              <a:rPr lang="zh-CN" altLang="en-US" dirty="0" smtClean="0"/>
              <a:t>，当</a:t>
            </a:r>
            <a:r>
              <a:rPr lang="zh-CN" altLang="en-US" dirty="0"/>
              <a:t>输入下列电压值</a:t>
            </a:r>
            <a:r>
              <a:rPr lang="zh-CN" altLang="en-US" dirty="0" smtClean="0"/>
              <a:t>时，将</a:t>
            </a:r>
            <a:r>
              <a:rPr lang="zh-CN" altLang="en-US" dirty="0"/>
              <a:t>转</a:t>
            </a:r>
            <a:r>
              <a:rPr lang="zh-CN" altLang="en-US" dirty="0" smtClean="0"/>
              <a:t>换成</a:t>
            </a:r>
            <a:r>
              <a:rPr lang="zh-CN" altLang="en-US" dirty="0"/>
              <a:t>多大的数字量</a:t>
            </a:r>
            <a:r>
              <a:rPr lang="en-US" altLang="zh-CN" dirty="0"/>
              <a:t>?</a:t>
            </a:r>
            <a:br>
              <a:rPr lang="en-US" altLang="zh-CN" dirty="0"/>
            </a:br>
            <a:r>
              <a:rPr lang="en-US" altLang="zh-CN" dirty="0"/>
              <a:t>59. 7mV </a:t>
            </a:r>
            <a:r>
              <a:rPr lang="zh-CN" altLang="en-US" dirty="0" smtClean="0"/>
              <a:t>，</a:t>
            </a:r>
            <a:r>
              <a:rPr lang="en-US" altLang="zh-CN" dirty="0" smtClean="0"/>
              <a:t> </a:t>
            </a:r>
            <a:r>
              <a:rPr lang="en-US" altLang="zh-CN" dirty="0"/>
              <a:t>3. 46mV </a:t>
            </a:r>
            <a:r>
              <a:rPr lang="zh-CN" altLang="en-US" dirty="0" smtClean="0"/>
              <a:t>，</a:t>
            </a:r>
            <a:r>
              <a:rPr lang="en-US" altLang="zh-CN" dirty="0" smtClean="0"/>
              <a:t> </a:t>
            </a:r>
            <a:r>
              <a:rPr lang="en-US" altLang="zh-CN" dirty="0"/>
              <a:t>7. 08mV</a:t>
            </a:r>
            <a:br>
              <a:rPr lang="en-US" altLang="zh-CN" dirty="0"/>
            </a:br>
            <a:r>
              <a:rPr lang="zh-CN" altLang="en-US" dirty="0" smtClean="0"/>
              <a:t>　　</a:t>
            </a:r>
            <a:r>
              <a:rPr lang="en-US" altLang="zh-CN" dirty="0" smtClean="0"/>
              <a:t>8</a:t>
            </a:r>
            <a:r>
              <a:rPr lang="zh-CN" altLang="en-US" dirty="0" smtClean="0"/>
              <a:t>－</a:t>
            </a:r>
            <a:r>
              <a:rPr lang="en-US" altLang="zh-CN" dirty="0" smtClean="0"/>
              <a:t>6  </a:t>
            </a:r>
            <a:r>
              <a:rPr lang="zh-CN" altLang="en-US" dirty="0"/>
              <a:t>有一个 </a:t>
            </a:r>
            <a:r>
              <a:rPr lang="en-US" altLang="zh-CN" dirty="0"/>
              <a:t>12 </a:t>
            </a:r>
            <a:r>
              <a:rPr lang="zh-CN" altLang="en-US" dirty="0"/>
              <a:t>位 </a:t>
            </a:r>
            <a:r>
              <a:rPr lang="en-US" altLang="zh-CN" dirty="0"/>
              <a:t>ADC </a:t>
            </a:r>
            <a:r>
              <a:rPr lang="zh-CN" altLang="en-US" dirty="0"/>
              <a:t>电</a:t>
            </a:r>
            <a:r>
              <a:rPr lang="zh-CN" altLang="en-US" dirty="0" smtClean="0"/>
              <a:t>路，它</a:t>
            </a:r>
            <a:r>
              <a:rPr lang="zh-CN" altLang="en-US" dirty="0"/>
              <a:t>的输入满量程是 </a:t>
            </a:r>
            <a:r>
              <a:rPr lang="en-US" altLang="zh-CN" i="1" dirty="0"/>
              <a:t>U</a:t>
            </a:r>
            <a:r>
              <a:rPr lang="en-US" altLang="zh-CN" dirty="0"/>
              <a:t> </a:t>
            </a:r>
            <a:r>
              <a:rPr lang="en-US" altLang="zh-CN" baseline="-25000" dirty="0"/>
              <a:t>m</a:t>
            </a:r>
            <a:r>
              <a:rPr lang="en-US" altLang="zh-CN" dirty="0"/>
              <a:t> =10V </a:t>
            </a:r>
            <a:r>
              <a:rPr lang="zh-CN" altLang="en-US" dirty="0" smtClean="0"/>
              <a:t>，试</a:t>
            </a:r>
            <a:r>
              <a:rPr lang="zh-CN" altLang="en-US" dirty="0"/>
              <a:t>计算其分辨率。</a:t>
            </a:r>
            <a:br>
              <a:rPr lang="zh-CN" altLang="en-US" dirty="0"/>
            </a:br>
            <a:r>
              <a:rPr lang="zh-CN" altLang="en-US" dirty="0" smtClean="0"/>
              <a:t>　　</a:t>
            </a:r>
            <a:r>
              <a:rPr lang="en-US" altLang="zh-CN" dirty="0" smtClean="0"/>
              <a:t>8</a:t>
            </a:r>
            <a:r>
              <a:rPr lang="zh-CN" altLang="en-US" dirty="0" smtClean="0"/>
              <a:t>－</a:t>
            </a:r>
            <a:r>
              <a:rPr lang="en-US" altLang="zh-CN" dirty="0" smtClean="0"/>
              <a:t>7  </a:t>
            </a:r>
            <a:r>
              <a:rPr lang="zh-CN" altLang="en-US" dirty="0"/>
              <a:t>对于满刻度为 </a:t>
            </a:r>
            <a:r>
              <a:rPr lang="en-US" altLang="zh-CN" dirty="0"/>
              <a:t>10V </a:t>
            </a:r>
            <a:r>
              <a:rPr lang="zh-CN" altLang="en-US" dirty="0" smtClean="0"/>
              <a:t>，分</a:t>
            </a:r>
            <a:r>
              <a:rPr lang="zh-CN" altLang="en-US" dirty="0"/>
              <a:t>辨率要达到 </a:t>
            </a:r>
            <a:r>
              <a:rPr lang="en-US" altLang="zh-CN" dirty="0"/>
              <a:t>1mV </a:t>
            </a:r>
            <a:r>
              <a:rPr lang="zh-CN" altLang="en-US" dirty="0"/>
              <a:t>的 </a:t>
            </a:r>
            <a:r>
              <a:rPr lang="en-US" altLang="zh-CN" dirty="0"/>
              <a:t>A / D </a:t>
            </a:r>
            <a:r>
              <a:rPr lang="zh-CN" altLang="en-US" dirty="0"/>
              <a:t>转换</a:t>
            </a:r>
            <a:r>
              <a:rPr lang="zh-CN" altLang="en-US" dirty="0" smtClean="0"/>
              <a:t>器，其</a:t>
            </a:r>
            <a:r>
              <a:rPr lang="zh-CN" altLang="en-US" dirty="0"/>
              <a:t>位数应是多少</a:t>
            </a:r>
            <a:r>
              <a:rPr lang="en-US" altLang="zh-CN" dirty="0" smtClean="0"/>
              <a:t>?</a:t>
            </a:r>
            <a:r>
              <a:rPr lang="zh-CN" altLang="en-US" dirty="0" smtClean="0"/>
              <a:t>当</a:t>
            </a:r>
            <a:r>
              <a:rPr lang="zh-CN" altLang="en-US" dirty="0"/>
              <a:t>模拟输入电压为 </a:t>
            </a:r>
            <a:r>
              <a:rPr lang="en-US" altLang="zh-CN" dirty="0" smtClean="0"/>
              <a:t>6.5V </a:t>
            </a:r>
            <a:r>
              <a:rPr lang="zh-CN" altLang="en-US" dirty="0" smtClean="0"/>
              <a:t>时，输</a:t>
            </a:r>
            <a:r>
              <a:rPr lang="zh-CN" altLang="en-US" dirty="0"/>
              <a:t>出数字量是多少</a:t>
            </a:r>
            <a:r>
              <a:rPr lang="en-US" altLang="zh-CN" dirty="0"/>
              <a:t>?</a:t>
            </a:r>
            <a:br>
              <a:rPr lang="en-US" altLang="zh-CN" dirty="0"/>
            </a:br>
            <a:r>
              <a:rPr lang="zh-CN" altLang="en-US" dirty="0" smtClean="0"/>
              <a:t>　　</a:t>
            </a:r>
            <a:r>
              <a:rPr lang="en-US" altLang="zh-CN" dirty="0"/>
              <a:t> 8 </a:t>
            </a:r>
            <a:r>
              <a:rPr lang="zh-CN" altLang="en-US" dirty="0" smtClean="0"/>
              <a:t>－</a:t>
            </a:r>
            <a:r>
              <a:rPr lang="en-US" altLang="zh-CN" dirty="0" smtClean="0"/>
              <a:t>8  </a:t>
            </a:r>
            <a:r>
              <a:rPr lang="zh-CN" altLang="en-US" dirty="0"/>
              <a:t>对于 </a:t>
            </a:r>
            <a:r>
              <a:rPr lang="en-US" altLang="zh-CN" dirty="0"/>
              <a:t>10 </a:t>
            </a:r>
            <a:r>
              <a:rPr lang="zh-CN" altLang="en-US" dirty="0"/>
              <a:t>位逐次渐近型 </a:t>
            </a:r>
            <a:r>
              <a:rPr lang="en-US" altLang="zh-CN" dirty="0"/>
              <a:t>ADC </a:t>
            </a:r>
            <a:r>
              <a:rPr lang="zh-CN" altLang="en-US" dirty="0"/>
              <a:t>电</a:t>
            </a:r>
            <a:r>
              <a:rPr lang="zh-CN" altLang="en-US" dirty="0" smtClean="0"/>
              <a:t>路，当</a:t>
            </a:r>
            <a:r>
              <a:rPr lang="zh-CN" altLang="en-US" dirty="0"/>
              <a:t>时钟频率为 </a:t>
            </a:r>
            <a:r>
              <a:rPr lang="en-US" altLang="zh-CN" dirty="0"/>
              <a:t>1MHz </a:t>
            </a:r>
            <a:r>
              <a:rPr lang="zh-CN" altLang="en-US" dirty="0" smtClean="0"/>
              <a:t>时，其</a:t>
            </a:r>
            <a:r>
              <a:rPr lang="zh-CN" altLang="en-US" dirty="0"/>
              <a:t>转换时间是</a:t>
            </a:r>
            <a:r>
              <a:rPr lang="zh-CN" altLang="en-US" dirty="0" smtClean="0"/>
              <a:t>多少</a:t>
            </a:r>
            <a:r>
              <a:rPr lang="en-US" altLang="zh-CN" dirty="0"/>
              <a:t>? </a:t>
            </a:r>
            <a:r>
              <a:rPr lang="zh-CN" altLang="en-US" dirty="0"/>
              <a:t>如果要求完成一次转换的时间小于 </a:t>
            </a:r>
            <a:r>
              <a:rPr lang="en-US" altLang="zh-CN" dirty="0"/>
              <a:t>10 </a:t>
            </a:r>
            <a:r>
              <a:rPr lang="en-US" altLang="zh-CN" i="1" dirty="0"/>
              <a:t>μ s </a:t>
            </a:r>
            <a:r>
              <a:rPr lang="zh-CN" altLang="en-US" dirty="0" smtClean="0"/>
              <a:t>，时</a:t>
            </a:r>
            <a:r>
              <a:rPr lang="zh-CN" altLang="en-US" dirty="0"/>
              <a:t>钟频率应选多大</a:t>
            </a:r>
            <a:r>
              <a:rPr lang="en-US" altLang="zh-CN" dirty="0"/>
              <a:t>?</a:t>
            </a:r>
            <a:endParaRPr lang="zh-CN" altLang="zh-CN" dirty="0"/>
          </a:p>
        </p:txBody>
      </p:sp>
      <p:pic>
        <p:nvPicPr>
          <p:cNvPr id="4" name="Picture 2" descr="H:\出版社\模板\课件素材\GIF动画插件1\GIF020.GIF">
            <a:hlinkClick r:id="rId2" action="ppaction://hlinksldjump"/>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394096" y="6294822"/>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endParaRPr lang="zh-CN" altLang="zh-CN"/>
          </a:p>
        </p:txBody>
      </p:sp>
      <p:sp>
        <p:nvSpPr>
          <p:cNvPr id="4474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endParaRPr lang="zh-CN" altLang="zh-CN"/>
          </a:p>
        </p:txBody>
      </p:sp>
      <p:sp>
        <p:nvSpPr>
          <p:cNvPr id="4485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endParaRPr lang="zh-CN" altLang="zh-CN"/>
          </a:p>
        </p:txBody>
      </p:sp>
      <p:sp>
        <p:nvSpPr>
          <p:cNvPr id="4495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p:txBody>
          <a:bodyPr/>
          <a:lstStyle/>
          <a:p>
            <a:endParaRPr lang="zh-CN" altLang="zh-CN"/>
          </a:p>
        </p:txBody>
      </p:sp>
      <p:sp>
        <p:nvSpPr>
          <p:cNvPr id="4505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endParaRPr lang="zh-CN" altLang="zh-CN"/>
          </a:p>
        </p:txBody>
      </p:sp>
      <p:sp>
        <p:nvSpPr>
          <p:cNvPr id="4515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endParaRPr lang="zh-CN" altLang="zh-CN"/>
          </a:p>
        </p:txBody>
      </p:sp>
      <p:sp>
        <p:nvSpPr>
          <p:cNvPr id="4526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endParaRPr lang="zh-CN" altLang="zh-CN"/>
          </a:p>
        </p:txBody>
      </p:sp>
      <p:sp>
        <p:nvSpPr>
          <p:cNvPr id="4536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endParaRPr lang="zh-CN" altLang="zh-CN"/>
          </a:p>
        </p:txBody>
      </p:sp>
      <p:sp>
        <p:nvSpPr>
          <p:cNvPr id="4546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endParaRPr lang="zh-CN" altLang="zh-CN"/>
          </a:p>
        </p:txBody>
      </p:sp>
      <p:sp>
        <p:nvSpPr>
          <p:cNvPr id="4556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endParaRPr lang="zh-CN" altLang="zh-CN"/>
          </a:p>
        </p:txBody>
      </p:sp>
      <p:sp>
        <p:nvSpPr>
          <p:cNvPr id="4567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endParaRPr lang="zh-CN" altLang="zh-CN"/>
          </a:p>
        </p:txBody>
      </p:sp>
      <p:sp>
        <p:nvSpPr>
          <p:cNvPr id="4577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endParaRPr lang="zh-CN" altLang="zh-CN"/>
          </a:p>
        </p:txBody>
      </p:sp>
      <p:sp>
        <p:nvSpPr>
          <p:cNvPr id="4587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a:lstStyle/>
          <a:p>
            <a:endParaRPr lang="zh-CN" altLang="zh-CN"/>
          </a:p>
        </p:txBody>
      </p:sp>
      <p:sp>
        <p:nvSpPr>
          <p:cNvPr id="4597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endParaRPr lang="zh-CN" altLang="zh-CN"/>
          </a:p>
        </p:txBody>
      </p:sp>
      <p:sp>
        <p:nvSpPr>
          <p:cNvPr id="4608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endParaRPr lang="zh-CN" altLang="zh-CN"/>
          </a:p>
        </p:txBody>
      </p:sp>
      <p:sp>
        <p:nvSpPr>
          <p:cNvPr id="4618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endParaRPr lang="zh-CN" altLang="zh-CN"/>
          </a:p>
        </p:txBody>
      </p:sp>
      <p:sp>
        <p:nvSpPr>
          <p:cNvPr id="4628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endParaRPr lang="zh-CN" altLang="zh-CN"/>
          </a:p>
        </p:txBody>
      </p:sp>
      <p:sp>
        <p:nvSpPr>
          <p:cNvPr id="4638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lstStyle/>
          <a:p>
            <a:endParaRPr lang="zh-CN" altLang="zh-CN"/>
          </a:p>
        </p:txBody>
      </p:sp>
      <p:sp>
        <p:nvSpPr>
          <p:cNvPr id="4648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endParaRPr lang="zh-CN" altLang="zh-CN"/>
          </a:p>
        </p:txBody>
      </p:sp>
      <p:sp>
        <p:nvSpPr>
          <p:cNvPr id="4659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endParaRPr lang="zh-CN" altLang="zh-CN"/>
          </a:p>
        </p:txBody>
      </p:sp>
      <p:sp>
        <p:nvSpPr>
          <p:cNvPr id="4669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endParaRPr lang="zh-CN" altLang="zh-CN"/>
          </a:p>
        </p:txBody>
      </p:sp>
      <p:sp>
        <p:nvSpPr>
          <p:cNvPr id="4679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endParaRPr lang="zh-CN" altLang="zh-CN"/>
          </a:p>
        </p:txBody>
      </p:sp>
      <p:sp>
        <p:nvSpPr>
          <p:cNvPr id="4689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endParaRPr lang="zh-CN" altLang="zh-CN"/>
          </a:p>
        </p:txBody>
      </p:sp>
      <p:sp>
        <p:nvSpPr>
          <p:cNvPr id="4700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endParaRPr lang="zh-CN" altLang="zh-CN"/>
          </a:p>
        </p:txBody>
      </p:sp>
      <p:sp>
        <p:nvSpPr>
          <p:cNvPr id="4710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p:txBody>
          <a:bodyPr/>
          <a:lstStyle/>
          <a:p>
            <a:endParaRPr lang="zh-CN" altLang="zh-CN"/>
          </a:p>
        </p:txBody>
      </p:sp>
      <p:sp>
        <p:nvSpPr>
          <p:cNvPr id="4720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p:txBody>
          <a:bodyPr/>
          <a:lstStyle/>
          <a:p>
            <a:endParaRPr lang="zh-CN" altLang="zh-CN"/>
          </a:p>
        </p:txBody>
      </p:sp>
      <p:sp>
        <p:nvSpPr>
          <p:cNvPr id="4730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endParaRPr lang="zh-CN" altLang="zh-CN"/>
          </a:p>
        </p:txBody>
      </p:sp>
      <p:sp>
        <p:nvSpPr>
          <p:cNvPr id="4741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endParaRPr lang="zh-CN" altLang="zh-CN"/>
          </a:p>
        </p:txBody>
      </p:sp>
      <p:sp>
        <p:nvSpPr>
          <p:cNvPr id="4751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endParaRPr lang="zh-CN" altLang="zh-CN"/>
          </a:p>
        </p:txBody>
      </p:sp>
      <p:sp>
        <p:nvSpPr>
          <p:cNvPr id="4761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endParaRPr lang="zh-CN" altLang="zh-CN"/>
          </a:p>
        </p:txBody>
      </p:sp>
      <p:sp>
        <p:nvSpPr>
          <p:cNvPr id="4771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endParaRPr lang="zh-CN" altLang="zh-CN"/>
          </a:p>
        </p:txBody>
      </p:sp>
      <p:sp>
        <p:nvSpPr>
          <p:cNvPr id="4782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endParaRPr lang="zh-CN" altLang="zh-CN"/>
          </a:p>
        </p:txBody>
      </p:sp>
      <p:sp>
        <p:nvSpPr>
          <p:cNvPr id="4792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endParaRPr lang="zh-CN" altLang="zh-CN"/>
          </a:p>
        </p:txBody>
      </p:sp>
      <p:sp>
        <p:nvSpPr>
          <p:cNvPr id="4802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endParaRPr lang="zh-CN" altLang="zh-CN"/>
          </a:p>
        </p:txBody>
      </p:sp>
      <p:sp>
        <p:nvSpPr>
          <p:cNvPr id="4812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endParaRPr lang="zh-CN" altLang="zh-CN"/>
          </a:p>
        </p:txBody>
      </p:sp>
      <p:sp>
        <p:nvSpPr>
          <p:cNvPr id="4823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endParaRPr lang="zh-CN" altLang="zh-CN"/>
          </a:p>
        </p:txBody>
      </p:sp>
      <p:sp>
        <p:nvSpPr>
          <p:cNvPr id="4833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endParaRPr lang="zh-CN" altLang="zh-CN"/>
          </a:p>
        </p:txBody>
      </p:sp>
      <p:sp>
        <p:nvSpPr>
          <p:cNvPr id="4843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p:txBody>
          <a:bodyPr/>
          <a:lstStyle/>
          <a:p>
            <a:endParaRPr lang="zh-CN" altLang="zh-CN"/>
          </a:p>
        </p:txBody>
      </p:sp>
      <p:sp>
        <p:nvSpPr>
          <p:cNvPr id="4853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endParaRPr lang="zh-CN" altLang="zh-CN"/>
          </a:p>
        </p:txBody>
      </p:sp>
      <p:sp>
        <p:nvSpPr>
          <p:cNvPr id="4864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endParaRPr lang="zh-CN" altLang="zh-CN"/>
          </a:p>
        </p:txBody>
      </p:sp>
      <p:sp>
        <p:nvSpPr>
          <p:cNvPr id="4874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endParaRPr lang="zh-CN" altLang="zh-CN"/>
          </a:p>
        </p:txBody>
      </p:sp>
      <p:sp>
        <p:nvSpPr>
          <p:cNvPr id="4884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endParaRPr lang="zh-CN" altLang="zh-CN"/>
          </a:p>
        </p:txBody>
      </p:sp>
      <p:sp>
        <p:nvSpPr>
          <p:cNvPr id="4894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endParaRPr lang="zh-CN" altLang="zh-CN"/>
          </a:p>
        </p:txBody>
      </p:sp>
      <p:sp>
        <p:nvSpPr>
          <p:cNvPr id="4904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p:txBody>
          <a:bodyPr/>
          <a:lstStyle/>
          <a:p>
            <a:endParaRPr lang="zh-CN" altLang="zh-CN"/>
          </a:p>
        </p:txBody>
      </p:sp>
      <p:sp>
        <p:nvSpPr>
          <p:cNvPr id="4915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endParaRPr lang="zh-CN" altLang="zh-CN"/>
          </a:p>
        </p:txBody>
      </p:sp>
      <p:sp>
        <p:nvSpPr>
          <p:cNvPr id="4925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p:txBody>
          <a:bodyPr/>
          <a:lstStyle/>
          <a:p>
            <a:endParaRPr lang="zh-CN" altLang="zh-CN"/>
          </a:p>
        </p:txBody>
      </p:sp>
      <p:sp>
        <p:nvSpPr>
          <p:cNvPr id="4935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endParaRPr lang="zh-CN" altLang="zh-CN"/>
          </a:p>
        </p:txBody>
      </p:sp>
      <p:sp>
        <p:nvSpPr>
          <p:cNvPr id="4945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title"/>
          </p:nvPr>
        </p:nvSpPr>
        <p:spPr/>
        <p:txBody>
          <a:bodyPr/>
          <a:lstStyle/>
          <a:p>
            <a:endParaRPr lang="zh-CN" altLang="zh-CN"/>
          </a:p>
        </p:txBody>
      </p:sp>
      <p:sp>
        <p:nvSpPr>
          <p:cNvPr id="4956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endParaRPr lang="zh-CN" altLang="zh-CN"/>
          </a:p>
        </p:txBody>
      </p:sp>
      <p:sp>
        <p:nvSpPr>
          <p:cNvPr id="4966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p:txBody>
          <a:bodyPr/>
          <a:lstStyle/>
          <a:p>
            <a:endParaRPr lang="zh-CN" altLang="zh-CN"/>
          </a:p>
        </p:txBody>
      </p:sp>
      <p:sp>
        <p:nvSpPr>
          <p:cNvPr id="4976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endParaRPr lang="zh-CN" altLang="zh-CN"/>
          </a:p>
        </p:txBody>
      </p:sp>
      <p:sp>
        <p:nvSpPr>
          <p:cNvPr id="4986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endParaRPr lang="zh-CN" altLang="zh-CN"/>
          </a:p>
        </p:txBody>
      </p:sp>
      <p:sp>
        <p:nvSpPr>
          <p:cNvPr id="4997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endParaRPr lang="zh-CN" altLang="zh-CN"/>
          </a:p>
        </p:txBody>
      </p:sp>
      <p:sp>
        <p:nvSpPr>
          <p:cNvPr id="5007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endParaRPr lang="zh-CN" altLang="zh-CN"/>
          </a:p>
        </p:txBody>
      </p:sp>
      <p:sp>
        <p:nvSpPr>
          <p:cNvPr id="5017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endParaRPr lang="zh-CN" altLang="zh-CN"/>
          </a:p>
        </p:txBody>
      </p:sp>
      <p:sp>
        <p:nvSpPr>
          <p:cNvPr id="5027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endParaRPr lang="zh-CN" altLang="zh-CN"/>
          </a:p>
        </p:txBody>
      </p:sp>
      <p:sp>
        <p:nvSpPr>
          <p:cNvPr id="5038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endParaRPr lang="zh-CN" altLang="zh-CN"/>
          </a:p>
        </p:txBody>
      </p:sp>
      <p:sp>
        <p:nvSpPr>
          <p:cNvPr id="5048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endParaRPr lang="zh-CN" altLang="zh-CN"/>
          </a:p>
        </p:txBody>
      </p:sp>
      <p:sp>
        <p:nvSpPr>
          <p:cNvPr id="5058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endParaRPr lang="zh-CN" altLang="zh-CN"/>
          </a:p>
        </p:txBody>
      </p:sp>
      <p:sp>
        <p:nvSpPr>
          <p:cNvPr id="5068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p:txBody>
          <a:bodyPr/>
          <a:lstStyle/>
          <a:p>
            <a:endParaRPr lang="zh-CN" altLang="zh-CN"/>
          </a:p>
        </p:txBody>
      </p:sp>
      <p:sp>
        <p:nvSpPr>
          <p:cNvPr id="5079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endParaRPr lang="zh-CN" altLang="zh-CN"/>
          </a:p>
        </p:txBody>
      </p:sp>
      <p:sp>
        <p:nvSpPr>
          <p:cNvPr id="5089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endParaRPr lang="zh-CN" altLang="zh-CN"/>
          </a:p>
        </p:txBody>
      </p:sp>
      <p:sp>
        <p:nvSpPr>
          <p:cNvPr id="5099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endParaRPr lang="zh-CN" altLang="zh-CN"/>
          </a:p>
        </p:txBody>
      </p:sp>
      <p:sp>
        <p:nvSpPr>
          <p:cNvPr id="5109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title"/>
          </p:nvPr>
        </p:nvSpPr>
        <p:spPr/>
        <p:txBody>
          <a:bodyPr/>
          <a:lstStyle/>
          <a:p>
            <a:endParaRPr lang="zh-CN" altLang="zh-CN"/>
          </a:p>
        </p:txBody>
      </p:sp>
      <p:sp>
        <p:nvSpPr>
          <p:cNvPr id="5120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endParaRPr lang="zh-CN" altLang="zh-CN"/>
          </a:p>
        </p:txBody>
      </p:sp>
      <p:sp>
        <p:nvSpPr>
          <p:cNvPr id="5130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endParaRPr lang="zh-CN" altLang="zh-CN"/>
          </a:p>
        </p:txBody>
      </p:sp>
      <p:sp>
        <p:nvSpPr>
          <p:cNvPr id="5140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endParaRPr lang="zh-CN" altLang="zh-CN"/>
          </a:p>
        </p:txBody>
      </p:sp>
      <p:sp>
        <p:nvSpPr>
          <p:cNvPr id="5150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p:txBody>
          <a:bodyPr/>
          <a:lstStyle/>
          <a:p>
            <a:endParaRPr lang="zh-CN" altLang="zh-CN"/>
          </a:p>
        </p:txBody>
      </p:sp>
      <p:sp>
        <p:nvSpPr>
          <p:cNvPr id="5160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endParaRPr lang="zh-CN" altLang="zh-CN"/>
          </a:p>
        </p:txBody>
      </p:sp>
      <p:sp>
        <p:nvSpPr>
          <p:cNvPr id="5171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endParaRPr lang="zh-CN" altLang="zh-CN"/>
          </a:p>
        </p:txBody>
      </p:sp>
      <p:sp>
        <p:nvSpPr>
          <p:cNvPr id="5181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ChangeArrowheads="1"/>
          </p:cNvSpPr>
          <p:nvPr>
            <p:ph type="title"/>
          </p:nvPr>
        </p:nvSpPr>
        <p:spPr/>
        <p:txBody>
          <a:bodyPr/>
          <a:lstStyle/>
          <a:p>
            <a:endParaRPr lang="zh-CN" altLang="zh-CN"/>
          </a:p>
        </p:txBody>
      </p:sp>
      <p:sp>
        <p:nvSpPr>
          <p:cNvPr id="5191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type="title"/>
          </p:nvPr>
        </p:nvSpPr>
        <p:spPr/>
        <p:txBody>
          <a:bodyPr/>
          <a:lstStyle/>
          <a:p>
            <a:endParaRPr lang="zh-CN" altLang="zh-CN"/>
          </a:p>
        </p:txBody>
      </p:sp>
      <p:sp>
        <p:nvSpPr>
          <p:cNvPr id="5201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type="title"/>
          </p:nvPr>
        </p:nvSpPr>
        <p:spPr/>
        <p:txBody>
          <a:bodyPr/>
          <a:lstStyle/>
          <a:p>
            <a:endParaRPr lang="zh-CN" altLang="zh-CN"/>
          </a:p>
        </p:txBody>
      </p:sp>
      <p:sp>
        <p:nvSpPr>
          <p:cNvPr id="5212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endParaRPr lang="zh-CN" altLang="zh-CN"/>
          </a:p>
        </p:txBody>
      </p:sp>
      <p:sp>
        <p:nvSpPr>
          <p:cNvPr id="5222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endParaRPr lang="zh-CN" altLang="zh-CN"/>
          </a:p>
        </p:txBody>
      </p:sp>
      <p:sp>
        <p:nvSpPr>
          <p:cNvPr id="5232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p:txBody>
          <a:bodyPr/>
          <a:lstStyle/>
          <a:p>
            <a:endParaRPr lang="zh-CN" altLang="zh-CN"/>
          </a:p>
        </p:txBody>
      </p:sp>
      <p:sp>
        <p:nvSpPr>
          <p:cNvPr id="5242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endParaRPr lang="zh-CN" altLang="zh-CN"/>
          </a:p>
        </p:txBody>
      </p:sp>
      <p:sp>
        <p:nvSpPr>
          <p:cNvPr id="5253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endParaRPr lang="zh-CN" altLang="zh-CN"/>
          </a:p>
        </p:txBody>
      </p:sp>
      <p:sp>
        <p:nvSpPr>
          <p:cNvPr id="5263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endParaRPr lang="zh-CN" altLang="zh-CN"/>
          </a:p>
        </p:txBody>
      </p:sp>
      <p:sp>
        <p:nvSpPr>
          <p:cNvPr id="5273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endParaRPr lang="zh-CN" altLang="zh-CN"/>
          </a:p>
        </p:txBody>
      </p:sp>
      <p:sp>
        <p:nvSpPr>
          <p:cNvPr id="5283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endParaRPr lang="zh-CN" altLang="zh-CN"/>
          </a:p>
        </p:txBody>
      </p:sp>
      <p:sp>
        <p:nvSpPr>
          <p:cNvPr id="5294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a:lstStyle/>
          <a:p>
            <a:endParaRPr lang="zh-CN" altLang="zh-CN"/>
          </a:p>
        </p:txBody>
      </p:sp>
      <p:sp>
        <p:nvSpPr>
          <p:cNvPr id="5304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type="title"/>
          </p:nvPr>
        </p:nvSpPr>
        <p:spPr/>
        <p:txBody>
          <a:bodyPr/>
          <a:lstStyle/>
          <a:p>
            <a:endParaRPr lang="zh-CN" altLang="zh-CN"/>
          </a:p>
        </p:txBody>
      </p:sp>
      <p:sp>
        <p:nvSpPr>
          <p:cNvPr id="5314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p:cNvSpPr>
            <a:spLocks noGrp="1" noChangeArrowheads="1"/>
          </p:cNvSpPr>
          <p:nvPr>
            <p:ph type="title"/>
          </p:nvPr>
        </p:nvSpPr>
        <p:spPr/>
        <p:txBody>
          <a:bodyPr/>
          <a:lstStyle/>
          <a:p>
            <a:endParaRPr lang="zh-CN" altLang="zh-CN"/>
          </a:p>
        </p:txBody>
      </p:sp>
      <p:sp>
        <p:nvSpPr>
          <p:cNvPr id="5324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endParaRPr lang="zh-CN" altLang="zh-CN"/>
          </a:p>
        </p:txBody>
      </p:sp>
      <p:sp>
        <p:nvSpPr>
          <p:cNvPr id="5335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p:txBody>
          <a:bodyPr/>
          <a:lstStyle/>
          <a:p>
            <a:endParaRPr lang="zh-CN" altLang="zh-CN"/>
          </a:p>
        </p:txBody>
      </p:sp>
      <p:sp>
        <p:nvSpPr>
          <p:cNvPr id="5345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ChangeArrowheads="1"/>
          </p:cNvSpPr>
          <p:nvPr>
            <p:ph type="title"/>
          </p:nvPr>
        </p:nvSpPr>
        <p:spPr/>
        <p:txBody>
          <a:bodyPr/>
          <a:lstStyle/>
          <a:p>
            <a:endParaRPr lang="zh-CN" altLang="zh-CN"/>
          </a:p>
        </p:txBody>
      </p:sp>
      <p:sp>
        <p:nvSpPr>
          <p:cNvPr id="5355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endParaRPr lang="zh-CN" altLang="zh-CN"/>
          </a:p>
        </p:txBody>
      </p:sp>
      <p:sp>
        <p:nvSpPr>
          <p:cNvPr id="5365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a:lstStyle/>
          <a:p>
            <a:endParaRPr lang="zh-CN" altLang="zh-CN"/>
          </a:p>
        </p:txBody>
      </p:sp>
      <p:sp>
        <p:nvSpPr>
          <p:cNvPr id="5376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Grp="1" noChangeArrowheads="1"/>
          </p:cNvSpPr>
          <p:nvPr>
            <p:ph type="title"/>
          </p:nvPr>
        </p:nvSpPr>
        <p:spPr/>
        <p:txBody>
          <a:bodyPr/>
          <a:lstStyle/>
          <a:p>
            <a:endParaRPr lang="zh-CN" altLang="zh-CN"/>
          </a:p>
        </p:txBody>
      </p:sp>
      <p:sp>
        <p:nvSpPr>
          <p:cNvPr id="5386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p:txBody>
          <a:bodyPr/>
          <a:lstStyle/>
          <a:p>
            <a:endParaRPr lang="zh-CN" altLang="zh-CN"/>
          </a:p>
        </p:txBody>
      </p:sp>
      <p:sp>
        <p:nvSpPr>
          <p:cNvPr id="5396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p:txBody>
          <a:bodyPr/>
          <a:lstStyle/>
          <a:p>
            <a:endParaRPr lang="zh-CN" altLang="zh-CN"/>
          </a:p>
        </p:txBody>
      </p:sp>
      <p:sp>
        <p:nvSpPr>
          <p:cNvPr id="5406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ChangeArrowheads="1"/>
          </p:cNvSpPr>
          <p:nvPr>
            <p:ph type="title"/>
          </p:nvPr>
        </p:nvSpPr>
        <p:spPr/>
        <p:txBody>
          <a:bodyPr/>
          <a:lstStyle/>
          <a:p>
            <a:endParaRPr lang="zh-CN" altLang="zh-CN"/>
          </a:p>
        </p:txBody>
      </p:sp>
      <p:sp>
        <p:nvSpPr>
          <p:cNvPr id="5416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endParaRPr lang="zh-CN" altLang="zh-CN"/>
          </a:p>
        </p:txBody>
      </p:sp>
      <p:sp>
        <p:nvSpPr>
          <p:cNvPr id="5427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endParaRPr lang="zh-CN" altLang="zh-CN"/>
          </a:p>
        </p:txBody>
      </p:sp>
      <p:sp>
        <p:nvSpPr>
          <p:cNvPr id="5437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endParaRPr lang="zh-CN" altLang="zh-CN"/>
          </a:p>
        </p:txBody>
      </p:sp>
      <p:sp>
        <p:nvSpPr>
          <p:cNvPr id="5447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endParaRPr lang="zh-CN" altLang="zh-CN"/>
          </a:p>
        </p:txBody>
      </p:sp>
      <p:sp>
        <p:nvSpPr>
          <p:cNvPr id="5457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p:txBody>
          <a:bodyPr/>
          <a:lstStyle/>
          <a:p>
            <a:endParaRPr lang="zh-CN" altLang="zh-CN"/>
          </a:p>
        </p:txBody>
      </p:sp>
      <p:sp>
        <p:nvSpPr>
          <p:cNvPr id="5468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endParaRPr lang="zh-CN" altLang="zh-CN"/>
          </a:p>
        </p:txBody>
      </p:sp>
      <p:sp>
        <p:nvSpPr>
          <p:cNvPr id="5478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endParaRPr lang="zh-CN" altLang="zh-CN"/>
          </a:p>
        </p:txBody>
      </p:sp>
      <p:sp>
        <p:nvSpPr>
          <p:cNvPr id="5488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endParaRPr lang="zh-CN" altLang="zh-CN"/>
          </a:p>
        </p:txBody>
      </p:sp>
      <p:sp>
        <p:nvSpPr>
          <p:cNvPr id="5498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p:txBody>
          <a:bodyPr/>
          <a:lstStyle/>
          <a:p>
            <a:endParaRPr lang="zh-CN" altLang="zh-CN"/>
          </a:p>
        </p:txBody>
      </p:sp>
      <p:sp>
        <p:nvSpPr>
          <p:cNvPr id="5509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endParaRPr lang="zh-CN" altLang="zh-CN"/>
          </a:p>
        </p:txBody>
      </p:sp>
      <p:sp>
        <p:nvSpPr>
          <p:cNvPr id="5519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p:txBody>
          <a:bodyPr/>
          <a:lstStyle/>
          <a:p>
            <a:endParaRPr lang="zh-CN" altLang="zh-CN"/>
          </a:p>
        </p:txBody>
      </p:sp>
      <p:sp>
        <p:nvSpPr>
          <p:cNvPr id="5529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endParaRPr lang="zh-CN" altLang="zh-CN"/>
          </a:p>
        </p:txBody>
      </p:sp>
      <p:sp>
        <p:nvSpPr>
          <p:cNvPr id="5539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endParaRPr lang="zh-CN" altLang="zh-CN"/>
          </a:p>
        </p:txBody>
      </p:sp>
      <p:sp>
        <p:nvSpPr>
          <p:cNvPr id="5550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endParaRPr lang="zh-CN" altLang="zh-CN"/>
          </a:p>
        </p:txBody>
      </p:sp>
      <p:sp>
        <p:nvSpPr>
          <p:cNvPr id="5560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endParaRPr lang="zh-CN" altLang="zh-CN"/>
          </a:p>
        </p:txBody>
      </p:sp>
      <p:sp>
        <p:nvSpPr>
          <p:cNvPr id="5570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endParaRPr lang="zh-CN" altLang="zh-CN"/>
          </a:p>
        </p:txBody>
      </p:sp>
      <p:sp>
        <p:nvSpPr>
          <p:cNvPr id="5580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endParaRPr lang="zh-CN" altLang="zh-CN"/>
          </a:p>
        </p:txBody>
      </p:sp>
      <p:sp>
        <p:nvSpPr>
          <p:cNvPr id="5591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endParaRPr lang="zh-CN" altLang="zh-CN"/>
          </a:p>
        </p:txBody>
      </p:sp>
      <p:sp>
        <p:nvSpPr>
          <p:cNvPr id="5601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endParaRPr lang="zh-CN" altLang="zh-CN"/>
          </a:p>
        </p:txBody>
      </p:sp>
      <p:sp>
        <p:nvSpPr>
          <p:cNvPr id="5611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endParaRPr lang="zh-CN" altLang="zh-CN"/>
          </a:p>
        </p:txBody>
      </p:sp>
      <p:sp>
        <p:nvSpPr>
          <p:cNvPr id="5621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endParaRPr lang="zh-CN" altLang="zh-CN"/>
          </a:p>
        </p:txBody>
      </p:sp>
      <p:sp>
        <p:nvSpPr>
          <p:cNvPr id="5632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endParaRPr lang="zh-CN" altLang="zh-CN"/>
          </a:p>
        </p:txBody>
      </p:sp>
      <p:sp>
        <p:nvSpPr>
          <p:cNvPr id="5642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endParaRPr lang="zh-CN" altLang="zh-CN"/>
          </a:p>
        </p:txBody>
      </p:sp>
      <p:sp>
        <p:nvSpPr>
          <p:cNvPr id="5652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p:txBody>
          <a:bodyPr/>
          <a:lstStyle/>
          <a:p>
            <a:endParaRPr lang="zh-CN" altLang="zh-CN"/>
          </a:p>
        </p:txBody>
      </p:sp>
      <p:sp>
        <p:nvSpPr>
          <p:cNvPr id="5662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endParaRPr lang="zh-CN" altLang="zh-CN"/>
          </a:p>
        </p:txBody>
      </p:sp>
      <p:sp>
        <p:nvSpPr>
          <p:cNvPr id="5672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endParaRPr lang="zh-CN" altLang="zh-CN"/>
          </a:p>
        </p:txBody>
      </p:sp>
      <p:sp>
        <p:nvSpPr>
          <p:cNvPr id="5683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p:txBody>
          <a:bodyPr/>
          <a:lstStyle/>
          <a:p>
            <a:endParaRPr lang="zh-CN" altLang="zh-CN"/>
          </a:p>
        </p:txBody>
      </p:sp>
      <p:sp>
        <p:nvSpPr>
          <p:cNvPr id="5693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p:txBody>
          <a:bodyPr/>
          <a:lstStyle/>
          <a:p>
            <a:endParaRPr lang="zh-CN" altLang="zh-CN"/>
          </a:p>
        </p:txBody>
      </p:sp>
      <p:sp>
        <p:nvSpPr>
          <p:cNvPr id="5703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Grp="1" noChangeArrowheads="1"/>
          </p:cNvSpPr>
          <p:nvPr>
            <p:ph type="title"/>
          </p:nvPr>
        </p:nvSpPr>
        <p:spPr/>
        <p:txBody>
          <a:bodyPr/>
          <a:lstStyle/>
          <a:p>
            <a:endParaRPr lang="zh-CN" altLang="zh-CN"/>
          </a:p>
        </p:txBody>
      </p:sp>
      <p:sp>
        <p:nvSpPr>
          <p:cNvPr id="5713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endParaRPr lang="zh-CN" altLang="zh-CN"/>
          </a:p>
        </p:txBody>
      </p:sp>
      <p:sp>
        <p:nvSpPr>
          <p:cNvPr id="5724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endParaRPr lang="zh-CN" altLang="zh-CN"/>
          </a:p>
        </p:txBody>
      </p:sp>
      <p:sp>
        <p:nvSpPr>
          <p:cNvPr id="5734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p:txBody>
          <a:bodyPr/>
          <a:lstStyle/>
          <a:p>
            <a:endParaRPr lang="zh-CN" altLang="zh-CN"/>
          </a:p>
        </p:txBody>
      </p:sp>
      <p:sp>
        <p:nvSpPr>
          <p:cNvPr id="5744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endParaRPr lang="zh-CN" altLang="zh-CN"/>
          </a:p>
        </p:txBody>
      </p:sp>
      <p:sp>
        <p:nvSpPr>
          <p:cNvPr id="5754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p:txBody>
          <a:bodyPr/>
          <a:lstStyle/>
          <a:p>
            <a:endParaRPr lang="zh-CN" altLang="zh-CN"/>
          </a:p>
        </p:txBody>
      </p:sp>
      <p:sp>
        <p:nvSpPr>
          <p:cNvPr id="5765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title"/>
          </p:nvPr>
        </p:nvSpPr>
        <p:spPr/>
        <p:txBody>
          <a:bodyPr/>
          <a:lstStyle/>
          <a:p>
            <a:endParaRPr lang="zh-CN" altLang="zh-CN"/>
          </a:p>
        </p:txBody>
      </p:sp>
      <p:sp>
        <p:nvSpPr>
          <p:cNvPr id="5775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p:txBody>
          <a:bodyPr/>
          <a:lstStyle/>
          <a:p>
            <a:endParaRPr lang="zh-CN" altLang="zh-CN"/>
          </a:p>
        </p:txBody>
      </p:sp>
      <p:sp>
        <p:nvSpPr>
          <p:cNvPr id="5785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endParaRPr lang="zh-CN" altLang="zh-CN"/>
          </a:p>
        </p:txBody>
      </p:sp>
      <p:sp>
        <p:nvSpPr>
          <p:cNvPr id="5795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endParaRPr lang="zh-CN" altLang="zh-CN"/>
          </a:p>
        </p:txBody>
      </p:sp>
      <p:sp>
        <p:nvSpPr>
          <p:cNvPr id="5806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endParaRPr lang="zh-CN" altLang="zh-CN"/>
          </a:p>
        </p:txBody>
      </p:sp>
      <p:sp>
        <p:nvSpPr>
          <p:cNvPr id="5816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endParaRPr lang="zh-CN" altLang="zh-CN"/>
          </a:p>
        </p:txBody>
      </p:sp>
      <p:sp>
        <p:nvSpPr>
          <p:cNvPr id="5826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endParaRPr lang="zh-CN" altLang="zh-CN"/>
          </a:p>
        </p:txBody>
      </p:sp>
      <p:sp>
        <p:nvSpPr>
          <p:cNvPr id="5836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lstStyle/>
          <a:p>
            <a:endParaRPr lang="zh-CN" altLang="zh-CN"/>
          </a:p>
        </p:txBody>
      </p:sp>
      <p:sp>
        <p:nvSpPr>
          <p:cNvPr id="5847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endParaRPr lang="zh-CN" altLang="zh-CN"/>
          </a:p>
        </p:txBody>
      </p:sp>
      <p:sp>
        <p:nvSpPr>
          <p:cNvPr id="5857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title"/>
          </p:nvPr>
        </p:nvSpPr>
        <p:spPr/>
        <p:txBody>
          <a:bodyPr/>
          <a:lstStyle/>
          <a:p>
            <a:endParaRPr lang="zh-CN" altLang="zh-CN"/>
          </a:p>
        </p:txBody>
      </p:sp>
      <p:sp>
        <p:nvSpPr>
          <p:cNvPr id="5867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p:txBody>
          <a:bodyPr/>
          <a:lstStyle/>
          <a:p>
            <a:endParaRPr lang="zh-CN" altLang="zh-CN"/>
          </a:p>
        </p:txBody>
      </p:sp>
      <p:sp>
        <p:nvSpPr>
          <p:cNvPr id="5877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p:txBody>
          <a:bodyPr/>
          <a:lstStyle/>
          <a:p>
            <a:endParaRPr lang="zh-CN" altLang="zh-CN"/>
          </a:p>
        </p:txBody>
      </p:sp>
      <p:sp>
        <p:nvSpPr>
          <p:cNvPr id="5888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p:txBody>
          <a:bodyPr/>
          <a:lstStyle/>
          <a:p>
            <a:endParaRPr lang="zh-CN" altLang="zh-CN"/>
          </a:p>
        </p:txBody>
      </p:sp>
      <p:sp>
        <p:nvSpPr>
          <p:cNvPr id="5898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title"/>
          </p:nvPr>
        </p:nvSpPr>
        <p:spPr/>
        <p:txBody>
          <a:bodyPr/>
          <a:lstStyle/>
          <a:p>
            <a:endParaRPr lang="zh-CN" altLang="zh-CN"/>
          </a:p>
        </p:txBody>
      </p:sp>
      <p:sp>
        <p:nvSpPr>
          <p:cNvPr id="5908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endParaRPr lang="zh-CN" altLang="zh-CN"/>
          </a:p>
        </p:txBody>
      </p:sp>
      <p:sp>
        <p:nvSpPr>
          <p:cNvPr id="5918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p:txBody>
          <a:bodyPr/>
          <a:lstStyle/>
          <a:p>
            <a:endParaRPr lang="zh-CN" altLang="zh-CN"/>
          </a:p>
        </p:txBody>
      </p:sp>
      <p:sp>
        <p:nvSpPr>
          <p:cNvPr id="5928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endParaRPr lang="zh-CN" altLang="zh-CN"/>
          </a:p>
        </p:txBody>
      </p:sp>
      <p:sp>
        <p:nvSpPr>
          <p:cNvPr id="5939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endParaRPr lang="zh-CN" altLang="zh-CN"/>
          </a:p>
        </p:txBody>
      </p:sp>
      <p:sp>
        <p:nvSpPr>
          <p:cNvPr id="5949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endParaRPr lang="zh-CN" altLang="zh-CN"/>
          </a:p>
        </p:txBody>
      </p:sp>
      <p:sp>
        <p:nvSpPr>
          <p:cNvPr id="5959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endParaRPr lang="zh-CN" altLang="zh-CN"/>
          </a:p>
        </p:txBody>
      </p:sp>
      <p:sp>
        <p:nvSpPr>
          <p:cNvPr id="5969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p:txBody>
          <a:bodyPr/>
          <a:lstStyle/>
          <a:p>
            <a:endParaRPr lang="zh-CN" altLang="zh-CN"/>
          </a:p>
        </p:txBody>
      </p:sp>
      <p:sp>
        <p:nvSpPr>
          <p:cNvPr id="5980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endParaRPr lang="zh-CN" altLang="zh-CN"/>
          </a:p>
        </p:txBody>
      </p:sp>
      <p:sp>
        <p:nvSpPr>
          <p:cNvPr id="5990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ChangeArrowheads="1"/>
          </p:cNvSpPr>
          <p:nvPr>
            <p:ph type="title"/>
          </p:nvPr>
        </p:nvSpPr>
        <p:spPr/>
        <p:txBody>
          <a:bodyPr/>
          <a:lstStyle/>
          <a:p>
            <a:endParaRPr lang="zh-CN" altLang="zh-CN"/>
          </a:p>
        </p:txBody>
      </p:sp>
      <p:sp>
        <p:nvSpPr>
          <p:cNvPr id="6000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p:txBody>
          <a:bodyPr/>
          <a:lstStyle/>
          <a:p>
            <a:endParaRPr lang="zh-CN" altLang="zh-CN"/>
          </a:p>
        </p:txBody>
      </p:sp>
      <p:sp>
        <p:nvSpPr>
          <p:cNvPr id="6010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p:txBody>
          <a:bodyPr/>
          <a:lstStyle/>
          <a:p>
            <a:endParaRPr lang="zh-CN" altLang="zh-CN"/>
          </a:p>
        </p:txBody>
      </p:sp>
      <p:sp>
        <p:nvSpPr>
          <p:cNvPr id="6021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p:txBody>
          <a:bodyPr/>
          <a:lstStyle/>
          <a:p>
            <a:endParaRPr lang="zh-CN" altLang="zh-CN"/>
          </a:p>
        </p:txBody>
      </p:sp>
      <p:sp>
        <p:nvSpPr>
          <p:cNvPr id="6031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p:txBody>
          <a:bodyPr/>
          <a:lstStyle/>
          <a:p>
            <a:endParaRPr lang="zh-CN" altLang="zh-CN"/>
          </a:p>
        </p:txBody>
      </p:sp>
      <p:sp>
        <p:nvSpPr>
          <p:cNvPr id="6041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p:txBody>
          <a:bodyPr/>
          <a:lstStyle/>
          <a:p>
            <a:endParaRPr lang="zh-CN" altLang="zh-CN"/>
          </a:p>
        </p:txBody>
      </p:sp>
      <p:sp>
        <p:nvSpPr>
          <p:cNvPr id="6051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endParaRPr lang="zh-CN" altLang="zh-CN"/>
          </a:p>
        </p:txBody>
      </p:sp>
      <p:sp>
        <p:nvSpPr>
          <p:cNvPr id="6062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p:txBody>
          <a:bodyPr/>
          <a:lstStyle/>
          <a:p>
            <a:endParaRPr lang="zh-CN" altLang="zh-CN"/>
          </a:p>
        </p:txBody>
      </p:sp>
      <p:sp>
        <p:nvSpPr>
          <p:cNvPr id="6072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p:txBody>
          <a:bodyPr/>
          <a:lstStyle/>
          <a:p>
            <a:endParaRPr lang="zh-CN" altLang="zh-CN"/>
          </a:p>
        </p:txBody>
      </p:sp>
      <p:sp>
        <p:nvSpPr>
          <p:cNvPr id="6082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endParaRPr lang="zh-CN" altLang="zh-CN"/>
          </a:p>
        </p:txBody>
      </p:sp>
      <p:sp>
        <p:nvSpPr>
          <p:cNvPr id="6092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endParaRPr lang="zh-CN" altLang="zh-CN"/>
          </a:p>
        </p:txBody>
      </p:sp>
      <p:sp>
        <p:nvSpPr>
          <p:cNvPr id="6103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endParaRPr lang="zh-CN" altLang="zh-CN"/>
          </a:p>
        </p:txBody>
      </p:sp>
      <p:sp>
        <p:nvSpPr>
          <p:cNvPr id="6113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p:txBody>
          <a:bodyPr/>
          <a:lstStyle/>
          <a:p>
            <a:endParaRPr lang="zh-CN" altLang="zh-CN"/>
          </a:p>
        </p:txBody>
      </p:sp>
      <p:sp>
        <p:nvSpPr>
          <p:cNvPr id="6123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2"/>
          <p:cNvSpPr>
            <a:spLocks noGrp="1" noChangeArrowheads="1"/>
          </p:cNvSpPr>
          <p:nvPr>
            <p:ph type="title"/>
          </p:nvPr>
        </p:nvSpPr>
        <p:spPr/>
        <p:txBody>
          <a:bodyPr/>
          <a:lstStyle/>
          <a:p>
            <a:endParaRPr lang="zh-CN" altLang="zh-CN"/>
          </a:p>
        </p:txBody>
      </p:sp>
      <p:sp>
        <p:nvSpPr>
          <p:cNvPr id="6133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p:txBody>
          <a:bodyPr/>
          <a:lstStyle/>
          <a:p>
            <a:endParaRPr lang="zh-CN" altLang="zh-CN"/>
          </a:p>
        </p:txBody>
      </p:sp>
      <p:sp>
        <p:nvSpPr>
          <p:cNvPr id="6144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endParaRPr lang="zh-CN" altLang="zh-CN"/>
          </a:p>
        </p:txBody>
      </p:sp>
      <p:sp>
        <p:nvSpPr>
          <p:cNvPr id="6154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p:txBody>
          <a:bodyPr/>
          <a:lstStyle/>
          <a:p>
            <a:endParaRPr lang="zh-CN" altLang="zh-CN"/>
          </a:p>
        </p:txBody>
      </p:sp>
      <p:sp>
        <p:nvSpPr>
          <p:cNvPr id="6164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endParaRPr lang="zh-CN" altLang="zh-CN"/>
          </a:p>
        </p:txBody>
      </p:sp>
      <p:sp>
        <p:nvSpPr>
          <p:cNvPr id="6174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p:txBody>
          <a:bodyPr/>
          <a:lstStyle/>
          <a:p>
            <a:endParaRPr lang="zh-CN" altLang="zh-CN"/>
          </a:p>
        </p:txBody>
      </p:sp>
      <p:sp>
        <p:nvSpPr>
          <p:cNvPr id="6184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endParaRPr lang="zh-CN" altLang="zh-CN"/>
          </a:p>
        </p:txBody>
      </p:sp>
      <p:sp>
        <p:nvSpPr>
          <p:cNvPr id="6195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p:txBody>
          <a:bodyPr/>
          <a:lstStyle/>
          <a:p>
            <a:endParaRPr lang="zh-CN" altLang="zh-CN"/>
          </a:p>
        </p:txBody>
      </p:sp>
      <p:sp>
        <p:nvSpPr>
          <p:cNvPr id="6205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p:txBody>
          <a:bodyPr/>
          <a:lstStyle/>
          <a:p>
            <a:endParaRPr lang="zh-CN" altLang="zh-CN"/>
          </a:p>
        </p:txBody>
      </p:sp>
      <p:sp>
        <p:nvSpPr>
          <p:cNvPr id="6215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endParaRPr lang="zh-CN" altLang="zh-CN"/>
          </a:p>
        </p:txBody>
      </p:sp>
      <p:sp>
        <p:nvSpPr>
          <p:cNvPr id="6225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p:txBody>
          <a:bodyPr/>
          <a:lstStyle/>
          <a:p>
            <a:endParaRPr lang="zh-CN" altLang="zh-CN"/>
          </a:p>
        </p:txBody>
      </p:sp>
      <p:sp>
        <p:nvSpPr>
          <p:cNvPr id="6236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endParaRPr lang="zh-CN" altLang="zh-CN"/>
          </a:p>
        </p:txBody>
      </p:sp>
      <p:sp>
        <p:nvSpPr>
          <p:cNvPr id="6246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title"/>
          </p:nvPr>
        </p:nvSpPr>
        <p:spPr/>
        <p:txBody>
          <a:bodyPr/>
          <a:lstStyle/>
          <a:p>
            <a:endParaRPr lang="zh-CN" altLang="zh-CN"/>
          </a:p>
        </p:txBody>
      </p:sp>
      <p:sp>
        <p:nvSpPr>
          <p:cNvPr id="6256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2"/>
          <p:cNvSpPr>
            <a:spLocks noGrp="1" noChangeArrowheads="1"/>
          </p:cNvSpPr>
          <p:nvPr>
            <p:ph type="title"/>
          </p:nvPr>
        </p:nvSpPr>
        <p:spPr/>
        <p:txBody>
          <a:bodyPr/>
          <a:lstStyle/>
          <a:p>
            <a:endParaRPr lang="zh-CN" altLang="zh-CN"/>
          </a:p>
        </p:txBody>
      </p:sp>
      <p:sp>
        <p:nvSpPr>
          <p:cNvPr id="6266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p:cNvSpPr>
            <a:spLocks noGrp="1" noChangeArrowheads="1"/>
          </p:cNvSpPr>
          <p:nvPr>
            <p:ph type="title"/>
          </p:nvPr>
        </p:nvSpPr>
        <p:spPr/>
        <p:txBody>
          <a:bodyPr/>
          <a:lstStyle/>
          <a:p>
            <a:endParaRPr lang="zh-CN" altLang="zh-CN"/>
          </a:p>
        </p:txBody>
      </p:sp>
      <p:sp>
        <p:nvSpPr>
          <p:cNvPr id="6277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p:txBody>
          <a:bodyPr/>
          <a:lstStyle/>
          <a:p>
            <a:endParaRPr lang="zh-CN" altLang="zh-CN"/>
          </a:p>
        </p:txBody>
      </p:sp>
      <p:sp>
        <p:nvSpPr>
          <p:cNvPr id="6287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p:txBody>
          <a:bodyPr/>
          <a:lstStyle/>
          <a:p>
            <a:endParaRPr lang="zh-CN" altLang="zh-CN"/>
          </a:p>
        </p:txBody>
      </p:sp>
      <p:sp>
        <p:nvSpPr>
          <p:cNvPr id="6297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p:cNvSpPr>
            <a:spLocks noGrp="1" noChangeArrowheads="1"/>
          </p:cNvSpPr>
          <p:nvPr>
            <p:ph type="title"/>
          </p:nvPr>
        </p:nvSpPr>
        <p:spPr/>
        <p:txBody>
          <a:bodyPr/>
          <a:lstStyle/>
          <a:p>
            <a:endParaRPr lang="zh-CN" altLang="zh-CN"/>
          </a:p>
        </p:txBody>
      </p:sp>
      <p:sp>
        <p:nvSpPr>
          <p:cNvPr id="6307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Rectangle 2"/>
          <p:cNvSpPr>
            <a:spLocks noGrp="1" noChangeArrowheads="1"/>
          </p:cNvSpPr>
          <p:nvPr>
            <p:ph type="title"/>
          </p:nvPr>
        </p:nvSpPr>
        <p:spPr/>
        <p:txBody>
          <a:bodyPr/>
          <a:lstStyle/>
          <a:p>
            <a:endParaRPr lang="zh-CN" altLang="zh-CN"/>
          </a:p>
        </p:txBody>
      </p:sp>
      <p:sp>
        <p:nvSpPr>
          <p:cNvPr id="6318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Grp="1" noChangeArrowheads="1"/>
          </p:cNvSpPr>
          <p:nvPr>
            <p:ph type="title"/>
          </p:nvPr>
        </p:nvSpPr>
        <p:spPr/>
        <p:txBody>
          <a:bodyPr/>
          <a:lstStyle/>
          <a:p>
            <a:endParaRPr lang="zh-CN" altLang="zh-CN"/>
          </a:p>
        </p:txBody>
      </p:sp>
      <p:sp>
        <p:nvSpPr>
          <p:cNvPr id="6328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Rectangle 2"/>
          <p:cNvSpPr>
            <a:spLocks noGrp="1" noChangeArrowheads="1"/>
          </p:cNvSpPr>
          <p:nvPr>
            <p:ph type="title"/>
          </p:nvPr>
        </p:nvSpPr>
        <p:spPr/>
        <p:txBody>
          <a:bodyPr/>
          <a:lstStyle/>
          <a:p>
            <a:endParaRPr lang="zh-CN" altLang="zh-CN"/>
          </a:p>
        </p:txBody>
      </p:sp>
      <p:sp>
        <p:nvSpPr>
          <p:cNvPr id="6338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Rectangle 2"/>
          <p:cNvSpPr>
            <a:spLocks noGrp="1" noChangeArrowheads="1"/>
          </p:cNvSpPr>
          <p:nvPr>
            <p:ph type="title"/>
          </p:nvPr>
        </p:nvSpPr>
        <p:spPr/>
        <p:txBody>
          <a:bodyPr/>
          <a:lstStyle/>
          <a:p>
            <a:endParaRPr lang="zh-CN" altLang="zh-CN"/>
          </a:p>
        </p:txBody>
      </p:sp>
      <p:sp>
        <p:nvSpPr>
          <p:cNvPr id="6348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Grp="1" noChangeArrowheads="1"/>
          </p:cNvSpPr>
          <p:nvPr>
            <p:ph type="title"/>
          </p:nvPr>
        </p:nvSpPr>
        <p:spPr/>
        <p:txBody>
          <a:bodyPr/>
          <a:lstStyle/>
          <a:p>
            <a:endParaRPr lang="zh-CN" altLang="zh-CN"/>
          </a:p>
        </p:txBody>
      </p:sp>
      <p:sp>
        <p:nvSpPr>
          <p:cNvPr id="6359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2"/>
          <p:cNvSpPr>
            <a:spLocks noGrp="1" noChangeArrowheads="1"/>
          </p:cNvSpPr>
          <p:nvPr>
            <p:ph type="title"/>
          </p:nvPr>
        </p:nvSpPr>
        <p:spPr/>
        <p:txBody>
          <a:bodyPr/>
          <a:lstStyle/>
          <a:p>
            <a:endParaRPr lang="zh-CN" altLang="zh-CN"/>
          </a:p>
        </p:txBody>
      </p:sp>
      <p:sp>
        <p:nvSpPr>
          <p:cNvPr id="6369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Rectangle 2"/>
          <p:cNvSpPr>
            <a:spLocks noGrp="1" noChangeArrowheads="1"/>
          </p:cNvSpPr>
          <p:nvPr>
            <p:ph type="title"/>
          </p:nvPr>
        </p:nvSpPr>
        <p:spPr/>
        <p:txBody>
          <a:bodyPr/>
          <a:lstStyle/>
          <a:p>
            <a:endParaRPr lang="zh-CN" altLang="zh-CN"/>
          </a:p>
        </p:txBody>
      </p:sp>
      <p:sp>
        <p:nvSpPr>
          <p:cNvPr id="6379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Rectangle 2"/>
          <p:cNvSpPr>
            <a:spLocks noGrp="1" noChangeArrowheads="1"/>
          </p:cNvSpPr>
          <p:nvPr>
            <p:ph type="title"/>
          </p:nvPr>
        </p:nvSpPr>
        <p:spPr/>
        <p:txBody>
          <a:bodyPr/>
          <a:lstStyle/>
          <a:p>
            <a:endParaRPr lang="zh-CN" altLang="zh-CN"/>
          </a:p>
        </p:txBody>
      </p:sp>
      <p:sp>
        <p:nvSpPr>
          <p:cNvPr id="6389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2"/>
          <p:cNvSpPr>
            <a:spLocks noGrp="1" noChangeArrowheads="1"/>
          </p:cNvSpPr>
          <p:nvPr>
            <p:ph type="title"/>
          </p:nvPr>
        </p:nvSpPr>
        <p:spPr/>
        <p:txBody>
          <a:bodyPr/>
          <a:lstStyle/>
          <a:p>
            <a:endParaRPr lang="zh-CN" altLang="zh-CN"/>
          </a:p>
        </p:txBody>
      </p:sp>
      <p:sp>
        <p:nvSpPr>
          <p:cNvPr id="6400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p:txBody>
          <a:bodyPr/>
          <a:lstStyle/>
          <a:p>
            <a:endParaRPr lang="zh-CN" altLang="zh-CN"/>
          </a:p>
        </p:txBody>
      </p:sp>
      <p:sp>
        <p:nvSpPr>
          <p:cNvPr id="6410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p:txBody>
          <a:bodyPr/>
          <a:lstStyle/>
          <a:p>
            <a:endParaRPr lang="zh-CN" altLang="zh-CN"/>
          </a:p>
        </p:txBody>
      </p:sp>
      <p:sp>
        <p:nvSpPr>
          <p:cNvPr id="6420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p:txBody>
          <a:bodyPr/>
          <a:lstStyle/>
          <a:p>
            <a:endParaRPr lang="zh-CN" altLang="zh-CN"/>
          </a:p>
        </p:txBody>
      </p:sp>
      <p:sp>
        <p:nvSpPr>
          <p:cNvPr id="6430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2"/>
          <p:cNvSpPr>
            <a:spLocks noGrp="1" noChangeArrowheads="1"/>
          </p:cNvSpPr>
          <p:nvPr>
            <p:ph type="title"/>
          </p:nvPr>
        </p:nvSpPr>
        <p:spPr/>
        <p:txBody>
          <a:bodyPr/>
          <a:lstStyle/>
          <a:p>
            <a:endParaRPr lang="zh-CN" altLang="zh-CN"/>
          </a:p>
        </p:txBody>
      </p:sp>
      <p:sp>
        <p:nvSpPr>
          <p:cNvPr id="644099" name="Rectangle 3"/>
          <p:cNvSpPr>
            <a:spLocks noGrp="1" noChangeArrowheads="1"/>
          </p:cNvSpPr>
          <p:nvPr>
            <p:ph type="body" idx="1"/>
          </p:nvPr>
        </p:nvSpPr>
        <p:spPr/>
        <p:txBody>
          <a:bodyPr/>
          <a:lstStyle/>
          <a:p>
            <a:endParaRPr lang="zh-CN" altLang="zh-CN"/>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660066"/>
      </a:hlink>
      <a:folHlink>
        <a:srgbClr val="990099"/>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430</TotalTime>
  <Words>286</Words>
  <Application>Microsoft Office PowerPoint</Application>
  <PresentationFormat>全屏显示(4:3)</PresentationFormat>
  <Paragraphs>95</Paragraphs>
  <Slides>277</Slides>
  <Notes>0</Notes>
  <HiddenSlides>0</HiddenSlides>
  <MMClips>0</MMClips>
  <ScaleCrop>false</ScaleCrop>
  <HeadingPairs>
    <vt:vector size="4" baseType="variant">
      <vt:variant>
        <vt:lpstr>主题</vt:lpstr>
      </vt:variant>
      <vt:variant>
        <vt:i4>1</vt:i4>
      </vt:variant>
      <vt:variant>
        <vt:lpstr>幻灯片标题</vt:lpstr>
      </vt:variant>
      <vt:variant>
        <vt:i4>277</vt:i4>
      </vt:variant>
    </vt:vector>
  </HeadingPairs>
  <TitlesOfParts>
    <vt:vector size="278" baseType="lpstr">
      <vt:lpstr>默认设计模板</vt:lpstr>
      <vt:lpstr>第 8 章 数/模和模/数转换</vt:lpstr>
      <vt:lpstr> 　　本章系统讲述数/模转换(把数字量转换成相应的模拟量)和模/数转换(把模拟量转换成相应的数字量)的基本原理和常见的典型电路。 　　在数/模转换电路中，分别介绍了权电阻网络数/模转换器、倒 T 型电阻网络数/模转换器以及权电流型数/模转换器。 　　在模/数转换电路中，首先介绍了模/数转换的一般原理和步骤，然后分别讲述采样/保持电路和模/数转换的几种主要类型。 　　另外，在讲述各种转换电路工作原理的基础上，着重讨论了转换精度和转换速度问题。</vt:lpstr>
      <vt:lpstr> 8. 1  概 述</vt:lpstr>
      <vt:lpstr> 　　我们把将数字信号转换成模拟信号的电路或器件称为数字 - 模拟转换器，又称 D / A转换器或 DAC ;将模拟信号转换为数字信号的电路或器件称为模拟 - 数字转换器，又称 A / D 转换器或 ADC 。 　　为了保证数据处理的准确性， D / A 转换器和 A / D 转换器必须有足够的精度，同时，为了适应快速过程的控制和检测的需要， D / A 转换器和 A / D 转换器还必须有足够快的转换速度。因此，转换精度和转换速度成为衡量 D / A 转换器和 A / D 转换器性能优劣的主要标志。</vt:lpstr>
      <vt:lpstr> 　　本章主要介绍 D / A 转换器和 A / D 转换器的基本原理和常见的典型电路。 　　目前常见的 D / A 转换器中有权电阻网络 D / A 转换器、倒 T 型电阻网络 D / A 转换器、权电流型 D / A 转换器等几种类型。 　　A / D 转换器的类型也有多种，可分为直接 A / D 转换器和间接 A / D 转换器两大类。在常见的直接 A / D 转换器中，又有并联比较型 A / D 转换器和反馈比较型 A / D 转换器两类。目前使用的间接 A / D 转换器大多都属于电压 - 时间变换型，如双积分型 A / D 转换器和电压 - 频率变换型转换器。</vt:lpstr>
      <vt:lpstr> 8. 2 D / A 转换器</vt:lpstr>
      <vt:lpstr>PowerPoint 演示文稿</vt:lpstr>
      <vt:lpstr> 　　电子模拟开关 S0 ~S 3 受输入数字信号 d 0 ~ d 3 控制，如果第 i 位数字信号 d i =1 ，则Si 接位置 1 ，相应的电阻 R i 和基准电压 U REF 接通;若 d i =0 ，则 S i 接位置 0 ， R i 接地。 求和运算放大器用于将权电阻网络流入 A 的电流 iΣ转换为相应的模拟电压 u 0 输出。调节反馈电阻 R F 的大小，可使输出的模拟电压 u 0 符合要求。同时，求和运算放大器又是 权电阻网络和输出负载的缓冲器。</vt:lpstr>
      <vt:lpstr> 　　 2. 工作原理 　　下面分析图 8－1 所示权电阻 D / A 转换器输出的模拟电压和输入数字信号之间的关系。在假设运算放大器输入电流为零的条件下可以得到:</vt:lpstr>
      <vt:lpstr> 取 R F = R / 2 ，则得到:   　　对于 n 位的权电阻网络 D / A 转换器，当反馈电阻取为 R / 2 时，输出电压的计算公式可写成:   　　 　　上式表明，输出的电压正比于输入的数字量，从而实现了从数字量到模拟量的转换。</vt:lpstr>
      <vt:lpstr> 　　 【例 8.1 】 在图 8－1 所示权电阻网络 D / A 转换器中，设 U REF =-8V ， R F = R / 2 ，试求: 　　 (1)当输入数字量 d 3 d 2 d 1 d 0 =0001 时的输出电压值。 　　(2)当输入数字量 d 3 d 2 d 1 d 0 =0101 时的输出电压值。 　　(3)当输入最大数字量时的输出电压值。</vt:lpstr>
      <vt:lpstr> 　　解 ( 1 )根据式( 8.2. 2 )，可求得输入数字量 d 3 d 2 d 1 d 0 =0001 时的输出电压为  　　 　　(2)根据式( 8. 2. 2 )，可求得输入数字d 3 d 2 d 1 d 0 =0101 时的输出电压为  　　 　　(3)根据式( 8. 2. 2 )，可求得输入最大数字量 d 3 d 2 d 1 d 0 =1111 时的输出电压为</vt:lpstr>
      <vt:lpstr> 　　权电阻网络 D / A 转换器的优点是电路结构比较简单，所用的电阻元件数较少。它的缺点是各个电阻的阻值相差比较大，尤其是在输入信号的位数较多时，这个问题更突出。例如当输入信号增加到八位时，如果取权电阻网络中最小的电阻为 R =10kΩ ，那么最大的电阻阻值将达到 27R ( =1. 28MΩ )，两者相差 128 倍之多。要想在极为宽广的阻值范围内保证每个电阻都有很高的精度是十分困难的，尤其对制作集成电路更加不利。为了克服权电阻网络 D / A 转换器中电阻阻值相差太大的缺点，常采用倒 T 型电阻网络 D / A 转换器。</vt:lpstr>
      <vt:lpstr> 8. 2. 2  倒 T 型电阻网络 D / A 转换器 　　1. 电路组成 　　图 8－2 所示为四位 R -2 R 倒 T 型电阻网络 D / A 转换器的原理图。和权电阻网络D / A 转换器相比，除电阻网络结构呈倒 T 型外，电阻网络中只有 R ， 2 R 两种阻值的电阻， 这就给集成电路的设计和制作带来了很大的方便。</vt:lpstr>
      <vt:lpstr> 　　 2. 工作原理 电子模拟开关 S0 ~S 3 受输入数字信号 d 0 ~ d 3 控制。如果第 i 位数字信号 d i =1 ， S i 接求和运算放大器的虚地端;当 di =0 时， S i 接地。可见，无论输入数字信号为 0 还是为1 ，即无论各电子模拟开关接“ 0 ”端还是接“ 1 ”端，各支路的电流都直接流入地或流入求和运算放大器的虚地端，所以对于倒 T 型电阻网络来说，各 2 R 电阻的上端相当于接地。由图 8 2 可知，基准电压 U REF 对地电阻为 R ，其流出的电流 i = U REF / R 是固定不变的，而每个支路的电流依次为 I / 2 、 I / 4 、 I / 8 、 I / 16 ，因此，流入求和运算放大器的电流 I Σ 为</vt:lpstr>
      <vt:lpstr>   　　在求和放大器的反馈电阻阻值等于 R 的条件下输出电压为　   　　对于 n 位输入的倒 T 型电阻网络 D / A 转换器，在求和放大器的反馈电阻阻值为 R 的条件下，输出的模拟电压的计算公式为　</vt:lpstr>
      <vt:lpstr>PowerPoint 演示文稿</vt:lpstr>
      <vt:lpstr> 　　由上式可看出，输出电压和输入数字量成正比。由于不论电子模拟开关接“ 0 ”端还是接“1 ”端，电阻 2 R 的上端总是接地或接求和运算放大器的虚地端，因此流经 2 R 支路上的电流不会随开关状态的变化而改变，它不需要建立时间，所以电路的转换速度提高了。倒T 型电阻网络 D / A 转换器的电阻数量虽比权电阻网络多，但它只有 R 和 2 R 两种阻值，因而克服了权电阻网络电阻阻值多，差别大的缺点，便于集成化。因此， R -2 R 倒 T 型电阻网络 D / A 转换器得到了广泛的应用。</vt:lpstr>
      <vt:lpstr> 　　但无论是权电阻网络 D / A 转换器还是倒 T 型电阻网络 D / A 转换器，在分析的过程中，都把电子模拟开关当作理想开关处理，没有考虑它们的导通电阻和导通电压降。而实际上这些开关总有一定的导通电阻和导通电压降，而且每个开关的情况不完全相同。它们的存在无疑将引起转换误差，影响转换精度。为了解决这一问题，常采用权电流型 D / A 转换器。</vt:lpstr>
      <vt:lpstr> 　　 8. 2. 3  权电流型 D / A 转换器 　　1. 电路组成 　　图 8－3 所示为四位权电流型 D / A 转换器的原理图。它由权电流 I / 16 、 I / 8 、 I / 4 、I / 2 ，电子模拟开关 S 0 、 S 1 、 S 2 、 S 3 ，基准电压 UREF 及求和运算放大器组成。 电子模拟开关 S0 ~S 3 受输入数字信号 d 0 ~ d 3 控制，如果第 i 位数字信号 d i =1 ，则相应的开关 Si 将权电流源接至运算放大器的反相输入端;若 d i =0 ，其相应的开关将电流源接地。</vt:lpstr>
      <vt:lpstr>PowerPoint 演示文稿</vt:lpstr>
      <vt:lpstr> 　　恒电流源电路经常使用图 8－4 所示的电路结构形式。只要在电路工作时 U B 和 U EE 稳定不变，则三极管的集电极电流可保持恒定，不受开关内阻的影响。电流的大小近似为</vt:lpstr>
      <vt:lpstr>PowerPoint 演示文稿</vt:lpstr>
      <vt:lpstr> 　　2. 工作原理 　　在权电流型 D / A 转换器中，有一组恒电流源，每个恒电流源的大小依次为前一个的1 / 2 ，和二进制输入代码对应的权成正比。 　　输出电压为</vt:lpstr>
      <vt:lpstr> 　　可见，输出电压 u 0 正比于输入的数字量，实现了数字量到模拟量的转换。权电流 D / A 转换器各支路电流的叠加方法与传输方式和 R -2 R 倒 T 型电阻网络 D / A 转换器相同，因而也具有转换速度快的特点。此外，由于采用了恒流源，每个支路电流的大小不再受开关内阻和压降的影响，从而降低了对开关电路的要求。</vt:lpstr>
      <vt:lpstr> 8. 2. 4 D / A 转换器的主要技术指标 　　1. 分辨率 　　分辨率是指输入数字量的最低有效位为 1 时，对应输出可分辨的电压变化量 Δ U 与最大输出电压之比，即   例如， 10 位 D / A 转换器的分辨率可以表示为   　　分辨率越高，转换时对输入量的微小变化的反应就越灵敏。</vt:lpstr>
      <vt:lpstr> 　　如果输出模 拟电压满量 程为 10V ，那么 10 位 D / A 转换器能 够分辨的最 小电压是"10" /"1023" ( ≈0.009775 ) V ，而八位 D / A 转换器能够分辨的最小电压是 "10" /"255" ( ≈0.039125 ) V ，可 见， D / A 转换器的位数越高，分辨输出电压的能力就越强。</vt:lpstr>
      <vt:lpstr> 　　 2. 转换精度 　　转换精度是实际输出值与理论计算值之差。这种差值由转换过程的各种误差引起，主要是静态误差。它包括: 　　(1)非线性误差。它是由电子开关导通的电压降和电阻网络电阻值偏差产生的，常用满刻度的百分数来表示。 　　 (2)比例系数误差。它是参考电压 U REF 的偏离引起的误差。以图 8－2 的倒 T 型电阻网络 D / A 转换器为例，如果 U REF 偏离标准值 Δ U REF ，则输出将产生误差电压:</vt:lpstr>
      <vt:lpstr> 　　这个结果说明，由 U REF 的变化所引起的误差和输入数字量的大小是成正比的。因此把由 Δ U REF 引起的转换误差叫做比例系数误差。图 8－5 中以虚线表示出了当 Δ U REF 一定时，输出的电压值偏离理论值的情况。 </vt:lpstr>
      <vt:lpstr>PowerPoint 演示文稿</vt:lpstr>
      <vt:lpstr> 　　 (3)漂移误差。它是由运算放大器零点漂移产生的误差。当输入数字量为 0 时，由于运算放大器的零点漂移，输出的模拟电压并不为 0 。这使实际输出电压值与理想电压值产生一个相对位移，如图 8－6 中虚线所示。</vt:lpstr>
      <vt:lpstr>PowerPoint 演示文稿</vt:lpstr>
      <vt:lpstr> 　　 【例 8. 2 】 在图 8－2 的倒 T 型电阻网络 D / A 转换器中，外接参考电压 U REF =-10V 。为保证 U REF偏离标准值所引起的误差小于 1 / 2LSB (最低有效位)，试计算 U REF的相对稳定度应取多少? 　　解 先计算对应于 1 / 2LSB 输入的输出电压。由式( 8.2.6 )可知，当输入代码只有LSB=1 而其余各位均为 0 时的输出电压为</vt:lpstr>
      <vt:lpstr> 故与 1 / 2LSB 相对应的输出电压绝对值为   　　其次，计算由于参考电压 U REF变化 Δ U REF所引起的输出电压变化 Δ u 0 ，由式( 8. 2. 6 )可知，在 n 位输入的 D / A 转换器中，由 Δ U REF引起的输出电压变化应为</vt:lpstr>
      <vt:lpstr>PowerPoint 演示文稿</vt:lpstr>
      <vt:lpstr> 　　 3. 建立时间 　　从数字信号输入 DAC 到输出电流(或电压)达到稳态值所需的时间为建立时间。建立时间的大小决定了转换速度。目前， 10~12 位单片集成 D / A 转换器(不包括运算放大器) 的建立时间可以在 1 μ s 以内。</vt:lpstr>
      <vt:lpstr> 8. 3 A / D 转换器</vt:lpstr>
      <vt:lpstr> 　　1. 取样与保持 　　取样是将时间上连续变化的信号转换为时间上离散的信号，即将时间上连续变化的模拟量转换为一系列等间隔的脉冲，脉冲的幅度取决于输入模拟量，其过程如图 8－7 所示。 图中， ui (t )是输入模拟信号， s ( t )为取样脉冲， u o ( t )为取样后的输出信号。</vt:lpstr>
      <vt:lpstr>PowerPoint 演示文稿</vt:lpstr>
      <vt:lpstr> 　　在取样脉冲作用的周期 τ 内，取样开关接通，使 u o ( t ) = u i ( t )，在其他时间( T s - τ )内，输出等于 0 。因此，每经过一个取样周期，对输入信号取样一次，在输出端便得到输入信号的一个取样值。为了不失真地恢复原来的输入信号，根据取样定理，一个频率有限的模拟信号，其取样频率 f s 必须大于等于输入模拟信号包含的最高频率 f max 的两倍，即取样频率必须满足:</vt:lpstr>
      <vt:lpstr> 　　模拟信号经取样后，得到一系列样值脉冲。取样脉冲宽度 τ 一般是很短暂的，在下一个取样脉冲到来之前，应暂时保持所取得的样值脉冲幅度，以便进行转换。因此在取样电 路之后须加保持电路。图 8－8 ( a )是一种常见的取样保持电路，场效应管 V 为取样门，电容 C 为保持电容，运算放大器为跟随器，起缓冲隔离作用。在取样脉冲 s (t )到来的时间 τ内，场效应管 V 导通，输入模拟量 u i ( t )向电容充电。假定充电时间常数远小于 τ ，那么电容 C 上的充电电压就能及时跟上 u i ( t )的采样值。</vt:lpstr>
      <vt:lpstr> 采样结束， V 迅速截止，电容 C 上的充电电压就保持了前一次取样时间 τ 的输入 u i ( t )的值，一直保持到下一个取样脉冲到来为止。当下一个取样脉冲到来时，电容 C 上的电压 u o (t )再按输入 u i ( t )变化。在输入一连串取样脉冲序列后，取样保持电路的缓冲放大器输出电压 u′ o (t ) 便得到如图 8－8 ( b )所示的波形。</vt:lpstr>
      <vt:lpstr>PowerPoint 演示文稿</vt:lpstr>
      <vt:lpstr> 　　 2. 量化与编码 　　正如前面所讲，数字信号不仅在时间上是不连续的，而且在幅度上也是不连续的。因此，任何一个数字量的大小都可用某个最小量单位的整数倍来表示。而采样 - 保持后的电 压仍是连续可变的，在将其转换成数字量时，就必须把它与一些规定个数的离散电平进行比较，凡介于两个离散电平之间的取样值，可按某种方式近似地用这两个离散电平中的一 个表示。这种取整并归的方式和过程称为数值量化，简称量化。所取的最小数量单位叫做量化单位，用 Δ 表示。显然，数字信号最低有效位( LSB )的 1 所代表的数量大小就等于 Δ。</vt:lpstr>
      <vt:lpstr> 　　把量化的结果用代码(可以是二进制，也可是其他进制)表示出来，称为编码。这些代码就是 A / D 转换的输出结果。 　　量化的方法有两种:一种是只舍不入，另一种是有舍有入。</vt:lpstr>
      <vt:lpstr>PowerPoint 演示文稿</vt:lpstr>
      <vt:lpstr>PowerPoint 演示文稿</vt:lpstr>
      <vt:lpstr>PowerPoint 演示文稿</vt:lpstr>
      <vt:lpstr> 8. 3. 2 A / D 转换器的主要电路形式 　　ADC 电路分为直接法和间接法两大类。 　　直接法是通过一套基准电压与取样保持电压进行比较，从而将模拟量直接转换成数字量。其特点是工作速度高，转换精度容易保证，调准也比较方便。 　　间接法是将取样后的模拟电压信号先转换成一个中间变量(时间 t 或频率 f )，然后再将中间变量转换成数字量。其特点是工作速度较低，但转换精度可提高，且抗干扰性强。 　　常用的直接 A / D 转换器有并联比较型和反馈比较型两类。目前使用的间接 A / D 转换器多半都属于电压 - 时间变换型(简称 UT 变换型)和电压 - 频率变换型(简称 U F 变换型)。下面介绍常用的电路。</vt:lpstr>
      <vt:lpstr> 　　 1. 并联比较型 A / D 转换器 　　并联比较型 A / D 转换器的电路结构如图 8－10 所示，它由电压比较器、寄存器和代码转换电路三 部分组成。其输入为 0~ U REF 间的 模拟电 压，输 出 为 三 位 二 进 制 数 码d 2 d 1 d 0 。</vt:lpstr>
      <vt:lpstr> 　　电压比较器由电阻分压器和七个比较器构成。在电阻分压器中，量化电平的划分采用图 8－9 ( b )所示的方式，即以有舍有入方式进行分压。用电阻链把参考电压 U REF 分压，得到从 "1" /"15" U REF到 "13" /"15"  U REF 之间的七个量化电平，量化单位为 Δ ="2" /"15"  U REF 。然后，把这七个量化电平分别接到七个电压比较器 C1 ~C 7 的负输入端，作为比较基准。同时，将输入的模拟电压接到每个电压比较器的正输入端，与这七个量化电平进行比较。</vt:lpstr>
      <vt:lpstr>PowerPoint 演示文稿</vt:lpstr>
      <vt:lpstr> 　　若 ui &lt; "1" /"15" U REF，则所有电压比较器的输出全是低电平， CP 上升沿到来后寄存器中所有的触发器都被置成 0 状态。 　　若  "1" /"15" U REF ≤ u i &lt; "13" /"15"  U REF ，则只有 C 1 输出为高电平， CP 上升沿到来后触发器 FF 1 被置成 1 状态，其余触发器被置成 0 状态。 　　依次类推，易算出 u i 为不同电压时寄存器的状态，如表 8－1 所示。但由于寄存器输出的是一组七位的二进制代码，仍不是所要求的二进制数，因此必须进行代码转换。</vt:lpstr>
      <vt:lpstr>PowerPoint 演示文稿</vt:lpstr>
      <vt:lpstr>PowerPoint 演示文稿</vt:lpstr>
      <vt:lpstr> 　　代码转换器是一个组合逻辑电路，根据表 8－1 可以写出代码转换电路输出与输入间的逻辑函数式:      　　按照上式即可得到图 8－10 所示的代码转换电路。</vt:lpstr>
      <vt:lpstr> 　　例如，假设模拟输入电压 ui =3.8 V ， U REF =8 V 。当模拟输入电压 ui 加到各级比较器时，由于    　　因此比较器的输出 C 7 ~ C 1 为 0001111 。在时钟脉冲作用下，比较器的输出存入寄存器，经代码转换电路输出 A / D 转换结果: d2 d 1 d 0 =100 。这也就是并联比较型 A / D 转换器的工作过程。</vt:lpstr>
      <vt:lpstr> 　　并联比较型 A / D 转换器的转换速度很快，其转换速度实际上取决于器件的速度和时钟脉冲的宽度。其缺点是电路复杂，对于一个 n 位二进制输出的并联比较型 A / D 转换器， 需 2n -1 个电压比较器和 2 n -1 个触发器，代码转换电路随 n 的增大变得相当复杂。 　　并联比较型 A / D 转换器的转换精度主要取决于量化电平的划分，分得越细，精度越高。但分得过细，使用的比较器和触发器数目就越大，电路就更加复杂。此外，转换精度还受参考电压的稳定度和分压电阻相对精度以及电压比较器灵敏度的影响。</vt:lpstr>
      <vt:lpstr> 　　 2. 反馈比较型 A / D 转换器 　　在反馈比较型 A / D 转换器中经常采用的有计数型和逐次渐近型两种方案。 　　计数型 A / D 转换器的原理框图如图 8－11 所示。它由电压比较器、 D / A 转换器、计数器以及输出寄存器等几部分组成。</vt:lpstr>
      <vt:lpstr>PowerPoint 演示文稿</vt:lpstr>
      <vt:lpstr> 　　转换开始前先用复位信号将计数器置零，而且转换控制信号应停留在 u L =0 的状态。这时逻辑门被封锁，计数器不工作。计数器加给 D / A 转换器的是全 0 信号，因此 D / A 转换器输出的模拟电压 u o =0 。如果 ui 为正电压信号，则 u i &gt; u o ，比较器的输出电压 u B =1 。 　　当 u L变成高电平时开始转换，脉冲源发出的脉冲经过逻辑门 G 加到计数器的时钟信号输入端 CP ，计数器开始作加法计数。随着计数的进行， D / A 转换器输出的模拟电压 u o也不断增加。当 u o增至 u o  = u o 时，比较器的输出电压变成 u B =0 ，将逻辑门 G 封锁，计数器停止计数。这时，计数器中所存的数字就是所求的输出信号。</vt:lpstr>
      <vt:lpstr> 　　由于在转换过程中，计数器中的数字不停地变化，因此不宜将计数器的状态直接作为输出信号。为此，在输出端设置了输出寄存器。在每次转换完成以后，用转换控制信号 u L 的下降沿将计数器输出的数字置入输出寄存器中，而以寄存器的状态作为最终的输出信号。 　　计数型 A / D 转换器电路简单，但速度很慢，当输出为 n 位二进制数码时，最大转换时间为(2n -1 )× T CP ( T CP CP 为计数器时钟脉冲周期)。</vt:lpstr>
      <vt:lpstr> 　　为了提高转换速度，在计数型 A / D 转换器的基础上又产生了逐次渐近型 A / D 转换器。逐次渐近型 A / D 转换器的原理框图如图 8－12 所示。它由电压比较器、 D / A 转换器、寄存器、时钟脉冲源和控制逻辑等几部分组成。</vt:lpstr>
      <vt:lpstr>PowerPoint 演示文稿</vt:lpstr>
      <vt:lpstr> 　　这种转换是将转换的模拟电压 u o与一系列基准电压比较。比较是从高位到低位逐位进行的，并依次确定各位数码是 1 还是 0 。转换开始前，先将寄存器清零。转换控制信号 u L 变为高电平时开始转换，时钟信号首先将寄存器的最高位置 1 ，使其输出为 100 … 00 ，这个数字量被 D / A 转换器转换成相应的模拟电压 u o ，送至比较器与输入信号ui比较。若u o &gt; ui ，说明寄存器输出的数码过大，应将最高位改为 0 ，同时设次高位为 1 ;若 u o ≤ ui ，说明寄存器输出的数码不够大，应将最高位设置的 1 保留，同时也设次高位为 1 。</vt:lpstr>
      <vt:lpstr> 然后再按同样的方法进行比较，确定次高位的 1 是去掉还是保留。这样逐位比较下去，一直到最低位为止。比较完毕后，寄存器的状态就是转化后的数字输出。例如，一个待转换的模拟电压 ui =163mV ，逐次渐近寄存器的数字量为八位，则整个比较过程如表 8－2 所示， D / A转换器输出的 u o反馈电压变化波形如图 8－13 所示。</vt:lpstr>
      <vt:lpstr>PowerPoint 演示文稿</vt:lpstr>
      <vt:lpstr>PowerPoint 演示文稿</vt:lpstr>
      <vt:lpstr> 　　逐次渐近型 A / D 转换器具有较高的转换速度。对于一个 n 位逐次渐近型 A / D 转换器，转换一次需要的时间为( n +2 ) T CP ，位数越多，转换时间就相应越长。与并联比较型相比，它的速度要低一些，但所需硬件较少，因而对在速度要求不是特别高的场合，逐次渐近型 A / D 转换器的应用最为广泛。 　　逐次渐近型 A / D 转换器的精度主要取决于其中 D / A 转换器的位数和线性度、参考电压的稳定性和电压比较器的灵敏度。由于高精度的 D / A 转换器已能实现，因此逐次渐近型A / D 转换器可达到很高的精度。</vt:lpstr>
      <vt:lpstr> 　　 3. 双积分型 A / D 转换器 　　双积分型 A / D 转换器的转换原理是将模拟电压 ui 转换成与其大小成正比的时间 T ，再利用基准时钟脉冲通过计数器将 T 变换成数字量。图 8－14 所示是双积分型 A / D 转换器的原理框图。它包含积分器、比较器、计数器、控制逻辑和时钟信号源几部分。图 8－15所示是这个电路的工作波形图。</vt:lpstr>
      <vt:lpstr>PowerPoint 演示文稿</vt:lpstr>
      <vt:lpstr> 　　下面讨论它的工作过程和这种 A / D 转换器的特点。 　　转换开始前(转换控制信号 u L =0 )，先将计数器清零，并将开关 S2 合上，使积分电容器完全放电。当 u L =1 时开始转换。其转换过程分两个阶段进行: 　　(1)取样阶段。将开关 S 1 接至输入信号电压 u i 一侧，则积分器的输出电压 u o 为</vt:lpstr>
      <vt:lpstr>PowerPoint 演示文稿</vt:lpstr>
      <vt:lpstr> 　　由上式可知，当输入模拟电压 ui 为正时， u o (t ) &lt;0 ，所以比较器的输出 C 0 =1 ，与门 G 打开，周期为 T CP 的时钟脉冲经与门 G 使 n 位加法计数器从零开始计数。当计满 2n个时钟脉冲时，计数器回到全零状态，而触发器 F n 的输出 Q 则由 0 变为 1 ，从而使逻辑控制电路将开关 S1 由 u i 一侧改接到 - U REF 一侧。至此，取样阶段结束，并开始对基准电压 - U REF 进行反向积分。</vt:lpstr>
      <vt:lpstr> 　　由上面的分析可知，取样阶段的积分时间为一常数，用 T 1 表示，则   因而积分器的输出电压 u o (t )为   因为 2nT CP 不变，即 T 1 固定，所以积分器的输出电压 u o ( t )与输入模拟电压 u i 成正比。</vt:lpstr>
      <vt:lpstr> 　　 (2)比较阶段。开关 S 1 接至基准电压 - U REF 一侧后，积分器向相反方向积分，计数器又开始从 0 计数，经过时间 T 2 后，积分器的输出电压上升到零，比较器的输出为低电平，将与门 G 封锁，停止计数，转换结束。积分器的输出电压为</vt:lpstr>
      <vt:lpstr> 即   可见，反向积分到 u o =0 的时间 T 2 与输入信号 u i成正比。在 T 2 时间间隔内，计数器所计的脉冲数 D 为   　　由上式可见，计数器记录的脉冲数 D 与输入电压 u i 成正比，计数器记录 D个脉冲后的状态就表示了 u i 的数字量的二进制代码，实现了 A/ D 转换。</vt:lpstr>
      <vt:lpstr> 　　双积分型 A / D 转换器最突出的优点是工作性能比较稳定。由于每次转换用同一积分器进行两次积分，转换结果与 R 、 C 的参数无关，因此， R 、 C 参数的缓慢变化不影响电路的转换精度，而且也不要求 R 、 C 的数值十分准确。式( 8.3. 6 )和式( 8. 3. 8 )还说明，在取 T 1= NT CP 的情况下，转换结果与时钟信号周期无关。只要每次转换过程中 T CP 不变，那么时钟周期在长时间内发生缓慢变化不会带来转换误差。</vt:lpstr>
      <vt:lpstr> 　　双积分型 A / D 转换器的另一个优点是抗干扰能力比较强。因为转换器的输入端使用了积分器，所以对平均值为零的各种噪声有很强的抑制能力。 　　双积分型 A / D 转换器的主要缺点是工作速度低，其转换速度一般为几十毫秒左右。尽管如此，在速度要求不高的场合，双积分型 A / D 转换器的应用仍然十分广泛。</vt:lpstr>
      <vt:lpstr> 8. 3. 3 A / D 转换器的主要技术指标 　1. 分辨率 　　分辨率指 A / D 转换器对输入模拟信号的分辨能力。从理论上讲，一个 n 位二进制数输出的 A / D 转换器应能区分输入模拟电压的 2n个不同量级，能区分输入模拟电压的最小差异 "1" /"2n"  FSR (满量程输入的 1/ 2n )。例如，A / D 转换器的输出为 10 位二进制数，最大输入信号为 5V ，则其分辨率为</vt:lpstr>
      <vt:lpstr> 　　2. 转换速度 　　转换速度是指完成一次转换所需的时间。 A / D 转换器的转换速度主要取决于转换电路的类型，不同类型 A / D 转换器的转换速度相差很大。双积分型 A / D 转换器的转换速度最慢，需几十毫秒左右;逐次渐近型 A / D 转换器的转换速度较快，转换速度为几十微秒;并联型 A / D 转换器的转换速度最快，仅需几十纳秒。</vt:lpstr>
      <vt:lpstr> 习 题</vt:lpstr>
      <vt:lpstr> 　　8－2  已知某 DAC 电路最小分辨电压 U LSB =5mV ，最大满刻度电压 U m =10V ，试求该电路输入数字量的位数和基准电压 U REF 。 　　8－3  某一控制系统中有一个 D / A 转换器，若系统要求 D / A 转换精度小于 0. 25% ，试问应选多少位的 D / A 转换器? 　　8－4  在倒 T 型电阻 D / A 转换器中，如果 U REF =-10V ， R f = R ， n =10 ，输入数字量 D=0110111011 ，求输出电压的值。</vt:lpstr>
      <vt:lpstr> 　　 8－5  某八位 ADC 电路输入模拟电压满量程为 10V ，当输入下列电压值时，将转换成多大的数字量? 59. 7mV ， 3. 46mV ， 7. 08mV 　　8－6  有一个 12 位 ADC 电路，它的输入满量程是 U m =10V ，试计算其分辨率。 　　8－7  对于满刻度为 10V ，分辨率要达到 1mV 的 A / D 转换器，其位数应是多少?当模拟输入电压为 6.5V 时，输出数字量是多少? 　　 8 －8  对于 10 位逐次渐近型 ADC 电路，当时钟频率为 1MHz 时，其转换时间是多少? 如果要求完成一次转换的时间小于 10 μ s ，时钟频率应选多大?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wp</dc:creator>
  <cp:lastModifiedBy>Lee</cp:lastModifiedBy>
  <cp:revision>49</cp:revision>
  <dcterms:created xsi:type="dcterms:W3CDTF">2008-03-13T07:21:39Z</dcterms:created>
  <dcterms:modified xsi:type="dcterms:W3CDTF">2018-06-28T09:17:45Z</dcterms:modified>
</cp:coreProperties>
</file>