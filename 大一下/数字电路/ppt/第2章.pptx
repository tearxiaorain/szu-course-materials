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55" r:id="rId70"/>
    <p:sldId id="356" r:id="rId71"/>
    <p:sldId id="357" r:id="rId72"/>
    <p:sldId id="358" r:id="rId73"/>
    <p:sldId id="325" r:id="rId74"/>
    <p:sldId id="326" r:id="rId75"/>
    <p:sldId id="327" r:id="rId76"/>
    <p:sldId id="328" r:id="rId77"/>
    <p:sldId id="353" r:id="rId78"/>
    <p:sldId id="354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36" autoAdjust="0"/>
    <p:restoredTop sz="94660"/>
  </p:normalViewPr>
  <p:slideViewPr>
    <p:cSldViewPr>
      <p:cViewPr varScale="1">
        <p:scale>
          <a:sx n="81" d="100"/>
          <a:sy n="81" d="100"/>
        </p:scale>
        <p:origin x="150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55558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266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gi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gif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1500" y="533400"/>
            <a:ext cx="8115300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5733256"/>
            <a:ext cx="9144000" cy="4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 dirty="0"/>
          </a:p>
        </p:txBody>
      </p:sp>
      <p:pic>
        <p:nvPicPr>
          <p:cNvPr id="1031" name="Picture 7" descr="BJ2048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67400"/>
            <a:ext cx="91440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J209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0"/>
            <a:ext cx="914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GIF-396"/>
          <p:cNvPicPr>
            <a:picLocks noChangeAspect="1" noChangeArrowheads="1" noCrop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479425"/>
            <a:ext cx="3759200" cy="6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F-450"/>
          <p:cNvPicPr>
            <a:picLocks noChangeAspect="1" noChangeArrowheads="1" noCrop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" cy="45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Text Box 11"/>
          <p:cNvSpPr txBox="1">
            <a:spLocks noChangeArrowheads="1"/>
          </p:cNvSpPr>
          <p:nvPr userDrawn="1"/>
        </p:nvSpPr>
        <p:spPr bwMode="auto">
          <a:xfrm>
            <a:off x="910100" y="52685"/>
            <a:ext cx="29322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latin typeface="华文行楷" pitchFamily="2" charset="-122"/>
                <a:ea typeface="华文行楷" pitchFamily="2" charset="-122"/>
              </a:rPr>
              <a:t>第</a:t>
            </a:r>
            <a:r>
              <a:rPr lang="en-US" altLang="zh-CN" dirty="0">
                <a:latin typeface="华文行楷" pitchFamily="2" charset="-122"/>
                <a:ea typeface="华文行楷" pitchFamily="2" charset="-122"/>
              </a:rPr>
              <a:t>2</a:t>
            </a:r>
            <a:r>
              <a:rPr lang="zh-CN" altLang="en-US" dirty="0">
                <a:latin typeface="华文行楷" pitchFamily="2" charset="-122"/>
                <a:ea typeface="华文行楷" pitchFamily="2" charset="-122"/>
              </a:rPr>
              <a:t>章  组合逻辑电路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xStyles>
    <p:titleStyle>
      <a:lvl1pPr algn="l" rtl="0" fontAlgn="base">
        <a:lnSpc>
          <a:spcPct val="130000"/>
        </a:lnSpc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130000"/>
        </a:lnSpc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l" rtl="0" fontAlgn="base">
        <a:lnSpc>
          <a:spcPct val="130000"/>
        </a:lnSpc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l" rtl="0" fontAlgn="base">
        <a:lnSpc>
          <a:spcPct val="130000"/>
        </a:lnSpc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l" rtl="0" fontAlgn="base">
        <a:lnSpc>
          <a:spcPct val="130000"/>
        </a:lnSpc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457200" algn="l" rtl="0" fontAlgn="base">
        <a:lnSpc>
          <a:spcPct val="130000"/>
        </a:lnSpc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914400" algn="l" rtl="0" fontAlgn="base">
        <a:lnSpc>
          <a:spcPct val="130000"/>
        </a:lnSpc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371600" algn="l" rtl="0" fontAlgn="base">
        <a:lnSpc>
          <a:spcPct val="130000"/>
        </a:lnSpc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828800" algn="l" rtl="0" fontAlgn="base">
        <a:lnSpc>
          <a:spcPct val="130000"/>
        </a:lnSpc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ctr" rtl="0" fontAlgn="base">
        <a:lnSpc>
          <a:spcPct val="130000"/>
        </a:lnSpc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130000"/>
        </a:lnSpc>
        <a:spcBef>
          <a:spcPct val="20000"/>
        </a:spcBef>
        <a:spcAft>
          <a:spcPct val="0"/>
        </a:spcAft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lnSpc>
          <a:spcPct val="130000"/>
        </a:lnSpc>
        <a:spcBef>
          <a:spcPct val="20000"/>
        </a:spcBef>
        <a:spcAft>
          <a:spcPct val="0"/>
        </a:spcAft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lnSpc>
          <a:spcPct val="130000"/>
        </a:lnSpc>
        <a:spcBef>
          <a:spcPct val="20000"/>
        </a:spcBef>
        <a:spcAft>
          <a:spcPct val="0"/>
        </a:spcAft>
        <a:defRPr kumimoji="1" sz="24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lnSpc>
          <a:spcPct val="130000"/>
        </a:lnSpc>
        <a:spcBef>
          <a:spcPct val="20000"/>
        </a:spcBef>
        <a:spcAft>
          <a:spcPct val="0"/>
        </a:spcAft>
        <a:defRPr kumimoji="1"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30000"/>
        </a:lnSpc>
        <a:spcBef>
          <a:spcPct val="20000"/>
        </a:spcBef>
        <a:spcAft>
          <a:spcPct val="0"/>
        </a:spcAft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30000"/>
        </a:lnSpc>
        <a:spcBef>
          <a:spcPct val="20000"/>
        </a:spcBef>
        <a:spcAft>
          <a:spcPct val="0"/>
        </a:spcAft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30000"/>
        </a:lnSpc>
        <a:spcBef>
          <a:spcPct val="20000"/>
        </a:spcBef>
        <a:spcAft>
          <a:spcPct val="0"/>
        </a:spcAft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30000"/>
        </a:lnSpc>
        <a:spcBef>
          <a:spcPct val="20000"/>
        </a:spcBef>
        <a:spcAft>
          <a:spcPct val="0"/>
        </a:spcAft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hyperlink" Target="&#23553;&#38754;&#21450;&#30446;&#24405;.pptx#-1,2,PowerPoint &#28436;&#31034;&#25991;&#31295;" TargetMode="External"/><Relationship Id="rId4" Type="http://schemas.openxmlformats.org/officeDocument/2006/relationships/slide" Target="slide5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gi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mp"/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mp"/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gif"/><Relationship Id="rId4" Type="http://schemas.openxmlformats.org/officeDocument/2006/relationships/slide" Target="slide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tmp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mp"/><Relationship Id="rId2" Type="http://schemas.openxmlformats.org/officeDocument/2006/relationships/image" Target="../media/image38.tmp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m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m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mp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3.bin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tmp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tmp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6.bin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tmp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tmp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tmp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tmp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tmp"/><Relationship Id="rId2" Type="http://schemas.openxmlformats.org/officeDocument/2006/relationships/image" Target="../media/image56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tmp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7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124744"/>
            <a:ext cx="8115300" cy="1239416"/>
          </a:xfrm>
        </p:spPr>
        <p:txBody>
          <a:bodyPr/>
          <a:lstStyle/>
          <a:p>
            <a:pPr algn="ctr"/>
            <a:r>
              <a:rPr lang="zh-CN" altLang="en-US" sz="4800" dirty="0">
                <a:latin typeface="华文行楷" pitchFamily="2" charset="-122"/>
                <a:ea typeface="华文行楷" pitchFamily="2" charset="-122"/>
              </a:rPr>
              <a:t>第 </a:t>
            </a:r>
            <a:r>
              <a:rPr lang="en-US" altLang="zh-CN" sz="4800" dirty="0">
                <a:latin typeface="华文行楷" pitchFamily="2" charset="-122"/>
                <a:ea typeface="华文行楷" pitchFamily="2" charset="-122"/>
              </a:rPr>
              <a:t>2 </a:t>
            </a:r>
            <a:r>
              <a:rPr lang="zh-CN" altLang="en-US" sz="4800" dirty="0">
                <a:latin typeface="华文行楷" pitchFamily="2" charset="-122"/>
                <a:ea typeface="华文行楷" pitchFamily="2" charset="-122"/>
              </a:rPr>
              <a:t>章 组合逻辑电路</a:t>
            </a:r>
            <a:endParaRPr lang="zh-CN" altLang="zh-CN" sz="4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矩形 3"/>
          <p:cNvSpPr/>
          <p:nvPr/>
        </p:nvSpPr>
        <p:spPr>
          <a:xfrm>
            <a:off x="1907704" y="2852936"/>
            <a:ext cx="5472608" cy="217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600" b="1" dirty="0">
                <a:hlinkClick r:id="rId2" action="ppaction://hlinksldjump"/>
              </a:rPr>
              <a:t>2. 1  </a:t>
            </a:r>
            <a:r>
              <a:rPr lang="zh-CN" altLang="en-US" sz="2600" b="1" dirty="0">
                <a:hlinkClick r:id="rId2" action="ppaction://hlinksldjump"/>
              </a:rPr>
              <a:t>集成门电路</a:t>
            </a:r>
            <a:endParaRPr lang="en-US" altLang="zh-CN" sz="2600" b="1" dirty="0"/>
          </a:p>
          <a:p>
            <a:pPr>
              <a:lnSpc>
                <a:spcPct val="130000"/>
              </a:lnSpc>
            </a:pPr>
            <a:r>
              <a:rPr lang="en-US" altLang="zh-CN" sz="2600" b="1" dirty="0">
                <a:hlinkClick r:id="rId3" action="ppaction://hlinksldjump"/>
              </a:rPr>
              <a:t>2. 2  </a:t>
            </a:r>
            <a:r>
              <a:rPr lang="zh-CN" altLang="en-US" sz="2600" b="1" dirty="0">
                <a:hlinkClick r:id="rId3" action="ppaction://hlinksldjump"/>
              </a:rPr>
              <a:t>组合逻辑电路</a:t>
            </a:r>
            <a:endParaRPr lang="en-US" altLang="zh-CN" sz="2600" b="1" dirty="0"/>
          </a:p>
          <a:p>
            <a:pPr>
              <a:lnSpc>
                <a:spcPct val="130000"/>
              </a:lnSpc>
            </a:pPr>
            <a:r>
              <a:rPr lang="en-US" altLang="zh-CN" sz="2600" b="1" dirty="0">
                <a:hlinkClick r:id="rId4" action="ppaction://hlinksldjump"/>
              </a:rPr>
              <a:t>2. 3  </a:t>
            </a:r>
            <a:r>
              <a:rPr lang="zh-CN" altLang="en-US" sz="2600" b="1" dirty="0">
                <a:hlinkClick r:id="rId4" action="ppaction://hlinksldjump"/>
              </a:rPr>
              <a:t>组合逻辑电路中的竞争和冒险</a:t>
            </a:r>
            <a:endParaRPr lang="en-US" altLang="zh-CN" sz="2600" b="1" dirty="0"/>
          </a:p>
          <a:p>
            <a:pPr>
              <a:lnSpc>
                <a:spcPct val="130000"/>
              </a:lnSpc>
            </a:pPr>
            <a:r>
              <a:rPr lang="zh-CN" altLang="en-US" sz="2600" b="1" dirty="0">
                <a:hlinkClick r:id="" action="ppaction://noaction"/>
              </a:rPr>
              <a:t>习题</a:t>
            </a:r>
            <a:endParaRPr lang="en-US" altLang="zh-CN" sz="2600" b="1" dirty="0"/>
          </a:p>
        </p:txBody>
      </p:sp>
      <p:pic>
        <p:nvPicPr>
          <p:cNvPr id="6" name="Picture 8" descr="GIF014">
            <a:hlinkClick r:id="rId5" action="ppaction://hlinkpres?slideindex=2&amp;slidetitle=PowerPoint 演示文稿"/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150" y="6286500"/>
            <a:ext cx="108585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本章首先简单介绍组合逻辑电路中经常使用的集成门电路，接着着重介绍组合逻辑电路的分析方法和设计方法，最后介绍组合逻辑电路中出现竞争 </a:t>
            </a:r>
            <a:r>
              <a:rPr lang="en-US" altLang="zh-CN" dirty="0"/>
              <a:t>- </a:t>
            </a:r>
            <a:r>
              <a:rPr lang="zh-CN" altLang="en-US" dirty="0"/>
              <a:t>冒险现象的原因以及消除办法。</a:t>
            </a:r>
            <a:endParaRPr lang="en-US" altLang="zh-CN" dirty="0"/>
          </a:p>
        </p:txBody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533400"/>
            <a:ext cx="8115300" cy="1095400"/>
          </a:xfrm>
        </p:spPr>
        <p:txBody>
          <a:bodyPr/>
          <a:lstStyle/>
          <a:p>
            <a:pPr algn="ctr"/>
            <a:br>
              <a:rPr lang="en-US" altLang="zh-CN" sz="2600" b="1" dirty="0"/>
            </a:br>
            <a:r>
              <a:rPr lang="en-US" altLang="zh-CN" sz="2600" b="1" dirty="0"/>
              <a:t>2. 1  </a:t>
            </a:r>
            <a:r>
              <a:rPr lang="zh-CN" altLang="en-US" sz="2600" b="1" dirty="0"/>
              <a:t>集 成 门 电 路</a:t>
            </a:r>
            <a:endParaRPr lang="zh-CN" altLang="zh-CN" sz="2600" b="1" dirty="0"/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23900" y="1781200"/>
            <a:ext cx="8115300" cy="409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2pPr>
            <a:lvl3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3pPr>
            <a:lvl4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4pPr>
            <a:lvl5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5pPr>
            <a:lvl6pPr marL="4572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6pPr>
            <a:lvl7pPr marL="9144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7pPr>
            <a:lvl8pPr marL="13716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8pPr>
            <a:lvl9pPr marL="18288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br>
              <a:rPr lang="en-US" altLang="zh-CN" dirty="0"/>
            </a:br>
            <a:r>
              <a:rPr lang="zh-CN" altLang="en-US" dirty="0"/>
              <a:t>　　目前生产和使用的数字集成电路种类很多，主要有 </a:t>
            </a:r>
            <a:r>
              <a:rPr lang="en-US" altLang="zh-CN" dirty="0"/>
              <a:t>TTL </a:t>
            </a:r>
            <a:r>
              <a:rPr lang="zh-CN" altLang="en-US" dirty="0"/>
              <a:t>电路、 </a:t>
            </a:r>
            <a:r>
              <a:rPr lang="en-US" altLang="zh-CN" dirty="0"/>
              <a:t>ECL </a:t>
            </a:r>
            <a:r>
              <a:rPr lang="zh-CN" altLang="en-US" dirty="0"/>
              <a:t>电路、 </a:t>
            </a:r>
            <a:r>
              <a:rPr lang="en-US" altLang="zh-CN" dirty="0"/>
              <a:t>I2 L </a:t>
            </a:r>
            <a:r>
              <a:rPr lang="zh-CN" altLang="en-US" dirty="0"/>
              <a:t>电路、</a:t>
            </a:r>
            <a:r>
              <a:rPr lang="en-US" altLang="zh-CN" dirty="0"/>
              <a:t>CMOS </a:t>
            </a:r>
            <a:r>
              <a:rPr lang="zh-CN" altLang="en-US" dirty="0"/>
              <a:t>电路、 </a:t>
            </a:r>
            <a:r>
              <a:rPr lang="en-US" altLang="zh-CN" dirty="0"/>
              <a:t>NMOS </a:t>
            </a:r>
            <a:r>
              <a:rPr lang="zh-CN" altLang="en-US" dirty="0"/>
              <a:t>电路、 </a:t>
            </a:r>
            <a:r>
              <a:rPr lang="en-US" altLang="zh-CN" dirty="0"/>
              <a:t>PMOS </a:t>
            </a:r>
            <a:r>
              <a:rPr lang="zh-CN" altLang="en-US" dirty="0"/>
              <a:t>电路、 </a:t>
            </a:r>
            <a:r>
              <a:rPr lang="en-US" altLang="zh-CN" dirty="0"/>
              <a:t>Bi CMOS </a:t>
            </a:r>
            <a:r>
              <a:rPr lang="zh-CN" altLang="en-US" dirty="0"/>
              <a:t>电路等。</a:t>
            </a:r>
            <a:endParaRPr lang="zh-CN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332656"/>
            <a:ext cx="8115300" cy="5638800"/>
          </a:xfrm>
        </p:spPr>
        <p:txBody>
          <a:bodyPr/>
          <a:lstStyle/>
          <a:p>
            <a:pPr>
              <a:lnSpc>
                <a:spcPct val="120000"/>
              </a:lnSpc>
            </a:pPr>
            <a:br>
              <a:rPr lang="en-US" altLang="zh-CN" sz="2300" dirty="0"/>
            </a:br>
            <a:r>
              <a:rPr lang="zh-CN" altLang="en-US" sz="2300" dirty="0"/>
              <a:t>　　上述电路符号的含义如下</a:t>
            </a:r>
            <a:r>
              <a:rPr lang="en-US" altLang="zh-CN" sz="2300" dirty="0"/>
              <a:t>:</a:t>
            </a:r>
            <a:br>
              <a:rPr lang="en-US" altLang="zh-CN" sz="2300" dirty="0"/>
            </a:br>
            <a:r>
              <a:rPr lang="zh-CN" altLang="en-US" sz="2300" dirty="0"/>
              <a:t>　　</a:t>
            </a:r>
            <a:r>
              <a:rPr lang="en-US" altLang="zh-CN" sz="2300" dirty="0"/>
              <a:t>TTL : Transistor </a:t>
            </a:r>
            <a:r>
              <a:rPr lang="en-US" altLang="zh-CN" sz="2300" dirty="0" err="1"/>
              <a:t>TransistorLogic</a:t>
            </a:r>
            <a:r>
              <a:rPr lang="en-US" altLang="zh-CN" sz="2300" dirty="0"/>
              <a:t> </a:t>
            </a:r>
            <a:r>
              <a:rPr lang="zh-CN" altLang="en-US" sz="2300" dirty="0"/>
              <a:t>，晶体管 </a:t>
            </a:r>
            <a:r>
              <a:rPr lang="en-US" altLang="zh-CN" sz="2300" dirty="0"/>
              <a:t>- </a:t>
            </a:r>
            <a:r>
              <a:rPr lang="zh-CN" altLang="en-US" sz="2300" dirty="0"/>
              <a:t>晶体管逻辑。</a:t>
            </a:r>
            <a:br>
              <a:rPr lang="zh-CN" altLang="en-US" sz="2300" dirty="0"/>
            </a:br>
            <a:r>
              <a:rPr lang="zh-CN" altLang="en-US" sz="2300" dirty="0"/>
              <a:t>　　</a:t>
            </a:r>
            <a:r>
              <a:rPr lang="en-US" altLang="zh-CN" sz="2300" dirty="0"/>
              <a:t>ECL : </a:t>
            </a:r>
            <a:r>
              <a:rPr lang="en-US" altLang="zh-CN" sz="2300" dirty="0" err="1"/>
              <a:t>EmitterCoupledLogic</a:t>
            </a:r>
            <a:r>
              <a:rPr lang="en-US" altLang="zh-CN" sz="2300" dirty="0"/>
              <a:t> </a:t>
            </a:r>
            <a:r>
              <a:rPr lang="zh-CN" altLang="en-US" sz="2300" dirty="0"/>
              <a:t>，发射极耦合逻辑。</a:t>
            </a:r>
            <a:br>
              <a:rPr lang="zh-CN" altLang="en-US" sz="2300" dirty="0"/>
            </a:br>
            <a:r>
              <a:rPr lang="zh-CN" altLang="en-US" sz="2300" dirty="0"/>
              <a:t>　　</a:t>
            </a:r>
            <a:r>
              <a:rPr lang="en-US" altLang="zh-CN" sz="2300" dirty="0"/>
              <a:t>I</a:t>
            </a:r>
            <a:r>
              <a:rPr lang="en-US" altLang="zh-CN" sz="2300" baseline="30000" dirty="0"/>
              <a:t>2 </a:t>
            </a:r>
            <a:r>
              <a:rPr lang="en-US" altLang="zh-CN" sz="2300" dirty="0"/>
              <a:t>L :</a:t>
            </a:r>
            <a:r>
              <a:rPr lang="en-US" altLang="zh-CN" sz="2300" dirty="0" err="1"/>
              <a:t>IntegratedInjectionLogic</a:t>
            </a:r>
            <a:r>
              <a:rPr lang="en-US" altLang="zh-CN" sz="2300" dirty="0"/>
              <a:t> </a:t>
            </a:r>
            <a:r>
              <a:rPr lang="zh-CN" altLang="en-US" sz="2300" dirty="0"/>
              <a:t>，集成注入逻辑。</a:t>
            </a:r>
            <a:br>
              <a:rPr lang="zh-CN" altLang="en-US" sz="2300" dirty="0"/>
            </a:br>
            <a:r>
              <a:rPr lang="zh-CN" altLang="en-US" sz="2300" dirty="0"/>
              <a:t>　　</a:t>
            </a:r>
            <a:r>
              <a:rPr lang="en-US" altLang="zh-CN" sz="2300" dirty="0"/>
              <a:t>CMOS : </a:t>
            </a:r>
            <a:r>
              <a:rPr lang="en-US" altLang="zh-CN" sz="2300" dirty="0" err="1"/>
              <a:t>ComplementaryMetal</a:t>
            </a:r>
            <a:r>
              <a:rPr lang="en-US" altLang="zh-CN" sz="2300" dirty="0"/>
              <a:t> </a:t>
            </a:r>
            <a:r>
              <a:rPr lang="en-US" altLang="zh-CN" sz="2300" dirty="0" err="1"/>
              <a:t>OxideSemiconductor</a:t>
            </a:r>
            <a:r>
              <a:rPr lang="en-US" altLang="zh-CN" sz="2300" dirty="0"/>
              <a:t> </a:t>
            </a:r>
            <a:r>
              <a:rPr lang="zh-CN" altLang="en-US" sz="2300" dirty="0"/>
              <a:t>，互补型金属 </a:t>
            </a:r>
            <a:r>
              <a:rPr lang="en-US" altLang="zh-CN" sz="2300" dirty="0"/>
              <a:t>- </a:t>
            </a:r>
            <a:r>
              <a:rPr lang="zh-CN" altLang="en-US" sz="2300" dirty="0"/>
              <a:t>氧化物半导体。</a:t>
            </a:r>
            <a:br>
              <a:rPr lang="zh-CN" altLang="en-US" sz="2300" dirty="0"/>
            </a:br>
            <a:r>
              <a:rPr lang="zh-CN" altLang="en-US" sz="2300" dirty="0"/>
              <a:t>　　</a:t>
            </a:r>
            <a:r>
              <a:rPr lang="en-US" altLang="zh-CN" sz="2300" dirty="0"/>
              <a:t>NMOS : N </a:t>
            </a:r>
            <a:r>
              <a:rPr lang="en-US" altLang="zh-CN" sz="2300" dirty="0" err="1"/>
              <a:t>ChannelMetal</a:t>
            </a:r>
            <a:r>
              <a:rPr lang="en-US" altLang="zh-CN" sz="2300" dirty="0"/>
              <a:t> </a:t>
            </a:r>
            <a:r>
              <a:rPr lang="en-US" altLang="zh-CN" sz="2300" dirty="0" err="1"/>
              <a:t>OxideSemiconductor</a:t>
            </a:r>
            <a:r>
              <a:rPr lang="en-US" altLang="zh-CN" sz="2300" dirty="0"/>
              <a:t> </a:t>
            </a:r>
            <a:r>
              <a:rPr lang="zh-CN" altLang="en-US" sz="2300" dirty="0"/>
              <a:t>，</a:t>
            </a:r>
            <a:r>
              <a:rPr lang="en-US" altLang="zh-CN" sz="2300" dirty="0"/>
              <a:t> N </a:t>
            </a:r>
            <a:r>
              <a:rPr lang="zh-CN" altLang="en-US" sz="2300" dirty="0"/>
              <a:t>沟道金属 </a:t>
            </a:r>
            <a:r>
              <a:rPr lang="en-US" altLang="zh-CN" sz="2300" dirty="0"/>
              <a:t>- </a:t>
            </a:r>
            <a:r>
              <a:rPr lang="zh-CN" altLang="en-US" sz="2300" dirty="0"/>
              <a:t>氧化物半导体。</a:t>
            </a:r>
            <a:br>
              <a:rPr lang="zh-CN" altLang="en-US" sz="2300" dirty="0"/>
            </a:br>
            <a:r>
              <a:rPr lang="zh-CN" altLang="en-US" sz="2300" dirty="0"/>
              <a:t>　　</a:t>
            </a:r>
            <a:r>
              <a:rPr lang="en-US" altLang="zh-CN" sz="2300" dirty="0"/>
              <a:t>PMOS : P </a:t>
            </a:r>
            <a:r>
              <a:rPr lang="en-US" altLang="zh-CN" sz="2300" dirty="0" err="1"/>
              <a:t>ChannelMetal</a:t>
            </a:r>
            <a:r>
              <a:rPr lang="en-US" altLang="zh-CN" sz="2300" dirty="0"/>
              <a:t> </a:t>
            </a:r>
            <a:r>
              <a:rPr lang="en-US" altLang="zh-CN" sz="2300" dirty="0" err="1"/>
              <a:t>OxideSemiconductor</a:t>
            </a:r>
            <a:r>
              <a:rPr lang="en-US" altLang="zh-CN" sz="2300" dirty="0"/>
              <a:t> </a:t>
            </a:r>
            <a:r>
              <a:rPr lang="zh-CN" altLang="en-US" sz="2300" dirty="0"/>
              <a:t>，</a:t>
            </a:r>
            <a:r>
              <a:rPr lang="en-US" altLang="zh-CN" sz="2300" dirty="0"/>
              <a:t> P </a:t>
            </a:r>
            <a:r>
              <a:rPr lang="zh-CN" altLang="en-US" sz="2300" dirty="0"/>
              <a:t>沟道金属 </a:t>
            </a:r>
            <a:r>
              <a:rPr lang="en-US" altLang="zh-CN" sz="2300" dirty="0"/>
              <a:t>- </a:t>
            </a:r>
            <a:r>
              <a:rPr lang="zh-CN" altLang="en-US" sz="2300" dirty="0"/>
              <a:t>氧化物半导体。</a:t>
            </a:r>
            <a:br>
              <a:rPr lang="zh-CN" altLang="en-US" sz="2300" dirty="0"/>
            </a:br>
            <a:r>
              <a:rPr lang="zh-CN" altLang="en-US" sz="2300" dirty="0"/>
              <a:t>　　</a:t>
            </a:r>
            <a:r>
              <a:rPr lang="en-US" altLang="zh-CN" sz="2300" dirty="0"/>
              <a:t>Bi CMOS : Bipolar CMOS </a:t>
            </a:r>
            <a:r>
              <a:rPr lang="zh-CN" altLang="en-US" sz="2300" dirty="0"/>
              <a:t>，双极型 </a:t>
            </a:r>
            <a:r>
              <a:rPr lang="en-US" altLang="zh-CN" sz="2300" dirty="0"/>
              <a:t>-CMOS </a:t>
            </a:r>
            <a:r>
              <a:rPr lang="zh-CN" altLang="en-US" sz="2300" dirty="0"/>
              <a:t>。</a:t>
            </a:r>
            <a:br>
              <a:rPr lang="zh-CN" altLang="en-US" sz="2300" dirty="0"/>
            </a:br>
            <a:r>
              <a:rPr lang="zh-CN" altLang="en-US" sz="2300" dirty="0"/>
              <a:t>　　其中，使用最广泛的是 </a:t>
            </a:r>
            <a:r>
              <a:rPr lang="en-US" altLang="zh-CN" sz="2300" dirty="0"/>
              <a:t>TTL </a:t>
            </a:r>
            <a:r>
              <a:rPr lang="zh-CN" altLang="en-US" sz="2300" dirty="0"/>
              <a:t>电路和 </a:t>
            </a:r>
            <a:r>
              <a:rPr lang="en-US" altLang="zh-CN" sz="2300" dirty="0"/>
              <a:t>CMOS </a:t>
            </a:r>
            <a:r>
              <a:rPr lang="zh-CN" altLang="en-US" sz="2300" dirty="0"/>
              <a:t>电路。 </a:t>
            </a:r>
            <a:r>
              <a:rPr lang="en-US" altLang="zh-CN" sz="2300" dirty="0"/>
              <a:t>TTL </a:t>
            </a:r>
            <a:r>
              <a:rPr lang="zh-CN" altLang="en-US" sz="2300" dirty="0"/>
              <a:t>电路是双极型电路</a:t>
            </a:r>
            <a:r>
              <a:rPr lang="en-US" altLang="zh-CN" sz="2300" dirty="0"/>
              <a:t>; CMOS </a:t>
            </a:r>
            <a:r>
              <a:rPr lang="zh-CN" altLang="en-US" sz="2300" dirty="0"/>
              <a:t>电路是单极型电路。</a:t>
            </a:r>
            <a:endParaRPr lang="zh-CN" altLang="zh-CN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en-US" altLang="zh-CN" b="1" dirty="0"/>
              <a:t>2. 1. 1 TTL </a:t>
            </a:r>
            <a:r>
              <a:rPr lang="zh-CN" altLang="en-US" b="1" dirty="0"/>
              <a:t>门电路</a:t>
            </a:r>
            <a:br>
              <a:rPr lang="zh-CN" altLang="en-US" b="1" dirty="0"/>
            </a:br>
            <a:r>
              <a:rPr lang="zh-CN" altLang="en-US" b="1" dirty="0"/>
              <a:t>　　</a:t>
            </a:r>
            <a:r>
              <a:rPr lang="en-US" altLang="zh-CN" dirty="0"/>
              <a:t>TTL </a:t>
            </a:r>
            <a:r>
              <a:rPr lang="zh-CN" altLang="en-US" dirty="0"/>
              <a:t>门电路由双极型三极管构成，它的特点是速度快、抗静电能力强、集成度低、功耗大，目前广泛应用于中、小规模集成电路中。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TTL </a:t>
            </a:r>
            <a:r>
              <a:rPr lang="zh-CN" altLang="en-US" dirty="0"/>
              <a:t>门电路有 </a:t>
            </a:r>
            <a:r>
              <a:rPr lang="en-US" altLang="zh-CN" dirty="0"/>
              <a:t>74 (</a:t>
            </a:r>
            <a:r>
              <a:rPr lang="zh-CN" altLang="en-US" dirty="0"/>
              <a:t>商用</a:t>
            </a:r>
            <a:r>
              <a:rPr lang="en-US" altLang="zh-CN" dirty="0"/>
              <a:t>)</a:t>
            </a:r>
            <a:r>
              <a:rPr lang="zh-CN" altLang="en-US" dirty="0"/>
              <a:t>和 </a:t>
            </a:r>
            <a:r>
              <a:rPr lang="en-US" altLang="zh-CN" dirty="0"/>
              <a:t>54 (</a:t>
            </a:r>
            <a:r>
              <a:rPr lang="zh-CN" altLang="en-US" dirty="0"/>
              <a:t>军用</a:t>
            </a:r>
            <a:r>
              <a:rPr lang="en-US" altLang="zh-CN" dirty="0"/>
              <a:t>)</a:t>
            </a:r>
            <a:r>
              <a:rPr lang="zh-CN" altLang="en-US" dirty="0"/>
              <a:t>两大系列，每个系列中又有若干子系列。例如，</a:t>
            </a:r>
            <a:r>
              <a:rPr lang="en-US" altLang="zh-CN" dirty="0"/>
              <a:t>74 </a:t>
            </a:r>
            <a:r>
              <a:rPr lang="zh-CN" altLang="en-US" dirty="0"/>
              <a:t>系列包含如下基本子系列</a:t>
            </a:r>
            <a:r>
              <a:rPr lang="en-US" altLang="zh-CN" dirty="0"/>
              <a:t>:</a:t>
            </a:r>
            <a:endParaRPr lang="zh-CN" altLang="zh-CN" dirty="0"/>
          </a:p>
        </p:txBody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dirty="0"/>
              <a:t>74 :</a:t>
            </a:r>
            <a:r>
              <a:rPr lang="zh-CN" altLang="en-US" dirty="0"/>
              <a:t>标准 </a:t>
            </a:r>
            <a:r>
              <a:rPr lang="en-US" altLang="zh-CN" dirty="0"/>
              <a:t>TTL ( </a:t>
            </a:r>
            <a:r>
              <a:rPr lang="en-US" altLang="zh-CN" dirty="0" err="1"/>
              <a:t>StandardTTL</a:t>
            </a:r>
            <a:r>
              <a:rPr lang="en-US" altLang="zh-CN" dirty="0"/>
              <a:t> )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74H :</a:t>
            </a:r>
            <a:r>
              <a:rPr lang="zh-CN" altLang="en-US" dirty="0"/>
              <a:t>高速 </a:t>
            </a:r>
            <a:r>
              <a:rPr lang="en-US" altLang="zh-CN" dirty="0"/>
              <a:t>TTL ( High-</a:t>
            </a:r>
            <a:r>
              <a:rPr lang="en-US" altLang="zh-CN" dirty="0" err="1"/>
              <a:t>speedTTL</a:t>
            </a:r>
            <a:r>
              <a:rPr lang="en-US" altLang="zh-CN" dirty="0"/>
              <a:t> )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74S :</a:t>
            </a:r>
            <a:r>
              <a:rPr lang="zh-CN" altLang="en-US" dirty="0"/>
              <a:t>肖特基 </a:t>
            </a:r>
            <a:r>
              <a:rPr lang="en-US" altLang="zh-CN" dirty="0"/>
              <a:t>TTL ( </a:t>
            </a:r>
            <a:r>
              <a:rPr lang="en-US" altLang="zh-CN" dirty="0" err="1"/>
              <a:t>SchottkyTTL</a:t>
            </a:r>
            <a:r>
              <a:rPr lang="en-US" altLang="zh-CN" dirty="0"/>
              <a:t> )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74AS :</a:t>
            </a:r>
            <a:r>
              <a:rPr lang="zh-CN" altLang="en-US" dirty="0"/>
              <a:t>先进肖特基 </a:t>
            </a:r>
            <a:r>
              <a:rPr lang="en-US" altLang="zh-CN" dirty="0"/>
              <a:t>TTL ( </a:t>
            </a:r>
            <a:r>
              <a:rPr lang="en-US" altLang="zh-CN" dirty="0" err="1"/>
              <a:t>AdvancedSchottkyTTL</a:t>
            </a:r>
            <a:r>
              <a:rPr lang="en-US" altLang="zh-CN" dirty="0"/>
              <a:t> )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74LS :</a:t>
            </a:r>
            <a:r>
              <a:rPr lang="zh-CN" altLang="en-US" dirty="0"/>
              <a:t>低功耗肖特基 </a:t>
            </a:r>
            <a:r>
              <a:rPr lang="en-US" altLang="zh-CN" dirty="0"/>
              <a:t>TTL ( Low-</a:t>
            </a:r>
            <a:r>
              <a:rPr lang="en-US" altLang="zh-CN" dirty="0" err="1"/>
              <a:t>powerSchottkyTTL</a:t>
            </a:r>
            <a:r>
              <a:rPr lang="en-US" altLang="zh-CN" dirty="0"/>
              <a:t> )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74ALS :</a:t>
            </a:r>
            <a:r>
              <a:rPr lang="zh-CN" altLang="en-US" dirty="0"/>
              <a:t>先进低功耗肖特基 </a:t>
            </a:r>
            <a:r>
              <a:rPr lang="en-US" altLang="zh-CN" dirty="0"/>
              <a:t>TTL ( </a:t>
            </a:r>
            <a:r>
              <a:rPr lang="en-US" altLang="zh-CN" dirty="0" err="1"/>
              <a:t>AdvancedLow-powerSchottkyTTL</a:t>
            </a:r>
            <a:r>
              <a:rPr lang="en-US" altLang="zh-CN" dirty="0"/>
              <a:t> )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　　</a:t>
            </a:r>
            <a:endParaRPr lang="zh-CN" altLang="zh-CN" dirty="0"/>
          </a:p>
        </p:txBody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dirty="0"/>
              <a:t>54 </a:t>
            </a:r>
            <a:r>
              <a:rPr lang="zh-CN" altLang="en-US" dirty="0"/>
              <a:t>系列和 </a:t>
            </a:r>
            <a:r>
              <a:rPr lang="en-US" altLang="zh-CN" dirty="0"/>
              <a:t>74 </a:t>
            </a:r>
            <a:r>
              <a:rPr lang="zh-CN" altLang="en-US" dirty="0"/>
              <a:t>系列具有相同的子系列，两个系列的参数基本相同，主要在电源电压范围和工作环境温度范围上有所不同，</a:t>
            </a:r>
            <a:r>
              <a:rPr lang="en-US" altLang="zh-CN" dirty="0"/>
              <a:t> 54 </a:t>
            </a:r>
            <a:r>
              <a:rPr lang="zh-CN" altLang="en-US" dirty="0"/>
              <a:t>系列适应的范围更大些，如表</a:t>
            </a:r>
            <a:r>
              <a:rPr lang="en-US" altLang="zh-CN" dirty="0"/>
              <a:t>2-1 </a:t>
            </a:r>
            <a:r>
              <a:rPr lang="zh-CN" altLang="en-US" dirty="0"/>
              <a:t>所示。不同子系列在速度、功耗等参数上有所不同。 </a:t>
            </a:r>
            <a:r>
              <a:rPr lang="en-US" altLang="zh-CN" dirty="0"/>
              <a:t>TTL </a:t>
            </a:r>
            <a:r>
              <a:rPr lang="zh-CN" altLang="en-US" dirty="0"/>
              <a:t>门电路采用 </a:t>
            </a:r>
            <a:r>
              <a:rPr lang="en-US" altLang="zh-CN" dirty="0"/>
              <a:t>5V </a:t>
            </a:r>
            <a:r>
              <a:rPr lang="zh-CN" altLang="en-US" dirty="0"/>
              <a:t>电源供电。</a:t>
            </a:r>
            <a:endParaRPr lang="zh-CN" altLang="zh-CN" dirty="0"/>
          </a:p>
        </p:txBody>
      </p:sp>
      <p:sp>
        <p:nvSpPr>
          <p:cNvPr id="366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573016"/>
            <a:ext cx="6864494" cy="19442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en-US" altLang="zh-CN" b="1" dirty="0"/>
              <a:t>2. 1. 2 CMOS </a:t>
            </a:r>
            <a:r>
              <a:rPr lang="zh-CN" altLang="en-US" b="1" dirty="0"/>
              <a:t>门电路</a:t>
            </a:r>
            <a:br>
              <a:rPr lang="zh-CN" altLang="en-US" b="1" dirty="0"/>
            </a:br>
            <a:r>
              <a:rPr lang="zh-CN" altLang="en-US" b="1" dirty="0"/>
              <a:t>　　</a:t>
            </a:r>
            <a:r>
              <a:rPr lang="en-US" altLang="zh-CN" dirty="0"/>
              <a:t>CMOS </a:t>
            </a:r>
            <a:r>
              <a:rPr lang="zh-CN" altLang="en-US" dirty="0"/>
              <a:t>门电路由场效应管构成，它的特点是集成度高、功耗低、速度慢、抗静电能力差。虽然 </a:t>
            </a:r>
            <a:r>
              <a:rPr lang="en-US" altLang="zh-CN" dirty="0"/>
              <a:t>TTL </a:t>
            </a:r>
            <a:r>
              <a:rPr lang="zh-CN" altLang="en-US" dirty="0"/>
              <a:t>门电路由于速度快和更多类型选择而流行多年，但 </a:t>
            </a:r>
            <a:r>
              <a:rPr lang="en-US" altLang="zh-CN" dirty="0"/>
              <a:t>CMOS </a:t>
            </a:r>
            <a:r>
              <a:rPr lang="zh-CN" altLang="en-US" dirty="0"/>
              <a:t>门电路具有功耗低、集成度高的优点，而且其速度已经获得了很大的提高，目前已可与 </a:t>
            </a:r>
            <a:r>
              <a:rPr lang="en-US" altLang="zh-CN" dirty="0"/>
              <a:t>TTL </a:t>
            </a:r>
            <a:r>
              <a:rPr lang="zh-CN" altLang="en-US" dirty="0"/>
              <a:t>门电路相媲美。因此，</a:t>
            </a:r>
            <a:r>
              <a:rPr lang="en-US" altLang="zh-CN" dirty="0"/>
              <a:t> CMOS </a:t>
            </a:r>
            <a:r>
              <a:rPr lang="zh-CN" altLang="en-US" dirty="0"/>
              <a:t>门电路获得了广泛的应用，特别是在大规模集成电路和微处理器中已经占据支配地位。</a:t>
            </a:r>
            <a:endParaRPr lang="zh-CN" altLang="zh-CN" dirty="0"/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从供电电源区分，</a:t>
            </a:r>
            <a:r>
              <a:rPr lang="en-US" altLang="zh-CN" dirty="0"/>
              <a:t> CMOS </a:t>
            </a:r>
            <a:r>
              <a:rPr lang="zh-CN" altLang="en-US" dirty="0"/>
              <a:t>门电路有 </a:t>
            </a:r>
            <a:r>
              <a:rPr lang="en-US" altLang="zh-CN" dirty="0"/>
              <a:t>5VCMOS </a:t>
            </a:r>
            <a:r>
              <a:rPr lang="zh-CN" altLang="en-US" dirty="0"/>
              <a:t>门电路和 </a:t>
            </a:r>
            <a:r>
              <a:rPr lang="en-US" altLang="zh-CN" dirty="0"/>
              <a:t>3.3VCMOS </a:t>
            </a:r>
            <a:r>
              <a:rPr lang="zh-CN" altLang="en-US" dirty="0"/>
              <a:t>门电路两种。</a:t>
            </a:r>
            <a:r>
              <a:rPr lang="en-US" altLang="zh-CN" dirty="0"/>
              <a:t>3. 3VCMOS </a:t>
            </a:r>
            <a:r>
              <a:rPr lang="zh-CN" altLang="en-US" dirty="0"/>
              <a:t>门电路发展得较晚，它的功耗比 </a:t>
            </a:r>
            <a:r>
              <a:rPr lang="en-US" altLang="zh-CN" dirty="0"/>
              <a:t>5VCMOS </a:t>
            </a:r>
            <a:r>
              <a:rPr lang="zh-CN" altLang="en-US" dirty="0"/>
              <a:t>门电路低得多。同 </a:t>
            </a:r>
            <a:r>
              <a:rPr lang="en-US" altLang="zh-CN" dirty="0"/>
              <a:t>TTL </a:t>
            </a:r>
            <a:r>
              <a:rPr lang="zh-CN" altLang="en-US" dirty="0"/>
              <a:t>门电路一样，</a:t>
            </a:r>
            <a:r>
              <a:rPr lang="en-US" altLang="zh-CN" dirty="0"/>
              <a:t> CMOS </a:t>
            </a:r>
            <a:r>
              <a:rPr lang="zh-CN" altLang="en-US" dirty="0"/>
              <a:t>门电路也有 </a:t>
            </a:r>
            <a:r>
              <a:rPr lang="en-US" altLang="zh-CN" dirty="0"/>
              <a:t>74 </a:t>
            </a:r>
            <a:r>
              <a:rPr lang="zh-CN" altLang="en-US" dirty="0"/>
              <a:t>和 </a:t>
            </a:r>
            <a:r>
              <a:rPr lang="en-US" altLang="zh-CN" dirty="0"/>
              <a:t>54 </a:t>
            </a:r>
            <a:r>
              <a:rPr lang="zh-CN" altLang="en-US" dirty="0"/>
              <a:t>两大系列。</a:t>
            </a:r>
            <a:endParaRPr lang="zh-CN" altLang="zh-CN" dirty="0"/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dirty="0"/>
              <a:t>74 </a:t>
            </a:r>
            <a:r>
              <a:rPr lang="zh-CN" altLang="en-US" dirty="0"/>
              <a:t>系列 </a:t>
            </a:r>
            <a:r>
              <a:rPr lang="en-US" altLang="zh-CN" dirty="0"/>
              <a:t>5VCMOS </a:t>
            </a:r>
            <a:r>
              <a:rPr lang="zh-CN" altLang="en-US" dirty="0"/>
              <a:t>门电路的基本子系列如下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dirty="0"/>
              <a:t>74HC </a:t>
            </a:r>
            <a:r>
              <a:rPr lang="zh-CN" altLang="en-US" dirty="0"/>
              <a:t>和 </a:t>
            </a:r>
            <a:r>
              <a:rPr lang="en-US" altLang="zh-CN" dirty="0"/>
              <a:t>74HCT :</a:t>
            </a:r>
            <a:r>
              <a:rPr lang="zh-CN" altLang="en-US" dirty="0"/>
              <a:t>高速 </a:t>
            </a:r>
            <a:r>
              <a:rPr lang="en-US" altLang="zh-CN" dirty="0"/>
              <a:t>CMOS ( High-</a:t>
            </a:r>
            <a:r>
              <a:rPr lang="en-US" altLang="zh-CN" dirty="0" err="1"/>
              <a:t>speedCMOS</a:t>
            </a:r>
            <a:r>
              <a:rPr lang="en-US" altLang="zh-CN" dirty="0"/>
              <a:t> )</a:t>
            </a:r>
            <a:r>
              <a:rPr lang="zh-CN" altLang="en-US" dirty="0"/>
              <a:t>，</a:t>
            </a:r>
            <a:r>
              <a:rPr lang="en-US" altLang="zh-CN" dirty="0"/>
              <a:t> T </a:t>
            </a:r>
            <a:r>
              <a:rPr lang="zh-CN" altLang="en-US" dirty="0"/>
              <a:t>表示和 </a:t>
            </a:r>
            <a:r>
              <a:rPr lang="en-US" altLang="zh-CN" dirty="0"/>
              <a:t>TTL </a:t>
            </a:r>
            <a:r>
              <a:rPr lang="zh-CN" altLang="en-US" dirty="0"/>
              <a:t>直接兼容。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74AC </a:t>
            </a:r>
            <a:r>
              <a:rPr lang="zh-CN" altLang="en-US" dirty="0"/>
              <a:t>和 </a:t>
            </a:r>
            <a:r>
              <a:rPr lang="en-US" altLang="zh-CN" dirty="0"/>
              <a:t>74ACT :</a:t>
            </a:r>
            <a:r>
              <a:rPr lang="zh-CN" altLang="en-US" dirty="0"/>
              <a:t>先进 </a:t>
            </a:r>
            <a:r>
              <a:rPr lang="en-US" altLang="zh-CN" dirty="0"/>
              <a:t>CMOS ( </a:t>
            </a:r>
            <a:r>
              <a:rPr lang="en-US" altLang="zh-CN" dirty="0" err="1"/>
              <a:t>AdvancedCMOS</a:t>
            </a:r>
            <a:r>
              <a:rPr lang="en-US" altLang="zh-CN" dirty="0"/>
              <a:t> )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74AHC </a:t>
            </a:r>
            <a:r>
              <a:rPr lang="zh-CN" altLang="en-US" dirty="0"/>
              <a:t>和 </a:t>
            </a:r>
            <a:r>
              <a:rPr lang="en-US" altLang="zh-CN" dirty="0"/>
              <a:t>74AHCT :</a:t>
            </a:r>
            <a:r>
              <a:rPr lang="zh-CN" altLang="en-US" dirty="0"/>
              <a:t>先进高速 </a:t>
            </a:r>
            <a:r>
              <a:rPr lang="en-US" altLang="zh-CN" dirty="0"/>
              <a:t>CMOS ( </a:t>
            </a:r>
            <a:r>
              <a:rPr lang="en-US" altLang="zh-CN" dirty="0" err="1"/>
              <a:t>AdvancedHigh-speedCMOS</a:t>
            </a:r>
            <a:r>
              <a:rPr lang="en-US" altLang="zh-CN" dirty="0"/>
              <a:t> )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74 </a:t>
            </a:r>
            <a:r>
              <a:rPr lang="zh-CN" altLang="en-US" dirty="0"/>
              <a:t>系列 </a:t>
            </a:r>
            <a:r>
              <a:rPr lang="en-US" altLang="zh-CN" dirty="0"/>
              <a:t>3. 3VCMOS </a:t>
            </a:r>
            <a:r>
              <a:rPr lang="zh-CN" altLang="en-US" dirty="0"/>
              <a:t>门电路的基本子系列如下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dirty="0"/>
              <a:t>74LVC :</a:t>
            </a:r>
            <a:r>
              <a:rPr lang="zh-CN" altLang="en-US" dirty="0"/>
              <a:t>低压 </a:t>
            </a:r>
            <a:r>
              <a:rPr lang="en-US" altLang="zh-CN" dirty="0"/>
              <a:t>CMOS ( Low-</a:t>
            </a:r>
            <a:r>
              <a:rPr lang="en-US" altLang="zh-CN" dirty="0" err="1"/>
              <a:t>voltageCMOS</a:t>
            </a:r>
            <a:r>
              <a:rPr lang="en-US" altLang="zh-CN" dirty="0"/>
              <a:t> )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74ALVC :</a:t>
            </a:r>
            <a:r>
              <a:rPr lang="zh-CN" altLang="en-US" dirty="0"/>
              <a:t>先进低压 </a:t>
            </a:r>
            <a:r>
              <a:rPr lang="en-US" altLang="zh-CN" dirty="0"/>
              <a:t>CMOS ( </a:t>
            </a:r>
            <a:r>
              <a:rPr lang="en-US" altLang="zh-CN" dirty="0" err="1"/>
              <a:t>AdvancedLow-voltageCMOS</a:t>
            </a:r>
            <a:r>
              <a:rPr lang="en-US" altLang="zh-CN" dirty="0"/>
              <a:t> )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76672"/>
            <a:ext cx="8115300" cy="5638800"/>
          </a:xfrm>
        </p:spPr>
        <p:txBody>
          <a:bodyPr/>
          <a:lstStyle/>
          <a:p>
            <a:br>
              <a:rPr lang="en-US" altLang="zh-CN" dirty="0"/>
            </a:br>
            <a:r>
              <a:rPr lang="en-US" altLang="zh-CN" b="1" dirty="0"/>
              <a:t>2. 1. 3  </a:t>
            </a:r>
            <a:r>
              <a:rPr lang="zh-CN" altLang="en-US" b="1" dirty="0"/>
              <a:t>数字集成电路的品种类型</a:t>
            </a:r>
            <a:br>
              <a:rPr lang="zh-CN" altLang="en-US" b="1" dirty="0"/>
            </a:br>
            <a:r>
              <a:rPr lang="zh-CN" altLang="en-US" b="1" dirty="0"/>
              <a:t>　　</a:t>
            </a:r>
            <a:r>
              <a:rPr lang="zh-CN" altLang="en-US" dirty="0"/>
              <a:t>每个系列的数字集成电路都有很多不同的品种类型，用不同的代码表示，例如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dirty="0"/>
              <a:t>00 : 4 </a:t>
            </a:r>
            <a:r>
              <a:rPr lang="zh-CN" altLang="en-US" dirty="0"/>
              <a:t>路 </a:t>
            </a:r>
            <a:r>
              <a:rPr lang="en-US" altLang="zh-CN" dirty="0"/>
              <a:t>2 </a:t>
            </a:r>
            <a:r>
              <a:rPr lang="zh-CN" altLang="en-US" dirty="0"/>
              <a:t>输入与非门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02 : 4 </a:t>
            </a:r>
            <a:r>
              <a:rPr lang="zh-CN" altLang="en-US" dirty="0"/>
              <a:t>路 </a:t>
            </a:r>
            <a:r>
              <a:rPr lang="en-US" altLang="zh-CN" dirty="0"/>
              <a:t>2 </a:t>
            </a:r>
            <a:r>
              <a:rPr lang="zh-CN" altLang="en-US" dirty="0"/>
              <a:t>输入或非门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08 : 4 </a:t>
            </a:r>
            <a:r>
              <a:rPr lang="zh-CN" altLang="en-US" dirty="0"/>
              <a:t>路 </a:t>
            </a:r>
            <a:r>
              <a:rPr lang="en-US" altLang="zh-CN" dirty="0"/>
              <a:t>2 </a:t>
            </a:r>
            <a:r>
              <a:rPr lang="zh-CN" altLang="en-US" dirty="0"/>
              <a:t>输入与门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10 : 3 </a:t>
            </a:r>
            <a:r>
              <a:rPr lang="zh-CN" altLang="en-US" dirty="0"/>
              <a:t>路 </a:t>
            </a:r>
            <a:r>
              <a:rPr lang="en-US" altLang="zh-CN" dirty="0"/>
              <a:t>3 </a:t>
            </a:r>
            <a:r>
              <a:rPr lang="zh-CN" altLang="en-US" dirty="0"/>
              <a:t>输入与非门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20 :</a:t>
            </a:r>
            <a:r>
              <a:rPr lang="zh-CN" altLang="en-US" dirty="0"/>
              <a:t>双路 </a:t>
            </a:r>
            <a:r>
              <a:rPr lang="en-US" altLang="zh-CN" dirty="0"/>
              <a:t>4 </a:t>
            </a:r>
            <a:r>
              <a:rPr lang="zh-CN" altLang="en-US" dirty="0"/>
              <a:t>输入与非门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27 : 3 </a:t>
            </a:r>
            <a:r>
              <a:rPr lang="zh-CN" altLang="en-US" dirty="0"/>
              <a:t>路 </a:t>
            </a:r>
            <a:r>
              <a:rPr lang="en-US" altLang="zh-CN" dirty="0"/>
              <a:t>3 </a:t>
            </a:r>
            <a:r>
              <a:rPr lang="zh-CN" altLang="en-US" dirty="0"/>
              <a:t>输入或非门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32 : 4 </a:t>
            </a:r>
            <a:r>
              <a:rPr lang="zh-CN" altLang="en-US" dirty="0"/>
              <a:t>路 </a:t>
            </a:r>
            <a:r>
              <a:rPr lang="en-US" altLang="zh-CN" dirty="0"/>
              <a:t>2 </a:t>
            </a:r>
            <a:r>
              <a:rPr lang="zh-CN" altLang="en-US" dirty="0"/>
              <a:t>输入或门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86 : 4 </a:t>
            </a:r>
            <a:r>
              <a:rPr lang="zh-CN" altLang="en-US" dirty="0"/>
              <a:t>路 </a:t>
            </a:r>
            <a:r>
              <a:rPr lang="en-US" altLang="zh-CN" dirty="0"/>
              <a:t>2 </a:t>
            </a:r>
            <a:r>
              <a:rPr lang="zh-CN" altLang="en-US" dirty="0"/>
              <a:t>输入异或门</a:t>
            </a:r>
            <a:endParaRPr lang="zh-CN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具有相同品种类型代码的逻辑电路，不管属于哪个系列，它们的逻辑功能都相同，引脚也兼容。例如，</a:t>
            </a:r>
            <a:r>
              <a:rPr lang="en-US" altLang="zh-CN" dirty="0"/>
              <a:t> 7400 </a:t>
            </a:r>
            <a:r>
              <a:rPr lang="zh-CN" altLang="en-US" dirty="0"/>
              <a:t>，</a:t>
            </a:r>
            <a:r>
              <a:rPr lang="en-US" altLang="zh-CN" dirty="0"/>
              <a:t> 74LS00 </a:t>
            </a:r>
            <a:r>
              <a:rPr lang="zh-CN" altLang="en-US" dirty="0"/>
              <a:t>，</a:t>
            </a:r>
            <a:r>
              <a:rPr lang="en-US" altLang="zh-CN" dirty="0"/>
              <a:t> 74ALS00 </a:t>
            </a:r>
            <a:r>
              <a:rPr lang="zh-CN" altLang="en-US" dirty="0"/>
              <a:t>，</a:t>
            </a:r>
            <a:r>
              <a:rPr lang="en-US" altLang="zh-CN" dirty="0"/>
              <a:t> 74HC00 </a:t>
            </a:r>
            <a:r>
              <a:rPr lang="zh-CN" altLang="en-US" dirty="0"/>
              <a:t>，</a:t>
            </a:r>
            <a:r>
              <a:rPr lang="en-US" altLang="zh-CN" dirty="0"/>
              <a:t> 74AHC00 </a:t>
            </a:r>
            <a:r>
              <a:rPr lang="zh-CN" altLang="en-US" dirty="0"/>
              <a:t>都是引脚兼容的 </a:t>
            </a:r>
            <a:r>
              <a:rPr lang="en-US" altLang="zh-CN" dirty="0"/>
              <a:t>4 </a:t>
            </a:r>
            <a:r>
              <a:rPr lang="zh-CN" altLang="en-US" dirty="0"/>
              <a:t>路 </a:t>
            </a:r>
            <a:r>
              <a:rPr lang="en-US" altLang="zh-CN" dirty="0"/>
              <a:t>2 </a:t>
            </a:r>
            <a:r>
              <a:rPr lang="zh-CN" altLang="en-US" dirty="0"/>
              <a:t>输入与非门封装，引脚排列和逻辑图如图</a:t>
            </a:r>
            <a:r>
              <a:rPr lang="en-US" altLang="zh-CN" dirty="0"/>
              <a:t>2-1 </a:t>
            </a:r>
            <a:r>
              <a:rPr lang="zh-CN" altLang="en-US" dirty="0"/>
              <a:t>所示。</a:t>
            </a:r>
            <a:endParaRPr lang="zh-CN" altLang="zh-CN" dirty="0"/>
          </a:p>
        </p:txBody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2-1 4 </a:t>
            </a:r>
            <a:r>
              <a:rPr lang="zh-CN" altLang="en-US" dirty="0"/>
              <a:t>路 </a:t>
            </a:r>
            <a:r>
              <a:rPr lang="en-US" altLang="zh-CN" dirty="0"/>
              <a:t>2 </a:t>
            </a:r>
            <a:r>
              <a:rPr lang="zh-CN" altLang="en-US" dirty="0"/>
              <a:t>输入与非门引脚排列和逻辑图</a:t>
            </a:r>
            <a:endParaRPr lang="zh-CN" altLang="zh-CN" dirty="0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486" y="980728"/>
            <a:ext cx="6677025" cy="46386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04664"/>
            <a:ext cx="8115300" cy="5638800"/>
          </a:xfrm>
        </p:spPr>
        <p:txBody>
          <a:bodyPr/>
          <a:lstStyle/>
          <a:p>
            <a:br>
              <a:rPr lang="en-US" altLang="zh-CN" dirty="0"/>
            </a:br>
            <a:r>
              <a:rPr lang="en-US" altLang="zh-CN" b="1" dirty="0"/>
              <a:t>2. 1. 4  </a:t>
            </a:r>
            <a:r>
              <a:rPr lang="zh-CN" altLang="en-US" b="1" dirty="0"/>
              <a:t>数字集成电路的性能参数和使用</a:t>
            </a:r>
            <a:br>
              <a:rPr lang="zh-CN" altLang="en-US" b="1" dirty="0"/>
            </a:br>
            <a:r>
              <a:rPr lang="zh-CN" altLang="en-US" b="1" dirty="0"/>
              <a:t>　　</a:t>
            </a:r>
            <a:r>
              <a:rPr lang="en-US" altLang="zh-CN" b="1" dirty="0"/>
              <a:t>1. </a:t>
            </a:r>
            <a:r>
              <a:rPr lang="zh-CN" altLang="en-US" b="1" dirty="0"/>
              <a:t>数字集成电路的性能参数</a:t>
            </a:r>
            <a:br>
              <a:rPr lang="zh-CN" altLang="en-US" b="1" dirty="0"/>
            </a:br>
            <a:r>
              <a:rPr lang="zh-CN" altLang="en-US" b="1" dirty="0"/>
              <a:t>　　</a:t>
            </a:r>
            <a:r>
              <a:rPr lang="zh-CN" altLang="en-US" dirty="0"/>
              <a:t>数字集成电路的性能参数主要包括</a:t>
            </a:r>
            <a:r>
              <a:rPr lang="en-US" altLang="zh-CN" dirty="0"/>
              <a:t>:</a:t>
            </a:r>
            <a:r>
              <a:rPr lang="zh-CN" altLang="en-US" dirty="0"/>
              <a:t>直流电源电压、输入</a:t>
            </a:r>
            <a:r>
              <a:rPr lang="en-US" altLang="zh-CN" dirty="0"/>
              <a:t>/</a:t>
            </a:r>
            <a:r>
              <a:rPr lang="zh-CN" altLang="en-US" dirty="0"/>
              <a:t>输出逻辑电平、扇出系数、传输延时、功耗等。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1 )</a:t>
            </a:r>
            <a:r>
              <a:rPr lang="zh-CN" altLang="en-US" dirty="0"/>
              <a:t>直流电源电压 </a:t>
            </a:r>
            <a:r>
              <a:rPr lang="en-US" altLang="zh-CN" dirty="0"/>
              <a:t>U CC</a:t>
            </a:r>
            <a:br>
              <a:rPr lang="en-US" altLang="zh-CN" dirty="0"/>
            </a:br>
            <a:r>
              <a:rPr lang="zh-CN" altLang="en-US" dirty="0"/>
              <a:t>　　一般 </a:t>
            </a:r>
            <a:r>
              <a:rPr lang="en-US" altLang="zh-CN" dirty="0"/>
              <a:t>TTL </a:t>
            </a:r>
            <a:r>
              <a:rPr lang="zh-CN" altLang="en-US" dirty="0"/>
              <a:t>电路的直流电源电压为 </a:t>
            </a:r>
            <a:r>
              <a:rPr lang="en-US" altLang="zh-CN" dirty="0"/>
              <a:t>5V </a:t>
            </a:r>
            <a:r>
              <a:rPr lang="zh-CN" altLang="en-US" dirty="0"/>
              <a:t>，最低 </a:t>
            </a:r>
            <a:r>
              <a:rPr lang="en-US" altLang="zh-CN" dirty="0"/>
              <a:t>4.5V </a:t>
            </a:r>
            <a:r>
              <a:rPr lang="zh-CN" altLang="en-US" dirty="0"/>
              <a:t>，最高 </a:t>
            </a:r>
            <a:r>
              <a:rPr lang="en-US" altLang="zh-CN" dirty="0"/>
              <a:t>5. 5V </a:t>
            </a:r>
            <a:r>
              <a:rPr lang="zh-CN" altLang="en-US" dirty="0"/>
              <a:t>。 </a:t>
            </a:r>
            <a:r>
              <a:rPr lang="en-US" altLang="zh-CN" dirty="0"/>
              <a:t>CMOS </a:t>
            </a:r>
            <a:r>
              <a:rPr lang="zh-CN" altLang="en-US" dirty="0"/>
              <a:t>电路的直流电源电压有 </a:t>
            </a:r>
            <a:r>
              <a:rPr lang="en-US" altLang="zh-CN" dirty="0"/>
              <a:t>5V </a:t>
            </a:r>
            <a:r>
              <a:rPr lang="zh-CN" altLang="en-US" dirty="0"/>
              <a:t>和 </a:t>
            </a:r>
            <a:r>
              <a:rPr lang="en-US" altLang="zh-CN" dirty="0"/>
              <a:t>3.3V </a:t>
            </a:r>
            <a:r>
              <a:rPr lang="zh-CN" altLang="en-US" dirty="0"/>
              <a:t>两种。 </a:t>
            </a:r>
            <a:r>
              <a:rPr lang="en-US" altLang="zh-CN" dirty="0"/>
              <a:t>CMOS </a:t>
            </a:r>
            <a:r>
              <a:rPr lang="zh-CN" altLang="en-US" dirty="0"/>
              <a:t>电路的一个优点是电源电压的变化范围比 </a:t>
            </a:r>
            <a:r>
              <a:rPr lang="en-US" altLang="zh-CN" dirty="0"/>
              <a:t>TTL </a:t>
            </a:r>
            <a:r>
              <a:rPr lang="zh-CN" altLang="en-US" dirty="0"/>
              <a:t>电路大，如 </a:t>
            </a:r>
            <a:r>
              <a:rPr lang="en-US" altLang="zh-CN" dirty="0"/>
              <a:t>5VCMOS </a:t>
            </a:r>
            <a:r>
              <a:rPr lang="zh-CN" altLang="en-US" dirty="0"/>
              <a:t>电路当其电源电压在 </a:t>
            </a:r>
            <a:r>
              <a:rPr lang="en-US" altLang="zh-CN" dirty="0"/>
              <a:t>2~6V </a:t>
            </a:r>
            <a:r>
              <a:rPr lang="zh-CN" altLang="en-US" dirty="0"/>
              <a:t>范围内时能正常工作，</a:t>
            </a:r>
            <a:r>
              <a:rPr lang="en-US" altLang="zh-CN" dirty="0"/>
              <a:t> 3.3VCMOS </a:t>
            </a:r>
            <a:r>
              <a:rPr lang="zh-CN" altLang="en-US" dirty="0"/>
              <a:t>电路当其电源电压在 </a:t>
            </a:r>
            <a:r>
              <a:rPr lang="en-US" altLang="zh-CN" dirty="0"/>
              <a:t>2~3.6V </a:t>
            </a:r>
            <a:r>
              <a:rPr lang="zh-CN" altLang="en-US" dirty="0"/>
              <a:t>范围内时能正常工作。</a:t>
            </a:r>
            <a:endParaRPr lang="zh-CN" altLang="zh-CN" dirty="0"/>
          </a:p>
        </p:txBody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br>
              <a:rPr lang="en-US" altLang="zh-CN" sz="2300" dirty="0"/>
            </a:br>
            <a:r>
              <a:rPr lang="zh-CN" altLang="en-US" sz="2300" dirty="0"/>
              <a:t>　　</a:t>
            </a:r>
            <a:r>
              <a:rPr lang="en-US" altLang="zh-CN" sz="2300" dirty="0"/>
              <a:t>2 )</a:t>
            </a:r>
            <a:r>
              <a:rPr lang="zh-CN" altLang="en-US" sz="2300" dirty="0"/>
              <a:t>输入</a:t>
            </a:r>
            <a:r>
              <a:rPr lang="en-US" altLang="zh-CN" sz="2300" dirty="0"/>
              <a:t>/</a:t>
            </a:r>
            <a:r>
              <a:rPr lang="zh-CN" altLang="en-US" sz="2300" dirty="0"/>
              <a:t>输出逻辑电平</a:t>
            </a:r>
            <a:br>
              <a:rPr lang="zh-CN" altLang="en-US" sz="2300" dirty="0"/>
            </a:br>
            <a:r>
              <a:rPr lang="zh-CN" altLang="en-US" sz="2300" dirty="0"/>
              <a:t>　　数字集成电路有如下四个不同的输入</a:t>
            </a:r>
            <a:r>
              <a:rPr lang="en-US" altLang="zh-CN" sz="2300" dirty="0"/>
              <a:t>/</a:t>
            </a:r>
            <a:r>
              <a:rPr lang="zh-CN" altLang="en-US" sz="2300" dirty="0"/>
              <a:t>输出逻辑电平参数</a:t>
            </a:r>
            <a:r>
              <a:rPr lang="en-US" altLang="zh-CN" sz="2300" dirty="0"/>
              <a:t>:</a:t>
            </a:r>
            <a:br>
              <a:rPr lang="en-US" altLang="zh-CN" sz="2300" dirty="0"/>
            </a:br>
            <a:r>
              <a:rPr lang="zh-CN" altLang="en-US" sz="2300" dirty="0"/>
              <a:t>　　低电平输入电压 </a:t>
            </a:r>
            <a:r>
              <a:rPr lang="en-US" altLang="zh-CN" sz="2300" dirty="0"/>
              <a:t>U IL :</a:t>
            </a:r>
            <a:r>
              <a:rPr lang="zh-CN" altLang="en-US" sz="2300" dirty="0"/>
              <a:t>能被输入端确认为低电平的电压范围。</a:t>
            </a:r>
            <a:br>
              <a:rPr lang="zh-CN" altLang="en-US" sz="2300" dirty="0"/>
            </a:br>
            <a:r>
              <a:rPr lang="zh-CN" altLang="en-US" sz="2300" dirty="0"/>
              <a:t>　　高电平输入电压 </a:t>
            </a:r>
            <a:r>
              <a:rPr lang="en-US" altLang="zh-CN" sz="2300" dirty="0"/>
              <a:t>U IH :</a:t>
            </a:r>
            <a:r>
              <a:rPr lang="zh-CN" altLang="en-US" sz="2300" dirty="0"/>
              <a:t>能被输入端确认为高电平的电压范围。</a:t>
            </a:r>
            <a:br>
              <a:rPr lang="zh-CN" altLang="en-US" sz="2300" dirty="0"/>
            </a:br>
            <a:r>
              <a:rPr lang="zh-CN" altLang="en-US" sz="2300" dirty="0"/>
              <a:t>　　低电平输出电压 </a:t>
            </a:r>
            <a:r>
              <a:rPr lang="en-US" altLang="zh-CN" sz="2300" dirty="0"/>
              <a:t>U OL :</a:t>
            </a:r>
            <a:r>
              <a:rPr lang="zh-CN" altLang="en-US" sz="2300" dirty="0"/>
              <a:t>正常工作时低电平输出的电压范围。</a:t>
            </a:r>
            <a:br>
              <a:rPr lang="zh-CN" altLang="en-US" sz="2300" dirty="0"/>
            </a:br>
            <a:r>
              <a:rPr lang="zh-CN" altLang="en-US" sz="2300" dirty="0"/>
              <a:t>　　高电平输出电压 </a:t>
            </a:r>
            <a:r>
              <a:rPr lang="en-US" altLang="zh-CN" sz="2300" dirty="0"/>
              <a:t>U OH :</a:t>
            </a:r>
            <a:r>
              <a:rPr lang="zh-CN" altLang="en-US" sz="2300" dirty="0"/>
              <a:t>正常工作时高电平输出的电压范围。</a:t>
            </a:r>
            <a:br>
              <a:rPr lang="zh-CN" altLang="en-US" sz="2300" dirty="0"/>
            </a:br>
            <a:r>
              <a:rPr lang="zh-CN" altLang="en-US" sz="2300" dirty="0"/>
              <a:t>　　图 </a:t>
            </a:r>
            <a:r>
              <a:rPr lang="en-US" altLang="zh-CN" sz="2300" dirty="0"/>
              <a:t>2-2 </a:t>
            </a:r>
            <a:r>
              <a:rPr lang="zh-CN" altLang="en-US" sz="2300" dirty="0"/>
              <a:t>和图 </a:t>
            </a:r>
            <a:r>
              <a:rPr lang="en-US" altLang="zh-CN" sz="2300" dirty="0"/>
              <a:t>2-3 </a:t>
            </a:r>
            <a:r>
              <a:rPr lang="zh-CN" altLang="en-US" sz="2300" dirty="0"/>
              <a:t>分别给出了 </a:t>
            </a:r>
            <a:r>
              <a:rPr lang="en-US" altLang="zh-CN" sz="2300" dirty="0"/>
              <a:t>TTL </a:t>
            </a:r>
            <a:r>
              <a:rPr lang="zh-CN" altLang="en-US" sz="2300" dirty="0"/>
              <a:t>电路和 </a:t>
            </a:r>
            <a:r>
              <a:rPr lang="en-US" altLang="zh-CN" sz="2300" dirty="0"/>
              <a:t>CMOS </a:t>
            </a:r>
            <a:r>
              <a:rPr lang="zh-CN" altLang="en-US" sz="2300" dirty="0"/>
              <a:t>电路的输入</a:t>
            </a:r>
            <a:r>
              <a:rPr lang="en-US" altLang="zh-CN" sz="2300" dirty="0"/>
              <a:t>/</a:t>
            </a:r>
            <a:r>
              <a:rPr lang="zh-CN" altLang="en-US" sz="2300" dirty="0"/>
              <a:t>输出逻辑电平。</a:t>
            </a:r>
            <a:endParaRPr lang="zh-CN" altLang="zh-CN" sz="2300" dirty="0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375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2-2  </a:t>
            </a:r>
            <a:r>
              <a:rPr lang="zh-CN" altLang="en-US" dirty="0"/>
              <a:t>标准 </a:t>
            </a:r>
            <a:r>
              <a:rPr lang="en-US" altLang="zh-CN" dirty="0"/>
              <a:t>TTL </a:t>
            </a:r>
            <a:r>
              <a:rPr lang="zh-CN" altLang="en-US" dirty="0"/>
              <a:t>电路的输入</a:t>
            </a:r>
            <a:r>
              <a:rPr lang="en-US" altLang="zh-CN" dirty="0"/>
              <a:t>/</a:t>
            </a:r>
            <a:r>
              <a:rPr lang="zh-CN" altLang="en-US" dirty="0"/>
              <a:t>输出逻辑电平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484783"/>
            <a:ext cx="7658100" cy="33813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781231"/>
            <a:ext cx="9144000" cy="438944"/>
          </a:xfrm>
        </p:spPr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2-3 CMOS </a:t>
            </a:r>
            <a:r>
              <a:rPr lang="zh-CN" altLang="en-US" dirty="0"/>
              <a:t>电路的输入</a:t>
            </a:r>
            <a:r>
              <a:rPr lang="en-US" altLang="zh-CN" dirty="0"/>
              <a:t>/</a:t>
            </a:r>
            <a:r>
              <a:rPr lang="zh-CN" altLang="en-US" dirty="0"/>
              <a:t>输出逻辑电平</a:t>
            </a:r>
          </a:p>
          <a:p>
            <a:r>
              <a:rPr lang="en-US" altLang="zh-CN" dirty="0"/>
              <a:t>(a ) 5VCMOS </a:t>
            </a:r>
            <a:r>
              <a:rPr lang="zh-CN" altLang="en-US" dirty="0"/>
              <a:t>电路</a:t>
            </a:r>
            <a:r>
              <a:rPr lang="en-US" altLang="zh-CN" dirty="0"/>
              <a:t>;( b ) 3. 3VCMOS </a:t>
            </a:r>
            <a:r>
              <a:rPr lang="zh-CN" altLang="en-US" dirty="0"/>
              <a:t>电路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1" y="692696"/>
            <a:ext cx="5256584" cy="50885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当输入电平在 </a:t>
            </a:r>
            <a:r>
              <a:rPr lang="en-US" altLang="zh-CN" dirty="0"/>
              <a:t>U </a:t>
            </a:r>
            <a:r>
              <a:rPr lang="en-US" altLang="zh-CN" baseline="-25000" dirty="0"/>
              <a:t>IL ( max ) </a:t>
            </a:r>
            <a:r>
              <a:rPr lang="zh-CN" altLang="en-US" dirty="0"/>
              <a:t>和 </a:t>
            </a:r>
            <a:r>
              <a:rPr lang="en-US" altLang="zh-CN" dirty="0"/>
              <a:t>U </a:t>
            </a:r>
            <a:r>
              <a:rPr lang="en-US" altLang="zh-CN" baseline="-25000" dirty="0"/>
              <a:t>IH ( min ) </a:t>
            </a:r>
            <a:r>
              <a:rPr lang="zh-CN" altLang="en-US" dirty="0"/>
              <a:t>之间时，逻辑电路可能把它当作 </a:t>
            </a:r>
            <a:r>
              <a:rPr lang="en-US" altLang="zh-CN" dirty="0"/>
              <a:t>0 </a:t>
            </a:r>
            <a:r>
              <a:rPr lang="zh-CN" altLang="en-US" dirty="0"/>
              <a:t>，也可能把它当作 </a:t>
            </a:r>
            <a:r>
              <a:rPr lang="en-US" altLang="zh-CN" dirty="0"/>
              <a:t>1 </a:t>
            </a:r>
            <a:r>
              <a:rPr lang="zh-CN" altLang="en-US" dirty="0"/>
              <a:t>，而当逻辑电路因所接负载过多等原因不能正常工作时，高电平输出可能低于 </a:t>
            </a:r>
            <a:r>
              <a:rPr lang="en-US" altLang="zh-CN" dirty="0"/>
              <a:t>U </a:t>
            </a:r>
            <a:r>
              <a:rPr lang="en-US" altLang="zh-CN" baseline="-25000" dirty="0"/>
              <a:t>OH (min ) </a:t>
            </a:r>
            <a:r>
              <a:rPr lang="zh-CN" altLang="en-US" dirty="0"/>
              <a:t>，低电平输出可能高于 </a:t>
            </a:r>
            <a:r>
              <a:rPr lang="en-US" altLang="zh-CN" dirty="0"/>
              <a:t>U </a:t>
            </a:r>
            <a:r>
              <a:rPr lang="en-US" altLang="zh-CN" baseline="-25000" dirty="0"/>
              <a:t>OL (max ) 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dirty="0"/>
              <a:t>3 )</a:t>
            </a:r>
            <a:r>
              <a:rPr lang="zh-CN" altLang="en-US" dirty="0"/>
              <a:t>扇出系数</a:t>
            </a:r>
            <a:br>
              <a:rPr lang="zh-CN" altLang="en-US" dirty="0"/>
            </a:br>
            <a:r>
              <a:rPr lang="zh-CN" altLang="en-US" dirty="0"/>
              <a:t>　　扇出系数指在正常工作范围内，一个门电路的输出端能够连接同一系列门电路输入端的最大数目。扇出系数越大，门电路的带负载能力就越强。一般来说，</a:t>
            </a:r>
            <a:r>
              <a:rPr lang="en-US" altLang="zh-CN" dirty="0"/>
              <a:t> CMOS </a:t>
            </a:r>
            <a:r>
              <a:rPr lang="zh-CN" altLang="en-US" dirty="0"/>
              <a:t>电路的扇出系数比较高。计算公式为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　　其中，</a:t>
            </a:r>
            <a:r>
              <a:rPr lang="en-US" altLang="zh-CN" dirty="0"/>
              <a:t> </a:t>
            </a:r>
            <a:r>
              <a:rPr lang="en-US" altLang="zh-CN" i="1" dirty="0"/>
              <a:t>I </a:t>
            </a:r>
            <a:r>
              <a:rPr lang="en-US" altLang="zh-CN" i="1" baseline="-25000" dirty="0"/>
              <a:t>OH</a:t>
            </a:r>
            <a:r>
              <a:rPr lang="en-US" altLang="zh-CN" i="1" dirty="0"/>
              <a:t> </a:t>
            </a:r>
            <a:r>
              <a:rPr lang="zh-CN" altLang="en-US" dirty="0"/>
              <a:t>为高电平输出电流</a:t>
            </a:r>
            <a:r>
              <a:rPr lang="en-US" altLang="zh-CN" dirty="0"/>
              <a:t>;I</a:t>
            </a:r>
            <a:r>
              <a:rPr lang="en-US" altLang="zh-CN" i="1" dirty="0"/>
              <a:t> </a:t>
            </a:r>
            <a:r>
              <a:rPr lang="en-US" altLang="zh-CN" i="1" baseline="-25000" dirty="0"/>
              <a:t>IH</a:t>
            </a:r>
            <a:r>
              <a:rPr lang="en-US" altLang="zh-CN" i="1" dirty="0"/>
              <a:t> </a:t>
            </a:r>
            <a:r>
              <a:rPr lang="zh-CN" altLang="en-US" dirty="0"/>
              <a:t>为高电平输入电流</a:t>
            </a:r>
            <a:r>
              <a:rPr lang="en-US" altLang="zh-CN" dirty="0"/>
              <a:t>; </a:t>
            </a:r>
            <a:r>
              <a:rPr lang="en-US" altLang="zh-CN" i="1" dirty="0"/>
              <a:t>I </a:t>
            </a:r>
            <a:r>
              <a:rPr lang="en-US" altLang="zh-CN" i="1" baseline="-25000" dirty="0"/>
              <a:t>OL </a:t>
            </a:r>
            <a:r>
              <a:rPr lang="zh-CN" altLang="en-US" dirty="0"/>
              <a:t>为低电平输出电流</a:t>
            </a:r>
            <a:r>
              <a:rPr lang="en-US" altLang="zh-CN" dirty="0"/>
              <a:t>; </a:t>
            </a:r>
            <a:r>
              <a:rPr lang="en-US" altLang="zh-CN" i="1" dirty="0"/>
              <a:t>I </a:t>
            </a:r>
            <a:r>
              <a:rPr lang="en-US" altLang="zh-CN" i="1" baseline="-25000" dirty="0"/>
              <a:t>IL</a:t>
            </a:r>
            <a:r>
              <a:rPr lang="en-US" altLang="zh-CN" i="1" dirty="0"/>
              <a:t> </a:t>
            </a:r>
            <a:r>
              <a:rPr lang="zh-CN" altLang="en-US" dirty="0"/>
              <a:t>为低电平输入电流。</a:t>
            </a:r>
            <a:endParaRPr lang="zh-CN" altLang="zh-CN" dirty="0"/>
          </a:p>
        </p:txBody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3429000"/>
            <a:ext cx="3240360" cy="99703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9906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br>
                  <a:rPr lang="en-US" altLang="zh-CN" dirty="0"/>
                </a:br>
                <a:r>
                  <a:rPr lang="zh-CN" altLang="en-US" dirty="0"/>
                  <a:t>　　例如，从 </a:t>
                </a:r>
                <a:r>
                  <a:rPr lang="en-US" altLang="zh-CN" dirty="0"/>
                  <a:t>74LS00 </a:t>
                </a:r>
                <a:r>
                  <a:rPr lang="zh-CN" altLang="en-US" dirty="0"/>
                  <a:t>与非门的参数表中可以查到，</a:t>
                </a:r>
                <a:br>
                  <a:rPr lang="en-US" altLang="zh-CN" dirty="0"/>
                </a:br>
                <a:r>
                  <a:rPr lang="zh-CN" altLang="en-US" dirty="0"/>
                  <a:t>　　</a:t>
                </a:r>
                <a:r>
                  <a:rPr lang="en-US" altLang="zh-CN" i="1" dirty="0"/>
                  <a:t>I </a:t>
                </a:r>
                <a:r>
                  <a:rPr lang="en-US" altLang="zh-CN" i="1" baseline="-25000" dirty="0"/>
                  <a:t>OH</a:t>
                </a:r>
                <a:r>
                  <a:rPr lang="en-US" altLang="zh-CN" i="1" dirty="0"/>
                  <a:t> =0. 4mA </a:t>
                </a:r>
                <a:r>
                  <a:rPr lang="zh-CN" altLang="en-US" i="1" dirty="0"/>
                  <a:t>，</a:t>
                </a:r>
                <a:r>
                  <a:rPr lang="en-US" altLang="zh-CN" i="1" dirty="0"/>
                  <a:t> I</a:t>
                </a:r>
                <a:r>
                  <a:rPr lang="en-US" altLang="zh-CN" i="1" baseline="-25000" dirty="0"/>
                  <a:t>IH</a:t>
                </a:r>
                <a:r>
                  <a:rPr lang="en-US" altLang="zh-CN" i="1" dirty="0"/>
                  <a:t> =20 </a:t>
                </a:r>
                <a:r>
                  <a:rPr lang="el-GR" altLang="zh-CN" i="1" dirty="0"/>
                  <a:t>μ </a:t>
                </a:r>
                <a:r>
                  <a:rPr lang="en-US" altLang="zh-CN" i="1" dirty="0"/>
                  <a:t>A </a:t>
                </a:r>
                <a:r>
                  <a:rPr lang="zh-CN" altLang="en-US" i="1" dirty="0"/>
                  <a:t>，</a:t>
                </a:r>
                <a:r>
                  <a:rPr lang="en-US" altLang="zh-CN" i="1" dirty="0"/>
                  <a:t> I </a:t>
                </a:r>
                <a:r>
                  <a:rPr lang="en-US" altLang="zh-CN" i="1" baseline="-25000" dirty="0"/>
                  <a:t>OL</a:t>
                </a:r>
                <a:r>
                  <a:rPr lang="en-US" altLang="zh-CN" i="1" dirty="0"/>
                  <a:t> =8mA </a:t>
                </a:r>
                <a:r>
                  <a:rPr lang="zh-CN" altLang="en-US" i="1" dirty="0"/>
                  <a:t>，</a:t>
                </a:r>
                <a:r>
                  <a:rPr lang="en-US" altLang="zh-CN" i="1" dirty="0"/>
                  <a:t> I </a:t>
                </a:r>
                <a:r>
                  <a:rPr lang="en-US" altLang="zh-CN" i="1" baseline="-25000" dirty="0"/>
                  <a:t>IL</a:t>
                </a:r>
                <a:r>
                  <a:rPr lang="en-US" altLang="zh-CN" i="1" dirty="0"/>
                  <a:t> =0.4mA</a:t>
                </a:r>
                <a:br>
                  <a:rPr lang="en-US" altLang="zh-CN" i="1" dirty="0"/>
                </a:br>
                <a:r>
                  <a:rPr lang="zh-CN" altLang="en-US" dirty="0"/>
                  <a:t>因此</a:t>
                </a:r>
                <a:r>
                  <a:rPr lang="en-US" altLang="zh-CN" dirty="0"/>
                  <a:t>:</a:t>
                </a:r>
                <a:br>
                  <a:rPr lang="en-US" altLang="zh-CN" dirty="0"/>
                </a:br>
                <a:r>
                  <a:rPr lang="zh-CN" altLang="en-US" dirty="0"/>
                  <a:t>　　　　　　扇出系数 </a:t>
                </a:r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dirty="0"/>
                          <m:t>400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CN" dirty="0"/>
                          <m:t>20</m:t>
                        </m:r>
                      </m:den>
                    </m:f>
                  </m:oMath>
                </a14:m>
                <a:r>
                  <a:rPr lang="en-US" altLang="zh-C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dirty="0"/>
                          <m:t>8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CN" dirty="0"/>
                          <m:t>0. 4</m:t>
                        </m:r>
                      </m:den>
                    </m:f>
                    <m:r>
                      <a:rPr lang="en-US" altLang="zh-CN" i="1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CN" dirty="0"/>
                  <a:t>=20</a:t>
                </a:r>
                <a:br>
                  <a:rPr lang="en-US" altLang="zh-CN" dirty="0"/>
                </a:br>
                <a:r>
                  <a:rPr lang="zh-CN" altLang="en-US" dirty="0"/>
                  <a:t>　　</a:t>
                </a:r>
                <a:br>
                  <a:rPr lang="en-US" altLang="zh-CN" dirty="0"/>
                </a:br>
                <a:r>
                  <a:rPr lang="zh-CN" altLang="en-US" dirty="0"/>
                  <a:t>　　　这说明一个 </a:t>
                </a:r>
                <a:r>
                  <a:rPr lang="en-US" altLang="zh-CN" dirty="0"/>
                  <a:t>74LS00 </a:t>
                </a:r>
                <a:r>
                  <a:rPr lang="zh-CN" altLang="en-US" dirty="0"/>
                  <a:t>与非门的输出端能够连接 </a:t>
                </a:r>
                <a:r>
                  <a:rPr lang="en-US" altLang="zh-CN" dirty="0"/>
                  <a:t>74LS </a:t>
                </a:r>
                <a:r>
                  <a:rPr lang="zh-CN" altLang="en-US" dirty="0"/>
                  <a:t>系列门电路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不一定是与非门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最多 </a:t>
                </a:r>
                <a:r>
                  <a:rPr lang="en-US" altLang="zh-CN" dirty="0"/>
                  <a:t>20</a:t>
                </a:r>
                <a:r>
                  <a:rPr lang="zh-CN" altLang="en-US" dirty="0"/>
                  <a:t>个的输入端，如图 </a:t>
                </a:r>
                <a:r>
                  <a:rPr lang="en-US" altLang="zh-CN" dirty="0"/>
                  <a:t>2-4 </a:t>
                </a:r>
                <a:r>
                  <a:rPr lang="zh-CN" altLang="en-US" dirty="0"/>
                  <a:t>所示。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37990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l="-1202" r="-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80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518" y="5589240"/>
            <a:ext cx="9144000" cy="438944"/>
          </a:xfrm>
        </p:spPr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2-4 74LS </a:t>
            </a:r>
            <a:r>
              <a:rPr lang="zh-CN" altLang="en-US" dirty="0"/>
              <a:t>系列门电路的扇出系数和带负载能力</a:t>
            </a:r>
          </a:p>
          <a:p>
            <a:r>
              <a:rPr lang="en-US" altLang="zh-CN" dirty="0"/>
              <a:t>(a )</a:t>
            </a:r>
            <a:r>
              <a:rPr lang="zh-CN" altLang="en-US" dirty="0"/>
              <a:t>低电平输出时</a:t>
            </a:r>
            <a:r>
              <a:rPr lang="en-US" altLang="zh-CN" dirty="0"/>
              <a:t>;( b )</a:t>
            </a:r>
            <a:r>
              <a:rPr lang="zh-CN" altLang="en-US" dirty="0"/>
              <a:t>高电平输出时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12" y="1309687"/>
            <a:ext cx="7724775" cy="42386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04664"/>
            <a:ext cx="8115300" cy="5638800"/>
          </a:xfrm>
        </p:spPr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 </a:t>
            </a:r>
            <a:r>
              <a:rPr lang="en-US" altLang="zh-CN" dirty="0"/>
              <a:t>4 )</a:t>
            </a:r>
            <a:r>
              <a:rPr lang="zh-CN" altLang="en-US" dirty="0"/>
              <a:t>传输延时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P</a:t>
            </a:r>
            <a:br>
              <a:rPr lang="en-US" altLang="zh-CN" dirty="0"/>
            </a:br>
            <a:r>
              <a:rPr lang="zh-CN" altLang="en-US" dirty="0"/>
              <a:t>　　传输延时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P</a:t>
            </a:r>
            <a:r>
              <a:rPr lang="zh-CN" altLang="en-US" dirty="0"/>
              <a:t>指输入变化引起输出变化所需的时间，它是衡量逻辑电路工作速度的重要指标。传输延时越短，工作速度越快，工作频率越高。</a:t>
            </a:r>
            <a:r>
              <a:rPr lang="en-US" altLang="zh-CN" i="1" dirty="0"/>
              <a:t>t</a:t>
            </a:r>
            <a:r>
              <a:rPr lang="en-US" altLang="zh-CN" i="1" baseline="-25000" dirty="0"/>
              <a:t>PHL</a:t>
            </a:r>
            <a:r>
              <a:rPr lang="en-US" altLang="zh-CN" dirty="0"/>
              <a:t> </a:t>
            </a:r>
            <a:r>
              <a:rPr lang="zh-CN" altLang="en-US" dirty="0"/>
              <a:t>指输出由高电平变为低电平时，输入脉冲的指定参考点</a:t>
            </a:r>
            <a:r>
              <a:rPr lang="en-US" altLang="zh-CN" dirty="0"/>
              <a:t>(</a:t>
            </a:r>
            <a:r>
              <a:rPr lang="zh-CN" altLang="en-US" dirty="0"/>
              <a:t>一般为中点</a:t>
            </a:r>
            <a:r>
              <a:rPr lang="en-US" altLang="zh-CN" dirty="0"/>
              <a:t>)</a:t>
            </a:r>
            <a:r>
              <a:rPr lang="zh-CN" altLang="en-US" dirty="0"/>
              <a:t>到输出脉冲的相应指定参考点的时间。 </a:t>
            </a:r>
            <a:r>
              <a:rPr lang="en-US" altLang="zh-CN" i="1" dirty="0"/>
              <a:t>t</a:t>
            </a:r>
            <a:r>
              <a:rPr lang="en-US" altLang="zh-CN" i="1" baseline="-25000" dirty="0"/>
              <a:t>PHL</a:t>
            </a:r>
            <a:r>
              <a:rPr lang="en-US" altLang="zh-CN" dirty="0"/>
              <a:t> </a:t>
            </a:r>
            <a:r>
              <a:rPr lang="zh-CN" altLang="en-US" dirty="0"/>
              <a:t>指输出由低电平变为高电平时，输入脉冲的指定参考点到输出脉冲的相应指定参考点的时间。标准 </a:t>
            </a:r>
            <a:r>
              <a:rPr lang="en-US" altLang="zh-CN" dirty="0"/>
              <a:t>TTL </a:t>
            </a:r>
            <a:r>
              <a:rPr lang="zh-CN" altLang="en-US" dirty="0"/>
              <a:t>系列门电路典型的传输延时为 </a:t>
            </a:r>
            <a:r>
              <a:rPr lang="en-US" altLang="zh-CN" dirty="0"/>
              <a:t>11ns ;</a:t>
            </a:r>
            <a:r>
              <a:rPr lang="zh-CN" altLang="en-US" dirty="0"/>
              <a:t>高速 </a:t>
            </a:r>
            <a:r>
              <a:rPr lang="en-US" altLang="zh-CN" dirty="0"/>
              <a:t>TTL </a:t>
            </a:r>
            <a:r>
              <a:rPr lang="zh-CN" altLang="en-US" dirty="0"/>
              <a:t>系列门电路典型的传输延时为</a:t>
            </a:r>
            <a:r>
              <a:rPr lang="en-US" altLang="zh-CN" dirty="0"/>
              <a:t>3. 3ns </a:t>
            </a:r>
            <a:r>
              <a:rPr lang="zh-CN" altLang="en-US" dirty="0"/>
              <a:t>。 </a:t>
            </a:r>
            <a:r>
              <a:rPr lang="en-US" altLang="zh-CN" dirty="0"/>
              <a:t>HCT </a:t>
            </a:r>
            <a:r>
              <a:rPr lang="zh-CN" altLang="en-US" dirty="0"/>
              <a:t>系列 </a:t>
            </a:r>
            <a:r>
              <a:rPr lang="en-US" altLang="zh-CN" dirty="0"/>
              <a:t>CMOS </a:t>
            </a:r>
            <a:r>
              <a:rPr lang="zh-CN" altLang="en-US" dirty="0"/>
              <a:t>门电路的传输延时为 </a:t>
            </a:r>
            <a:r>
              <a:rPr lang="en-US" altLang="zh-CN" dirty="0"/>
              <a:t>7ns ; AC </a:t>
            </a:r>
            <a:r>
              <a:rPr lang="zh-CN" altLang="en-US" dirty="0"/>
              <a:t>系列 </a:t>
            </a:r>
            <a:r>
              <a:rPr lang="en-US" altLang="zh-CN" dirty="0"/>
              <a:t>CMOS </a:t>
            </a:r>
            <a:r>
              <a:rPr lang="zh-CN" altLang="en-US" dirty="0"/>
              <a:t>门电路的传输延时为 </a:t>
            </a:r>
            <a:r>
              <a:rPr lang="en-US" altLang="zh-CN" dirty="0"/>
              <a:t>5ns ; ALVC </a:t>
            </a:r>
            <a:r>
              <a:rPr lang="zh-CN" altLang="en-US" dirty="0"/>
              <a:t>系列 </a:t>
            </a:r>
            <a:r>
              <a:rPr lang="en-US" altLang="zh-CN" dirty="0"/>
              <a:t>CMOS </a:t>
            </a:r>
            <a:r>
              <a:rPr lang="zh-CN" altLang="en-US" dirty="0"/>
              <a:t>门电路的传输延时为 </a:t>
            </a:r>
            <a:r>
              <a:rPr lang="en-US" altLang="zh-CN" dirty="0"/>
              <a:t>3ns 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 </a:t>
            </a:r>
            <a:r>
              <a:rPr lang="en-US" altLang="zh-CN" dirty="0"/>
              <a:t>5 )</a:t>
            </a:r>
            <a:r>
              <a:rPr lang="zh-CN" altLang="en-US" dirty="0"/>
              <a:t>功耗 </a:t>
            </a:r>
            <a:r>
              <a:rPr lang="en-US" altLang="zh-CN" i="1" dirty="0"/>
              <a:t>P </a:t>
            </a:r>
            <a:r>
              <a:rPr lang="en-US" altLang="zh-CN" i="1" baseline="-25000" dirty="0"/>
              <a:t>D</a:t>
            </a:r>
            <a:br>
              <a:rPr lang="en-US" altLang="zh-CN" dirty="0"/>
            </a:br>
            <a:r>
              <a:rPr lang="zh-CN" altLang="en-US" dirty="0"/>
              <a:t>　　逻辑电路的功耗 </a:t>
            </a:r>
            <a:r>
              <a:rPr lang="en-US" altLang="zh-CN" i="1" dirty="0"/>
              <a:t>P </a:t>
            </a:r>
            <a:r>
              <a:rPr lang="en-US" altLang="zh-CN" i="1" baseline="-25000" dirty="0"/>
              <a:t>D</a:t>
            </a:r>
            <a:r>
              <a:rPr lang="en-US" altLang="zh-CN" i="1" dirty="0"/>
              <a:t> </a:t>
            </a:r>
            <a:r>
              <a:rPr lang="zh-CN" altLang="en-US" dirty="0"/>
              <a:t>定义为直流电源电压和电源平均电流的乘积。一般情况下，门电路输出为低电平时的电源电流 </a:t>
            </a:r>
            <a:r>
              <a:rPr lang="en-US" altLang="zh-CN" i="1" dirty="0"/>
              <a:t>I </a:t>
            </a:r>
            <a:r>
              <a:rPr lang="en-US" altLang="zh-CN" i="1" baseline="-25000" dirty="0"/>
              <a:t>CCL</a:t>
            </a:r>
            <a:r>
              <a:rPr lang="en-US" altLang="zh-CN" i="1" dirty="0"/>
              <a:t> </a:t>
            </a:r>
            <a:r>
              <a:rPr lang="zh-CN" altLang="en-US" dirty="0"/>
              <a:t>比门电路输出为高电平时的电源电流 </a:t>
            </a:r>
            <a:r>
              <a:rPr lang="en-US" altLang="zh-CN" i="1" dirty="0"/>
              <a:t>I </a:t>
            </a:r>
            <a:r>
              <a:rPr lang="en-US" altLang="zh-CN" i="1" baseline="-25000" dirty="0"/>
              <a:t>CCH</a:t>
            </a:r>
            <a:r>
              <a:rPr lang="en-US" altLang="zh-CN" i="1" dirty="0"/>
              <a:t> </a:t>
            </a:r>
            <a:r>
              <a:rPr lang="zh-CN" altLang="en-US" dirty="0"/>
              <a:t>大。 </a:t>
            </a:r>
            <a:r>
              <a:rPr lang="en-US" altLang="zh-CN" dirty="0"/>
              <a:t>CMOS </a:t>
            </a:r>
            <a:r>
              <a:rPr lang="zh-CN" altLang="en-US" dirty="0"/>
              <a:t>电路的功耗较低，而且与工作频率有关</a:t>
            </a:r>
            <a:r>
              <a:rPr lang="en-US" altLang="zh-CN" dirty="0"/>
              <a:t>(</a:t>
            </a:r>
            <a:r>
              <a:rPr lang="zh-CN" altLang="en-US" dirty="0"/>
              <a:t>频率越高功耗越大</a:t>
            </a:r>
            <a:r>
              <a:rPr lang="en-US" altLang="zh-CN" dirty="0"/>
              <a:t>); TTL </a:t>
            </a:r>
            <a:r>
              <a:rPr lang="zh-CN" altLang="en-US" dirty="0"/>
              <a:t>电路的功耗较高，基本与工作频率无关。</a:t>
            </a:r>
            <a:endParaRPr lang="zh-CN" altLang="zh-CN" dirty="0"/>
          </a:p>
        </p:txBody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 </a:t>
            </a:r>
            <a:r>
              <a:rPr lang="en-US" altLang="zh-CN" b="1" dirty="0"/>
              <a:t>2. </a:t>
            </a:r>
            <a:r>
              <a:rPr lang="zh-CN" altLang="en-US" b="1" dirty="0"/>
              <a:t>数字集成电路的使用</a:t>
            </a:r>
            <a:br>
              <a:rPr lang="zh-CN" altLang="en-US" b="1" dirty="0"/>
            </a:br>
            <a:r>
              <a:rPr lang="zh-CN" altLang="en-US" b="1" dirty="0"/>
              <a:t>　　</a:t>
            </a:r>
            <a:r>
              <a:rPr lang="en-US" altLang="zh-CN" dirty="0"/>
              <a:t>1 )</a:t>
            </a:r>
            <a:r>
              <a:rPr lang="zh-CN" altLang="en-US" dirty="0"/>
              <a:t>类型选择</a:t>
            </a:r>
            <a:br>
              <a:rPr lang="zh-CN" altLang="en-US" dirty="0"/>
            </a:br>
            <a:r>
              <a:rPr lang="zh-CN" altLang="en-US" dirty="0"/>
              <a:t>　　设计一个复杂的数字系统时，往往需要用到大量的门电路。应根据各个部分的性能要求选择合适的门电路，以使系统达到经济、稳定、可靠且性能优良。在优先考虑功耗，对速度要求不高的情况下，可选用 </a:t>
            </a:r>
            <a:r>
              <a:rPr lang="en-US" altLang="zh-CN" dirty="0"/>
              <a:t>CMOS </a:t>
            </a:r>
            <a:r>
              <a:rPr lang="zh-CN" altLang="en-US" dirty="0"/>
              <a:t>电路</a:t>
            </a:r>
            <a:r>
              <a:rPr lang="en-US" altLang="zh-CN" dirty="0"/>
              <a:t>;</a:t>
            </a:r>
            <a:r>
              <a:rPr lang="zh-CN" altLang="en-US" dirty="0"/>
              <a:t>当要求很高速度时，可选用 </a:t>
            </a:r>
            <a:r>
              <a:rPr lang="en-US" altLang="zh-CN" dirty="0"/>
              <a:t>ECL </a:t>
            </a:r>
            <a:r>
              <a:rPr lang="zh-CN" altLang="en-US" dirty="0"/>
              <a:t>电路。由于</a:t>
            </a:r>
            <a:r>
              <a:rPr lang="en-US" altLang="zh-CN" dirty="0"/>
              <a:t>TTL </a:t>
            </a:r>
            <a:r>
              <a:rPr lang="zh-CN" altLang="en-US" dirty="0"/>
              <a:t>电路速度较高、功耗适中、使用普遍，所以在无特殊要求的情况下，可选用 </a:t>
            </a:r>
            <a:r>
              <a:rPr lang="en-US" altLang="zh-CN" dirty="0"/>
              <a:t>TTL </a:t>
            </a:r>
            <a:r>
              <a:rPr lang="zh-CN" altLang="en-US" dirty="0"/>
              <a:t>电路。表 </a:t>
            </a:r>
            <a:r>
              <a:rPr lang="en-US" altLang="zh-CN" dirty="0"/>
              <a:t>2-2 </a:t>
            </a:r>
            <a:r>
              <a:rPr lang="zh-CN" altLang="en-US" dirty="0"/>
              <a:t>给出了常用的 </a:t>
            </a:r>
            <a:r>
              <a:rPr lang="en-US" altLang="zh-CN" dirty="0"/>
              <a:t>TTL </a:t>
            </a:r>
            <a:r>
              <a:rPr lang="zh-CN" altLang="en-US" dirty="0"/>
              <a:t>、 </a:t>
            </a:r>
            <a:r>
              <a:rPr lang="en-US" altLang="zh-CN" dirty="0"/>
              <a:t>ECL </a:t>
            </a:r>
            <a:r>
              <a:rPr lang="zh-CN" altLang="en-US" dirty="0"/>
              <a:t>、 </a:t>
            </a:r>
            <a:r>
              <a:rPr lang="en-US" altLang="zh-CN" dirty="0"/>
              <a:t>CMOS </a:t>
            </a:r>
            <a:r>
              <a:rPr lang="zh-CN" altLang="en-US" dirty="0"/>
              <a:t>电路的主要性能参数比较。</a:t>
            </a:r>
            <a:endParaRPr lang="zh-CN" altLang="zh-CN" dirty="0"/>
          </a:p>
        </p:txBody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5" y="2438400"/>
            <a:ext cx="702945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 </a:t>
            </a:r>
            <a:r>
              <a:rPr lang="en-US" altLang="zh-CN" dirty="0"/>
              <a:t>2 ) TTL </a:t>
            </a:r>
            <a:r>
              <a:rPr lang="zh-CN" altLang="en-US" dirty="0"/>
              <a:t>门电路和 </a:t>
            </a:r>
            <a:r>
              <a:rPr lang="en-US" altLang="zh-CN" dirty="0"/>
              <a:t>CMOS </a:t>
            </a:r>
            <a:r>
              <a:rPr lang="zh-CN" altLang="en-US" dirty="0"/>
              <a:t>门电路的连接</a:t>
            </a:r>
            <a:br>
              <a:rPr lang="zh-CN" altLang="en-US" dirty="0"/>
            </a:br>
            <a:r>
              <a:rPr lang="zh-CN" altLang="en-US" dirty="0"/>
              <a:t>　　我们知道，</a:t>
            </a:r>
            <a:r>
              <a:rPr lang="en-US" altLang="zh-CN" dirty="0"/>
              <a:t> TTL </a:t>
            </a:r>
            <a:r>
              <a:rPr lang="zh-CN" altLang="en-US" dirty="0"/>
              <a:t>门电路和 </a:t>
            </a:r>
            <a:r>
              <a:rPr lang="en-US" altLang="zh-CN" dirty="0"/>
              <a:t>CMOS </a:t>
            </a:r>
            <a:r>
              <a:rPr lang="zh-CN" altLang="en-US" dirty="0"/>
              <a:t>门电路是两种不同类型的电路，它们的参数并不完全相同。因此，在一个数字系统中，如果同时使用 </a:t>
            </a:r>
            <a:r>
              <a:rPr lang="en-US" altLang="zh-CN" dirty="0"/>
              <a:t>TTL </a:t>
            </a:r>
            <a:r>
              <a:rPr lang="zh-CN" altLang="en-US" dirty="0"/>
              <a:t>门电路和 </a:t>
            </a:r>
            <a:r>
              <a:rPr lang="en-US" altLang="zh-CN" dirty="0"/>
              <a:t>CMOS </a:t>
            </a:r>
            <a:r>
              <a:rPr lang="zh-CN" altLang="en-US" dirty="0"/>
              <a:t>门电路，为了保证系统能够正常工作，必须考虑两者之间的连接问题，应满足下列条件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　　　驱动门 　　　负载门</a:t>
            </a:r>
            <a:br>
              <a:rPr lang="zh-CN" altLang="en-US" dirty="0"/>
            </a:br>
            <a:r>
              <a:rPr lang="zh-CN" altLang="en-US" dirty="0"/>
              <a:t>　</a:t>
            </a:r>
            <a:r>
              <a:rPr lang="zh-CN" altLang="en-US" i="1" dirty="0"/>
              <a:t>　</a:t>
            </a:r>
            <a:r>
              <a:rPr lang="en-US" altLang="zh-CN" i="1" dirty="0"/>
              <a:t>U </a:t>
            </a:r>
            <a:r>
              <a:rPr lang="en-US" altLang="zh-CN" i="1" baseline="-25000" dirty="0"/>
              <a:t>OH ( min ) </a:t>
            </a:r>
            <a:r>
              <a:rPr lang="zh-CN" altLang="en-US" i="1" baseline="-25000" dirty="0"/>
              <a:t>　</a:t>
            </a:r>
            <a:r>
              <a:rPr lang="en-US" altLang="zh-CN" i="1" dirty="0"/>
              <a:t>&gt;</a:t>
            </a:r>
            <a:r>
              <a:rPr lang="zh-CN" altLang="en-US" i="1" dirty="0"/>
              <a:t>　</a:t>
            </a:r>
            <a:r>
              <a:rPr lang="en-US" altLang="zh-CN" i="1" dirty="0"/>
              <a:t> U </a:t>
            </a:r>
            <a:r>
              <a:rPr lang="en-US" altLang="zh-CN" i="1" baseline="-25000" dirty="0"/>
              <a:t>IH ( min )</a:t>
            </a:r>
            <a:br>
              <a:rPr lang="en-US" altLang="zh-CN" i="1" dirty="0"/>
            </a:br>
            <a:r>
              <a:rPr lang="zh-CN" altLang="en-US" i="1" dirty="0"/>
              <a:t>　　</a:t>
            </a:r>
            <a:r>
              <a:rPr lang="en-US" altLang="zh-CN" i="1" dirty="0"/>
              <a:t>U </a:t>
            </a:r>
            <a:r>
              <a:rPr lang="en-US" altLang="zh-CN" i="1" baseline="-25000" dirty="0"/>
              <a:t>OL ( max ) </a:t>
            </a:r>
            <a:r>
              <a:rPr lang="zh-CN" altLang="en-US" i="1" baseline="-25000" dirty="0"/>
              <a:t>　</a:t>
            </a:r>
            <a:r>
              <a:rPr lang="en-US" altLang="zh-CN" i="1" dirty="0"/>
              <a:t>&lt; </a:t>
            </a:r>
            <a:r>
              <a:rPr lang="zh-CN" altLang="en-US" i="1" dirty="0"/>
              <a:t>　</a:t>
            </a:r>
            <a:r>
              <a:rPr lang="en-US" altLang="zh-CN" i="1" dirty="0"/>
              <a:t>U </a:t>
            </a:r>
            <a:r>
              <a:rPr lang="en-US" altLang="zh-CN" i="1" baseline="-25000" dirty="0"/>
              <a:t>IL ( max )</a:t>
            </a:r>
            <a:br>
              <a:rPr lang="en-US" altLang="zh-CN" i="1" dirty="0"/>
            </a:br>
            <a:r>
              <a:rPr lang="zh-CN" altLang="en-US" i="1" dirty="0"/>
              <a:t>　　</a:t>
            </a:r>
            <a:r>
              <a:rPr lang="en-US" altLang="zh-CN" i="1" dirty="0"/>
              <a:t>I </a:t>
            </a:r>
            <a:r>
              <a:rPr lang="en-US" altLang="zh-CN" i="1" baseline="-25000" dirty="0"/>
              <a:t>OH</a:t>
            </a:r>
            <a:r>
              <a:rPr lang="en-US" altLang="zh-CN" i="1" dirty="0"/>
              <a:t> </a:t>
            </a:r>
            <a:r>
              <a:rPr lang="zh-CN" altLang="en-US" i="1" dirty="0"/>
              <a:t>　　　</a:t>
            </a:r>
            <a:r>
              <a:rPr lang="en-US" altLang="zh-CN" i="1" dirty="0"/>
              <a:t>&gt; </a:t>
            </a:r>
            <a:r>
              <a:rPr lang="zh-CN" altLang="en-US" i="1" dirty="0"/>
              <a:t>　</a:t>
            </a:r>
            <a:r>
              <a:rPr lang="en-US" altLang="zh-CN" i="1" dirty="0"/>
              <a:t>I </a:t>
            </a:r>
            <a:r>
              <a:rPr lang="en-US" altLang="zh-CN" i="1" baseline="-25000" dirty="0"/>
              <a:t>IH</a:t>
            </a:r>
            <a:br>
              <a:rPr lang="en-US" altLang="zh-CN" i="1" dirty="0"/>
            </a:br>
            <a:r>
              <a:rPr lang="zh-CN" altLang="en-US" i="1" dirty="0"/>
              <a:t>　　</a:t>
            </a:r>
            <a:r>
              <a:rPr lang="en-US" altLang="zh-CN" i="1" dirty="0"/>
              <a:t>I </a:t>
            </a:r>
            <a:r>
              <a:rPr lang="en-US" altLang="zh-CN" i="1" baseline="-25000" dirty="0"/>
              <a:t>OL</a:t>
            </a:r>
            <a:r>
              <a:rPr lang="en-US" altLang="zh-CN" i="1" dirty="0"/>
              <a:t> </a:t>
            </a:r>
            <a:r>
              <a:rPr lang="zh-CN" altLang="en-US" i="1" dirty="0"/>
              <a:t>　　　</a:t>
            </a:r>
            <a:r>
              <a:rPr lang="en-US" altLang="zh-CN" i="1" dirty="0"/>
              <a:t>&gt; </a:t>
            </a:r>
            <a:r>
              <a:rPr lang="zh-CN" altLang="en-US" i="1" dirty="0"/>
              <a:t>　</a:t>
            </a:r>
            <a:r>
              <a:rPr lang="en-US" altLang="zh-CN" i="1" dirty="0"/>
              <a:t>I </a:t>
            </a:r>
            <a:r>
              <a:rPr lang="en-US" altLang="zh-CN" i="1" baseline="-25000" dirty="0"/>
              <a:t>IL</a:t>
            </a:r>
            <a:endParaRPr lang="zh-CN" altLang="zh-CN" i="1" baseline="-25000" dirty="0"/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如果不满足上面条件，必须增加接口电路。常用的方法有增加上拉电阻、采用专用接口电路、驱动门并接等。例如，若不满足 </a:t>
            </a:r>
            <a:r>
              <a:rPr lang="en-US" altLang="zh-CN" i="1" dirty="0"/>
              <a:t>U </a:t>
            </a:r>
            <a:r>
              <a:rPr lang="en-US" altLang="zh-CN" i="1" baseline="-25000" dirty="0"/>
              <a:t>OH</a:t>
            </a:r>
            <a:r>
              <a:rPr lang="en-US" altLang="zh-CN" i="1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驱动门</a:t>
            </a:r>
            <a:r>
              <a:rPr lang="en-US" altLang="zh-CN" dirty="0"/>
              <a:t>) &gt; </a:t>
            </a:r>
            <a:r>
              <a:rPr lang="en-US" altLang="zh-CN" i="1" dirty="0"/>
              <a:t>U </a:t>
            </a:r>
            <a:r>
              <a:rPr lang="en-US" altLang="zh-CN" i="1" baseline="-25000" dirty="0"/>
              <a:t>IH</a:t>
            </a:r>
            <a:r>
              <a:rPr lang="en-US" altLang="zh-CN" i="1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负载门</a:t>
            </a:r>
            <a:r>
              <a:rPr lang="en-US" altLang="zh-CN" dirty="0"/>
              <a:t>)</a:t>
            </a:r>
            <a:r>
              <a:rPr lang="zh-CN" altLang="en-US" dirty="0"/>
              <a:t>，则可在驱动门的输</a:t>
            </a:r>
            <a:br>
              <a:rPr lang="zh-CN" altLang="en-US" dirty="0"/>
            </a:br>
            <a:r>
              <a:rPr lang="zh-CN" altLang="en-US" dirty="0"/>
              <a:t>出端接上上拉电阻，如图 </a:t>
            </a:r>
            <a:r>
              <a:rPr lang="en-US" altLang="zh-CN" dirty="0"/>
              <a:t>2-5 </a:t>
            </a:r>
            <a:r>
              <a:rPr lang="zh-CN" altLang="en-US" dirty="0"/>
              <a:t>所示。</a:t>
            </a:r>
            <a:endParaRPr lang="zh-CN" altLang="zh-CN" dirty="0"/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2-5 TTL </a:t>
            </a:r>
            <a:r>
              <a:rPr lang="zh-CN" altLang="en-US" dirty="0"/>
              <a:t>驱动门与 </a:t>
            </a:r>
            <a:r>
              <a:rPr lang="en-US" altLang="zh-CN" dirty="0"/>
              <a:t>CMOS </a:t>
            </a:r>
            <a:r>
              <a:rPr lang="zh-CN" altLang="en-US" dirty="0"/>
              <a:t>负载门的连接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2996952"/>
            <a:ext cx="3096344" cy="2671356"/>
          </a:xfrm>
          <a:prstGeom prst="rect">
            <a:avLst/>
          </a:prstGeom>
        </p:spPr>
      </p:pic>
      <p:pic>
        <p:nvPicPr>
          <p:cNvPr id="5" name="Picture 2" descr="H:\出版社\模板\课件素材\GIF动画插件1\GIF020.GIF">
            <a:hlinkClick r:id="rId3" action="ppaction://hlinksldjump"/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096" y="6268790"/>
            <a:ext cx="749904" cy="58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533400"/>
            <a:ext cx="8115300" cy="1167408"/>
          </a:xfrm>
        </p:spPr>
        <p:txBody>
          <a:bodyPr/>
          <a:lstStyle/>
          <a:p>
            <a:pPr algn="ctr"/>
            <a:br>
              <a:rPr lang="en-US" altLang="zh-CN" sz="2600" b="1" dirty="0"/>
            </a:br>
            <a:r>
              <a:rPr lang="zh-CN" altLang="en-US" sz="2600" b="1" dirty="0"/>
              <a:t>　　</a:t>
            </a:r>
            <a:r>
              <a:rPr lang="en-US" altLang="zh-CN" sz="2600" b="1" dirty="0"/>
              <a:t>2. 2  </a:t>
            </a:r>
            <a:r>
              <a:rPr lang="zh-CN" altLang="en-US" sz="2600" b="1" dirty="0"/>
              <a:t>组合逻辑电路</a:t>
            </a:r>
            <a:endParaRPr lang="zh-CN" altLang="zh-CN" sz="2600" b="1" dirty="0"/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92317" y="1853208"/>
            <a:ext cx="8115300" cy="3952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2pPr>
            <a:lvl3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3pPr>
            <a:lvl4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4pPr>
            <a:lvl5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5pPr>
            <a:lvl6pPr marL="4572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6pPr>
            <a:lvl7pPr marL="9144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7pPr>
            <a:lvl8pPr marL="13716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8pPr>
            <a:lvl9pPr marL="18288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br>
              <a:rPr lang="en-US" altLang="zh-CN" dirty="0"/>
            </a:br>
            <a:r>
              <a:rPr lang="en-US" altLang="zh-CN" b="1" dirty="0"/>
              <a:t>2. 2. 1  </a:t>
            </a:r>
            <a:r>
              <a:rPr lang="zh-CN" altLang="en-US" b="1" dirty="0"/>
              <a:t>组合逻辑电路的特点</a:t>
            </a:r>
          </a:p>
          <a:p>
            <a:r>
              <a:rPr lang="zh-CN" altLang="en-US" dirty="0"/>
              <a:t>　　逻辑电路可以分为两大类</a:t>
            </a:r>
            <a:r>
              <a:rPr lang="en-US" altLang="zh-CN" dirty="0"/>
              <a:t>:</a:t>
            </a:r>
            <a:r>
              <a:rPr lang="zh-CN" altLang="en-US" dirty="0"/>
              <a:t>组合逻辑电路和时序逻辑电路。组合逻辑电路是比较简单的一类逻辑电路，它具有以下特点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　　</a:t>
            </a:r>
            <a:r>
              <a:rPr lang="en-US" altLang="zh-CN" dirty="0"/>
              <a:t>(1)</a:t>
            </a:r>
            <a:r>
              <a:rPr lang="zh-CN" altLang="en-US" dirty="0"/>
              <a:t>从电路结构上看，不存在反馈，不包含记忆元件。</a:t>
            </a:r>
          </a:p>
          <a:p>
            <a:r>
              <a:rPr lang="zh-CN" altLang="en-US" dirty="0"/>
              <a:t>　　</a:t>
            </a:r>
            <a:r>
              <a:rPr lang="en-US" altLang="zh-CN" dirty="0"/>
              <a:t>(2)</a:t>
            </a:r>
            <a:r>
              <a:rPr lang="zh-CN" altLang="en-US" dirty="0"/>
              <a:t>从逻辑功能上看，任一时刻的输出仅仅与该时刻的输入有关，与该时刻之前电路的状态无关。</a:t>
            </a:r>
            <a:endParaRPr lang="zh-CN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组合逻辑电路的特点可用图 </a:t>
            </a:r>
            <a:r>
              <a:rPr lang="en-US" altLang="zh-CN" dirty="0"/>
              <a:t>2-6 </a:t>
            </a:r>
            <a:r>
              <a:rPr lang="zh-CN" altLang="en-US" dirty="0"/>
              <a:t>表示。</a:t>
            </a:r>
            <a:br>
              <a:rPr lang="zh-CN" altLang="en-US" dirty="0"/>
            </a:br>
            <a:r>
              <a:rPr lang="zh-CN" altLang="en-US" dirty="0"/>
              <a:t>　　输入</a:t>
            </a:r>
            <a:r>
              <a:rPr lang="en-US" altLang="zh-CN" dirty="0"/>
              <a:t>/</a:t>
            </a:r>
            <a:r>
              <a:rPr lang="zh-CN" altLang="en-US" dirty="0"/>
              <a:t>输出表达式描述为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i="1" dirty="0"/>
              <a:t>y 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 =F 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 ( x </a:t>
            </a:r>
            <a:r>
              <a:rPr lang="en-US" altLang="zh-CN" i="1" baseline="-25000" dirty="0"/>
              <a:t>1 </a:t>
            </a:r>
            <a:r>
              <a:rPr lang="zh-CN" altLang="en-US" i="1" dirty="0"/>
              <a:t>，</a:t>
            </a:r>
            <a:r>
              <a:rPr lang="en-US" altLang="zh-CN" i="1" dirty="0"/>
              <a:t> x 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 </a:t>
            </a:r>
            <a:r>
              <a:rPr lang="zh-CN" altLang="en-US" i="1" dirty="0"/>
              <a:t>，</a:t>
            </a:r>
            <a:r>
              <a:rPr lang="en-US" altLang="zh-CN" i="1" dirty="0"/>
              <a:t>…</a:t>
            </a:r>
            <a:r>
              <a:rPr lang="zh-CN" altLang="en-US" i="1" dirty="0"/>
              <a:t>，</a:t>
            </a:r>
            <a:r>
              <a:rPr lang="en-US" altLang="zh-CN" i="1" dirty="0"/>
              <a:t> x </a:t>
            </a:r>
            <a:r>
              <a:rPr lang="en-US" altLang="zh-CN" i="1" baseline="-25000" dirty="0"/>
              <a:t>m</a:t>
            </a:r>
            <a:r>
              <a:rPr lang="en-US" altLang="zh-CN" i="1" dirty="0"/>
              <a:t> )</a:t>
            </a:r>
            <a:br>
              <a:rPr lang="en-US" altLang="zh-CN" i="1" dirty="0"/>
            </a:br>
            <a:r>
              <a:rPr lang="zh-CN" altLang="en-US" i="1" dirty="0"/>
              <a:t>　　</a:t>
            </a:r>
            <a:r>
              <a:rPr lang="en-US" altLang="zh-CN" i="1" dirty="0"/>
              <a:t>y </a:t>
            </a:r>
            <a:r>
              <a:rPr lang="en-US" altLang="zh-CN" i="1" baseline="-25000" dirty="0"/>
              <a:t>2 </a:t>
            </a:r>
            <a:r>
              <a:rPr lang="en-US" altLang="zh-CN" i="1" dirty="0"/>
              <a:t>=F 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 ( x 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 </a:t>
            </a:r>
            <a:r>
              <a:rPr lang="zh-CN" altLang="en-US" i="1" dirty="0"/>
              <a:t>，</a:t>
            </a:r>
            <a:r>
              <a:rPr lang="en-US" altLang="zh-CN" i="1" dirty="0"/>
              <a:t> x 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 </a:t>
            </a:r>
            <a:r>
              <a:rPr lang="zh-CN" altLang="en-US" i="1" dirty="0"/>
              <a:t>，</a:t>
            </a:r>
            <a:r>
              <a:rPr lang="en-US" altLang="zh-CN" i="1" dirty="0"/>
              <a:t>…</a:t>
            </a:r>
            <a:r>
              <a:rPr lang="zh-CN" altLang="en-US" i="1" dirty="0"/>
              <a:t>，</a:t>
            </a:r>
            <a:r>
              <a:rPr lang="en-US" altLang="zh-CN" i="1" dirty="0"/>
              <a:t> x </a:t>
            </a:r>
            <a:r>
              <a:rPr lang="en-US" altLang="zh-CN" i="1" baseline="-25000" dirty="0"/>
              <a:t>m</a:t>
            </a:r>
            <a:r>
              <a:rPr lang="en-US" altLang="zh-CN" i="1" dirty="0"/>
              <a:t> )</a:t>
            </a:r>
            <a:br>
              <a:rPr lang="en-US" altLang="zh-CN" i="1" dirty="0"/>
            </a:br>
            <a:r>
              <a:rPr lang="zh-CN" altLang="en-US" i="1" dirty="0"/>
              <a:t>　　　　　　</a:t>
            </a:r>
            <a:r>
              <a:rPr lang="en-US" altLang="zh-CN" i="1" dirty="0"/>
              <a:t>…</a:t>
            </a:r>
            <a:br>
              <a:rPr lang="en-US" altLang="zh-CN" i="1" dirty="0"/>
            </a:br>
            <a:r>
              <a:rPr lang="zh-CN" altLang="en-US" i="1" dirty="0"/>
              <a:t>　　</a:t>
            </a:r>
            <a:r>
              <a:rPr lang="en-US" altLang="zh-CN" i="1" dirty="0"/>
              <a:t>y </a:t>
            </a:r>
            <a:r>
              <a:rPr lang="en-US" altLang="zh-CN" i="1" baseline="-25000" dirty="0"/>
              <a:t>n</a:t>
            </a:r>
            <a:r>
              <a:rPr lang="en-US" altLang="zh-CN" i="1" dirty="0"/>
              <a:t> =F </a:t>
            </a:r>
            <a:r>
              <a:rPr lang="en-US" altLang="zh-CN" i="1" baseline="-25000" dirty="0"/>
              <a:t>n </a:t>
            </a:r>
            <a:r>
              <a:rPr lang="en-US" altLang="zh-CN" i="1" dirty="0"/>
              <a:t>( x 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 </a:t>
            </a:r>
            <a:r>
              <a:rPr lang="zh-CN" altLang="en-US" i="1" dirty="0"/>
              <a:t>，</a:t>
            </a:r>
            <a:r>
              <a:rPr lang="en-US" altLang="zh-CN" i="1" dirty="0"/>
              <a:t> x 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 </a:t>
            </a:r>
            <a:r>
              <a:rPr lang="zh-CN" altLang="en-US" i="1" dirty="0"/>
              <a:t>，</a:t>
            </a:r>
            <a:r>
              <a:rPr lang="en-US" altLang="zh-CN" i="1" dirty="0"/>
              <a:t>…</a:t>
            </a:r>
            <a:r>
              <a:rPr lang="zh-CN" altLang="en-US" i="1" dirty="0"/>
              <a:t>，</a:t>
            </a:r>
            <a:r>
              <a:rPr lang="en-US" altLang="zh-CN" i="1" dirty="0"/>
              <a:t> x </a:t>
            </a:r>
            <a:r>
              <a:rPr lang="en-US" altLang="zh-CN" i="1" baseline="-25000" dirty="0"/>
              <a:t>m</a:t>
            </a:r>
            <a:r>
              <a:rPr lang="en-US" altLang="zh-CN" i="1" dirty="0"/>
              <a:t> )</a:t>
            </a:r>
            <a:br>
              <a:rPr lang="en-US" altLang="zh-CN" i="1" dirty="0"/>
            </a:br>
            <a:r>
              <a:rPr lang="zh-CN" altLang="en-US" dirty="0"/>
              <a:t>　　描述组合逻辑电路的常用方法有</a:t>
            </a:r>
            <a:r>
              <a:rPr lang="en-US" altLang="zh-CN" dirty="0"/>
              <a:t>:</a:t>
            </a:r>
            <a:r>
              <a:rPr lang="zh-CN" altLang="en-US" dirty="0"/>
              <a:t>逻辑表达式、真值表、卡诺图、逻辑电路图等。</a:t>
            </a:r>
            <a:endParaRPr lang="zh-CN" altLang="zh-CN" dirty="0"/>
          </a:p>
        </p:txBody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2-6  </a:t>
            </a:r>
            <a:r>
              <a:rPr lang="zh-CN" altLang="en-US" dirty="0"/>
              <a:t>组合逻辑电路框图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067870"/>
            <a:ext cx="4949328" cy="227950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en-US" altLang="zh-CN" b="1" dirty="0"/>
              <a:t>2. 2. 2  </a:t>
            </a:r>
            <a:r>
              <a:rPr lang="zh-CN" altLang="en-US" b="1" dirty="0"/>
              <a:t>组合逻辑电路的分析</a:t>
            </a:r>
            <a:br>
              <a:rPr lang="zh-CN" altLang="en-US" b="1" dirty="0"/>
            </a:br>
            <a:r>
              <a:rPr lang="zh-CN" altLang="en-US" b="1" dirty="0"/>
              <a:t>　　</a:t>
            </a:r>
            <a:r>
              <a:rPr lang="en-US" altLang="zh-CN" b="1" dirty="0"/>
              <a:t>1. </a:t>
            </a:r>
            <a:r>
              <a:rPr lang="zh-CN" altLang="en-US" b="1" dirty="0"/>
              <a:t>不变输入情况下组合逻辑电路的分析</a:t>
            </a:r>
            <a:br>
              <a:rPr lang="zh-CN" altLang="en-US" b="1" dirty="0"/>
            </a:br>
            <a:r>
              <a:rPr lang="zh-CN" altLang="en-US" b="1" dirty="0"/>
              <a:t>　　</a:t>
            </a:r>
            <a:r>
              <a:rPr lang="zh-CN" altLang="en-US" dirty="0"/>
              <a:t>分析组合逻辑电路一般是根据给出的逻辑电路图，总结出它的逻辑功能。当输入不变时，具体的步骤通常如下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dirty="0"/>
              <a:t>(1)</a:t>
            </a:r>
            <a:r>
              <a:rPr lang="zh-CN" altLang="en-US" dirty="0"/>
              <a:t>根据逻辑电路图，写出逻辑表达式。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(2)</a:t>
            </a:r>
            <a:r>
              <a:rPr lang="zh-CN" altLang="en-US" dirty="0"/>
              <a:t>利用所得到的逻辑表达式，列出真值表，画出卡诺图。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(3)</a:t>
            </a:r>
            <a:r>
              <a:rPr lang="zh-CN" altLang="en-US" dirty="0"/>
              <a:t>总结出电路的逻辑功能。</a:t>
            </a:r>
            <a:endParaRPr lang="zh-CN" altLang="zh-CN" dirty="0"/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b="1" dirty="0"/>
              <a:t>【</a:t>
            </a:r>
            <a:r>
              <a:rPr lang="zh-CN" altLang="en-US" b="1" dirty="0"/>
              <a:t>例 </a:t>
            </a:r>
            <a:r>
              <a:rPr lang="en-US" altLang="zh-CN" b="1" dirty="0"/>
              <a:t>2.1 】 </a:t>
            </a:r>
            <a:r>
              <a:rPr lang="zh-CN" altLang="en-US" dirty="0"/>
              <a:t>分析图 </a:t>
            </a:r>
            <a:r>
              <a:rPr lang="en-US" altLang="zh-CN" dirty="0"/>
              <a:t>2-7 </a:t>
            </a:r>
            <a:r>
              <a:rPr lang="zh-CN" altLang="en-US" dirty="0"/>
              <a:t>所示的逻辑电路。</a:t>
            </a:r>
            <a:br>
              <a:rPr lang="zh-CN" altLang="en-US" dirty="0"/>
            </a:br>
            <a:r>
              <a:rPr lang="zh-CN" altLang="en-US" dirty="0"/>
              <a:t>　　</a:t>
            </a:r>
            <a:endParaRPr lang="zh-CN" altLang="zh-CN" dirty="0"/>
          </a:p>
        </p:txBody>
      </p:sp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2-7  </a:t>
            </a:r>
            <a:r>
              <a:rPr lang="zh-CN" altLang="en-US" dirty="0"/>
              <a:t>例 </a:t>
            </a:r>
            <a:r>
              <a:rPr lang="en-US" altLang="zh-CN" dirty="0"/>
              <a:t>2.1 </a:t>
            </a:r>
            <a:r>
              <a:rPr lang="zh-CN" altLang="en-US" dirty="0"/>
              <a:t>的电路逻辑图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262" y="1790700"/>
            <a:ext cx="5705475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　</a:t>
            </a:r>
            <a:br>
              <a:rPr lang="en-US" altLang="zh-CN" dirty="0"/>
            </a:br>
            <a:r>
              <a:rPr lang="zh-CN" altLang="en-US" dirty="0"/>
              <a:t>　　</a:t>
            </a:r>
            <a:r>
              <a:rPr lang="zh-CN" altLang="en-US" b="1" dirty="0"/>
              <a:t>解</a:t>
            </a:r>
            <a:r>
              <a:rPr lang="zh-CN" altLang="en-US" dirty="0"/>
              <a:t> 从逻辑图可以写出如下的逻辑表达式</a:t>
            </a:r>
            <a:r>
              <a:rPr lang="en-US" altLang="zh-CN" dirty="0"/>
              <a:t>: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　　利用上面的逻辑表达式，列出表 </a:t>
            </a:r>
            <a:r>
              <a:rPr lang="en-US" altLang="zh-CN" dirty="0"/>
              <a:t>2-3 </a:t>
            </a:r>
            <a:r>
              <a:rPr lang="zh-CN" altLang="en-US" dirty="0"/>
              <a:t>所示的真值表并画出图 </a:t>
            </a:r>
            <a:r>
              <a:rPr lang="en-US" altLang="zh-CN" dirty="0"/>
              <a:t>2-8 </a:t>
            </a:r>
            <a:r>
              <a:rPr lang="zh-CN" altLang="en-US" dirty="0"/>
              <a:t>所示的卡诺图。</a:t>
            </a:r>
            <a:br>
              <a:rPr lang="zh-CN" altLang="en-US" dirty="0"/>
            </a:br>
            <a:r>
              <a:rPr lang="zh-CN" altLang="en-US" dirty="0"/>
              <a:t>　　从真值表可以看出，当输入变量 </a:t>
            </a:r>
            <a:r>
              <a:rPr lang="en-US" altLang="zh-CN" dirty="0"/>
              <a:t>A </a:t>
            </a:r>
            <a:r>
              <a:rPr lang="zh-CN" altLang="en-US" dirty="0"/>
              <a:t>、 </a:t>
            </a:r>
            <a:r>
              <a:rPr lang="en-US" altLang="zh-CN" dirty="0"/>
              <a:t>B </a:t>
            </a:r>
            <a:r>
              <a:rPr lang="zh-CN" altLang="en-US" dirty="0"/>
              <a:t>、 </a:t>
            </a:r>
            <a:r>
              <a:rPr lang="en-US" altLang="zh-CN" dirty="0"/>
              <a:t>C </a:t>
            </a:r>
            <a:r>
              <a:rPr lang="zh-CN" altLang="en-US" dirty="0"/>
              <a:t>中有两个</a:t>
            </a:r>
            <a:br>
              <a:rPr lang="zh-CN" altLang="en-US" dirty="0"/>
            </a:br>
            <a:r>
              <a:rPr lang="zh-CN" altLang="en-US" dirty="0"/>
              <a:t>或两个以上为 </a:t>
            </a:r>
            <a:r>
              <a:rPr lang="en-US" altLang="zh-CN" dirty="0"/>
              <a:t>1 </a:t>
            </a:r>
            <a:r>
              <a:rPr lang="zh-CN" altLang="en-US" dirty="0"/>
              <a:t>时，输出 </a:t>
            </a:r>
            <a:r>
              <a:rPr lang="en-US" altLang="zh-CN" dirty="0"/>
              <a:t>Z </a:t>
            </a:r>
            <a:r>
              <a:rPr lang="zh-CN" altLang="en-US" dirty="0"/>
              <a:t>为 </a:t>
            </a:r>
            <a:r>
              <a:rPr lang="en-US" altLang="zh-CN" dirty="0"/>
              <a:t>1 </a:t>
            </a:r>
            <a:r>
              <a:rPr lang="zh-CN" altLang="en-US" dirty="0"/>
              <a:t>，否则，输出 </a:t>
            </a:r>
            <a:r>
              <a:rPr lang="en-US" altLang="zh-CN" dirty="0"/>
              <a:t>Z </a:t>
            </a:r>
            <a:r>
              <a:rPr lang="zh-CN" altLang="en-US" dirty="0"/>
              <a:t>为 </a:t>
            </a:r>
            <a:r>
              <a:rPr lang="en-US" altLang="zh-CN" dirty="0"/>
              <a:t>0 </a:t>
            </a:r>
            <a:r>
              <a:rPr lang="zh-CN" altLang="en-US" dirty="0"/>
              <a:t>。此电路是一个多数表决电路。</a:t>
            </a:r>
            <a:endParaRPr lang="zh-CN" altLang="zh-CN" dirty="0"/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532" y="1484784"/>
            <a:ext cx="5176723" cy="84791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　</a:t>
            </a:r>
            <a:endParaRPr lang="zh-CN" altLang="zh-CN" dirty="0"/>
          </a:p>
        </p:txBody>
      </p:sp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　　　　　　　　　　　　　　　　　　图 </a:t>
            </a:r>
            <a:r>
              <a:rPr lang="en-US" altLang="zh-CN" dirty="0"/>
              <a:t>2-8  </a:t>
            </a:r>
            <a:r>
              <a:rPr lang="zh-CN" altLang="en-US" dirty="0"/>
              <a:t>例 </a:t>
            </a:r>
            <a:r>
              <a:rPr lang="en-US" altLang="zh-CN" dirty="0"/>
              <a:t>2.1 </a:t>
            </a:r>
            <a:r>
              <a:rPr lang="zh-CN" altLang="en-US" dirty="0"/>
              <a:t>的函数卡诺图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196752"/>
            <a:ext cx="3486150" cy="3924300"/>
          </a:xfrm>
          <a:prstGeom prst="rect">
            <a:avLst/>
          </a:prstGeom>
        </p:spPr>
      </p:pic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2420888"/>
            <a:ext cx="3131342" cy="201622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b="1" dirty="0"/>
              <a:t>2. </a:t>
            </a:r>
            <a:r>
              <a:rPr lang="zh-CN" altLang="en-US" b="1" dirty="0"/>
              <a:t>脉冲输入情况下组合逻辑电路的分析</a:t>
            </a:r>
            <a:br>
              <a:rPr lang="zh-CN" altLang="en-US" b="1" dirty="0"/>
            </a:br>
            <a:r>
              <a:rPr lang="zh-CN" altLang="en-US" b="1" dirty="0"/>
              <a:t>　　</a:t>
            </a:r>
            <a:r>
              <a:rPr lang="zh-CN" altLang="en-US" dirty="0"/>
              <a:t>在脉冲输入的情况下，组合逻辑电路的工作和输入不变时是一样的，即任一时刻电路的输出只与该时刻电路的输入有关，与其他时刻的输入无关。在脉冲输入的情况下，不同时刻电路的输入不同时，对应的输出也可能不同。对电路进行分析时，首先要将输入分成不同的时段</a:t>
            </a:r>
            <a:r>
              <a:rPr lang="en-US" altLang="zh-CN" dirty="0"/>
              <a:t>(</a:t>
            </a:r>
            <a:r>
              <a:rPr lang="zh-CN" altLang="en-US" dirty="0"/>
              <a:t>在每个时段里，输入的组合是不变的</a:t>
            </a:r>
            <a:r>
              <a:rPr lang="en-US" altLang="zh-CN" dirty="0"/>
              <a:t>)</a:t>
            </a:r>
            <a:r>
              <a:rPr lang="zh-CN" altLang="en-US" dirty="0"/>
              <a:t>，再确定出每个时段电路的输出，用波形图表示电路输出和输入之间对应的逻辑关系。</a:t>
            </a:r>
            <a:endParaRPr lang="zh-CN" altLang="zh-CN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b="1" dirty="0"/>
              <a:t>【</a:t>
            </a:r>
            <a:r>
              <a:rPr lang="zh-CN" altLang="en-US" b="1" dirty="0"/>
              <a:t>例 </a:t>
            </a:r>
            <a:r>
              <a:rPr lang="en-US" altLang="zh-CN" b="1" dirty="0"/>
              <a:t>2.2 】</a:t>
            </a:r>
            <a:r>
              <a:rPr lang="en-US" altLang="zh-CN" dirty="0"/>
              <a:t> </a:t>
            </a:r>
            <a:r>
              <a:rPr lang="zh-CN" altLang="en-US" dirty="0"/>
              <a:t>画出图 </a:t>
            </a:r>
            <a:r>
              <a:rPr lang="en-US" altLang="zh-CN" dirty="0"/>
              <a:t>2-9 ( a )</a:t>
            </a:r>
            <a:r>
              <a:rPr lang="zh-CN" altLang="en-US" dirty="0"/>
              <a:t>所示逻辑电路的输出波形。电路的输入波形如图 </a:t>
            </a:r>
            <a:r>
              <a:rPr lang="en-US" altLang="zh-CN" dirty="0"/>
              <a:t>2-9 ( b )</a:t>
            </a:r>
            <a:r>
              <a:rPr lang="zh-CN" altLang="en-US" dirty="0"/>
              <a:t>所示。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zh-CN" altLang="en-US" b="1" dirty="0"/>
              <a:t>解</a:t>
            </a:r>
            <a:r>
              <a:rPr lang="zh-CN" altLang="en-US" dirty="0"/>
              <a:t> 逐个画出各个门电路输出的波形，最后画出逻辑电路的输出波形，如图 </a:t>
            </a:r>
            <a:r>
              <a:rPr lang="en-US" altLang="zh-CN" dirty="0"/>
              <a:t>2-9 ( c )</a:t>
            </a:r>
            <a:r>
              <a:rPr lang="zh-CN" altLang="en-US" dirty="0"/>
              <a:t>所示。</a:t>
            </a:r>
            <a:endParaRPr lang="zh-CN" altLang="zh-CN" dirty="0"/>
          </a:p>
        </p:txBody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2-9  </a:t>
            </a:r>
            <a:r>
              <a:rPr lang="zh-CN" altLang="en-US" dirty="0"/>
              <a:t>例 </a:t>
            </a:r>
            <a:r>
              <a:rPr lang="en-US" altLang="zh-CN" dirty="0"/>
              <a:t>2.2 </a:t>
            </a:r>
            <a:r>
              <a:rPr lang="zh-CN" altLang="en-US" dirty="0"/>
              <a:t>的波形图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548680"/>
            <a:ext cx="421005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b="1" dirty="0"/>
              <a:t>【</a:t>
            </a:r>
            <a:r>
              <a:rPr lang="zh-CN" altLang="en-US" b="1" dirty="0"/>
              <a:t>例 </a:t>
            </a:r>
            <a:r>
              <a:rPr lang="en-US" altLang="zh-CN" b="1" dirty="0"/>
              <a:t>2. 3 】 </a:t>
            </a:r>
            <a:r>
              <a:rPr lang="zh-CN" altLang="en-US" dirty="0"/>
              <a:t>画出图 </a:t>
            </a:r>
            <a:r>
              <a:rPr lang="en-US" altLang="zh-CN" dirty="0"/>
              <a:t>2-10 ( a )</a:t>
            </a:r>
            <a:r>
              <a:rPr lang="zh-CN" altLang="en-US" dirty="0"/>
              <a:t>所示逻辑电路的输出波形。电路的输入波形如图 </a:t>
            </a:r>
            <a:r>
              <a:rPr lang="en-US" altLang="zh-CN" dirty="0"/>
              <a:t>2-10 ( b )</a:t>
            </a:r>
            <a:r>
              <a:rPr lang="zh-CN" altLang="en-US" dirty="0"/>
              <a:t>所示。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zh-CN" altLang="en-US" b="1" dirty="0"/>
              <a:t>解</a:t>
            </a:r>
            <a:r>
              <a:rPr lang="zh-CN" altLang="en-US" dirty="0"/>
              <a:t> 从图 </a:t>
            </a:r>
            <a:r>
              <a:rPr lang="en-US" altLang="zh-CN" dirty="0"/>
              <a:t>2-10 ( a )</a:t>
            </a:r>
            <a:r>
              <a:rPr lang="zh-CN" altLang="en-US" dirty="0"/>
              <a:t>可以写出电路输出的逻辑表达式如下</a:t>
            </a:r>
            <a:r>
              <a:rPr lang="en-US" altLang="zh-CN" dirty="0"/>
              <a:t>: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　　</a:t>
            </a:r>
            <a:br>
              <a:rPr lang="en-US" altLang="zh-CN" dirty="0"/>
            </a:br>
            <a:r>
              <a:rPr lang="zh-CN" altLang="en-US" dirty="0"/>
              <a:t>　　从表达式可以得到，当 </a:t>
            </a:r>
            <a:r>
              <a:rPr lang="en-US" altLang="zh-CN" dirty="0"/>
              <a:t>A </a:t>
            </a:r>
            <a:r>
              <a:rPr lang="zh-CN" altLang="en-US" dirty="0"/>
              <a:t>、 </a:t>
            </a:r>
            <a:r>
              <a:rPr lang="en-US" altLang="zh-CN" dirty="0"/>
              <a:t>B </a:t>
            </a:r>
            <a:r>
              <a:rPr lang="zh-CN" altLang="en-US" dirty="0"/>
              <a:t>、 </a:t>
            </a:r>
            <a:r>
              <a:rPr lang="en-US" altLang="zh-CN" dirty="0"/>
              <a:t>C </a:t>
            </a:r>
            <a:r>
              <a:rPr lang="zh-CN" altLang="en-US" dirty="0"/>
              <a:t>同时为 </a:t>
            </a:r>
            <a:r>
              <a:rPr lang="en-US" altLang="zh-CN" dirty="0"/>
              <a:t>0 </a:t>
            </a:r>
            <a:r>
              <a:rPr lang="zh-CN" altLang="en-US" dirty="0"/>
              <a:t>或 </a:t>
            </a:r>
            <a:r>
              <a:rPr lang="en-US" altLang="zh-CN" dirty="0"/>
              <a:t>D </a:t>
            </a:r>
            <a:r>
              <a:rPr lang="zh-CN" altLang="en-US" dirty="0"/>
              <a:t>为 </a:t>
            </a:r>
            <a:r>
              <a:rPr lang="en-US" altLang="zh-CN" dirty="0"/>
              <a:t>1 </a:t>
            </a:r>
            <a:r>
              <a:rPr lang="zh-CN" altLang="en-US" dirty="0"/>
              <a:t>时，输出 </a:t>
            </a:r>
            <a:r>
              <a:rPr lang="en-US" altLang="zh-CN" dirty="0"/>
              <a:t>Z </a:t>
            </a:r>
            <a:r>
              <a:rPr lang="zh-CN" altLang="en-US" dirty="0"/>
              <a:t>为 </a:t>
            </a:r>
            <a:r>
              <a:rPr lang="en-US" altLang="zh-CN" dirty="0"/>
              <a:t>1 </a:t>
            </a:r>
            <a:r>
              <a:rPr lang="zh-CN" altLang="en-US" dirty="0"/>
              <a:t>，否则，</a:t>
            </a:r>
            <a:r>
              <a:rPr lang="en-US" altLang="zh-CN" dirty="0"/>
              <a:t> Z </a:t>
            </a:r>
            <a:r>
              <a:rPr lang="zh-CN" altLang="en-US" dirty="0"/>
              <a:t>为 </a:t>
            </a:r>
            <a:r>
              <a:rPr lang="en-US" altLang="zh-CN" dirty="0"/>
              <a:t>0 </a:t>
            </a:r>
            <a:r>
              <a:rPr lang="zh-CN" altLang="en-US" dirty="0"/>
              <a:t>。逻辑电路的输出波形如图</a:t>
            </a:r>
            <a:r>
              <a:rPr lang="en-US" altLang="zh-CN" dirty="0"/>
              <a:t>2-10 (c )</a:t>
            </a:r>
            <a:r>
              <a:rPr lang="zh-CN" altLang="en-US" dirty="0"/>
              <a:t>所示。</a:t>
            </a:r>
            <a:endParaRPr lang="zh-CN" altLang="zh-CN" dirty="0"/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2636912"/>
            <a:ext cx="5591175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2-10  </a:t>
            </a:r>
            <a:r>
              <a:rPr lang="zh-CN" altLang="en-US" dirty="0"/>
              <a:t>例 </a:t>
            </a:r>
            <a:r>
              <a:rPr lang="en-US" altLang="zh-CN" dirty="0"/>
              <a:t>2.3 </a:t>
            </a:r>
            <a:r>
              <a:rPr lang="zh-CN" altLang="en-US" dirty="0"/>
              <a:t>的波形图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50" y="692696"/>
            <a:ext cx="56769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en-US" altLang="zh-CN" b="1" dirty="0"/>
              <a:t>2. 2. 3  </a:t>
            </a:r>
            <a:r>
              <a:rPr lang="zh-CN" altLang="en-US" b="1" dirty="0"/>
              <a:t>组合逻辑电路的设计</a:t>
            </a:r>
            <a:br>
              <a:rPr lang="zh-CN" altLang="en-US" b="1" dirty="0"/>
            </a:br>
            <a:r>
              <a:rPr lang="zh-CN" altLang="en-US" b="1" dirty="0"/>
              <a:t>　　</a:t>
            </a:r>
            <a:r>
              <a:rPr lang="zh-CN" altLang="en-US" dirty="0"/>
              <a:t>设计组合逻辑电路，就是根据给定的逻辑功能要求，求出逻辑函数表达式，然后用逻辑器件去实现此逻辑函数。实现组合逻辑电路所用的逻辑器件可分为三大类</a:t>
            </a:r>
            <a:r>
              <a:rPr lang="en-US" altLang="zh-CN" dirty="0"/>
              <a:t>:</a:t>
            </a:r>
            <a:r>
              <a:rPr lang="zh-CN" altLang="en-US" dirty="0"/>
              <a:t>基本门电路、 </a:t>
            </a:r>
            <a:r>
              <a:rPr lang="en-US" altLang="zh-CN" dirty="0"/>
              <a:t>MSI </a:t>
            </a:r>
            <a:r>
              <a:rPr lang="zh-CN" altLang="en-US" dirty="0"/>
              <a:t>组合逻辑模块和可编程器件。本节只介绍使用基本门电路设计、实现组合逻辑电路的方法和步骤，用 </a:t>
            </a:r>
            <a:r>
              <a:rPr lang="en-US" altLang="zh-CN" dirty="0"/>
              <a:t>MSI </a:t>
            </a:r>
            <a:r>
              <a:rPr lang="zh-CN" altLang="en-US" dirty="0"/>
              <a:t>组合逻辑模块实现组合逻辑电路的方法在第 </a:t>
            </a:r>
            <a:r>
              <a:rPr lang="en-US" altLang="zh-CN" dirty="0"/>
              <a:t>3 </a:t>
            </a:r>
            <a:r>
              <a:rPr lang="zh-CN" altLang="en-US" dirty="0"/>
              <a:t>章中介绍，用可编程器件实现组合逻辑电路的方法在第 </a:t>
            </a:r>
            <a:r>
              <a:rPr lang="en-US" altLang="zh-CN" dirty="0"/>
              <a:t>6 </a:t>
            </a:r>
            <a:r>
              <a:rPr lang="zh-CN" altLang="en-US" dirty="0"/>
              <a:t>章和第 </a:t>
            </a:r>
            <a:r>
              <a:rPr lang="en-US" altLang="zh-CN" dirty="0"/>
              <a:t>7 </a:t>
            </a:r>
            <a:r>
              <a:rPr lang="zh-CN" altLang="en-US" dirty="0"/>
              <a:t>章中介绍。</a:t>
            </a:r>
            <a:endParaRPr lang="zh-CN" altLang="zh-CN" dirty="0"/>
          </a:p>
        </p:txBody>
      </p:sp>
      <p:sp>
        <p:nvSpPr>
          <p:cNvPr id="400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b="1" dirty="0"/>
              <a:t>1. </a:t>
            </a:r>
            <a:r>
              <a:rPr lang="zh-CN" altLang="en-US" b="1" dirty="0"/>
              <a:t>用基本门电路设计组合逻辑电路的一般步骤</a:t>
            </a:r>
            <a:br>
              <a:rPr lang="zh-CN" altLang="en-US" b="1" dirty="0"/>
            </a:br>
            <a:r>
              <a:rPr lang="zh-CN" altLang="en-US" b="1" dirty="0"/>
              <a:t>　　</a:t>
            </a:r>
            <a:r>
              <a:rPr lang="zh-CN" altLang="en-US" dirty="0"/>
              <a:t>用基本门电路设计和实现组合逻辑电路的一般步骤如下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dirty="0"/>
              <a:t>(1)</a:t>
            </a:r>
            <a:r>
              <a:rPr lang="zh-CN" altLang="en-US" dirty="0"/>
              <a:t>分析逻辑功能要求，确定输入</a:t>
            </a:r>
            <a:r>
              <a:rPr lang="en-US" altLang="zh-CN" dirty="0"/>
              <a:t>/</a:t>
            </a:r>
            <a:r>
              <a:rPr lang="zh-CN" altLang="en-US" dirty="0"/>
              <a:t>输出变量。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(2)</a:t>
            </a:r>
            <a:r>
              <a:rPr lang="zh-CN" altLang="en-US" dirty="0"/>
              <a:t>列出真值表。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(3)</a:t>
            </a:r>
            <a:r>
              <a:rPr lang="zh-CN" altLang="en-US" dirty="0"/>
              <a:t>用逻辑代数公式或卡诺图求逻辑函数的最简表达式。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(4)</a:t>
            </a:r>
            <a:r>
              <a:rPr lang="zh-CN" altLang="en-US" dirty="0"/>
              <a:t>用基本门电路实现所得函数。</a:t>
            </a:r>
            <a:endParaRPr lang="zh-CN" altLang="zh-CN" dirty="0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b="1" dirty="0"/>
              <a:t>【</a:t>
            </a:r>
            <a:r>
              <a:rPr lang="zh-CN" altLang="en-US" b="1" dirty="0"/>
              <a:t>例 </a:t>
            </a:r>
            <a:r>
              <a:rPr lang="en-US" altLang="zh-CN" b="1" dirty="0"/>
              <a:t>2.4 】</a:t>
            </a:r>
            <a:r>
              <a:rPr lang="en-US" altLang="zh-CN" dirty="0"/>
              <a:t> </a:t>
            </a:r>
            <a:r>
              <a:rPr lang="zh-CN" altLang="en-US" dirty="0"/>
              <a:t>设计一个有三个输入、一个输出的组合逻辑电路，输入为二进制数。当输入二进制数能被 </a:t>
            </a:r>
            <a:r>
              <a:rPr lang="en-US" altLang="zh-CN" dirty="0"/>
              <a:t>3 </a:t>
            </a:r>
            <a:r>
              <a:rPr lang="zh-CN" altLang="en-US" dirty="0"/>
              <a:t>整除时，输出为 </a:t>
            </a:r>
            <a:r>
              <a:rPr lang="en-US" altLang="zh-CN" dirty="0"/>
              <a:t>1 </a:t>
            </a:r>
            <a:r>
              <a:rPr lang="zh-CN" altLang="en-US" dirty="0"/>
              <a:t>，否则输出为 </a:t>
            </a:r>
            <a:r>
              <a:rPr lang="en-US" altLang="zh-CN" dirty="0"/>
              <a:t>0 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zh-CN" altLang="en-US" b="1" dirty="0"/>
              <a:t>解</a:t>
            </a:r>
            <a:r>
              <a:rPr lang="zh-CN" altLang="en-US" dirty="0"/>
              <a:t> 设输入变量为 </a:t>
            </a:r>
            <a:r>
              <a:rPr lang="en-US" altLang="zh-CN" dirty="0"/>
              <a:t>A </a:t>
            </a:r>
            <a:r>
              <a:rPr lang="zh-CN" altLang="en-US" dirty="0"/>
              <a:t>、 </a:t>
            </a:r>
            <a:r>
              <a:rPr lang="en-US" altLang="zh-CN" dirty="0"/>
              <a:t>B </a:t>
            </a:r>
            <a:r>
              <a:rPr lang="zh-CN" altLang="en-US" dirty="0"/>
              <a:t>、 </a:t>
            </a:r>
            <a:r>
              <a:rPr lang="en-US" altLang="zh-CN" dirty="0"/>
              <a:t>C </a:t>
            </a:r>
            <a:r>
              <a:rPr lang="zh-CN" altLang="en-US" dirty="0"/>
              <a:t>，输出变量为 </a:t>
            </a:r>
            <a:r>
              <a:rPr lang="en-US" altLang="zh-CN" dirty="0"/>
              <a:t>Z </a:t>
            </a:r>
            <a:r>
              <a:rPr lang="zh-CN" altLang="en-US" dirty="0"/>
              <a:t>。根据逻辑功能要求，列出的电路真值表如表 </a:t>
            </a:r>
            <a:r>
              <a:rPr lang="en-US" altLang="zh-CN" dirty="0"/>
              <a:t>2-4 </a:t>
            </a:r>
            <a:r>
              <a:rPr lang="zh-CN" altLang="en-US" dirty="0"/>
              <a:t>所示，画出的卡诺图如图 </a:t>
            </a:r>
            <a:r>
              <a:rPr lang="en-US" altLang="zh-CN" dirty="0"/>
              <a:t>2-11 </a:t>
            </a:r>
            <a:r>
              <a:rPr lang="zh-CN" altLang="en-US" dirty="0"/>
              <a:t>所示。由卡诺图得到的输出 </a:t>
            </a:r>
            <a:r>
              <a:rPr lang="en-US" altLang="zh-CN" dirty="0"/>
              <a:t>Z </a:t>
            </a:r>
            <a:r>
              <a:rPr lang="zh-CN" altLang="en-US" dirty="0"/>
              <a:t>的表达式如下</a:t>
            </a:r>
            <a:r>
              <a:rPr lang="en-US" altLang="zh-CN" dirty="0"/>
              <a:t>: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　　根据上面表达式可以得到如图 </a:t>
            </a:r>
            <a:r>
              <a:rPr lang="en-US" altLang="zh-CN" dirty="0"/>
              <a:t>2-12 ( a )</a:t>
            </a:r>
            <a:r>
              <a:rPr lang="zh-CN" altLang="en-US" dirty="0"/>
              <a:t>和图 </a:t>
            </a:r>
            <a:r>
              <a:rPr lang="en-US" altLang="zh-CN" dirty="0"/>
              <a:t>2-12 ( b )</a:t>
            </a:r>
            <a:r>
              <a:rPr lang="zh-CN" altLang="en-US" dirty="0"/>
              <a:t>所示的两种不同实现。</a:t>
            </a:r>
            <a:endParaRPr lang="zh-CN" altLang="zh-CN" dirty="0"/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3933056"/>
            <a:ext cx="470535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03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　　　　　　　　　　　　　　　　　　　图 </a:t>
            </a:r>
            <a:r>
              <a:rPr lang="en-US" altLang="zh-CN" dirty="0"/>
              <a:t>2 -1  </a:t>
            </a:r>
            <a:r>
              <a:rPr lang="zh-CN" altLang="en-US" dirty="0"/>
              <a:t>例 </a:t>
            </a:r>
            <a:r>
              <a:rPr lang="en-US" altLang="zh-CN" dirty="0"/>
              <a:t>2.4 </a:t>
            </a:r>
            <a:r>
              <a:rPr lang="zh-CN" altLang="en-US" dirty="0"/>
              <a:t>的函数卡诺图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844824"/>
            <a:ext cx="2981325" cy="2590800"/>
          </a:xfrm>
          <a:prstGeom prst="rect">
            <a:avLst/>
          </a:prstGeom>
        </p:spPr>
      </p:pic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354411"/>
            <a:ext cx="2581275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2-12  </a:t>
            </a:r>
            <a:r>
              <a:rPr lang="zh-CN" altLang="en-US" dirty="0"/>
              <a:t>例 </a:t>
            </a:r>
            <a:r>
              <a:rPr lang="en-US" altLang="zh-CN" dirty="0"/>
              <a:t>2.4 </a:t>
            </a:r>
            <a:r>
              <a:rPr lang="zh-CN" altLang="en-US" dirty="0"/>
              <a:t>的逻辑图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2076450"/>
            <a:ext cx="7905750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b="1" dirty="0"/>
              <a:t>2. </a:t>
            </a:r>
            <a:r>
              <a:rPr lang="zh-CN" altLang="en-US" b="1" dirty="0"/>
              <a:t>用与非门设计组合逻辑电路</a:t>
            </a:r>
            <a:br>
              <a:rPr lang="zh-CN" altLang="en-US" b="1" dirty="0"/>
            </a:br>
            <a:r>
              <a:rPr lang="zh-CN" altLang="en-US" b="1" dirty="0"/>
              <a:t>　　</a:t>
            </a:r>
            <a:r>
              <a:rPr lang="zh-CN" altLang="en-US" dirty="0"/>
              <a:t>我们知道，与、或、非是最基本的三种逻辑运算，任何一个逻辑函数都可以用这三种运算的组合来表示。也就是说，任何一个逻辑函数都可以用与门、或门、非门这三种门电</a:t>
            </a:r>
            <a:br>
              <a:rPr lang="zh-CN" altLang="en-US" dirty="0"/>
            </a:br>
            <a:r>
              <a:rPr lang="zh-CN" altLang="en-US" dirty="0"/>
              <a:t>路来实现。利用与非门，通过简单的连接转换，可以很容易地构造出与门、或门和非门，如图 </a:t>
            </a:r>
            <a:r>
              <a:rPr lang="en-US" altLang="zh-CN" dirty="0"/>
              <a:t>2-13 </a:t>
            </a:r>
            <a:r>
              <a:rPr lang="zh-CN" altLang="en-US" dirty="0"/>
              <a:t>所示。因此，任何一个逻辑函数都可以用与非门来实现。基于这一原因，与非门获得了广泛的应用。</a:t>
            </a:r>
            <a:endParaRPr lang="zh-CN" altLang="zh-CN" dirty="0"/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2-13  </a:t>
            </a:r>
            <a:r>
              <a:rPr lang="zh-CN" altLang="en-US" dirty="0"/>
              <a:t>用与非门构造与门、或门和非门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187" y="2100262"/>
            <a:ext cx="6905625" cy="265747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br>
              <a:rPr lang="en-US" altLang="zh-CN" sz="2300" dirty="0"/>
            </a:br>
            <a:r>
              <a:rPr lang="zh-CN" altLang="en-US" sz="2300" dirty="0"/>
              <a:t>　　用与非门设计、实现组合逻辑电路时，可以根据求得的函数最简与或表达式，先画出用与门、或门和非门实现的电路，然后再用与非门去替代。而常用的做法是将最简与或表达式转换为与非</a:t>
            </a:r>
            <a:r>
              <a:rPr lang="en-US" altLang="zh-CN" sz="2300" dirty="0"/>
              <a:t>—</a:t>
            </a:r>
            <a:r>
              <a:rPr lang="zh-CN" altLang="en-US" sz="2300" dirty="0"/>
              <a:t>与非表达式，直接用与非门去实现逻辑电路。用与非门设计和实现组合逻辑电路的一般步骤如下</a:t>
            </a:r>
            <a:r>
              <a:rPr lang="en-US" altLang="zh-CN" sz="2300" dirty="0"/>
              <a:t>:</a:t>
            </a:r>
            <a:br>
              <a:rPr lang="en-US" altLang="zh-CN" sz="2300" dirty="0"/>
            </a:br>
            <a:r>
              <a:rPr lang="zh-CN" altLang="en-US" sz="2300" dirty="0"/>
              <a:t>　　</a:t>
            </a:r>
            <a:r>
              <a:rPr lang="en-US" altLang="zh-CN" sz="2300" dirty="0"/>
              <a:t>(1)</a:t>
            </a:r>
            <a:r>
              <a:rPr lang="zh-CN" altLang="en-US" sz="2300" dirty="0"/>
              <a:t>分析逻辑功能要求，确定输入</a:t>
            </a:r>
            <a:r>
              <a:rPr lang="en-US" altLang="zh-CN" sz="2300" dirty="0"/>
              <a:t>/</a:t>
            </a:r>
            <a:r>
              <a:rPr lang="zh-CN" altLang="en-US" sz="2300" dirty="0"/>
              <a:t>输出变量。</a:t>
            </a:r>
            <a:br>
              <a:rPr lang="zh-CN" altLang="en-US" sz="2300" dirty="0"/>
            </a:br>
            <a:r>
              <a:rPr lang="zh-CN" altLang="en-US" sz="2300" dirty="0"/>
              <a:t>　　</a:t>
            </a:r>
            <a:r>
              <a:rPr lang="en-US" altLang="zh-CN" sz="2300" dirty="0"/>
              <a:t>(2)</a:t>
            </a:r>
            <a:r>
              <a:rPr lang="zh-CN" altLang="en-US" sz="2300" dirty="0"/>
              <a:t>列出真值表。</a:t>
            </a:r>
            <a:br>
              <a:rPr lang="zh-CN" altLang="en-US" sz="2300" dirty="0"/>
            </a:br>
            <a:r>
              <a:rPr lang="zh-CN" altLang="en-US" sz="2300" dirty="0"/>
              <a:t>　　</a:t>
            </a:r>
            <a:r>
              <a:rPr lang="en-US" altLang="zh-CN" sz="2300" dirty="0"/>
              <a:t>(3)</a:t>
            </a:r>
            <a:r>
              <a:rPr lang="zh-CN" altLang="en-US" sz="2300" dirty="0"/>
              <a:t>用逻辑代数公式或卡诺图求出逻辑函数的最简与或表达式。</a:t>
            </a:r>
            <a:br>
              <a:rPr lang="zh-CN" altLang="en-US" sz="2300" dirty="0"/>
            </a:br>
            <a:r>
              <a:rPr lang="zh-CN" altLang="en-US" sz="2300" dirty="0"/>
              <a:t>　　</a:t>
            </a:r>
            <a:r>
              <a:rPr lang="en-US" altLang="zh-CN" sz="2300" dirty="0"/>
              <a:t>(4)</a:t>
            </a:r>
            <a:r>
              <a:rPr lang="zh-CN" altLang="en-US" sz="2300" dirty="0"/>
              <a:t>通过两次求反，利用摩根定律将最简与或表达式转换为与非</a:t>
            </a:r>
            <a:r>
              <a:rPr lang="en-US" altLang="zh-CN" sz="2300" dirty="0"/>
              <a:t>—</a:t>
            </a:r>
            <a:r>
              <a:rPr lang="zh-CN" altLang="en-US" sz="2300" dirty="0"/>
              <a:t>与非表达式。</a:t>
            </a:r>
            <a:br>
              <a:rPr lang="zh-CN" altLang="en-US" sz="2300" dirty="0"/>
            </a:br>
            <a:r>
              <a:rPr lang="zh-CN" altLang="en-US" sz="2300" dirty="0"/>
              <a:t>　　</a:t>
            </a:r>
            <a:r>
              <a:rPr lang="en-US" altLang="zh-CN" sz="2300" dirty="0"/>
              <a:t>(5)</a:t>
            </a:r>
            <a:r>
              <a:rPr lang="zh-CN" altLang="en-US" sz="2300" dirty="0"/>
              <a:t>用与非门实现所得函数。</a:t>
            </a:r>
            <a:endParaRPr lang="zh-CN" altLang="zh-CN" sz="2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b="1" dirty="0"/>
              <a:t>【</a:t>
            </a:r>
            <a:r>
              <a:rPr lang="zh-CN" altLang="en-US" b="1" dirty="0"/>
              <a:t>例 </a:t>
            </a:r>
            <a:r>
              <a:rPr lang="en-US" altLang="zh-CN" b="1" dirty="0"/>
              <a:t>2.5 】</a:t>
            </a:r>
            <a:r>
              <a:rPr lang="en-US" altLang="zh-CN" dirty="0"/>
              <a:t> </a:t>
            </a:r>
            <a:r>
              <a:rPr lang="zh-CN" altLang="en-US" dirty="0"/>
              <a:t>设计一个组合逻辑电路，输入是四位二进制数 </a:t>
            </a:r>
            <a:r>
              <a:rPr lang="en-US" altLang="zh-CN" dirty="0"/>
              <a:t>ABCD </a:t>
            </a:r>
            <a:r>
              <a:rPr lang="zh-CN" altLang="en-US" dirty="0"/>
              <a:t>，当输入大于等于 </a:t>
            </a:r>
            <a:r>
              <a:rPr lang="en-US" altLang="zh-CN" dirty="0"/>
              <a:t>9</a:t>
            </a:r>
            <a:r>
              <a:rPr lang="zh-CN" altLang="en-US" dirty="0"/>
              <a:t>而小于等于 </a:t>
            </a:r>
            <a:r>
              <a:rPr lang="en-US" altLang="zh-CN" dirty="0"/>
              <a:t>14 </a:t>
            </a:r>
            <a:r>
              <a:rPr lang="zh-CN" altLang="en-US" dirty="0"/>
              <a:t>时输出 </a:t>
            </a:r>
            <a:r>
              <a:rPr lang="en-US" altLang="zh-CN" dirty="0"/>
              <a:t>Z </a:t>
            </a:r>
            <a:r>
              <a:rPr lang="zh-CN" altLang="en-US" dirty="0"/>
              <a:t>为 </a:t>
            </a:r>
            <a:r>
              <a:rPr lang="en-US" altLang="zh-CN" dirty="0"/>
              <a:t>1 </a:t>
            </a:r>
            <a:r>
              <a:rPr lang="zh-CN" altLang="en-US" dirty="0"/>
              <a:t>，否则输出 </a:t>
            </a:r>
            <a:r>
              <a:rPr lang="en-US" altLang="zh-CN" dirty="0"/>
              <a:t>Z </a:t>
            </a:r>
            <a:r>
              <a:rPr lang="zh-CN" altLang="en-US" dirty="0"/>
              <a:t>为 </a:t>
            </a:r>
            <a:r>
              <a:rPr lang="en-US" altLang="zh-CN" dirty="0"/>
              <a:t>0 </a:t>
            </a:r>
            <a:r>
              <a:rPr lang="zh-CN" altLang="en-US" dirty="0"/>
              <a:t>。用与非门实现电路。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zh-CN" altLang="en-US" b="1" dirty="0"/>
              <a:t>解</a:t>
            </a:r>
            <a:r>
              <a:rPr lang="zh-CN" altLang="en-US" dirty="0"/>
              <a:t> 本电路有四个输入变量 </a:t>
            </a:r>
            <a:r>
              <a:rPr lang="en-US" altLang="zh-CN" dirty="0"/>
              <a:t>A </a:t>
            </a:r>
            <a:r>
              <a:rPr lang="zh-CN" altLang="en-US" dirty="0"/>
              <a:t>、 </a:t>
            </a:r>
            <a:r>
              <a:rPr lang="en-US" altLang="zh-CN" dirty="0"/>
              <a:t>B </a:t>
            </a:r>
            <a:r>
              <a:rPr lang="zh-CN" altLang="en-US" dirty="0"/>
              <a:t>、 </a:t>
            </a:r>
            <a:r>
              <a:rPr lang="en-US" altLang="zh-CN" dirty="0"/>
              <a:t>C </a:t>
            </a:r>
            <a:r>
              <a:rPr lang="zh-CN" altLang="en-US" dirty="0"/>
              <a:t>、 </a:t>
            </a:r>
            <a:r>
              <a:rPr lang="en-US" altLang="zh-CN" dirty="0"/>
              <a:t>D </a:t>
            </a:r>
            <a:r>
              <a:rPr lang="zh-CN" altLang="en-US" dirty="0"/>
              <a:t>和一个输出变量 </a:t>
            </a:r>
            <a:r>
              <a:rPr lang="en-US" altLang="zh-CN" dirty="0"/>
              <a:t>Z </a:t>
            </a:r>
            <a:r>
              <a:rPr lang="zh-CN" altLang="en-US" dirty="0"/>
              <a:t>。根据逻辑功能的要求，可以列出如表</a:t>
            </a:r>
            <a:r>
              <a:rPr lang="en-US" altLang="zh-CN" dirty="0"/>
              <a:t>2-5 </a:t>
            </a:r>
            <a:r>
              <a:rPr lang="zh-CN" altLang="en-US" dirty="0"/>
              <a:t>所示的真值表</a:t>
            </a:r>
            <a:endParaRPr lang="zh-CN" altLang="zh-CN" dirty="0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484784"/>
            <a:ext cx="7606677" cy="323904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2-14  </a:t>
            </a:r>
            <a:r>
              <a:rPr lang="zh-CN" altLang="en-US" dirty="0"/>
              <a:t>例 </a:t>
            </a:r>
            <a:r>
              <a:rPr lang="en-US" altLang="zh-CN" dirty="0"/>
              <a:t>2.5 </a:t>
            </a:r>
            <a:r>
              <a:rPr lang="zh-CN" altLang="en-US" dirty="0"/>
              <a:t>的卡诺图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310" y="2165173"/>
            <a:ext cx="3815680" cy="377359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6F0C0CF-0A61-4C55-8A4F-DB9E8A94F625}"/>
              </a:ext>
            </a:extLst>
          </p:cNvPr>
          <p:cNvSpPr txBox="1"/>
          <p:nvPr/>
        </p:nvSpPr>
        <p:spPr>
          <a:xfrm>
            <a:off x="2483768" y="1076789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再画出如图 </a:t>
            </a:r>
            <a:r>
              <a:rPr lang="en-US" altLang="zh-CN" dirty="0"/>
              <a:t>2-14 </a:t>
            </a:r>
            <a:r>
              <a:rPr lang="zh-CN" altLang="en-US" dirty="0"/>
              <a:t>所示的卡诺图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转换为与非</a:t>
            </a:r>
            <a:r>
              <a:rPr lang="en-US" altLang="zh-CN" dirty="0"/>
              <a:t>—</a:t>
            </a:r>
            <a:r>
              <a:rPr lang="zh-CN" altLang="en-US" dirty="0"/>
              <a:t>与非表达式为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　　根据上面与非</a:t>
            </a:r>
            <a:r>
              <a:rPr lang="en-US" altLang="zh-CN" dirty="0"/>
              <a:t>—</a:t>
            </a:r>
            <a:r>
              <a:rPr lang="zh-CN" altLang="en-US" dirty="0"/>
              <a:t>与非表达式可以画出仅用与非门实现的逻辑图，如图 </a:t>
            </a:r>
            <a:r>
              <a:rPr lang="en-US" altLang="zh-CN" dirty="0"/>
              <a:t>2-15 </a:t>
            </a:r>
            <a:r>
              <a:rPr lang="zh-CN" altLang="en-US" dirty="0"/>
              <a:t>所示。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1844824"/>
            <a:ext cx="300990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</a:t>
            </a:r>
            <a:r>
              <a:rPr lang="zh-CN" altLang="en-US" b="1" dirty="0"/>
              <a:t>　</a:t>
            </a:r>
            <a:r>
              <a:rPr lang="en-US" altLang="zh-CN" b="1" dirty="0"/>
              <a:t>3. </a:t>
            </a:r>
            <a:r>
              <a:rPr lang="zh-CN" altLang="en-US" b="1" dirty="0"/>
              <a:t>用或非门设计组合逻辑电路</a:t>
            </a:r>
            <a:br>
              <a:rPr lang="zh-CN" altLang="en-US" b="1" dirty="0"/>
            </a:br>
            <a:r>
              <a:rPr lang="zh-CN" altLang="en-US" b="1" dirty="0"/>
              <a:t>　　</a:t>
            </a:r>
            <a:r>
              <a:rPr lang="zh-CN" altLang="en-US" dirty="0"/>
              <a:t>同与非门一样，利用或非门，通过简单的连接转换，也可以很容易地构造出与门、或门和非门，如图 </a:t>
            </a:r>
            <a:r>
              <a:rPr lang="en-US" altLang="zh-CN" dirty="0"/>
              <a:t>2-16 </a:t>
            </a:r>
            <a:r>
              <a:rPr lang="zh-CN" altLang="en-US" dirty="0"/>
              <a:t>所示。因此，任何一个逻辑函数也都可以用或非门来实现。</a:t>
            </a:r>
            <a:endParaRPr lang="zh-CN" altLang="zh-CN" dirty="0"/>
          </a:p>
        </p:txBody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2-16  </a:t>
            </a:r>
            <a:r>
              <a:rPr lang="zh-CN" altLang="en-US" dirty="0"/>
              <a:t>用或非门构造与门、或门和非门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009775"/>
            <a:ext cx="7162800" cy="283845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用或非门设计和实现组合逻辑电路的一般步骤如下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dirty="0"/>
              <a:t>(1)</a:t>
            </a:r>
            <a:r>
              <a:rPr lang="zh-CN" altLang="en-US" dirty="0"/>
              <a:t>分析逻辑功能要求，确定输入</a:t>
            </a:r>
            <a:r>
              <a:rPr lang="en-US" altLang="zh-CN" dirty="0"/>
              <a:t>/</a:t>
            </a:r>
            <a:r>
              <a:rPr lang="zh-CN" altLang="en-US" dirty="0"/>
              <a:t>输出变量。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(2)</a:t>
            </a:r>
            <a:r>
              <a:rPr lang="zh-CN" altLang="en-US" dirty="0"/>
              <a:t>列出真值表。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(3)</a:t>
            </a:r>
            <a:r>
              <a:rPr lang="zh-CN" altLang="en-US" dirty="0"/>
              <a:t>用逻辑代数公式或卡诺图求出逻辑函数的最简或与表达式。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(4)</a:t>
            </a:r>
            <a:r>
              <a:rPr lang="zh-CN" altLang="en-US" dirty="0"/>
              <a:t>通过两次求反，利用摩根定律将最简或与表达式转换为或非</a:t>
            </a:r>
            <a:r>
              <a:rPr lang="en-US" altLang="zh-CN" dirty="0"/>
              <a:t>—</a:t>
            </a:r>
            <a:r>
              <a:rPr lang="zh-CN" altLang="en-US" dirty="0"/>
              <a:t>或非表达式。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(5)</a:t>
            </a:r>
            <a:r>
              <a:rPr lang="zh-CN" altLang="en-US" dirty="0"/>
              <a:t>用或非门实现所得函数。</a:t>
            </a:r>
            <a:endParaRPr lang="zh-CN" altLang="zh-CN" dirty="0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b="1" dirty="0"/>
              <a:t>【</a:t>
            </a:r>
            <a:r>
              <a:rPr lang="zh-CN" altLang="en-US" b="1" dirty="0"/>
              <a:t>例 </a:t>
            </a:r>
            <a:r>
              <a:rPr lang="en-US" altLang="zh-CN" b="1" dirty="0"/>
              <a:t>2.6 】 </a:t>
            </a:r>
            <a:r>
              <a:rPr lang="zh-CN" altLang="en-US" dirty="0"/>
              <a:t>一组合逻辑电路的真值表如表</a:t>
            </a:r>
            <a:r>
              <a:rPr lang="en-US" altLang="zh-CN" dirty="0"/>
              <a:t>2-6 </a:t>
            </a:r>
            <a:r>
              <a:rPr lang="zh-CN" altLang="en-US" dirty="0"/>
              <a:t>所示，用或非门实现该电路。</a:t>
            </a:r>
            <a:endParaRPr lang="zh-CN" altLang="zh-CN" dirty="0"/>
          </a:p>
        </p:txBody>
      </p:sp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284" y="2276872"/>
            <a:ext cx="6905625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zh-CN" altLang="en-US" b="1" dirty="0"/>
              <a:t>解</a:t>
            </a:r>
            <a:r>
              <a:rPr lang="zh-CN" altLang="en-US" dirty="0"/>
              <a:t> 画出卡诺图，如图 </a:t>
            </a:r>
            <a:r>
              <a:rPr lang="en-US" altLang="zh-CN" dirty="0"/>
              <a:t>2-17 </a:t>
            </a:r>
            <a:r>
              <a:rPr lang="zh-CN" altLang="en-US" dirty="0"/>
              <a:t>所示。依卡诺图可以写出函数 </a:t>
            </a:r>
            <a:r>
              <a:rPr lang="en-US" altLang="zh-CN" dirty="0"/>
              <a:t>Z </a:t>
            </a:r>
            <a:r>
              <a:rPr lang="zh-CN" altLang="en-US" dirty="0"/>
              <a:t>的最简或与表达式</a:t>
            </a:r>
            <a:r>
              <a:rPr lang="en-US" altLang="zh-CN" dirty="0"/>
              <a:t>: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转换为或非</a:t>
            </a:r>
            <a:r>
              <a:rPr lang="en-US" altLang="zh-CN" dirty="0"/>
              <a:t>—</a:t>
            </a:r>
            <a:r>
              <a:rPr lang="zh-CN" altLang="en-US" dirty="0"/>
              <a:t>或非表达式为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　　根据上面或非</a:t>
            </a:r>
            <a:r>
              <a:rPr lang="en-US" altLang="zh-CN" dirty="0"/>
              <a:t>—</a:t>
            </a:r>
            <a:r>
              <a:rPr lang="zh-CN" altLang="en-US" dirty="0"/>
              <a:t>或非表达式可以画出仅用或非门实现的逻辑图，如图 </a:t>
            </a:r>
            <a:r>
              <a:rPr lang="en-US" altLang="zh-CN" dirty="0"/>
              <a:t>2-18 </a:t>
            </a:r>
            <a:r>
              <a:rPr lang="zh-CN" altLang="en-US" dirty="0"/>
              <a:t>所示。</a:t>
            </a:r>
            <a:endParaRPr lang="zh-CN" altLang="zh-CN" dirty="0"/>
          </a:p>
        </p:txBody>
      </p:sp>
      <p:sp>
        <p:nvSpPr>
          <p:cNvPr id="416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060848"/>
            <a:ext cx="4886325" cy="638175"/>
          </a:xfrm>
          <a:prstGeom prst="rect">
            <a:avLst/>
          </a:prstGeom>
        </p:spPr>
      </p:pic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337" y="3573016"/>
            <a:ext cx="6029325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　　　　　　图 </a:t>
            </a:r>
            <a:r>
              <a:rPr lang="en-US" altLang="zh-CN" dirty="0"/>
              <a:t>2-17  </a:t>
            </a:r>
            <a:r>
              <a:rPr lang="zh-CN" altLang="en-US" dirty="0"/>
              <a:t>例 </a:t>
            </a:r>
            <a:r>
              <a:rPr lang="en-US" altLang="zh-CN" dirty="0"/>
              <a:t>2.6 </a:t>
            </a:r>
            <a:r>
              <a:rPr lang="zh-CN" altLang="en-US" dirty="0"/>
              <a:t>的卡诺图　　　　图 </a:t>
            </a:r>
            <a:r>
              <a:rPr lang="en-US" altLang="zh-CN" dirty="0"/>
              <a:t>2-18  </a:t>
            </a:r>
            <a:r>
              <a:rPr lang="zh-CN" altLang="en-US" dirty="0"/>
              <a:t>例 </a:t>
            </a:r>
            <a:r>
              <a:rPr lang="en-US" altLang="zh-CN" dirty="0"/>
              <a:t>2.6 </a:t>
            </a:r>
            <a:r>
              <a:rPr lang="zh-CN" altLang="en-US" dirty="0"/>
              <a:t>的逻辑图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772816"/>
            <a:ext cx="3406391" cy="3158653"/>
          </a:xfrm>
          <a:prstGeom prst="rect">
            <a:avLst/>
          </a:prstGeom>
        </p:spPr>
      </p:pic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2004354"/>
            <a:ext cx="4248150" cy="2695575"/>
          </a:xfrm>
          <a:prstGeom prst="rect">
            <a:avLst/>
          </a:prstGeom>
        </p:spPr>
      </p:pic>
      <p:pic>
        <p:nvPicPr>
          <p:cNvPr id="6" name="Picture 2" descr="H:\出版社\模板\课件素材\GIF动画插件1\GIF020.GIF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096" y="6268790"/>
            <a:ext cx="749904" cy="58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533400"/>
            <a:ext cx="8115300" cy="1167408"/>
          </a:xfrm>
        </p:spPr>
        <p:txBody>
          <a:bodyPr/>
          <a:lstStyle/>
          <a:p>
            <a:pPr algn="ctr"/>
            <a:br>
              <a:rPr lang="en-US" altLang="zh-CN" sz="2600" b="1" dirty="0"/>
            </a:br>
            <a:r>
              <a:rPr lang="zh-CN" altLang="en-US" sz="2600" b="1" dirty="0"/>
              <a:t>　　</a:t>
            </a:r>
            <a:r>
              <a:rPr lang="en-US" altLang="zh-CN" sz="2600" b="1" dirty="0"/>
              <a:t>2. 3  </a:t>
            </a:r>
            <a:r>
              <a:rPr lang="zh-CN" altLang="en-US" sz="2600" b="1" dirty="0"/>
              <a:t>组合逻辑电路中的竞争和冒险</a:t>
            </a:r>
            <a:endParaRPr lang="zh-CN" altLang="zh-CN" sz="2600" b="1" dirty="0"/>
          </a:p>
        </p:txBody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23900" y="1883914"/>
            <a:ext cx="8115300" cy="3849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2pPr>
            <a:lvl3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3pPr>
            <a:lvl4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4pPr>
            <a:lvl5pPr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5pPr>
            <a:lvl6pPr marL="4572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6pPr>
            <a:lvl7pPr marL="9144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7pPr>
            <a:lvl8pPr marL="13716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8pPr>
            <a:lvl9pPr marL="18288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b="1" dirty="0"/>
              <a:t>1. </a:t>
            </a:r>
            <a:r>
              <a:rPr lang="zh-CN" altLang="en-US" b="1" dirty="0"/>
              <a:t>竞争与冒险</a:t>
            </a:r>
          </a:p>
          <a:p>
            <a:r>
              <a:rPr lang="zh-CN" altLang="en-US" dirty="0"/>
              <a:t>　　前面介绍的组合逻辑电路的分析和设计，是基于稳定状态这一前提的。所谓稳定状态，是指输入变量不发生变化，输出变量也不会发生变化的情况。但是，当输入变量发生变化时，电路可能会得到错误的结果。</a:t>
            </a:r>
            <a:endParaRPr lang="zh-CN" altLang="zh-CN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现在让我们分析图</a:t>
            </a:r>
            <a:r>
              <a:rPr lang="en-US" altLang="zh-CN" dirty="0"/>
              <a:t>2-19</a:t>
            </a:r>
            <a:r>
              <a:rPr lang="zh-CN" altLang="en-US" dirty="0"/>
              <a:t>所示的组合逻辑电路。</a:t>
            </a:r>
            <a:endParaRPr lang="zh-CN" altLang="zh-CN" dirty="0"/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2-19  </a:t>
            </a:r>
            <a:r>
              <a:rPr lang="zh-CN" altLang="en-US" dirty="0"/>
              <a:t>示例电路</a:t>
            </a:r>
            <a:endParaRPr lang="zh-CN" altLang="zh-CN" dirty="0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1924050"/>
            <a:ext cx="641985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从图中可以得到</a:t>
            </a:r>
            <a:r>
              <a:rPr lang="en-US" altLang="zh-CN" dirty="0"/>
              <a:t>: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　　当</a:t>
            </a:r>
            <a:r>
              <a:rPr lang="en-US" altLang="zh-CN" dirty="0"/>
              <a:t>B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r>
              <a:rPr lang="zh-CN" altLang="en-US" dirty="0"/>
              <a:t>保持为</a:t>
            </a:r>
            <a:r>
              <a:rPr lang="en-US" altLang="zh-CN" dirty="0"/>
              <a:t>1</a:t>
            </a:r>
            <a:r>
              <a:rPr lang="zh-CN" altLang="en-US" dirty="0"/>
              <a:t>不变时，由上式得到　　　　　　　　，即此时输出应该恒定为 </a:t>
            </a:r>
            <a:r>
              <a:rPr lang="en-US" altLang="zh-CN" dirty="0"/>
              <a:t>1 </a:t>
            </a:r>
            <a:r>
              <a:rPr lang="zh-CN" altLang="en-US" dirty="0"/>
              <a:t>，与输入 </a:t>
            </a:r>
            <a:r>
              <a:rPr lang="en-US" altLang="zh-CN" dirty="0"/>
              <a:t>A </a:t>
            </a:r>
            <a:r>
              <a:rPr lang="zh-CN" altLang="en-US" dirty="0"/>
              <a:t>无关。而实际情形为</a:t>
            </a:r>
            <a:r>
              <a:rPr lang="en-US" altLang="zh-CN" dirty="0"/>
              <a:t>:</a:t>
            </a:r>
            <a:r>
              <a:rPr lang="zh-CN" altLang="en-US" dirty="0"/>
              <a:t>如果 </a:t>
            </a:r>
            <a:r>
              <a:rPr lang="en-US" altLang="zh-CN" dirty="0"/>
              <a:t>A </a:t>
            </a:r>
            <a:r>
              <a:rPr lang="zh-CN" altLang="en-US" dirty="0"/>
              <a:t>不变，则无论</a:t>
            </a:r>
            <a:r>
              <a:rPr lang="en-US" altLang="zh-CN" dirty="0"/>
              <a:t>A </a:t>
            </a:r>
            <a:r>
              <a:rPr lang="zh-CN" altLang="en-US" dirty="0"/>
              <a:t>是 </a:t>
            </a:r>
            <a:r>
              <a:rPr lang="en-US" altLang="zh-CN" dirty="0"/>
              <a:t>0 </a:t>
            </a:r>
            <a:r>
              <a:rPr lang="zh-CN" altLang="en-US" dirty="0"/>
              <a:t>还是 </a:t>
            </a:r>
            <a:r>
              <a:rPr lang="en-US" altLang="zh-CN" dirty="0"/>
              <a:t>1 </a:t>
            </a:r>
            <a:r>
              <a:rPr lang="zh-CN" altLang="en-US" dirty="0"/>
              <a:t>，输出都为 </a:t>
            </a:r>
            <a:r>
              <a:rPr lang="en-US" altLang="zh-CN" dirty="0"/>
              <a:t>1 ;</a:t>
            </a:r>
            <a:r>
              <a:rPr lang="zh-CN" altLang="en-US" dirty="0"/>
              <a:t>如果 </a:t>
            </a:r>
            <a:r>
              <a:rPr lang="en-US" altLang="zh-CN" dirty="0"/>
              <a:t>A </a:t>
            </a:r>
            <a:r>
              <a:rPr lang="zh-CN" altLang="en-US" dirty="0"/>
              <a:t>发生变化，则输出不一定恒为 </a:t>
            </a:r>
            <a:r>
              <a:rPr lang="en-US" altLang="zh-CN" dirty="0"/>
              <a:t>1 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1556792"/>
            <a:ext cx="3838575" cy="1057275"/>
          </a:xfrm>
          <a:prstGeom prst="rect">
            <a:avLst/>
          </a:prstGeom>
        </p:spPr>
      </p:pic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3000373"/>
            <a:ext cx="2390775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再看一下具体电路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dirty="0"/>
              <a:t>(1 )</a:t>
            </a:r>
            <a:r>
              <a:rPr lang="zh-CN" altLang="en-US" dirty="0"/>
              <a:t>当 </a:t>
            </a:r>
            <a:r>
              <a:rPr lang="en-US" altLang="zh-CN" dirty="0"/>
              <a:t>B=C=1 </a:t>
            </a:r>
            <a:r>
              <a:rPr lang="zh-CN" altLang="en-US" dirty="0"/>
              <a:t>，</a:t>
            </a:r>
            <a:r>
              <a:rPr lang="en-US" altLang="zh-CN" dirty="0"/>
              <a:t> A=0 </a:t>
            </a:r>
            <a:r>
              <a:rPr lang="zh-CN" altLang="en-US" dirty="0"/>
              <a:t>时，与非门 </a:t>
            </a:r>
            <a:r>
              <a:rPr lang="en-US" altLang="zh-CN" dirty="0"/>
              <a:t>G</a:t>
            </a:r>
            <a:r>
              <a:rPr lang="en-US" altLang="zh-CN" baseline="-25000" dirty="0"/>
              <a:t> 2 </a:t>
            </a:r>
            <a:r>
              <a:rPr lang="zh-CN" altLang="en-US" dirty="0"/>
              <a:t>的输出为 </a:t>
            </a:r>
            <a:r>
              <a:rPr lang="en-US" altLang="zh-CN" dirty="0"/>
              <a:t>1 </a:t>
            </a:r>
            <a:r>
              <a:rPr lang="zh-CN" altLang="en-US" dirty="0"/>
              <a:t>，</a:t>
            </a:r>
            <a:r>
              <a:rPr lang="en-US" altLang="zh-CN" dirty="0"/>
              <a:t> G</a:t>
            </a:r>
            <a:r>
              <a:rPr lang="en-US" altLang="zh-CN" baseline="-25000" dirty="0"/>
              <a:t> 1 </a:t>
            </a:r>
            <a:r>
              <a:rPr lang="zh-CN" altLang="en-US" dirty="0"/>
              <a:t>的输出为 </a:t>
            </a:r>
            <a:r>
              <a:rPr lang="en-US" altLang="zh-CN" dirty="0"/>
              <a:t>1 </a:t>
            </a:r>
            <a:r>
              <a:rPr lang="zh-CN" altLang="en-US" dirty="0"/>
              <a:t>，</a:t>
            </a:r>
            <a:r>
              <a:rPr lang="en-US" altLang="zh-CN" dirty="0"/>
              <a:t> G</a:t>
            </a:r>
            <a:r>
              <a:rPr lang="en-US" altLang="zh-CN" baseline="-25000" dirty="0"/>
              <a:t> 3 </a:t>
            </a:r>
            <a:r>
              <a:rPr lang="zh-CN" altLang="en-US" dirty="0"/>
              <a:t>的输出为 </a:t>
            </a:r>
            <a:r>
              <a:rPr lang="en-US" altLang="zh-CN" dirty="0"/>
              <a:t>0 </a:t>
            </a:r>
            <a:r>
              <a:rPr lang="zh-CN" altLang="en-US" dirty="0"/>
              <a:t>，因此，</a:t>
            </a:r>
            <a:r>
              <a:rPr lang="en-US" altLang="zh-CN" dirty="0"/>
              <a:t> G</a:t>
            </a:r>
            <a:r>
              <a:rPr lang="en-US" altLang="zh-CN" baseline="-25000" dirty="0"/>
              <a:t>4</a:t>
            </a:r>
            <a:r>
              <a:rPr lang="en-US" altLang="zh-CN" dirty="0"/>
              <a:t> </a:t>
            </a:r>
            <a:r>
              <a:rPr lang="zh-CN" altLang="en-US" dirty="0"/>
              <a:t>的输出为 </a:t>
            </a:r>
            <a:r>
              <a:rPr lang="en-US" altLang="zh-CN" dirty="0"/>
              <a:t>1 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dirty="0"/>
              <a:t>(2)</a:t>
            </a:r>
            <a:r>
              <a:rPr lang="zh-CN" altLang="en-US" dirty="0"/>
              <a:t>当 </a:t>
            </a:r>
            <a:r>
              <a:rPr lang="en-US" altLang="zh-CN" dirty="0"/>
              <a:t>B=C=1 </a:t>
            </a:r>
            <a:r>
              <a:rPr lang="zh-CN" altLang="en-US" dirty="0"/>
              <a:t>，</a:t>
            </a:r>
            <a:r>
              <a:rPr lang="en-US" altLang="zh-CN" dirty="0"/>
              <a:t> A=1 </a:t>
            </a:r>
            <a:r>
              <a:rPr lang="zh-CN" altLang="en-US" dirty="0"/>
              <a:t>时，</a:t>
            </a:r>
            <a:r>
              <a:rPr lang="en-US" altLang="zh-CN" dirty="0"/>
              <a:t> G</a:t>
            </a:r>
            <a:r>
              <a:rPr lang="en-US" altLang="zh-CN" baseline="-25000" dirty="0"/>
              <a:t> 1 </a:t>
            </a:r>
            <a:r>
              <a:rPr lang="zh-CN" altLang="en-US" dirty="0"/>
              <a:t>输出为 </a:t>
            </a:r>
            <a:r>
              <a:rPr lang="en-US" altLang="zh-CN" dirty="0"/>
              <a:t>0 </a:t>
            </a:r>
            <a:r>
              <a:rPr lang="zh-CN" altLang="en-US" dirty="0"/>
              <a:t>，</a:t>
            </a:r>
            <a:r>
              <a:rPr lang="en-US" altLang="zh-CN" dirty="0"/>
              <a:t> G</a:t>
            </a:r>
            <a:r>
              <a:rPr lang="en-US" altLang="zh-CN" baseline="-25000" dirty="0"/>
              <a:t> 2 </a:t>
            </a:r>
            <a:r>
              <a:rPr lang="zh-CN" altLang="en-US" dirty="0"/>
              <a:t>输出为 </a:t>
            </a:r>
            <a:r>
              <a:rPr lang="en-US" altLang="zh-CN" dirty="0"/>
              <a:t>0 </a:t>
            </a:r>
            <a:r>
              <a:rPr lang="zh-CN" altLang="en-US" dirty="0"/>
              <a:t>，</a:t>
            </a:r>
            <a:r>
              <a:rPr lang="en-US" altLang="zh-CN" dirty="0"/>
              <a:t> G</a:t>
            </a:r>
            <a:r>
              <a:rPr lang="en-US" altLang="zh-CN" baseline="-25000" dirty="0"/>
              <a:t> 3 </a:t>
            </a:r>
            <a:r>
              <a:rPr lang="zh-CN" altLang="en-US" dirty="0"/>
              <a:t>输出为 </a:t>
            </a:r>
            <a:r>
              <a:rPr lang="en-US" altLang="zh-CN" dirty="0"/>
              <a:t>1 </a:t>
            </a:r>
            <a:r>
              <a:rPr lang="zh-CN" altLang="en-US" dirty="0"/>
              <a:t>，</a:t>
            </a:r>
            <a:r>
              <a:rPr lang="en-US" altLang="zh-CN" dirty="0"/>
              <a:t> G</a:t>
            </a:r>
            <a:r>
              <a:rPr lang="en-US" altLang="zh-CN" baseline="-25000" dirty="0"/>
              <a:t> 4 </a:t>
            </a:r>
            <a:r>
              <a:rPr lang="zh-CN" altLang="en-US" dirty="0"/>
              <a:t>输出也为 </a:t>
            </a:r>
            <a:r>
              <a:rPr lang="en-US" altLang="zh-CN" dirty="0"/>
              <a:t>1 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dirty="0"/>
              <a:t>(3)</a:t>
            </a:r>
            <a:r>
              <a:rPr lang="zh-CN" altLang="en-US" dirty="0"/>
              <a:t>当 </a:t>
            </a:r>
            <a:r>
              <a:rPr lang="en-US" altLang="zh-CN" dirty="0"/>
              <a:t>B=C=1 </a:t>
            </a:r>
            <a:r>
              <a:rPr lang="zh-CN" altLang="en-US" dirty="0"/>
              <a:t>，</a:t>
            </a:r>
            <a:r>
              <a:rPr lang="en-US" altLang="zh-CN" dirty="0"/>
              <a:t> A </a:t>
            </a:r>
            <a:r>
              <a:rPr lang="zh-CN" altLang="en-US" dirty="0"/>
              <a:t>由 </a:t>
            </a:r>
            <a:r>
              <a:rPr lang="en-US" altLang="zh-CN" dirty="0"/>
              <a:t>0 </a:t>
            </a:r>
            <a:r>
              <a:rPr lang="zh-CN" altLang="en-US" dirty="0"/>
              <a:t>变为 </a:t>
            </a:r>
            <a:r>
              <a:rPr lang="en-US" altLang="zh-CN" dirty="0"/>
              <a:t>1 </a:t>
            </a:r>
            <a:r>
              <a:rPr lang="zh-CN" altLang="en-US" dirty="0"/>
              <a:t>时，将使 </a:t>
            </a:r>
            <a:r>
              <a:rPr lang="en-US" altLang="zh-CN" dirty="0"/>
              <a:t>G</a:t>
            </a:r>
            <a:r>
              <a:rPr lang="en-US" altLang="zh-CN" baseline="-25000" dirty="0"/>
              <a:t> 1 </a:t>
            </a:r>
            <a:r>
              <a:rPr lang="zh-CN" altLang="en-US" dirty="0"/>
              <a:t>和 </a:t>
            </a:r>
            <a:r>
              <a:rPr lang="en-US" altLang="zh-CN" dirty="0"/>
              <a:t>G</a:t>
            </a:r>
            <a:r>
              <a:rPr lang="en-US" altLang="zh-CN" baseline="-25000" dirty="0"/>
              <a:t> 2 </a:t>
            </a:r>
            <a:r>
              <a:rPr lang="zh-CN" altLang="en-US" dirty="0"/>
              <a:t>的输出由 </a:t>
            </a:r>
            <a:r>
              <a:rPr lang="en-US" altLang="zh-CN" dirty="0"/>
              <a:t>1 </a:t>
            </a:r>
            <a:r>
              <a:rPr lang="zh-CN" altLang="en-US" dirty="0"/>
              <a:t>变为 </a:t>
            </a:r>
            <a:r>
              <a:rPr lang="en-US" altLang="zh-CN" dirty="0"/>
              <a:t>0 </a:t>
            </a:r>
            <a:r>
              <a:rPr lang="zh-CN" altLang="en-US" dirty="0"/>
              <a:t>，</a:t>
            </a:r>
            <a:r>
              <a:rPr lang="en-US" altLang="zh-CN" dirty="0"/>
              <a:t> G</a:t>
            </a:r>
            <a:r>
              <a:rPr lang="en-US" altLang="zh-CN" baseline="-25000" dirty="0"/>
              <a:t> 3 </a:t>
            </a:r>
            <a:r>
              <a:rPr lang="zh-CN" altLang="en-US" dirty="0"/>
              <a:t>输出则由 </a:t>
            </a:r>
            <a:r>
              <a:rPr lang="en-US" altLang="zh-CN" dirty="0"/>
              <a:t>0</a:t>
            </a:r>
            <a:r>
              <a:rPr lang="zh-CN" altLang="en-US" dirty="0"/>
              <a:t>变为 </a:t>
            </a:r>
            <a:r>
              <a:rPr lang="en-US" altLang="zh-CN" dirty="0"/>
              <a:t>1 </a:t>
            </a:r>
            <a:r>
              <a:rPr lang="zh-CN" altLang="en-US" dirty="0"/>
              <a:t>。 </a:t>
            </a:r>
            <a:r>
              <a:rPr lang="en-US" altLang="zh-CN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G 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输出的变化比 </a:t>
            </a:r>
            <a:r>
              <a:rPr lang="en-US" altLang="zh-CN" dirty="0"/>
              <a:t>A </a:t>
            </a:r>
            <a:r>
              <a:rPr lang="zh-CN" altLang="en-US" dirty="0"/>
              <a:t>的变化延迟 </a:t>
            </a:r>
            <a:r>
              <a:rPr lang="en-US" altLang="zh-CN" dirty="0"/>
              <a:t>t p </a:t>
            </a:r>
            <a:r>
              <a:rPr lang="zh-CN" altLang="en-US" dirty="0"/>
              <a:t>，</a:t>
            </a:r>
            <a:r>
              <a:rPr lang="en-US" altLang="zh-CN" dirty="0"/>
              <a:t> G </a:t>
            </a:r>
            <a:r>
              <a:rPr lang="en-US" altLang="zh-CN" baseline="-25000" dirty="0"/>
              <a:t>3 </a:t>
            </a:r>
            <a:r>
              <a:rPr lang="zh-CN" altLang="en-US" dirty="0"/>
              <a:t>输出的变化比 </a:t>
            </a:r>
            <a:r>
              <a:rPr lang="en-US" altLang="zh-CN" dirty="0"/>
              <a:t>A </a:t>
            </a:r>
            <a:r>
              <a:rPr lang="zh-CN" altLang="en-US" dirty="0"/>
              <a:t>的变化延迟 </a:t>
            </a:r>
            <a:r>
              <a:rPr lang="en-US" altLang="zh-CN" dirty="0"/>
              <a:t>2 </a:t>
            </a:r>
            <a:r>
              <a:rPr lang="en-US" altLang="zh-CN" i="1" dirty="0"/>
              <a:t>t </a:t>
            </a:r>
            <a:r>
              <a:rPr lang="en-US" altLang="zh-CN" i="1" baseline="-25000" dirty="0"/>
              <a:t>p</a:t>
            </a:r>
            <a:r>
              <a:rPr lang="en-US" altLang="zh-CN" i="1" dirty="0"/>
              <a:t> </a:t>
            </a:r>
            <a:r>
              <a:rPr lang="zh-CN" altLang="en-US" dirty="0"/>
              <a:t>。因此，</a:t>
            </a:r>
            <a:r>
              <a:rPr lang="en-US" altLang="zh-CN" dirty="0"/>
              <a:t> G</a:t>
            </a:r>
            <a:r>
              <a:rPr lang="en-US" altLang="zh-CN" baseline="-25000" dirty="0"/>
              <a:t>2 </a:t>
            </a:r>
            <a:r>
              <a:rPr lang="zh-CN" altLang="en-US" dirty="0"/>
              <a:t>的输出先变为 </a:t>
            </a:r>
            <a:r>
              <a:rPr lang="en-US" altLang="zh-CN" dirty="0"/>
              <a:t>0 </a:t>
            </a:r>
            <a:r>
              <a:rPr lang="zh-CN" altLang="en-US" dirty="0"/>
              <a:t>而 </a:t>
            </a:r>
            <a:r>
              <a:rPr lang="en-US" altLang="zh-CN" dirty="0"/>
              <a:t>G 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的输出后变为 </a:t>
            </a:r>
            <a:r>
              <a:rPr lang="en-US" altLang="zh-CN" dirty="0"/>
              <a:t>1 </a:t>
            </a:r>
            <a:r>
              <a:rPr lang="zh-CN" altLang="en-US" dirty="0"/>
              <a:t>。这样，在 </a:t>
            </a:r>
            <a:r>
              <a:rPr lang="en-US" altLang="zh-CN" dirty="0"/>
              <a:t>G </a:t>
            </a:r>
            <a:r>
              <a:rPr lang="en-US" altLang="zh-CN" baseline="-25000" dirty="0"/>
              <a:t>2 </a:t>
            </a:r>
            <a:r>
              <a:rPr lang="zh-CN" altLang="en-US" dirty="0"/>
              <a:t>的输出变化之前，</a:t>
            </a:r>
            <a:r>
              <a:rPr lang="en-US" altLang="zh-CN" dirty="0"/>
              <a:t> G </a:t>
            </a:r>
            <a:r>
              <a:rPr lang="en-US" altLang="zh-CN" baseline="-25000" dirty="0"/>
              <a:t>2 </a:t>
            </a:r>
            <a:r>
              <a:rPr lang="zh-CN" altLang="en-US" dirty="0"/>
              <a:t>输出为 </a:t>
            </a:r>
            <a:r>
              <a:rPr lang="en-US" altLang="zh-CN" dirty="0"/>
              <a:t>1 </a:t>
            </a:r>
            <a:r>
              <a:rPr lang="zh-CN" altLang="en-US" dirty="0"/>
              <a:t>，</a:t>
            </a:r>
            <a:r>
              <a:rPr lang="en-US" altLang="zh-CN" dirty="0"/>
              <a:t>G </a:t>
            </a:r>
            <a:r>
              <a:rPr lang="en-US" altLang="zh-CN" baseline="-25000" dirty="0"/>
              <a:t>3 </a:t>
            </a:r>
            <a:r>
              <a:rPr lang="zh-CN" altLang="en-US" dirty="0"/>
              <a:t>输出为 </a:t>
            </a:r>
            <a:r>
              <a:rPr lang="en-US" altLang="zh-CN" dirty="0"/>
              <a:t>0 ;</a:t>
            </a:r>
            <a:r>
              <a:rPr lang="zh-CN" altLang="en-US" dirty="0"/>
              <a:t>当 </a:t>
            </a:r>
            <a:r>
              <a:rPr lang="en-US" altLang="zh-CN" dirty="0"/>
              <a:t>G</a:t>
            </a:r>
            <a:r>
              <a:rPr lang="en-US" altLang="zh-CN" baseline="-25000" dirty="0"/>
              <a:t> 2 </a:t>
            </a:r>
            <a:r>
              <a:rPr lang="zh-CN" altLang="en-US" dirty="0"/>
              <a:t>的输出已经变化而 </a:t>
            </a:r>
            <a:r>
              <a:rPr lang="en-US" altLang="zh-CN" dirty="0"/>
              <a:t>G 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的输出还没有变化时，</a:t>
            </a:r>
            <a:r>
              <a:rPr lang="en-US" altLang="zh-CN" dirty="0"/>
              <a:t> G 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、 </a:t>
            </a:r>
            <a:r>
              <a:rPr lang="en-US" altLang="zh-CN" dirty="0"/>
              <a:t>G 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的输出同时为 </a:t>
            </a:r>
            <a:r>
              <a:rPr lang="en-US" altLang="zh-CN" dirty="0"/>
              <a:t>0 ;</a:t>
            </a:r>
            <a:r>
              <a:rPr lang="zh-CN" altLang="en-US" dirty="0"/>
              <a:t>在 </a:t>
            </a:r>
            <a:r>
              <a:rPr lang="en-US" altLang="zh-CN" dirty="0"/>
              <a:t>G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的输出变化之后，</a:t>
            </a:r>
            <a:r>
              <a:rPr lang="en-US" altLang="zh-CN" dirty="0"/>
              <a:t> G 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输出为 </a:t>
            </a:r>
            <a:r>
              <a:rPr lang="en-US" altLang="zh-CN" dirty="0"/>
              <a:t>0 </a:t>
            </a:r>
            <a:r>
              <a:rPr lang="zh-CN" altLang="en-US" dirty="0"/>
              <a:t>，</a:t>
            </a:r>
            <a:r>
              <a:rPr lang="en-US" altLang="zh-CN" dirty="0"/>
              <a:t> G 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输出为 </a:t>
            </a:r>
            <a:r>
              <a:rPr lang="en-US" altLang="zh-CN" dirty="0"/>
              <a:t>1 </a:t>
            </a:r>
            <a:r>
              <a:rPr lang="zh-CN" altLang="en-US" dirty="0"/>
              <a:t>。可见，任何时刻，</a:t>
            </a:r>
            <a:r>
              <a:rPr lang="en-US" altLang="zh-CN" dirty="0"/>
              <a:t> G </a:t>
            </a:r>
            <a:r>
              <a:rPr lang="en-US" altLang="zh-CN" baseline="-25000" dirty="0"/>
              <a:t>4</a:t>
            </a:r>
            <a:r>
              <a:rPr lang="zh-CN" altLang="en-US" dirty="0"/>
              <a:t>最少有一个输入为 </a:t>
            </a:r>
            <a:r>
              <a:rPr lang="en-US" altLang="zh-CN" dirty="0"/>
              <a:t>0 </a:t>
            </a:r>
            <a:r>
              <a:rPr lang="zh-CN" altLang="en-US" dirty="0"/>
              <a:t>，因此，其输出 </a:t>
            </a:r>
            <a:r>
              <a:rPr lang="en-US" altLang="zh-CN" dirty="0"/>
              <a:t>Z </a:t>
            </a:r>
            <a:r>
              <a:rPr lang="zh-CN" altLang="en-US" dirty="0"/>
              <a:t>一直保持为 </a:t>
            </a:r>
            <a:r>
              <a:rPr lang="en-US" altLang="zh-CN" dirty="0"/>
              <a:t>1 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dirty="0"/>
              <a:t>(4)</a:t>
            </a:r>
            <a:r>
              <a:rPr lang="zh-CN" altLang="en-US" dirty="0"/>
              <a:t>当 </a:t>
            </a:r>
            <a:r>
              <a:rPr lang="en-US" altLang="zh-CN" dirty="0"/>
              <a:t>B=C=1 </a:t>
            </a:r>
            <a:r>
              <a:rPr lang="zh-CN" altLang="en-US" dirty="0"/>
              <a:t>，</a:t>
            </a:r>
            <a:r>
              <a:rPr lang="en-US" altLang="zh-CN" dirty="0"/>
              <a:t> A </a:t>
            </a:r>
            <a:r>
              <a:rPr lang="zh-CN" altLang="en-US" dirty="0"/>
              <a:t>由 </a:t>
            </a:r>
            <a:r>
              <a:rPr lang="en-US" altLang="zh-CN" dirty="0"/>
              <a:t>1 </a:t>
            </a:r>
            <a:r>
              <a:rPr lang="zh-CN" altLang="en-US" dirty="0"/>
              <a:t>变为 </a:t>
            </a:r>
            <a:r>
              <a:rPr lang="en-US" altLang="zh-CN" dirty="0"/>
              <a:t>0 </a:t>
            </a:r>
            <a:r>
              <a:rPr lang="zh-CN" altLang="en-US" dirty="0"/>
              <a:t>时，将使 </a:t>
            </a:r>
            <a:r>
              <a:rPr lang="en-US" altLang="zh-CN" dirty="0"/>
              <a:t>G 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G 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的输出由 </a:t>
            </a:r>
            <a:r>
              <a:rPr lang="en-US" altLang="zh-CN" dirty="0"/>
              <a:t>0 </a:t>
            </a:r>
            <a:r>
              <a:rPr lang="zh-CN" altLang="en-US" dirty="0"/>
              <a:t>变为 </a:t>
            </a:r>
            <a:r>
              <a:rPr lang="en-US" altLang="zh-CN" dirty="0"/>
              <a:t>1 </a:t>
            </a:r>
            <a:r>
              <a:rPr lang="zh-CN" altLang="en-US" dirty="0"/>
              <a:t>，</a:t>
            </a:r>
            <a:r>
              <a:rPr lang="en-US" altLang="zh-CN" dirty="0"/>
              <a:t> G 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输出则由 </a:t>
            </a:r>
            <a:r>
              <a:rPr lang="en-US" altLang="zh-CN" dirty="0"/>
              <a:t>1</a:t>
            </a:r>
            <a:r>
              <a:rPr lang="zh-CN" altLang="en-US" dirty="0"/>
              <a:t>变为 </a:t>
            </a:r>
            <a:r>
              <a:rPr lang="en-US" altLang="zh-CN" dirty="0"/>
              <a:t>0 </a:t>
            </a:r>
            <a:r>
              <a:rPr lang="zh-CN" altLang="en-US" dirty="0"/>
              <a:t>。 </a:t>
            </a:r>
            <a:r>
              <a:rPr lang="en-US" altLang="zh-CN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G 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输出的变化比 </a:t>
            </a:r>
            <a:r>
              <a:rPr lang="en-US" altLang="zh-CN" dirty="0"/>
              <a:t>A </a:t>
            </a:r>
            <a:r>
              <a:rPr lang="zh-CN" altLang="en-US" dirty="0"/>
              <a:t>的变化延迟 </a:t>
            </a:r>
            <a:r>
              <a:rPr lang="en-US" altLang="zh-CN" i="1" dirty="0"/>
              <a:t>t p </a:t>
            </a:r>
            <a:r>
              <a:rPr lang="zh-CN" altLang="en-US" dirty="0"/>
              <a:t>，</a:t>
            </a:r>
            <a:r>
              <a:rPr lang="en-US" altLang="zh-CN" dirty="0"/>
              <a:t> G 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输出的变化比 </a:t>
            </a:r>
            <a:r>
              <a:rPr lang="en-US" altLang="zh-CN" dirty="0"/>
              <a:t>A </a:t>
            </a:r>
            <a:r>
              <a:rPr lang="zh-CN" altLang="en-US" dirty="0"/>
              <a:t>的变化延迟 </a:t>
            </a:r>
            <a:r>
              <a:rPr lang="en-US" altLang="zh-CN" dirty="0"/>
              <a:t>2 </a:t>
            </a:r>
            <a:r>
              <a:rPr lang="en-US" altLang="zh-CN" i="1" dirty="0"/>
              <a:t>t</a:t>
            </a:r>
            <a:r>
              <a:rPr lang="en-US" altLang="zh-CN" dirty="0"/>
              <a:t> </a:t>
            </a:r>
            <a:r>
              <a:rPr lang="en-US" altLang="zh-CN" baseline="-25000" dirty="0"/>
              <a:t>p</a:t>
            </a:r>
            <a:r>
              <a:rPr lang="en-US" altLang="zh-CN" dirty="0"/>
              <a:t> </a:t>
            </a:r>
            <a:r>
              <a:rPr lang="zh-CN" altLang="en-US" dirty="0"/>
              <a:t>。因此，</a:t>
            </a:r>
            <a:r>
              <a:rPr lang="en-US" altLang="zh-CN" dirty="0"/>
              <a:t> G</a:t>
            </a:r>
            <a:r>
              <a:rPr lang="en-US" altLang="zh-CN" baseline="-25000" dirty="0"/>
              <a:t>2 </a:t>
            </a:r>
            <a:r>
              <a:rPr lang="zh-CN" altLang="en-US" dirty="0"/>
              <a:t>的输出先变为 </a:t>
            </a:r>
            <a:r>
              <a:rPr lang="en-US" altLang="zh-CN" dirty="0"/>
              <a:t>1 </a:t>
            </a:r>
            <a:r>
              <a:rPr lang="zh-CN" altLang="en-US" dirty="0"/>
              <a:t>而 </a:t>
            </a:r>
            <a:r>
              <a:rPr lang="en-US" altLang="zh-CN" dirty="0"/>
              <a:t>G 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的输出后变为 </a:t>
            </a:r>
            <a:r>
              <a:rPr lang="en-US" altLang="zh-CN" dirty="0"/>
              <a:t>0 </a:t>
            </a:r>
            <a:r>
              <a:rPr lang="zh-CN" altLang="en-US" dirty="0"/>
              <a:t>。这样，在 </a:t>
            </a:r>
            <a:r>
              <a:rPr lang="en-US" altLang="zh-CN" dirty="0"/>
              <a:t>G 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的输出变化之前，</a:t>
            </a:r>
            <a:r>
              <a:rPr lang="en-US" altLang="zh-CN" dirty="0"/>
              <a:t> G 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输出为 </a:t>
            </a:r>
            <a:r>
              <a:rPr lang="en-US" altLang="zh-CN" dirty="0"/>
              <a:t>0 </a:t>
            </a:r>
            <a:r>
              <a:rPr lang="zh-CN" altLang="en-US" dirty="0"/>
              <a:t>，</a:t>
            </a:r>
            <a:r>
              <a:rPr lang="en-US" altLang="zh-CN" dirty="0"/>
              <a:t>G 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输出为 </a:t>
            </a:r>
            <a:r>
              <a:rPr lang="en-US" altLang="zh-CN" dirty="0"/>
              <a:t>1 ;</a:t>
            </a:r>
            <a:r>
              <a:rPr lang="zh-CN" altLang="en-US" dirty="0"/>
              <a:t>当 </a:t>
            </a:r>
            <a:r>
              <a:rPr lang="en-US" altLang="zh-CN" dirty="0"/>
              <a:t>G </a:t>
            </a:r>
            <a:r>
              <a:rPr lang="en-US" altLang="zh-CN" baseline="-25000" dirty="0"/>
              <a:t>2 </a:t>
            </a:r>
            <a:r>
              <a:rPr lang="zh-CN" altLang="en-US" dirty="0"/>
              <a:t>的输出已经变化而 </a:t>
            </a:r>
            <a:r>
              <a:rPr lang="en-US" altLang="zh-CN" dirty="0"/>
              <a:t>G 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的输出还没变化时，</a:t>
            </a:r>
            <a:r>
              <a:rPr lang="en-US" altLang="zh-CN" dirty="0"/>
              <a:t> G 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、 </a:t>
            </a:r>
            <a:r>
              <a:rPr lang="en-US" altLang="zh-CN" dirty="0"/>
              <a:t>G 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的输出同时为 </a:t>
            </a:r>
            <a:r>
              <a:rPr lang="en-US" altLang="zh-CN" dirty="0"/>
              <a:t>1 ;</a:t>
            </a:r>
            <a:r>
              <a:rPr lang="zh-CN" altLang="en-US" dirty="0"/>
              <a:t>在</a:t>
            </a:r>
            <a:r>
              <a:rPr lang="en-US" altLang="zh-CN" dirty="0"/>
              <a:t>G </a:t>
            </a:r>
            <a:r>
              <a:rPr lang="en-US" altLang="zh-CN" baseline="-25000" dirty="0"/>
              <a:t>3 </a:t>
            </a:r>
            <a:r>
              <a:rPr lang="zh-CN" altLang="en-US" dirty="0"/>
              <a:t>的输出变化之后，</a:t>
            </a:r>
            <a:r>
              <a:rPr lang="en-US" altLang="zh-CN" dirty="0"/>
              <a:t> G 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输出为 </a:t>
            </a:r>
            <a:r>
              <a:rPr lang="en-US" altLang="zh-CN" dirty="0"/>
              <a:t>1 </a:t>
            </a:r>
            <a:r>
              <a:rPr lang="zh-CN" altLang="en-US" dirty="0"/>
              <a:t>，</a:t>
            </a:r>
            <a:r>
              <a:rPr lang="en-US" altLang="zh-CN" dirty="0"/>
              <a:t> G 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输出为 </a:t>
            </a:r>
            <a:r>
              <a:rPr lang="en-US" altLang="zh-CN" dirty="0"/>
              <a:t>0 </a:t>
            </a:r>
            <a:r>
              <a:rPr lang="zh-CN" altLang="en-US" dirty="0"/>
              <a:t>。由此可见，在 </a:t>
            </a:r>
            <a:r>
              <a:rPr lang="en-US" altLang="zh-CN" dirty="0"/>
              <a:t>G 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的输出已经变化而 </a:t>
            </a:r>
            <a:r>
              <a:rPr lang="en-US" altLang="zh-CN" dirty="0"/>
              <a:t>G 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的输出还没变化这段时间里，由于 </a:t>
            </a:r>
            <a:r>
              <a:rPr lang="en-US" altLang="zh-CN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、 </a:t>
            </a:r>
            <a:r>
              <a:rPr lang="en-US" altLang="zh-CN" dirty="0"/>
              <a:t>G </a:t>
            </a:r>
            <a:r>
              <a:rPr lang="en-US" altLang="zh-CN" baseline="-25000" dirty="0"/>
              <a:t>3 </a:t>
            </a:r>
            <a:r>
              <a:rPr lang="zh-CN" altLang="en-US" dirty="0"/>
              <a:t>的输出同时为 </a:t>
            </a:r>
            <a:r>
              <a:rPr lang="en-US" altLang="zh-CN" dirty="0"/>
              <a:t>1 </a:t>
            </a:r>
            <a:r>
              <a:rPr lang="zh-CN" altLang="en-US" dirty="0"/>
              <a:t>，使 </a:t>
            </a:r>
            <a:r>
              <a:rPr lang="en-US" altLang="zh-CN" dirty="0"/>
              <a:t>G </a:t>
            </a:r>
            <a:r>
              <a:rPr lang="en-US" altLang="zh-CN" baseline="-25000" dirty="0"/>
              <a:t>4</a:t>
            </a:r>
            <a:r>
              <a:rPr lang="en-US" altLang="zh-CN" dirty="0"/>
              <a:t> </a:t>
            </a:r>
            <a:r>
              <a:rPr lang="zh-CN" altLang="en-US" dirty="0"/>
              <a:t>的两个输入同时为 </a:t>
            </a:r>
            <a:r>
              <a:rPr lang="en-US" altLang="zh-CN" dirty="0"/>
              <a:t>1 </a:t>
            </a:r>
            <a:r>
              <a:rPr lang="zh-CN" altLang="en-US" dirty="0"/>
              <a:t>，此时会在 </a:t>
            </a:r>
            <a:r>
              <a:rPr lang="en-US" altLang="zh-CN" dirty="0"/>
              <a:t>G</a:t>
            </a:r>
            <a:r>
              <a:rPr lang="en-US" altLang="zh-CN" baseline="-25000" dirty="0"/>
              <a:t>4 </a:t>
            </a:r>
            <a:r>
              <a:rPr lang="zh-CN" altLang="en-US" dirty="0"/>
              <a:t>的输出产生一个短暂的 </a:t>
            </a:r>
            <a:r>
              <a:rPr lang="en-US" altLang="zh-CN" dirty="0"/>
              <a:t>0 </a:t>
            </a:r>
            <a:r>
              <a:rPr lang="zh-CN" altLang="en-US" dirty="0"/>
              <a:t>脉冲。</a:t>
            </a:r>
            <a:endParaRPr lang="zh-CN" altLang="zh-CN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在组合逻辑电路中，当输入信号变化时，由于所经路径不同，产生延时不同，导致的其后某个门电路的两个输入端发生有先有后的变化，称为竞争。</a:t>
            </a:r>
            <a:br>
              <a:rPr lang="zh-CN" altLang="en-US" dirty="0"/>
            </a:br>
            <a:r>
              <a:rPr lang="zh-CN" altLang="en-US" dirty="0"/>
              <a:t>　　由于竞争而使电路的输出端产生尖峰脉冲，从而导致后级电路产生错误动作的现象称为冒险。产生 </a:t>
            </a:r>
            <a:r>
              <a:rPr lang="en-US" altLang="zh-CN" dirty="0"/>
              <a:t>0 </a:t>
            </a:r>
            <a:r>
              <a:rPr lang="zh-CN" altLang="en-US" dirty="0"/>
              <a:t>尖峰脉冲的称为 </a:t>
            </a:r>
            <a:r>
              <a:rPr lang="en-US" altLang="zh-CN" dirty="0"/>
              <a:t>0 </a:t>
            </a:r>
            <a:r>
              <a:rPr lang="zh-CN" altLang="en-US" dirty="0"/>
              <a:t>型冒险，产生 </a:t>
            </a:r>
            <a:r>
              <a:rPr lang="en-US" altLang="zh-CN" dirty="0"/>
              <a:t>1 </a:t>
            </a:r>
            <a:r>
              <a:rPr lang="zh-CN" altLang="en-US" dirty="0"/>
              <a:t>尖峰脉冲的称为 </a:t>
            </a:r>
            <a:r>
              <a:rPr lang="en-US" altLang="zh-CN" dirty="0"/>
              <a:t>1 </a:t>
            </a:r>
            <a:r>
              <a:rPr lang="zh-CN" altLang="en-US" dirty="0"/>
              <a:t>型冒险。</a:t>
            </a:r>
            <a:endParaRPr lang="zh-CN" altLang="zh-CN" dirty="0"/>
          </a:p>
        </p:txBody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25986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539552" y="404664"/>
                <a:ext cx="8115300" cy="5638800"/>
              </a:xfrm>
            </p:spPr>
            <p:txBody>
              <a:bodyPr/>
              <a:lstStyle/>
              <a:p>
                <a:br>
                  <a:rPr lang="en-US" altLang="zh-CN" dirty="0"/>
                </a:br>
                <a:r>
                  <a:rPr lang="zh-CN" altLang="en-US" dirty="0"/>
                  <a:t>　　</a:t>
                </a:r>
                <a:r>
                  <a:rPr lang="en-US" altLang="zh-CN" b="1" dirty="0"/>
                  <a:t>2. </a:t>
                </a:r>
                <a:r>
                  <a:rPr lang="zh-CN" altLang="en-US" b="1" dirty="0"/>
                  <a:t>竞争和冒险的判断</a:t>
                </a:r>
                <a:br>
                  <a:rPr lang="zh-CN" altLang="en-US" b="1" dirty="0"/>
                </a:br>
                <a:r>
                  <a:rPr lang="zh-CN" altLang="en-US" b="1" dirty="0"/>
                  <a:t>　　</a:t>
                </a:r>
                <a:r>
                  <a:rPr lang="zh-CN" altLang="en-US" dirty="0"/>
                  <a:t>判断一个组合逻辑电路是否存在竞争和冒险有两种常用的方法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代数法和卡诺图法。</a:t>
                </a:r>
                <a:br>
                  <a:rPr lang="zh-CN" altLang="en-US" dirty="0"/>
                </a:br>
                <a:r>
                  <a:rPr lang="zh-CN" altLang="en-US" dirty="0"/>
                  <a:t>　　</a:t>
                </a:r>
                <a:r>
                  <a:rPr lang="en-US" altLang="zh-CN" dirty="0"/>
                  <a:t>1 )</a:t>
                </a:r>
                <a:r>
                  <a:rPr lang="zh-CN" altLang="en-US" dirty="0"/>
                  <a:t>代数法</a:t>
                </a:r>
                <a:br>
                  <a:rPr lang="zh-CN" altLang="en-US" dirty="0"/>
                </a:br>
                <a:r>
                  <a:rPr lang="zh-CN" altLang="en-US" dirty="0"/>
                  <a:t>　　在一个组合逻辑电路中，如果某个门电路的输出表达式在一定条件下简化为 </a:t>
                </a:r>
                <a:r>
                  <a:rPr lang="en-US" altLang="zh-CN" dirty="0"/>
                  <a:t>Z=A+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dirty="0"/>
                          <m:t>A</m:t>
                        </m:r>
                      </m:e>
                    </m:acc>
                  </m:oMath>
                </a14:m>
                <a:r>
                  <a:rPr lang="zh-CN" altLang="en-US" dirty="0"/>
                  <a:t>　或 </a:t>
                </a:r>
                <a:r>
                  <a:rPr lang="en-US" altLang="zh-CN" dirty="0"/>
                  <a:t>Z=A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dirty="0"/>
                          <m:t>A</m:t>
                        </m:r>
                      </m:e>
                    </m:acc>
                  </m:oMath>
                </a14:m>
                <a:r>
                  <a:rPr lang="zh-CN" altLang="en-US" dirty="0"/>
                  <a:t>的形式，而式中的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dirty="0"/>
                          <m:t>A</m:t>
                        </m:r>
                      </m:e>
                    </m:acc>
                  </m:oMath>
                </a14:m>
                <a:r>
                  <a:rPr lang="zh-CN" altLang="en-US" dirty="0"/>
                  <a:t> 是变量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经过不同途径传输来的，则该电路存在竞争和冒险现象。</a:t>
                </a:r>
                <a:br>
                  <a:rPr lang="en-US" altLang="zh-CN" dirty="0"/>
                </a:br>
                <a:r>
                  <a:rPr lang="zh-CN" altLang="en-US" dirty="0"/>
                  <a:t>　　　　　</a:t>
                </a:r>
                <a:r>
                  <a:rPr lang="en-US" altLang="zh-CN" dirty="0"/>
                  <a:t> Z=A+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dirty="0"/>
                          <m:t>A</m:t>
                        </m:r>
                      </m:e>
                    </m:acc>
                  </m:oMath>
                </a14:m>
                <a:r>
                  <a:rPr lang="zh-CN" altLang="en-US" dirty="0"/>
                  <a:t>　　　存在 </a:t>
                </a:r>
                <a:r>
                  <a:rPr lang="en-US" altLang="zh-CN" dirty="0"/>
                  <a:t>0 </a:t>
                </a:r>
                <a:r>
                  <a:rPr lang="zh-CN" altLang="en-US" dirty="0"/>
                  <a:t>型冒险</a:t>
                </a:r>
                <a:br>
                  <a:rPr lang="en-US" altLang="zh-CN" dirty="0"/>
                </a:br>
                <a:r>
                  <a:rPr lang="zh-CN" altLang="en-US" dirty="0"/>
                  <a:t>　　　　　</a:t>
                </a:r>
                <a:r>
                  <a:rPr lang="en-US" altLang="zh-CN" dirty="0"/>
                  <a:t> Z=A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dirty="0"/>
                          <m:t>A</m:t>
                        </m:r>
                      </m:e>
                    </m:acc>
                  </m:oMath>
                </a14:m>
                <a:r>
                  <a:rPr lang="zh-CN" altLang="en-US" dirty="0"/>
                  <a:t>　　　　存在 </a:t>
                </a:r>
                <a:r>
                  <a:rPr lang="en-US" altLang="zh-CN" dirty="0"/>
                  <a:t>1 </a:t>
                </a:r>
                <a:r>
                  <a:rPr lang="zh-CN" altLang="en-US" dirty="0"/>
                  <a:t>型冒险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42598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39552" y="404664"/>
                <a:ext cx="8115300" cy="5638800"/>
              </a:xfrm>
              <a:blipFill rotWithShape="1">
                <a:blip r:embed="rId2"/>
                <a:stretch>
                  <a:fillRect l="-1202" r="-1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27010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br>
                  <a:rPr lang="en-US" altLang="zh-CN" dirty="0"/>
                </a:br>
                <a:r>
                  <a:rPr lang="zh-CN" altLang="en-US" dirty="0"/>
                  <a:t>　　 </a:t>
                </a:r>
                <a:r>
                  <a:rPr lang="en-US" altLang="zh-CN" b="1" dirty="0"/>
                  <a:t>【</a:t>
                </a:r>
                <a:r>
                  <a:rPr lang="zh-CN" altLang="en-US" b="1" dirty="0"/>
                  <a:t>例 </a:t>
                </a:r>
                <a:r>
                  <a:rPr lang="en-US" altLang="zh-CN" b="1" dirty="0"/>
                  <a:t>2. 7 】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判断图 </a:t>
                </a:r>
                <a:r>
                  <a:rPr lang="en-US" altLang="zh-CN" dirty="0"/>
                  <a:t>2-20 </a:t>
                </a:r>
                <a:r>
                  <a:rPr lang="zh-CN" altLang="en-US" dirty="0"/>
                  <a:t>所示的逻辑电路是否存在冒险。</a:t>
                </a:r>
                <a:br>
                  <a:rPr lang="zh-CN" altLang="en-US" dirty="0"/>
                </a:br>
                <a:r>
                  <a:rPr lang="zh-CN" altLang="en-US" b="1" dirty="0"/>
                  <a:t>解</a:t>
                </a:r>
                <a:r>
                  <a:rPr lang="zh-CN" altLang="en-US" dirty="0"/>
                  <a:t> 从逻辑图可以写出如下逻辑表达式</a:t>
                </a:r>
                <a:r>
                  <a:rPr lang="en-US" altLang="zh-CN" dirty="0"/>
                  <a:t>:</a:t>
                </a:r>
                <a:br>
                  <a:rPr lang="en-US" altLang="zh-CN" dirty="0"/>
                </a:br>
                <a:br>
                  <a:rPr lang="en-US" altLang="zh-CN" dirty="0"/>
                </a:br>
                <a:br>
                  <a:rPr lang="en-US" altLang="zh-CN" dirty="0"/>
                </a:br>
                <a:br>
                  <a:rPr lang="en-US" altLang="zh-CN" dirty="0"/>
                </a:br>
                <a:r>
                  <a:rPr lang="zh-CN" altLang="en-US" dirty="0"/>
                  <a:t>　　从表达式可以看出，当 </a:t>
                </a:r>
                <a:r>
                  <a:rPr lang="en-US" altLang="zh-CN" dirty="0"/>
                  <a:t>B=0 </a:t>
                </a:r>
                <a:r>
                  <a:rPr lang="zh-CN" altLang="en-US" dirty="0"/>
                  <a:t>、 </a:t>
                </a:r>
                <a:r>
                  <a:rPr lang="en-US" altLang="zh-CN" dirty="0"/>
                  <a:t>C=D=1 </a:t>
                </a:r>
                <a:r>
                  <a:rPr lang="zh-CN" altLang="en-US" dirty="0"/>
                  <a:t>时，</a:t>
                </a:r>
                <a:r>
                  <a:rPr lang="en-US" altLang="zh-CN" dirty="0"/>
                  <a:t> Z=A+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dirty="0"/>
                          <m:t>A</m:t>
                        </m:r>
                      </m:e>
                    </m:acc>
                  </m:oMath>
                </a14:m>
                <a:r>
                  <a:rPr lang="zh-CN" altLang="en-US" dirty="0"/>
                  <a:t>。因此，该电路存在 </a:t>
                </a:r>
                <a:r>
                  <a:rPr lang="en-US" altLang="zh-CN" dirty="0"/>
                  <a:t>0 </a:t>
                </a:r>
                <a:r>
                  <a:rPr lang="zh-CN" altLang="en-US" dirty="0"/>
                  <a:t>型冒险。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42701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l="-1202" r="-4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2276872"/>
            <a:ext cx="4180700" cy="864096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28034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br>
                  <a:rPr lang="en-US" altLang="zh-CN" dirty="0"/>
                </a:br>
                <a:r>
                  <a:rPr lang="zh-CN" altLang="en-US" dirty="0"/>
                  <a:t>　　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【</a:t>
                </a:r>
                <a:r>
                  <a:rPr lang="zh-CN" altLang="en-US" b="1" dirty="0"/>
                  <a:t>例 </a:t>
                </a:r>
                <a:r>
                  <a:rPr lang="en-US" altLang="zh-CN" b="1" dirty="0"/>
                  <a:t>2.8 】 </a:t>
                </a:r>
                <a:r>
                  <a:rPr lang="zh-CN" altLang="en-US" dirty="0"/>
                  <a:t>判断图 </a:t>
                </a:r>
                <a:r>
                  <a:rPr lang="en-US" altLang="zh-CN" dirty="0"/>
                  <a:t>2-21 </a:t>
                </a:r>
                <a:r>
                  <a:rPr lang="zh-CN" altLang="en-US" dirty="0"/>
                  <a:t>所示的逻辑电路是否存在冒险。</a:t>
                </a:r>
                <a:br>
                  <a:rPr lang="zh-CN" altLang="en-US" dirty="0"/>
                </a:br>
                <a:r>
                  <a:rPr lang="zh-CN" altLang="en-US" b="1" dirty="0"/>
                  <a:t>解</a:t>
                </a:r>
                <a:r>
                  <a:rPr lang="zh-CN" altLang="en-US" dirty="0"/>
                  <a:t> 从逻辑图可以写出如下逻辑表达式</a:t>
                </a:r>
                <a:r>
                  <a:rPr lang="en-US" altLang="zh-CN" dirty="0"/>
                  <a:t>:</a:t>
                </a:r>
                <a:br>
                  <a:rPr lang="en-US" altLang="zh-CN" dirty="0"/>
                </a:br>
                <a:br>
                  <a:rPr lang="en-US" altLang="zh-CN" dirty="0"/>
                </a:br>
                <a:br>
                  <a:rPr lang="en-US" altLang="zh-CN" dirty="0"/>
                </a:br>
                <a:br>
                  <a:rPr lang="en-US" altLang="zh-CN" dirty="0"/>
                </a:br>
                <a:r>
                  <a:rPr lang="zh-CN" altLang="en-US" dirty="0"/>
                  <a:t>　　从表达式可以看出，当 </a:t>
                </a:r>
                <a:r>
                  <a:rPr lang="en-US" altLang="zh-CN" dirty="0"/>
                  <a:t>B=1 </a:t>
                </a:r>
                <a:r>
                  <a:rPr lang="zh-CN" altLang="en-US" dirty="0"/>
                  <a:t>、 </a:t>
                </a:r>
                <a:r>
                  <a:rPr lang="en-US" altLang="zh-CN" dirty="0"/>
                  <a:t>C=0 </a:t>
                </a:r>
                <a:r>
                  <a:rPr lang="zh-CN" altLang="en-US" dirty="0"/>
                  <a:t>时，</a:t>
                </a:r>
                <a:r>
                  <a:rPr lang="en-US" altLang="zh-CN" dirty="0"/>
                  <a:t> Z=A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dirty="0"/>
                          <m:t>A</m:t>
                        </m:r>
                      </m:e>
                    </m:acc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。因此，该电路存在 </a:t>
                </a:r>
                <a:r>
                  <a:rPr lang="en-US" altLang="zh-CN" dirty="0"/>
                  <a:t>1 </a:t>
                </a:r>
                <a:r>
                  <a:rPr lang="zh-CN" altLang="en-US" dirty="0"/>
                  <a:t>型冒险。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42803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l="-1202" r="-48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164475"/>
            <a:ext cx="6037858" cy="103818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2-20  </a:t>
            </a:r>
            <a:r>
              <a:rPr lang="zh-CN" altLang="en-US" dirty="0"/>
              <a:t>例 </a:t>
            </a:r>
            <a:r>
              <a:rPr lang="en-US" altLang="zh-CN" dirty="0"/>
              <a:t>2.7 </a:t>
            </a:r>
            <a:r>
              <a:rPr lang="zh-CN" altLang="en-US" dirty="0"/>
              <a:t>的逻辑图　　　　　　图 </a:t>
            </a:r>
            <a:r>
              <a:rPr lang="en-US" altLang="zh-CN" dirty="0"/>
              <a:t>2-21  </a:t>
            </a:r>
            <a:r>
              <a:rPr lang="zh-CN" altLang="en-US" dirty="0"/>
              <a:t>例 </a:t>
            </a:r>
            <a:r>
              <a:rPr lang="en-US" altLang="zh-CN" dirty="0"/>
              <a:t>2.8 </a:t>
            </a:r>
            <a:r>
              <a:rPr lang="zh-CN" altLang="en-US" dirty="0"/>
              <a:t>的逻辑图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2405062"/>
            <a:ext cx="794385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文本框 61441"/>
          <p:cNvSpPr txBox="1"/>
          <p:nvPr/>
        </p:nvSpPr>
        <p:spPr>
          <a:xfrm>
            <a:off x="152400" y="457200"/>
            <a:ext cx="88392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      </a:t>
            </a:r>
            <a:r>
              <a:rPr lang="zh-CN" altLang="en-US" sz="2400" b="1">
                <a:latin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latin typeface="Times New Roman" panose="02020603050405020304" pitchFamily="18" charset="0"/>
              </a:rPr>
              <a:t>2 - 22</a:t>
            </a:r>
            <a:r>
              <a:rPr lang="zh-CN" altLang="en-US" sz="2400" b="1">
                <a:latin typeface="Times New Roman" panose="02020603050405020304" pitchFamily="18" charset="0"/>
              </a:rPr>
              <a:t>】</a:t>
            </a:r>
            <a:r>
              <a:rPr lang="zh-CN" altLang="en-US" sz="2400" dirty="0">
                <a:latin typeface="Times New Roman" panose="02020603050405020304" pitchFamily="18" charset="0"/>
              </a:rPr>
              <a:t>找出图</a:t>
            </a:r>
            <a:r>
              <a:rPr lang="en-US" altLang="zh-CN" sz="2400">
                <a:latin typeface="Times New Roman" panose="02020603050405020304" pitchFamily="18" charset="0"/>
              </a:rPr>
              <a:t>2 - 59</a:t>
            </a:r>
            <a:r>
              <a:rPr lang="zh-CN" altLang="en-US" sz="2400" dirty="0">
                <a:latin typeface="Times New Roman" panose="02020603050405020304" pitchFamily="18" charset="0"/>
              </a:rPr>
              <a:t>所示电路中有竞争力的变量，并判断是否存在冒险。如存在冒险，指出冒险类型， 画出输出波形。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1443" name="文本框 61442"/>
          <p:cNvSpPr txBox="1"/>
          <p:nvPr/>
        </p:nvSpPr>
        <p:spPr>
          <a:xfrm>
            <a:off x="2819400" y="5715000"/>
            <a:ext cx="297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图 </a:t>
            </a:r>
            <a:r>
              <a:rPr lang="en-US" altLang="zh-CN" sz="2400">
                <a:latin typeface="Times New Roman" panose="02020603050405020304" pitchFamily="18" charset="0"/>
              </a:rPr>
              <a:t>2 - 59 </a:t>
            </a:r>
            <a:r>
              <a:rPr lang="zh-CN" altLang="en-US" sz="2400" dirty="0">
                <a:latin typeface="Times New Roman" panose="02020603050405020304" pitchFamily="18" charset="0"/>
              </a:rPr>
              <a:t>例</a:t>
            </a:r>
            <a:r>
              <a:rPr lang="en-US" altLang="zh-CN" sz="2400">
                <a:latin typeface="Times New Roman" panose="02020603050405020304" pitchFamily="18" charset="0"/>
              </a:rPr>
              <a:t>2 - 22</a:t>
            </a:r>
            <a:r>
              <a:rPr lang="zh-CN" altLang="en-US" sz="2400" dirty="0">
                <a:latin typeface="Times New Roman" panose="02020603050405020304" pitchFamily="18" charset="0"/>
              </a:rPr>
              <a:t>电路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61444" name="对象 61443"/>
          <p:cNvGraphicFramePr/>
          <p:nvPr/>
        </p:nvGraphicFramePr>
        <p:xfrm>
          <a:off x="1600200" y="1752600"/>
          <a:ext cx="6553200" cy="397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25040" imgH="1348740" progId="Visio.Drawing.4">
                  <p:embed/>
                </p:oleObj>
              </mc:Choice>
              <mc:Fallback>
                <p:oleObj r:id="rId2" imgW="2225040" imgH="1348740" progId="Visio.Drawing.4">
                  <p:embed/>
                  <p:pic>
                    <p:nvPicPr>
                      <p:cNvPr id="61444" name="对象 6144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00200" y="1752600"/>
                        <a:ext cx="6553200" cy="3973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文本框 62465"/>
          <p:cNvSpPr txBox="1"/>
          <p:nvPr/>
        </p:nvSpPr>
        <p:spPr>
          <a:xfrm>
            <a:off x="228600" y="609600"/>
            <a:ext cx="8686800" cy="1114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</a:rPr>
              <a:t>解  </a:t>
            </a:r>
            <a:r>
              <a:rPr lang="zh-CN" altLang="en-US" sz="2400" dirty="0">
                <a:latin typeface="Times New Roman" panose="02020603050405020304" pitchFamily="18" charset="0"/>
              </a:rPr>
              <a:t>因为</a:t>
            </a:r>
            <a:r>
              <a:rPr lang="en-US" altLang="zh-CN" sz="2400">
                <a:latin typeface="Times New Roman" panose="02020603050405020304" pitchFamily="18" charset="0"/>
              </a:rPr>
              <a:t>C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</a:rPr>
              <a:t>有两条传输路径， 所以</a:t>
            </a:r>
            <a:r>
              <a:rPr lang="en-US" altLang="zh-CN" sz="2400">
                <a:latin typeface="Times New Roman" panose="02020603050405020304" pitchFamily="18" charset="0"/>
              </a:rPr>
              <a:t>C</a:t>
            </a:r>
            <a:r>
              <a:rPr lang="zh-CN" altLang="en-US" sz="2400">
                <a:latin typeface="Times New Roman" panose="02020603050405020304" pitchFamily="18" charset="0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</a:rPr>
              <a:t>是有竞争力的变量。</a:t>
            </a:r>
            <a:r>
              <a:rPr lang="en-US" altLang="zh-CN" sz="2400">
                <a:latin typeface="Times New Roman" panose="02020603050405020304" pitchFamily="18" charset="0"/>
              </a:rPr>
              <a:t>F</a:t>
            </a:r>
            <a:r>
              <a:rPr lang="zh-CN" altLang="en-US" sz="2400" dirty="0">
                <a:latin typeface="Times New Roman" panose="02020603050405020304" pitchFamily="18" charset="0"/>
              </a:rPr>
              <a:t>的输出函数表达式为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62467" name="对象 62466"/>
          <p:cNvGraphicFramePr/>
          <p:nvPr/>
        </p:nvGraphicFramePr>
        <p:xfrm>
          <a:off x="2362200" y="2133600"/>
          <a:ext cx="51054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81860" imgH="266065" progId="Equation.3">
                  <p:embed/>
                </p:oleObj>
              </mc:Choice>
              <mc:Fallback>
                <p:oleObj r:id="rId2" imgW="2181860" imgH="266065" progId="Equation.3">
                  <p:embed/>
                  <p:pic>
                    <p:nvPicPr>
                      <p:cNvPr id="62467" name="对象 6246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2200" y="2133600"/>
                        <a:ext cx="51054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8" name="文本框 62467"/>
          <p:cNvSpPr txBox="1"/>
          <p:nvPr/>
        </p:nvSpPr>
        <p:spPr>
          <a:xfrm>
            <a:off x="0" y="3124200"/>
            <a:ext cx="4010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当输入变量</a:t>
            </a:r>
            <a:r>
              <a:rPr lang="en-US" altLang="zh-CN" sz="2400">
                <a:latin typeface="Times New Roman" panose="02020603050405020304" pitchFamily="18" charset="0"/>
              </a:rPr>
              <a:t>A=B=D=1</a:t>
            </a:r>
            <a:r>
              <a:rPr lang="zh-CN" altLang="en-US" sz="2400" dirty="0">
                <a:latin typeface="Times New Roman" panose="02020603050405020304" pitchFamily="18" charset="0"/>
              </a:rPr>
              <a:t>时， 有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62469" name="对象 62468"/>
          <p:cNvGraphicFramePr/>
          <p:nvPr/>
        </p:nvGraphicFramePr>
        <p:xfrm>
          <a:off x="2682875" y="3886200"/>
          <a:ext cx="36258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58595" imgH="215900" progId="Equation.3">
                  <p:embed/>
                </p:oleObj>
              </mc:Choice>
              <mc:Fallback>
                <p:oleObj r:id="rId4" imgW="1458595" imgH="215900" progId="Equation.3">
                  <p:embed/>
                  <p:pic>
                    <p:nvPicPr>
                      <p:cNvPr id="62469" name="对象 6246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82875" y="3886200"/>
                        <a:ext cx="3625850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0" name="文本框 62469"/>
          <p:cNvSpPr txBox="1"/>
          <p:nvPr/>
        </p:nvSpPr>
        <p:spPr>
          <a:xfrm>
            <a:off x="152400" y="4775200"/>
            <a:ext cx="8610600" cy="1244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8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</a:rPr>
              <a:t>因此，该电路存在变量</a:t>
            </a:r>
            <a:r>
              <a:rPr lang="en-US" altLang="zh-CN" sz="2400">
                <a:latin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</a:rPr>
              <a:t>产生的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</a:rPr>
              <a:t>型冒险。 </a:t>
            </a:r>
            <a:r>
              <a:rPr lang="en-US" altLang="zh-CN" sz="2400">
                <a:latin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</a:rPr>
              <a:t>虽然是有竞争力的变量，但不会产生冒险。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文本框 63489"/>
          <p:cNvSpPr txBox="1"/>
          <p:nvPr/>
        </p:nvSpPr>
        <p:spPr>
          <a:xfrm>
            <a:off x="152400" y="714375"/>
            <a:ext cx="8839200" cy="4619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7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</a:rPr>
              <a:t>稳态时，</a:t>
            </a:r>
            <a:r>
              <a:rPr lang="en-US" altLang="zh-CN" sz="2400">
                <a:latin typeface="Times New Roman" panose="02020603050405020304" pitchFamily="18" charset="0"/>
              </a:rPr>
              <a:t>A=B=D=1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zh-CN" altLang="en-US" sz="2400" dirty="0">
                <a:latin typeface="Times New Roman" panose="02020603050405020304" pitchFamily="18" charset="0"/>
              </a:rPr>
              <a:t>无论</a:t>
            </a:r>
            <a:r>
              <a:rPr lang="en-US" altLang="zh-CN" sz="2400">
                <a:latin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</a:rPr>
              <a:t>取何值，</a:t>
            </a:r>
            <a:r>
              <a:rPr lang="en-US" altLang="zh-CN" sz="2400">
                <a:latin typeface="Times New Roman" panose="02020603050405020304" pitchFamily="18" charset="0"/>
              </a:rPr>
              <a:t>F</a:t>
            </a:r>
            <a:r>
              <a:rPr lang="zh-CN" altLang="en-US" sz="2400" dirty="0">
                <a:latin typeface="Times New Roman" panose="02020603050405020304" pitchFamily="18" charset="0"/>
              </a:rPr>
              <a:t>恒为</a:t>
            </a:r>
            <a:r>
              <a:rPr lang="en-US" altLang="zh-CN" sz="240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。但当</a:t>
            </a:r>
            <a:r>
              <a:rPr lang="en-US" altLang="zh-CN" sz="2400">
                <a:latin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</a:rPr>
              <a:t>变化时，由于信号的各传输路径的延时不同，将会出现图</a:t>
            </a:r>
            <a:r>
              <a:rPr lang="en-US" altLang="zh-CN" sz="2400">
                <a:latin typeface="Times New Roman" panose="02020603050405020304" pitchFamily="18" charset="0"/>
              </a:rPr>
              <a:t>2 - 60</a:t>
            </a:r>
            <a:r>
              <a:rPr lang="zh-CN" altLang="en-US" sz="2400" dirty="0">
                <a:latin typeface="Times New Roman" panose="02020603050405020304" pitchFamily="18" charset="0"/>
              </a:rPr>
              <a:t>所示的情况。 图中假定每个逻辑门的时延相同，均为</a:t>
            </a:r>
            <a:r>
              <a:rPr lang="en-US" altLang="zh-CN" sz="2400" err="1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err="1">
                <a:latin typeface="Times New Roman" panose="02020603050405020304" pitchFamily="18" charset="0"/>
              </a:rPr>
              <a:t>pd</a:t>
            </a:r>
            <a:r>
              <a:rPr lang="zh-CN" altLang="en-US" sz="2400">
                <a:latin typeface="Times New Roman" panose="02020603050405020304" pitchFamily="18" charset="0"/>
              </a:rPr>
              <a:t>。      </a:t>
            </a:r>
          </a:p>
          <a:p>
            <a:pPr>
              <a:lnSpc>
                <a:spcPct val="170000"/>
              </a:lnSpc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        由图</a:t>
            </a:r>
            <a:r>
              <a:rPr lang="en-US" altLang="zh-CN" sz="2400">
                <a:latin typeface="Times New Roman" panose="02020603050405020304" pitchFamily="18" charset="0"/>
              </a:rPr>
              <a:t>2 - 60</a:t>
            </a:r>
            <a:r>
              <a:rPr lang="zh-CN" altLang="en-US" sz="2400" dirty="0">
                <a:latin typeface="Times New Roman" panose="02020603050405020304" pitchFamily="18" charset="0"/>
              </a:rPr>
              <a:t>可见，当变量</a:t>
            </a:r>
            <a:r>
              <a:rPr lang="en-US" altLang="zh-CN" sz="2400">
                <a:latin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</a:rPr>
              <a:t>由高电平变为低电平时，输出将会产生负毛刺，即存在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</a:rPr>
              <a:t>型冒险。但当</a:t>
            </a:r>
            <a:r>
              <a:rPr lang="en-US" altLang="zh-CN" sz="2400">
                <a:latin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</a:rPr>
              <a:t>由低电平变为高电平时， 却没有产生毛刺， 只有竞争， 没有冒险。 这说明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</a:rPr>
              <a:t>即使是能够产生冒险的有竞争力的变量，发生变化时也不一定都产生冒险。 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文本框 64513"/>
          <p:cNvSpPr txBox="1"/>
          <p:nvPr/>
        </p:nvSpPr>
        <p:spPr>
          <a:xfrm>
            <a:off x="2397125" y="5943600"/>
            <a:ext cx="4349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图 </a:t>
            </a:r>
            <a:r>
              <a:rPr lang="en-US" altLang="zh-CN" sz="2400">
                <a:latin typeface="Times New Roman" panose="02020603050405020304" pitchFamily="18" charset="0"/>
              </a:rPr>
              <a:t>2 - 60 </a:t>
            </a:r>
            <a:r>
              <a:rPr lang="zh-CN" altLang="en-US" sz="2400" dirty="0">
                <a:latin typeface="Times New Roman" panose="02020603050405020304" pitchFamily="18" charset="0"/>
              </a:rPr>
              <a:t>图</a:t>
            </a:r>
            <a:r>
              <a:rPr lang="en-US" altLang="zh-CN" sz="2400">
                <a:latin typeface="Times New Roman" panose="02020603050405020304" pitchFamily="18" charset="0"/>
              </a:rPr>
              <a:t>2 - 59</a:t>
            </a:r>
            <a:r>
              <a:rPr lang="zh-CN" altLang="en-US" sz="2400" dirty="0">
                <a:latin typeface="Times New Roman" panose="02020603050405020304" pitchFamily="18" charset="0"/>
              </a:rPr>
              <a:t>电路的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</a:rPr>
              <a:t>型冒险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64515" name="对象 64514"/>
          <p:cNvGraphicFramePr/>
          <p:nvPr/>
        </p:nvGraphicFramePr>
        <p:xfrm>
          <a:off x="304800" y="762000"/>
          <a:ext cx="8534400" cy="509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596640" imgH="2148840" progId="Visio.Drawing.4">
                  <p:embed/>
                </p:oleObj>
              </mc:Choice>
              <mc:Fallback>
                <p:oleObj r:id="rId2" imgW="3596640" imgH="2148840" progId="Visio.Drawing.4">
                  <p:embed/>
                  <p:pic>
                    <p:nvPicPr>
                      <p:cNvPr id="64515" name="对象 6451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4800" y="762000"/>
                        <a:ext cx="8534400" cy="5099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 </a:t>
            </a:r>
            <a:r>
              <a:rPr lang="en-US" altLang="zh-CN" dirty="0"/>
              <a:t>2 )</a:t>
            </a:r>
            <a:r>
              <a:rPr lang="zh-CN" altLang="en-US" dirty="0"/>
              <a:t>卡诺图法</a:t>
            </a:r>
            <a:br>
              <a:rPr lang="zh-CN" altLang="en-US" dirty="0"/>
            </a:br>
            <a:r>
              <a:rPr lang="zh-CN" altLang="en-US" dirty="0"/>
              <a:t>　　如果逻辑函数对应的卡诺图中存在相切的圈，而相切的两个方格又没有同时被另一个圈包含，则当变量组合在相切方格之间变化时，存在竞争 </a:t>
            </a:r>
            <a:r>
              <a:rPr lang="en-US" altLang="zh-CN" dirty="0"/>
              <a:t>- </a:t>
            </a:r>
            <a:r>
              <a:rPr lang="zh-CN" altLang="en-US" dirty="0"/>
              <a:t>冒险现象。</a:t>
            </a:r>
            <a:endParaRPr lang="zh-CN" altLang="zh-CN" dirty="0"/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548680"/>
            <a:ext cx="8115300" cy="5638800"/>
          </a:xfrm>
        </p:spPr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zh-CN" altLang="en-US" b="1" dirty="0"/>
              <a:t> </a:t>
            </a:r>
            <a:r>
              <a:rPr lang="en-US" altLang="zh-CN" b="1" dirty="0"/>
              <a:t>【</a:t>
            </a:r>
            <a:r>
              <a:rPr lang="zh-CN" altLang="en-US" b="1" dirty="0"/>
              <a:t>例 </a:t>
            </a:r>
            <a:r>
              <a:rPr lang="en-US" altLang="zh-CN" b="1" dirty="0"/>
              <a:t>2.9 】</a:t>
            </a:r>
            <a:r>
              <a:rPr lang="en-US" altLang="zh-CN" dirty="0"/>
              <a:t> </a:t>
            </a:r>
            <a:r>
              <a:rPr lang="zh-CN" altLang="en-US" dirty="0"/>
              <a:t>判断实现逻辑表达式 </a:t>
            </a:r>
            <a:br>
              <a:rPr lang="en-US" altLang="zh-CN" dirty="0"/>
            </a:br>
            <a:r>
              <a:rPr lang="zh-CN" altLang="en-US" dirty="0"/>
              <a:t>的电路是否存在冒险。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zh-CN" altLang="en-US" b="1" dirty="0"/>
              <a:t>解</a:t>
            </a:r>
            <a:r>
              <a:rPr lang="zh-CN" altLang="en-US" dirty="0"/>
              <a:t> 画出 </a:t>
            </a:r>
            <a:r>
              <a:rPr lang="en-US" altLang="zh-CN" dirty="0"/>
              <a:t>Z </a:t>
            </a:r>
            <a:r>
              <a:rPr lang="zh-CN" altLang="en-US" dirty="0"/>
              <a:t>的卡诺图如图</a:t>
            </a:r>
            <a:r>
              <a:rPr lang="en-US" altLang="zh-CN" dirty="0"/>
              <a:t>2-22 </a:t>
            </a:r>
            <a:r>
              <a:rPr lang="zh-CN" altLang="en-US" dirty="0"/>
              <a:t>所示。从卡诺图中可以看出</a:t>
            </a:r>
            <a:r>
              <a:rPr lang="en-US" altLang="zh-CN" dirty="0"/>
              <a:t>: 1 </a:t>
            </a:r>
            <a:r>
              <a:rPr lang="zh-CN" altLang="en-US" dirty="0"/>
              <a:t>号圈中编号 </a:t>
            </a:r>
            <a:r>
              <a:rPr lang="en-US" altLang="zh-CN" dirty="0"/>
              <a:t>1 </a:t>
            </a:r>
            <a:r>
              <a:rPr lang="zh-CN" altLang="en-US" dirty="0"/>
              <a:t>的方格和 </a:t>
            </a:r>
            <a:r>
              <a:rPr lang="en-US" altLang="zh-CN" dirty="0"/>
              <a:t>2 </a:t>
            </a:r>
            <a:r>
              <a:rPr lang="zh-CN" altLang="en-US" dirty="0"/>
              <a:t>号圈中编号 </a:t>
            </a:r>
            <a:r>
              <a:rPr lang="en-US" altLang="zh-CN" dirty="0"/>
              <a:t>5 </a:t>
            </a:r>
            <a:r>
              <a:rPr lang="zh-CN" altLang="en-US" dirty="0"/>
              <a:t>的方格相切而且没有同时被另一个圈包含</a:t>
            </a:r>
            <a:r>
              <a:rPr lang="en-US" altLang="zh-CN" dirty="0"/>
              <a:t>;</a:t>
            </a:r>
            <a:r>
              <a:rPr lang="zh-CN" altLang="en-US" dirty="0"/>
              <a:t>另外，</a:t>
            </a:r>
            <a:r>
              <a:rPr lang="en-US" altLang="zh-CN" dirty="0"/>
              <a:t> 1 </a:t>
            </a:r>
            <a:r>
              <a:rPr lang="zh-CN" altLang="en-US" dirty="0"/>
              <a:t>号圈中编号 </a:t>
            </a:r>
            <a:r>
              <a:rPr lang="en-US" altLang="zh-CN" dirty="0"/>
              <a:t>3 </a:t>
            </a:r>
            <a:r>
              <a:rPr lang="zh-CN" altLang="en-US" dirty="0"/>
              <a:t>的方格和 </a:t>
            </a:r>
            <a:r>
              <a:rPr lang="en-US" altLang="zh-CN" dirty="0"/>
              <a:t>3 </a:t>
            </a:r>
            <a:r>
              <a:rPr lang="zh-CN" altLang="en-US" dirty="0"/>
              <a:t>号圈中编号 </a:t>
            </a:r>
            <a:r>
              <a:rPr lang="en-US" altLang="zh-CN" dirty="0"/>
              <a:t>11 </a:t>
            </a:r>
            <a:r>
              <a:rPr lang="zh-CN" altLang="en-US" dirty="0"/>
              <a:t>的方格相切而且也没有同时被另一个圈包含。因此，当变量组合在编号 </a:t>
            </a:r>
            <a:r>
              <a:rPr lang="en-US" altLang="zh-CN" dirty="0"/>
              <a:t>1 </a:t>
            </a:r>
            <a:r>
              <a:rPr lang="zh-CN" altLang="en-US" dirty="0"/>
              <a:t>方格和编号 </a:t>
            </a:r>
            <a:r>
              <a:rPr lang="en-US" altLang="zh-CN" dirty="0"/>
              <a:t>5 </a:t>
            </a:r>
            <a:r>
              <a:rPr lang="zh-CN" altLang="en-US" dirty="0"/>
              <a:t>方格之间变化或在编号 </a:t>
            </a:r>
            <a:r>
              <a:rPr lang="en-US" altLang="zh-CN" dirty="0"/>
              <a:t>3 </a:t>
            </a:r>
            <a:r>
              <a:rPr lang="zh-CN" altLang="en-US" dirty="0"/>
              <a:t>方格和编号 </a:t>
            </a:r>
            <a:r>
              <a:rPr lang="en-US" altLang="zh-CN" dirty="0"/>
              <a:t>11 </a:t>
            </a:r>
            <a:r>
              <a:rPr lang="zh-CN" altLang="en-US" dirty="0"/>
              <a:t>方格之间变化时，存在冒险现</a:t>
            </a:r>
            <a:br>
              <a:rPr lang="zh-CN" altLang="en-US" dirty="0"/>
            </a:br>
            <a:r>
              <a:rPr lang="zh-CN" altLang="en-US" dirty="0"/>
              <a:t>象。</a:t>
            </a:r>
            <a:endParaRPr lang="zh-CN" altLang="zh-CN" dirty="0"/>
          </a:p>
        </p:txBody>
      </p:sp>
      <p:sp>
        <p:nvSpPr>
          <p:cNvPr id="431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1052736"/>
            <a:ext cx="2521818" cy="440129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两种情况对应的变量组合如下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　　在编号 </a:t>
            </a:r>
            <a:r>
              <a:rPr lang="en-US" altLang="zh-CN" dirty="0"/>
              <a:t>1 </a:t>
            </a:r>
            <a:r>
              <a:rPr lang="zh-CN" altLang="en-US" dirty="0"/>
              <a:t>方格和编号 </a:t>
            </a:r>
            <a:r>
              <a:rPr lang="en-US" altLang="zh-CN" dirty="0"/>
              <a:t>5 </a:t>
            </a:r>
            <a:r>
              <a:rPr lang="zh-CN" altLang="en-US" dirty="0"/>
              <a:t>方格中，</a:t>
            </a:r>
            <a:r>
              <a:rPr lang="en-US" altLang="zh-CN" dirty="0"/>
              <a:t> A=0 </a:t>
            </a:r>
            <a:r>
              <a:rPr lang="zh-CN" altLang="en-US" dirty="0"/>
              <a:t>、 </a:t>
            </a:r>
            <a:r>
              <a:rPr lang="en-US" altLang="zh-CN" dirty="0"/>
              <a:t>C=0 </a:t>
            </a:r>
            <a:r>
              <a:rPr lang="zh-CN" altLang="en-US" dirty="0"/>
              <a:t>、 </a:t>
            </a:r>
            <a:r>
              <a:rPr lang="en-US" altLang="zh-CN" dirty="0"/>
              <a:t>D=1 </a:t>
            </a:r>
            <a:r>
              <a:rPr lang="zh-CN" altLang="en-US" dirty="0"/>
              <a:t>、 </a:t>
            </a:r>
            <a:r>
              <a:rPr lang="en-US" altLang="zh-CN" dirty="0"/>
              <a:t>B </a:t>
            </a:r>
            <a:r>
              <a:rPr lang="zh-CN" altLang="en-US" dirty="0"/>
              <a:t>变化。</a:t>
            </a:r>
            <a:br>
              <a:rPr lang="zh-CN" altLang="en-US" dirty="0"/>
            </a:br>
            <a:r>
              <a:rPr lang="zh-CN" altLang="en-US" dirty="0"/>
              <a:t>　　在编号 </a:t>
            </a:r>
            <a:r>
              <a:rPr lang="en-US" altLang="zh-CN" dirty="0"/>
              <a:t>3 </a:t>
            </a:r>
            <a:r>
              <a:rPr lang="zh-CN" altLang="en-US" dirty="0"/>
              <a:t>方格和编号 </a:t>
            </a:r>
            <a:r>
              <a:rPr lang="en-US" altLang="zh-CN" dirty="0"/>
              <a:t>11 </a:t>
            </a:r>
            <a:r>
              <a:rPr lang="zh-CN" altLang="en-US" dirty="0"/>
              <a:t>方格中，</a:t>
            </a:r>
            <a:r>
              <a:rPr lang="en-US" altLang="zh-CN" dirty="0"/>
              <a:t> B=0 </a:t>
            </a:r>
            <a:r>
              <a:rPr lang="zh-CN" altLang="en-US" dirty="0"/>
              <a:t>、 </a:t>
            </a:r>
            <a:r>
              <a:rPr lang="en-US" altLang="zh-CN" dirty="0"/>
              <a:t>C=1 </a:t>
            </a:r>
            <a:r>
              <a:rPr lang="zh-CN" altLang="en-US" dirty="0"/>
              <a:t>、 </a:t>
            </a:r>
            <a:r>
              <a:rPr lang="en-US" altLang="zh-CN" dirty="0"/>
              <a:t>D=1 </a:t>
            </a:r>
            <a:r>
              <a:rPr lang="zh-CN" altLang="en-US" dirty="0"/>
              <a:t>、 </a:t>
            </a:r>
            <a:r>
              <a:rPr lang="en-US" altLang="zh-CN" dirty="0"/>
              <a:t>A </a:t>
            </a:r>
            <a:r>
              <a:rPr lang="zh-CN" altLang="en-US" dirty="0"/>
              <a:t>变化。</a:t>
            </a:r>
            <a:br>
              <a:rPr lang="zh-CN" altLang="en-US" dirty="0"/>
            </a:br>
            <a:r>
              <a:rPr lang="zh-CN" altLang="en-US" dirty="0"/>
              <a:t>　　用与非门实现的电路逻辑图如图 </a:t>
            </a:r>
            <a:r>
              <a:rPr lang="en-US" altLang="zh-CN" dirty="0"/>
              <a:t>2-23 </a:t>
            </a:r>
            <a:r>
              <a:rPr lang="zh-CN" altLang="en-US" dirty="0"/>
              <a:t>所示。</a:t>
            </a:r>
            <a:endParaRPr lang="zh-CN" altLang="zh-CN" dirty="0"/>
          </a:p>
        </p:txBody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33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2-22  </a:t>
            </a:r>
            <a:r>
              <a:rPr lang="zh-CN" altLang="en-US" dirty="0"/>
              <a:t>例 </a:t>
            </a:r>
            <a:r>
              <a:rPr lang="en-US" altLang="zh-CN" dirty="0"/>
              <a:t>2.9 </a:t>
            </a:r>
            <a:r>
              <a:rPr lang="zh-CN" altLang="en-US" dirty="0"/>
              <a:t>的卡诺图　　　　图 </a:t>
            </a:r>
            <a:r>
              <a:rPr lang="en-US" altLang="zh-CN" dirty="0"/>
              <a:t>2-23  </a:t>
            </a:r>
            <a:r>
              <a:rPr lang="zh-CN" altLang="en-US" dirty="0"/>
              <a:t>例 </a:t>
            </a:r>
            <a:r>
              <a:rPr lang="en-US" altLang="zh-CN" dirty="0"/>
              <a:t>2.9 </a:t>
            </a:r>
            <a:r>
              <a:rPr lang="zh-CN" altLang="en-US" dirty="0"/>
              <a:t>的逻辑图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25" y="2157412"/>
            <a:ext cx="7219950" cy="254317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34" name="组合 69633"/>
          <p:cNvGrpSpPr/>
          <p:nvPr/>
        </p:nvGrpSpPr>
        <p:grpSpPr>
          <a:xfrm>
            <a:off x="76200" y="533400"/>
            <a:ext cx="8915400" cy="5386388"/>
            <a:chOff x="48" y="336"/>
            <a:chExt cx="5616" cy="3393"/>
          </a:xfrm>
        </p:grpSpPr>
        <p:sp>
          <p:nvSpPr>
            <p:cNvPr id="69635" name="文本框 69634"/>
            <p:cNvSpPr txBox="1"/>
            <p:nvPr/>
          </p:nvSpPr>
          <p:spPr>
            <a:xfrm>
              <a:off x="48" y="336"/>
              <a:ext cx="5616" cy="33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      </a:t>
              </a:r>
              <a:r>
                <a:rPr lang="zh-CN" altLang="en-US" sz="2400" b="1">
                  <a:latin typeface="Times New Roman" panose="02020603050405020304" pitchFamily="18" charset="0"/>
                </a:rPr>
                <a:t>【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例</a:t>
              </a:r>
              <a:r>
                <a:rPr lang="en-US" altLang="zh-CN" sz="2400" b="1">
                  <a:latin typeface="Times New Roman" panose="02020603050405020304" pitchFamily="18" charset="0"/>
                </a:rPr>
                <a:t>2 - 24</a:t>
              </a:r>
              <a:r>
                <a:rPr lang="zh-CN" altLang="en-US" sz="2400" b="1">
                  <a:latin typeface="Times New Roman" panose="02020603050405020304" pitchFamily="18" charset="0"/>
                </a:rPr>
                <a:t>】</a:t>
              </a:r>
              <a:r>
                <a:rPr lang="zh-CN" altLang="en-US" sz="2400">
                  <a:latin typeface="Times New Roman" panose="02020603050405020304" pitchFamily="18" charset="0"/>
                </a:rPr>
                <a:t> 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用卡诺图法判断函数                                     是否存在冒险。 </a:t>
              </a:r>
            </a:p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      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解  </a:t>
              </a:r>
              <a:r>
                <a:rPr lang="en-US" altLang="zh-CN" sz="2400">
                  <a:latin typeface="Times New Roman" panose="02020603050405020304" pitchFamily="18" charset="0"/>
                </a:rPr>
                <a:t>F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的卡诺图如图</a:t>
              </a:r>
              <a:r>
                <a:rPr lang="en-US" altLang="zh-CN" sz="2400">
                  <a:latin typeface="Times New Roman" panose="02020603050405020304" pitchFamily="18" charset="0"/>
                </a:rPr>
                <a:t>2 - 63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所示。从图中可见，代表</a:t>
              </a:r>
              <a:r>
                <a:rPr lang="en-US" altLang="zh-CN" sz="2400">
                  <a:latin typeface="Times New Roman" panose="02020603050405020304" pitchFamily="18" charset="0"/>
                </a:rPr>
                <a:t>BD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和        的两个卡诺圈（粗线框）相切，且相切部分的“</a:t>
              </a:r>
              <a:r>
                <a:rPr lang="en-US" altLang="zh-CN" sz="2400">
                  <a:latin typeface="Times New Roman" panose="02020603050405020304" pitchFamily="18" charset="0"/>
                </a:rPr>
                <a:t>1”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又未被其它卡诺圈圈住，因此，当</a:t>
              </a:r>
              <a:r>
                <a:rPr lang="en-US" altLang="zh-CN" sz="2400">
                  <a:latin typeface="Times New Roman" panose="02020603050405020304" pitchFamily="18" charset="0"/>
                </a:rPr>
                <a:t>D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从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到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或从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到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变化时，</a:t>
              </a:r>
              <a:r>
                <a:rPr lang="en-US" altLang="zh-CN" sz="2400">
                  <a:latin typeface="Times New Roman" panose="02020603050405020304" pitchFamily="18" charset="0"/>
                </a:rPr>
                <a:t>F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将从一个卡诺圈进入另一个卡诺圈，从而产生冒险。 从函数形式上容易判断， 该冒险属于变量</a:t>
              </a:r>
              <a:r>
                <a:rPr lang="en-US" altLang="zh-CN" sz="2400">
                  <a:latin typeface="Times New Roman" panose="02020603050405020304" pitchFamily="18" charset="0"/>
                </a:rPr>
                <a:t>D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引起的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型冒险，</a:t>
              </a:r>
              <a:r>
                <a:rPr lang="en-US" altLang="zh-CN" sz="2400">
                  <a:latin typeface="Times New Roman" panose="02020603050405020304" pitchFamily="18" charset="0"/>
                </a:rPr>
                <a:t>D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是有竞争力的变量。</a:t>
              </a:r>
            </a:p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         除了</a:t>
              </a:r>
              <a:r>
                <a:rPr lang="en-US" altLang="zh-CN" sz="2400">
                  <a:latin typeface="Times New Roman" panose="02020603050405020304" pitchFamily="18" charset="0"/>
                </a:rPr>
                <a:t>D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是有竞争力的变量外，</a:t>
              </a:r>
              <a:r>
                <a:rPr lang="en-US" altLang="zh-CN" sz="2400">
                  <a:latin typeface="Times New Roman" panose="02020603050405020304" pitchFamily="18" charset="0"/>
                </a:rPr>
                <a:t>A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也是有竞争力的变量。 但代表</a:t>
              </a:r>
              <a:r>
                <a:rPr lang="en-US" altLang="zh-CN" sz="2400">
                  <a:latin typeface="Times New Roman" panose="02020603050405020304" pitchFamily="18" charset="0"/>
                </a:rPr>
                <a:t>AD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和           的两个卡诺圈未相切，故不会产生冒险。 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9636" name="对象 69635"/>
            <p:cNvGraphicFramePr/>
            <p:nvPr>
              <p:extLst>
                <p:ext uri="{D42A27DB-BD31-4B8C-83A1-F6EECF244321}">
                  <p14:modId xmlns:p14="http://schemas.microsoft.com/office/powerpoint/2010/main" val="3002869856"/>
                </p:ext>
              </p:extLst>
            </p:nvPr>
          </p:nvGraphicFramePr>
          <p:xfrm>
            <a:off x="3264" y="381"/>
            <a:ext cx="1776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356995" imgH="215900" progId="Equation.3">
                    <p:embed/>
                  </p:oleObj>
                </mc:Choice>
                <mc:Fallback>
                  <p:oleObj r:id="rId2" imgW="1356995" imgH="215900" progId="Equation.3">
                    <p:embed/>
                    <p:pic>
                      <p:nvPicPr>
                        <p:cNvPr id="69636" name="对象 6963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264" y="381"/>
                          <a:ext cx="1776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37" name="对象 69636"/>
            <p:cNvGraphicFramePr/>
            <p:nvPr/>
          </p:nvGraphicFramePr>
          <p:xfrm>
            <a:off x="796" y="3399"/>
            <a:ext cx="50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67665" imgH="215900" progId="Equation.3">
                    <p:embed/>
                  </p:oleObj>
                </mc:Choice>
                <mc:Fallback>
                  <p:oleObj r:id="rId4" imgW="367665" imgH="215900" progId="Equation.3">
                    <p:embed/>
                    <p:pic>
                      <p:nvPicPr>
                        <p:cNvPr id="69637" name="对象 6963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96" y="3399"/>
                          <a:ext cx="500" cy="2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文本框 70657"/>
          <p:cNvSpPr txBox="1"/>
          <p:nvPr/>
        </p:nvSpPr>
        <p:spPr>
          <a:xfrm>
            <a:off x="3276600" y="5638800"/>
            <a:ext cx="3282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图 </a:t>
            </a:r>
            <a:r>
              <a:rPr lang="en-US" altLang="zh-CN" sz="2400">
                <a:latin typeface="Times New Roman" panose="02020603050405020304" pitchFamily="18" charset="0"/>
              </a:rPr>
              <a:t>2 - 63 </a:t>
            </a:r>
            <a:r>
              <a:rPr lang="zh-CN" altLang="en-US" sz="2400" dirty="0">
                <a:latin typeface="Times New Roman" panose="02020603050405020304" pitchFamily="18" charset="0"/>
              </a:rPr>
              <a:t>例</a:t>
            </a:r>
            <a:r>
              <a:rPr lang="en-US" altLang="zh-CN" sz="2400">
                <a:latin typeface="Times New Roman" panose="02020603050405020304" pitchFamily="18" charset="0"/>
              </a:rPr>
              <a:t>2 - 24</a:t>
            </a:r>
            <a:r>
              <a:rPr lang="zh-CN" altLang="en-US" sz="2400" dirty="0">
                <a:latin typeface="Times New Roman" panose="02020603050405020304" pitchFamily="18" charset="0"/>
              </a:rPr>
              <a:t>卡诺图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70659" name="对象 70658"/>
          <p:cNvGraphicFramePr/>
          <p:nvPr/>
        </p:nvGraphicFramePr>
        <p:xfrm>
          <a:off x="1905000" y="685800"/>
          <a:ext cx="4953000" cy="444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84960" imgH="1424940" progId="Visio.Drawing.4">
                  <p:embed/>
                </p:oleObj>
              </mc:Choice>
              <mc:Fallback>
                <p:oleObj r:id="rId2" imgW="1584960" imgH="1424940" progId="Visio.Drawing.4">
                  <p:embed/>
                  <p:pic>
                    <p:nvPicPr>
                      <p:cNvPr id="70659" name="对象 7065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5000" y="685800"/>
                        <a:ext cx="4953000" cy="4443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b="1" dirty="0"/>
              <a:t>3. </a:t>
            </a:r>
            <a:r>
              <a:rPr lang="zh-CN" altLang="en-US" b="1" dirty="0"/>
              <a:t>竞争和冒险现象的消除方法</a:t>
            </a:r>
            <a:br>
              <a:rPr lang="zh-CN" altLang="en-US" b="1" dirty="0"/>
            </a:br>
            <a:r>
              <a:rPr lang="zh-CN" altLang="en-US" b="1" dirty="0"/>
              <a:t>　　</a:t>
            </a:r>
            <a:r>
              <a:rPr lang="zh-CN" altLang="en-US" dirty="0"/>
              <a:t>消除组合逻辑电路中竞争和冒险现象的常用方法有</a:t>
            </a:r>
            <a:r>
              <a:rPr lang="en-US" altLang="zh-CN" dirty="0"/>
              <a:t>:</a:t>
            </a:r>
            <a:r>
              <a:rPr lang="zh-CN" altLang="en-US" dirty="0"/>
              <a:t>滤波法、脉冲选通法和修改设计法。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en-US" altLang="zh-CN" b="1" dirty="0"/>
              <a:t>1 )</a:t>
            </a:r>
            <a:r>
              <a:rPr lang="zh-CN" altLang="en-US" b="1" dirty="0"/>
              <a:t>滤波法</a:t>
            </a:r>
            <a:br>
              <a:rPr lang="zh-CN" altLang="en-US" dirty="0"/>
            </a:br>
            <a:r>
              <a:rPr lang="zh-CN" altLang="en-US" dirty="0"/>
              <a:t>　　滤波法是在门电路的输出端接上一个滤波电容，将尖峰脉冲的幅度削减至门电路的阈值电压以下，如图 </a:t>
            </a:r>
            <a:r>
              <a:rPr lang="en-US" altLang="zh-CN" dirty="0"/>
              <a:t>2-24 </a:t>
            </a:r>
            <a:r>
              <a:rPr lang="zh-CN" altLang="en-US" dirty="0"/>
              <a:t>所示。由于竞争和冒险产生的尖峰脉冲很窄，所以通常接一个大约几百皮法的小电容即可。这种方法很简单，但会使波形变坏。</a:t>
            </a:r>
            <a:endParaRPr lang="zh-CN" altLang="zh-CN" dirty="0"/>
          </a:p>
        </p:txBody>
      </p:sp>
      <p:sp>
        <p:nvSpPr>
          <p:cNvPr id="434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2-24  </a:t>
            </a:r>
            <a:r>
              <a:rPr lang="zh-CN" altLang="en-US" dirty="0"/>
              <a:t>用滤波电容消除竞争和冒险现象</a:t>
            </a:r>
            <a:endParaRPr lang="zh-CN" altLang="zh-CN" dirty="0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" y="1809750"/>
            <a:ext cx="6943725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dirty="0"/>
              <a:t>2 )</a:t>
            </a:r>
            <a:r>
              <a:rPr lang="zh-CN" altLang="en-US" dirty="0"/>
              <a:t>脉冲选通法</a:t>
            </a:r>
            <a:br>
              <a:rPr lang="zh-CN" altLang="en-US" dirty="0"/>
            </a:br>
            <a:r>
              <a:rPr lang="zh-CN" altLang="en-US" dirty="0"/>
              <a:t>　　脉冲选通法是在电路中加入一个选通脉冲，在确定电路进入稳定状态后，才让电路输出选通，否则封锁电路输出，如图 </a:t>
            </a:r>
            <a:r>
              <a:rPr lang="en-US" altLang="zh-CN" dirty="0"/>
              <a:t>2-25 </a:t>
            </a:r>
            <a:r>
              <a:rPr lang="zh-CN" altLang="en-US" dirty="0"/>
              <a:t>所示。</a:t>
            </a:r>
            <a:endParaRPr lang="zh-CN" altLang="zh-CN" dirty="0"/>
          </a:p>
        </p:txBody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2-25  </a:t>
            </a:r>
            <a:r>
              <a:rPr lang="zh-CN" altLang="en-US" dirty="0"/>
              <a:t>用选通脉冲消除竞争和冒险现象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3168942"/>
            <a:ext cx="7920514" cy="2232248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37250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br>
                  <a:rPr lang="en-US" altLang="zh-CN" dirty="0"/>
                </a:br>
                <a:r>
                  <a:rPr lang="zh-CN" altLang="en-US" dirty="0"/>
                  <a:t>　　</a:t>
                </a:r>
                <a:r>
                  <a:rPr lang="en-US" altLang="zh-CN" dirty="0"/>
                  <a:t>3 )</a:t>
                </a:r>
                <a:r>
                  <a:rPr lang="zh-CN" altLang="en-US" dirty="0"/>
                  <a:t>修改设计法</a:t>
                </a:r>
                <a:br>
                  <a:rPr lang="zh-CN" altLang="en-US" dirty="0"/>
                </a:br>
                <a:r>
                  <a:rPr lang="zh-CN" altLang="en-US" dirty="0"/>
                  <a:t>　　</a:t>
                </a:r>
                <a:r>
                  <a:rPr lang="en-US" altLang="zh-CN" dirty="0"/>
                  <a:t>(1 )</a:t>
                </a:r>
                <a:r>
                  <a:rPr lang="zh-CN" altLang="en-US" dirty="0"/>
                  <a:t>代数法。如前面对图 </a:t>
                </a:r>
                <a:r>
                  <a:rPr lang="en-US" altLang="zh-CN" dirty="0"/>
                  <a:t>2-19 </a:t>
                </a:r>
                <a:r>
                  <a:rPr lang="zh-CN" altLang="en-US" dirty="0"/>
                  <a:t>的分析，对于逻辑表达式 </a:t>
                </a:r>
                <a:r>
                  <a:rPr lang="en-US" altLang="zh-CN" dirty="0"/>
                  <a:t>Z=AB+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dirty="0"/>
                          <m:t>A</m:t>
                        </m:r>
                      </m:e>
                    </m:acc>
                  </m:oMath>
                </a14:m>
                <a:r>
                  <a:rPr lang="en-US" altLang="zh-CN" dirty="0"/>
                  <a:t>C </a:t>
                </a:r>
                <a:r>
                  <a:rPr lang="zh-CN" altLang="en-US" dirty="0"/>
                  <a:t>，当 </a:t>
                </a:r>
                <a:r>
                  <a:rPr lang="en-US" altLang="zh-CN" dirty="0"/>
                  <a:t>B=C=1 </a:t>
                </a:r>
                <a:r>
                  <a:rPr lang="zh-CN" altLang="en-US" dirty="0"/>
                  <a:t>时，存在竞争和冒险现象。利用逻辑代数公式，可以增加冗余项 </a:t>
                </a:r>
                <a:r>
                  <a:rPr lang="en-US" altLang="zh-CN" dirty="0"/>
                  <a:t>BC </a:t>
                </a:r>
                <a:r>
                  <a:rPr lang="zh-CN" altLang="en-US" dirty="0"/>
                  <a:t>，使 </a:t>
                </a:r>
                <a:r>
                  <a:rPr lang="en-US" altLang="zh-CN" dirty="0"/>
                  <a:t>Z=AB+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dirty="0"/>
                          <m:t>A</m:t>
                        </m:r>
                      </m:e>
                    </m:acc>
                  </m:oMath>
                </a14:m>
                <a:r>
                  <a:rPr lang="en-US" altLang="zh-CN" dirty="0"/>
                  <a:t>C+BC </a:t>
                </a:r>
                <a:r>
                  <a:rPr lang="zh-CN" altLang="en-US" dirty="0"/>
                  <a:t>，图 </a:t>
                </a:r>
                <a:r>
                  <a:rPr lang="en-US" altLang="zh-CN" dirty="0"/>
                  <a:t>2-26 </a:t>
                </a:r>
                <a:r>
                  <a:rPr lang="zh-CN" altLang="en-US" dirty="0"/>
                  <a:t>是按照增加冗余项后的逻辑表达式实现的电路。当</a:t>
                </a:r>
                <a:r>
                  <a:rPr lang="en-US" altLang="zh-CN" dirty="0"/>
                  <a:t>B=C=1 </a:t>
                </a:r>
                <a:r>
                  <a:rPr lang="zh-CN" altLang="en-US" dirty="0"/>
                  <a:t>时，由于 </a:t>
                </a:r>
                <a:r>
                  <a:rPr lang="en-US" altLang="zh-CN" dirty="0"/>
                  <a:t>G </a:t>
                </a:r>
                <a:r>
                  <a:rPr lang="en-US" altLang="zh-CN" baseline="-25000" dirty="0"/>
                  <a:t>5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的输出保持为 </a:t>
                </a:r>
                <a:r>
                  <a:rPr lang="en-US" altLang="zh-CN" dirty="0"/>
                  <a:t>0 </a:t>
                </a:r>
                <a:r>
                  <a:rPr lang="zh-CN" altLang="en-US" dirty="0"/>
                  <a:t>，因此，即使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发生变化，</a:t>
                </a:r>
                <a:r>
                  <a:rPr lang="en-US" altLang="zh-CN" dirty="0"/>
                  <a:t> G</a:t>
                </a:r>
                <a:r>
                  <a:rPr lang="en-US" altLang="zh-CN" baseline="-25000" dirty="0"/>
                  <a:t>4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的输出亦恒定为 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。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43725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l="-1202" r="-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2-26  </a:t>
            </a:r>
            <a:r>
              <a:rPr lang="zh-CN" altLang="en-US" dirty="0"/>
              <a:t>用增加冗余项消除竞争和冒险现象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268760"/>
            <a:ext cx="5363646" cy="3871689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 </a:t>
            </a:r>
            <a:r>
              <a:rPr lang="en-US" altLang="zh-CN" dirty="0"/>
              <a:t>(2)</a:t>
            </a:r>
            <a:r>
              <a:rPr lang="zh-CN" altLang="en-US" dirty="0"/>
              <a:t>卡诺图法。我们知道，若逻辑函数对应的卡诺图中存在相切的圈，而相切的两个方格又没有同时被另一个圈包含，则当变量组合在相切方格之间变化时，存在竞争和冒险现象。因而，通过增加由这两个相切方格组成的圈，就可以消除竞争和冒险现象。</a:t>
            </a:r>
            <a:endParaRPr lang="zh-CN" altLang="zh-CN" dirty="0"/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　　 </a:t>
            </a:r>
            <a:r>
              <a:rPr lang="en-US" altLang="zh-CN" b="1" dirty="0"/>
              <a:t>【</a:t>
            </a:r>
            <a:r>
              <a:rPr lang="zh-CN" altLang="en-US" b="1" dirty="0"/>
              <a:t>例 </a:t>
            </a:r>
            <a:r>
              <a:rPr lang="en-US" altLang="zh-CN" b="1" dirty="0"/>
              <a:t>2.10 】 </a:t>
            </a:r>
            <a:r>
              <a:rPr lang="zh-CN" altLang="en-US" dirty="0"/>
              <a:t>修改图 </a:t>
            </a:r>
            <a:r>
              <a:rPr lang="en-US" altLang="zh-CN" dirty="0"/>
              <a:t>2-23 </a:t>
            </a:r>
            <a:r>
              <a:rPr lang="zh-CN" altLang="en-US" dirty="0"/>
              <a:t>所示的电路，消除竞争和冒险现象。</a:t>
            </a:r>
            <a:br>
              <a:rPr lang="zh-CN" altLang="en-US" dirty="0"/>
            </a:br>
            <a:r>
              <a:rPr lang="zh-CN" altLang="en-US" dirty="0"/>
              <a:t>　　</a:t>
            </a:r>
            <a:r>
              <a:rPr lang="zh-CN" altLang="en-US" b="1" dirty="0"/>
              <a:t>解</a:t>
            </a:r>
            <a:r>
              <a:rPr lang="zh-CN" altLang="en-US" dirty="0"/>
              <a:t> 从卡诺图 </a:t>
            </a:r>
            <a:r>
              <a:rPr lang="en-US" altLang="zh-CN" dirty="0"/>
              <a:t>2-22 </a:t>
            </a:r>
            <a:r>
              <a:rPr lang="zh-CN" altLang="en-US" dirty="0"/>
              <a:t>可以看出，要消除竞争和冒险现象，需要增加由编号 </a:t>
            </a:r>
            <a:r>
              <a:rPr lang="en-US" altLang="zh-CN" dirty="0"/>
              <a:t>1 </a:t>
            </a:r>
            <a:r>
              <a:rPr lang="zh-CN" altLang="en-US" dirty="0"/>
              <a:t>方格和编号 </a:t>
            </a:r>
            <a:r>
              <a:rPr lang="en-US" altLang="zh-CN" dirty="0"/>
              <a:t>5 </a:t>
            </a:r>
            <a:r>
              <a:rPr lang="zh-CN" altLang="en-US" dirty="0"/>
              <a:t>方格组成的圈以及由编号 </a:t>
            </a:r>
            <a:r>
              <a:rPr lang="en-US" altLang="zh-CN" dirty="0"/>
              <a:t>3 </a:t>
            </a:r>
            <a:r>
              <a:rPr lang="zh-CN" altLang="en-US" dirty="0"/>
              <a:t>方格和编号 </a:t>
            </a:r>
            <a:r>
              <a:rPr lang="en-US" altLang="zh-CN" dirty="0"/>
              <a:t>11 </a:t>
            </a:r>
            <a:r>
              <a:rPr lang="zh-CN" altLang="en-US" dirty="0"/>
              <a:t>方格组成的圈，如图 </a:t>
            </a:r>
            <a:r>
              <a:rPr lang="en-US" altLang="zh-CN" dirty="0"/>
              <a:t>2-27 </a:t>
            </a:r>
            <a:r>
              <a:rPr lang="zh-CN" altLang="en-US" dirty="0"/>
              <a:t>所示。这样，得到的表达式如下</a:t>
            </a:r>
            <a:r>
              <a:rPr lang="en-US" altLang="zh-CN" dirty="0"/>
              <a:t>: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　　修改后的逻辑电路图如图 </a:t>
            </a:r>
            <a:r>
              <a:rPr lang="en-US" altLang="zh-CN" dirty="0"/>
              <a:t>2-28 </a:t>
            </a:r>
            <a:r>
              <a:rPr lang="zh-CN" altLang="en-US" dirty="0"/>
              <a:t>所示。</a:t>
            </a:r>
            <a:endParaRPr lang="zh-CN" altLang="zh-CN" dirty="0"/>
          </a:p>
        </p:txBody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4005064"/>
            <a:ext cx="435292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2-27  </a:t>
            </a:r>
            <a:r>
              <a:rPr lang="zh-CN" altLang="en-US" dirty="0"/>
              <a:t>例 </a:t>
            </a:r>
            <a:r>
              <a:rPr lang="en-US" altLang="zh-CN" dirty="0"/>
              <a:t>2.10 </a:t>
            </a:r>
            <a:r>
              <a:rPr lang="zh-CN" altLang="en-US" dirty="0"/>
              <a:t>的卡诺图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163" y="1382636"/>
            <a:ext cx="4554810" cy="4092728"/>
          </a:xfrm>
          <a:prstGeom prst="rect">
            <a:avLst/>
          </a:prstGeom>
        </p:spPr>
      </p:pic>
      <p:pic>
        <p:nvPicPr>
          <p:cNvPr id="5" name="图片 4" descr="屏幕剪辑">
            <a:extLst>
              <a:ext uri="{FF2B5EF4-FFF2-40B4-BE49-F238E27FC236}">
                <a16:creationId xmlns:a16="http://schemas.microsoft.com/office/drawing/2014/main" id="{5F861BBC-2A93-467C-A68A-AADCBB19B5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17"/>
          <a:stretch/>
        </p:blipFill>
        <p:spPr>
          <a:xfrm>
            <a:off x="457199" y="2157412"/>
            <a:ext cx="3724275" cy="2543175"/>
          </a:xfrm>
          <a:prstGeom prst="rect">
            <a:avLst/>
          </a:prstGeom>
        </p:spPr>
      </p:pic>
      <p:pic>
        <p:nvPicPr>
          <p:cNvPr id="6" name="图片 5" descr="屏幕剪辑">
            <a:extLst>
              <a:ext uri="{FF2B5EF4-FFF2-40B4-BE49-F238E27FC236}">
                <a16:creationId xmlns:a16="http://schemas.microsoft.com/office/drawing/2014/main" id="{C8A5F18F-5D10-42CC-BDE9-8B970A29E8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717283"/>
            <a:ext cx="2521818" cy="440129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2-28  </a:t>
            </a:r>
            <a:r>
              <a:rPr lang="zh-CN" altLang="en-US" dirty="0"/>
              <a:t>修改后的逻辑图</a:t>
            </a:r>
            <a:endParaRPr lang="zh-CN" altLang="zh-CN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1304925"/>
            <a:ext cx="5076825" cy="4248150"/>
          </a:xfrm>
          <a:prstGeom prst="rect">
            <a:avLst/>
          </a:prstGeom>
        </p:spPr>
      </p:pic>
      <p:pic>
        <p:nvPicPr>
          <p:cNvPr id="5" name="Picture 2" descr="H:\出版社\模板\课件素材\GIF动画插件1\GIF020.GIF">
            <a:hlinkClick r:id="rId3" action="ppaction://hlinksldjump"/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096" y="6268790"/>
            <a:ext cx="749904" cy="58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660066"/>
      </a:hlink>
      <a:folHlink>
        <a:srgbClr val="990099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2621</TotalTime>
  <Words>5942</Words>
  <Application>Microsoft Office PowerPoint</Application>
  <PresentationFormat>全屏显示(4:3)</PresentationFormat>
  <Paragraphs>110</Paragraphs>
  <Slides>87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87</vt:i4>
      </vt:variant>
    </vt:vector>
  </HeadingPairs>
  <TitlesOfParts>
    <vt:vector size="94" baseType="lpstr">
      <vt:lpstr>华文行楷</vt:lpstr>
      <vt:lpstr>Arial</vt:lpstr>
      <vt:lpstr>Cambria Math</vt:lpstr>
      <vt:lpstr>Times New Roman</vt:lpstr>
      <vt:lpstr>默认设计模板</vt:lpstr>
      <vt:lpstr>VISIO 4 Drawing</vt:lpstr>
      <vt:lpstr>Microsoft 公式 3.0</vt:lpstr>
      <vt:lpstr>第 2 章 组合逻辑电路</vt:lpstr>
      <vt:lpstr> 　　本章首先简单介绍组合逻辑电路中经常使用的集成门电路，接着着重介绍组合逻辑电路的分析方法和设计方法，最后介绍组合逻辑电路中出现竞争 - 冒险现象的原因以及消除办法。</vt:lpstr>
      <vt:lpstr> 2. 1  集 成 门 电 路</vt:lpstr>
      <vt:lpstr> 　　上述电路符号的含义如下: 　　TTL : Transistor TransistorLogic ，晶体管 - 晶体管逻辑。 　　ECL : EmitterCoupledLogic ，发射极耦合逻辑。 　　I2 L :IntegratedInjectionLogic ，集成注入逻辑。 　　CMOS : ComplementaryMetal OxideSemiconductor ，互补型金属 - 氧化物半导体。 　　NMOS : N ChannelMetal OxideSemiconductor ， N 沟道金属 - 氧化物半导体。 　　PMOS : P ChannelMetal OxideSemiconductor ， P 沟道金属 - 氧化物半导体。 　　Bi CMOS : Bipolar CMOS ，双极型 -CMOS 。 　　其中，使用最广泛的是 TTL 电路和 CMOS 电路。 TTL 电路是双极型电路; CMOS 电路是单极型电路。</vt:lpstr>
      <vt:lpstr> 2. 1. 1 TTL 门电路 　　TTL 门电路由双极型三极管构成，它的特点是速度快、抗静电能力强、集成度低、功耗大，目前广泛应用于中、小规模集成电路中。 　　TTL 门电路有 74 (商用)和 54 (军用)两大系列，每个系列中又有若干子系列。例如，74 系列包含如下基本子系列:</vt:lpstr>
      <vt:lpstr> 　　74 :标准 TTL ( StandardTTL )。 　　74H :高速 TTL ( High-speedTTL )。 　　74S :肖特基 TTL ( SchottkyTTL )。 　　74AS :先进肖特基 TTL ( AdvancedSchottkyTTL )。 　　74LS :低功耗肖特基 TTL ( Low-powerSchottkyTTL )。 　　74ALS :先进低功耗肖特基 TTL ( AdvancedLow-powerSchottkyTTL )。 　　</vt:lpstr>
      <vt:lpstr> 　　54 系列和 74 系列具有相同的子系列，两个系列的参数基本相同，主要在电源电压范围和工作环境温度范围上有所不同， 54 系列适应的范围更大些，如表2-1 所示。不同子系列在速度、功耗等参数上有所不同。 TTL 门电路采用 5V 电源供电。</vt:lpstr>
      <vt:lpstr> 2. 1. 2 CMOS 门电路 　　CMOS 门电路由场效应管构成，它的特点是集成度高、功耗低、速度慢、抗静电能力差。虽然 TTL 门电路由于速度快和更多类型选择而流行多年，但 CMOS 门电路具有功耗低、集成度高的优点，而且其速度已经获得了很大的提高，目前已可与 TTL 门电路相媲美。因此， CMOS 门电路获得了广泛的应用，特别是在大规模集成电路和微处理器中已经占据支配地位。</vt:lpstr>
      <vt:lpstr> 　　从供电电源区分， CMOS 门电路有 5VCMOS 门电路和 3.3VCMOS 门电路两种。3. 3VCMOS 门电路发展得较晚，它的功耗比 5VCMOS 门电路低得多。同 TTL 门电路一样， CMOS 门电路也有 74 和 54 两大系列。</vt:lpstr>
      <vt:lpstr> 　　74 系列 5VCMOS 门电路的基本子系列如下: 　　74HC 和 74HCT :高速 CMOS ( High-speedCMOS )， T 表示和 TTL 直接兼容。 　　74AC 和 74ACT :先进 CMOS ( AdvancedCMOS )。 　　74AHC 和 74AHCT :先进高速 CMOS ( AdvancedHigh-speedCMOS )。 　　74 系列 3. 3VCMOS 门电路的基本子系列如下: 　　74LVC :低压 CMOS ( Low-voltageCMOS )。 　　74ALVC :先进低压 CMOS ( AdvancedLow-voltageCMOS )。</vt:lpstr>
      <vt:lpstr> 2. 1. 3  数字集成电路的品种类型 　　每个系列的数字集成电路都有很多不同的品种类型，用不同的代码表示，例如: 　　00 : 4 路 2 输入与非门 　　02 : 4 路 2 输入或非门 　　08 : 4 路 2 输入与门 　　10 : 3 路 3 输入与非门 　　20 :双路 4 输入与非门 　　27 : 3 路 3 输入或非门 　　32 : 4 路 2 输入或门 　　86 : 4 路 2 输入异或门</vt:lpstr>
      <vt:lpstr> 　　具有相同品种类型代码的逻辑电路，不管属于哪个系列，它们的逻辑功能都相同，引脚也兼容。例如， 7400 ， 74LS00 ， 74ALS00 ， 74HC00 ， 74AHC00 都是引脚兼容的 4 路 2 输入与非门封装，引脚排列和逻辑图如图2-1 所示。</vt:lpstr>
      <vt:lpstr>PowerPoint 演示文稿</vt:lpstr>
      <vt:lpstr> 2. 1. 4  数字集成电路的性能参数和使用 　　1. 数字集成电路的性能参数 　　数字集成电路的性能参数主要包括:直流电源电压、输入/输出逻辑电平、扇出系数、传输延时、功耗等。 　　1 )直流电源电压 U CC 　　一般 TTL 电路的直流电源电压为 5V ，最低 4.5V ，最高 5. 5V 。 CMOS 电路的直流电源电压有 5V 和 3.3V 两种。 CMOS 电路的一个优点是电源电压的变化范围比 TTL 电路大，如 5VCMOS 电路当其电源电压在 2~6V 范围内时能正常工作， 3.3VCMOS 电路当其电源电压在 2~3.6V 范围内时能正常工作。</vt:lpstr>
      <vt:lpstr> 　　2 )输入/输出逻辑电平 　　数字集成电路有如下四个不同的输入/输出逻辑电平参数: 　　低电平输入电压 U IL :能被输入端确认为低电平的电压范围。 　　高电平输入电压 U IH :能被输入端确认为高电平的电压范围。 　　低电平输出电压 U OL :正常工作时低电平输出的电压范围。 　　高电平输出电压 U OH :正常工作时高电平输出的电压范围。 　　图 2-2 和图 2-3 分别给出了 TTL 电路和 CMOS 电路的输入/输出逻辑电平。</vt:lpstr>
      <vt:lpstr>PowerPoint 演示文稿</vt:lpstr>
      <vt:lpstr>PowerPoint 演示文稿</vt:lpstr>
      <vt:lpstr> 　　当输入电平在 U IL ( max ) 和 U IH ( min ) 之间时，逻辑电路可能把它当作 0 ，也可能把它当作 1 ，而当逻辑电路因所接负载过多等原因不能正常工作时，高电平输出可能低于 U OH (min ) ，低电平输出可能高于 U OL (max ) 。</vt:lpstr>
      <vt:lpstr> 　　3 )扇出系数 　　扇出系数指在正常工作范围内，一个门电路的输出端能够连接同一系列门电路输入端的最大数目。扇出系数越大，门电路的带负载能力就越强。一般来说， CMOS 电路的扇出系数比较高。计算公式为   　　其中， I OH 为高电平输出电流;I IH 为高电平输入电流; I OL 为低电平输出电流; I IL 为低电平输入电流。</vt:lpstr>
      <vt:lpstr> 　　例如，从 74LS00 与非门的参数表中可以查到， 　　I OH =0. 4mA ， IIH =20 μ A ， I OL =8mA ， I IL =0.4mA 因此: 　　　　　　扇出系数 = "400" /"20"  = "8" /"0. 4"   =20 　　 　　　这说明一个 74LS00 与非门的输出端能够连接 74LS 系列门电路(不一定是与非门)最多 20个的输入端，如图 2-4 所示。</vt:lpstr>
      <vt:lpstr>PowerPoint 演示文稿</vt:lpstr>
      <vt:lpstr> 　　 4 )传输延时tP 　　传输延时tP指输入变化引起输出变化所需的时间，它是衡量逻辑电路工作速度的重要指标。传输延时越短，工作速度越快，工作频率越高。tPHL 指输出由高电平变为低电平时，输入脉冲的指定参考点(一般为中点)到输出脉冲的相应指定参考点的时间。 tPHL 指输出由低电平变为高电平时，输入脉冲的指定参考点到输出脉冲的相应指定参考点的时间。标准 TTL 系列门电路典型的传输延时为 11ns ;高速 TTL 系列门电路典型的传输延时为3. 3ns 。 HCT 系列 CMOS 门电路的传输延时为 7ns ; AC 系列 CMOS 门电路的传输延时为 5ns ; ALVC 系列 CMOS 门电路的传输延时为 3ns 。</vt:lpstr>
      <vt:lpstr> 　　 5 )功耗 P D 　　逻辑电路的功耗 P D 定义为直流电源电压和电源平均电流的乘积。一般情况下，门电路输出为低电平时的电源电流 I CCL 比门电路输出为高电平时的电源电流 I CCH 大。 CMOS 电路的功耗较低，而且与工作频率有关(频率越高功耗越大); TTL 电路的功耗较高，基本与工作频率无关。</vt:lpstr>
      <vt:lpstr> 　　 2. 数字集成电路的使用 　　1 )类型选择 　　设计一个复杂的数字系统时，往往需要用到大量的门电路。应根据各个部分的性能要求选择合适的门电路，以使系统达到经济、稳定、可靠且性能优良。在优先考虑功耗，对速度要求不高的情况下，可选用 CMOS 电路;当要求很高速度时，可选用 ECL 电路。由于TTL 电路速度较高、功耗适中、使用普遍，所以在无特殊要求的情况下，可选用 TTL 电路。表 2-2 给出了常用的 TTL 、 ECL 、 CMOS 电路的主要性能参数比较。</vt:lpstr>
      <vt:lpstr>PowerPoint 演示文稿</vt:lpstr>
      <vt:lpstr> 　　 2 ) TTL 门电路和 CMOS 门电路的连接 　　我们知道， TTL 门电路和 CMOS 门电路是两种不同类型的电路，它们的参数并不完全相同。因此，在一个数字系统中，如果同时使用 TTL 门电路和 CMOS 门电路，为了保证系统能够正常工作，必须考虑两者之间的连接问题，应满足下列条件: 　　　驱动门 　　　负载门 　　U OH ( min ) 　&gt;　 U IH ( min ) 　　U OL ( max ) 　&lt; 　U IL ( max ) 　　I OH 　　　&gt; 　I IH 　　I OL 　　　&gt; 　I IL</vt:lpstr>
      <vt:lpstr> 　　如果不满足上面条件，必须增加接口电路。常用的方法有增加上拉电阻、采用专用接口电路、驱动门并接等。例如，若不满足 U OH (驱动门) &gt; U IH (负载门)，则可在驱动门的输 出端接上上拉电阻，如图 2-5 所示。</vt:lpstr>
      <vt:lpstr> 　　2. 2  组合逻辑电路</vt:lpstr>
      <vt:lpstr> 　　组合逻辑电路的特点可用图 2-6 表示。 　　输入/输出表达式描述为 　　y 1 =F 1 ( x 1 ， x 2 ，…， x m ) 　　y 2 =F 2 ( x 1 ， x 2 ，…， x m ) 　　　　　　… 　　y n =F n ( x 1 ， x 2 ，…， x m ) 　　描述组合逻辑电路的常用方法有:逻辑表达式、真值表、卡诺图、逻辑电路图等。</vt:lpstr>
      <vt:lpstr>PowerPoint 演示文稿</vt:lpstr>
      <vt:lpstr> 2. 2. 2  组合逻辑电路的分析 　　1. 不变输入情况下组合逻辑电路的分析 　　分析组合逻辑电路一般是根据给出的逻辑电路图，总结出它的逻辑功能。当输入不变时，具体的步骤通常如下: 　　(1)根据逻辑电路图，写出逻辑表达式。 　　(2)利用所得到的逻辑表达式，列出真值表，画出卡诺图。 　　(3)总结出电路的逻辑功能。</vt:lpstr>
      <vt:lpstr> 　　【例 2.1 】 分析图 2-7 所示的逻辑电路。 　　</vt:lpstr>
      <vt:lpstr>　 　　解 从逻辑图可以写出如下的逻辑表达式:   　　利用上面的逻辑表达式，列出表 2-3 所示的真值表并画出图 2-8 所示的卡诺图。 　　从真值表可以看出，当输入变量 A 、 B 、 C 中有两个 或两个以上为 1 时，输出 Z 为 1 ，否则，输出 Z 为 0 。此电路是一个多数表决电路。</vt:lpstr>
      <vt:lpstr>　</vt:lpstr>
      <vt:lpstr> 　　2. 脉冲输入情况下组合逻辑电路的分析 　　在脉冲输入的情况下，组合逻辑电路的工作和输入不变时是一样的，即任一时刻电路的输出只与该时刻电路的输入有关，与其他时刻的输入无关。在脉冲输入的情况下，不同时刻电路的输入不同时，对应的输出也可能不同。对电路进行分析时，首先要将输入分成不同的时段(在每个时段里，输入的组合是不变的)，再确定出每个时段电路的输出，用波形图表示电路输出和输入之间对应的逻辑关系。</vt:lpstr>
      <vt:lpstr> 　　【例 2.2 】 画出图 2-9 ( a )所示逻辑电路的输出波形。电路的输入波形如图 2-9 ( b )所示。 　　解 逐个画出各个门电路输出的波形，最后画出逻辑电路的输出波形，如图 2-9 ( c )所示。</vt:lpstr>
      <vt:lpstr>PowerPoint 演示文稿</vt:lpstr>
      <vt:lpstr> 　　【例 2. 3 】 画出图 2-10 ( a )所示逻辑电路的输出波形。电路的输入波形如图 2-10 ( b )所示。 　　解 从图 2-10 ( a )可以写出电路输出的逻辑表达式如下:   　　 　　从表达式可以得到，当 A 、 B 、 C 同时为 0 或 D 为 1 时，输出 Z 为 1 ，否则， Z 为 0 。逻辑电路的输出波形如图2-10 (c )所示。</vt:lpstr>
      <vt:lpstr>PowerPoint 演示文稿</vt:lpstr>
      <vt:lpstr> 2. 2. 3  组合逻辑电路的设计 　　设计组合逻辑电路，就是根据给定的逻辑功能要求，求出逻辑函数表达式，然后用逻辑器件去实现此逻辑函数。实现组合逻辑电路所用的逻辑器件可分为三大类:基本门电路、 MSI 组合逻辑模块和可编程器件。本节只介绍使用基本门电路设计、实现组合逻辑电路的方法和步骤，用 MSI 组合逻辑模块实现组合逻辑电路的方法在第 3 章中介绍，用可编程器件实现组合逻辑电路的方法在第 6 章和第 7 章中介绍。</vt:lpstr>
      <vt:lpstr> 　　1. 用基本门电路设计组合逻辑电路的一般步骤 　　用基本门电路设计和实现组合逻辑电路的一般步骤如下: 　　(1)分析逻辑功能要求，确定输入/输出变量。 　　(2)列出真值表。 　　(3)用逻辑代数公式或卡诺图求逻辑函数的最简表达式。 　　(4)用基本门电路实现所得函数。</vt:lpstr>
      <vt:lpstr> 　　【例 2.4 】 设计一个有三个输入、一个输出的组合逻辑电路，输入为二进制数。当输入二进制数能被 3 整除时，输出为 1 ，否则输出为 0 。 　　解 设输入变量为 A 、 B 、 C ，输出变量为 Z 。根据逻辑功能要求，列出的电路真值表如表 2-4 所示，画出的卡诺图如图 2-11 所示。由卡诺图得到的输出 Z 的表达式如下:   　　根据上面表达式可以得到如图 2-12 ( a )和图 2-12 ( b )所示的两种不同实现。</vt:lpstr>
      <vt:lpstr>PowerPoint 演示文稿</vt:lpstr>
      <vt:lpstr>PowerPoint 演示文稿</vt:lpstr>
      <vt:lpstr> 　　2. 用与非门设计组合逻辑电路 　　我们知道，与、或、非是最基本的三种逻辑运算，任何一个逻辑函数都可以用这三种运算的组合来表示。也就是说，任何一个逻辑函数都可以用与门、或门、非门这三种门电 路来实现。利用与非门，通过简单的连接转换，可以很容易地构造出与门、或门和非门，如图 2-13 所示。因此，任何一个逻辑函数都可以用与非门来实现。基于这一原因，与非门获得了广泛的应用。</vt:lpstr>
      <vt:lpstr>PowerPoint 演示文稿</vt:lpstr>
      <vt:lpstr> 　　用与非门设计、实现组合逻辑电路时，可以根据求得的函数最简与或表达式，先画出用与门、或门和非门实现的电路，然后再用与非门去替代。而常用的做法是将最简与或表达式转换为与非—与非表达式，直接用与非门去实现逻辑电路。用与非门设计和实现组合逻辑电路的一般步骤如下: 　　(1)分析逻辑功能要求，确定输入/输出变量。 　　(2)列出真值表。 　　(3)用逻辑代数公式或卡诺图求出逻辑函数的最简与或表达式。 　　(4)通过两次求反，利用摩根定律将最简与或表达式转换为与非—与非表达式。 　　(5)用与非门实现所得函数。</vt:lpstr>
      <vt:lpstr> 　　【例 2.5 】 设计一个组合逻辑电路，输入是四位二进制数 ABCD ，当输入大于等于 9而小于等于 14 时输出 Z 为 1 ，否则输出 Z 为 0 。用与非门实现电路。 　　解 本电路有四个输入变量 A 、 B 、 C 、 D 和一个输出变量 Z 。根据逻辑功能的要求，可以列出如表2-5 所示的真值表</vt:lpstr>
      <vt:lpstr>PowerPoint 演示文稿</vt:lpstr>
      <vt:lpstr>PowerPoint 演示文稿</vt:lpstr>
      <vt:lpstr> 　　转换为与非—与非表达式为     　　根据上面与非—与非表达式可以画出仅用与非门实现的逻辑图，如图 2-15 所示。</vt:lpstr>
      <vt:lpstr> 　　3. 用或非门设计组合逻辑电路 　　同与非门一样，利用或非门，通过简单的连接转换，也可以很容易地构造出与门、或门和非门，如图 2-16 所示。因此，任何一个逻辑函数也都可以用或非门来实现。</vt:lpstr>
      <vt:lpstr>PowerPoint 演示文稿</vt:lpstr>
      <vt:lpstr> 　　用或非门设计和实现组合逻辑电路的一般步骤如下: 　　(1)分析逻辑功能要求，确定输入/输出变量。 　　(2)列出真值表。 　　(3)用逻辑代数公式或卡诺图求出逻辑函数的最简或与表达式。 　　(4)通过两次求反，利用摩根定律将最简或与表达式转换为或非—或非表达式。 　　(5)用或非门实现所得函数。</vt:lpstr>
      <vt:lpstr> 　　【例 2.6 】 一组合逻辑电路的真值表如表2-6 所示，用或非门实现该电路。</vt:lpstr>
      <vt:lpstr> 　　解 画出卡诺图，如图 2-17 所示。依卡诺图可以写出函数 Z 的最简或与表达式:   转换为或非—或非表达式为   　　根据上面或非—或非表达式可以画出仅用或非门实现的逻辑图，如图 2-18 所示。</vt:lpstr>
      <vt:lpstr>PowerPoint 演示文稿</vt:lpstr>
      <vt:lpstr> 　　2. 3  组合逻辑电路中的竞争和冒险</vt:lpstr>
      <vt:lpstr> 　　现在让我们分析图2-19所示的组合逻辑电路。</vt:lpstr>
      <vt:lpstr> 　　从图中可以得到:    　　当B和C保持为1不变时，由上式得到　　　　　　　　，即此时输出应该恒定为 1 ，与输入 A 无关。而实际情形为:如果 A 不变，则无论A 是 0 还是 1 ，输出都为 1 ;如果 A 发生变化，则输出不一定恒为 1 。</vt:lpstr>
      <vt:lpstr> 　　再看一下具体电路: 　　(1 )当 B=C=1 ， A=0 时，与非门 G 2 的输出为 1 ， G 1 的输出为 1 ， G 3 的输出为 0 ，因此， G4 的输出为 1 。 　　(2)当 B=C=1 ， A=1 时， G 1 输出为 0 ， G 2 输出为 0 ， G 3 输出为 1 ， G 4 输出也为 1 。</vt:lpstr>
      <vt:lpstr> 　　(3)当 B=C=1 ， A 由 0 变为 1 时，将使 G 1 和 G 2 的输出由 1 变为 0 ， G 3 输出则由 0变为 1 。 G1 和 G 2 输出的变化比 A 的变化延迟 t p ， G 3 输出的变化比 A 的变化延迟 2 t p 。因此， G2 的输出先变为 0 而 G 3 的输出后变为 1 。这样，在 G 2 的输出变化之前， G 2 输出为 1 ，G 3 输出为 0 ;当 G 2 的输出已经变化而 G 3 的输出还没有变化时， G 2 、 G 3 的输出同时为 0 ;在 G3 的输出变化之后， G 2 输出为 0 ， G 3 输出为 1 。可见，任何时刻， G 4最少有一个输入为 0 ，因此，其输出 Z 一直保持为 1 。</vt:lpstr>
      <vt:lpstr> 　　(4)当 B=C=1 ， A 由 1 变为 0 时，将使 G 1 和 G 2 的输出由 0 变为 1 ， G 3 输出则由 1变为 0 。 G1 和 G 2 输出的变化比 A 的变化延迟 t p ， G 3 输出的变化比 A 的变化延迟 2 t p 。因此， G2 的输出先变为 1 而 G 3 的输出后变为 0 。这样，在 G 2 的输出变化之前， G 2 输出为 0 ，G 3 输出为 1 ;当 G 2 的输出已经变化而 G 3 的输出还没变化时， G 2 、 G 3 的输出同时为 1 ;在G 3 的输出变化之后， G 2 输出为 1 ， G 3 输出为 0 。由此可见，在 G 2 的输出已经变化而 G 3 的输出还没变化这段时间里，由于 G2 、 G 3 的输出同时为 1 ，使 G 4 的两个输入同时为 1 ，此时会在 G4 的输出产生一个短暂的 0 脉冲。</vt:lpstr>
      <vt:lpstr> 　　在组合逻辑电路中，当输入信号变化时，由于所经路径不同，产生延时不同，导致的其后某个门电路的两个输入端发生有先有后的变化，称为竞争。 　　由于竞争而使电路的输出端产生尖峰脉冲，从而导致后级电路产生错误动作的现象称为冒险。产生 0 尖峰脉冲的称为 0 型冒险，产生 1 尖峰脉冲的称为 1 型冒险。</vt:lpstr>
      <vt:lpstr> 　　2. 竞争和冒险的判断 　　判断一个组合逻辑电路是否存在竞争和冒险有两种常用的方法:代数法和卡诺图法。 　　1 )代数法 　　在一个组合逻辑电路中，如果某个门电路的输出表达式在一定条件下简化为 Z=A+ "A"  ̅　或 Z=A"A"  ̅的形式，而式中的 A 和"A"  ̅ 是变量 A 经过不同途径传输来的，则该电路存在竞争和冒险现象。 　　　　　 Z=A+ "A"  ̅　　　存在 0 型冒险 　　　　　 Z=A"A"  ̅　　　　存在 1 型冒险</vt:lpstr>
      <vt:lpstr> 　　 【例 2. 7 】 判断图 2-20 所示的逻辑电路是否存在冒险。 解 从逻辑图可以写出如下逻辑表达式:    　　从表达式可以看出，当 B=0 、 C=D=1 时， Z=A+ "A"  ̅。因此，该电路存在 0 型冒险。</vt:lpstr>
      <vt:lpstr> 　　 【例 2.8 】 判断图 2-21 所示的逻辑电路是否存在冒险。 解 从逻辑图可以写出如下逻辑表达式:    　　从表达式可以看出，当 B=1 、 C=0 时， Z=A "A"  ̅ 。因此，该电路存在 1 型冒险。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　　 2 )卡诺图法 　　如果逻辑函数对应的卡诺图中存在相切的圈，而相切的两个方格又没有同时被另一个圈包含，则当变量组合在相切方格之间变化时，存在竞争 - 冒险现象。</vt:lpstr>
      <vt:lpstr> 　　 【例 2.9 】 判断实现逻辑表达式  的电路是否存在冒险。 　　解 画出 Z 的卡诺图如图2-22 所示。从卡诺图中可以看出: 1 号圈中编号 1 的方格和 2 号圈中编号 5 的方格相切而且没有同时被另一个圈包含;另外， 1 号圈中编号 3 的方格和 3 号圈中编号 11 的方格相切而且也没有同时被另一个圈包含。因此，当变量组合在编号 1 方格和编号 5 方格之间变化或在编号 3 方格和编号 11 方格之间变化时，存在冒险现 象。</vt:lpstr>
      <vt:lpstr> 　　两种情况对应的变量组合如下: 　　在编号 1 方格和编号 5 方格中， A=0 、 C=0 、 D=1 、 B 变化。 　　在编号 3 方格和编号 11 方格中， B=0 、 C=1 、 D=1 、 A 变化。 　　用与非门实现的电路逻辑图如图 2-23 所示。</vt:lpstr>
      <vt:lpstr>PowerPoint 演示文稿</vt:lpstr>
      <vt:lpstr>PowerPoint 演示文稿</vt:lpstr>
      <vt:lpstr>PowerPoint 演示文稿</vt:lpstr>
      <vt:lpstr> 　　3. 竞争和冒险现象的消除方法 　　消除组合逻辑电路中竞争和冒险现象的常用方法有:滤波法、脉冲选通法和修改设计法。 　　1 )滤波法 　　滤波法是在门电路的输出端接上一个滤波电容，将尖峰脉冲的幅度削减至门电路的阈值电压以下，如图 2-24 所示。由于竞争和冒险产生的尖峰脉冲很窄，所以通常接一个大约几百皮法的小电容即可。这种方法很简单，但会使波形变坏。</vt:lpstr>
      <vt:lpstr>PowerPoint 演示文稿</vt:lpstr>
      <vt:lpstr> 　　2 )脉冲选通法 　　脉冲选通法是在电路中加入一个选通脉冲，在确定电路进入稳定状态后，才让电路输出选通，否则封锁电路输出，如图 2-25 所示。</vt:lpstr>
      <vt:lpstr> 　　3 )修改设计法 　　(1 )代数法。如前面对图 2-19 的分析，对于逻辑表达式 Z=AB+"A"  ̅C ，当 B=C=1 时，存在竞争和冒险现象。利用逻辑代数公式，可以增加冗余项 BC ，使 Z=AB+"A"  ̅C+BC ，图 2-26 是按照增加冗余项后的逻辑表达式实现的电路。当B=C=1 时，由于 G 5 的输出保持为 0 ，因此，即使 A 发生变化， G4 的输出亦恒定为 1。</vt:lpstr>
      <vt:lpstr>PowerPoint 演示文稿</vt:lpstr>
      <vt:lpstr> 　　 (2)卡诺图法。我们知道，若逻辑函数对应的卡诺图中存在相切的圈，而相切的两个方格又没有同时被另一个圈包含，则当变量组合在相切方格之间变化时，存在竞争和冒险现象。因而，通过增加由这两个相切方格组成的圈，就可以消除竞争和冒险现象。</vt:lpstr>
      <vt:lpstr> 　　 【例 2.10 】 修改图 2-23 所示的电路，消除竞争和冒险现象。 　　解 从卡诺图 2-22 可以看出，要消除竞争和冒险现象，需要增加由编号 1 方格和编号 5 方格组成的圈以及由编号 3 方格和编号 11 方格组成的圈，如图 2-27 所示。这样，得到的表达式如下:   　　修改后的逻辑电路图如图 2-28 所示。</vt:lpstr>
      <vt:lpstr>PowerPoint 演示文稿</vt:lpstr>
      <vt:lpstr>PowerPoint 演示文稿</vt:lpstr>
    </vt:vector>
  </TitlesOfParts>
  <Company>wp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wp</dc:creator>
  <cp:lastModifiedBy>xiyou Fu</cp:lastModifiedBy>
  <cp:revision>65</cp:revision>
  <dcterms:created xsi:type="dcterms:W3CDTF">2008-03-13T07:21:39Z</dcterms:created>
  <dcterms:modified xsi:type="dcterms:W3CDTF">2024-04-04T04:31:34Z</dcterms:modified>
</cp:coreProperties>
</file>